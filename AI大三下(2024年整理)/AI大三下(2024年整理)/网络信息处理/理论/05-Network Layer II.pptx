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46"/>
  </p:notesMasterIdLst>
  <p:handoutMasterIdLst>
    <p:handoutMasterId r:id="rId147"/>
  </p:handoutMasterIdLst>
  <p:sldIdLst>
    <p:sldId id="256" r:id="rId2"/>
    <p:sldId id="257" r:id="rId3"/>
    <p:sldId id="908" r:id="rId4"/>
    <p:sldId id="692" r:id="rId5"/>
    <p:sldId id="693" r:id="rId6"/>
    <p:sldId id="694" r:id="rId7"/>
    <p:sldId id="695" r:id="rId8"/>
    <p:sldId id="696" r:id="rId9"/>
    <p:sldId id="697" r:id="rId10"/>
    <p:sldId id="698" r:id="rId11"/>
    <p:sldId id="699" r:id="rId12"/>
    <p:sldId id="700" r:id="rId13"/>
    <p:sldId id="702" r:id="rId14"/>
    <p:sldId id="703" r:id="rId15"/>
    <p:sldId id="704" r:id="rId16"/>
    <p:sldId id="705" r:id="rId17"/>
    <p:sldId id="709" r:id="rId18"/>
    <p:sldId id="710" r:id="rId19"/>
    <p:sldId id="909" r:id="rId20"/>
    <p:sldId id="717" r:id="rId21"/>
    <p:sldId id="719" r:id="rId22"/>
    <p:sldId id="720" r:id="rId23"/>
    <p:sldId id="721" r:id="rId24"/>
    <p:sldId id="723" r:id="rId25"/>
    <p:sldId id="726" r:id="rId26"/>
    <p:sldId id="729" r:id="rId27"/>
    <p:sldId id="733" r:id="rId28"/>
    <p:sldId id="734" r:id="rId29"/>
    <p:sldId id="910" r:id="rId30"/>
    <p:sldId id="748" r:id="rId31"/>
    <p:sldId id="749" r:id="rId32"/>
    <p:sldId id="750" r:id="rId33"/>
    <p:sldId id="751" r:id="rId34"/>
    <p:sldId id="752" r:id="rId35"/>
    <p:sldId id="754" r:id="rId36"/>
    <p:sldId id="755" r:id="rId37"/>
    <p:sldId id="757" r:id="rId38"/>
    <p:sldId id="758" r:id="rId39"/>
    <p:sldId id="759" r:id="rId40"/>
    <p:sldId id="760" r:id="rId41"/>
    <p:sldId id="761" r:id="rId42"/>
    <p:sldId id="762" r:id="rId43"/>
    <p:sldId id="765" r:id="rId44"/>
    <p:sldId id="768" r:id="rId45"/>
    <p:sldId id="769" r:id="rId46"/>
    <p:sldId id="770" r:id="rId47"/>
    <p:sldId id="771" r:id="rId48"/>
    <p:sldId id="772" r:id="rId49"/>
    <p:sldId id="773" r:id="rId50"/>
    <p:sldId id="774" r:id="rId51"/>
    <p:sldId id="775" r:id="rId52"/>
    <p:sldId id="776" r:id="rId53"/>
    <p:sldId id="777" r:id="rId54"/>
    <p:sldId id="778" r:id="rId55"/>
    <p:sldId id="779" r:id="rId56"/>
    <p:sldId id="780" r:id="rId57"/>
    <p:sldId id="781" r:id="rId58"/>
    <p:sldId id="782" r:id="rId59"/>
    <p:sldId id="783" r:id="rId60"/>
    <p:sldId id="784" r:id="rId61"/>
    <p:sldId id="785" r:id="rId62"/>
    <p:sldId id="788" r:id="rId63"/>
    <p:sldId id="789" r:id="rId64"/>
    <p:sldId id="790" r:id="rId65"/>
    <p:sldId id="791" r:id="rId66"/>
    <p:sldId id="794" r:id="rId67"/>
    <p:sldId id="796" r:id="rId68"/>
    <p:sldId id="797" r:id="rId69"/>
    <p:sldId id="798" r:id="rId70"/>
    <p:sldId id="799" r:id="rId71"/>
    <p:sldId id="800" r:id="rId72"/>
    <p:sldId id="801" r:id="rId73"/>
    <p:sldId id="804" r:id="rId74"/>
    <p:sldId id="805" r:id="rId75"/>
    <p:sldId id="806" r:id="rId76"/>
    <p:sldId id="807" r:id="rId77"/>
    <p:sldId id="911" r:id="rId78"/>
    <p:sldId id="825" r:id="rId79"/>
    <p:sldId id="826" r:id="rId80"/>
    <p:sldId id="827" r:id="rId81"/>
    <p:sldId id="828" r:id="rId82"/>
    <p:sldId id="829" r:id="rId83"/>
    <p:sldId id="830" r:id="rId84"/>
    <p:sldId id="831" r:id="rId85"/>
    <p:sldId id="832" r:id="rId86"/>
    <p:sldId id="833" r:id="rId87"/>
    <p:sldId id="834" r:id="rId88"/>
    <p:sldId id="835" r:id="rId89"/>
    <p:sldId id="836" r:id="rId90"/>
    <p:sldId id="837" r:id="rId91"/>
    <p:sldId id="838" r:id="rId92"/>
    <p:sldId id="839" r:id="rId93"/>
    <p:sldId id="840" r:id="rId94"/>
    <p:sldId id="841" r:id="rId95"/>
    <p:sldId id="843" r:id="rId96"/>
    <p:sldId id="844" r:id="rId97"/>
    <p:sldId id="845" r:id="rId98"/>
    <p:sldId id="846" r:id="rId99"/>
    <p:sldId id="847" r:id="rId100"/>
    <p:sldId id="848" r:id="rId101"/>
    <p:sldId id="849" r:id="rId102"/>
    <p:sldId id="850" r:id="rId103"/>
    <p:sldId id="851" r:id="rId104"/>
    <p:sldId id="852" r:id="rId105"/>
    <p:sldId id="853" r:id="rId106"/>
    <p:sldId id="854" r:id="rId107"/>
    <p:sldId id="855" r:id="rId108"/>
    <p:sldId id="856" r:id="rId109"/>
    <p:sldId id="857" r:id="rId110"/>
    <p:sldId id="912" r:id="rId111"/>
    <p:sldId id="859" r:id="rId112"/>
    <p:sldId id="860" r:id="rId113"/>
    <p:sldId id="861" r:id="rId114"/>
    <p:sldId id="862" r:id="rId115"/>
    <p:sldId id="863" r:id="rId116"/>
    <p:sldId id="864" r:id="rId117"/>
    <p:sldId id="867" r:id="rId118"/>
    <p:sldId id="868" r:id="rId119"/>
    <p:sldId id="869" r:id="rId120"/>
    <p:sldId id="870" r:id="rId121"/>
    <p:sldId id="871" r:id="rId122"/>
    <p:sldId id="872" r:id="rId123"/>
    <p:sldId id="873" r:id="rId124"/>
    <p:sldId id="875" r:id="rId125"/>
    <p:sldId id="876" r:id="rId126"/>
    <p:sldId id="913" r:id="rId127"/>
    <p:sldId id="889" r:id="rId128"/>
    <p:sldId id="890" r:id="rId129"/>
    <p:sldId id="891" r:id="rId130"/>
    <p:sldId id="892" r:id="rId131"/>
    <p:sldId id="893" r:id="rId132"/>
    <p:sldId id="894" r:id="rId133"/>
    <p:sldId id="895" r:id="rId134"/>
    <p:sldId id="896" r:id="rId135"/>
    <p:sldId id="897" r:id="rId136"/>
    <p:sldId id="914" r:id="rId137"/>
    <p:sldId id="900" r:id="rId138"/>
    <p:sldId id="901" r:id="rId139"/>
    <p:sldId id="902" r:id="rId140"/>
    <p:sldId id="903" r:id="rId141"/>
    <p:sldId id="904" r:id="rId142"/>
    <p:sldId id="905" r:id="rId143"/>
    <p:sldId id="906" r:id="rId144"/>
    <p:sldId id="907" r:id="rId145"/>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66FF66"/>
    <a:srgbClr val="66FF33"/>
    <a:srgbClr val="0000FF"/>
    <a:srgbClr val="FFFF66"/>
    <a:srgbClr val="6699FF"/>
    <a:srgbClr val="0000CC"/>
    <a:srgbClr val="000066"/>
    <a:srgbClr val="FF66FF"/>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51" autoAdjust="0"/>
    <p:restoredTop sz="94690" autoAdjust="0"/>
  </p:normalViewPr>
  <p:slideViewPr>
    <p:cSldViewPr>
      <p:cViewPr varScale="1">
        <p:scale>
          <a:sx n="96" d="100"/>
          <a:sy n="96" d="100"/>
        </p:scale>
        <p:origin x="1458" y="9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ECBC36-E9A5-4B5E-A8C7-F23A2DC79DBD}" type="slidenum">
              <a:rPr lang="en-US" altLang="zh-CN"/>
              <a:pPr/>
              <a:t>4</a:t>
            </a:fld>
            <a:endParaRPr lang="en-US" altLang="zh-CN"/>
          </a:p>
        </p:txBody>
      </p:sp>
      <p:sp>
        <p:nvSpPr>
          <p:cNvPr id="759810" name="Rectangle 2"/>
          <p:cNvSpPr>
            <a:spLocks noGrp="1" noRot="1" noChangeAspect="1" noChangeArrowheads="1" noTextEdit="1"/>
          </p:cNvSpPr>
          <p:nvPr>
            <p:ph type="sldImg"/>
          </p:nvPr>
        </p:nvSpPr>
        <p:spPr>
          <a:ln/>
        </p:spPr>
      </p:sp>
      <p:sp>
        <p:nvSpPr>
          <p:cNvPr id="7598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3316A4-3F47-4041-AB7C-2A2EDDCC02A8}" type="slidenum">
              <a:rPr lang="en-US" altLang="zh-CN"/>
              <a:pPr/>
              <a:t>5</a:t>
            </a:fld>
            <a:endParaRPr lang="en-US" altLang="zh-CN"/>
          </a:p>
        </p:txBody>
      </p:sp>
      <p:sp>
        <p:nvSpPr>
          <p:cNvPr id="760834" name="Rectangle 2"/>
          <p:cNvSpPr>
            <a:spLocks noGrp="1" noRot="1" noChangeAspect="1" noChangeArrowheads="1" noTextEdit="1"/>
          </p:cNvSpPr>
          <p:nvPr>
            <p:ph type="sldImg"/>
          </p:nvPr>
        </p:nvSpPr>
        <p:spPr>
          <a:ln/>
        </p:spPr>
      </p:sp>
      <p:sp>
        <p:nvSpPr>
          <p:cNvPr id="7608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897423-168C-4009-BF89-CF6DCC5F7DFD}" type="slidenum">
              <a:rPr lang="en-US" altLang="zh-CN"/>
              <a:pPr/>
              <a:t>6</a:t>
            </a:fld>
            <a:endParaRPr lang="en-US" altLang="zh-CN"/>
          </a:p>
        </p:txBody>
      </p:sp>
      <p:sp>
        <p:nvSpPr>
          <p:cNvPr id="761858" name="Rectangle 2"/>
          <p:cNvSpPr>
            <a:spLocks noGrp="1" noRot="1" noChangeAspect="1" noChangeArrowheads="1" noTextEdit="1"/>
          </p:cNvSpPr>
          <p:nvPr>
            <p:ph type="sldImg"/>
          </p:nvPr>
        </p:nvSpPr>
        <p:spPr>
          <a:ln/>
        </p:spPr>
      </p:sp>
      <p:sp>
        <p:nvSpPr>
          <p:cNvPr id="7618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9467ED-FEA1-4986-8B8E-84516EF0EBBC}" type="slidenum">
              <a:rPr lang="en-US" altLang="zh-CN"/>
              <a:pPr/>
              <a:t>7</a:t>
            </a:fld>
            <a:endParaRPr lang="en-US" altLang="zh-CN"/>
          </a:p>
        </p:txBody>
      </p:sp>
      <p:sp>
        <p:nvSpPr>
          <p:cNvPr id="762882" name="Rectangle 2"/>
          <p:cNvSpPr>
            <a:spLocks noGrp="1" noRot="1" noChangeAspect="1" noChangeArrowheads="1" noTextEdit="1"/>
          </p:cNvSpPr>
          <p:nvPr>
            <p:ph type="sldImg"/>
          </p:nvPr>
        </p:nvSpPr>
        <p:spPr>
          <a:ln/>
        </p:spPr>
      </p:sp>
      <p:sp>
        <p:nvSpPr>
          <p:cNvPr id="7628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DE3723-F1D7-46C4-96B0-BDB7BFCDBAE7}" type="slidenum">
              <a:rPr lang="en-US" altLang="zh-CN"/>
              <a:pPr/>
              <a:t>8</a:t>
            </a:fld>
            <a:endParaRPr lang="en-US" altLang="zh-CN"/>
          </a:p>
        </p:txBody>
      </p:sp>
      <p:sp>
        <p:nvSpPr>
          <p:cNvPr id="763906" name="Rectangle 2"/>
          <p:cNvSpPr>
            <a:spLocks noGrp="1" noRot="1" noChangeAspect="1" noChangeArrowheads="1" noTextEdit="1"/>
          </p:cNvSpPr>
          <p:nvPr>
            <p:ph type="sldImg"/>
          </p:nvPr>
        </p:nvSpPr>
        <p:spPr>
          <a:ln/>
        </p:spPr>
      </p:sp>
      <p:sp>
        <p:nvSpPr>
          <p:cNvPr id="7639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B342BC-AB0F-415A-A0BA-509EE28B8790}" type="slidenum">
              <a:rPr lang="en-US" altLang="zh-CN"/>
              <a:pPr/>
              <a:t>9</a:t>
            </a:fld>
            <a:endParaRPr lang="en-US" altLang="zh-CN"/>
          </a:p>
        </p:txBody>
      </p:sp>
      <p:sp>
        <p:nvSpPr>
          <p:cNvPr id="764930" name="Rectangle 2"/>
          <p:cNvSpPr>
            <a:spLocks noGrp="1" noRot="1" noChangeAspect="1" noChangeArrowheads="1" noTextEdit="1"/>
          </p:cNvSpPr>
          <p:nvPr>
            <p:ph type="sldImg"/>
          </p:nvPr>
        </p:nvSpPr>
        <p:spPr>
          <a:ln/>
        </p:spPr>
      </p:sp>
      <p:sp>
        <p:nvSpPr>
          <p:cNvPr id="7649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FF9436-BE10-461D-964D-17CEE21827CB}" type="slidenum">
              <a:rPr lang="en-US" altLang="zh-CN"/>
              <a:pPr/>
              <a:t>10</a:t>
            </a:fld>
            <a:endParaRPr lang="en-US" altLang="zh-CN"/>
          </a:p>
        </p:txBody>
      </p:sp>
      <p:sp>
        <p:nvSpPr>
          <p:cNvPr id="765954" name="Rectangle 2"/>
          <p:cNvSpPr>
            <a:spLocks noGrp="1" noRot="1" noChangeAspect="1" noChangeArrowheads="1" noTextEdit="1"/>
          </p:cNvSpPr>
          <p:nvPr>
            <p:ph type="sldImg"/>
          </p:nvPr>
        </p:nvSpPr>
        <p:spPr>
          <a:ln/>
        </p:spPr>
      </p:sp>
      <p:sp>
        <p:nvSpPr>
          <p:cNvPr id="7659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9FAC91-1C29-4F50-A8B3-5A76002797C2}" type="slidenum">
              <a:rPr lang="en-US" altLang="zh-CN"/>
              <a:pPr/>
              <a:t>12</a:t>
            </a:fld>
            <a:endParaRPr lang="en-US" altLang="zh-CN"/>
          </a:p>
        </p:txBody>
      </p:sp>
      <p:sp>
        <p:nvSpPr>
          <p:cNvPr id="766978" name="Rectangle 2"/>
          <p:cNvSpPr>
            <a:spLocks noGrp="1" noRot="1" noChangeAspect="1" noChangeArrowheads="1" noTextEdit="1"/>
          </p:cNvSpPr>
          <p:nvPr>
            <p:ph type="sldImg"/>
          </p:nvPr>
        </p:nvSpPr>
        <p:spPr>
          <a:ln/>
        </p:spPr>
      </p:sp>
      <p:sp>
        <p:nvSpPr>
          <p:cNvPr id="7669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1E7F40-C913-42AF-A3E8-23007970080F}" type="slidenum">
              <a:rPr lang="en-US" altLang="zh-CN"/>
              <a:pPr/>
              <a:t>13</a:t>
            </a:fld>
            <a:endParaRPr lang="en-US" altLang="zh-CN"/>
          </a:p>
        </p:txBody>
      </p:sp>
      <p:sp>
        <p:nvSpPr>
          <p:cNvPr id="769026" name="Rectangle 2"/>
          <p:cNvSpPr>
            <a:spLocks noGrp="1" noRot="1" noChangeAspect="1" noChangeArrowheads="1" noTextEdit="1"/>
          </p:cNvSpPr>
          <p:nvPr>
            <p:ph type="sldImg"/>
          </p:nvPr>
        </p:nvSpPr>
        <p:spPr>
          <a:ln/>
        </p:spPr>
      </p:sp>
      <p:sp>
        <p:nvSpPr>
          <p:cNvPr id="7690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BD22E6-81C7-4348-9A64-6985BF195515}" type="slidenum">
              <a:rPr lang="en-US" altLang="zh-CN"/>
              <a:pPr/>
              <a:t>14</a:t>
            </a:fld>
            <a:endParaRPr lang="en-US" altLang="zh-CN"/>
          </a:p>
        </p:txBody>
      </p:sp>
      <p:sp>
        <p:nvSpPr>
          <p:cNvPr id="770050" name="Rectangle 2"/>
          <p:cNvSpPr>
            <a:spLocks noGrp="1" noRot="1" noChangeAspect="1" noChangeArrowheads="1" noTextEdit="1"/>
          </p:cNvSpPr>
          <p:nvPr>
            <p:ph type="sldImg"/>
          </p:nvPr>
        </p:nvSpPr>
        <p:spPr>
          <a:ln/>
        </p:spPr>
      </p:sp>
      <p:sp>
        <p:nvSpPr>
          <p:cNvPr id="7700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B20834-3848-4F8E-8419-A6C587AB80D2}" type="slidenum">
              <a:rPr lang="en-US" altLang="zh-CN"/>
              <a:pPr/>
              <a:t>15</a:t>
            </a:fld>
            <a:endParaRPr lang="en-US" altLang="zh-CN"/>
          </a:p>
        </p:txBody>
      </p:sp>
      <p:sp>
        <p:nvSpPr>
          <p:cNvPr id="986114" name="Rectangle 2"/>
          <p:cNvSpPr>
            <a:spLocks noGrp="1" noRot="1" noChangeAspect="1" noChangeArrowheads="1" noTextEdit="1"/>
          </p:cNvSpPr>
          <p:nvPr>
            <p:ph type="sldImg"/>
          </p:nvPr>
        </p:nvSpPr>
        <p:spPr>
          <a:ln/>
        </p:spPr>
      </p:sp>
      <p:sp>
        <p:nvSpPr>
          <p:cNvPr id="9861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EFEA88-5EE0-4B12-A7A4-E1298A5C9FD1}" type="slidenum">
              <a:rPr lang="en-US" altLang="zh-CN"/>
              <a:pPr/>
              <a:t>17</a:t>
            </a:fld>
            <a:endParaRPr lang="en-US" altLang="zh-CN"/>
          </a:p>
        </p:txBody>
      </p:sp>
      <p:sp>
        <p:nvSpPr>
          <p:cNvPr id="771074" name="Rectangle 2"/>
          <p:cNvSpPr>
            <a:spLocks noGrp="1" noRot="1" noChangeAspect="1" noChangeArrowheads="1" noTextEdit="1"/>
          </p:cNvSpPr>
          <p:nvPr>
            <p:ph type="sldImg"/>
          </p:nvPr>
        </p:nvSpPr>
        <p:spPr>
          <a:ln/>
        </p:spPr>
      </p:sp>
      <p:sp>
        <p:nvSpPr>
          <p:cNvPr id="7710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5DA563-7BCC-45AA-836E-1F17A0F0432B}" type="slidenum">
              <a:rPr lang="en-US" altLang="zh-CN"/>
              <a:pPr/>
              <a:t>18</a:t>
            </a:fld>
            <a:endParaRPr lang="en-US" altLang="zh-CN"/>
          </a:p>
        </p:txBody>
      </p:sp>
      <p:sp>
        <p:nvSpPr>
          <p:cNvPr id="778242" name="Rectangle 2"/>
          <p:cNvSpPr>
            <a:spLocks noGrp="1" noRot="1" noChangeAspect="1" noChangeArrowheads="1" noTextEdit="1"/>
          </p:cNvSpPr>
          <p:nvPr>
            <p:ph type="sldImg"/>
          </p:nvPr>
        </p:nvSpPr>
        <p:spPr>
          <a:ln/>
        </p:spPr>
      </p:sp>
      <p:sp>
        <p:nvSpPr>
          <p:cNvPr id="7782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5E8D68-0E6A-40DA-967E-F64B70AC3AAB}" type="slidenum">
              <a:rPr lang="en-US" altLang="zh-CN"/>
              <a:pPr/>
              <a:t>20</a:t>
            </a:fld>
            <a:endParaRPr lang="en-US" altLang="zh-CN"/>
          </a:p>
        </p:txBody>
      </p:sp>
      <p:sp>
        <p:nvSpPr>
          <p:cNvPr id="779266" name="Rectangle 2"/>
          <p:cNvSpPr>
            <a:spLocks noGrp="1" noRot="1" noChangeAspect="1" noChangeArrowheads="1" noTextEdit="1"/>
          </p:cNvSpPr>
          <p:nvPr>
            <p:ph type="sldImg"/>
          </p:nvPr>
        </p:nvSpPr>
        <p:spPr>
          <a:ln/>
        </p:spPr>
      </p:sp>
      <p:sp>
        <p:nvSpPr>
          <p:cNvPr id="7792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19F54A-7EC9-49A4-A33F-9B39622737F5}" type="slidenum">
              <a:rPr lang="en-US" altLang="zh-CN"/>
              <a:pPr/>
              <a:t>21</a:t>
            </a:fld>
            <a:endParaRPr lang="en-US" altLang="zh-CN"/>
          </a:p>
        </p:txBody>
      </p:sp>
      <p:sp>
        <p:nvSpPr>
          <p:cNvPr id="781314" name="Rectangle 2"/>
          <p:cNvSpPr>
            <a:spLocks noGrp="1" noRot="1" noChangeAspect="1" noChangeArrowheads="1" noTextEdit="1"/>
          </p:cNvSpPr>
          <p:nvPr>
            <p:ph type="sldImg"/>
          </p:nvPr>
        </p:nvSpPr>
        <p:spPr>
          <a:ln/>
        </p:spPr>
      </p:sp>
      <p:sp>
        <p:nvSpPr>
          <p:cNvPr id="7813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3EB27C-1880-4CE7-9BCD-A64F019FDC8A}" type="slidenum">
              <a:rPr lang="en-US" altLang="zh-CN"/>
              <a:pPr/>
              <a:t>22</a:t>
            </a:fld>
            <a:endParaRPr lang="en-US" altLang="zh-CN"/>
          </a:p>
        </p:txBody>
      </p:sp>
      <p:sp>
        <p:nvSpPr>
          <p:cNvPr id="782338" name="Rectangle 2"/>
          <p:cNvSpPr>
            <a:spLocks noGrp="1" noRot="1" noChangeAspect="1" noChangeArrowheads="1" noTextEdit="1"/>
          </p:cNvSpPr>
          <p:nvPr>
            <p:ph type="sldImg"/>
          </p:nvPr>
        </p:nvSpPr>
        <p:spPr>
          <a:ln/>
        </p:spPr>
      </p:sp>
      <p:sp>
        <p:nvSpPr>
          <p:cNvPr id="782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5979E2-D5AB-4311-958D-DBB7E09040DA}" type="slidenum">
              <a:rPr lang="en-US" altLang="zh-CN"/>
              <a:pPr/>
              <a:t>23</a:t>
            </a:fld>
            <a:endParaRPr lang="en-US" altLang="zh-CN"/>
          </a:p>
        </p:txBody>
      </p:sp>
      <p:sp>
        <p:nvSpPr>
          <p:cNvPr id="783362" name="Rectangle 2"/>
          <p:cNvSpPr>
            <a:spLocks noGrp="1" noRot="1" noChangeAspect="1" noChangeArrowheads="1" noTextEdit="1"/>
          </p:cNvSpPr>
          <p:nvPr>
            <p:ph type="sldImg"/>
          </p:nvPr>
        </p:nvSpPr>
        <p:spPr>
          <a:ln/>
        </p:spPr>
      </p:sp>
      <p:sp>
        <p:nvSpPr>
          <p:cNvPr id="7833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3A1BE6-A0D1-4893-B442-5C299848179E}" type="slidenum">
              <a:rPr lang="en-US" altLang="zh-CN"/>
              <a:pPr/>
              <a:t>24</a:t>
            </a:fld>
            <a:endParaRPr lang="en-US" altLang="zh-CN"/>
          </a:p>
        </p:txBody>
      </p:sp>
      <p:sp>
        <p:nvSpPr>
          <p:cNvPr id="785410" name="Rectangle 2"/>
          <p:cNvSpPr>
            <a:spLocks noGrp="1" noRot="1" noChangeAspect="1" noChangeArrowheads="1" noTextEdit="1"/>
          </p:cNvSpPr>
          <p:nvPr>
            <p:ph type="sldImg"/>
          </p:nvPr>
        </p:nvSpPr>
        <p:spPr>
          <a:ln/>
        </p:spPr>
      </p:sp>
      <p:sp>
        <p:nvSpPr>
          <p:cNvPr id="7854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FE2206-F323-42AF-8226-8FDB49869217}" type="slidenum">
              <a:rPr lang="en-US" altLang="zh-CN"/>
              <a:pPr/>
              <a:t>25</a:t>
            </a:fld>
            <a:endParaRPr lang="en-US" altLang="zh-CN"/>
          </a:p>
        </p:txBody>
      </p:sp>
      <p:sp>
        <p:nvSpPr>
          <p:cNvPr id="788482" name="Rectangle 2"/>
          <p:cNvSpPr>
            <a:spLocks noGrp="1" noRot="1" noChangeAspect="1" noChangeArrowheads="1" noTextEdit="1"/>
          </p:cNvSpPr>
          <p:nvPr>
            <p:ph type="sldImg"/>
          </p:nvPr>
        </p:nvSpPr>
        <p:spPr>
          <a:ln/>
        </p:spPr>
      </p:sp>
      <p:sp>
        <p:nvSpPr>
          <p:cNvPr id="7884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A6AE4C-84B2-4CCB-AAD2-C3627E124DF7}" type="slidenum">
              <a:rPr lang="en-US" altLang="zh-CN"/>
              <a:pPr/>
              <a:t>26</a:t>
            </a:fld>
            <a:endParaRPr lang="en-US" altLang="zh-CN"/>
          </a:p>
        </p:txBody>
      </p:sp>
      <p:sp>
        <p:nvSpPr>
          <p:cNvPr id="791554" name="Rectangle 2"/>
          <p:cNvSpPr>
            <a:spLocks noGrp="1" noRot="1" noChangeAspect="1" noChangeArrowheads="1" noTextEdit="1"/>
          </p:cNvSpPr>
          <p:nvPr>
            <p:ph type="sldImg"/>
          </p:nvPr>
        </p:nvSpPr>
        <p:spPr>
          <a:ln/>
        </p:spPr>
      </p:sp>
      <p:sp>
        <p:nvSpPr>
          <p:cNvPr id="7915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6688A9-BB31-4398-BF3A-BE30A6D99926}" type="slidenum">
              <a:rPr lang="en-US" altLang="zh-CN"/>
              <a:pPr/>
              <a:t>27</a:t>
            </a:fld>
            <a:endParaRPr lang="en-US" altLang="zh-CN"/>
          </a:p>
        </p:txBody>
      </p:sp>
      <p:sp>
        <p:nvSpPr>
          <p:cNvPr id="795650" name="Rectangle 2"/>
          <p:cNvSpPr>
            <a:spLocks noGrp="1" noRot="1" noChangeAspect="1" noChangeArrowheads="1" noTextEdit="1"/>
          </p:cNvSpPr>
          <p:nvPr>
            <p:ph type="sldImg"/>
          </p:nvPr>
        </p:nvSpPr>
        <p:spPr>
          <a:ln/>
        </p:spPr>
      </p:sp>
      <p:sp>
        <p:nvSpPr>
          <p:cNvPr id="7956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8AE7ED-CA88-4746-805C-7537CBE20A1C}" type="slidenum">
              <a:rPr lang="en-US" altLang="zh-CN"/>
              <a:pPr/>
              <a:t>28</a:t>
            </a:fld>
            <a:endParaRPr lang="en-US" altLang="zh-CN"/>
          </a:p>
        </p:txBody>
      </p:sp>
      <p:sp>
        <p:nvSpPr>
          <p:cNvPr id="992258" name="Rectangle 2"/>
          <p:cNvSpPr>
            <a:spLocks noGrp="1" noRot="1" noChangeAspect="1" noChangeArrowheads="1" noTextEdit="1"/>
          </p:cNvSpPr>
          <p:nvPr>
            <p:ph type="sldImg"/>
          </p:nvPr>
        </p:nvSpPr>
        <p:spPr>
          <a:ln/>
        </p:spPr>
      </p:sp>
      <p:sp>
        <p:nvSpPr>
          <p:cNvPr id="992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6B6618-07AF-4871-B679-4E9069392BAE}" type="slidenum">
              <a:rPr lang="en-US" altLang="zh-CN"/>
              <a:pPr/>
              <a:t>30</a:t>
            </a:fld>
            <a:endParaRPr lang="en-US" altLang="zh-CN"/>
          </a:p>
        </p:txBody>
      </p:sp>
      <p:sp>
        <p:nvSpPr>
          <p:cNvPr id="804866" name="Rectangle 2"/>
          <p:cNvSpPr>
            <a:spLocks noGrp="1" noRot="1" noChangeAspect="1" noChangeArrowheads="1" noTextEdit="1"/>
          </p:cNvSpPr>
          <p:nvPr>
            <p:ph type="sldImg"/>
          </p:nvPr>
        </p:nvSpPr>
        <p:spPr>
          <a:ln/>
        </p:spPr>
      </p:sp>
      <p:sp>
        <p:nvSpPr>
          <p:cNvPr id="8048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C1AB9B-F385-4821-AA6D-80FFE4C0DC60}" type="slidenum">
              <a:rPr lang="en-US" altLang="zh-CN"/>
              <a:pPr/>
              <a:t>31</a:t>
            </a:fld>
            <a:endParaRPr lang="en-US" altLang="zh-CN"/>
          </a:p>
        </p:txBody>
      </p:sp>
      <p:sp>
        <p:nvSpPr>
          <p:cNvPr id="806914" name="Rectangle 2"/>
          <p:cNvSpPr>
            <a:spLocks noGrp="1" noRot="1" noChangeAspect="1" noChangeArrowheads="1" noTextEdit="1"/>
          </p:cNvSpPr>
          <p:nvPr>
            <p:ph type="sldImg"/>
          </p:nvPr>
        </p:nvSpPr>
        <p:spPr>
          <a:ln/>
        </p:spPr>
      </p:sp>
      <p:sp>
        <p:nvSpPr>
          <p:cNvPr id="8069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B7E921-8880-45DB-B2E9-81946958ADF4}" type="slidenum">
              <a:rPr lang="en-US" altLang="zh-CN"/>
              <a:pPr/>
              <a:t>32</a:t>
            </a:fld>
            <a:endParaRPr lang="en-US" altLang="zh-CN"/>
          </a:p>
        </p:txBody>
      </p:sp>
      <p:sp>
        <p:nvSpPr>
          <p:cNvPr id="807938" name="Rectangle 2"/>
          <p:cNvSpPr>
            <a:spLocks noGrp="1" noRot="1" noChangeAspect="1" noChangeArrowheads="1" noTextEdit="1"/>
          </p:cNvSpPr>
          <p:nvPr>
            <p:ph type="sldImg"/>
          </p:nvPr>
        </p:nvSpPr>
        <p:spPr>
          <a:ln/>
        </p:spPr>
      </p:sp>
      <p:sp>
        <p:nvSpPr>
          <p:cNvPr id="807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22B321-29CA-4FA5-9D43-37DD48C3F283}" type="slidenum">
              <a:rPr lang="en-US" altLang="zh-CN"/>
              <a:pPr/>
              <a:t>33</a:t>
            </a:fld>
            <a:endParaRPr lang="en-US" altLang="zh-CN"/>
          </a:p>
        </p:txBody>
      </p:sp>
      <p:sp>
        <p:nvSpPr>
          <p:cNvPr id="808962" name="Rectangle 2"/>
          <p:cNvSpPr>
            <a:spLocks noGrp="1" noRot="1" noChangeAspect="1" noChangeArrowheads="1" noTextEdit="1"/>
          </p:cNvSpPr>
          <p:nvPr>
            <p:ph type="sldImg"/>
          </p:nvPr>
        </p:nvSpPr>
        <p:spPr>
          <a:ln/>
        </p:spPr>
      </p:sp>
      <p:sp>
        <p:nvSpPr>
          <p:cNvPr id="8089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68C985-9035-4E07-B0ED-70A668539EBF}" type="slidenum">
              <a:rPr lang="en-US" altLang="zh-CN"/>
              <a:pPr/>
              <a:t>34</a:t>
            </a:fld>
            <a:endParaRPr lang="en-US" altLang="zh-CN"/>
          </a:p>
        </p:txBody>
      </p:sp>
      <p:sp>
        <p:nvSpPr>
          <p:cNvPr id="809986" name="Rectangle 2"/>
          <p:cNvSpPr>
            <a:spLocks noGrp="1" noRot="1" noChangeAspect="1" noChangeArrowheads="1" noTextEdit="1"/>
          </p:cNvSpPr>
          <p:nvPr>
            <p:ph type="sldImg"/>
          </p:nvPr>
        </p:nvSpPr>
        <p:spPr>
          <a:ln/>
        </p:spPr>
      </p:sp>
      <p:sp>
        <p:nvSpPr>
          <p:cNvPr id="8099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0DE305-6829-434F-B40D-65525745C0AE}" type="slidenum">
              <a:rPr lang="en-US" altLang="zh-CN"/>
              <a:pPr/>
              <a:t>35</a:t>
            </a:fld>
            <a:endParaRPr lang="en-US" altLang="zh-CN"/>
          </a:p>
        </p:txBody>
      </p:sp>
      <p:sp>
        <p:nvSpPr>
          <p:cNvPr id="811010" name="Rectangle 2"/>
          <p:cNvSpPr>
            <a:spLocks noGrp="1" noRot="1" noChangeAspect="1" noChangeArrowheads="1" noTextEdit="1"/>
          </p:cNvSpPr>
          <p:nvPr>
            <p:ph type="sldImg"/>
          </p:nvPr>
        </p:nvSpPr>
        <p:spPr>
          <a:ln/>
        </p:spPr>
      </p:sp>
      <p:sp>
        <p:nvSpPr>
          <p:cNvPr id="8110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CA6CC1-9213-43CF-ABF4-AC0CE7F69341}" type="slidenum">
              <a:rPr lang="en-US" altLang="zh-CN"/>
              <a:pPr/>
              <a:t>36</a:t>
            </a:fld>
            <a:endParaRPr lang="en-US" altLang="zh-CN"/>
          </a:p>
        </p:txBody>
      </p:sp>
      <p:sp>
        <p:nvSpPr>
          <p:cNvPr id="812034" name="Rectangle 2"/>
          <p:cNvSpPr>
            <a:spLocks noGrp="1" noRot="1" noChangeAspect="1" noChangeArrowheads="1" noTextEdit="1"/>
          </p:cNvSpPr>
          <p:nvPr>
            <p:ph type="sldImg"/>
          </p:nvPr>
        </p:nvSpPr>
        <p:spPr>
          <a:ln/>
        </p:spPr>
      </p:sp>
      <p:sp>
        <p:nvSpPr>
          <p:cNvPr id="8120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AD93A8-460D-49E0-B539-C5D922624B16}" type="slidenum">
              <a:rPr lang="en-US" altLang="zh-CN"/>
              <a:pPr/>
              <a:t>37</a:t>
            </a:fld>
            <a:endParaRPr lang="en-US" altLang="zh-CN"/>
          </a:p>
        </p:txBody>
      </p:sp>
      <p:sp>
        <p:nvSpPr>
          <p:cNvPr id="814082" name="Rectangle 2"/>
          <p:cNvSpPr>
            <a:spLocks noGrp="1" noRot="1" noChangeAspect="1" noChangeArrowheads="1" noTextEdit="1"/>
          </p:cNvSpPr>
          <p:nvPr>
            <p:ph type="sldImg"/>
          </p:nvPr>
        </p:nvSpPr>
        <p:spPr>
          <a:ln/>
        </p:spPr>
      </p:sp>
      <p:sp>
        <p:nvSpPr>
          <p:cNvPr id="8140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60342A-8A8A-4847-9FAC-8163DC4CB094}" type="slidenum">
              <a:rPr lang="en-US" altLang="zh-CN"/>
              <a:pPr/>
              <a:t>38</a:t>
            </a:fld>
            <a:endParaRPr lang="en-US" altLang="zh-CN"/>
          </a:p>
        </p:txBody>
      </p:sp>
      <p:sp>
        <p:nvSpPr>
          <p:cNvPr id="815106" name="Rectangle 2"/>
          <p:cNvSpPr>
            <a:spLocks noGrp="1" noRot="1" noChangeAspect="1" noChangeArrowheads="1" noTextEdit="1"/>
          </p:cNvSpPr>
          <p:nvPr>
            <p:ph type="sldImg"/>
          </p:nvPr>
        </p:nvSpPr>
        <p:spPr>
          <a:ln/>
        </p:spPr>
      </p:sp>
      <p:sp>
        <p:nvSpPr>
          <p:cNvPr id="8151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B14A88-C65B-4F17-B370-7A42462DC207}" type="slidenum">
              <a:rPr lang="en-US" altLang="zh-CN"/>
              <a:pPr/>
              <a:t>39</a:t>
            </a:fld>
            <a:endParaRPr lang="en-US" altLang="zh-CN"/>
          </a:p>
        </p:txBody>
      </p:sp>
      <p:sp>
        <p:nvSpPr>
          <p:cNvPr id="816130" name="Rectangle 2"/>
          <p:cNvSpPr>
            <a:spLocks noGrp="1" noRot="1" noChangeAspect="1" noChangeArrowheads="1" noTextEdit="1"/>
          </p:cNvSpPr>
          <p:nvPr>
            <p:ph type="sldImg"/>
          </p:nvPr>
        </p:nvSpPr>
        <p:spPr>
          <a:ln/>
        </p:spPr>
      </p:sp>
      <p:sp>
        <p:nvSpPr>
          <p:cNvPr id="8161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D28C39-D506-4773-BC9E-4F7764F5906D}" type="slidenum">
              <a:rPr lang="en-US" altLang="zh-CN"/>
              <a:pPr/>
              <a:t>40</a:t>
            </a:fld>
            <a:endParaRPr lang="en-US" altLang="zh-CN"/>
          </a:p>
        </p:txBody>
      </p:sp>
      <p:sp>
        <p:nvSpPr>
          <p:cNvPr id="817154" name="Rectangle 2"/>
          <p:cNvSpPr>
            <a:spLocks noGrp="1" noRot="1" noChangeAspect="1" noChangeArrowheads="1" noTextEdit="1"/>
          </p:cNvSpPr>
          <p:nvPr>
            <p:ph type="sldImg"/>
          </p:nvPr>
        </p:nvSpPr>
        <p:spPr>
          <a:ln/>
        </p:spPr>
      </p:sp>
      <p:sp>
        <p:nvSpPr>
          <p:cNvPr id="8171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797B41-6A22-4785-AA60-A2C6B0AD9B83}" type="slidenum">
              <a:rPr lang="en-US" altLang="zh-CN"/>
              <a:pPr/>
              <a:t>41</a:t>
            </a:fld>
            <a:endParaRPr lang="en-US" altLang="zh-CN"/>
          </a:p>
        </p:txBody>
      </p:sp>
      <p:sp>
        <p:nvSpPr>
          <p:cNvPr id="818178" name="Rectangle 2"/>
          <p:cNvSpPr>
            <a:spLocks noGrp="1" noRot="1" noChangeAspect="1" noChangeArrowheads="1" noTextEdit="1"/>
          </p:cNvSpPr>
          <p:nvPr>
            <p:ph type="sldImg"/>
          </p:nvPr>
        </p:nvSpPr>
        <p:spPr>
          <a:ln/>
        </p:spPr>
      </p:sp>
      <p:sp>
        <p:nvSpPr>
          <p:cNvPr id="8181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92CD90-6144-46E4-9D69-12CED1AD9882}" type="slidenum">
              <a:rPr lang="en-US" altLang="zh-CN"/>
              <a:pPr/>
              <a:t>42</a:t>
            </a:fld>
            <a:endParaRPr lang="en-US" altLang="zh-CN"/>
          </a:p>
        </p:txBody>
      </p:sp>
      <p:sp>
        <p:nvSpPr>
          <p:cNvPr id="819202" name="Rectangle 2"/>
          <p:cNvSpPr>
            <a:spLocks noGrp="1" noRot="1" noChangeAspect="1" noChangeArrowheads="1" noTextEdit="1"/>
          </p:cNvSpPr>
          <p:nvPr>
            <p:ph type="sldImg"/>
          </p:nvPr>
        </p:nvSpPr>
        <p:spPr>
          <a:ln/>
        </p:spPr>
      </p:sp>
      <p:sp>
        <p:nvSpPr>
          <p:cNvPr id="8192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B7148E-41B7-466E-A1EE-C89D7810CE0E}" type="slidenum">
              <a:rPr lang="en-US" altLang="zh-CN"/>
              <a:pPr/>
              <a:t>43</a:t>
            </a:fld>
            <a:endParaRPr lang="en-US" altLang="zh-CN"/>
          </a:p>
        </p:txBody>
      </p:sp>
      <p:sp>
        <p:nvSpPr>
          <p:cNvPr id="821250" name="Rectangle 2"/>
          <p:cNvSpPr>
            <a:spLocks noGrp="1" noRot="1" noChangeAspect="1" noChangeArrowheads="1" noTextEdit="1"/>
          </p:cNvSpPr>
          <p:nvPr>
            <p:ph type="sldImg"/>
          </p:nvPr>
        </p:nvSpPr>
        <p:spPr>
          <a:ln/>
        </p:spPr>
      </p:sp>
      <p:sp>
        <p:nvSpPr>
          <p:cNvPr id="82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F1225D-0A61-4421-A330-3F55384348FB}" type="slidenum">
              <a:rPr lang="en-US" altLang="zh-CN"/>
              <a:pPr/>
              <a:t>44</a:t>
            </a:fld>
            <a:endParaRPr lang="en-US" altLang="zh-CN"/>
          </a:p>
        </p:txBody>
      </p:sp>
      <p:sp>
        <p:nvSpPr>
          <p:cNvPr id="830466" name="Rectangle 2"/>
          <p:cNvSpPr>
            <a:spLocks noGrp="1" noRot="1" noChangeAspect="1" noChangeArrowheads="1" noTextEdit="1"/>
          </p:cNvSpPr>
          <p:nvPr>
            <p:ph type="sldImg"/>
          </p:nvPr>
        </p:nvSpPr>
        <p:spPr>
          <a:ln/>
        </p:spPr>
      </p:sp>
      <p:sp>
        <p:nvSpPr>
          <p:cNvPr id="8304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F567C-1BD4-4F14-B248-16226ACC1A0D}" type="slidenum">
              <a:rPr lang="en-US" altLang="zh-CN"/>
              <a:pPr/>
              <a:t>45</a:t>
            </a:fld>
            <a:endParaRPr lang="en-US" altLang="zh-CN"/>
          </a:p>
        </p:txBody>
      </p:sp>
      <p:sp>
        <p:nvSpPr>
          <p:cNvPr id="831490" name="Rectangle 2"/>
          <p:cNvSpPr>
            <a:spLocks noGrp="1" noRot="1" noChangeAspect="1" noChangeArrowheads="1" noTextEdit="1"/>
          </p:cNvSpPr>
          <p:nvPr>
            <p:ph type="sldImg"/>
          </p:nvPr>
        </p:nvSpPr>
        <p:spPr>
          <a:ln/>
        </p:spPr>
      </p:sp>
      <p:sp>
        <p:nvSpPr>
          <p:cNvPr id="8314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F567C-1BD4-4F14-B248-16226ACC1A0D}" type="slidenum">
              <a:rPr lang="en-US" altLang="zh-CN"/>
              <a:pPr/>
              <a:t>46</a:t>
            </a:fld>
            <a:endParaRPr lang="en-US" altLang="zh-CN"/>
          </a:p>
        </p:txBody>
      </p:sp>
      <p:sp>
        <p:nvSpPr>
          <p:cNvPr id="831490" name="Rectangle 2"/>
          <p:cNvSpPr>
            <a:spLocks noGrp="1" noRot="1" noChangeAspect="1" noChangeArrowheads="1" noTextEdit="1"/>
          </p:cNvSpPr>
          <p:nvPr>
            <p:ph type="sldImg"/>
          </p:nvPr>
        </p:nvSpPr>
        <p:spPr>
          <a:ln/>
        </p:spPr>
      </p:sp>
      <p:sp>
        <p:nvSpPr>
          <p:cNvPr id="8314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55C4C8-6E28-441E-BFF5-244E29C2A19C}" type="slidenum">
              <a:rPr lang="en-US" altLang="zh-CN"/>
              <a:pPr/>
              <a:t>48</a:t>
            </a:fld>
            <a:endParaRPr lang="en-US" altLang="zh-CN"/>
          </a:p>
        </p:txBody>
      </p:sp>
      <p:sp>
        <p:nvSpPr>
          <p:cNvPr id="833538" name="Rectangle 2"/>
          <p:cNvSpPr>
            <a:spLocks noGrp="1" noRot="1" noChangeAspect="1" noChangeArrowheads="1" noTextEdit="1"/>
          </p:cNvSpPr>
          <p:nvPr>
            <p:ph type="sldImg"/>
          </p:nvPr>
        </p:nvSpPr>
        <p:spPr>
          <a:ln/>
        </p:spPr>
      </p:sp>
      <p:sp>
        <p:nvSpPr>
          <p:cNvPr id="8335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4DCE49-A576-4766-BAC1-CA3855FDEA2D}" type="slidenum">
              <a:rPr lang="en-US" altLang="zh-CN"/>
              <a:pPr/>
              <a:t>49</a:t>
            </a:fld>
            <a:endParaRPr lang="en-US" altLang="zh-CN"/>
          </a:p>
        </p:txBody>
      </p:sp>
      <p:sp>
        <p:nvSpPr>
          <p:cNvPr id="834562" name="Rectangle 2"/>
          <p:cNvSpPr>
            <a:spLocks noGrp="1" noRot="1" noChangeAspect="1" noChangeArrowheads="1" noTextEdit="1"/>
          </p:cNvSpPr>
          <p:nvPr>
            <p:ph type="sldImg"/>
          </p:nvPr>
        </p:nvSpPr>
        <p:spPr>
          <a:ln/>
        </p:spPr>
      </p:sp>
      <p:sp>
        <p:nvSpPr>
          <p:cNvPr id="8345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B2928C-2444-4DC9-B135-B149403E8ED4}" type="slidenum">
              <a:rPr lang="en-US" altLang="zh-CN"/>
              <a:pPr/>
              <a:t>50</a:t>
            </a:fld>
            <a:endParaRPr lang="en-US" altLang="zh-CN"/>
          </a:p>
        </p:txBody>
      </p:sp>
      <p:sp>
        <p:nvSpPr>
          <p:cNvPr id="835586" name="Rectangle 2"/>
          <p:cNvSpPr>
            <a:spLocks noGrp="1" noRot="1" noChangeAspect="1" noChangeArrowheads="1" noTextEdit="1"/>
          </p:cNvSpPr>
          <p:nvPr>
            <p:ph type="sldImg"/>
          </p:nvPr>
        </p:nvSpPr>
        <p:spPr>
          <a:ln/>
        </p:spPr>
      </p:sp>
      <p:sp>
        <p:nvSpPr>
          <p:cNvPr id="835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F8E45E-9B42-48E4-AC50-30FB77507258}" type="slidenum">
              <a:rPr lang="en-US" altLang="zh-CN"/>
              <a:pPr/>
              <a:t>51</a:t>
            </a:fld>
            <a:endParaRPr lang="en-US" altLang="zh-CN"/>
          </a:p>
        </p:txBody>
      </p:sp>
      <p:sp>
        <p:nvSpPr>
          <p:cNvPr id="836610" name="Rectangle 2"/>
          <p:cNvSpPr>
            <a:spLocks noGrp="1" noRot="1" noChangeAspect="1" noChangeArrowheads="1" noTextEdit="1"/>
          </p:cNvSpPr>
          <p:nvPr>
            <p:ph type="sldImg"/>
          </p:nvPr>
        </p:nvSpPr>
        <p:spPr>
          <a:ln/>
        </p:spPr>
      </p:sp>
      <p:sp>
        <p:nvSpPr>
          <p:cNvPr id="8366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0A48219-729C-4032-B620-0727F37E5354}" type="slidenum">
              <a:rPr lang="en-US" altLang="zh-CN"/>
              <a:pPr/>
              <a:t>52</a:t>
            </a:fld>
            <a:endParaRPr lang="en-US" altLang="zh-CN"/>
          </a:p>
        </p:txBody>
      </p:sp>
      <p:sp>
        <p:nvSpPr>
          <p:cNvPr id="837634" name="Rectangle 2"/>
          <p:cNvSpPr>
            <a:spLocks noGrp="1" noRot="1" noChangeAspect="1" noChangeArrowheads="1" noTextEdit="1"/>
          </p:cNvSpPr>
          <p:nvPr>
            <p:ph type="sldImg"/>
          </p:nvPr>
        </p:nvSpPr>
        <p:spPr>
          <a:ln/>
        </p:spPr>
      </p:sp>
      <p:sp>
        <p:nvSpPr>
          <p:cNvPr id="83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0D037-A4B9-4604-B83E-8A13979F0378}" type="slidenum">
              <a:rPr lang="en-US" altLang="zh-CN"/>
              <a:pPr/>
              <a:t>53</a:t>
            </a:fld>
            <a:endParaRPr lang="en-US" altLang="zh-CN"/>
          </a:p>
        </p:txBody>
      </p:sp>
      <p:sp>
        <p:nvSpPr>
          <p:cNvPr id="838658" name="Rectangle 2"/>
          <p:cNvSpPr>
            <a:spLocks noGrp="1" noRot="1" noChangeAspect="1" noChangeArrowheads="1" noTextEdit="1"/>
          </p:cNvSpPr>
          <p:nvPr>
            <p:ph type="sldImg"/>
          </p:nvPr>
        </p:nvSpPr>
        <p:spPr>
          <a:ln/>
        </p:spPr>
      </p:sp>
      <p:sp>
        <p:nvSpPr>
          <p:cNvPr id="8386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CB0279-6F7F-444F-A959-72E200DF0FB9}" type="slidenum">
              <a:rPr lang="en-US" altLang="zh-CN"/>
              <a:pPr/>
              <a:t>54</a:t>
            </a:fld>
            <a:endParaRPr lang="en-US" altLang="zh-CN"/>
          </a:p>
        </p:txBody>
      </p:sp>
      <p:sp>
        <p:nvSpPr>
          <p:cNvPr id="832514" name="Rectangle 2"/>
          <p:cNvSpPr>
            <a:spLocks noGrp="1" noRot="1" noChangeAspect="1" noChangeArrowheads="1" noTextEdit="1"/>
          </p:cNvSpPr>
          <p:nvPr>
            <p:ph type="sldImg"/>
          </p:nvPr>
        </p:nvSpPr>
        <p:spPr>
          <a:ln/>
        </p:spPr>
      </p:sp>
      <p:sp>
        <p:nvSpPr>
          <p:cNvPr id="8325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D691F8-0CBF-4158-B2DC-203EF9891FE3}" type="slidenum">
              <a:rPr lang="en-US" altLang="zh-CN"/>
              <a:pPr/>
              <a:t>55</a:t>
            </a:fld>
            <a:endParaRPr lang="en-US" altLang="zh-CN"/>
          </a:p>
        </p:txBody>
      </p:sp>
      <p:sp>
        <p:nvSpPr>
          <p:cNvPr id="839682" name="Rectangle 2"/>
          <p:cNvSpPr>
            <a:spLocks noGrp="1" noRot="1" noChangeAspect="1" noChangeArrowheads="1" noTextEdit="1"/>
          </p:cNvSpPr>
          <p:nvPr>
            <p:ph type="sldImg"/>
          </p:nvPr>
        </p:nvSpPr>
        <p:spPr>
          <a:ln/>
        </p:spPr>
      </p:sp>
      <p:sp>
        <p:nvSpPr>
          <p:cNvPr id="839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D691F8-0CBF-4158-B2DC-203EF9891FE3}" type="slidenum">
              <a:rPr lang="en-US" altLang="zh-CN"/>
              <a:pPr/>
              <a:t>56</a:t>
            </a:fld>
            <a:endParaRPr lang="en-US" altLang="zh-CN"/>
          </a:p>
        </p:txBody>
      </p:sp>
      <p:sp>
        <p:nvSpPr>
          <p:cNvPr id="839682" name="Rectangle 2"/>
          <p:cNvSpPr>
            <a:spLocks noGrp="1" noRot="1" noChangeAspect="1" noChangeArrowheads="1" noTextEdit="1"/>
          </p:cNvSpPr>
          <p:nvPr>
            <p:ph type="sldImg"/>
          </p:nvPr>
        </p:nvSpPr>
        <p:spPr>
          <a:ln/>
        </p:spPr>
      </p:sp>
      <p:sp>
        <p:nvSpPr>
          <p:cNvPr id="839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CA2B7C-8BA3-4294-A7BF-C0354EFB8949}" type="slidenum">
              <a:rPr lang="en-US" altLang="zh-CN"/>
              <a:pPr/>
              <a:t>57</a:t>
            </a:fld>
            <a:endParaRPr lang="en-US" altLang="zh-CN"/>
          </a:p>
        </p:txBody>
      </p:sp>
      <p:sp>
        <p:nvSpPr>
          <p:cNvPr id="840706" name="Rectangle 2"/>
          <p:cNvSpPr>
            <a:spLocks noGrp="1" noRot="1" noChangeAspect="1" noChangeArrowheads="1" noTextEdit="1"/>
          </p:cNvSpPr>
          <p:nvPr>
            <p:ph type="sldImg"/>
          </p:nvPr>
        </p:nvSpPr>
        <p:spPr>
          <a:ln/>
        </p:spPr>
      </p:sp>
      <p:sp>
        <p:nvSpPr>
          <p:cNvPr id="840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2DD947-3114-4220-8830-93100468B141}" type="slidenum">
              <a:rPr lang="en-US" altLang="zh-CN"/>
              <a:pPr/>
              <a:t>58</a:t>
            </a:fld>
            <a:endParaRPr lang="en-US" altLang="zh-CN"/>
          </a:p>
        </p:txBody>
      </p:sp>
      <p:sp>
        <p:nvSpPr>
          <p:cNvPr id="841730" name="Rectangle 2"/>
          <p:cNvSpPr>
            <a:spLocks noGrp="1" noRot="1" noChangeAspect="1" noChangeArrowheads="1" noTextEdit="1"/>
          </p:cNvSpPr>
          <p:nvPr>
            <p:ph type="sldImg"/>
          </p:nvPr>
        </p:nvSpPr>
        <p:spPr>
          <a:ln/>
        </p:spPr>
      </p:sp>
      <p:sp>
        <p:nvSpPr>
          <p:cNvPr id="841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8122F-7C2A-41B8-AF98-611BBF56B910}" type="slidenum">
              <a:rPr lang="en-US" altLang="zh-CN"/>
              <a:pPr/>
              <a:t>59</a:t>
            </a:fld>
            <a:endParaRPr lang="en-US" altLang="zh-CN"/>
          </a:p>
        </p:txBody>
      </p:sp>
      <p:sp>
        <p:nvSpPr>
          <p:cNvPr id="842754" name="Rectangle 2"/>
          <p:cNvSpPr>
            <a:spLocks noGrp="1" noRot="1" noChangeAspect="1" noChangeArrowheads="1" noTextEdit="1"/>
          </p:cNvSpPr>
          <p:nvPr>
            <p:ph type="sldImg"/>
          </p:nvPr>
        </p:nvSpPr>
        <p:spPr>
          <a:ln/>
        </p:spPr>
      </p:sp>
      <p:sp>
        <p:nvSpPr>
          <p:cNvPr id="8427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6B3EF4-3C89-4158-9690-6827E4A2E4B8}" type="slidenum">
              <a:rPr lang="en-US" altLang="zh-CN"/>
              <a:pPr/>
              <a:t>60</a:t>
            </a:fld>
            <a:endParaRPr lang="en-US" altLang="zh-CN"/>
          </a:p>
        </p:txBody>
      </p:sp>
      <p:sp>
        <p:nvSpPr>
          <p:cNvPr id="843778" name="Rectangle 2"/>
          <p:cNvSpPr>
            <a:spLocks noGrp="1" noRot="1" noChangeAspect="1" noChangeArrowheads="1" noTextEdit="1"/>
          </p:cNvSpPr>
          <p:nvPr>
            <p:ph type="sldImg"/>
          </p:nvPr>
        </p:nvSpPr>
        <p:spPr>
          <a:ln/>
        </p:spPr>
      </p:sp>
      <p:sp>
        <p:nvSpPr>
          <p:cNvPr id="8437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00F795-64D7-4202-AF58-DFEFBCE236D5}" type="slidenum">
              <a:rPr lang="en-US" altLang="zh-CN"/>
              <a:pPr/>
              <a:t>61</a:t>
            </a:fld>
            <a:endParaRPr lang="en-US" altLang="zh-CN"/>
          </a:p>
        </p:txBody>
      </p:sp>
      <p:sp>
        <p:nvSpPr>
          <p:cNvPr id="844802" name="Rectangle 2"/>
          <p:cNvSpPr>
            <a:spLocks noGrp="1" noRot="1" noChangeAspect="1" noChangeArrowheads="1" noTextEdit="1"/>
          </p:cNvSpPr>
          <p:nvPr>
            <p:ph type="sldImg"/>
          </p:nvPr>
        </p:nvSpPr>
        <p:spPr>
          <a:ln/>
        </p:spPr>
      </p:sp>
      <p:sp>
        <p:nvSpPr>
          <p:cNvPr id="8448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E5837A-173E-410C-9815-03ADB1CCC55A}" type="slidenum">
              <a:rPr lang="en-US" altLang="zh-CN"/>
              <a:pPr/>
              <a:t>62</a:t>
            </a:fld>
            <a:endParaRPr lang="en-US" altLang="zh-CN"/>
          </a:p>
        </p:txBody>
      </p:sp>
      <p:sp>
        <p:nvSpPr>
          <p:cNvPr id="847874" name="Rectangle 2"/>
          <p:cNvSpPr>
            <a:spLocks noGrp="1" noRot="1" noChangeAspect="1" noChangeArrowheads="1" noTextEdit="1"/>
          </p:cNvSpPr>
          <p:nvPr>
            <p:ph type="sldImg"/>
          </p:nvPr>
        </p:nvSpPr>
        <p:spPr>
          <a:ln/>
        </p:spPr>
      </p:sp>
      <p:sp>
        <p:nvSpPr>
          <p:cNvPr id="8478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6AA6F0-AA1B-4F02-BD00-3BBC2E494939}" type="slidenum">
              <a:rPr lang="en-US" altLang="zh-CN"/>
              <a:pPr/>
              <a:t>63</a:t>
            </a:fld>
            <a:endParaRPr lang="en-US" altLang="zh-CN"/>
          </a:p>
        </p:txBody>
      </p:sp>
      <p:sp>
        <p:nvSpPr>
          <p:cNvPr id="848898" name="Rectangle 2"/>
          <p:cNvSpPr>
            <a:spLocks noGrp="1" noRot="1" noChangeAspect="1" noChangeArrowheads="1" noTextEdit="1"/>
          </p:cNvSpPr>
          <p:nvPr>
            <p:ph type="sldImg"/>
          </p:nvPr>
        </p:nvSpPr>
        <p:spPr>
          <a:ln/>
        </p:spPr>
      </p:sp>
      <p:sp>
        <p:nvSpPr>
          <p:cNvPr id="848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560ABD-89DB-4FF7-86A0-489A213386C0}" type="slidenum">
              <a:rPr lang="en-US" altLang="zh-CN"/>
              <a:pPr/>
              <a:t>64</a:t>
            </a:fld>
            <a:endParaRPr lang="en-US" altLang="zh-CN"/>
          </a:p>
        </p:txBody>
      </p:sp>
      <p:sp>
        <p:nvSpPr>
          <p:cNvPr id="849922" name="Rectangle 2"/>
          <p:cNvSpPr>
            <a:spLocks noGrp="1" noRot="1" noChangeAspect="1" noChangeArrowheads="1" noTextEdit="1"/>
          </p:cNvSpPr>
          <p:nvPr>
            <p:ph type="sldImg"/>
          </p:nvPr>
        </p:nvSpPr>
        <p:spPr>
          <a:ln/>
        </p:spPr>
      </p:sp>
      <p:sp>
        <p:nvSpPr>
          <p:cNvPr id="849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655749-84FF-464F-A831-E811DF3517DC}" type="slidenum">
              <a:rPr lang="en-US" altLang="zh-CN"/>
              <a:pPr/>
              <a:t>65</a:t>
            </a:fld>
            <a:endParaRPr lang="en-US" altLang="zh-CN"/>
          </a:p>
        </p:txBody>
      </p:sp>
      <p:sp>
        <p:nvSpPr>
          <p:cNvPr id="850946" name="Rectangle 2"/>
          <p:cNvSpPr>
            <a:spLocks noGrp="1" noRot="1" noChangeAspect="1" noChangeArrowheads="1" noTextEdit="1"/>
          </p:cNvSpPr>
          <p:nvPr>
            <p:ph type="sldImg"/>
          </p:nvPr>
        </p:nvSpPr>
        <p:spPr>
          <a:ln/>
        </p:spPr>
      </p:sp>
      <p:sp>
        <p:nvSpPr>
          <p:cNvPr id="8509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5861C9-FA6C-4C15-B0DA-FECC28817154}" type="slidenum">
              <a:rPr lang="en-US" altLang="zh-CN"/>
              <a:pPr/>
              <a:t>66</a:t>
            </a:fld>
            <a:endParaRPr lang="en-US" altLang="zh-CN"/>
          </a:p>
        </p:txBody>
      </p:sp>
      <p:sp>
        <p:nvSpPr>
          <p:cNvPr id="854018" name="Rectangle 2"/>
          <p:cNvSpPr>
            <a:spLocks noGrp="1" noRot="1" noChangeAspect="1" noChangeArrowheads="1" noTextEdit="1"/>
          </p:cNvSpPr>
          <p:nvPr>
            <p:ph type="sldImg"/>
          </p:nvPr>
        </p:nvSpPr>
        <p:spPr>
          <a:ln/>
        </p:spPr>
      </p:sp>
      <p:sp>
        <p:nvSpPr>
          <p:cNvPr id="8540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CB13F6-8427-46E6-85F6-504784CD9A4E}" type="slidenum">
              <a:rPr lang="en-US" altLang="zh-CN"/>
              <a:pPr/>
              <a:t>67</a:t>
            </a:fld>
            <a:endParaRPr lang="en-US" altLang="zh-CN"/>
          </a:p>
        </p:txBody>
      </p:sp>
      <p:sp>
        <p:nvSpPr>
          <p:cNvPr id="859138" name="Rectangle 2"/>
          <p:cNvSpPr>
            <a:spLocks noGrp="1" noRot="1" noChangeAspect="1" noChangeArrowheads="1" noTextEdit="1"/>
          </p:cNvSpPr>
          <p:nvPr>
            <p:ph type="sldImg"/>
          </p:nvPr>
        </p:nvSpPr>
        <p:spPr>
          <a:ln/>
        </p:spPr>
      </p:sp>
      <p:sp>
        <p:nvSpPr>
          <p:cNvPr id="8591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506D67-2AC5-4025-849A-378C4AEFA9CD}" type="slidenum">
              <a:rPr lang="en-US" altLang="zh-CN"/>
              <a:pPr/>
              <a:t>68</a:t>
            </a:fld>
            <a:endParaRPr lang="en-US" altLang="zh-CN"/>
          </a:p>
        </p:txBody>
      </p:sp>
      <p:sp>
        <p:nvSpPr>
          <p:cNvPr id="860162" name="Rectangle 2"/>
          <p:cNvSpPr>
            <a:spLocks noGrp="1" noRot="1" noChangeAspect="1" noChangeArrowheads="1" noTextEdit="1"/>
          </p:cNvSpPr>
          <p:nvPr>
            <p:ph type="sldImg"/>
          </p:nvPr>
        </p:nvSpPr>
        <p:spPr>
          <a:ln/>
        </p:spPr>
      </p:sp>
      <p:sp>
        <p:nvSpPr>
          <p:cNvPr id="8601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184C4C-2E32-4718-8117-2136A12BF9DB}" type="slidenum">
              <a:rPr lang="en-US" altLang="zh-CN"/>
              <a:pPr/>
              <a:t>69</a:t>
            </a:fld>
            <a:endParaRPr lang="en-US" altLang="zh-CN"/>
          </a:p>
        </p:txBody>
      </p:sp>
      <p:sp>
        <p:nvSpPr>
          <p:cNvPr id="861186" name="Rectangle 2"/>
          <p:cNvSpPr>
            <a:spLocks noGrp="1" noRot="1" noChangeAspect="1" noChangeArrowheads="1" noTextEdit="1"/>
          </p:cNvSpPr>
          <p:nvPr>
            <p:ph type="sldImg"/>
          </p:nvPr>
        </p:nvSpPr>
        <p:spPr>
          <a:ln/>
        </p:spPr>
      </p:sp>
      <p:sp>
        <p:nvSpPr>
          <p:cNvPr id="8611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C35F54-7A5A-4D76-AC15-7C7DC8CD6D84}" type="slidenum">
              <a:rPr lang="en-US" altLang="zh-CN"/>
              <a:pPr/>
              <a:t>70</a:t>
            </a:fld>
            <a:endParaRPr lang="en-US" altLang="zh-CN"/>
          </a:p>
        </p:txBody>
      </p:sp>
      <p:sp>
        <p:nvSpPr>
          <p:cNvPr id="862210" name="Rectangle 2"/>
          <p:cNvSpPr>
            <a:spLocks noGrp="1" noRot="1" noChangeAspect="1" noChangeArrowheads="1" noTextEdit="1"/>
          </p:cNvSpPr>
          <p:nvPr>
            <p:ph type="sldImg"/>
          </p:nvPr>
        </p:nvSpPr>
        <p:spPr>
          <a:ln/>
        </p:spPr>
      </p:sp>
      <p:sp>
        <p:nvSpPr>
          <p:cNvPr id="8622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C648EC-7337-4724-9FA9-BB4E7E1C3533}" type="slidenum">
              <a:rPr lang="en-US" altLang="zh-CN"/>
              <a:pPr/>
              <a:t>71</a:t>
            </a:fld>
            <a:endParaRPr lang="en-US" altLang="zh-CN"/>
          </a:p>
        </p:txBody>
      </p:sp>
      <p:sp>
        <p:nvSpPr>
          <p:cNvPr id="863234" name="Rectangle 2"/>
          <p:cNvSpPr>
            <a:spLocks noGrp="1" noRot="1" noChangeAspect="1" noChangeArrowheads="1" noTextEdit="1"/>
          </p:cNvSpPr>
          <p:nvPr>
            <p:ph type="sldImg"/>
          </p:nvPr>
        </p:nvSpPr>
        <p:spPr>
          <a:ln/>
        </p:spPr>
      </p:sp>
      <p:sp>
        <p:nvSpPr>
          <p:cNvPr id="8632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6FB15E-DADA-4125-886A-BB1CD7135961}" type="slidenum">
              <a:rPr lang="en-US" altLang="zh-CN"/>
              <a:pPr/>
              <a:t>72</a:t>
            </a:fld>
            <a:endParaRPr lang="en-US" altLang="zh-CN"/>
          </a:p>
        </p:txBody>
      </p:sp>
      <p:sp>
        <p:nvSpPr>
          <p:cNvPr id="864258" name="Rectangle 2"/>
          <p:cNvSpPr>
            <a:spLocks noGrp="1" noRot="1" noChangeAspect="1" noChangeArrowheads="1" noTextEdit="1"/>
          </p:cNvSpPr>
          <p:nvPr>
            <p:ph type="sldImg"/>
          </p:nvPr>
        </p:nvSpPr>
        <p:spPr>
          <a:ln/>
        </p:spPr>
      </p:sp>
      <p:sp>
        <p:nvSpPr>
          <p:cNvPr id="8642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54EA9C-A597-456B-910B-E67B0A64E0CC}" type="slidenum">
              <a:rPr lang="en-US" altLang="zh-CN"/>
              <a:pPr/>
              <a:t>73</a:t>
            </a:fld>
            <a:endParaRPr lang="en-US" altLang="zh-CN"/>
          </a:p>
        </p:txBody>
      </p:sp>
      <p:sp>
        <p:nvSpPr>
          <p:cNvPr id="867330" name="Rectangle 2"/>
          <p:cNvSpPr>
            <a:spLocks noGrp="1" noRot="1" noChangeAspect="1" noChangeArrowheads="1" noTextEdit="1"/>
          </p:cNvSpPr>
          <p:nvPr>
            <p:ph type="sldImg"/>
          </p:nvPr>
        </p:nvSpPr>
        <p:spPr>
          <a:ln/>
        </p:spPr>
      </p:sp>
      <p:sp>
        <p:nvSpPr>
          <p:cNvPr id="867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ECDA35-1D32-44D1-8BAA-D8400C41E4D5}" type="slidenum">
              <a:rPr lang="en-US" altLang="zh-CN"/>
              <a:pPr/>
              <a:t>74</a:t>
            </a:fld>
            <a:endParaRPr lang="en-US" altLang="zh-CN"/>
          </a:p>
        </p:txBody>
      </p:sp>
      <p:sp>
        <p:nvSpPr>
          <p:cNvPr id="868354" name="Rectangle 2"/>
          <p:cNvSpPr>
            <a:spLocks noGrp="1" noRot="1" noChangeAspect="1" noChangeArrowheads="1" noTextEdit="1"/>
          </p:cNvSpPr>
          <p:nvPr>
            <p:ph type="sldImg"/>
          </p:nvPr>
        </p:nvSpPr>
        <p:spPr>
          <a:ln/>
        </p:spPr>
      </p:sp>
      <p:sp>
        <p:nvSpPr>
          <p:cNvPr id="8683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A392C8-E0F5-4C9D-8C8B-F2B85BAFF859}" type="slidenum">
              <a:rPr lang="en-US" altLang="zh-CN"/>
              <a:pPr/>
              <a:t>75</a:t>
            </a:fld>
            <a:endParaRPr lang="en-US" altLang="zh-CN"/>
          </a:p>
        </p:txBody>
      </p:sp>
      <p:sp>
        <p:nvSpPr>
          <p:cNvPr id="869378" name="Rectangle 2"/>
          <p:cNvSpPr>
            <a:spLocks noGrp="1" noRot="1" noChangeAspect="1" noChangeArrowheads="1" noTextEdit="1"/>
          </p:cNvSpPr>
          <p:nvPr>
            <p:ph type="sldImg"/>
          </p:nvPr>
        </p:nvSpPr>
        <p:spPr>
          <a:ln/>
        </p:spPr>
      </p:sp>
      <p:sp>
        <p:nvSpPr>
          <p:cNvPr id="869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8BB1B0-BFD7-4E0B-A011-778BDE3AABAE}" type="slidenum">
              <a:rPr lang="en-US" altLang="zh-CN"/>
              <a:pPr/>
              <a:t>76</a:t>
            </a:fld>
            <a:endParaRPr lang="en-US" altLang="zh-CN"/>
          </a:p>
        </p:txBody>
      </p:sp>
      <p:sp>
        <p:nvSpPr>
          <p:cNvPr id="870402" name="Rectangle 2"/>
          <p:cNvSpPr>
            <a:spLocks noGrp="1" noRot="1" noChangeAspect="1" noChangeArrowheads="1" noTextEdit="1"/>
          </p:cNvSpPr>
          <p:nvPr>
            <p:ph type="sldImg"/>
          </p:nvPr>
        </p:nvSpPr>
        <p:spPr>
          <a:ln/>
        </p:spPr>
      </p:sp>
      <p:sp>
        <p:nvSpPr>
          <p:cNvPr id="870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086A1-AA6B-4540-9AEA-06C3FCB8888D}" type="slidenum">
              <a:rPr lang="en-US" altLang="zh-CN"/>
              <a:pPr/>
              <a:t>78</a:t>
            </a:fld>
            <a:endParaRPr lang="en-US" altLang="zh-CN"/>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E81ED5-CC5D-4017-B9F7-E5DF6E95A9BC}" type="slidenum">
              <a:rPr lang="en-US" altLang="zh-CN"/>
              <a:pPr/>
              <a:t>82</a:t>
            </a:fld>
            <a:endParaRPr lang="en-US" altLang="zh-CN"/>
          </a:p>
        </p:txBody>
      </p:sp>
      <p:sp>
        <p:nvSpPr>
          <p:cNvPr id="891906" name="Rectangle 2"/>
          <p:cNvSpPr>
            <a:spLocks noGrp="1" noRot="1" noChangeAspect="1" noChangeArrowheads="1" noTextEdit="1"/>
          </p:cNvSpPr>
          <p:nvPr>
            <p:ph type="sldImg"/>
          </p:nvPr>
        </p:nvSpPr>
        <p:spPr>
          <a:ln/>
        </p:spPr>
      </p:sp>
      <p:sp>
        <p:nvSpPr>
          <p:cNvPr id="8919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205C8E-E234-4E6E-9587-FCE08C4D426E}" type="slidenum">
              <a:rPr lang="en-US" altLang="zh-CN"/>
              <a:pPr/>
              <a:t>92</a:t>
            </a:fld>
            <a:endParaRPr lang="en-US" altLang="zh-CN"/>
          </a:p>
        </p:txBody>
      </p:sp>
      <p:sp>
        <p:nvSpPr>
          <p:cNvPr id="905218" name="Rectangle 2"/>
          <p:cNvSpPr>
            <a:spLocks noGrp="1" noRot="1" noChangeAspect="1" noChangeArrowheads="1" noTextEdit="1"/>
          </p:cNvSpPr>
          <p:nvPr>
            <p:ph type="sldImg"/>
          </p:nvPr>
        </p:nvSpPr>
        <p:spPr>
          <a:ln/>
        </p:spPr>
      </p:sp>
      <p:sp>
        <p:nvSpPr>
          <p:cNvPr id="9052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96B7AD-AC4C-437B-AD11-B61F3C16D837}" type="slidenum">
              <a:rPr lang="en-US" altLang="zh-CN"/>
              <a:pPr/>
              <a:t>93</a:t>
            </a:fld>
            <a:endParaRPr lang="en-US" altLang="zh-CN"/>
          </a:p>
        </p:txBody>
      </p:sp>
      <p:sp>
        <p:nvSpPr>
          <p:cNvPr id="906242" name="Rectangle 2"/>
          <p:cNvSpPr>
            <a:spLocks noGrp="1" noRot="1" noChangeAspect="1" noChangeArrowheads="1" noTextEdit="1"/>
          </p:cNvSpPr>
          <p:nvPr>
            <p:ph type="sldImg"/>
          </p:nvPr>
        </p:nvSpPr>
        <p:spPr>
          <a:ln/>
        </p:spPr>
      </p:sp>
      <p:sp>
        <p:nvSpPr>
          <p:cNvPr id="9062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50B0E3-26DB-4D5C-94F3-7DBD4A268F91}" type="slidenum">
              <a:rPr lang="en-US" altLang="zh-CN"/>
              <a:pPr/>
              <a:t>95</a:t>
            </a:fld>
            <a:endParaRPr lang="en-US" altLang="zh-CN"/>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50B0E3-26DB-4D5C-94F3-7DBD4A268F91}" type="slidenum">
              <a:rPr lang="en-US" altLang="zh-CN"/>
              <a:pPr/>
              <a:t>96</a:t>
            </a:fld>
            <a:endParaRPr lang="en-US" altLang="zh-CN"/>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6141B4-7B19-4170-A9F7-EB7C9F1E3FF1}" type="slidenum">
              <a:rPr lang="en-US" altLang="zh-CN"/>
              <a:pPr/>
              <a:t>97</a:t>
            </a:fld>
            <a:endParaRPr lang="en-US" altLang="zh-CN"/>
          </a:p>
        </p:txBody>
      </p:sp>
      <p:sp>
        <p:nvSpPr>
          <p:cNvPr id="915458" name="Rectangle 2"/>
          <p:cNvSpPr>
            <a:spLocks noGrp="1" noRot="1" noChangeAspect="1" noChangeArrowheads="1" noTextEdit="1"/>
          </p:cNvSpPr>
          <p:nvPr>
            <p:ph type="sldImg"/>
          </p:nvPr>
        </p:nvSpPr>
        <p:spPr>
          <a:ln/>
        </p:spPr>
      </p:sp>
      <p:sp>
        <p:nvSpPr>
          <p:cNvPr id="9154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6E0E02-DBD0-4D14-A8C0-0C1AE568848A}" type="slidenum">
              <a:rPr lang="en-US" altLang="zh-CN"/>
              <a:pPr/>
              <a:t>102</a:t>
            </a:fld>
            <a:endParaRPr lang="en-US" altLang="zh-CN"/>
          </a:p>
        </p:txBody>
      </p:sp>
      <p:sp>
        <p:nvSpPr>
          <p:cNvPr id="924674" name="Rectangle 2"/>
          <p:cNvSpPr>
            <a:spLocks noGrp="1" noRot="1" noChangeAspect="1" noChangeArrowheads="1" noTextEdit="1"/>
          </p:cNvSpPr>
          <p:nvPr>
            <p:ph type="sldImg"/>
          </p:nvPr>
        </p:nvSpPr>
        <p:spPr>
          <a:ln/>
        </p:spPr>
      </p:sp>
      <p:sp>
        <p:nvSpPr>
          <p:cNvPr id="9246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6E0E02-DBD0-4D14-A8C0-0C1AE568848A}" type="slidenum">
              <a:rPr lang="en-US" altLang="zh-CN"/>
              <a:pPr/>
              <a:t>103</a:t>
            </a:fld>
            <a:endParaRPr lang="en-US" altLang="zh-CN"/>
          </a:p>
        </p:txBody>
      </p:sp>
      <p:sp>
        <p:nvSpPr>
          <p:cNvPr id="924674" name="Rectangle 2"/>
          <p:cNvSpPr>
            <a:spLocks noGrp="1" noRot="1" noChangeAspect="1" noChangeArrowheads="1" noTextEdit="1"/>
          </p:cNvSpPr>
          <p:nvPr>
            <p:ph type="sldImg"/>
          </p:nvPr>
        </p:nvSpPr>
        <p:spPr>
          <a:ln/>
        </p:spPr>
      </p:sp>
      <p:sp>
        <p:nvSpPr>
          <p:cNvPr id="9246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1C144F-1E12-4628-AB95-356B76764EB0}" type="slidenum">
              <a:rPr lang="en-US" altLang="zh-CN"/>
              <a:pPr/>
              <a:t>104</a:t>
            </a:fld>
            <a:endParaRPr lang="en-US" altLang="zh-CN"/>
          </a:p>
        </p:txBody>
      </p:sp>
      <p:sp>
        <p:nvSpPr>
          <p:cNvPr id="926722" name="Rectangle 2"/>
          <p:cNvSpPr>
            <a:spLocks noGrp="1" noRot="1" noChangeAspect="1" noChangeArrowheads="1" noTextEdit="1"/>
          </p:cNvSpPr>
          <p:nvPr>
            <p:ph type="sldImg"/>
          </p:nvPr>
        </p:nvSpPr>
        <p:spPr>
          <a:ln/>
        </p:spPr>
      </p:sp>
      <p:sp>
        <p:nvSpPr>
          <p:cNvPr id="9267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90CE2C-7464-41B1-A237-69E136653E65}" type="slidenum">
              <a:rPr lang="en-US" altLang="zh-CN"/>
              <a:pPr/>
              <a:t>106</a:t>
            </a:fld>
            <a:endParaRPr lang="en-US" altLang="zh-CN"/>
          </a:p>
        </p:txBody>
      </p:sp>
      <p:sp>
        <p:nvSpPr>
          <p:cNvPr id="927746" name="Rectangle 2"/>
          <p:cNvSpPr>
            <a:spLocks noGrp="1" noRot="1" noChangeAspect="1" noChangeArrowheads="1" noTextEdit="1"/>
          </p:cNvSpPr>
          <p:nvPr>
            <p:ph type="sldImg"/>
          </p:nvPr>
        </p:nvSpPr>
        <p:spPr>
          <a:ln/>
        </p:spPr>
      </p:sp>
      <p:sp>
        <p:nvSpPr>
          <p:cNvPr id="9277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FED323-EAFA-45FD-AB92-5F71EE570643}" type="slidenum">
              <a:rPr lang="en-US" altLang="zh-CN"/>
              <a:pPr/>
              <a:t>108</a:t>
            </a:fld>
            <a:endParaRPr lang="en-US" altLang="zh-CN"/>
          </a:p>
        </p:txBody>
      </p:sp>
      <p:sp>
        <p:nvSpPr>
          <p:cNvPr id="928770" name="Rectangle 2"/>
          <p:cNvSpPr>
            <a:spLocks noGrp="1" noRot="1" noChangeAspect="1" noChangeArrowheads="1" noTextEdit="1"/>
          </p:cNvSpPr>
          <p:nvPr>
            <p:ph type="sldImg"/>
          </p:nvPr>
        </p:nvSpPr>
        <p:spPr>
          <a:ln/>
        </p:spPr>
      </p:sp>
      <p:sp>
        <p:nvSpPr>
          <p:cNvPr id="9287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98E436-7411-43AC-AFCD-51F868C30DF1}" type="slidenum">
              <a:rPr lang="en-US" altLang="zh-CN"/>
              <a:pPr/>
              <a:t>111</a:t>
            </a:fld>
            <a:endParaRPr lang="en-US" altLang="zh-CN"/>
          </a:p>
        </p:txBody>
      </p:sp>
      <p:sp>
        <p:nvSpPr>
          <p:cNvPr id="936962" name="Rectangle 2"/>
          <p:cNvSpPr>
            <a:spLocks noGrp="1" noRot="1" noChangeAspect="1" noChangeArrowheads="1" noTextEdit="1"/>
          </p:cNvSpPr>
          <p:nvPr>
            <p:ph type="sldImg"/>
          </p:nvPr>
        </p:nvSpPr>
        <p:spPr>
          <a:ln/>
        </p:spPr>
      </p:sp>
      <p:sp>
        <p:nvSpPr>
          <p:cNvPr id="9369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C21244-E152-4319-8E1A-365AA33386ED}" type="slidenum">
              <a:rPr lang="en-US" altLang="zh-CN"/>
              <a:pPr/>
              <a:t>112</a:t>
            </a:fld>
            <a:endParaRPr lang="en-US" altLang="zh-CN"/>
          </a:p>
        </p:txBody>
      </p:sp>
      <p:sp>
        <p:nvSpPr>
          <p:cNvPr id="1002498" name="Rectangle 2"/>
          <p:cNvSpPr>
            <a:spLocks noGrp="1" noRot="1" noChangeAspect="1" noChangeArrowheads="1" noTextEdit="1"/>
          </p:cNvSpPr>
          <p:nvPr>
            <p:ph type="sldImg"/>
          </p:nvPr>
        </p:nvSpPr>
        <p:spPr>
          <a:ln/>
        </p:spPr>
      </p:sp>
      <p:sp>
        <p:nvSpPr>
          <p:cNvPr id="1002499"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C21244-E152-4319-8E1A-365AA33386ED}" type="slidenum">
              <a:rPr lang="en-US" altLang="zh-CN"/>
              <a:pPr/>
              <a:t>113</a:t>
            </a:fld>
            <a:endParaRPr lang="en-US" altLang="zh-CN"/>
          </a:p>
        </p:txBody>
      </p:sp>
      <p:sp>
        <p:nvSpPr>
          <p:cNvPr id="1002498" name="Rectangle 2"/>
          <p:cNvSpPr>
            <a:spLocks noGrp="1" noRot="1" noChangeAspect="1" noChangeArrowheads="1" noTextEdit="1"/>
          </p:cNvSpPr>
          <p:nvPr>
            <p:ph type="sldImg"/>
          </p:nvPr>
        </p:nvSpPr>
        <p:spPr>
          <a:ln/>
        </p:spPr>
      </p:sp>
      <p:sp>
        <p:nvSpPr>
          <p:cNvPr id="10024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622F9F-D46C-4F73-AAF2-8C852D3817B7}" type="slidenum">
              <a:rPr lang="en-US" altLang="zh-CN"/>
              <a:pPr/>
              <a:t>118</a:t>
            </a:fld>
            <a:endParaRPr lang="en-US" altLang="zh-CN"/>
          </a:p>
        </p:txBody>
      </p:sp>
      <p:sp>
        <p:nvSpPr>
          <p:cNvPr id="874498" name="Rectangle 2"/>
          <p:cNvSpPr>
            <a:spLocks noGrp="1" noRot="1" noChangeAspect="1" noChangeArrowheads="1" noTextEdit="1"/>
          </p:cNvSpPr>
          <p:nvPr>
            <p:ph type="sldImg"/>
          </p:nvPr>
        </p:nvSpPr>
        <p:spPr>
          <a:ln/>
        </p:spPr>
      </p:sp>
      <p:sp>
        <p:nvSpPr>
          <p:cNvPr id="8744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F897F7-1B85-4BED-80C6-5F8A9680D28F}" type="slidenum">
              <a:rPr lang="en-US" altLang="zh-CN"/>
              <a:pPr/>
              <a:t>119</a:t>
            </a:fld>
            <a:endParaRPr lang="en-US" altLang="zh-CN"/>
          </a:p>
        </p:txBody>
      </p:sp>
      <p:sp>
        <p:nvSpPr>
          <p:cNvPr id="1009666" name="Rectangle 2"/>
          <p:cNvSpPr>
            <a:spLocks noGrp="1" noRot="1" noChangeAspect="1" noChangeArrowheads="1" noTextEdit="1"/>
          </p:cNvSpPr>
          <p:nvPr>
            <p:ph type="sldImg"/>
          </p:nvPr>
        </p:nvSpPr>
        <p:spPr>
          <a:ln/>
        </p:spPr>
      </p:sp>
      <p:sp>
        <p:nvSpPr>
          <p:cNvPr id="10096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AF3159-FB72-4176-9A13-5E7DBCF05322}" type="slidenum">
              <a:rPr lang="en-US" altLang="zh-CN"/>
              <a:pPr/>
              <a:t>120</a:t>
            </a:fld>
            <a:endParaRPr lang="en-US" altLang="zh-CN"/>
          </a:p>
        </p:txBody>
      </p:sp>
      <p:sp>
        <p:nvSpPr>
          <p:cNvPr id="1006594" name="Rectangle 2"/>
          <p:cNvSpPr>
            <a:spLocks noGrp="1" noRot="1" noChangeAspect="1" noChangeArrowheads="1" noTextEdit="1"/>
          </p:cNvSpPr>
          <p:nvPr>
            <p:ph type="sldImg"/>
          </p:nvPr>
        </p:nvSpPr>
        <p:spPr>
          <a:ln/>
        </p:spPr>
      </p:sp>
      <p:sp>
        <p:nvSpPr>
          <p:cNvPr id="1006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1B79D1-9EA5-4379-AD28-98AB953F39C0}" type="slidenum">
              <a:rPr lang="en-US" altLang="zh-CN"/>
              <a:pPr/>
              <a:t>121</a:t>
            </a:fld>
            <a:endParaRPr lang="en-US" altLang="zh-CN"/>
          </a:p>
        </p:txBody>
      </p:sp>
      <p:sp>
        <p:nvSpPr>
          <p:cNvPr id="1013762" name="Rectangle 2"/>
          <p:cNvSpPr>
            <a:spLocks noGrp="1" noRot="1" noChangeAspect="1" noChangeArrowheads="1" noTextEdit="1"/>
          </p:cNvSpPr>
          <p:nvPr>
            <p:ph type="sldImg"/>
          </p:nvPr>
        </p:nvSpPr>
        <p:spPr>
          <a:ln/>
        </p:spPr>
      </p:sp>
      <p:sp>
        <p:nvSpPr>
          <p:cNvPr id="10137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1B79D1-9EA5-4379-AD28-98AB953F39C0}" type="slidenum">
              <a:rPr lang="en-US" altLang="zh-CN"/>
              <a:pPr/>
              <a:t>122</a:t>
            </a:fld>
            <a:endParaRPr lang="en-US" altLang="zh-CN"/>
          </a:p>
        </p:txBody>
      </p:sp>
      <p:sp>
        <p:nvSpPr>
          <p:cNvPr id="1013762" name="Rectangle 2"/>
          <p:cNvSpPr>
            <a:spLocks noGrp="1" noRot="1" noChangeAspect="1" noChangeArrowheads="1" noTextEdit="1"/>
          </p:cNvSpPr>
          <p:nvPr>
            <p:ph type="sldImg"/>
          </p:nvPr>
        </p:nvSpPr>
        <p:spPr>
          <a:ln/>
        </p:spPr>
      </p:sp>
      <p:sp>
        <p:nvSpPr>
          <p:cNvPr id="10137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F2D435-7F24-4149-B2B0-81E70CD81CCF}" type="slidenum">
              <a:rPr lang="en-US" altLang="zh-CN"/>
              <a:pPr/>
              <a:t>123</a:t>
            </a:fld>
            <a:endParaRPr lang="en-US" altLang="zh-CN"/>
          </a:p>
        </p:txBody>
      </p:sp>
      <p:sp>
        <p:nvSpPr>
          <p:cNvPr id="1014786" name="Rectangle 2"/>
          <p:cNvSpPr>
            <a:spLocks noGrp="1" noRot="1" noChangeAspect="1" noChangeArrowheads="1" noTextEdit="1"/>
          </p:cNvSpPr>
          <p:nvPr>
            <p:ph type="sldImg"/>
          </p:nvPr>
        </p:nvSpPr>
        <p:spPr>
          <a:ln/>
        </p:spPr>
      </p:sp>
      <p:sp>
        <p:nvSpPr>
          <p:cNvPr id="1014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DAB762-6D4F-4F9A-AD24-09B0031352BE}" type="slidenum">
              <a:rPr lang="en-US" altLang="zh-CN"/>
              <a:pPr/>
              <a:t>124</a:t>
            </a:fld>
            <a:endParaRPr lang="en-US" altLang="zh-CN"/>
          </a:p>
        </p:txBody>
      </p:sp>
      <p:sp>
        <p:nvSpPr>
          <p:cNvPr id="875522" name="Rectangle 2"/>
          <p:cNvSpPr>
            <a:spLocks noGrp="1" noRot="1" noChangeAspect="1" noChangeArrowheads="1" noTextEdit="1"/>
          </p:cNvSpPr>
          <p:nvPr>
            <p:ph type="sldImg"/>
          </p:nvPr>
        </p:nvSpPr>
        <p:spPr>
          <a:ln/>
        </p:spPr>
      </p:sp>
      <p:sp>
        <p:nvSpPr>
          <p:cNvPr id="8755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DCD392-8123-4F33-B67D-F4B0406B288F}" type="slidenum">
              <a:rPr lang="en-US" altLang="zh-CN"/>
              <a:pPr/>
              <a:t>125</a:t>
            </a:fld>
            <a:endParaRPr lang="en-US" altLang="zh-CN"/>
          </a:p>
        </p:txBody>
      </p:sp>
      <p:sp>
        <p:nvSpPr>
          <p:cNvPr id="876546" name="Rectangle 2"/>
          <p:cNvSpPr>
            <a:spLocks noGrp="1" noRot="1" noChangeAspect="1" noChangeArrowheads="1" noTextEdit="1"/>
          </p:cNvSpPr>
          <p:nvPr>
            <p:ph type="sldImg"/>
          </p:nvPr>
        </p:nvSpPr>
        <p:spPr>
          <a:ln/>
        </p:spPr>
      </p:sp>
      <p:sp>
        <p:nvSpPr>
          <p:cNvPr id="8765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10F30A-C0FE-424B-A1DB-A3B33D0934F5}" type="slidenum">
              <a:rPr lang="en-US" altLang="zh-CN"/>
              <a:pPr/>
              <a:t>130</a:t>
            </a:fld>
            <a:endParaRPr lang="en-US" altLang="zh-CN"/>
          </a:p>
        </p:txBody>
      </p:sp>
      <p:sp>
        <p:nvSpPr>
          <p:cNvPr id="883714" name="Rectangle 2"/>
          <p:cNvSpPr>
            <a:spLocks noGrp="1" noRot="1" noChangeAspect="1" noChangeArrowheads="1" noTextEdit="1"/>
          </p:cNvSpPr>
          <p:nvPr>
            <p:ph type="sldImg"/>
          </p:nvPr>
        </p:nvSpPr>
        <p:spPr>
          <a:ln/>
        </p:spPr>
      </p:sp>
      <p:sp>
        <p:nvSpPr>
          <p:cNvPr id="8837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10F30A-C0FE-424B-A1DB-A3B33D0934F5}" type="slidenum">
              <a:rPr lang="en-US" altLang="zh-CN"/>
              <a:pPr/>
              <a:t>131</a:t>
            </a:fld>
            <a:endParaRPr lang="en-US" altLang="zh-CN"/>
          </a:p>
        </p:txBody>
      </p:sp>
      <p:sp>
        <p:nvSpPr>
          <p:cNvPr id="883714" name="Rectangle 2"/>
          <p:cNvSpPr>
            <a:spLocks noGrp="1" noRot="1" noChangeAspect="1" noChangeArrowheads="1" noTextEdit="1"/>
          </p:cNvSpPr>
          <p:nvPr>
            <p:ph type="sldImg"/>
          </p:nvPr>
        </p:nvSpPr>
        <p:spPr>
          <a:ln/>
        </p:spPr>
      </p:sp>
      <p:sp>
        <p:nvSpPr>
          <p:cNvPr id="8837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10F30A-C0FE-424B-A1DB-A3B33D0934F5}" type="slidenum">
              <a:rPr lang="en-US" altLang="zh-CN"/>
              <a:pPr/>
              <a:t>132</a:t>
            </a:fld>
            <a:endParaRPr lang="en-US" altLang="zh-CN"/>
          </a:p>
        </p:txBody>
      </p:sp>
      <p:sp>
        <p:nvSpPr>
          <p:cNvPr id="883714" name="Rectangle 2"/>
          <p:cNvSpPr>
            <a:spLocks noGrp="1" noRot="1" noChangeAspect="1" noChangeArrowheads="1" noTextEdit="1"/>
          </p:cNvSpPr>
          <p:nvPr>
            <p:ph type="sldImg"/>
          </p:nvPr>
        </p:nvSpPr>
        <p:spPr>
          <a:ln/>
        </p:spPr>
      </p:sp>
      <p:sp>
        <p:nvSpPr>
          <p:cNvPr id="8837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10F30A-C0FE-424B-A1DB-A3B33D0934F5}" type="slidenum">
              <a:rPr lang="en-US" altLang="zh-CN"/>
              <a:pPr/>
              <a:t>133</a:t>
            </a:fld>
            <a:endParaRPr lang="en-US" altLang="zh-CN"/>
          </a:p>
        </p:txBody>
      </p:sp>
      <p:sp>
        <p:nvSpPr>
          <p:cNvPr id="883714" name="Rectangle 2"/>
          <p:cNvSpPr>
            <a:spLocks noGrp="1" noRot="1" noChangeAspect="1" noChangeArrowheads="1" noTextEdit="1"/>
          </p:cNvSpPr>
          <p:nvPr>
            <p:ph type="sldImg"/>
          </p:nvPr>
        </p:nvSpPr>
        <p:spPr>
          <a:ln/>
        </p:spPr>
      </p:sp>
      <p:sp>
        <p:nvSpPr>
          <p:cNvPr id="8837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E9E5E4-E9F0-4FB4-96F1-3F02F49F6C7D}" type="slidenum">
              <a:rPr lang="en-US" altLang="zh-CN"/>
              <a:pPr/>
              <a:t>134</a:t>
            </a:fld>
            <a:endParaRPr lang="en-US" altLang="zh-CN"/>
          </a:p>
        </p:txBody>
      </p:sp>
      <p:sp>
        <p:nvSpPr>
          <p:cNvPr id="884738" name="Rectangle 2"/>
          <p:cNvSpPr>
            <a:spLocks noGrp="1" noRot="1" noChangeAspect="1" noChangeArrowheads="1" noTextEdit="1"/>
          </p:cNvSpPr>
          <p:nvPr>
            <p:ph type="sldImg"/>
          </p:nvPr>
        </p:nvSpPr>
        <p:spPr>
          <a:ln/>
        </p:spPr>
      </p:sp>
      <p:sp>
        <p:nvSpPr>
          <p:cNvPr id="8847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73907F-6786-4362-B78D-FED619960788}" type="slidenum">
              <a:rPr lang="en-US" altLang="zh-CN"/>
              <a:pPr/>
              <a:t>135</a:t>
            </a:fld>
            <a:endParaRPr lang="en-US" altLang="zh-CN"/>
          </a:p>
        </p:txBody>
      </p:sp>
      <p:sp>
        <p:nvSpPr>
          <p:cNvPr id="885762" name="Rectangle 2"/>
          <p:cNvSpPr>
            <a:spLocks noGrp="1" noRot="1" noChangeAspect="1" noChangeArrowheads="1" noTextEdit="1"/>
          </p:cNvSpPr>
          <p:nvPr>
            <p:ph type="sldImg"/>
          </p:nvPr>
        </p:nvSpPr>
        <p:spPr>
          <a:ln/>
        </p:spPr>
      </p:sp>
      <p:sp>
        <p:nvSpPr>
          <p:cNvPr id="8857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2E4CFA-B43A-4005-AA1D-8FFD9997318C}" type="slidenum">
              <a:rPr lang="en-US" altLang="zh-CN"/>
              <a:pPr/>
              <a:t>137</a:t>
            </a:fld>
            <a:endParaRPr lang="en-US" altLang="zh-CN"/>
          </a:p>
        </p:txBody>
      </p:sp>
      <p:sp>
        <p:nvSpPr>
          <p:cNvPr id="887810" name="Rectangle 2"/>
          <p:cNvSpPr>
            <a:spLocks noGrp="1" noRot="1" noChangeAspect="1" noChangeArrowheads="1" noTextEdit="1"/>
          </p:cNvSpPr>
          <p:nvPr>
            <p:ph type="sldImg"/>
          </p:nvPr>
        </p:nvSpPr>
        <p:spPr>
          <a:ln/>
        </p:spPr>
      </p:sp>
      <p:sp>
        <p:nvSpPr>
          <p:cNvPr id="8878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2E4CFA-B43A-4005-AA1D-8FFD9997318C}" type="slidenum">
              <a:rPr lang="en-US" altLang="zh-CN"/>
              <a:pPr/>
              <a:t>138</a:t>
            </a:fld>
            <a:endParaRPr lang="en-US" altLang="zh-CN"/>
          </a:p>
        </p:txBody>
      </p:sp>
      <p:sp>
        <p:nvSpPr>
          <p:cNvPr id="887810" name="Rectangle 2"/>
          <p:cNvSpPr>
            <a:spLocks noGrp="1" noRot="1" noChangeAspect="1" noChangeArrowheads="1" noTextEdit="1"/>
          </p:cNvSpPr>
          <p:nvPr>
            <p:ph type="sldImg"/>
          </p:nvPr>
        </p:nvSpPr>
        <p:spPr>
          <a:ln/>
        </p:spPr>
      </p:sp>
      <p:sp>
        <p:nvSpPr>
          <p:cNvPr id="8878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279857-3A84-4C58-9A56-25DD549F0230}" type="slidenum">
              <a:rPr lang="en-US" altLang="zh-CN"/>
              <a:pPr/>
              <a:t>139</a:t>
            </a:fld>
            <a:endParaRPr lang="en-US" altLang="zh-CN"/>
          </a:p>
        </p:txBody>
      </p:sp>
      <p:sp>
        <p:nvSpPr>
          <p:cNvPr id="888834" name="Rectangle 2"/>
          <p:cNvSpPr>
            <a:spLocks noGrp="1" noRot="1" noChangeAspect="1" noChangeArrowheads="1" noTextEdit="1"/>
          </p:cNvSpPr>
          <p:nvPr>
            <p:ph type="sldImg"/>
          </p:nvPr>
        </p:nvSpPr>
        <p:spPr>
          <a:ln/>
        </p:spPr>
      </p:sp>
      <p:sp>
        <p:nvSpPr>
          <p:cNvPr id="8888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279857-3A84-4C58-9A56-25DD549F0230}" type="slidenum">
              <a:rPr lang="en-US" altLang="zh-CN"/>
              <a:pPr/>
              <a:t>140</a:t>
            </a:fld>
            <a:endParaRPr lang="en-US" altLang="zh-CN"/>
          </a:p>
        </p:txBody>
      </p:sp>
      <p:sp>
        <p:nvSpPr>
          <p:cNvPr id="888834" name="Rectangle 2"/>
          <p:cNvSpPr>
            <a:spLocks noGrp="1" noRot="1" noChangeAspect="1" noChangeArrowheads="1" noTextEdit="1"/>
          </p:cNvSpPr>
          <p:nvPr>
            <p:ph type="sldImg"/>
          </p:nvPr>
        </p:nvSpPr>
        <p:spPr>
          <a:ln/>
        </p:spPr>
      </p:sp>
      <p:sp>
        <p:nvSpPr>
          <p:cNvPr id="8888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279857-3A84-4C58-9A56-25DD549F0230}" type="slidenum">
              <a:rPr lang="en-US" altLang="zh-CN"/>
              <a:pPr/>
              <a:t>141</a:t>
            </a:fld>
            <a:endParaRPr lang="en-US" altLang="zh-CN"/>
          </a:p>
        </p:txBody>
      </p:sp>
      <p:sp>
        <p:nvSpPr>
          <p:cNvPr id="888834" name="Rectangle 2"/>
          <p:cNvSpPr>
            <a:spLocks noGrp="1" noRot="1" noChangeAspect="1" noChangeArrowheads="1" noTextEdit="1"/>
          </p:cNvSpPr>
          <p:nvPr>
            <p:ph type="sldImg"/>
          </p:nvPr>
        </p:nvSpPr>
        <p:spPr>
          <a:ln/>
        </p:spPr>
      </p:sp>
      <p:sp>
        <p:nvSpPr>
          <p:cNvPr id="888835"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itchFamily="2" charset="-122"/>
                <a:ea typeface="黑体"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itchFamily="2" charset="2"/>
              <a:buNone/>
              <a:defRPr sz="3600" b="1">
                <a:latin typeface="黑体" pitchFamily="2" charset="-122"/>
                <a:ea typeface="黑体"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pPr/>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pPr/>
              <a:t>‹#›</a:t>
            </a:fld>
            <a:endParaRPr lang="en-US" altLang="zh-CN"/>
          </a:p>
        </p:txBody>
      </p:sp>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a:p>
        </p:txBody>
      </p:sp>
    </p:spTree>
    <p:extLst>
      <p:ext uri="{BB962C8B-B14F-4D97-AF65-F5344CB8AC3E}">
        <p14:creationId xmlns:p14="http://schemas.microsoft.com/office/powerpoint/2010/main" val="60705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a:p>
        </p:txBody>
      </p:sp>
    </p:spTree>
    <p:extLst>
      <p:ext uri="{BB962C8B-B14F-4D97-AF65-F5344CB8AC3E}">
        <p14:creationId xmlns:p14="http://schemas.microsoft.com/office/powerpoint/2010/main" val="198255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a:p>
        </p:txBody>
      </p:sp>
    </p:spTree>
    <p:extLst>
      <p:ext uri="{BB962C8B-B14F-4D97-AF65-F5344CB8AC3E}">
        <p14:creationId xmlns:p14="http://schemas.microsoft.com/office/powerpoint/2010/main" val="1885987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684642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a:p>
        </p:txBody>
      </p:sp>
    </p:spTree>
    <p:extLst>
      <p:ext uri="{BB962C8B-B14F-4D97-AF65-F5344CB8AC3E}">
        <p14:creationId xmlns:p14="http://schemas.microsoft.com/office/powerpoint/2010/main" val="1291822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9.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80.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83.xml"/><Relationship Id="rId7" Type="http://schemas.openxmlformats.org/officeDocument/2006/relationships/image" Target="../media/image3.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2.wmf"/><Relationship Id="rId4" Type="http://schemas.openxmlformats.org/officeDocument/2006/relationships/image" Target="../media/image1.wmf"/></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84.xml"/><Relationship Id="rId7" Type="http://schemas.openxmlformats.org/officeDocument/2006/relationships/image" Target="../media/image3.w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image" Target="../media/image1.wm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86.xml"/><Relationship Id="rId1" Type="http://schemas.openxmlformats.org/officeDocument/2006/relationships/slideLayout" Target="../slideLayouts/slideLayout6.xml"/><Relationship Id="rId4" Type="http://schemas.openxmlformats.org/officeDocument/2006/relationships/image" Target="../media/image1.wmf"/></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88.xml"/><Relationship Id="rId1" Type="http://schemas.openxmlformats.org/officeDocument/2006/relationships/slideLayout" Target="../slideLayouts/slideLayout6.xml"/><Relationship Id="rId4" Type="http://schemas.openxmlformats.org/officeDocument/2006/relationships/image" Target="../media/image4.wmf"/></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97.xml"/><Relationship Id="rId7" Type="http://schemas.openxmlformats.org/officeDocument/2006/relationships/image" Target="../media/image2.wmf"/><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1.wmf"/></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98.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1.wmf"/></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01.xml"/><Relationship Id="rId7" Type="http://schemas.openxmlformats.org/officeDocument/2006/relationships/image" Target="../media/image1.wmf"/><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4.wmf"/><Relationship Id="rId5" Type="http://schemas.openxmlformats.org/officeDocument/2006/relationships/image" Target="../media/image5.wmf"/><Relationship Id="rId4" Type="http://schemas.openxmlformats.org/officeDocument/2006/relationships/oleObject" Target="../embeddings/oleObject5.bin"/></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mn-lt"/>
              </a:rPr>
              <a:t>网络层（下）</a:t>
            </a:r>
          </a:p>
        </p:txBody>
      </p:sp>
      <p:sp>
        <p:nvSpPr>
          <p:cNvPr id="2051" name="Rectangle 3"/>
          <p:cNvSpPr>
            <a:spLocks noGrp="1" noChangeArrowheads="1"/>
          </p:cNvSpPr>
          <p:nvPr>
            <p:ph type="subTitle" idx="1"/>
          </p:nvPr>
        </p:nvSpPr>
        <p:spPr/>
        <p:txBody>
          <a:bodyPr/>
          <a:lstStyle/>
          <a:p>
            <a:endParaRPr lang="zh-CN" altLang="en-US">
              <a:ea typeface="宋体"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（下）</a:t>
            </a:r>
          </a:p>
        </p:txBody>
      </p:sp>
      <p:sp>
        <p:nvSpPr>
          <p:cNvPr id="3" name="内容占位符 2"/>
          <p:cNvSpPr>
            <a:spLocks noGrp="1"/>
          </p:cNvSpPr>
          <p:nvPr>
            <p:ph idx="1"/>
          </p:nvPr>
        </p:nvSpPr>
        <p:spPr/>
        <p:txBody>
          <a:bodyPr/>
          <a:lstStyle/>
          <a:p>
            <a:pPr>
              <a:lnSpc>
                <a:spcPct val="100000"/>
              </a:lnSpc>
            </a:pPr>
            <a:r>
              <a:rPr lang="zh-CN" altLang="zh-CN" dirty="0"/>
              <a:t>划分子网</a:t>
            </a:r>
            <a:endParaRPr lang="en-US" altLang="zh-CN" dirty="0"/>
          </a:p>
          <a:p>
            <a:pPr>
              <a:lnSpc>
                <a:spcPct val="100000"/>
              </a:lnSpc>
            </a:pPr>
            <a:r>
              <a:rPr lang="zh-CN" altLang="zh-CN" dirty="0"/>
              <a:t>构造超网</a:t>
            </a:r>
          </a:p>
          <a:p>
            <a:pPr>
              <a:lnSpc>
                <a:spcPct val="100000"/>
              </a:lnSpc>
            </a:pPr>
            <a:r>
              <a:rPr lang="zh-CN" altLang="zh-CN" dirty="0"/>
              <a:t>互联网的路由选择协议</a:t>
            </a:r>
          </a:p>
          <a:p>
            <a:pPr>
              <a:lnSpc>
                <a:spcPct val="100000"/>
              </a:lnSpc>
            </a:pPr>
            <a:r>
              <a:rPr lang="en-US" altLang="zh-CN" dirty="0"/>
              <a:t>IPv6</a:t>
            </a:r>
            <a:endParaRPr lang="zh-CN" altLang="zh-CN" dirty="0"/>
          </a:p>
          <a:p>
            <a:pPr>
              <a:lnSpc>
                <a:spcPct val="100000"/>
              </a:lnSpc>
            </a:pPr>
            <a:r>
              <a:rPr lang="en-US" altLang="zh-CN"/>
              <a:t>IP</a:t>
            </a:r>
            <a:r>
              <a:rPr lang="zh-CN" altLang="zh-CN"/>
              <a:t>多</a:t>
            </a:r>
            <a:r>
              <a:rPr lang="zh-CN" altLang="zh-CN" dirty="0"/>
              <a:t>播</a:t>
            </a:r>
          </a:p>
          <a:p>
            <a:pPr>
              <a:lnSpc>
                <a:spcPct val="100000"/>
              </a:lnSpc>
            </a:pPr>
            <a:r>
              <a:rPr lang="zh-CN" altLang="zh-CN" dirty="0"/>
              <a:t>虚拟专用网</a:t>
            </a:r>
            <a:r>
              <a:rPr lang="en-US" altLang="zh-CN" dirty="0"/>
              <a:t> VPN</a:t>
            </a:r>
          </a:p>
          <a:p>
            <a:pPr>
              <a:lnSpc>
                <a:spcPct val="100000"/>
              </a:lnSpc>
            </a:pPr>
            <a:r>
              <a:rPr lang="zh-CN" altLang="zh-CN" dirty="0"/>
              <a:t>网络地址转换</a:t>
            </a:r>
            <a:r>
              <a:rPr lang="en-US" altLang="zh-CN" dirty="0"/>
              <a:t> NAT</a:t>
            </a:r>
            <a:endParaRPr lang="zh-CN" altLang="zh-CN" dirty="0"/>
          </a:p>
        </p:txBody>
      </p:sp>
    </p:spTree>
    <p:extLst>
      <p:ext uri="{BB962C8B-B14F-4D97-AF65-F5344CB8AC3E}">
        <p14:creationId xmlns:p14="http://schemas.microsoft.com/office/powerpoint/2010/main" val="333860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（下）</a:t>
            </a:r>
          </a:p>
        </p:txBody>
      </p:sp>
      <p:sp>
        <p:nvSpPr>
          <p:cNvPr id="3" name="内容占位符 2"/>
          <p:cNvSpPr>
            <a:spLocks noGrp="1"/>
          </p:cNvSpPr>
          <p:nvPr>
            <p:ph idx="1"/>
          </p:nvPr>
        </p:nvSpPr>
        <p:spPr/>
        <p:txBody>
          <a:bodyPr/>
          <a:lstStyle/>
          <a:p>
            <a:pPr>
              <a:lnSpc>
                <a:spcPct val="100000"/>
              </a:lnSpc>
            </a:pPr>
            <a:r>
              <a:rPr lang="zh-CN" altLang="zh-CN" sz="3600" dirty="0">
                <a:solidFill>
                  <a:srgbClr val="FF0000"/>
                </a:solidFill>
              </a:rPr>
              <a:t>划分子网</a:t>
            </a:r>
            <a:endParaRPr lang="en-US" altLang="zh-CN" sz="3600" dirty="0">
              <a:solidFill>
                <a:srgbClr val="FF0000"/>
              </a:solidFill>
            </a:endParaRPr>
          </a:p>
          <a:p>
            <a:pPr>
              <a:lnSpc>
                <a:spcPct val="100000"/>
              </a:lnSpc>
            </a:pPr>
            <a:r>
              <a:rPr lang="zh-CN" altLang="zh-CN" dirty="0">
                <a:solidFill>
                  <a:schemeClr val="bg1">
                    <a:lumMod val="75000"/>
                  </a:schemeClr>
                </a:solidFill>
              </a:rPr>
              <a:t>构造超网</a:t>
            </a:r>
          </a:p>
          <a:p>
            <a:pPr>
              <a:lnSpc>
                <a:spcPct val="100000"/>
              </a:lnSpc>
            </a:pPr>
            <a:r>
              <a:rPr lang="zh-CN" altLang="zh-CN" dirty="0">
                <a:solidFill>
                  <a:schemeClr val="bg1">
                    <a:lumMod val="75000"/>
                  </a:schemeClr>
                </a:solidFill>
              </a:rPr>
              <a:t>互联网的路由选择协议</a:t>
            </a:r>
          </a:p>
          <a:p>
            <a:pPr>
              <a:lnSpc>
                <a:spcPct val="100000"/>
              </a:lnSpc>
            </a:pPr>
            <a:r>
              <a:rPr lang="en-US" altLang="zh-CN" dirty="0">
                <a:solidFill>
                  <a:schemeClr val="bg1">
                    <a:lumMod val="75000"/>
                  </a:schemeClr>
                </a:solidFill>
              </a:rPr>
              <a:t>IPv6</a:t>
            </a:r>
            <a:endParaRPr lang="zh-CN" altLang="zh-CN" dirty="0">
              <a:solidFill>
                <a:schemeClr val="bg1">
                  <a:lumMod val="75000"/>
                </a:schemeClr>
              </a:solidFill>
            </a:endParaRPr>
          </a:p>
          <a:p>
            <a:pPr>
              <a:lnSpc>
                <a:spcPct val="100000"/>
              </a:lnSpc>
            </a:pPr>
            <a:r>
              <a:rPr lang="en-US" altLang="zh-CN" dirty="0">
                <a:solidFill>
                  <a:schemeClr val="bg1">
                    <a:lumMod val="75000"/>
                  </a:schemeClr>
                </a:solidFill>
              </a:rPr>
              <a:t>IP</a:t>
            </a:r>
            <a:r>
              <a:rPr lang="zh-CN" altLang="zh-CN" dirty="0">
                <a:solidFill>
                  <a:schemeClr val="bg1">
                    <a:lumMod val="75000"/>
                  </a:schemeClr>
                </a:solidFill>
              </a:rPr>
              <a:t>多播</a:t>
            </a:r>
          </a:p>
          <a:p>
            <a:pPr>
              <a:lnSpc>
                <a:spcPct val="100000"/>
              </a:lnSpc>
            </a:pPr>
            <a:r>
              <a:rPr lang="zh-CN" altLang="zh-CN" dirty="0">
                <a:solidFill>
                  <a:schemeClr val="bg1">
                    <a:lumMod val="75000"/>
                  </a:schemeClr>
                </a:solidFill>
              </a:rPr>
              <a:t>虚拟专用网</a:t>
            </a:r>
            <a:r>
              <a:rPr lang="en-US" altLang="zh-CN" dirty="0">
                <a:solidFill>
                  <a:schemeClr val="bg1">
                    <a:lumMod val="75000"/>
                  </a:schemeClr>
                </a:solidFill>
              </a:rPr>
              <a:t> VPN</a:t>
            </a:r>
          </a:p>
          <a:p>
            <a:pPr>
              <a:lnSpc>
                <a:spcPct val="100000"/>
              </a:lnSpc>
            </a:pPr>
            <a:r>
              <a:rPr lang="zh-CN" altLang="zh-CN" dirty="0">
                <a:solidFill>
                  <a:schemeClr val="bg1">
                    <a:lumMod val="75000"/>
                  </a:schemeClr>
                </a:solidFill>
              </a:rPr>
              <a:t>网络地址转换</a:t>
            </a:r>
            <a:r>
              <a:rPr lang="en-US" altLang="zh-CN" dirty="0">
                <a:solidFill>
                  <a:schemeClr val="bg1">
                    <a:lumMod val="75000"/>
                  </a:schemeClr>
                </a:solidFill>
              </a:rPr>
              <a:t> NAT</a:t>
            </a:r>
            <a:endParaRPr lang="zh-CN" altLang="zh-CN" dirty="0">
              <a:solidFill>
                <a:schemeClr val="bg1">
                  <a:lumMod val="75000"/>
                </a:schemeClr>
              </a:solidFill>
            </a:endParaRPr>
          </a:p>
        </p:txBody>
      </p:sp>
    </p:spTree>
    <p:extLst>
      <p:ext uri="{BB962C8B-B14F-4D97-AF65-F5344CB8AC3E}">
        <p14:creationId xmlns:p14="http://schemas.microsoft.com/office/powerpoint/2010/main" val="711363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r>
              <a:rPr lang="zh-CN" altLang="en-US" dirty="0"/>
              <a:t>划分子网</a:t>
            </a:r>
          </a:p>
        </p:txBody>
      </p:sp>
      <p:sp>
        <p:nvSpPr>
          <p:cNvPr id="500739" name="Rectangle 3"/>
          <p:cNvSpPr>
            <a:spLocks noGrp="1" noChangeArrowheads="1"/>
          </p:cNvSpPr>
          <p:nvPr>
            <p:ph idx="1"/>
          </p:nvPr>
        </p:nvSpPr>
        <p:spPr/>
        <p:txBody>
          <a:bodyPr/>
          <a:lstStyle/>
          <a:p>
            <a:pPr algn="just">
              <a:buFont typeface="Wingdings" pitchFamily="2" charset="2"/>
              <a:buNone/>
            </a:pPr>
            <a:r>
              <a:rPr lang="en-US" altLang="zh-CN" sz="4400" dirty="0">
                <a:solidFill>
                  <a:srgbClr val="333399"/>
                </a:solidFill>
                <a:cs typeface="+mj-cs"/>
              </a:rPr>
              <a:t>1. </a:t>
            </a:r>
            <a:r>
              <a:rPr lang="zh-CN" altLang="en-US" sz="4400" dirty="0">
                <a:solidFill>
                  <a:srgbClr val="333399"/>
                </a:solidFill>
                <a:cs typeface="+mj-cs"/>
              </a:rPr>
              <a:t>从两级 </a:t>
            </a:r>
            <a:r>
              <a:rPr lang="en-US" altLang="zh-CN" sz="4400" dirty="0">
                <a:solidFill>
                  <a:srgbClr val="333399"/>
                </a:solidFill>
                <a:cs typeface="+mj-cs"/>
              </a:rPr>
              <a:t>IP </a:t>
            </a:r>
            <a:r>
              <a:rPr lang="zh-CN" altLang="en-US" sz="4400" dirty="0">
                <a:solidFill>
                  <a:srgbClr val="333399"/>
                </a:solidFill>
                <a:cs typeface="+mj-cs"/>
              </a:rPr>
              <a:t>地址到三级 </a:t>
            </a:r>
            <a:r>
              <a:rPr lang="en-US" altLang="zh-CN" sz="4400" dirty="0">
                <a:solidFill>
                  <a:srgbClr val="333399"/>
                </a:solidFill>
                <a:cs typeface="+mj-cs"/>
              </a:rPr>
              <a:t>IP </a:t>
            </a:r>
            <a:r>
              <a:rPr lang="zh-CN" altLang="en-US" sz="4400" dirty="0">
                <a:solidFill>
                  <a:srgbClr val="333399"/>
                </a:solidFill>
                <a:cs typeface="+mj-cs"/>
              </a:rPr>
              <a:t>地址 </a:t>
            </a:r>
          </a:p>
          <a:p>
            <a:pPr algn="just"/>
            <a:r>
              <a:rPr lang="zh-CN" altLang="en-US" dirty="0"/>
              <a:t>在 </a:t>
            </a:r>
            <a:r>
              <a:rPr lang="en-US" altLang="zh-CN" dirty="0"/>
              <a:t>ARPANET </a:t>
            </a:r>
            <a:r>
              <a:rPr lang="zh-CN" altLang="en-US" dirty="0"/>
              <a:t>的早期，</a:t>
            </a:r>
            <a:r>
              <a:rPr lang="en-US" altLang="zh-CN" dirty="0"/>
              <a:t>IP </a:t>
            </a:r>
            <a:r>
              <a:rPr lang="zh-CN" altLang="en-US" dirty="0"/>
              <a:t>地址的设计确实不够合理：</a:t>
            </a:r>
          </a:p>
          <a:p>
            <a:pPr lvl="1" algn="just"/>
            <a:r>
              <a:rPr lang="en-US" altLang="zh-CN" dirty="0">
                <a:latin typeface="Arial" charset="0"/>
                <a:ea typeface="黑体" pitchFamily="2" charset="-122"/>
              </a:rPr>
              <a:t>(1) IP </a:t>
            </a:r>
            <a:r>
              <a:rPr lang="zh-CN" altLang="en-US" dirty="0">
                <a:latin typeface="Arial" charset="0"/>
                <a:ea typeface="黑体" pitchFamily="2" charset="-122"/>
              </a:rPr>
              <a:t>地址空间的利用率有时很低。 </a:t>
            </a:r>
          </a:p>
          <a:p>
            <a:pPr lvl="1" algn="just"/>
            <a:r>
              <a:rPr lang="en-US" altLang="zh-CN" dirty="0">
                <a:latin typeface="Arial" charset="0"/>
                <a:ea typeface="黑体" pitchFamily="2" charset="-122"/>
              </a:rPr>
              <a:t>(2) </a:t>
            </a:r>
            <a:r>
              <a:rPr lang="zh-CN" altLang="en-US" dirty="0">
                <a:latin typeface="Arial" charset="0"/>
                <a:ea typeface="黑体" pitchFamily="2" charset="-122"/>
              </a:rPr>
              <a:t>给每一个物理网络分配一个网络号会使路由表变得太大因而使网络性能变坏。 </a:t>
            </a:r>
          </a:p>
          <a:p>
            <a:pPr lvl="1" algn="just"/>
            <a:r>
              <a:rPr lang="en-US" altLang="zh-CN" dirty="0">
                <a:latin typeface="Arial" charset="0"/>
                <a:ea typeface="黑体" pitchFamily="2" charset="-122"/>
              </a:rPr>
              <a:t>(3) </a:t>
            </a:r>
            <a:r>
              <a:rPr lang="zh-CN" altLang="en-US" dirty="0">
                <a:latin typeface="Arial" charset="0"/>
                <a:ea typeface="黑体" pitchFamily="2" charset="-122"/>
              </a:rPr>
              <a:t>两级的 </a:t>
            </a:r>
            <a:r>
              <a:rPr lang="en-US" altLang="zh-CN" dirty="0">
                <a:latin typeface="Arial" charset="0"/>
                <a:ea typeface="黑体" pitchFamily="2" charset="-122"/>
              </a:rPr>
              <a:t>IP </a:t>
            </a:r>
            <a:r>
              <a:rPr lang="zh-CN" altLang="en-US" dirty="0">
                <a:latin typeface="Arial" charset="0"/>
                <a:ea typeface="黑体" pitchFamily="2" charset="-122"/>
              </a:rPr>
              <a:t>地址不够灵活。</a:t>
            </a:r>
            <a:r>
              <a:rPr lang="zh-CN" altLang="en-US" dirty="0"/>
              <a:t>  </a:t>
            </a:r>
          </a:p>
        </p:txBody>
      </p:sp>
    </p:spTree>
    <p:extLst>
      <p:ext uri="{BB962C8B-B14F-4D97-AF65-F5344CB8AC3E}">
        <p14:creationId xmlns:p14="http://schemas.microsoft.com/office/powerpoint/2010/main" val="1408126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3" name="Rectangle 3"/>
          <p:cNvSpPr>
            <a:spLocks noGrp="1" noChangeArrowheads="1"/>
          </p:cNvSpPr>
          <p:nvPr>
            <p:ph type="title"/>
          </p:nvPr>
        </p:nvSpPr>
        <p:spPr/>
        <p:txBody>
          <a:bodyPr/>
          <a:lstStyle/>
          <a:p>
            <a:pPr algn="ctr"/>
            <a:r>
              <a:rPr lang="zh-CN" altLang="en-US" dirty="0"/>
              <a:t>三级 </a:t>
            </a:r>
            <a:r>
              <a:rPr lang="en-US" altLang="zh-CN" dirty="0"/>
              <a:t>IP </a:t>
            </a:r>
            <a:r>
              <a:rPr lang="zh-CN" altLang="en-US" dirty="0"/>
              <a:t>地址 </a:t>
            </a:r>
          </a:p>
        </p:txBody>
      </p:sp>
      <p:sp>
        <p:nvSpPr>
          <p:cNvPr id="501762" name="Rectangle 2"/>
          <p:cNvSpPr>
            <a:spLocks noGrp="1" noChangeArrowheads="1"/>
          </p:cNvSpPr>
          <p:nvPr>
            <p:ph idx="1"/>
          </p:nvPr>
        </p:nvSpPr>
        <p:spPr/>
        <p:txBody>
          <a:bodyPr/>
          <a:lstStyle/>
          <a:p>
            <a:r>
              <a:rPr lang="zh-CN" altLang="en-US" dirty="0"/>
              <a:t>从 </a:t>
            </a:r>
            <a:r>
              <a:rPr lang="en-US" altLang="zh-CN" dirty="0"/>
              <a:t>1985 </a:t>
            </a:r>
            <a:r>
              <a:rPr lang="zh-CN" altLang="en-US" dirty="0"/>
              <a:t>年起在 </a:t>
            </a:r>
            <a:r>
              <a:rPr lang="en-US" altLang="zh-CN" dirty="0"/>
              <a:t>IP </a:t>
            </a:r>
            <a:r>
              <a:rPr lang="zh-CN" altLang="en-US" dirty="0"/>
              <a:t>地址中又增加了一个“</a:t>
            </a:r>
            <a:r>
              <a:rPr lang="zh-CN" altLang="en-US" dirty="0">
                <a:solidFill>
                  <a:srgbClr val="FF0000"/>
                </a:solidFill>
              </a:rPr>
              <a:t>子网号字段</a:t>
            </a:r>
            <a:r>
              <a:rPr lang="zh-CN" altLang="en-US" dirty="0"/>
              <a:t>”，使两级的 </a:t>
            </a:r>
            <a:r>
              <a:rPr lang="en-US" altLang="zh-CN" dirty="0"/>
              <a:t>IP </a:t>
            </a:r>
            <a:r>
              <a:rPr lang="zh-CN" altLang="en-US" dirty="0"/>
              <a:t>地址变成为</a:t>
            </a:r>
            <a:r>
              <a:rPr lang="zh-CN" altLang="en-US" dirty="0">
                <a:solidFill>
                  <a:srgbClr val="FF0000"/>
                </a:solidFill>
              </a:rPr>
              <a:t>三级的 </a:t>
            </a:r>
            <a:r>
              <a:rPr lang="en-US" altLang="zh-CN" dirty="0">
                <a:solidFill>
                  <a:srgbClr val="FF0000"/>
                </a:solidFill>
              </a:rPr>
              <a:t>IP </a:t>
            </a:r>
            <a:r>
              <a:rPr lang="zh-CN" altLang="en-US" dirty="0">
                <a:solidFill>
                  <a:srgbClr val="FF0000"/>
                </a:solidFill>
              </a:rPr>
              <a:t>地址。</a:t>
            </a:r>
          </a:p>
          <a:p>
            <a:r>
              <a:rPr lang="zh-CN" altLang="en-US" dirty="0"/>
              <a:t>这种做法叫做</a:t>
            </a:r>
            <a:r>
              <a:rPr lang="zh-CN" altLang="en-US" dirty="0">
                <a:solidFill>
                  <a:srgbClr val="FF0000"/>
                </a:solidFill>
              </a:rPr>
              <a:t>划分子网 </a:t>
            </a:r>
            <a:r>
              <a:rPr lang="en-US" altLang="zh-CN" dirty="0"/>
              <a:t>(</a:t>
            </a:r>
            <a:r>
              <a:rPr lang="en-US" altLang="zh-CN" dirty="0" err="1"/>
              <a:t>subnetting</a:t>
            </a:r>
            <a:r>
              <a:rPr lang="en-US" altLang="zh-CN" dirty="0"/>
              <a:t>) </a:t>
            </a:r>
            <a:r>
              <a:rPr lang="zh-CN" altLang="en-US" dirty="0"/>
              <a:t>。</a:t>
            </a:r>
            <a:endParaRPr lang="en-US" altLang="zh-CN" dirty="0"/>
          </a:p>
          <a:p>
            <a:r>
              <a:rPr lang="zh-CN" altLang="en-US" dirty="0"/>
              <a:t>划分子网已成为互联网的正式标准协议。 </a:t>
            </a:r>
          </a:p>
        </p:txBody>
      </p:sp>
    </p:spTree>
    <p:extLst>
      <p:ext uri="{BB962C8B-B14F-4D97-AF65-F5344CB8AC3E}">
        <p14:creationId xmlns:p14="http://schemas.microsoft.com/office/powerpoint/2010/main" val="2387090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8" name="Rectangle 4"/>
          <p:cNvSpPr>
            <a:spLocks noGrp="1" noChangeArrowheads="1"/>
          </p:cNvSpPr>
          <p:nvPr>
            <p:ph type="title"/>
          </p:nvPr>
        </p:nvSpPr>
        <p:spPr/>
        <p:txBody>
          <a:bodyPr/>
          <a:lstStyle/>
          <a:p>
            <a:pPr algn="ctr"/>
            <a:r>
              <a:rPr lang="zh-CN" altLang="en-US"/>
              <a:t>划分子网的基本思路 </a:t>
            </a:r>
          </a:p>
        </p:txBody>
      </p:sp>
      <p:sp>
        <p:nvSpPr>
          <p:cNvPr id="502787" name="Rectangle 3"/>
          <p:cNvSpPr>
            <a:spLocks noGrp="1" noChangeArrowheads="1"/>
          </p:cNvSpPr>
          <p:nvPr>
            <p:ph idx="1"/>
          </p:nvPr>
        </p:nvSpPr>
        <p:spPr/>
        <p:txBody>
          <a:bodyPr/>
          <a:lstStyle/>
          <a:p>
            <a:pPr algn="just">
              <a:spcAft>
                <a:spcPts val="0"/>
              </a:spcAft>
            </a:pPr>
            <a:r>
              <a:rPr lang="zh-CN" altLang="en-US" sz="2800" dirty="0"/>
              <a:t>划分子网纯属一个</a:t>
            </a:r>
            <a:r>
              <a:rPr lang="zh-CN" altLang="en-US" sz="2800" dirty="0">
                <a:solidFill>
                  <a:srgbClr val="FF0000"/>
                </a:solidFill>
              </a:rPr>
              <a:t>单位内部的事情</a:t>
            </a:r>
            <a:r>
              <a:rPr lang="zh-CN" altLang="en-US" sz="2800" dirty="0"/>
              <a:t>。单位对外仍然表现为没有</a:t>
            </a:r>
            <a:r>
              <a:rPr lang="zh-CN" altLang="en-US" dirty="0"/>
              <a:t>划分</a:t>
            </a:r>
            <a:r>
              <a:rPr lang="zh-CN" altLang="en-US" sz="2800" dirty="0"/>
              <a:t>子网的网络。</a:t>
            </a:r>
          </a:p>
          <a:p>
            <a:pPr algn="just">
              <a:spcAft>
                <a:spcPts val="0"/>
              </a:spcAft>
            </a:pPr>
            <a:r>
              <a:rPr lang="zh-CN" altLang="en-US" sz="2800" dirty="0"/>
              <a:t>从主机号</a:t>
            </a:r>
            <a:r>
              <a:rPr lang="zh-CN" altLang="en-US" sz="2800" dirty="0">
                <a:solidFill>
                  <a:srgbClr val="FF0000"/>
                </a:solidFill>
              </a:rPr>
              <a:t>借用</a:t>
            </a:r>
            <a:r>
              <a:rPr lang="zh-CN" altLang="en-US" sz="2800" dirty="0"/>
              <a:t>若干个位作为</a:t>
            </a:r>
            <a:r>
              <a:rPr lang="zh-CN" altLang="en-US" sz="2800" dirty="0">
                <a:solidFill>
                  <a:srgbClr val="FF0000"/>
                </a:solidFill>
              </a:rPr>
              <a:t>子网号</a:t>
            </a:r>
            <a:r>
              <a:rPr lang="zh-CN" altLang="en-US" sz="2800" dirty="0"/>
              <a:t> </a:t>
            </a:r>
            <a:r>
              <a:rPr lang="en-US" altLang="zh-CN" sz="2800" dirty="0"/>
              <a:t>subnet-id</a:t>
            </a:r>
            <a:r>
              <a:rPr lang="zh-CN" altLang="en-US" sz="2800" dirty="0"/>
              <a:t>，而主机号 </a:t>
            </a:r>
            <a:r>
              <a:rPr lang="en-US" altLang="zh-CN" sz="2800" dirty="0"/>
              <a:t>host-id </a:t>
            </a:r>
            <a:r>
              <a:rPr lang="zh-CN" altLang="en-US" sz="2800" dirty="0"/>
              <a:t>也就相应减少了若干个位。</a:t>
            </a:r>
          </a:p>
          <a:p>
            <a:pPr algn="just">
              <a:buFont typeface="Wingdings" pitchFamily="2" charset="2"/>
              <a:buNone/>
            </a:pPr>
            <a:endParaRPr lang="en-US" altLang="zh-CN" sz="2800" dirty="0"/>
          </a:p>
        </p:txBody>
      </p:sp>
      <p:sp>
        <p:nvSpPr>
          <p:cNvPr id="502786" name="Rectangle 2"/>
          <p:cNvSpPr>
            <a:spLocks noChangeArrowheads="1"/>
          </p:cNvSpPr>
          <p:nvPr/>
        </p:nvSpPr>
        <p:spPr bwMode="auto">
          <a:xfrm>
            <a:off x="770620" y="5445224"/>
            <a:ext cx="8790892" cy="648072"/>
          </a:xfrm>
          <a:prstGeom prst="rect">
            <a:avLst/>
          </a:prstGeom>
          <a:solidFill>
            <a:srgbClr val="66FF33"/>
          </a:solidFill>
          <a:ln w="28575">
            <a:solidFill>
              <a:schemeClr val="tx1"/>
            </a:solidFill>
            <a:miter lim="800000"/>
            <a:headEnd/>
            <a:tailEnd/>
          </a:ln>
          <a:effectLst>
            <a:outerShdw dist="35921" dir="2700000" algn="ctr" rotWithShape="0">
              <a:schemeClr val="bg2"/>
            </a:outerShdw>
          </a:effectLst>
        </p:spPr>
        <p:txBody>
          <a:bodyPr wrap="none" anchor="ctr"/>
          <a:lstStyle/>
          <a:p>
            <a:pPr algn="ctr"/>
            <a:r>
              <a:rPr lang="en-US" altLang="zh-CN" sz="2800" b="1" dirty="0">
                <a:solidFill>
                  <a:srgbClr val="0000CC"/>
                </a:solidFill>
                <a:latin typeface="+mn-lt"/>
                <a:ea typeface="黑体" pitchFamily="2" charset="-122"/>
              </a:rPr>
              <a:t>IP</a:t>
            </a:r>
            <a:r>
              <a:rPr lang="zh-CN" altLang="en-US" sz="2800" b="1" dirty="0">
                <a:solidFill>
                  <a:srgbClr val="0000CC"/>
                </a:solidFill>
                <a:latin typeface="+mn-lt"/>
                <a:ea typeface="黑体" pitchFamily="2" charset="-122"/>
              </a:rPr>
              <a:t>地址 </a:t>
            </a:r>
            <a:r>
              <a:rPr lang="en-US" altLang="zh-CN" sz="2800" b="1" dirty="0">
                <a:solidFill>
                  <a:srgbClr val="0000CC"/>
                </a:solidFill>
                <a:latin typeface="+mn-lt"/>
                <a:ea typeface="黑体" pitchFamily="2" charset="-122"/>
              </a:rPr>
              <a:t>::= {&lt;</a:t>
            </a:r>
            <a:r>
              <a:rPr lang="zh-CN" altLang="en-US" sz="2800" b="1" dirty="0">
                <a:solidFill>
                  <a:srgbClr val="0000CC"/>
                </a:solidFill>
                <a:latin typeface="+mn-lt"/>
                <a:ea typeface="黑体" pitchFamily="2" charset="-122"/>
              </a:rPr>
              <a:t>网络号</a:t>
            </a:r>
            <a:r>
              <a:rPr lang="en-US" altLang="zh-CN" sz="2800" b="1" dirty="0">
                <a:solidFill>
                  <a:srgbClr val="0000CC"/>
                </a:solidFill>
                <a:latin typeface="+mn-lt"/>
                <a:ea typeface="黑体" pitchFamily="2" charset="-122"/>
              </a:rPr>
              <a:t>&gt;, &lt;</a:t>
            </a:r>
            <a:r>
              <a:rPr lang="zh-CN" altLang="en-US" sz="2800" b="1" dirty="0">
                <a:solidFill>
                  <a:srgbClr val="0000CC"/>
                </a:solidFill>
                <a:latin typeface="+mn-lt"/>
                <a:ea typeface="黑体" pitchFamily="2" charset="-122"/>
              </a:rPr>
              <a:t>子网号</a:t>
            </a:r>
            <a:r>
              <a:rPr lang="en-US" altLang="zh-CN" sz="2800" b="1" dirty="0">
                <a:solidFill>
                  <a:srgbClr val="0000CC"/>
                </a:solidFill>
                <a:latin typeface="+mn-lt"/>
                <a:ea typeface="黑体" pitchFamily="2" charset="-122"/>
              </a:rPr>
              <a:t>&gt;, &lt;</a:t>
            </a:r>
            <a:r>
              <a:rPr lang="zh-CN" altLang="en-US" sz="2800" b="1" dirty="0">
                <a:solidFill>
                  <a:srgbClr val="0000CC"/>
                </a:solidFill>
                <a:latin typeface="+mn-lt"/>
                <a:ea typeface="黑体" pitchFamily="2" charset="-122"/>
              </a:rPr>
              <a:t>主机号</a:t>
            </a:r>
            <a:r>
              <a:rPr lang="en-US" altLang="zh-CN" sz="2800" b="1" dirty="0">
                <a:solidFill>
                  <a:srgbClr val="0000CC"/>
                </a:solidFill>
                <a:latin typeface="+mn-lt"/>
                <a:ea typeface="黑体" pitchFamily="2" charset="-122"/>
              </a:rPr>
              <a:t>&gt;}        (4-2)</a:t>
            </a:r>
            <a:endParaRPr lang="zh-CN" altLang="en-US" sz="2800" b="1" dirty="0">
              <a:solidFill>
                <a:srgbClr val="0000CC"/>
              </a:solidFill>
              <a:latin typeface="+mn-lt"/>
              <a:ea typeface="黑体" pitchFamily="2" charset="-122"/>
            </a:endParaRPr>
          </a:p>
        </p:txBody>
      </p:sp>
      <p:grpSp>
        <p:nvGrpSpPr>
          <p:cNvPr id="2" name="组合 1"/>
          <p:cNvGrpSpPr/>
          <p:nvPr/>
        </p:nvGrpSpPr>
        <p:grpSpPr>
          <a:xfrm>
            <a:off x="1839416" y="3429000"/>
            <a:ext cx="5490146" cy="1752599"/>
            <a:chOff x="1839416" y="3501009"/>
            <a:chExt cx="5490146" cy="1752599"/>
          </a:xfrm>
        </p:grpSpPr>
        <p:grpSp>
          <p:nvGrpSpPr>
            <p:cNvPr id="23" name="Group 19"/>
            <p:cNvGrpSpPr>
              <a:grpSpLocks/>
            </p:cNvGrpSpPr>
            <p:nvPr/>
          </p:nvGrpSpPr>
          <p:grpSpPr bwMode="auto">
            <a:xfrm>
              <a:off x="4160912" y="3577204"/>
              <a:ext cx="3168650" cy="500062"/>
              <a:chOff x="2375" y="2045"/>
              <a:chExt cx="1996" cy="430"/>
            </a:xfrm>
          </p:grpSpPr>
          <p:sp>
            <p:nvSpPr>
              <p:cNvPr id="24" name="Line 13"/>
              <p:cNvSpPr>
                <a:spLocks noChangeShapeType="1"/>
              </p:cNvSpPr>
              <p:nvPr/>
            </p:nvSpPr>
            <p:spPr bwMode="auto">
              <a:xfrm>
                <a:off x="4371" y="2045"/>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5" name="Line 14"/>
              <p:cNvSpPr>
                <a:spLocks noChangeShapeType="1"/>
              </p:cNvSpPr>
              <p:nvPr/>
            </p:nvSpPr>
            <p:spPr bwMode="auto">
              <a:xfrm>
                <a:off x="2375" y="2045"/>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26" name="Group 21"/>
            <p:cNvGrpSpPr>
              <a:grpSpLocks/>
            </p:cNvGrpSpPr>
            <p:nvPr/>
          </p:nvGrpSpPr>
          <p:grpSpPr bwMode="auto">
            <a:xfrm>
              <a:off x="1867991" y="3501009"/>
              <a:ext cx="5454650" cy="1728788"/>
              <a:chOff x="755" y="2169"/>
              <a:chExt cx="3436" cy="1089"/>
            </a:xfrm>
          </p:grpSpPr>
          <p:sp>
            <p:nvSpPr>
              <p:cNvPr id="27" name="Line 9"/>
              <p:cNvSpPr>
                <a:spLocks noChangeShapeType="1"/>
              </p:cNvSpPr>
              <p:nvPr/>
            </p:nvSpPr>
            <p:spPr bwMode="auto">
              <a:xfrm>
                <a:off x="755" y="3122"/>
                <a:ext cx="343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8" name="Text Box 10"/>
              <p:cNvSpPr txBox="1">
                <a:spLocks noChangeArrowheads="1"/>
              </p:cNvSpPr>
              <p:nvPr/>
            </p:nvSpPr>
            <p:spPr bwMode="auto">
              <a:xfrm>
                <a:off x="2218" y="2967"/>
                <a:ext cx="581" cy="29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rPr>
                  <a:t>32 </a:t>
                </a: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位</a:t>
                </a:r>
              </a:p>
            </p:txBody>
          </p:sp>
          <p:sp>
            <p:nvSpPr>
              <p:cNvPr id="29" name="Line 15"/>
              <p:cNvSpPr>
                <a:spLocks noChangeShapeType="1"/>
              </p:cNvSpPr>
              <p:nvPr/>
            </p:nvSpPr>
            <p:spPr bwMode="auto">
              <a:xfrm>
                <a:off x="2199" y="2350"/>
                <a:ext cx="1992"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0" name="Text Box 16"/>
              <p:cNvSpPr txBox="1">
                <a:spLocks noChangeArrowheads="1"/>
              </p:cNvSpPr>
              <p:nvPr/>
            </p:nvSpPr>
            <p:spPr bwMode="auto">
              <a:xfrm>
                <a:off x="2789" y="2169"/>
                <a:ext cx="896" cy="29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mn-lt"/>
                    <a:ea typeface="黑体" pitchFamily="2" charset="-122"/>
                  </a:rPr>
                  <a:t>本地地址</a:t>
                </a:r>
              </a:p>
            </p:txBody>
          </p:sp>
        </p:grpSp>
        <p:grpSp>
          <p:nvGrpSpPr>
            <p:cNvPr id="31" name="Group 20"/>
            <p:cNvGrpSpPr>
              <a:grpSpLocks/>
            </p:cNvGrpSpPr>
            <p:nvPr/>
          </p:nvGrpSpPr>
          <p:grpSpPr bwMode="auto">
            <a:xfrm>
              <a:off x="1842591" y="4644008"/>
              <a:ext cx="5486401" cy="609600"/>
              <a:chOff x="739" y="2832"/>
              <a:chExt cx="3456" cy="430"/>
            </a:xfrm>
          </p:grpSpPr>
          <p:sp>
            <p:nvSpPr>
              <p:cNvPr id="32" name="Line 8"/>
              <p:cNvSpPr>
                <a:spLocks noChangeShapeType="1"/>
              </p:cNvSpPr>
              <p:nvPr/>
            </p:nvSpPr>
            <p:spPr bwMode="auto">
              <a:xfrm>
                <a:off x="739" y="2832"/>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3" name="Line 17"/>
              <p:cNvSpPr>
                <a:spLocks noChangeShapeType="1"/>
              </p:cNvSpPr>
              <p:nvPr/>
            </p:nvSpPr>
            <p:spPr bwMode="auto">
              <a:xfrm>
                <a:off x="4195" y="2832"/>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34" name="Group 18"/>
            <p:cNvGrpSpPr>
              <a:grpSpLocks/>
            </p:cNvGrpSpPr>
            <p:nvPr/>
          </p:nvGrpSpPr>
          <p:grpSpPr bwMode="auto">
            <a:xfrm>
              <a:off x="1839416" y="4105856"/>
              <a:ext cx="5482976" cy="612776"/>
              <a:chOff x="737" y="2493"/>
              <a:chExt cx="3894" cy="386"/>
            </a:xfrm>
          </p:grpSpPr>
          <p:sp>
            <p:nvSpPr>
              <p:cNvPr id="35" name="Rectangle 6"/>
              <p:cNvSpPr>
                <a:spLocks noChangeArrowheads="1"/>
              </p:cNvSpPr>
              <p:nvPr/>
            </p:nvSpPr>
            <p:spPr bwMode="auto">
              <a:xfrm>
                <a:off x="737" y="2493"/>
                <a:ext cx="1650" cy="386"/>
              </a:xfrm>
              <a:prstGeom prst="rect">
                <a:avLst/>
              </a:prstGeom>
              <a:solidFill>
                <a:srgbClr val="FFFF66"/>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网络号</a:t>
                </a:r>
                <a:endPar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endParaRPr>
              </a:p>
            </p:txBody>
          </p:sp>
          <p:sp>
            <p:nvSpPr>
              <p:cNvPr id="36" name="Rectangle 7"/>
              <p:cNvSpPr>
                <a:spLocks noChangeArrowheads="1"/>
              </p:cNvSpPr>
              <p:nvPr/>
            </p:nvSpPr>
            <p:spPr bwMode="auto">
              <a:xfrm>
                <a:off x="2387" y="2494"/>
                <a:ext cx="2244" cy="385"/>
              </a:xfrm>
              <a:prstGeom prst="rect">
                <a:avLst/>
              </a:prstGeom>
              <a:solidFill>
                <a:srgbClr val="66FFFF"/>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2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7" name="Rectangle 11"/>
              <p:cNvSpPr>
                <a:spLocks noChangeArrowheads="1"/>
              </p:cNvSpPr>
              <p:nvPr/>
            </p:nvSpPr>
            <p:spPr bwMode="auto">
              <a:xfrm>
                <a:off x="3613" y="2547"/>
                <a:ext cx="967" cy="291"/>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主机号</a:t>
                </a:r>
                <a:endPar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endParaRPr>
              </a:p>
            </p:txBody>
          </p:sp>
          <p:sp>
            <p:nvSpPr>
              <p:cNvPr id="38" name="Rectangle 12"/>
              <p:cNvSpPr>
                <a:spLocks noChangeArrowheads="1"/>
              </p:cNvSpPr>
              <p:nvPr/>
            </p:nvSpPr>
            <p:spPr bwMode="auto">
              <a:xfrm>
                <a:off x="2440" y="2548"/>
                <a:ext cx="1068" cy="284"/>
              </a:xfrm>
              <a:prstGeom prst="rect">
                <a:avLst/>
              </a:prstGeom>
              <a:solidFill>
                <a:srgbClr val="FF66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子网号</a:t>
                </a:r>
                <a:endPar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endParaRPr>
              </a:p>
            </p:txBody>
          </p:sp>
        </p:grpSp>
      </p:grpSp>
    </p:spTree>
    <p:extLst>
      <p:ext uri="{BB962C8B-B14F-4D97-AF65-F5344CB8AC3E}">
        <p14:creationId xmlns:p14="http://schemas.microsoft.com/office/powerpoint/2010/main" val="1882930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1" name="Rectangle 3"/>
          <p:cNvSpPr>
            <a:spLocks noGrp="1" noChangeArrowheads="1"/>
          </p:cNvSpPr>
          <p:nvPr>
            <p:ph type="title"/>
          </p:nvPr>
        </p:nvSpPr>
        <p:spPr/>
        <p:txBody>
          <a:bodyPr/>
          <a:lstStyle/>
          <a:p>
            <a:pPr algn="ctr"/>
            <a:r>
              <a:rPr lang="zh-CN" altLang="en-US"/>
              <a:t>划分子网的基本思路（续） </a:t>
            </a:r>
          </a:p>
        </p:txBody>
      </p:sp>
      <p:sp>
        <p:nvSpPr>
          <p:cNvPr id="503810" name="Rectangle 2"/>
          <p:cNvSpPr>
            <a:spLocks noGrp="1" noChangeArrowheads="1"/>
          </p:cNvSpPr>
          <p:nvPr>
            <p:ph idx="1"/>
          </p:nvPr>
        </p:nvSpPr>
        <p:spPr/>
        <p:txBody>
          <a:bodyPr/>
          <a:lstStyle/>
          <a:p>
            <a:pPr algn="just">
              <a:spcAft>
                <a:spcPct val="30000"/>
              </a:spcAft>
            </a:pPr>
            <a:r>
              <a:rPr lang="zh-CN" altLang="en-US" dirty="0"/>
              <a:t>凡是从其他网络发送给本单位某个主机的 </a:t>
            </a:r>
            <a:r>
              <a:rPr lang="en-US" altLang="zh-CN" dirty="0"/>
              <a:t>IP </a:t>
            </a:r>
            <a:r>
              <a:rPr lang="zh-CN" altLang="en-US" dirty="0"/>
              <a:t>数据报，仍然是根据 </a:t>
            </a:r>
            <a:r>
              <a:rPr lang="en-US" altLang="zh-CN" dirty="0"/>
              <a:t>IP </a:t>
            </a:r>
            <a:r>
              <a:rPr lang="zh-CN" altLang="en-US" dirty="0"/>
              <a:t>数据报的</a:t>
            </a:r>
            <a:r>
              <a:rPr lang="zh-CN" altLang="en-US" dirty="0">
                <a:solidFill>
                  <a:srgbClr val="FF0000"/>
                </a:solidFill>
              </a:rPr>
              <a:t>目的网络号 </a:t>
            </a:r>
            <a:r>
              <a:rPr lang="en-US" altLang="zh-CN" dirty="0"/>
              <a:t>net-id</a:t>
            </a:r>
            <a:r>
              <a:rPr lang="zh-CN" altLang="en-US" dirty="0"/>
              <a:t>，先找到连接在</a:t>
            </a:r>
            <a:r>
              <a:rPr lang="zh-CN" altLang="en-US" dirty="0">
                <a:solidFill>
                  <a:srgbClr val="FF0000"/>
                </a:solidFill>
              </a:rPr>
              <a:t>本单位网络上的路由器。</a:t>
            </a:r>
          </a:p>
          <a:p>
            <a:pPr algn="just">
              <a:spcAft>
                <a:spcPct val="30000"/>
              </a:spcAft>
            </a:pPr>
            <a:r>
              <a:rPr lang="zh-CN" altLang="en-US" dirty="0"/>
              <a:t>然后</a:t>
            </a:r>
            <a:r>
              <a:rPr lang="zh-CN" altLang="en-US" dirty="0">
                <a:solidFill>
                  <a:srgbClr val="FF0000"/>
                </a:solidFill>
              </a:rPr>
              <a:t>此路由器</a:t>
            </a:r>
            <a:r>
              <a:rPr lang="zh-CN" altLang="en-US" dirty="0"/>
              <a:t>在收到 </a:t>
            </a:r>
            <a:r>
              <a:rPr lang="en-US" altLang="zh-CN" dirty="0"/>
              <a:t>IP </a:t>
            </a:r>
            <a:r>
              <a:rPr lang="zh-CN" altLang="en-US" dirty="0"/>
              <a:t>数据报后，再按</a:t>
            </a:r>
            <a:r>
              <a:rPr lang="zh-CN" altLang="en-US" dirty="0">
                <a:solidFill>
                  <a:srgbClr val="FF0000"/>
                </a:solidFill>
              </a:rPr>
              <a:t>目的网络号</a:t>
            </a:r>
            <a:r>
              <a:rPr lang="zh-CN" altLang="en-US" dirty="0"/>
              <a:t> </a:t>
            </a:r>
            <a:r>
              <a:rPr lang="en-US" altLang="zh-CN" dirty="0"/>
              <a:t>net-id </a:t>
            </a:r>
            <a:r>
              <a:rPr lang="zh-CN" altLang="en-US" dirty="0"/>
              <a:t>和</a:t>
            </a:r>
            <a:r>
              <a:rPr lang="zh-CN" altLang="en-US" dirty="0">
                <a:solidFill>
                  <a:srgbClr val="FF0000"/>
                </a:solidFill>
              </a:rPr>
              <a:t>子网号</a:t>
            </a:r>
            <a:r>
              <a:rPr lang="zh-CN" altLang="en-US" dirty="0"/>
              <a:t> </a:t>
            </a:r>
            <a:r>
              <a:rPr lang="en-US" altLang="zh-CN" dirty="0"/>
              <a:t>subnet-id </a:t>
            </a:r>
            <a:r>
              <a:rPr lang="zh-CN" altLang="en-US" dirty="0"/>
              <a:t>找到目的子网。</a:t>
            </a:r>
          </a:p>
          <a:p>
            <a:pPr algn="just">
              <a:spcAft>
                <a:spcPct val="30000"/>
              </a:spcAft>
            </a:pPr>
            <a:r>
              <a:rPr lang="zh-CN" altLang="en-US" dirty="0"/>
              <a:t>最后就将 </a:t>
            </a:r>
            <a:r>
              <a:rPr lang="en-US" altLang="zh-CN" dirty="0"/>
              <a:t>IP </a:t>
            </a:r>
            <a:r>
              <a:rPr lang="zh-CN" altLang="en-US" dirty="0"/>
              <a:t>数据报直接交付目的主机。 </a:t>
            </a:r>
          </a:p>
        </p:txBody>
      </p:sp>
    </p:spTree>
    <p:extLst>
      <p:ext uri="{BB962C8B-B14F-4D97-AF65-F5344CB8AC3E}">
        <p14:creationId xmlns:p14="http://schemas.microsoft.com/office/powerpoint/2010/main" val="680323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40738" y="1222785"/>
            <a:ext cx="9608806" cy="4870511"/>
            <a:chOff x="240738" y="1222785"/>
            <a:chExt cx="9608806" cy="4870511"/>
          </a:xfrm>
        </p:grpSpPr>
        <p:sp>
          <p:nvSpPr>
            <p:cNvPr id="504834" name="AutoShape 2"/>
            <p:cNvSpPr>
              <a:spLocks noChangeArrowheads="1"/>
            </p:cNvSpPr>
            <p:nvPr/>
          </p:nvSpPr>
          <p:spPr bwMode="auto">
            <a:xfrm>
              <a:off x="674125" y="1252949"/>
              <a:ext cx="1938206" cy="676275"/>
            </a:xfrm>
            <a:prstGeom prst="roundRect">
              <a:avLst>
                <a:gd name="adj" fmla="val 16667"/>
              </a:avLst>
            </a:prstGeom>
            <a:solidFill>
              <a:srgbClr val="FF66FF"/>
            </a:solidFill>
            <a:ln w="9525">
              <a:solidFill>
                <a:srgbClr val="333399"/>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04835" name="Line 3"/>
            <p:cNvSpPr>
              <a:spLocks noChangeShapeType="1"/>
            </p:cNvSpPr>
            <p:nvPr/>
          </p:nvSpPr>
          <p:spPr bwMode="auto">
            <a:xfrm flipV="1">
              <a:off x="2282139" y="3923123"/>
              <a:ext cx="101467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36" name="Line 4"/>
            <p:cNvSpPr>
              <a:spLocks noChangeShapeType="1"/>
            </p:cNvSpPr>
            <p:nvPr/>
          </p:nvSpPr>
          <p:spPr bwMode="auto">
            <a:xfrm>
              <a:off x="3582293" y="2351499"/>
              <a:ext cx="254529" cy="784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37" name="Line 5"/>
            <p:cNvSpPr>
              <a:spLocks noChangeShapeType="1"/>
            </p:cNvSpPr>
            <p:nvPr/>
          </p:nvSpPr>
          <p:spPr bwMode="auto">
            <a:xfrm flipH="1">
              <a:off x="8320319" y="2665823"/>
              <a:ext cx="674158" cy="7858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38" name="Line 6"/>
            <p:cNvSpPr>
              <a:spLocks noChangeShapeType="1"/>
            </p:cNvSpPr>
            <p:nvPr/>
          </p:nvSpPr>
          <p:spPr bwMode="auto">
            <a:xfrm flipH="1">
              <a:off x="6118986" y="2116548"/>
              <a:ext cx="84270" cy="8636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39" name="Line 7"/>
            <p:cNvSpPr>
              <a:spLocks noChangeShapeType="1"/>
            </p:cNvSpPr>
            <p:nvPr/>
          </p:nvSpPr>
          <p:spPr bwMode="auto">
            <a:xfrm flipV="1">
              <a:off x="6550654" y="4786724"/>
              <a:ext cx="0" cy="784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40" name="Line 8"/>
            <p:cNvSpPr>
              <a:spLocks noChangeShapeType="1"/>
            </p:cNvSpPr>
            <p:nvPr/>
          </p:nvSpPr>
          <p:spPr bwMode="auto">
            <a:xfrm>
              <a:off x="4428431" y="2195924"/>
              <a:ext cx="0" cy="7064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41" name="Line 9"/>
            <p:cNvSpPr>
              <a:spLocks noChangeShapeType="1"/>
            </p:cNvSpPr>
            <p:nvPr/>
          </p:nvSpPr>
          <p:spPr bwMode="auto">
            <a:xfrm flipH="1">
              <a:off x="7811261" y="2351499"/>
              <a:ext cx="254529" cy="7080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42" name="Line 10"/>
            <p:cNvSpPr>
              <a:spLocks noChangeShapeType="1"/>
            </p:cNvSpPr>
            <p:nvPr/>
          </p:nvSpPr>
          <p:spPr bwMode="auto">
            <a:xfrm flipV="1">
              <a:off x="5448267" y="4707349"/>
              <a:ext cx="84270" cy="7064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43" name="Line 11"/>
            <p:cNvSpPr>
              <a:spLocks noChangeShapeType="1"/>
            </p:cNvSpPr>
            <p:nvPr/>
          </p:nvSpPr>
          <p:spPr bwMode="auto">
            <a:xfrm flipV="1">
              <a:off x="3666563" y="4315235"/>
              <a:ext cx="170260" cy="8636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44" name="Line 12"/>
            <p:cNvSpPr>
              <a:spLocks noChangeShapeType="1"/>
            </p:cNvSpPr>
            <p:nvPr/>
          </p:nvSpPr>
          <p:spPr bwMode="auto">
            <a:xfrm flipH="1" flipV="1">
              <a:off x="8487140" y="4472398"/>
              <a:ext cx="930407" cy="1571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pic>
          <p:nvPicPr>
            <p:cNvPr id="504845"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9891" y="1959386"/>
              <a:ext cx="417909"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4846"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2034" y="2280061"/>
              <a:ext cx="41791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4847"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6436" y="1802224"/>
              <a:ext cx="41791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4848" name="Picture 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41668" y="2429286"/>
              <a:ext cx="417909"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4849" name="Picture 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5531" y="2038760"/>
              <a:ext cx="417909"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4850" name="Picture 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8236" y="4327936"/>
              <a:ext cx="417910"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4851"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2878" y="5413786"/>
              <a:ext cx="41791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4852"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8008" y="5335999"/>
              <a:ext cx="417909"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4853"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8024" y="5021674"/>
              <a:ext cx="41791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4854" name="Text Box 22"/>
            <p:cNvSpPr txBox="1">
              <a:spLocks noChangeArrowheads="1"/>
            </p:cNvSpPr>
            <p:nvPr/>
          </p:nvSpPr>
          <p:spPr bwMode="auto">
            <a:xfrm rot="5211293">
              <a:off x="9278664" y="3300793"/>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a:t>
              </a:r>
            </a:p>
          </p:txBody>
        </p:sp>
        <p:sp>
          <p:nvSpPr>
            <p:cNvPr id="504855" name="Text Box 23"/>
            <p:cNvSpPr txBox="1">
              <a:spLocks noChangeArrowheads="1"/>
            </p:cNvSpPr>
            <p:nvPr/>
          </p:nvSpPr>
          <p:spPr bwMode="auto">
            <a:xfrm rot="546999">
              <a:off x="4556975" y="4982749"/>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a:t>
              </a:r>
            </a:p>
          </p:txBody>
        </p:sp>
        <p:sp>
          <p:nvSpPr>
            <p:cNvPr id="504856" name="Text Box 24"/>
            <p:cNvSpPr txBox="1">
              <a:spLocks noChangeArrowheads="1"/>
            </p:cNvSpPr>
            <p:nvPr/>
          </p:nvSpPr>
          <p:spPr bwMode="auto">
            <a:xfrm rot="21237460">
              <a:off x="5182979" y="1777587"/>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t>
              </a:r>
            </a:p>
          </p:txBody>
        </p:sp>
        <p:sp>
          <p:nvSpPr>
            <p:cNvPr id="504857" name="Text Box 25"/>
            <p:cNvSpPr txBox="1">
              <a:spLocks noChangeArrowheads="1"/>
            </p:cNvSpPr>
            <p:nvPr/>
          </p:nvSpPr>
          <p:spPr bwMode="auto">
            <a:xfrm>
              <a:off x="2612332" y="1914936"/>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145.13.3.10</a:t>
              </a:r>
            </a:p>
          </p:txBody>
        </p:sp>
        <p:sp>
          <p:nvSpPr>
            <p:cNvPr id="504858" name="Text Box 26"/>
            <p:cNvSpPr txBox="1">
              <a:spLocks noChangeArrowheads="1"/>
            </p:cNvSpPr>
            <p:nvPr/>
          </p:nvSpPr>
          <p:spPr bwMode="auto">
            <a:xfrm>
              <a:off x="3780069" y="1554574"/>
              <a:ext cx="15234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145.13.3.11</a:t>
              </a:r>
            </a:p>
          </p:txBody>
        </p:sp>
        <p:sp>
          <p:nvSpPr>
            <p:cNvPr id="504859" name="Text Box 27"/>
            <p:cNvSpPr txBox="1">
              <a:spLocks noChangeArrowheads="1"/>
            </p:cNvSpPr>
            <p:nvPr/>
          </p:nvSpPr>
          <p:spPr bwMode="auto">
            <a:xfrm>
              <a:off x="5429350" y="1410110"/>
              <a:ext cx="17427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145.13.3.101</a:t>
              </a:r>
            </a:p>
          </p:txBody>
        </p:sp>
        <p:sp>
          <p:nvSpPr>
            <p:cNvPr id="504860" name="Text Box 28"/>
            <p:cNvSpPr txBox="1">
              <a:spLocks noChangeArrowheads="1"/>
            </p:cNvSpPr>
            <p:nvPr/>
          </p:nvSpPr>
          <p:spPr bwMode="auto">
            <a:xfrm>
              <a:off x="7331439" y="1699036"/>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145.13.7.34</a:t>
              </a:r>
            </a:p>
          </p:txBody>
        </p:sp>
        <p:sp>
          <p:nvSpPr>
            <p:cNvPr id="504861" name="Text Box 29"/>
            <p:cNvSpPr txBox="1">
              <a:spLocks noChangeArrowheads="1"/>
            </p:cNvSpPr>
            <p:nvPr/>
          </p:nvSpPr>
          <p:spPr bwMode="auto">
            <a:xfrm>
              <a:off x="8306561" y="2095911"/>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145.13.7.35</a:t>
              </a:r>
            </a:p>
          </p:txBody>
        </p:sp>
        <p:sp>
          <p:nvSpPr>
            <p:cNvPr id="504862" name="Text Box 30"/>
            <p:cNvSpPr txBox="1">
              <a:spLocks noChangeArrowheads="1"/>
            </p:cNvSpPr>
            <p:nvPr/>
          </p:nvSpPr>
          <p:spPr bwMode="auto">
            <a:xfrm>
              <a:off x="8311944" y="4757082"/>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145.13.7.56</a:t>
              </a:r>
            </a:p>
          </p:txBody>
        </p:sp>
        <p:sp>
          <p:nvSpPr>
            <p:cNvPr id="504863" name="Text Box 31"/>
            <p:cNvSpPr txBox="1">
              <a:spLocks noChangeArrowheads="1"/>
            </p:cNvSpPr>
            <p:nvPr/>
          </p:nvSpPr>
          <p:spPr bwMode="auto">
            <a:xfrm>
              <a:off x="2925334" y="5339174"/>
              <a:ext cx="17427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145.13.21.23</a:t>
              </a:r>
            </a:p>
          </p:txBody>
        </p:sp>
        <p:sp>
          <p:nvSpPr>
            <p:cNvPr id="504864" name="Text Box 32"/>
            <p:cNvSpPr txBox="1">
              <a:spLocks noChangeArrowheads="1"/>
            </p:cNvSpPr>
            <p:nvPr/>
          </p:nvSpPr>
          <p:spPr bwMode="auto">
            <a:xfrm>
              <a:off x="4639965" y="5693186"/>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145.13.21.9</a:t>
              </a:r>
            </a:p>
          </p:txBody>
        </p:sp>
        <p:sp>
          <p:nvSpPr>
            <p:cNvPr id="504865" name="Text Box 33"/>
            <p:cNvSpPr txBox="1">
              <a:spLocks noChangeArrowheads="1"/>
            </p:cNvSpPr>
            <p:nvPr/>
          </p:nvSpPr>
          <p:spPr bwMode="auto">
            <a:xfrm>
              <a:off x="6732952" y="5407435"/>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145.13.21.8</a:t>
              </a:r>
            </a:p>
          </p:txBody>
        </p:sp>
        <p:sp>
          <p:nvSpPr>
            <p:cNvPr id="504866" name="Line 34"/>
            <p:cNvSpPr>
              <a:spLocks noChangeShapeType="1"/>
            </p:cNvSpPr>
            <p:nvPr/>
          </p:nvSpPr>
          <p:spPr bwMode="auto">
            <a:xfrm>
              <a:off x="961332" y="2586449"/>
              <a:ext cx="1606285" cy="1336675"/>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4867" name="Line 35"/>
            <p:cNvSpPr>
              <a:spLocks noChangeShapeType="1"/>
            </p:cNvSpPr>
            <p:nvPr/>
          </p:nvSpPr>
          <p:spPr bwMode="auto">
            <a:xfrm>
              <a:off x="791071" y="2586448"/>
              <a:ext cx="0" cy="2043112"/>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4868" name="Line 36"/>
            <p:cNvSpPr>
              <a:spLocks noChangeShapeType="1"/>
            </p:cNvSpPr>
            <p:nvPr/>
          </p:nvSpPr>
          <p:spPr bwMode="auto">
            <a:xfrm flipV="1">
              <a:off x="877061" y="3999323"/>
              <a:ext cx="1606285" cy="78740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4869" name="AutoShape 37"/>
            <p:cNvSpPr>
              <a:spLocks noChangeArrowheads="1"/>
            </p:cNvSpPr>
            <p:nvPr/>
          </p:nvSpPr>
          <p:spPr bwMode="auto">
            <a:xfrm>
              <a:off x="314690" y="5111217"/>
              <a:ext cx="2686315" cy="830323"/>
            </a:xfrm>
            <a:prstGeom prst="wedgeRoundRectCallout">
              <a:avLst>
                <a:gd name="adj1" fmla="val 34699"/>
                <a:gd name="adj2" fmla="val -169426"/>
                <a:gd name="adj3" fmla="val 16667"/>
              </a:avLst>
            </a:prstGeom>
            <a:solidFill>
              <a:srgbClr val="FFFF66"/>
            </a:solidFill>
            <a:ln w="9525">
              <a:solidFill>
                <a:schemeClr val="tx1"/>
              </a:solidFill>
              <a:miter lim="800000"/>
              <a:headEnd/>
              <a:tailEnd/>
            </a:ln>
            <a:effectLst>
              <a:outerShdw dist="35921" dir="2700000" algn="ctr" rotWithShape="0">
                <a:schemeClr val="bg2"/>
              </a:outerShdw>
            </a:effectLst>
          </p:spPr>
          <p:txBody>
            <a:bodyPr/>
            <a:lstStyle/>
            <a:p>
              <a:pPr algn="ctr"/>
              <a:endParaRPr kumimoji="1" lang="zh-CN" altLang="zh-CN" sz="2400" b="1">
                <a:solidFill>
                  <a:srgbClr val="0000CC"/>
                </a:solidFill>
                <a:latin typeface="+mn-lt"/>
                <a:ea typeface="黑体" pitchFamily="2" charset="-122"/>
              </a:endParaRPr>
            </a:p>
          </p:txBody>
        </p:sp>
        <p:sp>
          <p:nvSpPr>
            <p:cNvPr id="504870" name="Text Box 38"/>
            <p:cNvSpPr txBox="1">
              <a:spLocks noChangeArrowheads="1"/>
            </p:cNvSpPr>
            <p:nvPr/>
          </p:nvSpPr>
          <p:spPr bwMode="auto">
            <a:xfrm>
              <a:off x="272480" y="5183225"/>
              <a:ext cx="274650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dirty="0">
                  <a:solidFill>
                    <a:srgbClr val="0000CC"/>
                  </a:solidFill>
                  <a:latin typeface="+mn-lt"/>
                  <a:ea typeface="黑体" pitchFamily="2" charset="-122"/>
                </a:rPr>
                <a:t>所有到网络 </a:t>
              </a:r>
              <a:r>
                <a:rPr kumimoji="1" lang="en-US" altLang="zh-CN" sz="2000" b="1" dirty="0">
                  <a:solidFill>
                    <a:srgbClr val="0000CC"/>
                  </a:solidFill>
                  <a:latin typeface="+mn-lt"/>
                  <a:ea typeface="黑体" pitchFamily="2" charset="-122"/>
                </a:rPr>
                <a:t>145.13.0.0</a:t>
              </a:r>
              <a:r>
                <a:rPr kumimoji="1" lang="zh-CN" altLang="en-US" sz="2000" b="1" dirty="0">
                  <a:solidFill>
                    <a:srgbClr val="0000CC"/>
                  </a:solidFill>
                  <a:latin typeface="+mn-lt"/>
                  <a:ea typeface="黑体" pitchFamily="2" charset="-122"/>
                </a:rPr>
                <a:t>的分组均到达此路由器</a:t>
              </a:r>
            </a:p>
          </p:txBody>
        </p:sp>
        <p:pic>
          <p:nvPicPr>
            <p:cNvPr id="504871"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992" y="4550185"/>
              <a:ext cx="760148"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04872"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992" y="2351499"/>
              <a:ext cx="760148" cy="47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04873" name="AutoShape 41"/>
            <p:cNvSpPr>
              <a:spLocks noChangeArrowheads="1"/>
            </p:cNvSpPr>
            <p:nvPr/>
          </p:nvSpPr>
          <p:spPr bwMode="auto">
            <a:xfrm rot="-1643298">
              <a:off x="1109233" y="3969161"/>
              <a:ext cx="1016396" cy="390525"/>
            </a:xfrm>
            <a:prstGeom prst="leftArrow">
              <a:avLst>
                <a:gd name="adj1" fmla="val 42500"/>
                <a:gd name="adj2" fmla="val 9051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74" name="AutoShape 42"/>
            <p:cNvSpPr>
              <a:spLocks noChangeArrowheads="1"/>
            </p:cNvSpPr>
            <p:nvPr/>
          </p:nvSpPr>
          <p:spPr bwMode="auto">
            <a:xfrm rot="2494205">
              <a:off x="1355442" y="2820248"/>
              <a:ext cx="1014677" cy="393700"/>
            </a:xfrm>
            <a:prstGeom prst="leftArrow">
              <a:avLst>
                <a:gd name="adj1" fmla="val 42500"/>
                <a:gd name="adj2" fmla="val 8963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4875" name="Text Box 43"/>
            <p:cNvSpPr txBox="1">
              <a:spLocks noChangeArrowheads="1"/>
            </p:cNvSpPr>
            <p:nvPr/>
          </p:nvSpPr>
          <p:spPr bwMode="auto">
            <a:xfrm>
              <a:off x="672406" y="1222785"/>
              <a:ext cx="173316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CC"/>
                  </a:solidFill>
                  <a:latin typeface="+mn-lt"/>
                  <a:ea typeface="黑体" pitchFamily="2" charset="-122"/>
                </a:rPr>
                <a:t>我的网络地址</a:t>
              </a:r>
            </a:p>
            <a:p>
              <a:r>
                <a:rPr kumimoji="1" lang="zh-CN" altLang="en-US" sz="2000" b="1" dirty="0">
                  <a:solidFill>
                    <a:srgbClr val="0000CC"/>
                  </a:solidFill>
                  <a:latin typeface="+mn-lt"/>
                  <a:ea typeface="黑体" pitchFamily="2" charset="-122"/>
                </a:rPr>
                <a:t>是 </a:t>
              </a:r>
              <a:r>
                <a:rPr kumimoji="1" lang="en-US" altLang="zh-CN" sz="2000" b="1" dirty="0">
                  <a:solidFill>
                    <a:srgbClr val="0000CC"/>
                  </a:solidFill>
                  <a:latin typeface="+mn-lt"/>
                  <a:ea typeface="黑体" pitchFamily="2" charset="-122"/>
                </a:rPr>
                <a:t>145.13.0.0</a:t>
              </a:r>
            </a:p>
          </p:txBody>
        </p:sp>
        <p:sp>
          <p:nvSpPr>
            <p:cNvPr id="504876" name="Line 44"/>
            <p:cNvSpPr>
              <a:spLocks noChangeShapeType="1"/>
            </p:cNvSpPr>
            <p:nvPr/>
          </p:nvSpPr>
          <p:spPr bwMode="auto">
            <a:xfrm>
              <a:off x="1677988" y="1955769"/>
              <a:ext cx="394692" cy="121123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4877" name="Line 45"/>
            <p:cNvSpPr>
              <a:spLocks noChangeShapeType="1"/>
            </p:cNvSpPr>
            <p:nvPr/>
          </p:nvSpPr>
          <p:spPr bwMode="auto">
            <a:xfrm>
              <a:off x="1468669" y="1959385"/>
              <a:ext cx="170260" cy="219868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4878" name="Text Box 46"/>
            <p:cNvSpPr txBox="1">
              <a:spLocks noChangeArrowheads="1"/>
            </p:cNvSpPr>
            <p:nvPr/>
          </p:nvSpPr>
          <p:spPr bwMode="auto">
            <a:xfrm>
              <a:off x="2404236" y="3232561"/>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R</a:t>
              </a:r>
              <a:r>
                <a:rPr kumimoji="1" lang="en-US" altLang="zh-CN" sz="2400" b="1" baseline="-25000" dirty="0">
                  <a:solidFill>
                    <a:srgbClr val="C00000"/>
                  </a:solidFill>
                  <a:latin typeface="+mn-lt"/>
                  <a:ea typeface="黑体" pitchFamily="2" charset="-122"/>
                </a:rPr>
                <a:t>1</a:t>
              </a:r>
            </a:p>
          </p:txBody>
        </p:sp>
        <p:sp>
          <p:nvSpPr>
            <p:cNvPr id="504879" name="Text Box 47"/>
            <p:cNvSpPr txBox="1">
              <a:spLocks noChangeArrowheads="1"/>
            </p:cNvSpPr>
            <p:nvPr/>
          </p:nvSpPr>
          <p:spPr bwMode="auto">
            <a:xfrm>
              <a:off x="240738" y="4146961"/>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C00000"/>
                  </a:solidFill>
                  <a:latin typeface="+mn-lt"/>
                  <a:ea typeface="黑体" pitchFamily="2" charset="-122"/>
                </a:rPr>
                <a:t>R</a:t>
              </a:r>
              <a:r>
                <a:rPr kumimoji="1" lang="en-US" altLang="zh-CN" sz="2400" b="1" baseline="-25000">
                  <a:solidFill>
                    <a:srgbClr val="C00000"/>
                  </a:solidFill>
                  <a:latin typeface="+mn-lt"/>
                  <a:ea typeface="黑体" pitchFamily="2" charset="-122"/>
                </a:rPr>
                <a:t>3</a:t>
              </a:r>
            </a:p>
          </p:txBody>
        </p:sp>
        <p:sp>
          <p:nvSpPr>
            <p:cNvPr id="504880" name="Text Box 48"/>
            <p:cNvSpPr txBox="1">
              <a:spLocks noChangeArrowheads="1"/>
            </p:cNvSpPr>
            <p:nvPr/>
          </p:nvSpPr>
          <p:spPr bwMode="auto">
            <a:xfrm>
              <a:off x="240738" y="1951449"/>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C00000"/>
                  </a:solidFill>
                  <a:latin typeface="+mn-lt"/>
                  <a:ea typeface="黑体" pitchFamily="2" charset="-122"/>
                </a:rPr>
                <a:t>R</a:t>
              </a:r>
              <a:r>
                <a:rPr kumimoji="1" lang="en-US" altLang="zh-CN" sz="2400" b="1" baseline="-25000">
                  <a:solidFill>
                    <a:srgbClr val="C00000"/>
                  </a:solidFill>
                  <a:latin typeface="+mn-lt"/>
                  <a:ea typeface="黑体" pitchFamily="2" charset="-122"/>
                </a:rPr>
                <a:t>2</a:t>
              </a:r>
            </a:p>
          </p:txBody>
        </p:sp>
        <p:grpSp>
          <p:nvGrpSpPr>
            <p:cNvPr id="504881" name="Group 49"/>
            <p:cNvGrpSpPr>
              <a:grpSpLocks/>
            </p:cNvGrpSpPr>
            <p:nvPr/>
          </p:nvGrpSpPr>
          <p:grpSpPr bwMode="auto">
            <a:xfrm>
              <a:off x="2832465" y="2357848"/>
              <a:ext cx="6144815" cy="2844800"/>
              <a:chOff x="1746" y="890"/>
              <a:chExt cx="3221" cy="1950"/>
            </a:xfrm>
          </p:grpSpPr>
          <p:grpSp>
            <p:nvGrpSpPr>
              <p:cNvPr id="504882" name="Group 50"/>
              <p:cNvGrpSpPr>
                <a:grpSpLocks/>
              </p:cNvGrpSpPr>
              <p:nvPr/>
            </p:nvGrpSpPr>
            <p:grpSpPr bwMode="auto">
              <a:xfrm>
                <a:off x="1746" y="890"/>
                <a:ext cx="3221" cy="1950"/>
                <a:chOff x="912" y="768"/>
                <a:chExt cx="2400" cy="1584"/>
              </a:xfrm>
            </p:grpSpPr>
            <p:sp>
              <p:nvSpPr>
                <p:cNvPr id="504883" name="Oval 51"/>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84" name="Oval 52"/>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85" name="Oval 53"/>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86" name="Oval 54"/>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87" name="Oval 55"/>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88" name="Oval 56"/>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89" name="Oval 57"/>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90" name="Oval 58"/>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91" name="Oval 59"/>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nvGrpSpPr>
                <p:cNvPr id="504892" name="Group 60"/>
                <p:cNvGrpSpPr>
                  <a:grpSpLocks/>
                </p:cNvGrpSpPr>
                <p:nvPr/>
              </p:nvGrpSpPr>
              <p:grpSpPr bwMode="auto">
                <a:xfrm>
                  <a:off x="912" y="768"/>
                  <a:ext cx="2386" cy="1553"/>
                  <a:chOff x="912" y="768"/>
                  <a:chExt cx="2386" cy="1553"/>
                </a:xfrm>
              </p:grpSpPr>
              <p:sp>
                <p:nvSpPr>
                  <p:cNvPr id="504893" name="Oval 61"/>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94" name="Oval 62"/>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95" name="Oval 63"/>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96" name="Oval 64"/>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97" name="Oval 65"/>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98" name="Oval 66"/>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899" name="Oval 67"/>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900" name="Oval 68"/>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4901" name="Oval 69"/>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grpSp>
          <p:sp>
            <p:nvSpPr>
              <p:cNvPr id="504902" name="Text Box 70"/>
              <p:cNvSpPr txBox="1">
                <a:spLocks noChangeArrowheads="1"/>
              </p:cNvSpPr>
              <p:nvPr/>
            </p:nvSpPr>
            <p:spPr bwMode="auto">
              <a:xfrm>
                <a:off x="3002" y="1410"/>
                <a:ext cx="1111" cy="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3200" b="1" dirty="0">
                    <a:solidFill>
                      <a:srgbClr val="0000CC"/>
                    </a:solidFill>
                    <a:latin typeface="+mn-lt"/>
                    <a:ea typeface="黑体" pitchFamily="2" charset="-122"/>
                  </a:rPr>
                  <a:t>网络</a:t>
                </a:r>
              </a:p>
              <a:p>
                <a:pPr algn="ctr"/>
                <a:r>
                  <a:rPr kumimoji="1" lang="en-US" altLang="zh-CN" sz="3200" b="1" dirty="0">
                    <a:solidFill>
                      <a:srgbClr val="0000CC"/>
                    </a:solidFill>
                    <a:latin typeface="+mn-lt"/>
                    <a:ea typeface="黑体" pitchFamily="2" charset="-122"/>
                  </a:rPr>
                  <a:t>145.13.0.0</a:t>
                </a:r>
              </a:p>
            </p:txBody>
          </p:sp>
        </p:grpSp>
        <p:pic>
          <p:nvPicPr>
            <p:cNvPr id="504903"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30538" y="3686585"/>
              <a:ext cx="760148"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sp>
        <p:nvSpPr>
          <p:cNvPr id="504904" name="Rectangle 72"/>
          <p:cNvSpPr>
            <a:spLocks noGrp="1" noChangeArrowheads="1"/>
          </p:cNvSpPr>
          <p:nvPr>
            <p:ph type="title"/>
          </p:nvPr>
        </p:nvSpPr>
        <p:spPr/>
        <p:txBody>
          <a:bodyPr/>
          <a:lstStyle/>
          <a:p>
            <a:pPr algn="ctr"/>
            <a:r>
              <a:rPr lang="zh-CN" altLang="en-US" sz="3600" dirty="0"/>
              <a:t>一个未划分子网的 </a:t>
            </a:r>
            <a:r>
              <a:rPr lang="en-US" altLang="zh-CN" sz="3600" dirty="0"/>
              <a:t>B </a:t>
            </a:r>
            <a:r>
              <a:rPr lang="zh-CN" altLang="en-US" sz="3600" dirty="0"/>
              <a:t>类网络</a:t>
            </a:r>
            <a:r>
              <a:rPr lang="en-US" altLang="zh-CN" sz="3600" dirty="0"/>
              <a:t>145.13.0.0</a:t>
            </a:r>
          </a:p>
        </p:txBody>
      </p:sp>
    </p:spTree>
    <p:extLst>
      <p:ext uri="{BB962C8B-B14F-4D97-AF65-F5344CB8AC3E}">
        <p14:creationId xmlns:p14="http://schemas.microsoft.com/office/powerpoint/2010/main" val="179342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p:txBody>
          <a:bodyPr/>
          <a:lstStyle/>
          <a:p>
            <a:pPr algn="ctr"/>
            <a:r>
              <a:rPr lang="zh-CN" altLang="en-US" sz="3600" dirty="0"/>
              <a:t>划分为三个子网后对外仍是一个网络 </a:t>
            </a:r>
          </a:p>
        </p:txBody>
      </p:sp>
      <p:sp>
        <p:nvSpPr>
          <p:cNvPr id="505859" name="Line 3"/>
          <p:cNvSpPr>
            <a:spLocks noChangeShapeType="1"/>
          </p:cNvSpPr>
          <p:nvPr/>
        </p:nvSpPr>
        <p:spPr bwMode="auto">
          <a:xfrm>
            <a:off x="912201" y="2628901"/>
            <a:ext cx="1592527" cy="1370013"/>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60" name="Line 4"/>
          <p:cNvSpPr>
            <a:spLocks noChangeShapeType="1"/>
          </p:cNvSpPr>
          <p:nvPr/>
        </p:nvSpPr>
        <p:spPr bwMode="auto">
          <a:xfrm>
            <a:off x="889414" y="2628900"/>
            <a:ext cx="0" cy="2095500"/>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61" name="Line 5"/>
          <p:cNvSpPr>
            <a:spLocks noChangeShapeType="1"/>
          </p:cNvSpPr>
          <p:nvPr/>
        </p:nvSpPr>
        <p:spPr bwMode="auto">
          <a:xfrm flipV="1">
            <a:off x="827932" y="4078288"/>
            <a:ext cx="1592527" cy="804862"/>
          </a:xfrm>
          <a:prstGeom prst="line">
            <a:avLst/>
          </a:prstGeom>
          <a:noFill/>
          <a:ln w="571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62" name="AutoShape 6"/>
          <p:cNvSpPr>
            <a:spLocks noChangeArrowheads="1"/>
          </p:cNvSpPr>
          <p:nvPr/>
        </p:nvSpPr>
        <p:spPr bwMode="auto">
          <a:xfrm>
            <a:off x="2739389" y="1341439"/>
            <a:ext cx="7049665" cy="5400675"/>
          </a:xfrm>
          <a:prstGeom prst="roundRect">
            <a:avLst>
              <a:gd name="adj" fmla="val 11116"/>
            </a:avLst>
          </a:prstGeom>
          <a:solidFill>
            <a:srgbClr val="66FFFF"/>
          </a:solidFill>
          <a:ln w="9525">
            <a:solidFill>
              <a:schemeClr val="tx1"/>
            </a:solidFill>
            <a:prstDash val="dash"/>
            <a:round/>
            <a:headEnd/>
            <a:tailEnd/>
          </a:ln>
          <a:effectLst/>
        </p:spPr>
        <p:txBody>
          <a:bodyPr wrap="none" anchor="ctr"/>
          <a:lstStyle/>
          <a:p>
            <a:endParaRPr lang="zh-CN" altLang="en-US" b="1">
              <a:solidFill>
                <a:srgbClr val="0000CC"/>
              </a:solidFill>
              <a:latin typeface="+mn-lt"/>
              <a:ea typeface="黑体" pitchFamily="2" charset="-122"/>
            </a:endParaRPr>
          </a:p>
        </p:txBody>
      </p:sp>
      <p:sp>
        <p:nvSpPr>
          <p:cNvPr id="505863" name="Freeform 7"/>
          <p:cNvSpPr>
            <a:spLocks/>
          </p:cNvSpPr>
          <p:nvPr/>
        </p:nvSpPr>
        <p:spPr bwMode="auto">
          <a:xfrm>
            <a:off x="2836787" y="1422400"/>
            <a:ext cx="4060429" cy="2071688"/>
          </a:xfrm>
          <a:custGeom>
            <a:avLst/>
            <a:gdLst>
              <a:gd name="T0" fmla="*/ 61 w 2326"/>
              <a:gd name="T1" fmla="*/ 152 h 1235"/>
              <a:gd name="T2" fmla="*/ 118 w 2326"/>
              <a:gd name="T3" fmla="*/ 113 h 1235"/>
              <a:gd name="T4" fmla="*/ 238 w 2326"/>
              <a:gd name="T5" fmla="*/ 35 h 1235"/>
              <a:gd name="T6" fmla="*/ 478 w 2326"/>
              <a:gd name="T7" fmla="*/ 11 h 1235"/>
              <a:gd name="T8" fmla="*/ 898 w 2326"/>
              <a:gd name="T9" fmla="*/ 47 h 1235"/>
              <a:gd name="T10" fmla="*/ 1510 w 2326"/>
              <a:gd name="T11" fmla="*/ 11 h 1235"/>
              <a:gd name="T12" fmla="*/ 2068 w 2326"/>
              <a:gd name="T13" fmla="*/ 11 h 1235"/>
              <a:gd name="T14" fmla="*/ 2302 w 2326"/>
              <a:gd name="T15" fmla="*/ 203 h 1235"/>
              <a:gd name="T16" fmla="*/ 2326 w 2326"/>
              <a:gd name="T17" fmla="*/ 275 h 1235"/>
              <a:gd name="T18" fmla="*/ 2302 w 2326"/>
              <a:gd name="T19" fmla="*/ 575 h 1235"/>
              <a:gd name="T20" fmla="*/ 2266 w 2326"/>
              <a:gd name="T21" fmla="*/ 773 h 1235"/>
              <a:gd name="T22" fmla="*/ 2170 w 2326"/>
              <a:gd name="T23" fmla="*/ 971 h 1235"/>
              <a:gd name="T24" fmla="*/ 2026 w 2326"/>
              <a:gd name="T25" fmla="*/ 1103 h 1235"/>
              <a:gd name="T26" fmla="*/ 1954 w 2326"/>
              <a:gd name="T27" fmla="*/ 1151 h 1235"/>
              <a:gd name="T28" fmla="*/ 1846 w 2326"/>
              <a:gd name="T29" fmla="*/ 1211 h 1235"/>
              <a:gd name="T30" fmla="*/ 1810 w 2326"/>
              <a:gd name="T31" fmla="*/ 1223 h 1235"/>
              <a:gd name="T32" fmla="*/ 1774 w 2326"/>
              <a:gd name="T33" fmla="*/ 1235 h 1235"/>
              <a:gd name="T34" fmla="*/ 1474 w 2326"/>
              <a:gd name="T35" fmla="*/ 1223 h 1235"/>
              <a:gd name="T36" fmla="*/ 1066 w 2326"/>
              <a:gd name="T37" fmla="*/ 1103 h 1235"/>
              <a:gd name="T38" fmla="*/ 766 w 2326"/>
              <a:gd name="T39" fmla="*/ 1055 h 1235"/>
              <a:gd name="T40" fmla="*/ 478 w 2326"/>
              <a:gd name="T41" fmla="*/ 947 h 1235"/>
              <a:gd name="T42" fmla="*/ 430 w 2326"/>
              <a:gd name="T43" fmla="*/ 923 h 1235"/>
              <a:gd name="T44" fmla="*/ 169 w 2326"/>
              <a:gd name="T45" fmla="*/ 848 h 1235"/>
              <a:gd name="T46" fmla="*/ 70 w 2326"/>
              <a:gd name="T47" fmla="*/ 725 h 1235"/>
              <a:gd name="T48" fmla="*/ 19 w 2326"/>
              <a:gd name="T49" fmla="*/ 542 h 1235"/>
              <a:gd name="T50" fmla="*/ 7 w 2326"/>
              <a:gd name="T51" fmla="*/ 404 h 1235"/>
              <a:gd name="T52" fmla="*/ 22 w 2326"/>
              <a:gd name="T53" fmla="*/ 263 h 1235"/>
              <a:gd name="T54" fmla="*/ 61 w 2326"/>
              <a:gd name="T55" fmla="*/ 152 h 1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26" h="1235">
                <a:moveTo>
                  <a:pt x="61" y="152"/>
                </a:moveTo>
                <a:cubicBezTo>
                  <a:pt x="58" y="176"/>
                  <a:pt x="104" y="118"/>
                  <a:pt x="118" y="113"/>
                </a:cubicBezTo>
                <a:cubicBezTo>
                  <a:pt x="160" y="99"/>
                  <a:pt x="193" y="40"/>
                  <a:pt x="238" y="35"/>
                </a:cubicBezTo>
                <a:cubicBezTo>
                  <a:pt x="318" y="25"/>
                  <a:pt x="478" y="11"/>
                  <a:pt x="478" y="11"/>
                </a:cubicBezTo>
                <a:cubicBezTo>
                  <a:pt x="632" y="18"/>
                  <a:pt x="752" y="26"/>
                  <a:pt x="898" y="47"/>
                </a:cubicBezTo>
                <a:cubicBezTo>
                  <a:pt x="1333" y="37"/>
                  <a:pt x="1265" y="52"/>
                  <a:pt x="1510" y="11"/>
                </a:cubicBezTo>
                <a:cubicBezTo>
                  <a:pt x="1714" y="15"/>
                  <a:pt x="1864" y="0"/>
                  <a:pt x="2068" y="11"/>
                </a:cubicBezTo>
                <a:cubicBezTo>
                  <a:pt x="2116" y="14"/>
                  <a:pt x="2284" y="150"/>
                  <a:pt x="2302" y="203"/>
                </a:cubicBezTo>
                <a:cubicBezTo>
                  <a:pt x="2310" y="227"/>
                  <a:pt x="2326" y="275"/>
                  <a:pt x="2326" y="275"/>
                </a:cubicBezTo>
                <a:cubicBezTo>
                  <a:pt x="2322" y="391"/>
                  <a:pt x="2309" y="459"/>
                  <a:pt x="2302" y="575"/>
                </a:cubicBezTo>
                <a:cubicBezTo>
                  <a:pt x="2297" y="658"/>
                  <a:pt x="2299" y="675"/>
                  <a:pt x="2266" y="773"/>
                </a:cubicBezTo>
                <a:cubicBezTo>
                  <a:pt x="2243" y="841"/>
                  <a:pt x="2211" y="910"/>
                  <a:pt x="2170" y="971"/>
                </a:cubicBezTo>
                <a:cubicBezTo>
                  <a:pt x="2132" y="1028"/>
                  <a:pt x="2077" y="1060"/>
                  <a:pt x="2026" y="1103"/>
                </a:cubicBezTo>
                <a:cubicBezTo>
                  <a:pt x="1966" y="1153"/>
                  <a:pt x="2017" y="1130"/>
                  <a:pt x="1954" y="1151"/>
                </a:cubicBezTo>
                <a:cubicBezTo>
                  <a:pt x="1900" y="1205"/>
                  <a:pt x="1934" y="1182"/>
                  <a:pt x="1846" y="1211"/>
                </a:cubicBezTo>
                <a:cubicBezTo>
                  <a:pt x="1834" y="1215"/>
                  <a:pt x="1822" y="1219"/>
                  <a:pt x="1810" y="1223"/>
                </a:cubicBezTo>
                <a:cubicBezTo>
                  <a:pt x="1798" y="1227"/>
                  <a:pt x="1774" y="1235"/>
                  <a:pt x="1774" y="1235"/>
                </a:cubicBezTo>
                <a:cubicBezTo>
                  <a:pt x="1674" y="1231"/>
                  <a:pt x="1574" y="1230"/>
                  <a:pt x="1474" y="1223"/>
                </a:cubicBezTo>
                <a:cubicBezTo>
                  <a:pt x="1331" y="1213"/>
                  <a:pt x="1204" y="1131"/>
                  <a:pt x="1066" y="1103"/>
                </a:cubicBezTo>
                <a:cubicBezTo>
                  <a:pt x="967" y="1083"/>
                  <a:pt x="863" y="1084"/>
                  <a:pt x="766" y="1055"/>
                </a:cubicBezTo>
                <a:cubicBezTo>
                  <a:pt x="666" y="1025"/>
                  <a:pt x="575" y="983"/>
                  <a:pt x="478" y="947"/>
                </a:cubicBezTo>
                <a:cubicBezTo>
                  <a:pt x="461" y="941"/>
                  <a:pt x="447" y="927"/>
                  <a:pt x="430" y="923"/>
                </a:cubicBezTo>
                <a:cubicBezTo>
                  <a:pt x="401" y="916"/>
                  <a:pt x="181" y="849"/>
                  <a:pt x="169" y="848"/>
                </a:cubicBezTo>
                <a:cubicBezTo>
                  <a:pt x="94" y="794"/>
                  <a:pt x="109" y="776"/>
                  <a:pt x="70" y="725"/>
                </a:cubicBezTo>
                <a:cubicBezTo>
                  <a:pt x="37" y="650"/>
                  <a:pt x="31" y="614"/>
                  <a:pt x="19" y="542"/>
                </a:cubicBezTo>
                <a:cubicBezTo>
                  <a:pt x="15" y="490"/>
                  <a:pt x="0" y="469"/>
                  <a:pt x="7" y="404"/>
                </a:cubicBezTo>
                <a:cubicBezTo>
                  <a:pt x="7" y="358"/>
                  <a:pt x="13" y="305"/>
                  <a:pt x="22" y="263"/>
                </a:cubicBezTo>
                <a:cubicBezTo>
                  <a:pt x="31" y="221"/>
                  <a:pt x="53" y="175"/>
                  <a:pt x="61" y="152"/>
                </a:cubicBezTo>
                <a:close/>
              </a:path>
            </a:pathLst>
          </a:custGeom>
          <a:solidFill>
            <a:schemeClr val="bg1"/>
          </a:solidFill>
          <a:ln w="9525" cap="flat">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64" name="Freeform 8"/>
          <p:cNvSpPr>
            <a:spLocks/>
          </p:cNvSpPr>
          <p:nvPr/>
        </p:nvSpPr>
        <p:spPr bwMode="auto">
          <a:xfrm>
            <a:off x="2653639" y="2790826"/>
            <a:ext cx="1258888" cy="1128713"/>
          </a:xfrm>
          <a:custGeom>
            <a:avLst/>
            <a:gdLst>
              <a:gd name="T0" fmla="*/ 0 w 732"/>
              <a:gd name="T1" fmla="*/ 711 h 711"/>
              <a:gd name="T2" fmla="*/ 732 w 732"/>
              <a:gd name="T3" fmla="*/ 372 h 711"/>
              <a:gd name="T4" fmla="*/ 732 w 732"/>
              <a:gd name="T5" fmla="*/ 0 h 711"/>
            </a:gdLst>
            <a:ahLst/>
            <a:cxnLst>
              <a:cxn ang="0">
                <a:pos x="T0" y="T1"/>
              </a:cxn>
              <a:cxn ang="0">
                <a:pos x="T2" y="T3"/>
              </a:cxn>
              <a:cxn ang="0">
                <a:pos x="T4" y="T5"/>
              </a:cxn>
            </a:cxnLst>
            <a:rect l="0" t="0" r="r" b="b"/>
            <a:pathLst>
              <a:path w="732" h="711">
                <a:moveTo>
                  <a:pt x="0" y="711"/>
                </a:moveTo>
                <a:lnTo>
                  <a:pt x="732" y="372"/>
                </a:lnTo>
                <a:lnTo>
                  <a:pt x="732" y="0"/>
                </a:lnTo>
              </a:path>
            </a:pathLst>
          </a:custGeom>
          <a:noFill/>
          <a:ln w="38100"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65" name="Freeform 9"/>
          <p:cNvSpPr>
            <a:spLocks/>
          </p:cNvSpPr>
          <p:nvPr/>
        </p:nvSpPr>
        <p:spPr bwMode="auto">
          <a:xfrm>
            <a:off x="3118544" y="4189685"/>
            <a:ext cx="4426744" cy="2479675"/>
          </a:xfrm>
          <a:custGeom>
            <a:avLst/>
            <a:gdLst>
              <a:gd name="T0" fmla="*/ 65 w 2574"/>
              <a:gd name="T1" fmla="*/ 457 h 1562"/>
              <a:gd name="T2" fmla="*/ 612 w 2574"/>
              <a:gd name="T3" fmla="*/ 146 h 1562"/>
              <a:gd name="T4" fmla="*/ 770 w 2574"/>
              <a:gd name="T5" fmla="*/ 89 h 1562"/>
              <a:gd name="T6" fmla="*/ 917 w 2574"/>
              <a:gd name="T7" fmla="*/ 55 h 1562"/>
              <a:gd name="T8" fmla="*/ 1063 w 2574"/>
              <a:gd name="T9" fmla="*/ 50 h 1562"/>
              <a:gd name="T10" fmla="*/ 1303 w 2574"/>
              <a:gd name="T11" fmla="*/ 18 h 1562"/>
              <a:gd name="T12" fmla="*/ 1703 w 2574"/>
              <a:gd name="T13" fmla="*/ 18 h 1562"/>
              <a:gd name="T14" fmla="*/ 2119 w 2574"/>
              <a:gd name="T15" fmla="*/ 154 h 1562"/>
              <a:gd name="T16" fmla="*/ 2267 w 2574"/>
              <a:gd name="T17" fmla="*/ 361 h 1562"/>
              <a:gd name="T18" fmla="*/ 2401 w 2574"/>
              <a:gd name="T19" fmla="*/ 589 h 1562"/>
              <a:gd name="T20" fmla="*/ 2487 w 2574"/>
              <a:gd name="T21" fmla="*/ 762 h 1562"/>
              <a:gd name="T22" fmla="*/ 2567 w 2574"/>
              <a:gd name="T23" fmla="*/ 1226 h 1562"/>
              <a:gd name="T24" fmla="*/ 2455 w 2574"/>
              <a:gd name="T25" fmla="*/ 1394 h 1562"/>
              <a:gd name="T26" fmla="*/ 2287 w 2574"/>
              <a:gd name="T27" fmla="*/ 1458 h 1562"/>
              <a:gd name="T28" fmla="*/ 2000 w 2574"/>
              <a:gd name="T29" fmla="*/ 1515 h 1562"/>
              <a:gd name="T30" fmla="*/ 1756 w 2574"/>
              <a:gd name="T31" fmla="*/ 1502 h 1562"/>
              <a:gd name="T32" fmla="*/ 1512 w 2574"/>
              <a:gd name="T33" fmla="*/ 1388 h 1562"/>
              <a:gd name="T34" fmla="*/ 952 w 2574"/>
              <a:gd name="T35" fmla="*/ 1337 h 1562"/>
              <a:gd name="T36" fmla="*/ 684 w 2574"/>
              <a:gd name="T37" fmla="*/ 1274 h 1562"/>
              <a:gd name="T38" fmla="*/ 477 w 2574"/>
              <a:gd name="T39" fmla="*/ 1198 h 1562"/>
              <a:gd name="T40" fmla="*/ 65 w 2574"/>
              <a:gd name="T41" fmla="*/ 1036 h 1562"/>
              <a:gd name="T42" fmla="*/ 0 w 2574"/>
              <a:gd name="T43" fmla="*/ 853 h 1562"/>
              <a:gd name="T44" fmla="*/ 65 w 2574"/>
              <a:gd name="T45" fmla="*/ 457 h 1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574" h="1562">
                <a:moveTo>
                  <a:pt x="65" y="457"/>
                </a:moveTo>
                <a:cubicBezTo>
                  <a:pt x="262" y="320"/>
                  <a:pt x="371" y="154"/>
                  <a:pt x="612" y="146"/>
                </a:cubicBezTo>
                <a:cubicBezTo>
                  <a:pt x="707" y="122"/>
                  <a:pt x="689" y="145"/>
                  <a:pt x="770" y="89"/>
                </a:cubicBezTo>
                <a:cubicBezTo>
                  <a:pt x="784" y="79"/>
                  <a:pt x="901" y="61"/>
                  <a:pt x="917" y="55"/>
                </a:cubicBezTo>
                <a:cubicBezTo>
                  <a:pt x="952" y="49"/>
                  <a:pt x="1004" y="48"/>
                  <a:pt x="1063" y="50"/>
                </a:cubicBezTo>
                <a:cubicBezTo>
                  <a:pt x="1127" y="44"/>
                  <a:pt x="1196" y="23"/>
                  <a:pt x="1303" y="18"/>
                </a:cubicBezTo>
                <a:cubicBezTo>
                  <a:pt x="1502" y="22"/>
                  <a:pt x="1505" y="0"/>
                  <a:pt x="1703" y="18"/>
                </a:cubicBezTo>
                <a:cubicBezTo>
                  <a:pt x="1770" y="24"/>
                  <a:pt x="2049" y="130"/>
                  <a:pt x="2119" y="154"/>
                </a:cubicBezTo>
                <a:cubicBezTo>
                  <a:pt x="2181" y="203"/>
                  <a:pt x="2213" y="303"/>
                  <a:pt x="2267" y="361"/>
                </a:cubicBezTo>
                <a:cubicBezTo>
                  <a:pt x="2325" y="421"/>
                  <a:pt x="2366" y="514"/>
                  <a:pt x="2401" y="589"/>
                </a:cubicBezTo>
                <a:cubicBezTo>
                  <a:pt x="2414" y="654"/>
                  <a:pt x="2478" y="696"/>
                  <a:pt x="2487" y="762"/>
                </a:cubicBezTo>
                <a:cubicBezTo>
                  <a:pt x="2483" y="898"/>
                  <a:pt x="2574" y="1091"/>
                  <a:pt x="2567" y="1226"/>
                </a:cubicBezTo>
                <a:cubicBezTo>
                  <a:pt x="2564" y="1281"/>
                  <a:pt x="2482" y="1355"/>
                  <a:pt x="2455" y="1394"/>
                </a:cubicBezTo>
                <a:cubicBezTo>
                  <a:pt x="2445" y="1410"/>
                  <a:pt x="2298" y="1442"/>
                  <a:pt x="2287" y="1458"/>
                </a:cubicBezTo>
                <a:cubicBezTo>
                  <a:pt x="2215" y="1562"/>
                  <a:pt x="2111" y="1496"/>
                  <a:pt x="2000" y="1515"/>
                </a:cubicBezTo>
                <a:cubicBezTo>
                  <a:pt x="1918" y="1511"/>
                  <a:pt x="1836" y="1513"/>
                  <a:pt x="1756" y="1502"/>
                </a:cubicBezTo>
                <a:cubicBezTo>
                  <a:pt x="1687" y="1493"/>
                  <a:pt x="1592" y="1406"/>
                  <a:pt x="1512" y="1388"/>
                </a:cubicBezTo>
                <a:cubicBezTo>
                  <a:pt x="1318" y="1344"/>
                  <a:pt x="1150" y="1347"/>
                  <a:pt x="952" y="1337"/>
                </a:cubicBezTo>
                <a:cubicBezTo>
                  <a:pt x="875" y="1324"/>
                  <a:pt x="760" y="1294"/>
                  <a:pt x="684" y="1274"/>
                </a:cubicBezTo>
                <a:cubicBezTo>
                  <a:pt x="620" y="1230"/>
                  <a:pt x="550" y="1217"/>
                  <a:pt x="477" y="1198"/>
                </a:cubicBezTo>
                <a:cubicBezTo>
                  <a:pt x="282" y="1147"/>
                  <a:pt x="242" y="1124"/>
                  <a:pt x="65" y="1036"/>
                </a:cubicBezTo>
                <a:cubicBezTo>
                  <a:pt x="37" y="959"/>
                  <a:pt x="0" y="949"/>
                  <a:pt x="0" y="853"/>
                </a:cubicBezTo>
                <a:cubicBezTo>
                  <a:pt x="0" y="757"/>
                  <a:pt x="52" y="539"/>
                  <a:pt x="65" y="457"/>
                </a:cubicBezTo>
                <a:close/>
              </a:path>
            </a:pathLst>
          </a:custGeom>
          <a:solidFill>
            <a:schemeClr val="bg1"/>
          </a:solidFill>
          <a:ln w="9525" cap="flat">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66" name="Freeform 10"/>
          <p:cNvSpPr>
            <a:spLocks/>
          </p:cNvSpPr>
          <p:nvPr/>
        </p:nvSpPr>
        <p:spPr bwMode="auto">
          <a:xfrm>
            <a:off x="2653640" y="4078288"/>
            <a:ext cx="1508257" cy="743222"/>
          </a:xfrm>
          <a:custGeom>
            <a:avLst/>
            <a:gdLst>
              <a:gd name="T0" fmla="*/ 0 w 877"/>
              <a:gd name="T1" fmla="*/ 0 h 507"/>
              <a:gd name="T2" fmla="*/ 877 w 877"/>
              <a:gd name="T3" fmla="*/ 287 h 507"/>
              <a:gd name="T4" fmla="*/ 877 w 877"/>
              <a:gd name="T5" fmla="*/ 507 h 507"/>
            </a:gdLst>
            <a:ahLst/>
            <a:cxnLst>
              <a:cxn ang="0">
                <a:pos x="T0" y="T1"/>
              </a:cxn>
              <a:cxn ang="0">
                <a:pos x="T2" y="T3"/>
              </a:cxn>
              <a:cxn ang="0">
                <a:pos x="T4" y="T5"/>
              </a:cxn>
            </a:cxnLst>
            <a:rect l="0" t="0" r="r" b="b"/>
            <a:pathLst>
              <a:path w="877" h="507">
                <a:moveTo>
                  <a:pt x="0" y="0"/>
                </a:moveTo>
                <a:lnTo>
                  <a:pt x="877" y="287"/>
                </a:lnTo>
                <a:lnTo>
                  <a:pt x="877" y="507"/>
                </a:lnTo>
              </a:path>
            </a:pathLst>
          </a:custGeom>
          <a:noFill/>
          <a:ln w="38100"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67" name="Freeform 11"/>
          <p:cNvSpPr>
            <a:spLocks/>
          </p:cNvSpPr>
          <p:nvPr/>
        </p:nvSpPr>
        <p:spPr bwMode="auto">
          <a:xfrm>
            <a:off x="6578204" y="1503364"/>
            <a:ext cx="3073267" cy="3963987"/>
          </a:xfrm>
          <a:custGeom>
            <a:avLst/>
            <a:gdLst>
              <a:gd name="T0" fmla="*/ 289 w 1787"/>
              <a:gd name="T1" fmla="*/ 1901 h 2497"/>
              <a:gd name="T2" fmla="*/ 128 w 1787"/>
              <a:gd name="T3" fmla="*/ 1797 h 2497"/>
              <a:gd name="T4" fmla="*/ 15 w 1787"/>
              <a:gd name="T5" fmla="*/ 1583 h 2497"/>
              <a:gd name="T6" fmla="*/ 83 w 1787"/>
              <a:gd name="T7" fmla="*/ 1007 h 2497"/>
              <a:gd name="T8" fmla="*/ 264 w 1787"/>
              <a:gd name="T9" fmla="*/ 596 h 2497"/>
              <a:gd name="T10" fmla="*/ 374 w 1787"/>
              <a:gd name="T11" fmla="*/ 228 h 2497"/>
              <a:gd name="T12" fmla="*/ 496 w 1787"/>
              <a:gd name="T13" fmla="*/ 101 h 2497"/>
              <a:gd name="T14" fmla="*/ 776 w 1787"/>
              <a:gd name="T15" fmla="*/ 0 h 2497"/>
              <a:gd name="T16" fmla="*/ 1263 w 1787"/>
              <a:gd name="T17" fmla="*/ 13 h 2497"/>
              <a:gd name="T18" fmla="*/ 1470 w 1787"/>
              <a:gd name="T19" fmla="*/ 89 h 2497"/>
              <a:gd name="T20" fmla="*/ 1543 w 1787"/>
              <a:gd name="T21" fmla="*/ 139 h 2497"/>
              <a:gd name="T22" fmla="*/ 1641 w 1787"/>
              <a:gd name="T23" fmla="*/ 241 h 2497"/>
              <a:gd name="T24" fmla="*/ 1738 w 1787"/>
              <a:gd name="T25" fmla="*/ 532 h 2497"/>
              <a:gd name="T26" fmla="*/ 1787 w 1787"/>
              <a:gd name="T27" fmla="*/ 1952 h 2497"/>
              <a:gd name="T28" fmla="*/ 1775 w 1787"/>
              <a:gd name="T29" fmla="*/ 2269 h 2497"/>
              <a:gd name="T30" fmla="*/ 1519 w 1787"/>
              <a:gd name="T31" fmla="*/ 2497 h 2497"/>
              <a:gd name="T32" fmla="*/ 1141 w 1787"/>
              <a:gd name="T33" fmla="*/ 2459 h 2497"/>
              <a:gd name="T34" fmla="*/ 971 w 1787"/>
              <a:gd name="T35" fmla="*/ 2396 h 2497"/>
              <a:gd name="T36" fmla="*/ 861 w 1787"/>
              <a:gd name="T37" fmla="*/ 2320 h 2497"/>
              <a:gd name="T38" fmla="*/ 812 w 1787"/>
              <a:gd name="T39" fmla="*/ 2294 h 2497"/>
              <a:gd name="T40" fmla="*/ 618 w 1787"/>
              <a:gd name="T41" fmla="*/ 2142 h 2497"/>
              <a:gd name="T42" fmla="*/ 386 w 1787"/>
              <a:gd name="T43" fmla="*/ 1977 h 2497"/>
              <a:gd name="T44" fmla="*/ 350 w 1787"/>
              <a:gd name="T45" fmla="*/ 1939 h 2497"/>
              <a:gd name="T46" fmla="*/ 289 w 1787"/>
              <a:gd name="T47" fmla="*/ 1901 h 2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87" h="2497">
                <a:moveTo>
                  <a:pt x="289" y="1901"/>
                </a:moveTo>
                <a:cubicBezTo>
                  <a:pt x="270" y="1825"/>
                  <a:pt x="157" y="1859"/>
                  <a:pt x="128" y="1797"/>
                </a:cubicBezTo>
                <a:cubicBezTo>
                  <a:pt x="98" y="1735"/>
                  <a:pt x="36" y="1648"/>
                  <a:pt x="15" y="1583"/>
                </a:cubicBezTo>
                <a:cubicBezTo>
                  <a:pt x="0" y="1365"/>
                  <a:pt x="35" y="1221"/>
                  <a:pt x="83" y="1007"/>
                </a:cubicBezTo>
                <a:cubicBezTo>
                  <a:pt x="108" y="892"/>
                  <a:pt x="242" y="711"/>
                  <a:pt x="264" y="596"/>
                </a:cubicBezTo>
                <a:cubicBezTo>
                  <a:pt x="289" y="467"/>
                  <a:pt x="297" y="335"/>
                  <a:pt x="374" y="228"/>
                </a:cubicBezTo>
                <a:cubicBezTo>
                  <a:pt x="395" y="161"/>
                  <a:pt x="438" y="142"/>
                  <a:pt x="496" y="101"/>
                </a:cubicBezTo>
                <a:cubicBezTo>
                  <a:pt x="582" y="42"/>
                  <a:pt x="673" y="15"/>
                  <a:pt x="776" y="0"/>
                </a:cubicBezTo>
                <a:cubicBezTo>
                  <a:pt x="938" y="4"/>
                  <a:pt x="1101" y="5"/>
                  <a:pt x="1263" y="13"/>
                </a:cubicBezTo>
                <a:cubicBezTo>
                  <a:pt x="1339" y="16"/>
                  <a:pt x="1400" y="71"/>
                  <a:pt x="1470" y="89"/>
                </a:cubicBezTo>
                <a:cubicBezTo>
                  <a:pt x="1495" y="106"/>
                  <a:pt x="1527" y="114"/>
                  <a:pt x="1543" y="139"/>
                </a:cubicBezTo>
                <a:cubicBezTo>
                  <a:pt x="1572" y="183"/>
                  <a:pt x="1599" y="211"/>
                  <a:pt x="1641" y="241"/>
                </a:cubicBezTo>
                <a:cubicBezTo>
                  <a:pt x="1694" y="323"/>
                  <a:pt x="1720" y="435"/>
                  <a:pt x="1738" y="532"/>
                </a:cubicBezTo>
                <a:cubicBezTo>
                  <a:pt x="1763" y="984"/>
                  <a:pt x="1720" y="1534"/>
                  <a:pt x="1787" y="1952"/>
                </a:cubicBezTo>
                <a:cubicBezTo>
                  <a:pt x="1783" y="2058"/>
                  <a:pt x="1785" y="2163"/>
                  <a:pt x="1775" y="2269"/>
                </a:cubicBezTo>
                <a:cubicBezTo>
                  <a:pt x="1762" y="2412"/>
                  <a:pt x="1640" y="2472"/>
                  <a:pt x="1519" y="2497"/>
                </a:cubicBezTo>
                <a:cubicBezTo>
                  <a:pt x="1358" y="2489"/>
                  <a:pt x="1280" y="2483"/>
                  <a:pt x="1141" y="2459"/>
                </a:cubicBezTo>
                <a:cubicBezTo>
                  <a:pt x="1086" y="2430"/>
                  <a:pt x="1030" y="2416"/>
                  <a:pt x="971" y="2396"/>
                </a:cubicBezTo>
                <a:cubicBezTo>
                  <a:pt x="934" y="2383"/>
                  <a:pt x="898" y="2339"/>
                  <a:pt x="861" y="2320"/>
                </a:cubicBezTo>
                <a:cubicBezTo>
                  <a:pt x="845" y="2311"/>
                  <a:pt x="827" y="2306"/>
                  <a:pt x="812" y="2294"/>
                </a:cubicBezTo>
                <a:cubicBezTo>
                  <a:pt x="741" y="2234"/>
                  <a:pt x="706" y="2173"/>
                  <a:pt x="618" y="2142"/>
                </a:cubicBezTo>
                <a:cubicBezTo>
                  <a:pt x="542" y="2084"/>
                  <a:pt x="464" y="2031"/>
                  <a:pt x="386" y="1977"/>
                </a:cubicBezTo>
                <a:cubicBezTo>
                  <a:pt x="372" y="1968"/>
                  <a:pt x="364" y="1949"/>
                  <a:pt x="350" y="1939"/>
                </a:cubicBezTo>
                <a:cubicBezTo>
                  <a:pt x="255" y="1874"/>
                  <a:pt x="365" y="1980"/>
                  <a:pt x="289" y="1901"/>
                </a:cubicBezTo>
                <a:close/>
              </a:path>
            </a:pathLst>
          </a:custGeom>
          <a:solidFill>
            <a:schemeClr val="bg1"/>
          </a:solidFill>
          <a:ln w="9525" cap="flat">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68" name="Line 12"/>
          <p:cNvSpPr>
            <a:spLocks noChangeShapeType="1"/>
          </p:cNvSpPr>
          <p:nvPr/>
        </p:nvSpPr>
        <p:spPr bwMode="auto">
          <a:xfrm flipV="1">
            <a:off x="2653640" y="3998913"/>
            <a:ext cx="5532569"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69" name="Line 13"/>
          <p:cNvSpPr>
            <a:spLocks noChangeShapeType="1"/>
          </p:cNvSpPr>
          <p:nvPr/>
        </p:nvSpPr>
        <p:spPr bwMode="auto">
          <a:xfrm>
            <a:off x="3557381" y="2389188"/>
            <a:ext cx="0" cy="4127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70" name="Freeform 14"/>
          <p:cNvSpPr>
            <a:spLocks/>
          </p:cNvSpPr>
          <p:nvPr/>
        </p:nvSpPr>
        <p:spPr bwMode="auto">
          <a:xfrm>
            <a:off x="8172450" y="2776538"/>
            <a:ext cx="536575" cy="508000"/>
          </a:xfrm>
          <a:custGeom>
            <a:avLst/>
            <a:gdLst>
              <a:gd name="T0" fmla="*/ 308 w 308"/>
              <a:gd name="T1" fmla="*/ 0 h 396"/>
              <a:gd name="T2" fmla="*/ 308 w 308"/>
              <a:gd name="T3" fmla="*/ 396 h 396"/>
              <a:gd name="T4" fmla="*/ 0 w 308"/>
              <a:gd name="T5" fmla="*/ 392 h 396"/>
            </a:gdLst>
            <a:ahLst/>
            <a:cxnLst>
              <a:cxn ang="0">
                <a:pos x="T0" y="T1"/>
              </a:cxn>
              <a:cxn ang="0">
                <a:pos x="T2" y="T3"/>
              </a:cxn>
              <a:cxn ang="0">
                <a:pos x="T4" y="T5"/>
              </a:cxn>
            </a:cxnLst>
            <a:rect l="0" t="0" r="r" b="b"/>
            <a:pathLst>
              <a:path w="308" h="396">
                <a:moveTo>
                  <a:pt x="308" y="0"/>
                </a:moveTo>
                <a:lnTo>
                  <a:pt x="308" y="396"/>
                </a:lnTo>
                <a:lnTo>
                  <a:pt x="0" y="392"/>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71" name="Line 15"/>
          <p:cNvSpPr>
            <a:spLocks noChangeShapeType="1"/>
          </p:cNvSpPr>
          <p:nvPr/>
        </p:nvSpPr>
        <p:spPr bwMode="auto">
          <a:xfrm>
            <a:off x="6155985" y="2147889"/>
            <a:ext cx="0" cy="6318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72" name="Line 16"/>
          <p:cNvSpPr>
            <a:spLocks noChangeShapeType="1"/>
          </p:cNvSpPr>
          <p:nvPr/>
        </p:nvSpPr>
        <p:spPr bwMode="auto">
          <a:xfrm flipV="1">
            <a:off x="6583924" y="4808810"/>
            <a:ext cx="10319" cy="10763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73" name="Line 17"/>
          <p:cNvSpPr>
            <a:spLocks noChangeShapeType="1"/>
          </p:cNvSpPr>
          <p:nvPr/>
        </p:nvSpPr>
        <p:spPr bwMode="auto">
          <a:xfrm flipH="1">
            <a:off x="4707921" y="2279650"/>
            <a:ext cx="0" cy="5222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74" name="Freeform 18"/>
          <p:cNvSpPr>
            <a:spLocks/>
          </p:cNvSpPr>
          <p:nvPr/>
        </p:nvSpPr>
        <p:spPr bwMode="auto">
          <a:xfrm>
            <a:off x="7878366" y="2374901"/>
            <a:ext cx="307842" cy="657225"/>
          </a:xfrm>
          <a:custGeom>
            <a:avLst/>
            <a:gdLst>
              <a:gd name="T0" fmla="*/ 0 w 176"/>
              <a:gd name="T1" fmla="*/ 0 h 392"/>
              <a:gd name="T2" fmla="*/ 0 w 176"/>
              <a:gd name="T3" fmla="*/ 392 h 392"/>
              <a:gd name="T4" fmla="*/ 176 w 176"/>
              <a:gd name="T5" fmla="*/ 392 h 392"/>
            </a:gdLst>
            <a:ahLst/>
            <a:cxnLst>
              <a:cxn ang="0">
                <a:pos x="T0" y="T1"/>
              </a:cxn>
              <a:cxn ang="0">
                <a:pos x="T2" y="T3"/>
              </a:cxn>
              <a:cxn ang="0">
                <a:pos x="T4" y="T5"/>
              </a:cxn>
            </a:cxnLst>
            <a:rect l="0" t="0" r="r" b="b"/>
            <a:pathLst>
              <a:path w="176" h="392">
                <a:moveTo>
                  <a:pt x="0" y="0"/>
                </a:moveTo>
                <a:lnTo>
                  <a:pt x="0" y="392"/>
                </a:lnTo>
                <a:lnTo>
                  <a:pt x="176" y="392"/>
                </a:lnTo>
              </a:path>
            </a:pathLst>
          </a:custGeom>
          <a:noFill/>
          <a:ln w="28575" cmpd="sng">
            <a:solidFill>
              <a:srgbClr val="333399"/>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75" name="Line 19"/>
          <p:cNvSpPr>
            <a:spLocks noChangeShapeType="1"/>
          </p:cNvSpPr>
          <p:nvPr/>
        </p:nvSpPr>
        <p:spPr bwMode="auto">
          <a:xfrm flipH="1" flipV="1">
            <a:off x="5431663" y="4821509"/>
            <a:ext cx="0" cy="6873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76" name="Line 20"/>
          <p:cNvSpPr>
            <a:spLocks noChangeShapeType="1"/>
          </p:cNvSpPr>
          <p:nvPr/>
        </p:nvSpPr>
        <p:spPr bwMode="auto">
          <a:xfrm flipH="1" flipV="1">
            <a:off x="3923406" y="4821510"/>
            <a:ext cx="0" cy="4048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5877" name="Line 21"/>
          <p:cNvSpPr>
            <a:spLocks noChangeShapeType="1"/>
          </p:cNvSpPr>
          <p:nvPr/>
        </p:nvSpPr>
        <p:spPr bwMode="auto">
          <a:xfrm flipH="1" flipV="1">
            <a:off x="8186209" y="4683125"/>
            <a:ext cx="921808"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pic>
        <p:nvPicPr>
          <p:cNvPr id="505878" name="Picture 2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8106" y="1985964"/>
            <a:ext cx="41447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5879"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25804" y="3756025"/>
            <a:ext cx="754988"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05880" name="Picture 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7885" y="2236788"/>
            <a:ext cx="4127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5881" name="Picture 2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6490" y="1825625"/>
            <a:ext cx="4127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5882" name="Picture 2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21569" y="2468564"/>
            <a:ext cx="414469"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5883" name="Picture 2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4029" y="2066925"/>
            <a:ext cx="4127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5884" name="Picture 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9477" y="4402138"/>
            <a:ext cx="41447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5885"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148" y="5672409"/>
            <a:ext cx="414469"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5886"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1848" y="5386659"/>
            <a:ext cx="41275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5887"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1871" y="5064397"/>
            <a:ext cx="41447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5888" name="Text Box 32"/>
          <p:cNvSpPr txBox="1">
            <a:spLocks noChangeArrowheads="1"/>
          </p:cNvSpPr>
          <p:nvPr/>
        </p:nvSpPr>
        <p:spPr bwMode="auto">
          <a:xfrm>
            <a:off x="2739389" y="1948770"/>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145.13.3.10</a:t>
            </a:r>
          </a:p>
        </p:txBody>
      </p:sp>
      <p:sp>
        <p:nvSpPr>
          <p:cNvPr id="505889" name="Text Box 33"/>
          <p:cNvSpPr txBox="1">
            <a:spLocks noChangeArrowheads="1"/>
          </p:cNvSpPr>
          <p:nvPr/>
        </p:nvSpPr>
        <p:spPr bwMode="auto">
          <a:xfrm>
            <a:off x="3833679" y="1628800"/>
            <a:ext cx="15234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145.13.3.11</a:t>
            </a:r>
          </a:p>
        </p:txBody>
      </p:sp>
      <p:sp>
        <p:nvSpPr>
          <p:cNvPr id="505890" name="Text Box 34"/>
          <p:cNvSpPr txBox="1">
            <a:spLocks noChangeArrowheads="1"/>
          </p:cNvSpPr>
          <p:nvPr/>
        </p:nvSpPr>
        <p:spPr bwMode="auto">
          <a:xfrm>
            <a:off x="5144748" y="1519239"/>
            <a:ext cx="17427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145.13.3.101</a:t>
            </a:r>
          </a:p>
        </p:txBody>
      </p:sp>
      <p:sp>
        <p:nvSpPr>
          <p:cNvPr id="505891" name="Text Box 35"/>
          <p:cNvSpPr txBox="1">
            <a:spLocks noChangeArrowheads="1"/>
          </p:cNvSpPr>
          <p:nvPr/>
        </p:nvSpPr>
        <p:spPr bwMode="auto">
          <a:xfrm>
            <a:off x="7207647" y="1655764"/>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145.13.7.34</a:t>
            </a:r>
          </a:p>
        </p:txBody>
      </p:sp>
      <p:sp>
        <p:nvSpPr>
          <p:cNvPr id="505892" name="Text Box 36"/>
          <p:cNvSpPr txBox="1">
            <a:spLocks noChangeArrowheads="1"/>
          </p:cNvSpPr>
          <p:nvPr/>
        </p:nvSpPr>
        <p:spPr bwMode="auto">
          <a:xfrm>
            <a:off x="8187929" y="2044701"/>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145.13.7.35</a:t>
            </a:r>
          </a:p>
        </p:txBody>
      </p:sp>
      <p:sp>
        <p:nvSpPr>
          <p:cNvPr id="505893" name="Text Box 37"/>
          <p:cNvSpPr txBox="1">
            <a:spLocks noChangeArrowheads="1"/>
          </p:cNvSpPr>
          <p:nvPr/>
        </p:nvSpPr>
        <p:spPr bwMode="auto">
          <a:xfrm>
            <a:off x="8151813" y="4040189"/>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145.13.7.56</a:t>
            </a:r>
          </a:p>
        </p:txBody>
      </p:sp>
      <p:sp>
        <p:nvSpPr>
          <p:cNvPr id="505894" name="Text Box 38"/>
          <p:cNvSpPr txBox="1">
            <a:spLocks noChangeArrowheads="1"/>
          </p:cNvSpPr>
          <p:nvPr/>
        </p:nvSpPr>
        <p:spPr bwMode="auto">
          <a:xfrm>
            <a:off x="3056632" y="5445398"/>
            <a:ext cx="17427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145.13.21.23</a:t>
            </a:r>
          </a:p>
        </p:txBody>
      </p:sp>
      <p:sp>
        <p:nvSpPr>
          <p:cNvPr id="505895" name="Text Box 39"/>
          <p:cNvSpPr txBox="1">
            <a:spLocks noChangeArrowheads="1"/>
          </p:cNvSpPr>
          <p:nvPr/>
        </p:nvSpPr>
        <p:spPr bwMode="auto">
          <a:xfrm>
            <a:off x="4525333" y="5743848"/>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145.13.21.9</a:t>
            </a:r>
          </a:p>
        </p:txBody>
      </p:sp>
      <p:sp>
        <p:nvSpPr>
          <p:cNvPr id="505896" name="Text Box 40"/>
          <p:cNvSpPr txBox="1">
            <a:spLocks noChangeArrowheads="1"/>
          </p:cNvSpPr>
          <p:nvPr/>
        </p:nvSpPr>
        <p:spPr bwMode="auto">
          <a:xfrm>
            <a:off x="5720588" y="6066110"/>
            <a:ext cx="1537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145.13.21.8</a:t>
            </a:r>
          </a:p>
        </p:txBody>
      </p:sp>
      <p:sp>
        <p:nvSpPr>
          <p:cNvPr id="505897" name="Line 41"/>
          <p:cNvSpPr>
            <a:spLocks noChangeShapeType="1"/>
          </p:cNvSpPr>
          <p:nvPr/>
        </p:nvSpPr>
        <p:spPr bwMode="auto">
          <a:xfrm flipV="1">
            <a:off x="3539892" y="4807223"/>
            <a:ext cx="3417227" cy="14287"/>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98" name="Line 42"/>
          <p:cNvSpPr>
            <a:spLocks noChangeShapeType="1"/>
          </p:cNvSpPr>
          <p:nvPr/>
        </p:nvSpPr>
        <p:spPr bwMode="auto">
          <a:xfrm>
            <a:off x="3273614" y="2790825"/>
            <a:ext cx="3351875"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899" name="Text Box 43"/>
          <p:cNvSpPr txBox="1">
            <a:spLocks noChangeArrowheads="1"/>
          </p:cNvSpPr>
          <p:nvPr/>
        </p:nvSpPr>
        <p:spPr bwMode="auto">
          <a:xfrm>
            <a:off x="4453102" y="4951685"/>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t>
            </a:r>
          </a:p>
        </p:txBody>
      </p:sp>
      <p:sp>
        <p:nvSpPr>
          <p:cNvPr id="505900" name="Text Box 44"/>
          <p:cNvSpPr txBox="1">
            <a:spLocks noChangeArrowheads="1"/>
          </p:cNvSpPr>
          <p:nvPr/>
        </p:nvSpPr>
        <p:spPr bwMode="auto">
          <a:xfrm>
            <a:off x="4922895" y="1857376"/>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t>
            </a:r>
          </a:p>
        </p:txBody>
      </p:sp>
      <p:sp>
        <p:nvSpPr>
          <p:cNvPr id="505901" name="Line 45"/>
          <p:cNvSpPr>
            <a:spLocks noChangeShapeType="1"/>
          </p:cNvSpPr>
          <p:nvPr/>
        </p:nvSpPr>
        <p:spPr bwMode="auto">
          <a:xfrm rot="5400000">
            <a:off x="7017808" y="3797300"/>
            <a:ext cx="233680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5902" name="Text Box 46"/>
          <p:cNvSpPr txBox="1">
            <a:spLocks noChangeArrowheads="1"/>
          </p:cNvSpPr>
          <p:nvPr/>
        </p:nvSpPr>
        <p:spPr bwMode="auto">
          <a:xfrm rot="5400000">
            <a:off x="8691389" y="3519458"/>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t>
            </a:r>
          </a:p>
        </p:txBody>
      </p:sp>
      <p:sp>
        <p:nvSpPr>
          <p:cNvPr id="505903" name="Text Box 47"/>
          <p:cNvSpPr txBox="1">
            <a:spLocks noChangeArrowheads="1"/>
          </p:cNvSpPr>
          <p:nvPr/>
        </p:nvSpPr>
        <p:spPr bwMode="auto">
          <a:xfrm>
            <a:off x="4382590" y="4410348"/>
            <a:ext cx="21242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子网 </a:t>
            </a:r>
            <a:r>
              <a:rPr kumimoji="1" lang="en-US" altLang="zh-CN" sz="2000" b="1">
                <a:solidFill>
                  <a:srgbClr val="0000CC"/>
                </a:solidFill>
                <a:latin typeface="+mn-lt"/>
                <a:ea typeface="黑体" pitchFamily="2" charset="-122"/>
              </a:rPr>
              <a:t>145.13.21.0</a:t>
            </a:r>
          </a:p>
        </p:txBody>
      </p:sp>
      <p:sp>
        <p:nvSpPr>
          <p:cNvPr id="505904" name="Text Box 48"/>
          <p:cNvSpPr txBox="1">
            <a:spLocks noChangeArrowheads="1"/>
          </p:cNvSpPr>
          <p:nvPr/>
        </p:nvSpPr>
        <p:spPr bwMode="auto">
          <a:xfrm>
            <a:off x="4288292" y="2816226"/>
            <a:ext cx="19816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子网 </a:t>
            </a:r>
            <a:r>
              <a:rPr kumimoji="1" lang="en-US" altLang="zh-CN" sz="2000" b="1">
                <a:solidFill>
                  <a:srgbClr val="0000CC"/>
                </a:solidFill>
                <a:latin typeface="+mn-lt"/>
                <a:ea typeface="黑体" pitchFamily="2" charset="-122"/>
              </a:rPr>
              <a:t>145.13.3.0</a:t>
            </a:r>
          </a:p>
        </p:txBody>
      </p:sp>
      <p:sp>
        <p:nvSpPr>
          <p:cNvPr id="505905" name="Text Box 49"/>
          <p:cNvSpPr txBox="1">
            <a:spLocks noChangeArrowheads="1"/>
          </p:cNvSpPr>
          <p:nvPr/>
        </p:nvSpPr>
        <p:spPr bwMode="auto">
          <a:xfrm>
            <a:off x="6512852" y="3262314"/>
            <a:ext cx="139493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    </a:t>
            </a:r>
            <a:r>
              <a:rPr kumimoji="1" lang="zh-CN" altLang="en-US" sz="2000" b="1">
                <a:solidFill>
                  <a:srgbClr val="0000CC"/>
                </a:solidFill>
                <a:latin typeface="+mn-lt"/>
                <a:ea typeface="黑体" pitchFamily="2" charset="-122"/>
              </a:rPr>
              <a:t>子网 </a:t>
            </a:r>
          </a:p>
          <a:p>
            <a:r>
              <a:rPr kumimoji="1" lang="en-US" altLang="zh-CN" sz="2000" b="1">
                <a:solidFill>
                  <a:srgbClr val="0000CC"/>
                </a:solidFill>
                <a:latin typeface="+mn-lt"/>
                <a:ea typeface="黑体" pitchFamily="2" charset="-122"/>
              </a:rPr>
              <a:t>145.13.7.0</a:t>
            </a:r>
          </a:p>
        </p:txBody>
      </p:sp>
      <p:pic>
        <p:nvPicPr>
          <p:cNvPr id="505906" name="Picture 5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055" y="4643438"/>
            <a:ext cx="754988"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05907" name="Picture 5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055" y="2389188"/>
            <a:ext cx="754988"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05908" name="AutoShape 52"/>
          <p:cNvSpPr>
            <a:spLocks noChangeArrowheads="1"/>
          </p:cNvSpPr>
          <p:nvPr/>
        </p:nvSpPr>
        <p:spPr bwMode="auto">
          <a:xfrm>
            <a:off x="141022" y="1196752"/>
            <a:ext cx="2512617" cy="1073374"/>
          </a:xfrm>
          <a:prstGeom prst="wedgeRoundRectCallout">
            <a:avLst>
              <a:gd name="adj1" fmla="val 47574"/>
              <a:gd name="adj2" fmla="val 193336"/>
              <a:gd name="adj3" fmla="val 16667"/>
            </a:avLst>
          </a:prstGeom>
          <a:solidFill>
            <a:srgbClr val="FFFF99"/>
          </a:solidFill>
          <a:ln w="9525">
            <a:solidFill>
              <a:srgbClr val="333399"/>
            </a:solidFill>
            <a:miter lim="800000"/>
            <a:headEnd/>
            <a:tailEnd/>
          </a:ln>
          <a:effectLst>
            <a:outerShdw dist="35921" dir="2700000" algn="ctr" rotWithShape="0">
              <a:schemeClr val="bg2"/>
            </a:outerShdw>
          </a:effectLst>
        </p:spPr>
        <p:txBody>
          <a:bodyPr/>
          <a:lstStyle/>
          <a:p>
            <a:pPr algn="ctr"/>
            <a:endParaRPr kumimoji="1" lang="zh-CN" altLang="zh-CN" sz="2000" b="1">
              <a:solidFill>
                <a:srgbClr val="0000CC"/>
              </a:solidFill>
              <a:latin typeface="+mn-lt"/>
              <a:ea typeface="黑体" pitchFamily="2" charset="-122"/>
            </a:endParaRPr>
          </a:p>
        </p:txBody>
      </p:sp>
      <p:sp>
        <p:nvSpPr>
          <p:cNvPr id="505909" name="Text Box 53"/>
          <p:cNvSpPr txBox="1">
            <a:spLocks noChangeArrowheads="1"/>
          </p:cNvSpPr>
          <p:nvPr/>
        </p:nvSpPr>
        <p:spPr bwMode="auto">
          <a:xfrm>
            <a:off x="144884" y="1189201"/>
            <a:ext cx="250875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b="1" dirty="0">
                <a:solidFill>
                  <a:srgbClr val="0000CC"/>
                </a:solidFill>
                <a:latin typeface="+mn-lt"/>
                <a:ea typeface="黑体" pitchFamily="2" charset="-122"/>
              </a:rPr>
              <a:t>所有到达网络</a:t>
            </a:r>
            <a:r>
              <a:rPr kumimoji="1" lang="en-US" altLang="zh-CN" sz="2000" b="1" dirty="0">
                <a:solidFill>
                  <a:srgbClr val="0000CC"/>
                </a:solidFill>
                <a:latin typeface="+mn-lt"/>
                <a:ea typeface="黑体" pitchFamily="2" charset="-122"/>
              </a:rPr>
              <a:t>145.13.0.0 </a:t>
            </a:r>
            <a:r>
              <a:rPr kumimoji="1" lang="zh-CN" altLang="en-US" sz="2000" b="1" dirty="0">
                <a:solidFill>
                  <a:srgbClr val="0000CC"/>
                </a:solidFill>
                <a:latin typeface="+mn-lt"/>
                <a:ea typeface="黑体" pitchFamily="2" charset="-122"/>
              </a:rPr>
              <a:t>的分组均到达此路由器</a:t>
            </a:r>
          </a:p>
        </p:txBody>
      </p:sp>
      <p:sp>
        <p:nvSpPr>
          <p:cNvPr id="505912" name="Text Box 56"/>
          <p:cNvSpPr txBox="1">
            <a:spLocks noChangeArrowheads="1"/>
          </p:cNvSpPr>
          <p:nvPr/>
        </p:nvSpPr>
        <p:spPr bwMode="auto">
          <a:xfrm>
            <a:off x="7519509" y="5680075"/>
            <a:ext cx="1885453"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800" b="1" dirty="0">
                <a:solidFill>
                  <a:srgbClr val="0000CC"/>
                </a:solidFill>
                <a:latin typeface="+mn-lt"/>
                <a:ea typeface="黑体" pitchFamily="2" charset="-122"/>
              </a:rPr>
              <a:t>网络</a:t>
            </a:r>
          </a:p>
          <a:p>
            <a:pPr algn="ctr"/>
            <a:r>
              <a:rPr kumimoji="1" lang="en-US" altLang="zh-CN" sz="2800" b="1" dirty="0">
                <a:solidFill>
                  <a:srgbClr val="0000CC"/>
                </a:solidFill>
                <a:latin typeface="+mn-lt"/>
                <a:ea typeface="黑体" pitchFamily="2" charset="-122"/>
              </a:rPr>
              <a:t>145.13.0.0</a:t>
            </a:r>
          </a:p>
        </p:txBody>
      </p:sp>
      <p:sp>
        <p:nvSpPr>
          <p:cNvPr id="505913" name="Text Box 57"/>
          <p:cNvSpPr txBox="1">
            <a:spLocks noChangeArrowheads="1"/>
          </p:cNvSpPr>
          <p:nvPr/>
        </p:nvSpPr>
        <p:spPr bwMode="auto">
          <a:xfrm>
            <a:off x="2491465" y="4105548"/>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C00000"/>
                </a:solidFill>
                <a:latin typeface="+mn-lt"/>
                <a:ea typeface="黑体" pitchFamily="2" charset="-122"/>
              </a:rPr>
              <a:t>R</a:t>
            </a:r>
            <a:r>
              <a:rPr kumimoji="1" lang="en-US" altLang="zh-CN" sz="2400" b="1" baseline="-25000">
                <a:solidFill>
                  <a:srgbClr val="C00000"/>
                </a:solidFill>
                <a:latin typeface="+mn-lt"/>
                <a:ea typeface="黑体" pitchFamily="2" charset="-122"/>
              </a:rPr>
              <a:t>1</a:t>
            </a:r>
          </a:p>
        </p:txBody>
      </p:sp>
      <p:sp>
        <p:nvSpPr>
          <p:cNvPr id="505914" name="Text Box 58"/>
          <p:cNvSpPr txBox="1">
            <a:spLocks noChangeArrowheads="1"/>
          </p:cNvSpPr>
          <p:nvPr/>
        </p:nvSpPr>
        <p:spPr bwMode="auto">
          <a:xfrm>
            <a:off x="332202" y="4284664"/>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R</a:t>
            </a:r>
            <a:r>
              <a:rPr kumimoji="1" lang="en-US" altLang="zh-CN" sz="2400" b="1" baseline="-25000" dirty="0">
                <a:solidFill>
                  <a:srgbClr val="C00000"/>
                </a:solidFill>
                <a:latin typeface="+mn-lt"/>
                <a:ea typeface="黑体" pitchFamily="2" charset="-122"/>
              </a:rPr>
              <a:t>3</a:t>
            </a:r>
          </a:p>
        </p:txBody>
      </p:sp>
      <p:sp>
        <p:nvSpPr>
          <p:cNvPr id="505915" name="Text Box 59"/>
          <p:cNvSpPr txBox="1">
            <a:spLocks noChangeArrowheads="1"/>
          </p:cNvSpPr>
          <p:nvPr/>
        </p:nvSpPr>
        <p:spPr bwMode="auto">
          <a:xfrm>
            <a:off x="409593" y="2746376"/>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R</a:t>
            </a:r>
            <a:r>
              <a:rPr kumimoji="1" lang="en-US" altLang="zh-CN" sz="2400" b="1" baseline="-25000" dirty="0">
                <a:solidFill>
                  <a:srgbClr val="C00000"/>
                </a:solidFill>
                <a:latin typeface="+mn-lt"/>
                <a:ea typeface="黑体" pitchFamily="2" charset="-122"/>
              </a:rPr>
              <a:t>2</a:t>
            </a:r>
          </a:p>
        </p:txBody>
      </p:sp>
      <p:sp>
        <p:nvSpPr>
          <p:cNvPr id="2" name="右箭头 1"/>
          <p:cNvSpPr/>
          <p:nvPr/>
        </p:nvSpPr>
        <p:spPr bwMode="auto">
          <a:xfrm rot="2390318">
            <a:off x="1397001" y="3051106"/>
            <a:ext cx="786308" cy="250882"/>
          </a:xfrm>
          <a:prstGeom prst="rightArrow">
            <a:avLst>
              <a:gd name="adj1" fmla="val 50000"/>
              <a:gd name="adj2" fmla="val 8380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62" name="右箭头 61"/>
          <p:cNvSpPr/>
          <p:nvPr/>
        </p:nvSpPr>
        <p:spPr bwMode="auto">
          <a:xfrm rot="19808815">
            <a:off x="1303984" y="4119145"/>
            <a:ext cx="786308" cy="250882"/>
          </a:xfrm>
          <a:prstGeom prst="rightArrow">
            <a:avLst>
              <a:gd name="adj1" fmla="val 50000"/>
              <a:gd name="adj2" fmla="val 8380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286527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3" name="Rectangle 3"/>
          <p:cNvSpPr>
            <a:spLocks noGrp="1" noChangeArrowheads="1"/>
          </p:cNvSpPr>
          <p:nvPr>
            <p:ph type="title"/>
          </p:nvPr>
        </p:nvSpPr>
        <p:spPr/>
        <p:txBody>
          <a:bodyPr/>
          <a:lstStyle/>
          <a:p>
            <a:pPr algn="ctr"/>
            <a:r>
              <a:rPr lang="zh-CN" altLang="en-US" dirty="0"/>
              <a:t>划分子网后变成了三级结构 </a:t>
            </a:r>
          </a:p>
        </p:txBody>
      </p:sp>
      <p:sp>
        <p:nvSpPr>
          <p:cNvPr id="506882" name="Rectangle 2"/>
          <p:cNvSpPr>
            <a:spLocks noGrp="1" noChangeArrowheads="1"/>
          </p:cNvSpPr>
          <p:nvPr>
            <p:ph idx="1"/>
          </p:nvPr>
        </p:nvSpPr>
        <p:spPr/>
        <p:txBody>
          <a:bodyPr/>
          <a:lstStyle/>
          <a:p>
            <a:pPr algn="just"/>
            <a:r>
              <a:rPr lang="zh-CN" altLang="en-US" dirty="0"/>
              <a:t>当没有划分子网时，</a:t>
            </a:r>
            <a:r>
              <a:rPr lang="en-US" altLang="zh-CN" dirty="0"/>
              <a:t>IP </a:t>
            </a:r>
            <a:r>
              <a:rPr lang="zh-CN" altLang="en-US" dirty="0"/>
              <a:t>地址是两级结构。</a:t>
            </a:r>
          </a:p>
          <a:p>
            <a:pPr algn="just"/>
            <a:r>
              <a:rPr lang="zh-CN" altLang="en-US" dirty="0"/>
              <a:t>划分子网后 </a:t>
            </a:r>
            <a:r>
              <a:rPr lang="en-US" altLang="zh-CN" dirty="0"/>
              <a:t>IP </a:t>
            </a:r>
            <a:r>
              <a:rPr lang="zh-CN" altLang="en-US" dirty="0"/>
              <a:t>地址就变成了</a:t>
            </a:r>
            <a:r>
              <a:rPr lang="zh-CN" altLang="en-US" dirty="0">
                <a:solidFill>
                  <a:srgbClr val="FF0000"/>
                </a:solidFill>
              </a:rPr>
              <a:t>三级结构。</a:t>
            </a:r>
          </a:p>
          <a:p>
            <a:pPr algn="just"/>
            <a:r>
              <a:rPr lang="zh-CN" altLang="en-US" dirty="0"/>
              <a:t>划分子网只是把 </a:t>
            </a:r>
            <a:r>
              <a:rPr lang="en-US" altLang="zh-CN" dirty="0"/>
              <a:t>IP </a:t>
            </a:r>
            <a:r>
              <a:rPr lang="zh-CN" altLang="en-US" dirty="0"/>
              <a:t>地址的主机号 </a:t>
            </a:r>
            <a:r>
              <a:rPr lang="en-US" altLang="zh-CN" dirty="0"/>
              <a:t>host-id </a:t>
            </a:r>
            <a:r>
              <a:rPr lang="zh-CN" altLang="en-US" dirty="0"/>
              <a:t>这部分进行再划分，而</a:t>
            </a:r>
            <a:r>
              <a:rPr lang="zh-CN" altLang="en-US" dirty="0">
                <a:solidFill>
                  <a:srgbClr val="FF0000"/>
                </a:solidFill>
              </a:rPr>
              <a:t>不改变 </a:t>
            </a:r>
            <a:r>
              <a:rPr lang="en-US" altLang="zh-CN" dirty="0">
                <a:solidFill>
                  <a:srgbClr val="FF0000"/>
                </a:solidFill>
              </a:rPr>
              <a:t>IP </a:t>
            </a:r>
            <a:r>
              <a:rPr lang="zh-CN" altLang="en-US" dirty="0">
                <a:solidFill>
                  <a:srgbClr val="FF0000"/>
                </a:solidFill>
              </a:rPr>
              <a:t>地址原来的网络号 </a:t>
            </a:r>
            <a:r>
              <a:rPr lang="en-US" altLang="zh-CN" dirty="0">
                <a:solidFill>
                  <a:srgbClr val="FF0000"/>
                </a:solidFill>
              </a:rPr>
              <a:t>net-id</a:t>
            </a:r>
            <a:r>
              <a:rPr lang="zh-CN" altLang="en-US" dirty="0">
                <a:solidFill>
                  <a:srgbClr val="FF0000"/>
                </a:solidFill>
              </a:rPr>
              <a:t>。 </a:t>
            </a:r>
          </a:p>
        </p:txBody>
      </p:sp>
      <p:grpSp>
        <p:nvGrpSpPr>
          <p:cNvPr id="6" name="组合 5"/>
          <p:cNvGrpSpPr/>
          <p:nvPr/>
        </p:nvGrpSpPr>
        <p:grpSpPr>
          <a:xfrm>
            <a:off x="2199158" y="3836641"/>
            <a:ext cx="5490146" cy="1752599"/>
            <a:chOff x="1839416" y="3501009"/>
            <a:chExt cx="5490146" cy="1752599"/>
          </a:xfrm>
        </p:grpSpPr>
        <p:grpSp>
          <p:nvGrpSpPr>
            <p:cNvPr id="7" name="Group 19"/>
            <p:cNvGrpSpPr>
              <a:grpSpLocks/>
            </p:cNvGrpSpPr>
            <p:nvPr/>
          </p:nvGrpSpPr>
          <p:grpSpPr bwMode="auto">
            <a:xfrm>
              <a:off x="4160912" y="3577204"/>
              <a:ext cx="3168650" cy="500062"/>
              <a:chOff x="2375" y="2045"/>
              <a:chExt cx="1996" cy="430"/>
            </a:xfrm>
          </p:grpSpPr>
          <p:sp>
            <p:nvSpPr>
              <p:cNvPr id="21" name="Line 13"/>
              <p:cNvSpPr>
                <a:spLocks noChangeShapeType="1"/>
              </p:cNvSpPr>
              <p:nvPr/>
            </p:nvSpPr>
            <p:spPr bwMode="auto">
              <a:xfrm>
                <a:off x="4371" y="2045"/>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2" name="Line 14"/>
              <p:cNvSpPr>
                <a:spLocks noChangeShapeType="1"/>
              </p:cNvSpPr>
              <p:nvPr/>
            </p:nvSpPr>
            <p:spPr bwMode="auto">
              <a:xfrm>
                <a:off x="2375" y="2045"/>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8" name="Group 21"/>
            <p:cNvGrpSpPr>
              <a:grpSpLocks/>
            </p:cNvGrpSpPr>
            <p:nvPr/>
          </p:nvGrpSpPr>
          <p:grpSpPr bwMode="auto">
            <a:xfrm>
              <a:off x="1867991" y="3501009"/>
              <a:ext cx="5454650" cy="1728788"/>
              <a:chOff x="755" y="2169"/>
              <a:chExt cx="3436" cy="1089"/>
            </a:xfrm>
          </p:grpSpPr>
          <p:sp>
            <p:nvSpPr>
              <p:cNvPr id="17" name="Line 9"/>
              <p:cNvSpPr>
                <a:spLocks noChangeShapeType="1"/>
              </p:cNvSpPr>
              <p:nvPr/>
            </p:nvSpPr>
            <p:spPr bwMode="auto">
              <a:xfrm>
                <a:off x="755" y="3122"/>
                <a:ext cx="343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8" name="Text Box 10"/>
              <p:cNvSpPr txBox="1">
                <a:spLocks noChangeArrowheads="1"/>
              </p:cNvSpPr>
              <p:nvPr/>
            </p:nvSpPr>
            <p:spPr bwMode="auto">
              <a:xfrm>
                <a:off x="2218" y="2967"/>
                <a:ext cx="581" cy="29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rPr>
                  <a:t>32 </a:t>
                </a: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位</a:t>
                </a:r>
              </a:p>
            </p:txBody>
          </p:sp>
          <p:sp>
            <p:nvSpPr>
              <p:cNvPr id="19" name="Line 15"/>
              <p:cNvSpPr>
                <a:spLocks noChangeShapeType="1"/>
              </p:cNvSpPr>
              <p:nvPr/>
            </p:nvSpPr>
            <p:spPr bwMode="auto">
              <a:xfrm>
                <a:off x="2199" y="2350"/>
                <a:ext cx="1992"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0" name="Text Box 16"/>
              <p:cNvSpPr txBox="1">
                <a:spLocks noChangeArrowheads="1"/>
              </p:cNvSpPr>
              <p:nvPr/>
            </p:nvSpPr>
            <p:spPr bwMode="auto">
              <a:xfrm>
                <a:off x="2789" y="2169"/>
                <a:ext cx="896" cy="29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mn-lt"/>
                    <a:ea typeface="黑体" pitchFamily="2" charset="-122"/>
                  </a:rPr>
                  <a:t>本地地址</a:t>
                </a:r>
              </a:p>
            </p:txBody>
          </p:sp>
        </p:grpSp>
        <p:grpSp>
          <p:nvGrpSpPr>
            <p:cNvPr id="9" name="Group 20"/>
            <p:cNvGrpSpPr>
              <a:grpSpLocks/>
            </p:cNvGrpSpPr>
            <p:nvPr/>
          </p:nvGrpSpPr>
          <p:grpSpPr bwMode="auto">
            <a:xfrm>
              <a:off x="1842591" y="4644008"/>
              <a:ext cx="5486401" cy="609600"/>
              <a:chOff x="739" y="2832"/>
              <a:chExt cx="3456" cy="430"/>
            </a:xfrm>
          </p:grpSpPr>
          <p:sp>
            <p:nvSpPr>
              <p:cNvPr id="15" name="Line 8"/>
              <p:cNvSpPr>
                <a:spLocks noChangeShapeType="1"/>
              </p:cNvSpPr>
              <p:nvPr/>
            </p:nvSpPr>
            <p:spPr bwMode="auto">
              <a:xfrm>
                <a:off x="739" y="2832"/>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6" name="Line 17"/>
              <p:cNvSpPr>
                <a:spLocks noChangeShapeType="1"/>
              </p:cNvSpPr>
              <p:nvPr/>
            </p:nvSpPr>
            <p:spPr bwMode="auto">
              <a:xfrm>
                <a:off x="4195" y="2832"/>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0" name="Group 18"/>
            <p:cNvGrpSpPr>
              <a:grpSpLocks/>
            </p:cNvGrpSpPr>
            <p:nvPr/>
          </p:nvGrpSpPr>
          <p:grpSpPr bwMode="auto">
            <a:xfrm>
              <a:off x="1839416" y="4105856"/>
              <a:ext cx="5482976" cy="612776"/>
              <a:chOff x="737" y="2493"/>
              <a:chExt cx="3894" cy="386"/>
            </a:xfrm>
          </p:grpSpPr>
          <p:sp>
            <p:nvSpPr>
              <p:cNvPr id="11" name="Rectangle 6"/>
              <p:cNvSpPr>
                <a:spLocks noChangeArrowheads="1"/>
              </p:cNvSpPr>
              <p:nvPr/>
            </p:nvSpPr>
            <p:spPr bwMode="auto">
              <a:xfrm>
                <a:off x="737" y="2493"/>
                <a:ext cx="1650" cy="386"/>
              </a:xfrm>
              <a:prstGeom prst="rect">
                <a:avLst/>
              </a:prstGeom>
              <a:solidFill>
                <a:srgbClr val="FFFF66"/>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网络号</a:t>
                </a:r>
                <a:endPar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endParaRPr>
              </a:p>
            </p:txBody>
          </p:sp>
          <p:sp>
            <p:nvSpPr>
              <p:cNvPr id="12" name="Rectangle 7"/>
              <p:cNvSpPr>
                <a:spLocks noChangeArrowheads="1"/>
              </p:cNvSpPr>
              <p:nvPr/>
            </p:nvSpPr>
            <p:spPr bwMode="auto">
              <a:xfrm>
                <a:off x="2387" y="2494"/>
                <a:ext cx="2244" cy="385"/>
              </a:xfrm>
              <a:prstGeom prst="rect">
                <a:avLst/>
              </a:prstGeom>
              <a:solidFill>
                <a:srgbClr val="66FFFF"/>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2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3" name="Rectangle 11"/>
              <p:cNvSpPr>
                <a:spLocks noChangeArrowheads="1"/>
              </p:cNvSpPr>
              <p:nvPr/>
            </p:nvSpPr>
            <p:spPr bwMode="auto">
              <a:xfrm>
                <a:off x="3613" y="2547"/>
                <a:ext cx="967" cy="291"/>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主机号</a:t>
                </a:r>
                <a:endPar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endParaRPr>
              </a:p>
            </p:txBody>
          </p:sp>
          <p:sp>
            <p:nvSpPr>
              <p:cNvPr id="14" name="Rectangle 12"/>
              <p:cNvSpPr>
                <a:spLocks noChangeArrowheads="1"/>
              </p:cNvSpPr>
              <p:nvPr/>
            </p:nvSpPr>
            <p:spPr bwMode="auto">
              <a:xfrm>
                <a:off x="2440" y="2548"/>
                <a:ext cx="1068" cy="284"/>
              </a:xfrm>
              <a:prstGeom prst="rect">
                <a:avLst/>
              </a:prstGeom>
              <a:solidFill>
                <a:srgbClr val="FF66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子网号</a:t>
                </a:r>
                <a:endPar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endParaRPr>
              </a:p>
            </p:txBody>
          </p:sp>
        </p:grpSp>
      </p:grpSp>
    </p:spTree>
    <p:extLst>
      <p:ext uri="{BB962C8B-B14F-4D97-AF65-F5344CB8AC3E}">
        <p14:creationId xmlns:p14="http://schemas.microsoft.com/office/powerpoint/2010/main" val="2530339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666" name="Rectangle 2"/>
          <p:cNvSpPr>
            <a:spLocks noGrp="1" noChangeArrowheads="1"/>
          </p:cNvSpPr>
          <p:nvPr>
            <p:ph type="title"/>
          </p:nvPr>
        </p:nvSpPr>
        <p:spPr/>
        <p:txBody>
          <a:bodyPr/>
          <a:lstStyle/>
          <a:p>
            <a:pPr algn="ctr"/>
            <a:r>
              <a:rPr lang="zh-CN" altLang="en-US" dirty="0"/>
              <a:t>划分子网后变成了三级结构 </a:t>
            </a:r>
            <a:endParaRPr lang="en-US" altLang="zh-CN" dirty="0"/>
          </a:p>
        </p:txBody>
      </p:sp>
      <p:sp>
        <p:nvSpPr>
          <p:cNvPr id="1393667" name="Rectangle 3"/>
          <p:cNvSpPr>
            <a:spLocks noGrp="1" noChangeArrowheads="1"/>
          </p:cNvSpPr>
          <p:nvPr>
            <p:ph type="body" idx="1"/>
          </p:nvPr>
        </p:nvSpPr>
        <p:spPr/>
        <p:txBody>
          <a:bodyPr/>
          <a:lstStyle/>
          <a:p>
            <a:r>
              <a:rPr lang="zh-CN" altLang="en-US" dirty="0">
                <a:solidFill>
                  <a:srgbClr val="FF0000"/>
                </a:solidFill>
              </a:rPr>
              <a:t>优点</a:t>
            </a:r>
          </a:p>
          <a:p>
            <a:pPr lvl="1"/>
            <a:r>
              <a:rPr lang="zh-CN" altLang="en-US" dirty="0"/>
              <a:t>减少了 </a:t>
            </a:r>
            <a:r>
              <a:rPr lang="en-US" altLang="zh-CN" dirty="0"/>
              <a:t>IP </a:t>
            </a:r>
            <a:r>
              <a:rPr lang="zh-CN" altLang="en-US" dirty="0"/>
              <a:t>地址的浪费</a:t>
            </a:r>
          </a:p>
          <a:p>
            <a:pPr lvl="1"/>
            <a:r>
              <a:rPr lang="zh-CN" altLang="en-US" dirty="0"/>
              <a:t>使网络的组织更加灵活</a:t>
            </a:r>
          </a:p>
          <a:p>
            <a:pPr lvl="1"/>
            <a:r>
              <a:rPr lang="zh-CN" altLang="en-US" dirty="0"/>
              <a:t>更便于维护和管理</a:t>
            </a:r>
          </a:p>
          <a:p>
            <a:r>
              <a:rPr lang="zh-CN" altLang="en-US" dirty="0">
                <a:solidFill>
                  <a:srgbClr val="0000FF"/>
                </a:solidFill>
              </a:rPr>
              <a:t>划分子网纯属一个单位内部的事情，对外部网络透明，</a:t>
            </a:r>
            <a:r>
              <a:rPr lang="zh-CN" altLang="en-US" dirty="0"/>
              <a:t>对外仍然表现为没有划分子网的一个网络。</a:t>
            </a:r>
          </a:p>
        </p:txBody>
      </p:sp>
    </p:spTree>
    <p:extLst>
      <p:ext uri="{BB962C8B-B14F-4D97-AF65-F5344CB8AC3E}">
        <p14:creationId xmlns:p14="http://schemas.microsoft.com/office/powerpoint/2010/main" val="1038510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7" name="Rectangle 3"/>
          <p:cNvSpPr>
            <a:spLocks noGrp="1" noChangeArrowheads="1"/>
          </p:cNvSpPr>
          <p:nvPr>
            <p:ph type="title"/>
          </p:nvPr>
        </p:nvSpPr>
        <p:spPr/>
        <p:txBody>
          <a:bodyPr/>
          <a:lstStyle/>
          <a:p>
            <a:r>
              <a:rPr lang="en-US" altLang="zh-CN" dirty="0"/>
              <a:t>2.  </a:t>
            </a:r>
            <a:r>
              <a:rPr lang="zh-CN" altLang="en-US" dirty="0"/>
              <a:t>子网掩码</a:t>
            </a:r>
          </a:p>
        </p:txBody>
      </p:sp>
      <p:sp>
        <p:nvSpPr>
          <p:cNvPr id="507906" name="Rectangle 2"/>
          <p:cNvSpPr>
            <a:spLocks noGrp="1" noChangeArrowheads="1"/>
          </p:cNvSpPr>
          <p:nvPr>
            <p:ph idx="1"/>
          </p:nvPr>
        </p:nvSpPr>
        <p:spPr>
          <a:xfrm>
            <a:off x="416496" y="1196752"/>
            <a:ext cx="9145016" cy="4934173"/>
          </a:xfrm>
        </p:spPr>
        <p:txBody>
          <a:bodyPr/>
          <a:lstStyle/>
          <a:p>
            <a:pPr algn="just"/>
            <a:r>
              <a:rPr lang="zh-CN" altLang="en-US" dirty="0"/>
              <a:t>从一个</a:t>
            </a:r>
            <a:r>
              <a:rPr lang="zh-CN" altLang="en-US" sz="2000" dirty="0"/>
              <a:t> </a:t>
            </a:r>
            <a:r>
              <a:rPr lang="en-US" altLang="zh-CN" dirty="0"/>
              <a:t>IP</a:t>
            </a:r>
            <a:r>
              <a:rPr lang="en-US" altLang="zh-CN" sz="2000" dirty="0"/>
              <a:t> </a:t>
            </a:r>
            <a:r>
              <a:rPr lang="zh-CN" altLang="en-US" dirty="0"/>
              <a:t>数据报的首部并</a:t>
            </a:r>
            <a:r>
              <a:rPr lang="zh-CN" altLang="en-US" dirty="0">
                <a:solidFill>
                  <a:srgbClr val="FF0000"/>
                </a:solidFill>
              </a:rPr>
              <a:t>无法判断</a:t>
            </a:r>
            <a:r>
              <a:rPr lang="zh-CN" altLang="en-US" dirty="0"/>
              <a:t>源主机或目的主机所连接的网络是否进行了子网划分。</a:t>
            </a:r>
          </a:p>
          <a:p>
            <a:pPr algn="just"/>
            <a:r>
              <a:rPr lang="zh-CN" altLang="en-US" dirty="0"/>
              <a:t>使用</a:t>
            </a:r>
            <a:r>
              <a:rPr lang="zh-CN" altLang="en-US" dirty="0">
                <a:solidFill>
                  <a:srgbClr val="FF0000"/>
                </a:solidFill>
              </a:rPr>
              <a:t>子网掩码 </a:t>
            </a:r>
            <a:r>
              <a:rPr lang="en-US" altLang="zh-CN" dirty="0"/>
              <a:t>(subnet mask) </a:t>
            </a:r>
            <a:r>
              <a:rPr lang="zh-CN" altLang="en-US" dirty="0"/>
              <a:t>可以找出 </a:t>
            </a:r>
            <a:r>
              <a:rPr lang="en-US" altLang="zh-CN" dirty="0"/>
              <a:t>IP </a:t>
            </a:r>
            <a:r>
              <a:rPr lang="zh-CN" altLang="en-US" dirty="0"/>
              <a:t>地址中的子网部分。  </a:t>
            </a:r>
            <a:endParaRPr lang="en-US" altLang="zh-CN" dirty="0"/>
          </a:p>
          <a:p>
            <a:pPr>
              <a:buNone/>
            </a:pPr>
            <a:r>
              <a:rPr lang="zh-CN" altLang="en-US" dirty="0">
                <a:solidFill>
                  <a:srgbClr val="0000FF"/>
                </a:solidFill>
              </a:rPr>
              <a:t>规则：</a:t>
            </a:r>
          </a:p>
          <a:p>
            <a:r>
              <a:rPr lang="zh-CN" altLang="en-US" dirty="0"/>
              <a:t>子网掩码长度 ＝ </a:t>
            </a:r>
            <a:r>
              <a:rPr lang="en-US" altLang="zh-CN" dirty="0"/>
              <a:t>32 </a:t>
            </a:r>
            <a:r>
              <a:rPr lang="zh-CN" altLang="en-US" dirty="0"/>
              <a:t>位</a:t>
            </a:r>
          </a:p>
          <a:p>
            <a:r>
              <a:rPr lang="zh-CN" altLang="en-US" dirty="0">
                <a:solidFill>
                  <a:srgbClr val="FF0000"/>
                </a:solidFill>
              </a:rPr>
              <a:t>某位 ＝ </a:t>
            </a:r>
            <a:r>
              <a:rPr lang="en-US" altLang="zh-CN" dirty="0">
                <a:solidFill>
                  <a:srgbClr val="FF0000"/>
                </a:solidFill>
              </a:rPr>
              <a:t>1</a:t>
            </a:r>
            <a:r>
              <a:rPr lang="zh-CN" altLang="en-US" dirty="0">
                <a:solidFill>
                  <a:srgbClr val="FF0000"/>
                </a:solidFill>
              </a:rPr>
              <a:t>：</a:t>
            </a:r>
            <a:r>
              <a:rPr lang="en-US" altLang="zh-CN" dirty="0"/>
              <a:t>IP</a:t>
            </a:r>
            <a:r>
              <a:rPr lang="zh-CN" altLang="en-US" dirty="0"/>
              <a:t>地址中的对应位为网络号和子网号</a:t>
            </a:r>
            <a:endParaRPr lang="en-US" altLang="zh-CN" dirty="0"/>
          </a:p>
          <a:p>
            <a:r>
              <a:rPr lang="zh-CN" altLang="en-US" dirty="0">
                <a:solidFill>
                  <a:srgbClr val="FF0000"/>
                </a:solidFill>
              </a:rPr>
              <a:t>某位 ＝ </a:t>
            </a:r>
            <a:r>
              <a:rPr lang="en-US" altLang="zh-CN" dirty="0">
                <a:solidFill>
                  <a:srgbClr val="FF0000"/>
                </a:solidFill>
              </a:rPr>
              <a:t>0</a:t>
            </a:r>
            <a:r>
              <a:rPr lang="zh-CN" altLang="en-US" dirty="0">
                <a:solidFill>
                  <a:srgbClr val="FF0000"/>
                </a:solidFill>
              </a:rPr>
              <a:t>：</a:t>
            </a:r>
            <a:r>
              <a:rPr lang="en-US" altLang="zh-CN" dirty="0"/>
              <a:t>IP</a:t>
            </a:r>
            <a:r>
              <a:rPr lang="zh-CN" altLang="en-US" dirty="0"/>
              <a:t>地址中的对应位为主机号  </a:t>
            </a:r>
          </a:p>
        </p:txBody>
      </p:sp>
    </p:spTree>
    <p:extLst>
      <p:ext uri="{BB962C8B-B14F-4D97-AF65-F5344CB8AC3E}">
        <p14:creationId xmlns:p14="http://schemas.microsoft.com/office/powerpoint/2010/main" val="30013738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790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790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790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790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79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6" name="Rectangle 4"/>
          <p:cNvSpPr>
            <a:spLocks noGrp="1" noChangeArrowheads="1"/>
          </p:cNvSpPr>
          <p:nvPr>
            <p:ph type="title"/>
          </p:nvPr>
        </p:nvSpPr>
        <p:spPr>
          <a:solidFill>
            <a:srgbClr val="66FF66"/>
          </a:solidFill>
        </p:spPr>
        <p:txBody>
          <a:bodyPr/>
          <a:lstStyle/>
          <a:p>
            <a:pPr algn="ctr"/>
            <a:r>
              <a:rPr lang="en-US" altLang="zh-CN" sz="4000" dirty="0">
                <a:solidFill>
                  <a:srgbClr val="C00000"/>
                </a:solidFill>
              </a:rPr>
              <a:t>(IP </a:t>
            </a:r>
            <a:r>
              <a:rPr lang="zh-CN" altLang="en-US" sz="4000" dirty="0">
                <a:solidFill>
                  <a:srgbClr val="C00000"/>
                </a:solidFill>
              </a:rPr>
              <a:t>地址</a:t>
            </a:r>
            <a:r>
              <a:rPr lang="en-US" altLang="zh-CN" sz="4000" dirty="0">
                <a:solidFill>
                  <a:srgbClr val="C00000"/>
                </a:solidFill>
              </a:rPr>
              <a:t>) AND (</a:t>
            </a:r>
            <a:r>
              <a:rPr lang="zh-CN" altLang="en-US" sz="4000" dirty="0">
                <a:solidFill>
                  <a:srgbClr val="C00000"/>
                </a:solidFill>
              </a:rPr>
              <a:t>子网掩码</a:t>
            </a:r>
            <a:r>
              <a:rPr lang="en-US" altLang="zh-CN" sz="4000" dirty="0">
                <a:solidFill>
                  <a:srgbClr val="C00000"/>
                </a:solidFill>
              </a:rPr>
              <a:t>) =</a:t>
            </a:r>
            <a:r>
              <a:rPr lang="zh-CN" altLang="en-US" sz="4000" dirty="0">
                <a:solidFill>
                  <a:srgbClr val="C00000"/>
                </a:solidFill>
              </a:rPr>
              <a:t>网络地址</a:t>
            </a:r>
          </a:p>
        </p:txBody>
      </p:sp>
      <p:sp>
        <p:nvSpPr>
          <p:cNvPr id="509954" name="Rectangle 2"/>
          <p:cNvSpPr>
            <a:spLocks noChangeArrowheads="1"/>
          </p:cNvSpPr>
          <p:nvPr/>
        </p:nvSpPr>
        <p:spPr bwMode="auto">
          <a:xfrm>
            <a:off x="1993759" y="2890465"/>
            <a:ext cx="7702947" cy="46355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55" name="Rectangle 3"/>
          <p:cNvSpPr>
            <a:spLocks noChangeArrowheads="1"/>
          </p:cNvSpPr>
          <p:nvPr/>
        </p:nvSpPr>
        <p:spPr bwMode="auto">
          <a:xfrm>
            <a:off x="1993759" y="1607765"/>
            <a:ext cx="7702947" cy="463550"/>
          </a:xfrm>
          <a:prstGeom prst="rect">
            <a:avLst/>
          </a:prstGeom>
          <a:solidFill>
            <a:srgbClr val="CCECFF"/>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57" name="Line 5"/>
          <p:cNvSpPr>
            <a:spLocks noChangeShapeType="1"/>
          </p:cNvSpPr>
          <p:nvPr/>
        </p:nvSpPr>
        <p:spPr bwMode="auto">
          <a:xfrm flipV="1">
            <a:off x="2031594" y="3644528"/>
            <a:ext cx="3768064"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9958" name="Line 6"/>
          <p:cNvSpPr>
            <a:spLocks noChangeShapeType="1"/>
          </p:cNvSpPr>
          <p:nvPr/>
        </p:nvSpPr>
        <p:spPr bwMode="auto">
          <a:xfrm flipV="1">
            <a:off x="7748181" y="3644528"/>
            <a:ext cx="1926167" cy="0"/>
          </a:xfrm>
          <a:prstGeom prst="line">
            <a:avLst/>
          </a:prstGeom>
          <a:noFill/>
          <a:ln w="1270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9959" name="Line 7"/>
          <p:cNvSpPr>
            <a:spLocks noChangeShapeType="1"/>
          </p:cNvSpPr>
          <p:nvPr/>
        </p:nvSpPr>
        <p:spPr bwMode="auto">
          <a:xfrm flipV="1">
            <a:off x="5799658" y="3644528"/>
            <a:ext cx="193992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9960" name="Rectangle 8"/>
          <p:cNvSpPr>
            <a:spLocks noChangeArrowheads="1"/>
          </p:cNvSpPr>
          <p:nvPr/>
        </p:nvSpPr>
        <p:spPr bwMode="auto">
          <a:xfrm>
            <a:off x="2009237" y="1620466"/>
            <a:ext cx="3781821" cy="4429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509961" name="Rectangle 9"/>
          <p:cNvSpPr>
            <a:spLocks noChangeArrowheads="1"/>
          </p:cNvSpPr>
          <p:nvPr/>
        </p:nvSpPr>
        <p:spPr bwMode="auto">
          <a:xfrm>
            <a:off x="3354115" y="1601748"/>
            <a:ext cx="1110883" cy="4591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网络号</a:t>
            </a:r>
          </a:p>
        </p:txBody>
      </p:sp>
      <p:sp>
        <p:nvSpPr>
          <p:cNvPr id="509962" name="Rectangle 10"/>
          <p:cNvSpPr>
            <a:spLocks noChangeArrowheads="1"/>
          </p:cNvSpPr>
          <p:nvPr/>
        </p:nvSpPr>
        <p:spPr bwMode="auto">
          <a:xfrm>
            <a:off x="7254602" y="1601748"/>
            <a:ext cx="1110883"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CC"/>
                </a:solidFill>
                <a:latin typeface="+mn-lt"/>
                <a:ea typeface="黑体" pitchFamily="2" charset="-122"/>
              </a:rPr>
              <a:t>主机号</a:t>
            </a:r>
          </a:p>
        </p:txBody>
      </p:sp>
      <p:sp>
        <p:nvSpPr>
          <p:cNvPr id="509963" name="Rectangle 11"/>
          <p:cNvSpPr>
            <a:spLocks noChangeArrowheads="1"/>
          </p:cNvSpPr>
          <p:nvPr/>
        </p:nvSpPr>
        <p:spPr bwMode="auto">
          <a:xfrm>
            <a:off x="413938" y="1620465"/>
            <a:ext cx="159357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两级 </a:t>
            </a:r>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地址</a:t>
            </a:r>
          </a:p>
        </p:txBody>
      </p:sp>
      <p:sp>
        <p:nvSpPr>
          <p:cNvPr id="509964" name="Rectangle 12"/>
          <p:cNvSpPr>
            <a:spLocks noChangeArrowheads="1"/>
          </p:cNvSpPr>
          <p:nvPr/>
        </p:nvSpPr>
        <p:spPr bwMode="auto">
          <a:xfrm>
            <a:off x="3249207" y="3539754"/>
            <a:ext cx="1257168" cy="2619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65" name="Line 13"/>
          <p:cNvSpPr>
            <a:spLocks noChangeShapeType="1"/>
          </p:cNvSpPr>
          <p:nvPr/>
        </p:nvSpPr>
        <p:spPr bwMode="auto">
          <a:xfrm>
            <a:off x="5799658" y="1615704"/>
            <a:ext cx="0" cy="454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66" name="Rectangle 14"/>
          <p:cNvSpPr>
            <a:spLocks noChangeArrowheads="1"/>
          </p:cNvSpPr>
          <p:nvPr/>
        </p:nvSpPr>
        <p:spPr bwMode="auto">
          <a:xfrm>
            <a:off x="3340356" y="3461965"/>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网络号</a:t>
            </a:r>
          </a:p>
        </p:txBody>
      </p:sp>
      <p:sp>
        <p:nvSpPr>
          <p:cNvPr id="509967" name="Rectangle 15"/>
          <p:cNvSpPr>
            <a:spLocks noChangeArrowheads="1"/>
          </p:cNvSpPr>
          <p:nvPr/>
        </p:nvSpPr>
        <p:spPr bwMode="auto">
          <a:xfrm>
            <a:off x="2022995" y="2901578"/>
            <a:ext cx="3754305" cy="442912"/>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68" name="Rectangle 16"/>
          <p:cNvSpPr>
            <a:spLocks noChangeArrowheads="1"/>
          </p:cNvSpPr>
          <p:nvPr/>
        </p:nvSpPr>
        <p:spPr bwMode="auto">
          <a:xfrm>
            <a:off x="413938" y="2901578"/>
            <a:ext cx="159357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三级 </a:t>
            </a:r>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地址</a:t>
            </a:r>
          </a:p>
        </p:txBody>
      </p:sp>
      <p:sp>
        <p:nvSpPr>
          <p:cNvPr id="509969" name="Rectangle 17"/>
          <p:cNvSpPr>
            <a:spLocks noChangeArrowheads="1"/>
          </p:cNvSpPr>
          <p:nvPr/>
        </p:nvSpPr>
        <p:spPr bwMode="auto">
          <a:xfrm>
            <a:off x="8324312" y="3539753"/>
            <a:ext cx="963083" cy="285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70" name="Line 18"/>
          <p:cNvSpPr>
            <a:spLocks noChangeShapeType="1"/>
          </p:cNvSpPr>
          <p:nvPr/>
        </p:nvSpPr>
        <p:spPr bwMode="auto">
          <a:xfrm>
            <a:off x="5799658" y="2899990"/>
            <a:ext cx="0" cy="4508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71" name="Rectangle 19"/>
          <p:cNvSpPr>
            <a:spLocks noChangeArrowheads="1"/>
          </p:cNvSpPr>
          <p:nvPr/>
        </p:nvSpPr>
        <p:spPr bwMode="auto">
          <a:xfrm>
            <a:off x="8226284" y="3450853"/>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主机号</a:t>
            </a:r>
          </a:p>
        </p:txBody>
      </p:sp>
      <p:sp>
        <p:nvSpPr>
          <p:cNvPr id="509972" name="Rectangle 20"/>
          <p:cNvSpPr>
            <a:spLocks noChangeArrowheads="1"/>
          </p:cNvSpPr>
          <p:nvPr/>
        </p:nvSpPr>
        <p:spPr bwMode="auto">
          <a:xfrm>
            <a:off x="6324194" y="3528640"/>
            <a:ext cx="963083" cy="285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73" name="Line 21"/>
          <p:cNvSpPr>
            <a:spLocks noChangeShapeType="1"/>
          </p:cNvSpPr>
          <p:nvPr/>
        </p:nvSpPr>
        <p:spPr bwMode="auto">
          <a:xfrm>
            <a:off x="7748181" y="2887290"/>
            <a:ext cx="0" cy="4524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75" name="Rectangle 23"/>
          <p:cNvSpPr>
            <a:spLocks noChangeArrowheads="1"/>
          </p:cNvSpPr>
          <p:nvPr/>
        </p:nvSpPr>
        <p:spPr bwMode="auto">
          <a:xfrm>
            <a:off x="3360994" y="2920628"/>
            <a:ext cx="1110883" cy="4591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网络号</a:t>
            </a:r>
          </a:p>
        </p:txBody>
      </p:sp>
      <p:sp>
        <p:nvSpPr>
          <p:cNvPr id="509976" name="Rectangle 24"/>
          <p:cNvSpPr>
            <a:spLocks noChangeArrowheads="1"/>
          </p:cNvSpPr>
          <p:nvPr/>
        </p:nvSpPr>
        <p:spPr bwMode="auto">
          <a:xfrm>
            <a:off x="8202207" y="2920628"/>
            <a:ext cx="1110883"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CC"/>
                </a:solidFill>
                <a:latin typeface="+mn-lt"/>
                <a:ea typeface="黑体" pitchFamily="2" charset="-122"/>
              </a:rPr>
              <a:t>主机号</a:t>
            </a:r>
          </a:p>
        </p:txBody>
      </p:sp>
      <p:sp>
        <p:nvSpPr>
          <p:cNvPr id="509977" name="Rectangle 25"/>
          <p:cNvSpPr>
            <a:spLocks noChangeArrowheads="1"/>
          </p:cNvSpPr>
          <p:nvPr/>
        </p:nvSpPr>
        <p:spPr bwMode="auto">
          <a:xfrm>
            <a:off x="6319035" y="2920628"/>
            <a:ext cx="1110883" cy="4591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CC"/>
                </a:solidFill>
                <a:latin typeface="+mn-lt"/>
                <a:ea typeface="黑体" pitchFamily="2" charset="-122"/>
              </a:rPr>
              <a:t>子网号</a:t>
            </a:r>
          </a:p>
        </p:txBody>
      </p:sp>
      <p:sp>
        <p:nvSpPr>
          <p:cNvPr id="509978" name="Rectangle 26"/>
          <p:cNvSpPr>
            <a:spLocks noChangeArrowheads="1"/>
          </p:cNvSpPr>
          <p:nvPr/>
        </p:nvSpPr>
        <p:spPr bwMode="auto">
          <a:xfrm>
            <a:off x="6212408" y="3461965"/>
            <a:ext cx="95218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子网号</a:t>
            </a:r>
          </a:p>
        </p:txBody>
      </p:sp>
      <p:sp>
        <p:nvSpPr>
          <p:cNvPr id="509980" name="Line 28"/>
          <p:cNvSpPr>
            <a:spLocks noChangeShapeType="1"/>
          </p:cNvSpPr>
          <p:nvPr/>
        </p:nvSpPr>
        <p:spPr bwMode="auto">
          <a:xfrm>
            <a:off x="7748181" y="3392116"/>
            <a:ext cx="0" cy="4349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09981" name="Rectangle 29"/>
          <p:cNvSpPr>
            <a:spLocks noChangeArrowheads="1"/>
          </p:cNvSpPr>
          <p:nvPr/>
        </p:nvSpPr>
        <p:spPr bwMode="auto">
          <a:xfrm>
            <a:off x="413938" y="3960440"/>
            <a:ext cx="1593579"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三级 </a:t>
            </a:r>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地址</a:t>
            </a:r>
          </a:p>
          <a:p>
            <a:pPr defTabSz="762000" eaLnBrk="0" hangingPunct="0"/>
            <a:r>
              <a:rPr kumimoji="1" lang="zh-CN" altLang="en-US" sz="2000" b="1">
                <a:solidFill>
                  <a:srgbClr val="0000CC"/>
                </a:solidFill>
                <a:latin typeface="+mn-lt"/>
                <a:ea typeface="黑体" pitchFamily="2" charset="-122"/>
              </a:rPr>
              <a:t>的子网掩码</a:t>
            </a:r>
          </a:p>
        </p:txBody>
      </p:sp>
      <p:sp>
        <p:nvSpPr>
          <p:cNvPr id="509996" name="Line 44"/>
          <p:cNvSpPr>
            <a:spLocks noChangeShapeType="1"/>
          </p:cNvSpPr>
          <p:nvPr/>
        </p:nvSpPr>
        <p:spPr bwMode="auto">
          <a:xfrm>
            <a:off x="5799658" y="3444504"/>
            <a:ext cx="0" cy="4540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09998" name="Rectangle 46"/>
          <p:cNvSpPr>
            <a:spLocks noChangeArrowheads="1"/>
          </p:cNvSpPr>
          <p:nvPr/>
        </p:nvSpPr>
        <p:spPr bwMode="auto">
          <a:xfrm>
            <a:off x="798852" y="4739903"/>
            <a:ext cx="1208665"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000" b="1">
                <a:solidFill>
                  <a:srgbClr val="0000CC"/>
                </a:solidFill>
                <a:latin typeface="+mn-lt"/>
                <a:ea typeface="黑体" pitchFamily="2" charset="-122"/>
              </a:rPr>
              <a:t>子网的</a:t>
            </a:r>
          </a:p>
          <a:p>
            <a:pPr algn="ctr" defTabSz="762000" eaLnBrk="0" hangingPunct="0"/>
            <a:r>
              <a:rPr kumimoji="1" lang="zh-CN" altLang="en-US" sz="2000" b="1">
                <a:solidFill>
                  <a:srgbClr val="0000CC"/>
                </a:solidFill>
                <a:latin typeface="+mn-lt"/>
                <a:ea typeface="黑体" pitchFamily="2" charset="-122"/>
              </a:rPr>
              <a:t>网络地址</a:t>
            </a:r>
          </a:p>
        </p:txBody>
      </p:sp>
      <p:sp>
        <p:nvSpPr>
          <p:cNvPr id="509999" name="Rectangle 47"/>
          <p:cNvSpPr>
            <a:spLocks noChangeArrowheads="1"/>
          </p:cNvSpPr>
          <p:nvPr/>
        </p:nvSpPr>
        <p:spPr bwMode="auto">
          <a:xfrm>
            <a:off x="7730984" y="4033465"/>
            <a:ext cx="1950244" cy="5032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000" name="Rectangle 48"/>
          <p:cNvSpPr>
            <a:spLocks noChangeArrowheads="1"/>
          </p:cNvSpPr>
          <p:nvPr/>
        </p:nvSpPr>
        <p:spPr bwMode="auto">
          <a:xfrm>
            <a:off x="2035033" y="4033465"/>
            <a:ext cx="5695950" cy="5032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510001" name="Group 49"/>
          <p:cNvGrpSpPr>
            <a:grpSpLocks/>
          </p:cNvGrpSpPr>
          <p:nvPr/>
        </p:nvGrpSpPr>
        <p:grpSpPr bwMode="auto">
          <a:xfrm>
            <a:off x="2065990" y="4096966"/>
            <a:ext cx="7639315" cy="412750"/>
            <a:chOff x="1174" y="3062"/>
            <a:chExt cx="4442" cy="260"/>
          </a:xfrm>
        </p:grpSpPr>
        <p:sp>
          <p:nvSpPr>
            <p:cNvPr id="510002" name="Rectangle 50"/>
            <p:cNvSpPr>
              <a:spLocks noChangeArrowheads="1"/>
            </p:cNvSpPr>
            <p:nvPr/>
          </p:nvSpPr>
          <p:spPr bwMode="auto">
            <a:xfrm>
              <a:off x="1174" y="3062"/>
              <a:ext cx="3282" cy="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100" b="1">
                  <a:solidFill>
                    <a:srgbClr val="0000CC"/>
                  </a:solidFill>
                  <a:latin typeface="+mn-lt"/>
                  <a:ea typeface="黑体" pitchFamily="2" charset="-122"/>
                </a:rPr>
                <a:t>1 1 1 1 1 1 1 1 1 1 1 1 1 1 1 1   1 1 1 1 1 1 1 1</a:t>
              </a:r>
            </a:p>
          </p:txBody>
        </p:sp>
        <p:sp>
          <p:nvSpPr>
            <p:cNvPr id="510003" name="Rectangle 51"/>
            <p:cNvSpPr>
              <a:spLocks noChangeArrowheads="1"/>
            </p:cNvSpPr>
            <p:nvPr/>
          </p:nvSpPr>
          <p:spPr bwMode="auto">
            <a:xfrm>
              <a:off x="4510" y="3062"/>
              <a:ext cx="1106" cy="26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100" b="1" dirty="0">
                  <a:solidFill>
                    <a:srgbClr val="0000CC"/>
                  </a:solidFill>
                  <a:latin typeface="+mn-lt"/>
                  <a:ea typeface="黑体" pitchFamily="2" charset="-122"/>
                </a:rPr>
                <a:t>0 0 0 0 0 0 0 0</a:t>
              </a:r>
            </a:p>
          </p:txBody>
        </p:sp>
      </p:grpSp>
      <p:sp>
        <p:nvSpPr>
          <p:cNvPr id="510004" name="Line 52"/>
          <p:cNvSpPr>
            <a:spLocks noChangeShapeType="1"/>
          </p:cNvSpPr>
          <p:nvPr/>
        </p:nvSpPr>
        <p:spPr bwMode="auto">
          <a:xfrm>
            <a:off x="5799658" y="4033465"/>
            <a:ext cx="1719" cy="5032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005" name="Rectangle 53"/>
          <p:cNvSpPr>
            <a:spLocks noChangeArrowheads="1"/>
          </p:cNvSpPr>
          <p:nvPr/>
        </p:nvSpPr>
        <p:spPr bwMode="auto">
          <a:xfrm>
            <a:off x="7730984" y="4897065"/>
            <a:ext cx="1950244" cy="503238"/>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006" name="Rectangle 54"/>
          <p:cNvSpPr>
            <a:spLocks noChangeArrowheads="1"/>
          </p:cNvSpPr>
          <p:nvPr/>
        </p:nvSpPr>
        <p:spPr bwMode="auto">
          <a:xfrm>
            <a:off x="2035033" y="4897065"/>
            <a:ext cx="5695950" cy="503238"/>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007" name="Line 55"/>
          <p:cNvSpPr>
            <a:spLocks noChangeShapeType="1"/>
          </p:cNvSpPr>
          <p:nvPr/>
        </p:nvSpPr>
        <p:spPr bwMode="auto">
          <a:xfrm>
            <a:off x="5799658" y="4897065"/>
            <a:ext cx="1719" cy="5032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009" name="Rectangle 57"/>
          <p:cNvSpPr>
            <a:spLocks noChangeArrowheads="1"/>
          </p:cNvSpPr>
          <p:nvPr/>
        </p:nvSpPr>
        <p:spPr bwMode="auto">
          <a:xfrm>
            <a:off x="3440104" y="4920878"/>
            <a:ext cx="1110883" cy="4591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网络号</a:t>
            </a:r>
          </a:p>
        </p:txBody>
      </p:sp>
      <p:sp>
        <p:nvSpPr>
          <p:cNvPr id="510010" name="Rectangle 58"/>
          <p:cNvSpPr>
            <a:spLocks noChangeArrowheads="1"/>
          </p:cNvSpPr>
          <p:nvPr/>
        </p:nvSpPr>
        <p:spPr bwMode="auto">
          <a:xfrm>
            <a:off x="6239925" y="4920878"/>
            <a:ext cx="1110883" cy="45910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a:solidFill>
                  <a:srgbClr val="0000CC"/>
                </a:solidFill>
                <a:latin typeface="+mn-lt"/>
                <a:ea typeface="黑体" pitchFamily="2" charset="-122"/>
              </a:rPr>
              <a:t>子网号</a:t>
            </a:r>
          </a:p>
        </p:txBody>
      </p:sp>
      <p:sp>
        <p:nvSpPr>
          <p:cNvPr id="510011" name="Rectangle 59"/>
          <p:cNvSpPr>
            <a:spLocks noChangeArrowheads="1"/>
          </p:cNvSpPr>
          <p:nvPr/>
        </p:nvSpPr>
        <p:spPr bwMode="auto">
          <a:xfrm>
            <a:off x="8551324" y="4920878"/>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b="1">
                <a:solidFill>
                  <a:srgbClr val="0000CC"/>
                </a:solidFill>
                <a:latin typeface="+mn-lt"/>
                <a:ea typeface="黑体" pitchFamily="2" charset="-122"/>
              </a:rPr>
              <a:t>0</a:t>
            </a:r>
          </a:p>
        </p:txBody>
      </p:sp>
      <p:sp>
        <p:nvSpPr>
          <p:cNvPr id="510012" name="Rectangle 60"/>
          <p:cNvSpPr>
            <a:spLocks noChangeArrowheads="1"/>
          </p:cNvSpPr>
          <p:nvPr/>
        </p:nvSpPr>
        <p:spPr bwMode="auto">
          <a:xfrm>
            <a:off x="2000672" y="3385766"/>
            <a:ext cx="7711546" cy="600075"/>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600" b="1">
                <a:solidFill>
                  <a:srgbClr val="0000CC"/>
                </a:solidFill>
                <a:latin typeface="+mn-lt"/>
                <a:ea typeface="黑体" pitchFamily="2" charset="-122"/>
              </a:rPr>
              <a:t>逐位进行 </a:t>
            </a:r>
            <a:r>
              <a:rPr lang="en-US" altLang="zh-CN" sz="3600" b="1">
                <a:solidFill>
                  <a:srgbClr val="0000CC"/>
                </a:solidFill>
                <a:latin typeface="+mn-lt"/>
                <a:ea typeface="黑体" pitchFamily="2" charset="-122"/>
              </a:rPr>
              <a:t>AND </a:t>
            </a:r>
            <a:r>
              <a:rPr lang="zh-CN" altLang="en-US" sz="3600" b="1">
                <a:solidFill>
                  <a:srgbClr val="0000CC"/>
                </a:solidFill>
                <a:latin typeface="+mn-lt"/>
                <a:ea typeface="黑体" pitchFamily="2" charset="-122"/>
              </a:rPr>
              <a:t>运算</a:t>
            </a:r>
          </a:p>
        </p:txBody>
      </p:sp>
      <p:sp>
        <p:nvSpPr>
          <p:cNvPr id="510013" name="AutoShape 61"/>
          <p:cNvSpPr>
            <a:spLocks noChangeArrowheads="1"/>
          </p:cNvSpPr>
          <p:nvPr/>
        </p:nvSpPr>
        <p:spPr bwMode="auto">
          <a:xfrm>
            <a:off x="5311237" y="4609729"/>
            <a:ext cx="937286" cy="503237"/>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CC"/>
              </a:solidFill>
              <a:latin typeface="+mn-lt"/>
              <a:ea typeface="黑体" pitchFamily="2" charset="-122"/>
            </a:endParaRPr>
          </a:p>
        </p:txBody>
      </p:sp>
    </p:spTree>
    <p:extLst>
      <p:ext uri="{BB962C8B-B14F-4D97-AF65-F5344CB8AC3E}">
        <p14:creationId xmlns:p14="http://schemas.microsoft.com/office/powerpoint/2010/main" val="941178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496" y="1196752"/>
            <a:ext cx="9249180" cy="5162550"/>
            <a:chOff x="416496" y="1196752"/>
            <a:chExt cx="9249180" cy="5162550"/>
          </a:xfrm>
        </p:grpSpPr>
        <p:sp>
          <p:nvSpPr>
            <p:cNvPr id="511030" name="Rectangle 54"/>
            <p:cNvSpPr>
              <a:spLocks noChangeArrowheads="1"/>
            </p:cNvSpPr>
            <p:nvPr/>
          </p:nvSpPr>
          <p:spPr bwMode="auto">
            <a:xfrm>
              <a:off x="7780473" y="5621114"/>
              <a:ext cx="1721512" cy="496888"/>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11" name="Rectangle 35"/>
            <p:cNvSpPr>
              <a:spLocks noChangeArrowheads="1"/>
            </p:cNvSpPr>
            <p:nvPr/>
          </p:nvSpPr>
          <p:spPr bwMode="auto">
            <a:xfrm>
              <a:off x="2712247" y="5633814"/>
              <a:ext cx="5069946" cy="496888"/>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15" name="Rectangle 39"/>
            <p:cNvSpPr>
              <a:spLocks noChangeArrowheads="1"/>
            </p:cNvSpPr>
            <p:nvPr/>
          </p:nvSpPr>
          <p:spPr bwMode="auto">
            <a:xfrm>
              <a:off x="2664814" y="5676677"/>
              <a:ext cx="5228997"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CC"/>
                  </a:solidFill>
                  <a:latin typeface="+mn-lt"/>
                  <a:ea typeface="黑体" pitchFamily="2" charset="-122"/>
                </a:rPr>
                <a:t>1 1 1 1 1 1 1 1 1 1 1 1 1 1 1 1 1 1 1 1 1 1 1 1</a:t>
              </a:r>
            </a:p>
          </p:txBody>
        </p:sp>
        <p:sp>
          <p:nvSpPr>
            <p:cNvPr id="511020" name="Rectangle 44"/>
            <p:cNvSpPr>
              <a:spLocks noChangeArrowheads="1"/>
            </p:cNvSpPr>
            <p:nvPr/>
          </p:nvSpPr>
          <p:spPr bwMode="auto">
            <a:xfrm>
              <a:off x="7727160" y="5676677"/>
              <a:ext cx="1817806"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0 0 0 0 0 0 0 0</a:t>
              </a:r>
            </a:p>
          </p:txBody>
        </p:sp>
        <p:sp>
          <p:nvSpPr>
            <p:cNvPr id="511029" name="Rectangle 53"/>
            <p:cNvSpPr>
              <a:spLocks noChangeArrowheads="1"/>
            </p:cNvSpPr>
            <p:nvPr/>
          </p:nvSpPr>
          <p:spPr bwMode="auto">
            <a:xfrm>
              <a:off x="6043483" y="3870102"/>
              <a:ext cx="3455062" cy="493712"/>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18" name="Rectangle 42"/>
            <p:cNvSpPr>
              <a:spLocks noChangeArrowheads="1"/>
            </p:cNvSpPr>
            <p:nvPr/>
          </p:nvSpPr>
          <p:spPr bwMode="auto">
            <a:xfrm>
              <a:off x="6050363" y="3909789"/>
              <a:ext cx="3523401"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0 0 0 0 0 0 0 0 0 0 0 0 0 0 0 0</a:t>
              </a:r>
            </a:p>
          </p:txBody>
        </p:sp>
        <p:sp>
          <p:nvSpPr>
            <p:cNvPr id="511005" name="Rectangle 29"/>
            <p:cNvSpPr>
              <a:spLocks noChangeArrowheads="1"/>
            </p:cNvSpPr>
            <p:nvPr/>
          </p:nvSpPr>
          <p:spPr bwMode="auto">
            <a:xfrm>
              <a:off x="2719127" y="3876452"/>
              <a:ext cx="3331236" cy="493712"/>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17" name="Rectangle 41"/>
            <p:cNvSpPr>
              <a:spLocks noChangeArrowheads="1"/>
            </p:cNvSpPr>
            <p:nvPr/>
          </p:nvSpPr>
          <p:spPr bwMode="auto">
            <a:xfrm>
              <a:off x="2654750" y="3909789"/>
              <a:ext cx="3523401" cy="39754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CC"/>
                  </a:solidFill>
                  <a:latin typeface="+mn-lt"/>
                  <a:ea typeface="黑体" pitchFamily="2" charset="-122"/>
                </a:rPr>
                <a:t>1 1 1 1 1 1 1 1 1 1 1 1 1 1 1 1</a:t>
              </a:r>
            </a:p>
          </p:txBody>
        </p:sp>
        <p:sp>
          <p:nvSpPr>
            <p:cNvPr id="510995" name="Rectangle 19"/>
            <p:cNvSpPr>
              <a:spLocks noChangeArrowheads="1"/>
            </p:cNvSpPr>
            <p:nvPr/>
          </p:nvSpPr>
          <p:spPr bwMode="auto">
            <a:xfrm>
              <a:off x="2719127" y="2119090"/>
              <a:ext cx="1736990" cy="493713"/>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28" name="Rectangle 52"/>
            <p:cNvSpPr>
              <a:spLocks noChangeArrowheads="1"/>
            </p:cNvSpPr>
            <p:nvPr/>
          </p:nvSpPr>
          <p:spPr bwMode="auto">
            <a:xfrm>
              <a:off x="4433759" y="2120677"/>
              <a:ext cx="5040710" cy="493712"/>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19" name="Rectangle 43"/>
            <p:cNvSpPr>
              <a:spLocks noChangeArrowheads="1"/>
            </p:cNvSpPr>
            <p:nvPr/>
          </p:nvSpPr>
          <p:spPr bwMode="auto">
            <a:xfrm>
              <a:off x="2668509" y="2168302"/>
              <a:ext cx="1817806"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CC"/>
                  </a:solidFill>
                  <a:latin typeface="+mn-lt"/>
                  <a:ea typeface="黑体" pitchFamily="2" charset="-122"/>
                </a:rPr>
                <a:t>1 1 1 1 1 1 1 1</a:t>
              </a:r>
            </a:p>
          </p:txBody>
        </p:sp>
        <p:sp>
          <p:nvSpPr>
            <p:cNvPr id="511016" name="Rectangle 40"/>
            <p:cNvSpPr>
              <a:spLocks noChangeArrowheads="1"/>
            </p:cNvSpPr>
            <p:nvPr/>
          </p:nvSpPr>
          <p:spPr bwMode="auto">
            <a:xfrm>
              <a:off x="4404523" y="2168302"/>
              <a:ext cx="5228997" cy="39754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0 0 0 0 0 0 0 0 0 0 0 0 0 0 0 0 0 0 0 0 0 0 0 0</a:t>
              </a:r>
            </a:p>
          </p:txBody>
        </p:sp>
        <p:sp>
          <p:nvSpPr>
            <p:cNvPr id="510978" name="Rectangle 2"/>
            <p:cNvSpPr>
              <a:spLocks noChangeArrowheads="1"/>
            </p:cNvSpPr>
            <p:nvPr/>
          </p:nvSpPr>
          <p:spPr bwMode="auto">
            <a:xfrm>
              <a:off x="416496" y="1196752"/>
              <a:ext cx="9249180" cy="51625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79" name="Rectangle 3"/>
            <p:cNvSpPr>
              <a:spLocks noChangeArrowheads="1"/>
            </p:cNvSpPr>
            <p:nvPr/>
          </p:nvSpPr>
          <p:spPr bwMode="auto">
            <a:xfrm>
              <a:off x="2715687" y="4836889"/>
              <a:ext cx="5069946" cy="496888"/>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80" name="Rectangle 4"/>
            <p:cNvSpPr>
              <a:spLocks noChangeArrowheads="1"/>
            </p:cNvSpPr>
            <p:nvPr/>
          </p:nvSpPr>
          <p:spPr bwMode="auto">
            <a:xfrm>
              <a:off x="5142313" y="4857527"/>
              <a:ext cx="952185"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网络号</a:t>
              </a:r>
            </a:p>
          </p:txBody>
        </p:sp>
        <p:sp>
          <p:nvSpPr>
            <p:cNvPr id="510981" name="Line 5"/>
            <p:cNvSpPr>
              <a:spLocks noChangeShapeType="1"/>
            </p:cNvSpPr>
            <p:nvPr/>
          </p:nvSpPr>
          <p:spPr bwMode="auto">
            <a:xfrm>
              <a:off x="7790791" y="4821015"/>
              <a:ext cx="0" cy="5064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82" name="Rectangle 6"/>
            <p:cNvSpPr>
              <a:spLocks noChangeArrowheads="1"/>
            </p:cNvSpPr>
            <p:nvPr/>
          </p:nvSpPr>
          <p:spPr bwMode="auto">
            <a:xfrm>
              <a:off x="2710528" y="4824190"/>
              <a:ext cx="6800056" cy="519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83" name="Rectangle 7"/>
            <p:cNvSpPr>
              <a:spLocks noChangeArrowheads="1"/>
            </p:cNvSpPr>
            <p:nvPr/>
          </p:nvSpPr>
          <p:spPr bwMode="auto">
            <a:xfrm>
              <a:off x="2720845" y="1388840"/>
              <a:ext cx="1700875" cy="493713"/>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84" name="Rectangle 8"/>
            <p:cNvSpPr>
              <a:spLocks noChangeArrowheads="1"/>
            </p:cNvSpPr>
            <p:nvPr/>
          </p:nvSpPr>
          <p:spPr bwMode="auto">
            <a:xfrm>
              <a:off x="4457835" y="1407889"/>
              <a:ext cx="5035550" cy="4826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85" name="Rectangle 9"/>
            <p:cNvSpPr>
              <a:spLocks noChangeArrowheads="1"/>
            </p:cNvSpPr>
            <p:nvPr/>
          </p:nvSpPr>
          <p:spPr bwMode="auto">
            <a:xfrm>
              <a:off x="3124998" y="1441227"/>
              <a:ext cx="952185"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网络号</a:t>
              </a:r>
            </a:p>
          </p:txBody>
        </p:sp>
        <p:sp>
          <p:nvSpPr>
            <p:cNvPr id="510986" name="Rectangle 10"/>
            <p:cNvSpPr>
              <a:spLocks noChangeArrowheads="1"/>
            </p:cNvSpPr>
            <p:nvPr/>
          </p:nvSpPr>
          <p:spPr bwMode="auto">
            <a:xfrm>
              <a:off x="6163869" y="1441227"/>
              <a:ext cx="173284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主机号为全 </a:t>
              </a:r>
              <a:r>
                <a:rPr kumimoji="1" lang="en-US" altLang="zh-CN" sz="2000" b="1">
                  <a:solidFill>
                    <a:srgbClr val="0000CC"/>
                  </a:solidFill>
                  <a:latin typeface="+mn-lt"/>
                  <a:ea typeface="黑体" pitchFamily="2" charset="-122"/>
                </a:rPr>
                <a:t>0</a:t>
              </a:r>
            </a:p>
          </p:txBody>
        </p:sp>
        <p:sp>
          <p:nvSpPr>
            <p:cNvPr id="510987" name="Line 11"/>
            <p:cNvSpPr>
              <a:spLocks noChangeShapeType="1"/>
            </p:cNvSpPr>
            <p:nvPr/>
          </p:nvSpPr>
          <p:spPr bwMode="auto">
            <a:xfrm>
              <a:off x="4437198" y="1384077"/>
              <a:ext cx="0" cy="50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88" name="Rectangle 12"/>
            <p:cNvSpPr>
              <a:spLocks noChangeArrowheads="1"/>
            </p:cNvSpPr>
            <p:nvPr/>
          </p:nvSpPr>
          <p:spPr bwMode="auto">
            <a:xfrm>
              <a:off x="2712247" y="1374552"/>
              <a:ext cx="6803496" cy="520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89" name="Rectangle 13"/>
            <p:cNvSpPr>
              <a:spLocks noChangeArrowheads="1"/>
            </p:cNvSpPr>
            <p:nvPr/>
          </p:nvSpPr>
          <p:spPr bwMode="auto">
            <a:xfrm>
              <a:off x="2715687" y="3098577"/>
              <a:ext cx="3334676" cy="493712"/>
            </a:xfrm>
            <a:prstGeom prst="rect">
              <a:avLst/>
            </a:prstGeom>
            <a:solidFill>
              <a:srgbClr val="CCE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90" name="Rectangle 14"/>
            <p:cNvSpPr>
              <a:spLocks noChangeArrowheads="1"/>
            </p:cNvSpPr>
            <p:nvPr/>
          </p:nvSpPr>
          <p:spPr bwMode="auto">
            <a:xfrm>
              <a:off x="3953937" y="3157314"/>
              <a:ext cx="952185"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网络号</a:t>
              </a:r>
            </a:p>
          </p:txBody>
        </p:sp>
        <p:sp>
          <p:nvSpPr>
            <p:cNvPr id="510991" name="Line 15"/>
            <p:cNvSpPr>
              <a:spLocks noChangeShapeType="1"/>
            </p:cNvSpPr>
            <p:nvPr/>
          </p:nvSpPr>
          <p:spPr bwMode="auto">
            <a:xfrm>
              <a:off x="6071000" y="3093814"/>
              <a:ext cx="0" cy="50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92" name="Rectangle 16"/>
            <p:cNvSpPr>
              <a:spLocks noChangeArrowheads="1"/>
            </p:cNvSpPr>
            <p:nvPr/>
          </p:nvSpPr>
          <p:spPr bwMode="auto">
            <a:xfrm>
              <a:off x="2708807" y="3084289"/>
              <a:ext cx="6801776" cy="5191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94" name="Rectangle 18"/>
            <p:cNvSpPr>
              <a:spLocks noChangeArrowheads="1"/>
            </p:cNvSpPr>
            <p:nvPr/>
          </p:nvSpPr>
          <p:spPr bwMode="auto">
            <a:xfrm>
              <a:off x="7801110" y="4836889"/>
              <a:ext cx="1685396" cy="4826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97" name="Rectangle 21"/>
            <p:cNvSpPr>
              <a:spLocks noChangeArrowheads="1"/>
            </p:cNvSpPr>
            <p:nvPr/>
          </p:nvSpPr>
          <p:spPr bwMode="auto">
            <a:xfrm>
              <a:off x="2710527" y="2104802"/>
              <a:ext cx="6803496" cy="51911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0998" name="Rectangle 22"/>
            <p:cNvSpPr>
              <a:spLocks noChangeArrowheads="1"/>
            </p:cNvSpPr>
            <p:nvPr/>
          </p:nvSpPr>
          <p:spPr bwMode="auto">
            <a:xfrm>
              <a:off x="1315345" y="1441227"/>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000" b="1" dirty="0">
                  <a:solidFill>
                    <a:srgbClr val="0000CC"/>
                  </a:solidFill>
                  <a:latin typeface="+mn-lt"/>
                  <a:ea typeface="黑体" pitchFamily="2" charset="-122"/>
                </a:rPr>
                <a:t>网络地址</a:t>
              </a:r>
            </a:p>
          </p:txBody>
        </p:sp>
        <p:sp>
          <p:nvSpPr>
            <p:cNvPr id="510999" name="Text Box 23"/>
            <p:cNvSpPr txBox="1">
              <a:spLocks noChangeArrowheads="1"/>
            </p:cNvSpPr>
            <p:nvPr/>
          </p:nvSpPr>
          <p:spPr bwMode="auto">
            <a:xfrm>
              <a:off x="488504" y="1357090"/>
              <a:ext cx="441146"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2000" b="1" dirty="0">
                  <a:solidFill>
                    <a:srgbClr val="0000CC"/>
                  </a:solidFill>
                  <a:latin typeface="+mn-lt"/>
                  <a:ea typeface="黑体" pitchFamily="2" charset="-122"/>
                </a:rPr>
                <a:t>A</a:t>
              </a:r>
            </a:p>
            <a:p>
              <a:pPr algn="ctr">
                <a:lnSpc>
                  <a:spcPct val="85000"/>
                </a:lnSpc>
              </a:pPr>
              <a:r>
                <a:rPr kumimoji="1" lang="zh-CN" altLang="en-US" sz="2000" b="1" dirty="0">
                  <a:solidFill>
                    <a:srgbClr val="0000CC"/>
                  </a:solidFill>
                  <a:latin typeface="+mn-lt"/>
                  <a:ea typeface="黑体" pitchFamily="2" charset="-122"/>
                </a:rPr>
                <a:t>类</a:t>
              </a:r>
            </a:p>
            <a:p>
              <a:pPr algn="ctr">
                <a:lnSpc>
                  <a:spcPct val="85000"/>
                </a:lnSpc>
              </a:pPr>
              <a:r>
                <a:rPr kumimoji="1" lang="zh-CN" altLang="en-US" sz="2000" b="1" dirty="0">
                  <a:solidFill>
                    <a:srgbClr val="0000CC"/>
                  </a:solidFill>
                  <a:latin typeface="+mn-lt"/>
                  <a:ea typeface="黑体" pitchFamily="2" charset="-122"/>
                </a:rPr>
                <a:t>地</a:t>
              </a:r>
            </a:p>
            <a:p>
              <a:pPr algn="ctr">
                <a:lnSpc>
                  <a:spcPct val="85000"/>
                </a:lnSpc>
              </a:pPr>
              <a:r>
                <a:rPr kumimoji="1" lang="zh-CN" altLang="en-US" sz="2000" b="1" dirty="0">
                  <a:solidFill>
                    <a:srgbClr val="0000CC"/>
                  </a:solidFill>
                  <a:latin typeface="+mn-lt"/>
                  <a:ea typeface="黑体" pitchFamily="2" charset="-122"/>
                </a:rPr>
                <a:t>址</a:t>
              </a:r>
            </a:p>
          </p:txBody>
        </p:sp>
        <p:sp>
          <p:nvSpPr>
            <p:cNvPr id="511000" name="Rectangle 24"/>
            <p:cNvSpPr>
              <a:spLocks noChangeArrowheads="1"/>
            </p:cNvSpPr>
            <p:nvPr/>
          </p:nvSpPr>
          <p:spPr bwMode="auto">
            <a:xfrm>
              <a:off x="1036507" y="2076228"/>
              <a:ext cx="1721626"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zh-CN" altLang="en-US" sz="2000" b="1">
                  <a:solidFill>
                    <a:srgbClr val="0000CC"/>
                  </a:solidFill>
                  <a:latin typeface="+mn-lt"/>
                  <a:ea typeface="黑体" pitchFamily="2" charset="-122"/>
                </a:rPr>
                <a:t>默认子网掩码</a:t>
              </a:r>
            </a:p>
            <a:p>
              <a:pPr algn="ctr" defTabSz="762000" eaLnBrk="0" hangingPunct="0">
                <a:lnSpc>
                  <a:spcPct val="90000"/>
                </a:lnSpc>
              </a:pPr>
              <a:r>
                <a:rPr kumimoji="1" lang="en-US" altLang="zh-CN" sz="2000" b="1">
                  <a:solidFill>
                    <a:srgbClr val="0000CC"/>
                  </a:solidFill>
                  <a:latin typeface="+mn-lt"/>
                  <a:ea typeface="黑体" pitchFamily="2" charset="-122"/>
                </a:rPr>
                <a:t>255.0.0.0</a:t>
              </a:r>
            </a:p>
          </p:txBody>
        </p:sp>
        <p:sp>
          <p:nvSpPr>
            <p:cNvPr id="511001" name="Rectangle 25"/>
            <p:cNvSpPr>
              <a:spLocks noChangeArrowheads="1"/>
            </p:cNvSpPr>
            <p:nvPr/>
          </p:nvSpPr>
          <p:spPr bwMode="auto">
            <a:xfrm>
              <a:off x="1323944" y="3157314"/>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000" b="1">
                  <a:solidFill>
                    <a:srgbClr val="0000CC"/>
                  </a:solidFill>
                  <a:latin typeface="+mn-lt"/>
                  <a:ea typeface="黑体" pitchFamily="2" charset="-122"/>
                </a:rPr>
                <a:t>网络地址</a:t>
              </a:r>
            </a:p>
          </p:txBody>
        </p:sp>
        <p:sp>
          <p:nvSpPr>
            <p:cNvPr id="511002" name="Text Box 26"/>
            <p:cNvSpPr txBox="1">
              <a:spLocks noChangeArrowheads="1"/>
            </p:cNvSpPr>
            <p:nvPr/>
          </p:nvSpPr>
          <p:spPr bwMode="auto">
            <a:xfrm>
              <a:off x="491083" y="3046190"/>
              <a:ext cx="441146"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2000" b="1" dirty="0">
                  <a:solidFill>
                    <a:srgbClr val="0000CC"/>
                  </a:solidFill>
                  <a:latin typeface="+mn-lt"/>
                  <a:ea typeface="黑体" pitchFamily="2" charset="-122"/>
                </a:rPr>
                <a:t>B</a:t>
              </a:r>
            </a:p>
            <a:p>
              <a:pPr algn="ctr">
                <a:lnSpc>
                  <a:spcPct val="85000"/>
                </a:lnSpc>
              </a:pPr>
              <a:r>
                <a:rPr kumimoji="1" lang="zh-CN" altLang="en-US" sz="2000" b="1" dirty="0">
                  <a:solidFill>
                    <a:srgbClr val="0000CC"/>
                  </a:solidFill>
                  <a:latin typeface="+mn-lt"/>
                  <a:ea typeface="黑体" pitchFamily="2" charset="-122"/>
                </a:rPr>
                <a:t>类</a:t>
              </a:r>
            </a:p>
            <a:p>
              <a:pPr algn="ctr">
                <a:lnSpc>
                  <a:spcPct val="85000"/>
                </a:lnSpc>
              </a:pPr>
              <a:r>
                <a:rPr kumimoji="1" lang="zh-CN" altLang="en-US" sz="2000" b="1" dirty="0">
                  <a:solidFill>
                    <a:srgbClr val="0000CC"/>
                  </a:solidFill>
                  <a:latin typeface="+mn-lt"/>
                  <a:ea typeface="黑体" pitchFamily="2" charset="-122"/>
                </a:rPr>
                <a:t>地</a:t>
              </a:r>
            </a:p>
            <a:p>
              <a:pPr algn="ctr">
                <a:lnSpc>
                  <a:spcPct val="85000"/>
                </a:lnSpc>
              </a:pPr>
              <a:r>
                <a:rPr kumimoji="1" lang="zh-CN" altLang="en-US" sz="2000" b="1" dirty="0">
                  <a:solidFill>
                    <a:srgbClr val="0000CC"/>
                  </a:solidFill>
                  <a:latin typeface="+mn-lt"/>
                  <a:ea typeface="黑体" pitchFamily="2" charset="-122"/>
                </a:rPr>
                <a:t>址</a:t>
              </a:r>
            </a:p>
          </p:txBody>
        </p:sp>
        <p:sp>
          <p:nvSpPr>
            <p:cNvPr id="511003" name="Rectangle 27"/>
            <p:cNvSpPr>
              <a:spLocks noChangeArrowheads="1"/>
            </p:cNvSpPr>
            <p:nvPr/>
          </p:nvSpPr>
          <p:spPr bwMode="auto">
            <a:xfrm>
              <a:off x="1000392" y="3766915"/>
              <a:ext cx="1721626"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zh-CN" altLang="en-US" sz="2000" b="1">
                  <a:solidFill>
                    <a:srgbClr val="0000CC"/>
                  </a:solidFill>
                  <a:latin typeface="+mn-lt"/>
                  <a:ea typeface="黑体" pitchFamily="2" charset="-122"/>
                </a:rPr>
                <a:t>默认子网掩码</a:t>
              </a:r>
            </a:p>
            <a:p>
              <a:pPr algn="ctr" defTabSz="762000" eaLnBrk="0" hangingPunct="0">
                <a:lnSpc>
                  <a:spcPct val="90000"/>
                </a:lnSpc>
              </a:pPr>
              <a:r>
                <a:rPr kumimoji="1" lang="en-US" altLang="zh-CN" sz="2000" b="1">
                  <a:solidFill>
                    <a:srgbClr val="0000CC"/>
                  </a:solidFill>
                  <a:latin typeface="+mn-lt"/>
                  <a:ea typeface="黑体" pitchFamily="2" charset="-122"/>
                </a:rPr>
                <a:t>255.255.0.0</a:t>
              </a:r>
            </a:p>
          </p:txBody>
        </p:sp>
        <p:sp>
          <p:nvSpPr>
            <p:cNvPr id="511007" name="Rectangle 31"/>
            <p:cNvSpPr>
              <a:spLocks noChangeArrowheads="1"/>
            </p:cNvSpPr>
            <p:nvPr/>
          </p:nvSpPr>
          <p:spPr bwMode="auto">
            <a:xfrm>
              <a:off x="2710527" y="3862164"/>
              <a:ext cx="6803496" cy="520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CCE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08" name="Rectangle 32"/>
            <p:cNvSpPr>
              <a:spLocks noChangeArrowheads="1"/>
            </p:cNvSpPr>
            <p:nvPr/>
          </p:nvSpPr>
          <p:spPr bwMode="auto">
            <a:xfrm>
              <a:off x="1323944" y="4884514"/>
              <a:ext cx="12086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2000" b="1" dirty="0">
                  <a:solidFill>
                    <a:srgbClr val="0000CC"/>
                  </a:solidFill>
                  <a:latin typeface="+mn-lt"/>
                  <a:ea typeface="黑体" pitchFamily="2" charset="-122"/>
                </a:rPr>
                <a:t>网络地址</a:t>
              </a:r>
            </a:p>
          </p:txBody>
        </p:sp>
        <p:sp>
          <p:nvSpPr>
            <p:cNvPr id="511009" name="Text Box 33"/>
            <p:cNvSpPr txBox="1">
              <a:spLocks noChangeArrowheads="1"/>
            </p:cNvSpPr>
            <p:nvPr/>
          </p:nvSpPr>
          <p:spPr bwMode="auto">
            <a:xfrm>
              <a:off x="491083" y="4808315"/>
              <a:ext cx="441146"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5000"/>
                </a:lnSpc>
              </a:pPr>
              <a:r>
                <a:rPr kumimoji="1" lang="en-US" altLang="zh-CN" sz="2000" b="1">
                  <a:solidFill>
                    <a:srgbClr val="0000CC"/>
                  </a:solidFill>
                  <a:latin typeface="+mn-lt"/>
                  <a:ea typeface="黑体" pitchFamily="2" charset="-122"/>
                </a:rPr>
                <a:t>C</a:t>
              </a:r>
            </a:p>
            <a:p>
              <a:pPr algn="ctr">
                <a:lnSpc>
                  <a:spcPct val="85000"/>
                </a:lnSpc>
              </a:pPr>
              <a:r>
                <a:rPr kumimoji="1" lang="zh-CN" altLang="en-US" sz="2000" b="1">
                  <a:solidFill>
                    <a:srgbClr val="0000CC"/>
                  </a:solidFill>
                  <a:latin typeface="+mn-lt"/>
                  <a:ea typeface="黑体" pitchFamily="2" charset="-122"/>
                </a:rPr>
                <a:t>类</a:t>
              </a:r>
            </a:p>
            <a:p>
              <a:pPr algn="ctr">
                <a:lnSpc>
                  <a:spcPct val="85000"/>
                </a:lnSpc>
              </a:pPr>
              <a:r>
                <a:rPr kumimoji="1" lang="zh-CN" altLang="en-US" sz="2000" b="1">
                  <a:solidFill>
                    <a:srgbClr val="0000CC"/>
                  </a:solidFill>
                  <a:latin typeface="+mn-lt"/>
                  <a:ea typeface="黑体" pitchFamily="2" charset="-122"/>
                </a:rPr>
                <a:t>地</a:t>
              </a:r>
            </a:p>
            <a:p>
              <a:pPr algn="ctr">
                <a:lnSpc>
                  <a:spcPct val="85000"/>
                </a:lnSpc>
              </a:pPr>
              <a:r>
                <a:rPr kumimoji="1" lang="zh-CN" altLang="en-US" sz="2000" b="1">
                  <a:solidFill>
                    <a:srgbClr val="0000CC"/>
                  </a:solidFill>
                  <a:latin typeface="+mn-lt"/>
                  <a:ea typeface="黑体" pitchFamily="2" charset="-122"/>
                </a:rPr>
                <a:t>址</a:t>
              </a:r>
            </a:p>
          </p:txBody>
        </p:sp>
        <p:sp>
          <p:nvSpPr>
            <p:cNvPr id="511010" name="Rectangle 34"/>
            <p:cNvSpPr>
              <a:spLocks noChangeArrowheads="1"/>
            </p:cNvSpPr>
            <p:nvPr/>
          </p:nvSpPr>
          <p:spPr bwMode="auto">
            <a:xfrm>
              <a:off x="925852" y="5575077"/>
              <a:ext cx="1870706"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90000"/>
                </a:lnSpc>
              </a:pPr>
              <a:r>
                <a:rPr kumimoji="1" lang="zh-CN" altLang="en-US" sz="2000" b="1">
                  <a:solidFill>
                    <a:srgbClr val="0000CC"/>
                  </a:solidFill>
                  <a:latin typeface="+mn-lt"/>
                  <a:ea typeface="黑体" pitchFamily="2" charset="-122"/>
                </a:rPr>
                <a:t>默认子网掩码</a:t>
              </a:r>
            </a:p>
            <a:p>
              <a:pPr algn="ctr" defTabSz="762000" eaLnBrk="0" hangingPunct="0">
                <a:lnSpc>
                  <a:spcPct val="90000"/>
                </a:lnSpc>
              </a:pPr>
              <a:r>
                <a:rPr kumimoji="1" lang="en-US" altLang="zh-CN" sz="2000" b="1">
                  <a:solidFill>
                    <a:srgbClr val="0000CC"/>
                  </a:solidFill>
                  <a:latin typeface="+mn-lt"/>
                  <a:ea typeface="黑体" pitchFamily="2" charset="-122"/>
                </a:rPr>
                <a:t>255.255.255.0</a:t>
              </a:r>
            </a:p>
          </p:txBody>
        </p:sp>
        <p:sp>
          <p:nvSpPr>
            <p:cNvPr id="511013" name="Rectangle 37"/>
            <p:cNvSpPr>
              <a:spLocks noChangeArrowheads="1"/>
            </p:cNvSpPr>
            <p:nvPr/>
          </p:nvSpPr>
          <p:spPr bwMode="auto">
            <a:xfrm>
              <a:off x="2705368" y="5619527"/>
              <a:ext cx="6801776" cy="520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CCE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21" name="Rectangle 45"/>
            <p:cNvSpPr>
              <a:spLocks noChangeArrowheads="1"/>
            </p:cNvSpPr>
            <p:nvPr/>
          </p:nvSpPr>
          <p:spPr bwMode="auto">
            <a:xfrm>
              <a:off x="6081318" y="3096989"/>
              <a:ext cx="3412067" cy="4826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11022" name="Rectangle 46"/>
            <p:cNvSpPr>
              <a:spLocks noChangeArrowheads="1"/>
            </p:cNvSpPr>
            <p:nvPr/>
          </p:nvSpPr>
          <p:spPr bwMode="auto">
            <a:xfrm>
              <a:off x="7752956" y="4862289"/>
              <a:ext cx="173284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主机号为全 </a:t>
              </a:r>
              <a:r>
                <a:rPr kumimoji="1" lang="en-US" altLang="zh-CN" sz="2000" b="1">
                  <a:solidFill>
                    <a:srgbClr val="0000CC"/>
                  </a:solidFill>
                  <a:latin typeface="+mn-lt"/>
                  <a:ea typeface="黑体" pitchFamily="2" charset="-122"/>
                </a:rPr>
                <a:t>0</a:t>
              </a:r>
            </a:p>
          </p:txBody>
        </p:sp>
        <p:sp>
          <p:nvSpPr>
            <p:cNvPr id="511023" name="Rectangle 47"/>
            <p:cNvSpPr>
              <a:spLocks noChangeArrowheads="1"/>
            </p:cNvSpPr>
            <p:nvPr/>
          </p:nvSpPr>
          <p:spPr bwMode="auto">
            <a:xfrm>
              <a:off x="6896500" y="3157314"/>
              <a:ext cx="173284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主机号为全 </a:t>
              </a:r>
              <a:r>
                <a:rPr kumimoji="1" lang="en-US" altLang="zh-CN" sz="2000" b="1">
                  <a:solidFill>
                    <a:srgbClr val="0000CC"/>
                  </a:solidFill>
                  <a:latin typeface="+mn-lt"/>
                  <a:ea typeface="黑体" pitchFamily="2" charset="-122"/>
                </a:rPr>
                <a:t>0</a:t>
              </a:r>
            </a:p>
          </p:txBody>
        </p:sp>
        <p:grpSp>
          <p:nvGrpSpPr>
            <p:cNvPr id="2" name="组合 1"/>
            <p:cNvGrpSpPr/>
            <p:nvPr/>
          </p:nvGrpSpPr>
          <p:grpSpPr>
            <a:xfrm>
              <a:off x="416496" y="2844577"/>
              <a:ext cx="9249180" cy="1757362"/>
              <a:chOff x="24077" y="2916585"/>
              <a:chExt cx="9785615" cy="1757362"/>
            </a:xfrm>
          </p:grpSpPr>
          <p:sp>
            <p:nvSpPr>
              <p:cNvPr id="511024" name="Line 48"/>
              <p:cNvSpPr>
                <a:spLocks noChangeShapeType="1"/>
              </p:cNvSpPr>
              <p:nvPr/>
            </p:nvSpPr>
            <p:spPr bwMode="auto">
              <a:xfrm>
                <a:off x="24077" y="2916585"/>
                <a:ext cx="978561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11025" name="Line 49"/>
              <p:cNvSpPr>
                <a:spLocks noChangeShapeType="1"/>
              </p:cNvSpPr>
              <p:nvPr/>
            </p:nvSpPr>
            <p:spPr bwMode="auto">
              <a:xfrm>
                <a:off x="24077" y="4673947"/>
                <a:ext cx="978561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11026" name="Line 50"/>
            <p:cNvSpPr>
              <a:spLocks noChangeShapeType="1"/>
            </p:cNvSpPr>
            <p:nvPr/>
          </p:nvSpPr>
          <p:spPr bwMode="auto">
            <a:xfrm>
              <a:off x="992560" y="1196752"/>
              <a:ext cx="0" cy="5162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11027" name="Rectangle 51"/>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dirty="0"/>
              <a:t>默认子网掩码 </a:t>
            </a:r>
          </a:p>
        </p:txBody>
      </p:sp>
    </p:spTree>
    <p:extLst>
      <p:ext uri="{BB962C8B-B14F-4D97-AF65-F5344CB8AC3E}">
        <p14:creationId xmlns:p14="http://schemas.microsoft.com/office/powerpoint/2010/main" val="3642637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dirty="0"/>
              <a:t>子网掩码是一个重要属性</a:t>
            </a:r>
          </a:p>
        </p:txBody>
      </p:sp>
      <p:sp>
        <p:nvSpPr>
          <p:cNvPr id="985091" name="Rectangle 3"/>
          <p:cNvSpPr>
            <a:spLocks noGrp="1" noChangeArrowheads="1"/>
          </p:cNvSpPr>
          <p:nvPr>
            <p:ph idx="1"/>
          </p:nvPr>
        </p:nvSpPr>
        <p:spPr/>
        <p:txBody>
          <a:bodyPr/>
          <a:lstStyle/>
          <a:p>
            <a:pPr>
              <a:lnSpc>
                <a:spcPct val="100000"/>
              </a:lnSpc>
            </a:pPr>
            <a:r>
              <a:rPr lang="zh-CN" altLang="en-US" dirty="0">
                <a:solidFill>
                  <a:srgbClr val="FF0000"/>
                </a:solidFill>
              </a:rPr>
              <a:t>子网掩码是一个网络或一个子网的重要属性。</a:t>
            </a:r>
          </a:p>
          <a:p>
            <a:pPr>
              <a:lnSpc>
                <a:spcPct val="100000"/>
              </a:lnSpc>
            </a:pPr>
            <a:r>
              <a:rPr lang="zh-CN" altLang="en-US" dirty="0"/>
              <a:t>路由器在和相邻路由器交换路由信息时，必须把自己所在网络（或子网）的子网掩码告诉相邻路由器。</a:t>
            </a:r>
          </a:p>
          <a:p>
            <a:pPr>
              <a:lnSpc>
                <a:spcPct val="100000"/>
              </a:lnSpc>
            </a:pPr>
            <a:r>
              <a:rPr lang="zh-CN" altLang="en-US" dirty="0"/>
              <a:t>路由器的路由表中的每一个项目，除了要给出目的网络地址外，还必须同时给出该网络的子网掩码。</a:t>
            </a:r>
          </a:p>
          <a:p>
            <a:pPr>
              <a:lnSpc>
                <a:spcPct val="100000"/>
              </a:lnSpc>
            </a:pPr>
            <a:r>
              <a:rPr lang="zh-CN" altLang="en-US" dirty="0"/>
              <a:t>若一个路由器连接在两个子网上就拥有两个网络地址和两个子网掩码。</a:t>
            </a:r>
          </a:p>
        </p:txBody>
      </p:sp>
    </p:spTree>
    <p:extLst>
      <p:ext uri="{BB962C8B-B14F-4D97-AF65-F5344CB8AC3E}">
        <p14:creationId xmlns:p14="http://schemas.microsoft.com/office/powerpoint/2010/main" val="2299539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子网划分方法</a:t>
            </a:r>
          </a:p>
        </p:txBody>
      </p:sp>
      <p:sp>
        <p:nvSpPr>
          <p:cNvPr id="3" name="内容占位符 2"/>
          <p:cNvSpPr>
            <a:spLocks noGrp="1"/>
          </p:cNvSpPr>
          <p:nvPr>
            <p:ph idx="1"/>
          </p:nvPr>
        </p:nvSpPr>
        <p:spPr/>
        <p:txBody>
          <a:bodyPr/>
          <a:lstStyle/>
          <a:p>
            <a:r>
              <a:rPr lang="zh-CN" altLang="en-US" sz="2600" dirty="0"/>
              <a:t>有</a:t>
            </a:r>
            <a:r>
              <a:rPr lang="zh-CN" altLang="en-US" sz="2600" dirty="0">
                <a:solidFill>
                  <a:srgbClr val="FF0000"/>
                </a:solidFill>
              </a:rPr>
              <a:t>固定长度子网</a:t>
            </a:r>
            <a:r>
              <a:rPr lang="zh-CN" altLang="en-US" sz="2600" dirty="0"/>
              <a:t>和</a:t>
            </a:r>
            <a:r>
              <a:rPr lang="zh-CN" altLang="en-US" sz="2600" dirty="0">
                <a:solidFill>
                  <a:srgbClr val="FF0000"/>
                </a:solidFill>
              </a:rPr>
              <a:t>变长子网</a:t>
            </a:r>
            <a:r>
              <a:rPr lang="zh-CN" altLang="en-US" sz="2600" dirty="0"/>
              <a:t>两种子网划分方法。</a:t>
            </a:r>
            <a:endParaRPr lang="en-US" altLang="zh-CN" sz="2600" dirty="0"/>
          </a:p>
          <a:p>
            <a:r>
              <a:rPr lang="zh-CN" altLang="zh-CN" sz="2600" dirty="0">
                <a:solidFill>
                  <a:srgbClr val="0000FF"/>
                </a:solidFill>
              </a:rPr>
              <a:t>在采用固定长度子网时，所划分的所有子网的子网掩码都是相同的</a:t>
            </a:r>
            <a:r>
              <a:rPr lang="zh-CN" altLang="en-US" sz="2600" dirty="0">
                <a:solidFill>
                  <a:srgbClr val="0000FF"/>
                </a:solidFill>
              </a:rPr>
              <a:t>。</a:t>
            </a:r>
            <a:endParaRPr lang="en-US" altLang="zh-CN" sz="2600" dirty="0">
              <a:solidFill>
                <a:srgbClr val="0000FF"/>
              </a:solidFill>
            </a:endParaRPr>
          </a:p>
          <a:p>
            <a:r>
              <a:rPr lang="zh-CN" altLang="zh-CN" sz="2600" dirty="0"/>
              <a:t>虽然根据已成为互联网标准协议的</a:t>
            </a:r>
            <a:r>
              <a:rPr lang="en-US" altLang="zh-CN" sz="2600" dirty="0"/>
              <a:t> RFC 950 </a:t>
            </a:r>
            <a:r>
              <a:rPr lang="zh-CN" altLang="zh-CN" sz="2600" dirty="0"/>
              <a:t>文档，子网号不能为</a:t>
            </a:r>
            <a:r>
              <a:rPr lang="zh-CN" altLang="zh-CN" sz="2600" dirty="0">
                <a:solidFill>
                  <a:srgbClr val="FF0000"/>
                </a:solidFill>
              </a:rPr>
              <a:t>全</a:t>
            </a:r>
            <a:r>
              <a:rPr lang="en-US" altLang="zh-CN" sz="2600" dirty="0">
                <a:solidFill>
                  <a:srgbClr val="FF0000"/>
                </a:solidFill>
              </a:rPr>
              <a:t> 1 </a:t>
            </a:r>
            <a:r>
              <a:rPr lang="zh-CN" altLang="zh-CN" sz="2600" dirty="0"/>
              <a:t>或</a:t>
            </a:r>
            <a:r>
              <a:rPr lang="zh-CN" altLang="zh-CN" sz="2600" dirty="0">
                <a:solidFill>
                  <a:srgbClr val="FF0000"/>
                </a:solidFill>
              </a:rPr>
              <a:t>全</a:t>
            </a:r>
            <a:r>
              <a:rPr lang="en-US" altLang="zh-CN" sz="2600" dirty="0">
                <a:solidFill>
                  <a:srgbClr val="FF0000"/>
                </a:solidFill>
              </a:rPr>
              <a:t> 0</a:t>
            </a:r>
            <a:r>
              <a:rPr lang="zh-CN" altLang="zh-CN" sz="2600" dirty="0">
                <a:solidFill>
                  <a:srgbClr val="FF0000"/>
                </a:solidFill>
              </a:rPr>
              <a:t>，</a:t>
            </a:r>
            <a:r>
              <a:rPr lang="zh-CN" altLang="zh-CN" sz="2600" dirty="0"/>
              <a:t>但随着无分类域间路由选择</a:t>
            </a:r>
            <a:r>
              <a:rPr lang="en-US" altLang="zh-CN" sz="2600" dirty="0"/>
              <a:t> CIDR </a:t>
            </a:r>
            <a:r>
              <a:rPr lang="zh-CN" altLang="zh-CN" sz="2600" dirty="0"/>
              <a:t>的广泛使用</a:t>
            </a:r>
            <a:r>
              <a:rPr lang="zh-CN" altLang="en-US" sz="2600" dirty="0"/>
              <a:t>，</a:t>
            </a:r>
            <a:r>
              <a:rPr lang="zh-CN" altLang="zh-CN" sz="2600" dirty="0"/>
              <a:t>现在全</a:t>
            </a:r>
            <a:r>
              <a:rPr lang="en-US" altLang="zh-CN" sz="2600" dirty="0"/>
              <a:t> 1 </a:t>
            </a:r>
            <a:r>
              <a:rPr lang="zh-CN" altLang="zh-CN" sz="2600" dirty="0"/>
              <a:t>和全</a:t>
            </a:r>
            <a:r>
              <a:rPr lang="en-US" altLang="zh-CN" sz="2600" dirty="0"/>
              <a:t> 0 </a:t>
            </a:r>
            <a:r>
              <a:rPr lang="zh-CN" altLang="zh-CN" sz="2600" dirty="0"/>
              <a:t>的子网号也可以使用了，但一定要谨慎使用，</a:t>
            </a:r>
            <a:r>
              <a:rPr lang="zh-CN" altLang="en-US" sz="2600" dirty="0"/>
              <a:t>确认</a:t>
            </a:r>
            <a:r>
              <a:rPr lang="zh-CN" altLang="zh-CN" sz="2600" dirty="0"/>
              <a:t>你的路由器所用的路由选择软件是否支持全</a:t>
            </a:r>
            <a:r>
              <a:rPr lang="en-US" altLang="zh-CN" sz="2600" dirty="0"/>
              <a:t> 0 </a:t>
            </a:r>
            <a:r>
              <a:rPr lang="zh-CN" altLang="zh-CN" sz="2600" dirty="0"/>
              <a:t>或全</a:t>
            </a:r>
            <a:r>
              <a:rPr lang="en-US" altLang="zh-CN" sz="2600" dirty="0"/>
              <a:t> 1 </a:t>
            </a:r>
            <a:r>
              <a:rPr lang="zh-CN" altLang="zh-CN" sz="2600" dirty="0"/>
              <a:t>的子网号这种较新的用法。</a:t>
            </a:r>
            <a:endParaRPr lang="en-US" altLang="zh-CN" sz="2600" dirty="0"/>
          </a:p>
          <a:p>
            <a:r>
              <a:rPr lang="zh-CN" altLang="zh-CN" sz="2600" dirty="0">
                <a:solidFill>
                  <a:srgbClr val="FF0000"/>
                </a:solidFill>
              </a:rPr>
              <a:t>划分子网增加了灵活性，但却减少了能够连接在网络上的主机总数。</a:t>
            </a:r>
            <a:endParaRPr lang="zh-CN" altLang="en-US" sz="2600" dirty="0">
              <a:solidFill>
                <a:srgbClr val="FF0000"/>
              </a:solidFill>
            </a:endParaRPr>
          </a:p>
        </p:txBody>
      </p:sp>
    </p:spTree>
    <p:extLst>
      <p:ext uri="{BB962C8B-B14F-4D97-AF65-F5344CB8AC3E}">
        <p14:creationId xmlns:p14="http://schemas.microsoft.com/office/powerpoint/2010/main" val="4144968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3" name="Rectangle 3"/>
          <p:cNvSpPr>
            <a:spLocks noGrp="1" noChangeArrowheads="1"/>
          </p:cNvSpPr>
          <p:nvPr>
            <p:ph type="title"/>
          </p:nvPr>
        </p:nvSpPr>
        <p:spPr/>
        <p:txBody>
          <a:bodyPr/>
          <a:lstStyle/>
          <a:p>
            <a:r>
              <a:rPr lang="zh-CN" altLang="en-US" sz="4000" dirty="0"/>
              <a:t>使用子网时分组的转发</a:t>
            </a:r>
          </a:p>
        </p:txBody>
      </p:sp>
      <p:sp>
        <p:nvSpPr>
          <p:cNvPr id="512002" name="Rectangle 2"/>
          <p:cNvSpPr>
            <a:spLocks noGrp="1" noChangeArrowheads="1"/>
          </p:cNvSpPr>
          <p:nvPr>
            <p:ph idx="1"/>
          </p:nvPr>
        </p:nvSpPr>
        <p:spPr/>
        <p:txBody>
          <a:bodyPr/>
          <a:lstStyle/>
          <a:p>
            <a:r>
              <a:rPr lang="zh-CN" altLang="en-US" dirty="0"/>
              <a:t>在不划分子网的两级 </a:t>
            </a:r>
            <a:r>
              <a:rPr lang="en-US" altLang="zh-CN" dirty="0"/>
              <a:t>IP </a:t>
            </a:r>
            <a:r>
              <a:rPr lang="zh-CN" altLang="en-US" dirty="0"/>
              <a:t>地址下，从 </a:t>
            </a:r>
            <a:r>
              <a:rPr lang="en-US" altLang="zh-CN" dirty="0"/>
              <a:t>IP </a:t>
            </a:r>
            <a:r>
              <a:rPr lang="zh-CN" altLang="en-US" dirty="0"/>
              <a:t>地址得出网络地址是个很简单的事。</a:t>
            </a:r>
          </a:p>
          <a:p>
            <a:r>
              <a:rPr lang="zh-CN" altLang="en-US" dirty="0"/>
              <a:t>但在划分子网的情况下，从 </a:t>
            </a:r>
            <a:r>
              <a:rPr lang="en-US" altLang="zh-CN" dirty="0"/>
              <a:t>IP </a:t>
            </a:r>
            <a:r>
              <a:rPr lang="zh-CN" altLang="en-US" dirty="0"/>
              <a:t>地址却不能唯一地得出网络地址来，这是因为网络地址取决于那个网络所采用的子网掩码，但</a:t>
            </a:r>
            <a:r>
              <a:rPr lang="zh-CN" altLang="en-US" dirty="0">
                <a:solidFill>
                  <a:srgbClr val="FF0000"/>
                </a:solidFill>
              </a:rPr>
              <a:t>数据报的首部并没有提供子网掩码的信息。</a:t>
            </a:r>
          </a:p>
          <a:p>
            <a:r>
              <a:rPr lang="zh-CN" altLang="en-US" dirty="0"/>
              <a:t>因此分组转发的算法也必须做相应的改动。 </a:t>
            </a:r>
          </a:p>
        </p:txBody>
      </p:sp>
    </p:spTree>
    <p:extLst>
      <p:ext uri="{BB962C8B-B14F-4D97-AF65-F5344CB8AC3E}">
        <p14:creationId xmlns:p14="http://schemas.microsoft.com/office/powerpoint/2010/main" val="259108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ChangeArrowheads="1"/>
          </p:cNvSpPr>
          <p:nvPr>
            <p:ph type="title"/>
          </p:nvPr>
        </p:nvSpPr>
        <p:spPr/>
        <p:txBody>
          <a:bodyPr/>
          <a:lstStyle/>
          <a:p>
            <a:pPr algn="ctr"/>
            <a:r>
              <a:rPr lang="zh-CN" altLang="en-US" sz="3200" dirty="0"/>
              <a:t>在划分子网情况下路由器转发分组的算法 </a:t>
            </a:r>
          </a:p>
        </p:txBody>
      </p:sp>
      <p:sp>
        <p:nvSpPr>
          <p:cNvPr id="3" name="内容占位符 2"/>
          <p:cNvSpPr>
            <a:spLocks noGrp="1"/>
          </p:cNvSpPr>
          <p:nvPr>
            <p:ph idx="1"/>
          </p:nvPr>
        </p:nvSpPr>
        <p:spPr/>
        <p:txBody>
          <a:bodyPr/>
          <a:lstStyle/>
          <a:p>
            <a:pPr marL="0" indent="0">
              <a:lnSpc>
                <a:spcPct val="100000"/>
              </a:lnSpc>
              <a:spcAft>
                <a:spcPct val="10000"/>
              </a:spcAft>
              <a:buNone/>
            </a:pPr>
            <a:r>
              <a:rPr lang="en-US" altLang="zh-CN" sz="2400" dirty="0"/>
              <a:t>(1) </a:t>
            </a:r>
            <a:r>
              <a:rPr lang="zh-CN" altLang="en-US" sz="2400" dirty="0"/>
              <a:t>从收到的分组的首部提取</a:t>
            </a:r>
            <a:r>
              <a:rPr lang="zh-CN" altLang="en-US" sz="2400" dirty="0">
                <a:solidFill>
                  <a:srgbClr val="FF0000"/>
                </a:solidFill>
              </a:rPr>
              <a:t>目的 </a:t>
            </a:r>
            <a:r>
              <a:rPr lang="en-US" altLang="zh-CN" sz="2400" dirty="0">
                <a:solidFill>
                  <a:srgbClr val="FF0000"/>
                </a:solidFill>
              </a:rPr>
              <a:t>IP </a:t>
            </a:r>
            <a:r>
              <a:rPr lang="zh-CN" altLang="en-US" sz="2400" dirty="0">
                <a:solidFill>
                  <a:srgbClr val="FF0000"/>
                </a:solidFill>
              </a:rPr>
              <a:t>地址 </a:t>
            </a:r>
            <a:r>
              <a:rPr lang="en-US" altLang="zh-CN" sz="2400" dirty="0">
                <a:solidFill>
                  <a:srgbClr val="FF0000"/>
                </a:solidFill>
              </a:rPr>
              <a:t>D</a:t>
            </a:r>
            <a:r>
              <a:rPr lang="zh-CN" altLang="en-US" sz="2400" dirty="0">
                <a:solidFill>
                  <a:srgbClr val="FF0000"/>
                </a:solidFill>
              </a:rPr>
              <a:t>。</a:t>
            </a:r>
          </a:p>
          <a:p>
            <a:pPr marL="0" indent="0">
              <a:lnSpc>
                <a:spcPct val="100000"/>
              </a:lnSpc>
              <a:buNone/>
            </a:pPr>
            <a:r>
              <a:rPr lang="en-US" altLang="zh-CN" sz="2400" dirty="0"/>
              <a:t>(2) </a:t>
            </a:r>
            <a:r>
              <a:rPr lang="zh-CN" altLang="en-US" sz="2400" dirty="0"/>
              <a:t>先用各网络的</a:t>
            </a:r>
            <a:r>
              <a:rPr lang="zh-CN" altLang="en-US" sz="2400" dirty="0">
                <a:solidFill>
                  <a:srgbClr val="FF0000"/>
                </a:solidFill>
              </a:rPr>
              <a:t>子网掩码和 </a:t>
            </a:r>
            <a:r>
              <a:rPr lang="en-US" altLang="zh-CN" sz="2400" i="1" dirty="0">
                <a:solidFill>
                  <a:srgbClr val="FF0000"/>
                </a:solidFill>
              </a:rPr>
              <a:t>D </a:t>
            </a:r>
            <a:r>
              <a:rPr lang="zh-CN" altLang="en-US" sz="2400" dirty="0">
                <a:solidFill>
                  <a:srgbClr val="FF0000"/>
                </a:solidFill>
              </a:rPr>
              <a:t>逐位相“与”</a:t>
            </a:r>
            <a:r>
              <a:rPr lang="zh-CN" altLang="en-US" sz="2400" dirty="0"/>
              <a:t>，看是否和相应的网</a:t>
            </a:r>
            <a:endParaRPr lang="en-US" altLang="zh-CN" sz="2400" dirty="0"/>
          </a:p>
          <a:p>
            <a:pPr marL="0" indent="0">
              <a:lnSpc>
                <a:spcPct val="100000"/>
              </a:lnSpc>
              <a:buNone/>
            </a:pPr>
            <a:r>
              <a:rPr lang="en-US" altLang="zh-CN" sz="2400" dirty="0"/>
              <a:t>     </a:t>
            </a:r>
            <a:r>
              <a:rPr lang="zh-CN" altLang="en-US" sz="2400" dirty="0"/>
              <a:t>络地址匹配。若匹配，则将分组直接</a:t>
            </a:r>
            <a:r>
              <a:rPr lang="zh-CN" altLang="en-US" sz="2400" dirty="0">
                <a:solidFill>
                  <a:srgbClr val="FF0000"/>
                </a:solidFill>
              </a:rPr>
              <a:t>交付。</a:t>
            </a:r>
            <a:r>
              <a:rPr lang="zh-CN" altLang="en-US" sz="2400" dirty="0"/>
              <a:t>否则就是间接交付，</a:t>
            </a:r>
            <a:endParaRPr lang="en-US" altLang="zh-CN" sz="2400" dirty="0"/>
          </a:p>
          <a:p>
            <a:pPr marL="0" indent="0">
              <a:lnSpc>
                <a:spcPct val="100000"/>
              </a:lnSpc>
              <a:buNone/>
            </a:pPr>
            <a:r>
              <a:rPr lang="en-US" altLang="zh-CN" sz="2400" dirty="0"/>
              <a:t>     </a:t>
            </a:r>
            <a:r>
              <a:rPr lang="zh-CN" altLang="en-US" sz="2400" dirty="0"/>
              <a:t>执行 </a:t>
            </a:r>
            <a:r>
              <a:rPr lang="en-US" altLang="zh-CN" sz="2400" dirty="0"/>
              <a:t>(3)</a:t>
            </a:r>
            <a:r>
              <a:rPr lang="zh-CN" altLang="en-US" sz="2400" dirty="0"/>
              <a:t>。</a:t>
            </a:r>
          </a:p>
          <a:p>
            <a:pPr marL="0" indent="0">
              <a:lnSpc>
                <a:spcPct val="100000"/>
              </a:lnSpc>
              <a:buNone/>
            </a:pPr>
            <a:r>
              <a:rPr lang="en-US" altLang="zh-CN" sz="2400" dirty="0"/>
              <a:t>(3) </a:t>
            </a:r>
            <a:r>
              <a:rPr lang="zh-CN" altLang="en-US" sz="2400" dirty="0"/>
              <a:t>若路由表中有目的地址为 </a:t>
            </a:r>
            <a:r>
              <a:rPr lang="en-US" altLang="zh-CN" sz="2400" i="1" dirty="0"/>
              <a:t>D </a:t>
            </a:r>
            <a:r>
              <a:rPr lang="zh-CN" altLang="en-US" sz="2400" dirty="0"/>
              <a:t>的</a:t>
            </a:r>
            <a:r>
              <a:rPr lang="zh-CN" altLang="en-US" sz="2400" dirty="0">
                <a:solidFill>
                  <a:srgbClr val="FF0000"/>
                </a:solidFill>
              </a:rPr>
              <a:t>特定主机路由</a:t>
            </a:r>
            <a:r>
              <a:rPr lang="zh-CN" altLang="en-US" sz="2400" dirty="0"/>
              <a:t>，则将分组传送给</a:t>
            </a:r>
            <a:endParaRPr lang="en-US" altLang="zh-CN" sz="2400" dirty="0"/>
          </a:p>
          <a:p>
            <a:pPr marL="0" indent="0">
              <a:lnSpc>
                <a:spcPct val="100000"/>
              </a:lnSpc>
              <a:buNone/>
            </a:pPr>
            <a:r>
              <a:rPr lang="en-US" altLang="zh-CN" sz="2400" dirty="0"/>
              <a:t>      </a:t>
            </a:r>
            <a:r>
              <a:rPr lang="zh-CN" altLang="en-US" sz="2400" dirty="0"/>
              <a:t>指明的下一跳路由器；否则，执行 </a:t>
            </a:r>
            <a:r>
              <a:rPr lang="en-US" altLang="zh-CN" sz="2400" dirty="0"/>
              <a:t>(4)</a:t>
            </a:r>
            <a:r>
              <a:rPr lang="zh-CN" altLang="en-US" sz="2400" dirty="0"/>
              <a:t>。</a:t>
            </a:r>
          </a:p>
          <a:p>
            <a:pPr marL="449263" indent="-449263">
              <a:lnSpc>
                <a:spcPct val="100000"/>
              </a:lnSpc>
              <a:buNone/>
            </a:pPr>
            <a:r>
              <a:rPr lang="en-US" altLang="zh-CN" sz="2400" dirty="0"/>
              <a:t>(4) </a:t>
            </a:r>
            <a:r>
              <a:rPr lang="zh-CN" altLang="en-US" sz="2400" dirty="0"/>
              <a:t>对路由表中的每一行，将</a:t>
            </a:r>
            <a:r>
              <a:rPr lang="zh-CN" altLang="en-US" sz="2400" dirty="0">
                <a:solidFill>
                  <a:srgbClr val="FF0000"/>
                </a:solidFill>
              </a:rPr>
              <a:t>子网掩码和 </a:t>
            </a:r>
            <a:r>
              <a:rPr lang="en-US" altLang="zh-CN" sz="2400" i="1" dirty="0">
                <a:solidFill>
                  <a:srgbClr val="FF0000"/>
                </a:solidFill>
              </a:rPr>
              <a:t>D </a:t>
            </a:r>
            <a:r>
              <a:rPr lang="zh-CN" altLang="en-US" sz="2400" dirty="0">
                <a:solidFill>
                  <a:srgbClr val="FF0000"/>
                </a:solidFill>
              </a:rPr>
              <a:t>逐位相“与”。</a:t>
            </a:r>
            <a:r>
              <a:rPr lang="zh-CN" altLang="en-US" sz="2400" dirty="0"/>
              <a:t>若结果与该行的目的网络地址匹配，则将分组传送给该行指明的下一跳路由器；否则，执行 </a:t>
            </a:r>
            <a:r>
              <a:rPr lang="en-US" altLang="zh-CN" sz="2400" dirty="0"/>
              <a:t>(5)</a:t>
            </a:r>
            <a:r>
              <a:rPr lang="zh-CN" altLang="en-US" sz="2400" dirty="0"/>
              <a:t>。</a:t>
            </a:r>
          </a:p>
          <a:p>
            <a:pPr marL="0" indent="0">
              <a:lnSpc>
                <a:spcPct val="100000"/>
              </a:lnSpc>
              <a:buNone/>
            </a:pPr>
            <a:r>
              <a:rPr lang="en-US" altLang="zh-CN" sz="2400" dirty="0"/>
              <a:t>(5) </a:t>
            </a:r>
            <a:r>
              <a:rPr lang="zh-CN" altLang="en-US" sz="2400" dirty="0"/>
              <a:t>若路由表中有一个</a:t>
            </a:r>
            <a:r>
              <a:rPr lang="zh-CN" altLang="en-US" sz="2400" dirty="0">
                <a:solidFill>
                  <a:srgbClr val="FF0000"/>
                </a:solidFill>
              </a:rPr>
              <a:t>默认路由，</a:t>
            </a:r>
            <a:r>
              <a:rPr lang="zh-CN" altLang="en-US" sz="2400" dirty="0"/>
              <a:t>则将分组传送给路由表中所指明</a:t>
            </a:r>
            <a:endParaRPr lang="en-US" altLang="zh-CN" sz="2400" dirty="0"/>
          </a:p>
          <a:p>
            <a:pPr marL="0" indent="0">
              <a:lnSpc>
                <a:spcPct val="100000"/>
              </a:lnSpc>
              <a:buNone/>
            </a:pPr>
            <a:r>
              <a:rPr lang="en-US" altLang="zh-CN" sz="2400" dirty="0"/>
              <a:t>     </a:t>
            </a:r>
            <a:r>
              <a:rPr lang="zh-CN" altLang="en-US" sz="2400" dirty="0"/>
              <a:t>的默认路由器；否则，执行 </a:t>
            </a:r>
            <a:r>
              <a:rPr lang="en-US" altLang="zh-CN" sz="2400" dirty="0"/>
              <a:t>(6)</a:t>
            </a:r>
            <a:r>
              <a:rPr lang="zh-CN" altLang="en-US" sz="2400" dirty="0"/>
              <a:t>。</a:t>
            </a:r>
          </a:p>
          <a:p>
            <a:pPr marL="0" indent="0">
              <a:lnSpc>
                <a:spcPct val="100000"/>
              </a:lnSpc>
              <a:buNone/>
            </a:pPr>
            <a:r>
              <a:rPr lang="en-US" altLang="zh-CN" sz="2400" dirty="0"/>
              <a:t>(6) </a:t>
            </a:r>
            <a:r>
              <a:rPr lang="zh-CN" altLang="en-US" sz="2400" dirty="0"/>
              <a:t>报告转发分组出错。</a:t>
            </a:r>
          </a:p>
        </p:txBody>
      </p:sp>
    </p:spTree>
    <p:extLst>
      <p:ext uri="{BB962C8B-B14F-4D97-AF65-F5344CB8AC3E}">
        <p14:creationId xmlns:p14="http://schemas.microsoft.com/office/powerpoint/2010/main" val="2287468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（下）</a:t>
            </a:r>
          </a:p>
        </p:txBody>
      </p:sp>
      <p:sp>
        <p:nvSpPr>
          <p:cNvPr id="3" name="内容占位符 2"/>
          <p:cNvSpPr>
            <a:spLocks noGrp="1"/>
          </p:cNvSpPr>
          <p:nvPr>
            <p:ph idx="1"/>
          </p:nvPr>
        </p:nvSpPr>
        <p:spPr/>
        <p:txBody>
          <a:bodyPr/>
          <a:lstStyle/>
          <a:p>
            <a:pPr>
              <a:lnSpc>
                <a:spcPct val="100000"/>
              </a:lnSpc>
            </a:pPr>
            <a:r>
              <a:rPr lang="zh-CN" altLang="zh-CN" dirty="0">
                <a:solidFill>
                  <a:schemeClr val="bg1">
                    <a:lumMod val="75000"/>
                  </a:schemeClr>
                </a:solidFill>
              </a:rPr>
              <a:t>划分子网</a:t>
            </a:r>
            <a:endParaRPr lang="en-US" altLang="zh-CN" dirty="0">
              <a:solidFill>
                <a:schemeClr val="bg1">
                  <a:lumMod val="75000"/>
                </a:schemeClr>
              </a:solidFill>
            </a:endParaRPr>
          </a:p>
          <a:p>
            <a:pPr>
              <a:lnSpc>
                <a:spcPct val="100000"/>
              </a:lnSpc>
            </a:pPr>
            <a:r>
              <a:rPr lang="zh-CN" altLang="zh-CN" sz="3600" dirty="0">
                <a:solidFill>
                  <a:srgbClr val="FF0000"/>
                </a:solidFill>
              </a:rPr>
              <a:t>构造超网</a:t>
            </a:r>
          </a:p>
          <a:p>
            <a:pPr>
              <a:lnSpc>
                <a:spcPct val="100000"/>
              </a:lnSpc>
            </a:pPr>
            <a:r>
              <a:rPr lang="zh-CN" altLang="zh-CN" dirty="0">
                <a:solidFill>
                  <a:schemeClr val="bg1">
                    <a:lumMod val="75000"/>
                  </a:schemeClr>
                </a:solidFill>
              </a:rPr>
              <a:t>互联网的路由选择协议</a:t>
            </a:r>
          </a:p>
          <a:p>
            <a:pPr>
              <a:lnSpc>
                <a:spcPct val="100000"/>
              </a:lnSpc>
            </a:pPr>
            <a:r>
              <a:rPr lang="en-US" altLang="zh-CN" dirty="0">
                <a:solidFill>
                  <a:schemeClr val="bg1">
                    <a:lumMod val="75000"/>
                  </a:schemeClr>
                </a:solidFill>
              </a:rPr>
              <a:t>IPv6</a:t>
            </a:r>
            <a:endParaRPr lang="zh-CN" altLang="zh-CN" dirty="0">
              <a:solidFill>
                <a:schemeClr val="bg1">
                  <a:lumMod val="75000"/>
                </a:schemeClr>
              </a:solidFill>
            </a:endParaRPr>
          </a:p>
          <a:p>
            <a:pPr>
              <a:lnSpc>
                <a:spcPct val="100000"/>
              </a:lnSpc>
            </a:pPr>
            <a:r>
              <a:rPr lang="en-US" altLang="zh-CN" dirty="0">
                <a:solidFill>
                  <a:schemeClr val="bg1">
                    <a:lumMod val="75000"/>
                  </a:schemeClr>
                </a:solidFill>
              </a:rPr>
              <a:t>IP</a:t>
            </a:r>
            <a:r>
              <a:rPr lang="zh-CN" altLang="zh-CN" dirty="0">
                <a:solidFill>
                  <a:schemeClr val="bg1">
                    <a:lumMod val="75000"/>
                  </a:schemeClr>
                </a:solidFill>
              </a:rPr>
              <a:t>多播</a:t>
            </a:r>
          </a:p>
          <a:p>
            <a:pPr>
              <a:lnSpc>
                <a:spcPct val="100000"/>
              </a:lnSpc>
            </a:pPr>
            <a:r>
              <a:rPr lang="zh-CN" altLang="zh-CN" dirty="0">
                <a:solidFill>
                  <a:schemeClr val="bg1">
                    <a:lumMod val="75000"/>
                  </a:schemeClr>
                </a:solidFill>
              </a:rPr>
              <a:t>虚拟专用网</a:t>
            </a:r>
            <a:r>
              <a:rPr lang="en-US" altLang="zh-CN" dirty="0">
                <a:solidFill>
                  <a:schemeClr val="bg1">
                    <a:lumMod val="75000"/>
                  </a:schemeClr>
                </a:solidFill>
              </a:rPr>
              <a:t> VPN</a:t>
            </a:r>
          </a:p>
          <a:p>
            <a:pPr>
              <a:lnSpc>
                <a:spcPct val="100000"/>
              </a:lnSpc>
            </a:pPr>
            <a:r>
              <a:rPr lang="zh-CN" altLang="zh-CN" dirty="0">
                <a:solidFill>
                  <a:schemeClr val="bg1">
                    <a:lumMod val="75000"/>
                  </a:schemeClr>
                </a:solidFill>
              </a:rPr>
              <a:t>网络地址转换</a:t>
            </a:r>
            <a:r>
              <a:rPr lang="en-US" altLang="zh-CN" dirty="0">
                <a:solidFill>
                  <a:schemeClr val="bg1">
                    <a:lumMod val="75000"/>
                  </a:schemeClr>
                </a:solidFill>
              </a:rPr>
              <a:t> NAT</a:t>
            </a:r>
            <a:endParaRPr lang="zh-CN" altLang="zh-CN" dirty="0">
              <a:solidFill>
                <a:schemeClr val="bg1">
                  <a:lumMod val="75000"/>
                </a:schemeClr>
              </a:solidFill>
            </a:endParaRPr>
          </a:p>
        </p:txBody>
      </p:sp>
    </p:spTree>
    <p:extLst>
      <p:ext uri="{BB962C8B-B14F-4D97-AF65-F5344CB8AC3E}">
        <p14:creationId xmlns:p14="http://schemas.microsoft.com/office/powerpoint/2010/main" val="1337834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5" name="Rectangle 3"/>
          <p:cNvSpPr>
            <a:spLocks noGrp="1" noChangeArrowheads="1"/>
          </p:cNvSpPr>
          <p:nvPr>
            <p:ph type="title"/>
          </p:nvPr>
        </p:nvSpPr>
        <p:spPr/>
        <p:txBody>
          <a:bodyPr/>
          <a:lstStyle/>
          <a:p>
            <a:r>
              <a:rPr lang="zh-CN" altLang="en-US" dirty="0"/>
              <a:t>无分类编址 </a:t>
            </a:r>
            <a:r>
              <a:rPr lang="en-US" altLang="zh-CN" dirty="0"/>
              <a:t>CIDR</a:t>
            </a:r>
            <a:endParaRPr lang="zh-CN" altLang="en-US" dirty="0"/>
          </a:p>
        </p:txBody>
      </p:sp>
      <p:sp>
        <p:nvSpPr>
          <p:cNvPr id="520194" name="Rectangle 2"/>
          <p:cNvSpPr>
            <a:spLocks noGrp="1" noChangeArrowheads="1"/>
          </p:cNvSpPr>
          <p:nvPr>
            <p:ph idx="1"/>
          </p:nvPr>
        </p:nvSpPr>
        <p:spPr/>
        <p:txBody>
          <a:bodyPr/>
          <a:lstStyle/>
          <a:p>
            <a:pPr algn="just">
              <a:spcBef>
                <a:spcPct val="0"/>
              </a:spcBef>
              <a:spcAft>
                <a:spcPts val="600"/>
              </a:spcAft>
              <a:buNone/>
            </a:pPr>
            <a:r>
              <a:rPr lang="en-US" altLang="zh-CN" sz="4400" dirty="0">
                <a:solidFill>
                  <a:srgbClr val="333399"/>
                </a:solidFill>
                <a:cs typeface="+mj-cs"/>
              </a:rPr>
              <a:t>1.  </a:t>
            </a:r>
            <a:r>
              <a:rPr lang="zh-CN" altLang="en-US" sz="4400" dirty="0">
                <a:solidFill>
                  <a:srgbClr val="333399"/>
                </a:solidFill>
                <a:cs typeface="+mj-cs"/>
              </a:rPr>
              <a:t>网络前缀</a:t>
            </a:r>
            <a:endParaRPr lang="en-US" altLang="zh-CN" sz="4400" dirty="0">
              <a:solidFill>
                <a:srgbClr val="333399"/>
              </a:solidFill>
              <a:cs typeface="+mj-cs"/>
            </a:endParaRPr>
          </a:p>
          <a:p>
            <a:pPr algn="just">
              <a:spcBef>
                <a:spcPct val="0"/>
              </a:spcBef>
              <a:buNone/>
            </a:pPr>
            <a:r>
              <a:rPr lang="en-US" altLang="zh-CN" sz="2800" dirty="0"/>
              <a:t>	</a:t>
            </a:r>
            <a:r>
              <a:rPr lang="zh-CN" altLang="en-US" sz="2800" dirty="0"/>
              <a:t>划分子网在一定程度上缓解了互联网在发展中遇到的困难。然而在</a:t>
            </a:r>
            <a:r>
              <a:rPr lang="zh-CN" altLang="en-US" sz="1600" dirty="0"/>
              <a:t> </a:t>
            </a:r>
            <a:r>
              <a:rPr lang="en-US" altLang="zh-CN" sz="2800" dirty="0"/>
              <a:t>1992</a:t>
            </a:r>
            <a:r>
              <a:rPr lang="en-US" altLang="zh-CN" sz="1600" dirty="0"/>
              <a:t> </a:t>
            </a:r>
            <a:r>
              <a:rPr lang="zh-CN" altLang="en-US" sz="2800" dirty="0"/>
              <a:t>年互联网仍然面临三个必须尽早解决的问题：</a:t>
            </a:r>
          </a:p>
          <a:p>
            <a:pPr algn="just"/>
            <a:r>
              <a:rPr lang="en-US" altLang="zh-CN" sz="2800" dirty="0"/>
              <a:t>(1) B </a:t>
            </a:r>
            <a:r>
              <a:rPr lang="zh-CN" altLang="en-US" sz="2800" dirty="0"/>
              <a:t>类地址在 </a:t>
            </a:r>
            <a:r>
              <a:rPr lang="en-US" altLang="zh-CN" sz="2800" dirty="0"/>
              <a:t>1992 </a:t>
            </a:r>
            <a:r>
              <a:rPr lang="zh-CN" altLang="en-US" sz="2800" dirty="0"/>
              <a:t>年已分配了近一半，眼看就要在 </a:t>
            </a:r>
            <a:r>
              <a:rPr lang="en-US" altLang="zh-CN" sz="2800" dirty="0"/>
              <a:t>1994 </a:t>
            </a:r>
            <a:r>
              <a:rPr lang="zh-CN" altLang="en-US" sz="2800" dirty="0"/>
              <a:t>年 </a:t>
            </a:r>
            <a:r>
              <a:rPr lang="en-US" altLang="zh-CN" sz="2800" dirty="0"/>
              <a:t>3 </a:t>
            </a:r>
            <a:r>
              <a:rPr lang="zh-CN" altLang="en-US" sz="2800" dirty="0"/>
              <a:t>月全部分配完毕！</a:t>
            </a:r>
          </a:p>
          <a:p>
            <a:pPr algn="just"/>
            <a:r>
              <a:rPr lang="en-US" altLang="zh-CN" sz="2800" dirty="0"/>
              <a:t>(2) </a:t>
            </a:r>
            <a:r>
              <a:rPr lang="zh-CN" altLang="en-US" sz="2800" dirty="0"/>
              <a:t>互联网主干网上的路由表中的项目数急剧增长（从几千个增长到几万个）。</a:t>
            </a:r>
          </a:p>
          <a:p>
            <a:pPr algn="just"/>
            <a:r>
              <a:rPr lang="en-US" altLang="zh-CN" sz="2800" dirty="0"/>
              <a:t>(3) </a:t>
            </a:r>
            <a:r>
              <a:rPr lang="zh-CN" altLang="en-US" sz="2800" dirty="0"/>
              <a:t>整个 </a:t>
            </a:r>
            <a:r>
              <a:rPr lang="en-US" altLang="zh-CN" sz="2800" dirty="0"/>
              <a:t>IPv4 </a:t>
            </a:r>
            <a:r>
              <a:rPr lang="zh-CN" altLang="en-US" sz="2800" dirty="0"/>
              <a:t>的地址空间最终将全部耗尽。</a:t>
            </a:r>
          </a:p>
        </p:txBody>
      </p:sp>
    </p:spTree>
    <p:extLst>
      <p:ext uri="{BB962C8B-B14F-4D97-AF65-F5344CB8AC3E}">
        <p14:creationId xmlns:p14="http://schemas.microsoft.com/office/powerpoint/2010/main" val="3445916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3" name="Rectangle 3"/>
          <p:cNvSpPr>
            <a:spLocks noGrp="1" noChangeArrowheads="1"/>
          </p:cNvSpPr>
          <p:nvPr>
            <p:ph type="title"/>
          </p:nvPr>
        </p:nvSpPr>
        <p:spPr/>
        <p:txBody>
          <a:bodyPr/>
          <a:lstStyle/>
          <a:p>
            <a:pPr algn="ctr"/>
            <a:r>
              <a:rPr lang="en-US" altLang="zh-CN"/>
              <a:t>CIDR </a:t>
            </a:r>
            <a:r>
              <a:rPr lang="zh-CN" altLang="en-US"/>
              <a:t>最主要的特点 </a:t>
            </a:r>
          </a:p>
        </p:txBody>
      </p:sp>
      <p:sp>
        <p:nvSpPr>
          <p:cNvPr id="522242" name="Rectangle 2"/>
          <p:cNvSpPr>
            <a:spLocks noGrp="1" noChangeArrowheads="1"/>
          </p:cNvSpPr>
          <p:nvPr>
            <p:ph idx="1"/>
          </p:nvPr>
        </p:nvSpPr>
        <p:spPr/>
        <p:txBody>
          <a:bodyPr/>
          <a:lstStyle/>
          <a:p>
            <a:pPr algn="just"/>
            <a:r>
              <a:rPr lang="en-US" altLang="zh-CN" dirty="0"/>
              <a:t>CIDR </a:t>
            </a:r>
            <a:r>
              <a:rPr lang="zh-CN" altLang="en-US" dirty="0"/>
              <a:t>消除了传统的 </a:t>
            </a:r>
            <a:r>
              <a:rPr lang="en-US" altLang="zh-CN" dirty="0"/>
              <a:t>A </a:t>
            </a:r>
            <a:r>
              <a:rPr lang="zh-CN" altLang="en-US" dirty="0"/>
              <a:t>类、</a:t>
            </a:r>
            <a:r>
              <a:rPr lang="en-US" altLang="zh-CN" dirty="0"/>
              <a:t>B </a:t>
            </a:r>
            <a:r>
              <a:rPr lang="zh-CN" altLang="en-US" dirty="0"/>
              <a:t>类和 </a:t>
            </a:r>
            <a:r>
              <a:rPr lang="en-US" altLang="zh-CN" dirty="0"/>
              <a:t>C </a:t>
            </a:r>
            <a:r>
              <a:rPr lang="zh-CN" altLang="en-US" dirty="0"/>
              <a:t>类地址以及划分子网的概念，因而可以更加有效地分配 </a:t>
            </a:r>
            <a:r>
              <a:rPr lang="en-US" altLang="zh-CN" dirty="0"/>
              <a:t>IPv4 </a:t>
            </a:r>
            <a:r>
              <a:rPr lang="zh-CN" altLang="en-US" dirty="0"/>
              <a:t>的地址空间。</a:t>
            </a:r>
          </a:p>
          <a:p>
            <a:pPr algn="just"/>
            <a:r>
              <a:rPr lang="en-US" altLang="zh-CN" dirty="0"/>
              <a:t>CIDR</a:t>
            </a:r>
            <a:r>
              <a:rPr lang="zh-CN" altLang="en-US" dirty="0"/>
              <a:t>使用各种长度的“</a:t>
            </a:r>
            <a:r>
              <a:rPr lang="zh-CN" altLang="en-US" dirty="0">
                <a:solidFill>
                  <a:srgbClr val="FF0000"/>
                </a:solidFill>
              </a:rPr>
              <a:t>网络前缀</a:t>
            </a:r>
            <a:r>
              <a:rPr lang="zh-CN" altLang="en-US" dirty="0"/>
              <a:t>”</a:t>
            </a:r>
            <a:r>
              <a:rPr lang="en-US" altLang="zh-CN" dirty="0"/>
              <a:t>(network-prefix)</a:t>
            </a:r>
            <a:r>
              <a:rPr lang="zh-CN" altLang="en-US" dirty="0"/>
              <a:t>来代替分类地址中的网络号和子网号。</a:t>
            </a:r>
          </a:p>
          <a:p>
            <a:pPr algn="just"/>
            <a:r>
              <a:rPr lang="en-US" altLang="zh-CN" dirty="0">
                <a:solidFill>
                  <a:srgbClr val="0000FF"/>
                </a:solidFill>
              </a:rPr>
              <a:t>IP </a:t>
            </a:r>
            <a:r>
              <a:rPr lang="zh-CN" altLang="en-US" dirty="0">
                <a:solidFill>
                  <a:srgbClr val="0000FF"/>
                </a:solidFill>
              </a:rPr>
              <a:t>地址从三级编址（使用子网掩码）又回到了两级编址。  </a:t>
            </a:r>
          </a:p>
        </p:txBody>
      </p:sp>
    </p:spTree>
    <p:extLst>
      <p:ext uri="{BB962C8B-B14F-4D97-AF65-F5344CB8AC3E}">
        <p14:creationId xmlns:p14="http://schemas.microsoft.com/office/powerpoint/2010/main" val="3008193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8" name="Rectangle 4"/>
          <p:cNvSpPr>
            <a:spLocks noGrp="1" noChangeArrowheads="1"/>
          </p:cNvSpPr>
          <p:nvPr>
            <p:ph type="title"/>
          </p:nvPr>
        </p:nvSpPr>
        <p:spPr/>
        <p:txBody>
          <a:bodyPr/>
          <a:lstStyle/>
          <a:p>
            <a:pPr algn="ctr"/>
            <a:r>
              <a:rPr lang="zh-CN" altLang="en-US" dirty="0"/>
              <a:t>无分类的两级编址 </a:t>
            </a:r>
          </a:p>
        </p:txBody>
      </p:sp>
      <p:sp>
        <p:nvSpPr>
          <p:cNvPr id="523267" name="Rectangle 3"/>
          <p:cNvSpPr>
            <a:spLocks noGrp="1" noChangeArrowheads="1"/>
          </p:cNvSpPr>
          <p:nvPr>
            <p:ph idx="1"/>
          </p:nvPr>
        </p:nvSpPr>
        <p:spPr/>
        <p:txBody>
          <a:bodyPr/>
          <a:lstStyle/>
          <a:p>
            <a:pPr algn="just"/>
            <a:r>
              <a:rPr lang="zh-CN" altLang="en-US" sz="2800" dirty="0"/>
              <a:t>无分类的两级编址的记法是： </a:t>
            </a:r>
          </a:p>
          <a:p>
            <a:pPr algn="just"/>
            <a:endParaRPr lang="en-US" altLang="zh-CN" sz="2800" dirty="0"/>
          </a:p>
          <a:p>
            <a:pPr algn="just"/>
            <a:endParaRPr lang="en-US" altLang="zh-CN" sz="2800" dirty="0"/>
          </a:p>
          <a:p>
            <a:pPr algn="just"/>
            <a:endParaRPr lang="en-US" altLang="zh-CN" sz="2800" dirty="0"/>
          </a:p>
          <a:p>
            <a:pPr algn="just"/>
            <a:endParaRPr lang="en-US" altLang="zh-CN" sz="2800" dirty="0"/>
          </a:p>
          <a:p>
            <a:pPr algn="just"/>
            <a:r>
              <a:rPr lang="en-US" altLang="zh-CN" sz="2800" dirty="0"/>
              <a:t>CIDR </a:t>
            </a:r>
            <a:r>
              <a:rPr lang="zh-CN" altLang="en-US" sz="2800" dirty="0"/>
              <a:t>使用“</a:t>
            </a:r>
            <a:r>
              <a:rPr lang="zh-CN" altLang="en-US" sz="2800" dirty="0">
                <a:solidFill>
                  <a:srgbClr val="FF0000"/>
                </a:solidFill>
              </a:rPr>
              <a:t>斜线记法</a:t>
            </a:r>
            <a:r>
              <a:rPr lang="zh-CN" altLang="en-US" sz="2800" dirty="0"/>
              <a:t>”</a:t>
            </a:r>
            <a:r>
              <a:rPr lang="en-US" altLang="zh-CN" sz="2800" dirty="0"/>
              <a:t>(slash notation)</a:t>
            </a:r>
            <a:r>
              <a:rPr lang="zh-CN" altLang="en-US" sz="2800" dirty="0"/>
              <a:t>，它又称为 </a:t>
            </a:r>
            <a:r>
              <a:rPr lang="en-US" altLang="zh-CN" sz="2800" dirty="0">
                <a:solidFill>
                  <a:srgbClr val="FF0000"/>
                </a:solidFill>
              </a:rPr>
              <a:t>CIDR </a:t>
            </a:r>
            <a:r>
              <a:rPr lang="zh-CN" altLang="en-US" sz="2800" dirty="0">
                <a:solidFill>
                  <a:srgbClr val="FF0000"/>
                </a:solidFill>
              </a:rPr>
              <a:t>记法</a:t>
            </a:r>
            <a:r>
              <a:rPr lang="zh-CN" altLang="en-US" sz="2800" dirty="0"/>
              <a:t>，即在 </a:t>
            </a:r>
            <a:r>
              <a:rPr lang="en-US" altLang="zh-CN" sz="2800" dirty="0"/>
              <a:t>IP </a:t>
            </a:r>
            <a:r>
              <a:rPr lang="zh-CN" altLang="en-US" sz="2800" dirty="0"/>
              <a:t>地址面加上一个斜线“</a:t>
            </a:r>
            <a:r>
              <a:rPr lang="en-US" altLang="zh-CN" sz="2800" dirty="0"/>
              <a:t>/”</a:t>
            </a:r>
            <a:r>
              <a:rPr lang="zh-CN" altLang="en-US" sz="2800" dirty="0"/>
              <a:t>，然后写上网络前缀所占的位数（这个数值对应于三级编址中子网掩码中 </a:t>
            </a:r>
            <a:r>
              <a:rPr lang="en-US" altLang="zh-CN" sz="2800" dirty="0"/>
              <a:t>1 </a:t>
            </a:r>
            <a:r>
              <a:rPr lang="zh-CN" altLang="en-US" sz="2800" dirty="0"/>
              <a:t>的个数）。例如： </a:t>
            </a:r>
            <a:r>
              <a:rPr lang="en-US" altLang="zh-CN" sz="2800" dirty="0">
                <a:solidFill>
                  <a:srgbClr val="0000FF"/>
                </a:solidFill>
              </a:rPr>
              <a:t>220.78.168.0</a:t>
            </a:r>
            <a:r>
              <a:rPr lang="en-US" altLang="zh-CN" sz="2800" dirty="0">
                <a:solidFill>
                  <a:srgbClr val="FF0000"/>
                </a:solidFill>
              </a:rPr>
              <a:t>/24</a:t>
            </a:r>
            <a:endParaRPr lang="zh-CN" altLang="en-US" sz="2800" dirty="0">
              <a:solidFill>
                <a:srgbClr val="FF0000"/>
              </a:solidFill>
            </a:endParaRPr>
          </a:p>
        </p:txBody>
      </p:sp>
      <p:sp>
        <p:nvSpPr>
          <p:cNvPr id="523266" name="Rectangle 2"/>
          <p:cNvSpPr>
            <a:spLocks noChangeArrowheads="1"/>
          </p:cNvSpPr>
          <p:nvPr/>
        </p:nvSpPr>
        <p:spPr bwMode="auto">
          <a:xfrm>
            <a:off x="920552" y="2924944"/>
            <a:ext cx="8280920" cy="660920"/>
          </a:xfrm>
          <a:prstGeom prst="rect">
            <a:avLst/>
          </a:prstGeom>
          <a:solidFill>
            <a:srgbClr val="66FF33"/>
          </a:solidFill>
          <a:ln w="9525">
            <a:solidFill>
              <a:srgbClr val="333399"/>
            </a:solidFill>
            <a:miter lim="800000"/>
            <a:headEnd/>
            <a:tailEnd/>
          </a:ln>
          <a:effectLst>
            <a:outerShdw dist="35921" dir="2700000" algn="ctr" rotWithShape="0">
              <a:schemeClr val="bg2"/>
            </a:outerShdw>
          </a:effectLst>
        </p:spPr>
        <p:txBody>
          <a:bodyPr wrap="none" anchor="ctr"/>
          <a:lstStyle/>
          <a:p>
            <a:pPr algn="ctr">
              <a:spcBef>
                <a:spcPct val="50000"/>
              </a:spcBef>
              <a:spcAft>
                <a:spcPct val="40000"/>
              </a:spcAft>
              <a:buFont typeface="Wingdings" pitchFamily="2" charset="2"/>
              <a:buNone/>
            </a:pPr>
            <a:r>
              <a:rPr lang="en-US" altLang="zh-CN" sz="2800" b="1" dirty="0">
                <a:solidFill>
                  <a:srgbClr val="0000CC"/>
                </a:solidFill>
                <a:latin typeface="+mn-lt"/>
                <a:ea typeface="黑体" pitchFamily="2" charset="-122"/>
              </a:rPr>
              <a:t>IP</a:t>
            </a:r>
            <a:r>
              <a:rPr lang="zh-CN" altLang="en-US" sz="2800" b="1" dirty="0">
                <a:solidFill>
                  <a:srgbClr val="0000CC"/>
                </a:solidFill>
                <a:latin typeface="+mn-lt"/>
                <a:ea typeface="黑体" pitchFamily="2" charset="-122"/>
              </a:rPr>
              <a:t>地址 </a:t>
            </a:r>
            <a:r>
              <a:rPr lang="en-US" altLang="zh-CN" sz="2800" b="1" dirty="0">
                <a:solidFill>
                  <a:srgbClr val="0000CC"/>
                </a:solidFill>
                <a:latin typeface="+mn-lt"/>
                <a:ea typeface="黑体" pitchFamily="2" charset="-122"/>
              </a:rPr>
              <a:t>::= {&lt;</a:t>
            </a:r>
            <a:r>
              <a:rPr lang="zh-CN" altLang="en-US" sz="2800" b="1" dirty="0">
                <a:solidFill>
                  <a:srgbClr val="0000CC"/>
                </a:solidFill>
                <a:latin typeface="+mn-lt"/>
                <a:ea typeface="黑体" pitchFamily="2" charset="-122"/>
              </a:rPr>
              <a:t>网络前缀</a:t>
            </a:r>
            <a:r>
              <a:rPr lang="en-US" altLang="zh-CN" sz="2800" b="1" dirty="0">
                <a:solidFill>
                  <a:srgbClr val="0000CC"/>
                </a:solidFill>
                <a:latin typeface="+mn-lt"/>
                <a:ea typeface="黑体" pitchFamily="2" charset="-122"/>
              </a:rPr>
              <a:t>&gt;, &lt;</a:t>
            </a:r>
            <a:r>
              <a:rPr lang="zh-CN" altLang="en-US" sz="2800" b="1" dirty="0">
                <a:solidFill>
                  <a:srgbClr val="0000CC"/>
                </a:solidFill>
                <a:latin typeface="+mn-lt"/>
                <a:ea typeface="黑体" pitchFamily="2" charset="-122"/>
              </a:rPr>
              <a:t>主机号</a:t>
            </a:r>
            <a:r>
              <a:rPr lang="en-US" altLang="zh-CN" sz="2800" b="1" dirty="0">
                <a:solidFill>
                  <a:srgbClr val="0000CC"/>
                </a:solidFill>
                <a:latin typeface="+mn-lt"/>
                <a:ea typeface="黑体" pitchFamily="2" charset="-122"/>
              </a:rPr>
              <a:t>&gt;}             (4-3) </a:t>
            </a:r>
          </a:p>
        </p:txBody>
      </p:sp>
      <p:grpSp>
        <p:nvGrpSpPr>
          <p:cNvPr id="7" name="组合 6"/>
          <p:cNvGrpSpPr/>
          <p:nvPr/>
        </p:nvGrpSpPr>
        <p:grpSpPr>
          <a:xfrm>
            <a:off x="2406749" y="1790910"/>
            <a:ext cx="4562475" cy="1073788"/>
            <a:chOff x="1839416" y="4105856"/>
            <a:chExt cx="4562475" cy="1160462"/>
          </a:xfrm>
        </p:grpSpPr>
        <p:grpSp>
          <p:nvGrpSpPr>
            <p:cNvPr id="9" name="Group 21"/>
            <p:cNvGrpSpPr>
              <a:grpSpLocks/>
            </p:cNvGrpSpPr>
            <p:nvPr/>
          </p:nvGrpSpPr>
          <p:grpSpPr bwMode="auto">
            <a:xfrm>
              <a:off x="1867991" y="4767842"/>
              <a:ext cx="4533900" cy="498476"/>
              <a:chOff x="755" y="2967"/>
              <a:chExt cx="2856" cy="314"/>
            </a:xfrm>
          </p:grpSpPr>
          <p:sp>
            <p:nvSpPr>
              <p:cNvPr id="18" name="Line 9"/>
              <p:cNvSpPr>
                <a:spLocks noChangeShapeType="1"/>
              </p:cNvSpPr>
              <p:nvPr/>
            </p:nvSpPr>
            <p:spPr bwMode="auto">
              <a:xfrm>
                <a:off x="755" y="3122"/>
                <a:ext cx="285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9" name="Text Box 10"/>
              <p:cNvSpPr txBox="1">
                <a:spLocks noChangeArrowheads="1"/>
              </p:cNvSpPr>
              <p:nvPr/>
            </p:nvSpPr>
            <p:spPr bwMode="auto">
              <a:xfrm>
                <a:off x="1950" y="2967"/>
                <a:ext cx="581" cy="314"/>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rPr>
                  <a:t>32 </a:t>
                </a: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位</a:t>
                </a:r>
              </a:p>
            </p:txBody>
          </p:sp>
        </p:grpSp>
        <p:grpSp>
          <p:nvGrpSpPr>
            <p:cNvPr id="10" name="Group 20"/>
            <p:cNvGrpSpPr>
              <a:grpSpLocks/>
            </p:cNvGrpSpPr>
            <p:nvPr/>
          </p:nvGrpSpPr>
          <p:grpSpPr bwMode="auto">
            <a:xfrm>
              <a:off x="1842591" y="4644008"/>
              <a:ext cx="4559300" cy="609600"/>
              <a:chOff x="739" y="2832"/>
              <a:chExt cx="2872" cy="430"/>
            </a:xfrm>
          </p:grpSpPr>
          <p:sp>
            <p:nvSpPr>
              <p:cNvPr id="16" name="Line 8"/>
              <p:cNvSpPr>
                <a:spLocks noChangeShapeType="1"/>
              </p:cNvSpPr>
              <p:nvPr/>
            </p:nvSpPr>
            <p:spPr bwMode="auto">
              <a:xfrm>
                <a:off x="739" y="2832"/>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7" name="Line 17"/>
              <p:cNvSpPr>
                <a:spLocks noChangeShapeType="1"/>
              </p:cNvSpPr>
              <p:nvPr/>
            </p:nvSpPr>
            <p:spPr bwMode="auto">
              <a:xfrm>
                <a:off x="3611" y="2832"/>
                <a:ext cx="0" cy="43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grpSp>
        <p:grpSp>
          <p:nvGrpSpPr>
            <p:cNvPr id="11" name="Group 18"/>
            <p:cNvGrpSpPr>
              <a:grpSpLocks/>
            </p:cNvGrpSpPr>
            <p:nvPr/>
          </p:nvGrpSpPr>
          <p:grpSpPr bwMode="auto">
            <a:xfrm>
              <a:off x="1839416" y="4105856"/>
              <a:ext cx="4562105" cy="612776"/>
              <a:chOff x="737" y="2493"/>
              <a:chExt cx="3240" cy="386"/>
            </a:xfrm>
          </p:grpSpPr>
          <p:sp>
            <p:nvSpPr>
              <p:cNvPr id="12" name="Rectangle 6"/>
              <p:cNvSpPr>
                <a:spLocks noChangeArrowheads="1"/>
              </p:cNvSpPr>
              <p:nvPr/>
            </p:nvSpPr>
            <p:spPr bwMode="auto">
              <a:xfrm>
                <a:off x="737" y="2493"/>
                <a:ext cx="1650" cy="386"/>
              </a:xfrm>
              <a:prstGeom prst="rect">
                <a:avLst/>
              </a:prstGeom>
              <a:solidFill>
                <a:srgbClr val="FFFF66"/>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网络前缀</a:t>
                </a:r>
                <a:endPar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endParaRPr>
              </a:p>
            </p:txBody>
          </p:sp>
          <p:sp>
            <p:nvSpPr>
              <p:cNvPr id="13" name="Rectangle 7"/>
              <p:cNvSpPr>
                <a:spLocks noChangeArrowheads="1"/>
              </p:cNvSpPr>
              <p:nvPr/>
            </p:nvSpPr>
            <p:spPr bwMode="auto">
              <a:xfrm>
                <a:off x="2387" y="2494"/>
                <a:ext cx="1590" cy="385"/>
              </a:xfrm>
              <a:prstGeom prst="rect">
                <a:avLst/>
              </a:prstGeom>
              <a:solidFill>
                <a:srgbClr val="66FFFF"/>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2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14" name="Rectangle 11"/>
              <p:cNvSpPr>
                <a:spLocks noChangeArrowheads="1"/>
              </p:cNvSpPr>
              <p:nvPr/>
            </p:nvSpPr>
            <p:spPr bwMode="auto">
              <a:xfrm>
                <a:off x="2754" y="2547"/>
                <a:ext cx="967" cy="291"/>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主机号</a:t>
                </a:r>
                <a:endPar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endParaRPr>
              </a:p>
            </p:txBody>
          </p:sp>
        </p:grpSp>
      </p:grpSp>
    </p:spTree>
    <p:extLst>
      <p:ext uri="{BB962C8B-B14F-4D97-AF65-F5344CB8AC3E}">
        <p14:creationId xmlns:p14="http://schemas.microsoft.com/office/powerpoint/2010/main" val="2775433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p:txBody>
          <a:bodyPr/>
          <a:lstStyle/>
          <a:p>
            <a:pPr algn="ctr"/>
            <a:r>
              <a:rPr lang="en-US" altLang="zh-CN"/>
              <a:t>CIDR </a:t>
            </a:r>
            <a:r>
              <a:rPr lang="zh-CN" altLang="en-US"/>
              <a:t>地址块 </a:t>
            </a:r>
          </a:p>
        </p:txBody>
      </p:sp>
      <p:sp>
        <p:nvSpPr>
          <p:cNvPr id="524291" name="Rectangle 3"/>
          <p:cNvSpPr>
            <a:spLocks noGrp="1" noChangeArrowheads="1"/>
          </p:cNvSpPr>
          <p:nvPr>
            <p:ph idx="1"/>
          </p:nvPr>
        </p:nvSpPr>
        <p:spPr/>
        <p:txBody>
          <a:bodyPr/>
          <a:lstStyle/>
          <a:p>
            <a:pPr algn="just">
              <a:lnSpc>
                <a:spcPct val="100000"/>
              </a:lnSpc>
            </a:pPr>
            <a:r>
              <a:rPr lang="en-US" altLang="zh-CN" sz="2800" dirty="0"/>
              <a:t>CIDR </a:t>
            </a:r>
            <a:r>
              <a:rPr lang="zh-CN" altLang="en-US" sz="2800" dirty="0"/>
              <a:t>把网络前缀都相同的连续的 </a:t>
            </a:r>
            <a:r>
              <a:rPr lang="en-US" altLang="zh-CN" sz="2800" dirty="0"/>
              <a:t>IP </a:t>
            </a:r>
            <a:r>
              <a:rPr lang="zh-CN" altLang="en-US" sz="2800" dirty="0"/>
              <a:t>地址组成“</a:t>
            </a:r>
            <a:r>
              <a:rPr lang="en-US" altLang="zh-CN" sz="2800" dirty="0">
                <a:solidFill>
                  <a:srgbClr val="FF0000"/>
                </a:solidFill>
              </a:rPr>
              <a:t>CIDR </a:t>
            </a:r>
            <a:r>
              <a:rPr lang="zh-CN" altLang="en-US" sz="2800" dirty="0">
                <a:solidFill>
                  <a:srgbClr val="FF0000"/>
                </a:solidFill>
              </a:rPr>
              <a:t>地址块</a:t>
            </a:r>
            <a:r>
              <a:rPr lang="zh-CN" altLang="en-US" sz="2800" dirty="0"/>
              <a:t>”。</a:t>
            </a:r>
            <a:endParaRPr lang="en-US" altLang="zh-CN" sz="2800" dirty="0"/>
          </a:p>
          <a:p>
            <a:pPr algn="just">
              <a:lnSpc>
                <a:spcPct val="100000"/>
              </a:lnSpc>
            </a:pPr>
            <a:r>
              <a:rPr lang="en-US" altLang="zh-CN" sz="2800" dirty="0"/>
              <a:t>128.14.32.0/20 </a:t>
            </a:r>
            <a:r>
              <a:rPr lang="zh-CN" altLang="en-US" sz="2800" dirty="0"/>
              <a:t>表示的地址块</a:t>
            </a:r>
            <a:r>
              <a:rPr lang="zh-CN" altLang="en-US" sz="2800" dirty="0">
                <a:solidFill>
                  <a:srgbClr val="0000FF"/>
                </a:solidFill>
              </a:rPr>
              <a:t>共有 </a:t>
            </a:r>
            <a:r>
              <a:rPr lang="en-US" altLang="zh-CN" sz="2800" dirty="0">
                <a:solidFill>
                  <a:srgbClr val="0000FF"/>
                </a:solidFill>
              </a:rPr>
              <a:t>2</a:t>
            </a:r>
            <a:r>
              <a:rPr lang="en-US" altLang="zh-CN" sz="2800" baseline="30000" dirty="0">
                <a:solidFill>
                  <a:srgbClr val="0000FF"/>
                </a:solidFill>
              </a:rPr>
              <a:t>12 </a:t>
            </a:r>
            <a:r>
              <a:rPr lang="zh-CN" altLang="en-US" sz="2800" dirty="0">
                <a:solidFill>
                  <a:srgbClr val="0000FF"/>
                </a:solidFill>
              </a:rPr>
              <a:t>个地址</a:t>
            </a:r>
            <a:r>
              <a:rPr lang="zh-CN" altLang="en-US" sz="2800" dirty="0"/>
              <a:t>（因为</a:t>
            </a:r>
            <a:r>
              <a:rPr lang="zh-CN" altLang="en-US" sz="2800" dirty="0">
                <a:solidFill>
                  <a:srgbClr val="FF0000"/>
                </a:solidFill>
              </a:rPr>
              <a:t>斜线后面的 </a:t>
            </a:r>
            <a:r>
              <a:rPr lang="en-US" altLang="zh-CN" sz="2800" dirty="0">
                <a:solidFill>
                  <a:srgbClr val="FF0000"/>
                </a:solidFill>
              </a:rPr>
              <a:t>20 </a:t>
            </a:r>
            <a:r>
              <a:rPr lang="zh-CN" altLang="en-US" sz="2800" dirty="0">
                <a:solidFill>
                  <a:srgbClr val="FF0000"/>
                </a:solidFill>
              </a:rPr>
              <a:t>是网络前缀的位数</a:t>
            </a:r>
            <a:r>
              <a:rPr lang="zh-CN" altLang="en-US" sz="2800" dirty="0"/>
              <a:t>，所以这个地址的主机号是 </a:t>
            </a:r>
            <a:r>
              <a:rPr lang="en-US" altLang="zh-CN" sz="2800" dirty="0"/>
              <a:t>12 </a:t>
            </a:r>
            <a:r>
              <a:rPr lang="zh-CN" altLang="en-US" sz="2800" dirty="0"/>
              <a:t>位）。</a:t>
            </a:r>
          </a:p>
          <a:p>
            <a:pPr lvl="1" algn="just">
              <a:lnSpc>
                <a:spcPct val="100000"/>
              </a:lnSpc>
            </a:pPr>
            <a:r>
              <a:rPr lang="zh-CN" altLang="en-US" sz="2400" dirty="0"/>
              <a:t>这个地址块的起始地址是 </a:t>
            </a:r>
            <a:r>
              <a:rPr lang="en-US" altLang="zh-CN" sz="2400" dirty="0"/>
              <a:t>128.14.32.0</a:t>
            </a:r>
            <a:r>
              <a:rPr lang="zh-CN" altLang="en-US" sz="2400" dirty="0"/>
              <a:t>。</a:t>
            </a:r>
          </a:p>
          <a:p>
            <a:pPr lvl="1" algn="just">
              <a:lnSpc>
                <a:spcPct val="100000"/>
              </a:lnSpc>
            </a:pPr>
            <a:r>
              <a:rPr lang="zh-CN" altLang="en-US" sz="2400" dirty="0"/>
              <a:t>在不需要指出地址块的起始地址时，也可将这样的地址块简称为“</a:t>
            </a:r>
            <a:r>
              <a:rPr lang="en-US" altLang="zh-CN" sz="2400" dirty="0">
                <a:solidFill>
                  <a:srgbClr val="FF0000"/>
                </a:solidFill>
              </a:rPr>
              <a:t>/20 </a:t>
            </a:r>
            <a:r>
              <a:rPr lang="zh-CN" altLang="en-US" sz="2400" dirty="0">
                <a:solidFill>
                  <a:srgbClr val="FF0000"/>
                </a:solidFill>
              </a:rPr>
              <a:t>地址块</a:t>
            </a:r>
            <a:r>
              <a:rPr lang="zh-CN" altLang="en-US" sz="2400" dirty="0"/>
              <a:t>”。</a:t>
            </a:r>
          </a:p>
          <a:p>
            <a:pPr lvl="1" algn="just">
              <a:lnSpc>
                <a:spcPct val="100000"/>
              </a:lnSpc>
            </a:pPr>
            <a:r>
              <a:rPr lang="en-US" altLang="zh-CN" sz="2400" dirty="0"/>
              <a:t>128.14.32.0/20 </a:t>
            </a:r>
            <a:r>
              <a:rPr lang="zh-CN" altLang="en-US" sz="2400" dirty="0"/>
              <a:t>地址块的最小地址：</a:t>
            </a:r>
            <a:r>
              <a:rPr lang="en-US" altLang="zh-CN" sz="2400" dirty="0"/>
              <a:t>128.14.32.0</a:t>
            </a:r>
          </a:p>
          <a:p>
            <a:pPr lvl="1" algn="just">
              <a:lnSpc>
                <a:spcPct val="100000"/>
              </a:lnSpc>
            </a:pPr>
            <a:r>
              <a:rPr lang="en-US" altLang="zh-CN" sz="2400" dirty="0"/>
              <a:t>128.14.32.0/20 </a:t>
            </a:r>
            <a:r>
              <a:rPr lang="zh-CN" altLang="en-US" sz="2400" dirty="0"/>
              <a:t>地址块的最大地址：</a:t>
            </a:r>
            <a:r>
              <a:rPr lang="en-US" altLang="zh-CN" sz="2400" dirty="0"/>
              <a:t>128.14.47.255</a:t>
            </a:r>
          </a:p>
          <a:p>
            <a:pPr lvl="1" algn="just">
              <a:lnSpc>
                <a:spcPct val="100000"/>
              </a:lnSpc>
            </a:pPr>
            <a:r>
              <a:rPr lang="zh-CN" altLang="en-US" sz="2400" dirty="0">
                <a:solidFill>
                  <a:srgbClr val="0000FF"/>
                </a:solidFill>
              </a:rPr>
              <a:t>全 </a:t>
            </a:r>
            <a:r>
              <a:rPr lang="en-US" altLang="zh-CN" sz="2400" dirty="0">
                <a:solidFill>
                  <a:srgbClr val="0000FF"/>
                </a:solidFill>
              </a:rPr>
              <a:t>0 </a:t>
            </a:r>
            <a:r>
              <a:rPr lang="zh-CN" altLang="en-US" sz="2400" dirty="0">
                <a:solidFill>
                  <a:srgbClr val="0000FF"/>
                </a:solidFill>
              </a:rPr>
              <a:t>和全 </a:t>
            </a:r>
            <a:r>
              <a:rPr lang="en-US" altLang="zh-CN" sz="2400" dirty="0">
                <a:solidFill>
                  <a:srgbClr val="0000FF"/>
                </a:solidFill>
              </a:rPr>
              <a:t>1 </a:t>
            </a:r>
            <a:r>
              <a:rPr lang="zh-CN" altLang="en-US" sz="2400" dirty="0">
                <a:solidFill>
                  <a:srgbClr val="0000FF"/>
                </a:solidFill>
              </a:rPr>
              <a:t>的主机号地址一般不使用。</a:t>
            </a:r>
          </a:p>
        </p:txBody>
      </p:sp>
    </p:spTree>
    <p:extLst>
      <p:ext uri="{BB962C8B-B14F-4D97-AF65-F5344CB8AC3E}">
        <p14:creationId xmlns:p14="http://schemas.microsoft.com/office/powerpoint/2010/main" val="40040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9" name="Rectangle 3"/>
          <p:cNvSpPr>
            <a:spLocks noGrp="1" noChangeArrowheads="1"/>
          </p:cNvSpPr>
          <p:nvPr>
            <p:ph type="title"/>
          </p:nvPr>
        </p:nvSpPr>
        <p:spPr/>
        <p:txBody>
          <a:bodyPr/>
          <a:lstStyle/>
          <a:p>
            <a:pPr algn="ctr"/>
            <a:r>
              <a:rPr lang="zh-CN" altLang="en-US" dirty="0"/>
              <a:t>路由聚合 </a:t>
            </a:r>
            <a:r>
              <a:rPr lang="en-US" altLang="zh-CN" dirty="0"/>
              <a:t>(route aggregation) </a:t>
            </a:r>
          </a:p>
        </p:txBody>
      </p:sp>
      <p:sp>
        <p:nvSpPr>
          <p:cNvPr id="526338" name="Rectangle 2"/>
          <p:cNvSpPr>
            <a:spLocks noGrp="1" noChangeArrowheads="1"/>
          </p:cNvSpPr>
          <p:nvPr>
            <p:ph idx="1"/>
          </p:nvPr>
        </p:nvSpPr>
        <p:spPr/>
        <p:txBody>
          <a:bodyPr/>
          <a:lstStyle/>
          <a:p>
            <a:pPr marL="360363" indent="-360363" algn="just"/>
            <a:r>
              <a:rPr lang="zh-CN" altLang="en-US" sz="2800" dirty="0"/>
              <a:t>一个 </a:t>
            </a:r>
            <a:r>
              <a:rPr lang="en-US" altLang="zh-CN" sz="2800" dirty="0"/>
              <a:t>CIDR </a:t>
            </a:r>
            <a:r>
              <a:rPr lang="zh-CN" altLang="en-US" sz="2800" dirty="0"/>
              <a:t>地址块可以表示很多地址，这种地址的聚合常称为</a:t>
            </a:r>
            <a:r>
              <a:rPr lang="zh-CN" altLang="en-US" sz="2800" dirty="0">
                <a:solidFill>
                  <a:srgbClr val="FF0000"/>
                </a:solidFill>
              </a:rPr>
              <a:t>路由聚合</a:t>
            </a:r>
            <a:r>
              <a:rPr lang="zh-CN" altLang="en-US" sz="2800" dirty="0"/>
              <a:t>，它使得路由表中的一个项目可以表示很多个（例如上千个）原来传统分类地址的路由。</a:t>
            </a:r>
            <a:endParaRPr lang="en-US" altLang="zh-CN" sz="2800" dirty="0"/>
          </a:p>
          <a:p>
            <a:pPr marL="360363" indent="-360363" algn="just"/>
            <a:r>
              <a:rPr lang="zh-CN" altLang="zh-CN" sz="2800" dirty="0"/>
              <a:t>路由聚合有利于</a:t>
            </a:r>
            <a:r>
              <a:rPr lang="zh-CN" altLang="zh-CN" sz="2800" dirty="0">
                <a:solidFill>
                  <a:srgbClr val="FF0000"/>
                </a:solidFill>
              </a:rPr>
              <a:t>减少</a:t>
            </a:r>
            <a:r>
              <a:rPr lang="zh-CN" altLang="zh-CN" sz="2800" dirty="0"/>
              <a:t>路由器之间的路由选择信息的交换，从而提高了整个互联网的性能。</a:t>
            </a:r>
            <a:endParaRPr lang="zh-CN" altLang="en-US" sz="2800" dirty="0"/>
          </a:p>
          <a:p>
            <a:pPr marL="360363" indent="-360363" algn="just"/>
            <a:r>
              <a:rPr lang="zh-CN" altLang="en-US" sz="2800" dirty="0">
                <a:solidFill>
                  <a:srgbClr val="0000FF"/>
                </a:solidFill>
              </a:rPr>
              <a:t>路由聚合也称为</a:t>
            </a:r>
            <a:r>
              <a:rPr lang="zh-CN" altLang="en-US" sz="2800" dirty="0">
                <a:solidFill>
                  <a:srgbClr val="FF0000"/>
                </a:solidFill>
              </a:rPr>
              <a:t>构成超网 </a:t>
            </a:r>
            <a:r>
              <a:rPr lang="en-US" altLang="zh-CN" sz="2800" dirty="0">
                <a:solidFill>
                  <a:srgbClr val="0000FF"/>
                </a:solidFill>
              </a:rPr>
              <a:t>(</a:t>
            </a:r>
            <a:r>
              <a:rPr lang="en-US" altLang="zh-CN" sz="2800" dirty="0" err="1">
                <a:solidFill>
                  <a:srgbClr val="0000FF"/>
                </a:solidFill>
              </a:rPr>
              <a:t>supernetting</a:t>
            </a:r>
            <a:r>
              <a:rPr lang="en-US" altLang="zh-CN" sz="2800" dirty="0">
                <a:solidFill>
                  <a:srgbClr val="0000FF"/>
                </a:solidFill>
              </a:rPr>
              <a:t>)</a:t>
            </a:r>
            <a:r>
              <a:rPr lang="zh-CN" altLang="en-US" sz="2800" dirty="0">
                <a:solidFill>
                  <a:srgbClr val="0000FF"/>
                </a:solidFill>
              </a:rPr>
              <a:t>。</a:t>
            </a:r>
          </a:p>
          <a:p>
            <a:pPr marL="360363" indent="-360363" algn="just"/>
            <a:r>
              <a:rPr lang="en-US" altLang="zh-CN" sz="2800" dirty="0"/>
              <a:t>CIDR </a:t>
            </a:r>
            <a:r>
              <a:rPr lang="zh-CN" altLang="en-US" sz="2800" dirty="0"/>
              <a:t>虽然不使用子网了，但仍然使用“</a:t>
            </a:r>
            <a:r>
              <a:rPr lang="zh-CN" altLang="en-US" sz="2800" dirty="0">
                <a:solidFill>
                  <a:srgbClr val="FF0000"/>
                </a:solidFill>
              </a:rPr>
              <a:t>掩码</a:t>
            </a:r>
            <a:r>
              <a:rPr lang="zh-CN" altLang="en-US" sz="2800" dirty="0"/>
              <a:t>”这一名词（但不叫子网掩码）。</a:t>
            </a:r>
          </a:p>
          <a:p>
            <a:pPr marL="360363" indent="-360363" algn="just"/>
            <a:r>
              <a:rPr lang="zh-CN" altLang="en-US" sz="2800" dirty="0"/>
              <a:t>对于</a:t>
            </a:r>
            <a:r>
              <a:rPr lang="zh-CN" altLang="en-US" sz="1400" dirty="0"/>
              <a:t> </a:t>
            </a:r>
            <a:r>
              <a:rPr lang="en-US" altLang="zh-CN" sz="2800" dirty="0">
                <a:solidFill>
                  <a:srgbClr val="FF0000"/>
                </a:solidFill>
              </a:rPr>
              <a:t>/20</a:t>
            </a:r>
            <a:r>
              <a:rPr lang="en-US" altLang="zh-CN" sz="700" dirty="0">
                <a:solidFill>
                  <a:srgbClr val="FF0000"/>
                </a:solidFill>
              </a:rPr>
              <a:t>  </a:t>
            </a:r>
            <a:r>
              <a:rPr lang="zh-CN" altLang="en-US" sz="2800" dirty="0"/>
              <a:t>地址块，它的掩码是</a:t>
            </a:r>
            <a:r>
              <a:rPr lang="zh-CN" altLang="en-US" sz="1400" dirty="0"/>
              <a:t> </a:t>
            </a:r>
            <a:r>
              <a:rPr lang="en-US" altLang="zh-CN" sz="2800" dirty="0"/>
              <a:t>20</a:t>
            </a:r>
            <a:r>
              <a:rPr lang="en-US" altLang="zh-CN" sz="900" dirty="0"/>
              <a:t> </a:t>
            </a:r>
            <a:r>
              <a:rPr lang="zh-CN" altLang="en-US" sz="2800" dirty="0"/>
              <a:t>个连续的 </a:t>
            </a:r>
            <a:r>
              <a:rPr lang="en-US" altLang="zh-CN" sz="2800" dirty="0"/>
              <a:t>1</a:t>
            </a:r>
            <a:r>
              <a:rPr lang="zh-CN" altLang="en-US" sz="2800" dirty="0"/>
              <a:t>。 斜线记法中的数字就是掩码中</a:t>
            </a:r>
            <a:r>
              <a:rPr lang="en-US" altLang="zh-CN" sz="2800" dirty="0"/>
              <a:t>1</a:t>
            </a:r>
            <a:r>
              <a:rPr lang="zh-CN" altLang="en-US" sz="2800" dirty="0"/>
              <a:t>的个数。    </a:t>
            </a:r>
          </a:p>
        </p:txBody>
      </p:sp>
    </p:spTree>
    <p:extLst>
      <p:ext uri="{BB962C8B-B14F-4D97-AF65-F5344CB8AC3E}">
        <p14:creationId xmlns:p14="http://schemas.microsoft.com/office/powerpoint/2010/main" val="1876495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algn="ctr"/>
            <a:r>
              <a:rPr lang="zh-CN" altLang="en-US" dirty="0"/>
              <a:t>构成超网 </a:t>
            </a:r>
          </a:p>
        </p:txBody>
      </p:sp>
      <p:sp>
        <p:nvSpPr>
          <p:cNvPr id="529411" name="Rectangle 3"/>
          <p:cNvSpPr>
            <a:spLocks noGrp="1" noChangeArrowheads="1"/>
          </p:cNvSpPr>
          <p:nvPr>
            <p:ph idx="1"/>
          </p:nvPr>
        </p:nvSpPr>
        <p:spPr/>
        <p:txBody>
          <a:bodyPr/>
          <a:lstStyle/>
          <a:p>
            <a:r>
              <a:rPr lang="zh-CN" altLang="en-US" sz="2800" dirty="0"/>
              <a:t>前缀长度不超过 </a:t>
            </a:r>
            <a:r>
              <a:rPr lang="en-US" altLang="zh-CN" sz="2800" dirty="0"/>
              <a:t>23 </a:t>
            </a:r>
            <a:r>
              <a:rPr lang="zh-CN" altLang="en-US" sz="2800" dirty="0"/>
              <a:t>位的 </a:t>
            </a:r>
            <a:r>
              <a:rPr lang="en-US" altLang="zh-CN" sz="2800" dirty="0"/>
              <a:t>CIDR </a:t>
            </a:r>
            <a:r>
              <a:rPr lang="zh-CN" altLang="en-US" sz="2800" dirty="0"/>
              <a:t>地址块都包含了多个 </a:t>
            </a:r>
            <a:r>
              <a:rPr lang="en-US" altLang="zh-CN" sz="2800" dirty="0"/>
              <a:t>C  </a:t>
            </a:r>
            <a:r>
              <a:rPr lang="zh-CN" altLang="en-US" sz="2800" dirty="0"/>
              <a:t>类地址。</a:t>
            </a:r>
          </a:p>
          <a:p>
            <a:r>
              <a:rPr lang="zh-CN" altLang="en-US" sz="2800" dirty="0"/>
              <a:t>这些 </a:t>
            </a:r>
            <a:r>
              <a:rPr lang="en-US" altLang="zh-CN" sz="2800" dirty="0"/>
              <a:t>C </a:t>
            </a:r>
            <a:r>
              <a:rPr lang="zh-CN" altLang="en-US" sz="2800" dirty="0"/>
              <a:t>类地址合起来就构成了超网。</a:t>
            </a:r>
          </a:p>
          <a:p>
            <a:r>
              <a:rPr lang="en-US" altLang="zh-CN" sz="2800" dirty="0">
                <a:solidFill>
                  <a:srgbClr val="FF0000"/>
                </a:solidFill>
              </a:rPr>
              <a:t>CIDR </a:t>
            </a:r>
            <a:r>
              <a:rPr lang="zh-CN" altLang="en-US" sz="2800" dirty="0">
                <a:solidFill>
                  <a:srgbClr val="FF0000"/>
                </a:solidFill>
              </a:rPr>
              <a:t>地址块中的地址数一定是 </a:t>
            </a:r>
            <a:r>
              <a:rPr lang="en-US" altLang="zh-CN" sz="2800" dirty="0">
                <a:solidFill>
                  <a:srgbClr val="FF0000"/>
                </a:solidFill>
              </a:rPr>
              <a:t>2 </a:t>
            </a:r>
            <a:r>
              <a:rPr lang="zh-CN" altLang="en-US" sz="2800" dirty="0">
                <a:solidFill>
                  <a:srgbClr val="FF0000"/>
                </a:solidFill>
              </a:rPr>
              <a:t>的整数次幂。</a:t>
            </a:r>
          </a:p>
          <a:p>
            <a:r>
              <a:rPr lang="zh-CN" altLang="en-US" sz="2800" dirty="0"/>
              <a:t>网络前缀越短，其地址块所包含的地址数就越多。</a:t>
            </a:r>
            <a:r>
              <a:rPr lang="zh-CN" altLang="en-US" sz="2800" dirty="0">
                <a:solidFill>
                  <a:srgbClr val="0000FF"/>
                </a:solidFill>
              </a:rPr>
              <a:t>而在三级结构的</a:t>
            </a:r>
            <a:r>
              <a:rPr lang="en-US" altLang="zh-CN" sz="2800" dirty="0">
                <a:solidFill>
                  <a:srgbClr val="0000FF"/>
                </a:solidFill>
              </a:rPr>
              <a:t>IP</a:t>
            </a:r>
            <a:r>
              <a:rPr lang="zh-CN" altLang="en-US" sz="2800" dirty="0">
                <a:solidFill>
                  <a:srgbClr val="0000FF"/>
                </a:solidFill>
              </a:rPr>
              <a:t>地址中，划分子网是使网络前缀变长。</a:t>
            </a:r>
            <a:endParaRPr lang="en-US" altLang="zh-CN" sz="2800" dirty="0">
              <a:solidFill>
                <a:srgbClr val="0000FF"/>
              </a:solidFill>
            </a:endParaRPr>
          </a:p>
          <a:p>
            <a:r>
              <a:rPr lang="en-US" altLang="zh-CN" sz="2800" dirty="0"/>
              <a:t>CIDR </a:t>
            </a:r>
            <a:r>
              <a:rPr lang="zh-CN" altLang="zh-CN" sz="2800" dirty="0"/>
              <a:t>的一个好处是</a:t>
            </a:r>
            <a:r>
              <a:rPr lang="zh-CN" altLang="en-US" sz="2800" dirty="0"/>
              <a:t>：</a:t>
            </a:r>
            <a:r>
              <a:rPr lang="zh-CN" altLang="zh-CN" sz="2800" dirty="0"/>
              <a:t>可以更加有效地分配</a:t>
            </a:r>
            <a:r>
              <a:rPr lang="en-US" altLang="zh-CN" sz="2800" dirty="0"/>
              <a:t> IPv4 </a:t>
            </a:r>
            <a:r>
              <a:rPr lang="zh-CN" altLang="zh-CN" sz="2800" dirty="0"/>
              <a:t>的地址空间，可根据客户的需要分配适当大小的</a:t>
            </a:r>
            <a:r>
              <a:rPr lang="en-US" altLang="zh-CN" sz="2800" dirty="0"/>
              <a:t> CIDR </a:t>
            </a:r>
            <a:r>
              <a:rPr lang="zh-CN" altLang="zh-CN" sz="2800" dirty="0"/>
              <a:t>地址块。</a:t>
            </a:r>
            <a:r>
              <a:rPr lang="zh-CN" altLang="en-US" sz="2800" dirty="0"/>
              <a:t>  </a:t>
            </a:r>
          </a:p>
        </p:txBody>
      </p:sp>
    </p:spTree>
    <p:extLst>
      <p:ext uri="{BB962C8B-B14F-4D97-AF65-F5344CB8AC3E}">
        <p14:creationId xmlns:p14="http://schemas.microsoft.com/office/powerpoint/2010/main" val="1886408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4" name="Rectangle 4"/>
          <p:cNvSpPr>
            <a:spLocks noGrp="1" noChangeArrowheads="1"/>
          </p:cNvSpPr>
          <p:nvPr>
            <p:ph type="title"/>
          </p:nvPr>
        </p:nvSpPr>
        <p:spPr/>
        <p:txBody>
          <a:bodyPr/>
          <a:lstStyle/>
          <a:p>
            <a:r>
              <a:rPr lang="en-US" altLang="zh-CN" dirty="0"/>
              <a:t>2. </a:t>
            </a:r>
            <a:r>
              <a:rPr lang="zh-CN" altLang="en-US" dirty="0"/>
              <a:t>最长前缀匹配</a:t>
            </a:r>
          </a:p>
        </p:txBody>
      </p:sp>
      <p:sp>
        <p:nvSpPr>
          <p:cNvPr id="532486" name="Rectangle 6"/>
          <p:cNvSpPr>
            <a:spLocks noGrp="1" noChangeArrowheads="1"/>
          </p:cNvSpPr>
          <p:nvPr>
            <p:ph idx="1"/>
          </p:nvPr>
        </p:nvSpPr>
        <p:spPr/>
        <p:txBody>
          <a:bodyPr/>
          <a:lstStyle/>
          <a:p>
            <a:pPr algn="just"/>
            <a:r>
              <a:rPr lang="zh-CN" altLang="en-US" dirty="0"/>
              <a:t>使用 </a:t>
            </a:r>
            <a:r>
              <a:rPr lang="en-US" altLang="zh-CN" dirty="0"/>
              <a:t>CIDR </a:t>
            </a:r>
            <a:r>
              <a:rPr lang="zh-CN" altLang="en-US" dirty="0"/>
              <a:t>时，路由表中的每个项目由“网络前缀”和“下一跳地址”组成。</a:t>
            </a:r>
            <a:r>
              <a:rPr lang="zh-CN" altLang="en-US" dirty="0">
                <a:solidFill>
                  <a:srgbClr val="0000FF"/>
                </a:solidFill>
              </a:rPr>
              <a:t>在查找路由表时可能会得到不止一个匹配结果。</a:t>
            </a:r>
            <a:r>
              <a:rPr lang="zh-CN" altLang="en-US" dirty="0"/>
              <a:t> </a:t>
            </a:r>
          </a:p>
          <a:p>
            <a:pPr algn="just"/>
            <a:r>
              <a:rPr lang="zh-CN" altLang="en-US" dirty="0"/>
              <a:t>应当从匹配结果中选择具有最长网络前缀的路由：</a:t>
            </a:r>
            <a:r>
              <a:rPr lang="zh-CN" altLang="en-US" dirty="0">
                <a:solidFill>
                  <a:srgbClr val="FF0000"/>
                </a:solidFill>
              </a:rPr>
              <a:t>最长前缀匹配</a:t>
            </a:r>
            <a:r>
              <a:rPr lang="zh-CN" altLang="en-US" dirty="0"/>
              <a:t> </a:t>
            </a:r>
            <a:r>
              <a:rPr lang="en-US" altLang="zh-CN" dirty="0"/>
              <a:t>(longest-prefix matching)</a:t>
            </a:r>
            <a:r>
              <a:rPr lang="zh-CN" altLang="en-US" dirty="0"/>
              <a:t>。</a:t>
            </a:r>
          </a:p>
          <a:p>
            <a:pPr algn="just"/>
            <a:r>
              <a:rPr lang="zh-CN" altLang="en-US" dirty="0"/>
              <a:t>网络前缀越长，其地址块就越小，因而路由就越具体 </a:t>
            </a:r>
            <a:r>
              <a:rPr lang="en-US" altLang="zh-CN" dirty="0"/>
              <a:t>(more specific) </a:t>
            </a:r>
            <a:r>
              <a:rPr lang="zh-CN" altLang="en-US" dirty="0"/>
              <a:t>。</a:t>
            </a:r>
          </a:p>
          <a:p>
            <a:pPr algn="just"/>
            <a:r>
              <a:rPr lang="zh-CN" altLang="en-US" dirty="0"/>
              <a:t>最长前缀匹配又称为</a:t>
            </a:r>
            <a:r>
              <a:rPr lang="zh-CN" altLang="en-US" dirty="0">
                <a:solidFill>
                  <a:srgbClr val="FF0000"/>
                </a:solidFill>
              </a:rPr>
              <a:t>最长匹配</a:t>
            </a:r>
            <a:r>
              <a:rPr lang="zh-CN" altLang="en-US" dirty="0"/>
              <a:t>或</a:t>
            </a:r>
            <a:r>
              <a:rPr lang="zh-CN" altLang="en-US" dirty="0">
                <a:solidFill>
                  <a:srgbClr val="FF0000"/>
                </a:solidFill>
              </a:rPr>
              <a:t>最佳匹配。</a:t>
            </a:r>
          </a:p>
        </p:txBody>
      </p:sp>
      <p:sp>
        <p:nvSpPr>
          <p:cNvPr id="532482" name="Rectangle 2"/>
          <p:cNvSpPr>
            <a:spLocks noChangeArrowheads="1"/>
          </p:cNvSpPr>
          <p:nvPr/>
        </p:nvSpPr>
        <p:spPr bwMode="auto">
          <a:xfrm>
            <a:off x="0" y="3053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483" name="Rectangle 3"/>
          <p:cNvSpPr>
            <a:spLocks noChangeArrowheads="1"/>
          </p:cNvSpPr>
          <p:nvPr/>
        </p:nvSpPr>
        <p:spPr bwMode="auto">
          <a:xfrm>
            <a:off x="0" y="30585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2485" name="Rectangle 5"/>
          <p:cNvSpPr>
            <a:spLocks noChangeArrowheads="1"/>
          </p:cNvSpPr>
          <p:nvPr/>
        </p:nvSpPr>
        <p:spPr bwMode="auto">
          <a:xfrm>
            <a:off x="0"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953591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r>
              <a:rPr lang="en-US" altLang="zh-CN" dirty="0"/>
              <a:t>3. </a:t>
            </a:r>
            <a:r>
              <a:rPr lang="zh-CN" altLang="en-US" dirty="0"/>
              <a:t>使用二叉线索查找路由表</a:t>
            </a:r>
          </a:p>
        </p:txBody>
      </p:sp>
      <p:sp>
        <p:nvSpPr>
          <p:cNvPr id="536579" name="Rectangle 3"/>
          <p:cNvSpPr>
            <a:spLocks noGrp="1" noChangeArrowheads="1"/>
          </p:cNvSpPr>
          <p:nvPr>
            <p:ph idx="1"/>
          </p:nvPr>
        </p:nvSpPr>
        <p:spPr/>
        <p:txBody>
          <a:bodyPr/>
          <a:lstStyle/>
          <a:p>
            <a:pPr algn="just"/>
            <a:r>
              <a:rPr lang="zh-CN" altLang="en-US" sz="2700" dirty="0"/>
              <a:t>当路由表的项目数很大时，怎样设法减小路由表的查找时间就成为一个非常重要的问题。 </a:t>
            </a:r>
          </a:p>
          <a:p>
            <a:pPr algn="just"/>
            <a:r>
              <a:rPr lang="zh-CN" altLang="en-US" sz="2700" dirty="0">
                <a:solidFill>
                  <a:srgbClr val="0000FF"/>
                </a:solidFill>
              </a:rPr>
              <a:t>为了进行更加有效的查找</a:t>
            </a:r>
            <a:r>
              <a:rPr lang="zh-CN" altLang="en-US" sz="2700" dirty="0"/>
              <a:t>，通常是将无分类编址的路由表存放在一种</a:t>
            </a:r>
            <a:r>
              <a:rPr lang="zh-CN" altLang="en-US" sz="2700" dirty="0">
                <a:solidFill>
                  <a:srgbClr val="0000FF"/>
                </a:solidFill>
              </a:rPr>
              <a:t>层次的数据结构</a:t>
            </a:r>
            <a:r>
              <a:rPr lang="zh-CN" altLang="en-US" sz="2700" dirty="0"/>
              <a:t>中，然后自</a:t>
            </a:r>
            <a:r>
              <a:rPr lang="zh-CN" altLang="en-US" sz="2700" dirty="0">
                <a:solidFill>
                  <a:srgbClr val="0000FF"/>
                </a:solidFill>
              </a:rPr>
              <a:t>上而下地按层次</a:t>
            </a:r>
            <a:r>
              <a:rPr lang="zh-CN" altLang="en-US" sz="2700" dirty="0"/>
              <a:t>进行查找。这里最常用的就是</a:t>
            </a:r>
            <a:r>
              <a:rPr lang="zh-CN" altLang="en-US" sz="2700" dirty="0">
                <a:solidFill>
                  <a:srgbClr val="FF0000"/>
                </a:solidFill>
              </a:rPr>
              <a:t>二叉线索 </a:t>
            </a:r>
            <a:r>
              <a:rPr lang="en-US" altLang="zh-CN" sz="2700" dirty="0"/>
              <a:t>(binary </a:t>
            </a:r>
            <a:r>
              <a:rPr lang="en-US" altLang="zh-CN" sz="2700" dirty="0" err="1"/>
              <a:t>trie</a:t>
            </a:r>
            <a:r>
              <a:rPr lang="en-US" altLang="zh-CN" sz="2700" dirty="0"/>
              <a:t>)</a:t>
            </a:r>
            <a:r>
              <a:rPr lang="zh-CN" altLang="en-US" sz="2700" dirty="0"/>
              <a:t>。</a:t>
            </a:r>
          </a:p>
          <a:p>
            <a:pPr algn="just"/>
            <a:r>
              <a:rPr lang="en-US" altLang="zh-CN" sz="2700" dirty="0"/>
              <a:t>IP </a:t>
            </a:r>
            <a:r>
              <a:rPr lang="zh-CN" altLang="en-US" sz="2700" dirty="0"/>
              <a:t>地址中从左到右的比特值决定了从根结点逐层向下层延伸的路径，而二叉线索中的各个路径就代表路由表中存放的各个地址。</a:t>
            </a:r>
          </a:p>
          <a:p>
            <a:pPr algn="just"/>
            <a:r>
              <a:rPr lang="zh-CN" altLang="en-US" sz="2700" dirty="0"/>
              <a:t>为了提高二叉线索的查找速度，广泛使用了各种压缩技术。   </a:t>
            </a:r>
          </a:p>
        </p:txBody>
      </p:sp>
    </p:spTree>
    <p:extLst>
      <p:ext uri="{BB962C8B-B14F-4D97-AF65-F5344CB8AC3E}">
        <p14:creationId xmlns:p14="http://schemas.microsoft.com/office/powerpoint/2010/main" val="1941948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65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65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6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7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4" name="Rectangle 2"/>
          <p:cNvSpPr>
            <a:spLocks noGrp="1" noChangeArrowheads="1"/>
          </p:cNvSpPr>
          <p:nvPr>
            <p:ph type="title"/>
          </p:nvPr>
        </p:nvSpPr>
        <p:spPr/>
        <p:txBody>
          <a:bodyPr/>
          <a:lstStyle/>
          <a:p>
            <a:pPr algn="ctr"/>
            <a:r>
              <a:rPr lang="zh-CN" altLang="en-US" sz="4000"/>
              <a:t>用 </a:t>
            </a:r>
            <a:r>
              <a:rPr lang="en-US" altLang="zh-CN" sz="4000"/>
              <a:t>5 </a:t>
            </a:r>
            <a:r>
              <a:rPr lang="zh-CN" altLang="en-US" sz="4000"/>
              <a:t>个前缀构成的二叉线索 </a:t>
            </a:r>
          </a:p>
        </p:txBody>
      </p:sp>
      <p:sp>
        <p:nvSpPr>
          <p:cNvPr id="991236" name="Text Box 4"/>
          <p:cNvSpPr txBox="1">
            <a:spLocks noChangeArrowheads="1"/>
          </p:cNvSpPr>
          <p:nvPr/>
        </p:nvSpPr>
        <p:spPr bwMode="auto">
          <a:xfrm>
            <a:off x="196130" y="1268760"/>
            <a:ext cx="6685676" cy="2880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Aft>
                <a:spcPct val="30000"/>
              </a:spcAft>
            </a:pPr>
            <a:r>
              <a:rPr kumimoji="1" lang="en-US" altLang="zh-CN" sz="2400" b="1" dirty="0">
                <a:latin typeface="+mn-lt"/>
                <a:ea typeface="黑体" pitchFamily="2" charset="-122"/>
              </a:rPr>
              <a:t>                32 </a:t>
            </a:r>
            <a:r>
              <a:rPr kumimoji="1" lang="zh-CN" altLang="en-US" sz="2400" b="1" dirty="0">
                <a:latin typeface="+mn-lt"/>
                <a:ea typeface="黑体" pitchFamily="2" charset="-122"/>
              </a:rPr>
              <a:t>位的 </a:t>
            </a:r>
            <a:r>
              <a:rPr kumimoji="1" lang="en-US" altLang="zh-CN" sz="2400" b="1" dirty="0">
                <a:latin typeface="+mn-lt"/>
                <a:ea typeface="黑体" pitchFamily="2" charset="-122"/>
              </a:rPr>
              <a:t>IP </a:t>
            </a:r>
            <a:r>
              <a:rPr kumimoji="1" lang="zh-CN" altLang="en-US" sz="2400" b="1" dirty="0">
                <a:latin typeface="+mn-lt"/>
                <a:ea typeface="黑体" pitchFamily="2" charset="-122"/>
              </a:rPr>
              <a:t>地址                    唯一前缀</a:t>
            </a:r>
          </a:p>
          <a:p>
            <a:pPr>
              <a:lnSpc>
                <a:spcPct val="130000"/>
              </a:lnSpc>
            </a:pPr>
            <a:r>
              <a:rPr kumimoji="1" lang="en-US" altLang="zh-CN" sz="2000" b="1" dirty="0">
                <a:solidFill>
                  <a:srgbClr val="0000CC"/>
                </a:solidFill>
                <a:latin typeface="+mn-lt"/>
                <a:ea typeface="黑体" pitchFamily="2" charset="-122"/>
              </a:rPr>
              <a:t>  01000110 00000000 00000000 00000000	0100</a:t>
            </a:r>
          </a:p>
          <a:p>
            <a:pPr>
              <a:lnSpc>
                <a:spcPct val="130000"/>
              </a:lnSpc>
            </a:pPr>
            <a:r>
              <a:rPr kumimoji="1" lang="en-US" altLang="zh-CN" sz="2000" b="1" dirty="0">
                <a:solidFill>
                  <a:srgbClr val="0000CC"/>
                </a:solidFill>
                <a:latin typeface="+mn-lt"/>
                <a:ea typeface="黑体" pitchFamily="2" charset="-122"/>
              </a:rPr>
              <a:t>  01010110 00000000 00000000 00000000	0101</a:t>
            </a:r>
          </a:p>
          <a:p>
            <a:pPr>
              <a:lnSpc>
                <a:spcPct val="130000"/>
              </a:lnSpc>
            </a:pPr>
            <a:r>
              <a:rPr kumimoji="1" lang="en-US" altLang="zh-CN" sz="2000" b="1" dirty="0">
                <a:solidFill>
                  <a:srgbClr val="0000CC"/>
                </a:solidFill>
                <a:latin typeface="+mn-lt"/>
                <a:ea typeface="黑体" pitchFamily="2" charset="-122"/>
              </a:rPr>
              <a:t>  01100001 00000000 00000000 00000000	011</a:t>
            </a:r>
          </a:p>
          <a:p>
            <a:pPr>
              <a:lnSpc>
                <a:spcPct val="130000"/>
              </a:lnSpc>
            </a:pPr>
            <a:r>
              <a:rPr kumimoji="1" lang="en-US" altLang="zh-CN" sz="2000" b="1" dirty="0">
                <a:solidFill>
                  <a:srgbClr val="0000CC"/>
                </a:solidFill>
                <a:latin typeface="+mn-lt"/>
                <a:ea typeface="黑体" pitchFamily="2" charset="-122"/>
              </a:rPr>
              <a:t>  10110000 00000010 00000000 00000000	10110</a:t>
            </a:r>
          </a:p>
          <a:p>
            <a:pPr>
              <a:lnSpc>
                <a:spcPct val="130000"/>
              </a:lnSpc>
            </a:pPr>
            <a:r>
              <a:rPr kumimoji="1" lang="en-US" altLang="zh-CN" sz="2000" b="1" dirty="0">
                <a:solidFill>
                  <a:srgbClr val="0000CC"/>
                </a:solidFill>
                <a:latin typeface="+mn-lt"/>
                <a:ea typeface="黑体" pitchFamily="2" charset="-122"/>
              </a:rPr>
              <a:t>  10111011 00001010 00000000 00000000	10111</a:t>
            </a:r>
          </a:p>
          <a:p>
            <a:endParaRPr kumimoji="1" lang="en-US" altLang="zh-CN" sz="2000" b="1" dirty="0">
              <a:solidFill>
                <a:srgbClr val="0000CC"/>
              </a:solidFill>
              <a:latin typeface="+mn-lt"/>
              <a:ea typeface="黑体" pitchFamily="2" charset="-122"/>
            </a:endParaRPr>
          </a:p>
        </p:txBody>
      </p:sp>
      <p:sp>
        <p:nvSpPr>
          <p:cNvPr id="991237" name="Line 5"/>
          <p:cNvSpPr>
            <a:spLocks noChangeShapeType="1"/>
          </p:cNvSpPr>
          <p:nvPr/>
        </p:nvSpPr>
        <p:spPr bwMode="auto">
          <a:xfrm>
            <a:off x="416496" y="1700808"/>
            <a:ext cx="633670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991269" name="Group 37"/>
          <p:cNvGrpSpPr>
            <a:grpSpLocks/>
          </p:cNvGrpSpPr>
          <p:nvPr/>
        </p:nvGrpSpPr>
        <p:grpSpPr bwMode="auto">
          <a:xfrm>
            <a:off x="6897216" y="1628800"/>
            <a:ext cx="2810139" cy="2463800"/>
            <a:chOff x="4043" y="1379"/>
            <a:chExt cx="1634" cy="1734"/>
          </a:xfrm>
        </p:grpSpPr>
        <p:sp>
          <p:nvSpPr>
            <p:cNvPr id="991238" name="Freeform 6"/>
            <p:cNvSpPr>
              <a:spLocks/>
            </p:cNvSpPr>
            <p:nvPr/>
          </p:nvSpPr>
          <p:spPr bwMode="auto">
            <a:xfrm>
              <a:off x="4787" y="1454"/>
              <a:ext cx="772" cy="1604"/>
            </a:xfrm>
            <a:custGeom>
              <a:avLst/>
              <a:gdLst>
                <a:gd name="T0" fmla="*/ 0 w 772"/>
                <a:gd name="T1" fmla="*/ 0 h 1392"/>
                <a:gd name="T2" fmla="*/ 764 w 772"/>
                <a:gd name="T3" fmla="*/ 272 h 1392"/>
                <a:gd name="T4" fmla="*/ 318 w 772"/>
                <a:gd name="T5" fmla="*/ 564 h 1392"/>
                <a:gd name="T6" fmla="*/ 510 w 772"/>
                <a:gd name="T7" fmla="*/ 840 h 1392"/>
                <a:gd name="T8" fmla="*/ 772 w 772"/>
                <a:gd name="T9" fmla="*/ 1392 h 1392"/>
              </a:gdLst>
              <a:ahLst/>
              <a:cxnLst>
                <a:cxn ang="0">
                  <a:pos x="T0" y="T1"/>
                </a:cxn>
                <a:cxn ang="0">
                  <a:pos x="T2" y="T3"/>
                </a:cxn>
                <a:cxn ang="0">
                  <a:pos x="T4" y="T5"/>
                </a:cxn>
                <a:cxn ang="0">
                  <a:pos x="T6" y="T7"/>
                </a:cxn>
                <a:cxn ang="0">
                  <a:pos x="T8" y="T9"/>
                </a:cxn>
              </a:cxnLst>
              <a:rect l="0" t="0" r="r" b="b"/>
              <a:pathLst>
                <a:path w="772" h="1392">
                  <a:moveTo>
                    <a:pt x="0" y="0"/>
                  </a:moveTo>
                  <a:lnTo>
                    <a:pt x="764" y="272"/>
                  </a:lnTo>
                  <a:lnTo>
                    <a:pt x="318" y="564"/>
                  </a:lnTo>
                  <a:lnTo>
                    <a:pt x="510" y="840"/>
                  </a:lnTo>
                  <a:lnTo>
                    <a:pt x="772" y="1392"/>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91239" name="Freeform 7"/>
            <p:cNvSpPr>
              <a:spLocks/>
            </p:cNvSpPr>
            <p:nvPr/>
          </p:nvSpPr>
          <p:spPr bwMode="auto">
            <a:xfrm>
              <a:off x="4098" y="1447"/>
              <a:ext cx="695" cy="1287"/>
            </a:xfrm>
            <a:custGeom>
              <a:avLst/>
              <a:gdLst>
                <a:gd name="T0" fmla="*/ 695 w 695"/>
                <a:gd name="T1" fmla="*/ 0 h 1117"/>
                <a:gd name="T2" fmla="*/ 0 w 695"/>
                <a:gd name="T3" fmla="*/ 285 h 1117"/>
                <a:gd name="T4" fmla="*/ 399 w 695"/>
                <a:gd name="T5" fmla="*/ 564 h 1117"/>
                <a:gd name="T6" fmla="*/ 174 w 695"/>
                <a:gd name="T7" fmla="*/ 843 h 1117"/>
                <a:gd name="T8" fmla="*/ 338 w 695"/>
                <a:gd name="T9" fmla="*/ 1117 h 1117"/>
              </a:gdLst>
              <a:ahLst/>
              <a:cxnLst>
                <a:cxn ang="0">
                  <a:pos x="T0" y="T1"/>
                </a:cxn>
                <a:cxn ang="0">
                  <a:pos x="T2" y="T3"/>
                </a:cxn>
                <a:cxn ang="0">
                  <a:pos x="T4" y="T5"/>
                </a:cxn>
                <a:cxn ang="0">
                  <a:pos x="T6" y="T7"/>
                </a:cxn>
                <a:cxn ang="0">
                  <a:pos x="T8" y="T9"/>
                </a:cxn>
              </a:cxnLst>
              <a:rect l="0" t="0" r="r" b="b"/>
              <a:pathLst>
                <a:path w="695" h="1117">
                  <a:moveTo>
                    <a:pt x="695" y="0"/>
                  </a:moveTo>
                  <a:lnTo>
                    <a:pt x="0" y="285"/>
                  </a:lnTo>
                  <a:lnTo>
                    <a:pt x="399" y="564"/>
                  </a:lnTo>
                  <a:lnTo>
                    <a:pt x="174" y="843"/>
                  </a:lnTo>
                  <a:lnTo>
                    <a:pt x="338" y="1117"/>
                  </a:lnTo>
                </a:path>
              </a:pathLst>
            </a:custGeom>
            <a:noFill/>
            <a:ln w="57150" cmpd="sng">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91240" name="Line 8"/>
            <p:cNvSpPr>
              <a:spLocks noChangeShapeType="1"/>
            </p:cNvSpPr>
            <p:nvPr/>
          </p:nvSpPr>
          <p:spPr bwMode="auto">
            <a:xfrm flipH="1">
              <a:off x="5311" y="2726"/>
              <a:ext cx="112" cy="3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91241" name="Text Box 9"/>
            <p:cNvSpPr txBox="1">
              <a:spLocks noChangeArrowheads="1"/>
            </p:cNvSpPr>
            <p:nvPr/>
          </p:nvSpPr>
          <p:spPr bwMode="auto">
            <a:xfrm>
              <a:off x="4043" y="2388"/>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0</a:t>
              </a:r>
            </a:p>
          </p:txBody>
        </p:sp>
        <p:sp>
          <p:nvSpPr>
            <p:cNvPr id="991242" name="Text Box 10"/>
            <p:cNvSpPr txBox="1">
              <a:spLocks noChangeArrowheads="1"/>
            </p:cNvSpPr>
            <p:nvPr/>
          </p:nvSpPr>
          <p:spPr bwMode="auto">
            <a:xfrm>
              <a:off x="4223" y="2063"/>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0</a:t>
              </a:r>
            </a:p>
          </p:txBody>
        </p:sp>
        <p:sp>
          <p:nvSpPr>
            <p:cNvPr id="991243" name="Text Box 11"/>
            <p:cNvSpPr txBox="1">
              <a:spLocks noChangeArrowheads="1"/>
            </p:cNvSpPr>
            <p:nvPr/>
          </p:nvSpPr>
          <p:spPr bwMode="auto">
            <a:xfrm>
              <a:off x="5207" y="2728"/>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0</a:t>
              </a:r>
            </a:p>
          </p:txBody>
        </p:sp>
        <p:sp>
          <p:nvSpPr>
            <p:cNvPr id="991244" name="Text Box 12"/>
            <p:cNvSpPr txBox="1">
              <a:spLocks noChangeArrowheads="1"/>
            </p:cNvSpPr>
            <p:nvPr/>
          </p:nvSpPr>
          <p:spPr bwMode="auto">
            <a:xfrm>
              <a:off x="4283" y="1379"/>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0</a:t>
              </a:r>
            </a:p>
          </p:txBody>
        </p:sp>
        <p:sp>
          <p:nvSpPr>
            <p:cNvPr id="991245" name="Line 13"/>
            <p:cNvSpPr>
              <a:spLocks noChangeShapeType="1"/>
            </p:cNvSpPr>
            <p:nvPr/>
          </p:nvSpPr>
          <p:spPr bwMode="auto">
            <a:xfrm flipH="1">
              <a:off x="4155" y="2415"/>
              <a:ext cx="114" cy="3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91246" name="Freeform 14"/>
            <p:cNvSpPr>
              <a:spLocks/>
            </p:cNvSpPr>
            <p:nvPr/>
          </p:nvSpPr>
          <p:spPr bwMode="auto">
            <a:xfrm>
              <a:off x="4503" y="2111"/>
              <a:ext cx="168" cy="304"/>
            </a:xfrm>
            <a:custGeom>
              <a:avLst/>
              <a:gdLst>
                <a:gd name="T0" fmla="*/ 0 w 168"/>
                <a:gd name="T1" fmla="*/ 0 h 264"/>
                <a:gd name="T2" fmla="*/ 168 w 168"/>
                <a:gd name="T3" fmla="*/ 264 h 264"/>
              </a:gdLst>
              <a:ahLst/>
              <a:cxnLst>
                <a:cxn ang="0">
                  <a:pos x="T0" y="T1"/>
                </a:cxn>
                <a:cxn ang="0">
                  <a:pos x="T2" y="T3"/>
                </a:cxn>
              </a:cxnLst>
              <a:rect l="0" t="0" r="r" b="b"/>
              <a:pathLst>
                <a:path w="168" h="264">
                  <a:moveTo>
                    <a:pt x="0" y="0"/>
                  </a:moveTo>
                  <a:lnTo>
                    <a:pt x="168" y="264"/>
                  </a:lnTo>
                </a:path>
              </a:pathLst>
            </a:custGeom>
            <a:noFill/>
            <a:ln w="285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91247" name="Text Box 15"/>
            <p:cNvSpPr txBox="1">
              <a:spLocks noChangeArrowheads="1"/>
            </p:cNvSpPr>
            <p:nvPr/>
          </p:nvSpPr>
          <p:spPr bwMode="auto">
            <a:xfrm>
              <a:off x="5487" y="2734"/>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a:t>
              </a:r>
            </a:p>
          </p:txBody>
        </p:sp>
        <p:sp>
          <p:nvSpPr>
            <p:cNvPr id="991248" name="Text Box 16"/>
            <p:cNvSpPr txBox="1">
              <a:spLocks noChangeArrowheads="1"/>
            </p:cNvSpPr>
            <p:nvPr/>
          </p:nvSpPr>
          <p:spPr bwMode="auto">
            <a:xfrm>
              <a:off x="4545" y="2056"/>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a:t>
              </a:r>
            </a:p>
          </p:txBody>
        </p:sp>
        <p:sp>
          <p:nvSpPr>
            <p:cNvPr id="991249" name="Text Box 17"/>
            <p:cNvSpPr txBox="1">
              <a:spLocks noChangeArrowheads="1"/>
            </p:cNvSpPr>
            <p:nvPr/>
          </p:nvSpPr>
          <p:spPr bwMode="auto">
            <a:xfrm>
              <a:off x="4341" y="2395"/>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a:t>
              </a:r>
            </a:p>
          </p:txBody>
        </p:sp>
        <p:sp>
          <p:nvSpPr>
            <p:cNvPr id="991250" name="Text Box 18"/>
            <p:cNvSpPr txBox="1">
              <a:spLocks noChangeArrowheads="1"/>
            </p:cNvSpPr>
            <p:nvPr/>
          </p:nvSpPr>
          <p:spPr bwMode="auto">
            <a:xfrm>
              <a:off x="4275" y="1732"/>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a:t>
              </a:r>
            </a:p>
          </p:txBody>
        </p:sp>
        <p:sp>
          <p:nvSpPr>
            <p:cNvPr id="991251" name="Text Box 19"/>
            <p:cNvSpPr txBox="1">
              <a:spLocks noChangeArrowheads="1"/>
            </p:cNvSpPr>
            <p:nvPr/>
          </p:nvSpPr>
          <p:spPr bwMode="auto">
            <a:xfrm>
              <a:off x="5151" y="1386"/>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a:t>
              </a:r>
            </a:p>
          </p:txBody>
        </p:sp>
        <p:sp>
          <p:nvSpPr>
            <p:cNvPr id="991252" name="Text Box 20"/>
            <p:cNvSpPr txBox="1">
              <a:spLocks noChangeArrowheads="1"/>
            </p:cNvSpPr>
            <p:nvPr/>
          </p:nvSpPr>
          <p:spPr bwMode="auto">
            <a:xfrm>
              <a:off x="5361" y="2402"/>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a:t>
              </a:r>
            </a:p>
          </p:txBody>
        </p:sp>
        <p:sp>
          <p:nvSpPr>
            <p:cNvPr id="991253" name="Text Box 21"/>
            <p:cNvSpPr txBox="1">
              <a:spLocks noChangeArrowheads="1"/>
            </p:cNvSpPr>
            <p:nvPr/>
          </p:nvSpPr>
          <p:spPr bwMode="auto">
            <a:xfrm>
              <a:off x="5211" y="2063"/>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1</a:t>
              </a:r>
            </a:p>
          </p:txBody>
        </p:sp>
        <p:sp>
          <p:nvSpPr>
            <p:cNvPr id="991254" name="Text Box 22"/>
            <p:cNvSpPr txBox="1">
              <a:spLocks noChangeArrowheads="1"/>
            </p:cNvSpPr>
            <p:nvPr/>
          </p:nvSpPr>
          <p:spPr bwMode="auto">
            <a:xfrm>
              <a:off x="5183" y="1738"/>
              <a:ext cx="190"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0</a:t>
              </a:r>
            </a:p>
          </p:txBody>
        </p:sp>
        <p:sp>
          <p:nvSpPr>
            <p:cNvPr id="991255" name="Oval 23"/>
            <p:cNvSpPr>
              <a:spLocks noChangeArrowheads="1"/>
            </p:cNvSpPr>
            <p:nvPr/>
          </p:nvSpPr>
          <p:spPr bwMode="auto">
            <a:xfrm>
              <a:off x="5085" y="2062"/>
              <a:ext cx="66" cy="7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56" name="Oval 24"/>
            <p:cNvSpPr>
              <a:spLocks noChangeArrowheads="1"/>
            </p:cNvSpPr>
            <p:nvPr/>
          </p:nvSpPr>
          <p:spPr bwMode="auto">
            <a:xfrm>
              <a:off x="4455" y="2062"/>
              <a:ext cx="66" cy="7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57" name="Oval 25"/>
            <p:cNvSpPr>
              <a:spLocks noChangeArrowheads="1"/>
            </p:cNvSpPr>
            <p:nvPr/>
          </p:nvSpPr>
          <p:spPr bwMode="auto">
            <a:xfrm>
              <a:off x="4065" y="1737"/>
              <a:ext cx="66" cy="7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58" name="Oval 26"/>
            <p:cNvSpPr>
              <a:spLocks noChangeArrowheads="1"/>
            </p:cNvSpPr>
            <p:nvPr/>
          </p:nvSpPr>
          <p:spPr bwMode="auto">
            <a:xfrm>
              <a:off x="5259" y="2380"/>
              <a:ext cx="66" cy="7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59" name="Oval 27"/>
            <p:cNvSpPr>
              <a:spLocks noChangeArrowheads="1"/>
            </p:cNvSpPr>
            <p:nvPr/>
          </p:nvSpPr>
          <p:spPr bwMode="auto">
            <a:xfrm>
              <a:off x="5385" y="2691"/>
              <a:ext cx="66" cy="7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60" name="Oval 28"/>
            <p:cNvSpPr>
              <a:spLocks noChangeArrowheads="1"/>
            </p:cNvSpPr>
            <p:nvPr/>
          </p:nvSpPr>
          <p:spPr bwMode="auto">
            <a:xfrm>
              <a:off x="4245" y="2373"/>
              <a:ext cx="66" cy="7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61" name="Oval 29"/>
            <p:cNvSpPr>
              <a:spLocks noChangeArrowheads="1"/>
            </p:cNvSpPr>
            <p:nvPr/>
          </p:nvSpPr>
          <p:spPr bwMode="auto">
            <a:xfrm>
              <a:off x="5505" y="1730"/>
              <a:ext cx="66" cy="7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62" name="Oval 30"/>
            <p:cNvSpPr>
              <a:spLocks noChangeArrowheads="1"/>
            </p:cNvSpPr>
            <p:nvPr/>
          </p:nvSpPr>
          <p:spPr bwMode="auto">
            <a:xfrm>
              <a:off x="4745" y="1412"/>
              <a:ext cx="66" cy="7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63" name="Rectangle 31"/>
            <p:cNvSpPr>
              <a:spLocks noChangeArrowheads="1"/>
            </p:cNvSpPr>
            <p:nvPr/>
          </p:nvSpPr>
          <p:spPr bwMode="auto">
            <a:xfrm>
              <a:off x="4101" y="2677"/>
              <a:ext cx="96" cy="111"/>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64" name="Rectangle 32"/>
            <p:cNvSpPr>
              <a:spLocks noChangeArrowheads="1"/>
            </p:cNvSpPr>
            <p:nvPr/>
          </p:nvSpPr>
          <p:spPr bwMode="auto">
            <a:xfrm>
              <a:off x="4389" y="2671"/>
              <a:ext cx="96" cy="110"/>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65" name="Rectangle 33"/>
            <p:cNvSpPr>
              <a:spLocks noChangeArrowheads="1"/>
            </p:cNvSpPr>
            <p:nvPr/>
          </p:nvSpPr>
          <p:spPr bwMode="auto">
            <a:xfrm>
              <a:off x="4611" y="2359"/>
              <a:ext cx="96" cy="111"/>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66" name="Rectangle 34"/>
            <p:cNvSpPr>
              <a:spLocks noChangeArrowheads="1"/>
            </p:cNvSpPr>
            <p:nvPr/>
          </p:nvSpPr>
          <p:spPr bwMode="auto">
            <a:xfrm>
              <a:off x="5511" y="3002"/>
              <a:ext cx="96" cy="111"/>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91267" name="Rectangle 35"/>
            <p:cNvSpPr>
              <a:spLocks noChangeArrowheads="1"/>
            </p:cNvSpPr>
            <p:nvPr/>
          </p:nvSpPr>
          <p:spPr bwMode="auto">
            <a:xfrm>
              <a:off x="5265" y="3002"/>
              <a:ext cx="96" cy="111"/>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2" name="矩形 1"/>
          <p:cNvSpPr/>
          <p:nvPr/>
        </p:nvSpPr>
        <p:spPr>
          <a:xfrm>
            <a:off x="560512" y="4221088"/>
            <a:ext cx="9073008" cy="2123658"/>
          </a:xfrm>
          <a:prstGeom prst="rect">
            <a:avLst/>
          </a:prstGeom>
          <a:solidFill>
            <a:srgbClr val="66FFFF"/>
          </a:solidFill>
          <a:ln>
            <a:solidFill>
              <a:schemeClr val="tx1"/>
            </a:solidFill>
          </a:ln>
        </p:spPr>
        <p:txBody>
          <a:bodyPr wrap="square">
            <a:spAutoFit/>
          </a:bodyPr>
          <a:lstStyle/>
          <a:p>
            <a:pPr>
              <a:lnSpc>
                <a:spcPct val="110000"/>
              </a:lnSpc>
            </a:pPr>
            <a:r>
              <a:rPr lang="zh-CN" altLang="zh-CN" sz="2400" b="1" dirty="0">
                <a:solidFill>
                  <a:srgbClr val="000066"/>
                </a:solidFill>
                <a:latin typeface="+mn-lt"/>
                <a:ea typeface="黑体" pitchFamily="2" charset="-122"/>
              </a:rPr>
              <a:t>从二叉线索的根节点自顶向下的深度最多有</a:t>
            </a:r>
            <a:r>
              <a:rPr lang="en-US" altLang="zh-CN" sz="2400" b="1" dirty="0">
                <a:solidFill>
                  <a:srgbClr val="000066"/>
                </a:solidFill>
                <a:latin typeface="+mn-lt"/>
                <a:ea typeface="黑体" pitchFamily="2" charset="-122"/>
              </a:rPr>
              <a:t> 32 </a:t>
            </a:r>
            <a:r>
              <a:rPr lang="zh-CN" altLang="zh-CN" sz="2400" b="1" dirty="0">
                <a:solidFill>
                  <a:srgbClr val="000066"/>
                </a:solidFill>
                <a:latin typeface="+mn-lt"/>
                <a:ea typeface="黑体" pitchFamily="2" charset="-122"/>
              </a:rPr>
              <a:t>层，每一层对应于</a:t>
            </a:r>
            <a:r>
              <a:rPr lang="en-US" altLang="zh-CN" sz="2400" b="1" dirty="0">
                <a:solidFill>
                  <a:srgbClr val="000066"/>
                </a:solidFill>
                <a:latin typeface="+mn-lt"/>
                <a:ea typeface="黑体" pitchFamily="2" charset="-122"/>
              </a:rPr>
              <a:t>IP</a:t>
            </a:r>
            <a:r>
              <a:rPr lang="zh-CN" altLang="zh-CN" sz="2400" b="1" dirty="0">
                <a:solidFill>
                  <a:srgbClr val="000066"/>
                </a:solidFill>
                <a:latin typeface="+mn-lt"/>
                <a:ea typeface="黑体" pitchFamily="2" charset="-122"/>
              </a:rPr>
              <a:t>地址中的一位。一个</a:t>
            </a:r>
            <a:r>
              <a:rPr lang="en-US" altLang="zh-CN" sz="2400" b="1" dirty="0">
                <a:solidFill>
                  <a:srgbClr val="000066"/>
                </a:solidFill>
                <a:latin typeface="+mn-lt"/>
                <a:ea typeface="黑体" pitchFamily="2" charset="-122"/>
              </a:rPr>
              <a:t>IP</a:t>
            </a:r>
            <a:r>
              <a:rPr lang="zh-CN" altLang="zh-CN" sz="2400" b="1" dirty="0">
                <a:solidFill>
                  <a:srgbClr val="000066"/>
                </a:solidFill>
                <a:latin typeface="+mn-lt"/>
                <a:ea typeface="黑体" pitchFamily="2" charset="-122"/>
              </a:rPr>
              <a:t>地址存入二叉线索的规则很简单。先检查</a:t>
            </a:r>
            <a:r>
              <a:rPr lang="en-US" altLang="zh-CN" sz="2400" b="1" dirty="0">
                <a:solidFill>
                  <a:srgbClr val="000066"/>
                </a:solidFill>
                <a:latin typeface="+mn-lt"/>
                <a:ea typeface="黑体" pitchFamily="2" charset="-122"/>
              </a:rPr>
              <a:t>IP</a:t>
            </a:r>
            <a:r>
              <a:rPr lang="zh-CN" altLang="zh-CN" sz="2400" b="1" dirty="0">
                <a:solidFill>
                  <a:srgbClr val="000066"/>
                </a:solidFill>
                <a:latin typeface="+mn-lt"/>
                <a:ea typeface="黑体" pitchFamily="2" charset="-122"/>
              </a:rPr>
              <a:t>地址左边的第一位，如为</a:t>
            </a:r>
            <a:r>
              <a:rPr lang="en-US" altLang="zh-CN" sz="2400" b="1" dirty="0">
                <a:solidFill>
                  <a:srgbClr val="000066"/>
                </a:solidFill>
                <a:latin typeface="+mn-lt"/>
                <a:ea typeface="黑体" pitchFamily="2" charset="-122"/>
              </a:rPr>
              <a:t> 0</a:t>
            </a:r>
            <a:r>
              <a:rPr lang="zh-CN" altLang="zh-CN" sz="2400" b="1" dirty="0">
                <a:solidFill>
                  <a:srgbClr val="000066"/>
                </a:solidFill>
                <a:latin typeface="+mn-lt"/>
                <a:ea typeface="黑体" pitchFamily="2" charset="-122"/>
              </a:rPr>
              <a:t>，则第一层的节点就在根节点的左下方；如为</a:t>
            </a:r>
            <a:r>
              <a:rPr lang="en-US" altLang="zh-CN" sz="2400" b="1" dirty="0">
                <a:solidFill>
                  <a:srgbClr val="000066"/>
                </a:solidFill>
                <a:latin typeface="+mn-lt"/>
                <a:ea typeface="黑体" pitchFamily="2" charset="-122"/>
              </a:rPr>
              <a:t> 1</a:t>
            </a:r>
            <a:r>
              <a:rPr lang="zh-CN" altLang="zh-CN" sz="2400" b="1" dirty="0">
                <a:solidFill>
                  <a:srgbClr val="000066"/>
                </a:solidFill>
                <a:latin typeface="+mn-lt"/>
                <a:ea typeface="黑体" pitchFamily="2" charset="-122"/>
              </a:rPr>
              <a:t>，则在右下方。然后再检查地址的第二位，构造出第二层的节点。依此类推，直到唯一前缀的最后一位。</a:t>
            </a:r>
            <a:endParaRPr lang="zh-CN" altLang="en-US" sz="2400" b="1" dirty="0">
              <a:solidFill>
                <a:srgbClr val="000066"/>
              </a:solidFill>
              <a:latin typeface="+mn-lt"/>
              <a:ea typeface="黑体" pitchFamily="2" charset="-122"/>
            </a:endParaRPr>
          </a:p>
        </p:txBody>
      </p:sp>
    </p:spTree>
    <p:extLst>
      <p:ext uri="{BB962C8B-B14F-4D97-AF65-F5344CB8AC3E}">
        <p14:creationId xmlns:p14="http://schemas.microsoft.com/office/powerpoint/2010/main" val="2447308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（下）</a:t>
            </a:r>
          </a:p>
        </p:txBody>
      </p:sp>
      <p:sp>
        <p:nvSpPr>
          <p:cNvPr id="3" name="内容占位符 2"/>
          <p:cNvSpPr>
            <a:spLocks noGrp="1"/>
          </p:cNvSpPr>
          <p:nvPr>
            <p:ph idx="1"/>
          </p:nvPr>
        </p:nvSpPr>
        <p:spPr/>
        <p:txBody>
          <a:bodyPr/>
          <a:lstStyle/>
          <a:p>
            <a:pPr>
              <a:lnSpc>
                <a:spcPct val="100000"/>
              </a:lnSpc>
            </a:pPr>
            <a:r>
              <a:rPr lang="zh-CN" altLang="zh-CN" dirty="0">
                <a:solidFill>
                  <a:schemeClr val="bg1">
                    <a:lumMod val="75000"/>
                  </a:schemeClr>
                </a:solidFill>
              </a:rPr>
              <a:t>划分子网</a:t>
            </a:r>
            <a:endParaRPr lang="en-US" altLang="zh-CN" dirty="0">
              <a:solidFill>
                <a:schemeClr val="bg1">
                  <a:lumMod val="75000"/>
                </a:schemeClr>
              </a:solidFill>
            </a:endParaRPr>
          </a:p>
          <a:p>
            <a:pPr>
              <a:lnSpc>
                <a:spcPct val="100000"/>
              </a:lnSpc>
            </a:pPr>
            <a:r>
              <a:rPr lang="zh-CN" altLang="zh-CN" dirty="0">
                <a:solidFill>
                  <a:schemeClr val="bg1">
                    <a:lumMod val="75000"/>
                  </a:schemeClr>
                </a:solidFill>
              </a:rPr>
              <a:t>构造超网</a:t>
            </a:r>
          </a:p>
          <a:p>
            <a:pPr>
              <a:lnSpc>
                <a:spcPct val="100000"/>
              </a:lnSpc>
            </a:pPr>
            <a:r>
              <a:rPr lang="zh-CN" altLang="zh-CN" sz="3600" dirty="0">
                <a:solidFill>
                  <a:srgbClr val="FF0000"/>
                </a:solidFill>
              </a:rPr>
              <a:t>互联网的路由选择协议</a:t>
            </a:r>
          </a:p>
          <a:p>
            <a:pPr>
              <a:lnSpc>
                <a:spcPct val="100000"/>
              </a:lnSpc>
            </a:pPr>
            <a:r>
              <a:rPr lang="en-US" altLang="zh-CN" dirty="0">
                <a:solidFill>
                  <a:schemeClr val="bg1">
                    <a:lumMod val="75000"/>
                  </a:schemeClr>
                </a:solidFill>
              </a:rPr>
              <a:t>IPv6</a:t>
            </a:r>
            <a:endParaRPr lang="zh-CN" altLang="zh-CN" dirty="0">
              <a:solidFill>
                <a:schemeClr val="bg1">
                  <a:lumMod val="75000"/>
                </a:schemeClr>
              </a:solidFill>
            </a:endParaRPr>
          </a:p>
          <a:p>
            <a:pPr>
              <a:lnSpc>
                <a:spcPct val="100000"/>
              </a:lnSpc>
            </a:pPr>
            <a:r>
              <a:rPr lang="en-US" altLang="zh-CN" dirty="0">
                <a:solidFill>
                  <a:schemeClr val="bg1">
                    <a:lumMod val="75000"/>
                  </a:schemeClr>
                </a:solidFill>
              </a:rPr>
              <a:t>IP</a:t>
            </a:r>
            <a:r>
              <a:rPr lang="zh-CN" altLang="zh-CN" dirty="0">
                <a:solidFill>
                  <a:schemeClr val="bg1">
                    <a:lumMod val="75000"/>
                  </a:schemeClr>
                </a:solidFill>
              </a:rPr>
              <a:t>多播</a:t>
            </a:r>
          </a:p>
          <a:p>
            <a:pPr>
              <a:lnSpc>
                <a:spcPct val="100000"/>
              </a:lnSpc>
            </a:pPr>
            <a:r>
              <a:rPr lang="zh-CN" altLang="zh-CN" dirty="0">
                <a:solidFill>
                  <a:schemeClr val="bg1">
                    <a:lumMod val="75000"/>
                  </a:schemeClr>
                </a:solidFill>
              </a:rPr>
              <a:t>虚拟专用网</a:t>
            </a:r>
            <a:r>
              <a:rPr lang="en-US" altLang="zh-CN" dirty="0">
                <a:solidFill>
                  <a:schemeClr val="bg1">
                    <a:lumMod val="75000"/>
                  </a:schemeClr>
                </a:solidFill>
              </a:rPr>
              <a:t> VPN</a:t>
            </a:r>
          </a:p>
          <a:p>
            <a:pPr>
              <a:lnSpc>
                <a:spcPct val="100000"/>
              </a:lnSpc>
            </a:pPr>
            <a:r>
              <a:rPr lang="zh-CN" altLang="zh-CN" dirty="0">
                <a:solidFill>
                  <a:schemeClr val="bg1">
                    <a:lumMod val="75000"/>
                  </a:schemeClr>
                </a:solidFill>
              </a:rPr>
              <a:t>网络地址转换</a:t>
            </a:r>
            <a:r>
              <a:rPr lang="en-US" altLang="zh-CN" dirty="0">
                <a:solidFill>
                  <a:schemeClr val="bg1">
                    <a:lumMod val="75000"/>
                  </a:schemeClr>
                </a:solidFill>
              </a:rPr>
              <a:t> NAT</a:t>
            </a:r>
            <a:endParaRPr lang="zh-CN" altLang="zh-CN" dirty="0">
              <a:solidFill>
                <a:schemeClr val="bg1">
                  <a:lumMod val="75000"/>
                </a:schemeClr>
              </a:solidFill>
            </a:endParaRPr>
          </a:p>
        </p:txBody>
      </p:sp>
    </p:spTree>
    <p:extLst>
      <p:ext uri="{BB962C8B-B14F-4D97-AF65-F5344CB8AC3E}">
        <p14:creationId xmlns:p14="http://schemas.microsoft.com/office/powerpoint/2010/main" val="4178617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r>
              <a:rPr lang="zh-CN" altLang="zh-CN" dirty="0"/>
              <a:t>路由选择协议</a:t>
            </a:r>
            <a:r>
              <a:rPr lang="en-US" altLang="zh-CN" dirty="0"/>
              <a:t>: </a:t>
            </a:r>
            <a:r>
              <a:rPr lang="zh-CN" altLang="en-US" dirty="0"/>
              <a:t>基本概念</a:t>
            </a:r>
          </a:p>
        </p:txBody>
      </p:sp>
      <p:sp>
        <p:nvSpPr>
          <p:cNvPr id="545795" name="Rectangle 3"/>
          <p:cNvSpPr>
            <a:spLocks noGrp="1" noChangeArrowheads="1"/>
          </p:cNvSpPr>
          <p:nvPr>
            <p:ph idx="1"/>
          </p:nvPr>
        </p:nvSpPr>
        <p:spPr/>
        <p:txBody>
          <a:bodyPr/>
          <a:lstStyle/>
          <a:p>
            <a:pPr>
              <a:buFont typeface="Wingdings" pitchFamily="2" charset="2"/>
              <a:buNone/>
            </a:pPr>
            <a:r>
              <a:rPr lang="en-US" altLang="zh-CN" sz="4400" dirty="0">
                <a:solidFill>
                  <a:srgbClr val="333399"/>
                </a:solidFill>
              </a:rPr>
              <a:t>1. </a:t>
            </a:r>
            <a:r>
              <a:rPr lang="zh-CN" altLang="en-US" sz="4400" dirty="0">
                <a:solidFill>
                  <a:srgbClr val="333399"/>
                </a:solidFill>
              </a:rPr>
              <a:t>理想的路由算法</a:t>
            </a:r>
          </a:p>
          <a:p>
            <a:pPr algn="just"/>
            <a:r>
              <a:rPr lang="zh-CN" altLang="en-US" dirty="0"/>
              <a:t>算法必须是正确的和完整的。 </a:t>
            </a:r>
          </a:p>
          <a:p>
            <a:pPr algn="just"/>
            <a:r>
              <a:rPr lang="zh-CN" altLang="en-US" dirty="0"/>
              <a:t>算法在计算上应简单。 </a:t>
            </a:r>
          </a:p>
          <a:p>
            <a:pPr algn="just"/>
            <a:r>
              <a:rPr lang="zh-CN" altLang="en-US" dirty="0"/>
              <a:t>算法应能适应通信量和网络拓扑的变化，这就是说，要有自适应性。 </a:t>
            </a:r>
          </a:p>
          <a:p>
            <a:pPr algn="just"/>
            <a:r>
              <a:rPr lang="zh-CN" altLang="en-US" dirty="0"/>
              <a:t>算法应具有稳定性。 </a:t>
            </a:r>
          </a:p>
          <a:p>
            <a:pPr algn="just"/>
            <a:r>
              <a:rPr lang="zh-CN" altLang="en-US" dirty="0"/>
              <a:t>算法应是公平的。 </a:t>
            </a:r>
          </a:p>
          <a:p>
            <a:pPr algn="just"/>
            <a:r>
              <a:rPr lang="zh-CN" altLang="en-US" dirty="0"/>
              <a:t>算法应是最佳的。 </a:t>
            </a:r>
          </a:p>
        </p:txBody>
      </p:sp>
    </p:spTree>
    <p:extLst>
      <p:ext uri="{BB962C8B-B14F-4D97-AF65-F5344CB8AC3E}">
        <p14:creationId xmlns:p14="http://schemas.microsoft.com/office/powerpoint/2010/main" val="3869384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p:txBody>
          <a:bodyPr/>
          <a:lstStyle/>
          <a:p>
            <a:pPr algn="ctr"/>
            <a:r>
              <a:rPr lang="zh-CN" altLang="en-US" dirty="0"/>
              <a:t>关于“最佳路由” </a:t>
            </a:r>
          </a:p>
        </p:txBody>
      </p:sp>
      <p:sp>
        <p:nvSpPr>
          <p:cNvPr id="547843" name="Rectangle 3"/>
          <p:cNvSpPr>
            <a:spLocks noGrp="1" noChangeArrowheads="1"/>
          </p:cNvSpPr>
          <p:nvPr>
            <p:ph idx="1"/>
          </p:nvPr>
        </p:nvSpPr>
        <p:spPr/>
        <p:txBody>
          <a:bodyPr/>
          <a:lstStyle/>
          <a:p>
            <a:pPr algn="just"/>
            <a:r>
              <a:rPr lang="zh-CN" altLang="en-US" dirty="0"/>
              <a:t>不存在一种绝对的最佳路由算法。</a:t>
            </a:r>
          </a:p>
          <a:p>
            <a:pPr algn="just"/>
            <a:r>
              <a:rPr lang="zh-CN" altLang="en-US" dirty="0">
                <a:solidFill>
                  <a:srgbClr val="0000FF"/>
                </a:solidFill>
              </a:rPr>
              <a:t>所谓“</a:t>
            </a:r>
            <a:r>
              <a:rPr lang="zh-CN" altLang="en-US" dirty="0">
                <a:solidFill>
                  <a:srgbClr val="FF0000"/>
                </a:solidFill>
              </a:rPr>
              <a:t>最佳</a:t>
            </a:r>
            <a:r>
              <a:rPr lang="zh-CN" altLang="en-US" dirty="0">
                <a:solidFill>
                  <a:srgbClr val="0000FF"/>
                </a:solidFill>
              </a:rPr>
              <a:t>”只能是相对于某一种特定要求下得出的较为合理的选择而已。</a:t>
            </a:r>
          </a:p>
          <a:p>
            <a:pPr algn="just"/>
            <a:r>
              <a:rPr lang="zh-CN" altLang="en-US" dirty="0"/>
              <a:t>实际的路由选择算法，应尽可能接近于理想的算法。 </a:t>
            </a:r>
          </a:p>
          <a:p>
            <a:pPr algn="just"/>
            <a:r>
              <a:rPr lang="zh-CN" altLang="en-US" dirty="0"/>
              <a:t>路由选择是个非常复杂的问题</a:t>
            </a:r>
          </a:p>
          <a:p>
            <a:pPr lvl="1" algn="just"/>
            <a:r>
              <a:rPr lang="zh-CN" altLang="en-US" dirty="0">
                <a:solidFill>
                  <a:srgbClr val="0000FF"/>
                </a:solidFill>
              </a:rPr>
              <a:t>它是网络中的所有结点共同协调工作的结果。</a:t>
            </a:r>
          </a:p>
          <a:p>
            <a:pPr lvl="1" algn="just"/>
            <a:r>
              <a:rPr lang="zh-CN" altLang="en-US" dirty="0">
                <a:solidFill>
                  <a:srgbClr val="0000FF"/>
                </a:solidFill>
              </a:rPr>
              <a:t>路由选择的环境往往是不断变化的，而这种变化有时无法事先知道。  </a:t>
            </a:r>
          </a:p>
        </p:txBody>
      </p:sp>
    </p:spTree>
    <p:extLst>
      <p:ext uri="{BB962C8B-B14F-4D97-AF65-F5344CB8AC3E}">
        <p14:creationId xmlns:p14="http://schemas.microsoft.com/office/powerpoint/2010/main" val="2289387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p:txBody>
          <a:bodyPr/>
          <a:lstStyle/>
          <a:p>
            <a:pPr algn="ctr"/>
            <a:r>
              <a:rPr lang="zh-CN" altLang="en-US" dirty="0"/>
              <a:t>从路由算法的自适应性考虑</a:t>
            </a:r>
          </a:p>
        </p:txBody>
      </p:sp>
      <p:sp>
        <p:nvSpPr>
          <p:cNvPr id="548867" name="Rectangle 3"/>
          <p:cNvSpPr>
            <a:spLocks noGrp="1" noChangeArrowheads="1"/>
          </p:cNvSpPr>
          <p:nvPr>
            <p:ph idx="1"/>
          </p:nvPr>
        </p:nvSpPr>
        <p:spPr/>
        <p:txBody>
          <a:bodyPr/>
          <a:lstStyle/>
          <a:p>
            <a:pPr algn="just"/>
            <a:r>
              <a:rPr lang="zh-CN" altLang="en-US" dirty="0">
                <a:solidFill>
                  <a:srgbClr val="FF0000"/>
                </a:solidFill>
              </a:rPr>
              <a:t>静态</a:t>
            </a:r>
            <a:r>
              <a:rPr lang="zh-CN" altLang="en-US" dirty="0"/>
              <a:t>路由选择策略</a:t>
            </a:r>
            <a:r>
              <a:rPr lang="en-US" altLang="zh-CN" dirty="0"/>
              <a:t>——</a:t>
            </a:r>
            <a:r>
              <a:rPr lang="zh-CN" altLang="en-US" dirty="0"/>
              <a:t>即</a:t>
            </a:r>
            <a:r>
              <a:rPr lang="zh-CN" altLang="en-US" dirty="0">
                <a:solidFill>
                  <a:srgbClr val="0000FF"/>
                </a:solidFill>
              </a:rPr>
              <a:t>非自适应路由选择，</a:t>
            </a:r>
            <a:r>
              <a:rPr lang="zh-CN" altLang="en-US" dirty="0"/>
              <a:t>其特点是简单和开销较小，但不能及时适应网络状态的变化。 </a:t>
            </a:r>
          </a:p>
          <a:p>
            <a:pPr algn="just"/>
            <a:r>
              <a:rPr lang="zh-CN" altLang="en-US" dirty="0">
                <a:solidFill>
                  <a:srgbClr val="FF0000"/>
                </a:solidFill>
              </a:rPr>
              <a:t>动态</a:t>
            </a:r>
            <a:r>
              <a:rPr lang="zh-CN" altLang="en-US" dirty="0"/>
              <a:t>路由选择策略</a:t>
            </a:r>
            <a:r>
              <a:rPr lang="en-US" altLang="zh-CN" dirty="0"/>
              <a:t>——</a:t>
            </a:r>
            <a:r>
              <a:rPr lang="zh-CN" altLang="en-US" dirty="0"/>
              <a:t>即</a:t>
            </a:r>
            <a:r>
              <a:rPr lang="zh-CN" altLang="en-US" dirty="0">
                <a:solidFill>
                  <a:srgbClr val="0000FF"/>
                </a:solidFill>
              </a:rPr>
              <a:t>自适应路由选择，</a:t>
            </a:r>
            <a:r>
              <a:rPr lang="zh-CN" altLang="en-US" dirty="0"/>
              <a:t>其特点是能较好地适应网络状态的变化，但实现起来较为复杂，开销也比较大。  </a:t>
            </a:r>
          </a:p>
        </p:txBody>
      </p:sp>
    </p:spTree>
    <p:extLst>
      <p:ext uri="{BB962C8B-B14F-4D97-AF65-F5344CB8AC3E}">
        <p14:creationId xmlns:p14="http://schemas.microsoft.com/office/powerpoint/2010/main" val="3540981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en-US" altLang="zh-CN" dirty="0"/>
              <a:t>2.  </a:t>
            </a:r>
            <a:r>
              <a:rPr lang="zh-CN" altLang="en-US" dirty="0"/>
              <a:t>分层次的路由选择协议</a:t>
            </a:r>
          </a:p>
        </p:txBody>
      </p:sp>
      <p:sp>
        <p:nvSpPr>
          <p:cNvPr id="549891" name="Rectangle 3"/>
          <p:cNvSpPr>
            <a:spLocks noGrp="1" noChangeArrowheads="1"/>
          </p:cNvSpPr>
          <p:nvPr>
            <p:ph idx="1"/>
          </p:nvPr>
        </p:nvSpPr>
        <p:spPr/>
        <p:txBody>
          <a:bodyPr/>
          <a:lstStyle/>
          <a:p>
            <a:pPr algn="just"/>
            <a:r>
              <a:rPr lang="zh-CN" altLang="en-US" dirty="0">
                <a:solidFill>
                  <a:srgbClr val="FF0000"/>
                </a:solidFill>
              </a:rPr>
              <a:t>互联网采用分层次的路由选择协议。</a:t>
            </a:r>
            <a:r>
              <a:rPr lang="zh-CN" altLang="en-US" dirty="0"/>
              <a:t>这是因为：</a:t>
            </a:r>
          </a:p>
          <a:p>
            <a:pPr lvl="1" algn="just"/>
            <a:r>
              <a:rPr lang="en-US" altLang="zh-CN" dirty="0"/>
              <a:t>(1) </a:t>
            </a:r>
            <a:r>
              <a:rPr lang="zh-CN" altLang="en-US" dirty="0"/>
              <a:t>互联网的规模非常大。如果让所有的路由器知道所有的网络应怎样到达，则这种路由表将非常大，处理起来也太花时间。而所有这些路由器之间交换路由信息所需的带宽就会使互联网的通信链路饱和。</a:t>
            </a:r>
          </a:p>
          <a:p>
            <a:pPr lvl="1" algn="just"/>
            <a:r>
              <a:rPr lang="en-US" altLang="zh-CN" dirty="0"/>
              <a:t>(2) </a:t>
            </a:r>
            <a:r>
              <a:rPr lang="zh-CN" altLang="en-US" dirty="0"/>
              <a:t>许多单位不愿意外界了解自己单位网络的布局细节和本部门所采用的路由选择协议（这属于本部门内部的事情），但同时还希望连接到互联网上。   </a:t>
            </a:r>
          </a:p>
        </p:txBody>
      </p:sp>
    </p:spTree>
    <p:extLst>
      <p:ext uri="{BB962C8B-B14F-4D97-AF65-F5344CB8AC3E}">
        <p14:creationId xmlns:p14="http://schemas.microsoft.com/office/powerpoint/2010/main" val="6814913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a:xfrm>
            <a:off x="495300" y="188640"/>
            <a:ext cx="9066212" cy="1512168"/>
          </a:xfrm>
        </p:spPr>
        <p:txBody>
          <a:bodyPr/>
          <a:lstStyle/>
          <a:p>
            <a:pPr algn="ctr"/>
            <a:r>
              <a:rPr lang="zh-CN" altLang="en-US" dirty="0"/>
              <a:t>自治系统 </a:t>
            </a:r>
            <a:r>
              <a:rPr lang="en-US" altLang="zh-CN" dirty="0"/>
              <a:t>AS</a:t>
            </a:r>
            <a:br>
              <a:rPr lang="en-US" altLang="zh-CN" dirty="0"/>
            </a:br>
            <a:r>
              <a:rPr lang="en-US" altLang="zh-CN" dirty="0"/>
              <a:t>(Autonomous System) </a:t>
            </a:r>
          </a:p>
        </p:txBody>
      </p:sp>
      <p:sp>
        <p:nvSpPr>
          <p:cNvPr id="550916" name="Rectangle 4"/>
          <p:cNvSpPr>
            <a:spLocks noGrp="1" noChangeArrowheads="1"/>
          </p:cNvSpPr>
          <p:nvPr>
            <p:ph idx="1"/>
          </p:nvPr>
        </p:nvSpPr>
        <p:spPr>
          <a:xfrm>
            <a:off x="495300" y="1772816"/>
            <a:ext cx="9066212" cy="4358109"/>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a:r>
              <a:rPr lang="zh-CN" altLang="en-US" sz="2800" dirty="0">
                <a:solidFill>
                  <a:srgbClr val="FF0000"/>
                </a:solidFill>
              </a:rPr>
              <a:t>自治系统 </a:t>
            </a:r>
            <a:r>
              <a:rPr lang="en-US" altLang="zh-CN" sz="2800" dirty="0">
                <a:solidFill>
                  <a:srgbClr val="FF0000"/>
                </a:solidFill>
              </a:rPr>
              <a:t>AS </a:t>
            </a:r>
            <a:r>
              <a:rPr lang="zh-CN" altLang="en-US" sz="2800" dirty="0">
                <a:solidFill>
                  <a:srgbClr val="FF0000"/>
                </a:solidFill>
              </a:rPr>
              <a:t>的定义：</a:t>
            </a:r>
            <a:r>
              <a:rPr lang="zh-CN" altLang="en-US" sz="2800" dirty="0"/>
              <a:t>在单一的技术管理下的一组路由器，而这些路由器使用一种 </a:t>
            </a:r>
            <a:r>
              <a:rPr lang="en-US" altLang="zh-CN" sz="2800" dirty="0"/>
              <a:t>AS </a:t>
            </a:r>
            <a:r>
              <a:rPr lang="zh-CN" altLang="en-US" sz="2800" dirty="0"/>
              <a:t>内部的路由选择协议和共同的度量以确定分组在该 </a:t>
            </a:r>
            <a:r>
              <a:rPr lang="en-US" altLang="zh-CN" sz="2800" dirty="0"/>
              <a:t>AS </a:t>
            </a:r>
            <a:r>
              <a:rPr lang="zh-CN" altLang="en-US" sz="2800" dirty="0"/>
              <a:t>内的路由，同时还使用一种 </a:t>
            </a:r>
            <a:r>
              <a:rPr lang="en-US" altLang="zh-CN" sz="2800" dirty="0"/>
              <a:t>AS </a:t>
            </a:r>
            <a:r>
              <a:rPr lang="zh-CN" altLang="en-US" sz="2800" dirty="0"/>
              <a:t>之间的路由选择协议用以确定分组在 </a:t>
            </a:r>
            <a:r>
              <a:rPr lang="en-US" altLang="zh-CN" sz="2800" dirty="0"/>
              <a:t>AS</a:t>
            </a:r>
            <a:r>
              <a:rPr lang="zh-CN" altLang="en-US" sz="2800" dirty="0"/>
              <a:t>之间的路由。</a:t>
            </a:r>
          </a:p>
          <a:p>
            <a:pPr algn="just"/>
            <a:r>
              <a:rPr lang="zh-CN" altLang="en-US" sz="2800" dirty="0"/>
              <a:t>现在对自治系统 </a:t>
            </a:r>
            <a:r>
              <a:rPr lang="en-US" altLang="zh-CN" sz="2800" dirty="0"/>
              <a:t>AS </a:t>
            </a:r>
            <a:r>
              <a:rPr lang="zh-CN" altLang="en-US" sz="2800" dirty="0"/>
              <a:t>的定义是强调下面的事实：尽管一个 </a:t>
            </a:r>
            <a:r>
              <a:rPr lang="en-US" altLang="zh-CN" sz="2800" dirty="0"/>
              <a:t>AS </a:t>
            </a:r>
            <a:r>
              <a:rPr lang="zh-CN" altLang="en-US" sz="2800" dirty="0"/>
              <a:t>使用了多种内部路由选择协议和度量，但</a:t>
            </a:r>
            <a:r>
              <a:rPr lang="zh-CN" altLang="en-US" sz="2800" dirty="0">
                <a:solidFill>
                  <a:srgbClr val="FF0000"/>
                </a:solidFill>
              </a:rPr>
              <a:t>重要的是一个 </a:t>
            </a:r>
            <a:r>
              <a:rPr lang="en-US" altLang="zh-CN" sz="2800" dirty="0">
                <a:solidFill>
                  <a:srgbClr val="FF0000"/>
                </a:solidFill>
              </a:rPr>
              <a:t>AS </a:t>
            </a:r>
            <a:r>
              <a:rPr lang="zh-CN" altLang="en-US" sz="2800" dirty="0">
                <a:solidFill>
                  <a:srgbClr val="FF0000"/>
                </a:solidFill>
              </a:rPr>
              <a:t>对其他 </a:t>
            </a:r>
            <a:r>
              <a:rPr lang="en-US" altLang="zh-CN" sz="2800" dirty="0">
                <a:solidFill>
                  <a:srgbClr val="FF0000"/>
                </a:solidFill>
              </a:rPr>
              <a:t>AS </a:t>
            </a:r>
            <a:r>
              <a:rPr lang="zh-CN" altLang="en-US" sz="2800" dirty="0">
                <a:solidFill>
                  <a:srgbClr val="FF0000"/>
                </a:solidFill>
              </a:rPr>
              <a:t>表现出的是一个单一的和一致的路由选择策略。</a:t>
            </a:r>
          </a:p>
        </p:txBody>
      </p:sp>
      <p:sp>
        <p:nvSpPr>
          <p:cNvPr id="550915" name="Rectangle 3"/>
          <p:cNvSpPr>
            <a:spLocks noChangeArrowheads="1"/>
          </p:cNvSpPr>
          <p:nvPr/>
        </p:nvSpPr>
        <p:spPr bwMode="auto">
          <a:xfrm>
            <a:off x="0" y="30776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430356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pPr algn="ctr"/>
            <a:r>
              <a:rPr lang="zh-CN" altLang="en-US" dirty="0"/>
              <a:t>互联网有两大类路由选择协议 </a:t>
            </a:r>
          </a:p>
        </p:txBody>
      </p:sp>
      <p:sp>
        <p:nvSpPr>
          <p:cNvPr id="551939" name="Rectangle 3"/>
          <p:cNvSpPr>
            <a:spLocks noGrp="1" noChangeArrowheads="1"/>
          </p:cNvSpPr>
          <p:nvPr>
            <p:ph idx="1"/>
          </p:nvPr>
        </p:nvSpPr>
        <p:spPr/>
        <p:txBody>
          <a:bodyPr/>
          <a:lstStyle/>
          <a:p>
            <a:r>
              <a:rPr lang="zh-CN" altLang="en-US" dirty="0">
                <a:solidFill>
                  <a:srgbClr val="FF0000"/>
                </a:solidFill>
              </a:rPr>
              <a:t>内部网关协议 </a:t>
            </a:r>
            <a:r>
              <a:rPr lang="en-US" altLang="zh-CN" dirty="0"/>
              <a:t>IGP (Interior Gateway Protocol)  </a:t>
            </a:r>
          </a:p>
          <a:p>
            <a:pPr lvl="1"/>
            <a:r>
              <a:rPr lang="zh-CN" altLang="en-US" dirty="0"/>
              <a:t>在一个自治系统</a:t>
            </a:r>
            <a:r>
              <a:rPr lang="zh-CN" altLang="en-US" dirty="0">
                <a:solidFill>
                  <a:srgbClr val="FF0000"/>
                </a:solidFill>
              </a:rPr>
              <a:t>内部使用</a:t>
            </a:r>
            <a:r>
              <a:rPr lang="zh-CN" altLang="en-US" dirty="0"/>
              <a:t>的路由选择协议。</a:t>
            </a:r>
            <a:endParaRPr lang="en-US" altLang="zh-CN" dirty="0"/>
          </a:p>
          <a:p>
            <a:pPr lvl="1"/>
            <a:r>
              <a:rPr lang="zh-CN" altLang="en-US" dirty="0"/>
              <a:t>目前这类路由选择协议使用得最多，如 </a:t>
            </a:r>
            <a:r>
              <a:rPr lang="en-US" altLang="zh-CN" dirty="0"/>
              <a:t>RIP </a:t>
            </a:r>
            <a:r>
              <a:rPr lang="zh-CN" altLang="en-US" dirty="0"/>
              <a:t>和 </a:t>
            </a:r>
            <a:r>
              <a:rPr lang="en-US" altLang="zh-CN" dirty="0"/>
              <a:t>OSPF </a:t>
            </a:r>
            <a:r>
              <a:rPr lang="zh-CN" altLang="en-US" dirty="0"/>
              <a:t>协议。</a:t>
            </a:r>
          </a:p>
          <a:p>
            <a:r>
              <a:rPr lang="zh-CN" altLang="en-US" dirty="0">
                <a:solidFill>
                  <a:srgbClr val="FF0000"/>
                </a:solidFill>
              </a:rPr>
              <a:t>外部网关协议 </a:t>
            </a:r>
            <a:r>
              <a:rPr lang="en-US" altLang="zh-CN" dirty="0"/>
              <a:t>EGP (</a:t>
            </a:r>
            <a:r>
              <a:rPr lang="en-US" altLang="zh-CN" sz="2800" dirty="0"/>
              <a:t>External Gateway Protocol</a:t>
            </a:r>
            <a:r>
              <a:rPr lang="en-US" altLang="zh-CN" dirty="0"/>
              <a:t>) </a:t>
            </a:r>
          </a:p>
          <a:p>
            <a:pPr lvl="1"/>
            <a:r>
              <a:rPr lang="zh-CN" altLang="en-US" dirty="0"/>
              <a:t>若源站和目的站处在不同的自治系统中，当数据报传到一个自治系统的边界时，就需要使用一种协议</a:t>
            </a:r>
            <a:r>
              <a:rPr lang="zh-CN" altLang="en-US" dirty="0">
                <a:solidFill>
                  <a:srgbClr val="FF0000"/>
                </a:solidFill>
              </a:rPr>
              <a:t>将路由选择信息传递到另一个自治系统中。</a:t>
            </a:r>
            <a:r>
              <a:rPr lang="zh-CN" altLang="en-US" dirty="0"/>
              <a:t>这样的协议就是外部网关协议 </a:t>
            </a:r>
            <a:r>
              <a:rPr lang="en-US" altLang="zh-CN" dirty="0"/>
              <a:t>EGP</a:t>
            </a:r>
            <a:r>
              <a:rPr lang="zh-CN" altLang="en-US" dirty="0"/>
              <a:t>。</a:t>
            </a:r>
            <a:endParaRPr lang="en-US" altLang="zh-CN" dirty="0"/>
          </a:p>
          <a:p>
            <a:pPr lvl="1"/>
            <a:r>
              <a:rPr lang="zh-CN" altLang="en-US" dirty="0"/>
              <a:t>在外部网关协议中目前使用最多的是 </a:t>
            </a:r>
            <a:r>
              <a:rPr lang="en-US" altLang="zh-CN" dirty="0"/>
              <a:t>BGP-4</a:t>
            </a:r>
            <a:r>
              <a:rPr lang="zh-CN" altLang="en-US" dirty="0"/>
              <a:t>。  </a:t>
            </a:r>
          </a:p>
        </p:txBody>
      </p:sp>
    </p:spTree>
    <p:extLst>
      <p:ext uri="{BB962C8B-B14F-4D97-AF65-F5344CB8AC3E}">
        <p14:creationId xmlns:p14="http://schemas.microsoft.com/office/powerpoint/2010/main" val="733766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95" name="Rectangle 135"/>
          <p:cNvSpPr>
            <a:spLocks noGrp="1" noChangeArrowheads="1"/>
          </p:cNvSpPr>
          <p:nvPr>
            <p:ph type="title" idx="4294967295"/>
          </p:nvPr>
        </p:nvSpPr>
        <p:spPr>
          <a:xfrm>
            <a:off x="488504" y="692622"/>
            <a:ext cx="9066212" cy="792162"/>
          </a:xfrm>
        </p:spPr>
        <p:txBody>
          <a:bodyPr/>
          <a:lstStyle/>
          <a:p>
            <a:pPr algn="ctr"/>
            <a:r>
              <a:rPr lang="zh-CN" altLang="en-US" dirty="0"/>
              <a:t>自治系统和</a:t>
            </a:r>
            <a:br>
              <a:rPr lang="zh-CN" altLang="en-US" dirty="0"/>
            </a:br>
            <a:r>
              <a:rPr lang="zh-CN" altLang="en-US" dirty="0"/>
              <a:t>内部网关协议、外部网关协议 </a:t>
            </a:r>
          </a:p>
        </p:txBody>
      </p:sp>
      <p:grpSp>
        <p:nvGrpSpPr>
          <p:cNvPr id="3" name="组合 2"/>
          <p:cNvGrpSpPr/>
          <p:nvPr/>
        </p:nvGrpSpPr>
        <p:grpSpPr>
          <a:xfrm>
            <a:off x="272480" y="1628800"/>
            <a:ext cx="9517326" cy="3977283"/>
            <a:chOff x="271728" y="1772816"/>
            <a:chExt cx="9517326" cy="3977283"/>
          </a:xfrm>
        </p:grpSpPr>
        <p:grpSp>
          <p:nvGrpSpPr>
            <p:cNvPr id="2" name="组合 1"/>
            <p:cNvGrpSpPr/>
            <p:nvPr/>
          </p:nvGrpSpPr>
          <p:grpSpPr>
            <a:xfrm>
              <a:off x="271728" y="1772816"/>
              <a:ext cx="9517326" cy="2397547"/>
              <a:chOff x="271728" y="1772816"/>
              <a:chExt cx="9517326" cy="2397547"/>
            </a:xfrm>
          </p:grpSpPr>
          <p:grpSp>
            <p:nvGrpSpPr>
              <p:cNvPr id="553096" name="Group 136"/>
              <p:cNvGrpSpPr>
                <a:grpSpLocks/>
              </p:cNvGrpSpPr>
              <p:nvPr/>
            </p:nvGrpSpPr>
            <p:grpSpPr bwMode="auto">
              <a:xfrm>
                <a:off x="271728" y="2311400"/>
                <a:ext cx="2997597" cy="1727200"/>
                <a:chOff x="912" y="768"/>
                <a:chExt cx="2400" cy="1584"/>
              </a:xfrm>
            </p:grpSpPr>
            <p:sp>
              <p:nvSpPr>
                <p:cNvPr id="553097" name="Oval 13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098" name="Oval 13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099" name="Oval 13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00" name="Oval 14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01" name="Oval 14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02" name="Oval 14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03" name="Oval 14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04" name="Oval 14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05" name="Oval 14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nvGrpSpPr>
                <p:cNvPr id="553106" name="Group 146"/>
                <p:cNvGrpSpPr>
                  <a:grpSpLocks/>
                </p:cNvGrpSpPr>
                <p:nvPr/>
              </p:nvGrpSpPr>
              <p:grpSpPr bwMode="auto">
                <a:xfrm>
                  <a:off x="912" y="768"/>
                  <a:ext cx="2386" cy="1553"/>
                  <a:chOff x="912" y="768"/>
                  <a:chExt cx="2386" cy="1553"/>
                </a:xfrm>
              </p:grpSpPr>
              <p:sp>
                <p:nvSpPr>
                  <p:cNvPr id="553107" name="Oval 14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08" name="Oval 14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09" name="Oval 14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10" name="Oval 15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11" name="Oval 15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12" name="Oval 15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13" name="Oval 15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14" name="Oval 15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15" name="Oval 15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grpSp>
          <p:grpSp>
            <p:nvGrpSpPr>
              <p:cNvPr id="553116" name="Group 156"/>
              <p:cNvGrpSpPr>
                <a:grpSpLocks/>
              </p:cNvGrpSpPr>
              <p:nvPr/>
            </p:nvGrpSpPr>
            <p:grpSpPr bwMode="auto">
              <a:xfrm>
                <a:off x="6500812" y="2182813"/>
                <a:ext cx="3288242" cy="1987550"/>
                <a:chOff x="912" y="768"/>
                <a:chExt cx="2400" cy="1584"/>
              </a:xfrm>
            </p:grpSpPr>
            <p:sp>
              <p:nvSpPr>
                <p:cNvPr id="553117" name="Oval 157"/>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18" name="Oval 158"/>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19" name="Oval 159"/>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20" name="Oval 160"/>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21" name="Oval 161"/>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22" name="Oval 162"/>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23" name="Oval 163"/>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24" name="Oval 164"/>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25" name="Oval 165"/>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nvGrpSpPr>
                <p:cNvPr id="553126" name="Group 166"/>
                <p:cNvGrpSpPr>
                  <a:grpSpLocks/>
                </p:cNvGrpSpPr>
                <p:nvPr/>
              </p:nvGrpSpPr>
              <p:grpSpPr bwMode="auto">
                <a:xfrm>
                  <a:off x="912" y="768"/>
                  <a:ext cx="2386" cy="1553"/>
                  <a:chOff x="912" y="768"/>
                  <a:chExt cx="2386" cy="1553"/>
                </a:xfrm>
              </p:grpSpPr>
              <p:sp>
                <p:nvSpPr>
                  <p:cNvPr id="553127" name="Oval 167"/>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28" name="Oval 168"/>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29" name="Oval 169"/>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30" name="Oval 170"/>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31" name="Oval 171"/>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32" name="Oval 172"/>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33" name="Oval 173"/>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34" name="Oval 174"/>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3135" name="Oval 175"/>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CC"/>
                      </a:solidFill>
                      <a:latin typeface="+mn-lt"/>
                      <a:ea typeface="黑体" pitchFamily="2" charset="-122"/>
                    </a:endParaRPr>
                  </a:p>
                </p:txBody>
              </p:sp>
            </p:grpSp>
          </p:grpSp>
          <p:sp>
            <p:nvSpPr>
              <p:cNvPr id="553136" name="Text Box 176"/>
              <p:cNvSpPr txBox="1">
                <a:spLocks noChangeArrowheads="1"/>
              </p:cNvSpPr>
              <p:nvPr/>
            </p:nvSpPr>
            <p:spPr bwMode="auto">
              <a:xfrm>
                <a:off x="707399" y="2865636"/>
                <a:ext cx="2121093"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a:solidFill>
                      <a:srgbClr val="0000CC"/>
                    </a:solidFill>
                    <a:latin typeface="+mn-lt"/>
                    <a:ea typeface="黑体" pitchFamily="2" charset="-122"/>
                  </a:rPr>
                  <a:t> </a:t>
                </a:r>
                <a:r>
                  <a:rPr kumimoji="1" lang="zh-CN" altLang="en-US" sz="2000" b="1">
                    <a:solidFill>
                      <a:srgbClr val="0000CC"/>
                    </a:solidFill>
                    <a:latin typeface="+mn-lt"/>
                    <a:ea typeface="黑体" pitchFamily="2" charset="-122"/>
                  </a:rPr>
                  <a:t>用内部网关协议</a:t>
                </a:r>
              </a:p>
              <a:p>
                <a:pPr algn="ctr"/>
                <a:r>
                  <a:rPr kumimoji="1" lang="zh-CN" altLang="en-US" sz="2000" b="1">
                    <a:solidFill>
                      <a:srgbClr val="0000CC"/>
                    </a:solidFill>
                    <a:latin typeface="+mn-lt"/>
                    <a:ea typeface="黑体" pitchFamily="2" charset="-122"/>
                  </a:rPr>
                  <a:t>（例如，</a:t>
                </a:r>
                <a:r>
                  <a:rPr kumimoji="1" lang="en-US" altLang="zh-CN" sz="2000" b="1">
                    <a:solidFill>
                      <a:srgbClr val="0000CC"/>
                    </a:solidFill>
                    <a:latin typeface="+mn-lt"/>
                    <a:ea typeface="黑体" pitchFamily="2" charset="-122"/>
                  </a:rPr>
                  <a:t>RIP</a:t>
                </a:r>
                <a:r>
                  <a:rPr kumimoji="1" lang="zh-CN" altLang="en-US" sz="2000" b="1">
                    <a:solidFill>
                      <a:srgbClr val="0000CC"/>
                    </a:solidFill>
                    <a:latin typeface="+mn-lt"/>
                    <a:ea typeface="黑体" pitchFamily="2" charset="-122"/>
                  </a:rPr>
                  <a:t>）</a:t>
                </a:r>
              </a:p>
            </p:txBody>
          </p:sp>
          <p:sp>
            <p:nvSpPr>
              <p:cNvPr id="553137" name="Text Box 177"/>
              <p:cNvSpPr txBox="1">
                <a:spLocks noChangeArrowheads="1"/>
              </p:cNvSpPr>
              <p:nvPr/>
            </p:nvSpPr>
            <p:spPr bwMode="auto">
              <a:xfrm>
                <a:off x="7474455" y="1772816"/>
                <a:ext cx="17299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C00000"/>
                    </a:solidFill>
                    <a:latin typeface="+mn-lt"/>
                    <a:ea typeface="黑体" pitchFamily="2" charset="-122"/>
                  </a:rPr>
                  <a:t>自治系统 </a:t>
                </a:r>
                <a:r>
                  <a:rPr kumimoji="1" lang="en-US" altLang="zh-CN" sz="2400" b="1">
                    <a:solidFill>
                      <a:srgbClr val="C00000"/>
                    </a:solidFill>
                    <a:latin typeface="+mn-lt"/>
                    <a:ea typeface="黑体" pitchFamily="2" charset="-122"/>
                  </a:rPr>
                  <a:t>B</a:t>
                </a:r>
              </a:p>
            </p:txBody>
          </p:sp>
          <p:sp>
            <p:nvSpPr>
              <p:cNvPr id="553138" name="Text Box 178"/>
              <p:cNvSpPr txBox="1">
                <a:spLocks noChangeArrowheads="1"/>
              </p:cNvSpPr>
              <p:nvPr/>
            </p:nvSpPr>
            <p:spPr bwMode="auto">
              <a:xfrm>
                <a:off x="992560" y="1901404"/>
                <a:ext cx="17185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C00000"/>
                    </a:solidFill>
                    <a:latin typeface="+mn-lt"/>
                    <a:ea typeface="黑体" pitchFamily="2" charset="-122"/>
                  </a:rPr>
                  <a:t>自治系统 </a:t>
                </a:r>
                <a:r>
                  <a:rPr kumimoji="1" lang="en-US" altLang="zh-CN" sz="2400" b="1" dirty="0">
                    <a:solidFill>
                      <a:srgbClr val="C00000"/>
                    </a:solidFill>
                    <a:latin typeface="+mn-lt"/>
                    <a:ea typeface="黑体" pitchFamily="2" charset="-122"/>
                  </a:rPr>
                  <a:t>A</a:t>
                </a:r>
              </a:p>
            </p:txBody>
          </p:sp>
          <p:pic>
            <p:nvPicPr>
              <p:cNvPr id="553139" name="Picture 1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8679" y="2709864"/>
                <a:ext cx="715433"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53140" name="Picture 18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0168" y="2709863"/>
                <a:ext cx="715433" cy="45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53141" name="Text Box 181"/>
              <p:cNvSpPr txBox="1">
                <a:spLocks noChangeArrowheads="1"/>
              </p:cNvSpPr>
              <p:nvPr/>
            </p:nvSpPr>
            <p:spPr bwMode="auto">
              <a:xfrm>
                <a:off x="3828683" y="2225676"/>
                <a:ext cx="2258952"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CC"/>
                    </a:solidFill>
                    <a:latin typeface="+mn-lt"/>
                    <a:ea typeface="黑体" pitchFamily="2" charset="-122"/>
                  </a:rPr>
                  <a:t>用外部网关协议</a:t>
                </a:r>
              </a:p>
              <a:p>
                <a:pPr algn="ctr"/>
                <a:r>
                  <a:rPr kumimoji="1" lang="zh-CN" altLang="en-US" sz="2000" b="1" dirty="0">
                    <a:solidFill>
                      <a:srgbClr val="0000CC"/>
                    </a:solidFill>
                    <a:latin typeface="+mn-lt"/>
                    <a:ea typeface="黑体" pitchFamily="2" charset="-122"/>
                  </a:rPr>
                  <a:t>（例如，</a:t>
                </a:r>
                <a:r>
                  <a:rPr kumimoji="1" lang="en-US" altLang="zh-CN" sz="2000" b="1" dirty="0">
                    <a:solidFill>
                      <a:srgbClr val="0000CC"/>
                    </a:solidFill>
                    <a:latin typeface="+mn-lt"/>
                    <a:ea typeface="黑体" pitchFamily="2" charset="-122"/>
                  </a:rPr>
                  <a:t>BGP-4</a:t>
                </a:r>
                <a:r>
                  <a:rPr kumimoji="1" lang="zh-CN" altLang="en-US" sz="2000" b="1" dirty="0">
                    <a:solidFill>
                      <a:srgbClr val="0000CC"/>
                    </a:solidFill>
                    <a:latin typeface="+mn-lt"/>
                    <a:ea typeface="黑体" pitchFamily="2" charset="-122"/>
                  </a:rPr>
                  <a:t>）</a:t>
                </a:r>
              </a:p>
            </p:txBody>
          </p:sp>
          <p:sp>
            <p:nvSpPr>
              <p:cNvPr id="553142" name="Text Box 182"/>
              <p:cNvSpPr txBox="1">
                <a:spLocks noChangeArrowheads="1"/>
              </p:cNvSpPr>
              <p:nvPr/>
            </p:nvSpPr>
            <p:spPr bwMode="auto">
              <a:xfrm>
                <a:off x="2978680" y="2305051"/>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p>
            </p:txBody>
          </p:sp>
          <p:sp>
            <p:nvSpPr>
              <p:cNvPr id="553143" name="Text Box 183"/>
              <p:cNvSpPr txBox="1">
                <a:spLocks noChangeArrowheads="1"/>
              </p:cNvSpPr>
              <p:nvPr/>
            </p:nvSpPr>
            <p:spPr bwMode="auto">
              <a:xfrm>
                <a:off x="6462977" y="2332039"/>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p>
            </p:txBody>
          </p:sp>
          <p:sp>
            <p:nvSpPr>
              <p:cNvPr id="553144" name="Text Box 184"/>
              <p:cNvSpPr txBox="1">
                <a:spLocks noChangeArrowheads="1"/>
              </p:cNvSpPr>
              <p:nvPr/>
            </p:nvSpPr>
            <p:spPr bwMode="auto">
              <a:xfrm>
                <a:off x="7208127" y="2852936"/>
                <a:ext cx="2165978" cy="7078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000" b="1" dirty="0">
                    <a:solidFill>
                      <a:srgbClr val="0000CC"/>
                    </a:solidFill>
                    <a:latin typeface="+mn-lt"/>
                    <a:ea typeface="黑体" pitchFamily="2" charset="-122"/>
                  </a:rPr>
                  <a:t> </a:t>
                </a:r>
                <a:r>
                  <a:rPr kumimoji="1" lang="zh-CN" altLang="en-US" sz="2000" b="1" dirty="0">
                    <a:solidFill>
                      <a:srgbClr val="0000CC"/>
                    </a:solidFill>
                    <a:latin typeface="+mn-lt"/>
                    <a:ea typeface="黑体" pitchFamily="2" charset="-122"/>
                  </a:rPr>
                  <a:t>用内部网关协议</a:t>
                </a:r>
              </a:p>
              <a:p>
                <a:pPr algn="ctr"/>
                <a:r>
                  <a:rPr kumimoji="1" lang="zh-CN" altLang="en-US" sz="2000" b="1" dirty="0">
                    <a:solidFill>
                      <a:srgbClr val="0000CC"/>
                    </a:solidFill>
                    <a:latin typeface="+mn-lt"/>
                    <a:ea typeface="黑体" pitchFamily="2" charset="-122"/>
                  </a:rPr>
                  <a:t>（例如，</a:t>
                </a:r>
                <a:r>
                  <a:rPr kumimoji="1" lang="en-US" altLang="zh-CN" sz="2000" b="1" dirty="0">
                    <a:solidFill>
                      <a:srgbClr val="0000CC"/>
                    </a:solidFill>
                    <a:latin typeface="+mn-lt"/>
                    <a:ea typeface="黑体" pitchFamily="2" charset="-122"/>
                  </a:rPr>
                  <a:t>OSPF</a:t>
                </a:r>
                <a:r>
                  <a:rPr kumimoji="1" lang="zh-CN" altLang="en-US" sz="2000" b="1" dirty="0">
                    <a:solidFill>
                      <a:srgbClr val="0000CC"/>
                    </a:solidFill>
                    <a:latin typeface="+mn-lt"/>
                    <a:ea typeface="黑体" pitchFamily="2" charset="-122"/>
                  </a:rPr>
                  <a:t>）</a:t>
                </a:r>
              </a:p>
            </p:txBody>
          </p:sp>
          <p:sp>
            <p:nvSpPr>
              <p:cNvPr id="553145" name="Line 185"/>
              <p:cNvSpPr>
                <a:spLocks noChangeShapeType="1"/>
              </p:cNvSpPr>
              <p:nvPr/>
            </p:nvSpPr>
            <p:spPr bwMode="auto">
              <a:xfrm>
                <a:off x="3645959" y="2941639"/>
                <a:ext cx="2633002" cy="3175"/>
              </a:xfrm>
              <a:prstGeom prst="line">
                <a:avLst/>
              </a:prstGeom>
              <a:noFill/>
              <a:ln w="571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53147" name="Text Box 187"/>
            <p:cNvSpPr txBox="1">
              <a:spLocks noChangeArrowheads="1"/>
            </p:cNvSpPr>
            <p:nvPr/>
          </p:nvSpPr>
          <p:spPr bwMode="auto">
            <a:xfrm>
              <a:off x="1017530" y="4365104"/>
              <a:ext cx="8399966" cy="1384995"/>
            </a:xfrm>
            <a:prstGeom prst="rect">
              <a:avLst/>
            </a:prstGeom>
            <a:solidFill>
              <a:srgbClr val="FFFF66"/>
            </a:solidFill>
            <a:ln w="9525">
              <a:solidFill>
                <a:srgbClr val="000099"/>
              </a:solidFill>
              <a:miter lim="800000"/>
              <a:headEnd/>
              <a:tailEnd/>
            </a:ln>
            <a:effectLst/>
          </p:spPr>
          <p:txBody>
            <a:bodyPr wrap="square">
              <a:spAutoFit/>
            </a:bodyPr>
            <a:lstStyle/>
            <a:p>
              <a:r>
                <a:rPr lang="zh-CN" altLang="en-US" sz="2800" b="1" dirty="0">
                  <a:solidFill>
                    <a:srgbClr val="000099"/>
                  </a:solidFill>
                  <a:latin typeface="+mn-lt"/>
                  <a:ea typeface="黑体" pitchFamily="2" charset="-122"/>
                </a:rPr>
                <a:t>自治系统之间的路由选择也叫做</a:t>
              </a:r>
              <a:r>
                <a:rPr lang="zh-CN" altLang="en-US" sz="2800" b="1" dirty="0">
                  <a:solidFill>
                    <a:srgbClr val="FF0000"/>
                  </a:solidFill>
                  <a:latin typeface="+mn-lt"/>
                  <a:ea typeface="黑体" pitchFamily="2" charset="-122"/>
                </a:rPr>
                <a:t>域间路由选择 </a:t>
              </a:r>
              <a:r>
                <a:rPr lang="en-US" altLang="zh-CN" sz="2800" b="1" dirty="0">
                  <a:solidFill>
                    <a:srgbClr val="000099"/>
                  </a:solidFill>
                  <a:latin typeface="+mn-lt"/>
                  <a:ea typeface="黑体" pitchFamily="2" charset="-122"/>
                </a:rPr>
                <a:t>(</a:t>
              </a:r>
              <a:r>
                <a:rPr lang="en-US" altLang="zh-CN" sz="2800" b="1" dirty="0" err="1">
                  <a:solidFill>
                    <a:srgbClr val="000099"/>
                  </a:solidFill>
                  <a:latin typeface="+mn-lt"/>
                  <a:ea typeface="黑体" pitchFamily="2" charset="-122"/>
                </a:rPr>
                <a:t>interdomain</a:t>
              </a:r>
              <a:r>
                <a:rPr lang="en-US" altLang="zh-CN" sz="2800" b="1" dirty="0">
                  <a:solidFill>
                    <a:srgbClr val="000099"/>
                  </a:solidFill>
                  <a:latin typeface="+mn-lt"/>
                  <a:ea typeface="黑体" pitchFamily="2" charset="-122"/>
                </a:rPr>
                <a:t> routing)</a:t>
              </a:r>
              <a:r>
                <a:rPr lang="zh-CN" altLang="en-US" sz="2800" b="1" dirty="0">
                  <a:solidFill>
                    <a:srgbClr val="000099"/>
                  </a:solidFill>
                  <a:latin typeface="+mn-lt"/>
                  <a:ea typeface="黑体" pitchFamily="2" charset="-122"/>
                </a:rPr>
                <a:t>，在自治系统内部的路由选择叫做</a:t>
              </a:r>
              <a:r>
                <a:rPr lang="zh-CN" altLang="en-US" sz="2800" b="1" dirty="0">
                  <a:solidFill>
                    <a:srgbClr val="FF0000"/>
                  </a:solidFill>
                  <a:latin typeface="+mn-lt"/>
                  <a:ea typeface="黑体" pitchFamily="2" charset="-122"/>
                </a:rPr>
                <a:t>域内路由选择 </a:t>
              </a:r>
              <a:r>
                <a:rPr lang="en-US" altLang="zh-CN" sz="2800" b="1" dirty="0">
                  <a:solidFill>
                    <a:srgbClr val="000099"/>
                  </a:solidFill>
                  <a:latin typeface="+mn-lt"/>
                  <a:ea typeface="黑体" pitchFamily="2" charset="-122"/>
                </a:rPr>
                <a:t>(</a:t>
              </a:r>
              <a:r>
                <a:rPr lang="en-US" altLang="zh-CN" sz="2800" b="1" dirty="0" err="1">
                  <a:solidFill>
                    <a:srgbClr val="000099"/>
                  </a:solidFill>
                  <a:latin typeface="+mn-lt"/>
                  <a:ea typeface="黑体" pitchFamily="2" charset="-122"/>
                </a:rPr>
                <a:t>intradomain</a:t>
              </a:r>
              <a:r>
                <a:rPr lang="en-US" altLang="zh-CN" sz="2800" b="1" dirty="0">
                  <a:solidFill>
                    <a:srgbClr val="000099"/>
                  </a:solidFill>
                  <a:latin typeface="+mn-lt"/>
                  <a:ea typeface="黑体" pitchFamily="2" charset="-122"/>
                </a:rPr>
                <a:t> routing) </a:t>
              </a:r>
              <a:r>
                <a:rPr lang="zh-CN" altLang="en-US" sz="2800" b="1" dirty="0">
                  <a:solidFill>
                    <a:srgbClr val="000099"/>
                  </a:solidFill>
                  <a:latin typeface="+mn-lt"/>
                  <a:ea typeface="黑体" pitchFamily="2" charset="-122"/>
                </a:rPr>
                <a:t>。</a:t>
              </a:r>
              <a:endParaRPr lang="en-US" altLang="zh-CN" sz="2800" b="1" dirty="0">
                <a:solidFill>
                  <a:srgbClr val="000099"/>
                </a:solidFill>
                <a:latin typeface="+mn-lt"/>
                <a:ea typeface="黑体" pitchFamily="2" charset="-122"/>
              </a:endParaRPr>
            </a:p>
          </p:txBody>
        </p:sp>
      </p:grpSp>
    </p:spTree>
    <p:extLst>
      <p:ext uri="{BB962C8B-B14F-4D97-AF65-F5344CB8AC3E}">
        <p14:creationId xmlns:p14="http://schemas.microsoft.com/office/powerpoint/2010/main" val="2930790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pPr algn="ctr"/>
            <a:r>
              <a:rPr lang="zh-CN" altLang="en-US" dirty="0"/>
              <a:t>互联网的路由选择协议 </a:t>
            </a:r>
          </a:p>
        </p:txBody>
      </p:sp>
      <p:sp>
        <p:nvSpPr>
          <p:cNvPr id="555011" name="Rectangle 3"/>
          <p:cNvSpPr>
            <a:spLocks noGrp="1" noChangeArrowheads="1"/>
          </p:cNvSpPr>
          <p:nvPr>
            <p:ph idx="1"/>
          </p:nvPr>
        </p:nvSpPr>
        <p:spPr/>
        <p:txBody>
          <a:bodyPr/>
          <a:lstStyle/>
          <a:p>
            <a:r>
              <a:rPr lang="zh-CN" altLang="en-US" dirty="0">
                <a:solidFill>
                  <a:srgbClr val="FF0000"/>
                </a:solidFill>
              </a:rPr>
              <a:t>内部网关协议 </a:t>
            </a:r>
            <a:r>
              <a:rPr lang="en-US" altLang="zh-CN" dirty="0">
                <a:solidFill>
                  <a:srgbClr val="FF0000"/>
                </a:solidFill>
              </a:rPr>
              <a:t>IGP</a:t>
            </a:r>
            <a:r>
              <a:rPr lang="zh-CN" altLang="en-US" dirty="0">
                <a:solidFill>
                  <a:srgbClr val="FF0000"/>
                </a:solidFill>
              </a:rPr>
              <a:t>：</a:t>
            </a:r>
            <a:r>
              <a:rPr lang="zh-CN" altLang="en-US" dirty="0"/>
              <a:t>具体的协议有多种，如 </a:t>
            </a:r>
            <a:r>
              <a:rPr lang="en-US" altLang="zh-CN" dirty="0"/>
              <a:t>RIP </a:t>
            </a:r>
            <a:r>
              <a:rPr lang="zh-CN" altLang="en-US" dirty="0"/>
              <a:t>和 </a:t>
            </a:r>
            <a:r>
              <a:rPr lang="en-US" altLang="zh-CN" dirty="0"/>
              <a:t>OSPF </a:t>
            </a:r>
            <a:r>
              <a:rPr lang="zh-CN" altLang="en-US" dirty="0"/>
              <a:t>等。</a:t>
            </a:r>
          </a:p>
          <a:p>
            <a:r>
              <a:rPr lang="zh-CN" altLang="en-US" dirty="0">
                <a:solidFill>
                  <a:srgbClr val="FF0000"/>
                </a:solidFill>
              </a:rPr>
              <a:t>外部网关协议 </a:t>
            </a:r>
            <a:r>
              <a:rPr lang="en-US" altLang="zh-CN" dirty="0">
                <a:solidFill>
                  <a:srgbClr val="FF0000"/>
                </a:solidFill>
              </a:rPr>
              <a:t>EGP</a:t>
            </a:r>
            <a:r>
              <a:rPr lang="zh-CN" altLang="en-US" dirty="0">
                <a:solidFill>
                  <a:srgbClr val="FF0000"/>
                </a:solidFill>
              </a:rPr>
              <a:t>：</a:t>
            </a:r>
            <a:r>
              <a:rPr lang="zh-CN" altLang="en-US" dirty="0"/>
              <a:t>目前使用的协议就是 </a:t>
            </a:r>
            <a:r>
              <a:rPr lang="en-US" altLang="zh-CN" dirty="0"/>
              <a:t>BGP</a:t>
            </a:r>
            <a:r>
              <a:rPr lang="zh-CN" altLang="en-US" dirty="0"/>
              <a:t>。</a:t>
            </a:r>
          </a:p>
        </p:txBody>
      </p:sp>
      <p:grpSp>
        <p:nvGrpSpPr>
          <p:cNvPr id="2" name="组合 1"/>
          <p:cNvGrpSpPr/>
          <p:nvPr/>
        </p:nvGrpSpPr>
        <p:grpSpPr>
          <a:xfrm>
            <a:off x="1670248" y="3212976"/>
            <a:ext cx="7243192" cy="2520280"/>
            <a:chOff x="1670248" y="3103737"/>
            <a:chExt cx="7243192" cy="2865256"/>
          </a:xfrm>
        </p:grpSpPr>
        <p:sp>
          <p:nvSpPr>
            <p:cNvPr id="9" name="Line 25"/>
            <p:cNvSpPr>
              <a:spLocks noChangeShapeType="1"/>
            </p:cNvSpPr>
            <p:nvPr/>
          </p:nvSpPr>
          <p:spPr bwMode="auto">
            <a:xfrm flipH="1">
              <a:off x="3638872" y="3725912"/>
              <a:ext cx="1361437" cy="533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26"/>
            <p:cNvSpPr>
              <a:spLocks noChangeShapeType="1"/>
            </p:cNvSpPr>
            <p:nvPr/>
          </p:nvSpPr>
          <p:spPr bwMode="auto">
            <a:xfrm>
              <a:off x="5239072" y="3725912"/>
              <a:ext cx="1685588" cy="5334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AutoShape 6"/>
            <p:cNvSpPr>
              <a:spLocks noChangeArrowheads="1"/>
            </p:cNvSpPr>
            <p:nvPr/>
          </p:nvSpPr>
          <p:spPr bwMode="auto">
            <a:xfrm>
              <a:off x="2364384" y="4905152"/>
              <a:ext cx="1375793" cy="1063841"/>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pPr>
                <a:spcBef>
                  <a:spcPts val="0"/>
                </a:spcBef>
              </a:pPr>
              <a:r>
                <a:rPr kumimoji="0" lang="en-GB" sz="2800" b="1" dirty="0">
                  <a:latin typeface="+mn-lt"/>
                  <a:ea typeface="黑体" pitchFamily="2" charset="-122"/>
                </a:rPr>
                <a:t>RIP </a:t>
              </a:r>
            </a:p>
            <a:p>
              <a:pPr>
                <a:spcBef>
                  <a:spcPts val="0"/>
                </a:spcBef>
              </a:pPr>
              <a:r>
                <a:rPr kumimoji="0" lang="en-US" altLang="zh-CN" sz="2800" b="1" dirty="0">
                  <a:latin typeface="+mn-lt"/>
                  <a:ea typeface="黑体" pitchFamily="2" charset="-122"/>
                </a:rPr>
                <a:t>OSPF</a:t>
              </a:r>
              <a:endParaRPr lang="en-US" altLang="zh-CN" sz="2800" b="1" dirty="0">
                <a:latin typeface="+mn-lt"/>
                <a:ea typeface="黑体" pitchFamily="2" charset="-122"/>
              </a:endParaRPr>
            </a:p>
          </p:txBody>
        </p:sp>
        <p:sp>
          <p:nvSpPr>
            <p:cNvPr id="17" name="AutoShape 23"/>
            <p:cNvSpPr>
              <a:spLocks noChangeArrowheads="1"/>
            </p:cNvSpPr>
            <p:nvPr/>
          </p:nvSpPr>
          <p:spPr bwMode="auto">
            <a:xfrm>
              <a:off x="3562672" y="3103737"/>
              <a:ext cx="3190528" cy="649287"/>
            </a:xfrm>
            <a:prstGeom prst="roundRect">
              <a:avLst>
                <a:gd name="adj" fmla="val 16667"/>
              </a:avLst>
            </a:prstGeom>
            <a:solidFill>
              <a:srgbClr val="FFCC00"/>
            </a:solidFill>
            <a:ln w="9525">
              <a:solidFill>
                <a:schemeClr val="tx1"/>
              </a:solidFill>
              <a:round/>
              <a:headEnd/>
              <a:tailEnd/>
            </a:ln>
            <a:effectLst/>
          </p:spPr>
          <p:txBody>
            <a:bodyPr wrap="none" anchor="ctr"/>
            <a:lstStyle/>
            <a:p>
              <a:pPr algn="ctr"/>
              <a:r>
                <a:rPr lang="zh-CN" altLang="en-US" sz="2400" b="1" dirty="0">
                  <a:latin typeface="+mn-lt"/>
                  <a:ea typeface="黑体" pitchFamily="2" charset="-122"/>
                </a:rPr>
                <a:t>互联网路由选择协议</a:t>
              </a:r>
            </a:p>
          </p:txBody>
        </p:sp>
        <p:sp>
          <p:nvSpPr>
            <p:cNvPr id="18" name="AutoShape 29"/>
            <p:cNvSpPr>
              <a:spLocks noChangeArrowheads="1"/>
            </p:cNvSpPr>
            <p:nvPr/>
          </p:nvSpPr>
          <p:spPr bwMode="auto">
            <a:xfrm>
              <a:off x="6897216" y="4905152"/>
              <a:ext cx="1285801" cy="6096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kumimoji="0" lang="en-GB" altLang="zh-CN" sz="2800" b="1" dirty="0">
                  <a:latin typeface="+mn-lt"/>
                  <a:ea typeface="黑体" pitchFamily="2" charset="-122"/>
                </a:rPr>
                <a:t>BGP</a:t>
              </a:r>
              <a:endParaRPr lang="en-US" altLang="zh-CN" sz="2800" b="1" dirty="0">
                <a:latin typeface="+mn-lt"/>
                <a:ea typeface="黑体" pitchFamily="2" charset="-122"/>
              </a:endParaRPr>
            </a:p>
          </p:txBody>
        </p:sp>
        <p:sp>
          <p:nvSpPr>
            <p:cNvPr id="15" name="AutoShape 12"/>
            <p:cNvSpPr>
              <a:spLocks noChangeArrowheads="1"/>
            </p:cNvSpPr>
            <p:nvPr/>
          </p:nvSpPr>
          <p:spPr bwMode="auto">
            <a:xfrm>
              <a:off x="6089848" y="4113064"/>
              <a:ext cx="2823592" cy="649288"/>
            </a:xfrm>
            <a:prstGeom prst="roundRect">
              <a:avLst>
                <a:gd name="adj" fmla="val 16667"/>
              </a:avLst>
            </a:prstGeom>
            <a:solidFill>
              <a:srgbClr val="FF66FF"/>
            </a:solidFill>
            <a:ln w="9525">
              <a:solidFill>
                <a:schemeClr val="tx1"/>
              </a:solidFill>
              <a:round/>
              <a:headEnd/>
              <a:tailEnd/>
            </a:ln>
            <a:effectLst/>
          </p:spPr>
          <p:txBody>
            <a:bodyPr wrap="none" anchor="ctr"/>
            <a:lstStyle/>
            <a:p>
              <a:pPr algn="ctr"/>
              <a:r>
                <a:rPr lang="zh-CN" altLang="en-US" sz="2400" b="1" dirty="0">
                  <a:latin typeface="+mn-lt"/>
                  <a:ea typeface="黑体" pitchFamily="2" charset="-122"/>
                </a:rPr>
                <a:t>外部网关协议 </a:t>
              </a:r>
              <a:r>
                <a:rPr lang="en-US" altLang="zh-CN" sz="2400" b="1" dirty="0">
                  <a:latin typeface="+mn-lt"/>
                  <a:ea typeface="黑体" pitchFamily="2" charset="-122"/>
                </a:rPr>
                <a:t>(EGP)</a:t>
              </a:r>
            </a:p>
          </p:txBody>
        </p:sp>
        <p:sp>
          <p:nvSpPr>
            <p:cNvPr id="16" name="AutoShape 13"/>
            <p:cNvSpPr>
              <a:spLocks noChangeArrowheads="1"/>
            </p:cNvSpPr>
            <p:nvPr/>
          </p:nvSpPr>
          <p:spPr bwMode="auto">
            <a:xfrm>
              <a:off x="1670248" y="4113064"/>
              <a:ext cx="2823592" cy="649288"/>
            </a:xfrm>
            <a:prstGeom prst="roundRect">
              <a:avLst>
                <a:gd name="adj" fmla="val 16667"/>
              </a:avLst>
            </a:prstGeom>
            <a:solidFill>
              <a:srgbClr val="FFFF66"/>
            </a:solidFill>
            <a:ln w="9525">
              <a:solidFill>
                <a:schemeClr val="tx1"/>
              </a:solidFill>
              <a:round/>
              <a:headEnd/>
              <a:tailEnd/>
            </a:ln>
            <a:effectLst/>
          </p:spPr>
          <p:txBody>
            <a:bodyPr wrap="none" anchor="ctr"/>
            <a:lstStyle/>
            <a:p>
              <a:pPr algn="ctr"/>
              <a:r>
                <a:rPr lang="zh-CN" altLang="en-US" sz="2400" b="1" dirty="0">
                  <a:latin typeface="+mn-lt"/>
                  <a:ea typeface="黑体" pitchFamily="2" charset="-122"/>
                </a:rPr>
                <a:t>内部网关协议 </a:t>
              </a:r>
              <a:r>
                <a:rPr lang="en-US" altLang="zh-CN" sz="2400" b="1" dirty="0">
                  <a:latin typeface="+mn-lt"/>
                  <a:ea typeface="黑体" pitchFamily="2" charset="-122"/>
                </a:rPr>
                <a:t>(IGP)</a:t>
              </a:r>
            </a:p>
          </p:txBody>
        </p:sp>
      </p:grpSp>
    </p:spTree>
    <p:extLst>
      <p:ext uri="{BB962C8B-B14F-4D97-AF65-F5344CB8AC3E}">
        <p14:creationId xmlns:p14="http://schemas.microsoft.com/office/powerpoint/2010/main" val="1441078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r>
              <a:rPr lang="zh-CN" altLang="zh-CN" dirty="0"/>
              <a:t>路由选择协议</a:t>
            </a:r>
            <a:r>
              <a:rPr lang="en-US" altLang="zh-CN" dirty="0"/>
              <a:t>: </a:t>
            </a:r>
            <a:r>
              <a:rPr lang="zh-CN" altLang="en-US" dirty="0"/>
              <a:t>内部网关协议 </a:t>
            </a:r>
            <a:r>
              <a:rPr lang="en-US" altLang="zh-CN" dirty="0"/>
              <a:t>RIP</a:t>
            </a:r>
            <a:endParaRPr lang="en-US" altLang="zh-CN" sz="3600" dirty="0"/>
          </a:p>
        </p:txBody>
      </p:sp>
      <p:sp>
        <p:nvSpPr>
          <p:cNvPr id="556035" name="Rectangle 3"/>
          <p:cNvSpPr>
            <a:spLocks noGrp="1" noChangeArrowheads="1"/>
          </p:cNvSpPr>
          <p:nvPr>
            <p:ph idx="1"/>
          </p:nvPr>
        </p:nvSpPr>
        <p:spPr/>
        <p:txBody>
          <a:bodyPr/>
          <a:lstStyle/>
          <a:p>
            <a:pPr>
              <a:buFont typeface="Wingdings" pitchFamily="2" charset="2"/>
              <a:buNone/>
            </a:pPr>
            <a:r>
              <a:rPr lang="en-US" altLang="zh-CN" sz="4400" dirty="0">
                <a:solidFill>
                  <a:srgbClr val="000099"/>
                </a:solidFill>
              </a:rPr>
              <a:t>1. </a:t>
            </a:r>
            <a:r>
              <a:rPr lang="zh-CN" altLang="en-US" sz="4400" dirty="0">
                <a:solidFill>
                  <a:srgbClr val="000099"/>
                </a:solidFill>
              </a:rPr>
              <a:t>工作原理</a:t>
            </a:r>
          </a:p>
          <a:p>
            <a:r>
              <a:rPr lang="zh-CN" altLang="en-US" dirty="0"/>
              <a:t>路由信息协议 </a:t>
            </a:r>
            <a:r>
              <a:rPr lang="en-US" altLang="zh-CN" dirty="0"/>
              <a:t>RIP (Routing Information Protocol) </a:t>
            </a:r>
            <a:r>
              <a:rPr lang="zh-CN" altLang="en-US" dirty="0"/>
              <a:t>是内部网关协议 </a:t>
            </a:r>
            <a:r>
              <a:rPr lang="en-US" altLang="zh-CN" dirty="0"/>
              <a:t>IGP </a:t>
            </a:r>
            <a:r>
              <a:rPr lang="zh-CN" altLang="en-US" dirty="0"/>
              <a:t>中最先得到广泛使用的协议。</a:t>
            </a:r>
          </a:p>
          <a:p>
            <a:r>
              <a:rPr lang="en-US" altLang="zh-CN" dirty="0"/>
              <a:t>RIP </a:t>
            </a:r>
            <a:r>
              <a:rPr lang="zh-CN" altLang="en-US" dirty="0"/>
              <a:t>是一种</a:t>
            </a:r>
            <a:r>
              <a:rPr lang="zh-CN" altLang="en-US" dirty="0">
                <a:solidFill>
                  <a:srgbClr val="FF0000"/>
                </a:solidFill>
              </a:rPr>
              <a:t>分布式的、基于距离向量的路由选择协议。</a:t>
            </a:r>
          </a:p>
          <a:p>
            <a:r>
              <a:rPr lang="en-US" altLang="zh-CN" dirty="0">
                <a:solidFill>
                  <a:srgbClr val="FF0000"/>
                </a:solidFill>
              </a:rPr>
              <a:t>RIP </a:t>
            </a:r>
            <a:r>
              <a:rPr lang="zh-CN" altLang="en-US" dirty="0">
                <a:solidFill>
                  <a:srgbClr val="FF0000"/>
                </a:solidFill>
              </a:rPr>
              <a:t>协议要求</a:t>
            </a:r>
            <a:r>
              <a:rPr lang="zh-CN" altLang="en-US" dirty="0"/>
              <a:t>网络中的每一个路由器都要维护从它自己到其他每一个目的网络的距离记录。</a:t>
            </a:r>
            <a:r>
              <a:rPr lang="zh-CN" altLang="en-US" sz="2800" dirty="0"/>
              <a:t> </a:t>
            </a:r>
          </a:p>
        </p:txBody>
      </p:sp>
    </p:spTree>
    <p:extLst>
      <p:ext uri="{BB962C8B-B14F-4D97-AF65-F5344CB8AC3E}">
        <p14:creationId xmlns:p14="http://schemas.microsoft.com/office/powerpoint/2010/main" val="38981845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603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60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pPr algn="ctr"/>
            <a:r>
              <a:rPr lang="en-US" altLang="zh-CN" dirty="0"/>
              <a:t>“</a:t>
            </a:r>
            <a:r>
              <a:rPr lang="zh-CN" altLang="en-US" dirty="0"/>
              <a:t>距离”的定义 </a:t>
            </a:r>
          </a:p>
        </p:txBody>
      </p:sp>
      <p:sp>
        <p:nvSpPr>
          <p:cNvPr id="557059" name="Rectangle 3"/>
          <p:cNvSpPr>
            <a:spLocks noGrp="1" noChangeArrowheads="1"/>
          </p:cNvSpPr>
          <p:nvPr>
            <p:ph idx="1"/>
          </p:nvPr>
        </p:nvSpPr>
        <p:spPr>
          <a:noFill/>
        </p:spPr>
        <p:txBody>
          <a:bodyPr/>
          <a:lstStyle/>
          <a:p>
            <a:pPr algn="just"/>
            <a:r>
              <a:rPr lang="zh-CN" altLang="en-US" dirty="0"/>
              <a:t>从一个路由器到</a:t>
            </a:r>
            <a:r>
              <a:rPr lang="zh-CN" altLang="en-US" dirty="0">
                <a:solidFill>
                  <a:srgbClr val="FF0000"/>
                </a:solidFill>
              </a:rPr>
              <a:t>直接连接</a:t>
            </a:r>
            <a:r>
              <a:rPr lang="zh-CN" altLang="en-US" dirty="0"/>
              <a:t>的网络的距离定义为 </a:t>
            </a:r>
            <a:r>
              <a:rPr lang="en-US" altLang="zh-CN" dirty="0"/>
              <a:t>1</a:t>
            </a:r>
            <a:r>
              <a:rPr lang="zh-CN" altLang="en-US" dirty="0"/>
              <a:t>。</a:t>
            </a:r>
          </a:p>
          <a:p>
            <a:pPr algn="just"/>
            <a:r>
              <a:rPr lang="zh-CN" altLang="en-US" dirty="0"/>
              <a:t>从一个路由器到非直接连接的网络的距离定义为所经过的路由器数加 </a:t>
            </a:r>
            <a:r>
              <a:rPr lang="en-US" altLang="zh-CN" dirty="0"/>
              <a:t>1</a:t>
            </a:r>
            <a:r>
              <a:rPr lang="zh-CN" altLang="en-US" dirty="0"/>
              <a:t>。</a:t>
            </a:r>
          </a:p>
          <a:p>
            <a:pPr algn="just"/>
            <a:r>
              <a:rPr lang="en-US" altLang="zh-CN" dirty="0"/>
              <a:t>RIP </a:t>
            </a:r>
            <a:r>
              <a:rPr lang="zh-CN" altLang="en-US" dirty="0"/>
              <a:t>协议中的“距离”也称为“</a:t>
            </a:r>
            <a:r>
              <a:rPr lang="zh-CN" altLang="en-US" dirty="0">
                <a:solidFill>
                  <a:srgbClr val="FF0000"/>
                </a:solidFill>
              </a:rPr>
              <a:t>跳数</a:t>
            </a:r>
            <a:r>
              <a:rPr lang="zh-CN" altLang="en-US" dirty="0"/>
              <a:t>”</a:t>
            </a:r>
            <a:r>
              <a:rPr lang="en-US" altLang="zh-CN" dirty="0"/>
              <a:t>(hop count)</a:t>
            </a:r>
            <a:r>
              <a:rPr lang="zh-CN" altLang="en-US" dirty="0"/>
              <a:t>，因为每经过一个路由器，跳数就加 </a:t>
            </a:r>
            <a:r>
              <a:rPr lang="en-US" altLang="zh-CN" dirty="0"/>
              <a:t>1</a:t>
            </a:r>
            <a:r>
              <a:rPr lang="zh-CN" altLang="en-US" dirty="0"/>
              <a:t>。</a:t>
            </a:r>
          </a:p>
          <a:p>
            <a:pPr algn="just"/>
            <a:r>
              <a:rPr lang="zh-CN" altLang="en-US" dirty="0"/>
              <a:t>这里的“距离”实际上指的是“</a:t>
            </a:r>
            <a:r>
              <a:rPr lang="zh-CN" altLang="en-US" dirty="0">
                <a:solidFill>
                  <a:srgbClr val="FF0000"/>
                </a:solidFill>
              </a:rPr>
              <a:t>最短距离</a:t>
            </a:r>
            <a:r>
              <a:rPr lang="zh-CN" altLang="en-US" dirty="0"/>
              <a:t>”。 </a:t>
            </a:r>
            <a:endParaRPr lang="zh-CN" altLang="en-US" sz="4400" dirty="0"/>
          </a:p>
          <a:p>
            <a:pPr algn="just"/>
            <a:endParaRPr lang="en-US" altLang="zh-CN" dirty="0"/>
          </a:p>
        </p:txBody>
      </p:sp>
    </p:spTree>
    <p:extLst>
      <p:ext uri="{BB962C8B-B14F-4D97-AF65-F5344CB8AC3E}">
        <p14:creationId xmlns:p14="http://schemas.microsoft.com/office/powerpoint/2010/main" val="11450378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pPr algn="ctr"/>
            <a:r>
              <a:rPr lang="en-US" altLang="zh-CN"/>
              <a:t>“</a:t>
            </a:r>
            <a:r>
              <a:rPr lang="zh-CN" altLang="en-US"/>
              <a:t>距离”的定义 </a:t>
            </a:r>
          </a:p>
        </p:txBody>
      </p:sp>
      <p:sp>
        <p:nvSpPr>
          <p:cNvPr id="558083" name="Rectangle 3"/>
          <p:cNvSpPr>
            <a:spLocks noGrp="1" noChangeArrowheads="1"/>
          </p:cNvSpPr>
          <p:nvPr>
            <p:ph idx="1"/>
          </p:nvPr>
        </p:nvSpPr>
        <p:spPr>
          <a:noFill/>
        </p:spPr>
        <p:txBody>
          <a:bodyPr/>
          <a:lstStyle/>
          <a:p>
            <a:pPr algn="just">
              <a:lnSpc>
                <a:spcPct val="100000"/>
              </a:lnSpc>
            </a:pPr>
            <a:r>
              <a:rPr lang="en-US" altLang="zh-CN" dirty="0"/>
              <a:t>RIP </a:t>
            </a:r>
            <a:r>
              <a:rPr lang="zh-CN" altLang="en-US" dirty="0"/>
              <a:t>认为一个</a:t>
            </a:r>
            <a:r>
              <a:rPr lang="zh-CN" altLang="en-US" dirty="0">
                <a:solidFill>
                  <a:srgbClr val="FF0000"/>
                </a:solidFill>
              </a:rPr>
              <a:t>好的路由</a:t>
            </a:r>
            <a:r>
              <a:rPr lang="zh-CN" altLang="en-US" dirty="0"/>
              <a:t>就是它通过的路由器的数目少，即“</a:t>
            </a:r>
            <a:r>
              <a:rPr lang="zh-CN" altLang="en-US" dirty="0">
                <a:solidFill>
                  <a:srgbClr val="FF0000"/>
                </a:solidFill>
              </a:rPr>
              <a:t>距离短</a:t>
            </a:r>
            <a:r>
              <a:rPr lang="zh-CN" altLang="en-US" dirty="0"/>
              <a:t>”。</a:t>
            </a:r>
          </a:p>
          <a:p>
            <a:pPr algn="just">
              <a:lnSpc>
                <a:spcPct val="100000"/>
              </a:lnSpc>
            </a:pPr>
            <a:r>
              <a:rPr lang="en-US" altLang="zh-CN" dirty="0">
                <a:solidFill>
                  <a:srgbClr val="0000FF"/>
                </a:solidFill>
              </a:rPr>
              <a:t>RIP </a:t>
            </a:r>
            <a:r>
              <a:rPr lang="zh-CN" altLang="en-US" dirty="0">
                <a:solidFill>
                  <a:srgbClr val="0000FF"/>
                </a:solidFill>
              </a:rPr>
              <a:t>允许一条路径</a:t>
            </a:r>
            <a:r>
              <a:rPr lang="zh-CN" altLang="en-US" dirty="0">
                <a:solidFill>
                  <a:srgbClr val="FF0000"/>
                </a:solidFill>
              </a:rPr>
              <a:t>最多</a:t>
            </a:r>
            <a:r>
              <a:rPr lang="zh-CN" altLang="en-US" dirty="0">
                <a:solidFill>
                  <a:srgbClr val="0000FF"/>
                </a:solidFill>
              </a:rPr>
              <a:t>只能包含 </a:t>
            </a:r>
            <a:r>
              <a:rPr lang="en-US" altLang="zh-CN" dirty="0">
                <a:solidFill>
                  <a:srgbClr val="FF0000"/>
                </a:solidFill>
              </a:rPr>
              <a:t>15</a:t>
            </a:r>
            <a:r>
              <a:rPr lang="en-US" altLang="zh-CN" dirty="0">
                <a:solidFill>
                  <a:srgbClr val="0000FF"/>
                </a:solidFill>
              </a:rPr>
              <a:t> </a:t>
            </a:r>
            <a:r>
              <a:rPr lang="zh-CN" altLang="en-US" dirty="0">
                <a:solidFill>
                  <a:srgbClr val="0000FF"/>
                </a:solidFill>
              </a:rPr>
              <a:t>个路由器。</a:t>
            </a:r>
          </a:p>
          <a:p>
            <a:pPr algn="just">
              <a:lnSpc>
                <a:spcPct val="100000"/>
              </a:lnSpc>
            </a:pPr>
            <a:r>
              <a:rPr lang="zh-CN" altLang="en-US" dirty="0">
                <a:solidFill>
                  <a:srgbClr val="FF0000"/>
                </a:solidFill>
              </a:rPr>
              <a:t>“距离”的最大值为 </a:t>
            </a:r>
            <a:r>
              <a:rPr lang="en-US" altLang="zh-CN" dirty="0">
                <a:solidFill>
                  <a:srgbClr val="FF0000"/>
                </a:solidFill>
              </a:rPr>
              <a:t>16 </a:t>
            </a:r>
            <a:r>
              <a:rPr lang="zh-CN" altLang="en-US" dirty="0">
                <a:solidFill>
                  <a:srgbClr val="FF0000"/>
                </a:solidFill>
              </a:rPr>
              <a:t>时即相当于不可达。</a:t>
            </a:r>
            <a:r>
              <a:rPr lang="zh-CN" altLang="en-US" dirty="0"/>
              <a:t>可见 </a:t>
            </a:r>
            <a:r>
              <a:rPr lang="en-US" altLang="zh-CN" dirty="0"/>
              <a:t>RIP</a:t>
            </a:r>
            <a:r>
              <a:rPr lang="en-US" altLang="zh-CN" b="1" dirty="0"/>
              <a:t> </a:t>
            </a:r>
            <a:r>
              <a:rPr lang="zh-CN" altLang="en-US" dirty="0"/>
              <a:t>只适用于小型互联网。</a:t>
            </a:r>
          </a:p>
          <a:p>
            <a:pPr algn="just">
              <a:lnSpc>
                <a:spcPct val="100000"/>
              </a:lnSpc>
            </a:pPr>
            <a:r>
              <a:rPr lang="en-US" altLang="zh-CN" dirty="0">
                <a:solidFill>
                  <a:srgbClr val="FF0000"/>
                </a:solidFill>
              </a:rPr>
              <a:t>RIP </a:t>
            </a:r>
            <a:r>
              <a:rPr lang="zh-CN" altLang="en-US" dirty="0">
                <a:solidFill>
                  <a:srgbClr val="FF0000"/>
                </a:solidFill>
              </a:rPr>
              <a:t>不能在两个网络之间同时使用多条路由。</a:t>
            </a:r>
            <a:r>
              <a:rPr lang="en-US" altLang="zh-CN" dirty="0"/>
              <a:t>RIP </a:t>
            </a:r>
            <a:r>
              <a:rPr lang="zh-CN" altLang="en-US" dirty="0"/>
              <a:t>选择一个具有最少路由器的路由（即最短路由），哪怕还存在另一条高速</a:t>
            </a:r>
            <a:r>
              <a:rPr lang="en-US" altLang="zh-CN" dirty="0"/>
              <a:t>(</a:t>
            </a:r>
            <a:r>
              <a:rPr lang="zh-CN" altLang="en-US" dirty="0"/>
              <a:t>低时延</a:t>
            </a:r>
            <a:r>
              <a:rPr lang="en-US" altLang="zh-CN" dirty="0"/>
              <a:t>)</a:t>
            </a:r>
            <a:r>
              <a:rPr lang="zh-CN" altLang="en-US" dirty="0"/>
              <a:t>但路由器较多的路由。   </a:t>
            </a:r>
          </a:p>
        </p:txBody>
      </p:sp>
    </p:spTree>
    <p:extLst>
      <p:ext uri="{BB962C8B-B14F-4D97-AF65-F5344CB8AC3E}">
        <p14:creationId xmlns:p14="http://schemas.microsoft.com/office/powerpoint/2010/main" val="1964123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algn="ctr"/>
            <a:r>
              <a:rPr lang="en-US" altLang="zh-CN" dirty="0"/>
              <a:t>RIP </a:t>
            </a:r>
            <a:r>
              <a:rPr lang="zh-CN" altLang="en-US" dirty="0"/>
              <a:t>协议的三个特点 </a:t>
            </a:r>
          </a:p>
        </p:txBody>
      </p:sp>
      <p:sp>
        <p:nvSpPr>
          <p:cNvPr id="559107" name="Rectangle 3"/>
          <p:cNvSpPr>
            <a:spLocks noGrp="1" noChangeArrowheads="1"/>
          </p:cNvSpPr>
          <p:nvPr>
            <p:ph idx="1"/>
          </p:nvPr>
        </p:nvSpPr>
        <p:spPr>
          <a:noFill/>
        </p:spPr>
        <p:txBody>
          <a:bodyPr/>
          <a:lstStyle/>
          <a:p>
            <a:r>
              <a:rPr lang="en-US" altLang="zh-CN" dirty="0"/>
              <a:t>(1) </a:t>
            </a:r>
            <a:r>
              <a:rPr lang="zh-CN" altLang="en-US" dirty="0"/>
              <a:t>仅和</a:t>
            </a:r>
            <a:r>
              <a:rPr lang="zh-CN" altLang="en-US" dirty="0">
                <a:solidFill>
                  <a:srgbClr val="FF0000"/>
                </a:solidFill>
              </a:rPr>
              <a:t>相邻路由器</a:t>
            </a:r>
            <a:r>
              <a:rPr lang="zh-CN" altLang="en-US" dirty="0"/>
              <a:t>交换信息。 </a:t>
            </a:r>
          </a:p>
          <a:p>
            <a:r>
              <a:rPr lang="en-US" altLang="zh-CN" dirty="0"/>
              <a:t>(2) </a:t>
            </a:r>
            <a:r>
              <a:rPr lang="zh-CN" altLang="en-US" dirty="0"/>
              <a:t>交换的信息是当前本路由器所知道的</a:t>
            </a:r>
            <a:r>
              <a:rPr lang="zh-CN" altLang="en-US" dirty="0">
                <a:solidFill>
                  <a:srgbClr val="FF0000"/>
                </a:solidFill>
              </a:rPr>
              <a:t>全部信息，即自己的路由表。 </a:t>
            </a:r>
          </a:p>
          <a:p>
            <a:r>
              <a:rPr lang="en-US" altLang="zh-CN" dirty="0"/>
              <a:t>(3) </a:t>
            </a:r>
            <a:r>
              <a:rPr lang="zh-CN" altLang="en-US" dirty="0"/>
              <a:t>按固定的时间间隔</a:t>
            </a:r>
            <a:r>
              <a:rPr lang="zh-CN" altLang="en-US" dirty="0">
                <a:solidFill>
                  <a:srgbClr val="FF0000"/>
                </a:solidFill>
              </a:rPr>
              <a:t>交换路由信息，</a:t>
            </a:r>
            <a:r>
              <a:rPr lang="zh-CN" altLang="en-US" dirty="0"/>
              <a:t>例如，每隔 </a:t>
            </a:r>
            <a:r>
              <a:rPr lang="en-US" altLang="zh-CN" dirty="0"/>
              <a:t>30 </a:t>
            </a:r>
            <a:r>
              <a:rPr lang="zh-CN" altLang="en-US" dirty="0"/>
              <a:t>秒。</a:t>
            </a:r>
            <a:r>
              <a:rPr lang="zh-CN" altLang="zh-CN" dirty="0"/>
              <a:t>当网络拓扑发生变化时，路由器也及时向相邻路由器通告拓扑变化后的路由信息。</a:t>
            </a:r>
            <a:endParaRPr lang="zh-CN" altLang="en-US" dirty="0"/>
          </a:p>
        </p:txBody>
      </p:sp>
    </p:spTree>
    <p:extLst>
      <p:ext uri="{BB962C8B-B14F-4D97-AF65-F5344CB8AC3E}">
        <p14:creationId xmlns:p14="http://schemas.microsoft.com/office/powerpoint/2010/main" val="15370671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pPr algn="ctr"/>
            <a:r>
              <a:rPr lang="zh-CN" altLang="en-US"/>
              <a:t>路由表的建立 </a:t>
            </a:r>
          </a:p>
        </p:txBody>
      </p:sp>
      <p:sp>
        <p:nvSpPr>
          <p:cNvPr id="560131" name="Rectangle 3"/>
          <p:cNvSpPr>
            <a:spLocks noGrp="1" noChangeArrowheads="1"/>
          </p:cNvSpPr>
          <p:nvPr>
            <p:ph idx="1"/>
          </p:nvPr>
        </p:nvSpPr>
        <p:spPr>
          <a:noFill/>
        </p:spPr>
        <p:txBody>
          <a:bodyPr/>
          <a:lstStyle/>
          <a:p>
            <a:pPr algn="just"/>
            <a:r>
              <a:rPr lang="zh-CN" altLang="en-US" sz="2800" dirty="0"/>
              <a:t>路由器在</a:t>
            </a:r>
            <a:r>
              <a:rPr lang="zh-CN" altLang="en-US" sz="2800" dirty="0">
                <a:solidFill>
                  <a:srgbClr val="FF0000"/>
                </a:solidFill>
              </a:rPr>
              <a:t>刚刚开始工作</a:t>
            </a:r>
            <a:r>
              <a:rPr lang="zh-CN" altLang="en-US" sz="2800" dirty="0"/>
              <a:t>时，只知道到直接连接的网络的距离（此距离定义为 </a:t>
            </a:r>
            <a:r>
              <a:rPr lang="en-US" altLang="zh-CN" sz="2800" dirty="0"/>
              <a:t>1</a:t>
            </a:r>
            <a:r>
              <a:rPr lang="zh-CN" altLang="en-US" sz="2800" dirty="0"/>
              <a:t>）。</a:t>
            </a:r>
            <a:r>
              <a:rPr lang="zh-CN" altLang="zh-CN" sz="2800" dirty="0"/>
              <a:t>它的</a:t>
            </a:r>
            <a:r>
              <a:rPr lang="zh-CN" altLang="zh-CN" sz="2800" dirty="0">
                <a:solidFill>
                  <a:srgbClr val="FF0000"/>
                </a:solidFill>
              </a:rPr>
              <a:t>路由表是空的。</a:t>
            </a:r>
            <a:endParaRPr lang="zh-CN" altLang="en-US" sz="2800" dirty="0">
              <a:solidFill>
                <a:srgbClr val="FF0000"/>
              </a:solidFill>
            </a:endParaRPr>
          </a:p>
          <a:p>
            <a:pPr algn="just"/>
            <a:r>
              <a:rPr lang="zh-CN" altLang="en-US" sz="2800" dirty="0"/>
              <a:t>以后，每一个路由器也只和数目非常有限的相邻路由器交换并更新路由信息。</a:t>
            </a:r>
          </a:p>
          <a:p>
            <a:pPr algn="just"/>
            <a:r>
              <a:rPr lang="zh-CN" altLang="en-US" sz="2800" dirty="0"/>
              <a:t>经过若干次更新后，所有的路由器最终都会知道到达本自治系统中任何一个网络的最短距离和下一跳路由器的地址。</a:t>
            </a:r>
          </a:p>
          <a:p>
            <a:pPr algn="just"/>
            <a:r>
              <a:rPr lang="en-US" altLang="zh-CN" sz="2800" dirty="0"/>
              <a:t>RIP </a:t>
            </a:r>
            <a:r>
              <a:rPr lang="zh-CN" altLang="en-US" sz="2800" dirty="0"/>
              <a:t>协议的</a:t>
            </a:r>
            <a:r>
              <a:rPr lang="zh-CN" altLang="en-US" sz="2800" dirty="0">
                <a:solidFill>
                  <a:srgbClr val="FF0000"/>
                </a:solidFill>
              </a:rPr>
              <a:t>收敛 </a:t>
            </a:r>
            <a:r>
              <a:rPr lang="en-US" altLang="zh-CN" sz="2800" dirty="0"/>
              <a:t>(convergence) </a:t>
            </a:r>
            <a:r>
              <a:rPr lang="zh-CN" altLang="en-US" sz="2800" dirty="0"/>
              <a:t>过程较快。</a:t>
            </a:r>
            <a:r>
              <a:rPr lang="zh-CN" altLang="zh-CN" sz="2800" dirty="0"/>
              <a:t>“收敛”就是</a:t>
            </a:r>
            <a:r>
              <a:rPr lang="zh-CN" altLang="en-US" sz="2800" dirty="0"/>
              <a:t>在自治系统中所有的结点都得到正确的路由选择信息的过程。 </a:t>
            </a:r>
          </a:p>
        </p:txBody>
      </p:sp>
    </p:spTree>
    <p:extLst>
      <p:ext uri="{BB962C8B-B14F-4D97-AF65-F5344CB8AC3E}">
        <p14:creationId xmlns:p14="http://schemas.microsoft.com/office/powerpoint/2010/main" val="3196786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pPr algn="ctr"/>
            <a:r>
              <a:rPr lang="zh-CN" altLang="en-US" sz="4000" dirty="0"/>
              <a:t>路由器之间交换信息与路由表更新</a:t>
            </a:r>
          </a:p>
        </p:txBody>
      </p:sp>
      <p:sp>
        <p:nvSpPr>
          <p:cNvPr id="562179" name="Rectangle 3"/>
          <p:cNvSpPr>
            <a:spLocks noGrp="1" noChangeArrowheads="1"/>
          </p:cNvSpPr>
          <p:nvPr>
            <p:ph idx="1"/>
          </p:nvPr>
        </p:nvSpPr>
        <p:spPr>
          <a:noFill/>
        </p:spPr>
        <p:txBody>
          <a:bodyPr/>
          <a:lstStyle/>
          <a:p>
            <a:pPr algn="just"/>
            <a:r>
              <a:rPr lang="en-US" altLang="zh-CN" dirty="0"/>
              <a:t>RIP </a:t>
            </a:r>
            <a:r>
              <a:rPr lang="zh-CN" altLang="en-US" dirty="0"/>
              <a:t>协议让互联网中的所有路由器都和自己的相邻路由器不断交换路由信息，并不断更新其路由表，使得从每一个路由器到每一个目的网络的路由都是最短的（即跳数最少）。</a:t>
            </a:r>
          </a:p>
          <a:p>
            <a:pPr algn="just"/>
            <a:r>
              <a:rPr lang="zh-CN" altLang="en-US" dirty="0"/>
              <a:t>虽然所有的路由器最终都拥有了整个自治系统的全局路由信息，但由于每一个路由器的位置不同，它们的路由表当然也应当是不同的。  </a:t>
            </a:r>
          </a:p>
        </p:txBody>
      </p:sp>
    </p:spTree>
    <p:extLst>
      <p:ext uri="{BB962C8B-B14F-4D97-AF65-F5344CB8AC3E}">
        <p14:creationId xmlns:p14="http://schemas.microsoft.com/office/powerpoint/2010/main" val="31144827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446" name="AutoShape 54"/>
          <p:cNvSpPr>
            <a:spLocks noChangeArrowheads="1"/>
          </p:cNvSpPr>
          <p:nvPr/>
        </p:nvSpPr>
        <p:spPr bwMode="auto">
          <a:xfrm rot="5400000">
            <a:off x="962342" y="4841192"/>
            <a:ext cx="241300" cy="502179"/>
          </a:xfrm>
          <a:prstGeom prst="downArrow">
            <a:avLst>
              <a:gd name="adj1" fmla="val 50000"/>
              <a:gd name="adj2" fmla="val 48026"/>
            </a:avLst>
          </a:prstGeom>
          <a:solidFill>
            <a:srgbClr val="FFC000"/>
          </a:solidFill>
          <a:ln w="9525">
            <a:solidFill>
              <a:srgbClr val="000099"/>
            </a:solidFill>
            <a:miter lim="800000"/>
            <a:headEnd/>
            <a:tailEnd/>
          </a:ln>
          <a:effectLst/>
        </p:spPr>
        <p:txBody>
          <a:bodyPr vert="eaVert" wrap="none" anchor="ctr"/>
          <a:lstStyle/>
          <a:p>
            <a:endParaRPr lang="zh-CN" altLang="en-US" b="1">
              <a:solidFill>
                <a:srgbClr val="000099"/>
              </a:solidFill>
              <a:latin typeface="+mn-lt"/>
              <a:ea typeface="黑体" pitchFamily="2" charset="-122"/>
            </a:endParaRPr>
          </a:p>
        </p:txBody>
      </p:sp>
      <p:sp>
        <p:nvSpPr>
          <p:cNvPr id="571394" name="Line 2"/>
          <p:cNvSpPr>
            <a:spLocks noChangeShapeType="1"/>
          </p:cNvSpPr>
          <p:nvPr/>
        </p:nvSpPr>
        <p:spPr bwMode="auto">
          <a:xfrm>
            <a:off x="4818380" y="1300698"/>
            <a:ext cx="3931444" cy="0"/>
          </a:xfrm>
          <a:prstGeom prst="line">
            <a:avLst/>
          </a:prstGeom>
          <a:noFill/>
          <a:ln w="19050">
            <a:solidFill>
              <a:srgbClr val="0000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395" name="Text Box 3"/>
          <p:cNvSpPr txBox="1">
            <a:spLocks noChangeArrowheads="1"/>
          </p:cNvSpPr>
          <p:nvPr/>
        </p:nvSpPr>
        <p:spPr bwMode="auto">
          <a:xfrm>
            <a:off x="6397149" y="1116612"/>
            <a:ext cx="984565"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 4 </a:t>
            </a:r>
            <a:r>
              <a:rPr kumimoji="1" lang="zh-CN" altLang="en-US" sz="2000" b="1" dirty="0">
                <a:solidFill>
                  <a:srgbClr val="000099"/>
                </a:solidFill>
                <a:latin typeface="+mn-lt"/>
                <a:ea typeface="黑体" pitchFamily="2" charset="-122"/>
              </a:rPr>
              <a:t>字节</a:t>
            </a:r>
          </a:p>
        </p:txBody>
      </p:sp>
      <p:sp>
        <p:nvSpPr>
          <p:cNvPr id="571396" name="Rectangle 4"/>
          <p:cNvSpPr>
            <a:spLocks noChangeArrowheads="1"/>
          </p:cNvSpPr>
          <p:nvPr/>
        </p:nvSpPr>
        <p:spPr bwMode="auto">
          <a:xfrm>
            <a:off x="1313444" y="4774781"/>
            <a:ext cx="6260042" cy="647700"/>
          </a:xfrm>
          <a:prstGeom prst="rect">
            <a:avLst/>
          </a:prstGeom>
          <a:solidFill>
            <a:srgbClr val="FF66FF"/>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571397" name="Line 5"/>
          <p:cNvSpPr>
            <a:spLocks noChangeShapeType="1"/>
          </p:cNvSpPr>
          <p:nvPr/>
        </p:nvSpPr>
        <p:spPr bwMode="auto">
          <a:xfrm flipV="1">
            <a:off x="3440832" y="4541058"/>
            <a:ext cx="4125774"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398" name="Text Box 6"/>
          <p:cNvSpPr txBox="1">
            <a:spLocks noChangeArrowheads="1"/>
          </p:cNvSpPr>
          <p:nvPr/>
        </p:nvSpPr>
        <p:spPr bwMode="auto">
          <a:xfrm>
            <a:off x="4825259" y="4351972"/>
            <a:ext cx="1220206"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RIP </a:t>
            </a:r>
            <a:r>
              <a:rPr kumimoji="1" lang="zh-CN" altLang="en-US" sz="2000" b="1">
                <a:solidFill>
                  <a:srgbClr val="000099"/>
                </a:solidFill>
                <a:latin typeface="+mn-lt"/>
                <a:ea typeface="黑体" pitchFamily="2" charset="-122"/>
              </a:rPr>
              <a:t>报文</a:t>
            </a:r>
          </a:p>
        </p:txBody>
      </p:sp>
      <p:sp>
        <p:nvSpPr>
          <p:cNvPr id="571399" name="Rectangle 7"/>
          <p:cNvSpPr>
            <a:spLocks noGrp="1" noChangeArrowheads="1"/>
          </p:cNvSpPr>
          <p:nvPr>
            <p:ph type="title"/>
          </p:nvPr>
        </p:nvSpPr>
        <p:spPr/>
        <p:txBody>
          <a:bodyPr/>
          <a:lstStyle/>
          <a:p>
            <a:r>
              <a:rPr lang="en-US" altLang="zh-CN" dirty="0"/>
              <a:t>2. RIP2 </a:t>
            </a:r>
            <a:r>
              <a:rPr lang="zh-CN" altLang="en-US" dirty="0"/>
              <a:t>协议的报文格式 </a:t>
            </a:r>
          </a:p>
        </p:txBody>
      </p:sp>
      <p:sp>
        <p:nvSpPr>
          <p:cNvPr id="571400" name="Freeform 8"/>
          <p:cNvSpPr>
            <a:spLocks/>
          </p:cNvSpPr>
          <p:nvPr/>
        </p:nvSpPr>
        <p:spPr bwMode="auto">
          <a:xfrm>
            <a:off x="4197534" y="3497538"/>
            <a:ext cx="4643898" cy="209909"/>
          </a:xfrm>
          <a:custGeom>
            <a:avLst/>
            <a:gdLst>
              <a:gd name="T0" fmla="*/ 306 w 2328"/>
              <a:gd name="T1" fmla="*/ 6 h 204"/>
              <a:gd name="T2" fmla="*/ 2328 w 2328"/>
              <a:gd name="T3" fmla="*/ 0 h 204"/>
              <a:gd name="T4" fmla="*/ 1716 w 2328"/>
              <a:gd name="T5" fmla="*/ 204 h 204"/>
              <a:gd name="T6" fmla="*/ 0 w 2328"/>
              <a:gd name="T7" fmla="*/ 204 h 204"/>
              <a:gd name="T8" fmla="*/ 306 w 2328"/>
              <a:gd name="T9" fmla="*/ 6 h 204"/>
            </a:gdLst>
            <a:ahLst/>
            <a:cxnLst>
              <a:cxn ang="0">
                <a:pos x="T0" y="T1"/>
              </a:cxn>
              <a:cxn ang="0">
                <a:pos x="T2" y="T3"/>
              </a:cxn>
              <a:cxn ang="0">
                <a:pos x="T4" y="T5"/>
              </a:cxn>
              <a:cxn ang="0">
                <a:pos x="T6" y="T7"/>
              </a:cxn>
              <a:cxn ang="0">
                <a:pos x="T8" y="T9"/>
              </a:cxn>
            </a:cxnLst>
            <a:rect l="0" t="0" r="r" b="b"/>
            <a:pathLst>
              <a:path w="2328" h="204">
                <a:moveTo>
                  <a:pt x="306" y="6"/>
                </a:moveTo>
                <a:lnTo>
                  <a:pt x="2328" y="0"/>
                </a:lnTo>
                <a:lnTo>
                  <a:pt x="1716" y="204"/>
                </a:lnTo>
                <a:lnTo>
                  <a:pt x="0" y="204"/>
                </a:lnTo>
                <a:lnTo>
                  <a:pt x="306" y="6"/>
                </a:lnTo>
                <a:close/>
              </a:path>
            </a:pathLst>
          </a:custGeom>
          <a:gradFill>
            <a:gsLst>
              <a:gs pos="0">
                <a:srgbClr val="CCFFFF"/>
              </a:gs>
              <a:gs pos="100000">
                <a:srgbClr val="CCECFF"/>
              </a:gs>
            </a:gsLst>
            <a:lin ang="16200000" scaled="1"/>
          </a:gradFill>
          <a:ln>
            <a:noFill/>
          </a:ln>
          <a:effectLst/>
        </p:spPr>
        <p:txBody>
          <a:bodyPr/>
          <a:lstStyle/>
          <a:p>
            <a:endParaRPr lang="zh-CN" altLang="en-US" b="1">
              <a:solidFill>
                <a:srgbClr val="000099"/>
              </a:solidFill>
              <a:latin typeface="+mn-lt"/>
              <a:ea typeface="黑体" pitchFamily="2" charset="-122"/>
            </a:endParaRPr>
          </a:p>
        </p:txBody>
      </p:sp>
      <p:sp>
        <p:nvSpPr>
          <p:cNvPr id="571401" name="Rectangle 9"/>
          <p:cNvSpPr>
            <a:spLocks noChangeArrowheads="1"/>
          </p:cNvSpPr>
          <p:nvPr/>
        </p:nvSpPr>
        <p:spPr bwMode="auto">
          <a:xfrm>
            <a:off x="4808061" y="1470300"/>
            <a:ext cx="3976158" cy="2027238"/>
          </a:xfrm>
          <a:prstGeom prst="rect">
            <a:avLst/>
          </a:prstGeom>
          <a:solidFill>
            <a:srgbClr val="CCECFF"/>
          </a:solidFill>
          <a:ln w="9525">
            <a:solidFill>
              <a:schemeClr val="tx1"/>
            </a:solidFill>
            <a:miter lim="800000"/>
            <a:headEnd/>
            <a:tailEnd/>
          </a:ln>
          <a:effectLst>
            <a:outerShdw dist="1796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571402" name="Line 10"/>
          <p:cNvSpPr>
            <a:spLocks noChangeShapeType="1"/>
          </p:cNvSpPr>
          <p:nvPr/>
        </p:nvSpPr>
        <p:spPr bwMode="auto">
          <a:xfrm>
            <a:off x="2601567" y="5663206"/>
            <a:ext cx="4958161"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03" name="Text Box 11"/>
          <p:cNvSpPr txBox="1">
            <a:spLocks noChangeArrowheads="1"/>
          </p:cNvSpPr>
          <p:nvPr/>
        </p:nvSpPr>
        <p:spPr bwMode="auto">
          <a:xfrm>
            <a:off x="7719284" y="4049777"/>
            <a:ext cx="2144688" cy="1323439"/>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b="1" dirty="0">
                <a:solidFill>
                  <a:srgbClr val="000099"/>
                </a:solidFill>
                <a:latin typeface="+mn-lt"/>
                <a:ea typeface="黑体" pitchFamily="2" charset="-122"/>
              </a:rPr>
              <a:t>路由信息</a:t>
            </a:r>
          </a:p>
          <a:p>
            <a:pPr algn="ctr"/>
            <a:r>
              <a:rPr kumimoji="1" lang="zh-CN" altLang="en-US" sz="2000" b="1" dirty="0">
                <a:solidFill>
                  <a:srgbClr val="000099"/>
                </a:solidFill>
                <a:latin typeface="+mn-lt"/>
                <a:ea typeface="黑体" pitchFamily="2" charset="-122"/>
              </a:rPr>
              <a:t>（</a:t>
            </a:r>
            <a:r>
              <a:rPr kumimoji="1" lang="en-US" altLang="zh-CN" sz="2000" b="1" dirty="0">
                <a:solidFill>
                  <a:srgbClr val="000099"/>
                </a:solidFill>
                <a:latin typeface="+mn-lt"/>
                <a:ea typeface="黑体" pitchFamily="2" charset="-122"/>
              </a:rPr>
              <a:t>20 </a:t>
            </a:r>
            <a:r>
              <a:rPr kumimoji="1" lang="zh-CN" altLang="en-US" sz="2000" b="1" dirty="0">
                <a:solidFill>
                  <a:srgbClr val="000099"/>
                </a:solidFill>
                <a:latin typeface="+mn-lt"/>
                <a:ea typeface="黑体" pitchFamily="2" charset="-122"/>
              </a:rPr>
              <a:t>字节</a:t>
            </a:r>
            <a:r>
              <a:rPr kumimoji="1" lang="en-US" altLang="zh-CN" sz="2000" b="1" dirty="0">
                <a:solidFill>
                  <a:srgbClr val="000099"/>
                </a:solidFill>
                <a:latin typeface="+mn-lt"/>
                <a:ea typeface="黑体" pitchFamily="2" charset="-122"/>
              </a:rPr>
              <a:t>/</a:t>
            </a:r>
            <a:r>
              <a:rPr kumimoji="1" lang="zh-CN" altLang="en-US" sz="2000" b="1" dirty="0">
                <a:solidFill>
                  <a:srgbClr val="000099"/>
                </a:solidFill>
                <a:latin typeface="+mn-lt"/>
                <a:ea typeface="黑体" pitchFamily="2" charset="-122"/>
              </a:rPr>
              <a:t>路由）</a:t>
            </a:r>
          </a:p>
          <a:p>
            <a:pPr algn="ctr"/>
            <a:r>
              <a:rPr kumimoji="1" lang="zh-CN" altLang="en-US" sz="2000" b="1" dirty="0">
                <a:solidFill>
                  <a:srgbClr val="000099"/>
                </a:solidFill>
                <a:latin typeface="+mn-lt"/>
                <a:ea typeface="黑体" pitchFamily="2" charset="-122"/>
              </a:rPr>
              <a:t>可重复出现</a:t>
            </a:r>
          </a:p>
          <a:p>
            <a:pPr algn="ctr"/>
            <a:r>
              <a:rPr kumimoji="1" lang="zh-CN" altLang="en-US" sz="2000" b="1" dirty="0">
                <a:solidFill>
                  <a:srgbClr val="000099"/>
                </a:solidFill>
                <a:latin typeface="+mn-lt"/>
                <a:ea typeface="黑体" pitchFamily="2" charset="-122"/>
              </a:rPr>
              <a:t>最多 </a:t>
            </a:r>
            <a:r>
              <a:rPr kumimoji="1" lang="en-US" altLang="zh-CN" sz="2000" b="1" dirty="0">
                <a:solidFill>
                  <a:srgbClr val="000099"/>
                </a:solidFill>
                <a:latin typeface="+mn-lt"/>
                <a:ea typeface="黑体" pitchFamily="2" charset="-122"/>
              </a:rPr>
              <a:t>25 </a:t>
            </a:r>
            <a:r>
              <a:rPr kumimoji="1" lang="zh-CN" altLang="en-US" sz="2000" b="1" dirty="0">
                <a:solidFill>
                  <a:srgbClr val="000099"/>
                </a:solidFill>
                <a:latin typeface="+mn-lt"/>
                <a:ea typeface="黑体" pitchFamily="2" charset="-122"/>
              </a:rPr>
              <a:t>个</a:t>
            </a:r>
          </a:p>
        </p:txBody>
      </p:sp>
      <p:sp>
        <p:nvSpPr>
          <p:cNvPr id="571404" name="Rectangle 12"/>
          <p:cNvSpPr>
            <a:spLocks noChangeArrowheads="1"/>
          </p:cNvSpPr>
          <p:nvPr/>
        </p:nvSpPr>
        <p:spPr bwMode="auto">
          <a:xfrm>
            <a:off x="3399551" y="3734434"/>
            <a:ext cx="4160177" cy="62071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05" name="Freeform 13"/>
          <p:cNvSpPr>
            <a:spLocks/>
          </p:cNvSpPr>
          <p:nvPr/>
        </p:nvSpPr>
        <p:spPr bwMode="auto">
          <a:xfrm>
            <a:off x="432911" y="2757765"/>
            <a:ext cx="3905646" cy="976670"/>
          </a:xfrm>
          <a:custGeom>
            <a:avLst/>
            <a:gdLst>
              <a:gd name="T0" fmla="*/ 0 w 1992"/>
              <a:gd name="T1" fmla="*/ 12 h 612"/>
              <a:gd name="T2" fmla="*/ 1992 w 1992"/>
              <a:gd name="T3" fmla="*/ 0 h 612"/>
              <a:gd name="T4" fmla="*/ 1890 w 1992"/>
              <a:gd name="T5" fmla="*/ 606 h 612"/>
              <a:gd name="T6" fmla="*/ 1506 w 1992"/>
              <a:gd name="T7" fmla="*/ 612 h 612"/>
              <a:gd name="T8" fmla="*/ 0 w 1992"/>
              <a:gd name="T9" fmla="*/ 12 h 612"/>
            </a:gdLst>
            <a:ahLst/>
            <a:cxnLst>
              <a:cxn ang="0">
                <a:pos x="T0" y="T1"/>
              </a:cxn>
              <a:cxn ang="0">
                <a:pos x="T2" y="T3"/>
              </a:cxn>
              <a:cxn ang="0">
                <a:pos x="T4" y="T5"/>
              </a:cxn>
              <a:cxn ang="0">
                <a:pos x="T6" y="T7"/>
              </a:cxn>
              <a:cxn ang="0">
                <a:pos x="T8" y="T9"/>
              </a:cxn>
            </a:cxnLst>
            <a:rect l="0" t="0" r="r" b="b"/>
            <a:pathLst>
              <a:path w="1992" h="612">
                <a:moveTo>
                  <a:pt x="0" y="12"/>
                </a:moveTo>
                <a:lnTo>
                  <a:pt x="1992" y="0"/>
                </a:lnTo>
                <a:lnTo>
                  <a:pt x="1890" y="606"/>
                </a:lnTo>
                <a:lnTo>
                  <a:pt x="1506" y="612"/>
                </a:lnTo>
                <a:lnTo>
                  <a:pt x="0" y="12"/>
                </a:lnTo>
                <a:close/>
              </a:path>
            </a:pathLst>
          </a:custGeom>
          <a:gradFill>
            <a:gsLst>
              <a:gs pos="0">
                <a:srgbClr val="66FF66"/>
              </a:gs>
              <a:gs pos="100000">
                <a:srgbClr val="CCECFF"/>
              </a:gs>
            </a:gsLst>
            <a:lin ang="16200000" scaled="1"/>
          </a:gradFill>
          <a:ln>
            <a:noFill/>
          </a:ln>
          <a:effectLst/>
        </p:spPr>
        <p:txBody>
          <a:bodyPr/>
          <a:lstStyle/>
          <a:p>
            <a:endParaRPr lang="zh-CN" altLang="en-US" b="1">
              <a:solidFill>
                <a:srgbClr val="000099"/>
              </a:solidFill>
              <a:latin typeface="+mn-lt"/>
              <a:ea typeface="黑体" pitchFamily="2" charset="-122"/>
            </a:endParaRPr>
          </a:p>
        </p:txBody>
      </p:sp>
      <p:sp>
        <p:nvSpPr>
          <p:cNvPr id="571406" name="Rectangle 14"/>
          <p:cNvSpPr>
            <a:spLocks noChangeArrowheads="1"/>
          </p:cNvSpPr>
          <p:nvPr/>
        </p:nvSpPr>
        <p:spPr bwMode="auto">
          <a:xfrm>
            <a:off x="3399552" y="3721734"/>
            <a:ext cx="4173935" cy="64611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07" name="Line 15"/>
          <p:cNvSpPr>
            <a:spLocks noChangeShapeType="1"/>
          </p:cNvSpPr>
          <p:nvPr/>
        </p:nvSpPr>
        <p:spPr bwMode="auto">
          <a:xfrm>
            <a:off x="1313443" y="5383944"/>
            <a:ext cx="0" cy="6852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08" name="Rectangle 16"/>
          <p:cNvSpPr>
            <a:spLocks noChangeArrowheads="1"/>
          </p:cNvSpPr>
          <p:nvPr/>
        </p:nvSpPr>
        <p:spPr bwMode="auto">
          <a:xfrm>
            <a:off x="4443466" y="5577620"/>
            <a:ext cx="1551252" cy="279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09" name="Line 17"/>
          <p:cNvSpPr>
            <a:spLocks noChangeShapeType="1"/>
          </p:cNvSpPr>
          <p:nvPr/>
        </p:nvSpPr>
        <p:spPr bwMode="auto">
          <a:xfrm>
            <a:off x="1313444" y="5981218"/>
            <a:ext cx="6260042"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10" name="Text Box 18"/>
          <p:cNvSpPr txBox="1">
            <a:spLocks noChangeArrowheads="1"/>
          </p:cNvSpPr>
          <p:nvPr/>
        </p:nvSpPr>
        <p:spPr bwMode="auto">
          <a:xfrm>
            <a:off x="2792760" y="5837202"/>
            <a:ext cx="1266885"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IP </a:t>
            </a:r>
            <a:r>
              <a:rPr kumimoji="1" lang="zh-CN" altLang="en-US" sz="2000" b="1" dirty="0">
                <a:solidFill>
                  <a:srgbClr val="000099"/>
                </a:solidFill>
                <a:latin typeface="+mn-lt"/>
                <a:ea typeface="黑体" pitchFamily="2" charset="-122"/>
              </a:rPr>
              <a:t>数据报</a:t>
            </a:r>
          </a:p>
        </p:txBody>
      </p:sp>
      <p:sp>
        <p:nvSpPr>
          <p:cNvPr id="571411" name="Line 19"/>
          <p:cNvSpPr>
            <a:spLocks noChangeShapeType="1"/>
          </p:cNvSpPr>
          <p:nvPr/>
        </p:nvSpPr>
        <p:spPr bwMode="auto">
          <a:xfrm>
            <a:off x="4820099" y="1859238"/>
            <a:ext cx="39761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12" name="Line 20"/>
          <p:cNvSpPr>
            <a:spLocks noChangeShapeType="1"/>
          </p:cNvSpPr>
          <p:nvPr/>
        </p:nvSpPr>
        <p:spPr bwMode="auto">
          <a:xfrm>
            <a:off x="4820099" y="2283100"/>
            <a:ext cx="39761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13" name="Line 21"/>
          <p:cNvSpPr>
            <a:spLocks noChangeShapeType="1"/>
          </p:cNvSpPr>
          <p:nvPr/>
        </p:nvSpPr>
        <p:spPr bwMode="auto">
          <a:xfrm>
            <a:off x="4820099" y="2686325"/>
            <a:ext cx="39761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14" name="Line 22"/>
          <p:cNvSpPr>
            <a:spLocks noChangeShapeType="1"/>
          </p:cNvSpPr>
          <p:nvPr/>
        </p:nvSpPr>
        <p:spPr bwMode="auto">
          <a:xfrm>
            <a:off x="4820099" y="3070500"/>
            <a:ext cx="39761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15" name="Line 23"/>
          <p:cNvSpPr>
            <a:spLocks noChangeShapeType="1"/>
          </p:cNvSpPr>
          <p:nvPr/>
        </p:nvSpPr>
        <p:spPr bwMode="auto">
          <a:xfrm rot="5400000" flipH="1">
            <a:off x="6610534" y="1680644"/>
            <a:ext cx="395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16" name="Text Box 24"/>
          <p:cNvSpPr txBox="1">
            <a:spLocks noChangeArrowheads="1"/>
          </p:cNvSpPr>
          <p:nvPr/>
        </p:nvSpPr>
        <p:spPr bwMode="auto">
          <a:xfrm>
            <a:off x="7269082" y="1406800"/>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路由标记</a:t>
            </a:r>
          </a:p>
        </p:txBody>
      </p:sp>
      <p:sp>
        <p:nvSpPr>
          <p:cNvPr id="571417" name="Text Box 25"/>
          <p:cNvSpPr txBox="1">
            <a:spLocks noChangeArrowheads="1"/>
          </p:cNvSpPr>
          <p:nvPr/>
        </p:nvSpPr>
        <p:spPr bwMode="auto">
          <a:xfrm>
            <a:off x="6195932" y="182748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网络地址</a:t>
            </a:r>
          </a:p>
        </p:txBody>
      </p:sp>
      <p:sp>
        <p:nvSpPr>
          <p:cNvPr id="571418" name="Text Box 26"/>
          <p:cNvSpPr txBox="1">
            <a:spLocks noChangeArrowheads="1"/>
          </p:cNvSpPr>
          <p:nvPr/>
        </p:nvSpPr>
        <p:spPr bwMode="auto">
          <a:xfrm>
            <a:off x="5009276" y="1425851"/>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地址族标识符</a:t>
            </a:r>
          </a:p>
        </p:txBody>
      </p:sp>
      <p:sp>
        <p:nvSpPr>
          <p:cNvPr id="571419" name="Text Box 27"/>
          <p:cNvSpPr txBox="1">
            <a:spLocks noChangeArrowheads="1"/>
          </p:cNvSpPr>
          <p:nvPr/>
        </p:nvSpPr>
        <p:spPr bwMode="auto">
          <a:xfrm>
            <a:off x="6137460" y="3073676"/>
            <a:ext cx="14542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距离 </a:t>
            </a:r>
            <a:r>
              <a:rPr kumimoji="1" lang="en-US" altLang="zh-CN" sz="2000" b="1">
                <a:solidFill>
                  <a:srgbClr val="000099"/>
                </a:solidFill>
                <a:latin typeface="+mn-lt"/>
                <a:ea typeface="黑体" pitchFamily="2" charset="-122"/>
              </a:rPr>
              <a:t>(1-16)</a:t>
            </a:r>
          </a:p>
        </p:txBody>
      </p:sp>
      <p:sp>
        <p:nvSpPr>
          <p:cNvPr id="571420" name="Rectangle 28"/>
          <p:cNvSpPr>
            <a:spLocks noChangeArrowheads="1"/>
          </p:cNvSpPr>
          <p:nvPr/>
        </p:nvSpPr>
        <p:spPr bwMode="auto">
          <a:xfrm>
            <a:off x="3399551" y="4787481"/>
            <a:ext cx="4160177" cy="62230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21" name="Line 29"/>
          <p:cNvSpPr>
            <a:spLocks noChangeShapeType="1"/>
          </p:cNvSpPr>
          <p:nvPr/>
        </p:nvSpPr>
        <p:spPr bwMode="auto">
          <a:xfrm>
            <a:off x="2617046" y="4774781"/>
            <a:ext cx="0"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22" name="Text Box 30"/>
          <p:cNvSpPr txBox="1">
            <a:spLocks noChangeArrowheads="1"/>
          </p:cNvSpPr>
          <p:nvPr/>
        </p:nvSpPr>
        <p:spPr bwMode="auto">
          <a:xfrm>
            <a:off x="1585171" y="4804943"/>
            <a:ext cx="7008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en-US" altLang="zh-CN" sz="2000" b="1">
                <a:solidFill>
                  <a:srgbClr val="000099"/>
                </a:solidFill>
                <a:latin typeface="+mn-lt"/>
                <a:ea typeface="黑体" pitchFamily="2" charset="-122"/>
              </a:rPr>
              <a:t>  IP </a:t>
            </a:r>
          </a:p>
          <a:p>
            <a:pPr>
              <a:lnSpc>
                <a:spcPct val="90000"/>
              </a:lnSpc>
            </a:pPr>
            <a:r>
              <a:rPr kumimoji="1" lang="zh-CN" altLang="en-US" sz="2000" b="1">
                <a:solidFill>
                  <a:srgbClr val="000099"/>
                </a:solidFill>
                <a:latin typeface="+mn-lt"/>
                <a:ea typeface="黑体" pitchFamily="2" charset="-122"/>
              </a:rPr>
              <a:t>首部</a:t>
            </a:r>
          </a:p>
        </p:txBody>
      </p:sp>
      <p:sp>
        <p:nvSpPr>
          <p:cNvPr id="571424" name="AutoShape 32"/>
          <p:cNvSpPr>
            <a:spLocks noChangeArrowheads="1"/>
          </p:cNvSpPr>
          <p:nvPr/>
        </p:nvSpPr>
        <p:spPr bwMode="auto">
          <a:xfrm>
            <a:off x="5225970" y="4613066"/>
            <a:ext cx="209392" cy="396542"/>
          </a:xfrm>
          <a:prstGeom prst="downArrow">
            <a:avLst>
              <a:gd name="adj1" fmla="val 50000"/>
              <a:gd name="adj2" fmla="val 48026"/>
            </a:avLst>
          </a:prstGeom>
          <a:solidFill>
            <a:schemeClr val="accent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itchFamily="2" charset="-122"/>
            </a:endParaRPr>
          </a:p>
        </p:txBody>
      </p:sp>
      <p:sp>
        <p:nvSpPr>
          <p:cNvPr id="571425" name="Text Box 33"/>
          <p:cNvSpPr txBox="1">
            <a:spLocks noChangeArrowheads="1"/>
          </p:cNvSpPr>
          <p:nvPr/>
        </p:nvSpPr>
        <p:spPr bwMode="auto">
          <a:xfrm>
            <a:off x="2675519" y="4804943"/>
            <a:ext cx="79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en-US" altLang="zh-CN" sz="2000" b="1">
                <a:solidFill>
                  <a:srgbClr val="000099"/>
                </a:solidFill>
                <a:latin typeface="+mn-lt"/>
                <a:ea typeface="黑体" pitchFamily="2" charset="-122"/>
              </a:rPr>
              <a:t>UDP </a:t>
            </a:r>
          </a:p>
          <a:p>
            <a:pPr>
              <a:lnSpc>
                <a:spcPct val="90000"/>
              </a:lnSpc>
            </a:pPr>
            <a:r>
              <a:rPr kumimoji="1" lang="zh-CN" altLang="en-US" sz="2000" b="1">
                <a:solidFill>
                  <a:srgbClr val="000099"/>
                </a:solidFill>
                <a:latin typeface="+mn-lt"/>
                <a:ea typeface="黑体" pitchFamily="2" charset="-122"/>
              </a:rPr>
              <a:t>首部</a:t>
            </a:r>
          </a:p>
        </p:txBody>
      </p:sp>
      <p:sp>
        <p:nvSpPr>
          <p:cNvPr id="571426" name="Line 34"/>
          <p:cNvSpPr>
            <a:spLocks noChangeShapeType="1"/>
          </p:cNvSpPr>
          <p:nvPr/>
        </p:nvSpPr>
        <p:spPr bwMode="auto">
          <a:xfrm>
            <a:off x="3399551" y="4787481"/>
            <a:ext cx="0" cy="646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27" name="AutoShape 35"/>
          <p:cNvSpPr>
            <a:spLocks/>
          </p:cNvSpPr>
          <p:nvPr/>
        </p:nvSpPr>
        <p:spPr bwMode="auto">
          <a:xfrm>
            <a:off x="8841432" y="1487764"/>
            <a:ext cx="266567" cy="1976437"/>
          </a:xfrm>
          <a:prstGeom prst="rightBrace">
            <a:avLst>
              <a:gd name="adj1" fmla="val 66936"/>
              <a:gd name="adj2" fmla="val 50000"/>
            </a:avLst>
          </a:prstGeom>
          <a:noFill/>
          <a:ln w="19050">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28" name="Line 36"/>
          <p:cNvSpPr>
            <a:spLocks noChangeShapeType="1"/>
          </p:cNvSpPr>
          <p:nvPr/>
        </p:nvSpPr>
        <p:spPr bwMode="auto">
          <a:xfrm>
            <a:off x="4135622" y="3718559"/>
            <a:ext cx="0" cy="64611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29" name="Line 37"/>
          <p:cNvSpPr>
            <a:spLocks noChangeShapeType="1"/>
          </p:cNvSpPr>
          <p:nvPr/>
        </p:nvSpPr>
        <p:spPr bwMode="auto">
          <a:xfrm>
            <a:off x="3399551" y="4355197"/>
            <a:ext cx="0" cy="3222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30" name="Line 38"/>
          <p:cNvSpPr>
            <a:spLocks noChangeShapeType="1"/>
          </p:cNvSpPr>
          <p:nvPr/>
        </p:nvSpPr>
        <p:spPr bwMode="auto">
          <a:xfrm>
            <a:off x="7575268" y="4325034"/>
            <a:ext cx="0" cy="3222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32" name="Text Box 40"/>
          <p:cNvSpPr txBox="1">
            <a:spLocks noChangeArrowheads="1"/>
          </p:cNvSpPr>
          <p:nvPr/>
        </p:nvSpPr>
        <p:spPr bwMode="auto">
          <a:xfrm>
            <a:off x="5069469" y="3861200"/>
            <a:ext cx="1210588"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路由部分</a:t>
            </a:r>
          </a:p>
        </p:txBody>
      </p:sp>
      <p:sp>
        <p:nvSpPr>
          <p:cNvPr id="571439" name="Line 47"/>
          <p:cNvSpPr>
            <a:spLocks noChangeShapeType="1"/>
          </p:cNvSpPr>
          <p:nvPr/>
        </p:nvSpPr>
        <p:spPr bwMode="auto">
          <a:xfrm>
            <a:off x="443230" y="2164794"/>
            <a:ext cx="3929723" cy="0"/>
          </a:xfrm>
          <a:prstGeom prst="line">
            <a:avLst/>
          </a:prstGeom>
          <a:noFill/>
          <a:ln w="19050">
            <a:solidFill>
              <a:srgbClr val="0000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40" name="Text Box 48"/>
          <p:cNvSpPr txBox="1">
            <a:spLocks noChangeArrowheads="1"/>
          </p:cNvSpPr>
          <p:nvPr/>
        </p:nvSpPr>
        <p:spPr bwMode="auto">
          <a:xfrm>
            <a:off x="2020278" y="1980708"/>
            <a:ext cx="984565"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 4 </a:t>
            </a:r>
            <a:r>
              <a:rPr kumimoji="1" lang="zh-CN" altLang="en-US" sz="2000" b="1" dirty="0">
                <a:solidFill>
                  <a:srgbClr val="000099"/>
                </a:solidFill>
                <a:latin typeface="+mn-lt"/>
                <a:ea typeface="黑体" pitchFamily="2" charset="-122"/>
              </a:rPr>
              <a:t>字节</a:t>
            </a:r>
          </a:p>
        </p:txBody>
      </p:sp>
      <p:sp>
        <p:nvSpPr>
          <p:cNvPr id="571441" name="Text Box 49"/>
          <p:cNvSpPr txBox="1">
            <a:spLocks noChangeArrowheads="1"/>
          </p:cNvSpPr>
          <p:nvPr/>
        </p:nvSpPr>
        <p:spPr bwMode="auto">
          <a:xfrm>
            <a:off x="6195932" y="2259289"/>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子网掩码</a:t>
            </a:r>
          </a:p>
        </p:txBody>
      </p:sp>
      <p:sp>
        <p:nvSpPr>
          <p:cNvPr id="571442" name="Text Box 50"/>
          <p:cNvSpPr txBox="1">
            <a:spLocks noChangeArrowheads="1"/>
          </p:cNvSpPr>
          <p:nvPr/>
        </p:nvSpPr>
        <p:spPr bwMode="auto">
          <a:xfrm>
            <a:off x="5769424" y="2641876"/>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下一跳路由器地址</a:t>
            </a:r>
          </a:p>
        </p:txBody>
      </p:sp>
      <p:sp>
        <p:nvSpPr>
          <p:cNvPr id="571443" name="Text Box 51"/>
          <p:cNvSpPr txBox="1">
            <a:spLocks noChangeArrowheads="1"/>
          </p:cNvSpPr>
          <p:nvPr/>
        </p:nvSpPr>
        <p:spPr bwMode="auto">
          <a:xfrm>
            <a:off x="4168299" y="5477162"/>
            <a:ext cx="2084417"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UDP </a:t>
            </a:r>
            <a:r>
              <a:rPr kumimoji="1" lang="zh-CN" altLang="en-US" sz="2000" b="1" dirty="0">
                <a:solidFill>
                  <a:srgbClr val="000099"/>
                </a:solidFill>
                <a:latin typeface="+mn-lt"/>
                <a:ea typeface="黑体" pitchFamily="2" charset="-122"/>
              </a:rPr>
              <a:t>用户数据报</a:t>
            </a:r>
          </a:p>
        </p:txBody>
      </p:sp>
      <p:sp>
        <p:nvSpPr>
          <p:cNvPr id="571444" name="Line 52"/>
          <p:cNvSpPr>
            <a:spLocks noChangeShapeType="1"/>
          </p:cNvSpPr>
          <p:nvPr/>
        </p:nvSpPr>
        <p:spPr bwMode="auto">
          <a:xfrm>
            <a:off x="2620486" y="5383946"/>
            <a:ext cx="0" cy="3333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45" name="Freeform 53"/>
          <p:cNvSpPr>
            <a:spLocks/>
          </p:cNvSpPr>
          <p:nvPr/>
        </p:nvSpPr>
        <p:spPr bwMode="auto">
          <a:xfrm>
            <a:off x="9062786" y="2475188"/>
            <a:ext cx="624284" cy="1586067"/>
          </a:xfrm>
          <a:custGeom>
            <a:avLst/>
            <a:gdLst>
              <a:gd name="T0" fmla="*/ 46 w 363"/>
              <a:gd name="T1" fmla="*/ 0 h 1088"/>
              <a:gd name="T2" fmla="*/ 363 w 363"/>
              <a:gd name="T3" fmla="*/ 0 h 1088"/>
              <a:gd name="T4" fmla="*/ 0 w 363"/>
              <a:gd name="T5" fmla="*/ 1088 h 1088"/>
            </a:gdLst>
            <a:ahLst/>
            <a:cxnLst>
              <a:cxn ang="0">
                <a:pos x="T0" y="T1"/>
              </a:cxn>
              <a:cxn ang="0">
                <a:pos x="T2" y="T3"/>
              </a:cxn>
              <a:cxn ang="0">
                <a:pos x="T4" y="T5"/>
              </a:cxn>
            </a:cxnLst>
            <a:rect l="0" t="0" r="r" b="b"/>
            <a:pathLst>
              <a:path w="363" h="1088">
                <a:moveTo>
                  <a:pt x="46" y="0"/>
                </a:moveTo>
                <a:lnTo>
                  <a:pt x="363" y="0"/>
                </a:lnTo>
                <a:lnTo>
                  <a:pt x="0" y="10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 name="矩形 1"/>
          <p:cNvSpPr/>
          <p:nvPr/>
        </p:nvSpPr>
        <p:spPr bwMode="auto">
          <a:xfrm>
            <a:off x="3399552" y="3734434"/>
            <a:ext cx="736070" cy="617538"/>
          </a:xfrm>
          <a:prstGeom prst="rect">
            <a:avLst/>
          </a:prstGeom>
          <a:solidFill>
            <a:srgbClr val="66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571431" name="Text Box 39"/>
          <p:cNvSpPr txBox="1">
            <a:spLocks noChangeArrowheads="1"/>
          </p:cNvSpPr>
          <p:nvPr/>
        </p:nvSpPr>
        <p:spPr bwMode="auto">
          <a:xfrm>
            <a:off x="3440832" y="3841560"/>
            <a:ext cx="697627"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首部</a:t>
            </a:r>
          </a:p>
        </p:txBody>
      </p:sp>
      <p:sp>
        <p:nvSpPr>
          <p:cNvPr id="56" name="Line 15"/>
          <p:cNvSpPr>
            <a:spLocks noChangeShapeType="1"/>
          </p:cNvSpPr>
          <p:nvPr/>
        </p:nvSpPr>
        <p:spPr bwMode="auto">
          <a:xfrm>
            <a:off x="7575268" y="5383944"/>
            <a:ext cx="0" cy="6852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33" name="Rectangle 41"/>
          <p:cNvSpPr>
            <a:spLocks noChangeArrowheads="1"/>
          </p:cNvSpPr>
          <p:nvPr/>
        </p:nvSpPr>
        <p:spPr bwMode="auto">
          <a:xfrm>
            <a:off x="420872" y="2356125"/>
            <a:ext cx="3931444" cy="401638"/>
          </a:xfrm>
          <a:prstGeom prst="rect">
            <a:avLst/>
          </a:prstGeom>
          <a:solidFill>
            <a:srgbClr val="CCECFF"/>
          </a:solidFill>
          <a:ln w="9525">
            <a:solidFill>
              <a:schemeClr val="tx1"/>
            </a:solidFill>
            <a:miter lim="800000"/>
            <a:headEnd/>
            <a:tailEnd/>
          </a:ln>
          <a:effectLst>
            <a:outerShdw dist="1796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571434" name="Line 42"/>
          <p:cNvSpPr>
            <a:spLocks noChangeShapeType="1"/>
          </p:cNvSpPr>
          <p:nvPr/>
        </p:nvSpPr>
        <p:spPr bwMode="auto">
          <a:xfrm rot="-5400000">
            <a:off x="1199673" y="2559325"/>
            <a:ext cx="406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35" name="Line 43"/>
          <p:cNvSpPr>
            <a:spLocks noChangeShapeType="1"/>
          </p:cNvSpPr>
          <p:nvPr/>
        </p:nvSpPr>
        <p:spPr bwMode="auto">
          <a:xfrm rot="-5400000">
            <a:off x="2182600" y="2560119"/>
            <a:ext cx="4079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571436" name="Text Box 44"/>
          <p:cNvSpPr txBox="1">
            <a:spLocks noChangeArrowheads="1"/>
          </p:cNvSpPr>
          <p:nvPr/>
        </p:nvSpPr>
        <p:spPr bwMode="auto">
          <a:xfrm>
            <a:off x="2890493" y="2314851"/>
            <a:ext cx="9140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必为 </a:t>
            </a:r>
            <a:r>
              <a:rPr kumimoji="1" lang="en-US" altLang="zh-CN" sz="2000" b="1">
                <a:solidFill>
                  <a:srgbClr val="000099"/>
                </a:solidFill>
                <a:latin typeface="+mn-lt"/>
                <a:ea typeface="黑体" pitchFamily="2" charset="-122"/>
              </a:rPr>
              <a:t>0</a:t>
            </a:r>
          </a:p>
        </p:txBody>
      </p:sp>
      <p:sp>
        <p:nvSpPr>
          <p:cNvPr id="571437" name="Text Box 45"/>
          <p:cNvSpPr txBox="1">
            <a:spLocks noChangeArrowheads="1"/>
          </p:cNvSpPr>
          <p:nvPr/>
        </p:nvSpPr>
        <p:spPr bwMode="auto">
          <a:xfrm>
            <a:off x="1538737" y="2308501"/>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版本</a:t>
            </a:r>
          </a:p>
        </p:txBody>
      </p:sp>
      <p:sp>
        <p:nvSpPr>
          <p:cNvPr id="571438" name="Text Box 46"/>
          <p:cNvSpPr txBox="1">
            <a:spLocks noChangeArrowheads="1"/>
          </p:cNvSpPr>
          <p:nvPr/>
        </p:nvSpPr>
        <p:spPr bwMode="auto">
          <a:xfrm>
            <a:off x="537818" y="229738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命令</a:t>
            </a:r>
          </a:p>
        </p:txBody>
      </p:sp>
    </p:spTree>
    <p:extLst>
      <p:ext uri="{BB962C8B-B14F-4D97-AF65-F5344CB8AC3E}">
        <p14:creationId xmlns:p14="http://schemas.microsoft.com/office/powerpoint/2010/main" val="10002692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en-US" altLang="zh-CN" dirty="0"/>
              <a:t>RIP2 </a:t>
            </a:r>
            <a:r>
              <a:rPr lang="zh-CN" altLang="en-US" dirty="0"/>
              <a:t>报文</a:t>
            </a:r>
          </a:p>
        </p:txBody>
      </p:sp>
      <p:sp>
        <p:nvSpPr>
          <p:cNvPr id="572419" name="Rectangle 3"/>
          <p:cNvSpPr>
            <a:spLocks noGrp="1" noChangeArrowheads="1"/>
          </p:cNvSpPr>
          <p:nvPr>
            <p:ph idx="1"/>
          </p:nvPr>
        </p:nvSpPr>
        <p:spPr>
          <a:xfrm>
            <a:off x="495300" y="1196752"/>
            <a:ext cx="9210228" cy="4934173"/>
          </a:xfrm>
          <a:noFill/>
        </p:spPr>
        <p:txBody>
          <a:bodyPr/>
          <a:lstStyle/>
          <a:p>
            <a:r>
              <a:rPr lang="en-US" altLang="zh-CN" dirty="0"/>
              <a:t>RIP2 </a:t>
            </a:r>
            <a:r>
              <a:rPr lang="zh-CN" altLang="en-US" dirty="0"/>
              <a:t>报文由首部和路由部分组成。</a:t>
            </a:r>
            <a:endParaRPr lang="en-US" altLang="zh-CN" dirty="0"/>
          </a:p>
          <a:p>
            <a:r>
              <a:rPr lang="en-US" altLang="zh-CN" dirty="0"/>
              <a:t>RIP2 </a:t>
            </a:r>
            <a:r>
              <a:rPr lang="zh-CN" altLang="en-US" dirty="0"/>
              <a:t>报文中的路由部分由若干个路由信息组成。每个路由信息需要用 </a:t>
            </a:r>
            <a:r>
              <a:rPr lang="en-US" altLang="zh-CN" dirty="0"/>
              <a:t>20 </a:t>
            </a:r>
            <a:r>
              <a:rPr lang="zh-CN" altLang="en-US" dirty="0"/>
              <a:t>个字节。地址族标识符（又称为</a:t>
            </a:r>
            <a:r>
              <a:rPr lang="zh-CN" altLang="en-US" dirty="0">
                <a:solidFill>
                  <a:srgbClr val="FF0000"/>
                </a:solidFill>
              </a:rPr>
              <a:t>地址类别</a:t>
            </a:r>
            <a:r>
              <a:rPr lang="zh-CN" altLang="en-US" dirty="0"/>
              <a:t>）字段用来标志所使用的地址协议。</a:t>
            </a:r>
          </a:p>
          <a:p>
            <a:r>
              <a:rPr lang="zh-CN" altLang="en-US" dirty="0"/>
              <a:t>路由标记填入自治系统的号码，这是考虑使 </a:t>
            </a:r>
            <a:r>
              <a:rPr lang="en-US" altLang="zh-CN" dirty="0"/>
              <a:t>RIP </a:t>
            </a:r>
            <a:r>
              <a:rPr lang="zh-CN" altLang="en-US" dirty="0"/>
              <a:t>有可能收到本自治系统以外的路由选择信息。</a:t>
            </a:r>
            <a:endParaRPr lang="en-US" altLang="zh-CN" dirty="0"/>
          </a:p>
          <a:p>
            <a:r>
              <a:rPr lang="zh-CN" altLang="en-US" dirty="0"/>
              <a:t>再后面指出某个网络地址、该网络的子网掩码、下一跳路由器地址以及到此网络的距离。 </a:t>
            </a:r>
            <a:endParaRPr lang="en-US" altLang="zh-CN" dirty="0"/>
          </a:p>
        </p:txBody>
      </p:sp>
    </p:spTree>
    <p:extLst>
      <p:ext uri="{BB962C8B-B14F-4D97-AF65-F5344CB8AC3E}">
        <p14:creationId xmlns:p14="http://schemas.microsoft.com/office/powerpoint/2010/main" val="1510099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en-US" altLang="zh-CN" dirty="0"/>
              <a:t>RIP2 </a:t>
            </a:r>
            <a:r>
              <a:rPr lang="zh-CN" altLang="en-US" dirty="0"/>
              <a:t>报文</a:t>
            </a:r>
          </a:p>
        </p:txBody>
      </p:sp>
      <p:sp>
        <p:nvSpPr>
          <p:cNvPr id="572419" name="Rectangle 3"/>
          <p:cNvSpPr>
            <a:spLocks noGrp="1" noChangeArrowheads="1"/>
          </p:cNvSpPr>
          <p:nvPr>
            <p:ph idx="1"/>
          </p:nvPr>
        </p:nvSpPr>
        <p:spPr>
          <a:noFill/>
        </p:spPr>
        <p:txBody>
          <a:bodyPr/>
          <a:lstStyle/>
          <a:p>
            <a:r>
              <a:rPr lang="zh-CN" altLang="zh-CN" dirty="0"/>
              <a:t>一个</a:t>
            </a:r>
            <a:r>
              <a:rPr lang="en-US" altLang="zh-CN" dirty="0"/>
              <a:t> RIP </a:t>
            </a:r>
            <a:r>
              <a:rPr lang="zh-CN" altLang="zh-CN" dirty="0"/>
              <a:t>报文最多可包括</a:t>
            </a:r>
            <a:r>
              <a:rPr lang="en-US" altLang="zh-CN" dirty="0"/>
              <a:t> 25 </a:t>
            </a:r>
            <a:r>
              <a:rPr lang="zh-CN" altLang="zh-CN" dirty="0"/>
              <a:t>个路由，因而</a:t>
            </a:r>
            <a:r>
              <a:rPr lang="en-US" altLang="zh-CN" dirty="0"/>
              <a:t> RIP </a:t>
            </a:r>
            <a:r>
              <a:rPr lang="zh-CN" altLang="zh-CN" dirty="0"/>
              <a:t>报文的最大长度是</a:t>
            </a:r>
            <a:r>
              <a:rPr lang="en-US" altLang="zh-CN" dirty="0"/>
              <a:t> 4  </a:t>
            </a:r>
            <a:r>
              <a:rPr lang="en-US" altLang="zh-CN" dirty="0">
                <a:sym typeface="Symbol"/>
              </a:rPr>
              <a:t></a:t>
            </a:r>
            <a:r>
              <a:rPr lang="en-US" altLang="zh-CN" dirty="0"/>
              <a:t> 20 </a:t>
            </a:r>
            <a:r>
              <a:rPr lang="en-US" altLang="zh-CN" dirty="0">
                <a:sym typeface="Symbol"/>
              </a:rPr>
              <a:t></a:t>
            </a:r>
            <a:r>
              <a:rPr lang="en-US" altLang="zh-CN" dirty="0"/>
              <a:t> 25 </a:t>
            </a:r>
            <a:r>
              <a:rPr lang="en-US" altLang="zh-CN" dirty="0">
                <a:sym typeface="Symbol"/>
              </a:rPr>
              <a:t></a:t>
            </a:r>
            <a:r>
              <a:rPr lang="en-US" altLang="zh-CN" dirty="0"/>
              <a:t> 504 </a:t>
            </a:r>
            <a:r>
              <a:rPr lang="zh-CN" altLang="zh-CN" dirty="0"/>
              <a:t>字节。如超过，必须再用一个</a:t>
            </a:r>
            <a:r>
              <a:rPr lang="en-US" altLang="zh-CN" dirty="0"/>
              <a:t> RIP </a:t>
            </a:r>
            <a:r>
              <a:rPr lang="zh-CN" altLang="zh-CN" dirty="0"/>
              <a:t>报文来传送。</a:t>
            </a:r>
            <a:endParaRPr lang="en-US" altLang="zh-CN" dirty="0"/>
          </a:p>
          <a:p>
            <a:r>
              <a:rPr lang="en-US" altLang="zh-CN" dirty="0">
                <a:solidFill>
                  <a:srgbClr val="FF0000"/>
                </a:solidFill>
              </a:rPr>
              <a:t>RIP2 </a:t>
            </a:r>
            <a:r>
              <a:rPr lang="zh-CN" altLang="zh-CN" dirty="0">
                <a:solidFill>
                  <a:srgbClr val="FF0000"/>
                </a:solidFill>
              </a:rPr>
              <a:t>具有简单的鉴别功能。</a:t>
            </a:r>
            <a:endParaRPr lang="en-US" altLang="zh-CN" dirty="0">
              <a:solidFill>
                <a:srgbClr val="FF0000"/>
              </a:solidFill>
            </a:endParaRPr>
          </a:p>
          <a:p>
            <a:pPr lvl="1"/>
            <a:r>
              <a:rPr lang="zh-CN" altLang="zh-CN" dirty="0"/>
              <a:t>若使用鉴别功能，则将原来写入第一个路由信息（</a:t>
            </a:r>
            <a:r>
              <a:rPr lang="en-US" altLang="zh-CN" dirty="0"/>
              <a:t>20 </a:t>
            </a:r>
            <a:r>
              <a:rPr lang="zh-CN" altLang="en-US" dirty="0"/>
              <a:t>个</a:t>
            </a:r>
            <a:r>
              <a:rPr lang="zh-CN" altLang="zh-CN" dirty="0"/>
              <a:t>字节）的位置用作鉴别。</a:t>
            </a:r>
            <a:endParaRPr lang="en-US" altLang="zh-CN" dirty="0"/>
          </a:p>
          <a:p>
            <a:pPr lvl="1"/>
            <a:r>
              <a:rPr lang="zh-CN" altLang="zh-CN" dirty="0"/>
              <a:t>在鉴别数据之后才写入路由信息，但这时最多只能再放入</a:t>
            </a:r>
            <a:r>
              <a:rPr lang="en-US" altLang="zh-CN" dirty="0"/>
              <a:t> 24 </a:t>
            </a:r>
            <a:r>
              <a:rPr lang="zh-CN" altLang="zh-CN" dirty="0"/>
              <a:t>个路由信息。</a:t>
            </a:r>
          </a:p>
          <a:p>
            <a:endParaRPr lang="zh-CN" altLang="en-US" dirty="0"/>
          </a:p>
        </p:txBody>
      </p:sp>
    </p:spTree>
    <p:extLst>
      <p:ext uri="{BB962C8B-B14F-4D97-AF65-F5344CB8AC3E}">
        <p14:creationId xmlns:p14="http://schemas.microsoft.com/office/powerpoint/2010/main" val="34791944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zh-CN" sz="4000" dirty="0"/>
              <a:t>好消息传播得快，坏消息传播得慢</a:t>
            </a:r>
            <a:endParaRPr lang="zh-CN" altLang="en-US" sz="4000" dirty="0"/>
          </a:p>
        </p:txBody>
      </p:sp>
      <p:sp>
        <p:nvSpPr>
          <p:cNvPr id="3" name="内容占位符 2"/>
          <p:cNvSpPr>
            <a:spLocks noGrp="1"/>
          </p:cNvSpPr>
          <p:nvPr>
            <p:ph idx="1"/>
          </p:nvPr>
        </p:nvSpPr>
        <p:spPr/>
        <p:txBody>
          <a:bodyPr/>
          <a:lstStyle/>
          <a:p>
            <a:r>
              <a:rPr lang="en-US" altLang="zh-CN" dirty="0">
                <a:solidFill>
                  <a:srgbClr val="FF0000"/>
                </a:solidFill>
              </a:rPr>
              <a:t>RIP </a:t>
            </a:r>
            <a:r>
              <a:rPr lang="zh-CN" altLang="zh-CN" dirty="0">
                <a:solidFill>
                  <a:srgbClr val="FF0000"/>
                </a:solidFill>
              </a:rPr>
              <a:t>协议特点：</a:t>
            </a:r>
            <a:r>
              <a:rPr lang="zh-CN" altLang="zh-CN" dirty="0"/>
              <a:t>好消息传播得快，坏消息传播得慢。</a:t>
            </a:r>
            <a:endParaRPr lang="en-US" altLang="zh-CN" dirty="0"/>
          </a:p>
          <a:p>
            <a:r>
              <a:rPr lang="en-US" altLang="zh-CN" dirty="0">
                <a:solidFill>
                  <a:srgbClr val="FF0000"/>
                </a:solidFill>
              </a:rPr>
              <a:t>RIP </a:t>
            </a:r>
            <a:r>
              <a:rPr lang="zh-CN" altLang="zh-CN" dirty="0">
                <a:solidFill>
                  <a:srgbClr val="FF0000"/>
                </a:solidFill>
              </a:rPr>
              <a:t>存在的一个问题</a:t>
            </a:r>
            <a:r>
              <a:rPr lang="zh-CN" altLang="en-US" dirty="0">
                <a:solidFill>
                  <a:srgbClr val="FF0000"/>
                </a:solidFill>
              </a:rPr>
              <a:t>：</a:t>
            </a:r>
            <a:r>
              <a:rPr lang="zh-CN" altLang="zh-CN" dirty="0"/>
              <a:t>当网络出现故障时，要经过比较长的时间</a:t>
            </a:r>
            <a:r>
              <a:rPr lang="en-US" altLang="zh-CN" dirty="0"/>
              <a:t> (</a:t>
            </a:r>
            <a:r>
              <a:rPr lang="zh-CN" altLang="zh-CN" dirty="0"/>
              <a:t>例如数分钟</a:t>
            </a:r>
            <a:r>
              <a:rPr lang="en-US" altLang="zh-CN" dirty="0"/>
              <a:t>) </a:t>
            </a:r>
            <a:r>
              <a:rPr lang="zh-CN" altLang="zh-CN" dirty="0"/>
              <a:t>才能将此信息传送到所有的路由器。</a:t>
            </a:r>
            <a:endParaRPr lang="zh-CN" altLang="en-US" dirty="0"/>
          </a:p>
        </p:txBody>
      </p:sp>
    </p:spTree>
    <p:extLst>
      <p:ext uri="{BB962C8B-B14F-4D97-AF65-F5344CB8AC3E}">
        <p14:creationId xmlns:p14="http://schemas.microsoft.com/office/powerpoint/2010/main" val="2873144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Line 2"/>
          <p:cNvSpPr>
            <a:spLocks noChangeShapeType="1"/>
          </p:cNvSpPr>
          <p:nvPr/>
        </p:nvSpPr>
        <p:spPr bwMode="auto">
          <a:xfrm>
            <a:off x="1785144" y="1064185"/>
            <a:ext cx="7011591"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4467"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580" y="908611"/>
            <a:ext cx="78938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4468" name="Text Box 4"/>
          <p:cNvSpPr txBox="1">
            <a:spLocks noChangeArrowheads="1"/>
          </p:cNvSpPr>
          <p:nvPr/>
        </p:nvSpPr>
        <p:spPr bwMode="auto">
          <a:xfrm>
            <a:off x="6944519"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4469" name="Text Box 5"/>
          <p:cNvSpPr txBox="1">
            <a:spLocks noChangeArrowheads="1"/>
          </p:cNvSpPr>
          <p:nvPr/>
        </p:nvSpPr>
        <p:spPr bwMode="auto">
          <a:xfrm>
            <a:off x="3047471"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4470"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908" y="908611"/>
            <a:ext cx="791104"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4471" name="Group 7"/>
          <p:cNvGrpSpPr>
            <a:grpSpLocks/>
          </p:cNvGrpSpPr>
          <p:nvPr/>
        </p:nvGrpSpPr>
        <p:grpSpPr bwMode="auto">
          <a:xfrm>
            <a:off x="768747" y="632386"/>
            <a:ext cx="1277805" cy="858837"/>
            <a:chOff x="4830" y="1752"/>
            <a:chExt cx="667" cy="477"/>
          </a:xfrm>
        </p:grpSpPr>
        <p:grpSp>
          <p:nvGrpSpPr>
            <p:cNvPr id="574472" name="Group 8"/>
            <p:cNvGrpSpPr>
              <a:grpSpLocks/>
            </p:cNvGrpSpPr>
            <p:nvPr/>
          </p:nvGrpSpPr>
          <p:grpSpPr bwMode="auto">
            <a:xfrm>
              <a:off x="4830" y="1752"/>
              <a:ext cx="667" cy="477"/>
              <a:chOff x="2949" y="196"/>
              <a:chExt cx="941" cy="598"/>
            </a:xfrm>
          </p:grpSpPr>
          <p:sp>
            <p:nvSpPr>
              <p:cNvPr id="574473"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74"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75"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76" name="Oval 1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77"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78"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79"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80" name="Oval 1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81"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4482"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4483"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4484" name="Text Box 20"/>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4485" name="Group 21"/>
          <p:cNvGrpSpPr>
            <a:grpSpLocks/>
          </p:cNvGrpSpPr>
          <p:nvPr/>
        </p:nvGrpSpPr>
        <p:grpSpPr bwMode="auto">
          <a:xfrm>
            <a:off x="8356468" y="632386"/>
            <a:ext cx="1277805" cy="858837"/>
            <a:chOff x="4830" y="1752"/>
            <a:chExt cx="667" cy="477"/>
          </a:xfrm>
        </p:grpSpPr>
        <p:grpSp>
          <p:nvGrpSpPr>
            <p:cNvPr id="574486" name="Group 22"/>
            <p:cNvGrpSpPr>
              <a:grpSpLocks/>
            </p:cNvGrpSpPr>
            <p:nvPr/>
          </p:nvGrpSpPr>
          <p:grpSpPr bwMode="auto">
            <a:xfrm>
              <a:off x="4830" y="1752"/>
              <a:ext cx="667" cy="477"/>
              <a:chOff x="2949" y="196"/>
              <a:chExt cx="941" cy="598"/>
            </a:xfrm>
          </p:grpSpPr>
          <p:sp>
            <p:nvSpPr>
              <p:cNvPr id="574487"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88"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89"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90" name="Oval 2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91"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92"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93"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94" name="Oval 3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495"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4496"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4497"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4498" name="Text Box 34"/>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4499" name="Group 35"/>
          <p:cNvGrpSpPr>
            <a:grpSpLocks/>
          </p:cNvGrpSpPr>
          <p:nvPr/>
        </p:nvGrpSpPr>
        <p:grpSpPr bwMode="auto">
          <a:xfrm>
            <a:off x="4531651" y="632386"/>
            <a:ext cx="1277805" cy="858837"/>
            <a:chOff x="4830" y="1752"/>
            <a:chExt cx="667" cy="477"/>
          </a:xfrm>
        </p:grpSpPr>
        <p:grpSp>
          <p:nvGrpSpPr>
            <p:cNvPr id="574500" name="Group 36"/>
            <p:cNvGrpSpPr>
              <a:grpSpLocks/>
            </p:cNvGrpSpPr>
            <p:nvPr/>
          </p:nvGrpSpPr>
          <p:grpSpPr bwMode="auto">
            <a:xfrm>
              <a:off x="4830" y="1752"/>
              <a:ext cx="667" cy="477"/>
              <a:chOff x="2949" y="196"/>
              <a:chExt cx="941" cy="598"/>
            </a:xfrm>
          </p:grpSpPr>
          <p:sp>
            <p:nvSpPr>
              <p:cNvPr id="574501"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02"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03"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04" name="Oval 4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05"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06"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07"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08" name="Oval 4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09"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4510"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4511"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4512" name="Text Box 4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sp>
        <p:nvSpPr>
          <p:cNvPr id="574513" name="Text Box 49"/>
          <p:cNvSpPr txBox="1">
            <a:spLocks noChangeArrowheads="1"/>
          </p:cNvSpPr>
          <p:nvPr/>
        </p:nvSpPr>
        <p:spPr bwMode="auto">
          <a:xfrm>
            <a:off x="266568" y="305361"/>
            <a:ext cx="44114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正</a:t>
            </a:r>
          </a:p>
          <a:p>
            <a:r>
              <a:rPr kumimoji="1" lang="zh-CN" altLang="en-US" sz="2000" b="1">
                <a:solidFill>
                  <a:srgbClr val="0000CC"/>
                </a:solidFill>
                <a:latin typeface="+mn-lt"/>
                <a:ea typeface="黑体" pitchFamily="2" charset="-122"/>
              </a:rPr>
              <a:t>常</a:t>
            </a:r>
          </a:p>
          <a:p>
            <a:r>
              <a:rPr kumimoji="1" lang="zh-CN" altLang="en-US" sz="2000" b="1">
                <a:solidFill>
                  <a:srgbClr val="0000CC"/>
                </a:solidFill>
                <a:latin typeface="+mn-lt"/>
                <a:ea typeface="黑体" pitchFamily="2" charset="-122"/>
              </a:rPr>
              <a:t>情</a:t>
            </a:r>
          </a:p>
          <a:p>
            <a:r>
              <a:rPr kumimoji="1" lang="zh-CN" altLang="en-US" sz="2000" b="1">
                <a:solidFill>
                  <a:srgbClr val="0000CC"/>
                </a:solidFill>
                <a:latin typeface="+mn-lt"/>
                <a:ea typeface="黑体" pitchFamily="2" charset="-122"/>
              </a:rPr>
              <a:t>况</a:t>
            </a:r>
          </a:p>
        </p:txBody>
      </p:sp>
      <p:grpSp>
        <p:nvGrpSpPr>
          <p:cNvPr id="574514" name="Group 50"/>
          <p:cNvGrpSpPr>
            <a:grpSpLocks/>
          </p:cNvGrpSpPr>
          <p:nvPr/>
        </p:nvGrpSpPr>
        <p:grpSpPr bwMode="auto">
          <a:xfrm>
            <a:off x="2436946" y="499036"/>
            <a:ext cx="1594246" cy="312737"/>
            <a:chOff x="1491" y="212"/>
            <a:chExt cx="853" cy="240"/>
          </a:xfrm>
        </p:grpSpPr>
        <p:sp>
          <p:nvSpPr>
            <p:cNvPr id="574515" name="AutoShape 51"/>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16" name="Rectangle 5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4517" name="Text Box 53"/>
          <p:cNvSpPr txBox="1">
            <a:spLocks noChangeArrowheads="1"/>
          </p:cNvSpPr>
          <p:nvPr/>
        </p:nvSpPr>
        <p:spPr bwMode="auto">
          <a:xfrm>
            <a:off x="2457583" y="573648"/>
            <a:ext cx="89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dirty="0">
                <a:solidFill>
                  <a:srgbClr val="0000CC"/>
                </a:solidFill>
                <a:latin typeface="+mn-lt"/>
                <a:ea typeface="黑体" pitchFamily="2" charset="-122"/>
              </a:rPr>
              <a:t>1  1  </a:t>
            </a:r>
            <a:r>
              <a:rPr kumimoji="1" lang="en-US" altLang="zh-CN" sz="2000" b="1" dirty="0">
                <a:solidFill>
                  <a:srgbClr val="0000CC"/>
                </a:solidFill>
                <a:latin typeface="+mn-lt"/>
                <a:ea typeface="黑体" pitchFamily="2" charset="-122"/>
                <a:sym typeface="Symbol" pitchFamily="18" charset="2"/>
              </a:rPr>
              <a:t></a:t>
            </a:r>
            <a:endParaRPr kumimoji="1" lang="en-US" altLang="zh-CN" sz="2000" b="1" baseline="-25000" dirty="0">
              <a:solidFill>
                <a:srgbClr val="0000CC"/>
              </a:solidFill>
              <a:latin typeface="+mn-lt"/>
              <a:ea typeface="黑体" pitchFamily="2" charset="-122"/>
              <a:sym typeface="Symbol" pitchFamily="18" charset="2"/>
            </a:endParaRPr>
          </a:p>
        </p:txBody>
      </p:sp>
      <p:grpSp>
        <p:nvGrpSpPr>
          <p:cNvPr id="574518" name="Group 54"/>
          <p:cNvGrpSpPr>
            <a:grpSpLocks/>
          </p:cNvGrpSpPr>
          <p:nvPr/>
        </p:nvGrpSpPr>
        <p:grpSpPr bwMode="auto">
          <a:xfrm flipH="1">
            <a:off x="6045068" y="521261"/>
            <a:ext cx="1594246" cy="312737"/>
            <a:chOff x="1491" y="212"/>
            <a:chExt cx="853" cy="240"/>
          </a:xfrm>
        </p:grpSpPr>
        <p:sp>
          <p:nvSpPr>
            <p:cNvPr id="574519" name="AutoShape 55"/>
            <p:cNvSpPr>
              <a:spLocks noChangeArrowheads="1"/>
            </p:cNvSpPr>
            <p:nvPr/>
          </p:nvSpPr>
          <p:spPr bwMode="auto">
            <a:xfrm>
              <a:off x="2089" y="271"/>
              <a:ext cx="255" cy="122"/>
            </a:xfrm>
            <a:prstGeom prst="rightArrow">
              <a:avLst>
                <a:gd name="adj1" fmla="val 50000"/>
                <a:gd name="adj2" fmla="val 52254"/>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4520" name="Rectangle 56"/>
            <p:cNvSpPr>
              <a:spLocks noChangeArrowheads="1"/>
            </p:cNvSpPr>
            <p:nvPr/>
          </p:nvSpPr>
          <p:spPr bwMode="auto">
            <a:xfrm>
              <a:off x="1491" y="212"/>
              <a:ext cx="632" cy="24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4521" name="Text Box 57"/>
          <p:cNvSpPr txBox="1">
            <a:spLocks noChangeArrowheads="1"/>
          </p:cNvSpPr>
          <p:nvPr/>
        </p:nvSpPr>
        <p:spPr bwMode="auto">
          <a:xfrm>
            <a:off x="6468137" y="616511"/>
            <a:ext cx="10326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1  2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1</a:t>
            </a:r>
          </a:p>
        </p:txBody>
      </p:sp>
      <p:sp>
        <p:nvSpPr>
          <p:cNvPr id="574522" name="Text Box 58"/>
          <p:cNvSpPr txBox="1">
            <a:spLocks noChangeArrowheads="1"/>
          </p:cNvSpPr>
          <p:nvPr/>
        </p:nvSpPr>
        <p:spPr bwMode="auto">
          <a:xfrm>
            <a:off x="1056569" y="3028890"/>
            <a:ext cx="67730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1</a:t>
            </a:r>
            <a:r>
              <a:rPr kumimoji="1" lang="en-US" altLang="zh-CN" sz="2400" b="1" dirty="0">
                <a:solidFill>
                  <a:srgbClr val="0000CC"/>
                </a:solidFill>
                <a:latin typeface="+mn-lt"/>
                <a:ea typeface="黑体" pitchFamily="2" charset="-122"/>
              </a:rPr>
              <a:t> </a:t>
            </a:r>
            <a:r>
              <a:rPr kumimoji="1" lang="zh-CN" altLang="en-US" sz="2400" b="1" dirty="0">
                <a:solidFill>
                  <a:srgbClr val="0000CC"/>
                </a:solidFill>
                <a:latin typeface="+mn-lt"/>
                <a:ea typeface="黑体" pitchFamily="2" charset="-122"/>
              </a:rPr>
              <a:t>说：“我到网 </a:t>
            </a:r>
            <a:r>
              <a:rPr kumimoji="1" lang="en-US" altLang="zh-CN" sz="2400" b="1" dirty="0">
                <a:solidFill>
                  <a:srgbClr val="0000CC"/>
                </a:solidFill>
                <a:latin typeface="+mn-lt"/>
                <a:ea typeface="黑体" pitchFamily="2" charset="-122"/>
              </a:rPr>
              <a:t>1 </a:t>
            </a:r>
            <a:r>
              <a:rPr kumimoji="1" lang="zh-CN" altLang="en-US" sz="2400" b="1" dirty="0">
                <a:solidFill>
                  <a:srgbClr val="0000CC"/>
                </a:solidFill>
                <a:latin typeface="+mn-lt"/>
                <a:ea typeface="黑体" pitchFamily="2" charset="-122"/>
              </a:rPr>
              <a:t>的距离是 </a:t>
            </a:r>
            <a:r>
              <a:rPr kumimoji="1" lang="en-US" altLang="zh-CN" sz="2400" b="1" dirty="0">
                <a:solidFill>
                  <a:srgbClr val="0000CC"/>
                </a:solidFill>
                <a:latin typeface="+mn-lt"/>
                <a:ea typeface="黑体" pitchFamily="2" charset="-122"/>
              </a:rPr>
              <a:t>1</a:t>
            </a:r>
            <a:r>
              <a:rPr kumimoji="1" lang="zh-CN" altLang="en-US" sz="2400" b="1" dirty="0">
                <a:solidFill>
                  <a:srgbClr val="0000CC"/>
                </a:solidFill>
                <a:latin typeface="+mn-lt"/>
                <a:ea typeface="黑体" pitchFamily="2" charset="-122"/>
              </a:rPr>
              <a:t>，是直接交付。”</a:t>
            </a:r>
          </a:p>
        </p:txBody>
      </p:sp>
      <p:sp>
        <p:nvSpPr>
          <p:cNvPr id="574523" name="AutoShape 59"/>
          <p:cNvSpPr>
            <a:spLocks noChangeArrowheads="1"/>
          </p:cNvSpPr>
          <p:nvPr/>
        </p:nvSpPr>
        <p:spPr bwMode="auto">
          <a:xfrm>
            <a:off x="266567" y="1700213"/>
            <a:ext cx="3577167" cy="504683"/>
          </a:xfrm>
          <a:prstGeom prst="wedgeRoundRectCallout">
            <a:avLst>
              <a:gd name="adj1" fmla="val 16201"/>
              <a:gd name="adj2" fmla="val -235005"/>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b="1">
                <a:solidFill>
                  <a:srgbClr val="0000CC"/>
                </a:solidFill>
                <a:latin typeface="+mn-lt"/>
                <a:ea typeface="黑体" pitchFamily="2" charset="-122"/>
              </a:rPr>
              <a:t>“1”</a:t>
            </a:r>
            <a:r>
              <a:rPr lang="zh-CN" altLang="en-US" sz="2000" b="1">
                <a:solidFill>
                  <a:srgbClr val="0000CC"/>
                </a:solidFill>
                <a:latin typeface="+mn-lt"/>
                <a:ea typeface="黑体" pitchFamily="2" charset="-122"/>
              </a:rPr>
              <a:t>表示“从本路由器到网</a:t>
            </a:r>
            <a:r>
              <a:rPr lang="zh-CN" altLang="en-US" sz="1600" b="1">
                <a:solidFill>
                  <a:srgbClr val="0000CC"/>
                </a:solidFill>
                <a:latin typeface="+mn-lt"/>
                <a:ea typeface="黑体" pitchFamily="2" charset="-122"/>
              </a:rPr>
              <a:t> </a:t>
            </a:r>
            <a:r>
              <a:rPr lang="en-US" altLang="zh-CN" sz="2000" b="1">
                <a:solidFill>
                  <a:srgbClr val="0000CC"/>
                </a:solidFill>
                <a:latin typeface="+mn-lt"/>
                <a:ea typeface="黑体" pitchFamily="2" charset="-122"/>
              </a:rPr>
              <a:t>1”</a:t>
            </a:r>
          </a:p>
        </p:txBody>
      </p:sp>
      <p:sp>
        <p:nvSpPr>
          <p:cNvPr id="574524" name="AutoShape 60"/>
          <p:cNvSpPr>
            <a:spLocks noChangeArrowheads="1"/>
          </p:cNvSpPr>
          <p:nvPr/>
        </p:nvSpPr>
        <p:spPr bwMode="auto">
          <a:xfrm>
            <a:off x="4070164" y="2373435"/>
            <a:ext cx="3106951" cy="504451"/>
          </a:xfrm>
          <a:prstGeom prst="wedgeRoundRectCallout">
            <a:avLst>
              <a:gd name="adj1" fmla="val -85058"/>
              <a:gd name="adj2" fmla="val -368465"/>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b="1">
                <a:solidFill>
                  <a:srgbClr val="0000CC"/>
                </a:solidFill>
                <a:latin typeface="+mn-lt"/>
                <a:ea typeface="黑体" pitchFamily="2" charset="-122"/>
              </a:rPr>
              <a:t>“1”</a:t>
            </a:r>
            <a:r>
              <a:rPr lang="zh-CN" altLang="en-US" sz="2000" b="1">
                <a:solidFill>
                  <a:srgbClr val="0000CC"/>
                </a:solidFill>
                <a:latin typeface="+mn-lt"/>
                <a:ea typeface="黑体" pitchFamily="2" charset="-122"/>
              </a:rPr>
              <a:t>表示“距离是</a:t>
            </a:r>
            <a:r>
              <a:rPr lang="zh-CN" altLang="en-US" sz="1600" b="1">
                <a:solidFill>
                  <a:srgbClr val="0000CC"/>
                </a:solidFill>
                <a:latin typeface="+mn-lt"/>
                <a:ea typeface="黑体" pitchFamily="2" charset="-122"/>
              </a:rPr>
              <a:t> </a:t>
            </a:r>
            <a:r>
              <a:rPr lang="en-US" altLang="zh-CN" sz="2000" b="1">
                <a:solidFill>
                  <a:srgbClr val="0000CC"/>
                </a:solidFill>
                <a:latin typeface="+mn-lt"/>
                <a:ea typeface="黑体" pitchFamily="2" charset="-122"/>
              </a:rPr>
              <a:t>1”</a:t>
            </a:r>
          </a:p>
        </p:txBody>
      </p:sp>
      <p:sp>
        <p:nvSpPr>
          <p:cNvPr id="574525" name="AutoShape 61"/>
          <p:cNvSpPr>
            <a:spLocks noChangeArrowheads="1"/>
          </p:cNvSpPr>
          <p:nvPr/>
        </p:nvSpPr>
        <p:spPr bwMode="auto">
          <a:xfrm>
            <a:off x="5622151" y="1672212"/>
            <a:ext cx="2931249" cy="460644"/>
          </a:xfrm>
          <a:prstGeom prst="wedgeRoundRectCallout">
            <a:avLst>
              <a:gd name="adj1" fmla="val -129950"/>
              <a:gd name="adj2" fmla="val -26842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000" b="1" dirty="0">
                <a:solidFill>
                  <a:srgbClr val="0000CC"/>
                </a:solidFill>
                <a:latin typeface="+mn-lt"/>
                <a:ea typeface="黑体" pitchFamily="2" charset="-122"/>
              </a:rPr>
              <a:t>“</a:t>
            </a:r>
            <a:r>
              <a:rPr lang="en-US" altLang="zh-CN" sz="2000" b="1" dirty="0">
                <a:solidFill>
                  <a:srgbClr val="0000CC"/>
                </a:solidFill>
                <a:latin typeface="+mn-lt"/>
                <a:ea typeface="黑体" pitchFamily="2" charset="-122"/>
                <a:sym typeface="Symbol" pitchFamily="18" charset="2"/>
              </a:rPr>
              <a:t></a:t>
            </a:r>
            <a:r>
              <a:rPr lang="en-US" altLang="zh-CN" sz="2000" b="1" dirty="0">
                <a:solidFill>
                  <a:srgbClr val="0000CC"/>
                </a:solidFill>
                <a:latin typeface="+mn-lt"/>
                <a:ea typeface="黑体" pitchFamily="2" charset="-122"/>
              </a:rPr>
              <a:t>”</a:t>
            </a:r>
            <a:r>
              <a:rPr lang="zh-CN" altLang="en-US" sz="2000" b="1" dirty="0">
                <a:solidFill>
                  <a:srgbClr val="0000CC"/>
                </a:solidFill>
                <a:latin typeface="+mn-lt"/>
                <a:ea typeface="黑体" pitchFamily="2" charset="-122"/>
              </a:rPr>
              <a:t>表示“直接交付”</a:t>
            </a:r>
          </a:p>
        </p:txBody>
      </p:sp>
    </p:spTree>
    <p:extLst>
      <p:ext uri="{BB962C8B-B14F-4D97-AF65-F5344CB8AC3E}">
        <p14:creationId xmlns:p14="http://schemas.microsoft.com/office/powerpoint/2010/main" val="3468662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745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45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452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4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522" grpId="0"/>
      <p:bldP spid="574523" grpId="0" animBg="1"/>
      <p:bldP spid="574524" grpId="0" animBg="1"/>
      <p:bldP spid="57452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Line 2"/>
          <p:cNvSpPr>
            <a:spLocks noChangeShapeType="1"/>
          </p:cNvSpPr>
          <p:nvPr/>
        </p:nvSpPr>
        <p:spPr bwMode="auto">
          <a:xfrm>
            <a:off x="1785144" y="1064185"/>
            <a:ext cx="7011591"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5491"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580" y="908611"/>
            <a:ext cx="78938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5492" name="Text Box 4"/>
          <p:cNvSpPr txBox="1">
            <a:spLocks noChangeArrowheads="1"/>
          </p:cNvSpPr>
          <p:nvPr/>
        </p:nvSpPr>
        <p:spPr bwMode="auto">
          <a:xfrm>
            <a:off x="7106180"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5493" name="Text Box 5"/>
          <p:cNvSpPr txBox="1">
            <a:spLocks noChangeArrowheads="1"/>
          </p:cNvSpPr>
          <p:nvPr/>
        </p:nvSpPr>
        <p:spPr bwMode="auto">
          <a:xfrm>
            <a:off x="3047471"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5494"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908" y="908611"/>
            <a:ext cx="791104"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5495" name="Group 7"/>
          <p:cNvGrpSpPr>
            <a:grpSpLocks/>
          </p:cNvGrpSpPr>
          <p:nvPr/>
        </p:nvGrpSpPr>
        <p:grpSpPr bwMode="auto">
          <a:xfrm>
            <a:off x="768747" y="632386"/>
            <a:ext cx="1277805" cy="858837"/>
            <a:chOff x="4830" y="1752"/>
            <a:chExt cx="667" cy="477"/>
          </a:xfrm>
        </p:grpSpPr>
        <p:grpSp>
          <p:nvGrpSpPr>
            <p:cNvPr id="575496" name="Group 8"/>
            <p:cNvGrpSpPr>
              <a:grpSpLocks/>
            </p:cNvGrpSpPr>
            <p:nvPr/>
          </p:nvGrpSpPr>
          <p:grpSpPr bwMode="auto">
            <a:xfrm>
              <a:off x="4830" y="1752"/>
              <a:ext cx="667" cy="477"/>
              <a:chOff x="2949" y="196"/>
              <a:chExt cx="941" cy="598"/>
            </a:xfrm>
          </p:grpSpPr>
          <p:sp>
            <p:nvSpPr>
              <p:cNvPr id="575497"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498"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499"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00" name="Oval 1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01"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02"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03"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04" name="Oval 1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05"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5506"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5507"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5508" name="Text Box 20"/>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5509" name="Group 21"/>
          <p:cNvGrpSpPr>
            <a:grpSpLocks/>
          </p:cNvGrpSpPr>
          <p:nvPr/>
        </p:nvGrpSpPr>
        <p:grpSpPr bwMode="auto">
          <a:xfrm>
            <a:off x="8356468" y="632386"/>
            <a:ext cx="1277805" cy="858837"/>
            <a:chOff x="4830" y="1752"/>
            <a:chExt cx="667" cy="477"/>
          </a:xfrm>
        </p:grpSpPr>
        <p:grpSp>
          <p:nvGrpSpPr>
            <p:cNvPr id="575510" name="Group 22"/>
            <p:cNvGrpSpPr>
              <a:grpSpLocks/>
            </p:cNvGrpSpPr>
            <p:nvPr/>
          </p:nvGrpSpPr>
          <p:grpSpPr bwMode="auto">
            <a:xfrm>
              <a:off x="4830" y="1752"/>
              <a:ext cx="667" cy="477"/>
              <a:chOff x="2949" y="196"/>
              <a:chExt cx="941" cy="598"/>
            </a:xfrm>
          </p:grpSpPr>
          <p:sp>
            <p:nvSpPr>
              <p:cNvPr id="575511"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12"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13"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14" name="Oval 2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15"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16"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17"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18" name="Oval 3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19"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5520"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5521"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5522" name="Text Box 34"/>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5523" name="Group 35"/>
          <p:cNvGrpSpPr>
            <a:grpSpLocks/>
          </p:cNvGrpSpPr>
          <p:nvPr/>
        </p:nvGrpSpPr>
        <p:grpSpPr bwMode="auto">
          <a:xfrm>
            <a:off x="4531651" y="632386"/>
            <a:ext cx="1277805" cy="858837"/>
            <a:chOff x="4830" y="1752"/>
            <a:chExt cx="667" cy="477"/>
          </a:xfrm>
        </p:grpSpPr>
        <p:grpSp>
          <p:nvGrpSpPr>
            <p:cNvPr id="575524" name="Group 36"/>
            <p:cNvGrpSpPr>
              <a:grpSpLocks/>
            </p:cNvGrpSpPr>
            <p:nvPr/>
          </p:nvGrpSpPr>
          <p:grpSpPr bwMode="auto">
            <a:xfrm>
              <a:off x="4830" y="1752"/>
              <a:ext cx="667" cy="477"/>
              <a:chOff x="2949" y="196"/>
              <a:chExt cx="941" cy="598"/>
            </a:xfrm>
          </p:grpSpPr>
          <p:sp>
            <p:nvSpPr>
              <p:cNvPr id="575525"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26"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27"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28" name="Oval 4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29"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30"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31"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32" name="Oval 4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33"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5534"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5535"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5536" name="Text Box 4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sp>
        <p:nvSpPr>
          <p:cNvPr id="575537" name="Text Box 49"/>
          <p:cNvSpPr txBox="1">
            <a:spLocks noChangeArrowheads="1"/>
          </p:cNvSpPr>
          <p:nvPr/>
        </p:nvSpPr>
        <p:spPr bwMode="auto">
          <a:xfrm>
            <a:off x="266568" y="305361"/>
            <a:ext cx="44114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正</a:t>
            </a:r>
          </a:p>
          <a:p>
            <a:r>
              <a:rPr kumimoji="1" lang="zh-CN" altLang="en-US" sz="2000" b="1">
                <a:solidFill>
                  <a:srgbClr val="0000CC"/>
                </a:solidFill>
                <a:latin typeface="+mn-lt"/>
                <a:ea typeface="黑体" pitchFamily="2" charset="-122"/>
              </a:rPr>
              <a:t>常</a:t>
            </a:r>
          </a:p>
          <a:p>
            <a:r>
              <a:rPr kumimoji="1" lang="zh-CN" altLang="en-US" sz="2000" b="1">
                <a:solidFill>
                  <a:srgbClr val="0000CC"/>
                </a:solidFill>
                <a:latin typeface="+mn-lt"/>
                <a:ea typeface="黑体" pitchFamily="2" charset="-122"/>
              </a:rPr>
              <a:t>情</a:t>
            </a:r>
          </a:p>
          <a:p>
            <a:r>
              <a:rPr kumimoji="1" lang="zh-CN" altLang="en-US" sz="2000" b="1">
                <a:solidFill>
                  <a:srgbClr val="0000CC"/>
                </a:solidFill>
                <a:latin typeface="+mn-lt"/>
                <a:ea typeface="黑体" pitchFamily="2" charset="-122"/>
              </a:rPr>
              <a:t>况</a:t>
            </a:r>
          </a:p>
        </p:txBody>
      </p:sp>
      <p:grpSp>
        <p:nvGrpSpPr>
          <p:cNvPr id="575538" name="Group 50"/>
          <p:cNvGrpSpPr>
            <a:grpSpLocks/>
          </p:cNvGrpSpPr>
          <p:nvPr/>
        </p:nvGrpSpPr>
        <p:grpSpPr bwMode="auto">
          <a:xfrm>
            <a:off x="2436946" y="499036"/>
            <a:ext cx="1594246" cy="312737"/>
            <a:chOff x="1491" y="212"/>
            <a:chExt cx="853" cy="240"/>
          </a:xfrm>
        </p:grpSpPr>
        <p:sp>
          <p:nvSpPr>
            <p:cNvPr id="575539" name="AutoShape 51"/>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40" name="Rectangle 5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5541" name="Text Box 53"/>
          <p:cNvSpPr txBox="1">
            <a:spLocks noChangeArrowheads="1"/>
          </p:cNvSpPr>
          <p:nvPr/>
        </p:nvSpPr>
        <p:spPr bwMode="auto">
          <a:xfrm>
            <a:off x="2457583" y="573648"/>
            <a:ext cx="89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grpSp>
        <p:nvGrpSpPr>
          <p:cNvPr id="575542" name="Group 54"/>
          <p:cNvGrpSpPr>
            <a:grpSpLocks/>
          </p:cNvGrpSpPr>
          <p:nvPr/>
        </p:nvGrpSpPr>
        <p:grpSpPr bwMode="auto">
          <a:xfrm flipH="1">
            <a:off x="6045068" y="521261"/>
            <a:ext cx="1594246" cy="312737"/>
            <a:chOff x="1491" y="212"/>
            <a:chExt cx="853" cy="240"/>
          </a:xfrm>
        </p:grpSpPr>
        <p:sp>
          <p:nvSpPr>
            <p:cNvPr id="575543" name="AutoShape 55"/>
            <p:cNvSpPr>
              <a:spLocks noChangeArrowheads="1"/>
            </p:cNvSpPr>
            <p:nvPr/>
          </p:nvSpPr>
          <p:spPr bwMode="auto">
            <a:xfrm>
              <a:off x="2089" y="271"/>
              <a:ext cx="255" cy="122"/>
            </a:xfrm>
            <a:prstGeom prst="rightArrow">
              <a:avLst>
                <a:gd name="adj1" fmla="val 50000"/>
                <a:gd name="adj2" fmla="val 52254"/>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5544" name="Rectangle 56"/>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5545" name="Text Box 57"/>
          <p:cNvSpPr txBox="1">
            <a:spLocks noChangeArrowheads="1"/>
          </p:cNvSpPr>
          <p:nvPr/>
        </p:nvSpPr>
        <p:spPr bwMode="auto">
          <a:xfrm>
            <a:off x="6468137" y="616511"/>
            <a:ext cx="10326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1  2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1</a:t>
            </a:r>
          </a:p>
        </p:txBody>
      </p:sp>
      <p:sp>
        <p:nvSpPr>
          <p:cNvPr id="575546" name="Text Box 58"/>
          <p:cNvSpPr txBox="1">
            <a:spLocks noChangeArrowheads="1"/>
          </p:cNvSpPr>
          <p:nvPr/>
        </p:nvSpPr>
        <p:spPr bwMode="auto">
          <a:xfrm>
            <a:off x="1305323" y="3460938"/>
            <a:ext cx="66912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kumimoji="1" sz="2000" b="1">
                <a:solidFill>
                  <a:srgbClr val="0000CC"/>
                </a:solidFill>
                <a:latin typeface="+mn-lt"/>
                <a:ea typeface="黑体" pitchFamily="2" charset="-122"/>
              </a:defRPr>
            </a:lvl1pPr>
          </a:lstStyle>
          <a:p>
            <a:r>
              <a:rPr lang="en-US" altLang="zh-CN" sz="2400" dirty="0"/>
              <a:t>R</a:t>
            </a:r>
            <a:r>
              <a:rPr lang="en-US" altLang="zh-CN" sz="2400" baseline="-25000" dirty="0"/>
              <a:t>2</a:t>
            </a:r>
            <a:r>
              <a:rPr lang="en-US" altLang="zh-CN" sz="2400" dirty="0"/>
              <a:t> </a:t>
            </a:r>
            <a:r>
              <a:rPr lang="zh-CN" altLang="en-US" sz="2400" dirty="0"/>
              <a:t>说：“我到网 </a:t>
            </a:r>
            <a:r>
              <a:rPr lang="en-US" altLang="zh-CN" sz="2400" dirty="0"/>
              <a:t>1 </a:t>
            </a:r>
            <a:r>
              <a:rPr lang="zh-CN" altLang="en-US" sz="2400" dirty="0"/>
              <a:t>的距离是 </a:t>
            </a:r>
            <a:r>
              <a:rPr lang="en-US" altLang="zh-CN" sz="2400" dirty="0"/>
              <a:t>2</a:t>
            </a:r>
            <a:r>
              <a:rPr lang="zh-CN" altLang="en-US" sz="2400" dirty="0"/>
              <a:t>，是经过 </a:t>
            </a:r>
            <a:r>
              <a:rPr lang="en-US" altLang="zh-CN" sz="2400" dirty="0"/>
              <a:t>R</a:t>
            </a:r>
            <a:r>
              <a:rPr lang="en-US" altLang="zh-CN" sz="2400" baseline="-25000" dirty="0"/>
              <a:t>1</a:t>
            </a:r>
            <a:r>
              <a:rPr lang="zh-CN" altLang="en-US" sz="2400" dirty="0"/>
              <a:t>。”</a:t>
            </a:r>
          </a:p>
        </p:txBody>
      </p:sp>
      <p:sp>
        <p:nvSpPr>
          <p:cNvPr id="575547" name="AutoShape 59"/>
          <p:cNvSpPr>
            <a:spLocks noChangeArrowheads="1"/>
          </p:cNvSpPr>
          <p:nvPr/>
        </p:nvSpPr>
        <p:spPr bwMode="auto">
          <a:xfrm>
            <a:off x="2144582" y="1557338"/>
            <a:ext cx="3805898" cy="503510"/>
          </a:xfrm>
          <a:prstGeom prst="wedgeRoundRectCallout">
            <a:avLst>
              <a:gd name="adj1" fmla="val 66495"/>
              <a:gd name="adj2" fmla="val -218428"/>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2000" b="1" dirty="0">
                <a:solidFill>
                  <a:srgbClr val="0000CC"/>
                </a:solidFill>
                <a:latin typeface="+mn-lt"/>
                <a:ea typeface="黑体" pitchFamily="2" charset="-122"/>
              </a:rPr>
              <a:t>“1”</a:t>
            </a:r>
            <a:r>
              <a:rPr lang="zh-CN" altLang="en-US" sz="2000" b="1" dirty="0">
                <a:solidFill>
                  <a:srgbClr val="0000CC"/>
                </a:solidFill>
                <a:latin typeface="+mn-lt"/>
                <a:ea typeface="黑体" pitchFamily="2" charset="-122"/>
              </a:rPr>
              <a:t>表示“从本路由器到网</a:t>
            </a:r>
            <a:r>
              <a:rPr lang="zh-CN" altLang="en-US" sz="1600" b="1" dirty="0">
                <a:solidFill>
                  <a:srgbClr val="0000CC"/>
                </a:solidFill>
                <a:latin typeface="+mn-lt"/>
                <a:ea typeface="黑体" pitchFamily="2" charset="-122"/>
              </a:rPr>
              <a:t> </a:t>
            </a:r>
            <a:r>
              <a:rPr lang="en-US" altLang="zh-CN" sz="2000" b="1" dirty="0">
                <a:solidFill>
                  <a:srgbClr val="0000CC"/>
                </a:solidFill>
                <a:latin typeface="+mn-lt"/>
                <a:ea typeface="黑体" pitchFamily="2" charset="-122"/>
              </a:rPr>
              <a:t>1”</a:t>
            </a:r>
          </a:p>
        </p:txBody>
      </p:sp>
      <p:sp>
        <p:nvSpPr>
          <p:cNvPr id="575548" name="AutoShape 60"/>
          <p:cNvSpPr>
            <a:spLocks noChangeArrowheads="1"/>
          </p:cNvSpPr>
          <p:nvPr/>
        </p:nvSpPr>
        <p:spPr bwMode="auto">
          <a:xfrm>
            <a:off x="4251326" y="2708276"/>
            <a:ext cx="3663156" cy="576707"/>
          </a:xfrm>
          <a:prstGeom prst="wedgeRoundRectCallout">
            <a:avLst>
              <a:gd name="adj1" fmla="val 22347"/>
              <a:gd name="adj2" fmla="val -40537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2000" b="1" dirty="0">
                <a:solidFill>
                  <a:srgbClr val="0000CC"/>
                </a:solidFill>
                <a:latin typeface="+mn-lt"/>
                <a:ea typeface="黑体" pitchFamily="2" charset="-122"/>
              </a:rPr>
              <a:t>“2”</a:t>
            </a:r>
            <a:r>
              <a:rPr lang="zh-CN" altLang="en-US" sz="2000" b="1" dirty="0">
                <a:solidFill>
                  <a:srgbClr val="0000CC"/>
                </a:solidFill>
                <a:latin typeface="+mn-lt"/>
                <a:ea typeface="黑体" pitchFamily="2" charset="-122"/>
              </a:rPr>
              <a:t>表示“距离是</a:t>
            </a:r>
            <a:r>
              <a:rPr lang="zh-CN" altLang="en-US" sz="1600" b="1" dirty="0">
                <a:solidFill>
                  <a:srgbClr val="0000CC"/>
                </a:solidFill>
                <a:latin typeface="+mn-lt"/>
                <a:ea typeface="黑体" pitchFamily="2" charset="-122"/>
              </a:rPr>
              <a:t> </a:t>
            </a:r>
            <a:r>
              <a:rPr lang="en-US" altLang="zh-CN" sz="2000" b="1" dirty="0">
                <a:solidFill>
                  <a:srgbClr val="0000CC"/>
                </a:solidFill>
                <a:latin typeface="+mn-lt"/>
                <a:ea typeface="黑体" pitchFamily="2" charset="-122"/>
              </a:rPr>
              <a:t>2”</a:t>
            </a:r>
          </a:p>
        </p:txBody>
      </p:sp>
      <p:sp>
        <p:nvSpPr>
          <p:cNvPr id="575549" name="AutoShape 61"/>
          <p:cNvSpPr>
            <a:spLocks noChangeArrowheads="1"/>
          </p:cNvSpPr>
          <p:nvPr/>
        </p:nvSpPr>
        <p:spPr bwMode="auto">
          <a:xfrm>
            <a:off x="7443557" y="1545869"/>
            <a:ext cx="2405987" cy="514979"/>
          </a:xfrm>
          <a:prstGeom prst="wedgeRoundRectCallout">
            <a:avLst>
              <a:gd name="adj1" fmla="val -52257"/>
              <a:gd name="adj2" fmla="val -199281"/>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zh-CN" sz="2000" b="1" dirty="0">
                <a:solidFill>
                  <a:srgbClr val="0000CC"/>
                </a:solidFill>
                <a:latin typeface="+mn-lt"/>
                <a:ea typeface="黑体" pitchFamily="2" charset="-122"/>
              </a:rPr>
              <a:t>“</a:t>
            </a:r>
            <a:r>
              <a:rPr lang="en-US" altLang="zh-CN" sz="2000" b="1" dirty="0">
                <a:solidFill>
                  <a:srgbClr val="0000CC"/>
                </a:solidFill>
                <a:latin typeface="+mn-lt"/>
                <a:ea typeface="黑体" pitchFamily="2" charset="-122"/>
                <a:sym typeface="Symbol" pitchFamily="18" charset="2"/>
              </a:rPr>
              <a:t>R</a:t>
            </a:r>
            <a:r>
              <a:rPr lang="en-US" altLang="zh-CN" sz="2000" b="1" baseline="-25000" dirty="0">
                <a:solidFill>
                  <a:srgbClr val="0000CC"/>
                </a:solidFill>
                <a:latin typeface="+mn-lt"/>
                <a:ea typeface="黑体" pitchFamily="2" charset="-122"/>
                <a:sym typeface="Symbol" pitchFamily="18" charset="2"/>
              </a:rPr>
              <a:t>1</a:t>
            </a:r>
            <a:r>
              <a:rPr lang="en-US" altLang="zh-CN" sz="2000" b="1" dirty="0">
                <a:solidFill>
                  <a:srgbClr val="0000CC"/>
                </a:solidFill>
                <a:latin typeface="+mn-lt"/>
                <a:ea typeface="黑体" pitchFamily="2" charset="-122"/>
              </a:rPr>
              <a:t>”</a:t>
            </a:r>
            <a:r>
              <a:rPr lang="zh-CN" altLang="en-US" sz="2000" b="1" dirty="0">
                <a:solidFill>
                  <a:srgbClr val="0000CC"/>
                </a:solidFill>
                <a:latin typeface="+mn-lt"/>
                <a:ea typeface="黑体" pitchFamily="2" charset="-122"/>
              </a:rPr>
              <a:t>表示经过 </a:t>
            </a:r>
            <a:r>
              <a:rPr lang="en-US" altLang="zh-CN" sz="2000" b="1" dirty="0">
                <a:solidFill>
                  <a:srgbClr val="0000CC"/>
                </a:solidFill>
                <a:latin typeface="+mn-lt"/>
                <a:ea typeface="黑体" pitchFamily="2" charset="-122"/>
              </a:rPr>
              <a:t>R</a:t>
            </a:r>
            <a:r>
              <a:rPr lang="en-US" altLang="zh-CN" sz="2000" b="1" baseline="-25000" dirty="0">
                <a:solidFill>
                  <a:srgbClr val="0000CC"/>
                </a:solidFill>
                <a:latin typeface="+mn-lt"/>
                <a:ea typeface="黑体" pitchFamily="2" charset="-122"/>
              </a:rPr>
              <a:t>1</a:t>
            </a:r>
          </a:p>
        </p:txBody>
      </p:sp>
    </p:spTree>
    <p:extLst>
      <p:ext uri="{BB962C8B-B14F-4D97-AF65-F5344CB8AC3E}">
        <p14:creationId xmlns:p14="http://schemas.microsoft.com/office/powerpoint/2010/main" val="29131541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755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55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55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55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546" grpId="0"/>
      <p:bldP spid="575547" grpId="0" animBg="1"/>
      <p:bldP spid="575548" grpId="0" animBg="1"/>
      <p:bldP spid="57554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Line 2"/>
          <p:cNvSpPr>
            <a:spLocks noChangeShapeType="1"/>
          </p:cNvSpPr>
          <p:nvPr/>
        </p:nvSpPr>
        <p:spPr bwMode="auto">
          <a:xfrm>
            <a:off x="1785144" y="1064185"/>
            <a:ext cx="70115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6515"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580" y="908611"/>
            <a:ext cx="78938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6516" name="Text Box 4"/>
          <p:cNvSpPr txBox="1">
            <a:spLocks noChangeArrowheads="1"/>
          </p:cNvSpPr>
          <p:nvPr/>
        </p:nvSpPr>
        <p:spPr bwMode="auto">
          <a:xfrm>
            <a:off x="6944519"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6517" name="Text Box 5"/>
          <p:cNvSpPr txBox="1">
            <a:spLocks noChangeArrowheads="1"/>
          </p:cNvSpPr>
          <p:nvPr/>
        </p:nvSpPr>
        <p:spPr bwMode="auto">
          <a:xfrm>
            <a:off x="3047471"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6518"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908" y="908611"/>
            <a:ext cx="791104"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6519" name="Group 7"/>
          <p:cNvGrpSpPr>
            <a:grpSpLocks/>
          </p:cNvGrpSpPr>
          <p:nvPr/>
        </p:nvGrpSpPr>
        <p:grpSpPr bwMode="auto">
          <a:xfrm>
            <a:off x="768747" y="632386"/>
            <a:ext cx="1277805" cy="858837"/>
            <a:chOff x="4830" y="1752"/>
            <a:chExt cx="667" cy="477"/>
          </a:xfrm>
        </p:grpSpPr>
        <p:grpSp>
          <p:nvGrpSpPr>
            <p:cNvPr id="576520" name="Group 8"/>
            <p:cNvGrpSpPr>
              <a:grpSpLocks/>
            </p:cNvGrpSpPr>
            <p:nvPr/>
          </p:nvGrpSpPr>
          <p:grpSpPr bwMode="auto">
            <a:xfrm>
              <a:off x="4830" y="1752"/>
              <a:ext cx="667" cy="477"/>
              <a:chOff x="2949" y="196"/>
              <a:chExt cx="941" cy="598"/>
            </a:xfrm>
          </p:grpSpPr>
          <p:sp>
            <p:nvSpPr>
              <p:cNvPr id="576521"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22"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23"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24" name="Oval 1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25"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26"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27"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28" name="Oval 1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29"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30"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31"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6532" name="Text Box 20"/>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6533" name="Group 21"/>
          <p:cNvGrpSpPr>
            <a:grpSpLocks/>
          </p:cNvGrpSpPr>
          <p:nvPr/>
        </p:nvGrpSpPr>
        <p:grpSpPr bwMode="auto">
          <a:xfrm>
            <a:off x="8356468" y="632386"/>
            <a:ext cx="1277805" cy="858837"/>
            <a:chOff x="4830" y="1752"/>
            <a:chExt cx="667" cy="477"/>
          </a:xfrm>
        </p:grpSpPr>
        <p:grpSp>
          <p:nvGrpSpPr>
            <p:cNvPr id="576534" name="Group 22"/>
            <p:cNvGrpSpPr>
              <a:grpSpLocks/>
            </p:cNvGrpSpPr>
            <p:nvPr/>
          </p:nvGrpSpPr>
          <p:grpSpPr bwMode="auto">
            <a:xfrm>
              <a:off x="4830" y="1752"/>
              <a:ext cx="667" cy="477"/>
              <a:chOff x="2949" y="196"/>
              <a:chExt cx="941" cy="598"/>
            </a:xfrm>
          </p:grpSpPr>
          <p:sp>
            <p:nvSpPr>
              <p:cNvPr id="576535"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36"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37"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38" name="Oval 2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39"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40"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41"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42" name="Oval 3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43"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44"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45"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6546" name="Text Box 34"/>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6547" name="Group 35"/>
          <p:cNvGrpSpPr>
            <a:grpSpLocks/>
          </p:cNvGrpSpPr>
          <p:nvPr/>
        </p:nvGrpSpPr>
        <p:grpSpPr bwMode="auto">
          <a:xfrm>
            <a:off x="4531651" y="632386"/>
            <a:ext cx="1277805" cy="858837"/>
            <a:chOff x="4830" y="1752"/>
            <a:chExt cx="667" cy="477"/>
          </a:xfrm>
        </p:grpSpPr>
        <p:grpSp>
          <p:nvGrpSpPr>
            <p:cNvPr id="576548" name="Group 36"/>
            <p:cNvGrpSpPr>
              <a:grpSpLocks/>
            </p:cNvGrpSpPr>
            <p:nvPr/>
          </p:nvGrpSpPr>
          <p:grpSpPr bwMode="auto">
            <a:xfrm>
              <a:off x="4830" y="1752"/>
              <a:ext cx="667" cy="477"/>
              <a:chOff x="2949" y="196"/>
              <a:chExt cx="941" cy="598"/>
            </a:xfrm>
          </p:grpSpPr>
          <p:sp>
            <p:nvSpPr>
              <p:cNvPr id="576549"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50"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51"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52" name="Oval 4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53"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54"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55"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56" name="Oval 4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57"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58"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59"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6560" name="Text Box 4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grpSp>
        <p:nvGrpSpPr>
          <p:cNvPr id="576561" name="Group 49"/>
          <p:cNvGrpSpPr>
            <a:grpSpLocks/>
          </p:cNvGrpSpPr>
          <p:nvPr/>
        </p:nvGrpSpPr>
        <p:grpSpPr bwMode="auto">
          <a:xfrm>
            <a:off x="612246" y="1928419"/>
            <a:ext cx="9022027" cy="1522412"/>
            <a:chOff x="356" y="1253"/>
            <a:chExt cx="5246" cy="959"/>
          </a:xfrm>
        </p:grpSpPr>
        <p:sp>
          <p:nvSpPr>
            <p:cNvPr id="576562" name="Line 50"/>
            <p:cNvSpPr>
              <a:spLocks noChangeShapeType="1"/>
            </p:cNvSpPr>
            <p:nvPr/>
          </p:nvSpPr>
          <p:spPr bwMode="auto">
            <a:xfrm>
              <a:off x="1038" y="1581"/>
              <a:ext cx="407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6563"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6564" name="Text Box 52"/>
            <p:cNvSpPr txBox="1">
              <a:spLocks noChangeArrowheads="1"/>
            </p:cNvSpPr>
            <p:nvPr/>
          </p:nvSpPr>
          <p:spPr bwMode="auto">
            <a:xfrm>
              <a:off x="4038" y="1640"/>
              <a:ext cx="27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6565" name="Text Box 53"/>
            <p:cNvSpPr txBox="1">
              <a:spLocks noChangeArrowheads="1"/>
            </p:cNvSpPr>
            <p:nvPr/>
          </p:nvSpPr>
          <p:spPr bwMode="auto">
            <a:xfrm>
              <a:off x="1772" y="1640"/>
              <a:ext cx="27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6566"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6567" name="Group 55"/>
            <p:cNvGrpSpPr>
              <a:grpSpLocks/>
            </p:cNvGrpSpPr>
            <p:nvPr/>
          </p:nvGrpSpPr>
          <p:grpSpPr bwMode="auto">
            <a:xfrm>
              <a:off x="447" y="1309"/>
              <a:ext cx="743" cy="541"/>
              <a:chOff x="4830" y="1752"/>
              <a:chExt cx="667" cy="477"/>
            </a:xfrm>
          </p:grpSpPr>
          <p:grpSp>
            <p:nvGrpSpPr>
              <p:cNvPr id="576568" name="Group 56"/>
              <p:cNvGrpSpPr>
                <a:grpSpLocks/>
              </p:cNvGrpSpPr>
              <p:nvPr/>
            </p:nvGrpSpPr>
            <p:grpSpPr bwMode="auto">
              <a:xfrm>
                <a:off x="4830" y="1752"/>
                <a:ext cx="667" cy="477"/>
                <a:chOff x="2949" y="196"/>
                <a:chExt cx="941" cy="598"/>
              </a:xfrm>
            </p:grpSpPr>
            <p:sp>
              <p:nvSpPr>
                <p:cNvPr id="576569"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70"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71"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72" name="Oval 6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73"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74"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75"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76" name="Oval 6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77"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78"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79"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6580" name="Text Box 6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6581" name="Group 69"/>
            <p:cNvGrpSpPr>
              <a:grpSpLocks/>
            </p:cNvGrpSpPr>
            <p:nvPr/>
          </p:nvGrpSpPr>
          <p:grpSpPr bwMode="auto">
            <a:xfrm>
              <a:off x="4859" y="1309"/>
              <a:ext cx="743" cy="541"/>
              <a:chOff x="4830" y="1752"/>
              <a:chExt cx="667" cy="477"/>
            </a:xfrm>
          </p:grpSpPr>
          <p:grpSp>
            <p:nvGrpSpPr>
              <p:cNvPr id="576582" name="Group 70"/>
              <p:cNvGrpSpPr>
                <a:grpSpLocks/>
              </p:cNvGrpSpPr>
              <p:nvPr/>
            </p:nvGrpSpPr>
            <p:grpSpPr bwMode="auto">
              <a:xfrm>
                <a:off x="4830" y="1752"/>
                <a:ext cx="667" cy="477"/>
                <a:chOff x="2949" y="196"/>
                <a:chExt cx="941" cy="598"/>
              </a:xfrm>
            </p:grpSpPr>
            <p:sp>
              <p:nvSpPr>
                <p:cNvPr id="576583"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84"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85"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86" name="Oval 74"/>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87"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88"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89"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90" name="Oval 78"/>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91" name="Freeform 7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92" name="Freeform 8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593" name="Freeform 8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6594" name="Text Box 82"/>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6595" name="Group 83"/>
            <p:cNvGrpSpPr>
              <a:grpSpLocks/>
            </p:cNvGrpSpPr>
            <p:nvPr/>
          </p:nvGrpSpPr>
          <p:grpSpPr bwMode="auto">
            <a:xfrm>
              <a:off x="2635" y="1309"/>
              <a:ext cx="743" cy="541"/>
              <a:chOff x="4830" y="1752"/>
              <a:chExt cx="667" cy="477"/>
            </a:xfrm>
          </p:grpSpPr>
          <p:grpSp>
            <p:nvGrpSpPr>
              <p:cNvPr id="576596" name="Group 84"/>
              <p:cNvGrpSpPr>
                <a:grpSpLocks/>
              </p:cNvGrpSpPr>
              <p:nvPr/>
            </p:nvGrpSpPr>
            <p:grpSpPr bwMode="auto">
              <a:xfrm>
                <a:off x="4830" y="1752"/>
                <a:ext cx="667" cy="477"/>
                <a:chOff x="2949" y="196"/>
                <a:chExt cx="941" cy="598"/>
              </a:xfrm>
            </p:grpSpPr>
            <p:sp>
              <p:nvSpPr>
                <p:cNvPr id="576597"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98"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599"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00" name="Oval 88"/>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01"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02"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03"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04" name="Oval 92"/>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05" name="Freeform 9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606" name="Freeform 9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607" name="Freeform 9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6608" name="Text Box 96"/>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grpSp>
          <p:nvGrpSpPr>
            <p:cNvPr id="576609" name="Group 97"/>
            <p:cNvGrpSpPr>
              <a:grpSpLocks/>
            </p:cNvGrpSpPr>
            <p:nvPr/>
          </p:nvGrpSpPr>
          <p:grpSpPr bwMode="auto">
            <a:xfrm>
              <a:off x="434" y="1253"/>
              <a:ext cx="755" cy="612"/>
              <a:chOff x="434" y="1298"/>
              <a:chExt cx="755" cy="612"/>
            </a:xfrm>
          </p:grpSpPr>
          <p:sp>
            <p:nvSpPr>
              <p:cNvPr id="576610" name="Line 98"/>
              <p:cNvSpPr>
                <a:spLocks noChangeShapeType="1"/>
              </p:cNvSpPr>
              <p:nvPr/>
            </p:nvSpPr>
            <p:spPr bwMode="auto">
              <a:xfrm>
                <a:off x="434" y="1298"/>
                <a:ext cx="755" cy="61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6611" name="Line 99"/>
              <p:cNvSpPr>
                <a:spLocks noChangeShapeType="1"/>
              </p:cNvSpPr>
              <p:nvPr/>
            </p:nvSpPr>
            <p:spPr bwMode="auto">
              <a:xfrm flipH="1">
                <a:off x="434" y="1298"/>
                <a:ext cx="755" cy="61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6612" name="Text Box 100"/>
            <p:cNvSpPr txBox="1">
              <a:spLocks noChangeArrowheads="1"/>
            </p:cNvSpPr>
            <p:nvPr/>
          </p:nvSpPr>
          <p:spPr bwMode="auto">
            <a:xfrm>
              <a:off x="356" y="1979"/>
              <a:ext cx="9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2000" b="1">
                  <a:solidFill>
                    <a:srgbClr val="0000CC"/>
                  </a:solidFill>
                  <a:latin typeface="+mn-lt"/>
                  <a:ea typeface="黑体" pitchFamily="2" charset="-122"/>
                </a:rPr>
                <a:t>网</a:t>
              </a:r>
              <a:r>
                <a:rPr kumimoji="1" lang="zh-CN" altLang="en-US" sz="10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1</a:t>
              </a:r>
              <a:r>
                <a:rPr kumimoji="1" lang="zh-CN" altLang="en-US" sz="2000" b="1">
                  <a:solidFill>
                    <a:srgbClr val="0000CC"/>
                  </a:solidFill>
                  <a:latin typeface="+mn-lt"/>
                  <a:ea typeface="黑体" pitchFamily="2" charset="-122"/>
                </a:rPr>
                <a:t>出了故障</a:t>
              </a:r>
            </a:p>
          </p:txBody>
        </p:sp>
      </p:grpSp>
      <p:sp>
        <p:nvSpPr>
          <p:cNvPr id="576613" name="Text Box 101"/>
          <p:cNvSpPr txBox="1">
            <a:spLocks noChangeArrowheads="1"/>
          </p:cNvSpPr>
          <p:nvPr/>
        </p:nvSpPr>
        <p:spPr bwMode="auto">
          <a:xfrm>
            <a:off x="266568" y="305361"/>
            <a:ext cx="44114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正</a:t>
            </a:r>
          </a:p>
          <a:p>
            <a:r>
              <a:rPr kumimoji="1" lang="zh-CN" altLang="en-US" sz="2000" b="1">
                <a:solidFill>
                  <a:srgbClr val="0000CC"/>
                </a:solidFill>
                <a:latin typeface="+mn-lt"/>
                <a:ea typeface="黑体" pitchFamily="2" charset="-122"/>
              </a:rPr>
              <a:t>常</a:t>
            </a:r>
          </a:p>
          <a:p>
            <a:r>
              <a:rPr kumimoji="1" lang="zh-CN" altLang="en-US" sz="2000" b="1">
                <a:solidFill>
                  <a:srgbClr val="0000CC"/>
                </a:solidFill>
                <a:latin typeface="+mn-lt"/>
                <a:ea typeface="黑体" pitchFamily="2" charset="-122"/>
              </a:rPr>
              <a:t>情</a:t>
            </a:r>
          </a:p>
          <a:p>
            <a:r>
              <a:rPr kumimoji="1" lang="zh-CN" altLang="en-US" sz="2000" b="1">
                <a:solidFill>
                  <a:srgbClr val="0000CC"/>
                </a:solidFill>
                <a:latin typeface="+mn-lt"/>
                <a:ea typeface="黑体" pitchFamily="2" charset="-122"/>
              </a:rPr>
              <a:t>况</a:t>
            </a:r>
          </a:p>
        </p:txBody>
      </p:sp>
      <p:grpSp>
        <p:nvGrpSpPr>
          <p:cNvPr id="576614" name="Group 102"/>
          <p:cNvGrpSpPr>
            <a:grpSpLocks/>
          </p:cNvGrpSpPr>
          <p:nvPr/>
        </p:nvGrpSpPr>
        <p:grpSpPr bwMode="auto">
          <a:xfrm>
            <a:off x="2436946" y="499036"/>
            <a:ext cx="1594246" cy="312737"/>
            <a:chOff x="1491" y="212"/>
            <a:chExt cx="853" cy="240"/>
          </a:xfrm>
        </p:grpSpPr>
        <p:sp>
          <p:nvSpPr>
            <p:cNvPr id="576615" name="AutoShape 103"/>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16"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6617" name="Text Box 105"/>
          <p:cNvSpPr txBox="1">
            <a:spLocks noChangeArrowheads="1"/>
          </p:cNvSpPr>
          <p:nvPr/>
        </p:nvSpPr>
        <p:spPr bwMode="auto">
          <a:xfrm>
            <a:off x="2457583" y="573648"/>
            <a:ext cx="89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grpSp>
        <p:nvGrpSpPr>
          <p:cNvPr id="576618" name="Group 106"/>
          <p:cNvGrpSpPr>
            <a:grpSpLocks/>
          </p:cNvGrpSpPr>
          <p:nvPr/>
        </p:nvGrpSpPr>
        <p:grpSpPr bwMode="auto">
          <a:xfrm>
            <a:off x="2693194" y="3152380"/>
            <a:ext cx="1633802" cy="312738"/>
            <a:chOff x="1566" y="2024"/>
            <a:chExt cx="950" cy="197"/>
          </a:xfrm>
        </p:grpSpPr>
        <p:grpSp>
          <p:nvGrpSpPr>
            <p:cNvPr id="576619" name="Group 107"/>
            <p:cNvGrpSpPr>
              <a:grpSpLocks/>
            </p:cNvGrpSpPr>
            <p:nvPr/>
          </p:nvGrpSpPr>
          <p:grpSpPr bwMode="auto">
            <a:xfrm>
              <a:off x="1589" y="2024"/>
              <a:ext cx="927" cy="197"/>
              <a:chOff x="1491" y="212"/>
              <a:chExt cx="853" cy="240"/>
            </a:xfrm>
          </p:grpSpPr>
          <p:sp>
            <p:nvSpPr>
              <p:cNvPr id="576620" name="AutoShape 108"/>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21"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6622" name="Text Box 110"/>
            <p:cNvSpPr txBox="1">
              <a:spLocks noChangeArrowheads="1"/>
            </p:cNvSpPr>
            <p:nvPr/>
          </p:nvSpPr>
          <p:spPr bwMode="auto">
            <a:xfrm>
              <a:off x="1566" y="2066"/>
              <a:ext cx="602"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1  16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grpSp>
      <p:grpSp>
        <p:nvGrpSpPr>
          <p:cNvPr id="576623" name="Group 111"/>
          <p:cNvGrpSpPr>
            <a:grpSpLocks/>
          </p:cNvGrpSpPr>
          <p:nvPr/>
        </p:nvGrpSpPr>
        <p:grpSpPr bwMode="auto">
          <a:xfrm flipH="1">
            <a:off x="6045068" y="521261"/>
            <a:ext cx="1594246" cy="312737"/>
            <a:chOff x="1491" y="212"/>
            <a:chExt cx="853" cy="240"/>
          </a:xfrm>
        </p:grpSpPr>
        <p:sp>
          <p:nvSpPr>
            <p:cNvPr id="576624" name="AutoShape 112"/>
            <p:cNvSpPr>
              <a:spLocks noChangeArrowheads="1"/>
            </p:cNvSpPr>
            <p:nvPr/>
          </p:nvSpPr>
          <p:spPr bwMode="auto">
            <a:xfrm>
              <a:off x="2089" y="271"/>
              <a:ext cx="255" cy="122"/>
            </a:xfrm>
            <a:prstGeom prst="rightArrow">
              <a:avLst>
                <a:gd name="adj1" fmla="val 50000"/>
                <a:gd name="adj2" fmla="val 52254"/>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25" name="Rectangle 113"/>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6626" name="Text Box 114"/>
          <p:cNvSpPr txBox="1">
            <a:spLocks noChangeArrowheads="1"/>
          </p:cNvSpPr>
          <p:nvPr/>
        </p:nvSpPr>
        <p:spPr bwMode="auto">
          <a:xfrm>
            <a:off x="6468137" y="616511"/>
            <a:ext cx="10326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1  2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1</a:t>
            </a:r>
          </a:p>
        </p:txBody>
      </p:sp>
      <p:grpSp>
        <p:nvGrpSpPr>
          <p:cNvPr id="576627" name="Group 115"/>
          <p:cNvGrpSpPr>
            <a:grpSpLocks/>
          </p:cNvGrpSpPr>
          <p:nvPr/>
        </p:nvGrpSpPr>
        <p:grpSpPr bwMode="auto">
          <a:xfrm>
            <a:off x="6045068" y="3099999"/>
            <a:ext cx="1594246" cy="341313"/>
            <a:chOff x="3515" y="1991"/>
            <a:chExt cx="927" cy="215"/>
          </a:xfrm>
        </p:grpSpPr>
        <p:grpSp>
          <p:nvGrpSpPr>
            <p:cNvPr id="576628" name="Group 116"/>
            <p:cNvGrpSpPr>
              <a:grpSpLocks/>
            </p:cNvGrpSpPr>
            <p:nvPr/>
          </p:nvGrpSpPr>
          <p:grpSpPr bwMode="auto">
            <a:xfrm flipH="1">
              <a:off x="3515" y="1991"/>
              <a:ext cx="927" cy="197"/>
              <a:chOff x="1491" y="212"/>
              <a:chExt cx="853" cy="240"/>
            </a:xfrm>
          </p:grpSpPr>
          <p:sp>
            <p:nvSpPr>
              <p:cNvPr id="576629" name="AutoShape 117"/>
              <p:cNvSpPr>
                <a:spLocks noChangeArrowheads="1"/>
              </p:cNvSpPr>
              <p:nvPr/>
            </p:nvSpPr>
            <p:spPr bwMode="auto">
              <a:xfrm>
                <a:off x="2089" y="271"/>
                <a:ext cx="255" cy="122"/>
              </a:xfrm>
              <a:prstGeom prst="rightArrow">
                <a:avLst>
                  <a:gd name="adj1" fmla="val 50000"/>
                  <a:gd name="adj2" fmla="val 52254"/>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6630" name="Rectangle 118"/>
              <p:cNvSpPr>
                <a:spLocks noChangeArrowheads="1"/>
              </p:cNvSpPr>
              <p:nvPr/>
            </p:nvSpPr>
            <p:spPr bwMode="auto">
              <a:xfrm>
                <a:off x="1491" y="212"/>
                <a:ext cx="632" cy="240"/>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6631" name="Text Box 119"/>
            <p:cNvSpPr txBox="1">
              <a:spLocks noChangeArrowheads="1"/>
            </p:cNvSpPr>
            <p:nvPr/>
          </p:nvSpPr>
          <p:spPr bwMode="auto">
            <a:xfrm>
              <a:off x="3761" y="2051"/>
              <a:ext cx="600"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1  2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1</a:t>
              </a:r>
            </a:p>
          </p:txBody>
        </p:sp>
      </p:grpSp>
      <p:sp>
        <p:nvSpPr>
          <p:cNvPr id="576632" name="Text Box 120"/>
          <p:cNvSpPr txBox="1">
            <a:spLocks noChangeArrowheads="1"/>
          </p:cNvSpPr>
          <p:nvPr/>
        </p:nvSpPr>
        <p:spPr bwMode="auto">
          <a:xfrm>
            <a:off x="710679" y="3785621"/>
            <a:ext cx="7338869" cy="830997"/>
          </a:xfrm>
          <a:prstGeom prst="rect">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1</a:t>
            </a:r>
            <a:r>
              <a:rPr kumimoji="1" lang="en-US" altLang="zh-CN" sz="2400" b="1" dirty="0">
                <a:solidFill>
                  <a:srgbClr val="0000CC"/>
                </a:solidFill>
                <a:latin typeface="+mn-lt"/>
                <a:ea typeface="黑体" pitchFamily="2" charset="-122"/>
              </a:rPr>
              <a:t> </a:t>
            </a:r>
            <a:r>
              <a:rPr kumimoji="1" lang="zh-CN" altLang="en-US" sz="2400" b="1" dirty="0">
                <a:solidFill>
                  <a:srgbClr val="0000CC"/>
                </a:solidFill>
                <a:latin typeface="+mn-lt"/>
                <a:ea typeface="黑体" pitchFamily="2" charset="-122"/>
              </a:rPr>
              <a:t>说：“我到网 </a:t>
            </a:r>
            <a:r>
              <a:rPr kumimoji="1" lang="en-US" altLang="zh-CN" sz="2400" b="1" dirty="0">
                <a:solidFill>
                  <a:srgbClr val="0000CC"/>
                </a:solidFill>
                <a:latin typeface="+mn-lt"/>
                <a:ea typeface="黑体" pitchFamily="2" charset="-122"/>
              </a:rPr>
              <a:t>1 </a:t>
            </a:r>
            <a:r>
              <a:rPr kumimoji="1" lang="zh-CN" altLang="en-US" sz="2400" b="1" dirty="0">
                <a:solidFill>
                  <a:srgbClr val="0000CC"/>
                </a:solidFill>
                <a:latin typeface="+mn-lt"/>
                <a:ea typeface="黑体" pitchFamily="2" charset="-122"/>
              </a:rPr>
              <a:t>的距离是 </a:t>
            </a:r>
            <a:r>
              <a:rPr kumimoji="1" lang="en-US" altLang="zh-CN" sz="2400" b="1" dirty="0">
                <a:solidFill>
                  <a:srgbClr val="0000CC"/>
                </a:solidFill>
                <a:latin typeface="+mn-lt"/>
                <a:ea typeface="黑体" pitchFamily="2" charset="-122"/>
              </a:rPr>
              <a:t>16 </a:t>
            </a:r>
            <a:r>
              <a:rPr kumimoji="1" lang="zh-CN" altLang="en-US" sz="2400" b="1" dirty="0">
                <a:solidFill>
                  <a:srgbClr val="0000CC"/>
                </a:solidFill>
                <a:latin typeface="+mn-lt"/>
                <a:ea typeface="黑体" pitchFamily="2" charset="-122"/>
              </a:rPr>
              <a:t>（表示无法到达），</a:t>
            </a:r>
          </a:p>
          <a:p>
            <a:r>
              <a:rPr kumimoji="1" lang="zh-CN" altLang="en-US" sz="2400" b="1" dirty="0">
                <a:solidFill>
                  <a:srgbClr val="0000CC"/>
                </a:solidFill>
                <a:latin typeface="+mn-lt"/>
                <a:ea typeface="黑体" pitchFamily="2" charset="-122"/>
              </a:rPr>
              <a:t>            是直接交付。”</a:t>
            </a:r>
          </a:p>
        </p:txBody>
      </p:sp>
      <p:sp>
        <p:nvSpPr>
          <p:cNvPr id="576633" name="Text Box 121"/>
          <p:cNvSpPr txBox="1">
            <a:spLocks noChangeArrowheads="1"/>
          </p:cNvSpPr>
          <p:nvPr/>
        </p:nvSpPr>
        <p:spPr bwMode="auto">
          <a:xfrm>
            <a:off x="704528" y="4725144"/>
            <a:ext cx="7694735" cy="830997"/>
          </a:xfrm>
          <a:prstGeom prst="rect">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但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2</a:t>
            </a:r>
            <a:r>
              <a:rPr kumimoji="1" lang="en-US" altLang="zh-CN" sz="2400" b="1" dirty="0">
                <a:solidFill>
                  <a:srgbClr val="0000CC"/>
                </a:solidFill>
                <a:latin typeface="+mn-lt"/>
                <a:ea typeface="黑体" pitchFamily="2" charset="-122"/>
              </a:rPr>
              <a:t> </a:t>
            </a:r>
            <a:r>
              <a:rPr kumimoji="1" lang="zh-CN" altLang="en-US" sz="2400" b="1" dirty="0">
                <a:solidFill>
                  <a:srgbClr val="0000CC"/>
                </a:solidFill>
                <a:latin typeface="+mn-lt"/>
                <a:ea typeface="黑体" pitchFamily="2" charset="-122"/>
              </a:rPr>
              <a:t>在收到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1</a:t>
            </a:r>
            <a:r>
              <a:rPr kumimoji="1" lang="en-US" altLang="zh-CN" sz="2400" b="1" dirty="0">
                <a:solidFill>
                  <a:srgbClr val="0000CC"/>
                </a:solidFill>
                <a:latin typeface="+mn-lt"/>
                <a:ea typeface="黑体" pitchFamily="2" charset="-122"/>
              </a:rPr>
              <a:t> </a:t>
            </a:r>
            <a:r>
              <a:rPr kumimoji="1" lang="zh-CN" altLang="en-US" sz="2400" b="1" dirty="0">
                <a:solidFill>
                  <a:srgbClr val="0000CC"/>
                </a:solidFill>
                <a:latin typeface="+mn-lt"/>
                <a:ea typeface="黑体" pitchFamily="2" charset="-122"/>
              </a:rPr>
              <a:t>的更新报文之前，还发送原来的报文，</a:t>
            </a:r>
          </a:p>
          <a:p>
            <a:r>
              <a:rPr kumimoji="1" lang="zh-CN" altLang="en-US" sz="2400" b="1" dirty="0">
                <a:solidFill>
                  <a:srgbClr val="0000CC"/>
                </a:solidFill>
                <a:latin typeface="+mn-lt"/>
                <a:ea typeface="黑体" pitchFamily="2" charset="-122"/>
              </a:rPr>
              <a:t>因为这时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2</a:t>
            </a:r>
            <a:r>
              <a:rPr kumimoji="1" lang="en-US" altLang="zh-CN" sz="2400" b="1" dirty="0">
                <a:solidFill>
                  <a:srgbClr val="0000CC"/>
                </a:solidFill>
                <a:latin typeface="+mn-lt"/>
                <a:ea typeface="黑体" pitchFamily="2" charset="-122"/>
              </a:rPr>
              <a:t> </a:t>
            </a:r>
            <a:r>
              <a:rPr kumimoji="1" lang="zh-CN" altLang="en-US" sz="2400" b="1" dirty="0">
                <a:solidFill>
                  <a:srgbClr val="0000CC"/>
                </a:solidFill>
                <a:latin typeface="+mn-lt"/>
                <a:ea typeface="黑体" pitchFamily="2" charset="-122"/>
              </a:rPr>
              <a:t>并不知道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1</a:t>
            </a:r>
            <a:r>
              <a:rPr kumimoji="1" lang="en-US" altLang="zh-CN" sz="2400" b="1" dirty="0">
                <a:solidFill>
                  <a:srgbClr val="0000CC"/>
                </a:solidFill>
                <a:latin typeface="+mn-lt"/>
                <a:ea typeface="黑体" pitchFamily="2" charset="-122"/>
              </a:rPr>
              <a:t> </a:t>
            </a:r>
            <a:r>
              <a:rPr kumimoji="1" lang="zh-CN" altLang="en-US" sz="2400" b="1" dirty="0">
                <a:solidFill>
                  <a:srgbClr val="0000CC"/>
                </a:solidFill>
                <a:latin typeface="+mn-lt"/>
                <a:ea typeface="黑体" pitchFamily="2" charset="-122"/>
              </a:rPr>
              <a:t>出了故障。</a:t>
            </a:r>
          </a:p>
        </p:txBody>
      </p:sp>
    </p:spTree>
    <p:extLst>
      <p:ext uri="{BB962C8B-B14F-4D97-AF65-F5344CB8AC3E}">
        <p14:creationId xmlns:p14="http://schemas.microsoft.com/office/powerpoint/2010/main" val="8586225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65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6632"/>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500"/>
                                  </p:stCondLst>
                                  <p:childTnLst>
                                    <p:set>
                                      <p:cBhvr>
                                        <p:cTn id="13" dur="1" fill="hold">
                                          <p:stCondLst>
                                            <p:cond delay="0"/>
                                          </p:stCondLst>
                                        </p:cTn>
                                        <p:tgtEl>
                                          <p:spTgt spid="576618"/>
                                        </p:tgtEl>
                                        <p:attrNameLst>
                                          <p:attrName>style.visibility</p:attrName>
                                        </p:attrNameLst>
                                      </p:cBhvr>
                                      <p:to>
                                        <p:strVal val="visible"/>
                                      </p:to>
                                    </p:set>
                                  </p:childTnLst>
                                </p:cTn>
                              </p:par>
                            </p:childTnLst>
                          </p:cTn>
                        </p:par>
                        <p:par>
                          <p:cTn id="14" fill="hold" nodeType="afterGroup">
                            <p:stCondLst>
                              <p:cond delay="500"/>
                            </p:stCondLst>
                            <p:childTnLst>
                              <p:par>
                                <p:cTn id="15" presetID="35" presetClass="emph" presetSubtype="0" repeatCount="3000" fill="hold" nodeType="afterEffect">
                                  <p:stCondLst>
                                    <p:cond delay="500"/>
                                  </p:stCondLst>
                                  <p:childTnLst>
                                    <p:anim calcmode="discrete" valueType="str">
                                      <p:cBhvr>
                                        <p:cTn id="16" dur="1000" fill="hold"/>
                                        <p:tgtEl>
                                          <p:spTgt spid="576618"/>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76633"/>
                                        </p:tgtEl>
                                        <p:attrNameLst>
                                          <p:attrName>style.visibility</p:attrName>
                                        </p:attrNameLst>
                                      </p:cBhvr>
                                      <p:to>
                                        <p:strVal val="visible"/>
                                      </p:to>
                                    </p:set>
                                  </p:childTnLst>
                                </p:cTn>
                              </p:par>
                            </p:childTnLst>
                          </p:cTn>
                        </p:par>
                        <p:par>
                          <p:cTn id="21" fill="hold" nodeType="afterGroup">
                            <p:stCondLst>
                              <p:cond delay="0"/>
                            </p:stCondLst>
                            <p:childTnLst>
                              <p:par>
                                <p:cTn id="22" presetID="1" presetClass="entr" presetSubtype="0" fill="hold" nodeType="afterEffect">
                                  <p:stCondLst>
                                    <p:cond delay="500"/>
                                  </p:stCondLst>
                                  <p:childTnLst>
                                    <p:set>
                                      <p:cBhvr>
                                        <p:cTn id="23" dur="1" fill="hold">
                                          <p:stCondLst>
                                            <p:cond delay="0"/>
                                          </p:stCondLst>
                                        </p:cTn>
                                        <p:tgtEl>
                                          <p:spTgt spid="576627"/>
                                        </p:tgtEl>
                                        <p:attrNameLst>
                                          <p:attrName>style.visibility</p:attrName>
                                        </p:attrNameLst>
                                      </p:cBhvr>
                                      <p:to>
                                        <p:strVal val="visible"/>
                                      </p:to>
                                    </p:set>
                                  </p:childTnLst>
                                </p:cTn>
                              </p:par>
                            </p:childTnLst>
                          </p:cTn>
                        </p:par>
                        <p:par>
                          <p:cTn id="24" fill="hold" nodeType="afterGroup">
                            <p:stCondLst>
                              <p:cond delay="500"/>
                            </p:stCondLst>
                            <p:childTnLst>
                              <p:par>
                                <p:cTn id="25" presetID="35" presetClass="emph" presetSubtype="0" repeatCount="3000" fill="hold" nodeType="afterEffect">
                                  <p:stCondLst>
                                    <p:cond delay="500"/>
                                  </p:stCondLst>
                                  <p:childTnLst>
                                    <p:anim calcmode="discrete" valueType="str">
                                      <p:cBhvr>
                                        <p:cTn id="26" dur="1000" fill="hold"/>
                                        <p:tgtEl>
                                          <p:spTgt spid="5766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632" grpId="0" animBg="1"/>
      <p:bldP spid="57663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Line 2"/>
          <p:cNvSpPr>
            <a:spLocks noChangeShapeType="1"/>
          </p:cNvSpPr>
          <p:nvPr/>
        </p:nvSpPr>
        <p:spPr bwMode="auto">
          <a:xfrm>
            <a:off x="1785144" y="1064185"/>
            <a:ext cx="70115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7539"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580" y="908611"/>
            <a:ext cx="78938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7540" name="Text Box 4"/>
          <p:cNvSpPr txBox="1">
            <a:spLocks noChangeArrowheads="1"/>
          </p:cNvSpPr>
          <p:nvPr/>
        </p:nvSpPr>
        <p:spPr bwMode="auto">
          <a:xfrm>
            <a:off x="6944519"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7541" name="Text Box 5"/>
          <p:cNvSpPr txBox="1">
            <a:spLocks noChangeArrowheads="1"/>
          </p:cNvSpPr>
          <p:nvPr/>
        </p:nvSpPr>
        <p:spPr bwMode="auto">
          <a:xfrm>
            <a:off x="3047471"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7542"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908" y="908611"/>
            <a:ext cx="791104"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7543" name="Group 7"/>
          <p:cNvGrpSpPr>
            <a:grpSpLocks/>
          </p:cNvGrpSpPr>
          <p:nvPr/>
        </p:nvGrpSpPr>
        <p:grpSpPr bwMode="auto">
          <a:xfrm>
            <a:off x="768747" y="632386"/>
            <a:ext cx="1277805" cy="858837"/>
            <a:chOff x="4830" y="1752"/>
            <a:chExt cx="667" cy="477"/>
          </a:xfrm>
        </p:grpSpPr>
        <p:grpSp>
          <p:nvGrpSpPr>
            <p:cNvPr id="577544" name="Group 8"/>
            <p:cNvGrpSpPr>
              <a:grpSpLocks/>
            </p:cNvGrpSpPr>
            <p:nvPr/>
          </p:nvGrpSpPr>
          <p:grpSpPr bwMode="auto">
            <a:xfrm>
              <a:off x="4830" y="1752"/>
              <a:ext cx="667" cy="477"/>
              <a:chOff x="2949" y="196"/>
              <a:chExt cx="941" cy="598"/>
            </a:xfrm>
          </p:grpSpPr>
          <p:sp>
            <p:nvSpPr>
              <p:cNvPr id="577545"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46"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47"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48" name="Oval 1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49"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50"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51"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52" name="Oval 1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53"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554"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555"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7556" name="Text Box 20"/>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7557" name="Group 21"/>
          <p:cNvGrpSpPr>
            <a:grpSpLocks/>
          </p:cNvGrpSpPr>
          <p:nvPr/>
        </p:nvGrpSpPr>
        <p:grpSpPr bwMode="auto">
          <a:xfrm>
            <a:off x="8356468" y="632386"/>
            <a:ext cx="1277805" cy="858837"/>
            <a:chOff x="4830" y="1752"/>
            <a:chExt cx="667" cy="477"/>
          </a:xfrm>
        </p:grpSpPr>
        <p:grpSp>
          <p:nvGrpSpPr>
            <p:cNvPr id="577558" name="Group 22"/>
            <p:cNvGrpSpPr>
              <a:grpSpLocks/>
            </p:cNvGrpSpPr>
            <p:nvPr/>
          </p:nvGrpSpPr>
          <p:grpSpPr bwMode="auto">
            <a:xfrm>
              <a:off x="4830" y="1752"/>
              <a:ext cx="667" cy="477"/>
              <a:chOff x="2949" y="196"/>
              <a:chExt cx="941" cy="598"/>
            </a:xfrm>
          </p:grpSpPr>
          <p:sp>
            <p:nvSpPr>
              <p:cNvPr id="577559"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60"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61"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62" name="Oval 2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63"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64"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65"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66" name="Oval 3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67"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568"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569"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7570" name="Text Box 34"/>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7571" name="Group 35"/>
          <p:cNvGrpSpPr>
            <a:grpSpLocks/>
          </p:cNvGrpSpPr>
          <p:nvPr/>
        </p:nvGrpSpPr>
        <p:grpSpPr bwMode="auto">
          <a:xfrm>
            <a:off x="4531651" y="632386"/>
            <a:ext cx="1277805" cy="858837"/>
            <a:chOff x="4830" y="1752"/>
            <a:chExt cx="667" cy="477"/>
          </a:xfrm>
        </p:grpSpPr>
        <p:grpSp>
          <p:nvGrpSpPr>
            <p:cNvPr id="577572" name="Group 36"/>
            <p:cNvGrpSpPr>
              <a:grpSpLocks/>
            </p:cNvGrpSpPr>
            <p:nvPr/>
          </p:nvGrpSpPr>
          <p:grpSpPr bwMode="auto">
            <a:xfrm>
              <a:off x="4830" y="1752"/>
              <a:ext cx="667" cy="477"/>
              <a:chOff x="2949" y="196"/>
              <a:chExt cx="941" cy="598"/>
            </a:xfrm>
          </p:grpSpPr>
          <p:sp>
            <p:nvSpPr>
              <p:cNvPr id="577573"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74"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75"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76" name="Oval 4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77"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78"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79"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80" name="Oval 4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81"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582"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583"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7584" name="Text Box 4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grpSp>
        <p:nvGrpSpPr>
          <p:cNvPr id="577585" name="Group 49"/>
          <p:cNvGrpSpPr>
            <a:grpSpLocks/>
          </p:cNvGrpSpPr>
          <p:nvPr/>
        </p:nvGrpSpPr>
        <p:grpSpPr bwMode="auto">
          <a:xfrm>
            <a:off x="612246" y="1916832"/>
            <a:ext cx="9022027" cy="1522412"/>
            <a:chOff x="356" y="1253"/>
            <a:chExt cx="5246" cy="959"/>
          </a:xfrm>
        </p:grpSpPr>
        <p:sp>
          <p:nvSpPr>
            <p:cNvPr id="577586" name="Line 50"/>
            <p:cNvSpPr>
              <a:spLocks noChangeShapeType="1"/>
            </p:cNvSpPr>
            <p:nvPr/>
          </p:nvSpPr>
          <p:spPr bwMode="auto">
            <a:xfrm>
              <a:off x="1038" y="1581"/>
              <a:ext cx="407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7587"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7588" name="Text Box 52"/>
            <p:cNvSpPr txBox="1">
              <a:spLocks noChangeArrowheads="1"/>
            </p:cNvSpPr>
            <p:nvPr/>
          </p:nvSpPr>
          <p:spPr bwMode="auto">
            <a:xfrm>
              <a:off x="4038" y="1640"/>
              <a:ext cx="27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7589" name="Text Box 53"/>
            <p:cNvSpPr txBox="1">
              <a:spLocks noChangeArrowheads="1"/>
            </p:cNvSpPr>
            <p:nvPr/>
          </p:nvSpPr>
          <p:spPr bwMode="auto">
            <a:xfrm>
              <a:off x="1772" y="1640"/>
              <a:ext cx="27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7590"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7591" name="Group 55"/>
            <p:cNvGrpSpPr>
              <a:grpSpLocks/>
            </p:cNvGrpSpPr>
            <p:nvPr/>
          </p:nvGrpSpPr>
          <p:grpSpPr bwMode="auto">
            <a:xfrm>
              <a:off x="447" y="1309"/>
              <a:ext cx="743" cy="541"/>
              <a:chOff x="4830" y="1752"/>
              <a:chExt cx="667" cy="477"/>
            </a:xfrm>
          </p:grpSpPr>
          <p:grpSp>
            <p:nvGrpSpPr>
              <p:cNvPr id="577592" name="Group 56"/>
              <p:cNvGrpSpPr>
                <a:grpSpLocks/>
              </p:cNvGrpSpPr>
              <p:nvPr/>
            </p:nvGrpSpPr>
            <p:grpSpPr bwMode="auto">
              <a:xfrm>
                <a:off x="4830" y="1752"/>
                <a:ext cx="667" cy="477"/>
                <a:chOff x="2949" y="196"/>
                <a:chExt cx="941" cy="598"/>
              </a:xfrm>
            </p:grpSpPr>
            <p:sp>
              <p:nvSpPr>
                <p:cNvPr id="577593"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94"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95"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96" name="Oval 6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97"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98"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599"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00" name="Oval 6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01"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602"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603"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7604" name="Text Box 6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7605" name="Group 69"/>
            <p:cNvGrpSpPr>
              <a:grpSpLocks/>
            </p:cNvGrpSpPr>
            <p:nvPr/>
          </p:nvGrpSpPr>
          <p:grpSpPr bwMode="auto">
            <a:xfrm>
              <a:off x="4859" y="1309"/>
              <a:ext cx="743" cy="541"/>
              <a:chOff x="4830" y="1752"/>
              <a:chExt cx="667" cy="477"/>
            </a:xfrm>
          </p:grpSpPr>
          <p:grpSp>
            <p:nvGrpSpPr>
              <p:cNvPr id="577606" name="Group 70"/>
              <p:cNvGrpSpPr>
                <a:grpSpLocks/>
              </p:cNvGrpSpPr>
              <p:nvPr/>
            </p:nvGrpSpPr>
            <p:grpSpPr bwMode="auto">
              <a:xfrm>
                <a:off x="4830" y="1752"/>
                <a:ext cx="667" cy="477"/>
                <a:chOff x="2949" y="196"/>
                <a:chExt cx="941" cy="598"/>
              </a:xfrm>
            </p:grpSpPr>
            <p:sp>
              <p:nvSpPr>
                <p:cNvPr id="577607"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08"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09"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10" name="Oval 74"/>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11"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12"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13"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14" name="Oval 78"/>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15" name="Freeform 7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616" name="Freeform 8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617" name="Freeform 8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7618" name="Text Box 82"/>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7619" name="Group 83"/>
            <p:cNvGrpSpPr>
              <a:grpSpLocks/>
            </p:cNvGrpSpPr>
            <p:nvPr/>
          </p:nvGrpSpPr>
          <p:grpSpPr bwMode="auto">
            <a:xfrm>
              <a:off x="2635" y="1309"/>
              <a:ext cx="743" cy="541"/>
              <a:chOff x="4830" y="1752"/>
              <a:chExt cx="667" cy="477"/>
            </a:xfrm>
          </p:grpSpPr>
          <p:grpSp>
            <p:nvGrpSpPr>
              <p:cNvPr id="577620" name="Group 84"/>
              <p:cNvGrpSpPr>
                <a:grpSpLocks/>
              </p:cNvGrpSpPr>
              <p:nvPr/>
            </p:nvGrpSpPr>
            <p:grpSpPr bwMode="auto">
              <a:xfrm>
                <a:off x="4830" y="1752"/>
                <a:ext cx="667" cy="477"/>
                <a:chOff x="2949" y="196"/>
                <a:chExt cx="941" cy="598"/>
              </a:xfrm>
            </p:grpSpPr>
            <p:sp>
              <p:nvSpPr>
                <p:cNvPr id="577621"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22"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23"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24" name="Oval 88"/>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25"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26"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27"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28" name="Oval 92"/>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29" name="Freeform 9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630" name="Freeform 9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631" name="Freeform 9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7632" name="Text Box 96"/>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grpSp>
          <p:nvGrpSpPr>
            <p:cNvPr id="577633" name="Group 97"/>
            <p:cNvGrpSpPr>
              <a:grpSpLocks/>
            </p:cNvGrpSpPr>
            <p:nvPr/>
          </p:nvGrpSpPr>
          <p:grpSpPr bwMode="auto">
            <a:xfrm>
              <a:off x="434" y="1253"/>
              <a:ext cx="755" cy="612"/>
              <a:chOff x="434" y="1298"/>
              <a:chExt cx="755" cy="612"/>
            </a:xfrm>
          </p:grpSpPr>
          <p:sp>
            <p:nvSpPr>
              <p:cNvPr id="577634" name="Line 98"/>
              <p:cNvSpPr>
                <a:spLocks noChangeShapeType="1"/>
              </p:cNvSpPr>
              <p:nvPr/>
            </p:nvSpPr>
            <p:spPr bwMode="auto">
              <a:xfrm>
                <a:off x="434" y="1298"/>
                <a:ext cx="755" cy="61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7635" name="Line 99"/>
              <p:cNvSpPr>
                <a:spLocks noChangeShapeType="1"/>
              </p:cNvSpPr>
              <p:nvPr/>
            </p:nvSpPr>
            <p:spPr bwMode="auto">
              <a:xfrm flipH="1">
                <a:off x="434" y="1298"/>
                <a:ext cx="755" cy="61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7636" name="Text Box 100"/>
            <p:cNvSpPr txBox="1">
              <a:spLocks noChangeArrowheads="1"/>
            </p:cNvSpPr>
            <p:nvPr/>
          </p:nvSpPr>
          <p:spPr bwMode="auto">
            <a:xfrm>
              <a:off x="356" y="1979"/>
              <a:ext cx="9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2000" b="1">
                  <a:solidFill>
                    <a:srgbClr val="0000CC"/>
                  </a:solidFill>
                  <a:latin typeface="+mn-lt"/>
                  <a:ea typeface="黑体" pitchFamily="2" charset="-122"/>
                </a:rPr>
                <a:t>网</a:t>
              </a:r>
              <a:r>
                <a:rPr kumimoji="1" lang="zh-CN" altLang="en-US" sz="10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1</a:t>
              </a:r>
              <a:r>
                <a:rPr kumimoji="1" lang="zh-CN" altLang="en-US" sz="2000" b="1">
                  <a:solidFill>
                    <a:srgbClr val="0000CC"/>
                  </a:solidFill>
                  <a:latin typeface="+mn-lt"/>
                  <a:ea typeface="黑体" pitchFamily="2" charset="-122"/>
                </a:rPr>
                <a:t>出了故障</a:t>
              </a:r>
            </a:p>
          </p:txBody>
        </p:sp>
      </p:grpSp>
      <p:sp>
        <p:nvSpPr>
          <p:cNvPr id="577637" name="Text Box 101"/>
          <p:cNvSpPr txBox="1">
            <a:spLocks noChangeArrowheads="1"/>
          </p:cNvSpPr>
          <p:nvPr/>
        </p:nvSpPr>
        <p:spPr bwMode="auto">
          <a:xfrm>
            <a:off x="266568" y="305361"/>
            <a:ext cx="44114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正</a:t>
            </a:r>
          </a:p>
          <a:p>
            <a:r>
              <a:rPr kumimoji="1" lang="zh-CN" altLang="en-US" sz="2000" b="1">
                <a:solidFill>
                  <a:srgbClr val="0000CC"/>
                </a:solidFill>
                <a:latin typeface="+mn-lt"/>
                <a:ea typeface="黑体" pitchFamily="2" charset="-122"/>
              </a:rPr>
              <a:t>常</a:t>
            </a:r>
          </a:p>
          <a:p>
            <a:r>
              <a:rPr kumimoji="1" lang="zh-CN" altLang="en-US" sz="2000" b="1">
                <a:solidFill>
                  <a:srgbClr val="0000CC"/>
                </a:solidFill>
                <a:latin typeface="+mn-lt"/>
                <a:ea typeface="黑体" pitchFamily="2" charset="-122"/>
              </a:rPr>
              <a:t>情</a:t>
            </a:r>
          </a:p>
          <a:p>
            <a:r>
              <a:rPr kumimoji="1" lang="zh-CN" altLang="en-US" sz="2000" b="1">
                <a:solidFill>
                  <a:srgbClr val="0000CC"/>
                </a:solidFill>
                <a:latin typeface="+mn-lt"/>
                <a:ea typeface="黑体" pitchFamily="2" charset="-122"/>
              </a:rPr>
              <a:t>况</a:t>
            </a:r>
          </a:p>
        </p:txBody>
      </p:sp>
      <p:grpSp>
        <p:nvGrpSpPr>
          <p:cNvPr id="577638" name="Group 102"/>
          <p:cNvGrpSpPr>
            <a:grpSpLocks/>
          </p:cNvGrpSpPr>
          <p:nvPr/>
        </p:nvGrpSpPr>
        <p:grpSpPr bwMode="auto">
          <a:xfrm>
            <a:off x="2436946" y="499036"/>
            <a:ext cx="1594246" cy="312737"/>
            <a:chOff x="1491" y="212"/>
            <a:chExt cx="853" cy="240"/>
          </a:xfrm>
        </p:grpSpPr>
        <p:sp>
          <p:nvSpPr>
            <p:cNvPr id="577639" name="AutoShape 103"/>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40"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7641" name="Text Box 105"/>
          <p:cNvSpPr txBox="1">
            <a:spLocks noChangeArrowheads="1"/>
          </p:cNvSpPr>
          <p:nvPr/>
        </p:nvSpPr>
        <p:spPr bwMode="auto">
          <a:xfrm>
            <a:off x="2457583" y="573648"/>
            <a:ext cx="89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grpSp>
        <p:nvGrpSpPr>
          <p:cNvPr id="577642" name="Group 106"/>
          <p:cNvGrpSpPr>
            <a:grpSpLocks/>
          </p:cNvGrpSpPr>
          <p:nvPr/>
        </p:nvGrpSpPr>
        <p:grpSpPr bwMode="auto">
          <a:xfrm>
            <a:off x="2693194" y="3140793"/>
            <a:ext cx="1633802" cy="312738"/>
            <a:chOff x="1566" y="2024"/>
            <a:chExt cx="950" cy="197"/>
          </a:xfrm>
        </p:grpSpPr>
        <p:grpSp>
          <p:nvGrpSpPr>
            <p:cNvPr id="577643" name="Group 107"/>
            <p:cNvGrpSpPr>
              <a:grpSpLocks/>
            </p:cNvGrpSpPr>
            <p:nvPr/>
          </p:nvGrpSpPr>
          <p:grpSpPr bwMode="auto">
            <a:xfrm>
              <a:off x="1589" y="2024"/>
              <a:ext cx="927" cy="197"/>
              <a:chOff x="1491" y="212"/>
              <a:chExt cx="853" cy="240"/>
            </a:xfrm>
          </p:grpSpPr>
          <p:sp>
            <p:nvSpPr>
              <p:cNvPr id="577644" name="AutoShape 108"/>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45"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7646" name="Text Box 110"/>
            <p:cNvSpPr txBox="1">
              <a:spLocks noChangeArrowheads="1"/>
            </p:cNvSpPr>
            <p:nvPr/>
          </p:nvSpPr>
          <p:spPr bwMode="auto">
            <a:xfrm>
              <a:off x="1566" y="2066"/>
              <a:ext cx="602"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1  16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grpSp>
      <p:grpSp>
        <p:nvGrpSpPr>
          <p:cNvPr id="577647" name="Group 111"/>
          <p:cNvGrpSpPr>
            <a:grpSpLocks/>
          </p:cNvGrpSpPr>
          <p:nvPr/>
        </p:nvGrpSpPr>
        <p:grpSpPr bwMode="auto">
          <a:xfrm flipH="1">
            <a:off x="6045068" y="521261"/>
            <a:ext cx="1594246" cy="312737"/>
            <a:chOff x="1491" y="212"/>
            <a:chExt cx="853" cy="240"/>
          </a:xfrm>
          <a:solidFill>
            <a:srgbClr val="66FF66"/>
          </a:solidFill>
        </p:grpSpPr>
        <p:sp>
          <p:nvSpPr>
            <p:cNvPr id="577648"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49" name="Rectangle 113"/>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7650" name="Text Box 114"/>
          <p:cNvSpPr txBox="1">
            <a:spLocks noChangeArrowheads="1"/>
          </p:cNvSpPr>
          <p:nvPr/>
        </p:nvSpPr>
        <p:spPr bwMode="auto">
          <a:xfrm>
            <a:off x="6468137" y="616511"/>
            <a:ext cx="1032655" cy="246221"/>
          </a:xfrm>
          <a:prstGeom prst="rect">
            <a:avLst/>
          </a:prstGeom>
          <a:noFill/>
          <a:ln>
            <a:noFill/>
          </a:ln>
          <a:effectLst/>
        </p:spPr>
        <p:txBody>
          <a:bodyPr wrap="none">
            <a:spAutoFit/>
          </a:bodyPr>
          <a:lstStyle/>
          <a:p>
            <a:pPr>
              <a:lnSpc>
                <a:spcPct val="50000"/>
              </a:lnSpc>
            </a:pPr>
            <a:r>
              <a:rPr kumimoji="1" lang="en-US" altLang="zh-CN" sz="2000" b="1" dirty="0">
                <a:solidFill>
                  <a:srgbClr val="0000CC"/>
                </a:solidFill>
                <a:latin typeface="+mn-lt"/>
                <a:ea typeface="黑体" pitchFamily="2" charset="-122"/>
              </a:rPr>
              <a:t>1  2  </a:t>
            </a:r>
            <a:r>
              <a:rPr kumimoji="1" lang="en-US" altLang="zh-CN" sz="2000" b="1" dirty="0">
                <a:solidFill>
                  <a:srgbClr val="0000CC"/>
                </a:solidFill>
                <a:latin typeface="+mn-lt"/>
                <a:ea typeface="黑体" pitchFamily="2" charset="-122"/>
                <a:sym typeface="Symbol" pitchFamily="18" charset="2"/>
              </a:rPr>
              <a:t>R</a:t>
            </a:r>
            <a:r>
              <a:rPr kumimoji="1" lang="en-US" altLang="zh-CN" sz="2000" b="1" baseline="-25000" dirty="0">
                <a:solidFill>
                  <a:srgbClr val="0000CC"/>
                </a:solidFill>
                <a:latin typeface="+mn-lt"/>
                <a:ea typeface="黑体" pitchFamily="2" charset="-122"/>
                <a:sym typeface="Symbol" pitchFamily="18" charset="2"/>
              </a:rPr>
              <a:t>1</a:t>
            </a:r>
          </a:p>
        </p:txBody>
      </p:sp>
      <p:grpSp>
        <p:nvGrpSpPr>
          <p:cNvPr id="577651" name="Group 115"/>
          <p:cNvGrpSpPr>
            <a:grpSpLocks/>
          </p:cNvGrpSpPr>
          <p:nvPr/>
        </p:nvGrpSpPr>
        <p:grpSpPr bwMode="auto">
          <a:xfrm>
            <a:off x="6045068" y="3088412"/>
            <a:ext cx="1594246" cy="341313"/>
            <a:chOff x="3515" y="1991"/>
            <a:chExt cx="927" cy="215"/>
          </a:xfrm>
          <a:solidFill>
            <a:srgbClr val="66FF66"/>
          </a:solidFill>
        </p:grpSpPr>
        <p:grpSp>
          <p:nvGrpSpPr>
            <p:cNvPr id="577652" name="Group 116"/>
            <p:cNvGrpSpPr>
              <a:grpSpLocks/>
            </p:cNvGrpSpPr>
            <p:nvPr/>
          </p:nvGrpSpPr>
          <p:grpSpPr bwMode="auto">
            <a:xfrm flipH="1">
              <a:off x="3515" y="1991"/>
              <a:ext cx="927" cy="197"/>
              <a:chOff x="1491" y="212"/>
              <a:chExt cx="853" cy="240"/>
            </a:xfrm>
            <a:grpFill/>
          </p:grpSpPr>
          <p:sp>
            <p:nvSpPr>
              <p:cNvPr id="577653"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54"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7655" name="Text Box 119"/>
            <p:cNvSpPr txBox="1">
              <a:spLocks noChangeArrowheads="1"/>
            </p:cNvSpPr>
            <p:nvPr/>
          </p:nvSpPr>
          <p:spPr bwMode="auto">
            <a:xfrm>
              <a:off x="3761" y="2051"/>
              <a:ext cx="600"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dirty="0">
                  <a:solidFill>
                    <a:srgbClr val="0000CC"/>
                  </a:solidFill>
                  <a:latin typeface="+mn-lt"/>
                  <a:ea typeface="黑体" pitchFamily="2" charset="-122"/>
                </a:rPr>
                <a:t>1  2  </a:t>
              </a:r>
              <a:r>
                <a:rPr kumimoji="1" lang="en-US" altLang="zh-CN" sz="2000" b="1" dirty="0">
                  <a:solidFill>
                    <a:srgbClr val="0000CC"/>
                  </a:solidFill>
                  <a:latin typeface="+mn-lt"/>
                  <a:ea typeface="黑体" pitchFamily="2" charset="-122"/>
                  <a:sym typeface="Symbol" pitchFamily="18" charset="2"/>
                </a:rPr>
                <a:t>R</a:t>
              </a:r>
              <a:r>
                <a:rPr kumimoji="1" lang="en-US" altLang="zh-CN" sz="2000" b="1" baseline="-25000" dirty="0">
                  <a:solidFill>
                    <a:srgbClr val="0000CC"/>
                  </a:solidFill>
                  <a:latin typeface="+mn-lt"/>
                  <a:ea typeface="黑体" pitchFamily="2" charset="-122"/>
                  <a:sym typeface="Symbol" pitchFamily="18" charset="2"/>
                </a:rPr>
                <a:t>1</a:t>
              </a:r>
            </a:p>
          </p:txBody>
        </p:sp>
      </p:grpSp>
      <p:sp>
        <p:nvSpPr>
          <p:cNvPr id="577656" name="Text Box 120"/>
          <p:cNvSpPr txBox="1">
            <a:spLocks noChangeArrowheads="1"/>
          </p:cNvSpPr>
          <p:nvPr/>
        </p:nvSpPr>
        <p:spPr bwMode="auto">
          <a:xfrm>
            <a:off x="758345" y="4149080"/>
            <a:ext cx="6418346" cy="1569660"/>
          </a:xfrm>
          <a:prstGeom prst="rect">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1 </a:t>
            </a:r>
            <a:r>
              <a:rPr kumimoji="1" lang="zh-CN" altLang="en-US" sz="2400" b="1" dirty="0">
                <a:solidFill>
                  <a:srgbClr val="0000CC"/>
                </a:solidFill>
                <a:latin typeface="+mn-lt"/>
                <a:ea typeface="黑体" pitchFamily="2" charset="-122"/>
              </a:rPr>
              <a:t>收到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2 </a:t>
            </a:r>
            <a:r>
              <a:rPr kumimoji="1" lang="zh-CN" altLang="en-US" sz="2400" b="1" dirty="0">
                <a:solidFill>
                  <a:srgbClr val="0000CC"/>
                </a:solidFill>
                <a:latin typeface="+mn-lt"/>
                <a:ea typeface="黑体" pitchFamily="2" charset="-122"/>
              </a:rPr>
              <a:t>的更新报文后，误认为可经过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2</a:t>
            </a:r>
            <a:r>
              <a:rPr kumimoji="1" lang="en-US" altLang="zh-CN" sz="2400" b="1" dirty="0">
                <a:solidFill>
                  <a:srgbClr val="0000CC"/>
                </a:solidFill>
                <a:latin typeface="+mn-lt"/>
                <a:ea typeface="黑体" pitchFamily="2" charset="-122"/>
              </a:rPr>
              <a:t> </a:t>
            </a:r>
            <a:r>
              <a:rPr kumimoji="1" lang="zh-CN" altLang="en-US" sz="2400" b="1" dirty="0">
                <a:solidFill>
                  <a:srgbClr val="0000CC"/>
                </a:solidFill>
                <a:latin typeface="+mn-lt"/>
                <a:ea typeface="黑体" pitchFamily="2" charset="-122"/>
              </a:rPr>
              <a:t>到达网 </a:t>
            </a:r>
            <a:r>
              <a:rPr kumimoji="1" lang="en-US" altLang="zh-CN" sz="2400" b="1" dirty="0">
                <a:solidFill>
                  <a:srgbClr val="0000CC"/>
                </a:solidFill>
                <a:latin typeface="+mn-lt"/>
                <a:ea typeface="黑体" pitchFamily="2" charset="-122"/>
              </a:rPr>
              <a:t>1</a:t>
            </a:r>
            <a:r>
              <a:rPr kumimoji="1" lang="zh-CN" altLang="en-US" sz="2400" b="1" dirty="0">
                <a:solidFill>
                  <a:srgbClr val="0000CC"/>
                </a:solidFill>
                <a:latin typeface="+mn-lt"/>
                <a:ea typeface="黑体" pitchFamily="2" charset="-122"/>
              </a:rPr>
              <a:t>，于是更新自己的路由表，说：“我到网 </a:t>
            </a:r>
            <a:r>
              <a:rPr kumimoji="1" lang="en-US" altLang="zh-CN" sz="2400" b="1" dirty="0">
                <a:solidFill>
                  <a:srgbClr val="0000CC"/>
                </a:solidFill>
                <a:latin typeface="+mn-lt"/>
                <a:ea typeface="黑体" pitchFamily="2" charset="-122"/>
              </a:rPr>
              <a:t>1 </a:t>
            </a:r>
            <a:r>
              <a:rPr kumimoji="1" lang="zh-CN" altLang="en-US" sz="2400" b="1" dirty="0">
                <a:solidFill>
                  <a:srgbClr val="0000CC"/>
                </a:solidFill>
                <a:latin typeface="+mn-lt"/>
                <a:ea typeface="黑体" pitchFamily="2" charset="-122"/>
              </a:rPr>
              <a:t>的距离是 </a:t>
            </a:r>
            <a:r>
              <a:rPr kumimoji="1" lang="en-US" altLang="zh-CN" sz="2400" b="1" dirty="0">
                <a:solidFill>
                  <a:srgbClr val="0000CC"/>
                </a:solidFill>
                <a:latin typeface="+mn-lt"/>
                <a:ea typeface="黑体" pitchFamily="2" charset="-122"/>
              </a:rPr>
              <a:t>3</a:t>
            </a:r>
            <a:r>
              <a:rPr kumimoji="1" lang="zh-CN" altLang="en-US" sz="2400" b="1" dirty="0">
                <a:solidFill>
                  <a:srgbClr val="0000CC"/>
                </a:solidFill>
                <a:latin typeface="+mn-lt"/>
                <a:ea typeface="黑体" pitchFamily="2" charset="-122"/>
              </a:rPr>
              <a:t>，下一跳经过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2</a:t>
            </a:r>
            <a:r>
              <a:rPr kumimoji="1" lang="en-US" altLang="zh-CN" sz="2400" b="1" dirty="0">
                <a:solidFill>
                  <a:srgbClr val="0000CC"/>
                </a:solidFill>
                <a:latin typeface="+mn-lt"/>
                <a:ea typeface="黑体" pitchFamily="2" charset="-122"/>
              </a:rPr>
              <a:t>”</a:t>
            </a:r>
            <a:r>
              <a:rPr kumimoji="1" lang="zh-CN" altLang="en-US" sz="2400" b="1" dirty="0">
                <a:solidFill>
                  <a:srgbClr val="0000CC"/>
                </a:solidFill>
                <a:latin typeface="+mn-lt"/>
                <a:ea typeface="黑体" pitchFamily="2" charset="-122"/>
              </a:rPr>
              <a:t>。然后将此更新信息发送给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2</a:t>
            </a:r>
            <a:r>
              <a:rPr kumimoji="1" lang="zh-CN" altLang="en-US" sz="2400" b="1" dirty="0">
                <a:solidFill>
                  <a:srgbClr val="0000CC"/>
                </a:solidFill>
                <a:latin typeface="+mn-lt"/>
                <a:ea typeface="黑体" pitchFamily="2" charset="-122"/>
              </a:rPr>
              <a:t>。</a:t>
            </a:r>
          </a:p>
        </p:txBody>
      </p:sp>
      <p:grpSp>
        <p:nvGrpSpPr>
          <p:cNvPr id="577657" name="Group 121"/>
          <p:cNvGrpSpPr>
            <a:grpSpLocks/>
          </p:cNvGrpSpPr>
          <p:nvPr/>
        </p:nvGrpSpPr>
        <p:grpSpPr bwMode="auto">
          <a:xfrm>
            <a:off x="2691475" y="3644032"/>
            <a:ext cx="1635521" cy="312737"/>
            <a:chOff x="1565" y="2478"/>
            <a:chExt cx="951" cy="197"/>
          </a:xfrm>
        </p:grpSpPr>
        <p:grpSp>
          <p:nvGrpSpPr>
            <p:cNvPr id="577658" name="Group 122"/>
            <p:cNvGrpSpPr>
              <a:grpSpLocks/>
            </p:cNvGrpSpPr>
            <p:nvPr/>
          </p:nvGrpSpPr>
          <p:grpSpPr bwMode="auto">
            <a:xfrm>
              <a:off x="1589" y="2478"/>
              <a:ext cx="927" cy="197"/>
              <a:chOff x="1491" y="212"/>
              <a:chExt cx="853" cy="240"/>
            </a:xfrm>
          </p:grpSpPr>
          <p:sp>
            <p:nvSpPr>
              <p:cNvPr id="577659" name="AutoShape 123"/>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7660" name="Rectangle 12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7661" name="Text Box 125"/>
            <p:cNvSpPr txBox="1">
              <a:spLocks noChangeArrowheads="1"/>
            </p:cNvSpPr>
            <p:nvPr/>
          </p:nvSpPr>
          <p:spPr bwMode="auto">
            <a:xfrm>
              <a:off x="1565" y="2518"/>
              <a:ext cx="600"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1  3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2</a:t>
              </a:r>
            </a:p>
          </p:txBody>
        </p:sp>
      </p:grpSp>
    </p:spTree>
    <p:extLst>
      <p:ext uri="{BB962C8B-B14F-4D97-AF65-F5344CB8AC3E}">
        <p14:creationId xmlns:p14="http://schemas.microsoft.com/office/powerpoint/2010/main" val="18544705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765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577657"/>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3000" fill="hold" nodeType="afterEffect">
                                  <p:stCondLst>
                                    <p:cond delay="0"/>
                                  </p:stCondLst>
                                  <p:childTnLst>
                                    <p:anim calcmode="discrete" valueType="str">
                                      <p:cBhvr>
                                        <p:cTn id="12" dur="1000" fill="hold"/>
                                        <p:tgtEl>
                                          <p:spTgt spid="5776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65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Line 2"/>
          <p:cNvSpPr>
            <a:spLocks noChangeShapeType="1"/>
          </p:cNvSpPr>
          <p:nvPr/>
        </p:nvSpPr>
        <p:spPr bwMode="auto">
          <a:xfrm>
            <a:off x="1785144" y="1064185"/>
            <a:ext cx="70115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8563"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580" y="908611"/>
            <a:ext cx="78938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8564" name="Text Box 4"/>
          <p:cNvSpPr txBox="1">
            <a:spLocks noChangeArrowheads="1"/>
          </p:cNvSpPr>
          <p:nvPr/>
        </p:nvSpPr>
        <p:spPr bwMode="auto">
          <a:xfrm>
            <a:off x="6944519"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8565" name="Text Box 5"/>
          <p:cNvSpPr txBox="1">
            <a:spLocks noChangeArrowheads="1"/>
          </p:cNvSpPr>
          <p:nvPr/>
        </p:nvSpPr>
        <p:spPr bwMode="auto">
          <a:xfrm>
            <a:off x="3047471"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8566"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908" y="908611"/>
            <a:ext cx="791104"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8567" name="Group 7"/>
          <p:cNvGrpSpPr>
            <a:grpSpLocks/>
          </p:cNvGrpSpPr>
          <p:nvPr/>
        </p:nvGrpSpPr>
        <p:grpSpPr bwMode="auto">
          <a:xfrm>
            <a:off x="768747" y="632386"/>
            <a:ext cx="1277805" cy="858837"/>
            <a:chOff x="4830" y="1752"/>
            <a:chExt cx="667" cy="477"/>
          </a:xfrm>
        </p:grpSpPr>
        <p:grpSp>
          <p:nvGrpSpPr>
            <p:cNvPr id="578568" name="Group 8"/>
            <p:cNvGrpSpPr>
              <a:grpSpLocks/>
            </p:cNvGrpSpPr>
            <p:nvPr/>
          </p:nvGrpSpPr>
          <p:grpSpPr bwMode="auto">
            <a:xfrm>
              <a:off x="4830" y="1752"/>
              <a:ext cx="667" cy="477"/>
              <a:chOff x="2949" y="196"/>
              <a:chExt cx="941" cy="598"/>
            </a:xfrm>
          </p:grpSpPr>
          <p:sp>
            <p:nvSpPr>
              <p:cNvPr id="578569"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70"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71"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72" name="Oval 1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73"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74"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75"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76" name="Oval 1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77"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578"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579"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8580" name="Text Box 20"/>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8581" name="Group 21"/>
          <p:cNvGrpSpPr>
            <a:grpSpLocks/>
          </p:cNvGrpSpPr>
          <p:nvPr/>
        </p:nvGrpSpPr>
        <p:grpSpPr bwMode="auto">
          <a:xfrm>
            <a:off x="8356468" y="632386"/>
            <a:ext cx="1277805" cy="858837"/>
            <a:chOff x="4830" y="1752"/>
            <a:chExt cx="667" cy="477"/>
          </a:xfrm>
        </p:grpSpPr>
        <p:grpSp>
          <p:nvGrpSpPr>
            <p:cNvPr id="578582" name="Group 22"/>
            <p:cNvGrpSpPr>
              <a:grpSpLocks/>
            </p:cNvGrpSpPr>
            <p:nvPr/>
          </p:nvGrpSpPr>
          <p:grpSpPr bwMode="auto">
            <a:xfrm>
              <a:off x="4830" y="1752"/>
              <a:ext cx="667" cy="477"/>
              <a:chOff x="2949" y="196"/>
              <a:chExt cx="941" cy="598"/>
            </a:xfrm>
          </p:grpSpPr>
          <p:sp>
            <p:nvSpPr>
              <p:cNvPr id="578583"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84"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85"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86" name="Oval 2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87"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88"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89"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90" name="Oval 3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91"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592"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593"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8594" name="Text Box 34"/>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8595" name="Group 35"/>
          <p:cNvGrpSpPr>
            <a:grpSpLocks/>
          </p:cNvGrpSpPr>
          <p:nvPr/>
        </p:nvGrpSpPr>
        <p:grpSpPr bwMode="auto">
          <a:xfrm>
            <a:off x="4531651" y="632386"/>
            <a:ext cx="1277805" cy="858837"/>
            <a:chOff x="4830" y="1752"/>
            <a:chExt cx="667" cy="477"/>
          </a:xfrm>
        </p:grpSpPr>
        <p:grpSp>
          <p:nvGrpSpPr>
            <p:cNvPr id="578596" name="Group 36"/>
            <p:cNvGrpSpPr>
              <a:grpSpLocks/>
            </p:cNvGrpSpPr>
            <p:nvPr/>
          </p:nvGrpSpPr>
          <p:grpSpPr bwMode="auto">
            <a:xfrm>
              <a:off x="4830" y="1752"/>
              <a:ext cx="667" cy="477"/>
              <a:chOff x="2949" y="196"/>
              <a:chExt cx="941" cy="598"/>
            </a:xfrm>
          </p:grpSpPr>
          <p:sp>
            <p:nvSpPr>
              <p:cNvPr id="578597"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98"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599"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00" name="Oval 4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01"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02"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03"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04" name="Oval 4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05"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06"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07"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8608" name="Text Box 4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grpSp>
        <p:nvGrpSpPr>
          <p:cNvPr id="578609" name="Group 49"/>
          <p:cNvGrpSpPr>
            <a:grpSpLocks/>
          </p:cNvGrpSpPr>
          <p:nvPr/>
        </p:nvGrpSpPr>
        <p:grpSpPr bwMode="auto">
          <a:xfrm>
            <a:off x="612246" y="1916832"/>
            <a:ext cx="9022027" cy="1522412"/>
            <a:chOff x="356" y="1253"/>
            <a:chExt cx="5246" cy="959"/>
          </a:xfrm>
        </p:grpSpPr>
        <p:sp>
          <p:nvSpPr>
            <p:cNvPr id="578610" name="Line 50"/>
            <p:cNvSpPr>
              <a:spLocks noChangeShapeType="1"/>
            </p:cNvSpPr>
            <p:nvPr/>
          </p:nvSpPr>
          <p:spPr bwMode="auto">
            <a:xfrm>
              <a:off x="1038" y="1581"/>
              <a:ext cx="407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8611"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6" y="1484"/>
              <a:ext cx="45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8612" name="Text Box 52"/>
            <p:cNvSpPr txBox="1">
              <a:spLocks noChangeArrowheads="1"/>
            </p:cNvSpPr>
            <p:nvPr/>
          </p:nvSpPr>
          <p:spPr bwMode="auto">
            <a:xfrm>
              <a:off x="4038" y="1640"/>
              <a:ext cx="27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8613" name="Text Box 53"/>
            <p:cNvSpPr txBox="1">
              <a:spLocks noChangeArrowheads="1"/>
            </p:cNvSpPr>
            <p:nvPr/>
          </p:nvSpPr>
          <p:spPr bwMode="auto">
            <a:xfrm>
              <a:off x="1772" y="1640"/>
              <a:ext cx="27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8614" name="Picture 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1" y="1484"/>
              <a:ext cx="46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8615" name="Group 55"/>
            <p:cNvGrpSpPr>
              <a:grpSpLocks/>
            </p:cNvGrpSpPr>
            <p:nvPr/>
          </p:nvGrpSpPr>
          <p:grpSpPr bwMode="auto">
            <a:xfrm>
              <a:off x="447" y="1309"/>
              <a:ext cx="743" cy="541"/>
              <a:chOff x="4830" y="1752"/>
              <a:chExt cx="667" cy="477"/>
            </a:xfrm>
          </p:grpSpPr>
          <p:grpSp>
            <p:nvGrpSpPr>
              <p:cNvPr id="578616" name="Group 56"/>
              <p:cNvGrpSpPr>
                <a:grpSpLocks/>
              </p:cNvGrpSpPr>
              <p:nvPr/>
            </p:nvGrpSpPr>
            <p:grpSpPr bwMode="auto">
              <a:xfrm>
                <a:off x="4830" y="1752"/>
                <a:ext cx="667" cy="477"/>
                <a:chOff x="2949" y="196"/>
                <a:chExt cx="941" cy="598"/>
              </a:xfrm>
            </p:grpSpPr>
            <p:sp>
              <p:nvSpPr>
                <p:cNvPr id="578617" name="Oval 5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18" name="Oval 5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19" name="Oval 5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20" name="Oval 6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21" name="Oval 6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22" name="Oval 6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23" name="Oval 6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24" name="Oval 6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25"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26"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27"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8628" name="Text Box 6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8629" name="Group 69"/>
            <p:cNvGrpSpPr>
              <a:grpSpLocks/>
            </p:cNvGrpSpPr>
            <p:nvPr/>
          </p:nvGrpSpPr>
          <p:grpSpPr bwMode="auto">
            <a:xfrm>
              <a:off x="4859" y="1309"/>
              <a:ext cx="743" cy="541"/>
              <a:chOff x="4830" y="1752"/>
              <a:chExt cx="667" cy="477"/>
            </a:xfrm>
          </p:grpSpPr>
          <p:grpSp>
            <p:nvGrpSpPr>
              <p:cNvPr id="578630" name="Group 70"/>
              <p:cNvGrpSpPr>
                <a:grpSpLocks/>
              </p:cNvGrpSpPr>
              <p:nvPr/>
            </p:nvGrpSpPr>
            <p:grpSpPr bwMode="auto">
              <a:xfrm>
                <a:off x="4830" y="1752"/>
                <a:ext cx="667" cy="477"/>
                <a:chOff x="2949" y="196"/>
                <a:chExt cx="941" cy="598"/>
              </a:xfrm>
            </p:grpSpPr>
            <p:sp>
              <p:nvSpPr>
                <p:cNvPr id="578631" name="Oval 7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32" name="Oval 7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33" name="Oval 7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34" name="Oval 74"/>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35" name="Oval 7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36" name="Oval 7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37" name="Oval 7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38" name="Oval 78"/>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39" name="Freeform 7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40" name="Freeform 8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41" name="Freeform 8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8642" name="Text Box 82"/>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8643" name="Group 83"/>
            <p:cNvGrpSpPr>
              <a:grpSpLocks/>
            </p:cNvGrpSpPr>
            <p:nvPr/>
          </p:nvGrpSpPr>
          <p:grpSpPr bwMode="auto">
            <a:xfrm>
              <a:off x="2635" y="1309"/>
              <a:ext cx="743" cy="541"/>
              <a:chOff x="4830" y="1752"/>
              <a:chExt cx="667" cy="477"/>
            </a:xfrm>
          </p:grpSpPr>
          <p:grpSp>
            <p:nvGrpSpPr>
              <p:cNvPr id="578644" name="Group 84"/>
              <p:cNvGrpSpPr>
                <a:grpSpLocks/>
              </p:cNvGrpSpPr>
              <p:nvPr/>
            </p:nvGrpSpPr>
            <p:grpSpPr bwMode="auto">
              <a:xfrm>
                <a:off x="4830" y="1752"/>
                <a:ext cx="667" cy="477"/>
                <a:chOff x="2949" y="196"/>
                <a:chExt cx="941" cy="598"/>
              </a:xfrm>
            </p:grpSpPr>
            <p:sp>
              <p:nvSpPr>
                <p:cNvPr id="578645" name="Oval 8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46" name="Oval 8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47" name="Oval 8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48" name="Oval 88"/>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49" name="Oval 8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50" name="Oval 9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51" name="Oval 9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52" name="Oval 92"/>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53" name="Freeform 9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54" name="Freeform 9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55" name="Freeform 9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8656" name="Text Box 96"/>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grpSp>
          <p:nvGrpSpPr>
            <p:cNvPr id="578657" name="Group 97"/>
            <p:cNvGrpSpPr>
              <a:grpSpLocks/>
            </p:cNvGrpSpPr>
            <p:nvPr/>
          </p:nvGrpSpPr>
          <p:grpSpPr bwMode="auto">
            <a:xfrm>
              <a:off x="434" y="1253"/>
              <a:ext cx="755" cy="612"/>
              <a:chOff x="434" y="1298"/>
              <a:chExt cx="755" cy="612"/>
            </a:xfrm>
          </p:grpSpPr>
          <p:sp>
            <p:nvSpPr>
              <p:cNvPr id="578658" name="Line 98"/>
              <p:cNvSpPr>
                <a:spLocks noChangeShapeType="1"/>
              </p:cNvSpPr>
              <p:nvPr/>
            </p:nvSpPr>
            <p:spPr bwMode="auto">
              <a:xfrm>
                <a:off x="434" y="1298"/>
                <a:ext cx="755" cy="61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8659" name="Line 99"/>
              <p:cNvSpPr>
                <a:spLocks noChangeShapeType="1"/>
              </p:cNvSpPr>
              <p:nvPr/>
            </p:nvSpPr>
            <p:spPr bwMode="auto">
              <a:xfrm flipH="1">
                <a:off x="434" y="1298"/>
                <a:ext cx="755" cy="61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8660" name="Text Box 100"/>
            <p:cNvSpPr txBox="1">
              <a:spLocks noChangeArrowheads="1"/>
            </p:cNvSpPr>
            <p:nvPr/>
          </p:nvSpPr>
          <p:spPr bwMode="auto">
            <a:xfrm>
              <a:off x="356" y="1979"/>
              <a:ext cx="9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2000" b="1">
                  <a:solidFill>
                    <a:srgbClr val="0000CC"/>
                  </a:solidFill>
                  <a:latin typeface="+mn-lt"/>
                  <a:ea typeface="黑体" pitchFamily="2" charset="-122"/>
                </a:rPr>
                <a:t>网</a:t>
              </a:r>
              <a:r>
                <a:rPr kumimoji="1" lang="zh-CN" altLang="en-US" sz="10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1</a:t>
              </a:r>
              <a:r>
                <a:rPr kumimoji="1" lang="zh-CN" altLang="en-US" sz="2000" b="1">
                  <a:solidFill>
                    <a:srgbClr val="0000CC"/>
                  </a:solidFill>
                  <a:latin typeface="+mn-lt"/>
                  <a:ea typeface="黑体" pitchFamily="2" charset="-122"/>
                </a:rPr>
                <a:t>出了故障</a:t>
              </a:r>
            </a:p>
          </p:txBody>
        </p:sp>
      </p:grpSp>
      <p:sp>
        <p:nvSpPr>
          <p:cNvPr id="578661" name="Text Box 101"/>
          <p:cNvSpPr txBox="1">
            <a:spLocks noChangeArrowheads="1"/>
          </p:cNvSpPr>
          <p:nvPr/>
        </p:nvSpPr>
        <p:spPr bwMode="auto">
          <a:xfrm>
            <a:off x="266568" y="305361"/>
            <a:ext cx="44114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正</a:t>
            </a:r>
          </a:p>
          <a:p>
            <a:r>
              <a:rPr kumimoji="1" lang="zh-CN" altLang="en-US" sz="2000" b="1">
                <a:solidFill>
                  <a:srgbClr val="0000CC"/>
                </a:solidFill>
                <a:latin typeface="+mn-lt"/>
                <a:ea typeface="黑体" pitchFamily="2" charset="-122"/>
              </a:rPr>
              <a:t>常</a:t>
            </a:r>
          </a:p>
          <a:p>
            <a:r>
              <a:rPr kumimoji="1" lang="zh-CN" altLang="en-US" sz="2000" b="1">
                <a:solidFill>
                  <a:srgbClr val="0000CC"/>
                </a:solidFill>
                <a:latin typeface="+mn-lt"/>
                <a:ea typeface="黑体" pitchFamily="2" charset="-122"/>
              </a:rPr>
              <a:t>情</a:t>
            </a:r>
          </a:p>
          <a:p>
            <a:r>
              <a:rPr kumimoji="1" lang="zh-CN" altLang="en-US" sz="2000" b="1">
                <a:solidFill>
                  <a:srgbClr val="0000CC"/>
                </a:solidFill>
                <a:latin typeface="+mn-lt"/>
                <a:ea typeface="黑体" pitchFamily="2" charset="-122"/>
              </a:rPr>
              <a:t>况</a:t>
            </a:r>
          </a:p>
        </p:txBody>
      </p:sp>
      <p:grpSp>
        <p:nvGrpSpPr>
          <p:cNvPr id="578662" name="Group 102"/>
          <p:cNvGrpSpPr>
            <a:grpSpLocks/>
          </p:cNvGrpSpPr>
          <p:nvPr/>
        </p:nvGrpSpPr>
        <p:grpSpPr bwMode="auto">
          <a:xfrm>
            <a:off x="2436946" y="499036"/>
            <a:ext cx="1594246" cy="312737"/>
            <a:chOff x="1491" y="212"/>
            <a:chExt cx="853" cy="240"/>
          </a:xfrm>
        </p:grpSpPr>
        <p:sp>
          <p:nvSpPr>
            <p:cNvPr id="578663" name="AutoShape 103"/>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64" name="Rectangle 10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8665" name="Text Box 105"/>
          <p:cNvSpPr txBox="1">
            <a:spLocks noChangeArrowheads="1"/>
          </p:cNvSpPr>
          <p:nvPr/>
        </p:nvSpPr>
        <p:spPr bwMode="auto">
          <a:xfrm>
            <a:off x="2457583" y="573648"/>
            <a:ext cx="893193" cy="265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grpSp>
        <p:nvGrpSpPr>
          <p:cNvPr id="578666" name="Group 106"/>
          <p:cNvGrpSpPr>
            <a:grpSpLocks/>
          </p:cNvGrpSpPr>
          <p:nvPr/>
        </p:nvGrpSpPr>
        <p:grpSpPr bwMode="auto">
          <a:xfrm>
            <a:off x="2693194" y="3140793"/>
            <a:ext cx="1633802" cy="331788"/>
            <a:chOff x="1566" y="2024"/>
            <a:chExt cx="950" cy="209"/>
          </a:xfrm>
        </p:grpSpPr>
        <p:grpSp>
          <p:nvGrpSpPr>
            <p:cNvPr id="578667" name="Group 107"/>
            <p:cNvGrpSpPr>
              <a:grpSpLocks/>
            </p:cNvGrpSpPr>
            <p:nvPr/>
          </p:nvGrpSpPr>
          <p:grpSpPr bwMode="auto">
            <a:xfrm>
              <a:off x="1589" y="2024"/>
              <a:ext cx="927" cy="197"/>
              <a:chOff x="1491" y="212"/>
              <a:chExt cx="853" cy="240"/>
            </a:xfrm>
          </p:grpSpPr>
          <p:sp>
            <p:nvSpPr>
              <p:cNvPr id="578668" name="AutoShape 108"/>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69" name="Rectangle 109"/>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8670" name="Text Box 110"/>
            <p:cNvSpPr txBox="1">
              <a:spLocks noChangeArrowheads="1"/>
            </p:cNvSpPr>
            <p:nvPr/>
          </p:nvSpPr>
          <p:spPr bwMode="auto">
            <a:xfrm>
              <a:off x="1566" y="2066"/>
              <a:ext cx="602" cy="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1  16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grpSp>
      <p:grpSp>
        <p:nvGrpSpPr>
          <p:cNvPr id="578671" name="Group 111"/>
          <p:cNvGrpSpPr>
            <a:grpSpLocks/>
          </p:cNvGrpSpPr>
          <p:nvPr/>
        </p:nvGrpSpPr>
        <p:grpSpPr bwMode="auto">
          <a:xfrm flipH="1">
            <a:off x="6045068" y="521261"/>
            <a:ext cx="1594246" cy="312737"/>
            <a:chOff x="1491" y="212"/>
            <a:chExt cx="853" cy="240"/>
          </a:xfrm>
          <a:solidFill>
            <a:srgbClr val="66FF66"/>
          </a:solidFill>
        </p:grpSpPr>
        <p:sp>
          <p:nvSpPr>
            <p:cNvPr id="578672"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73" name="Rectangle 113"/>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8674" name="Text Box 114"/>
          <p:cNvSpPr txBox="1">
            <a:spLocks noChangeArrowheads="1"/>
          </p:cNvSpPr>
          <p:nvPr/>
        </p:nvSpPr>
        <p:spPr bwMode="auto">
          <a:xfrm>
            <a:off x="6468137" y="616511"/>
            <a:ext cx="1032655" cy="26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1  2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1</a:t>
            </a:r>
          </a:p>
        </p:txBody>
      </p:sp>
      <p:grpSp>
        <p:nvGrpSpPr>
          <p:cNvPr id="578675" name="Group 115"/>
          <p:cNvGrpSpPr>
            <a:grpSpLocks/>
          </p:cNvGrpSpPr>
          <p:nvPr/>
        </p:nvGrpSpPr>
        <p:grpSpPr bwMode="auto">
          <a:xfrm>
            <a:off x="6045068" y="3088416"/>
            <a:ext cx="1594246" cy="361951"/>
            <a:chOff x="3515" y="1991"/>
            <a:chExt cx="927" cy="228"/>
          </a:xfrm>
          <a:solidFill>
            <a:srgbClr val="66FF66"/>
          </a:solidFill>
        </p:grpSpPr>
        <p:grpSp>
          <p:nvGrpSpPr>
            <p:cNvPr id="578676" name="Group 116"/>
            <p:cNvGrpSpPr>
              <a:grpSpLocks/>
            </p:cNvGrpSpPr>
            <p:nvPr/>
          </p:nvGrpSpPr>
          <p:grpSpPr bwMode="auto">
            <a:xfrm flipH="1">
              <a:off x="3515" y="1991"/>
              <a:ext cx="927" cy="197"/>
              <a:chOff x="1491" y="212"/>
              <a:chExt cx="853" cy="240"/>
            </a:xfrm>
            <a:grpFill/>
          </p:grpSpPr>
          <p:sp>
            <p:nvSpPr>
              <p:cNvPr id="578677" name="AutoShape 117"/>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78" name="Rectangle 118"/>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8679" name="Text Box 119"/>
            <p:cNvSpPr txBox="1">
              <a:spLocks noChangeArrowheads="1"/>
            </p:cNvSpPr>
            <p:nvPr/>
          </p:nvSpPr>
          <p:spPr bwMode="auto">
            <a:xfrm>
              <a:off x="3761" y="2051"/>
              <a:ext cx="600" cy="168"/>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dirty="0">
                  <a:solidFill>
                    <a:srgbClr val="0000CC"/>
                  </a:solidFill>
                  <a:latin typeface="+mn-lt"/>
                  <a:ea typeface="黑体" pitchFamily="2" charset="-122"/>
                </a:rPr>
                <a:t>1  2  </a:t>
              </a:r>
              <a:r>
                <a:rPr kumimoji="1" lang="en-US" altLang="zh-CN" sz="2000" b="1" dirty="0">
                  <a:solidFill>
                    <a:srgbClr val="0000CC"/>
                  </a:solidFill>
                  <a:latin typeface="+mn-lt"/>
                  <a:ea typeface="黑体" pitchFamily="2" charset="-122"/>
                  <a:sym typeface="Symbol" pitchFamily="18" charset="2"/>
                </a:rPr>
                <a:t>R</a:t>
              </a:r>
              <a:r>
                <a:rPr kumimoji="1" lang="en-US" altLang="zh-CN" sz="2000" b="1" baseline="-25000" dirty="0">
                  <a:solidFill>
                    <a:srgbClr val="0000CC"/>
                  </a:solidFill>
                  <a:latin typeface="+mn-lt"/>
                  <a:ea typeface="黑体" pitchFamily="2" charset="-122"/>
                  <a:sym typeface="Symbol" pitchFamily="18" charset="2"/>
                </a:rPr>
                <a:t>1</a:t>
              </a:r>
            </a:p>
          </p:txBody>
        </p:sp>
      </p:grpSp>
      <p:sp>
        <p:nvSpPr>
          <p:cNvPr id="578680" name="Text Box 120"/>
          <p:cNvSpPr txBox="1">
            <a:spLocks noChangeArrowheads="1"/>
          </p:cNvSpPr>
          <p:nvPr/>
        </p:nvSpPr>
        <p:spPr bwMode="auto">
          <a:xfrm>
            <a:off x="3027547" y="4437112"/>
            <a:ext cx="6373844" cy="830997"/>
          </a:xfrm>
          <a:prstGeom prst="rect">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2 </a:t>
            </a:r>
            <a:r>
              <a:rPr kumimoji="1" lang="zh-CN" altLang="en-US" sz="2400" b="1" dirty="0">
                <a:solidFill>
                  <a:srgbClr val="0000CC"/>
                </a:solidFill>
                <a:latin typeface="+mn-lt"/>
                <a:ea typeface="黑体" pitchFamily="2" charset="-122"/>
              </a:rPr>
              <a:t>以后又更新自己的路由表为“</a:t>
            </a:r>
            <a:r>
              <a:rPr kumimoji="1" lang="en-US" altLang="zh-CN" sz="2400" b="1" dirty="0">
                <a:solidFill>
                  <a:srgbClr val="0000CC"/>
                </a:solidFill>
                <a:latin typeface="+mn-lt"/>
                <a:ea typeface="黑体" pitchFamily="2" charset="-122"/>
              </a:rPr>
              <a:t>1, 4, R</a:t>
            </a:r>
            <a:r>
              <a:rPr kumimoji="1" lang="en-US" altLang="zh-CN" sz="2400" b="1" baseline="-25000" dirty="0">
                <a:solidFill>
                  <a:srgbClr val="0000CC"/>
                </a:solidFill>
                <a:latin typeface="+mn-lt"/>
                <a:ea typeface="黑体" pitchFamily="2" charset="-122"/>
              </a:rPr>
              <a:t>1</a:t>
            </a:r>
            <a:r>
              <a:rPr kumimoji="1" lang="en-US" altLang="zh-CN" sz="2400" b="1" dirty="0">
                <a:solidFill>
                  <a:srgbClr val="0000CC"/>
                </a:solidFill>
                <a:latin typeface="+mn-lt"/>
                <a:ea typeface="黑体" pitchFamily="2" charset="-122"/>
              </a:rPr>
              <a:t>”</a:t>
            </a:r>
            <a:r>
              <a:rPr kumimoji="1" lang="zh-CN" altLang="en-US" sz="2400" b="1" dirty="0">
                <a:solidFill>
                  <a:srgbClr val="0000CC"/>
                </a:solidFill>
                <a:latin typeface="+mn-lt"/>
                <a:ea typeface="黑体" pitchFamily="2" charset="-122"/>
              </a:rPr>
              <a:t>，表明 “我到网 </a:t>
            </a:r>
            <a:r>
              <a:rPr kumimoji="1" lang="en-US" altLang="zh-CN" sz="2400" b="1" dirty="0">
                <a:solidFill>
                  <a:srgbClr val="0000CC"/>
                </a:solidFill>
                <a:latin typeface="+mn-lt"/>
                <a:ea typeface="黑体" pitchFamily="2" charset="-122"/>
              </a:rPr>
              <a:t>1 </a:t>
            </a:r>
            <a:r>
              <a:rPr kumimoji="1" lang="zh-CN" altLang="en-US" sz="2400" b="1" dirty="0">
                <a:solidFill>
                  <a:srgbClr val="0000CC"/>
                </a:solidFill>
                <a:latin typeface="+mn-lt"/>
                <a:ea typeface="黑体" pitchFamily="2" charset="-122"/>
              </a:rPr>
              <a:t>距离是 </a:t>
            </a:r>
            <a:r>
              <a:rPr kumimoji="1" lang="en-US" altLang="zh-CN" sz="2400" b="1" dirty="0">
                <a:solidFill>
                  <a:srgbClr val="0000CC"/>
                </a:solidFill>
                <a:latin typeface="+mn-lt"/>
                <a:ea typeface="黑体" pitchFamily="2" charset="-122"/>
              </a:rPr>
              <a:t>4</a:t>
            </a:r>
            <a:r>
              <a:rPr kumimoji="1" lang="zh-CN" altLang="en-US" sz="2400" b="1" dirty="0">
                <a:solidFill>
                  <a:srgbClr val="0000CC"/>
                </a:solidFill>
                <a:latin typeface="+mn-lt"/>
                <a:ea typeface="黑体" pitchFamily="2" charset="-122"/>
              </a:rPr>
              <a:t>，下一跳经过 </a:t>
            </a:r>
            <a:r>
              <a:rPr kumimoji="1" lang="en-US" altLang="zh-CN" sz="2400" b="1" dirty="0">
                <a:solidFill>
                  <a:srgbClr val="0000CC"/>
                </a:solidFill>
                <a:latin typeface="+mn-lt"/>
                <a:ea typeface="黑体" pitchFamily="2" charset="-122"/>
              </a:rPr>
              <a:t>R</a:t>
            </a:r>
            <a:r>
              <a:rPr kumimoji="1" lang="en-US" altLang="zh-CN" sz="2400" b="1" baseline="-25000" dirty="0">
                <a:solidFill>
                  <a:srgbClr val="0000CC"/>
                </a:solidFill>
                <a:latin typeface="+mn-lt"/>
                <a:ea typeface="黑体" pitchFamily="2" charset="-122"/>
              </a:rPr>
              <a:t>1</a:t>
            </a:r>
            <a:r>
              <a:rPr kumimoji="1" lang="en-US" altLang="zh-CN" sz="2400" b="1" dirty="0">
                <a:solidFill>
                  <a:srgbClr val="0000CC"/>
                </a:solidFill>
                <a:latin typeface="+mn-lt"/>
                <a:ea typeface="黑体" pitchFamily="2" charset="-122"/>
              </a:rPr>
              <a:t>”</a:t>
            </a:r>
            <a:r>
              <a:rPr kumimoji="1" lang="zh-CN" altLang="en-US" sz="2400" b="1" dirty="0">
                <a:solidFill>
                  <a:srgbClr val="0000CC"/>
                </a:solidFill>
                <a:latin typeface="+mn-lt"/>
                <a:ea typeface="黑体" pitchFamily="2" charset="-122"/>
              </a:rPr>
              <a:t>。 </a:t>
            </a:r>
          </a:p>
        </p:txBody>
      </p:sp>
      <p:grpSp>
        <p:nvGrpSpPr>
          <p:cNvPr id="578681" name="Group 121"/>
          <p:cNvGrpSpPr>
            <a:grpSpLocks/>
          </p:cNvGrpSpPr>
          <p:nvPr/>
        </p:nvGrpSpPr>
        <p:grpSpPr bwMode="auto">
          <a:xfrm>
            <a:off x="2691475" y="3644026"/>
            <a:ext cx="1635521" cy="330199"/>
            <a:chOff x="1565" y="2478"/>
            <a:chExt cx="951" cy="208"/>
          </a:xfrm>
        </p:grpSpPr>
        <p:grpSp>
          <p:nvGrpSpPr>
            <p:cNvPr id="578682" name="Group 122"/>
            <p:cNvGrpSpPr>
              <a:grpSpLocks/>
            </p:cNvGrpSpPr>
            <p:nvPr/>
          </p:nvGrpSpPr>
          <p:grpSpPr bwMode="auto">
            <a:xfrm>
              <a:off x="1589" y="2478"/>
              <a:ext cx="927" cy="197"/>
              <a:chOff x="1491" y="212"/>
              <a:chExt cx="853" cy="240"/>
            </a:xfrm>
          </p:grpSpPr>
          <p:sp>
            <p:nvSpPr>
              <p:cNvPr id="578683" name="AutoShape 123"/>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84" name="Rectangle 124"/>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8685" name="Text Box 125"/>
            <p:cNvSpPr txBox="1">
              <a:spLocks noChangeArrowheads="1"/>
            </p:cNvSpPr>
            <p:nvPr/>
          </p:nvSpPr>
          <p:spPr bwMode="auto">
            <a:xfrm>
              <a:off x="1565" y="2518"/>
              <a:ext cx="600" cy="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1  3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2</a:t>
              </a:r>
            </a:p>
          </p:txBody>
        </p:sp>
      </p:grpSp>
      <p:grpSp>
        <p:nvGrpSpPr>
          <p:cNvPr id="578686" name="Group 126"/>
          <p:cNvGrpSpPr>
            <a:grpSpLocks/>
          </p:cNvGrpSpPr>
          <p:nvPr/>
        </p:nvGrpSpPr>
        <p:grpSpPr bwMode="auto">
          <a:xfrm>
            <a:off x="6045068" y="3932970"/>
            <a:ext cx="1594246" cy="349251"/>
            <a:chOff x="3515" y="2704"/>
            <a:chExt cx="927" cy="220"/>
          </a:xfrm>
          <a:solidFill>
            <a:srgbClr val="66FF66"/>
          </a:solidFill>
        </p:grpSpPr>
        <p:grpSp>
          <p:nvGrpSpPr>
            <p:cNvPr id="578687" name="Group 127"/>
            <p:cNvGrpSpPr>
              <a:grpSpLocks/>
            </p:cNvGrpSpPr>
            <p:nvPr/>
          </p:nvGrpSpPr>
          <p:grpSpPr bwMode="auto">
            <a:xfrm flipH="1">
              <a:off x="3515" y="2704"/>
              <a:ext cx="927" cy="197"/>
              <a:chOff x="1491" y="212"/>
              <a:chExt cx="853" cy="240"/>
            </a:xfrm>
            <a:grpFill/>
          </p:grpSpPr>
          <p:sp>
            <p:nvSpPr>
              <p:cNvPr id="578688" name="AutoShape 128"/>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8689" name="Rectangle 129"/>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8690" name="Text Box 130"/>
            <p:cNvSpPr txBox="1">
              <a:spLocks noChangeArrowheads="1"/>
            </p:cNvSpPr>
            <p:nvPr/>
          </p:nvSpPr>
          <p:spPr bwMode="auto">
            <a:xfrm>
              <a:off x="3771" y="2756"/>
              <a:ext cx="600" cy="168"/>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dirty="0">
                  <a:solidFill>
                    <a:srgbClr val="0000CC"/>
                  </a:solidFill>
                  <a:latin typeface="+mn-lt"/>
                  <a:ea typeface="黑体" pitchFamily="2" charset="-122"/>
                </a:rPr>
                <a:t>1  4  </a:t>
              </a:r>
              <a:r>
                <a:rPr kumimoji="1" lang="en-US" altLang="zh-CN" sz="2000" b="1" dirty="0">
                  <a:solidFill>
                    <a:srgbClr val="0000CC"/>
                  </a:solidFill>
                  <a:latin typeface="+mn-lt"/>
                  <a:ea typeface="黑体" pitchFamily="2" charset="-122"/>
                  <a:sym typeface="Symbol" pitchFamily="18" charset="2"/>
                </a:rPr>
                <a:t>R</a:t>
              </a:r>
              <a:r>
                <a:rPr kumimoji="1" lang="en-US" altLang="zh-CN" sz="2000" b="1" baseline="-25000" dirty="0">
                  <a:solidFill>
                    <a:srgbClr val="0000CC"/>
                  </a:solidFill>
                  <a:latin typeface="+mn-lt"/>
                  <a:ea typeface="黑体" pitchFamily="2" charset="-122"/>
                  <a:sym typeface="Symbol" pitchFamily="18" charset="2"/>
                </a:rPr>
                <a:t>1</a:t>
              </a:r>
            </a:p>
          </p:txBody>
        </p:sp>
      </p:grpSp>
    </p:spTree>
    <p:extLst>
      <p:ext uri="{BB962C8B-B14F-4D97-AF65-F5344CB8AC3E}">
        <p14:creationId xmlns:p14="http://schemas.microsoft.com/office/powerpoint/2010/main" val="4129385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500"/>
                                  </p:stCondLst>
                                  <p:childTnLst>
                                    <p:set>
                                      <p:cBhvr>
                                        <p:cTn id="6" dur="1" fill="hold">
                                          <p:stCondLst>
                                            <p:cond delay="0"/>
                                          </p:stCondLst>
                                        </p:cTn>
                                        <p:tgtEl>
                                          <p:spTgt spid="578686"/>
                                        </p:tgtEl>
                                        <p:attrNameLst>
                                          <p:attrName>style.visibility</p:attrName>
                                        </p:attrNameLst>
                                      </p:cBhvr>
                                      <p:to>
                                        <p:strVal val="visible"/>
                                      </p:to>
                                    </p:set>
                                  </p:childTnLst>
                                </p:cTn>
                              </p:par>
                            </p:childTnLst>
                          </p:cTn>
                        </p:par>
                        <p:par>
                          <p:cTn id="7" fill="hold" nodeType="afterGroup">
                            <p:stCondLst>
                              <p:cond delay="500"/>
                            </p:stCondLst>
                            <p:childTnLst>
                              <p:par>
                                <p:cTn id="8" presetID="35" presetClass="emph" presetSubtype="0" repeatCount="3000" fill="hold" nodeType="afterEffect">
                                  <p:stCondLst>
                                    <p:cond delay="500"/>
                                  </p:stCondLst>
                                  <p:childTnLst>
                                    <p:anim calcmode="discrete" valueType="str">
                                      <p:cBhvr>
                                        <p:cTn id="9" dur="1000" fill="hold"/>
                                        <p:tgtEl>
                                          <p:spTgt spid="5786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Line 2"/>
          <p:cNvSpPr>
            <a:spLocks noChangeShapeType="1"/>
          </p:cNvSpPr>
          <p:nvPr/>
        </p:nvSpPr>
        <p:spPr bwMode="auto">
          <a:xfrm>
            <a:off x="1785144" y="1064185"/>
            <a:ext cx="70115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9587" name="Picture 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580" y="908611"/>
            <a:ext cx="789385"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9588" name="Text Box 4"/>
          <p:cNvSpPr txBox="1">
            <a:spLocks noChangeArrowheads="1"/>
          </p:cNvSpPr>
          <p:nvPr/>
        </p:nvSpPr>
        <p:spPr bwMode="auto">
          <a:xfrm>
            <a:off x="6944519"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9589" name="Text Box 5"/>
          <p:cNvSpPr txBox="1">
            <a:spLocks noChangeArrowheads="1"/>
          </p:cNvSpPr>
          <p:nvPr/>
        </p:nvSpPr>
        <p:spPr bwMode="auto">
          <a:xfrm>
            <a:off x="3047471" y="11578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9590"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908" y="908611"/>
            <a:ext cx="791104"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9591" name="Group 7"/>
          <p:cNvGrpSpPr>
            <a:grpSpLocks/>
          </p:cNvGrpSpPr>
          <p:nvPr/>
        </p:nvGrpSpPr>
        <p:grpSpPr bwMode="auto">
          <a:xfrm>
            <a:off x="768747" y="632386"/>
            <a:ext cx="1277805" cy="858837"/>
            <a:chOff x="4830" y="1752"/>
            <a:chExt cx="667" cy="477"/>
          </a:xfrm>
        </p:grpSpPr>
        <p:grpSp>
          <p:nvGrpSpPr>
            <p:cNvPr id="579592" name="Group 8"/>
            <p:cNvGrpSpPr>
              <a:grpSpLocks/>
            </p:cNvGrpSpPr>
            <p:nvPr/>
          </p:nvGrpSpPr>
          <p:grpSpPr bwMode="auto">
            <a:xfrm>
              <a:off x="4830" y="1752"/>
              <a:ext cx="667" cy="477"/>
              <a:chOff x="2949" y="196"/>
              <a:chExt cx="941" cy="598"/>
            </a:xfrm>
          </p:grpSpPr>
          <p:sp>
            <p:nvSpPr>
              <p:cNvPr id="579593" name="Oval 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594" name="Oval 1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595" name="Oval 1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596" name="Oval 1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597" name="Oval 1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598" name="Oval 1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599" name="Oval 1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00" name="Oval 1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01"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02"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03"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9604" name="Text Box 20"/>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9605" name="Group 21"/>
          <p:cNvGrpSpPr>
            <a:grpSpLocks/>
          </p:cNvGrpSpPr>
          <p:nvPr/>
        </p:nvGrpSpPr>
        <p:grpSpPr bwMode="auto">
          <a:xfrm>
            <a:off x="8356468" y="632386"/>
            <a:ext cx="1277805" cy="858837"/>
            <a:chOff x="4830" y="1752"/>
            <a:chExt cx="667" cy="477"/>
          </a:xfrm>
        </p:grpSpPr>
        <p:grpSp>
          <p:nvGrpSpPr>
            <p:cNvPr id="579606" name="Group 22"/>
            <p:cNvGrpSpPr>
              <a:grpSpLocks/>
            </p:cNvGrpSpPr>
            <p:nvPr/>
          </p:nvGrpSpPr>
          <p:grpSpPr bwMode="auto">
            <a:xfrm>
              <a:off x="4830" y="1752"/>
              <a:ext cx="667" cy="477"/>
              <a:chOff x="2949" y="196"/>
              <a:chExt cx="941" cy="598"/>
            </a:xfrm>
          </p:grpSpPr>
          <p:sp>
            <p:nvSpPr>
              <p:cNvPr id="579607" name="Oval 23"/>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08" name="Oval 24"/>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09" name="Oval 25"/>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10" name="Oval 26"/>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11" name="Oval 27"/>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12" name="Oval 28"/>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13" name="Oval 29"/>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14" name="Oval 30"/>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15" name="Freeform 3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16" name="Freeform 3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17" name="Freeform 3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9618" name="Text Box 34"/>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9619" name="Group 35"/>
          <p:cNvGrpSpPr>
            <a:grpSpLocks/>
          </p:cNvGrpSpPr>
          <p:nvPr/>
        </p:nvGrpSpPr>
        <p:grpSpPr bwMode="auto">
          <a:xfrm>
            <a:off x="4531651" y="632386"/>
            <a:ext cx="1277805" cy="858837"/>
            <a:chOff x="4830" y="1752"/>
            <a:chExt cx="667" cy="477"/>
          </a:xfrm>
        </p:grpSpPr>
        <p:grpSp>
          <p:nvGrpSpPr>
            <p:cNvPr id="579620" name="Group 36"/>
            <p:cNvGrpSpPr>
              <a:grpSpLocks/>
            </p:cNvGrpSpPr>
            <p:nvPr/>
          </p:nvGrpSpPr>
          <p:grpSpPr bwMode="auto">
            <a:xfrm>
              <a:off x="4830" y="1752"/>
              <a:ext cx="667" cy="477"/>
              <a:chOff x="2949" y="196"/>
              <a:chExt cx="941" cy="598"/>
            </a:xfrm>
          </p:grpSpPr>
          <p:sp>
            <p:nvSpPr>
              <p:cNvPr id="579621" name="Oval 3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22" name="Oval 3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23" name="Oval 3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24" name="Oval 4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25" name="Oval 4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26" name="Oval 4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27" name="Oval 4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28" name="Oval 4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29" name="Freeform 4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30" name="Freeform 4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31" name="Freeform 4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9632" name="Text Box 48"/>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sp>
        <p:nvSpPr>
          <p:cNvPr id="579633" name="Line 49"/>
          <p:cNvSpPr>
            <a:spLocks noChangeShapeType="1"/>
          </p:cNvSpPr>
          <p:nvPr/>
        </p:nvSpPr>
        <p:spPr bwMode="auto">
          <a:xfrm>
            <a:off x="1785144" y="2437532"/>
            <a:ext cx="70115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579634"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3580" y="2283544"/>
            <a:ext cx="78938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79635" name="Text Box 51"/>
          <p:cNvSpPr txBox="1">
            <a:spLocks noChangeArrowheads="1"/>
          </p:cNvSpPr>
          <p:nvPr/>
        </p:nvSpPr>
        <p:spPr bwMode="auto">
          <a:xfrm>
            <a:off x="6944519" y="2531195"/>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endParaRPr kumimoji="1" lang="en-US" altLang="zh-CN" sz="2000" b="1">
              <a:solidFill>
                <a:srgbClr val="0000CC"/>
              </a:solidFill>
              <a:latin typeface="+mn-lt"/>
              <a:ea typeface="黑体" pitchFamily="2" charset="-122"/>
            </a:endParaRPr>
          </a:p>
        </p:txBody>
      </p:sp>
      <p:sp>
        <p:nvSpPr>
          <p:cNvPr id="579636" name="Text Box 52"/>
          <p:cNvSpPr txBox="1">
            <a:spLocks noChangeArrowheads="1"/>
          </p:cNvSpPr>
          <p:nvPr/>
        </p:nvSpPr>
        <p:spPr bwMode="auto">
          <a:xfrm>
            <a:off x="3047471" y="2531195"/>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endParaRPr kumimoji="1" lang="en-US" altLang="zh-CN" sz="2000" b="1">
              <a:solidFill>
                <a:srgbClr val="0000CC"/>
              </a:solidFill>
              <a:latin typeface="+mn-lt"/>
              <a:ea typeface="黑体" pitchFamily="2" charset="-122"/>
            </a:endParaRPr>
          </a:p>
        </p:txBody>
      </p:sp>
      <p:pic>
        <p:nvPicPr>
          <p:cNvPr id="579637"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8908" y="2283544"/>
            <a:ext cx="791104"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79638" name="Group 54"/>
          <p:cNvGrpSpPr>
            <a:grpSpLocks/>
          </p:cNvGrpSpPr>
          <p:nvPr/>
        </p:nvGrpSpPr>
        <p:grpSpPr bwMode="auto">
          <a:xfrm>
            <a:off x="768747" y="2005733"/>
            <a:ext cx="1277805" cy="858837"/>
            <a:chOff x="4830" y="1752"/>
            <a:chExt cx="667" cy="477"/>
          </a:xfrm>
        </p:grpSpPr>
        <p:grpSp>
          <p:nvGrpSpPr>
            <p:cNvPr id="579639" name="Group 55"/>
            <p:cNvGrpSpPr>
              <a:grpSpLocks/>
            </p:cNvGrpSpPr>
            <p:nvPr/>
          </p:nvGrpSpPr>
          <p:grpSpPr bwMode="auto">
            <a:xfrm>
              <a:off x="4830" y="1752"/>
              <a:ext cx="667" cy="477"/>
              <a:chOff x="2949" y="196"/>
              <a:chExt cx="941" cy="598"/>
            </a:xfrm>
          </p:grpSpPr>
          <p:sp>
            <p:nvSpPr>
              <p:cNvPr id="579640" name="Oval 5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41" name="Oval 5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42" name="Oval 5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43" name="Oval 59"/>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44" name="Oval 6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45" name="Oval 6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46" name="Oval 6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47" name="Oval 63"/>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48" name="Freeform 6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49" name="Freeform 6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50" name="Freeform 6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9651" name="Text Box 67"/>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1</a:t>
              </a:r>
            </a:p>
          </p:txBody>
        </p:sp>
      </p:grpSp>
      <p:grpSp>
        <p:nvGrpSpPr>
          <p:cNvPr id="579652" name="Group 68"/>
          <p:cNvGrpSpPr>
            <a:grpSpLocks/>
          </p:cNvGrpSpPr>
          <p:nvPr/>
        </p:nvGrpSpPr>
        <p:grpSpPr bwMode="auto">
          <a:xfrm>
            <a:off x="8356468" y="2005733"/>
            <a:ext cx="1277805" cy="858837"/>
            <a:chOff x="4830" y="1752"/>
            <a:chExt cx="667" cy="477"/>
          </a:xfrm>
        </p:grpSpPr>
        <p:grpSp>
          <p:nvGrpSpPr>
            <p:cNvPr id="579653" name="Group 69"/>
            <p:cNvGrpSpPr>
              <a:grpSpLocks/>
            </p:cNvGrpSpPr>
            <p:nvPr/>
          </p:nvGrpSpPr>
          <p:grpSpPr bwMode="auto">
            <a:xfrm>
              <a:off x="4830" y="1752"/>
              <a:ext cx="667" cy="477"/>
              <a:chOff x="2949" y="196"/>
              <a:chExt cx="941" cy="598"/>
            </a:xfrm>
          </p:grpSpPr>
          <p:sp>
            <p:nvSpPr>
              <p:cNvPr id="579654" name="Oval 7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55" name="Oval 7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56" name="Oval 7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57" name="Oval 73"/>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58" name="Oval 7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59" name="Oval 7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60" name="Oval 7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61" name="Oval 77"/>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62" name="Freeform 7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63" name="Freeform 7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64" name="Freeform 8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9665" name="Text Box 81"/>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3</a:t>
              </a:r>
            </a:p>
          </p:txBody>
        </p:sp>
      </p:grpSp>
      <p:grpSp>
        <p:nvGrpSpPr>
          <p:cNvPr id="579666" name="Group 82"/>
          <p:cNvGrpSpPr>
            <a:grpSpLocks/>
          </p:cNvGrpSpPr>
          <p:nvPr/>
        </p:nvGrpSpPr>
        <p:grpSpPr bwMode="auto">
          <a:xfrm>
            <a:off x="4531651" y="2005733"/>
            <a:ext cx="1277805" cy="858837"/>
            <a:chOff x="4830" y="1752"/>
            <a:chExt cx="667" cy="477"/>
          </a:xfrm>
        </p:grpSpPr>
        <p:grpSp>
          <p:nvGrpSpPr>
            <p:cNvPr id="579667" name="Group 83"/>
            <p:cNvGrpSpPr>
              <a:grpSpLocks/>
            </p:cNvGrpSpPr>
            <p:nvPr/>
          </p:nvGrpSpPr>
          <p:grpSpPr bwMode="auto">
            <a:xfrm>
              <a:off x="4830" y="1752"/>
              <a:ext cx="667" cy="477"/>
              <a:chOff x="2949" y="196"/>
              <a:chExt cx="941" cy="598"/>
            </a:xfrm>
          </p:grpSpPr>
          <p:sp>
            <p:nvSpPr>
              <p:cNvPr id="579668"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69"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70"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71" name="Oval 8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72"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73"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74"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75" name="Oval 9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76" name="Freeform 9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77" name="Freeform 9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78" name="Freeform 9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9679" name="Text Box 95"/>
            <p:cNvSpPr txBox="1">
              <a:spLocks noChangeArrowheads="1"/>
            </p:cNvSpPr>
            <p:nvPr/>
          </p:nvSpPr>
          <p:spPr bwMode="auto">
            <a:xfrm>
              <a:off x="4967" y="1856"/>
              <a:ext cx="342" cy="222"/>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2</a:t>
              </a:r>
            </a:p>
          </p:txBody>
        </p:sp>
      </p:grpSp>
      <p:grpSp>
        <p:nvGrpSpPr>
          <p:cNvPr id="579680" name="Group 96"/>
          <p:cNvGrpSpPr>
            <a:grpSpLocks/>
          </p:cNvGrpSpPr>
          <p:nvPr/>
        </p:nvGrpSpPr>
        <p:grpSpPr bwMode="auto">
          <a:xfrm>
            <a:off x="746390" y="1916832"/>
            <a:ext cx="1298443" cy="971550"/>
            <a:chOff x="434" y="1298"/>
            <a:chExt cx="755" cy="612"/>
          </a:xfrm>
        </p:grpSpPr>
        <p:sp>
          <p:nvSpPr>
            <p:cNvPr id="579681" name="Line 97"/>
            <p:cNvSpPr>
              <a:spLocks noChangeShapeType="1"/>
            </p:cNvSpPr>
            <p:nvPr/>
          </p:nvSpPr>
          <p:spPr bwMode="auto">
            <a:xfrm>
              <a:off x="434" y="1298"/>
              <a:ext cx="755" cy="61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79682" name="Line 98"/>
            <p:cNvSpPr>
              <a:spLocks noChangeShapeType="1"/>
            </p:cNvSpPr>
            <p:nvPr/>
          </p:nvSpPr>
          <p:spPr bwMode="auto">
            <a:xfrm flipH="1">
              <a:off x="434" y="1298"/>
              <a:ext cx="755" cy="612"/>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79683" name="Text Box 99"/>
          <p:cNvSpPr txBox="1">
            <a:spLocks noChangeArrowheads="1"/>
          </p:cNvSpPr>
          <p:nvPr/>
        </p:nvSpPr>
        <p:spPr bwMode="auto">
          <a:xfrm>
            <a:off x="612246" y="3069357"/>
            <a:ext cx="16690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2000" b="1">
                <a:solidFill>
                  <a:srgbClr val="0000CC"/>
                </a:solidFill>
                <a:latin typeface="+mn-lt"/>
                <a:ea typeface="黑体" pitchFamily="2" charset="-122"/>
              </a:rPr>
              <a:t>网</a:t>
            </a:r>
            <a:r>
              <a:rPr kumimoji="1" lang="zh-CN" altLang="en-US" sz="10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1</a:t>
            </a:r>
            <a:r>
              <a:rPr kumimoji="1" lang="zh-CN" altLang="en-US" sz="2000" b="1">
                <a:solidFill>
                  <a:srgbClr val="0000CC"/>
                </a:solidFill>
                <a:latin typeface="+mn-lt"/>
                <a:ea typeface="黑体" pitchFamily="2" charset="-122"/>
              </a:rPr>
              <a:t>出了故障</a:t>
            </a:r>
          </a:p>
        </p:txBody>
      </p:sp>
      <p:sp>
        <p:nvSpPr>
          <p:cNvPr id="579684" name="Text Box 100"/>
          <p:cNvSpPr txBox="1">
            <a:spLocks noChangeArrowheads="1"/>
          </p:cNvSpPr>
          <p:nvPr/>
        </p:nvSpPr>
        <p:spPr bwMode="auto">
          <a:xfrm>
            <a:off x="266568" y="305361"/>
            <a:ext cx="44114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正</a:t>
            </a:r>
          </a:p>
          <a:p>
            <a:r>
              <a:rPr kumimoji="1" lang="zh-CN" altLang="en-US" sz="2000" b="1">
                <a:solidFill>
                  <a:srgbClr val="0000CC"/>
                </a:solidFill>
                <a:latin typeface="+mn-lt"/>
                <a:ea typeface="黑体" pitchFamily="2" charset="-122"/>
              </a:rPr>
              <a:t>常</a:t>
            </a:r>
          </a:p>
          <a:p>
            <a:r>
              <a:rPr kumimoji="1" lang="zh-CN" altLang="en-US" sz="2000" b="1">
                <a:solidFill>
                  <a:srgbClr val="0000CC"/>
                </a:solidFill>
                <a:latin typeface="+mn-lt"/>
                <a:ea typeface="黑体" pitchFamily="2" charset="-122"/>
              </a:rPr>
              <a:t>情</a:t>
            </a:r>
          </a:p>
          <a:p>
            <a:r>
              <a:rPr kumimoji="1" lang="zh-CN" altLang="en-US" sz="2000" b="1">
                <a:solidFill>
                  <a:srgbClr val="0000CC"/>
                </a:solidFill>
                <a:latin typeface="+mn-lt"/>
                <a:ea typeface="黑体" pitchFamily="2" charset="-122"/>
              </a:rPr>
              <a:t>况</a:t>
            </a:r>
          </a:p>
        </p:txBody>
      </p:sp>
      <p:grpSp>
        <p:nvGrpSpPr>
          <p:cNvPr id="579685" name="Group 101"/>
          <p:cNvGrpSpPr>
            <a:grpSpLocks/>
          </p:cNvGrpSpPr>
          <p:nvPr/>
        </p:nvGrpSpPr>
        <p:grpSpPr bwMode="auto">
          <a:xfrm>
            <a:off x="2436946" y="499036"/>
            <a:ext cx="1594246" cy="312737"/>
            <a:chOff x="1491" y="212"/>
            <a:chExt cx="853" cy="240"/>
          </a:xfrm>
        </p:grpSpPr>
        <p:sp>
          <p:nvSpPr>
            <p:cNvPr id="579686" name="AutoShape 102"/>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87" name="Rectangle 103"/>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9688" name="Text Box 104"/>
          <p:cNvSpPr txBox="1">
            <a:spLocks noChangeArrowheads="1"/>
          </p:cNvSpPr>
          <p:nvPr/>
        </p:nvSpPr>
        <p:spPr bwMode="auto">
          <a:xfrm>
            <a:off x="2457583" y="573648"/>
            <a:ext cx="89319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sp>
        <p:nvSpPr>
          <p:cNvPr id="579689" name="Text Box 105"/>
          <p:cNvSpPr txBox="1">
            <a:spLocks noChangeArrowheads="1"/>
          </p:cNvSpPr>
          <p:nvPr/>
        </p:nvSpPr>
        <p:spPr bwMode="auto">
          <a:xfrm rot="5400000">
            <a:off x="6899290" y="4594428"/>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rgbClr val="0000CC"/>
                </a:solidFill>
                <a:latin typeface="+mn-lt"/>
                <a:ea typeface="黑体" pitchFamily="2" charset="-122"/>
              </a:rPr>
              <a:t>…</a:t>
            </a:r>
          </a:p>
        </p:txBody>
      </p:sp>
      <p:grpSp>
        <p:nvGrpSpPr>
          <p:cNvPr id="579690" name="Group 106"/>
          <p:cNvGrpSpPr>
            <a:grpSpLocks/>
          </p:cNvGrpSpPr>
          <p:nvPr/>
        </p:nvGrpSpPr>
        <p:grpSpPr bwMode="auto">
          <a:xfrm>
            <a:off x="2732750" y="4220294"/>
            <a:ext cx="1594246" cy="312738"/>
            <a:chOff x="1491" y="212"/>
            <a:chExt cx="853" cy="240"/>
          </a:xfrm>
        </p:grpSpPr>
        <p:sp>
          <p:nvSpPr>
            <p:cNvPr id="579691" name="AutoShape 107"/>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92" name="Rectangle 108"/>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grpSp>
        <p:nvGrpSpPr>
          <p:cNvPr id="579693" name="Group 109"/>
          <p:cNvGrpSpPr>
            <a:grpSpLocks/>
          </p:cNvGrpSpPr>
          <p:nvPr/>
        </p:nvGrpSpPr>
        <p:grpSpPr bwMode="auto">
          <a:xfrm>
            <a:off x="2732750" y="3140794"/>
            <a:ext cx="1594246" cy="312738"/>
            <a:chOff x="1491" y="212"/>
            <a:chExt cx="853" cy="240"/>
          </a:xfrm>
        </p:grpSpPr>
        <p:sp>
          <p:nvSpPr>
            <p:cNvPr id="579694" name="AutoShape 110"/>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695" name="Rectangle 111"/>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9696" name="Text Box 112"/>
          <p:cNvSpPr txBox="1">
            <a:spLocks noChangeArrowheads="1"/>
          </p:cNvSpPr>
          <p:nvPr/>
        </p:nvSpPr>
        <p:spPr bwMode="auto">
          <a:xfrm>
            <a:off x="2693194" y="3207470"/>
            <a:ext cx="103586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1  16  </a:t>
            </a:r>
            <a:r>
              <a:rPr kumimoji="1" lang="en-US" altLang="zh-CN" sz="2000" b="1">
                <a:solidFill>
                  <a:srgbClr val="0000CC"/>
                </a:solidFill>
                <a:latin typeface="+mn-lt"/>
                <a:ea typeface="黑体" pitchFamily="2" charset="-122"/>
                <a:sym typeface="Symbol" pitchFamily="18" charset="2"/>
              </a:rPr>
              <a:t></a:t>
            </a:r>
            <a:endParaRPr kumimoji="1" lang="en-US" altLang="zh-CN" sz="2000" b="1" baseline="-25000">
              <a:solidFill>
                <a:srgbClr val="0000CC"/>
              </a:solidFill>
              <a:latin typeface="+mn-lt"/>
              <a:ea typeface="黑体" pitchFamily="2" charset="-122"/>
              <a:sym typeface="Symbol" pitchFamily="18" charset="2"/>
            </a:endParaRPr>
          </a:p>
        </p:txBody>
      </p:sp>
      <p:grpSp>
        <p:nvGrpSpPr>
          <p:cNvPr id="579697" name="Group 113"/>
          <p:cNvGrpSpPr>
            <a:grpSpLocks/>
          </p:cNvGrpSpPr>
          <p:nvPr/>
        </p:nvGrpSpPr>
        <p:grpSpPr bwMode="auto">
          <a:xfrm>
            <a:off x="2691475" y="3644033"/>
            <a:ext cx="1635521" cy="312737"/>
            <a:chOff x="1565" y="2478"/>
            <a:chExt cx="951" cy="197"/>
          </a:xfrm>
        </p:grpSpPr>
        <p:grpSp>
          <p:nvGrpSpPr>
            <p:cNvPr id="579698" name="Group 114"/>
            <p:cNvGrpSpPr>
              <a:grpSpLocks/>
            </p:cNvGrpSpPr>
            <p:nvPr/>
          </p:nvGrpSpPr>
          <p:grpSpPr bwMode="auto">
            <a:xfrm>
              <a:off x="1589" y="2478"/>
              <a:ext cx="927" cy="197"/>
              <a:chOff x="1491" y="212"/>
              <a:chExt cx="853" cy="240"/>
            </a:xfrm>
          </p:grpSpPr>
          <p:sp>
            <p:nvSpPr>
              <p:cNvPr id="579699" name="AutoShape 115"/>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700" name="Rectangle 116"/>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9701" name="Text Box 117"/>
            <p:cNvSpPr txBox="1">
              <a:spLocks noChangeArrowheads="1"/>
            </p:cNvSpPr>
            <p:nvPr/>
          </p:nvSpPr>
          <p:spPr bwMode="auto">
            <a:xfrm>
              <a:off x="1565" y="2518"/>
              <a:ext cx="600"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1  3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2</a:t>
              </a:r>
            </a:p>
          </p:txBody>
        </p:sp>
      </p:grpSp>
      <p:sp>
        <p:nvSpPr>
          <p:cNvPr id="579702" name="Text Box 118"/>
          <p:cNvSpPr txBox="1">
            <a:spLocks noChangeArrowheads="1"/>
          </p:cNvSpPr>
          <p:nvPr/>
        </p:nvSpPr>
        <p:spPr bwMode="auto">
          <a:xfrm>
            <a:off x="2725870" y="4298083"/>
            <a:ext cx="10326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1  5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2</a:t>
            </a:r>
          </a:p>
        </p:txBody>
      </p:sp>
      <p:grpSp>
        <p:nvGrpSpPr>
          <p:cNvPr id="579703" name="Group 119"/>
          <p:cNvGrpSpPr>
            <a:grpSpLocks/>
          </p:cNvGrpSpPr>
          <p:nvPr/>
        </p:nvGrpSpPr>
        <p:grpSpPr bwMode="auto">
          <a:xfrm>
            <a:off x="2701794" y="5085490"/>
            <a:ext cx="1625203" cy="331788"/>
            <a:chOff x="1571" y="3313"/>
            <a:chExt cx="945" cy="209"/>
          </a:xfrm>
        </p:grpSpPr>
        <p:grpSp>
          <p:nvGrpSpPr>
            <p:cNvPr id="579704" name="Group 120"/>
            <p:cNvGrpSpPr>
              <a:grpSpLocks/>
            </p:cNvGrpSpPr>
            <p:nvPr/>
          </p:nvGrpSpPr>
          <p:grpSpPr bwMode="auto">
            <a:xfrm>
              <a:off x="1589" y="3313"/>
              <a:ext cx="927" cy="197"/>
              <a:chOff x="1491" y="212"/>
              <a:chExt cx="853" cy="240"/>
            </a:xfrm>
          </p:grpSpPr>
          <p:sp>
            <p:nvSpPr>
              <p:cNvPr id="579705" name="AutoShape 121"/>
              <p:cNvSpPr>
                <a:spLocks noChangeArrowheads="1"/>
              </p:cNvSpPr>
              <p:nvPr/>
            </p:nvSpPr>
            <p:spPr bwMode="auto">
              <a:xfrm>
                <a:off x="2089" y="271"/>
                <a:ext cx="255" cy="122"/>
              </a:xfrm>
              <a:prstGeom prst="rightArrow">
                <a:avLst>
                  <a:gd name="adj1" fmla="val 50000"/>
                  <a:gd name="adj2" fmla="val 52254"/>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706" name="Rectangle 122"/>
              <p:cNvSpPr>
                <a:spLocks noChangeArrowheads="1"/>
              </p:cNvSpPr>
              <p:nvPr/>
            </p:nvSpPr>
            <p:spPr bwMode="auto">
              <a:xfrm>
                <a:off x="1491" y="212"/>
                <a:ext cx="632" cy="240"/>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9707" name="Text Box 123"/>
            <p:cNvSpPr txBox="1">
              <a:spLocks noChangeArrowheads="1"/>
            </p:cNvSpPr>
            <p:nvPr/>
          </p:nvSpPr>
          <p:spPr bwMode="auto">
            <a:xfrm>
              <a:off x="1571" y="3367"/>
              <a:ext cx="683"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1  16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2</a:t>
              </a:r>
            </a:p>
          </p:txBody>
        </p:sp>
      </p:grpSp>
      <p:grpSp>
        <p:nvGrpSpPr>
          <p:cNvPr id="579708" name="Group 124"/>
          <p:cNvGrpSpPr>
            <a:grpSpLocks/>
          </p:cNvGrpSpPr>
          <p:nvPr/>
        </p:nvGrpSpPr>
        <p:grpSpPr bwMode="auto">
          <a:xfrm flipH="1">
            <a:off x="6045068" y="521261"/>
            <a:ext cx="1594246" cy="312737"/>
            <a:chOff x="1491" y="212"/>
            <a:chExt cx="853" cy="240"/>
          </a:xfrm>
          <a:solidFill>
            <a:srgbClr val="66FF66"/>
          </a:solidFill>
        </p:grpSpPr>
        <p:sp>
          <p:nvSpPr>
            <p:cNvPr id="579709" name="AutoShape 125"/>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710" name="Rectangle 126"/>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9711" name="Text Box 127"/>
          <p:cNvSpPr txBox="1">
            <a:spLocks noChangeArrowheads="1"/>
          </p:cNvSpPr>
          <p:nvPr/>
        </p:nvSpPr>
        <p:spPr bwMode="auto">
          <a:xfrm>
            <a:off x="6468137" y="616511"/>
            <a:ext cx="10326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1  2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1</a:t>
            </a:r>
          </a:p>
        </p:txBody>
      </p:sp>
      <p:grpSp>
        <p:nvGrpSpPr>
          <p:cNvPr id="579712" name="Group 128"/>
          <p:cNvGrpSpPr>
            <a:grpSpLocks/>
          </p:cNvGrpSpPr>
          <p:nvPr/>
        </p:nvGrpSpPr>
        <p:grpSpPr bwMode="auto">
          <a:xfrm flipH="1">
            <a:off x="6045068" y="3088408"/>
            <a:ext cx="1594246" cy="312737"/>
            <a:chOff x="1491" y="212"/>
            <a:chExt cx="853" cy="240"/>
          </a:xfrm>
          <a:solidFill>
            <a:srgbClr val="66FF66"/>
          </a:solidFill>
        </p:grpSpPr>
        <p:sp>
          <p:nvSpPr>
            <p:cNvPr id="579713" name="AutoShape 129"/>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714" name="Rectangle 130"/>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9715" name="Text Box 131"/>
          <p:cNvSpPr txBox="1">
            <a:spLocks noChangeArrowheads="1"/>
          </p:cNvSpPr>
          <p:nvPr/>
        </p:nvSpPr>
        <p:spPr bwMode="auto">
          <a:xfrm>
            <a:off x="6468137" y="3183658"/>
            <a:ext cx="103265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a:solidFill>
                  <a:srgbClr val="0000CC"/>
                </a:solidFill>
                <a:latin typeface="+mn-lt"/>
                <a:ea typeface="黑体" pitchFamily="2" charset="-122"/>
              </a:rPr>
              <a:t>1  2  </a:t>
            </a:r>
            <a:r>
              <a:rPr kumimoji="1" lang="en-US" altLang="zh-CN" sz="2000" b="1">
                <a:solidFill>
                  <a:srgbClr val="0000CC"/>
                </a:solidFill>
                <a:latin typeface="+mn-lt"/>
                <a:ea typeface="黑体" pitchFamily="2" charset="-122"/>
                <a:sym typeface="Symbol" pitchFamily="18" charset="2"/>
              </a:rPr>
              <a:t>R</a:t>
            </a:r>
            <a:r>
              <a:rPr kumimoji="1" lang="en-US" altLang="zh-CN" sz="2000" b="1" baseline="-25000">
                <a:solidFill>
                  <a:srgbClr val="0000CC"/>
                </a:solidFill>
                <a:latin typeface="+mn-lt"/>
                <a:ea typeface="黑体" pitchFamily="2" charset="-122"/>
                <a:sym typeface="Symbol" pitchFamily="18" charset="2"/>
              </a:rPr>
              <a:t>1</a:t>
            </a:r>
          </a:p>
        </p:txBody>
      </p:sp>
      <p:grpSp>
        <p:nvGrpSpPr>
          <p:cNvPr id="579716" name="Group 132"/>
          <p:cNvGrpSpPr>
            <a:grpSpLocks/>
          </p:cNvGrpSpPr>
          <p:nvPr/>
        </p:nvGrpSpPr>
        <p:grpSpPr bwMode="auto">
          <a:xfrm>
            <a:off x="6045068" y="3932965"/>
            <a:ext cx="1594246" cy="328613"/>
            <a:chOff x="3515" y="2704"/>
            <a:chExt cx="927" cy="207"/>
          </a:xfrm>
          <a:solidFill>
            <a:srgbClr val="66FF66"/>
          </a:solidFill>
        </p:grpSpPr>
        <p:grpSp>
          <p:nvGrpSpPr>
            <p:cNvPr id="579717" name="Group 133"/>
            <p:cNvGrpSpPr>
              <a:grpSpLocks/>
            </p:cNvGrpSpPr>
            <p:nvPr/>
          </p:nvGrpSpPr>
          <p:grpSpPr bwMode="auto">
            <a:xfrm flipH="1">
              <a:off x="3515" y="2704"/>
              <a:ext cx="927" cy="197"/>
              <a:chOff x="1491" y="212"/>
              <a:chExt cx="853" cy="240"/>
            </a:xfrm>
            <a:grpFill/>
          </p:grpSpPr>
          <p:sp>
            <p:nvSpPr>
              <p:cNvPr id="579718" name="AutoShape 134"/>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719" name="Rectangle 135"/>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9720" name="Text Box 136"/>
            <p:cNvSpPr txBox="1">
              <a:spLocks noChangeArrowheads="1"/>
            </p:cNvSpPr>
            <p:nvPr/>
          </p:nvSpPr>
          <p:spPr bwMode="auto">
            <a:xfrm>
              <a:off x="3771" y="2756"/>
              <a:ext cx="600"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dirty="0">
                  <a:solidFill>
                    <a:srgbClr val="0000CC"/>
                  </a:solidFill>
                  <a:latin typeface="+mn-lt"/>
                  <a:ea typeface="黑体" pitchFamily="2" charset="-122"/>
                </a:rPr>
                <a:t>1  4  </a:t>
              </a:r>
              <a:r>
                <a:rPr kumimoji="1" lang="en-US" altLang="zh-CN" sz="2000" b="1" dirty="0">
                  <a:solidFill>
                    <a:srgbClr val="0000CC"/>
                  </a:solidFill>
                  <a:latin typeface="+mn-lt"/>
                  <a:ea typeface="黑体" pitchFamily="2" charset="-122"/>
                  <a:sym typeface="Symbol" pitchFamily="18" charset="2"/>
                </a:rPr>
                <a:t>R</a:t>
              </a:r>
              <a:r>
                <a:rPr kumimoji="1" lang="en-US" altLang="zh-CN" sz="2000" b="1" baseline="-25000" dirty="0">
                  <a:solidFill>
                    <a:srgbClr val="0000CC"/>
                  </a:solidFill>
                  <a:latin typeface="+mn-lt"/>
                  <a:ea typeface="黑体" pitchFamily="2" charset="-122"/>
                  <a:sym typeface="Symbol" pitchFamily="18" charset="2"/>
                </a:rPr>
                <a:t>1</a:t>
              </a:r>
            </a:p>
          </p:txBody>
        </p:sp>
      </p:grpSp>
      <p:grpSp>
        <p:nvGrpSpPr>
          <p:cNvPr id="579721" name="Group 137"/>
          <p:cNvGrpSpPr>
            <a:grpSpLocks/>
          </p:cNvGrpSpPr>
          <p:nvPr/>
        </p:nvGrpSpPr>
        <p:grpSpPr bwMode="auto">
          <a:xfrm>
            <a:off x="6045069" y="5085491"/>
            <a:ext cx="1594247" cy="319088"/>
            <a:chOff x="3515" y="3540"/>
            <a:chExt cx="927" cy="201"/>
          </a:xfrm>
          <a:solidFill>
            <a:srgbClr val="66FF66"/>
          </a:solidFill>
        </p:grpSpPr>
        <p:grpSp>
          <p:nvGrpSpPr>
            <p:cNvPr id="579722" name="Group 138"/>
            <p:cNvGrpSpPr>
              <a:grpSpLocks/>
            </p:cNvGrpSpPr>
            <p:nvPr/>
          </p:nvGrpSpPr>
          <p:grpSpPr bwMode="auto">
            <a:xfrm flipH="1">
              <a:off x="3515" y="3540"/>
              <a:ext cx="927" cy="197"/>
              <a:chOff x="1491" y="212"/>
              <a:chExt cx="853" cy="240"/>
            </a:xfrm>
            <a:grpFill/>
          </p:grpSpPr>
          <p:sp>
            <p:nvSpPr>
              <p:cNvPr id="579723" name="AutoShape 139"/>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79724" name="Rectangle 140"/>
              <p:cNvSpPr>
                <a:spLocks noChangeArrowheads="1"/>
              </p:cNvSpPr>
              <p:nvPr/>
            </p:nvSpPr>
            <p:spPr bwMode="auto">
              <a:xfrm>
                <a:off x="1491" y="212"/>
                <a:ext cx="632" cy="2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sp>
          <p:nvSpPr>
            <p:cNvPr id="579725" name="Text Box 141"/>
            <p:cNvSpPr txBox="1">
              <a:spLocks noChangeArrowheads="1"/>
            </p:cNvSpPr>
            <p:nvPr/>
          </p:nvSpPr>
          <p:spPr bwMode="auto">
            <a:xfrm>
              <a:off x="3748" y="3586"/>
              <a:ext cx="683" cy="15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50000"/>
                </a:lnSpc>
              </a:pPr>
              <a:r>
                <a:rPr kumimoji="1" lang="en-US" altLang="zh-CN" sz="2000" b="1" dirty="0">
                  <a:solidFill>
                    <a:srgbClr val="0000CC"/>
                  </a:solidFill>
                  <a:latin typeface="+mn-lt"/>
                  <a:ea typeface="黑体" pitchFamily="2" charset="-122"/>
                </a:rPr>
                <a:t>1  16  </a:t>
              </a:r>
              <a:r>
                <a:rPr kumimoji="1" lang="en-US" altLang="zh-CN" sz="2000" b="1" dirty="0">
                  <a:solidFill>
                    <a:srgbClr val="0000CC"/>
                  </a:solidFill>
                  <a:latin typeface="+mn-lt"/>
                  <a:ea typeface="黑体" pitchFamily="2" charset="-122"/>
                  <a:sym typeface="Symbol" pitchFamily="18" charset="2"/>
                </a:rPr>
                <a:t>R</a:t>
              </a:r>
              <a:r>
                <a:rPr kumimoji="1" lang="en-US" altLang="zh-CN" sz="2000" b="1" baseline="-25000" dirty="0">
                  <a:solidFill>
                    <a:srgbClr val="0000CC"/>
                  </a:solidFill>
                  <a:latin typeface="+mn-lt"/>
                  <a:ea typeface="黑体" pitchFamily="2" charset="-122"/>
                  <a:sym typeface="Symbol" pitchFamily="18" charset="2"/>
                </a:rPr>
                <a:t>1</a:t>
              </a:r>
            </a:p>
          </p:txBody>
        </p:sp>
      </p:grpSp>
      <p:sp>
        <p:nvSpPr>
          <p:cNvPr id="579726" name="Text Box 142"/>
          <p:cNvSpPr txBox="1">
            <a:spLocks noChangeArrowheads="1"/>
          </p:cNvSpPr>
          <p:nvPr/>
        </p:nvSpPr>
        <p:spPr bwMode="auto">
          <a:xfrm rot="5400000">
            <a:off x="3153584" y="4594428"/>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CC"/>
                </a:solidFill>
                <a:latin typeface="+mn-lt"/>
                <a:ea typeface="黑体" pitchFamily="2" charset="-122"/>
              </a:rPr>
              <a:t>…</a:t>
            </a:r>
          </a:p>
        </p:txBody>
      </p:sp>
      <p:sp>
        <p:nvSpPr>
          <p:cNvPr id="579727" name="Text Box 143"/>
          <p:cNvSpPr txBox="1">
            <a:spLocks noChangeArrowheads="1"/>
          </p:cNvSpPr>
          <p:nvPr/>
        </p:nvSpPr>
        <p:spPr bwMode="auto">
          <a:xfrm>
            <a:off x="338790" y="5589240"/>
            <a:ext cx="9510754" cy="954107"/>
          </a:xfrm>
          <a:prstGeom prst="rect">
            <a:avLst/>
          </a:prstGeom>
          <a:solidFill>
            <a:srgbClr val="FFFF66"/>
          </a:solidFill>
          <a:ln w="9525">
            <a:solidFill>
              <a:schemeClr val="tx2"/>
            </a:solidFill>
            <a:miter lim="800000"/>
            <a:headEnd/>
            <a:tailEnd/>
          </a:ln>
          <a:effectLst/>
        </p:spPr>
        <p:txBody>
          <a:bodyPr wrap="square">
            <a:spAutoFit/>
          </a:bodyPr>
          <a:lstStyle/>
          <a:p>
            <a:pPr algn="just"/>
            <a:r>
              <a:rPr kumimoji="1" lang="zh-CN" altLang="en-US" sz="2800" b="1" dirty="0">
                <a:solidFill>
                  <a:srgbClr val="0000CC"/>
                </a:solidFill>
                <a:latin typeface="+mn-lt"/>
                <a:ea typeface="黑体" pitchFamily="2" charset="-122"/>
              </a:rPr>
              <a:t>这样不断更新下去，直到 </a:t>
            </a:r>
            <a:r>
              <a:rPr kumimoji="1" lang="en-US" altLang="zh-CN" sz="2800" b="1" dirty="0">
                <a:solidFill>
                  <a:srgbClr val="0000CC"/>
                </a:solidFill>
                <a:latin typeface="+mn-lt"/>
                <a:ea typeface="黑体" pitchFamily="2" charset="-122"/>
              </a:rPr>
              <a:t>R</a:t>
            </a:r>
            <a:r>
              <a:rPr kumimoji="1" lang="en-US" altLang="zh-CN" sz="2800" b="1" baseline="-25000" dirty="0">
                <a:solidFill>
                  <a:srgbClr val="0000CC"/>
                </a:solidFill>
                <a:latin typeface="+mn-lt"/>
                <a:ea typeface="黑体" pitchFamily="2" charset="-122"/>
              </a:rPr>
              <a:t>1 </a:t>
            </a:r>
            <a:r>
              <a:rPr kumimoji="1" lang="zh-CN" altLang="en-US" sz="2800" b="1" dirty="0">
                <a:solidFill>
                  <a:srgbClr val="0000CC"/>
                </a:solidFill>
                <a:latin typeface="+mn-lt"/>
                <a:ea typeface="黑体" pitchFamily="2" charset="-122"/>
              </a:rPr>
              <a:t>和 </a:t>
            </a:r>
            <a:r>
              <a:rPr kumimoji="1" lang="en-US" altLang="zh-CN" sz="2800" b="1" dirty="0">
                <a:solidFill>
                  <a:srgbClr val="0000CC"/>
                </a:solidFill>
                <a:latin typeface="+mn-lt"/>
                <a:ea typeface="黑体" pitchFamily="2" charset="-122"/>
              </a:rPr>
              <a:t>R</a:t>
            </a:r>
            <a:r>
              <a:rPr kumimoji="1" lang="en-US" altLang="zh-CN" sz="2800" b="1" baseline="-25000" dirty="0">
                <a:solidFill>
                  <a:srgbClr val="0000CC"/>
                </a:solidFill>
                <a:latin typeface="+mn-lt"/>
                <a:ea typeface="黑体" pitchFamily="2" charset="-122"/>
              </a:rPr>
              <a:t>2 </a:t>
            </a:r>
            <a:r>
              <a:rPr kumimoji="1" lang="zh-CN" altLang="en-US" sz="2800" b="1" dirty="0">
                <a:solidFill>
                  <a:srgbClr val="0000CC"/>
                </a:solidFill>
                <a:latin typeface="+mn-lt"/>
                <a:ea typeface="黑体" pitchFamily="2" charset="-122"/>
              </a:rPr>
              <a:t>到网 </a:t>
            </a:r>
            <a:r>
              <a:rPr kumimoji="1" lang="en-US" altLang="zh-CN" sz="2800" b="1" dirty="0">
                <a:solidFill>
                  <a:srgbClr val="0000CC"/>
                </a:solidFill>
                <a:latin typeface="+mn-lt"/>
                <a:ea typeface="黑体" pitchFamily="2" charset="-122"/>
              </a:rPr>
              <a:t>1 </a:t>
            </a:r>
            <a:r>
              <a:rPr kumimoji="1" lang="zh-CN" altLang="en-US" sz="2800" b="1" dirty="0">
                <a:solidFill>
                  <a:srgbClr val="0000CC"/>
                </a:solidFill>
                <a:latin typeface="+mn-lt"/>
                <a:ea typeface="黑体" pitchFamily="2" charset="-122"/>
              </a:rPr>
              <a:t>的距离都增大到 </a:t>
            </a:r>
            <a:r>
              <a:rPr kumimoji="1" lang="en-US" altLang="zh-CN" sz="2800" b="1" dirty="0">
                <a:solidFill>
                  <a:srgbClr val="0000CC"/>
                </a:solidFill>
                <a:latin typeface="+mn-lt"/>
                <a:ea typeface="黑体" pitchFamily="2" charset="-122"/>
              </a:rPr>
              <a:t>16 </a:t>
            </a:r>
            <a:r>
              <a:rPr kumimoji="1" lang="zh-CN" altLang="en-US" sz="2800" b="1" dirty="0">
                <a:solidFill>
                  <a:srgbClr val="0000CC"/>
                </a:solidFill>
                <a:latin typeface="+mn-lt"/>
                <a:ea typeface="黑体" pitchFamily="2" charset="-122"/>
              </a:rPr>
              <a:t>时，</a:t>
            </a:r>
            <a:r>
              <a:rPr kumimoji="1" lang="en-US" altLang="zh-CN" sz="2800" b="1" dirty="0">
                <a:solidFill>
                  <a:srgbClr val="0000CC"/>
                </a:solidFill>
                <a:latin typeface="+mn-lt"/>
                <a:ea typeface="黑体" pitchFamily="2" charset="-122"/>
              </a:rPr>
              <a:t>R</a:t>
            </a:r>
            <a:r>
              <a:rPr kumimoji="1" lang="en-US" altLang="zh-CN" sz="2800" b="1" baseline="-25000" dirty="0">
                <a:solidFill>
                  <a:srgbClr val="0000CC"/>
                </a:solidFill>
                <a:latin typeface="+mn-lt"/>
                <a:ea typeface="黑体" pitchFamily="2" charset="-122"/>
              </a:rPr>
              <a:t>1 </a:t>
            </a:r>
            <a:r>
              <a:rPr kumimoji="1" lang="zh-CN" altLang="en-US" sz="2800" b="1" dirty="0">
                <a:solidFill>
                  <a:srgbClr val="0000CC"/>
                </a:solidFill>
                <a:latin typeface="+mn-lt"/>
                <a:ea typeface="黑体" pitchFamily="2" charset="-122"/>
              </a:rPr>
              <a:t>和 </a:t>
            </a:r>
            <a:r>
              <a:rPr kumimoji="1" lang="en-US" altLang="zh-CN" sz="2800" b="1" dirty="0">
                <a:solidFill>
                  <a:srgbClr val="0000CC"/>
                </a:solidFill>
                <a:latin typeface="+mn-lt"/>
                <a:ea typeface="黑体" pitchFamily="2" charset="-122"/>
              </a:rPr>
              <a:t>R</a:t>
            </a:r>
            <a:r>
              <a:rPr kumimoji="1" lang="en-US" altLang="zh-CN" sz="2800" b="1" baseline="-25000" dirty="0">
                <a:solidFill>
                  <a:srgbClr val="0000CC"/>
                </a:solidFill>
                <a:latin typeface="+mn-lt"/>
                <a:ea typeface="黑体" pitchFamily="2" charset="-122"/>
              </a:rPr>
              <a:t>2 </a:t>
            </a:r>
            <a:r>
              <a:rPr kumimoji="1" lang="zh-CN" altLang="en-US" sz="2800" b="1" dirty="0">
                <a:solidFill>
                  <a:srgbClr val="0000CC"/>
                </a:solidFill>
                <a:latin typeface="+mn-lt"/>
                <a:ea typeface="黑体" pitchFamily="2" charset="-122"/>
              </a:rPr>
              <a:t>才知道网 </a:t>
            </a:r>
            <a:r>
              <a:rPr kumimoji="1" lang="en-US" altLang="zh-CN" sz="2800" b="1" dirty="0">
                <a:solidFill>
                  <a:srgbClr val="0000CC"/>
                </a:solidFill>
                <a:latin typeface="+mn-lt"/>
                <a:ea typeface="黑体" pitchFamily="2" charset="-122"/>
              </a:rPr>
              <a:t>1 </a:t>
            </a:r>
            <a:r>
              <a:rPr kumimoji="1" lang="zh-CN" altLang="en-US" sz="2800" b="1" dirty="0">
                <a:solidFill>
                  <a:srgbClr val="0000CC"/>
                </a:solidFill>
                <a:latin typeface="+mn-lt"/>
                <a:ea typeface="黑体" pitchFamily="2" charset="-122"/>
              </a:rPr>
              <a:t>是不可达的。 </a:t>
            </a:r>
          </a:p>
        </p:txBody>
      </p:sp>
      <p:sp>
        <p:nvSpPr>
          <p:cNvPr id="579728" name="Text Box 144"/>
          <p:cNvSpPr txBox="1">
            <a:spLocks noChangeArrowheads="1"/>
          </p:cNvSpPr>
          <p:nvPr/>
        </p:nvSpPr>
        <p:spPr bwMode="auto">
          <a:xfrm>
            <a:off x="338789" y="134953"/>
            <a:ext cx="9510755" cy="1384995"/>
          </a:xfrm>
          <a:prstGeom prst="rect">
            <a:avLst/>
          </a:prstGeom>
          <a:solidFill>
            <a:srgbClr val="CCEC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kumimoji="1" lang="zh-CN" altLang="en-US" sz="2800" b="1" dirty="0">
                <a:solidFill>
                  <a:srgbClr val="0000CC"/>
                </a:solidFill>
                <a:latin typeface="+mn-lt"/>
                <a:ea typeface="黑体" pitchFamily="2" charset="-122"/>
              </a:rPr>
              <a:t>这就是</a:t>
            </a:r>
            <a:r>
              <a:rPr kumimoji="1" lang="zh-CN" altLang="en-US" sz="2800" b="1" dirty="0">
                <a:solidFill>
                  <a:srgbClr val="C00000"/>
                </a:solidFill>
                <a:latin typeface="+mn-lt"/>
                <a:ea typeface="黑体" pitchFamily="2" charset="-122"/>
              </a:rPr>
              <a:t>好消息传播得快，而坏消息传播得慢</a:t>
            </a:r>
            <a:r>
              <a:rPr kumimoji="1" lang="zh-CN" altLang="en-US" sz="2800" b="1" dirty="0">
                <a:solidFill>
                  <a:srgbClr val="0000CC"/>
                </a:solidFill>
                <a:latin typeface="+mn-lt"/>
                <a:ea typeface="黑体" pitchFamily="2" charset="-122"/>
              </a:rPr>
              <a:t>。网络出故障的传播时间往往需要较长的时间</a:t>
            </a:r>
            <a:r>
              <a:rPr kumimoji="1" lang="en-US" altLang="zh-CN" sz="2800" b="1" dirty="0">
                <a:solidFill>
                  <a:srgbClr val="0000CC"/>
                </a:solidFill>
                <a:latin typeface="+mn-lt"/>
                <a:ea typeface="黑体" pitchFamily="2" charset="-122"/>
              </a:rPr>
              <a:t>(</a:t>
            </a:r>
            <a:r>
              <a:rPr kumimoji="1" lang="zh-CN" altLang="en-US" sz="2800" b="1" dirty="0">
                <a:solidFill>
                  <a:srgbClr val="0000CC"/>
                </a:solidFill>
                <a:latin typeface="+mn-lt"/>
                <a:ea typeface="黑体" pitchFamily="2" charset="-122"/>
              </a:rPr>
              <a:t>例如数分钟</a:t>
            </a:r>
            <a:r>
              <a:rPr kumimoji="1" lang="en-US" altLang="zh-CN" sz="2800" b="1" dirty="0">
                <a:solidFill>
                  <a:srgbClr val="0000CC"/>
                </a:solidFill>
                <a:latin typeface="+mn-lt"/>
                <a:ea typeface="黑体" pitchFamily="2" charset="-122"/>
              </a:rPr>
              <a:t>)</a:t>
            </a:r>
            <a:r>
              <a:rPr kumimoji="1" lang="zh-CN" altLang="en-US" sz="2800" b="1" dirty="0">
                <a:solidFill>
                  <a:srgbClr val="0000CC"/>
                </a:solidFill>
                <a:latin typeface="+mn-lt"/>
                <a:ea typeface="黑体" pitchFamily="2" charset="-122"/>
              </a:rPr>
              <a:t>。这是 </a:t>
            </a:r>
            <a:r>
              <a:rPr kumimoji="1" lang="en-US" altLang="zh-CN" sz="2800" b="1" dirty="0">
                <a:solidFill>
                  <a:srgbClr val="0000CC"/>
                </a:solidFill>
                <a:latin typeface="+mn-lt"/>
                <a:ea typeface="黑体" pitchFamily="2" charset="-122"/>
              </a:rPr>
              <a:t>RIP </a:t>
            </a:r>
            <a:r>
              <a:rPr kumimoji="1" lang="zh-CN" altLang="en-US" sz="2800" b="1" dirty="0">
                <a:solidFill>
                  <a:srgbClr val="0000CC"/>
                </a:solidFill>
                <a:latin typeface="+mn-lt"/>
                <a:ea typeface="黑体" pitchFamily="2" charset="-122"/>
              </a:rPr>
              <a:t>的一个主要缺点。 </a:t>
            </a:r>
          </a:p>
        </p:txBody>
      </p:sp>
    </p:spTree>
    <p:extLst>
      <p:ext uri="{BB962C8B-B14F-4D97-AF65-F5344CB8AC3E}">
        <p14:creationId xmlns:p14="http://schemas.microsoft.com/office/powerpoint/2010/main" val="1782297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97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728"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2"/>
          <p:cNvSpPr>
            <a:spLocks noGrp="1" noChangeArrowheads="1"/>
          </p:cNvSpPr>
          <p:nvPr>
            <p:ph type="title"/>
          </p:nvPr>
        </p:nvSpPr>
        <p:spPr/>
        <p:txBody>
          <a:bodyPr/>
          <a:lstStyle/>
          <a:p>
            <a:pPr algn="ctr"/>
            <a:r>
              <a:rPr lang="en-US" altLang="zh-CN"/>
              <a:t>RIP </a:t>
            </a:r>
            <a:r>
              <a:rPr lang="zh-CN" altLang="en-US"/>
              <a:t>协议的优缺点 </a:t>
            </a:r>
          </a:p>
        </p:txBody>
      </p:sp>
      <p:sp>
        <p:nvSpPr>
          <p:cNvPr id="573443" name="Rectangle 3"/>
          <p:cNvSpPr>
            <a:spLocks noGrp="1" noChangeArrowheads="1"/>
          </p:cNvSpPr>
          <p:nvPr>
            <p:ph idx="1"/>
          </p:nvPr>
        </p:nvSpPr>
        <p:spPr>
          <a:noFill/>
        </p:spPr>
        <p:txBody>
          <a:bodyPr/>
          <a:lstStyle/>
          <a:p>
            <a:r>
              <a:rPr lang="zh-CN" altLang="en-US" dirty="0">
                <a:solidFill>
                  <a:srgbClr val="FF0000"/>
                </a:solidFill>
              </a:rPr>
              <a:t>优点：</a:t>
            </a:r>
            <a:endParaRPr lang="en-US" altLang="zh-CN" dirty="0">
              <a:solidFill>
                <a:srgbClr val="FF0000"/>
              </a:solidFill>
            </a:endParaRPr>
          </a:p>
          <a:p>
            <a:pPr lvl="1"/>
            <a:r>
              <a:rPr lang="zh-CN" altLang="en-US" dirty="0"/>
              <a:t>实现简单，开销较小。</a:t>
            </a:r>
            <a:endParaRPr lang="en-US" altLang="zh-CN" dirty="0"/>
          </a:p>
          <a:p>
            <a:r>
              <a:rPr lang="zh-CN" altLang="en-US" dirty="0">
                <a:solidFill>
                  <a:srgbClr val="0000FF"/>
                </a:solidFill>
              </a:rPr>
              <a:t>缺点：</a:t>
            </a:r>
          </a:p>
          <a:p>
            <a:pPr lvl="1"/>
            <a:r>
              <a:rPr lang="en-US" altLang="zh-CN" dirty="0"/>
              <a:t>RIP </a:t>
            </a:r>
            <a:r>
              <a:rPr lang="zh-CN" altLang="en-US" dirty="0"/>
              <a:t>限制了网络的规模，它能使用的最大距离为 </a:t>
            </a:r>
            <a:r>
              <a:rPr lang="en-US" altLang="zh-CN" dirty="0"/>
              <a:t>15</a:t>
            </a:r>
            <a:r>
              <a:rPr lang="zh-CN" altLang="en-US" dirty="0"/>
              <a:t>（</a:t>
            </a:r>
            <a:r>
              <a:rPr lang="en-US" altLang="zh-CN" dirty="0"/>
              <a:t>16 </a:t>
            </a:r>
            <a:r>
              <a:rPr lang="zh-CN" altLang="en-US" dirty="0"/>
              <a:t>表示不可达）。</a:t>
            </a:r>
          </a:p>
          <a:p>
            <a:pPr lvl="1"/>
            <a:r>
              <a:rPr lang="zh-CN" altLang="en-US" dirty="0"/>
              <a:t>路由器之间交换的路由信息是路由器中的完整路由表，因而随着网络规模的扩大，开销也就增加。 </a:t>
            </a:r>
          </a:p>
          <a:p>
            <a:pPr lvl="1"/>
            <a:r>
              <a:rPr lang="zh-CN" altLang="zh-CN" dirty="0"/>
              <a:t>“坏消息传播得慢”，使更新过程的收敛时间过长</a:t>
            </a:r>
            <a:r>
              <a:rPr lang="zh-CN" altLang="en-US" dirty="0"/>
              <a:t>。</a:t>
            </a:r>
          </a:p>
        </p:txBody>
      </p:sp>
    </p:spTree>
    <p:extLst>
      <p:ext uri="{BB962C8B-B14F-4D97-AF65-F5344CB8AC3E}">
        <p14:creationId xmlns:p14="http://schemas.microsoft.com/office/powerpoint/2010/main" val="13196990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r>
              <a:rPr lang="zh-CN" altLang="zh-CN" dirty="0"/>
              <a:t>路由选择协议</a:t>
            </a:r>
            <a:r>
              <a:rPr lang="en-US" altLang="zh-CN" dirty="0"/>
              <a:t>: </a:t>
            </a:r>
            <a:r>
              <a:rPr lang="zh-CN" altLang="en-US" dirty="0"/>
              <a:t>内部网关协议 </a:t>
            </a:r>
            <a:r>
              <a:rPr lang="en-US" altLang="zh-CN" dirty="0"/>
              <a:t>OSPF</a:t>
            </a:r>
            <a:endParaRPr lang="en-US" altLang="zh-CN" sz="3600" dirty="0"/>
          </a:p>
        </p:txBody>
      </p:sp>
      <p:sp>
        <p:nvSpPr>
          <p:cNvPr id="580611" name="Rectangle 3"/>
          <p:cNvSpPr>
            <a:spLocks noGrp="1" noChangeArrowheads="1"/>
          </p:cNvSpPr>
          <p:nvPr>
            <p:ph idx="1"/>
          </p:nvPr>
        </p:nvSpPr>
        <p:spPr>
          <a:noFill/>
        </p:spPr>
        <p:txBody>
          <a:bodyPr/>
          <a:lstStyle/>
          <a:p>
            <a:pPr>
              <a:spcBef>
                <a:spcPts val="1200"/>
              </a:spcBef>
            </a:pPr>
            <a:r>
              <a:rPr lang="zh-CN" altLang="zh-CN" dirty="0"/>
              <a:t>开放最短路径优先</a:t>
            </a:r>
            <a:r>
              <a:rPr lang="en-US" altLang="zh-CN" dirty="0"/>
              <a:t> OSPF (Open Shortest Path First)</a:t>
            </a:r>
            <a:r>
              <a:rPr lang="zh-CN" altLang="zh-CN" dirty="0"/>
              <a:t>是为克服</a:t>
            </a:r>
            <a:r>
              <a:rPr lang="en-US" altLang="zh-CN" dirty="0"/>
              <a:t> RIP </a:t>
            </a:r>
            <a:r>
              <a:rPr lang="zh-CN" altLang="zh-CN" dirty="0"/>
              <a:t>的缺点在</a:t>
            </a:r>
            <a:r>
              <a:rPr lang="en-US" altLang="zh-CN" dirty="0"/>
              <a:t> 1989 </a:t>
            </a:r>
            <a:r>
              <a:rPr lang="zh-CN" altLang="zh-CN" dirty="0"/>
              <a:t>年开发出来的。</a:t>
            </a:r>
            <a:endParaRPr lang="en-US" altLang="zh-CN" dirty="0"/>
          </a:p>
          <a:p>
            <a:pPr>
              <a:spcBef>
                <a:spcPts val="1200"/>
              </a:spcBef>
            </a:pPr>
            <a:r>
              <a:rPr lang="en-US" altLang="zh-CN" dirty="0">
                <a:solidFill>
                  <a:srgbClr val="0000FF"/>
                </a:solidFill>
              </a:rPr>
              <a:t>OSPF </a:t>
            </a:r>
            <a:r>
              <a:rPr lang="zh-CN" altLang="zh-CN" dirty="0">
                <a:solidFill>
                  <a:srgbClr val="0000FF"/>
                </a:solidFill>
              </a:rPr>
              <a:t>的原理很简单，但实现起来却较复杂。</a:t>
            </a:r>
            <a:endParaRPr lang="en-US" altLang="zh-CN" dirty="0">
              <a:solidFill>
                <a:srgbClr val="0000FF"/>
              </a:solidFill>
            </a:endParaRPr>
          </a:p>
        </p:txBody>
      </p:sp>
    </p:spTree>
    <p:extLst>
      <p:ext uri="{BB962C8B-B14F-4D97-AF65-F5344CB8AC3E}">
        <p14:creationId xmlns:p14="http://schemas.microsoft.com/office/powerpoint/2010/main" val="4260757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pPr>
              <a:lnSpc>
                <a:spcPct val="90000"/>
              </a:lnSpc>
            </a:pPr>
            <a:r>
              <a:rPr lang="en-US" altLang="zh-CN" dirty="0"/>
              <a:t>1.  OSPF </a:t>
            </a:r>
            <a:r>
              <a:rPr lang="zh-CN" altLang="en-US" dirty="0"/>
              <a:t>协议的基本特点</a:t>
            </a:r>
          </a:p>
        </p:txBody>
      </p:sp>
      <p:sp>
        <p:nvSpPr>
          <p:cNvPr id="58061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1200"/>
              </a:spcBef>
            </a:pPr>
            <a:r>
              <a:rPr lang="zh-CN" altLang="en-US" dirty="0"/>
              <a:t>“</a:t>
            </a:r>
            <a:r>
              <a:rPr lang="zh-CN" altLang="en-US" dirty="0">
                <a:solidFill>
                  <a:srgbClr val="FF0000"/>
                </a:solidFill>
              </a:rPr>
              <a:t>开放</a:t>
            </a:r>
            <a:r>
              <a:rPr lang="zh-CN" altLang="en-US" dirty="0"/>
              <a:t>”表明 </a:t>
            </a:r>
            <a:r>
              <a:rPr lang="en-US" altLang="zh-CN" dirty="0"/>
              <a:t>OSPF </a:t>
            </a:r>
            <a:r>
              <a:rPr lang="zh-CN" altLang="en-US" dirty="0"/>
              <a:t>协议不是受某一家厂商控制，而是公开发表的。</a:t>
            </a:r>
          </a:p>
          <a:p>
            <a:pPr>
              <a:spcBef>
                <a:spcPts val="1200"/>
              </a:spcBef>
            </a:pPr>
            <a:r>
              <a:rPr lang="zh-CN" altLang="en-US" dirty="0"/>
              <a:t>“</a:t>
            </a:r>
            <a:r>
              <a:rPr lang="zh-CN" altLang="en-US" dirty="0">
                <a:solidFill>
                  <a:srgbClr val="FF0000"/>
                </a:solidFill>
              </a:rPr>
              <a:t>最短路径优先</a:t>
            </a:r>
            <a:r>
              <a:rPr lang="zh-CN" altLang="en-US" dirty="0"/>
              <a:t>”是因为使用了 </a:t>
            </a:r>
            <a:r>
              <a:rPr lang="en-US" altLang="zh-CN" dirty="0" err="1"/>
              <a:t>Dijkstra</a:t>
            </a:r>
            <a:r>
              <a:rPr lang="en-US" altLang="zh-CN" dirty="0"/>
              <a:t> </a:t>
            </a:r>
            <a:r>
              <a:rPr lang="zh-CN" altLang="en-US" dirty="0"/>
              <a:t>提出的最短路径算法 </a:t>
            </a:r>
            <a:r>
              <a:rPr lang="en-US" altLang="zh-CN" dirty="0"/>
              <a:t>SPF</a:t>
            </a:r>
          </a:p>
          <a:p>
            <a:pPr>
              <a:spcBef>
                <a:spcPts val="1200"/>
              </a:spcBef>
            </a:pPr>
            <a:r>
              <a:rPr lang="zh-CN" altLang="en-US" dirty="0"/>
              <a:t>采用</a:t>
            </a:r>
            <a:r>
              <a:rPr lang="zh-CN" altLang="en-US" dirty="0">
                <a:solidFill>
                  <a:srgbClr val="FF0000"/>
                </a:solidFill>
              </a:rPr>
              <a:t>分布式的链路状态协议</a:t>
            </a:r>
            <a:r>
              <a:rPr lang="zh-CN" altLang="en-US" dirty="0"/>
              <a:t> </a:t>
            </a:r>
            <a:r>
              <a:rPr lang="en-US" altLang="zh-CN" dirty="0"/>
              <a:t>(link state protocol)</a:t>
            </a:r>
            <a:r>
              <a:rPr lang="zh-CN" altLang="en-US" dirty="0"/>
              <a:t>。 </a:t>
            </a:r>
          </a:p>
          <a:p>
            <a:pPr>
              <a:spcBef>
                <a:spcPts val="1200"/>
              </a:spcBef>
            </a:pPr>
            <a:r>
              <a:rPr lang="zh-CN" altLang="en-US" dirty="0">
                <a:solidFill>
                  <a:srgbClr val="FF0000"/>
                </a:solidFill>
              </a:rPr>
              <a:t>注意：</a:t>
            </a:r>
            <a:r>
              <a:rPr lang="en-US" altLang="zh-CN" dirty="0"/>
              <a:t>OSPF </a:t>
            </a:r>
            <a:r>
              <a:rPr lang="zh-CN" altLang="en-US" dirty="0"/>
              <a:t>只是一个协议的名字，它并不表示其他的路由选择协议不是“最短路径优先”。</a:t>
            </a:r>
          </a:p>
        </p:txBody>
      </p:sp>
    </p:spTree>
    <p:extLst>
      <p:ext uri="{BB962C8B-B14F-4D97-AF65-F5344CB8AC3E}">
        <p14:creationId xmlns:p14="http://schemas.microsoft.com/office/powerpoint/2010/main" val="2047077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pPr algn="ctr"/>
            <a:r>
              <a:rPr lang="zh-CN" altLang="en-US"/>
              <a:t>三个要点 </a:t>
            </a:r>
          </a:p>
        </p:txBody>
      </p:sp>
      <p:sp>
        <p:nvSpPr>
          <p:cNvPr id="581635" name="Rectangle 3"/>
          <p:cNvSpPr>
            <a:spLocks noGrp="1" noChangeArrowheads="1"/>
          </p:cNvSpPr>
          <p:nvPr>
            <p:ph idx="1"/>
          </p:nvPr>
        </p:nvSpPr>
        <p:spPr>
          <a:noFill/>
        </p:spPr>
        <p:txBody>
          <a:bodyPr/>
          <a:lstStyle/>
          <a:p>
            <a:r>
              <a:rPr lang="zh-CN" altLang="en-US" dirty="0">
                <a:solidFill>
                  <a:srgbClr val="FF0000"/>
                </a:solidFill>
              </a:rPr>
              <a:t>向本自治系统中所有路由器发送信息，</a:t>
            </a:r>
            <a:r>
              <a:rPr lang="zh-CN" altLang="en-US" dirty="0"/>
              <a:t>这里使用的方法是</a:t>
            </a:r>
            <a:r>
              <a:rPr lang="zh-CN" altLang="en-US" dirty="0">
                <a:solidFill>
                  <a:srgbClr val="FF0000"/>
                </a:solidFill>
              </a:rPr>
              <a:t>洪泛法。</a:t>
            </a:r>
          </a:p>
          <a:p>
            <a:r>
              <a:rPr lang="zh-CN" altLang="en-US" dirty="0"/>
              <a:t>发送的信息就是与本路由器</a:t>
            </a:r>
            <a:r>
              <a:rPr lang="zh-CN" altLang="en-US" dirty="0">
                <a:solidFill>
                  <a:srgbClr val="FF0000"/>
                </a:solidFill>
              </a:rPr>
              <a:t>相邻</a:t>
            </a:r>
            <a:r>
              <a:rPr lang="zh-CN" altLang="en-US" dirty="0"/>
              <a:t>的所有路由器的链路状态，但这只是路由器所知道的</a:t>
            </a:r>
            <a:r>
              <a:rPr lang="zh-CN" altLang="en-US" dirty="0">
                <a:solidFill>
                  <a:srgbClr val="FF0000"/>
                </a:solidFill>
              </a:rPr>
              <a:t>部分信息。</a:t>
            </a:r>
            <a:endParaRPr lang="en-US" altLang="zh-CN" dirty="0">
              <a:solidFill>
                <a:srgbClr val="FF0000"/>
              </a:solidFill>
            </a:endParaRPr>
          </a:p>
          <a:p>
            <a:pPr lvl="1"/>
            <a:r>
              <a:rPr lang="zh-CN" altLang="en-US" sz="2800" dirty="0">
                <a:solidFill>
                  <a:srgbClr val="0000FF"/>
                </a:solidFill>
                <a:latin typeface="Arial" charset="0"/>
              </a:rPr>
              <a:t>“链路状态”就是说明本路由器都和哪些路由器相邻，以及该链路的“</a:t>
            </a:r>
            <a:r>
              <a:rPr lang="zh-CN" altLang="en-US" sz="2800" dirty="0">
                <a:solidFill>
                  <a:srgbClr val="FF0000"/>
                </a:solidFill>
                <a:latin typeface="Arial" charset="0"/>
              </a:rPr>
              <a:t>度量</a:t>
            </a:r>
            <a:r>
              <a:rPr lang="zh-CN" altLang="en-US" sz="2800" dirty="0">
                <a:solidFill>
                  <a:srgbClr val="0000FF"/>
                </a:solidFill>
                <a:latin typeface="Arial" charset="0"/>
              </a:rPr>
              <a:t>”</a:t>
            </a:r>
            <a:r>
              <a:rPr lang="en-US" altLang="zh-CN" sz="2800" dirty="0">
                <a:solidFill>
                  <a:srgbClr val="0000FF"/>
                </a:solidFill>
                <a:latin typeface="Arial" charset="0"/>
              </a:rPr>
              <a:t>(metric)</a:t>
            </a:r>
            <a:r>
              <a:rPr lang="zh-CN" altLang="en-US" sz="2800" dirty="0">
                <a:solidFill>
                  <a:srgbClr val="0000FF"/>
                </a:solidFill>
                <a:latin typeface="Arial" charset="0"/>
              </a:rPr>
              <a:t>。</a:t>
            </a:r>
            <a:r>
              <a:rPr lang="zh-CN" altLang="en-US" sz="2800" dirty="0">
                <a:solidFill>
                  <a:srgbClr val="0000FF"/>
                </a:solidFill>
              </a:rPr>
              <a:t> </a:t>
            </a:r>
          </a:p>
          <a:p>
            <a:r>
              <a:rPr lang="zh-CN" altLang="en-US" dirty="0"/>
              <a:t>只有当链路状态</a:t>
            </a:r>
            <a:r>
              <a:rPr lang="zh-CN" altLang="en-US" dirty="0">
                <a:solidFill>
                  <a:srgbClr val="FF0000"/>
                </a:solidFill>
              </a:rPr>
              <a:t>发生变化</a:t>
            </a:r>
            <a:r>
              <a:rPr lang="zh-CN" altLang="en-US" dirty="0"/>
              <a:t>时，路由器才用洪泛法向所有路由器发送此信息。  </a:t>
            </a:r>
          </a:p>
        </p:txBody>
      </p:sp>
    </p:spTree>
    <p:extLst>
      <p:ext uri="{BB962C8B-B14F-4D97-AF65-F5344CB8AC3E}">
        <p14:creationId xmlns:p14="http://schemas.microsoft.com/office/powerpoint/2010/main" val="25421217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algn="ctr"/>
            <a:r>
              <a:rPr lang="zh-CN" altLang="en-US" sz="4000" dirty="0"/>
              <a:t>链路状态数据库 </a:t>
            </a:r>
            <a:r>
              <a:rPr lang="en-US" altLang="zh-CN" sz="3200" dirty="0"/>
              <a:t>(link-state database)</a:t>
            </a:r>
            <a:r>
              <a:rPr lang="en-US" altLang="zh-CN" sz="4000" dirty="0"/>
              <a:t> </a:t>
            </a:r>
          </a:p>
        </p:txBody>
      </p:sp>
      <p:sp>
        <p:nvSpPr>
          <p:cNvPr id="582659"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100000"/>
              </a:lnSpc>
            </a:pPr>
            <a:r>
              <a:rPr lang="zh-CN" altLang="en-US" dirty="0"/>
              <a:t>由于各路由器之间频繁地交换链路状态信息，因此所有的路由器最终都能建立一个链路状态数据库。</a:t>
            </a:r>
          </a:p>
          <a:p>
            <a:pPr>
              <a:lnSpc>
                <a:spcPct val="100000"/>
              </a:lnSpc>
            </a:pPr>
            <a:r>
              <a:rPr lang="zh-CN" altLang="en-US" dirty="0"/>
              <a:t>这个数据库实际上就是</a:t>
            </a:r>
            <a:r>
              <a:rPr lang="zh-CN" altLang="en-US" dirty="0">
                <a:solidFill>
                  <a:srgbClr val="FF0000"/>
                </a:solidFill>
              </a:rPr>
              <a:t>全网的拓扑结构图，它在全网范围内是一致的</a:t>
            </a:r>
            <a:r>
              <a:rPr lang="zh-CN" altLang="en-US" dirty="0"/>
              <a:t>（这称为链路状态数据库的同步）。</a:t>
            </a:r>
          </a:p>
          <a:p>
            <a:pPr>
              <a:lnSpc>
                <a:spcPct val="100000"/>
              </a:lnSpc>
            </a:pPr>
            <a:r>
              <a:rPr lang="en-US" altLang="zh-CN" dirty="0"/>
              <a:t>OSPF </a:t>
            </a:r>
            <a:r>
              <a:rPr lang="zh-CN" altLang="en-US" dirty="0"/>
              <a:t>的链路状态数据库能</a:t>
            </a:r>
            <a:r>
              <a:rPr lang="zh-CN" altLang="en-US" dirty="0">
                <a:solidFill>
                  <a:srgbClr val="FF0000"/>
                </a:solidFill>
              </a:rPr>
              <a:t>较快地进行更新，</a:t>
            </a:r>
            <a:r>
              <a:rPr lang="zh-CN" altLang="en-US" dirty="0"/>
              <a:t>使各个路由器能及时更新其路由表。</a:t>
            </a:r>
            <a:endParaRPr lang="en-US" altLang="zh-CN" dirty="0"/>
          </a:p>
          <a:p>
            <a:pPr>
              <a:lnSpc>
                <a:spcPct val="100000"/>
              </a:lnSpc>
            </a:pPr>
            <a:r>
              <a:rPr lang="en-US" altLang="zh-CN" dirty="0">
                <a:solidFill>
                  <a:srgbClr val="0000FF"/>
                </a:solidFill>
              </a:rPr>
              <a:t>OSPF </a:t>
            </a:r>
            <a:r>
              <a:rPr lang="zh-CN" altLang="en-US" dirty="0">
                <a:solidFill>
                  <a:srgbClr val="0000FF"/>
                </a:solidFill>
              </a:rPr>
              <a:t>的更新过程收敛得快是其重要优点。</a:t>
            </a:r>
          </a:p>
        </p:txBody>
      </p:sp>
    </p:spTree>
    <p:extLst>
      <p:ext uri="{BB962C8B-B14F-4D97-AF65-F5344CB8AC3E}">
        <p14:creationId xmlns:p14="http://schemas.microsoft.com/office/powerpoint/2010/main" val="28554984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pPr algn="ctr"/>
            <a:r>
              <a:rPr lang="en-US" altLang="zh-CN" dirty="0"/>
              <a:t>OSPF </a:t>
            </a:r>
            <a:r>
              <a:rPr lang="zh-CN" altLang="en-US" dirty="0"/>
              <a:t>的区域 </a:t>
            </a:r>
            <a:r>
              <a:rPr lang="en-US" altLang="zh-CN" dirty="0"/>
              <a:t>(area) </a:t>
            </a:r>
          </a:p>
        </p:txBody>
      </p:sp>
      <p:sp>
        <p:nvSpPr>
          <p:cNvPr id="583683" name="Rectangle 3"/>
          <p:cNvSpPr>
            <a:spLocks noGrp="1" noChangeArrowheads="1"/>
          </p:cNvSpPr>
          <p:nvPr>
            <p:ph idx="1"/>
          </p:nvPr>
        </p:nvSpPr>
        <p:spPr/>
        <p:txBody>
          <a:bodyPr/>
          <a:lstStyle/>
          <a:p>
            <a:r>
              <a:rPr lang="zh-CN" altLang="en-US" dirty="0"/>
              <a:t>为了使 </a:t>
            </a:r>
            <a:r>
              <a:rPr lang="en-US" altLang="zh-CN" dirty="0"/>
              <a:t>OSPF </a:t>
            </a:r>
            <a:r>
              <a:rPr lang="zh-CN" altLang="en-US" dirty="0"/>
              <a:t>能够用于规模很大的网络，</a:t>
            </a:r>
            <a:r>
              <a:rPr lang="en-US" altLang="zh-CN" dirty="0"/>
              <a:t>OSPF </a:t>
            </a:r>
            <a:r>
              <a:rPr lang="zh-CN" altLang="en-US" dirty="0"/>
              <a:t>将一个自治系统再划分为若干个更小的范围，叫做</a:t>
            </a:r>
            <a:r>
              <a:rPr lang="zh-CN" altLang="en-US" dirty="0">
                <a:solidFill>
                  <a:srgbClr val="FF0000"/>
                </a:solidFill>
              </a:rPr>
              <a:t>区域。</a:t>
            </a:r>
          </a:p>
          <a:p>
            <a:r>
              <a:rPr lang="zh-CN" altLang="en-US" dirty="0"/>
              <a:t>每一个区域都有一个 </a:t>
            </a:r>
            <a:r>
              <a:rPr lang="en-US" altLang="zh-CN" dirty="0"/>
              <a:t>32 </a:t>
            </a:r>
            <a:r>
              <a:rPr lang="zh-CN" altLang="en-US" dirty="0"/>
              <a:t>位的区域标识符（用点分十进制表示）。</a:t>
            </a:r>
          </a:p>
          <a:p>
            <a:r>
              <a:rPr lang="zh-CN" altLang="en-US" dirty="0"/>
              <a:t>区域也不能太大，在一个区域内的路由器最好不超过 </a:t>
            </a:r>
            <a:r>
              <a:rPr lang="en-US" altLang="zh-CN" dirty="0"/>
              <a:t>200 </a:t>
            </a:r>
            <a:r>
              <a:rPr lang="zh-CN" altLang="en-US" dirty="0"/>
              <a:t>个。  </a:t>
            </a:r>
          </a:p>
        </p:txBody>
      </p:sp>
    </p:spTree>
    <p:extLst>
      <p:ext uri="{BB962C8B-B14F-4D97-AF65-F5344CB8AC3E}">
        <p14:creationId xmlns:p14="http://schemas.microsoft.com/office/powerpoint/2010/main" val="12324178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4706" name="Group 2"/>
          <p:cNvGrpSpPr>
            <a:grpSpLocks/>
          </p:cNvGrpSpPr>
          <p:nvPr/>
        </p:nvGrpSpPr>
        <p:grpSpPr bwMode="auto">
          <a:xfrm>
            <a:off x="249667" y="1819622"/>
            <a:ext cx="9599877" cy="3760788"/>
            <a:chOff x="79" y="1560"/>
            <a:chExt cx="5582" cy="2369"/>
          </a:xfrm>
        </p:grpSpPr>
        <p:sp>
          <p:nvSpPr>
            <p:cNvPr id="584707" name="AutoShape 3"/>
            <p:cNvSpPr>
              <a:spLocks noChangeArrowheads="1"/>
            </p:cNvSpPr>
            <p:nvPr/>
          </p:nvSpPr>
          <p:spPr bwMode="auto">
            <a:xfrm>
              <a:off x="79" y="1570"/>
              <a:ext cx="5582" cy="2359"/>
            </a:xfrm>
            <a:prstGeom prst="roundRect">
              <a:avLst>
                <a:gd name="adj" fmla="val 16667"/>
              </a:avLst>
            </a:prstGeom>
            <a:solidFill>
              <a:srgbClr val="CCECFF"/>
            </a:solidFill>
            <a:ln w="19050">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84708" name="Text Box 4"/>
            <p:cNvSpPr txBox="1">
              <a:spLocks noChangeArrowheads="1"/>
            </p:cNvSpPr>
            <p:nvPr/>
          </p:nvSpPr>
          <p:spPr bwMode="auto">
            <a:xfrm>
              <a:off x="247" y="1560"/>
              <a:ext cx="111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自治系统 </a:t>
              </a:r>
              <a:r>
                <a:rPr kumimoji="1" lang="en-US" altLang="zh-CN" sz="2400" b="1" dirty="0">
                  <a:solidFill>
                    <a:srgbClr val="0000CC"/>
                  </a:solidFill>
                  <a:latin typeface="+mn-lt"/>
                  <a:ea typeface="黑体" pitchFamily="2" charset="-122"/>
                </a:rPr>
                <a:t>AS</a:t>
              </a:r>
            </a:p>
          </p:txBody>
        </p:sp>
      </p:grpSp>
      <p:sp>
        <p:nvSpPr>
          <p:cNvPr id="584709" name="Rectangle 5"/>
          <p:cNvSpPr>
            <a:spLocks noGrp="1" noChangeArrowheads="1"/>
          </p:cNvSpPr>
          <p:nvPr>
            <p:ph type="title"/>
          </p:nvPr>
        </p:nvSpPr>
        <p:spPr/>
        <p:txBody>
          <a:bodyPr/>
          <a:lstStyle/>
          <a:p>
            <a:pPr algn="ctr"/>
            <a:r>
              <a:rPr lang="en-US" altLang="zh-CN" sz="4000" dirty="0"/>
              <a:t>OSPF </a:t>
            </a:r>
            <a:r>
              <a:rPr lang="zh-CN" altLang="en-US" sz="4000" dirty="0"/>
              <a:t>划分为两种不同的区域 </a:t>
            </a:r>
          </a:p>
        </p:txBody>
      </p:sp>
      <p:sp>
        <p:nvSpPr>
          <p:cNvPr id="584710" name="Oval 6"/>
          <p:cNvSpPr>
            <a:spLocks noChangeArrowheads="1"/>
          </p:cNvSpPr>
          <p:nvPr/>
        </p:nvSpPr>
        <p:spPr bwMode="auto">
          <a:xfrm>
            <a:off x="3909383" y="2406997"/>
            <a:ext cx="3135180" cy="1511300"/>
          </a:xfrm>
          <a:prstGeom prst="ellipse">
            <a:avLst/>
          </a:prstGeom>
          <a:solidFill>
            <a:srgbClr val="FFCCFF"/>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84711" name="Oval 7"/>
          <p:cNvSpPr>
            <a:spLocks noChangeArrowheads="1"/>
          </p:cNvSpPr>
          <p:nvPr/>
        </p:nvSpPr>
        <p:spPr bwMode="auto">
          <a:xfrm>
            <a:off x="361453" y="2337147"/>
            <a:ext cx="3430985"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84712" name="Oval 8"/>
          <p:cNvSpPr>
            <a:spLocks noChangeArrowheads="1"/>
          </p:cNvSpPr>
          <p:nvPr/>
        </p:nvSpPr>
        <p:spPr bwMode="auto">
          <a:xfrm>
            <a:off x="7127113" y="2337147"/>
            <a:ext cx="2605485" cy="2406650"/>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84713" name="Text Box 9"/>
          <p:cNvSpPr txBox="1">
            <a:spLocks noChangeArrowheads="1"/>
          </p:cNvSpPr>
          <p:nvPr/>
        </p:nvSpPr>
        <p:spPr bwMode="auto">
          <a:xfrm>
            <a:off x="1088924" y="4716810"/>
            <a:ext cx="18293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C00000"/>
                </a:solidFill>
                <a:latin typeface="+mn-lt"/>
                <a:ea typeface="黑体" pitchFamily="2" charset="-122"/>
              </a:rPr>
              <a:t>区域 </a:t>
            </a:r>
            <a:r>
              <a:rPr kumimoji="1" lang="en-US" altLang="zh-CN" sz="2400" b="1" dirty="0">
                <a:solidFill>
                  <a:srgbClr val="C00000"/>
                </a:solidFill>
                <a:latin typeface="+mn-lt"/>
                <a:ea typeface="黑体" pitchFamily="2" charset="-122"/>
              </a:rPr>
              <a:t>0.0.0.1</a:t>
            </a:r>
          </a:p>
        </p:txBody>
      </p:sp>
      <p:sp>
        <p:nvSpPr>
          <p:cNvPr id="584714" name="Text Box 10"/>
          <p:cNvSpPr txBox="1">
            <a:spLocks noChangeArrowheads="1"/>
          </p:cNvSpPr>
          <p:nvPr/>
        </p:nvSpPr>
        <p:spPr bwMode="auto">
          <a:xfrm>
            <a:off x="7641330" y="4788247"/>
            <a:ext cx="18293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C00000"/>
                </a:solidFill>
                <a:latin typeface="+mn-lt"/>
                <a:ea typeface="黑体" pitchFamily="2" charset="-122"/>
              </a:rPr>
              <a:t>区域 </a:t>
            </a:r>
            <a:r>
              <a:rPr kumimoji="1" lang="en-US" altLang="zh-CN" sz="2400" b="1">
                <a:solidFill>
                  <a:srgbClr val="C00000"/>
                </a:solidFill>
                <a:latin typeface="+mn-lt"/>
                <a:ea typeface="黑体" pitchFamily="2" charset="-122"/>
              </a:rPr>
              <a:t>0.0.0.3</a:t>
            </a:r>
          </a:p>
        </p:txBody>
      </p:sp>
      <p:sp>
        <p:nvSpPr>
          <p:cNvPr id="584715" name="Text Box 11"/>
          <p:cNvSpPr txBox="1">
            <a:spLocks noChangeArrowheads="1"/>
          </p:cNvSpPr>
          <p:nvPr/>
        </p:nvSpPr>
        <p:spPr bwMode="auto">
          <a:xfrm>
            <a:off x="3912822" y="1903760"/>
            <a:ext cx="24481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C00000"/>
                </a:solidFill>
                <a:latin typeface="+mn-lt"/>
                <a:ea typeface="黑体" pitchFamily="2" charset="-122"/>
              </a:rPr>
              <a:t>主干区域 </a:t>
            </a:r>
            <a:r>
              <a:rPr kumimoji="1" lang="en-US" altLang="zh-CN" sz="2400" b="1" dirty="0">
                <a:solidFill>
                  <a:srgbClr val="C00000"/>
                </a:solidFill>
                <a:latin typeface="+mn-lt"/>
                <a:ea typeface="黑体" pitchFamily="2" charset="-122"/>
              </a:rPr>
              <a:t>0.0.0.0</a:t>
            </a:r>
          </a:p>
        </p:txBody>
      </p:sp>
      <p:sp>
        <p:nvSpPr>
          <p:cNvPr id="584716" name="Line 12"/>
          <p:cNvSpPr>
            <a:spLocks noChangeShapeType="1"/>
          </p:cNvSpPr>
          <p:nvPr/>
        </p:nvSpPr>
        <p:spPr bwMode="auto">
          <a:xfrm flipV="1">
            <a:off x="5477833" y="1719611"/>
            <a:ext cx="1153980" cy="962025"/>
          </a:xfrm>
          <a:prstGeom prst="line">
            <a:avLst/>
          </a:prstGeom>
          <a:noFill/>
          <a:ln w="3810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17" name="Text Box 13"/>
          <p:cNvSpPr txBox="1">
            <a:spLocks noChangeArrowheads="1"/>
          </p:cNvSpPr>
          <p:nvPr/>
        </p:nvSpPr>
        <p:spPr bwMode="auto">
          <a:xfrm>
            <a:off x="5763541" y="1268760"/>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mn-lt"/>
                <a:ea typeface="黑体" pitchFamily="2" charset="-122"/>
              </a:rPr>
              <a:t>至其他自治系统</a:t>
            </a:r>
          </a:p>
        </p:txBody>
      </p:sp>
      <p:sp>
        <p:nvSpPr>
          <p:cNvPr id="584718" name="Line 14"/>
          <p:cNvSpPr>
            <a:spLocks noChangeShapeType="1"/>
          </p:cNvSpPr>
          <p:nvPr/>
        </p:nvSpPr>
        <p:spPr bwMode="auto">
          <a:xfrm>
            <a:off x="7127112" y="3230910"/>
            <a:ext cx="908050" cy="2730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19" name="Line 15"/>
          <p:cNvSpPr>
            <a:spLocks noChangeShapeType="1"/>
          </p:cNvSpPr>
          <p:nvPr/>
        </p:nvSpPr>
        <p:spPr bwMode="auto">
          <a:xfrm flipV="1">
            <a:off x="8200263" y="3437286"/>
            <a:ext cx="823781" cy="13652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0" name="Line 16"/>
          <p:cNvSpPr>
            <a:spLocks noChangeShapeType="1"/>
          </p:cNvSpPr>
          <p:nvPr/>
        </p:nvSpPr>
        <p:spPr bwMode="auto">
          <a:xfrm>
            <a:off x="8613013" y="2749897"/>
            <a:ext cx="411031" cy="68738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1" name="Line 17"/>
          <p:cNvSpPr>
            <a:spLocks noChangeShapeType="1"/>
          </p:cNvSpPr>
          <p:nvPr/>
        </p:nvSpPr>
        <p:spPr bwMode="auto">
          <a:xfrm flipH="1">
            <a:off x="8528743" y="3503961"/>
            <a:ext cx="495300" cy="75723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2" name="Line 18"/>
          <p:cNvSpPr>
            <a:spLocks noChangeShapeType="1"/>
          </p:cNvSpPr>
          <p:nvPr/>
        </p:nvSpPr>
        <p:spPr bwMode="auto">
          <a:xfrm flipV="1">
            <a:off x="5888863" y="3230910"/>
            <a:ext cx="1071431" cy="1381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3" name="Line 19"/>
          <p:cNvSpPr>
            <a:spLocks noChangeShapeType="1"/>
          </p:cNvSpPr>
          <p:nvPr/>
        </p:nvSpPr>
        <p:spPr bwMode="auto">
          <a:xfrm>
            <a:off x="5560383" y="2681635"/>
            <a:ext cx="163380" cy="6175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4" name="Line 20"/>
          <p:cNvSpPr>
            <a:spLocks noChangeShapeType="1"/>
          </p:cNvSpPr>
          <p:nvPr/>
        </p:nvSpPr>
        <p:spPr bwMode="auto">
          <a:xfrm flipH="1">
            <a:off x="5477833" y="3437285"/>
            <a:ext cx="245930" cy="4810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5" name="Line 21"/>
          <p:cNvSpPr>
            <a:spLocks noChangeShapeType="1"/>
          </p:cNvSpPr>
          <p:nvPr/>
        </p:nvSpPr>
        <p:spPr bwMode="auto">
          <a:xfrm>
            <a:off x="3744283" y="3094386"/>
            <a:ext cx="1733550" cy="2746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6" name="Line 22"/>
          <p:cNvSpPr>
            <a:spLocks noChangeShapeType="1"/>
          </p:cNvSpPr>
          <p:nvPr/>
        </p:nvSpPr>
        <p:spPr bwMode="auto">
          <a:xfrm flipV="1">
            <a:off x="3826833" y="2749897"/>
            <a:ext cx="1568450" cy="3444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7" name="Line 23"/>
          <p:cNvSpPr>
            <a:spLocks noChangeShapeType="1"/>
          </p:cNvSpPr>
          <p:nvPr/>
        </p:nvSpPr>
        <p:spPr bwMode="auto">
          <a:xfrm flipH="1">
            <a:off x="1186952" y="2749897"/>
            <a:ext cx="1236531" cy="34448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8" name="Line 24"/>
          <p:cNvSpPr>
            <a:spLocks noChangeShapeType="1"/>
          </p:cNvSpPr>
          <p:nvPr/>
        </p:nvSpPr>
        <p:spPr bwMode="auto">
          <a:xfrm>
            <a:off x="2423483" y="2816572"/>
            <a:ext cx="497019" cy="757238"/>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29" name="Line 25"/>
          <p:cNvSpPr>
            <a:spLocks noChangeShapeType="1"/>
          </p:cNvSpPr>
          <p:nvPr/>
        </p:nvSpPr>
        <p:spPr bwMode="auto">
          <a:xfrm flipV="1">
            <a:off x="3001333" y="3161060"/>
            <a:ext cx="742950" cy="41275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30" name="Line 26"/>
          <p:cNvSpPr>
            <a:spLocks noChangeShapeType="1"/>
          </p:cNvSpPr>
          <p:nvPr/>
        </p:nvSpPr>
        <p:spPr bwMode="auto">
          <a:xfrm flipH="1">
            <a:off x="1763083" y="3643660"/>
            <a:ext cx="1074869" cy="138112"/>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31" name="Line 27"/>
          <p:cNvSpPr>
            <a:spLocks noChangeShapeType="1"/>
          </p:cNvSpPr>
          <p:nvPr/>
        </p:nvSpPr>
        <p:spPr bwMode="auto">
          <a:xfrm>
            <a:off x="1763083" y="3848447"/>
            <a:ext cx="414469" cy="41275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584732" name="Group 28"/>
          <p:cNvGrpSpPr>
            <a:grpSpLocks/>
          </p:cNvGrpSpPr>
          <p:nvPr/>
        </p:nvGrpSpPr>
        <p:grpSpPr bwMode="auto">
          <a:xfrm>
            <a:off x="2588583" y="3369023"/>
            <a:ext cx="742950" cy="479425"/>
            <a:chOff x="2949" y="196"/>
            <a:chExt cx="941" cy="598"/>
          </a:xfrm>
        </p:grpSpPr>
        <p:sp>
          <p:nvSpPr>
            <p:cNvPr id="584733" name="Oval 29"/>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34" name="Oval 30"/>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35" name="Oval 31"/>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36" name="Oval 32"/>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37" name="Oval 33"/>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38" name="Oval 34"/>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39" name="Oval 35"/>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40" name="Oval 36"/>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41" name="Freeform 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42" name="Freeform 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43" name="Freeform 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pic>
        <p:nvPicPr>
          <p:cNvPr id="584744"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2052" y="3643661"/>
            <a:ext cx="564092"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84745"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002" y="2611785"/>
            <a:ext cx="564092" cy="3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84746"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6633" y="2956272"/>
            <a:ext cx="562371"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84747"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8462" y="2543523"/>
            <a:ext cx="564092"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84748"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7833" y="3230910"/>
            <a:ext cx="562371"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84749"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8113" y="3299173"/>
            <a:ext cx="562372"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584750"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6913" y="3094385"/>
            <a:ext cx="562372"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584751" name="Group 47"/>
          <p:cNvGrpSpPr>
            <a:grpSpLocks/>
          </p:cNvGrpSpPr>
          <p:nvPr/>
        </p:nvGrpSpPr>
        <p:grpSpPr bwMode="auto">
          <a:xfrm>
            <a:off x="1845633" y="4056411"/>
            <a:ext cx="742950" cy="479425"/>
            <a:chOff x="2949" y="196"/>
            <a:chExt cx="941" cy="598"/>
          </a:xfrm>
        </p:grpSpPr>
        <p:sp>
          <p:nvSpPr>
            <p:cNvPr id="584752" name="Oval 4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53" name="Oval 4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54" name="Oval 5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55" name="Oval 51"/>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56" name="Oval 5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57" name="Oval 5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58" name="Oval 5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59" name="Oval 55"/>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60" name="Freeform 5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61" name="Freeform 5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62" name="Freeform 5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584763" name="Group 59"/>
          <p:cNvGrpSpPr>
            <a:grpSpLocks/>
          </p:cNvGrpSpPr>
          <p:nvPr/>
        </p:nvGrpSpPr>
        <p:grpSpPr bwMode="auto">
          <a:xfrm>
            <a:off x="856752" y="2886422"/>
            <a:ext cx="742950" cy="482600"/>
            <a:chOff x="2949" y="196"/>
            <a:chExt cx="941" cy="598"/>
          </a:xfrm>
        </p:grpSpPr>
        <p:sp>
          <p:nvSpPr>
            <p:cNvPr id="584764" name="Oval 6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65" name="Oval 6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66" name="Oval 6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67" name="Oval 63"/>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68" name="Oval 6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69" name="Oval 6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70" name="Oval 6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71" name="Oval 67"/>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72" name="Freeform 6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73" name="Freeform 6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74" name="Freeform 7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584775" name="Group 71"/>
          <p:cNvGrpSpPr>
            <a:grpSpLocks/>
          </p:cNvGrpSpPr>
          <p:nvPr/>
        </p:nvGrpSpPr>
        <p:grpSpPr bwMode="auto">
          <a:xfrm>
            <a:off x="8200263" y="2475260"/>
            <a:ext cx="741231" cy="481012"/>
            <a:chOff x="2949" y="196"/>
            <a:chExt cx="941" cy="598"/>
          </a:xfrm>
        </p:grpSpPr>
        <p:sp>
          <p:nvSpPr>
            <p:cNvPr id="584776" name="Oval 7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77" name="Oval 7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78" name="Oval 7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79" name="Oval 75"/>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80" name="Oval 7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81" name="Oval 7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82" name="Oval 7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83" name="Oval 79"/>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84" name="Freeform 8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85" name="Freeform 8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86" name="Freeform 8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584787" name="Group 83"/>
          <p:cNvGrpSpPr>
            <a:grpSpLocks/>
          </p:cNvGrpSpPr>
          <p:nvPr/>
        </p:nvGrpSpPr>
        <p:grpSpPr bwMode="auto">
          <a:xfrm>
            <a:off x="8117712" y="4056411"/>
            <a:ext cx="742950" cy="479425"/>
            <a:chOff x="2949" y="196"/>
            <a:chExt cx="941" cy="598"/>
          </a:xfrm>
        </p:grpSpPr>
        <p:sp>
          <p:nvSpPr>
            <p:cNvPr id="584788" name="Oval 8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89" name="Oval 8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90" name="Oval 8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91" name="Oval 8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92" name="Oval 8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93" name="Oval 8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94" name="Oval 9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95" name="Oval 9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796" name="Freeform 9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97" name="Freeform 9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798" name="Freeform 9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584799" name="Group 95"/>
          <p:cNvGrpSpPr>
            <a:grpSpLocks/>
          </p:cNvGrpSpPr>
          <p:nvPr/>
        </p:nvGrpSpPr>
        <p:grpSpPr bwMode="auto">
          <a:xfrm>
            <a:off x="7703243" y="3299172"/>
            <a:ext cx="742950" cy="482600"/>
            <a:chOff x="2949" y="196"/>
            <a:chExt cx="941" cy="598"/>
          </a:xfrm>
        </p:grpSpPr>
        <p:sp>
          <p:nvSpPr>
            <p:cNvPr id="584800" name="Oval 9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01" name="Oval 9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02" name="Oval 9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03" name="Oval 99"/>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04" name="Oval 10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05" name="Oval 10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06" name="Oval 10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07" name="Oval 103"/>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08" name="Freeform 10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809" name="Freeform 10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810" name="Freeform 10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84811" name="Text Box 107"/>
          <p:cNvSpPr txBox="1">
            <a:spLocks noChangeArrowheads="1"/>
          </p:cNvSpPr>
          <p:nvPr/>
        </p:nvSpPr>
        <p:spPr bwMode="auto">
          <a:xfrm>
            <a:off x="9067038" y="2932461"/>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9</a:t>
            </a:r>
          </a:p>
        </p:txBody>
      </p:sp>
      <p:sp>
        <p:nvSpPr>
          <p:cNvPr id="584812" name="Text Box 108"/>
          <p:cNvSpPr txBox="1">
            <a:spLocks noChangeArrowheads="1"/>
          </p:cNvSpPr>
          <p:nvPr/>
        </p:nvSpPr>
        <p:spPr bwMode="auto">
          <a:xfrm>
            <a:off x="6463273" y="274989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7</a:t>
            </a:r>
          </a:p>
        </p:txBody>
      </p:sp>
      <p:sp>
        <p:nvSpPr>
          <p:cNvPr id="584813" name="Text Box 109"/>
          <p:cNvSpPr txBox="1">
            <a:spLocks noChangeArrowheads="1"/>
          </p:cNvSpPr>
          <p:nvPr/>
        </p:nvSpPr>
        <p:spPr bwMode="auto">
          <a:xfrm>
            <a:off x="5778796" y="241969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6</a:t>
            </a:r>
          </a:p>
        </p:txBody>
      </p:sp>
      <p:sp>
        <p:nvSpPr>
          <p:cNvPr id="584814" name="Text Box 110"/>
          <p:cNvSpPr txBox="1">
            <a:spLocks noChangeArrowheads="1"/>
          </p:cNvSpPr>
          <p:nvPr/>
        </p:nvSpPr>
        <p:spPr bwMode="auto">
          <a:xfrm>
            <a:off x="5159671" y="2872136"/>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5</a:t>
            </a:r>
          </a:p>
        </p:txBody>
      </p:sp>
      <p:sp>
        <p:nvSpPr>
          <p:cNvPr id="584815" name="Text Box 111"/>
          <p:cNvSpPr txBox="1">
            <a:spLocks noChangeArrowheads="1"/>
          </p:cNvSpPr>
          <p:nvPr/>
        </p:nvSpPr>
        <p:spPr bwMode="auto">
          <a:xfrm>
            <a:off x="4874186" y="34293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4</a:t>
            </a:r>
          </a:p>
        </p:txBody>
      </p:sp>
      <p:sp>
        <p:nvSpPr>
          <p:cNvPr id="584816" name="Text Box 112"/>
          <p:cNvSpPr txBox="1">
            <a:spLocks noChangeArrowheads="1"/>
          </p:cNvSpPr>
          <p:nvPr/>
        </p:nvSpPr>
        <p:spPr bwMode="auto">
          <a:xfrm>
            <a:off x="3505232" y="2554636"/>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3</a:t>
            </a:r>
          </a:p>
        </p:txBody>
      </p:sp>
      <p:sp>
        <p:nvSpPr>
          <p:cNvPr id="584817" name="Text Box 113"/>
          <p:cNvSpPr txBox="1">
            <a:spLocks noChangeArrowheads="1"/>
          </p:cNvSpPr>
          <p:nvPr/>
        </p:nvSpPr>
        <p:spPr bwMode="auto">
          <a:xfrm>
            <a:off x="935863" y="3523011"/>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2</a:t>
            </a:r>
          </a:p>
        </p:txBody>
      </p:sp>
      <p:sp>
        <p:nvSpPr>
          <p:cNvPr id="584818" name="Text Box 114"/>
          <p:cNvSpPr txBox="1">
            <a:spLocks noChangeArrowheads="1"/>
          </p:cNvSpPr>
          <p:nvPr/>
        </p:nvSpPr>
        <p:spPr bwMode="auto">
          <a:xfrm>
            <a:off x="1725248" y="2324448"/>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1</a:t>
            </a:r>
          </a:p>
        </p:txBody>
      </p:sp>
      <p:sp>
        <p:nvSpPr>
          <p:cNvPr id="584819" name="Text Box 115"/>
          <p:cNvSpPr txBox="1">
            <a:spLocks noChangeArrowheads="1"/>
          </p:cNvSpPr>
          <p:nvPr/>
        </p:nvSpPr>
        <p:spPr bwMode="auto">
          <a:xfrm>
            <a:off x="8172746" y="4067523"/>
            <a:ext cx="6174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a:t>
            </a:r>
            <a:r>
              <a:rPr kumimoji="1" lang="zh-CN" altLang="en-US" sz="7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8</a:t>
            </a:r>
          </a:p>
        </p:txBody>
      </p:sp>
      <p:sp>
        <p:nvSpPr>
          <p:cNvPr id="584820" name="Text Box 116"/>
          <p:cNvSpPr txBox="1">
            <a:spLocks noChangeArrowheads="1"/>
          </p:cNvSpPr>
          <p:nvPr/>
        </p:nvSpPr>
        <p:spPr bwMode="auto">
          <a:xfrm>
            <a:off x="8257017" y="2491136"/>
            <a:ext cx="6174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a:t>
            </a:r>
            <a:r>
              <a:rPr kumimoji="1" lang="zh-CN" altLang="en-US" sz="7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6</a:t>
            </a:r>
          </a:p>
        </p:txBody>
      </p:sp>
      <p:sp>
        <p:nvSpPr>
          <p:cNvPr id="584821" name="Text Box 117"/>
          <p:cNvSpPr txBox="1">
            <a:spLocks noChangeArrowheads="1"/>
          </p:cNvSpPr>
          <p:nvPr/>
        </p:nvSpPr>
        <p:spPr bwMode="auto">
          <a:xfrm>
            <a:off x="1885188" y="4104036"/>
            <a:ext cx="6238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a:t>
            </a:r>
            <a:r>
              <a:rPr kumimoji="1" lang="zh-CN" altLang="en-US" sz="8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3</a:t>
            </a:r>
          </a:p>
        </p:txBody>
      </p:sp>
      <p:sp>
        <p:nvSpPr>
          <p:cNvPr id="584822" name="Text Box 118"/>
          <p:cNvSpPr txBox="1">
            <a:spLocks noChangeArrowheads="1"/>
          </p:cNvSpPr>
          <p:nvPr/>
        </p:nvSpPr>
        <p:spPr bwMode="auto">
          <a:xfrm>
            <a:off x="2655655" y="3419823"/>
            <a:ext cx="6238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a:t>
            </a:r>
            <a:r>
              <a:rPr kumimoji="1" lang="zh-CN" altLang="en-US" sz="8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2</a:t>
            </a:r>
          </a:p>
        </p:txBody>
      </p:sp>
      <p:sp>
        <p:nvSpPr>
          <p:cNvPr id="584823" name="Text Box 119"/>
          <p:cNvSpPr txBox="1">
            <a:spLocks noChangeArrowheads="1"/>
          </p:cNvSpPr>
          <p:nvPr/>
        </p:nvSpPr>
        <p:spPr bwMode="auto">
          <a:xfrm>
            <a:off x="928983" y="2916586"/>
            <a:ext cx="630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a:t>
            </a:r>
            <a:r>
              <a:rPr kumimoji="1" lang="zh-CN" altLang="en-US" sz="9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1</a:t>
            </a:r>
          </a:p>
        </p:txBody>
      </p:sp>
      <p:sp>
        <p:nvSpPr>
          <p:cNvPr id="584824" name="Text Box 120"/>
          <p:cNvSpPr txBox="1">
            <a:spLocks noChangeArrowheads="1"/>
          </p:cNvSpPr>
          <p:nvPr/>
        </p:nvSpPr>
        <p:spPr bwMode="auto">
          <a:xfrm>
            <a:off x="7703244" y="3327748"/>
            <a:ext cx="6110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a:t>
            </a:r>
            <a:r>
              <a:rPr kumimoji="1" lang="zh-CN" altLang="en-US" sz="6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7</a:t>
            </a:r>
          </a:p>
        </p:txBody>
      </p:sp>
      <p:sp>
        <p:nvSpPr>
          <p:cNvPr id="584825" name="Oval 121"/>
          <p:cNvSpPr>
            <a:spLocks noChangeArrowheads="1"/>
          </p:cNvSpPr>
          <p:nvPr/>
        </p:nvSpPr>
        <p:spPr bwMode="auto">
          <a:xfrm>
            <a:off x="3744283" y="4004023"/>
            <a:ext cx="3382830" cy="1039813"/>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84826" name="Text Box 122"/>
          <p:cNvSpPr txBox="1">
            <a:spLocks noChangeArrowheads="1"/>
          </p:cNvSpPr>
          <p:nvPr/>
        </p:nvSpPr>
        <p:spPr bwMode="auto">
          <a:xfrm>
            <a:off x="4599018" y="5004147"/>
            <a:ext cx="18293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C00000"/>
                </a:solidFill>
                <a:latin typeface="+mn-lt"/>
                <a:ea typeface="黑体" pitchFamily="2" charset="-122"/>
              </a:rPr>
              <a:t>区域 </a:t>
            </a:r>
            <a:r>
              <a:rPr kumimoji="1" lang="en-US" altLang="zh-CN" sz="2400" b="1" dirty="0">
                <a:solidFill>
                  <a:srgbClr val="C00000"/>
                </a:solidFill>
                <a:latin typeface="+mn-lt"/>
                <a:ea typeface="黑体" pitchFamily="2" charset="-122"/>
              </a:rPr>
              <a:t>0.0.0.2</a:t>
            </a:r>
          </a:p>
        </p:txBody>
      </p:sp>
      <p:sp>
        <p:nvSpPr>
          <p:cNvPr id="584827" name="Line 123"/>
          <p:cNvSpPr>
            <a:spLocks noChangeShapeType="1"/>
          </p:cNvSpPr>
          <p:nvPr/>
        </p:nvSpPr>
        <p:spPr bwMode="auto">
          <a:xfrm>
            <a:off x="5395283" y="3918297"/>
            <a:ext cx="988880" cy="5207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828" name="Line 124"/>
          <p:cNvSpPr>
            <a:spLocks noChangeShapeType="1"/>
          </p:cNvSpPr>
          <p:nvPr/>
        </p:nvSpPr>
        <p:spPr bwMode="auto">
          <a:xfrm flipV="1">
            <a:off x="5560383" y="4524722"/>
            <a:ext cx="906330" cy="2603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584829" name="Group 125"/>
          <p:cNvGrpSpPr>
            <a:grpSpLocks/>
          </p:cNvGrpSpPr>
          <p:nvPr/>
        </p:nvGrpSpPr>
        <p:grpSpPr bwMode="auto">
          <a:xfrm>
            <a:off x="6138233" y="4177060"/>
            <a:ext cx="741230" cy="608012"/>
            <a:chOff x="2949" y="196"/>
            <a:chExt cx="941" cy="598"/>
          </a:xfrm>
        </p:grpSpPr>
        <p:sp>
          <p:nvSpPr>
            <p:cNvPr id="584830" name="Oval 12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31" name="Oval 12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32" name="Oval 12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33" name="Oval 129"/>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34" name="Oval 13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35" name="Oval 13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36" name="Oval 13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37" name="Oval 133"/>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38" name="Freeform 13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839" name="Freeform 13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840" name="Freeform 13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84841" name="Text Box 137"/>
          <p:cNvSpPr txBox="1">
            <a:spLocks noChangeArrowheads="1"/>
          </p:cNvSpPr>
          <p:nvPr/>
        </p:nvSpPr>
        <p:spPr bwMode="auto">
          <a:xfrm>
            <a:off x="6167469" y="4223098"/>
            <a:ext cx="655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 </a:t>
            </a:r>
            <a:r>
              <a:rPr kumimoji="1" lang="en-US" altLang="zh-CN" sz="2000" b="1">
                <a:solidFill>
                  <a:srgbClr val="0000CC"/>
                </a:solidFill>
                <a:latin typeface="+mn-lt"/>
                <a:ea typeface="黑体" pitchFamily="2" charset="-122"/>
              </a:rPr>
              <a:t>4</a:t>
            </a:r>
          </a:p>
        </p:txBody>
      </p:sp>
      <p:sp>
        <p:nvSpPr>
          <p:cNvPr id="584842" name="Line 138"/>
          <p:cNvSpPr>
            <a:spLocks noChangeShapeType="1"/>
          </p:cNvSpPr>
          <p:nvPr/>
        </p:nvSpPr>
        <p:spPr bwMode="auto">
          <a:xfrm>
            <a:off x="4402963" y="4608860"/>
            <a:ext cx="992320" cy="176212"/>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584843" name="Group 139"/>
          <p:cNvGrpSpPr>
            <a:grpSpLocks/>
          </p:cNvGrpSpPr>
          <p:nvPr/>
        </p:nvGrpSpPr>
        <p:grpSpPr bwMode="auto">
          <a:xfrm>
            <a:off x="4074483" y="4262785"/>
            <a:ext cx="742950" cy="608012"/>
            <a:chOff x="2949" y="196"/>
            <a:chExt cx="941" cy="598"/>
          </a:xfrm>
        </p:grpSpPr>
        <p:sp>
          <p:nvSpPr>
            <p:cNvPr id="584844" name="Oval 14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45" name="Oval 14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46" name="Oval 14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47" name="Oval 143"/>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48" name="Oval 14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49" name="Oval 14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50" name="Oval 14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51" name="Oval 147"/>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84852" name="Freeform 14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853" name="Freeform 14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84854" name="Freeform 15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84855" name="Text Box 151"/>
          <p:cNvSpPr txBox="1">
            <a:spLocks noChangeArrowheads="1"/>
          </p:cNvSpPr>
          <p:nvPr/>
        </p:nvSpPr>
        <p:spPr bwMode="auto">
          <a:xfrm>
            <a:off x="4064164" y="4375497"/>
            <a:ext cx="6238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网</a:t>
            </a:r>
            <a:r>
              <a:rPr kumimoji="1" lang="zh-CN" altLang="en-US" sz="800" b="1">
                <a:solidFill>
                  <a:srgbClr val="0000CC"/>
                </a:solidFill>
                <a:latin typeface="+mn-lt"/>
                <a:ea typeface="黑体" pitchFamily="2" charset="-122"/>
              </a:rPr>
              <a:t> </a:t>
            </a:r>
            <a:r>
              <a:rPr kumimoji="1" lang="en-US" altLang="zh-CN" sz="2000" b="1">
                <a:solidFill>
                  <a:srgbClr val="0000CC"/>
                </a:solidFill>
                <a:latin typeface="+mn-lt"/>
                <a:ea typeface="黑体" pitchFamily="2" charset="-122"/>
              </a:rPr>
              <a:t>5</a:t>
            </a:r>
          </a:p>
        </p:txBody>
      </p:sp>
      <p:pic>
        <p:nvPicPr>
          <p:cNvPr id="584856" name="Picture 1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8462" y="4561235"/>
            <a:ext cx="564092"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584857" name="Text Box 153"/>
          <p:cNvSpPr txBox="1">
            <a:spLocks noChangeArrowheads="1"/>
          </p:cNvSpPr>
          <p:nvPr/>
        </p:nvSpPr>
        <p:spPr bwMode="auto">
          <a:xfrm>
            <a:off x="4910302" y="4248497"/>
            <a:ext cx="46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R</a:t>
            </a:r>
            <a:r>
              <a:rPr kumimoji="1" lang="en-US" altLang="zh-CN" sz="2000" b="1" baseline="-25000">
                <a:solidFill>
                  <a:srgbClr val="0000CC"/>
                </a:solidFill>
                <a:latin typeface="+mn-lt"/>
                <a:ea typeface="黑体" pitchFamily="2" charset="-122"/>
              </a:rPr>
              <a:t>8</a:t>
            </a:r>
          </a:p>
        </p:txBody>
      </p:sp>
      <p:pic>
        <p:nvPicPr>
          <p:cNvPr id="584858" name="Picture 15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9671" y="3784948"/>
            <a:ext cx="564092"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Tree>
    <p:extLst>
      <p:ext uri="{BB962C8B-B14F-4D97-AF65-F5344CB8AC3E}">
        <p14:creationId xmlns:p14="http://schemas.microsoft.com/office/powerpoint/2010/main" val="590940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pPr algn="ctr"/>
            <a:r>
              <a:rPr lang="zh-CN" altLang="en-US"/>
              <a:t>划分区域 </a:t>
            </a:r>
          </a:p>
        </p:txBody>
      </p:sp>
      <p:sp>
        <p:nvSpPr>
          <p:cNvPr id="58573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sz="2800" dirty="0"/>
              <a:t>划分区域的</a:t>
            </a:r>
            <a:r>
              <a:rPr lang="zh-CN" altLang="en-US" sz="2800" dirty="0">
                <a:solidFill>
                  <a:srgbClr val="FF0000"/>
                </a:solidFill>
              </a:rPr>
              <a:t>好处</a:t>
            </a:r>
            <a:r>
              <a:rPr lang="zh-CN" altLang="en-US" sz="2800" dirty="0"/>
              <a:t>就是将利用洪泛法交换链路状态信息的范围局限于每一个区域而不是整个的自治系统，这就减少了整个网络上的通信量。</a:t>
            </a:r>
          </a:p>
          <a:p>
            <a:r>
              <a:rPr lang="zh-CN" altLang="en-US" sz="2800" dirty="0">
                <a:solidFill>
                  <a:srgbClr val="0000FF"/>
                </a:solidFill>
              </a:rPr>
              <a:t>在一个区域内部的路由器只知道本区域的完整网络拓扑，而不知道其他区域的网络拓扑的情况。</a:t>
            </a:r>
          </a:p>
          <a:p>
            <a:r>
              <a:rPr lang="en-US" altLang="zh-CN" sz="2800" dirty="0"/>
              <a:t>OSPF </a:t>
            </a:r>
            <a:r>
              <a:rPr lang="zh-CN" altLang="en-US" sz="2800" dirty="0"/>
              <a:t>使用</a:t>
            </a:r>
            <a:r>
              <a:rPr lang="zh-CN" altLang="en-US" sz="2800" dirty="0">
                <a:solidFill>
                  <a:srgbClr val="FF0000"/>
                </a:solidFill>
              </a:rPr>
              <a:t>层次结构的区域划分。</a:t>
            </a:r>
            <a:r>
              <a:rPr lang="zh-CN" altLang="en-US" sz="2800" dirty="0"/>
              <a:t>在上层的区域叫做</a:t>
            </a:r>
            <a:r>
              <a:rPr lang="zh-CN" altLang="en-US" sz="2800" dirty="0">
                <a:solidFill>
                  <a:srgbClr val="FF0000"/>
                </a:solidFill>
              </a:rPr>
              <a:t>主干区域 </a:t>
            </a:r>
            <a:r>
              <a:rPr lang="en-US" altLang="zh-CN" sz="2800" dirty="0"/>
              <a:t>(backbone area)</a:t>
            </a:r>
            <a:r>
              <a:rPr lang="zh-CN" altLang="en-US" sz="2800" dirty="0"/>
              <a:t>。</a:t>
            </a:r>
            <a:endParaRPr lang="en-US" altLang="zh-CN" sz="2800" dirty="0"/>
          </a:p>
          <a:p>
            <a:r>
              <a:rPr lang="zh-CN" altLang="en-US" sz="2800" dirty="0"/>
              <a:t>主干区域的标识符规定为</a:t>
            </a:r>
            <a:r>
              <a:rPr lang="en-US" altLang="zh-CN" sz="2800" dirty="0"/>
              <a:t>0.0.0.0</a:t>
            </a:r>
            <a:r>
              <a:rPr lang="zh-CN" altLang="en-US" sz="2800" dirty="0"/>
              <a:t>。主干区域的</a:t>
            </a:r>
            <a:r>
              <a:rPr lang="zh-CN" altLang="en-US" sz="2800" dirty="0">
                <a:solidFill>
                  <a:srgbClr val="FF0000"/>
                </a:solidFill>
              </a:rPr>
              <a:t>作用</a:t>
            </a:r>
            <a:r>
              <a:rPr lang="zh-CN" altLang="en-US" sz="2800" dirty="0"/>
              <a:t>是用来连通其他在下层的区域。  </a:t>
            </a:r>
          </a:p>
        </p:txBody>
      </p:sp>
    </p:spTree>
    <p:extLst>
      <p:ext uri="{BB962C8B-B14F-4D97-AF65-F5344CB8AC3E}">
        <p14:creationId xmlns:p14="http://schemas.microsoft.com/office/powerpoint/2010/main" val="34892411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p:cNvSpPr>
            <a:spLocks noGrp="1" noChangeArrowheads="1"/>
          </p:cNvSpPr>
          <p:nvPr>
            <p:ph type="title"/>
          </p:nvPr>
        </p:nvSpPr>
        <p:spPr/>
        <p:txBody>
          <a:bodyPr/>
          <a:lstStyle/>
          <a:p>
            <a:pPr algn="ctr"/>
            <a:r>
              <a:rPr lang="en-US" altLang="zh-CN"/>
              <a:t>OSPF </a:t>
            </a:r>
            <a:r>
              <a:rPr lang="zh-CN" altLang="en-US"/>
              <a:t>直接用 </a:t>
            </a:r>
            <a:r>
              <a:rPr lang="en-US" altLang="zh-CN"/>
              <a:t>IP </a:t>
            </a:r>
            <a:r>
              <a:rPr lang="zh-CN" altLang="en-US"/>
              <a:t>数据报传送 </a:t>
            </a:r>
          </a:p>
        </p:txBody>
      </p:sp>
      <p:sp>
        <p:nvSpPr>
          <p:cNvPr id="58880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dirty="0">
                <a:solidFill>
                  <a:srgbClr val="FF0000"/>
                </a:solidFill>
              </a:rPr>
              <a:t>OSPF </a:t>
            </a:r>
            <a:r>
              <a:rPr lang="zh-CN" altLang="en-US" dirty="0">
                <a:solidFill>
                  <a:srgbClr val="FF0000"/>
                </a:solidFill>
              </a:rPr>
              <a:t>不用 </a:t>
            </a:r>
            <a:r>
              <a:rPr lang="en-US" altLang="zh-CN" dirty="0">
                <a:solidFill>
                  <a:srgbClr val="FF0000"/>
                </a:solidFill>
              </a:rPr>
              <a:t>UDP </a:t>
            </a:r>
            <a:r>
              <a:rPr lang="zh-CN" altLang="en-US" dirty="0">
                <a:solidFill>
                  <a:srgbClr val="FF0000"/>
                </a:solidFill>
              </a:rPr>
              <a:t>而是直接用 </a:t>
            </a:r>
            <a:r>
              <a:rPr lang="en-US" altLang="zh-CN" dirty="0">
                <a:solidFill>
                  <a:srgbClr val="FF0000"/>
                </a:solidFill>
              </a:rPr>
              <a:t>IP </a:t>
            </a:r>
            <a:r>
              <a:rPr lang="zh-CN" altLang="en-US" dirty="0">
                <a:solidFill>
                  <a:srgbClr val="FF0000"/>
                </a:solidFill>
              </a:rPr>
              <a:t>数据报传送。</a:t>
            </a:r>
          </a:p>
          <a:p>
            <a:r>
              <a:rPr lang="en-US" altLang="zh-CN" dirty="0"/>
              <a:t>OSPF </a:t>
            </a:r>
            <a:r>
              <a:rPr lang="zh-CN" altLang="en-US" dirty="0"/>
              <a:t>构成的数据报很短。这样做可减少路由信息的通信量。</a:t>
            </a:r>
          </a:p>
          <a:p>
            <a:r>
              <a:rPr lang="zh-CN" altLang="en-US" dirty="0"/>
              <a:t>数据报很短的另一好处是可以不必将长的数据报分片传送。</a:t>
            </a:r>
            <a:endParaRPr lang="en-US" altLang="zh-CN" dirty="0"/>
          </a:p>
          <a:p>
            <a:r>
              <a:rPr lang="zh-CN" altLang="en-US" dirty="0"/>
              <a:t>但分片传送的数据报只要丢失一个，就无法组装成原来的数据报，而整个数据报就必须重传。 </a:t>
            </a:r>
          </a:p>
        </p:txBody>
      </p:sp>
    </p:spTree>
    <p:extLst>
      <p:ext uri="{BB962C8B-B14F-4D97-AF65-F5344CB8AC3E}">
        <p14:creationId xmlns:p14="http://schemas.microsoft.com/office/powerpoint/2010/main" val="1363119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Grp="1" noChangeArrowheads="1"/>
          </p:cNvSpPr>
          <p:nvPr>
            <p:ph type="title"/>
          </p:nvPr>
        </p:nvSpPr>
        <p:spPr/>
        <p:txBody>
          <a:bodyPr/>
          <a:lstStyle/>
          <a:p>
            <a:pPr algn="ctr"/>
            <a:r>
              <a:rPr lang="en-US" altLang="zh-CN" dirty="0"/>
              <a:t>OSPF </a:t>
            </a:r>
            <a:r>
              <a:rPr lang="zh-CN" altLang="en-US" dirty="0"/>
              <a:t>的其他特点 </a:t>
            </a:r>
          </a:p>
        </p:txBody>
      </p:sp>
      <p:sp>
        <p:nvSpPr>
          <p:cNvPr id="58982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sz="2600" dirty="0"/>
              <a:t>OSPF </a:t>
            </a:r>
            <a:r>
              <a:rPr lang="zh-CN" altLang="en-US" sz="2600" dirty="0"/>
              <a:t>对不同的链路可根据 </a:t>
            </a:r>
            <a:r>
              <a:rPr lang="en-US" altLang="zh-CN" sz="2600" dirty="0"/>
              <a:t>IP </a:t>
            </a:r>
            <a:r>
              <a:rPr lang="zh-CN" altLang="en-US" sz="2600" dirty="0"/>
              <a:t>分组的不同服务类型 </a:t>
            </a:r>
            <a:r>
              <a:rPr lang="en-US" altLang="zh-CN" sz="2600" dirty="0"/>
              <a:t>TOS </a:t>
            </a:r>
            <a:r>
              <a:rPr lang="zh-CN" altLang="en-US" sz="2600" dirty="0"/>
              <a:t>而设置成不同的代价。因此，</a:t>
            </a:r>
            <a:r>
              <a:rPr lang="en-US" altLang="zh-CN" sz="2600" dirty="0">
                <a:solidFill>
                  <a:srgbClr val="FF0000"/>
                </a:solidFill>
              </a:rPr>
              <a:t>OSPF </a:t>
            </a:r>
            <a:r>
              <a:rPr lang="zh-CN" altLang="en-US" sz="2600" dirty="0">
                <a:solidFill>
                  <a:srgbClr val="FF0000"/>
                </a:solidFill>
              </a:rPr>
              <a:t>对于不同类型的业务可计算出不同的路由。</a:t>
            </a:r>
          </a:p>
          <a:p>
            <a:r>
              <a:rPr lang="zh-CN" altLang="en-US" sz="2600" dirty="0"/>
              <a:t>如果到同一个目的网络有多条相同代价的路径，那么可以将通信量分配给这几条路径。这叫做</a:t>
            </a:r>
            <a:r>
              <a:rPr lang="zh-CN" altLang="en-US" sz="2600" dirty="0">
                <a:solidFill>
                  <a:srgbClr val="FF0000"/>
                </a:solidFill>
              </a:rPr>
              <a:t>多路径间的负载平衡。</a:t>
            </a:r>
          </a:p>
          <a:p>
            <a:r>
              <a:rPr lang="zh-CN" altLang="en-US" sz="2600" dirty="0"/>
              <a:t>所有在 </a:t>
            </a:r>
            <a:r>
              <a:rPr lang="en-US" altLang="zh-CN" sz="2600" dirty="0"/>
              <a:t>OSPF </a:t>
            </a:r>
            <a:r>
              <a:rPr lang="zh-CN" altLang="en-US" sz="2600" dirty="0"/>
              <a:t>路由器之间交换的分组都具有</a:t>
            </a:r>
            <a:r>
              <a:rPr lang="zh-CN" altLang="en-US" sz="2600" dirty="0">
                <a:solidFill>
                  <a:srgbClr val="FF0000"/>
                </a:solidFill>
              </a:rPr>
              <a:t>鉴别</a:t>
            </a:r>
            <a:r>
              <a:rPr lang="zh-CN" altLang="en-US" sz="2600" dirty="0"/>
              <a:t>的功能。</a:t>
            </a:r>
          </a:p>
          <a:p>
            <a:r>
              <a:rPr lang="zh-CN" altLang="en-US" sz="2600" dirty="0">
                <a:solidFill>
                  <a:srgbClr val="FF0000"/>
                </a:solidFill>
              </a:rPr>
              <a:t>支持可变长度的子网划分和无分类编址 </a:t>
            </a:r>
            <a:r>
              <a:rPr lang="en-US" altLang="zh-CN" sz="2600" dirty="0">
                <a:solidFill>
                  <a:srgbClr val="FF0000"/>
                </a:solidFill>
              </a:rPr>
              <a:t>CIDR</a:t>
            </a:r>
            <a:r>
              <a:rPr lang="zh-CN" altLang="en-US" sz="2600" dirty="0">
                <a:solidFill>
                  <a:srgbClr val="FF0000"/>
                </a:solidFill>
              </a:rPr>
              <a:t>。</a:t>
            </a:r>
          </a:p>
          <a:p>
            <a:r>
              <a:rPr lang="zh-CN" altLang="en-US" sz="2600" dirty="0"/>
              <a:t>每一个链路状态都带上一个 </a:t>
            </a:r>
            <a:r>
              <a:rPr lang="en-US" altLang="zh-CN" sz="2600" dirty="0"/>
              <a:t>32 </a:t>
            </a:r>
            <a:r>
              <a:rPr lang="zh-CN" altLang="en-US" sz="2600" dirty="0"/>
              <a:t>位的序号，序号越大状态就越新。</a:t>
            </a:r>
          </a:p>
        </p:txBody>
      </p:sp>
    </p:spTree>
    <p:extLst>
      <p:ext uri="{BB962C8B-B14F-4D97-AF65-F5344CB8AC3E}">
        <p14:creationId xmlns:p14="http://schemas.microsoft.com/office/powerpoint/2010/main" val="25239622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95" name="AutoShape 47"/>
          <p:cNvSpPr>
            <a:spLocks noChangeArrowheads="1"/>
          </p:cNvSpPr>
          <p:nvPr/>
        </p:nvSpPr>
        <p:spPr bwMode="auto">
          <a:xfrm>
            <a:off x="1670590" y="5322751"/>
            <a:ext cx="758429" cy="227013"/>
          </a:xfrm>
          <a:prstGeom prst="leftArrow">
            <a:avLst>
              <a:gd name="adj1" fmla="val 50000"/>
              <a:gd name="adj2" fmla="val 77098"/>
            </a:avLst>
          </a:prstGeom>
          <a:solidFill>
            <a:srgbClr val="C00000"/>
          </a:solidFill>
          <a:ln w="9525">
            <a:solidFill>
              <a:srgbClr val="C00000"/>
            </a:solidFill>
            <a:miter lim="800000"/>
            <a:headEnd/>
            <a:tailEnd/>
          </a:ln>
          <a:effectLst/>
        </p:spPr>
        <p:txBody>
          <a:bodyPr wrap="none" anchor="ctr"/>
          <a:lstStyle/>
          <a:p>
            <a:endParaRPr lang="zh-CN" altLang="en-US" b="1">
              <a:solidFill>
                <a:srgbClr val="0000CC"/>
              </a:solidFill>
              <a:latin typeface="+mn-lt"/>
              <a:ea typeface="黑体" pitchFamily="2" charset="-122"/>
            </a:endParaRPr>
          </a:p>
        </p:txBody>
      </p:sp>
      <p:sp>
        <p:nvSpPr>
          <p:cNvPr id="590850" name="Line 2"/>
          <p:cNvSpPr>
            <a:spLocks noChangeShapeType="1"/>
          </p:cNvSpPr>
          <p:nvPr/>
        </p:nvSpPr>
        <p:spPr bwMode="auto">
          <a:xfrm>
            <a:off x="2348188" y="6043475"/>
            <a:ext cx="6213608"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51" name="Text Box 3"/>
          <p:cNvSpPr txBox="1">
            <a:spLocks noChangeArrowheads="1"/>
          </p:cNvSpPr>
          <p:nvPr/>
        </p:nvSpPr>
        <p:spPr bwMode="auto">
          <a:xfrm>
            <a:off x="4769655" y="5789476"/>
            <a:ext cx="1266885"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数据报</a:t>
            </a:r>
          </a:p>
        </p:txBody>
      </p:sp>
      <p:sp>
        <p:nvSpPr>
          <p:cNvPr id="590852" name="Rectangle 4"/>
          <p:cNvSpPr>
            <a:spLocks noGrp="1" noChangeArrowheads="1"/>
          </p:cNvSpPr>
          <p:nvPr>
            <p:ph type="title" idx="4294967295"/>
          </p:nvPr>
        </p:nvSpPr>
        <p:spPr>
          <a:xfrm>
            <a:off x="560512" y="44624"/>
            <a:ext cx="9066212" cy="792162"/>
          </a:xfrm>
        </p:spPr>
        <p:txBody>
          <a:bodyPr/>
          <a:lstStyle/>
          <a:p>
            <a:pPr algn="ctr"/>
            <a:r>
              <a:rPr lang="en-US" altLang="zh-CN" dirty="0"/>
              <a:t>OSPF </a:t>
            </a:r>
            <a:r>
              <a:rPr lang="zh-CN" altLang="en-US" dirty="0"/>
              <a:t>分组 </a:t>
            </a:r>
          </a:p>
        </p:txBody>
      </p:sp>
      <p:sp>
        <p:nvSpPr>
          <p:cNvPr id="590853" name="Freeform 5"/>
          <p:cNvSpPr>
            <a:spLocks/>
          </p:cNvSpPr>
          <p:nvPr/>
        </p:nvSpPr>
        <p:spPr bwMode="auto">
          <a:xfrm>
            <a:off x="796937" y="3556672"/>
            <a:ext cx="8769218" cy="591032"/>
          </a:xfrm>
          <a:custGeom>
            <a:avLst/>
            <a:gdLst>
              <a:gd name="T0" fmla="*/ 48 w 4608"/>
              <a:gd name="T1" fmla="*/ 0 h 576"/>
              <a:gd name="T2" fmla="*/ 4608 w 4608"/>
              <a:gd name="T3" fmla="*/ 0 h 576"/>
              <a:gd name="T4" fmla="*/ 2208 w 4608"/>
              <a:gd name="T5" fmla="*/ 576 h 576"/>
              <a:gd name="T6" fmla="*/ 1152 w 4608"/>
              <a:gd name="T7" fmla="*/ 576 h 576"/>
              <a:gd name="T8" fmla="*/ 0 w 4608"/>
              <a:gd name="T9" fmla="*/ 0 h 576"/>
            </a:gdLst>
            <a:ahLst/>
            <a:cxnLst>
              <a:cxn ang="0">
                <a:pos x="T0" y="T1"/>
              </a:cxn>
              <a:cxn ang="0">
                <a:pos x="T2" y="T3"/>
              </a:cxn>
              <a:cxn ang="0">
                <a:pos x="T4" y="T5"/>
              </a:cxn>
              <a:cxn ang="0">
                <a:pos x="T6" y="T7"/>
              </a:cxn>
              <a:cxn ang="0">
                <a:pos x="T8" y="T9"/>
              </a:cxn>
            </a:cxnLst>
            <a:rect l="0" t="0" r="r" b="b"/>
            <a:pathLst>
              <a:path w="4608" h="576">
                <a:moveTo>
                  <a:pt x="48" y="0"/>
                </a:moveTo>
                <a:lnTo>
                  <a:pt x="4608" y="0"/>
                </a:lnTo>
                <a:lnTo>
                  <a:pt x="2208" y="576"/>
                </a:lnTo>
                <a:lnTo>
                  <a:pt x="1152" y="576"/>
                </a:lnTo>
                <a:lnTo>
                  <a:pt x="0" y="0"/>
                </a:lnTo>
              </a:path>
            </a:pathLst>
          </a:custGeom>
          <a:gradFill rotWithShape="1">
            <a:gsLst>
              <a:gs pos="0">
                <a:srgbClr val="CCECFF">
                  <a:gamma/>
                  <a:shade val="60784"/>
                  <a:invGamma/>
                </a:srgbClr>
              </a:gs>
              <a:gs pos="100000">
                <a:srgbClr val="CCE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90854" name="Freeform 6"/>
          <p:cNvSpPr>
            <a:spLocks/>
          </p:cNvSpPr>
          <p:nvPr/>
        </p:nvSpPr>
        <p:spPr bwMode="auto">
          <a:xfrm>
            <a:off x="3036105" y="4750955"/>
            <a:ext cx="6165454" cy="408284"/>
          </a:xfrm>
          <a:custGeom>
            <a:avLst/>
            <a:gdLst>
              <a:gd name="T0" fmla="*/ 0 w 3240"/>
              <a:gd name="T1" fmla="*/ 0 h 369"/>
              <a:gd name="T2" fmla="*/ 564 w 3240"/>
              <a:gd name="T3" fmla="*/ 369 h 369"/>
              <a:gd name="T4" fmla="*/ 2922 w 3240"/>
              <a:gd name="T5" fmla="*/ 363 h 369"/>
              <a:gd name="T6" fmla="*/ 3240 w 3240"/>
              <a:gd name="T7" fmla="*/ 9 h 369"/>
              <a:gd name="T8" fmla="*/ 0 w 3240"/>
              <a:gd name="T9" fmla="*/ 3 h 369"/>
            </a:gdLst>
            <a:ahLst/>
            <a:cxnLst>
              <a:cxn ang="0">
                <a:pos x="T0" y="T1"/>
              </a:cxn>
              <a:cxn ang="0">
                <a:pos x="T2" y="T3"/>
              </a:cxn>
              <a:cxn ang="0">
                <a:pos x="T4" y="T5"/>
              </a:cxn>
              <a:cxn ang="0">
                <a:pos x="T6" y="T7"/>
              </a:cxn>
              <a:cxn ang="0">
                <a:pos x="T8" y="T9"/>
              </a:cxn>
            </a:cxnLst>
            <a:rect l="0" t="0" r="r" b="b"/>
            <a:pathLst>
              <a:path w="3240" h="369">
                <a:moveTo>
                  <a:pt x="0" y="0"/>
                </a:moveTo>
                <a:lnTo>
                  <a:pt x="564" y="369"/>
                </a:lnTo>
                <a:lnTo>
                  <a:pt x="2922" y="363"/>
                </a:lnTo>
                <a:lnTo>
                  <a:pt x="3240" y="9"/>
                </a:lnTo>
                <a:lnTo>
                  <a:pt x="0" y="3"/>
                </a:lnTo>
              </a:path>
            </a:pathLst>
          </a:custGeom>
          <a:gradFill rotWithShape="1">
            <a:gsLst>
              <a:gs pos="0">
                <a:srgbClr val="FFCCFF">
                  <a:gamma/>
                  <a:shade val="72549"/>
                  <a:invGamma/>
                </a:srgbClr>
              </a:gs>
              <a:gs pos="100000">
                <a:srgbClr val="FFCC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590855" name="Rectangle 7"/>
          <p:cNvSpPr>
            <a:spLocks noChangeArrowheads="1"/>
          </p:cNvSpPr>
          <p:nvPr/>
        </p:nvSpPr>
        <p:spPr bwMode="auto">
          <a:xfrm>
            <a:off x="2348188" y="5159238"/>
            <a:ext cx="6213608" cy="590550"/>
          </a:xfrm>
          <a:prstGeom prst="rect">
            <a:avLst/>
          </a:prstGeom>
          <a:solidFill>
            <a:schemeClr val="bg1"/>
          </a:solidFill>
          <a:ln w="19050">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90856" name="Rectangle 8"/>
          <p:cNvSpPr>
            <a:spLocks noChangeArrowheads="1"/>
          </p:cNvSpPr>
          <p:nvPr/>
        </p:nvSpPr>
        <p:spPr bwMode="auto">
          <a:xfrm>
            <a:off x="4093778" y="5176700"/>
            <a:ext cx="4459419" cy="579438"/>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57" name="Line 9"/>
          <p:cNvSpPr>
            <a:spLocks noChangeShapeType="1"/>
          </p:cNvSpPr>
          <p:nvPr/>
        </p:nvSpPr>
        <p:spPr bwMode="auto">
          <a:xfrm>
            <a:off x="4085178" y="5159238"/>
            <a:ext cx="0" cy="590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58" name="Text Box 10"/>
          <p:cNvSpPr txBox="1">
            <a:spLocks noChangeArrowheads="1"/>
          </p:cNvSpPr>
          <p:nvPr/>
        </p:nvSpPr>
        <p:spPr bwMode="auto">
          <a:xfrm>
            <a:off x="2301754" y="5263184"/>
            <a:ext cx="17347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IP</a:t>
            </a:r>
            <a:r>
              <a:rPr kumimoji="1" lang="zh-CN" altLang="zh-CN" sz="2000" b="1">
                <a:solidFill>
                  <a:srgbClr val="0000CC"/>
                </a:solidFill>
                <a:latin typeface="+mn-lt"/>
                <a:ea typeface="黑体" pitchFamily="2" charset="-122"/>
              </a:rPr>
              <a:t>数据报首部</a:t>
            </a:r>
            <a:endParaRPr kumimoji="1" lang="zh-CN" altLang="en-US" sz="2000" b="1">
              <a:solidFill>
                <a:srgbClr val="0000CC"/>
              </a:solidFill>
              <a:latin typeface="+mn-lt"/>
              <a:ea typeface="黑体" pitchFamily="2" charset="-122"/>
            </a:endParaRPr>
          </a:p>
        </p:txBody>
      </p:sp>
      <p:sp>
        <p:nvSpPr>
          <p:cNvPr id="590859" name="Text Box 11"/>
          <p:cNvSpPr txBox="1">
            <a:spLocks noChangeArrowheads="1"/>
          </p:cNvSpPr>
          <p:nvPr/>
        </p:nvSpPr>
        <p:spPr bwMode="auto">
          <a:xfrm>
            <a:off x="5350944" y="5261598"/>
            <a:ext cx="14702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OSPF </a:t>
            </a:r>
            <a:r>
              <a:rPr kumimoji="1" lang="zh-CN" altLang="en-US" sz="2000" b="1">
                <a:solidFill>
                  <a:srgbClr val="0000CC"/>
                </a:solidFill>
                <a:latin typeface="+mn-lt"/>
                <a:ea typeface="黑体" pitchFamily="2" charset="-122"/>
              </a:rPr>
              <a:t>分组</a:t>
            </a:r>
          </a:p>
        </p:txBody>
      </p:sp>
      <p:sp>
        <p:nvSpPr>
          <p:cNvPr id="590860" name="Rectangle 12"/>
          <p:cNvSpPr>
            <a:spLocks noChangeArrowheads="1"/>
          </p:cNvSpPr>
          <p:nvPr/>
        </p:nvSpPr>
        <p:spPr bwMode="auto">
          <a:xfrm>
            <a:off x="2989671" y="4147703"/>
            <a:ext cx="6211888" cy="59055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90861" name="Line 13"/>
          <p:cNvSpPr>
            <a:spLocks noChangeShapeType="1"/>
          </p:cNvSpPr>
          <p:nvPr/>
        </p:nvSpPr>
        <p:spPr bwMode="auto">
          <a:xfrm>
            <a:off x="8561796" y="5749789"/>
            <a:ext cx="0" cy="3698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62" name="Rectangle 14"/>
          <p:cNvSpPr>
            <a:spLocks noChangeArrowheads="1"/>
          </p:cNvSpPr>
          <p:nvPr/>
        </p:nvSpPr>
        <p:spPr bwMode="auto">
          <a:xfrm>
            <a:off x="5010426" y="4176278"/>
            <a:ext cx="4182533" cy="558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63" name="Line 15"/>
          <p:cNvSpPr>
            <a:spLocks noChangeShapeType="1"/>
          </p:cNvSpPr>
          <p:nvPr/>
        </p:nvSpPr>
        <p:spPr bwMode="auto">
          <a:xfrm>
            <a:off x="5000107" y="4147703"/>
            <a:ext cx="0" cy="590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64" name="Text Box 16"/>
          <p:cNvSpPr txBox="1">
            <a:spLocks noChangeArrowheads="1"/>
          </p:cNvSpPr>
          <p:nvPr/>
        </p:nvSpPr>
        <p:spPr bwMode="auto">
          <a:xfrm>
            <a:off x="2917440" y="4233429"/>
            <a:ext cx="19864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OSPF </a:t>
            </a:r>
            <a:r>
              <a:rPr kumimoji="1" lang="zh-CN" altLang="en-US" sz="2000" b="1">
                <a:solidFill>
                  <a:srgbClr val="0000CC"/>
                </a:solidFill>
                <a:latin typeface="+mn-lt"/>
                <a:ea typeface="黑体" pitchFamily="2" charset="-122"/>
              </a:rPr>
              <a:t>分组首部</a:t>
            </a:r>
          </a:p>
        </p:txBody>
      </p:sp>
      <p:sp>
        <p:nvSpPr>
          <p:cNvPr id="590865" name="Text Box 17"/>
          <p:cNvSpPr txBox="1">
            <a:spLocks noChangeArrowheads="1"/>
          </p:cNvSpPr>
          <p:nvPr/>
        </p:nvSpPr>
        <p:spPr bwMode="auto">
          <a:xfrm>
            <a:off x="5180686" y="4233429"/>
            <a:ext cx="36567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mn-lt"/>
                <a:ea typeface="黑体" pitchFamily="2" charset="-122"/>
              </a:rPr>
              <a:t>类型 </a:t>
            </a:r>
            <a:r>
              <a:rPr kumimoji="1" lang="en-US" altLang="zh-CN" sz="2000" b="1">
                <a:solidFill>
                  <a:srgbClr val="0000CC"/>
                </a:solidFill>
                <a:latin typeface="+mn-lt"/>
                <a:ea typeface="黑体" pitchFamily="2" charset="-122"/>
              </a:rPr>
              <a:t>1 </a:t>
            </a:r>
            <a:r>
              <a:rPr kumimoji="1" lang="zh-CN" altLang="en-US" sz="2000" b="1">
                <a:solidFill>
                  <a:srgbClr val="0000CC"/>
                </a:solidFill>
                <a:latin typeface="+mn-lt"/>
                <a:ea typeface="黑体" pitchFamily="2" charset="-122"/>
              </a:rPr>
              <a:t>至类型 </a:t>
            </a:r>
            <a:r>
              <a:rPr kumimoji="1" lang="en-US" altLang="zh-CN" sz="2000" b="1">
                <a:solidFill>
                  <a:srgbClr val="0000CC"/>
                </a:solidFill>
                <a:latin typeface="+mn-lt"/>
                <a:ea typeface="黑体" pitchFamily="2" charset="-122"/>
              </a:rPr>
              <a:t>5 </a:t>
            </a:r>
            <a:r>
              <a:rPr kumimoji="1" lang="zh-CN" altLang="en-US" sz="2000" b="1">
                <a:solidFill>
                  <a:srgbClr val="0000CC"/>
                </a:solidFill>
                <a:latin typeface="+mn-lt"/>
                <a:ea typeface="黑体" pitchFamily="2" charset="-122"/>
              </a:rPr>
              <a:t>的 </a:t>
            </a:r>
            <a:r>
              <a:rPr kumimoji="1" lang="en-US" altLang="zh-CN" sz="2000" b="1">
                <a:solidFill>
                  <a:srgbClr val="0000CC"/>
                </a:solidFill>
                <a:latin typeface="+mn-lt"/>
                <a:ea typeface="黑体" pitchFamily="2" charset="-122"/>
              </a:rPr>
              <a:t>OSPF </a:t>
            </a:r>
            <a:r>
              <a:rPr kumimoji="1" lang="zh-CN" altLang="en-US" sz="2000" b="1">
                <a:solidFill>
                  <a:srgbClr val="0000CC"/>
                </a:solidFill>
                <a:latin typeface="+mn-lt"/>
                <a:ea typeface="黑体" pitchFamily="2" charset="-122"/>
              </a:rPr>
              <a:t>分组</a:t>
            </a:r>
          </a:p>
        </p:txBody>
      </p:sp>
      <p:sp>
        <p:nvSpPr>
          <p:cNvPr id="590866" name="Line 18"/>
          <p:cNvSpPr>
            <a:spLocks noChangeShapeType="1"/>
          </p:cNvSpPr>
          <p:nvPr/>
        </p:nvSpPr>
        <p:spPr bwMode="auto">
          <a:xfrm>
            <a:off x="2348188" y="5822813"/>
            <a:ext cx="0" cy="296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67" name="Line 19"/>
          <p:cNvSpPr>
            <a:spLocks noChangeShapeType="1"/>
          </p:cNvSpPr>
          <p:nvPr/>
        </p:nvSpPr>
        <p:spPr bwMode="auto">
          <a:xfrm>
            <a:off x="2989671" y="3817504"/>
            <a:ext cx="0"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68" name="Line 20"/>
          <p:cNvSpPr>
            <a:spLocks noChangeShapeType="1"/>
          </p:cNvSpPr>
          <p:nvPr/>
        </p:nvSpPr>
        <p:spPr bwMode="auto">
          <a:xfrm>
            <a:off x="5000107" y="3817504"/>
            <a:ext cx="0"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69" name="Line 21"/>
          <p:cNvSpPr>
            <a:spLocks noChangeShapeType="1"/>
          </p:cNvSpPr>
          <p:nvPr/>
        </p:nvSpPr>
        <p:spPr bwMode="auto">
          <a:xfrm flipV="1">
            <a:off x="4449774" y="3958791"/>
            <a:ext cx="543454" cy="0"/>
          </a:xfrm>
          <a:prstGeom prst="line">
            <a:avLst/>
          </a:prstGeom>
          <a:noFill/>
          <a:ln w="9525">
            <a:solidFill>
              <a:schemeClr val="tx1"/>
            </a:solidFill>
            <a:round/>
            <a:headEnd type="none" w="sm"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70" name="Text Box 22"/>
          <p:cNvSpPr txBox="1">
            <a:spLocks noChangeArrowheads="1"/>
          </p:cNvSpPr>
          <p:nvPr/>
        </p:nvSpPr>
        <p:spPr bwMode="auto">
          <a:xfrm>
            <a:off x="3445416" y="3719078"/>
            <a:ext cx="1090363" cy="400110"/>
          </a:xfrm>
          <a:prstGeom prst="rect">
            <a:avLst/>
          </a:prstGeom>
          <a:noFill/>
          <a:ln>
            <a:noFill/>
          </a:ln>
          <a:effectLst/>
          <a:extLst>
            <a:ext uri="{909E8E84-426E-40DD-AFC4-6F175D3DCCD1}">
              <a14:hiddenFill xmlns:a14="http://schemas.microsoft.com/office/drawing/2010/main">
                <a:gradFill rotWithShape="0">
                  <a:gsLst>
                    <a:gs pos="0">
                      <a:srgbClr val="EAEAEA">
                        <a:gamma/>
                        <a:tint val="69804"/>
                        <a:invGamma/>
                      </a:srgbClr>
                    </a:gs>
                    <a:gs pos="100000">
                      <a:srgbClr val="EAEAEA"/>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24 </a:t>
            </a:r>
            <a:r>
              <a:rPr kumimoji="1" lang="zh-CN" altLang="en-US" sz="2000" b="1">
                <a:solidFill>
                  <a:srgbClr val="0000CC"/>
                </a:solidFill>
                <a:latin typeface="+mn-lt"/>
                <a:ea typeface="黑体" pitchFamily="2" charset="-122"/>
              </a:rPr>
              <a:t>字节</a:t>
            </a:r>
          </a:p>
        </p:txBody>
      </p:sp>
      <p:sp>
        <p:nvSpPr>
          <p:cNvPr id="590871" name="Rectangle 23"/>
          <p:cNvSpPr>
            <a:spLocks noChangeArrowheads="1"/>
          </p:cNvSpPr>
          <p:nvPr/>
        </p:nvSpPr>
        <p:spPr bwMode="auto">
          <a:xfrm>
            <a:off x="814134" y="1324646"/>
            <a:ext cx="8752020" cy="2232025"/>
          </a:xfrm>
          <a:prstGeom prst="rect">
            <a:avLst/>
          </a:prstGeom>
          <a:solidFill>
            <a:srgbClr val="CCECFF"/>
          </a:solidFill>
          <a:ln w="952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90872" name="Line 24"/>
          <p:cNvSpPr>
            <a:spLocks noChangeShapeType="1"/>
          </p:cNvSpPr>
          <p:nvPr/>
        </p:nvSpPr>
        <p:spPr bwMode="auto">
          <a:xfrm>
            <a:off x="805536" y="1708820"/>
            <a:ext cx="87674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73" name="Line 25"/>
          <p:cNvSpPr>
            <a:spLocks noChangeShapeType="1"/>
          </p:cNvSpPr>
          <p:nvPr/>
        </p:nvSpPr>
        <p:spPr bwMode="auto">
          <a:xfrm>
            <a:off x="805536" y="2077120"/>
            <a:ext cx="87674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74" name="Line 26"/>
          <p:cNvSpPr>
            <a:spLocks noChangeShapeType="1"/>
          </p:cNvSpPr>
          <p:nvPr/>
        </p:nvSpPr>
        <p:spPr bwMode="auto">
          <a:xfrm>
            <a:off x="805536" y="2448595"/>
            <a:ext cx="87674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75" name="Line 27"/>
          <p:cNvSpPr>
            <a:spLocks noChangeShapeType="1"/>
          </p:cNvSpPr>
          <p:nvPr/>
        </p:nvSpPr>
        <p:spPr bwMode="auto">
          <a:xfrm>
            <a:off x="805536" y="2816895"/>
            <a:ext cx="87674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76" name="Line 28"/>
          <p:cNvSpPr>
            <a:spLocks noChangeShapeType="1"/>
          </p:cNvSpPr>
          <p:nvPr/>
        </p:nvSpPr>
        <p:spPr bwMode="auto">
          <a:xfrm>
            <a:off x="805536" y="3188370"/>
            <a:ext cx="876749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77" name="Line 29"/>
          <p:cNvSpPr>
            <a:spLocks noChangeShapeType="1"/>
          </p:cNvSpPr>
          <p:nvPr/>
        </p:nvSpPr>
        <p:spPr bwMode="auto">
          <a:xfrm>
            <a:off x="2989671" y="1330996"/>
            <a:ext cx="0" cy="3778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78" name="Line 30"/>
          <p:cNvSpPr>
            <a:spLocks noChangeShapeType="1"/>
          </p:cNvSpPr>
          <p:nvPr/>
        </p:nvSpPr>
        <p:spPr bwMode="auto">
          <a:xfrm>
            <a:off x="5175526" y="1330996"/>
            <a:ext cx="6879" cy="3778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79" name="Rectangle 31"/>
          <p:cNvSpPr>
            <a:spLocks noChangeArrowheads="1"/>
          </p:cNvSpPr>
          <p:nvPr/>
        </p:nvSpPr>
        <p:spPr bwMode="auto">
          <a:xfrm>
            <a:off x="752222" y="924595"/>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590880" name="Rectangle 32"/>
          <p:cNvSpPr>
            <a:spLocks noChangeArrowheads="1"/>
          </p:cNvSpPr>
          <p:nvPr/>
        </p:nvSpPr>
        <p:spPr bwMode="auto">
          <a:xfrm>
            <a:off x="2898522" y="924595"/>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8</a:t>
            </a:r>
          </a:p>
        </p:txBody>
      </p:sp>
      <p:sp>
        <p:nvSpPr>
          <p:cNvPr id="590881" name="Rectangle 33"/>
          <p:cNvSpPr>
            <a:spLocks noChangeArrowheads="1"/>
          </p:cNvSpPr>
          <p:nvPr/>
        </p:nvSpPr>
        <p:spPr bwMode="auto">
          <a:xfrm>
            <a:off x="5067179" y="924595"/>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590882" name="Rectangle 34"/>
          <p:cNvSpPr>
            <a:spLocks noChangeArrowheads="1"/>
          </p:cNvSpPr>
          <p:nvPr/>
        </p:nvSpPr>
        <p:spPr bwMode="auto">
          <a:xfrm>
            <a:off x="9165442" y="924595"/>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590883" name="Rectangle 35"/>
          <p:cNvSpPr>
            <a:spLocks noChangeArrowheads="1"/>
          </p:cNvSpPr>
          <p:nvPr/>
        </p:nvSpPr>
        <p:spPr bwMode="auto">
          <a:xfrm>
            <a:off x="1433260" y="132305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590884" name="Rectangle 36"/>
          <p:cNvSpPr>
            <a:spLocks noChangeArrowheads="1"/>
          </p:cNvSpPr>
          <p:nvPr/>
        </p:nvSpPr>
        <p:spPr bwMode="auto">
          <a:xfrm>
            <a:off x="3538285" y="1726283"/>
            <a:ext cx="31418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路    由    器    标    识    符</a:t>
            </a:r>
          </a:p>
        </p:txBody>
      </p:sp>
      <p:sp>
        <p:nvSpPr>
          <p:cNvPr id="590885" name="Rectangle 37"/>
          <p:cNvSpPr>
            <a:spLocks noChangeArrowheads="1"/>
          </p:cNvSpPr>
          <p:nvPr/>
        </p:nvSpPr>
        <p:spPr bwMode="auto">
          <a:xfrm>
            <a:off x="3662110" y="1323058"/>
            <a:ext cx="98103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类    型</a:t>
            </a:r>
          </a:p>
        </p:txBody>
      </p:sp>
      <p:sp>
        <p:nvSpPr>
          <p:cNvPr id="590886" name="Rectangle 38"/>
          <p:cNvSpPr>
            <a:spLocks noChangeArrowheads="1"/>
          </p:cNvSpPr>
          <p:nvPr/>
        </p:nvSpPr>
        <p:spPr bwMode="auto">
          <a:xfrm>
            <a:off x="6310589" y="1323058"/>
            <a:ext cx="20614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分    组    长    度</a:t>
            </a:r>
          </a:p>
        </p:txBody>
      </p:sp>
      <p:sp>
        <p:nvSpPr>
          <p:cNvPr id="590887" name="Rectangle 39"/>
          <p:cNvSpPr>
            <a:spLocks noChangeArrowheads="1"/>
          </p:cNvSpPr>
          <p:nvPr/>
        </p:nvSpPr>
        <p:spPr bwMode="auto">
          <a:xfrm>
            <a:off x="2270799" y="2466058"/>
            <a:ext cx="138018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检   验   和</a:t>
            </a:r>
          </a:p>
        </p:txBody>
      </p:sp>
      <p:sp>
        <p:nvSpPr>
          <p:cNvPr id="590888" name="Rectangle 40"/>
          <p:cNvSpPr>
            <a:spLocks noChangeArrowheads="1"/>
          </p:cNvSpPr>
          <p:nvPr/>
        </p:nvSpPr>
        <p:spPr bwMode="auto">
          <a:xfrm>
            <a:off x="4417098" y="2818483"/>
            <a:ext cx="154529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鉴            别</a:t>
            </a:r>
          </a:p>
        </p:txBody>
      </p:sp>
      <p:sp>
        <p:nvSpPr>
          <p:cNvPr id="590889" name="Rectangle 41"/>
          <p:cNvSpPr>
            <a:spLocks noChangeArrowheads="1"/>
          </p:cNvSpPr>
          <p:nvPr/>
        </p:nvSpPr>
        <p:spPr bwMode="auto">
          <a:xfrm>
            <a:off x="184691" y="908720"/>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590890" name="Rectangle 42"/>
          <p:cNvSpPr>
            <a:spLocks noChangeArrowheads="1"/>
          </p:cNvSpPr>
          <p:nvPr/>
        </p:nvSpPr>
        <p:spPr bwMode="auto">
          <a:xfrm>
            <a:off x="4417098" y="3188371"/>
            <a:ext cx="154529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鉴            别</a:t>
            </a:r>
          </a:p>
        </p:txBody>
      </p:sp>
      <p:sp>
        <p:nvSpPr>
          <p:cNvPr id="590891" name="Rectangle 43"/>
          <p:cNvSpPr>
            <a:spLocks noChangeArrowheads="1"/>
          </p:cNvSpPr>
          <p:nvPr/>
        </p:nvSpPr>
        <p:spPr bwMode="auto">
          <a:xfrm>
            <a:off x="3870205" y="2094583"/>
            <a:ext cx="260167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区    域    标    识    符</a:t>
            </a:r>
          </a:p>
        </p:txBody>
      </p:sp>
      <p:sp>
        <p:nvSpPr>
          <p:cNvPr id="590892" name="Rectangle 44"/>
          <p:cNvSpPr>
            <a:spLocks noChangeArrowheads="1"/>
          </p:cNvSpPr>
          <p:nvPr/>
        </p:nvSpPr>
        <p:spPr bwMode="auto">
          <a:xfrm>
            <a:off x="6334666" y="2466058"/>
            <a:ext cx="20614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鉴    别    类    型</a:t>
            </a:r>
          </a:p>
        </p:txBody>
      </p:sp>
      <p:sp>
        <p:nvSpPr>
          <p:cNvPr id="590893" name="Line 45"/>
          <p:cNvSpPr>
            <a:spLocks noChangeShapeType="1"/>
          </p:cNvSpPr>
          <p:nvPr/>
        </p:nvSpPr>
        <p:spPr bwMode="auto">
          <a:xfrm flipH="1">
            <a:off x="5187564" y="2466058"/>
            <a:ext cx="2579" cy="3508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590894" name="Line 46"/>
          <p:cNvSpPr>
            <a:spLocks noChangeShapeType="1"/>
          </p:cNvSpPr>
          <p:nvPr/>
        </p:nvSpPr>
        <p:spPr bwMode="auto">
          <a:xfrm flipH="1" flipV="1">
            <a:off x="2989671" y="3969903"/>
            <a:ext cx="541734" cy="1588"/>
          </a:xfrm>
          <a:prstGeom prst="line">
            <a:avLst/>
          </a:prstGeom>
          <a:noFill/>
          <a:ln w="9525">
            <a:solidFill>
              <a:schemeClr val="tx1"/>
            </a:solidFill>
            <a:round/>
            <a:headEnd type="none" w="sm" len="lg"/>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 name="矩形 1"/>
          <p:cNvSpPr/>
          <p:nvPr/>
        </p:nvSpPr>
        <p:spPr>
          <a:xfrm>
            <a:off x="2783294" y="6189586"/>
            <a:ext cx="5409242" cy="461665"/>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latin typeface="+mn-lt"/>
                <a:ea typeface="黑体" pitchFamily="2" charset="-122"/>
              </a:rPr>
              <a:t>OSPF </a:t>
            </a:r>
            <a:r>
              <a:rPr lang="zh-CN" altLang="zh-CN" sz="2400" b="1" dirty="0">
                <a:latin typeface="+mn-lt"/>
                <a:ea typeface="黑体" pitchFamily="2" charset="-122"/>
              </a:rPr>
              <a:t>分组用</a:t>
            </a:r>
            <a:r>
              <a:rPr lang="en-US" altLang="zh-CN" sz="2400" b="1" dirty="0">
                <a:latin typeface="+mn-lt"/>
                <a:ea typeface="黑体" pitchFamily="2" charset="-122"/>
              </a:rPr>
              <a:t> IP </a:t>
            </a:r>
            <a:r>
              <a:rPr lang="zh-CN" altLang="zh-CN" sz="2400" b="1" dirty="0">
                <a:latin typeface="+mn-lt"/>
                <a:ea typeface="黑体" pitchFamily="2" charset="-122"/>
              </a:rPr>
              <a:t>数据报传送</a:t>
            </a:r>
            <a:endParaRPr lang="zh-CN" altLang="en-US" sz="2400" b="1" dirty="0">
              <a:latin typeface="+mn-lt"/>
              <a:ea typeface="黑体" pitchFamily="2" charset="-122"/>
            </a:endParaRPr>
          </a:p>
        </p:txBody>
      </p:sp>
    </p:spTree>
    <p:extLst>
      <p:ext uri="{BB962C8B-B14F-4D97-AF65-F5344CB8AC3E}">
        <p14:creationId xmlns:p14="http://schemas.microsoft.com/office/powerpoint/2010/main" val="5960533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r>
              <a:rPr lang="en-US" altLang="zh-CN" dirty="0"/>
              <a:t>2. OSPF </a:t>
            </a:r>
            <a:r>
              <a:rPr lang="zh-CN" altLang="en-US" dirty="0"/>
              <a:t>的五种分组类型 </a:t>
            </a:r>
          </a:p>
        </p:txBody>
      </p:sp>
      <p:sp>
        <p:nvSpPr>
          <p:cNvPr id="591875" name="Rectangle 3"/>
          <p:cNvSpPr>
            <a:spLocks noGrp="1" noChangeArrowheads="1"/>
          </p:cNvSpPr>
          <p:nvPr>
            <p:ph idx="1"/>
          </p:nvPr>
        </p:nvSpPr>
        <p:spPr>
          <a:noFill/>
        </p:spPr>
        <p:txBody>
          <a:bodyPr/>
          <a:lstStyle/>
          <a:p>
            <a:pPr>
              <a:spcBef>
                <a:spcPts val="1200"/>
              </a:spcBef>
            </a:pPr>
            <a:r>
              <a:rPr lang="zh-CN" altLang="en-US" sz="2800" dirty="0">
                <a:solidFill>
                  <a:srgbClr val="0000FF"/>
                </a:solidFill>
              </a:rPr>
              <a:t>类型</a:t>
            </a:r>
            <a:r>
              <a:rPr lang="en-US" altLang="zh-CN" sz="2800" dirty="0">
                <a:solidFill>
                  <a:srgbClr val="0000FF"/>
                </a:solidFill>
              </a:rPr>
              <a:t>1</a:t>
            </a:r>
            <a:r>
              <a:rPr lang="zh-CN" altLang="en-US" sz="2800" dirty="0">
                <a:solidFill>
                  <a:srgbClr val="0000FF"/>
                </a:solidFill>
              </a:rPr>
              <a:t>，</a:t>
            </a:r>
            <a:r>
              <a:rPr lang="zh-CN" altLang="en-US" sz="2800" dirty="0"/>
              <a:t>问候 </a:t>
            </a:r>
            <a:r>
              <a:rPr lang="en-US" altLang="zh-CN" sz="2800" dirty="0"/>
              <a:t>(Hello) </a:t>
            </a:r>
            <a:r>
              <a:rPr lang="zh-CN" altLang="en-US" sz="2800" dirty="0"/>
              <a:t>分组。</a:t>
            </a:r>
          </a:p>
          <a:p>
            <a:pPr>
              <a:spcBef>
                <a:spcPts val="1200"/>
              </a:spcBef>
            </a:pPr>
            <a:r>
              <a:rPr lang="zh-CN" altLang="en-US" sz="2800" dirty="0">
                <a:solidFill>
                  <a:srgbClr val="0000FF"/>
                </a:solidFill>
              </a:rPr>
              <a:t>类型</a:t>
            </a:r>
            <a:r>
              <a:rPr lang="en-US" altLang="zh-CN" sz="2800" dirty="0">
                <a:solidFill>
                  <a:srgbClr val="0000FF"/>
                </a:solidFill>
              </a:rPr>
              <a:t>2</a:t>
            </a:r>
            <a:r>
              <a:rPr lang="zh-CN" altLang="en-US" sz="2800" dirty="0">
                <a:solidFill>
                  <a:srgbClr val="0000FF"/>
                </a:solidFill>
              </a:rPr>
              <a:t>，</a:t>
            </a:r>
            <a:r>
              <a:rPr lang="zh-CN" altLang="en-US" sz="2800" dirty="0"/>
              <a:t>数据库描述 </a:t>
            </a:r>
            <a:r>
              <a:rPr lang="en-US" altLang="zh-CN" sz="2800" dirty="0"/>
              <a:t>(Database Description) </a:t>
            </a:r>
            <a:r>
              <a:rPr lang="zh-CN" altLang="en-US" sz="2800" dirty="0"/>
              <a:t>分组。</a:t>
            </a:r>
          </a:p>
          <a:p>
            <a:pPr>
              <a:spcBef>
                <a:spcPts val="1200"/>
              </a:spcBef>
            </a:pPr>
            <a:r>
              <a:rPr lang="zh-CN" altLang="en-US" sz="2800" dirty="0">
                <a:solidFill>
                  <a:srgbClr val="0000FF"/>
                </a:solidFill>
              </a:rPr>
              <a:t>类型</a:t>
            </a:r>
            <a:r>
              <a:rPr lang="en-US" altLang="zh-CN" sz="2800" dirty="0">
                <a:solidFill>
                  <a:srgbClr val="0000FF"/>
                </a:solidFill>
              </a:rPr>
              <a:t>3</a:t>
            </a:r>
            <a:r>
              <a:rPr lang="zh-CN" altLang="en-US" sz="2800" dirty="0">
                <a:solidFill>
                  <a:srgbClr val="0000FF"/>
                </a:solidFill>
              </a:rPr>
              <a:t>，</a:t>
            </a:r>
            <a:r>
              <a:rPr lang="zh-CN" altLang="en-US" sz="2800" dirty="0"/>
              <a:t>链路状态请求 </a:t>
            </a:r>
            <a:r>
              <a:rPr lang="en-US" altLang="zh-CN" sz="2800" dirty="0"/>
              <a:t>(Link State Request) </a:t>
            </a:r>
            <a:r>
              <a:rPr lang="zh-CN" altLang="en-US" sz="2800" dirty="0"/>
              <a:t>分组。</a:t>
            </a:r>
          </a:p>
          <a:p>
            <a:pPr>
              <a:spcBef>
                <a:spcPts val="1200"/>
              </a:spcBef>
            </a:pPr>
            <a:r>
              <a:rPr lang="zh-CN" altLang="en-US" sz="2800" dirty="0">
                <a:solidFill>
                  <a:srgbClr val="0000FF"/>
                </a:solidFill>
              </a:rPr>
              <a:t>类型</a:t>
            </a:r>
            <a:r>
              <a:rPr lang="en-US" altLang="zh-CN" sz="2800" dirty="0">
                <a:solidFill>
                  <a:srgbClr val="0000FF"/>
                </a:solidFill>
              </a:rPr>
              <a:t>4</a:t>
            </a:r>
            <a:r>
              <a:rPr lang="zh-CN" altLang="en-US" sz="2800" dirty="0">
                <a:solidFill>
                  <a:srgbClr val="0000FF"/>
                </a:solidFill>
              </a:rPr>
              <a:t>，</a:t>
            </a:r>
            <a:r>
              <a:rPr lang="zh-CN" altLang="en-US" sz="2800" dirty="0"/>
              <a:t>链路状态更新 </a:t>
            </a:r>
            <a:r>
              <a:rPr lang="en-US" altLang="zh-CN" sz="2800" dirty="0"/>
              <a:t>(Link State Update) </a:t>
            </a:r>
            <a:r>
              <a:rPr lang="zh-CN" altLang="en-US" sz="2800" dirty="0"/>
              <a:t>分组，</a:t>
            </a:r>
          </a:p>
          <a:p>
            <a:pPr>
              <a:spcBef>
                <a:spcPts val="1200"/>
              </a:spcBef>
              <a:buFont typeface="Wingdings" pitchFamily="2" charset="2"/>
              <a:buNone/>
            </a:pPr>
            <a:r>
              <a:rPr lang="zh-CN" altLang="en-US" sz="2800" dirty="0"/>
              <a:t>                用</a:t>
            </a:r>
            <a:r>
              <a:rPr lang="zh-CN" altLang="en-US" sz="2800" dirty="0">
                <a:solidFill>
                  <a:srgbClr val="FF0000"/>
                </a:solidFill>
              </a:rPr>
              <a:t>洪泛法</a:t>
            </a:r>
            <a:r>
              <a:rPr lang="zh-CN" altLang="en-US" sz="2800" dirty="0"/>
              <a:t>对全网更新链路状态。</a:t>
            </a:r>
          </a:p>
          <a:p>
            <a:pPr>
              <a:spcBef>
                <a:spcPts val="1200"/>
              </a:spcBef>
            </a:pPr>
            <a:r>
              <a:rPr lang="zh-CN" altLang="en-US" sz="2800" dirty="0">
                <a:solidFill>
                  <a:srgbClr val="0000FF"/>
                </a:solidFill>
              </a:rPr>
              <a:t>类型</a:t>
            </a:r>
            <a:r>
              <a:rPr lang="en-US" altLang="zh-CN" sz="2800" dirty="0">
                <a:solidFill>
                  <a:srgbClr val="0000FF"/>
                </a:solidFill>
              </a:rPr>
              <a:t>5</a:t>
            </a:r>
            <a:r>
              <a:rPr lang="zh-CN" altLang="en-US" sz="2800" dirty="0">
                <a:solidFill>
                  <a:srgbClr val="0000FF"/>
                </a:solidFill>
              </a:rPr>
              <a:t>，</a:t>
            </a:r>
            <a:r>
              <a:rPr lang="zh-CN" altLang="en-US" sz="2800" dirty="0"/>
              <a:t>链路状态确认 </a:t>
            </a:r>
            <a:r>
              <a:rPr lang="en-US" altLang="zh-CN" sz="2800" dirty="0"/>
              <a:t>(Link State Acknowledgment)</a:t>
            </a:r>
          </a:p>
          <a:p>
            <a:pPr>
              <a:spcBef>
                <a:spcPts val="1200"/>
              </a:spcBef>
              <a:buFont typeface="Wingdings" pitchFamily="2" charset="2"/>
              <a:buNone/>
            </a:pPr>
            <a:r>
              <a:rPr lang="en-US" altLang="zh-CN" sz="2800" dirty="0"/>
              <a:t>                 </a:t>
            </a:r>
            <a:r>
              <a:rPr lang="zh-CN" altLang="en-US" sz="2800" dirty="0"/>
              <a:t>分组。 </a:t>
            </a:r>
          </a:p>
        </p:txBody>
      </p:sp>
    </p:spTree>
    <p:extLst>
      <p:ext uri="{BB962C8B-B14F-4D97-AF65-F5344CB8AC3E}">
        <p14:creationId xmlns:p14="http://schemas.microsoft.com/office/powerpoint/2010/main" val="16125227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pPr algn="ctr"/>
            <a:r>
              <a:rPr lang="en-US" altLang="zh-CN"/>
              <a:t>OSPF </a:t>
            </a:r>
            <a:r>
              <a:rPr lang="zh-CN" altLang="en-US"/>
              <a:t>的其他特点 </a:t>
            </a:r>
          </a:p>
        </p:txBody>
      </p:sp>
      <p:sp>
        <p:nvSpPr>
          <p:cNvPr id="594947" name="Rectangle 3"/>
          <p:cNvSpPr>
            <a:spLocks noGrp="1" noChangeArrowheads="1"/>
          </p:cNvSpPr>
          <p:nvPr>
            <p:ph idx="1"/>
          </p:nvPr>
        </p:nvSpPr>
        <p:spPr>
          <a:noFill/>
        </p:spPr>
        <p:txBody>
          <a:bodyPr/>
          <a:lstStyle/>
          <a:p>
            <a:r>
              <a:rPr lang="en-US" altLang="zh-CN" dirty="0"/>
              <a:t>OSPF </a:t>
            </a:r>
            <a:r>
              <a:rPr lang="zh-CN" altLang="en-US" dirty="0"/>
              <a:t>还规定每隔一段时间，如 </a:t>
            </a:r>
            <a:r>
              <a:rPr lang="en-US" altLang="zh-CN" dirty="0"/>
              <a:t>30 </a:t>
            </a:r>
            <a:r>
              <a:rPr lang="zh-CN" altLang="en-US" dirty="0"/>
              <a:t>分钟，要刷新一次数据库中的链路状态。 </a:t>
            </a:r>
          </a:p>
          <a:p>
            <a:r>
              <a:rPr lang="zh-CN" altLang="en-US" dirty="0"/>
              <a:t>由于一个路由器的链路状态只涉及到与相邻路由器的连通状态，因而与整个互联网的规模并无直接关系。因此</a:t>
            </a:r>
            <a:r>
              <a:rPr lang="zh-CN" altLang="en-US" dirty="0">
                <a:solidFill>
                  <a:srgbClr val="FF0000"/>
                </a:solidFill>
              </a:rPr>
              <a:t>当互联网规模很大时，</a:t>
            </a:r>
            <a:r>
              <a:rPr lang="en-US" altLang="zh-CN" dirty="0">
                <a:solidFill>
                  <a:srgbClr val="FF0000"/>
                </a:solidFill>
              </a:rPr>
              <a:t>OSPF  </a:t>
            </a:r>
            <a:r>
              <a:rPr lang="zh-CN" altLang="en-US" dirty="0">
                <a:solidFill>
                  <a:srgbClr val="FF0000"/>
                </a:solidFill>
              </a:rPr>
              <a:t>协议要比距离向量协议 </a:t>
            </a:r>
            <a:r>
              <a:rPr lang="en-US" altLang="zh-CN" dirty="0">
                <a:solidFill>
                  <a:srgbClr val="FF0000"/>
                </a:solidFill>
              </a:rPr>
              <a:t>RIP </a:t>
            </a:r>
            <a:r>
              <a:rPr lang="zh-CN" altLang="en-US" dirty="0">
                <a:solidFill>
                  <a:srgbClr val="FF0000"/>
                </a:solidFill>
              </a:rPr>
              <a:t>好得多。 </a:t>
            </a:r>
          </a:p>
          <a:p>
            <a:r>
              <a:rPr lang="en-US" altLang="zh-CN" dirty="0">
                <a:solidFill>
                  <a:srgbClr val="FF0000"/>
                </a:solidFill>
              </a:rPr>
              <a:t>OSPF </a:t>
            </a:r>
            <a:r>
              <a:rPr lang="zh-CN" altLang="en-US" dirty="0">
                <a:solidFill>
                  <a:srgbClr val="FF0000"/>
                </a:solidFill>
              </a:rPr>
              <a:t>没有“坏消息传播得慢”的问题，</a:t>
            </a:r>
            <a:r>
              <a:rPr lang="zh-CN" altLang="en-US" dirty="0"/>
              <a:t>据统计，其响应网络变化的时间小于 </a:t>
            </a:r>
            <a:r>
              <a:rPr lang="en-US" altLang="zh-CN" dirty="0"/>
              <a:t>100 </a:t>
            </a:r>
            <a:r>
              <a:rPr lang="en-US" altLang="zh-CN" dirty="0" err="1"/>
              <a:t>ms</a:t>
            </a:r>
            <a:r>
              <a:rPr lang="zh-CN" altLang="en-US" dirty="0"/>
              <a:t>。 </a:t>
            </a:r>
          </a:p>
        </p:txBody>
      </p:sp>
    </p:spTree>
    <p:extLst>
      <p:ext uri="{BB962C8B-B14F-4D97-AF65-F5344CB8AC3E}">
        <p14:creationId xmlns:p14="http://schemas.microsoft.com/office/powerpoint/2010/main" val="31694758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ChangeArrowheads="1"/>
          </p:cNvSpPr>
          <p:nvPr>
            <p:ph type="title"/>
          </p:nvPr>
        </p:nvSpPr>
        <p:spPr/>
        <p:txBody>
          <a:bodyPr/>
          <a:lstStyle/>
          <a:p>
            <a:r>
              <a:rPr lang="zh-CN" altLang="zh-CN" dirty="0"/>
              <a:t>路由选择协议</a:t>
            </a:r>
            <a:r>
              <a:rPr lang="en-US" altLang="zh-CN" dirty="0"/>
              <a:t>: </a:t>
            </a:r>
            <a:r>
              <a:rPr lang="zh-CN" altLang="en-US" dirty="0"/>
              <a:t>外部网关协议 </a:t>
            </a:r>
            <a:r>
              <a:rPr lang="en-US" altLang="zh-CN" dirty="0"/>
              <a:t>BGP</a:t>
            </a:r>
          </a:p>
        </p:txBody>
      </p:sp>
      <p:sp>
        <p:nvSpPr>
          <p:cNvPr id="600067" name="Rectangle 3"/>
          <p:cNvSpPr>
            <a:spLocks noGrp="1" noChangeArrowheads="1"/>
          </p:cNvSpPr>
          <p:nvPr>
            <p:ph idx="1"/>
          </p:nvPr>
        </p:nvSpPr>
        <p:spPr>
          <a:noFill/>
        </p:spPr>
        <p:txBody>
          <a:bodyPr/>
          <a:lstStyle/>
          <a:p>
            <a:pPr>
              <a:spcBef>
                <a:spcPts val="1200"/>
              </a:spcBef>
            </a:pPr>
            <a:r>
              <a:rPr lang="en-US" altLang="zh-CN" dirty="0"/>
              <a:t>BGP </a:t>
            </a:r>
            <a:r>
              <a:rPr lang="zh-CN" altLang="en-US" dirty="0"/>
              <a:t>是</a:t>
            </a:r>
            <a:r>
              <a:rPr lang="zh-CN" altLang="en-US" dirty="0">
                <a:solidFill>
                  <a:srgbClr val="FF0000"/>
                </a:solidFill>
              </a:rPr>
              <a:t>不同自治系统的路由器之间</a:t>
            </a:r>
            <a:r>
              <a:rPr lang="zh-CN" altLang="en-US" dirty="0"/>
              <a:t>交换路由信息的协议。 </a:t>
            </a:r>
          </a:p>
          <a:p>
            <a:pPr>
              <a:spcBef>
                <a:spcPts val="1200"/>
              </a:spcBef>
            </a:pPr>
            <a:r>
              <a:rPr lang="en-US" altLang="zh-CN" dirty="0"/>
              <a:t>BGP </a:t>
            </a:r>
            <a:r>
              <a:rPr lang="zh-CN" altLang="en-US" dirty="0"/>
              <a:t>较新版本是 </a:t>
            </a:r>
            <a:r>
              <a:rPr lang="en-US" altLang="zh-CN" dirty="0"/>
              <a:t>2006 </a:t>
            </a:r>
            <a:r>
              <a:rPr lang="zh-CN" altLang="en-US" dirty="0"/>
              <a:t>年 </a:t>
            </a:r>
            <a:r>
              <a:rPr lang="en-US" altLang="zh-CN" dirty="0"/>
              <a:t>1 </a:t>
            </a:r>
            <a:r>
              <a:rPr lang="zh-CN" altLang="en-US" dirty="0"/>
              <a:t>月发表的 </a:t>
            </a:r>
            <a:r>
              <a:rPr lang="en-US" altLang="zh-CN" dirty="0"/>
              <a:t>BGP-4</a:t>
            </a:r>
            <a:r>
              <a:rPr lang="zh-CN" altLang="en-US" dirty="0"/>
              <a:t>（</a:t>
            </a:r>
            <a:r>
              <a:rPr lang="en-US" altLang="zh-CN" dirty="0"/>
              <a:t>BGP </a:t>
            </a:r>
            <a:r>
              <a:rPr lang="zh-CN" altLang="en-US" dirty="0"/>
              <a:t>第 </a:t>
            </a:r>
            <a:r>
              <a:rPr lang="en-US" altLang="zh-CN" dirty="0"/>
              <a:t>4 </a:t>
            </a:r>
            <a:r>
              <a:rPr lang="zh-CN" altLang="en-US" dirty="0"/>
              <a:t>个版本），即 </a:t>
            </a:r>
            <a:r>
              <a:rPr lang="en-US" altLang="zh-CN" dirty="0"/>
              <a:t>RFC 4271 ~ 4278</a:t>
            </a:r>
            <a:r>
              <a:rPr lang="zh-CN" altLang="en-US" dirty="0"/>
              <a:t>。 </a:t>
            </a:r>
          </a:p>
          <a:p>
            <a:pPr>
              <a:spcBef>
                <a:spcPts val="1200"/>
              </a:spcBef>
            </a:pPr>
            <a:r>
              <a:rPr lang="zh-CN" altLang="en-US" dirty="0"/>
              <a:t>可以将 </a:t>
            </a:r>
            <a:r>
              <a:rPr lang="en-US" altLang="zh-CN" dirty="0"/>
              <a:t>BGP-4 </a:t>
            </a:r>
            <a:r>
              <a:rPr lang="zh-CN" altLang="en-US" dirty="0"/>
              <a:t>简写为 </a:t>
            </a:r>
            <a:r>
              <a:rPr lang="en-US" altLang="zh-CN" dirty="0"/>
              <a:t>BGP</a:t>
            </a:r>
            <a:r>
              <a:rPr lang="zh-CN" altLang="en-US" dirty="0"/>
              <a:t>。 </a:t>
            </a:r>
          </a:p>
        </p:txBody>
      </p:sp>
    </p:spTree>
    <p:extLst>
      <p:ext uri="{BB962C8B-B14F-4D97-AF65-F5344CB8AC3E}">
        <p14:creationId xmlns:p14="http://schemas.microsoft.com/office/powerpoint/2010/main" val="24147613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p:txBody>
          <a:bodyPr/>
          <a:lstStyle/>
          <a:p>
            <a:pPr algn="ctr"/>
            <a:r>
              <a:rPr lang="en-US" altLang="zh-CN" dirty="0"/>
              <a:t>BGP </a:t>
            </a:r>
            <a:r>
              <a:rPr lang="zh-CN" altLang="en-US" dirty="0"/>
              <a:t>使用环境不同</a:t>
            </a:r>
          </a:p>
        </p:txBody>
      </p:sp>
      <p:sp>
        <p:nvSpPr>
          <p:cNvPr id="601091" name="Rectangle 3"/>
          <p:cNvSpPr>
            <a:spLocks noGrp="1" noChangeArrowheads="1"/>
          </p:cNvSpPr>
          <p:nvPr>
            <p:ph idx="1"/>
          </p:nvPr>
        </p:nvSpPr>
        <p:spPr>
          <a:noFill/>
        </p:spPr>
        <p:txBody>
          <a:bodyPr/>
          <a:lstStyle/>
          <a:p>
            <a:r>
              <a:rPr lang="zh-CN" altLang="en-US" sz="2800" dirty="0"/>
              <a:t>互联网的规模太大，使得自治系统之间路由选择非常困难。对于自治系统之间的路由选择，要寻找最佳路由是很不现实的。</a:t>
            </a:r>
          </a:p>
          <a:p>
            <a:pPr lvl="1"/>
            <a:r>
              <a:rPr lang="zh-CN" altLang="en-US" dirty="0">
                <a:latin typeface="Arial" charset="0"/>
              </a:rPr>
              <a:t>当一条路径通过几个不同 </a:t>
            </a:r>
            <a:r>
              <a:rPr lang="en-US" altLang="zh-CN" dirty="0">
                <a:latin typeface="Arial" charset="0"/>
              </a:rPr>
              <a:t>AS </a:t>
            </a:r>
            <a:r>
              <a:rPr lang="zh-CN" altLang="en-US" dirty="0">
                <a:latin typeface="Arial" charset="0"/>
              </a:rPr>
              <a:t>时，要想对这样的路径计算出有意义的代价是不太可能的。</a:t>
            </a:r>
          </a:p>
          <a:p>
            <a:pPr lvl="1"/>
            <a:r>
              <a:rPr lang="zh-CN" altLang="en-US" dirty="0">
                <a:solidFill>
                  <a:srgbClr val="0000FF"/>
                </a:solidFill>
                <a:latin typeface="Arial" charset="0"/>
              </a:rPr>
              <a:t>比较合理的做法是在 </a:t>
            </a:r>
            <a:r>
              <a:rPr lang="en-US" altLang="zh-CN" dirty="0">
                <a:solidFill>
                  <a:srgbClr val="0000FF"/>
                </a:solidFill>
                <a:latin typeface="Arial" charset="0"/>
              </a:rPr>
              <a:t>AS </a:t>
            </a:r>
            <a:r>
              <a:rPr lang="zh-CN" altLang="en-US" dirty="0">
                <a:solidFill>
                  <a:srgbClr val="0000FF"/>
                </a:solidFill>
                <a:latin typeface="Arial" charset="0"/>
              </a:rPr>
              <a:t>之间交换“可达性”信息。</a:t>
            </a:r>
            <a:endParaRPr lang="zh-CN" altLang="en-US" dirty="0">
              <a:solidFill>
                <a:srgbClr val="0000FF"/>
              </a:solidFill>
            </a:endParaRPr>
          </a:p>
          <a:p>
            <a:r>
              <a:rPr lang="zh-CN" altLang="en-US" sz="2800" dirty="0"/>
              <a:t>自治系统之间的路由选择必须考虑有关</a:t>
            </a:r>
            <a:r>
              <a:rPr lang="zh-CN" altLang="en-US" sz="2800" dirty="0">
                <a:solidFill>
                  <a:srgbClr val="FF0000"/>
                </a:solidFill>
              </a:rPr>
              <a:t>策略。</a:t>
            </a:r>
          </a:p>
          <a:p>
            <a:r>
              <a:rPr lang="zh-CN" altLang="en-US" sz="2800" dirty="0"/>
              <a:t>因此，边界网关协议 </a:t>
            </a:r>
            <a:r>
              <a:rPr lang="en-US" altLang="zh-CN" sz="2800" dirty="0"/>
              <a:t>BGP </a:t>
            </a:r>
            <a:r>
              <a:rPr lang="zh-CN" altLang="en-US" sz="2800" dirty="0"/>
              <a:t>只能是力求寻找一条能够到达目的网络且</a:t>
            </a:r>
            <a:r>
              <a:rPr lang="zh-CN" altLang="en-US" sz="2800" dirty="0">
                <a:solidFill>
                  <a:srgbClr val="FF0000"/>
                </a:solidFill>
              </a:rPr>
              <a:t>比较好的路由</a:t>
            </a:r>
            <a:r>
              <a:rPr lang="zh-CN" altLang="en-US" sz="2800" dirty="0"/>
              <a:t>（不能兜圈子），而</a:t>
            </a:r>
            <a:r>
              <a:rPr lang="zh-CN" altLang="en-US" sz="2800" dirty="0">
                <a:solidFill>
                  <a:srgbClr val="FF0000"/>
                </a:solidFill>
              </a:rPr>
              <a:t>并非要寻找一条最佳路由。</a:t>
            </a:r>
            <a:r>
              <a:rPr lang="zh-CN" altLang="en-US" sz="2800" dirty="0"/>
              <a:t>  </a:t>
            </a:r>
          </a:p>
        </p:txBody>
      </p:sp>
    </p:spTree>
    <p:extLst>
      <p:ext uri="{BB962C8B-B14F-4D97-AF65-F5344CB8AC3E}">
        <p14:creationId xmlns:p14="http://schemas.microsoft.com/office/powerpoint/2010/main" val="24615709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Grp="1" noChangeArrowheads="1"/>
          </p:cNvSpPr>
          <p:nvPr>
            <p:ph type="title"/>
          </p:nvPr>
        </p:nvSpPr>
        <p:spPr/>
        <p:txBody>
          <a:bodyPr/>
          <a:lstStyle/>
          <a:p>
            <a:pPr algn="ctr"/>
            <a:r>
              <a:rPr lang="en-US" altLang="zh-CN" dirty="0"/>
              <a:t>BGP</a:t>
            </a:r>
            <a:r>
              <a:rPr lang="en-US" altLang="zh-CN" b="1" dirty="0"/>
              <a:t> </a:t>
            </a:r>
            <a:r>
              <a:rPr lang="zh-CN" altLang="en-US" dirty="0"/>
              <a:t>发言人</a:t>
            </a:r>
            <a:endParaRPr lang="en-US" altLang="zh-CN" dirty="0"/>
          </a:p>
        </p:txBody>
      </p:sp>
      <p:sp>
        <p:nvSpPr>
          <p:cNvPr id="602115" name="Rectangle 3"/>
          <p:cNvSpPr>
            <a:spLocks noGrp="1" noChangeArrowheads="1"/>
          </p:cNvSpPr>
          <p:nvPr>
            <p:ph idx="1"/>
          </p:nvPr>
        </p:nvSpPr>
        <p:spPr/>
        <p:txBody>
          <a:bodyPr/>
          <a:lstStyle/>
          <a:p>
            <a:r>
              <a:rPr lang="zh-CN" altLang="en-US" dirty="0"/>
              <a:t>每一个自治系统的管理员要选择至少一个路由器作为该自治系统的“ </a:t>
            </a:r>
            <a:r>
              <a:rPr lang="en-US" altLang="zh-CN" dirty="0">
                <a:solidFill>
                  <a:srgbClr val="FF0000"/>
                </a:solidFill>
              </a:rPr>
              <a:t>BGP </a:t>
            </a:r>
            <a:r>
              <a:rPr lang="zh-CN" altLang="en-US" dirty="0">
                <a:solidFill>
                  <a:srgbClr val="FF0000"/>
                </a:solidFill>
              </a:rPr>
              <a:t>发言人</a:t>
            </a:r>
            <a:r>
              <a:rPr lang="zh-CN" altLang="en-US" dirty="0"/>
              <a:t>”</a:t>
            </a:r>
            <a:r>
              <a:rPr lang="en-US" altLang="zh-CN" dirty="0"/>
              <a:t> (BGP speaker)</a:t>
            </a:r>
            <a:r>
              <a:rPr lang="zh-CN" altLang="en-US" dirty="0"/>
              <a:t> 。</a:t>
            </a:r>
          </a:p>
          <a:p>
            <a:r>
              <a:rPr lang="zh-CN" altLang="en-US" dirty="0"/>
              <a:t>一般说来，两个 </a:t>
            </a:r>
            <a:r>
              <a:rPr lang="en-US" altLang="zh-CN" dirty="0"/>
              <a:t>BGP </a:t>
            </a:r>
            <a:r>
              <a:rPr lang="zh-CN" altLang="en-US" dirty="0"/>
              <a:t>发言人都是通过一个共享网络连接在一起的，而 </a:t>
            </a:r>
            <a:r>
              <a:rPr lang="en-US" altLang="zh-CN" dirty="0"/>
              <a:t>BGP </a:t>
            </a:r>
            <a:r>
              <a:rPr lang="zh-CN" altLang="en-US" dirty="0"/>
              <a:t>发言人往往就是 </a:t>
            </a:r>
            <a:r>
              <a:rPr lang="en-US" altLang="zh-CN" dirty="0"/>
              <a:t>BGP </a:t>
            </a:r>
            <a:r>
              <a:rPr lang="zh-CN" altLang="en-US" dirty="0"/>
              <a:t>边界路由器。 </a:t>
            </a:r>
          </a:p>
        </p:txBody>
      </p:sp>
    </p:spTree>
    <p:extLst>
      <p:ext uri="{BB962C8B-B14F-4D97-AF65-F5344CB8AC3E}">
        <p14:creationId xmlns:p14="http://schemas.microsoft.com/office/powerpoint/2010/main" val="31362800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p:txBody>
          <a:bodyPr/>
          <a:lstStyle/>
          <a:p>
            <a:pPr algn="ctr"/>
            <a:r>
              <a:rPr lang="en-US" altLang="zh-CN" dirty="0"/>
              <a:t>BGP </a:t>
            </a:r>
            <a:r>
              <a:rPr lang="zh-CN" altLang="en-US" dirty="0"/>
              <a:t>交换路由信息</a:t>
            </a:r>
          </a:p>
        </p:txBody>
      </p:sp>
      <p:sp>
        <p:nvSpPr>
          <p:cNvPr id="603139" name="Rectangle 3"/>
          <p:cNvSpPr>
            <a:spLocks noGrp="1" noChangeArrowheads="1"/>
          </p:cNvSpPr>
          <p:nvPr>
            <p:ph idx="1"/>
          </p:nvPr>
        </p:nvSpPr>
        <p:spPr/>
        <p:txBody>
          <a:bodyPr/>
          <a:lstStyle/>
          <a:p>
            <a:r>
              <a:rPr lang="zh-CN" altLang="en-US" sz="3000" dirty="0"/>
              <a:t>一个 </a:t>
            </a:r>
            <a:r>
              <a:rPr lang="en-US" altLang="zh-CN" sz="3000" dirty="0"/>
              <a:t>BGP </a:t>
            </a:r>
            <a:r>
              <a:rPr lang="zh-CN" altLang="en-US" sz="3000" dirty="0"/>
              <a:t>发言人与其他自治系统中的 </a:t>
            </a:r>
            <a:r>
              <a:rPr lang="en-US" altLang="zh-CN" sz="3000" dirty="0"/>
              <a:t>BGP </a:t>
            </a:r>
            <a:r>
              <a:rPr lang="zh-CN" altLang="en-US" sz="3000" dirty="0"/>
              <a:t>发言人要交换路由信息，就要先建立 </a:t>
            </a:r>
            <a:r>
              <a:rPr lang="en-US" altLang="zh-CN" sz="3000" dirty="0">
                <a:solidFill>
                  <a:srgbClr val="FF0000"/>
                </a:solidFill>
              </a:rPr>
              <a:t>TCP </a:t>
            </a:r>
            <a:r>
              <a:rPr lang="zh-CN" altLang="en-US" sz="3000" dirty="0">
                <a:solidFill>
                  <a:srgbClr val="FF0000"/>
                </a:solidFill>
              </a:rPr>
              <a:t>连接，</a:t>
            </a:r>
            <a:r>
              <a:rPr lang="zh-CN" altLang="en-US" sz="3000" dirty="0"/>
              <a:t>然后在此连接上交换 </a:t>
            </a:r>
            <a:r>
              <a:rPr lang="en-US" altLang="zh-CN" sz="3000" dirty="0"/>
              <a:t>BGP </a:t>
            </a:r>
            <a:r>
              <a:rPr lang="zh-CN" altLang="en-US" sz="3000" dirty="0"/>
              <a:t>报文以建立 </a:t>
            </a:r>
            <a:r>
              <a:rPr lang="en-US" altLang="zh-CN" sz="3000" dirty="0"/>
              <a:t>BGP </a:t>
            </a:r>
            <a:r>
              <a:rPr lang="zh-CN" altLang="en-US" sz="3000" dirty="0">
                <a:solidFill>
                  <a:srgbClr val="FF0000"/>
                </a:solidFill>
              </a:rPr>
              <a:t>会话</a:t>
            </a:r>
            <a:r>
              <a:rPr lang="en-US" altLang="zh-CN" sz="3000" dirty="0"/>
              <a:t>(session)</a:t>
            </a:r>
            <a:r>
              <a:rPr lang="zh-CN" altLang="en-US" sz="3000" dirty="0"/>
              <a:t>，利用 </a:t>
            </a:r>
            <a:r>
              <a:rPr lang="en-US" altLang="zh-CN" sz="3000" dirty="0"/>
              <a:t>BGP </a:t>
            </a:r>
            <a:r>
              <a:rPr lang="zh-CN" altLang="en-US" sz="3000" dirty="0"/>
              <a:t>会话交换路由信息。</a:t>
            </a:r>
          </a:p>
          <a:p>
            <a:r>
              <a:rPr lang="zh-CN" altLang="en-US" sz="3000" dirty="0"/>
              <a:t>使用 </a:t>
            </a:r>
            <a:r>
              <a:rPr lang="en-US" altLang="zh-CN" sz="3000" dirty="0"/>
              <a:t>TCP </a:t>
            </a:r>
            <a:r>
              <a:rPr lang="zh-CN" altLang="en-US" sz="3000" dirty="0"/>
              <a:t>连接能提供可靠的服务，也简化了路由选择协议。</a:t>
            </a:r>
          </a:p>
          <a:p>
            <a:r>
              <a:rPr lang="zh-CN" altLang="en-US" sz="3000" dirty="0"/>
              <a:t>使用 </a:t>
            </a:r>
            <a:r>
              <a:rPr lang="en-US" altLang="zh-CN" sz="3000" dirty="0"/>
              <a:t>TCP </a:t>
            </a:r>
            <a:r>
              <a:rPr lang="zh-CN" altLang="en-US" sz="3000" dirty="0"/>
              <a:t>连接交换路由信息的两个 </a:t>
            </a:r>
            <a:r>
              <a:rPr lang="en-US" altLang="zh-CN" sz="3000" dirty="0"/>
              <a:t>BGP </a:t>
            </a:r>
            <a:r>
              <a:rPr lang="zh-CN" altLang="en-US" sz="3000" dirty="0"/>
              <a:t>发言人，彼此成为对方的</a:t>
            </a:r>
            <a:r>
              <a:rPr lang="zh-CN" altLang="zh-CN" sz="3000" dirty="0">
                <a:solidFill>
                  <a:srgbClr val="FF0000"/>
                </a:solidFill>
              </a:rPr>
              <a:t>邻站</a:t>
            </a:r>
            <a:r>
              <a:rPr lang="en-US" altLang="zh-CN" sz="3000" dirty="0"/>
              <a:t>(neighbor)</a:t>
            </a:r>
            <a:r>
              <a:rPr lang="zh-CN" altLang="zh-CN" sz="3000" dirty="0"/>
              <a:t>或</a:t>
            </a:r>
            <a:r>
              <a:rPr lang="zh-CN" altLang="zh-CN" sz="3000" dirty="0">
                <a:solidFill>
                  <a:srgbClr val="FF0000"/>
                </a:solidFill>
              </a:rPr>
              <a:t>对等站</a:t>
            </a:r>
            <a:r>
              <a:rPr lang="en-US" altLang="zh-CN" sz="3000" dirty="0"/>
              <a:t>(peer) </a:t>
            </a:r>
            <a:r>
              <a:rPr lang="zh-CN" altLang="en-US" sz="3000" dirty="0"/>
              <a:t>。</a:t>
            </a:r>
          </a:p>
        </p:txBody>
      </p:sp>
    </p:spTree>
    <p:extLst>
      <p:ext uri="{BB962C8B-B14F-4D97-AF65-F5344CB8AC3E}">
        <p14:creationId xmlns:p14="http://schemas.microsoft.com/office/powerpoint/2010/main" val="29197907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a:xfrm>
            <a:off x="495300" y="188640"/>
            <a:ext cx="8714303" cy="792088"/>
          </a:xfrm>
        </p:spPr>
        <p:txBody>
          <a:bodyPr/>
          <a:lstStyle/>
          <a:p>
            <a:pPr algn="ctr"/>
            <a:r>
              <a:rPr lang="en-US" altLang="zh-CN" sz="4000" dirty="0"/>
              <a:t>BGP </a:t>
            </a:r>
            <a:r>
              <a:rPr lang="zh-CN" altLang="en-US" sz="4000" dirty="0"/>
              <a:t>发言人和自治系统 </a:t>
            </a:r>
            <a:r>
              <a:rPr lang="en-US" altLang="zh-CN" sz="4000" dirty="0"/>
              <a:t>AS </a:t>
            </a:r>
            <a:r>
              <a:rPr lang="zh-CN" altLang="en-US" sz="4000" dirty="0"/>
              <a:t>的关系 </a:t>
            </a:r>
          </a:p>
        </p:txBody>
      </p:sp>
      <p:sp>
        <p:nvSpPr>
          <p:cNvPr id="604163" name="Oval 3"/>
          <p:cNvSpPr>
            <a:spLocks noChangeArrowheads="1"/>
          </p:cNvSpPr>
          <p:nvPr/>
        </p:nvSpPr>
        <p:spPr bwMode="auto">
          <a:xfrm>
            <a:off x="5727427" y="1556792"/>
            <a:ext cx="4050109" cy="1985963"/>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604164" name="Oval 4"/>
          <p:cNvSpPr>
            <a:spLocks noChangeArrowheads="1"/>
          </p:cNvSpPr>
          <p:nvPr/>
        </p:nvSpPr>
        <p:spPr bwMode="auto">
          <a:xfrm>
            <a:off x="414990" y="1556792"/>
            <a:ext cx="3281363" cy="1985963"/>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604165" name="Line 5"/>
          <p:cNvSpPr>
            <a:spLocks noChangeShapeType="1"/>
          </p:cNvSpPr>
          <p:nvPr/>
        </p:nvSpPr>
        <p:spPr bwMode="auto">
          <a:xfrm flipV="1">
            <a:off x="5870170" y="2258467"/>
            <a:ext cx="362877" cy="4746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66" name="Oval 6"/>
          <p:cNvSpPr>
            <a:spLocks noChangeArrowheads="1"/>
          </p:cNvSpPr>
          <p:nvPr/>
        </p:nvSpPr>
        <p:spPr bwMode="auto">
          <a:xfrm>
            <a:off x="688438" y="4077741"/>
            <a:ext cx="725752" cy="723900"/>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604167" name="Oval 7"/>
          <p:cNvSpPr>
            <a:spLocks noChangeArrowheads="1"/>
          </p:cNvSpPr>
          <p:nvPr/>
        </p:nvSpPr>
        <p:spPr bwMode="auto">
          <a:xfrm>
            <a:off x="7689709" y="4706391"/>
            <a:ext cx="725752" cy="723900"/>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604168" name="Line 8"/>
          <p:cNvSpPr>
            <a:spLocks noChangeShapeType="1"/>
          </p:cNvSpPr>
          <p:nvPr/>
        </p:nvSpPr>
        <p:spPr bwMode="auto">
          <a:xfrm>
            <a:off x="3696353" y="2874416"/>
            <a:ext cx="725752" cy="668338"/>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69" name="Line 9"/>
          <p:cNvSpPr>
            <a:spLocks noChangeShapeType="1"/>
          </p:cNvSpPr>
          <p:nvPr/>
        </p:nvSpPr>
        <p:spPr bwMode="auto">
          <a:xfrm flipH="1">
            <a:off x="4855493" y="2874416"/>
            <a:ext cx="871935" cy="668338"/>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70" name="Line 10"/>
          <p:cNvSpPr>
            <a:spLocks noChangeShapeType="1"/>
          </p:cNvSpPr>
          <p:nvPr/>
        </p:nvSpPr>
        <p:spPr bwMode="auto">
          <a:xfrm flipH="1">
            <a:off x="1233611" y="3657055"/>
            <a:ext cx="636323" cy="477837"/>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71" name="Line 11"/>
          <p:cNvSpPr>
            <a:spLocks noChangeShapeType="1"/>
          </p:cNvSpPr>
          <p:nvPr/>
        </p:nvSpPr>
        <p:spPr bwMode="auto">
          <a:xfrm>
            <a:off x="3806419" y="2764879"/>
            <a:ext cx="1761067" cy="0"/>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72" name="Line 12"/>
          <p:cNvSpPr>
            <a:spLocks noChangeShapeType="1"/>
          </p:cNvSpPr>
          <p:nvPr/>
        </p:nvSpPr>
        <p:spPr bwMode="auto">
          <a:xfrm>
            <a:off x="6869369" y="4706391"/>
            <a:ext cx="818621" cy="192088"/>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73" name="Line 13"/>
          <p:cNvSpPr>
            <a:spLocks noChangeShapeType="1"/>
          </p:cNvSpPr>
          <p:nvPr/>
        </p:nvSpPr>
        <p:spPr bwMode="auto">
          <a:xfrm>
            <a:off x="1415909" y="4515891"/>
            <a:ext cx="816902" cy="668338"/>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74" name="Line 14"/>
          <p:cNvSpPr>
            <a:spLocks noChangeShapeType="1"/>
          </p:cNvSpPr>
          <p:nvPr/>
        </p:nvSpPr>
        <p:spPr bwMode="auto">
          <a:xfrm flipH="1">
            <a:off x="330440" y="4798095"/>
            <a:ext cx="662120" cy="719137"/>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75" name="Line 15"/>
          <p:cNvSpPr>
            <a:spLocks noChangeShapeType="1"/>
          </p:cNvSpPr>
          <p:nvPr/>
        </p:nvSpPr>
        <p:spPr bwMode="auto">
          <a:xfrm flipV="1">
            <a:off x="7049946" y="5279479"/>
            <a:ext cx="708554" cy="381000"/>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76" name="Line 16"/>
          <p:cNvSpPr>
            <a:spLocks noChangeShapeType="1"/>
          </p:cNvSpPr>
          <p:nvPr/>
        </p:nvSpPr>
        <p:spPr bwMode="auto">
          <a:xfrm>
            <a:off x="8415461" y="5087391"/>
            <a:ext cx="816902" cy="192088"/>
          </a:xfrm>
          <a:prstGeom prst="line">
            <a:avLst/>
          </a:prstGeom>
          <a:noFill/>
          <a:ln w="571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77" name="Text Box 17"/>
          <p:cNvSpPr txBox="1">
            <a:spLocks noChangeArrowheads="1"/>
          </p:cNvSpPr>
          <p:nvPr/>
        </p:nvSpPr>
        <p:spPr bwMode="auto">
          <a:xfrm>
            <a:off x="1820061" y="3645942"/>
            <a:ext cx="15810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BGP </a:t>
            </a:r>
            <a:r>
              <a:rPr kumimoji="1" lang="zh-CN" altLang="en-US" sz="2000" b="1">
                <a:solidFill>
                  <a:srgbClr val="0000CC"/>
                </a:solidFill>
                <a:latin typeface="+mn-lt"/>
                <a:ea typeface="黑体" pitchFamily="2" charset="-122"/>
              </a:rPr>
              <a:t>发言人</a:t>
            </a:r>
          </a:p>
        </p:txBody>
      </p:sp>
      <p:sp>
        <p:nvSpPr>
          <p:cNvPr id="604178" name="Text Box 18"/>
          <p:cNvSpPr txBox="1">
            <a:spLocks noChangeArrowheads="1"/>
          </p:cNvSpPr>
          <p:nvPr/>
        </p:nvSpPr>
        <p:spPr bwMode="auto">
          <a:xfrm>
            <a:off x="3794569" y="2067966"/>
            <a:ext cx="9541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CC"/>
                </a:solidFill>
                <a:latin typeface="+mn-lt"/>
                <a:ea typeface="黑体" pitchFamily="2" charset="-122"/>
              </a:rPr>
              <a:t>BGP</a:t>
            </a:r>
          </a:p>
          <a:p>
            <a:pPr algn="ctr">
              <a:lnSpc>
                <a:spcPct val="90000"/>
              </a:lnSpc>
            </a:pPr>
            <a:r>
              <a:rPr kumimoji="1" lang="zh-CN" altLang="en-US" sz="2000" b="1">
                <a:solidFill>
                  <a:srgbClr val="0000CC"/>
                </a:solidFill>
                <a:latin typeface="+mn-lt"/>
                <a:ea typeface="黑体" pitchFamily="2" charset="-122"/>
              </a:rPr>
              <a:t>发言人</a:t>
            </a:r>
          </a:p>
        </p:txBody>
      </p:sp>
      <p:sp>
        <p:nvSpPr>
          <p:cNvPr id="604179" name="Text Box 19"/>
          <p:cNvSpPr txBox="1">
            <a:spLocks noChangeArrowheads="1"/>
          </p:cNvSpPr>
          <p:nvPr/>
        </p:nvSpPr>
        <p:spPr bwMode="auto">
          <a:xfrm>
            <a:off x="5049830" y="3285579"/>
            <a:ext cx="1581074" cy="400110"/>
          </a:xfrm>
          <a:prstGeom prst="rect">
            <a:avLst/>
          </a:prstGeom>
          <a:noFill/>
          <a:ln>
            <a:noFill/>
          </a:ln>
          <a:effectLst/>
        </p:spPr>
        <p:txBody>
          <a:bodyPr wrap="none">
            <a:spAutoFit/>
          </a:bodyPr>
          <a:lstStyle/>
          <a:p>
            <a:r>
              <a:rPr kumimoji="1" lang="en-US" altLang="zh-CN" sz="2000" b="1" dirty="0">
                <a:solidFill>
                  <a:srgbClr val="0000CC"/>
                </a:solidFill>
                <a:latin typeface="+mn-lt"/>
                <a:ea typeface="黑体" pitchFamily="2" charset="-122"/>
              </a:rPr>
              <a:t>BGP </a:t>
            </a:r>
            <a:r>
              <a:rPr kumimoji="1" lang="zh-CN" altLang="en-US" sz="2000" b="1" dirty="0">
                <a:solidFill>
                  <a:srgbClr val="0000CC"/>
                </a:solidFill>
                <a:latin typeface="+mn-lt"/>
                <a:ea typeface="黑体" pitchFamily="2" charset="-122"/>
              </a:rPr>
              <a:t>发言人</a:t>
            </a:r>
          </a:p>
        </p:txBody>
      </p:sp>
      <p:sp>
        <p:nvSpPr>
          <p:cNvPr id="604180" name="Text Box 20"/>
          <p:cNvSpPr txBox="1">
            <a:spLocks noChangeArrowheads="1"/>
          </p:cNvSpPr>
          <p:nvPr/>
        </p:nvSpPr>
        <p:spPr bwMode="auto">
          <a:xfrm>
            <a:off x="6656115" y="4077742"/>
            <a:ext cx="15810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BGP </a:t>
            </a:r>
            <a:r>
              <a:rPr kumimoji="1" lang="zh-CN" altLang="en-US" sz="2000" b="1">
                <a:solidFill>
                  <a:srgbClr val="0000CC"/>
                </a:solidFill>
                <a:latin typeface="+mn-lt"/>
                <a:ea typeface="黑体" pitchFamily="2" charset="-122"/>
              </a:rPr>
              <a:t>发言人</a:t>
            </a:r>
          </a:p>
        </p:txBody>
      </p:sp>
      <p:sp>
        <p:nvSpPr>
          <p:cNvPr id="604181" name="Text Box 21"/>
          <p:cNvSpPr txBox="1">
            <a:spLocks noChangeArrowheads="1"/>
          </p:cNvSpPr>
          <p:nvPr/>
        </p:nvSpPr>
        <p:spPr bwMode="auto">
          <a:xfrm>
            <a:off x="4792909" y="1925092"/>
            <a:ext cx="95410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CC"/>
                </a:solidFill>
                <a:latin typeface="+mn-lt"/>
                <a:ea typeface="黑体" pitchFamily="2" charset="-122"/>
              </a:rPr>
              <a:t>BGP</a:t>
            </a:r>
          </a:p>
          <a:p>
            <a:pPr algn="ctr">
              <a:lnSpc>
                <a:spcPct val="90000"/>
              </a:lnSpc>
            </a:pPr>
            <a:r>
              <a:rPr kumimoji="1" lang="zh-CN" altLang="en-US" sz="2000" b="1">
                <a:solidFill>
                  <a:srgbClr val="0000CC"/>
                </a:solidFill>
                <a:latin typeface="+mn-lt"/>
                <a:ea typeface="黑体" pitchFamily="2" charset="-122"/>
              </a:rPr>
              <a:t>发言人</a:t>
            </a:r>
          </a:p>
        </p:txBody>
      </p:sp>
      <p:sp>
        <p:nvSpPr>
          <p:cNvPr id="604182" name="Line 22"/>
          <p:cNvSpPr>
            <a:spLocks noChangeShapeType="1"/>
          </p:cNvSpPr>
          <p:nvPr/>
        </p:nvSpPr>
        <p:spPr bwMode="auto">
          <a:xfrm>
            <a:off x="5945841" y="2756941"/>
            <a:ext cx="1014677" cy="358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83" name="Line 23"/>
          <p:cNvSpPr>
            <a:spLocks noChangeShapeType="1"/>
          </p:cNvSpPr>
          <p:nvPr/>
        </p:nvSpPr>
        <p:spPr bwMode="auto">
          <a:xfrm>
            <a:off x="4712750" y="3691980"/>
            <a:ext cx="433388" cy="669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84" name="Oval 24"/>
          <p:cNvSpPr>
            <a:spLocks noChangeArrowheads="1"/>
          </p:cNvSpPr>
          <p:nvPr/>
        </p:nvSpPr>
        <p:spPr bwMode="auto">
          <a:xfrm>
            <a:off x="2960282" y="3618954"/>
            <a:ext cx="3726789" cy="2043112"/>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604185" name="Line 25"/>
          <p:cNvSpPr>
            <a:spLocks noChangeShapeType="1"/>
          </p:cNvSpPr>
          <p:nvPr/>
        </p:nvSpPr>
        <p:spPr bwMode="auto">
          <a:xfrm>
            <a:off x="5687871" y="4134891"/>
            <a:ext cx="908050" cy="3810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86" name="Line 26"/>
          <p:cNvSpPr>
            <a:spLocks noChangeShapeType="1"/>
          </p:cNvSpPr>
          <p:nvPr/>
        </p:nvSpPr>
        <p:spPr bwMode="auto">
          <a:xfrm flipH="1">
            <a:off x="5687872" y="4515891"/>
            <a:ext cx="1090348" cy="7635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87" name="Line 27"/>
          <p:cNvSpPr>
            <a:spLocks noChangeShapeType="1"/>
          </p:cNvSpPr>
          <p:nvPr/>
        </p:nvSpPr>
        <p:spPr bwMode="auto">
          <a:xfrm>
            <a:off x="4778102" y="4420641"/>
            <a:ext cx="727471" cy="6667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88" name="Line 28"/>
          <p:cNvSpPr>
            <a:spLocks noChangeShapeType="1"/>
          </p:cNvSpPr>
          <p:nvPr/>
        </p:nvSpPr>
        <p:spPr bwMode="auto">
          <a:xfrm flipV="1">
            <a:off x="4870971" y="4228555"/>
            <a:ext cx="724032" cy="192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89" name="Line 29"/>
          <p:cNvSpPr>
            <a:spLocks noChangeShapeType="1"/>
          </p:cNvSpPr>
          <p:nvPr/>
        </p:nvSpPr>
        <p:spPr bwMode="auto">
          <a:xfrm flipH="1">
            <a:off x="3598326" y="4420642"/>
            <a:ext cx="1179777" cy="149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0" name="Line 30"/>
          <p:cNvSpPr>
            <a:spLocks noChangeShapeType="1"/>
          </p:cNvSpPr>
          <p:nvPr/>
        </p:nvSpPr>
        <p:spPr bwMode="auto">
          <a:xfrm>
            <a:off x="3598325" y="4612730"/>
            <a:ext cx="724032" cy="7635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1" name="Line 31"/>
          <p:cNvSpPr>
            <a:spLocks noChangeShapeType="1"/>
          </p:cNvSpPr>
          <p:nvPr/>
        </p:nvSpPr>
        <p:spPr bwMode="auto">
          <a:xfrm flipV="1">
            <a:off x="4415226" y="5279480"/>
            <a:ext cx="1090348" cy="9683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2" name="Line 32"/>
          <p:cNvSpPr>
            <a:spLocks noChangeShapeType="1"/>
          </p:cNvSpPr>
          <p:nvPr/>
        </p:nvSpPr>
        <p:spPr bwMode="auto">
          <a:xfrm>
            <a:off x="7687990" y="2066380"/>
            <a:ext cx="414469" cy="12096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3" name="Line 33"/>
          <p:cNvSpPr>
            <a:spLocks noChangeShapeType="1"/>
          </p:cNvSpPr>
          <p:nvPr/>
        </p:nvSpPr>
        <p:spPr bwMode="auto">
          <a:xfrm>
            <a:off x="7049947" y="3115716"/>
            <a:ext cx="1000919" cy="192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4" name="Line 34"/>
          <p:cNvSpPr>
            <a:spLocks noChangeShapeType="1"/>
          </p:cNvSpPr>
          <p:nvPr/>
        </p:nvSpPr>
        <p:spPr bwMode="auto">
          <a:xfrm>
            <a:off x="7777419" y="1842541"/>
            <a:ext cx="818621" cy="968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5" name="Line 35"/>
          <p:cNvSpPr>
            <a:spLocks noChangeShapeType="1"/>
          </p:cNvSpPr>
          <p:nvPr/>
        </p:nvSpPr>
        <p:spPr bwMode="auto">
          <a:xfrm>
            <a:off x="3051431" y="2129880"/>
            <a:ext cx="426508" cy="446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6" name="Line 36"/>
          <p:cNvSpPr>
            <a:spLocks noChangeShapeType="1"/>
          </p:cNvSpPr>
          <p:nvPr/>
        </p:nvSpPr>
        <p:spPr bwMode="auto">
          <a:xfrm flipV="1">
            <a:off x="2415109" y="2725192"/>
            <a:ext cx="1062831" cy="3587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7" name="Line 37"/>
          <p:cNvSpPr>
            <a:spLocks noChangeShapeType="1"/>
          </p:cNvSpPr>
          <p:nvPr/>
        </p:nvSpPr>
        <p:spPr bwMode="auto">
          <a:xfrm flipH="1">
            <a:off x="2052232" y="3083966"/>
            <a:ext cx="362877" cy="4778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8" name="Line 38"/>
          <p:cNvSpPr>
            <a:spLocks noChangeShapeType="1"/>
          </p:cNvSpPr>
          <p:nvPr/>
        </p:nvSpPr>
        <p:spPr bwMode="auto">
          <a:xfrm flipV="1">
            <a:off x="1142462" y="3083966"/>
            <a:ext cx="1183217"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199" name="Line 39"/>
          <p:cNvSpPr>
            <a:spLocks noChangeShapeType="1"/>
          </p:cNvSpPr>
          <p:nvPr/>
        </p:nvSpPr>
        <p:spPr bwMode="auto">
          <a:xfrm>
            <a:off x="960164" y="2415629"/>
            <a:ext cx="144463" cy="5953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00" name="Line 40"/>
          <p:cNvSpPr>
            <a:spLocks noChangeShapeType="1"/>
          </p:cNvSpPr>
          <p:nvPr/>
        </p:nvSpPr>
        <p:spPr bwMode="auto">
          <a:xfrm flipV="1">
            <a:off x="960165" y="1842541"/>
            <a:ext cx="1000919" cy="4778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01" name="Line 41"/>
          <p:cNvSpPr>
            <a:spLocks noChangeShapeType="1"/>
          </p:cNvSpPr>
          <p:nvPr/>
        </p:nvSpPr>
        <p:spPr bwMode="auto">
          <a:xfrm>
            <a:off x="1961084" y="1842541"/>
            <a:ext cx="909769" cy="2873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02" name="Line 42"/>
          <p:cNvSpPr>
            <a:spLocks noChangeShapeType="1"/>
          </p:cNvSpPr>
          <p:nvPr/>
        </p:nvSpPr>
        <p:spPr bwMode="auto">
          <a:xfrm flipV="1">
            <a:off x="6778220" y="1874291"/>
            <a:ext cx="816902" cy="1920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03" name="Line 43"/>
          <p:cNvSpPr>
            <a:spLocks noChangeShapeType="1"/>
          </p:cNvSpPr>
          <p:nvPr/>
        </p:nvSpPr>
        <p:spPr bwMode="auto">
          <a:xfrm>
            <a:off x="6778219" y="2161630"/>
            <a:ext cx="364596" cy="8604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604204"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8786" y="3371304"/>
            <a:ext cx="497019"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205"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2965" y="2575966"/>
            <a:ext cx="495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206"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3477" y="2575966"/>
            <a:ext cx="495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207"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43499" y="5279480"/>
            <a:ext cx="37491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208"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0165" y="2990305"/>
            <a:ext cx="37491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604209" name="Group 49"/>
          <p:cNvGrpSpPr>
            <a:grpSpLocks/>
          </p:cNvGrpSpPr>
          <p:nvPr/>
        </p:nvGrpSpPr>
        <p:grpSpPr bwMode="auto">
          <a:xfrm>
            <a:off x="2597406" y="1842541"/>
            <a:ext cx="653521" cy="522288"/>
            <a:chOff x="2949" y="196"/>
            <a:chExt cx="941" cy="598"/>
          </a:xfrm>
        </p:grpSpPr>
        <p:sp>
          <p:nvSpPr>
            <p:cNvPr id="604210" name="Oval 5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11" name="Oval 5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12" name="Oval 5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13" name="Oval 53"/>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14" name="Oval 5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15" name="Oval 5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16" name="Oval 5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17" name="Oval 57"/>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18" name="Freeform 5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19" name="Freeform 5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20" name="Freeform 6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604221" name="Group 61"/>
          <p:cNvGrpSpPr>
            <a:grpSpLocks/>
          </p:cNvGrpSpPr>
          <p:nvPr/>
        </p:nvGrpSpPr>
        <p:grpSpPr bwMode="auto">
          <a:xfrm>
            <a:off x="597288" y="2129879"/>
            <a:ext cx="653521" cy="520700"/>
            <a:chOff x="2949" y="196"/>
            <a:chExt cx="941" cy="598"/>
          </a:xfrm>
        </p:grpSpPr>
        <p:sp>
          <p:nvSpPr>
            <p:cNvPr id="604222" name="Oval 6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23" name="Oval 6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24" name="Oval 6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25" name="Oval 65"/>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26" name="Oval 6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27" name="Oval 6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28" name="Oval 6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29" name="Oval 69"/>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30" name="Freeform 7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31" name="Freeform 7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32" name="Freeform 7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604233" name="Group 73"/>
          <p:cNvGrpSpPr>
            <a:grpSpLocks/>
          </p:cNvGrpSpPr>
          <p:nvPr/>
        </p:nvGrpSpPr>
        <p:grpSpPr bwMode="auto">
          <a:xfrm>
            <a:off x="5232128" y="4992141"/>
            <a:ext cx="655240" cy="522288"/>
            <a:chOff x="2949" y="196"/>
            <a:chExt cx="941" cy="598"/>
          </a:xfrm>
        </p:grpSpPr>
        <p:sp>
          <p:nvSpPr>
            <p:cNvPr id="604234" name="Oval 7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35" name="Oval 7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36" name="Oval 7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37" name="Oval 7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38" name="Oval 7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39" name="Oval 7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40" name="Oval 8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41" name="Oval 8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42" name="Freeform 8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43" name="Freeform 8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44" name="Freeform 8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604245" name="Group 85"/>
          <p:cNvGrpSpPr>
            <a:grpSpLocks/>
          </p:cNvGrpSpPr>
          <p:nvPr/>
        </p:nvGrpSpPr>
        <p:grpSpPr bwMode="auto">
          <a:xfrm>
            <a:off x="7323394" y="1653630"/>
            <a:ext cx="653521" cy="522287"/>
            <a:chOff x="2949" y="196"/>
            <a:chExt cx="941" cy="598"/>
          </a:xfrm>
        </p:grpSpPr>
        <p:sp>
          <p:nvSpPr>
            <p:cNvPr id="604246" name="Oval 8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47" name="Oval 8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48" name="Oval 8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49" name="Oval 89"/>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50" name="Oval 9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51" name="Oval 9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52" name="Oval 9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53" name="Oval 93"/>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54" name="Freeform 9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55" name="Freeform 9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56" name="Freeform 9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604257" name="Group 97"/>
          <p:cNvGrpSpPr>
            <a:grpSpLocks/>
          </p:cNvGrpSpPr>
          <p:nvPr/>
        </p:nvGrpSpPr>
        <p:grpSpPr bwMode="auto">
          <a:xfrm>
            <a:off x="6778219" y="2798216"/>
            <a:ext cx="653521" cy="522288"/>
            <a:chOff x="2949" y="196"/>
            <a:chExt cx="941" cy="598"/>
          </a:xfrm>
        </p:grpSpPr>
        <p:sp>
          <p:nvSpPr>
            <p:cNvPr id="604258" name="Oval 9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59" name="Oval 9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60" name="Oval 10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61" name="Oval 101"/>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62" name="Oval 10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63" name="Oval 10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64" name="Oval 10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65" name="Oval 105"/>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66" name="Freeform 10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67" name="Freeform 10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68" name="Freeform 10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604269" name="Text Box 109"/>
          <p:cNvSpPr txBox="1">
            <a:spLocks noChangeArrowheads="1"/>
          </p:cNvSpPr>
          <p:nvPr/>
        </p:nvSpPr>
        <p:spPr bwMode="auto">
          <a:xfrm>
            <a:off x="1415909" y="211083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AS</a:t>
            </a:r>
            <a:r>
              <a:rPr kumimoji="1" lang="en-US" altLang="zh-CN" sz="2000" b="1" baseline="-25000">
                <a:solidFill>
                  <a:srgbClr val="0000CC"/>
                </a:solidFill>
                <a:latin typeface="+mn-lt"/>
                <a:ea typeface="黑体" pitchFamily="2" charset="-122"/>
              </a:rPr>
              <a:t>1</a:t>
            </a:r>
          </a:p>
        </p:txBody>
      </p:sp>
      <p:sp>
        <p:nvSpPr>
          <p:cNvPr id="604270" name="Text Box 110"/>
          <p:cNvSpPr txBox="1">
            <a:spLocks noChangeArrowheads="1"/>
          </p:cNvSpPr>
          <p:nvPr/>
        </p:nvSpPr>
        <p:spPr bwMode="auto">
          <a:xfrm>
            <a:off x="4040311" y="3923755"/>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AS</a:t>
            </a:r>
            <a:r>
              <a:rPr kumimoji="1" lang="en-US" altLang="zh-CN" sz="2000" b="1" baseline="-25000">
                <a:solidFill>
                  <a:srgbClr val="0000CC"/>
                </a:solidFill>
                <a:latin typeface="+mn-lt"/>
                <a:ea typeface="黑体" pitchFamily="2" charset="-122"/>
              </a:rPr>
              <a:t>3</a:t>
            </a:r>
          </a:p>
        </p:txBody>
      </p:sp>
      <p:sp>
        <p:nvSpPr>
          <p:cNvPr id="604271" name="Text Box 111"/>
          <p:cNvSpPr txBox="1">
            <a:spLocks noChangeArrowheads="1"/>
          </p:cNvSpPr>
          <p:nvPr/>
        </p:nvSpPr>
        <p:spPr bwMode="auto">
          <a:xfrm>
            <a:off x="7959717" y="2175917"/>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AS</a:t>
            </a:r>
            <a:r>
              <a:rPr kumimoji="1" lang="en-US" altLang="zh-CN" sz="2000" b="1" baseline="-25000">
                <a:solidFill>
                  <a:srgbClr val="0000CC"/>
                </a:solidFill>
                <a:latin typeface="+mn-lt"/>
                <a:ea typeface="黑体" pitchFamily="2" charset="-122"/>
              </a:rPr>
              <a:t>2</a:t>
            </a:r>
          </a:p>
        </p:txBody>
      </p:sp>
      <p:sp>
        <p:nvSpPr>
          <p:cNvPr id="604272" name="Text Box 112"/>
          <p:cNvSpPr txBox="1">
            <a:spLocks noChangeArrowheads="1"/>
          </p:cNvSpPr>
          <p:nvPr/>
        </p:nvSpPr>
        <p:spPr bwMode="auto">
          <a:xfrm>
            <a:off x="7782578" y="4869905"/>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AS</a:t>
            </a:r>
            <a:r>
              <a:rPr kumimoji="1" lang="en-US" altLang="zh-CN" sz="2000" b="1" baseline="-25000">
                <a:solidFill>
                  <a:srgbClr val="0000CC"/>
                </a:solidFill>
                <a:latin typeface="+mn-lt"/>
                <a:ea typeface="黑体" pitchFamily="2" charset="-122"/>
              </a:rPr>
              <a:t>5</a:t>
            </a:r>
          </a:p>
        </p:txBody>
      </p:sp>
      <p:sp>
        <p:nvSpPr>
          <p:cNvPr id="604273" name="Text Box 113"/>
          <p:cNvSpPr txBox="1">
            <a:spLocks noChangeArrowheads="1"/>
          </p:cNvSpPr>
          <p:nvPr/>
        </p:nvSpPr>
        <p:spPr bwMode="auto">
          <a:xfrm>
            <a:off x="760669" y="4258716"/>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CC"/>
                </a:solidFill>
                <a:latin typeface="+mn-lt"/>
                <a:ea typeface="黑体" pitchFamily="2" charset="-122"/>
              </a:rPr>
              <a:t>AS</a:t>
            </a:r>
            <a:r>
              <a:rPr kumimoji="1" lang="en-US" altLang="zh-CN" sz="2000" b="1" baseline="-25000">
                <a:solidFill>
                  <a:srgbClr val="0000CC"/>
                </a:solidFill>
                <a:latin typeface="+mn-lt"/>
                <a:ea typeface="黑体" pitchFamily="2" charset="-122"/>
              </a:rPr>
              <a:t>4</a:t>
            </a:r>
          </a:p>
        </p:txBody>
      </p:sp>
      <p:pic>
        <p:nvPicPr>
          <p:cNvPr id="604274" name="Picture 1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15344" y="4420642"/>
            <a:ext cx="497019" cy="34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04275" name="Line 115"/>
          <p:cNvSpPr>
            <a:spLocks noChangeShapeType="1"/>
          </p:cNvSpPr>
          <p:nvPr/>
        </p:nvSpPr>
        <p:spPr bwMode="auto">
          <a:xfrm>
            <a:off x="4712750" y="3691980"/>
            <a:ext cx="885692" cy="3460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604276" name="Group 116"/>
          <p:cNvGrpSpPr>
            <a:grpSpLocks/>
          </p:cNvGrpSpPr>
          <p:nvPr/>
        </p:nvGrpSpPr>
        <p:grpSpPr bwMode="auto">
          <a:xfrm>
            <a:off x="5323275" y="3847554"/>
            <a:ext cx="653521" cy="520700"/>
            <a:chOff x="2949" y="196"/>
            <a:chExt cx="941" cy="598"/>
          </a:xfrm>
        </p:grpSpPr>
        <p:sp>
          <p:nvSpPr>
            <p:cNvPr id="604277" name="Oval 11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78" name="Oval 11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79" name="Oval 11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80" name="Oval 120"/>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81" name="Oval 12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82" name="Oval 12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83" name="Oval 12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84" name="Oval 124"/>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85" name="Freeform 1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86" name="Freeform 1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287" name="Freeform 1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pic>
        <p:nvPicPr>
          <p:cNvPr id="604288" name="Picture 1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2105" y="3469729"/>
            <a:ext cx="497020"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289" name="Picture 1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7524" y="4325391"/>
            <a:ext cx="37491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604290" name="Group 130"/>
          <p:cNvGrpSpPr>
            <a:grpSpLocks/>
          </p:cNvGrpSpPr>
          <p:nvPr/>
        </p:nvGrpSpPr>
        <p:grpSpPr bwMode="auto">
          <a:xfrm>
            <a:off x="3142580" y="4325391"/>
            <a:ext cx="653521" cy="522288"/>
            <a:chOff x="2949" y="196"/>
            <a:chExt cx="941" cy="598"/>
          </a:xfrm>
        </p:grpSpPr>
        <p:sp>
          <p:nvSpPr>
            <p:cNvPr id="604291" name="Oval 13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92" name="Oval 13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93" name="Oval 13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94" name="Oval 134"/>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95" name="Oval 13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96" name="Oval 13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97" name="Oval 13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98" name="Oval 138"/>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299" name="Freeform 13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00" name="Freeform 14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01" name="Freeform 14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604302" name="Line 142"/>
          <p:cNvSpPr>
            <a:spLocks noChangeShapeType="1"/>
          </p:cNvSpPr>
          <p:nvPr/>
        </p:nvSpPr>
        <p:spPr bwMode="auto">
          <a:xfrm>
            <a:off x="1961084" y="1842542"/>
            <a:ext cx="545173" cy="11477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604303" name="Picture 1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8786" y="1748880"/>
            <a:ext cx="37491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604304" name="Group 144"/>
          <p:cNvGrpSpPr>
            <a:grpSpLocks/>
          </p:cNvGrpSpPr>
          <p:nvPr/>
        </p:nvGrpSpPr>
        <p:grpSpPr bwMode="auto">
          <a:xfrm>
            <a:off x="2143381" y="2798217"/>
            <a:ext cx="653521" cy="519113"/>
            <a:chOff x="2949" y="196"/>
            <a:chExt cx="941" cy="598"/>
          </a:xfrm>
        </p:grpSpPr>
        <p:sp>
          <p:nvSpPr>
            <p:cNvPr id="604305" name="Oval 14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06" name="Oval 14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07" name="Oval 14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08" name="Oval 148"/>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09" name="Oval 14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10" name="Oval 15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11" name="Oval 15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12" name="Oval 152"/>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13" name="Freeform 1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14" name="Freeform 1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15" name="Freeform 1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604316" name="Line 156"/>
          <p:cNvSpPr>
            <a:spLocks noChangeShapeType="1"/>
          </p:cNvSpPr>
          <p:nvPr/>
        </p:nvSpPr>
        <p:spPr bwMode="auto">
          <a:xfrm>
            <a:off x="8687189" y="2034629"/>
            <a:ext cx="636323" cy="5715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17" name="Line 157"/>
          <p:cNvSpPr>
            <a:spLocks noChangeShapeType="1"/>
          </p:cNvSpPr>
          <p:nvPr/>
        </p:nvSpPr>
        <p:spPr bwMode="auto">
          <a:xfrm flipH="1">
            <a:off x="8138576" y="2637879"/>
            <a:ext cx="1090348" cy="6699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18" name="Line 158"/>
          <p:cNvSpPr>
            <a:spLocks noChangeShapeType="1"/>
          </p:cNvSpPr>
          <p:nvPr/>
        </p:nvSpPr>
        <p:spPr bwMode="auto">
          <a:xfrm flipV="1">
            <a:off x="6322476" y="2066380"/>
            <a:ext cx="455744" cy="192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pic>
        <p:nvPicPr>
          <p:cNvPr id="604319" name="Picture 1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8249" y="3179217"/>
            <a:ext cx="37491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04320" name="Picture 16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15461" y="1842542"/>
            <a:ext cx="37663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604321" name="Group 161"/>
          <p:cNvGrpSpPr>
            <a:grpSpLocks/>
          </p:cNvGrpSpPr>
          <p:nvPr/>
        </p:nvGrpSpPr>
        <p:grpSpPr bwMode="auto">
          <a:xfrm>
            <a:off x="8960635" y="2320379"/>
            <a:ext cx="651801" cy="520700"/>
            <a:chOff x="2949" y="196"/>
            <a:chExt cx="941" cy="598"/>
          </a:xfrm>
        </p:grpSpPr>
        <p:sp>
          <p:nvSpPr>
            <p:cNvPr id="604322" name="Oval 16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23" name="Oval 16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24" name="Oval 16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25" name="Oval 165"/>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26" name="Oval 16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27" name="Oval 16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28" name="Oval 16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29" name="Oval 169"/>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30" name="Freeform 17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31" name="Freeform 17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32" name="Freeform 17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604333" name="Group 173"/>
          <p:cNvGrpSpPr>
            <a:grpSpLocks/>
          </p:cNvGrpSpPr>
          <p:nvPr/>
        </p:nvGrpSpPr>
        <p:grpSpPr bwMode="auto">
          <a:xfrm>
            <a:off x="5870169" y="1939380"/>
            <a:ext cx="653521" cy="522287"/>
            <a:chOff x="2949" y="196"/>
            <a:chExt cx="941" cy="598"/>
          </a:xfrm>
        </p:grpSpPr>
        <p:sp>
          <p:nvSpPr>
            <p:cNvPr id="604334" name="Oval 17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35" name="Oval 17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36" name="Oval 17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37" name="Oval 177"/>
            <p:cNvSpPr>
              <a:spLocks noChangeArrowheads="1"/>
            </p:cNvSpPr>
            <p:nvPr/>
          </p:nvSpPr>
          <p:spPr bwMode="auto">
            <a:xfrm rot="20040000">
              <a:off x="3573" y="537"/>
              <a:ext cx="291" cy="18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38" name="Oval 17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39" name="Oval 17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40" name="Oval 18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41" name="Oval 181"/>
            <p:cNvSpPr>
              <a:spLocks noChangeArrowheads="1"/>
            </p:cNvSpPr>
            <p:nvPr/>
          </p:nvSpPr>
          <p:spPr bwMode="auto">
            <a:xfrm rot="19740000">
              <a:off x="2984" y="310"/>
              <a:ext cx="295" cy="156"/>
            </a:xfrm>
            <a:prstGeom prst="ellipse">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04342" name="Freeform 182"/>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43" name="Freeform 183"/>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4344" name="Freeform 184"/>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pic>
        <p:nvPicPr>
          <p:cNvPr id="604345" name="Picture 18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95922" y="1939380"/>
            <a:ext cx="37491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Tree>
    <p:extLst>
      <p:ext uri="{BB962C8B-B14F-4D97-AF65-F5344CB8AC3E}">
        <p14:creationId xmlns:p14="http://schemas.microsoft.com/office/powerpoint/2010/main" val="25920142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p:txBody>
          <a:bodyPr/>
          <a:lstStyle/>
          <a:p>
            <a:pPr algn="ctr"/>
            <a:r>
              <a:rPr lang="en-US" altLang="zh-CN" dirty="0"/>
              <a:t>AS </a:t>
            </a:r>
            <a:r>
              <a:rPr lang="zh-CN" altLang="en-US" dirty="0"/>
              <a:t>的连通图举例 </a:t>
            </a:r>
          </a:p>
        </p:txBody>
      </p:sp>
      <p:sp>
        <p:nvSpPr>
          <p:cNvPr id="605187" name="Rectangle 3"/>
          <p:cNvSpPr>
            <a:spLocks noGrp="1" noChangeArrowheads="1"/>
          </p:cNvSpPr>
          <p:nvPr>
            <p:ph idx="1"/>
          </p:nvPr>
        </p:nvSpPr>
        <p:spPr/>
        <p:txBody>
          <a:bodyPr/>
          <a:lstStyle/>
          <a:p>
            <a:r>
              <a:rPr lang="en-US" altLang="zh-CN" sz="2800" dirty="0"/>
              <a:t>BGP </a:t>
            </a:r>
            <a:r>
              <a:rPr lang="zh-CN" altLang="en-US" sz="2800" dirty="0"/>
              <a:t>所交换的网络可达性的信息就是</a:t>
            </a:r>
            <a:r>
              <a:rPr lang="zh-CN" altLang="en-US" sz="2800" dirty="0">
                <a:solidFill>
                  <a:srgbClr val="FF0000"/>
                </a:solidFill>
              </a:rPr>
              <a:t>要到达某个网络所要经过的一系列 </a:t>
            </a:r>
            <a:r>
              <a:rPr lang="en-US" altLang="zh-CN" sz="2800" dirty="0">
                <a:solidFill>
                  <a:srgbClr val="FF0000"/>
                </a:solidFill>
              </a:rPr>
              <a:t>AS</a:t>
            </a:r>
            <a:r>
              <a:rPr lang="zh-CN" altLang="en-US" sz="2800" dirty="0">
                <a:solidFill>
                  <a:srgbClr val="FF0000"/>
                </a:solidFill>
              </a:rPr>
              <a:t>。</a:t>
            </a:r>
          </a:p>
          <a:p>
            <a:r>
              <a:rPr lang="zh-CN" altLang="en-US" sz="2800" dirty="0"/>
              <a:t>当 </a:t>
            </a:r>
            <a:r>
              <a:rPr lang="en-US" altLang="zh-CN" sz="2800" dirty="0"/>
              <a:t>BGP </a:t>
            </a:r>
            <a:r>
              <a:rPr lang="zh-CN" altLang="en-US" sz="2800" dirty="0"/>
              <a:t>发言人互相交换了网络可达性的信息后，各 </a:t>
            </a:r>
            <a:r>
              <a:rPr lang="en-US" altLang="zh-CN" sz="2800" dirty="0"/>
              <a:t>BGP </a:t>
            </a:r>
            <a:r>
              <a:rPr lang="zh-CN" altLang="en-US" sz="2800" dirty="0"/>
              <a:t>发言人就根据所采用的策略从收到的路由信息中找出到达各 </a:t>
            </a:r>
            <a:r>
              <a:rPr lang="en-US" altLang="zh-CN" sz="2800" dirty="0"/>
              <a:t>AS </a:t>
            </a:r>
            <a:r>
              <a:rPr lang="zh-CN" altLang="en-US" sz="2800" dirty="0"/>
              <a:t>的较好路由。 </a:t>
            </a:r>
          </a:p>
        </p:txBody>
      </p:sp>
      <p:grpSp>
        <p:nvGrpSpPr>
          <p:cNvPr id="605217" name="Group 33"/>
          <p:cNvGrpSpPr>
            <a:grpSpLocks/>
          </p:cNvGrpSpPr>
          <p:nvPr/>
        </p:nvGrpSpPr>
        <p:grpSpPr bwMode="auto">
          <a:xfrm>
            <a:off x="2455863" y="3645024"/>
            <a:ext cx="5382948" cy="2117725"/>
            <a:chOff x="1791" y="2822"/>
            <a:chExt cx="2495" cy="1062"/>
          </a:xfrm>
          <a:solidFill>
            <a:srgbClr val="FF66FF"/>
          </a:solidFill>
        </p:grpSpPr>
        <p:sp>
          <p:nvSpPr>
            <p:cNvPr id="605203" name="Line 19"/>
            <p:cNvSpPr>
              <a:spLocks noChangeShapeType="1"/>
            </p:cNvSpPr>
            <p:nvPr/>
          </p:nvSpPr>
          <p:spPr bwMode="auto">
            <a:xfrm>
              <a:off x="2154" y="3566"/>
              <a:ext cx="363" cy="227"/>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04" name="Line 20"/>
            <p:cNvSpPr>
              <a:spLocks noChangeShapeType="1"/>
            </p:cNvSpPr>
            <p:nvPr/>
          </p:nvSpPr>
          <p:spPr bwMode="auto">
            <a:xfrm flipH="1">
              <a:off x="1791" y="3612"/>
              <a:ext cx="273" cy="227"/>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05" name="Line 21"/>
            <p:cNvSpPr>
              <a:spLocks noChangeShapeType="1"/>
            </p:cNvSpPr>
            <p:nvPr/>
          </p:nvSpPr>
          <p:spPr bwMode="auto">
            <a:xfrm flipH="1">
              <a:off x="3469" y="3657"/>
              <a:ext cx="273" cy="227"/>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06" name="Line 22"/>
            <p:cNvSpPr>
              <a:spLocks noChangeShapeType="1"/>
            </p:cNvSpPr>
            <p:nvPr/>
          </p:nvSpPr>
          <p:spPr bwMode="auto">
            <a:xfrm flipV="1">
              <a:off x="2410" y="2977"/>
              <a:ext cx="1059" cy="36"/>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07" name="Line 23"/>
            <p:cNvSpPr>
              <a:spLocks noChangeShapeType="1"/>
            </p:cNvSpPr>
            <p:nvPr/>
          </p:nvSpPr>
          <p:spPr bwMode="auto">
            <a:xfrm>
              <a:off x="3560" y="2977"/>
              <a:ext cx="544" cy="181"/>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08" name="Line 24"/>
            <p:cNvSpPr>
              <a:spLocks noChangeShapeType="1"/>
            </p:cNvSpPr>
            <p:nvPr/>
          </p:nvSpPr>
          <p:spPr bwMode="auto">
            <a:xfrm>
              <a:off x="2387" y="3044"/>
              <a:ext cx="538" cy="295"/>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09" name="Line 25"/>
            <p:cNvSpPr>
              <a:spLocks noChangeShapeType="1"/>
            </p:cNvSpPr>
            <p:nvPr/>
          </p:nvSpPr>
          <p:spPr bwMode="auto">
            <a:xfrm>
              <a:off x="3016" y="3385"/>
              <a:ext cx="726" cy="227"/>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10" name="Line 26"/>
            <p:cNvSpPr>
              <a:spLocks noChangeShapeType="1"/>
            </p:cNvSpPr>
            <p:nvPr/>
          </p:nvSpPr>
          <p:spPr bwMode="auto">
            <a:xfrm>
              <a:off x="3878" y="3612"/>
              <a:ext cx="408" cy="46"/>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11" name="Line 27"/>
            <p:cNvSpPr>
              <a:spLocks noChangeShapeType="1"/>
            </p:cNvSpPr>
            <p:nvPr/>
          </p:nvSpPr>
          <p:spPr bwMode="auto">
            <a:xfrm flipV="1">
              <a:off x="2109" y="3067"/>
              <a:ext cx="226" cy="454"/>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05212" name="Oval 28"/>
            <p:cNvSpPr>
              <a:spLocks noChangeArrowheads="1"/>
            </p:cNvSpPr>
            <p:nvPr/>
          </p:nvSpPr>
          <p:spPr bwMode="auto">
            <a:xfrm>
              <a:off x="2199" y="2841"/>
              <a:ext cx="336" cy="336"/>
            </a:xfrm>
            <a:prstGeom prst="ellipse">
              <a:avLst/>
            </a:prstGeom>
            <a:grpFill/>
            <a:ln w="19050">
              <a:solidFill>
                <a:schemeClr val="tx1"/>
              </a:solidFill>
              <a:round/>
              <a:headEnd/>
              <a:tailEnd/>
            </a:ln>
            <a:effectLst>
              <a:outerShdw dist="35921" dir="2700000" algn="ctr" rotWithShape="0">
                <a:schemeClr val="bg2"/>
              </a:outerShdw>
            </a:effectLst>
          </p:spPr>
          <p:txBody>
            <a:bodyPr wrap="none" anchor="ctr"/>
            <a:lstStyle/>
            <a:p>
              <a:pPr algn="ctr"/>
              <a:r>
                <a:rPr kumimoji="1" lang="en-US" altLang="zh-CN" sz="2400" b="1">
                  <a:solidFill>
                    <a:srgbClr val="0000CC"/>
                  </a:solidFill>
                  <a:latin typeface="+mn-lt"/>
                  <a:ea typeface="黑体" pitchFamily="2" charset="-122"/>
                </a:rPr>
                <a:t>AS</a:t>
              </a:r>
              <a:r>
                <a:rPr kumimoji="1" lang="en-US" altLang="zh-CN" sz="2400" b="1" baseline="-25000">
                  <a:solidFill>
                    <a:srgbClr val="0000CC"/>
                  </a:solidFill>
                  <a:latin typeface="+mn-lt"/>
                  <a:ea typeface="黑体" pitchFamily="2" charset="-122"/>
                </a:rPr>
                <a:t>1</a:t>
              </a:r>
            </a:p>
          </p:txBody>
        </p:sp>
        <p:sp>
          <p:nvSpPr>
            <p:cNvPr id="605213" name="Oval 29"/>
            <p:cNvSpPr>
              <a:spLocks noChangeArrowheads="1"/>
            </p:cNvSpPr>
            <p:nvPr/>
          </p:nvSpPr>
          <p:spPr bwMode="auto">
            <a:xfrm>
              <a:off x="3360" y="2822"/>
              <a:ext cx="336" cy="336"/>
            </a:xfrm>
            <a:prstGeom prst="ellipse">
              <a:avLst/>
            </a:prstGeom>
            <a:grpFill/>
            <a:ln w="19050">
              <a:solidFill>
                <a:schemeClr val="tx1"/>
              </a:solidFill>
              <a:round/>
              <a:headEnd/>
              <a:tailEnd/>
            </a:ln>
            <a:effectLst>
              <a:outerShdw dist="35921" dir="2700000" algn="ctr" rotWithShape="0">
                <a:schemeClr val="bg2"/>
              </a:outerShdw>
            </a:effectLst>
          </p:spPr>
          <p:txBody>
            <a:bodyPr wrap="none" anchor="ctr"/>
            <a:lstStyle/>
            <a:p>
              <a:pPr algn="ctr"/>
              <a:r>
                <a:rPr kumimoji="1" lang="en-US" altLang="zh-CN" sz="2400" b="1">
                  <a:solidFill>
                    <a:srgbClr val="0000CC"/>
                  </a:solidFill>
                  <a:latin typeface="+mn-lt"/>
                  <a:ea typeface="黑体" pitchFamily="2" charset="-122"/>
                </a:rPr>
                <a:t>AS</a:t>
              </a:r>
              <a:r>
                <a:rPr kumimoji="1" lang="en-US" altLang="zh-CN" sz="2400" b="1" baseline="-25000">
                  <a:solidFill>
                    <a:srgbClr val="0000CC"/>
                  </a:solidFill>
                  <a:latin typeface="+mn-lt"/>
                  <a:ea typeface="黑体" pitchFamily="2" charset="-122"/>
                </a:rPr>
                <a:t>2</a:t>
              </a:r>
            </a:p>
          </p:txBody>
        </p:sp>
        <p:sp>
          <p:nvSpPr>
            <p:cNvPr id="605214" name="Oval 30"/>
            <p:cNvSpPr>
              <a:spLocks noChangeArrowheads="1"/>
            </p:cNvSpPr>
            <p:nvPr/>
          </p:nvSpPr>
          <p:spPr bwMode="auto">
            <a:xfrm>
              <a:off x="2819" y="3203"/>
              <a:ext cx="336" cy="336"/>
            </a:xfrm>
            <a:prstGeom prst="ellipse">
              <a:avLst/>
            </a:prstGeom>
            <a:grpFill/>
            <a:ln w="19050">
              <a:solidFill>
                <a:schemeClr val="tx1"/>
              </a:solidFill>
              <a:round/>
              <a:headEnd/>
              <a:tailEnd/>
            </a:ln>
            <a:effectLst>
              <a:outerShdw dist="35921" dir="2700000" algn="ctr" rotWithShape="0">
                <a:schemeClr val="bg2"/>
              </a:outerShdw>
            </a:effectLst>
          </p:spPr>
          <p:txBody>
            <a:bodyPr wrap="none" anchor="ctr"/>
            <a:lstStyle/>
            <a:p>
              <a:pPr algn="ctr"/>
              <a:r>
                <a:rPr kumimoji="1" lang="en-US" altLang="zh-CN" sz="2400" b="1">
                  <a:solidFill>
                    <a:srgbClr val="0000CC"/>
                  </a:solidFill>
                  <a:latin typeface="+mn-lt"/>
                  <a:ea typeface="黑体" pitchFamily="2" charset="-122"/>
                </a:rPr>
                <a:t>AS</a:t>
              </a:r>
              <a:r>
                <a:rPr kumimoji="1" lang="en-US" altLang="zh-CN" sz="2400" b="1" baseline="-25000">
                  <a:solidFill>
                    <a:srgbClr val="0000CC"/>
                  </a:solidFill>
                  <a:latin typeface="+mn-lt"/>
                  <a:ea typeface="黑体" pitchFamily="2" charset="-122"/>
                </a:rPr>
                <a:t>3</a:t>
              </a:r>
            </a:p>
          </p:txBody>
        </p:sp>
        <p:sp>
          <p:nvSpPr>
            <p:cNvPr id="605215" name="Oval 31"/>
            <p:cNvSpPr>
              <a:spLocks noChangeArrowheads="1"/>
            </p:cNvSpPr>
            <p:nvPr/>
          </p:nvSpPr>
          <p:spPr bwMode="auto">
            <a:xfrm>
              <a:off x="1927" y="3385"/>
              <a:ext cx="336" cy="336"/>
            </a:xfrm>
            <a:prstGeom prst="ellipse">
              <a:avLst/>
            </a:prstGeom>
            <a:grpFill/>
            <a:ln w="19050">
              <a:solidFill>
                <a:schemeClr val="tx1"/>
              </a:solidFill>
              <a:round/>
              <a:headEnd/>
              <a:tailEnd/>
            </a:ln>
            <a:effectLst>
              <a:outerShdw dist="35921" dir="2700000" algn="ctr" rotWithShape="0">
                <a:schemeClr val="bg2"/>
              </a:outerShdw>
            </a:effectLst>
          </p:spPr>
          <p:txBody>
            <a:bodyPr wrap="none" anchor="ctr"/>
            <a:lstStyle/>
            <a:p>
              <a:pPr algn="ctr"/>
              <a:r>
                <a:rPr kumimoji="1" lang="en-US" altLang="zh-CN" sz="2400" b="1">
                  <a:solidFill>
                    <a:srgbClr val="0000CC"/>
                  </a:solidFill>
                  <a:latin typeface="+mn-lt"/>
                  <a:ea typeface="黑体" pitchFamily="2" charset="-122"/>
                </a:rPr>
                <a:t>AS</a:t>
              </a:r>
              <a:r>
                <a:rPr kumimoji="1" lang="en-US" altLang="zh-CN" sz="2400" b="1" baseline="-25000">
                  <a:solidFill>
                    <a:srgbClr val="0000CC"/>
                  </a:solidFill>
                  <a:latin typeface="+mn-lt"/>
                  <a:ea typeface="黑体" pitchFamily="2" charset="-122"/>
                </a:rPr>
                <a:t>4</a:t>
              </a:r>
            </a:p>
          </p:txBody>
        </p:sp>
        <p:sp>
          <p:nvSpPr>
            <p:cNvPr id="605216" name="Oval 32"/>
            <p:cNvSpPr>
              <a:spLocks noChangeArrowheads="1"/>
            </p:cNvSpPr>
            <p:nvPr/>
          </p:nvSpPr>
          <p:spPr bwMode="auto">
            <a:xfrm>
              <a:off x="3632" y="3430"/>
              <a:ext cx="336" cy="336"/>
            </a:xfrm>
            <a:prstGeom prst="ellipse">
              <a:avLst/>
            </a:prstGeom>
            <a:grpFill/>
            <a:ln w="19050">
              <a:solidFill>
                <a:schemeClr val="tx1"/>
              </a:solidFill>
              <a:round/>
              <a:headEnd/>
              <a:tailEnd/>
            </a:ln>
            <a:effectLst>
              <a:outerShdw dist="35921" dir="2700000" algn="ctr" rotWithShape="0">
                <a:schemeClr val="bg2"/>
              </a:outerShdw>
            </a:effectLst>
          </p:spPr>
          <p:txBody>
            <a:bodyPr wrap="none" anchor="ctr"/>
            <a:lstStyle/>
            <a:p>
              <a:pPr algn="ctr"/>
              <a:r>
                <a:rPr kumimoji="1" lang="en-US" altLang="zh-CN" sz="2400" b="1">
                  <a:solidFill>
                    <a:srgbClr val="0000CC"/>
                  </a:solidFill>
                  <a:latin typeface="+mn-lt"/>
                  <a:ea typeface="黑体" pitchFamily="2" charset="-122"/>
                </a:rPr>
                <a:t>AS</a:t>
              </a:r>
              <a:r>
                <a:rPr kumimoji="1" lang="en-US" altLang="zh-CN" sz="2400" b="1" baseline="-25000">
                  <a:solidFill>
                    <a:srgbClr val="0000CC"/>
                  </a:solidFill>
                  <a:latin typeface="+mn-lt"/>
                  <a:ea typeface="黑体" pitchFamily="2" charset="-122"/>
                </a:rPr>
                <a:t>5</a:t>
              </a:r>
            </a:p>
          </p:txBody>
        </p:sp>
      </p:grpSp>
    </p:spTree>
    <p:extLst>
      <p:ext uri="{BB962C8B-B14F-4D97-AF65-F5344CB8AC3E}">
        <p14:creationId xmlns:p14="http://schemas.microsoft.com/office/powerpoint/2010/main" val="30810060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p:txBody>
          <a:bodyPr/>
          <a:lstStyle/>
          <a:p>
            <a:pPr algn="ctr"/>
            <a:r>
              <a:rPr lang="en-US" altLang="zh-CN"/>
              <a:t>BGP </a:t>
            </a:r>
            <a:r>
              <a:rPr lang="zh-CN" altLang="en-US"/>
              <a:t>协议的特点</a:t>
            </a:r>
          </a:p>
        </p:txBody>
      </p:sp>
      <p:sp>
        <p:nvSpPr>
          <p:cNvPr id="608259" name="Rectangle 3"/>
          <p:cNvSpPr>
            <a:spLocks noGrp="1" noChangeArrowheads="1"/>
          </p:cNvSpPr>
          <p:nvPr>
            <p:ph idx="1"/>
          </p:nvPr>
        </p:nvSpPr>
        <p:spPr/>
        <p:txBody>
          <a:bodyPr/>
          <a:lstStyle/>
          <a:p>
            <a:pPr>
              <a:spcBef>
                <a:spcPts val="1200"/>
              </a:spcBef>
            </a:pPr>
            <a:r>
              <a:rPr lang="en-US" altLang="zh-CN" dirty="0"/>
              <a:t>BGP </a:t>
            </a:r>
            <a:r>
              <a:rPr lang="zh-CN" altLang="en-US" dirty="0"/>
              <a:t>协议交换路由信息的结点数量级是</a:t>
            </a:r>
            <a:r>
              <a:rPr lang="zh-CN" altLang="en-US" dirty="0">
                <a:solidFill>
                  <a:srgbClr val="FF0000"/>
                </a:solidFill>
              </a:rPr>
              <a:t>自治系统数的量级，</a:t>
            </a:r>
            <a:r>
              <a:rPr lang="zh-CN" altLang="en-US" dirty="0"/>
              <a:t>这要比这些自治系统中的网络数少很多。</a:t>
            </a:r>
          </a:p>
          <a:p>
            <a:pPr>
              <a:spcBef>
                <a:spcPts val="1200"/>
              </a:spcBef>
            </a:pPr>
            <a:r>
              <a:rPr lang="zh-CN" altLang="en-US" dirty="0"/>
              <a:t>每一个自治系统中 </a:t>
            </a:r>
            <a:r>
              <a:rPr lang="en-US" altLang="zh-CN" dirty="0"/>
              <a:t>BGP </a:t>
            </a:r>
            <a:r>
              <a:rPr lang="zh-CN" altLang="en-US" dirty="0"/>
              <a:t>发言人（或边界路由器）的数目是很少的。这样就使得自治系统之间的路由选择不致过分复杂。  </a:t>
            </a:r>
          </a:p>
        </p:txBody>
      </p:sp>
    </p:spTree>
    <p:extLst>
      <p:ext uri="{BB962C8B-B14F-4D97-AF65-F5344CB8AC3E}">
        <p14:creationId xmlns:p14="http://schemas.microsoft.com/office/powerpoint/2010/main" val="4137711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82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pPr algn="ctr"/>
            <a:r>
              <a:rPr lang="en-US" altLang="zh-CN"/>
              <a:t>BGP </a:t>
            </a:r>
            <a:r>
              <a:rPr lang="zh-CN" altLang="en-US"/>
              <a:t>协议的特点</a:t>
            </a:r>
          </a:p>
        </p:txBody>
      </p:sp>
      <p:sp>
        <p:nvSpPr>
          <p:cNvPr id="609283" name="Rectangle 3"/>
          <p:cNvSpPr>
            <a:spLocks noGrp="1" noChangeArrowheads="1"/>
          </p:cNvSpPr>
          <p:nvPr>
            <p:ph idx="1"/>
          </p:nvPr>
        </p:nvSpPr>
        <p:spPr/>
        <p:txBody>
          <a:bodyPr/>
          <a:lstStyle/>
          <a:p>
            <a:pPr>
              <a:spcBef>
                <a:spcPts val="1200"/>
              </a:spcBef>
            </a:pPr>
            <a:r>
              <a:rPr lang="en-US" altLang="zh-CN" dirty="0">
                <a:solidFill>
                  <a:srgbClr val="FF0000"/>
                </a:solidFill>
              </a:rPr>
              <a:t>BGP </a:t>
            </a:r>
            <a:r>
              <a:rPr lang="zh-CN" altLang="en-US" dirty="0">
                <a:solidFill>
                  <a:srgbClr val="FF0000"/>
                </a:solidFill>
              </a:rPr>
              <a:t>支持 </a:t>
            </a:r>
            <a:r>
              <a:rPr lang="en-US" altLang="zh-CN" dirty="0">
                <a:solidFill>
                  <a:srgbClr val="FF0000"/>
                </a:solidFill>
              </a:rPr>
              <a:t>CIDR</a:t>
            </a:r>
            <a:r>
              <a:rPr lang="zh-CN" altLang="en-US" dirty="0">
                <a:solidFill>
                  <a:srgbClr val="FF0000"/>
                </a:solidFill>
              </a:rPr>
              <a:t>，</a:t>
            </a:r>
            <a:r>
              <a:rPr lang="zh-CN" altLang="en-US" dirty="0"/>
              <a:t>因此 </a:t>
            </a:r>
            <a:r>
              <a:rPr lang="en-US" altLang="zh-CN" dirty="0"/>
              <a:t>BGP </a:t>
            </a:r>
            <a:r>
              <a:rPr lang="zh-CN" altLang="en-US" dirty="0"/>
              <a:t>的路由表也就应当包括目的网络前缀、下一跳路由器，以及到达该目的网络所要经过的各个自治系统序列。</a:t>
            </a:r>
          </a:p>
          <a:p>
            <a:pPr>
              <a:spcBef>
                <a:spcPts val="1200"/>
              </a:spcBef>
            </a:pPr>
            <a:r>
              <a:rPr lang="zh-CN" altLang="en-US" dirty="0"/>
              <a:t>在 </a:t>
            </a:r>
            <a:r>
              <a:rPr lang="en-US" altLang="zh-CN" dirty="0"/>
              <a:t>BGP </a:t>
            </a:r>
            <a:r>
              <a:rPr lang="zh-CN" altLang="en-US" dirty="0"/>
              <a:t>刚刚运行时，</a:t>
            </a:r>
            <a:r>
              <a:rPr lang="en-US" altLang="zh-CN" dirty="0"/>
              <a:t>BGP </a:t>
            </a:r>
            <a:r>
              <a:rPr lang="zh-CN" altLang="en-US" dirty="0"/>
              <a:t>的邻站是交换整个的 </a:t>
            </a:r>
            <a:r>
              <a:rPr lang="en-US" altLang="zh-CN" dirty="0"/>
              <a:t>BGP </a:t>
            </a:r>
            <a:r>
              <a:rPr lang="zh-CN" altLang="en-US" dirty="0"/>
              <a:t>路由表。但以后只需要在发生变化时</a:t>
            </a:r>
            <a:r>
              <a:rPr lang="zh-CN" altLang="en-US" dirty="0">
                <a:solidFill>
                  <a:srgbClr val="FF0000"/>
                </a:solidFill>
              </a:rPr>
              <a:t>更新有变化的部分。这样做对节省网络带宽和减少路由器的处理开销都有好处。</a:t>
            </a:r>
            <a:r>
              <a:rPr lang="zh-CN" altLang="en-US" dirty="0"/>
              <a:t> </a:t>
            </a:r>
          </a:p>
        </p:txBody>
      </p:sp>
    </p:spTree>
    <p:extLst>
      <p:ext uri="{BB962C8B-B14F-4D97-AF65-F5344CB8AC3E}">
        <p14:creationId xmlns:p14="http://schemas.microsoft.com/office/powerpoint/2010/main" val="4279116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pPr algn="ctr"/>
            <a:r>
              <a:rPr lang="en-US" altLang="zh-CN" dirty="0"/>
              <a:t>BGP-4 </a:t>
            </a:r>
            <a:r>
              <a:rPr lang="zh-CN" altLang="en-US" dirty="0"/>
              <a:t>共使用</a:t>
            </a:r>
            <a:r>
              <a:rPr lang="zh-CN" altLang="en-US" dirty="0">
                <a:solidFill>
                  <a:srgbClr val="FF0000"/>
                </a:solidFill>
              </a:rPr>
              <a:t>四种报文 </a:t>
            </a:r>
          </a:p>
        </p:txBody>
      </p:sp>
      <p:sp>
        <p:nvSpPr>
          <p:cNvPr id="6103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dirty="0"/>
              <a:t>(1) </a:t>
            </a:r>
            <a:r>
              <a:rPr lang="zh-CN" altLang="en-US" dirty="0">
                <a:solidFill>
                  <a:srgbClr val="FF0000"/>
                </a:solidFill>
              </a:rPr>
              <a:t>打开 </a:t>
            </a:r>
            <a:r>
              <a:rPr lang="en-US" altLang="zh-CN" dirty="0"/>
              <a:t>(OPEN) </a:t>
            </a:r>
            <a:r>
              <a:rPr lang="zh-CN" altLang="en-US" dirty="0"/>
              <a:t>报文，用来与相邻的另一个</a:t>
            </a:r>
            <a:r>
              <a:rPr lang="en-US" altLang="zh-CN" dirty="0"/>
              <a:t>BGP</a:t>
            </a:r>
            <a:r>
              <a:rPr lang="zh-CN" altLang="en-US" dirty="0"/>
              <a:t>发言人建立关系。</a:t>
            </a:r>
          </a:p>
          <a:p>
            <a:r>
              <a:rPr lang="en-US" altLang="zh-CN" dirty="0"/>
              <a:t>(2) </a:t>
            </a:r>
            <a:r>
              <a:rPr lang="zh-CN" altLang="en-US" dirty="0">
                <a:solidFill>
                  <a:srgbClr val="FF0000"/>
                </a:solidFill>
              </a:rPr>
              <a:t>更新</a:t>
            </a:r>
            <a:r>
              <a:rPr lang="zh-CN" altLang="en-US" dirty="0"/>
              <a:t> </a:t>
            </a:r>
            <a:r>
              <a:rPr lang="en-US" altLang="zh-CN" dirty="0"/>
              <a:t>(UPDATE) </a:t>
            </a:r>
            <a:r>
              <a:rPr lang="zh-CN" altLang="en-US" dirty="0"/>
              <a:t>报文，用来发送某一路由的信息，以及列出要撤消的多条路由。</a:t>
            </a:r>
          </a:p>
          <a:p>
            <a:r>
              <a:rPr lang="en-US" altLang="zh-CN" dirty="0"/>
              <a:t>(3) </a:t>
            </a:r>
            <a:r>
              <a:rPr lang="zh-CN" altLang="en-US" dirty="0">
                <a:solidFill>
                  <a:srgbClr val="FF0000"/>
                </a:solidFill>
              </a:rPr>
              <a:t>保活</a:t>
            </a:r>
            <a:r>
              <a:rPr lang="zh-CN" altLang="en-US" dirty="0"/>
              <a:t> </a:t>
            </a:r>
            <a:r>
              <a:rPr lang="en-US" altLang="zh-CN" dirty="0"/>
              <a:t>(KEEPALIVE) </a:t>
            </a:r>
            <a:r>
              <a:rPr lang="zh-CN" altLang="en-US" dirty="0"/>
              <a:t>报文，用来确认打开报文和周期性地证实邻站关系。</a:t>
            </a:r>
          </a:p>
          <a:p>
            <a:r>
              <a:rPr lang="en-US" altLang="zh-CN" dirty="0"/>
              <a:t>(4) </a:t>
            </a:r>
            <a:r>
              <a:rPr lang="zh-CN" altLang="en-US" dirty="0">
                <a:solidFill>
                  <a:srgbClr val="FF0000"/>
                </a:solidFill>
              </a:rPr>
              <a:t>通知</a:t>
            </a:r>
            <a:r>
              <a:rPr lang="zh-CN" altLang="en-US" dirty="0"/>
              <a:t> </a:t>
            </a:r>
            <a:r>
              <a:rPr lang="en-US" altLang="zh-CN" dirty="0"/>
              <a:t>(NOTIFICATION) </a:t>
            </a:r>
            <a:r>
              <a:rPr lang="zh-CN" altLang="en-US" dirty="0"/>
              <a:t>报文，用来发送检测到的差错。</a:t>
            </a:r>
          </a:p>
        </p:txBody>
      </p:sp>
    </p:spTree>
    <p:extLst>
      <p:ext uri="{BB962C8B-B14F-4D97-AF65-F5344CB8AC3E}">
        <p14:creationId xmlns:p14="http://schemas.microsoft.com/office/powerpoint/2010/main" val="13797508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406" name="Rectangle 78"/>
          <p:cNvSpPr>
            <a:spLocks noGrp="1" noChangeArrowheads="1"/>
          </p:cNvSpPr>
          <p:nvPr>
            <p:ph type="title"/>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en-US" altLang="zh-CN" dirty="0"/>
              <a:t>BGP </a:t>
            </a:r>
            <a:r>
              <a:rPr lang="zh-CN" altLang="en-US" dirty="0"/>
              <a:t>报文具有</a:t>
            </a:r>
            <a:r>
              <a:rPr lang="zh-CN" altLang="en-US" dirty="0">
                <a:solidFill>
                  <a:srgbClr val="FF0000"/>
                </a:solidFill>
              </a:rPr>
              <a:t>通用首部</a:t>
            </a:r>
          </a:p>
        </p:txBody>
      </p:sp>
      <p:sp>
        <p:nvSpPr>
          <p:cNvPr id="611369" name="Rectangle 41"/>
          <p:cNvSpPr>
            <a:spLocks noChangeArrowheads="1"/>
          </p:cNvSpPr>
          <p:nvPr/>
        </p:nvSpPr>
        <p:spPr bwMode="auto">
          <a:xfrm>
            <a:off x="3288762" y="2831430"/>
            <a:ext cx="2332038" cy="465138"/>
          </a:xfrm>
          <a:prstGeom prst="rect">
            <a:avLst/>
          </a:prstGeom>
          <a:solidFill>
            <a:srgbClr val="FFFF66"/>
          </a:solidFill>
          <a:ln>
            <a:noFill/>
          </a:ln>
          <a:effectLst/>
        </p:spPr>
        <p:txBody>
          <a:bodyPr wrap="none" anchor="ctr"/>
          <a:lstStyle/>
          <a:p>
            <a:endParaRPr lang="zh-CN" altLang="en-US" b="1">
              <a:solidFill>
                <a:srgbClr val="0000CC"/>
              </a:solidFill>
              <a:latin typeface="+mn-lt"/>
              <a:ea typeface="黑体" pitchFamily="2" charset="-122"/>
            </a:endParaRPr>
          </a:p>
        </p:txBody>
      </p:sp>
      <p:sp>
        <p:nvSpPr>
          <p:cNvPr id="611370" name="Rectangle 42"/>
          <p:cNvSpPr>
            <a:spLocks noChangeArrowheads="1"/>
          </p:cNvSpPr>
          <p:nvPr/>
        </p:nvSpPr>
        <p:spPr bwMode="auto">
          <a:xfrm>
            <a:off x="3223410" y="2853655"/>
            <a:ext cx="23534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BGP </a:t>
            </a:r>
            <a:r>
              <a:rPr kumimoji="1" lang="zh-CN" altLang="en-US" sz="2000" b="1">
                <a:solidFill>
                  <a:srgbClr val="0000CC"/>
                </a:solidFill>
                <a:latin typeface="+mn-lt"/>
                <a:ea typeface="黑体" pitchFamily="2" charset="-122"/>
              </a:rPr>
              <a:t>报文通用首部</a:t>
            </a:r>
          </a:p>
        </p:txBody>
      </p:sp>
      <p:sp>
        <p:nvSpPr>
          <p:cNvPr id="611365" name="AutoShape 37"/>
          <p:cNvSpPr>
            <a:spLocks noChangeArrowheads="1"/>
          </p:cNvSpPr>
          <p:nvPr/>
        </p:nvSpPr>
        <p:spPr bwMode="auto">
          <a:xfrm rot="5400000">
            <a:off x="547679" y="4699390"/>
            <a:ext cx="295275" cy="632883"/>
          </a:xfrm>
          <a:prstGeom prst="downArrow">
            <a:avLst>
              <a:gd name="adj1" fmla="val 50000"/>
              <a:gd name="adj2" fmla="val 49462"/>
            </a:avLst>
          </a:prstGeom>
          <a:solidFill>
            <a:srgbClr val="C00000"/>
          </a:solidFill>
          <a:ln w="9525">
            <a:solidFill>
              <a:srgbClr val="C00000"/>
            </a:solidFill>
            <a:miter lim="800000"/>
            <a:headEnd/>
            <a:tailEnd/>
          </a:ln>
          <a:effectLst/>
        </p:spPr>
        <p:txBody>
          <a:bodyPr vert="eaVert" wrap="none" anchor="ctr"/>
          <a:lstStyle/>
          <a:p>
            <a:endParaRPr lang="zh-CN" altLang="en-US" b="1">
              <a:solidFill>
                <a:srgbClr val="0000CC"/>
              </a:solidFill>
              <a:latin typeface="+mn-lt"/>
              <a:ea typeface="黑体" pitchFamily="2" charset="-122"/>
            </a:endParaRPr>
          </a:p>
        </p:txBody>
      </p:sp>
      <p:sp>
        <p:nvSpPr>
          <p:cNvPr id="611366" name="Freeform 38"/>
          <p:cNvSpPr>
            <a:spLocks/>
          </p:cNvSpPr>
          <p:nvPr/>
        </p:nvSpPr>
        <p:spPr bwMode="auto">
          <a:xfrm>
            <a:off x="2277525" y="2215481"/>
            <a:ext cx="4607321" cy="588963"/>
          </a:xfrm>
          <a:custGeom>
            <a:avLst/>
            <a:gdLst>
              <a:gd name="T0" fmla="*/ 45 w 2313"/>
              <a:gd name="T1" fmla="*/ 0 h 272"/>
              <a:gd name="T2" fmla="*/ 2313 w 2313"/>
              <a:gd name="T3" fmla="*/ 0 h 272"/>
              <a:gd name="T4" fmla="*/ 1723 w 2313"/>
              <a:gd name="T5" fmla="*/ 272 h 272"/>
              <a:gd name="T6" fmla="*/ 499 w 2313"/>
              <a:gd name="T7" fmla="*/ 272 h 272"/>
              <a:gd name="T8" fmla="*/ 0 w 2313"/>
              <a:gd name="T9" fmla="*/ 0 h 272"/>
            </a:gdLst>
            <a:ahLst/>
            <a:cxnLst>
              <a:cxn ang="0">
                <a:pos x="T0" y="T1"/>
              </a:cxn>
              <a:cxn ang="0">
                <a:pos x="T2" y="T3"/>
              </a:cxn>
              <a:cxn ang="0">
                <a:pos x="T4" y="T5"/>
              </a:cxn>
              <a:cxn ang="0">
                <a:pos x="T6" y="T7"/>
              </a:cxn>
              <a:cxn ang="0">
                <a:pos x="T8" y="T9"/>
              </a:cxn>
            </a:cxnLst>
            <a:rect l="0" t="0" r="r" b="b"/>
            <a:pathLst>
              <a:path w="2313" h="272">
                <a:moveTo>
                  <a:pt x="45" y="0"/>
                </a:moveTo>
                <a:lnTo>
                  <a:pt x="2313" y="0"/>
                </a:lnTo>
                <a:lnTo>
                  <a:pt x="1723" y="272"/>
                </a:lnTo>
                <a:lnTo>
                  <a:pt x="499" y="272"/>
                </a:lnTo>
                <a:lnTo>
                  <a:pt x="0" y="0"/>
                </a:lnTo>
              </a:path>
            </a:pathLst>
          </a:custGeom>
          <a:gradFill rotWithShape="1">
            <a:gsLst>
              <a:gs pos="0">
                <a:srgbClr val="FFFF99">
                  <a:gamma/>
                  <a:shade val="69804"/>
                  <a:invGamma/>
                </a:srgbClr>
              </a:gs>
              <a:gs pos="100000">
                <a:srgbClr val="FFFF66"/>
              </a:gs>
            </a:gsLst>
            <a:lin ang="5400000" scaled="1"/>
          </a:gradFill>
          <a:ln>
            <a:noFill/>
          </a:ln>
          <a:effectLst/>
        </p:spPr>
        <p:txBody>
          <a:bodyPr/>
          <a:lstStyle/>
          <a:p>
            <a:endParaRPr lang="zh-CN" altLang="en-US" b="1">
              <a:solidFill>
                <a:srgbClr val="0000CC"/>
              </a:solidFill>
              <a:latin typeface="+mn-lt"/>
              <a:ea typeface="黑体" pitchFamily="2" charset="-122"/>
            </a:endParaRPr>
          </a:p>
        </p:txBody>
      </p:sp>
      <p:sp>
        <p:nvSpPr>
          <p:cNvPr id="611367" name="Rectangle 39"/>
          <p:cNvSpPr>
            <a:spLocks noChangeArrowheads="1"/>
          </p:cNvSpPr>
          <p:nvPr/>
        </p:nvSpPr>
        <p:spPr bwMode="auto">
          <a:xfrm>
            <a:off x="1429668" y="1340768"/>
            <a:ext cx="521937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latin typeface="+mn-lt"/>
                <a:ea typeface="黑体" pitchFamily="2" charset="-122"/>
              </a:rPr>
              <a:t>字节                 </a:t>
            </a:r>
            <a:r>
              <a:rPr kumimoji="1" lang="en-US" altLang="zh-CN" sz="2000" b="1" dirty="0">
                <a:solidFill>
                  <a:srgbClr val="0000CC"/>
                </a:solidFill>
                <a:latin typeface="+mn-lt"/>
                <a:ea typeface="黑体" pitchFamily="2" charset="-122"/>
              </a:rPr>
              <a:t>16                          2             1</a:t>
            </a:r>
          </a:p>
        </p:txBody>
      </p:sp>
      <p:sp>
        <p:nvSpPr>
          <p:cNvPr id="611368" name="Rectangle 40"/>
          <p:cNvSpPr>
            <a:spLocks noChangeArrowheads="1"/>
          </p:cNvSpPr>
          <p:nvPr/>
        </p:nvSpPr>
        <p:spPr bwMode="auto">
          <a:xfrm>
            <a:off x="3271565" y="2807618"/>
            <a:ext cx="6505971" cy="488950"/>
          </a:xfrm>
          <a:prstGeom prst="rect">
            <a:avLst/>
          </a:prstGeom>
          <a:noFill/>
          <a:ln w="9525">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wrap="none" anchor="ctr"/>
          <a:lstStyle/>
          <a:p>
            <a:endParaRPr lang="zh-CN" altLang="en-US" b="1">
              <a:solidFill>
                <a:srgbClr val="0000CC"/>
              </a:solidFill>
              <a:latin typeface="+mn-lt"/>
              <a:ea typeface="黑体" pitchFamily="2" charset="-122"/>
            </a:endParaRPr>
          </a:p>
        </p:txBody>
      </p:sp>
      <p:sp>
        <p:nvSpPr>
          <p:cNvPr id="611371" name="Rectangle 43"/>
          <p:cNvSpPr>
            <a:spLocks noChangeArrowheads="1"/>
          </p:cNvSpPr>
          <p:nvPr/>
        </p:nvSpPr>
        <p:spPr bwMode="auto">
          <a:xfrm>
            <a:off x="6377508" y="2853655"/>
            <a:ext cx="235340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BGP </a:t>
            </a:r>
            <a:r>
              <a:rPr kumimoji="1" lang="zh-CN" altLang="en-US" sz="2000" b="1">
                <a:solidFill>
                  <a:srgbClr val="0000CC"/>
                </a:solidFill>
                <a:latin typeface="+mn-lt"/>
                <a:ea typeface="黑体" pitchFamily="2" charset="-122"/>
              </a:rPr>
              <a:t>报文主体部分</a:t>
            </a:r>
          </a:p>
        </p:txBody>
      </p:sp>
      <p:sp>
        <p:nvSpPr>
          <p:cNvPr id="611372" name="Line 44"/>
          <p:cNvSpPr>
            <a:spLocks noChangeShapeType="1"/>
          </p:cNvSpPr>
          <p:nvPr/>
        </p:nvSpPr>
        <p:spPr bwMode="auto">
          <a:xfrm>
            <a:off x="5620800" y="2804444"/>
            <a:ext cx="0" cy="492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11373" name="Rectangle 45"/>
          <p:cNvSpPr>
            <a:spLocks noChangeArrowheads="1"/>
          </p:cNvSpPr>
          <p:nvPr/>
        </p:nvSpPr>
        <p:spPr bwMode="auto">
          <a:xfrm>
            <a:off x="2277525" y="1723355"/>
            <a:ext cx="4607321" cy="490538"/>
          </a:xfrm>
          <a:prstGeom prst="rect">
            <a:avLst/>
          </a:prstGeom>
          <a:solidFill>
            <a:srgbClr val="FFFF66"/>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611374" name="Rectangle 46"/>
          <p:cNvSpPr>
            <a:spLocks noChangeArrowheads="1"/>
          </p:cNvSpPr>
          <p:nvPr/>
        </p:nvSpPr>
        <p:spPr bwMode="auto">
          <a:xfrm>
            <a:off x="6073105" y="1740818"/>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类 型</a:t>
            </a:r>
          </a:p>
        </p:txBody>
      </p:sp>
      <p:sp>
        <p:nvSpPr>
          <p:cNvPr id="611375" name="Rectangle 47"/>
          <p:cNvSpPr>
            <a:spLocks noChangeArrowheads="1"/>
          </p:cNvSpPr>
          <p:nvPr/>
        </p:nvSpPr>
        <p:spPr bwMode="auto">
          <a:xfrm>
            <a:off x="4896768" y="1740818"/>
            <a:ext cx="83997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长  度</a:t>
            </a:r>
          </a:p>
        </p:txBody>
      </p:sp>
      <p:sp>
        <p:nvSpPr>
          <p:cNvPr id="611376" name="Line 48"/>
          <p:cNvSpPr>
            <a:spLocks noChangeShapeType="1"/>
          </p:cNvSpPr>
          <p:nvPr/>
        </p:nvSpPr>
        <p:spPr bwMode="auto">
          <a:xfrm>
            <a:off x="6073105" y="1723356"/>
            <a:ext cx="0" cy="492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11377" name="Line 49"/>
          <p:cNvSpPr>
            <a:spLocks noChangeShapeType="1"/>
          </p:cNvSpPr>
          <p:nvPr/>
        </p:nvSpPr>
        <p:spPr bwMode="auto">
          <a:xfrm>
            <a:off x="4626760" y="1723356"/>
            <a:ext cx="0" cy="492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11378" name="Rectangle 50"/>
          <p:cNvSpPr>
            <a:spLocks noChangeArrowheads="1"/>
          </p:cNvSpPr>
          <p:nvPr/>
        </p:nvSpPr>
        <p:spPr bwMode="auto">
          <a:xfrm>
            <a:off x="2819260" y="1740818"/>
            <a:ext cx="126316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标        记</a:t>
            </a:r>
          </a:p>
        </p:txBody>
      </p:sp>
      <p:grpSp>
        <p:nvGrpSpPr>
          <p:cNvPr id="611379" name="Group 51"/>
          <p:cNvGrpSpPr>
            <a:grpSpLocks/>
          </p:cNvGrpSpPr>
          <p:nvPr/>
        </p:nvGrpSpPr>
        <p:grpSpPr bwMode="auto">
          <a:xfrm rot="5400000">
            <a:off x="3302786" y="1674408"/>
            <a:ext cx="192087" cy="96308"/>
            <a:chOff x="1008" y="2046"/>
            <a:chExt cx="102" cy="60"/>
          </a:xfrm>
        </p:grpSpPr>
        <p:sp>
          <p:nvSpPr>
            <p:cNvPr id="611380" name="Rectangle 52"/>
            <p:cNvSpPr>
              <a:spLocks noChangeArrowheads="1"/>
            </p:cNvSpPr>
            <p:nvPr/>
          </p:nvSpPr>
          <p:spPr bwMode="auto">
            <a:xfrm>
              <a:off x="1008" y="2052"/>
              <a:ext cx="102" cy="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611381" name="Group 53"/>
            <p:cNvGrpSpPr>
              <a:grpSpLocks/>
            </p:cNvGrpSpPr>
            <p:nvPr/>
          </p:nvGrpSpPr>
          <p:grpSpPr bwMode="auto">
            <a:xfrm>
              <a:off x="1026" y="2046"/>
              <a:ext cx="72" cy="48"/>
              <a:chOff x="1440" y="2016"/>
              <a:chExt cx="72" cy="48"/>
            </a:xfrm>
          </p:grpSpPr>
          <p:sp>
            <p:nvSpPr>
              <p:cNvPr id="611382" name="Line 54"/>
              <p:cNvSpPr>
                <a:spLocks noChangeShapeType="1"/>
              </p:cNvSpPr>
              <p:nvPr/>
            </p:nvSpPr>
            <p:spPr bwMode="auto">
              <a:xfrm>
                <a:off x="1440" y="2016"/>
                <a:ext cx="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11383" name="Line 55"/>
              <p:cNvSpPr>
                <a:spLocks noChangeShapeType="1"/>
              </p:cNvSpPr>
              <p:nvPr/>
            </p:nvSpPr>
            <p:spPr bwMode="auto">
              <a:xfrm>
                <a:off x="1440" y="2064"/>
                <a:ext cx="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grpSp>
        <p:nvGrpSpPr>
          <p:cNvPr id="611384" name="Group 56"/>
          <p:cNvGrpSpPr>
            <a:grpSpLocks/>
          </p:cNvGrpSpPr>
          <p:nvPr/>
        </p:nvGrpSpPr>
        <p:grpSpPr bwMode="auto">
          <a:xfrm rot="5400000">
            <a:off x="3313104" y="2166533"/>
            <a:ext cx="192087" cy="96308"/>
            <a:chOff x="1008" y="2046"/>
            <a:chExt cx="102" cy="60"/>
          </a:xfrm>
        </p:grpSpPr>
        <p:sp>
          <p:nvSpPr>
            <p:cNvPr id="611385" name="Rectangle 57"/>
            <p:cNvSpPr>
              <a:spLocks noChangeArrowheads="1"/>
            </p:cNvSpPr>
            <p:nvPr/>
          </p:nvSpPr>
          <p:spPr bwMode="auto">
            <a:xfrm>
              <a:off x="1008" y="2052"/>
              <a:ext cx="102" cy="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611386" name="Group 58"/>
            <p:cNvGrpSpPr>
              <a:grpSpLocks/>
            </p:cNvGrpSpPr>
            <p:nvPr/>
          </p:nvGrpSpPr>
          <p:grpSpPr bwMode="auto">
            <a:xfrm>
              <a:off x="1026" y="2046"/>
              <a:ext cx="72" cy="48"/>
              <a:chOff x="1440" y="2016"/>
              <a:chExt cx="72" cy="48"/>
            </a:xfrm>
          </p:grpSpPr>
          <p:sp>
            <p:nvSpPr>
              <p:cNvPr id="611387" name="Line 59"/>
              <p:cNvSpPr>
                <a:spLocks noChangeShapeType="1"/>
              </p:cNvSpPr>
              <p:nvPr/>
            </p:nvSpPr>
            <p:spPr bwMode="auto">
              <a:xfrm>
                <a:off x="1440" y="2016"/>
                <a:ext cx="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11388" name="Line 60"/>
              <p:cNvSpPr>
                <a:spLocks noChangeShapeType="1"/>
              </p:cNvSpPr>
              <p:nvPr/>
            </p:nvSpPr>
            <p:spPr bwMode="auto">
              <a:xfrm>
                <a:off x="1440" y="2064"/>
                <a:ext cx="7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sp>
        <p:nvSpPr>
          <p:cNvPr id="611391" name="Rectangle 63"/>
          <p:cNvSpPr>
            <a:spLocks noChangeArrowheads="1"/>
          </p:cNvSpPr>
          <p:nvPr/>
        </p:nvSpPr>
        <p:spPr bwMode="auto">
          <a:xfrm>
            <a:off x="2095227" y="3788694"/>
            <a:ext cx="7682309" cy="490537"/>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611392" name="Line 64"/>
          <p:cNvSpPr>
            <a:spLocks noChangeShapeType="1"/>
          </p:cNvSpPr>
          <p:nvPr/>
        </p:nvSpPr>
        <p:spPr bwMode="auto">
          <a:xfrm>
            <a:off x="3271565" y="3787106"/>
            <a:ext cx="0" cy="492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11393" name="Rectangle 65"/>
          <p:cNvSpPr>
            <a:spLocks noChangeArrowheads="1"/>
          </p:cNvSpPr>
          <p:nvPr/>
        </p:nvSpPr>
        <p:spPr bwMode="auto">
          <a:xfrm>
            <a:off x="2017426" y="3861718"/>
            <a:ext cx="12793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CC"/>
                </a:solidFill>
                <a:latin typeface="+mn-lt"/>
                <a:ea typeface="黑体" pitchFamily="2" charset="-122"/>
              </a:rPr>
              <a:t>TCP </a:t>
            </a:r>
            <a:r>
              <a:rPr kumimoji="1" lang="zh-CN" altLang="en-US" sz="2000" b="1" dirty="0">
                <a:solidFill>
                  <a:srgbClr val="0000CC"/>
                </a:solidFill>
                <a:latin typeface="+mn-lt"/>
                <a:ea typeface="黑体" pitchFamily="2" charset="-122"/>
              </a:rPr>
              <a:t>首部</a:t>
            </a:r>
          </a:p>
        </p:txBody>
      </p:sp>
      <p:sp>
        <p:nvSpPr>
          <p:cNvPr id="611394" name="AutoShape 66"/>
          <p:cNvSpPr>
            <a:spLocks noChangeArrowheads="1"/>
          </p:cNvSpPr>
          <p:nvPr/>
        </p:nvSpPr>
        <p:spPr bwMode="auto">
          <a:xfrm>
            <a:off x="6162534" y="3198144"/>
            <a:ext cx="270008" cy="688975"/>
          </a:xfrm>
          <a:prstGeom prst="downArrow">
            <a:avLst>
              <a:gd name="adj1" fmla="val 50000"/>
              <a:gd name="adj2" fmla="val 69108"/>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CC"/>
              </a:solidFill>
              <a:latin typeface="+mn-lt"/>
              <a:ea typeface="黑体" pitchFamily="2" charset="-122"/>
            </a:endParaRPr>
          </a:p>
        </p:txBody>
      </p:sp>
      <p:sp>
        <p:nvSpPr>
          <p:cNvPr id="611395" name="Rectangle 67"/>
          <p:cNvSpPr>
            <a:spLocks noChangeArrowheads="1"/>
          </p:cNvSpPr>
          <p:nvPr/>
        </p:nvSpPr>
        <p:spPr bwMode="auto">
          <a:xfrm>
            <a:off x="920609" y="4772944"/>
            <a:ext cx="8856927" cy="490537"/>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611396" name="Rectangle 68"/>
          <p:cNvSpPr>
            <a:spLocks noChangeArrowheads="1"/>
          </p:cNvSpPr>
          <p:nvPr/>
        </p:nvSpPr>
        <p:spPr bwMode="auto">
          <a:xfrm>
            <a:off x="979082" y="4807868"/>
            <a:ext cx="100688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IP </a:t>
            </a:r>
            <a:r>
              <a:rPr kumimoji="1" lang="zh-CN" altLang="en-US" sz="2000" b="1">
                <a:solidFill>
                  <a:srgbClr val="0000CC"/>
                </a:solidFill>
                <a:latin typeface="+mn-lt"/>
                <a:ea typeface="黑体" pitchFamily="2" charset="-122"/>
              </a:rPr>
              <a:t>首部</a:t>
            </a:r>
          </a:p>
        </p:txBody>
      </p:sp>
      <p:sp>
        <p:nvSpPr>
          <p:cNvPr id="611397" name="Line 69"/>
          <p:cNvSpPr>
            <a:spLocks noChangeShapeType="1"/>
          </p:cNvSpPr>
          <p:nvPr/>
        </p:nvSpPr>
        <p:spPr bwMode="auto">
          <a:xfrm>
            <a:off x="2095227" y="4771356"/>
            <a:ext cx="0" cy="492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11398" name="AutoShape 70"/>
          <p:cNvSpPr>
            <a:spLocks noChangeArrowheads="1"/>
          </p:cNvSpPr>
          <p:nvPr/>
        </p:nvSpPr>
        <p:spPr bwMode="auto">
          <a:xfrm>
            <a:off x="5801378" y="4182394"/>
            <a:ext cx="271727" cy="688975"/>
          </a:xfrm>
          <a:prstGeom prst="downArrow">
            <a:avLst>
              <a:gd name="adj1" fmla="val 50000"/>
              <a:gd name="adj2" fmla="val 68671"/>
            </a:avLst>
          </a:prstGeom>
          <a:solidFill>
            <a:srgbClr val="9933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CC"/>
              </a:solidFill>
              <a:latin typeface="+mn-lt"/>
              <a:ea typeface="黑体" pitchFamily="2" charset="-122"/>
            </a:endParaRPr>
          </a:p>
        </p:txBody>
      </p:sp>
      <p:sp>
        <p:nvSpPr>
          <p:cNvPr id="611399" name="Rectangle 71"/>
          <p:cNvSpPr>
            <a:spLocks noChangeArrowheads="1"/>
          </p:cNvSpPr>
          <p:nvPr/>
        </p:nvSpPr>
        <p:spPr bwMode="auto">
          <a:xfrm>
            <a:off x="5679273" y="3823618"/>
            <a:ext cx="132106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BGP </a:t>
            </a:r>
            <a:r>
              <a:rPr kumimoji="1" lang="zh-CN" altLang="en-US" sz="2000" b="1">
                <a:solidFill>
                  <a:srgbClr val="0000CC"/>
                </a:solidFill>
                <a:latin typeface="+mn-lt"/>
                <a:ea typeface="黑体" pitchFamily="2" charset="-122"/>
              </a:rPr>
              <a:t>报文</a:t>
            </a:r>
          </a:p>
        </p:txBody>
      </p:sp>
      <p:sp>
        <p:nvSpPr>
          <p:cNvPr id="611400" name="Rectangle 72"/>
          <p:cNvSpPr>
            <a:spLocks noChangeArrowheads="1"/>
          </p:cNvSpPr>
          <p:nvPr/>
        </p:nvSpPr>
        <p:spPr bwMode="auto">
          <a:xfrm>
            <a:off x="5349073" y="4807868"/>
            <a:ext cx="12793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TCP </a:t>
            </a:r>
            <a:r>
              <a:rPr kumimoji="1" lang="zh-CN" altLang="en-US" sz="2000" b="1">
                <a:solidFill>
                  <a:srgbClr val="0000CC"/>
                </a:solidFill>
                <a:latin typeface="+mn-lt"/>
                <a:ea typeface="黑体" pitchFamily="2" charset="-122"/>
              </a:rPr>
              <a:t>报文</a:t>
            </a:r>
          </a:p>
        </p:txBody>
      </p:sp>
      <p:cxnSp>
        <p:nvCxnSpPr>
          <p:cNvPr id="3" name="直接连接符 2"/>
          <p:cNvCxnSpPr/>
          <p:nvPr/>
        </p:nvCxnSpPr>
        <p:spPr bwMode="auto">
          <a:xfrm>
            <a:off x="3288762" y="3296569"/>
            <a:ext cx="0" cy="490537"/>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p:cNvCxnSpPr/>
          <p:nvPr/>
        </p:nvCxnSpPr>
        <p:spPr bwMode="auto">
          <a:xfrm>
            <a:off x="9777536" y="3296569"/>
            <a:ext cx="0" cy="490537"/>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a:off x="3288762" y="4317331"/>
            <a:ext cx="0" cy="490537"/>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p:cNvCxnSpPr/>
          <p:nvPr/>
        </p:nvCxnSpPr>
        <p:spPr bwMode="auto">
          <a:xfrm>
            <a:off x="9777536" y="4317331"/>
            <a:ext cx="0" cy="490537"/>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2107782" y="4317331"/>
            <a:ext cx="0" cy="490537"/>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801780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（下）</a:t>
            </a:r>
          </a:p>
        </p:txBody>
      </p:sp>
      <p:sp>
        <p:nvSpPr>
          <p:cNvPr id="3" name="内容占位符 2"/>
          <p:cNvSpPr>
            <a:spLocks noGrp="1"/>
          </p:cNvSpPr>
          <p:nvPr>
            <p:ph idx="1"/>
          </p:nvPr>
        </p:nvSpPr>
        <p:spPr/>
        <p:txBody>
          <a:bodyPr/>
          <a:lstStyle/>
          <a:p>
            <a:pPr>
              <a:lnSpc>
                <a:spcPct val="100000"/>
              </a:lnSpc>
            </a:pPr>
            <a:r>
              <a:rPr lang="zh-CN" altLang="zh-CN" dirty="0">
                <a:solidFill>
                  <a:schemeClr val="bg1">
                    <a:lumMod val="75000"/>
                  </a:schemeClr>
                </a:solidFill>
              </a:rPr>
              <a:t>划分子网</a:t>
            </a:r>
            <a:endParaRPr lang="en-US" altLang="zh-CN" dirty="0">
              <a:solidFill>
                <a:schemeClr val="bg1">
                  <a:lumMod val="75000"/>
                </a:schemeClr>
              </a:solidFill>
            </a:endParaRPr>
          </a:p>
          <a:p>
            <a:pPr>
              <a:lnSpc>
                <a:spcPct val="100000"/>
              </a:lnSpc>
            </a:pPr>
            <a:r>
              <a:rPr lang="zh-CN" altLang="zh-CN" dirty="0">
                <a:solidFill>
                  <a:schemeClr val="bg1">
                    <a:lumMod val="75000"/>
                  </a:schemeClr>
                </a:solidFill>
              </a:rPr>
              <a:t>构造超网</a:t>
            </a:r>
          </a:p>
          <a:p>
            <a:pPr>
              <a:lnSpc>
                <a:spcPct val="100000"/>
              </a:lnSpc>
            </a:pPr>
            <a:r>
              <a:rPr lang="zh-CN" altLang="zh-CN" dirty="0">
                <a:solidFill>
                  <a:schemeClr val="bg1">
                    <a:lumMod val="75000"/>
                  </a:schemeClr>
                </a:solidFill>
              </a:rPr>
              <a:t>互联网的路由选择协议</a:t>
            </a:r>
          </a:p>
          <a:p>
            <a:pPr>
              <a:lnSpc>
                <a:spcPct val="100000"/>
              </a:lnSpc>
            </a:pPr>
            <a:r>
              <a:rPr lang="en-US" altLang="zh-CN" sz="3600" dirty="0">
                <a:solidFill>
                  <a:srgbClr val="FF0000"/>
                </a:solidFill>
              </a:rPr>
              <a:t>IPv6</a:t>
            </a:r>
            <a:endParaRPr lang="zh-CN" altLang="zh-CN" sz="3600" dirty="0">
              <a:solidFill>
                <a:srgbClr val="FF0000"/>
              </a:solidFill>
            </a:endParaRPr>
          </a:p>
          <a:p>
            <a:pPr>
              <a:lnSpc>
                <a:spcPct val="100000"/>
              </a:lnSpc>
            </a:pPr>
            <a:r>
              <a:rPr lang="en-US" altLang="zh-CN" dirty="0">
                <a:solidFill>
                  <a:schemeClr val="bg1">
                    <a:lumMod val="75000"/>
                  </a:schemeClr>
                </a:solidFill>
              </a:rPr>
              <a:t>IP</a:t>
            </a:r>
            <a:r>
              <a:rPr lang="zh-CN" altLang="zh-CN" dirty="0">
                <a:solidFill>
                  <a:schemeClr val="bg1">
                    <a:lumMod val="75000"/>
                  </a:schemeClr>
                </a:solidFill>
              </a:rPr>
              <a:t>多播</a:t>
            </a:r>
          </a:p>
          <a:p>
            <a:pPr>
              <a:lnSpc>
                <a:spcPct val="100000"/>
              </a:lnSpc>
            </a:pPr>
            <a:r>
              <a:rPr lang="zh-CN" altLang="zh-CN" dirty="0">
                <a:solidFill>
                  <a:schemeClr val="bg1">
                    <a:lumMod val="75000"/>
                  </a:schemeClr>
                </a:solidFill>
              </a:rPr>
              <a:t>虚拟专用网</a:t>
            </a:r>
            <a:r>
              <a:rPr lang="en-US" altLang="zh-CN" dirty="0">
                <a:solidFill>
                  <a:schemeClr val="bg1">
                    <a:lumMod val="75000"/>
                  </a:schemeClr>
                </a:solidFill>
              </a:rPr>
              <a:t> VPN</a:t>
            </a:r>
          </a:p>
          <a:p>
            <a:pPr>
              <a:lnSpc>
                <a:spcPct val="100000"/>
              </a:lnSpc>
            </a:pPr>
            <a:r>
              <a:rPr lang="zh-CN" altLang="zh-CN" dirty="0">
                <a:solidFill>
                  <a:schemeClr val="bg1">
                    <a:lumMod val="75000"/>
                  </a:schemeClr>
                </a:solidFill>
              </a:rPr>
              <a:t>网络地址转换</a:t>
            </a:r>
            <a:r>
              <a:rPr lang="en-US" altLang="zh-CN" dirty="0">
                <a:solidFill>
                  <a:schemeClr val="bg1">
                    <a:lumMod val="75000"/>
                  </a:schemeClr>
                </a:solidFill>
              </a:rPr>
              <a:t> NAT</a:t>
            </a:r>
            <a:endParaRPr lang="zh-CN" altLang="zh-CN" dirty="0">
              <a:solidFill>
                <a:schemeClr val="bg1">
                  <a:lumMod val="75000"/>
                </a:schemeClr>
              </a:solidFill>
            </a:endParaRPr>
          </a:p>
        </p:txBody>
      </p:sp>
    </p:spTree>
    <p:extLst>
      <p:ext uri="{BB962C8B-B14F-4D97-AF65-F5344CB8AC3E}">
        <p14:creationId xmlns:p14="http://schemas.microsoft.com/office/powerpoint/2010/main" val="39426796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a:lnSpc>
                <a:spcPct val="100000"/>
              </a:lnSpc>
            </a:pPr>
            <a:r>
              <a:rPr lang="en-US" altLang="zh-CN" dirty="0"/>
              <a:t>IPv6: </a:t>
            </a:r>
            <a:r>
              <a:rPr lang="zh-CN" altLang="en-US" dirty="0"/>
              <a:t>概要</a:t>
            </a:r>
            <a:endParaRPr lang="zh-CN" altLang="zh-CN" dirty="0"/>
          </a:p>
        </p:txBody>
      </p:sp>
      <p:sp>
        <p:nvSpPr>
          <p:cNvPr id="931843" name="Rectangle 3"/>
          <p:cNvSpPr>
            <a:spLocks noGrp="1" noChangeArrowheads="1"/>
          </p:cNvSpPr>
          <p:nvPr>
            <p:ph idx="1"/>
          </p:nvPr>
        </p:nvSpPr>
        <p:spPr/>
        <p:txBody>
          <a:bodyPr/>
          <a:lstStyle/>
          <a:p>
            <a:r>
              <a:rPr lang="en-US" altLang="zh-CN" dirty="0"/>
              <a:t>IP </a:t>
            </a:r>
            <a:r>
              <a:rPr lang="zh-CN" altLang="zh-CN" dirty="0"/>
              <a:t>是互联网的核心协议。</a:t>
            </a:r>
            <a:endParaRPr lang="en-US" altLang="zh-CN" dirty="0"/>
          </a:p>
          <a:p>
            <a:r>
              <a:rPr lang="zh-CN" altLang="zh-CN" dirty="0"/>
              <a:t>互联网经过几十年的飞速发展，到</a:t>
            </a:r>
            <a:r>
              <a:rPr lang="en-US" altLang="zh-CN" dirty="0"/>
              <a:t> 2011 </a:t>
            </a:r>
            <a:r>
              <a:rPr lang="zh-CN" altLang="zh-CN" dirty="0"/>
              <a:t>年</a:t>
            </a:r>
            <a:r>
              <a:rPr lang="en-US" altLang="zh-CN" dirty="0"/>
              <a:t> 2 </a:t>
            </a:r>
            <a:r>
              <a:rPr lang="zh-CN" altLang="zh-CN" dirty="0"/>
              <a:t>月，</a:t>
            </a:r>
            <a:r>
              <a:rPr lang="en-US" altLang="zh-CN" dirty="0"/>
              <a:t>IPv4 </a:t>
            </a:r>
            <a:r>
              <a:rPr lang="zh-CN" altLang="zh-CN" dirty="0"/>
              <a:t>的</a:t>
            </a:r>
            <a:r>
              <a:rPr lang="en-US" altLang="zh-CN" dirty="0"/>
              <a:t> 32 </a:t>
            </a:r>
            <a:r>
              <a:rPr lang="zh-CN" altLang="en-US" dirty="0"/>
              <a:t>位</a:t>
            </a:r>
            <a:r>
              <a:rPr lang="zh-CN" altLang="zh-CN" dirty="0"/>
              <a:t>地址已经耗尽</a:t>
            </a:r>
            <a:r>
              <a:rPr lang="zh-CN" altLang="en-US" dirty="0"/>
              <a:t>。</a:t>
            </a:r>
            <a:endParaRPr lang="en-US" altLang="zh-CN" dirty="0"/>
          </a:p>
          <a:p>
            <a:r>
              <a:rPr lang="en-US" altLang="zh-CN" dirty="0"/>
              <a:t>ISP </a:t>
            </a:r>
            <a:r>
              <a:rPr lang="zh-CN" altLang="zh-CN" dirty="0"/>
              <a:t>已经不能再申请到新的</a:t>
            </a:r>
            <a:r>
              <a:rPr lang="en-US" altLang="zh-CN" dirty="0"/>
              <a:t> IP </a:t>
            </a:r>
            <a:r>
              <a:rPr lang="zh-CN" altLang="zh-CN" dirty="0"/>
              <a:t>地址块了。</a:t>
            </a:r>
            <a:endParaRPr lang="en-US" altLang="zh-CN" dirty="0"/>
          </a:p>
          <a:p>
            <a:r>
              <a:rPr lang="zh-CN" altLang="zh-CN" dirty="0"/>
              <a:t>我国在</a:t>
            </a:r>
            <a:r>
              <a:rPr lang="en-US" altLang="zh-CN" dirty="0"/>
              <a:t> 2014 </a:t>
            </a:r>
            <a:r>
              <a:rPr lang="en-US" altLang="zh-CN" dirty="0">
                <a:latin typeface="Verdana"/>
              </a:rPr>
              <a:t>–</a:t>
            </a:r>
            <a:r>
              <a:rPr lang="en-US" altLang="zh-CN" dirty="0"/>
              <a:t> 2015 </a:t>
            </a:r>
            <a:r>
              <a:rPr lang="zh-CN" altLang="zh-CN" dirty="0"/>
              <a:t>年也逐步停止了向新用户和应用分配</a:t>
            </a:r>
            <a:r>
              <a:rPr lang="en-US" altLang="zh-CN" dirty="0"/>
              <a:t> IPv4 </a:t>
            </a:r>
            <a:r>
              <a:rPr lang="zh-CN" altLang="zh-CN" dirty="0"/>
              <a:t>地址</a:t>
            </a:r>
            <a:r>
              <a:rPr lang="zh-CN" altLang="en-US" dirty="0"/>
              <a:t>。</a:t>
            </a:r>
            <a:endParaRPr lang="en-US" altLang="zh-CN" dirty="0"/>
          </a:p>
          <a:p>
            <a:r>
              <a:rPr lang="zh-CN" altLang="zh-CN" dirty="0"/>
              <a:t>解决</a:t>
            </a:r>
            <a:r>
              <a:rPr lang="en-US" altLang="zh-CN" dirty="0"/>
              <a:t> IP </a:t>
            </a:r>
            <a:r>
              <a:rPr lang="zh-CN" altLang="zh-CN" dirty="0"/>
              <a:t>地址耗尽的根本措施就是采用具有更大地址空间的新版本的</a:t>
            </a:r>
            <a:r>
              <a:rPr lang="en-US" altLang="zh-CN" dirty="0"/>
              <a:t> IP</a:t>
            </a:r>
            <a:r>
              <a:rPr lang="zh-CN" altLang="zh-CN" dirty="0"/>
              <a:t>，即</a:t>
            </a:r>
            <a:r>
              <a:rPr lang="en-US" altLang="zh-CN" dirty="0"/>
              <a:t> IPv6</a:t>
            </a:r>
            <a:r>
              <a:rPr lang="zh-CN" altLang="zh-CN" dirty="0"/>
              <a:t>。</a:t>
            </a:r>
            <a:endParaRPr lang="zh-CN" altLang="en-US" dirty="0">
              <a:solidFill>
                <a:srgbClr val="0000CC"/>
              </a:solidFill>
            </a:endParaRPr>
          </a:p>
        </p:txBody>
      </p:sp>
    </p:spTree>
    <p:extLst>
      <p:ext uri="{BB962C8B-B14F-4D97-AF65-F5344CB8AC3E}">
        <p14:creationId xmlns:p14="http://schemas.microsoft.com/office/powerpoint/2010/main" val="305891440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 </a:t>
            </a:r>
            <a:r>
              <a:rPr lang="zh-CN" altLang="zh-CN" dirty="0"/>
              <a:t>的基本首部</a:t>
            </a:r>
            <a:endParaRPr lang="zh-CN" altLang="en-US" dirty="0"/>
          </a:p>
        </p:txBody>
      </p:sp>
      <p:sp>
        <p:nvSpPr>
          <p:cNvPr id="3" name="内容占位符 2"/>
          <p:cNvSpPr>
            <a:spLocks noGrp="1"/>
          </p:cNvSpPr>
          <p:nvPr>
            <p:ph idx="1"/>
          </p:nvPr>
        </p:nvSpPr>
        <p:spPr/>
        <p:txBody>
          <a:bodyPr/>
          <a:lstStyle/>
          <a:p>
            <a:pPr>
              <a:lnSpc>
                <a:spcPct val="100000"/>
              </a:lnSpc>
            </a:pPr>
            <a:r>
              <a:rPr lang="en-US" altLang="zh-CN" dirty="0"/>
              <a:t>IPv6 </a:t>
            </a:r>
            <a:r>
              <a:rPr lang="zh-CN" altLang="zh-CN" dirty="0"/>
              <a:t>仍支持</a:t>
            </a:r>
            <a:r>
              <a:rPr lang="zh-CN" altLang="zh-CN" dirty="0">
                <a:solidFill>
                  <a:srgbClr val="FF0000"/>
                </a:solidFill>
              </a:rPr>
              <a:t>无连接的传送，</a:t>
            </a:r>
            <a:r>
              <a:rPr lang="zh-CN" altLang="zh-CN" dirty="0"/>
              <a:t>但将协议数据单元</a:t>
            </a:r>
            <a:r>
              <a:rPr lang="en-US" altLang="zh-CN" dirty="0"/>
              <a:t> PDU </a:t>
            </a:r>
            <a:r>
              <a:rPr lang="zh-CN" altLang="zh-CN" dirty="0"/>
              <a:t>称为</a:t>
            </a:r>
            <a:r>
              <a:rPr lang="zh-CN" altLang="zh-CN" dirty="0">
                <a:solidFill>
                  <a:srgbClr val="FF0000"/>
                </a:solidFill>
              </a:rPr>
              <a:t>分组</a:t>
            </a:r>
            <a:r>
              <a:rPr lang="zh-CN" altLang="en-US" dirty="0">
                <a:solidFill>
                  <a:srgbClr val="FF0000"/>
                </a:solidFill>
              </a:rPr>
              <a:t>。</a:t>
            </a:r>
            <a:r>
              <a:rPr lang="zh-CN" altLang="zh-CN" dirty="0"/>
              <a:t>为方便起见，本书仍采用数据报这一名词</a:t>
            </a:r>
            <a:r>
              <a:rPr lang="zh-CN" altLang="en-US" dirty="0"/>
              <a:t>。</a:t>
            </a:r>
            <a:endParaRPr lang="en-US" altLang="zh-CN" dirty="0"/>
          </a:p>
          <a:p>
            <a:pPr>
              <a:lnSpc>
                <a:spcPct val="100000"/>
              </a:lnSpc>
            </a:pPr>
            <a:r>
              <a:rPr lang="zh-CN" altLang="en-US" dirty="0"/>
              <a:t>所引进的</a:t>
            </a:r>
            <a:r>
              <a:rPr lang="zh-CN" altLang="en-US" dirty="0">
                <a:solidFill>
                  <a:srgbClr val="FF0000"/>
                </a:solidFill>
              </a:rPr>
              <a:t>主要变化</a:t>
            </a:r>
            <a:r>
              <a:rPr lang="zh-CN" altLang="en-US" dirty="0"/>
              <a:t>如下：</a:t>
            </a:r>
            <a:endParaRPr lang="en-US" altLang="zh-CN" dirty="0"/>
          </a:p>
          <a:p>
            <a:pPr lvl="1">
              <a:lnSpc>
                <a:spcPct val="100000"/>
              </a:lnSpc>
            </a:pPr>
            <a:r>
              <a:rPr lang="zh-CN" altLang="en-US" dirty="0">
                <a:solidFill>
                  <a:srgbClr val="0000FF"/>
                </a:solidFill>
              </a:rPr>
              <a:t>更大的地址空间。</a:t>
            </a:r>
            <a:r>
              <a:rPr lang="en-US" altLang="zh-CN" dirty="0"/>
              <a:t>IPv6 </a:t>
            </a:r>
            <a:r>
              <a:rPr lang="zh-CN" altLang="en-US" dirty="0"/>
              <a:t>将地址从 </a:t>
            </a:r>
            <a:r>
              <a:rPr lang="en-US" altLang="zh-CN" dirty="0"/>
              <a:t>IPv4 </a:t>
            </a:r>
            <a:r>
              <a:rPr lang="zh-CN" altLang="en-US" dirty="0"/>
              <a:t>的 </a:t>
            </a:r>
            <a:r>
              <a:rPr lang="en-US" altLang="zh-CN" dirty="0"/>
              <a:t>32 </a:t>
            </a:r>
            <a:r>
              <a:rPr lang="zh-CN" altLang="en-US" dirty="0"/>
              <a:t>位 增大到了 </a:t>
            </a:r>
            <a:r>
              <a:rPr lang="en-US" altLang="zh-CN" dirty="0"/>
              <a:t>128 </a:t>
            </a:r>
            <a:r>
              <a:rPr lang="zh-CN" altLang="en-US" dirty="0"/>
              <a:t>位。 </a:t>
            </a:r>
          </a:p>
          <a:p>
            <a:pPr lvl="1">
              <a:lnSpc>
                <a:spcPct val="100000"/>
              </a:lnSpc>
            </a:pPr>
            <a:r>
              <a:rPr lang="zh-CN" altLang="en-US" dirty="0">
                <a:solidFill>
                  <a:srgbClr val="0000FF"/>
                </a:solidFill>
              </a:rPr>
              <a:t>扩展的地址层次结构。 </a:t>
            </a:r>
          </a:p>
          <a:p>
            <a:pPr lvl="1">
              <a:lnSpc>
                <a:spcPct val="100000"/>
              </a:lnSpc>
            </a:pPr>
            <a:r>
              <a:rPr lang="zh-CN" altLang="en-US" dirty="0">
                <a:solidFill>
                  <a:srgbClr val="0000FF"/>
                </a:solidFill>
              </a:rPr>
              <a:t>灵活的首部格式。 </a:t>
            </a:r>
            <a:r>
              <a:rPr lang="en-US" altLang="zh-CN" dirty="0"/>
              <a:t>IPv6 </a:t>
            </a:r>
            <a:r>
              <a:rPr lang="zh-CN" altLang="zh-CN" dirty="0"/>
              <a:t>定义了许多可选的扩展首部</a:t>
            </a:r>
            <a:r>
              <a:rPr lang="zh-CN" altLang="en-US" dirty="0"/>
              <a:t>。</a:t>
            </a:r>
          </a:p>
          <a:p>
            <a:pPr lvl="1">
              <a:lnSpc>
                <a:spcPct val="100000"/>
              </a:lnSpc>
            </a:pPr>
            <a:r>
              <a:rPr lang="zh-CN" altLang="en-US" dirty="0">
                <a:solidFill>
                  <a:srgbClr val="0000FF"/>
                </a:solidFill>
              </a:rPr>
              <a:t>改进的选项。 </a:t>
            </a:r>
            <a:r>
              <a:rPr lang="en-US" altLang="zh-CN" dirty="0"/>
              <a:t>IPv6 </a:t>
            </a:r>
            <a:r>
              <a:rPr lang="zh-CN" altLang="zh-CN" dirty="0"/>
              <a:t>允许数据报包含有选项的控制信息</a:t>
            </a:r>
            <a:r>
              <a:rPr lang="zh-CN" altLang="en-US" dirty="0"/>
              <a:t>，</a:t>
            </a:r>
            <a:r>
              <a:rPr lang="zh-CN" altLang="zh-CN" dirty="0"/>
              <a:t>其选项放在有效载荷中</a:t>
            </a:r>
            <a:r>
              <a:rPr lang="zh-CN" altLang="en-US" dirty="0"/>
              <a:t>。</a:t>
            </a:r>
            <a:endParaRPr lang="en-US" altLang="zh-CN" dirty="0"/>
          </a:p>
          <a:p>
            <a:pPr>
              <a:lnSpc>
                <a:spcPct val="100000"/>
              </a:lnSpc>
            </a:pPr>
            <a:endParaRPr lang="zh-CN" altLang="en-US" dirty="0"/>
          </a:p>
        </p:txBody>
      </p:sp>
    </p:spTree>
    <p:extLst>
      <p:ext uri="{BB962C8B-B14F-4D97-AF65-F5344CB8AC3E}">
        <p14:creationId xmlns:p14="http://schemas.microsoft.com/office/powerpoint/2010/main" val="32848964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 </a:t>
            </a:r>
            <a:r>
              <a:rPr lang="zh-CN" altLang="zh-CN" dirty="0"/>
              <a:t>的基本首部</a:t>
            </a:r>
            <a:endParaRPr lang="zh-CN" altLang="en-US" dirty="0"/>
          </a:p>
        </p:txBody>
      </p:sp>
      <p:sp>
        <p:nvSpPr>
          <p:cNvPr id="3" name="内容占位符 2"/>
          <p:cNvSpPr>
            <a:spLocks noGrp="1"/>
          </p:cNvSpPr>
          <p:nvPr>
            <p:ph idx="1"/>
          </p:nvPr>
        </p:nvSpPr>
        <p:spPr/>
        <p:txBody>
          <a:bodyPr/>
          <a:lstStyle/>
          <a:p>
            <a:r>
              <a:rPr lang="zh-CN" altLang="en-US" dirty="0"/>
              <a:t>所引进的主要变化如下（续）：</a:t>
            </a:r>
            <a:endParaRPr lang="en-US" altLang="zh-CN" dirty="0"/>
          </a:p>
          <a:p>
            <a:pPr lvl="1"/>
            <a:r>
              <a:rPr lang="zh-CN" altLang="en-US" dirty="0">
                <a:solidFill>
                  <a:srgbClr val="0000FF"/>
                </a:solidFill>
              </a:rPr>
              <a:t>允许协议继续扩充。</a:t>
            </a:r>
            <a:r>
              <a:rPr lang="zh-CN" altLang="en-US" dirty="0"/>
              <a:t> </a:t>
            </a:r>
          </a:p>
          <a:p>
            <a:pPr lvl="1"/>
            <a:r>
              <a:rPr lang="zh-CN" altLang="en-US" dirty="0">
                <a:solidFill>
                  <a:srgbClr val="0000FF"/>
                </a:solidFill>
              </a:rPr>
              <a:t>支持即插即用（即自动配置）。</a:t>
            </a:r>
            <a:r>
              <a:rPr lang="zh-CN" altLang="zh-CN" dirty="0"/>
              <a:t>因此</a:t>
            </a:r>
            <a:r>
              <a:rPr lang="en-US" altLang="zh-CN" dirty="0"/>
              <a:t> IPv6 </a:t>
            </a:r>
            <a:r>
              <a:rPr lang="zh-CN" altLang="zh-CN" dirty="0"/>
              <a:t>不需要使用</a:t>
            </a:r>
            <a:r>
              <a:rPr lang="en-US" altLang="zh-CN" dirty="0"/>
              <a:t> DHCP</a:t>
            </a:r>
            <a:r>
              <a:rPr lang="zh-CN" altLang="zh-CN" dirty="0"/>
              <a:t>。</a:t>
            </a:r>
            <a:endParaRPr lang="zh-CN" altLang="en-US" dirty="0"/>
          </a:p>
          <a:p>
            <a:pPr lvl="1"/>
            <a:r>
              <a:rPr lang="zh-CN" altLang="en-US" dirty="0">
                <a:solidFill>
                  <a:srgbClr val="0000FF"/>
                </a:solidFill>
              </a:rPr>
              <a:t>支持资源的预分配。  </a:t>
            </a:r>
            <a:r>
              <a:rPr lang="en-US" altLang="zh-CN" dirty="0"/>
              <a:t>IPv6 </a:t>
            </a:r>
            <a:r>
              <a:rPr lang="zh-CN" altLang="zh-CN" dirty="0"/>
              <a:t>支持实时视像等要求</a:t>
            </a:r>
            <a:r>
              <a:rPr lang="zh-CN" altLang="en-US" dirty="0">
                <a:solidFill>
                  <a:srgbClr val="00B050"/>
                </a:solidFill>
              </a:rPr>
              <a:t>，</a:t>
            </a:r>
            <a:r>
              <a:rPr lang="zh-CN" altLang="zh-CN" dirty="0"/>
              <a:t>保证一定的带宽和时延的应用。</a:t>
            </a:r>
            <a:endParaRPr lang="en-US" altLang="zh-CN" dirty="0"/>
          </a:p>
          <a:p>
            <a:pPr lvl="1"/>
            <a:r>
              <a:rPr lang="en-US" altLang="zh-CN" dirty="0">
                <a:solidFill>
                  <a:srgbClr val="0000FF"/>
                </a:solidFill>
              </a:rPr>
              <a:t>IPv6 </a:t>
            </a:r>
            <a:r>
              <a:rPr lang="zh-CN" altLang="zh-CN" dirty="0">
                <a:solidFill>
                  <a:srgbClr val="0000FF"/>
                </a:solidFill>
              </a:rPr>
              <a:t>首部改为</a:t>
            </a:r>
            <a:r>
              <a:rPr lang="en-US" altLang="zh-CN" dirty="0">
                <a:solidFill>
                  <a:srgbClr val="0000FF"/>
                </a:solidFill>
              </a:rPr>
              <a:t> 8 </a:t>
            </a:r>
            <a:r>
              <a:rPr lang="zh-CN" altLang="zh-CN" dirty="0">
                <a:solidFill>
                  <a:srgbClr val="0000FF"/>
                </a:solidFill>
              </a:rPr>
              <a:t>字节对齐</a:t>
            </a:r>
            <a:r>
              <a:rPr lang="zh-CN" altLang="en-US" dirty="0">
                <a:solidFill>
                  <a:srgbClr val="0000FF"/>
                </a:solidFill>
              </a:rPr>
              <a:t>。</a:t>
            </a:r>
            <a:r>
              <a:rPr lang="zh-CN" altLang="zh-CN" dirty="0"/>
              <a:t>首部长度必须是</a:t>
            </a:r>
            <a:r>
              <a:rPr lang="en-US" altLang="zh-CN" dirty="0"/>
              <a:t> 8 </a:t>
            </a:r>
            <a:r>
              <a:rPr lang="zh-CN" altLang="zh-CN" dirty="0"/>
              <a:t>字节的整数倍。原来的</a:t>
            </a:r>
            <a:r>
              <a:rPr lang="en-US" altLang="zh-CN" dirty="0"/>
              <a:t> IPv4 </a:t>
            </a:r>
            <a:r>
              <a:rPr lang="zh-CN" altLang="zh-CN" dirty="0"/>
              <a:t>首部是</a:t>
            </a:r>
            <a:r>
              <a:rPr lang="en-US" altLang="zh-CN" dirty="0"/>
              <a:t> 4 </a:t>
            </a:r>
            <a:r>
              <a:rPr lang="zh-CN" altLang="zh-CN" dirty="0"/>
              <a:t>字节对齐。</a:t>
            </a:r>
            <a:endParaRPr lang="en-US" altLang="zh-CN" dirty="0"/>
          </a:p>
          <a:p>
            <a:endParaRPr lang="zh-CN" altLang="zh-CN" dirty="0"/>
          </a:p>
          <a:p>
            <a:pPr lvl="1"/>
            <a:endParaRPr lang="zh-CN" altLang="en-US" dirty="0"/>
          </a:p>
          <a:p>
            <a:pPr lvl="1"/>
            <a:endParaRPr lang="en-US" altLang="zh-CN" dirty="0"/>
          </a:p>
          <a:p>
            <a:endParaRPr lang="zh-CN" altLang="en-US" dirty="0"/>
          </a:p>
        </p:txBody>
      </p:sp>
    </p:spTree>
    <p:extLst>
      <p:ext uri="{BB962C8B-B14F-4D97-AF65-F5344CB8AC3E}">
        <p14:creationId xmlns:p14="http://schemas.microsoft.com/office/powerpoint/2010/main" val="18136246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IPv6 </a:t>
            </a:r>
            <a:r>
              <a:rPr lang="zh-CN" altLang="zh-CN" dirty="0"/>
              <a:t>数据报</a:t>
            </a:r>
            <a:r>
              <a:rPr lang="zh-CN" altLang="en-US" dirty="0"/>
              <a:t>的一般形式</a:t>
            </a:r>
          </a:p>
        </p:txBody>
      </p:sp>
      <p:sp>
        <p:nvSpPr>
          <p:cNvPr id="3" name="内容占位符 2"/>
          <p:cNvSpPr>
            <a:spLocks noGrp="1"/>
          </p:cNvSpPr>
          <p:nvPr>
            <p:ph idx="1"/>
          </p:nvPr>
        </p:nvSpPr>
        <p:spPr/>
        <p:txBody>
          <a:bodyPr/>
          <a:lstStyle/>
          <a:p>
            <a:r>
              <a:rPr lang="en-US" altLang="zh-CN" sz="2800" dirty="0"/>
              <a:t>IPv6 </a:t>
            </a:r>
            <a:r>
              <a:rPr lang="zh-CN" altLang="zh-CN" sz="2800" dirty="0"/>
              <a:t>数据报由两大部分组成</a:t>
            </a:r>
            <a:r>
              <a:rPr lang="zh-CN" altLang="en-US" sz="2800" dirty="0"/>
              <a:t>：</a:t>
            </a:r>
            <a:endParaRPr lang="en-US" altLang="zh-CN" sz="2800" dirty="0"/>
          </a:p>
          <a:p>
            <a:pPr lvl="1"/>
            <a:r>
              <a:rPr lang="zh-CN" altLang="zh-CN" sz="2400" dirty="0">
                <a:solidFill>
                  <a:srgbClr val="FF0000"/>
                </a:solidFill>
              </a:rPr>
              <a:t>基本首部</a:t>
            </a:r>
            <a:r>
              <a:rPr lang="en-US" altLang="zh-CN" sz="2400" dirty="0">
                <a:solidFill>
                  <a:srgbClr val="FF0000"/>
                </a:solidFill>
              </a:rPr>
              <a:t> </a:t>
            </a:r>
            <a:r>
              <a:rPr lang="en-US" altLang="zh-CN" sz="2400" dirty="0"/>
              <a:t>(base header)</a:t>
            </a:r>
          </a:p>
          <a:p>
            <a:pPr lvl="1"/>
            <a:r>
              <a:rPr lang="zh-CN" altLang="zh-CN" sz="2400" dirty="0">
                <a:solidFill>
                  <a:srgbClr val="FF0000"/>
                </a:solidFill>
              </a:rPr>
              <a:t>有效载荷</a:t>
            </a:r>
            <a:r>
              <a:rPr lang="en-US" altLang="zh-CN" sz="2400" dirty="0"/>
              <a:t> (payload)</a:t>
            </a:r>
            <a:r>
              <a:rPr lang="zh-CN" altLang="zh-CN" sz="2400" dirty="0"/>
              <a:t>。有效载荷也称为净负荷。有效载荷允许有零个或多个扩展首部</a:t>
            </a:r>
            <a:r>
              <a:rPr lang="en-US" altLang="zh-CN" sz="2400" dirty="0"/>
              <a:t> (extension header)</a:t>
            </a:r>
            <a:r>
              <a:rPr lang="zh-CN" altLang="zh-CN" sz="2400" dirty="0"/>
              <a:t>，再后面是数据部分</a:t>
            </a:r>
            <a:r>
              <a:rPr lang="zh-CN" altLang="en-US" sz="2400" dirty="0"/>
              <a:t>。</a:t>
            </a:r>
          </a:p>
        </p:txBody>
      </p:sp>
      <p:sp>
        <p:nvSpPr>
          <p:cNvPr id="5" name="Rectangle 2"/>
          <p:cNvSpPr>
            <a:spLocks noChangeArrowheads="1"/>
          </p:cNvSpPr>
          <p:nvPr/>
        </p:nvSpPr>
        <p:spPr bwMode="auto">
          <a:xfrm>
            <a:off x="2373313" y="4005064"/>
            <a:ext cx="5830887" cy="530225"/>
          </a:xfrm>
          <a:prstGeom prst="rect">
            <a:avLst/>
          </a:prstGeom>
          <a:solidFill>
            <a:srgbClr val="FF66CC"/>
          </a:solidFill>
          <a:ln w="19050">
            <a:solidFill>
              <a:schemeClr val="tx1"/>
            </a:solidFill>
            <a:miter lim="800000"/>
            <a:headEnd/>
            <a:tailEnd/>
          </a:ln>
        </p:spPr>
        <p:txBody>
          <a:bodyPr wrap="none" anchor="ctr"/>
          <a:lstStyle/>
          <a:p>
            <a:endParaRPr lang="zh-CN" altLang="en-US" sz="2000" b="1">
              <a:solidFill>
                <a:srgbClr val="000099"/>
              </a:solidFill>
              <a:latin typeface="+mn-lt"/>
              <a:ea typeface="黑体" pitchFamily="2" charset="-122"/>
            </a:endParaRPr>
          </a:p>
        </p:txBody>
      </p:sp>
      <p:sp>
        <p:nvSpPr>
          <p:cNvPr id="6" name="Rectangle 30"/>
          <p:cNvSpPr>
            <a:spLocks noChangeArrowheads="1"/>
          </p:cNvSpPr>
          <p:nvPr/>
        </p:nvSpPr>
        <p:spPr bwMode="auto">
          <a:xfrm>
            <a:off x="3419475" y="4957886"/>
            <a:ext cx="4784725" cy="528638"/>
          </a:xfrm>
          <a:prstGeom prst="rect">
            <a:avLst/>
          </a:prstGeom>
          <a:solidFill>
            <a:srgbClr val="66FFFF"/>
          </a:solidFill>
          <a:ln w="9525">
            <a:solidFill>
              <a:schemeClr val="tx1"/>
            </a:solidFill>
            <a:miter lim="800000"/>
            <a:headEnd/>
            <a:tailEnd/>
          </a:ln>
        </p:spPr>
        <p:txBody>
          <a:bodyPr wrap="none" anchor="ctr"/>
          <a:lstStyle/>
          <a:p>
            <a:endParaRPr lang="zh-CN" altLang="en-US" sz="2000" b="1">
              <a:solidFill>
                <a:srgbClr val="000099"/>
              </a:solidFill>
              <a:latin typeface="+mn-lt"/>
              <a:ea typeface="黑体" pitchFamily="2" charset="-122"/>
            </a:endParaRPr>
          </a:p>
        </p:txBody>
      </p:sp>
      <p:sp>
        <p:nvSpPr>
          <p:cNvPr id="7" name="Line 3"/>
          <p:cNvSpPr>
            <a:spLocks noChangeShapeType="1"/>
          </p:cNvSpPr>
          <p:nvPr/>
        </p:nvSpPr>
        <p:spPr bwMode="auto">
          <a:xfrm>
            <a:off x="3414713" y="4965824"/>
            <a:ext cx="0" cy="53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8" name="Line 4"/>
          <p:cNvSpPr>
            <a:spLocks noChangeShapeType="1"/>
          </p:cNvSpPr>
          <p:nvPr/>
        </p:nvSpPr>
        <p:spPr bwMode="auto">
          <a:xfrm>
            <a:off x="4100513" y="4965824"/>
            <a:ext cx="0" cy="53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9" name="Line 5"/>
          <p:cNvSpPr>
            <a:spLocks noChangeShapeType="1"/>
          </p:cNvSpPr>
          <p:nvPr/>
        </p:nvSpPr>
        <p:spPr bwMode="auto">
          <a:xfrm>
            <a:off x="4533900" y="4965824"/>
            <a:ext cx="0" cy="53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10" name="Line 6"/>
          <p:cNvSpPr>
            <a:spLocks noChangeShapeType="1"/>
          </p:cNvSpPr>
          <p:nvPr/>
        </p:nvSpPr>
        <p:spPr bwMode="auto">
          <a:xfrm>
            <a:off x="5253038" y="4965824"/>
            <a:ext cx="0" cy="53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11" name="Text Box 15"/>
          <p:cNvSpPr txBox="1">
            <a:spLocks noChangeArrowheads="1"/>
          </p:cNvSpPr>
          <p:nvPr/>
        </p:nvSpPr>
        <p:spPr bwMode="auto">
          <a:xfrm>
            <a:off x="2318552" y="4130799"/>
            <a:ext cx="1114409" cy="34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lnSpc>
                <a:spcPct val="90000"/>
              </a:lnSpc>
            </a:pPr>
            <a:r>
              <a:rPr lang="zh-CN" altLang="en-US" sz="1800" b="1">
                <a:solidFill>
                  <a:srgbClr val="000099"/>
                </a:solidFill>
                <a:latin typeface="+mn-lt"/>
                <a:ea typeface="黑体" pitchFamily="2" charset="-122"/>
              </a:rPr>
              <a:t>基本首部</a:t>
            </a:r>
          </a:p>
        </p:txBody>
      </p:sp>
      <p:sp>
        <p:nvSpPr>
          <p:cNvPr id="12" name="Text Box 16"/>
          <p:cNvSpPr txBox="1">
            <a:spLocks noChangeArrowheads="1"/>
          </p:cNvSpPr>
          <p:nvPr/>
        </p:nvSpPr>
        <p:spPr bwMode="auto">
          <a:xfrm>
            <a:off x="3366382" y="4978524"/>
            <a:ext cx="76976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lnSpc>
                <a:spcPct val="90000"/>
              </a:lnSpc>
            </a:pPr>
            <a:r>
              <a:rPr lang="en-US" altLang="zh-CN" sz="1600" b="1" dirty="0">
                <a:solidFill>
                  <a:srgbClr val="000099"/>
                </a:solidFill>
                <a:latin typeface="+mn-lt"/>
                <a:ea typeface="黑体" pitchFamily="2" charset="-122"/>
              </a:rPr>
              <a:t> </a:t>
            </a:r>
            <a:r>
              <a:rPr lang="zh-CN" altLang="en-US" sz="1600" b="1" dirty="0">
                <a:solidFill>
                  <a:srgbClr val="000099"/>
                </a:solidFill>
                <a:latin typeface="+mn-lt"/>
                <a:ea typeface="黑体" pitchFamily="2" charset="-122"/>
              </a:rPr>
              <a:t>扩展</a:t>
            </a:r>
          </a:p>
          <a:p>
            <a:pPr algn="ctr" eaLnBrk="1" hangingPunct="1">
              <a:lnSpc>
                <a:spcPct val="90000"/>
              </a:lnSpc>
            </a:pPr>
            <a:r>
              <a:rPr lang="zh-CN" altLang="en-US" sz="1600" b="1" dirty="0">
                <a:solidFill>
                  <a:srgbClr val="000099"/>
                </a:solidFill>
                <a:latin typeface="+mn-lt"/>
                <a:ea typeface="黑体" pitchFamily="2" charset="-122"/>
              </a:rPr>
              <a:t>首部 </a:t>
            </a:r>
            <a:r>
              <a:rPr lang="en-US" altLang="zh-CN" sz="1600" b="1" dirty="0">
                <a:solidFill>
                  <a:srgbClr val="000099"/>
                </a:solidFill>
                <a:latin typeface="+mn-lt"/>
                <a:ea typeface="黑体" pitchFamily="2" charset="-122"/>
              </a:rPr>
              <a:t>1</a:t>
            </a:r>
          </a:p>
        </p:txBody>
      </p:sp>
      <p:sp>
        <p:nvSpPr>
          <p:cNvPr id="13" name="Text Box 17"/>
          <p:cNvSpPr txBox="1">
            <a:spLocks noChangeArrowheads="1"/>
          </p:cNvSpPr>
          <p:nvPr/>
        </p:nvSpPr>
        <p:spPr bwMode="auto">
          <a:xfrm>
            <a:off x="4451276" y="4965824"/>
            <a:ext cx="803425"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lnSpc>
                <a:spcPct val="90000"/>
              </a:lnSpc>
            </a:pPr>
            <a:r>
              <a:rPr lang="en-US" altLang="zh-CN" sz="1600" b="1" dirty="0">
                <a:solidFill>
                  <a:srgbClr val="000099"/>
                </a:solidFill>
                <a:latin typeface="+mn-lt"/>
                <a:ea typeface="黑体" pitchFamily="2" charset="-122"/>
              </a:rPr>
              <a:t> </a:t>
            </a:r>
            <a:r>
              <a:rPr lang="zh-CN" altLang="en-US" sz="1600" b="1" dirty="0">
                <a:solidFill>
                  <a:srgbClr val="000099"/>
                </a:solidFill>
                <a:latin typeface="+mn-lt"/>
                <a:ea typeface="黑体" pitchFamily="2" charset="-122"/>
              </a:rPr>
              <a:t>扩展</a:t>
            </a:r>
          </a:p>
          <a:p>
            <a:pPr algn="ctr" eaLnBrk="1" hangingPunct="1">
              <a:lnSpc>
                <a:spcPct val="90000"/>
              </a:lnSpc>
            </a:pPr>
            <a:r>
              <a:rPr lang="zh-CN" altLang="en-US" sz="1600" b="1" dirty="0">
                <a:solidFill>
                  <a:srgbClr val="000099"/>
                </a:solidFill>
                <a:latin typeface="+mn-lt"/>
                <a:ea typeface="黑体" pitchFamily="2" charset="-122"/>
              </a:rPr>
              <a:t>首部 </a:t>
            </a:r>
            <a:r>
              <a:rPr lang="en-US" altLang="zh-CN" sz="1600" b="1" dirty="0">
                <a:solidFill>
                  <a:srgbClr val="000099"/>
                </a:solidFill>
                <a:latin typeface="+mn-lt"/>
                <a:ea typeface="黑体" pitchFamily="2" charset="-122"/>
              </a:rPr>
              <a:t>N</a:t>
            </a:r>
          </a:p>
        </p:txBody>
      </p:sp>
      <p:sp>
        <p:nvSpPr>
          <p:cNvPr id="14" name="Text Box 18"/>
          <p:cNvSpPr txBox="1">
            <a:spLocks noChangeArrowheads="1"/>
          </p:cNvSpPr>
          <p:nvPr/>
        </p:nvSpPr>
        <p:spPr bwMode="auto">
          <a:xfrm>
            <a:off x="4100513" y="5030911"/>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1800" b="1" dirty="0">
                <a:solidFill>
                  <a:srgbClr val="000099"/>
                </a:solidFill>
                <a:latin typeface="+mn-lt"/>
                <a:ea typeface="黑体" pitchFamily="2" charset="-122"/>
              </a:rPr>
              <a:t> …</a:t>
            </a:r>
          </a:p>
        </p:txBody>
      </p:sp>
      <p:sp>
        <p:nvSpPr>
          <p:cNvPr id="15" name="Text Box 19"/>
          <p:cNvSpPr txBox="1">
            <a:spLocks noChangeArrowheads="1"/>
          </p:cNvSpPr>
          <p:nvPr/>
        </p:nvSpPr>
        <p:spPr bwMode="auto">
          <a:xfrm>
            <a:off x="5757863" y="5067424"/>
            <a:ext cx="2268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1800" b="1">
                <a:solidFill>
                  <a:srgbClr val="000099"/>
                </a:solidFill>
                <a:latin typeface="+mn-lt"/>
                <a:ea typeface="黑体" pitchFamily="2" charset="-122"/>
              </a:rPr>
              <a:t>数      据      部      分</a:t>
            </a:r>
          </a:p>
        </p:txBody>
      </p:sp>
      <p:sp>
        <p:nvSpPr>
          <p:cNvPr id="16" name="Line 22"/>
          <p:cNvSpPr>
            <a:spLocks noChangeShapeType="1"/>
          </p:cNvSpPr>
          <p:nvPr/>
        </p:nvSpPr>
        <p:spPr bwMode="auto">
          <a:xfrm>
            <a:off x="3381375" y="5678611"/>
            <a:ext cx="1871663"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17" name="Text Box 23"/>
          <p:cNvSpPr txBox="1">
            <a:spLocks noChangeArrowheads="1"/>
          </p:cNvSpPr>
          <p:nvPr/>
        </p:nvSpPr>
        <p:spPr bwMode="auto">
          <a:xfrm>
            <a:off x="4024313" y="5510336"/>
            <a:ext cx="649537"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1800" b="1">
                <a:solidFill>
                  <a:srgbClr val="000099"/>
                </a:solidFill>
                <a:latin typeface="+mn-lt"/>
                <a:ea typeface="黑体" pitchFamily="2" charset="-122"/>
              </a:rPr>
              <a:t>选项</a:t>
            </a:r>
          </a:p>
        </p:txBody>
      </p:sp>
      <p:grpSp>
        <p:nvGrpSpPr>
          <p:cNvPr id="18" name="组合 26"/>
          <p:cNvGrpSpPr>
            <a:grpSpLocks/>
          </p:cNvGrpSpPr>
          <p:nvPr/>
        </p:nvGrpSpPr>
        <p:grpSpPr bwMode="auto">
          <a:xfrm>
            <a:off x="2373313" y="3686299"/>
            <a:ext cx="5832475" cy="271462"/>
            <a:chOff x="1331640" y="1700808"/>
            <a:chExt cx="5832648" cy="344488"/>
          </a:xfrm>
        </p:grpSpPr>
        <p:sp>
          <p:nvSpPr>
            <p:cNvPr id="19" name="Line 25"/>
            <p:cNvSpPr>
              <a:spLocks noChangeShapeType="1"/>
            </p:cNvSpPr>
            <p:nvPr/>
          </p:nvSpPr>
          <p:spPr bwMode="auto">
            <a:xfrm>
              <a:off x="1331640" y="1700808"/>
              <a:ext cx="0" cy="338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20" name="Line 26"/>
            <p:cNvSpPr>
              <a:spLocks noChangeShapeType="1"/>
            </p:cNvSpPr>
            <p:nvPr/>
          </p:nvSpPr>
          <p:spPr bwMode="auto">
            <a:xfrm>
              <a:off x="7164288" y="1707158"/>
              <a:ext cx="0" cy="3381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grpSp>
      <p:sp>
        <p:nvSpPr>
          <p:cNvPr id="21" name="Line 27"/>
          <p:cNvSpPr>
            <a:spLocks noChangeShapeType="1"/>
          </p:cNvSpPr>
          <p:nvPr/>
        </p:nvSpPr>
        <p:spPr bwMode="auto">
          <a:xfrm flipV="1">
            <a:off x="2373313" y="3818060"/>
            <a:ext cx="5821361"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22" name="Text Box 28"/>
          <p:cNvSpPr txBox="1">
            <a:spLocks noChangeArrowheads="1"/>
          </p:cNvSpPr>
          <p:nvPr/>
        </p:nvSpPr>
        <p:spPr bwMode="auto">
          <a:xfrm>
            <a:off x="4632325" y="3573016"/>
            <a:ext cx="155683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2000" b="1" dirty="0">
                <a:solidFill>
                  <a:srgbClr val="000099"/>
                </a:solidFill>
                <a:latin typeface="+mn-lt"/>
                <a:ea typeface="黑体" pitchFamily="2" charset="-122"/>
              </a:rPr>
              <a:t>IPv6 </a:t>
            </a:r>
            <a:r>
              <a:rPr lang="zh-CN" altLang="en-US" sz="2000" b="1" dirty="0">
                <a:solidFill>
                  <a:srgbClr val="000099"/>
                </a:solidFill>
                <a:latin typeface="+mn-lt"/>
                <a:ea typeface="黑体" pitchFamily="2" charset="-122"/>
              </a:rPr>
              <a:t>数据报</a:t>
            </a:r>
          </a:p>
        </p:txBody>
      </p:sp>
      <p:cxnSp>
        <p:nvCxnSpPr>
          <p:cNvPr id="25" name="直接连接符 32"/>
          <p:cNvCxnSpPr>
            <a:cxnSpLocks noChangeShapeType="1"/>
          </p:cNvCxnSpPr>
          <p:nvPr/>
        </p:nvCxnSpPr>
        <p:spPr bwMode="auto">
          <a:xfrm>
            <a:off x="3411538" y="4570536"/>
            <a:ext cx="0" cy="431800"/>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6" name="直接连接符 34"/>
          <p:cNvCxnSpPr>
            <a:cxnSpLocks noChangeShapeType="1"/>
          </p:cNvCxnSpPr>
          <p:nvPr/>
        </p:nvCxnSpPr>
        <p:spPr bwMode="auto">
          <a:xfrm>
            <a:off x="8204200" y="4570536"/>
            <a:ext cx="0" cy="433388"/>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7" name="Text Box 23"/>
          <p:cNvSpPr txBox="1">
            <a:spLocks noChangeArrowheads="1"/>
          </p:cNvSpPr>
          <p:nvPr/>
        </p:nvSpPr>
        <p:spPr bwMode="auto">
          <a:xfrm>
            <a:off x="2432720" y="4557836"/>
            <a:ext cx="970137"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en-US" altLang="zh-CN" sz="1800" b="1" dirty="0">
                <a:solidFill>
                  <a:srgbClr val="000099"/>
                </a:solidFill>
                <a:latin typeface="+mn-lt"/>
                <a:ea typeface="黑体" pitchFamily="2" charset="-122"/>
              </a:rPr>
              <a:t>40 </a:t>
            </a:r>
            <a:r>
              <a:rPr lang="zh-CN" altLang="en-US" sz="1800" b="1" dirty="0">
                <a:solidFill>
                  <a:srgbClr val="000099"/>
                </a:solidFill>
                <a:latin typeface="+mn-lt"/>
                <a:ea typeface="黑体" pitchFamily="2" charset="-122"/>
              </a:rPr>
              <a:t>字节</a:t>
            </a:r>
          </a:p>
        </p:txBody>
      </p:sp>
      <p:sp>
        <p:nvSpPr>
          <p:cNvPr id="28" name="Line 27"/>
          <p:cNvSpPr>
            <a:spLocks noChangeShapeType="1"/>
          </p:cNvSpPr>
          <p:nvPr/>
        </p:nvSpPr>
        <p:spPr bwMode="auto">
          <a:xfrm>
            <a:off x="3417888" y="4761036"/>
            <a:ext cx="4787900" cy="4763"/>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29" name="Text Box 23"/>
          <p:cNvSpPr txBox="1">
            <a:spLocks noChangeArrowheads="1"/>
          </p:cNvSpPr>
          <p:nvPr/>
        </p:nvSpPr>
        <p:spPr bwMode="auto">
          <a:xfrm>
            <a:off x="4768850" y="4578474"/>
            <a:ext cx="2116285"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1800" b="1">
                <a:solidFill>
                  <a:srgbClr val="000099"/>
                </a:solidFill>
                <a:latin typeface="+mn-lt"/>
                <a:ea typeface="黑体" pitchFamily="2" charset="-122"/>
              </a:rPr>
              <a:t>不超过 </a:t>
            </a:r>
            <a:r>
              <a:rPr lang="en-US" altLang="zh-CN" sz="1800" b="1">
                <a:solidFill>
                  <a:srgbClr val="000099"/>
                </a:solidFill>
                <a:latin typeface="+mn-lt"/>
                <a:ea typeface="黑体" pitchFamily="2" charset="-122"/>
              </a:rPr>
              <a:t>65535 </a:t>
            </a:r>
            <a:r>
              <a:rPr lang="zh-CN" altLang="en-US" sz="1800" b="1">
                <a:solidFill>
                  <a:srgbClr val="000099"/>
                </a:solidFill>
                <a:latin typeface="+mn-lt"/>
                <a:ea typeface="黑体" pitchFamily="2" charset="-122"/>
              </a:rPr>
              <a:t>字节</a:t>
            </a:r>
          </a:p>
        </p:txBody>
      </p:sp>
      <p:sp>
        <p:nvSpPr>
          <p:cNvPr id="30" name="右箭头 28"/>
          <p:cNvSpPr>
            <a:spLocks noChangeArrowheads="1"/>
          </p:cNvSpPr>
          <p:nvPr/>
        </p:nvSpPr>
        <p:spPr bwMode="auto">
          <a:xfrm rot="10800000">
            <a:off x="1652587" y="4161904"/>
            <a:ext cx="720725" cy="203200"/>
          </a:xfrm>
          <a:prstGeom prst="rightArrow">
            <a:avLst>
              <a:gd name="adj1" fmla="val 50000"/>
              <a:gd name="adj2" fmla="val 162073"/>
            </a:avLst>
          </a:prstGeom>
          <a:solidFill>
            <a:srgbClr val="990000"/>
          </a:solidFill>
          <a:ln w="9525" algn="ctr">
            <a:solidFill>
              <a:schemeClr val="tx1"/>
            </a:solidFill>
            <a:round/>
            <a:headEnd/>
            <a:tailEnd/>
          </a:ln>
        </p:spPr>
        <p:txBody>
          <a:bodyPr/>
          <a:lstStyle/>
          <a:p>
            <a:endParaRPr lang="zh-CN" altLang="en-US" sz="2000" b="1">
              <a:solidFill>
                <a:srgbClr val="000099"/>
              </a:solidFill>
              <a:latin typeface="+mn-lt"/>
              <a:ea typeface="黑体" pitchFamily="2" charset="-122"/>
            </a:endParaRPr>
          </a:p>
        </p:txBody>
      </p:sp>
      <p:sp>
        <p:nvSpPr>
          <p:cNvPr id="31" name="Text Box 23"/>
          <p:cNvSpPr txBox="1">
            <a:spLocks noChangeArrowheads="1"/>
          </p:cNvSpPr>
          <p:nvPr/>
        </p:nvSpPr>
        <p:spPr bwMode="auto">
          <a:xfrm>
            <a:off x="1044088" y="4472431"/>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r>
              <a:rPr lang="zh-CN" altLang="en-US" sz="2000" b="1" dirty="0">
                <a:solidFill>
                  <a:srgbClr val="000099"/>
                </a:solidFill>
                <a:latin typeface="+mn-lt"/>
                <a:ea typeface="黑体" pitchFamily="2" charset="-122"/>
              </a:rPr>
              <a:t>发送在前</a:t>
            </a:r>
          </a:p>
        </p:txBody>
      </p:sp>
      <p:sp>
        <p:nvSpPr>
          <p:cNvPr id="24" name="Line 3"/>
          <p:cNvSpPr>
            <a:spLocks noChangeShapeType="1"/>
          </p:cNvSpPr>
          <p:nvPr/>
        </p:nvSpPr>
        <p:spPr bwMode="auto">
          <a:xfrm>
            <a:off x="3414713" y="4002211"/>
            <a:ext cx="0" cy="530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4" name="矩形 3"/>
          <p:cNvSpPr/>
          <p:nvPr/>
        </p:nvSpPr>
        <p:spPr bwMode="auto">
          <a:xfrm>
            <a:off x="3422650" y="4018086"/>
            <a:ext cx="4772025" cy="514350"/>
          </a:xfrm>
          <a:prstGeom prst="rect">
            <a:avLst/>
          </a:prstGeom>
          <a:solidFill>
            <a:srgbClr val="FFFF66"/>
          </a:solidFill>
          <a:ln w="9525" cap="flat" cmpd="sng" algn="ctr">
            <a:noFill/>
            <a:prstDash val="solid"/>
            <a:round/>
            <a:headEnd type="none" w="med" len="med"/>
            <a:tailEnd type="none" w="med" len="med"/>
          </a:ln>
          <a:effectLst/>
        </p:spPr>
        <p:txBody>
          <a:bodyPr/>
          <a:lstStyle/>
          <a:p>
            <a:pPr>
              <a:defRPr/>
            </a:pPr>
            <a:endParaRPr lang="zh-CN" altLang="en-US" sz="2000" b="1">
              <a:solidFill>
                <a:srgbClr val="000099"/>
              </a:solidFill>
              <a:latin typeface="+mn-lt"/>
              <a:ea typeface="黑体" pitchFamily="2" charset="-122"/>
            </a:endParaRPr>
          </a:p>
        </p:txBody>
      </p:sp>
      <p:sp>
        <p:nvSpPr>
          <p:cNvPr id="23" name="Text Box 33"/>
          <p:cNvSpPr txBox="1">
            <a:spLocks noChangeArrowheads="1"/>
          </p:cNvSpPr>
          <p:nvPr/>
        </p:nvSpPr>
        <p:spPr bwMode="auto">
          <a:xfrm>
            <a:off x="3872880" y="4109010"/>
            <a:ext cx="39982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r>
              <a:rPr lang="zh-CN" altLang="en-US" sz="2000" b="1" dirty="0">
                <a:solidFill>
                  <a:srgbClr val="000099"/>
                </a:solidFill>
                <a:latin typeface="+mn-lt"/>
                <a:ea typeface="黑体" pitchFamily="2" charset="-122"/>
              </a:rPr>
              <a:t>有         效         载         荷</a:t>
            </a:r>
          </a:p>
        </p:txBody>
      </p:sp>
      <p:sp>
        <p:nvSpPr>
          <p:cNvPr id="37" name="矩形 36"/>
          <p:cNvSpPr/>
          <p:nvPr/>
        </p:nvSpPr>
        <p:spPr>
          <a:xfrm>
            <a:off x="1044088" y="5795972"/>
            <a:ext cx="8445415" cy="461665"/>
          </a:xfrm>
          <a:prstGeom prst="rect">
            <a:avLst/>
          </a:prstGeom>
        </p:spPr>
        <p:txBody>
          <a:bodyPr wrap="square">
            <a:spAutoFit/>
          </a:bodyPr>
          <a:lstStyle/>
          <a:p>
            <a:pPr algn="ctr"/>
            <a:r>
              <a:rPr lang="zh-CN" altLang="zh-CN" sz="2400" b="1" dirty="0">
                <a:latin typeface="+mn-lt"/>
                <a:ea typeface="黑体" pitchFamily="2" charset="-122"/>
              </a:rPr>
              <a:t>具有多个可选扩展首部的</a:t>
            </a:r>
            <a:r>
              <a:rPr lang="en-US" altLang="zh-CN" sz="2400" b="1" dirty="0">
                <a:latin typeface="+mn-lt"/>
                <a:ea typeface="黑体" pitchFamily="2" charset="-122"/>
              </a:rPr>
              <a:t> IPv6 </a:t>
            </a:r>
            <a:r>
              <a:rPr lang="zh-CN" altLang="zh-CN" sz="2400" b="1" dirty="0">
                <a:latin typeface="+mn-lt"/>
                <a:ea typeface="黑体" pitchFamily="2" charset="-122"/>
              </a:rPr>
              <a:t>数据报的一般形式</a:t>
            </a:r>
            <a:endParaRPr lang="zh-CN" altLang="en-US" sz="2400" b="1" dirty="0">
              <a:latin typeface="+mn-lt"/>
              <a:ea typeface="黑体" pitchFamily="2" charset="-122"/>
            </a:endParaRPr>
          </a:p>
        </p:txBody>
      </p:sp>
    </p:spTree>
    <p:extLst>
      <p:ext uri="{BB962C8B-B14F-4D97-AF65-F5344CB8AC3E}">
        <p14:creationId xmlns:p14="http://schemas.microsoft.com/office/powerpoint/2010/main" val="7120400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2"/>
          <p:cNvSpPr>
            <a:spLocks noGrp="1" noChangeArrowheads="1"/>
          </p:cNvSpPr>
          <p:nvPr>
            <p:ph type="title"/>
          </p:nvPr>
        </p:nvSpPr>
        <p:spPr/>
        <p:txBody>
          <a:bodyPr/>
          <a:lstStyle/>
          <a:p>
            <a:pPr algn="ctr"/>
            <a:r>
              <a:rPr lang="en-US" altLang="zh-CN" dirty="0"/>
              <a:t>IPv6 </a:t>
            </a:r>
            <a:r>
              <a:rPr lang="zh-CN" altLang="en-US" dirty="0"/>
              <a:t>数据报的基本首部</a:t>
            </a:r>
          </a:p>
        </p:txBody>
      </p:sp>
      <p:sp>
        <p:nvSpPr>
          <p:cNvPr id="63283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en-US" altLang="zh-CN" sz="2800" dirty="0"/>
              <a:t>IPv6 </a:t>
            </a:r>
            <a:r>
              <a:rPr lang="zh-CN" altLang="en-US" sz="2800" dirty="0"/>
              <a:t>将首部长度变为</a:t>
            </a:r>
            <a:r>
              <a:rPr lang="zh-CN" altLang="en-US" sz="2800" dirty="0">
                <a:solidFill>
                  <a:srgbClr val="FF0000"/>
                </a:solidFill>
              </a:rPr>
              <a:t>固定的</a:t>
            </a:r>
            <a:r>
              <a:rPr lang="zh-CN" altLang="en-US" sz="2800" dirty="0"/>
              <a:t> </a:t>
            </a:r>
            <a:r>
              <a:rPr lang="en-US" altLang="zh-CN" sz="2800" dirty="0">
                <a:solidFill>
                  <a:srgbClr val="FF0000"/>
                </a:solidFill>
              </a:rPr>
              <a:t>40 </a:t>
            </a:r>
            <a:r>
              <a:rPr lang="zh-CN" altLang="en-US" sz="2800" dirty="0">
                <a:solidFill>
                  <a:srgbClr val="FF0000"/>
                </a:solidFill>
              </a:rPr>
              <a:t>字节，</a:t>
            </a:r>
            <a:r>
              <a:rPr lang="zh-CN" altLang="en-US" sz="2800" dirty="0"/>
              <a:t>称为</a:t>
            </a:r>
            <a:r>
              <a:rPr lang="zh-CN" altLang="en-US" sz="2800" dirty="0">
                <a:solidFill>
                  <a:srgbClr val="FF0000"/>
                </a:solidFill>
              </a:rPr>
              <a:t>基本首部。</a:t>
            </a:r>
            <a:endParaRPr lang="en-US" altLang="zh-CN" sz="2800" dirty="0">
              <a:solidFill>
                <a:srgbClr val="FF0000"/>
              </a:solidFill>
            </a:endParaRPr>
          </a:p>
          <a:p>
            <a:r>
              <a:rPr lang="zh-CN" altLang="zh-CN" sz="2800" dirty="0"/>
              <a:t>把首部中不必要的功能取消了，使得</a:t>
            </a:r>
            <a:r>
              <a:rPr lang="en-US" altLang="zh-CN" sz="2800" dirty="0"/>
              <a:t> IPv6 </a:t>
            </a:r>
            <a:r>
              <a:rPr lang="zh-CN" altLang="zh-CN" sz="2800" dirty="0"/>
              <a:t>首部的字段数减少到只有</a:t>
            </a:r>
            <a:r>
              <a:rPr lang="en-US" altLang="zh-CN" sz="2800" dirty="0"/>
              <a:t> 8 </a:t>
            </a:r>
            <a:r>
              <a:rPr lang="zh-CN" altLang="zh-CN" sz="2800" dirty="0"/>
              <a:t>个</a:t>
            </a:r>
            <a:r>
              <a:rPr lang="zh-CN" altLang="en-US" sz="2800" dirty="0"/>
              <a:t>。</a:t>
            </a:r>
            <a:endParaRPr lang="en-US" altLang="zh-CN" sz="2800" dirty="0"/>
          </a:p>
          <a:p>
            <a:r>
              <a:rPr lang="en-US" altLang="zh-CN" sz="2800" dirty="0"/>
              <a:t>IPv6 </a:t>
            </a:r>
            <a:r>
              <a:rPr lang="zh-CN" altLang="zh-CN" sz="2800" dirty="0"/>
              <a:t>对首部中的某些字段进行了如下的</a:t>
            </a:r>
            <a:r>
              <a:rPr lang="zh-CN" altLang="zh-CN" sz="2800" dirty="0">
                <a:solidFill>
                  <a:srgbClr val="FF0000"/>
                </a:solidFill>
              </a:rPr>
              <a:t>更改</a:t>
            </a:r>
            <a:r>
              <a:rPr lang="zh-CN" altLang="en-US" sz="2800" dirty="0">
                <a:solidFill>
                  <a:srgbClr val="FF0000"/>
                </a:solidFill>
              </a:rPr>
              <a:t>：</a:t>
            </a:r>
            <a:endParaRPr lang="en-US" altLang="zh-CN" sz="2800" dirty="0">
              <a:solidFill>
                <a:srgbClr val="FF0000"/>
              </a:solidFill>
            </a:endParaRPr>
          </a:p>
          <a:p>
            <a:pPr lvl="1"/>
            <a:endParaRPr lang="zh-CN" altLang="en-US" sz="2400" dirty="0"/>
          </a:p>
        </p:txBody>
      </p:sp>
      <p:graphicFrame>
        <p:nvGraphicFramePr>
          <p:cNvPr id="3" name="表格 2"/>
          <p:cNvGraphicFramePr>
            <a:graphicFrameLocks noGrp="1"/>
          </p:cNvGraphicFramePr>
          <p:nvPr>
            <p:extLst>
              <p:ext uri="{D42A27DB-BD31-4B8C-83A1-F6EECF244321}">
                <p14:modId xmlns:p14="http://schemas.microsoft.com/office/powerpoint/2010/main" val="1466922790"/>
              </p:ext>
            </p:extLst>
          </p:nvPr>
        </p:nvGraphicFramePr>
        <p:xfrm>
          <a:off x="848544" y="3356992"/>
          <a:ext cx="8640960" cy="2907792"/>
        </p:xfrm>
        <a:graphic>
          <a:graphicData uri="http://schemas.openxmlformats.org/drawingml/2006/table">
            <a:tbl>
              <a:tblPr firstRow="1" bandRow="1">
                <a:tableStyleId>{5C22544A-7EE6-4342-B048-85BDC9FD1C3A}</a:tableStyleId>
              </a:tblPr>
              <a:tblGrid>
                <a:gridCol w="4320480">
                  <a:extLst>
                    <a:ext uri="{9D8B030D-6E8A-4147-A177-3AD203B41FA5}">
                      <a16:colId xmlns:a16="http://schemas.microsoft.com/office/drawing/2014/main" val="20000"/>
                    </a:ext>
                  </a:extLst>
                </a:gridCol>
                <a:gridCol w="4320480">
                  <a:extLst>
                    <a:ext uri="{9D8B030D-6E8A-4147-A177-3AD203B41FA5}">
                      <a16:colId xmlns:a16="http://schemas.microsoft.com/office/drawing/2014/main" val="20001"/>
                    </a:ext>
                  </a:extLst>
                </a:gridCol>
              </a:tblGrid>
              <a:tr h="370840">
                <a:tc>
                  <a:txBody>
                    <a:bodyPr/>
                    <a:lstStyle/>
                    <a:p>
                      <a:pPr marL="342900" lvl="0" indent="-342900">
                        <a:lnSpc>
                          <a:spcPct val="110000"/>
                        </a:lnSpc>
                        <a:buSzPct val="80000"/>
                        <a:buFont typeface="Wingdings" pitchFamily="2" charset="2"/>
                        <a:buChar char="l"/>
                      </a:pPr>
                      <a:r>
                        <a:rPr lang="zh-CN" altLang="zh-CN" sz="2400" dirty="0">
                          <a:solidFill>
                            <a:srgbClr val="000099"/>
                          </a:solidFill>
                          <a:latin typeface="+mn-lt"/>
                          <a:ea typeface="黑体" pitchFamily="2" charset="-122"/>
                        </a:rPr>
                        <a:t>取消了首部长度字段</a:t>
                      </a:r>
                      <a:r>
                        <a:rPr lang="zh-CN" altLang="en-US" sz="2400" dirty="0">
                          <a:solidFill>
                            <a:srgbClr val="000099"/>
                          </a:solidFill>
                          <a:latin typeface="+mn-lt"/>
                          <a:ea typeface="黑体" pitchFamily="2" charset="-122"/>
                        </a:rPr>
                        <a:t>，</a:t>
                      </a:r>
                      <a:r>
                        <a:rPr lang="zh-CN" altLang="zh-CN" sz="2400" b="1" kern="1200" dirty="0">
                          <a:solidFill>
                            <a:srgbClr val="000099"/>
                          </a:solidFill>
                          <a:latin typeface="+mn-lt"/>
                          <a:ea typeface="黑体" pitchFamily="2" charset="-122"/>
                          <a:cs typeface="+mn-cs"/>
                        </a:rPr>
                        <a:t>因为首部长度是固定的</a:t>
                      </a:r>
                      <a:r>
                        <a:rPr lang="en-US" altLang="zh-CN" sz="2400" b="1" kern="1200" dirty="0">
                          <a:solidFill>
                            <a:srgbClr val="000099"/>
                          </a:solidFill>
                          <a:latin typeface="+mn-lt"/>
                          <a:ea typeface="黑体" pitchFamily="2" charset="-122"/>
                          <a:cs typeface="+mn-cs"/>
                        </a:rPr>
                        <a:t> 40 </a:t>
                      </a:r>
                      <a:r>
                        <a:rPr lang="zh-CN" altLang="zh-CN" sz="2400" b="1" kern="1200" dirty="0">
                          <a:solidFill>
                            <a:srgbClr val="000099"/>
                          </a:solidFill>
                          <a:latin typeface="+mn-lt"/>
                          <a:ea typeface="黑体" pitchFamily="2" charset="-122"/>
                          <a:cs typeface="+mn-cs"/>
                        </a:rPr>
                        <a:t>字节</a:t>
                      </a:r>
                      <a:r>
                        <a:rPr lang="zh-CN" altLang="en-US" sz="2400" b="1" kern="1200" dirty="0">
                          <a:solidFill>
                            <a:srgbClr val="000099"/>
                          </a:solidFill>
                          <a:latin typeface="+mn-lt"/>
                          <a:ea typeface="黑体" pitchFamily="2" charset="-122"/>
                          <a:cs typeface="+mn-cs"/>
                        </a:rPr>
                        <a:t>；</a:t>
                      </a:r>
                      <a:endParaRPr lang="en-US" altLang="zh-CN" sz="2400" b="1" kern="1200" dirty="0">
                        <a:solidFill>
                          <a:srgbClr val="000099"/>
                        </a:solidFill>
                        <a:latin typeface="+mn-lt"/>
                        <a:ea typeface="黑体" pitchFamily="2" charset="-122"/>
                        <a:cs typeface="+mn-cs"/>
                      </a:endParaRPr>
                    </a:p>
                    <a:p>
                      <a:pPr marL="342900" lvl="0" indent="-342900">
                        <a:lnSpc>
                          <a:spcPct val="110000"/>
                        </a:lnSpc>
                        <a:buSzPct val="80000"/>
                        <a:buFont typeface="Wingdings" pitchFamily="2" charset="2"/>
                        <a:buChar char="l"/>
                      </a:pPr>
                      <a:r>
                        <a:rPr lang="zh-CN" altLang="zh-CN" sz="2400" dirty="0">
                          <a:solidFill>
                            <a:srgbClr val="000099"/>
                          </a:solidFill>
                          <a:latin typeface="+mn-lt"/>
                          <a:ea typeface="黑体" pitchFamily="2" charset="-122"/>
                        </a:rPr>
                        <a:t>取消了服务类型字段</a:t>
                      </a:r>
                      <a:r>
                        <a:rPr lang="zh-CN" altLang="en-US" sz="2400" dirty="0">
                          <a:solidFill>
                            <a:srgbClr val="000099"/>
                          </a:solidFill>
                          <a:latin typeface="+mn-lt"/>
                          <a:ea typeface="黑体" pitchFamily="2" charset="-122"/>
                        </a:rPr>
                        <a:t>；</a:t>
                      </a:r>
                      <a:endParaRPr lang="en-US" altLang="zh-CN" sz="2400" dirty="0">
                        <a:solidFill>
                          <a:srgbClr val="000099"/>
                        </a:solidFill>
                        <a:latin typeface="+mn-lt"/>
                        <a:ea typeface="黑体" pitchFamily="2" charset="-122"/>
                      </a:endParaRPr>
                    </a:p>
                    <a:p>
                      <a:pPr marL="342900" lvl="0" indent="-342900">
                        <a:lnSpc>
                          <a:spcPct val="110000"/>
                        </a:lnSpc>
                        <a:buSzPct val="80000"/>
                        <a:buFont typeface="Wingdings" pitchFamily="2" charset="2"/>
                        <a:buChar char="l"/>
                      </a:pPr>
                      <a:r>
                        <a:rPr lang="zh-CN" altLang="zh-CN" sz="2400" dirty="0">
                          <a:solidFill>
                            <a:srgbClr val="000099"/>
                          </a:solidFill>
                          <a:latin typeface="+mn-lt"/>
                          <a:ea typeface="黑体" pitchFamily="2" charset="-122"/>
                        </a:rPr>
                        <a:t>取消了总长度字段</a:t>
                      </a:r>
                      <a:r>
                        <a:rPr lang="zh-CN" altLang="en-US" sz="2400" dirty="0">
                          <a:solidFill>
                            <a:srgbClr val="000099"/>
                          </a:solidFill>
                          <a:latin typeface="+mn-lt"/>
                          <a:ea typeface="黑体" pitchFamily="2" charset="-122"/>
                        </a:rPr>
                        <a:t>，</a:t>
                      </a:r>
                      <a:r>
                        <a:rPr lang="zh-CN" altLang="zh-CN" sz="2400" dirty="0">
                          <a:solidFill>
                            <a:srgbClr val="000099"/>
                          </a:solidFill>
                          <a:latin typeface="+mn-lt"/>
                          <a:ea typeface="黑体" pitchFamily="2" charset="-122"/>
                        </a:rPr>
                        <a:t>改用有效载荷长度字段</a:t>
                      </a:r>
                      <a:r>
                        <a:rPr lang="zh-CN" altLang="en-US" sz="2400" dirty="0">
                          <a:solidFill>
                            <a:srgbClr val="000099"/>
                          </a:solidFill>
                          <a:latin typeface="+mn-lt"/>
                          <a:ea typeface="黑体" pitchFamily="2" charset="-122"/>
                        </a:rPr>
                        <a:t>；</a:t>
                      </a:r>
                      <a:endParaRPr lang="en-US" altLang="zh-CN" sz="2400" dirty="0">
                        <a:solidFill>
                          <a:srgbClr val="000099"/>
                        </a:solidFill>
                        <a:latin typeface="+mn-lt"/>
                        <a:ea typeface="黑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marL="342900" marR="0" lvl="0" indent="-342900" algn="l" defTabSz="914400" rtl="0" eaLnBrk="1" fontAlgn="auto" latinLnBrk="0" hangingPunct="1">
                        <a:lnSpc>
                          <a:spcPct val="110000"/>
                        </a:lnSpc>
                        <a:spcBef>
                          <a:spcPts val="0"/>
                        </a:spcBef>
                        <a:spcAft>
                          <a:spcPts val="0"/>
                        </a:spcAft>
                        <a:buClrTx/>
                        <a:buSzPct val="80000"/>
                        <a:buFont typeface="Wingdings" pitchFamily="2" charset="2"/>
                        <a:buChar char="l"/>
                        <a:tabLst/>
                        <a:defRPr/>
                      </a:pPr>
                      <a:r>
                        <a:rPr lang="zh-CN" altLang="zh-CN" sz="2400" dirty="0">
                          <a:solidFill>
                            <a:srgbClr val="000099"/>
                          </a:solidFill>
                          <a:latin typeface="+mn-lt"/>
                          <a:ea typeface="黑体" pitchFamily="2" charset="-122"/>
                        </a:rPr>
                        <a:t>把</a:t>
                      </a:r>
                      <a:r>
                        <a:rPr lang="en-US" altLang="zh-CN" sz="2400" dirty="0">
                          <a:solidFill>
                            <a:srgbClr val="000099"/>
                          </a:solidFill>
                          <a:latin typeface="+mn-lt"/>
                          <a:ea typeface="黑体" pitchFamily="2" charset="-122"/>
                        </a:rPr>
                        <a:t> TTL </a:t>
                      </a:r>
                      <a:r>
                        <a:rPr lang="zh-CN" altLang="zh-CN" sz="2400" dirty="0">
                          <a:solidFill>
                            <a:srgbClr val="000099"/>
                          </a:solidFill>
                          <a:latin typeface="+mn-lt"/>
                          <a:ea typeface="黑体" pitchFamily="2" charset="-122"/>
                        </a:rPr>
                        <a:t>字段改称为跳数限制字段</a:t>
                      </a:r>
                      <a:r>
                        <a:rPr lang="zh-CN" altLang="en-US" sz="2400" dirty="0">
                          <a:solidFill>
                            <a:srgbClr val="000099"/>
                          </a:solidFill>
                          <a:latin typeface="+mn-lt"/>
                          <a:ea typeface="黑体" pitchFamily="2" charset="-122"/>
                        </a:rPr>
                        <a:t>；</a:t>
                      </a:r>
                      <a:endParaRPr lang="en-US" altLang="zh-CN" sz="2400" dirty="0">
                        <a:solidFill>
                          <a:srgbClr val="000099"/>
                        </a:solidFill>
                        <a:latin typeface="+mn-lt"/>
                        <a:ea typeface="黑体" pitchFamily="2" charset="-122"/>
                      </a:endParaRPr>
                    </a:p>
                    <a:p>
                      <a:pPr marL="342900" lvl="0" indent="-342900">
                        <a:lnSpc>
                          <a:spcPct val="110000"/>
                        </a:lnSpc>
                        <a:buSzPct val="80000"/>
                        <a:buFont typeface="Wingdings" pitchFamily="2" charset="2"/>
                        <a:buChar char="l"/>
                      </a:pPr>
                      <a:r>
                        <a:rPr lang="zh-CN" altLang="zh-CN" sz="2400" dirty="0">
                          <a:solidFill>
                            <a:srgbClr val="000099"/>
                          </a:solidFill>
                          <a:latin typeface="+mn-lt"/>
                          <a:ea typeface="黑体" pitchFamily="2" charset="-122"/>
                        </a:rPr>
                        <a:t>取消了协议字段，改用下一个首部字段</a:t>
                      </a:r>
                      <a:r>
                        <a:rPr lang="zh-CN" altLang="en-US" sz="2400" dirty="0">
                          <a:solidFill>
                            <a:srgbClr val="000099"/>
                          </a:solidFill>
                          <a:latin typeface="+mn-lt"/>
                          <a:ea typeface="黑体" pitchFamily="2" charset="-122"/>
                        </a:rPr>
                        <a:t>；</a:t>
                      </a:r>
                      <a:endParaRPr lang="en-US" altLang="zh-CN" sz="2400" dirty="0">
                        <a:solidFill>
                          <a:srgbClr val="000099"/>
                        </a:solidFill>
                        <a:latin typeface="+mn-lt"/>
                        <a:ea typeface="黑体" pitchFamily="2" charset="-122"/>
                      </a:endParaRPr>
                    </a:p>
                    <a:p>
                      <a:pPr marL="342900" lvl="0" indent="-342900">
                        <a:lnSpc>
                          <a:spcPct val="110000"/>
                        </a:lnSpc>
                        <a:buSzPct val="80000"/>
                        <a:buFont typeface="Wingdings" pitchFamily="2" charset="2"/>
                        <a:buChar char="l"/>
                      </a:pPr>
                      <a:r>
                        <a:rPr lang="zh-CN" altLang="zh-CN" sz="2400" dirty="0">
                          <a:solidFill>
                            <a:srgbClr val="000099"/>
                          </a:solidFill>
                          <a:latin typeface="+mn-lt"/>
                          <a:ea typeface="黑体" pitchFamily="2" charset="-122"/>
                        </a:rPr>
                        <a:t>取消了检验和字段</a:t>
                      </a:r>
                      <a:r>
                        <a:rPr lang="zh-CN" altLang="en-US" sz="2400" dirty="0">
                          <a:solidFill>
                            <a:srgbClr val="000099"/>
                          </a:solidFill>
                          <a:latin typeface="+mn-lt"/>
                          <a:ea typeface="黑体" pitchFamily="2" charset="-122"/>
                        </a:rPr>
                        <a:t>；</a:t>
                      </a:r>
                      <a:endParaRPr lang="en-US" altLang="zh-CN" sz="2400" dirty="0">
                        <a:solidFill>
                          <a:srgbClr val="000099"/>
                        </a:solidFill>
                        <a:latin typeface="+mn-lt"/>
                        <a:ea typeface="黑体" pitchFamily="2" charset="-122"/>
                      </a:endParaRPr>
                    </a:p>
                    <a:p>
                      <a:pPr marL="342900" lvl="0" indent="-342900">
                        <a:lnSpc>
                          <a:spcPct val="110000"/>
                        </a:lnSpc>
                        <a:buSzPct val="80000"/>
                        <a:buFont typeface="Wingdings" pitchFamily="2" charset="2"/>
                        <a:buChar char="l"/>
                      </a:pPr>
                      <a:r>
                        <a:rPr lang="zh-CN" altLang="zh-CN" sz="2400" dirty="0">
                          <a:solidFill>
                            <a:srgbClr val="000099"/>
                          </a:solidFill>
                          <a:latin typeface="+mn-lt"/>
                          <a:ea typeface="黑体" pitchFamily="2" charset="-122"/>
                        </a:rPr>
                        <a:t>取消了选项字段，而用扩展首部来实现选项功能。</a:t>
                      </a:r>
                      <a:endParaRPr lang="zh-CN" altLang="en-US" sz="2400" dirty="0">
                        <a:solidFill>
                          <a:srgbClr val="000099"/>
                        </a:solidFill>
                        <a:latin typeface="+mn-lt"/>
                        <a:ea typeface="黑体" pitchFamily="2" charset="-122"/>
                      </a:endParaRPr>
                    </a:p>
                  </a:txBody>
                  <a:tcPr marL="180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863297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5676900"/>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37" name="Line 35"/>
          <p:cNvSpPr>
            <a:spLocks noChangeShapeType="1"/>
          </p:cNvSpPr>
          <p:nvPr/>
        </p:nvSpPr>
        <p:spPr bwMode="auto">
          <a:xfrm>
            <a:off x="1778893" y="4701332"/>
            <a:ext cx="730567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8" name="Rectangle 36"/>
          <p:cNvSpPr>
            <a:spLocks noChangeArrowheads="1"/>
          </p:cNvSpPr>
          <p:nvPr/>
        </p:nvSpPr>
        <p:spPr bwMode="auto">
          <a:xfrm>
            <a:off x="1794768" y="4718794"/>
            <a:ext cx="7272337" cy="1463675"/>
          </a:xfrm>
          <a:prstGeom prst="rect">
            <a:avLst/>
          </a:prstGeom>
          <a:solidFill>
            <a:srgbClr val="CCECFF"/>
          </a:solidFill>
          <a:ln w="1270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9" name="Rectangle 37"/>
          <p:cNvSpPr>
            <a:spLocks noChangeArrowheads="1"/>
          </p:cNvSpPr>
          <p:nvPr/>
        </p:nvSpPr>
        <p:spPr bwMode="auto">
          <a:xfrm>
            <a:off x="3261618" y="4829919"/>
            <a:ext cx="4809010" cy="52065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800" b="1" dirty="0">
                <a:solidFill>
                  <a:srgbClr val="0000CC"/>
                </a:solidFill>
                <a:latin typeface="+mn-lt"/>
                <a:ea typeface="黑体" pitchFamily="2" charset="-122"/>
              </a:rPr>
              <a:t>有效载荷（扩展首部 </a:t>
            </a:r>
            <a:r>
              <a:rPr kumimoji="1" lang="en-US" altLang="zh-CN" sz="2800" b="1" dirty="0">
                <a:solidFill>
                  <a:srgbClr val="0000CC"/>
                </a:solidFill>
                <a:latin typeface="+mn-lt"/>
                <a:ea typeface="黑体" pitchFamily="2" charset="-122"/>
              </a:rPr>
              <a:t>/ </a:t>
            </a:r>
            <a:r>
              <a:rPr kumimoji="1" lang="zh-CN" altLang="en-US" sz="2800" b="1" dirty="0">
                <a:solidFill>
                  <a:srgbClr val="0000CC"/>
                </a:solidFill>
                <a:latin typeface="+mn-lt"/>
                <a:ea typeface="黑体" pitchFamily="2" charset="-122"/>
              </a:rPr>
              <a:t>数据）</a:t>
            </a:r>
          </a:p>
        </p:txBody>
      </p:sp>
      <p:sp>
        <p:nvSpPr>
          <p:cNvPr id="40" name="Freeform 38"/>
          <p:cNvSpPr>
            <a:spLocks/>
          </p:cNvSpPr>
          <p:nvPr/>
        </p:nvSpPr>
        <p:spPr bwMode="auto">
          <a:xfrm>
            <a:off x="1696343" y="5366494"/>
            <a:ext cx="7577137" cy="312738"/>
          </a:xfrm>
          <a:custGeom>
            <a:avLst/>
            <a:gdLst>
              <a:gd name="T0" fmla="*/ 0 w 4778"/>
              <a:gd name="T1" fmla="*/ 203 h 214"/>
              <a:gd name="T2" fmla="*/ 475 w 4778"/>
              <a:gd name="T3" fmla="*/ 34 h 214"/>
              <a:gd name="T4" fmla="*/ 926 w 4778"/>
              <a:gd name="T5" fmla="*/ 214 h 214"/>
              <a:gd name="T6" fmla="*/ 1265 w 4778"/>
              <a:gd name="T7" fmla="*/ 113 h 214"/>
              <a:gd name="T8" fmla="*/ 1717 w 4778"/>
              <a:gd name="T9" fmla="*/ 214 h 214"/>
              <a:gd name="T10" fmla="*/ 2056 w 4778"/>
              <a:gd name="T11" fmla="*/ 68 h 214"/>
              <a:gd name="T12" fmla="*/ 2361 w 4778"/>
              <a:gd name="T13" fmla="*/ 169 h 214"/>
              <a:gd name="T14" fmla="*/ 2677 w 4778"/>
              <a:gd name="T15" fmla="*/ 68 h 214"/>
              <a:gd name="T16" fmla="*/ 2869 w 4778"/>
              <a:gd name="T17" fmla="*/ 180 h 214"/>
              <a:gd name="T18" fmla="*/ 3332 w 4778"/>
              <a:gd name="T19" fmla="*/ 11 h 214"/>
              <a:gd name="T20" fmla="*/ 3818 w 4778"/>
              <a:gd name="T21" fmla="*/ 192 h 214"/>
              <a:gd name="T22" fmla="*/ 3908 w 4778"/>
              <a:gd name="T23" fmla="*/ 11 h 214"/>
              <a:gd name="T24" fmla="*/ 4089 w 4778"/>
              <a:gd name="T25" fmla="*/ 180 h 214"/>
              <a:gd name="T26" fmla="*/ 4303 w 4778"/>
              <a:gd name="T27" fmla="*/ 11 h 214"/>
              <a:gd name="T28" fmla="*/ 4507 w 4778"/>
              <a:gd name="T29" fmla="*/ 135 h 214"/>
              <a:gd name="T30" fmla="*/ 4778 w 4778"/>
              <a:gd name="T31"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78" h="214">
                <a:moveTo>
                  <a:pt x="0" y="203"/>
                </a:moveTo>
                <a:lnTo>
                  <a:pt x="475" y="34"/>
                </a:lnTo>
                <a:lnTo>
                  <a:pt x="926" y="214"/>
                </a:lnTo>
                <a:lnTo>
                  <a:pt x="1265" y="113"/>
                </a:lnTo>
                <a:lnTo>
                  <a:pt x="1717" y="214"/>
                </a:lnTo>
                <a:lnTo>
                  <a:pt x="2056" y="68"/>
                </a:lnTo>
                <a:lnTo>
                  <a:pt x="2361" y="169"/>
                </a:lnTo>
                <a:lnTo>
                  <a:pt x="2677" y="68"/>
                </a:lnTo>
                <a:lnTo>
                  <a:pt x="2869" y="180"/>
                </a:lnTo>
                <a:lnTo>
                  <a:pt x="3332" y="11"/>
                </a:lnTo>
                <a:lnTo>
                  <a:pt x="3818" y="192"/>
                </a:lnTo>
                <a:lnTo>
                  <a:pt x="3908" y="11"/>
                </a:lnTo>
                <a:lnTo>
                  <a:pt x="4089" y="180"/>
                </a:lnTo>
                <a:lnTo>
                  <a:pt x="4303" y="11"/>
                </a:lnTo>
                <a:lnTo>
                  <a:pt x="4507" y="135"/>
                </a:lnTo>
                <a:lnTo>
                  <a:pt x="4778" y="0"/>
                </a:lnTo>
              </a:path>
            </a:pathLst>
          </a:custGeom>
          <a:noFill/>
          <a:ln w="76200" cap="flat" cmpd="sng">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43" name="AutoShape 41"/>
          <p:cNvSpPr>
            <a:spLocks/>
          </p:cNvSpPr>
          <p:nvPr/>
        </p:nvSpPr>
        <p:spPr bwMode="auto">
          <a:xfrm>
            <a:off x="1510605" y="4737844"/>
            <a:ext cx="228600" cy="1444625"/>
          </a:xfrm>
          <a:prstGeom prst="leftBrace">
            <a:avLst>
              <a:gd name="adj1" fmla="val 52662"/>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4" name="Rectangle 42"/>
          <p:cNvSpPr>
            <a:spLocks noChangeArrowheads="1"/>
          </p:cNvSpPr>
          <p:nvPr/>
        </p:nvSpPr>
        <p:spPr bwMode="auto">
          <a:xfrm>
            <a:off x="29358" y="4936182"/>
            <a:ext cx="1755290"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有效载荷</a:t>
            </a:r>
          </a:p>
          <a:p>
            <a:pPr algn="ctr" defTabSz="762000" eaLnBrk="0" hangingPunct="0"/>
            <a:r>
              <a:rPr kumimoji="1" lang="zh-CN" altLang="en-US" sz="2000" b="1" dirty="0">
                <a:solidFill>
                  <a:srgbClr val="0000CC"/>
                </a:solidFill>
                <a:latin typeface="+mn-lt"/>
                <a:ea typeface="黑体" pitchFamily="2" charset="-122"/>
              </a:rPr>
              <a:t>（至 </a:t>
            </a:r>
            <a:r>
              <a:rPr kumimoji="1" lang="en-US" altLang="zh-CN" sz="2000" b="1" dirty="0">
                <a:solidFill>
                  <a:srgbClr val="0000CC"/>
                </a:solidFill>
                <a:latin typeface="+mn-lt"/>
                <a:ea typeface="黑体" pitchFamily="2" charset="-122"/>
              </a:rPr>
              <a:t>64 KB</a:t>
            </a:r>
            <a:r>
              <a:rPr kumimoji="1" lang="zh-CN" altLang="en-US" sz="2000" b="1" dirty="0">
                <a:solidFill>
                  <a:srgbClr val="0000CC"/>
                </a:solidFill>
                <a:latin typeface="+mn-lt"/>
                <a:ea typeface="黑体" pitchFamily="2" charset="-122"/>
              </a:rPr>
              <a:t>）</a:t>
            </a:r>
          </a:p>
        </p:txBody>
      </p:sp>
      <p:sp>
        <p:nvSpPr>
          <p:cNvPr id="45" name="Rectangle 43"/>
          <p:cNvSpPr>
            <a:spLocks noChangeArrowheads="1"/>
          </p:cNvSpPr>
          <p:nvPr/>
        </p:nvSpPr>
        <p:spPr bwMode="auto">
          <a:xfrm>
            <a:off x="1748730" y="494457"/>
            <a:ext cx="7327900" cy="42481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7" name="矩形 46"/>
          <p:cNvSpPr/>
          <p:nvPr/>
        </p:nvSpPr>
        <p:spPr>
          <a:xfrm>
            <a:off x="3001284" y="6309320"/>
            <a:ext cx="4732386" cy="461665"/>
          </a:xfrm>
          <a:prstGeom prst="rect">
            <a:avLst/>
          </a:prstGeom>
        </p:spPr>
        <p:txBody>
          <a:bodyPr wrap="square">
            <a:spAutoFit/>
          </a:bodyPr>
          <a:lstStyle/>
          <a:p>
            <a:pPr algn="ctr"/>
            <a:r>
              <a:rPr lang="en-US" altLang="zh-CN" sz="2400" b="1" dirty="0">
                <a:latin typeface="+mn-lt"/>
                <a:ea typeface="黑体" pitchFamily="2" charset="-122"/>
              </a:rPr>
              <a:t>40 </a:t>
            </a:r>
            <a:r>
              <a:rPr lang="zh-CN" altLang="zh-CN" sz="2400" b="1" dirty="0">
                <a:latin typeface="+mn-lt"/>
                <a:ea typeface="黑体" pitchFamily="2" charset="-122"/>
              </a:rPr>
              <a:t>字节长的</a:t>
            </a:r>
            <a:r>
              <a:rPr lang="en-US" altLang="zh-CN" sz="2400" b="1" dirty="0">
                <a:latin typeface="+mn-lt"/>
                <a:ea typeface="黑体" pitchFamily="2" charset="-122"/>
              </a:rPr>
              <a:t> IPv6 </a:t>
            </a:r>
            <a:r>
              <a:rPr lang="zh-CN" altLang="zh-CN" sz="2400" b="1" dirty="0">
                <a:latin typeface="+mn-lt"/>
                <a:ea typeface="黑体" pitchFamily="2" charset="-122"/>
              </a:rPr>
              <a:t>基本首部</a:t>
            </a:r>
            <a:endParaRPr lang="zh-CN" altLang="en-US" sz="2400" b="1" dirty="0">
              <a:latin typeface="+mn-lt"/>
              <a:ea typeface="黑体" pitchFamily="2" charset="-122"/>
            </a:endParaRPr>
          </a:p>
        </p:txBody>
      </p:sp>
    </p:spTree>
    <p:extLst>
      <p:ext uri="{BB962C8B-B14F-4D97-AF65-F5344CB8AC3E}">
        <p14:creationId xmlns:p14="http://schemas.microsoft.com/office/powerpoint/2010/main" val="18494720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4237038"/>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46" name="Text Box 38"/>
          <p:cNvSpPr txBox="1">
            <a:spLocks noChangeArrowheads="1"/>
          </p:cNvSpPr>
          <p:nvPr/>
        </p:nvSpPr>
        <p:spPr bwMode="auto">
          <a:xfrm>
            <a:off x="975123" y="4797152"/>
            <a:ext cx="8368506" cy="87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sz="2400" b="1" dirty="0">
                <a:solidFill>
                  <a:srgbClr val="000099"/>
                </a:solidFill>
                <a:latin typeface="+mn-lt"/>
                <a:ea typeface="黑体" pitchFamily="2" charset="-122"/>
              </a:rPr>
              <a:t>版本</a:t>
            </a:r>
            <a:r>
              <a:rPr lang="en-US" altLang="zh-CN" sz="2400" b="1" dirty="0">
                <a:solidFill>
                  <a:srgbClr val="000099"/>
                </a:solidFill>
                <a:latin typeface="+mn-lt"/>
                <a:ea typeface="黑体" pitchFamily="2" charset="-122"/>
              </a:rPr>
              <a:t>(version)—— 4 </a:t>
            </a:r>
            <a:r>
              <a:rPr lang="zh-CN" altLang="en-US" sz="2400" b="1" dirty="0">
                <a:solidFill>
                  <a:srgbClr val="000099"/>
                </a:solidFill>
                <a:latin typeface="+mn-lt"/>
                <a:ea typeface="黑体" pitchFamily="2" charset="-122"/>
              </a:rPr>
              <a:t>位。它指明了协议的版本，对 </a:t>
            </a:r>
            <a:r>
              <a:rPr lang="en-US" altLang="zh-CN" sz="2400" b="1" dirty="0">
                <a:solidFill>
                  <a:srgbClr val="000099"/>
                </a:solidFill>
                <a:latin typeface="+mn-lt"/>
                <a:ea typeface="黑体" pitchFamily="2" charset="-122"/>
              </a:rPr>
              <a:t>IPv6 </a:t>
            </a:r>
            <a:r>
              <a:rPr lang="zh-CN" altLang="en-US" sz="2400" b="1" dirty="0">
                <a:solidFill>
                  <a:srgbClr val="000099"/>
                </a:solidFill>
                <a:latin typeface="+mn-lt"/>
                <a:ea typeface="黑体" pitchFamily="2" charset="-122"/>
              </a:rPr>
              <a:t>该字段总是 </a:t>
            </a:r>
            <a:r>
              <a:rPr lang="en-US" altLang="zh-CN" sz="2400" b="1" dirty="0">
                <a:solidFill>
                  <a:srgbClr val="000099"/>
                </a:solidFill>
                <a:latin typeface="+mn-lt"/>
                <a:ea typeface="黑体" pitchFamily="2" charset="-122"/>
              </a:rPr>
              <a:t>6</a:t>
            </a:r>
            <a:r>
              <a:rPr lang="zh-CN" altLang="en-US" sz="2400" b="1" dirty="0">
                <a:solidFill>
                  <a:srgbClr val="000099"/>
                </a:solidFill>
                <a:latin typeface="+mn-lt"/>
                <a:ea typeface="黑体" pitchFamily="2" charset="-122"/>
              </a:rPr>
              <a:t>。 </a:t>
            </a:r>
          </a:p>
        </p:txBody>
      </p:sp>
      <p:sp>
        <p:nvSpPr>
          <p:cNvPr id="48" name="Rectangle 37"/>
          <p:cNvSpPr>
            <a:spLocks noChangeArrowheads="1"/>
          </p:cNvSpPr>
          <p:nvPr/>
        </p:nvSpPr>
        <p:spPr bwMode="auto">
          <a:xfrm>
            <a:off x="1786830" y="494457"/>
            <a:ext cx="933922" cy="41910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4688617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4237038"/>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39" name="Rectangle 37"/>
          <p:cNvSpPr>
            <a:spLocks noChangeArrowheads="1"/>
          </p:cNvSpPr>
          <p:nvPr/>
        </p:nvSpPr>
        <p:spPr bwMode="auto">
          <a:xfrm>
            <a:off x="2686942" y="476672"/>
            <a:ext cx="1834009" cy="41910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38"/>
          <p:cNvSpPr txBox="1">
            <a:spLocks noChangeArrowheads="1"/>
          </p:cNvSpPr>
          <p:nvPr/>
        </p:nvSpPr>
        <p:spPr bwMode="auto">
          <a:xfrm>
            <a:off x="975123" y="4797152"/>
            <a:ext cx="8368506"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nSpc>
                <a:spcPct val="110000"/>
              </a:lnSpc>
              <a:defRPr sz="2400" b="1">
                <a:solidFill>
                  <a:srgbClr val="000099"/>
                </a:solidFill>
                <a:latin typeface="+mn-lt"/>
                <a:ea typeface="黑体" pitchFamily="2" charset="-122"/>
              </a:defRPr>
            </a:lvl1pPr>
          </a:lstStyle>
          <a:p>
            <a:r>
              <a:rPr lang="zh-CN" altLang="en-US" dirty="0"/>
              <a:t>通信量类</a:t>
            </a:r>
            <a:r>
              <a:rPr lang="en-US" altLang="zh-CN" dirty="0"/>
              <a:t>(traffic class)—— 8 </a:t>
            </a:r>
            <a:r>
              <a:rPr lang="zh-CN" altLang="en-US" dirty="0"/>
              <a:t>位。这是为了区分不同的 </a:t>
            </a:r>
            <a:r>
              <a:rPr lang="en-US" altLang="zh-CN" dirty="0"/>
              <a:t>IPv6 </a:t>
            </a:r>
            <a:r>
              <a:rPr lang="zh-CN" altLang="en-US" dirty="0"/>
              <a:t>数据报的类别或优先级。目前正在进行不同的通信量类性能的实验。 </a:t>
            </a:r>
          </a:p>
        </p:txBody>
      </p:sp>
    </p:spTree>
    <p:extLst>
      <p:ext uri="{BB962C8B-B14F-4D97-AF65-F5344CB8AC3E}">
        <p14:creationId xmlns:p14="http://schemas.microsoft.com/office/powerpoint/2010/main" val="2067881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4237038"/>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43" name="Rectangle 37"/>
          <p:cNvSpPr>
            <a:spLocks noChangeArrowheads="1"/>
          </p:cNvSpPr>
          <p:nvPr/>
        </p:nvSpPr>
        <p:spPr bwMode="auto">
          <a:xfrm>
            <a:off x="4504630" y="493713"/>
            <a:ext cx="4552826" cy="41910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Text Box 38"/>
          <p:cNvSpPr txBox="1">
            <a:spLocks noChangeArrowheads="1"/>
          </p:cNvSpPr>
          <p:nvPr/>
        </p:nvSpPr>
        <p:spPr bwMode="auto">
          <a:xfrm>
            <a:off x="964850" y="4789484"/>
            <a:ext cx="8452646" cy="1735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10000"/>
              </a:lnSpc>
              <a:defRPr sz="2400" b="1">
                <a:solidFill>
                  <a:srgbClr val="000099"/>
                </a:solidFill>
                <a:latin typeface="+mn-lt"/>
                <a:ea typeface="黑体" pitchFamily="2" charset="-122"/>
              </a:defRPr>
            </a:lvl1pPr>
          </a:lstStyle>
          <a:p>
            <a:r>
              <a:rPr lang="zh-CN" altLang="en-US" dirty="0"/>
              <a:t>流标号</a:t>
            </a:r>
            <a:r>
              <a:rPr lang="en-US" altLang="zh-CN" dirty="0"/>
              <a:t>(flow label)—— 20 </a:t>
            </a:r>
            <a:r>
              <a:rPr lang="zh-CN" altLang="en-US" dirty="0"/>
              <a:t>位。 “流”是互联网络上从特定源点到特定终点的一系列数据报， “流”所经过的路径上的路由器都保证指明的服务质量。所有属于同一个流的数据报都具有同样的流标号。 </a:t>
            </a:r>
          </a:p>
        </p:txBody>
      </p:sp>
    </p:spTree>
    <p:extLst>
      <p:ext uri="{BB962C8B-B14F-4D97-AF65-F5344CB8AC3E}">
        <p14:creationId xmlns:p14="http://schemas.microsoft.com/office/powerpoint/2010/main" val="33972706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4237038"/>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39" name="Rectangle 37"/>
          <p:cNvSpPr>
            <a:spLocks noChangeArrowheads="1"/>
          </p:cNvSpPr>
          <p:nvPr/>
        </p:nvSpPr>
        <p:spPr bwMode="auto">
          <a:xfrm>
            <a:off x="1784648" y="921668"/>
            <a:ext cx="3606155" cy="41910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38"/>
          <p:cNvSpPr txBox="1">
            <a:spLocks noChangeArrowheads="1"/>
          </p:cNvSpPr>
          <p:nvPr/>
        </p:nvSpPr>
        <p:spPr bwMode="auto">
          <a:xfrm>
            <a:off x="920552" y="4797152"/>
            <a:ext cx="8496944"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10000"/>
              </a:lnSpc>
              <a:defRPr sz="2400" b="1">
                <a:solidFill>
                  <a:srgbClr val="000099"/>
                </a:solidFill>
                <a:latin typeface="+mn-lt"/>
                <a:ea typeface="黑体" pitchFamily="2" charset="-122"/>
              </a:defRPr>
            </a:lvl1pPr>
          </a:lstStyle>
          <a:p>
            <a:r>
              <a:rPr lang="zh-CN" altLang="en-US" dirty="0"/>
              <a:t>有效载荷长度</a:t>
            </a:r>
            <a:r>
              <a:rPr lang="en-US" altLang="zh-CN" dirty="0"/>
              <a:t>(payload length)—— 16 </a:t>
            </a:r>
            <a:r>
              <a:rPr lang="zh-CN" altLang="en-US" dirty="0"/>
              <a:t>位。它指明 </a:t>
            </a:r>
            <a:r>
              <a:rPr lang="en-US" altLang="zh-CN" dirty="0"/>
              <a:t>IPv6 </a:t>
            </a:r>
            <a:r>
              <a:rPr lang="zh-CN" altLang="en-US" dirty="0"/>
              <a:t>数据报除基本首部以外的字节数（所有扩展首部都算在有效载荷之内），其最大值是 </a:t>
            </a:r>
            <a:r>
              <a:rPr lang="en-US" altLang="zh-CN" dirty="0"/>
              <a:t>64 KB</a:t>
            </a:r>
            <a:r>
              <a:rPr lang="zh-CN" altLang="en-US" dirty="0"/>
              <a:t>。 </a:t>
            </a:r>
          </a:p>
        </p:txBody>
      </p:sp>
    </p:spTree>
    <p:extLst>
      <p:ext uri="{BB962C8B-B14F-4D97-AF65-F5344CB8AC3E}">
        <p14:creationId xmlns:p14="http://schemas.microsoft.com/office/powerpoint/2010/main" val="35043453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4237038"/>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43" name="Rectangle 37"/>
          <p:cNvSpPr>
            <a:spLocks noChangeArrowheads="1"/>
          </p:cNvSpPr>
          <p:nvPr/>
        </p:nvSpPr>
        <p:spPr bwMode="auto">
          <a:xfrm>
            <a:off x="5426968" y="908720"/>
            <a:ext cx="1843418" cy="41910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Text Box 38"/>
          <p:cNvSpPr txBox="1">
            <a:spLocks noChangeArrowheads="1"/>
          </p:cNvSpPr>
          <p:nvPr/>
        </p:nvSpPr>
        <p:spPr bwMode="auto">
          <a:xfrm>
            <a:off x="919046" y="4797152"/>
            <a:ext cx="8498450"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10000"/>
              </a:lnSpc>
              <a:defRPr sz="2400" b="1">
                <a:solidFill>
                  <a:srgbClr val="000099"/>
                </a:solidFill>
                <a:latin typeface="+mn-lt"/>
                <a:ea typeface="黑体" pitchFamily="2" charset="-122"/>
              </a:defRPr>
            </a:lvl1pPr>
          </a:lstStyle>
          <a:p>
            <a:r>
              <a:rPr lang="zh-CN" altLang="en-US" dirty="0"/>
              <a:t>下一个首部</a:t>
            </a:r>
            <a:r>
              <a:rPr lang="en-US" altLang="zh-CN" dirty="0"/>
              <a:t>(next header)—— 8 </a:t>
            </a:r>
            <a:r>
              <a:rPr lang="zh-CN" altLang="en-US" dirty="0"/>
              <a:t>位。它相当于 </a:t>
            </a:r>
            <a:r>
              <a:rPr lang="en-US" altLang="zh-CN" dirty="0"/>
              <a:t>IPv4 </a:t>
            </a:r>
            <a:r>
              <a:rPr lang="zh-CN" altLang="en-US" dirty="0"/>
              <a:t>的协议字段或可选字段。 </a:t>
            </a:r>
          </a:p>
        </p:txBody>
      </p:sp>
    </p:spTree>
    <p:extLst>
      <p:ext uri="{BB962C8B-B14F-4D97-AF65-F5344CB8AC3E}">
        <p14:creationId xmlns:p14="http://schemas.microsoft.com/office/powerpoint/2010/main" val="3626849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4237038"/>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39" name="Rectangle 37"/>
          <p:cNvSpPr>
            <a:spLocks noChangeArrowheads="1"/>
          </p:cNvSpPr>
          <p:nvPr/>
        </p:nvSpPr>
        <p:spPr bwMode="auto">
          <a:xfrm>
            <a:off x="7257256" y="908720"/>
            <a:ext cx="1832074" cy="41910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38"/>
          <p:cNvSpPr txBox="1">
            <a:spLocks noChangeArrowheads="1"/>
          </p:cNvSpPr>
          <p:nvPr/>
        </p:nvSpPr>
        <p:spPr bwMode="auto">
          <a:xfrm>
            <a:off x="964850" y="4797152"/>
            <a:ext cx="866867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10000"/>
              </a:lnSpc>
              <a:defRPr sz="2400" b="1">
                <a:solidFill>
                  <a:srgbClr val="000099"/>
                </a:solidFill>
                <a:latin typeface="+mn-lt"/>
                <a:ea typeface="黑体" pitchFamily="2" charset="-122"/>
              </a:defRPr>
            </a:lvl1pPr>
          </a:lstStyle>
          <a:p>
            <a:r>
              <a:rPr lang="zh-CN" altLang="en-US" dirty="0"/>
              <a:t>跳数限制</a:t>
            </a:r>
            <a:r>
              <a:rPr lang="en-US" altLang="zh-CN" dirty="0"/>
              <a:t>(hop limit)—— 8 </a:t>
            </a:r>
            <a:r>
              <a:rPr lang="zh-CN" altLang="en-US" dirty="0"/>
              <a:t>位。源站在数据报发出时即设定跳数限制。路由器在转发数据报时将跳数限制字段中的值减 </a:t>
            </a:r>
            <a:r>
              <a:rPr lang="en-US" altLang="zh-CN" dirty="0"/>
              <a:t>1</a:t>
            </a:r>
            <a:r>
              <a:rPr lang="zh-CN" altLang="en-US" dirty="0"/>
              <a:t>。</a:t>
            </a:r>
          </a:p>
          <a:p>
            <a:r>
              <a:rPr lang="zh-CN" altLang="en-US" dirty="0"/>
              <a:t>当跳数限制的值为零时，就要将此数据报丢弃。 </a:t>
            </a:r>
          </a:p>
        </p:txBody>
      </p:sp>
    </p:spTree>
    <p:extLst>
      <p:ext uri="{BB962C8B-B14F-4D97-AF65-F5344CB8AC3E}">
        <p14:creationId xmlns:p14="http://schemas.microsoft.com/office/powerpoint/2010/main" val="9203598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4237038"/>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43" name="Rectangle 37"/>
          <p:cNvSpPr>
            <a:spLocks noChangeArrowheads="1"/>
          </p:cNvSpPr>
          <p:nvPr/>
        </p:nvSpPr>
        <p:spPr bwMode="auto">
          <a:xfrm>
            <a:off x="1778892" y="1340768"/>
            <a:ext cx="7278563" cy="1657350"/>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Text Box 38"/>
          <p:cNvSpPr txBox="1">
            <a:spLocks noChangeArrowheads="1"/>
          </p:cNvSpPr>
          <p:nvPr/>
        </p:nvSpPr>
        <p:spPr bwMode="auto">
          <a:xfrm>
            <a:off x="1684930" y="4797152"/>
            <a:ext cx="7444534"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10000"/>
              </a:lnSpc>
              <a:defRPr sz="2400" b="1">
                <a:solidFill>
                  <a:srgbClr val="000099"/>
                </a:solidFill>
                <a:latin typeface="+mn-lt"/>
                <a:ea typeface="黑体" pitchFamily="2" charset="-122"/>
              </a:defRPr>
            </a:lvl1pPr>
          </a:lstStyle>
          <a:p>
            <a:r>
              <a:rPr lang="zh-CN" altLang="en-US" dirty="0"/>
              <a:t>源地址</a:t>
            </a:r>
            <a:r>
              <a:rPr lang="en-US" altLang="zh-CN" dirty="0"/>
              <a:t>—— 128 </a:t>
            </a:r>
            <a:r>
              <a:rPr lang="zh-CN" altLang="en-US" dirty="0"/>
              <a:t>位。是数据报的发送站的 </a:t>
            </a:r>
            <a:r>
              <a:rPr lang="en-US" altLang="zh-CN" dirty="0"/>
              <a:t>IP </a:t>
            </a:r>
            <a:r>
              <a:rPr lang="zh-CN" altLang="en-US" dirty="0"/>
              <a:t>地址。 </a:t>
            </a:r>
          </a:p>
        </p:txBody>
      </p:sp>
    </p:spTree>
    <p:extLst>
      <p:ext uri="{BB962C8B-B14F-4D97-AF65-F5344CB8AC3E}">
        <p14:creationId xmlns:p14="http://schemas.microsoft.com/office/powerpoint/2010/main" val="24552233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778893" y="505569"/>
            <a:ext cx="7289800" cy="4237038"/>
          </a:xfrm>
          <a:prstGeom prst="rect">
            <a:avLst/>
          </a:prstGeom>
          <a:solidFill>
            <a:srgbClr val="FFFF99"/>
          </a:solidFill>
          <a:ln w="28575">
            <a:solidFill>
              <a:srgbClr val="333399"/>
            </a:solidFill>
            <a:miter lim="800000"/>
            <a:headEnd/>
            <a:tailEnd/>
          </a:ln>
          <a:effectLst>
            <a:outerShdw dist="35921" dir="2700000" algn="ctr" rotWithShape="0">
              <a:schemeClr val="bg2"/>
            </a:outerShdw>
          </a:effectLst>
        </p:spPr>
        <p:txBody>
          <a:bodyPr wrap="none" anchor="ctr"/>
          <a:lstStyle/>
          <a:p>
            <a:endParaRPr lang="zh-CN" altLang="en-US" b="1">
              <a:solidFill>
                <a:srgbClr val="0000CC"/>
              </a:solidFill>
              <a:latin typeface="+mn-lt"/>
              <a:ea typeface="黑体" pitchFamily="2" charset="-122"/>
            </a:endParaRPr>
          </a:p>
        </p:txBody>
      </p:sp>
      <p:sp>
        <p:nvSpPr>
          <p:cNvPr id="5" name="Line 3"/>
          <p:cNvSpPr>
            <a:spLocks noChangeShapeType="1"/>
          </p:cNvSpPr>
          <p:nvPr/>
        </p:nvSpPr>
        <p:spPr bwMode="auto">
          <a:xfrm>
            <a:off x="1786830" y="886569"/>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6" name="Line 4"/>
          <p:cNvSpPr>
            <a:spLocks noChangeShapeType="1"/>
          </p:cNvSpPr>
          <p:nvPr/>
        </p:nvSpPr>
        <p:spPr bwMode="auto">
          <a:xfrm>
            <a:off x="2686943" y="507157"/>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7" name="Line 5"/>
          <p:cNvSpPr>
            <a:spLocks noChangeShapeType="1"/>
          </p:cNvSpPr>
          <p:nvPr/>
        </p:nvSpPr>
        <p:spPr bwMode="auto">
          <a:xfrm>
            <a:off x="5426968"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6"/>
          <p:cNvSpPr>
            <a:spLocks noChangeArrowheads="1"/>
          </p:cNvSpPr>
          <p:nvPr/>
        </p:nvSpPr>
        <p:spPr bwMode="auto">
          <a:xfrm>
            <a:off x="1702693"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0</a:t>
            </a:r>
          </a:p>
        </p:txBody>
      </p:sp>
      <p:sp>
        <p:nvSpPr>
          <p:cNvPr id="9" name="Rectangle 7"/>
          <p:cNvSpPr>
            <a:spLocks noChangeArrowheads="1"/>
          </p:cNvSpPr>
          <p:nvPr/>
        </p:nvSpPr>
        <p:spPr bwMode="auto">
          <a:xfrm>
            <a:off x="2605980" y="116632"/>
            <a:ext cx="32541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4</a:t>
            </a:r>
          </a:p>
        </p:txBody>
      </p:sp>
      <p:sp>
        <p:nvSpPr>
          <p:cNvPr id="10" name="Rectangle 8"/>
          <p:cNvSpPr>
            <a:spLocks noChangeArrowheads="1"/>
          </p:cNvSpPr>
          <p:nvPr/>
        </p:nvSpPr>
        <p:spPr bwMode="auto">
          <a:xfrm>
            <a:off x="53364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16</a:t>
            </a:r>
          </a:p>
        </p:txBody>
      </p:sp>
      <p:sp>
        <p:nvSpPr>
          <p:cNvPr id="11" name="Rectangle 9"/>
          <p:cNvSpPr>
            <a:spLocks noChangeArrowheads="1"/>
          </p:cNvSpPr>
          <p:nvPr/>
        </p:nvSpPr>
        <p:spPr bwMode="auto">
          <a:xfrm>
            <a:off x="873373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31</a:t>
            </a:r>
          </a:p>
        </p:txBody>
      </p:sp>
      <p:sp>
        <p:nvSpPr>
          <p:cNvPr id="12" name="Rectangle 10"/>
          <p:cNvSpPr>
            <a:spLocks noChangeArrowheads="1"/>
          </p:cNvSpPr>
          <p:nvPr/>
        </p:nvSpPr>
        <p:spPr bwMode="auto">
          <a:xfrm>
            <a:off x="1897955" y="521444"/>
            <a:ext cx="769442"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版 本</a:t>
            </a:r>
          </a:p>
        </p:txBody>
      </p:sp>
      <p:sp>
        <p:nvSpPr>
          <p:cNvPr id="13" name="Rectangle 11"/>
          <p:cNvSpPr>
            <a:spLocks noChangeArrowheads="1"/>
          </p:cNvSpPr>
          <p:nvPr/>
        </p:nvSpPr>
        <p:spPr bwMode="auto">
          <a:xfrm>
            <a:off x="1085155" y="11663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位</a:t>
            </a:r>
          </a:p>
        </p:txBody>
      </p:sp>
      <p:sp>
        <p:nvSpPr>
          <p:cNvPr id="14" name="Line 12"/>
          <p:cNvSpPr>
            <a:spLocks noChangeShapeType="1"/>
          </p:cNvSpPr>
          <p:nvPr/>
        </p:nvSpPr>
        <p:spPr bwMode="auto">
          <a:xfrm>
            <a:off x="1778893" y="1308844"/>
            <a:ext cx="7302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5" name="Line 13"/>
          <p:cNvSpPr>
            <a:spLocks noChangeShapeType="1"/>
          </p:cNvSpPr>
          <p:nvPr/>
        </p:nvSpPr>
        <p:spPr bwMode="auto">
          <a:xfrm>
            <a:off x="1780480" y="173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6" name="Line 14"/>
          <p:cNvSpPr>
            <a:spLocks noChangeShapeType="1"/>
          </p:cNvSpPr>
          <p:nvPr/>
        </p:nvSpPr>
        <p:spPr bwMode="auto">
          <a:xfrm>
            <a:off x="1780480" y="215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7" name="Line 15"/>
          <p:cNvSpPr>
            <a:spLocks noChangeShapeType="1"/>
          </p:cNvSpPr>
          <p:nvPr/>
        </p:nvSpPr>
        <p:spPr bwMode="auto">
          <a:xfrm>
            <a:off x="1780480" y="257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6"/>
          <p:cNvSpPr>
            <a:spLocks noChangeShapeType="1"/>
          </p:cNvSpPr>
          <p:nvPr/>
        </p:nvSpPr>
        <p:spPr bwMode="auto">
          <a:xfrm>
            <a:off x="1780480" y="3002707"/>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Line 17"/>
          <p:cNvSpPr>
            <a:spLocks noChangeShapeType="1"/>
          </p:cNvSpPr>
          <p:nvPr/>
        </p:nvSpPr>
        <p:spPr bwMode="auto">
          <a:xfrm>
            <a:off x="1780480" y="3424982"/>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0" name="Line 18"/>
          <p:cNvSpPr>
            <a:spLocks noChangeShapeType="1"/>
          </p:cNvSpPr>
          <p:nvPr/>
        </p:nvSpPr>
        <p:spPr bwMode="auto">
          <a:xfrm>
            <a:off x="1780480" y="3848844"/>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Line 19"/>
          <p:cNvSpPr>
            <a:spLocks noChangeShapeType="1"/>
          </p:cNvSpPr>
          <p:nvPr/>
        </p:nvSpPr>
        <p:spPr bwMode="auto">
          <a:xfrm>
            <a:off x="1780480" y="4271119"/>
            <a:ext cx="73040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2" name="Rectangle 20"/>
          <p:cNvSpPr>
            <a:spLocks noChangeArrowheads="1"/>
          </p:cNvSpPr>
          <p:nvPr/>
        </p:nvSpPr>
        <p:spPr bwMode="auto">
          <a:xfrm>
            <a:off x="2005905" y="3283694"/>
            <a:ext cx="6850063" cy="1128713"/>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Rectangle 21"/>
          <p:cNvSpPr>
            <a:spLocks noChangeArrowheads="1"/>
          </p:cNvSpPr>
          <p:nvPr/>
        </p:nvSpPr>
        <p:spPr bwMode="auto">
          <a:xfrm>
            <a:off x="2005905" y="1628800"/>
            <a:ext cx="6850063" cy="1130300"/>
          </a:xfrm>
          <a:prstGeom prst="rect">
            <a:avLst/>
          </a:prstGeom>
          <a:solidFill>
            <a:srgbClr val="FF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22"/>
          <p:cNvSpPr>
            <a:spLocks noChangeArrowheads="1"/>
          </p:cNvSpPr>
          <p:nvPr/>
        </p:nvSpPr>
        <p:spPr bwMode="auto">
          <a:xfrm>
            <a:off x="4628455" y="3496419"/>
            <a:ext cx="218489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目   的   地   址</a:t>
            </a:r>
          </a:p>
        </p:txBody>
      </p:sp>
      <p:sp>
        <p:nvSpPr>
          <p:cNvPr id="25" name="Rectangle 23"/>
          <p:cNvSpPr>
            <a:spLocks noChangeArrowheads="1"/>
          </p:cNvSpPr>
          <p:nvPr/>
        </p:nvSpPr>
        <p:spPr bwMode="auto">
          <a:xfrm>
            <a:off x="4822130" y="1802557"/>
            <a:ext cx="162063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源   地   址</a:t>
            </a:r>
          </a:p>
        </p:txBody>
      </p:sp>
      <p:sp>
        <p:nvSpPr>
          <p:cNvPr id="26" name="Line 24"/>
          <p:cNvSpPr>
            <a:spLocks noChangeShapeType="1"/>
          </p:cNvSpPr>
          <p:nvPr/>
        </p:nvSpPr>
        <p:spPr bwMode="auto">
          <a:xfrm>
            <a:off x="7257355" y="886569"/>
            <a:ext cx="0" cy="4222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5"/>
          <p:cNvSpPr>
            <a:spLocks noChangeArrowheads="1"/>
          </p:cNvSpPr>
          <p:nvPr/>
        </p:nvSpPr>
        <p:spPr bwMode="auto">
          <a:xfrm>
            <a:off x="5568255" y="919907"/>
            <a:ext cx="175529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下 一 个 首 部</a:t>
            </a:r>
          </a:p>
        </p:txBody>
      </p:sp>
      <p:sp>
        <p:nvSpPr>
          <p:cNvPr id="28" name="Rectangle 26"/>
          <p:cNvSpPr>
            <a:spLocks noChangeArrowheads="1"/>
          </p:cNvSpPr>
          <p:nvPr/>
        </p:nvSpPr>
        <p:spPr bwMode="auto">
          <a:xfrm>
            <a:off x="5766693" y="521444"/>
            <a:ext cx="166231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流     标     号</a:t>
            </a:r>
          </a:p>
        </p:txBody>
      </p:sp>
      <p:sp>
        <p:nvSpPr>
          <p:cNvPr id="29" name="Rectangle 27"/>
          <p:cNvSpPr>
            <a:spLocks noChangeArrowheads="1"/>
          </p:cNvSpPr>
          <p:nvPr/>
        </p:nvSpPr>
        <p:spPr bwMode="auto">
          <a:xfrm>
            <a:off x="4366518"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12</a:t>
            </a:r>
          </a:p>
        </p:txBody>
      </p:sp>
      <p:sp>
        <p:nvSpPr>
          <p:cNvPr id="30" name="Rectangle 28"/>
          <p:cNvSpPr>
            <a:spLocks noChangeArrowheads="1"/>
          </p:cNvSpPr>
          <p:nvPr/>
        </p:nvSpPr>
        <p:spPr bwMode="auto">
          <a:xfrm>
            <a:off x="2955230" y="521444"/>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通 信 量 类</a:t>
            </a:r>
          </a:p>
        </p:txBody>
      </p:sp>
      <p:sp>
        <p:nvSpPr>
          <p:cNvPr id="31" name="Rectangle 29"/>
          <p:cNvSpPr>
            <a:spLocks noChangeArrowheads="1"/>
          </p:cNvSpPr>
          <p:nvPr/>
        </p:nvSpPr>
        <p:spPr bwMode="auto">
          <a:xfrm>
            <a:off x="4799905" y="2137519"/>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2" name="Rectangle 30"/>
          <p:cNvSpPr>
            <a:spLocks noChangeArrowheads="1"/>
          </p:cNvSpPr>
          <p:nvPr/>
        </p:nvSpPr>
        <p:spPr bwMode="auto">
          <a:xfrm>
            <a:off x="4817368" y="3833996"/>
            <a:ext cx="171040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400" b="1" dirty="0">
                <a:solidFill>
                  <a:srgbClr val="0000CC"/>
                </a:solidFill>
                <a:latin typeface="+mn-lt"/>
                <a:ea typeface="黑体" pitchFamily="2" charset="-122"/>
              </a:rPr>
              <a:t>（</a:t>
            </a:r>
            <a:r>
              <a:rPr kumimoji="1" lang="en-US" altLang="zh-CN" sz="2400" b="1" dirty="0">
                <a:solidFill>
                  <a:srgbClr val="0000CC"/>
                </a:solidFill>
                <a:latin typeface="+mn-lt"/>
                <a:ea typeface="黑体" pitchFamily="2" charset="-122"/>
              </a:rPr>
              <a:t>128 </a:t>
            </a:r>
            <a:r>
              <a:rPr kumimoji="1" lang="zh-CN" altLang="en-US" sz="2400" b="1" dirty="0">
                <a:solidFill>
                  <a:srgbClr val="0000CC"/>
                </a:solidFill>
                <a:latin typeface="+mn-lt"/>
                <a:ea typeface="黑体" pitchFamily="2" charset="-122"/>
              </a:rPr>
              <a:t>位）</a:t>
            </a:r>
          </a:p>
        </p:txBody>
      </p:sp>
      <p:sp>
        <p:nvSpPr>
          <p:cNvPr id="33" name="Rectangle 31"/>
          <p:cNvSpPr>
            <a:spLocks noChangeArrowheads="1"/>
          </p:cNvSpPr>
          <p:nvPr/>
        </p:nvSpPr>
        <p:spPr bwMode="auto">
          <a:xfrm>
            <a:off x="2494855" y="911969"/>
            <a:ext cx="2436565"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有  效  载  荷  长  度</a:t>
            </a:r>
          </a:p>
        </p:txBody>
      </p:sp>
      <p:sp>
        <p:nvSpPr>
          <p:cNvPr id="34" name="Rectangle 32"/>
          <p:cNvSpPr>
            <a:spLocks noChangeArrowheads="1"/>
          </p:cNvSpPr>
          <p:nvPr/>
        </p:nvSpPr>
        <p:spPr bwMode="auto">
          <a:xfrm>
            <a:off x="7541518" y="931019"/>
            <a:ext cx="142667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跳 数 限 制</a:t>
            </a:r>
          </a:p>
        </p:txBody>
      </p:sp>
      <p:sp>
        <p:nvSpPr>
          <p:cNvPr id="35" name="Line 33"/>
          <p:cNvSpPr>
            <a:spLocks noChangeShapeType="1"/>
          </p:cNvSpPr>
          <p:nvPr/>
        </p:nvSpPr>
        <p:spPr bwMode="auto">
          <a:xfrm>
            <a:off x="4504630" y="505569"/>
            <a:ext cx="6350" cy="382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34"/>
          <p:cNvSpPr>
            <a:spLocks noChangeArrowheads="1"/>
          </p:cNvSpPr>
          <p:nvPr/>
        </p:nvSpPr>
        <p:spPr bwMode="auto">
          <a:xfrm>
            <a:off x="7152580" y="116632"/>
            <a:ext cx="46807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solidFill>
                  <a:srgbClr val="0000CC"/>
                </a:solidFill>
                <a:latin typeface="+mn-lt"/>
                <a:ea typeface="黑体" pitchFamily="2" charset="-122"/>
              </a:rPr>
              <a:t>24</a:t>
            </a:r>
          </a:p>
        </p:txBody>
      </p:sp>
      <p:sp>
        <p:nvSpPr>
          <p:cNvPr id="41" name="AutoShape 39"/>
          <p:cNvSpPr>
            <a:spLocks/>
          </p:cNvSpPr>
          <p:nvPr/>
        </p:nvSpPr>
        <p:spPr bwMode="auto">
          <a:xfrm>
            <a:off x="1474093" y="538907"/>
            <a:ext cx="228600" cy="4162425"/>
          </a:xfrm>
          <a:prstGeom prst="leftBrace">
            <a:avLst>
              <a:gd name="adj1" fmla="val 15173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2" name="Rectangle 40"/>
          <p:cNvSpPr>
            <a:spLocks noChangeArrowheads="1"/>
          </p:cNvSpPr>
          <p:nvPr/>
        </p:nvSpPr>
        <p:spPr bwMode="auto">
          <a:xfrm>
            <a:off x="200472" y="2150219"/>
            <a:ext cx="1240725" cy="1013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2000" b="1" dirty="0">
                <a:solidFill>
                  <a:srgbClr val="0000CC"/>
                </a:solidFill>
                <a:latin typeface="+mn-lt"/>
                <a:ea typeface="黑体" pitchFamily="2" charset="-122"/>
              </a:rPr>
              <a:t>IPv6 </a:t>
            </a:r>
            <a:r>
              <a:rPr kumimoji="1" lang="zh-CN" altLang="en-US" sz="2000" b="1" dirty="0">
                <a:solidFill>
                  <a:srgbClr val="0000CC"/>
                </a:solidFill>
                <a:latin typeface="+mn-lt"/>
                <a:ea typeface="黑体" pitchFamily="2" charset="-122"/>
              </a:rPr>
              <a:t>的</a:t>
            </a:r>
          </a:p>
          <a:p>
            <a:pPr algn="ctr" defTabSz="762000" eaLnBrk="0" hangingPunct="0"/>
            <a:r>
              <a:rPr kumimoji="1" lang="zh-CN" altLang="en-US" sz="2000" b="1" dirty="0">
                <a:solidFill>
                  <a:srgbClr val="0000CC"/>
                </a:solidFill>
                <a:latin typeface="+mn-lt"/>
                <a:ea typeface="黑体" pitchFamily="2" charset="-122"/>
              </a:rPr>
              <a:t>基本首部</a:t>
            </a:r>
          </a:p>
          <a:p>
            <a:pPr algn="ctr" defTabSz="762000" eaLnBrk="0" hangingPunct="0"/>
            <a:r>
              <a:rPr kumimoji="1" lang="zh-CN" altLang="en-US" sz="2000" b="1" dirty="0">
                <a:solidFill>
                  <a:srgbClr val="0000CC"/>
                </a:solidFill>
                <a:latin typeface="+mn-lt"/>
                <a:ea typeface="黑体" pitchFamily="2" charset="-122"/>
              </a:rPr>
              <a:t>（</a:t>
            </a:r>
            <a:r>
              <a:rPr kumimoji="1" lang="en-US" altLang="zh-CN" sz="2000" b="1" dirty="0">
                <a:solidFill>
                  <a:srgbClr val="0000CC"/>
                </a:solidFill>
                <a:latin typeface="+mn-lt"/>
                <a:ea typeface="黑体" pitchFamily="2" charset="-122"/>
              </a:rPr>
              <a:t>40 B</a:t>
            </a:r>
            <a:r>
              <a:rPr kumimoji="1" lang="zh-CN" altLang="en-US" sz="2000" b="1" dirty="0">
                <a:solidFill>
                  <a:srgbClr val="0000CC"/>
                </a:solidFill>
                <a:latin typeface="+mn-lt"/>
                <a:ea typeface="黑体" pitchFamily="2" charset="-122"/>
              </a:rPr>
              <a:t>）</a:t>
            </a:r>
          </a:p>
        </p:txBody>
      </p:sp>
      <p:sp>
        <p:nvSpPr>
          <p:cNvPr id="39" name="Rectangle 37"/>
          <p:cNvSpPr>
            <a:spLocks noChangeArrowheads="1"/>
          </p:cNvSpPr>
          <p:nvPr/>
        </p:nvSpPr>
        <p:spPr bwMode="auto">
          <a:xfrm>
            <a:off x="1778892" y="2996952"/>
            <a:ext cx="7280763" cy="1711325"/>
          </a:xfrm>
          <a:prstGeom prst="rect">
            <a:avLst/>
          </a:prstGeom>
          <a:noFill/>
          <a:ln w="762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38"/>
          <p:cNvSpPr txBox="1">
            <a:spLocks noChangeArrowheads="1"/>
          </p:cNvSpPr>
          <p:nvPr/>
        </p:nvSpPr>
        <p:spPr bwMode="auto">
          <a:xfrm>
            <a:off x="1668059" y="4802610"/>
            <a:ext cx="7677429"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nSpc>
                <a:spcPct val="110000"/>
              </a:lnSpc>
              <a:defRPr sz="2400" b="1">
                <a:solidFill>
                  <a:srgbClr val="000099"/>
                </a:solidFill>
                <a:latin typeface="+mn-lt"/>
                <a:ea typeface="黑体" pitchFamily="2" charset="-122"/>
              </a:defRPr>
            </a:lvl1pPr>
          </a:lstStyle>
          <a:p>
            <a:r>
              <a:rPr lang="zh-CN" altLang="en-US" dirty="0"/>
              <a:t>目的地址</a:t>
            </a:r>
            <a:r>
              <a:rPr lang="en-US" altLang="zh-CN" dirty="0"/>
              <a:t>—— 128 </a:t>
            </a:r>
            <a:r>
              <a:rPr lang="zh-CN" altLang="en-US" dirty="0"/>
              <a:t>位。是数据报的接收站的 </a:t>
            </a:r>
            <a:r>
              <a:rPr lang="en-US" altLang="zh-CN" dirty="0"/>
              <a:t>IP </a:t>
            </a:r>
            <a:r>
              <a:rPr lang="zh-CN" altLang="en-US" dirty="0"/>
              <a:t>地址。 </a:t>
            </a:r>
          </a:p>
        </p:txBody>
      </p:sp>
    </p:spTree>
    <p:extLst>
      <p:ext uri="{BB962C8B-B14F-4D97-AF65-F5344CB8AC3E}">
        <p14:creationId xmlns:p14="http://schemas.microsoft.com/office/powerpoint/2010/main" val="31253793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title"/>
          </p:nvPr>
        </p:nvSpPr>
        <p:spPr/>
        <p:txBody>
          <a:bodyPr/>
          <a:lstStyle/>
          <a:p>
            <a:pPr algn="ctr"/>
            <a:r>
              <a:rPr lang="en-US" altLang="zh-CN" dirty="0"/>
              <a:t>IPv6 </a:t>
            </a:r>
            <a:r>
              <a:rPr lang="zh-CN" altLang="en-US" dirty="0"/>
              <a:t>的扩展首部</a:t>
            </a:r>
          </a:p>
        </p:txBody>
      </p:sp>
      <p:sp>
        <p:nvSpPr>
          <p:cNvPr id="646147" name="Rectangle 3"/>
          <p:cNvSpPr>
            <a:spLocks noGrp="1" noChangeArrowheads="1"/>
          </p:cNvSpPr>
          <p:nvPr>
            <p:ph idx="1"/>
          </p:nvPr>
        </p:nvSpPr>
        <p:spPr/>
        <p:txBody>
          <a:bodyPr/>
          <a:lstStyle/>
          <a:p>
            <a:r>
              <a:rPr lang="en-US" altLang="zh-CN" dirty="0"/>
              <a:t>IPv6 </a:t>
            </a:r>
            <a:r>
              <a:rPr lang="zh-CN" altLang="en-US" dirty="0"/>
              <a:t>把原来 </a:t>
            </a:r>
            <a:r>
              <a:rPr lang="en-US" altLang="zh-CN" dirty="0"/>
              <a:t>IPv4 </a:t>
            </a:r>
            <a:r>
              <a:rPr lang="zh-CN" altLang="en-US" dirty="0"/>
              <a:t>首部中选项的功能都放在</a:t>
            </a:r>
            <a:r>
              <a:rPr lang="zh-CN" altLang="en-US" dirty="0">
                <a:solidFill>
                  <a:srgbClr val="FF0000"/>
                </a:solidFill>
              </a:rPr>
              <a:t>扩展首部</a:t>
            </a:r>
            <a:r>
              <a:rPr lang="zh-CN" altLang="en-US" dirty="0"/>
              <a:t>中，并将扩展首部留给路径两端的源站和目的站的主机来处理。</a:t>
            </a:r>
          </a:p>
          <a:p>
            <a:r>
              <a:rPr lang="zh-CN" altLang="en-US" dirty="0">
                <a:solidFill>
                  <a:srgbClr val="0000FF"/>
                </a:solidFill>
              </a:rPr>
              <a:t>数据报途中经过的路由器都不处理这些扩展首部（只有一个首部例外，即逐跳选项扩展首部）。</a:t>
            </a:r>
          </a:p>
          <a:p>
            <a:r>
              <a:rPr lang="zh-CN" altLang="en-US" dirty="0"/>
              <a:t>这样就</a:t>
            </a:r>
            <a:r>
              <a:rPr lang="zh-CN" altLang="en-US" dirty="0">
                <a:solidFill>
                  <a:srgbClr val="FF0000"/>
                </a:solidFill>
              </a:rPr>
              <a:t>大大提高了路由器的处理效率。</a:t>
            </a:r>
            <a:r>
              <a:rPr lang="zh-CN" altLang="en-US" dirty="0"/>
              <a:t> </a:t>
            </a:r>
          </a:p>
        </p:txBody>
      </p:sp>
    </p:spTree>
    <p:extLst>
      <p:ext uri="{BB962C8B-B14F-4D97-AF65-F5344CB8AC3E}">
        <p14:creationId xmlns:p14="http://schemas.microsoft.com/office/powerpoint/2010/main" val="39941517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Grp="1" noChangeArrowheads="1"/>
          </p:cNvSpPr>
          <p:nvPr>
            <p:ph type="title"/>
          </p:nvPr>
        </p:nvSpPr>
        <p:spPr/>
        <p:txBody>
          <a:bodyPr/>
          <a:lstStyle/>
          <a:p>
            <a:pPr algn="ctr"/>
            <a:r>
              <a:rPr lang="zh-CN" altLang="en-US"/>
              <a:t>六种扩展首部 </a:t>
            </a:r>
          </a:p>
        </p:txBody>
      </p:sp>
      <p:sp>
        <p:nvSpPr>
          <p:cNvPr id="647171" name="Rectangle 3"/>
          <p:cNvSpPr>
            <a:spLocks noGrp="1" noChangeArrowheads="1"/>
          </p:cNvSpPr>
          <p:nvPr>
            <p:ph idx="1"/>
          </p:nvPr>
        </p:nvSpPr>
        <p:spPr/>
        <p:txBody>
          <a:bodyPr/>
          <a:lstStyle/>
          <a:p>
            <a:pPr>
              <a:buFont typeface="Wingdings" pitchFamily="2" charset="2"/>
              <a:buNone/>
            </a:pPr>
            <a:r>
              <a:rPr lang="en-US" altLang="zh-CN" dirty="0"/>
              <a:t>	</a:t>
            </a:r>
            <a:r>
              <a:rPr lang="zh-CN" altLang="en-US" dirty="0"/>
              <a:t>在 </a:t>
            </a:r>
            <a:r>
              <a:rPr lang="en-US" altLang="zh-CN" dirty="0"/>
              <a:t>RFC 2460 </a:t>
            </a:r>
            <a:r>
              <a:rPr lang="zh-CN" altLang="en-US" dirty="0"/>
              <a:t>中定义了</a:t>
            </a:r>
            <a:r>
              <a:rPr lang="zh-CN" altLang="en-US" dirty="0">
                <a:solidFill>
                  <a:srgbClr val="FF0000"/>
                </a:solidFill>
              </a:rPr>
              <a:t>六种扩展首部：</a:t>
            </a:r>
          </a:p>
          <a:p>
            <a:r>
              <a:rPr lang="zh-CN" altLang="en-US" dirty="0"/>
              <a:t> </a:t>
            </a:r>
            <a:r>
              <a:rPr lang="en-US" altLang="zh-CN" dirty="0"/>
              <a:t>(1) </a:t>
            </a:r>
            <a:r>
              <a:rPr lang="zh-CN" altLang="en-US" dirty="0"/>
              <a:t>逐跳选项</a:t>
            </a:r>
          </a:p>
          <a:p>
            <a:r>
              <a:rPr lang="zh-CN" altLang="en-US" dirty="0"/>
              <a:t> </a:t>
            </a:r>
            <a:r>
              <a:rPr lang="en-US" altLang="zh-CN" dirty="0"/>
              <a:t>(2) </a:t>
            </a:r>
            <a:r>
              <a:rPr lang="zh-CN" altLang="en-US" dirty="0"/>
              <a:t>路由选择</a:t>
            </a:r>
          </a:p>
          <a:p>
            <a:r>
              <a:rPr lang="zh-CN" altLang="en-US" dirty="0"/>
              <a:t> </a:t>
            </a:r>
            <a:r>
              <a:rPr lang="en-US" altLang="zh-CN" dirty="0"/>
              <a:t>(3) </a:t>
            </a:r>
            <a:r>
              <a:rPr lang="zh-CN" altLang="en-US" dirty="0"/>
              <a:t>分片</a:t>
            </a:r>
          </a:p>
          <a:p>
            <a:r>
              <a:rPr lang="zh-CN" altLang="en-US" dirty="0"/>
              <a:t> </a:t>
            </a:r>
            <a:r>
              <a:rPr lang="en-US" altLang="zh-CN" dirty="0"/>
              <a:t>(4) </a:t>
            </a:r>
            <a:r>
              <a:rPr lang="zh-CN" altLang="en-US" dirty="0"/>
              <a:t>鉴别</a:t>
            </a:r>
          </a:p>
          <a:p>
            <a:r>
              <a:rPr lang="zh-CN" altLang="en-US" dirty="0"/>
              <a:t> </a:t>
            </a:r>
            <a:r>
              <a:rPr lang="en-US" altLang="zh-CN" dirty="0"/>
              <a:t>(5) </a:t>
            </a:r>
            <a:r>
              <a:rPr lang="zh-CN" altLang="en-US" dirty="0"/>
              <a:t>封装安全有效载荷</a:t>
            </a:r>
          </a:p>
          <a:p>
            <a:r>
              <a:rPr lang="zh-CN" altLang="en-US" dirty="0"/>
              <a:t> </a:t>
            </a:r>
            <a:r>
              <a:rPr lang="en-US" altLang="zh-CN" dirty="0"/>
              <a:t>(6) </a:t>
            </a:r>
            <a:r>
              <a:rPr lang="zh-CN" altLang="en-US" dirty="0"/>
              <a:t>目的站选项 </a:t>
            </a:r>
          </a:p>
        </p:txBody>
      </p:sp>
      <p:sp>
        <p:nvSpPr>
          <p:cNvPr id="2" name="矩形 1"/>
          <p:cNvSpPr/>
          <p:nvPr/>
        </p:nvSpPr>
        <p:spPr>
          <a:xfrm>
            <a:off x="3872880" y="2060238"/>
            <a:ext cx="5832648" cy="2123658"/>
          </a:xfrm>
          <a:prstGeom prst="rect">
            <a:avLst/>
          </a:prstGeom>
          <a:solidFill>
            <a:srgbClr val="66FF66"/>
          </a:solidFill>
          <a:ln>
            <a:solidFill>
              <a:schemeClr val="tx1"/>
            </a:solidFill>
          </a:ln>
        </p:spPr>
        <p:txBody>
          <a:bodyPr wrap="square">
            <a:spAutoFit/>
          </a:bodyPr>
          <a:lstStyle/>
          <a:p>
            <a:pPr>
              <a:lnSpc>
                <a:spcPct val="110000"/>
              </a:lnSpc>
              <a:spcBef>
                <a:spcPts val="600"/>
              </a:spcBef>
            </a:pPr>
            <a:r>
              <a:rPr lang="zh-CN" altLang="zh-CN" sz="2400" b="1" dirty="0">
                <a:solidFill>
                  <a:srgbClr val="000099"/>
                </a:solidFill>
                <a:latin typeface="+mn-lt"/>
                <a:ea typeface="黑体" pitchFamily="2" charset="-122"/>
              </a:rPr>
              <a:t>每一个扩展首部都由若干个字段组成，它们的长度也各不</a:t>
            </a:r>
            <a:r>
              <a:rPr lang="zh-CN" altLang="en-US" sz="2400" b="1" dirty="0">
                <a:solidFill>
                  <a:srgbClr val="000099"/>
                </a:solidFill>
                <a:latin typeface="+mn-lt"/>
                <a:ea typeface="黑体" pitchFamily="2" charset="-122"/>
              </a:rPr>
              <a:t>相</a:t>
            </a:r>
            <a:r>
              <a:rPr lang="zh-CN" altLang="zh-CN" sz="2400" b="1" dirty="0">
                <a:solidFill>
                  <a:srgbClr val="000099"/>
                </a:solidFill>
                <a:latin typeface="+mn-lt"/>
                <a:ea typeface="黑体" pitchFamily="2" charset="-122"/>
              </a:rPr>
              <a:t>同。但所有扩展首部的第一个字段都是</a:t>
            </a:r>
            <a:r>
              <a:rPr lang="en-US" altLang="zh-CN" sz="2400" b="1" dirty="0">
                <a:solidFill>
                  <a:srgbClr val="000099"/>
                </a:solidFill>
                <a:latin typeface="+mn-lt"/>
                <a:ea typeface="黑体" pitchFamily="2" charset="-122"/>
              </a:rPr>
              <a:t>8</a:t>
            </a:r>
            <a:r>
              <a:rPr lang="zh-CN" altLang="zh-CN" sz="2400" b="1" dirty="0">
                <a:solidFill>
                  <a:srgbClr val="000099"/>
                </a:solidFill>
                <a:latin typeface="+mn-lt"/>
                <a:ea typeface="黑体" pitchFamily="2" charset="-122"/>
              </a:rPr>
              <a:t>位的“下一个首部”字段。此字段的值指出了在该扩展首部后面的字段是什么。</a:t>
            </a:r>
            <a:endParaRPr lang="zh-CN" altLang="en-US" sz="2400" b="1" dirty="0">
              <a:solidFill>
                <a:srgbClr val="000099"/>
              </a:solidFill>
              <a:latin typeface="+mn-lt"/>
              <a:ea typeface="黑体" pitchFamily="2" charset="-122"/>
            </a:endParaRPr>
          </a:p>
        </p:txBody>
      </p:sp>
    </p:spTree>
    <p:extLst>
      <p:ext uri="{BB962C8B-B14F-4D97-AF65-F5344CB8AC3E}">
        <p14:creationId xmlns:p14="http://schemas.microsoft.com/office/powerpoint/2010/main" val="29048215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IPv6 </a:t>
            </a:r>
            <a:r>
              <a:rPr lang="zh-CN" altLang="zh-CN" dirty="0"/>
              <a:t>的地址</a:t>
            </a:r>
            <a:endParaRPr lang="zh-CN" altLang="en-US" dirty="0"/>
          </a:p>
        </p:txBody>
      </p:sp>
      <p:sp>
        <p:nvSpPr>
          <p:cNvPr id="3" name="内容占位符 2"/>
          <p:cNvSpPr>
            <a:spLocks noGrp="1"/>
          </p:cNvSpPr>
          <p:nvPr>
            <p:ph idx="1"/>
          </p:nvPr>
        </p:nvSpPr>
        <p:spPr/>
        <p:txBody>
          <a:bodyPr/>
          <a:lstStyle/>
          <a:p>
            <a:r>
              <a:rPr lang="en-US" altLang="zh-CN" dirty="0"/>
              <a:t>IPv6 </a:t>
            </a:r>
            <a:r>
              <a:rPr lang="zh-CN" altLang="en-US" dirty="0"/>
              <a:t>数据报的目的地址可以是以下三种基本类型地址之一：</a:t>
            </a:r>
          </a:p>
          <a:p>
            <a:pPr lvl="1"/>
            <a:r>
              <a:rPr lang="en-US" altLang="zh-CN" dirty="0"/>
              <a:t>(1) </a:t>
            </a:r>
            <a:r>
              <a:rPr lang="zh-CN" altLang="en-US" dirty="0">
                <a:solidFill>
                  <a:srgbClr val="FF0000"/>
                </a:solidFill>
              </a:rPr>
              <a:t>单播</a:t>
            </a:r>
            <a:r>
              <a:rPr lang="zh-CN" altLang="en-US" dirty="0">
                <a:solidFill>
                  <a:schemeClr val="hlink"/>
                </a:solidFill>
              </a:rPr>
              <a:t> </a:t>
            </a:r>
            <a:r>
              <a:rPr lang="en-US" altLang="zh-CN" dirty="0"/>
              <a:t>(unicast)</a:t>
            </a:r>
            <a:r>
              <a:rPr lang="zh-CN" altLang="en-US" dirty="0"/>
              <a:t>：传统的点对点通信。</a:t>
            </a:r>
          </a:p>
          <a:p>
            <a:pPr lvl="1"/>
            <a:r>
              <a:rPr lang="en-US" altLang="zh-CN" dirty="0"/>
              <a:t>(2) </a:t>
            </a:r>
            <a:r>
              <a:rPr lang="zh-CN" altLang="en-US" dirty="0">
                <a:solidFill>
                  <a:srgbClr val="FF0000"/>
                </a:solidFill>
              </a:rPr>
              <a:t>多播</a:t>
            </a:r>
            <a:r>
              <a:rPr lang="zh-CN" altLang="en-US" dirty="0">
                <a:solidFill>
                  <a:schemeClr val="hlink"/>
                </a:solidFill>
              </a:rPr>
              <a:t> </a:t>
            </a:r>
            <a:r>
              <a:rPr lang="en-US" altLang="zh-CN" dirty="0"/>
              <a:t>(multicast)</a:t>
            </a:r>
            <a:r>
              <a:rPr lang="zh-CN" altLang="en-US" dirty="0"/>
              <a:t>：一点对多点的通信。</a:t>
            </a:r>
          </a:p>
          <a:p>
            <a:pPr lvl="1"/>
            <a:r>
              <a:rPr lang="en-US" altLang="zh-CN" dirty="0"/>
              <a:t>(3) </a:t>
            </a:r>
            <a:r>
              <a:rPr lang="zh-CN" altLang="en-US" dirty="0">
                <a:solidFill>
                  <a:srgbClr val="FF0000"/>
                </a:solidFill>
              </a:rPr>
              <a:t>任播</a:t>
            </a:r>
            <a:r>
              <a:rPr lang="zh-CN" altLang="en-US" dirty="0">
                <a:solidFill>
                  <a:schemeClr val="hlink"/>
                </a:solidFill>
              </a:rPr>
              <a:t> </a:t>
            </a:r>
            <a:r>
              <a:rPr lang="en-US" altLang="zh-CN" dirty="0"/>
              <a:t>(</a:t>
            </a:r>
            <a:r>
              <a:rPr lang="en-US" altLang="zh-CN" dirty="0" err="1"/>
              <a:t>anycast</a:t>
            </a:r>
            <a:r>
              <a:rPr lang="en-US" altLang="zh-CN" dirty="0"/>
              <a:t>)</a:t>
            </a:r>
            <a:r>
              <a:rPr lang="zh-CN" altLang="en-US" dirty="0"/>
              <a:t>：这是 </a:t>
            </a:r>
            <a:r>
              <a:rPr lang="en-US" altLang="zh-CN" dirty="0"/>
              <a:t>IPv6 </a:t>
            </a:r>
            <a:r>
              <a:rPr lang="zh-CN" altLang="en-US" dirty="0"/>
              <a:t>增加的一种类型。任播的目的站是一组计算机，但数据报在交付时只交付其中的一个，通常是距离最近的一个。 </a:t>
            </a:r>
          </a:p>
        </p:txBody>
      </p:sp>
    </p:spTree>
    <p:extLst>
      <p:ext uri="{BB962C8B-B14F-4D97-AF65-F5344CB8AC3E}">
        <p14:creationId xmlns:p14="http://schemas.microsoft.com/office/powerpoint/2010/main" val="13442922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p:txBody>
          <a:bodyPr/>
          <a:lstStyle/>
          <a:p>
            <a:pPr algn="ctr"/>
            <a:r>
              <a:rPr lang="zh-CN" altLang="en-US" dirty="0"/>
              <a:t>冒号十六进制记法</a:t>
            </a:r>
            <a:endParaRPr lang="en-US" altLang="zh-CN" dirty="0"/>
          </a:p>
        </p:txBody>
      </p:sp>
      <p:sp>
        <p:nvSpPr>
          <p:cNvPr id="655363" name="Rectangle 3"/>
          <p:cNvSpPr>
            <a:spLocks noGrp="1" noChangeArrowheads="1"/>
          </p:cNvSpPr>
          <p:nvPr>
            <p:ph idx="1"/>
          </p:nvPr>
        </p:nvSpPr>
        <p:spPr/>
        <p:txBody>
          <a:bodyPr/>
          <a:lstStyle/>
          <a:p>
            <a:r>
              <a:rPr lang="zh-CN" altLang="zh-CN" sz="2800" dirty="0"/>
              <a:t>在</a:t>
            </a:r>
            <a:r>
              <a:rPr lang="en-US" altLang="zh-CN" sz="2800" dirty="0"/>
              <a:t> IPv6 </a:t>
            </a:r>
            <a:r>
              <a:rPr lang="zh-CN" altLang="zh-CN" sz="2800" dirty="0"/>
              <a:t>中，每个地址占</a:t>
            </a:r>
            <a:r>
              <a:rPr lang="en-US" altLang="zh-CN" sz="2800" dirty="0"/>
              <a:t> 128 </a:t>
            </a:r>
            <a:r>
              <a:rPr lang="zh-CN" altLang="zh-CN" sz="2800" dirty="0"/>
              <a:t>位，地址空间大于</a:t>
            </a:r>
            <a:r>
              <a:rPr lang="en-US" altLang="zh-CN" sz="2800" dirty="0"/>
              <a:t> 3.4</a:t>
            </a:r>
            <a:r>
              <a:rPr lang="en-US" altLang="zh-CN" sz="2800" dirty="0">
                <a:sym typeface="Symbol"/>
              </a:rPr>
              <a:t></a:t>
            </a:r>
            <a:r>
              <a:rPr lang="en-US" altLang="zh-CN" sz="2800" dirty="0"/>
              <a:t>10</a:t>
            </a:r>
            <a:r>
              <a:rPr lang="en-US" altLang="zh-CN" sz="2800" baseline="30000" dirty="0"/>
              <a:t>38</a:t>
            </a:r>
            <a:r>
              <a:rPr lang="en-US" altLang="zh-CN" sz="2800" dirty="0"/>
              <a:t> </a:t>
            </a:r>
            <a:r>
              <a:rPr lang="zh-CN" altLang="en-US" sz="2800" dirty="0"/>
              <a:t>。</a:t>
            </a:r>
            <a:endParaRPr lang="en-US" altLang="zh-CN" sz="2800" dirty="0"/>
          </a:p>
          <a:p>
            <a:r>
              <a:rPr lang="zh-CN" altLang="zh-CN" sz="2800" dirty="0"/>
              <a:t>为了使地址再稍简洁些，</a:t>
            </a:r>
            <a:r>
              <a:rPr lang="en-US" altLang="zh-CN" sz="2800" dirty="0"/>
              <a:t>IPv6 </a:t>
            </a:r>
            <a:r>
              <a:rPr lang="zh-CN" altLang="zh-CN" sz="2800" dirty="0"/>
              <a:t>使用</a:t>
            </a:r>
            <a:r>
              <a:rPr lang="zh-CN" altLang="zh-CN" sz="2800" dirty="0">
                <a:solidFill>
                  <a:srgbClr val="FF0000"/>
                </a:solidFill>
              </a:rPr>
              <a:t>冒号十六进制记法</a:t>
            </a:r>
            <a:r>
              <a:rPr lang="en-US" altLang="zh-CN" sz="2800" dirty="0"/>
              <a:t>(colon hexadecimal notation, </a:t>
            </a:r>
            <a:r>
              <a:rPr lang="zh-CN" altLang="zh-CN" sz="2800" dirty="0"/>
              <a:t>简写为</a:t>
            </a:r>
            <a:r>
              <a:rPr lang="en-US" altLang="zh-CN" sz="2800" dirty="0"/>
              <a:t> colon hex)</a:t>
            </a:r>
            <a:r>
              <a:rPr lang="zh-CN" altLang="en-US" sz="2800" dirty="0"/>
              <a:t>。</a:t>
            </a:r>
            <a:endParaRPr lang="en-US" altLang="zh-CN" sz="2800" dirty="0"/>
          </a:p>
          <a:p>
            <a:r>
              <a:rPr lang="zh-CN" altLang="en-US" sz="2800" dirty="0"/>
              <a:t>每个 </a:t>
            </a:r>
            <a:r>
              <a:rPr lang="en-US" altLang="zh-CN" sz="2800" dirty="0"/>
              <a:t>16 </a:t>
            </a:r>
            <a:r>
              <a:rPr lang="zh-CN" altLang="en-US" sz="2800" dirty="0"/>
              <a:t>位的值用十六进制值表示，各值之间用冒号分隔。例如：</a:t>
            </a:r>
            <a:endParaRPr lang="en-US" altLang="zh-CN" sz="2800" dirty="0"/>
          </a:p>
          <a:p>
            <a:pPr marL="0" indent="0">
              <a:buNone/>
            </a:pPr>
            <a:r>
              <a:rPr lang="en-US" altLang="zh-CN" sz="2800" dirty="0"/>
              <a:t>   </a:t>
            </a:r>
            <a:r>
              <a:rPr lang="en-US" altLang="zh-CN" dirty="0">
                <a:solidFill>
                  <a:srgbClr val="0000FF"/>
                </a:solidFill>
              </a:rPr>
              <a:t>68E6:8C64:FFFF:FFFF:0:1180:960A:FFFF</a:t>
            </a:r>
          </a:p>
          <a:p>
            <a:r>
              <a:rPr lang="zh-CN" altLang="zh-CN" sz="2800" dirty="0"/>
              <a:t>在十六进制记法中，允许把数字前面的</a:t>
            </a:r>
            <a:r>
              <a:rPr lang="en-US" altLang="zh-CN" sz="2800" dirty="0"/>
              <a:t> 0 </a:t>
            </a:r>
            <a:r>
              <a:rPr lang="zh-CN" altLang="zh-CN" sz="2800" dirty="0"/>
              <a:t>省略。</a:t>
            </a:r>
            <a:r>
              <a:rPr lang="zh-CN" altLang="en-US" sz="2800" dirty="0"/>
              <a:t>例如</a:t>
            </a:r>
            <a:r>
              <a:rPr lang="zh-CN" altLang="zh-CN" sz="2800" dirty="0"/>
              <a:t>把</a:t>
            </a:r>
            <a:r>
              <a:rPr lang="en-US" altLang="zh-CN" sz="2800" dirty="0"/>
              <a:t> 0000 </a:t>
            </a:r>
            <a:r>
              <a:rPr lang="zh-CN" altLang="zh-CN" sz="2800" dirty="0"/>
              <a:t>中的前三个</a:t>
            </a:r>
            <a:r>
              <a:rPr lang="en-US" altLang="zh-CN" sz="2800" dirty="0"/>
              <a:t> 0 </a:t>
            </a:r>
            <a:r>
              <a:rPr lang="zh-CN" altLang="zh-CN" sz="2800" dirty="0"/>
              <a:t>省略</a:t>
            </a:r>
            <a:r>
              <a:rPr lang="zh-CN" altLang="en-US" sz="2800" dirty="0"/>
              <a:t>，写成 </a:t>
            </a:r>
            <a:r>
              <a:rPr lang="en-US" altLang="zh-CN" sz="2800" dirty="0"/>
              <a:t>1 </a:t>
            </a:r>
            <a:r>
              <a:rPr lang="zh-CN" altLang="en-US" sz="2800" dirty="0"/>
              <a:t>个 </a:t>
            </a:r>
            <a:r>
              <a:rPr lang="en-US" altLang="zh-CN" sz="2800" dirty="0"/>
              <a:t>0</a:t>
            </a:r>
            <a:r>
              <a:rPr lang="zh-CN" altLang="zh-CN" sz="2800" dirty="0"/>
              <a:t>。</a:t>
            </a:r>
          </a:p>
          <a:p>
            <a:pPr marL="0" indent="0">
              <a:buNone/>
            </a:pPr>
            <a:endParaRPr lang="en-US" altLang="zh-CN" dirty="0">
              <a:solidFill>
                <a:srgbClr val="0000FF"/>
              </a:solidFill>
            </a:endParaRPr>
          </a:p>
        </p:txBody>
      </p:sp>
    </p:spTree>
    <p:extLst>
      <p:ext uri="{BB962C8B-B14F-4D97-AF65-F5344CB8AC3E}">
        <p14:creationId xmlns:p14="http://schemas.microsoft.com/office/powerpoint/2010/main" val="19065771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p:txBody>
          <a:bodyPr/>
          <a:lstStyle/>
          <a:p>
            <a:pPr algn="ctr"/>
            <a:r>
              <a:rPr lang="zh-CN" altLang="zh-CN" dirty="0"/>
              <a:t>零压缩</a:t>
            </a:r>
            <a:endParaRPr lang="en-US" altLang="zh-CN" dirty="0"/>
          </a:p>
        </p:txBody>
      </p:sp>
      <p:sp>
        <p:nvSpPr>
          <p:cNvPr id="655363" name="Rectangle 3"/>
          <p:cNvSpPr>
            <a:spLocks noGrp="1" noChangeArrowheads="1"/>
          </p:cNvSpPr>
          <p:nvPr>
            <p:ph idx="1"/>
          </p:nvPr>
        </p:nvSpPr>
        <p:spPr/>
        <p:txBody>
          <a:bodyPr/>
          <a:lstStyle/>
          <a:p>
            <a:r>
              <a:rPr lang="zh-CN" altLang="zh-CN" dirty="0"/>
              <a:t>冒号十六进制记法可以允许</a:t>
            </a:r>
            <a:r>
              <a:rPr lang="zh-CN" altLang="zh-CN" dirty="0">
                <a:solidFill>
                  <a:srgbClr val="FF0000"/>
                </a:solidFill>
              </a:rPr>
              <a:t>零压缩</a:t>
            </a:r>
            <a:r>
              <a:rPr lang="en-US" altLang="zh-CN" dirty="0">
                <a:solidFill>
                  <a:srgbClr val="FF0000"/>
                </a:solidFill>
              </a:rPr>
              <a:t> </a:t>
            </a:r>
            <a:r>
              <a:rPr lang="en-US" altLang="zh-CN" dirty="0"/>
              <a:t>(zero compression)</a:t>
            </a:r>
            <a:r>
              <a:rPr lang="zh-CN" altLang="zh-CN" dirty="0"/>
              <a:t>，即一连串连续的零可以为一对冒号所取代</a:t>
            </a:r>
            <a:r>
              <a:rPr lang="zh-CN" altLang="en-US" dirty="0"/>
              <a:t>。</a:t>
            </a:r>
            <a:endParaRPr lang="en-US" altLang="zh-CN" dirty="0"/>
          </a:p>
          <a:p>
            <a:pPr marL="0" indent="0">
              <a:buNone/>
            </a:pPr>
            <a:r>
              <a:rPr lang="en-US" altLang="zh-CN" dirty="0"/>
              <a:t>    FF05:0:0:0:0:0:0:B3    </a:t>
            </a:r>
            <a:r>
              <a:rPr lang="zh-CN" altLang="zh-CN" dirty="0"/>
              <a:t>可压缩为：</a:t>
            </a:r>
            <a:r>
              <a:rPr lang="en-US" altLang="zh-CN" dirty="0"/>
              <a:t>   </a:t>
            </a:r>
          </a:p>
          <a:p>
            <a:pPr marL="0" indent="0">
              <a:buNone/>
            </a:pPr>
            <a:r>
              <a:rPr lang="en-US" altLang="zh-CN" dirty="0"/>
              <a:t>    FF05::B3</a:t>
            </a:r>
            <a:endParaRPr lang="zh-CN" altLang="zh-CN" dirty="0"/>
          </a:p>
          <a:p>
            <a:r>
              <a:rPr lang="zh-CN" altLang="en-US" dirty="0">
                <a:solidFill>
                  <a:srgbClr val="FF0000"/>
                </a:solidFill>
              </a:rPr>
              <a:t>注意：</a:t>
            </a:r>
            <a:r>
              <a:rPr lang="zh-CN" altLang="zh-CN" dirty="0">
                <a:solidFill>
                  <a:srgbClr val="FF0000"/>
                </a:solidFill>
              </a:rPr>
              <a:t>在任一地址中只能使用一次零压缩。</a:t>
            </a:r>
          </a:p>
          <a:p>
            <a:endParaRPr lang="en-US" altLang="zh-CN" dirty="0"/>
          </a:p>
        </p:txBody>
      </p:sp>
    </p:spTree>
    <p:extLst>
      <p:ext uri="{BB962C8B-B14F-4D97-AF65-F5344CB8AC3E}">
        <p14:creationId xmlns:p14="http://schemas.microsoft.com/office/powerpoint/2010/main" val="249772490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a:lstStyle/>
          <a:p>
            <a:pPr algn="ctr"/>
            <a:r>
              <a:rPr lang="zh-CN" altLang="en-US" dirty="0"/>
              <a:t>点分十进制记法的后缀 </a:t>
            </a:r>
          </a:p>
        </p:txBody>
      </p:sp>
      <p:sp>
        <p:nvSpPr>
          <p:cNvPr id="656387" name="Rectangle 3"/>
          <p:cNvSpPr>
            <a:spLocks noGrp="1" noChangeArrowheads="1"/>
          </p:cNvSpPr>
          <p:nvPr>
            <p:ph idx="1"/>
          </p:nvPr>
        </p:nvSpPr>
        <p:spPr/>
        <p:txBody>
          <a:bodyPr/>
          <a:lstStyle/>
          <a:p>
            <a:r>
              <a:rPr lang="zh-CN" altLang="zh-CN" sz="2800" dirty="0"/>
              <a:t>冒号十六进制记法可结合使用点分十进制记法的后缀</a:t>
            </a:r>
            <a:r>
              <a:rPr lang="zh-CN" altLang="en-US" sz="2800" dirty="0"/>
              <a:t>，</a:t>
            </a:r>
            <a:r>
              <a:rPr lang="zh-CN" altLang="zh-CN" sz="2800" dirty="0"/>
              <a:t>这种结合在</a:t>
            </a:r>
            <a:r>
              <a:rPr lang="en-US" altLang="zh-CN" sz="2800" dirty="0"/>
              <a:t> IPv4 </a:t>
            </a:r>
            <a:r>
              <a:rPr lang="zh-CN" altLang="zh-CN" sz="2800" dirty="0"/>
              <a:t>向</a:t>
            </a:r>
            <a:r>
              <a:rPr lang="en-US" altLang="zh-CN" sz="2800" dirty="0"/>
              <a:t> IPv6 </a:t>
            </a:r>
            <a:r>
              <a:rPr lang="zh-CN" altLang="zh-CN" sz="2800" dirty="0"/>
              <a:t>的转换阶段特别有用。</a:t>
            </a:r>
            <a:endParaRPr lang="en-US" altLang="zh-CN" sz="2800" dirty="0"/>
          </a:p>
          <a:p>
            <a:r>
              <a:rPr lang="zh-CN" altLang="en-US" sz="2800" dirty="0"/>
              <a:t>例如：</a:t>
            </a:r>
            <a:r>
              <a:rPr lang="en-US" altLang="zh-CN" sz="2800" dirty="0">
                <a:solidFill>
                  <a:srgbClr val="0000FF"/>
                </a:solidFill>
              </a:rPr>
              <a:t>0:0:0:0:0:0:128.10.2.1</a:t>
            </a:r>
          </a:p>
          <a:p>
            <a:pPr marL="0" indent="0">
              <a:buNone/>
            </a:pPr>
            <a:r>
              <a:rPr lang="en-US" altLang="zh-CN" sz="2800" dirty="0"/>
              <a:t>    </a:t>
            </a:r>
            <a:r>
              <a:rPr lang="zh-CN" altLang="en-US" sz="2800" dirty="0"/>
              <a:t>再使用零压缩即可得出：  </a:t>
            </a:r>
            <a:r>
              <a:rPr lang="en-US" altLang="zh-CN" sz="2800" dirty="0">
                <a:solidFill>
                  <a:srgbClr val="0000FF"/>
                </a:solidFill>
              </a:rPr>
              <a:t>::128.10.2.1</a:t>
            </a:r>
          </a:p>
          <a:p>
            <a:r>
              <a:rPr lang="en-US" altLang="zh-CN" sz="2800" dirty="0">
                <a:solidFill>
                  <a:srgbClr val="FF0000"/>
                </a:solidFill>
              </a:rPr>
              <a:t>CIDR </a:t>
            </a:r>
            <a:r>
              <a:rPr lang="zh-CN" altLang="en-US" sz="2800" dirty="0">
                <a:solidFill>
                  <a:srgbClr val="FF0000"/>
                </a:solidFill>
              </a:rPr>
              <a:t>的斜线表示法仍然可用。</a:t>
            </a:r>
          </a:p>
          <a:p>
            <a:r>
              <a:rPr lang="zh-CN" altLang="en-US" sz="2800" dirty="0"/>
              <a:t>例如：</a:t>
            </a:r>
            <a:r>
              <a:rPr lang="en-US" altLang="zh-CN" sz="2800" dirty="0"/>
              <a:t>60 </a:t>
            </a:r>
            <a:r>
              <a:rPr lang="zh-CN" altLang="en-US" sz="2800" dirty="0"/>
              <a:t>位的前缀 </a:t>
            </a:r>
            <a:r>
              <a:rPr lang="en-US" altLang="zh-CN" sz="2800" dirty="0"/>
              <a:t>12AB00000000CD3 </a:t>
            </a:r>
            <a:r>
              <a:rPr lang="zh-CN" altLang="en-US" sz="2800" dirty="0"/>
              <a:t>可记为：</a:t>
            </a:r>
          </a:p>
          <a:p>
            <a:pPr>
              <a:buFont typeface="Wingdings" pitchFamily="2" charset="2"/>
              <a:buNone/>
            </a:pPr>
            <a:r>
              <a:rPr lang="zh-CN" altLang="en-US" sz="2800" dirty="0"/>
              <a:t>    </a:t>
            </a:r>
            <a:r>
              <a:rPr lang="en-US" altLang="zh-CN" sz="2800" dirty="0">
                <a:solidFill>
                  <a:srgbClr val="0000FF"/>
                </a:solidFill>
              </a:rPr>
              <a:t>12AB:0000:0000:CD30:0000:0000:0000:0000/60</a:t>
            </a:r>
          </a:p>
          <a:p>
            <a:pPr>
              <a:buFont typeface="Wingdings" pitchFamily="2" charset="2"/>
              <a:buNone/>
            </a:pPr>
            <a:r>
              <a:rPr lang="zh-CN" altLang="en-US" sz="2800" dirty="0"/>
              <a:t>或 </a:t>
            </a:r>
            <a:r>
              <a:rPr lang="en-US" altLang="zh-CN" sz="2800" dirty="0">
                <a:solidFill>
                  <a:srgbClr val="0000FF"/>
                </a:solidFill>
              </a:rPr>
              <a:t>12AB::CD30:0:0:0:0/60 </a:t>
            </a:r>
            <a:r>
              <a:rPr lang="zh-CN" altLang="en-US" sz="2800" dirty="0">
                <a:solidFill>
                  <a:srgbClr val="0000FF"/>
                </a:solidFill>
              </a:rPr>
              <a:t>（零压缩）</a:t>
            </a:r>
            <a:endParaRPr lang="en-US" altLang="zh-CN" sz="2800" dirty="0">
              <a:solidFill>
                <a:srgbClr val="0000FF"/>
              </a:solidFill>
            </a:endParaRPr>
          </a:p>
          <a:p>
            <a:pPr>
              <a:buNone/>
            </a:pPr>
            <a:r>
              <a:rPr lang="zh-CN" altLang="en-US" sz="2800" dirty="0"/>
              <a:t>或 </a:t>
            </a:r>
            <a:r>
              <a:rPr lang="en-US" altLang="zh-CN" sz="2800" dirty="0">
                <a:solidFill>
                  <a:srgbClr val="0000FF"/>
                </a:solidFill>
              </a:rPr>
              <a:t>12AB:0:0:CD30::/60</a:t>
            </a:r>
            <a:r>
              <a:rPr lang="en-US" altLang="zh-CN" dirty="0">
                <a:solidFill>
                  <a:srgbClr val="0000FF"/>
                </a:solidFill>
              </a:rPr>
              <a:t> </a:t>
            </a:r>
            <a:r>
              <a:rPr lang="zh-CN" altLang="en-US" sz="2800" dirty="0">
                <a:solidFill>
                  <a:srgbClr val="0000FF"/>
                </a:solidFill>
              </a:rPr>
              <a:t>（零压缩）</a:t>
            </a:r>
            <a:endParaRPr lang="en-US" altLang="zh-CN" sz="2800" dirty="0">
              <a:solidFill>
                <a:srgbClr val="0000FF"/>
              </a:solidFill>
            </a:endParaRPr>
          </a:p>
        </p:txBody>
      </p:sp>
    </p:spTree>
    <p:extLst>
      <p:ext uri="{BB962C8B-B14F-4D97-AF65-F5344CB8AC3E}">
        <p14:creationId xmlns:p14="http://schemas.microsoft.com/office/powerpoint/2010/main" val="26170997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IPv6 </a:t>
            </a:r>
            <a:r>
              <a:rPr lang="zh-CN" altLang="en-US" dirty="0"/>
              <a:t>地址分类</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563256459"/>
              </p:ext>
            </p:extLst>
          </p:nvPr>
        </p:nvGraphicFramePr>
        <p:xfrm>
          <a:off x="704528" y="1700808"/>
          <a:ext cx="8928992" cy="3096342"/>
        </p:xfrm>
        <a:graphic>
          <a:graphicData uri="http://schemas.openxmlformats.org/drawingml/2006/table">
            <a:tbl>
              <a:tblPr>
                <a:tableStyleId>{5C22544A-7EE6-4342-B048-85BDC9FD1C3A}</a:tableStyleId>
              </a:tblPr>
              <a:tblGrid>
                <a:gridCol w="2799907">
                  <a:extLst>
                    <a:ext uri="{9D8B030D-6E8A-4147-A177-3AD203B41FA5}">
                      <a16:colId xmlns:a16="http://schemas.microsoft.com/office/drawing/2014/main" val="20000"/>
                    </a:ext>
                  </a:extLst>
                </a:gridCol>
                <a:gridCol w="6129085">
                  <a:extLst>
                    <a:ext uri="{9D8B030D-6E8A-4147-A177-3AD203B41FA5}">
                      <a16:colId xmlns:a16="http://schemas.microsoft.com/office/drawing/2014/main" val="20001"/>
                    </a:ext>
                  </a:extLst>
                </a:gridCol>
              </a:tblGrid>
              <a:tr h="516057">
                <a:tc>
                  <a:txBody>
                    <a:bodyPr/>
                    <a:lstStyle/>
                    <a:p>
                      <a:pPr algn="ctr">
                        <a:lnSpc>
                          <a:spcPct val="100000"/>
                        </a:lnSpc>
                        <a:spcAft>
                          <a:spcPts val="0"/>
                        </a:spcAft>
                      </a:pPr>
                      <a:r>
                        <a:rPr lang="zh-CN" sz="2400" b="1" dirty="0">
                          <a:solidFill>
                            <a:schemeClr val="tx1"/>
                          </a:solidFill>
                          <a:effectLst/>
                          <a:latin typeface="+mn-lt"/>
                          <a:ea typeface="黑体" pitchFamily="2" charset="-122"/>
                        </a:rPr>
                        <a:t>地址类型</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a:lnSpc>
                          <a:spcPct val="100000"/>
                        </a:lnSpc>
                        <a:spcAft>
                          <a:spcPts val="0"/>
                        </a:spcAft>
                      </a:pPr>
                      <a:r>
                        <a:rPr lang="zh-CN" sz="2400" b="1" dirty="0">
                          <a:solidFill>
                            <a:schemeClr val="tx1"/>
                          </a:solidFill>
                          <a:effectLst/>
                          <a:latin typeface="+mn-lt"/>
                          <a:ea typeface="黑体" pitchFamily="2" charset="-122"/>
                        </a:rPr>
                        <a:t>二进制前缀</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0"/>
                  </a:ext>
                </a:extLst>
              </a:tr>
              <a:tr h="516057">
                <a:tc>
                  <a:txBody>
                    <a:bodyPr/>
                    <a:lstStyle/>
                    <a:p>
                      <a:pPr algn="just">
                        <a:lnSpc>
                          <a:spcPct val="100000"/>
                        </a:lnSpc>
                        <a:spcAft>
                          <a:spcPts val="0"/>
                        </a:spcAft>
                      </a:pPr>
                      <a:r>
                        <a:rPr lang="zh-CN" sz="2400" b="1">
                          <a:solidFill>
                            <a:schemeClr val="tx1"/>
                          </a:solidFill>
                          <a:effectLst/>
                          <a:latin typeface="+mn-lt"/>
                          <a:ea typeface="黑体" pitchFamily="2" charset="-122"/>
                        </a:rPr>
                        <a:t>未指明地址</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400" b="1" dirty="0">
                          <a:solidFill>
                            <a:schemeClr val="tx1"/>
                          </a:solidFill>
                          <a:effectLst/>
                          <a:latin typeface="+mn-lt"/>
                          <a:ea typeface="黑体" pitchFamily="2" charset="-122"/>
                        </a:rPr>
                        <a:t>00…0</a:t>
                      </a:r>
                      <a:r>
                        <a:rPr lang="zh-CN" sz="2400" b="1" dirty="0">
                          <a:solidFill>
                            <a:schemeClr val="tx1"/>
                          </a:solidFill>
                          <a:effectLst/>
                          <a:latin typeface="+mn-lt"/>
                          <a:ea typeface="黑体" pitchFamily="2" charset="-122"/>
                        </a:rPr>
                        <a:t>（</a:t>
                      </a:r>
                      <a:r>
                        <a:rPr lang="en-US" sz="2400" b="1" dirty="0">
                          <a:solidFill>
                            <a:schemeClr val="tx1"/>
                          </a:solidFill>
                          <a:effectLst/>
                          <a:latin typeface="+mn-lt"/>
                          <a:ea typeface="黑体" pitchFamily="2" charset="-122"/>
                        </a:rPr>
                        <a:t>128</a:t>
                      </a:r>
                      <a:r>
                        <a:rPr lang="zh-CN" sz="2400" b="1" dirty="0">
                          <a:solidFill>
                            <a:schemeClr val="tx1"/>
                          </a:solidFill>
                          <a:effectLst/>
                          <a:latin typeface="+mn-lt"/>
                          <a:ea typeface="黑体" pitchFamily="2" charset="-122"/>
                        </a:rPr>
                        <a:t>位），可记为</a:t>
                      </a:r>
                      <a:r>
                        <a:rPr lang="en-US" altLang="zh-CN" sz="2400" b="1" dirty="0">
                          <a:solidFill>
                            <a:schemeClr val="tx1"/>
                          </a:solidFill>
                          <a:effectLst/>
                          <a:latin typeface="+mn-lt"/>
                          <a:ea typeface="黑体" pitchFamily="2" charset="-122"/>
                        </a:rPr>
                        <a:t> </a:t>
                      </a:r>
                      <a:r>
                        <a:rPr lang="en-US" sz="2400" b="1" dirty="0">
                          <a:solidFill>
                            <a:schemeClr val="tx1"/>
                          </a:solidFill>
                          <a:effectLst/>
                          <a:latin typeface="+mn-lt"/>
                          <a:ea typeface="黑体" pitchFamily="2" charset="-122"/>
                        </a:rPr>
                        <a:t>::/128</a:t>
                      </a:r>
                      <a:r>
                        <a:rPr lang="zh-CN" sz="2400" b="1" dirty="0">
                          <a:solidFill>
                            <a:schemeClr val="tx1"/>
                          </a:solidFill>
                          <a:effectLst/>
                          <a:latin typeface="+mn-lt"/>
                          <a:ea typeface="黑体" pitchFamily="2" charset="-122"/>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16057">
                <a:tc>
                  <a:txBody>
                    <a:bodyPr/>
                    <a:lstStyle/>
                    <a:p>
                      <a:pPr algn="just">
                        <a:lnSpc>
                          <a:spcPct val="100000"/>
                        </a:lnSpc>
                        <a:spcAft>
                          <a:spcPts val="0"/>
                        </a:spcAft>
                      </a:pPr>
                      <a:r>
                        <a:rPr lang="zh-CN" sz="2400" b="1">
                          <a:solidFill>
                            <a:schemeClr val="tx1"/>
                          </a:solidFill>
                          <a:effectLst/>
                          <a:latin typeface="+mn-lt"/>
                          <a:ea typeface="黑体" pitchFamily="2" charset="-122"/>
                        </a:rPr>
                        <a:t>环回地址</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400" b="1" dirty="0">
                          <a:solidFill>
                            <a:schemeClr val="tx1"/>
                          </a:solidFill>
                          <a:effectLst/>
                          <a:latin typeface="+mn-lt"/>
                          <a:ea typeface="黑体" pitchFamily="2" charset="-122"/>
                        </a:rPr>
                        <a:t>00…1</a:t>
                      </a:r>
                      <a:r>
                        <a:rPr lang="zh-CN" sz="2400" b="1" dirty="0">
                          <a:solidFill>
                            <a:schemeClr val="tx1"/>
                          </a:solidFill>
                          <a:effectLst/>
                          <a:latin typeface="+mn-lt"/>
                          <a:ea typeface="黑体" pitchFamily="2" charset="-122"/>
                        </a:rPr>
                        <a:t>（</a:t>
                      </a:r>
                      <a:r>
                        <a:rPr lang="en-US" sz="2400" b="1" dirty="0">
                          <a:solidFill>
                            <a:schemeClr val="tx1"/>
                          </a:solidFill>
                          <a:effectLst/>
                          <a:latin typeface="+mn-lt"/>
                          <a:ea typeface="黑体" pitchFamily="2" charset="-122"/>
                        </a:rPr>
                        <a:t>128</a:t>
                      </a:r>
                      <a:r>
                        <a:rPr lang="zh-CN" sz="2400" b="1" dirty="0">
                          <a:solidFill>
                            <a:schemeClr val="tx1"/>
                          </a:solidFill>
                          <a:effectLst/>
                          <a:latin typeface="+mn-lt"/>
                          <a:ea typeface="黑体" pitchFamily="2" charset="-122"/>
                        </a:rPr>
                        <a:t>位），可记为</a:t>
                      </a:r>
                      <a:r>
                        <a:rPr lang="en-US" altLang="zh-CN" sz="2400" b="1" dirty="0">
                          <a:solidFill>
                            <a:schemeClr val="tx1"/>
                          </a:solidFill>
                          <a:effectLst/>
                          <a:latin typeface="+mn-lt"/>
                          <a:ea typeface="黑体" pitchFamily="2" charset="-122"/>
                        </a:rPr>
                        <a:t> </a:t>
                      </a:r>
                      <a:r>
                        <a:rPr lang="en-US" sz="2400" b="1" dirty="0">
                          <a:solidFill>
                            <a:schemeClr val="tx1"/>
                          </a:solidFill>
                          <a:effectLst/>
                          <a:latin typeface="+mn-lt"/>
                          <a:ea typeface="黑体" pitchFamily="2" charset="-122"/>
                        </a:rPr>
                        <a:t>::1/128</a:t>
                      </a:r>
                      <a:r>
                        <a:rPr lang="zh-CN" sz="2400" b="1" dirty="0">
                          <a:solidFill>
                            <a:schemeClr val="tx1"/>
                          </a:solidFill>
                          <a:effectLst/>
                          <a:latin typeface="+mn-lt"/>
                          <a:ea typeface="黑体" pitchFamily="2" charset="-122"/>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16057">
                <a:tc>
                  <a:txBody>
                    <a:bodyPr/>
                    <a:lstStyle/>
                    <a:p>
                      <a:pPr algn="just">
                        <a:lnSpc>
                          <a:spcPct val="100000"/>
                        </a:lnSpc>
                        <a:spcAft>
                          <a:spcPts val="0"/>
                        </a:spcAft>
                      </a:pPr>
                      <a:r>
                        <a:rPr lang="zh-CN" sz="2400" b="1">
                          <a:solidFill>
                            <a:schemeClr val="tx1"/>
                          </a:solidFill>
                          <a:effectLst/>
                          <a:latin typeface="+mn-lt"/>
                          <a:ea typeface="黑体" pitchFamily="2" charset="-122"/>
                        </a:rPr>
                        <a:t>多播地址</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400" b="1" dirty="0">
                          <a:solidFill>
                            <a:schemeClr val="tx1"/>
                          </a:solidFill>
                          <a:effectLst/>
                          <a:latin typeface="+mn-lt"/>
                          <a:ea typeface="黑体" pitchFamily="2" charset="-122"/>
                        </a:rPr>
                        <a:t>11111111</a:t>
                      </a:r>
                      <a:r>
                        <a:rPr lang="zh-CN" sz="2400" b="1" dirty="0">
                          <a:solidFill>
                            <a:schemeClr val="tx1"/>
                          </a:solidFill>
                          <a:effectLst/>
                          <a:latin typeface="+mn-lt"/>
                          <a:ea typeface="黑体" pitchFamily="2" charset="-122"/>
                        </a:rPr>
                        <a:t>（</a:t>
                      </a:r>
                      <a:r>
                        <a:rPr lang="en-US" sz="2400" b="1" dirty="0">
                          <a:solidFill>
                            <a:schemeClr val="tx1"/>
                          </a:solidFill>
                          <a:effectLst/>
                          <a:latin typeface="+mn-lt"/>
                          <a:ea typeface="黑体" pitchFamily="2" charset="-122"/>
                        </a:rPr>
                        <a:t>8</a:t>
                      </a:r>
                      <a:r>
                        <a:rPr lang="zh-CN" sz="2400" b="1" dirty="0">
                          <a:solidFill>
                            <a:schemeClr val="tx1"/>
                          </a:solidFill>
                          <a:effectLst/>
                          <a:latin typeface="+mn-lt"/>
                          <a:ea typeface="黑体" pitchFamily="2" charset="-122"/>
                        </a:rPr>
                        <a:t>位），可记为</a:t>
                      </a:r>
                      <a:r>
                        <a:rPr lang="en-US" altLang="zh-CN" sz="2400" b="1" dirty="0">
                          <a:solidFill>
                            <a:schemeClr val="tx1"/>
                          </a:solidFill>
                          <a:effectLst/>
                          <a:latin typeface="+mn-lt"/>
                          <a:ea typeface="黑体" pitchFamily="2" charset="-122"/>
                        </a:rPr>
                        <a:t> </a:t>
                      </a:r>
                      <a:r>
                        <a:rPr lang="en-US" sz="2400" b="1" dirty="0">
                          <a:solidFill>
                            <a:schemeClr val="tx1"/>
                          </a:solidFill>
                          <a:effectLst/>
                          <a:latin typeface="+mn-lt"/>
                          <a:ea typeface="黑体" pitchFamily="2" charset="-122"/>
                        </a:rPr>
                        <a:t>FF00::/8</a:t>
                      </a:r>
                      <a:r>
                        <a:rPr lang="zh-CN" sz="2400" b="1" dirty="0">
                          <a:solidFill>
                            <a:schemeClr val="tx1"/>
                          </a:solidFill>
                          <a:effectLst/>
                          <a:latin typeface="+mn-lt"/>
                          <a:ea typeface="黑体" pitchFamily="2" charset="-122"/>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16057">
                <a:tc>
                  <a:txBody>
                    <a:bodyPr/>
                    <a:lstStyle/>
                    <a:p>
                      <a:pPr algn="just">
                        <a:lnSpc>
                          <a:spcPct val="100000"/>
                        </a:lnSpc>
                        <a:spcAft>
                          <a:spcPts val="0"/>
                        </a:spcAft>
                      </a:pPr>
                      <a:r>
                        <a:rPr lang="zh-CN" sz="2400" b="1">
                          <a:solidFill>
                            <a:schemeClr val="tx1"/>
                          </a:solidFill>
                          <a:effectLst/>
                          <a:latin typeface="+mn-lt"/>
                          <a:ea typeface="黑体" pitchFamily="2" charset="-122"/>
                        </a:rPr>
                        <a:t>本地链路单播地址</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400" b="1" dirty="0">
                          <a:solidFill>
                            <a:schemeClr val="tx1"/>
                          </a:solidFill>
                          <a:effectLst/>
                          <a:latin typeface="+mn-lt"/>
                          <a:ea typeface="黑体" pitchFamily="2" charset="-122"/>
                        </a:rPr>
                        <a:t>1111111010</a:t>
                      </a:r>
                      <a:r>
                        <a:rPr lang="zh-CN" sz="2400" b="1" dirty="0">
                          <a:solidFill>
                            <a:schemeClr val="tx1"/>
                          </a:solidFill>
                          <a:effectLst/>
                          <a:latin typeface="+mn-lt"/>
                          <a:ea typeface="黑体" pitchFamily="2" charset="-122"/>
                        </a:rPr>
                        <a:t>（</a:t>
                      </a:r>
                      <a:r>
                        <a:rPr lang="en-US" sz="2400" b="1" dirty="0">
                          <a:solidFill>
                            <a:schemeClr val="tx1"/>
                          </a:solidFill>
                          <a:effectLst/>
                          <a:latin typeface="+mn-lt"/>
                          <a:ea typeface="黑体" pitchFamily="2" charset="-122"/>
                        </a:rPr>
                        <a:t>10</a:t>
                      </a:r>
                      <a:r>
                        <a:rPr lang="zh-CN" sz="2400" b="1" dirty="0">
                          <a:solidFill>
                            <a:schemeClr val="tx1"/>
                          </a:solidFill>
                          <a:effectLst/>
                          <a:latin typeface="+mn-lt"/>
                          <a:ea typeface="黑体" pitchFamily="2" charset="-122"/>
                        </a:rPr>
                        <a:t>位）</a:t>
                      </a:r>
                      <a:r>
                        <a:rPr lang="en-US" sz="2400" b="1" dirty="0">
                          <a:solidFill>
                            <a:schemeClr val="tx1"/>
                          </a:solidFill>
                          <a:effectLst/>
                          <a:latin typeface="+mn-lt"/>
                          <a:ea typeface="黑体" pitchFamily="2" charset="-122"/>
                        </a:rPr>
                        <a:t>, </a:t>
                      </a:r>
                      <a:r>
                        <a:rPr lang="zh-CN" sz="2400" b="1" dirty="0">
                          <a:solidFill>
                            <a:schemeClr val="tx1"/>
                          </a:solidFill>
                          <a:effectLst/>
                          <a:latin typeface="+mn-lt"/>
                          <a:ea typeface="黑体" pitchFamily="2" charset="-122"/>
                        </a:rPr>
                        <a:t>可记为</a:t>
                      </a:r>
                      <a:r>
                        <a:rPr lang="en-US" altLang="zh-CN" sz="2400" b="1" dirty="0">
                          <a:solidFill>
                            <a:schemeClr val="tx1"/>
                          </a:solidFill>
                          <a:effectLst/>
                          <a:latin typeface="+mn-lt"/>
                          <a:ea typeface="黑体" pitchFamily="2" charset="-122"/>
                        </a:rPr>
                        <a:t> </a:t>
                      </a:r>
                      <a:r>
                        <a:rPr lang="en-US" sz="2400" b="1" dirty="0">
                          <a:solidFill>
                            <a:schemeClr val="tx1"/>
                          </a:solidFill>
                          <a:effectLst/>
                          <a:latin typeface="+mn-lt"/>
                          <a:ea typeface="黑体" pitchFamily="2" charset="-122"/>
                        </a:rPr>
                        <a:t>FE80::/10</a:t>
                      </a:r>
                      <a:r>
                        <a:rPr lang="zh-CN" sz="2400" b="1" dirty="0">
                          <a:solidFill>
                            <a:schemeClr val="tx1"/>
                          </a:solidFill>
                          <a:effectLst/>
                          <a:latin typeface="+mn-lt"/>
                          <a:ea typeface="黑体" pitchFamily="2" charset="-122"/>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516057">
                <a:tc>
                  <a:txBody>
                    <a:bodyPr/>
                    <a:lstStyle/>
                    <a:p>
                      <a:pPr algn="just">
                        <a:lnSpc>
                          <a:spcPct val="100000"/>
                        </a:lnSpc>
                        <a:spcAft>
                          <a:spcPts val="0"/>
                        </a:spcAft>
                      </a:pPr>
                      <a:r>
                        <a:rPr lang="zh-CN" sz="2400" b="1">
                          <a:solidFill>
                            <a:schemeClr val="tx1"/>
                          </a:solidFill>
                          <a:effectLst/>
                          <a:latin typeface="+mn-lt"/>
                          <a:ea typeface="黑体" pitchFamily="2" charset="-122"/>
                        </a:rPr>
                        <a:t>全球单播地址</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400" b="1" dirty="0">
                          <a:solidFill>
                            <a:schemeClr val="tx1"/>
                          </a:solidFill>
                          <a:effectLst/>
                          <a:latin typeface="+mn-lt"/>
                          <a:ea typeface="黑体" pitchFamily="2" charset="-122"/>
                        </a:rPr>
                        <a:t>（除上述四种外，所有其他的二进制前缀）</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581880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Grp="1" noChangeArrowheads="1"/>
          </p:cNvSpPr>
          <p:nvPr>
            <p:ph type="title"/>
          </p:nvPr>
        </p:nvSpPr>
        <p:spPr/>
        <p:txBody>
          <a:bodyPr/>
          <a:lstStyle/>
          <a:p>
            <a:pPr algn="ctr"/>
            <a:r>
              <a:rPr lang="en-US" altLang="zh-CN" dirty="0"/>
              <a:t>IPv6 </a:t>
            </a:r>
            <a:r>
              <a:rPr lang="zh-CN" altLang="en-US" dirty="0"/>
              <a:t>地址分类</a:t>
            </a:r>
          </a:p>
        </p:txBody>
      </p:sp>
      <p:sp>
        <p:nvSpPr>
          <p:cNvPr id="94925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solidFill>
                  <a:srgbClr val="FF0000"/>
                </a:solidFill>
              </a:rPr>
              <a:t>未指明地址 </a:t>
            </a:r>
            <a:endParaRPr lang="en-US" altLang="zh-CN" dirty="0"/>
          </a:p>
          <a:p>
            <a:pPr lvl="1"/>
            <a:r>
              <a:rPr lang="zh-CN" altLang="en-US" dirty="0"/>
              <a:t>这是 </a:t>
            </a:r>
            <a:r>
              <a:rPr lang="en-US" altLang="zh-CN" dirty="0"/>
              <a:t>16 </a:t>
            </a:r>
            <a:r>
              <a:rPr lang="zh-CN" altLang="en-US" dirty="0"/>
              <a:t>字节的全 </a:t>
            </a:r>
            <a:r>
              <a:rPr lang="en-US" altLang="zh-CN" dirty="0"/>
              <a:t>0 </a:t>
            </a:r>
            <a:r>
              <a:rPr lang="zh-CN" altLang="en-US" dirty="0"/>
              <a:t>地址，可缩写为两个冒号“</a:t>
            </a:r>
            <a:r>
              <a:rPr lang="en-US" altLang="zh-CN" dirty="0"/>
              <a:t>::”</a:t>
            </a:r>
            <a:r>
              <a:rPr lang="zh-CN" altLang="en-US" dirty="0"/>
              <a:t>。</a:t>
            </a:r>
            <a:endParaRPr lang="en-US" altLang="zh-CN" dirty="0"/>
          </a:p>
          <a:p>
            <a:pPr lvl="1"/>
            <a:r>
              <a:rPr lang="zh-CN" altLang="en-US" dirty="0"/>
              <a:t>这个地址只能为还没有配置到一个标准的 </a:t>
            </a:r>
            <a:r>
              <a:rPr lang="en-US" altLang="zh-CN" dirty="0"/>
              <a:t>IP </a:t>
            </a:r>
            <a:r>
              <a:rPr lang="zh-CN" altLang="en-US" dirty="0"/>
              <a:t>地址的主机当作源地址使用。</a:t>
            </a:r>
            <a:endParaRPr lang="en-US" altLang="zh-CN" dirty="0"/>
          </a:p>
          <a:p>
            <a:pPr lvl="1"/>
            <a:r>
              <a:rPr lang="zh-CN" altLang="zh-CN" dirty="0"/>
              <a:t>这类地址仅此一个。</a:t>
            </a:r>
            <a:endParaRPr lang="zh-CN" altLang="en-US" dirty="0"/>
          </a:p>
          <a:p>
            <a:r>
              <a:rPr lang="zh-CN" altLang="en-US" dirty="0">
                <a:solidFill>
                  <a:srgbClr val="FF0000"/>
                </a:solidFill>
              </a:rPr>
              <a:t>环回地址</a:t>
            </a:r>
            <a:endParaRPr lang="en-US" altLang="zh-CN" dirty="0">
              <a:solidFill>
                <a:srgbClr val="FF0000"/>
              </a:solidFill>
            </a:endParaRPr>
          </a:p>
          <a:p>
            <a:pPr lvl="1"/>
            <a:r>
              <a:rPr lang="zh-CN" altLang="en-US" dirty="0"/>
              <a:t>即 </a:t>
            </a:r>
            <a:r>
              <a:rPr lang="en-US" altLang="zh-CN" dirty="0"/>
              <a:t>0:0:0:0:0:0:0:1</a:t>
            </a:r>
            <a:r>
              <a:rPr lang="zh-CN" altLang="en-US" dirty="0"/>
              <a:t>（记为 </a:t>
            </a:r>
            <a:r>
              <a:rPr lang="en-US" altLang="zh-CN" dirty="0"/>
              <a:t>::1</a:t>
            </a:r>
            <a:r>
              <a:rPr lang="zh-CN" altLang="en-US" dirty="0"/>
              <a:t>）。</a:t>
            </a:r>
            <a:endParaRPr lang="en-US" altLang="zh-CN" dirty="0"/>
          </a:p>
          <a:p>
            <a:pPr lvl="1"/>
            <a:r>
              <a:rPr lang="zh-CN" altLang="zh-CN" dirty="0"/>
              <a:t>作用和</a:t>
            </a:r>
            <a:r>
              <a:rPr lang="en-US" altLang="zh-CN" dirty="0"/>
              <a:t> IPv4 </a:t>
            </a:r>
            <a:r>
              <a:rPr lang="zh-CN" altLang="zh-CN" dirty="0"/>
              <a:t>的环回地址一样。</a:t>
            </a:r>
            <a:endParaRPr lang="en-US" altLang="zh-CN" dirty="0"/>
          </a:p>
          <a:p>
            <a:pPr lvl="1"/>
            <a:r>
              <a:rPr lang="zh-CN" altLang="zh-CN" dirty="0"/>
              <a:t>这类地址也是仅此一个。</a:t>
            </a:r>
            <a:endParaRPr lang="zh-CN" altLang="en-US" dirty="0"/>
          </a:p>
        </p:txBody>
      </p:sp>
    </p:spTree>
    <p:extLst>
      <p:ext uri="{BB962C8B-B14F-4D97-AF65-F5344CB8AC3E}">
        <p14:creationId xmlns:p14="http://schemas.microsoft.com/office/powerpoint/2010/main" val="20600365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Grp="1" noChangeArrowheads="1"/>
          </p:cNvSpPr>
          <p:nvPr>
            <p:ph type="title"/>
          </p:nvPr>
        </p:nvSpPr>
        <p:spPr/>
        <p:txBody>
          <a:bodyPr/>
          <a:lstStyle/>
          <a:p>
            <a:pPr algn="ctr"/>
            <a:r>
              <a:rPr lang="en-US" altLang="zh-CN" dirty="0"/>
              <a:t>IPv6 </a:t>
            </a:r>
            <a:r>
              <a:rPr lang="zh-CN" altLang="en-US" dirty="0"/>
              <a:t>地址分类</a:t>
            </a:r>
          </a:p>
        </p:txBody>
      </p:sp>
      <p:sp>
        <p:nvSpPr>
          <p:cNvPr id="94925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zh-CN" dirty="0">
                <a:solidFill>
                  <a:srgbClr val="FF0000"/>
                </a:solidFill>
              </a:rPr>
              <a:t>多播地址</a:t>
            </a:r>
            <a:endParaRPr lang="en-US" altLang="zh-CN" dirty="0">
              <a:solidFill>
                <a:srgbClr val="FF0000"/>
              </a:solidFill>
            </a:endParaRPr>
          </a:p>
          <a:p>
            <a:pPr lvl="1"/>
            <a:r>
              <a:rPr lang="zh-CN" altLang="zh-CN" dirty="0"/>
              <a:t>功能和</a:t>
            </a:r>
            <a:r>
              <a:rPr lang="en-US" altLang="zh-CN" dirty="0"/>
              <a:t> IPv4 </a:t>
            </a:r>
            <a:r>
              <a:rPr lang="zh-CN" altLang="zh-CN" dirty="0"/>
              <a:t>的一样。</a:t>
            </a:r>
            <a:endParaRPr lang="en-US" altLang="zh-CN" dirty="0"/>
          </a:p>
          <a:p>
            <a:pPr lvl="1"/>
            <a:r>
              <a:rPr lang="zh-CN" altLang="zh-CN" dirty="0"/>
              <a:t>这类地址占</a:t>
            </a:r>
            <a:r>
              <a:rPr lang="en-US" altLang="zh-CN" dirty="0"/>
              <a:t> IPv6 </a:t>
            </a:r>
            <a:r>
              <a:rPr lang="zh-CN" altLang="zh-CN" dirty="0"/>
              <a:t>地址总数的</a:t>
            </a:r>
            <a:r>
              <a:rPr lang="en-US" altLang="zh-CN" dirty="0"/>
              <a:t> 1/256</a:t>
            </a:r>
            <a:r>
              <a:rPr lang="zh-CN" altLang="zh-CN" dirty="0"/>
              <a:t>。</a:t>
            </a:r>
            <a:endParaRPr lang="en-US" altLang="zh-CN" dirty="0"/>
          </a:p>
          <a:p>
            <a:r>
              <a:rPr lang="zh-CN" altLang="zh-CN" dirty="0">
                <a:solidFill>
                  <a:srgbClr val="FF0000"/>
                </a:solidFill>
              </a:rPr>
              <a:t>本地链路单播地址</a:t>
            </a:r>
            <a:r>
              <a:rPr lang="en-US" altLang="zh-CN" sz="2800" dirty="0">
                <a:solidFill>
                  <a:srgbClr val="FF0000"/>
                </a:solidFill>
              </a:rPr>
              <a:t> </a:t>
            </a:r>
            <a:r>
              <a:rPr lang="en-US" altLang="zh-CN" sz="2800" dirty="0"/>
              <a:t>(Link-Local Unicast Address) </a:t>
            </a:r>
          </a:p>
          <a:p>
            <a:pPr lvl="1"/>
            <a:r>
              <a:rPr lang="zh-CN" altLang="zh-CN" dirty="0"/>
              <a:t>有些单位的网络使用</a:t>
            </a:r>
            <a:r>
              <a:rPr lang="en-US" altLang="zh-CN" dirty="0"/>
              <a:t> TCP/IP </a:t>
            </a:r>
            <a:r>
              <a:rPr lang="zh-CN" altLang="zh-CN" dirty="0"/>
              <a:t>协议，但</a:t>
            </a:r>
            <a:r>
              <a:rPr lang="zh-CN" altLang="zh-CN" dirty="0">
                <a:solidFill>
                  <a:srgbClr val="0000FF"/>
                </a:solidFill>
              </a:rPr>
              <a:t>并没有连接到互联网上。</a:t>
            </a:r>
            <a:r>
              <a:rPr lang="zh-CN" altLang="zh-CN" dirty="0"/>
              <a:t>连接在这样的网络上的主机都可以使用这种本地地址进行通信，但不能和互联网上的其他主机通信。</a:t>
            </a:r>
            <a:endParaRPr lang="en-US" altLang="zh-CN" dirty="0"/>
          </a:p>
          <a:p>
            <a:pPr lvl="1"/>
            <a:r>
              <a:rPr lang="zh-CN" altLang="zh-CN" dirty="0"/>
              <a:t>这类地址占</a:t>
            </a:r>
            <a:r>
              <a:rPr lang="en-US" altLang="zh-CN" dirty="0"/>
              <a:t> IPv6 </a:t>
            </a:r>
            <a:r>
              <a:rPr lang="zh-CN" altLang="zh-CN" dirty="0"/>
              <a:t>地址总数的</a:t>
            </a:r>
            <a:r>
              <a:rPr lang="en-US" altLang="zh-CN" dirty="0"/>
              <a:t> 1/1024</a:t>
            </a:r>
            <a:r>
              <a:rPr lang="zh-CN" altLang="zh-CN" dirty="0"/>
              <a:t>。</a:t>
            </a:r>
            <a:endParaRPr lang="en-US" altLang="zh-CN" dirty="0"/>
          </a:p>
        </p:txBody>
      </p:sp>
    </p:spTree>
    <p:extLst>
      <p:ext uri="{BB962C8B-B14F-4D97-AF65-F5344CB8AC3E}">
        <p14:creationId xmlns:p14="http://schemas.microsoft.com/office/powerpoint/2010/main" val="39430713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Grp="1" noChangeArrowheads="1"/>
          </p:cNvSpPr>
          <p:nvPr>
            <p:ph type="title"/>
          </p:nvPr>
        </p:nvSpPr>
        <p:spPr/>
        <p:txBody>
          <a:bodyPr/>
          <a:lstStyle/>
          <a:p>
            <a:pPr algn="ctr"/>
            <a:r>
              <a:rPr lang="en-US" altLang="zh-CN" dirty="0"/>
              <a:t>IPv6 </a:t>
            </a:r>
            <a:r>
              <a:rPr lang="zh-CN" altLang="en-US" dirty="0"/>
              <a:t>地址分类</a:t>
            </a:r>
          </a:p>
        </p:txBody>
      </p:sp>
      <p:sp>
        <p:nvSpPr>
          <p:cNvPr id="949251" name="Rectangle 3"/>
          <p:cNvSpPr>
            <a:spLocks noGrp="1" noChangeArrowheads="1"/>
          </p:cNvSpPr>
          <p:nvPr>
            <p:ph idx="1"/>
          </p:nvPr>
        </p:nvSpPr>
        <p:spPr>
          <a:xfrm>
            <a:off x="495300" y="1196752"/>
            <a:ext cx="9282236" cy="4934173"/>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zh-CN" dirty="0">
                <a:solidFill>
                  <a:srgbClr val="FF0000"/>
                </a:solidFill>
              </a:rPr>
              <a:t>全球单播地址</a:t>
            </a:r>
            <a:endParaRPr lang="en-US" altLang="zh-CN" dirty="0">
              <a:solidFill>
                <a:srgbClr val="FF0000"/>
              </a:solidFill>
            </a:endParaRPr>
          </a:p>
          <a:p>
            <a:pPr lvl="1"/>
            <a:r>
              <a:rPr lang="en-US" altLang="zh-CN" dirty="0"/>
              <a:t>IPv6 </a:t>
            </a:r>
            <a:r>
              <a:rPr lang="zh-CN" altLang="zh-CN" dirty="0"/>
              <a:t>的这一类单播地址是使用得最多的一类。</a:t>
            </a:r>
            <a:endParaRPr lang="en-US" altLang="zh-CN" dirty="0"/>
          </a:p>
          <a:p>
            <a:pPr lvl="1"/>
            <a:r>
              <a:rPr lang="zh-CN" altLang="zh-CN" dirty="0"/>
              <a:t>曾提出过多种方案来进一步划分这</a:t>
            </a:r>
            <a:r>
              <a:rPr lang="en-US" altLang="zh-CN" dirty="0"/>
              <a:t> 128 </a:t>
            </a:r>
            <a:r>
              <a:rPr lang="zh-CN" altLang="zh-CN" dirty="0"/>
              <a:t>位的单播地址</a:t>
            </a:r>
            <a:r>
              <a:rPr lang="zh-CN" altLang="en-US" dirty="0"/>
              <a:t>。</a:t>
            </a:r>
            <a:endParaRPr lang="en-US" altLang="zh-CN" dirty="0"/>
          </a:p>
          <a:p>
            <a:pPr lvl="1"/>
            <a:r>
              <a:rPr lang="zh-CN" altLang="zh-CN" dirty="0"/>
              <a:t>根据</a:t>
            </a:r>
            <a:r>
              <a:rPr lang="en-US" altLang="zh-CN" dirty="0"/>
              <a:t> 2006 </a:t>
            </a:r>
            <a:r>
              <a:rPr lang="zh-CN" altLang="zh-CN" dirty="0"/>
              <a:t>年发布的草案标准</a:t>
            </a:r>
            <a:r>
              <a:rPr lang="en-US" altLang="zh-CN" dirty="0"/>
              <a:t> RFC 4291 </a:t>
            </a:r>
            <a:r>
              <a:rPr lang="zh-CN" altLang="zh-CN" dirty="0"/>
              <a:t>的建议， </a:t>
            </a:r>
            <a:r>
              <a:rPr lang="en-US" altLang="zh-CN" dirty="0"/>
              <a:t> IPv6 </a:t>
            </a:r>
            <a:r>
              <a:rPr lang="zh-CN" altLang="zh-CN" dirty="0"/>
              <a:t>单播地址的划分方法非常灵活</a:t>
            </a:r>
            <a:r>
              <a:rPr lang="zh-CN" altLang="en-US" dirty="0"/>
              <a:t>。</a:t>
            </a:r>
            <a:endParaRPr lang="en-US" altLang="zh-CN" dirty="0"/>
          </a:p>
        </p:txBody>
      </p:sp>
      <p:grpSp>
        <p:nvGrpSpPr>
          <p:cNvPr id="3" name="组合 2"/>
          <p:cNvGrpSpPr/>
          <p:nvPr/>
        </p:nvGrpSpPr>
        <p:grpSpPr>
          <a:xfrm>
            <a:off x="1118368" y="3933056"/>
            <a:ext cx="7939088" cy="2033765"/>
            <a:chOff x="1118368" y="3933056"/>
            <a:chExt cx="7939088" cy="2033765"/>
          </a:xfrm>
        </p:grpSpPr>
        <p:sp>
          <p:nvSpPr>
            <p:cNvPr id="6" name="Rectangle 2"/>
            <p:cNvSpPr>
              <a:spLocks noChangeArrowheads="1"/>
            </p:cNvSpPr>
            <p:nvPr/>
          </p:nvSpPr>
          <p:spPr bwMode="auto">
            <a:xfrm>
              <a:off x="1118368" y="5372919"/>
              <a:ext cx="7939088" cy="576361"/>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b="1" dirty="0">
                <a:solidFill>
                  <a:srgbClr val="000099"/>
                </a:solidFill>
                <a:latin typeface="+mn-lt"/>
                <a:ea typeface="黑体" pitchFamily="2" charset="-122"/>
              </a:endParaRPr>
            </a:p>
          </p:txBody>
        </p:sp>
        <p:sp>
          <p:nvSpPr>
            <p:cNvPr id="8" name="Rectangle 110"/>
            <p:cNvSpPr>
              <a:spLocks noChangeArrowheads="1"/>
            </p:cNvSpPr>
            <p:nvPr/>
          </p:nvSpPr>
          <p:spPr bwMode="auto">
            <a:xfrm>
              <a:off x="6203737" y="5517232"/>
              <a:ext cx="2829302"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lang="zh-CN" altLang="en-US" sz="1600" b="1" dirty="0">
                  <a:solidFill>
                    <a:srgbClr val="000099"/>
                  </a:solidFill>
                  <a:latin typeface="+mn-lt"/>
                  <a:ea typeface="黑体" pitchFamily="2" charset="-122"/>
                </a:rPr>
                <a:t>接口标识符</a:t>
              </a:r>
              <a:r>
                <a:rPr lang="en-US" altLang="zh-CN" sz="1600" b="1" dirty="0">
                  <a:solidFill>
                    <a:srgbClr val="000099"/>
                  </a:solidFill>
                  <a:latin typeface="+mn-lt"/>
                  <a:ea typeface="黑体" pitchFamily="2" charset="-122"/>
                </a:rPr>
                <a:t>(128 – </a:t>
              </a:r>
              <a:r>
                <a:rPr lang="en-US" altLang="zh-CN" sz="1600" b="1" i="1" dirty="0">
                  <a:solidFill>
                    <a:srgbClr val="000099"/>
                  </a:solidFill>
                  <a:latin typeface="+mn-lt"/>
                  <a:ea typeface="黑体" pitchFamily="2" charset="-122"/>
                </a:rPr>
                <a:t>n</a:t>
              </a:r>
              <a:r>
                <a:rPr lang="en-US" altLang="zh-CN" sz="1600" b="1" dirty="0">
                  <a:solidFill>
                    <a:srgbClr val="000099"/>
                  </a:solidFill>
                  <a:latin typeface="+mn-lt"/>
                  <a:ea typeface="黑体" pitchFamily="2" charset="-122"/>
                </a:rPr>
                <a:t> – </a:t>
              </a:r>
              <a:r>
                <a:rPr lang="en-US" altLang="zh-CN" sz="1600" b="1" i="1" dirty="0">
                  <a:solidFill>
                    <a:srgbClr val="000099"/>
                  </a:solidFill>
                  <a:latin typeface="+mn-lt"/>
                  <a:ea typeface="黑体" pitchFamily="2" charset="-122"/>
                </a:rPr>
                <a:t>m</a:t>
              </a:r>
              <a:r>
                <a:rPr lang="en-US" altLang="zh-CN" sz="1600" b="1" dirty="0">
                  <a:solidFill>
                    <a:srgbClr val="000099"/>
                  </a:solidFill>
                  <a:latin typeface="+mn-lt"/>
                  <a:ea typeface="黑体" pitchFamily="2" charset="-122"/>
                </a:rPr>
                <a:t> ) bit</a:t>
              </a:r>
              <a:endParaRPr lang="zh-CN" altLang="en-US" sz="1600" b="1" dirty="0">
                <a:solidFill>
                  <a:srgbClr val="000099"/>
                </a:solidFill>
                <a:latin typeface="+mn-lt"/>
                <a:ea typeface="黑体" pitchFamily="2" charset="-122"/>
              </a:endParaRPr>
            </a:p>
          </p:txBody>
        </p:sp>
        <p:sp>
          <p:nvSpPr>
            <p:cNvPr id="10" name="Line 165"/>
            <p:cNvSpPr>
              <a:spLocks noChangeShapeType="1"/>
            </p:cNvSpPr>
            <p:nvPr/>
          </p:nvSpPr>
          <p:spPr bwMode="auto">
            <a:xfrm>
              <a:off x="4140968" y="5372919"/>
              <a:ext cx="1588" cy="59390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latin typeface="+mn-lt"/>
                <a:ea typeface="黑体" pitchFamily="2" charset="-122"/>
              </a:endParaRPr>
            </a:p>
          </p:txBody>
        </p:sp>
        <p:sp>
          <p:nvSpPr>
            <p:cNvPr id="11" name="Line 166"/>
            <p:cNvSpPr>
              <a:spLocks noChangeShapeType="1"/>
            </p:cNvSpPr>
            <p:nvPr/>
          </p:nvSpPr>
          <p:spPr bwMode="auto">
            <a:xfrm>
              <a:off x="6230118" y="5372919"/>
              <a:ext cx="0" cy="5863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latin typeface="+mn-lt"/>
                <a:ea typeface="黑体" pitchFamily="2" charset="-122"/>
              </a:endParaRPr>
            </a:p>
          </p:txBody>
        </p:sp>
        <p:sp>
          <p:nvSpPr>
            <p:cNvPr id="12" name="Rectangle 2"/>
            <p:cNvSpPr>
              <a:spLocks noChangeArrowheads="1"/>
            </p:cNvSpPr>
            <p:nvPr/>
          </p:nvSpPr>
          <p:spPr bwMode="auto">
            <a:xfrm>
              <a:off x="1118368" y="4652194"/>
              <a:ext cx="7939088" cy="576361"/>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b="1">
                <a:solidFill>
                  <a:srgbClr val="000099"/>
                </a:solidFill>
                <a:latin typeface="+mn-lt"/>
                <a:ea typeface="黑体" pitchFamily="2" charset="-122"/>
              </a:endParaRPr>
            </a:p>
          </p:txBody>
        </p:sp>
        <p:sp>
          <p:nvSpPr>
            <p:cNvPr id="13" name="Rectangle 2"/>
            <p:cNvSpPr>
              <a:spLocks noChangeArrowheads="1"/>
            </p:cNvSpPr>
            <p:nvPr/>
          </p:nvSpPr>
          <p:spPr bwMode="auto">
            <a:xfrm>
              <a:off x="1118368" y="3933056"/>
              <a:ext cx="7939088" cy="576361"/>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defRPr/>
              </a:pPr>
              <a:endParaRPr lang="zh-CN" altLang="en-US" b="1">
                <a:solidFill>
                  <a:srgbClr val="000099"/>
                </a:solidFill>
                <a:latin typeface="+mn-lt"/>
                <a:ea typeface="黑体" pitchFamily="2" charset="-122"/>
              </a:endParaRPr>
            </a:p>
          </p:txBody>
        </p:sp>
        <p:sp>
          <p:nvSpPr>
            <p:cNvPr id="14" name="Rectangle 126"/>
            <p:cNvSpPr>
              <a:spLocks noChangeArrowheads="1"/>
            </p:cNvSpPr>
            <p:nvPr/>
          </p:nvSpPr>
          <p:spPr bwMode="auto">
            <a:xfrm>
              <a:off x="2969736" y="4005064"/>
              <a:ext cx="370454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lang="zh-CN" altLang="en-US" sz="2400" b="1">
                  <a:solidFill>
                    <a:srgbClr val="000099"/>
                  </a:solidFill>
                  <a:latin typeface="+mn-lt"/>
                  <a:ea typeface="黑体" pitchFamily="2" charset="-122"/>
                </a:rPr>
                <a:t>结    点    地    址 </a:t>
              </a:r>
              <a:r>
                <a:rPr lang="en-US" altLang="zh-CN" sz="2400" b="1">
                  <a:solidFill>
                    <a:srgbClr val="000099"/>
                  </a:solidFill>
                  <a:latin typeface="+mn-lt"/>
                  <a:ea typeface="黑体" pitchFamily="2" charset="-122"/>
                </a:rPr>
                <a:t>(128 bit)</a:t>
              </a:r>
              <a:endParaRPr lang="zh-CN" altLang="en-US" sz="2400" b="1">
                <a:solidFill>
                  <a:srgbClr val="000099"/>
                </a:solidFill>
                <a:latin typeface="+mn-lt"/>
                <a:ea typeface="黑体" pitchFamily="2" charset="-122"/>
              </a:endParaRPr>
            </a:p>
          </p:txBody>
        </p:sp>
        <p:sp>
          <p:nvSpPr>
            <p:cNvPr id="15" name="Line 166"/>
            <p:cNvSpPr>
              <a:spLocks noChangeShapeType="1"/>
            </p:cNvSpPr>
            <p:nvPr/>
          </p:nvSpPr>
          <p:spPr bwMode="auto">
            <a:xfrm>
              <a:off x="5385048" y="4652194"/>
              <a:ext cx="0" cy="58638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solidFill>
                  <a:srgbClr val="000099"/>
                </a:solidFill>
                <a:latin typeface="+mn-lt"/>
                <a:ea typeface="黑体" pitchFamily="2" charset="-122"/>
              </a:endParaRPr>
            </a:p>
          </p:txBody>
        </p:sp>
        <p:sp>
          <p:nvSpPr>
            <p:cNvPr id="16" name="Rectangle 110"/>
            <p:cNvSpPr>
              <a:spLocks noChangeArrowheads="1"/>
            </p:cNvSpPr>
            <p:nvPr/>
          </p:nvSpPr>
          <p:spPr bwMode="auto">
            <a:xfrm>
              <a:off x="5545734" y="4728319"/>
              <a:ext cx="331821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lang="zh-CN" altLang="en-US" sz="2000" b="1" dirty="0">
                  <a:solidFill>
                    <a:srgbClr val="000099"/>
                  </a:solidFill>
                  <a:latin typeface="+mn-lt"/>
                  <a:ea typeface="黑体" pitchFamily="2" charset="-122"/>
                </a:rPr>
                <a:t>接 口 标 识 符 </a:t>
              </a:r>
              <a:r>
                <a:rPr lang="en-US" altLang="zh-CN" sz="2000" b="1" dirty="0">
                  <a:solidFill>
                    <a:srgbClr val="000099"/>
                  </a:solidFill>
                  <a:latin typeface="+mn-lt"/>
                  <a:ea typeface="黑体" pitchFamily="2" charset="-122"/>
                </a:rPr>
                <a:t>(128 – </a:t>
              </a:r>
              <a:r>
                <a:rPr lang="en-US" altLang="zh-CN" sz="2000" b="1" i="1" dirty="0">
                  <a:solidFill>
                    <a:srgbClr val="000099"/>
                  </a:solidFill>
                  <a:latin typeface="+mn-lt"/>
                  <a:ea typeface="黑体" pitchFamily="2" charset="-122"/>
                </a:rPr>
                <a:t>n</a:t>
              </a:r>
              <a:r>
                <a:rPr lang="en-US" altLang="zh-CN" sz="2000" b="1" dirty="0">
                  <a:solidFill>
                    <a:srgbClr val="000099"/>
                  </a:solidFill>
                  <a:latin typeface="+mn-lt"/>
                  <a:ea typeface="黑体" pitchFamily="2" charset="-122"/>
                </a:rPr>
                <a:t> ) bit</a:t>
              </a:r>
              <a:endParaRPr lang="zh-CN" altLang="en-US" sz="2000" b="1" dirty="0">
                <a:solidFill>
                  <a:srgbClr val="000099"/>
                </a:solidFill>
                <a:latin typeface="+mn-lt"/>
                <a:ea typeface="黑体" pitchFamily="2" charset="-122"/>
              </a:endParaRPr>
            </a:p>
          </p:txBody>
        </p:sp>
        <p:sp>
          <p:nvSpPr>
            <p:cNvPr id="2" name="矩形 1"/>
            <p:cNvSpPr/>
            <p:nvPr/>
          </p:nvSpPr>
          <p:spPr bwMode="auto">
            <a:xfrm>
              <a:off x="1151324" y="4678392"/>
              <a:ext cx="4201312" cy="523965"/>
            </a:xfrm>
            <a:prstGeom prst="rect">
              <a:avLst/>
            </a:prstGeom>
            <a:solidFill>
              <a:srgbClr val="FF99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rgbClr val="000099"/>
                </a:solidFill>
                <a:effectLst/>
                <a:latin typeface="Arial" charset="0"/>
              </a:endParaRPr>
            </a:p>
          </p:txBody>
        </p:sp>
        <p:sp>
          <p:nvSpPr>
            <p:cNvPr id="17" name="Rectangle 126"/>
            <p:cNvSpPr>
              <a:spLocks noChangeArrowheads="1"/>
            </p:cNvSpPr>
            <p:nvPr/>
          </p:nvSpPr>
          <p:spPr bwMode="auto">
            <a:xfrm>
              <a:off x="2168143" y="4725144"/>
              <a:ext cx="220733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lang="zh-CN" altLang="en-US" sz="2000" b="1" dirty="0">
                  <a:solidFill>
                    <a:srgbClr val="000099"/>
                  </a:solidFill>
                  <a:latin typeface="+mn-lt"/>
                  <a:ea typeface="黑体" pitchFamily="2" charset="-122"/>
                </a:rPr>
                <a:t>子 网 前 缀 </a:t>
              </a:r>
              <a:r>
                <a:rPr lang="en-US" altLang="zh-CN" sz="2000" b="1" dirty="0">
                  <a:solidFill>
                    <a:srgbClr val="000099"/>
                  </a:solidFill>
                  <a:latin typeface="+mn-lt"/>
                  <a:ea typeface="黑体" pitchFamily="2" charset="-122"/>
                </a:rPr>
                <a:t>(</a:t>
              </a:r>
              <a:r>
                <a:rPr lang="en-US" altLang="zh-CN" sz="2000" b="1" i="1" dirty="0">
                  <a:solidFill>
                    <a:srgbClr val="000099"/>
                  </a:solidFill>
                  <a:latin typeface="+mn-lt"/>
                  <a:ea typeface="黑体" pitchFamily="2" charset="-122"/>
                </a:rPr>
                <a:t>n</a:t>
              </a:r>
              <a:r>
                <a:rPr lang="en-US" altLang="zh-CN" sz="2000" b="1" dirty="0">
                  <a:solidFill>
                    <a:srgbClr val="000099"/>
                  </a:solidFill>
                  <a:latin typeface="+mn-lt"/>
                  <a:ea typeface="黑体" pitchFamily="2" charset="-122"/>
                </a:rPr>
                <a:t> bit)</a:t>
              </a:r>
              <a:endParaRPr lang="zh-CN" altLang="en-US" sz="2000" b="1" dirty="0">
                <a:solidFill>
                  <a:srgbClr val="000099"/>
                </a:solidFill>
                <a:latin typeface="+mn-lt"/>
                <a:ea typeface="黑体" pitchFamily="2" charset="-122"/>
              </a:endParaRPr>
            </a:p>
          </p:txBody>
        </p:sp>
        <p:sp>
          <p:nvSpPr>
            <p:cNvPr id="19" name="矩形 18"/>
            <p:cNvSpPr/>
            <p:nvPr/>
          </p:nvSpPr>
          <p:spPr bwMode="auto">
            <a:xfrm>
              <a:off x="4175660" y="5402712"/>
              <a:ext cx="2024962" cy="523965"/>
            </a:xfrm>
            <a:prstGeom prst="rect">
              <a:avLst/>
            </a:prstGeom>
            <a:solidFill>
              <a:srgbClr val="FF99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rgbClr val="000099"/>
                </a:solidFill>
                <a:effectLst/>
                <a:latin typeface="Arial" charset="0"/>
              </a:endParaRPr>
            </a:p>
          </p:txBody>
        </p:sp>
        <p:sp>
          <p:nvSpPr>
            <p:cNvPr id="9" name="Rectangle 126"/>
            <p:cNvSpPr>
              <a:spLocks noChangeArrowheads="1"/>
            </p:cNvSpPr>
            <p:nvPr/>
          </p:nvSpPr>
          <p:spPr bwMode="auto">
            <a:xfrm>
              <a:off x="4226216" y="5517232"/>
              <a:ext cx="1904368"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lang="zh-CN" altLang="en-US" sz="1600" b="1" dirty="0">
                  <a:solidFill>
                    <a:srgbClr val="000099"/>
                  </a:solidFill>
                  <a:latin typeface="+mn-lt"/>
                  <a:ea typeface="黑体" pitchFamily="2" charset="-122"/>
                </a:rPr>
                <a:t>子网标识符 </a:t>
              </a:r>
              <a:r>
                <a:rPr lang="en-US" altLang="zh-CN" sz="1600" b="1" dirty="0">
                  <a:solidFill>
                    <a:srgbClr val="000099"/>
                  </a:solidFill>
                  <a:latin typeface="+mn-lt"/>
                  <a:ea typeface="黑体" pitchFamily="2" charset="-122"/>
                </a:rPr>
                <a:t>(</a:t>
              </a:r>
              <a:r>
                <a:rPr lang="en-US" altLang="zh-CN" sz="1600" b="1" i="1" dirty="0">
                  <a:solidFill>
                    <a:srgbClr val="000099"/>
                  </a:solidFill>
                  <a:latin typeface="+mn-lt"/>
                  <a:ea typeface="黑体" pitchFamily="2" charset="-122"/>
                </a:rPr>
                <a:t>m</a:t>
              </a:r>
              <a:r>
                <a:rPr lang="en-US" altLang="zh-CN" sz="1600" b="1" dirty="0">
                  <a:solidFill>
                    <a:srgbClr val="000099"/>
                  </a:solidFill>
                  <a:latin typeface="+mn-lt"/>
                  <a:ea typeface="黑体" pitchFamily="2" charset="-122"/>
                </a:rPr>
                <a:t> bit)</a:t>
              </a:r>
              <a:endParaRPr lang="zh-CN" altLang="en-US" sz="1600" b="1" dirty="0">
                <a:solidFill>
                  <a:srgbClr val="000099"/>
                </a:solidFill>
                <a:latin typeface="+mn-lt"/>
                <a:ea typeface="黑体" pitchFamily="2" charset="-122"/>
              </a:endParaRPr>
            </a:p>
          </p:txBody>
        </p:sp>
        <p:sp>
          <p:nvSpPr>
            <p:cNvPr id="20" name="矩形 19"/>
            <p:cNvSpPr/>
            <p:nvPr/>
          </p:nvSpPr>
          <p:spPr bwMode="auto">
            <a:xfrm>
              <a:off x="1151324" y="5404128"/>
              <a:ext cx="2961066" cy="522549"/>
            </a:xfrm>
            <a:prstGeom prst="rect">
              <a:avLst/>
            </a:prstGeom>
            <a:solidFill>
              <a:srgbClr val="FFCC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rgbClr val="000099"/>
                </a:solidFill>
                <a:effectLst/>
                <a:latin typeface="Arial" charset="0"/>
              </a:endParaRPr>
            </a:p>
          </p:txBody>
        </p:sp>
        <p:sp>
          <p:nvSpPr>
            <p:cNvPr id="18" name="Rectangle 126"/>
            <p:cNvSpPr>
              <a:spLocks noChangeArrowheads="1"/>
            </p:cNvSpPr>
            <p:nvPr/>
          </p:nvSpPr>
          <p:spPr bwMode="auto">
            <a:xfrm>
              <a:off x="1383457" y="5517232"/>
              <a:ext cx="2467022"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a:r>
                <a:rPr lang="zh-CN" altLang="en-US" sz="1600" b="1" dirty="0">
                  <a:solidFill>
                    <a:srgbClr val="000099"/>
                  </a:solidFill>
                  <a:latin typeface="+mn-lt"/>
                  <a:ea typeface="黑体" pitchFamily="2" charset="-122"/>
                </a:rPr>
                <a:t>全球路由选择前缀 </a:t>
              </a:r>
              <a:r>
                <a:rPr lang="en-US" altLang="zh-CN" sz="1600" b="1" dirty="0">
                  <a:solidFill>
                    <a:srgbClr val="000099"/>
                  </a:solidFill>
                  <a:latin typeface="+mn-lt"/>
                  <a:ea typeface="黑体" pitchFamily="2" charset="-122"/>
                </a:rPr>
                <a:t>(</a:t>
              </a:r>
              <a:r>
                <a:rPr lang="en-US" altLang="zh-CN" sz="1600" b="1" i="1" dirty="0">
                  <a:solidFill>
                    <a:srgbClr val="000099"/>
                  </a:solidFill>
                  <a:latin typeface="+mn-lt"/>
                  <a:ea typeface="黑体" pitchFamily="2" charset="-122"/>
                </a:rPr>
                <a:t>n</a:t>
              </a:r>
              <a:r>
                <a:rPr lang="en-US" altLang="zh-CN" sz="1600" b="1" dirty="0">
                  <a:solidFill>
                    <a:srgbClr val="000099"/>
                  </a:solidFill>
                  <a:latin typeface="+mn-lt"/>
                  <a:ea typeface="黑体" pitchFamily="2" charset="-122"/>
                </a:rPr>
                <a:t> bit)</a:t>
              </a:r>
              <a:endParaRPr lang="zh-CN" altLang="en-US" sz="1600" b="1" dirty="0">
                <a:solidFill>
                  <a:srgbClr val="000099"/>
                </a:solidFill>
                <a:latin typeface="+mn-lt"/>
                <a:ea typeface="黑体" pitchFamily="2" charset="-122"/>
              </a:endParaRPr>
            </a:p>
          </p:txBody>
        </p:sp>
      </p:grpSp>
      <p:sp>
        <p:nvSpPr>
          <p:cNvPr id="4" name="矩形 3"/>
          <p:cNvSpPr/>
          <p:nvPr/>
        </p:nvSpPr>
        <p:spPr>
          <a:xfrm>
            <a:off x="2000672" y="6093296"/>
            <a:ext cx="6336704" cy="461665"/>
          </a:xfrm>
          <a:prstGeom prst="rect">
            <a:avLst/>
          </a:prstGeom>
        </p:spPr>
        <p:txBody>
          <a:bodyPr wrap="square">
            <a:spAutoFit/>
          </a:bodyPr>
          <a:lstStyle/>
          <a:p>
            <a:pPr algn="ctr"/>
            <a:r>
              <a:rPr lang="en-US" altLang="zh-CN" sz="2400" b="1" dirty="0">
                <a:latin typeface="+mn-lt"/>
                <a:ea typeface="黑体" pitchFamily="2" charset="-122"/>
              </a:rPr>
              <a:t>IPv6 </a:t>
            </a:r>
            <a:r>
              <a:rPr lang="zh-CN" altLang="zh-CN" sz="2400" b="1" dirty="0">
                <a:latin typeface="+mn-lt"/>
                <a:ea typeface="黑体" pitchFamily="2" charset="-122"/>
              </a:rPr>
              <a:t>单播地址的几种划分方法</a:t>
            </a:r>
            <a:endParaRPr lang="zh-CN" altLang="en-US" sz="2400" b="1" dirty="0">
              <a:latin typeface="+mn-lt"/>
              <a:ea typeface="黑体" pitchFamily="2" charset="-122"/>
            </a:endParaRPr>
          </a:p>
        </p:txBody>
      </p:sp>
    </p:spTree>
    <p:extLst>
      <p:ext uri="{BB962C8B-B14F-4D97-AF65-F5344CB8AC3E}">
        <p14:creationId xmlns:p14="http://schemas.microsoft.com/office/powerpoint/2010/main" val="103339213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p:txBody>
          <a:bodyPr/>
          <a:lstStyle/>
          <a:p>
            <a:r>
              <a:rPr lang="zh-CN" altLang="zh-CN" dirty="0"/>
              <a:t>从</a:t>
            </a:r>
            <a:r>
              <a:rPr lang="en-US" altLang="zh-CN" dirty="0"/>
              <a:t> IPv4 </a:t>
            </a:r>
            <a:r>
              <a:rPr lang="zh-CN" altLang="zh-CN" dirty="0"/>
              <a:t>向</a:t>
            </a:r>
            <a:r>
              <a:rPr lang="en-US" altLang="zh-CN" dirty="0"/>
              <a:t> IPv6 </a:t>
            </a:r>
            <a:r>
              <a:rPr lang="zh-CN" altLang="zh-CN" dirty="0"/>
              <a:t>过渡</a:t>
            </a:r>
            <a:endParaRPr lang="zh-CN" altLang="en-US" dirty="0"/>
          </a:p>
        </p:txBody>
      </p:sp>
      <p:sp>
        <p:nvSpPr>
          <p:cNvPr id="66560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向 </a:t>
            </a:r>
            <a:r>
              <a:rPr lang="en-US" altLang="zh-CN" dirty="0"/>
              <a:t>IPv6 </a:t>
            </a:r>
            <a:r>
              <a:rPr lang="zh-CN" altLang="en-US" dirty="0"/>
              <a:t>过渡</a:t>
            </a:r>
            <a:r>
              <a:rPr lang="zh-CN" altLang="en-US" dirty="0">
                <a:solidFill>
                  <a:srgbClr val="FF0000"/>
                </a:solidFill>
              </a:rPr>
              <a:t>只能采用逐步演进的办法，</a:t>
            </a:r>
            <a:r>
              <a:rPr lang="zh-CN" altLang="en-US" dirty="0"/>
              <a:t>同时，还必须使新安装的 </a:t>
            </a:r>
            <a:r>
              <a:rPr lang="en-US" altLang="zh-CN" dirty="0"/>
              <a:t>IPv6 </a:t>
            </a:r>
            <a:r>
              <a:rPr lang="zh-CN" altLang="en-US" dirty="0"/>
              <a:t>系统能够</a:t>
            </a:r>
            <a:r>
              <a:rPr lang="zh-CN" altLang="en-US" dirty="0">
                <a:solidFill>
                  <a:srgbClr val="FF0000"/>
                </a:solidFill>
              </a:rPr>
              <a:t>向后兼容：</a:t>
            </a:r>
            <a:r>
              <a:rPr lang="en-US" altLang="zh-CN" dirty="0">
                <a:solidFill>
                  <a:srgbClr val="0000CC"/>
                </a:solidFill>
              </a:rPr>
              <a:t>IPv6 </a:t>
            </a:r>
            <a:r>
              <a:rPr lang="zh-CN" altLang="en-US" dirty="0">
                <a:solidFill>
                  <a:srgbClr val="0000CC"/>
                </a:solidFill>
              </a:rPr>
              <a:t>系统必须能够接收和转发 </a:t>
            </a:r>
            <a:r>
              <a:rPr lang="en-US" altLang="zh-CN" dirty="0">
                <a:solidFill>
                  <a:srgbClr val="0000CC"/>
                </a:solidFill>
              </a:rPr>
              <a:t>IPv4 </a:t>
            </a:r>
            <a:r>
              <a:rPr lang="zh-CN" altLang="en-US" dirty="0">
                <a:solidFill>
                  <a:srgbClr val="0000CC"/>
                </a:solidFill>
              </a:rPr>
              <a:t>分组，并且能够为 </a:t>
            </a:r>
            <a:r>
              <a:rPr lang="en-US" altLang="zh-CN" dirty="0">
                <a:solidFill>
                  <a:srgbClr val="0000CC"/>
                </a:solidFill>
              </a:rPr>
              <a:t>IPv4 </a:t>
            </a:r>
            <a:r>
              <a:rPr lang="zh-CN" altLang="en-US" dirty="0">
                <a:solidFill>
                  <a:srgbClr val="0000CC"/>
                </a:solidFill>
              </a:rPr>
              <a:t>分组选择路由。</a:t>
            </a:r>
            <a:endParaRPr lang="en-US" altLang="zh-CN" dirty="0">
              <a:solidFill>
                <a:srgbClr val="0000CC"/>
              </a:solidFill>
            </a:endParaRPr>
          </a:p>
          <a:p>
            <a:r>
              <a:rPr lang="zh-CN" altLang="zh-CN" dirty="0"/>
              <a:t>两种向</a:t>
            </a:r>
            <a:r>
              <a:rPr lang="en-US" altLang="zh-CN" dirty="0"/>
              <a:t> IPv6 </a:t>
            </a:r>
            <a:r>
              <a:rPr lang="zh-CN" altLang="zh-CN" dirty="0"/>
              <a:t>过渡的策略</a:t>
            </a:r>
            <a:r>
              <a:rPr lang="zh-CN" altLang="en-US" dirty="0"/>
              <a:t>：</a:t>
            </a:r>
            <a:endParaRPr lang="en-US" altLang="zh-CN" dirty="0"/>
          </a:p>
          <a:p>
            <a:pPr lvl="1"/>
            <a:r>
              <a:rPr lang="zh-CN" altLang="zh-CN" dirty="0">
                <a:solidFill>
                  <a:srgbClr val="FF0000"/>
                </a:solidFill>
              </a:rPr>
              <a:t>使用双协议栈</a:t>
            </a:r>
            <a:endParaRPr lang="en-US" altLang="zh-CN" dirty="0">
              <a:solidFill>
                <a:srgbClr val="FF0000"/>
              </a:solidFill>
            </a:endParaRPr>
          </a:p>
          <a:p>
            <a:pPr lvl="1"/>
            <a:r>
              <a:rPr lang="zh-CN" altLang="zh-CN" dirty="0">
                <a:solidFill>
                  <a:srgbClr val="FF0000"/>
                </a:solidFill>
              </a:rPr>
              <a:t>使用隧道技术</a:t>
            </a:r>
            <a:endParaRPr lang="zh-CN" altLang="en-US" dirty="0">
              <a:solidFill>
                <a:srgbClr val="FF0000"/>
              </a:solidFill>
            </a:endParaRPr>
          </a:p>
        </p:txBody>
      </p:sp>
    </p:spTree>
    <p:extLst>
      <p:ext uri="{BB962C8B-B14F-4D97-AF65-F5344CB8AC3E}">
        <p14:creationId xmlns:p14="http://schemas.microsoft.com/office/powerpoint/2010/main" val="16125551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p:txBody>
          <a:bodyPr/>
          <a:lstStyle/>
          <a:p>
            <a:pPr algn="ctr"/>
            <a:r>
              <a:rPr lang="zh-CN" altLang="en-US" dirty="0"/>
              <a:t>双协议栈</a:t>
            </a:r>
          </a:p>
        </p:txBody>
      </p:sp>
      <p:sp>
        <p:nvSpPr>
          <p:cNvPr id="665603" name="Rectangle 3"/>
          <p:cNvSpPr>
            <a:spLocks noGrp="1" noChangeArrowheads="1"/>
          </p:cNvSpPr>
          <p:nvPr>
            <p:ph idx="1"/>
          </p:nvPr>
        </p:nvSpPr>
        <p:spPr>
          <a:xfrm>
            <a:off x="495300" y="1196752"/>
            <a:ext cx="9210228" cy="4934173"/>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sz="2800" dirty="0"/>
              <a:t>双协议栈 </a:t>
            </a:r>
            <a:r>
              <a:rPr lang="en-US" altLang="zh-CN" sz="2800" dirty="0"/>
              <a:t>(dual stack) </a:t>
            </a:r>
            <a:r>
              <a:rPr lang="zh-CN" altLang="en-US" sz="2800" dirty="0"/>
              <a:t>是指在完全过渡到 </a:t>
            </a:r>
            <a:r>
              <a:rPr lang="en-US" altLang="zh-CN" sz="2800" dirty="0"/>
              <a:t>IPv6 </a:t>
            </a:r>
            <a:r>
              <a:rPr lang="zh-CN" altLang="en-US" sz="2800" dirty="0"/>
              <a:t>之前，使一部分主机（或路由器）</a:t>
            </a:r>
            <a:r>
              <a:rPr lang="zh-CN" altLang="en-US" sz="2800" dirty="0">
                <a:solidFill>
                  <a:srgbClr val="FF0000"/>
                </a:solidFill>
              </a:rPr>
              <a:t>装有两个协议栈，一个 </a:t>
            </a:r>
            <a:r>
              <a:rPr lang="en-US" altLang="zh-CN" sz="2800" dirty="0">
                <a:solidFill>
                  <a:srgbClr val="FF0000"/>
                </a:solidFill>
              </a:rPr>
              <a:t>IPv4 </a:t>
            </a:r>
            <a:r>
              <a:rPr lang="zh-CN" altLang="en-US" sz="2800" dirty="0">
                <a:solidFill>
                  <a:srgbClr val="FF0000"/>
                </a:solidFill>
              </a:rPr>
              <a:t>和一个 </a:t>
            </a:r>
            <a:r>
              <a:rPr lang="en-US" altLang="zh-CN" sz="2800" dirty="0">
                <a:solidFill>
                  <a:srgbClr val="FF0000"/>
                </a:solidFill>
              </a:rPr>
              <a:t>IPv6</a:t>
            </a:r>
            <a:r>
              <a:rPr lang="zh-CN" altLang="en-US" sz="2800" dirty="0">
                <a:solidFill>
                  <a:srgbClr val="FF0000"/>
                </a:solidFill>
              </a:rPr>
              <a:t>。</a:t>
            </a:r>
            <a:r>
              <a:rPr lang="zh-CN" altLang="en-US" sz="2800" dirty="0"/>
              <a:t> </a:t>
            </a:r>
            <a:endParaRPr lang="en-US" altLang="zh-CN" sz="2800" dirty="0"/>
          </a:p>
          <a:p>
            <a:r>
              <a:rPr lang="zh-CN" altLang="zh-CN" sz="2800" dirty="0"/>
              <a:t>双协议栈的主机（或路由器）记为</a:t>
            </a:r>
            <a:r>
              <a:rPr lang="en-US" altLang="zh-CN" sz="2800" dirty="0"/>
              <a:t> IPv6/IPv4</a:t>
            </a:r>
            <a:r>
              <a:rPr lang="zh-CN" altLang="zh-CN" sz="2800" dirty="0"/>
              <a:t>，表明它</a:t>
            </a:r>
            <a:r>
              <a:rPr lang="zh-CN" altLang="zh-CN" sz="2800" dirty="0">
                <a:solidFill>
                  <a:srgbClr val="FF0000"/>
                </a:solidFill>
              </a:rPr>
              <a:t>同时具有两种</a:t>
            </a:r>
            <a:r>
              <a:rPr lang="en-US" altLang="zh-CN" sz="2800" dirty="0">
                <a:solidFill>
                  <a:srgbClr val="FF0000"/>
                </a:solidFill>
              </a:rPr>
              <a:t> IP </a:t>
            </a:r>
            <a:r>
              <a:rPr lang="zh-CN" altLang="zh-CN" sz="2800" dirty="0">
                <a:solidFill>
                  <a:srgbClr val="FF0000"/>
                </a:solidFill>
              </a:rPr>
              <a:t>地址：一个</a:t>
            </a:r>
            <a:r>
              <a:rPr lang="en-US" altLang="zh-CN" sz="2800" dirty="0">
                <a:solidFill>
                  <a:srgbClr val="FF0000"/>
                </a:solidFill>
              </a:rPr>
              <a:t> IPv6 </a:t>
            </a:r>
            <a:r>
              <a:rPr lang="zh-CN" altLang="zh-CN" sz="2800" dirty="0">
                <a:solidFill>
                  <a:srgbClr val="FF0000"/>
                </a:solidFill>
              </a:rPr>
              <a:t>地址和一个</a:t>
            </a:r>
            <a:r>
              <a:rPr lang="en-US" altLang="zh-CN" sz="2800" dirty="0">
                <a:solidFill>
                  <a:srgbClr val="FF0000"/>
                </a:solidFill>
              </a:rPr>
              <a:t> IPv4 </a:t>
            </a:r>
            <a:r>
              <a:rPr lang="zh-CN" altLang="zh-CN" sz="2800" dirty="0">
                <a:solidFill>
                  <a:srgbClr val="FF0000"/>
                </a:solidFill>
              </a:rPr>
              <a:t>地址。</a:t>
            </a:r>
          </a:p>
          <a:p>
            <a:r>
              <a:rPr lang="zh-CN" altLang="zh-CN" sz="2800" dirty="0"/>
              <a:t>双协议栈主机在和</a:t>
            </a:r>
            <a:r>
              <a:rPr lang="en-US" altLang="zh-CN" sz="2800" dirty="0"/>
              <a:t> IPv6 </a:t>
            </a:r>
            <a:r>
              <a:rPr lang="zh-CN" altLang="zh-CN" sz="2800" dirty="0"/>
              <a:t>主机通信时是采用</a:t>
            </a:r>
            <a:r>
              <a:rPr lang="en-US" altLang="zh-CN" sz="2800" dirty="0"/>
              <a:t> IPv6 </a:t>
            </a:r>
            <a:r>
              <a:rPr lang="zh-CN" altLang="zh-CN" sz="2800" dirty="0"/>
              <a:t>地址，而和</a:t>
            </a:r>
            <a:r>
              <a:rPr lang="en-US" altLang="zh-CN" sz="2800" dirty="0"/>
              <a:t> IPv4 </a:t>
            </a:r>
            <a:r>
              <a:rPr lang="zh-CN" altLang="zh-CN" sz="2800" dirty="0"/>
              <a:t>主机通信时就采用</a:t>
            </a:r>
            <a:r>
              <a:rPr lang="en-US" altLang="zh-CN" sz="2800" dirty="0"/>
              <a:t> IPv4 </a:t>
            </a:r>
            <a:r>
              <a:rPr lang="zh-CN" altLang="zh-CN" sz="2800" dirty="0"/>
              <a:t>地址。</a:t>
            </a:r>
            <a:endParaRPr lang="en-US" altLang="zh-CN" sz="2800" dirty="0"/>
          </a:p>
          <a:p>
            <a:r>
              <a:rPr lang="zh-CN" altLang="en-US" sz="2800" dirty="0"/>
              <a:t>根据 </a:t>
            </a:r>
            <a:r>
              <a:rPr lang="en-US" altLang="zh-CN" sz="2800" dirty="0"/>
              <a:t>DNS </a:t>
            </a:r>
            <a:r>
              <a:rPr lang="zh-CN" altLang="zh-CN" sz="2800" dirty="0"/>
              <a:t>返回的</a:t>
            </a:r>
            <a:r>
              <a:rPr lang="zh-CN" altLang="en-US" sz="2800" dirty="0"/>
              <a:t>地址类型可以确定使用 </a:t>
            </a:r>
            <a:r>
              <a:rPr lang="en-US" altLang="zh-CN" sz="2800" dirty="0"/>
              <a:t>IPv4 </a:t>
            </a:r>
            <a:r>
              <a:rPr lang="zh-CN" altLang="zh-CN" sz="2800" dirty="0"/>
              <a:t>地址</a:t>
            </a:r>
            <a:r>
              <a:rPr lang="zh-CN" altLang="en-US" sz="2800" dirty="0"/>
              <a:t>还是 </a:t>
            </a:r>
            <a:r>
              <a:rPr lang="en-US" altLang="zh-CN" sz="2800" dirty="0"/>
              <a:t>IPv6 </a:t>
            </a:r>
            <a:r>
              <a:rPr lang="zh-CN" altLang="en-US" sz="2800" dirty="0"/>
              <a:t>地址。</a:t>
            </a:r>
          </a:p>
        </p:txBody>
      </p:sp>
    </p:spTree>
    <p:extLst>
      <p:ext uri="{BB962C8B-B14F-4D97-AF65-F5344CB8AC3E}">
        <p14:creationId xmlns:p14="http://schemas.microsoft.com/office/powerpoint/2010/main" val="6536978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pPr algn="ctr"/>
            <a:r>
              <a:rPr lang="zh-CN" altLang="en-US" dirty="0"/>
              <a:t>双协议栈</a:t>
            </a:r>
          </a:p>
        </p:txBody>
      </p:sp>
      <p:grpSp>
        <p:nvGrpSpPr>
          <p:cNvPr id="667651" name="Group 3"/>
          <p:cNvGrpSpPr>
            <a:grpSpLocks/>
          </p:cNvGrpSpPr>
          <p:nvPr/>
        </p:nvGrpSpPr>
        <p:grpSpPr bwMode="auto">
          <a:xfrm>
            <a:off x="2944357" y="1565747"/>
            <a:ext cx="4368271" cy="1223962"/>
            <a:chOff x="912" y="768"/>
            <a:chExt cx="2400" cy="1584"/>
          </a:xfrm>
        </p:grpSpPr>
        <p:sp>
          <p:nvSpPr>
            <p:cNvPr id="667652" name="Oval 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53" name="Oval 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54" name="Oval 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55" name="Oval 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56" name="Oval 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57" name="Oval 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58" name="Oval 1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59" name="Oval 1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60" name="Oval 1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667661" name="Group 13"/>
            <p:cNvGrpSpPr>
              <a:grpSpLocks/>
            </p:cNvGrpSpPr>
            <p:nvPr/>
          </p:nvGrpSpPr>
          <p:grpSpPr bwMode="auto">
            <a:xfrm>
              <a:off x="912" y="768"/>
              <a:ext cx="2386" cy="1553"/>
              <a:chOff x="912" y="768"/>
              <a:chExt cx="2386" cy="1553"/>
            </a:xfrm>
          </p:grpSpPr>
          <p:sp>
            <p:nvSpPr>
              <p:cNvPr id="667662" name="Oval 1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63" name="Oval 1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64" name="Oval 1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65" name="Oval 1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66" name="Oval 1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67" name="Oval 1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68" name="Oval 2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69" name="Oval 2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7670" name="Oval 2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sp>
        <p:nvSpPr>
          <p:cNvPr id="667671" name="Freeform 23"/>
          <p:cNvSpPr>
            <a:spLocks/>
          </p:cNvSpPr>
          <p:nvPr/>
        </p:nvSpPr>
        <p:spPr bwMode="auto">
          <a:xfrm flipH="1">
            <a:off x="7355622" y="2943697"/>
            <a:ext cx="749829" cy="1200150"/>
          </a:xfrm>
          <a:custGeom>
            <a:avLst/>
            <a:gdLst>
              <a:gd name="T0" fmla="*/ 0 w 576"/>
              <a:gd name="T1" fmla="*/ 0 h 756"/>
              <a:gd name="T2" fmla="*/ 576 w 576"/>
              <a:gd name="T3" fmla="*/ 4 h 756"/>
              <a:gd name="T4" fmla="*/ 576 w 576"/>
              <a:gd name="T5" fmla="*/ 564 h 756"/>
              <a:gd name="T6" fmla="*/ 4 w 576"/>
              <a:gd name="T7" fmla="*/ 756 h 756"/>
              <a:gd name="T8" fmla="*/ 0 w 576"/>
              <a:gd name="T9" fmla="*/ 0 h 756"/>
            </a:gdLst>
            <a:ahLst/>
            <a:cxnLst>
              <a:cxn ang="0">
                <a:pos x="T0" y="T1"/>
              </a:cxn>
              <a:cxn ang="0">
                <a:pos x="T2" y="T3"/>
              </a:cxn>
              <a:cxn ang="0">
                <a:pos x="T4" y="T5"/>
              </a:cxn>
              <a:cxn ang="0">
                <a:pos x="T6" y="T7"/>
              </a:cxn>
              <a:cxn ang="0">
                <a:pos x="T8" y="T9"/>
              </a:cxn>
            </a:cxnLst>
            <a:rect l="0" t="0" r="r" b="b"/>
            <a:pathLst>
              <a:path w="576" h="756">
                <a:moveTo>
                  <a:pt x="0" y="0"/>
                </a:moveTo>
                <a:lnTo>
                  <a:pt x="576" y="4"/>
                </a:lnTo>
                <a:lnTo>
                  <a:pt x="576" y="564"/>
                </a:lnTo>
                <a:lnTo>
                  <a:pt x="4" y="756"/>
                </a:lnTo>
                <a:lnTo>
                  <a:pt x="0" y="0"/>
                </a:lnTo>
                <a:close/>
              </a:path>
            </a:pathLst>
          </a:cu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672" name="Freeform 24"/>
          <p:cNvSpPr>
            <a:spLocks/>
          </p:cNvSpPr>
          <p:nvPr/>
        </p:nvSpPr>
        <p:spPr bwMode="auto">
          <a:xfrm>
            <a:off x="1976114" y="2950047"/>
            <a:ext cx="990600" cy="1200150"/>
          </a:xfrm>
          <a:custGeom>
            <a:avLst/>
            <a:gdLst>
              <a:gd name="T0" fmla="*/ 0 w 576"/>
              <a:gd name="T1" fmla="*/ 0 h 756"/>
              <a:gd name="T2" fmla="*/ 576 w 576"/>
              <a:gd name="T3" fmla="*/ 4 h 756"/>
              <a:gd name="T4" fmla="*/ 576 w 576"/>
              <a:gd name="T5" fmla="*/ 564 h 756"/>
              <a:gd name="T6" fmla="*/ 4 w 576"/>
              <a:gd name="T7" fmla="*/ 756 h 756"/>
              <a:gd name="T8" fmla="*/ 0 w 576"/>
              <a:gd name="T9" fmla="*/ 0 h 756"/>
            </a:gdLst>
            <a:ahLst/>
            <a:cxnLst>
              <a:cxn ang="0">
                <a:pos x="T0" y="T1"/>
              </a:cxn>
              <a:cxn ang="0">
                <a:pos x="T2" y="T3"/>
              </a:cxn>
              <a:cxn ang="0">
                <a:pos x="T4" y="T5"/>
              </a:cxn>
              <a:cxn ang="0">
                <a:pos x="T6" y="T7"/>
              </a:cxn>
              <a:cxn ang="0">
                <a:pos x="T8" y="T9"/>
              </a:cxn>
            </a:cxnLst>
            <a:rect l="0" t="0" r="r" b="b"/>
            <a:pathLst>
              <a:path w="576" h="756">
                <a:moveTo>
                  <a:pt x="0" y="0"/>
                </a:moveTo>
                <a:lnTo>
                  <a:pt x="576" y="4"/>
                </a:lnTo>
                <a:lnTo>
                  <a:pt x="576" y="564"/>
                </a:lnTo>
                <a:lnTo>
                  <a:pt x="4" y="756"/>
                </a:lnTo>
                <a:lnTo>
                  <a:pt x="0" y="0"/>
                </a:lnTo>
                <a:close/>
              </a:path>
            </a:pathLst>
          </a:custGeom>
          <a:solidFill>
            <a:srgbClr val="CCECFF"/>
          </a:solidFill>
          <a:ln>
            <a:noFill/>
          </a:ln>
          <a:effectLst/>
        </p:spPr>
        <p:txBody>
          <a:bodyPr/>
          <a:lstStyle/>
          <a:p>
            <a:endParaRPr lang="zh-CN" altLang="en-US" b="1">
              <a:solidFill>
                <a:srgbClr val="000099"/>
              </a:solidFill>
              <a:latin typeface="+mn-lt"/>
              <a:ea typeface="黑体" pitchFamily="2" charset="-122"/>
            </a:endParaRPr>
          </a:p>
        </p:txBody>
      </p:sp>
      <p:sp>
        <p:nvSpPr>
          <p:cNvPr id="667673" name="Line 25"/>
          <p:cNvSpPr>
            <a:spLocks noChangeShapeType="1"/>
          </p:cNvSpPr>
          <p:nvPr/>
        </p:nvSpPr>
        <p:spPr bwMode="auto">
          <a:xfrm>
            <a:off x="841051" y="2321397"/>
            <a:ext cx="87503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pic>
        <p:nvPicPr>
          <p:cNvPr id="667674" name="Picture 2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851" y="2018185"/>
            <a:ext cx="570971"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7675" name="Picture 2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19064" y="2071638"/>
            <a:ext cx="56409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67676" name="Text Box 28"/>
          <p:cNvSpPr txBox="1">
            <a:spLocks noChangeArrowheads="1"/>
          </p:cNvSpPr>
          <p:nvPr/>
        </p:nvSpPr>
        <p:spPr bwMode="auto">
          <a:xfrm>
            <a:off x="2072680" y="1412776"/>
            <a:ext cx="13099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C00000"/>
                </a:solidFill>
                <a:latin typeface="+mn-lt"/>
                <a:ea typeface="黑体" pitchFamily="2" charset="-122"/>
              </a:rPr>
              <a:t>双协议栈</a:t>
            </a:r>
          </a:p>
          <a:p>
            <a:pPr algn="ctr"/>
            <a:r>
              <a:rPr kumimoji="1" lang="en-US" altLang="zh-CN" sz="2000" b="1" dirty="0">
                <a:solidFill>
                  <a:srgbClr val="C00000"/>
                </a:solidFill>
                <a:latin typeface="+mn-lt"/>
                <a:ea typeface="黑体" pitchFamily="2" charset="-122"/>
              </a:rPr>
              <a:t>IPv6/IPv4</a:t>
            </a:r>
          </a:p>
        </p:txBody>
      </p:sp>
      <p:pic>
        <p:nvPicPr>
          <p:cNvPr id="667677"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6810" y="2071638"/>
            <a:ext cx="56409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7678" name="Picture 3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2710" y="2071638"/>
            <a:ext cx="56409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7679"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73576" y="2071638"/>
            <a:ext cx="56409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7680"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67969" y="2018185"/>
            <a:ext cx="570971"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7681" name="Text Box 33"/>
          <p:cNvSpPr txBox="1">
            <a:spLocks noChangeArrowheads="1"/>
          </p:cNvSpPr>
          <p:nvPr/>
        </p:nvSpPr>
        <p:spPr bwMode="auto">
          <a:xfrm>
            <a:off x="510851" y="1628800"/>
            <a:ext cx="7120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IPv6</a:t>
            </a:r>
          </a:p>
        </p:txBody>
      </p:sp>
      <p:sp>
        <p:nvSpPr>
          <p:cNvPr id="667682" name="Text Box 34"/>
          <p:cNvSpPr txBox="1">
            <a:spLocks noChangeArrowheads="1"/>
          </p:cNvSpPr>
          <p:nvPr/>
        </p:nvSpPr>
        <p:spPr bwMode="auto">
          <a:xfrm>
            <a:off x="9078539" y="1628800"/>
            <a:ext cx="7120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IPv6</a:t>
            </a:r>
          </a:p>
        </p:txBody>
      </p:sp>
      <p:sp>
        <p:nvSpPr>
          <p:cNvPr id="667683" name="Text Box 35"/>
          <p:cNvSpPr txBox="1">
            <a:spLocks noChangeArrowheads="1"/>
          </p:cNvSpPr>
          <p:nvPr/>
        </p:nvSpPr>
        <p:spPr bwMode="auto">
          <a:xfrm>
            <a:off x="4683066" y="1533997"/>
            <a:ext cx="129875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IPv4 </a:t>
            </a:r>
            <a:r>
              <a:rPr kumimoji="1" lang="zh-CN" altLang="en-US" sz="2000" b="1" dirty="0">
                <a:solidFill>
                  <a:srgbClr val="000099"/>
                </a:solidFill>
                <a:latin typeface="+mn-lt"/>
                <a:ea typeface="黑体" pitchFamily="2" charset="-122"/>
              </a:rPr>
              <a:t>网络</a:t>
            </a:r>
          </a:p>
        </p:txBody>
      </p:sp>
      <p:sp>
        <p:nvSpPr>
          <p:cNvPr id="667684" name="Text Box 36"/>
          <p:cNvSpPr txBox="1">
            <a:spLocks noChangeArrowheads="1"/>
          </p:cNvSpPr>
          <p:nvPr/>
        </p:nvSpPr>
        <p:spPr bwMode="auto">
          <a:xfrm>
            <a:off x="235685" y="2004963"/>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A</a:t>
            </a:r>
          </a:p>
        </p:txBody>
      </p:sp>
      <p:sp>
        <p:nvSpPr>
          <p:cNvPr id="667685" name="Text Box 37"/>
          <p:cNvSpPr txBox="1">
            <a:spLocks noChangeArrowheads="1"/>
          </p:cNvSpPr>
          <p:nvPr/>
        </p:nvSpPr>
        <p:spPr bwMode="auto">
          <a:xfrm>
            <a:off x="2388864" y="1993850"/>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B</a:t>
            </a:r>
          </a:p>
        </p:txBody>
      </p:sp>
      <p:sp>
        <p:nvSpPr>
          <p:cNvPr id="667686" name="Text Box 38"/>
          <p:cNvSpPr txBox="1">
            <a:spLocks noChangeArrowheads="1"/>
          </p:cNvSpPr>
          <p:nvPr/>
        </p:nvSpPr>
        <p:spPr bwMode="auto">
          <a:xfrm>
            <a:off x="3797374" y="1982738"/>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C</a:t>
            </a:r>
          </a:p>
        </p:txBody>
      </p:sp>
      <p:sp>
        <p:nvSpPr>
          <p:cNvPr id="667687" name="Text Box 39"/>
          <p:cNvSpPr txBox="1">
            <a:spLocks noChangeArrowheads="1"/>
          </p:cNvSpPr>
          <p:nvPr/>
        </p:nvSpPr>
        <p:spPr bwMode="auto">
          <a:xfrm>
            <a:off x="5340026" y="1971625"/>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D</a:t>
            </a:r>
          </a:p>
        </p:txBody>
      </p:sp>
      <p:sp>
        <p:nvSpPr>
          <p:cNvPr id="667688" name="Text Box 40"/>
          <p:cNvSpPr txBox="1">
            <a:spLocks noChangeArrowheads="1"/>
          </p:cNvSpPr>
          <p:nvPr/>
        </p:nvSpPr>
        <p:spPr bwMode="auto">
          <a:xfrm>
            <a:off x="6757135" y="1960513"/>
            <a:ext cx="3385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E</a:t>
            </a:r>
          </a:p>
        </p:txBody>
      </p:sp>
      <p:sp>
        <p:nvSpPr>
          <p:cNvPr id="667689" name="Text Box 41"/>
          <p:cNvSpPr txBox="1">
            <a:spLocks noChangeArrowheads="1"/>
          </p:cNvSpPr>
          <p:nvPr/>
        </p:nvSpPr>
        <p:spPr bwMode="auto">
          <a:xfrm>
            <a:off x="8913440" y="1949400"/>
            <a:ext cx="3257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rgbClr val="000099"/>
                </a:solidFill>
                <a:latin typeface="+mn-lt"/>
                <a:ea typeface="黑体" pitchFamily="2" charset="-122"/>
              </a:rPr>
              <a:t>F</a:t>
            </a:r>
          </a:p>
        </p:txBody>
      </p:sp>
      <p:sp>
        <p:nvSpPr>
          <p:cNvPr id="667690" name="Rectangle 42"/>
          <p:cNvSpPr>
            <a:spLocks noChangeArrowheads="1"/>
          </p:cNvSpPr>
          <p:nvPr/>
        </p:nvSpPr>
        <p:spPr bwMode="auto">
          <a:xfrm>
            <a:off x="574484" y="2942109"/>
            <a:ext cx="1403350" cy="20574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667691" name="Rectangle 43"/>
          <p:cNvSpPr>
            <a:spLocks noChangeArrowheads="1"/>
          </p:cNvSpPr>
          <p:nvPr/>
        </p:nvSpPr>
        <p:spPr bwMode="auto">
          <a:xfrm>
            <a:off x="610600" y="2962748"/>
            <a:ext cx="1368954" cy="117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7692" name="Text Box 44"/>
          <p:cNvSpPr txBox="1">
            <a:spLocks noChangeArrowheads="1"/>
          </p:cNvSpPr>
          <p:nvPr/>
        </p:nvSpPr>
        <p:spPr bwMode="auto">
          <a:xfrm>
            <a:off x="574484" y="2942109"/>
            <a:ext cx="1484180"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000099"/>
                </a:solidFill>
                <a:latin typeface="+mn-lt"/>
                <a:ea typeface="黑体" pitchFamily="2" charset="-122"/>
              </a:rPr>
              <a:t>流标号：</a:t>
            </a:r>
            <a:r>
              <a:rPr kumimoji="1" lang="en-US" altLang="zh-CN" sz="1600" b="1">
                <a:solidFill>
                  <a:srgbClr val="000099"/>
                </a:solidFill>
                <a:latin typeface="+mn-lt"/>
                <a:ea typeface="黑体" pitchFamily="2" charset="-122"/>
              </a:rPr>
              <a:t>X</a:t>
            </a:r>
          </a:p>
          <a:p>
            <a:r>
              <a:rPr kumimoji="1" lang="zh-CN" altLang="en-US" sz="1600" b="1">
                <a:solidFill>
                  <a:srgbClr val="000099"/>
                </a:solidFill>
                <a:latin typeface="+mn-lt"/>
                <a:ea typeface="黑体" pitchFamily="2" charset="-122"/>
              </a:rPr>
              <a:t>源地址：</a:t>
            </a:r>
            <a:r>
              <a:rPr kumimoji="1" lang="en-US" altLang="zh-CN" sz="1600" b="1">
                <a:solidFill>
                  <a:srgbClr val="000099"/>
                </a:solidFill>
                <a:latin typeface="+mn-lt"/>
                <a:ea typeface="黑体" pitchFamily="2" charset="-122"/>
              </a:rPr>
              <a:t>A</a:t>
            </a:r>
          </a:p>
          <a:p>
            <a:r>
              <a:rPr kumimoji="1" lang="zh-CN" altLang="en-US" sz="1600" b="1">
                <a:solidFill>
                  <a:srgbClr val="000099"/>
                </a:solidFill>
                <a:latin typeface="+mn-lt"/>
                <a:ea typeface="黑体" pitchFamily="2" charset="-122"/>
              </a:rPr>
              <a:t>目的地址：</a:t>
            </a:r>
            <a:r>
              <a:rPr kumimoji="1" lang="en-US" altLang="zh-CN" sz="1600" b="1">
                <a:solidFill>
                  <a:srgbClr val="000099"/>
                </a:solidFill>
                <a:latin typeface="+mn-lt"/>
                <a:ea typeface="黑体" pitchFamily="2" charset="-122"/>
              </a:rPr>
              <a:t>F</a:t>
            </a:r>
          </a:p>
          <a:p>
            <a:r>
              <a:rPr kumimoji="1" lang="en-US" altLang="zh-CN" sz="1600" b="1">
                <a:solidFill>
                  <a:srgbClr val="000099"/>
                </a:solidFill>
                <a:latin typeface="+mn-lt"/>
                <a:ea typeface="黑体" pitchFamily="2" charset="-122"/>
              </a:rPr>
              <a:t>……</a:t>
            </a:r>
          </a:p>
          <a:p>
            <a:endParaRPr kumimoji="1" lang="en-US" altLang="zh-CN" sz="1600" b="1">
              <a:solidFill>
                <a:srgbClr val="000099"/>
              </a:solidFill>
              <a:latin typeface="+mn-lt"/>
              <a:ea typeface="黑体" pitchFamily="2" charset="-122"/>
            </a:endParaRPr>
          </a:p>
          <a:p>
            <a:endParaRPr kumimoji="1" lang="en-US" altLang="zh-CN" sz="1600" b="1">
              <a:solidFill>
                <a:srgbClr val="000099"/>
              </a:solidFill>
              <a:latin typeface="+mn-lt"/>
              <a:ea typeface="黑体" pitchFamily="2" charset="-122"/>
            </a:endParaRPr>
          </a:p>
          <a:p>
            <a:r>
              <a:rPr kumimoji="1" lang="en-US" altLang="zh-CN" sz="1600" b="1">
                <a:solidFill>
                  <a:srgbClr val="000099"/>
                </a:solidFill>
                <a:latin typeface="+mn-lt"/>
                <a:ea typeface="黑体" pitchFamily="2" charset="-122"/>
              </a:rPr>
              <a:t>   </a:t>
            </a:r>
            <a:r>
              <a:rPr kumimoji="1" lang="zh-CN" altLang="en-US" sz="1600" b="1">
                <a:solidFill>
                  <a:srgbClr val="000099"/>
                </a:solidFill>
                <a:latin typeface="+mn-lt"/>
                <a:ea typeface="黑体" pitchFamily="2" charset="-122"/>
              </a:rPr>
              <a:t>数据部分</a:t>
            </a:r>
          </a:p>
        </p:txBody>
      </p:sp>
      <p:sp>
        <p:nvSpPr>
          <p:cNvPr id="667693" name="Rectangle 45"/>
          <p:cNvSpPr>
            <a:spLocks noChangeArrowheads="1"/>
          </p:cNvSpPr>
          <p:nvPr/>
        </p:nvSpPr>
        <p:spPr bwMode="auto">
          <a:xfrm>
            <a:off x="8105452" y="2942109"/>
            <a:ext cx="1403350" cy="20574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667694" name="Rectangle 46"/>
          <p:cNvSpPr>
            <a:spLocks noChangeArrowheads="1"/>
          </p:cNvSpPr>
          <p:nvPr/>
        </p:nvSpPr>
        <p:spPr bwMode="auto">
          <a:xfrm>
            <a:off x="8126089" y="2962748"/>
            <a:ext cx="1382713" cy="11779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7695" name="Text Box 47"/>
          <p:cNvSpPr txBox="1">
            <a:spLocks noChangeArrowheads="1"/>
          </p:cNvSpPr>
          <p:nvPr/>
        </p:nvSpPr>
        <p:spPr bwMode="auto">
          <a:xfrm>
            <a:off x="8105452" y="2942109"/>
            <a:ext cx="1504818"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000099"/>
                </a:solidFill>
                <a:latin typeface="+mn-lt"/>
                <a:ea typeface="黑体" pitchFamily="2" charset="-122"/>
              </a:rPr>
              <a:t>流标号：无</a:t>
            </a:r>
          </a:p>
          <a:p>
            <a:r>
              <a:rPr kumimoji="1" lang="zh-CN" altLang="en-US" sz="1600" b="1">
                <a:solidFill>
                  <a:srgbClr val="000099"/>
                </a:solidFill>
                <a:latin typeface="+mn-lt"/>
                <a:ea typeface="黑体" pitchFamily="2" charset="-122"/>
              </a:rPr>
              <a:t>源地址：</a:t>
            </a:r>
            <a:r>
              <a:rPr kumimoji="1" lang="en-US" altLang="zh-CN" sz="1600" b="1">
                <a:solidFill>
                  <a:srgbClr val="000099"/>
                </a:solidFill>
                <a:latin typeface="+mn-lt"/>
                <a:ea typeface="黑体" pitchFamily="2" charset="-122"/>
              </a:rPr>
              <a:t>A</a:t>
            </a:r>
          </a:p>
          <a:p>
            <a:r>
              <a:rPr kumimoji="1" lang="zh-CN" altLang="en-US" sz="1600" b="1">
                <a:solidFill>
                  <a:srgbClr val="000099"/>
                </a:solidFill>
                <a:latin typeface="+mn-lt"/>
                <a:ea typeface="黑体" pitchFamily="2" charset="-122"/>
              </a:rPr>
              <a:t>目的地址：</a:t>
            </a:r>
            <a:r>
              <a:rPr kumimoji="1" lang="en-US" altLang="zh-CN" sz="1600" b="1">
                <a:solidFill>
                  <a:srgbClr val="000099"/>
                </a:solidFill>
                <a:latin typeface="+mn-lt"/>
                <a:ea typeface="黑体" pitchFamily="2" charset="-122"/>
              </a:rPr>
              <a:t>F</a:t>
            </a:r>
          </a:p>
          <a:p>
            <a:r>
              <a:rPr kumimoji="1" lang="en-US" altLang="zh-CN" sz="1600" b="1">
                <a:solidFill>
                  <a:srgbClr val="000099"/>
                </a:solidFill>
                <a:latin typeface="+mn-lt"/>
                <a:ea typeface="黑体" pitchFamily="2" charset="-122"/>
              </a:rPr>
              <a:t>……</a:t>
            </a:r>
          </a:p>
          <a:p>
            <a:endParaRPr kumimoji="1" lang="en-US" altLang="zh-CN" sz="1600" b="1">
              <a:solidFill>
                <a:srgbClr val="000099"/>
              </a:solidFill>
              <a:latin typeface="+mn-lt"/>
              <a:ea typeface="黑体" pitchFamily="2" charset="-122"/>
            </a:endParaRPr>
          </a:p>
          <a:p>
            <a:endParaRPr kumimoji="1" lang="en-US" altLang="zh-CN" sz="1600" b="1">
              <a:solidFill>
                <a:srgbClr val="000099"/>
              </a:solidFill>
              <a:latin typeface="+mn-lt"/>
              <a:ea typeface="黑体" pitchFamily="2" charset="-122"/>
            </a:endParaRPr>
          </a:p>
          <a:p>
            <a:r>
              <a:rPr kumimoji="1" lang="en-US" altLang="zh-CN" sz="1600" b="1">
                <a:solidFill>
                  <a:srgbClr val="000099"/>
                </a:solidFill>
                <a:latin typeface="+mn-lt"/>
                <a:ea typeface="黑体" pitchFamily="2" charset="-122"/>
              </a:rPr>
              <a:t>   </a:t>
            </a:r>
            <a:r>
              <a:rPr kumimoji="1" lang="zh-CN" altLang="en-US" sz="1600" b="1">
                <a:solidFill>
                  <a:srgbClr val="000099"/>
                </a:solidFill>
                <a:latin typeface="+mn-lt"/>
                <a:ea typeface="黑体" pitchFamily="2" charset="-122"/>
              </a:rPr>
              <a:t>数据部分</a:t>
            </a:r>
          </a:p>
        </p:txBody>
      </p:sp>
      <p:sp>
        <p:nvSpPr>
          <p:cNvPr id="667696" name="Line 48"/>
          <p:cNvSpPr>
            <a:spLocks noChangeShapeType="1"/>
          </p:cNvSpPr>
          <p:nvPr/>
        </p:nvSpPr>
        <p:spPr bwMode="auto">
          <a:xfrm>
            <a:off x="758502" y="2789709"/>
            <a:ext cx="990600"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697" name="Line 49"/>
          <p:cNvSpPr>
            <a:spLocks noChangeShapeType="1"/>
          </p:cNvSpPr>
          <p:nvPr/>
        </p:nvSpPr>
        <p:spPr bwMode="auto">
          <a:xfrm>
            <a:off x="3069902" y="2789709"/>
            <a:ext cx="990600"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698" name="Line 50"/>
          <p:cNvSpPr>
            <a:spLocks noChangeShapeType="1"/>
          </p:cNvSpPr>
          <p:nvPr/>
        </p:nvSpPr>
        <p:spPr bwMode="auto">
          <a:xfrm>
            <a:off x="6124252" y="2789709"/>
            <a:ext cx="990600"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699" name="Line 51"/>
          <p:cNvSpPr>
            <a:spLocks noChangeShapeType="1"/>
          </p:cNvSpPr>
          <p:nvPr/>
        </p:nvSpPr>
        <p:spPr bwMode="auto">
          <a:xfrm>
            <a:off x="8353102" y="2789709"/>
            <a:ext cx="990600"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700" name="Text Box 52"/>
          <p:cNvSpPr txBox="1">
            <a:spLocks noChangeArrowheads="1"/>
          </p:cNvSpPr>
          <p:nvPr/>
        </p:nvSpPr>
        <p:spPr bwMode="auto">
          <a:xfrm>
            <a:off x="7027401" y="1412776"/>
            <a:ext cx="13099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C00000"/>
                </a:solidFill>
                <a:latin typeface="+mn-lt"/>
                <a:ea typeface="黑体" pitchFamily="2" charset="-122"/>
              </a:rPr>
              <a:t>双协议栈</a:t>
            </a:r>
          </a:p>
          <a:p>
            <a:pPr algn="ctr"/>
            <a:r>
              <a:rPr kumimoji="1" lang="en-US" altLang="zh-CN" sz="2000" b="1" dirty="0">
                <a:solidFill>
                  <a:srgbClr val="C00000"/>
                </a:solidFill>
                <a:latin typeface="+mn-lt"/>
                <a:ea typeface="黑体" pitchFamily="2" charset="-122"/>
              </a:rPr>
              <a:t>IPv6/IPv4</a:t>
            </a:r>
          </a:p>
        </p:txBody>
      </p:sp>
      <p:sp>
        <p:nvSpPr>
          <p:cNvPr id="667701" name="Text Box 53"/>
          <p:cNvSpPr txBox="1">
            <a:spLocks noChangeArrowheads="1"/>
          </p:cNvSpPr>
          <p:nvPr/>
        </p:nvSpPr>
        <p:spPr bwMode="auto">
          <a:xfrm>
            <a:off x="4915238" y="3213573"/>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a:t>
            </a:r>
          </a:p>
        </p:txBody>
      </p:sp>
      <p:sp>
        <p:nvSpPr>
          <p:cNvPr id="667702" name="Text Box 54"/>
          <p:cNvSpPr txBox="1">
            <a:spLocks noChangeArrowheads="1"/>
          </p:cNvSpPr>
          <p:nvPr/>
        </p:nvSpPr>
        <p:spPr bwMode="auto">
          <a:xfrm>
            <a:off x="631237" y="5013797"/>
            <a:ext cx="13260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99"/>
                </a:solidFill>
                <a:latin typeface="+mn-lt"/>
                <a:ea typeface="黑体" pitchFamily="2" charset="-122"/>
              </a:rPr>
              <a:t>IPv6 </a:t>
            </a:r>
            <a:r>
              <a:rPr kumimoji="1" lang="zh-CN" altLang="en-US" sz="1600" b="1" dirty="0">
                <a:solidFill>
                  <a:srgbClr val="000099"/>
                </a:solidFill>
                <a:latin typeface="+mn-lt"/>
                <a:ea typeface="黑体" pitchFamily="2" charset="-122"/>
              </a:rPr>
              <a:t>数据报</a:t>
            </a:r>
          </a:p>
        </p:txBody>
      </p:sp>
      <p:grpSp>
        <p:nvGrpSpPr>
          <p:cNvPr id="3" name="组合 2"/>
          <p:cNvGrpSpPr/>
          <p:nvPr/>
        </p:nvGrpSpPr>
        <p:grpSpPr>
          <a:xfrm>
            <a:off x="2850479" y="2492896"/>
            <a:ext cx="4622801" cy="2952328"/>
            <a:chOff x="2822251" y="2637309"/>
            <a:chExt cx="4622801" cy="2590800"/>
          </a:xfrm>
        </p:grpSpPr>
        <p:sp>
          <p:nvSpPr>
            <p:cNvPr id="667703" name="Line 55"/>
            <p:cNvSpPr>
              <a:spLocks noChangeShapeType="1"/>
            </p:cNvSpPr>
            <p:nvPr/>
          </p:nvSpPr>
          <p:spPr bwMode="auto">
            <a:xfrm>
              <a:off x="2822251" y="2637309"/>
              <a:ext cx="0" cy="2590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704" name="Line 56"/>
            <p:cNvSpPr>
              <a:spLocks noChangeShapeType="1"/>
            </p:cNvSpPr>
            <p:nvPr/>
          </p:nvSpPr>
          <p:spPr bwMode="auto">
            <a:xfrm>
              <a:off x="7445052" y="2637309"/>
              <a:ext cx="0" cy="2590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667705" name="Text Box 57"/>
          <p:cNvSpPr txBox="1">
            <a:spLocks noChangeArrowheads="1"/>
          </p:cNvSpPr>
          <p:nvPr/>
        </p:nvSpPr>
        <p:spPr bwMode="auto">
          <a:xfrm>
            <a:off x="8177683" y="5013797"/>
            <a:ext cx="13260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99"/>
                </a:solidFill>
                <a:latin typeface="+mn-lt"/>
                <a:ea typeface="黑体" pitchFamily="2" charset="-122"/>
              </a:rPr>
              <a:t>IPv6 </a:t>
            </a:r>
            <a:r>
              <a:rPr kumimoji="1" lang="zh-CN" altLang="en-US" sz="1600" b="1">
                <a:solidFill>
                  <a:srgbClr val="000099"/>
                </a:solidFill>
                <a:latin typeface="+mn-lt"/>
                <a:ea typeface="黑体" pitchFamily="2" charset="-122"/>
              </a:rPr>
              <a:t>数据报</a:t>
            </a:r>
          </a:p>
        </p:txBody>
      </p:sp>
      <p:sp>
        <p:nvSpPr>
          <p:cNvPr id="667706" name="Line 58"/>
          <p:cNvSpPr>
            <a:spLocks noChangeShapeType="1"/>
          </p:cNvSpPr>
          <p:nvPr/>
        </p:nvSpPr>
        <p:spPr bwMode="auto">
          <a:xfrm>
            <a:off x="593402" y="4150197"/>
            <a:ext cx="1403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707" name="Line 59"/>
          <p:cNvSpPr>
            <a:spLocks noChangeShapeType="1"/>
          </p:cNvSpPr>
          <p:nvPr/>
        </p:nvSpPr>
        <p:spPr bwMode="auto">
          <a:xfrm>
            <a:off x="8105452" y="4150197"/>
            <a:ext cx="1403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708" name="Rectangle 60"/>
          <p:cNvSpPr>
            <a:spLocks noChangeArrowheads="1"/>
          </p:cNvSpPr>
          <p:nvPr/>
        </p:nvSpPr>
        <p:spPr bwMode="auto">
          <a:xfrm>
            <a:off x="2968434" y="2942109"/>
            <a:ext cx="1403350" cy="174148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667709" name="Rectangle 61"/>
          <p:cNvSpPr>
            <a:spLocks noChangeArrowheads="1"/>
          </p:cNvSpPr>
          <p:nvPr/>
        </p:nvSpPr>
        <p:spPr bwMode="auto">
          <a:xfrm>
            <a:off x="2982192" y="2951635"/>
            <a:ext cx="1382713" cy="8858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7710" name="Text Box 62"/>
          <p:cNvSpPr txBox="1">
            <a:spLocks noChangeArrowheads="1"/>
          </p:cNvSpPr>
          <p:nvPr/>
        </p:nvSpPr>
        <p:spPr bwMode="auto">
          <a:xfrm>
            <a:off x="2968434" y="2942109"/>
            <a:ext cx="1504817"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000099"/>
                </a:solidFill>
                <a:latin typeface="+mn-lt"/>
                <a:ea typeface="黑体" pitchFamily="2" charset="-122"/>
              </a:rPr>
              <a:t>源地址：</a:t>
            </a:r>
            <a:r>
              <a:rPr kumimoji="1" lang="en-US" altLang="zh-CN" sz="1600" b="1">
                <a:solidFill>
                  <a:srgbClr val="000099"/>
                </a:solidFill>
                <a:latin typeface="+mn-lt"/>
                <a:ea typeface="黑体" pitchFamily="2" charset="-122"/>
              </a:rPr>
              <a:t>A</a:t>
            </a:r>
          </a:p>
          <a:p>
            <a:r>
              <a:rPr kumimoji="1" lang="zh-CN" altLang="en-US" sz="1600" b="1">
                <a:solidFill>
                  <a:srgbClr val="000099"/>
                </a:solidFill>
                <a:latin typeface="+mn-lt"/>
                <a:ea typeface="黑体" pitchFamily="2" charset="-122"/>
              </a:rPr>
              <a:t>目的地址：</a:t>
            </a:r>
            <a:r>
              <a:rPr kumimoji="1" lang="en-US" altLang="zh-CN" sz="1600" b="1">
                <a:solidFill>
                  <a:srgbClr val="000099"/>
                </a:solidFill>
                <a:latin typeface="+mn-lt"/>
                <a:ea typeface="黑体" pitchFamily="2" charset="-122"/>
              </a:rPr>
              <a:t>F</a:t>
            </a:r>
          </a:p>
          <a:p>
            <a:r>
              <a:rPr kumimoji="1" lang="en-US" altLang="zh-CN" sz="1600" b="1">
                <a:solidFill>
                  <a:srgbClr val="000099"/>
                </a:solidFill>
                <a:latin typeface="+mn-lt"/>
                <a:ea typeface="黑体" pitchFamily="2" charset="-122"/>
              </a:rPr>
              <a:t>……</a:t>
            </a:r>
          </a:p>
          <a:p>
            <a:endParaRPr kumimoji="1" lang="en-US" altLang="zh-CN" sz="1600" b="1">
              <a:solidFill>
                <a:srgbClr val="000099"/>
              </a:solidFill>
              <a:latin typeface="+mn-lt"/>
              <a:ea typeface="黑体" pitchFamily="2" charset="-122"/>
            </a:endParaRPr>
          </a:p>
          <a:p>
            <a:endParaRPr kumimoji="1" lang="en-US" altLang="zh-CN" sz="1600" b="1">
              <a:solidFill>
                <a:srgbClr val="000099"/>
              </a:solidFill>
              <a:latin typeface="+mn-lt"/>
              <a:ea typeface="黑体" pitchFamily="2" charset="-122"/>
            </a:endParaRPr>
          </a:p>
        </p:txBody>
      </p:sp>
      <p:sp>
        <p:nvSpPr>
          <p:cNvPr id="667711" name="Line 63"/>
          <p:cNvSpPr>
            <a:spLocks noChangeShapeType="1"/>
          </p:cNvSpPr>
          <p:nvPr/>
        </p:nvSpPr>
        <p:spPr bwMode="auto">
          <a:xfrm>
            <a:off x="2987352" y="3845397"/>
            <a:ext cx="1403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712" name="Text Box 64"/>
          <p:cNvSpPr txBox="1">
            <a:spLocks noChangeArrowheads="1"/>
          </p:cNvSpPr>
          <p:nvPr/>
        </p:nvSpPr>
        <p:spPr bwMode="auto">
          <a:xfrm>
            <a:off x="3171370" y="4088284"/>
            <a:ext cx="1005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solidFill>
                  <a:srgbClr val="000099"/>
                </a:solidFill>
                <a:latin typeface="+mn-lt"/>
                <a:ea typeface="黑体" pitchFamily="2" charset="-122"/>
              </a:rPr>
              <a:t>数据部分</a:t>
            </a:r>
          </a:p>
        </p:txBody>
      </p:sp>
      <p:sp>
        <p:nvSpPr>
          <p:cNvPr id="667713" name="Rectangle 65"/>
          <p:cNvSpPr>
            <a:spLocks noChangeArrowheads="1"/>
          </p:cNvSpPr>
          <p:nvPr/>
        </p:nvSpPr>
        <p:spPr bwMode="auto">
          <a:xfrm>
            <a:off x="5940234" y="2942109"/>
            <a:ext cx="1403350" cy="174148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667714" name="Rectangle 66"/>
          <p:cNvSpPr>
            <a:spLocks noChangeArrowheads="1"/>
          </p:cNvSpPr>
          <p:nvPr/>
        </p:nvSpPr>
        <p:spPr bwMode="auto">
          <a:xfrm>
            <a:off x="5964311" y="2957985"/>
            <a:ext cx="1367234" cy="885825"/>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7715" name="Text Box 67"/>
          <p:cNvSpPr txBox="1">
            <a:spLocks noChangeArrowheads="1"/>
          </p:cNvSpPr>
          <p:nvPr/>
        </p:nvSpPr>
        <p:spPr bwMode="auto">
          <a:xfrm>
            <a:off x="5940234" y="2942109"/>
            <a:ext cx="1504817"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000099"/>
                </a:solidFill>
                <a:latin typeface="+mn-lt"/>
                <a:ea typeface="黑体" pitchFamily="2" charset="-122"/>
              </a:rPr>
              <a:t>源地址：</a:t>
            </a:r>
            <a:r>
              <a:rPr kumimoji="1" lang="en-US" altLang="zh-CN" sz="1600" b="1">
                <a:solidFill>
                  <a:srgbClr val="000099"/>
                </a:solidFill>
                <a:latin typeface="+mn-lt"/>
                <a:ea typeface="黑体" pitchFamily="2" charset="-122"/>
              </a:rPr>
              <a:t>A</a:t>
            </a:r>
          </a:p>
          <a:p>
            <a:r>
              <a:rPr kumimoji="1" lang="zh-CN" altLang="en-US" sz="1600" b="1">
                <a:solidFill>
                  <a:srgbClr val="000099"/>
                </a:solidFill>
                <a:latin typeface="+mn-lt"/>
                <a:ea typeface="黑体" pitchFamily="2" charset="-122"/>
              </a:rPr>
              <a:t>目的地址：</a:t>
            </a:r>
            <a:r>
              <a:rPr kumimoji="1" lang="en-US" altLang="zh-CN" sz="1600" b="1">
                <a:solidFill>
                  <a:srgbClr val="000099"/>
                </a:solidFill>
                <a:latin typeface="+mn-lt"/>
                <a:ea typeface="黑体" pitchFamily="2" charset="-122"/>
              </a:rPr>
              <a:t>F</a:t>
            </a:r>
          </a:p>
          <a:p>
            <a:r>
              <a:rPr kumimoji="1" lang="en-US" altLang="zh-CN" sz="1600" b="1">
                <a:solidFill>
                  <a:srgbClr val="000099"/>
                </a:solidFill>
                <a:latin typeface="+mn-lt"/>
                <a:ea typeface="黑体" pitchFamily="2" charset="-122"/>
              </a:rPr>
              <a:t>……</a:t>
            </a:r>
          </a:p>
          <a:p>
            <a:endParaRPr kumimoji="1" lang="en-US" altLang="zh-CN" sz="1600" b="1">
              <a:solidFill>
                <a:srgbClr val="000099"/>
              </a:solidFill>
              <a:latin typeface="+mn-lt"/>
              <a:ea typeface="黑体" pitchFamily="2" charset="-122"/>
            </a:endParaRPr>
          </a:p>
          <a:p>
            <a:endParaRPr kumimoji="1" lang="en-US" altLang="zh-CN" sz="1600" b="1">
              <a:solidFill>
                <a:srgbClr val="000099"/>
              </a:solidFill>
              <a:latin typeface="+mn-lt"/>
              <a:ea typeface="黑体" pitchFamily="2" charset="-122"/>
            </a:endParaRPr>
          </a:p>
        </p:txBody>
      </p:sp>
      <p:sp>
        <p:nvSpPr>
          <p:cNvPr id="667716" name="Line 68"/>
          <p:cNvSpPr>
            <a:spLocks noChangeShapeType="1"/>
          </p:cNvSpPr>
          <p:nvPr/>
        </p:nvSpPr>
        <p:spPr bwMode="auto">
          <a:xfrm>
            <a:off x="5959152" y="3845397"/>
            <a:ext cx="1403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717" name="Text Box 69"/>
          <p:cNvSpPr txBox="1">
            <a:spLocks noChangeArrowheads="1"/>
          </p:cNvSpPr>
          <p:nvPr/>
        </p:nvSpPr>
        <p:spPr bwMode="auto">
          <a:xfrm>
            <a:off x="6143170" y="4088284"/>
            <a:ext cx="1005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solidFill>
                  <a:srgbClr val="000099"/>
                </a:solidFill>
                <a:latin typeface="+mn-lt"/>
                <a:ea typeface="黑体" pitchFamily="2" charset="-122"/>
              </a:rPr>
              <a:t>数据部分</a:t>
            </a:r>
          </a:p>
        </p:txBody>
      </p:sp>
      <p:sp>
        <p:nvSpPr>
          <p:cNvPr id="667718" name="Line 70"/>
          <p:cNvSpPr>
            <a:spLocks noChangeShapeType="1"/>
          </p:cNvSpPr>
          <p:nvPr/>
        </p:nvSpPr>
        <p:spPr bwMode="auto">
          <a:xfrm>
            <a:off x="2850480" y="5258455"/>
            <a:ext cx="4622800" cy="0"/>
          </a:xfrm>
          <a:prstGeom prst="line">
            <a:avLst/>
          </a:prstGeom>
          <a:noFill/>
          <a:ln w="190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7719" name="Text Box 71"/>
          <p:cNvSpPr txBox="1">
            <a:spLocks noChangeArrowheads="1"/>
          </p:cNvSpPr>
          <p:nvPr/>
        </p:nvSpPr>
        <p:spPr bwMode="auto">
          <a:xfrm>
            <a:off x="4577150" y="5075892"/>
            <a:ext cx="1298753"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IPv4 </a:t>
            </a:r>
            <a:r>
              <a:rPr kumimoji="1" lang="zh-CN" altLang="en-US" sz="2000" b="1" dirty="0">
                <a:solidFill>
                  <a:srgbClr val="000099"/>
                </a:solidFill>
                <a:latin typeface="+mn-lt"/>
                <a:ea typeface="黑体" pitchFamily="2" charset="-122"/>
              </a:rPr>
              <a:t>网络</a:t>
            </a:r>
          </a:p>
        </p:txBody>
      </p:sp>
      <p:sp>
        <p:nvSpPr>
          <p:cNvPr id="2" name="矩形 1"/>
          <p:cNvSpPr/>
          <p:nvPr/>
        </p:nvSpPr>
        <p:spPr>
          <a:xfrm>
            <a:off x="1751859" y="5589240"/>
            <a:ext cx="6801541" cy="461665"/>
          </a:xfrm>
          <a:prstGeom prst="rect">
            <a:avLst/>
          </a:prstGeom>
        </p:spPr>
        <p:txBody>
          <a:bodyPr wrap="square">
            <a:spAutoFit/>
          </a:bodyPr>
          <a:lstStyle/>
          <a:p>
            <a:pPr algn="ctr"/>
            <a:r>
              <a:rPr lang="zh-CN" altLang="zh-CN" sz="2400" b="1" dirty="0">
                <a:latin typeface="+mn-lt"/>
                <a:ea typeface="黑体" pitchFamily="2" charset="-122"/>
              </a:rPr>
              <a:t>使用双协议栈进行从</a:t>
            </a:r>
            <a:r>
              <a:rPr lang="en-US" altLang="zh-CN" sz="2400" b="1" dirty="0">
                <a:latin typeface="+mn-lt"/>
                <a:ea typeface="黑体" pitchFamily="2" charset="-122"/>
              </a:rPr>
              <a:t> IPv4 </a:t>
            </a:r>
            <a:r>
              <a:rPr lang="zh-CN" altLang="zh-CN" sz="2400" b="1" dirty="0">
                <a:latin typeface="+mn-lt"/>
                <a:ea typeface="黑体" pitchFamily="2" charset="-122"/>
              </a:rPr>
              <a:t>到</a:t>
            </a:r>
            <a:r>
              <a:rPr lang="en-US" altLang="zh-CN" sz="2400" b="1" dirty="0">
                <a:latin typeface="+mn-lt"/>
                <a:ea typeface="黑体" pitchFamily="2" charset="-122"/>
              </a:rPr>
              <a:t> IPv6 </a:t>
            </a:r>
            <a:r>
              <a:rPr lang="zh-CN" altLang="zh-CN" sz="2400" b="1" dirty="0">
                <a:latin typeface="+mn-lt"/>
                <a:ea typeface="黑体" pitchFamily="2" charset="-122"/>
              </a:rPr>
              <a:t>的过渡</a:t>
            </a:r>
            <a:endParaRPr lang="zh-CN" altLang="en-US" sz="2400" b="1" dirty="0">
              <a:latin typeface="+mn-lt"/>
              <a:ea typeface="黑体" pitchFamily="2" charset="-122"/>
            </a:endParaRPr>
          </a:p>
        </p:txBody>
      </p:sp>
      <p:sp>
        <p:nvSpPr>
          <p:cNvPr id="75" name="Text Box 64"/>
          <p:cNvSpPr txBox="1">
            <a:spLocks noChangeArrowheads="1"/>
          </p:cNvSpPr>
          <p:nvPr/>
        </p:nvSpPr>
        <p:spPr bwMode="auto">
          <a:xfrm>
            <a:off x="3011449" y="4746630"/>
            <a:ext cx="128432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99"/>
                </a:solidFill>
                <a:latin typeface="+mn-lt"/>
                <a:ea typeface="黑体" pitchFamily="2" charset="-122"/>
              </a:rPr>
              <a:t>IPv4 </a:t>
            </a:r>
            <a:r>
              <a:rPr kumimoji="1" lang="zh-CN" altLang="en-US" sz="1600" b="1" dirty="0">
                <a:solidFill>
                  <a:srgbClr val="000099"/>
                </a:solidFill>
                <a:latin typeface="+mn-lt"/>
                <a:ea typeface="黑体" pitchFamily="2" charset="-122"/>
              </a:rPr>
              <a:t>数据报</a:t>
            </a:r>
          </a:p>
        </p:txBody>
      </p:sp>
      <p:sp>
        <p:nvSpPr>
          <p:cNvPr id="76" name="Text Box 65"/>
          <p:cNvSpPr txBox="1">
            <a:spLocks noChangeArrowheads="1"/>
          </p:cNvSpPr>
          <p:nvPr/>
        </p:nvSpPr>
        <p:spPr bwMode="auto">
          <a:xfrm>
            <a:off x="5972930" y="4746630"/>
            <a:ext cx="128432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99"/>
                </a:solidFill>
                <a:latin typeface="+mn-lt"/>
                <a:ea typeface="黑体" pitchFamily="2" charset="-122"/>
              </a:rPr>
              <a:t>IPv4 </a:t>
            </a:r>
            <a:r>
              <a:rPr kumimoji="1" lang="zh-CN" altLang="en-US" sz="1600" b="1">
                <a:solidFill>
                  <a:srgbClr val="000099"/>
                </a:solidFill>
                <a:latin typeface="+mn-lt"/>
                <a:ea typeface="黑体" pitchFamily="2" charset="-122"/>
              </a:rPr>
              <a:t>数据报</a:t>
            </a:r>
          </a:p>
        </p:txBody>
      </p:sp>
    </p:spTree>
    <p:extLst>
      <p:ext uri="{BB962C8B-B14F-4D97-AF65-F5344CB8AC3E}">
        <p14:creationId xmlns:p14="http://schemas.microsoft.com/office/powerpoint/2010/main" val="24449298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隧道技术</a:t>
            </a:r>
            <a:endParaRPr lang="zh-CN" altLang="en-US" dirty="0"/>
          </a:p>
        </p:txBody>
      </p:sp>
      <p:sp>
        <p:nvSpPr>
          <p:cNvPr id="3" name="内容占位符 2"/>
          <p:cNvSpPr>
            <a:spLocks noGrp="1"/>
          </p:cNvSpPr>
          <p:nvPr>
            <p:ph idx="1"/>
          </p:nvPr>
        </p:nvSpPr>
        <p:spPr/>
        <p:txBody>
          <a:bodyPr/>
          <a:lstStyle/>
          <a:p>
            <a:r>
              <a:rPr lang="zh-CN" altLang="zh-CN" dirty="0"/>
              <a:t>在</a:t>
            </a:r>
            <a:r>
              <a:rPr lang="en-US" altLang="zh-CN" dirty="0"/>
              <a:t> IPv6 </a:t>
            </a:r>
            <a:r>
              <a:rPr lang="zh-CN" altLang="zh-CN" dirty="0"/>
              <a:t>数据报要进入</a:t>
            </a:r>
            <a:r>
              <a:rPr lang="en-US" altLang="zh-CN" dirty="0"/>
              <a:t> IPv4 </a:t>
            </a:r>
            <a:r>
              <a:rPr lang="zh-CN" altLang="zh-CN" dirty="0"/>
              <a:t>网络时，</a:t>
            </a:r>
            <a:r>
              <a:rPr lang="zh-CN" altLang="zh-CN" dirty="0">
                <a:solidFill>
                  <a:srgbClr val="FF0000"/>
                </a:solidFill>
              </a:rPr>
              <a:t>把</a:t>
            </a:r>
            <a:r>
              <a:rPr lang="en-US" altLang="zh-CN" dirty="0">
                <a:solidFill>
                  <a:srgbClr val="FF0000"/>
                </a:solidFill>
              </a:rPr>
              <a:t> IPv6 </a:t>
            </a:r>
            <a:r>
              <a:rPr lang="zh-CN" altLang="zh-CN" dirty="0">
                <a:solidFill>
                  <a:srgbClr val="FF0000"/>
                </a:solidFill>
              </a:rPr>
              <a:t>数据报封装成为</a:t>
            </a:r>
            <a:r>
              <a:rPr lang="en-US" altLang="zh-CN" dirty="0">
                <a:solidFill>
                  <a:srgbClr val="FF0000"/>
                </a:solidFill>
              </a:rPr>
              <a:t> IPv4 </a:t>
            </a:r>
            <a:r>
              <a:rPr lang="zh-CN" altLang="zh-CN" dirty="0">
                <a:solidFill>
                  <a:srgbClr val="FF0000"/>
                </a:solidFill>
              </a:rPr>
              <a:t>数据报</a:t>
            </a:r>
            <a:r>
              <a:rPr lang="zh-CN" altLang="en-US" dirty="0">
                <a:solidFill>
                  <a:srgbClr val="FF0000"/>
                </a:solidFill>
              </a:rPr>
              <a:t>，</a:t>
            </a:r>
            <a:r>
              <a:rPr lang="zh-CN" altLang="zh-CN" dirty="0"/>
              <a:t>整个的</a:t>
            </a:r>
            <a:r>
              <a:rPr lang="en-US" altLang="zh-CN" dirty="0"/>
              <a:t> IPv6 </a:t>
            </a:r>
            <a:r>
              <a:rPr lang="zh-CN" altLang="zh-CN" dirty="0"/>
              <a:t>数据报变成了</a:t>
            </a:r>
            <a:r>
              <a:rPr lang="en-US" altLang="zh-CN" dirty="0"/>
              <a:t> IPv4 </a:t>
            </a:r>
            <a:r>
              <a:rPr lang="zh-CN" altLang="zh-CN" dirty="0"/>
              <a:t>数据报的数据部分。</a:t>
            </a:r>
            <a:endParaRPr lang="en-US" altLang="zh-CN" dirty="0"/>
          </a:p>
          <a:p>
            <a:r>
              <a:rPr lang="zh-CN" altLang="zh-CN" dirty="0"/>
              <a:t>当</a:t>
            </a:r>
            <a:r>
              <a:rPr lang="en-US" altLang="zh-CN" dirty="0"/>
              <a:t> IPv4 </a:t>
            </a:r>
            <a:r>
              <a:rPr lang="zh-CN" altLang="zh-CN" dirty="0"/>
              <a:t>数据报离开</a:t>
            </a:r>
            <a:r>
              <a:rPr lang="en-US" altLang="zh-CN" dirty="0"/>
              <a:t> IPv4 </a:t>
            </a:r>
            <a:r>
              <a:rPr lang="zh-CN" altLang="zh-CN" dirty="0"/>
              <a:t>网络中的隧道时，再把数据部分（即原来的</a:t>
            </a:r>
            <a:r>
              <a:rPr lang="en-US" altLang="zh-CN" dirty="0"/>
              <a:t> IPv6 </a:t>
            </a:r>
            <a:r>
              <a:rPr lang="zh-CN" altLang="zh-CN" dirty="0"/>
              <a:t>数据报）交给主机的</a:t>
            </a:r>
            <a:r>
              <a:rPr lang="en-US" altLang="zh-CN" dirty="0"/>
              <a:t> IPv6 </a:t>
            </a:r>
            <a:r>
              <a:rPr lang="zh-CN" altLang="zh-CN" dirty="0"/>
              <a:t>协议栈。</a:t>
            </a:r>
            <a:endParaRPr lang="zh-CN" altLang="en-US" dirty="0"/>
          </a:p>
        </p:txBody>
      </p:sp>
    </p:spTree>
    <p:extLst>
      <p:ext uri="{BB962C8B-B14F-4D97-AF65-F5344CB8AC3E}">
        <p14:creationId xmlns:p14="http://schemas.microsoft.com/office/powerpoint/2010/main" val="422642213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8695" name="Group 23"/>
          <p:cNvGrpSpPr>
            <a:grpSpLocks/>
          </p:cNvGrpSpPr>
          <p:nvPr/>
        </p:nvGrpSpPr>
        <p:grpSpPr bwMode="auto">
          <a:xfrm>
            <a:off x="2621911" y="1484064"/>
            <a:ext cx="5093533" cy="1152848"/>
            <a:chOff x="912" y="768"/>
            <a:chExt cx="2554" cy="1584"/>
          </a:xfrm>
          <a:solidFill>
            <a:schemeClr val="bg1">
              <a:lumMod val="85000"/>
            </a:schemeClr>
          </a:solidFill>
          <a:effectLst>
            <a:outerShdw dist="38100" dir="2700000" algn="tl" rotWithShape="0">
              <a:schemeClr val="tx1"/>
            </a:outerShdw>
          </a:effectLst>
        </p:grpSpPr>
        <p:sp>
          <p:nvSpPr>
            <p:cNvPr id="668696" name="Oval 24"/>
            <p:cNvSpPr>
              <a:spLocks noChangeArrowheads="1"/>
            </p:cNvSpPr>
            <p:nvPr/>
          </p:nvSpPr>
          <p:spPr bwMode="auto">
            <a:xfrm>
              <a:off x="1751" y="799"/>
              <a:ext cx="1026" cy="6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697" name="Oval 25"/>
            <p:cNvSpPr>
              <a:spLocks noChangeArrowheads="1"/>
            </p:cNvSpPr>
            <p:nvPr/>
          </p:nvSpPr>
          <p:spPr bwMode="auto">
            <a:xfrm>
              <a:off x="1172" y="972"/>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698" name="Oval 26"/>
            <p:cNvSpPr>
              <a:spLocks noChangeArrowheads="1"/>
            </p:cNvSpPr>
            <p:nvPr/>
          </p:nvSpPr>
          <p:spPr bwMode="auto">
            <a:xfrm>
              <a:off x="926" y="1364"/>
              <a:ext cx="521" cy="50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699" name="Oval 27"/>
            <p:cNvSpPr>
              <a:spLocks noChangeArrowheads="1"/>
            </p:cNvSpPr>
            <p:nvPr/>
          </p:nvSpPr>
          <p:spPr bwMode="auto">
            <a:xfrm>
              <a:off x="1085" y="1599"/>
              <a:ext cx="796"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00" name="Oval 28"/>
            <p:cNvSpPr>
              <a:spLocks noChangeArrowheads="1"/>
            </p:cNvSpPr>
            <p:nvPr/>
          </p:nvSpPr>
          <p:spPr bwMode="auto">
            <a:xfrm>
              <a:off x="1664" y="1693"/>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01" name="Oval 29"/>
            <p:cNvSpPr>
              <a:spLocks noChangeArrowheads="1"/>
            </p:cNvSpPr>
            <p:nvPr/>
          </p:nvSpPr>
          <p:spPr bwMode="auto">
            <a:xfrm>
              <a:off x="2445" y="988"/>
              <a:ext cx="751"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02" name="Oval 30"/>
            <p:cNvSpPr>
              <a:spLocks noChangeArrowheads="1"/>
            </p:cNvSpPr>
            <p:nvPr/>
          </p:nvSpPr>
          <p:spPr bwMode="auto">
            <a:xfrm>
              <a:off x="2560" y="1317"/>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03" name="Oval 31"/>
            <p:cNvSpPr>
              <a:spLocks noChangeArrowheads="1"/>
            </p:cNvSpPr>
            <p:nvPr/>
          </p:nvSpPr>
          <p:spPr bwMode="auto">
            <a:xfrm>
              <a:off x="2488" y="1427"/>
              <a:ext cx="752"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04" name="Oval 32"/>
            <p:cNvSpPr>
              <a:spLocks noChangeArrowheads="1"/>
            </p:cNvSpPr>
            <p:nvPr/>
          </p:nvSpPr>
          <p:spPr bwMode="auto">
            <a:xfrm>
              <a:off x="1360" y="1176"/>
              <a:ext cx="1547"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668705" name="Group 33"/>
            <p:cNvGrpSpPr>
              <a:grpSpLocks/>
            </p:cNvGrpSpPr>
            <p:nvPr/>
          </p:nvGrpSpPr>
          <p:grpSpPr bwMode="auto">
            <a:xfrm>
              <a:off x="912" y="768"/>
              <a:ext cx="2554" cy="1553"/>
              <a:chOff x="912" y="768"/>
              <a:chExt cx="2554" cy="1553"/>
            </a:xfrm>
            <a:grpFill/>
          </p:grpSpPr>
          <p:sp>
            <p:nvSpPr>
              <p:cNvPr id="668706" name="Oval 34"/>
              <p:cNvSpPr>
                <a:spLocks noChangeArrowheads="1"/>
              </p:cNvSpPr>
              <p:nvPr/>
            </p:nvSpPr>
            <p:spPr bwMode="auto">
              <a:xfrm>
                <a:off x="1736" y="768"/>
                <a:ext cx="1027"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07" name="Oval 35"/>
              <p:cNvSpPr>
                <a:spLocks noChangeArrowheads="1"/>
              </p:cNvSpPr>
              <p:nvPr/>
            </p:nvSpPr>
            <p:spPr bwMode="auto">
              <a:xfrm>
                <a:off x="1158" y="941"/>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08" name="Oval 36"/>
              <p:cNvSpPr>
                <a:spLocks noChangeArrowheads="1"/>
              </p:cNvSpPr>
              <p:nvPr/>
            </p:nvSpPr>
            <p:spPr bwMode="auto">
              <a:xfrm>
                <a:off x="912" y="1333"/>
                <a:ext cx="520" cy="5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10" name="Oval 38"/>
              <p:cNvSpPr>
                <a:spLocks noChangeArrowheads="1"/>
              </p:cNvSpPr>
              <p:nvPr/>
            </p:nvSpPr>
            <p:spPr bwMode="auto">
              <a:xfrm>
                <a:off x="1649" y="1662"/>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11" name="Oval 39"/>
              <p:cNvSpPr>
                <a:spLocks noChangeArrowheads="1"/>
              </p:cNvSpPr>
              <p:nvPr/>
            </p:nvSpPr>
            <p:spPr bwMode="auto">
              <a:xfrm>
                <a:off x="2430" y="95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12" name="Oval 40"/>
              <p:cNvSpPr>
                <a:spLocks noChangeArrowheads="1"/>
              </p:cNvSpPr>
              <p:nvPr/>
            </p:nvSpPr>
            <p:spPr bwMode="auto">
              <a:xfrm>
                <a:off x="2546" y="128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13" name="Oval 41"/>
              <p:cNvSpPr>
                <a:spLocks noChangeArrowheads="1"/>
              </p:cNvSpPr>
              <p:nvPr/>
            </p:nvSpPr>
            <p:spPr bwMode="auto">
              <a:xfrm>
                <a:off x="2473" y="1395"/>
                <a:ext cx="752"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14" name="Oval 42"/>
              <p:cNvSpPr>
                <a:spLocks noChangeArrowheads="1"/>
              </p:cNvSpPr>
              <p:nvPr/>
            </p:nvSpPr>
            <p:spPr bwMode="auto">
              <a:xfrm>
                <a:off x="1346" y="1144"/>
                <a:ext cx="1547"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68709" name="Oval 37"/>
              <p:cNvSpPr>
                <a:spLocks noChangeArrowheads="1"/>
              </p:cNvSpPr>
              <p:nvPr/>
            </p:nvSpPr>
            <p:spPr bwMode="auto">
              <a:xfrm>
                <a:off x="995" y="1209"/>
                <a:ext cx="761"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dirty="0">
                    <a:solidFill>
                      <a:srgbClr val="C00000"/>
                    </a:solidFill>
                    <a:latin typeface="+mn-lt"/>
                    <a:ea typeface="黑体" pitchFamily="2" charset="-122"/>
                  </a:rPr>
                  <a:t>IPv6 </a:t>
                </a:r>
                <a:r>
                  <a:rPr lang="zh-CN" altLang="en-US" sz="1600" b="1" dirty="0">
                    <a:solidFill>
                      <a:srgbClr val="C00000"/>
                    </a:solidFill>
                    <a:latin typeface="+mn-lt"/>
                    <a:ea typeface="黑体" pitchFamily="2" charset="-122"/>
                  </a:rPr>
                  <a:t>隧道</a:t>
                </a:r>
              </a:p>
            </p:txBody>
          </p:sp>
          <p:sp>
            <p:nvSpPr>
              <p:cNvPr id="109" name="Oval 37"/>
              <p:cNvSpPr>
                <a:spLocks noChangeArrowheads="1"/>
              </p:cNvSpPr>
              <p:nvPr/>
            </p:nvSpPr>
            <p:spPr bwMode="auto">
              <a:xfrm>
                <a:off x="1853" y="1209"/>
                <a:ext cx="769"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dirty="0">
                    <a:solidFill>
                      <a:srgbClr val="C00000"/>
                    </a:solidFill>
                    <a:latin typeface="+mn-lt"/>
                    <a:ea typeface="黑体" pitchFamily="2" charset="-122"/>
                  </a:rPr>
                  <a:t>IPv6 </a:t>
                </a:r>
                <a:r>
                  <a:rPr lang="zh-CN" altLang="en-US" sz="1600" b="1" dirty="0">
                    <a:solidFill>
                      <a:srgbClr val="C00000"/>
                    </a:solidFill>
                    <a:latin typeface="+mn-lt"/>
                    <a:ea typeface="黑体" pitchFamily="2" charset="-122"/>
                  </a:rPr>
                  <a:t>隧道</a:t>
                </a:r>
              </a:p>
            </p:txBody>
          </p:sp>
          <p:sp>
            <p:nvSpPr>
              <p:cNvPr id="110" name="Oval 37"/>
              <p:cNvSpPr>
                <a:spLocks noChangeArrowheads="1"/>
              </p:cNvSpPr>
              <p:nvPr/>
            </p:nvSpPr>
            <p:spPr bwMode="auto">
              <a:xfrm>
                <a:off x="2673" y="1209"/>
                <a:ext cx="793"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r>
                  <a:rPr lang="en-US" altLang="zh-CN" sz="1600" b="1" dirty="0">
                    <a:solidFill>
                      <a:srgbClr val="C00000"/>
                    </a:solidFill>
                    <a:latin typeface="+mn-lt"/>
                    <a:ea typeface="黑体" pitchFamily="2" charset="-122"/>
                  </a:rPr>
                  <a:t>IPv6 </a:t>
                </a:r>
                <a:r>
                  <a:rPr lang="zh-CN" altLang="en-US" sz="1600" b="1" dirty="0">
                    <a:solidFill>
                      <a:srgbClr val="C00000"/>
                    </a:solidFill>
                    <a:latin typeface="+mn-lt"/>
                    <a:ea typeface="黑体" pitchFamily="2" charset="-122"/>
                  </a:rPr>
                  <a:t>隧道</a:t>
                </a:r>
              </a:p>
            </p:txBody>
          </p:sp>
        </p:grpSp>
      </p:grpSp>
      <p:sp>
        <p:nvSpPr>
          <p:cNvPr id="668716" name="Line 44"/>
          <p:cNvSpPr>
            <a:spLocks noChangeShapeType="1"/>
          </p:cNvSpPr>
          <p:nvPr/>
        </p:nvSpPr>
        <p:spPr bwMode="auto">
          <a:xfrm>
            <a:off x="913059" y="2214786"/>
            <a:ext cx="875030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668717"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859" y="1911574"/>
            <a:ext cx="570971"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8722"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67969" y="1911574"/>
            <a:ext cx="570971"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8723" name="Text Box 51"/>
          <p:cNvSpPr txBox="1">
            <a:spLocks noChangeArrowheads="1"/>
          </p:cNvSpPr>
          <p:nvPr/>
        </p:nvSpPr>
        <p:spPr bwMode="auto">
          <a:xfrm>
            <a:off x="582859" y="1536924"/>
            <a:ext cx="6591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IPv6</a:t>
            </a:r>
          </a:p>
        </p:txBody>
      </p:sp>
      <p:sp>
        <p:nvSpPr>
          <p:cNvPr id="668724" name="Text Box 52"/>
          <p:cNvSpPr txBox="1">
            <a:spLocks noChangeArrowheads="1"/>
          </p:cNvSpPr>
          <p:nvPr/>
        </p:nvSpPr>
        <p:spPr bwMode="auto">
          <a:xfrm>
            <a:off x="9078539" y="1536924"/>
            <a:ext cx="6591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solidFill>
                  <a:srgbClr val="000099"/>
                </a:solidFill>
                <a:latin typeface="+mn-lt"/>
                <a:ea typeface="黑体" pitchFamily="2" charset="-122"/>
              </a:rPr>
              <a:t>IPv6</a:t>
            </a:r>
          </a:p>
        </p:txBody>
      </p:sp>
      <p:sp>
        <p:nvSpPr>
          <p:cNvPr id="668725" name="Text Box 53"/>
          <p:cNvSpPr txBox="1">
            <a:spLocks noChangeArrowheads="1"/>
          </p:cNvSpPr>
          <p:nvPr/>
        </p:nvSpPr>
        <p:spPr bwMode="auto">
          <a:xfrm>
            <a:off x="307693" y="1900387"/>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99"/>
                </a:solidFill>
                <a:latin typeface="+mn-lt"/>
                <a:ea typeface="黑体" pitchFamily="2" charset="-122"/>
              </a:rPr>
              <a:t>A</a:t>
            </a:r>
          </a:p>
        </p:txBody>
      </p:sp>
      <p:sp>
        <p:nvSpPr>
          <p:cNvPr id="668730" name="Text Box 58"/>
          <p:cNvSpPr txBox="1">
            <a:spLocks noChangeArrowheads="1"/>
          </p:cNvSpPr>
          <p:nvPr/>
        </p:nvSpPr>
        <p:spPr bwMode="auto">
          <a:xfrm>
            <a:off x="8913440" y="1844824"/>
            <a:ext cx="3097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99"/>
                </a:solidFill>
                <a:latin typeface="+mn-lt"/>
                <a:ea typeface="黑体" pitchFamily="2" charset="-122"/>
              </a:rPr>
              <a:t>F</a:t>
            </a:r>
          </a:p>
        </p:txBody>
      </p:sp>
      <p:sp>
        <p:nvSpPr>
          <p:cNvPr id="668731" name="Line 59"/>
          <p:cNvSpPr>
            <a:spLocks noChangeShapeType="1"/>
          </p:cNvSpPr>
          <p:nvPr/>
        </p:nvSpPr>
        <p:spPr bwMode="auto">
          <a:xfrm>
            <a:off x="830510" y="2735425"/>
            <a:ext cx="990600"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32" name="Line 60"/>
          <p:cNvSpPr>
            <a:spLocks noChangeShapeType="1"/>
          </p:cNvSpPr>
          <p:nvPr/>
        </p:nvSpPr>
        <p:spPr bwMode="auto">
          <a:xfrm>
            <a:off x="3141910" y="2735425"/>
            <a:ext cx="990600"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33" name="Line 61"/>
          <p:cNvSpPr>
            <a:spLocks noChangeShapeType="1"/>
          </p:cNvSpPr>
          <p:nvPr/>
        </p:nvSpPr>
        <p:spPr bwMode="auto">
          <a:xfrm>
            <a:off x="6196260" y="2735425"/>
            <a:ext cx="990600"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34" name="Line 62"/>
          <p:cNvSpPr>
            <a:spLocks noChangeShapeType="1"/>
          </p:cNvSpPr>
          <p:nvPr/>
        </p:nvSpPr>
        <p:spPr bwMode="auto">
          <a:xfrm>
            <a:off x="8425110" y="2735425"/>
            <a:ext cx="990600" cy="0"/>
          </a:xfrm>
          <a:prstGeom prst="line">
            <a:avLst/>
          </a:prstGeom>
          <a:noFill/>
          <a:ln w="571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35" name="Text Box 63"/>
          <p:cNvSpPr txBox="1">
            <a:spLocks noChangeArrowheads="1"/>
          </p:cNvSpPr>
          <p:nvPr/>
        </p:nvSpPr>
        <p:spPr bwMode="auto">
          <a:xfrm>
            <a:off x="5033680" y="3345025"/>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a:solidFill>
                  <a:srgbClr val="000099"/>
                </a:solidFill>
                <a:latin typeface="+mn-lt"/>
                <a:ea typeface="黑体" pitchFamily="2" charset="-122"/>
              </a:rPr>
              <a:t>…</a:t>
            </a:r>
          </a:p>
        </p:txBody>
      </p:sp>
      <p:sp>
        <p:nvSpPr>
          <p:cNvPr id="668736" name="Text Box 64"/>
          <p:cNvSpPr txBox="1">
            <a:spLocks noChangeArrowheads="1"/>
          </p:cNvSpPr>
          <p:nvPr/>
        </p:nvSpPr>
        <p:spPr bwMode="auto">
          <a:xfrm>
            <a:off x="2897699" y="4653136"/>
            <a:ext cx="16081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IPv4 </a:t>
            </a:r>
            <a:r>
              <a:rPr kumimoji="1" lang="zh-CN" altLang="en-US" sz="2000" b="1" dirty="0">
                <a:solidFill>
                  <a:srgbClr val="000099"/>
                </a:solidFill>
                <a:latin typeface="+mn-lt"/>
                <a:ea typeface="黑体" pitchFamily="2" charset="-122"/>
              </a:rPr>
              <a:t>数据报</a:t>
            </a:r>
          </a:p>
        </p:txBody>
      </p:sp>
      <p:sp>
        <p:nvSpPr>
          <p:cNvPr id="668737" name="Text Box 65"/>
          <p:cNvSpPr txBox="1">
            <a:spLocks noChangeArrowheads="1"/>
          </p:cNvSpPr>
          <p:nvPr/>
        </p:nvSpPr>
        <p:spPr bwMode="auto">
          <a:xfrm>
            <a:off x="5859180" y="4653136"/>
            <a:ext cx="16081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IPv4 </a:t>
            </a:r>
            <a:r>
              <a:rPr kumimoji="1" lang="zh-CN" altLang="en-US" sz="2000" b="1">
                <a:solidFill>
                  <a:srgbClr val="000099"/>
                </a:solidFill>
                <a:latin typeface="+mn-lt"/>
                <a:ea typeface="黑体" pitchFamily="2" charset="-122"/>
              </a:rPr>
              <a:t>数据报</a:t>
            </a:r>
          </a:p>
        </p:txBody>
      </p:sp>
      <p:sp>
        <p:nvSpPr>
          <p:cNvPr id="668752" name="Rectangle 80"/>
          <p:cNvSpPr>
            <a:spLocks noChangeArrowheads="1"/>
          </p:cNvSpPr>
          <p:nvPr/>
        </p:nvSpPr>
        <p:spPr bwMode="auto">
          <a:xfrm>
            <a:off x="3040442" y="2887825"/>
            <a:ext cx="1403350" cy="1617662"/>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668753" name="Text Box 81"/>
          <p:cNvSpPr txBox="1">
            <a:spLocks noChangeArrowheads="1"/>
          </p:cNvSpPr>
          <p:nvPr/>
        </p:nvSpPr>
        <p:spPr bwMode="auto">
          <a:xfrm>
            <a:off x="3040442" y="2887826"/>
            <a:ext cx="1504817"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000099"/>
                </a:solidFill>
                <a:latin typeface="+mn-lt"/>
                <a:ea typeface="黑体" pitchFamily="2" charset="-122"/>
              </a:rPr>
              <a:t>源地址：</a:t>
            </a:r>
            <a:r>
              <a:rPr kumimoji="1" lang="en-US" altLang="zh-CN" sz="1600" b="1">
                <a:solidFill>
                  <a:srgbClr val="000099"/>
                </a:solidFill>
                <a:latin typeface="+mn-lt"/>
                <a:ea typeface="黑体" pitchFamily="2" charset="-122"/>
              </a:rPr>
              <a:t>B</a:t>
            </a:r>
          </a:p>
          <a:p>
            <a:r>
              <a:rPr kumimoji="1" lang="zh-CN" altLang="en-US" sz="1600" b="1">
                <a:solidFill>
                  <a:srgbClr val="000099"/>
                </a:solidFill>
                <a:latin typeface="+mn-lt"/>
                <a:ea typeface="黑体" pitchFamily="2" charset="-122"/>
              </a:rPr>
              <a:t>目的地址：</a:t>
            </a:r>
            <a:r>
              <a:rPr kumimoji="1" lang="en-US" altLang="zh-CN" sz="1600" b="1">
                <a:solidFill>
                  <a:srgbClr val="000099"/>
                </a:solidFill>
                <a:latin typeface="+mn-lt"/>
                <a:ea typeface="黑体" pitchFamily="2" charset="-122"/>
              </a:rPr>
              <a:t>E</a:t>
            </a:r>
          </a:p>
          <a:p>
            <a:endParaRPr kumimoji="1" lang="en-US" altLang="zh-CN" sz="1600" b="1">
              <a:solidFill>
                <a:srgbClr val="000099"/>
              </a:solidFill>
              <a:latin typeface="+mn-lt"/>
              <a:ea typeface="黑体" pitchFamily="2" charset="-122"/>
            </a:endParaRPr>
          </a:p>
          <a:p>
            <a:endParaRPr kumimoji="1" lang="en-US" altLang="zh-CN" sz="1600" b="1">
              <a:solidFill>
                <a:srgbClr val="000099"/>
              </a:solidFill>
              <a:latin typeface="+mn-lt"/>
              <a:ea typeface="黑体" pitchFamily="2" charset="-122"/>
            </a:endParaRPr>
          </a:p>
        </p:txBody>
      </p:sp>
      <p:sp>
        <p:nvSpPr>
          <p:cNvPr id="668754" name="Rectangle 82"/>
          <p:cNvSpPr>
            <a:spLocks noChangeArrowheads="1"/>
          </p:cNvSpPr>
          <p:nvPr/>
        </p:nvSpPr>
        <p:spPr bwMode="auto">
          <a:xfrm>
            <a:off x="3159107" y="3486314"/>
            <a:ext cx="1155700" cy="814387"/>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8755" name="Text Box 83"/>
          <p:cNvSpPr txBox="1">
            <a:spLocks noChangeArrowheads="1"/>
          </p:cNvSpPr>
          <p:nvPr/>
        </p:nvSpPr>
        <p:spPr bwMode="auto">
          <a:xfrm>
            <a:off x="3321370" y="3573016"/>
            <a:ext cx="80021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dirty="0">
                <a:solidFill>
                  <a:srgbClr val="000099"/>
                </a:solidFill>
                <a:latin typeface="+mn-lt"/>
                <a:ea typeface="黑体" pitchFamily="2" charset="-122"/>
              </a:rPr>
              <a:t>IPv6</a:t>
            </a:r>
          </a:p>
          <a:p>
            <a:pPr algn="ctr"/>
            <a:r>
              <a:rPr kumimoji="1" lang="zh-CN" altLang="en-US" sz="1600" b="1" dirty="0">
                <a:solidFill>
                  <a:srgbClr val="000099"/>
                </a:solidFill>
                <a:latin typeface="+mn-lt"/>
                <a:ea typeface="黑体" pitchFamily="2" charset="-122"/>
              </a:rPr>
              <a:t>数据报</a:t>
            </a:r>
          </a:p>
        </p:txBody>
      </p:sp>
      <p:sp>
        <p:nvSpPr>
          <p:cNvPr id="668756" name="AutoShape 84"/>
          <p:cNvSpPr>
            <a:spLocks noChangeArrowheads="1"/>
          </p:cNvSpPr>
          <p:nvPr/>
        </p:nvSpPr>
        <p:spPr bwMode="auto">
          <a:xfrm>
            <a:off x="2151310" y="3717032"/>
            <a:ext cx="1238250" cy="228600"/>
          </a:xfrm>
          <a:prstGeom prst="rightArrow">
            <a:avLst>
              <a:gd name="adj1" fmla="val 50000"/>
              <a:gd name="adj2" fmla="val 1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8760" name="Text Box 88"/>
          <p:cNvSpPr txBox="1">
            <a:spLocks noChangeArrowheads="1"/>
          </p:cNvSpPr>
          <p:nvPr/>
        </p:nvSpPr>
        <p:spPr bwMode="auto">
          <a:xfrm>
            <a:off x="7171417" y="1126485"/>
            <a:ext cx="13099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C00000"/>
                </a:solidFill>
                <a:latin typeface="+mn-lt"/>
                <a:ea typeface="黑体" pitchFamily="2" charset="-122"/>
              </a:rPr>
              <a:t>双协议栈</a:t>
            </a:r>
          </a:p>
          <a:p>
            <a:pPr algn="ctr"/>
            <a:r>
              <a:rPr kumimoji="1" lang="en-US" altLang="zh-CN" sz="2000" b="1" dirty="0">
                <a:solidFill>
                  <a:srgbClr val="C00000"/>
                </a:solidFill>
                <a:latin typeface="+mn-lt"/>
                <a:ea typeface="黑体" pitchFamily="2" charset="-122"/>
              </a:rPr>
              <a:t>IPv6/IPv4</a:t>
            </a:r>
          </a:p>
        </p:txBody>
      </p:sp>
      <p:sp>
        <p:nvSpPr>
          <p:cNvPr id="668762" name="Rectangle 90"/>
          <p:cNvSpPr>
            <a:spLocks noChangeArrowheads="1"/>
          </p:cNvSpPr>
          <p:nvPr/>
        </p:nvSpPr>
        <p:spPr bwMode="auto">
          <a:xfrm>
            <a:off x="646492" y="2887825"/>
            <a:ext cx="1403350" cy="1617662"/>
          </a:xfrm>
          <a:prstGeom prst="rect">
            <a:avLst/>
          </a:prstGeom>
          <a:solidFill>
            <a:srgbClr val="DDDDDD"/>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668763" name="Text Box 91"/>
          <p:cNvSpPr txBox="1">
            <a:spLocks noChangeArrowheads="1"/>
          </p:cNvSpPr>
          <p:nvPr/>
        </p:nvSpPr>
        <p:spPr bwMode="auto">
          <a:xfrm>
            <a:off x="646492" y="2887826"/>
            <a:ext cx="1518576"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000099"/>
                </a:solidFill>
                <a:latin typeface="+mn-lt"/>
                <a:ea typeface="黑体" pitchFamily="2" charset="-122"/>
              </a:rPr>
              <a:t>流标号：</a:t>
            </a:r>
            <a:r>
              <a:rPr kumimoji="1" lang="en-US" altLang="zh-CN" sz="1600" b="1">
                <a:solidFill>
                  <a:srgbClr val="000099"/>
                </a:solidFill>
                <a:latin typeface="+mn-lt"/>
                <a:ea typeface="黑体" pitchFamily="2" charset="-122"/>
              </a:rPr>
              <a:t>X</a:t>
            </a:r>
          </a:p>
          <a:p>
            <a:r>
              <a:rPr kumimoji="1" lang="zh-CN" altLang="en-US" sz="1600" b="1">
                <a:solidFill>
                  <a:srgbClr val="000099"/>
                </a:solidFill>
                <a:latin typeface="+mn-lt"/>
                <a:ea typeface="黑体" pitchFamily="2" charset="-122"/>
              </a:rPr>
              <a:t>源地址：</a:t>
            </a:r>
            <a:r>
              <a:rPr kumimoji="1" lang="en-US" altLang="zh-CN" sz="1600" b="1">
                <a:solidFill>
                  <a:srgbClr val="000099"/>
                </a:solidFill>
                <a:latin typeface="+mn-lt"/>
                <a:ea typeface="黑体" pitchFamily="2" charset="-122"/>
              </a:rPr>
              <a:t>A</a:t>
            </a:r>
          </a:p>
          <a:p>
            <a:r>
              <a:rPr kumimoji="1" lang="zh-CN" altLang="en-US" sz="1600" b="1">
                <a:solidFill>
                  <a:srgbClr val="000099"/>
                </a:solidFill>
                <a:latin typeface="+mn-lt"/>
                <a:ea typeface="黑体" pitchFamily="2" charset="-122"/>
              </a:rPr>
              <a:t>目的地址：</a:t>
            </a:r>
            <a:r>
              <a:rPr kumimoji="1" lang="en-US" altLang="zh-CN" sz="1600" b="1">
                <a:solidFill>
                  <a:srgbClr val="000099"/>
                </a:solidFill>
                <a:latin typeface="+mn-lt"/>
                <a:ea typeface="黑体" pitchFamily="2" charset="-122"/>
              </a:rPr>
              <a:t>F</a:t>
            </a:r>
          </a:p>
          <a:p>
            <a:r>
              <a:rPr kumimoji="1" lang="en-US" altLang="zh-CN" sz="1600" b="1">
                <a:solidFill>
                  <a:srgbClr val="000099"/>
                </a:solidFill>
                <a:latin typeface="+mn-lt"/>
                <a:ea typeface="黑体" pitchFamily="2" charset="-122"/>
              </a:rPr>
              <a:t>……</a:t>
            </a:r>
          </a:p>
          <a:p>
            <a:endParaRPr kumimoji="1" lang="en-US" altLang="zh-CN" sz="1600" b="1">
              <a:solidFill>
                <a:srgbClr val="000099"/>
              </a:solidFill>
              <a:latin typeface="+mn-lt"/>
              <a:ea typeface="黑体" pitchFamily="2" charset="-122"/>
            </a:endParaRPr>
          </a:p>
          <a:p>
            <a:r>
              <a:rPr kumimoji="1" lang="en-US" altLang="zh-CN" sz="1600" b="1">
                <a:solidFill>
                  <a:srgbClr val="000099"/>
                </a:solidFill>
                <a:latin typeface="+mn-lt"/>
                <a:ea typeface="黑体" pitchFamily="2" charset="-122"/>
              </a:rPr>
              <a:t>   </a:t>
            </a:r>
            <a:r>
              <a:rPr kumimoji="1" lang="zh-CN" altLang="en-US" sz="1600" b="1">
                <a:solidFill>
                  <a:srgbClr val="000099"/>
                </a:solidFill>
                <a:latin typeface="+mn-lt"/>
                <a:ea typeface="黑体" pitchFamily="2" charset="-122"/>
              </a:rPr>
              <a:t>数据部分</a:t>
            </a:r>
          </a:p>
        </p:txBody>
      </p:sp>
      <p:sp>
        <p:nvSpPr>
          <p:cNvPr id="668764" name="Text Box 92"/>
          <p:cNvSpPr txBox="1">
            <a:spLocks noChangeArrowheads="1"/>
          </p:cNvSpPr>
          <p:nvPr/>
        </p:nvSpPr>
        <p:spPr bwMode="auto">
          <a:xfrm>
            <a:off x="541585" y="4524538"/>
            <a:ext cx="16081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IPv6 </a:t>
            </a:r>
            <a:r>
              <a:rPr kumimoji="1" lang="zh-CN" altLang="en-US" sz="2000" b="1">
                <a:solidFill>
                  <a:srgbClr val="000099"/>
                </a:solidFill>
                <a:latin typeface="+mn-lt"/>
                <a:ea typeface="黑体" pitchFamily="2" charset="-122"/>
              </a:rPr>
              <a:t>数据报</a:t>
            </a:r>
          </a:p>
        </p:txBody>
      </p:sp>
      <p:sp>
        <p:nvSpPr>
          <p:cNvPr id="668765" name="Line 93"/>
          <p:cNvSpPr>
            <a:spLocks noChangeShapeType="1"/>
          </p:cNvSpPr>
          <p:nvPr/>
        </p:nvSpPr>
        <p:spPr bwMode="auto">
          <a:xfrm>
            <a:off x="665410" y="3972087"/>
            <a:ext cx="13569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66" name="Line 94"/>
          <p:cNvSpPr>
            <a:spLocks noChangeShapeType="1"/>
          </p:cNvSpPr>
          <p:nvPr/>
        </p:nvSpPr>
        <p:spPr bwMode="auto">
          <a:xfrm>
            <a:off x="2068760" y="2927513"/>
            <a:ext cx="1090348" cy="57467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67" name="Line 95"/>
          <p:cNvSpPr>
            <a:spLocks noChangeShapeType="1"/>
          </p:cNvSpPr>
          <p:nvPr/>
        </p:nvSpPr>
        <p:spPr bwMode="auto">
          <a:xfrm flipV="1">
            <a:off x="2068760" y="4300702"/>
            <a:ext cx="1100596" cy="23971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68" name="Rectangle 96"/>
          <p:cNvSpPr>
            <a:spLocks noChangeArrowheads="1"/>
          </p:cNvSpPr>
          <p:nvPr/>
        </p:nvSpPr>
        <p:spPr bwMode="auto">
          <a:xfrm>
            <a:off x="8177460" y="2887825"/>
            <a:ext cx="1403350" cy="1617662"/>
          </a:xfrm>
          <a:prstGeom prst="rect">
            <a:avLst/>
          </a:prstGeom>
          <a:solidFill>
            <a:srgbClr val="DDDDDD"/>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668769" name="Text Box 97"/>
          <p:cNvSpPr txBox="1">
            <a:spLocks noChangeArrowheads="1"/>
          </p:cNvSpPr>
          <p:nvPr/>
        </p:nvSpPr>
        <p:spPr bwMode="auto">
          <a:xfrm>
            <a:off x="8177460" y="2887826"/>
            <a:ext cx="1540933"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000099"/>
                </a:solidFill>
                <a:latin typeface="+mn-lt"/>
                <a:ea typeface="黑体" pitchFamily="2" charset="-122"/>
              </a:rPr>
              <a:t>流标号：</a:t>
            </a:r>
            <a:r>
              <a:rPr kumimoji="1" lang="en-US" altLang="zh-CN" sz="1600" b="1">
                <a:solidFill>
                  <a:srgbClr val="000099"/>
                </a:solidFill>
                <a:latin typeface="+mn-lt"/>
                <a:ea typeface="黑体" pitchFamily="2" charset="-122"/>
              </a:rPr>
              <a:t>X</a:t>
            </a:r>
          </a:p>
          <a:p>
            <a:r>
              <a:rPr kumimoji="1" lang="zh-CN" altLang="en-US" sz="1600" b="1">
                <a:solidFill>
                  <a:srgbClr val="000099"/>
                </a:solidFill>
                <a:latin typeface="+mn-lt"/>
                <a:ea typeface="黑体" pitchFamily="2" charset="-122"/>
              </a:rPr>
              <a:t>源地址：</a:t>
            </a:r>
            <a:r>
              <a:rPr kumimoji="1" lang="en-US" altLang="zh-CN" sz="1600" b="1">
                <a:solidFill>
                  <a:srgbClr val="000099"/>
                </a:solidFill>
                <a:latin typeface="+mn-lt"/>
                <a:ea typeface="黑体" pitchFamily="2" charset="-122"/>
              </a:rPr>
              <a:t>A</a:t>
            </a:r>
          </a:p>
          <a:p>
            <a:r>
              <a:rPr kumimoji="1" lang="zh-CN" altLang="en-US" sz="1600" b="1">
                <a:solidFill>
                  <a:srgbClr val="000099"/>
                </a:solidFill>
                <a:latin typeface="+mn-lt"/>
                <a:ea typeface="黑体" pitchFamily="2" charset="-122"/>
              </a:rPr>
              <a:t>目的地址：</a:t>
            </a:r>
            <a:r>
              <a:rPr kumimoji="1" lang="en-US" altLang="zh-CN" sz="1600" b="1">
                <a:solidFill>
                  <a:srgbClr val="000099"/>
                </a:solidFill>
                <a:latin typeface="+mn-lt"/>
                <a:ea typeface="黑体" pitchFamily="2" charset="-122"/>
              </a:rPr>
              <a:t>F</a:t>
            </a:r>
          </a:p>
          <a:p>
            <a:r>
              <a:rPr kumimoji="1" lang="en-US" altLang="zh-CN" sz="1600" b="1">
                <a:solidFill>
                  <a:srgbClr val="000099"/>
                </a:solidFill>
                <a:latin typeface="+mn-lt"/>
                <a:ea typeface="黑体" pitchFamily="2" charset="-122"/>
              </a:rPr>
              <a:t>……</a:t>
            </a:r>
          </a:p>
          <a:p>
            <a:endParaRPr kumimoji="1" lang="en-US" altLang="zh-CN" sz="1600" b="1">
              <a:solidFill>
                <a:srgbClr val="000099"/>
              </a:solidFill>
              <a:latin typeface="+mn-lt"/>
              <a:ea typeface="黑体" pitchFamily="2" charset="-122"/>
            </a:endParaRPr>
          </a:p>
          <a:p>
            <a:r>
              <a:rPr kumimoji="1" lang="en-US" altLang="zh-CN" sz="1600" b="1">
                <a:solidFill>
                  <a:srgbClr val="000099"/>
                </a:solidFill>
                <a:latin typeface="+mn-lt"/>
                <a:ea typeface="黑体" pitchFamily="2" charset="-122"/>
              </a:rPr>
              <a:t>   </a:t>
            </a:r>
            <a:r>
              <a:rPr kumimoji="1" lang="zh-CN" altLang="en-US" sz="1600" b="1">
                <a:solidFill>
                  <a:srgbClr val="000099"/>
                </a:solidFill>
                <a:latin typeface="+mn-lt"/>
                <a:ea typeface="黑体" pitchFamily="2" charset="-122"/>
              </a:rPr>
              <a:t>数据部分</a:t>
            </a:r>
          </a:p>
        </p:txBody>
      </p:sp>
      <p:sp>
        <p:nvSpPr>
          <p:cNvPr id="668770" name="Text Box 98"/>
          <p:cNvSpPr txBox="1">
            <a:spLocks noChangeArrowheads="1"/>
          </p:cNvSpPr>
          <p:nvPr/>
        </p:nvSpPr>
        <p:spPr bwMode="auto">
          <a:xfrm>
            <a:off x="8072553" y="4524538"/>
            <a:ext cx="16081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IPv6 </a:t>
            </a:r>
            <a:r>
              <a:rPr kumimoji="1" lang="zh-CN" altLang="en-US" sz="2000" b="1">
                <a:solidFill>
                  <a:srgbClr val="000099"/>
                </a:solidFill>
                <a:latin typeface="+mn-lt"/>
                <a:ea typeface="黑体" pitchFamily="2" charset="-122"/>
              </a:rPr>
              <a:t>数据报</a:t>
            </a:r>
          </a:p>
        </p:txBody>
      </p:sp>
      <p:sp>
        <p:nvSpPr>
          <p:cNvPr id="668771" name="Line 99"/>
          <p:cNvSpPr>
            <a:spLocks noChangeShapeType="1"/>
          </p:cNvSpPr>
          <p:nvPr/>
        </p:nvSpPr>
        <p:spPr bwMode="auto">
          <a:xfrm>
            <a:off x="8196378" y="3972087"/>
            <a:ext cx="135691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72" name="Rectangle 100"/>
          <p:cNvSpPr>
            <a:spLocks noChangeArrowheads="1"/>
          </p:cNvSpPr>
          <p:nvPr/>
        </p:nvSpPr>
        <p:spPr bwMode="auto">
          <a:xfrm>
            <a:off x="5929692" y="2887825"/>
            <a:ext cx="1403350" cy="1617662"/>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668773" name="Text Box 101"/>
          <p:cNvSpPr txBox="1">
            <a:spLocks noChangeArrowheads="1"/>
          </p:cNvSpPr>
          <p:nvPr/>
        </p:nvSpPr>
        <p:spPr bwMode="auto">
          <a:xfrm>
            <a:off x="5929692" y="2887826"/>
            <a:ext cx="1504817"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000099"/>
                </a:solidFill>
                <a:latin typeface="+mn-lt"/>
                <a:ea typeface="黑体" pitchFamily="2" charset="-122"/>
              </a:rPr>
              <a:t>源地址：</a:t>
            </a:r>
            <a:r>
              <a:rPr kumimoji="1" lang="en-US" altLang="zh-CN" sz="1600" b="1">
                <a:solidFill>
                  <a:srgbClr val="000099"/>
                </a:solidFill>
                <a:latin typeface="+mn-lt"/>
                <a:ea typeface="黑体" pitchFamily="2" charset="-122"/>
              </a:rPr>
              <a:t>B</a:t>
            </a:r>
          </a:p>
          <a:p>
            <a:r>
              <a:rPr kumimoji="1" lang="zh-CN" altLang="en-US" sz="1600" b="1">
                <a:solidFill>
                  <a:srgbClr val="000099"/>
                </a:solidFill>
                <a:latin typeface="+mn-lt"/>
                <a:ea typeface="黑体" pitchFamily="2" charset="-122"/>
              </a:rPr>
              <a:t>目的地址：</a:t>
            </a:r>
            <a:r>
              <a:rPr kumimoji="1" lang="en-US" altLang="zh-CN" sz="1600" b="1">
                <a:solidFill>
                  <a:srgbClr val="000099"/>
                </a:solidFill>
                <a:latin typeface="+mn-lt"/>
                <a:ea typeface="黑体" pitchFamily="2" charset="-122"/>
              </a:rPr>
              <a:t>E</a:t>
            </a:r>
          </a:p>
          <a:p>
            <a:endParaRPr kumimoji="1" lang="en-US" altLang="zh-CN" sz="1600" b="1">
              <a:solidFill>
                <a:srgbClr val="000099"/>
              </a:solidFill>
              <a:latin typeface="+mn-lt"/>
              <a:ea typeface="黑体" pitchFamily="2" charset="-122"/>
            </a:endParaRPr>
          </a:p>
          <a:p>
            <a:endParaRPr kumimoji="1" lang="en-US" altLang="zh-CN" sz="1600" b="1">
              <a:solidFill>
                <a:srgbClr val="000099"/>
              </a:solidFill>
              <a:latin typeface="+mn-lt"/>
              <a:ea typeface="黑体" pitchFamily="2" charset="-122"/>
            </a:endParaRPr>
          </a:p>
        </p:txBody>
      </p:sp>
      <p:sp>
        <p:nvSpPr>
          <p:cNvPr id="668774" name="Rectangle 102"/>
          <p:cNvSpPr>
            <a:spLocks noChangeArrowheads="1"/>
          </p:cNvSpPr>
          <p:nvPr/>
        </p:nvSpPr>
        <p:spPr bwMode="auto">
          <a:xfrm>
            <a:off x="6048357" y="3486314"/>
            <a:ext cx="1155700" cy="814388"/>
          </a:xfrm>
          <a:prstGeom prst="rect">
            <a:avLst/>
          </a:prstGeom>
          <a:solidFill>
            <a:srgbClr val="DDDDD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68775" name="Text Box 103"/>
          <p:cNvSpPr txBox="1">
            <a:spLocks noChangeArrowheads="1"/>
          </p:cNvSpPr>
          <p:nvPr/>
        </p:nvSpPr>
        <p:spPr bwMode="auto">
          <a:xfrm>
            <a:off x="6210620" y="3573016"/>
            <a:ext cx="80021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a:solidFill>
                  <a:srgbClr val="000099"/>
                </a:solidFill>
                <a:latin typeface="+mn-lt"/>
                <a:ea typeface="黑体" pitchFamily="2" charset="-122"/>
              </a:rPr>
              <a:t>IPv6</a:t>
            </a:r>
          </a:p>
          <a:p>
            <a:pPr algn="ctr"/>
            <a:r>
              <a:rPr kumimoji="1" lang="zh-CN" altLang="en-US" sz="1600" b="1">
                <a:solidFill>
                  <a:srgbClr val="000099"/>
                </a:solidFill>
                <a:latin typeface="+mn-lt"/>
                <a:ea typeface="黑体" pitchFamily="2" charset="-122"/>
              </a:rPr>
              <a:t>数据报</a:t>
            </a:r>
          </a:p>
        </p:txBody>
      </p:sp>
      <p:sp>
        <p:nvSpPr>
          <p:cNvPr id="668776" name="Line 104"/>
          <p:cNvSpPr>
            <a:spLocks noChangeShapeType="1"/>
          </p:cNvSpPr>
          <p:nvPr/>
        </p:nvSpPr>
        <p:spPr bwMode="auto">
          <a:xfrm flipV="1">
            <a:off x="7229855" y="2902113"/>
            <a:ext cx="971682" cy="58261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77" name="Line 105"/>
          <p:cNvSpPr>
            <a:spLocks noChangeShapeType="1"/>
          </p:cNvSpPr>
          <p:nvPr/>
        </p:nvSpPr>
        <p:spPr bwMode="auto">
          <a:xfrm>
            <a:off x="7186859" y="4300702"/>
            <a:ext cx="971683" cy="23177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78" name="AutoShape 106"/>
          <p:cNvSpPr>
            <a:spLocks noChangeArrowheads="1"/>
          </p:cNvSpPr>
          <p:nvPr/>
        </p:nvSpPr>
        <p:spPr bwMode="auto">
          <a:xfrm>
            <a:off x="7113240" y="3803812"/>
            <a:ext cx="1088297" cy="228600"/>
          </a:xfrm>
          <a:prstGeom prst="rightArrow">
            <a:avLst>
              <a:gd name="adj1" fmla="val 50000"/>
              <a:gd name="adj2" fmla="val 9913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 name="标题 1"/>
          <p:cNvSpPr>
            <a:spLocks noGrp="1"/>
          </p:cNvSpPr>
          <p:nvPr>
            <p:ph type="title"/>
          </p:nvPr>
        </p:nvSpPr>
        <p:spPr/>
        <p:txBody>
          <a:bodyPr/>
          <a:lstStyle/>
          <a:p>
            <a:pPr algn="ctr"/>
            <a:r>
              <a:rPr lang="zh-CN" altLang="zh-CN" dirty="0"/>
              <a:t>隧道技术</a:t>
            </a:r>
            <a:endParaRPr lang="zh-CN" altLang="en-US" dirty="0"/>
          </a:p>
        </p:txBody>
      </p:sp>
      <p:cxnSp>
        <p:nvCxnSpPr>
          <p:cNvPr id="4" name="直接连接符 3"/>
          <p:cNvCxnSpPr/>
          <p:nvPr/>
        </p:nvCxnSpPr>
        <p:spPr bwMode="auto">
          <a:xfrm>
            <a:off x="2649832" y="2204864"/>
            <a:ext cx="5022868" cy="0"/>
          </a:xfrm>
          <a:prstGeom prst="line">
            <a:avLst/>
          </a:prstGeom>
          <a:solidFill>
            <a:schemeClr val="accent1"/>
          </a:solid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8715" name="Text Box 43"/>
          <p:cNvSpPr txBox="1">
            <a:spLocks noChangeArrowheads="1"/>
          </p:cNvSpPr>
          <p:nvPr/>
        </p:nvSpPr>
        <p:spPr bwMode="auto">
          <a:xfrm>
            <a:off x="4664968" y="1413497"/>
            <a:ext cx="129875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IPv4 </a:t>
            </a:r>
            <a:r>
              <a:rPr kumimoji="1" lang="zh-CN" altLang="en-US" sz="2000" b="1" dirty="0">
                <a:solidFill>
                  <a:srgbClr val="000099"/>
                </a:solidFill>
                <a:latin typeface="+mn-lt"/>
                <a:ea typeface="黑体" pitchFamily="2" charset="-122"/>
              </a:rPr>
              <a:t>网络</a:t>
            </a:r>
          </a:p>
        </p:txBody>
      </p:sp>
      <p:pic>
        <p:nvPicPr>
          <p:cNvPr id="668718" name="Picture 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59024" y="1986186"/>
            <a:ext cx="56409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8719" name="Picture 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8818" y="1986186"/>
            <a:ext cx="56409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8720" name="Picture 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4718" y="1986186"/>
            <a:ext cx="56409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68721" name="Picture 4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85252" y="1986186"/>
            <a:ext cx="564092"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68726" name="Text Box 54"/>
          <p:cNvSpPr txBox="1">
            <a:spLocks noChangeArrowheads="1"/>
          </p:cNvSpPr>
          <p:nvPr/>
        </p:nvSpPr>
        <p:spPr bwMode="auto">
          <a:xfrm>
            <a:off x="2432720" y="1679032"/>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99"/>
                </a:solidFill>
                <a:latin typeface="+mn-lt"/>
                <a:ea typeface="黑体" pitchFamily="2" charset="-122"/>
              </a:rPr>
              <a:t>B</a:t>
            </a:r>
          </a:p>
        </p:txBody>
      </p:sp>
      <p:sp>
        <p:nvSpPr>
          <p:cNvPr id="668727" name="Text Box 55"/>
          <p:cNvSpPr txBox="1">
            <a:spLocks noChangeArrowheads="1"/>
          </p:cNvSpPr>
          <p:nvPr/>
        </p:nvSpPr>
        <p:spPr bwMode="auto">
          <a:xfrm>
            <a:off x="4332826" y="1679032"/>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99"/>
                </a:solidFill>
                <a:latin typeface="+mn-lt"/>
                <a:ea typeface="黑体" pitchFamily="2" charset="-122"/>
              </a:rPr>
              <a:t>C</a:t>
            </a:r>
          </a:p>
        </p:txBody>
      </p:sp>
      <p:sp>
        <p:nvSpPr>
          <p:cNvPr id="668728" name="Text Box 56"/>
          <p:cNvSpPr txBox="1">
            <a:spLocks noChangeArrowheads="1"/>
          </p:cNvSpPr>
          <p:nvPr/>
        </p:nvSpPr>
        <p:spPr bwMode="auto">
          <a:xfrm>
            <a:off x="5817096" y="1679032"/>
            <a:ext cx="332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99"/>
                </a:solidFill>
                <a:latin typeface="+mn-lt"/>
                <a:ea typeface="黑体" pitchFamily="2" charset="-122"/>
              </a:rPr>
              <a:t>D</a:t>
            </a:r>
          </a:p>
        </p:txBody>
      </p:sp>
      <p:sp>
        <p:nvSpPr>
          <p:cNvPr id="668729" name="Text Box 57"/>
          <p:cNvSpPr txBox="1">
            <a:spLocks noChangeArrowheads="1"/>
          </p:cNvSpPr>
          <p:nvPr/>
        </p:nvSpPr>
        <p:spPr bwMode="auto">
          <a:xfrm>
            <a:off x="7627209" y="1679032"/>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rgbClr val="000099"/>
                </a:solidFill>
                <a:latin typeface="+mn-lt"/>
                <a:ea typeface="黑体" pitchFamily="2" charset="-122"/>
              </a:rPr>
              <a:t>E</a:t>
            </a:r>
          </a:p>
        </p:txBody>
      </p:sp>
      <p:sp>
        <p:nvSpPr>
          <p:cNvPr id="668759" name="Text Box 87"/>
          <p:cNvSpPr txBox="1">
            <a:spLocks noChangeArrowheads="1"/>
          </p:cNvSpPr>
          <p:nvPr/>
        </p:nvSpPr>
        <p:spPr bwMode="auto">
          <a:xfrm>
            <a:off x="1928664" y="1124744"/>
            <a:ext cx="13099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C00000"/>
                </a:solidFill>
                <a:latin typeface="+mn-lt"/>
                <a:ea typeface="黑体" pitchFamily="2" charset="-122"/>
              </a:rPr>
              <a:t>双协议栈</a:t>
            </a:r>
          </a:p>
          <a:p>
            <a:pPr algn="ctr"/>
            <a:r>
              <a:rPr kumimoji="1" lang="en-US" altLang="zh-CN" sz="2000" b="1" dirty="0">
                <a:solidFill>
                  <a:srgbClr val="C00000"/>
                </a:solidFill>
                <a:latin typeface="+mn-lt"/>
                <a:ea typeface="黑体" pitchFamily="2" charset="-122"/>
              </a:rPr>
              <a:t>IPv6/IPv4</a:t>
            </a:r>
          </a:p>
        </p:txBody>
      </p:sp>
      <p:grpSp>
        <p:nvGrpSpPr>
          <p:cNvPr id="5" name="组合 4"/>
          <p:cNvGrpSpPr/>
          <p:nvPr/>
        </p:nvGrpSpPr>
        <p:grpSpPr>
          <a:xfrm>
            <a:off x="2583651" y="2420888"/>
            <a:ext cx="5242753" cy="3168352"/>
            <a:chOff x="2922487" y="2420888"/>
            <a:chExt cx="4622801" cy="2590800"/>
          </a:xfrm>
        </p:grpSpPr>
        <p:sp>
          <p:nvSpPr>
            <p:cNvPr id="113" name="Line 55"/>
            <p:cNvSpPr>
              <a:spLocks noChangeShapeType="1"/>
            </p:cNvSpPr>
            <p:nvPr/>
          </p:nvSpPr>
          <p:spPr bwMode="auto">
            <a:xfrm>
              <a:off x="2922487" y="2420888"/>
              <a:ext cx="0" cy="2590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14" name="Line 56"/>
            <p:cNvSpPr>
              <a:spLocks noChangeShapeType="1"/>
            </p:cNvSpPr>
            <p:nvPr/>
          </p:nvSpPr>
          <p:spPr bwMode="auto">
            <a:xfrm>
              <a:off x="7545288" y="2420888"/>
              <a:ext cx="0" cy="259080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115" name="Line 70"/>
          <p:cNvSpPr>
            <a:spLocks noChangeShapeType="1"/>
          </p:cNvSpPr>
          <p:nvPr/>
        </p:nvSpPr>
        <p:spPr bwMode="auto">
          <a:xfrm>
            <a:off x="2598791" y="5274950"/>
            <a:ext cx="5162521" cy="0"/>
          </a:xfrm>
          <a:prstGeom prst="line">
            <a:avLst/>
          </a:prstGeom>
          <a:noFill/>
          <a:ln w="1905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68738" name="Text Box 66"/>
          <p:cNvSpPr txBox="1">
            <a:spLocks noChangeArrowheads="1"/>
          </p:cNvSpPr>
          <p:nvPr/>
        </p:nvSpPr>
        <p:spPr bwMode="auto">
          <a:xfrm>
            <a:off x="4664299" y="5058926"/>
            <a:ext cx="1367926" cy="400110"/>
          </a:xfrm>
          <a:prstGeom prst="rect">
            <a:avLst/>
          </a:prstGeom>
          <a:solidFill>
            <a:schemeClr val="bg1"/>
          </a:solidFill>
          <a:ln>
            <a:noFill/>
          </a:ln>
          <a:effectLst/>
        </p:spPr>
        <p:txBody>
          <a:bodyPr wrap="square">
            <a:spAutoFit/>
          </a:bodyPr>
          <a:lstStyle/>
          <a:p>
            <a:r>
              <a:rPr kumimoji="1" lang="en-US" altLang="zh-CN" sz="2000" b="1" dirty="0">
                <a:solidFill>
                  <a:srgbClr val="000099"/>
                </a:solidFill>
                <a:latin typeface="+mn-lt"/>
                <a:ea typeface="黑体" pitchFamily="2" charset="-122"/>
              </a:rPr>
              <a:t>IPv4 </a:t>
            </a:r>
            <a:r>
              <a:rPr kumimoji="1" lang="zh-CN" altLang="en-US" sz="2000" b="1" dirty="0">
                <a:solidFill>
                  <a:srgbClr val="000099"/>
                </a:solidFill>
                <a:latin typeface="+mn-lt"/>
                <a:ea typeface="黑体" pitchFamily="2" charset="-122"/>
              </a:rPr>
              <a:t>网络 </a:t>
            </a:r>
          </a:p>
        </p:txBody>
      </p:sp>
      <p:sp>
        <p:nvSpPr>
          <p:cNvPr id="8" name="矩形 7"/>
          <p:cNvSpPr/>
          <p:nvPr/>
        </p:nvSpPr>
        <p:spPr>
          <a:xfrm>
            <a:off x="1855683" y="5631631"/>
            <a:ext cx="6569427" cy="461665"/>
          </a:xfrm>
          <a:prstGeom prst="rect">
            <a:avLst/>
          </a:prstGeom>
        </p:spPr>
        <p:txBody>
          <a:bodyPr wrap="square">
            <a:spAutoFit/>
          </a:bodyPr>
          <a:lstStyle/>
          <a:p>
            <a:pPr algn="ctr"/>
            <a:r>
              <a:rPr lang="zh-CN" altLang="zh-CN" sz="2400" b="1" dirty="0">
                <a:latin typeface="+mn-lt"/>
                <a:ea typeface="黑体" pitchFamily="2" charset="-122"/>
              </a:rPr>
              <a:t>使用隧道技术进行从</a:t>
            </a:r>
            <a:r>
              <a:rPr lang="en-US" altLang="zh-CN" sz="2400" b="1" dirty="0">
                <a:latin typeface="+mn-lt"/>
                <a:ea typeface="黑体" pitchFamily="2" charset="-122"/>
              </a:rPr>
              <a:t> IPv4 </a:t>
            </a:r>
            <a:r>
              <a:rPr lang="zh-CN" altLang="zh-CN" sz="2400" b="1" dirty="0">
                <a:latin typeface="+mn-lt"/>
                <a:ea typeface="黑体" pitchFamily="2" charset="-122"/>
              </a:rPr>
              <a:t>到</a:t>
            </a:r>
            <a:r>
              <a:rPr lang="en-US" altLang="zh-CN" sz="2400" b="1" dirty="0">
                <a:latin typeface="+mn-lt"/>
                <a:ea typeface="黑体" pitchFamily="2" charset="-122"/>
              </a:rPr>
              <a:t> IPv6 </a:t>
            </a:r>
            <a:r>
              <a:rPr lang="zh-CN" altLang="zh-CN" sz="2400" b="1" dirty="0">
                <a:latin typeface="+mn-lt"/>
                <a:ea typeface="黑体" pitchFamily="2" charset="-122"/>
              </a:rPr>
              <a:t>的过渡</a:t>
            </a:r>
            <a:endParaRPr lang="zh-CN" altLang="en-US" sz="2400" b="1" dirty="0">
              <a:latin typeface="+mn-lt"/>
              <a:ea typeface="黑体" pitchFamily="2" charset="-122"/>
            </a:endParaRPr>
          </a:p>
        </p:txBody>
      </p:sp>
    </p:spTree>
    <p:extLst>
      <p:ext uri="{BB962C8B-B14F-4D97-AF65-F5344CB8AC3E}">
        <p14:creationId xmlns:p14="http://schemas.microsoft.com/office/powerpoint/2010/main" val="18323484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ICMPv6</a:t>
            </a:r>
            <a:endParaRPr lang="zh-CN" altLang="en-US" dirty="0"/>
          </a:p>
        </p:txBody>
      </p:sp>
      <p:sp>
        <p:nvSpPr>
          <p:cNvPr id="4" name="内容占位符 3"/>
          <p:cNvSpPr>
            <a:spLocks noGrp="1"/>
          </p:cNvSpPr>
          <p:nvPr>
            <p:ph idx="1"/>
          </p:nvPr>
        </p:nvSpPr>
        <p:spPr/>
        <p:txBody>
          <a:bodyPr/>
          <a:lstStyle/>
          <a:p>
            <a:r>
              <a:rPr lang="en-US" altLang="zh-CN" dirty="0"/>
              <a:t>IPv6 </a:t>
            </a:r>
            <a:r>
              <a:rPr lang="zh-CN" altLang="zh-CN" dirty="0"/>
              <a:t>也不保证数据报的可靠交付，因为互联网中的路由器可能会丢弃数据报。</a:t>
            </a:r>
            <a:endParaRPr lang="en-US" altLang="zh-CN" dirty="0"/>
          </a:p>
          <a:p>
            <a:r>
              <a:rPr lang="zh-CN" altLang="zh-CN" dirty="0"/>
              <a:t>因此</a:t>
            </a:r>
            <a:r>
              <a:rPr lang="en-US" altLang="zh-CN" dirty="0"/>
              <a:t> IPv6 </a:t>
            </a:r>
            <a:r>
              <a:rPr lang="zh-CN" altLang="zh-CN" dirty="0"/>
              <a:t>也需要使用</a:t>
            </a:r>
            <a:r>
              <a:rPr lang="en-US" altLang="zh-CN" dirty="0"/>
              <a:t> ICMP </a:t>
            </a:r>
            <a:r>
              <a:rPr lang="zh-CN" altLang="zh-CN" dirty="0"/>
              <a:t>来反馈一些差错信息。新的版本称为</a:t>
            </a:r>
            <a:r>
              <a:rPr lang="en-US" altLang="zh-CN" dirty="0"/>
              <a:t> ICMPv6</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9226820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r>
              <a:rPr lang="en-US" altLang="zh-CN" dirty="0"/>
              <a:t>ICMPv6</a:t>
            </a:r>
          </a:p>
        </p:txBody>
      </p:sp>
      <p:sp>
        <p:nvSpPr>
          <p:cNvPr id="669699" name="Rectangle 3"/>
          <p:cNvSpPr>
            <a:spLocks noGrp="1" noChangeArrowheads="1"/>
          </p:cNvSpPr>
          <p:nvPr>
            <p:ph idx="1"/>
          </p:nvPr>
        </p:nvSpPr>
        <p:spPr/>
        <p:txBody>
          <a:bodyPr/>
          <a:lstStyle/>
          <a:p>
            <a:r>
              <a:rPr lang="zh-CN" altLang="en-US" dirty="0"/>
              <a:t>地址解析协议 </a:t>
            </a:r>
            <a:r>
              <a:rPr lang="en-US" altLang="zh-CN" dirty="0"/>
              <a:t>ARP </a:t>
            </a:r>
            <a:r>
              <a:rPr lang="zh-CN" altLang="en-US" dirty="0"/>
              <a:t>和网际组管理协议 </a:t>
            </a:r>
            <a:r>
              <a:rPr lang="en-US" altLang="zh-CN" dirty="0"/>
              <a:t>IGMP </a:t>
            </a:r>
            <a:r>
              <a:rPr lang="zh-CN" altLang="en-US" dirty="0"/>
              <a:t>协议的功能都已被合并到 </a:t>
            </a:r>
            <a:r>
              <a:rPr lang="en-US" altLang="zh-CN" dirty="0"/>
              <a:t>ICMPv6 </a:t>
            </a:r>
            <a:r>
              <a:rPr lang="zh-CN" altLang="en-US" dirty="0"/>
              <a:t>中。 </a:t>
            </a:r>
          </a:p>
        </p:txBody>
      </p:sp>
      <p:sp>
        <p:nvSpPr>
          <p:cNvPr id="669700" name="Text Box 4"/>
          <p:cNvSpPr txBox="1">
            <a:spLocks noChangeArrowheads="1"/>
          </p:cNvSpPr>
          <p:nvPr/>
        </p:nvSpPr>
        <p:spPr bwMode="auto">
          <a:xfrm>
            <a:off x="1479568" y="4628653"/>
            <a:ext cx="2691763"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rgbClr val="000099"/>
                </a:solidFill>
                <a:latin typeface="+mn-lt"/>
                <a:ea typeface="黑体" pitchFamily="2" charset="-122"/>
              </a:rPr>
              <a:t>版本 </a:t>
            </a:r>
            <a:r>
              <a:rPr kumimoji="1" lang="en-US" altLang="zh-CN" sz="2400" b="1" dirty="0">
                <a:solidFill>
                  <a:srgbClr val="000099"/>
                </a:solidFill>
                <a:latin typeface="+mn-lt"/>
                <a:ea typeface="黑体" pitchFamily="2" charset="-122"/>
              </a:rPr>
              <a:t>4 </a:t>
            </a:r>
            <a:r>
              <a:rPr kumimoji="1" lang="zh-CN" altLang="en-US" sz="2400" b="1" dirty="0">
                <a:solidFill>
                  <a:srgbClr val="000099"/>
                </a:solidFill>
                <a:latin typeface="+mn-lt"/>
                <a:ea typeface="黑体" pitchFamily="2" charset="-122"/>
              </a:rPr>
              <a:t>中的网络层</a:t>
            </a:r>
          </a:p>
        </p:txBody>
      </p:sp>
      <p:sp>
        <p:nvSpPr>
          <p:cNvPr id="669702" name="Rectangle 6"/>
          <p:cNvSpPr>
            <a:spLocks noChangeArrowheads="1"/>
          </p:cNvSpPr>
          <p:nvPr/>
        </p:nvSpPr>
        <p:spPr bwMode="auto">
          <a:xfrm>
            <a:off x="698459" y="2564904"/>
            <a:ext cx="4182533" cy="1978025"/>
          </a:xfrm>
          <a:prstGeom prst="rect">
            <a:avLst/>
          </a:prstGeom>
          <a:solidFill>
            <a:srgbClr val="FFFF66"/>
          </a:solidFill>
          <a:ln w="9525">
            <a:solidFill>
              <a:schemeClr val="tx1"/>
            </a:solidFill>
            <a:miter lim="800000"/>
            <a:headEnd/>
            <a:tailEnd/>
          </a:ln>
          <a:effectLst/>
        </p:spPr>
        <p:txBody>
          <a:bodyPr wrap="none" anchor="ctr"/>
          <a:lstStyle/>
          <a:p>
            <a:pPr algn="ctr"/>
            <a:endParaRPr kumimoji="1" lang="zh-CN" altLang="zh-CN" sz="2400" b="1">
              <a:solidFill>
                <a:srgbClr val="000099"/>
              </a:solidFill>
              <a:latin typeface="+mn-lt"/>
              <a:ea typeface="黑体" pitchFamily="2" charset="-122"/>
            </a:endParaRPr>
          </a:p>
        </p:txBody>
      </p:sp>
      <p:sp>
        <p:nvSpPr>
          <p:cNvPr id="669703" name="Rectangle 7"/>
          <p:cNvSpPr>
            <a:spLocks noChangeArrowheads="1"/>
          </p:cNvSpPr>
          <p:nvPr/>
        </p:nvSpPr>
        <p:spPr bwMode="auto">
          <a:xfrm>
            <a:off x="786169" y="2653803"/>
            <a:ext cx="997479" cy="487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0099"/>
                </a:solidFill>
                <a:latin typeface="+mn-lt"/>
                <a:ea typeface="黑体" pitchFamily="2" charset="-122"/>
              </a:rPr>
              <a:t>ICMP</a:t>
            </a:r>
          </a:p>
        </p:txBody>
      </p:sp>
      <p:sp>
        <p:nvSpPr>
          <p:cNvPr id="669704" name="Text Box 8"/>
          <p:cNvSpPr txBox="1">
            <a:spLocks noChangeArrowheads="1"/>
          </p:cNvSpPr>
          <p:nvPr/>
        </p:nvSpPr>
        <p:spPr bwMode="auto">
          <a:xfrm>
            <a:off x="2476724" y="3404690"/>
            <a:ext cx="9236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dirty="0">
                <a:solidFill>
                  <a:srgbClr val="000099"/>
                </a:solidFill>
                <a:latin typeface="+mn-lt"/>
                <a:ea typeface="黑体" pitchFamily="2" charset="-122"/>
              </a:rPr>
              <a:t>IPv4</a:t>
            </a:r>
          </a:p>
        </p:txBody>
      </p:sp>
      <p:sp>
        <p:nvSpPr>
          <p:cNvPr id="669705" name="Rectangle 9"/>
          <p:cNvSpPr>
            <a:spLocks noChangeArrowheads="1"/>
          </p:cNvSpPr>
          <p:nvPr/>
        </p:nvSpPr>
        <p:spPr bwMode="auto">
          <a:xfrm>
            <a:off x="3885234" y="4053978"/>
            <a:ext cx="908050" cy="4889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0099"/>
                </a:solidFill>
                <a:latin typeface="+mn-lt"/>
                <a:ea typeface="黑体" pitchFamily="2" charset="-122"/>
              </a:rPr>
              <a:t>ARP</a:t>
            </a:r>
          </a:p>
        </p:txBody>
      </p:sp>
      <p:sp>
        <p:nvSpPr>
          <p:cNvPr id="669706" name="Rectangle 10"/>
          <p:cNvSpPr>
            <a:spLocks noChangeArrowheads="1"/>
          </p:cNvSpPr>
          <p:nvPr/>
        </p:nvSpPr>
        <p:spPr bwMode="auto">
          <a:xfrm>
            <a:off x="1831802" y="2653803"/>
            <a:ext cx="995759" cy="48736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0099"/>
                </a:solidFill>
                <a:latin typeface="+mn-lt"/>
                <a:ea typeface="黑体" pitchFamily="2" charset="-122"/>
              </a:rPr>
              <a:t>IGMP</a:t>
            </a:r>
          </a:p>
        </p:txBody>
      </p:sp>
      <p:sp>
        <p:nvSpPr>
          <p:cNvPr id="669707" name="Text Box 11"/>
          <p:cNvSpPr txBox="1">
            <a:spLocks noChangeArrowheads="1"/>
          </p:cNvSpPr>
          <p:nvPr/>
        </p:nvSpPr>
        <p:spPr bwMode="auto">
          <a:xfrm>
            <a:off x="6183205" y="4620715"/>
            <a:ext cx="2691763"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rgbClr val="000099"/>
                </a:solidFill>
                <a:latin typeface="+mn-lt"/>
                <a:ea typeface="黑体" pitchFamily="2" charset="-122"/>
              </a:rPr>
              <a:t>版本 </a:t>
            </a:r>
            <a:r>
              <a:rPr kumimoji="1" lang="en-US" altLang="zh-CN" sz="2400" b="1" dirty="0">
                <a:solidFill>
                  <a:srgbClr val="000099"/>
                </a:solidFill>
                <a:latin typeface="+mn-lt"/>
                <a:ea typeface="黑体" pitchFamily="2" charset="-122"/>
              </a:rPr>
              <a:t>6 </a:t>
            </a:r>
            <a:r>
              <a:rPr kumimoji="1" lang="zh-CN" altLang="en-US" sz="2400" b="1" dirty="0">
                <a:solidFill>
                  <a:srgbClr val="000099"/>
                </a:solidFill>
                <a:latin typeface="+mn-lt"/>
                <a:ea typeface="黑体" pitchFamily="2" charset="-122"/>
              </a:rPr>
              <a:t>中的网络层</a:t>
            </a:r>
          </a:p>
        </p:txBody>
      </p:sp>
      <p:sp>
        <p:nvSpPr>
          <p:cNvPr id="669709" name="Rectangle 13"/>
          <p:cNvSpPr>
            <a:spLocks noChangeArrowheads="1"/>
          </p:cNvSpPr>
          <p:nvPr/>
        </p:nvSpPr>
        <p:spPr bwMode="auto">
          <a:xfrm>
            <a:off x="5313040" y="2564904"/>
            <a:ext cx="4182533" cy="1978025"/>
          </a:xfrm>
          <a:prstGeom prst="rect">
            <a:avLst/>
          </a:prstGeom>
          <a:solidFill>
            <a:srgbClr val="FF99FF"/>
          </a:solidFill>
          <a:ln w="9525">
            <a:solidFill>
              <a:schemeClr val="tx1"/>
            </a:solidFill>
            <a:miter lim="800000"/>
            <a:headEnd/>
            <a:tailEnd/>
          </a:ln>
          <a:effectLst/>
        </p:spPr>
        <p:txBody>
          <a:bodyPr wrap="none" anchor="ctr"/>
          <a:lstStyle/>
          <a:p>
            <a:pPr algn="ctr"/>
            <a:endParaRPr kumimoji="1" lang="zh-CN" altLang="zh-CN" sz="2400" b="1">
              <a:solidFill>
                <a:srgbClr val="000099"/>
              </a:solidFill>
              <a:latin typeface="+mn-lt"/>
              <a:ea typeface="黑体" pitchFamily="2" charset="-122"/>
            </a:endParaRPr>
          </a:p>
        </p:txBody>
      </p:sp>
      <p:sp>
        <p:nvSpPr>
          <p:cNvPr id="669710" name="Rectangle 14"/>
          <p:cNvSpPr>
            <a:spLocks noChangeArrowheads="1"/>
          </p:cNvSpPr>
          <p:nvPr/>
        </p:nvSpPr>
        <p:spPr bwMode="auto">
          <a:xfrm>
            <a:off x="5816939" y="2645866"/>
            <a:ext cx="1179777" cy="4873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400" b="1">
                <a:solidFill>
                  <a:srgbClr val="000099"/>
                </a:solidFill>
                <a:latin typeface="+mn-lt"/>
                <a:ea typeface="黑体" pitchFamily="2" charset="-122"/>
              </a:rPr>
              <a:t>ICMPv6</a:t>
            </a:r>
          </a:p>
        </p:txBody>
      </p:sp>
      <p:sp>
        <p:nvSpPr>
          <p:cNvPr id="669711" name="Text Box 15"/>
          <p:cNvSpPr txBox="1">
            <a:spLocks noChangeArrowheads="1"/>
          </p:cNvSpPr>
          <p:nvPr/>
        </p:nvSpPr>
        <p:spPr bwMode="auto">
          <a:xfrm>
            <a:off x="7091305" y="3396753"/>
            <a:ext cx="9236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800" b="1">
                <a:solidFill>
                  <a:srgbClr val="000099"/>
                </a:solidFill>
                <a:latin typeface="+mn-lt"/>
                <a:ea typeface="黑体" pitchFamily="2" charset="-122"/>
              </a:rPr>
              <a:t>IPv6</a:t>
            </a:r>
          </a:p>
        </p:txBody>
      </p:sp>
      <p:sp>
        <p:nvSpPr>
          <p:cNvPr id="2" name="矩形 1"/>
          <p:cNvSpPr/>
          <p:nvPr/>
        </p:nvSpPr>
        <p:spPr>
          <a:xfrm>
            <a:off x="2456162" y="5229200"/>
            <a:ext cx="4993675" cy="461665"/>
          </a:xfrm>
          <a:prstGeom prst="rect">
            <a:avLst/>
          </a:prstGeom>
        </p:spPr>
        <p:txBody>
          <a:bodyPr wrap="square">
            <a:spAutoFit/>
          </a:bodyPr>
          <a:lstStyle/>
          <a:p>
            <a:pPr algn="ctr"/>
            <a:r>
              <a:rPr lang="zh-CN" altLang="zh-CN" sz="2400" b="1" dirty="0">
                <a:latin typeface="+mn-lt"/>
                <a:ea typeface="黑体" pitchFamily="2" charset="-122"/>
              </a:rPr>
              <a:t>新旧版本中的网络层的比较</a:t>
            </a:r>
            <a:endParaRPr lang="zh-CN" altLang="en-US" sz="2400" b="1" dirty="0">
              <a:latin typeface="+mn-lt"/>
              <a:ea typeface="黑体" pitchFamily="2" charset="-122"/>
            </a:endParaRPr>
          </a:p>
        </p:txBody>
      </p:sp>
    </p:spTree>
    <p:extLst>
      <p:ext uri="{BB962C8B-B14F-4D97-AF65-F5344CB8AC3E}">
        <p14:creationId xmlns:p14="http://schemas.microsoft.com/office/powerpoint/2010/main" val="224738014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2" name="Rectangle 4"/>
          <p:cNvSpPr>
            <a:spLocks noGrp="1" noChangeArrowheads="1"/>
          </p:cNvSpPr>
          <p:nvPr>
            <p:ph type="title"/>
          </p:nvPr>
        </p:nvSpPr>
        <p:spPr/>
        <p:txBody>
          <a:bodyPr/>
          <a:lstStyle/>
          <a:p>
            <a:pPr algn="ctr"/>
            <a:r>
              <a:rPr lang="en-US" altLang="zh-CN"/>
              <a:t>ICMPv6 </a:t>
            </a:r>
            <a:r>
              <a:rPr lang="zh-CN" altLang="en-US"/>
              <a:t>报文的分类</a:t>
            </a:r>
            <a:endParaRPr lang="zh-CN" altLang="en-US" sz="4800">
              <a:solidFill>
                <a:srgbClr val="0000CC"/>
              </a:solidFill>
              <a:latin typeface="黑体" pitchFamily="2" charset="-122"/>
            </a:endParaRPr>
          </a:p>
        </p:txBody>
      </p:sp>
      <p:sp>
        <p:nvSpPr>
          <p:cNvPr id="2" name="内容占位符 1"/>
          <p:cNvSpPr>
            <a:spLocks noGrp="1"/>
          </p:cNvSpPr>
          <p:nvPr>
            <p:ph idx="1"/>
          </p:nvPr>
        </p:nvSpPr>
        <p:spPr/>
        <p:txBody>
          <a:bodyPr/>
          <a:lstStyle/>
          <a:p>
            <a:r>
              <a:rPr lang="en-US" altLang="zh-CN" dirty="0"/>
              <a:t>ICMPv6 </a:t>
            </a:r>
            <a:r>
              <a:rPr lang="zh-CN" altLang="zh-CN" dirty="0"/>
              <a:t>是面向报文的协议，它利用报文来报告差错，获取信息，探测邻站或管理多播通信。</a:t>
            </a:r>
            <a:endParaRPr lang="en-US" altLang="zh-CN" dirty="0"/>
          </a:p>
          <a:p>
            <a:r>
              <a:rPr lang="en-US" altLang="zh-CN" dirty="0"/>
              <a:t>ICMPv6 </a:t>
            </a:r>
            <a:r>
              <a:rPr lang="zh-CN" altLang="zh-CN" dirty="0"/>
              <a:t>还增加了几个定义报文的功能及含义的其他协议。</a:t>
            </a:r>
            <a:endParaRPr lang="zh-CN" altLang="en-US" dirty="0"/>
          </a:p>
        </p:txBody>
      </p:sp>
      <p:sp>
        <p:nvSpPr>
          <p:cNvPr id="3" name="矩形 2"/>
          <p:cNvSpPr/>
          <p:nvPr/>
        </p:nvSpPr>
        <p:spPr>
          <a:xfrm>
            <a:off x="2812698" y="5805264"/>
            <a:ext cx="3940502" cy="461665"/>
          </a:xfrm>
          <a:prstGeom prst="rect">
            <a:avLst/>
          </a:prstGeom>
        </p:spPr>
        <p:txBody>
          <a:bodyPr wrap="square">
            <a:spAutoFit/>
          </a:bodyPr>
          <a:lstStyle/>
          <a:p>
            <a:pPr algn="ctr"/>
            <a:r>
              <a:rPr lang="en-US" altLang="zh-CN" sz="2400" b="1" dirty="0">
                <a:latin typeface="+mn-lt"/>
                <a:ea typeface="黑体" pitchFamily="2" charset="-122"/>
              </a:rPr>
              <a:t>ICMPv6 </a:t>
            </a:r>
            <a:r>
              <a:rPr lang="zh-CN" altLang="zh-CN" sz="2400" b="1" dirty="0">
                <a:latin typeface="+mn-lt"/>
                <a:ea typeface="黑体" pitchFamily="2" charset="-122"/>
              </a:rPr>
              <a:t>报文的分类</a:t>
            </a:r>
            <a:endParaRPr lang="zh-CN" altLang="en-US" sz="2400" b="1" dirty="0">
              <a:latin typeface="+mn-lt"/>
              <a:ea typeface="黑体" pitchFamily="2" charset="-122"/>
            </a:endParaRPr>
          </a:p>
        </p:txBody>
      </p:sp>
      <p:grpSp>
        <p:nvGrpSpPr>
          <p:cNvPr id="6" name="组合 5"/>
          <p:cNvGrpSpPr/>
          <p:nvPr/>
        </p:nvGrpSpPr>
        <p:grpSpPr>
          <a:xfrm>
            <a:off x="752962" y="3140968"/>
            <a:ext cx="8760116" cy="2590547"/>
            <a:chOff x="752962" y="3140968"/>
            <a:chExt cx="8760116" cy="2590547"/>
          </a:xfrm>
        </p:grpSpPr>
        <p:grpSp>
          <p:nvGrpSpPr>
            <p:cNvPr id="4" name="组合 3"/>
            <p:cNvGrpSpPr/>
            <p:nvPr/>
          </p:nvGrpSpPr>
          <p:grpSpPr>
            <a:xfrm>
              <a:off x="776536" y="3140968"/>
              <a:ext cx="8736542" cy="1977009"/>
              <a:chOff x="752962" y="3212976"/>
              <a:chExt cx="8736542" cy="2265041"/>
            </a:xfrm>
          </p:grpSpPr>
          <p:sp>
            <p:nvSpPr>
              <p:cNvPr id="979973" name="Rectangle 5"/>
              <p:cNvSpPr>
                <a:spLocks noChangeArrowheads="1"/>
              </p:cNvSpPr>
              <p:nvPr/>
            </p:nvSpPr>
            <p:spPr bwMode="auto">
              <a:xfrm>
                <a:off x="4034325" y="3212976"/>
                <a:ext cx="1730110" cy="568612"/>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000" b="1" dirty="0">
                    <a:solidFill>
                      <a:srgbClr val="000099"/>
                    </a:solidFill>
                    <a:latin typeface="+mn-lt"/>
                    <a:ea typeface="黑体" pitchFamily="2" charset="-122"/>
                  </a:rPr>
                  <a:t>ICMPv6 </a:t>
                </a:r>
                <a:r>
                  <a:rPr kumimoji="1" lang="zh-CN" altLang="en-US" sz="2000" b="1" dirty="0">
                    <a:solidFill>
                      <a:srgbClr val="000099"/>
                    </a:solidFill>
                    <a:latin typeface="+mn-lt"/>
                    <a:ea typeface="黑体" pitchFamily="2" charset="-122"/>
                  </a:rPr>
                  <a:t>报文</a:t>
                </a:r>
              </a:p>
            </p:txBody>
          </p:sp>
          <p:sp>
            <p:nvSpPr>
              <p:cNvPr id="979974" name="Rectangle 6"/>
              <p:cNvSpPr>
                <a:spLocks noChangeArrowheads="1"/>
              </p:cNvSpPr>
              <p:nvPr/>
            </p:nvSpPr>
            <p:spPr bwMode="auto">
              <a:xfrm>
                <a:off x="752962" y="4435637"/>
                <a:ext cx="1638962" cy="577539"/>
              </a:xfrm>
              <a:prstGeom prst="rect">
                <a:avLst/>
              </a:prstGeom>
              <a:solidFill>
                <a:srgbClr val="FFFF66"/>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000" b="1">
                    <a:solidFill>
                      <a:srgbClr val="000099"/>
                    </a:solidFill>
                    <a:latin typeface="+mn-lt"/>
                    <a:ea typeface="黑体" pitchFamily="2" charset="-122"/>
                  </a:rPr>
                  <a:t>差错报文</a:t>
                </a:r>
              </a:p>
            </p:txBody>
          </p:sp>
          <p:sp>
            <p:nvSpPr>
              <p:cNvPr id="979975" name="Rectangle 7"/>
              <p:cNvSpPr>
                <a:spLocks noChangeArrowheads="1"/>
              </p:cNvSpPr>
              <p:nvPr/>
            </p:nvSpPr>
            <p:spPr bwMode="auto">
              <a:xfrm>
                <a:off x="7305369" y="4435637"/>
                <a:ext cx="2184135" cy="577539"/>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000" b="1">
                    <a:solidFill>
                      <a:srgbClr val="000099"/>
                    </a:solidFill>
                    <a:latin typeface="+mn-lt"/>
                    <a:ea typeface="黑体" pitchFamily="2" charset="-122"/>
                  </a:rPr>
                  <a:t>组成员关系报文</a:t>
                </a:r>
              </a:p>
            </p:txBody>
          </p:sp>
          <p:sp>
            <p:nvSpPr>
              <p:cNvPr id="979976" name="Rectangle 8"/>
              <p:cNvSpPr>
                <a:spLocks noChangeArrowheads="1"/>
              </p:cNvSpPr>
              <p:nvPr/>
            </p:nvSpPr>
            <p:spPr bwMode="auto">
              <a:xfrm>
                <a:off x="5043843" y="4435637"/>
                <a:ext cx="1871133" cy="577539"/>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000" b="1">
                    <a:solidFill>
                      <a:srgbClr val="000099"/>
                    </a:solidFill>
                    <a:latin typeface="+mn-lt"/>
                    <a:ea typeface="黑体" pitchFamily="2" charset="-122"/>
                  </a:rPr>
                  <a:t>邻站发现报文</a:t>
                </a:r>
              </a:p>
            </p:txBody>
          </p:sp>
          <p:sp>
            <p:nvSpPr>
              <p:cNvPr id="979977" name="Rectangle 9"/>
              <p:cNvSpPr>
                <a:spLocks noChangeArrowheads="1"/>
              </p:cNvSpPr>
              <p:nvPr/>
            </p:nvSpPr>
            <p:spPr bwMode="auto">
              <a:xfrm>
                <a:off x="2969775" y="4435637"/>
                <a:ext cx="1638961" cy="577539"/>
              </a:xfrm>
              <a:prstGeom prst="rect">
                <a:avLst/>
              </a:prstGeom>
              <a:solidFill>
                <a:srgbClr val="FFFF66"/>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000" b="1">
                    <a:solidFill>
                      <a:srgbClr val="000099"/>
                    </a:solidFill>
                    <a:latin typeface="+mn-lt"/>
                    <a:ea typeface="黑体" pitchFamily="2" charset="-122"/>
                  </a:rPr>
                  <a:t>信息报文</a:t>
                </a:r>
              </a:p>
            </p:txBody>
          </p:sp>
          <p:sp>
            <p:nvSpPr>
              <p:cNvPr id="979978" name="Freeform 10"/>
              <p:cNvSpPr>
                <a:spLocks/>
              </p:cNvSpPr>
              <p:nvPr/>
            </p:nvSpPr>
            <p:spPr bwMode="auto">
              <a:xfrm>
                <a:off x="1573304" y="4108613"/>
                <a:ext cx="6836171" cy="327025"/>
              </a:xfrm>
              <a:custGeom>
                <a:avLst/>
                <a:gdLst>
                  <a:gd name="T0" fmla="*/ 0 w 3311"/>
                  <a:gd name="T1" fmla="*/ 136 h 136"/>
                  <a:gd name="T2" fmla="*/ 0 w 3311"/>
                  <a:gd name="T3" fmla="*/ 0 h 136"/>
                  <a:gd name="T4" fmla="*/ 3311 w 3311"/>
                  <a:gd name="T5" fmla="*/ 0 h 136"/>
                  <a:gd name="T6" fmla="*/ 3311 w 3311"/>
                  <a:gd name="T7" fmla="*/ 136 h 136"/>
                </a:gdLst>
                <a:ahLst/>
                <a:cxnLst>
                  <a:cxn ang="0">
                    <a:pos x="T0" y="T1"/>
                  </a:cxn>
                  <a:cxn ang="0">
                    <a:pos x="T2" y="T3"/>
                  </a:cxn>
                  <a:cxn ang="0">
                    <a:pos x="T4" y="T5"/>
                  </a:cxn>
                  <a:cxn ang="0">
                    <a:pos x="T6" y="T7"/>
                  </a:cxn>
                </a:cxnLst>
                <a:rect l="0" t="0" r="r" b="b"/>
                <a:pathLst>
                  <a:path w="3311" h="136">
                    <a:moveTo>
                      <a:pt x="0" y="136"/>
                    </a:moveTo>
                    <a:lnTo>
                      <a:pt x="0" y="0"/>
                    </a:lnTo>
                    <a:lnTo>
                      <a:pt x="3311" y="0"/>
                    </a:lnTo>
                    <a:lnTo>
                      <a:pt x="3311" y="136"/>
                    </a:lnTo>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79979" name="Line 11"/>
              <p:cNvSpPr>
                <a:spLocks noChangeShapeType="1"/>
              </p:cNvSpPr>
              <p:nvPr/>
            </p:nvSpPr>
            <p:spPr bwMode="auto">
              <a:xfrm>
                <a:off x="3784955" y="4108613"/>
                <a:ext cx="0" cy="3270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79980" name="Line 12"/>
              <p:cNvSpPr>
                <a:spLocks noChangeShapeType="1"/>
              </p:cNvSpPr>
              <p:nvPr/>
            </p:nvSpPr>
            <p:spPr bwMode="auto">
              <a:xfrm>
                <a:off x="6039602" y="4108613"/>
                <a:ext cx="0" cy="3270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79981" name="Line 13"/>
              <p:cNvSpPr>
                <a:spLocks noChangeShapeType="1"/>
              </p:cNvSpPr>
              <p:nvPr/>
            </p:nvSpPr>
            <p:spPr bwMode="auto">
              <a:xfrm>
                <a:off x="4907979" y="3781588"/>
                <a:ext cx="0" cy="3270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979982" name="Text Box 14"/>
              <p:cNvSpPr txBox="1">
                <a:spLocks noChangeArrowheads="1"/>
              </p:cNvSpPr>
              <p:nvPr/>
            </p:nvSpPr>
            <p:spPr bwMode="auto">
              <a:xfrm>
                <a:off x="5372592" y="5016352"/>
                <a:ext cx="133402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400" b="1" dirty="0">
                    <a:solidFill>
                      <a:srgbClr val="000099"/>
                    </a:solidFill>
                    <a:latin typeface="+mn-lt"/>
                    <a:ea typeface="黑体" pitchFamily="2" charset="-122"/>
                  </a:rPr>
                  <a:t>ND </a:t>
                </a:r>
                <a:r>
                  <a:rPr kumimoji="1" lang="zh-CN" altLang="en-US" sz="2400" b="1" dirty="0">
                    <a:solidFill>
                      <a:srgbClr val="000099"/>
                    </a:solidFill>
                    <a:latin typeface="+mn-lt"/>
                    <a:ea typeface="黑体" pitchFamily="2" charset="-122"/>
                  </a:rPr>
                  <a:t>协议</a:t>
                </a:r>
              </a:p>
            </p:txBody>
          </p:sp>
          <p:sp>
            <p:nvSpPr>
              <p:cNvPr id="979983" name="Text Box 15"/>
              <p:cNvSpPr txBox="1">
                <a:spLocks noChangeArrowheads="1"/>
              </p:cNvSpPr>
              <p:nvPr/>
            </p:nvSpPr>
            <p:spPr bwMode="auto">
              <a:xfrm>
                <a:off x="7669694" y="5013176"/>
                <a:ext cx="155523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2400" b="1">
                    <a:solidFill>
                      <a:srgbClr val="000099"/>
                    </a:solidFill>
                    <a:latin typeface="+mn-lt"/>
                    <a:ea typeface="黑体" pitchFamily="2" charset="-122"/>
                  </a:rPr>
                  <a:t>MLD </a:t>
                </a:r>
                <a:r>
                  <a:rPr kumimoji="1" lang="zh-CN" altLang="en-US" sz="2400" b="1">
                    <a:solidFill>
                      <a:srgbClr val="000099"/>
                    </a:solidFill>
                    <a:latin typeface="+mn-lt"/>
                    <a:ea typeface="黑体" pitchFamily="2" charset="-122"/>
                  </a:rPr>
                  <a:t>协议</a:t>
                </a:r>
              </a:p>
            </p:txBody>
          </p:sp>
        </p:grpSp>
        <p:sp>
          <p:nvSpPr>
            <p:cNvPr id="5" name="矩形 4"/>
            <p:cNvSpPr/>
            <p:nvPr/>
          </p:nvSpPr>
          <p:spPr>
            <a:xfrm>
              <a:off x="752962" y="5085184"/>
              <a:ext cx="5453737" cy="646331"/>
            </a:xfrm>
            <a:prstGeom prst="rect">
              <a:avLst/>
            </a:prstGeom>
          </p:spPr>
          <p:txBody>
            <a:bodyPr wrap="none">
              <a:spAutoFit/>
            </a:bodyPr>
            <a:lstStyle/>
            <a:p>
              <a:r>
                <a:rPr lang="en-US" altLang="zh-CN" b="1" dirty="0">
                  <a:solidFill>
                    <a:srgbClr val="000099"/>
                  </a:solidFill>
                  <a:latin typeface="+mn-lt"/>
                  <a:ea typeface="黑体" pitchFamily="2" charset="-122"/>
                </a:rPr>
                <a:t>ND (Neighbor-Discovery)</a:t>
              </a:r>
              <a:r>
                <a:rPr lang="zh-CN" altLang="en-US" b="1" dirty="0">
                  <a:solidFill>
                    <a:srgbClr val="000099"/>
                  </a:solidFill>
                  <a:latin typeface="+mn-lt"/>
                  <a:ea typeface="黑体" pitchFamily="2" charset="-122"/>
                </a:rPr>
                <a:t>：</a:t>
              </a:r>
              <a:r>
                <a:rPr lang="zh-CN" altLang="zh-CN" b="1" dirty="0">
                  <a:solidFill>
                    <a:srgbClr val="000099"/>
                  </a:solidFill>
                  <a:latin typeface="+mn-lt"/>
                  <a:ea typeface="黑体" pitchFamily="2" charset="-122"/>
                </a:rPr>
                <a:t>邻站发现</a:t>
              </a:r>
              <a:endParaRPr lang="en-US" altLang="zh-CN" b="1" dirty="0">
                <a:solidFill>
                  <a:srgbClr val="000099"/>
                </a:solidFill>
                <a:latin typeface="+mn-lt"/>
                <a:ea typeface="黑体" pitchFamily="2" charset="-122"/>
              </a:endParaRPr>
            </a:p>
            <a:p>
              <a:r>
                <a:rPr lang="en-US" altLang="zh-CN" b="1" dirty="0">
                  <a:solidFill>
                    <a:srgbClr val="000099"/>
                  </a:solidFill>
                  <a:latin typeface="+mn-lt"/>
                  <a:ea typeface="黑体" pitchFamily="2" charset="-122"/>
                </a:rPr>
                <a:t>MLD (Multicast Listener Delivery)</a:t>
              </a:r>
              <a:r>
                <a:rPr lang="zh-CN" altLang="en-US" b="1" dirty="0">
                  <a:solidFill>
                    <a:srgbClr val="000099"/>
                  </a:solidFill>
                  <a:latin typeface="+mn-lt"/>
                  <a:ea typeface="黑体" pitchFamily="2" charset="-122"/>
                </a:rPr>
                <a:t>：</a:t>
              </a:r>
              <a:r>
                <a:rPr lang="zh-CN" altLang="zh-CN" b="1" dirty="0">
                  <a:solidFill>
                    <a:srgbClr val="000099"/>
                  </a:solidFill>
                  <a:latin typeface="+mn-lt"/>
                  <a:ea typeface="黑体" pitchFamily="2" charset="-122"/>
                </a:rPr>
                <a:t>多播听众交付</a:t>
              </a:r>
              <a:endParaRPr lang="zh-CN" altLang="en-US" b="1" dirty="0">
                <a:solidFill>
                  <a:srgbClr val="000099"/>
                </a:solidFill>
                <a:latin typeface="+mn-lt"/>
                <a:ea typeface="黑体" pitchFamily="2" charset="-122"/>
              </a:endParaRPr>
            </a:p>
          </p:txBody>
        </p:sp>
      </p:grpSp>
    </p:spTree>
    <p:extLst>
      <p:ext uri="{BB962C8B-B14F-4D97-AF65-F5344CB8AC3E}">
        <p14:creationId xmlns:p14="http://schemas.microsoft.com/office/powerpoint/2010/main" val="37769220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（下）</a:t>
            </a:r>
          </a:p>
        </p:txBody>
      </p:sp>
      <p:sp>
        <p:nvSpPr>
          <p:cNvPr id="3" name="内容占位符 2"/>
          <p:cNvSpPr>
            <a:spLocks noGrp="1"/>
          </p:cNvSpPr>
          <p:nvPr>
            <p:ph idx="1"/>
          </p:nvPr>
        </p:nvSpPr>
        <p:spPr/>
        <p:txBody>
          <a:bodyPr/>
          <a:lstStyle/>
          <a:p>
            <a:pPr>
              <a:lnSpc>
                <a:spcPct val="100000"/>
              </a:lnSpc>
            </a:pPr>
            <a:r>
              <a:rPr lang="zh-CN" altLang="zh-CN" dirty="0">
                <a:solidFill>
                  <a:schemeClr val="bg1">
                    <a:lumMod val="75000"/>
                  </a:schemeClr>
                </a:solidFill>
              </a:rPr>
              <a:t>划分子网</a:t>
            </a:r>
            <a:endParaRPr lang="en-US" altLang="zh-CN" dirty="0">
              <a:solidFill>
                <a:schemeClr val="bg1">
                  <a:lumMod val="75000"/>
                </a:schemeClr>
              </a:solidFill>
            </a:endParaRPr>
          </a:p>
          <a:p>
            <a:pPr>
              <a:lnSpc>
                <a:spcPct val="100000"/>
              </a:lnSpc>
            </a:pPr>
            <a:r>
              <a:rPr lang="zh-CN" altLang="zh-CN" dirty="0">
                <a:solidFill>
                  <a:schemeClr val="bg1">
                    <a:lumMod val="75000"/>
                  </a:schemeClr>
                </a:solidFill>
              </a:rPr>
              <a:t>构造超网</a:t>
            </a:r>
          </a:p>
          <a:p>
            <a:pPr>
              <a:lnSpc>
                <a:spcPct val="100000"/>
              </a:lnSpc>
            </a:pPr>
            <a:r>
              <a:rPr lang="zh-CN" altLang="zh-CN" dirty="0">
                <a:solidFill>
                  <a:schemeClr val="bg1">
                    <a:lumMod val="75000"/>
                  </a:schemeClr>
                </a:solidFill>
              </a:rPr>
              <a:t>互联网的路由选择协议</a:t>
            </a:r>
          </a:p>
          <a:p>
            <a:pPr>
              <a:lnSpc>
                <a:spcPct val="100000"/>
              </a:lnSpc>
            </a:pPr>
            <a:r>
              <a:rPr lang="en-US" altLang="zh-CN" dirty="0">
                <a:solidFill>
                  <a:schemeClr val="bg1">
                    <a:lumMod val="75000"/>
                  </a:schemeClr>
                </a:solidFill>
              </a:rPr>
              <a:t>IPv6</a:t>
            </a:r>
            <a:endParaRPr lang="zh-CN" altLang="zh-CN" dirty="0">
              <a:solidFill>
                <a:schemeClr val="bg1">
                  <a:lumMod val="75000"/>
                </a:schemeClr>
              </a:solidFill>
            </a:endParaRPr>
          </a:p>
          <a:p>
            <a:pPr>
              <a:lnSpc>
                <a:spcPct val="100000"/>
              </a:lnSpc>
            </a:pPr>
            <a:r>
              <a:rPr lang="en-US" altLang="zh-CN" sz="3600" dirty="0">
                <a:solidFill>
                  <a:srgbClr val="FF0000"/>
                </a:solidFill>
              </a:rPr>
              <a:t>IP</a:t>
            </a:r>
            <a:r>
              <a:rPr lang="zh-CN" altLang="zh-CN" sz="3600" dirty="0">
                <a:solidFill>
                  <a:srgbClr val="FF0000"/>
                </a:solidFill>
              </a:rPr>
              <a:t>多播</a:t>
            </a:r>
          </a:p>
          <a:p>
            <a:pPr>
              <a:lnSpc>
                <a:spcPct val="100000"/>
              </a:lnSpc>
            </a:pPr>
            <a:r>
              <a:rPr lang="zh-CN" altLang="zh-CN" dirty="0">
                <a:solidFill>
                  <a:schemeClr val="bg1">
                    <a:lumMod val="75000"/>
                  </a:schemeClr>
                </a:solidFill>
              </a:rPr>
              <a:t>虚拟专用网</a:t>
            </a:r>
            <a:r>
              <a:rPr lang="en-US" altLang="zh-CN" dirty="0">
                <a:solidFill>
                  <a:schemeClr val="bg1">
                    <a:lumMod val="75000"/>
                  </a:schemeClr>
                </a:solidFill>
              </a:rPr>
              <a:t> VPN</a:t>
            </a:r>
          </a:p>
          <a:p>
            <a:pPr>
              <a:lnSpc>
                <a:spcPct val="100000"/>
              </a:lnSpc>
            </a:pPr>
            <a:r>
              <a:rPr lang="zh-CN" altLang="zh-CN" dirty="0">
                <a:solidFill>
                  <a:schemeClr val="bg1">
                    <a:lumMod val="75000"/>
                  </a:schemeClr>
                </a:solidFill>
              </a:rPr>
              <a:t>网络地址转换</a:t>
            </a:r>
            <a:r>
              <a:rPr lang="en-US" altLang="zh-CN" dirty="0">
                <a:solidFill>
                  <a:schemeClr val="bg1">
                    <a:lumMod val="75000"/>
                  </a:schemeClr>
                </a:solidFill>
              </a:rPr>
              <a:t> NAT</a:t>
            </a:r>
            <a:endParaRPr lang="zh-CN" altLang="zh-CN" dirty="0">
              <a:solidFill>
                <a:schemeClr val="bg1">
                  <a:lumMod val="75000"/>
                </a:schemeClr>
              </a:solidFill>
            </a:endParaRPr>
          </a:p>
        </p:txBody>
      </p:sp>
    </p:spTree>
    <p:extLst>
      <p:ext uri="{BB962C8B-B14F-4D97-AF65-F5344CB8AC3E}">
        <p14:creationId xmlns:p14="http://schemas.microsoft.com/office/powerpoint/2010/main" val="15762834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p:txBody>
          <a:bodyPr/>
          <a:lstStyle/>
          <a:p>
            <a:r>
              <a:rPr lang="en-US" altLang="zh-CN" dirty="0"/>
              <a:t>IP </a:t>
            </a:r>
            <a:r>
              <a:rPr lang="zh-CN" altLang="zh-CN" dirty="0"/>
              <a:t>多播的基本概念</a:t>
            </a:r>
          </a:p>
        </p:txBody>
      </p:sp>
      <p:sp>
        <p:nvSpPr>
          <p:cNvPr id="932867" name="Rectangle 3"/>
          <p:cNvSpPr>
            <a:spLocks noGrp="1" noChangeArrowheads="1"/>
          </p:cNvSpPr>
          <p:nvPr>
            <p:ph idx="1"/>
          </p:nvPr>
        </p:nvSpPr>
        <p:spPr/>
        <p:txBody>
          <a:bodyPr/>
          <a:lstStyle/>
          <a:p>
            <a:r>
              <a:rPr lang="en-US" altLang="zh-CN" dirty="0"/>
              <a:t>IP </a:t>
            </a:r>
            <a:r>
              <a:rPr lang="zh-CN" altLang="zh-CN" dirty="0">
                <a:solidFill>
                  <a:srgbClr val="FF0000"/>
                </a:solidFill>
              </a:rPr>
              <a:t>多播</a:t>
            </a:r>
            <a:r>
              <a:rPr lang="en-US" altLang="zh-CN" dirty="0">
                <a:solidFill>
                  <a:srgbClr val="FF0000"/>
                </a:solidFill>
              </a:rPr>
              <a:t> </a:t>
            </a:r>
            <a:r>
              <a:rPr lang="en-US" altLang="zh-CN" dirty="0"/>
              <a:t>(multicast</a:t>
            </a:r>
            <a:r>
              <a:rPr lang="zh-CN" altLang="zh-CN" dirty="0"/>
              <a:t>，以前曾译为</a:t>
            </a:r>
            <a:r>
              <a:rPr lang="zh-CN" altLang="zh-CN" dirty="0">
                <a:solidFill>
                  <a:srgbClr val="FF0000"/>
                </a:solidFill>
              </a:rPr>
              <a:t>组播</a:t>
            </a:r>
            <a:r>
              <a:rPr lang="en-US" altLang="zh-CN" dirty="0"/>
              <a:t>) </a:t>
            </a:r>
            <a:r>
              <a:rPr lang="zh-CN" altLang="zh-CN" dirty="0"/>
              <a:t>已成为互联网的一个热门课题。</a:t>
            </a:r>
            <a:endParaRPr lang="en-US" altLang="zh-CN" dirty="0"/>
          </a:p>
          <a:p>
            <a:r>
              <a:rPr lang="zh-CN" altLang="en-US" dirty="0">
                <a:solidFill>
                  <a:srgbClr val="0000FF"/>
                </a:solidFill>
              </a:rPr>
              <a:t>目的：</a:t>
            </a:r>
            <a:r>
              <a:rPr lang="zh-CN" altLang="en-US" dirty="0"/>
              <a:t>更好第支持</a:t>
            </a:r>
            <a:r>
              <a:rPr lang="zh-CN" altLang="en-US" dirty="0">
                <a:solidFill>
                  <a:srgbClr val="FF0000"/>
                </a:solidFill>
              </a:rPr>
              <a:t>一对多通信。</a:t>
            </a:r>
            <a:endParaRPr lang="en-US" altLang="zh-CN" dirty="0">
              <a:solidFill>
                <a:srgbClr val="FF0000"/>
              </a:solidFill>
            </a:endParaRPr>
          </a:p>
          <a:p>
            <a:r>
              <a:rPr lang="zh-CN" altLang="en-US" dirty="0"/>
              <a:t>一对多通信：</a:t>
            </a:r>
            <a:r>
              <a:rPr lang="zh-CN" altLang="zh-CN" dirty="0"/>
              <a:t>一个源点发送到许多个终点</a:t>
            </a:r>
            <a:r>
              <a:rPr lang="zh-CN" altLang="en-US" dirty="0"/>
              <a:t>。</a:t>
            </a:r>
            <a:endParaRPr lang="en-US" altLang="zh-CN" dirty="0"/>
          </a:p>
          <a:p>
            <a:pPr lvl="1"/>
            <a:r>
              <a:rPr lang="zh-CN" altLang="zh-CN" dirty="0"/>
              <a:t>例如，实时信息的交付（如新闻、股市行情等），软件更新，交互式会议</a:t>
            </a:r>
            <a:r>
              <a:rPr lang="zh-CN" altLang="en-US" dirty="0"/>
              <a:t>及其他多媒体通信。</a:t>
            </a:r>
          </a:p>
        </p:txBody>
      </p:sp>
    </p:spTree>
    <p:extLst>
      <p:ext uri="{BB962C8B-B14F-4D97-AF65-F5344CB8AC3E}">
        <p14:creationId xmlns:p14="http://schemas.microsoft.com/office/powerpoint/2010/main" val="41662171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599" name="Rectangle 127"/>
          <p:cNvSpPr>
            <a:spLocks noGrp="1" noChangeArrowheads="1"/>
          </p:cNvSpPr>
          <p:nvPr>
            <p:ph type="title"/>
          </p:nvPr>
        </p:nvSpPr>
        <p:spPr>
          <a:noFill/>
          <a:ln/>
        </p:spPr>
        <p:txBody>
          <a:bodyPr/>
          <a:lstStyle/>
          <a:p>
            <a:pPr algn="ctr"/>
            <a:r>
              <a:rPr lang="zh-CN" altLang="zh-CN" dirty="0"/>
              <a:t>多播可大大节约网络资源</a:t>
            </a:r>
            <a:endParaRPr lang="zh-CN" altLang="en-US" sz="4000" dirty="0"/>
          </a:p>
        </p:txBody>
      </p:sp>
      <p:grpSp>
        <p:nvGrpSpPr>
          <p:cNvPr id="4" name="组合 3"/>
          <p:cNvGrpSpPr/>
          <p:nvPr/>
        </p:nvGrpSpPr>
        <p:grpSpPr>
          <a:xfrm>
            <a:off x="560512" y="1196752"/>
            <a:ext cx="5914746" cy="5021495"/>
            <a:chOff x="704528" y="1196752"/>
            <a:chExt cx="5914746" cy="5021495"/>
          </a:xfrm>
        </p:grpSpPr>
        <p:sp>
          <p:nvSpPr>
            <p:cNvPr id="1001549" name="Line 77"/>
            <p:cNvSpPr>
              <a:spLocks noChangeShapeType="1"/>
            </p:cNvSpPr>
            <p:nvPr/>
          </p:nvSpPr>
          <p:spPr bwMode="auto">
            <a:xfrm>
              <a:off x="2355672" y="4854351"/>
              <a:ext cx="0" cy="361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1001555" name="Picture 8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85917"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1524" name="Line 52"/>
            <p:cNvSpPr>
              <a:spLocks noChangeShapeType="1"/>
            </p:cNvSpPr>
            <p:nvPr/>
          </p:nvSpPr>
          <p:spPr bwMode="auto">
            <a:xfrm flipV="1">
              <a:off x="2075345" y="3131914"/>
              <a:ext cx="1401631" cy="9064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5" name="Line 53"/>
            <p:cNvSpPr>
              <a:spLocks noChangeShapeType="1"/>
            </p:cNvSpPr>
            <p:nvPr/>
          </p:nvSpPr>
          <p:spPr bwMode="auto">
            <a:xfrm flipV="1">
              <a:off x="3571564" y="1952401"/>
              <a:ext cx="0" cy="996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6" name="Line 54"/>
            <p:cNvSpPr>
              <a:spLocks noChangeShapeType="1"/>
            </p:cNvSpPr>
            <p:nvPr/>
          </p:nvSpPr>
          <p:spPr bwMode="auto">
            <a:xfrm flipH="1" flipV="1">
              <a:off x="3571564" y="3131914"/>
              <a:ext cx="0" cy="9064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7" name="Line 55"/>
            <p:cNvSpPr>
              <a:spLocks noChangeShapeType="1"/>
            </p:cNvSpPr>
            <p:nvPr/>
          </p:nvSpPr>
          <p:spPr bwMode="auto">
            <a:xfrm>
              <a:off x="5349828" y="4038377"/>
              <a:ext cx="0" cy="8159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8" name="Line 56"/>
            <p:cNvSpPr>
              <a:spLocks noChangeShapeType="1"/>
            </p:cNvSpPr>
            <p:nvPr/>
          </p:nvSpPr>
          <p:spPr bwMode="auto">
            <a:xfrm flipV="1">
              <a:off x="3571564" y="4038377"/>
              <a:ext cx="0" cy="8159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9" name="Line 57"/>
            <p:cNvSpPr>
              <a:spLocks noChangeShapeType="1"/>
            </p:cNvSpPr>
            <p:nvPr/>
          </p:nvSpPr>
          <p:spPr bwMode="auto">
            <a:xfrm>
              <a:off x="1982476" y="4038377"/>
              <a:ext cx="0" cy="8159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30" name="Line 58"/>
            <p:cNvSpPr>
              <a:spLocks noChangeShapeType="1"/>
            </p:cNvSpPr>
            <p:nvPr/>
          </p:nvSpPr>
          <p:spPr bwMode="auto">
            <a:xfrm>
              <a:off x="3760741" y="3131914"/>
              <a:ext cx="1589088" cy="9064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31" name="Text Box 59"/>
            <p:cNvSpPr txBox="1">
              <a:spLocks noChangeArrowheads="1"/>
            </p:cNvSpPr>
            <p:nvPr/>
          </p:nvSpPr>
          <p:spPr bwMode="auto">
            <a:xfrm>
              <a:off x="1496616" y="5695027"/>
              <a:ext cx="47516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00099"/>
                  </a:solidFill>
                  <a:latin typeface="+mn-lt"/>
                  <a:ea typeface="黑体" pitchFamily="2" charset="-122"/>
                </a:rPr>
                <a:t>共有 </a:t>
              </a:r>
              <a:r>
                <a:rPr kumimoji="1" lang="en-US" altLang="zh-CN" sz="2800" b="1" dirty="0">
                  <a:solidFill>
                    <a:srgbClr val="000099"/>
                  </a:solidFill>
                  <a:latin typeface="+mn-lt"/>
                  <a:ea typeface="黑体" pitchFamily="2" charset="-122"/>
                </a:rPr>
                <a:t>90 </a:t>
              </a:r>
              <a:r>
                <a:rPr kumimoji="1" lang="zh-CN" altLang="en-US" sz="2800" b="1" dirty="0">
                  <a:solidFill>
                    <a:srgbClr val="000099"/>
                  </a:solidFill>
                  <a:latin typeface="+mn-lt"/>
                  <a:ea typeface="黑体" pitchFamily="2" charset="-122"/>
                </a:rPr>
                <a:t>个主机接收视频节目</a:t>
              </a:r>
            </a:p>
          </p:txBody>
        </p:sp>
        <p:sp>
          <p:nvSpPr>
            <p:cNvPr id="1001532" name="AutoShape 60"/>
            <p:cNvSpPr>
              <a:spLocks noChangeArrowheads="1"/>
            </p:cNvSpPr>
            <p:nvPr/>
          </p:nvSpPr>
          <p:spPr bwMode="auto">
            <a:xfrm rot="5400000">
              <a:off x="3469634" y="2510210"/>
              <a:ext cx="504825" cy="211535"/>
            </a:xfrm>
            <a:prstGeom prst="rightArrow">
              <a:avLst>
                <a:gd name="adj1" fmla="val 37500"/>
                <a:gd name="adj2" fmla="val 103881"/>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33" name="AutoShape 61"/>
            <p:cNvSpPr>
              <a:spLocks noChangeArrowheads="1"/>
            </p:cNvSpPr>
            <p:nvPr/>
          </p:nvSpPr>
          <p:spPr bwMode="auto">
            <a:xfrm rot="8740270">
              <a:off x="2446821" y="3362101"/>
              <a:ext cx="521097" cy="204788"/>
            </a:xfrm>
            <a:prstGeom prst="rightArrow">
              <a:avLst>
                <a:gd name="adj1" fmla="val 37500"/>
                <a:gd name="adj2" fmla="val 94377"/>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pic>
          <p:nvPicPr>
            <p:cNvPr id="1001534" name="Picture 6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20475" y="2933476"/>
              <a:ext cx="533135"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001535" name="Text Box 63"/>
            <p:cNvSpPr txBox="1">
              <a:spLocks noChangeArrowheads="1"/>
            </p:cNvSpPr>
            <p:nvPr/>
          </p:nvSpPr>
          <p:spPr bwMode="auto">
            <a:xfrm>
              <a:off x="2916324" y="2493739"/>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R</a:t>
              </a:r>
              <a:r>
                <a:rPr kumimoji="1" lang="en-US" altLang="zh-CN" sz="2400" b="1" baseline="-25000">
                  <a:solidFill>
                    <a:srgbClr val="000099"/>
                  </a:solidFill>
                  <a:latin typeface="+mn-lt"/>
                  <a:ea typeface="黑体" pitchFamily="2" charset="-122"/>
                </a:rPr>
                <a:t>1</a:t>
              </a:r>
              <a:endParaRPr kumimoji="1" lang="en-US" altLang="zh-CN" sz="2400" b="1">
                <a:solidFill>
                  <a:srgbClr val="000099"/>
                </a:solidFill>
                <a:latin typeface="+mn-lt"/>
                <a:ea typeface="黑体" pitchFamily="2" charset="-122"/>
              </a:endParaRPr>
            </a:p>
          </p:txBody>
        </p:sp>
        <p:sp>
          <p:nvSpPr>
            <p:cNvPr id="1001536" name="Text Box 64"/>
            <p:cNvSpPr txBox="1">
              <a:spLocks noChangeArrowheads="1"/>
            </p:cNvSpPr>
            <p:nvPr/>
          </p:nvSpPr>
          <p:spPr bwMode="auto">
            <a:xfrm>
              <a:off x="2863010" y="3643089"/>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R</a:t>
              </a:r>
              <a:r>
                <a:rPr kumimoji="1" lang="en-US" altLang="zh-CN" sz="2400" b="1" baseline="-25000">
                  <a:solidFill>
                    <a:srgbClr val="000099"/>
                  </a:solidFill>
                  <a:latin typeface="+mn-lt"/>
                  <a:ea typeface="黑体" pitchFamily="2" charset="-122"/>
                </a:rPr>
                <a:t>3</a:t>
              </a:r>
              <a:endParaRPr kumimoji="1" lang="en-US" altLang="zh-CN" sz="2400" b="1">
                <a:solidFill>
                  <a:srgbClr val="000099"/>
                </a:solidFill>
                <a:latin typeface="+mn-lt"/>
                <a:ea typeface="黑体" pitchFamily="2" charset="-122"/>
              </a:endParaRPr>
            </a:p>
          </p:txBody>
        </p:sp>
        <p:sp>
          <p:nvSpPr>
            <p:cNvPr id="1001537" name="Text Box 65"/>
            <p:cNvSpPr txBox="1">
              <a:spLocks noChangeArrowheads="1"/>
            </p:cNvSpPr>
            <p:nvPr/>
          </p:nvSpPr>
          <p:spPr bwMode="auto">
            <a:xfrm>
              <a:off x="4579362" y="3717701"/>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R</a:t>
              </a:r>
              <a:r>
                <a:rPr kumimoji="1" lang="en-US" altLang="zh-CN" sz="2400" b="1" baseline="-25000">
                  <a:solidFill>
                    <a:srgbClr val="000099"/>
                  </a:solidFill>
                  <a:latin typeface="+mn-lt"/>
                  <a:ea typeface="黑体" pitchFamily="2" charset="-122"/>
                </a:rPr>
                <a:t>4</a:t>
              </a:r>
              <a:endParaRPr kumimoji="1" lang="en-US" altLang="zh-CN" sz="2400" b="1">
                <a:solidFill>
                  <a:srgbClr val="000099"/>
                </a:solidFill>
                <a:latin typeface="+mn-lt"/>
                <a:ea typeface="黑体" pitchFamily="2" charset="-122"/>
              </a:endParaRPr>
            </a:p>
          </p:txBody>
        </p:sp>
        <p:sp>
          <p:nvSpPr>
            <p:cNvPr id="1001538" name="Text Box 66"/>
            <p:cNvSpPr txBox="1">
              <a:spLocks noChangeArrowheads="1"/>
            </p:cNvSpPr>
            <p:nvPr/>
          </p:nvSpPr>
          <p:spPr bwMode="auto">
            <a:xfrm>
              <a:off x="1234368" y="3671664"/>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R</a:t>
              </a:r>
              <a:r>
                <a:rPr kumimoji="1" lang="en-US" altLang="zh-CN" sz="2400" b="1" baseline="-25000">
                  <a:solidFill>
                    <a:srgbClr val="000099"/>
                  </a:solidFill>
                  <a:latin typeface="+mn-lt"/>
                  <a:ea typeface="黑体" pitchFamily="2" charset="-122"/>
                </a:rPr>
                <a:t>2</a:t>
              </a:r>
              <a:endParaRPr kumimoji="1" lang="en-US" altLang="zh-CN" sz="2400" b="1">
                <a:solidFill>
                  <a:srgbClr val="000099"/>
                </a:solidFill>
                <a:latin typeface="+mn-lt"/>
                <a:ea typeface="黑体" pitchFamily="2" charset="-122"/>
              </a:endParaRPr>
            </a:p>
          </p:txBody>
        </p:sp>
        <p:sp>
          <p:nvSpPr>
            <p:cNvPr id="1001539" name="Text Box 67"/>
            <p:cNvSpPr txBox="1">
              <a:spLocks noChangeArrowheads="1"/>
            </p:cNvSpPr>
            <p:nvPr/>
          </p:nvSpPr>
          <p:spPr bwMode="auto">
            <a:xfrm>
              <a:off x="704528" y="1196752"/>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00099"/>
                  </a:solidFill>
                  <a:latin typeface="+mn-lt"/>
                  <a:ea typeface="黑体" pitchFamily="2" charset="-122"/>
                </a:rPr>
                <a:t>视频服务器 </a:t>
              </a:r>
              <a:r>
                <a:rPr kumimoji="1" lang="en-US" altLang="zh-CN" sz="2800" b="1" dirty="0">
                  <a:solidFill>
                    <a:srgbClr val="000099"/>
                  </a:solidFill>
                  <a:latin typeface="+mn-lt"/>
                  <a:ea typeface="黑体" pitchFamily="2" charset="-122"/>
                </a:rPr>
                <a:t>M</a:t>
              </a:r>
            </a:p>
          </p:txBody>
        </p:sp>
        <p:pic>
          <p:nvPicPr>
            <p:cNvPr id="1001540" name="Picture 6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69503" y="3897090"/>
              <a:ext cx="53141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01541" name="Picture 6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20475" y="3897090"/>
              <a:ext cx="53313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01542" name="Picture 7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02151" y="3930427"/>
              <a:ext cx="531415"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aphicFrame>
          <p:nvGraphicFramePr>
            <p:cNvPr id="1001543" name="Object 71">
              <a:hlinkClick r:id="" action="ppaction://ole?verb=0"/>
            </p:cNvPr>
            <p:cNvGraphicFramePr>
              <a:graphicFrameLocks/>
            </p:cNvGraphicFramePr>
            <p:nvPr>
              <p:extLst>
                <p:ext uri="{D42A27DB-BD31-4B8C-83A1-F6EECF244321}">
                  <p14:modId xmlns:p14="http://schemas.microsoft.com/office/powerpoint/2010/main" val="3800760376"/>
                </p:ext>
              </p:extLst>
            </p:nvPr>
          </p:nvGraphicFramePr>
          <p:xfrm>
            <a:off x="3200442" y="1233264"/>
            <a:ext cx="672438" cy="952500"/>
          </p:xfrm>
          <a:graphic>
            <a:graphicData uri="http://schemas.openxmlformats.org/presentationml/2006/ole">
              <mc:AlternateContent xmlns:mc="http://schemas.openxmlformats.org/markup-compatibility/2006">
                <mc:Choice xmlns:v="urn:schemas-microsoft-com:vml" Requires="v">
                  <p:oleObj spid="_x0000_s3111" name="Microsoft ClipArt Gallery" r:id="rId6" imgW="2735263" imgH="3825875" progId="">
                    <p:embed/>
                  </p:oleObj>
                </mc:Choice>
                <mc:Fallback>
                  <p:oleObj name="Microsoft ClipArt Gallery" r:id="rId6" imgW="2735263" imgH="3825875" progId="">
                    <p:embed/>
                    <p:pic>
                      <p:nvPicPr>
                        <p:cNvPr id="0" name="Picture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0442" y="1233264"/>
                          <a:ext cx="672438"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1544" name="Line 72"/>
            <p:cNvSpPr>
              <a:spLocks noChangeShapeType="1"/>
            </p:cNvSpPr>
            <p:nvPr/>
          </p:nvSpPr>
          <p:spPr bwMode="auto">
            <a:xfrm>
              <a:off x="1138059" y="4854351"/>
              <a:ext cx="149793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45" name="Line 73"/>
            <p:cNvSpPr>
              <a:spLocks noChangeShapeType="1"/>
            </p:cNvSpPr>
            <p:nvPr/>
          </p:nvSpPr>
          <p:spPr bwMode="auto">
            <a:xfrm>
              <a:off x="2916324" y="4854351"/>
              <a:ext cx="149793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46" name="Line 74"/>
            <p:cNvSpPr>
              <a:spLocks noChangeShapeType="1"/>
            </p:cNvSpPr>
            <p:nvPr/>
          </p:nvSpPr>
          <p:spPr bwMode="auto">
            <a:xfrm>
              <a:off x="4694589" y="4854351"/>
              <a:ext cx="1496219"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47" name="AutoShape 75"/>
            <p:cNvSpPr>
              <a:spLocks noChangeArrowheads="1"/>
            </p:cNvSpPr>
            <p:nvPr/>
          </p:nvSpPr>
          <p:spPr bwMode="auto">
            <a:xfrm rot="1858546">
              <a:off x="4295596" y="3312889"/>
              <a:ext cx="522817" cy="206375"/>
            </a:xfrm>
            <a:prstGeom prst="rightArrow">
              <a:avLst>
                <a:gd name="adj1" fmla="val 37500"/>
                <a:gd name="adj2" fmla="val 93961"/>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48" name="Line 76"/>
            <p:cNvSpPr>
              <a:spLocks noChangeShapeType="1"/>
            </p:cNvSpPr>
            <p:nvPr/>
          </p:nvSpPr>
          <p:spPr bwMode="auto">
            <a:xfrm>
              <a:off x="1421824" y="4854352"/>
              <a:ext cx="0" cy="4540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50" name="Line 78"/>
            <p:cNvSpPr>
              <a:spLocks noChangeShapeType="1"/>
            </p:cNvSpPr>
            <p:nvPr/>
          </p:nvSpPr>
          <p:spPr bwMode="auto">
            <a:xfrm>
              <a:off x="3103780" y="4854352"/>
              <a:ext cx="0" cy="4540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51" name="Line 79"/>
            <p:cNvSpPr>
              <a:spLocks noChangeShapeType="1"/>
            </p:cNvSpPr>
            <p:nvPr/>
          </p:nvSpPr>
          <p:spPr bwMode="auto">
            <a:xfrm>
              <a:off x="4133936" y="4854351"/>
              <a:ext cx="0" cy="361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52" name="Line 80"/>
            <p:cNvSpPr>
              <a:spLocks noChangeShapeType="1"/>
            </p:cNvSpPr>
            <p:nvPr/>
          </p:nvSpPr>
          <p:spPr bwMode="auto">
            <a:xfrm>
              <a:off x="4882045" y="4854351"/>
              <a:ext cx="0" cy="361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53" name="Line 81"/>
            <p:cNvSpPr>
              <a:spLocks noChangeShapeType="1"/>
            </p:cNvSpPr>
            <p:nvPr/>
          </p:nvSpPr>
          <p:spPr bwMode="auto">
            <a:xfrm>
              <a:off x="6003349" y="4854352"/>
              <a:ext cx="0" cy="4540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1001554" name="Picture 8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2070"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1556" name="Picture 8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83900"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1557" name="Picture 8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95137"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1558" name="Picture 8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51846"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1559" name="Picture 8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61112"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1560" name="Text Box 88"/>
            <p:cNvSpPr txBox="1">
              <a:spLocks noChangeArrowheads="1"/>
            </p:cNvSpPr>
            <p:nvPr/>
          </p:nvSpPr>
          <p:spPr bwMode="auto">
            <a:xfrm>
              <a:off x="1531891" y="4667026"/>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b="1">
                  <a:solidFill>
                    <a:srgbClr val="000099"/>
                  </a:solidFill>
                  <a:latin typeface="+mn-lt"/>
                  <a:ea typeface="黑体" pitchFamily="2" charset="-122"/>
                </a:rPr>
                <a:t>…</a:t>
              </a:r>
            </a:p>
          </p:txBody>
        </p:sp>
        <p:sp>
          <p:nvSpPr>
            <p:cNvPr id="1001561" name="Text Box 89"/>
            <p:cNvSpPr txBox="1">
              <a:spLocks noChangeArrowheads="1"/>
            </p:cNvSpPr>
            <p:nvPr/>
          </p:nvSpPr>
          <p:spPr bwMode="auto">
            <a:xfrm>
              <a:off x="5069503" y="4667026"/>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b="1">
                  <a:solidFill>
                    <a:srgbClr val="000099"/>
                  </a:solidFill>
                  <a:latin typeface="+mn-lt"/>
                  <a:ea typeface="黑体" pitchFamily="2" charset="-122"/>
                </a:rPr>
                <a:t>…</a:t>
              </a:r>
            </a:p>
          </p:txBody>
        </p:sp>
        <p:sp>
          <p:nvSpPr>
            <p:cNvPr id="1001562" name="Text Box 90"/>
            <p:cNvSpPr txBox="1">
              <a:spLocks noChangeArrowheads="1"/>
            </p:cNvSpPr>
            <p:nvPr/>
          </p:nvSpPr>
          <p:spPr bwMode="auto">
            <a:xfrm>
              <a:off x="3291239" y="4854351"/>
              <a:ext cx="63632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600" b="1">
                  <a:solidFill>
                    <a:srgbClr val="000099"/>
                  </a:solidFill>
                  <a:latin typeface="+mn-lt"/>
                  <a:ea typeface="黑体" pitchFamily="2" charset="-122"/>
                </a:rPr>
                <a:t>…</a:t>
              </a:r>
            </a:p>
          </p:txBody>
        </p:sp>
        <p:sp>
          <p:nvSpPr>
            <p:cNvPr id="1001563" name="Text Box 91"/>
            <p:cNvSpPr txBox="1">
              <a:spLocks noChangeArrowheads="1"/>
            </p:cNvSpPr>
            <p:nvPr/>
          </p:nvSpPr>
          <p:spPr bwMode="auto">
            <a:xfrm>
              <a:off x="2341913" y="4268564"/>
              <a:ext cx="9220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C00000"/>
                  </a:solidFill>
                  <a:latin typeface="+mn-lt"/>
                  <a:ea typeface="黑体" pitchFamily="2" charset="-122"/>
                </a:rPr>
                <a:t>30 </a:t>
              </a:r>
              <a:r>
                <a:rPr kumimoji="1" lang="zh-CN" altLang="en-US" sz="2400" b="1">
                  <a:solidFill>
                    <a:srgbClr val="C00000"/>
                  </a:solidFill>
                  <a:latin typeface="+mn-lt"/>
                  <a:ea typeface="黑体" pitchFamily="2" charset="-122"/>
                </a:rPr>
                <a:t>个</a:t>
              </a:r>
            </a:p>
          </p:txBody>
        </p:sp>
        <p:sp>
          <p:nvSpPr>
            <p:cNvPr id="1001564" name="Text Box 92"/>
            <p:cNvSpPr txBox="1">
              <a:spLocks noChangeArrowheads="1"/>
            </p:cNvSpPr>
            <p:nvPr/>
          </p:nvSpPr>
          <p:spPr bwMode="auto">
            <a:xfrm>
              <a:off x="3877687" y="4220939"/>
              <a:ext cx="9220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C00000"/>
                  </a:solidFill>
                  <a:latin typeface="+mn-lt"/>
                  <a:ea typeface="黑体" pitchFamily="2" charset="-122"/>
                </a:rPr>
                <a:t>30 </a:t>
              </a:r>
              <a:r>
                <a:rPr kumimoji="1" lang="zh-CN" altLang="en-US" sz="2400" b="1">
                  <a:solidFill>
                    <a:srgbClr val="C00000"/>
                  </a:solidFill>
                  <a:latin typeface="+mn-lt"/>
                  <a:ea typeface="黑体" pitchFamily="2" charset="-122"/>
                </a:rPr>
                <a:t>个</a:t>
              </a:r>
            </a:p>
          </p:txBody>
        </p:sp>
        <p:sp>
          <p:nvSpPr>
            <p:cNvPr id="1001565" name="Text Box 93"/>
            <p:cNvSpPr txBox="1">
              <a:spLocks noChangeArrowheads="1"/>
            </p:cNvSpPr>
            <p:nvPr/>
          </p:nvSpPr>
          <p:spPr bwMode="auto">
            <a:xfrm>
              <a:off x="5697227" y="4149501"/>
              <a:ext cx="9220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C00000"/>
                  </a:solidFill>
                  <a:latin typeface="+mn-lt"/>
                  <a:ea typeface="黑体" pitchFamily="2" charset="-122"/>
                </a:rPr>
                <a:t>30 </a:t>
              </a:r>
              <a:r>
                <a:rPr kumimoji="1" lang="zh-CN" altLang="en-US" sz="2400" b="1">
                  <a:solidFill>
                    <a:srgbClr val="C00000"/>
                  </a:solidFill>
                  <a:latin typeface="+mn-lt"/>
                  <a:ea typeface="黑体" pitchFamily="2" charset="-122"/>
                </a:rPr>
                <a:t>个</a:t>
              </a:r>
            </a:p>
          </p:txBody>
        </p:sp>
        <p:sp>
          <p:nvSpPr>
            <p:cNvPr id="1001566" name="Text Box 94"/>
            <p:cNvSpPr txBox="1">
              <a:spLocks noChangeArrowheads="1"/>
            </p:cNvSpPr>
            <p:nvPr/>
          </p:nvSpPr>
          <p:spPr bwMode="auto">
            <a:xfrm>
              <a:off x="4735863" y="2925540"/>
              <a:ext cx="9220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C00000"/>
                  </a:solidFill>
                  <a:latin typeface="+mn-lt"/>
                  <a:ea typeface="黑体" pitchFamily="2" charset="-122"/>
                </a:rPr>
                <a:t>30 </a:t>
              </a:r>
              <a:r>
                <a:rPr kumimoji="1" lang="zh-CN" altLang="en-US" sz="2400" b="1">
                  <a:solidFill>
                    <a:srgbClr val="C00000"/>
                  </a:solidFill>
                  <a:latin typeface="+mn-lt"/>
                  <a:ea typeface="黑体" pitchFamily="2" charset="-122"/>
                </a:rPr>
                <a:t>个</a:t>
              </a:r>
            </a:p>
          </p:txBody>
        </p:sp>
        <p:sp>
          <p:nvSpPr>
            <p:cNvPr id="1001567" name="Text Box 95"/>
            <p:cNvSpPr txBox="1">
              <a:spLocks noChangeArrowheads="1"/>
            </p:cNvSpPr>
            <p:nvPr/>
          </p:nvSpPr>
          <p:spPr bwMode="auto">
            <a:xfrm>
              <a:off x="3915523" y="3476401"/>
              <a:ext cx="9220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30 </a:t>
              </a:r>
              <a:r>
                <a:rPr kumimoji="1" lang="zh-CN" altLang="en-US" sz="2400" b="1" dirty="0">
                  <a:solidFill>
                    <a:srgbClr val="C00000"/>
                  </a:solidFill>
                  <a:latin typeface="+mn-lt"/>
                  <a:ea typeface="黑体" pitchFamily="2" charset="-122"/>
                </a:rPr>
                <a:t>个</a:t>
              </a:r>
            </a:p>
          </p:txBody>
        </p:sp>
        <p:sp>
          <p:nvSpPr>
            <p:cNvPr id="1001568" name="Text Box 96"/>
            <p:cNvSpPr txBox="1">
              <a:spLocks noChangeArrowheads="1"/>
            </p:cNvSpPr>
            <p:nvPr/>
          </p:nvSpPr>
          <p:spPr bwMode="auto">
            <a:xfrm>
              <a:off x="1693552" y="2925540"/>
              <a:ext cx="9220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30 </a:t>
              </a:r>
              <a:r>
                <a:rPr kumimoji="1" lang="zh-CN" altLang="en-US" sz="2400" b="1" dirty="0">
                  <a:solidFill>
                    <a:srgbClr val="C00000"/>
                  </a:solidFill>
                  <a:latin typeface="+mn-lt"/>
                  <a:ea typeface="黑体" pitchFamily="2" charset="-122"/>
                </a:rPr>
                <a:t>个</a:t>
              </a:r>
            </a:p>
          </p:txBody>
        </p:sp>
        <p:sp>
          <p:nvSpPr>
            <p:cNvPr id="1001569" name="Text Box 97"/>
            <p:cNvSpPr txBox="1">
              <a:spLocks noChangeArrowheads="1"/>
            </p:cNvSpPr>
            <p:nvPr/>
          </p:nvSpPr>
          <p:spPr bwMode="auto">
            <a:xfrm>
              <a:off x="3980875" y="2160364"/>
              <a:ext cx="9220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90 </a:t>
              </a:r>
              <a:r>
                <a:rPr kumimoji="1" lang="zh-CN" altLang="en-US" sz="2400" b="1" dirty="0">
                  <a:solidFill>
                    <a:srgbClr val="C00000"/>
                  </a:solidFill>
                  <a:latin typeface="+mn-lt"/>
                  <a:ea typeface="黑体" pitchFamily="2" charset="-122"/>
                </a:rPr>
                <a:t>个</a:t>
              </a:r>
            </a:p>
          </p:txBody>
        </p:sp>
        <p:sp>
          <p:nvSpPr>
            <p:cNvPr id="1001571" name="AutoShape 99"/>
            <p:cNvSpPr>
              <a:spLocks noChangeArrowheads="1"/>
            </p:cNvSpPr>
            <p:nvPr/>
          </p:nvSpPr>
          <p:spPr bwMode="auto">
            <a:xfrm rot="5400000">
              <a:off x="3569315" y="2573643"/>
              <a:ext cx="503238" cy="213254"/>
            </a:xfrm>
            <a:prstGeom prst="rightArrow">
              <a:avLst>
                <a:gd name="adj1" fmla="val 37500"/>
                <a:gd name="adj2" fmla="val 102720"/>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72" name="AutoShape 100"/>
            <p:cNvSpPr>
              <a:spLocks noChangeArrowheads="1"/>
            </p:cNvSpPr>
            <p:nvPr/>
          </p:nvSpPr>
          <p:spPr bwMode="auto">
            <a:xfrm rot="5400000">
              <a:off x="3668203" y="2636416"/>
              <a:ext cx="503237" cy="211534"/>
            </a:xfrm>
            <a:prstGeom prst="rightArrow">
              <a:avLst>
                <a:gd name="adj1" fmla="val 37500"/>
                <a:gd name="adj2" fmla="val 103555"/>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73" name="AutoShape 101"/>
            <p:cNvSpPr>
              <a:spLocks noChangeArrowheads="1"/>
            </p:cNvSpPr>
            <p:nvPr/>
          </p:nvSpPr>
          <p:spPr bwMode="auto">
            <a:xfrm rot="1858546">
              <a:off x="4414262" y="3287490"/>
              <a:ext cx="521097" cy="206375"/>
            </a:xfrm>
            <a:prstGeom prst="rightArrow">
              <a:avLst>
                <a:gd name="adj1" fmla="val 37500"/>
                <a:gd name="adj2" fmla="val 93652"/>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74" name="AutoShape 102"/>
            <p:cNvSpPr>
              <a:spLocks noChangeArrowheads="1"/>
            </p:cNvSpPr>
            <p:nvPr/>
          </p:nvSpPr>
          <p:spPr bwMode="auto">
            <a:xfrm rot="1858546">
              <a:off x="4531208" y="3262090"/>
              <a:ext cx="521097" cy="204787"/>
            </a:xfrm>
            <a:prstGeom prst="rightArrow">
              <a:avLst>
                <a:gd name="adj1" fmla="val 37500"/>
                <a:gd name="adj2" fmla="val 94378"/>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grpSp>
          <p:nvGrpSpPr>
            <p:cNvPr id="1001575" name="Group 103"/>
            <p:cNvGrpSpPr>
              <a:grpSpLocks/>
            </p:cNvGrpSpPr>
            <p:nvPr/>
          </p:nvGrpSpPr>
          <p:grpSpPr bwMode="auto">
            <a:xfrm>
              <a:off x="5396264" y="4235226"/>
              <a:ext cx="441986" cy="655638"/>
              <a:chOff x="2222" y="1578"/>
              <a:chExt cx="215" cy="328"/>
            </a:xfrm>
            <a:solidFill>
              <a:schemeClr val="accent2"/>
            </a:solidFill>
          </p:grpSpPr>
          <p:sp>
            <p:nvSpPr>
              <p:cNvPr id="1001576" name="AutoShape 104"/>
              <p:cNvSpPr>
                <a:spLocks noChangeArrowheads="1"/>
              </p:cNvSpPr>
              <p:nvPr/>
            </p:nvSpPr>
            <p:spPr bwMode="auto">
              <a:xfrm rot="5400000">
                <a:off x="2148" y="1652"/>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77" name="AutoShape 105"/>
              <p:cNvSpPr>
                <a:spLocks noChangeArrowheads="1"/>
              </p:cNvSpPr>
              <p:nvPr/>
            </p:nvSpPr>
            <p:spPr bwMode="auto">
              <a:xfrm rot="5400000">
                <a:off x="2204" y="1690"/>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78" name="AutoShape 106"/>
              <p:cNvSpPr>
                <a:spLocks noChangeArrowheads="1"/>
              </p:cNvSpPr>
              <p:nvPr/>
            </p:nvSpPr>
            <p:spPr bwMode="auto">
              <a:xfrm rot="5400000">
                <a:off x="2260" y="1728"/>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sp>
          <p:nvSpPr>
            <p:cNvPr id="1001579" name="AutoShape 107"/>
            <p:cNvSpPr>
              <a:spLocks noChangeArrowheads="1"/>
            </p:cNvSpPr>
            <p:nvPr/>
          </p:nvSpPr>
          <p:spPr bwMode="auto">
            <a:xfrm rot="5400000">
              <a:off x="3767091" y="2699056"/>
              <a:ext cx="503237" cy="213254"/>
            </a:xfrm>
            <a:prstGeom prst="rightArrow">
              <a:avLst>
                <a:gd name="adj1" fmla="val 37500"/>
                <a:gd name="adj2" fmla="val 102720"/>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80" name="AutoShape 108"/>
            <p:cNvSpPr>
              <a:spLocks noChangeArrowheads="1"/>
            </p:cNvSpPr>
            <p:nvPr/>
          </p:nvSpPr>
          <p:spPr bwMode="auto">
            <a:xfrm rot="5400000">
              <a:off x="3865979" y="2761828"/>
              <a:ext cx="503238" cy="211535"/>
            </a:xfrm>
            <a:prstGeom prst="rightArrow">
              <a:avLst>
                <a:gd name="adj1" fmla="val 37500"/>
                <a:gd name="adj2" fmla="val 103555"/>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81" name="AutoShape 109"/>
            <p:cNvSpPr>
              <a:spLocks noChangeArrowheads="1"/>
            </p:cNvSpPr>
            <p:nvPr/>
          </p:nvSpPr>
          <p:spPr bwMode="auto">
            <a:xfrm rot="5400000">
              <a:off x="3963147" y="2822881"/>
              <a:ext cx="503237" cy="213254"/>
            </a:xfrm>
            <a:prstGeom prst="rightArrow">
              <a:avLst>
                <a:gd name="adj1" fmla="val 37500"/>
                <a:gd name="adj2" fmla="val 102720"/>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82" name="AutoShape 110"/>
            <p:cNvSpPr>
              <a:spLocks noChangeArrowheads="1"/>
            </p:cNvSpPr>
            <p:nvPr/>
          </p:nvSpPr>
          <p:spPr bwMode="auto">
            <a:xfrm rot="8740270">
              <a:off x="2355672" y="3325590"/>
              <a:ext cx="521096" cy="206375"/>
            </a:xfrm>
            <a:prstGeom prst="rightArrow">
              <a:avLst>
                <a:gd name="adj1" fmla="val 37500"/>
                <a:gd name="adj2" fmla="val 93652"/>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83" name="AutoShape 111"/>
            <p:cNvSpPr>
              <a:spLocks noChangeArrowheads="1"/>
            </p:cNvSpPr>
            <p:nvPr/>
          </p:nvSpPr>
          <p:spPr bwMode="auto">
            <a:xfrm rot="8740270">
              <a:off x="2262803" y="3287490"/>
              <a:ext cx="521096" cy="206375"/>
            </a:xfrm>
            <a:prstGeom prst="rightArrow">
              <a:avLst>
                <a:gd name="adj1" fmla="val 37500"/>
                <a:gd name="adj2" fmla="val 93652"/>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grpSp>
          <p:nvGrpSpPr>
            <p:cNvPr id="1001584" name="Group 112"/>
            <p:cNvGrpSpPr>
              <a:grpSpLocks/>
            </p:cNvGrpSpPr>
            <p:nvPr/>
          </p:nvGrpSpPr>
          <p:grpSpPr bwMode="auto">
            <a:xfrm>
              <a:off x="3571564" y="4219351"/>
              <a:ext cx="443706" cy="655638"/>
              <a:chOff x="2222" y="1578"/>
              <a:chExt cx="215" cy="328"/>
            </a:xfrm>
            <a:solidFill>
              <a:schemeClr val="accent2"/>
            </a:solidFill>
          </p:grpSpPr>
          <p:sp>
            <p:nvSpPr>
              <p:cNvPr id="1001585" name="AutoShape 113"/>
              <p:cNvSpPr>
                <a:spLocks noChangeArrowheads="1"/>
              </p:cNvSpPr>
              <p:nvPr/>
            </p:nvSpPr>
            <p:spPr bwMode="auto">
              <a:xfrm rot="5400000">
                <a:off x="2148" y="1652"/>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86" name="AutoShape 114"/>
              <p:cNvSpPr>
                <a:spLocks noChangeArrowheads="1"/>
              </p:cNvSpPr>
              <p:nvPr/>
            </p:nvSpPr>
            <p:spPr bwMode="auto">
              <a:xfrm rot="5400000">
                <a:off x="2204" y="1690"/>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87" name="AutoShape 115"/>
              <p:cNvSpPr>
                <a:spLocks noChangeArrowheads="1"/>
              </p:cNvSpPr>
              <p:nvPr/>
            </p:nvSpPr>
            <p:spPr bwMode="auto">
              <a:xfrm rot="5400000">
                <a:off x="2260" y="1728"/>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grpSp>
          <p:nvGrpSpPr>
            <p:cNvPr id="1001588" name="Group 116"/>
            <p:cNvGrpSpPr>
              <a:grpSpLocks/>
            </p:cNvGrpSpPr>
            <p:nvPr/>
          </p:nvGrpSpPr>
          <p:grpSpPr bwMode="auto">
            <a:xfrm>
              <a:off x="2004835" y="4289201"/>
              <a:ext cx="443706" cy="655638"/>
              <a:chOff x="2222" y="1578"/>
              <a:chExt cx="215" cy="328"/>
            </a:xfrm>
            <a:solidFill>
              <a:schemeClr val="accent2"/>
            </a:solidFill>
          </p:grpSpPr>
          <p:sp>
            <p:nvSpPr>
              <p:cNvPr id="1001589" name="AutoShape 117"/>
              <p:cNvSpPr>
                <a:spLocks noChangeArrowheads="1"/>
              </p:cNvSpPr>
              <p:nvPr/>
            </p:nvSpPr>
            <p:spPr bwMode="auto">
              <a:xfrm rot="5400000">
                <a:off x="2148" y="1652"/>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90" name="AutoShape 118"/>
              <p:cNvSpPr>
                <a:spLocks noChangeArrowheads="1"/>
              </p:cNvSpPr>
              <p:nvPr/>
            </p:nvSpPr>
            <p:spPr bwMode="auto">
              <a:xfrm rot="5400000">
                <a:off x="2204" y="1690"/>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91" name="AutoShape 119"/>
              <p:cNvSpPr>
                <a:spLocks noChangeArrowheads="1"/>
              </p:cNvSpPr>
              <p:nvPr/>
            </p:nvSpPr>
            <p:spPr bwMode="auto">
              <a:xfrm rot="5400000">
                <a:off x="2260" y="1728"/>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grpSp>
          <p:nvGrpSpPr>
            <p:cNvPr id="1001592" name="Group 120"/>
            <p:cNvGrpSpPr>
              <a:grpSpLocks/>
            </p:cNvGrpSpPr>
            <p:nvPr/>
          </p:nvGrpSpPr>
          <p:grpSpPr bwMode="auto">
            <a:xfrm>
              <a:off x="3571564" y="3292251"/>
              <a:ext cx="443706" cy="655638"/>
              <a:chOff x="2222" y="1578"/>
              <a:chExt cx="215" cy="328"/>
            </a:xfrm>
            <a:solidFill>
              <a:schemeClr val="accent2"/>
            </a:solidFill>
          </p:grpSpPr>
          <p:sp>
            <p:nvSpPr>
              <p:cNvPr id="1001593" name="AutoShape 121"/>
              <p:cNvSpPr>
                <a:spLocks noChangeArrowheads="1"/>
              </p:cNvSpPr>
              <p:nvPr/>
            </p:nvSpPr>
            <p:spPr bwMode="auto">
              <a:xfrm rot="5400000">
                <a:off x="2148" y="1652"/>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94" name="AutoShape 122"/>
              <p:cNvSpPr>
                <a:spLocks noChangeArrowheads="1"/>
              </p:cNvSpPr>
              <p:nvPr/>
            </p:nvSpPr>
            <p:spPr bwMode="auto">
              <a:xfrm rot="5400000">
                <a:off x="2204" y="1690"/>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95" name="AutoShape 123"/>
              <p:cNvSpPr>
                <a:spLocks noChangeArrowheads="1"/>
              </p:cNvSpPr>
              <p:nvPr/>
            </p:nvSpPr>
            <p:spPr bwMode="auto">
              <a:xfrm rot="5400000">
                <a:off x="2260" y="1728"/>
                <a:ext cx="252" cy="103"/>
              </a:xfrm>
              <a:prstGeom prst="rightArrow">
                <a:avLst>
                  <a:gd name="adj1" fmla="val 37500"/>
                  <a:gd name="adj2" fmla="val 98306"/>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grpSp>
      <p:sp>
        <p:nvSpPr>
          <p:cNvPr id="1001598" name="Text Box 126"/>
          <p:cNvSpPr txBox="1">
            <a:spLocks noChangeArrowheads="1"/>
          </p:cNvSpPr>
          <p:nvPr/>
        </p:nvSpPr>
        <p:spPr bwMode="auto">
          <a:xfrm>
            <a:off x="6177136" y="1829142"/>
            <a:ext cx="3647368" cy="181588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square">
            <a:spAutoFit/>
          </a:bodyPr>
          <a:lstStyle/>
          <a:p>
            <a:pPr algn="ctr"/>
            <a:r>
              <a:rPr kumimoji="1" lang="zh-CN" altLang="en-US" sz="2800" b="1" dirty="0">
                <a:solidFill>
                  <a:srgbClr val="000099"/>
                </a:solidFill>
                <a:ea typeface="黑体" pitchFamily="2" charset="-122"/>
              </a:rPr>
              <a:t>采用</a:t>
            </a:r>
            <a:r>
              <a:rPr kumimoji="1" lang="zh-CN" altLang="zh-CN" sz="2800" b="1" dirty="0">
                <a:solidFill>
                  <a:srgbClr val="000099"/>
                </a:solidFill>
                <a:latin typeface="+mn-lt"/>
                <a:ea typeface="黑体" pitchFamily="2" charset="-122"/>
              </a:rPr>
              <a:t>单播方式</a:t>
            </a:r>
            <a:r>
              <a:rPr kumimoji="1" lang="zh-CN" altLang="en-US" sz="2800" b="1" dirty="0">
                <a:solidFill>
                  <a:srgbClr val="000099"/>
                </a:solidFill>
                <a:latin typeface="+mn-lt"/>
                <a:ea typeface="黑体" pitchFamily="2" charset="-122"/>
              </a:rPr>
              <a:t>，</a:t>
            </a:r>
            <a:endParaRPr kumimoji="1" lang="en-US" altLang="zh-CN" sz="2800" b="1" dirty="0">
              <a:solidFill>
                <a:srgbClr val="000099"/>
              </a:solidFill>
              <a:latin typeface="+mn-lt"/>
              <a:ea typeface="黑体" pitchFamily="2" charset="-122"/>
            </a:endParaRPr>
          </a:p>
          <a:p>
            <a:pPr algn="ctr"/>
            <a:r>
              <a:rPr kumimoji="1" lang="zh-CN" altLang="zh-CN" sz="2800" b="1" dirty="0">
                <a:solidFill>
                  <a:srgbClr val="000099"/>
                </a:solidFill>
                <a:latin typeface="+mn-lt"/>
                <a:ea typeface="黑体" pitchFamily="2" charset="-122"/>
              </a:rPr>
              <a:t>向</a:t>
            </a:r>
            <a:r>
              <a:rPr kumimoji="1" lang="en-US" altLang="zh-CN" sz="2800" b="1" dirty="0">
                <a:solidFill>
                  <a:srgbClr val="000099"/>
                </a:solidFill>
                <a:latin typeface="+mn-lt"/>
                <a:ea typeface="黑体" pitchFamily="2" charset="-122"/>
              </a:rPr>
              <a:t> 90 </a:t>
            </a:r>
            <a:r>
              <a:rPr kumimoji="1" lang="zh-CN" altLang="zh-CN" sz="2800" b="1" dirty="0">
                <a:solidFill>
                  <a:srgbClr val="000099"/>
                </a:solidFill>
                <a:latin typeface="+mn-lt"/>
                <a:ea typeface="黑体" pitchFamily="2" charset="-122"/>
              </a:rPr>
              <a:t>台主机传送</a:t>
            </a:r>
            <a:endParaRPr kumimoji="1" lang="en-US" altLang="zh-CN" sz="2800" b="1" dirty="0">
              <a:solidFill>
                <a:srgbClr val="000099"/>
              </a:solidFill>
              <a:latin typeface="+mn-lt"/>
              <a:ea typeface="黑体" pitchFamily="2" charset="-122"/>
            </a:endParaRPr>
          </a:p>
          <a:p>
            <a:pPr algn="ctr"/>
            <a:r>
              <a:rPr kumimoji="1" lang="zh-CN" altLang="zh-CN" sz="2800" b="1" dirty="0">
                <a:solidFill>
                  <a:srgbClr val="000099"/>
                </a:solidFill>
                <a:latin typeface="+mn-lt"/>
                <a:ea typeface="黑体" pitchFamily="2" charset="-122"/>
              </a:rPr>
              <a:t>同样的视频节目</a:t>
            </a:r>
            <a:endParaRPr kumimoji="1" lang="en-US" altLang="zh-CN" sz="2800" b="1" dirty="0">
              <a:solidFill>
                <a:srgbClr val="000099"/>
              </a:solidFill>
              <a:latin typeface="+mn-lt"/>
              <a:ea typeface="黑体" pitchFamily="2" charset="-122"/>
            </a:endParaRPr>
          </a:p>
          <a:p>
            <a:pPr algn="ctr"/>
            <a:r>
              <a:rPr kumimoji="1" lang="zh-CN" altLang="zh-CN" sz="2800" b="1" dirty="0">
                <a:solidFill>
                  <a:srgbClr val="000099"/>
                </a:solidFill>
                <a:latin typeface="+mn-lt"/>
                <a:ea typeface="黑体" pitchFamily="2" charset="-122"/>
              </a:rPr>
              <a:t>需要发送</a:t>
            </a:r>
            <a:r>
              <a:rPr kumimoji="1" lang="en-US" altLang="zh-CN" sz="2800" b="1" dirty="0">
                <a:solidFill>
                  <a:srgbClr val="000099"/>
                </a:solidFill>
                <a:latin typeface="+mn-lt"/>
                <a:ea typeface="黑体" pitchFamily="2" charset="-122"/>
              </a:rPr>
              <a:t> 90 </a:t>
            </a:r>
            <a:r>
              <a:rPr kumimoji="1" lang="zh-CN" altLang="zh-CN" sz="2800" b="1" dirty="0">
                <a:solidFill>
                  <a:srgbClr val="000099"/>
                </a:solidFill>
                <a:latin typeface="+mn-lt"/>
                <a:ea typeface="黑体" pitchFamily="2" charset="-122"/>
              </a:rPr>
              <a:t>个单播</a:t>
            </a:r>
            <a:endParaRPr kumimoji="1" lang="zh-CN" altLang="en-US" sz="2800" b="1" dirty="0">
              <a:solidFill>
                <a:srgbClr val="000099"/>
              </a:solidFill>
              <a:latin typeface="+mn-lt"/>
              <a:ea typeface="黑体" pitchFamily="2" charset="-122"/>
            </a:endParaRPr>
          </a:p>
        </p:txBody>
      </p:sp>
      <p:sp>
        <p:nvSpPr>
          <p:cNvPr id="79" name="矩形 78"/>
          <p:cNvSpPr/>
          <p:nvPr/>
        </p:nvSpPr>
        <p:spPr>
          <a:xfrm>
            <a:off x="2734853" y="6219283"/>
            <a:ext cx="1872139" cy="461665"/>
          </a:xfrm>
          <a:prstGeom prst="rect">
            <a:avLst/>
          </a:prstGeom>
        </p:spPr>
        <p:txBody>
          <a:bodyPr wrap="square">
            <a:spAutoFit/>
          </a:bodyPr>
          <a:lstStyle/>
          <a:p>
            <a:pPr algn="ctr"/>
            <a:r>
              <a:rPr lang="zh-CN" altLang="zh-CN" sz="2400" b="1" dirty="0">
                <a:latin typeface="+mn-lt"/>
                <a:ea typeface="黑体" pitchFamily="2" charset="-122"/>
              </a:rPr>
              <a:t>单播</a:t>
            </a:r>
            <a:endParaRPr lang="zh-CN" altLang="en-US" sz="2400" b="1" dirty="0">
              <a:latin typeface="+mn-lt"/>
              <a:ea typeface="黑体" pitchFamily="2" charset="-122"/>
            </a:endParaRPr>
          </a:p>
        </p:txBody>
      </p:sp>
    </p:spTree>
    <p:extLst>
      <p:ext uri="{BB962C8B-B14F-4D97-AF65-F5344CB8AC3E}">
        <p14:creationId xmlns:p14="http://schemas.microsoft.com/office/powerpoint/2010/main" val="359306449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599" name="Rectangle 127"/>
          <p:cNvSpPr>
            <a:spLocks noGrp="1" noChangeArrowheads="1"/>
          </p:cNvSpPr>
          <p:nvPr>
            <p:ph type="title"/>
          </p:nvPr>
        </p:nvSpPr>
        <p:spPr>
          <a:noFill/>
          <a:ln/>
        </p:spPr>
        <p:txBody>
          <a:bodyPr/>
          <a:lstStyle/>
          <a:p>
            <a:pPr algn="ctr"/>
            <a:r>
              <a:rPr lang="zh-CN" altLang="zh-CN" dirty="0"/>
              <a:t>多播可大大节约网络资源</a:t>
            </a:r>
            <a:endParaRPr lang="zh-CN" altLang="en-US" sz="4000" dirty="0"/>
          </a:p>
        </p:txBody>
      </p:sp>
      <p:sp>
        <p:nvSpPr>
          <p:cNvPr id="1001598" name="Text Box 126"/>
          <p:cNvSpPr txBox="1">
            <a:spLocks noChangeArrowheads="1"/>
          </p:cNvSpPr>
          <p:nvPr/>
        </p:nvSpPr>
        <p:spPr bwMode="auto">
          <a:xfrm>
            <a:off x="5859333" y="1268760"/>
            <a:ext cx="3990211" cy="193899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square">
            <a:spAutoFit/>
          </a:bodyPr>
          <a:lstStyle/>
          <a:p>
            <a:pPr algn="ctr"/>
            <a:r>
              <a:rPr kumimoji="1" lang="zh-CN" altLang="en-US" sz="2400" b="1" dirty="0">
                <a:solidFill>
                  <a:srgbClr val="000099"/>
                </a:solidFill>
                <a:latin typeface="+mn-lt"/>
                <a:ea typeface="黑体" pitchFamily="2" charset="-122"/>
              </a:rPr>
              <a:t>采用</a:t>
            </a:r>
            <a:r>
              <a:rPr kumimoji="1" lang="zh-CN" altLang="zh-CN" sz="2400" b="1" dirty="0">
                <a:solidFill>
                  <a:srgbClr val="000099"/>
                </a:solidFill>
                <a:latin typeface="+mn-lt"/>
                <a:ea typeface="黑体" pitchFamily="2" charset="-122"/>
              </a:rPr>
              <a:t>多播</a:t>
            </a:r>
            <a:r>
              <a:rPr kumimoji="1" lang="zh-CN" altLang="en-US" sz="2400" b="1" dirty="0">
                <a:solidFill>
                  <a:srgbClr val="000099"/>
                </a:solidFill>
                <a:latin typeface="+mn-lt"/>
                <a:ea typeface="黑体" pitchFamily="2" charset="-122"/>
              </a:rPr>
              <a:t>方式，</a:t>
            </a:r>
            <a:endParaRPr kumimoji="1" lang="en-US" altLang="zh-CN" sz="2400" b="1" dirty="0">
              <a:solidFill>
                <a:srgbClr val="000099"/>
              </a:solidFill>
              <a:latin typeface="+mn-lt"/>
              <a:ea typeface="黑体" pitchFamily="2" charset="-122"/>
            </a:endParaRPr>
          </a:p>
          <a:p>
            <a:pPr algn="ctr"/>
            <a:r>
              <a:rPr kumimoji="1" lang="zh-CN" altLang="zh-CN" sz="2400" b="1" dirty="0">
                <a:solidFill>
                  <a:srgbClr val="000099"/>
                </a:solidFill>
                <a:latin typeface="+mn-lt"/>
                <a:ea typeface="黑体" pitchFamily="2" charset="-122"/>
              </a:rPr>
              <a:t>只需发送一次</a:t>
            </a:r>
            <a:r>
              <a:rPr kumimoji="1" lang="zh-CN" altLang="en-US" sz="2400" b="1" dirty="0">
                <a:solidFill>
                  <a:srgbClr val="000099"/>
                </a:solidFill>
                <a:latin typeface="+mn-lt"/>
                <a:ea typeface="黑体" pitchFamily="2" charset="-122"/>
              </a:rPr>
              <a:t>到多播组</a:t>
            </a:r>
            <a:r>
              <a:rPr kumimoji="1" lang="zh-CN" altLang="zh-CN" sz="2400" b="1" dirty="0">
                <a:solidFill>
                  <a:srgbClr val="000099"/>
                </a:solidFill>
                <a:latin typeface="+mn-lt"/>
                <a:ea typeface="黑体" pitchFamily="2" charset="-122"/>
              </a:rPr>
              <a:t>。</a:t>
            </a:r>
            <a:endParaRPr kumimoji="1" lang="en-US" altLang="zh-CN" sz="2400" b="1" dirty="0">
              <a:solidFill>
                <a:srgbClr val="000099"/>
              </a:solidFill>
              <a:latin typeface="+mn-lt"/>
              <a:ea typeface="黑体" pitchFamily="2" charset="-122"/>
            </a:endParaRPr>
          </a:p>
          <a:p>
            <a:pPr algn="ctr"/>
            <a:r>
              <a:rPr kumimoji="1" lang="zh-CN" altLang="zh-CN" sz="2400" b="1" dirty="0">
                <a:solidFill>
                  <a:srgbClr val="000099"/>
                </a:solidFill>
                <a:latin typeface="+mn-lt"/>
                <a:ea typeface="黑体" pitchFamily="2" charset="-122"/>
              </a:rPr>
              <a:t>路由器复制</a:t>
            </a:r>
            <a:r>
              <a:rPr kumimoji="1" lang="zh-CN" altLang="en-US" sz="2400" b="1" dirty="0">
                <a:solidFill>
                  <a:srgbClr val="000099"/>
                </a:solidFill>
                <a:latin typeface="+mn-lt"/>
                <a:ea typeface="黑体" pitchFamily="2" charset="-122"/>
              </a:rPr>
              <a:t>分组。</a:t>
            </a:r>
            <a:endParaRPr kumimoji="1" lang="en-US" altLang="zh-CN" sz="2400" b="1" dirty="0">
              <a:solidFill>
                <a:srgbClr val="000099"/>
              </a:solidFill>
              <a:latin typeface="+mn-lt"/>
              <a:ea typeface="黑体" pitchFamily="2" charset="-122"/>
            </a:endParaRPr>
          </a:p>
          <a:p>
            <a:pPr algn="ctr"/>
            <a:r>
              <a:rPr kumimoji="1" lang="zh-CN" altLang="zh-CN" sz="2400" b="1" dirty="0">
                <a:solidFill>
                  <a:srgbClr val="000099"/>
                </a:solidFill>
                <a:latin typeface="+mn-lt"/>
                <a:ea typeface="黑体" pitchFamily="2" charset="-122"/>
              </a:rPr>
              <a:t>局域网具有硬件多播功能，不需要复制分组</a:t>
            </a:r>
            <a:r>
              <a:rPr kumimoji="1" lang="zh-CN" altLang="en-US" sz="2400" b="1" dirty="0">
                <a:solidFill>
                  <a:srgbClr val="000099"/>
                </a:solidFill>
                <a:latin typeface="+mn-lt"/>
                <a:ea typeface="黑体" pitchFamily="2" charset="-122"/>
              </a:rPr>
              <a:t>。</a:t>
            </a:r>
          </a:p>
        </p:txBody>
      </p:sp>
      <p:sp>
        <p:nvSpPr>
          <p:cNvPr id="81" name="Text Box 126"/>
          <p:cNvSpPr txBox="1">
            <a:spLocks noChangeArrowheads="1"/>
          </p:cNvSpPr>
          <p:nvPr/>
        </p:nvSpPr>
        <p:spPr bwMode="auto">
          <a:xfrm>
            <a:off x="6262816" y="3356992"/>
            <a:ext cx="3586728" cy="1569660"/>
          </a:xfrm>
          <a:prstGeom prst="rect">
            <a:avLst/>
          </a:prstGeom>
          <a:solidFill>
            <a:srgbClr val="66FF66"/>
          </a:solidFill>
          <a:ln w="9525">
            <a:solidFill>
              <a:schemeClr val="folHlink"/>
            </a:solidFill>
            <a:miter lim="800000"/>
            <a:headEnd/>
            <a:tailEnd/>
          </a:ln>
          <a:effectLst>
            <a:outerShdw dist="35921" dir="2700000" algn="ctr" rotWithShape="0">
              <a:schemeClr val="bg2"/>
            </a:outerShdw>
          </a:effectLst>
        </p:spPr>
        <p:txBody>
          <a:bodyPr wrap="square">
            <a:spAutoFit/>
          </a:bodyPr>
          <a:lstStyle/>
          <a:p>
            <a:pPr algn="ctr"/>
            <a:r>
              <a:rPr kumimoji="1" lang="zh-CN" altLang="zh-CN" sz="2400" b="1" dirty="0">
                <a:solidFill>
                  <a:srgbClr val="000099"/>
                </a:solidFill>
                <a:latin typeface="+mn-lt"/>
                <a:ea typeface="黑体" pitchFamily="2" charset="-122"/>
              </a:rPr>
              <a:t>当多播组的主机数很大时（如成千上万个），采用多播方式就可明显地减轻网络中各种资源的消耗</a:t>
            </a:r>
            <a:r>
              <a:rPr kumimoji="1" lang="zh-CN" altLang="en-US" sz="2400" b="1" dirty="0">
                <a:solidFill>
                  <a:srgbClr val="000099"/>
                </a:solidFill>
                <a:latin typeface="+mn-lt"/>
                <a:ea typeface="黑体" pitchFamily="2" charset="-122"/>
              </a:rPr>
              <a:t>。</a:t>
            </a:r>
          </a:p>
        </p:txBody>
      </p:sp>
      <p:grpSp>
        <p:nvGrpSpPr>
          <p:cNvPr id="5" name="组合 4"/>
          <p:cNvGrpSpPr/>
          <p:nvPr/>
        </p:nvGrpSpPr>
        <p:grpSpPr>
          <a:xfrm>
            <a:off x="560512" y="1196752"/>
            <a:ext cx="5647070" cy="5484196"/>
            <a:chOff x="560512" y="1196752"/>
            <a:chExt cx="5647070" cy="5484196"/>
          </a:xfrm>
        </p:grpSpPr>
        <p:sp>
          <p:nvSpPr>
            <p:cNvPr id="1001549" name="Line 77"/>
            <p:cNvSpPr>
              <a:spLocks noChangeShapeType="1"/>
            </p:cNvSpPr>
            <p:nvPr/>
          </p:nvSpPr>
          <p:spPr bwMode="auto">
            <a:xfrm>
              <a:off x="2211656" y="4854351"/>
              <a:ext cx="0" cy="361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1001555" name="Picture 8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41901"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1524" name="Line 52"/>
            <p:cNvSpPr>
              <a:spLocks noChangeShapeType="1"/>
            </p:cNvSpPr>
            <p:nvPr/>
          </p:nvSpPr>
          <p:spPr bwMode="auto">
            <a:xfrm flipV="1">
              <a:off x="1931329" y="3131914"/>
              <a:ext cx="1401631" cy="9064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5" name="Line 53"/>
            <p:cNvSpPr>
              <a:spLocks noChangeShapeType="1"/>
            </p:cNvSpPr>
            <p:nvPr/>
          </p:nvSpPr>
          <p:spPr bwMode="auto">
            <a:xfrm flipV="1">
              <a:off x="3427548" y="1952401"/>
              <a:ext cx="0" cy="996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6" name="Line 54"/>
            <p:cNvSpPr>
              <a:spLocks noChangeShapeType="1"/>
            </p:cNvSpPr>
            <p:nvPr/>
          </p:nvSpPr>
          <p:spPr bwMode="auto">
            <a:xfrm flipH="1" flipV="1">
              <a:off x="3427548" y="3131914"/>
              <a:ext cx="0" cy="9064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7" name="Line 55"/>
            <p:cNvSpPr>
              <a:spLocks noChangeShapeType="1"/>
            </p:cNvSpPr>
            <p:nvPr/>
          </p:nvSpPr>
          <p:spPr bwMode="auto">
            <a:xfrm>
              <a:off x="5205812" y="4038377"/>
              <a:ext cx="0" cy="8159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8" name="Line 56"/>
            <p:cNvSpPr>
              <a:spLocks noChangeShapeType="1"/>
            </p:cNvSpPr>
            <p:nvPr/>
          </p:nvSpPr>
          <p:spPr bwMode="auto">
            <a:xfrm flipV="1">
              <a:off x="3427548" y="4038377"/>
              <a:ext cx="0" cy="8159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29" name="Line 57"/>
            <p:cNvSpPr>
              <a:spLocks noChangeShapeType="1"/>
            </p:cNvSpPr>
            <p:nvPr/>
          </p:nvSpPr>
          <p:spPr bwMode="auto">
            <a:xfrm>
              <a:off x="1838460" y="4038377"/>
              <a:ext cx="0" cy="8159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30" name="Line 58"/>
            <p:cNvSpPr>
              <a:spLocks noChangeShapeType="1"/>
            </p:cNvSpPr>
            <p:nvPr/>
          </p:nvSpPr>
          <p:spPr bwMode="auto">
            <a:xfrm>
              <a:off x="3616725" y="3131914"/>
              <a:ext cx="1589088" cy="9064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31" name="Text Box 59"/>
            <p:cNvSpPr txBox="1">
              <a:spLocks noChangeArrowheads="1"/>
            </p:cNvSpPr>
            <p:nvPr/>
          </p:nvSpPr>
          <p:spPr bwMode="auto">
            <a:xfrm>
              <a:off x="1686480" y="5695027"/>
              <a:ext cx="366959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00099"/>
                  </a:solidFill>
                  <a:ea typeface="黑体" pitchFamily="2" charset="-122"/>
                </a:rPr>
                <a:t>多播组成员共有 </a:t>
              </a:r>
              <a:r>
                <a:rPr kumimoji="1" lang="en-US" altLang="zh-CN" sz="2800" b="1" dirty="0">
                  <a:solidFill>
                    <a:srgbClr val="000099"/>
                  </a:solidFill>
                  <a:ea typeface="黑体" pitchFamily="2" charset="-122"/>
                </a:rPr>
                <a:t>90 </a:t>
              </a:r>
              <a:r>
                <a:rPr kumimoji="1" lang="zh-CN" altLang="en-US" sz="2800" b="1" dirty="0">
                  <a:solidFill>
                    <a:srgbClr val="000099"/>
                  </a:solidFill>
                  <a:ea typeface="黑体" pitchFamily="2" charset="-122"/>
                </a:rPr>
                <a:t>个</a:t>
              </a:r>
              <a:endParaRPr kumimoji="1" lang="zh-CN" altLang="en-US" sz="2800" b="1" dirty="0">
                <a:solidFill>
                  <a:srgbClr val="000099"/>
                </a:solidFill>
                <a:latin typeface="+mn-lt"/>
                <a:ea typeface="黑体" pitchFamily="2" charset="-122"/>
              </a:endParaRPr>
            </a:p>
          </p:txBody>
        </p:sp>
        <p:sp>
          <p:nvSpPr>
            <p:cNvPr id="1001532" name="AutoShape 60"/>
            <p:cNvSpPr>
              <a:spLocks noChangeArrowheads="1"/>
            </p:cNvSpPr>
            <p:nvPr/>
          </p:nvSpPr>
          <p:spPr bwMode="auto">
            <a:xfrm rot="5400000">
              <a:off x="3325618" y="2510210"/>
              <a:ext cx="504825" cy="211535"/>
            </a:xfrm>
            <a:prstGeom prst="rightArrow">
              <a:avLst>
                <a:gd name="adj1" fmla="val 37500"/>
                <a:gd name="adj2" fmla="val 103881"/>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33" name="AutoShape 61"/>
            <p:cNvSpPr>
              <a:spLocks noChangeArrowheads="1"/>
            </p:cNvSpPr>
            <p:nvPr/>
          </p:nvSpPr>
          <p:spPr bwMode="auto">
            <a:xfrm rot="8740270">
              <a:off x="2302805" y="3362101"/>
              <a:ext cx="521097" cy="204788"/>
            </a:xfrm>
            <a:prstGeom prst="rightArrow">
              <a:avLst>
                <a:gd name="adj1" fmla="val 37500"/>
                <a:gd name="adj2" fmla="val 94377"/>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pic>
          <p:nvPicPr>
            <p:cNvPr id="1001534" name="Picture 6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76459" y="2933476"/>
              <a:ext cx="533135" cy="28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001535" name="Text Box 63"/>
            <p:cNvSpPr txBox="1">
              <a:spLocks noChangeArrowheads="1"/>
            </p:cNvSpPr>
            <p:nvPr/>
          </p:nvSpPr>
          <p:spPr bwMode="auto">
            <a:xfrm>
              <a:off x="2772308" y="2493739"/>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R</a:t>
              </a:r>
              <a:r>
                <a:rPr kumimoji="1" lang="en-US" altLang="zh-CN" sz="2400" b="1" baseline="-25000">
                  <a:solidFill>
                    <a:srgbClr val="000099"/>
                  </a:solidFill>
                  <a:latin typeface="+mn-lt"/>
                  <a:ea typeface="黑体" pitchFamily="2" charset="-122"/>
                </a:rPr>
                <a:t>1</a:t>
              </a:r>
              <a:endParaRPr kumimoji="1" lang="en-US" altLang="zh-CN" sz="2400" b="1">
                <a:solidFill>
                  <a:srgbClr val="000099"/>
                </a:solidFill>
                <a:latin typeface="+mn-lt"/>
                <a:ea typeface="黑体" pitchFamily="2" charset="-122"/>
              </a:endParaRPr>
            </a:p>
          </p:txBody>
        </p:sp>
        <p:sp>
          <p:nvSpPr>
            <p:cNvPr id="1001536" name="Text Box 64"/>
            <p:cNvSpPr txBox="1">
              <a:spLocks noChangeArrowheads="1"/>
            </p:cNvSpPr>
            <p:nvPr/>
          </p:nvSpPr>
          <p:spPr bwMode="auto">
            <a:xfrm>
              <a:off x="2718994" y="3643089"/>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R</a:t>
              </a:r>
              <a:r>
                <a:rPr kumimoji="1" lang="en-US" altLang="zh-CN" sz="2400" b="1" baseline="-25000">
                  <a:solidFill>
                    <a:srgbClr val="000099"/>
                  </a:solidFill>
                  <a:latin typeface="+mn-lt"/>
                  <a:ea typeface="黑体" pitchFamily="2" charset="-122"/>
                </a:rPr>
                <a:t>3</a:t>
              </a:r>
              <a:endParaRPr kumimoji="1" lang="en-US" altLang="zh-CN" sz="2400" b="1">
                <a:solidFill>
                  <a:srgbClr val="000099"/>
                </a:solidFill>
                <a:latin typeface="+mn-lt"/>
                <a:ea typeface="黑体" pitchFamily="2" charset="-122"/>
              </a:endParaRPr>
            </a:p>
          </p:txBody>
        </p:sp>
        <p:sp>
          <p:nvSpPr>
            <p:cNvPr id="1001537" name="Text Box 65"/>
            <p:cNvSpPr txBox="1">
              <a:spLocks noChangeArrowheads="1"/>
            </p:cNvSpPr>
            <p:nvPr/>
          </p:nvSpPr>
          <p:spPr bwMode="auto">
            <a:xfrm>
              <a:off x="4435346" y="3717701"/>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R</a:t>
              </a:r>
              <a:r>
                <a:rPr kumimoji="1" lang="en-US" altLang="zh-CN" sz="2400" b="1" baseline="-25000">
                  <a:solidFill>
                    <a:srgbClr val="000099"/>
                  </a:solidFill>
                  <a:latin typeface="+mn-lt"/>
                  <a:ea typeface="黑体" pitchFamily="2" charset="-122"/>
                </a:rPr>
                <a:t>4</a:t>
              </a:r>
              <a:endParaRPr kumimoji="1" lang="en-US" altLang="zh-CN" sz="2400" b="1">
                <a:solidFill>
                  <a:srgbClr val="000099"/>
                </a:solidFill>
                <a:latin typeface="+mn-lt"/>
                <a:ea typeface="黑体" pitchFamily="2" charset="-122"/>
              </a:endParaRPr>
            </a:p>
          </p:txBody>
        </p:sp>
        <p:sp>
          <p:nvSpPr>
            <p:cNvPr id="1001538" name="Text Box 66"/>
            <p:cNvSpPr txBox="1">
              <a:spLocks noChangeArrowheads="1"/>
            </p:cNvSpPr>
            <p:nvPr/>
          </p:nvSpPr>
          <p:spPr bwMode="auto">
            <a:xfrm>
              <a:off x="1090352" y="3671664"/>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000099"/>
                  </a:solidFill>
                  <a:latin typeface="+mn-lt"/>
                  <a:ea typeface="黑体" pitchFamily="2" charset="-122"/>
                </a:rPr>
                <a:t>R</a:t>
              </a:r>
              <a:r>
                <a:rPr kumimoji="1" lang="en-US" altLang="zh-CN" sz="2400" b="1" baseline="-25000">
                  <a:solidFill>
                    <a:srgbClr val="000099"/>
                  </a:solidFill>
                  <a:latin typeface="+mn-lt"/>
                  <a:ea typeface="黑体" pitchFamily="2" charset="-122"/>
                </a:rPr>
                <a:t>2</a:t>
              </a:r>
              <a:endParaRPr kumimoji="1" lang="en-US" altLang="zh-CN" sz="2400" b="1">
                <a:solidFill>
                  <a:srgbClr val="000099"/>
                </a:solidFill>
                <a:latin typeface="+mn-lt"/>
                <a:ea typeface="黑体" pitchFamily="2" charset="-122"/>
              </a:endParaRPr>
            </a:p>
          </p:txBody>
        </p:sp>
        <p:sp>
          <p:nvSpPr>
            <p:cNvPr id="1001539" name="Text Box 67"/>
            <p:cNvSpPr txBox="1">
              <a:spLocks noChangeArrowheads="1"/>
            </p:cNvSpPr>
            <p:nvPr/>
          </p:nvSpPr>
          <p:spPr bwMode="auto">
            <a:xfrm>
              <a:off x="560512" y="1196752"/>
              <a:ext cx="23871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dirty="0">
                  <a:solidFill>
                    <a:srgbClr val="000099"/>
                  </a:solidFill>
                  <a:latin typeface="+mn-lt"/>
                  <a:ea typeface="黑体" pitchFamily="2" charset="-122"/>
                </a:rPr>
                <a:t>视频服务器 </a:t>
              </a:r>
              <a:r>
                <a:rPr kumimoji="1" lang="en-US" altLang="zh-CN" sz="2800" b="1" dirty="0">
                  <a:solidFill>
                    <a:srgbClr val="000099"/>
                  </a:solidFill>
                  <a:latin typeface="+mn-lt"/>
                  <a:ea typeface="黑体" pitchFamily="2" charset="-122"/>
                </a:rPr>
                <a:t>M</a:t>
              </a:r>
            </a:p>
          </p:txBody>
        </p:sp>
        <p:pic>
          <p:nvPicPr>
            <p:cNvPr id="1001540" name="Picture 6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25487" y="3897090"/>
              <a:ext cx="53141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01541" name="Picture 6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76459" y="3897090"/>
              <a:ext cx="533135"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01542" name="Picture 7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58135" y="3930427"/>
              <a:ext cx="531415"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aphicFrame>
          <p:nvGraphicFramePr>
            <p:cNvPr id="1001543" name="Object 71">
              <a:hlinkClick r:id="" action="ppaction://ole?verb=0"/>
            </p:cNvPr>
            <p:cNvGraphicFramePr>
              <a:graphicFrameLocks/>
            </p:cNvGraphicFramePr>
            <p:nvPr>
              <p:extLst>
                <p:ext uri="{D42A27DB-BD31-4B8C-83A1-F6EECF244321}">
                  <p14:modId xmlns:p14="http://schemas.microsoft.com/office/powerpoint/2010/main" val="1721317026"/>
                </p:ext>
              </p:extLst>
            </p:nvPr>
          </p:nvGraphicFramePr>
          <p:xfrm>
            <a:off x="3056426" y="1233264"/>
            <a:ext cx="672438" cy="952500"/>
          </p:xfrm>
          <a:graphic>
            <a:graphicData uri="http://schemas.openxmlformats.org/presentationml/2006/ole">
              <mc:AlternateContent xmlns:mc="http://schemas.openxmlformats.org/markup-compatibility/2006">
                <mc:Choice xmlns:v="urn:schemas-microsoft-com:vml" Requires="v">
                  <p:oleObj spid="_x0000_s4135" name="Microsoft ClipArt Gallery" r:id="rId6" imgW="2735263" imgH="3825875" progId="">
                    <p:embed/>
                  </p:oleObj>
                </mc:Choice>
                <mc:Fallback>
                  <p:oleObj name="Microsoft ClipArt Gallery" r:id="rId6" imgW="2735263" imgH="3825875" progId="">
                    <p:embed/>
                    <p:pic>
                      <p:nvPicPr>
                        <p:cNvPr id="0" name="Picture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56426" y="1233264"/>
                          <a:ext cx="672438"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1544" name="Line 72"/>
            <p:cNvSpPr>
              <a:spLocks noChangeShapeType="1"/>
            </p:cNvSpPr>
            <p:nvPr/>
          </p:nvSpPr>
          <p:spPr bwMode="auto">
            <a:xfrm>
              <a:off x="994043" y="4854351"/>
              <a:ext cx="149793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45" name="Line 73"/>
            <p:cNvSpPr>
              <a:spLocks noChangeShapeType="1"/>
            </p:cNvSpPr>
            <p:nvPr/>
          </p:nvSpPr>
          <p:spPr bwMode="auto">
            <a:xfrm>
              <a:off x="2772308" y="4854351"/>
              <a:ext cx="149793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46" name="Line 74"/>
            <p:cNvSpPr>
              <a:spLocks noChangeShapeType="1"/>
            </p:cNvSpPr>
            <p:nvPr/>
          </p:nvSpPr>
          <p:spPr bwMode="auto">
            <a:xfrm>
              <a:off x="4550573" y="4854351"/>
              <a:ext cx="1496219"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47" name="AutoShape 75"/>
            <p:cNvSpPr>
              <a:spLocks noChangeArrowheads="1"/>
            </p:cNvSpPr>
            <p:nvPr/>
          </p:nvSpPr>
          <p:spPr bwMode="auto">
            <a:xfrm rot="1858546">
              <a:off x="4151580" y="3312889"/>
              <a:ext cx="522817" cy="206375"/>
            </a:xfrm>
            <a:prstGeom prst="rightArrow">
              <a:avLst>
                <a:gd name="adj1" fmla="val 37500"/>
                <a:gd name="adj2" fmla="val 93961"/>
              </a:avLst>
            </a:prstGeom>
            <a:solidFill>
              <a:schemeClr val="accent2"/>
            </a:solidFill>
            <a:ln w="9525">
              <a:solidFill>
                <a:schemeClr val="tx1"/>
              </a:solidFill>
              <a:miter lim="800000"/>
              <a:headEnd/>
              <a:tailEnd/>
            </a:ln>
            <a:effectLst/>
          </p:spPr>
          <p:txBody>
            <a:bodyPr wrap="none" anchor="ctr"/>
            <a:lstStyle/>
            <a:p>
              <a:endParaRPr lang="zh-CN" altLang="en-US" b="1">
                <a:solidFill>
                  <a:srgbClr val="000099"/>
                </a:solidFill>
                <a:latin typeface="+mn-lt"/>
                <a:ea typeface="黑体" pitchFamily="2" charset="-122"/>
              </a:endParaRPr>
            </a:p>
          </p:txBody>
        </p:sp>
        <p:sp>
          <p:nvSpPr>
            <p:cNvPr id="1001548" name="Line 76"/>
            <p:cNvSpPr>
              <a:spLocks noChangeShapeType="1"/>
            </p:cNvSpPr>
            <p:nvPr/>
          </p:nvSpPr>
          <p:spPr bwMode="auto">
            <a:xfrm>
              <a:off x="1277808" y="4854352"/>
              <a:ext cx="0" cy="4540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50" name="Line 78"/>
            <p:cNvSpPr>
              <a:spLocks noChangeShapeType="1"/>
            </p:cNvSpPr>
            <p:nvPr/>
          </p:nvSpPr>
          <p:spPr bwMode="auto">
            <a:xfrm>
              <a:off x="2959764" y="4854352"/>
              <a:ext cx="0" cy="4540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51" name="Line 79"/>
            <p:cNvSpPr>
              <a:spLocks noChangeShapeType="1"/>
            </p:cNvSpPr>
            <p:nvPr/>
          </p:nvSpPr>
          <p:spPr bwMode="auto">
            <a:xfrm>
              <a:off x="3989920" y="4854351"/>
              <a:ext cx="0" cy="361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52" name="Line 80"/>
            <p:cNvSpPr>
              <a:spLocks noChangeShapeType="1"/>
            </p:cNvSpPr>
            <p:nvPr/>
          </p:nvSpPr>
          <p:spPr bwMode="auto">
            <a:xfrm>
              <a:off x="4738029" y="4854351"/>
              <a:ext cx="0" cy="3619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1553" name="Line 81"/>
            <p:cNvSpPr>
              <a:spLocks noChangeShapeType="1"/>
            </p:cNvSpPr>
            <p:nvPr/>
          </p:nvSpPr>
          <p:spPr bwMode="auto">
            <a:xfrm>
              <a:off x="5859333" y="4854352"/>
              <a:ext cx="0" cy="4540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1001554" name="Picture 8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8054"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1556" name="Picture 8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39884"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1557" name="Picture 8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51121"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1558" name="Picture 8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07830"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1559" name="Picture 8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17096" y="5078189"/>
              <a:ext cx="650081" cy="569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1560" name="Text Box 88"/>
            <p:cNvSpPr txBox="1">
              <a:spLocks noChangeArrowheads="1"/>
            </p:cNvSpPr>
            <p:nvPr/>
          </p:nvSpPr>
          <p:spPr bwMode="auto">
            <a:xfrm>
              <a:off x="1387875" y="4667026"/>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b="1">
                  <a:solidFill>
                    <a:srgbClr val="000099"/>
                  </a:solidFill>
                  <a:latin typeface="+mn-lt"/>
                  <a:ea typeface="黑体" pitchFamily="2" charset="-122"/>
                </a:rPr>
                <a:t>…</a:t>
              </a:r>
            </a:p>
          </p:txBody>
        </p:sp>
        <p:sp>
          <p:nvSpPr>
            <p:cNvPr id="1001561" name="Text Box 89"/>
            <p:cNvSpPr txBox="1">
              <a:spLocks noChangeArrowheads="1"/>
            </p:cNvSpPr>
            <p:nvPr/>
          </p:nvSpPr>
          <p:spPr bwMode="auto">
            <a:xfrm>
              <a:off x="4925487" y="4667026"/>
              <a:ext cx="6463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b="1">
                  <a:solidFill>
                    <a:srgbClr val="000099"/>
                  </a:solidFill>
                  <a:latin typeface="+mn-lt"/>
                  <a:ea typeface="黑体" pitchFamily="2" charset="-122"/>
                </a:rPr>
                <a:t>…</a:t>
              </a:r>
            </a:p>
          </p:txBody>
        </p:sp>
        <p:sp>
          <p:nvSpPr>
            <p:cNvPr id="1001562" name="Text Box 90"/>
            <p:cNvSpPr txBox="1">
              <a:spLocks noChangeArrowheads="1"/>
            </p:cNvSpPr>
            <p:nvPr/>
          </p:nvSpPr>
          <p:spPr bwMode="auto">
            <a:xfrm>
              <a:off x="3147223" y="4854351"/>
              <a:ext cx="63632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600" b="1">
                  <a:solidFill>
                    <a:srgbClr val="000099"/>
                  </a:solidFill>
                  <a:latin typeface="+mn-lt"/>
                  <a:ea typeface="黑体" pitchFamily="2" charset="-122"/>
                </a:rPr>
                <a:t>…</a:t>
              </a:r>
            </a:p>
          </p:txBody>
        </p:sp>
        <p:sp>
          <p:nvSpPr>
            <p:cNvPr id="1001563" name="Text Box 91"/>
            <p:cNvSpPr txBox="1">
              <a:spLocks noChangeArrowheads="1"/>
            </p:cNvSpPr>
            <p:nvPr/>
          </p:nvSpPr>
          <p:spPr bwMode="auto">
            <a:xfrm>
              <a:off x="2072680" y="4268564"/>
              <a:ext cx="750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1 </a:t>
              </a:r>
              <a:r>
                <a:rPr kumimoji="1" lang="zh-CN" altLang="en-US" sz="2400" b="1" dirty="0">
                  <a:solidFill>
                    <a:srgbClr val="C00000"/>
                  </a:solidFill>
                  <a:latin typeface="+mn-lt"/>
                  <a:ea typeface="黑体" pitchFamily="2" charset="-122"/>
                </a:rPr>
                <a:t>个</a:t>
              </a:r>
            </a:p>
          </p:txBody>
        </p:sp>
        <p:sp>
          <p:nvSpPr>
            <p:cNvPr id="1001564" name="Text Box 92"/>
            <p:cNvSpPr txBox="1">
              <a:spLocks noChangeArrowheads="1"/>
            </p:cNvSpPr>
            <p:nvPr/>
          </p:nvSpPr>
          <p:spPr bwMode="auto">
            <a:xfrm>
              <a:off x="3656856" y="4220939"/>
              <a:ext cx="750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1 </a:t>
              </a:r>
              <a:r>
                <a:rPr kumimoji="1" lang="zh-CN" altLang="en-US" sz="2400" b="1" dirty="0">
                  <a:solidFill>
                    <a:srgbClr val="C00000"/>
                  </a:solidFill>
                  <a:latin typeface="+mn-lt"/>
                  <a:ea typeface="黑体" pitchFamily="2" charset="-122"/>
                </a:rPr>
                <a:t>个</a:t>
              </a:r>
            </a:p>
          </p:txBody>
        </p:sp>
        <p:sp>
          <p:nvSpPr>
            <p:cNvPr id="1001565" name="Text Box 93"/>
            <p:cNvSpPr txBox="1">
              <a:spLocks noChangeArrowheads="1"/>
            </p:cNvSpPr>
            <p:nvPr/>
          </p:nvSpPr>
          <p:spPr bwMode="auto">
            <a:xfrm>
              <a:off x="5457056" y="4191471"/>
              <a:ext cx="750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1 </a:t>
              </a:r>
              <a:r>
                <a:rPr kumimoji="1" lang="zh-CN" altLang="en-US" sz="2400" b="1" dirty="0">
                  <a:solidFill>
                    <a:srgbClr val="C00000"/>
                  </a:solidFill>
                  <a:latin typeface="+mn-lt"/>
                  <a:ea typeface="黑体" pitchFamily="2" charset="-122"/>
                </a:rPr>
                <a:t>个</a:t>
              </a:r>
            </a:p>
          </p:txBody>
        </p:sp>
        <p:sp>
          <p:nvSpPr>
            <p:cNvPr id="1001566" name="Text Box 94"/>
            <p:cNvSpPr txBox="1">
              <a:spLocks noChangeArrowheads="1"/>
            </p:cNvSpPr>
            <p:nvPr/>
          </p:nvSpPr>
          <p:spPr bwMode="auto">
            <a:xfrm>
              <a:off x="4520952" y="3039343"/>
              <a:ext cx="750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1 </a:t>
              </a:r>
              <a:r>
                <a:rPr kumimoji="1" lang="zh-CN" altLang="en-US" sz="2400" b="1" dirty="0">
                  <a:solidFill>
                    <a:srgbClr val="C00000"/>
                  </a:solidFill>
                  <a:latin typeface="+mn-lt"/>
                  <a:ea typeface="黑体" pitchFamily="2" charset="-122"/>
                </a:rPr>
                <a:t>个</a:t>
              </a:r>
            </a:p>
          </p:txBody>
        </p:sp>
        <p:sp>
          <p:nvSpPr>
            <p:cNvPr id="1001567" name="Text Box 95"/>
            <p:cNvSpPr txBox="1">
              <a:spLocks noChangeArrowheads="1"/>
            </p:cNvSpPr>
            <p:nvPr/>
          </p:nvSpPr>
          <p:spPr bwMode="auto">
            <a:xfrm>
              <a:off x="3626410" y="3429000"/>
              <a:ext cx="750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1 </a:t>
              </a:r>
              <a:r>
                <a:rPr kumimoji="1" lang="zh-CN" altLang="en-US" sz="2400" b="1" dirty="0">
                  <a:solidFill>
                    <a:srgbClr val="C00000"/>
                  </a:solidFill>
                  <a:latin typeface="+mn-lt"/>
                  <a:ea typeface="黑体" pitchFamily="2" charset="-122"/>
                </a:rPr>
                <a:t>个</a:t>
              </a:r>
            </a:p>
          </p:txBody>
        </p:sp>
        <p:sp>
          <p:nvSpPr>
            <p:cNvPr id="1001568" name="Text Box 96"/>
            <p:cNvSpPr txBox="1">
              <a:spLocks noChangeArrowheads="1"/>
            </p:cNvSpPr>
            <p:nvPr/>
          </p:nvSpPr>
          <p:spPr bwMode="auto">
            <a:xfrm>
              <a:off x="1784648" y="3111351"/>
              <a:ext cx="750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1 </a:t>
              </a:r>
              <a:r>
                <a:rPr kumimoji="1" lang="zh-CN" altLang="en-US" sz="2400" b="1" dirty="0">
                  <a:solidFill>
                    <a:srgbClr val="C00000"/>
                  </a:solidFill>
                  <a:latin typeface="+mn-lt"/>
                  <a:ea typeface="黑体" pitchFamily="2" charset="-122"/>
                </a:rPr>
                <a:t>个</a:t>
              </a:r>
            </a:p>
          </p:txBody>
        </p:sp>
        <p:sp>
          <p:nvSpPr>
            <p:cNvPr id="1001569" name="Text Box 97"/>
            <p:cNvSpPr txBox="1">
              <a:spLocks noChangeArrowheads="1"/>
            </p:cNvSpPr>
            <p:nvPr/>
          </p:nvSpPr>
          <p:spPr bwMode="auto">
            <a:xfrm>
              <a:off x="3698418" y="2319263"/>
              <a:ext cx="7505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dirty="0">
                  <a:solidFill>
                    <a:srgbClr val="C00000"/>
                  </a:solidFill>
                  <a:latin typeface="+mn-lt"/>
                  <a:ea typeface="黑体" pitchFamily="2" charset="-122"/>
                </a:rPr>
                <a:t>1 </a:t>
              </a:r>
              <a:r>
                <a:rPr kumimoji="1" lang="zh-CN" altLang="en-US" sz="2400" b="1" dirty="0">
                  <a:solidFill>
                    <a:srgbClr val="C00000"/>
                  </a:solidFill>
                  <a:latin typeface="+mn-lt"/>
                  <a:ea typeface="黑体" pitchFamily="2" charset="-122"/>
                </a:rPr>
                <a:t>个</a:t>
              </a:r>
              <a:endParaRPr kumimoji="1" lang="en-US" altLang="zh-CN" sz="2400" b="1" dirty="0">
                <a:solidFill>
                  <a:srgbClr val="C00000"/>
                </a:solidFill>
                <a:latin typeface="+mn-lt"/>
                <a:ea typeface="黑体" pitchFamily="2" charset="-122"/>
              </a:endParaRPr>
            </a:p>
          </p:txBody>
        </p:sp>
        <p:sp>
          <p:nvSpPr>
            <p:cNvPr id="1001576" name="AutoShape 104"/>
            <p:cNvSpPr>
              <a:spLocks noChangeArrowheads="1"/>
            </p:cNvSpPr>
            <p:nvPr/>
          </p:nvSpPr>
          <p:spPr bwMode="auto">
            <a:xfrm rot="5400000">
              <a:off x="5107286" y="4380216"/>
              <a:ext cx="503722" cy="211742"/>
            </a:xfrm>
            <a:prstGeom prst="rightArrow">
              <a:avLst>
                <a:gd name="adj1" fmla="val 37500"/>
                <a:gd name="adj2" fmla="val 9830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85" name="AutoShape 113"/>
            <p:cNvSpPr>
              <a:spLocks noChangeArrowheads="1"/>
            </p:cNvSpPr>
            <p:nvPr/>
          </p:nvSpPr>
          <p:spPr bwMode="auto">
            <a:xfrm rot="5400000">
              <a:off x="3283002" y="4363929"/>
              <a:ext cx="503722" cy="212566"/>
            </a:xfrm>
            <a:prstGeom prst="rightArrow">
              <a:avLst>
                <a:gd name="adj1" fmla="val 37500"/>
                <a:gd name="adj2" fmla="val 9830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89" name="AutoShape 117"/>
            <p:cNvSpPr>
              <a:spLocks noChangeArrowheads="1"/>
            </p:cNvSpPr>
            <p:nvPr/>
          </p:nvSpPr>
          <p:spPr bwMode="auto">
            <a:xfrm rot="5400000">
              <a:off x="1716273" y="4433779"/>
              <a:ext cx="503722" cy="212566"/>
            </a:xfrm>
            <a:prstGeom prst="rightArrow">
              <a:avLst>
                <a:gd name="adj1" fmla="val 37500"/>
                <a:gd name="adj2" fmla="val 9830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001593" name="AutoShape 121"/>
            <p:cNvSpPr>
              <a:spLocks noChangeArrowheads="1"/>
            </p:cNvSpPr>
            <p:nvPr/>
          </p:nvSpPr>
          <p:spPr bwMode="auto">
            <a:xfrm rot="5400000">
              <a:off x="3283002" y="3436829"/>
              <a:ext cx="503722" cy="212566"/>
            </a:xfrm>
            <a:prstGeom prst="rightArrow">
              <a:avLst>
                <a:gd name="adj1" fmla="val 37500"/>
                <a:gd name="adj2" fmla="val 98306"/>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 name="矩形 1"/>
            <p:cNvSpPr/>
            <p:nvPr/>
          </p:nvSpPr>
          <p:spPr>
            <a:xfrm>
              <a:off x="3584848" y="2852936"/>
              <a:ext cx="649537" cy="369332"/>
            </a:xfrm>
            <a:prstGeom prst="rect">
              <a:avLst/>
            </a:prstGeom>
          </p:spPr>
          <p:txBody>
            <a:bodyPr wrap="none">
              <a:spAutoFit/>
            </a:bodyPr>
            <a:lstStyle/>
            <a:p>
              <a:r>
                <a:rPr kumimoji="1" lang="zh-CN" altLang="en-US" b="1" dirty="0">
                  <a:solidFill>
                    <a:srgbClr val="C00000"/>
                  </a:solidFill>
                  <a:ea typeface="黑体" pitchFamily="2" charset="-122"/>
                </a:rPr>
                <a:t>复制</a:t>
              </a:r>
            </a:p>
          </p:txBody>
        </p:sp>
        <p:sp>
          <p:nvSpPr>
            <p:cNvPr id="78" name="Text Box 105"/>
            <p:cNvSpPr txBox="1">
              <a:spLocks noChangeArrowheads="1"/>
            </p:cNvSpPr>
            <p:nvPr/>
          </p:nvSpPr>
          <p:spPr bwMode="auto">
            <a:xfrm>
              <a:off x="1064568" y="446905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Arial" charset="0"/>
                </a:rPr>
                <a:t>多播</a:t>
              </a:r>
            </a:p>
          </p:txBody>
        </p:sp>
        <p:sp>
          <p:nvSpPr>
            <p:cNvPr id="79" name="Text Box 107"/>
            <p:cNvSpPr txBox="1">
              <a:spLocks noChangeArrowheads="1"/>
            </p:cNvSpPr>
            <p:nvPr/>
          </p:nvSpPr>
          <p:spPr bwMode="auto">
            <a:xfrm>
              <a:off x="4468191" y="446905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Arial" charset="0"/>
                </a:rPr>
                <a:t>多播</a:t>
              </a:r>
            </a:p>
          </p:txBody>
        </p:sp>
        <p:sp>
          <p:nvSpPr>
            <p:cNvPr id="80" name="Text Box 106"/>
            <p:cNvSpPr txBox="1">
              <a:spLocks noChangeArrowheads="1"/>
            </p:cNvSpPr>
            <p:nvPr/>
          </p:nvSpPr>
          <p:spPr bwMode="auto">
            <a:xfrm>
              <a:off x="2720752" y="4469050"/>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C00000"/>
                  </a:solidFill>
                  <a:latin typeface="Arial" charset="0"/>
                </a:rPr>
                <a:t>多播</a:t>
              </a:r>
            </a:p>
          </p:txBody>
        </p:sp>
        <p:sp>
          <p:nvSpPr>
            <p:cNvPr id="3" name="矩形 2"/>
            <p:cNvSpPr/>
            <p:nvPr/>
          </p:nvSpPr>
          <p:spPr>
            <a:xfrm>
              <a:off x="2734853" y="6219283"/>
              <a:ext cx="1297266" cy="461665"/>
            </a:xfrm>
            <a:prstGeom prst="rect">
              <a:avLst/>
            </a:prstGeom>
          </p:spPr>
          <p:txBody>
            <a:bodyPr wrap="square">
              <a:spAutoFit/>
            </a:bodyPr>
            <a:lstStyle/>
            <a:p>
              <a:pPr algn="ctr"/>
              <a:r>
                <a:rPr lang="zh-CN" altLang="zh-CN" sz="2400" b="1" dirty="0">
                  <a:latin typeface="+mn-lt"/>
                  <a:ea typeface="黑体" pitchFamily="2" charset="-122"/>
                </a:rPr>
                <a:t>多播</a:t>
              </a:r>
              <a:endParaRPr lang="zh-CN" altLang="en-US" sz="2400" b="1" dirty="0">
                <a:latin typeface="+mn-lt"/>
                <a:ea typeface="黑体" pitchFamily="2" charset="-122"/>
              </a:endParaRPr>
            </a:p>
          </p:txBody>
        </p:sp>
      </p:grpSp>
    </p:spTree>
    <p:extLst>
      <p:ext uri="{BB962C8B-B14F-4D97-AF65-F5344CB8AC3E}">
        <p14:creationId xmlns:p14="http://schemas.microsoft.com/office/powerpoint/2010/main" val="17569782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IP </a:t>
            </a:r>
            <a:r>
              <a:rPr lang="zh-CN" altLang="en-US" dirty="0"/>
              <a:t>多播</a:t>
            </a:r>
          </a:p>
        </p:txBody>
      </p:sp>
      <p:sp>
        <p:nvSpPr>
          <p:cNvPr id="3" name="内容占位符 2"/>
          <p:cNvSpPr>
            <a:spLocks noGrp="1"/>
          </p:cNvSpPr>
          <p:nvPr>
            <p:ph idx="1"/>
          </p:nvPr>
        </p:nvSpPr>
        <p:spPr/>
        <p:txBody>
          <a:bodyPr/>
          <a:lstStyle/>
          <a:p>
            <a:pPr>
              <a:lnSpc>
                <a:spcPct val="100000"/>
              </a:lnSpc>
            </a:pPr>
            <a:r>
              <a:rPr lang="zh-CN" altLang="zh-CN" dirty="0"/>
              <a:t>在互联网上进行多播就</a:t>
            </a:r>
            <a:r>
              <a:rPr lang="zh-CN" altLang="en-US" dirty="0"/>
              <a:t>叫做 </a:t>
            </a:r>
            <a:r>
              <a:rPr lang="en-US" altLang="zh-CN" dirty="0">
                <a:solidFill>
                  <a:srgbClr val="FF0000"/>
                </a:solidFill>
              </a:rPr>
              <a:t>IP </a:t>
            </a:r>
            <a:r>
              <a:rPr lang="zh-CN" altLang="zh-CN" dirty="0">
                <a:solidFill>
                  <a:srgbClr val="FF0000"/>
                </a:solidFill>
              </a:rPr>
              <a:t>多播</a:t>
            </a:r>
            <a:r>
              <a:rPr lang="zh-CN" altLang="en-US" dirty="0">
                <a:solidFill>
                  <a:srgbClr val="FF0000"/>
                </a:solidFill>
              </a:rPr>
              <a:t>。</a:t>
            </a:r>
            <a:endParaRPr lang="en-US" altLang="zh-CN" dirty="0">
              <a:solidFill>
                <a:srgbClr val="FF0000"/>
              </a:solidFill>
            </a:endParaRPr>
          </a:p>
          <a:p>
            <a:pPr>
              <a:lnSpc>
                <a:spcPct val="100000"/>
              </a:lnSpc>
            </a:pPr>
            <a:r>
              <a:rPr lang="zh-CN" altLang="zh-CN" dirty="0"/>
              <a:t>互联网范围的多播要靠路由器来实现。</a:t>
            </a:r>
            <a:endParaRPr lang="en-US" altLang="zh-CN" dirty="0"/>
          </a:p>
          <a:p>
            <a:pPr>
              <a:lnSpc>
                <a:spcPct val="100000"/>
              </a:lnSpc>
            </a:pPr>
            <a:r>
              <a:rPr lang="zh-CN" altLang="zh-CN" dirty="0"/>
              <a:t>能够运行多播协议的路由器称为</a:t>
            </a:r>
            <a:r>
              <a:rPr lang="zh-CN" altLang="zh-CN" dirty="0">
                <a:solidFill>
                  <a:srgbClr val="FF0000"/>
                </a:solidFill>
              </a:rPr>
              <a:t>多播路由器</a:t>
            </a:r>
            <a:r>
              <a:rPr lang="en-US" altLang="zh-CN" dirty="0"/>
              <a:t>(multicast router)</a:t>
            </a:r>
            <a:r>
              <a:rPr lang="zh-CN" altLang="zh-CN" dirty="0"/>
              <a:t>。当然</a:t>
            </a:r>
            <a:r>
              <a:rPr lang="zh-CN" altLang="en-US" dirty="0"/>
              <a:t>它</a:t>
            </a:r>
            <a:r>
              <a:rPr lang="zh-CN" altLang="zh-CN" dirty="0"/>
              <a:t>也可以转发普通的单播</a:t>
            </a:r>
            <a:r>
              <a:rPr lang="en-US" altLang="zh-CN" dirty="0"/>
              <a:t>IP</a:t>
            </a:r>
            <a:r>
              <a:rPr lang="zh-CN" altLang="zh-CN" dirty="0"/>
              <a:t>数据报。</a:t>
            </a:r>
            <a:endParaRPr lang="en-US" altLang="zh-CN" dirty="0"/>
          </a:p>
          <a:p>
            <a:pPr>
              <a:lnSpc>
                <a:spcPct val="100000"/>
              </a:lnSpc>
            </a:pPr>
            <a:r>
              <a:rPr lang="zh-CN" altLang="zh-CN" dirty="0"/>
              <a:t>从</a:t>
            </a:r>
            <a:r>
              <a:rPr lang="en-US" altLang="zh-CN" dirty="0"/>
              <a:t> 1992 </a:t>
            </a:r>
            <a:r>
              <a:rPr lang="zh-CN" altLang="zh-CN" dirty="0"/>
              <a:t>年起，在互联网上开始试验虚拟的</a:t>
            </a:r>
            <a:r>
              <a:rPr lang="zh-CN" altLang="zh-CN" dirty="0">
                <a:solidFill>
                  <a:srgbClr val="FF0000"/>
                </a:solidFill>
              </a:rPr>
              <a:t>多播主干网</a:t>
            </a:r>
            <a:r>
              <a:rPr lang="en-US" altLang="zh-CN" dirty="0">
                <a:solidFill>
                  <a:srgbClr val="FF0000"/>
                </a:solidFill>
              </a:rPr>
              <a:t> MBONE</a:t>
            </a:r>
            <a:r>
              <a:rPr lang="en-US" altLang="zh-CN" dirty="0"/>
              <a:t> (Multicast Backbone On the </a:t>
            </a:r>
            <a:r>
              <a:rPr lang="en-US" altLang="zh-CN" dirty="0" err="1"/>
              <a:t>InterNEt</a:t>
            </a:r>
            <a:r>
              <a:rPr lang="en-US" altLang="zh-CN" dirty="0"/>
              <a:t>)</a:t>
            </a:r>
            <a:r>
              <a:rPr lang="zh-CN" altLang="zh-CN" dirty="0"/>
              <a:t>。 现在多播主干网已经有了相当大的规模。</a:t>
            </a:r>
          </a:p>
          <a:p>
            <a:pPr>
              <a:lnSpc>
                <a:spcPct val="100000"/>
              </a:lnSpc>
            </a:pPr>
            <a:endParaRPr lang="zh-CN" altLang="en-US" dirty="0"/>
          </a:p>
        </p:txBody>
      </p:sp>
    </p:spTree>
    <p:extLst>
      <p:ext uri="{BB962C8B-B14F-4D97-AF65-F5344CB8AC3E}">
        <p14:creationId xmlns:p14="http://schemas.microsoft.com/office/powerpoint/2010/main" val="12474702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多播</a:t>
            </a:r>
            <a:r>
              <a:rPr lang="en-US" altLang="zh-CN" dirty="0"/>
              <a:t> IP </a:t>
            </a:r>
            <a:r>
              <a:rPr lang="zh-CN" altLang="zh-CN" dirty="0"/>
              <a:t>地址</a:t>
            </a:r>
            <a:endParaRPr lang="zh-CN" altLang="en-US" dirty="0"/>
          </a:p>
        </p:txBody>
      </p:sp>
      <p:sp>
        <p:nvSpPr>
          <p:cNvPr id="3" name="内容占位符 2"/>
          <p:cNvSpPr>
            <a:spLocks noGrp="1"/>
          </p:cNvSpPr>
          <p:nvPr>
            <p:ph idx="1"/>
          </p:nvPr>
        </p:nvSpPr>
        <p:spPr/>
        <p:txBody>
          <a:bodyPr/>
          <a:lstStyle/>
          <a:p>
            <a:r>
              <a:rPr lang="en-US" altLang="zh-CN" dirty="0"/>
              <a:t>IP </a:t>
            </a:r>
            <a:r>
              <a:rPr lang="zh-CN" altLang="zh-CN" dirty="0"/>
              <a:t>多播所传送的分组需要使用</a:t>
            </a:r>
            <a:r>
              <a:rPr lang="zh-CN" altLang="zh-CN" dirty="0">
                <a:solidFill>
                  <a:srgbClr val="FF0000"/>
                </a:solidFill>
              </a:rPr>
              <a:t>多播</a:t>
            </a:r>
            <a:r>
              <a:rPr lang="en-US" altLang="zh-CN" dirty="0">
                <a:solidFill>
                  <a:srgbClr val="FF0000"/>
                </a:solidFill>
              </a:rPr>
              <a:t> IP </a:t>
            </a:r>
            <a:r>
              <a:rPr lang="zh-CN" altLang="zh-CN" dirty="0">
                <a:solidFill>
                  <a:srgbClr val="FF0000"/>
                </a:solidFill>
              </a:rPr>
              <a:t>地址。</a:t>
            </a:r>
            <a:endParaRPr lang="en-US" altLang="zh-CN" dirty="0">
              <a:solidFill>
                <a:srgbClr val="FF0000"/>
              </a:solidFill>
            </a:endParaRPr>
          </a:p>
          <a:p>
            <a:r>
              <a:rPr lang="zh-CN" altLang="zh-CN" dirty="0"/>
              <a:t>在多播数据报的目的地址写入的是</a:t>
            </a:r>
            <a:r>
              <a:rPr lang="zh-CN" altLang="zh-CN" dirty="0">
                <a:solidFill>
                  <a:srgbClr val="FF0000"/>
                </a:solidFill>
              </a:rPr>
              <a:t>多播组</a:t>
            </a:r>
            <a:r>
              <a:rPr lang="zh-CN" altLang="zh-CN" dirty="0"/>
              <a:t>的标识符</a:t>
            </a:r>
            <a:r>
              <a:rPr lang="zh-CN" altLang="en-US" dirty="0"/>
              <a:t>。</a:t>
            </a:r>
            <a:endParaRPr lang="en-US" altLang="zh-CN" dirty="0"/>
          </a:p>
          <a:p>
            <a:r>
              <a:rPr lang="zh-CN" altLang="zh-CN" dirty="0">
                <a:solidFill>
                  <a:srgbClr val="FF0000"/>
                </a:solidFill>
              </a:rPr>
              <a:t>多播组的标识符就是</a:t>
            </a:r>
            <a:r>
              <a:rPr lang="en-US" altLang="zh-CN" dirty="0">
                <a:solidFill>
                  <a:srgbClr val="FF0000"/>
                </a:solidFill>
              </a:rPr>
              <a:t> IP </a:t>
            </a:r>
            <a:r>
              <a:rPr lang="zh-CN" altLang="zh-CN" dirty="0">
                <a:solidFill>
                  <a:srgbClr val="FF0000"/>
                </a:solidFill>
              </a:rPr>
              <a:t>地址中的</a:t>
            </a:r>
            <a:r>
              <a:rPr lang="en-US" altLang="zh-CN" dirty="0">
                <a:solidFill>
                  <a:srgbClr val="FF0000"/>
                </a:solidFill>
              </a:rPr>
              <a:t> D </a:t>
            </a:r>
            <a:r>
              <a:rPr lang="zh-CN" altLang="zh-CN" dirty="0">
                <a:solidFill>
                  <a:srgbClr val="FF0000"/>
                </a:solidFill>
              </a:rPr>
              <a:t>类地址</a:t>
            </a:r>
            <a:r>
              <a:rPr lang="zh-CN" altLang="en-US" dirty="0">
                <a:solidFill>
                  <a:srgbClr val="FF0000"/>
                </a:solidFill>
              </a:rPr>
              <a:t>（</a:t>
            </a:r>
            <a:r>
              <a:rPr lang="zh-CN" altLang="en-US" dirty="0">
                <a:solidFill>
                  <a:srgbClr val="0000FF"/>
                </a:solidFill>
              </a:rPr>
              <a:t>多播地址</a:t>
            </a:r>
            <a:r>
              <a:rPr lang="zh-CN" altLang="en-US" dirty="0">
                <a:solidFill>
                  <a:srgbClr val="FF0000"/>
                </a:solidFill>
              </a:rPr>
              <a:t>）</a:t>
            </a:r>
            <a:r>
              <a:rPr lang="zh-CN" altLang="zh-CN" dirty="0">
                <a:solidFill>
                  <a:srgbClr val="FF0000"/>
                </a:solidFill>
              </a:rPr>
              <a:t>。</a:t>
            </a:r>
            <a:endParaRPr lang="en-US" altLang="zh-CN" dirty="0">
              <a:solidFill>
                <a:srgbClr val="FF0000"/>
              </a:solidFill>
            </a:endParaRPr>
          </a:p>
          <a:p>
            <a:r>
              <a:rPr lang="zh-CN" altLang="zh-CN" dirty="0"/>
              <a:t>每一个</a:t>
            </a:r>
            <a:r>
              <a:rPr lang="en-US" altLang="zh-CN" dirty="0"/>
              <a:t> D </a:t>
            </a:r>
            <a:r>
              <a:rPr lang="zh-CN" altLang="zh-CN" dirty="0"/>
              <a:t>类地址标志一个多播组。</a:t>
            </a:r>
            <a:endParaRPr lang="en-US" altLang="zh-CN" dirty="0"/>
          </a:p>
          <a:p>
            <a:r>
              <a:rPr lang="zh-CN" altLang="zh-CN" dirty="0"/>
              <a:t>多播地址</a:t>
            </a:r>
            <a:r>
              <a:rPr lang="zh-CN" altLang="zh-CN" dirty="0">
                <a:solidFill>
                  <a:srgbClr val="FF0000"/>
                </a:solidFill>
              </a:rPr>
              <a:t>只能</a:t>
            </a:r>
            <a:r>
              <a:rPr lang="zh-CN" altLang="zh-CN" dirty="0"/>
              <a:t>用于目的地址，</a:t>
            </a:r>
            <a:r>
              <a:rPr lang="zh-CN" altLang="zh-CN" dirty="0">
                <a:solidFill>
                  <a:srgbClr val="FF0000"/>
                </a:solidFill>
              </a:rPr>
              <a:t>不能</a:t>
            </a:r>
            <a:r>
              <a:rPr lang="zh-CN" altLang="zh-CN" dirty="0"/>
              <a:t>用于源地址。</a:t>
            </a:r>
            <a:endParaRPr lang="zh-CN" altLang="en-US" dirty="0"/>
          </a:p>
        </p:txBody>
      </p:sp>
    </p:spTree>
    <p:extLst>
      <p:ext uri="{BB962C8B-B14F-4D97-AF65-F5344CB8AC3E}">
        <p14:creationId xmlns:p14="http://schemas.microsoft.com/office/powerpoint/2010/main" val="21483075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多播数据报</a:t>
            </a:r>
            <a:endParaRPr lang="zh-CN" altLang="en-US" dirty="0"/>
          </a:p>
        </p:txBody>
      </p:sp>
      <p:sp>
        <p:nvSpPr>
          <p:cNvPr id="3" name="内容占位符 2"/>
          <p:cNvSpPr>
            <a:spLocks noGrp="1"/>
          </p:cNvSpPr>
          <p:nvPr>
            <p:ph idx="1"/>
          </p:nvPr>
        </p:nvSpPr>
        <p:spPr/>
        <p:txBody>
          <a:bodyPr/>
          <a:lstStyle/>
          <a:p>
            <a:r>
              <a:rPr lang="zh-CN" altLang="zh-CN" dirty="0"/>
              <a:t>多播数据报和一般的</a:t>
            </a:r>
            <a:r>
              <a:rPr lang="en-US" altLang="zh-CN" dirty="0"/>
              <a:t> IP </a:t>
            </a:r>
            <a:r>
              <a:rPr lang="zh-CN" altLang="zh-CN" dirty="0"/>
              <a:t>数据报的区别就是它</a:t>
            </a:r>
            <a:r>
              <a:rPr lang="zh-CN" altLang="zh-CN" dirty="0">
                <a:solidFill>
                  <a:srgbClr val="FF0000"/>
                </a:solidFill>
              </a:rPr>
              <a:t>使用</a:t>
            </a:r>
            <a:r>
              <a:rPr lang="en-US" altLang="zh-CN" dirty="0">
                <a:solidFill>
                  <a:srgbClr val="FF0000"/>
                </a:solidFill>
              </a:rPr>
              <a:t> D </a:t>
            </a:r>
            <a:r>
              <a:rPr lang="zh-CN" altLang="zh-CN" dirty="0">
                <a:solidFill>
                  <a:srgbClr val="FF0000"/>
                </a:solidFill>
              </a:rPr>
              <a:t>类</a:t>
            </a:r>
            <a:r>
              <a:rPr lang="en-US" altLang="zh-CN" dirty="0">
                <a:solidFill>
                  <a:srgbClr val="FF0000"/>
                </a:solidFill>
              </a:rPr>
              <a:t> IP </a:t>
            </a:r>
            <a:r>
              <a:rPr lang="zh-CN" altLang="zh-CN" dirty="0">
                <a:solidFill>
                  <a:srgbClr val="FF0000"/>
                </a:solidFill>
              </a:rPr>
              <a:t>地址</a:t>
            </a:r>
            <a:r>
              <a:rPr lang="zh-CN" altLang="zh-CN" dirty="0"/>
              <a:t>作为目的地址，并且首部中的协议字段值是</a:t>
            </a:r>
            <a:r>
              <a:rPr lang="en-US" altLang="zh-CN" dirty="0"/>
              <a:t> 2</a:t>
            </a:r>
            <a:r>
              <a:rPr lang="zh-CN" altLang="zh-CN" dirty="0"/>
              <a:t>，表明</a:t>
            </a:r>
            <a:r>
              <a:rPr lang="zh-CN" altLang="zh-CN" dirty="0">
                <a:solidFill>
                  <a:srgbClr val="FF0000"/>
                </a:solidFill>
              </a:rPr>
              <a:t>使用网际组管理协议</a:t>
            </a:r>
            <a:r>
              <a:rPr lang="en-US" altLang="zh-CN" dirty="0">
                <a:solidFill>
                  <a:srgbClr val="FF0000"/>
                </a:solidFill>
              </a:rPr>
              <a:t> </a:t>
            </a:r>
            <a:r>
              <a:rPr lang="en-US" altLang="zh-CN" dirty="0"/>
              <a:t>IGMP</a:t>
            </a:r>
            <a:r>
              <a:rPr lang="zh-CN" altLang="zh-CN" dirty="0"/>
              <a:t>。</a:t>
            </a:r>
            <a:endParaRPr lang="en-US" altLang="zh-CN" dirty="0"/>
          </a:p>
          <a:p>
            <a:r>
              <a:rPr lang="zh-CN" altLang="zh-CN" dirty="0"/>
              <a:t>多播数据报也是“</a:t>
            </a:r>
            <a:r>
              <a:rPr lang="zh-CN" altLang="zh-CN" dirty="0">
                <a:solidFill>
                  <a:srgbClr val="FF0000"/>
                </a:solidFill>
              </a:rPr>
              <a:t>尽最大努力交付</a:t>
            </a:r>
            <a:r>
              <a:rPr lang="zh-CN" altLang="zh-CN" dirty="0"/>
              <a:t>”，不保证一定能够交付多播组内的所有成员。</a:t>
            </a:r>
            <a:endParaRPr lang="en-US" altLang="zh-CN" dirty="0"/>
          </a:p>
          <a:p>
            <a:r>
              <a:rPr lang="zh-CN" altLang="zh-CN" dirty="0"/>
              <a:t>对多播数据报</a:t>
            </a:r>
            <a:r>
              <a:rPr lang="zh-CN" altLang="zh-CN" dirty="0">
                <a:solidFill>
                  <a:srgbClr val="FF0000"/>
                </a:solidFill>
              </a:rPr>
              <a:t>不产生</a:t>
            </a:r>
            <a:r>
              <a:rPr lang="en-US" altLang="zh-CN" dirty="0">
                <a:solidFill>
                  <a:srgbClr val="FF0000"/>
                </a:solidFill>
              </a:rPr>
              <a:t> ICMP </a:t>
            </a:r>
            <a:r>
              <a:rPr lang="zh-CN" altLang="zh-CN" dirty="0">
                <a:solidFill>
                  <a:srgbClr val="FF0000"/>
                </a:solidFill>
              </a:rPr>
              <a:t>差错报文。</a:t>
            </a:r>
            <a:r>
              <a:rPr lang="zh-CN" altLang="zh-CN" dirty="0"/>
              <a:t>因此，若在</a:t>
            </a:r>
            <a:r>
              <a:rPr lang="en-US" altLang="zh-CN" dirty="0"/>
              <a:t> PING </a:t>
            </a:r>
            <a:r>
              <a:rPr lang="zh-CN" altLang="zh-CN" dirty="0"/>
              <a:t>命令后面键入多播地址，将永远不会收到响应。</a:t>
            </a:r>
            <a:endParaRPr lang="zh-CN" altLang="en-US" dirty="0"/>
          </a:p>
        </p:txBody>
      </p:sp>
    </p:spTree>
    <p:extLst>
      <p:ext uri="{BB962C8B-B14F-4D97-AF65-F5344CB8AC3E}">
        <p14:creationId xmlns:p14="http://schemas.microsoft.com/office/powerpoint/2010/main" val="1444416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95300" y="188640"/>
            <a:ext cx="9066212" cy="1512168"/>
          </a:xfrm>
        </p:spPr>
        <p:txBody>
          <a:bodyPr/>
          <a:lstStyle/>
          <a:p>
            <a:pPr algn="ctr"/>
            <a:r>
              <a:rPr lang="en-US" altLang="zh-CN" dirty="0"/>
              <a:t>D </a:t>
            </a:r>
            <a:r>
              <a:rPr lang="zh-CN" altLang="en-US" dirty="0"/>
              <a:t>类 </a:t>
            </a:r>
            <a:r>
              <a:rPr lang="en-US" altLang="zh-CN" dirty="0"/>
              <a:t>IP </a:t>
            </a:r>
            <a:r>
              <a:rPr lang="zh-CN" altLang="en-US" dirty="0"/>
              <a:t>地址</a:t>
            </a:r>
            <a:br>
              <a:rPr lang="zh-CN" altLang="en-US" dirty="0"/>
            </a:br>
            <a:r>
              <a:rPr lang="zh-CN" altLang="en-US" dirty="0"/>
              <a:t>与以太网多播地址的映射关系 </a:t>
            </a:r>
          </a:p>
        </p:txBody>
      </p:sp>
      <p:sp>
        <p:nvSpPr>
          <p:cNvPr id="4" name="内容占位符 3"/>
          <p:cNvSpPr>
            <a:spLocks noGrp="1"/>
          </p:cNvSpPr>
          <p:nvPr>
            <p:ph idx="1"/>
          </p:nvPr>
        </p:nvSpPr>
        <p:spPr>
          <a:xfrm>
            <a:off x="495300" y="1844824"/>
            <a:ext cx="9066212" cy="4286101"/>
          </a:xfrm>
        </p:spPr>
        <p:txBody>
          <a:bodyPr/>
          <a:lstStyle/>
          <a:p>
            <a:r>
              <a:rPr lang="zh-CN" altLang="zh-CN" dirty="0"/>
              <a:t>由于多播</a:t>
            </a:r>
            <a:r>
              <a:rPr lang="en-US" altLang="zh-CN" dirty="0"/>
              <a:t> IP </a:t>
            </a:r>
            <a:r>
              <a:rPr lang="zh-CN" altLang="zh-CN" dirty="0"/>
              <a:t>地址与以太网硬件地址的映射关系</a:t>
            </a:r>
            <a:r>
              <a:rPr lang="zh-CN" altLang="zh-CN" dirty="0">
                <a:solidFill>
                  <a:srgbClr val="FF0000"/>
                </a:solidFill>
              </a:rPr>
              <a:t>不是唯一</a:t>
            </a:r>
            <a:r>
              <a:rPr lang="zh-CN" altLang="zh-CN" dirty="0"/>
              <a:t>的，因此收到多播数据报的主机，</a:t>
            </a:r>
            <a:r>
              <a:rPr lang="zh-CN" altLang="zh-CN" dirty="0">
                <a:solidFill>
                  <a:srgbClr val="FF0000"/>
                </a:solidFill>
              </a:rPr>
              <a:t>还要在</a:t>
            </a:r>
            <a:r>
              <a:rPr lang="en-US" altLang="zh-CN" dirty="0">
                <a:solidFill>
                  <a:srgbClr val="FF0000"/>
                </a:solidFill>
              </a:rPr>
              <a:t> IP </a:t>
            </a:r>
            <a:r>
              <a:rPr lang="zh-CN" altLang="zh-CN" dirty="0">
                <a:solidFill>
                  <a:srgbClr val="FF0000"/>
                </a:solidFill>
              </a:rPr>
              <a:t>层利用软件进行过滤，</a:t>
            </a:r>
            <a:r>
              <a:rPr lang="zh-CN" altLang="zh-CN" dirty="0"/>
              <a:t>把不是本主机要接收的数据报丢弃。</a:t>
            </a:r>
            <a:endParaRPr lang="zh-CN" altLang="en-US" dirty="0"/>
          </a:p>
        </p:txBody>
      </p:sp>
    </p:spTree>
    <p:extLst>
      <p:ext uri="{BB962C8B-B14F-4D97-AF65-F5344CB8AC3E}">
        <p14:creationId xmlns:p14="http://schemas.microsoft.com/office/powerpoint/2010/main" val="31644893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a:xfrm>
            <a:off x="495300" y="188640"/>
            <a:ext cx="9066212" cy="1512168"/>
          </a:xfrm>
        </p:spPr>
        <p:txBody>
          <a:bodyPr/>
          <a:lstStyle/>
          <a:p>
            <a:r>
              <a:rPr lang="zh-CN" altLang="en-US" dirty="0"/>
              <a:t>网际组管理协议 </a:t>
            </a:r>
            <a:r>
              <a:rPr lang="en-US" altLang="zh-CN" dirty="0"/>
              <a:t>IGMP </a:t>
            </a:r>
            <a:r>
              <a:rPr lang="zh-CN" altLang="en-US" dirty="0"/>
              <a:t>和 播路由选择协议</a:t>
            </a:r>
          </a:p>
        </p:txBody>
      </p:sp>
      <p:sp>
        <p:nvSpPr>
          <p:cNvPr id="615427" name="Rectangle 3"/>
          <p:cNvSpPr>
            <a:spLocks noGrp="1" noChangeArrowheads="1"/>
          </p:cNvSpPr>
          <p:nvPr>
            <p:ph idx="1"/>
          </p:nvPr>
        </p:nvSpPr>
        <p:spPr>
          <a:xfrm>
            <a:off x="495300" y="1844824"/>
            <a:ext cx="9066212" cy="4286101"/>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0" indent="0">
              <a:buNone/>
            </a:pPr>
            <a:r>
              <a:rPr lang="en-US" altLang="zh-CN" sz="4000" dirty="0">
                <a:solidFill>
                  <a:srgbClr val="333399"/>
                </a:solidFill>
              </a:rPr>
              <a:t>1.  IP </a:t>
            </a:r>
            <a:r>
              <a:rPr lang="zh-CN" altLang="en-US" sz="4000" dirty="0">
                <a:solidFill>
                  <a:srgbClr val="333399"/>
                </a:solidFill>
              </a:rPr>
              <a:t>多播需要两种协议</a:t>
            </a:r>
          </a:p>
          <a:p>
            <a:r>
              <a:rPr lang="zh-CN" altLang="en-US" sz="2800" dirty="0"/>
              <a:t>为了使路由器知道多播组成员的信息，需要利用</a:t>
            </a:r>
            <a:r>
              <a:rPr lang="zh-CN" altLang="en-US" sz="2800" dirty="0">
                <a:solidFill>
                  <a:srgbClr val="FF0000"/>
                </a:solidFill>
              </a:rPr>
              <a:t>网际组管理协议 </a:t>
            </a:r>
            <a:r>
              <a:rPr lang="en-US" altLang="zh-CN" sz="2800" dirty="0">
                <a:solidFill>
                  <a:srgbClr val="FF0000"/>
                </a:solidFill>
              </a:rPr>
              <a:t>IGMP </a:t>
            </a:r>
            <a:r>
              <a:rPr lang="en-US" altLang="zh-CN" sz="2800" dirty="0"/>
              <a:t>(Internet Group Management Protocol)</a:t>
            </a:r>
            <a:r>
              <a:rPr lang="zh-CN" altLang="en-US" sz="2800" dirty="0"/>
              <a:t>。</a:t>
            </a:r>
          </a:p>
          <a:p>
            <a:r>
              <a:rPr lang="zh-CN" altLang="en-US" sz="2800" dirty="0"/>
              <a:t>连接在局域网上的多播路由器还必须和互联网上的其他多播路由器协同工作，以便把多播数据报用最小代价传送给所有的组成员。这就需要使用</a:t>
            </a:r>
            <a:r>
              <a:rPr lang="zh-CN" altLang="en-US" sz="2800" dirty="0">
                <a:solidFill>
                  <a:srgbClr val="FF0000"/>
                </a:solidFill>
              </a:rPr>
              <a:t>多播路由选择协议。 </a:t>
            </a:r>
          </a:p>
        </p:txBody>
      </p:sp>
    </p:spTree>
    <p:extLst>
      <p:ext uri="{BB962C8B-B14F-4D97-AF65-F5344CB8AC3E}">
        <p14:creationId xmlns:p14="http://schemas.microsoft.com/office/powerpoint/2010/main" val="244806232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20" name="Rectangle 4"/>
          <p:cNvSpPr>
            <a:spLocks noGrp="1" noChangeArrowheads="1"/>
          </p:cNvSpPr>
          <p:nvPr>
            <p:ph type="title"/>
          </p:nvPr>
        </p:nvSpPr>
        <p:spPr>
          <a:xfrm>
            <a:off x="495300" y="188640"/>
            <a:ext cx="8781014" cy="792088"/>
          </a:xfrm>
        </p:spPr>
        <p:txBody>
          <a:bodyPr/>
          <a:lstStyle/>
          <a:p>
            <a:pPr algn="ctr"/>
            <a:r>
              <a:rPr lang="en-US" altLang="zh-CN" sz="3600" dirty="0"/>
              <a:t>IGMP </a:t>
            </a:r>
            <a:r>
              <a:rPr lang="zh-CN" altLang="en-US" sz="3600" dirty="0"/>
              <a:t>使多播路由器知道多播组成员信息 </a:t>
            </a:r>
          </a:p>
        </p:txBody>
      </p:sp>
      <p:sp>
        <p:nvSpPr>
          <p:cNvPr id="1007621" name="Line 5"/>
          <p:cNvSpPr>
            <a:spLocks noChangeShapeType="1"/>
          </p:cNvSpPr>
          <p:nvPr/>
        </p:nvSpPr>
        <p:spPr bwMode="auto">
          <a:xfrm>
            <a:off x="5147094" y="4816377"/>
            <a:ext cx="0" cy="6619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22" name="Line 6"/>
          <p:cNvSpPr>
            <a:spLocks noChangeShapeType="1"/>
          </p:cNvSpPr>
          <p:nvPr/>
        </p:nvSpPr>
        <p:spPr bwMode="auto">
          <a:xfrm>
            <a:off x="1026473" y="4827488"/>
            <a:ext cx="65524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23" name="Line 7"/>
          <p:cNvSpPr>
            <a:spLocks noChangeShapeType="1"/>
          </p:cNvSpPr>
          <p:nvPr/>
        </p:nvSpPr>
        <p:spPr bwMode="auto">
          <a:xfrm>
            <a:off x="1026473" y="3500338"/>
            <a:ext cx="65524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24" name="Line 8"/>
          <p:cNvSpPr>
            <a:spLocks noChangeShapeType="1"/>
          </p:cNvSpPr>
          <p:nvPr/>
        </p:nvSpPr>
        <p:spPr bwMode="auto">
          <a:xfrm>
            <a:off x="5147094" y="2835176"/>
            <a:ext cx="0" cy="6651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25" name="Line 9"/>
          <p:cNvSpPr>
            <a:spLocks noChangeShapeType="1"/>
          </p:cNvSpPr>
          <p:nvPr/>
        </p:nvSpPr>
        <p:spPr bwMode="auto">
          <a:xfrm>
            <a:off x="6923640" y="4259163"/>
            <a:ext cx="159252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26" name="Line 10"/>
          <p:cNvSpPr>
            <a:spLocks noChangeShapeType="1"/>
          </p:cNvSpPr>
          <p:nvPr/>
        </p:nvSpPr>
        <p:spPr bwMode="auto">
          <a:xfrm>
            <a:off x="1681714" y="4068663"/>
            <a:ext cx="14979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27" name="Line 11"/>
          <p:cNvSpPr>
            <a:spLocks noChangeShapeType="1"/>
          </p:cNvSpPr>
          <p:nvPr/>
        </p:nvSpPr>
        <p:spPr bwMode="auto">
          <a:xfrm>
            <a:off x="8516166" y="5111651"/>
            <a:ext cx="65352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28" name="Line 12"/>
          <p:cNvSpPr>
            <a:spLocks noChangeShapeType="1"/>
          </p:cNvSpPr>
          <p:nvPr/>
        </p:nvSpPr>
        <p:spPr bwMode="auto">
          <a:xfrm>
            <a:off x="8516167" y="3784501"/>
            <a:ext cx="56065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29" name="Line 13"/>
          <p:cNvSpPr>
            <a:spLocks noChangeShapeType="1"/>
          </p:cNvSpPr>
          <p:nvPr/>
        </p:nvSpPr>
        <p:spPr bwMode="auto">
          <a:xfrm flipV="1">
            <a:off x="5893483" y="2266851"/>
            <a:ext cx="0" cy="571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30" name="Line 14"/>
          <p:cNvSpPr>
            <a:spLocks noChangeShapeType="1"/>
          </p:cNvSpPr>
          <p:nvPr/>
        </p:nvSpPr>
        <p:spPr bwMode="auto">
          <a:xfrm flipV="1">
            <a:off x="4209808" y="2266851"/>
            <a:ext cx="0" cy="571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1007631" name="Picture 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3136" y="2959002"/>
            <a:ext cx="65696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07632"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29482" y="1890613"/>
            <a:ext cx="650081"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7633" name="Text Box 17"/>
          <p:cNvSpPr txBox="1">
            <a:spLocks noChangeArrowheads="1"/>
          </p:cNvSpPr>
          <p:nvPr/>
        </p:nvSpPr>
        <p:spPr bwMode="auto">
          <a:xfrm>
            <a:off x="5110979" y="1412776"/>
            <a:ext cx="20505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128.56.24.34</a:t>
            </a:r>
          </a:p>
        </p:txBody>
      </p:sp>
      <p:sp>
        <p:nvSpPr>
          <p:cNvPr id="1007634" name="Text Box 18"/>
          <p:cNvSpPr txBox="1">
            <a:spLocks noChangeArrowheads="1"/>
          </p:cNvSpPr>
          <p:nvPr/>
        </p:nvSpPr>
        <p:spPr bwMode="auto">
          <a:xfrm>
            <a:off x="176897" y="2643088"/>
            <a:ext cx="20505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135.27.74.52</a:t>
            </a:r>
          </a:p>
        </p:txBody>
      </p:sp>
      <p:sp>
        <p:nvSpPr>
          <p:cNvPr id="1007635" name="Text Box 19"/>
          <p:cNvSpPr txBox="1">
            <a:spLocks noChangeArrowheads="1"/>
          </p:cNvSpPr>
          <p:nvPr/>
        </p:nvSpPr>
        <p:spPr bwMode="auto">
          <a:xfrm>
            <a:off x="7860926" y="2898676"/>
            <a:ext cx="20505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130.12.14.56</a:t>
            </a:r>
          </a:p>
        </p:txBody>
      </p:sp>
      <p:sp>
        <p:nvSpPr>
          <p:cNvPr id="1007636" name="Text Box 20"/>
          <p:cNvSpPr txBox="1">
            <a:spLocks noChangeArrowheads="1"/>
          </p:cNvSpPr>
          <p:nvPr/>
        </p:nvSpPr>
        <p:spPr bwMode="auto">
          <a:xfrm>
            <a:off x="7938317" y="5271591"/>
            <a:ext cx="20505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itchFamily="2" charset="-122"/>
              </a:rPr>
              <a:t>130.12.14.43</a:t>
            </a:r>
          </a:p>
        </p:txBody>
      </p:sp>
      <p:pic>
        <p:nvPicPr>
          <p:cNvPr id="1007637"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68444" y="1874739"/>
            <a:ext cx="650081"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7638"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690" y="4449664"/>
            <a:ext cx="650081"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7639"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565" y="3106638"/>
            <a:ext cx="650081"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7640"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99428" y="4635401"/>
            <a:ext cx="650081"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07641"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06559" y="3297139"/>
            <a:ext cx="650081"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7642" name="Line 26"/>
          <p:cNvSpPr>
            <a:spLocks noChangeShapeType="1"/>
          </p:cNvSpPr>
          <p:nvPr/>
        </p:nvSpPr>
        <p:spPr bwMode="auto">
          <a:xfrm>
            <a:off x="3647436" y="2835176"/>
            <a:ext cx="29012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43" name="Line 27"/>
          <p:cNvSpPr>
            <a:spLocks noChangeShapeType="1"/>
          </p:cNvSpPr>
          <p:nvPr/>
        </p:nvSpPr>
        <p:spPr bwMode="auto">
          <a:xfrm flipV="1">
            <a:off x="4397265" y="5478364"/>
            <a:ext cx="0" cy="4746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44" name="Line 28"/>
          <p:cNvSpPr>
            <a:spLocks noChangeShapeType="1"/>
          </p:cNvSpPr>
          <p:nvPr/>
        </p:nvSpPr>
        <p:spPr bwMode="auto">
          <a:xfrm>
            <a:off x="3552848" y="5478363"/>
            <a:ext cx="35582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1007645"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84263" y="5679976"/>
            <a:ext cx="650081"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7646" name="Line 30"/>
          <p:cNvSpPr>
            <a:spLocks noChangeShapeType="1"/>
          </p:cNvSpPr>
          <p:nvPr/>
        </p:nvSpPr>
        <p:spPr bwMode="auto">
          <a:xfrm flipV="1">
            <a:off x="5988073" y="5478364"/>
            <a:ext cx="0" cy="4746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1007647"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1632" y="5713314"/>
            <a:ext cx="650081"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7648" name="Line 32"/>
          <p:cNvSpPr>
            <a:spLocks noChangeShapeType="1"/>
          </p:cNvSpPr>
          <p:nvPr/>
        </p:nvSpPr>
        <p:spPr bwMode="auto">
          <a:xfrm rot="5400000">
            <a:off x="7425554" y="4306789"/>
            <a:ext cx="21812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49" name="Line 33"/>
          <p:cNvSpPr>
            <a:spLocks noChangeShapeType="1"/>
          </p:cNvSpPr>
          <p:nvPr/>
        </p:nvSpPr>
        <p:spPr bwMode="auto">
          <a:xfrm rot="-5400000">
            <a:off x="591896" y="4305995"/>
            <a:ext cx="21796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1007650"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6011" y="4068664"/>
            <a:ext cx="65696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07651"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3136" y="4943376"/>
            <a:ext cx="656960"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007652"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6630" y="3881339"/>
            <a:ext cx="656960"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007653" name="Group 37"/>
          <p:cNvGrpSpPr>
            <a:grpSpLocks/>
          </p:cNvGrpSpPr>
          <p:nvPr/>
        </p:nvGrpSpPr>
        <p:grpSpPr bwMode="auto">
          <a:xfrm>
            <a:off x="3179653" y="3500338"/>
            <a:ext cx="3931444" cy="1327150"/>
            <a:chOff x="912" y="768"/>
            <a:chExt cx="2400" cy="1584"/>
          </a:xfrm>
          <a:solidFill>
            <a:schemeClr val="bg1">
              <a:lumMod val="75000"/>
            </a:schemeClr>
          </a:solidFill>
          <a:effectLst>
            <a:outerShdw blurRad="50800" dist="38100" dir="2700000" algn="tl" rotWithShape="0">
              <a:prstClr val="black"/>
            </a:outerShdw>
          </a:effectLst>
        </p:grpSpPr>
        <p:sp>
          <p:nvSpPr>
            <p:cNvPr id="1007654" name="Oval 38"/>
            <p:cNvSpPr>
              <a:spLocks noChangeArrowheads="1"/>
            </p:cNvSpPr>
            <p:nvPr/>
          </p:nvSpPr>
          <p:spPr bwMode="auto">
            <a:xfrm>
              <a:off x="1751" y="799"/>
              <a:ext cx="1026" cy="62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55" name="Oval 39"/>
            <p:cNvSpPr>
              <a:spLocks noChangeArrowheads="1"/>
            </p:cNvSpPr>
            <p:nvPr/>
          </p:nvSpPr>
          <p:spPr bwMode="auto">
            <a:xfrm>
              <a:off x="1172" y="972"/>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56" name="Oval 40"/>
            <p:cNvSpPr>
              <a:spLocks noChangeArrowheads="1"/>
            </p:cNvSpPr>
            <p:nvPr/>
          </p:nvSpPr>
          <p:spPr bwMode="auto">
            <a:xfrm>
              <a:off x="926" y="1364"/>
              <a:ext cx="521" cy="50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57" name="Oval 41"/>
            <p:cNvSpPr>
              <a:spLocks noChangeArrowheads="1"/>
            </p:cNvSpPr>
            <p:nvPr/>
          </p:nvSpPr>
          <p:spPr bwMode="auto">
            <a:xfrm>
              <a:off x="1085" y="1599"/>
              <a:ext cx="796"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58" name="Oval 42"/>
            <p:cNvSpPr>
              <a:spLocks noChangeArrowheads="1"/>
            </p:cNvSpPr>
            <p:nvPr/>
          </p:nvSpPr>
          <p:spPr bwMode="auto">
            <a:xfrm>
              <a:off x="1664" y="1693"/>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59" name="Oval 43"/>
            <p:cNvSpPr>
              <a:spLocks noChangeArrowheads="1"/>
            </p:cNvSpPr>
            <p:nvPr/>
          </p:nvSpPr>
          <p:spPr bwMode="auto">
            <a:xfrm>
              <a:off x="2445" y="988"/>
              <a:ext cx="751"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60" name="Oval 44"/>
            <p:cNvSpPr>
              <a:spLocks noChangeArrowheads="1"/>
            </p:cNvSpPr>
            <p:nvPr/>
          </p:nvSpPr>
          <p:spPr bwMode="auto">
            <a:xfrm>
              <a:off x="2560" y="1317"/>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61" name="Oval 45"/>
            <p:cNvSpPr>
              <a:spLocks noChangeArrowheads="1"/>
            </p:cNvSpPr>
            <p:nvPr/>
          </p:nvSpPr>
          <p:spPr bwMode="auto">
            <a:xfrm>
              <a:off x="2488" y="1427"/>
              <a:ext cx="752"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62" name="Oval 46"/>
            <p:cNvSpPr>
              <a:spLocks noChangeArrowheads="1"/>
            </p:cNvSpPr>
            <p:nvPr/>
          </p:nvSpPr>
          <p:spPr bwMode="auto">
            <a:xfrm>
              <a:off x="1360" y="1176"/>
              <a:ext cx="1547" cy="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nvGrpSpPr>
            <p:cNvPr id="1007663" name="Group 47"/>
            <p:cNvGrpSpPr>
              <a:grpSpLocks/>
            </p:cNvGrpSpPr>
            <p:nvPr/>
          </p:nvGrpSpPr>
          <p:grpSpPr bwMode="auto">
            <a:xfrm>
              <a:off x="912" y="768"/>
              <a:ext cx="2386" cy="1553"/>
              <a:chOff x="912" y="768"/>
              <a:chExt cx="2386" cy="1553"/>
            </a:xfrm>
            <a:grpFill/>
          </p:grpSpPr>
          <p:sp>
            <p:nvSpPr>
              <p:cNvPr id="1007664" name="Oval 48"/>
              <p:cNvSpPr>
                <a:spLocks noChangeArrowheads="1"/>
              </p:cNvSpPr>
              <p:nvPr/>
            </p:nvSpPr>
            <p:spPr bwMode="auto">
              <a:xfrm>
                <a:off x="1736" y="768"/>
                <a:ext cx="1027"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65" name="Oval 49"/>
              <p:cNvSpPr>
                <a:spLocks noChangeArrowheads="1"/>
              </p:cNvSpPr>
              <p:nvPr/>
            </p:nvSpPr>
            <p:spPr bwMode="auto">
              <a:xfrm>
                <a:off x="1158" y="941"/>
                <a:ext cx="781" cy="6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66" name="Oval 50"/>
              <p:cNvSpPr>
                <a:spLocks noChangeArrowheads="1"/>
              </p:cNvSpPr>
              <p:nvPr/>
            </p:nvSpPr>
            <p:spPr bwMode="auto">
              <a:xfrm>
                <a:off x="912" y="1333"/>
                <a:ext cx="520" cy="5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67" name="Oval 51"/>
              <p:cNvSpPr>
                <a:spLocks noChangeArrowheads="1"/>
              </p:cNvSpPr>
              <p:nvPr/>
            </p:nvSpPr>
            <p:spPr bwMode="auto">
              <a:xfrm>
                <a:off x="1071" y="1568"/>
                <a:ext cx="795" cy="54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68" name="Oval 52"/>
              <p:cNvSpPr>
                <a:spLocks noChangeArrowheads="1"/>
              </p:cNvSpPr>
              <p:nvPr/>
            </p:nvSpPr>
            <p:spPr bwMode="auto">
              <a:xfrm>
                <a:off x="1649" y="1662"/>
                <a:ext cx="1200" cy="6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69" name="Oval 53"/>
              <p:cNvSpPr>
                <a:spLocks noChangeArrowheads="1"/>
              </p:cNvSpPr>
              <p:nvPr/>
            </p:nvSpPr>
            <p:spPr bwMode="auto">
              <a:xfrm>
                <a:off x="2430" y="95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70" name="Oval 54"/>
              <p:cNvSpPr>
                <a:spLocks noChangeArrowheads="1"/>
              </p:cNvSpPr>
              <p:nvPr/>
            </p:nvSpPr>
            <p:spPr bwMode="auto">
              <a:xfrm>
                <a:off x="2546" y="1286"/>
                <a:ext cx="752" cy="48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71" name="Oval 55"/>
              <p:cNvSpPr>
                <a:spLocks noChangeArrowheads="1"/>
              </p:cNvSpPr>
              <p:nvPr/>
            </p:nvSpPr>
            <p:spPr bwMode="auto">
              <a:xfrm>
                <a:off x="2473" y="1395"/>
                <a:ext cx="752"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1007672" name="Oval 56"/>
              <p:cNvSpPr>
                <a:spLocks noChangeArrowheads="1"/>
              </p:cNvSpPr>
              <p:nvPr/>
            </p:nvSpPr>
            <p:spPr bwMode="auto">
              <a:xfrm>
                <a:off x="1346" y="1144"/>
                <a:ext cx="1547" cy="8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rgbClr val="000099"/>
                  </a:solidFill>
                  <a:latin typeface="+mn-lt"/>
                  <a:ea typeface="黑体" pitchFamily="2" charset="-122"/>
                </a:endParaRPr>
              </a:p>
            </p:txBody>
          </p:sp>
        </p:grpSp>
      </p:grpSp>
      <p:sp>
        <p:nvSpPr>
          <p:cNvPr id="1007673" name="Text Box 57"/>
          <p:cNvSpPr txBox="1">
            <a:spLocks noChangeArrowheads="1"/>
          </p:cNvSpPr>
          <p:nvPr/>
        </p:nvSpPr>
        <p:spPr bwMode="auto">
          <a:xfrm>
            <a:off x="4089642" y="3660676"/>
            <a:ext cx="2206053" cy="830997"/>
          </a:xfrm>
          <a:prstGeom prst="rect">
            <a:avLst/>
          </a:prstGeom>
          <a:solidFill>
            <a:srgbClr val="FFFF66"/>
          </a:solidFill>
          <a:ln w="9525">
            <a:solidFill>
              <a:schemeClr val="folHlink"/>
            </a:solidFill>
            <a:miter lim="800000"/>
            <a:headEnd/>
            <a:tailEnd/>
          </a:ln>
          <a:effectLst>
            <a:outerShdw dist="45791" dir="3378596" algn="ctr" rotWithShape="0">
              <a:schemeClr val="bg2"/>
            </a:outerShdw>
          </a:effectLst>
        </p:spPr>
        <p:txBody>
          <a:bodyPr wrap="none">
            <a:spAutoFit/>
          </a:bodyPr>
          <a:lstStyle/>
          <a:p>
            <a:pPr algn="ctr"/>
            <a:r>
              <a:rPr lang="zh-CN" altLang="en-US" sz="2400" b="1" dirty="0">
                <a:solidFill>
                  <a:srgbClr val="000099"/>
                </a:solidFill>
                <a:latin typeface="+mn-lt"/>
                <a:ea typeface="黑体" pitchFamily="2" charset="-122"/>
              </a:rPr>
              <a:t>多播组</a:t>
            </a:r>
          </a:p>
          <a:p>
            <a:pPr algn="ctr"/>
            <a:r>
              <a:rPr lang="en-US" altLang="zh-CN" sz="2400" b="1" dirty="0">
                <a:solidFill>
                  <a:srgbClr val="000099"/>
                </a:solidFill>
                <a:latin typeface="+mn-lt"/>
                <a:ea typeface="黑体" pitchFamily="2" charset="-122"/>
              </a:rPr>
              <a:t>226.15.37.123</a:t>
            </a:r>
          </a:p>
        </p:txBody>
      </p:sp>
      <p:sp>
        <p:nvSpPr>
          <p:cNvPr id="1007674" name="Freeform 58"/>
          <p:cNvSpPr>
            <a:spLocks/>
          </p:cNvSpPr>
          <p:nvPr/>
        </p:nvSpPr>
        <p:spPr bwMode="auto">
          <a:xfrm>
            <a:off x="1212210" y="3393976"/>
            <a:ext cx="1217613" cy="608012"/>
          </a:xfrm>
          <a:custGeom>
            <a:avLst/>
            <a:gdLst>
              <a:gd name="T0" fmla="*/ 0 w 872"/>
              <a:gd name="T1" fmla="*/ 6 h 291"/>
              <a:gd name="T2" fmla="*/ 182 w 872"/>
              <a:gd name="T3" fmla="*/ 6 h 291"/>
              <a:gd name="T4" fmla="*/ 269 w 872"/>
              <a:gd name="T5" fmla="*/ 44 h 291"/>
              <a:gd name="T6" fmla="*/ 284 w 872"/>
              <a:gd name="T7" fmla="*/ 206 h 291"/>
              <a:gd name="T8" fmla="*/ 413 w 872"/>
              <a:gd name="T9" fmla="*/ 278 h 291"/>
              <a:gd name="T10" fmla="*/ 782 w 872"/>
              <a:gd name="T11" fmla="*/ 284 h 291"/>
              <a:gd name="T12" fmla="*/ 872 w 872"/>
              <a:gd name="T13" fmla="*/ 281 h 291"/>
            </a:gdLst>
            <a:ahLst/>
            <a:cxnLst>
              <a:cxn ang="0">
                <a:pos x="T0" y="T1"/>
              </a:cxn>
              <a:cxn ang="0">
                <a:pos x="T2" y="T3"/>
              </a:cxn>
              <a:cxn ang="0">
                <a:pos x="T4" y="T5"/>
              </a:cxn>
              <a:cxn ang="0">
                <a:pos x="T6" y="T7"/>
              </a:cxn>
              <a:cxn ang="0">
                <a:pos x="T8" y="T9"/>
              </a:cxn>
              <a:cxn ang="0">
                <a:pos x="T10" y="T11"/>
              </a:cxn>
              <a:cxn ang="0">
                <a:pos x="T12" y="T13"/>
              </a:cxn>
            </a:cxnLst>
            <a:rect l="0" t="0" r="r" b="b"/>
            <a:pathLst>
              <a:path w="872" h="291">
                <a:moveTo>
                  <a:pt x="0" y="6"/>
                </a:moveTo>
                <a:cubicBezTo>
                  <a:pt x="68" y="6"/>
                  <a:pt x="137" y="0"/>
                  <a:pt x="182" y="6"/>
                </a:cubicBezTo>
                <a:cubicBezTo>
                  <a:pt x="227" y="12"/>
                  <a:pt x="252" y="11"/>
                  <a:pt x="269" y="44"/>
                </a:cubicBezTo>
                <a:cubicBezTo>
                  <a:pt x="286" y="77"/>
                  <a:pt x="260" y="167"/>
                  <a:pt x="284" y="206"/>
                </a:cubicBezTo>
                <a:cubicBezTo>
                  <a:pt x="308" y="245"/>
                  <a:pt x="330" y="265"/>
                  <a:pt x="413" y="278"/>
                </a:cubicBezTo>
                <a:cubicBezTo>
                  <a:pt x="496" y="291"/>
                  <a:pt x="706" y="284"/>
                  <a:pt x="782" y="284"/>
                </a:cubicBezTo>
                <a:cubicBezTo>
                  <a:pt x="858" y="284"/>
                  <a:pt x="853" y="282"/>
                  <a:pt x="872" y="281"/>
                </a:cubicBezTo>
              </a:path>
            </a:pathLst>
          </a:custGeom>
          <a:noFill/>
          <a:ln w="57150" cmpd="sng">
            <a:solidFill>
              <a:srgbClr val="C0000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75" name="Freeform 59"/>
          <p:cNvSpPr>
            <a:spLocks/>
          </p:cNvSpPr>
          <p:nvPr/>
        </p:nvSpPr>
        <p:spPr bwMode="auto">
          <a:xfrm>
            <a:off x="5239963" y="2158901"/>
            <a:ext cx="791104" cy="963612"/>
          </a:xfrm>
          <a:custGeom>
            <a:avLst/>
            <a:gdLst>
              <a:gd name="T0" fmla="*/ 384 w 384"/>
              <a:gd name="T1" fmla="*/ 0 h 461"/>
              <a:gd name="T2" fmla="*/ 374 w 384"/>
              <a:gd name="T3" fmla="*/ 229 h 461"/>
              <a:gd name="T4" fmla="*/ 324 w 384"/>
              <a:gd name="T5" fmla="*/ 259 h 461"/>
              <a:gd name="T6" fmla="*/ 112 w 384"/>
              <a:gd name="T7" fmla="*/ 264 h 461"/>
              <a:gd name="T8" fmla="*/ 17 w 384"/>
              <a:gd name="T9" fmla="*/ 307 h 461"/>
              <a:gd name="T10" fmla="*/ 13 w 384"/>
              <a:gd name="T11" fmla="*/ 461 h 461"/>
            </a:gdLst>
            <a:ahLst/>
            <a:cxnLst>
              <a:cxn ang="0">
                <a:pos x="T0" y="T1"/>
              </a:cxn>
              <a:cxn ang="0">
                <a:pos x="T2" y="T3"/>
              </a:cxn>
              <a:cxn ang="0">
                <a:pos x="T4" y="T5"/>
              </a:cxn>
              <a:cxn ang="0">
                <a:pos x="T6" y="T7"/>
              </a:cxn>
              <a:cxn ang="0">
                <a:pos x="T8" y="T9"/>
              </a:cxn>
              <a:cxn ang="0">
                <a:pos x="T10" y="T11"/>
              </a:cxn>
            </a:cxnLst>
            <a:rect l="0" t="0" r="r" b="b"/>
            <a:pathLst>
              <a:path w="384" h="461">
                <a:moveTo>
                  <a:pt x="384" y="0"/>
                </a:moveTo>
                <a:cubicBezTo>
                  <a:pt x="382" y="35"/>
                  <a:pt x="384" y="186"/>
                  <a:pt x="374" y="229"/>
                </a:cubicBezTo>
                <a:cubicBezTo>
                  <a:pt x="364" y="272"/>
                  <a:pt x="368" y="253"/>
                  <a:pt x="324" y="259"/>
                </a:cubicBezTo>
                <a:cubicBezTo>
                  <a:pt x="281" y="264"/>
                  <a:pt x="163" y="256"/>
                  <a:pt x="112" y="264"/>
                </a:cubicBezTo>
                <a:cubicBezTo>
                  <a:pt x="60" y="272"/>
                  <a:pt x="34" y="274"/>
                  <a:pt x="17" y="307"/>
                </a:cubicBezTo>
                <a:cubicBezTo>
                  <a:pt x="0" y="340"/>
                  <a:pt x="14" y="435"/>
                  <a:pt x="13" y="461"/>
                </a:cubicBezTo>
              </a:path>
            </a:pathLst>
          </a:custGeom>
          <a:noFill/>
          <a:ln w="57150" cmpd="sng">
            <a:solidFill>
              <a:srgbClr val="C0000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76" name="Freeform 60"/>
          <p:cNvSpPr>
            <a:spLocks/>
          </p:cNvSpPr>
          <p:nvPr/>
        </p:nvSpPr>
        <p:spPr bwMode="auto">
          <a:xfrm>
            <a:off x="7952075" y="4449664"/>
            <a:ext cx="1563290" cy="563563"/>
          </a:xfrm>
          <a:custGeom>
            <a:avLst/>
            <a:gdLst>
              <a:gd name="T0" fmla="*/ 757 w 757"/>
              <a:gd name="T1" fmla="*/ 269 h 270"/>
              <a:gd name="T2" fmla="*/ 435 w 757"/>
              <a:gd name="T3" fmla="*/ 265 h 270"/>
              <a:gd name="T4" fmla="*/ 378 w 757"/>
              <a:gd name="T5" fmla="*/ 238 h 270"/>
              <a:gd name="T6" fmla="*/ 372 w 757"/>
              <a:gd name="T7" fmla="*/ 169 h 270"/>
              <a:gd name="T8" fmla="*/ 372 w 757"/>
              <a:gd name="T9" fmla="*/ 85 h 270"/>
              <a:gd name="T10" fmla="*/ 359 w 757"/>
              <a:gd name="T11" fmla="*/ 13 h 270"/>
              <a:gd name="T12" fmla="*/ 252 w 757"/>
              <a:gd name="T13" fmla="*/ 5 h 270"/>
              <a:gd name="T14" fmla="*/ 0 w 757"/>
              <a:gd name="T15" fmla="*/ 6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270">
                <a:moveTo>
                  <a:pt x="757" y="269"/>
                </a:moveTo>
                <a:cubicBezTo>
                  <a:pt x="703" y="268"/>
                  <a:pt x="498" y="270"/>
                  <a:pt x="435" y="265"/>
                </a:cubicBezTo>
                <a:cubicBezTo>
                  <a:pt x="372" y="260"/>
                  <a:pt x="388" y="254"/>
                  <a:pt x="378" y="238"/>
                </a:cubicBezTo>
                <a:cubicBezTo>
                  <a:pt x="368" y="222"/>
                  <a:pt x="373" y="194"/>
                  <a:pt x="372" y="169"/>
                </a:cubicBezTo>
                <a:cubicBezTo>
                  <a:pt x="371" y="144"/>
                  <a:pt x="374" y="111"/>
                  <a:pt x="372" y="85"/>
                </a:cubicBezTo>
                <a:cubicBezTo>
                  <a:pt x="370" y="59"/>
                  <a:pt x="380" y="27"/>
                  <a:pt x="359" y="13"/>
                </a:cubicBezTo>
                <a:cubicBezTo>
                  <a:pt x="339" y="0"/>
                  <a:pt x="311" y="6"/>
                  <a:pt x="252" y="5"/>
                </a:cubicBezTo>
                <a:cubicBezTo>
                  <a:pt x="192" y="4"/>
                  <a:pt x="52" y="6"/>
                  <a:pt x="0" y="6"/>
                </a:cubicBezTo>
              </a:path>
            </a:pathLst>
          </a:custGeom>
          <a:noFill/>
          <a:ln w="57150" cmpd="sng">
            <a:solidFill>
              <a:srgbClr val="C0000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77" name="Freeform 61"/>
          <p:cNvSpPr>
            <a:spLocks/>
          </p:cNvSpPr>
          <p:nvPr/>
        </p:nvSpPr>
        <p:spPr bwMode="auto">
          <a:xfrm>
            <a:off x="7859206" y="3663851"/>
            <a:ext cx="1417108" cy="444500"/>
          </a:xfrm>
          <a:custGeom>
            <a:avLst/>
            <a:gdLst>
              <a:gd name="T0" fmla="*/ 686 w 686"/>
              <a:gd name="T1" fmla="*/ 8 h 213"/>
              <a:gd name="T2" fmla="*/ 462 w 686"/>
              <a:gd name="T3" fmla="*/ 8 h 213"/>
              <a:gd name="T4" fmla="*/ 399 w 686"/>
              <a:gd name="T5" fmla="*/ 26 h 213"/>
              <a:gd name="T6" fmla="*/ 388 w 686"/>
              <a:gd name="T7" fmla="*/ 167 h 213"/>
              <a:gd name="T8" fmla="*/ 327 w 686"/>
              <a:gd name="T9" fmla="*/ 206 h 213"/>
              <a:gd name="T10" fmla="*/ 0 w 686"/>
              <a:gd name="T11" fmla="*/ 211 h 213"/>
            </a:gdLst>
            <a:ahLst/>
            <a:cxnLst>
              <a:cxn ang="0">
                <a:pos x="T0" y="T1"/>
              </a:cxn>
              <a:cxn ang="0">
                <a:pos x="T2" y="T3"/>
              </a:cxn>
              <a:cxn ang="0">
                <a:pos x="T4" y="T5"/>
              </a:cxn>
              <a:cxn ang="0">
                <a:pos x="T6" y="T7"/>
              </a:cxn>
              <a:cxn ang="0">
                <a:pos x="T8" y="T9"/>
              </a:cxn>
              <a:cxn ang="0">
                <a:pos x="T10" y="T11"/>
              </a:cxn>
            </a:cxnLst>
            <a:rect l="0" t="0" r="r" b="b"/>
            <a:pathLst>
              <a:path w="686" h="213">
                <a:moveTo>
                  <a:pt x="686" y="8"/>
                </a:moveTo>
                <a:cubicBezTo>
                  <a:pt x="650" y="8"/>
                  <a:pt x="510" y="5"/>
                  <a:pt x="462" y="8"/>
                </a:cubicBezTo>
                <a:cubicBezTo>
                  <a:pt x="414" y="11"/>
                  <a:pt x="411" y="0"/>
                  <a:pt x="399" y="26"/>
                </a:cubicBezTo>
                <a:cubicBezTo>
                  <a:pt x="387" y="52"/>
                  <a:pt x="400" y="137"/>
                  <a:pt x="388" y="167"/>
                </a:cubicBezTo>
                <a:cubicBezTo>
                  <a:pt x="376" y="197"/>
                  <a:pt x="392" y="199"/>
                  <a:pt x="327" y="206"/>
                </a:cubicBezTo>
                <a:cubicBezTo>
                  <a:pt x="263" y="213"/>
                  <a:pt x="68" y="210"/>
                  <a:pt x="0" y="211"/>
                </a:cubicBezTo>
              </a:path>
            </a:pathLst>
          </a:custGeom>
          <a:noFill/>
          <a:ln w="57150" cmpd="sng">
            <a:solidFill>
              <a:srgbClr val="C0000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007678" name="Text Box 62"/>
          <p:cNvSpPr txBox="1">
            <a:spLocks noChangeArrowheads="1"/>
          </p:cNvSpPr>
          <p:nvPr/>
        </p:nvSpPr>
        <p:spPr bwMode="auto">
          <a:xfrm>
            <a:off x="1619802" y="3401913"/>
            <a:ext cx="9701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IGMP</a:t>
            </a:r>
          </a:p>
        </p:txBody>
      </p:sp>
      <p:sp>
        <p:nvSpPr>
          <p:cNvPr id="1007679" name="Text Box 63"/>
          <p:cNvSpPr txBox="1">
            <a:spLocks noChangeArrowheads="1"/>
          </p:cNvSpPr>
          <p:nvPr/>
        </p:nvSpPr>
        <p:spPr bwMode="auto">
          <a:xfrm>
            <a:off x="7627034" y="3619401"/>
            <a:ext cx="970137"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IGMP</a:t>
            </a:r>
          </a:p>
        </p:txBody>
      </p:sp>
      <p:sp>
        <p:nvSpPr>
          <p:cNvPr id="1007680" name="Text Box 64"/>
          <p:cNvSpPr txBox="1">
            <a:spLocks noChangeArrowheads="1"/>
          </p:cNvSpPr>
          <p:nvPr/>
        </p:nvSpPr>
        <p:spPr bwMode="auto">
          <a:xfrm>
            <a:off x="5332831" y="2755801"/>
            <a:ext cx="9701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IGMP</a:t>
            </a:r>
          </a:p>
        </p:txBody>
      </p:sp>
      <p:sp>
        <p:nvSpPr>
          <p:cNvPr id="1007681" name="Text Box 65"/>
          <p:cNvSpPr txBox="1">
            <a:spLocks noChangeArrowheads="1"/>
          </p:cNvSpPr>
          <p:nvPr/>
        </p:nvSpPr>
        <p:spPr bwMode="auto">
          <a:xfrm>
            <a:off x="7676908" y="4483001"/>
            <a:ext cx="9701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IGMP</a:t>
            </a:r>
          </a:p>
        </p:txBody>
      </p:sp>
      <p:sp>
        <p:nvSpPr>
          <p:cNvPr id="1007682" name="Text Box 66"/>
          <p:cNvSpPr txBox="1">
            <a:spLocks noChangeArrowheads="1"/>
          </p:cNvSpPr>
          <p:nvPr/>
        </p:nvSpPr>
        <p:spPr bwMode="auto">
          <a:xfrm>
            <a:off x="4335353" y="2898676"/>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R</a:t>
            </a:r>
            <a:r>
              <a:rPr lang="en-US" altLang="zh-CN" sz="2400" b="1" baseline="-25000">
                <a:solidFill>
                  <a:srgbClr val="000099"/>
                </a:solidFill>
                <a:latin typeface="+mn-lt"/>
                <a:ea typeface="黑体" pitchFamily="2" charset="-122"/>
              </a:rPr>
              <a:t>1</a:t>
            </a:r>
          </a:p>
        </p:txBody>
      </p:sp>
      <p:sp>
        <p:nvSpPr>
          <p:cNvPr id="1007683" name="Text Box 67"/>
          <p:cNvSpPr txBox="1">
            <a:spLocks noChangeArrowheads="1"/>
          </p:cNvSpPr>
          <p:nvPr/>
        </p:nvSpPr>
        <p:spPr bwMode="auto">
          <a:xfrm>
            <a:off x="4271721" y="4771926"/>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R</a:t>
            </a:r>
            <a:r>
              <a:rPr lang="en-US" altLang="zh-CN" sz="2400" b="1" baseline="-25000">
                <a:solidFill>
                  <a:srgbClr val="000099"/>
                </a:solidFill>
                <a:latin typeface="+mn-lt"/>
                <a:ea typeface="黑体" pitchFamily="2" charset="-122"/>
              </a:rPr>
              <a:t>4</a:t>
            </a:r>
          </a:p>
        </p:txBody>
      </p:sp>
      <p:sp>
        <p:nvSpPr>
          <p:cNvPr id="1007684" name="Text Box 68"/>
          <p:cNvSpPr txBox="1">
            <a:spLocks noChangeArrowheads="1"/>
          </p:cNvSpPr>
          <p:nvPr/>
        </p:nvSpPr>
        <p:spPr bwMode="auto">
          <a:xfrm>
            <a:off x="7080140" y="3763863"/>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R</a:t>
            </a:r>
            <a:r>
              <a:rPr lang="en-US" altLang="zh-CN" sz="2400" b="1" baseline="-25000">
                <a:solidFill>
                  <a:srgbClr val="000099"/>
                </a:solidFill>
                <a:latin typeface="+mn-lt"/>
                <a:ea typeface="黑体" pitchFamily="2" charset="-122"/>
              </a:rPr>
              <a:t>3</a:t>
            </a:r>
          </a:p>
        </p:txBody>
      </p:sp>
      <p:sp>
        <p:nvSpPr>
          <p:cNvPr id="1007685" name="Text Box 69"/>
          <p:cNvSpPr txBox="1">
            <a:spLocks noChangeArrowheads="1"/>
          </p:cNvSpPr>
          <p:nvPr/>
        </p:nvSpPr>
        <p:spPr bwMode="auto">
          <a:xfrm>
            <a:off x="2619001" y="3644802"/>
            <a:ext cx="521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R</a:t>
            </a:r>
            <a:r>
              <a:rPr lang="en-US" altLang="zh-CN" sz="2400" b="1" baseline="-25000">
                <a:solidFill>
                  <a:srgbClr val="000099"/>
                </a:solidFill>
                <a:latin typeface="+mn-lt"/>
                <a:ea typeface="黑体" pitchFamily="2" charset="-122"/>
              </a:rPr>
              <a:t>2</a:t>
            </a:r>
          </a:p>
        </p:txBody>
      </p:sp>
      <p:sp>
        <p:nvSpPr>
          <p:cNvPr id="2" name="TextBox 1"/>
          <p:cNvSpPr txBox="1"/>
          <p:nvPr/>
        </p:nvSpPr>
        <p:spPr>
          <a:xfrm>
            <a:off x="5385048" y="1124744"/>
            <a:ext cx="1475084" cy="400110"/>
          </a:xfrm>
          <a:prstGeom prst="rect">
            <a:avLst/>
          </a:prstGeom>
          <a:noFill/>
        </p:spPr>
        <p:txBody>
          <a:bodyPr wrap="none" rtlCol="0">
            <a:spAutoFit/>
          </a:bodyPr>
          <a:lstStyle/>
          <a:p>
            <a:r>
              <a:rPr lang="zh-CN" altLang="en-US" sz="2000" b="1" dirty="0">
                <a:latin typeface="+mn-lt"/>
                <a:ea typeface="黑体" pitchFamily="2" charset="-122"/>
              </a:rPr>
              <a:t>参加多播组</a:t>
            </a:r>
          </a:p>
        </p:txBody>
      </p:sp>
      <p:sp>
        <p:nvSpPr>
          <p:cNvPr id="70" name="TextBox 69"/>
          <p:cNvSpPr txBox="1"/>
          <p:nvPr/>
        </p:nvSpPr>
        <p:spPr>
          <a:xfrm>
            <a:off x="464635" y="2316942"/>
            <a:ext cx="1475084" cy="400110"/>
          </a:xfrm>
          <a:prstGeom prst="rect">
            <a:avLst/>
          </a:prstGeom>
          <a:noFill/>
        </p:spPr>
        <p:txBody>
          <a:bodyPr wrap="none" rtlCol="0">
            <a:spAutoFit/>
          </a:bodyPr>
          <a:lstStyle/>
          <a:p>
            <a:r>
              <a:rPr lang="zh-CN" altLang="en-US" sz="2000" b="1" dirty="0">
                <a:latin typeface="+mn-lt"/>
                <a:ea typeface="黑体" pitchFamily="2" charset="-122"/>
              </a:rPr>
              <a:t>参加多播组</a:t>
            </a:r>
          </a:p>
        </p:txBody>
      </p:sp>
      <p:sp>
        <p:nvSpPr>
          <p:cNvPr id="71" name="TextBox 70"/>
          <p:cNvSpPr txBox="1"/>
          <p:nvPr/>
        </p:nvSpPr>
        <p:spPr>
          <a:xfrm>
            <a:off x="8261886" y="5665391"/>
            <a:ext cx="1475084" cy="400110"/>
          </a:xfrm>
          <a:prstGeom prst="rect">
            <a:avLst/>
          </a:prstGeom>
          <a:noFill/>
        </p:spPr>
        <p:txBody>
          <a:bodyPr wrap="none" rtlCol="0">
            <a:spAutoFit/>
          </a:bodyPr>
          <a:lstStyle/>
          <a:p>
            <a:r>
              <a:rPr lang="zh-CN" altLang="en-US" sz="2000" b="1" dirty="0">
                <a:latin typeface="+mn-lt"/>
                <a:ea typeface="黑体" pitchFamily="2" charset="-122"/>
              </a:rPr>
              <a:t>参加多播组</a:t>
            </a:r>
          </a:p>
        </p:txBody>
      </p:sp>
      <p:sp>
        <p:nvSpPr>
          <p:cNvPr id="72" name="TextBox 71"/>
          <p:cNvSpPr txBox="1"/>
          <p:nvPr/>
        </p:nvSpPr>
        <p:spPr>
          <a:xfrm>
            <a:off x="8121352" y="2586523"/>
            <a:ext cx="1475084" cy="400110"/>
          </a:xfrm>
          <a:prstGeom prst="rect">
            <a:avLst/>
          </a:prstGeom>
          <a:noFill/>
        </p:spPr>
        <p:txBody>
          <a:bodyPr wrap="none" rtlCol="0">
            <a:spAutoFit/>
          </a:bodyPr>
          <a:lstStyle/>
          <a:p>
            <a:r>
              <a:rPr lang="zh-CN" altLang="en-US" sz="2000" b="1" dirty="0">
                <a:latin typeface="+mn-lt"/>
                <a:ea typeface="黑体" pitchFamily="2" charset="-122"/>
              </a:rPr>
              <a:t>参加多播组</a:t>
            </a:r>
          </a:p>
        </p:txBody>
      </p:sp>
      <p:sp>
        <p:nvSpPr>
          <p:cNvPr id="73" name="TextBox 72"/>
          <p:cNvSpPr txBox="1"/>
          <p:nvPr/>
        </p:nvSpPr>
        <p:spPr>
          <a:xfrm>
            <a:off x="393683" y="5030658"/>
            <a:ext cx="958917" cy="707886"/>
          </a:xfrm>
          <a:prstGeom prst="rect">
            <a:avLst/>
          </a:prstGeom>
          <a:noFill/>
        </p:spPr>
        <p:txBody>
          <a:bodyPr wrap="none" rtlCol="0">
            <a:spAutoFit/>
          </a:bodyPr>
          <a:lstStyle/>
          <a:p>
            <a:r>
              <a:rPr lang="zh-CN" altLang="en-US" sz="2000" b="1" dirty="0">
                <a:latin typeface="+mn-lt"/>
                <a:ea typeface="黑体" pitchFamily="2" charset="-122"/>
              </a:rPr>
              <a:t>未参加</a:t>
            </a:r>
            <a:endParaRPr lang="en-US" altLang="zh-CN" sz="2000" b="1" dirty="0">
              <a:latin typeface="+mn-lt"/>
              <a:ea typeface="黑体" pitchFamily="2" charset="-122"/>
            </a:endParaRPr>
          </a:p>
          <a:p>
            <a:r>
              <a:rPr lang="zh-CN" altLang="en-US" sz="2000" b="1" dirty="0">
                <a:latin typeface="+mn-lt"/>
                <a:ea typeface="黑体" pitchFamily="2" charset="-122"/>
              </a:rPr>
              <a:t>多播组</a:t>
            </a:r>
          </a:p>
        </p:txBody>
      </p:sp>
      <p:sp>
        <p:nvSpPr>
          <p:cNvPr id="74" name="TextBox 73"/>
          <p:cNvSpPr txBox="1"/>
          <p:nvPr/>
        </p:nvSpPr>
        <p:spPr>
          <a:xfrm>
            <a:off x="2931672" y="1804958"/>
            <a:ext cx="958917" cy="707886"/>
          </a:xfrm>
          <a:prstGeom prst="rect">
            <a:avLst/>
          </a:prstGeom>
          <a:noFill/>
        </p:spPr>
        <p:txBody>
          <a:bodyPr wrap="none" rtlCol="0">
            <a:spAutoFit/>
          </a:bodyPr>
          <a:lstStyle/>
          <a:p>
            <a:r>
              <a:rPr lang="zh-CN" altLang="en-US" sz="2000" b="1" dirty="0">
                <a:latin typeface="+mn-lt"/>
                <a:ea typeface="黑体" pitchFamily="2" charset="-122"/>
              </a:rPr>
              <a:t>未参加</a:t>
            </a:r>
            <a:endParaRPr lang="en-US" altLang="zh-CN" sz="2000" b="1" dirty="0">
              <a:latin typeface="+mn-lt"/>
              <a:ea typeface="黑体" pitchFamily="2" charset="-122"/>
            </a:endParaRPr>
          </a:p>
          <a:p>
            <a:r>
              <a:rPr lang="zh-CN" altLang="en-US" sz="2000" b="1" dirty="0">
                <a:latin typeface="+mn-lt"/>
                <a:ea typeface="黑体" pitchFamily="2" charset="-122"/>
              </a:rPr>
              <a:t>多播组</a:t>
            </a:r>
          </a:p>
        </p:txBody>
      </p:sp>
    </p:spTree>
    <p:extLst>
      <p:ext uri="{BB962C8B-B14F-4D97-AF65-F5344CB8AC3E}">
        <p14:creationId xmlns:p14="http://schemas.microsoft.com/office/powerpoint/2010/main" val="110549320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Rectangle 2"/>
          <p:cNvSpPr>
            <a:spLocks noGrp="1" noChangeArrowheads="1"/>
          </p:cNvSpPr>
          <p:nvPr>
            <p:ph type="title"/>
          </p:nvPr>
        </p:nvSpPr>
        <p:spPr/>
        <p:txBody>
          <a:bodyPr/>
          <a:lstStyle/>
          <a:p>
            <a:pPr algn="ctr"/>
            <a:r>
              <a:rPr lang="en-US" altLang="zh-CN" dirty="0"/>
              <a:t>IGMP </a:t>
            </a:r>
            <a:r>
              <a:rPr lang="zh-CN" altLang="en-US" dirty="0"/>
              <a:t>的使用范围 </a:t>
            </a:r>
          </a:p>
        </p:txBody>
      </p:sp>
      <p:sp>
        <p:nvSpPr>
          <p:cNvPr id="1005571" name="Rectangle 3"/>
          <p:cNvSpPr>
            <a:spLocks noGrp="1" noChangeArrowheads="1"/>
          </p:cNvSpPr>
          <p:nvPr>
            <p:ph idx="1"/>
          </p:nvPr>
        </p:nvSpPr>
        <p:spPr/>
        <p:txBody>
          <a:bodyPr/>
          <a:lstStyle/>
          <a:p>
            <a:r>
              <a:rPr lang="en-US" altLang="zh-CN" dirty="0"/>
              <a:t>IGMP </a:t>
            </a:r>
            <a:r>
              <a:rPr lang="zh-CN" altLang="en-US" dirty="0">
                <a:solidFill>
                  <a:srgbClr val="FF0000"/>
                </a:solidFill>
              </a:rPr>
              <a:t>并非</a:t>
            </a:r>
            <a:r>
              <a:rPr lang="zh-CN" altLang="en-US" dirty="0"/>
              <a:t>在互联网范围内对所有多播组成员进行管理的协议。</a:t>
            </a:r>
          </a:p>
          <a:p>
            <a:r>
              <a:rPr lang="en-US" altLang="zh-CN" dirty="0"/>
              <a:t>IGMP </a:t>
            </a:r>
            <a:r>
              <a:rPr lang="zh-CN" altLang="en-US" dirty="0">
                <a:solidFill>
                  <a:srgbClr val="FF0000"/>
                </a:solidFill>
              </a:rPr>
              <a:t>不知道</a:t>
            </a:r>
            <a:r>
              <a:rPr lang="zh-CN" altLang="en-US" dirty="0"/>
              <a:t> </a:t>
            </a:r>
            <a:r>
              <a:rPr lang="en-US" altLang="zh-CN" dirty="0"/>
              <a:t>IP </a:t>
            </a:r>
            <a:r>
              <a:rPr lang="zh-CN" altLang="en-US" dirty="0"/>
              <a:t>多播组包含的成员数，</a:t>
            </a:r>
            <a:r>
              <a:rPr lang="zh-CN" altLang="en-US" dirty="0">
                <a:solidFill>
                  <a:srgbClr val="FF0000"/>
                </a:solidFill>
              </a:rPr>
              <a:t>也不知道</a:t>
            </a:r>
            <a:r>
              <a:rPr lang="zh-CN" altLang="en-US" dirty="0"/>
              <a:t>这些成员都分布在哪些网络上。</a:t>
            </a:r>
          </a:p>
          <a:p>
            <a:r>
              <a:rPr lang="en-US" altLang="zh-CN" dirty="0">
                <a:solidFill>
                  <a:srgbClr val="0000FF"/>
                </a:solidFill>
              </a:rPr>
              <a:t>IGMP </a:t>
            </a:r>
            <a:r>
              <a:rPr lang="zh-CN" altLang="en-US" dirty="0">
                <a:solidFill>
                  <a:srgbClr val="0000FF"/>
                </a:solidFill>
              </a:rPr>
              <a:t>协议是让连接</a:t>
            </a:r>
            <a:r>
              <a:rPr lang="zh-CN" altLang="en-US" dirty="0">
                <a:solidFill>
                  <a:srgbClr val="FF0000"/>
                </a:solidFill>
              </a:rPr>
              <a:t>在本地局域网上</a:t>
            </a:r>
            <a:r>
              <a:rPr lang="zh-CN" altLang="en-US" dirty="0">
                <a:solidFill>
                  <a:srgbClr val="0000FF"/>
                </a:solidFill>
              </a:rPr>
              <a:t>的多播路由器知道本局域网上是否有主机（严格讲，是主机上的某个进程）参加或退出了某个多播组。</a:t>
            </a:r>
          </a:p>
        </p:txBody>
      </p:sp>
    </p:spTree>
    <p:extLst>
      <p:ext uri="{BB962C8B-B14F-4D97-AF65-F5344CB8AC3E}">
        <p14:creationId xmlns:p14="http://schemas.microsoft.com/office/powerpoint/2010/main" val="317491918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0" name="Rectangle 2"/>
          <p:cNvSpPr>
            <a:spLocks noGrp="1" noChangeArrowheads="1"/>
          </p:cNvSpPr>
          <p:nvPr>
            <p:ph type="title"/>
          </p:nvPr>
        </p:nvSpPr>
        <p:spPr/>
        <p:txBody>
          <a:bodyPr/>
          <a:lstStyle/>
          <a:p>
            <a:pPr algn="ctr"/>
            <a:r>
              <a:rPr lang="zh-CN" altLang="en-US" dirty="0"/>
              <a:t>多播路由选择协议更为复杂</a:t>
            </a:r>
          </a:p>
        </p:txBody>
      </p:sp>
      <p:sp>
        <p:nvSpPr>
          <p:cNvPr id="6" name="任意多边形 5"/>
          <p:cNvSpPr/>
          <p:nvPr/>
        </p:nvSpPr>
        <p:spPr>
          <a:xfrm>
            <a:off x="2618141" y="3410168"/>
            <a:ext cx="5819135" cy="1676607"/>
          </a:xfrm>
          <a:custGeom>
            <a:avLst/>
            <a:gdLst>
              <a:gd name="connsiteX0" fmla="*/ 147204 w 4266044"/>
              <a:gd name="connsiteY0" fmla="*/ 77932 h 1078345"/>
              <a:gd name="connsiteX1" fmla="*/ 337704 w 4266044"/>
              <a:gd name="connsiteY1" fmla="*/ 46759 h 1078345"/>
              <a:gd name="connsiteX2" fmla="*/ 393122 w 4266044"/>
              <a:gd name="connsiteY2" fmla="*/ 50223 h 1078345"/>
              <a:gd name="connsiteX3" fmla="*/ 642504 w 4266044"/>
              <a:gd name="connsiteY3" fmla="*/ 195696 h 1078345"/>
              <a:gd name="connsiteX4" fmla="*/ 749877 w 4266044"/>
              <a:gd name="connsiteY4" fmla="*/ 355023 h 1078345"/>
              <a:gd name="connsiteX5" fmla="*/ 749877 w 4266044"/>
              <a:gd name="connsiteY5" fmla="*/ 365414 h 1078345"/>
              <a:gd name="connsiteX6" fmla="*/ 819149 w 4266044"/>
              <a:gd name="connsiteY6" fmla="*/ 538596 h 1078345"/>
              <a:gd name="connsiteX7" fmla="*/ 954231 w 4266044"/>
              <a:gd name="connsiteY7" fmla="*/ 808759 h 1078345"/>
              <a:gd name="connsiteX8" fmla="*/ 1459922 w 4266044"/>
              <a:gd name="connsiteY8" fmla="*/ 947305 h 1078345"/>
              <a:gd name="connsiteX9" fmla="*/ 2530186 w 4266044"/>
              <a:gd name="connsiteY9" fmla="*/ 1016578 h 1078345"/>
              <a:gd name="connsiteX10" fmla="*/ 2744931 w 4266044"/>
              <a:gd name="connsiteY10" fmla="*/ 1013114 h 1078345"/>
              <a:gd name="connsiteX11" fmla="*/ 2873086 w 4266044"/>
              <a:gd name="connsiteY11" fmla="*/ 957696 h 1078345"/>
              <a:gd name="connsiteX12" fmla="*/ 2949286 w 4266044"/>
              <a:gd name="connsiteY12" fmla="*/ 697923 h 1078345"/>
              <a:gd name="connsiteX13" fmla="*/ 2945822 w 4266044"/>
              <a:gd name="connsiteY13" fmla="*/ 445078 h 1078345"/>
              <a:gd name="connsiteX14" fmla="*/ 3060122 w 4266044"/>
              <a:gd name="connsiteY14" fmla="*/ 126423 h 1078345"/>
              <a:gd name="connsiteX15" fmla="*/ 3784022 w 4266044"/>
              <a:gd name="connsiteY15" fmla="*/ 88323 h 1078345"/>
              <a:gd name="connsiteX16" fmla="*/ 4009159 w 4266044"/>
              <a:gd name="connsiteY16" fmla="*/ 126423 h 1078345"/>
              <a:gd name="connsiteX17" fmla="*/ 4109604 w 4266044"/>
              <a:gd name="connsiteY17" fmla="*/ 237259 h 1078345"/>
              <a:gd name="connsiteX18" fmla="*/ 4213513 w 4266044"/>
              <a:gd name="connsiteY18" fmla="*/ 427759 h 1078345"/>
              <a:gd name="connsiteX19" fmla="*/ 4258540 w 4266044"/>
              <a:gd name="connsiteY19" fmla="*/ 635578 h 1078345"/>
              <a:gd name="connsiteX20" fmla="*/ 4258540 w 4266044"/>
              <a:gd name="connsiteY20" fmla="*/ 791441 h 1078345"/>
              <a:gd name="connsiteX21" fmla="*/ 4251613 w 4266044"/>
              <a:gd name="connsiteY21" fmla="*/ 815687 h 1078345"/>
              <a:gd name="connsiteX22" fmla="*/ 4223904 w 4266044"/>
              <a:gd name="connsiteY22" fmla="*/ 871105 h 1078345"/>
              <a:gd name="connsiteX23" fmla="*/ 4137313 w 4266044"/>
              <a:gd name="connsiteY23" fmla="*/ 912668 h 1078345"/>
              <a:gd name="connsiteX24" fmla="*/ 3905249 w 4266044"/>
              <a:gd name="connsiteY24" fmla="*/ 964623 h 1078345"/>
              <a:gd name="connsiteX25" fmla="*/ 3448049 w 4266044"/>
              <a:gd name="connsiteY25" fmla="*/ 1033896 h 1078345"/>
              <a:gd name="connsiteX26" fmla="*/ 2734540 w 4266044"/>
              <a:gd name="connsiteY26" fmla="*/ 1065068 h 1078345"/>
              <a:gd name="connsiteX27" fmla="*/ 555913 w 4266044"/>
              <a:gd name="connsiteY27" fmla="*/ 954232 h 1078345"/>
              <a:gd name="connsiteX28" fmla="*/ 555913 w 4266044"/>
              <a:gd name="connsiteY28" fmla="*/ 954232 h 1078345"/>
              <a:gd name="connsiteX29" fmla="*/ 285749 w 4266044"/>
              <a:gd name="connsiteY29" fmla="*/ 919596 h 1078345"/>
              <a:gd name="connsiteX30" fmla="*/ 46759 w 4266044"/>
              <a:gd name="connsiteY30" fmla="*/ 774123 h 1078345"/>
              <a:gd name="connsiteX31" fmla="*/ 15586 w 4266044"/>
              <a:gd name="connsiteY31" fmla="*/ 514350 h 1078345"/>
              <a:gd name="connsiteX32" fmla="*/ 147204 w 4266044"/>
              <a:gd name="connsiteY32" fmla="*/ 77932 h 1078345"/>
              <a:gd name="connsiteX0" fmla="*/ 147204 w 4266044"/>
              <a:gd name="connsiteY0" fmla="*/ 77932 h 1122920"/>
              <a:gd name="connsiteX1" fmla="*/ 337704 w 4266044"/>
              <a:gd name="connsiteY1" fmla="*/ 46759 h 1122920"/>
              <a:gd name="connsiteX2" fmla="*/ 393122 w 4266044"/>
              <a:gd name="connsiteY2" fmla="*/ 50223 h 1122920"/>
              <a:gd name="connsiteX3" fmla="*/ 642504 w 4266044"/>
              <a:gd name="connsiteY3" fmla="*/ 195696 h 1122920"/>
              <a:gd name="connsiteX4" fmla="*/ 749877 w 4266044"/>
              <a:gd name="connsiteY4" fmla="*/ 355023 h 1122920"/>
              <a:gd name="connsiteX5" fmla="*/ 749877 w 4266044"/>
              <a:gd name="connsiteY5" fmla="*/ 365414 h 1122920"/>
              <a:gd name="connsiteX6" fmla="*/ 819149 w 4266044"/>
              <a:gd name="connsiteY6" fmla="*/ 538596 h 1122920"/>
              <a:gd name="connsiteX7" fmla="*/ 954231 w 4266044"/>
              <a:gd name="connsiteY7" fmla="*/ 808759 h 1122920"/>
              <a:gd name="connsiteX8" fmla="*/ 1459922 w 4266044"/>
              <a:gd name="connsiteY8" fmla="*/ 947305 h 1122920"/>
              <a:gd name="connsiteX9" fmla="*/ 2530186 w 4266044"/>
              <a:gd name="connsiteY9" fmla="*/ 1016578 h 1122920"/>
              <a:gd name="connsiteX10" fmla="*/ 2744931 w 4266044"/>
              <a:gd name="connsiteY10" fmla="*/ 1013114 h 1122920"/>
              <a:gd name="connsiteX11" fmla="*/ 2873086 w 4266044"/>
              <a:gd name="connsiteY11" fmla="*/ 957696 h 1122920"/>
              <a:gd name="connsiteX12" fmla="*/ 2949286 w 4266044"/>
              <a:gd name="connsiteY12" fmla="*/ 697923 h 1122920"/>
              <a:gd name="connsiteX13" fmla="*/ 2945822 w 4266044"/>
              <a:gd name="connsiteY13" fmla="*/ 445078 h 1122920"/>
              <a:gd name="connsiteX14" fmla="*/ 3060122 w 4266044"/>
              <a:gd name="connsiteY14" fmla="*/ 126423 h 1122920"/>
              <a:gd name="connsiteX15" fmla="*/ 3784022 w 4266044"/>
              <a:gd name="connsiteY15" fmla="*/ 88323 h 1122920"/>
              <a:gd name="connsiteX16" fmla="*/ 4009159 w 4266044"/>
              <a:gd name="connsiteY16" fmla="*/ 126423 h 1122920"/>
              <a:gd name="connsiteX17" fmla="*/ 4109604 w 4266044"/>
              <a:gd name="connsiteY17" fmla="*/ 237259 h 1122920"/>
              <a:gd name="connsiteX18" fmla="*/ 4213513 w 4266044"/>
              <a:gd name="connsiteY18" fmla="*/ 427759 h 1122920"/>
              <a:gd name="connsiteX19" fmla="*/ 4258540 w 4266044"/>
              <a:gd name="connsiteY19" fmla="*/ 635578 h 1122920"/>
              <a:gd name="connsiteX20" fmla="*/ 4258540 w 4266044"/>
              <a:gd name="connsiteY20" fmla="*/ 791441 h 1122920"/>
              <a:gd name="connsiteX21" fmla="*/ 4251613 w 4266044"/>
              <a:gd name="connsiteY21" fmla="*/ 815687 h 1122920"/>
              <a:gd name="connsiteX22" fmla="*/ 4223904 w 4266044"/>
              <a:gd name="connsiteY22" fmla="*/ 871105 h 1122920"/>
              <a:gd name="connsiteX23" fmla="*/ 4137313 w 4266044"/>
              <a:gd name="connsiteY23" fmla="*/ 912668 h 1122920"/>
              <a:gd name="connsiteX24" fmla="*/ 3905249 w 4266044"/>
              <a:gd name="connsiteY24" fmla="*/ 964623 h 1122920"/>
              <a:gd name="connsiteX25" fmla="*/ 3448049 w 4266044"/>
              <a:gd name="connsiteY25" fmla="*/ 1033896 h 1122920"/>
              <a:gd name="connsiteX26" fmla="*/ 2734540 w 4266044"/>
              <a:gd name="connsiteY26" fmla="*/ 1065068 h 1122920"/>
              <a:gd name="connsiteX27" fmla="*/ 1916200 w 4266044"/>
              <a:gd name="connsiteY27" fmla="*/ 1104447 h 1122920"/>
              <a:gd name="connsiteX28" fmla="*/ 555913 w 4266044"/>
              <a:gd name="connsiteY28" fmla="*/ 954232 h 1122920"/>
              <a:gd name="connsiteX29" fmla="*/ 555913 w 4266044"/>
              <a:gd name="connsiteY29" fmla="*/ 954232 h 1122920"/>
              <a:gd name="connsiteX30" fmla="*/ 285749 w 4266044"/>
              <a:gd name="connsiteY30" fmla="*/ 919596 h 1122920"/>
              <a:gd name="connsiteX31" fmla="*/ 46759 w 4266044"/>
              <a:gd name="connsiteY31" fmla="*/ 774123 h 1122920"/>
              <a:gd name="connsiteX32" fmla="*/ 15586 w 4266044"/>
              <a:gd name="connsiteY32" fmla="*/ 514350 h 1122920"/>
              <a:gd name="connsiteX33" fmla="*/ 147204 w 4266044"/>
              <a:gd name="connsiteY33" fmla="*/ 77932 h 1122920"/>
              <a:gd name="connsiteX0" fmla="*/ 147204 w 4266044"/>
              <a:gd name="connsiteY0" fmla="*/ 77932 h 1188212"/>
              <a:gd name="connsiteX1" fmla="*/ 337704 w 4266044"/>
              <a:gd name="connsiteY1" fmla="*/ 46759 h 1188212"/>
              <a:gd name="connsiteX2" fmla="*/ 393122 w 4266044"/>
              <a:gd name="connsiteY2" fmla="*/ 50223 h 1188212"/>
              <a:gd name="connsiteX3" fmla="*/ 642504 w 4266044"/>
              <a:gd name="connsiteY3" fmla="*/ 195696 h 1188212"/>
              <a:gd name="connsiteX4" fmla="*/ 749877 w 4266044"/>
              <a:gd name="connsiteY4" fmla="*/ 355023 h 1188212"/>
              <a:gd name="connsiteX5" fmla="*/ 749877 w 4266044"/>
              <a:gd name="connsiteY5" fmla="*/ 365414 h 1188212"/>
              <a:gd name="connsiteX6" fmla="*/ 819149 w 4266044"/>
              <a:gd name="connsiteY6" fmla="*/ 538596 h 1188212"/>
              <a:gd name="connsiteX7" fmla="*/ 954231 w 4266044"/>
              <a:gd name="connsiteY7" fmla="*/ 808759 h 1188212"/>
              <a:gd name="connsiteX8" fmla="*/ 1459922 w 4266044"/>
              <a:gd name="connsiteY8" fmla="*/ 947305 h 1188212"/>
              <a:gd name="connsiteX9" fmla="*/ 2530186 w 4266044"/>
              <a:gd name="connsiteY9" fmla="*/ 1016578 h 1188212"/>
              <a:gd name="connsiteX10" fmla="*/ 2744931 w 4266044"/>
              <a:gd name="connsiteY10" fmla="*/ 1013114 h 1188212"/>
              <a:gd name="connsiteX11" fmla="*/ 2873086 w 4266044"/>
              <a:gd name="connsiteY11" fmla="*/ 957696 h 1188212"/>
              <a:gd name="connsiteX12" fmla="*/ 2949286 w 4266044"/>
              <a:gd name="connsiteY12" fmla="*/ 697923 h 1188212"/>
              <a:gd name="connsiteX13" fmla="*/ 2945822 w 4266044"/>
              <a:gd name="connsiteY13" fmla="*/ 445078 h 1188212"/>
              <a:gd name="connsiteX14" fmla="*/ 3060122 w 4266044"/>
              <a:gd name="connsiteY14" fmla="*/ 126423 h 1188212"/>
              <a:gd name="connsiteX15" fmla="*/ 3784022 w 4266044"/>
              <a:gd name="connsiteY15" fmla="*/ 88323 h 1188212"/>
              <a:gd name="connsiteX16" fmla="*/ 4009159 w 4266044"/>
              <a:gd name="connsiteY16" fmla="*/ 126423 h 1188212"/>
              <a:gd name="connsiteX17" fmla="*/ 4109604 w 4266044"/>
              <a:gd name="connsiteY17" fmla="*/ 237259 h 1188212"/>
              <a:gd name="connsiteX18" fmla="*/ 4213513 w 4266044"/>
              <a:gd name="connsiteY18" fmla="*/ 427759 h 1188212"/>
              <a:gd name="connsiteX19" fmla="*/ 4258540 w 4266044"/>
              <a:gd name="connsiteY19" fmla="*/ 635578 h 1188212"/>
              <a:gd name="connsiteX20" fmla="*/ 4258540 w 4266044"/>
              <a:gd name="connsiteY20" fmla="*/ 791441 h 1188212"/>
              <a:gd name="connsiteX21" fmla="*/ 4251613 w 4266044"/>
              <a:gd name="connsiteY21" fmla="*/ 815687 h 1188212"/>
              <a:gd name="connsiteX22" fmla="*/ 4223904 w 4266044"/>
              <a:gd name="connsiteY22" fmla="*/ 871105 h 1188212"/>
              <a:gd name="connsiteX23" fmla="*/ 4137313 w 4266044"/>
              <a:gd name="connsiteY23" fmla="*/ 912668 h 1188212"/>
              <a:gd name="connsiteX24" fmla="*/ 3905249 w 4266044"/>
              <a:gd name="connsiteY24" fmla="*/ 964623 h 1188212"/>
              <a:gd name="connsiteX25" fmla="*/ 3448049 w 4266044"/>
              <a:gd name="connsiteY25" fmla="*/ 1033896 h 1188212"/>
              <a:gd name="connsiteX26" fmla="*/ 2780296 w 4266044"/>
              <a:gd name="connsiteY26" fmla="*/ 1176454 h 1188212"/>
              <a:gd name="connsiteX27" fmla="*/ 1916200 w 4266044"/>
              <a:gd name="connsiteY27" fmla="*/ 1104447 h 1188212"/>
              <a:gd name="connsiteX28" fmla="*/ 555913 w 4266044"/>
              <a:gd name="connsiteY28" fmla="*/ 954232 h 1188212"/>
              <a:gd name="connsiteX29" fmla="*/ 555913 w 4266044"/>
              <a:gd name="connsiteY29" fmla="*/ 954232 h 1188212"/>
              <a:gd name="connsiteX30" fmla="*/ 285749 w 4266044"/>
              <a:gd name="connsiteY30" fmla="*/ 919596 h 1188212"/>
              <a:gd name="connsiteX31" fmla="*/ 46759 w 4266044"/>
              <a:gd name="connsiteY31" fmla="*/ 774123 h 1188212"/>
              <a:gd name="connsiteX32" fmla="*/ 15586 w 4266044"/>
              <a:gd name="connsiteY32" fmla="*/ 514350 h 1188212"/>
              <a:gd name="connsiteX33" fmla="*/ 147204 w 4266044"/>
              <a:gd name="connsiteY33" fmla="*/ 77932 h 1188212"/>
              <a:gd name="connsiteX0" fmla="*/ 147204 w 4266044"/>
              <a:gd name="connsiteY0" fmla="*/ 77932 h 1176454"/>
              <a:gd name="connsiteX1" fmla="*/ 337704 w 4266044"/>
              <a:gd name="connsiteY1" fmla="*/ 46759 h 1176454"/>
              <a:gd name="connsiteX2" fmla="*/ 393122 w 4266044"/>
              <a:gd name="connsiteY2" fmla="*/ 50223 h 1176454"/>
              <a:gd name="connsiteX3" fmla="*/ 642504 w 4266044"/>
              <a:gd name="connsiteY3" fmla="*/ 195696 h 1176454"/>
              <a:gd name="connsiteX4" fmla="*/ 749877 w 4266044"/>
              <a:gd name="connsiteY4" fmla="*/ 355023 h 1176454"/>
              <a:gd name="connsiteX5" fmla="*/ 749877 w 4266044"/>
              <a:gd name="connsiteY5" fmla="*/ 365414 h 1176454"/>
              <a:gd name="connsiteX6" fmla="*/ 819149 w 4266044"/>
              <a:gd name="connsiteY6" fmla="*/ 538596 h 1176454"/>
              <a:gd name="connsiteX7" fmla="*/ 954231 w 4266044"/>
              <a:gd name="connsiteY7" fmla="*/ 808759 h 1176454"/>
              <a:gd name="connsiteX8" fmla="*/ 1459922 w 4266044"/>
              <a:gd name="connsiteY8" fmla="*/ 947305 h 1176454"/>
              <a:gd name="connsiteX9" fmla="*/ 2530186 w 4266044"/>
              <a:gd name="connsiteY9" fmla="*/ 1016578 h 1176454"/>
              <a:gd name="connsiteX10" fmla="*/ 2744931 w 4266044"/>
              <a:gd name="connsiteY10" fmla="*/ 1013114 h 1176454"/>
              <a:gd name="connsiteX11" fmla="*/ 2873086 w 4266044"/>
              <a:gd name="connsiteY11" fmla="*/ 957696 h 1176454"/>
              <a:gd name="connsiteX12" fmla="*/ 2949286 w 4266044"/>
              <a:gd name="connsiteY12" fmla="*/ 697923 h 1176454"/>
              <a:gd name="connsiteX13" fmla="*/ 2945822 w 4266044"/>
              <a:gd name="connsiteY13" fmla="*/ 445078 h 1176454"/>
              <a:gd name="connsiteX14" fmla="*/ 3060122 w 4266044"/>
              <a:gd name="connsiteY14" fmla="*/ 126423 h 1176454"/>
              <a:gd name="connsiteX15" fmla="*/ 3784022 w 4266044"/>
              <a:gd name="connsiteY15" fmla="*/ 88323 h 1176454"/>
              <a:gd name="connsiteX16" fmla="*/ 4009159 w 4266044"/>
              <a:gd name="connsiteY16" fmla="*/ 126423 h 1176454"/>
              <a:gd name="connsiteX17" fmla="*/ 4109604 w 4266044"/>
              <a:gd name="connsiteY17" fmla="*/ 237259 h 1176454"/>
              <a:gd name="connsiteX18" fmla="*/ 4213513 w 4266044"/>
              <a:gd name="connsiteY18" fmla="*/ 427759 h 1176454"/>
              <a:gd name="connsiteX19" fmla="*/ 4258540 w 4266044"/>
              <a:gd name="connsiteY19" fmla="*/ 635578 h 1176454"/>
              <a:gd name="connsiteX20" fmla="*/ 4258540 w 4266044"/>
              <a:gd name="connsiteY20" fmla="*/ 791441 h 1176454"/>
              <a:gd name="connsiteX21" fmla="*/ 4251613 w 4266044"/>
              <a:gd name="connsiteY21" fmla="*/ 815687 h 1176454"/>
              <a:gd name="connsiteX22" fmla="*/ 4223904 w 4266044"/>
              <a:gd name="connsiteY22" fmla="*/ 871105 h 1176454"/>
              <a:gd name="connsiteX23" fmla="*/ 4137313 w 4266044"/>
              <a:gd name="connsiteY23" fmla="*/ 912668 h 1176454"/>
              <a:gd name="connsiteX24" fmla="*/ 3905249 w 4266044"/>
              <a:gd name="connsiteY24" fmla="*/ 964623 h 1176454"/>
              <a:gd name="connsiteX25" fmla="*/ 3500376 w 4266044"/>
              <a:gd name="connsiteY25" fmla="*/ 1104446 h 1176454"/>
              <a:gd name="connsiteX26" fmla="*/ 2780296 w 4266044"/>
              <a:gd name="connsiteY26" fmla="*/ 1176454 h 1176454"/>
              <a:gd name="connsiteX27" fmla="*/ 1916200 w 4266044"/>
              <a:gd name="connsiteY27" fmla="*/ 1104447 h 1176454"/>
              <a:gd name="connsiteX28" fmla="*/ 555913 w 4266044"/>
              <a:gd name="connsiteY28" fmla="*/ 954232 h 1176454"/>
              <a:gd name="connsiteX29" fmla="*/ 555913 w 4266044"/>
              <a:gd name="connsiteY29" fmla="*/ 954232 h 1176454"/>
              <a:gd name="connsiteX30" fmla="*/ 285749 w 4266044"/>
              <a:gd name="connsiteY30" fmla="*/ 919596 h 1176454"/>
              <a:gd name="connsiteX31" fmla="*/ 46759 w 4266044"/>
              <a:gd name="connsiteY31" fmla="*/ 774123 h 1176454"/>
              <a:gd name="connsiteX32" fmla="*/ 15586 w 4266044"/>
              <a:gd name="connsiteY32" fmla="*/ 514350 h 1176454"/>
              <a:gd name="connsiteX33" fmla="*/ 147204 w 4266044"/>
              <a:gd name="connsiteY33" fmla="*/ 77932 h 1176454"/>
              <a:gd name="connsiteX0" fmla="*/ 147204 w 4266044"/>
              <a:gd name="connsiteY0" fmla="*/ 77932 h 1176454"/>
              <a:gd name="connsiteX1" fmla="*/ 337704 w 4266044"/>
              <a:gd name="connsiteY1" fmla="*/ 46759 h 1176454"/>
              <a:gd name="connsiteX2" fmla="*/ 393122 w 4266044"/>
              <a:gd name="connsiteY2" fmla="*/ 50223 h 1176454"/>
              <a:gd name="connsiteX3" fmla="*/ 642504 w 4266044"/>
              <a:gd name="connsiteY3" fmla="*/ 195696 h 1176454"/>
              <a:gd name="connsiteX4" fmla="*/ 749877 w 4266044"/>
              <a:gd name="connsiteY4" fmla="*/ 355023 h 1176454"/>
              <a:gd name="connsiteX5" fmla="*/ 749877 w 4266044"/>
              <a:gd name="connsiteY5" fmla="*/ 365414 h 1176454"/>
              <a:gd name="connsiteX6" fmla="*/ 819149 w 4266044"/>
              <a:gd name="connsiteY6" fmla="*/ 538596 h 1176454"/>
              <a:gd name="connsiteX7" fmla="*/ 954231 w 4266044"/>
              <a:gd name="connsiteY7" fmla="*/ 808759 h 1176454"/>
              <a:gd name="connsiteX8" fmla="*/ 1459922 w 4266044"/>
              <a:gd name="connsiteY8" fmla="*/ 947305 h 1176454"/>
              <a:gd name="connsiteX9" fmla="*/ 2530186 w 4266044"/>
              <a:gd name="connsiteY9" fmla="*/ 1016578 h 1176454"/>
              <a:gd name="connsiteX10" fmla="*/ 2744931 w 4266044"/>
              <a:gd name="connsiteY10" fmla="*/ 1013114 h 1176454"/>
              <a:gd name="connsiteX11" fmla="*/ 2873086 w 4266044"/>
              <a:gd name="connsiteY11" fmla="*/ 957696 h 1176454"/>
              <a:gd name="connsiteX12" fmla="*/ 2949286 w 4266044"/>
              <a:gd name="connsiteY12" fmla="*/ 697923 h 1176454"/>
              <a:gd name="connsiteX13" fmla="*/ 2945822 w 4266044"/>
              <a:gd name="connsiteY13" fmla="*/ 445078 h 1176454"/>
              <a:gd name="connsiteX14" fmla="*/ 3060122 w 4266044"/>
              <a:gd name="connsiteY14" fmla="*/ 126423 h 1176454"/>
              <a:gd name="connsiteX15" fmla="*/ 3784022 w 4266044"/>
              <a:gd name="connsiteY15" fmla="*/ 88323 h 1176454"/>
              <a:gd name="connsiteX16" fmla="*/ 4009159 w 4266044"/>
              <a:gd name="connsiteY16" fmla="*/ 126423 h 1176454"/>
              <a:gd name="connsiteX17" fmla="*/ 4109604 w 4266044"/>
              <a:gd name="connsiteY17" fmla="*/ 237259 h 1176454"/>
              <a:gd name="connsiteX18" fmla="*/ 4213513 w 4266044"/>
              <a:gd name="connsiteY18" fmla="*/ 427759 h 1176454"/>
              <a:gd name="connsiteX19" fmla="*/ 4258540 w 4266044"/>
              <a:gd name="connsiteY19" fmla="*/ 635578 h 1176454"/>
              <a:gd name="connsiteX20" fmla="*/ 4258540 w 4266044"/>
              <a:gd name="connsiteY20" fmla="*/ 791441 h 1176454"/>
              <a:gd name="connsiteX21" fmla="*/ 4251613 w 4266044"/>
              <a:gd name="connsiteY21" fmla="*/ 815687 h 1176454"/>
              <a:gd name="connsiteX22" fmla="*/ 4223904 w 4266044"/>
              <a:gd name="connsiteY22" fmla="*/ 871105 h 1176454"/>
              <a:gd name="connsiteX23" fmla="*/ 4137313 w 4266044"/>
              <a:gd name="connsiteY23" fmla="*/ 912668 h 1176454"/>
              <a:gd name="connsiteX24" fmla="*/ 3932424 w 4266044"/>
              <a:gd name="connsiteY24" fmla="*/ 1032438 h 1176454"/>
              <a:gd name="connsiteX25" fmla="*/ 3500376 w 4266044"/>
              <a:gd name="connsiteY25" fmla="*/ 1104446 h 1176454"/>
              <a:gd name="connsiteX26" fmla="*/ 2780296 w 4266044"/>
              <a:gd name="connsiteY26" fmla="*/ 1176454 h 1176454"/>
              <a:gd name="connsiteX27" fmla="*/ 1916200 w 4266044"/>
              <a:gd name="connsiteY27" fmla="*/ 1104447 h 1176454"/>
              <a:gd name="connsiteX28" fmla="*/ 555913 w 4266044"/>
              <a:gd name="connsiteY28" fmla="*/ 954232 h 1176454"/>
              <a:gd name="connsiteX29" fmla="*/ 555913 w 4266044"/>
              <a:gd name="connsiteY29" fmla="*/ 954232 h 1176454"/>
              <a:gd name="connsiteX30" fmla="*/ 285749 w 4266044"/>
              <a:gd name="connsiteY30" fmla="*/ 919596 h 1176454"/>
              <a:gd name="connsiteX31" fmla="*/ 46759 w 4266044"/>
              <a:gd name="connsiteY31" fmla="*/ 774123 h 1176454"/>
              <a:gd name="connsiteX32" fmla="*/ 15586 w 4266044"/>
              <a:gd name="connsiteY32" fmla="*/ 514350 h 1176454"/>
              <a:gd name="connsiteX33" fmla="*/ 147204 w 4266044"/>
              <a:gd name="connsiteY33" fmla="*/ 77932 h 1176454"/>
              <a:gd name="connsiteX0" fmla="*/ 147204 w 4266044"/>
              <a:gd name="connsiteY0" fmla="*/ 77932 h 1176454"/>
              <a:gd name="connsiteX1" fmla="*/ 337704 w 4266044"/>
              <a:gd name="connsiteY1" fmla="*/ 46759 h 1176454"/>
              <a:gd name="connsiteX2" fmla="*/ 393122 w 4266044"/>
              <a:gd name="connsiteY2" fmla="*/ 50223 h 1176454"/>
              <a:gd name="connsiteX3" fmla="*/ 642504 w 4266044"/>
              <a:gd name="connsiteY3" fmla="*/ 195696 h 1176454"/>
              <a:gd name="connsiteX4" fmla="*/ 749877 w 4266044"/>
              <a:gd name="connsiteY4" fmla="*/ 355023 h 1176454"/>
              <a:gd name="connsiteX5" fmla="*/ 749877 w 4266044"/>
              <a:gd name="connsiteY5" fmla="*/ 365414 h 1176454"/>
              <a:gd name="connsiteX6" fmla="*/ 819149 w 4266044"/>
              <a:gd name="connsiteY6" fmla="*/ 538596 h 1176454"/>
              <a:gd name="connsiteX7" fmla="*/ 954231 w 4266044"/>
              <a:gd name="connsiteY7" fmla="*/ 808759 h 1176454"/>
              <a:gd name="connsiteX8" fmla="*/ 1459922 w 4266044"/>
              <a:gd name="connsiteY8" fmla="*/ 947305 h 1176454"/>
              <a:gd name="connsiteX9" fmla="*/ 2530186 w 4266044"/>
              <a:gd name="connsiteY9" fmla="*/ 1016578 h 1176454"/>
              <a:gd name="connsiteX10" fmla="*/ 2744931 w 4266044"/>
              <a:gd name="connsiteY10" fmla="*/ 1013114 h 1176454"/>
              <a:gd name="connsiteX11" fmla="*/ 2873086 w 4266044"/>
              <a:gd name="connsiteY11" fmla="*/ 957696 h 1176454"/>
              <a:gd name="connsiteX12" fmla="*/ 2949286 w 4266044"/>
              <a:gd name="connsiteY12" fmla="*/ 697923 h 1176454"/>
              <a:gd name="connsiteX13" fmla="*/ 2945822 w 4266044"/>
              <a:gd name="connsiteY13" fmla="*/ 445078 h 1176454"/>
              <a:gd name="connsiteX14" fmla="*/ 3060122 w 4266044"/>
              <a:gd name="connsiteY14" fmla="*/ 126423 h 1176454"/>
              <a:gd name="connsiteX15" fmla="*/ 3784022 w 4266044"/>
              <a:gd name="connsiteY15" fmla="*/ 88323 h 1176454"/>
              <a:gd name="connsiteX16" fmla="*/ 4009159 w 4266044"/>
              <a:gd name="connsiteY16" fmla="*/ 126423 h 1176454"/>
              <a:gd name="connsiteX17" fmla="*/ 4109604 w 4266044"/>
              <a:gd name="connsiteY17" fmla="*/ 237259 h 1176454"/>
              <a:gd name="connsiteX18" fmla="*/ 4213513 w 4266044"/>
              <a:gd name="connsiteY18" fmla="*/ 427759 h 1176454"/>
              <a:gd name="connsiteX19" fmla="*/ 4258540 w 4266044"/>
              <a:gd name="connsiteY19" fmla="*/ 635578 h 1176454"/>
              <a:gd name="connsiteX20" fmla="*/ 4258540 w 4266044"/>
              <a:gd name="connsiteY20" fmla="*/ 791441 h 1176454"/>
              <a:gd name="connsiteX21" fmla="*/ 4251613 w 4266044"/>
              <a:gd name="connsiteY21" fmla="*/ 815687 h 1176454"/>
              <a:gd name="connsiteX22" fmla="*/ 4223904 w 4266044"/>
              <a:gd name="connsiteY22" fmla="*/ 871105 h 1176454"/>
              <a:gd name="connsiteX23" fmla="*/ 4137313 w 4266044"/>
              <a:gd name="connsiteY23" fmla="*/ 912668 h 1176454"/>
              <a:gd name="connsiteX24" fmla="*/ 3932424 w 4266044"/>
              <a:gd name="connsiteY24" fmla="*/ 1032438 h 1176454"/>
              <a:gd name="connsiteX25" fmla="*/ 3500376 w 4266044"/>
              <a:gd name="connsiteY25" fmla="*/ 1104446 h 1176454"/>
              <a:gd name="connsiteX26" fmla="*/ 2780296 w 4266044"/>
              <a:gd name="connsiteY26" fmla="*/ 1176454 h 1176454"/>
              <a:gd name="connsiteX27" fmla="*/ 1916200 w 4266044"/>
              <a:gd name="connsiteY27" fmla="*/ 1104447 h 1176454"/>
              <a:gd name="connsiteX28" fmla="*/ 555913 w 4266044"/>
              <a:gd name="connsiteY28" fmla="*/ 954232 h 1176454"/>
              <a:gd name="connsiteX29" fmla="*/ 548048 w 4266044"/>
              <a:gd name="connsiteY29" fmla="*/ 1032438 h 1176454"/>
              <a:gd name="connsiteX30" fmla="*/ 285749 w 4266044"/>
              <a:gd name="connsiteY30" fmla="*/ 919596 h 1176454"/>
              <a:gd name="connsiteX31" fmla="*/ 46759 w 4266044"/>
              <a:gd name="connsiteY31" fmla="*/ 774123 h 1176454"/>
              <a:gd name="connsiteX32" fmla="*/ 15586 w 4266044"/>
              <a:gd name="connsiteY32" fmla="*/ 514350 h 1176454"/>
              <a:gd name="connsiteX33" fmla="*/ 147204 w 4266044"/>
              <a:gd name="connsiteY33" fmla="*/ 77932 h 1176454"/>
              <a:gd name="connsiteX0" fmla="*/ 147204 w 4266044"/>
              <a:gd name="connsiteY0" fmla="*/ 77932 h 1176454"/>
              <a:gd name="connsiteX1" fmla="*/ 337704 w 4266044"/>
              <a:gd name="connsiteY1" fmla="*/ 46759 h 1176454"/>
              <a:gd name="connsiteX2" fmla="*/ 393122 w 4266044"/>
              <a:gd name="connsiteY2" fmla="*/ 50223 h 1176454"/>
              <a:gd name="connsiteX3" fmla="*/ 642504 w 4266044"/>
              <a:gd name="connsiteY3" fmla="*/ 195696 h 1176454"/>
              <a:gd name="connsiteX4" fmla="*/ 749877 w 4266044"/>
              <a:gd name="connsiteY4" fmla="*/ 355023 h 1176454"/>
              <a:gd name="connsiteX5" fmla="*/ 749877 w 4266044"/>
              <a:gd name="connsiteY5" fmla="*/ 365414 h 1176454"/>
              <a:gd name="connsiteX6" fmla="*/ 819149 w 4266044"/>
              <a:gd name="connsiteY6" fmla="*/ 538596 h 1176454"/>
              <a:gd name="connsiteX7" fmla="*/ 954231 w 4266044"/>
              <a:gd name="connsiteY7" fmla="*/ 808759 h 1176454"/>
              <a:gd name="connsiteX8" fmla="*/ 1459922 w 4266044"/>
              <a:gd name="connsiteY8" fmla="*/ 947305 h 1176454"/>
              <a:gd name="connsiteX9" fmla="*/ 2530186 w 4266044"/>
              <a:gd name="connsiteY9" fmla="*/ 1016578 h 1176454"/>
              <a:gd name="connsiteX10" fmla="*/ 2744931 w 4266044"/>
              <a:gd name="connsiteY10" fmla="*/ 1013114 h 1176454"/>
              <a:gd name="connsiteX11" fmla="*/ 2873086 w 4266044"/>
              <a:gd name="connsiteY11" fmla="*/ 957696 h 1176454"/>
              <a:gd name="connsiteX12" fmla="*/ 2949286 w 4266044"/>
              <a:gd name="connsiteY12" fmla="*/ 697923 h 1176454"/>
              <a:gd name="connsiteX13" fmla="*/ 2945822 w 4266044"/>
              <a:gd name="connsiteY13" fmla="*/ 445078 h 1176454"/>
              <a:gd name="connsiteX14" fmla="*/ 3060122 w 4266044"/>
              <a:gd name="connsiteY14" fmla="*/ 126423 h 1176454"/>
              <a:gd name="connsiteX15" fmla="*/ 3784022 w 4266044"/>
              <a:gd name="connsiteY15" fmla="*/ 88323 h 1176454"/>
              <a:gd name="connsiteX16" fmla="*/ 4009159 w 4266044"/>
              <a:gd name="connsiteY16" fmla="*/ 126423 h 1176454"/>
              <a:gd name="connsiteX17" fmla="*/ 4109604 w 4266044"/>
              <a:gd name="connsiteY17" fmla="*/ 237259 h 1176454"/>
              <a:gd name="connsiteX18" fmla="*/ 4213513 w 4266044"/>
              <a:gd name="connsiteY18" fmla="*/ 427759 h 1176454"/>
              <a:gd name="connsiteX19" fmla="*/ 4258540 w 4266044"/>
              <a:gd name="connsiteY19" fmla="*/ 635578 h 1176454"/>
              <a:gd name="connsiteX20" fmla="*/ 4258540 w 4266044"/>
              <a:gd name="connsiteY20" fmla="*/ 791441 h 1176454"/>
              <a:gd name="connsiteX21" fmla="*/ 4251613 w 4266044"/>
              <a:gd name="connsiteY21" fmla="*/ 815687 h 1176454"/>
              <a:gd name="connsiteX22" fmla="*/ 4223904 w 4266044"/>
              <a:gd name="connsiteY22" fmla="*/ 871105 h 1176454"/>
              <a:gd name="connsiteX23" fmla="*/ 4137313 w 4266044"/>
              <a:gd name="connsiteY23" fmla="*/ 912668 h 1176454"/>
              <a:gd name="connsiteX24" fmla="*/ 3932424 w 4266044"/>
              <a:gd name="connsiteY24" fmla="*/ 1032438 h 1176454"/>
              <a:gd name="connsiteX25" fmla="*/ 3500376 w 4266044"/>
              <a:gd name="connsiteY25" fmla="*/ 1104446 h 1176454"/>
              <a:gd name="connsiteX26" fmla="*/ 2780296 w 4266044"/>
              <a:gd name="connsiteY26" fmla="*/ 1176454 h 1176454"/>
              <a:gd name="connsiteX27" fmla="*/ 1916200 w 4266044"/>
              <a:gd name="connsiteY27" fmla="*/ 1104447 h 1176454"/>
              <a:gd name="connsiteX28" fmla="*/ 764072 w 4266044"/>
              <a:gd name="connsiteY28" fmla="*/ 1032438 h 1176454"/>
              <a:gd name="connsiteX29" fmla="*/ 548048 w 4266044"/>
              <a:gd name="connsiteY29" fmla="*/ 1032438 h 1176454"/>
              <a:gd name="connsiteX30" fmla="*/ 285749 w 4266044"/>
              <a:gd name="connsiteY30" fmla="*/ 919596 h 1176454"/>
              <a:gd name="connsiteX31" fmla="*/ 46759 w 4266044"/>
              <a:gd name="connsiteY31" fmla="*/ 774123 h 1176454"/>
              <a:gd name="connsiteX32" fmla="*/ 15586 w 4266044"/>
              <a:gd name="connsiteY32" fmla="*/ 514350 h 1176454"/>
              <a:gd name="connsiteX33" fmla="*/ 147204 w 4266044"/>
              <a:gd name="connsiteY33" fmla="*/ 77932 h 1176454"/>
              <a:gd name="connsiteX0" fmla="*/ 147204 w 4266044"/>
              <a:gd name="connsiteY0" fmla="*/ 77932 h 1176454"/>
              <a:gd name="connsiteX1" fmla="*/ 337704 w 4266044"/>
              <a:gd name="connsiteY1" fmla="*/ 46759 h 1176454"/>
              <a:gd name="connsiteX2" fmla="*/ 393122 w 4266044"/>
              <a:gd name="connsiteY2" fmla="*/ 50223 h 1176454"/>
              <a:gd name="connsiteX3" fmla="*/ 642504 w 4266044"/>
              <a:gd name="connsiteY3" fmla="*/ 195696 h 1176454"/>
              <a:gd name="connsiteX4" fmla="*/ 749877 w 4266044"/>
              <a:gd name="connsiteY4" fmla="*/ 355023 h 1176454"/>
              <a:gd name="connsiteX5" fmla="*/ 749877 w 4266044"/>
              <a:gd name="connsiteY5" fmla="*/ 365414 h 1176454"/>
              <a:gd name="connsiteX6" fmla="*/ 819149 w 4266044"/>
              <a:gd name="connsiteY6" fmla="*/ 538596 h 1176454"/>
              <a:gd name="connsiteX7" fmla="*/ 954231 w 4266044"/>
              <a:gd name="connsiteY7" fmla="*/ 808759 h 1176454"/>
              <a:gd name="connsiteX8" fmla="*/ 1459922 w 4266044"/>
              <a:gd name="connsiteY8" fmla="*/ 947305 h 1176454"/>
              <a:gd name="connsiteX9" fmla="*/ 2530186 w 4266044"/>
              <a:gd name="connsiteY9" fmla="*/ 1016578 h 1176454"/>
              <a:gd name="connsiteX10" fmla="*/ 2744931 w 4266044"/>
              <a:gd name="connsiteY10" fmla="*/ 1013114 h 1176454"/>
              <a:gd name="connsiteX11" fmla="*/ 2873086 w 4266044"/>
              <a:gd name="connsiteY11" fmla="*/ 957696 h 1176454"/>
              <a:gd name="connsiteX12" fmla="*/ 2949286 w 4266044"/>
              <a:gd name="connsiteY12" fmla="*/ 697923 h 1176454"/>
              <a:gd name="connsiteX13" fmla="*/ 2945822 w 4266044"/>
              <a:gd name="connsiteY13" fmla="*/ 445078 h 1176454"/>
              <a:gd name="connsiteX14" fmla="*/ 3060122 w 4266044"/>
              <a:gd name="connsiteY14" fmla="*/ 126423 h 1176454"/>
              <a:gd name="connsiteX15" fmla="*/ 3784022 w 4266044"/>
              <a:gd name="connsiteY15" fmla="*/ 88323 h 1176454"/>
              <a:gd name="connsiteX16" fmla="*/ 4009159 w 4266044"/>
              <a:gd name="connsiteY16" fmla="*/ 126423 h 1176454"/>
              <a:gd name="connsiteX17" fmla="*/ 4109604 w 4266044"/>
              <a:gd name="connsiteY17" fmla="*/ 237259 h 1176454"/>
              <a:gd name="connsiteX18" fmla="*/ 4213513 w 4266044"/>
              <a:gd name="connsiteY18" fmla="*/ 427759 h 1176454"/>
              <a:gd name="connsiteX19" fmla="*/ 4258540 w 4266044"/>
              <a:gd name="connsiteY19" fmla="*/ 635578 h 1176454"/>
              <a:gd name="connsiteX20" fmla="*/ 4258540 w 4266044"/>
              <a:gd name="connsiteY20" fmla="*/ 791441 h 1176454"/>
              <a:gd name="connsiteX21" fmla="*/ 4251613 w 4266044"/>
              <a:gd name="connsiteY21" fmla="*/ 815687 h 1176454"/>
              <a:gd name="connsiteX22" fmla="*/ 4223904 w 4266044"/>
              <a:gd name="connsiteY22" fmla="*/ 871105 h 1176454"/>
              <a:gd name="connsiteX23" fmla="*/ 4137313 w 4266044"/>
              <a:gd name="connsiteY23" fmla="*/ 912668 h 1176454"/>
              <a:gd name="connsiteX24" fmla="*/ 3932424 w 4266044"/>
              <a:gd name="connsiteY24" fmla="*/ 1032438 h 1176454"/>
              <a:gd name="connsiteX25" fmla="*/ 3500376 w 4266044"/>
              <a:gd name="connsiteY25" fmla="*/ 1104446 h 1176454"/>
              <a:gd name="connsiteX26" fmla="*/ 2780296 w 4266044"/>
              <a:gd name="connsiteY26" fmla="*/ 1176454 h 1176454"/>
              <a:gd name="connsiteX27" fmla="*/ 1916200 w 4266044"/>
              <a:gd name="connsiteY27" fmla="*/ 1104447 h 1176454"/>
              <a:gd name="connsiteX28" fmla="*/ 764072 w 4266044"/>
              <a:gd name="connsiteY28" fmla="*/ 1032438 h 1176454"/>
              <a:gd name="connsiteX29" fmla="*/ 548048 w 4266044"/>
              <a:gd name="connsiteY29" fmla="*/ 1032438 h 1176454"/>
              <a:gd name="connsiteX30" fmla="*/ 285749 w 4266044"/>
              <a:gd name="connsiteY30" fmla="*/ 919596 h 1176454"/>
              <a:gd name="connsiteX31" fmla="*/ 46759 w 4266044"/>
              <a:gd name="connsiteY31" fmla="*/ 774123 h 1176454"/>
              <a:gd name="connsiteX32" fmla="*/ 15586 w 4266044"/>
              <a:gd name="connsiteY32" fmla="*/ 514350 h 1176454"/>
              <a:gd name="connsiteX33" fmla="*/ 147204 w 4266044"/>
              <a:gd name="connsiteY33" fmla="*/ 77932 h 1176454"/>
              <a:gd name="connsiteX0" fmla="*/ 147204 w 4266044"/>
              <a:gd name="connsiteY0" fmla="*/ 77932 h 1194927"/>
              <a:gd name="connsiteX1" fmla="*/ 337704 w 4266044"/>
              <a:gd name="connsiteY1" fmla="*/ 46759 h 1194927"/>
              <a:gd name="connsiteX2" fmla="*/ 393122 w 4266044"/>
              <a:gd name="connsiteY2" fmla="*/ 50223 h 1194927"/>
              <a:gd name="connsiteX3" fmla="*/ 642504 w 4266044"/>
              <a:gd name="connsiteY3" fmla="*/ 195696 h 1194927"/>
              <a:gd name="connsiteX4" fmla="*/ 749877 w 4266044"/>
              <a:gd name="connsiteY4" fmla="*/ 355023 h 1194927"/>
              <a:gd name="connsiteX5" fmla="*/ 749877 w 4266044"/>
              <a:gd name="connsiteY5" fmla="*/ 365414 h 1194927"/>
              <a:gd name="connsiteX6" fmla="*/ 819149 w 4266044"/>
              <a:gd name="connsiteY6" fmla="*/ 538596 h 1194927"/>
              <a:gd name="connsiteX7" fmla="*/ 954231 w 4266044"/>
              <a:gd name="connsiteY7" fmla="*/ 808759 h 1194927"/>
              <a:gd name="connsiteX8" fmla="*/ 1459922 w 4266044"/>
              <a:gd name="connsiteY8" fmla="*/ 947305 h 1194927"/>
              <a:gd name="connsiteX9" fmla="*/ 2530186 w 4266044"/>
              <a:gd name="connsiteY9" fmla="*/ 1016578 h 1194927"/>
              <a:gd name="connsiteX10" fmla="*/ 2744931 w 4266044"/>
              <a:gd name="connsiteY10" fmla="*/ 1013114 h 1194927"/>
              <a:gd name="connsiteX11" fmla="*/ 2873086 w 4266044"/>
              <a:gd name="connsiteY11" fmla="*/ 957696 h 1194927"/>
              <a:gd name="connsiteX12" fmla="*/ 2949286 w 4266044"/>
              <a:gd name="connsiteY12" fmla="*/ 697923 h 1194927"/>
              <a:gd name="connsiteX13" fmla="*/ 2945822 w 4266044"/>
              <a:gd name="connsiteY13" fmla="*/ 445078 h 1194927"/>
              <a:gd name="connsiteX14" fmla="*/ 3060122 w 4266044"/>
              <a:gd name="connsiteY14" fmla="*/ 126423 h 1194927"/>
              <a:gd name="connsiteX15" fmla="*/ 3784022 w 4266044"/>
              <a:gd name="connsiteY15" fmla="*/ 88323 h 1194927"/>
              <a:gd name="connsiteX16" fmla="*/ 4009159 w 4266044"/>
              <a:gd name="connsiteY16" fmla="*/ 126423 h 1194927"/>
              <a:gd name="connsiteX17" fmla="*/ 4109604 w 4266044"/>
              <a:gd name="connsiteY17" fmla="*/ 237259 h 1194927"/>
              <a:gd name="connsiteX18" fmla="*/ 4213513 w 4266044"/>
              <a:gd name="connsiteY18" fmla="*/ 427759 h 1194927"/>
              <a:gd name="connsiteX19" fmla="*/ 4258540 w 4266044"/>
              <a:gd name="connsiteY19" fmla="*/ 635578 h 1194927"/>
              <a:gd name="connsiteX20" fmla="*/ 4258540 w 4266044"/>
              <a:gd name="connsiteY20" fmla="*/ 791441 h 1194927"/>
              <a:gd name="connsiteX21" fmla="*/ 4251613 w 4266044"/>
              <a:gd name="connsiteY21" fmla="*/ 815687 h 1194927"/>
              <a:gd name="connsiteX22" fmla="*/ 4223904 w 4266044"/>
              <a:gd name="connsiteY22" fmla="*/ 871105 h 1194927"/>
              <a:gd name="connsiteX23" fmla="*/ 4137313 w 4266044"/>
              <a:gd name="connsiteY23" fmla="*/ 912668 h 1194927"/>
              <a:gd name="connsiteX24" fmla="*/ 3932424 w 4266044"/>
              <a:gd name="connsiteY24" fmla="*/ 1032438 h 1194927"/>
              <a:gd name="connsiteX25" fmla="*/ 3500376 w 4266044"/>
              <a:gd name="connsiteY25" fmla="*/ 1104446 h 1194927"/>
              <a:gd name="connsiteX26" fmla="*/ 2780296 w 4266044"/>
              <a:gd name="connsiteY26" fmla="*/ 1176454 h 1194927"/>
              <a:gd name="connsiteX27" fmla="*/ 1916200 w 4266044"/>
              <a:gd name="connsiteY27" fmla="*/ 1176454 h 1194927"/>
              <a:gd name="connsiteX28" fmla="*/ 764072 w 4266044"/>
              <a:gd name="connsiteY28" fmla="*/ 1032438 h 1194927"/>
              <a:gd name="connsiteX29" fmla="*/ 548048 w 4266044"/>
              <a:gd name="connsiteY29" fmla="*/ 1032438 h 1194927"/>
              <a:gd name="connsiteX30" fmla="*/ 285749 w 4266044"/>
              <a:gd name="connsiteY30" fmla="*/ 919596 h 1194927"/>
              <a:gd name="connsiteX31" fmla="*/ 46759 w 4266044"/>
              <a:gd name="connsiteY31" fmla="*/ 774123 h 1194927"/>
              <a:gd name="connsiteX32" fmla="*/ 15586 w 4266044"/>
              <a:gd name="connsiteY32" fmla="*/ 514350 h 1194927"/>
              <a:gd name="connsiteX33" fmla="*/ 147204 w 4266044"/>
              <a:gd name="connsiteY33" fmla="*/ 77932 h 1194927"/>
              <a:gd name="connsiteX0" fmla="*/ 147204 w 4266044"/>
              <a:gd name="connsiteY0" fmla="*/ 77932 h 1194927"/>
              <a:gd name="connsiteX1" fmla="*/ 337704 w 4266044"/>
              <a:gd name="connsiteY1" fmla="*/ 46759 h 1194927"/>
              <a:gd name="connsiteX2" fmla="*/ 393122 w 4266044"/>
              <a:gd name="connsiteY2" fmla="*/ 50223 h 1194927"/>
              <a:gd name="connsiteX3" fmla="*/ 642504 w 4266044"/>
              <a:gd name="connsiteY3" fmla="*/ 195696 h 1194927"/>
              <a:gd name="connsiteX4" fmla="*/ 749877 w 4266044"/>
              <a:gd name="connsiteY4" fmla="*/ 355023 h 1194927"/>
              <a:gd name="connsiteX5" fmla="*/ 749877 w 4266044"/>
              <a:gd name="connsiteY5" fmla="*/ 365414 h 1194927"/>
              <a:gd name="connsiteX6" fmla="*/ 819149 w 4266044"/>
              <a:gd name="connsiteY6" fmla="*/ 538596 h 1194927"/>
              <a:gd name="connsiteX7" fmla="*/ 954231 w 4266044"/>
              <a:gd name="connsiteY7" fmla="*/ 808759 h 1194927"/>
              <a:gd name="connsiteX8" fmla="*/ 1459922 w 4266044"/>
              <a:gd name="connsiteY8" fmla="*/ 947305 h 1194927"/>
              <a:gd name="connsiteX9" fmla="*/ 2530186 w 4266044"/>
              <a:gd name="connsiteY9" fmla="*/ 1016578 h 1194927"/>
              <a:gd name="connsiteX10" fmla="*/ 2744931 w 4266044"/>
              <a:gd name="connsiteY10" fmla="*/ 1013114 h 1194927"/>
              <a:gd name="connsiteX11" fmla="*/ 2873086 w 4266044"/>
              <a:gd name="connsiteY11" fmla="*/ 957696 h 1194927"/>
              <a:gd name="connsiteX12" fmla="*/ 2949286 w 4266044"/>
              <a:gd name="connsiteY12" fmla="*/ 697923 h 1194927"/>
              <a:gd name="connsiteX13" fmla="*/ 2945822 w 4266044"/>
              <a:gd name="connsiteY13" fmla="*/ 445078 h 1194927"/>
              <a:gd name="connsiteX14" fmla="*/ 3060122 w 4266044"/>
              <a:gd name="connsiteY14" fmla="*/ 126423 h 1194927"/>
              <a:gd name="connsiteX15" fmla="*/ 3784022 w 4266044"/>
              <a:gd name="connsiteY15" fmla="*/ 88323 h 1194927"/>
              <a:gd name="connsiteX16" fmla="*/ 4009159 w 4266044"/>
              <a:gd name="connsiteY16" fmla="*/ 126423 h 1194927"/>
              <a:gd name="connsiteX17" fmla="*/ 4109604 w 4266044"/>
              <a:gd name="connsiteY17" fmla="*/ 237259 h 1194927"/>
              <a:gd name="connsiteX18" fmla="*/ 4213513 w 4266044"/>
              <a:gd name="connsiteY18" fmla="*/ 427759 h 1194927"/>
              <a:gd name="connsiteX19" fmla="*/ 4258540 w 4266044"/>
              <a:gd name="connsiteY19" fmla="*/ 635578 h 1194927"/>
              <a:gd name="connsiteX20" fmla="*/ 4258540 w 4266044"/>
              <a:gd name="connsiteY20" fmla="*/ 791441 h 1194927"/>
              <a:gd name="connsiteX21" fmla="*/ 4251613 w 4266044"/>
              <a:gd name="connsiteY21" fmla="*/ 815687 h 1194927"/>
              <a:gd name="connsiteX22" fmla="*/ 4223904 w 4266044"/>
              <a:gd name="connsiteY22" fmla="*/ 871105 h 1194927"/>
              <a:gd name="connsiteX23" fmla="*/ 4137313 w 4266044"/>
              <a:gd name="connsiteY23" fmla="*/ 912668 h 1194927"/>
              <a:gd name="connsiteX24" fmla="*/ 3932424 w 4266044"/>
              <a:gd name="connsiteY24" fmla="*/ 1032438 h 1194927"/>
              <a:gd name="connsiteX25" fmla="*/ 3500376 w 4266044"/>
              <a:gd name="connsiteY25" fmla="*/ 1104446 h 1194927"/>
              <a:gd name="connsiteX26" fmla="*/ 2780296 w 4266044"/>
              <a:gd name="connsiteY26" fmla="*/ 1176454 h 1194927"/>
              <a:gd name="connsiteX27" fmla="*/ 1916200 w 4266044"/>
              <a:gd name="connsiteY27" fmla="*/ 1176454 h 1194927"/>
              <a:gd name="connsiteX28" fmla="*/ 764072 w 4266044"/>
              <a:gd name="connsiteY28" fmla="*/ 1032438 h 1194927"/>
              <a:gd name="connsiteX29" fmla="*/ 548048 w 4266044"/>
              <a:gd name="connsiteY29" fmla="*/ 1032438 h 1194927"/>
              <a:gd name="connsiteX30" fmla="*/ 285749 w 4266044"/>
              <a:gd name="connsiteY30" fmla="*/ 919596 h 1194927"/>
              <a:gd name="connsiteX31" fmla="*/ 46759 w 4266044"/>
              <a:gd name="connsiteY31" fmla="*/ 774123 h 1194927"/>
              <a:gd name="connsiteX32" fmla="*/ 15586 w 4266044"/>
              <a:gd name="connsiteY32" fmla="*/ 514350 h 1194927"/>
              <a:gd name="connsiteX33" fmla="*/ 147204 w 4266044"/>
              <a:gd name="connsiteY33" fmla="*/ 77932 h 1194927"/>
              <a:gd name="connsiteX0" fmla="*/ 147204 w 4266044"/>
              <a:gd name="connsiteY0" fmla="*/ 77932 h 1194927"/>
              <a:gd name="connsiteX1" fmla="*/ 337704 w 4266044"/>
              <a:gd name="connsiteY1" fmla="*/ 46759 h 1194927"/>
              <a:gd name="connsiteX2" fmla="*/ 393122 w 4266044"/>
              <a:gd name="connsiteY2" fmla="*/ 50223 h 1194927"/>
              <a:gd name="connsiteX3" fmla="*/ 642504 w 4266044"/>
              <a:gd name="connsiteY3" fmla="*/ 195696 h 1194927"/>
              <a:gd name="connsiteX4" fmla="*/ 749877 w 4266044"/>
              <a:gd name="connsiteY4" fmla="*/ 355023 h 1194927"/>
              <a:gd name="connsiteX5" fmla="*/ 749877 w 4266044"/>
              <a:gd name="connsiteY5" fmla="*/ 365414 h 1194927"/>
              <a:gd name="connsiteX6" fmla="*/ 819149 w 4266044"/>
              <a:gd name="connsiteY6" fmla="*/ 538596 h 1194927"/>
              <a:gd name="connsiteX7" fmla="*/ 954231 w 4266044"/>
              <a:gd name="connsiteY7" fmla="*/ 808759 h 1194927"/>
              <a:gd name="connsiteX8" fmla="*/ 1459922 w 4266044"/>
              <a:gd name="connsiteY8" fmla="*/ 947305 h 1194927"/>
              <a:gd name="connsiteX9" fmla="*/ 2530186 w 4266044"/>
              <a:gd name="connsiteY9" fmla="*/ 1016578 h 1194927"/>
              <a:gd name="connsiteX10" fmla="*/ 2744931 w 4266044"/>
              <a:gd name="connsiteY10" fmla="*/ 1013114 h 1194927"/>
              <a:gd name="connsiteX11" fmla="*/ 2873086 w 4266044"/>
              <a:gd name="connsiteY11" fmla="*/ 957696 h 1194927"/>
              <a:gd name="connsiteX12" fmla="*/ 2949286 w 4266044"/>
              <a:gd name="connsiteY12" fmla="*/ 697923 h 1194927"/>
              <a:gd name="connsiteX13" fmla="*/ 2945822 w 4266044"/>
              <a:gd name="connsiteY13" fmla="*/ 445078 h 1194927"/>
              <a:gd name="connsiteX14" fmla="*/ 3060122 w 4266044"/>
              <a:gd name="connsiteY14" fmla="*/ 126423 h 1194927"/>
              <a:gd name="connsiteX15" fmla="*/ 3784022 w 4266044"/>
              <a:gd name="connsiteY15" fmla="*/ 88323 h 1194927"/>
              <a:gd name="connsiteX16" fmla="*/ 4009159 w 4266044"/>
              <a:gd name="connsiteY16" fmla="*/ 126423 h 1194927"/>
              <a:gd name="connsiteX17" fmla="*/ 4109604 w 4266044"/>
              <a:gd name="connsiteY17" fmla="*/ 237259 h 1194927"/>
              <a:gd name="connsiteX18" fmla="*/ 4213513 w 4266044"/>
              <a:gd name="connsiteY18" fmla="*/ 427759 h 1194927"/>
              <a:gd name="connsiteX19" fmla="*/ 4258540 w 4266044"/>
              <a:gd name="connsiteY19" fmla="*/ 635578 h 1194927"/>
              <a:gd name="connsiteX20" fmla="*/ 4258540 w 4266044"/>
              <a:gd name="connsiteY20" fmla="*/ 791441 h 1194927"/>
              <a:gd name="connsiteX21" fmla="*/ 4251613 w 4266044"/>
              <a:gd name="connsiteY21" fmla="*/ 815687 h 1194927"/>
              <a:gd name="connsiteX22" fmla="*/ 4223904 w 4266044"/>
              <a:gd name="connsiteY22" fmla="*/ 871105 h 1194927"/>
              <a:gd name="connsiteX23" fmla="*/ 4137313 w 4266044"/>
              <a:gd name="connsiteY23" fmla="*/ 912668 h 1194927"/>
              <a:gd name="connsiteX24" fmla="*/ 3932424 w 4266044"/>
              <a:gd name="connsiteY24" fmla="*/ 1032438 h 1194927"/>
              <a:gd name="connsiteX25" fmla="*/ 3500376 w 4266044"/>
              <a:gd name="connsiteY25" fmla="*/ 1104446 h 1194927"/>
              <a:gd name="connsiteX26" fmla="*/ 2780296 w 4266044"/>
              <a:gd name="connsiteY26" fmla="*/ 1176454 h 1194927"/>
              <a:gd name="connsiteX27" fmla="*/ 1916200 w 4266044"/>
              <a:gd name="connsiteY27" fmla="*/ 1176454 h 1194927"/>
              <a:gd name="connsiteX28" fmla="*/ 836080 w 4266044"/>
              <a:gd name="connsiteY28" fmla="*/ 1104446 h 1194927"/>
              <a:gd name="connsiteX29" fmla="*/ 548048 w 4266044"/>
              <a:gd name="connsiteY29" fmla="*/ 1032438 h 1194927"/>
              <a:gd name="connsiteX30" fmla="*/ 285749 w 4266044"/>
              <a:gd name="connsiteY30" fmla="*/ 919596 h 1194927"/>
              <a:gd name="connsiteX31" fmla="*/ 46759 w 4266044"/>
              <a:gd name="connsiteY31" fmla="*/ 774123 h 1194927"/>
              <a:gd name="connsiteX32" fmla="*/ 15586 w 4266044"/>
              <a:gd name="connsiteY32" fmla="*/ 514350 h 1194927"/>
              <a:gd name="connsiteX33" fmla="*/ 147204 w 4266044"/>
              <a:gd name="connsiteY33" fmla="*/ 77932 h 1194927"/>
              <a:gd name="connsiteX0" fmla="*/ 147204 w 4266044"/>
              <a:gd name="connsiteY0" fmla="*/ 77932 h 1200457"/>
              <a:gd name="connsiteX1" fmla="*/ 337704 w 4266044"/>
              <a:gd name="connsiteY1" fmla="*/ 46759 h 1200457"/>
              <a:gd name="connsiteX2" fmla="*/ 393122 w 4266044"/>
              <a:gd name="connsiteY2" fmla="*/ 50223 h 1200457"/>
              <a:gd name="connsiteX3" fmla="*/ 642504 w 4266044"/>
              <a:gd name="connsiteY3" fmla="*/ 195696 h 1200457"/>
              <a:gd name="connsiteX4" fmla="*/ 749877 w 4266044"/>
              <a:gd name="connsiteY4" fmla="*/ 355023 h 1200457"/>
              <a:gd name="connsiteX5" fmla="*/ 749877 w 4266044"/>
              <a:gd name="connsiteY5" fmla="*/ 365414 h 1200457"/>
              <a:gd name="connsiteX6" fmla="*/ 819149 w 4266044"/>
              <a:gd name="connsiteY6" fmla="*/ 538596 h 1200457"/>
              <a:gd name="connsiteX7" fmla="*/ 954231 w 4266044"/>
              <a:gd name="connsiteY7" fmla="*/ 808759 h 1200457"/>
              <a:gd name="connsiteX8" fmla="*/ 1459922 w 4266044"/>
              <a:gd name="connsiteY8" fmla="*/ 947305 h 1200457"/>
              <a:gd name="connsiteX9" fmla="*/ 2530186 w 4266044"/>
              <a:gd name="connsiteY9" fmla="*/ 1016578 h 1200457"/>
              <a:gd name="connsiteX10" fmla="*/ 2744931 w 4266044"/>
              <a:gd name="connsiteY10" fmla="*/ 1013114 h 1200457"/>
              <a:gd name="connsiteX11" fmla="*/ 2873086 w 4266044"/>
              <a:gd name="connsiteY11" fmla="*/ 957696 h 1200457"/>
              <a:gd name="connsiteX12" fmla="*/ 2949286 w 4266044"/>
              <a:gd name="connsiteY12" fmla="*/ 697923 h 1200457"/>
              <a:gd name="connsiteX13" fmla="*/ 2945822 w 4266044"/>
              <a:gd name="connsiteY13" fmla="*/ 445078 h 1200457"/>
              <a:gd name="connsiteX14" fmla="*/ 3060122 w 4266044"/>
              <a:gd name="connsiteY14" fmla="*/ 126423 h 1200457"/>
              <a:gd name="connsiteX15" fmla="*/ 3784022 w 4266044"/>
              <a:gd name="connsiteY15" fmla="*/ 88323 h 1200457"/>
              <a:gd name="connsiteX16" fmla="*/ 4009159 w 4266044"/>
              <a:gd name="connsiteY16" fmla="*/ 126423 h 1200457"/>
              <a:gd name="connsiteX17" fmla="*/ 4109604 w 4266044"/>
              <a:gd name="connsiteY17" fmla="*/ 237259 h 1200457"/>
              <a:gd name="connsiteX18" fmla="*/ 4213513 w 4266044"/>
              <a:gd name="connsiteY18" fmla="*/ 427759 h 1200457"/>
              <a:gd name="connsiteX19" fmla="*/ 4258540 w 4266044"/>
              <a:gd name="connsiteY19" fmla="*/ 635578 h 1200457"/>
              <a:gd name="connsiteX20" fmla="*/ 4258540 w 4266044"/>
              <a:gd name="connsiteY20" fmla="*/ 791441 h 1200457"/>
              <a:gd name="connsiteX21" fmla="*/ 4251613 w 4266044"/>
              <a:gd name="connsiteY21" fmla="*/ 815687 h 1200457"/>
              <a:gd name="connsiteX22" fmla="*/ 4223904 w 4266044"/>
              <a:gd name="connsiteY22" fmla="*/ 871105 h 1200457"/>
              <a:gd name="connsiteX23" fmla="*/ 4137313 w 4266044"/>
              <a:gd name="connsiteY23" fmla="*/ 912668 h 1200457"/>
              <a:gd name="connsiteX24" fmla="*/ 3932424 w 4266044"/>
              <a:gd name="connsiteY24" fmla="*/ 1032438 h 1200457"/>
              <a:gd name="connsiteX25" fmla="*/ 3500376 w 4266044"/>
              <a:gd name="connsiteY25" fmla="*/ 1176454 h 1200457"/>
              <a:gd name="connsiteX26" fmla="*/ 2780296 w 4266044"/>
              <a:gd name="connsiteY26" fmla="*/ 1176454 h 1200457"/>
              <a:gd name="connsiteX27" fmla="*/ 1916200 w 4266044"/>
              <a:gd name="connsiteY27" fmla="*/ 1176454 h 1200457"/>
              <a:gd name="connsiteX28" fmla="*/ 836080 w 4266044"/>
              <a:gd name="connsiteY28" fmla="*/ 1104446 h 1200457"/>
              <a:gd name="connsiteX29" fmla="*/ 548048 w 4266044"/>
              <a:gd name="connsiteY29" fmla="*/ 1032438 h 1200457"/>
              <a:gd name="connsiteX30" fmla="*/ 285749 w 4266044"/>
              <a:gd name="connsiteY30" fmla="*/ 919596 h 1200457"/>
              <a:gd name="connsiteX31" fmla="*/ 46759 w 4266044"/>
              <a:gd name="connsiteY31" fmla="*/ 774123 h 1200457"/>
              <a:gd name="connsiteX32" fmla="*/ 15586 w 4266044"/>
              <a:gd name="connsiteY32" fmla="*/ 514350 h 1200457"/>
              <a:gd name="connsiteX33" fmla="*/ 147204 w 4266044"/>
              <a:gd name="connsiteY33" fmla="*/ 77932 h 1200457"/>
              <a:gd name="connsiteX0" fmla="*/ 147204 w 4266044"/>
              <a:gd name="connsiteY0" fmla="*/ 77932 h 1248462"/>
              <a:gd name="connsiteX1" fmla="*/ 337704 w 4266044"/>
              <a:gd name="connsiteY1" fmla="*/ 46759 h 1248462"/>
              <a:gd name="connsiteX2" fmla="*/ 393122 w 4266044"/>
              <a:gd name="connsiteY2" fmla="*/ 50223 h 1248462"/>
              <a:gd name="connsiteX3" fmla="*/ 642504 w 4266044"/>
              <a:gd name="connsiteY3" fmla="*/ 195696 h 1248462"/>
              <a:gd name="connsiteX4" fmla="*/ 749877 w 4266044"/>
              <a:gd name="connsiteY4" fmla="*/ 355023 h 1248462"/>
              <a:gd name="connsiteX5" fmla="*/ 749877 w 4266044"/>
              <a:gd name="connsiteY5" fmla="*/ 365414 h 1248462"/>
              <a:gd name="connsiteX6" fmla="*/ 819149 w 4266044"/>
              <a:gd name="connsiteY6" fmla="*/ 538596 h 1248462"/>
              <a:gd name="connsiteX7" fmla="*/ 954231 w 4266044"/>
              <a:gd name="connsiteY7" fmla="*/ 808759 h 1248462"/>
              <a:gd name="connsiteX8" fmla="*/ 1459922 w 4266044"/>
              <a:gd name="connsiteY8" fmla="*/ 947305 h 1248462"/>
              <a:gd name="connsiteX9" fmla="*/ 2530186 w 4266044"/>
              <a:gd name="connsiteY9" fmla="*/ 1016578 h 1248462"/>
              <a:gd name="connsiteX10" fmla="*/ 2744931 w 4266044"/>
              <a:gd name="connsiteY10" fmla="*/ 1013114 h 1248462"/>
              <a:gd name="connsiteX11" fmla="*/ 2873086 w 4266044"/>
              <a:gd name="connsiteY11" fmla="*/ 957696 h 1248462"/>
              <a:gd name="connsiteX12" fmla="*/ 2949286 w 4266044"/>
              <a:gd name="connsiteY12" fmla="*/ 697923 h 1248462"/>
              <a:gd name="connsiteX13" fmla="*/ 2945822 w 4266044"/>
              <a:gd name="connsiteY13" fmla="*/ 445078 h 1248462"/>
              <a:gd name="connsiteX14" fmla="*/ 3060122 w 4266044"/>
              <a:gd name="connsiteY14" fmla="*/ 126423 h 1248462"/>
              <a:gd name="connsiteX15" fmla="*/ 3784022 w 4266044"/>
              <a:gd name="connsiteY15" fmla="*/ 88323 h 1248462"/>
              <a:gd name="connsiteX16" fmla="*/ 4009159 w 4266044"/>
              <a:gd name="connsiteY16" fmla="*/ 126423 h 1248462"/>
              <a:gd name="connsiteX17" fmla="*/ 4109604 w 4266044"/>
              <a:gd name="connsiteY17" fmla="*/ 237259 h 1248462"/>
              <a:gd name="connsiteX18" fmla="*/ 4213513 w 4266044"/>
              <a:gd name="connsiteY18" fmla="*/ 427759 h 1248462"/>
              <a:gd name="connsiteX19" fmla="*/ 4258540 w 4266044"/>
              <a:gd name="connsiteY19" fmla="*/ 635578 h 1248462"/>
              <a:gd name="connsiteX20" fmla="*/ 4258540 w 4266044"/>
              <a:gd name="connsiteY20" fmla="*/ 791441 h 1248462"/>
              <a:gd name="connsiteX21" fmla="*/ 4251613 w 4266044"/>
              <a:gd name="connsiteY21" fmla="*/ 815687 h 1248462"/>
              <a:gd name="connsiteX22" fmla="*/ 4223904 w 4266044"/>
              <a:gd name="connsiteY22" fmla="*/ 871105 h 1248462"/>
              <a:gd name="connsiteX23" fmla="*/ 4137313 w 4266044"/>
              <a:gd name="connsiteY23" fmla="*/ 912668 h 1248462"/>
              <a:gd name="connsiteX24" fmla="*/ 3932424 w 4266044"/>
              <a:gd name="connsiteY24" fmla="*/ 1032438 h 1248462"/>
              <a:gd name="connsiteX25" fmla="*/ 3500376 w 4266044"/>
              <a:gd name="connsiteY25" fmla="*/ 1176454 h 1248462"/>
              <a:gd name="connsiteX26" fmla="*/ 2780296 w 4266044"/>
              <a:gd name="connsiteY26" fmla="*/ 1248462 h 1248462"/>
              <a:gd name="connsiteX27" fmla="*/ 1916200 w 4266044"/>
              <a:gd name="connsiteY27" fmla="*/ 1176454 h 1248462"/>
              <a:gd name="connsiteX28" fmla="*/ 836080 w 4266044"/>
              <a:gd name="connsiteY28" fmla="*/ 1104446 h 1248462"/>
              <a:gd name="connsiteX29" fmla="*/ 548048 w 4266044"/>
              <a:gd name="connsiteY29" fmla="*/ 1032438 h 1248462"/>
              <a:gd name="connsiteX30" fmla="*/ 285749 w 4266044"/>
              <a:gd name="connsiteY30" fmla="*/ 919596 h 1248462"/>
              <a:gd name="connsiteX31" fmla="*/ 46759 w 4266044"/>
              <a:gd name="connsiteY31" fmla="*/ 774123 h 1248462"/>
              <a:gd name="connsiteX32" fmla="*/ 15586 w 4266044"/>
              <a:gd name="connsiteY32" fmla="*/ 514350 h 1248462"/>
              <a:gd name="connsiteX33" fmla="*/ 147204 w 4266044"/>
              <a:gd name="connsiteY33" fmla="*/ 77932 h 1248462"/>
              <a:gd name="connsiteX0" fmla="*/ 147204 w 4266044"/>
              <a:gd name="connsiteY0" fmla="*/ 77932 h 1248462"/>
              <a:gd name="connsiteX1" fmla="*/ 337704 w 4266044"/>
              <a:gd name="connsiteY1" fmla="*/ 46759 h 1248462"/>
              <a:gd name="connsiteX2" fmla="*/ 393122 w 4266044"/>
              <a:gd name="connsiteY2" fmla="*/ 50223 h 1248462"/>
              <a:gd name="connsiteX3" fmla="*/ 642504 w 4266044"/>
              <a:gd name="connsiteY3" fmla="*/ 195696 h 1248462"/>
              <a:gd name="connsiteX4" fmla="*/ 749877 w 4266044"/>
              <a:gd name="connsiteY4" fmla="*/ 355023 h 1248462"/>
              <a:gd name="connsiteX5" fmla="*/ 749877 w 4266044"/>
              <a:gd name="connsiteY5" fmla="*/ 365414 h 1248462"/>
              <a:gd name="connsiteX6" fmla="*/ 819149 w 4266044"/>
              <a:gd name="connsiteY6" fmla="*/ 538596 h 1248462"/>
              <a:gd name="connsiteX7" fmla="*/ 954231 w 4266044"/>
              <a:gd name="connsiteY7" fmla="*/ 808759 h 1248462"/>
              <a:gd name="connsiteX8" fmla="*/ 1459922 w 4266044"/>
              <a:gd name="connsiteY8" fmla="*/ 947305 h 1248462"/>
              <a:gd name="connsiteX9" fmla="*/ 2530186 w 4266044"/>
              <a:gd name="connsiteY9" fmla="*/ 1016578 h 1248462"/>
              <a:gd name="connsiteX10" fmla="*/ 2744931 w 4266044"/>
              <a:gd name="connsiteY10" fmla="*/ 1013114 h 1248462"/>
              <a:gd name="connsiteX11" fmla="*/ 2873086 w 4266044"/>
              <a:gd name="connsiteY11" fmla="*/ 957696 h 1248462"/>
              <a:gd name="connsiteX12" fmla="*/ 2949286 w 4266044"/>
              <a:gd name="connsiteY12" fmla="*/ 697923 h 1248462"/>
              <a:gd name="connsiteX13" fmla="*/ 2945822 w 4266044"/>
              <a:gd name="connsiteY13" fmla="*/ 445078 h 1248462"/>
              <a:gd name="connsiteX14" fmla="*/ 3060122 w 4266044"/>
              <a:gd name="connsiteY14" fmla="*/ 126423 h 1248462"/>
              <a:gd name="connsiteX15" fmla="*/ 3784022 w 4266044"/>
              <a:gd name="connsiteY15" fmla="*/ 88323 h 1248462"/>
              <a:gd name="connsiteX16" fmla="*/ 4009159 w 4266044"/>
              <a:gd name="connsiteY16" fmla="*/ 126423 h 1248462"/>
              <a:gd name="connsiteX17" fmla="*/ 4109604 w 4266044"/>
              <a:gd name="connsiteY17" fmla="*/ 237259 h 1248462"/>
              <a:gd name="connsiteX18" fmla="*/ 4213513 w 4266044"/>
              <a:gd name="connsiteY18" fmla="*/ 427759 h 1248462"/>
              <a:gd name="connsiteX19" fmla="*/ 4258540 w 4266044"/>
              <a:gd name="connsiteY19" fmla="*/ 635578 h 1248462"/>
              <a:gd name="connsiteX20" fmla="*/ 4258540 w 4266044"/>
              <a:gd name="connsiteY20" fmla="*/ 791441 h 1248462"/>
              <a:gd name="connsiteX21" fmla="*/ 4251613 w 4266044"/>
              <a:gd name="connsiteY21" fmla="*/ 815687 h 1248462"/>
              <a:gd name="connsiteX22" fmla="*/ 4223904 w 4266044"/>
              <a:gd name="connsiteY22" fmla="*/ 871105 h 1248462"/>
              <a:gd name="connsiteX23" fmla="*/ 4137313 w 4266044"/>
              <a:gd name="connsiteY23" fmla="*/ 912668 h 1248462"/>
              <a:gd name="connsiteX24" fmla="*/ 3932424 w 4266044"/>
              <a:gd name="connsiteY24" fmla="*/ 1032438 h 1248462"/>
              <a:gd name="connsiteX25" fmla="*/ 3500376 w 4266044"/>
              <a:gd name="connsiteY25" fmla="*/ 1176454 h 1248462"/>
              <a:gd name="connsiteX26" fmla="*/ 2780296 w 4266044"/>
              <a:gd name="connsiteY26" fmla="*/ 1248462 h 1248462"/>
              <a:gd name="connsiteX27" fmla="*/ 1916200 w 4266044"/>
              <a:gd name="connsiteY27" fmla="*/ 1176453 h 1248462"/>
              <a:gd name="connsiteX28" fmla="*/ 836080 w 4266044"/>
              <a:gd name="connsiteY28" fmla="*/ 1104446 h 1248462"/>
              <a:gd name="connsiteX29" fmla="*/ 548048 w 4266044"/>
              <a:gd name="connsiteY29" fmla="*/ 1032438 h 1248462"/>
              <a:gd name="connsiteX30" fmla="*/ 285749 w 4266044"/>
              <a:gd name="connsiteY30" fmla="*/ 919596 h 1248462"/>
              <a:gd name="connsiteX31" fmla="*/ 46759 w 4266044"/>
              <a:gd name="connsiteY31" fmla="*/ 774123 h 1248462"/>
              <a:gd name="connsiteX32" fmla="*/ 15586 w 4266044"/>
              <a:gd name="connsiteY32" fmla="*/ 514350 h 1248462"/>
              <a:gd name="connsiteX33" fmla="*/ 147204 w 4266044"/>
              <a:gd name="connsiteY33" fmla="*/ 77932 h 1248462"/>
              <a:gd name="connsiteX0" fmla="*/ 147204 w 4266044"/>
              <a:gd name="connsiteY0" fmla="*/ 77932 h 1248462"/>
              <a:gd name="connsiteX1" fmla="*/ 337704 w 4266044"/>
              <a:gd name="connsiteY1" fmla="*/ 46759 h 1248462"/>
              <a:gd name="connsiteX2" fmla="*/ 642504 w 4266044"/>
              <a:gd name="connsiteY2" fmla="*/ 195696 h 1248462"/>
              <a:gd name="connsiteX3" fmla="*/ 749877 w 4266044"/>
              <a:gd name="connsiteY3" fmla="*/ 355023 h 1248462"/>
              <a:gd name="connsiteX4" fmla="*/ 749877 w 4266044"/>
              <a:gd name="connsiteY4" fmla="*/ 365414 h 1248462"/>
              <a:gd name="connsiteX5" fmla="*/ 819149 w 4266044"/>
              <a:gd name="connsiteY5" fmla="*/ 538596 h 1248462"/>
              <a:gd name="connsiteX6" fmla="*/ 954231 w 4266044"/>
              <a:gd name="connsiteY6" fmla="*/ 808759 h 1248462"/>
              <a:gd name="connsiteX7" fmla="*/ 1459922 w 4266044"/>
              <a:gd name="connsiteY7" fmla="*/ 947305 h 1248462"/>
              <a:gd name="connsiteX8" fmla="*/ 2530186 w 4266044"/>
              <a:gd name="connsiteY8" fmla="*/ 1016578 h 1248462"/>
              <a:gd name="connsiteX9" fmla="*/ 2744931 w 4266044"/>
              <a:gd name="connsiteY9" fmla="*/ 1013114 h 1248462"/>
              <a:gd name="connsiteX10" fmla="*/ 2873086 w 4266044"/>
              <a:gd name="connsiteY10" fmla="*/ 957696 h 1248462"/>
              <a:gd name="connsiteX11" fmla="*/ 2949286 w 4266044"/>
              <a:gd name="connsiteY11" fmla="*/ 697923 h 1248462"/>
              <a:gd name="connsiteX12" fmla="*/ 2945822 w 4266044"/>
              <a:gd name="connsiteY12" fmla="*/ 445078 h 1248462"/>
              <a:gd name="connsiteX13" fmla="*/ 3060122 w 4266044"/>
              <a:gd name="connsiteY13" fmla="*/ 126423 h 1248462"/>
              <a:gd name="connsiteX14" fmla="*/ 3784022 w 4266044"/>
              <a:gd name="connsiteY14" fmla="*/ 88323 h 1248462"/>
              <a:gd name="connsiteX15" fmla="*/ 4009159 w 4266044"/>
              <a:gd name="connsiteY15" fmla="*/ 126423 h 1248462"/>
              <a:gd name="connsiteX16" fmla="*/ 4109604 w 4266044"/>
              <a:gd name="connsiteY16" fmla="*/ 237259 h 1248462"/>
              <a:gd name="connsiteX17" fmla="*/ 4213513 w 4266044"/>
              <a:gd name="connsiteY17" fmla="*/ 427759 h 1248462"/>
              <a:gd name="connsiteX18" fmla="*/ 4258540 w 4266044"/>
              <a:gd name="connsiteY18" fmla="*/ 635578 h 1248462"/>
              <a:gd name="connsiteX19" fmla="*/ 4258540 w 4266044"/>
              <a:gd name="connsiteY19" fmla="*/ 791441 h 1248462"/>
              <a:gd name="connsiteX20" fmla="*/ 4251613 w 4266044"/>
              <a:gd name="connsiteY20" fmla="*/ 815687 h 1248462"/>
              <a:gd name="connsiteX21" fmla="*/ 4223904 w 4266044"/>
              <a:gd name="connsiteY21" fmla="*/ 871105 h 1248462"/>
              <a:gd name="connsiteX22" fmla="*/ 4137313 w 4266044"/>
              <a:gd name="connsiteY22" fmla="*/ 912668 h 1248462"/>
              <a:gd name="connsiteX23" fmla="*/ 3932424 w 4266044"/>
              <a:gd name="connsiteY23" fmla="*/ 1032438 h 1248462"/>
              <a:gd name="connsiteX24" fmla="*/ 3500376 w 4266044"/>
              <a:gd name="connsiteY24" fmla="*/ 1176454 h 1248462"/>
              <a:gd name="connsiteX25" fmla="*/ 2780296 w 4266044"/>
              <a:gd name="connsiteY25" fmla="*/ 1248462 h 1248462"/>
              <a:gd name="connsiteX26" fmla="*/ 1916200 w 4266044"/>
              <a:gd name="connsiteY26" fmla="*/ 1176453 h 1248462"/>
              <a:gd name="connsiteX27" fmla="*/ 836080 w 4266044"/>
              <a:gd name="connsiteY27" fmla="*/ 1104446 h 1248462"/>
              <a:gd name="connsiteX28" fmla="*/ 548048 w 4266044"/>
              <a:gd name="connsiteY28" fmla="*/ 1032438 h 1248462"/>
              <a:gd name="connsiteX29" fmla="*/ 285749 w 4266044"/>
              <a:gd name="connsiteY29" fmla="*/ 919596 h 1248462"/>
              <a:gd name="connsiteX30" fmla="*/ 46759 w 4266044"/>
              <a:gd name="connsiteY30" fmla="*/ 774123 h 1248462"/>
              <a:gd name="connsiteX31" fmla="*/ 15586 w 4266044"/>
              <a:gd name="connsiteY31" fmla="*/ 514350 h 1248462"/>
              <a:gd name="connsiteX32" fmla="*/ 147204 w 4266044"/>
              <a:gd name="connsiteY32" fmla="*/ 77932 h 1248462"/>
              <a:gd name="connsiteX0" fmla="*/ 114268 w 4264312"/>
              <a:gd name="connsiteY0" fmla="*/ 126142 h 1206262"/>
              <a:gd name="connsiteX1" fmla="*/ 335972 w 4264312"/>
              <a:gd name="connsiteY1" fmla="*/ 4559 h 1206262"/>
              <a:gd name="connsiteX2" fmla="*/ 640772 w 4264312"/>
              <a:gd name="connsiteY2" fmla="*/ 153496 h 1206262"/>
              <a:gd name="connsiteX3" fmla="*/ 748145 w 4264312"/>
              <a:gd name="connsiteY3" fmla="*/ 312823 h 1206262"/>
              <a:gd name="connsiteX4" fmla="*/ 748145 w 4264312"/>
              <a:gd name="connsiteY4" fmla="*/ 323214 h 1206262"/>
              <a:gd name="connsiteX5" fmla="*/ 817417 w 4264312"/>
              <a:gd name="connsiteY5" fmla="*/ 496396 h 1206262"/>
              <a:gd name="connsiteX6" fmla="*/ 952499 w 4264312"/>
              <a:gd name="connsiteY6" fmla="*/ 766559 h 1206262"/>
              <a:gd name="connsiteX7" fmla="*/ 1458190 w 4264312"/>
              <a:gd name="connsiteY7" fmla="*/ 905105 h 1206262"/>
              <a:gd name="connsiteX8" fmla="*/ 2528454 w 4264312"/>
              <a:gd name="connsiteY8" fmla="*/ 974378 h 1206262"/>
              <a:gd name="connsiteX9" fmla="*/ 2743199 w 4264312"/>
              <a:gd name="connsiteY9" fmla="*/ 970914 h 1206262"/>
              <a:gd name="connsiteX10" fmla="*/ 2871354 w 4264312"/>
              <a:gd name="connsiteY10" fmla="*/ 915496 h 1206262"/>
              <a:gd name="connsiteX11" fmla="*/ 2947554 w 4264312"/>
              <a:gd name="connsiteY11" fmla="*/ 655723 h 1206262"/>
              <a:gd name="connsiteX12" fmla="*/ 2944090 w 4264312"/>
              <a:gd name="connsiteY12" fmla="*/ 402878 h 1206262"/>
              <a:gd name="connsiteX13" fmla="*/ 3058390 w 4264312"/>
              <a:gd name="connsiteY13" fmla="*/ 84223 h 1206262"/>
              <a:gd name="connsiteX14" fmla="*/ 3782290 w 4264312"/>
              <a:gd name="connsiteY14" fmla="*/ 46123 h 1206262"/>
              <a:gd name="connsiteX15" fmla="*/ 4007427 w 4264312"/>
              <a:gd name="connsiteY15" fmla="*/ 84223 h 1206262"/>
              <a:gd name="connsiteX16" fmla="*/ 4107872 w 4264312"/>
              <a:gd name="connsiteY16" fmla="*/ 195059 h 1206262"/>
              <a:gd name="connsiteX17" fmla="*/ 4211781 w 4264312"/>
              <a:gd name="connsiteY17" fmla="*/ 385559 h 1206262"/>
              <a:gd name="connsiteX18" fmla="*/ 4256808 w 4264312"/>
              <a:gd name="connsiteY18" fmla="*/ 593378 h 1206262"/>
              <a:gd name="connsiteX19" fmla="*/ 4256808 w 4264312"/>
              <a:gd name="connsiteY19" fmla="*/ 749241 h 1206262"/>
              <a:gd name="connsiteX20" fmla="*/ 4249881 w 4264312"/>
              <a:gd name="connsiteY20" fmla="*/ 773487 h 1206262"/>
              <a:gd name="connsiteX21" fmla="*/ 4222172 w 4264312"/>
              <a:gd name="connsiteY21" fmla="*/ 828905 h 1206262"/>
              <a:gd name="connsiteX22" fmla="*/ 4135581 w 4264312"/>
              <a:gd name="connsiteY22" fmla="*/ 870468 h 1206262"/>
              <a:gd name="connsiteX23" fmla="*/ 3930692 w 4264312"/>
              <a:gd name="connsiteY23" fmla="*/ 990238 h 1206262"/>
              <a:gd name="connsiteX24" fmla="*/ 3498644 w 4264312"/>
              <a:gd name="connsiteY24" fmla="*/ 1134254 h 1206262"/>
              <a:gd name="connsiteX25" fmla="*/ 2778564 w 4264312"/>
              <a:gd name="connsiteY25" fmla="*/ 1206262 h 1206262"/>
              <a:gd name="connsiteX26" fmla="*/ 1914468 w 4264312"/>
              <a:gd name="connsiteY26" fmla="*/ 1134253 h 1206262"/>
              <a:gd name="connsiteX27" fmla="*/ 834348 w 4264312"/>
              <a:gd name="connsiteY27" fmla="*/ 1062246 h 1206262"/>
              <a:gd name="connsiteX28" fmla="*/ 546316 w 4264312"/>
              <a:gd name="connsiteY28" fmla="*/ 990238 h 1206262"/>
              <a:gd name="connsiteX29" fmla="*/ 284017 w 4264312"/>
              <a:gd name="connsiteY29" fmla="*/ 877396 h 1206262"/>
              <a:gd name="connsiteX30" fmla="*/ 45027 w 4264312"/>
              <a:gd name="connsiteY30" fmla="*/ 731923 h 1206262"/>
              <a:gd name="connsiteX31" fmla="*/ 13854 w 4264312"/>
              <a:gd name="connsiteY31" fmla="*/ 472150 h 1206262"/>
              <a:gd name="connsiteX32" fmla="*/ 114268 w 4264312"/>
              <a:gd name="connsiteY32" fmla="*/ 126142 h 1206262"/>
              <a:gd name="connsiteX0" fmla="*/ 121981 w 4272025"/>
              <a:gd name="connsiteY0" fmla="*/ 126142 h 1206262"/>
              <a:gd name="connsiteX1" fmla="*/ 343685 w 4272025"/>
              <a:gd name="connsiteY1" fmla="*/ 4559 h 1206262"/>
              <a:gd name="connsiteX2" fmla="*/ 648485 w 4272025"/>
              <a:gd name="connsiteY2" fmla="*/ 153496 h 1206262"/>
              <a:gd name="connsiteX3" fmla="*/ 755858 w 4272025"/>
              <a:gd name="connsiteY3" fmla="*/ 312823 h 1206262"/>
              <a:gd name="connsiteX4" fmla="*/ 755858 w 4272025"/>
              <a:gd name="connsiteY4" fmla="*/ 323214 h 1206262"/>
              <a:gd name="connsiteX5" fmla="*/ 825130 w 4272025"/>
              <a:gd name="connsiteY5" fmla="*/ 496396 h 1206262"/>
              <a:gd name="connsiteX6" fmla="*/ 960212 w 4272025"/>
              <a:gd name="connsiteY6" fmla="*/ 766559 h 1206262"/>
              <a:gd name="connsiteX7" fmla="*/ 1465903 w 4272025"/>
              <a:gd name="connsiteY7" fmla="*/ 905105 h 1206262"/>
              <a:gd name="connsiteX8" fmla="*/ 2536167 w 4272025"/>
              <a:gd name="connsiteY8" fmla="*/ 974378 h 1206262"/>
              <a:gd name="connsiteX9" fmla="*/ 2750912 w 4272025"/>
              <a:gd name="connsiteY9" fmla="*/ 970914 h 1206262"/>
              <a:gd name="connsiteX10" fmla="*/ 2879067 w 4272025"/>
              <a:gd name="connsiteY10" fmla="*/ 915496 h 1206262"/>
              <a:gd name="connsiteX11" fmla="*/ 2955267 w 4272025"/>
              <a:gd name="connsiteY11" fmla="*/ 655723 h 1206262"/>
              <a:gd name="connsiteX12" fmla="*/ 2951803 w 4272025"/>
              <a:gd name="connsiteY12" fmla="*/ 402878 h 1206262"/>
              <a:gd name="connsiteX13" fmla="*/ 3066103 w 4272025"/>
              <a:gd name="connsiteY13" fmla="*/ 84223 h 1206262"/>
              <a:gd name="connsiteX14" fmla="*/ 3790003 w 4272025"/>
              <a:gd name="connsiteY14" fmla="*/ 46123 h 1206262"/>
              <a:gd name="connsiteX15" fmla="*/ 4015140 w 4272025"/>
              <a:gd name="connsiteY15" fmla="*/ 84223 h 1206262"/>
              <a:gd name="connsiteX16" fmla="*/ 4115585 w 4272025"/>
              <a:gd name="connsiteY16" fmla="*/ 195059 h 1206262"/>
              <a:gd name="connsiteX17" fmla="*/ 4219494 w 4272025"/>
              <a:gd name="connsiteY17" fmla="*/ 385559 h 1206262"/>
              <a:gd name="connsiteX18" fmla="*/ 4264521 w 4272025"/>
              <a:gd name="connsiteY18" fmla="*/ 593378 h 1206262"/>
              <a:gd name="connsiteX19" fmla="*/ 4264521 w 4272025"/>
              <a:gd name="connsiteY19" fmla="*/ 749241 h 1206262"/>
              <a:gd name="connsiteX20" fmla="*/ 4257594 w 4272025"/>
              <a:gd name="connsiteY20" fmla="*/ 773487 h 1206262"/>
              <a:gd name="connsiteX21" fmla="*/ 4229885 w 4272025"/>
              <a:gd name="connsiteY21" fmla="*/ 828905 h 1206262"/>
              <a:gd name="connsiteX22" fmla="*/ 4143294 w 4272025"/>
              <a:gd name="connsiteY22" fmla="*/ 870468 h 1206262"/>
              <a:gd name="connsiteX23" fmla="*/ 3938405 w 4272025"/>
              <a:gd name="connsiteY23" fmla="*/ 990238 h 1206262"/>
              <a:gd name="connsiteX24" fmla="*/ 3506357 w 4272025"/>
              <a:gd name="connsiteY24" fmla="*/ 1134254 h 1206262"/>
              <a:gd name="connsiteX25" fmla="*/ 2786277 w 4272025"/>
              <a:gd name="connsiteY25" fmla="*/ 1206262 h 1206262"/>
              <a:gd name="connsiteX26" fmla="*/ 1922181 w 4272025"/>
              <a:gd name="connsiteY26" fmla="*/ 1134253 h 1206262"/>
              <a:gd name="connsiteX27" fmla="*/ 842061 w 4272025"/>
              <a:gd name="connsiteY27" fmla="*/ 1062246 h 1206262"/>
              <a:gd name="connsiteX28" fmla="*/ 554029 w 4272025"/>
              <a:gd name="connsiteY28" fmla="*/ 990238 h 1206262"/>
              <a:gd name="connsiteX29" fmla="*/ 338005 w 4272025"/>
              <a:gd name="connsiteY29" fmla="*/ 918230 h 1206262"/>
              <a:gd name="connsiteX30" fmla="*/ 52740 w 4272025"/>
              <a:gd name="connsiteY30" fmla="*/ 731923 h 1206262"/>
              <a:gd name="connsiteX31" fmla="*/ 21567 w 4272025"/>
              <a:gd name="connsiteY31" fmla="*/ 472150 h 1206262"/>
              <a:gd name="connsiteX32" fmla="*/ 121981 w 4272025"/>
              <a:gd name="connsiteY32" fmla="*/ 126142 h 1206262"/>
              <a:gd name="connsiteX0" fmla="*/ 121981 w 4272025"/>
              <a:gd name="connsiteY0" fmla="*/ 126142 h 1206262"/>
              <a:gd name="connsiteX1" fmla="*/ 343685 w 4272025"/>
              <a:gd name="connsiteY1" fmla="*/ 4559 h 1206262"/>
              <a:gd name="connsiteX2" fmla="*/ 648485 w 4272025"/>
              <a:gd name="connsiteY2" fmla="*/ 153496 h 1206262"/>
              <a:gd name="connsiteX3" fmla="*/ 755858 w 4272025"/>
              <a:gd name="connsiteY3" fmla="*/ 312823 h 1206262"/>
              <a:gd name="connsiteX4" fmla="*/ 755858 w 4272025"/>
              <a:gd name="connsiteY4" fmla="*/ 323214 h 1206262"/>
              <a:gd name="connsiteX5" fmla="*/ 825130 w 4272025"/>
              <a:gd name="connsiteY5" fmla="*/ 496396 h 1206262"/>
              <a:gd name="connsiteX6" fmla="*/ 960212 w 4272025"/>
              <a:gd name="connsiteY6" fmla="*/ 766559 h 1206262"/>
              <a:gd name="connsiteX7" fmla="*/ 1465903 w 4272025"/>
              <a:gd name="connsiteY7" fmla="*/ 905105 h 1206262"/>
              <a:gd name="connsiteX8" fmla="*/ 2536167 w 4272025"/>
              <a:gd name="connsiteY8" fmla="*/ 974378 h 1206262"/>
              <a:gd name="connsiteX9" fmla="*/ 2750912 w 4272025"/>
              <a:gd name="connsiteY9" fmla="*/ 970914 h 1206262"/>
              <a:gd name="connsiteX10" fmla="*/ 2879067 w 4272025"/>
              <a:gd name="connsiteY10" fmla="*/ 915496 h 1206262"/>
              <a:gd name="connsiteX11" fmla="*/ 2955267 w 4272025"/>
              <a:gd name="connsiteY11" fmla="*/ 655723 h 1206262"/>
              <a:gd name="connsiteX12" fmla="*/ 2951803 w 4272025"/>
              <a:gd name="connsiteY12" fmla="*/ 402878 h 1206262"/>
              <a:gd name="connsiteX13" fmla="*/ 3066103 w 4272025"/>
              <a:gd name="connsiteY13" fmla="*/ 84223 h 1206262"/>
              <a:gd name="connsiteX14" fmla="*/ 3790003 w 4272025"/>
              <a:gd name="connsiteY14" fmla="*/ 46123 h 1206262"/>
              <a:gd name="connsiteX15" fmla="*/ 4015140 w 4272025"/>
              <a:gd name="connsiteY15" fmla="*/ 84223 h 1206262"/>
              <a:gd name="connsiteX16" fmla="*/ 4115585 w 4272025"/>
              <a:gd name="connsiteY16" fmla="*/ 195059 h 1206262"/>
              <a:gd name="connsiteX17" fmla="*/ 4219494 w 4272025"/>
              <a:gd name="connsiteY17" fmla="*/ 385559 h 1206262"/>
              <a:gd name="connsiteX18" fmla="*/ 4264521 w 4272025"/>
              <a:gd name="connsiteY18" fmla="*/ 593378 h 1206262"/>
              <a:gd name="connsiteX19" fmla="*/ 4264521 w 4272025"/>
              <a:gd name="connsiteY19" fmla="*/ 749241 h 1206262"/>
              <a:gd name="connsiteX20" fmla="*/ 4257594 w 4272025"/>
              <a:gd name="connsiteY20" fmla="*/ 773487 h 1206262"/>
              <a:gd name="connsiteX21" fmla="*/ 4229885 w 4272025"/>
              <a:gd name="connsiteY21" fmla="*/ 828905 h 1206262"/>
              <a:gd name="connsiteX22" fmla="*/ 4143294 w 4272025"/>
              <a:gd name="connsiteY22" fmla="*/ 870468 h 1206262"/>
              <a:gd name="connsiteX23" fmla="*/ 3938405 w 4272025"/>
              <a:gd name="connsiteY23" fmla="*/ 990238 h 1206262"/>
              <a:gd name="connsiteX24" fmla="*/ 3506357 w 4272025"/>
              <a:gd name="connsiteY24" fmla="*/ 1134254 h 1206262"/>
              <a:gd name="connsiteX25" fmla="*/ 2786277 w 4272025"/>
              <a:gd name="connsiteY25" fmla="*/ 1206262 h 1206262"/>
              <a:gd name="connsiteX26" fmla="*/ 1922181 w 4272025"/>
              <a:gd name="connsiteY26" fmla="*/ 1134253 h 1206262"/>
              <a:gd name="connsiteX27" fmla="*/ 842061 w 4272025"/>
              <a:gd name="connsiteY27" fmla="*/ 1062246 h 1206262"/>
              <a:gd name="connsiteX28" fmla="*/ 554030 w 4272025"/>
              <a:gd name="connsiteY28" fmla="*/ 990238 h 1206262"/>
              <a:gd name="connsiteX29" fmla="*/ 338005 w 4272025"/>
              <a:gd name="connsiteY29" fmla="*/ 918230 h 1206262"/>
              <a:gd name="connsiteX30" fmla="*/ 52740 w 4272025"/>
              <a:gd name="connsiteY30" fmla="*/ 731923 h 1206262"/>
              <a:gd name="connsiteX31" fmla="*/ 21567 w 4272025"/>
              <a:gd name="connsiteY31" fmla="*/ 472150 h 1206262"/>
              <a:gd name="connsiteX32" fmla="*/ 121981 w 4272025"/>
              <a:gd name="connsiteY32" fmla="*/ 126142 h 1206262"/>
              <a:gd name="connsiteX0" fmla="*/ 121981 w 4272025"/>
              <a:gd name="connsiteY0" fmla="*/ 126142 h 1206262"/>
              <a:gd name="connsiteX1" fmla="*/ 343685 w 4272025"/>
              <a:gd name="connsiteY1" fmla="*/ 4559 h 1206262"/>
              <a:gd name="connsiteX2" fmla="*/ 648485 w 4272025"/>
              <a:gd name="connsiteY2" fmla="*/ 153496 h 1206262"/>
              <a:gd name="connsiteX3" fmla="*/ 755858 w 4272025"/>
              <a:gd name="connsiteY3" fmla="*/ 312823 h 1206262"/>
              <a:gd name="connsiteX4" fmla="*/ 755858 w 4272025"/>
              <a:gd name="connsiteY4" fmla="*/ 323214 h 1206262"/>
              <a:gd name="connsiteX5" fmla="*/ 825130 w 4272025"/>
              <a:gd name="connsiteY5" fmla="*/ 496396 h 1206262"/>
              <a:gd name="connsiteX6" fmla="*/ 960212 w 4272025"/>
              <a:gd name="connsiteY6" fmla="*/ 766559 h 1206262"/>
              <a:gd name="connsiteX7" fmla="*/ 1465903 w 4272025"/>
              <a:gd name="connsiteY7" fmla="*/ 905105 h 1206262"/>
              <a:gd name="connsiteX8" fmla="*/ 2536167 w 4272025"/>
              <a:gd name="connsiteY8" fmla="*/ 974378 h 1206262"/>
              <a:gd name="connsiteX9" fmla="*/ 2750912 w 4272025"/>
              <a:gd name="connsiteY9" fmla="*/ 970914 h 1206262"/>
              <a:gd name="connsiteX10" fmla="*/ 2879067 w 4272025"/>
              <a:gd name="connsiteY10" fmla="*/ 915496 h 1206262"/>
              <a:gd name="connsiteX11" fmla="*/ 2955267 w 4272025"/>
              <a:gd name="connsiteY11" fmla="*/ 655723 h 1206262"/>
              <a:gd name="connsiteX12" fmla="*/ 2951803 w 4272025"/>
              <a:gd name="connsiteY12" fmla="*/ 402878 h 1206262"/>
              <a:gd name="connsiteX13" fmla="*/ 3066103 w 4272025"/>
              <a:gd name="connsiteY13" fmla="*/ 84223 h 1206262"/>
              <a:gd name="connsiteX14" fmla="*/ 3790003 w 4272025"/>
              <a:gd name="connsiteY14" fmla="*/ 46123 h 1206262"/>
              <a:gd name="connsiteX15" fmla="*/ 4015140 w 4272025"/>
              <a:gd name="connsiteY15" fmla="*/ 84223 h 1206262"/>
              <a:gd name="connsiteX16" fmla="*/ 4115585 w 4272025"/>
              <a:gd name="connsiteY16" fmla="*/ 195059 h 1206262"/>
              <a:gd name="connsiteX17" fmla="*/ 4219494 w 4272025"/>
              <a:gd name="connsiteY17" fmla="*/ 385559 h 1206262"/>
              <a:gd name="connsiteX18" fmla="*/ 4264521 w 4272025"/>
              <a:gd name="connsiteY18" fmla="*/ 593378 h 1206262"/>
              <a:gd name="connsiteX19" fmla="*/ 4264521 w 4272025"/>
              <a:gd name="connsiteY19" fmla="*/ 749241 h 1206262"/>
              <a:gd name="connsiteX20" fmla="*/ 4257594 w 4272025"/>
              <a:gd name="connsiteY20" fmla="*/ 773487 h 1206262"/>
              <a:gd name="connsiteX21" fmla="*/ 4229885 w 4272025"/>
              <a:gd name="connsiteY21" fmla="*/ 828905 h 1206262"/>
              <a:gd name="connsiteX22" fmla="*/ 4143294 w 4272025"/>
              <a:gd name="connsiteY22" fmla="*/ 870468 h 1206262"/>
              <a:gd name="connsiteX23" fmla="*/ 3938405 w 4272025"/>
              <a:gd name="connsiteY23" fmla="*/ 990238 h 1206262"/>
              <a:gd name="connsiteX24" fmla="*/ 3506357 w 4272025"/>
              <a:gd name="connsiteY24" fmla="*/ 1134254 h 1206262"/>
              <a:gd name="connsiteX25" fmla="*/ 2786277 w 4272025"/>
              <a:gd name="connsiteY25" fmla="*/ 1206262 h 1206262"/>
              <a:gd name="connsiteX26" fmla="*/ 1922181 w 4272025"/>
              <a:gd name="connsiteY26" fmla="*/ 1134253 h 1206262"/>
              <a:gd name="connsiteX27" fmla="*/ 842061 w 4272025"/>
              <a:gd name="connsiteY27" fmla="*/ 1062246 h 1206262"/>
              <a:gd name="connsiteX28" fmla="*/ 554030 w 4272025"/>
              <a:gd name="connsiteY28" fmla="*/ 990238 h 1206262"/>
              <a:gd name="connsiteX29" fmla="*/ 338005 w 4272025"/>
              <a:gd name="connsiteY29" fmla="*/ 918230 h 1206262"/>
              <a:gd name="connsiteX30" fmla="*/ 52740 w 4272025"/>
              <a:gd name="connsiteY30" fmla="*/ 731923 h 1206262"/>
              <a:gd name="connsiteX31" fmla="*/ 21567 w 4272025"/>
              <a:gd name="connsiteY31" fmla="*/ 472150 h 1206262"/>
              <a:gd name="connsiteX32" fmla="*/ 121981 w 4272025"/>
              <a:gd name="connsiteY32" fmla="*/ 126142 h 1206262"/>
              <a:gd name="connsiteX0" fmla="*/ 121981 w 4272025"/>
              <a:gd name="connsiteY0" fmla="*/ 126142 h 1206262"/>
              <a:gd name="connsiteX1" fmla="*/ 343685 w 4272025"/>
              <a:gd name="connsiteY1" fmla="*/ 4559 h 1206262"/>
              <a:gd name="connsiteX2" fmla="*/ 648485 w 4272025"/>
              <a:gd name="connsiteY2" fmla="*/ 153496 h 1206262"/>
              <a:gd name="connsiteX3" fmla="*/ 755858 w 4272025"/>
              <a:gd name="connsiteY3" fmla="*/ 312823 h 1206262"/>
              <a:gd name="connsiteX4" fmla="*/ 755858 w 4272025"/>
              <a:gd name="connsiteY4" fmla="*/ 323214 h 1206262"/>
              <a:gd name="connsiteX5" fmla="*/ 825130 w 4272025"/>
              <a:gd name="connsiteY5" fmla="*/ 496396 h 1206262"/>
              <a:gd name="connsiteX6" fmla="*/ 960212 w 4272025"/>
              <a:gd name="connsiteY6" fmla="*/ 766559 h 1206262"/>
              <a:gd name="connsiteX7" fmla="*/ 1465903 w 4272025"/>
              <a:gd name="connsiteY7" fmla="*/ 905105 h 1206262"/>
              <a:gd name="connsiteX8" fmla="*/ 2536167 w 4272025"/>
              <a:gd name="connsiteY8" fmla="*/ 974378 h 1206262"/>
              <a:gd name="connsiteX9" fmla="*/ 2750912 w 4272025"/>
              <a:gd name="connsiteY9" fmla="*/ 970914 h 1206262"/>
              <a:gd name="connsiteX10" fmla="*/ 2879067 w 4272025"/>
              <a:gd name="connsiteY10" fmla="*/ 915496 h 1206262"/>
              <a:gd name="connsiteX11" fmla="*/ 2955267 w 4272025"/>
              <a:gd name="connsiteY11" fmla="*/ 655723 h 1206262"/>
              <a:gd name="connsiteX12" fmla="*/ 2951803 w 4272025"/>
              <a:gd name="connsiteY12" fmla="*/ 402878 h 1206262"/>
              <a:gd name="connsiteX13" fmla="*/ 3066103 w 4272025"/>
              <a:gd name="connsiteY13" fmla="*/ 84223 h 1206262"/>
              <a:gd name="connsiteX14" fmla="*/ 3790003 w 4272025"/>
              <a:gd name="connsiteY14" fmla="*/ 46123 h 1206262"/>
              <a:gd name="connsiteX15" fmla="*/ 4015140 w 4272025"/>
              <a:gd name="connsiteY15" fmla="*/ 84223 h 1206262"/>
              <a:gd name="connsiteX16" fmla="*/ 4115585 w 4272025"/>
              <a:gd name="connsiteY16" fmla="*/ 195059 h 1206262"/>
              <a:gd name="connsiteX17" fmla="*/ 4219494 w 4272025"/>
              <a:gd name="connsiteY17" fmla="*/ 385559 h 1206262"/>
              <a:gd name="connsiteX18" fmla="*/ 4264521 w 4272025"/>
              <a:gd name="connsiteY18" fmla="*/ 593378 h 1206262"/>
              <a:gd name="connsiteX19" fmla="*/ 4264521 w 4272025"/>
              <a:gd name="connsiteY19" fmla="*/ 749241 h 1206262"/>
              <a:gd name="connsiteX20" fmla="*/ 4257594 w 4272025"/>
              <a:gd name="connsiteY20" fmla="*/ 773487 h 1206262"/>
              <a:gd name="connsiteX21" fmla="*/ 4229885 w 4272025"/>
              <a:gd name="connsiteY21" fmla="*/ 828905 h 1206262"/>
              <a:gd name="connsiteX22" fmla="*/ 4143294 w 4272025"/>
              <a:gd name="connsiteY22" fmla="*/ 870468 h 1206262"/>
              <a:gd name="connsiteX23" fmla="*/ 3938405 w 4272025"/>
              <a:gd name="connsiteY23" fmla="*/ 990238 h 1206262"/>
              <a:gd name="connsiteX24" fmla="*/ 3506357 w 4272025"/>
              <a:gd name="connsiteY24" fmla="*/ 1134254 h 1206262"/>
              <a:gd name="connsiteX25" fmla="*/ 2786277 w 4272025"/>
              <a:gd name="connsiteY25" fmla="*/ 1206262 h 1206262"/>
              <a:gd name="connsiteX26" fmla="*/ 1922181 w 4272025"/>
              <a:gd name="connsiteY26" fmla="*/ 1134253 h 1206262"/>
              <a:gd name="connsiteX27" fmla="*/ 842062 w 4272025"/>
              <a:gd name="connsiteY27" fmla="*/ 1062246 h 1206262"/>
              <a:gd name="connsiteX28" fmla="*/ 554030 w 4272025"/>
              <a:gd name="connsiteY28" fmla="*/ 990238 h 1206262"/>
              <a:gd name="connsiteX29" fmla="*/ 338005 w 4272025"/>
              <a:gd name="connsiteY29" fmla="*/ 918230 h 1206262"/>
              <a:gd name="connsiteX30" fmla="*/ 52740 w 4272025"/>
              <a:gd name="connsiteY30" fmla="*/ 731923 h 1206262"/>
              <a:gd name="connsiteX31" fmla="*/ 21567 w 4272025"/>
              <a:gd name="connsiteY31" fmla="*/ 472150 h 1206262"/>
              <a:gd name="connsiteX32" fmla="*/ 121981 w 4272025"/>
              <a:gd name="connsiteY32" fmla="*/ 126142 h 1206262"/>
              <a:gd name="connsiteX0" fmla="*/ 121981 w 4272025"/>
              <a:gd name="connsiteY0" fmla="*/ 126142 h 1224735"/>
              <a:gd name="connsiteX1" fmla="*/ 343685 w 4272025"/>
              <a:gd name="connsiteY1" fmla="*/ 4559 h 1224735"/>
              <a:gd name="connsiteX2" fmla="*/ 648485 w 4272025"/>
              <a:gd name="connsiteY2" fmla="*/ 153496 h 1224735"/>
              <a:gd name="connsiteX3" fmla="*/ 755858 w 4272025"/>
              <a:gd name="connsiteY3" fmla="*/ 312823 h 1224735"/>
              <a:gd name="connsiteX4" fmla="*/ 755858 w 4272025"/>
              <a:gd name="connsiteY4" fmla="*/ 323214 h 1224735"/>
              <a:gd name="connsiteX5" fmla="*/ 825130 w 4272025"/>
              <a:gd name="connsiteY5" fmla="*/ 496396 h 1224735"/>
              <a:gd name="connsiteX6" fmla="*/ 960212 w 4272025"/>
              <a:gd name="connsiteY6" fmla="*/ 766559 h 1224735"/>
              <a:gd name="connsiteX7" fmla="*/ 1465903 w 4272025"/>
              <a:gd name="connsiteY7" fmla="*/ 905105 h 1224735"/>
              <a:gd name="connsiteX8" fmla="*/ 2536167 w 4272025"/>
              <a:gd name="connsiteY8" fmla="*/ 974378 h 1224735"/>
              <a:gd name="connsiteX9" fmla="*/ 2750912 w 4272025"/>
              <a:gd name="connsiteY9" fmla="*/ 970914 h 1224735"/>
              <a:gd name="connsiteX10" fmla="*/ 2879067 w 4272025"/>
              <a:gd name="connsiteY10" fmla="*/ 915496 h 1224735"/>
              <a:gd name="connsiteX11" fmla="*/ 2955267 w 4272025"/>
              <a:gd name="connsiteY11" fmla="*/ 655723 h 1224735"/>
              <a:gd name="connsiteX12" fmla="*/ 2951803 w 4272025"/>
              <a:gd name="connsiteY12" fmla="*/ 402878 h 1224735"/>
              <a:gd name="connsiteX13" fmla="*/ 3066103 w 4272025"/>
              <a:gd name="connsiteY13" fmla="*/ 84223 h 1224735"/>
              <a:gd name="connsiteX14" fmla="*/ 3790003 w 4272025"/>
              <a:gd name="connsiteY14" fmla="*/ 46123 h 1224735"/>
              <a:gd name="connsiteX15" fmla="*/ 4015140 w 4272025"/>
              <a:gd name="connsiteY15" fmla="*/ 84223 h 1224735"/>
              <a:gd name="connsiteX16" fmla="*/ 4115585 w 4272025"/>
              <a:gd name="connsiteY16" fmla="*/ 195059 h 1224735"/>
              <a:gd name="connsiteX17" fmla="*/ 4219494 w 4272025"/>
              <a:gd name="connsiteY17" fmla="*/ 385559 h 1224735"/>
              <a:gd name="connsiteX18" fmla="*/ 4264521 w 4272025"/>
              <a:gd name="connsiteY18" fmla="*/ 593378 h 1224735"/>
              <a:gd name="connsiteX19" fmla="*/ 4264521 w 4272025"/>
              <a:gd name="connsiteY19" fmla="*/ 749241 h 1224735"/>
              <a:gd name="connsiteX20" fmla="*/ 4257594 w 4272025"/>
              <a:gd name="connsiteY20" fmla="*/ 773487 h 1224735"/>
              <a:gd name="connsiteX21" fmla="*/ 4229885 w 4272025"/>
              <a:gd name="connsiteY21" fmla="*/ 828905 h 1224735"/>
              <a:gd name="connsiteX22" fmla="*/ 4143294 w 4272025"/>
              <a:gd name="connsiteY22" fmla="*/ 870468 h 1224735"/>
              <a:gd name="connsiteX23" fmla="*/ 3938405 w 4272025"/>
              <a:gd name="connsiteY23" fmla="*/ 990238 h 1224735"/>
              <a:gd name="connsiteX24" fmla="*/ 3506357 w 4272025"/>
              <a:gd name="connsiteY24" fmla="*/ 1134254 h 1224735"/>
              <a:gd name="connsiteX25" fmla="*/ 2786277 w 4272025"/>
              <a:gd name="connsiteY25" fmla="*/ 1206262 h 1224735"/>
              <a:gd name="connsiteX26" fmla="*/ 1922182 w 4272025"/>
              <a:gd name="connsiteY26" fmla="*/ 1206262 h 1224735"/>
              <a:gd name="connsiteX27" fmla="*/ 842062 w 4272025"/>
              <a:gd name="connsiteY27" fmla="*/ 1062246 h 1224735"/>
              <a:gd name="connsiteX28" fmla="*/ 554030 w 4272025"/>
              <a:gd name="connsiteY28" fmla="*/ 990238 h 1224735"/>
              <a:gd name="connsiteX29" fmla="*/ 338005 w 4272025"/>
              <a:gd name="connsiteY29" fmla="*/ 918230 h 1224735"/>
              <a:gd name="connsiteX30" fmla="*/ 52740 w 4272025"/>
              <a:gd name="connsiteY30" fmla="*/ 731923 h 1224735"/>
              <a:gd name="connsiteX31" fmla="*/ 21567 w 4272025"/>
              <a:gd name="connsiteY31" fmla="*/ 472150 h 1224735"/>
              <a:gd name="connsiteX32" fmla="*/ 121981 w 4272025"/>
              <a:gd name="connsiteY32" fmla="*/ 126142 h 1224735"/>
              <a:gd name="connsiteX0" fmla="*/ 121981 w 4272025"/>
              <a:gd name="connsiteY0" fmla="*/ 126142 h 1224128"/>
              <a:gd name="connsiteX1" fmla="*/ 343685 w 4272025"/>
              <a:gd name="connsiteY1" fmla="*/ 4559 h 1224128"/>
              <a:gd name="connsiteX2" fmla="*/ 648485 w 4272025"/>
              <a:gd name="connsiteY2" fmla="*/ 153496 h 1224128"/>
              <a:gd name="connsiteX3" fmla="*/ 755858 w 4272025"/>
              <a:gd name="connsiteY3" fmla="*/ 312823 h 1224128"/>
              <a:gd name="connsiteX4" fmla="*/ 755858 w 4272025"/>
              <a:gd name="connsiteY4" fmla="*/ 323214 h 1224128"/>
              <a:gd name="connsiteX5" fmla="*/ 825130 w 4272025"/>
              <a:gd name="connsiteY5" fmla="*/ 496396 h 1224128"/>
              <a:gd name="connsiteX6" fmla="*/ 960212 w 4272025"/>
              <a:gd name="connsiteY6" fmla="*/ 766559 h 1224128"/>
              <a:gd name="connsiteX7" fmla="*/ 1465903 w 4272025"/>
              <a:gd name="connsiteY7" fmla="*/ 905105 h 1224128"/>
              <a:gd name="connsiteX8" fmla="*/ 2536167 w 4272025"/>
              <a:gd name="connsiteY8" fmla="*/ 974378 h 1224128"/>
              <a:gd name="connsiteX9" fmla="*/ 2750912 w 4272025"/>
              <a:gd name="connsiteY9" fmla="*/ 970914 h 1224128"/>
              <a:gd name="connsiteX10" fmla="*/ 2879067 w 4272025"/>
              <a:gd name="connsiteY10" fmla="*/ 915496 h 1224128"/>
              <a:gd name="connsiteX11" fmla="*/ 2955267 w 4272025"/>
              <a:gd name="connsiteY11" fmla="*/ 655723 h 1224128"/>
              <a:gd name="connsiteX12" fmla="*/ 2951803 w 4272025"/>
              <a:gd name="connsiteY12" fmla="*/ 402878 h 1224128"/>
              <a:gd name="connsiteX13" fmla="*/ 3066103 w 4272025"/>
              <a:gd name="connsiteY13" fmla="*/ 84223 h 1224128"/>
              <a:gd name="connsiteX14" fmla="*/ 3790003 w 4272025"/>
              <a:gd name="connsiteY14" fmla="*/ 46123 h 1224128"/>
              <a:gd name="connsiteX15" fmla="*/ 4015140 w 4272025"/>
              <a:gd name="connsiteY15" fmla="*/ 84223 h 1224128"/>
              <a:gd name="connsiteX16" fmla="*/ 4115585 w 4272025"/>
              <a:gd name="connsiteY16" fmla="*/ 195059 h 1224128"/>
              <a:gd name="connsiteX17" fmla="*/ 4219494 w 4272025"/>
              <a:gd name="connsiteY17" fmla="*/ 385559 h 1224128"/>
              <a:gd name="connsiteX18" fmla="*/ 4264521 w 4272025"/>
              <a:gd name="connsiteY18" fmla="*/ 593378 h 1224128"/>
              <a:gd name="connsiteX19" fmla="*/ 4264521 w 4272025"/>
              <a:gd name="connsiteY19" fmla="*/ 749241 h 1224128"/>
              <a:gd name="connsiteX20" fmla="*/ 4257594 w 4272025"/>
              <a:gd name="connsiteY20" fmla="*/ 773487 h 1224128"/>
              <a:gd name="connsiteX21" fmla="*/ 4229885 w 4272025"/>
              <a:gd name="connsiteY21" fmla="*/ 828905 h 1224128"/>
              <a:gd name="connsiteX22" fmla="*/ 4143294 w 4272025"/>
              <a:gd name="connsiteY22" fmla="*/ 870468 h 1224128"/>
              <a:gd name="connsiteX23" fmla="*/ 3938405 w 4272025"/>
              <a:gd name="connsiteY23" fmla="*/ 990238 h 1224128"/>
              <a:gd name="connsiteX24" fmla="*/ 3506357 w 4272025"/>
              <a:gd name="connsiteY24" fmla="*/ 1134254 h 1224128"/>
              <a:gd name="connsiteX25" fmla="*/ 2786277 w 4272025"/>
              <a:gd name="connsiteY25" fmla="*/ 1206262 h 1224128"/>
              <a:gd name="connsiteX26" fmla="*/ 1922182 w 4272025"/>
              <a:gd name="connsiteY26" fmla="*/ 1206262 h 1224128"/>
              <a:gd name="connsiteX27" fmla="*/ 1130094 w 4272025"/>
              <a:gd name="connsiteY27" fmla="*/ 1062246 h 1224128"/>
              <a:gd name="connsiteX28" fmla="*/ 842062 w 4272025"/>
              <a:gd name="connsiteY28" fmla="*/ 1062246 h 1224128"/>
              <a:gd name="connsiteX29" fmla="*/ 554030 w 4272025"/>
              <a:gd name="connsiteY29" fmla="*/ 990238 h 1224128"/>
              <a:gd name="connsiteX30" fmla="*/ 338005 w 4272025"/>
              <a:gd name="connsiteY30" fmla="*/ 918230 h 1224128"/>
              <a:gd name="connsiteX31" fmla="*/ 52740 w 4272025"/>
              <a:gd name="connsiteY31" fmla="*/ 731923 h 1224128"/>
              <a:gd name="connsiteX32" fmla="*/ 21567 w 4272025"/>
              <a:gd name="connsiteY32" fmla="*/ 472150 h 1224128"/>
              <a:gd name="connsiteX33" fmla="*/ 121981 w 4272025"/>
              <a:gd name="connsiteY33" fmla="*/ 126142 h 1224128"/>
              <a:gd name="connsiteX0" fmla="*/ 121981 w 4272025"/>
              <a:gd name="connsiteY0" fmla="*/ 126142 h 1224128"/>
              <a:gd name="connsiteX1" fmla="*/ 343685 w 4272025"/>
              <a:gd name="connsiteY1" fmla="*/ 4559 h 1224128"/>
              <a:gd name="connsiteX2" fmla="*/ 648485 w 4272025"/>
              <a:gd name="connsiteY2" fmla="*/ 153496 h 1224128"/>
              <a:gd name="connsiteX3" fmla="*/ 755858 w 4272025"/>
              <a:gd name="connsiteY3" fmla="*/ 312823 h 1224128"/>
              <a:gd name="connsiteX4" fmla="*/ 755858 w 4272025"/>
              <a:gd name="connsiteY4" fmla="*/ 323214 h 1224128"/>
              <a:gd name="connsiteX5" fmla="*/ 825130 w 4272025"/>
              <a:gd name="connsiteY5" fmla="*/ 496396 h 1224128"/>
              <a:gd name="connsiteX6" fmla="*/ 960212 w 4272025"/>
              <a:gd name="connsiteY6" fmla="*/ 766559 h 1224128"/>
              <a:gd name="connsiteX7" fmla="*/ 1465903 w 4272025"/>
              <a:gd name="connsiteY7" fmla="*/ 905105 h 1224128"/>
              <a:gd name="connsiteX8" fmla="*/ 2536167 w 4272025"/>
              <a:gd name="connsiteY8" fmla="*/ 974378 h 1224128"/>
              <a:gd name="connsiteX9" fmla="*/ 2750912 w 4272025"/>
              <a:gd name="connsiteY9" fmla="*/ 970914 h 1224128"/>
              <a:gd name="connsiteX10" fmla="*/ 2879067 w 4272025"/>
              <a:gd name="connsiteY10" fmla="*/ 915496 h 1224128"/>
              <a:gd name="connsiteX11" fmla="*/ 2955267 w 4272025"/>
              <a:gd name="connsiteY11" fmla="*/ 655723 h 1224128"/>
              <a:gd name="connsiteX12" fmla="*/ 2951803 w 4272025"/>
              <a:gd name="connsiteY12" fmla="*/ 402878 h 1224128"/>
              <a:gd name="connsiteX13" fmla="*/ 3066103 w 4272025"/>
              <a:gd name="connsiteY13" fmla="*/ 84223 h 1224128"/>
              <a:gd name="connsiteX14" fmla="*/ 3790003 w 4272025"/>
              <a:gd name="connsiteY14" fmla="*/ 46123 h 1224128"/>
              <a:gd name="connsiteX15" fmla="*/ 4015140 w 4272025"/>
              <a:gd name="connsiteY15" fmla="*/ 84223 h 1224128"/>
              <a:gd name="connsiteX16" fmla="*/ 4115585 w 4272025"/>
              <a:gd name="connsiteY16" fmla="*/ 195059 h 1224128"/>
              <a:gd name="connsiteX17" fmla="*/ 4219494 w 4272025"/>
              <a:gd name="connsiteY17" fmla="*/ 385559 h 1224128"/>
              <a:gd name="connsiteX18" fmla="*/ 4264521 w 4272025"/>
              <a:gd name="connsiteY18" fmla="*/ 593378 h 1224128"/>
              <a:gd name="connsiteX19" fmla="*/ 4264521 w 4272025"/>
              <a:gd name="connsiteY19" fmla="*/ 749241 h 1224128"/>
              <a:gd name="connsiteX20" fmla="*/ 4257594 w 4272025"/>
              <a:gd name="connsiteY20" fmla="*/ 773487 h 1224128"/>
              <a:gd name="connsiteX21" fmla="*/ 4229885 w 4272025"/>
              <a:gd name="connsiteY21" fmla="*/ 828905 h 1224128"/>
              <a:gd name="connsiteX22" fmla="*/ 4143294 w 4272025"/>
              <a:gd name="connsiteY22" fmla="*/ 870468 h 1224128"/>
              <a:gd name="connsiteX23" fmla="*/ 3938405 w 4272025"/>
              <a:gd name="connsiteY23" fmla="*/ 990238 h 1224128"/>
              <a:gd name="connsiteX24" fmla="*/ 3506357 w 4272025"/>
              <a:gd name="connsiteY24" fmla="*/ 1134254 h 1224128"/>
              <a:gd name="connsiteX25" fmla="*/ 2786277 w 4272025"/>
              <a:gd name="connsiteY25" fmla="*/ 1206262 h 1224128"/>
              <a:gd name="connsiteX26" fmla="*/ 1922182 w 4272025"/>
              <a:gd name="connsiteY26" fmla="*/ 1206262 h 1224128"/>
              <a:gd name="connsiteX27" fmla="*/ 1130094 w 4272025"/>
              <a:gd name="connsiteY27" fmla="*/ 1134254 h 1224128"/>
              <a:gd name="connsiteX28" fmla="*/ 842062 w 4272025"/>
              <a:gd name="connsiteY28" fmla="*/ 1062246 h 1224128"/>
              <a:gd name="connsiteX29" fmla="*/ 554030 w 4272025"/>
              <a:gd name="connsiteY29" fmla="*/ 990238 h 1224128"/>
              <a:gd name="connsiteX30" fmla="*/ 338005 w 4272025"/>
              <a:gd name="connsiteY30" fmla="*/ 918230 h 1224128"/>
              <a:gd name="connsiteX31" fmla="*/ 52740 w 4272025"/>
              <a:gd name="connsiteY31" fmla="*/ 731923 h 1224128"/>
              <a:gd name="connsiteX32" fmla="*/ 21567 w 4272025"/>
              <a:gd name="connsiteY32" fmla="*/ 472150 h 1224128"/>
              <a:gd name="connsiteX33" fmla="*/ 121981 w 4272025"/>
              <a:gd name="connsiteY33" fmla="*/ 126142 h 1224128"/>
              <a:gd name="connsiteX0" fmla="*/ 121981 w 4272025"/>
              <a:gd name="connsiteY0" fmla="*/ 126142 h 1224128"/>
              <a:gd name="connsiteX1" fmla="*/ 343685 w 4272025"/>
              <a:gd name="connsiteY1" fmla="*/ 4559 h 1224128"/>
              <a:gd name="connsiteX2" fmla="*/ 648485 w 4272025"/>
              <a:gd name="connsiteY2" fmla="*/ 153496 h 1224128"/>
              <a:gd name="connsiteX3" fmla="*/ 755858 w 4272025"/>
              <a:gd name="connsiteY3" fmla="*/ 312823 h 1224128"/>
              <a:gd name="connsiteX4" fmla="*/ 755858 w 4272025"/>
              <a:gd name="connsiteY4" fmla="*/ 323214 h 1224128"/>
              <a:gd name="connsiteX5" fmla="*/ 825130 w 4272025"/>
              <a:gd name="connsiteY5" fmla="*/ 496396 h 1224128"/>
              <a:gd name="connsiteX6" fmla="*/ 960212 w 4272025"/>
              <a:gd name="connsiteY6" fmla="*/ 766559 h 1224128"/>
              <a:gd name="connsiteX7" fmla="*/ 1465903 w 4272025"/>
              <a:gd name="connsiteY7" fmla="*/ 905105 h 1224128"/>
              <a:gd name="connsiteX8" fmla="*/ 2536167 w 4272025"/>
              <a:gd name="connsiteY8" fmla="*/ 974378 h 1224128"/>
              <a:gd name="connsiteX9" fmla="*/ 2750912 w 4272025"/>
              <a:gd name="connsiteY9" fmla="*/ 970914 h 1224128"/>
              <a:gd name="connsiteX10" fmla="*/ 2879067 w 4272025"/>
              <a:gd name="connsiteY10" fmla="*/ 915496 h 1224128"/>
              <a:gd name="connsiteX11" fmla="*/ 2955267 w 4272025"/>
              <a:gd name="connsiteY11" fmla="*/ 655723 h 1224128"/>
              <a:gd name="connsiteX12" fmla="*/ 2951803 w 4272025"/>
              <a:gd name="connsiteY12" fmla="*/ 402878 h 1224128"/>
              <a:gd name="connsiteX13" fmla="*/ 3066103 w 4272025"/>
              <a:gd name="connsiteY13" fmla="*/ 84223 h 1224128"/>
              <a:gd name="connsiteX14" fmla="*/ 3790003 w 4272025"/>
              <a:gd name="connsiteY14" fmla="*/ 46123 h 1224128"/>
              <a:gd name="connsiteX15" fmla="*/ 4015140 w 4272025"/>
              <a:gd name="connsiteY15" fmla="*/ 84223 h 1224128"/>
              <a:gd name="connsiteX16" fmla="*/ 4115585 w 4272025"/>
              <a:gd name="connsiteY16" fmla="*/ 195059 h 1224128"/>
              <a:gd name="connsiteX17" fmla="*/ 4219494 w 4272025"/>
              <a:gd name="connsiteY17" fmla="*/ 385559 h 1224128"/>
              <a:gd name="connsiteX18" fmla="*/ 4264521 w 4272025"/>
              <a:gd name="connsiteY18" fmla="*/ 593378 h 1224128"/>
              <a:gd name="connsiteX19" fmla="*/ 4264521 w 4272025"/>
              <a:gd name="connsiteY19" fmla="*/ 749241 h 1224128"/>
              <a:gd name="connsiteX20" fmla="*/ 4257594 w 4272025"/>
              <a:gd name="connsiteY20" fmla="*/ 773487 h 1224128"/>
              <a:gd name="connsiteX21" fmla="*/ 4229885 w 4272025"/>
              <a:gd name="connsiteY21" fmla="*/ 828905 h 1224128"/>
              <a:gd name="connsiteX22" fmla="*/ 4143294 w 4272025"/>
              <a:gd name="connsiteY22" fmla="*/ 870468 h 1224128"/>
              <a:gd name="connsiteX23" fmla="*/ 3938405 w 4272025"/>
              <a:gd name="connsiteY23" fmla="*/ 990238 h 1224128"/>
              <a:gd name="connsiteX24" fmla="*/ 3506357 w 4272025"/>
              <a:gd name="connsiteY24" fmla="*/ 1134254 h 1224128"/>
              <a:gd name="connsiteX25" fmla="*/ 2786277 w 4272025"/>
              <a:gd name="connsiteY25" fmla="*/ 1206262 h 1224128"/>
              <a:gd name="connsiteX26" fmla="*/ 1922182 w 4272025"/>
              <a:gd name="connsiteY26" fmla="*/ 1206262 h 1224128"/>
              <a:gd name="connsiteX27" fmla="*/ 1130094 w 4272025"/>
              <a:gd name="connsiteY27" fmla="*/ 1134254 h 1224128"/>
              <a:gd name="connsiteX28" fmla="*/ 842062 w 4272025"/>
              <a:gd name="connsiteY28" fmla="*/ 1062246 h 1224128"/>
              <a:gd name="connsiteX29" fmla="*/ 554030 w 4272025"/>
              <a:gd name="connsiteY29" fmla="*/ 990238 h 1224128"/>
              <a:gd name="connsiteX30" fmla="*/ 338005 w 4272025"/>
              <a:gd name="connsiteY30" fmla="*/ 918230 h 1224128"/>
              <a:gd name="connsiteX31" fmla="*/ 52740 w 4272025"/>
              <a:gd name="connsiteY31" fmla="*/ 731923 h 1224128"/>
              <a:gd name="connsiteX32" fmla="*/ 21567 w 4272025"/>
              <a:gd name="connsiteY32" fmla="*/ 472150 h 1224128"/>
              <a:gd name="connsiteX33" fmla="*/ 121981 w 4272025"/>
              <a:gd name="connsiteY33" fmla="*/ 126142 h 1224128"/>
              <a:gd name="connsiteX0" fmla="*/ 121981 w 4272025"/>
              <a:gd name="connsiteY0" fmla="*/ 126142 h 1224128"/>
              <a:gd name="connsiteX1" fmla="*/ 343685 w 4272025"/>
              <a:gd name="connsiteY1" fmla="*/ 4559 h 1224128"/>
              <a:gd name="connsiteX2" fmla="*/ 648485 w 4272025"/>
              <a:gd name="connsiteY2" fmla="*/ 153496 h 1224128"/>
              <a:gd name="connsiteX3" fmla="*/ 755858 w 4272025"/>
              <a:gd name="connsiteY3" fmla="*/ 312823 h 1224128"/>
              <a:gd name="connsiteX4" fmla="*/ 755858 w 4272025"/>
              <a:gd name="connsiteY4" fmla="*/ 323214 h 1224128"/>
              <a:gd name="connsiteX5" fmla="*/ 825130 w 4272025"/>
              <a:gd name="connsiteY5" fmla="*/ 496396 h 1224128"/>
              <a:gd name="connsiteX6" fmla="*/ 960212 w 4272025"/>
              <a:gd name="connsiteY6" fmla="*/ 766559 h 1224128"/>
              <a:gd name="connsiteX7" fmla="*/ 1465903 w 4272025"/>
              <a:gd name="connsiteY7" fmla="*/ 905105 h 1224128"/>
              <a:gd name="connsiteX8" fmla="*/ 2536167 w 4272025"/>
              <a:gd name="connsiteY8" fmla="*/ 974378 h 1224128"/>
              <a:gd name="connsiteX9" fmla="*/ 2750912 w 4272025"/>
              <a:gd name="connsiteY9" fmla="*/ 970914 h 1224128"/>
              <a:gd name="connsiteX10" fmla="*/ 2879067 w 4272025"/>
              <a:gd name="connsiteY10" fmla="*/ 915496 h 1224128"/>
              <a:gd name="connsiteX11" fmla="*/ 2955267 w 4272025"/>
              <a:gd name="connsiteY11" fmla="*/ 655723 h 1224128"/>
              <a:gd name="connsiteX12" fmla="*/ 2951803 w 4272025"/>
              <a:gd name="connsiteY12" fmla="*/ 402878 h 1224128"/>
              <a:gd name="connsiteX13" fmla="*/ 3066103 w 4272025"/>
              <a:gd name="connsiteY13" fmla="*/ 84223 h 1224128"/>
              <a:gd name="connsiteX14" fmla="*/ 3790003 w 4272025"/>
              <a:gd name="connsiteY14" fmla="*/ 46123 h 1224128"/>
              <a:gd name="connsiteX15" fmla="*/ 4015140 w 4272025"/>
              <a:gd name="connsiteY15" fmla="*/ 84223 h 1224128"/>
              <a:gd name="connsiteX16" fmla="*/ 4115585 w 4272025"/>
              <a:gd name="connsiteY16" fmla="*/ 195059 h 1224128"/>
              <a:gd name="connsiteX17" fmla="*/ 4219494 w 4272025"/>
              <a:gd name="connsiteY17" fmla="*/ 385559 h 1224128"/>
              <a:gd name="connsiteX18" fmla="*/ 4264521 w 4272025"/>
              <a:gd name="connsiteY18" fmla="*/ 593378 h 1224128"/>
              <a:gd name="connsiteX19" fmla="*/ 4264521 w 4272025"/>
              <a:gd name="connsiteY19" fmla="*/ 749241 h 1224128"/>
              <a:gd name="connsiteX20" fmla="*/ 4257594 w 4272025"/>
              <a:gd name="connsiteY20" fmla="*/ 773487 h 1224128"/>
              <a:gd name="connsiteX21" fmla="*/ 4229885 w 4272025"/>
              <a:gd name="connsiteY21" fmla="*/ 828905 h 1224128"/>
              <a:gd name="connsiteX22" fmla="*/ 4143294 w 4272025"/>
              <a:gd name="connsiteY22" fmla="*/ 870468 h 1224128"/>
              <a:gd name="connsiteX23" fmla="*/ 3938405 w 4272025"/>
              <a:gd name="connsiteY23" fmla="*/ 990238 h 1224128"/>
              <a:gd name="connsiteX24" fmla="*/ 3506357 w 4272025"/>
              <a:gd name="connsiteY24" fmla="*/ 1134254 h 1224128"/>
              <a:gd name="connsiteX25" fmla="*/ 2786277 w 4272025"/>
              <a:gd name="connsiteY25" fmla="*/ 1206262 h 1224128"/>
              <a:gd name="connsiteX26" fmla="*/ 1922182 w 4272025"/>
              <a:gd name="connsiteY26" fmla="*/ 1206262 h 1224128"/>
              <a:gd name="connsiteX27" fmla="*/ 1130094 w 4272025"/>
              <a:gd name="connsiteY27" fmla="*/ 1134254 h 1224128"/>
              <a:gd name="connsiteX28" fmla="*/ 554030 w 4272025"/>
              <a:gd name="connsiteY28" fmla="*/ 990238 h 1224128"/>
              <a:gd name="connsiteX29" fmla="*/ 338005 w 4272025"/>
              <a:gd name="connsiteY29" fmla="*/ 918230 h 1224128"/>
              <a:gd name="connsiteX30" fmla="*/ 52740 w 4272025"/>
              <a:gd name="connsiteY30" fmla="*/ 731923 h 1224128"/>
              <a:gd name="connsiteX31" fmla="*/ 21567 w 4272025"/>
              <a:gd name="connsiteY31" fmla="*/ 472150 h 1224128"/>
              <a:gd name="connsiteX32" fmla="*/ 121981 w 4272025"/>
              <a:gd name="connsiteY32" fmla="*/ 126142 h 1224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272025" h="1224128">
                <a:moveTo>
                  <a:pt x="121981" y="126142"/>
                </a:moveTo>
                <a:cubicBezTo>
                  <a:pt x="175667" y="48210"/>
                  <a:pt x="255934" y="0"/>
                  <a:pt x="343685" y="4559"/>
                </a:cubicBezTo>
                <a:cubicBezTo>
                  <a:pt x="431436" y="9118"/>
                  <a:pt x="579790" y="102119"/>
                  <a:pt x="648485" y="153496"/>
                </a:cubicBezTo>
                <a:cubicBezTo>
                  <a:pt x="717180" y="204873"/>
                  <a:pt x="737963" y="284537"/>
                  <a:pt x="755858" y="312823"/>
                </a:cubicBezTo>
                <a:cubicBezTo>
                  <a:pt x="773753" y="341109"/>
                  <a:pt x="744313" y="292619"/>
                  <a:pt x="755858" y="323214"/>
                </a:cubicBezTo>
                <a:cubicBezTo>
                  <a:pt x="767403" y="353810"/>
                  <a:pt x="791071" y="422505"/>
                  <a:pt x="825130" y="496396"/>
                </a:cubicBezTo>
                <a:cubicBezTo>
                  <a:pt x="859189" y="570287"/>
                  <a:pt x="853417" y="698441"/>
                  <a:pt x="960212" y="766559"/>
                </a:cubicBezTo>
                <a:cubicBezTo>
                  <a:pt x="1067007" y="834677"/>
                  <a:pt x="1203244" y="870468"/>
                  <a:pt x="1465903" y="905105"/>
                </a:cubicBezTo>
                <a:cubicBezTo>
                  <a:pt x="1728562" y="939742"/>
                  <a:pt x="2321999" y="963410"/>
                  <a:pt x="2536167" y="974378"/>
                </a:cubicBezTo>
                <a:cubicBezTo>
                  <a:pt x="2750335" y="985346"/>
                  <a:pt x="2693762" y="980728"/>
                  <a:pt x="2750912" y="970914"/>
                </a:cubicBezTo>
                <a:cubicBezTo>
                  <a:pt x="2808062" y="961100"/>
                  <a:pt x="2845008" y="968028"/>
                  <a:pt x="2879067" y="915496"/>
                </a:cubicBezTo>
                <a:cubicBezTo>
                  <a:pt x="2913126" y="862964"/>
                  <a:pt x="2943144" y="741159"/>
                  <a:pt x="2955267" y="655723"/>
                </a:cubicBezTo>
                <a:cubicBezTo>
                  <a:pt x="2967390" y="570287"/>
                  <a:pt x="2933330" y="498128"/>
                  <a:pt x="2951803" y="402878"/>
                </a:cubicBezTo>
                <a:cubicBezTo>
                  <a:pt x="2970276" y="307628"/>
                  <a:pt x="2926403" y="143682"/>
                  <a:pt x="3066103" y="84223"/>
                </a:cubicBezTo>
                <a:cubicBezTo>
                  <a:pt x="3205803" y="24764"/>
                  <a:pt x="3631830" y="46123"/>
                  <a:pt x="3790003" y="46123"/>
                </a:cubicBezTo>
                <a:cubicBezTo>
                  <a:pt x="3948176" y="46123"/>
                  <a:pt x="3960876" y="59400"/>
                  <a:pt x="4015140" y="84223"/>
                </a:cubicBezTo>
                <a:cubicBezTo>
                  <a:pt x="4069404" y="109046"/>
                  <a:pt x="4081526" y="144836"/>
                  <a:pt x="4115585" y="195059"/>
                </a:cubicBezTo>
                <a:cubicBezTo>
                  <a:pt x="4149644" y="245282"/>
                  <a:pt x="4194671" y="319173"/>
                  <a:pt x="4219494" y="385559"/>
                </a:cubicBezTo>
                <a:cubicBezTo>
                  <a:pt x="4244317" y="451945"/>
                  <a:pt x="4257017" y="532764"/>
                  <a:pt x="4264521" y="593378"/>
                </a:cubicBezTo>
                <a:cubicBezTo>
                  <a:pt x="4272025" y="653992"/>
                  <a:pt x="4265675" y="719223"/>
                  <a:pt x="4264521" y="749241"/>
                </a:cubicBezTo>
                <a:cubicBezTo>
                  <a:pt x="4263367" y="779259"/>
                  <a:pt x="4263367" y="760210"/>
                  <a:pt x="4257594" y="773487"/>
                </a:cubicBezTo>
                <a:cubicBezTo>
                  <a:pt x="4251821" y="786764"/>
                  <a:pt x="4248935" y="812742"/>
                  <a:pt x="4229885" y="828905"/>
                </a:cubicBezTo>
                <a:cubicBezTo>
                  <a:pt x="4210835" y="845068"/>
                  <a:pt x="4191874" y="843579"/>
                  <a:pt x="4143294" y="870468"/>
                </a:cubicBezTo>
                <a:cubicBezTo>
                  <a:pt x="4094714" y="897357"/>
                  <a:pt x="4044561" y="946274"/>
                  <a:pt x="3938405" y="990238"/>
                </a:cubicBezTo>
                <a:cubicBezTo>
                  <a:pt x="3832249" y="1034202"/>
                  <a:pt x="3698378" y="1098250"/>
                  <a:pt x="3506357" y="1134254"/>
                </a:cubicBezTo>
                <a:cubicBezTo>
                  <a:pt x="3314336" y="1170258"/>
                  <a:pt x="3050306" y="1194261"/>
                  <a:pt x="2786277" y="1206262"/>
                </a:cubicBezTo>
                <a:cubicBezTo>
                  <a:pt x="2522248" y="1218263"/>
                  <a:pt x="2205744" y="1224128"/>
                  <a:pt x="1922182" y="1206262"/>
                </a:cubicBezTo>
                <a:lnTo>
                  <a:pt x="1130094" y="1134254"/>
                </a:lnTo>
                <a:lnTo>
                  <a:pt x="554030" y="990238"/>
                </a:lnTo>
                <a:cubicBezTo>
                  <a:pt x="509003" y="984465"/>
                  <a:pt x="421553" y="961283"/>
                  <a:pt x="338005" y="918230"/>
                </a:cubicBezTo>
                <a:cubicBezTo>
                  <a:pt x="254457" y="875178"/>
                  <a:pt x="105480" y="806270"/>
                  <a:pt x="52740" y="731923"/>
                </a:cubicBezTo>
                <a:cubicBezTo>
                  <a:pt x="0" y="657576"/>
                  <a:pt x="10027" y="573113"/>
                  <a:pt x="21567" y="472150"/>
                </a:cubicBezTo>
                <a:cubicBezTo>
                  <a:pt x="33107" y="371187"/>
                  <a:pt x="68295" y="204074"/>
                  <a:pt x="121981" y="126142"/>
                </a:cubicBezTo>
                <a:close/>
              </a:path>
            </a:pathLst>
          </a:custGeom>
          <a:solidFill>
            <a:srgbClr val="00FFFF"/>
          </a:solidFill>
          <a:ln w="127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b="1">
              <a:solidFill>
                <a:srgbClr val="000099"/>
              </a:solidFill>
              <a:ea typeface="黑体" pitchFamily="2" charset="-122"/>
            </a:endParaRPr>
          </a:p>
        </p:txBody>
      </p:sp>
      <p:sp>
        <p:nvSpPr>
          <p:cNvPr id="7" name="Text Box 40"/>
          <p:cNvSpPr txBox="1">
            <a:spLocks noChangeArrowheads="1"/>
          </p:cNvSpPr>
          <p:nvPr/>
        </p:nvSpPr>
        <p:spPr bwMode="auto">
          <a:xfrm>
            <a:off x="8080472" y="3120947"/>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solidFill>
                  <a:srgbClr val="000099"/>
                </a:solidFill>
                <a:latin typeface="+mn-lt"/>
                <a:ea typeface="黑体" pitchFamily="2" charset="-122"/>
              </a:rPr>
              <a:t>N</a:t>
            </a:r>
            <a:r>
              <a:rPr lang="en-US" altLang="zh-CN" sz="2400" b="1" baseline="-25000">
                <a:solidFill>
                  <a:srgbClr val="000099"/>
                </a:solidFill>
                <a:latin typeface="+mn-lt"/>
                <a:ea typeface="黑体" pitchFamily="2" charset="-122"/>
              </a:rPr>
              <a:t>2</a:t>
            </a:r>
          </a:p>
        </p:txBody>
      </p:sp>
      <p:sp>
        <p:nvSpPr>
          <p:cNvPr id="8" name="任意多边形 7"/>
          <p:cNvSpPr/>
          <p:nvPr/>
        </p:nvSpPr>
        <p:spPr>
          <a:xfrm>
            <a:off x="4534066" y="2690378"/>
            <a:ext cx="1939712" cy="1950607"/>
          </a:xfrm>
          <a:custGeom>
            <a:avLst/>
            <a:gdLst>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490278 w 1416401"/>
              <a:gd name="connsiteY73" fmla="*/ 1371600 h 1424354"/>
              <a:gd name="connsiteX74" fmla="*/ 472693 w 1416401"/>
              <a:gd name="connsiteY74" fmla="*/ 1365738 h 1424354"/>
              <a:gd name="connsiteX75" fmla="*/ 414078 w 1416401"/>
              <a:gd name="connsiteY75" fmla="*/ 1359877 h 1424354"/>
              <a:gd name="connsiteX76" fmla="*/ 361324 w 1416401"/>
              <a:gd name="connsiteY76" fmla="*/ 1354015 h 1424354"/>
              <a:gd name="connsiteX77" fmla="*/ 337878 w 1416401"/>
              <a:gd name="connsiteY77" fmla="*/ 1348154 h 1424354"/>
              <a:gd name="connsiteX78" fmla="*/ 320293 w 1416401"/>
              <a:gd name="connsiteY78" fmla="*/ 1342292 h 1424354"/>
              <a:gd name="connsiteX79" fmla="*/ 179616 w 1416401"/>
              <a:gd name="connsiteY79" fmla="*/ 1330569 h 1424354"/>
              <a:gd name="connsiteX80" fmla="*/ 144447 w 1416401"/>
              <a:gd name="connsiteY80" fmla="*/ 1324708 h 1424354"/>
              <a:gd name="connsiteX81" fmla="*/ 126862 w 1416401"/>
              <a:gd name="connsiteY81" fmla="*/ 1312985 h 1424354"/>
              <a:gd name="connsiteX82" fmla="*/ 109278 w 1416401"/>
              <a:gd name="connsiteY82" fmla="*/ 1307123 h 1424354"/>
              <a:gd name="connsiteX83" fmla="*/ 79970 w 1416401"/>
              <a:gd name="connsiteY83" fmla="*/ 1283677 h 1424354"/>
              <a:gd name="connsiteX84" fmla="*/ 50662 w 1416401"/>
              <a:gd name="connsiteY84" fmla="*/ 1248508 h 1424354"/>
              <a:gd name="connsiteX85" fmla="*/ 33078 w 1416401"/>
              <a:gd name="connsiteY85" fmla="*/ 1230923 h 1424354"/>
              <a:gd name="connsiteX86" fmla="*/ 21355 w 1416401"/>
              <a:gd name="connsiteY86" fmla="*/ 1189892 h 1424354"/>
              <a:gd name="connsiteX87" fmla="*/ 9632 w 1416401"/>
              <a:gd name="connsiteY87" fmla="*/ 1143000 h 1424354"/>
              <a:gd name="connsiteX88" fmla="*/ 9632 w 1416401"/>
              <a:gd name="connsiteY88" fmla="*/ 943708 h 1424354"/>
              <a:gd name="connsiteX89" fmla="*/ 15493 w 1416401"/>
              <a:gd name="connsiteY89" fmla="*/ 926123 h 1424354"/>
              <a:gd name="connsiteX90" fmla="*/ 21355 w 1416401"/>
              <a:gd name="connsiteY90" fmla="*/ 873369 h 1424354"/>
              <a:gd name="connsiteX91" fmla="*/ 27216 w 1416401"/>
              <a:gd name="connsiteY91" fmla="*/ 855785 h 1424354"/>
              <a:gd name="connsiteX92" fmla="*/ 33078 w 1416401"/>
              <a:gd name="connsiteY92" fmla="*/ 820615 h 1424354"/>
              <a:gd name="connsiteX93" fmla="*/ 50662 w 1416401"/>
              <a:gd name="connsiteY93" fmla="*/ 779585 h 1424354"/>
              <a:gd name="connsiteX94" fmla="*/ 62385 w 1416401"/>
              <a:gd name="connsiteY94" fmla="*/ 738554 h 1424354"/>
              <a:gd name="connsiteX95" fmla="*/ 74108 w 1416401"/>
              <a:gd name="connsiteY95" fmla="*/ 715108 h 1424354"/>
              <a:gd name="connsiteX96" fmla="*/ 85832 w 1416401"/>
              <a:gd name="connsiteY96" fmla="*/ 674077 h 1424354"/>
              <a:gd name="connsiteX97" fmla="*/ 91693 w 1416401"/>
              <a:gd name="connsiteY97" fmla="*/ 656492 h 1424354"/>
              <a:gd name="connsiteX98" fmla="*/ 97555 w 1416401"/>
              <a:gd name="connsiteY98" fmla="*/ 627185 h 1424354"/>
              <a:gd name="connsiteX99" fmla="*/ 103416 w 1416401"/>
              <a:gd name="connsiteY99" fmla="*/ 609600 h 1424354"/>
              <a:gd name="connsiteX100" fmla="*/ 109278 w 1416401"/>
              <a:gd name="connsiteY100" fmla="*/ 586154 h 1424354"/>
              <a:gd name="connsiteX101" fmla="*/ 115139 w 1416401"/>
              <a:gd name="connsiteY101" fmla="*/ 556846 h 1424354"/>
              <a:gd name="connsiteX102" fmla="*/ 126862 w 1416401"/>
              <a:gd name="connsiteY102" fmla="*/ 521677 h 1424354"/>
              <a:gd name="connsiteX103" fmla="*/ 121001 w 1416401"/>
              <a:gd name="connsiteY103" fmla="*/ 322385 h 1424354"/>
              <a:gd name="connsiteX104" fmla="*/ 115139 w 1416401"/>
              <a:gd name="connsiteY104" fmla="*/ 304800 h 1424354"/>
              <a:gd name="connsiteX105" fmla="*/ 103416 w 1416401"/>
              <a:gd name="connsiteY105" fmla="*/ 281354 h 1424354"/>
              <a:gd name="connsiteX106" fmla="*/ 85832 w 1416401"/>
              <a:gd name="connsiteY106" fmla="*/ 263769 h 1424354"/>
              <a:gd name="connsiteX107" fmla="*/ 79970 w 1416401"/>
              <a:gd name="connsiteY107"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490278 w 1416401"/>
              <a:gd name="connsiteY73" fmla="*/ 1371600 h 1424354"/>
              <a:gd name="connsiteX74" fmla="*/ 472693 w 1416401"/>
              <a:gd name="connsiteY74" fmla="*/ 1365738 h 1424354"/>
              <a:gd name="connsiteX75" fmla="*/ 414078 w 1416401"/>
              <a:gd name="connsiteY75" fmla="*/ 1359877 h 1424354"/>
              <a:gd name="connsiteX76" fmla="*/ 361324 w 1416401"/>
              <a:gd name="connsiteY76" fmla="*/ 1354015 h 1424354"/>
              <a:gd name="connsiteX77" fmla="*/ 337878 w 1416401"/>
              <a:gd name="connsiteY77" fmla="*/ 1348154 h 1424354"/>
              <a:gd name="connsiteX78" fmla="*/ 320293 w 1416401"/>
              <a:gd name="connsiteY78" fmla="*/ 1342292 h 1424354"/>
              <a:gd name="connsiteX79" fmla="*/ 179616 w 1416401"/>
              <a:gd name="connsiteY79" fmla="*/ 1330569 h 1424354"/>
              <a:gd name="connsiteX80" fmla="*/ 155426 w 1416401"/>
              <a:gd name="connsiteY80" fmla="*/ 1371600 h 1424354"/>
              <a:gd name="connsiteX81" fmla="*/ 126862 w 1416401"/>
              <a:gd name="connsiteY81" fmla="*/ 1312985 h 1424354"/>
              <a:gd name="connsiteX82" fmla="*/ 109278 w 1416401"/>
              <a:gd name="connsiteY82" fmla="*/ 1307123 h 1424354"/>
              <a:gd name="connsiteX83" fmla="*/ 79970 w 1416401"/>
              <a:gd name="connsiteY83" fmla="*/ 1283677 h 1424354"/>
              <a:gd name="connsiteX84" fmla="*/ 50662 w 1416401"/>
              <a:gd name="connsiteY84" fmla="*/ 1248508 h 1424354"/>
              <a:gd name="connsiteX85" fmla="*/ 33078 w 1416401"/>
              <a:gd name="connsiteY85" fmla="*/ 1230923 h 1424354"/>
              <a:gd name="connsiteX86" fmla="*/ 21355 w 1416401"/>
              <a:gd name="connsiteY86" fmla="*/ 1189892 h 1424354"/>
              <a:gd name="connsiteX87" fmla="*/ 9632 w 1416401"/>
              <a:gd name="connsiteY87" fmla="*/ 1143000 h 1424354"/>
              <a:gd name="connsiteX88" fmla="*/ 9632 w 1416401"/>
              <a:gd name="connsiteY88" fmla="*/ 943708 h 1424354"/>
              <a:gd name="connsiteX89" fmla="*/ 15493 w 1416401"/>
              <a:gd name="connsiteY89" fmla="*/ 926123 h 1424354"/>
              <a:gd name="connsiteX90" fmla="*/ 21355 w 1416401"/>
              <a:gd name="connsiteY90" fmla="*/ 873369 h 1424354"/>
              <a:gd name="connsiteX91" fmla="*/ 27216 w 1416401"/>
              <a:gd name="connsiteY91" fmla="*/ 855785 h 1424354"/>
              <a:gd name="connsiteX92" fmla="*/ 33078 w 1416401"/>
              <a:gd name="connsiteY92" fmla="*/ 820615 h 1424354"/>
              <a:gd name="connsiteX93" fmla="*/ 50662 w 1416401"/>
              <a:gd name="connsiteY93" fmla="*/ 779585 h 1424354"/>
              <a:gd name="connsiteX94" fmla="*/ 62385 w 1416401"/>
              <a:gd name="connsiteY94" fmla="*/ 738554 h 1424354"/>
              <a:gd name="connsiteX95" fmla="*/ 74108 w 1416401"/>
              <a:gd name="connsiteY95" fmla="*/ 715108 h 1424354"/>
              <a:gd name="connsiteX96" fmla="*/ 85832 w 1416401"/>
              <a:gd name="connsiteY96" fmla="*/ 674077 h 1424354"/>
              <a:gd name="connsiteX97" fmla="*/ 91693 w 1416401"/>
              <a:gd name="connsiteY97" fmla="*/ 656492 h 1424354"/>
              <a:gd name="connsiteX98" fmla="*/ 97555 w 1416401"/>
              <a:gd name="connsiteY98" fmla="*/ 627185 h 1424354"/>
              <a:gd name="connsiteX99" fmla="*/ 103416 w 1416401"/>
              <a:gd name="connsiteY99" fmla="*/ 609600 h 1424354"/>
              <a:gd name="connsiteX100" fmla="*/ 109278 w 1416401"/>
              <a:gd name="connsiteY100" fmla="*/ 586154 h 1424354"/>
              <a:gd name="connsiteX101" fmla="*/ 115139 w 1416401"/>
              <a:gd name="connsiteY101" fmla="*/ 556846 h 1424354"/>
              <a:gd name="connsiteX102" fmla="*/ 126862 w 1416401"/>
              <a:gd name="connsiteY102" fmla="*/ 521677 h 1424354"/>
              <a:gd name="connsiteX103" fmla="*/ 121001 w 1416401"/>
              <a:gd name="connsiteY103" fmla="*/ 322385 h 1424354"/>
              <a:gd name="connsiteX104" fmla="*/ 115139 w 1416401"/>
              <a:gd name="connsiteY104" fmla="*/ 304800 h 1424354"/>
              <a:gd name="connsiteX105" fmla="*/ 103416 w 1416401"/>
              <a:gd name="connsiteY105" fmla="*/ 281354 h 1424354"/>
              <a:gd name="connsiteX106" fmla="*/ 85832 w 1416401"/>
              <a:gd name="connsiteY106" fmla="*/ 263769 h 1424354"/>
              <a:gd name="connsiteX107" fmla="*/ 79970 w 1416401"/>
              <a:gd name="connsiteY107"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490278 w 1416401"/>
              <a:gd name="connsiteY73" fmla="*/ 1371600 h 1424354"/>
              <a:gd name="connsiteX74" fmla="*/ 472693 w 1416401"/>
              <a:gd name="connsiteY74" fmla="*/ 1365738 h 1424354"/>
              <a:gd name="connsiteX75" fmla="*/ 414078 w 1416401"/>
              <a:gd name="connsiteY75" fmla="*/ 1359877 h 1424354"/>
              <a:gd name="connsiteX76" fmla="*/ 361324 w 1416401"/>
              <a:gd name="connsiteY76" fmla="*/ 1354015 h 1424354"/>
              <a:gd name="connsiteX77" fmla="*/ 337878 w 1416401"/>
              <a:gd name="connsiteY77" fmla="*/ 1348154 h 1424354"/>
              <a:gd name="connsiteX78" fmla="*/ 179616 w 1416401"/>
              <a:gd name="connsiteY78" fmla="*/ 1330569 h 1424354"/>
              <a:gd name="connsiteX79" fmla="*/ 155426 w 1416401"/>
              <a:gd name="connsiteY79" fmla="*/ 1371600 h 1424354"/>
              <a:gd name="connsiteX80" fmla="*/ 126862 w 1416401"/>
              <a:gd name="connsiteY80" fmla="*/ 1312985 h 1424354"/>
              <a:gd name="connsiteX81" fmla="*/ 109278 w 1416401"/>
              <a:gd name="connsiteY81" fmla="*/ 1307123 h 1424354"/>
              <a:gd name="connsiteX82" fmla="*/ 79970 w 1416401"/>
              <a:gd name="connsiteY82" fmla="*/ 1283677 h 1424354"/>
              <a:gd name="connsiteX83" fmla="*/ 50662 w 1416401"/>
              <a:gd name="connsiteY83" fmla="*/ 1248508 h 1424354"/>
              <a:gd name="connsiteX84" fmla="*/ 33078 w 1416401"/>
              <a:gd name="connsiteY84" fmla="*/ 1230923 h 1424354"/>
              <a:gd name="connsiteX85" fmla="*/ 21355 w 1416401"/>
              <a:gd name="connsiteY85" fmla="*/ 1189892 h 1424354"/>
              <a:gd name="connsiteX86" fmla="*/ 9632 w 1416401"/>
              <a:gd name="connsiteY86" fmla="*/ 1143000 h 1424354"/>
              <a:gd name="connsiteX87" fmla="*/ 9632 w 1416401"/>
              <a:gd name="connsiteY87" fmla="*/ 943708 h 1424354"/>
              <a:gd name="connsiteX88" fmla="*/ 15493 w 1416401"/>
              <a:gd name="connsiteY88" fmla="*/ 926123 h 1424354"/>
              <a:gd name="connsiteX89" fmla="*/ 21355 w 1416401"/>
              <a:gd name="connsiteY89" fmla="*/ 873369 h 1424354"/>
              <a:gd name="connsiteX90" fmla="*/ 27216 w 1416401"/>
              <a:gd name="connsiteY90" fmla="*/ 855785 h 1424354"/>
              <a:gd name="connsiteX91" fmla="*/ 33078 w 1416401"/>
              <a:gd name="connsiteY91" fmla="*/ 820615 h 1424354"/>
              <a:gd name="connsiteX92" fmla="*/ 50662 w 1416401"/>
              <a:gd name="connsiteY92" fmla="*/ 779585 h 1424354"/>
              <a:gd name="connsiteX93" fmla="*/ 62385 w 1416401"/>
              <a:gd name="connsiteY93" fmla="*/ 738554 h 1424354"/>
              <a:gd name="connsiteX94" fmla="*/ 74108 w 1416401"/>
              <a:gd name="connsiteY94" fmla="*/ 715108 h 1424354"/>
              <a:gd name="connsiteX95" fmla="*/ 85832 w 1416401"/>
              <a:gd name="connsiteY95" fmla="*/ 674077 h 1424354"/>
              <a:gd name="connsiteX96" fmla="*/ 91693 w 1416401"/>
              <a:gd name="connsiteY96" fmla="*/ 656492 h 1424354"/>
              <a:gd name="connsiteX97" fmla="*/ 97555 w 1416401"/>
              <a:gd name="connsiteY97" fmla="*/ 627185 h 1424354"/>
              <a:gd name="connsiteX98" fmla="*/ 103416 w 1416401"/>
              <a:gd name="connsiteY98" fmla="*/ 609600 h 1424354"/>
              <a:gd name="connsiteX99" fmla="*/ 109278 w 1416401"/>
              <a:gd name="connsiteY99" fmla="*/ 586154 h 1424354"/>
              <a:gd name="connsiteX100" fmla="*/ 115139 w 1416401"/>
              <a:gd name="connsiteY100" fmla="*/ 556846 h 1424354"/>
              <a:gd name="connsiteX101" fmla="*/ 126862 w 1416401"/>
              <a:gd name="connsiteY101" fmla="*/ 521677 h 1424354"/>
              <a:gd name="connsiteX102" fmla="*/ 121001 w 1416401"/>
              <a:gd name="connsiteY102" fmla="*/ 322385 h 1424354"/>
              <a:gd name="connsiteX103" fmla="*/ 115139 w 1416401"/>
              <a:gd name="connsiteY103" fmla="*/ 304800 h 1424354"/>
              <a:gd name="connsiteX104" fmla="*/ 103416 w 1416401"/>
              <a:gd name="connsiteY104" fmla="*/ 281354 h 1424354"/>
              <a:gd name="connsiteX105" fmla="*/ 85832 w 1416401"/>
              <a:gd name="connsiteY105" fmla="*/ 263769 h 1424354"/>
              <a:gd name="connsiteX106" fmla="*/ 79970 w 1416401"/>
              <a:gd name="connsiteY106"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490278 w 1416401"/>
              <a:gd name="connsiteY73" fmla="*/ 1371600 h 1424354"/>
              <a:gd name="connsiteX74" fmla="*/ 472693 w 1416401"/>
              <a:gd name="connsiteY74" fmla="*/ 1365738 h 1424354"/>
              <a:gd name="connsiteX75" fmla="*/ 414078 w 1416401"/>
              <a:gd name="connsiteY75" fmla="*/ 1359877 h 1424354"/>
              <a:gd name="connsiteX76" fmla="*/ 361324 w 1416401"/>
              <a:gd name="connsiteY76" fmla="*/ 1354015 h 1424354"/>
              <a:gd name="connsiteX77" fmla="*/ 337878 w 1416401"/>
              <a:gd name="connsiteY77" fmla="*/ 1348154 h 1424354"/>
              <a:gd name="connsiteX78" fmla="*/ 155426 w 1416401"/>
              <a:gd name="connsiteY78" fmla="*/ 1371600 h 1424354"/>
              <a:gd name="connsiteX79" fmla="*/ 126862 w 1416401"/>
              <a:gd name="connsiteY79" fmla="*/ 1312985 h 1424354"/>
              <a:gd name="connsiteX80" fmla="*/ 109278 w 1416401"/>
              <a:gd name="connsiteY80" fmla="*/ 1307123 h 1424354"/>
              <a:gd name="connsiteX81" fmla="*/ 79970 w 1416401"/>
              <a:gd name="connsiteY81" fmla="*/ 1283677 h 1424354"/>
              <a:gd name="connsiteX82" fmla="*/ 50662 w 1416401"/>
              <a:gd name="connsiteY82" fmla="*/ 1248508 h 1424354"/>
              <a:gd name="connsiteX83" fmla="*/ 33078 w 1416401"/>
              <a:gd name="connsiteY83" fmla="*/ 1230923 h 1424354"/>
              <a:gd name="connsiteX84" fmla="*/ 21355 w 1416401"/>
              <a:gd name="connsiteY84" fmla="*/ 1189892 h 1424354"/>
              <a:gd name="connsiteX85" fmla="*/ 9632 w 1416401"/>
              <a:gd name="connsiteY85" fmla="*/ 1143000 h 1424354"/>
              <a:gd name="connsiteX86" fmla="*/ 9632 w 1416401"/>
              <a:gd name="connsiteY86" fmla="*/ 943708 h 1424354"/>
              <a:gd name="connsiteX87" fmla="*/ 15493 w 1416401"/>
              <a:gd name="connsiteY87" fmla="*/ 926123 h 1424354"/>
              <a:gd name="connsiteX88" fmla="*/ 21355 w 1416401"/>
              <a:gd name="connsiteY88" fmla="*/ 873369 h 1424354"/>
              <a:gd name="connsiteX89" fmla="*/ 27216 w 1416401"/>
              <a:gd name="connsiteY89" fmla="*/ 855785 h 1424354"/>
              <a:gd name="connsiteX90" fmla="*/ 33078 w 1416401"/>
              <a:gd name="connsiteY90" fmla="*/ 820615 h 1424354"/>
              <a:gd name="connsiteX91" fmla="*/ 50662 w 1416401"/>
              <a:gd name="connsiteY91" fmla="*/ 779585 h 1424354"/>
              <a:gd name="connsiteX92" fmla="*/ 62385 w 1416401"/>
              <a:gd name="connsiteY92" fmla="*/ 738554 h 1424354"/>
              <a:gd name="connsiteX93" fmla="*/ 74108 w 1416401"/>
              <a:gd name="connsiteY93" fmla="*/ 715108 h 1424354"/>
              <a:gd name="connsiteX94" fmla="*/ 85832 w 1416401"/>
              <a:gd name="connsiteY94" fmla="*/ 674077 h 1424354"/>
              <a:gd name="connsiteX95" fmla="*/ 91693 w 1416401"/>
              <a:gd name="connsiteY95" fmla="*/ 656492 h 1424354"/>
              <a:gd name="connsiteX96" fmla="*/ 97555 w 1416401"/>
              <a:gd name="connsiteY96" fmla="*/ 627185 h 1424354"/>
              <a:gd name="connsiteX97" fmla="*/ 103416 w 1416401"/>
              <a:gd name="connsiteY97" fmla="*/ 609600 h 1424354"/>
              <a:gd name="connsiteX98" fmla="*/ 109278 w 1416401"/>
              <a:gd name="connsiteY98" fmla="*/ 586154 h 1424354"/>
              <a:gd name="connsiteX99" fmla="*/ 115139 w 1416401"/>
              <a:gd name="connsiteY99" fmla="*/ 556846 h 1424354"/>
              <a:gd name="connsiteX100" fmla="*/ 126862 w 1416401"/>
              <a:gd name="connsiteY100" fmla="*/ 521677 h 1424354"/>
              <a:gd name="connsiteX101" fmla="*/ 121001 w 1416401"/>
              <a:gd name="connsiteY101" fmla="*/ 322385 h 1424354"/>
              <a:gd name="connsiteX102" fmla="*/ 115139 w 1416401"/>
              <a:gd name="connsiteY102" fmla="*/ 304800 h 1424354"/>
              <a:gd name="connsiteX103" fmla="*/ 103416 w 1416401"/>
              <a:gd name="connsiteY103" fmla="*/ 281354 h 1424354"/>
              <a:gd name="connsiteX104" fmla="*/ 85832 w 1416401"/>
              <a:gd name="connsiteY104" fmla="*/ 263769 h 1424354"/>
              <a:gd name="connsiteX105" fmla="*/ 79970 w 1416401"/>
              <a:gd name="connsiteY105"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490278 w 1416401"/>
              <a:gd name="connsiteY73" fmla="*/ 1371600 h 1424354"/>
              <a:gd name="connsiteX74" fmla="*/ 472693 w 1416401"/>
              <a:gd name="connsiteY74" fmla="*/ 1365738 h 1424354"/>
              <a:gd name="connsiteX75" fmla="*/ 414078 w 1416401"/>
              <a:gd name="connsiteY75" fmla="*/ 1359877 h 1424354"/>
              <a:gd name="connsiteX76" fmla="*/ 361324 w 1416401"/>
              <a:gd name="connsiteY76" fmla="*/ 1354015 h 1424354"/>
              <a:gd name="connsiteX77" fmla="*/ 155426 w 1416401"/>
              <a:gd name="connsiteY77" fmla="*/ 1371600 h 1424354"/>
              <a:gd name="connsiteX78" fmla="*/ 126862 w 1416401"/>
              <a:gd name="connsiteY78" fmla="*/ 1312985 h 1424354"/>
              <a:gd name="connsiteX79" fmla="*/ 109278 w 1416401"/>
              <a:gd name="connsiteY79" fmla="*/ 1307123 h 1424354"/>
              <a:gd name="connsiteX80" fmla="*/ 79970 w 1416401"/>
              <a:gd name="connsiteY80" fmla="*/ 1283677 h 1424354"/>
              <a:gd name="connsiteX81" fmla="*/ 50662 w 1416401"/>
              <a:gd name="connsiteY81" fmla="*/ 1248508 h 1424354"/>
              <a:gd name="connsiteX82" fmla="*/ 33078 w 1416401"/>
              <a:gd name="connsiteY82" fmla="*/ 1230923 h 1424354"/>
              <a:gd name="connsiteX83" fmla="*/ 21355 w 1416401"/>
              <a:gd name="connsiteY83" fmla="*/ 1189892 h 1424354"/>
              <a:gd name="connsiteX84" fmla="*/ 9632 w 1416401"/>
              <a:gd name="connsiteY84" fmla="*/ 1143000 h 1424354"/>
              <a:gd name="connsiteX85" fmla="*/ 9632 w 1416401"/>
              <a:gd name="connsiteY85" fmla="*/ 943708 h 1424354"/>
              <a:gd name="connsiteX86" fmla="*/ 15493 w 1416401"/>
              <a:gd name="connsiteY86" fmla="*/ 926123 h 1424354"/>
              <a:gd name="connsiteX87" fmla="*/ 21355 w 1416401"/>
              <a:gd name="connsiteY87" fmla="*/ 873369 h 1424354"/>
              <a:gd name="connsiteX88" fmla="*/ 27216 w 1416401"/>
              <a:gd name="connsiteY88" fmla="*/ 855785 h 1424354"/>
              <a:gd name="connsiteX89" fmla="*/ 33078 w 1416401"/>
              <a:gd name="connsiteY89" fmla="*/ 820615 h 1424354"/>
              <a:gd name="connsiteX90" fmla="*/ 50662 w 1416401"/>
              <a:gd name="connsiteY90" fmla="*/ 779585 h 1424354"/>
              <a:gd name="connsiteX91" fmla="*/ 62385 w 1416401"/>
              <a:gd name="connsiteY91" fmla="*/ 738554 h 1424354"/>
              <a:gd name="connsiteX92" fmla="*/ 74108 w 1416401"/>
              <a:gd name="connsiteY92" fmla="*/ 715108 h 1424354"/>
              <a:gd name="connsiteX93" fmla="*/ 85832 w 1416401"/>
              <a:gd name="connsiteY93" fmla="*/ 674077 h 1424354"/>
              <a:gd name="connsiteX94" fmla="*/ 91693 w 1416401"/>
              <a:gd name="connsiteY94" fmla="*/ 656492 h 1424354"/>
              <a:gd name="connsiteX95" fmla="*/ 97555 w 1416401"/>
              <a:gd name="connsiteY95" fmla="*/ 627185 h 1424354"/>
              <a:gd name="connsiteX96" fmla="*/ 103416 w 1416401"/>
              <a:gd name="connsiteY96" fmla="*/ 609600 h 1424354"/>
              <a:gd name="connsiteX97" fmla="*/ 109278 w 1416401"/>
              <a:gd name="connsiteY97" fmla="*/ 586154 h 1424354"/>
              <a:gd name="connsiteX98" fmla="*/ 115139 w 1416401"/>
              <a:gd name="connsiteY98" fmla="*/ 556846 h 1424354"/>
              <a:gd name="connsiteX99" fmla="*/ 126862 w 1416401"/>
              <a:gd name="connsiteY99" fmla="*/ 521677 h 1424354"/>
              <a:gd name="connsiteX100" fmla="*/ 121001 w 1416401"/>
              <a:gd name="connsiteY100" fmla="*/ 322385 h 1424354"/>
              <a:gd name="connsiteX101" fmla="*/ 115139 w 1416401"/>
              <a:gd name="connsiteY101" fmla="*/ 304800 h 1424354"/>
              <a:gd name="connsiteX102" fmla="*/ 103416 w 1416401"/>
              <a:gd name="connsiteY102" fmla="*/ 281354 h 1424354"/>
              <a:gd name="connsiteX103" fmla="*/ 85832 w 1416401"/>
              <a:gd name="connsiteY103" fmla="*/ 263769 h 1424354"/>
              <a:gd name="connsiteX104" fmla="*/ 79970 w 1416401"/>
              <a:gd name="connsiteY104"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490278 w 1416401"/>
              <a:gd name="connsiteY73" fmla="*/ 1371600 h 1424354"/>
              <a:gd name="connsiteX74" fmla="*/ 472693 w 1416401"/>
              <a:gd name="connsiteY74" fmla="*/ 1365738 h 1424354"/>
              <a:gd name="connsiteX75" fmla="*/ 361324 w 1416401"/>
              <a:gd name="connsiteY75" fmla="*/ 1354015 h 1424354"/>
              <a:gd name="connsiteX76" fmla="*/ 155426 w 1416401"/>
              <a:gd name="connsiteY76" fmla="*/ 1371600 h 1424354"/>
              <a:gd name="connsiteX77" fmla="*/ 126862 w 1416401"/>
              <a:gd name="connsiteY77" fmla="*/ 1312985 h 1424354"/>
              <a:gd name="connsiteX78" fmla="*/ 109278 w 1416401"/>
              <a:gd name="connsiteY78" fmla="*/ 1307123 h 1424354"/>
              <a:gd name="connsiteX79" fmla="*/ 79970 w 1416401"/>
              <a:gd name="connsiteY79" fmla="*/ 1283677 h 1424354"/>
              <a:gd name="connsiteX80" fmla="*/ 50662 w 1416401"/>
              <a:gd name="connsiteY80" fmla="*/ 1248508 h 1424354"/>
              <a:gd name="connsiteX81" fmla="*/ 33078 w 1416401"/>
              <a:gd name="connsiteY81" fmla="*/ 1230923 h 1424354"/>
              <a:gd name="connsiteX82" fmla="*/ 21355 w 1416401"/>
              <a:gd name="connsiteY82" fmla="*/ 1189892 h 1424354"/>
              <a:gd name="connsiteX83" fmla="*/ 9632 w 1416401"/>
              <a:gd name="connsiteY83" fmla="*/ 1143000 h 1424354"/>
              <a:gd name="connsiteX84" fmla="*/ 9632 w 1416401"/>
              <a:gd name="connsiteY84" fmla="*/ 943708 h 1424354"/>
              <a:gd name="connsiteX85" fmla="*/ 15493 w 1416401"/>
              <a:gd name="connsiteY85" fmla="*/ 926123 h 1424354"/>
              <a:gd name="connsiteX86" fmla="*/ 21355 w 1416401"/>
              <a:gd name="connsiteY86" fmla="*/ 873369 h 1424354"/>
              <a:gd name="connsiteX87" fmla="*/ 27216 w 1416401"/>
              <a:gd name="connsiteY87" fmla="*/ 855785 h 1424354"/>
              <a:gd name="connsiteX88" fmla="*/ 33078 w 1416401"/>
              <a:gd name="connsiteY88" fmla="*/ 820615 h 1424354"/>
              <a:gd name="connsiteX89" fmla="*/ 50662 w 1416401"/>
              <a:gd name="connsiteY89" fmla="*/ 779585 h 1424354"/>
              <a:gd name="connsiteX90" fmla="*/ 62385 w 1416401"/>
              <a:gd name="connsiteY90" fmla="*/ 738554 h 1424354"/>
              <a:gd name="connsiteX91" fmla="*/ 74108 w 1416401"/>
              <a:gd name="connsiteY91" fmla="*/ 715108 h 1424354"/>
              <a:gd name="connsiteX92" fmla="*/ 85832 w 1416401"/>
              <a:gd name="connsiteY92" fmla="*/ 674077 h 1424354"/>
              <a:gd name="connsiteX93" fmla="*/ 91693 w 1416401"/>
              <a:gd name="connsiteY93" fmla="*/ 656492 h 1424354"/>
              <a:gd name="connsiteX94" fmla="*/ 97555 w 1416401"/>
              <a:gd name="connsiteY94" fmla="*/ 627185 h 1424354"/>
              <a:gd name="connsiteX95" fmla="*/ 103416 w 1416401"/>
              <a:gd name="connsiteY95" fmla="*/ 609600 h 1424354"/>
              <a:gd name="connsiteX96" fmla="*/ 109278 w 1416401"/>
              <a:gd name="connsiteY96" fmla="*/ 586154 h 1424354"/>
              <a:gd name="connsiteX97" fmla="*/ 115139 w 1416401"/>
              <a:gd name="connsiteY97" fmla="*/ 556846 h 1424354"/>
              <a:gd name="connsiteX98" fmla="*/ 126862 w 1416401"/>
              <a:gd name="connsiteY98" fmla="*/ 521677 h 1424354"/>
              <a:gd name="connsiteX99" fmla="*/ 121001 w 1416401"/>
              <a:gd name="connsiteY99" fmla="*/ 322385 h 1424354"/>
              <a:gd name="connsiteX100" fmla="*/ 115139 w 1416401"/>
              <a:gd name="connsiteY100" fmla="*/ 304800 h 1424354"/>
              <a:gd name="connsiteX101" fmla="*/ 103416 w 1416401"/>
              <a:gd name="connsiteY101" fmla="*/ 281354 h 1424354"/>
              <a:gd name="connsiteX102" fmla="*/ 85832 w 1416401"/>
              <a:gd name="connsiteY102" fmla="*/ 263769 h 1424354"/>
              <a:gd name="connsiteX103" fmla="*/ 79970 w 1416401"/>
              <a:gd name="connsiteY103"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490278 w 1416401"/>
              <a:gd name="connsiteY73" fmla="*/ 1371600 h 1424354"/>
              <a:gd name="connsiteX74" fmla="*/ 472693 w 1416401"/>
              <a:gd name="connsiteY74" fmla="*/ 1365738 h 1424354"/>
              <a:gd name="connsiteX75" fmla="*/ 155426 w 1416401"/>
              <a:gd name="connsiteY75" fmla="*/ 1371600 h 1424354"/>
              <a:gd name="connsiteX76" fmla="*/ 126862 w 1416401"/>
              <a:gd name="connsiteY76" fmla="*/ 1312985 h 1424354"/>
              <a:gd name="connsiteX77" fmla="*/ 109278 w 1416401"/>
              <a:gd name="connsiteY77" fmla="*/ 1307123 h 1424354"/>
              <a:gd name="connsiteX78" fmla="*/ 79970 w 1416401"/>
              <a:gd name="connsiteY78" fmla="*/ 1283677 h 1424354"/>
              <a:gd name="connsiteX79" fmla="*/ 50662 w 1416401"/>
              <a:gd name="connsiteY79" fmla="*/ 1248508 h 1424354"/>
              <a:gd name="connsiteX80" fmla="*/ 33078 w 1416401"/>
              <a:gd name="connsiteY80" fmla="*/ 1230923 h 1424354"/>
              <a:gd name="connsiteX81" fmla="*/ 21355 w 1416401"/>
              <a:gd name="connsiteY81" fmla="*/ 1189892 h 1424354"/>
              <a:gd name="connsiteX82" fmla="*/ 9632 w 1416401"/>
              <a:gd name="connsiteY82" fmla="*/ 1143000 h 1424354"/>
              <a:gd name="connsiteX83" fmla="*/ 9632 w 1416401"/>
              <a:gd name="connsiteY83" fmla="*/ 943708 h 1424354"/>
              <a:gd name="connsiteX84" fmla="*/ 15493 w 1416401"/>
              <a:gd name="connsiteY84" fmla="*/ 926123 h 1424354"/>
              <a:gd name="connsiteX85" fmla="*/ 21355 w 1416401"/>
              <a:gd name="connsiteY85" fmla="*/ 873369 h 1424354"/>
              <a:gd name="connsiteX86" fmla="*/ 27216 w 1416401"/>
              <a:gd name="connsiteY86" fmla="*/ 855785 h 1424354"/>
              <a:gd name="connsiteX87" fmla="*/ 33078 w 1416401"/>
              <a:gd name="connsiteY87" fmla="*/ 820615 h 1424354"/>
              <a:gd name="connsiteX88" fmla="*/ 50662 w 1416401"/>
              <a:gd name="connsiteY88" fmla="*/ 779585 h 1424354"/>
              <a:gd name="connsiteX89" fmla="*/ 62385 w 1416401"/>
              <a:gd name="connsiteY89" fmla="*/ 738554 h 1424354"/>
              <a:gd name="connsiteX90" fmla="*/ 74108 w 1416401"/>
              <a:gd name="connsiteY90" fmla="*/ 715108 h 1424354"/>
              <a:gd name="connsiteX91" fmla="*/ 85832 w 1416401"/>
              <a:gd name="connsiteY91" fmla="*/ 674077 h 1424354"/>
              <a:gd name="connsiteX92" fmla="*/ 91693 w 1416401"/>
              <a:gd name="connsiteY92" fmla="*/ 656492 h 1424354"/>
              <a:gd name="connsiteX93" fmla="*/ 97555 w 1416401"/>
              <a:gd name="connsiteY93" fmla="*/ 627185 h 1424354"/>
              <a:gd name="connsiteX94" fmla="*/ 103416 w 1416401"/>
              <a:gd name="connsiteY94" fmla="*/ 609600 h 1424354"/>
              <a:gd name="connsiteX95" fmla="*/ 109278 w 1416401"/>
              <a:gd name="connsiteY95" fmla="*/ 586154 h 1424354"/>
              <a:gd name="connsiteX96" fmla="*/ 115139 w 1416401"/>
              <a:gd name="connsiteY96" fmla="*/ 556846 h 1424354"/>
              <a:gd name="connsiteX97" fmla="*/ 126862 w 1416401"/>
              <a:gd name="connsiteY97" fmla="*/ 521677 h 1424354"/>
              <a:gd name="connsiteX98" fmla="*/ 121001 w 1416401"/>
              <a:gd name="connsiteY98" fmla="*/ 322385 h 1424354"/>
              <a:gd name="connsiteX99" fmla="*/ 115139 w 1416401"/>
              <a:gd name="connsiteY99" fmla="*/ 304800 h 1424354"/>
              <a:gd name="connsiteX100" fmla="*/ 103416 w 1416401"/>
              <a:gd name="connsiteY100" fmla="*/ 281354 h 1424354"/>
              <a:gd name="connsiteX101" fmla="*/ 85832 w 1416401"/>
              <a:gd name="connsiteY101" fmla="*/ 263769 h 1424354"/>
              <a:gd name="connsiteX102" fmla="*/ 79970 w 1416401"/>
              <a:gd name="connsiteY102"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490278 w 1416401"/>
              <a:gd name="connsiteY73" fmla="*/ 1371600 h 1424354"/>
              <a:gd name="connsiteX74" fmla="*/ 155426 w 1416401"/>
              <a:gd name="connsiteY74" fmla="*/ 1371600 h 1424354"/>
              <a:gd name="connsiteX75" fmla="*/ 126862 w 1416401"/>
              <a:gd name="connsiteY75" fmla="*/ 1312985 h 1424354"/>
              <a:gd name="connsiteX76" fmla="*/ 109278 w 1416401"/>
              <a:gd name="connsiteY76" fmla="*/ 1307123 h 1424354"/>
              <a:gd name="connsiteX77" fmla="*/ 79970 w 1416401"/>
              <a:gd name="connsiteY77" fmla="*/ 1283677 h 1424354"/>
              <a:gd name="connsiteX78" fmla="*/ 50662 w 1416401"/>
              <a:gd name="connsiteY78" fmla="*/ 1248508 h 1424354"/>
              <a:gd name="connsiteX79" fmla="*/ 33078 w 1416401"/>
              <a:gd name="connsiteY79" fmla="*/ 1230923 h 1424354"/>
              <a:gd name="connsiteX80" fmla="*/ 21355 w 1416401"/>
              <a:gd name="connsiteY80" fmla="*/ 1189892 h 1424354"/>
              <a:gd name="connsiteX81" fmla="*/ 9632 w 1416401"/>
              <a:gd name="connsiteY81" fmla="*/ 1143000 h 1424354"/>
              <a:gd name="connsiteX82" fmla="*/ 9632 w 1416401"/>
              <a:gd name="connsiteY82" fmla="*/ 943708 h 1424354"/>
              <a:gd name="connsiteX83" fmla="*/ 15493 w 1416401"/>
              <a:gd name="connsiteY83" fmla="*/ 926123 h 1424354"/>
              <a:gd name="connsiteX84" fmla="*/ 21355 w 1416401"/>
              <a:gd name="connsiteY84" fmla="*/ 873369 h 1424354"/>
              <a:gd name="connsiteX85" fmla="*/ 27216 w 1416401"/>
              <a:gd name="connsiteY85" fmla="*/ 855785 h 1424354"/>
              <a:gd name="connsiteX86" fmla="*/ 33078 w 1416401"/>
              <a:gd name="connsiteY86" fmla="*/ 820615 h 1424354"/>
              <a:gd name="connsiteX87" fmla="*/ 50662 w 1416401"/>
              <a:gd name="connsiteY87" fmla="*/ 779585 h 1424354"/>
              <a:gd name="connsiteX88" fmla="*/ 62385 w 1416401"/>
              <a:gd name="connsiteY88" fmla="*/ 738554 h 1424354"/>
              <a:gd name="connsiteX89" fmla="*/ 74108 w 1416401"/>
              <a:gd name="connsiteY89" fmla="*/ 715108 h 1424354"/>
              <a:gd name="connsiteX90" fmla="*/ 85832 w 1416401"/>
              <a:gd name="connsiteY90" fmla="*/ 674077 h 1424354"/>
              <a:gd name="connsiteX91" fmla="*/ 91693 w 1416401"/>
              <a:gd name="connsiteY91" fmla="*/ 656492 h 1424354"/>
              <a:gd name="connsiteX92" fmla="*/ 97555 w 1416401"/>
              <a:gd name="connsiteY92" fmla="*/ 627185 h 1424354"/>
              <a:gd name="connsiteX93" fmla="*/ 103416 w 1416401"/>
              <a:gd name="connsiteY93" fmla="*/ 609600 h 1424354"/>
              <a:gd name="connsiteX94" fmla="*/ 109278 w 1416401"/>
              <a:gd name="connsiteY94" fmla="*/ 586154 h 1424354"/>
              <a:gd name="connsiteX95" fmla="*/ 115139 w 1416401"/>
              <a:gd name="connsiteY95" fmla="*/ 556846 h 1424354"/>
              <a:gd name="connsiteX96" fmla="*/ 126862 w 1416401"/>
              <a:gd name="connsiteY96" fmla="*/ 521677 h 1424354"/>
              <a:gd name="connsiteX97" fmla="*/ 121001 w 1416401"/>
              <a:gd name="connsiteY97" fmla="*/ 322385 h 1424354"/>
              <a:gd name="connsiteX98" fmla="*/ 115139 w 1416401"/>
              <a:gd name="connsiteY98" fmla="*/ 304800 h 1424354"/>
              <a:gd name="connsiteX99" fmla="*/ 103416 w 1416401"/>
              <a:gd name="connsiteY99" fmla="*/ 281354 h 1424354"/>
              <a:gd name="connsiteX100" fmla="*/ 85832 w 1416401"/>
              <a:gd name="connsiteY100" fmla="*/ 263769 h 1424354"/>
              <a:gd name="connsiteX101" fmla="*/ 79970 w 1416401"/>
              <a:gd name="connsiteY101"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519585 w 1416401"/>
              <a:gd name="connsiteY72" fmla="*/ 1377462 h 1424354"/>
              <a:gd name="connsiteX73" fmla="*/ 155426 w 1416401"/>
              <a:gd name="connsiteY73" fmla="*/ 1371600 h 1424354"/>
              <a:gd name="connsiteX74" fmla="*/ 126862 w 1416401"/>
              <a:gd name="connsiteY74" fmla="*/ 1312985 h 1424354"/>
              <a:gd name="connsiteX75" fmla="*/ 109278 w 1416401"/>
              <a:gd name="connsiteY75" fmla="*/ 1307123 h 1424354"/>
              <a:gd name="connsiteX76" fmla="*/ 79970 w 1416401"/>
              <a:gd name="connsiteY76" fmla="*/ 1283677 h 1424354"/>
              <a:gd name="connsiteX77" fmla="*/ 50662 w 1416401"/>
              <a:gd name="connsiteY77" fmla="*/ 1248508 h 1424354"/>
              <a:gd name="connsiteX78" fmla="*/ 33078 w 1416401"/>
              <a:gd name="connsiteY78" fmla="*/ 1230923 h 1424354"/>
              <a:gd name="connsiteX79" fmla="*/ 21355 w 1416401"/>
              <a:gd name="connsiteY79" fmla="*/ 1189892 h 1424354"/>
              <a:gd name="connsiteX80" fmla="*/ 9632 w 1416401"/>
              <a:gd name="connsiteY80" fmla="*/ 1143000 h 1424354"/>
              <a:gd name="connsiteX81" fmla="*/ 9632 w 1416401"/>
              <a:gd name="connsiteY81" fmla="*/ 943708 h 1424354"/>
              <a:gd name="connsiteX82" fmla="*/ 15493 w 1416401"/>
              <a:gd name="connsiteY82" fmla="*/ 926123 h 1424354"/>
              <a:gd name="connsiteX83" fmla="*/ 21355 w 1416401"/>
              <a:gd name="connsiteY83" fmla="*/ 873369 h 1424354"/>
              <a:gd name="connsiteX84" fmla="*/ 27216 w 1416401"/>
              <a:gd name="connsiteY84" fmla="*/ 855785 h 1424354"/>
              <a:gd name="connsiteX85" fmla="*/ 33078 w 1416401"/>
              <a:gd name="connsiteY85" fmla="*/ 820615 h 1424354"/>
              <a:gd name="connsiteX86" fmla="*/ 50662 w 1416401"/>
              <a:gd name="connsiteY86" fmla="*/ 779585 h 1424354"/>
              <a:gd name="connsiteX87" fmla="*/ 62385 w 1416401"/>
              <a:gd name="connsiteY87" fmla="*/ 738554 h 1424354"/>
              <a:gd name="connsiteX88" fmla="*/ 74108 w 1416401"/>
              <a:gd name="connsiteY88" fmla="*/ 715108 h 1424354"/>
              <a:gd name="connsiteX89" fmla="*/ 85832 w 1416401"/>
              <a:gd name="connsiteY89" fmla="*/ 674077 h 1424354"/>
              <a:gd name="connsiteX90" fmla="*/ 91693 w 1416401"/>
              <a:gd name="connsiteY90" fmla="*/ 656492 h 1424354"/>
              <a:gd name="connsiteX91" fmla="*/ 97555 w 1416401"/>
              <a:gd name="connsiteY91" fmla="*/ 627185 h 1424354"/>
              <a:gd name="connsiteX92" fmla="*/ 103416 w 1416401"/>
              <a:gd name="connsiteY92" fmla="*/ 609600 h 1424354"/>
              <a:gd name="connsiteX93" fmla="*/ 109278 w 1416401"/>
              <a:gd name="connsiteY93" fmla="*/ 586154 h 1424354"/>
              <a:gd name="connsiteX94" fmla="*/ 115139 w 1416401"/>
              <a:gd name="connsiteY94" fmla="*/ 556846 h 1424354"/>
              <a:gd name="connsiteX95" fmla="*/ 126862 w 1416401"/>
              <a:gd name="connsiteY95" fmla="*/ 521677 h 1424354"/>
              <a:gd name="connsiteX96" fmla="*/ 121001 w 1416401"/>
              <a:gd name="connsiteY96" fmla="*/ 322385 h 1424354"/>
              <a:gd name="connsiteX97" fmla="*/ 115139 w 1416401"/>
              <a:gd name="connsiteY97" fmla="*/ 304800 h 1424354"/>
              <a:gd name="connsiteX98" fmla="*/ 103416 w 1416401"/>
              <a:gd name="connsiteY98" fmla="*/ 281354 h 1424354"/>
              <a:gd name="connsiteX99" fmla="*/ 85832 w 1416401"/>
              <a:gd name="connsiteY99" fmla="*/ 263769 h 1424354"/>
              <a:gd name="connsiteX100" fmla="*/ 79970 w 1416401"/>
              <a:gd name="connsiteY100"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155426 w 1416401"/>
              <a:gd name="connsiteY72" fmla="*/ 1371600 h 1424354"/>
              <a:gd name="connsiteX73" fmla="*/ 126862 w 1416401"/>
              <a:gd name="connsiteY73" fmla="*/ 1312985 h 1424354"/>
              <a:gd name="connsiteX74" fmla="*/ 109278 w 1416401"/>
              <a:gd name="connsiteY74" fmla="*/ 1307123 h 1424354"/>
              <a:gd name="connsiteX75" fmla="*/ 79970 w 1416401"/>
              <a:gd name="connsiteY75" fmla="*/ 1283677 h 1424354"/>
              <a:gd name="connsiteX76" fmla="*/ 50662 w 1416401"/>
              <a:gd name="connsiteY76" fmla="*/ 1248508 h 1424354"/>
              <a:gd name="connsiteX77" fmla="*/ 33078 w 1416401"/>
              <a:gd name="connsiteY77" fmla="*/ 1230923 h 1424354"/>
              <a:gd name="connsiteX78" fmla="*/ 21355 w 1416401"/>
              <a:gd name="connsiteY78" fmla="*/ 1189892 h 1424354"/>
              <a:gd name="connsiteX79" fmla="*/ 9632 w 1416401"/>
              <a:gd name="connsiteY79" fmla="*/ 1143000 h 1424354"/>
              <a:gd name="connsiteX80" fmla="*/ 9632 w 1416401"/>
              <a:gd name="connsiteY80" fmla="*/ 943708 h 1424354"/>
              <a:gd name="connsiteX81" fmla="*/ 15493 w 1416401"/>
              <a:gd name="connsiteY81" fmla="*/ 926123 h 1424354"/>
              <a:gd name="connsiteX82" fmla="*/ 21355 w 1416401"/>
              <a:gd name="connsiteY82" fmla="*/ 873369 h 1424354"/>
              <a:gd name="connsiteX83" fmla="*/ 27216 w 1416401"/>
              <a:gd name="connsiteY83" fmla="*/ 855785 h 1424354"/>
              <a:gd name="connsiteX84" fmla="*/ 33078 w 1416401"/>
              <a:gd name="connsiteY84" fmla="*/ 820615 h 1424354"/>
              <a:gd name="connsiteX85" fmla="*/ 50662 w 1416401"/>
              <a:gd name="connsiteY85" fmla="*/ 779585 h 1424354"/>
              <a:gd name="connsiteX86" fmla="*/ 62385 w 1416401"/>
              <a:gd name="connsiteY86" fmla="*/ 738554 h 1424354"/>
              <a:gd name="connsiteX87" fmla="*/ 74108 w 1416401"/>
              <a:gd name="connsiteY87" fmla="*/ 715108 h 1424354"/>
              <a:gd name="connsiteX88" fmla="*/ 85832 w 1416401"/>
              <a:gd name="connsiteY88" fmla="*/ 674077 h 1424354"/>
              <a:gd name="connsiteX89" fmla="*/ 91693 w 1416401"/>
              <a:gd name="connsiteY89" fmla="*/ 656492 h 1424354"/>
              <a:gd name="connsiteX90" fmla="*/ 97555 w 1416401"/>
              <a:gd name="connsiteY90" fmla="*/ 627185 h 1424354"/>
              <a:gd name="connsiteX91" fmla="*/ 103416 w 1416401"/>
              <a:gd name="connsiteY91" fmla="*/ 609600 h 1424354"/>
              <a:gd name="connsiteX92" fmla="*/ 109278 w 1416401"/>
              <a:gd name="connsiteY92" fmla="*/ 586154 h 1424354"/>
              <a:gd name="connsiteX93" fmla="*/ 115139 w 1416401"/>
              <a:gd name="connsiteY93" fmla="*/ 556846 h 1424354"/>
              <a:gd name="connsiteX94" fmla="*/ 126862 w 1416401"/>
              <a:gd name="connsiteY94" fmla="*/ 521677 h 1424354"/>
              <a:gd name="connsiteX95" fmla="*/ 121001 w 1416401"/>
              <a:gd name="connsiteY95" fmla="*/ 322385 h 1424354"/>
              <a:gd name="connsiteX96" fmla="*/ 115139 w 1416401"/>
              <a:gd name="connsiteY96" fmla="*/ 304800 h 1424354"/>
              <a:gd name="connsiteX97" fmla="*/ 103416 w 1416401"/>
              <a:gd name="connsiteY97" fmla="*/ 281354 h 1424354"/>
              <a:gd name="connsiteX98" fmla="*/ 85832 w 1416401"/>
              <a:gd name="connsiteY98" fmla="*/ 263769 h 1424354"/>
              <a:gd name="connsiteX99" fmla="*/ 79970 w 1416401"/>
              <a:gd name="connsiteY99"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155426 w 1416401"/>
              <a:gd name="connsiteY72" fmla="*/ 1371600 h 1424354"/>
              <a:gd name="connsiteX73" fmla="*/ 126862 w 1416401"/>
              <a:gd name="connsiteY73" fmla="*/ 1312985 h 1424354"/>
              <a:gd name="connsiteX74" fmla="*/ 79970 w 1416401"/>
              <a:gd name="connsiteY74" fmla="*/ 1283677 h 1424354"/>
              <a:gd name="connsiteX75" fmla="*/ 50662 w 1416401"/>
              <a:gd name="connsiteY75" fmla="*/ 1248508 h 1424354"/>
              <a:gd name="connsiteX76" fmla="*/ 33078 w 1416401"/>
              <a:gd name="connsiteY76" fmla="*/ 1230923 h 1424354"/>
              <a:gd name="connsiteX77" fmla="*/ 21355 w 1416401"/>
              <a:gd name="connsiteY77" fmla="*/ 1189892 h 1424354"/>
              <a:gd name="connsiteX78" fmla="*/ 9632 w 1416401"/>
              <a:gd name="connsiteY78" fmla="*/ 1143000 h 1424354"/>
              <a:gd name="connsiteX79" fmla="*/ 9632 w 1416401"/>
              <a:gd name="connsiteY79" fmla="*/ 943708 h 1424354"/>
              <a:gd name="connsiteX80" fmla="*/ 15493 w 1416401"/>
              <a:gd name="connsiteY80" fmla="*/ 926123 h 1424354"/>
              <a:gd name="connsiteX81" fmla="*/ 21355 w 1416401"/>
              <a:gd name="connsiteY81" fmla="*/ 873369 h 1424354"/>
              <a:gd name="connsiteX82" fmla="*/ 27216 w 1416401"/>
              <a:gd name="connsiteY82" fmla="*/ 855785 h 1424354"/>
              <a:gd name="connsiteX83" fmla="*/ 33078 w 1416401"/>
              <a:gd name="connsiteY83" fmla="*/ 820615 h 1424354"/>
              <a:gd name="connsiteX84" fmla="*/ 50662 w 1416401"/>
              <a:gd name="connsiteY84" fmla="*/ 779585 h 1424354"/>
              <a:gd name="connsiteX85" fmla="*/ 62385 w 1416401"/>
              <a:gd name="connsiteY85" fmla="*/ 738554 h 1424354"/>
              <a:gd name="connsiteX86" fmla="*/ 74108 w 1416401"/>
              <a:gd name="connsiteY86" fmla="*/ 715108 h 1424354"/>
              <a:gd name="connsiteX87" fmla="*/ 85832 w 1416401"/>
              <a:gd name="connsiteY87" fmla="*/ 674077 h 1424354"/>
              <a:gd name="connsiteX88" fmla="*/ 91693 w 1416401"/>
              <a:gd name="connsiteY88" fmla="*/ 656492 h 1424354"/>
              <a:gd name="connsiteX89" fmla="*/ 97555 w 1416401"/>
              <a:gd name="connsiteY89" fmla="*/ 627185 h 1424354"/>
              <a:gd name="connsiteX90" fmla="*/ 103416 w 1416401"/>
              <a:gd name="connsiteY90" fmla="*/ 609600 h 1424354"/>
              <a:gd name="connsiteX91" fmla="*/ 109278 w 1416401"/>
              <a:gd name="connsiteY91" fmla="*/ 586154 h 1424354"/>
              <a:gd name="connsiteX92" fmla="*/ 115139 w 1416401"/>
              <a:gd name="connsiteY92" fmla="*/ 556846 h 1424354"/>
              <a:gd name="connsiteX93" fmla="*/ 126862 w 1416401"/>
              <a:gd name="connsiteY93" fmla="*/ 521677 h 1424354"/>
              <a:gd name="connsiteX94" fmla="*/ 121001 w 1416401"/>
              <a:gd name="connsiteY94" fmla="*/ 322385 h 1424354"/>
              <a:gd name="connsiteX95" fmla="*/ 115139 w 1416401"/>
              <a:gd name="connsiteY95" fmla="*/ 304800 h 1424354"/>
              <a:gd name="connsiteX96" fmla="*/ 103416 w 1416401"/>
              <a:gd name="connsiteY96" fmla="*/ 281354 h 1424354"/>
              <a:gd name="connsiteX97" fmla="*/ 85832 w 1416401"/>
              <a:gd name="connsiteY97" fmla="*/ 263769 h 1424354"/>
              <a:gd name="connsiteX98" fmla="*/ 79970 w 1416401"/>
              <a:gd name="connsiteY98"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155426 w 1416401"/>
              <a:gd name="connsiteY72" fmla="*/ 1371600 h 1424354"/>
              <a:gd name="connsiteX73" fmla="*/ 126862 w 1416401"/>
              <a:gd name="connsiteY73" fmla="*/ 1312985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9278 w 1416401"/>
              <a:gd name="connsiteY90" fmla="*/ 586154 h 1424354"/>
              <a:gd name="connsiteX91" fmla="*/ 115139 w 1416401"/>
              <a:gd name="connsiteY91" fmla="*/ 556846 h 1424354"/>
              <a:gd name="connsiteX92" fmla="*/ 126862 w 1416401"/>
              <a:gd name="connsiteY92" fmla="*/ 521677 h 1424354"/>
              <a:gd name="connsiteX93" fmla="*/ 121001 w 1416401"/>
              <a:gd name="connsiteY93" fmla="*/ 322385 h 1424354"/>
              <a:gd name="connsiteX94" fmla="*/ 115139 w 1416401"/>
              <a:gd name="connsiteY94" fmla="*/ 304800 h 1424354"/>
              <a:gd name="connsiteX95" fmla="*/ 103416 w 1416401"/>
              <a:gd name="connsiteY95" fmla="*/ 281354 h 1424354"/>
              <a:gd name="connsiteX96" fmla="*/ 85832 w 1416401"/>
              <a:gd name="connsiteY96" fmla="*/ 263769 h 1424354"/>
              <a:gd name="connsiteX97" fmla="*/ 79970 w 1416401"/>
              <a:gd name="connsiteY97"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537170 w 1416401"/>
              <a:gd name="connsiteY71" fmla="*/ 1383323 h 1424354"/>
              <a:gd name="connsiteX72" fmla="*/ 155426 w 1416401"/>
              <a:gd name="connsiteY72" fmla="*/ 1371600 h 1424354"/>
              <a:gd name="connsiteX73" fmla="*/ 83418 w 1416401"/>
              <a:gd name="connsiteY73" fmla="*/ 1299592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9278 w 1416401"/>
              <a:gd name="connsiteY90" fmla="*/ 586154 h 1424354"/>
              <a:gd name="connsiteX91" fmla="*/ 115139 w 1416401"/>
              <a:gd name="connsiteY91" fmla="*/ 556846 h 1424354"/>
              <a:gd name="connsiteX92" fmla="*/ 126862 w 1416401"/>
              <a:gd name="connsiteY92" fmla="*/ 521677 h 1424354"/>
              <a:gd name="connsiteX93" fmla="*/ 121001 w 1416401"/>
              <a:gd name="connsiteY93" fmla="*/ 322385 h 1424354"/>
              <a:gd name="connsiteX94" fmla="*/ 115139 w 1416401"/>
              <a:gd name="connsiteY94" fmla="*/ 304800 h 1424354"/>
              <a:gd name="connsiteX95" fmla="*/ 103416 w 1416401"/>
              <a:gd name="connsiteY95" fmla="*/ 281354 h 1424354"/>
              <a:gd name="connsiteX96" fmla="*/ 85832 w 1416401"/>
              <a:gd name="connsiteY96" fmla="*/ 263769 h 1424354"/>
              <a:gd name="connsiteX97" fmla="*/ 79970 w 1416401"/>
              <a:gd name="connsiteY97"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476812 w 1416401"/>
              <a:gd name="connsiteY71" fmla="*/ 1400908 h 1424354"/>
              <a:gd name="connsiteX72" fmla="*/ 155426 w 1416401"/>
              <a:gd name="connsiteY72" fmla="*/ 1371600 h 1424354"/>
              <a:gd name="connsiteX73" fmla="*/ 83418 w 1416401"/>
              <a:gd name="connsiteY73" fmla="*/ 1299592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9278 w 1416401"/>
              <a:gd name="connsiteY90" fmla="*/ 586154 h 1424354"/>
              <a:gd name="connsiteX91" fmla="*/ 115139 w 1416401"/>
              <a:gd name="connsiteY91" fmla="*/ 556846 h 1424354"/>
              <a:gd name="connsiteX92" fmla="*/ 126862 w 1416401"/>
              <a:gd name="connsiteY92" fmla="*/ 521677 h 1424354"/>
              <a:gd name="connsiteX93" fmla="*/ 121001 w 1416401"/>
              <a:gd name="connsiteY93" fmla="*/ 322385 h 1424354"/>
              <a:gd name="connsiteX94" fmla="*/ 115139 w 1416401"/>
              <a:gd name="connsiteY94" fmla="*/ 304800 h 1424354"/>
              <a:gd name="connsiteX95" fmla="*/ 103416 w 1416401"/>
              <a:gd name="connsiteY95" fmla="*/ 281354 h 1424354"/>
              <a:gd name="connsiteX96" fmla="*/ 85832 w 1416401"/>
              <a:gd name="connsiteY96" fmla="*/ 263769 h 1424354"/>
              <a:gd name="connsiteX97" fmla="*/ 79970 w 1416401"/>
              <a:gd name="connsiteY97"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476812 w 1416401"/>
              <a:gd name="connsiteY71" fmla="*/ 1400908 h 1424354"/>
              <a:gd name="connsiteX72" fmla="*/ 155426 w 1416401"/>
              <a:gd name="connsiteY72" fmla="*/ 1371600 h 1424354"/>
              <a:gd name="connsiteX73" fmla="*/ 83418 w 1416401"/>
              <a:gd name="connsiteY73" fmla="*/ 1299592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9278 w 1416401"/>
              <a:gd name="connsiteY90" fmla="*/ 586154 h 1424354"/>
              <a:gd name="connsiteX91" fmla="*/ 115139 w 1416401"/>
              <a:gd name="connsiteY91" fmla="*/ 556846 h 1424354"/>
              <a:gd name="connsiteX92" fmla="*/ 126862 w 1416401"/>
              <a:gd name="connsiteY92" fmla="*/ 521677 h 1424354"/>
              <a:gd name="connsiteX93" fmla="*/ 121001 w 1416401"/>
              <a:gd name="connsiteY93" fmla="*/ 322385 h 1424354"/>
              <a:gd name="connsiteX94" fmla="*/ 115139 w 1416401"/>
              <a:gd name="connsiteY94" fmla="*/ 304800 h 1424354"/>
              <a:gd name="connsiteX95" fmla="*/ 83418 w 1416401"/>
              <a:gd name="connsiteY95" fmla="*/ 291480 h 1424354"/>
              <a:gd name="connsiteX96" fmla="*/ 85832 w 1416401"/>
              <a:gd name="connsiteY96" fmla="*/ 263769 h 1424354"/>
              <a:gd name="connsiteX97" fmla="*/ 79970 w 1416401"/>
              <a:gd name="connsiteY97"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476812 w 1416401"/>
              <a:gd name="connsiteY71" fmla="*/ 1400908 h 1424354"/>
              <a:gd name="connsiteX72" fmla="*/ 155426 w 1416401"/>
              <a:gd name="connsiteY72" fmla="*/ 1371600 h 1424354"/>
              <a:gd name="connsiteX73" fmla="*/ 83418 w 1416401"/>
              <a:gd name="connsiteY73" fmla="*/ 1299592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9278 w 1416401"/>
              <a:gd name="connsiteY90" fmla="*/ 586154 h 1424354"/>
              <a:gd name="connsiteX91" fmla="*/ 115139 w 1416401"/>
              <a:gd name="connsiteY91" fmla="*/ 556846 h 1424354"/>
              <a:gd name="connsiteX92" fmla="*/ 126862 w 1416401"/>
              <a:gd name="connsiteY92" fmla="*/ 521677 h 1424354"/>
              <a:gd name="connsiteX93" fmla="*/ 121001 w 1416401"/>
              <a:gd name="connsiteY93" fmla="*/ 322385 h 1424354"/>
              <a:gd name="connsiteX94" fmla="*/ 83418 w 1416401"/>
              <a:gd name="connsiteY94" fmla="*/ 291480 h 1424354"/>
              <a:gd name="connsiteX95" fmla="*/ 85832 w 1416401"/>
              <a:gd name="connsiteY95" fmla="*/ 263769 h 1424354"/>
              <a:gd name="connsiteX96" fmla="*/ 79970 w 1416401"/>
              <a:gd name="connsiteY96"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476812 w 1416401"/>
              <a:gd name="connsiteY71" fmla="*/ 1400908 h 1424354"/>
              <a:gd name="connsiteX72" fmla="*/ 155426 w 1416401"/>
              <a:gd name="connsiteY72" fmla="*/ 1371600 h 1424354"/>
              <a:gd name="connsiteX73" fmla="*/ 83418 w 1416401"/>
              <a:gd name="connsiteY73" fmla="*/ 1299592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9278 w 1416401"/>
              <a:gd name="connsiteY90" fmla="*/ 586154 h 1424354"/>
              <a:gd name="connsiteX91" fmla="*/ 115139 w 1416401"/>
              <a:gd name="connsiteY91" fmla="*/ 556846 h 1424354"/>
              <a:gd name="connsiteX92" fmla="*/ 126862 w 1416401"/>
              <a:gd name="connsiteY92" fmla="*/ 521677 h 1424354"/>
              <a:gd name="connsiteX93" fmla="*/ 83418 w 1416401"/>
              <a:gd name="connsiteY93" fmla="*/ 291480 h 1424354"/>
              <a:gd name="connsiteX94" fmla="*/ 85832 w 1416401"/>
              <a:gd name="connsiteY94" fmla="*/ 263769 h 1424354"/>
              <a:gd name="connsiteX95" fmla="*/ 79970 w 1416401"/>
              <a:gd name="connsiteY95"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476812 w 1416401"/>
              <a:gd name="connsiteY71" fmla="*/ 1400908 h 1424354"/>
              <a:gd name="connsiteX72" fmla="*/ 155426 w 1416401"/>
              <a:gd name="connsiteY72" fmla="*/ 1371600 h 1424354"/>
              <a:gd name="connsiteX73" fmla="*/ 83418 w 1416401"/>
              <a:gd name="connsiteY73" fmla="*/ 1299592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9278 w 1416401"/>
              <a:gd name="connsiteY90" fmla="*/ 586154 h 1424354"/>
              <a:gd name="connsiteX91" fmla="*/ 115139 w 1416401"/>
              <a:gd name="connsiteY91" fmla="*/ 556846 h 1424354"/>
              <a:gd name="connsiteX92" fmla="*/ 83418 w 1416401"/>
              <a:gd name="connsiteY92" fmla="*/ 291480 h 1424354"/>
              <a:gd name="connsiteX93" fmla="*/ 85832 w 1416401"/>
              <a:gd name="connsiteY93" fmla="*/ 263769 h 1424354"/>
              <a:gd name="connsiteX94" fmla="*/ 79970 w 1416401"/>
              <a:gd name="connsiteY94"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476812 w 1416401"/>
              <a:gd name="connsiteY71" fmla="*/ 1400908 h 1424354"/>
              <a:gd name="connsiteX72" fmla="*/ 155426 w 1416401"/>
              <a:gd name="connsiteY72" fmla="*/ 1371600 h 1424354"/>
              <a:gd name="connsiteX73" fmla="*/ 83418 w 1416401"/>
              <a:gd name="connsiteY73" fmla="*/ 1299592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9278 w 1416401"/>
              <a:gd name="connsiteY90" fmla="*/ 586154 h 1424354"/>
              <a:gd name="connsiteX91" fmla="*/ 83418 w 1416401"/>
              <a:gd name="connsiteY91" fmla="*/ 435496 h 1424354"/>
              <a:gd name="connsiteX92" fmla="*/ 83418 w 1416401"/>
              <a:gd name="connsiteY92" fmla="*/ 291480 h 1424354"/>
              <a:gd name="connsiteX93" fmla="*/ 85832 w 1416401"/>
              <a:gd name="connsiteY93" fmla="*/ 263769 h 1424354"/>
              <a:gd name="connsiteX94" fmla="*/ 79970 w 1416401"/>
              <a:gd name="connsiteY94"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92955 w 1416401"/>
              <a:gd name="connsiteY55" fmla="*/ 1178169 h 1424354"/>
              <a:gd name="connsiteX56" fmla="*/ 1387093 w 1416401"/>
              <a:gd name="connsiteY56" fmla="*/ 1219200 h 1424354"/>
              <a:gd name="connsiteX57" fmla="*/ 1381232 w 1416401"/>
              <a:gd name="connsiteY57" fmla="*/ 1289538 h 1424354"/>
              <a:gd name="connsiteX58" fmla="*/ 1351924 w 1416401"/>
              <a:gd name="connsiteY58" fmla="*/ 1330569 h 1424354"/>
              <a:gd name="connsiteX59" fmla="*/ 1322616 w 1416401"/>
              <a:gd name="connsiteY59" fmla="*/ 1359877 h 1424354"/>
              <a:gd name="connsiteX60" fmla="*/ 1287447 w 1416401"/>
              <a:gd name="connsiteY60" fmla="*/ 1383323 h 1424354"/>
              <a:gd name="connsiteX61" fmla="*/ 1269862 w 1416401"/>
              <a:gd name="connsiteY61" fmla="*/ 1395046 h 1424354"/>
              <a:gd name="connsiteX62" fmla="*/ 1234693 w 1416401"/>
              <a:gd name="connsiteY62" fmla="*/ 1406769 h 1424354"/>
              <a:gd name="connsiteX63" fmla="*/ 1217108 w 1416401"/>
              <a:gd name="connsiteY63" fmla="*/ 1412631 h 1424354"/>
              <a:gd name="connsiteX64" fmla="*/ 1176078 w 1416401"/>
              <a:gd name="connsiteY64" fmla="*/ 1418492 h 1424354"/>
              <a:gd name="connsiteX65" fmla="*/ 1140908 w 1416401"/>
              <a:gd name="connsiteY65" fmla="*/ 1424354 h 1424354"/>
              <a:gd name="connsiteX66" fmla="*/ 900585 w 1416401"/>
              <a:gd name="connsiteY66" fmla="*/ 1418492 h 1424354"/>
              <a:gd name="connsiteX67" fmla="*/ 883001 w 1416401"/>
              <a:gd name="connsiteY67" fmla="*/ 1412631 h 1424354"/>
              <a:gd name="connsiteX68" fmla="*/ 800939 w 1416401"/>
              <a:gd name="connsiteY68" fmla="*/ 1406769 h 1424354"/>
              <a:gd name="connsiteX69" fmla="*/ 630955 w 1416401"/>
              <a:gd name="connsiteY69" fmla="*/ 1400908 h 1424354"/>
              <a:gd name="connsiteX70" fmla="*/ 572339 w 1416401"/>
              <a:gd name="connsiteY70" fmla="*/ 1395046 h 1424354"/>
              <a:gd name="connsiteX71" fmla="*/ 476812 w 1416401"/>
              <a:gd name="connsiteY71" fmla="*/ 1400908 h 1424354"/>
              <a:gd name="connsiteX72" fmla="*/ 155426 w 1416401"/>
              <a:gd name="connsiteY72" fmla="*/ 1371600 h 1424354"/>
              <a:gd name="connsiteX73" fmla="*/ 83418 w 1416401"/>
              <a:gd name="connsiteY73" fmla="*/ 1299592 h 1424354"/>
              <a:gd name="connsiteX74" fmla="*/ 50662 w 1416401"/>
              <a:gd name="connsiteY74" fmla="*/ 1248508 h 1424354"/>
              <a:gd name="connsiteX75" fmla="*/ 33078 w 1416401"/>
              <a:gd name="connsiteY75" fmla="*/ 1230923 h 1424354"/>
              <a:gd name="connsiteX76" fmla="*/ 21355 w 1416401"/>
              <a:gd name="connsiteY76" fmla="*/ 1189892 h 1424354"/>
              <a:gd name="connsiteX77" fmla="*/ 9632 w 1416401"/>
              <a:gd name="connsiteY77" fmla="*/ 1143000 h 1424354"/>
              <a:gd name="connsiteX78" fmla="*/ 9632 w 1416401"/>
              <a:gd name="connsiteY78" fmla="*/ 943708 h 1424354"/>
              <a:gd name="connsiteX79" fmla="*/ 15493 w 1416401"/>
              <a:gd name="connsiteY79" fmla="*/ 926123 h 1424354"/>
              <a:gd name="connsiteX80" fmla="*/ 21355 w 1416401"/>
              <a:gd name="connsiteY80" fmla="*/ 873369 h 1424354"/>
              <a:gd name="connsiteX81" fmla="*/ 27216 w 1416401"/>
              <a:gd name="connsiteY81" fmla="*/ 855785 h 1424354"/>
              <a:gd name="connsiteX82" fmla="*/ 33078 w 1416401"/>
              <a:gd name="connsiteY82" fmla="*/ 820615 h 1424354"/>
              <a:gd name="connsiteX83" fmla="*/ 50662 w 1416401"/>
              <a:gd name="connsiteY83" fmla="*/ 779585 h 1424354"/>
              <a:gd name="connsiteX84" fmla="*/ 62385 w 1416401"/>
              <a:gd name="connsiteY84" fmla="*/ 738554 h 1424354"/>
              <a:gd name="connsiteX85" fmla="*/ 74108 w 1416401"/>
              <a:gd name="connsiteY85" fmla="*/ 715108 h 1424354"/>
              <a:gd name="connsiteX86" fmla="*/ 85832 w 1416401"/>
              <a:gd name="connsiteY86" fmla="*/ 674077 h 1424354"/>
              <a:gd name="connsiteX87" fmla="*/ 91693 w 1416401"/>
              <a:gd name="connsiteY87" fmla="*/ 656492 h 1424354"/>
              <a:gd name="connsiteX88" fmla="*/ 97555 w 1416401"/>
              <a:gd name="connsiteY88" fmla="*/ 627185 h 1424354"/>
              <a:gd name="connsiteX89" fmla="*/ 103416 w 1416401"/>
              <a:gd name="connsiteY89" fmla="*/ 609600 h 1424354"/>
              <a:gd name="connsiteX90" fmla="*/ 102366 w 1416401"/>
              <a:gd name="connsiteY90" fmla="*/ 546969 h 1424354"/>
              <a:gd name="connsiteX91" fmla="*/ 83418 w 1416401"/>
              <a:gd name="connsiteY91" fmla="*/ 435496 h 1424354"/>
              <a:gd name="connsiteX92" fmla="*/ 83418 w 1416401"/>
              <a:gd name="connsiteY92" fmla="*/ 291480 h 1424354"/>
              <a:gd name="connsiteX93" fmla="*/ 85832 w 1416401"/>
              <a:gd name="connsiteY93" fmla="*/ 263769 h 1424354"/>
              <a:gd name="connsiteX94" fmla="*/ 79970 w 1416401"/>
              <a:gd name="connsiteY94"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87093 w 1416401"/>
              <a:gd name="connsiteY55" fmla="*/ 1219200 h 1424354"/>
              <a:gd name="connsiteX56" fmla="*/ 1381232 w 1416401"/>
              <a:gd name="connsiteY56" fmla="*/ 1289538 h 1424354"/>
              <a:gd name="connsiteX57" fmla="*/ 1351924 w 1416401"/>
              <a:gd name="connsiteY57" fmla="*/ 1330569 h 1424354"/>
              <a:gd name="connsiteX58" fmla="*/ 1322616 w 1416401"/>
              <a:gd name="connsiteY58" fmla="*/ 1359877 h 1424354"/>
              <a:gd name="connsiteX59" fmla="*/ 1287447 w 1416401"/>
              <a:gd name="connsiteY59" fmla="*/ 1383323 h 1424354"/>
              <a:gd name="connsiteX60" fmla="*/ 1269862 w 1416401"/>
              <a:gd name="connsiteY60" fmla="*/ 1395046 h 1424354"/>
              <a:gd name="connsiteX61" fmla="*/ 1234693 w 1416401"/>
              <a:gd name="connsiteY61" fmla="*/ 1406769 h 1424354"/>
              <a:gd name="connsiteX62" fmla="*/ 1217108 w 1416401"/>
              <a:gd name="connsiteY62" fmla="*/ 1412631 h 1424354"/>
              <a:gd name="connsiteX63" fmla="*/ 1176078 w 1416401"/>
              <a:gd name="connsiteY63" fmla="*/ 1418492 h 1424354"/>
              <a:gd name="connsiteX64" fmla="*/ 1140908 w 1416401"/>
              <a:gd name="connsiteY64" fmla="*/ 1424354 h 1424354"/>
              <a:gd name="connsiteX65" fmla="*/ 900585 w 1416401"/>
              <a:gd name="connsiteY65" fmla="*/ 1418492 h 1424354"/>
              <a:gd name="connsiteX66" fmla="*/ 883001 w 1416401"/>
              <a:gd name="connsiteY66" fmla="*/ 1412631 h 1424354"/>
              <a:gd name="connsiteX67" fmla="*/ 800939 w 1416401"/>
              <a:gd name="connsiteY67" fmla="*/ 1406769 h 1424354"/>
              <a:gd name="connsiteX68" fmla="*/ 630955 w 1416401"/>
              <a:gd name="connsiteY68" fmla="*/ 1400908 h 1424354"/>
              <a:gd name="connsiteX69" fmla="*/ 572339 w 1416401"/>
              <a:gd name="connsiteY69" fmla="*/ 1395046 h 1424354"/>
              <a:gd name="connsiteX70" fmla="*/ 476812 w 1416401"/>
              <a:gd name="connsiteY70" fmla="*/ 1400908 h 1424354"/>
              <a:gd name="connsiteX71" fmla="*/ 155426 w 1416401"/>
              <a:gd name="connsiteY71" fmla="*/ 1371600 h 1424354"/>
              <a:gd name="connsiteX72" fmla="*/ 83418 w 1416401"/>
              <a:gd name="connsiteY72" fmla="*/ 1299592 h 1424354"/>
              <a:gd name="connsiteX73" fmla="*/ 50662 w 1416401"/>
              <a:gd name="connsiteY73" fmla="*/ 1248508 h 1424354"/>
              <a:gd name="connsiteX74" fmla="*/ 33078 w 1416401"/>
              <a:gd name="connsiteY74" fmla="*/ 1230923 h 1424354"/>
              <a:gd name="connsiteX75" fmla="*/ 21355 w 1416401"/>
              <a:gd name="connsiteY75" fmla="*/ 1189892 h 1424354"/>
              <a:gd name="connsiteX76" fmla="*/ 9632 w 1416401"/>
              <a:gd name="connsiteY76" fmla="*/ 1143000 h 1424354"/>
              <a:gd name="connsiteX77" fmla="*/ 9632 w 1416401"/>
              <a:gd name="connsiteY77" fmla="*/ 943708 h 1424354"/>
              <a:gd name="connsiteX78" fmla="*/ 15493 w 1416401"/>
              <a:gd name="connsiteY78" fmla="*/ 926123 h 1424354"/>
              <a:gd name="connsiteX79" fmla="*/ 21355 w 1416401"/>
              <a:gd name="connsiteY79" fmla="*/ 873369 h 1424354"/>
              <a:gd name="connsiteX80" fmla="*/ 27216 w 1416401"/>
              <a:gd name="connsiteY80" fmla="*/ 855785 h 1424354"/>
              <a:gd name="connsiteX81" fmla="*/ 33078 w 1416401"/>
              <a:gd name="connsiteY81" fmla="*/ 820615 h 1424354"/>
              <a:gd name="connsiteX82" fmla="*/ 50662 w 1416401"/>
              <a:gd name="connsiteY82" fmla="*/ 779585 h 1424354"/>
              <a:gd name="connsiteX83" fmla="*/ 62385 w 1416401"/>
              <a:gd name="connsiteY83" fmla="*/ 738554 h 1424354"/>
              <a:gd name="connsiteX84" fmla="*/ 74108 w 1416401"/>
              <a:gd name="connsiteY84" fmla="*/ 715108 h 1424354"/>
              <a:gd name="connsiteX85" fmla="*/ 85832 w 1416401"/>
              <a:gd name="connsiteY85" fmla="*/ 674077 h 1424354"/>
              <a:gd name="connsiteX86" fmla="*/ 91693 w 1416401"/>
              <a:gd name="connsiteY86" fmla="*/ 656492 h 1424354"/>
              <a:gd name="connsiteX87" fmla="*/ 97555 w 1416401"/>
              <a:gd name="connsiteY87" fmla="*/ 627185 h 1424354"/>
              <a:gd name="connsiteX88" fmla="*/ 103416 w 1416401"/>
              <a:gd name="connsiteY88" fmla="*/ 609600 h 1424354"/>
              <a:gd name="connsiteX89" fmla="*/ 102366 w 1416401"/>
              <a:gd name="connsiteY89" fmla="*/ 546969 h 1424354"/>
              <a:gd name="connsiteX90" fmla="*/ 83418 w 1416401"/>
              <a:gd name="connsiteY90" fmla="*/ 435496 h 1424354"/>
              <a:gd name="connsiteX91" fmla="*/ 83418 w 1416401"/>
              <a:gd name="connsiteY91" fmla="*/ 291480 h 1424354"/>
              <a:gd name="connsiteX92" fmla="*/ 85832 w 1416401"/>
              <a:gd name="connsiteY92" fmla="*/ 263769 h 1424354"/>
              <a:gd name="connsiteX93" fmla="*/ 79970 w 1416401"/>
              <a:gd name="connsiteY93"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98816 w 1416401"/>
              <a:gd name="connsiteY54" fmla="*/ 1160585 h 1424354"/>
              <a:gd name="connsiteX55" fmla="*/ 1381232 w 1416401"/>
              <a:gd name="connsiteY55" fmla="*/ 1289538 h 1424354"/>
              <a:gd name="connsiteX56" fmla="*/ 1351924 w 1416401"/>
              <a:gd name="connsiteY56" fmla="*/ 1330569 h 1424354"/>
              <a:gd name="connsiteX57" fmla="*/ 1322616 w 1416401"/>
              <a:gd name="connsiteY57" fmla="*/ 1359877 h 1424354"/>
              <a:gd name="connsiteX58" fmla="*/ 1287447 w 1416401"/>
              <a:gd name="connsiteY58" fmla="*/ 1383323 h 1424354"/>
              <a:gd name="connsiteX59" fmla="*/ 1269862 w 1416401"/>
              <a:gd name="connsiteY59" fmla="*/ 1395046 h 1424354"/>
              <a:gd name="connsiteX60" fmla="*/ 1234693 w 1416401"/>
              <a:gd name="connsiteY60" fmla="*/ 1406769 h 1424354"/>
              <a:gd name="connsiteX61" fmla="*/ 1217108 w 1416401"/>
              <a:gd name="connsiteY61" fmla="*/ 1412631 h 1424354"/>
              <a:gd name="connsiteX62" fmla="*/ 1176078 w 1416401"/>
              <a:gd name="connsiteY62" fmla="*/ 1418492 h 1424354"/>
              <a:gd name="connsiteX63" fmla="*/ 1140908 w 1416401"/>
              <a:gd name="connsiteY63" fmla="*/ 1424354 h 1424354"/>
              <a:gd name="connsiteX64" fmla="*/ 900585 w 1416401"/>
              <a:gd name="connsiteY64" fmla="*/ 1418492 h 1424354"/>
              <a:gd name="connsiteX65" fmla="*/ 883001 w 1416401"/>
              <a:gd name="connsiteY65" fmla="*/ 1412631 h 1424354"/>
              <a:gd name="connsiteX66" fmla="*/ 800939 w 1416401"/>
              <a:gd name="connsiteY66" fmla="*/ 1406769 h 1424354"/>
              <a:gd name="connsiteX67" fmla="*/ 630955 w 1416401"/>
              <a:gd name="connsiteY67" fmla="*/ 1400908 h 1424354"/>
              <a:gd name="connsiteX68" fmla="*/ 572339 w 1416401"/>
              <a:gd name="connsiteY68" fmla="*/ 1395046 h 1424354"/>
              <a:gd name="connsiteX69" fmla="*/ 476812 w 1416401"/>
              <a:gd name="connsiteY69" fmla="*/ 1400908 h 1424354"/>
              <a:gd name="connsiteX70" fmla="*/ 155426 w 1416401"/>
              <a:gd name="connsiteY70" fmla="*/ 1371600 h 1424354"/>
              <a:gd name="connsiteX71" fmla="*/ 83418 w 1416401"/>
              <a:gd name="connsiteY71" fmla="*/ 1299592 h 1424354"/>
              <a:gd name="connsiteX72" fmla="*/ 50662 w 1416401"/>
              <a:gd name="connsiteY72" fmla="*/ 1248508 h 1424354"/>
              <a:gd name="connsiteX73" fmla="*/ 33078 w 1416401"/>
              <a:gd name="connsiteY73" fmla="*/ 1230923 h 1424354"/>
              <a:gd name="connsiteX74" fmla="*/ 21355 w 1416401"/>
              <a:gd name="connsiteY74" fmla="*/ 1189892 h 1424354"/>
              <a:gd name="connsiteX75" fmla="*/ 9632 w 1416401"/>
              <a:gd name="connsiteY75" fmla="*/ 1143000 h 1424354"/>
              <a:gd name="connsiteX76" fmla="*/ 9632 w 1416401"/>
              <a:gd name="connsiteY76" fmla="*/ 943708 h 1424354"/>
              <a:gd name="connsiteX77" fmla="*/ 15493 w 1416401"/>
              <a:gd name="connsiteY77" fmla="*/ 926123 h 1424354"/>
              <a:gd name="connsiteX78" fmla="*/ 21355 w 1416401"/>
              <a:gd name="connsiteY78" fmla="*/ 873369 h 1424354"/>
              <a:gd name="connsiteX79" fmla="*/ 27216 w 1416401"/>
              <a:gd name="connsiteY79" fmla="*/ 855785 h 1424354"/>
              <a:gd name="connsiteX80" fmla="*/ 33078 w 1416401"/>
              <a:gd name="connsiteY80" fmla="*/ 820615 h 1424354"/>
              <a:gd name="connsiteX81" fmla="*/ 50662 w 1416401"/>
              <a:gd name="connsiteY81" fmla="*/ 779585 h 1424354"/>
              <a:gd name="connsiteX82" fmla="*/ 62385 w 1416401"/>
              <a:gd name="connsiteY82" fmla="*/ 738554 h 1424354"/>
              <a:gd name="connsiteX83" fmla="*/ 74108 w 1416401"/>
              <a:gd name="connsiteY83" fmla="*/ 715108 h 1424354"/>
              <a:gd name="connsiteX84" fmla="*/ 85832 w 1416401"/>
              <a:gd name="connsiteY84" fmla="*/ 674077 h 1424354"/>
              <a:gd name="connsiteX85" fmla="*/ 91693 w 1416401"/>
              <a:gd name="connsiteY85" fmla="*/ 656492 h 1424354"/>
              <a:gd name="connsiteX86" fmla="*/ 97555 w 1416401"/>
              <a:gd name="connsiteY86" fmla="*/ 627185 h 1424354"/>
              <a:gd name="connsiteX87" fmla="*/ 103416 w 1416401"/>
              <a:gd name="connsiteY87" fmla="*/ 609600 h 1424354"/>
              <a:gd name="connsiteX88" fmla="*/ 102366 w 1416401"/>
              <a:gd name="connsiteY88" fmla="*/ 546969 h 1424354"/>
              <a:gd name="connsiteX89" fmla="*/ 83418 w 1416401"/>
              <a:gd name="connsiteY89" fmla="*/ 435496 h 1424354"/>
              <a:gd name="connsiteX90" fmla="*/ 83418 w 1416401"/>
              <a:gd name="connsiteY90" fmla="*/ 291480 h 1424354"/>
              <a:gd name="connsiteX91" fmla="*/ 85832 w 1416401"/>
              <a:gd name="connsiteY91" fmla="*/ 263769 h 1424354"/>
              <a:gd name="connsiteX92" fmla="*/ 79970 w 1416401"/>
              <a:gd name="connsiteY92"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81232 w 1416401"/>
              <a:gd name="connsiteY54" fmla="*/ 1289538 h 1424354"/>
              <a:gd name="connsiteX55" fmla="*/ 1351924 w 1416401"/>
              <a:gd name="connsiteY55" fmla="*/ 1330569 h 1424354"/>
              <a:gd name="connsiteX56" fmla="*/ 1322616 w 1416401"/>
              <a:gd name="connsiteY56" fmla="*/ 1359877 h 1424354"/>
              <a:gd name="connsiteX57" fmla="*/ 1287447 w 1416401"/>
              <a:gd name="connsiteY57" fmla="*/ 1383323 h 1424354"/>
              <a:gd name="connsiteX58" fmla="*/ 1269862 w 1416401"/>
              <a:gd name="connsiteY58" fmla="*/ 1395046 h 1424354"/>
              <a:gd name="connsiteX59" fmla="*/ 1234693 w 1416401"/>
              <a:gd name="connsiteY59" fmla="*/ 1406769 h 1424354"/>
              <a:gd name="connsiteX60" fmla="*/ 1217108 w 1416401"/>
              <a:gd name="connsiteY60" fmla="*/ 1412631 h 1424354"/>
              <a:gd name="connsiteX61" fmla="*/ 1176078 w 1416401"/>
              <a:gd name="connsiteY61" fmla="*/ 1418492 h 1424354"/>
              <a:gd name="connsiteX62" fmla="*/ 1140908 w 1416401"/>
              <a:gd name="connsiteY62" fmla="*/ 1424354 h 1424354"/>
              <a:gd name="connsiteX63" fmla="*/ 900585 w 1416401"/>
              <a:gd name="connsiteY63" fmla="*/ 1418492 h 1424354"/>
              <a:gd name="connsiteX64" fmla="*/ 883001 w 1416401"/>
              <a:gd name="connsiteY64" fmla="*/ 1412631 h 1424354"/>
              <a:gd name="connsiteX65" fmla="*/ 800939 w 1416401"/>
              <a:gd name="connsiteY65" fmla="*/ 1406769 h 1424354"/>
              <a:gd name="connsiteX66" fmla="*/ 630955 w 1416401"/>
              <a:gd name="connsiteY66" fmla="*/ 1400908 h 1424354"/>
              <a:gd name="connsiteX67" fmla="*/ 572339 w 1416401"/>
              <a:gd name="connsiteY67" fmla="*/ 1395046 h 1424354"/>
              <a:gd name="connsiteX68" fmla="*/ 476812 w 1416401"/>
              <a:gd name="connsiteY68" fmla="*/ 1400908 h 1424354"/>
              <a:gd name="connsiteX69" fmla="*/ 155426 w 1416401"/>
              <a:gd name="connsiteY69" fmla="*/ 1371600 h 1424354"/>
              <a:gd name="connsiteX70" fmla="*/ 83418 w 1416401"/>
              <a:gd name="connsiteY70" fmla="*/ 1299592 h 1424354"/>
              <a:gd name="connsiteX71" fmla="*/ 50662 w 1416401"/>
              <a:gd name="connsiteY71" fmla="*/ 1248508 h 1424354"/>
              <a:gd name="connsiteX72" fmla="*/ 33078 w 1416401"/>
              <a:gd name="connsiteY72" fmla="*/ 1230923 h 1424354"/>
              <a:gd name="connsiteX73" fmla="*/ 21355 w 1416401"/>
              <a:gd name="connsiteY73" fmla="*/ 1189892 h 1424354"/>
              <a:gd name="connsiteX74" fmla="*/ 9632 w 1416401"/>
              <a:gd name="connsiteY74" fmla="*/ 1143000 h 1424354"/>
              <a:gd name="connsiteX75" fmla="*/ 9632 w 1416401"/>
              <a:gd name="connsiteY75" fmla="*/ 943708 h 1424354"/>
              <a:gd name="connsiteX76" fmla="*/ 15493 w 1416401"/>
              <a:gd name="connsiteY76" fmla="*/ 926123 h 1424354"/>
              <a:gd name="connsiteX77" fmla="*/ 21355 w 1416401"/>
              <a:gd name="connsiteY77" fmla="*/ 873369 h 1424354"/>
              <a:gd name="connsiteX78" fmla="*/ 27216 w 1416401"/>
              <a:gd name="connsiteY78" fmla="*/ 855785 h 1424354"/>
              <a:gd name="connsiteX79" fmla="*/ 33078 w 1416401"/>
              <a:gd name="connsiteY79" fmla="*/ 820615 h 1424354"/>
              <a:gd name="connsiteX80" fmla="*/ 50662 w 1416401"/>
              <a:gd name="connsiteY80" fmla="*/ 779585 h 1424354"/>
              <a:gd name="connsiteX81" fmla="*/ 62385 w 1416401"/>
              <a:gd name="connsiteY81" fmla="*/ 738554 h 1424354"/>
              <a:gd name="connsiteX82" fmla="*/ 74108 w 1416401"/>
              <a:gd name="connsiteY82" fmla="*/ 715108 h 1424354"/>
              <a:gd name="connsiteX83" fmla="*/ 85832 w 1416401"/>
              <a:gd name="connsiteY83" fmla="*/ 674077 h 1424354"/>
              <a:gd name="connsiteX84" fmla="*/ 91693 w 1416401"/>
              <a:gd name="connsiteY84" fmla="*/ 656492 h 1424354"/>
              <a:gd name="connsiteX85" fmla="*/ 97555 w 1416401"/>
              <a:gd name="connsiteY85" fmla="*/ 627185 h 1424354"/>
              <a:gd name="connsiteX86" fmla="*/ 103416 w 1416401"/>
              <a:gd name="connsiteY86" fmla="*/ 609600 h 1424354"/>
              <a:gd name="connsiteX87" fmla="*/ 102366 w 1416401"/>
              <a:gd name="connsiteY87" fmla="*/ 546969 h 1424354"/>
              <a:gd name="connsiteX88" fmla="*/ 83418 w 1416401"/>
              <a:gd name="connsiteY88" fmla="*/ 435496 h 1424354"/>
              <a:gd name="connsiteX89" fmla="*/ 83418 w 1416401"/>
              <a:gd name="connsiteY89" fmla="*/ 291480 h 1424354"/>
              <a:gd name="connsiteX90" fmla="*/ 85832 w 1416401"/>
              <a:gd name="connsiteY90" fmla="*/ 263769 h 1424354"/>
              <a:gd name="connsiteX91" fmla="*/ 79970 w 1416401"/>
              <a:gd name="connsiteY91"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51924 w 1416401"/>
              <a:gd name="connsiteY54" fmla="*/ 1330569 h 1424354"/>
              <a:gd name="connsiteX55" fmla="*/ 1322616 w 1416401"/>
              <a:gd name="connsiteY55" fmla="*/ 1359877 h 1424354"/>
              <a:gd name="connsiteX56" fmla="*/ 1287447 w 1416401"/>
              <a:gd name="connsiteY56" fmla="*/ 1383323 h 1424354"/>
              <a:gd name="connsiteX57" fmla="*/ 1269862 w 1416401"/>
              <a:gd name="connsiteY57" fmla="*/ 1395046 h 1424354"/>
              <a:gd name="connsiteX58" fmla="*/ 1234693 w 1416401"/>
              <a:gd name="connsiteY58" fmla="*/ 1406769 h 1424354"/>
              <a:gd name="connsiteX59" fmla="*/ 1217108 w 1416401"/>
              <a:gd name="connsiteY59" fmla="*/ 1412631 h 1424354"/>
              <a:gd name="connsiteX60" fmla="*/ 1176078 w 1416401"/>
              <a:gd name="connsiteY60" fmla="*/ 1418492 h 1424354"/>
              <a:gd name="connsiteX61" fmla="*/ 1140908 w 1416401"/>
              <a:gd name="connsiteY61" fmla="*/ 1424354 h 1424354"/>
              <a:gd name="connsiteX62" fmla="*/ 900585 w 1416401"/>
              <a:gd name="connsiteY62" fmla="*/ 1418492 h 1424354"/>
              <a:gd name="connsiteX63" fmla="*/ 883001 w 1416401"/>
              <a:gd name="connsiteY63" fmla="*/ 1412631 h 1424354"/>
              <a:gd name="connsiteX64" fmla="*/ 800939 w 1416401"/>
              <a:gd name="connsiteY64" fmla="*/ 1406769 h 1424354"/>
              <a:gd name="connsiteX65" fmla="*/ 630955 w 1416401"/>
              <a:gd name="connsiteY65" fmla="*/ 1400908 h 1424354"/>
              <a:gd name="connsiteX66" fmla="*/ 572339 w 1416401"/>
              <a:gd name="connsiteY66" fmla="*/ 1395046 h 1424354"/>
              <a:gd name="connsiteX67" fmla="*/ 476812 w 1416401"/>
              <a:gd name="connsiteY67" fmla="*/ 1400908 h 1424354"/>
              <a:gd name="connsiteX68" fmla="*/ 155426 w 1416401"/>
              <a:gd name="connsiteY68" fmla="*/ 1371600 h 1424354"/>
              <a:gd name="connsiteX69" fmla="*/ 83418 w 1416401"/>
              <a:gd name="connsiteY69" fmla="*/ 1299592 h 1424354"/>
              <a:gd name="connsiteX70" fmla="*/ 50662 w 1416401"/>
              <a:gd name="connsiteY70" fmla="*/ 1248508 h 1424354"/>
              <a:gd name="connsiteX71" fmla="*/ 33078 w 1416401"/>
              <a:gd name="connsiteY71" fmla="*/ 1230923 h 1424354"/>
              <a:gd name="connsiteX72" fmla="*/ 21355 w 1416401"/>
              <a:gd name="connsiteY72" fmla="*/ 1189892 h 1424354"/>
              <a:gd name="connsiteX73" fmla="*/ 9632 w 1416401"/>
              <a:gd name="connsiteY73" fmla="*/ 1143000 h 1424354"/>
              <a:gd name="connsiteX74" fmla="*/ 9632 w 1416401"/>
              <a:gd name="connsiteY74" fmla="*/ 943708 h 1424354"/>
              <a:gd name="connsiteX75" fmla="*/ 15493 w 1416401"/>
              <a:gd name="connsiteY75" fmla="*/ 926123 h 1424354"/>
              <a:gd name="connsiteX76" fmla="*/ 21355 w 1416401"/>
              <a:gd name="connsiteY76" fmla="*/ 873369 h 1424354"/>
              <a:gd name="connsiteX77" fmla="*/ 27216 w 1416401"/>
              <a:gd name="connsiteY77" fmla="*/ 855785 h 1424354"/>
              <a:gd name="connsiteX78" fmla="*/ 33078 w 1416401"/>
              <a:gd name="connsiteY78" fmla="*/ 820615 h 1424354"/>
              <a:gd name="connsiteX79" fmla="*/ 50662 w 1416401"/>
              <a:gd name="connsiteY79" fmla="*/ 779585 h 1424354"/>
              <a:gd name="connsiteX80" fmla="*/ 62385 w 1416401"/>
              <a:gd name="connsiteY80" fmla="*/ 738554 h 1424354"/>
              <a:gd name="connsiteX81" fmla="*/ 74108 w 1416401"/>
              <a:gd name="connsiteY81" fmla="*/ 715108 h 1424354"/>
              <a:gd name="connsiteX82" fmla="*/ 85832 w 1416401"/>
              <a:gd name="connsiteY82" fmla="*/ 674077 h 1424354"/>
              <a:gd name="connsiteX83" fmla="*/ 91693 w 1416401"/>
              <a:gd name="connsiteY83" fmla="*/ 656492 h 1424354"/>
              <a:gd name="connsiteX84" fmla="*/ 97555 w 1416401"/>
              <a:gd name="connsiteY84" fmla="*/ 627185 h 1424354"/>
              <a:gd name="connsiteX85" fmla="*/ 103416 w 1416401"/>
              <a:gd name="connsiteY85" fmla="*/ 609600 h 1424354"/>
              <a:gd name="connsiteX86" fmla="*/ 102366 w 1416401"/>
              <a:gd name="connsiteY86" fmla="*/ 546969 h 1424354"/>
              <a:gd name="connsiteX87" fmla="*/ 83418 w 1416401"/>
              <a:gd name="connsiteY87" fmla="*/ 435496 h 1424354"/>
              <a:gd name="connsiteX88" fmla="*/ 83418 w 1416401"/>
              <a:gd name="connsiteY88" fmla="*/ 291480 h 1424354"/>
              <a:gd name="connsiteX89" fmla="*/ 85832 w 1416401"/>
              <a:gd name="connsiteY89" fmla="*/ 263769 h 1424354"/>
              <a:gd name="connsiteX90" fmla="*/ 79970 w 1416401"/>
              <a:gd name="connsiteY90" fmla="*/ 246185 h 1424354"/>
              <a:gd name="connsiteX0" fmla="*/ 79970 w 1416401"/>
              <a:gd name="connsiteY0" fmla="*/ 246185 h 1424354"/>
              <a:gd name="connsiteX1" fmla="*/ 97555 w 1416401"/>
              <a:gd name="connsiteY1" fmla="*/ 193431 h 1424354"/>
              <a:gd name="connsiteX2" fmla="*/ 103416 w 1416401"/>
              <a:gd name="connsiteY2" fmla="*/ 175846 h 1424354"/>
              <a:gd name="connsiteX3" fmla="*/ 109278 w 1416401"/>
              <a:gd name="connsiteY3" fmla="*/ 152400 h 1424354"/>
              <a:gd name="connsiteX4" fmla="*/ 132724 w 1416401"/>
              <a:gd name="connsiteY4" fmla="*/ 117231 h 1424354"/>
              <a:gd name="connsiteX5" fmla="*/ 144447 w 1416401"/>
              <a:gd name="connsiteY5" fmla="*/ 99646 h 1424354"/>
              <a:gd name="connsiteX6" fmla="*/ 197201 w 1416401"/>
              <a:gd name="connsiteY6" fmla="*/ 70338 h 1424354"/>
              <a:gd name="connsiteX7" fmla="*/ 226508 w 1416401"/>
              <a:gd name="connsiteY7" fmla="*/ 52754 h 1424354"/>
              <a:gd name="connsiteX8" fmla="*/ 261678 w 1416401"/>
              <a:gd name="connsiteY8" fmla="*/ 41031 h 1424354"/>
              <a:gd name="connsiteX9" fmla="*/ 308570 w 1416401"/>
              <a:gd name="connsiteY9" fmla="*/ 23446 h 1424354"/>
              <a:gd name="connsiteX10" fmla="*/ 326155 w 1416401"/>
              <a:gd name="connsiteY10" fmla="*/ 17585 h 1424354"/>
              <a:gd name="connsiteX11" fmla="*/ 367185 w 1416401"/>
              <a:gd name="connsiteY11" fmla="*/ 11723 h 1424354"/>
              <a:gd name="connsiteX12" fmla="*/ 490278 w 1416401"/>
              <a:gd name="connsiteY12" fmla="*/ 0 h 1424354"/>
              <a:gd name="connsiteX13" fmla="*/ 607508 w 1416401"/>
              <a:gd name="connsiteY13" fmla="*/ 11723 h 1424354"/>
              <a:gd name="connsiteX14" fmla="*/ 625093 w 1416401"/>
              <a:gd name="connsiteY14" fmla="*/ 17585 h 1424354"/>
              <a:gd name="connsiteX15" fmla="*/ 671985 w 1416401"/>
              <a:gd name="connsiteY15" fmla="*/ 29308 h 1424354"/>
              <a:gd name="connsiteX16" fmla="*/ 695432 w 1416401"/>
              <a:gd name="connsiteY16" fmla="*/ 35169 h 1424354"/>
              <a:gd name="connsiteX17" fmla="*/ 718878 w 1416401"/>
              <a:gd name="connsiteY17" fmla="*/ 46892 h 1424354"/>
              <a:gd name="connsiteX18" fmla="*/ 754047 w 1416401"/>
              <a:gd name="connsiteY18" fmla="*/ 58615 h 1424354"/>
              <a:gd name="connsiteX19" fmla="*/ 771632 w 1416401"/>
              <a:gd name="connsiteY19" fmla="*/ 70338 h 1424354"/>
              <a:gd name="connsiteX20" fmla="*/ 789216 w 1416401"/>
              <a:gd name="connsiteY20" fmla="*/ 87923 h 1424354"/>
              <a:gd name="connsiteX21" fmla="*/ 824385 w 1416401"/>
              <a:gd name="connsiteY21" fmla="*/ 99646 h 1424354"/>
              <a:gd name="connsiteX22" fmla="*/ 841970 w 1416401"/>
              <a:gd name="connsiteY22" fmla="*/ 117231 h 1424354"/>
              <a:gd name="connsiteX23" fmla="*/ 847832 w 1416401"/>
              <a:gd name="connsiteY23" fmla="*/ 134815 h 1424354"/>
              <a:gd name="connsiteX24" fmla="*/ 865416 w 1416401"/>
              <a:gd name="connsiteY24" fmla="*/ 140677 h 1424354"/>
              <a:gd name="connsiteX25" fmla="*/ 906447 w 1416401"/>
              <a:gd name="connsiteY25" fmla="*/ 175846 h 1424354"/>
              <a:gd name="connsiteX26" fmla="*/ 918170 w 1416401"/>
              <a:gd name="connsiteY26" fmla="*/ 193431 h 1424354"/>
              <a:gd name="connsiteX27" fmla="*/ 935755 w 1416401"/>
              <a:gd name="connsiteY27" fmla="*/ 205154 h 1424354"/>
              <a:gd name="connsiteX28" fmla="*/ 959201 w 1416401"/>
              <a:gd name="connsiteY28" fmla="*/ 222738 h 1424354"/>
              <a:gd name="connsiteX29" fmla="*/ 976785 w 1416401"/>
              <a:gd name="connsiteY29" fmla="*/ 234462 h 1424354"/>
              <a:gd name="connsiteX30" fmla="*/ 994370 w 1416401"/>
              <a:gd name="connsiteY30" fmla="*/ 257908 h 1424354"/>
              <a:gd name="connsiteX31" fmla="*/ 1035401 w 1416401"/>
              <a:gd name="connsiteY31" fmla="*/ 281354 h 1424354"/>
              <a:gd name="connsiteX32" fmla="*/ 1058847 w 1416401"/>
              <a:gd name="connsiteY32" fmla="*/ 310662 h 1424354"/>
              <a:gd name="connsiteX33" fmla="*/ 1099878 w 1416401"/>
              <a:gd name="connsiteY33" fmla="*/ 345831 h 1424354"/>
              <a:gd name="connsiteX34" fmla="*/ 1129185 w 1416401"/>
              <a:gd name="connsiteY34" fmla="*/ 386862 h 1424354"/>
              <a:gd name="connsiteX35" fmla="*/ 1135047 w 1416401"/>
              <a:gd name="connsiteY35" fmla="*/ 404446 h 1424354"/>
              <a:gd name="connsiteX36" fmla="*/ 1170216 w 1416401"/>
              <a:gd name="connsiteY36" fmla="*/ 445477 h 1424354"/>
              <a:gd name="connsiteX37" fmla="*/ 1187801 w 1416401"/>
              <a:gd name="connsiteY37" fmla="*/ 468923 h 1424354"/>
              <a:gd name="connsiteX38" fmla="*/ 1211247 w 1416401"/>
              <a:gd name="connsiteY38" fmla="*/ 504092 h 1424354"/>
              <a:gd name="connsiteX39" fmla="*/ 1240555 w 1416401"/>
              <a:gd name="connsiteY39" fmla="*/ 545123 h 1424354"/>
              <a:gd name="connsiteX40" fmla="*/ 1264001 w 1416401"/>
              <a:gd name="connsiteY40" fmla="*/ 592015 h 1424354"/>
              <a:gd name="connsiteX41" fmla="*/ 1269862 w 1416401"/>
              <a:gd name="connsiteY41" fmla="*/ 609600 h 1424354"/>
              <a:gd name="connsiteX42" fmla="*/ 1287447 w 1416401"/>
              <a:gd name="connsiteY42" fmla="*/ 638908 h 1424354"/>
              <a:gd name="connsiteX43" fmla="*/ 1299170 w 1416401"/>
              <a:gd name="connsiteY43" fmla="*/ 662354 h 1424354"/>
              <a:gd name="connsiteX44" fmla="*/ 1316755 w 1416401"/>
              <a:gd name="connsiteY44" fmla="*/ 679938 h 1424354"/>
              <a:gd name="connsiteX45" fmla="*/ 1340201 w 1416401"/>
              <a:gd name="connsiteY45" fmla="*/ 720969 h 1424354"/>
              <a:gd name="connsiteX46" fmla="*/ 1351924 w 1416401"/>
              <a:gd name="connsiteY46" fmla="*/ 744415 h 1424354"/>
              <a:gd name="connsiteX47" fmla="*/ 1357785 w 1416401"/>
              <a:gd name="connsiteY47" fmla="*/ 762000 h 1424354"/>
              <a:gd name="connsiteX48" fmla="*/ 1369508 w 1416401"/>
              <a:gd name="connsiteY48" fmla="*/ 779585 h 1424354"/>
              <a:gd name="connsiteX49" fmla="*/ 1381232 w 1416401"/>
              <a:gd name="connsiteY49" fmla="*/ 808892 h 1424354"/>
              <a:gd name="connsiteX50" fmla="*/ 1398816 w 1416401"/>
              <a:gd name="connsiteY50" fmla="*/ 885092 h 1424354"/>
              <a:gd name="connsiteX51" fmla="*/ 1410539 w 1416401"/>
              <a:gd name="connsiteY51" fmla="*/ 955431 h 1424354"/>
              <a:gd name="connsiteX52" fmla="*/ 1416401 w 1416401"/>
              <a:gd name="connsiteY52" fmla="*/ 973015 h 1424354"/>
              <a:gd name="connsiteX53" fmla="*/ 1410539 w 1416401"/>
              <a:gd name="connsiteY53" fmla="*/ 1125415 h 1424354"/>
              <a:gd name="connsiteX54" fmla="*/ 1322616 w 1416401"/>
              <a:gd name="connsiteY54" fmla="*/ 1359877 h 1424354"/>
              <a:gd name="connsiteX55" fmla="*/ 1287447 w 1416401"/>
              <a:gd name="connsiteY55" fmla="*/ 1383323 h 1424354"/>
              <a:gd name="connsiteX56" fmla="*/ 1269862 w 1416401"/>
              <a:gd name="connsiteY56" fmla="*/ 1395046 h 1424354"/>
              <a:gd name="connsiteX57" fmla="*/ 1234693 w 1416401"/>
              <a:gd name="connsiteY57" fmla="*/ 1406769 h 1424354"/>
              <a:gd name="connsiteX58" fmla="*/ 1217108 w 1416401"/>
              <a:gd name="connsiteY58" fmla="*/ 1412631 h 1424354"/>
              <a:gd name="connsiteX59" fmla="*/ 1176078 w 1416401"/>
              <a:gd name="connsiteY59" fmla="*/ 1418492 h 1424354"/>
              <a:gd name="connsiteX60" fmla="*/ 1140908 w 1416401"/>
              <a:gd name="connsiteY60" fmla="*/ 1424354 h 1424354"/>
              <a:gd name="connsiteX61" fmla="*/ 900585 w 1416401"/>
              <a:gd name="connsiteY61" fmla="*/ 1418492 h 1424354"/>
              <a:gd name="connsiteX62" fmla="*/ 883001 w 1416401"/>
              <a:gd name="connsiteY62" fmla="*/ 1412631 h 1424354"/>
              <a:gd name="connsiteX63" fmla="*/ 800939 w 1416401"/>
              <a:gd name="connsiteY63" fmla="*/ 1406769 h 1424354"/>
              <a:gd name="connsiteX64" fmla="*/ 630955 w 1416401"/>
              <a:gd name="connsiteY64" fmla="*/ 1400908 h 1424354"/>
              <a:gd name="connsiteX65" fmla="*/ 572339 w 1416401"/>
              <a:gd name="connsiteY65" fmla="*/ 1395046 h 1424354"/>
              <a:gd name="connsiteX66" fmla="*/ 476812 w 1416401"/>
              <a:gd name="connsiteY66" fmla="*/ 1400908 h 1424354"/>
              <a:gd name="connsiteX67" fmla="*/ 155426 w 1416401"/>
              <a:gd name="connsiteY67" fmla="*/ 1371600 h 1424354"/>
              <a:gd name="connsiteX68" fmla="*/ 83418 w 1416401"/>
              <a:gd name="connsiteY68" fmla="*/ 1299592 h 1424354"/>
              <a:gd name="connsiteX69" fmla="*/ 50662 w 1416401"/>
              <a:gd name="connsiteY69" fmla="*/ 1248508 h 1424354"/>
              <a:gd name="connsiteX70" fmla="*/ 33078 w 1416401"/>
              <a:gd name="connsiteY70" fmla="*/ 1230923 h 1424354"/>
              <a:gd name="connsiteX71" fmla="*/ 21355 w 1416401"/>
              <a:gd name="connsiteY71" fmla="*/ 1189892 h 1424354"/>
              <a:gd name="connsiteX72" fmla="*/ 9632 w 1416401"/>
              <a:gd name="connsiteY72" fmla="*/ 1143000 h 1424354"/>
              <a:gd name="connsiteX73" fmla="*/ 9632 w 1416401"/>
              <a:gd name="connsiteY73" fmla="*/ 943708 h 1424354"/>
              <a:gd name="connsiteX74" fmla="*/ 15493 w 1416401"/>
              <a:gd name="connsiteY74" fmla="*/ 926123 h 1424354"/>
              <a:gd name="connsiteX75" fmla="*/ 21355 w 1416401"/>
              <a:gd name="connsiteY75" fmla="*/ 873369 h 1424354"/>
              <a:gd name="connsiteX76" fmla="*/ 27216 w 1416401"/>
              <a:gd name="connsiteY76" fmla="*/ 855785 h 1424354"/>
              <a:gd name="connsiteX77" fmla="*/ 33078 w 1416401"/>
              <a:gd name="connsiteY77" fmla="*/ 820615 h 1424354"/>
              <a:gd name="connsiteX78" fmla="*/ 50662 w 1416401"/>
              <a:gd name="connsiteY78" fmla="*/ 779585 h 1424354"/>
              <a:gd name="connsiteX79" fmla="*/ 62385 w 1416401"/>
              <a:gd name="connsiteY79" fmla="*/ 738554 h 1424354"/>
              <a:gd name="connsiteX80" fmla="*/ 74108 w 1416401"/>
              <a:gd name="connsiteY80" fmla="*/ 715108 h 1424354"/>
              <a:gd name="connsiteX81" fmla="*/ 85832 w 1416401"/>
              <a:gd name="connsiteY81" fmla="*/ 674077 h 1424354"/>
              <a:gd name="connsiteX82" fmla="*/ 91693 w 1416401"/>
              <a:gd name="connsiteY82" fmla="*/ 656492 h 1424354"/>
              <a:gd name="connsiteX83" fmla="*/ 97555 w 1416401"/>
              <a:gd name="connsiteY83" fmla="*/ 627185 h 1424354"/>
              <a:gd name="connsiteX84" fmla="*/ 103416 w 1416401"/>
              <a:gd name="connsiteY84" fmla="*/ 609600 h 1424354"/>
              <a:gd name="connsiteX85" fmla="*/ 102366 w 1416401"/>
              <a:gd name="connsiteY85" fmla="*/ 546969 h 1424354"/>
              <a:gd name="connsiteX86" fmla="*/ 83418 w 1416401"/>
              <a:gd name="connsiteY86" fmla="*/ 435496 h 1424354"/>
              <a:gd name="connsiteX87" fmla="*/ 83418 w 1416401"/>
              <a:gd name="connsiteY87" fmla="*/ 291480 h 1424354"/>
              <a:gd name="connsiteX88" fmla="*/ 85832 w 1416401"/>
              <a:gd name="connsiteY88" fmla="*/ 263769 h 1424354"/>
              <a:gd name="connsiteX89" fmla="*/ 79970 w 1416401"/>
              <a:gd name="connsiteY89" fmla="*/ 246185 h 1424354"/>
              <a:gd name="connsiteX0" fmla="*/ 79970 w 1424802"/>
              <a:gd name="connsiteY0" fmla="*/ 246185 h 1424354"/>
              <a:gd name="connsiteX1" fmla="*/ 97555 w 1424802"/>
              <a:gd name="connsiteY1" fmla="*/ 193431 h 1424354"/>
              <a:gd name="connsiteX2" fmla="*/ 103416 w 1424802"/>
              <a:gd name="connsiteY2" fmla="*/ 175846 h 1424354"/>
              <a:gd name="connsiteX3" fmla="*/ 109278 w 1424802"/>
              <a:gd name="connsiteY3" fmla="*/ 152400 h 1424354"/>
              <a:gd name="connsiteX4" fmla="*/ 132724 w 1424802"/>
              <a:gd name="connsiteY4" fmla="*/ 117231 h 1424354"/>
              <a:gd name="connsiteX5" fmla="*/ 144447 w 1424802"/>
              <a:gd name="connsiteY5" fmla="*/ 99646 h 1424354"/>
              <a:gd name="connsiteX6" fmla="*/ 197201 w 1424802"/>
              <a:gd name="connsiteY6" fmla="*/ 70338 h 1424354"/>
              <a:gd name="connsiteX7" fmla="*/ 226508 w 1424802"/>
              <a:gd name="connsiteY7" fmla="*/ 52754 h 1424354"/>
              <a:gd name="connsiteX8" fmla="*/ 261678 w 1424802"/>
              <a:gd name="connsiteY8" fmla="*/ 41031 h 1424354"/>
              <a:gd name="connsiteX9" fmla="*/ 308570 w 1424802"/>
              <a:gd name="connsiteY9" fmla="*/ 23446 h 1424354"/>
              <a:gd name="connsiteX10" fmla="*/ 326155 w 1424802"/>
              <a:gd name="connsiteY10" fmla="*/ 17585 h 1424354"/>
              <a:gd name="connsiteX11" fmla="*/ 367185 w 1424802"/>
              <a:gd name="connsiteY11" fmla="*/ 11723 h 1424354"/>
              <a:gd name="connsiteX12" fmla="*/ 490278 w 1424802"/>
              <a:gd name="connsiteY12" fmla="*/ 0 h 1424354"/>
              <a:gd name="connsiteX13" fmla="*/ 607508 w 1424802"/>
              <a:gd name="connsiteY13" fmla="*/ 11723 h 1424354"/>
              <a:gd name="connsiteX14" fmla="*/ 625093 w 1424802"/>
              <a:gd name="connsiteY14" fmla="*/ 17585 h 1424354"/>
              <a:gd name="connsiteX15" fmla="*/ 671985 w 1424802"/>
              <a:gd name="connsiteY15" fmla="*/ 29308 h 1424354"/>
              <a:gd name="connsiteX16" fmla="*/ 695432 w 1424802"/>
              <a:gd name="connsiteY16" fmla="*/ 35169 h 1424354"/>
              <a:gd name="connsiteX17" fmla="*/ 718878 w 1424802"/>
              <a:gd name="connsiteY17" fmla="*/ 46892 h 1424354"/>
              <a:gd name="connsiteX18" fmla="*/ 754047 w 1424802"/>
              <a:gd name="connsiteY18" fmla="*/ 58615 h 1424354"/>
              <a:gd name="connsiteX19" fmla="*/ 771632 w 1424802"/>
              <a:gd name="connsiteY19" fmla="*/ 70338 h 1424354"/>
              <a:gd name="connsiteX20" fmla="*/ 789216 w 1424802"/>
              <a:gd name="connsiteY20" fmla="*/ 87923 h 1424354"/>
              <a:gd name="connsiteX21" fmla="*/ 824385 w 1424802"/>
              <a:gd name="connsiteY21" fmla="*/ 99646 h 1424354"/>
              <a:gd name="connsiteX22" fmla="*/ 841970 w 1424802"/>
              <a:gd name="connsiteY22" fmla="*/ 117231 h 1424354"/>
              <a:gd name="connsiteX23" fmla="*/ 847832 w 1424802"/>
              <a:gd name="connsiteY23" fmla="*/ 134815 h 1424354"/>
              <a:gd name="connsiteX24" fmla="*/ 865416 w 1424802"/>
              <a:gd name="connsiteY24" fmla="*/ 140677 h 1424354"/>
              <a:gd name="connsiteX25" fmla="*/ 906447 w 1424802"/>
              <a:gd name="connsiteY25" fmla="*/ 175846 h 1424354"/>
              <a:gd name="connsiteX26" fmla="*/ 918170 w 1424802"/>
              <a:gd name="connsiteY26" fmla="*/ 193431 h 1424354"/>
              <a:gd name="connsiteX27" fmla="*/ 935755 w 1424802"/>
              <a:gd name="connsiteY27" fmla="*/ 205154 h 1424354"/>
              <a:gd name="connsiteX28" fmla="*/ 959201 w 1424802"/>
              <a:gd name="connsiteY28" fmla="*/ 222738 h 1424354"/>
              <a:gd name="connsiteX29" fmla="*/ 976785 w 1424802"/>
              <a:gd name="connsiteY29" fmla="*/ 234462 h 1424354"/>
              <a:gd name="connsiteX30" fmla="*/ 994370 w 1424802"/>
              <a:gd name="connsiteY30" fmla="*/ 257908 h 1424354"/>
              <a:gd name="connsiteX31" fmla="*/ 1035401 w 1424802"/>
              <a:gd name="connsiteY31" fmla="*/ 281354 h 1424354"/>
              <a:gd name="connsiteX32" fmla="*/ 1058847 w 1424802"/>
              <a:gd name="connsiteY32" fmla="*/ 310662 h 1424354"/>
              <a:gd name="connsiteX33" fmla="*/ 1099878 w 1424802"/>
              <a:gd name="connsiteY33" fmla="*/ 345831 h 1424354"/>
              <a:gd name="connsiteX34" fmla="*/ 1129185 w 1424802"/>
              <a:gd name="connsiteY34" fmla="*/ 386862 h 1424354"/>
              <a:gd name="connsiteX35" fmla="*/ 1135047 w 1424802"/>
              <a:gd name="connsiteY35" fmla="*/ 404446 h 1424354"/>
              <a:gd name="connsiteX36" fmla="*/ 1170216 w 1424802"/>
              <a:gd name="connsiteY36" fmla="*/ 445477 h 1424354"/>
              <a:gd name="connsiteX37" fmla="*/ 1187801 w 1424802"/>
              <a:gd name="connsiteY37" fmla="*/ 468923 h 1424354"/>
              <a:gd name="connsiteX38" fmla="*/ 1211247 w 1424802"/>
              <a:gd name="connsiteY38" fmla="*/ 504092 h 1424354"/>
              <a:gd name="connsiteX39" fmla="*/ 1240555 w 1424802"/>
              <a:gd name="connsiteY39" fmla="*/ 545123 h 1424354"/>
              <a:gd name="connsiteX40" fmla="*/ 1264001 w 1424802"/>
              <a:gd name="connsiteY40" fmla="*/ 592015 h 1424354"/>
              <a:gd name="connsiteX41" fmla="*/ 1269862 w 1424802"/>
              <a:gd name="connsiteY41" fmla="*/ 609600 h 1424354"/>
              <a:gd name="connsiteX42" fmla="*/ 1287447 w 1424802"/>
              <a:gd name="connsiteY42" fmla="*/ 638908 h 1424354"/>
              <a:gd name="connsiteX43" fmla="*/ 1299170 w 1424802"/>
              <a:gd name="connsiteY43" fmla="*/ 662354 h 1424354"/>
              <a:gd name="connsiteX44" fmla="*/ 1316755 w 1424802"/>
              <a:gd name="connsiteY44" fmla="*/ 679938 h 1424354"/>
              <a:gd name="connsiteX45" fmla="*/ 1340201 w 1424802"/>
              <a:gd name="connsiteY45" fmla="*/ 720969 h 1424354"/>
              <a:gd name="connsiteX46" fmla="*/ 1351924 w 1424802"/>
              <a:gd name="connsiteY46" fmla="*/ 744415 h 1424354"/>
              <a:gd name="connsiteX47" fmla="*/ 1357785 w 1424802"/>
              <a:gd name="connsiteY47" fmla="*/ 762000 h 1424354"/>
              <a:gd name="connsiteX48" fmla="*/ 1369508 w 1424802"/>
              <a:gd name="connsiteY48" fmla="*/ 779585 h 1424354"/>
              <a:gd name="connsiteX49" fmla="*/ 1381232 w 1424802"/>
              <a:gd name="connsiteY49" fmla="*/ 808892 h 1424354"/>
              <a:gd name="connsiteX50" fmla="*/ 1398816 w 1424802"/>
              <a:gd name="connsiteY50" fmla="*/ 885092 h 1424354"/>
              <a:gd name="connsiteX51" fmla="*/ 1410539 w 1424802"/>
              <a:gd name="connsiteY51" fmla="*/ 955431 h 1424354"/>
              <a:gd name="connsiteX52" fmla="*/ 1416401 w 1424802"/>
              <a:gd name="connsiteY52" fmla="*/ 973015 h 1424354"/>
              <a:gd name="connsiteX53" fmla="*/ 1410539 w 1424802"/>
              <a:gd name="connsiteY53" fmla="*/ 1125415 h 1424354"/>
              <a:gd name="connsiteX54" fmla="*/ 1404287 w 1424802"/>
              <a:gd name="connsiteY54" fmla="*/ 1249041 h 1424354"/>
              <a:gd name="connsiteX55" fmla="*/ 1287447 w 1424802"/>
              <a:gd name="connsiteY55" fmla="*/ 1383323 h 1424354"/>
              <a:gd name="connsiteX56" fmla="*/ 1269862 w 1424802"/>
              <a:gd name="connsiteY56" fmla="*/ 1395046 h 1424354"/>
              <a:gd name="connsiteX57" fmla="*/ 1234693 w 1424802"/>
              <a:gd name="connsiteY57" fmla="*/ 1406769 h 1424354"/>
              <a:gd name="connsiteX58" fmla="*/ 1217108 w 1424802"/>
              <a:gd name="connsiteY58" fmla="*/ 1412631 h 1424354"/>
              <a:gd name="connsiteX59" fmla="*/ 1176078 w 1424802"/>
              <a:gd name="connsiteY59" fmla="*/ 1418492 h 1424354"/>
              <a:gd name="connsiteX60" fmla="*/ 1140908 w 1424802"/>
              <a:gd name="connsiteY60" fmla="*/ 1424354 h 1424354"/>
              <a:gd name="connsiteX61" fmla="*/ 900585 w 1424802"/>
              <a:gd name="connsiteY61" fmla="*/ 1418492 h 1424354"/>
              <a:gd name="connsiteX62" fmla="*/ 883001 w 1424802"/>
              <a:gd name="connsiteY62" fmla="*/ 1412631 h 1424354"/>
              <a:gd name="connsiteX63" fmla="*/ 800939 w 1424802"/>
              <a:gd name="connsiteY63" fmla="*/ 1406769 h 1424354"/>
              <a:gd name="connsiteX64" fmla="*/ 630955 w 1424802"/>
              <a:gd name="connsiteY64" fmla="*/ 1400908 h 1424354"/>
              <a:gd name="connsiteX65" fmla="*/ 572339 w 1424802"/>
              <a:gd name="connsiteY65" fmla="*/ 1395046 h 1424354"/>
              <a:gd name="connsiteX66" fmla="*/ 476812 w 1424802"/>
              <a:gd name="connsiteY66" fmla="*/ 1400908 h 1424354"/>
              <a:gd name="connsiteX67" fmla="*/ 155426 w 1424802"/>
              <a:gd name="connsiteY67" fmla="*/ 1371600 h 1424354"/>
              <a:gd name="connsiteX68" fmla="*/ 83418 w 1424802"/>
              <a:gd name="connsiteY68" fmla="*/ 1299592 h 1424354"/>
              <a:gd name="connsiteX69" fmla="*/ 50662 w 1424802"/>
              <a:gd name="connsiteY69" fmla="*/ 1248508 h 1424354"/>
              <a:gd name="connsiteX70" fmla="*/ 33078 w 1424802"/>
              <a:gd name="connsiteY70" fmla="*/ 1230923 h 1424354"/>
              <a:gd name="connsiteX71" fmla="*/ 21355 w 1424802"/>
              <a:gd name="connsiteY71" fmla="*/ 1189892 h 1424354"/>
              <a:gd name="connsiteX72" fmla="*/ 9632 w 1424802"/>
              <a:gd name="connsiteY72" fmla="*/ 1143000 h 1424354"/>
              <a:gd name="connsiteX73" fmla="*/ 9632 w 1424802"/>
              <a:gd name="connsiteY73" fmla="*/ 943708 h 1424354"/>
              <a:gd name="connsiteX74" fmla="*/ 15493 w 1424802"/>
              <a:gd name="connsiteY74" fmla="*/ 926123 h 1424354"/>
              <a:gd name="connsiteX75" fmla="*/ 21355 w 1424802"/>
              <a:gd name="connsiteY75" fmla="*/ 873369 h 1424354"/>
              <a:gd name="connsiteX76" fmla="*/ 27216 w 1424802"/>
              <a:gd name="connsiteY76" fmla="*/ 855785 h 1424354"/>
              <a:gd name="connsiteX77" fmla="*/ 33078 w 1424802"/>
              <a:gd name="connsiteY77" fmla="*/ 820615 h 1424354"/>
              <a:gd name="connsiteX78" fmla="*/ 50662 w 1424802"/>
              <a:gd name="connsiteY78" fmla="*/ 779585 h 1424354"/>
              <a:gd name="connsiteX79" fmla="*/ 62385 w 1424802"/>
              <a:gd name="connsiteY79" fmla="*/ 738554 h 1424354"/>
              <a:gd name="connsiteX80" fmla="*/ 74108 w 1424802"/>
              <a:gd name="connsiteY80" fmla="*/ 715108 h 1424354"/>
              <a:gd name="connsiteX81" fmla="*/ 85832 w 1424802"/>
              <a:gd name="connsiteY81" fmla="*/ 674077 h 1424354"/>
              <a:gd name="connsiteX82" fmla="*/ 91693 w 1424802"/>
              <a:gd name="connsiteY82" fmla="*/ 656492 h 1424354"/>
              <a:gd name="connsiteX83" fmla="*/ 97555 w 1424802"/>
              <a:gd name="connsiteY83" fmla="*/ 627185 h 1424354"/>
              <a:gd name="connsiteX84" fmla="*/ 103416 w 1424802"/>
              <a:gd name="connsiteY84" fmla="*/ 609600 h 1424354"/>
              <a:gd name="connsiteX85" fmla="*/ 102366 w 1424802"/>
              <a:gd name="connsiteY85" fmla="*/ 546969 h 1424354"/>
              <a:gd name="connsiteX86" fmla="*/ 83418 w 1424802"/>
              <a:gd name="connsiteY86" fmla="*/ 435496 h 1424354"/>
              <a:gd name="connsiteX87" fmla="*/ 83418 w 1424802"/>
              <a:gd name="connsiteY87" fmla="*/ 291480 h 1424354"/>
              <a:gd name="connsiteX88" fmla="*/ 85832 w 1424802"/>
              <a:gd name="connsiteY88" fmla="*/ 263769 h 1424354"/>
              <a:gd name="connsiteX89" fmla="*/ 79970 w 1424802"/>
              <a:gd name="connsiteY89" fmla="*/ 246185 h 1424354"/>
              <a:gd name="connsiteX0" fmla="*/ 79970 w 1424802"/>
              <a:gd name="connsiteY0" fmla="*/ 246185 h 1424354"/>
              <a:gd name="connsiteX1" fmla="*/ 97555 w 1424802"/>
              <a:gd name="connsiteY1" fmla="*/ 193431 h 1424354"/>
              <a:gd name="connsiteX2" fmla="*/ 103416 w 1424802"/>
              <a:gd name="connsiteY2" fmla="*/ 175846 h 1424354"/>
              <a:gd name="connsiteX3" fmla="*/ 109278 w 1424802"/>
              <a:gd name="connsiteY3" fmla="*/ 152400 h 1424354"/>
              <a:gd name="connsiteX4" fmla="*/ 132724 w 1424802"/>
              <a:gd name="connsiteY4" fmla="*/ 117231 h 1424354"/>
              <a:gd name="connsiteX5" fmla="*/ 144447 w 1424802"/>
              <a:gd name="connsiteY5" fmla="*/ 99646 h 1424354"/>
              <a:gd name="connsiteX6" fmla="*/ 197201 w 1424802"/>
              <a:gd name="connsiteY6" fmla="*/ 70338 h 1424354"/>
              <a:gd name="connsiteX7" fmla="*/ 226508 w 1424802"/>
              <a:gd name="connsiteY7" fmla="*/ 52754 h 1424354"/>
              <a:gd name="connsiteX8" fmla="*/ 261678 w 1424802"/>
              <a:gd name="connsiteY8" fmla="*/ 41031 h 1424354"/>
              <a:gd name="connsiteX9" fmla="*/ 308570 w 1424802"/>
              <a:gd name="connsiteY9" fmla="*/ 23446 h 1424354"/>
              <a:gd name="connsiteX10" fmla="*/ 326155 w 1424802"/>
              <a:gd name="connsiteY10" fmla="*/ 17585 h 1424354"/>
              <a:gd name="connsiteX11" fmla="*/ 367185 w 1424802"/>
              <a:gd name="connsiteY11" fmla="*/ 11723 h 1424354"/>
              <a:gd name="connsiteX12" fmla="*/ 490278 w 1424802"/>
              <a:gd name="connsiteY12" fmla="*/ 0 h 1424354"/>
              <a:gd name="connsiteX13" fmla="*/ 607508 w 1424802"/>
              <a:gd name="connsiteY13" fmla="*/ 11723 h 1424354"/>
              <a:gd name="connsiteX14" fmla="*/ 625093 w 1424802"/>
              <a:gd name="connsiteY14" fmla="*/ 17585 h 1424354"/>
              <a:gd name="connsiteX15" fmla="*/ 671985 w 1424802"/>
              <a:gd name="connsiteY15" fmla="*/ 29308 h 1424354"/>
              <a:gd name="connsiteX16" fmla="*/ 695432 w 1424802"/>
              <a:gd name="connsiteY16" fmla="*/ 35169 h 1424354"/>
              <a:gd name="connsiteX17" fmla="*/ 718878 w 1424802"/>
              <a:gd name="connsiteY17" fmla="*/ 46892 h 1424354"/>
              <a:gd name="connsiteX18" fmla="*/ 754047 w 1424802"/>
              <a:gd name="connsiteY18" fmla="*/ 58615 h 1424354"/>
              <a:gd name="connsiteX19" fmla="*/ 771632 w 1424802"/>
              <a:gd name="connsiteY19" fmla="*/ 70338 h 1424354"/>
              <a:gd name="connsiteX20" fmla="*/ 789216 w 1424802"/>
              <a:gd name="connsiteY20" fmla="*/ 87923 h 1424354"/>
              <a:gd name="connsiteX21" fmla="*/ 824385 w 1424802"/>
              <a:gd name="connsiteY21" fmla="*/ 99646 h 1424354"/>
              <a:gd name="connsiteX22" fmla="*/ 841970 w 1424802"/>
              <a:gd name="connsiteY22" fmla="*/ 117231 h 1424354"/>
              <a:gd name="connsiteX23" fmla="*/ 847832 w 1424802"/>
              <a:gd name="connsiteY23" fmla="*/ 134815 h 1424354"/>
              <a:gd name="connsiteX24" fmla="*/ 865416 w 1424802"/>
              <a:gd name="connsiteY24" fmla="*/ 140677 h 1424354"/>
              <a:gd name="connsiteX25" fmla="*/ 906447 w 1424802"/>
              <a:gd name="connsiteY25" fmla="*/ 175846 h 1424354"/>
              <a:gd name="connsiteX26" fmla="*/ 918170 w 1424802"/>
              <a:gd name="connsiteY26" fmla="*/ 193431 h 1424354"/>
              <a:gd name="connsiteX27" fmla="*/ 935755 w 1424802"/>
              <a:gd name="connsiteY27" fmla="*/ 205154 h 1424354"/>
              <a:gd name="connsiteX28" fmla="*/ 959201 w 1424802"/>
              <a:gd name="connsiteY28" fmla="*/ 222738 h 1424354"/>
              <a:gd name="connsiteX29" fmla="*/ 976785 w 1424802"/>
              <a:gd name="connsiteY29" fmla="*/ 234462 h 1424354"/>
              <a:gd name="connsiteX30" fmla="*/ 994370 w 1424802"/>
              <a:gd name="connsiteY30" fmla="*/ 257908 h 1424354"/>
              <a:gd name="connsiteX31" fmla="*/ 1035401 w 1424802"/>
              <a:gd name="connsiteY31" fmla="*/ 281354 h 1424354"/>
              <a:gd name="connsiteX32" fmla="*/ 1058847 w 1424802"/>
              <a:gd name="connsiteY32" fmla="*/ 310662 h 1424354"/>
              <a:gd name="connsiteX33" fmla="*/ 1099878 w 1424802"/>
              <a:gd name="connsiteY33" fmla="*/ 345831 h 1424354"/>
              <a:gd name="connsiteX34" fmla="*/ 1129185 w 1424802"/>
              <a:gd name="connsiteY34" fmla="*/ 386862 h 1424354"/>
              <a:gd name="connsiteX35" fmla="*/ 1135047 w 1424802"/>
              <a:gd name="connsiteY35" fmla="*/ 404446 h 1424354"/>
              <a:gd name="connsiteX36" fmla="*/ 1170216 w 1424802"/>
              <a:gd name="connsiteY36" fmla="*/ 445477 h 1424354"/>
              <a:gd name="connsiteX37" fmla="*/ 1187801 w 1424802"/>
              <a:gd name="connsiteY37" fmla="*/ 468923 h 1424354"/>
              <a:gd name="connsiteX38" fmla="*/ 1211247 w 1424802"/>
              <a:gd name="connsiteY38" fmla="*/ 504092 h 1424354"/>
              <a:gd name="connsiteX39" fmla="*/ 1240555 w 1424802"/>
              <a:gd name="connsiteY39" fmla="*/ 545123 h 1424354"/>
              <a:gd name="connsiteX40" fmla="*/ 1264001 w 1424802"/>
              <a:gd name="connsiteY40" fmla="*/ 592015 h 1424354"/>
              <a:gd name="connsiteX41" fmla="*/ 1269862 w 1424802"/>
              <a:gd name="connsiteY41" fmla="*/ 609600 h 1424354"/>
              <a:gd name="connsiteX42" fmla="*/ 1287447 w 1424802"/>
              <a:gd name="connsiteY42" fmla="*/ 638908 h 1424354"/>
              <a:gd name="connsiteX43" fmla="*/ 1299170 w 1424802"/>
              <a:gd name="connsiteY43" fmla="*/ 662354 h 1424354"/>
              <a:gd name="connsiteX44" fmla="*/ 1316755 w 1424802"/>
              <a:gd name="connsiteY44" fmla="*/ 679938 h 1424354"/>
              <a:gd name="connsiteX45" fmla="*/ 1340201 w 1424802"/>
              <a:gd name="connsiteY45" fmla="*/ 720969 h 1424354"/>
              <a:gd name="connsiteX46" fmla="*/ 1351924 w 1424802"/>
              <a:gd name="connsiteY46" fmla="*/ 744415 h 1424354"/>
              <a:gd name="connsiteX47" fmla="*/ 1357785 w 1424802"/>
              <a:gd name="connsiteY47" fmla="*/ 762000 h 1424354"/>
              <a:gd name="connsiteX48" fmla="*/ 1369508 w 1424802"/>
              <a:gd name="connsiteY48" fmla="*/ 779585 h 1424354"/>
              <a:gd name="connsiteX49" fmla="*/ 1381232 w 1424802"/>
              <a:gd name="connsiteY49" fmla="*/ 808892 h 1424354"/>
              <a:gd name="connsiteX50" fmla="*/ 1398816 w 1424802"/>
              <a:gd name="connsiteY50" fmla="*/ 885092 h 1424354"/>
              <a:gd name="connsiteX51" fmla="*/ 1410539 w 1424802"/>
              <a:gd name="connsiteY51" fmla="*/ 955431 h 1424354"/>
              <a:gd name="connsiteX52" fmla="*/ 1416401 w 1424802"/>
              <a:gd name="connsiteY52" fmla="*/ 973015 h 1424354"/>
              <a:gd name="connsiteX53" fmla="*/ 1410539 w 1424802"/>
              <a:gd name="connsiteY53" fmla="*/ 1125415 h 1424354"/>
              <a:gd name="connsiteX54" fmla="*/ 1404287 w 1424802"/>
              <a:gd name="connsiteY54" fmla="*/ 1249041 h 1424354"/>
              <a:gd name="connsiteX55" fmla="*/ 1287447 w 1424802"/>
              <a:gd name="connsiteY55" fmla="*/ 1383323 h 1424354"/>
              <a:gd name="connsiteX56" fmla="*/ 1269862 w 1424802"/>
              <a:gd name="connsiteY56" fmla="*/ 1395046 h 1424354"/>
              <a:gd name="connsiteX57" fmla="*/ 1234693 w 1424802"/>
              <a:gd name="connsiteY57" fmla="*/ 1406769 h 1424354"/>
              <a:gd name="connsiteX58" fmla="*/ 1217108 w 1424802"/>
              <a:gd name="connsiteY58" fmla="*/ 1412631 h 1424354"/>
              <a:gd name="connsiteX59" fmla="*/ 1176078 w 1424802"/>
              <a:gd name="connsiteY59" fmla="*/ 1418492 h 1424354"/>
              <a:gd name="connsiteX60" fmla="*/ 1140908 w 1424802"/>
              <a:gd name="connsiteY60" fmla="*/ 1424354 h 1424354"/>
              <a:gd name="connsiteX61" fmla="*/ 900585 w 1424802"/>
              <a:gd name="connsiteY61" fmla="*/ 1418492 h 1424354"/>
              <a:gd name="connsiteX62" fmla="*/ 883001 w 1424802"/>
              <a:gd name="connsiteY62" fmla="*/ 1412631 h 1424354"/>
              <a:gd name="connsiteX63" fmla="*/ 800939 w 1424802"/>
              <a:gd name="connsiteY63" fmla="*/ 1406769 h 1424354"/>
              <a:gd name="connsiteX64" fmla="*/ 630955 w 1424802"/>
              <a:gd name="connsiteY64" fmla="*/ 1400908 h 1424354"/>
              <a:gd name="connsiteX65" fmla="*/ 572339 w 1424802"/>
              <a:gd name="connsiteY65" fmla="*/ 1395046 h 1424354"/>
              <a:gd name="connsiteX66" fmla="*/ 476812 w 1424802"/>
              <a:gd name="connsiteY66" fmla="*/ 1400908 h 1424354"/>
              <a:gd name="connsiteX67" fmla="*/ 155426 w 1424802"/>
              <a:gd name="connsiteY67" fmla="*/ 1371600 h 1424354"/>
              <a:gd name="connsiteX68" fmla="*/ 83418 w 1424802"/>
              <a:gd name="connsiteY68" fmla="*/ 1299592 h 1424354"/>
              <a:gd name="connsiteX69" fmla="*/ 50662 w 1424802"/>
              <a:gd name="connsiteY69" fmla="*/ 1248508 h 1424354"/>
              <a:gd name="connsiteX70" fmla="*/ 33078 w 1424802"/>
              <a:gd name="connsiteY70" fmla="*/ 1230923 h 1424354"/>
              <a:gd name="connsiteX71" fmla="*/ 21355 w 1424802"/>
              <a:gd name="connsiteY71" fmla="*/ 1189892 h 1424354"/>
              <a:gd name="connsiteX72" fmla="*/ 9632 w 1424802"/>
              <a:gd name="connsiteY72" fmla="*/ 1143000 h 1424354"/>
              <a:gd name="connsiteX73" fmla="*/ 9632 w 1424802"/>
              <a:gd name="connsiteY73" fmla="*/ 943708 h 1424354"/>
              <a:gd name="connsiteX74" fmla="*/ 15493 w 1424802"/>
              <a:gd name="connsiteY74" fmla="*/ 926123 h 1424354"/>
              <a:gd name="connsiteX75" fmla="*/ 21355 w 1424802"/>
              <a:gd name="connsiteY75" fmla="*/ 873369 h 1424354"/>
              <a:gd name="connsiteX76" fmla="*/ 27216 w 1424802"/>
              <a:gd name="connsiteY76" fmla="*/ 855785 h 1424354"/>
              <a:gd name="connsiteX77" fmla="*/ 33078 w 1424802"/>
              <a:gd name="connsiteY77" fmla="*/ 820615 h 1424354"/>
              <a:gd name="connsiteX78" fmla="*/ 50662 w 1424802"/>
              <a:gd name="connsiteY78" fmla="*/ 779585 h 1424354"/>
              <a:gd name="connsiteX79" fmla="*/ 62385 w 1424802"/>
              <a:gd name="connsiteY79" fmla="*/ 738554 h 1424354"/>
              <a:gd name="connsiteX80" fmla="*/ 74108 w 1424802"/>
              <a:gd name="connsiteY80" fmla="*/ 715108 h 1424354"/>
              <a:gd name="connsiteX81" fmla="*/ 85832 w 1424802"/>
              <a:gd name="connsiteY81" fmla="*/ 674077 h 1424354"/>
              <a:gd name="connsiteX82" fmla="*/ 91693 w 1424802"/>
              <a:gd name="connsiteY82" fmla="*/ 656492 h 1424354"/>
              <a:gd name="connsiteX83" fmla="*/ 97555 w 1424802"/>
              <a:gd name="connsiteY83" fmla="*/ 627185 h 1424354"/>
              <a:gd name="connsiteX84" fmla="*/ 103416 w 1424802"/>
              <a:gd name="connsiteY84" fmla="*/ 609600 h 1424354"/>
              <a:gd name="connsiteX85" fmla="*/ 102366 w 1424802"/>
              <a:gd name="connsiteY85" fmla="*/ 546969 h 1424354"/>
              <a:gd name="connsiteX86" fmla="*/ 83418 w 1424802"/>
              <a:gd name="connsiteY86" fmla="*/ 435496 h 1424354"/>
              <a:gd name="connsiteX87" fmla="*/ 83418 w 1424802"/>
              <a:gd name="connsiteY87" fmla="*/ 291480 h 1424354"/>
              <a:gd name="connsiteX88" fmla="*/ 85832 w 1424802"/>
              <a:gd name="connsiteY88" fmla="*/ 263769 h 1424354"/>
              <a:gd name="connsiteX89" fmla="*/ 79970 w 1424802"/>
              <a:gd name="connsiteY89" fmla="*/ 246185 h 1424354"/>
              <a:gd name="connsiteX0" fmla="*/ 79970 w 1424802"/>
              <a:gd name="connsiteY0" fmla="*/ 246185 h 1424354"/>
              <a:gd name="connsiteX1" fmla="*/ 97555 w 1424802"/>
              <a:gd name="connsiteY1" fmla="*/ 193431 h 1424354"/>
              <a:gd name="connsiteX2" fmla="*/ 103416 w 1424802"/>
              <a:gd name="connsiteY2" fmla="*/ 175846 h 1424354"/>
              <a:gd name="connsiteX3" fmla="*/ 109278 w 1424802"/>
              <a:gd name="connsiteY3" fmla="*/ 152400 h 1424354"/>
              <a:gd name="connsiteX4" fmla="*/ 132724 w 1424802"/>
              <a:gd name="connsiteY4" fmla="*/ 117231 h 1424354"/>
              <a:gd name="connsiteX5" fmla="*/ 144447 w 1424802"/>
              <a:gd name="connsiteY5" fmla="*/ 99646 h 1424354"/>
              <a:gd name="connsiteX6" fmla="*/ 197201 w 1424802"/>
              <a:gd name="connsiteY6" fmla="*/ 70338 h 1424354"/>
              <a:gd name="connsiteX7" fmla="*/ 226508 w 1424802"/>
              <a:gd name="connsiteY7" fmla="*/ 52754 h 1424354"/>
              <a:gd name="connsiteX8" fmla="*/ 261678 w 1424802"/>
              <a:gd name="connsiteY8" fmla="*/ 41031 h 1424354"/>
              <a:gd name="connsiteX9" fmla="*/ 308570 w 1424802"/>
              <a:gd name="connsiteY9" fmla="*/ 23446 h 1424354"/>
              <a:gd name="connsiteX10" fmla="*/ 326155 w 1424802"/>
              <a:gd name="connsiteY10" fmla="*/ 17585 h 1424354"/>
              <a:gd name="connsiteX11" fmla="*/ 367185 w 1424802"/>
              <a:gd name="connsiteY11" fmla="*/ 11723 h 1424354"/>
              <a:gd name="connsiteX12" fmla="*/ 490278 w 1424802"/>
              <a:gd name="connsiteY12" fmla="*/ 0 h 1424354"/>
              <a:gd name="connsiteX13" fmla="*/ 607508 w 1424802"/>
              <a:gd name="connsiteY13" fmla="*/ 11723 h 1424354"/>
              <a:gd name="connsiteX14" fmla="*/ 625093 w 1424802"/>
              <a:gd name="connsiteY14" fmla="*/ 17585 h 1424354"/>
              <a:gd name="connsiteX15" fmla="*/ 671985 w 1424802"/>
              <a:gd name="connsiteY15" fmla="*/ 29308 h 1424354"/>
              <a:gd name="connsiteX16" fmla="*/ 695432 w 1424802"/>
              <a:gd name="connsiteY16" fmla="*/ 35169 h 1424354"/>
              <a:gd name="connsiteX17" fmla="*/ 718878 w 1424802"/>
              <a:gd name="connsiteY17" fmla="*/ 46892 h 1424354"/>
              <a:gd name="connsiteX18" fmla="*/ 754047 w 1424802"/>
              <a:gd name="connsiteY18" fmla="*/ 58615 h 1424354"/>
              <a:gd name="connsiteX19" fmla="*/ 771632 w 1424802"/>
              <a:gd name="connsiteY19" fmla="*/ 70338 h 1424354"/>
              <a:gd name="connsiteX20" fmla="*/ 789216 w 1424802"/>
              <a:gd name="connsiteY20" fmla="*/ 87923 h 1424354"/>
              <a:gd name="connsiteX21" fmla="*/ 824385 w 1424802"/>
              <a:gd name="connsiteY21" fmla="*/ 99646 h 1424354"/>
              <a:gd name="connsiteX22" fmla="*/ 841970 w 1424802"/>
              <a:gd name="connsiteY22" fmla="*/ 117231 h 1424354"/>
              <a:gd name="connsiteX23" fmla="*/ 847832 w 1424802"/>
              <a:gd name="connsiteY23" fmla="*/ 134815 h 1424354"/>
              <a:gd name="connsiteX24" fmla="*/ 865416 w 1424802"/>
              <a:gd name="connsiteY24" fmla="*/ 140677 h 1424354"/>
              <a:gd name="connsiteX25" fmla="*/ 906447 w 1424802"/>
              <a:gd name="connsiteY25" fmla="*/ 175846 h 1424354"/>
              <a:gd name="connsiteX26" fmla="*/ 918170 w 1424802"/>
              <a:gd name="connsiteY26" fmla="*/ 193431 h 1424354"/>
              <a:gd name="connsiteX27" fmla="*/ 935755 w 1424802"/>
              <a:gd name="connsiteY27" fmla="*/ 205154 h 1424354"/>
              <a:gd name="connsiteX28" fmla="*/ 959201 w 1424802"/>
              <a:gd name="connsiteY28" fmla="*/ 222738 h 1424354"/>
              <a:gd name="connsiteX29" fmla="*/ 976785 w 1424802"/>
              <a:gd name="connsiteY29" fmla="*/ 234462 h 1424354"/>
              <a:gd name="connsiteX30" fmla="*/ 994370 w 1424802"/>
              <a:gd name="connsiteY30" fmla="*/ 257908 h 1424354"/>
              <a:gd name="connsiteX31" fmla="*/ 1035401 w 1424802"/>
              <a:gd name="connsiteY31" fmla="*/ 281354 h 1424354"/>
              <a:gd name="connsiteX32" fmla="*/ 1058847 w 1424802"/>
              <a:gd name="connsiteY32" fmla="*/ 310662 h 1424354"/>
              <a:gd name="connsiteX33" fmla="*/ 1099878 w 1424802"/>
              <a:gd name="connsiteY33" fmla="*/ 345831 h 1424354"/>
              <a:gd name="connsiteX34" fmla="*/ 1129185 w 1424802"/>
              <a:gd name="connsiteY34" fmla="*/ 386862 h 1424354"/>
              <a:gd name="connsiteX35" fmla="*/ 1135047 w 1424802"/>
              <a:gd name="connsiteY35" fmla="*/ 404446 h 1424354"/>
              <a:gd name="connsiteX36" fmla="*/ 1170216 w 1424802"/>
              <a:gd name="connsiteY36" fmla="*/ 445477 h 1424354"/>
              <a:gd name="connsiteX37" fmla="*/ 1187801 w 1424802"/>
              <a:gd name="connsiteY37" fmla="*/ 468923 h 1424354"/>
              <a:gd name="connsiteX38" fmla="*/ 1211247 w 1424802"/>
              <a:gd name="connsiteY38" fmla="*/ 504092 h 1424354"/>
              <a:gd name="connsiteX39" fmla="*/ 1240555 w 1424802"/>
              <a:gd name="connsiteY39" fmla="*/ 545123 h 1424354"/>
              <a:gd name="connsiteX40" fmla="*/ 1264001 w 1424802"/>
              <a:gd name="connsiteY40" fmla="*/ 592015 h 1424354"/>
              <a:gd name="connsiteX41" fmla="*/ 1269862 w 1424802"/>
              <a:gd name="connsiteY41" fmla="*/ 609600 h 1424354"/>
              <a:gd name="connsiteX42" fmla="*/ 1287447 w 1424802"/>
              <a:gd name="connsiteY42" fmla="*/ 638908 h 1424354"/>
              <a:gd name="connsiteX43" fmla="*/ 1299170 w 1424802"/>
              <a:gd name="connsiteY43" fmla="*/ 662354 h 1424354"/>
              <a:gd name="connsiteX44" fmla="*/ 1316755 w 1424802"/>
              <a:gd name="connsiteY44" fmla="*/ 679938 h 1424354"/>
              <a:gd name="connsiteX45" fmla="*/ 1340201 w 1424802"/>
              <a:gd name="connsiteY45" fmla="*/ 720969 h 1424354"/>
              <a:gd name="connsiteX46" fmla="*/ 1351924 w 1424802"/>
              <a:gd name="connsiteY46" fmla="*/ 744415 h 1424354"/>
              <a:gd name="connsiteX47" fmla="*/ 1357785 w 1424802"/>
              <a:gd name="connsiteY47" fmla="*/ 762000 h 1424354"/>
              <a:gd name="connsiteX48" fmla="*/ 1369508 w 1424802"/>
              <a:gd name="connsiteY48" fmla="*/ 779585 h 1424354"/>
              <a:gd name="connsiteX49" fmla="*/ 1381232 w 1424802"/>
              <a:gd name="connsiteY49" fmla="*/ 808892 h 1424354"/>
              <a:gd name="connsiteX50" fmla="*/ 1398816 w 1424802"/>
              <a:gd name="connsiteY50" fmla="*/ 885092 h 1424354"/>
              <a:gd name="connsiteX51" fmla="*/ 1410539 w 1424802"/>
              <a:gd name="connsiteY51" fmla="*/ 955431 h 1424354"/>
              <a:gd name="connsiteX52" fmla="*/ 1416401 w 1424802"/>
              <a:gd name="connsiteY52" fmla="*/ 973015 h 1424354"/>
              <a:gd name="connsiteX53" fmla="*/ 1410539 w 1424802"/>
              <a:gd name="connsiteY53" fmla="*/ 1125415 h 1424354"/>
              <a:gd name="connsiteX54" fmla="*/ 1404287 w 1424802"/>
              <a:gd name="connsiteY54" fmla="*/ 1249041 h 1424354"/>
              <a:gd name="connsiteX55" fmla="*/ 1287447 w 1424802"/>
              <a:gd name="connsiteY55" fmla="*/ 1383323 h 1424354"/>
              <a:gd name="connsiteX56" fmla="*/ 1269862 w 1424802"/>
              <a:gd name="connsiteY56" fmla="*/ 1395046 h 1424354"/>
              <a:gd name="connsiteX57" fmla="*/ 1234693 w 1424802"/>
              <a:gd name="connsiteY57" fmla="*/ 1406769 h 1424354"/>
              <a:gd name="connsiteX58" fmla="*/ 1217108 w 1424802"/>
              <a:gd name="connsiteY58" fmla="*/ 1412631 h 1424354"/>
              <a:gd name="connsiteX59" fmla="*/ 1176078 w 1424802"/>
              <a:gd name="connsiteY59" fmla="*/ 1418492 h 1424354"/>
              <a:gd name="connsiteX60" fmla="*/ 1140908 w 1424802"/>
              <a:gd name="connsiteY60" fmla="*/ 1424354 h 1424354"/>
              <a:gd name="connsiteX61" fmla="*/ 900585 w 1424802"/>
              <a:gd name="connsiteY61" fmla="*/ 1418492 h 1424354"/>
              <a:gd name="connsiteX62" fmla="*/ 883001 w 1424802"/>
              <a:gd name="connsiteY62" fmla="*/ 1412631 h 1424354"/>
              <a:gd name="connsiteX63" fmla="*/ 800939 w 1424802"/>
              <a:gd name="connsiteY63" fmla="*/ 1406769 h 1424354"/>
              <a:gd name="connsiteX64" fmla="*/ 630955 w 1424802"/>
              <a:gd name="connsiteY64" fmla="*/ 1400908 h 1424354"/>
              <a:gd name="connsiteX65" fmla="*/ 572339 w 1424802"/>
              <a:gd name="connsiteY65" fmla="*/ 1395046 h 1424354"/>
              <a:gd name="connsiteX66" fmla="*/ 476812 w 1424802"/>
              <a:gd name="connsiteY66" fmla="*/ 1400908 h 1424354"/>
              <a:gd name="connsiteX67" fmla="*/ 155426 w 1424802"/>
              <a:gd name="connsiteY67" fmla="*/ 1371600 h 1424354"/>
              <a:gd name="connsiteX68" fmla="*/ 83418 w 1424802"/>
              <a:gd name="connsiteY68" fmla="*/ 1299592 h 1424354"/>
              <a:gd name="connsiteX69" fmla="*/ 50662 w 1424802"/>
              <a:gd name="connsiteY69" fmla="*/ 1248508 h 1424354"/>
              <a:gd name="connsiteX70" fmla="*/ 33078 w 1424802"/>
              <a:gd name="connsiteY70" fmla="*/ 1230923 h 1424354"/>
              <a:gd name="connsiteX71" fmla="*/ 21355 w 1424802"/>
              <a:gd name="connsiteY71" fmla="*/ 1189892 h 1424354"/>
              <a:gd name="connsiteX72" fmla="*/ 9632 w 1424802"/>
              <a:gd name="connsiteY72" fmla="*/ 1143000 h 1424354"/>
              <a:gd name="connsiteX73" fmla="*/ 9632 w 1424802"/>
              <a:gd name="connsiteY73" fmla="*/ 943708 h 1424354"/>
              <a:gd name="connsiteX74" fmla="*/ 15493 w 1424802"/>
              <a:gd name="connsiteY74" fmla="*/ 926123 h 1424354"/>
              <a:gd name="connsiteX75" fmla="*/ 21355 w 1424802"/>
              <a:gd name="connsiteY75" fmla="*/ 873369 h 1424354"/>
              <a:gd name="connsiteX76" fmla="*/ 27216 w 1424802"/>
              <a:gd name="connsiteY76" fmla="*/ 855785 h 1424354"/>
              <a:gd name="connsiteX77" fmla="*/ 33078 w 1424802"/>
              <a:gd name="connsiteY77" fmla="*/ 820615 h 1424354"/>
              <a:gd name="connsiteX78" fmla="*/ 50662 w 1424802"/>
              <a:gd name="connsiteY78" fmla="*/ 779585 h 1424354"/>
              <a:gd name="connsiteX79" fmla="*/ 62385 w 1424802"/>
              <a:gd name="connsiteY79" fmla="*/ 738554 h 1424354"/>
              <a:gd name="connsiteX80" fmla="*/ 74108 w 1424802"/>
              <a:gd name="connsiteY80" fmla="*/ 715108 h 1424354"/>
              <a:gd name="connsiteX81" fmla="*/ 85832 w 1424802"/>
              <a:gd name="connsiteY81" fmla="*/ 674077 h 1424354"/>
              <a:gd name="connsiteX82" fmla="*/ 91693 w 1424802"/>
              <a:gd name="connsiteY82" fmla="*/ 656492 h 1424354"/>
              <a:gd name="connsiteX83" fmla="*/ 97555 w 1424802"/>
              <a:gd name="connsiteY83" fmla="*/ 627185 h 1424354"/>
              <a:gd name="connsiteX84" fmla="*/ 103416 w 1424802"/>
              <a:gd name="connsiteY84" fmla="*/ 609600 h 1424354"/>
              <a:gd name="connsiteX85" fmla="*/ 102366 w 1424802"/>
              <a:gd name="connsiteY85" fmla="*/ 546969 h 1424354"/>
              <a:gd name="connsiteX86" fmla="*/ 83418 w 1424802"/>
              <a:gd name="connsiteY86" fmla="*/ 435496 h 1424354"/>
              <a:gd name="connsiteX87" fmla="*/ 83418 w 1424802"/>
              <a:gd name="connsiteY87" fmla="*/ 291480 h 1424354"/>
              <a:gd name="connsiteX88" fmla="*/ 85832 w 1424802"/>
              <a:gd name="connsiteY88" fmla="*/ 263769 h 1424354"/>
              <a:gd name="connsiteX89" fmla="*/ 79970 w 1424802"/>
              <a:gd name="connsiteY89" fmla="*/ 246185 h 1424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424802" h="1424354">
                <a:moveTo>
                  <a:pt x="79970" y="246185"/>
                </a:moveTo>
                <a:cubicBezTo>
                  <a:pt x="90854" y="180885"/>
                  <a:pt x="76949" y="234644"/>
                  <a:pt x="97555" y="193431"/>
                </a:cubicBezTo>
                <a:cubicBezTo>
                  <a:pt x="100318" y="187905"/>
                  <a:pt x="101719" y="181787"/>
                  <a:pt x="103416" y="175846"/>
                </a:cubicBezTo>
                <a:cubicBezTo>
                  <a:pt x="105629" y="168100"/>
                  <a:pt x="105675" y="159605"/>
                  <a:pt x="109278" y="152400"/>
                </a:cubicBezTo>
                <a:cubicBezTo>
                  <a:pt x="115579" y="139798"/>
                  <a:pt x="124909" y="128954"/>
                  <a:pt x="132724" y="117231"/>
                </a:cubicBezTo>
                <a:lnTo>
                  <a:pt x="144447" y="99646"/>
                </a:lnTo>
                <a:cubicBezTo>
                  <a:pt x="162926" y="71927"/>
                  <a:pt x="175824" y="81027"/>
                  <a:pt x="197201" y="70338"/>
                </a:cubicBezTo>
                <a:cubicBezTo>
                  <a:pt x="207391" y="65243"/>
                  <a:pt x="216137" y="57468"/>
                  <a:pt x="226508" y="52754"/>
                </a:cubicBezTo>
                <a:cubicBezTo>
                  <a:pt x="237758" y="47641"/>
                  <a:pt x="261678" y="41031"/>
                  <a:pt x="261678" y="41031"/>
                </a:cubicBezTo>
                <a:cubicBezTo>
                  <a:pt x="290623" y="21734"/>
                  <a:pt x="268010" y="33586"/>
                  <a:pt x="308570" y="23446"/>
                </a:cubicBezTo>
                <a:cubicBezTo>
                  <a:pt x="314564" y="21947"/>
                  <a:pt x="320096" y="18797"/>
                  <a:pt x="326155" y="17585"/>
                </a:cubicBezTo>
                <a:cubicBezTo>
                  <a:pt x="339702" y="14876"/>
                  <a:pt x="353476" y="13437"/>
                  <a:pt x="367185" y="11723"/>
                </a:cubicBezTo>
                <a:cubicBezTo>
                  <a:pt x="417921" y="5381"/>
                  <a:pt x="436086" y="4516"/>
                  <a:pt x="490278" y="0"/>
                </a:cubicBezTo>
                <a:cubicBezTo>
                  <a:pt x="531285" y="2929"/>
                  <a:pt x="568218" y="2992"/>
                  <a:pt x="607508" y="11723"/>
                </a:cubicBezTo>
                <a:cubicBezTo>
                  <a:pt x="613540" y="13063"/>
                  <a:pt x="619132" y="15959"/>
                  <a:pt x="625093" y="17585"/>
                </a:cubicBezTo>
                <a:cubicBezTo>
                  <a:pt x="640637" y="21824"/>
                  <a:pt x="656354" y="25400"/>
                  <a:pt x="671985" y="29308"/>
                </a:cubicBezTo>
                <a:lnTo>
                  <a:pt x="695432" y="35169"/>
                </a:lnTo>
                <a:cubicBezTo>
                  <a:pt x="703247" y="39077"/>
                  <a:pt x="710765" y="43647"/>
                  <a:pt x="718878" y="46892"/>
                </a:cubicBezTo>
                <a:cubicBezTo>
                  <a:pt x="730351" y="51481"/>
                  <a:pt x="754047" y="58615"/>
                  <a:pt x="754047" y="58615"/>
                </a:cubicBezTo>
                <a:cubicBezTo>
                  <a:pt x="759909" y="62523"/>
                  <a:pt x="766220" y="65828"/>
                  <a:pt x="771632" y="70338"/>
                </a:cubicBezTo>
                <a:cubicBezTo>
                  <a:pt x="778000" y="75645"/>
                  <a:pt x="781970" y="83897"/>
                  <a:pt x="789216" y="87923"/>
                </a:cubicBezTo>
                <a:cubicBezTo>
                  <a:pt x="800018" y="93924"/>
                  <a:pt x="824385" y="99646"/>
                  <a:pt x="824385" y="99646"/>
                </a:cubicBezTo>
                <a:cubicBezTo>
                  <a:pt x="830247" y="105508"/>
                  <a:pt x="837372" y="110334"/>
                  <a:pt x="841970" y="117231"/>
                </a:cubicBezTo>
                <a:cubicBezTo>
                  <a:pt x="845397" y="122372"/>
                  <a:pt x="843463" y="130446"/>
                  <a:pt x="847832" y="134815"/>
                </a:cubicBezTo>
                <a:cubicBezTo>
                  <a:pt x="852201" y="139184"/>
                  <a:pt x="859555" y="138723"/>
                  <a:pt x="865416" y="140677"/>
                </a:cubicBezTo>
                <a:cubicBezTo>
                  <a:pt x="882661" y="153611"/>
                  <a:pt x="892843" y="159521"/>
                  <a:pt x="906447" y="175846"/>
                </a:cubicBezTo>
                <a:cubicBezTo>
                  <a:pt x="910957" y="181258"/>
                  <a:pt x="913189" y="188450"/>
                  <a:pt x="918170" y="193431"/>
                </a:cubicBezTo>
                <a:cubicBezTo>
                  <a:pt x="923151" y="198412"/>
                  <a:pt x="930022" y="201059"/>
                  <a:pt x="935755" y="205154"/>
                </a:cubicBezTo>
                <a:cubicBezTo>
                  <a:pt x="943704" y="210832"/>
                  <a:pt x="951252" y="217060"/>
                  <a:pt x="959201" y="222738"/>
                </a:cubicBezTo>
                <a:cubicBezTo>
                  <a:pt x="964933" y="226833"/>
                  <a:pt x="971804" y="229481"/>
                  <a:pt x="976785" y="234462"/>
                </a:cubicBezTo>
                <a:cubicBezTo>
                  <a:pt x="983693" y="241370"/>
                  <a:pt x="987462" y="251000"/>
                  <a:pt x="994370" y="257908"/>
                </a:cubicBezTo>
                <a:cubicBezTo>
                  <a:pt x="1002655" y="266192"/>
                  <a:pt x="1026207" y="276757"/>
                  <a:pt x="1035401" y="281354"/>
                </a:cubicBezTo>
                <a:cubicBezTo>
                  <a:pt x="1044864" y="295548"/>
                  <a:pt x="1046321" y="300224"/>
                  <a:pt x="1058847" y="310662"/>
                </a:cubicBezTo>
                <a:cubicBezTo>
                  <a:pt x="1072975" y="322436"/>
                  <a:pt x="1088919" y="330489"/>
                  <a:pt x="1099878" y="345831"/>
                </a:cubicBezTo>
                <a:cubicBezTo>
                  <a:pt x="1138457" y="399842"/>
                  <a:pt x="1083461" y="341136"/>
                  <a:pt x="1129185" y="386862"/>
                </a:cubicBezTo>
                <a:cubicBezTo>
                  <a:pt x="1131139" y="392723"/>
                  <a:pt x="1132284" y="398920"/>
                  <a:pt x="1135047" y="404446"/>
                </a:cubicBezTo>
                <a:cubicBezTo>
                  <a:pt x="1145507" y="425366"/>
                  <a:pt x="1153388" y="426245"/>
                  <a:pt x="1170216" y="445477"/>
                </a:cubicBezTo>
                <a:cubicBezTo>
                  <a:pt x="1176649" y="452829"/>
                  <a:pt x="1181939" y="461108"/>
                  <a:pt x="1187801" y="468923"/>
                </a:cubicBezTo>
                <a:cubicBezTo>
                  <a:pt x="1200373" y="506644"/>
                  <a:pt x="1183805" y="465675"/>
                  <a:pt x="1211247" y="504092"/>
                </a:cubicBezTo>
                <a:cubicBezTo>
                  <a:pt x="1249827" y="558102"/>
                  <a:pt x="1194829" y="499397"/>
                  <a:pt x="1240555" y="545123"/>
                </a:cubicBezTo>
                <a:cubicBezTo>
                  <a:pt x="1252209" y="591742"/>
                  <a:pt x="1237431" y="545517"/>
                  <a:pt x="1264001" y="592015"/>
                </a:cubicBezTo>
                <a:cubicBezTo>
                  <a:pt x="1267066" y="597380"/>
                  <a:pt x="1267099" y="604074"/>
                  <a:pt x="1269862" y="609600"/>
                </a:cubicBezTo>
                <a:cubicBezTo>
                  <a:pt x="1274957" y="619790"/>
                  <a:pt x="1281914" y="628949"/>
                  <a:pt x="1287447" y="638908"/>
                </a:cubicBezTo>
                <a:cubicBezTo>
                  <a:pt x="1291690" y="646546"/>
                  <a:pt x="1294091" y="655244"/>
                  <a:pt x="1299170" y="662354"/>
                </a:cubicBezTo>
                <a:cubicBezTo>
                  <a:pt x="1303988" y="669099"/>
                  <a:pt x="1310893" y="674077"/>
                  <a:pt x="1316755" y="679938"/>
                </a:cubicBezTo>
                <a:cubicBezTo>
                  <a:pt x="1352175" y="750781"/>
                  <a:pt x="1307066" y="662984"/>
                  <a:pt x="1340201" y="720969"/>
                </a:cubicBezTo>
                <a:cubicBezTo>
                  <a:pt x="1344536" y="728556"/>
                  <a:pt x="1348482" y="736384"/>
                  <a:pt x="1351924" y="744415"/>
                </a:cubicBezTo>
                <a:cubicBezTo>
                  <a:pt x="1354358" y="750094"/>
                  <a:pt x="1355022" y="756474"/>
                  <a:pt x="1357785" y="762000"/>
                </a:cubicBezTo>
                <a:cubicBezTo>
                  <a:pt x="1360935" y="768301"/>
                  <a:pt x="1366357" y="773284"/>
                  <a:pt x="1369508" y="779585"/>
                </a:cubicBezTo>
                <a:cubicBezTo>
                  <a:pt x="1374214" y="788996"/>
                  <a:pt x="1377324" y="799123"/>
                  <a:pt x="1381232" y="808892"/>
                </a:cubicBezTo>
                <a:cubicBezTo>
                  <a:pt x="1388840" y="862156"/>
                  <a:pt x="1382724" y="836816"/>
                  <a:pt x="1398816" y="885092"/>
                </a:cubicBezTo>
                <a:cubicBezTo>
                  <a:pt x="1406333" y="907642"/>
                  <a:pt x="1406631" y="931985"/>
                  <a:pt x="1410539" y="955431"/>
                </a:cubicBezTo>
                <a:cubicBezTo>
                  <a:pt x="1411555" y="961525"/>
                  <a:pt x="1414447" y="967154"/>
                  <a:pt x="1416401" y="973015"/>
                </a:cubicBezTo>
                <a:cubicBezTo>
                  <a:pt x="1414447" y="1023815"/>
                  <a:pt x="1415284" y="1074799"/>
                  <a:pt x="1410539" y="1125415"/>
                </a:cubicBezTo>
                <a:cubicBezTo>
                  <a:pt x="1394908" y="1189892"/>
                  <a:pt x="1424802" y="1206056"/>
                  <a:pt x="1404287" y="1249041"/>
                </a:cubicBezTo>
                <a:cubicBezTo>
                  <a:pt x="1368088" y="1335780"/>
                  <a:pt x="1318351" y="1373023"/>
                  <a:pt x="1287447" y="1383323"/>
                </a:cubicBezTo>
                <a:cubicBezTo>
                  <a:pt x="1281585" y="1387231"/>
                  <a:pt x="1276300" y="1392185"/>
                  <a:pt x="1269862" y="1395046"/>
                </a:cubicBezTo>
                <a:cubicBezTo>
                  <a:pt x="1258570" y="1400065"/>
                  <a:pt x="1246416" y="1402861"/>
                  <a:pt x="1234693" y="1406769"/>
                </a:cubicBezTo>
                <a:lnTo>
                  <a:pt x="1217108" y="1412631"/>
                </a:lnTo>
                <a:cubicBezTo>
                  <a:pt x="1204002" y="1417000"/>
                  <a:pt x="1189733" y="1416391"/>
                  <a:pt x="1176078" y="1418492"/>
                </a:cubicBezTo>
                <a:cubicBezTo>
                  <a:pt x="1164331" y="1420299"/>
                  <a:pt x="1152631" y="1422400"/>
                  <a:pt x="1140908" y="1424354"/>
                </a:cubicBezTo>
                <a:cubicBezTo>
                  <a:pt x="1060800" y="1422400"/>
                  <a:pt x="980634" y="1422131"/>
                  <a:pt x="900585" y="1418492"/>
                </a:cubicBezTo>
                <a:cubicBezTo>
                  <a:pt x="894413" y="1418211"/>
                  <a:pt x="889137" y="1413353"/>
                  <a:pt x="883001" y="1412631"/>
                </a:cubicBezTo>
                <a:cubicBezTo>
                  <a:pt x="855765" y="1409427"/>
                  <a:pt x="828333" y="1408043"/>
                  <a:pt x="800939" y="1406769"/>
                </a:cubicBezTo>
                <a:cubicBezTo>
                  <a:pt x="744305" y="1404135"/>
                  <a:pt x="687616" y="1402862"/>
                  <a:pt x="630955" y="1400908"/>
                </a:cubicBezTo>
                <a:cubicBezTo>
                  <a:pt x="611416" y="1398954"/>
                  <a:pt x="591639" y="1398665"/>
                  <a:pt x="572339" y="1395046"/>
                </a:cubicBezTo>
                <a:cubicBezTo>
                  <a:pt x="560194" y="1392769"/>
                  <a:pt x="488535" y="1404816"/>
                  <a:pt x="476812" y="1400908"/>
                </a:cubicBezTo>
                <a:cubicBezTo>
                  <a:pt x="407327" y="1397000"/>
                  <a:pt x="223811" y="1383323"/>
                  <a:pt x="155426" y="1371600"/>
                </a:cubicBezTo>
                <a:cubicBezTo>
                  <a:pt x="148743" y="1369372"/>
                  <a:pt x="89719" y="1302743"/>
                  <a:pt x="83418" y="1299592"/>
                </a:cubicBezTo>
                <a:cubicBezTo>
                  <a:pt x="65957" y="1279077"/>
                  <a:pt x="66293" y="1262185"/>
                  <a:pt x="50662" y="1248508"/>
                </a:cubicBezTo>
                <a:cubicBezTo>
                  <a:pt x="45355" y="1242140"/>
                  <a:pt x="38939" y="1236785"/>
                  <a:pt x="33078" y="1230923"/>
                </a:cubicBezTo>
                <a:cubicBezTo>
                  <a:pt x="19021" y="1188754"/>
                  <a:pt x="36078" y="1241421"/>
                  <a:pt x="21355" y="1189892"/>
                </a:cubicBezTo>
                <a:cubicBezTo>
                  <a:pt x="9337" y="1147830"/>
                  <a:pt x="21550" y="1202596"/>
                  <a:pt x="9632" y="1143000"/>
                </a:cubicBezTo>
                <a:cubicBezTo>
                  <a:pt x="1056" y="1048675"/>
                  <a:pt x="0" y="1068927"/>
                  <a:pt x="9632" y="943708"/>
                </a:cubicBezTo>
                <a:cubicBezTo>
                  <a:pt x="10106" y="937548"/>
                  <a:pt x="13539" y="931985"/>
                  <a:pt x="15493" y="926123"/>
                </a:cubicBezTo>
                <a:cubicBezTo>
                  <a:pt x="17447" y="908538"/>
                  <a:pt x="18446" y="890821"/>
                  <a:pt x="21355" y="873369"/>
                </a:cubicBezTo>
                <a:cubicBezTo>
                  <a:pt x="22371" y="867275"/>
                  <a:pt x="25876" y="861816"/>
                  <a:pt x="27216" y="855785"/>
                </a:cubicBezTo>
                <a:cubicBezTo>
                  <a:pt x="29794" y="844183"/>
                  <a:pt x="30500" y="832217"/>
                  <a:pt x="33078" y="820615"/>
                </a:cubicBezTo>
                <a:cubicBezTo>
                  <a:pt x="37308" y="801580"/>
                  <a:pt x="42390" y="798885"/>
                  <a:pt x="50662" y="779585"/>
                </a:cubicBezTo>
                <a:cubicBezTo>
                  <a:pt x="64837" y="746511"/>
                  <a:pt x="47509" y="778225"/>
                  <a:pt x="62385" y="738554"/>
                </a:cubicBezTo>
                <a:cubicBezTo>
                  <a:pt x="65453" y="730373"/>
                  <a:pt x="70666" y="723139"/>
                  <a:pt x="74108" y="715108"/>
                </a:cubicBezTo>
                <a:cubicBezTo>
                  <a:pt x="80131" y="701055"/>
                  <a:pt x="81583" y="688948"/>
                  <a:pt x="85832" y="674077"/>
                </a:cubicBezTo>
                <a:cubicBezTo>
                  <a:pt x="87529" y="668136"/>
                  <a:pt x="90194" y="662486"/>
                  <a:pt x="91693" y="656492"/>
                </a:cubicBezTo>
                <a:cubicBezTo>
                  <a:pt x="94109" y="646827"/>
                  <a:pt x="95139" y="636850"/>
                  <a:pt x="97555" y="627185"/>
                </a:cubicBezTo>
                <a:cubicBezTo>
                  <a:pt x="99054" y="621191"/>
                  <a:pt x="101719" y="615541"/>
                  <a:pt x="103416" y="609600"/>
                </a:cubicBezTo>
                <a:cubicBezTo>
                  <a:pt x="105629" y="601854"/>
                  <a:pt x="100618" y="554833"/>
                  <a:pt x="102366" y="546969"/>
                </a:cubicBezTo>
                <a:cubicBezTo>
                  <a:pt x="104527" y="537243"/>
                  <a:pt x="80797" y="445108"/>
                  <a:pt x="83418" y="435496"/>
                </a:cubicBezTo>
                <a:cubicBezTo>
                  <a:pt x="79108" y="386384"/>
                  <a:pt x="88302" y="340326"/>
                  <a:pt x="83418" y="291480"/>
                </a:cubicBezTo>
                <a:cubicBezTo>
                  <a:pt x="78600" y="284735"/>
                  <a:pt x="91693" y="269631"/>
                  <a:pt x="85832" y="263769"/>
                </a:cubicBezTo>
                <a:lnTo>
                  <a:pt x="79970" y="246185"/>
                </a:lnTo>
                <a:close/>
              </a:path>
            </a:pathLst>
          </a:custGeom>
          <a:solidFill>
            <a:srgbClr val="FF66FF"/>
          </a:solid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000" b="1">
              <a:solidFill>
                <a:srgbClr val="000099"/>
              </a:solidFill>
              <a:ea typeface="黑体" pitchFamily="2" charset="-122"/>
            </a:endParaRPr>
          </a:p>
        </p:txBody>
      </p:sp>
      <p:sp>
        <p:nvSpPr>
          <p:cNvPr id="9" name="Line 42"/>
          <p:cNvSpPr>
            <a:spLocks noChangeShapeType="1"/>
          </p:cNvSpPr>
          <p:nvPr/>
        </p:nvSpPr>
        <p:spPr bwMode="auto">
          <a:xfrm>
            <a:off x="5234697" y="2596871"/>
            <a:ext cx="0" cy="393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0" name="Line 13"/>
          <p:cNvSpPr>
            <a:spLocks noChangeShapeType="1"/>
          </p:cNvSpPr>
          <p:nvPr/>
        </p:nvSpPr>
        <p:spPr bwMode="auto">
          <a:xfrm flipV="1">
            <a:off x="3372835" y="2596871"/>
            <a:ext cx="23527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1" name="Line 6"/>
          <p:cNvSpPr>
            <a:spLocks noChangeShapeType="1"/>
          </p:cNvSpPr>
          <p:nvPr/>
        </p:nvSpPr>
        <p:spPr bwMode="auto">
          <a:xfrm>
            <a:off x="1115244" y="3581960"/>
            <a:ext cx="2845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2" name="Line 8"/>
          <p:cNvSpPr>
            <a:spLocks noChangeShapeType="1"/>
          </p:cNvSpPr>
          <p:nvPr/>
        </p:nvSpPr>
        <p:spPr bwMode="auto">
          <a:xfrm>
            <a:off x="4255111" y="3581960"/>
            <a:ext cx="43162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3" name="Line 15"/>
          <p:cNvSpPr>
            <a:spLocks noChangeShapeType="1"/>
          </p:cNvSpPr>
          <p:nvPr/>
        </p:nvSpPr>
        <p:spPr bwMode="auto">
          <a:xfrm>
            <a:off x="1900210" y="3581960"/>
            <a:ext cx="0" cy="49363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4" name="Line 16"/>
          <p:cNvSpPr>
            <a:spLocks noChangeShapeType="1"/>
          </p:cNvSpPr>
          <p:nvPr/>
        </p:nvSpPr>
        <p:spPr bwMode="auto">
          <a:xfrm>
            <a:off x="3273362" y="3581960"/>
            <a:ext cx="0" cy="49363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5" name="Line 17"/>
          <p:cNvSpPr>
            <a:spLocks noChangeShapeType="1"/>
          </p:cNvSpPr>
          <p:nvPr/>
        </p:nvSpPr>
        <p:spPr bwMode="auto">
          <a:xfrm>
            <a:off x="5117925" y="3581960"/>
            <a:ext cx="0" cy="49363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6" name="Line 18"/>
          <p:cNvSpPr>
            <a:spLocks noChangeShapeType="1"/>
          </p:cNvSpPr>
          <p:nvPr/>
        </p:nvSpPr>
        <p:spPr bwMode="auto">
          <a:xfrm>
            <a:off x="6097513" y="3581960"/>
            <a:ext cx="0" cy="49363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7" name="Line 19"/>
          <p:cNvSpPr>
            <a:spLocks noChangeShapeType="1"/>
          </p:cNvSpPr>
          <p:nvPr/>
        </p:nvSpPr>
        <p:spPr bwMode="auto">
          <a:xfrm>
            <a:off x="7079262" y="3581960"/>
            <a:ext cx="0" cy="49363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8" name="Line 20"/>
          <p:cNvSpPr>
            <a:spLocks noChangeShapeType="1"/>
          </p:cNvSpPr>
          <p:nvPr/>
        </p:nvSpPr>
        <p:spPr bwMode="auto">
          <a:xfrm>
            <a:off x="8061011" y="3581960"/>
            <a:ext cx="0" cy="49363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sp>
        <p:nvSpPr>
          <p:cNvPr id="19" name="Line 23"/>
          <p:cNvSpPr>
            <a:spLocks noChangeShapeType="1"/>
          </p:cNvSpPr>
          <p:nvPr/>
        </p:nvSpPr>
        <p:spPr bwMode="auto">
          <a:xfrm>
            <a:off x="4155639" y="2596871"/>
            <a:ext cx="0" cy="88723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pic>
        <p:nvPicPr>
          <p:cNvPr id="20"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6118" y="3877704"/>
            <a:ext cx="607647" cy="5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9807" y="3877704"/>
            <a:ext cx="607647" cy="5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5170" y="3877704"/>
            <a:ext cx="607646" cy="5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03421" y="3877704"/>
            <a:ext cx="607646" cy="5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3833" y="3877704"/>
            <a:ext cx="607647" cy="5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6919" y="3877704"/>
            <a:ext cx="607646" cy="5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21"/>
          <p:cNvSpPr>
            <a:spLocks noChangeShapeType="1"/>
          </p:cNvSpPr>
          <p:nvPr/>
        </p:nvSpPr>
        <p:spPr bwMode="auto">
          <a:xfrm>
            <a:off x="8061011" y="4075592"/>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lt"/>
              <a:ea typeface="黑体" pitchFamily="2" charset="-122"/>
            </a:endParaRPr>
          </a:p>
        </p:txBody>
      </p:sp>
      <p:pic>
        <p:nvPicPr>
          <p:cNvPr id="27" name="Picture 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61547" y="3386247"/>
            <a:ext cx="605484" cy="358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8"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40605" y="2790409"/>
            <a:ext cx="607647" cy="5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27"/>
          <p:cNvSpPr txBox="1">
            <a:spLocks noChangeArrowheads="1"/>
          </p:cNvSpPr>
          <p:nvPr/>
        </p:nvSpPr>
        <p:spPr bwMode="auto">
          <a:xfrm>
            <a:off x="5922354" y="2596871"/>
            <a:ext cx="1217000"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0099"/>
                </a:solidFill>
                <a:latin typeface="+mn-lt"/>
                <a:ea typeface="黑体" pitchFamily="2" charset="-122"/>
              </a:rPr>
              <a:t>多播组</a:t>
            </a:r>
            <a:r>
              <a:rPr lang="en-US" altLang="zh-CN" sz="2000" b="1">
                <a:solidFill>
                  <a:srgbClr val="000099"/>
                </a:solidFill>
                <a:latin typeface="+mn-lt"/>
                <a:ea typeface="黑体" pitchFamily="2" charset="-122"/>
              </a:rPr>
              <a:t>①</a:t>
            </a:r>
          </a:p>
        </p:txBody>
      </p:sp>
      <p:sp>
        <p:nvSpPr>
          <p:cNvPr id="30" name="Text Box 32"/>
          <p:cNvSpPr txBox="1">
            <a:spLocks noChangeArrowheads="1"/>
          </p:cNvSpPr>
          <p:nvPr/>
        </p:nvSpPr>
        <p:spPr bwMode="auto">
          <a:xfrm>
            <a:off x="4687600" y="2722998"/>
            <a:ext cx="37061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99"/>
                </a:solidFill>
                <a:latin typeface="+mn-lt"/>
                <a:ea typeface="黑体" pitchFamily="2" charset="-122"/>
              </a:rPr>
              <a:t>A</a:t>
            </a:r>
          </a:p>
        </p:txBody>
      </p:sp>
      <p:sp>
        <p:nvSpPr>
          <p:cNvPr id="31" name="Text Box 33"/>
          <p:cNvSpPr txBox="1">
            <a:spLocks noChangeArrowheads="1"/>
          </p:cNvSpPr>
          <p:nvPr/>
        </p:nvSpPr>
        <p:spPr bwMode="auto">
          <a:xfrm>
            <a:off x="4529741" y="3795069"/>
            <a:ext cx="37061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99"/>
                </a:solidFill>
                <a:latin typeface="+mn-lt"/>
                <a:ea typeface="黑体" pitchFamily="2" charset="-122"/>
              </a:rPr>
              <a:t>B</a:t>
            </a:r>
          </a:p>
        </p:txBody>
      </p:sp>
      <p:sp>
        <p:nvSpPr>
          <p:cNvPr id="32" name="Text Box 34"/>
          <p:cNvSpPr txBox="1">
            <a:spLocks noChangeArrowheads="1"/>
          </p:cNvSpPr>
          <p:nvPr/>
        </p:nvSpPr>
        <p:spPr bwMode="auto">
          <a:xfrm>
            <a:off x="5565552" y="3797245"/>
            <a:ext cx="37061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99"/>
                </a:solidFill>
                <a:latin typeface="+mn-lt"/>
                <a:ea typeface="黑体" pitchFamily="2" charset="-122"/>
              </a:rPr>
              <a:t>C</a:t>
            </a:r>
          </a:p>
        </p:txBody>
      </p:sp>
      <p:sp>
        <p:nvSpPr>
          <p:cNvPr id="33" name="Text Box 35"/>
          <p:cNvSpPr txBox="1">
            <a:spLocks noChangeArrowheads="1"/>
          </p:cNvSpPr>
          <p:nvPr/>
        </p:nvSpPr>
        <p:spPr bwMode="auto">
          <a:xfrm>
            <a:off x="6532163" y="3797245"/>
            <a:ext cx="37061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99"/>
                </a:solidFill>
                <a:latin typeface="+mn-lt"/>
                <a:ea typeface="黑体" pitchFamily="2" charset="-122"/>
              </a:rPr>
              <a:t>D</a:t>
            </a:r>
          </a:p>
        </p:txBody>
      </p:sp>
      <p:sp>
        <p:nvSpPr>
          <p:cNvPr id="34" name="Text Box 36"/>
          <p:cNvSpPr txBox="1">
            <a:spLocks noChangeArrowheads="1"/>
          </p:cNvSpPr>
          <p:nvPr/>
        </p:nvSpPr>
        <p:spPr bwMode="auto">
          <a:xfrm>
            <a:off x="7542025" y="3797245"/>
            <a:ext cx="356188"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99"/>
                </a:solidFill>
                <a:latin typeface="+mn-lt"/>
                <a:ea typeface="黑体" pitchFamily="2" charset="-122"/>
              </a:rPr>
              <a:t>E</a:t>
            </a:r>
          </a:p>
        </p:txBody>
      </p:sp>
      <p:sp>
        <p:nvSpPr>
          <p:cNvPr id="35" name="Text Box 37"/>
          <p:cNvSpPr txBox="1">
            <a:spLocks noChangeArrowheads="1"/>
          </p:cNvSpPr>
          <p:nvPr/>
        </p:nvSpPr>
        <p:spPr bwMode="auto">
          <a:xfrm>
            <a:off x="1312026" y="3795069"/>
            <a:ext cx="383438"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99"/>
                </a:solidFill>
                <a:latin typeface="+mn-lt"/>
                <a:ea typeface="黑体" pitchFamily="2" charset="-122"/>
              </a:rPr>
              <a:t>G</a:t>
            </a:r>
          </a:p>
        </p:txBody>
      </p:sp>
      <p:sp>
        <p:nvSpPr>
          <p:cNvPr id="36" name="Text Box 38"/>
          <p:cNvSpPr txBox="1">
            <a:spLocks noChangeArrowheads="1"/>
          </p:cNvSpPr>
          <p:nvPr/>
        </p:nvSpPr>
        <p:spPr bwMode="auto">
          <a:xfrm>
            <a:off x="2685178" y="3795069"/>
            <a:ext cx="341760"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99"/>
                </a:solidFill>
                <a:latin typeface="+mn-lt"/>
                <a:ea typeface="黑体" pitchFamily="2" charset="-122"/>
              </a:rPr>
              <a:t>F</a:t>
            </a:r>
          </a:p>
        </p:txBody>
      </p:sp>
      <p:sp>
        <p:nvSpPr>
          <p:cNvPr id="37" name="Text Box 39"/>
          <p:cNvSpPr txBox="1">
            <a:spLocks noChangeArrowheads="1"/>
          </p:cNvSpPr>
          <p:nvPr/>
        </p:nvSpPr>
        <p:spPr bwMode="auto">
          <a:xfrm>
            <a:off x="3470144" y="2103239"/>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dirty="0">
                <a:solidFill>
                  <a:srgbClr val="000099"/>
                </a:solidFill>
                <a:latin typeface="+mn-lt"/>
                <a:ea typeface="黑体" pitchFamily="2" charset="-122"/>
              </a:rPr>
              <a:t>N</a:t>
            </a:r>
            <a:r>
              <a:rPr lang="en-US" altLang="zh-CN" sz="2400" b="1" baseline="-25000" dirty="0">
                <a:solidFill>
                  <a:srgbClr val="000099"/>
                </a:solidFill>
                <a:latin typeface="+mn-lt"/>
                <a:ea typeface="黑体" pitchFamily="2" charset="-122"/>
              </a:rPr>
              <a:t>1</a:t>
            </a:r>
          </a:p>
        </p:txBody>
      </p:sp>
      <p:sp>
        <p:nvSpPr>
          <p:cNvPr id="38" name="Text Box 41"/>
          <p:cNvSpPr txBox="1">
            <a:spLocks noChangeArrowheads="1"/>
          </p:cNvSpPr>
          <p:nvPr/>
        </p:nvSpPr>
        <p:spPr bwMode="auto">
          <a:xfrm>
            <a:off x="1312026" y="3090502"/>
            <a:ext cx="5212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dirty="0">
                <a:solidFill>
                  <a:srgbClr val="000099"/>
                </a:solidFill>
                <a:latin typeface="+mn-lt"/>
                <a:ea typeface="黑体" pitchFamily="2" charset="-122"/>
              </a:rPr>
              <a:t>N</a:t>
            </a:r>
            <a:r>
              <a:rPr lang="en-US" altLang="zh-CN" sz="2400" b="1" baseline="-25000" dirty="0">
                <a:solidFill>
                  <a:srgbClr val="000099"/>
                </a:solidFill>
                <a:latin typeface="+mn-lt"/>
                <a:ea typeface="黑体" pitchFamily="2" charset="-122"/>
              </a:rPr>
              <a:t>3</a:t>
            </a:r>
          </a:p>
        </p:txBody>
      </p:sp>
      <p:sp>
        <p:nvSpPr>
          <p:cNvPr id="39" name="Text Box 43"/>
          <p:cNvSpPr txBox="1">
            <a:spLocks noChangeArrowheads="1"/>
          </p:cNvSpPr>
          <p:nvPr/>
        </p:nvSpPr>
        <p:spPr bwMode="auto">
          <a:xfrm>
            <a:off x="3567454" y="3090502"/>
            <a:ext cx="370613"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99"/>
                </a:solidFill>
                <a:latin typeface="+mn-lt"/>
                <a:ea typeface="黑体" pitchFamily="2" charset="-122"/>
              </a:rPr>
              <a:t>R</a:t>
            </a:r>
            <a:endParaRPr lang="en-US" altLang="zh-CN" sz="2000" b="1" baseline="-25000">
              <a:solidFill>
                <a:srgbClr val="000099"/>
              </a:solidFill>
              <a:latin typeface="+mn-lt"/>
              <a:ea typeface="黑体" pitchFamily="2" charset="-122"/>
            </a:endParaRPr>
          </a:p>
        </p:txBody>
      </p:sp>
      <p:sp>
        <p:nvSpPr>
          <p:cNvPr id="40" name="Text Box 27"/>
          <p:cNvSpPr txBox="1">
            <a:spLocks noChangeArrowheads="1"/>
          </p:cNvSpPr>
          <p:nvPr/>
        </p:nvSpPr>
        <p:spPr bwMode="auto">
          <a:xfrm>
            <a:off x="6510539" y="4471367"/>
            <a:ext cx="13688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zh-CN" altLang="en-US" sz="2000" b="1">
                <a:solidFill>
                  <a:srgbClr val="000099"/>
                </a:solidFill>
                <a:latin typeface="+mn-lt"/>
                <a:ea typeface="黑体" pitchFamily="2" charset="-122"/>
              </a:rPr>
              <a:t>多播组</a:t>
            </a:r>
            <a:r>
              <a:rPr lang="en-US" altLang="zh-CN" sz="2000" b="1">
                <a:solidFill>
                  <a:srgbClr val="000099"/>
                </a:solidFill>
                <a:latin typeface="+mn-lt"/>
                <a:ea typeface="黑体" pitchFamily="2" charset="-122"/>
              </a:rPr>
              <a:t>②</a:t>
            </a:r>
          </a:p>
          <a:p>
            <a:pPr eaLnBrk="1" hangingPunct="1"/>
            <a:endParaRPr lang="en-US" altLang="zh-CN" sz="2000" b="1">
              <a:solidFill>
                <a:srgbClr val="000099"/>
              </a:solidFill>
              <a:latin typeface="+mn-lt"/>
              <a:ea typeface="黑体" pitchFamily="2" charset="-122"/>
            </a:endParaRPr>
          </a:p>
        </p:txBody>
      </p:sp>
      <p:cxnSp>
        <p:nvCxnSpPr>
          <p:cNvPr id="41" name="直接箭头连接符 40"/>
          <p:cNvCxnSpPr/>
          <p:nvPr/>
        </p:nvCxnSpPr>
        <p:spPr>
          <a:xfrm flipH="1">
            <a:off x="5725573" y="2990471"/>
            <a:ext cx="687657" cy="395775"/>
          </a:xfrm>
          <a:prstGeom prst="straightConnector1">
            <a:avLst/>
          </a:prstGeom>
          <a:ln>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1010688" name="矩形 1010687"/>
          <p:cNvSpPr/>
          <p:nvPr/>
        </p:nvSpPr>
        <p:spPr>
          <a:xfrm>
            <a:off x="992560" y="1268760"/>
            <a:ext cx="8424936" cy="523220"/>
          </a:xfrm>
          <a:prstGeom prst="rect">
            <a:avLst/>
          </a:prstGeom>
          <a:solidFill>
            <a:srgbClr val="FFFF66"/>
          </a:solidFill>
          <a:ln>
            <a:solidFill>
              <a:srgbClr val="000099"/>
            </a:solidFill>
          </a:ln>
        </p:spPr>
        <p:txBody>
          <a:bodyPr wrap="square">
            <a:spAutoFit/>
          </a:bodyPr>
          <a:lstStyle/>
          <a:p>
            <a:pPr algn="ctr"/>
            <a:r>
              <a:rPr lang="zh-CN" altLang="en-US" sz="2800" b="1" dirty="0">
                <a:solidFill>
                  <a:srgbClr val="000099"/>
                </a:solidFill>
                <a:latin typeface="+mn-lt"/>
                <a:ea typeface="黑体" pitchFamily="2" charset="-122"/>
              </a:rPr>
              <a:t>多播路由选择协议比单播路由选择协议复杂得多。</a:t>
            </a:r>
            <a:endParaRPr lang="en-US" altLang="zh-CN" sz="2800" b="1" dirty="0">
              <a:solidFill>
                <a:srgbClr val="000099"/>
              </a:solidFill>
              <a:latin typeface="+mn-lt"/>
              <a:ea typeface="黑体" pitchFamily="2" charset="-122"/>
            </a:endParaRPr>
          </a:p>
        </p:txBody>
      </p:sp>
    </p:spTree>
    <p:extLst>
      <p:ext uri="{BB962C8B-B14F-4D97-AF65-F5344CB8AC3E}">
        <p14:creationId xmlns:p14="http://schemas.microsoft.com/office/powerpoint/2010/main" val="17030507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0" name="Rectangle 2"/>
          <p:cNvSpPr>
            <a:spLocks noGrp="1" noChangeArrowheads="1"/>
          </p:cNvSpPr>
          <p:nvPr>
            <p:ph type="title"/>
          </p:nvPr>
        </p:nvSpPr>
        <p:spPr/>
        <p:txBody>
          <a:bodyPr/>
          <a:lstStyle/>
          <a:p>
            <a:pPr algn="ctr"/>
            <a:r>
              <a:rPr lang="zh-CN" altLang="en-US" dirty="0"/>
              <a:t>多播路由选择协议更为复杂</a:t>
            </a:r>
          </a:p>
        </p:txBody>
      </p:sp>
      <p:sp>
        <p:nvSpPr>
          <p:cNvPr id="1010691" name="Rectangle 3"/>
          <p:cNvSpPr>
            <a:spLocks noGrp="1" noChangeArrowheads="1"/>
          </p:cNvSpPr>
          <p:nvPr>
            <p:ph type="body"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多播转发必须</a:t>
            </a:r>
            <a:r>
              <a:rPr lang="zh-CN" altLang="en-US" dirty="0">
                <a:solidFill>
                  <a:srgbClr val="FF0000"/>
                </a:solidFill>
              </a:rPr>
              <a:t>动态地适应多播组成员的变化</a:t>
            </a:r>
            <a:r>
              <a:rPr lang="zh-CN" altLang="en-US" dirty="0"/>
              <a:t>（这时网络拓扑并未发生变化）。请注意，单播路由选择通常是在网络拓扑发生变化时才需要更新路由。</a:t>
            </a:r>
          </a:p>
          <a:p>
            <a:r>
              <a:rPr lang="zh-CN" altLang="en-US" dirty="0"/>
              <a:t>多播路由器在转发多播数据报时，不能仅仅根据多播数据报中的</a:t>
            </a:r>
            <a:r>
              <a:rPr lang="zh-CN" altLang="en-US" dirty="0">
                <a:solidFill>
                  <a:srgbClr val="FF0000"/>
                </a:solidFill>
              </a:rPr>
              <a:t>目的地址，</a:t>
            </a:r>
            <a:r>
              <a:rPr lang="zh-CN" altLang="en-US" dirty="0"/>
              <a:t>而是还要考虑这个多播数据报</a:t>
            </a:r>
            <a:r>
              <a:rPr lang="zh-CN" altLang="en-US" dirty="0">
                <a:solidFill>
                  <a:srgbClr val="FF0000"/>
                </a:solidFill>
              </a:rPr>
              <a:t>从什么地方来和要到什么地方去。</a:t>
            </a:r>
            <a:r>
              <a:rPr lang="zh-CN" altLang="en-US" dirty="0"/>
              <a:t> </a:t>
            </a:r>
          </a:p>
          <a:p>
            <a:r>
              <a:rPr lang="zh-CN" altLang="en-US" dirty="0"/>
              <a:t>多播数据报</a:t>
            </a:r>
            <a:r>
              <a:rPr lang="zh-CN" altLang="en-US" dirty="0">
                <a:solidFill>
                  <a:srgbClr val="FF0000"/>
                </a:solidFill>
              </a:rPr>
              <a:t>可以由没有加入多播组的主机发出，</a:t>
            </a:r>
            <a:r>
              <a:rPr lang="zh-CN" altLang="en-US" dirty="0"/>
              <a:t>也可以通过没有组成员接入的网络。 </a:t>
            </a:r>
          </a:p>
        </p:txBody>
      </p:sp>
    </p:spTree>
    <p:extLst>
      <p:ext uri="{BB962C8B-B14F-4D97-AF65-F5344CB8AC3E}">
        <p14:creationId xmlns:p14="http://schemas.microsoft.com/office/powerpoint/2010/main" val="308442528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ChangeArrowheads="1"/>
          </p:cNvSpPr>
          <p:nvPr>
            <p:ph type="title"/>
          </p:nvPr>
        </p:nvSpPr>
        <p:spPr/>
        <p:txBody>
          <a:bodyPr/>
          <a:lstStyle/>
          <a:p>
            <a:r>
              <a:rPr lang="en-US" altLang="zh-CN" dirty="0"/>
              <a:t>2.  </a:t>
            </a:r>
            <a:r>
              <a:rPr lang="zh-CN" altLang="en-US" dirty="0"/>
              <a:t>网际组管理协议 </a:t>
            </a:r>
            <a:r>
              <a:rPr lang="en-US" altLang="zh-CN" dirty="0"/>
              <a:t>IGMP </a:t>
            </a:r>
          </a:p>
        </p:txBody>
      </p:sp>
      <p:sp>
        <p:nvSpPr>
          <p:cNvPr id="1011715" name="Rectangle 3"/>
          <p:cNvSpPr>
            <a:spLocks noGrp="1" noChangeArrowheads="1"/>
          </p:cNvSpPr>
          <p:nvPr>
            <p:ph idx="1"/>
          </p:nvPr>
        </p:nvSpPr>
        <p:spPr/>
        <p:txBody>
          <a:bodyPr/>
          <a:lstStyle/>
          <a:p>
            <a:r>
              <a:rPr lang="en-US" altLang="zh-CN" dirty="0"/>
              <a:t>1989 </a:t>
            </a:r>
            <a:r>
              <a:rPr lang="zh-CN" altLang="en-US" dirty="0"/>
              <a:t>年公布的 </a:t>
            </a:r>
            <a:r>
              <a:rPr lang="en-US" altLang="zh-CN" dirty="0"/>
              <a:t>RFC 1112</a:t>
            </a:r>
            <a:r>
              <a:rPr lang="zh-CN" altLang="en-US" dirty="0"/>
              <a:t>（</a:t>
            </a:r>
            <a:r>
              <a:rPr lang="en-US" altLang="zh-CN" dirty="0">
                <a:solidFill>
                  <a:srgbClr val="0000FF"/>
                </a:solidFill>
              </a:rPr>
              <a:t>IGMPv1</a:t>
            </a:r>
            <a:r>
              <a:rPr lang="zh-CN" altLang="en-US" dirty="0"/>
              <a:t>）早已成为了互联网的标准协议。</a:t>
            </a:r>
          </a:p>
          <a:p>
            <a:r>
              <a:rPr lang="en-US" altLang="zh-CN" dirty="0"/>
              <a:t>1997 </a:t>
            </a:r>
            <a:r>
              <a:rPr lang="zh-CN" altLang="en-US" dirty="0"/>
              <a:t>年公布的 </a:t>
            </a:r>
            <a:r>
              <a:rPr lang="en-US" altLang="zh-CN" dirty="0"/>
              <a:t>RFC 2236</a:t>
            </a:r>
            <a:r>
              <a:rPr lang="zh-CN" altLang="en-US" dirty="0"/>
              <a:t>（</a:t>
            </a:r>
            <a:r>
              <a:rPr lang="en-US" altLang="zh-CN" dirty="0">
                <a:solidFill>
                  <a:srgbClr val="0000FF"/>
                </a:solidFill>
              </a:rPr>
              <a:t>IGMPv2</a:t>
            </a:r>
            <a:r>
              <a:rPr lang="zh-CN" altLang="en-US" dirty="0">
                <a:solidFill>
                  <a:srgbClr val="0000FF"/>
                </a:solidFill>
              </a:rPr>
              <a:t>，</a:t>
            </a:r>
            <a:r>
              <a:rPr lang="zh-CN" altLang="en-US" dirty="0"/>
              <a:t>建议标准）对 </a:t>
            </a:r>
            <a:r>
              <a:rPr lang="en-US" altLang="zh-CN" dirty="0"/>
              <a:t>IGMPv1 </a:t>
            </a:r>
            <a:r>
              <a:rPr lang="zh-CN" altLang="en-US" dirty="0"/>
              <a:t>进行了更新。</a:t>
            </a:r>
          </a:p>
          <a:p>
            <a:r>
              <a:rPr lang="en-US" altLang="zh-CN" dirty="0"/>
              <a:t>2002 </a:t>
            </a:r>
            <a:r>
              <a:rPr lang="zh-CN" altLang="en-US" dirty="0"/>
              <a:t>年 </a:t>
            </a:r>
            <a:r>
              <a:rPr lang="en-US" altLang="zh-CN" dirty="0"/>
              <a:t>10 </a:t>
            </a:r>
            <a:r>
              <a:rPr lang="zh-CN" altLang="en-US" dirty="0"/>
              <a:t>月公布了 </a:t>
            </a:r>
            <a:r>
              <a:rPr lang="en-US" altLang="zh-CN" dirty="0"/>
              <a:t>RFC 3376</a:t>
            </a:r>
            <a:r>
              <a:rPr lang="zh-CN" altLang="en-US" dirty="0"/>
              <a:t>（</a:t>
            </a:r>
            <a:r>
              <a:rPr lang="en-US" altLang="zh-CN" dirty="0">
                <a:solidFill>
                  <a:srgbClr val="0000FF"/>
                </a:solidFill>
              </a:rPr>
              <a:t>IGMPv3</a:t>
            </a:r>
            <a:r>
              <a:rPr lang="zh-CN" altLang="en-US" dirty="0">
                <a:solidFill>
                  <a:srgbClr val="0000FF"/>
                </a:solidFill>
              </a:rPr>
              <a:t>，</a:t>
            </a:r>
            <a:r>
              <a:rPr lang="zh-CN" altLang="en-US" dirty="0"/>
              <a:t>建议标准），宣布 </a:t>
            </a:r>
            <a:r>
              <a:rPr lang="en-US" altLang="zh-CN" dirty="0"/>
              <a:t>RFC 2236</a:t>
            </a:r>
            <a:r>
              <a:rPr lang="zh-CN" altLang="en-US" dirty="0"/>
              <a:t>（</a:t>
            </a:r>
            <a:r>
              <a:rPr lang="en-US" altLang="zh-CN" dirty="0"/>
              <a:t>IGMPv2</a:t>
            </a:r>
            <a:r>
              <a:rPr lang="zh-CN" altLang="en-US" dirty="0"/>
              <a:t>）是陈旧的。</a:t>
            </a:r>
          </a:p>
        </p:txBody>
      </p:sp>
    </p:spTree>
    <p:extLst>
      <p:ext uri="{BB962C8B-B14F-4D97-AF65-F5344CB8AC3E}">
        <p14:creationId xmlns:p14="http://schemas.microsoft.com/office/powerpoint/2010/main" val="154893485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p:txBody>
          <a:bodyPr/>
          <a:lstStyle/>
          <a:p>
            <a:pPr algn="ctr"/>
            <a:r>
              <a:rPr lang="en-US" altLang="zh-CN" dirty="0"/>
              <a:t>IGMP </a:t>
            </a:r>
            <a:r>
              <a:rPr lang="zh-CN" altLang="en-US" dirty="0"/>
              <a:t>工作可分为两个阶段 </a:t>
            </a:r>
          </a:p>
        </p:txBody>
      </p:sp>
      <p:sp>
        <p:nvSpPr>
          <p:cNvPr id="616451" name="Rectangle 3"/>
          <p:cNvSpPr>
            <a:spLocks noGrp="1" noChangeArrowheads="1"/>
          </p:cNvSpPr>
          <p:nvPr>
            <p:ph idx="1"/>
          </p:nvPr>
        </p:nvSpPr>
        <p:spPr/>
        <p:txBody>
          <a:bodyPr/>
          <a:lstStyle/>
          <a:p>
            <a:r>
              <a:rPr lang="zh-CN" altLang="en-US" dirty="0">
                <a:solidFill>
                  <a:srgbClr val="FF0000"/>
                </a:solidFill>
              </a:rPr>
              <a:t>第一阶段：加入多播组。</a:t>
            </a:r>
            <a:endParaRPr lang="en-US" altLang="zh-CN" dirty="0">
              <a:solidFill>
                <a:srgbClr val="FF0000"/>
              </a:solidFill>
            </a:endParaRPr>
          </a:p>
          <a:p>
            <a:pPr lvl="1"/>
            <a:r>
              <a:rPr lang="zh-CN" altLang="en-US" dirty="0"/>
              <a:t>当某个主机加入新的多播组时，该主机应向多播组的多播地址发送 </a:t>
            </a:r>
            <a:r>
              <a:rPr lang="en-US" altLang="zh-CN" dirty="0"/>
              <a:t>IGMP </a:t>
            </a:r>
            <a:r>
              <a:rPr lang="zh-CN" altLang="en-US" dirty="0"/>
              <a:t>报文，</a:t>
            </a:r>
            <a:r>
              <a:rPr lang="zh-CN" altLang="en-US" dirty="0">
                <a:solidFill>
                  <a:srgbClr val="FF0000"/>
                </a:solidFill>
              </a:rPr>
              <a:t>声明</a:t>
            </a:r>
            <a:r>
              <a:rPr lang="zh-CN" altLang="en-US" dirty="0"/>
              <a:t>自己要成为该组的成员。</a:t>
            </a:r>
            <a:endParaRPr lang="en-US" altLang="zh-CN" dirty="0"/>
          </a:p>
          <a:p>
            <a:pPr lvl="1"/>
            <a:r>
              <a:rPr lang="zh-CN" altLang="en-US" dirty="0"/>
              <a:t>本地的多播路由器收到 </a:t>
            </a:r>
            <a:r>
              <a:rPr lang="en-US" altLang="zh-CN" dirty="0"/>
              <a:t>IGMP </a:t>
            </a:r>
            <a:r>
              <a:rPr lang="zh-CN" altLang="en-US" dirty="0"/>
              <a:t>报文后，将组成员关系转发给互联网上的其他多播路由器。</a:t>
            </a:r>
          </a:p>
        </p:txBody>
      </p:sp>
    </p:spTree>
    <p:extLst>
      <p:ext uri="{BB962C8B-B14F-4D97-AF65-F5344CB8AC3E}">
        <p14:creationId xmlns:p14="http://schemas.microsoft.com/office/powerpoint/2010/main" val="169748466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pPr algn="ctr"/>
            <a:r>
              <a:rPr lang="en-US" altLang="zh-CN"/>
              <a:t>IGMP </a:t>
            </a:r>
            <a:r>
              <a:rPr lang="zh-CN" altLang="en-US"/>
              <a:t>可分为两个阶段 </a:t>
            </a:r>
          </a:p>
        </p:txBody>
      </p:sp>
      <p:sp>
        <p:nvSpPr>
          <p:cNvPr id="617475" name="Rectangle 3"/>
          <p:cNvSpPr>
            <a:spLocks noGrp="1" noChangeArrowheads="1"/>
          </p:cNvSpPr>
          <p:nvPr>
            <p:ph idx="1"/>
          </p:nvPr>
        </p:nvSpPr>
        <p:spPr/>
        <p:txBody>
          <a:bodyPr/>
          <a:lstStyle/>
          <a:p>
            <a:r>
              <a:rPr lang="zh-CN" altLang="en-US" dirty="0">
                <a:solidFill>
                  <a:srgbClr val="FF0000"/>
                </a:solidFill>
              </a:rPr>
              <a:t>第二阶段：探询组成员变化情况。</a:t>
            </a:r>
            <a:endParaRPr lang="en-US" altLang="zh-CN" dirty="0">
              <a:solidFill>
                <a:srgbClr val="FF0000"/>
              </a:solidFill>
            </a:endParaRPr>
          </a:p>
          <a:p>
            <a:pPr lvl="1"/>
            <a:r>
              <a:rPr lang="zh-CN" altLang="en-US" dirty="0"/>
              <a:t>因为组成员关系是</a:t>
            </a:r>
            <a:r>
              <a:rPr lang="zh-CN" altLang="en-US" dirty="0">
                <a:solidFill>
                  <a:srgbClr val="FF0000"/>
                </a:solidFill>
              </a:rPr>
              <a:t>动态</a:t>
            </a:r>
            <a:r>
              <a:rPr lang="zh-CN" altLang="en-US" dirty="0"/>
              <a:t>的，因此</a:t>
            </a:r>
            <a:r>
              <a:rPr lang="zh-CN" altLang="en-US" dirty="0">
                <a:solidFill>
                  <a:srgbClr val="FF0000"/>
                </a:solidFill>
              </a:rPr>
              <a:t>本地多播路由器</a:t>
            </a:r>
            <a:r>
              <a:rPr lang="zh-CN" altLang="en-US" dirty="0"/>
              <a:t>要</a:t>
            </a:r>
            <a:r>
              <a:rPr lang="zh-CN" altLang="en-US" dirty="0">
                <a:solidFill>
                  <a:srgbClr val="FF0000"/>
                </a:solidFill>
              </a:rPr>
              <a:t>周期性地探询本地局域网上的主机，</a:t>
            </a:r>
            <a:r>
              <a:rPr lang="zh-CN" altLang="en-US" dirty="0"/>
              <a:t>以便知道这些主机是否还继续是组的成员。</a:t>
            </a:r>
          </a:p>
          <a:p>
            <a:pPr lvl="1"/>
            <a:r>
              <a:rPr lang="zh-CN" altLang="en-US" dirty="0">
                <a:solidFill>
                  <a:srgbClr val="0000FF"/>
                </a:solidFill>
              </a:rPr>
              <a:t>只要对某个组有一个主机响应，那么多播路由器就认为这个组是活跃的。</a:t>
            </a:r>
          </a:p>
          <a:p>
            <a:pPr lvl="1"/>
            <a:r>
              <a:rPr lang="zh-CN" altLang="en-US" dirty="0"/>
              <a:t>但一个组在经过几次的探询后仍然没有一个主机响应，则不再将该组的成员关系转发给其他的多播路由器。</a:t>
            </a:r>
          </a:p>
        </p:txBody>
      </p:sp>
    </p:spTree>
    <p:extLst>
      <p:ext uri="{BB962C8B-B14F-4D97-AF65-F5344CB8AC3E}">
        <p14:creationId xmlns:p14="http://schemas.microsoft.com/office/powerpoint/2010/main" val="3301505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7475">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74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（下）</a:t>
            </a:r>
          </a:p>
        </p:txBody>
      </p:sp>
      <p:sp>
        <p:nvSpPr>
          <p:cNvPr id="3" name="内容占位符 2"/>
          <p:cNvSpPr>
            <a:spLocks noGrp="1"/>
          </p:cNvSpPr>
          <p:nvPr>
            <p:ph idx="1"/>
          </p:nvPr>
        </p:nvSpPr>
        <p:spPr/>
        <p:txBody>
          <a:bodyPr/>
          <a:lstStyle/>
          <a:p>
            <a:pPr>
              <a:lnSpc>
                <a:spcPct val="100000"/>
              </a:lnSpc>
            </a:pPr>
            <a:r>
              <a:rPr lang="zh-CN" altLang="zh-CN" dirty="0">
                <a:solidFill>
                  <a:schemeClr val="bg1">
                    <a:lumMod val="75000"/>
                  </a:schemeClr>
                </a:solidFill>
              </a:rPr>
              <a:t>划分子网</a:t>
            </a:r>
            <a:endParaRPr lang="en-US" altLang="zh-CN" dirty="0">
              <a:solidFill>
                <a:schemeClr val="bg1">
                  <a:lumMod val="75000"/>
                </a:schemeClr>
              </a:solidFill>
            </a:endParaRPr>
          </a:p>
          <a:p>
            <a:pPr>
              <a:lnSpc>
                <a:spcPct val="100000"/>
              </a:lnSpc>
            </a:pPr>
            <a:r>
              <a:rPr lang="zh-CN" altLang="zh-CN" dirty="0">
                <a:solidFill>
                  <a:schemeClr val="bg1">
                    <a:lumMod val="75000"/>
                  </a:schemeClr>
                </a:solidFill>
              </a:rPr>
              <a:t>构造超网</a:t>
            </a:r>
          </a:p>
          <a:p>
            <a:pPr>
              <a:lnSpc>
                <a:spcPct val="100000"/>
              </a:lnSpc>
            </a:pPr>
            <a:r>
              <a:rPr lang="zh-CN" altLang="zh-CN" dirty="0">
                <a:solidFill>
                  <a:schemeClr val="bg1">
                    <a:lumMod val="75000"/>
                  </a:schemeClr>
                </a:solidFill>
              </a:rPr>
              <a:t>互联网的路由选择协议</a:t>
            </a:r>
          </a:p>
          <a:p>
            <a:pPr>
              <a:lnSpc>
                <a:spcPct val="100000"/>
              </a:lnSpc>
            </a:pPr>
            <a:r>
              <a:rPr lang="en-US" altLang="zh-CN" dirty="0">
                <a:solidFill>
                  <a:schemeClr val="bg1">
                    <a:lumMod val="75000"/>
                  </a:schemeClr>
                </a:solidFill>
              </a:rPr>
              <a:t>IPv6</a:t>
            </a:r>
            <a:endParaRPr lang="zh-CN" altLang="zh-CN" dirty="0">
              <a:solidFill>
                <a:schemeClr val="bg1">
                  <a:lumMod val="75000"/>
                </a:schemeClr>
              </a:solidFill>
            </a:endParaRPr>
          </a:p>
          <a:p>
            <a:pPr>
              <a:lnSpc>
                <a:spcPct val="100000"/>
              </a:lnSpc>
            </a:pPr>
            <a:r>
              <a:rPr lang="en-US" altLang="zh-CN" dirty="0">
                <a:solidFill>
                  <a:schemeClr val="bg1">
                    <a:lumMod val="75000"/>
                  </a:schemeClr>
                </a:solidFill>
              </a:rPr>
              <a:t>IP</a:t>
            </a:r>
            <a:r>
              <a:rPr lang="zh-CN" altLang="zh-CN" dirty="0">
                <a:solidFill>
                  <a:schemeClr val="bg1">
                    <a:lumMod val="75000"/>
                  </a:schemeClr>
                </a:solidFill>
              </a:rPr>
              <a:t>多播</a:t>
            </a:r>
          </a:p>
          <a:p>
            <a:pPr>
              <a:lnSpc>
                <a:spcPct val="100000"/>
              </a:lnSpc>
            </a:pPr>
            <a:r>
              <a:rPr lang="zh-CN" altLang="zh-CN" sz="3600" dirty="0">
                <a:solidFill>
                  <a:srgbClr val="FF0000"/>
                </a:solidFill>
              </a:rPr>
              <a:t>虚拟专用网</a:t>
            </a:r>
            <a:r>
              <a:rPr lang="en-US" altLang="zh-CN" sz="3600" dirty="0">
                <a:solidFill>
                  <a:srgbClr val="FF0000"/>
                </a:solidFill>
              </a:rPr>
              <a:t> VPN</a:t>
            </a:r>
          </a:p>
          <a:p>
            <a:pPr>
              <a:lnSpc>
                <a:spcPct val="100000"/>
              </a:lnSpc>
            </a:pPr>
            <a:r>
              <a:rPr lang="zh-CN" altLang="zh-CN" dirty="0">
                <a:solidFill>
                  <a:schemeClr val="bg1">
                    <a:lumMod val="75000"/>
                  </a:schemeClr>
                </a:solidFill>
              </a:rPr>
              <a:t>网络地址转换</a:t>
            </a:r>
            <a:r>
              <a:rPr lang="en-US" altLang="zh-CN" dirty="0">
                <a:solidFill>
                  <a:schemeClr val="bg1">
                    <a:lumMod val="75000"/>
                  </a:schemeClr>
                </a:solidFill>
              </a:rPr>
              <a:t> NAT</a:t>
            </a:r>
            <a:endParaRPr lang="zh-CN" altLang="zh-CN" dirty="0">
              <a:solidFill>
                <a:schemeClr val="bg1">
                  <a:lumMod val="75000"/>
                </a:schemeClr>
              </a:solidFill>
            </a:endParaRPr>
          </a:p>
        </p:txBody>
      </p:sp>
    </p:spTree>
    <p:extLst>
      <p:ext uri="{BB962C8B-B14F-4D97-AF65-F5344CB8AC3E}">
        <p14:creationId xmlns:p14="http://schemas.microsoft.com/office/powerpoint/2010/main" val="22487122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虚拟专用网</a:t>
            </a:r>
            <a:r>
              <a:rPr lang="en-US" altLang="zh-CN" dirty="0"/>
              <a:t> VPN</a:t>
            </a:r>
            <a:endParaRPr lang="zh-CN" altLang="en-US" dirty="0"/>
          </a:p>
        </p:txBody>
      </p:sp>
      <p:sp>
        <p:nvSpPr>
          <p:cNvPr id="3" name="内容占位符 2"/>
          <p:cNvSpPr>
            <a:spLocks noGrp="1"/>
          </p:cNvSpPr>
          <p:nvPr>
            <p:ph idx="1"/>
          </p:nvPr>
        </p:nvSpPr>
        <p:spPr/>
        <p:txBody>
          <a:bodyPr/>
          <a:lstStyle/>
          <a:p>
            <a:r>
              <a:rPr lang="zh-CN" altLang="zh-CN" dirty="0"/>
              <a:t>由于</a:t>
            </a:r>
            <a:r>
              <a:rPr lang="en-US" altLang="zh-CN" dirty="0"/>
              <a:t> </a:t>
            </a:r>
            <a:r>
              <a:rPr lang="en-US" altLang="zh-CN" dirty="0">
                <a:solidFill>
                  <a:srgbClr val="FF0000"/>
                </a:solidFill>
              </a:rPr>
              <a:t>IP </a:t>
            </a:r>
            <a:r>
              <a:rPr lang="zh-CN" altLang="zh-CN" dirty="0">
                <a:solidFill>
                  <a:srgbClr val="FF0000"/>
                </a:solidFill>
              </a:rPr>
              <a:t>地址的紧缺，</a:t>
            </a:r>
            <a:r>
              <a:rPr lang="zh-CN" altLang="zh-CN" dirty="0"/>
              <a:t>一个机构能够申请到的</a:t>
            </a:r>
            <a:r>
              <a:rPr lang="en-US" altLang="zh-CN" dirty="0"/>
              <a:t>IP</a:t>
            </a:r>
            <a:r>
              <a:rPr lang="zh-CN" altLang="zh-CN" dirty="0"/>
              <a:t>地址数往往远小于本机构所拥有的主机数。</a:t>
            </a:r>
            <a:endParaRPr lang="en-US" altLang="zh-CN" dirty="0"/>
          </a:p>
          <a:p>
            <a:r>
              <a:rPr lang="zh-CN" altLang="zh-CN" dirty="0"/>
              <a:t>考虑到</a:t>
            </a:r>
            <a:r>
              <a:rPr lang="zh-CN" altLang="zh-CN" dirty="0">
                <a:solidFill>
                  <a:srgbClr val="FF0000"/>
                </a:solidFill>
              </a:rPr>
              <a:t>互联网并不很安全，</a:t>
            </a:r>
            <a:r>
              <a:rPr lang="zh-CN" altLang="zh-CN" dirty="0"/>
              <a:t>一个机构内也并不需要把所有的主机接入到外部的互联网。</a:t>
            </a:r>
            <a:endParaRPr lang="en-US" altLang="zh-CN" dirty="0"/>
          </a:p>
          <a:p>
            <a:r>
              <a:rPr lang="zh-CN" altLang="zh-CN" dirty="0"/>
              <a:t>假定在一个机构内部的计算机通信也是采用</a:t>
            </a:r>
            <a:r>
              <a:rPr lang="en-US" altLang="zh-CN" dirty="0"/>
              <a:t> TCP/IP </a:t>
            </a:r>
            <a:r>
              <a:rPr lang="zh-CN" altLang="zh-CN" dirty="0"/>
              <a:t>协议，那么从原则上讲，对于这些仅在</a:t>
            </a:r>
            <a:r>
              <a:rPr lang="zh-CN" altLang="zh-CN" dirty="0">
                <a:solidFill>
                  <a:srgbClr val="FF0000"/>
                </a:solidFill>
              </a:rPr>
              <a:t>机构内部使用</a:t>
            </a:r>
            <a:r>
              <a:rPr lang="zh-CN" altLang="zh-CN" dirty="0"/>
              <a:t>的计算机就可以由本机构</a:t>
            </a:r>
            <a:r>
              <a:rPr lang="zh-CN" altLang="zh-CN" dirty="0">
                <a:solidFill>
                  <a:srgbClr val="FF0000"/>
                </a:solidFill>
              </a:rPr>
              <a:t>自行分配其</a:t>
            </a:r>
            <a:r>
              <a:rPr lang="en-US" altLang="zh-CN" dirty="0">
                <a:solidFill>
                  <a:srgbClr val="FF0000"/>
                </a:solidFill>
              </a:rPr>
              <a:t> IP </a:t>
            </a:r>
            <a:r>
              <a:rPr lang="zh-CN" altLang="zh-CN" dirty="0">
                <a:solidFill>
                  <a:srgbClr val="FF0000"/>
                </a:solidFill>
              </a:rPr>
              <a:t>地址。</a:t>
            </a:r>
            <a:endParaRPr lang="zh-CN" altLang="en-US" dirty="0">
              <a:solidFill>
                <a:srgbClr val="FF0000"/>
              </a:solidFill>
            </a:endParaRPr>
          </a:p>
        </p:txBody>
      </p:sp>
    </p:spTree>
    <p:extLst>
      <p:ext uri="{BB962C8B-B14F-4D97-AF65-F5344CB8AC3E}">
        <p14:creationId xmlns:p14="http://schemas.microsoft.com/office/powerpoint/2010/main" val="31862854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本地地址与全球地址</a:t>
            </a:r>
          </a:p>
        </p:txBody>
      </p:sp>
      <p:sp>
        <p:nvSpPr>
          <p:cNvPr id="3" name="内容占位符 2"/>
          <p:cNvSpPr>
            <a:spLocks noGrp="1"/>
          </p:cNvSpPr>
          <p:nvPr>
            <p:ph idx="1"/>
          </p:nvPr>
        </p:nvSpPr>
        <p:spPr/>
        <p:txBody>
          <a:bodyPr/>
          <a:lstStyle/>
          <a:p>
            <a:r>
              <a:rPr lang="zh-CN" altLang="en-US" dirty="0">
                <a:solidFill>
                  <a:srgbClr val="FF0000"/>
                </a:solidFill>
              </a:rPr>
              <a:t>本地地址</a:t>
            </a:r>
            <a:r>
              <a:rPr lang="en-US" altLang="zh-CN" dirty="0"/>
              <a:t>——</a:t>
            </a:r>
            <a:r>
              <a:rPr lang="zh-CN" altLang="en-US" dirty="0"/>
              <a:t>仅在机构内部使用的 </a:t>
            </a:r>
            <a:r>
              <a:rPr lang="en-US" altLang="zh-CN" dirty="0"/>
              <a:t>IP </a:t>
            </a:r>
            <a:r>
              <a:rPr lang="zh-CN" altLang="en-US" dirty="0"/>
              <a:t>地址，可以由本机构自行分配，而不需要向互联网的管理机构申请。</a:t>
            </a:r>
          </a:p>
          <a:p>
            <a:r>
              <a:rPr lang="zh-CN" altLang="en-US" dirty="0">
                <a:solidFill>
                  <a:srgbClr val="FF0000"/>
                </a:solidFill>
              </a:rPr>
              <a:t>全球地址</a:t>
            </a:r>
            <a:r>
              <a:rPr lang="en-US" altLang="zh-CN" dirty="0"/>
              <a:t>——</a:t>
            </a:r>
            <a:r>
              <a:rPr lang="zh-CN" altLang="en-US" dirty="0"/>
              <a:t>全球唯一的 </a:t>
            </a:r>
            <a:r>
              <a:rPr lang="en-US" altLang="zh-CN" dirty="0"/>
              <a:t>IP </a:t>
            </a:r>
            <a:r>
              <a:rPr lang="zh-CN" altLang="en-US" dirty="0"/>
              <a:t>地址，必须向互联网的管理机构申请。 </a:t>
            </a:r>
            <a:endParaRPr lang="en-US" altLang="zh-CN" dirty="0"/>
          </a:p>
          <a:p>
            <a:r>
              <a:rPr lang="zh-CN" altLang="en-US" dirty="0">
                <a:solidFill>
                  <a:srgbClr val="FF0000"/>
                </a:solidFill>
              </a:rPr>
              <a:t>问题：</a:t>
            </a:r>
            <a:r>
              <a:rPr lang="zh-CN" altLang="zh-CN" dirty="0"/>
              <a:t>在内部使用的本地地址就有可能和互联网中某个</a:t>
            </a:r>
            <a:r>
              <a:rPr lang="en-US" altLang="zh-CN" dirty="0"/>
              <a:t> IP </a:t>
            </a:r>
            <a:r>
              <a:rPr lang="zh-CN" altLang="zh-CN" dirty="0"/>
              <a:t>地址重合，这样就会出现地址的二义性问题。</a:t>
            </a:r>
            <a:endParaRPr lang="zh-CN" altLang="en-US" dirty="0"/>
          </a:p>
          <a:p>
            <a:endParaRPr lang="zh-CN" altLang="en-US" dirty="0"/>
          </a:p>
        </p:txBody>
      </p:sp>
    </p:spTree>
    <p:extLst>
      <p:ext uri="{BB962C8B-B14F-4D97-AF65-F5344CB8AC3E}">
        <p14:creationId xmlns:p14="http://schemas.microsoft.com/office/powerpoint/2010/main" val="91489907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本地地址与全球地址</a:t>
            </a:r>
          </a:p>
        </p:txBody>
      </p:sp>
      <p:sp>
        <p:nvSpPr>
          <p:cNvPr id="3" name="内容占位符 2"/>
          <p:cNvSpPr>
            <a:spLocks noGrp="1"/>
          </p:cNvSpPr>
          <p:nvPr>
            <p:ph idx="1"/>
          </p:nvPr>
        </p:nvSpPr>
        <p:spPr/>
        <p:txBody>
          <a:bodyPr/>
          <a:lstStyle/>
          <a:p>
            <a:pPr>
              <a:spcBef>
                <a:spcPts val="1200"/>
              </a:spcBef>
            </a:pPr>
            <a:r>
              <a:rPr lang="zh-CN" altLang="en-US" dirty="0">
                <a:solidFill>
                  <a:srgbClr val="FF0000"/>
                </a:solidFill>
              </a:rPr>
              <a:t>问题：</a:t>
            </a:r>
            <a:r>
              <a:rPr lang="zh-CN" altLang="zh-CN" dirty="0"/>
              <a:t>在内部使用的本地地址就有可能和互联网中某个</a:t>
            </a:r>
            <a:r>
              <a:rPr lang="en-US" altLang="zh-CN" dirty="0"/>
              <a:t> IP </a:t>
            </a:r>
            <a:r>
              <a:rPr lang="zh-CN" altLang="zh-CN" dirty="0"/>
              <a:t>地址重合，这样就会出现地址的</a:t>
            </a:r>
            <a:r>
              <a:rPr lang="zh-CN" altLang="zh-CN" dirty="0">
                <a:solidFill>
                  <a:srgbClr val="FF0000"/>
                </a:solidFill>
              </a:rPr>
              <a:t>二义性</a:t>
            </a:r>
            <a:r>
              <a:rPr lang="zh-CN" altLang="zh-CN" dirty="0"/>
              <a:t>问题。</a:t>
            </a:r>
            <a:endParaRPr lang="en-US" altLang="zh-CN" dirty="0"/>
          </a:p>
          <a:p>
            <a:pPr>
              <a:spcBef>
                <a:spcPts val="1200"/>
              </a:spcBef>
            </a:pPr>
            <a:r>
              <a:rPr lang="zh-CN" altLang="en-US" dirty="0">
                <a:solidFill>
                  <a:srgbClr val="0000FF"/>
                </a:solidFill>
              </a:rPr>
              <a:t>解决：</a:t>
            </a:r>
            <a:r>
              <a:rPr lang="en-US" altLang="zh-CN" dirty="0"/>
              <a:t>RFC 1918 </a:t>
            </a:r>
            <a:r>
              <a:rPr lang="zh-CN" altLang="zh-CN" dirty="0"/>
              <a:t>指明了一些</a:t>
            </a:r>
            <a:r>
              <a:rPr lang="zh-CN" altLang="zh-CN" dirty="0">
                <a:solidFill>
                  <a:srgbClr val="FF0000"/>
                </a:solidFill>
              </a:rPr>
              <a:t>专用地址</a:t>
            </a:r>
            <a:r>
              <a:rPr lang="en-US" altLang="zh-CN" dirty="0">
                <a:solidFill>
                  <a:srgbClr val="FF0000"/>
                </a:solidFill>
              </a:rPr>
              <a:t> </a:t>
            </a:r>
            <a:r>
              <a:rPr lang="en-US" altLang="zh-CN" dirty="0"/>
              <a:t>(private address)</a:t>
            </a:r>
            <a:r>
              <a:rPr lang="zh-CN" altLang="zh-CN" dirty="0"/>
              <a:t>。</a:t>
            </a:r>
            <a:r>
              <a:rPr lang="zh-CN" altLang="zh-CN" dirty="0">
                <a:solidFill>
                  <a:srgbClr val="0000FF"/>
                </a:solidFill>
              </a:rPr>
              <a:t>专用地址只能用作本地地址</a:t>
            </a:r>
            <a:r>
              <a:rPr lang="zh-CN" altLang="zh-CN" dirty="0"/>
              <a:t>而不能用作全球地址。</a:t>
            </a:r>
            <a:r>
              <a:rPr lang="zh-CN" altLang="zh-CN" dirty="0">
                <a:solidFill>
                  <a:srgbClr val="FF0000"/>
                </a:solidFill>
              </a:rPr>
              <a:t>在互联网中的所有路由器，对目的地址是专用地址的数据报一律不进行转发。</a:t>
            </a:r>
            <a:endParaRPr lang="zh-CN" altLang="en-US" dirty="0">
              <a:solidFill>
                <a:srgbClr val="FF0000"/>
              </a:solidFill>
            </a:endParaRPr>
          </a:p>
          <a:p>
            <a:pPr>
              <a:spcBef>
                <a:spcPts val="1200"/>
              </a:spcBef>
            </a:pPr>
            <a:endParaRPr lang="zh-CN" altLang="en-US" dirty="0"/>
          </a:p>
        </p:txBody>
      </p:sp>
    </p:spTree>
    <p:extLst>
      <p:ext uri="{BB962C8B-B14F-4D97-AF65-F5344CB8AC3E}">
        <p14:creationId xmlns:p14="http://schemas.microsoft.com/office/powerpoint/2010/main" val="38124481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pPr algn="ctr"/>
            <a:r>
              <a:rPr lang="en-US" altLang="zh-CN" dirty="0"/>
              <a:t>RFC 1918 </a:t>
            </a:r>
            <a:r>
              <a:rPr lang="zh-CN" altLang="en-US" dirty="0"/>
              <a:t>指明的专用 </a:t>
            </a:r>
            <a:r>
              <a:rPr lang="en-US" altLang="zh-CN" dirty="0"/>
              <a:t>IP </a:t>
            </a:r>
            <a:r>
              <a:rPr lang="zh-CN" altLang="en-US" dirty="0"/>
              <a:t>地址</a:t>
            </a:r>
            <a:endParaRPr lang="en-US" altLang="zh-CN" dirty="0"/>
          </a:p>
        </p:txBody>
      </p:sp>
      <p:sp>
        <p:nvSpPr>
          <p:cNvPr id="3" name="矩形 2"/>
          <p:cNvSpPr/>
          <p:nvPr/>
        </p:nvSpPr>
        <p:spPr>
          <a:xfrm>
            <a:off x="632520" y="1196752"/>
            <a:ext cx="4088555" cy="584775"/>
          </a:xfrm>
          <a:prstGeom prst="rect">
            <a:avLst/>
          </a:prstGeom>
        </p:spPr>
        <p:txBody>
          <a:bodyPr wrap="none">
            <a:spAutoFit/>
          </a:bodyPr>
          <a:lstStyle/>
          <a:p>
            <a:pPr marL="360363" indent="-360363">
              <a:buNone/>
            </a:pPr>
            <a:r>
              <a:rPr lang="zh-CN" altLang="zh-CN" sz="3200" b="1" dirty="0">
                <a:solidFill>
                  <a:srgbClr val="0000FF"/>
                </a:solidFill>
                <a:latin typeface="+mn-lt"/>
                <a:ea typeface="黑体" pitchFamily="2" charset="-122"/>
              </a:rPr>
              <a:t>三个专用</a:t>
            </a:r>
            <a:r>
              <a:rPr lang="en-US" altLang="zh-CN" sz="3200" b="1" dirty="0">
                <a:solidFill>
                  <a:srgbClr val="0000FF"/>
                </a:solidFill>
                <a:latin typeface="+mn-lt"/>
                <a:ea typeface="黑体" pitchFamily="2" charset="-122"/>
              </a:rPr>
              <a:t> IP </a:t>
            </a:r>
            <a:r>
              <a:rPr lang="zh-CN" altLang="zh-CN" sz="3200" b="1" dirty="0">
                <a:solidFill>
                  <a:srgbClr val="0000FF"/>
                </a:solidFill>
                <a:latin typeface="+mn-lt"/>
                <a:ea typeface="黑体" pitchFamily="2" charset="-122"/>
              </a:rPr>
              <a:t>地址块</a:t>
            </a:r>
            <a:r>
              <a:rPr lang="zh-CN" altLang="en-US" sz="3200" b="1" dirty="0">
                <a:solidFill>
                  <a:srgbClr val="0000FF"/>
                </a:solidFill>
                <a:latin typeface="+mn-lt"/>
                <a:ea typeface="黑体" pitchFamily="2" charset="-122"/>
              </a:rPr>
              <a:t>：</a:t>
            </a:r>
            <a:endParaRPr lang="en-US" altLang="zh-CN" sz="3200" b="1" dirty="0">
              <a:solidFill>
                <a:srgbClr val="0000FF"/>
              </a:solidFill>
              <a:latin typeface="+mn-lt"/>
              <a:ea typeface="黑体" pitchFamily="2" charset="-122"/>
            </a:endParaRPr>
          </a:p>
        </p:txBody>
      </p:sp>
      <p:sp>
        <p:nvSpPr>
          <p:cNvPr id="4" name="矩形 3"/>
          <p:cNvSpPr/>
          <p:nvPr/>
        </p:nvSpPr>
        <p:spPr>
          <a:xfrm>
            <a:off x="560512" y="1844824"/>
            <a:ext cx="9000000" cy="584775"/>
          </a:xfrm>
          <a:prstGeom prst="rect">
            <a:avLst/>
          </a:prstGeom>
          <a:solidFill>
            <a:srgbClr val="FFFF66"/>
          </a:solidFill>
        </p:spPr>
        <p:txBody>
          <a:bodyPr wrap="square">
            <a:spAutoFit/>
          </a:bodyPr>
          <a:lstStyle/>
          <a:p>
            <a:r>
              <a:rPr lang="en-US" altLang="zh-CN" sz="3200" b="1" dirty="0">
                <a:latin typeface="+mn-lt"/>
                <a:ea typeface="黑体" pitchFamily="2" charset="-122"/>
              </a:rPr>
              <a:t>(1) 10.0.0.0 </a:t>
            </a:r>
            <a:r>
              <a:rPr lang="zh-CN" altLang="en-US" sz="3200" b="1" dirty="0">
                <a:latin typeface="+mn-lt"/>
                <a:ea typeface="黑体" pitchFamily="2" charset="-122"/>
              </a:rPr>
              <a:t>到 </a:t>
            </a:r>
            <a:r>
              <a:rPr lang="en-US" altLang="zh-CN" sz="3200" b="1" dirty="0">
                <a:latin typeface="+mn-lt"/>
                <a:ea typeface="黑体" pitchFamily="2" charset="-122"/>
              </a:rPr>
              <a:t>10.255.255.255</a:t>
            </a:r>
          </a:p>
        </p:txBody>
      </p:sp>
      <p:sp>
        <p:nvSpPr>
          <p:cNvPr id="6" name="矩形 5"/>
          <p:cNvSpPr/>
          <p:nvPr/>
        </p:nvSpPr>
        <p:spPr>
          <a:xfrm>
            <a:off x="560512" y="3143290"/>
            <a:ext cx="9000000" cy="584775"/>
          </a:xfrm>
          <a:prstGeom prst="rect">
            <a:avLst/>
          </a:prstGeom>
          <a:solidFill>
            <a:srgbClr val="FFFF66"/>
          </a:solidFill>
        </p:spPr>
        <p:txBody>
          <a:bodyPr wrap="square">
            <a:spAutoFit/>
          </a:bodyPr>
          <a:lstStyle/>
          <a:p>
            <a:r>
              <a:rPr lang="en-US" altLang="zh-CN" sz="3200" b="1" dirty="0">
                <a:latin typeface="+mn-lt"/>
                <a:ea typeface="黑体" pitchFamily="2" charset="-122"/>
              </a:rPr>
              <a:t>(2) 172.16.0.0 </a:t>
            </a:r>
            <a:r>
              <a:rPr lang="zh-CN" altLang="en-US" sz="3200" b="1" dirty="0">
                <a:latin typeface="+mn-lt"/>
                <a:ea typeface="黑体" pitchFamily="2" charset="-122"/>
              </a:rPr>
              <a:t>到 </a:t>
            </a:r>
            <a:r>
              <a:rPr lang="en-US" altLang="zh-CN" sz="3200" b="1" dirty="0">
                <a:latin typeface="+mn-lt"/>
                <a:ea typeface="黑体" pitchFamily="2" charset="-122"/>
              </a:rPr>
              <a:t>172.31.255.255</a:t>
            </a:r>
          </a:p>
        </p:txBody>
      </p:sp>
      <p:sp>
        <p:nvSpPr>
          <p:cNvPr id="7" name="矩形 6"/>
          <p:cNvSpPr/>
          <p:nvPr/>
        </p:nvSpPr>
        <p:spPr>
          <a:xfrm>
            <a:off x="560512" y="4405754"/>
            <a:ext cx="9000000" cy="584775"/>
          </a:xfrm>
          <a:prstGeom prst="rect">
            <a:avLst/>
          </a:prstGeom>
          <a:solidFill>
            <a:srgbClr val="FFFF66"/>
          </a:solidFill>
        </p:spPr>
        <p:txBody>
          <a:bodyPr wrap="square">
            <a:spAutoFit/>
          </a:bodyPr>
          <a:lstStyle/>
          <a:p>
            <a:r>
              <a:rPr lang="en-US" altLang="zh-CN" sz="3200" b="1" dirty="0">
                <a:latin typeface="+mn-lt"/>
                <a:ea typeface="黑体" pitchFamily="2" charset="-122"/>
              </a:rPr>
              <a:t>(3) 192.168.0.0 </a:t>
            </a:r>
            <a:r>
              <a:rPr lang="zh-CN" altLang="en-US" sz="3200" b="1" dirty="0">
                <a:latin typeface="+mn-lt"/>
                <a:ea typeface="黑体" pitchFamily="2" charset="-122"/>
              </a:rPr>
              <a:t>到 </a:t>
            </a:r>
            <a:r>
              <a:rPr lang="en-US" altLang="zh-CN" sz="3200" b="1" dirty="0">
                <a:latin typeface="+mn-lt"/>
                <a:ea typeface="黑体" pitchFamily="2" charset="-122"/>
              </a:rPr>
              <a:t>192.168.255.255</a:t>
            </a:r>
          </a:p>
        </p:txBody>
      </p:sp>
      <p:sp>
        <p:nvSpPr>
          <p:cNvPr id="8" name="矩形 7"/>
          <p:cNvSpPr/>
          <p:nvPr/>
        </p:nvSpPr>
        <p:spPr>
          <a:xfrm>
            <a:off x="1712640" y="2442374"/>
            <a:ext cx="6971780" cy="523220"/>
          </a:xfrm>
          <a:prstGeom prst="rect">
            <a:avLst/>
          </a:prstGeom>
        </p:spPr>
        <p:txBody>
          <a:bodyPr wrap="none">
            <a:spAutoFit/>
          </a:bodyPr>
          <a:lstStyle/>
          <a:p>
            <a:r>
              <a:rPr lang="en-US" altLang="zh-CN" sz="2800" b="1" dirty="0">
                <a:latin typeface="+mn-lt"/>
                <a:ea typeface="黑体" pitchFamily="2" charset="-122"/>
              </a:rPr>
              <a:t>A</a:t>
            </a:r>
            <a:r>
              <a:rPr lang="zh-CN" altLang="en-US" sz="2800" b="1" dirty="0">
                <a:latin typeface="+mn-lt"/>
                <a:ea typeface="黑体" pitchFamily="2" charset="-122"/>
              </a:rPr>
              <a:t>类，</a:t>
            </a:r>
            <a:r>
              <a:rPr lang="zh-CN" altLang="zh-CN" sz="2800" b="1" dirty="0">
                <a:latin typeface="+mn-lt"/>
                <a:ea typeface="黑体" pitchFamily="2" charset="-122"/>
              </a:rPr>
              <a:t>或记为</a:t>
            </a:r>
            <a:r>
              <a:rPr lang="en-US" altLang="zh-CN" sz="2800" b="1" dirty="0">
                <a:latin typeface="+mn-lt"/>
                <a:ea typeface="黑体" pitchFamily="2" charset="-122"/>
              </a:rPr>
              <a:t>10.0.0.0/8</a:t>
            </a:r>
            <a:r>
              <a:rPr lang="zh-CN" altLang="zh-CN" sz="2800" b="1" dirty="0">
                <a:latin typeface="+mn-lt"/>
                <a:ea typeface="黑体" pitchFamily="2" charset="-122"/>
              </a:rPr>
              <a:t>，它又称为</a:t>
            </a:r>
            <a:r>
              <a:rPr lang="en-US" altLang="zh-CN" sz="2800" b="1" dirty="0">
                <a:latin typeface="+mn-lt"/>
                <a:ea typeface="黑体" pitchFamily="2" charset="-122"/>
              </a:rPr>
              <a:t> 24 </a:t>
            </a:r>
            <a:r>
              <a:rPr lang="zh-CN" altLang="zh-CN" sz="2800" b="1" dirty="0">
                <a:latin typeface="+mn-lt"/>
                <a:ea typeface="黑体" pitchFamily="2" charset="-122"/>
              </a:rPr>
              <a:t>位块</a:t>
            </a:r>
            <a:endParaRPr lang="zh-CN" altLang="en-US" sz="2800" b="1" dirty="0">
              <a:latin typeface="+mn-lt"/>
              <a:ea typeface="黑体" pitchFamily="2" charset="-122"/>
            </a:endParaRPr>
          </a:p>
        </p:txBody>
      </p:sp>
      <p:sp>
        <p:nvSpPr>
          <p:cNvPr id="9" name="矩形 8"/>
          <p:cNvSpPr/>
          <p:nvPr/>
        </p:nvSpPr>
        <p:spPr>
          <a:xfrm>
            <a:off x="1712640" y="3738518"/>
            <a:ext cx="7572907" cy="523220"/>
          </a:xfrm>
          <a:prstGeom prst="rect">
            <a:avLst/>
          </a:prstGeom>
        </p:spPr>
        <p:txBody>
          <a:bodyPr wrap="none">
            <a:spAutoFit/>
          </a:bodyPr>
          <a:lstStyle/>
          <a:p>
            <a:r>
              <a:rPr lang="en-US" altLang="zh-CN" sz="2800" b="1" dirty="0">
                <a:latin typeface="+mn-lt"/>
                <a:ea typeface="黑体" pitchFamily="2" charset="-122"/>
              </a:rPr>
              <a:t>B</a:t>
            </a:r>
            <a:r>
              <a:rPr lang="zh-CN" altLang="en-US" sz="2800" b="1" dirty="0">
                <a:latin typeface="+mn-lt"/>
                <a:ea typeface="黑体" pitchFamily="2" charset="-122"/>
              </a:rPr>
              <a:t>类，</a:t>
            </a:r>
            <a:r>
              <a:rPr lang="zh-CN" altLang="zh-CN" sz="2800" b="1" dirty="0">
                <a:latin typeface="+mn-lt"/>
                <a:ea typeface="黑体" pitchFamily="2" charset="-122"/>
              </a:rPr>
              <a:t>或记为</a:t>
            </a:r>
            <a:r>
              <a:rPr lang="en-US" altLang="zh-CN" sz="2800" b="1" dirty="0">
                <a:latin typeface="+mn-lt"/>
                <a:ea typeface="黑体" pitchFamily="2" charset="-122"/>
              </a:rPr>
              <a:t>172.16.0.0/12</a:t>
            </a:r>
            <a:r>
              <a:rPr lang="zh-CN" altLang="zh-CN" sz="2800" b="1" dirty="0">
                <a:latin typeface="+mn-lt"/>
                <a:ea typeface="黑体" pitchFamily="2" charset="-122"/>
              </a:rPr>
              <a:t>，它又称为</a:t>
            </a:r>
            <a:r>
              <a:rPr lang="en-US" altLang="zh-CN" sz="2800" b="1" dirty="0">
                <a:latin typeface="+mn-lt"/>
                <a:ea typeface="黑体" pitchFamily="2" charset="-122"/>
              </a:rPr>
              <a:t> 20 </a:t>
            </a:r>
            <a:r>
              <a:rPr lang="zh-CN" altLang="zh-CN" sz="2800" b="1" dirty="0">
                <a:latin typeface="+mn-lt"/>
                <a:ea typeface="黑体" pitchFamily="2" charset="-122"/>
              </a:rPr>
              <a:t>位块</a:t>
            </a:r>
            <a:endParaRPr lang="zh-CN" altLang="en-US" sz="2800" b="1" dirty="0">
              <a:latin typeface="+mn-lt"/>
              <a:ea typeface="黑体" pitchFamily="2" charset="-122"/>
            </a:endParaRPr>
          </a:p>
        </p:txBody>
      </p:sp>
      <p:sp>
        <p:nvSpPr>
          <p:cNvPr id="10" name="矩形 9"/>
          <p:cNvSpPr/>
          <p:nvPr/>
        </p:nvSpPr>
        <p:spPr>
          <a:xfrm>
            <a:off x="1738288" y="4981818"/>
            <a:ext cx="7773282" cy="523220"/>
          </a:xfrm>
          <a:prstGeom prst="rect">
            <a:avLst/>
          </a:prstGeom>
        </p:spPr>
        <p:txBody>
          <a:bodyPr wrap="none">
            <a:spAutoFit/>
          </a:bodyPr>
          <a:lstStyle/>
          <a:p>
            <a:r>
              <a:rPr lang="en-US" altLang="zh-CN" sz="2800" b="1" dirty="0">
                <a:latin typeface="+mn-lt"/>
                <a:ea typeface="黑体" pitchFamily="2" charset="-122"/>
              </a:rPr>
              <a:t>C</a:t>
            </a:r>
            <a:r>
              <a:rPr lang="zh-CN" altLang="en-US" sz="2800" b="1" dirty="0">
                <a:latin typeface="+mn-lt"/>
                <a:ea typeface="黑体" pitchFamily="2" charset="-122"/>
              </a:rPr>
              <a:t>类，</a:t>
            </a:r>
            <a:r>
              <a:rPr lang="zh-CN" altLang="zh-CN" sz="2800" b="1" dirty="0">
                <a:latin typeface="+mn-lt"/>
                <a:ea typeface="黑体" pitchFamily="2" charset="-122"/>
              </a:rPr>
              <a:t>或记为</a:t>
            </a:r>
            <a:r>
              <a:rPr lang="en-US" altLang="zh-CN" sz="2800" b="1" dirty="0">
                <a:latin typeface="+mn-lt"/>
                <a:ea typeface="黑体" pitchFamily="2" charset="-122"/>
              </a:rPr>
              <a:t>192.168.0.0/16</a:t>
            </a:r>
            <a:r>
              <a:rPr lang="zh-CN" altLang="zh-CN" sz="2800" b="1" dirty="0">
                <a:latin typeface="+mn-lt"/>
                <a:ea typeface="黑体" pitchFamily="2" charset="-122"/>
              </a:rPr>
              <a:t>，它又称为</a:t>
            </a:r>
            <a:r>
              <a:rPr lang="en-US" altLang="zh-CN" sz="2800" b="1" dirty="0">
                <a:latin typeface="+mn-lt"/>
                <a:ea typeface="黑体" pitchFamily="2" charset="-122"/>
              </a:rPr>
              <a:t> 16 </a:t>
            </a:r>
            <a:r>
              <a:rPr lang="zh-CN" altLang="zh-CN" sz="2800" b="1" dirty="0">
                <a:latin typeface="+mn-lt"/>
                <a:ea typeface="黑体" pitchFamily="2" charset="-122"/>
              </a:rPr>
              <a:t>位块</a:t>
            </a:r>
            <a:endParaRPr lang="zh-CN" altLang="en-US" sz="2800" b="1" dirty="0">
              <a:latin typeface="+mn-lt"/>
              <a:ea typeface="黑体" pitchFamily="2" charset="-122"/>
            </a:endParaRPr>
          </a:p>
        </p:txBody>
      </p:sp>
    </p:spTree>
    <p:extLst>
      <p:ext uri="{BB962C8B-B14F-4D97-AF65-F5344CB8AC3E}">
        <p14:creationId xmlns:p14="http://schemas.microsoft.com/office/powerpoint/2010/main" val="42508400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pPr algn="ctr"/>
            <a:r>
              <a:rPr lang="zh-CN" altLang="en-US" dirty="0"/>
              <a:t>专用网</a:t>
            </a:r>
            <a:endParaRPr lang="en-US" altLang="zh-CN" dirty="0"/>
          </a:p>
        </p:txBody>
      </p:sp>
      <p:sp>
        <p:nvSpPr>
          <p:cNvPr id="2" name="内容占位符 1"/>
          <p:cNvSpPr>
            <a:spLocks noGrp="1"/>
          </p:cNvSpPr>
          <p:nvPr>
            <p:ph idx="1"/>
          </p:nvPr>
        </p:nvSpPr>
        <p:spPr/>
        <p:txBody>
          <a:bodyPr/>
          <a:lstStyle/>
          <a:p>
            <a:r>
              <a:rPr lang="zh-CN" altLang="zh-CN" dirty="0"/>
              <a:t>采用这样的专用</a:t>
            </a:r>
            <a:r>
              <a:rPr lang="en-US" altLang="zh-CN" dirty="0"/>
              <a:t> IP </a:t>
            </a:r>
            <a:r>
              <a:rPr lang="zh-CN" altLang="zh-CN" dirty="0"/>
              <a:t>地址的互连网络称为</a:t>
            </a:r>
            <a:r>
              <a:rPr lang="zh-CN" altLang="zh-CN" dirty="0">
                <a:solidFill>
                  <a:srgbClr val="FF0000"/>
                </a:solidFill>
              </a:rPr>
              <a:t>专用互联网</a:t>
            </a:r>
            <a:r>
              <a:rPr lang="zh-CN" altLang="zh-CN" dirty="0"/>
              <a:t>或</a:t>
            </a:r>
            <a:r>
              <a:rPr lang="zh-CN" altLang="zh-CN" dirty="0">
                <a:solidFill>
                  <a:srgbClr val="FF0000"/>
                </a:solidFill>
              </a:rPr>
              <a:t>本地互联网，</a:t>
            </a:r>
            <a:r>
              <a:rPr lang="zh-CN" altLang="zh-CN" dirty="0"/>
              <a:t>或更简单些，就</a:t>
            </a:r>
            <a:r>
              <a:rPr lang="zh-CN" altLang="en-US" dirty="0"/>
              <a:t>叫做</a:t>
            </a:r>
            <a:r>
              <a:rPr lang="zh-CN" altLang="zh-CN" dirty="0">
                <a:solidFill>
                  <a:srgbClr val="FF0000"/>
                </a:solidFill>
              </a:rPr>
              <a:t>专用网。</a:t>
            </a:r>
            <a:endParaRPr lang="en-US" altLang="zh-CN" dirty="0">
              <a:solidFill>
                <a:srgbClr val="FF0000"/>
              </a:solidFill>
            </a:endParaRPr>
          </a:p>
          <a:p>
            <a:r>
              <a:rPr lang="zh-CN" altLang="zh-CN" dirty="0"/>
              <a:t>因为这些专用地址仅在本机构内部使用。专用</a:t>
            </a:r>
            <a:r>
              <a:rPr lang="en-US" altLang="zh-CN" dirty="0"/>
              <a:t>IP</a:t>
            </a:r>
            <a:r>
              <a:rPr lang="zh-CN" altLang="zh-CN" dirty="0"/>
              <a:t>地址也</a:t>
            </a:r>
            <a:r>
              <a:rPr lang="zh-CN" altLang="en-US" dirty="0"/>
              <a:t>叫做</a:t>
            </a:r>
            <a:r>
              <a:rPr lang="zh-CN" altLang="zh-CN" dirty="0">
                <a:solidFill>
                  <a:srgbClr val="FF0000"/>
                </a:solidFill>
              </a:rPr>
              <a:t>可重用地址</a:t>
            </a:r>
            <a:r>
              <a:rPr lang="en-US" altLang="zh-CN" dirty="0">
                <a:solidFill>
                  <a:srgbClr val="FF0000"/>
                </a:solidFill>
              </a:rPr>
              <a:t> </a:t>
            </a:r>
            <a:r>
              <a:rPr lang="en-US" altLang="zh-CN" dirty="0"/>
              <a:t>(reusable address)</a:t>
            </a:r>
            <a:r>
              <a:rPr lang="zh-CN" altLang="zh-CN" dirty="0"/>
              <a:t>。</a:t>
            </a:r>
            <a:endParaRPr lang="zh-CN" altLang="en-US" dirty="0"/>
          </a:p>
        </p:txBody>
      </p:sp>
    </p:spTree>
    <p:extLst>
      <p:ext uri="{BB962C8B-B14F-4D97-AF65-F5344CB8AC3E}">
        <p14:creationId xmlns:p14="http://schemas.microsoft.com/office/powerpoint/2010/main" val="207222928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pPr algn="ctr"/>
            <a:r>
              <a:rPr lang="zh-CN" altLang="en-US" dirty="0"/>
              <a:t>虚拟专用网 </a:t>
            </a:r>
            <a:r>
              <a:rPr lang="en-US" altLang="zh-CN" dirty="0"/>
              <a:t>VPN</a:t>
            </a:r>
          </a:p>
        </p:txBody>
      </p:sp>
      <p:sp>
        <p:nvSpPr>
          <p:cNvPr id="2" name="内容占位符 1"/>
          <p:cNvSpPr>
            <a:spLocks noGrp="1"/>
          </p:cNvSpPr>
          <p:nvPr>
            <p:ph idx="1"/>
          </p:nvPr>
        </p:nvSpPr>
        <p:spPr/>
        <p:txBody>
          <a:bodyPr/>
          <a:lstStyle/>
          <a:p>
            <a:r>
              <a:rPr lang="zh-CN" altLang="zh-CN" dirty="0"/>
              <a:t>利用公用的互联网作为本机构各专用网之间的通信载体，这样的专用网又称为</a:t>
            </a:r>
            <a:r>
              <a:rPr lang="zh-CN" altLang="zh-CN" dirty="0">
                <a:solidFill>
                  <a:srgbClr val="FF0000"/>
                </a:solidFill>
              </a:rPr>
              <a:t>虚拟专用网</a:t>
            </a:r>
            <a:r>
              <a:rPr lang="en-US" altLang="zh-CN" dirty="0"/>
              <a:t>VPN (Virtual Private Network)</a:t>
            </a:r>
            <a:r>
              <a:rPr lang="zh-CN" altLang="zh-CN" dirty="0"/>
              <a:t>。</a:t>
            </a:r>
            <a:endParaRPr lang="en-US" altLang="zh-CN" dirty="0"/>
          </a:p>
          <a:p>
            <a:r>
              <a:rPr lang="zh-CN" altLang="zh-CN" dirty="0"/>
              <a:t>“</a:t>
            </a:r>
            <a:r>
              <a:rPr lang="zh-CN" altLang="zh-CN" dirty="0">
                <a:solidFill>
                  <a:srgbClr val="FF0000"/>
                </a:solidFill>
              </a:rPr>
              <a:t>专用网</a:t>
            </a:r>
            <a:r>
              <a:rPr lang="zh-CN" altLang="zh-CN" dirty="0"/>
              <a:t>”是因为这种网络是为本机构的主机用于</a:t>
            </a:r>
            <a:r>
              <a:rPr lang="zh-CN" altLang="zh-CN" dirty="0">
                <a:solidFill>
                  <a:srgbClr val="0000FF"/>
                </a:solidFill>
              </a:rPr>
              <a:t>机构内部的通信，</a:t>
            </a:r>
            <a:r>
              <a:rPr lang="zh-CN" altLang="zh-CN" dirty="0"/>
              <a:t>而不是用于和网络外非本机构的主机通信。</a:t>
            </a:r>
            <a:endParaRPr lang="en-US" altLang="zh-CN" dirty="0"/>
          </a:p>
          <a:p>
            <a:r>
              <a:rPr lang="zh-CN" altLang="zh-CN" dirty="0"/>
              <a:t>“</a:t>
            </a:r>
            <a:r>
              <a:rPr lang="zh-CN" altLang="zh-CN" dirty="0">
                <a:solidFill>
                  <a:srgbClr val="FF0000"/>
                </a:solidFill>
              </a:rPr>
              <a:t>虚拟</a:t>
            </a:r>
            <a:r>
              <a:rPr lang="zh-CN" altLang="zh-CN" dirty="0"/>
              <a:t>”表示“好像是”，但实际上并不是，因为现在并</a:t>
            </a:r>
            <a:r>
              <a:rPr lang="zh-CN" altLang="zh-CN" dirty="0">
                <a:solidFill>
                  <a:srgbClr val="0000FF"/>
                </a:solidFill>
              </a:rPr>
              <a:t>没有真正使用通信专线，</a:t>
            </a:r>
            <a:r>
              <a:rPr lang="zh-CN" altLang="zh-CN" dirty="0"/>
              <a:t>而</a:t>
            </a:r>
            <a:r>
              <a:rPr lang="en-US" altLang="zh-CN" dirty="0"/>
              <a:t>VPN</a:t>
            </a:r>
            <a:r>
              <a:rPr lang="zh-CN" altLang="zh-CN" dirty="0"/>
              <a:t>只是在效果上和真正的专用网一样。</a:t>
            </a:r>
            <a:endParaRPr lang="en-US" altLang="zh-CN" dirty="0"/>
          </a:p>
          <a:p>
            <a:endParaRPr lang="zh-CN" altLang="en-US" dirty="0"/>
          </a:p>
        </p:txBody>
      </p:sp>
    </p:spTree>
    <p:extLst>
      <p:ext uri="{BB962C8B-B14F-4D97-AF65-F5344CB8AC3E}">
        <p14:creationId xmlns:p14="http://schemas.microsoft.com/office/powerpoint/2010/main" val="139475696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pPr algn="ctr"/>
            <a:r>
              <a:rPr lang="zh-CN" altLang="en-US" dirty="0"/>
              <a:t>虚拟专用网 </a:t>
            </a:r>
            <a:r>
              <a:rPr lang="en-US" altLang="zh-CN" dirty="0"/>
              <a:t>VPN </a:t>
            </a:r>
            <a:r>
              <a:rPr lang="zh-CN" altLang="en-US" dirty="0"/>
              <a:t>构建</a:t>
            </a:r>
            <a:endParaRPr lang="en-US" altLang="zh-CN" dirty="0"/>
          </a:p>
        </p:txBody>
      </p:sp>
      <p:sp>
        <p:nvSpPr>
          <p:cNvPr id="2" name="内容占位符 1"/>
          <p:cNvSpPr>
            <a:spLocks noGrp="1"/>
          </p:cNvSpPr>
          <p:nvPr>
            <p:ph idx="1"/>
          </p:nvPr>
        </p:nvSpPr>
        <p:spPr/>
        <p:txBody>
          <a:bodyPr/>
          <a:lstStyle/>
          <a:p>
            <a:r>
              <a:rPr lang="zh-CN" altLang="zh-CN" dirty="0"/>
              <a:t>如果专用网不同网点之间的通信必须经过公用的互联网，但又有保密的要求，那么所有通过互联网传送的</a:t>
            </a:r>
            <a:r>
              <a:rPr lang="zh-CN" altLang="zh-CN" dirty="0">
                <a:solidFill>
                  <a:srgbClr val="FF0000"/>
                </a:solidFill>
              </a:rPr>
              <a:t>数据都必须加密</a:t>
            </a:r>
            <a:r>
              <a:rPr lang="zh-CN" altLang="en-US" dirty="0">
                <a:solidFill>
                  <a:srgbClr val="FF0000"/>
                </a:solidFill>
              </a:rPr>
              <a:t>。</a:t>
            </a:r>
            <a:endParaRPr lang="en-US" altLang="zh-CN" dirty="0">
              <a:solidFill>
                <a:srgbClr val="FF0000"/>
              </a:solidFill>
            </a:endParaRPr>
          </a:p>
          <a:p>
            <a:r>
              <a:rPr lang="zh-CN" altLang="zh-CN" dirty="0"/>
              <a:t>一个机构要构建自己的</a:t>
            </a:r>
            <a:r>
              <a:rPr lang="en-US" altLang="zh-CN" dirty="0"/>
              <a:t> VPN </a:t>
            </a:r>
            <a:r>
              <a:rPr lang="zh-CN" altLang="zh-CN" dirty="0"/>
              <a:t>就必须为它的每一个场所购买专门的硬件和软件，并进行配置，使每一个场所的</a:t>
            </a:r>
            <a:r>
              <a:rPr lang="en-US" altLang="zh-CN" dirty="0"/>
              <a:t> VPN </a:t>
            </a:r>
            <a:r>
              <a:rPr lang="zh-CN" altLang="zh-CN" dirty="0"/>
              <a:t>系统都知道其他场所的地址。</a:t>
            </a:r>
          </a:p>
          <a:p>
            <a:endParaRPr lang="zh-CN" altLang="en-US" dirty="0"/>
          </a:p>
        </p:txBody>
      </p:sp>
    </p:spTree>
    <p:extLst>
      <p:ext uri="{BB962C8B-B14F-4D97-AF65-F5344CB8AC3E}">
        <p14:creationId xmlns:p14="http://schemas.microsoft.com/office/powerpoint/2010/main" val="390779409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75" name="Rectangle 11"/>
          <p:cNvSpPr>
            <a:spLocks noGrp="1" noChangeArrowheads="1"/>
          </p:cNvSpPr>
          <p:nvPr>
            <p:ph type="title"/>
          </p:nvPr>
        </p:nvSpPr>
        <p:spPr/>
        <p:txBody>
          <a:bodyPr/>
          <a:lstStyle/>
          <a:p>
            <a:pPr algn="ctr"/>
            <a:r>
              <a:rPr lang="zh-CN" altLang="en-US" dirty="0"/>
              <a:t>用隧道技术实现虚拟专用网 </a:t>
            </a:r>
          </a:p>
        </p:txBody>
      </p:sp>
      <p:grpSp>
        <p:nvGrpSpPr>
          <p:cNvPr id="625666" name="Group 2"/>
          <p:cNvGrpSpPr>
            <a:grpSpLocks/>
          </p:cNvGrpSpPr>
          <p:nvPr/>
        </p:nvGrpSpPr>
        <p:grpSpPr bwMode="auto">
          <a:xfrm>
            <a:off x="341263" y="2065040"/>
            <a:ext cx="1666478" cy="1789113"/>
            <a:chOff x="87" y="1384"/>
            <a:chExt cx="969" cy="1127"/>
          </a:xfrm>
        </p:grpSpPr>
        <p:sp>
          <p:nvSpPr>
            <p:cNvPr id="625667" name="Line 3"/>
            <p:cNvSpPr>
              <a:spLocks noChangeShapeType="1"/>
            </p:cNvSpPr>
            <p:nvPr/>
          </p:nvSpPr>
          <p:spPr bwMode="auto">
            <a:xfrm flipV="1">
              <a:off x="816" y="2248"/>
              <a:ext cx="240" cy="192"/>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5668" name="Line 4"/>
            <p:cNvSpPr>
              <a:spLocks noChangeShapeType="1"/>
            </p:cNvSpPr>
            <p:nvPr/>
          </p:nvSpPr>
          <p:spPr bwMode="auto">
            <a:xfrm>
              <a:off x="624" y="1576"/>
              <a:ext cx="240" cy="144"/>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5669" name="Line 5"/>
            <p:cNvSpPr>
              <a:spLocks noChangeShapeType="1"/>
            </p:cNvSpPr>
            <p:nvPr/>
          </p:nvSpPr>
          <p:spPr bwMode="auto">
            <a:xfrm flipV="1">
              <a:off x="432" y="1967"/>
              <a:ext cx="288" cy="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625670" name="Picture 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1823"/>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5671" name="Text Box 7"/>
            <p:cNvSpPr txBox="1">
              <a:spLocks noChangeArrowheads="1"/>
            </p:cNvSpPr>
            <p:nvPr/>
          </p:nvSpPr>
          <p:spPr bwMode="auto">
            <a:xfrm>
              <a:off x="113" y="1797"/>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X</a:t>
              </a:r>
            </a:p>
          </p:txBody>
        </p:sp>
        <p:sp>
          <p:nvSpPr>
            <p:cNvPr id="625672" name="Text Box 8"/>
            <p:cNvSpPr txBox="1">
              <a:spLocks noChangeArrowheads="1"/>
            </p:cNvSpPr>
            <p:nvPr/>
          </p:nvSpPr>
          <p:spPr bwMode="auto">
            <a:xfrm>
              <a:off x="87" y="2031"/>
              <a:ext cx="64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10.1.0.1</a:t>
              </a:r>
            </a:p>
          </p:txBody>
        </p:sp>
        <p:pic>
          <p:nvPicPr>
            <p:cNvPr id="625673"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1384"/>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5674"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2296"/>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25676" name="Group 12"/>
          <p:cNvGrpSpPr>
            <a:grpSpLocks/>
          </p:cNvGrpSpPr>
          <p:nvPr/>
        </p:nvGrpSpPr>
        <p:grpSpPr bwMode="auto">
          <a:xfrm>
            <a:off x="1245873" y="2252364"/>
            <a:ext cx="1637242" cy="1225550"/>
            <a:chOff x="385" y="2795"/>
            <a:chExt cx="1769" cy="816"/>
          </a:xfrm>
        </p:grpSpPr>
        <p:sp>
          <p:nvSpPr>
            <p:cNvPr id="625677" name="Oval 1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78" name="Oval 14"/>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79" name="Oval 15"/>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0" name="Oval 16"/>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1" name="Oval 17"/>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2" name="Oval 1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3" name="Oval 19"/>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4" name="Oval 20"/>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5" name="Oval 21"/>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6" name="Oval 2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7" name="Oval 23"/>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8" name="Oval 2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89" name="Oval 2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90" name="Oval 26"/>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91" name="Oval 2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92" name="Oval 28"/>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93" name="Freeform 29"/>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625694" name="Group 30"/>
          <p:cNvGrpSpPr>
            <a:grpSpLocks/>
          </p:cNvGrpSpPr>
          <p:nvPr/>
        </p:nvGrpSpPr>
        <p:grpSpPr bwMode="auto">
          <a:xfrm>
            <a:off x="6938383" y="2182514"/>
            <a:ext cx="1637242" cy="1225550"/>
            <a:chOff x="385" y="2795"/>
            <a:chExt cx="1769" cy="816"/>
          </a:xfrm>
        </p:grpSpPr>
        <p:sp>
          <p:nvSpPr>
            <p:cNvPr id="625695" name="Oval 3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96" name="Oval 3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97" name="Oval 3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98" name="Oval 3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699" name="Oval 3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0" name="Oval 3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1" name="Oval 3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2" name="Oval 3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3" name="Oval 3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4" name="Oval 4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5" name="Oval 4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6" name="Oval 4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7" name="Oval 4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8" name="Oval 4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09" name="Oval 4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10" name="Oval 4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5711" name="Freeform 47"/>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aphicFrame>
        <p:nvGraphicFramePr>
          <p:cNvPr id="625712" name="Object 48"/>
          <p:cNvGraphicFramePr>
            <a:graphicFrameLocks noChangeAspect="1"/>
          </p:cNvGraphicFramePr>
          <p:nvPr>
            <p:extLst>
              <p:ext uri="{D42A27DB-BD31-4B8C-83A1-F6EECF244321}">
                <p14:modId xmlns:p14="http://schemas.microsoft.com/office/powerpoint/2010/main" val="1908520700"/>
              </p:ext>
            </p:extLst>
          </p:nvPr>
        </p:nvGraphicFramePr>
        <p:xfrm>
          <a:off x="3576190" y="2090439"/>
          <a:ext cx="2971800" cy="1703388"/>
        </p:xfrm>
        <a:graphic>
          <a:graphicData uri="http://schemas.openxmlformats.org/presentationml/2006/ole">
            <mc:AlternateContent xmlns:mc="http://schemas.openxmlformats.org/markup-compatibility/2006">
              <mc:Choice xmlns:v="urn:schemas-microsoft-com:vml" Requires="v">
                <p:oleObj spid="_x0000_s6183" name="VISIO" r:id="rId5" imgW="1687068" imgH="964692" progId="">
                  <p:embed/>
                </p:oleObj>
              </mc:Choice>
              <mc:Fallback>
                <p:oleObj name="VISIO" r:id="rId5" imgW="1687068" imgH="964692" progId="">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6190" y="2090439"/>
                        <a:ext cx="2971800" cy="170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25713"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37419" y="2625428"/>
            <a:ext cx="56409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25714"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18014" y="2627015"/>
            <a:ext cx="56409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25715" name="Text Box 51"/>
          <p:cNvSpPr txBox="1">
            <a:spLocks noChangeArrowheads="1"/>
          </p:cNvSpPr>
          <p:nvPr/>
        </p:nvSpPr>
        <p:spPr bwMode="auto">
          <a:xfrm>
            <a:off x="1568624" y="2564904"/>
            <a:ext cx="94782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FF"/>
                </a:solidFill>
                <a:latin typeface="+mn-lt"/>
                <a:ea typeface="黑体" pitchFamily="2" charset="-122"/>
              </a:rPr>
              <a:t>部门 </a:t>
            </a:r>
            <a:r>
              <a:rPr kumimoji="1" lang="en-US" altLang="zh-CN" sz="2000" b="1" dirty="0">
                <a:solidFill>
                  <a:srgbClr val="0000FF"/>
                </a:solidFill>
                <a:latin typeface="+mn-lt"/>
                <a:ea typeface="黑体" pitchFamily="2" charset="-122"/>
              </a:rPr>
              <a:t>A</a:t>
            </a:r>
          </a:p>
          <a:p>
            <a:pPr algn="ctr"/>
            <a:r>
              <a:rPr kumimoji="1" lang="zh-CN" altLang="en-US" sz="2000" b="1" dirty="0">
                <a:solidFill>
                  <a:srgbClr val="0000FF"/>
                </a:solidFill>
                <a:latin typeface="+mn-lt"/>
                <a:ea typeface="黑体" pitchFamily="2" charset="-122"/>
              </a:rPr>
              <a:t>网络</a:t>
            </a:r>
            <a:endParaRPr kumimoji="1" lang="en-US" altLang="zh-CN" sz="2000" b="1" dirty="0">
              <a:solidFill>
                <a:srgbClr val="0000FF"/>
              </a:solidFill>
              <a:latin typeface="+mn-lt"/>
              <a:ea typeface="黑体" pitchFamily="2" charset="-122"/>
            </a:endParaRPr>
          </a:p>
        </p:txBody>
      </p:sp>
      <p:sp>
        <p:nvSpPr>
          <p:cNvPr id="625716" name="AutoShape 52"/>
          <p:cNvSpPr>
            <a:spLocks noChangeArrowheads="1"/>
          </p:cNvSpPr>
          <p:nvPr/>
        </p:nvSpPr>
        <p:spPr bwMode="auto">
          <a:xfrm rot="-5400000">
            <a:off x="4737446" y="1394321"/>
            <a:ext cx="360363" cy="2724150"/>
          </a:xfrm>
          <a:prstGeom prst="can">
            <a:avLst>
              <a:gd name="adj" fmla="val 25521"/>
            </a:avLst>
          </a:prstGeom>
          <a:gradFill rotWithShape="1">
            <a:gsLst>
              <a:gs pos="0">
                <a:srgbClr val="33CCFF">
                  <a:gamma/>
                  <a:shade val="46275"/>
                  <a:invGamma/>
                </a:srgbClr>
              </a:gs>
              <a:gs pos="50000">
                <a:srgbClr val="33CCFF"/>
              </a:gs>
              <a:gs pos="100000">
                <a:srgbClr val="33CC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5717" name="Text Box 53"/>
          <p:cNvSpPr txBox="1">
            <a:spLocks noChangeArrowheads="1"/>
          </p:cNvSpPr>
          <p:nvPr/>
        </p:nvSpPr>
        <p:spPr bwMode="auto">
          <a:xfrm>
            <a:off x="4520952" y="2996952"/>
            <a:ext cx="11128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latin typeface="+mn-lt"/>
                <a:ea typeface="黑体" pitchFamily="2" charset="-122"/>
              </a:rPr>
              <a:t>互联网</a:t>
            </a:r>
          </a:p>
        </p:txBody>
      </p:sp>
      <p:sp>
        <p:nvSpPr>
          <p:cNvPr id="625718" name="Text Box 54"/>
          <p:cNvSpPr txBox="1">
            <a:spLocks noChangeArrowheads="1"/>
          </p:cNvSpPr>
          <p:nvPr/>
        </p:nvSpPr>
        <p:spPr bwMode="auto">
          <a:xfrm>
            <a:off x="7329264" y="2492896"/>
            <a:ext cx="95731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FF"/>
                </a:solidFill>
                <a:latin typeface="+mn-lt"/>
                <a:ea typeface="黑体" pitchFamily="2" charset="-122"/>
              </a:rPr>
              <a:t>部门 </a:t>
            </a:r>
            <a:r>
              <a:rPr kumimoji="1" lang="en-US" altLang="zh-CN" sz="2000" b="1" dirty="0">
                <a:solidFill>
                  <a:srgbClr val="0000FF"/>
                </a:solidFill>
                <a:latin typeface="+mn-lt"/>
                <a:ea typeface="黑体" pitchFamily="2" charset="-122"/>
              </a:rPr>
              <a:t>B</a:t>
            </a:r>
          </a:p>
          <a:p>
            <a:pPr algn="ctr"/>
            <a:r>
              <a:rPr kumimoji="1" lang="zh-CN" altLang="en-US" sz="2000" b="1" dirty="0">
                <a:solidFill>
                  <a:srgbClr val="0000FF"/>
                </a:solidFill>
                <a:latin typeface="+mn-lt"/>
                <a:ea typeface="黑体" pitchFamily="2" charset="-122"/>
              </a:rPr>
              <a:t>网络</a:t>
            </a:r>
            <a:endParaRPr kumimoji="1" lang="en-US" altLang="zh-CN" sz="2000" b="1" dirty="0">
              <a:solidFill>
                <a:srgbClr val="0000FF"/>
              </a:solidFill>
              <a:latin typeface="+mn-lt"/>
              <a:ea typeface="黑体" pitchFamily="2" charset="-122"/>
            </a:endParaRPr>
          </a:p>
        </p:txBody>
      </p:sp>
      <p:sp>
        <p:nvSpPr>
          <p:cNvPr id="625719" name="Text Box 55"/>
          <p:cNvSpPr txBox="1">
            <a:spLocks noChangeArrowheads="1"/>
          </p:cNvSpPr>
          <p:nvPr/>
        </p:nvSpPr>
        <p:spPr bwMode="auto">
          <a:xfrm>
            <a:off x="2868933" y="2930227"/>
            <a:ext cx="4651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R</a:t>
            </a:r>
            <a:r>
              <a:rPr kumimoji="1" lang="en-US" altLang="zh-CN" sz="2000" b="1" baseline="-25000">
                <a:solidFill>
                  <a:srgbClr val="000099"/>
                </a:solidFill>
                <a:latin typeface="+mn-lt"/>
                <a:ea typeface="黑体" pitchFamily="2" charset="-122"/>
              </a:rPr>
              <a:t>1</a:t>
            </a:r>
            <a:endParaRPr kumimoji="1" lang="en-US" altLang="zh-CN" sz="2000" b="1">
              <a:solidFill>
                <a:srgbClr val="000099"/>
              </a:solidFill>
              <a:latin typeface="+mn-lt"/>
              <a:ea typeface="黑体" pitchFamily="2" charset="-122"/>
            </a:endParaRPr>
          </a:p>
        </p:txBody>
      </p:sp>
      <p:sp>
        <p:nvSpPr>
          <p:cNvPr id="625720" name="Text Box 56"/>
          <p:cNvSpPr txBox="1">
            <a:spLocks noChangeArrowheads="1"/>
          </p:cNvSpPr>
          <p:nvPr/>
        </p:nvSpPr>
        <p:spPr bwMode="auto">
          <a:xfrm>
            <a:off x="6643875" y="2858790"/>
            <a:ext cx="4651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R</a:t>
            </a:r>
            <a:r>
              <a:rPr kumimoji="1" lang="en-US" altLang="zh-CN" sz="2000" b="1" baseline="-25000">
                <a:solidFill>
                  <a:srgbClr val="000099"/>
                </a:solidFill>
                <a:latin typeface="+mn-lt"/>
                <a:ea typeface="黑体" pitchFamily="2" charset="-122"/>
              </a:rPr>
              <a:t>2</a:t>
            </a:r>
            <a:endParaRPr kumimoji="1" lang="en-US" altLang="zh-CN" sz="2000" b="1">
              <a:solidFill>
                <a:srgbClr val="000099"/>
              </a:solidFill>
              <a:latin typeface="+mn-lt"/>
              <a:ea typeface="黑体" pitchFamily="2" charset="-122"/>
            </a:endParaRPr>
          </a:p>
        </p:txBody>
      </p:sp>
      <p:sp>
        <p:nvSpPr>
          <p:cNvPr id="625721" name="Text Box 57"/>
          <p:cNvSpPr txBox="1">
            <a:spLocks noChangeArrowheads="1"/>
          </p:cNvSpPr>
          <p:nvPr/>
        </p:nvSpPr>
        <p:spPr bwMode="auto">
          <a:xfrm>
            <a:off x="4664000" y="2534419"/>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chemeClr val="bg1"/>
                </a:solidFill>
                <a:latin typeface="+mn-lt"/>
                <a:ea typeface="黑体" pitchFamily="2" charset="-122"/>
              </a:rPr>
              <a:t>隧道</a:t>
            </a:r>
          </a:p>
        </p:txBody>
      </p:sp>
      <p:sp>
        <p:nvSpPr>
          <p:cNvPr id="625722" name="Line 58"/>
          <p:cNvSpPr>
            <a:spLocks noChangeShapeType="1"/>
          </p:cNvSpPr>
          <p:nvPr/>
        </p:nvSpPr>
        <p:spPr bwMode="auto">
          <a:xfrm>
            <a:off x="3225353" y="2750839"/>
            <a:ext cx="41275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5723" name="Line 59"/>
          <p:cNvSpPr>
            <a:spLocks noChangeShapeType="1"/>
          </p:cNvSpPr>
          <p:nvPr/>
        </p:nvSpPr>
        <p:spPr bwMode="auto">
          <a:xfrm>
            <a:off x="6279703" y="2750839"/>
            <a:ext cx="41275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625724" name="Group 60"/>
          <p:cNvGrpSpPr>
            <a:grpSpLocks/>
          </p:cNvGrpSpPr>
          <p:nvPr/>
        </p:nvGrpSpPr>
        <p:grpSpPr bwMode="auto">
          <a:xfrm>
            <a:off x="2616548" y="2107903"/>
            <a:ext cx="4588405" cy="642937"/>
            <a:chOff x="1410" y="1411"/>
            <a:chExt cx="2668" cy="405"/>
          </a:xfrm>
        </p:grpSpPr>
        <p:sp>
          <p:nvSpPr>
            <p:cNvPr id="625725" name="Text Box 61"/>
            <p:cNvSpPr txBox="1">
              <a:spLocks noChangeArrowheads="1"/>
            </p:cNvSpPr>
            <p:nvPr/>
          </p:nvSpPr>
          <p:spPr bwMode="auto">
            <a:xfrm>
              <a:off x="1410" y="1411"/>
              <a:ext cx="72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125.1.2.3</a:t>
              </a:r>
            </a:p>
          </p:txBody>
        </p:sp>
        <p:sp>
          <p:nvSpPr>
            <p:cNvPr id="625726" name="Line 62"/>
            <p:cNvSpPr>
              <a:spLocks noChangeShapeType="1"/>
            </p:cNvSpPr>
            <p:nvPr/>
          </p:nvSpPr>
          <p:spPr bwMode="auto">
            <a:xfrm>
              <a:off x="1837" y="1616"/>
              <a:ext cx="23" cy="20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5727" name="Text Box 63"/>
            <p:cNvSpPr txBox="1">
              <a:spLocks noChangeArrowheads="1"/>
            </p:cNvSpPr>
            <p:nvPr/>
          </p:nvSpPr>
          <p:spPr bwMode="auto">
            <a:xfrm>
              <a:off x="3350" y="1430"/>
              <a:ext cx="7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194.4.5.6</a:t>
              </a:r>
            </a:p>
          </p:txBody>
        </p:sp>
        <p:sp>
          <p:nvSpPr>
            <p:cNvPr id="625728" name="Line 64"/>
            <p:cNvSpPr>
              <a:spLocks noChangeShapeType="1"/>
            </p:cNvSpPr>
            <p:nvPr/>
          </p:nvSpPr>
          <p:spPr bwMode="auto">
            <a:xfrm flipH="1">
              <a:off x="3636" y="1616"/>
              <a:ext cx="60" cy="20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625729" name="Group 65"/>
          <p:cNvGrpSpPr>
            <a:grpSpLocks/>
          </p:cNvGrpSpPr>
          <p:nvPr/>
        </p:nvGrpSpPr>
        <p:grpSpPr bwMode="auto">
          <a:xfrm>
            <a:off x="8198990" y="1988840"/>
            <a:ext cx="1506538" cy="1712913"/>
            <a:chOff x="4656" y="1336"/>
            <a:chExt cx="876" cy="1079"/>
          </a:xfrm>
        </p:grpSpPr>
        <p:sp>
          <p:nvSpPr>
            <p:cNvPr id="625730" name="Line 66"/>
            <p:cNvSpPr>
              <a:spLocks noChangeShapeType="1"/>
            </p:cNvSpPr>
            <p:nvPr/>
          </p:nvSpPr>
          <p:spPr bwMode="auto">
            <a:xfrm flipH="1" flipV="1">
              <a:off x="4800" y="1912"/>
              <a:ext cx="348" cy="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5731" name="Line 67"/>
            <p:cNvSpPr>
              <a:spLocks noChangeShapeType="1"/>
            </p:cNvSpPr>
            <p:nvPr/>
          </p:nvSpPr>
          <p:spPr bwMode="auto">
            <a:xfrm flipH="1" flipV="1">
              <a:off x="4656" y="2152"/>
              <a:ext cx="336" cy="192"/>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5732" name="Line 68"/>
            <p:cNvSpPr>
              <a:spLocks noChangeShapeType="1"/>
            </p:cNvSpPr>
            <p:nvPr/>
          </p:nvSpPr>
          <p:spPr bwMode="auto">
            <a:xfrm flipH="1">
              <a:off x="4800" y="1528"/>
              <a:ext cx="240" cy="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625733"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1768"/>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5734" name="Text Box 70"/>
            <p:cNvSpPr txBox="1">
              <a:spLocks noChangeArrowheads="1"/>
            </p:cNvSpPr>
            <p:nvPr/>
          </p:nvSpPr>
          <p:spPr bwMode="auto">
            <a:xfrm>
              <a:off x="5284" y="1729"/>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Y</a:t>
              </a:r>
            </a:p>
          </p:txBody>
        </p:sp>
        <p:sp>
          <p:nvSpPr>
            <p:cNvPr id="625735" name="Text Box 71"/>
            <p:cNvSpPr txBox="1">
              <a:spLocks noChangeArrowheads="1"/>
            </p:cNvSpPr>
            <p:nvPr/>
          </p:nvSpPr>
          <p:spPr bwMode="auto">
            <a:xfrm>
              <a:off x="4887" y="1955"/>
              <a:ext cx="64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10.2.0.3</a:t>
              </a:r>
            </a:p>
          </p:txBody>
        </p:sp>
        <p:pic>
          <p:nvPicPr>
            <p:cNvPr id="625736" name="Picture 7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1336"/>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5737" name="Picture 7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2200"/>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25738" name="Text Box 74"/>
          <p:cNvSpPr txBox="1">
            <a:spLocks noChangeArrowheads="1"/>
          </p:cNvSpPr>
          <p:nvPr/>
        </p:nvSpPr>
        <p:spPr bwMode="auto">
          <a:xfrm>
            <a:off x="4088904" y="3714452"/>
            <a:ext cx="20409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zh-CN" altLang="en-US" sz="2400" b="1" dirty="0">
                <a:solidFill>
                  <a:srgbClr val="C00000"/>
                </a:solidFill>
                <a:latin typeface="+mn-lt"/>
                <a:ea typeface="黑体" pitchFamily="2" charset="-122"/>
              </a:rPr>
              <a:t>使用隧道技术</a:t>
            </a:r>
          </a:p>
        </p:txBody>
      </p:sp>
      <p:sp>
        <p:nvSpPr>
          <p:cNvPr id="625739" name="Text Box 75"/>
          <p:cNvSpPr txBox="1">
            <a:spLocks noChangeArrowheads="1"/>
          </p:cNvSpPr>
          <p:nvPr/>
        </p:nvSpPr>
        <p:spPr bwMode="auto">
          <a:xfrm>
            <a:off x="1064568" y="1365697"/>
            <a:ext cx="1415772" cy="461665"/>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zh-CN" altLang="en-US" sz="2400" b="1">
                <a:solidFill>
                  <a:srgbClr val="000099"/>
                </a:solidFill>
                <a:latin typeface="+mn-lt"/>
                <a:ea typeface="黑体" pitchFamily="2" charset="-122"/>
              </a:rPr>
              <a:t>本地地址</a:t>
            </a:r>
          </a:p>
        </p:txBody>
      </p:sp>
      <p:sp>
        <p:nvSpPr>
          <p:cNvPr id="625740" name="Text Box 76"/>
          <p:cNvSpPr txBox="1">
            <a:spLocks noChangeArrowheads="1"/>
          </p:cNvSpPr>
          <p:nvPr/>
        </p:nvSpPr>
        <p:spPr bwMode="auto">
          <a:xfrm>
            <a:off x="7095877" y="1383159"/>
            <a:ext cx="1415772" cy="461665"/>
          </a:xfrm>
          <a:prstGeom prst="rect">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zh-CN" altLang="en-US" sz="2400" b="1">
                <a:solidFill>
                  <a:srgbClr val="000099"/>
                </a:solidFill>
                <a:latin typeface="+mn-lt"/>
                <a:ea typeface="黑体" pitchFamily="2" charset="-122"/>
              </a:rPr>
              <a:t>本地地址</a:t>
            </a:r>
          </a:p>
        </p:txBody>
      </p:sp>
      <p:sp>
        <p:nvSpPr>
          <p:cNvPr id="625741" name="Text Box 77"/>
          <p:cNvSpPr txBox="1">
            <a:spLocks noChangeArrowheads="1"/>
          </p:cNvSpPr>
          <p:nvPr/>
        </p:nvSpPr>
        <p:spPr bwMode="auto">
          <a:xfrm>
            <a:off x="4304928" y="1383159"/>
            <a:ext cx="1415772" cy="461665"/>
          </a:xfrm>
          <a:prstGeom prst="rect">
            <a:avLst/>
          </a:prstGeom>
          <a:solidFill>
            <a:srgbClr val="FF99FF"/>
          </a:solidFill>
          <a:ln w="9525">
            <a:solidFill>
              <a:srgbClr val="333399"/>
            </a:solidFill>
            <a:miter lim="800000"/>
            <a:headEnd/>
            <a:tailEnd/>
          </a:ln>
          <a:effectLst/>
        </p:spPr>
        <p:txBody>
          <a:bodyPr wrap="none">
            <a:spAutoFit/>
          </a:bodyPr>
          <a:lstStyle/>
          <a:p>
            <a:pPr algn="ctr" eaLnBrk="0" hangingPunct="0"/>
            <a:r>
              <a:rPr kumimoji="1" lang="zh-CN" altLang="en-US" sz="2400" b="1" dirty="0">
                <a:solidFill>
                  <a:srgbClr val="000099"/>
                </a:solidFill>
                <a:latin typeface="+mn-lt"/>
                <a:ea typeface="黑体" pitchFamily="2" charset="-122"/>
              </a:rPr>
              <a:t>全球地址</a:t>
            </a:r>
          </a:p>
        </p:txBody>
      </p:sp>
      <p:sp>
        <p:nvSpPr>
          <p:cNvPr id="625742" name="AutoShape 78"/>
          <p:cNvSpPr>
            <a:spLocks noChangeArrowheads="1"/>
          </p:cNvSpPr>
          <p:nvPr/>
        </p:nvSpPr>
        <p:spPr bwMode="auto">
          <a:xfrm>
            <a:off x="1166763" y="4449465"/>
            <a:ext cx="3821377" cy="856396"/>
          </a:xfrm>
          <a:prstGeom prst="wedgeRoundRectCallout">
            <a:avLst>
              <a:gd name="adj1" fmla="val -24394"/>
              <a:gd name="adj2" fmla="val -166065"/>
              <a:gd name="adj3" fmla="val 16667"/>
            </a:avLst>
          </a:prstGeom>
          <a:solidFill>
            <a:srgbClr val="FFFF66"/>
          </a:solidFill>
          <a:ln w="9525">
            <a:solidFill>
              <a:schemeClr val="tx1"/>
            </a:solidFill>
            <a:miter lim="800000"/>
            <a:headEnd/>
            <a:tailEnd/>
          </a:ln>
          <a:effectLst/>
        </p:spPr>
        <p:txBody>
          <a:bodyPr/>
          <a:lstStyle/>
          <a:p>
            <a:pPr algn="ctr"/>
            <a:endParaRPr lang="zh-CN" altLang="zh-CN" sz="2400" b="1">
              <a:solidFill>
                <a:srgbClr val="000099"/>
              </a:solidFill>
              <a:latin typeface="+mn-lt"/>
              <a:ea typeface="黑体" pitchFamily="2" charset="-122"/>
            </a:endParaRPr>
          </a:p>
        </p:txBody>
      </p:sp>
      <p:sp>
        <p:nvSpPr>
          <p:cNvPr id="625745" name="Text Box 81"/>
          <p:cNvSpPr txBox="1">
            <a:spLocks noChangeArrowheads="1"/>
          </p:cNvSpPr>
          <p:nvPr/>
        </p:nvSpPr>
        <p:spPr bwMode="auto">
          <a:xfrm>
            <a:off x="1625071" y="4474864"/>
            <a:ext cx="288412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itchFamily="2" charset="-122"/>
              </a:rPr>
              <a:t>网络地址 </a:t>
            </a:r>
            <a:r>
              <a:rPr lang="en-US" altLang="zh-CN" sz="2400" b="1" dirty="0">
                <a:solidFill>
                  <a:srgbClr val="000099"/>
                </a:solidFill>
                <a:latin typeface="+mn-lt"/>
                <a:ea typeface="黑体" pitchFamily="2" charset="-122"/>
              </a:rPr>
              <a:t>= 10.1.0.0</a:t>
            </a:r>
          </a:p>
          <a:p>
            <a:pPr algn="ctr"/>
            <a:r>
              <a:rPr lang="zh-CN" altLang="en-US" sz="2400" b="1" dirty="0">
                <a:solidFill>
                  <a:srgbClr val="000099"/>
                </a:solidFill>
                <a:latin typeface="+mn-lt"/>
                <a:ea typeface="黑体" pitchFamily="2" charset="-122"/>
              </a:rPr>
              <a:t>（本地地址）</a:t>
            </a:r>
          </a:p>
        </p:txBody>
      </p:sp>
      <p:sp>
        <p:nvSpPr>
          <p:cNvPr id="625747" name="AutoShape 83"/>
          <p:cNvSpPr>
            <a:spLocks noChangeArrowheads="1"/>
          </p:cNvSpPr>
          <p:nvPr/>
        </p:nvSpPr>
        <p:spPr bwMode="auto">
          <a:xfrm>
            <a:off x="5768926" y="4449465"/>
            <a:ext cx="3821377" cy="856396"/>
          </a:xfrm>
          <a:prstGeom prst="wedgeRoundRectCallout">
            <a:avLst>
              <a:gd name="adj1" fmla="val -2116"/>
              <a:gd name="adj2" fmla="val -191574"/>
              <a:gd name="adj3" fmla="val 16667"/>
            </a:avLst>
          </a:prstGeom>
          <a:solidFill>
            <a:srgbClr val="99FF66"/>
          </a:solidFill>
          <a:ln w="9525">
            <a:solidFill>
              <a:schemeClr val="tx1"/>
            </a:solidFill>
            <a:miter lim="800000"/>
            <a:headEnd/>
            <a:tailEnd/>
          </a:ln>
          <a:effectLst/>
        </p:spPr>
        <p:txBody>
          <a:bodyPr/>
          <a:lstStyle/>
          <a:p>
            <a:pPr algn="ctr"/>
            <a:endParaRPr lang="zh-CN" altLang="zh-CN" sz="2400" b="1">
              <a:solidFill>
                <a:srgbClr val="000099"/>
              </a:solidFill>
              <a:latin typeface="+mn-lt"/>
              <a:ea typeface="黑体" pitchFamily="2" charset="-122"/>
            </a:endParaRPr>
          </a:p>
        </p:txBody>
      </p:sp>
      <p:sp>
        <p:nvSpPr>
          <p:cNvPr id="625746" name="Text Box 82"/>
          <p:cNvSpPr txBox="1">
            <a:spLocks noChangeArrowheads="1"/>
          </p:cNvSpPr>
          <p:nvPr/>
        </p:nvSpPr>
        <p:spPr bwMode="auto">
          <a:xfrm>
            <a:off x="6227234" y="4470102"/>
            <a:ext cx="288412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a:solidFill>
                  <a:srgbClr val="000099"/>
                </a:solidFill>
                <a:latin typeface="+mn-lt"/>
                <a:ea typeface="黑体" pitchFamily="2" charset="-122"/>
              </a:rPr>
              <a:t>网络地址 </a:t>
            </a:r>
            <a:r>
              <a:rPr lang="en-US" altLang="zh-CN" sz="2400" b="1">
                <a:solidFill>
                  <a:srgbClr val="000099"/>
                </a:solidFill>
                <a:latin typeface="+mn-lt"/>
                <a:ea typeface="黑体" pitchFamily="2" charset="-122"/>
              </a:rPr>
              <a:t>= 10.2.0.0</a:t>
            </a:r>
          </a:p>
          <a:p>
            <a:pPr algn="ctr"/>
            <a:r>
              <a:rPr lang="zh-CN" altLang="en-US" sz="2400" b="1">
                <a:solidFill>
                  <a:srgbClr val="000099"/>
                </a:solidFill>
                <a:latin typeface="+mn-lt"/>
                <a:ea typeface="黑体" pitchFamily="2" charset="-122"/>
              </a:rPr>
              <a:t>（本地地址）</a:t>
            </a:r>
          </a:p>
        </p:txBody>
      </p:sp>
      <p:sp>
        <p:nvSpPr>
          <p:cNvPr id="84" name="矩形 83"/>
          <p:cNvSpPr/>
          <p:nvPr/>
        </p:nvSpPr>
        <p:spPr>
          <a:xfrm>
            <a:off x="2558173" y="5722976"/>
            <a:ext cx="5590032" cy="461665"/>
          </a:xfrm>
          <a:prstGeom prst="rect">
            <a:avLst/>
          </a:prstGeom>
        </p:spPr>
        <p:txBody>
          <a:bodyPr wrap="square">
            <a:spAutoFit/>
          </a:bodyPr>
          <a:lstStyle/>
          <a:p>
            <a:pPr algn="ctr"/>
            <a:r>
              <a:rPr lang="zh-CN" altLang="zh-CN" sz="2400" b="1" dirty="0">
                <a:latin typeface="+mn-lt"/>
                <a:ea typeface="黑体" pitchFamily="2" charset="-122"/>
              </a:rPr>
              <a:t>隧道技术</a:t>
            </a:r>
            <a:endParaRPr lang="zh-CN" altLang="en-US" sz="2400" b="1" dirty="0">
              <a:latin typeface="+mn-lt"/>
              <a:ea typeface="黑体" pitchFamily="2" charset="-122"/>
            </a:endParaRPr>
          </a:p>
        </p:txBody>
      </p:sp>
    </p:spTree>
    <p:extLst>
      <p:ext uri="{BB962C8B-B14F-4D97-AF65-F5344CB8AC3E}">
        <p14:creationId xmlns:p14="http://schemas.microsoft.com/office/powerpoint/2010/main" val="32166603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6690" name="Group 2"/>
          <p:cNvGrpSpPr>
            <a:grpSpLocks/>
          </p:cNvGrpSpPr>
          <p:nvPr/>
        </p:nvGrpSpPr>
        <p:grpSpPr bwMode="auto">
          <a:xfrm>
            <a:off x="351358" y="1551856"/>
            <a:ext cx="1666478" cy="1789113"/>
            <a:chOff x="87" y="1384"/>
            <a:chExt cx="969" cy="1127"/>
          </a:xfrm>
        </p:grpSpPr>
        <p:sp>
          <p:nvSpPr>
            <p:cNvPr id="626691" name="Line 3"/>
            <p:cNvSpPr>
              <a:spLocks noChangeShapeType="1"/>
            </p:cNvSpPr>
            <p:nvPr/>
          </p:nvSpPr>
          <p:spPr bwMode="auto">
            <a:xfrm flipV="1">
              <a:off x="816" y="2248"/>
              <a:ext cx="240" cy="192"/>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692" name="Line 4"/>
            <p:cNvSpPr>
              <a:spLocks noChangeShapeType="1"/>
            </p:cNvSpPr>
            <p:nvPr/>
          </p:nvSpPr>
          <p:spPr bwMode="auto">
            <a:xfrm>
              <a:off x="624" y="1576"/>
              <a:ext cx="240" cy="144"/>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693" name="Line 5"/>
            <p:cNvSpPr>
              <a:spLocks noChangeShapeType="1"/>
            </p:cNvSpPr>
            <p:nvPr/>
          </p:nvSpPr>
          <p:spPr bwMode="auto">
            <a:xfrm flipV="1">
              <a:off x="432" y="1967"/>
              <a:ext cx="288" cy="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626694" name="Picture 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1823"/>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6695" name="Text Box 7"/>
            <p:cNvSpPr txBox="1">
              <a:spLocks noChangeArrowheads="1"/>
            </p:cNvSpPr>
            <p:nvPr/>
          </p:nvSpPr>
          <p:spPr bwMode="auto">
            <a:xfrm>
              <a:off x="113" y="1797"/>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X</a:t>
              </a:r>
            </a:p>
          </p:txBody>
        </p:sp>
        <p:sp>
          <p:nvSpPr>
            <p:cNvPr id="626696" name="Text Box 8"/>
            <p:cNvSpPr txBox="1">
              <a:spLocks noChangeArrowheads="1"/>
            </p:cNvSpPr>
            <p:nvPr/>
          </p:nvSpPr>
          <p:spPr bwMode="auto">
            <a:xfrm>
              <a:off x="87" y="2031"/>
              <a:ext cx="64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10.1.0.1</a:t>
              </a:r>
            </a:p>
          </p:txBody>
        </p:sp>
        <p:pic>
          <p:nvPicPr>
            <p:cNvPr id="626697"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1384"/>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6698"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2296"/>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26700" name="Group 12"/>
          <p:cNvGrpSpPr>
            <a:grpSpLocks/>
          </p:cNvGrpSpPr>
          <p:nvPr/>
        </p:nvGrpSpPr>
        <p:grpSpPr bwMode="auto">
          <a:xfrm>
            <a:off x="1255968" y="1739180"/>
            <a:ext cx="1637242" cy="1225550"/>
            <a:chOff x="385" y="2795"/>
            <a:chExt cx="1769" cy="816"/>
          </a:xfrm>
        </p:grpSpPr>
        <p:sp>
          <p:nvSpPr>
            <p:cNvPr id="626701" name="Oval 1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02" name="Oval 14"/>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03" name="Oval 15"/>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04" name="Oval 16"/>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05" name="Oval 17"/>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06" name="Oval 1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07" name="Oval 19"/>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08" name="Oval 20"/>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09" name="Oval 21"/>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10" name="Oval 2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11" name="Oval 23"/>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12" name="Oval 2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13" name="Oval 2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14" name="Oval 26"/>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15" name="Oval 2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16" name="Oval 28"/>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17" name="Freeform 29"/>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626718" name="Group 30"/>
          <p:cNvGrpSpPr>
            <a:grpSpLocks/>
          </p:cNvGrpSpPr>
          <p:nvPr/>
        </p:nvGrpSpPr>
        <p:grpSpPr bwMode="auto">
          <a:xfrm>
            <a:off x="6948478" y="1669330"/>
            <a:ext cx="1637242" cy="1225550"/>
            <a:chOff x="385" y="2795"/>
            <a:chExt cx="1769" cy="816"/>
          </a:xfrm>
        </p:grpSpPr>
        <p:sp>
          <p:nvSpPr>
            <p:cNvPr id="626719" name="Oval 3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0" name="Oval 3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1" name="Oval 3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2" name="Oval 3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3" name="Oval 3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4" name="Oval 3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5" name="Oval 3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6" name="Oval 3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7" name="Oval 3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8" name="Oval 4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29" name="Oval 4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30" name="Oval 4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31" name="Oval 4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32" name="Oval 4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33" name="Oval 4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34" name="Oval 4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35" name="Freeform 47"/>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aphicFrame>
        <p:nvGraphicFramePr>
          <p:cNvPr id="626736" name="Object 48"/>
          <p:cNvGraphicFramePr>
            <a:graphicFrameLocks noChangeAspect="1"/>
          </p:cNvGraphicFramePr>
          <p:nvPr>
            <p:extLst>
              <p:ext uri="{D42A27DB-BD31-4B8C-83A1-F6EECF244321}">
                <p14:modId xmlns:p14="http://schemas.microsoft.com/office/powerpoint/2010/main" val="2835038100"/>
              </p:ext>
            </p:extLst>
          </p:nvPr>
        </p:nvGraphicFramePr>
        <p:xfrm>
          <a:off x="3586285" y="1577255"/>
          <a:ext cx="2971800" cy="1703388"/>
        </p:xfrm>
        <a:graphic>
          <a:graphicData uri="http://schemas.openxmlformats.org/presentationml/2006/ole">
            <mc:AlternateContent xmlns:mc="http://schemas.openxmlformats.org/markup-compatibility/2006">
              <mc:Choice xmlns:v="urn:schemas-microsoft-com:vml" Requires="v">
                <p:oleObj spid="_x0000_s7207" name="VISIO" r:id="rId5" imgW="1687068" imgH="964692" progId="">
                  <p:embed/>
                </p:oleObj>
              </mc:Choice>
              <mc:Fallback>
                <p:oleObj name="VISIO" r:id="rId5" imgW="1687068" imgH="964692" progId="">
                  <p:embed/>
                  <p:pic>
                    <p:nvPicPr>
                      <p:cNvPr id="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6285" y="1577255"/>
                        <a:ext cx="2971800" cy="1703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26737"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47514" y="2112244"/>
            <a:ext cx="56409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26738"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28109" y="2113831"/>
            <a:ext cx="56409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26739" name="Text Box 51"/>
          <p:cNvSpPr txBox="1">
            <a:spLocks noChangeArrowheads="1"/>
          </p:cNvSpPr>
          <p:nvPr/>
        </p:nvSpPr>
        <p:spPr bwMode="auto">
          <a:xfrm>
            <a:off x="1628912" y="1988840"/>
            <a:ext cx="94782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99"/>
                </a:solidFill>
                <a:latin typeface="+mn-lt"/>
                <a:ea typeface="黑体" pitchFamily="2" charset="-122"/>
              </a:rPr>
              <a:t>部门 </a:t>
            </a:r>
            <a:r>
              <a:rPr kumimoji="1" lang="en-US" altLang="zh-CN" sz="2000" b="1" dirty="0">
                <a:solidFill>
                  <a:srgbClr val="000099"/>
                </a:solidFill>
                <a:latin typeface="+mn-lt"/>
                <a:ea typeface="黑体" pitchFamily="2" charset="-122"/>
              </a:rPr>
              <a:t>A</a:t>
            </a:r>
          </a:p>
          <a:p>
            <a:pPr algn="ctr"/>
            <a:r>
              <a:rPr kumimoji="1" lang="zh-CN" altLang="en-US" sz="2000" b="1" dirty="0">
                <a:solidFill>
                  <a:srgbClr val="000099"/>
                </a:solidFill>
                <a:latin typeface="+mn-lt"/>
                <a:ea typeface="黑体" pitchFamily="2" charset="-122"/>
              </a:rPr>
              <a:t>网络</a:t>
            </a:r>
            <a:endParaRPr kumimoji="1" lang="en-US" altLang="zh-CN" sz="2000" b="1" dirty="0">
              <a:solidFill>
                <a:srgbClr val="000099"/>
              </a:solidFill>
              <a:latin typeface="+mn-lt"/>
              <a:ea typeface="黑体" pitchFamily="2" charset="-122"/>
            </a:endParaRPr>
          </a:p>
        </p:txBody>
      </p:sp>
      <p:sp>
        <p:nvSpPr>
          <p:cNvPr id="626740" name="AutoShape 52"/>
          <p:cNvSpPr>
            <a:spLocks noChangeArrowheads="1"/>
          </p:cNvSpPr>
          <p:nvPr/>
        </p:nvSpPr>
        <p:spPr bwMode="auto">
          <a:xfrm rot="-5400000">
            <a:off x="4747541" y="881137"/>
            <a:ext cx="360363" cy="2724150"/>
          </a:xfrm>
          <a:prstGeom prst="can">
            <a:avLst>
              <a:gd name="adj" fmla="val 25521"/>
            </a:avLst>
          </a:prstGeom>
          <a:gradFill rotWithShape="1">
            <a:gsLst>
              <a:gs pos="0">
                <a:srgbClr val="33CCFF">
                  <a:gamma/>
                  <a:shade val="46275"/>
                  <a:invGamma/>
                </a:srgbClr>
              </a:gs>
              <a:gs pos="50000">
                <a:srgbClr val="33CCFF"/>
              </a:gs>
              <a:gs pos="100000">
                <a:srgbClr val="33CC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6741" name="Text Box 53"/>
          <p:cNvSpPr txBox="1">
            <a:spLocks noChangeArrowheads="1"/>
          </p:cNvSpPr>
          <p:nvPr/>
        </p:nvSpPr>
        <p:spPr bwMode="auto">
          <a:xfrm>
            <a:off x="4592960" y="2566269"/>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互联网</a:t>
            </a:r>
          </a:p>
        </p:txBody>
      </p:sp>
      <p:sp>
        <p:nvSpPr>
          <p:cNvPr id="626742" name="Text Box 54"/>
          <p:cNvSpPr txBox="1">
            <a:spLocks noChangeArrowheads="1"/>
          </p:cNvSpPr>
          <p:nvPr/>
        </p:nvSpPr>
        <p:spPr bwMode="auto">
          <a:xfrm>
            <a:off x="7236047" y="1916832"/>
            <a:ext cx="95731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000" b="1" dirty="0">
                <a:solidFill>
                  <a:srgbClr val="000099"/>
                </a:solidFill>
                <a:latin typeface="+mn-lt"/>
                <a:ea typeface="黑体" pitchFamily="2" charset="-122"/>
              </a:rPr>
              <a:t>部门 </a:t>
            </a:r>
            <a:r>
              <a:rPr kumimoji="1" lang="en-US" altLang="zh-CN" sz="2000" b="1" dirty="0">
                <a:solidFill>
                  <a:srgbClr val="000099"/>
                </a:solidFill>
                <a:latin typeface="+mn-lt"/>
                <a:ea typeface="黑体" pitchFamily="2" charset="-122"/>
              </a:rPr>
              <a:t>B</a:t>
            </a:r>
          </a:p>
          <a:p>
            <a:pPr algn="ctr"/>
            <a:r>
              <a:rPr kumimoji="1" lang="zh-CN" altLang="en-US" sz="2000" b="1" dirty="0">
                <a:solidFill>
                  <a:srgbClr val="000099"/>
                </a:solidFill>
                <a:latin typeface="+mn-lt"/>
                <a:ea typeface="黑体" pitchFamily="2" charset="-122"/>
              </a:rPr>
              <a:t>网络</a:t>
            </a:r>
            <a:endParaRPr kumimoji="1" lang="en-US" altLang="zh-CN" sz="2000" b="1" dirty="0">
              <a:solidFill>
                <a:srgbClr val="000099"/>
              </a:solidFill>
              <a:latin typeface="+mn-lt"/>
              <a:ea typeface="黑体" pitchFamily="2" charset="-122"/>
            </a:endParaRPr>
          </a:p>
        </p:txBody>
      </p:sp>
      <p:sp>
        <p:nvSpPr>
          <p:cNvPr id="626743" name="Text Box 55"/>
          <p:cNvSpPr txBox="1">
            <a:spLocks noChangeArrowheads="1"/>
          </p:cNvSpPr>
          <p:nvPr/>
        </p:nvSpPr>
        <p:spPr bwMode="auto">
          <a:xfrm>
            <a:off x="2879028" y="2417043"/>
            <a:ext cx="4651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R</a:t>
            </a:r>
            <a:r>
              <a:rPr kumimoji="1" lang="en-US" altLang="zh-CN" sz="2000" b="1" baseline="-25000">
                <a:solidFill>
                  <a:srgbClr val="000099"/>
                </a:solidFill>
                <a:latin typeface="+mn-lt"/>
                <a:ea typeface="黑体" pitchFamily="2" charset="-122"/>
              </a:rPr>
              <a:t>1</a:t>
            </a:r>
            <a:endParaRPr kumimoji="1" lang="en-US" altLang="zh-CN" sz="2000" b="1">
              <a:solidFill>
                <a:srgbClr val="000099"/>
              </a:solidFill>
              <a:latin typeface="+mn-lt"/>
              <a:ea typeface="黑体" pitchFamily="2" charset="-122"/>
            </a:endParaRPr>
          </a:p>
        </p:txBody>
      </p:sp>
      <p:sp>
        <p:nvSpPr>
          <p:cNvPr id="626744" name="Text Box 56"/>
          <p:cNvSpPr txBox="1">
            <a:spLocks noChangeArrowheads="1"/>
          </p:cNvSpPr>
          <p:nvPr/>
        </p:nvSpPr>
        <p:spPr bwMode="auto">
          <a:xfrm>
            <a:off x="6653970" y="2345606"/>
            <a:ext cx="4651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R</a:t>
            </a:r>
            <a:r>
              <a:rPr kumimoji="1" lang="en-US" altLang="zh-CN" sz="2000" b="1" baseline="-25000">
                <a:solidFill>
                  <a:srgbClr val="000099"/>
                </a:solidFill>
                <a:latin typeface="+mn-lt"/>
                <a:ea typeface="黑体" pitchFamily="2" charset="-122"/>
              </a:rPr>
              <a:t>2</a:t>
            </a:r>
            <a:endParaRPr kumimoji="1" lang="en-US" altLang="zh-CN" sz="2000" b="1">
              <a:solidFill>
                <a:srgbClr val="000099"/>
              </a:solidFill>
              <a:latin typeface="+mn-lt"/>
              <a:ea typeface="黑体" pitchFamily="2" charset="-122"/>
            </a:endParaRPr>
          </a:p>
        </p:txBody>
      </p:sp>
      <p:sp>
        <p:nvSpPr>
          <p:cNvPr id="626745" name="Text Box 57"/>
          <p:cNvSpPr txBox="1">
            <a:spLocks noChangeArrowheads="1"/>
          </p:cNvSpPr>
          <p:nvPr/>
        </p:nvSpPr>
        <p:spPr bwMode="auto">
          <a:xfrm>
            <a:off x="4693413" y="2020863"/>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chemeClr val="bg1"/>
                </a:solidFill>
                <a:latin typeface="+mn-lt"/>
                <a:ea typeface="黑体" pitchFamily="2" charset="-122"/>
              </a:rPr>
              <a:t>隧道</a:t>
            </a:r>
          </a:p>
        </p:txBody>
      </p:sp>
      <p:sp>
        <p:nvSpPr>
          <p:cNvPr id="626746" name="Line 58"/>
          <p:cNvSpPr>
            <a:spLocks noChangeShapeType="1"/>
          </p:cNvSpPr>
          <p:nvPr/>
        </p:nvSpPr>
        <p:spPr bwMode="auto">
          <a:xfrm>
            <a:off x="3235448" y="2237655"/>
            <a:ext cx="41275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47" name="Line 59"/>
          <p:cNvSpPr>
            <a:spLocks noChangeShapeType="1"/>
          </p:cNvSpPr>
          <p:nvPr/>
        </p:nvSpPr>
        <p:spPr bwMode="auto">
          <a:xfrm>
            <a:off x="6289798" y="2237655"/>
            <a:ext cx="412750" cy="0"/>
          </a:xfrm>
          <a:prstGeom prst="line">
            <a:avLst/>
          </a:prstGeom>
          <a:noFill/>
          <a:ln w="3810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626748" name="Group 60"/>
          <p:cNvGrpSpPr>
            <a:grpSpLocks/>
          </p:cNvGrpSpPr>
          <p:nvPr/>
        </p:nvGrpSpPr>
        <p:grpSpPr bwMode="auto">
          <a:xfrm>
            <a:off x="2626643" y="1594719"/>
            <a:ext cx="4588405" cy="642937"/>
            <a:chOff x="1410" y="1411"/>
            <a:chExt cx="2668" cy="405"/>
          </a:xfrm>
        </p:grpSpPr>
        <p:sp>
          <p:nvSpPr>
            <p:cNvPr id="626749" name="Text Box 61"/>
            <p:cNvSpPr txBox="1">
              <a:spLocks noChangeArrowheads="1"/>
            </p:cNvSpPr>
            <p:nvPr/>
          </p:nvSpPr>
          <p:spPr bwMode="auto">
            <a:xfrm>
              <a:off x="1410" y="1411"/>
              <a:ext cx="72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125.1.2.3</a:t>
              </a:r>
            </a:p>
          </p:txBody>
        </p:sp>
        <p:sp>
          <p:nvSpPr>
            <p:cNvPr id="626750" name="Line 62"/>
            <p:cNvSpPr>
              <a:spLocks noChangeShapeType="1"/>
            </p:cNvSpPr>
            <p:nvPr/>
          </p:nvSpPr>
          <p:spPr bwMode="auto">
            <a:xfrm>
              <a:off x="1837" y="1616"/>
              <a:ext cx="23" cy="20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51" name="Text Box 63"/>
            <p:cNvSpPr txBox="1">
              <a:spLocks noChangeArrowheads="1"/>
            </p:cNvSpPr>
            <p:nvPr/>
          </p:nvSpPr>
          <p:spPr bwMode="auto">
            <a:xfrm>
              <a:off x="3350" y="1430"/>
              <a:ext cx="7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194.4.5.6</a:t>
              </a:r>
            </a:p>
          </p:txBody>
        </p:sp>
        <p:sp>
          <p:nvSpPr>
            <p:cNvPr id="626752" name="Line 64"/>
            <p:cNvSpPr>
              <a:spLocks noChangeShapeType="1"/>
            </p:cNvSpPr>
            <p:nvPr/>
          </p:nvSpPr>
          <p:spPr bwMode="auto">
            <a:xfrm flipH="1">
              <a:off x="3636" y="1616"/>
              <a:ext cx="60" cy="20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626753" name="Group 65"/>
          <p:cNvGrpSpPr>
            <a:grpSpLocks/>
          </p:cNvGrpSpPr>
          <p:nvPr/>
        </p:nvGrpSpPr>
        <p:grpSpPr bwMode="auto">
          <a:xfrm>
            <a:off x="8209085" y="1475656"/>
            <a:ext cx="1506538" cy="1712913"/>
            <a:chOff x="4656" y="1336"/>
            <a:chExt cx="876" cy="1079"/>
          </a:xfrm>
        </p:grpSpPr>
        <p:sp>
          <p:nvSpPr>
            <p:cNvPr id="626754" name="Line 66"/>
            <p:cNvSpPr>
              <a:spLocks noChangeShapeType="1"/>
            </p:cNvSpPr>
            <p:nvPr/>
          </p:nvSpPr>
          <p:spPr bwMode="auto">
            <a:xfrm flipH="1" flipV="1">
              <a:off x="4800" y="1912"/>
              <a:ext cx="348" cy="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55" name="Line 67"/>
            <p:cNvSpPr>
              <a:spLocks noChangeShapeType="1"/>
            </p:cNvSpPr>
            <p:nvPr/>
          </p:nvSpPr>
          <p:spPr bwMode="auto">
            <a:xfrm flipH="1" flipV="1">
              <a:off x="4656" y="2152"/>
              <a:ext cx="336" cy="192"/>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56" name="Line 68"/>
            <p:cNvSpPr>
              <a:spLocks noChangeShapeType="1"/>
            </p:cNvSpPr>
            <p:nvPr/>
          </p:nvSpPr>
          <p:spPr bwMode="auto">
            <a:xfrm flipH="1">
              <a:off x="4800" y="1528"/>
              <a:ext cx="240" cy="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pic>
          <p:nvPicPr>
            <p:cNvPr id="626757"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1768"/>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6758" name="Text Box 70"/>
            <p:cNvSpPr txBox="1">
              <a:spLocks noChangeArrowheads="1"/>
            </p:cNvSpPr>
            <p:nvPr/>
          </p:nvSpPr>
          <p:spPr bwMode="auto">
            <a:xfrm>
              <a:off x="5284" y="1729"/>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Y</a:t>
              </a:r>
            </a:p>
          </p:txBody>
        </p:sp>
        <p:sp>
          <p:nvSpPr>
            <p:cNvPr id="626759" name="Text Box 71"/>
            <p:cNvSpPr txBox="1">
              <a:spLocks noChangeArrowheads="1"/>
            </p:cNvSpPr>
            <p:nvPr/>
          </p:nvSpPr>
          <p:spPr bwMode="auto">
            <a:xfrm>
              <a:off x="4887" y="1955"/>
              <a:ext cx="64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10.2.0.3</a:t>
              </a:r>
            </a:p>
          </p:txBody>
        </p:sp>
        <p:pic>
          <p:nvPicPr>
            <p:cNvPr id="626760" name="Picture 7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1336"/>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6761" name="Picture 7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2200"/>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26762" name="Text Box 74"/>
          <p:cNvSpPr txBox="1">
            <a:spLocks noChangeArrowheads="1"/>
          </p:cNvSpPr>
          <p:nvPr/>
        </p:nvSpPr>
        <p:spPr bwMode="auto">
          <a:xfrm>
            <a:off x="4136193" y="3183359"/>
            <a:ext cx="20409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zh-CN" altLang="en-US" sz="2400" b="1" dirty="0">
                <a:solidFill>
                  <a:srgbClr val="C00000"/>
                </a:solidFill>
                <a:latin typeface="+mn-lt"/>
                <a:ea typeface="黑体" pitchFamily="2" charset="-122"/>
              </a:rPr>
              <a:t>使用隧道技术</a:t>
            </a:r>
          </a:p>
        </p:txBody>
      </p:sp>
      <p:sp>
        <p:nvSpPr>
          <p:cNvPr id="626763" name="AutoShape 75"/>
          <p:cNvSpPr>
            <a:spLocks noChangeArrowheads="1"/>
          </p:cNvSpPr>
          <p:nvPr/>
        </p:nvSpPr>
        <p:spPr bwMode="auto">
          <a:xfrm>
            <a:off x="6246803" y="1107355"/>
            <a:ext cx="495300" cy="152400"/>
          </a:xfrm>
          <a:prstGeom prst="rightArrow">
            <a:avLst>
              <a:gd name="adj1" fmla="val 50000"/>
              <a:gd name="adj2" fmla="val 75000"/>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6764" name="Rectangle 76"/>
          <p:cNvSpPr>
            <a:spLocks noChangeArrowheads="1"/>
          </p:cNvSpPr>
          <p:nvPr/>
        </p:nvSpPr>
        <p:spPr bwMode="auto">
          <a:xfrm>
            <a:off x="1020356" y="332656"/>
            <a:ext cx="3666596" cy="434975"/>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000" b="1" dirty="0">
                <a:solidFill>
                  <a:srgbClr val="C00000"/>
                </a:solidFill>
                <a:latin typeface="+mn-lt"/>
                <a:ea typeface="黑体" pitchFamily="2" charset="-122"/>
              </a:rPr>
              <a:t>加密的从</a:t>
            </a:r>
            <a:r>
              <a:rPr kumimoji="1" lang="zh-CN" altLang="en-US" sz="1200" b="1" dirty="0">
                <a:solidFill>
                  <a:srgbClr val="C00000"/>
                </a:solidFill>
                <a:latin typeface="+mn-lt"/>
                <a:ea typeface="黑体" pitchFamily="2" charset="-122"/>
              </a:rPr>
              <a:t> </a:t>
            </a:r>
            <a:r>
              <a:rPr kumimoji="1" lang="en-US" altLang="zh-CN" sz="2000" b="1" dirty="0">
                <a:solidFill>
                  <a:srgbClr val="C00000"/>
                </a:solidFill>
                <a:latin typeface="+mn-lt"/>
                <a:ea typeface="黑体" pitchFamily="2" charset="-122"/>
              </a:rPr>
              <a:t>X</a:t>
            </a:r>
            <a:r>
              <a:rPr kumimoji="1" lang="en-US" altLang="zh-CN" sz="1000" b="1" dirty="0">
                <a:solidFill>
                  <a:srgbClr val="C00000"/>
                </a:solidFill>
                <a:latin typeface="+mn-lt"/>
                <a:ea typeface="黑体" pitchFamily="2" charset="-122"/>
              </a:rPr>
              <a:t> </a:t>
            </a:r>
            <a:r>
              <a:rPr kumimoji="1" lang="zh-CN" altLang="en-US" sz="2000" b="1" dirty="0">
                <a:solidFill>
                  <a:srgbClr val="C00000"/>
                </a:solidFill>
                <a:latin typeface="+mn-lt"/>
                <a:ea typeface="黑体" pitchFamily="2" charset="-122"/>
              </a:rPr>
              <a:t>到</a:t>
            </a:r>
            <a:r>
              <a:rPr kumimoji="1" lang="zh-CN" altLang="en-US" sz="1000" b="1" dirty="0">
                <a:solidFill>
                  <a:srgbClr val="C00000"/>
                </a:solidFill>
                <a:latin typeface="+mn-lt"/>
                <a:ea typeface="黑体" pitchFamily="2" charset="-122"/>
              </a:rPr>
              <a:t> </a:t>
            </a:r>
            <a:r>
              <a:rPr kumimoji="1" lang="en-US" altLang="zh-CN" sz="2000" b="1" dirty="0">
                <a:solidFill>
                  <a:srgbClr val="C00000"/>
                </a:solidFill>
                <a:latin typeface="+mn-lt"/>
                <a:ea typeface="黑体" pitchFamily="2" charset="-122"/>
              </a:rPr>
              <a:t>Y</a:t>
            </a:r>
            <a:r>
              <a:rPr kumimoji="1" lang="en-US" altLang="zh-CN" sz="900" b="1" dirty="0">
                <a:solidFill>
                  <a:srgbClr val="C00000"/>
                </a:solidFill>
                <a:latin typeface="+mn-lt"/>
                <a:ea typeface="黑体" pitchFamily="2" charset="-122"/>
              </a:rPr>
              <a:t> </a:t>
            </a:r>
            <a:r>
              <a:rPr kumimoji="1" lang="zh-CN" altLang="en-US" sz="2000" b="1" dirty="0">
                <a:solidFill>
                  <a:srgbClr val="C00000"/>
                </a:solidFill>
                <a:latin typeface="+mn-lt"/>
                <a:ea typeface="黑体" pitchFamily="2" charset="-122"/>
              </a:rPr>
              <a:t>的内部数据报</a:t>
            </a:r>
          </a:p>
        </p:txBody>
      </p:sp>
      <p:sp>
        <p:nvSpPr>
          <p:cNvPr id="626765" name="Rectangle 77"/>
          <p:cNvSpPr>
            <a:spLocks noChangeArrowheads="1"/>
          </p:cNvSpPr>
          <p:nvPr/>
        </p:nvSpPr>
        <p:spPr bwMode="auto">
          <a:xfrm>
            <a:off x="1020356" y="983530"/>
            <a:ext cx="3709591" cy="396875"/>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000" b="1">
                <a:solidFill>
                  <a:srgbClr val="000099"/>
                </a:solidFill>
                <a:latin typeface="+mn-lt"/>
                <a:ea typeface="黑体" pitchFamily="2" charset="-122"/>
              </a:rPr>
              <a:t>外部数据报的数据部分</a:t>
            </a:r>
          </a:p>
        </p:txBody>
      </p:sp>
      <p:sp>
        <p:nvSpPr>
          <p:cNvPr id="626766" name="AutoShape 78"/>
          <p:cNvSpPr>
            <a:spLocks noChangeArrowheads="1"/>
          </p:cNvSpPr>
          <p:nvPr/>
        </p:nvSpPr>
        <p:spPr bwMode="auto">
          <a:xfrm>
            <a:off x="3751385" y="637455"/>
            <a:ext cx="165100" cy="457200"/>
          </a:xfrm>
          <a:prstGeom prst="downArrow">
            <a:avLst>
              <a:gd name="adj1" fmla="val 50000"/>
              <a:gd name="adj2" fmla="val 7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99"/>
              </a:solidFill>
              <a:latin typeface="+mn-lt"/>
              <a:ea typeface="黑体" pitchFamily="2" charset="-122"/>
            </a:endParaRPr>
          </a:p>
        </p:txBody>
      </p:sp>
      <p:sp>
        <p:nvSpPr>
          <p:cNvPr id="626767" name="Text Box 79"/>
          <p:cNvSpPr txBox="1">
            <a:spLocks noChangeArrowheads="1"/>
          </p:cNvSpPr>
          <p:nvPr/>
        </p:nvSpPr>
        <p:spPr bwMode="auto">
          <a:xfrm>
            <a:off x="6105128" y="188640"/>
            <a:ext cx="2643672" cy="646331"/>
          </a:xfrm>
          <a:prstGeom prst="rect">
            <a:avLst/>
          </a:prstGeom>
          <a:noFill/>
          <a:ln w="9525">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lnSpc>
                <a:spcPct val="90000"/>
              </a:lnSpc>
            </a:pPr>
            <a:r>
              <a:rPr kumimoji="1" lang="zh-CN" altLang="en-US" sz="2000" b="1">
                <a:solidFill>
                  <a:srgbClr val="000099"/>
                </a:solidFill>
                <a:latin typeface="+mn-lt"/>
                <a:ea typeface="黑体" pitchFamily="2" charset="-122"/>
              </a:rPr>
              <a:t>源地址：</a:t>
            </a:r>
            <a:r>
              <a:rPr kumimoji="1" lang="en-US" altLang="zh-CN" sz="2000" b="1">
                <a:solidFill>
                  <a:srgbClr val="000099"/>
                </a:solidFill>
                <a:latin typeface="+mn-lt"/>
                <a:ea typeface="黑体" pitchFamily="2" charset="-122"/>
              </a:rPr>
              <a:t>125.1.2.3</a:t>
            </a:r>
          </a:p>
          <a:p>
            <a:pPr algn="r">
              <a:lnSpc>
                <a:spcPct val="90000"/>
              </a:lnSpc>
            </a:pPr>
            <a:r>
              <a:rPr kumimoji="1" lang="zh-CN" altLang="en-US" sz="2000" b="1">
                <a:solidFill>
                  <a:srgbClr val="000099"/>
                </a:solidFill>
                <a:latin typeface="+mn-lt"/>
                <a:ea typeface="黑体" pitchFamily="2" charset="-122"/>
              </a:rPr>
              <a:t>目的地址：</a:t>
            </a:r>
            <a:r>
              <a:rPr kumimoji="1" lang="en-US" altLang="zh-CN" sz="2000" b="1">
                <a:solidFill>
                  <a:srgbClr val="000099"/>
                </a:solidFill>
                <a:latin typeface="+mn-lt"/>
                <a:ea typeface="黑体" pitchFamily="2" charset="-122"/>
              </a:rPr>
              <a:t>194.4.5.6</a:t>
            </a:r>
          </a:p>
        </p:txBody>
      </p:sp>
      <p:sp>
        <p:nvSpPr>
          <p:cNvPr id="626768" name="Freeform 80"/>
          <p:cNvSpPr>
            <a:spLocks/>
          </p:cNvSpPr>
          <p:nvPr/>
        </p:nvSpPr>
        <p:spPr bwMode="auto">
          <a:xfrm>
            <a:off x="4054068" y="1488355"/>
            <a:ext cx="502179" cy="762000"/>
          </a:xfrm>
          <a:custGeom>
            <a:avLst/>
            <a:gdLst>
              <a:gd name="T0" fmla="*/ 0 w 292"/>
              <a:gd name="T1" fmla="*/ 0 h 584"/>
              <a:gd name="T2" fmla="*/ 4 w 292"/>
              <a:gd name="T3" fmla="*/ 126 h 584"/>
              <a:gd name="T4" fmla="*/ 22 w 292"/>
              <a:gd name="T5" fmla="*/ 282 h 584"/>
              <a:gd name="T6" fmla="*/ 46 w 292"/>
              <a:gd name="T7" fmla="*/ 390 h 584"/>
              <a:gd name="T8" fmla="*/ 96 w 292"/>
              <a:gd name="T9" fmla="*/ 488 h 584"/>
              <a:gd name="T10" fmla="*/ 184 w 292"/>
              <a:gd name="T11" fmla="*/ 560 h 584"/>
              <a:gd name="T12" fmla="*/ 292 w 292"/>
              <a:gd name="T13" fmla="*/ 584 h 584"/>
            </a:gdLst>
            <a:ahLst/>
            <a:cxnLst>
              <a:cxn ang="0">
                <a:pos x="T0" y="T1"/>
              </a:cxn>
              <a:cxn ang="0">
                <a:pos x="T2" y="T3"/>
              </a:cxn>
              <a:cxn ang="0">
                <a:pos x="T4" y="T5"/>
              </a:cxn>
              <a:cxn ang="0">
                <a:pos x="T6" y="T7"/>
              </a:cxn>
              <a:cxn ang="0">
                <a:pos x="T8" y="T9"/>
              </a:cxn>
              <a:cxn ang="0">
                <a:pos x="T10" y="T11"/>
              </a:cxn>
              <a:cxn ang="0">
                <a:pos x="T12" y="T13"/>
              </a:cxn>
            </a:cxnLst>
            <a:rect l="0" t="0" r="r" b="b"/>
            <a:pathLst>
              <a:path w="292" h="584">
                <a:moveTo>
                  <a:pt x="0" y="0"/>
                </a:moveTo>
                <a:cubicBezTo>
                  <a:pt x="1" y="21"/>
                  <a:pt x="0" y="79"/>
                  <a:pt x="4" y="126"/>
                </a:cubicBezTo>
                <a:cubicBezTo>
                  <a:pt x="8" y="173"/>
                  <a:pt x="15" y="238"/>
                  <a:pt x="22" y="282"/>
                </a:cubicBezTo>
                <a:cubicBezTo>
                  <a:pt x="29" y="326"/>
                  <a:pt x="34" y="356"/>
                  <a:pt x="46" y="390"/>
                </a:cubicBezTo>
                <a:cubicBezTo>
                  <a:pt x="58" y="424"/>
                  <a:pt x="73" y="460"/>
                  <a:pt x="96" y="488"/>
                </a:cubicBezTo>
                <a:cubicBezTo>
                  <a:pt x="119" y="516"/>
                  <a:pt x="151" y="544"/>
                  <a:pt x="184" y="560"/>
                </a:cubicBezTo>
                <a:cubicBezTo>
                  <a:pt x="217" y="576"/>
                  <a:pt x="270" y="579"/>
                  <a:pt x="292" y="584"/>
                </a:cubicBezTo>
              </a:path>
            </a:pathLst>
          </a:custGeom>
          <a:noFill/>
          <a:ln w="76200" cmpd="sng">
            <a:solidFill>
              <a:srgbClr val="FF0000"/>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69" name="Rectangle 81"/>
          <p:cNvSpPr>
            <a:spLocks noChangeArrowheads="1"/>
          </p:cNvSpPr>
          <p:nvPr/>
        </p:nvSpPr>
        <p:spPr bwMode="auto">
          <a:xfrm>
            <a:off x="4686952" y="983530"/>
            <a:ext cx="1559852" cy="3968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zh-CN" altLang="en-US" sz="2000" b="1">
                <a:solidFill>
                  <a:srgbClr val="000099"/>
                </a:solidFill>
                <a:latin typeface="+mn-lt"/>
                <a:ea typeface="黑体" pitchFamily="2" charset="-122"/>
              </a:rPr>
              <a:t>数据报首部</a:t>
            </a:r>
          </a:p>
        </p:txBody>
      </p:sp>
      <p:sp>
        <p:nvSpPr>
          <p:cNvPr id="626770" name="Line 82"/>
          <p:cNvSpPr>
            <a:spLocks noChangeShapeType="1"/>
          </p:cNvSpPr>
          <p:nvPr/>
        </p:nvSpPr>
        <p:spPr bwMode="auto">
          <a:xfrm flipH="1">
            <a:off x="5637345" y="767630"/>
            <a:ext cx="467783" cy="28733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71" name="Line 83"/>
          <p:cNvSpPr>
            <a:spLocks noChangeShapeType="1"/>
          </p:cNvSpPr>
          <p:nvPr/>
        </p:nvSpPr>
        <p:spPr bwMode="auto">
          <a:xfrm>
            <a:off x="1020357" y="1488355"/>
            <a:ext cx="5226447"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626772" name="Group 84"/>
          <p:cNvGrpSpPr>
            <a:grpSpLocks/>
          </p:cNvGrpSpPr>
          <p:nvPr/>
        </p:nvGrpSpPr>
        <p:grpSpPr bwMode="auto">
          <a:xfrm>
            <a:off x="351358" y="3812430"/>
            <a:ext cx="9426178" cy="2057400"/>
            <a:chOff x="87" y="2872"/>
            <a:chExt cx="5481" cy="1296"/>
          </a:xfrm>
        </p:grpSpPr>
        <p:sp>
          <p:nvSpPr>
            <p:cNvPr id="626773" name="AutoShape 85"/>
            <p:cNvSpPr>
              <a:spLocks noChangeArrowheads="1"/>
            </p:cNvSpPr>
            <p:nvPr/>
          </p:nvSpPr>
          <p:spPr bwMode="auto">
            <a:xfrm>
              <a:off x="96" y="2872"/>
              <a:ext cx="5472" cy="1296"/>
            </a:xfrm>
            <a:prstGeom prst="roundRect">
              <a:avLst>
                <a:gd name="adj" fmla="val 16667"/>
              </a:avLst>
            </a:prstGeom>
            <a:solidFill>
              <a:srgbClr val="FF99FF"/>
            </a:solidFill>
            <a:ln w="9525" cap="rnd">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626774" name="Line 86"/>
            <p:cNvSpPr>
              <a:spLocks noChangeShapeType="1"/>
            </p:cNvSpPr>
            <p:nvPr/>
          </p:nvSpPr>
          <p:spPr bwMode="auto">
            <a:xfrm>
              <a:off x="1764" y="3400"/>
              <a:ext cx="2076" cy="0"/>
            </a:xfrm>
            <a:prstGeom prst="line">
              <a:avLst/>
            </a:prstGeom>
            <a:noFill/>
            <a:ln w="571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75" name="Line 87"/>
            <p:cNvSpPr>
              <a:spLocks noChangeShapeType="1"/>
            </p:cNvSpPr>
            <p:nvPr/>
          </p:nvSpPr>
          <p:spPr bwMode="auto">
            <a:xfrm flipV="1">
              <a:off x="816" y="3832"/>
              <a:ext cx="24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76" name="Line 88"/>
            <p:cNvSpPr>
              <a:spLocks noChangeShapeType="1"/>
            </p:cNvSpPr>
            <p:nvPr/>
          </p:nvSpPr>
          <p:spPr bwMode="auto">
            <a:xfrm>
              <a:off x="624" y="3160"/>
              <a:ext cx="240"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77" name="Line 89"/>
            <p:cNvSpPr>
              <a:spLocks noChangeShapeType="1"/>
            </p:cNvSpPr>
            <p:nvPr/>
          </p:nvSpPr>
          <p:spPr bwMode="auto">
            <a:xfrm flipV="1">
              <a:off x="432" y="3551"/>
              <a:ext cx="2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626778" name="Group 90"/>
            <p:cNvGrpSpPr>
              <a:grpSpLocks/>
            </p:cNvGrpSpPr>
            <p:nvPr/>
          </p:nvGrpSpPr>
          <p:grpSpPr bwMode="auto">
            <a:xfrm>
              <a:off x="657" y="3091"/>
              <a:ext cx="952" cy="772"/>
              <a:chOff x="385" y="2795"/>
              <a:chExt cx="1769" cy="816"/>
            </a:xfrm>
          </p:grpSpPr>
          <p:sp>
            <p:nvSpPr>
              <p:cNvPr id="626779" name="Oval 9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0" name="Oval 9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1" name="Oval 9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2" name="Oval 9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3" name="Oval 9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4" name="Oval 9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5" name="Oval 9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6" name="Oval 9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7" name="Oval 9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8" name="Oval 10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89" name="Oval 10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90" name="Oval 10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91" name="Oval 10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92" name="Oval 10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93" name="Oval 10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94" name="Oval 10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795" name="Freeform 107"/>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626796" name="Line 108"/>
            <p:cNvSpPr>
              <a:spLocks noChangeShapeType="1"/>
            </p:cNvSpPr>
            <p:nvPr/>
          </p:nvSpPr>
          <p:spPr bwMode="auto">
            <a:xfrm flipH="1">
              <a:off x="4800" y="3112"/>
              <a:ext cx="24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97" name="Line 109"/>
            <p:cNvSpPr>
              <a:spLocks noChangeShapeType="1"/>
            </p:cNvSpPr>
            <p:nvPr/>
          </p:nvSpPr>
          <p:spPr bwMode="auto">
            <a:xfrm flipH="1" flipV="1">
              <a:off x="4656" y="3736"/>
              <a:ext cx="336"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798" name="Line 110"/>
            <p:cNvSpPr>
              <a:spLocks noChangeShapeType="1"/>
            </p:cNvSpPr>
            <p:nvPr/>
          </p:nvSpPr>
          <p:spPr bwMode="auto">
            <a:xfrm flipH="1" flipV="1">
              <a:off x="4800" y="3496"/>
              <a:ext cx="3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626799" name="Group 111"/>
            <p:cNvGrpSpPr>
              <a:grpSpLocks/>
            </p:cNvGrpSpPr>
            <p:nvPr/>
          </p:nvGrpSpPr>
          <p:grpSpPr bwMode="auto">
            <a:xfrm>
              <a:off x="3969" y="3046"/>
              <a:ext cx="952" cy="772"/>
              <a:chOff x="385" y="2795"/>
              <a:chExt cx="1769" cy="816"/>
            </a:xfrm>
          </p:grpSpPr>
          <p:sp>
            <p:nvSpPr>
              <p:cNvPr id="626800" name="Oval 112"/>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1" name="Oval 113"/>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2" name="Oval 114"/>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3" name="Oval 115"/>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4" name="Oval 116"/>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5" name="Oval 117"/>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6" name="Oval 118"/>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7" name="Oval 119"/>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8" name="Oval 120"/>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09" name="Oval 121"/>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10" name="Oval 122"/>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11" name="Oval 123"/>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12" name="Oval 124"/>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13" name="Oval 125"/>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14" name="Oval 126"/>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15" name="Oval 127"/>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99"/>
                  </a:solidFill>
                  <a:latin typeface="+mn-lt"/>
                  <a:ea typeface="黑体" pitchFamily="2" charset="-122"/>
                </a:endParaRPr>
              </a:p>
            </p:txBody>
          </p:sp>
          <p:sp>
            <p:nvSpPr>
              <p:cNvPr id="626816" name="Freeform 128"/>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pic>
          <p:nvPicPr>
            <p:cNvPr id="626817" name="Picture 12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48" y="3321"/>
              <a:ext cx="328"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26818" name="Picture 13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69" y="3322"/>
              <a:ext cx="328" cy="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626819" name="Picture 1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3407"/>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6820" name="Text Box 132"/>
            <p:cNvSpPr txBox="1">
              <a:spLocks noChangeArrowheads="1"/>
            </p:cNvSpPr>
            <p:nvPr/>
          </p:nvSpPr>
          <p:spPr bwMode="auto">
            <a:xfrm>
              <a:off x="864" y="3247"/>
              <a:ext cx="551"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部门 </a:t>
              </a:r>
              <a:r>
                <a:rPr kumimoji="1" lang="en-US" altLang="zh-CN" sz="2000" b="1" dirty="0">
                  <a:solidFill>
                    <a:srgbClr val="000099"/>
                  </a:solidFill>
                  <a:latin typeface="+mn-lt"/>
                  <a:ea typeface="黑体" pitchFamily="2" charset="-122"/>
                </a:rPr>
                <a:t>A</a:t>
              </a:r>
            </a:p>
            <a:p>
              <a:r>
                <a:rPr kumimoji="1" lang="zh-CN" altLang="en-US" sz="2000" b="1" dirty="0">
                  <a:solidFill>
                    <a:srgbClr val="000099"/>
                  </a:solidFill>
                  <a:latin typeface="+mn-lt"/>
                  <a:ea typeface="黑体" pitchFamily="2" charset="-122"/>
                </a:rPr>
                <a:t>网络</a:t>
              </a:r>
              <a:endParaRPr kumimoji="1" lang="en-US" altLang="zh-CN" sz="2000" b="1" dirty="0">
                <a:solidFill>
                  <a:srgbClr val="000099"/>
                </a:solidFill>
                <a:latin typeface="+mn-lt"/>
                <a:ea typeface="黑体" pitchFamily="2" charset="-122"/>
              </a:endParaRPr>
            </a:p>
          </p:txBody>
        </p:sp>
        <p:pic>
          <p:nvPicPr>
            <p:cNvPr id="626821" name="Picture 1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3352"/>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6822" name="Text Box 134"/>
            <p:cNvSpPr txBox="1">
              <a:spLocks noChangeArrowheads="1"/>
            </p:cNvSpPr>
            <p:nvPr/>
          </p:nvSpPr>
          <p:spPr bwMode="auto">
            <a:xfrm>
              <a:off x="4174" y="3201"/>
              <a:ext cx="55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部门 </a:t>
              </a:r>
              <a:r>
                <a:rPr kumimoji="1" lang="en-US" altLang="zh-CN" sz="2000" b="1" dirty="0">
                  <a:solidFill>
                    <a:srgbClr val="000099"/>
                  </a:solidFill>
                  <a:latin typeface="+mn-lt"/>
                  <a:ea typeface="黑体" pitchFamily="2" charset="-122"/>
                </a:rPr>
                <a:t>B</a:t>
              </a:r>
            </a:p>
            <a:p>
              <a:r>
                <a:rPr kumimoji="1" lang="zh-CN" altLang="en-US" sz="2000" b="1" dirty="0">
                  <a:solidFill>
                    <a:srgbClr val="000099"/>
                  </a:solidFill>
                  <a:latin typeface="+mn-lt"/>
                  <a:ea typeface="黑体" pitchFamily="2" charset="-122"/>
                </a:rPr>
                <a:t>网络</a:t>
              </a:r>
              <a:endParaRPr kumimoji="1" lang="en-US" altLang="zh-CN" sz="2000" b="1" dirty="0">
                <a:solidFill>
                  <a:srgbClr val="000099"/>
                </a:solidFill>
                <a:latin typeface="+mn-lt"/>
                <a:ea typeface="黑体" pitchFamily="2" charset="-122"/>
              </a:endParaRPr>
            </a:p>
          </p:txBody>
        </p:sp>
        <p:sp>
          <p:nvSpPr>
            <p:cNvPr id="626823" name="Text Box 135"/>
            <p:cNvSpPr txBox="1">
              <a:spLocks noChangeArrowheads="1"/>
            </p:cNvSpPr>
            <p:nvPr/>
          </p:nvSpPr>
          <p:spPr bwMode="auto">
            <a:xfrm>
              <a:off x="309" y="3176"/>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X</a:t>
              </a:r>
            </a:p>
          </p:txBody>
        </p:sp>
        <p:sp>
          <p:nvSpPr>
            <p:cNvPr id="626824" name="Text Box 136"/>
            <p:cNvSpPr txBox="1">
              <a:spLocks noChangeArrowheads="1"/>
            </p:cNvSpPr>
            <p:nvPr/>
          </p:nvSpPr>
          <p:spPr bwMode="auto">
            <a:xfrm>
              <a:off x="5072" y="3128"/>
              <a:ext cx="2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Y</a:t>
              </a:r>
            </a:p>
          </p:txBody>
        </p:sp>
        <p:sp>
          <p:nvSpPr>
            <p:cNvPr id="626825" name="Text Box 137"/>
            <p:cNvSpPr txBox="1">
              <a:spLocks noChangeArrowheads="1"/>
            </p:cNvSpPr>
            <p:nvPr/>
          </p:nvSpPr>
          <p:spPr bwMode="auto">
            <a:xfrm>
              <a:off x="1523" y="3132"/>
              <a:ext cx="2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R</a:t>
              </a:r>
              <a:r>
                <a:rPr kumimoji="1" lang="en-US" altLang="zh-CN" sz="2000" b="1" baseline="-25000">
                  <a:solidFill>
                    <a:srgbClr val="000099"/>
                  </a:solidFill>
                  <a:latin typeface="+mn-lt"/>
                  <a:ea typeface="黑体" pitchFamily="2" charset="-122"/>
                </a:rPr>
                <a:t>1</a:t>
              </a:r>
              <a:endParaRPr kumimoji="1" lang="en-US" altLang="zh-CN" sz="2000" b="1">
                <a:solidFill>
                  <a:srgbClr val="000099"/>
                </a:solidFill>
                <a:latin typeface="+mn-lt"/>
                <a:ea typeface="黑体" pitchFamily="2" charset="-122"/>
              </a:endParaRPr>
            </a:p>
          </p:txBody>
        </p:sp>
        <p:sp>
          <p:nvSpPr>
            <p:cNvPr id="626826" name="Text Box 138"/>
            <p:cNvSpPr txBox="1">
              <a:spLocks noChangeArrowheads="1"/>
            </p:cNvSpPr>
            <p:nvPr/>
          </p:nvSpPr>
          <p:spPr bwMode="auto">
            <a:xfrm>
              <a:off x="3815" y="3084"/>
              <a:ext cx="2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R</a:t>
              </a:r>
              <a:r>
                <a:rPr kumimoji="1" lang="en-US" altLang="zh-CN" sz="2000" b="1" baseline="-25000">
                  <a:solidFill>
                    <a:srgbClr val="000099"/>
                  </a:solidFill>
                  <a:latin typeface="+mn-lt"/>
                  <a:ea typeface="黑体" pitchFamily="2" charset="-122"/>
                </a:rPr>
                <a:t>2</a:t>
              </a:r>
              <a:endParaRPr kumimoji="1" lang="en-US" altLang="zh-CN" sz="2000" b="1">
                <a:solidFill>
                  <a:srgbClr val="000099"/>
                </a:solidFill>
                <a:latin typeface="+mn-lt"/>
                <a:ea typeface="黑体" pitchFamily="2" charset="-122"/>
              </a:endParaRPr>
            </a:p>
          </p:txBody>
        </p:sp>
        <p:sp>
          <p:nvSpPr>
            <p:cNvPr id="626827" name="Text Box 139"/>
            <p:cNvSpPr txBox="1">
              <a:spLocks noChangeArrowheads="1"/>
            </p:cNvSpPr>
            <p:nvPr/>
          </p:nvSpPr>
          <p:spPr bwMode="auto">
            <a:xfrm>
              <a:off x="1410" y="2888"/>
              <a:ext cx="72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125.1.2.3</a:t>
              </a:r>
            </a:p>
          </p:txBody>
        </p:sp>
        <p:sp>
          <p:nvSpPr>
            <p:cNvPr id="626828" name="Line 140"/>
            <p:cNvSpPr>
              <a:spLocks noChangeShapeType="1"/>
            </p:cNvSpPr>
            <p:nvPr/>
          </p:nvSpPr>
          <p:spPr bwMode="auto">
            <a:xfrm>
              <a:off x="1812" y="3112"/>
              <a:ext cx="48" cy="28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829" name="Text Box 141"/>
            <p:cNvSpPr txBox="1">
              <a:spLocks noChangeArrowheads="1"/>
            </p:cNvSpPr>
            <p:nvPr/>
          </p:nvSpPr>
          <p:spPr bwMode="auto">
            <a:xfrm>
              <a:off x="3186" y="2892"/>
              <a:ext cx="7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2000" b="1">
                  <a:solidFill>
                    <a:srgbClr val="000099"/>
                  </a:solidFill>
                  <a:latin typeface="+mn-lt"/>
                  <a:ea typeface="黑体" pitchFamily="2" charset="-122"/>
                </a:rPr>
                <a:t>194.4.5.6</a:t>
              </a:r>
            </a:p>
          </p:txBody>
        </p:sp>
        <p:sp>
          <p:nvSpPr>
            <p:cNvPr id="626830" name="Line 142"/>
            <p:cNvSpPr>
              <a:spLocks noChangeShapeType="1"/>
            </p:cNvSpPr>
            <p:nvPr/>
          </p:nvSpPr>
          <p:spPr bwMode="auto">
            <a:xfrm>
              <a:off x="3588" y="3112"/>
              <a:ext cx="48" cy="28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26831" name="Text Box 143"/>
            <p:cNvSpPr txBox="1">
              <a:spLocks noChangeArrowheads="1"/>
            </p:cNvSpPr>
            <p:nvPr/>
          </p:nvSpPr>
          <p:spPr bwMode="auto">
            <a:xfrm>
              <a:off x="87" y="3615"/>
              <a:ext cx="64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10.1.0.1</a:t>
              </a:r>
            </a:p>
          </p:txBody>
        </p:sp>
        <p:sp>
          <p:nvSpPr>
            <p:cNvPr id="626832" name="Text Box 144"/>
            <p:cNvSpPr txBox="1">
              <a:spLocks noChangeArrowheads="1"/>
            </p:cNvSpPr>
            <p:nvPr/>
          </p:nvSpPr>
          <p:spPr bwMode="auto">
            <a:xfrm>
              <a:off x="4887" y="3512"/>
              <a:ext cx="64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en-US" altLang="zh-CN" sz="2000" b="1">
                  <a:solidFill>
                    <a:srgbClr val="000099"/>
                  </a:solidFill>
                  <a:latin typeface="+mn-lt"/>
                  <a:ea typeface="黑体" pitchFamily="2" charset="-122"/>
                </a:rPr>
                <a:t>10.2.0.3</a:t>
              </a:r>
            </a:p>
          </p:txBody>
        </p:sp>
        <p:pic>
          <p:nvPicPr>
            <p:cNvPr id="626833" name="Picture 1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2968"/>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6834" name="Picture 1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3880"/>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6835" name="Picture 1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2920"/>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6836" name="Picture 1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3784"/>
              <a:ext cx="212"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6837" name="Text Box 149"/>
            <p:cNvSpPr txBox="1">
              <a:spLocks noChangeArrowheads="1"/>
            </p:cNvSpPr>
            <p:nvPr/>
          </p:nvSpPr>
          <p:spPr bwMode="auto">
            <a:xfrm>
              <a:off x="2113" y="3848"/>
              <a:ext cx="14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kumimoji="1" lang="zh-CN" altLang="en-US" sz="2400" b="1" dirty="0">
                  <a:solidFill>
                    <a:srgbClr val="000099"/>
                  </a:solidFill>
                  <a:latin typeface="+mn-lt"/>
                  <a:ea typeface="黑体" pitchFamily="2" charset="-122"/>
                </a:rPr>
                <a:t>虚拟专用网 </a:t>
              </a:r>
              <a:r>
                <a:rPr kumimoji="1" lang="en-US" altLang="zh-CN" sz="2400" b="1" dirty="0">
                  <a:solidFill>
                    <a:srgbClr val="000099"/>
                  </a:solidFill>
                  <a:latin typeface="+mn-lt"/>
                  <a:ea typeface="黑体" pitchFamily="2" charset="-122"/>
                </a:rPr>
                <a:t>VPN</a:t>
              </a:r>
            </a:p>
          </p:txBody>
        </p:sp>
      </p:grpSp>
      <p:sp>
        <p:nvSpPr>
          <p:cNvPr id="2" name="矩形 1"/>
          <p:cNvSpPr/>
          <p:nvPr/>
        </p:nvSpPr>
        <p:spPr>
          <a:xfrm>
            <a:off x="2558173" y="6063679"/>
            <a:ext cx="5590032" cy="461665"/>
          </a:xfrm>
          <a:prstGeom prst="rect">
            <a:avLst/>
          </a:prstGeom>
        </p:spPr>
        <p:txBody>
          <a:bodyPr wrap="square">
            <a:spAutoFit/>
          </a:bodyPr>
          <a:lstStyle/>
          <a:p>
            <a:pPr algn="ctr"/>
            <a:r>
              <a:rPr lang="zh-CN" altLang="zh-CN" sz="2400" b="1" dirty="0">
                <a:latin typeface="+mn-lt"/>
                <a:ea typeface="黑体" pitchFamily="2" charset="-122"/>
              </a:rPr>
              <a:t>用隧道技术实现虚拟专用网</a:t>
            </a:r>
            <a:endParaRPr lang="zh-CN" altLang="en-US" sz="2400" b="1" dirty="0">
              <a:latin typeface="+mn-lt"/>
              <a:ea typeface="黑体" pitchFamily="2" charset="-122"/>
            </a:endParaRPr>
          </a:p>
        </p:txBody>
      </p:sp>
    </p:spTree>
    <p:extLst>
      <p:ext uri="{BB962C8B-B14F-4D97-AF65-F5344CB8AC3E}">
        <p14:creationId xmlns:p14="http://schemas.microsoft.com/office/powerpoint/2010/main" val="24989029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a:t>
            </a:r>
            <a:r>
              <a:rPr lang="zh-CN" altLang="zh-CN" dirty="0"/>
              <a:t>层</a:t>
            </a:r>
            <a:r>
              <a:rPr lang="zh-CN" altLang="en-US" dirty="0"/>
              <a:t>（下）</a:t>
            </a:r>
          </a:p>
        </p:txBody>
      </p:sp>
      <p:sp>
        <p:nvSpPr>
          <p:cNvPr id="3" name="内容占位符 2"/>
          <p:cNvSpPr>
            <a:spLocks noGrp="1"/>
          </p:cNvSpPr>
          <p:nvPr>
            <p:ph idx="1"/>
          </p:nvPr>
        </p:nvSpPr>
        <p:spPr/>
        <p:txBody>
          <a:bodyPr/>
          <a:lstStyle/>
          <a:p>
            <a:pPr>
              <a:lnSpc>
                <a:spcPct val="100000"/>
              </a:lnSpc>
            </a:pPr>
            <a:r>
              <a:rPr lang="zh-CN" altLang="zh-CN" dirty="0">
                <a:solidFill>
                  <a:schemeClr val="bg1">
                    <a:lumMod val="75000"/>
                  </a:schemeClr>
                </a:solidFill>
              </a:rPr>
              <a:t>划分子网</a:t>
            </a:r>
            <a:endParaRPr lang="en-US" altLang="zh-CN" dirty="0">
              <a:solidFill>
                <a:schemeClr val="bg1">
                  <a:lumMod val="75000"/>
                </a:schemeClr>
              </a:solidFill>
            </a:endParaRPr>
          </a:p>
          <a:p>
            <a:pPr>
              <a:lnSpc>
                <a:spcPct val="100000"/>
              </a:lnSpc>
            </a:pPr>
            <a:r>
              <a:rPr lang="zh-CN" altLang="zh-CN" dirty="0">
                <a:solidFill>
                  <a:schemeClr val="bg1">
                    <a:lumMod val="75000"/>
                  </a:schemeClr>
                </a:solidFill>
              </a:rPr>
              <a:t>构造超网</a:t>
            </a:r>
          </a:p>
          <a:p>
            <a:pPr>
              <a:lnSpc>
                <a:spcPct val="100000"/>
              </a:lnSpc>
            </a:pPr>
            <a:r>
              <a:rPr lang="zh-CN" altLang="zh-CN" dirty="0">
                <a:solidFill>
                  <a:schemeClr val="bg1">
                    <a:lumMod val="75000"/>
                  </a:schemeClr>
                </a:solidFill>
              </a:rPr>
              <a:t>互联网的路由选择协议</a:t>
            </a:r>
          </a:p>
          <a:p>
            <a:pPr>
              <a:lnSpc>
                <a:spcPct val="100000"/>
              </a:lnSpc>
            </a:pPr>
            <a:r>
              <a:rPr lang="en-US" altLang="zh-CN" dirty="0">
                <a:solidFill>
                  <a:schemeClr val="bg1">
                    <a:lumMod val="75000"/>
                  </a:schemeClr>
                </a:solidFill>
              </a:rPr>
              <a:t>IPv6</a:t>
            </a:r>
            <a:endParaRPr lang="zh-CN" altLang="zh-CN" dirty="0">
              <a:solidFill>
                <a:schemeClr val="bg1">
                  <a:lumMod val="75000"/>
                </a:schemeClr>
              </a:solidFill>
            </a:endParaRPr>
          </a:p>
          <a:p>
            <a:pPr>
              <a:lnSpc>
                <a:spcPct val="100000"/>
              </a:lnSpc>
            </a:pPr>
            <a:r>
              <a:rPr lang="en-US" altLang="zh-CN" dirty="0">
                <a:solidFill>
                  <a:schemeClr val="bg1">
                    <a:lumMod val="75000"/>
                  </a:schemeClr>
                </a:solidFill>
              </a:rPr>
              <a:t>IP</a:t>
            </a:r>
            <a:r>
              <a:rPr lang="zh-CN" altLang="zh-CN" dirty="0">
                <a:solidFill>
                  <a:schemeClr val="bg1">
                    <a:lumMod val="75000"/>
                  </a:schemeClr>
                </a:solidFill>
              </a:rPr>
              <a:t>多播</a:t>
            </a:r>
          </a:p>
          <a:p>
            <a:pPr>
              <a:lnSpc>
                <a:spcPct val="100000"/>
              </a:lnSpc>
            </a:pPr>
            <a:r>
              <a:rPr lang="zh-CN" altLang="zh-CN" dirty="0">
                <a:solidFill>
                  <a:schemeClr val="bg1">
                    <a:lumMod val="75000"/>
                  </a:schemeClr>
                </a:solidFill>
              </a:rPr>
              <a:t>虚拟专用网</a:t>
            </a:r>
            <a:r>
              <a:rPr lang="en-US" altLang="zh-CN" dirty="0">
                <a:solidFill>
                  <a:schemeClr val="bg1">
                    <a:lumMod val="75000"/>
                  </a:schemeClr>
                </a:solidFill>
              </a:rPr>
              <a:t> VPN</a:t>
            </a:r>
          </a:p>
          <a:p>
            <a:pPr>
              <a:lnSpc>
                <a:spcPct val="100000"/>
              </a:lnSpc>
            </a:pPr>
            <a:r>
              <a:rPr lang="zh-CN" altLang="zh-CN" sz="3600" dirty="0">
                <a:solidFill>
                  <a:srgbClr val="FF0000"/>
                </a:solidFill>
              </a:rPr>
              <a:t>网络地址转换</a:t>
            </a:r>
            <a:r>
              <a:rPr lang="en-US" altLang="zh-CN" sz="3600" dirty="0">
                <a:solidFill>
                  <a:srgbClr val="FF0000"/>
                </a:solidFill>
              </a:rPr>
              <a:t> NAT</a:t>
            </a:r>
            <a:endParaRPr lang="zh-CN" altLang="zh-CN" sz="3600" dirty="0">
              <a:solidFill>
                <a:srgbClr val="FF0000"/>
              </a:solidFill>
            </a:endParaRPr>
          </a:p>
        </p:txBody>
      </p:sp>
    </p:spTree>
    <p:extLst>
      <p:ext uri="{BB962C8B-B14F-4D97-AF65-F5344CB8AC3E}">
        <p14:creationId xmlns:p14="http://schemas.microsoft.com/office/powerpoint/2010/main" val="122687067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p:txBody>
          <a:bodyPr/>
          <a:lstStyle/>
          <a:p>
            <a:r>
              <a:rPr lang="zh-CN" altLang="en-US" dirty="0"/>
              <a:t>网络地址转换 </a:t>
            </a:r>
            <a:r>
              <a:rPr lang="en-US" altLang="zh-CN" dirty="0"/>
              <a:t>NAT</a:t>
            </a:r>
            <a:endParaRPr lang="en-US" altLang="zh-CN" sz="3600" dirty="0"/>
          </a:p>
        </p:txBody>
      </p:sp>
      <p:sp>
        <p:nvSpPr>
          <p:cNvPr id="628739" name="Rectangle 3"/>
          <p:cNvSpPr>
            <a:spLocks noGrp="1" noChangeArrowheads="1"/>
          </p:cNvSpPr>
          <p:nvPr>
            <p:ph idx="1"/>
          </p:nvPr>
        </p:nvSpPr>
        <p:spPr/>
        <p:txBody>
          <a:bodyPr/>
          <a:lstStyle/>
          <a:p>
            <a:r>
              <a:rPr lang="zh-CN" altLang="en-US" dirty="0">
                <a:solidFill>
                  <a:srgbClr val="FF0000"/>
                </a:solidFill>
              </a:rPr>
              <a:t>问题：</a:t>
            </a:r>
            <a:r>
              <a:rPr lang="zh-CN" altLang="zh-CN" dirty="0"/>
              <a:t>在专用网</a:t>
            </a:r>
            <a:r>
              <a:rPr lang="zh-CN" altLang="en-US" dirty="0"/>
              <a:t>上使用</a:t>
            </a:r>
            <a:r>
              <a:rPr lang="zh-CN" altLang="zh-CN" dirty="0"/>
              <a:t>专用地址</a:t>
            </a:r>
            <a:r>
              <a:rPr lang="zh-CN" altLang="en-US" dirty="0"/>
              <a:t>的主机如何与</a:t>
            </a:r>
            <a:r>
              <a:rPr lang="zh-CN" altLang="zh-CN" dirty="0"/>
              <a:t>互联网上的主机通信（并不需要加密）</a:t>
            </a:r>
            <a:r>
              <a:rPr lang="zh-CN" altLang="en-US" dirty="0"/>
              <a:t>？</a:t>
            </a:r>
            <a:endParaRPr lang="en-US" altLang="zh-CN" dirty="0"/>
          </a:p>
          <a:p>
            <a:r>
              <a:rPr lang="zh-CN" altLang="en-US" dirty="0">
                <a:solidFill>
                  <a:srgbClr val="0000FF"/>
                </a:solidFill>
              </a:rPr>
              <a:t>解决：</a:t>
            </a:r>
            <a:endParaRPr lang="en-US" altLang="zh-CN" dirty="0">
              <a:solidFill>
                <a:srgbClr val="0000FF"/>
              </a:solidFill>
            </a:endParaRPr>
          </a:p>
          <a:p>
            <a:pPr lvl="1"/>
            <a:r>
              <a:rPr lang="en-US" altLang="zh-CN" dirty="0"/>
              <a:t>(1) </a:t>
            </a:r>
            <a:r>
              <a:rPr lang="zh-CN" altLang="zh-CN" dirty="0"/>
              <a:t>再申请一些全球</a:t>
            </a:r>
            <a:r>
              <a:rPr lang="en-US" altLang="zh-CN" dirty="0"/>
              <a:t> IP </a:t>
            </a:r>
            <a:r>
              <a:rPr lang="zh-CN" altLang="zh-CN" dirty="0"/>
              <a:t>地址。但这在很多情况下是不容易做到</a:t>
            </a:r>
            <a:r>
              <a:rPr lang="zh-CN" altLang="en-US" dirty="0"/>
              <a:t>的。</a:t>
            </a:r>
            <a:endParaRPr lang="en-US" altLang="zh-CN" dirty="0"/>
          </a:p>
          <a:p>
            <a:pPr lvl="1"/>
            <a:r>
              <a:rPr lang="en-US" altLang="zh-CN" dirty="0"/>
              <a:t>(2)</a:t>
            </a:r>
            <a:r>
              <a:rPr lang="zh-CN" altLang="zh-CN" dirty="0"/>
              <a:t>采用网络地址转换</a:t>
            </a:r>
            <a:r>
              <a:rPr lang="en-US" altLang="zh-CN" dirty="0"/>
              <a:t> NAT</a:t>
            </a:r>
            <a:r>
              <a:rPr lang="zh-CN" altLang="en-US" dirty="0"/>
              <a:t>。这是</a:t>
            </a:r>
            <a:r>
              <a:rPr lang="zh-CN" altLang="zh-CN" dirty="0"/>
              <a:t>目前使用得最多的方法</a:t>
            </a:r>
            <a:r>
              <a:rPr lang="zh-CN" altLang="en-US" dirty="0"/>
              <a:t>。</a:t>
            </a:r>
            <a:endParaRPr lang="zh-CN" altLang="zh-CN" dirty="0"/>
          </a:p>
          <a:p>
            <a:endParaRPr lang="en-US" altLang="zh-CN" dirty="0"/>
          </a:p>
        </p:txBody>
      </p:sp>
    </p:spTree>
    <p:extLst>
      <p:ext uri="{BB962C8B-B14F-4D97-AF65-F5344CB8AC3E}">
        <p14:creationId xmlns:p14="http://schemas.microsoft.com/office/powerpoint/2010/main" val="3067839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2"/>
          <p:cNvSpPr>
            <a:spLocks noGrp="1" noChangeArrowheads="1"/>
          </p:cNvSpPr>
          <p:nvPr>
            <p:ph type="title"/>
          </p:nvPr>
        </p:nvSpPr>
        <p:spPr/>
        <p:txBody>
          <a:bodyPr/>
          <a:lstStyle/>
          <a:p>
            <a:pPr algn="ctr"/>
            <a:r>
              <a:rPr lang="zh-CN" altLang="en-US" dirty="0"/>
              <a:t>网络地址转换 </a:t>
            </a:r>
            <a:r>
              <a:rPr lang="en-US" altLang="zh-CN" dirty="0"/>
              <a:t>NAT</a:t>
            </a:r>
            <a:endParaRPr lang="en-US" altLang="zh-CN" sz="3600" dirty="0"/>
          </a:p>
        </p:txBody>
      </p:sp>
      <p:sp>
        <p:nvSpPr>
          <p:cNvPr id="628739" name="Rectangle 3"/>
          <p:cNvSpPr>
            <a:spLocks noGrp="1" noChangeArrowheads="1"/>
          </p:cNvSpPr>
          <p:nvPr>
            <p:ph idx="1"/>
          </p:nvPr>
        </p:nvSpPr>
        <p:spPr/>
        <p:txBody>
          <a:bodyPr/>
          <a:lstStyle/>
          <a:p>
            <a:r>
              <a:rPr lang="zh-CN" altLang="en-US" dirty="0"/>
              <a:t>网络地址转换 </a:t>
            </a:r>
            <a:r>
              <a:rPr lang="en-US" altLang="zh-CN" dirty="0"/>
              <a:t>NAT (Network Address Translation)  </a:t>
            </a:r>
            <a:r>
              <a:rPr lang="zh-CN" altLang="en-US" dirty="0"/>
              <a:t>方法于</a:t>
            </a:r>
            <a:r>
              <a:rPr lang="en-US" altLang="zh-CN" dirty="0"/>
              <a:t>1994</a:t>
            </a:r>
            <a:r>
              <a:rPr lang="zh-CN" altLang="en-US" dirty="0"/>
              <a:t>年提出。</a:t>
            </a:r>
          </a:p>
          <a:p>
            <a:r>
              <a:rPr lang="zh-CN" altLang="en-US" dirty="0"/>
              <a:t>需要在专用网连接到互联网的路由器上安装 </a:t>
            </a:r>
            <a:r>
              <a:rPr lang="en-US" altLang="zh-CN" dirty="0"/>
              <a:t>NAT </a:t>
            </a:r>
            <a:r>
              <a:rPr lang="zh-CN" altLang="en-US" dirty="0"/>
              <a:t>软件。装有 </a:t>
            </a:r>
            <a:r>
              <a:rPr lang="en-US" altLang="zh-CN" dirty="0"/>
              <a:t>NAT </a:t>
            </a:r>
            <a:r>
              <a:rPr lang="zh-CN" altLang="en-US" dirty="0"/>
              <a:t>软件的路由器叫做 </a:t>
            </a:r>
            <a:r>
              <a:rPr lang="en-US" altLang="zh-CN" dirty="0">
                <a:solidFill>
                  <a:srgbClr val="FF0000"/>
                </a:solidFill>
              </a:rPr>
              <a:t>NAT</a:t>
            </a:r>
            <a:r>
              <a:rPr lang="zh-CN" altLang="en-US" dirty="0">
                <a:solidFill>
                  <a:srgbClr val="FF0000"/>
                </a:solidFill>
              </a:rPr>
              <a:t>路由器，</a:t>
            </a:r>
            <a:r>
              <a:rPr lang="zh-CN" altLang="en-US" dirty="0">
                <a:solidFill>
                  <a:srgbClr val="0000FF"/>
                </a:solidFill>
              </a:rPr>
              <a:t>它至少有一个有效的外部全球</a:t>
            </a:r>
            <a:r>
              <a:rPr lang="en-US" altLang="zh-CN" dirty="0">
                <a:solidFill>
                  <a:srgbClr val="0000FF"/>
                </a:solidFill>
              </a:rPr>
              <a:t>IP</a:t>
            </a:r>
            <a:r>
              <a:rPr lang="zh-CN" altLang="en-US" dirty="0">
                <a:solidFill>
                  <a:srgbClr val="0000FF"/>
                </a:solidFill>
              </a:rPr>
              <a:t>地址。</a:t>
            </a:r>
          </a:p>
          <a:p>
            <a:r>
              <a:rPr lang="zh-CN" altLang="en-US" dirty="0"/>
              <a:t>所有使用本地地址的主机在和外界通信时，都要在 </a:t>
            </a:r>
            <a:r>
              <a:rPr lang="en-US" altLang="zh-CN" dirty="0"/>
              <a:t>NAT </a:t>
            </a:r>
            <a:r>
              <a:rPr lang="zh-CN" altLang="en-US" dirty="0"/>
              <a:t>路由器</a:t>
            </a:r>
            <a:r>
              <a:rPr lang="zh-CN" altLang="en-US" dirty="0">
                <a:solidFill>
                  <a:srgbClr val="FF0000"/>
                </a:solidFill>
              </a:rPr>
              <a:t>上将其本地地址转换成</a:t>
            </a:r>
            <a:r>
              <a:rPr lang="zh-CN" altLang="zh-CN" dirty="0">
                <a:solidFill>
                  <a:srgbClr val="FF0000"/>
                </a:solidFill>
              </a:rPr>
              <a:t>全球</a:t>
            </a:r>
            <a:r>
              <a:rPr lang="en-US" altLang="zh-CN" dirty="0">
                <a:solidFill>
                  <a:srgbClr val="FF0000"/>
                </a:solidFill>
              </a:rPr>
              <a:t> IP </a:t>
            </a:r>
            <a:r>
              <a:rPr lang="zh-CN" altLang="zh-CN" dirty="0">
                <a:solidFill>
                  <a:srgbClr val="FF0000"/>
                </a:solidFill>
              </a:rPr>
              <a:t>地址</a:t>
            </a:r>
            <a:r>
              <a:rPr lang="zh-CN" altLang="en-US" dirty="0">
                <a:solidFill>
                  <a:srgbClr val="FF0000"/>
                </a:solidFill>
              </a:rPr>
              <a:t>，</a:t>
            </a:r>
            <a:r>
              <a:rPr lang="zh-CN" altLang="en-US" dirty="0"/>
              <a:t>才能和互联网连接。</a:t>
            </a:r>
            <a:r>
              <a:rPr lang="zh-CN" altLang="en-US" sz="3600" dirty="0"/>
              <a:t> </a:t>
            </a:r>
            <a:r>
              <a:rPr lang="zh-CN" altLang="en-US" dirty="0"/>
              <a:t> </a:t>
            </a:r>
          </a:p>
        </p:txBody>
      </p:sp>
    </p:spTree>
    <p:extLst>
      <p:ext uri="{BB962C8B-B14F-4D97-AF65-F5344CB8AC3E}">
        <p14:creationId xmlns:p14="http://schemas.microsoft.com/office/powerpoint/2010/main" val="19903800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p:txBody>
          <a:bodyPr/>
          <a:lstStyle/>
          <a:p>
            <a:pPr algn="ctr"/>
            <a:r>
              <a:rPr lang="zh-CN" altLang="en-US"/>
              <a:t>网络地址转换的过程</a:t>
            </a:r>
            <a:endParaRPr lang="zh-CN" altLang="en-US" sz="3600"/>
          </a:p>
        </p:txBody>
      </p:sp>
      <p:sp>
        <p:nvSpPr>
          <p:cNvPr id="6" name="Line 74"/>
          <p:cNvSpPr>
            <a:spLocks noChangeShapeType="1"/>
          </p:cNvSpPr>
          <p:nvPr/>
        </p:nvSpPr>
        <p:spPr bwMode="auto">
          <a:xfrm>
            <a:off x="8827252" y="3582234"/>
            <a:ext cx="638905" cy="1729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sp>
        <p:nvSpPr>
          <p:cNvPr id="7" name="Line 73"/>
          <p:cNvSpPr>
            <a:spLocks noChangeShapeType="1"/>
          </p:cNvSpPr>
          <p:nvPr/>
        </p:nvSpPr>
        <p:spPr bwMode="auto">
          <a:xfrm>
            <a:off x="8429477" y="4184546"/>
            <a:ext cx="637145" cy="4313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sp>
        <p:nvSpPr>
          <p:cNvPr id="8" name="Line 72"/>
          <p:cNvSpPr>
            <a:spLocks noChangeShapeType="1"/>
          </p:cNvSpPr>
          <p:nvPr/>
        </p:nvSpPr>
        <p:spPr bwMode="auto">
          <a:xfrm flipV="1">
            <a:off x="8508680" y="2807018"/>
            <a:ext cx="557941" cy="3439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grpSp>
        <p:nvGrpSpPr>
          <p:cNvPr id="9" name="Group 61"/>
          <p:cNvGrpSpPr>
            <a:grpSpLocks/>
          </p:cNvGrpSpPr>
          <p:nvPr/>
        </p:nvGrpSpPr>
        <p:grpSpPr bwMode="auto">
          <a:xfrm flipH="1">
            <a:off x="1721858" y="3755137"/>
            <a:ext cx="1038440" cy="258405"/>
            <a:chOff x="521" y="2478"/>
            <a:chExt cx="1044" cy="136"/>
          </a:xfrm>
        </p:grpSpPr>
        <p:sp>
          <p:nvSpPr>
            <p:cNvPr id="10" name="AutoShape 62"/>
            <p:cNvSpPr>
              <a:spLocks noChangeArrowheads="1"/>
            </p:cNvSpPr>
            <p:nvPr/>
          </p:nvSpPr>
          <p:spPr bwMode="auto">
            <a:xfrm>
              <a:off x="1383" y="2505"/>
              <a:ext cx="182" cy="91"/>
            </a:xfrm>
            <a:prstGeom prst="rightArrow">
              <a:avLst>
                <a:gd name="adj1" fmla="val 49454"/>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11" name="Rectangle 63"/>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12" name="Rectangle 64"/>
            <p:cNvSpPr>
              <a:spLocks noChangeArrowheads="1"/>
            </p:cNvSpPr>
            <p:nvPr/>
          </p:nvSpPr>
          <p:spPr bwMode="auto">
            <a:xfrm>
              <a:off x="1156" y="2478"/>
              <a:ext cx="227" cy="136"/>
            </a:xfrm>
            <a:prstGeom prst="rect">
              <a:avLst/>
            </a:prstGeom>
            <a:solidFill>
              <a:srgbClr val="66FF66"/>
            </a:solidFill>
            <a:ln w="9525">
              <a:solidFill>
                <a:schemeClr val="tx1"/>
              </a:solidFill>
              <a:miter lim="800000"/>
              <a:headEnd/>
              <a:tailEnd/>
            </a:ln>
          </p:spPr>
          <p:txBody>
            <a:bodyPr wrap="none" anchor="ctr"/>
            <a:lstStyle/>
            <a:p>
              <a:endParaRPr lang="zh-CN" altLang="en-US" sz="2000" b="1">
                <a:solidFill>
                  <a:srgbClr val="000099"/>
                </a:solidFill>
                <a:latin typeface="+mn-ea"/>
              </a:endParaRPr>
            </a:p>
          </p:txBody>
        </p:sp>
      </p:grpSp>
      <p:sp>
        <p:nvSpPr>
          <p:cNvPr id="13" name="Rectangle 43"/>
          <p:cNvSpPr>
            <a:spLocks noChangeArrowheads="1"/>
          </p:cNvSpPr>
          <p:nvPr/>
        </p:nvSpPr>
        <p:spPr bwMode="auto">
          <a:xfrm>
            <a:off x="875265" y="2117304"/>
            <a:ext cx="2684104" cy="2154644"/>
          </a:xfrm>
          <a:prstGeom prst="rect">
            <a:avLst/>
          </a:prstGeom>
          <a:noFill/>
          <a:ln w="285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14" name="Line 37"/>
          <p:cNvSpPr>
            <a:spLocks noChangeShapeType="1"/>
          </p:cNvSpPr>
          <p:nvPr/>
        </p:nvSpPr>
        <p:spPr bwMode="auto">
          <a:xfrm>
            <a:off x="1003750" y="3667736"/>
            <a:ext cx="303435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sp>
        <p:nvSpPr>
          <p:cNvPr id="15" name="Line 34"/>
          <p:cNvSpPr>
            <a:spLocks noChangeShapeType="1"/>
          </p:cNvSpPr>
          <p:nvPr/>
        </p:nvSpPr>
        <p:spPr bwMode="auto">
          <a:xfrm>
            <a:off x="4117310" y="3667736"/>
            <a:ext cx="21560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graphicFrame>
        <p:nvGraphicFramePr>
          <p:cNvPr id="16" name="Object 4"/>
          <p:cNvGraphicFramePr>
            <a:graphicFrameLocks noChangeAspect="1"/>
          </p:cNvGraphicFramePr>
          <p:nvPr>
            <p:extLst>
              <p:ext uri="{D42A27DB-BD31-4B8C-83A1-F6EECF244321}">
                <p14:modId xmlns:p14="http://schemas.microsoft.com/office/powerpoint/2010/main" val="3660214178"/>
              </p:ext>
            </p:extLst>
          </p:nvPr>
        </p:nvGraphicFramePr>
        <p:xfrm>
          <a:off x="6113227" y="2548613"/>
          <a:ext cx="3041397" cy="2038741"/>
        </p:xfrm>
        <a:graphic>
          <a:graphicData uri="http://schemas.openxmlformats.org/presentationml/2006/ole">
            <mc:AlternateContent xmlns:mc="http://schemas.openxmlformats.org/markup-compatibility/2006">
              <mc:Choice xmlns:v="urn:schemas-microsoft-com:vml" Requires="v">
                <p:oleObj spid="_x0000_s8231" name="VISIO" r:id="rId4" imgW="1687068" imgH="964692" progId="">
                  <p:embed/>
                </p:oleObj>
              </mc:Choice>
              <mc:Fallback>
                <p:oleObj name="VISIO" r:id="rId4" imgW="1687068" imgH="964692" progId="">
                  <p:embed/>
                  <p:pic>
                    <p:nvPicPr>
                      <p:cNvPr id="0"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3227" y="2548613"/>
                        <a:ext cx="3041397" cy="2038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7" name="Picture 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77941" y="3540434"/>
            <a:ext cx="577302" cy="300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8" name="Text Box 7"/>
          <p:cNvSpPr txBox="1">
            <a:spLocks noChangeArrowheads="1"/>
          </p:cNvSpPr>
          <p:nvPr/>
        </p:nvSpPr>
        <p:spPr bwMode="auto">
          <a:xfrm>
            <a:off x="3634043" y="2892520"/>
            <a:ext cx="95891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en-US" altLang="zh-CN" sz="2000" b="1" dirty="0">
                <a:solidFill>
                  <a:srgbClr val="FF0000"/>
                </a:solidFill>
                <a:latin typeface="+mn-ea"/>
                <a:ea typeface="+mn-ea"/>
              </a:rPr>
              <a:t>NAT</a:t>
            </a:r>
          </a:p>
          <a:p>
            <a:pPr algn="ctr" eaLnBrk="1" hangingPunct="1">
              <a:lnSpc>
                <a:spcPct val="90000"/>
              </a:lnSpc>
            </a:pPr>
            <a:r>
              <a:rPr kumimoji="1" lang="zh-CN" altLang="en-US" sz="2000" b="1" dirty="0">
                <a:solidFill>
                  <a:srgbClr val="FF0000"/>
                </a:solidFill>
                <a:latin typeface="+mn-ea"/>
                <a:ea typeface="+mn-ea"/>
              </a:rPr>
              <a:t>路由器</a:t>
            </a:r>
          </a:p>
        </p:txBody>
      </p:sp>
      <p:pic>
        <p:nvPicPr>
          <p:cNvPr id="19" name="Picture 3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15255" y="2548613"/>
            <a:ext cx="373134" cy="40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3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48049" y="4271948"/>
            <a:ext cx="373134" cy="408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3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14791" y="3496732"/>
            <a:ext cx="373134" cy="408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35"/>
          <p:cNvSpPr txBox="1">
            <a:spLocks noChangeArrowheads="1"/>
          </p:cNvSpPr>
          <p:nvPr/>
        </p:nvSpPr>
        <p:spPr bwMode="auto">
          <a:xfrm>
            <a:off x="1064568" y="1676282"/>
            <a:ext cx="23823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sz="2000" b="1" dirty="0">
                <a:solidFill>
                  <a:srgbClr val="0000FF"/>
                </a:solidFill>
                <a:latin typeface="+mn-ea"/>
                <a:ea typeface="+mn-ea"/>
              </a:rPr>
              <a:t>专用网 </a:t>
            </a:r>
            <a:r>
              <a:rPr kumimoji="1" lang="en-US" altLang="zh-CN" sz="2000" b="1" dirty="0">
                <a:solidFill>
                  <a:srgbClr val="0000FF"/>
                </a:solidFill>
                <a:latin typeface="+mn-ea"/>
                <a:ea typeface="+mn-ea"/>
              </a:rPr>
              <a:t>192.168.0.0</a:t>
            </a:r>
          </a:p>
        </p:txBody>
      </p:sp>
      <p:sp>
        <p:nvSpPr>
          <p:cNvPr id="23" name="Text Box 36"/>
          <p:cNvSpPr txBox="1">
            <a:spLocks noChangeArrowheads="1"/>
          </p:cNvSpPr>
          <p:nvPr/>
        </p:nvSpPr>
        <p:spPr bwMode="auto">
          <a:xfrm>
            <a:off x="7002760" y="2846818"/>
            <a:ext cx="9589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sz="2000" b="1" dirty="0">
                <a:solidFill>
                  <a:srgbClr val="000099"/>
                </a:solidFill>
                <a:latin typeface="+mn-ea"/>
                <a:ea typeface="+mn-ea"/>
              </a:rPr>
              <a:t>互联网</a:t>
            </a:r>
          </a:p>
        </p:txBody>
      </p:sp>
      <p:sp>
        <p:nvSpPr>
          <p:cNvPr id="24" name="Line 38"/>
          <p:cNvSpPr>
            <a:spLocks noChangeShapeType="1"/>
          </p:cNvSpPr>
          <p:nvPr/>
        </p:nvSpPr>
        <p:spPr bwMode="auto">
          <a:xfrm rot="5400000">
            <a:off x="1156692" y="3381781"/>
            <a:ext cx="6023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pic>
        <p:nvPicPr>
          <p:cNvPr id="25" name="Picture 2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69520" y="2953321"/>
            <a:ext cx="373134" cy="408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 name="Group 42"/>
          <p:cNvGrpSpPr>
            <a:grpSpLocks/>
          </p:cNvGrpSpPr>
          <p:nvPr/>
        </p:nvGrpSpPr>
        <p:grpSpPr bwMode="auto">
          <a:xfrm>
            <a:off x="2281560" y="3323829"/>
            <a:ext cx="1038440" cy="258405"/>
            <a:chOff x="521" y="2478"/>
            <a:chExt cx="1044" cy="136"/>
          </a:xfrm>
        </p:grpSpPr>
        <p:sp>
          <p:nvSpPr>
            <p:cNvPr id="27" name="AutoShape 41"/>
            <p:cNvSpPr>
              <a:spLocks noChangeArrowheads="1"/>
            </p:cNvSpPr>
            <p:nvPr/>
          </p:nvSpPr>
          <p:spPr bwMode="auto">
            <a:xfrm>
              <a:off x="1383" y="2505"/>
              <a:ext cx="182" cy="91"/>
            </a:xfrm>
            <a:prstGeom prst="rightArrow">
              <a:avLst>
                <a:gd name="adj1" fmla="val 49454"/>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28" name="Rectangle 39"/>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29" name="Rectangle 40"/>
            <p:cNvSpPr>
              <a:spLocks noChangeArrowheads="1"/>
            </p:cNvSpPr>
            <p:nvPr/>
          </p:nvSpPr>
          <p:spPr bwMode="auto">
            <a:xfrm>
              <a:off x="1156" y="2478"/>
              <a:ext cx="227" cy="136"/>
            </a:xfrm>
            <a:prstGeom prst="rect">
              <a:avLst/>
            </a:prstGeom>
            <a:solidFill>
              <a:srgbClr val="66FF66"/>
            </a:solidFill>
            <a:ln w="9525">
              <a:solidFill>
                <a:schemeClr val="tx1"/>
              </a:solidFill>
              <a:miter lim="800000"/>
              <a:headEnd/>
              <a:tailEnd/>
            </a:ln>
          </p:spPr>
          <p:txBody>
            <a:bodyPr wrap="none" anchor="ctr"/>
            <a:lstStyle/>
            <a:p>
              <a:endParaRPr lang="zh-CN" altLang="en-US" sz="2000" b="1">
                <a:solidFill>
                  <a:srgbClr val="000099"/>
                </a:solidFill>
                <a:latin typeface="+mn-ea"/>
              </a:endParaRPr>
            </a:p>
          </p:txBody>
        </p:sp>
      </p:grpSp>
      <p:sp>
        <p:nvSpPr>
          <p:cNvPr id="30" name="Text Box 44"/>
          <p:cNvSpPr txBox="1">
            <a:spLocks noChangeArrowheads="1"/>
          </p:cNvSpPr>
          <p:nvPr/>
        </p:nvSpPr>
        <p:spPr bwMode="auto">
          <a:xfrm>
            <a:off x="2144688" y="2168605"/>
            <a:ext cx="1402948"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b="1" dirty="0">
                <a:solidFill>
                  <a:srgbClr val="990000"/>
                </a:solidFill>
                <a:latin typeface="+mn-ea"/>
                <a:ea typeface="+mn-ea"/>
              </a:rPr>
              <a:t>源 </a:t>
            </a:r>
            <a:r>
              <a:rPr kumimoji="1" lang="en-US" altLang="zh-CN" b="1" dirty="0">
                <a:solidFill>
                  <a:srgbClr val="990000"/>
                </a:solidFill>
                <a:latin typeface="+mn-ea"/>
                <a:ea typeface="+mn-ea"/>
              </a:rPr>
              <a:t>IP </a:t>
            </a:r>
            <a:r>
              <a:rPr kumimoji="1" lang="zh-CN" altLang="en-US" b="1" dirty="0">
                <a:solidFill>
                  <a:srgbClr val="990000"/>
                </a:solidFill>
                <a:latin typeface="+mn-ea"/>
                <a:ea typeface="+mn-ea"/>
              </a:rPr>
              <a:t>地址</a:t>
            </a:r>
          </a:p>
          <a:p>
            <a:pPr algn="ctr" eaLnBrk="1" hangingPunct="1">
              <a:lnSpc>
                <a:spcPct val="90000"/>
              </a:lnSpc>
            </a:pPr>
            <a:r>
              <a:rPr kumimoji="1" lang="en-US" altLang="zh-CN" b="1" dirty="0">
                <a:solidFill>
                  <a:srgbClr val="990000"/>
                </a:solidFill>
                <a:latin typeface="+mn-ea"/>
                <a:ea typeface="+mn-ea"/>
              </a:rPr>
              <a:t>192.168.0.3</a:t>
            </a:r>
          </a:p>
        </p:txBody>
      </p:sp>
      <p:sp>
        <p:nvSpPr>
          <p:cNvPr id="31" name="Text Box 45"/>
          <p:cNvSpPr txBox="1">
            <a:spLocks noChangeArrowheads="1"/>
          </p:cNvSpPr>
          <p:nvPr/>
        </p:nvSpPr>
        <p:spPr bwMode="auto">
          <a:xfrm>
            <a:off x="740533" y="2389010"/>
            <a:ext cx="1402948"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b="1" dirty="0">
                <a:solidFill>
                  <a:srgbClr val="0000FF"/>
                </a:solidFill>
                <a:latin typeface="+mn-ea"/>
                <a:ea typeface="+mn-ea"/>
              </a:rPr>
              <a:t>主机 </a:t>
            </a:r>
            <a:r>
              <a:rPr kumimoji="1" lang="en-US" altLang="zh-CN" b="1" dirty="0">
                <a:solidFill>
                  <a:srgbClr val="0000FF"/>
                </a:solidFill>
                <a:latin typeface="+mn-ea"/>
                <a:ea typeface="+mn-ea"/>
              </a:rPr>
              <a:t>A</a:t>
            </a:r>
          </a:p>
          <a:p>
            <a:pPr algn="ctr" eaLnBrk="1" hangingPunct="1">
              <a:lnSpc>
                <a:spcPct val="90000"/>
              </a:lnSpc>
            </a:pPr>
            <a:r>
              <a:rPr kumimoji="1" lang="en-US" altLang="zh-CN" b="1" dirty="0">
                <a:solidFill>
                  <a:srgbClr val="0000FF"/>
                </a:solidFill>
                <a:latin typeface="+mn-ea"/>
                <a:ea typeface="+mn-ea"/>
              </a:rPr>
              <a:t>192.168.0.3</a:t>
            </a:r>
          </a:p>
        </p:txBody>
      </p:sp>
      <p:grpSp>
        <p:nvGrpSpPr>
          <p:cNvPr id="32" name="Group 46"/>
          <p:cNvGrpSpPr>
            <a:grpSpLocks/>
          </p:cNvGrpSpPr>
          <p:nvPr/>
        </p:nvGrpSpPr>
        <p:grpSpPr bwMode="auto">
          <a:xfrm>
            <a:off x="4756215" y="3323829"/>
            <a:ext cx="1038440" cy="258405"/>
            <a:chOff x="521" y="2478"/>
            <a:chExt cx="1044" cy="136"/>
          </a:xfrm>
        </p:grpSpPr>
        <p:sp>
          <p:nvSpPr>
            <p:cNvPr id="33" name="AutoShape 47"/>
            <p:cNvSpPr>
              <a:spLocks noChangeArrowheads="1"/>
            </p:cNvSpPr>
            <p:nvPr/>
          </p:nvSpPr>
          <p:spPr bwMode="auto">
            <a:xfrm>
              <a:off x="1383" y="2505"/>
              <a:ext cx="182" cy="91"/>
            </a:xfrm>
            <a:prstGeom prst="rightArrow">
              <a:avLst>
                <a:gd name="adj1" fmla="val 49454"/>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34" name="Rectangle 48"/>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35" name="Rectangle 49"/>
            <p:cNvSpPr>
              <a:spLocks noChangeArrowheads="1"/>
            </p:cNvSpPr>
            <p:nvPr/>
          </p:nvSpPr>
          <p:spPr bwMode="auto">
            <a:xfrm>
              <a:off x="1156" y="2478"/>
              <a:ext cx="227" cy="136"/>
            </a:xfrm>
            <a:prstGeom prst="rect">
              <a:avLst/>
            </a:prstGeom>
            <a:solidFill>
              <a:srgbClr val="FF66FF"/>
            </a:solidFill>
            <a:ln w="9525">
              <a:solidFill>
                <a:schemeClr val="tx1"/>
              </a:solidFill>
              <a:miter lim="800000"/>
              <a:headEnd/>
              <a:tailEnd/>
            </a:ln>
          </p:spPr>
          <p:txBody>
            <a:bodyPr wrap="none" anchor="ctr"/>
            <a:lstStyle/>
            <a:p>
              <a:endParaRPr lang="zh-CN" altLang="en-US" sz="2000" b="1">
                <a:solidFill>
                  <a:srgbClr val="000099"/>
                </a:solidFill>
                <a:latin typeface="+mn-ea"/>
              </a:endParaRPr>
            </a:p>
          </p:txBody>
        </p:sp>
      </p:grpSp>
      <p:sp>
        <p:nvSpPr>
          <p:cNvPr id="36" name="Text Box 50"/>
          <p:cNvSpPr txBox="1">
            <a:spLocks noChangeArrowheads="1"/>
          </p:cNvSpPr>
          <p:nvPr/>
        </p:nvSpPr>
        <p:spPr bwMode="auto">
          <a:xfrm>
            <a:off x="5190460" y="2339609"/>
            <a:ext cx="1274708"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b="1" dirty="0">
                <a:solidFill>
                  <a:srgbClr val="990099"/>
                </a:solidFill>
                <a:latin typeface="+mn-lt"/>
                <a:ea typeface="黑体" pitchFamily="2" charset="-122"/>
              </a:rPr>
              <a:t>源 </a:t>
            </a:r>
            <a:r>
              <a:rPr kumimoji="1" lang="en-US" altLang="zh-CN" b="1" dirty="0">
                <a:solidFill>
                  <a:srgbClr val="990099"/>
                </a:solidFill>
                <a:latin typeface="+mn-lt"/>
                <a:ea typeface="黑体" pitchFamily="2" charset="-122"/>
              </a:rPr>
              <a:t>IP </a:t>
            </a:r>
            <a:r>
              <a:rPr kumimoji="1" lang="zh-CN" altLang="en-US" b="1" dirty="0">
                <a:solidFill>
                  <a:srgbClr val="990099"/>
                </a:solidFill>
                <a:latin typeface="+mn-lt"/>
                <a:ea typeface="黑体" pitchFamily="2" charset="-122"/>
              </a:rPr>
              <a:t>地址</a:t>
            </a:r>
          </a:p>
          <a:p>
            <a:pPr algn="ctr" eaLnBrk="1" hangingPunct="1">
              <a:lnSpc>
                <a:spcPct val="90000"/>
              </a:lnSpc>
            </a:pPr>
            <a:r>
              <a:rPr kumimoji="1" lang="en-US" altLang="zh-CN" b="1" dirty="0">
                <a:solidFill>
                  <a:srgbClr val="990099"/>
                </a:solidFill>
                <a:latin typeface="+mn-lt"/>
                <a:ea typeface="黑体" pitchFamily="2" charset="-122"/>
              </a:rPr>
              <a:t>172.38.1.5</a:t>
            </a:r>
          </a:p>
        </p:txBody>
      </p:sp>
      <p:sp>
        <p:nvSpPr>
          <p:cNvPr id="37" name="Line 51"/>
          <p:cNvSpPr>
            <a:spLocks noChangeShapeType="1"/>
          </p:cNvSpPr>
          <p:nvPr/>
        </p:nvSpPr>
        <p:spPr bwMode="auto">
          <a:xfrm>
            <a:off x="2999668" y="2719617"/>
            <a:ext cx="0" cy="777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sp>
        <p:nvSpPr>
          <p:cNvPr id="38" name="Text Box 52"/>
          <p:cNvSpPr txBox="1">
            <a:spLocks noChangeArrowheads="1"/>
          </p:cNvSpPr>
          <p:nvPr/>
        </p:nvSpPr>
        <p:spPr bwMode="auto">
          <a:xfrm>
            <a:off x="8487349" y="1957700"/>
            <a:ext cx="1274708"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b="1" dirty="0">
                <a:solidFill>
                  <a:srgbClr val="000099"/>
                </a:solidFill>
                <a:latin typeface="+mn-ea"/>
                <a:ea typeface="+mn-ea"/>
              </a:rPr>
              <a:t>主机 </a:t>
            </a:r>
            <a:r>
              <a:rPr kumimoji="1" lang="en-US" altLang="zh-CN" b="1" dirty="0">
                <a:solidFill>
                  <a:srgbClr val="000099"/>
                </a:solidFill>
                <a:latin typeface="+mn-ea"/>
                <a:ea typeface="+mn-ea"/>
              </a:rPr>
              <a:t>B</a:t>
            </a:r>
          </a:p>
          <a:p>
            <a:pPr algn="ctr" eaLnBrk="1" hangingPunct="1">
              <a:lnSpc>
                <a:spcPct val="90000"/>
              </a:lnSpc>
            </a:pPr>
            <a:r>
              <a:rPr kumimoji="1" lang="en-US" altLang="zh-CN" b="1" dirty="0">
                <a:solidFill>
                  <a:srgbClr val="000099"/>
                </a:solidFill>
                <a:latin typeface="+mn-ea"/>
                <a:ea typeface="+mn-ea"/>
              </a:rPr>
              <a:t>213.18.2.4</a:t>
            </a:r>
          </a:p>
        </p:txBody>
      </p:sp>
      <p:sp>
        <p:nvSpPr>
          <p:cNvPr id="39" name="Line 53"/>
          <p:cNvSpPr>
            <a:spLocks noChangeShapeType="1"/>
          </p:cNvSpPr>
          <p:nvPr/>
        </p:nvSpPr>
        <p:spPr bwMode="auto">
          <a:xfrm flipH="1">
            <a:off x="5474323" y="2892520"/>
            <a:ext cx="239369" cy="6042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sp>
        <p:nvSpPr>
          <p:cNvPr id="40" name="Freeform 54"/>
          <p:cNvSpPr>
            <a:spLocks/>
          </p:cNvSpPr>
          <p:nvPr/>
        </p:nvSpPr>
        <p:spPr bwMode="auto">
          <a:xfrm>
            <a:off x="5953062" y="2719617"/>
            <a:ext cx="2955154" cy="784716"/>
          </a:xfrm>
          <a:custGeom>
            <a:avLst/>
            <a:gdLst>
              <a:gd name="T0" fmla="*/ 0 w 1679"/>
              <a:gd name="T1" fmla="*/ 409 h 413"/>
              <a:gd name="T2" fmla="*/ 475 w 1679"/>
              <a:gd name="T3" fmla="*/ 401 h 413"/>
              <a:gd name="T4" fmla="*/ 843 w 1679"/>
              <a:gd name="T5" fmla="*/ 337 h 413"/>
              <a:gd name="T6" fmla="*/ 1147 w 1679"/>
              <a:gd name="T7" fmla="*/ 241 h 413"/>
              <a:gd name="T8" fmla="*/ 1387 w 1679"/>
              <a:gd name="T9" fmla="*/ 145 h 413"/>
              <a:gd name="T10" fmla="*/ 1679 w 1679"/>
              <a:gd name="T11" fmla="*/ 0 h 413"/>
              <a:gd name="T12" fmla="*/ 0 60000 65536"/>
              <a:gd name="T13" fmla="*/ 0 60000 65536"/>
              <a:gd name="T14" fmla="*/ 0 60000 65536"/>
              <a:gd name="T15" fmla="*/ 0 60000 65536"/>
              <a:gd name="T16" fmla="*/ 0 60000 65536"/>
              <a:gd name="T17" fmla="*/ 0 60000 65536"/>
              <a:gd name="T18" fmla="*/ 0 w 1679"/>
              <a:gd name="T19" fmla="*/ 0 h 413"/>
              <a:gd name="T20" fmla="*/ 1679 w 1679"/>
              <a:gd name="T21" fmla="*/ 413 h 413"/>
            </a:gdLst>
            <a:ahLst/>
            <a:cxnLst>
              <a:cxn ang="T12">
                <a:pos x="T0" y="T1"/>
              </a:cxn>
              <a:cxn ang="T13">
                <a:pos x="T2" y="T3"/>
              </a:cxn>
              <a:cxn ang="T14">
                <a:pos x="T4" y="T5"/>
              </a:cxn>
              <a:cxn ang="T15">
                <a:pos x="T6" y="T7"/>
              </a:cxn>
              <a:cxn ang="T16">
                <a:pos x="T8" y="T9"/>
              </a:cxn>
              <a:cxn ang="T17">
                <a:pos x="T10" y="T11"/>
              </a:cxn>
            </a:cxnLst>
            <a:rect l="T18" t="T19" r="T20" b="T21"/>
            <a:pathLst>
              <a:path w="1679" h="413">
                <a:moveTo>
                  <a:pt x="0" y="409"/>
                </a:moveTo>
                <a:cubicBezTo>
                  <a:pt x="79" y="408"/>
                  <a:pt x="335" y="413"/>
                  <a:pt x="475" y="401"/>
                </a:cubicBezTo>
                <a:cubicBezTo>
                  <a:pt x="615" y="389"/>
                  <a:pt x="731" y="364"/>
                  <a:pt x="843" y="337"/>
                </a:cubicBezTo>
                <a:cubicBezTo>
                  <a:pt x="955" y="310"/>
                  <a:pt x="1056" y="273"/>
                  <a:pt x="1147" y="241"/>
                </a:cubicBezTo>
                <a:cubicBezTo>
                  <a:pt x="1238" y="209"/>
                  <a:pt x="1298" y="185"/>
                  <a:pt x="1387" y="145"/>
                </a:cubicBezTo>
                <a:cubicBezTo>
                  <a:pt x="1476" y="105"/>
                  <a:pt x="1618" y="30"/>
                  <a:pt x="1679" y="0"/>
                </a:cubicBezTo>
              </a:path>
            </a:pathLst>
          </a:custGeom>
          <a:noFill/>
          <a:ln w="38100" cmpd="sng">
            <a:solidFill>
              <a:srgbClr val="CC00CC"/>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2000" b="1">
              <a:solidFill>
                <a:srgbClr val="000099"/>
              </a:solidFill>
              <a:latin typeface="+mn-ea"/>
            </a:endParaRPr>
          </a:p>
        </p:txBody>
      </p:sp>
      <p:sp>
        <p:nvSpPr>
          <p:cNvPr id="41" name="Text Box 59"/>
          <p:cNvSpPr txBox="1">
            <a:spLocks noChangeArrowheads="1"/>
          </p:cNvSpPr>
          <p:nvPr/>
        </p:nvSpPr>
        <p:spPr bwMode="auto">
          <a:xfrm>
            <a:off x="1224182" y="4494253"/>
            <a:ext cx="1456489"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b="1" dirty="0">
                <a:solidFill>
                  <a:srgbClr val="990000"/>
                </a:solidFill>
                <a:latin typeface="+mn-ea"/>
                <a:ea typeface="+mn-ea"/>
              </a:rPr>
              <a:t>目的 </a:t>
            </a:r>
            <a:r>
              <a:rPr kumimoji="1" lang="en-US" altLang="zh-CN" b="1" dirty="0">
                <a:solidFill>
                  <a:srgbClr val="990000"/>
                </a:solidFill>
                <a:latin typeface="+mn-ea"/>
                <a:ea typeface="+mn-ea"/>
              </a:rPr>
              <a:t>IP </a:t>
            </a:r>
            <a:r>
              <a:rPr kumimoji="1" lang="zh-CN" altLang="en-US" b="1" dirty="0">
                <a:solidFill>
                  <a:srgbClr val="990000"/>
                </a:solidFill>
                <a:latin typeface="+mn-ea"/>
                <a:ea typeface="+mn-ea"/>
              </a:rPr>
              <a:t>地址</a:t>
            </a:r>
          </a:p>
          <a:p>
            <a:pPr algn="ctr" eaLnBrk="1" hangingPunct="1">
              <a:lnSpc>
                <a:spcPct val="90000"/>
              </a:lnSpc>
            </a:pPr>
            <a:r>
              <a:rPr kumimoji="1" lang="en-US" altLang="zh-CN" b="1" dirty="0">
                <a:solidFill>
                  <a:srgbClr val="990000"/>
                </a:solidFill>
                <a:latin typeface="+mn-ea"/>
                <a:ea typeface="+mn-ea"/>
              </a:rPr>
              <a:t>192.168.0.3</a:t>
            </a:r>
          </a:p>
        </p:txBody>
      </p:sp>
      <p:sp>
        <p:nvSpPr>
          <p:cNvPr id="42" name="Line 60"/>
          <p:cNvSpPr>
            <a:spLocks noChangeShapeType="1"/>
          </p:cNvSpPr>
          <p:nvPr/>
        </p:nvSpPr>
        <p:spPr bwMode="auto">
          <a:xfrm flipH="1">
            <a:off x="2042189" y="3840640"/>
            <a:ext cx="0" cy="653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grpSp>
        <p:nvGrpSpPr>
          <p:cNvPr id="43" name="Group 65"/>
          <p:cNvGrpSpPr>
            <a:grpSpLocks/>
          </p:cNvGrpSpPr>
          <p:nvPr/>
        </p:nvGrpSpPr>
        <p:grpSpPr bwMode="auto">
          <a:xfrm flipH="1">
            <a:off x="4995585" y="3755137"/>
            <a:ext cx="1038440" cy="258405"/>
            <a:chOff x="521" y="2478"/>
            <a:chExt cx="1044" cy="136"/>
          </a:xfrm>
        </p:grpSpPr>
        <p:sp>
          <p:nvSpPr>
            <p:cNvPr id="44" name="AutoShape 66"/>
            <p:cNvSpPr>
              <a:spLocks noChangeArrowheads="1"/>
            </p:cNvSpPr>
            <p:nvPr/>
          </p:nvSpPr>
          <p:spPr bwMode="auto">
            <a:xfrm>
              <a:off x="1383" y="2505"/>
              <a:ext cx="182" cy="91"/>
            </a:xfrm>
            <a:prstGeom prst="rightArrow">
              <a:avLst>
                <a:gd name="adj1" fmla="val 49454"/>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45" name="Rectangle 67"/>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ea"/>
              </a:endParaRPr>
            </a:p>
          </p:txBody>
        </p:sp>
        <p:sp>
          <p:nvSpPr>
            <p:cNvPr id="46" name="Rectangle 68"/>
            <p:cNvSpPr>
              <a:spLocks noChangeArrowheads="1"/>
            </p:cNvSpPr>
            <p:nvPr/>
          </p:nvSpPr>
          <p:spPr bwMode="auto">
            <a:xfrm>
              <a:off x="1156" y="2478"/>
              <a:ext cx="227" cy="136"/>
            </a:xfrm>
            <a:prstGeom prst="rect">
              <a:avLst/>
            </a:prstGeom>
            <a:solidFill>
              <a:srgbClr val="FF66FF"/>
            </a:solidFill>
            <a:ln w="9525">
              <a:solidFill>
                <a:schemeClr val="tx1"/>
              </a:solidFill>
              <a:miter lim="800000"/>
              <a:headEnd/>
              <a:tailEnd/>
            </a:ln>
          </p:spPr>
          <p:txBody>
            <a:bodyPr wrap="none" anchor="ctr"/>
            <a:lstStyle/>
            <a:p>
              <a:endParaRPr lang="zh-CN" altLang="en-US" sz="2000" b="1">
                <a:solidFill>
                  <a:srgbClr val="000099"/>
                </a:solidFill>
                <a:latin typeface="+mn-ea"/>
              </a:endParaRPr>
            </a:p>
          </p:txBody>
        </p:sp>
      </p:grpSp>
      <p:sp>
        <p:nvSpPr>
          <p:cNvPr id="47" name="Text Box 69"/>
          <p:cNvSpPr txBox="1">
            <a:spLocks noChangeArrowheads="1"/>
          </p:cNvSpPr>
          <p:nvPr/>
        </p:nvSpPr>
        <p:spPr bwMode="auto">
          <a:xfrm>
            <a:off x="5080688" y="4494253"/>
            <a:ext cx="1456488"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b="1" dirty="0">
                <a:solidFill>
                  <a:srgbClr val="990099"/>
                </a:solidFill>
                <a:latin typeface="+mn-lt"/>
                <a:ea typeface="黑体" pitchFamily="2" charset="-122"/>
              </a:rPr>
              <a:t>目的 </a:t>
            </a:r>
            <a:r>
              <a:rPr kumimoji="1" lang="en-US" altLang="zh-CN" b="1" dirty="0">
                <a:solidFill>
                  <a:srgbClr val="990099"/>
                </a:solidFill>
                <a:latin typeface="+mn-lt"/>
                <a:ea typeface="黑体" pitchFamily="2" charset="-122"/>
              </a:rPr>
              <a:t>IP </a:t>
            </a:r>
            <a:r>
              <a:rPr kumimoji="1" lang="zh-CN" altLang="en-US" b="1" dirty="0">
                <a:solidFill>
                  <a:srgbClr val="990099"/>
                </a:solidFill>
                <a:latin typeface="+mn-lt"/>
                <a:ea typeface="黑体" pitchFamily="2" charset="-122"/>
              </a:rPr>
              <a:t>地址</a:t>
            </a:r>
          </a:p>
          <a:p>
            <a:pPr algn="ctr" eaLnBrk="1" hangingPunct="1">
              <a:lnSpc>
                <a:spcPct val="90000"/>
              </a:lnSpc>
            </a:pPr>
            <a:r>
              <a:rPr kumimoji="1" lang="en-US" altLang="zh-CN" b="1" dirty="0">
                <a:solidFill>
                  <a:srgbClr val="990099"/>
                </a:solidFill>
                <a:latin typeface="+mn-lt"/>
                <a:ea typeface="黑体" pitchFamily="2" charset="-122"/>
              </a:rPr>
              <a:t>172.38.1.5</a:t>
            </a:r>
          </a:p>
        </p:txBody>
      </p:sp>
      <p:sp>
        <p:nvSpPr>
          <p:cNvPr id="48" name="Line 70"/>
          <p:cNvSpPr>
            <a:spLocks noChangeShapeType="1"/>
          </p:cNvSpPr>
          <p:nvPr/>
        </p:nvSpPr>
        <p:spPr bwMode="auto">
          <a:xfrm>
            <a:off x="5314156" y="3938896"/>
            <a:ext cx="480499" cy="55535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b="1">
              <a:solidFill>
                <a:srgbClr val="000099"/>
              </a:solidFill>
              <a:latin typeface="+mn-ea"/>
            </a:endParaRPr>
          </a:p>
        </p:txBody>
      </p:sp>
      <p:sp>
        <p:nvSpPr>
          <p:cNvPr id="49" name="Freeform 71"/>
          <p:cNvSpPr>
            <a:spLocks/>
          </p:cNvSpPr>
          <p:nvPr/>
        </p:nvSpPr>
        <p:spPr bwMode="auto">
          <a:xfrm>
            <a:off x="6113227" y="3025522"/>
            <a:ext cx="2970995" cy="811317"/>
          </a:xfrm>
          <a:custGeom>
            <a:avLst/>
            <a:gdLst>
              <a:gd name="T0" fmla="*/ 0 w 1688"/>
              <a:gd name="T1" fmla="*/ 425 h 427"/>
              <a:gd name="T2" fmla="*/ 456 w 1688"/>
              <a:gd name="T3" fmla="*/ 416 h 427"/>
              <a:gd name="T4" fmla="*/ 816 w 1688"/>
              <a:gd name="T5" fmla="*/ 360 h 427"/>
              <a:gd name="T6" fmla="*/ 1080 w 1688"/>
              <a:gd name="T7" fmla="*/ 288 h 427"/>
              <a:gd name="T8" fmla="*/ 1336 w 1688"/>
              <a:gd name="T9" fmla="*/ 192 h 427"/>
              <a:gd name="T10" fmla="*/ 1688 w 1688"/>
              <a:gd name="T11" fmla="*/ 0 h 427"/>
              <a:gd name="T12" fmla="*/ 0 60000 65536"/>
              <a:gd name="T13" fmla="*/ 0 60000 65536"/>
              <a:gd name="T14" fmla="*/ 0 60000 65536"/>
              <a:gd name="T15" fmla="*/ 0 60000 65536"/>
              <a:gd name="T16" fmla="*/ 0 60000 65536"/>
              <a:gd name="T17" fmla="*/ 0 60000 65536"/>
              <a:gd name="T18" fmla="*/ 0 w 1688"/>
              <a:gd name="T19" fmla="*/ 0 h 427"/>
              <a:gd name="T20" fmla="*/ 1688 w 1688"/>
              <a:gd name="T21" fmla="*/ 427 h 427"/>
            </a:gdLst>
            <a:ahLst/>
            <a:cxnLst>
              <a:cxn ang="T12">
                <a:pos x="T0" y="T1"/>
              </a:cxn>
              <a:cxn ang="T13">
                <a:pos x="T2" y="T3"/>
              </a:cxn>
              <a:cxn ang="T14">
                <a:pos x="T4" y="T5"/>
              </a:cxn>
              <a:cxn ang="T15">
                <a:pos x="T6" y="T7"/>
              </a:cxn>
              <a:cxn ang="T16">
                <a:pos x="T8" y="T9"/>
              </a:cxn>
              <a:cxn ang="T17">
                <a:pos x="T10" y="T11"/>
              </a:cxn>
            </a:cxnLst>
            <a:rect l="T18" t="T19" r="T20" b="T21"/>
            <a:pathLst>
              <a:path w="1688" h="427">
                <a:moveTo>
                  <a:pt x="0" y="425"/>
                </a:moveTo>
                <a:cubicBezTo>
                  <a:pt x="76" y="424"/>
                  <a:pt x="320" y="427"/>
                  <a:pt x="456" y="416"/>
                </a:cubicBezTo>
                <a:cubicBezTo>
                  <a:pt x="592" y="405"/>
                  <a:pt x="712" y="381"/>
                  <a:pt x="816" y="360"/>
                </a:cubicBezTo>
                <a:cubicBezTo>
                  <a:pt x="920" y="339"/>
                  <a:pt x="993" y="316"/>
                  <a:pt x="1080" y="288"/>
                </a:cubicBezTo>
                <a:cubicBezTo>
                  <a:pt x="1167" y="260"/>
                  <a:pt x="1235" y="240"/>
                  <a:pt x="1336" y="192"/>
                </a:cubicBezTo>
                <a:cubicBezTo>
                  <a:pt x="1437" y="144"/>
                  <a:pt x="1615" y="40"/>
                  <a:pt x="1688" y="0"/>
                </a:cubicBezTo>
              </a:path>
            </a:pathLst>
          </a:custGeom>
          <a:noFill/>
          <a:ln w="38100" cmpd="sng">
            <a:solidFill>
              <a:srgbClr val="CC00CC"/>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2000" b="1">
              <a:solidFill>
                <a:srgbClr val="000099"/>
              </a:solidFill>
              <a:latin typeface="+mn-ea"/>
            </a:endParaRPr>
          </a:p>
        </p:txBody>
      </p:sp>
      <p:sp>
        <p:nvSpPr>
          <p:cNvPr id="50" name="AutoShape 75"/>
          <p:cNvSpPr>
            <a:spLocks noChangeArrowheads="1"/>
          </p:cNvSpPr>
          <p:nvPr/>
        </p:nvSpPr>
        <p:spPr bwMode="auto">
          <a:xfrm>
            <a:off x="4677012" y="1244234"/>
            <a:ext cx="1860164" cy="748228"/>
          </a:xfrm>
          <a:prstGeom prst="wedgeRoundRectCallout">
            <a:avLst>
              <a:gd name="adj1" fmla="val -61990"/>
              <a:gd name="adj2" fmla="val 265089"/>
              <a:gd name="adj3" fmla="val 16667"/>
            </a:avLst>
          </a:prstGeom>
          <a:solidFill>
            <a:srgbClr val="FFFF66"/>
          </a:solidFill>
          <a:ln w="9525">
            <a:solidFill>
              <a:schemeClr val="tx1"/>
            </a:solidFill>
            <a:miter lim="800000"/>
            <a:headEnd/>
            <a:tailEnd/>
          </a:ln>
        </p:spPr>
        <p:txBody>
          <a:bodyPr/>
          <a:lstStyle/>
          <a:p>
            <a:pPr algn="ctr"/>
            <a:endParaRPr lang="zh-CN" altLang="zh-CN" sz="2000" b="1">
              <a:solidFill>
                <a:srgbClr val="000099"/>
              </a:solidFill>
              <a:latin typeface="+mn-ea"/>
            </a:endParaRPr>
          </a:p>
        </p:txBody>
      </p:sp>
      <p:sp>
        <p:nvSpPr>
          <p:cNvPr id="51" name="Text Box 76"/>
          <p:cNvSpPr txBox="1">
            <a:spLocks noChangeArrowheads="1"/>
          </p:cNvSpPr>
          <p:nvPr/>
        </p:nvSpPr>
        <p:spPr bwMode="auto">
          <a:xfrm>
            <a:off x="4797660" y="1316242"/>
            <a:ext cx="1595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lnSpc>
                <a:spcPct val="90000"/>
              </a:lnSpc>
            </a:pPr>
            <a:r>
              <a:rPr kumimoji="1" lang="zh-CN" altLang="en-US" sz="2000" b="1" dirty="0">
                <a:solidFill>
                  <a:srgbClr val="000099"/>
                </a:solidFill>
                <a:latin typeface="+mn-ea"/>
                <a:ea typeface="+mn-ea"/>
              </a:rPr>
              <a:t>全球 </a:t>
            </a:r>
            <a:r>
              <a:rPr kumimoji="1" lang="en-US" altLang="zh-CN" sz="2000" b="1" dirty="0">
                <a:solidFill>
                  <a:srgbClr val="000099"/>
                </a:solidFill>
                <a:latin typeface="+mn-ea"/>
                <a:ea typeface="+mn-ea"/>
              </a:rPr>
              <a:t>IP </a:t>
            </a:r>
            <a:r>
              <a:rPr kumimoji="1" lang="zh-CN" altLang="en-US" sz="2000" b="1" dirty="0">
                <a:solidFill>
                  <a:srgbClr val="000099"/>
                </a:solidFill>
                <a:latin typeface="+mn-ea"/>
                <a:ea typeface="+mn-ea"/>
              </a:rPr>
              <a:t>地址</a:t>
            </a:r>
          </a:p>
          <a:p>
            <a:pPr algn="ctr" eaLnBrk="1" hangingPunct="1">
              <a:lnSpc>
                <a:spcPct val="90000"/>
              </a:lnSpc>
            </a:pPr>
            <a:r>
              <a:rPr kumimoji="1" lang="en-US" altLang="zh-CN" sz="2000" b="1" dirty="0">
                <a:solidFill>
                  <a:srgbClr val="000099"/>
                </a:solidFill>
                <a:latin typeface="+mn-ea"/>
                <a:ea typeface="+mn-ea"/>
              </a:rPr>
              <a:t>172.38.1.5</a:t>
            </a:r>
          </a:p>
        </p:txBody>
      </p:sp>
      <p:sp>
        <p:nvSpPr>
          <p:cNvPr id="4" name="矩形 3"/>
          <p:cNvSpPr/>
          <p:nvPr/>
        </p:nvSpPr>
        <p:spPr>
          <a:xfrm>
            <a:off x="2520928" y="5373216"/>
            <a:ext cx="5600424" cy="461665"/>
          </a:xfrm>
          <a:prstGeom prst="rect">
            <a:avLst/>
          </a:prstGeom>
        </p:spPr>
        <p:txBody>
          <a:bodyPr wrap="square">
            <a:spAutoFit/>
          </a:bodyPr>
          <a:lstStyle/>
          <a:p>
            <a:pPr algn="ctr"/>
            <a:r>
              <a:rPr lang="en-US" altLang="zh-CN" sz="2400" b="1" dirty="0">
                <a:latin typeface="+mn-lt"/>
                <a:ea typeface="黑体" pitchFamily="2" charset="-122"/>
              </a:rPr>
              <a:t>NAT </a:t>
            </a:r>
            <a:r>
              <a:rPr lang="zh-CN" altLang="zh-CN" sz="2400" b="1" dirty="0">
                <a:latin typeface="+mn-lt"/>
                <a:ea typeface="黑体" pitchFamily="2" charset="-122"/>
              </a:rPr>
              <a:t>路由器的工作原理</a:t>
            </a:r>
            <a:endParaRPr lang="zh-CN" altLang="en-US" sz="2400" b="1" dirty="0">
              <a:latin typeface="+mn-lt"/>
              <a:ea typeface="黑体" pitchFamily="2" charset="-122"/>
            </a:endParaRPr>
          </a:p>
        </p:txBody>
      </p:sp>
    </p:spTree>
    <p:extLst>
      <p:ext uri="{BB962C8B-B14F-4D97-AF65-F5344CB8AC3E}">
        <p14:creationId xmlns:p14="http://schemas.microsoft.com/office/powerpoint/2010/main" val="111879928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p:txBody>
          <a:bodyPr/>
          <a:lstStyle/>
          <a:p>
            <a:pPr algn="ctr"/>
            <a:r>
              <a:rPr lang="zh-CN" altLang="en-US"/>
              <a:t>网络地址转换的过程</a:t>
            </a:r>
            <a:endParaRPr lang="zh-CN" altLang="en-US" sz="3600"/>
          </a:p>
        </p:txBody>
      </p:sp>
      <p:sp>
        <p:nvSpPr>
          <p:cNvPr id="629763" name="Rectangle 3"/>
          <p:cNvSpPr>
            <a:spLocks noGrp="1" noChangeArrowheads="1"/>
          </p:cNvSpPr>
          <p:nvPr>
            <p:ph idx="1"/>
          </p:nvPr>
        </p:nvSpPr>
        <p:spPr/>
        <p:txBody>
          <a:bodyPr/>
          <a:lstStyle/>
          <a:p>
            <a:pPr>
              <a:lnSpc>
                <a:spcPct val="120000"/>
              </a:lnSpc>
            </a:pPr>
            <a:r>
              <a:rPr lang="zh-CN" altLang="en-US" sz="2800" dirty="0"/>
              <a:t>内部主机 </a:t>
            </a:r>
            <a:r>
              <a:rPr lang="en-US" altLang="zh-CN" sz="2800" dirty="0"/>
              <a:t>A </a:t>
            </a:r>
            <a:r>
              <a:rPr lang="zh-CN" altLang="en-US" sz="2800" dirty="0"/>
              <a:t>用</a:t>
            </a:r>
            <a:r>
              <a:rPr lang="zh-CN" altLang="en-US" sz="2800" dirty="0">
                <a:solidFill>
                  <a:srgbClr val="FF0000"/>
                </a:solidFill>
              </a:rPr>
              <a:t>本地地址 </a:t>
            </a:r>
            <a:r>
              <a:rPr lang="en-US" altLang="zh-CN" sz="2800" dirty="0">
                <a:solidFill>
                  <a:srgbClr val="FF0000"/>
                </a:solidFill>
              </a:rPr>
              <a:t>IP</a:t>
            </a:r>
            <a:r>
              <a:rPr lang="en-US" altLang="zh-CN" sz="2800" i="1" baseline="-25000" dirty="0">
                <a:solidFill>
                  <a:srgbClr val="FF0000"/>
                </a:solidFill>
              </a:rPr>
              <a:t>A </a:t>
            </a:r>
            <a:r>
              <a:rPr lang="zh-CN" altLang="en-US" sz="2800" dirty="0"/>
              <a:t>和互联网上主机 </a:t>
            </a:r>
            <a:r>
              <a:rPr lang="en-US" altLang="zh-CN" sz="2800" dirty="0"/>
              <a:t>B </a:t>
            </a:r>
            <a:r>
              <a:rPr lang="zh-CN" altLang="en-US" sz="2800" dirty="0"/>
              <a:t>通信所发送的数据报必须经过 </a:t>
            </a:r>
            <a:r>
              <a:rPr lang="en-US" altLang="zh-CN" sz="2800" dirty="0"/>
              <a:t>NAT </a:t>
            </a:r>
            <a:r>
              <a:rPr lang="zh-CN" altLang="en-US" sz="2800" dirty="0"/>
              <a:t>路由器。</a:t>
            </a:r>
          </a:p>
          <a:p>
            <a:pPr>
              <a:lnSpc>
                <a:spcPct val="120000"/>
              </a:lnSpc>
            </a:pPr>
            <a:r>
              <a:rPr lang="en-US" altLang="zh-CN" sz="2800" dirty="0"/>
              <a:t>NAT </a:t>
            </a:r>
            <a:r>
              <a:rPr lang="zh-CN" altLang="en-US" sz="2800" dirty="0"/>
              <a:t>路由器</a:t>
            </a:r>
            <a:r>
              <a:rPr lang="zh-CN" altLang="en-US" sz="2800" dirty="0">
                <a:solidFill>
                  <a:srgbClr val="FF0000"/>
                </a:solidFill>
              </a:rPr>
              <a:t>将数据报的源地址 </a:t>
            </a:r>
            <a:r>
              <a:rPr lang="en-US" altLang="zh-CN" sz="2800" dirty="0">
                <a:solidFill>
                  <a:srgbClr val="FF0000"/>
                </a:solidFill>
              </a:rPr>
              <a:t>IP</a:t>
            </a:r>
            <a:r>
              <a:rPr lang="en-US" altLang="zh-CN" sz="2800" i="1" baseline="-25000" dirty="0">
                <a:solidFill>
                  <a:srgbClr val="FF0000"/>
                </a:solidFill>
              </a:rPr>
              <a:t>A </a:t>
            </a:r>
            <a:r>
              <a:rPr lang="zh-CN" altLang="en-US" sz="2800" dirty="0">
                <a:solidFill>
                  <a:srgbClr val="FF0000"/>
                </a:solidFill>
              </a:rPr>
              <a:t>转换成全球地址 </a:t>
            </a:r>
            <a:r>
              <a:rPr lang="en-US" altLang="zh-CN" sz="2800" dirty="0">
                <a:solidFill>
                  <a:srgbClr val="FF0000"/>
                </a:solidFill>
              </a:rPr>
              <a:t>IP</a:t>
            </a:r>
            <a:r>
              <a:rPr lang="en-US" altLang="zh-CN" sz="2800" i="1" baseline="-25000" dirty="0">
                <a:solidFill>
                  <a:srgbClr val="FF0000"/>
                </a:solidFill>
              </a:rPr>
              <a:t>G</a:t>
            </a:r>
            <a:r>
              <a:rPr lang="zh-CN" altLang="en-US" sz="2800" dirty="0">
                <a:solidFill>
                  <a:srgbClr val="FF0000"/>
                </a:solidFill>
              </a:rPr>
              <a:t>，</a:t>
            </a:r>
            <a:r>
              <a:rPr lang="zh-CN" altLang="en-US" sz="2800" dirty="0"/>
              <a:t>并把转换结果记录到</a:t>
            </a:r>
            <a:r>
              <a:rPr lang="en-US" altLang="zh-CN" sz="2800" dirty="0">
                <a:solidFill>
                  <a:srgbClr val="FF0000"/>
                </a:solidFill>
              </a:rPr>
              <a:t>NAT</a:t>
            </a:r>
            <a:r>
              <a:rPr lang="zh-CN" altLang="en-US" sz="2800" dirty="0">
                <a:solidFill>
                  <a:srgbClr val="FF0000"/>
                </a:solidFill>
              </a:rPr>
              <a:t>地址转换表</a:t>
            </a:r>
            <a:r>
              <a:rPr lang="zh-CN" altLang="en-US" sz="2800" dirty="0"/>
              <a:t>中，目的地址 </a:t>
            </a:r>
            <a:r>
              <a:rPr lang="en-US" altLang="zh-CN" sz="2800" dirty="0"/>
              <a:t>IP</a:t>
            </a:r>
            <a:r>
              <a:rPr lang="en-US" altLang="zh-CN" sz="2800" i="1" baseline="-25000" dirty="0"/>
              <a:t>B </a:t>
            </a:r>
            <a:r>
              <a:rPr lang="zh-CN" altLang="en-US" sz="2800" dirty="0"/>
              <a:t>保持不变，然后发送到互联网。</a:t>
            </a:r>
          </a:p>
          <a:p>
            <a:pPr>
              <a:lnSpc>
                <a:spcPct val="120000"/>
              </a:lnSpc>
            </a:pPr>
            <a:r>
              <a:rPr lang="en-US" altLang="zh-CN" sz="2800" dirty="0"/>
              <a:t>NAT </a:t>
            </a:r>
            <a:r>
              <a:rPr lang="zh-CN" altLang="en-US" sz="2800" dirty="0"/>
              <a:t>路由器收到主机 </a:t>
            </a:r>
            <a:r>
              <a:rPr lang="en-US" altLang="zh-CN" sz="2800" dirty="0"/>
              <a:t>B </a:t>
            </a:r>
            <a:r>
              <a:rPr lang="zh-CN" altLang="en-US" sz="2800" dirty="0"/>
              <a:t>发回的数据报时，知道数据报中的源地址是 </a:t>
            </a:r>
            <a:r>
              <a:rPr lang="en-US" altLang="zh-CN" sz="2800" dirty="0"/>
              <a:t>IP</a:t>
            </a:r>
            <a:r>
              <a:rPr lang="en-US" altLang="zh-CN" sz="2800" i="1" baseline="-25000" dirty="0"/>
              <a:t>B </a:t>
            </a:r>
            <a:r>
              <a:rPr lang="zh-CN" altLang="en-US" sz="2800" dirty="0"/>
              <a:t>而目的地址是 </a:t>
            </a:r>
            <a:r>
              <a:rPr lang="en-US" altLang="zh-CN" sz="2800" dirty="0"/>
              <a:t>IP</a:t>
            </a:r>
            <a:r>
              <a:rPr lang="en-US" altLang="zh-CN" sz="2800" i="1" baseline="-25000" dirty="0"/>
              <a:t>G</a:t>
            </a:r>
            <a:r>
              <a:rPr lang="zh-CN" altLang="en-US" sz="2800" dirty="0"/>
              <a:t>。</a:t>
            </a:r>
          </a:p>
          <a:p>
            <a:pPr>
              <a:lnSpc>
                <a:spcPct val="120000"/>
              </a:lnSpc>
            </a:pPr>
            <a:r>
              <a:rPr lang="zh-CN" altLang="en-US" sz="2800" dirty="0">
                <a:solidFill>
                  <a:srgbClr val="FF0000"/>
                </a:solidFill>
              </a:rPr>
              <a:t>根据 </a:t>
            </a:r>
            <a:r>
              <a:rPr lang="en-US" altLang="zh-CN" sz="2800" dirty="0">
                <a:solidFill>
                  <a:srgbClr val="FF0000"/>
                </a:solidFill>
              </a:rPr>
              <a:t>NAT </a:t>
            </a:r>
            <a:r>
              <a:rPr lang="zh-CN" altLang="en-US" sz="2800" dirty="0">
                <a:solidFill>
                  <a:srgbClr val="FF0000"/>
                </a:solidFill>
              </a:rPr>
              <a:t>转换表，</a:t>
            </a:r>
            <a:r>
              <a:rPr lang="en-US" altLang="zh-CN" sz="2800" dirty="0"/>
              <a:t>NAT </a:t>
            </a:r>
            <a:r>
              <a:rPr lang="zh-CN" altLang="en-US" sz="2800" dirty="0"/>
              <a:t>路由器</a:t>
            </a:r>
            <a:r>
              <a:rPr lang="zh-CN" altLang="en-US" sz="2800" dirty="0">
                <a:solidFill>
                  <a:srgbClr val="FF0000"/>
                </a:solidFill>
              </a:rPr>
              <a:t>将目的地址 </a:t>
            </a:r>
            <a:r>
              <a:rPr lang="en-US" altLang="zh-CN" sz="2800" dirty="0">
                <a:solidFill>
                  <a:srgbClr val="FF0000"/>
                </a:solidFill>
              </a:rPr>
              <a:t>IP</a:t>
            </a:r>
            <a:r>
              <a:rPr lang="en-US" altLang="zh-CN" sz="2800" i="1" baseline="-25000" dirty="0">
                <a:solidFill>
                  <a:srgbClr val="FF0000"/>
                </a:solidFill>
              </a:rPr>
              <a:t>G </a:t>
            </a:r>
            <a:r>
              <a:rPr lang="zh-CN" altLang="en-US" sz="2800" dirty="0">
                <a:solidFill>
                  <a:srgbClr val="FF0000"/>
                </a:solidFill>
              </a:rPr>
              <a:t>转换为 </a:t>
            </a:r>
            <a:r>
              <a:rPr lang="en-US" altLang="zh-CN" sz="2800" dirty="0">
                <a:solidFill>
                  <a:srgbClr val="FF0000"/>
                </a:solidFill>
              </a:rPr>
              <a:t>IP</a:t>
            </a:r>
            <a:r>
              <a:rPr lang="en-US" altLang="zh-CN" sz="2800" i="1" baseline="-25000" dirty="0">
                <a:solidFill>
                  <a:srgbClr val="FF0000"/>
                </a:solidFill>
              </a:rPr>
              <a:t>A</a:t>
            </a:r>
            <a:r>
              <a:rPr lang="zh-CN" altLang="en-US" sz="2800" dirty="0">
                <a:solidFill>
                  <a:srgbClr val="FF0000"/>
                </a:solidFill>
              </a:rPr>
              <a:t>，</a:t>
            </a:r>
            <a:r>
              <a:rPr lang="zh-CN" altLang="en-US" sz="2800" dirty="0"/>
              <a:t>转发给最终的内部主机 </a:t>
            </a:r>
            <a:r>
              <a:rPr lang="en-US" altLang="zh-CN" sz="2800" dirty="0"/>
              <a:t>A</a:t>
            </a:r>
            <a:r>
              <a:rPr lang="zh-CN" altLang="en-US" sz="2800" dirty="0"/>
              <a:t>。 </a:t>
            </a:r>
          </a:p>
        </p:txBody>
      </p:sp>
    </p:spTree>
    <p:extLst>
      <p:ext uri="{BB962C8B-B14F-4D97-AF65-F5344CB8AC3E}">
        <p14:creationId xmlns:p14="http://schemas.microsoft.com/office/powerpoint/2010/main" val="320400605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Rectangle 2"/>
          <p:cNvSpPr>
            <a:spLocks noGrp="1" noChangeArrowheads="1"/>
          </p:cNvSpPr>
          <p:nvPr>
            <p:ph type="title"/>
          </p:nvPr>
        </p:nvSpPr>
        <p:spPr/>
        <p:txBody>
          <a:bodyPr/>
          <a:lstStyle/>
          <a:p>
            <a:pPr algn="ctr"/>
            <a:r>
              <a:rPr lang="zh-CN" altLang="en-US"/>
              <a:t>网络地址转换的过程</a:t>
            </a:r>
            <a:endParaRPr lang="zh-CN" altLang="en-US" sz="3600"/>
          </a:p>
        </p:txBody>
      </p:sp>
      <p:sp>
        <p:nvSpPr>
          <p:cNvPr id="629763" name="Rectangle 3"/>
          <p:cNvSpPr>
            <a:spLocks noGrp="1" noChangeArrowheads="1"/>
          </p:cNvSpPr>
          <p:nvPr>
            <p:ph idx="1"/>
          </p:nvPr>
        </p:nvSpPr>
        <p:spPr/>
        <p:txBody>
          <a:bodyPr/>
          <a:lstStyle/>
          <a:p>
            <a:r>
              <a:rPr lang="zh-CN" altLang="en-US" sz="2800" dirty="0"/>
              <a:t>可以看出，在内部主机与外部主机通信时，在</a:t>
            </a:r>
            <a:r>
              <a:rPr lang="en-US" altLang="zh-CN" sz="2800" dirty="0"/>
              <a:t>NAT</a:t>
            </a:r>
            <a:r>
              <a:rPr lang="zh-CN" altLang="en-US" sz="2800" dirty="0"/>
              <a:t>路由器上发生了</a:t>
            </a:r>
            <a:r>
              <a:rPr lang="zh-CN" altLang="en-US" sz="2800" dirty="0">
                <a:solidFill>
                  <a:srgbClr val="FF0000"/>
                </a:solidFill>
              </a:rPr>
              <a:t>两次地址转换：</a:t>
            </a:r>
            <a:endParaRPr lang="en-US" altLang="zh-CN" sz="2800" dirty="0">
              <a:solidFill>
                <a:srgbClr val="FF0000"/>
              </a:solidFill>
            </a:endParaRPr>
          </a:p>
          <a:p>
            <a:pPr lvl="1"/>
            <a:r>
              <a:rPr lang="zh-CN" altLang="en-US" sz="2400" dirty="0">
                <a:solidFill>
                  <a:srgbClr val="0000FF"/>
                </a:solidFill>
              </a:rPr>
              <a:t>离开专用网时：</a:t>
            </a:r>
            <a:r>
              <a:rPr lang="zh-CN" altLang="en-US" sz="2400" dirty="0"/>
              <a:t>替换源地址，将内部地址替换为全球地址；</a:t>
            </a:r>
            <a:endParaRPr lang="en-US" altLang="zh-CN" sz="2400" dirty="0"/>
          </a:p>
          <a:p>
            <a:pPr lvl="1"/>
            <a:r>
              <a:rPr lang="zh-CN" altLang="en-US" sz="2400" dirty="0">
                <a:solidFill>
                  <a:srgbClr val="0000FF"/>
                </a:solidFill>
              </a:rPr>
              <a:t>进入专用网时：</a:t>
            </a:r>
            <a:r>
              <a:rPr lang="zh-CN" altLang="en-US" sz="2400" dirty="0"/>
              <a:t>替换目的地址，将全球地址替换为内部地址；</a:t>
            </a:r>
          </a:p>
        </p:txBody>
      </p:sp>
      <p:graphicFrame>
        <p:nvGraphicFramePr>
          <p:cNvPr id="2" name="表格 1"/>
          <p:cNvGraphicFramePr>
            <a:graphicFrameLocks noGrp="1"/>
          </p:cNvGraphicFramePr>
          <p:nvPr>
            <p:extLst>
              <p:ext uri="{D42A27DB-BD31-4B8C-83A1-F6EECF244321}">
                <p14:modId xmlns:p14="http://schemas.microsoft.com/office/powerpoint/2010/main" val="3536663254"/>
              </p:ext>
            </p:extLst>
          </p:nvPr>
        </p:nvGraphicFramePr>
        <p:xfrm>
          <a:off x="848544" y="3789042"/>
          <a:ext cx="8496943" cy="2088230"/>
        </p:xfrm>
        <a:graphic>
          <a:graphicData uri="http://schemas.openxmlformats.org/drawingml/2006/table">
            <a:tbl>
              <a:tblPr firstRow="1" firstCol="1" lastRow="1" lastCol="1" bandRow="1" bandCol="1">
                <a:tableStyleId>{5C22544A-7EE6-4342-B048-85BDC9FD1C3A}</a:tableStyleId>
              </a:tblPr>
              <a:tblGrid>
                <a:gridCol w="1763516">
                  <a:extLst>
                    <a:ext uri="{9D8B030D-6E8A-4147-A177-3AD203B41FA5}">
                      <a16:colId xmlns:a16="http://schemas.microsoft.com/office/drawing/2014/main" val="20000"/>
                    </a:ext>
                  </a:extLst>
                </a:gridCol>
                <a:gridCol w="2545266">
                  <a:extLst>
                    <a:ext uri="{9D8B030D-6E8A-4147-A177-3AD203B41FA5}">
                      <a16:colId xmlns:a16="http://schemas.microsoft.com/office/drawing/2014/main" val="20001"/>
                    </a:ext>
                  </a:extLst>
                </a:gridCol>
                <a:gridCol w="2104005">
                  <a:extLst>
                    <a:ext uri="{9D8B030D-6E8A-4147-A177-3AD203B41FA5}">
                      <a16:colId xmlns:a16="http://schemas.microsoft.com/office/drawing/2014/main" val="20002"/>
                    </a:ext>
                  </a:extLst>
                </a:gridCol>
                <a:gridCol w="2084156">
                  <a:extLst>
                    <a:ext uri="{9D8B030D-6E8A-4147-A177-3AD203B41FA5}">
                      <a16:colId xmlns:a16="http://schemas.microsoft.com/office/drawing/2014/main" val="20003"/>
                    </a:ext>
                  </a:extLst>
                </a:gridCol>
              </a:tblGrid>
              <a:tr h="417646">
                <a:tc>
                  <a:txBody>
                    <a:bodyPr/>
                    <a:lstStyle/>
                    <a:p>
                      <a:pPr algn="ctr">
                        <a:lnSpc>
                          <a:spcPct val="100000"/>
                        </a:lnSpc>
                        <a:spcAft>
                          <a:spcPts val="0"/>
                        </a:spcAft>
                        <a:tabLst>
                          <a:tab pos="3886200" algn="l"/>
                        </a:tabLst>
                      </a:pPr>
                      <a:r>
                        <a:rPr lang="zh-CN" sz="2400" b="1" dirty="0">
                          <a:solidFill>
                            <a:schemeClr val="tx1"/>
                          </a:solidFill>
                          <a:effectLst/>
                          <a:latin typeface="+mn-lt"/>
                          <a:ea typeface="黑体" pitchFamily="2" charset="-122"/>
                        </a:rPr>
                        <a:t>方向</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itchFamily="2" charset="-122"/>
                        </a:rPr>
                        <a:t>字段</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itchFamily="2" charset="-122"/>
                        </a:rPr>
                        <a:t>旧的</a:t>
                      </a:r>
                      <a:r>
                        <a:rPr lang="en-US" sz="2400" b="1" dirty="0">
                          <a:solidFill>
                            <a:schemeClr val="tx1"/>
                          </a:solidFill>
                          <a:effectLst/>
                          <a:latin typeface="+mn-lt"/>
                          <a:ea typeface="黑体" pitchFamily="2" charset="-122"/>
                        </a:rPr>
                        <a:t>IP</a:t>
                      </a:r>
                      <a:r>
                        <a:rPr lang="zh-CN" sz="2400" b="1" dirty="0">
                          <a:solidFill>
                            <a:schemeClr val="tx1"/>
                          </a:solidFill>
                          <a:effectLst/>
                          <a:latin typeface="+mn-lt"/>
                          <a:ea typeface="黑体" pitchFamily="2" charset="-122"/>
                        </a:rPr>
                        <a:t>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itchFamily="2" charset="-122"/>
                        </a:rPr>
                        <a:t>新的</a:t>
                      </a:r>
                      <a:r>
                        <a:rPr lang="en-US" sz="2400" b="1" dirty="0">
                          <a:solidFill>
                            <a:schemeClr val="tx1"/>
                          </a:solidFill>
                          <a:effectLst/>
                          <a:latin typeface="+mn-lt"/>
                          <a:ea typeface="黑体" pitchFamily="2" charset="-122"/>
                        </a:rPr>
                        <a:t>IP</a:t>
                      </a:r>
                      <a:r>
                        <a:rPr lang="zh-CN" sz="2400" b="1" dirty="0">
                          <a:solidFill>
                            <a:schemeClr val="tx1"/>
                          </a:solidFill>
                          <a:effectLst/>
                          <a:latin typeface="+mn-lt"/>
                          <a:ea typeface="黑体" pitchFamily="2" charset="-122"/>
                        </a:rPr>
                        <a:t>地址</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417646">
                <a:tc>
                  <a:txBody>
                    <a:bodyPr/>
                    <a:lstStyle/>
                    <a:p>
                      <a:pPr algn="ctr">
                        <a:lnSpc>
                          <a:spcPct val="100000"/>
                        </a:lnSpc>
                        <a:spcAft>
                          <a:spcPts val="0"/>
                        </a:spcAft>
                        <a:tabLst>
                          <a:tab pos="3886200" algn="l"/>
                        </a:tabLst>
                      </a:pPr>
                      <a:r>
                        <a:rPr lang="zh-CN" sz="2400" b="1">
                          <a:solidFill>
                            <a:schemeClr val="tx1"/>
                          </a:solidFill>
                          <a:effectLst/>
                          <a:latin typeface="+mn-lt"/>
                          <a:ea typeface="黑体" pitchFamily="2" charset="-122"/>
                        </a:rPr>
                        <a:t>出</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itchFamily="2" charset="-122"/>
                        </a:rPr>
                        <a:t>源</a:t>
                      </a:r>
                      <a:r>
                        <a:rPr lang="en-US" sz="2400" b="1">
                          <a:solidFill>
                            <a:schemeClr val="tx1"/>
                          </a:solidFill>
                          <a:effectLst/>
                          <a:latin typeface="+mn-lt"/>
                          <a:ea typeface="黑体" pitchFamily="2" charset="-122"/>
                        </a:rPr>
                        <a:t>IP</a:t>
                      </a:r>
                      <a:r>
                        <a:rPr lang="zh-CN" sz="2400" b="1">
                          <a:solidFill>
                            <a:schemeClr val="tx1"/>
                          </a:solidFill>
                          <a:effectLst/>
                          <a:latin typeface="+mn-lt"/>
                          <a:ea typeface="黑体" pitchFamily="2" charset="-122"/>
                        </a:rPr>
                        <a:t>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itchFamily="2" charset="-122"/>
                        </a:rPr>
                        <a:t>192.168.0.3</a:t>
                      </a:r>
                      <a:endParaRPr lang="zh-CN" sz="24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itchFamily="2" charset="-122"/>
                        </a:rPr>
                        <a:t>172.38.1.5</a:t>
                      </a:r>
                      <a:endParaRPr lang="zh-CN" sz="24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17646">
                <a:tc>
                  <a:txBody>
                    <a:bodyPr/>
                    <a:lstStyle/>
                    <a:p>
                      <a:pPr algn="ctr">
                        <a:lnSpc>
                          <a:spcPct val="100000"/>
                        </a:lnSpc>
                        <a:spcAft>
                          <a:spcPts val="0"/>
                        </a:spcAft>
                        <a:tabLst>
                          <a:tab pos="3886200" algn="l"/>
                        </a:tabLst>
                      </a:pPr>
                      <a:r>
                        <a:rPr lang="zh-CN" sz="2400" b="1">
                          <a:solidFill>
                            <a:schemeClr val="tx1"/>
                          </a:solidFill>
                          <a:effectLst/>
                          <a:latin typeface="+mn-lt"/>
                          <a:ea typeface="黑体" pitchFamily="2" charset="-122"/>
                        </a:rPr>
                        <a:t>入</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itchFamily="2" charset="-122"/>
                        </a:rPr>
                        <a:t>目的</a:t>
                      </a:r>
                      <a:r>
                        <a:rPr lang="en-US" sz="2400" b="1">
                          <a:solidFill>
                            <a:schemeClr val="tx1"/>
                          </a:solidFill>
                          <a:effectLst/>
                          <a:latin typeface="+mn-lt"/>
                          <a:ea typeface="黑体" pitchFamily="2" charset="-122"/>
                        </a:rPr>
                        <a:t>IP</a:t>
                      </a:r>
                      <a:r>
                        <a:rPr lang="zh-CN" sz="2400" b="1">
                          <a:solidFill>
                            <a:schemeClr val="tx1"/>
                          </a:solidFill>
                          <a:effectLst/>
                          <a:latin typeface="+mn-lt"/>
                          <a:ea typeface="黑体" pitchFamily="2" charset="-122"/>
                        </a:rPr>
                        <a:t>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itchFamily="2" charset="-122"/>
                        </a:rPr>
                        <a:t>172.38.1.5</a:t>
                      </a:r>
                      <a:endParaRPr lang="zh-CN" sz="24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itchFamily="2" charset="-122"/>
                        </a:rPr>
                        <a:t>192.168.0.3</a:t>
                      </a:r>
                      <a:endParaRPr lang="zh-CN" sz="24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17646">
                <a:tc>
                  <a:txBody>
                    <a:bodyPr/>
                    <a:lstStyle/>
                    <a:p>
                      <a:pPr algn="ctr">
                        <a:lnSpc>
                          <a:spcPct val="100000"/>
                        </a:lnSpc>
                        <a:spcAft>
                          <a:spcPts val="0"/>
                        </a:spcAft>
                        <a:tabLst>
                          <a:tab pos="3886200" algn="l"/>
                        </a:tabLst>
                      </a:pPr>
                      <a:r>
                        <a:rPr lang="zh-CN" sz="2400" b="1">
                          <a:solidFill>
                            <a:schemeClr val="tx1"/>
                          </a:solidFill>
                          <a:effectLst/>
                          <a:latin typeface="+mn-lt"/>
                          <a:ea typeface="黑体" pitchFamily="2" charset="-122"/>
                        </a:rPr>
                        <a:t>出</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itchFamily="2" charset="-122"/>
                        </a:rPr>
                        <a:t>源</a:t>
                      </a:r>
                      <a:r>
                        <a:rPr lang="en-US" sz="2400" b="1">
                          <a:solidFill>
                            <a:schemeClr val="tx1"/>
                          </a:solidFill>
                          <a:effectLst/>
                          <a:latin typeface="+mn-lt"/>
                          <a:ea typeface="黑体" pitchFamily="2" charset="-122"/>
                        </a:rPr>
                        <a:t>IP</a:t>
                      </a:r>
                      <a:r>
                        <a:rPr lang="zh-CN" sz="2400" b="1">
                          <a:solidFill>
                            <a:schemeClr val="tx1"/>
                          </a:solidFill>
                          <a:effectLst/>
                          <a:latin typeface="+mn-lt"/>
                          <a:ea typeface="黑体" pitchFamily="2" charset="-122"/>
                        </a:rPr>
                        <a:t>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itchFamily="2" charset="-122"/>
                        </a:rPr>
                        <a:t>192.168.0.7</a:t>
                      </a:r>
                      <a:endParaRPr lang="zh-CN" sz="24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itchFamily="2" charset="-122"/>
                        </a:rPr>
                        <a:t>172.38.1.6</a:t>
                      </a:r>
                      <a:endParaRPr lang="zh-CN" sz="24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17646">
                <a:tc>
                  <a:txBody>
                    <a:bodyPr/>
                    <a:lstStyle/>
                    <a:p>
                      <a:pPr algn="ctr">
                        <a:lnSpc>
                          <a:spcPct val="100000"/>
                        </a:lnSpc>
                        <a:spcAft>
                          <a:spcPts val="0"/>
                        </a:spcAft>
                        <a:tabLst>
                          <a:tab pos="3886200" algn="l"/>
                        </a:tabLst>
                      </a:pPr>
                      <a:r>
                        <a:rPr lang="zh-CN" sz="2400" b="1">
                          <a:solidFill>
                            <a:schemeClr val="tx1"/>
                          </a:solidFill>
                          <a:effectLst/>
                          <a:latin typeface="+mn-lt"/>
                          <a:ea typeface="黑体" pitchFamily="2" charset="-122"/>
                        </a:rPr>
                        <a:t>入</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itchFamily="2" charset="-122"/>
                        </a:rPr>
                        <a:t>目的</a:t>
                      </a:r>
                      <a:r>
                        <a:rPr lang="en-US" sz="2400" b="1" dirty="0">
                          <a:solidFill>
                            <a:schemeClr val="tx1"/>
                          </a:solidFill>
                          <a:effectLst/>
                          <a:latin typeface="+mn-lt"/>
                          <a:ea typeface="黑体" pitchFamily="2" charset="-122"/>
                        </a:rPr>
                        <a:t>IP</a:t>
                      </a:r>
                      <a:r>
                        <a:rPr lang="zh-CN" sz="2400" b="1" dirty="0">
                          <a:solidFill>
                            <a:schemeClr val="tx1"/>
                          </a:solidFill>
                          <a:effectLst/>
                          <a:latin typeface="+mn-lt"/>
                          <a:ea typeface="黑体" pitchFamily="2" charset="-122"/>
                        </a:rPr>
                        <a:t>地址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itchFamily="2" charset="-122"/>
                        </a:rPr>
                        <a:t>172.38.1.6</a:t>
                      </a:r>
                      <a:endParaRPr lang="zh-CN" sz="24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itchFamily="2" charset="-122"/>
                        </a:rPr>
                        <a:t>192.168.0.7</a:t>
                      </a:r>
                      <a:endParaRPr lang="zh-CN" sz="24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3" name="矩形 2"/>
          <p:cNvSpPr/>
          <p:nvPr/>
        </p:nvSpPr>
        <p:spPr>
          <a:xfrm>
            <a:off x="3080792" y="3284984"/>
            <a:ext cx="3528392" cy="461665"/>
          </a:xfrm>
          <a:prstGeom prst="rect">
            <a:avLst/>
          </a:prstGeom>
        </p:spPr>
        <p:txBody>
          <a:bodyPr wrap="square">
            <a:spAutoFit/>
          </a:bodyPr>
          <a:lstStyle/>
          <a:p>
            <a:pPr algn="ctr"/>
            <a:r>
              <a:rPr lang="en-US" altLang="zh-CN" sz="2400" b="1" dirty="0">
                <a:latin typeface="+mn-lt"/>
                <a:ea typeface="黑体" pitchFamily="2" charset="-122"/>
              </a:rPr>
              <a:t>NAT</a:t>
            </a:r>
            <a:r>
              <a:rPr lang="zh-CN" altLang="zh-CN" sz="2400" b="1" dirty="0">
                <a:latin typeface="+mn-lt"/>
                <a:ea typeface="黑体" pitchFamily="2" charset="-122"/>
              </a:rPr>
              <a:t>地址转换表举例</a:t>
            </a:r>
            <a:endParaRPr lang="zh-CN" altLang="en-US" sz="2400" b="1" dirty="0">
              <a:latin typeface="+mn-lt"/>
              <a:ea typeface="黑体" pitchFamily="2" charset="-122"/>
            </a:endParaRPr>
          </a:p>
        </p:txBody>
      </p:sp>
    </p:spTree>
    <p:extLst>
      <p:ext uri="{BB962C8B-B14F-4D97-AF65-F5344CB8AC3E}">
        <p14:creationId xmlns:p14="http://schemas.microsoft.com/office/powerpoint/2010/main" val="69114588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网络地址转换 </a:t>
            </a:r>
            <a:r>
              <a:rPr lang="en-US" altLang="zh-CN" dirty="0"/>
              <a:t>NAT</a:t>
            </a:r>
            <a:endParaRPr lang="zh-CN" altLang="en-US" dirty="0"/>
          </a:p>
        </p:txBody>
      </p:sp>
      <p:sp>
        <p:nvSpPr>
          <p:cNvPr id="3" name="内容占位符 2"/>
          <p:cNvSpPr>
            <a:spLocks noGrp="1"/>
          </p:cNvSpPr>
          <p:nvPr>
            <p:ph idx="1"/>
          </p:nvPr>
        </p:nvSpPr>
        <p:spPr/>
        <p:txBody>
          <a:bodyPr/>
          <a:lstStyle/>
          <a:p>
            <a:r>
              <a:rPr lang="zh-CN" altLang="zh-CN" dirty="0"/>
              <a:t>当</a:t>
            </a:r>
            <a:r>
              <a:rPr lang="en-US" altLang="zh-CN" dirty="0"/>
              <a:t> NAT </a:t>
            </a:r>
            <a:r>
              <a:rPr lang="zh-CN" altLang="zh-CN" dirty="0"/>
              <a:t>路由器具有</a:t>
            </a:r>
            <a:r>
              <a:rPr lang="en-US" altLang="zh-CN" dirty="0"/>
              <a:t> </a:t>
            </a:r>
            <a:r>
              <a:rPr lang="en-US" altLang="zh-CN" i="1" dirty="0"/>
              <a:t>n </a:t>
            </a:r>
            <a:r>
              <a:rPr lang="zh-CN" altLang="zh-CN" dirty="0"/>
              <a:t>个全球</a:t>
            </a:r>
            <a:r>
              <a:rPr lang="en-US" altLang="zh-CN" dirty="0"/>
              <a:t> IP </a:t>
            </a:r>
            <a:r>
              <a:rPr lang="zh-CN" altLang="zh-CN" dirty="0"/>
              <a:t>地址时，专用网内</a:t>
            </a:r>
            <a:r>
              <a:rPr lang="zh-CN" altLang="zh-CN" dirty="0">
                <a:solidFill>
                  <a:srgbClr val="FF0000"/>
                </a:solidFill>
              </a:rPr>
              <a:t>最多可以同时有</a:t>
            </a:r>
            <a:r>
              <a:rPr lang="en-US" altLang="zh-CN" dirty="0">
                <a:solidFill>
                  <a:srgbClr val="FF0000"/>
                </a:solidFill>
              </a:rPr>
              <a:t> </a:t>
            </a:r>
            <a:r>
              <a:rPr lang="en-US" altLang="zh-CN" i="1" dirty="0">
                <a:solidFill>
                  <a:srgbClr val="FF0000"/>
                </a:solidFill>
              </a:rPr>
              <a:t>n </a:t>
            </a:r>
            <a:r>
              <a:rPr lang="zh-CN" altLang="zh-CN" dirty="0">
                <a:solidFill>
                  <a:srgbClr val="FF0000"/>
                </a:solidFill>
              </a:rPr>
              <a:t>台主机接入到互联网。</a:t>
            </a:r>
            <a:r>
              <a:rPr lang="zh-CN" altLang="zh-CN" dirty="0"/>
              <a:t>这样就可以使专用网内较多数量的主机，轮流使用</a:t>
            </a:r>
            <a:r>
              <a:rPr lang="en-US" altLang="zh-CN" dirty="0"/>
              <a:t> NAT </a:t>
            </a:r>
            <a:r>
              <a:rPr lang="zh-CN" altLang="zh-CN" dirty="0"/>
              <a:t>路由器有限数量的全球</a:t>
            </a:r>
            <a:r>
              <a:rPr lang="en-US" altLang="zh-CN" dirty="0"/>
              <a:t> IP </a:t>
            </a:r>
            <a:r>
              <a:rPr lang="zh-CN" altLang="zh-CN" dirty="0"/>
              <a:t>地址。</a:t>
            </a:r>
            <a:endParaRPr lang="en-US" altLang="zh-CN" dirty="0"/>
          </a:p>
          <a:p>
            <a:r>
              <a:rPr lang="zh-CN" altLang="zh-CN" dirty="0"/>
              <a:t>通过</a:t>
            </a:r>
            <a:r>
              <a:rPr lang="en-US" altLang="zh-CN" dirty="0"/>
              <a:t> NAT </a:t>
            </a:r>
            <a:r>
              <a:rPr lang="zh-CN" altLang="zh-CN" dirty="0"/>
              <a:t>路由器的通信必须由专用网内的主机发起。</a:t>
            </a:r>
            <a:r>
              <a:rPr lang="zh-CN" altLang="zh-CN" dirty="0">
                <a:solidFill>
                  <a:srgbClr val="FF0000"/>
                </a:solidFill>
              </a:rPr>
              <a:t>专用网内部的主机不能充当服务器用，</a:t>
            </a:r>
            <a:r>
              <a:rPr lang="zh-CN" altLang="zh-CN" dirty="0"/>
              <a:t>因为互联网上的客户无法请求专用网内的服务器提供服务。</a:t>
            </a:r>
            <a:endParaRPr lang="zh-CN" altLang="en-US" dirty="0"/>
          </a:p>
        </p:txBody>
      </p:sp>
    </p:spTree>
    <p:extLst>
      <p:ext uri="{BB962C8B-B14F-4D97-AF65-F5344CB8AC3E}">
        <p14:creationId xmlns:p14="http://schemas.microsoft.com/office/powerpoint/2010/main" val="101813009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t>网络地址与端口号转换</a:t>
            </a:r>
            <a:r>
              <a:rPr lang="en-US" altLang="zh-CN" dirty="0"/>
              <a:t> NAPT </a:t>
            </a:r>
            <a:endParaRPr lang="zh-CN" altLang="en-US" dirty="0"/>
          </a:p>
        </p:txBody>
      </p:sp>
      <p:sp>
        <p:nvSpPr>
          <p:cNvPr id="3" name="内容占位符 2"/>
          <p:cNvSpPr>
            <a:spLocks noGrp="1"/>
          </p:cNvSpPr>
          <p:nvPr>
            <p:ph idx="1"/>
          </p:nvPr>
        </p:nvSpPr>
        <p:spPr/>
        <p:txBody>
          <a:bodyPr/>
          <a:lstStyle/>
          <a:p>
            <a:r>
              <a:rPr lang="zh-CN" altLang="zh-CN" sz="3000" dirty="0"/>
              <a:t>为了更加有效地利用</a:t>
            </a:r>
            <a:r>
              <a:rPr lang="en-US" altLang="zh-CN" sz="3000" dirty="0"/>
              <a:t> NAT </a:t>
            </a:r>
            <a:r>
              <a:rPr lang="zh-CN" altLang="zh-CN" sz="3000" dirty="0"/>
              <a:t>路由器上的全球</a:t>
            </a:r>
            <a:r>
              <a:rPr lang="en-US" altLang="zh-CN" sz="3000" dirty="0"/>
              <a:t>IP</a:t>
            </a:r>
            <a:r>
              <a:rPr lang="zh-CN" altLang="zh-CN" sz="3000" dirty="0"/>
              <a:t>地址，现在常用的</a:t>
            </a:r>
            <a:r>
              <a:rPr lang="en-US" altLang="zh-CN" sz="3000" dirty="0"/>
              <a:t> NAT </a:t>
            </a:r>
            <a:r>
              <a:rPr lang="zh-CN" altLang="zh-CN" sz="3000" dirty="0"/>
              <a:t>转换表</a:t>
            </a:r>
            <a:r>
              <a:rPr lang="zh-CN" altLang="zh-CN" sz="3000" dirty="0">
                <a:solidFill>
                  <a:srgbClr val="FF0000"/>
                </a:solidFill>
              </a:rPr>
              <a:t>把运输层的端口号也利用上。</a:t>
            </a:r>
            <a:r>
              <a:rPr lang="zh-CN" altLang="zh-CN" sz="3000" dirty="0"/>
              <a:t>这样，就可以使多个拥有本地地址的主机，</a:t>
            </a:r>
            <a:r>
              <a:rPr lang="zh-CN" altLang="zh-CN" sz="3000" dirty="0">
                <a:solidFill>
                  <a:srgbClr val="FF0000"/>
                </a:solidFill>
              </a:rPr>
              <a:t>共用一个</a:t>
            </a:r>
            <a:r>
              <a:rPr lang="en-US" altLang="zh-CN" sz="3000" dirty="0">
                <a:solidFill>
                  <a:srgbClr val="FF0000"/>
                </a:solidFill>
              </a:rPr>
              <a:t> NAT </a:t>
            </a:r>
            <a:r>
              <a:rPr lang="zh-CN" altLang="zh-CN" sz="3000" dirty="0">
                <a:solidFill>
                  <a:srgbClr val="FF0000"/>
                </a:solidFill>
              </a:rPr>
              <a:t>路由器上的全球</a:t>
            </a:r>
            <a:r>
              <a:rPr lang="en-US" altLang="zh-CN" sz="3000" dirty="0">
                <a:solidFill>
                  <a:srgbClr val="FF0000"/>
                </a:solidFill>
              </a:rPr>
              <a:t> IP </a:t>
            </a:r>
            <a:r>
              <a:rPr lang="zh-CN" altLang="zh-CN" sz="3000" dirty="0">
                <a:solidFill>
                  <a:srgbClr val="FF0000"/>
                </a:solidFill>
              </a:rPr>
              <a:t>地址，</a:t>
            </a:r>
            <a:r>
              <a:rPr lang="zh-CN" altLang="zh-CN" sz="3000" dirty="0"/>
              <a:t>因而可以同时和互联网上的不同主机进行通信</a:t>
            </a:r>
            <a:r>
              <a:rPr lang="zh-CN" altLang="en-US" sz="3000" dirty="0"/>
              <a:t>。</a:t>
            </a:r>
            <a:endParaRPr lang="en-US" altLang="zh-CN" sz="3000" dirty="0"/>
          </a:p>
          <a:p>
            <a:r>
              <a:rPr lang="zh-CN" altLang="zh-CN" sz="3000" dirty="0"/>
              <a:t>使用端口号的</a:t>
            </a:r>
            <a:r>
              <a:rPr lang="en-US" altLang="zh-CN" sz="3000" dirty="0"/>
              <a:t> NAT </a:t>
            </a:r>
            <a:r>
              <a:rPr lang="zh-CN" altLang="en-US" sz="3000" dirty="0"/>
              <a:t>叫做</a:t>
            </a:r>
            <a:r>
              <a:rPr lang="zh-CN" altLang="zh-CN" sz="3000" dirty="0">
                <a:solidFill>
                  <a:srgbClr val="FF0000"/>
                </a:solidFill>
              </a:rPr>
              <a:t>网络地址与端口号转换</a:t>
            </a:r>
            <a:r>
              <a:rPr lang="en-US" altLang="zh-CN" sz="3000" dirty="0">
                <a:solidFill>
                  <a:srgbClr val="FF0000"/>
                </a:solidFill>
              </a:rPr>
              <a:t>NAPT</a:t>
            </a:r>
            <a:r>
              <a:rPr lang="en-US" altLang="zh-CN" sz="3000" dirty="0"/>
              <a:t> (Network Address and Port Translation)</a:t>
            </a:r>
            <a:r>
              <a:rPr lang="zh-CN" altLang="zh-CN" sz="3000" dirty="0"/>
              <a:t>，而不使用端口号的</a:t>
            </a:r>
            <a:r>
              <a:rPr lang="en-US" altLang="zh-CN" sz="3000" dirty="0"/>
              <a:t> NAT </a:t>
            </a:r>
            <a:r>
              <a:rPr lang="zh-CN" altLang="zh-CN" sz="3000" dirty="0"/>
              <a:t>就</a:t>
            </a:r>
            <a:r>
              <a:rPr lang="zh-CN" altLang="en-US" sz="3000" dirty="0"/>
              <a:t>叫做</a:t>
            </a:r>
            <a:r>
              <a:rPr lang="zh-CN" altLang="zh-CN" sz="3000" dirty="0">
                <a:solidFill>
                  <a:srgbClr val="FF0000"/>
                </a:solidFill>
              </a:rPr>
              <a:t>传统的</a:t>
            </a:r>
            <a:r>
              <a:rPr lang="en-US" altLang="zh-CN" sz="3000" dirty="0">
                <a:solidFill>
                  <a:srgbClr val="FF0000"/>
                </a:solidFill>
              </a:rPr>
              <a:t> NAT </a:t>
            </a:r>
            <a:r>
              <a:rPr lang="en-US" altLang="zh-CN" sz="3000" dirty="0"/>
              <a:t>(traditional NAT)</a:t>
            </a:r>
            <a:r>
              <a:rPr lang="zh-CN" altLang="zh-CN" sz="3000" dirty="0"/>
              <a:t>。</a:t>
            </a:r>
            <a:endParaRPr lang="zh-CN" altLang="en-US" sz="3000" dirty="0"/>
          </a:p>
        </p:txBody>
      </p:sp>
    </p:spTree>
    <p:extLst>
      <p:ext uri="{BB962C8B-B14F-4D97-AF65-F5344CB8AC3E}">
        <p14:creationId xmlns:p14="http://schemas.microsoft.com/office/powerpoint/2010/main" val="261912364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NAPT </a:t>
            </a:r>
            <a:r>
              <a:rPr lang="zh-CN" altLang="zh-CN" dirty="0"/>
              <a:t>地址转换表</a:t>
            </a:r>
            <a:endParaRPr lang="zh-CN" altLang="en-US"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4046528386"/>
              </p:ext>
            </p:extLst>
          </p:nvPr>
        </p:nvGraphicFramePr>
        <p:xfrm>
          <a:off x="560512" y="1700808"/>
          <a:ext cx="9145016" cy="2520280"/>
        </p:xfrm>
        <a:graphic>
          <a:graphicData uri="http://schemas.openxmlformats.org/drawingml/2006/table">
            <a:tbl>
              <a:tblPr firstRow="1" firstCol="1" lastRow="1" lastCol="1" bandRow="1" bandCol="1">
                <a:tableStyleId>{5C22544A-7EE6-4342-B048-85BDC9FD1C3A}</a:tableStyleId>
              </a:tblPr>
              <a:tblGrid>
                <a:gridCol w="792088">
                  <a:extLst>
                    <a:ext uri="{9D8B030D-6E8A-4147-A177-3AD203B41FA5}">
                      <a16:colId xmlns:a16="http://schemas.microsoft.com/office/drawing/2014/main" val="20000"/>
                    </a:ext>
                  </a:extLst>
                </a:gridCol>
                <a:gridCol w="3106629">
                  <a:extLst>
                    <a:ext uri="{9D8B030D-6E8A-4147-A177-3AD203B41FA5}">
                      <a16:colId xmlns:a16="http://schemas.microsoft.com/office/drawing/2014/main" val="20001"/>
                    </a:ext>
                  </a:extLst>
                </a:gridCol>
                <a:gridCol w="2520580">
                  <a:extLst>
                    <a:ext uri="{9D8B030D-6E8A-4147-A177-3AD203B41FA5}">
                      <a16:colId xmlns:a16="http://schemas.microsoft.com/office/drawing/2014/main" val="20002"/>
                    </a:ext>
                  </a:extLst>
                </a:gridCol>
                <a:gridCol w="2725719">
                  <a:extLst>
                    <a:ext uri="{9D8B030D-6E8A-4147-A177-3AD203B41FA5}">
                      <a16:colId xmlns:a16="http://schemas.microsoft.com/office/drawing/2014/main" val="20003"/>
                    </a:ext>
                  </a:extLst>
                </a:gridCol>
              </a:tblGrid>
              <a:tr h="504056">
                <a:tc>
                  <a:txBody>
                    <a:bodyPr/>
                    <a:lstStyle/>
                    <a:p>
                      <a:pPr algn="ctr">
                        <a:lnSpc>
                          <a:spcPct val="100000"/>
                        </a:lnSpc>
                        <a:spcAft>
                          <a:spcPts val="0"/>
                        </a:spcAft>
                        <a:tabLst>
                          <a:tab pos="3886200" algn="l"/>
                        </a:tabLst>
                      </a:pPr>
                      <a:r>
                        <a:rPr lang="zh-CN" sz="2000" b="1" dirty="0">
                          <a:solidFill>
                            <a:schemeClr val="tx1"/>
                          </a:solidFill>
                          <a:effectLst/>
                          <a:latin typeface="+mn-lt"/>
                          <a:ea typeface="黑体" pitchFamily="2" charset="-122"/>
                        </a:rPr>
                        <a:t>方向</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dirty="0">
                          <a:solidFill>
                            <a:schemeClr val="tx1"/>
                          </a:solidFill>
                          <a:effectLst/>
                          <a:latin typeface="+mn-lt"/>
                          <a:ea typeface="黑体" pitchFamily="2" charset="-122"/>
                        </a:rPr>
                        <a:t>字段</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a:solidFill>
                            <a:schemeClr val="tx1"/>
                          </a:solidFill>
                          <a:effectLst/>
                          <a:latin typeface="+mn-lt"/>
                          <a:ea typeface="黑体" pitchFamily="2" charset="-122"/>
                        </a:rPr>
                        <a:t>旧的</a:t>
                      </a:r>
                      <a:r>
                        <a:rPr lang="en-US" sz="2000" b="1">
                          <a:solidFill>
                            <a:schemeClr val="tx1"/>
                          </a:solidFill>
                          <a:effectLst/>
                          <a:latin typeface="+mn-lt"/>
                          <a:ea typeface="黑体" pitchFamily="2" charset="-122"/>
                        </a:rPr>
                        <a:t>IP</a:t>
                      </a:r>
                      <a:r>
                        <a:rPr lang="zh-CN" sz="2000" b="1">
                          <a:solidFill>
                            <a:schemeClr val="tx1"/>
                          </a:solidFill>
                          <a:effectLst/>
                          <a:latin typeface="+mn-lt"/>
                          <a:ea typeface="黑体" pitchFamily="2" charset="-122"/>
                        </a:rPr>
                        <a:t>地址和端口号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dirty="0">
                          <a:solidFill>
                            <a:schemeClr val="tx1"/>
                          </a:solidFill>
                          <a:effectLst/>
                          <a:latin typeface="+mn-lt"/>
                          <a:ea typeface="黑体" pitchFamily="2" charset="-122"/>
                        </a:rPr>
                        <a:t>新的</a:t>
                      </a:r>
                      <a:r>
                        <a:rPr lang="en-US" sz="2000" b="1" dirty="0">
                          <a:solidFill>
                            <a:schemeClr val="tx1"/>
                          </a:solidFill>
                          <a:effectLst/>
                          <a:latin typeface="+mn-lt"/>
                          <a:ea typeface="黑体" pitchFamily="2" charset="-122"/>
                        </a:rPr>
                        <a:t>IP</a:t>
                      </a:r>
                      <a:r>
                        <a:rPr lang="zh-CN" sz="2000" b="1" dirty="0">
                          <a:solidFill>
                            <a:schemeClr val="tx1"/>
                          </a:solidFill>
                          <a:effectLst/>
                          <a:latin typeface="+mn-lt"/>
                          <a:ea typeface="黑体" pitchFamily="2" charset="-122"/>
                        </a:rPr>
                        <a:t>地址和端口号</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504056">
                <a:tc>
                  <a:txBody>
                    <a:bodyPr/>
                    <a:lstStyle/>
                    <a:p>
                      <a:pPr algn="ctr">
                        <a:lnSpc>
                          <a:spcPct val="100000"/>
                        </a:lnSpc>
                        <a:spcAft>
                          <a:spcPts val="0"/>
                        </a:spcAft>
                        <a:tabLst>
                          <a:tab pos="3886200" algn="l"/>
                        </a:tabLst>
                      </a:pPr>
                      <a:r>
                        <a:rPr lang="zh-CN" sz="2000" b="1">
                          <a:solidFill>
                            <a:schemeClr val="tx1"/>
                          </a:solidFill>
                          <a:effectLst/>
                          <a:latin typeface="+mn-lt"/>
                          <a:ea typeface="黑体" pitchFamily="2" charset="-122"/>
                        </a:rPr>
                        <a:t>出</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itchFamily="2" charset="-122"/>
                        </a:rPr>
                        <a:t>源</a:t>
                      </a:r>
                      <a:r>
                        <a:rPr lang="en-US" sz="2000" b="1" dirty="0">
                          <a:solidFill>
                            <a:schemeClr val="tx1"/>
                          </a:solidFill>
                          <a:effectLst/>
                          <a:latin typeface="+mn-lt"/>
                          <a:ea typeface="黑体" pitchFamily="2" charset="-122"/>
                        </a:rPr>
                        <a:t>IP</a:t>
                      </a:r>
                      <a:r>
                        <a:rPr lang="zh-CN" sz="2000" b="1" dirty="0">
                          <a:solidFill>
                            <a:schemeClr val="tx1"/>
                          </a:solidFill>
                          <a:effectLst/>
                          <a:latin typeface="+mn-lt"/>
                          <a:ea typeface="黑体" pitchFamily="2" charset="-122"/>
                        </a:rPr>
                        <a:t>地址</a:t>
                      </a:r>
                      <a:r>
                        <a:rPr lang="en-US" sz="2000" b="1" dirty="0">
                          <a:solidFill>
                            <a:schemeClr val="tx1"/>
                          </a:solidFill>
                          <a:effectLst/>
                          <a:latin typeface="+mn-lt"/>
                          <a:ea typeface="黑体" pitchFamily="2" charset="-122"/>
                        </a:rPr>
                        <a:t>:TCP</a:t>
                      </a:r>
                      <a:r>
                        <a:rPr lang="zh-CN" sz="2000" b="1" dirty="0">
                          <a:solidFill>
                            <a:schemeClr val="tx1"/>
                          </a:solidFill>
                          <a:effectLst/>
                          <a:latin typeface="+mn-lt"/>
                          <a:ea typeface="黑体" pitchFamily="2" charset="-122"/>
                        </a:rPr>
                        <a:t>源端口</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itchFamily="2" charset="-122"/>
                        </a:rPr>
                        <a:t>192.168.0.3:30000</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itchFamily="2" charset="-122"/>
                        </a:rPr>
                        <a:t>172.38.1.5:40001</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04056">
                <a:tc>
                  <a:txBody>
                    <a:bodyPr/>
                    <a:lstStyle/>
                    <a:p>
                      <a:pPr algn="ctr">
                        <a:lnSpc>
                          <a:spcPct val="100000"/>
                        </a:lnSpc>
                        <a:spcAft>
                          <a:spcPts val="0"/>
                        </a:spcAft>
                        <a:tabLst>
                          <a:tab pos="3886200" algn="l"/>
                        </a:tabLst>
                      </a:pPr>
                      <a:r>
                        <a:rPr lang="zh-CN" sz="2000" b="1">
                          <a:solidFill>
                            <a:schemeClr val="tx1"/>
                          </a:solidFill>
                          <a:effectLst/>
                          <a:latin typeface="+mn-lt"/>
                          <a:ea typeface="黑体" pitchFamily="2" charset="-122"/>
                        </a:rPr>
                        <a:t>出</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a:solidFill>
                            <a:schemeClr val="tx1"/>
                          </a:solidFill>
                          <a:effectLst/>
                          <a:latin typeface="+mn-lt"/>
                          <a:ea typeface="黑体" pitchFamily="2" charset="-122"/>
                        </a:rPr>
                        <a:t>源</a:t>
                      </a:r>
                      <a:r>
                        <a:rPr lang="en-US" sz="2000" b="1">
                          <a:solidFill>
                            <a:schemeClr val="tx1"/>
                          </a:solidFill>
                          <a:effectLst/>
                          <a:latin typeface="+mn-lt"/>
                          <a:ea typeface="黑体" pitchFamily="2" charset="-122"/>
                        </a:rPr>
                        <a:t>IP</a:t>
                      </a:r>
                      <a:r>
                        <a:rPr lang="zh-CN" sz="2000" b="1">
                          <a:solidFill>
                            <a:schemeClr val="tx1"/>
                          </a:solidFill>
                          <a:effectLst/>
                          <a:latin typeface="+mn-lt"/>
                          <a:ea typeface="黑体" pitchFamily="2" charset="-122"/>
                        </a:rPr>
                        <a:t>地址</a:t>
                      </a:r>
                      <a:r>
                        <a:rPr lang="en-US" sz="2000" b="1">
                          <a:solidFill>
                            <a:schemeClr val="tx1"/>
                          </a:solidFill>
                          <a:effectLst/>
                          <a:latin typeface="+mn-lt"/>
                          <a:ea typeface="黑体" pitchFamily="2" charset="-122"/>
                        </a:rPr>
                        <a:t>:TCP</a:t>
                      </a:r>
                      <a:r>
                        <a:rPr lang="zh-CN" sz="2000" b="1">
                          <a:solidFill>
                            <a:schemeClr val="tx1"/>
                          </a:solidFill>
                          <a:effectLst/>
                          <a:latin typeface="+mn-lt"/>
                          <a:ea typeface="黑体" pitchFamily="2" charset="-122"/>
                        </a:rPr>
                        <a:t>源端口</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itchFamily="2" charset="-122"/>
                        </a:rPr>
                        <a:t>192.168.0.4:30000</a:t>
                      </a:r>
                      <a:endParaRPr lang="zh-CN" sz="20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itchFamily="2" charset="-122"/>
                        </a:rPr>
                        <a:t>172.38.1.5:40002</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04056">
                <a:tc>
                  <a:txBody>
                    <a:bodyPr/>
                    <a:lstStyle/>
                    <a:p>
                      <a:pPr algn="ctr">
                        <a:lnSpc>
                          <a:spcPct val="100000"/>
                        </a:lnSpc>
                        <a:spcAft>
                          <a:spcPts val="0"/>
                        </a:spcAft>
                        <a:tabLst>
                          <a:tab pos="3886200" algn="l"/>
                        </a:tabLst>
                      </a:pPr>
                      <a:r>
                        <a:rPr lang="zh-CN" sz="2000" b="1">
                          <a:solidFill>
                            <a:schemeClr val="tx1"/>
                          </a:solidFill>
                          <a:effectLst/>
                          <a:latin typeface="+mn-lt"/>
                          <a:ea typeface="黑体" pitchFamily="2" charset="-122"/>
                        </a:rPr>
                        <a:t>入</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itchFamily="2" charset="-122"/>
                        </a:rPr>
                        <a:t>目的</a:t>
                      </a:r>
                      <a:r>
                        <a:rPr lang="en-US" sz="2000" b="1" dirty="0">
                          <a:solidFill>
                            <a:schemeClr val="tx1"/>
                          </a:solidFill>
                          <a:effectLst/>
                          <a:latin typeface="+mn-lt"/>
                          <a:ea typeface="黑体" pitchFamily="2" charset="-122"/>
                        </a:rPr>
                        <a:t>IP</a:t>
                      </a:r>
                      <a:r>
                        <a:rPr lang="zh-CN" sz="2000" b="1" dirty="0">
                          <a:solidFill>
                            <a:schemeClr val="tx1"/>
                          </a:solidFill>
                          <a:effectLst/>
                          <a:latin typeface="+mn-lt"/>
                          <a:ea typeface="黑体" pitchFamily="2" charset="-122"/>
                        </a:rPr>
                        <a:t>地址</a:t>
                      </a:r>
                      <a:r>
                        <a:rPr lang="en-US" sz="2000" b="1" dirty="0">
                          <a:solidFill>
                            <a:schemeClr val="tx1"/>
                          </a:solidFill>
                          <a:effectLst/>
                          <a:latin typeface="+mn-lt"/>
                          <a:ea typeface="黑体" pitchFamily="2" charset="-122"/>
                        </a:rPr>
                        <a:t>:TCP</a:t>
                      </a:r>
                      <a:r>
                        <a:rPr lang="zh-CN" sz="2000" b="1" dirty="0">
                          <a:solidFill>
                            <a:schemeClr val="tx1"/>
                          </a:solidFill>
                          <a:effectLst/>
                          <a:latin typeface="+mn-lt"/>
                          <a:ea typeface="黑体" pitchFamily="2" charset="-122"/>
                        </a:rPr>
                        <a:t>目的端口</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itchFamily="2" charset="-122"/>
                        </a:rPr>
                        <a:t>172.38.1.5:40001</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itchFamily="2" charset="-122"/>
                        </a:rPr>
                        <a:t>192.168.0.3:30000</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04056">
                <a:tc>
                  <a:txBody>
                    <a:bodyPr/>
                    <a:lstStyle/>
                    <a:p>
                      <a:pPr algn="ctr">
                        <a:lnSpc>
                          <a:spcPct val="100000"/>
                        </a:lnSpc>
                        <a:spcAft>
                          <a:spcPts val="0"/>
                        </a:spcAft>
                        <a:tabLst>
                          <a:tab pos="3886200" algn="l"/>
                        </a:tabLst>
                      </a:pPr>
                      <a:r>
                        <a:rPr lang="zh-CN" sz="2000" b="1" dirty="0">
                          <a:solidFill>
                            <a:schemeClr val="tx1"/>
                          </a:solidFill>
                          <a:effectLst/>
                          <a:latin typeface="+mn-lt"/>
                          <a:ea typeface="黑体" pitchFamily="2" charset="-122"/>
                        </a:rPr>
                        <a:t>入</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itchFamily="2" charset="-122"/>
                        </a:rPr>
                        <a:t>目的</a:t>
                      </a:r>
                      <a:r>
                        <a:rPr lang="en-US" sz="2000" b="1" dirty="0">
                          <a:solidFill>
                            <a:schemeClr val="tx1"/>
                          </a:solidFill>
                          <a:effectLst/>
                          <a:latin typeface="+mn-lt"/>
                          <a:ea typeface="黑体" pitchFamily="2" charset="-122"/>
                        </a:rPr>
                        <a:t>IP</a:t>
                      </a:r>
                      <a:r>
                        <a:rPr lang="zh-CN" sz="2000" b="1" dirty="0">
                          <a:solidFill>
                            <a:schemeClr val="tx1"/>
                          </a:solidFill>
                          <a:effectLst/>
                          <a:latin typeface="+mn-lt"/>
                          <a:ea typeface="黑体" pitchFamily="2" charset="-122"/>
                        </a:rPr>
                        <a:t>地址</a:t>
                      </a:r>
                      <a:r>
                        <a:rPr lang="en-US" sz="2000" b="1" dirty="0">
                          <a:solidFill>
                            <a:schemeClr val="tx1"/>
                          </a:solidFill>
                          <a:effectLst/>
                          <a:latin typeface="+mn-lt"/>
                          <a:ea typeface="黑体" pitchFamily="2" charset="-122"/>
                        </a:rPr>
                        <a:t>:TCP</a:t>
                      </a:r>
                      <a:r>
                        <a:rPr lang="zh-CN" sz="2000" b="1" dirty="0">
                          <a:solidFill>
                            <a:schemeClr val="tx1"/>
                          </a:solidFill>
                          <a:effectLst/>
                          <a:latin typeface="+mn-lt"/>
                          <a:ea typeface="黑体" pitchFamily="2" charset="-122"/>
                        </a:rPr>
                        <a:t>目的端口</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itchFamily="2" charset="-122"/>
                        </a:rPr>
                        <a:t>172.38.1.5:40002</a:t>
                      </a:r>
                      <a:endParaRPr lang="zh-CN" sz="20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itchFamily="2" charset="-122"/>
                        </a:rPr>
                        <a:t>192.168.0.4:30000</a:t>
                      </a:r>
                      <a:endParaRPr lang="zh-CN" sz="2000" b="1" dirty="0">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5" name="矩形 4"/>
          <p:cNvSpPr/>
          <p:nvPr/>
        </p:nvSpPr>
        <p:spPr>
          <a:xfrm>
            <a:off x="2936776" y="1196752"/>
            <a:ext cx="4248472" cy="461665"/>
          </a:xfrm>
          <a:prstGeom prst="rect">
            <a:avLst/>
          </a:prstGeom>
        </p:spPr>
        <p:txBody>
          <a:bodyPr wrap="square">
            <a:spAutoFit/>
          </a:bodyPr>
          <a:lstStyle/>
          <a:p>
            <a:pPr algn="ctr"/>
            <a:r>
              <a:rPr lang="en-US" altLang="zh-CN" sz="2400" b="1" dirty="0">
                <a:latin typeface="+mn-lt"/>
                <a:ea typeface="黑体" pitchFamily="2" charset="-122"/>
              </a:rPr>
              <a:t>NAPT </a:t>
            </a:r>
            <a:r>
              <a:rPr lang="zh-CN" altLang="zh-CN" sz="2400" b="1" dirty="0">
                <a:latin typeface="+mn-lt"/>
                <a:ea typeface="黑体" pitchFamily="2" charset="-122"/>
              </a:rPr>
              <a:t>地址转换表举例</a:t>
            </a:r>
            <a:endParaRPr lang="zh-CN" altLang="en-US" sz="2400" b="1" dirty="0">
              <a:latin typeface="+mn-lt"/>
              <a:ea typeface="黑体" pitchFamily="2" charset="-122"/>
            </a:endParaRPr>
          </a:p>
        </p:txBody>
      </p:sp>
      <p:sp>
        <p:nvSpPr>
          <p:cNvPr id="6" name="矩形 5"/>
          <p:cNvSpPr/>
          <p:nvPr/>
        </p:nvSpPr>
        <p:spPr>
          <a:xfrm>
            <a:off x="488504" y="4437112"/>
            <a:ext cx="9289032" cy="1938992"/>
          </a:xfrm>
          <a:prstGeom prst="rect">
            <a:avLst/>
          </a:prstGeom>
          <a:solidFill>
            <a:srgbClr val="66FF66"/>
          </a:solidFill>
          <a:ln>
            <a:solidFill>
              <a:srgbClr val="000066"/>
            </a:solidFill>
          </a:ln>
        </p:spPr>
        <p:txBody>
          <a:bodyPr wrap="square">
            <a:spAutoFit/>
          </a:bodyPr>
          <a:lstStyle/>
          <a:p>
            <a:r>
              <a:rPr lang="en-US" altLang="zh-CN" sz="2400" b="1" dirty="0">
                <a:solidFill>
                  <a:srgbClr val="C00000"/>
                </a:solidFill>
                <a:latin typeface="+mn-lt"/>
                <a:ea typeface="黑体" pitchFamily="2" charset="-122"/>
              </a:rPr>
              <a:t>NAPT</a:t>
            </a:r>
            <a:r>
              <a:rPr lang="zh-CN" altLang="zh-CN" sz="2400" b="1" dirty="0">
                <a:solidFill>
                  <a:srgbClr val="C00000"/>
                </a:solidFill>
                <a:latin typeface="+mn-lt"/>
                <a:ea typeface="黑体" pitchFamily="2" charset="-122"/>
              </a:rPr>
              <a:t>把专用网内不同的源</a:t>
            </a:r>
            <a:r>
              <a:rPr lang="en-US" altLang="zh-CN" sz="2400" b="1" dirty="0">
                <a:solidFill>
                  <a:srgbClr val="C00000"/>
                </a:solidFill>
                <a:latin typeface="+mn-lt"/>
                <a:ea typeface="黑体" pitchFamily="2" charset="-122"/>
              </a:rPr>
              <a:t> IP </a:t>
            </a:r>
            <a:r>
              <a:rPr lang="zh-CN" altLang="zh-CN" sz="2400" b="1" dirty="0">
                <a:solidFill>
                  <a:srgbClr val="C00000"/>
                </a:solidFill>
                <a:latin typeface="+mn-lt"/>
                <a:ea typeface="黑体" pitchFamily="2" charset="-122"/>
              </a:rPr>
              <a:t>地址，都转换为同样的全球</a:t>
            </a:r>
            <a:r>
              <a:rPr lang="en-US" altLang="zh-CN" sz="2400" b="1" dirty="0">
                <a:solidFill>
                  <a:srgbClr val="C00000"/>
                </a:solidFill>
                <a:latin typeface="+mn-lt"/>
                <a:ea typeface="黑体" pitchFamily="2" charset="-122"/>
              </a:rPr>
              <a:t> IP </a:t>
            </a:r>
            <a:r>
              <a:rPr lang="zh-CN" altLang="zh-CN" sz="2400" b="1" dirty="0">
                <a:solidFill>
                  <a:srgbClr val="C00000"/>
                </a:solidFill>
                <a:latin typeface="+mn-lt"/>
                <a:ea typeface="黑体" pitchFamily="2" charset="-122"/>
              </a:rPr>
              <a:t>地址。</a:t>
            </a:r>
            <a:r>
              <a:rPr lang="zh-CN" altLang="zh-CN" sz="2400" b="1" dirty="0">
                <a:solidFill>
                  <a:srgbClr val="000066"/>
                </a:solidFill>
                <a:latin typeface="+mn-lt"/>
                <a:ea typeface="黑体" pitchFamily="2" charset="-122"/>
              </a:rPr>
              <a:t>但对源主机所采用的</a:t>
            </a:r>
            <a:r>
              <a:rPr lang="en-US" altLang="zh-CN" sz="2400" b="1" dirty="0">
                <a:solidFill>
                  <a:srgbClr val="000066"/>
                </a:solidFill>
                <a:latin typeface="+mn-lt"/>
                <a:ea typeface="黑体" pitchFamily="2" charset="-122"/>
              </a:rPr>
              <a:t> TCP </a:t>
            </a:r>
            <a:r>
              <a:rPr lang="zh-CN" altLang="zh-CN" sz="2400" b="1" dirty="0">
                <a:solidFill>
                  <a:srgbClr val="000066"/>
                </a:solidFill>
                <a:latin typeface="+mn-lt"/>
                <a:ea typeface="黑体" pitchFamily="2" charset="-122"/>
              </a:rPr>
              <a:t>端口号（不管相同或不同），则转换为不同的新的端口号。因此，当</a:t>
            </a:r>
            <a:r>
              <a:rPr lang="en-US" altLang="zh-CN" sz="2400" b="1" dirty="0">
                <a:solidFill>
                  <a:srgbClr val="000066"/>
                </a:solidFill>
                <a:latin typeface="+mn-lt"/>
                <a:ea typeface="黑体" pitchFamily="2" charset="-122"/>
              </a:rPr>
              <a:t> NAPT </a:t>
            </a:r>
            <a:r>
              <a:rPr lang="zh-CN" altLang="zh-CN" sz="2400" b="1" dirty="0">
                <a:solidFill>
                  <a:srgbClr val="000066"/>
                </a:solidFill>
                <a:latin typeface="+mn-lt"/>
                <a:ea typeface="黑体" pitchFamily="2" charset="-122"/>
              </a:rPr>
              <a:t>路由器收到从互联网发来的应答时，就可以从</a:t>
            </a:r>
            <a:r>
              <a:rPr lang="en-US" altLang="zh-CN" sz="2400" b="1" dirty="0">
                <a:solidFill>
                  <a:srgbClr val="000066"/>
                </a:solidFill>
                <a:latin typeface="+mn-lt"/>
                <a:ea typeface="黑体" pitchFamily="2" charset="-122"/>
              </a:rPr>
              <a:t> IP </a:t>
            </a:r>
            <a:r>
              <a:rPr lang="zh-CN" altLang="zh-CN" sz="2400" b="1" dirty="0">
                <a:solidFill>
                  <a:srgbClr val="000066"/>
                </a:solidFill>
                <a:latin typeface="+mn-lt"/>
                <a:ea typeface="黑体" pitchFamily="2" charset="-122"/>
              </a:rPr>
              <a:t>数据报的数据部分找出运输层的端口号，然后根据不同的目的端口号，从</a:t>
            </a:r>
            <a:r>
              <a:rPr lang="en-US" altLang="zh-CN" sz="2400" b="1" dirty="0">
                <a:solidFill>
                  <a:srgbClr val="000066"/>
                </a:solidFill>
                <a:latin typeface="+mn-lt"/>
                <a:ea typeface="黑体" pitchFamily="2" charset="-122"/>
              </a:rPr>
              <a:t> NAPT </a:t>
            </a:r>
            <a:r>
              <a:rPr lang="zh-CN" altLang="zh-CN" sz="2400" b="1" dirty="0">
                <a:solidFill>
                  <a:srgbClr val="000066"/>
                </a:solidFill>
                <a:latin typeface="+mn-lt"/>
                <a:ea typeface="黑体" pitchFamily="2" charset="-122"/>
              </a:rPr>
              <a:t>转换表中找到正确的目的主机。</a:t>
            </a:r>
            <a:endParaRPr lang="zh-CN" altLang="en-US" sz="2400" b="1" dirty="0">
              <a:solidFill>
                <a:srgbClr val="000066"/>
              </a:solidFill>
              <a:latin typeface="+mn-lt"/>
              <a:ea typeface="黑体" pitchFamily="2" charset="-122"/>
            </a:endParaRPr>
          </a:p>
        </p:txBody>
      </p:sp>
    </p:spTree>
    <p:extLst>
      <p:ext uri="{BB962C8B-B14F-4D97-AF65-F5344CB8AC3E}">
        <p14:creationId xmlns:p14="http://schemas.microsoft.com/office/powerpoint/2010/main" val="1571337055"/>
      </p:ext>
    </p:extLst>
  </p:cSld>
  <p:clrMapOvr>
    <a:masterClrMapping/>
  </p:clrMapOvr>
</p:sld>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CN(myzh)Icon</Template>
  <TotalTime>981</TotalTime>
  <Words>11649</Words>
  <Application>Microsoft Office PowerPoint</Application>
  <PresentationFormat>A4 纸张(210x297 毫米)</PresentationFormat>
  <Paragraphs>1572</Paragraphs>
  <Slides>144</Slides>
  <Notes>103</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144</vt:i4>
      </vt:variant>
    </vt:vector>
  </HeadingPairs>
  <TitlesOfParts>
    <vt:vector size="153" baseType="lpstr">
      <vt:lpstr>黑体</vt:lpstr>
      <vt:lpstr>宋体</vt:lpstr>
      <vt:lpstr>Arial</vt:lpstr>
      <vt:lpstr>Times New Roman</vt:lpstr>
      <vt:lpstr>Verdana</vt:lpstr>
      <vt:lpstr>Wingdings</vt:lpstr>
      <vt:lpstr>CN(myzh)Icon</vt:lpstr>
      <vt:lpstr>Microsoft ClipArt Gallery</vt:lpstr>
      <vt:lpstr>VISIO</vt:lpstr>
      <vt:lpstr>网络层（下）</vt:lpstr>
      <vt:lpstr>网络层（下）</vt:lpstr>
      <vt:lpstr>网络层（下）</vt:lpstr>
      <vt:lpstr>划分子网</vt:lpstr>
      <vt:lpstr>三级 IP 地址 </vt:lpstr>
      <vt:lpstr>划分子网的基本思路 </vt:lpstr>
      <vt:lpstr>划分子网的基本思路（续） </vt:lpstr>
      <vt:lpstr>一个未划分子网的 B 类网络145.13.0.0</vt:lpstr>
      <vt:lpstr>划分为三个子网后对外仍是一个网络 </vt:lpstr>
      <vt:lpstr>划分子网后变成了三级结构 </vt:lpstr>
      <vt:lpstr>划分子网后变成了三级结构 </vt:lpstr>
      <vt:lpstr>2.  子网掩码</vt:lpstr>
      <vt:lpstr>(IP 地址) AND (子网掩码) =网络地址</vt:lpstr>
      <vt:lpstr>默认子网掩码 </vt:lpstr>
      <vt:lpstr>子网掩码是一个重要属性</vt:lpstr>
      <vt:lpstr>子网划分方法</vt:lpstr>
      <vt:lpstr>使用子网时分组的转发</vt:lpstr>
      <vt:lpstr>在划分子网情况下路由器转发分组的算法 </vt:lpstr>
      <vt:lpstr>网络层（下）</vt:lpstr>
      <vt:lpstr>无分类编址 CIDR</vt:lpstr>
      <vt:lpstr>CIDR 最主要的特点 </vt:lpstr>
      <vt:lpstr>无分类的两级编址 </vt:lpstr>
      <vt:lpstr>CIDR 地址块 </vt:lpstr>
      <vt:lpstr>路由聚合 (route aggregation) </vt:lpstr>
      <vt:lpstr>构成超网 </vt:lpstr>
      <vt:lpstr>2. 最长前缀匹配</vt:lpstr>
      <vt:lpstr>3. 使用二叉线索查找路由表</vt:lpstr>
      <vt:lpstr>用 5 个前缀构成的二叉线索 </vt:lpstr>
      <vt:lpstr>网络层（下）</vt:lpstr>
      <vt:lpstr>路由选择协议: 基本概念</vt:lpstr>
      <vt:lpstr>关于“最佳路由” </vt:lpstr>
      <vt:lpstr>从路由算法的自适应性考虑</vt:lpstr>
      <vt:lpstr>2.  分层次的路由选择协议</vt:lpstr>
      <vt:lpstr>自治系统 AS (Autonomous System) </vt:lpstr>
      <vt:lpstr>互联网有两大类路由选择协议 </vt:lpstr>
      <vt:lpstr>自治系统和 内部网关协议、外部网关协议 </vt:lpstr>
      <vt:lpstr>互联网的路由选择协议 </vt:lpstr>
      <vt:lpstr>路由选择协议: 内部网关协议 RIP</vt:lpstr>
      <vt:lpstr>“距离”的定义 </vt:lpstr>
      <vt:lpstr>“距离”的定义 </vt:lpstr>
      <vt:lpstr>RIP 协议的三个特点 </vt:lpstr>
      <vt:lpstr>路由表的建立 </vt:lpstr>
      <vt:lpstr>路由器之间交换信息与路由表更新</vt:lpstr>
      <vt:lpstr>2. RIP2 协议的报文格式 </vt:lpstr>
      <vt:lpstr>RIP2 报文</vt:lpstr>
      <vt:lpstr>RIP2 报文</vt:lpstr>
      <vt:lpstr>好消息传播得快，坏消息传播得慢</vt:lpstr>
      <vt:lpstr>PowerPoint 演示文稿</vt:lpstr>
      <vt:lpstr>PowerPoint 演示文稿</vt:lpstr>
      <vt:lpstr>PowerPoint 演示文稿</vt:lpstr>
      <vt:lpstr>PowerPoint 演示文稿</vt:lpstr>
      <vt:lpstr>PowerPoint 演示文稿</vt:lpstr>
      <vt:lpstr>PowerPoint 演示文稿</vt:lpstr>
      <vt:lpstr>RIP 协议的优缺点 </vt:lpstr>
      <vt:lpstr>路由选择协议: 内部网关协议 OSPF</vt:lpstr>
      <vt:lpstr>1.  OSPF 协议的基本特点</vt:lpstr>
      <vt:lpstr>三个要点 </vt:lpstr>
      <vt:lpstr>链路状态数据库 (link-state database) </vt:lpstr>
      <vt:lpstr>OSPF 的区域 (area) </vt:lpstr>
      <vt:lpstr>OSPF 划分为两种不同的区域 </vt:lpstr>
      <vt:lpstr>划分区域 </vt:lpstr>
      <vt:lpstr>OSPF 直接用 IP 数据报传送 </vt:lpstr>
      <vt:lpstr>OSPF 的其他特点 </vt:lpstr>
      <vt:lpstr>OSPF 分组 </vt:lpstr>
      <vt:lpstr>2. OSPF 的五种分组类型 </vt:lpstr>
      <vt:lpstr>OSPF 的其他特点 </vt:lpstr>
      <vt:lpstr>路由选择协议: 外部网关协议 BGP</vt:lpstr>
      <vt:lpstr>BGP 使用环境不同</vt:lpstr>
      <vt:lpstr>BGP 发言人</vt:lpstr>
      <vt:lpstr>BGP 交换路由信息</vt:lpstr>
      <vt:lpstr>BGP 发言人和自治系统 AS 的关系 </vt:lpstr>
      <vt:lpstr>AS 的连通图举例 </vt:lpstr>
      <vt:lpstr>BGP 协议的特点</vt:lpstr>
      <vt:lpstr>BGP 协议的特点</vt:lpstr>
      <vt:lpstr>BGP-4 共使用四种报文 </vt:lpstr>
      <vt:lpstr>BGP 报文具有通用首部</vt:lpstr>
      <vt:lpstr>网络层（下）</vt:lpstr>
      <vt:lpstr>IPv6: 概要</vt:lpstr>
      <vt:lpstr>IPv6 的基本首部</vt:lpstr>
      <vt:lpstr>IPv6 的基本首部</vt:lpstr>
      <vt:lpstr>IPv6 数据报的一般形式</vt:lpstr>
      <vt:lpstr>IPv6 数据报的基本首部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IPv6 的扩展首部</vt:lpstr>
      <vt:lpstr>六种扩展首部 </vt:lpstr>
      <vt:lpstr>IPv6 的地址</vt:lpstr>
      <vt:lpstr>冒号十六进制记法</vt:lpstr>
      <vt:lpstr>零压缩</vt:lpstr>
      <vt:lpstr>点分十进制记法的后缀 </vt:lpstr>
      <vt:lpstr>IPv6 地址分类</vt:lpstr>
      <vt:lpstr>IPv6 地址分类</vt:lpstr>
      <vt:lpstr>IPv6 地址分类</vt:lpstr>
      <vt:lpstr>IPv6 地址分类</vt:lpstr>
      <vt:lpstr>从 IPv4 向 IPv6 过渡</vt:lpstr>
      <vt:lpstr>双协议栈</vt:lpstr>
      <vt:lpstr>双协议栈</vt:lpstr>
      <vt:lpstr>隧道技术</vt:lpstr>
      <vt:lpstr>隧道技术</vt:lpstr>
      <vt:lpstr>ICMPv6</vt:lpstr>
      <vt:lpstr>ICMPv6</vt:lpstr>
      <vt:lpstr>ICMPv6 报文的分类</vt:lpstr>
      <vt:lpstr>网络层（下）</vt:lpstr>
      <vt:lpstr>IP 多播的基本概念</vt:lpstr>
      <vt:lpstr>多播可大大节约网络资源</vt:lpstr>
      <vt:lpstr>多播可大大节约网络资源</vt:lpstr>
      <vt:lpstr>IP 多播</vt:lpstr>
      <vt:lpstr>多播 IP 地址</vt:lpstr>
      <vt:lpstr>多播数据报</vt:lpstr>
      <vt:lpstr>D 类 IP 地址 与以太网多播地址的映射关系 </vt:lpstr>
      <vt:lpstr>网际组管理协议 IGMP 和 播路由选择协议</vt:lpstr>
      <vt:lpstr>IGMP 使多播路由器知道多播组成员信息 </vt:lpstr>
      <vt:lpstr>IGMP 的使用范围 </vt:lpstr>
      <vt:lpstr>多播路由选择协议更为复杂</vt:lpstr>
      <vt:lpstr>多播路由选择协议更为复杂</vt:lpstr>
      <vt:lpstr>2.  网际组管理协议 IGMP </vt:lpstr>
      <vt:lpstr>IGMP 工作可分为两个阶段 </vt:lpstr>
      <vt:lpstr>IGMP 可分为两个阶段 </vt:lpstr>
      <vt:lpstr>网络层（下）</vt:lpstr>
      <vt:lpstr>虚拟专用网 VPN</vt:lpstr>
      <vt:lpstr>本地地址与全球地址</vt:lpstr>
      <vt:lpstr>本地地址与全球地址</vt:lpstr>
      <vt:lpstr>RFC 1918 指明的专用 IP 地址</vt:lpstr>
      <vt:lpstr>专用网</vt:lpstr>
      <vt:lpstr>虚拟专用网 VPN</vt:lpstr>
      <vt:lpstr>虚拟专用网 VPN 构建</vt:lpstr>
      <vt:lpstr>用隧道技术实现虚拟专用网 </vt:lpstr>
      <vt:lpstr>PowerPoint 演示文稿</vt:lpstr>
      <vt:lpstr>网络层（下）</vt:lpstr>
      <vt:lpstr>网络地址转换 NAT</vt:lpstr>
      <vt:lpstr>网络地址转换 NAT</vt:lpstr>
      <vt:lpstr>网络地址转换的过程</vt:lpstr>
      <vt:lpstr>网络地址转换的过程</vt:lpstr>
      <vt:lpstr>网络地址转换的过程</vt:lpstr>
      <vt:lpstr>网络地址转换 NAT</vt:lpstr>
      <vt:lpstr>网络地址与端口号转换 NAPT </vt:lpstr>
      <vt:lpstr>NAPT 地址转换表</vt:lpstr>
    </vt:vector>
  </TitlesOfParts>
  <Manager/>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subject/>
  <dc:creator>920</dc:creator>
  <cp:keywords/>
  <dc:description/>
  <cp:lastModifiedBy>admin</cp:lastModifiedBy>
  <cp:revision>56</cp:revision>
  <dcterms:created xsi:type="dcterms:W3CDTF">2016-10-04T02:36:21Z</dcterms:created>
  <dcterms:modified xsi:type="dcterms:W3CDTF">2023-03-19T17:21:47Z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