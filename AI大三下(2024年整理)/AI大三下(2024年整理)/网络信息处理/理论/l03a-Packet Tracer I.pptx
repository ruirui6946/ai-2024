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A20D-5D5C-4F76-8AC1-10CDE6AFCB7D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925F-D1E0-42C6-8028-716AEA060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878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A20D-5D5C-4F76-8AC1-10CDE6AFCB7D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925F-D1E0-42C6-8028-716AEA060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5029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A20D-5D5C-4F76-8AC1-10CDE6AFCB7D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925F-D1E0-42C6-8028-716AEA060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959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A20D-5D5C-4F76-8AC1-10CDE6AFCB7D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925F-D1E0-42C6-8028-716AEA060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990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A20D-5D5C-4F76-8AC1-10CDE6AFCB7D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925F-D1E0-42C6-8028-716AEA060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97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A20D-5D5C-4F76-8AC1-10CDE6AFCB7D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925F-D1E0-42C6-8028-716AEA060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0765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A20D-5D5C-4F76-8AC1-10CDE6AFCB7D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925F-D1E0-42C6-8028-716AEA060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486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A20D-5D5C-4F76-8AC1-10CDE6AFCB7D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925F-D1E0-42C6-8028-716AEA060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090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A20D-5D5C-4F76-8AC1-10CDE6AFCB7D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925F-D1E0-42C6-8028-716AEA060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244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A20D-5D5C-4F76-8AC1-10CDE6AFCB7D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925F-D1E0-42C6-8028-716AEA060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5807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A20D-5D5C-4F76-8AC1-10CDE6AFCB7D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925F-D1E0-42C6-8028-716AEA060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372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8A20D-5D5C-4F76-8AC1-10CDE6AFCB7D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F925F-D1E0-42C6-8028-716AEA060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453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ackettracernetwor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&#23454;&#39564;3%20&#26500;&#24314;&#31616;&#21333;&#32593;&#32476;&#25299;&#25169;.docx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Packet </a:t>
            </a:r>
            <a:r>
              <a:rPr lang="en-US" altLang="zh-CN" dirty="0"/>
              <a:t>Tracer</a:t>
            </a:r>
            <a:r>
              <a:rPr lang="zh-CN" altLang="en-US" dirty="0"/>
              <a:t>基本使用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459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4DDC00-2768-42A7-B144-4BE583905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5897A8-A98D-44C8-9B59-4315E5F7C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Packet </a:t>
            </a:r>
            <a:r>
              <a:rPr lang="en-US" altLang="zh-CN" dirty="0"/>
              <a:t>Tracer</a:t>
            </a:r>
            <a:r>
              <a:rPr lang="zh-CN" altLang="en-US" dirty="0"/>
              <a:t>官网：</a:t>
            </a:r>
            <a:r>
              <a:rPr lang="en-US" altLang="zh-CN" dirty="0">
                <a:hlinkClick r:id="rId2"/>
              </a:rPr>
              <a:t>https://www.packettracernetwork.com/</a:t>
            </a:r>
            <a:endParaRPr lang="en-US" altLang="zh-CN" dirty="0"/>
          </a:p>
          <a:p>
            <a:r>
              <a:rPr lang="zh-CN" altLang="en-US" dirty="0"/>
              <a:t>简要功能介绍：</a:t>
            </a:r>
            <a:r>
              <a:rPr lang="en-US" altLang="zh-CN" dirty="0"/>
              <a:t>l03b-Packet Tracer.pdf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5369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任务一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38400" y="2615340"/>
            <a:ext cx="8229600" cy="4411663"/>
          </a:xfrm>
        </p:spPr>
        <p:txBody>
          <a:bodyPr/>
          <a:lstStyle/>
          <a:p>
            <a:r>
              <a:rPr lang="zh-CN" altLang="en-US" dirty="0"/>
              <a:t>一台服务器 </a:t>
            </a:r>
          </a:p>
          <a:p>
            <a:r>
              <a:rPr lang="zh-CN" altLang="en-US" dirty="0"/>
              <a:t>一台 </a:t>
            </a:r>
            <a:r>
              <a:rPr lang="en-US" altLang="zh-CN" dirty="0"/>
              <a:t>2960 </a:t>
            </a:r>
            <a:r>
              <a:rPr lang="zh-CN" altLang="en-US" dirty="0"/>
              <a:t>交换机 </a:t>
            </a:r>
          </a:p>
          <a:p>
            <a:r>
              <a:rPr lang="zh-CN" altLang="en-US" dirty="0"/>
              <a:t>一台 </a:t>
            </a:r>
            <a:r>
              <a:rPr lang="en-US" altLang="zh-CN" dirty="0"/>
              <a:t>1841 </a:t>
            </a:r>
            <a:r>
              <a:rPr lang="zh-CN" altLang="en-US" dirty="0"/>
              <a:t>路由器 </a:t>
            </a:r>
          </a:p>
          <a:p>
            <a:r>
              <a:rPr lang="zh-CN" altLang="en-US" dirty="0"/>
              <a:t>一台集线器 </a:t>
            </a:r>
          </a:p>
          <a:p>
            <a:r>
              <a:rPr lang="zh-CN" altLang="en-US" dirty="0"/>
              <a:t>一部 </a:t>
            </a:r>
            <a:r>
              <a:rPr lang="en-US" altLang="zh-CN" dirty="0"/>
              <a:t>IP </a:t>
            </a:r>
            <a:r>
              <a:rPr lang="zh-CN" altLang="en-US" dirty="0"/>
              <a:t>电话 </a:t>
            </a:r>
          </a:p>
          <a:p>
            <a:r>
              <a:rPr lang="zh-CN" altLang="en-US" dirty="0"/>
              <a:t>一台 </a:t>
            </a:r>
            <a:r>
              <a:rPr lang="en-US" altLang="zh-CN" dirty="0"/>
              <a:t>PC </a:t>
            </a:r>
          </a:p>
          <a:p>
            <a:r>
              <a:rPr lang="zh-CN" altLang="en-US" dirty="0"/>
              <a:t>使用自动连接方式连接设备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1981201" y="838201"/>
            <a:ext cx="3906839" cy="1865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endParaRPr lang="en-US" altLang="zh-CN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1. </a:t>
            </a:r>
            <a:r>
              <a:rPr lang="zh-CN" altLang="en-US" sz="3200" b="1" dirty="0"/>
              <a:t>建立简单拓扑图；</a:t>
            </a:r>
            <a:endParaRPr lang="en-US" altLang="zh-CN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(a)</a:t>
            </a:r>
            <a:endParaRPr lang="zh-CN" altLang="en-US" sz="3200" b="1" dirty="0"/>
          </a:p>
        </p:txBody>
      </p:sp>
      <p:pic>
        <p:nvPicPr>
          <p:cNvPr id="30725" name="Picture 5" descr="C2P69{FNIYIUY3EP1FJ{4H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799" y="3484535"/>
            <a:ext cx="548640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1629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(b)</a:t>
            </a:r>
            <a:endParaRPr lang="zh-CN" altLang="en-US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grpSp>
        <p:nvGrpSpPr>
          <p:cNvPr id="29700" name="Group 4"/>
          <p:cNvGrpSpPr>
            <a:grpSpLocks/>
          </p:cNvGrpSpPr>
          <p:nvPr/>
        </p:nvGrpSpPr>
        <p:grpSpPr bwMode="auto">
          <a:xfrm>
            <a:off x="1905001" y="1600201"/>
            <a:ext cx="8061325" cy="4727575"/>
            <a:chOff x="2310" y="159"/>
            <a:chExt cx="7710" cy="4521"/>
          </a:xfrm>
        </p:grpSpPr>
        <p:pic>
          <p:nvPicPr>
            <p:cNvPr id="29701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903"/>
            <a:stretch>
              <a:fillRect/>
            </a:stretch>
          </p:blipFill>
          <p:spPr bwMode="auto">
            <a:xfrm>
              <a:off x="2310" y="159"/>
              <a:ext cx="7160" cy="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702" name="Rectangle 6"/>
            <p:cNvSpPr>
              <a:spLocks noChangeArrowheads="1"/>
            </p:cNvSpPr>
            <p:nvPr/>
          </p:nvSpPr>
          <p:spPr bwMode="auto">
            <a:xfrm>
              <a:off x="4668" y="1236"/>
              <a:ext cx="977" cy="2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3" name="Rectangle 7"/>
            <p:cNvSpPr>
              <a:spLocks noChangeArrowheads="1"/>
            </p:cNvSpPr>
            <p:nvPr/>
          </p:nvSpPr>
          <p:spPr bwMode="auto">
            <a:xfrm>
              <a:off x="5451" y="795"/>
              <a:ext cx="977" cy="21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4" name="Rectangle 8"/>
            <p:cNvSpPr>
              <a:spLocks noChangeArrowheads="1"/>
            </p:cNvSpPr>
            <p:nvPr/>
          </p:nvSpPr>
          <p:spPr bwMode="auto">
            <a:xfrm>
              <a:off x="6513" y="354"/>
              <a:ext cx="1590" cy="1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5" name="Rectangle 9"/>
            <p:cNvSpPr>
              <a:spLocks noChangeArrowheads="1"/>
            </p:cNvSpPr>
            <p:nvPr/>
          </p:nvSpPr>
          <p:spPr bwMode="auto">
            <a:xfrm>
              <a:off x="8119" y="528"/>
              <a:ext cx="977" cy="21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6" name="Text Box 10"/>
            <p:cNvSpPr txBox="1">
              <a:spLocks noChangeArrowheads="1"/>
            </p:cNvSpPr>
            <p:nvPr/>
          </p:nvSpPr>
          <p:spPr bwMode="auto">
            <a:xfrm>
              <a:off x="5370" y="726"/>
              <a:ext cx="1250" cy="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5" rIns="91432" bIns="45715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001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100" b="1">
                  <a:latin typeface="Times New Roman" panose="02020603050405020304" pitchFamily="18" charset="0"/>
                </a:rPr>
                <a:t>Web</a:t>
              </a:r>
              <a:r>
                <a:rPr kumimoji="1" lang="zh-CN" altLang="en-US" sz="1100" b="1">
                  <a:latin typeface="Times New Roman" panose="02020603050405020304" pitchFamily="18" charset="0"/>
                </a:rPr>
                <a:t>服务器</a:t>
              </a:r>
              <a:endParaRPr kumimoji="1" lang="zh-CN" altLang="en-US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29707" name="Text Box 11"/>
            <p:cNvSpPr txBox="1">
              <a:spLocks noChangeArrowheads="1"/>
            </p:cNvSpPr>
            <p:nvPr/>
          </p:nvSpPr>
          <p:spPr bwMode="auto">
            <a:xfrm>
              <a:off x="4582" y="1161"/>
              <a:ext cx="1270" cy="4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5" rIns="91432" bIns="45715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001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100" b="1">
                  <a:latin typeface="Times New Roman" panose="02020603050405020304" pitchFamily="18" charset="0"/>
                </a:rPr>
                <a:t>邮件服务器</a:t>
              </a:r>
              <a:endParaRPr kumimoji="1" lang="zh-CN" altLang="en-US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29708" name="Text Box 12"/>
            <p:cNvSpPr txBox="1">
              <a:spLocks noChangeArrowheads="1"/>
            </p:cNvSpPr>
            <p:nvPr/>
          </p:nvSpPr>
          <p:spPr bwMode="auto">
            <a:xfrm>
              <a:off x="6146" y="360"/>
              <a:ext cx="140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5" rIns="91432" bIns="45715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001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100" b="1">
                  <a:latin typeface="Times New Roman" panose="02020603050405020304" pitchFamily="18" charset="0"/>
                </a:rPr>
                <a:t>数据库服务器</a:t>
              </a:r>
              <a:endParaRPr kumimoji="1" lang="zh-CN" altLang="en-US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29709" name="Text Box 13"/>
            <p:cNvSpPr txBox="1">
              <a:spLocks noChangeArrowheads="1"/>
            </p:cNvSpPr>
            <p:nvPr/>
          </p:nvSpPr>
          <p:spPr bwMode="auto">
            <a:xfrm>
              <a:off x="8084" y="465"/>
              <a:ext cx="1250" cy="4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5" rIns="91432" bIns="45715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001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100" b="1">
                  <a:latin typeface="Times New Roman" panose="02020603050405020304" pitchFamily="18" charset="0"/>
                </a:rPr>
                <a:t>网管工作站</a:t>
              </a:r>
              <a:endParaRPr kumimoji="1" lang="zh-CN" altLang="en-US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29710" name="Text Box 14"/>
            <p:cNvSpPr txBox="1">
              <a:spLocks noChangeArrowheads="1"/>
            </p:cNvSpPr>
            <p:nvPr/>
          </p:nvSpPr>
          <p:spPr bwMode="auto">
            <a:xfrm>
              <a:off x="4298" y="1578"/>
              <a:ext cx="96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5" rIns="91432" bIns="45715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001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100" b="1">
                  <a:latin typeface="Times New Roman" panose="02020603050405020304" pitchFamily="18" charset="0"/>
                </a:rPr>
                <a:t>防火墙</a:t>
              </a:r>
              <a:endParaRPr kumimoji="1" lang="zh-CN" altLang="en-US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29711" name="Text Box 15"/>
            <p:cNvSpPr txBox="1">
              <a:spLocks noChangeArrowheads="1"/>
            </p:cNvSpPr>
            <p:nvPr/>
          </p:nvSpPr>
          <p:spPr bwMode="auto">
            <a:xfrm>
              <a:off x="4086" y="3391"/>
              <a:ext cx="940" cy="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5" rIns="91432" bIns="45715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001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100" b="1">
                  <a:latin typeface="Times New Roman" panose="02020603050405020304" pitchFamily="18" charset="0"/>
                </a:rPr>
                <a:t>千兆</a:t>
              </a:r>
            </a:p>
            <a:p>
              <a:pPr algn="ctr" eaLnBrk="0" hangingPunct="0"/>
              <a:r>
                <a:rPr kumimoji="1" lang="zh-CN" altLang="en-US" sz="1100" b="1">
                  <a:latin typeface="Times New Roman" panose="02020603050405020304" pitchFamily="18" charset="0"/>
                </a:rPr>
                <a:t>交换机</a:t>
              </a:r>
              <a:endParaRPr kumimoji="1" lang="zh-CN" altLang="en-US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29712" name="Text Box 16"/>
            <p:cNvSpPr txBox="1">
              <a:spLocks noChangeArrowheads="1"/>
            </p:cNvSpPr>
            <p:nvPr/>
          </p:nvSpPr>
          <p:spPr bwMode="auto">
            <a:xfrm>
              <a:off x="3635" y="1668"/>
              <a:ext cx="85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5" rIns="91432" bIns="45715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001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100" b="1">
                  <a:latin typeface="Times New Roman" panose="02020603050405020304" pitchFamily="18" charset="0"/>
                </a:rPr>
                <a:t>路由器</a:t>
              </a:r>
              <a:endParaRPr kumimoji="1" lang="zh-CN" altLang="en-US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29713" name="Text Box 17"/>
            <p:cNvSpPr txBox="1">
              <a:spLocks noChangeArrowheads="1"/>
            </p:cNvSpPr>
            <p:nvPr/>
          </p:nvSpPr>
          <p:spPr bwMode="auto">
            <a:xfrm>
              <a:off x="4608" y="2796"/>
              <a:ext cx="702" cy="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5" rIns="91432" bIns="45715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001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100" b="1">
                  <a:latin typeface="Times New Roman" panose="02020603050405020304" pitchFamily="18" charset="0"/>
                </a:rPr>
                <a:t>光缆</a:t>
              </a:r>
              <a:endParaRPr kumimoji="1" lang="zh-CN" altLang="en-US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29714" name="Text Box 18"/>
            <p:cNvSpPr txBox="1">
              <a:spLocks noChangeArrowheads="1"/>
            </p:cNvSpPr>
            <p:nvPr/>
          </p:nvSpPr>
          <p:spPr bwMode="auto">
            <a:xfrm>
              <a:off x="5089" y="2850"/>
              <a:ext cx="733" cy="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5" rIns="91432" bIns="45715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001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100" b="1">
                  <a:latin typeface="Times New Roman" panose="02020603050405020304" pitchFamily="18" charset="0"/>
                </a:rPr>
                <a:t>光缆</a:t>
              </a:r>
              <a:endParaRPr kumimoji="1" lang="zh-CN" altLang="en-US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29715" name="Text Box 19"/>
            <p:cNvSpPr txBox="1">
              <a:spLocks noChangeArrowheads="1"/>
            </p:cNvSpPr>
            <p:nvPr/>
          </p:nvSpPr>
          <p:spPr bwMode="auto">
            <a:xfrm>
              <a:off x="5585" y="2898"/>
              <a:ext cx="653" cy="5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5" rIns="91432" bIns="45715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001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100" b="1">
                  <a:latin typeface="Times New Roman" panose="02020603050405020304" pitchFamily="18" charset="0"/>
                </a:rPr>
                <a:t>光缆</a:t>
              </a:r>
              <a:endParaRPr kumimoji="1" lang="zh-CN" altLang="en-US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29716" name="Text Box 20"/>
            <p:cNvSpPr txBox="1">
              <a:spLocks noChangeArrowheads="1"/>
            </p:cNvSpPr>
            <p:nvPr/>
          </p:nvSpPr>
          <p:spPr bwMode="auto">
            <a:xfrm>
              <a:off x="7962" y="2757"/>
              <a:ext cx="700" cy="5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5" rIns="91432" bIns="45715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001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100" b="1">
                  <a:latin typeface="Times New Roman" panose="02020603050405020304" pitchFamily="18" charset="0"/>
                </a:rPr>
                <a:t>光缆</a:t>
              </a:r>
              <a:endParaRPr kumimoji="1" lang="zh-CN" altLang="en-US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29717" name="Text Box 21"/>
            <p:cNvSpPr txBox="1">
              <a:spLocks noChangeArrowheads="1"/>
            </p:cNvSpPr>
            <p:nvPr/>
          </p:nvSpPr>
          <p:spPr bwMode="auto">
            <a:xfrm>
              <a:off x="8754" y="2705"/>
              <a:ext cx="1059" cy="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5" rIns="91432" bIns="45715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001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100" b="1">
                  <a:latin typeface="Times New Roman" panose="02020603050405020304" pitchFamily="18" charset="0"/>
                </a:rPr>
                <a:t>双绞线</a:t>
              </a:r>
              <a:endParaRPr kumimoji="1" lang="zh-CN" altLang="en-US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29718" name="Text Box 22"/>
            <p:cNvSpPr txBox="1">
              <a:spLocks noChangeArrowheads="1"/>
            </p:cNvSpPr>
            <p:nvPr/>
          </p:nvSpPr>
          <p:spPr bwMode="auto">
            <a:xfrm>
              <a:off x="8996" y="3366"/>
              <a:ext cx="1024" cy="5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5" rIns="91432" bIns="45715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001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100" b="1">
                  <a:latin typeface="Times New Roman" panose="02020603050405020304" pitchFamily="18" charset="0"/>
                </a:rPr>
                <a:t>百兆</a:t>
              </a:r>
            </a:p>
            <a:p>
              <a:pPr algn="ctr" eaLnBrk="0" hangingPunct="0"/>
              <a:r>
                <a:rPr kumimoji="1" lang="zh-CN" altLang="en-US" sz="1100" b="1">
                  <a:latin typeface="Times New Roman" panose="02020603050405020304" pitchFamily="18" charset="0"/>
                </a:rPr>
                <a:t>交换机</a:t>
              </a:r>
              <a:endParaRPr kumimoji="1" lang="zh-CN" altLang="en-US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29719" name="Text Box 23"/>
            <p:cNvSpPr txBox="1">
              <a:spLocks noChangeArrowheads="1"/>
            </p:cNvSpPr>
            <p:nvPr/>
          </p:nvSpPr>
          <p:spPr bwMode="auto">
            <a:xfrm>
              <a:off x="7670" y="1278"/>
              <a:ext cx="1160" cy="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5" rIns="91432" bIns="45715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001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400" b="1">
                  <a:latin typeface="Times New Roman" panose="02020603050405020304" pitchFamily="18" charset="0"/>
                </a:rPr>
                <a:t>双绞线</a:t>
              </a:r>
              <a:endParaRPr kumimoji="1" lang="zh-CN" altLang="en-US" sz="3600" b="1">
                <a:latin typeface="Times New Roman" panose="02020603050405020304" pitchFamily="18" charset="0"/>
              </a:endParaRPr>
            </a:p>
          </p:txBody>
        </p:sp>
        <p:sp>
          <p:nvSpPr>
            <p:cNvPr id="29720" name="Text Box 24"/>
            <p:cNvSpPr txBox="1">
              <a:spLocks noChangeArrowheads="1"/>
            </p:cNvSpPr>
            <p:nvPr/>
          </p:nvSpPr>
          <p:spPr bwMode="auto">
            <a:xfrm>
              <a:off x="6068" y="1620"/>
              <a:ext cx="692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5" rIns="91432" bIns="45715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001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100" b="1">
                  <a:latin typeface="Times New Roman" panose="02020603050405020304" pitchFamily="18" charset="0"/>
                </a:rPr>
                <a:t>光缆</a:t>
              </a:r>
              <a:endParaRPr kumimoji="1" lang="zh-CN" altLang="en-US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29721" name="Text Box 25"/>
            <p:cNvSpPr txBox="1">
              <a:spLocks noChangeArrowheads="1"/>
            </p:cNvSpPr>
            <p:nvPr/>
          </p:nvSpPr>
          <p:spPr bwMode="auto">
            <a:xfrm>
              <a:off x="7183" y="1233"/>
              <a:ext cx="733" cy="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5" rIns="91432" bIns="45715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001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100" b="1">
                  <a:latin typeface="Times New Roman" panose="02020603050405020304" pitchFamily="18" charset="0"/>
                </a:rPr>
                <a:t>光缆</a:t>
              </a:r>
              <a:endParaRPr kumimoji="1" lang="zh-CN" altLang="en-US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29722" name="Text Box 26"/>
            <p:cNvSpPr txBox="1">
              <a:spLocks noChangeArrowheads="1"/>
            </p:cNvSpPr>
            <p:nvPr/>
          </p:nvSpPr>
          <p:spPr bwMode="auto">
            <a:xfrm>
              <a:off x="3408" y="465"/>
              <a:ext cx="157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5" rIns="91432" bIns="45715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001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100" b="1">
                  <a:latin typeface="Times New Roman" panose="02020603050405020304" pitchFamily="18" charset="0"/>
                </a:rPr>
                <a:t>网络信息中心</a:t>
              </a:r>
              <a:endParaRPr kumimoji="1" lang="zh-CN" altLang="en-US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29723" name="Rectangle 27"/>
            <p:cNvSpPr>
              <a:spLocks noChangeArrowheads="1"/>
            </p:cNvSpPr>
            <p:nvPr/>
          </p:nvSpPr>
          <p:spPr bwMode="auto">
            <a:xfrm>
              <a:off x="4744" y="4454"/>
              <a:ext cx="4156" cy="2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4" name="Text Box 28"/>
            <p:cNvSpPr txBox="1">
              <a:spLocks noChangeArrowheads="1"/>
            </p:cNvSpPr>
            <p:nvPr/>
          </p:nvSpPr>
          <p:spPr bwMode="auto">
            <a:xfrm>
              <a:off x="7308" y="2960"/>
              <a:ext cx="1030" cy="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5" rIns="91432" bIns="45715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001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100" b="1">
                  <a:latin typeface="Times New Roman" panose="02020603050405020304" pitchFamily="18" charset="0"/>
                </a:rPr>
                <a:t>双绞线</a:t>
              </a:r>
              <a:endParaRPr kumimoji="1" lang="zh-CN" altLang="en-US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29725" name="Text Box 29"/>
            <p:cNvSpPr txBox="1">
              <a:spLocks noChangeArrowheads="1"/>
            </p:cNvSpPr>
            <p:nvPr/>
          </p:nvSpPr>
          <p:spPr bwMode="auto">
            <a:xfrm>
              <a:off x="4806" y="4222"/>
              <a:ext cx="853" cy="2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5997" tIns="0" rIns="35997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001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100" b="1">
                  <a:latin typeface="Times New Roman" panose="02020603050405020304" pitchFamily="18" charset="0"/>
                </a:rPr>
                <a:t>教学楼</a:t>
              </a:r>
              <a:endParaRPr kumimoji="1" lang="zh-CN" altLang="en-US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29726" name="Text Box 30"/>
            <p:cNvSpPr txBox="1">
              <a:spLocks noChangeArrowheads="1"/>
            </p:cNvSpPr>
            <p:nvPr/>
          </p:nvSpPr>
          <p:spPr bwMode="auto">
            <a:xfrm>
              <a:off x="5791" y="4222"/>
              <a:ext cx="760" cy="2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5997" tIns="0" rIns="35997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001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100" b="1">
                  <a:latin typeface="Times New Roman" panose="02020603050405020304" pitchFamily="18" charset="0"/>
                </a:rPr>
                <a:t>图书馆</a:t>
              </a:r>
              <a:endParaRPr kumimoji="1" lang="zh-CN" altLang="en-US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29727" name="Text Box 31"/>
            <p:cNvSpPr txBox="1">
              <a:spLocks noChangeArrowheads="1"/>
            </p:cNvSpPr>
            <p:nvPr/>
          </p:nvSpPr>
          <p:spPr bwMode="auto">
            <a:xfrm>
              <a:off x="6698" y="4222"/>
              <a:ext cx="760" cy="2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5997" tIns="0" rIns="35997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001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100" b="1">
                  <a:latin typeface="Times New Roman" panose="02020603050405020304" pitchFamily="18" charset="0"/>
                </a:rPr>
                <a:t>化学楼</a:t>
              </a:r>
              <a:endParaRPr kumimoji="1" lang="zh-CN" altLang="en-US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29728" name="Text Box 32"/>
            <p:cNvSpPr txBox="1">
              <a:spLocks noChangeArrowheads="1"/>
            </p:cNvSpPr>
            <p:nvPr/>
          </p:nvSpPr>
          <p:spPr bwMode="auto">
            <a:xfrm>
              <a:off x="7605" y="4222"/>
              <a:ext cx="760" cy="2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5997" tIns="0" rIns="35997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001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100" b="1">
                  <a:latin typeface="Times New Roman" panose="02020603050405020304" pitchFamily="18" charset="0"/>
                </a:rPr>
                <a:t>物理楼</a:t>
              </a:r>
              <a:endParaRPr kumimoji="1" lang="zh-CN" altLang="en-US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29729" name="Text Box 33"/>
            <p:cNvSpPr txBox="1">
              <a:spLocks noChangeArrowheads="1"/>
            </p:cNvSpPr>
            <p:nvPr/>
          </p:nvSpPr>
          <p:spPr bwMode="auto">
            <a:xfrm>
              <a:off x="8544" y="4222"/>
              <a:ext cx="760" cy="2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5997" tIns="0" rIns="35997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001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100" b="1">
                  <a:latin typeface="Times New Roman" panose="02020603050405020304" pitchFamily="18" charset="0"/>
                </a:rPr>
                <a:t>实验室</a:t>
              </a:r>
              <a:endParaRPr kumimoji="1" lang="zh-CN" altLang="en-US" sz="3200" b="1">
                <a:latin typeface="Times New Roman" panose="02020603050405020304" pitchFamily="18" charset="0"/>
              </a:endParaRPr>
            </a:p>
          </p:txBody>
        </p:sp>
        <p:sp>
          <p:nvSpPr>
            <p:cNvPr id="29730" name="Line 34"/>
            <p:cNvSpPr>
              <a:spLocks noChangeShapeType="1"/>
            </p:cNvSpPr>
            <p:nvPr/>
          </p:nvSpPr>
          <p:spPr bwMode="auto">
            <a:xfrm flipV="1">
              <a:off x="5038" y="3722"/>
              <a:ext cx="78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1" name="Line 35"/>
            <p:cNvSpPr>
              <a:spLocks noChangeShapeType="1"/>
            </p:cNvSpPr>
            <p:nvPr/>
          </p:nvSpPr>
          <p:spPr bwMode="auto">
            <a:xfrm flipH="1" flipV="1">
              <a:off x="5286" y="3731"/>
              <a:ext cx="171" cy="1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2" name="Line 36"/>
            <p:cNvSpPr>
              <a:spLocks noChangeShapeType="1"/>
            </p:cNvSpPr>
            <p:nvPr/>
          </p:nvSpPr>
          <p:spPr bwMode="auto">
            <a:xfrm flipV="1">
              <a:off x="5953" y="3722"/>
              <a:ext cx="109" cy="1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3" name="Line 37"/>
            <p:cNvSpPr>
              <a:spLocks noChangeShapeType="1"/>
            </p:cNvSpPr>
            <p:nvPr/>
          </p:nvSpPr>
          <p:spPr bwMode="auto">
            <a:xfrm flipH="1" flipV="1">
              <a:off x="6217" y="3731"/>
              <a:ext cx="124" cy="1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4" name="Line 38"/>
            <p:cNvSpPr>
              <a:spLocks noChangeShapeType="1"/>
            </p:cNvSpPr>
            <p:nvPr/>
          </p:nvSpPr>
          <p:spPr bwMode="auto">
            <a:xfrm flipV="1">
              <a:off x="6845" y="3745"/>
              <a:ext cx="93" cy="1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5" name="Line 39"/>
            <p:cNvSpPr>
              <a:spLocks noChangeShapeType="1"/>
            </p:cNvSpPr>
            <p:nvPr/>
          </p:nvSpPr>
          <p:spPr bwMode="auto">
            <a:xfrm flipH="1" flipV="1">
              <a:off x="7148" y="3761"/>
              <a:ext cx="108" cy="1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6" name="Line 40"/>
            <p:cNvSpPr>
              <a:spLocks noChangeShapeType="1"/>
            </p:cNvSpPr>
            <p:nvPr/>
          </p:nvSpPr>
          <p:spPr bwMode="auto">
            <a:xfrm flipV="1">
              <a:off x="7807" y="3745"/>
              <a:ext cx="85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7" name="Line 41"/>
            <p:cNvSpPr>
              <a:spLocks noChangeShapeType="1"/>
            </p:cNvSpPr>
            <p:nvPr/>
          </p:nvSpPr>
          <p:spPr bwMode="auto">
            <a:xfrm flipH="1" flipV="1">
              <a:off x="8078" y="3731"/>
              <a:ext cx="109" cy="1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8" name="Line 42"/>
            <p:cNvSpPr>
              <a:spLocks noChangeShapeType="1"/>
            </p:cNvSpPr>
            <p:nvPr/>
          </p:nvSpPr>
          <p:spPr bwMode="auto">
            <a:xfrm flipV="1">
              <a:off x="8699" y="3745"/>
              <a:ext cx="62" cy="1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9" name="Line 43"/>
            <p:cNvSpPr>
              <a:spLocks noChangeShapeType="1"/>
            </p:cNvSpPr>
            <p:nvPr/>
          </p:nvSpPr>
          <p:spPr bwMode="auto">
            <a:xfrm flipH="1" flipV="1">
              <a:off x="8993" y="3768"/>
              <a:ext cx="125" cy="1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0" name="Rectangle 44"/>
            <p:cNvSpPr>
              <a:spLocks noChangeArrowheads="1"/>
            </p:cNvSpPr>
            <p:nvPr/>
          </p:nvSpPr>
          <p:spPr bwMode="auto">
            <a:xfrm>
              <a:off x="8561" y="1860"/>
              <a:ext cx="543" cy="5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1" name="Text Box 45"/>
            <p:cNvSpPr txBox="1">
              <a:spLocks noChangeArrowheads="1"/>
            </p:cNvSpPr>
            <p:nvPr/>
          </p:nvSpPr>
          <p:spPr bwMode="auto">
            <a:xfrm>
              <a:off x="7988" y="1665"/>
              <a:ext cx="1241" cy="5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2" tIns="45715" rIns="91432" bIns="45715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001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100" b="1">
                  <a:latin typeface="Times New Roman" panose="02020603050405020304" pitchFamily="18" charset="0"/>
                </a:rPr>
                <a:t>万兆</a:t>
              </a:r>
            </a:p>
            <a:p>
              <a:pPr algn="ctr" eaLnBrk="0" hangingPunct="0"/>
              <a:r>
                <a:rPr kumimoji="1" lang="zh-CN" altLang="en-US" sz="1100" b="1">
                  <a:latin typeface="Times New Roman" panose="02020603050405020304" pitchFamily="18" charset="0"/>
                </a:rPr>
                <a:t>交换机</a:t>
              </a:r>
              <a:endParaRPr kumimoji="1" lang="zh-CN" altLang="en-US" sz="3200" b="1"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4170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任务二</a:t>
            </a:r>
            <a:endParaRPr lang="en-US" altLang="zh-CN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752601"/>
            <a:ext cx="5334000" cy="4411663"/>
          </a:xfrm>
        </p:spPr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利用一台型号为</a:t>
            </a:r>
            <a:r>
              <a:rPr lang="en-US" altLang="zh-CN" dirty="0"/>
              <a:t>2960</a:t>
            </a:r>
            <a:r>
              <a:rPr lang="zh-CN" altLang="en-US" dirty="0"/>
              <a:t>的交换机将</a:t>
            </a:r>
            <a:r>
              <a:rPr lang="en-US" altLang="zh-CN" dirty="0"/>
              <a:t>2</a:t>
            </a:r>
            <a:r>
              <a:rPr lang="zh-CN" altLang="en-US" dirty="0"/>
              <a:t>台</a:t>
            </a:r>
            <a:r>
              <a:rPr lang="en-US" altLang="zh-CN" dirty="0"/>
              <a:t>pc</a:t>
            </a:r>
            <a:r>
              <a:rPr lang="zh-CN" altLang="en-US" dirty="0"/>
              <a:t>机互联组件一个小型局域网；</a:t>
            </a:r>
          </a:p>
          <a:p>
            <a:r>
              <a:rPr lang="en-US" altLang="zh-CN" dirty="0"/>
              <a:t>2. </a:t>
            </a:r>
            <a:r>
              <a:rPr lang="zh-CN" altLang="en-US" dirty="0"/>
              <a:t>分别设置</a:t>
            </a:r>
            <a:r>
              <a:rPr lang="en-US" altLang="zh-CN" dirty="0"/>
              <a:t>pc</a:t>
            </a:r>
            <a:r>
              <a:rPr lang="zh-CN" altLang="en-US" dirty="0"/>
              <a:t>机的</a:t>
            </a:r>
            <a:r>
              <a:rPr lang="en-US" altLang="zh-CN" dirty="0"/>
              <a:t>IP</a:t>
            </a:r>
            <a:r>
              <a:rPr lang="zh-CN" altLang="en-US" dirty="0"/>
              <a:t>地址；</a:t>
            </a:r>
          </a:p>
          <a:p>
            <a:r>
              <a:rPr lang="en-US" altLang="zh-CN" dirty="0"/>
              <a:t>3. </a:t>
            </a:r>
            <a:r>
              <a:rPr lang="zh-CN" altLang="en-US" dirty="0"/>
              <a:t>验证</a:t>
            </a:r>
            <a:r>
              <a:rPr lang="en-US" altLang="zh-CN" dirty="0"/>
              <a:t>pc</a:t>
            </a:r>
            <a:r>
              <a:rPr lang="zh-CN" altLang="en-US" dirty="0"/>
              <a:t>机间可以互通。</a:t>
            </a:r>
          </a:p>
        </p:txBody>
      </p:sp>
      <p:pic>
        <p:nvPicPr>
          <p:cNvPr id="24581" name="Picture 5" descr="OHNJ21BRYRJ6SORYJ8XQ_C3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905001"/>
            <a:ext cx="3200400" cy="2951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8942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任务三</a:t>
            </a:r>
            <a:endParaRPr lang="en-US" altLang="zh-CN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752601"/>
            <a:ext cx="5334000" cy="4411663"/>
          </a:xfrm>
        </p:spPr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 利用一台路由器，两台交换机和</a:t>
            </a:r>
            <a:r>
              <a:rPr lang="en-US" altLang="zh-CN" dirty="0"/>
              <a:t>3</a:t>
            </a:r>
            <a:r>
              <a:rPr lang="zh-CN" altLang="en-US" dirty="0"/>
              <a:t>台</a:t>
            </a:r>
            <a:r>
              <a:rPr lang="en-US" altLang="zh-CN" dirty="0"/>
              <a:t>pc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台笔记本，建立一个网络；</a:t>
            </a:r>
          </a:p>
          <a:p>
            <a:r>
              <a:rPr lang="en-US" altLang="zh-CN" dirty="0"/>
              <a:t>2. </a:t>
            </a:r>
            <a:r>
              <a:rPr lang="zh-CN" altLang="en-US" dirty="0"/>
              <a:t>分别设置</a:t>
            </a:r>
            <a:r>
              <a:rPr lang="en-US" altLang="zh-CN" dirty="0"/>
              <a:t>pc</a:t>
            </a:r>
            <a:r>
              <a:rPr lang="zh-CN" altLang="en-US" dirty="0"/>
              <a:t>机的</a:t>
            </a:r>
            <a:r>
              <a:rPr lang="en-US" altLang="zh-CN" dirty="0"/>
              <a:t>IP</a:t>
            </a:r>
            <a:r>
              <a:rPr lang="zh-CN" altLang="en-US" dirty="0"/>
              <a:t>地址；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验证</a:t>
            </a:r>
            <a:r>
              <a:rPr lang="en-US" altLang="zh-CN" dirty="0"/>
              <a:t>pc</a:t>
            </a:r>
            <a:r>
              <a:rPr lang="zh-CN" altLang="en-US" dirty="0"/>
              <a:t>机间可以互通。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1752601"/>
            <a:ext cx="482917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401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192</Words>
  <Application>Microsoft Office PowerPoint</Application>
  <PresentationFormat>宽屏</PresentationFormat>
  <Paragraphs>51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Arial</vt:lpstr>
      <vt:lpstr>Times New Roman</vt:lpstr>
      <vt:lpstr>Office 主题​​</vt:lpstr>
      <vt:lpstr>Packet Tracer基本使用</vt:lpstr>
      <vt:lpstr>简介</vt:lpstr>
      <vt:lpstr>任务一 </vt:lpstr>
      <vt:lpstr>(b)</vt:lpstr>
      <vt:lpstr>任务二</vt:lpstr>
      <vt:lpstr>任务三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Package Tracer基本使用</dc:title>
  <dc:creator>admin</dc:creator>
  <cp:lastModifiedBy>admin</cp:lastModifiedBy>
  <cp:revision>6</cp:revision>
  <dcterms:created xsi:type="dcterms:W3CDTF">2018-04-11T23:34:13Z</dcterms:created>
  <dcterms:modified xsi:type="dcterms:W3CDTF">2023-04-17T06:29:32Z</dcterms:modified>
</cp:coreProperties>
</file>