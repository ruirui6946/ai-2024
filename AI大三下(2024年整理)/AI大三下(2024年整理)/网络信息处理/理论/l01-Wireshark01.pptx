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73" r:id="rId6"/>
    <p:sldId id="277" r:id="rId7"/>
    <p:sldId id="260" r:id="rId8"/>
    <p:sldId id="261" r:id="rId9"/>
    <p:sldId id="262" r:id="rId10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66FF66"/>
    <a:srgbClr val="0000CC"/>
    <a:srgbClr val="0000FF"/>
    <a:srgbClr val="FF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4129" autoAdjust="0"/>
    <p:restoredTop sz="88929" autoAdjust="0"/>
  </p:normalViewPr>
  <p:slideViewPr>
    <p:cSldViewPr>
      <p:cViewPr varScale="1">
        <p:scale>
          <a:sx n="90" d="100"/>
          <a:sy n="90" d="100"/>
        </p:scale>
        <p:origin x="1422" y="9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 b="1"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C80574E-8B94-4515-ADE1-BF6C35829DF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6392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33339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47B36-077D-42FE-9DED-0C77CB87E4B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8640"/>
            <a:ext cx="90662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752"/>
            <a:ext cx="9066212" cy="493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176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5367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9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70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itchFamily="2" charset="2"/>
        <a:buChar char="p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ireshark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Wireshark</a:t>
            </a:r>
            <a:r>
              <a:rPr lang="zh-CN" altLang="en-US" dirty="0"/>
              <a:t>基本使用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课程概况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Wireshark</a:t>
            </a:r>
            <a:r>
              <a:rPr lang="zh-CN" altLang="en-US" dirty="0"/>
              <a:t>简介</a:t>
            </a:r>
            <a:endParaRPr lang="en-US" altLang="zh-CN" dirty="0"/>
          </a:p>
          <a:p>
            <a:r>
              <a:rPr lang="zh-CN" altLang="en-US" dirty="0"/>
              <a:t>实验</a:t>
            </a:r>
            <a:r>
              <a:rPr lang="en-US" altLang="zh-CN" dirty="0"/>
              <a:t>1</a:t>
            </a:r>
            <a:r>
              <a:rPr lang="zh-CN" altLang="en-US" dirty="0"/>
              <a:t>内容</a:t>
            </a:r>
          </a:p>
          <a:p>
            <a:r>
              <a:rPr lang="zh-CN" altLang="en-US" dirty="0"/>
              <a:t>关于的实验提交</a:t>
            </a:r>
          </a:p>
        </p:txBody>
      </p:sp>
    </p:spTree>
    <p:extLst>
      <p:ext uri="{BB962C8B-B14F-4D97-AF65-F5344CB8AC3E}">
        <p14:creationId xmlns:p14="http://schemas.microsoft.com/office/powerpoint/2010/main" val="3323019446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Wireshark</a:t>
            </a:r>
            <a:r>
              <a:rPr lang="zh-CN" altLang="en-US" dirty="0"/>
              <a:t>简介（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altLang="zh-CN" dirty="0"/>
          </a:p>
          <a:p>
            <a:pPr lvl="1"/>
            <a:r>
              <a:rPr lang="zh-CN" altLang="en-US" dirty="0"/>
              <a:t>网络抓包分析工具</a:t>
            </a:r>
            <a:endParaRPr lang="en-US" altLang="zh-CN" dirty="0"/>
          </a:p>
          <a:p>
            <a:pPr lvl="1"/>
            <a:r>
              <a:rPr lang="zh-CN" altLang="en-US" dirty="0"/>
              <a:t>可实时捕捉多种网络接口</a:t>
            </a:r>
            <a:endParaRPr lang="en-US" altLang="zh-CN" dirty="0"/>
          </a:p>
          <a:p>
            <a:pPr lvl="1"/>
            <a:r>
              <a:rPr lang="zh-CN" altLang="en-US" dirty="0"/>
              <a:t>支持其他程序抓包保存文件，例如</a:t>
            </a:r>
            <a:r>
              <a:rPr lang="en-US" altLang="zh-CN" dirty="0" err="1"/>
              <a:t>TCPDump</a:t>
            </a:r>
            <a:endParaRPr lang="en-US" altLang="zh-CN" dirty="0"/>
          </a:p>
          <a:p>
            <a:pPr lvl="1"/>
            <a:r>
              <a:rPr lang="zh-CN" altLang="en-US" dirty="0"/>
              <a:t>开源软件，采用</a:t>
            </a:r>
            <a:r>
              <a:rPr lang="en-US" altLang="zh-CN" dirty="0"/>
              <a:t>GPL</a:t>
            </a:r>
            <a:r>
              <a:rPr lang="zh-CN" altLang="en-US" dirty="0"/>
              <a:t>授权</a:t>
            </a:r>
            <a:endParaRPr lang="en-US" altLang="zh-CN" dirty="0"/>
          </a:p>
          <a:p>
            <a:pPr lvl="1"/>
            <a:r>
              <a:rPr lang="zh-CN" altLang="zh-CN" dirty="0"/>
              <a:t>支持UNIX和Windows平台</a:t>
            </a:r>
            <a:endParaRPr lang="en-US" altLang="zh-CN" dirty="0"/>
          </a:p>
          <a:p>
            <a:r>
              <a:rPr lang="zh-CN" altLang="zh-CN" dirty="0"/>
              <a:t>官方</a:t>
            </a:r>
            <a:r>
              <a:rPr lang="zh-CN" altLang="en-US" dirty="0"/>
              <a:t>网站</a:t>
            </a:r>
            <a:r>
              <a:rPr lang="zh-CN" altLang="zh-CN" dirty="0"/>
              <a:t>：</a:t>
            </a:r>
          </a:p>
          <a:p>
            <a:pPr lvl="1"/>
            <a:r>
              <a:rPr lang="en-US" altLang="zh-CN" u="sng" dirty="0">
                <a:hlinkClick r:id="rId2"/>
              </a:rPr>
              <a:t>http://www.wireshark.org/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3975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Wireshark</a:t>
            </a:r>
            <a:r>
              <a:rPr lang="zh-CN" altLang="en-US" dirty="0"/>
              <a:t>简介（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支持的系统：</a:t>
            </a:r>
          </a:p>
          <a:p>
            <a:pPr lvl="1"/>
            <a:r>
              <a:rPr lang="en-US" altLang="zh-CN" dirty="0"/>
              <a:t>Windows</a:t>
            </a:r>
            <a:endParaRPr lang="zh-CN" altLang="zh-CN" dirty="0"/>
          </a:p>
          <a:p>
            <a:pPr lvl="1"/>
            <a:r>
              <a:rPr lang="en-US" altLang="zh-CN" dirty="0" err="1"/>
              <a:t>APPle</a:t>
            </a:r>
            <a:r>
              <a:rPr lang="en-US" altLang="zh-CN" dirty="0"/>
              <a:t> Mac OSX</a:t>
            </a:r>
            <a:endParaRPr lang="zh-CN" altLang="zh-CN" dirty="0"/>
          </a:p>
          <a:p>
            <a:pPr lvl="1"/>
            <a:r>
              <a:rPr lang="en-US" altLang="zh-CN" dirty="0"/>
              <a:t>Debian GNU/Linux</a:t>
            </a:r>
            <a:endParaRPr lang="zh-CN" altLang="zh-CN" dirty="0"/>
          </a:p>
          <a:p>
            <a:pPr lvl="1"/>
            <a:r>
              <a:rPr lang="en-US" altLang="zh-CN" dirty="0"/>
              <a:t>FreeBSD</a:t>
            </a:r>
            <a:endParaRPr lang="zh-CN" altLang="zh-CN" dirty="0"/>
          </a:p>
          <a:p>
            <a:pPr lvl="1"/>
            <a:r>
              <a:rPr lang="en-US" altLang="zh-CN" dirty="0"/>
              <a:t>NetBSD</a:t>
            </a:r>
            <a:endParaRPr lang="zh-CN" altLang="zh-CN" dirty="0"/>
          </a:p>
          <a:p>
            <a:pPr lvl="1"/>
            <a:r>
              <a:rPr lang="en-US" altLang="zh-CN" dirty="0" err="1"/>
              <a:t>OpenPKG</a:t>
            </a:r>
            <a:endParaRPr lang="zh-CN" altLang="zh-CN" dirty="0"/>
          </a:p>
          <a:p>
            <a:pPr lvl="1"/>
            <a:r>
              <a:rPr lang="en-US" altLang="zh-CN" dirty="0"/>
              <a:t>Red Hat Fedora/Enterprise Linux</a:t>
            </a:r>
          </a:p>
          <a:p>
            <a:pPr lvl="1"/>
            <a:r>
              <a:rPr lang="en-US" altLang="zh-CN" dirty="0"/>
              <a:t>……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58223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B87A5121-C223-4B03-8315-16728771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Wireshark</a:t>
            </a:r>
            <a:r>
              <a:rPr lang="zh-CN" altLang="en-US" dirty="0"/>
              <a:t>简介（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CC9678-C8E8-4CAF-95D3-873A0BBDB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744" y="1221836"/>
            <a:ext cx="6588332" cy="5447524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9BA8B3-40C6-462F-BDB4-1C141DB3A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/>
          <a:p>
            <a:r>
              <a:rPr lang="zh-CN" altLang="en-US" dirty="0"/>
              <a:t>主界面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E1CBBBD-0310-45C3-960C-ED22EB8C58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656"/>
          <a:stretch/>
        </p:blipFill>
        <p:spPr>
          <a:xfrm>
            <a:off x="2648744" y="1221836"/>
            <a:ext cx="6588331" cy="3287284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105FDAA-BB1F-494A-B197-CE49AE433FEC}"/>
              </a:ext>
            </a:extLst>
          </p:cNvPr>
          <p:cNvCxnSpPr>
            <a:cxnSpLocks/>
          </p:cNvCxnSpPr>
          <p:nvPr/>
        </p:nvCxnSpPr>
        <p:spPr bwMode="auto">
          <a:xfrm flipH="1">
            <a:off x="1567186" y="3501008"/>
            <a:ext cx="1225574" cy="88453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6270077-9E81-4E03-80C3-1B3E13D60A7D}"/>
              </a:ext>
            </a:extLst>
          </p:cNvPr>
          <p:cNvCxnSpPr>
            <a:cxnSpLocks/>
          </p:cNvCxnSpPr>
          <p:nvPr/>
        </p:nvCxnSpPr>
        <p:spPr bwMode="auto">
          <a:xfrm flipH="1">
            <a:off x="1591036" y="3645024"/>
            <a:ext cx="1201724" cy="516598"/>
          </a:xfrm>
          <a:prstGeom prst="straightConnector1">
            <a:avLst/>
          </a:prstGeom>
          <a:ln w="28575"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BD2C5E8-590E-42D2-93C1-5907FCA6FAF5}"/>
              </a:ext>
            </a:extLst>
          </p:cNvPr>
          <p:cNvCxnSpPr>
            <a:cxnSpLocks/>
            <a:endCxn id="14" idx="3"/>
          </p:cNvCxnSpPr>
          <p:nvPr/>
        </p:nvCxnSpPr>
        <p:spPr bwMode="auto">
          <a:xfrm flipH="1">
            <a:off x="1591037" y="3789040"/>
            <a:ext cx="1201723" cy="7200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577F015-BBFC-4124-879B-11342895BF7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91036" y="3573016"/>
            <a:ext cx="1201724" cy="3600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2006741-A41F-46A7-B03A-F5944AD01DA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591036" y="3284984"/>
            <a:ext cx="1201724" cy="87663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46" name="标题 1">
            <a:extLst>
              <a:ext uri="{FF2B5EF4-FFF2-40B4-BE49-F238E27FC236}">
                <a16:creationId xmlns:a16="http://schemas.microsoft.com/office/drawing/2014/main" id="{B87A5121-C223-4B03-8315-16728771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Wireshark</a:t>
            </a:r>
            <a:r>
              <a:rPr lang="zh-CN" altLang="en-US" dirty="0"/>
              <a:t>简介（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9BA8B3-40C6-462F-BDB4-1C141DB3A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/>
          <a:p>
            <a:r>
              <a:rPr lang="zh-CN" altLang="en-US" dirty="0"/>
              <a:t>各层信息</a:t>
            </a:r>
          </a:p>
        </p:txBody>
      </p:sp>
      <p:sp useBgFill="1">
        <p:nvSpPr>
          <p:cNvPr id="7" name="等腰三角形 6">
            <a:extLst>
              <a:ext uri="{FF2B5EF4-FFF2-40B4-BE49-F238E27FC236}">
                <a16:creationId xmlns:a16="http://schemas.microsoft.com/office/drawing/2014/main" id="{5920D3B2-599C-47EA-8226-7C2A08F3AEBE}"/>
              </a:ext>
            </a:extLst>
          </p:cNvPr>
          <p:cNvSpPr/>
          <p:nvPr/>
        </p:nvSpPr>
        <p:spPr bwMode="auto">
          <a:xfrm>
            <a:off x="495300" y="4707954"/>
            <a:ext cx="628908" cy="576064"/>
          </a:xfrm>
          <a:prstGeom prst="triangle">
            <a:avLst>
              <a:gd name="adj" fmla="val 0"/>
            </a:avLst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E7D3720-59C2-4FC0-A716-9B97E1132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01" y="3010581"/>
            <a:ext cx="1341236" cy="1700931"/>
          </a:xfrm>
          <a:prstGeom prst="rect">
            <a:avLst/>
          </a:prstGeom>
        </p:spPr>
      </p:pic>
      <p:sp>
        <p:nvSpPr>
          <p:cNvPr id="38" name="文本框 4">
            <a:extLst>
              <a:ext uri="{FF2B5EF4-FFF2-40B4-BE49-F238E27FC236}">
                <a16:creationId xmlns:a16="http://schemas.microsoft.com/office/drawing/2014/main" id="{53C64B94-88F5-4801-B838-C572B4824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754" y="4880632"/>
            <a:ext cx="8490148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Frame:   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物理层的数据帧概况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Ethernet II: 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数据链路层以太网帧头部信息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 Protocol Version 4: 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互联网层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包头部信息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Transmission Control Protocol:  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传输层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的数据段头部信息，此处是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Hypertext Transfer Protocol:  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应用层的信息，此处是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3553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1</a:t>
            </a:r>
            <a:r>
              <a:rPr lang="zh-CN" altLang="en-US" dirty="0"/>
              <a:t>：捕获观察并分析帧结构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熟悉</a:t>
            </a:r>
            <a:r>
              <a:rPr lang="en-US" altLang="zh-CN" dirty="0"/>
              <a:t>Wireshark</a:t>
            </a:r>
            <a:r>
              <a:rPr lang="zh-CN" altLang="en-US" dirty="0"/>
              <a:t>的基本使用</a:t>
            </a:r>
            <a:endParaRPr lang="en-US" altLang="zh-CN" dirty="0"/>
          </a:p>
          <a:p>
            <a:r>
              <a:rPr lang="zh-CN" altLang="en-US" dirty="0"/>
              <a:t>捕获与分析</a:t>
            </a:r>
            <a:r>
              <a:rPr lang="en-US" altLang="zh-CN" dirty="0"/>
              <a:t>Ethernet II</a:t>
            </a:r>
            <a:r>
              <a:rPr lang="zh-CN" altLang="en-US" dirty="0"/>
              <a:t>以太帧格式</a:t>
            </a:r>
            <a:endParaRPr lang="en-US" altLang="zh-CN" dirty="0"/>
          </a:p>
          <a:p>
            <a:pPr lvl="1"/>
            <a:r>
              <a:rPr lang="zh-CN" altLang="en-US" dirty="0"/>
              <a:t>捕获任意</a:t>
            </a:r>
            <a:r>
              <a:rPr lang="en-US" altLang="zh-CN" dirty="0"/>
              <a:t>Ethernet II</a:t>
            </a:r>
            <a:r>
              <a:rPr lang="zh-CN" altLang="en-US" dirty="0"/>
              <a:t>帧并分析其内容，注意对比和课本介绍的帧格式的差别</a:t>
            </a:r>
            <a:endParaRPr lang="en-US" altLang="zh-CN" dirty="0"/>
          </a:p>
          <a:p>
            <a:pPr lvl="1"/>
            <a:r>
              <a:rPr lang="zh-CN" altLang="en-US" dirty="0"/>
              <a:t>观察并分析</a:t>
            </a:r>
            <a:r>
              <a:rPr lang="en-US" altLang="zh-CN" dirty="0"/>
              <a:t>Ethernet II</a:t>
            </a:r>
            <a:r>
              <a:rPr lang="zh-CN" altLang="en-US" dirty="0"/>
              <a:t>中的数据填充情况</a:t>
            </a:r>
            <a:endParaRPr lang="en-US" altLang="zh-CN" dirty="0"/>
          </a:p>
          <a:p>
            <a:r>
              <a:rPr lang="zh-CN" altLang="en-US" dirty="0"/>
              <a:t>捕获与分析</a:t>
            </a:r>
            <a:r>
              <a:rPr lang="en-US" altLang="zh-CN" dirty="0"/>
              <a:t>IEEE 802.3</a:t>
            </a:r>
            <a:r>
              <a:rPr lang="zh-CN" altLang="en-US" dirty="0"/>
              <a:t>帧格式（可选）</a:t>
            </a:r>
            <a:endParaRPr lang="en-US" altLang="zh-CN" dirty="0"/>
          </a:p>
          <a:p>
            <a:pPr lvl="1"/>
            <a:r>
              <a:rPr lang="zh-CN" altLang="en-US" dirty="0"/>
              <a:t>捕获任意</a:t>
            </a:r>
            <a:r>
              <a:rPr lang="en-US" altLang="zh-CN" dirty="0"/>
              <a:t>Ethernet II</a:t>
            </a:r>
            <a:r>
              <a:rPr lang="zh-CN" altLang="en-US" dirty="0"/>
              <a:t>帧并分析其内容</a:t>
            </a:r>
            <a:endParaRPr lang="en-US" altLang="zh-CN" dirty="0"/>
          </a:p>
          <a:p>
            <a:pPr lvl="1"/>
            <a:r>
              <a:rPr lang="zh-CN" altLang="en-US" dirty="0"/>
              <a:t>比较</a:t>
            </a:r>
            <a:r>
              <a:rPr lang="en-US" altLang="zh-CN" dirty="0"/>
              <a:t>Ethernet II</a:t>
            </a:r>
            <a:r>
              <a:rPr lang="zh-CN" altLang="en-US" dirty="0"/>
              <a:t>以太帧格式和</a:t>
            </a:r>
            <a:r>
              <a:rPr lang="en-US" altLang="zh-CN" dirty="0"/>
              <a:t>IEEE 802.3</a:t>
            </a:r>
            <a:r>
              <a:rPr lang="zh-CN" altLang="en-US" dirty="0"/>
              <a:t>帧格式的区别与联系</a:t>
            </a:r>
            <a:endParaRPr lang="en-US" altLang="zh-CN" dirty="0"/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2959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关于实验的提交（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要求采用电子版方式提交。</a:t>
            </a:r>
          </a:p>
          <a:p>
            <a:r>
              <a:rPr lang="zh-CN" altLang="en-US" dirty="0"/>
              <a:t>上传</a:t>
            </a:r>
            <a:r>
              <a:rPr lang="en-US" altLang="zh-CN" dirty="0"/>
              <a:t>ftp</a:t>
            </a:r>
          </a:p>
          <a:p>
            <a:pPr lvl="1"/>
            <a:r>
              <a:rPr lang="en-US" altLang="zh-CN" dirty="0"/>
              <a:t>IP</a:t>
            </a:r>
            <a:r>
              <a:rPr lang="zh-CN" altLang="en-US" dirty="0"/>
              <a:t>地址：</a:t>
            </a:r>
            <a:r>
              <a:rPr lang="en-US" altLang="zh-CN" dirty="0"/>
              <a:t>121.192.180.215</a:t>
            </a:r>
          </a:p>
          <a:p>
            <a:pPr lvl="1"/>
            <a:r>
              <a:rPr lang="zh-CN" altLang="en-US" dirty="0"/>
              <a:t>用户名：</a:t>
            </a:r>
            <a:r>
              <a:rPr lang="en-US" altLang="zh-CN" dirty="0" err="1"/>
              <a:t>cognetup</a:t>
            </a:r>
            <a:endParaRPr lang="en-US" altLang="zh-CN" dirty="0"/>
          </a:p>
          <a:p>
            <a:pPr lvl="1"/>
            <a:r>
              <a:rPr lang="zh-CN" altLang="en-US" dirty="0"/>
              <a:t>口　令：</a:t>
            </a:r>
            <a:r>
              <a:rPr lang="en-US" altLang="zh-CN" dirty="0"/>
              <a:t>cognet123up</a:t>
            </a:r>
          </a:p>
          <a:p>
            <a:r>
              <a:rPr lang="zh-CN" altLang="en-US" dirty="0"/>
              <a:t>提交的文件名规则：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en-US" altLang="zh-CN" dirty="0"/>
              <a:t>&lt;</a:t>
            </a:r>
            <a:r>
              <a:rPr lang="zh-CN" altLang="en-US" dirty="0"/>
              <a:t>学号</a:t>
            </a:r>
            <a:r>
              <a:rPr lang="en-US" altLang="zh-CN" dirty="0"/>
              <a:t>&gt;_&lt;</a:t>
            </a:r>
            <a:r>
              <a:rPr lang="zh-CN" altLang="en-US" dirty="0"/>
              <a:t>实验号</a:t>
            </a:r>
            <a:r>
              <a:rPr lang="en-US" altLang="zh-CN" dirty="0"/>
              <a:t>&gt;.</a:t>
            </a:r>
            <a:r>
              <a:rPr lang="en-US" altLang="zh-CN" dirty="0" err="1"/>
              <a:t>rar</a:t>
            </a:r>
            <a:br>
              <a:rPr lang="en-US" altLang="zh-CN" dirty="0"/>
            </a:br>
            <a:r>
              <a:rPr lang="zh-CN" altLang="en-US" dirty="0"/>
              <a:t>如，学号为</a:t>
            </a:r>
            <a:r>
              <a:rPr lang="en-US" altLang="zh-CN" dirty="0"/>
              <a:t>315xxxxxxxx001</a:t>
            </a:r>
            <a:r>
              <a:rPr lang="zh-CN" altLang="en-US" dirty="0"/>
              <a:t>，实验号为</a:t>
            </a:r>
            <a:r>
              <a:rPr lang="en-US" altLang="zh-CN" dirty="0"/>
              <a:t>1</a:t>
            </a:r>
            <a:r>
              <a:rPr lang="zh-CN" altLang="en-US" dirty="0"/>
              <a:t>，则提交文件应命名为：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en-US" altLang="zh-CN" dirty="0"/>
              <a:t>315xxxxxxxx001_1.rar</a:t>
            </a:r>
          </a:p>
        </p:txBody>
      </p:sp>
    </p:spTree>
    <p:extLst>
      <p:ext uri="{BB962C8B-B14F-4D97-AF65-F5344CB8AC3E}">
        <p14:creationId xmlns:p14="http://schemas.microsoft.com/office/powerpoint/2010/main" val="1884651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关于实验的提交（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实验报告格式</a:t>
            </a:r>
            <a:endParaRPr lang="en-US" altLang="zh-CN" dirty="0"/>
          </a:p>
          <a:p>
            <a:pPr lvl="1"/>
            <a:r>
              <a:rPr lang="zh-CN" altLang="zh-CN" dirty="0"/>
              <a:t>一、实验名称</a:t>
            </a:r>
          </a:p>
          <a:p>
            <a:pPr lvl="1"/>
            <a:r>
              <a:rPr lang="zh-CN" altLang="en-US" dirty="0"/>
              <a:t>二</a:t>
            </a:r>
            <a:r>
              <a:rPr lang="zh-CN" altLang="zh-CN" dirty="0"/>
              <a:t>、实验任务</a:t>
            </a:r>
          </a:p>
          <a:p>
            <a:pPr lvl="1"/>
            <a:r>
              <a:rPr lang="zh-CN" altLang="en-US" dirty="0"/>
              <a:t>三</a:t>
            </a:r>
            <a:r>
              <a:rPr lang="zh-CN" altLang="zh-CN" dirty="0"/>
              <a:t>、实验环境及工具</a:t>
            </a:r>
            <a:endParaRPr lang="en-US" altLang="zh-CN" dirty="0"/>
          </a:p>
          <a:p>
            <a:pPr lvl="1"/>
            <a:r>
              <a:rPr lang="zh-CN" altLang="en-US" dirty="0"/>
              <a:t>四、实验记录与结果分析</a:t>
            </a:r>
            <a:endParaRPr lang="en-US" altLang="zh-CN" dirty="0"/>
          </a:p>
          <a:p>
            <a:pPr lvl="1"/>
            <a:r>
              <a:rPr lang="zh-CN" altLang="en-US" dirty="0"/>
              <a:t>五、遇到的问题与解决</a:t>
            </a:r>
          </a:p>
        </p:txBody>
      </p:sp>
    </p:spTree>
    <p:extLst>
      <p:ext uri="{BB962C8B-B14F-4D97-AF65-F5344CB8AC3E}">
        <p14:creationId xmlns:p14="http://schemas.microsoft.com/office/powerpoint/2010/main" val="43030425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1704</TotalTime>
  <Words>344</Words>
  <Application>Microsoft Office PowerPoint</Application>
  <PresentationFormat>A4 纸张(210x297 毫米)</PresentationFormat>
  <Paragraphs>56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Presentation</vt:lpstr>
      <vt:lpstr>Wireshark基本使用</vt:lpstr>
      <vt:lpstr>课程概况</vt:lpstr>
      <vt:lpstr>Wireshark简介（1）</vt:lpstr>
      <vt:lpstr>Wireshark简介（2）</vt:lpstr>
      <vt:lpstr>Wireshark简介（3）</vt:lpstr>
      <vt:lpstr>Wireshark简介（4）</vt:lpstr>
      <vt:lpstr>实验1：捕获观察并分析帧结构</vt:lpstr>
      <vt:lpstr>关于实验的提交（1）</vt:lpstr>
      <vt:lpstr>关于实验的提交（2）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</cp:lastModifiedBy>
  <cp:revision>57</cp:revision>
  <dcterms:created xsi:type="dcterms:W3CDTF">2016-10-01T05:27:09Z</dcterms:created>
  <dcterms:modified xsi:type="dcterms:W3CDTF">2024-03-27T00:54:51Z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