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575" r:id="rId3"/>
    <p:sldId id="257" r:id="rId4"/>
    <p:sldId id="568" r:id="rId5"/>
    <p:sldId id="258" r:id="rId6"/>
    <p:sldId id="259" r:id="rId7"/>
    <p:sldId id="564" r:id="rId8"/>
    <p:sldId id="565" r:id="rId9"/>
    <p:sldId id="566" r:id="rId10"/>
    <p:sldId id="569" r:id="rId11"/>
    <p:sldId id="570" r:id="rId12"/>
    <p:sldId id="571" r:id="rId13"/>
    <p:sldId id="572" r:id="rId14"/>
    <p:sldId id="573" r:id="rId15"/>
    <p:sldId id="576" r:id="rId16"/>
    <p:sldId id="574" r:id="rId17"/>
    <p:sldId id="577" r:id="rId18"/>
    <p:sldId id="578" r:id="rId19"/>
    <p:sldId id="584" r:id="rId20"/>
    <p:sldId id="585" r:id="rId21"/>
    <p:sldId id="579" r:id="rId22"/>
    <p:sldId id="580" r:id="rId23"/>
    <p:sldId id="581" r:id="rId24"/>
    <p:sldId id="582" r:id="rId25"/>
    <p:sldId id="583" r:id="rId26"/>
    <p:sldId id="602" r:id="rId27"/>
    <p:sldId id="603" r:id="rId28"/>
    <p:sldId id="604" r:id="rId29"/>
    <p:sldId id="639" r:id="rId30"/>
    <p:sldId id="605" r:id="rId31"/>
    <p:sldId id="315" r:id="rId32"/>
    <p:sldId id="316" r:id="rId33"/>
    <p:sldId id="629" r:id="rId34"/>
    <p:sldId id="630" r:id="rId35"/>
    <p:sldId id="631" r:id="rId36"/>
    <p:sldId id="632" r:id="rId37"/>
    <p:sldId id="607" r:id="rId38"/>
    <p:sldId id="608" r:id="rId39"/>
    <p:sldId id="609" r:id="rId40"/>
    <p:sldId id="281" r:id="rId41"/>
    <p:sldId id="634" r:id="rId42"/>
    <p:sldId id="319" r:id="rId43"/>
    <p:sldId id="283" r:id="rId44"/>
    <p:sldId id="278" r:id="rId45"/>
    <p:sldId id="611" r:id="rId46"/>
    <p:sldId id="636" r:id="rId47"/>
    <p:sldId id="637" r:id="rId48"/>
    <p:sldId id="635" r:id="rId49"/>
    <p:sldId id="638" r:id="rId50"/>
    <p:sldId id="586" r:id="rId51"/>
    <p:sldId id="617" r:id="rId52"/>
    <p:sldId id="612" r:id="rId53"/>
    <p:sldId id="613" r:id="rId54"/>
    <p:sldId id="614" r:id="rId55"/>
    <p:sldId id="615" r:id="rId56"/>
    <p:sldId id="616" r:id="rId57"/>
    <p:sldId id="610" r:id="rId58"/>
    <p:sldId id="618" r:id="rId59"/>
    <p:sldId id="619" r:id="rId60"/>
    <p:sldId id="620" r:id="rId61"/>
    <p:sldId id="621" r:id="rId62"/>
    <p:sldId id="622" r:id="rId63"/>
    <p:sldId id="623" r:id="rId64"/>
    <p:sldId id="624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55509-78E6-4131-8DDB-36F9F1793BDB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25381-7F01-45C5-902E-7D1162343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55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7FA93-6596-4F49-BF34-D22CCE29A22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45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F3EF-4EC3-459A-A03A-20A31D3F4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DBCD1-DF71-45E4-B1E9-AD97711B8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D8D69-AF21-4869-A38E-5132293D0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0E20-81C9-493C-8740-F3580C18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AA4C1-6AB0-4903-9C40-C28785CF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91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8F87-AC8C-4822-AEFA-80047132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ECC94-D975-4EA8-BADB-273AF1807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F5805-6819-4626-8FAC-BF592A7C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87D69-5A02-4D8A-B277-5DF590CD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FF372-1EB3-4C1F-8D76-191E509C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40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5C39-5041-4B78-818C-D97157FB2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9A495-5A79-4870-B55B-BCAE17387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6D178-1595-419D-AD7C-EE06637C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B3EEF-524A-4712-9947-DEE52690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B3C29-70F1-4548-8474-9A1557AF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E8BFF-FEE5-4355-B6A2-07A598AE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7F92-66AB-4714-A3E8-AB2916F87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5303A-19C3-43A8-B27B-B34087102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45850-A3C8-4376-A933-BA40A1CF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CF3BD-C4C5-48AD-AA3B-3FC946DC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79603-568C-4A99-AF91-FA4FB0E6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25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DA4F-071B-4D08-89D5-DCA06B4D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69541-0081-469D-B2C5-542EE5F74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0F86B-4F79-4040-A0D5-52A1138A3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C1A99-A778-4393-8BBF-BD756DCDC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8DBFCE-E92D-4282-BB15-7BCAAB30F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C81899-CFCF-4B91-AC66-EDC3247D8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1503A4-6D78-4DA7-8892-2B745224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87119-7745-480A-AFED-A0C20D23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61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128D-0B1A-4E7C-8069-02E76D98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E7C99-2B4B-4B44-B387-92603466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E415B-ACD0-40A0-A143-785DBB46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D1FF3-FAA9-422C-9432-28A2BE62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48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256ED2-EC18-43D7-B7AC-32F32508E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19D6C-0014-42B5-8D38-62AB3AD0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3F5DE-9671-4855-9672-74330F90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19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360C-3E3F-4DEC-86D1-11991A85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4A5C4-5F3C-4146-9967-8C8CB3547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579EB-5B9C-4937-8441-8D71C33A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365F6-68C3-4718-B7CE-5DF76808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3ABE2-E1F3-4CA1-A156-D22E564A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66996-CE93-40A4-ADA7-E68EDE06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93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8352-21AC-46B6-BF50-89B9D09F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2262A-7AD2-4526-A8E5-DBFF7E245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C3506-11F6-4C43-ACF0-1497B8320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45279-479F-4443-A09C-0D3E6034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7BDF1-AFE1-45D4-97F0-FD75C035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FFD06-FA5E-42EA-8192-15C31E76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11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8764-DF9B-4837-B4E4-69097DDA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9A93F-C6CB-4DEA-A3BB-01FB58F4B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BDFA4-5A97-406F-840A-1FC369C5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B3787-CA36-479B-818F-FDBC39CE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99471-45E7-4C53-B96B-CDEB5938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610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3B49F-AADC-483C-A446-4FC9F44E8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992BB-A2E7-40F1-90A4-F2EB6B700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71378-F409-476B-9733-EEC5548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93B1-AB09-4885-A444-83747A31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59451-DB8D-49E7-AD4B-844DE6A1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47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88130-0EB9-46CC-BD41-D043F8BC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80D47-70A2-4D8B-B432-5857EDBC3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0C320-2573-483A-9DA6-516A26D70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B3D35-7719-4F36-B8F4-347FDBDB60A2}" type="datetimeFigureOut">
              <a:rPr lang="zh-CN" altLang="en-US" smtClean="0"/>
              <a:t>2023-3-27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6461A-EFF2-487E-94BF-D4D79BF4E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A07A-EC82-47FD-B5F1-C83382A4D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0345-E126-408F-AC76-89CFCD1B2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4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33.jpeg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jpe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13" Type="http://schemas.openxmlformats.org/officeDocument/2006/relationships/image" Target="../media/image111.jpeg"/><Relationship Id="rId3" Type="http://schemas.openxmlformats.org/officeDocument/2006/relationships/image" Target="../media/image101.jpeg"/><Relationship Id="rId7" Type="http://schemas.openxmlformats.org/officeDocument/2006/relationships/image" Target="../media/image105.jpeg"/><Relationship Id="rId12" Type="http://schemas.openxmlformats.org/officeDocument/2006/relationships/image" Target="../media/image110.jpeg"/><Relationship Id="rId17" Type="http://schemas.openxmlformats.org/officeDocument/2006/relationships/hyperlink" Target="http://www.vision.caltech.edu/Image_Datasets/Caltech101/Caltech101.html" TargetMode="External"/><Relationship Id="rId2" Type="http://schemas.openxmlformats.org/officeDocument/2006/relationships/image" Target="../media/image100.jpeg"/><Relationship Id="rId16" Type="http://schemas.openxmlformats.org/officeDocument/2006/relationships/image" Target="../media/image1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jpeg"/><Relationship Id="rId11" Type="http://schemas.openxmlformats.org/officeDocument/2006/relationships/image" Target="../media/image109.jpeg"/><Relationship Id="rId5" Type="http://schemas.openxmlformats.org/officeDocument/2006/relationships/image" Target="../media/image103.jpeg"/><Relationship Id="rId15" Type="http://schemas.openxmlformats.org/officeDocument/2006/relationships/image" Target="../media/image113.jpeg"/><Relationship Id="rId10" Type="http://schemas.openxmlformats.org/officeDocument/2006/relationships/image" Target="../media/image108.jpeg"/><Relationship Id="rId4" Type="http://schemas.openxmlformats.org/officeDocument/2006/relationships/image" Target="../media/image102.jpeg"/><Relationship Id="rId9" Type="http://schemas.openxmlformats.org/officeDocument/2006/relationships/image" Target="../media/image107.jpeg"/><Relationship Id="rId14" Type="http://schemas.openxmlformats.org/officeDocument/2006/relationships/image" Target="../media/image112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gif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gif"/><Relationship Id="rId4" Type="http://schemas.openxmlformats.org/officeDocument/2006/relationships/image" Target="../media/image119.gi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s.google.com/site/vggpracticals/category-level-recognition" TargetMode="External"/><Relationship Id="rId3" Type="http://schemas.openxmlformats.org/officeDocument/2006/relationships/hyperlink" Target="http://cs.brown.edu/courses/cs143/lectures/2020Spring_11_RecognitionAndBagOfWords.pptx" TargetMode="External"/><Relationship Id="rId7" Type="http://schemas.openxmlformats.org/officeDocument/2006/relationships/hyperlink" Target="https://www.robots.ox.ac.uk/~vgg/practicals/instance-recognition/index.html" TargetMode="External"/><Relationship Id="rId2" Type="http://schemas.openxmlformats.org/officeDocument/2006/relationships/hyperlink" Target="http://www.robots.ox.ac.uk/~vedaldi/assets/teach/vedaldi14bmvc-tutorial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lfeat.org/applications/apps.html" TargetMode="External"/><Relationship Id="rId5" Type="http://schemas.openxmlformats.org/officeDocument/2006/relationships/hyperlink" Target="http://cat.cvc.uab.es/~joost/data/master/project_slides.ppt" TargetMode="External"/><Relationship Id="rId4" Type="http://schemas.openxmlformats.org/officeDocument/2006/relationships/hyperlink" Target="http://vision.stanford.edu/teaching/cs131_fall1718/files/14_BoW_bayes.pdf" TargetMode="External"/><Relationship Id="rId9" Type="http://schemas.openxmlformats.org/officeDocument/2006/relationships/hyperlink" Target="http://cat.cvc.uab.es/~joost/softwar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E4D6-54BB-4BE3-AAB6-8F63CA8A1E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5.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视觉词袋模型</a:t>
            </a:r>
            <a:br>
              <a:rPr lang="en-US" altLang="zh-CN" b="1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3600" dirty="0">
                <a:solidFill>
                  <a:schemeClr val="accent6"/>
                </a:solidFill>
                <a:latin typeface="+mn-lt"/>
                <a:ea typeface="+mn-ea"/>
                <a:cs typeface="+mn-ea"/>
                <a:sym typeface="+mn-lt"/>
              </a:rPr>
              <a:t>Bag of Visual Words</a:t>
            </a:r>
            <a:endParaRPr lang="zh-CN" altLang="en-US" dirty="0">
              <a:solidFill>
                <a:schemeClr val="accent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CE695-CAE5-4C30-92A5-F2531AB7B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8612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6246-A2BE-4A95-B00F-9B172244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9011-DF62-4B02-B9AC-A6A4499E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简介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视觉词袋模型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改进的视觉词袋模型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图像检索</a:t>
            </a:r>
          </a:p>
        </p:txBody>
      </p:sp>
    </p:spTree>
    <p:extLst>
      <p:ext uri="{BB962C8B-B14F-4D97-AF65-F5344CB8AC3E}">
        <p14:creationId xmlns:p14="http://schemas.microsoft.com/office/powerpoint/2010/main" val="381225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2773-E546-47CF-B6AE-2E72F7B2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经典的视觉识别任务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3F8FD-684D-4618-AB57-4A3073EB8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44C2AC-EB27-49FA-9828-1D01072BFDF5}"/>
              </a:ext>
            </a:extLst>
          </p:cNvPr>
          <p:cNvGrpSpPr/>
          <p:nvPr/>
        </p:nvGrpSpPr>
        <p:grpSpPr>
          <a:xfrm>
            <a:off x="738894" y="2506499"/>
            <a:ext cx="10714211" cy="2624956"/>
            <a:chOff x="738894" y="2379751"/>
            <a:chExt cx="10714211" cy="26249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DCE93C-19A6-49A0-9E8B-B2A154E6F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8894" y="2379751"/>
              <a:ext cx="10714211" cy="225562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D2D436-A2A6-415E-893B-E95A7AD6B4BE}"/>
                </a:ext>
              </a:extLst>
            </p:cNvPr>
            <p:cNvSpPr/>
            <p:nvPr/>
          </p:nvSpPr>
          <p:spPr>
            <a:xfrm>
              <a:off x="1428886" y="4635375"/>
              <a:ext cx="11047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图像分类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59E26FA-8E25-4C95-B43E-7F84A552B91D}"/>
                </a:ext>
              </a:extLst>
            </p:cNvPr>
            <p:cNvSpPr/>
            <p:nvPr/>
          </p:nvSpPr>
          <p:spPr>
            <a:xfrm>
              <a:off x="4134050" y="46353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语义分割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D141F0-94A4-496D-BF0B-9395FFAC0798}"/>
                </a:ext>
              </a:extLst>
            </p:cNvPr>
            <p:cNvSpPr/>
            <p:nvPr/>
          </p:nvSpPr>
          <p:spPr>
            <a:xfrm>
              <a:off x="6949956" y="46353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目标检测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D62CB7-FE26-49F0-ABD3-094E207B7040}"/>
                </a:ext>
              </a:extLst>
            </p:cNvPr>
            <p:cNvSpPr/>
            <p:nvPr/>
          </p:nvSpPr>
          <p:spPr>
            <a:xfrm>
              <a:off x="9574809" y="46353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实例分割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9863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3805-0423-463F-BE1B-28E122E5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F4B4-F64F-4028-A499-1768594A6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计算视觉视觉的主要任务之一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E8EFE2-C758-4969-A2AA-6F7A3E306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13" y="2472430"/>
            <a:ext cx="2260976" cy="3611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A6465C-3344-4300-A023-8B4D136ECE19}"/>
              </a:ext>
            </a:extLst>
          </p:cNvPr>
          <p:cNvSpPr txBox="1"/>
          <p:nvPr/>
        </p:nvSpPr>
        <p:spPr>
          <a:xfrm>
            <a:off x="7448733" y="3952462"/>
            <a:ext cx="822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cs typeface="+mn-ea"/>
                <a:sym typeface="+mn-lt"/>
              </a:rPr>
              <a:t>Cat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980CFC1-40B4-45B5-9E5E-396CF93B6A2E}"/>
              </a:ext>
            </a:extLst>
          </p:cNvPr>
          <p:cNvSpPr/>
          <p:nvPr/>
        </p:nvSpPr>
        <p:spPr>
          <a:xfrm>
            <a:off x="5666375" y="4098656"/>
            <a:ext cx="1405953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174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9830-E139-4FD9-9B9C-2867A890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56201-B564-476D-9C6F-6FE6174E9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数据驱动的方法：</a:t>
            </a:r>
            <a:r>
              <a:rPr lang="zh-CN" altLang="en-US" dirty="0">
                <a:cs typeface="+mn-ea"/>
                <a:sym typeface="+mn-lt"/>
              </a:rPr>
              <a:t>构建机器学习模型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7619F5-C2D7-4E22-A3D2-5CA9C7B0A0D0}"/>
              </a:ext>
            </a:extLst>
          </p:cNvPr>
          <p:cNvSpPr txBox="1">
            <a:spLocks/>
          </p:cNvSpPr>
          <p:nvPr/>
        </p:nvSpPr>
        <p:spPr>
          <a:xfrm>
            <a:off x="409776" y="6311900"/>
            <a:ext cx="7423908" cy="36512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B0F0"/>
                </a:solidFill>
                <a:cs typeface="+mn-ea"/>
                <a:sym typeface="+mn-lt"/>
              </a:rPr>
              <a:t>The Pascal VOC challenge: a competition on image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E0132-DF01-4CAB-99DE-427FC7296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68" y="2542844"/>
            <a:ext cx="6853616" cy="3634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81FFAC7-67F2-4F36-A89C-347AB18266E4}"/>
              </a:ext>
            </a:extLst>
          </p:cNvPr>
          <p:cNvGrpSpPr/>
          <p:nvPr/>
        </p:nvGrpSpPr>
        <p:grpSpPr>
          <a:xfrm>
            <a:off x="8185229" y="3058373"/>
            <a:ext cx="3520116" cy="2298210"/>
            <a:chOff x="8642429" y="3109173"/>
            <a:chExt cx="3520116" cy="229821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39E9AF-7A61-4BF4-9577-C73AAE6D3B1D}"/>
                </a:ext>
              </a:extLst>
            </p:cNvPr>
            <p:cNvGrpSpPr/>
            <p:nvPr/>
          </p:nvGrpSpPr>
          <p:grpSpPr>
            <a:xfrm>
              <a:off x="8642429" y="3131789"/>
              <a:ext cx="3463845" cy="2275594"/>
              <a:chOff x="8608563" y="2302055"/>
              <a:chExt cx="3463845" cy="22755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275D1D4-5559-46E0-ADD8-3704BEAB8132}"/>
                      </a:ext>
                    </a:extLst>
                  </p:cNvPr>
                  <p:cNvSpPr txBox="1"/>
                  <p:nvPr/>
                </p:nvSpPr>
                <p:spPr>
                  <a:xfrm>
                    <a:off x="9118601" y="3121223"/>
                    <a:ext cx="2783262" cy="61555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sz="40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g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))</m:t>
                          </m:r>
                        </m:oMath>
                      </m:oMathPara>
                    </a14:m>
                    <a:endParaRPr lang="zh-CN" altLang="en-US" sz="4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8275D1D4-5559-46E0-ADD8-3704BEAB81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18601" y="3121223"/>
                    <a:ext cx="2783262" cy="61555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1D29D4-AD61-4178-8555-8DC6CFA04FE7}"/>
                  </a:ext>
                </a:extLst>
              </p:cNvPr>
              <p:cNvSpPr/>
              <p:nvPr/>
            </p:nvSpPr>
            <p:spPr>
              <a:xfrm>
                <a:off x="9006497" y="2302055"/>
                <a:ext cx="11208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cs typeface="+mn-ea"/>
                    <a:sym typeface="+mn-lt"/>
                  </a:rPr>
                  <a:t>Classifier</a:t>
                </a:r>
                <a:endParaRPr lang="zh-CN" altLang="en-US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58FE5FB-D964-48C4-9D6C-67451966EC9F}"/>
                  </a:ext>
                </a:extLst>
              </p:cNvPr>
              <p:cNvSpPr/>
              <p:nvPr/>
            </p:nvSpPr>
            <p:spPr>
              <a:xfrm>
                <a:off x="8608563" y="4208317"/>
                <a:ext cx="12064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cs typeface="+mn-ea"/>
                    <a:sym typeface="+mn-lt"/>
                  </a:rPr>
                  <a:t>Prediction</a:t>
                </a:r>
                <a:endParaRPr lang="zh-CN" altLang="en-US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4DB82EE-C260-43D1-A632-7BC129269C7C}"/>
                  </a:ext>
                </a:extLst>
              </p:cNvPr>
              <p:cNvSpPr/>
              <p:nvPr/>
            </p:nvSpPr>
            <p:spPr>
              <a:xfrm>
                <a:off x="11272189" y="4208317"/>
                <a:ext cx="8002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  <a:cs typeface="+mn-ea"/>
                    <a:sym typeface="+mn-lt"/>
                  </a:rPr>
                  <a:t>Image</a:t>
                </a:r>
                <a:endParaRPr lang="zh-CN" altLang="en-US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70DDC9A-B039-43C1-BFBE-CE38D153751A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 flipH="1" flipV="1">
                <a:off x="9566907" y="2671387"/>
                <a:ext cx="720562" cy="596746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362B025-DA7F-4EFF-8642-B3CDF4505DE4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 flipH="1">
                <a:off x="9211774" y="3759392"/>
                <a:ext cx="118493" cy="448925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48628F0-53BD-455E-8F2C-624DA96C1616}"/>
                  </a:ext>
                </a:extLst>
              </p:cNvPr>
              <p:cNvCxnSpPr>
                <a:cxnSpLocks/>
                <a:endCxn id="10" idx="0"/>
              </p:cNvCxnSpPr>
              <p:nvPr/>
            </p:nvCxnSpPr>
            <p:spPr>
              <a:xfrm>
                <a:off x="11272189" y="3721596"/>
                <a:ext cx="400110" cy="486721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95D947-D259-4A10-A81A-F27F16856FA6}"/>
                </a:ext>
              </a:extLst>
            </p:cNvPr>
            <p:cNvSpPr/>
            <p:nvPr/>
          </p:nvSpPr>
          <p:spPr>
            <a:xfrm>
              <a:off x="10321335" y="3109173"/>
              <a:ext cx="18412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rPr>
                <a:t>Feature Encoder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A6F144E-082B-494B-AA9A-EFF968A9C2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8108" y="3461571"/>
              <a:ext cx="472299" cy="69556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60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520A-80F6-49B8-9C5D-CDD0CFFF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图像分类的难点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0CE5-8F42-492B-8270-621EDA4F4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AE4ACED6-20CB-44F0-A861-DCC06D729C14}"/>
              </a:ext>
            </a:extLst>
          </p:cNvPr>
          <p:cNvGrpSpPr>
            <a:grpSpLocks/>
          </p:cNvGrpSpPr>
          <p:nvPr/>
        </p:nvGrpSpPr>
        <p:grpSpPr bwMode="auto">
          <a:xfrm>
            <a:off x="1645298" y="4205579"/>
            <a:ext cx="8763000" cy="2057400"/>
            <a:chOff x="240" y="2304"/>
            <a:chExt cx="5520" cy="1296"/>
          </a:xfrm>
        </p:grpSpPr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id="{F3C6CD7B-FF45-434A-A682-E3DD8FF0C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688"/>
              <a:ext cx="15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800" b="1" dirty="0">
                  <a:latin typeface="+mn-lt"/>
                  <a:cs typeface="+mn-ea"/>
                  <a:sym typeface="+mn-lt"/>
                </a:rPr>
                <a:t>Variations in pose.</a:t>
              </a:r>
              <a:endParaRPr lang="nl-NL" altLang="zh-CN" sz="1800" b="1" dirty="0">
                <a:latin typeface="+mn-lt"/>
                <a:cs typeface="+mn-ea"/>
                <a:sym typeface="+mn-lt"/>
              </a:endParaRPr>
            </a:p>
          </p:txBody>
        </p:sp>
        <p:pic>
          <p:nvPicPr>
            <p:cNvPr id="6" name="Picture 21" descr="C:\students\master09\events\event_003.jpg">
              <a:extLst>
                <a:ext uri="{FF2B5EF4-FFF2-40B4-BE49-F238E27FC236}">
                  <a16:creationId xmlns:a16="http://schemas.microsoft.com/office/drawing/2014/main" id="{A65063E4-C09F-4D2C-ADC4-D19F97EC1B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304"/>
              <a:ext cx="1296" cy="1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2" descr="C:\students\master09\events\event_030.jpg">
              <a:extLst>
                <a:ext uri="{FF2B5EF4-FFF2-40B4-BE49-F238E27FC236}">
                  <a16:creationId xmlns:a16="http://schemas.microsoft.com/office/drawing/2014/main" id="{8BB796B3-55DA-4693-B225-7A5AC6BB41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2304"/>
              <a:ext cx="1104" cy="1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23" descr="C:\students\master09\events\event_049.jpg">
              <a:extLst>
                <a:ext uri="{FF2B5EF4-FFF2-40B4-BE49-F238E27FC236}">
                  <a16:creationId xmlns:a16="http://schemas.microsoft.com/office/drawing/2014/main" id="{8CD0776A-917E-4530-92A3-61C336F1AE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2304"/>
              <a:ext cx="1392" cy="1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52CFD49-92CB-4F39-BE2D-17BBC10CCF25}"/>
              </a:ext>
            </a:extLst>
          </p:cNvPr>
          <p:cNvGrpSpPr/>
          <p:nvPr/>
        </p:nvGrpSpPr>
        <p:grpSpPr>
          <a:xfrm>
            <a:off x="1645298" y="1825625"/>
            <a:ext cx="9322837" cy="1981200"/>
            <a:chOff x="381000" y="1371600"/>
            <a:chExt cx="9322837" cy="1981200"/>
          </a:xfrm>
        </p:grpSpPr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D92E7C46-D9CB-404B-9CAB-0489C1C26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599" y="1752600"/>
              <a:ext cx="299823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800" b="1" dirty="0">
                  <a:latin typeface="+mn-lt"/>
                  <a:cs typeface="+mn-ea"/>
                  <a:sym typeface="+mn-lt"/>
                </a:rPr>
                <a:t>Variations in viewpoint and zoom.</a:t>
              </a:r>
              <a:endParaRPr lang="nl-NL" altLang="zh-CN" sz="1800" b="1" dirty="0">
                <a:latin typeface="+mn-lt"/>
                <a:cs typeface="+mn-ea"/>
                <a:sym typeface="+mn-lt"/>
              </a:endParaRPr>
            </a:p>
          </p:txBody>
        </p:sp>
        <p:pic>
          <p:nvPicPr>
            <p:cNvPr id="11" name="Picture 18" descr="C:\students\master09\events\event_058.jpg">
              <a:extLst>
                <a:ext uri="{FF2B5EF4-FFF2-40B4-BE49-F238E27FC236}">
                  <a16:creationId xmlns:a16="http://schemas.microsoft.com/office/drawing/2014/main" id="{7C8B5F2F-828A-46AD-A239-9020E69862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371600"/>
              <a:ext cx="1452563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19" descr="C:\students\master09\events\event_060.jpg">
              <a:extLst>
                <a:ext uri="{FF2B5EF4-FFF2-40B4-BE49-F238E27FC236}">
                  <a16:creationId xmlns:a16="http://schemas.microsoft.com/office/drawing/2014/main" id="{553973F0-0F9F-4683-9673-B8B35F2F98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1371600"/>
              <a:ext cx="1485900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5" descr="C:\students\master09\events\event_064.jpg">
              <a:extLst>
                <a:ext uri="{FF2B5EF4-FFF2-40B4-BE49-F238E27FC236}">
                  <a16:creationId xmlns:a16="http://schemas.microsoft.com/office/drawing/2014/main" id="{376600EF-BEF1-4A25-A628-4428186B1C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1371600"/>
              <a:ext cx="1458913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6" descr="C:\students\master09\events\event_067.jpg">
              <a:extLst>
                <a:ext uri="{FF2B5EF4-FFF2-40B4-BE49-F238E27FC236}">
                  <a16:creationId xmlns:a16="http://schemas.microsoft.com/office/drawing/2014/main" id="{AE57ED54-5A5A-4527-8513-AF4770A09F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1400" y="1371600"/>
              <a:ext cx="1327150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3940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2A88-E2D9-43F0-B03F-39AEEBA9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图像分类的难点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4ACD50-5DB0-4923-8E16-7A84DCF9FD38}"/>
              </a:ext>
            </a:extLst>
          </p:cNvPr>
          <p:cNvGrpSpPr/>
          <p:nvPr/>
        </p:nvGrpSpPr>
        <p:grpSpPr>
          <a:xfrm>
            <a:off x="2209800" y="1797050"/>
            <a:ext cx="8686800" cy="1631950"/>
            <a:chOff x="457200" y="1143000"/>
            <a:chExt cx="8686800" cy="1631950"/>
          </a:xfrm>
        </p:grpSpPr>
        <p:pic>
          <p:nvPicPr>
            <p:cNvPr id="7" name="Picture 8" descr="C:\images\events\event_254.jpg">
              <a:extLst>
                <a:ext uri="{FF2B5EF4-FFF2-40B4-BE49-F238E27FC236}">
                  <a16:creationId xmlns:a16="http://schemas.microsoft.com/office/drawing/2014/main" id="{C1E64584-571A-4246-8829-4C71FDA723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1143000"/>
              <a:ext cx="2057400" cy="163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9" descr="C:\images\events\event_252.jpg">
              <a:extLst>
                <a:ext uri="{FF2B5EF4-FFF2-40B4-BE49-F238E27FC236}">
                  <a16:creationId xmlns:a16="http://schemas.microsoft.com/office/drawing/2014/main" id="{DA2ECACA-3129-4375-AB6C-8D7BBF8E69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1143000"/>
              <a:ext cx="1905000" cy="1570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0" descr="C:\images\events\event_299.jpg">
              <a:extLst>
                <a:ext uri="{FF2B5EF4-FFF2-40B4-BE49-F238E27FC236}">
                  <a16:creationId xmlns:a16="http://schemas.microsoft.com/office/drawing/2014/main" id="{0CBC1FFC-E316-4A7F-A7F1-88AEE6942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7000" y="1143000"/>
              <a:ext cx="2057400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C355BC6F-C452-4741-89ED-860DE0FD6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1600200"/>
              <a:ext cx="2438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800" b="1" dirty="0">
                  <a:latin typeface="+mn-lt"/>
                  <a:cs typeface="+mn-ea"/>
                  <a:sym typeface="+mn-lt"/>
                </a:rPr>
                <a:t>Intra-class variation.</a:t>
              </a:r>
              <a:endParaRPr lang="nl-NL" altLang="zh-CN" sz="1800" b="1" dirty="0">
                <a:latin typeface="+mn-lt"/>
                <a:cs typeface="+mn-ea"/>
                <a:sym typeface="+mn-lt"/>
              </a:endParaRPr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07D152ED-A9DE-485C-8BDA-97AFE07C34C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824288"/>
            <a:ext cx="8686800" cy="2133600"/>
            <a:chOff x="288" y="1968"/>
            <a:chExt cx="5472" cy="1344"/>
          </a:xfrm>
        </p:grpSpPr>
        <p:pic>
          <p:nvPicPr>
            <p:cNvPr id="12" name="Picture 7" descr="C:\images\events\event_301.jpg">
              <a:extLst>
                <a:ext uri="{FF2B5EF4-FFF2-40B4-BE49-F238E27FC236}">
                  <a16:creationId xmlns:a16="http://schemas.microsoft.com/office/drawing/2014/main" id="{C5849BDB-A7E5-4995-B0C7-9CF2D2FD9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2112"/>
              <a:ext cx="1344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2" descr="C:\images\events\event_349.jpg">
              <a:extLst>
                <a:ext uri="{FF2B5EF4-FFF2-40B4-BE49-F238E27FC236}">
                  <a16:creationId xmlns:a16="http://schemas.microsoft.com/office/drawing/2014/main" id="{32812160-C1EC-4F6E-BFC5-C4860B9C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4" y="1968"/>
              <a:ext cx="910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3" descr="C:\images\events\event_326.jpg">
              <a:extLst>
                <a:ext uri="{FF2B5EF4-FFF2-40B4-BE49-F238E27FC236}">
                  <a16:creationId xmlns:a16="http://schemas.microsoft.com/office/drawing/2014/main" id="{EDEB1DA5-4A67-4235-983E-A5BCEB01D9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064"/>
              <a:ext cx="1344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A1434288-6223-4324-8068-C59290B08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496"/>
              <a:ext cx="15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800" b="1" dirty="0">
                  <a:latin typeface="+mn-lt"/>
                  <a:cs typeface="+mn-ea"/>
                  <a:sym typeface="+mn-lt"/>
                </a:rPr>
                <a:t>Lighting changes.</a:t>
              </a:r>
              <a:endParaRPr lang="nl-NL" altLang="zh-CN" sz="1800" b="1" dirty="0">
                <a:latin typeface="+mn-lt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496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33F48-6D39-4802-9858-B33A0D4F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图像分类的难点</a:t>
            </a:r>
          </a:p>
        </p:txBody>
      </p:sp>
      <p:grpSp>
        <p:nvGrpSpPr>
          <p:cNvPr id="7" name="Group 24">
            <a:extLst>
              <a:ext uri="{FF2B5EF4-FFF2-40B4-BE49-F238E27FC236}">
                <a16:creationId xmlns:a16="http://schemas.microsoft.com/office/drawing/2014/main" id="{4D1A5411-762D-4F99-9171-28BA5A014A43}"/>
              </a:ext>
            </a:extLst>
          </p:cNvPr>
          <p:cNvGrpSpPr>
            <a:grpSpLocks/>
          </p:cNvGrpSpPr>
          <p:nvPr/>
        </p:nvGrpSpPr>
        <p:grpSpPr bwMode="auto">
          <a:xfrm>
            <a:off x="1760375" y="3467974"/>
            <a:ext cx="9513888" cy="3028950"/>
            <a:chOff x="768" y="1824"/>
            <a:chExt cx="5993" cy="1908"/>
          </a:xfrm>
        </p:grpSpPr>
        <p:pic>
          <p:nvPicPr>
            <p:cNvPr id="8" name="Picture 18" descr="C:\images\events\event_129.jpg">
              <a:extLst>
                <a:ext uri="{FF2B5EF4-FFF2-40B4-BE49-F238E27FC236}">
                  <a16:creationId xmlns:a16="http://schemas.microsoft.com/office/drawing/2014/main" id="{4B682F38-14B8-4E94-B1EB-D23D08A462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1344" cy="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9" descr="C:\images\events\event_093.jpg">
              <a:extLst>
                <a:ext uri="{FF2B5EF4-FFF2-40B4-BE49-F238E27FC236}">
                  <a16:creationId xmlns:a16="http://schemas.microsoft.com/office/drawing/2014/main" id="{3FB412A0-605D-45E6-87E5-F3989767D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784"/>
              <a:ext cx="1344" cy="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20">
              <a:extLst>
                <a:ext uri="{FF2B5EF4-FFF2-40B4-BE49-F238E27FC236}">
                  <a16:creationId xmlns:a16="http://schemas.microsoft.com/office/drawing/2014/main" id="{58CFD0F6-0573-4764-8591-F853317C0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2667"/>
              <a:ext cx="28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800" b="1" dirty="0">
                  <a:latin typeface="+mn-lt"/>
                  <a:cs typeface="+mn-ea"/>
                  <a:sym typeface="+mn-lt"/>
                </a:rPr>
                <a:t>Similar backgrounds- Different classes.</a:t>
              </a:r>
              <a:endParaRPr lang="nl-NL" altLang="zh-CN" sz="1800" b="1" dirty="0">
                <a:latin typeface="+mn-lt"/>
                <a:cs typeface="+mn-ea"/>
                <a:sym typeface="+mn-lt"/>
              </a:endParaRPr>
            </a:p>
          </p:txBody>
        </p:sp>
        <p:pic>
          <p:nvPicPr>
            <p:cNvPr id="11" name="Picture 21" descr="C:\images\events\event_267.jpg">
              <a:extLst>
                <a:ext uri="{FF2B5EF4-FFF2-40B4-BE49-F238E27FC236}">
                  <a16:creationId xmlns:a16="http://schemas.microsoft.com/office/drawing/2014/main" id="{C2515424-66AA-4155-AA0F-83F86DF540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1824"/>
              <a:ext cx="1248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2" descr="C:\images\events\event_219.jpg">
              <a:extLst>
                <a:ext uri="{FF2B5EF4-FFF2-40B4-BE49-F238E27FC236}">
                  <a16:creationId xmlns:a16="http://schemas.microsoft.com/office/drawing/2014/main" id="{B1337006-382C-4FA9-BA53-CDAB10D430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2796"/>
              <a:ext cx="1248" cy="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0E65D5-08FB-49B2-A26D-AC80DF982259}"/>
              </a:ext>
            </a:extLst>
          </p:cNvPr>
          <p:cNvGrpSpPr/>
          <p:nvPr/>
        </p:nvGrpSpPr>
        <p:grpSpPr>
          <a:xfrm>
            <a:off x="1912775" y="1683464"/>
            <a:ext cx="8587890" cy="1379422"/>
            <a:chOff x="1371600" y="1211378"/>
            <a:chExt cx="8587890" cy="1379422"/>
          </a:xfrm>
        </p:grpSpPr>
        <p:sp>
          <p:nvSpPr>
            <p:cNvPr id="6" name="Text Box 15">
              <a:extLst>
                <a:ext uri="{FF2B5EF4-FFF2-40B4-BE49-F238E27FC236}">
                  <a16:creationId xmlns:a16="http://schemas.microsoft.com/office/drawing/2014/main" id="{2169CC9C-F091-4B3D-B513-F86F667E0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2363" y="1720334"/>
              <a:ext cx="37571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800" b="1" dirty="0">
                  <a:latin typeface="+mn-lt"/>
                  <a:cs typeface="+mn-ea"/>
                  <a:sym typeface="+mn-lt"/>
                </a:rPr>
                <a:t>Background variation.</a:t>
              </a:r>
              <a:endParaRPr lang="nl-NL" altLang="zh-CN" sz="1800" b="1" dirty="0">
                <a:latin typeface="+mn-lt"/>
                <a:cs typeface="+mn-ea"/>
                <a:sym typeface="+mn-lt"/>
              </a:endParaRPr>
            </a:p>
          </p:txBody>
        </p:sp>
        <p:pic>
          <p:nvPicPr>
            <p:cNvPr id="13" name="Picture 26" descr="C:\students\master09\events\event_001.jpg">
              <a:extLst>
                <a:ext uri="{FF2B5EF4-FFF2-40B4-BE49-F238E27FC236}">
                  <a16:creationId xmlns:a16="http://schemas.microsoft.com/office/drawing/2014/main" id="{1CC8EFC4-4838-40D9-89F9-B6636AE7D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211378"/>
              <a:ext cx="1828800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7" descr="C:\students\master09\events\event_013.jpg">
              <a:extLst>
                <a:ext uri="{FF2B5EF4-FFF2-40B4-BE49-F238E27FC236}">
                  <a16:creationId xmlns:a16="http://schemas.microsoft.com/office/drawing/2014/main" id="{943466C0-B166-48FD-868E-5CCF8FE2E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00" y="1219200"/>
              <a:ext cx="2286000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449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CBC5-9DB2-4EC8-AF1E-75CC63F2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2F8D-AD49-4A7B-B93F-16DE550C9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 细粒度图像分类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D93FD-1C16-407D-89AC-27C942C70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591" y="2499859"/>
            <a:ext cx="7584817" cy="390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CBC5-9DB2-4EC8-AF1E-75CC63F2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2F8D-AD49-4A7B-B93F-16DE550C9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多标签图像分类</a:t>
            </a:r>
          </a:p>
        </p:txBody>
      </p:sp>
      <p:pic>
        <p:nvPicPr>
          <p:cNvPr id="5" name="Picture 4" descr="640?wx_fmt=png">
            <a:extLst>
              <a:ext uri="{FF2B5EF4-FFF2-40B4-BE49-F238E27FC236}">
                <a16:creationId xmlns:a16="http://schemas.microsoft.com/office/drawing/2014/main" id="{00D8D426-DBFE-4B12-833A-3B57546F5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044" y="2721778"/>
            <a:ext cx="5069757" cy="345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640?wx_fmt=png">
            <a:extLst>
              <a:ext uri="{FF2B5EF4-FFF2-40B4-BE49-F238E27FC236}">
                <a16:creationId xmlns:a16="http://schemas.microsoft.com/office/drawing/2014/main" id="{09631C8D-13CD-4F1B-98F6-C5D997D0B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33" y="2767352"/>
            <a:ext cx="4932725" cy="340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598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907B-5C0D-4DBE-B847-F9FE9E14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图像特征表示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69FBE-DD10-4C4D-A197-6917A7267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1468" y="1825625"/>
                <a:ext cx="4952331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最近邻分类器：</a:t>
                </a:r>
                <a:endParaRPr lang="en-US" altLang="zh-CN" b="1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𝑑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𝑝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𝑝</m:t>
                                </m:r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𝑝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endParaRPr lang="en-US" altLang="zh-CN" dirty="0">
                  <a:solidFill>
                    <a:srgbClr val="0070C0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70C0"/>
                    </a:solidFill>
                    <a:cs typeface="+mn-ea"/>
                    <a:sym typeface="+mn-lt"/>
                  </a:rPr>
                  <a:t>原始图像：</a:t>
                </a:r>
                <a:endParaRPr lang="en-US" altLang="zh-CN" b="1" dirty="0">
                  <a:solidFill>
                    <a:srgbClr val="0070C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800∗600∗3</m:t>
                        </m:r>
                      </m:sup>
                    </m:sSup>
                  </m:oMath>
                </a14:m>
                <a:endParaRPr lang="en-US" altLang="zh-CN" dirty="0">
                  <a:solidFill>
                    <a:srgbClr val="7030A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  <a:cs typeface="+mn-ea"/>
                    <a:sym typeface="+mn-lt"/>
                  </a:rPr>
                  <a:t>图片平移几个像素？</a:t>
                </a:r>
                <a:endParaRPr lang="en-US" altLang="zh-CN" dirty="0">
                  <a:solidFill>
                    <a:srgbClr val="FF000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  <a:cs typeface="+mn-ea"/>
                    <a:sym typeface="+mn-lt"/>
                  </a:rPr>
                  <a:t>亮度变亮或者变暗？</a:t>
                </a:r>
                <a:endParaRPr lang="en-US" altLang="zh-CN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69FBE-DD10-4C4D-A197-6917A7267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1468" y="1825625"/>
                <a:ext cx="4952331" cy="4351338"/>
              </a:xfrm>
              <a:blipFill>
                <a:blip r:embed="rId2"/>
                <a:stretch>
                  <a:fillRect l="-2217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970A9C-B333-4931-8F8F-795E8799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5" y="2425510"/>
            <a:ext cx="5740353" cy="315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9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13C8-FF0F-477E-AD28-112EEE6A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图像特征表示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8CFEC-A8BE-4AD3-A754-5BE4A7B6F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266" y="1901315"/>
            <a:ext cx="4842933" cy="435133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将图像编码成一个特征向量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04323-E9B9-4D0F-9CE8-BD442EB5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87" y="1690688"/>
            <a:ext cx="5129416" cy="4657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707617-9CE1-4E21-BEC0-2F19F71354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75" t="8576" r="1858" b="7283"/>
          <a:stretch/>
        </p:blipFill>
        <p:spPr>
          <a:xfrm>
            <a:off x="6328832" y="2678847"/>
            <a:ext cx="5342468" cy="169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25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575A-F685-4BA0-8788-EFF89CE5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好的特征表示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831A8-93A0-40DB-A576-FE413C005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3133" y="1825625"/>
            <a:ext cx="5418667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6"/>
                </a:solidFill>
                <a:cs typeface="+mn-ea"/>
                <a:sym typeface="+mn-lt"/>
              </a:rPr>
              <a:t>Powerful: </a:t>
            </a:r>
            <a:r>
              <a:rPr lang="en-US" altLang="zh-CN" dirty="0">
                <a:cs typeface="+mn-ea"/>
                <a:sym typeface="+mn-lt"/>
              </a:rPr>
              <a:t>meaningful similarity / untangles factors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6"/>
                </a:solidFill>
                <a:cs typeface="+mn-ea"/>
                <a:sym typeface="+mn-lt"/>
              </a:rPr>
              <a:t>Cheap: </a:t>
            </a:r>
            <a:r>
              <a:rPr lang="en-US" altLang="zh-CN" dirty="0">
                <a:cs typeface="+mn-ea"/>
                <a:sym typeface="+mn-lt"/>
              </a:rPr>
              <a:t>fast to evaluation (can be computed on the fly)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6"/>
                </a:solidFill>
                <a:cs typeface="+mn-ea"/>
                <a:sym typeface="+mn-lt"/>
              </a:rPr>
              <a:t>Compact: </a:t>
            </a:r>
            <a:r>
              <a:rPr lang="en-US" altLang="zh-CN" dirty="0">
                <a:cs typeface="+mn-ea"/>
                <a:sym typeface="+mn-lt"/>
              </a:rPr>
              <a:t>small code (takes little RAM, disk, IO)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EF0D8-9421-4ED2-AA2B-4B8CAA43EC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33" b="5778"/>
          <a:stretch/>
        </p:blipFill>
        <p:spPr>
          <a:xfrm>
            <a:off x="651934" y="2518057"/>
            <a:ext cx="5554133" cy="231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13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B83E-ACB7-4FED-847F-60AE2A6B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如何得到好的特征表示？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1550-AFC9-4F85-9463-279AE0C77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2" descr="https://miro.medium.com/max/1386/1*ZX05x1xYgaVoa4Vn2kKS9g.png">
            <a:extLst>
              <a:ext uri="{FF2B5EF4-FFF2-40B4-BE49-F238E27FC236}">
                <a16:creationId xmlns:a16="http://schemas.microsoft.com/office/drawing/2014/main" id="{3152C669-D111-480B-A5EF-B03D31F8E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354" y="1825625"/>
            <a:ext cx="9219291" cy="449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923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6246-A2BE-4A95-B00F-9B172244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9011-DF62-4B02-B9AC-A6A4499E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简介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视觉词袋模型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改进的视觉词袋模型</a:t>
            </a:r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582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565F-4B67-4256-B381-4C9B2588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Bag-of-Visual-Words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FD47-F627-4252-A183-94029D93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99988A-229D-40EE-857E-9054A863DC9A}"/>
              </a:ext>
            </a:extLst>
          </p:cNvPr>
          <p:cNvGrpSpPr/>
          <p:nvPr/>
        </p:nvGrpSpPr>
        <p:grpSpPr>
          <a:xfrm>
            <a:off x="1912978" y="1898417"/>
            <a:ext cx="8366043" cy="4334869"/>
            <a:chOff x="2074912" y="1783283"/>
            <a:chExt cx="9074497" cy="5002978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52DDE05E-ACF9-4176-B6EA-E53C66486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4912" y="1783283"/>
              <a:ext cx="2833688" cy="4691063"/>
              <a:chOff x="528" y="336"/>
              <a:chExt cx="1954" cy="3477"/>
            </a:xfrm>
          </p:grpSpPr>
          <p:pic>
            <p:nvPicPr>
              <p:cNvPr id="20" name="Picture 3" descr="DaVinci_face_only">
                <a:extLst>
                  <a:ext uri="{FF2B5EF4-FFF2-40B4-BE49-F238E27FC236}">
                    <a16:creationId xmlns:a16="http://schemas.microsoft.com/office/drawing/2014/main" id="{C9F88603-7146-406F-8BAD-B756AF6921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" y="1392"/>
                <a:ext cx="1954" cy="2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4">
                <a:extLst>
                  <a:ext uri="{FF2B5EF4-FFF2-40B4-BE49-F238E27FC236}">
                    <a16:creationId xmlns:a16="http://schemas.microsoft.com/office/drawing/2014/main" id="{204D6B93-964F-47B1-B4E4-CC2319AAE2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36"/>
                <a:ext cx="1584" cy="658"/>
              </a:xfrm>
              <a:prstGeom prst="rect">
                <a:avLst/>
              </a:prstGeom>
              <a:solidFill>
                <a:srgbClr val="DCF6D6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sz="44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cs typeface="+mn-ea"/>
                    <a:sym typeface="+mn-lt"/>
                  </a:rPr>
                  <a:t>Object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D40EB68-8975-4E03-9B64-5ED9413273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0894" y="3052461"/>
              <a:ext cx="2719387" cy="3733800"/>
              <a:chOff x="3072" y="1008"/>
              <a:chExt cx="2274" cy="3168"/>
            </a:xfrm>
          </p:grpSpPr>
          <p:pic>
            <p:nvPicPr>
              <p:cNvPr id="9" name="Picture 8" descr="lunch-bagtrans">
                <a:extLst>
                  <a:ext uri="{FF2B5EF4-FFF2-40B4-BE49-F238E27FC236}">
                    <a16:creationId xmlns:a16="http://schemas.microsoft.com/office/drawing/2014/main" id="{E1A6DE4C-1CD7-4037-B53B-683FAF88A6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72" y="1008"/>
                <a:ext cx="2274" cy="3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9" descr="ermine">
                <a:extLst>
                  <a:ext uri="{FF2B5EF4-FFF2-40B4-BE49-F238E27FC236}">
                    <a16:creationId xmlns:a16="http://schemas.microsoft.com/office/drawing/2014/main" id="{37C19FD6-62E7-4319-88E3-8F4A9DAB56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399" t="22293" r="38898" b="71706"/>
              <a:stretch>
                <a:fillRect/>
              </a:stretch>
            </p:blipFill>
            <p:spPr bwMode="auto">
              <a:xfrm>
                <a:off x="4560" y="3072"/>
                <a:ext cx="480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10" descr="ermine">
                <a:extLst>
                  <a:ext uri="{FF2B5EF4-FFF2-40B4-BE49-F238E27FC236}">
                    <a16:creationId xmlns:a16="http://schemas.microsoft.com/office/drawing/2014/main" id="{E305C790-9767-436B-A3D2-138B4F0EBE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591" t="4288" r="29535" b="88853"/>
              <a:stretch>
                <a:fillRect/>
              </a:stretch>
            </p:blipFill>
            <p:spPr bwMode="auto">
              <a:xfrm>
                <a:off x="4224" y="1632"/>
                <a:ext cx="432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11" descr="ermine">
                <a:extLst>
                  <a:ext uri="{FF2B5EF4-FFF2-40B4-BE49-F238E27FC236}">
                    <a16:creationId xmlns:a16="http://schemas.microsoft.com/office/drawing/2014/main" id="{6217F687-B88D-4E3A-97D1-347624050C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547" t="38583" r="43579" b="54558"/>
              <a:stretch>
                <a:fillRect/>
              </a:stretch>
            </p:blipFill>
            <p:spPr bwMode="auto">
              <a:xfrm>
                <a:off x="3360" y="3120"/>
                <a:ext cx="432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12" descr="ermine">
                <a:extLst>
                  <a:ext uri="{FF2B5EF4-FFF2-40B4-BE49-F238E27FC236}">
                    <a16:creationId xmlns:a16="http://schemas.microsoft.com/office/drawing/2014/main" id="{21A079DC-B233-40B8-920A-919A9F708A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866" t="15433" r="51772" b="79422"/>
              <a:stretch>
                <a:fillRect/>
              </a:stretch>
            </p:blipFill>
            <p:spPr bwMode="auto">
              <a:xfrm>
                <a:off x="4416" y="2496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13" descr="ermine">
                <a:extLst>
                  <a:ext uri="{FF2B5EF4-FFF2-40B4-BE49-F238E27FC236}">
                    <a16:creationId xmlns:a16="http://schemas.microsoft.com/office/drawing/2014/main" id="{3B94C29D-11E8-490E-B5FF-40F9CFC9D5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62" t="14577" r="31876" b="79422"/>
              <a:stretch>
                <a:fillRect/>
              </a:stretch>
            </p:blipFill>
            <p:spPr bwMode="auto">
              <a:xfrm>
                <a:off x="3840" y="2544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14" descr="ermine">
                <a:extLst>
                  <a:ext uri="{FF2B5EF4-FFF2-40B4-BE49-F238E27FC236}">
                    <a16:creationId xmlns:a16="http://schemas.microsoft.com/office/drawing/2014/main" id="{73CBD80B-EEA3-4399-9754-A592C2FD49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421" t="32582" r="31876" b="62274"/>
              <a:stretch>
                <a:fillRect/>
              </a:stretch>
            </p:blipFill>
            <p:spPr bwMode="auto">
              <a:xfrm>
                <a:off x="4368" y="3600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" name="Picture 15" descr="ermine">
                <a:extLst>
                  <a:ext uri="{FF2B5EF4-FFF2-40B4-BE49-F238E27FC236}">
                    <a16:creationId xmlns:a16="http://schemas.microsoft.com/office/drawing/2014/main" id="{88D8D931-E28F-48C2-B409-C28E191EB4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62" t="27437" r="31876" b="67418"/>
              <a:stretch>
                <a:fillRect/>
              </a:stretch>
            </p:blipFill>
            <p:spPr bwMode="auto">
              <a:xfrm>
                <a:off x="4512" y="206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Picture 16" descr="ermine">
                <a:extLst>
                  <a:ext uri="{FF2B5EF4-FFF2-40B4-BE49-F238E27FC236}">
                    <a16:creationId xmlns:a16="http://schemas.microsoft.com/office/drawing/2014/main" id="{D065F62B-D28C-4AA6-B69E-8923996098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932" t="23151" r="31876" b="71706"/>
              <a:stretch>
                <a:fillRect/>
              </a:stretch>
            </p:blipFill>
            <p:spPr bwMode="auto">
              <a:xfrm>
                <a:off x="4032" y="302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17" descr="ermine">
                <a:extLst>
                  <a:ext uri="{FF2B5EF4-FFF2-40B4-BE49-F238E27FC236}">
                    <a16:creationId xmlns:a16="http://schemas.microsoft.com/office/drawing/2014/main" id="{2AABD0BC-7B20-44BD-BB3D-93B662758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058" t="24008" r="45920" b="63130"/>
              <a:stretch>
                <a:fillRect/>
              </a:stretch>
            </p:blipFill>
            <p:spPr bwMode="auto">
              <a:xfrm>
                <a:off x="3792" y="1680"/>
                <a:ext cx="288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18" descr="ermine">
                <a:extLst>
                  <a:ext uri="{FF2B5EF4-FFF2-40B4-BE49-F238E27FC236}">
                    <a16:creationId xmlns:a16="http://schemas.microsoft.com/office/drawing/2014/main" id="{BD52125A-897C-4CBF-AB17-DB87FB52F5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569" t="17148" r="37727" b="76851"/>
              <a:stretch>
                <a:fillRect/>
              </a:stretch>
            </p:blipFill>
            <p:spPr bwMode="auto">
              <a:xfrm>
                <a:off x="3648" y="3552"/>
                <a:ext cx="480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E5F1A72D-C993-45E1-898B-7A3C4E350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767" y="1783780"/>
              <a:ext cx="5497642" cy="888031"/>
            </a:xfrm>
            <a:prstGeom prst="rect">
              <a:avLst/>
            </a:prstGeom>
            <a:solidFill>
              <a:srgbClr val="DFCCAB"/>
            </a:solidFill>
            <a:ln w="28575">
              <a:solidFill>
                <a:srgbClr val="9A7966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4400" b="1" dirty="0">
                  <a:effectLst>
                    <a:outerShdw blurRad="38100" dist="38100" dir="2700000" algn="tl">
                      <a:srgbClr val="FFFFFF"/>
                    </a:outerShdw>
                  </a:effectLst>
                  <a:cs typeface="+mn-ea"/>
                  <a:sym typeface="+mn-lt"/>
                </a:rPr>
                <a:t>Bag of ‘words’</a:t>
              </a:r>
            </a:p>
          </p:txBody>
        </p:sp>
        <p:sp>
          <p:nvSpPr>
            <p:cNvPr id="8" name="Line 19">
              <a:extLst>
                <a:ext uri="{FF2B5EF4-FFF2-40B4-BE49-F238E27FC236}">
                  <a16:creationId xmlns:a16="http://schemas.microsoft.com/office/drawing/2014/main" id="{0C26CFF1-5659-488F-83A6-9B9E88E0C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3889" y="2125662"/>
              <a:ext cx="1044575" cy="0"/>
            </a:xfrm>
            <a:prstGeom prst="line">
              <a:avLst/>
            </a:prstGeom>
            <a:noFill/>
            <a:ln w="38100">
              <a:solidFill>
                <a:srgbClr val="3333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443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3726-AF58-43E6-A3BF-7D43D478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Intuition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Bag-of-words models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74CB-DC91-4C1E-BE04-B0CB6E48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Orderless document representation: </a:t>
            </a:r>
            <a:r>
              <a:rPr lang="en-US" altLang="zh-CN" dirty="0">
                <a:cs typeface="+mn-ea"/>
                <a:sym typeface="+mn-lt"/>
              </a:rPr>
              <a:t>frequencies of words from a dictionary </a:t>
            </a:r>
          </a:p>
          <a:p>
            <a:pPr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302A7-8142-4FD1-855F-065141B3F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553" y="2943772"/>
            <a:ext cx="7398893" cy="38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73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9CC8-7B9F-498B-9F07-11EF3D60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Intuition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Bag-of-words models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C8F0B-4B94-4F6A-8D14-44AC54D39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Let A, B, and C be examples of texts about different subjects.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585CD-2128-491E-8917-D1F0F3A3F0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4" b="4495"/>
          <a:stretch/>
        </p:blipFill>
        <p:spPr>
          <a:xfrm>
            <a:off x="1167428" y="2435314"/>
            <a:ext cx="5077790" cy="36324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626404-8F04-4848-916B-28901EA6824E}"/>
              </a:ext>
            </a:extLst>
          </p:cNvPr>
          <p:cNvSpPr/>
          <p:nvPr/>
        </p:nvSpPr>
        <p:spPr>
          <a:xfrm>
            <a:off x="6574446" y="2853544"/>
            <a:ext cx="3543380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cs typeface="+mn-ea"/>
                <a:sym typeface="+mn-lt"/>
              </a:rPr>
              <a:t>A </a:t>
            </a:r>
            <a:r>
              <a:rPr lang="en-US" altLang="zh-CN" sz="2400" dirty="0">
                <a:solidFill>
                  <a:srgbClr val="FF0000"/>
                </a:solidFill>
                <a:cs typeface="+mn-ea"/>
                <a:sym typeface="+mn-lt"/>
              </a:rPr>
              <a:t>Bag of Words </a:t>
            </a:r>
            <a:r>
              <a:rPr lang="en-US" altLang="zh-CN" sz="2400" dirty="0">
                <a:cs typeface="+mn-ea"/>
                <a:sym typeface="+mn-lt"/>
              </a:rPr>
              <a:t>(</a:t>
            </a:r>
            <a:r>
              <a:rPr lang="en-US" altLang="zh-CN" sz="2400" dirty="0" err="1">
                <a:cs typeface="+mn-ea"/>
                <a:sym typeface="+mn-lt"/>
              </a:rPr>
              <a:t>BoW</a:t>
            </a:r>
            <a:r>
              <a:rPr lang="en-US" altLang="zh-CN" sz="2400" dirty="0">
                <a:cs typeface="+mn-ea"/>
                <a:sym typeface="+mn-lt"/>
              </a:rPr>
              <a:t>) is a dictionary of keywords identified as the most frequent ones in texts from different subjects.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2207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9CC8-7B9F-498B-9F07-11EF3D60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Intuition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Bag-of-words models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C8F0B-4B94-4F6A-8D14-44AC54D39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Let A, B, and C be examples of texts about different subjects.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2212C-4497-4133-9B73-316415892B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5" r="1263" b="2207"/>
          <a:stretch/>
        </p:blipFill>
        <p:spPr>
          <a:xfrm>
            <a:off x="4452932" y="2336838"/>
            <a:ext cx="7382577" cy="41560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16ABD8-6AC7-4C79-9DE1-3904DAF83CAB}"/>
              </a:ext>
            </a:extLst>
          </p:cNvPr>
          <p:cNvSpPr/>
          <p:nvPr/>
        </p:nvSpPr>
        <p:spPr>
          <a:xfrm>
            <a:off x="1028433" y="2961477"/>
            <a:ext cx="3234267" cy="290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cs typeface="+mn-ea"/>
                <a:sym typeface="+mn-lt"/>
              </a:rPr>
              <a:t>By using the </a:t>
            </a:r>
            <a:r>
              <a:rPr lang="en-US" altLang="zh-CN" sz="2400" dirty="0">
                <a:solidFill>
                  <a:srgbClr val="00B0F0"/>
                </a:solidFill>
                <a:cs typeface="+mn-ea"/>
                <a:sym typeface="+mn-lt"/>
              </a:rPr>
              <a:t>dictionary on the right</a:t>
            </a:r>
            <a:r>
              <a:rPr lang="en-US" altLang="zh-CN" sz="2400" dirty="0">
                <a:cs typeface="+mn-ea"/>
                <a:sym typeface="+mn-lt"/>
              </a:rPr>
              <a:t> to determine the frequency of its words in A, B, and C, each text is represented by the following histograms.</a:t>
            </a:r>
          </a:p>
        </p:txBody>
      </p:sp>
    </p:spTree>
    <p:extLst>
      <p:ext uri="{BB962C8B-B14F-4D97-AF65-F5344CB8AC3E}">
        <p14:creationId xmlns:p14="http://schemas.microsoft.com/office/powerpoint/2010/main" val="53735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F1A0-E2A1-4035-906A-79D24F33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Intuition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Bag-of-words models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433EF-18F6-4A26-A1B2-CA8C0D5E8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We expect higher similarity between the histograms of A and B then between any of them and the histogram of C.</a:t>
            </a:r>
          </a:p>
          <a:p>
            <a:pPr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7CA69-A05A-438E-859D-ED07C2D8C3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9" b="7208"/>
          <a:stretch/>
        </p:blipFill>
        <p:spPr>
          <a:xfrm>
            <a:off x="1281714" y="3014134"/>
            <a:ext cx="9628571" cy="377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61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3F80B-BDBD-4C4A-8ABE-A7457BB3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Intuition 2: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Texture recognition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32AAD-5631-4C13-8CA2-C553EB819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Texture is characterized by the repetition of basic elements or </a:t>
            </a:r>
            <a:r>
              <a:rPr lang="en-US" altLang="zh-CN" dirty="0" err="1">
                <a:solidFill>
                  <a:srgbClr val="00B0F0"/>
                </a:solidFill>
                <a:cs typeface="+mn-ea"/>
                <a:sym typeface="+mn-lt"/>
              </a:rPr>
              <a:t>textons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04DA9-1CFC-4875-A86B-2F57C3041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59" y="2706123"/>
            <a:ext cx="9321282" cy="34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9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8E22-68D2-401F-8D53-1EC22D37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Intuition 2: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Texture recognition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D02C-38A5-45E6-AA4F-443790E9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B5696-6927-4D73-BB78-5F81F2FA8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93" y="1825625"/>
            <a:ext cx="5495414" cy="445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9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5334-941B-4634-9E46-B8EA5E6E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BOVW for object recognition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37DC-9EFA-46B1-A75E-28D375CD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B5309B-DBB6-4C6F-89EE-08B328FAFEFF}"/>
              </a:ext>
            </a:extLst>
          </p:cNvPr>
          <p:cNvSpPr txBox="1">
            <a:spLocks/>
          </p:cNvSpPr>
          <p:nvPr/>
        </p:nvSpPr>
        <p:spPr>
          <a:xfrm>
            <a:off x="838200" y="5445579"/>
            <a:ext cx="10515600" cy="731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en-US" altLang="zh-CN">
                <a:cs typeface="+mn-ea"/>
                <a:sym typeface="+mn-lt"/>
              </a:rPr>
              <a:t>Works pretty well for image-level classification and for recognizing object </a:t>
            </a:r>
            <a:r>
              <a:rPr lang="en-US" altLang="zh-CN" i="1">
                <a:cs typeface="+mn-ea"/>
                <a:sym typeface="+mn-lt"/>
              </a:rPr>
              <a:t>instances.</a:t>
            </a:r>
            <a:endParaRPr lang="zh-CN" altLang="en-US" i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A5AA7-B47C-477B-BBDE-A712AF80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53" y="1846269"/>
            <a:ext cx="8950693" cy="344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18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5334-941B-4634-9E46-B8EA5E6E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BOVW for object recognition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37DC-9EFA-46B1-A75E-28D375CD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B5309B-DBB6-4C6F-89EE-08B328FAFEFF}"/>
              </a:ext>
            </a:extLst>
          </p:cNvPr>
          <p:cNvSpPr txBox="1">
            <a:spLocks/>
          </p:cNvSpPr>
          <p:nvPr/>
        </p:nvSpPr>
        <p:spPr>
          <a:xfrm>
            <a:off x="838200" y="5445579"/>
            <a:ext cx="10515600" cy="731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70000"/>
              </a:lnSpc>
            </a:pPr>
            <a:r>
              <a:rPr lang="en-US" altLang="zh-CN" dirty="0">
                <a:cs typeface="+mn-ea"/>
                <a:sym typeface="+mn-lt"/>
              </a:rPr>
              <a:t>How to transfer the image patches into </a:t>
            </a:r>
            <a:r>
              <a:rPr lang="en-US" altLang="zh-CN" dirty="0">
                <a:solidFill>
                  <a:srgbClr val="FF0000"/>
                </a:solidFill>
                <a:cs typeface="+mn-ea"/>
                <a:sym typeface="+mn-lt"/>
              </a:rPr>
              <a:t>visual word</a:t>
            </a:r>
            <a:r>
              <a:rPr lang="en-US" altLang="zh-CN" dirty="0">
                <a:cs typeface="+mn-ea"/>
                <a:sym typeface="+mn-lt"/>
              </a:rPr>
              <a:t>?</a:t>
            </a:r>
            <a:endParaRPr lang="zh-CN" altLang="en-US" i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A5AA7-B47C-477B-BBDE-A712AF80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53" y="1913738"/>
            <a:ext cx="8950693" cy="344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64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303A-A725-44DD-8ECB-4AED4F84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步骤（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Procedure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E94C-DB12-495B-8121-6F2A3CDA6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cs typeface="+mn-ea"/>
                <a:sym typeface="+mn-lt"/>
              </a:rPr>
              <a:t>提取局部特征（</a:t>
            </a:r>
            <a:r>
              <a:rPr lang="en-US" altLang="zh-CN" b="1" dirty="0">
                <a:cs typeface="+mn-ea"/>
                <a:sym typeface="+mn-lt"/>
              </a:rPr>
              <a:t>Extract local descriptor</a:t>
            </a:r>
            <a:r>
              <a:rPr lang="zh-CN" altLang="en-US" b="1" dirty="0">
                <a:cs typeface="+mn-ea"/>
                <a:sym typeface="+mn-lt"/>
              </a:rPr>
              <a:t>）</a:t>
            </a:r>
            <a:endParaRPr lang="en-US" altLang="zh-CN" b="1" dirty="0"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cs typeface="+mn-ea"/>
                <a:sym typeface="+mn-lt"/>
              </a:rPr>
              <a:t>学习视觉词典 （</a:t>
            </a:r>
            <a:r>
              <a:rPr lang="en-US" altLang="zh-CN" b="1" dirty="0">
                <a:cs typeface="+mn-ea"/>
                <a:sym typeface="+mn-lt"/>
              </a:rPr>
              <a:t>Learn “visual vocabular” </a:t>
            </a:r>
            <a:r>
              <a:rPr lang="zh-CN" altLang="en-US" b="1" dirty="0">
                <a:cs typeface="+mn-ea"/>
                <a:sym typeface="+mn-lt"/>
              </a:rPr>
              <a:t>）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codebook generation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cs typeface="+mn-ea"/>
                <a:sym typeface="+mn-lt"/>
              </a:rPr>
              <a:t>生成图像特征（</a:t>
            </a:r>
            <a:r>
              <a:rPr lang="en-US" altLang="zh-CN" b="1" dirty="0">
                <a:cs typeface="+mn-ea"/>
                <a:sym typeface="+mn-lt"/>
              </a:rPr>
              <a:t>Image representation</a:t>
            </a:r>
            <a:r>
              <a:rPr lang="zh-CN" altLang="en-US" b="1" dirty="0">
                <a:cs typeface="+mn-ea"/>
                <a:sym typeface="+mn-lt"/>
              </a:rPr>
              <a:t>）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coding, vector quantization</a:t>
            </a:r>
          </a:p>
          <a:p>
            <a:pPr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D744D-AEB0-4A7F-A1A3-12C99F4E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510" y="4668623"/>
            <a:ext cx="7576980" cy="212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35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0484-F8E4-40AC-A548-E89D5C92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1. </a:t>
            </a:r>
            <a:r>
              <a:rPr lang="zh-CN" altLang="en-US" b="1" dirty="0">
                <a:cs typeface="+mn-ea"/>
                <a:sym typeface="+mn-lt"/>
              </a:rPr>
              <a:t>提取局部特征</a:t>
            </a:r>
            <a:r>
              <a:rPr lang="en-US" altLang="zh-CN" b="1" dirty="0">
                <a:cs typeface="+mn-ea"/>
                <a:sym typeface="+mn-lt"/>
              </a:rPr>
              <a:t>(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Extract local descriptor)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79EA-B62E-409C-8268-1BB3B2263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cs typeface="+mn-ea"/>
                <a:sym typeface="+mn-lt"/>
              </a:rPr>
              <a:t>特征点</a:t>
            </a: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(Interest regions) </a:t>
            </a:r>
            <a:r>
              <a:rPr lang="zh-CN" altLang="en-US" b="1" dirty="0">
                <a:solidFill>
                  <a:srgbClr val="0070C0"/>
                </a:solidFill>
                <a:cs typeface="+mn-ea"/>
                <a:sym typeface="+mn-lt"/>
              </a:rPr>
              <a:t>或 </a:t>
            </a:r>
            <a:r>
              <a:rPr lang="zh-CN" altLang="en-US" b="1" dirty="0">
                <a:solidFill>
                  <a:srgbClr val="7030A0"/>
                </a:solidFill>
                <a:cs typeface="+mn-ea"/>
                <a:sym typeface="+mn-lt"/>
              </a:rPr>
              <a:t>密集采样</a:t>
            </a:r>
            <a:r>
              <a:rPr lang="en-US" altLang="zh-CN" b="1" dirty="0">
                <a:solidFill>
                  <a:srgbClr val="7030A0"/>
                </a:solidFill>
                <a:cs typeface="+mn-ea"/>
                <a:sym typeface="+mn-lt"/>
              </a:rPr>
              <a:t>(Dense sampling)</a:t>
            </a:r>
            <a:endParaRPr lang="zh-CN" altLang="en-US" b="1" dirty="0">
              <a:solidFill>
                <a:srgbClr val="7030A0"/>
              </a:solidFill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1035" descr="C:\Documents and Settings\Lana\My Documents\work\presentations\burma_patches.jpg">
            <a:extLst>
              <a:ext uri="{FF2B5EF4-FFF2-40B4-BE49-F238E27FC236}">
                <a16:creationId xmlns:a16="http://schemas.microsoft.com/office/drawing/2014/main" id="{1D4D69E0-99E2-440D-A564-2EFB812C10B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428" y="2631280"/>
            <a:ext cx="4869024" cy="3240000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36" descr="C:\Documents and Settings\Lana\My Documents\work\presentations\badgers_color2_ellipses.jpg">
            <a:extLst>
              <a:ext uri="{FF2B5EF4-FFF2-40B4-BE49-F238E27FC236}">
                <a16:creationId xmlns:a16="http://schemas.microsoft.com/office/drawing/2014/main" id="{77DEE314-C97E-4960-BDCA-9076AFD6464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48" y="2631280"/>
            <a:ext cx="5066036" cy="3240000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010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C368-6E95-4406-86BC-6A0B892E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1. Extract local descriptor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E0BE-98F6-4185-A274-70C464D2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4966"/>
            <a:ext cx="10515600" cy="1067909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计算每一个局部块的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SIFT</a:t>
            </a: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、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LBP</a:t>
            </a: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或者其他局部特征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3A0310-A84B-4CF1-A114-09430AAE3D30}"/>
              </a:ext>
            </a:extLst>
          </p:cNvPr>
          <p:cNvGrpSpPr/>
          <p:nvPr/>
        </p:nvGrpSpPr>
        <p:grpSpPr>
          <a:xfrm>
            <a:off x="664139" y="1800606"/>
            <a:ext cx="10863722" cy="3447619"/>
            <a:chOff x="787400" y="2085799"/>
            <a:chExt cx="10863722" cy="34476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2FFA7C-0C20-461D-9466-670FA4F14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7400" y="2085799"/>
              <a:ext cx="3466667" cy="344761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015134-6439-40CC-BD62-8476EBE5D8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053"/>
            <a:stretch/>
          </p:blipFill>
          <p:spPr>
            <a:xfrm>
              <a:off x="4736836" y="2452465"/>
              <a:ext cx="6914286" cy="2658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2654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2611-FF98-44F4-BF64-6BA4871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1. Extract local descriptor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D083-B28F-44B9-9D7C-36E4F80DF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SIFT </a:t>
            </a:r>
            <a:r>
              <a:rPr lang="zh-CN" altLang="en-US" b="1" dirty="0">
                <a:solidFill>
                  <a:schemeClr val="accent1"/>
                </a:solidFill>
                <a:cs typeface="+mn-ea"/>
                <a:sym typeface="+mn-lt"/>
              </a:rPr>
              <a:t>或</a:t>
            </a: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 HOG</a:t>
            </a:r>
            <a:endParaRPr lang="zh-CN" altLang="en-US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BDA5D-1DA5-4277-A85B-0FE9647FE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32" y="2502867"/>
            <a:ext cx="7415336" cy="39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52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AD9F-37E6-4E64-ACDC-1748066B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1. Extract local descriptor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B43B-26D8-4A55-AE08-0A6D81AA7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6067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SIFT Descriptor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根据主方向将梯度和位置进行旋转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将</a:t>
            </a:r>
            <a:r>
              <a:rPr lang="en-US" altLang="zh-CN" dirty="0"/>
              <a:t>16*16</a:t>
            </a:r>
            <a:r>
              <a:rPr lang="zh-CN" altLang="en-US" dirty="0"/>
              <a:t>的图像块划分成</a:t>
            </a:r>
            <a:r>
              <a:rPr lang="en-US" altLang="zh-CN" dirty="0"/>
              <a:t>4*4</a:t>
            </a:r>
            <a:r>
              <a:rPr lang="zh-CN" altLang="en-US" dirty="0"/>
              <a:t>的区域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对每一个区域计算</a:t>
            </a:r>
            <a:r>
              <a:rPr lang="en-US" altLang="zh-CN" dirty="0"/>
              <a:t>8</a:t>
            </a:r>
            <a:r>
              <a:rPr lang="zh-CN" altLang="en-US" dirty="0"/>
              <a:t>个方向的直方图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L2</a:t>
            </a:r>
            <a:r>
              <a:rPr lang="zh-CN" altLang="en-US" dirty="0"/>
              <a:t>归一化</a:t>
            </a:r>
          </a:p>
          <a:p>
            <a:pPr lvl="1">
              <a:lnSpc>
                <a:spcPct val="150000"/>
              </a:lnSpc>
            </a:pP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14A6F-C4F0-4E1D-979F-FA3CC219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461" y="1555221"/>
            <a:ext cx="3204008" cy="2066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796D9-217D-4DB0-B9A4-08E0B2C4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935" y="3871043"/>
            <a:ext cx="3483060" cy="26076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61F6516-B84D-433B-9807-E645A39AAD20}"/>
                  </a:ext>
                </a:extLst>
              </p:cNvPr>
              <p:cNvSpPr/>
              <p:nvPr/>
            </p:nvSpPr>
            <p:spPr>
              <a:xfrm>
                <a:off x="838200" y="4806107"/>
                <a:ext cx="5474191" cy="7375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00B0F0"/>
                    </a:solidFill>
                  </a:rPr>
                  <a:t>特征维度：</a:t>
                </a:r>
                <a14:m>
                  <m:oMath xmlns:m="http://schemas.openxmlformats.org/officeDocument/2006/math"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1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endParaRPr lang="en-US" altLang="zh-CN" sz="32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61F6516-B84D-433B-9807-E645A39AA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06107"/>
                <a:ext cx="5474191" cy="737510"/>
              </a:xfrm>
              <a:prstGeom prst="rect">
                <a:avLst/>
              </a:prstGeom>
              <a:blipFill>
                <a:blip r:embed="rId4"/>
                <a:stretch>
                  <a:fillRect b="-23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401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37F1-6607-40D5-852E-3C84549D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 sz="4000" b="1" dirty="0">
                <a:cs typeface="+mn-ea"/>
                <a:sym typeface="+mn-lt"/>
              </a:rPr>
              <a:t>学习视觉词典 （</a:t>
            </a:r>
            <a:r>
              <a:rPr lang="en-US" altLang="zh-CN" sz="4000" b="1" dirty="0">
                <a:cs typeface="+mn-ea"/>
                <a:sym typeface="+mn-lt"/>
              </a:rPr>
              <a:t>Learn “visual vocabular” </a:t>
            </a:r>
            <a:r>
              <a:rPr lang="zh-CN" altLang="en-US" sz="4000" b="1" dirty="0">
                <a:cs typeface="+mn-ea"/>
                <a:sym typeface="+mn-lt"/>
              </a:rPr>
              <a:t>）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DF5462-A870-4398-B3A6-B7B38BF664F7}"/>
              </a:ext>
            </a:extLst>
          </p:cNvPr>
          <p:cNvGrpSpPr/>
          <p:nvPr/>
        </p:nvGrpSpPr>
        <p:grpSpPr>
          <a:xfrm>
            <a:off x="1524992" y="1825625"/>
            <a:ext cx="8194743" cy="4351338"/>
            <a:chOff x="1084725" y="1825625"/>
            <a:chExt cx="8194743" cy="43513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14F80A7-21E2-4C81-B3E0-1E0D1B3F8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7310" y="1825625"/>
              <a:ext cx="6512158" cy="226424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02B100-AE69-4722-B7C5-74A593B4F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4725" y="1917395"/>
              <a:ext cx="4334297" cy="4259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7272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9FFB-A831-4C65-BA08-6F611BB6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528746-8EC9-439B-AA2C-7B7FB7F976B4}"/>
              </a:ext>
            </a:extLst>
          </p:cNvPr>
          <p:cNvGrpSpPr/>
          <p:nvPr/>
        </p:nvGrpSpPr>
        <p:grpSpPr>
          <a:xfrm>
            <a:off x="1777519" y="1580075"/>
            <a:ext cx="7907252" cy="4972713"/>
            <a:chOff x="1777519" y="1580075"/>
            <a:chExt cx="7907252" cy="49727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A0E30D-9307-40AE-A1A8-78D90238C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519" y="1580075"/>
              <a:ext cx="7739495" cy="48012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D1D8263-1C76-4460-9BB6-C2543A783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4295" y="6209931"/>
              <a:ext cx="590476" cy="3428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9024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9FFB-A831-4C65-BA08-6F611BB6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B0962D3-D5BD-4624-8639-4FAC79C37E2B}"/>
              </a:ext>
            </a:extLst>
          </p:cNvPr>
          <p:cNvGrpSpPr/>
          <p:nvPr/>
        </p:nvGrpSpPr>
        <p:grpSpPr>
          <a:xfrm>
            <a:off x="2298476" y="1644185"/>
            <a:ext cx="7790285" cy="4889597"/>
            <a:chOff x="2298476" y="1644185"/>
            <a:chExt cx="7790285" cy="488959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416C993-2E64-427D-8F1E-BE1E4E678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8476" y="1644185"/>
              <a:ext cx="7595047" cy="484869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2B5375-FF41-4519-88A3-62CF32ACF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8285" y="6219496"/>
              <a:ext cx="390476" cy="314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320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B443-19F5-4517-88F8-BAE7E8AC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A528-E57D-4AC6-89DA-75A519B16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K-Means</a:t>
            </a:r>
            <a:r>
              <a:rPr lang="zh-CN" altLang="en-US" b="1" dirty="0">
                <a:cs typeface="+mn-ea"/>
                <a:sym typeface="+mn-lt"/>
              </a:rPr>
              <a:t>聚类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DF04F-7F24-4BC9-A81D-27A45B4E6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00" y="2401163"/>
            <a:ext cx="7335801" cy="409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20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4864-D8BE-4E1A-A1AE-938690C2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5044-D1D1-44F9-B535-EF0BAFB3E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K-Means</a:t>
            </a:r>
            <a:r>
              <a:rPr lang="zh-CN" altLang="en-US" b="1" dirty="0">
                <a:cs typeface="+mn-ea"/>
                <a:sym typeface="+mn-lt"/>
              </a:rPr>
              <a:t>聚类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52C742-3A6A-408C-85E6-6DDE601741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42" r="772"/>
          <a:stretch/>
        </p:blipFill>
        <p:spPr>
          <a:xfrm>
            <a:off x="2358537" y="2446866"/>
            <a:ext cx="7474925" cy="414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12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4864-D8BE-4E1A-A1AE-938690C2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5044-D1D1-44F9-B535-EF0BAFB3E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K-Means</a:t>
            </a:r>
            <a:r>
              <a:rPr lang="zh-CN" altLang="en-US" b="1" dirty="0">
                <a:cs typeface="+mn-ea"/>
                <a:sym typeface="+mn-lt"/>
              </a:rPr>
              <a:t>聚类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5D41BE-5E23-4D0E-8B9D-3859CC371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56" y="2498502"/>
            <a:ext cx="7369153" cy="411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41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EBDA-F515-4B66-B253-F0D2C337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4BC2-DF3F-483B-917C-CB9CCDCA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K-Means</a:t>
            </a:r>
            <a:r>
              <a:rPr lang="zh-CN" altLang="en-US" b="1" dirty="0">
                <a:cs typeface="+mn-ea"/>
                <a:sym typeface="+mn-lt"/>
              </a:rPr>
              <a:t>聚类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7E7E5-E49B-490D-A1CC-0F176A797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934" y="2314256"/>
            <a:ext cx="69588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60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F87E-740E-438A-B953-21ADA72A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76D71-E770-4332-8991-AEB8AADE4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K-means</a:t>
            </a:r>
            <a:r>
              <a:rPr lang="zh-CN" altLang="en-US" b="1" dirty="0">
                <a:cs typeface="+mn-ea"/>
                <a:sym typeface="+mn-lt"/>
              </a:rPr>
              <a:t>聚类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优化目标函数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算法流程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: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随机初始化</a:t>
            </a:r>
            <a:r>
              <a:rPr lang="en-US" altLang="zh-CN" dirty="0">
                <a:cs typeface="+mn-ea"/>
                <a:sym typeface="+mn-lt"/>
              </a:rPr>
              <a:t>K</a:t>
            </a:r>
            <a:r>
              <a:rPr lang="zh-CN" altLang="en-US" dirty="0">
                <a:cs typeface="+mn-ea"/>
                <a:sym typeface="+mn-lt"/>
              </a:rPr>
              <a:t>个聚类中心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迭代直到收敛：</a:t>
            </a:r>
            <a:endParaRPr lang="en-US" altLang="zh-CN" dirty="0"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将每一个样本赋值为最近的聚类中心</a:t>
            </a:r>
            <a:endParaRPr lang="en-US" altLang="zh-CN" dirty="0">
              <a:cs typeface="+mn-ea"/>
              <a:sym typeface="+mn-lt"/>
            </a:endParaRPr>
          </a:p>
          <a:p>
            <a:pPr lvl="3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重新计算聚类中心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C136F-5A9C-4E1C-98A7-F139499B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306" y="2880061"/>
            <a:ext cx="4071656" cy="109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06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B681-210F-4227-AC0C-2788E281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E5108-BF0C-4D51-B119-E81BA11E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“视觉词典”示例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375D7-192D-46F9-8DD6-C749BC65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726" y="2426119"/>
            <a:ext cx="6478548" cy="41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3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B681-210F-4227-AC0C-2788E281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E5108-BF0C-4D51-B119-E81BA11E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“视觉词典”示例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C6A37-EDA8-4989-B76A-82E31A42C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623" y="2521665"/>
            <a:ext cx="9014753" cy="386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20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DD97-ECE9-4371-AA18-06346EE3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Learn “visual vocabulary”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731C3-B788-4BE5-9F55-12B6B5239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696" y="2037851"/>
            <a:ext cx="5302646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如何选择合适词典大小（</a:t>
            </a:r>
            <a:r>
              <a:rPr lang="en-US" altLang="zh-CN" b="1" dirty="0">
                <a:cs typeface="+mn-ea"/>
                <a:sym typeface="+mn-lt"/>
              </a:rPr>
              <a:t>vocabulary size)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太小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词典的特征表达能力不够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太大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特征表述稀疏、过拟合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32" name="Content Placeholder 3">
            <a:extLst>
              <a:ext uri="{FF2B5EF4-FFF2-40B4-BE49-F238E27FC236}">
                <a16:creationId xmlns:a16="http://schemas.microsoft.com/office/drawing/2014/main" id="{ABF6B629-3FFF-4F02-994C-F7EA4AEEB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9" y="2306794"/>
            <a:ext cx="4993597" cy="14599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633A498-E234-45D5-8EE1-581C1B0392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3" t="4114" r="1201" b="3174"/>
          <a:stretch/>
        </p:blipFill>
        <p:spPr>
          <a:xfrm>
            <a:off x="446658" y="4213520"/>
            <a:ext cx="5480008" cy="200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10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CBD7-6DD3-41BE-92F9-3751C8D3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b="1" dirty="0">
                <a:cs typeface="+mn-ea"/>
                <a:sym typeface="+mn-lt"/>
              </a:rPr>
              <a:t>生成图像特征（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 Representation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FE94-2A73-4942-840D-7F16DDE9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69D79-C8FC-4E65-B2F9-16B3B2A84A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256874" y="1731169"/>
            <a:ext cx="7678251" cy="476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70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B360-ED7B-421A-893B-57483BA8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3. Image Representation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2625B-EE08-4F1E-9EDF-DC9F469488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8"/>
          <a:stretch/>
        </p:blipFill>
        <p:spPr>
          <a:xfrm>
            <a:off x="2090603" y="1690688"/>
            <a:ext cx="8010794" cy="49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88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2C42-C036-45F4-96A3-750490CB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3. Image Representation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C01A6-508A-499F-8CE4-D5D34210F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119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cs typeface="+mn-ea"/>
                <a:sym typeface="+mn-lt"/>
              </a:rPr>
              <a:t>特征的使用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将图像的特征表示看成是一个特征向量，然后使用分类器进行分类</a:t>
            </a:r>
            <a:r>
              <a:rPr lang="en-US" altLang="zh-CN" dirty="0">
                <a:cs typeface="+mn-ea"/>
                <a:sym typeface="+mn-lt"/>
              </a:rPr>
              <a:t> (KNN, SVM)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对图像集里面的特征向量进行聚类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发现里面的视觉主题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0B696AA-F3AD-4758-BDAB-A2F40A26E664}"/>
              </a:ext>
            </a:extLst>
          </p:cNvPr>
          <p:cNvGrpSpPr/>
          <p:nvPr/>
        </p:nvGrpSpPr>
        <p:grpSpPr>
          <a:xfrm>
            <a:off x="6829145" y="2034098"/>
            <a:ext cx="5096933" cy="3532877"/>
            <a:chOff x="838200" y="1925204"/>
            <a:chExt cx="7031721" cy="4654266"/>
          </a:xfrm>
        </p:grpSpPr>
        <p:grpSp>
          <p:nvGrpSpPr>
            <p:cNvPr id="43" name="Group 2">
              <a:extLst>
                <a:ext uri="{FF2B5EF4-FFF2-40B4-BE49-F238E27FC236}">
                  <a16:creationId xmlns:a16="http://schemas.microsoft.com/office/drawing/2014/main" id="{254474B8-5C2F-4A07-A104-B07F4CE74B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8200" y="3586662"/>
              <a:ext cx="7031721" cy="2286311"/>
              <a:chOff x="96" y="2496"/>
              <a:chExt cx="5616" cy="1826"/>
            </a:xfrm>
          </p:grpSpPr>
          <p:sp>
            <p:nvSpPr>
              <p:cNvPr id="76" name="Rectangle 3">
                <a:extLst>
                  <a:ext uri="{FF2B5EF4-FFF2-40B4-BE49-F238E27FC236}">
                    <a16:creationId xmlns:a16="http://schemas.microsoft.com/office/drawing/2014/main" id="{C48C0392-28D4-48CE-A50A-C513C6B46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736"/>
                <a:ext cx="5616" cy="1488"/>
              </a:xfrm>
              <a:prstGeom prst="rect">
                <a:avLst/>
              </a:prstGeom>
              <a:solidFill>
                <a:srgbClr val="DFCCAB"/>
              </a:solidFill>
              <a:ln w="38100">
                <a:solidFill>
                  <a:srgbClr val="5D483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pic>
            <p:nvPicPr>
              <p:cNvPr id="77" name="Picture 4" descr="DaVinci_face_only">
                <a:extLst>
                  <a:ext uri="{FF2B5EF4-FFF2-40B4-BE49-F238E27FC236}">
                    <a16:creationId xmlns:a16="http://schemas.microsoft.com/office/drawing/2014/main" id="{B8D5A91C-F4D8-463F-BEC3-2A4DB0A228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2736"/>
                <a:ext cx="1179" cy="14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8" name="Picture 5" descr="bicycle">
                <a:extLst>
                  <a:ext uri="{FF2B5EF4-FFF2-40B4-BE49-F238E27FC236}">
                    <a16:creationId xmlns:a16="http://schemas.microsoft.com/office/drawing/2014/main" id="{52EC1136-42FC-4987-B26C-6ED2C2B788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4" y="2976"/>
                <a:ext cx="1920" cy="1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9" name="Picture 6" descr="violin">
                <a:extLst>
                  <a:ext uri="{FF2B5EF4-FFF2-40B4-BE49-F238E27FC236}">
                    <a16:creationId xmlns:a16="http://schemas.microsoft.com/office/drawing/2014/main" id="{1FE46067-705C-4A9F-8612-8A2E80F38F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301100">
                <a:off x="4512" y="2496"/>
                <a:ext cx="764" cy="18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4" name="Group 26">
              <a:extLst>
                <a:ext uri="{FF2B5EF4-FFF2-40B4-BE49-F238E27FC236}">
                  <a16:creationId xmlns:a16="http://schemas.microsoft.com/office/drawing/2014/main" id="{BF013393-166F-4A00-B61A-98890B0334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4797" y="1925204"/>
              <a:ext cx="6965124" cy="1491897"/>
              <a:chOff x="144" y="1776"/>
              <a:chExt cx="5520" cy="1392"/>
            </a:xfrm>
          </p:grpSpPr>
          <p:sp>
            <p:nvSpPr>
              <p:cNvPr id="46" name="Rectangle 27">
                <a:extLst>
                  <a:ext uri="{FF2B5EF4-FFF2-40B4-BE49-F238E27FC236}">
                    <a16:creationId xmlns:a16="http://schemas.microsoft.com/office/drawing/2014/main" id="{E181134B-8763-4419-A60B-ACE6FEC85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4" y="1776"/>
                <a:ext cx="96" cy="1129"/>
              </a:xfrm>
              <a:prstGeom prst="rect">
                <a:avLst/>
              </a:prstGeom>
              <a:solidFill>
                <a:srgbClr val="B3272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47" name="Rectangle 28">
                <a:extLst>
                  <a:ext uri="{FF2B5EF4-FFF2-40B4-BE49-F238E27FC236}">
                    <a16:creationId xmlns:a16="http://schemas.microsoft.com/office/drawing/2014/main" id="{CF574EE5-42DB-4B4F-B977-1AA5765F5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2736"/>
                <a:ext cx="96" cy="169"/>
              </a:xfrm>
              <a:prstGeom prst="rect">
                <a:avLst/>
              </a:prstGeom>
              <a:solidFill>
                <a:srgbClr val="B3272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48" name="Rectangle 29">
                <a:extLst>
                  <a:ext uri="{FF2B5EF4-FFF2-40B4-BE49-F238E27FC236}">
                    <a16:creationId xmlns:a16="http://schemas.microsoft.com/office/drawing/2014/main" id="{461EA58C-2995-450E-A464-A53266781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592"/>
                <a:ext cx="96" cy="313"/>
              </a:xfrm>
              <a:prstGeom prst="rect">
                <a:avLst/>
              </a:prstGeom>
              <a:solidFill>
                <a:srgbClr val="B3272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49" name="Rectangle 30">
                <a:extLst>
                  <a:ext uri="{FF2B5EF4-FFF2-40B4-BE49-F238E27FC236}">
                    <a16:creationId xmlns:a16="http://schemas.microsoft.com/office/drawing/2014/main" id="{68DBF039-E562-4E8B-B998-75869E2AC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2736"/>
                <a:ext cx="96" cy="169"/>
              </a:xfrm>
              <a:prstGeom prst="rect">
                <a:avLst/>
              </a:prstGeom>
              <a:solidFill>
                <a:srgbClr val="B3272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0" name="Rectangle 31">
                <a:extLst>
                  <a:ext uri="{FF2B5EF4-FFF2-40B4-BE49-F238E27FC236}">
                    <a16:creationId xmlns:a16="http://schemas.microsoft.com/office/drawing/2014/main" id="{F5D203AF-A4E2-4F24-8968-FD5DC6BA5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832"/>
                <a:ext cx="96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1" name="Rectangle 32">
                <a:extLst>
                  <a:ext uri="{FF2B5EF4-FFF2-40B4-BE49-F238E27FC236}">
                    <a16:creationId xmlns:a16="http://schemas.microsoft.com/office/drawing/2014/main" id="{AA648BE7-E5AE-4C26-A571-990773B06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208"/>
                <a:ext cx="96" cy="72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2" name="Rectangle 33">
                <a:extLst>
                  <a:ext uri="{FF2B5EF4-FFF2-40B4-BE49-F238E27FC236}">
                    <a16:creationId xmlns:a16="http://schemas.microsoft.com/office/drawing/2014/main" id="{4CAF9187-BD77-4A5E-B5FB-8F9FE2F2C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2832"/>
                <a:ext cx="96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3" name="Rectangle 34">
                <a:extLst>
                  <a:ext uri="{FF2B5EF4-FFF2-40B4-BE49-F238E27FC236}">
                    <a16:creationId xmlns:a16="http://schemas.microsoft.com/office/drawing/2014/main" id="{D91BFE7C-EF1C-4087-AE4C-447DDB074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880"/>
                <a:ext cx="96" cy="48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4" name="Rectangle 35">
                <a:extLst>
                  <a:ext uri="{FF2B5EF4-FFF2-40B4-BE49-F238E27FC236}">
                    <a16:creationId xmlns:a16="http://schemas.microsoft.com/office/drawing/2014/main" id="{7B73E2D2-96AD-413B-87B8-15175138C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809"/>
                <a:ext cx="96" cy="96"/>
              </a:xfrm>
              <a:prstGeom prst="rect">
                <a:avLst/>
              </a:prstGeom>
              <a:solidFill>
                <a:srgbClr val="B1EBA3"/>
              </a:solidFill>
              <a:ln w="12700">
                <a:solidFill>
                  <a:srgbClr val="5D483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5" name="Rectangle 36">
                <a:extLst>
                  <a:ext uri="{FF2B5EF4-FFF2-40B4-BE49-F238E27FC236}">
                    <a16:creationId xmlns:a16="http://schemas.microsoft.com/office/drawing/2014/main" id="{BA32AEF9-B337-45F1-AA74-29C0A7EB0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809"/>
                <a:ext cx="96" cy="96"/>
              </a:xfrm>
              <a:prstGeom prst="rect">
                <a:avLst/>
              </a:prstGeom>
              <a:solidFill>
                <a:srgbClr val="B1EBA3"/>
              </a:solidFill>
              <a:ln w="12700">
                <a:solidFill>
                  <a:srgbClr val="5D483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6" name="Rectangle 37">
                <a:extLst>
                  <a:ext uri="{FF2B5EF4-FFF2-40B4-BE49-F238E27FC236}">
                    <a16:creationId xmlns:a16="http://schemas.microsoft.com/office/drawing/2014/main" id="{2D2B7605-6953-4F81-8191-792253C3C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897"/>
                <a:ext cx="96" cy="1008"/>
              </a:xfrm>
              <a:prstGeom prst="rect">
                <a:avLst/>
              </a:prstGeom>
              <a:solidFill>
                <a:srgbClr val="B1EBA3"/>
              </a:solidFill>
              <a:ln w="12700">
                <a:solidFill>
                  <a:srgbClr val="5D483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7" name="Rectangle 38">
                <a:extLst>
                  <a:ext uri="{FF2B5EF4-FFF2-40B4-BE49-F238E27FC236}">
                    <a16:creationId xmlns:a16="http://schemas.microsoft.com/office/drawing/2014/main" id="{6C3AF02F-DBB5-4D13-B6FE-8F74513B2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185"/>
                <a:ext cx="96" cy="720"/>
              </a:xfrm>
              <a:prstGeom prst="rect">
                <a:avLst/>
              </a:prstGeom>
              <a:solidFill>
                <a:srgbClr val="B1EBA3"/>
              </a:solidFill>
              <a:ln w="12700">
                <a:solidFill>
                  <a:srgbClr val="5D483D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defTabSz="912813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2813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2813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2813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2813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281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+mn-ea"/>
                  <a:sym typeface="+mn-lt"/>
                </a:endParaRPr>
              </a:p>
            </p:txBody>
          </p:sp>
          <p:sp>
            <p:nvSpPr>
              <p:cNvPr id="58" name="Line 39">
                <a:extLst>
                  <a:ext uri="{FF2B5EF4-FFF2-40B4-BE49-F238E27FC236}">
                    <a16:creationId xmlns:a16="http://schemas.microsoft.com/office/drawing/2014/main" id="{4CB4A071-A316-47C4-B705-51079197C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" y="2905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Line 40">
                <a:extLst>
                  <a:ext uri="{FF2B5EF4-FFF2-40B4-BE49-F238E27FC236}">
                    <a16:creationId xmlns:a16="http://schemas.microsoft.com/office/drawing/2014/main" id="{39D156CC-D99F-4FB5-AC20-BA0A87177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" y="1801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pic>
            <p:nvPicPr>
              <p:cNvPr id="60" name="Picture 41" descr="ermine">
                <a:extLst>
                  <a:ext uri="{FF2B5EF4-FFF2-40B4-BE49-F238E27FC236}">
                    <a16:creationId xmlns:a16="http://schemas.microsoft.com/office/drawing/2014/main" id="{F804EF8C-473D-4348-8275-1F85F0B511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569" t="17148" r="37727" b="76851"/>
              <a:stretch>
                <a:fillRect/>
              </a:stretch>
            </p:blipFill>
            <p:spPr bwMode="auto">
              <a:xfrm>
                <a:off x="1296" y="2963"/>
                <a:ext cx="24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" name="Picture 42" descr="bicycle">
                <a:extLst>
                  <a:ext uri="{FF2B5EF4-FFF2-40B4-BE49-F238E27FC236}">
                    <a16:creationId xmlns:a16="http://schemas.microsoft.com/office/drawing/2014/main" id="{FB5657D6-9735-4BFE-A6F6-38EDC940FA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00" r="55000" b="54236"/>
              <a:stretch>
                <a:fillRect/>
              </a:stretch>
            </p:blipFill>
            <p:spPr bwMode="auto">
              <a:xfrm>
                <a:off x="288" y="2953"/>
                <a:ext cx="197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43" descr="ermine">
                <a:extLst>
                  <a:ext uri="{FF2B5EF4-FFF2-40B4-BE49-F238E27FC236}">
                    <a16:creationId xmlns:a16="http://schemas.microsoft.com/office/drawing/2014/main" id="{8D70BFD6-311F-418B-A22A-F3A1391C9D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399" t="22293" r="38898" b="71706"/>
              <a:stretch>
                <a:fillRect/>
              </a:stretch>
            </p:blipFill>
            <p:spPr bwMode="auto">
              <a:xfrm>
                <a:off x="576" y="2953"/>
                <a:ext cx="24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" name="Line 44">
                <a:extLst>
                  <a:ext uri="{FF2B5EF4-FFF2-40B4-BE49-F238E27FC236}">
                    <a16:creationId xmlns:a16="http://schemas.microsoft.com/office/drawing/2014/main" id="{4A7495AF-84A2-4BC0-A29F-0AE284B3C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905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4" name="Line 45">
                <a:extLst>
                  <a:ext uri="{FF2B5EF4-FFF2-40B4-BE49-F238E27FC236}">
                    <a16:creationId xmlns:a16="http://schemas.microsoft.com/office/drawing/2014/main" id="{9808B758-E44E-4FB5-8E10-AD92696B7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1801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5" name="Line 46">
                <a:extLst>
                  <a:ext uri="{FF2B5EF4-FFF2-40B4-BE49-F238E27FC236}">
                    <a16:creationId xmlns:a16="http://schemas.microsoft.com/office/drawing/2014/main" id="{27DFE9F5-9FEA-4B50-B336-1E0B8F441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92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6" name="Line 47">
                <a:extLst>
                  <a:ext uri="{FF2B5EF4-FFF2-40B4-BE49-F238E27FC236}">
                    <a16:creationId xmlns:a16="http://schemas.microsoft.com/office/drawing/2014/main" id="{C433A2C6-0AAB-4923-AA83-2E8AD471F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1824"/>
                <a:ext cx="0" cy="110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pic>
            <p:nvPicPr>
              <p:cNvPr id="67" name="Picture 48" descr="violin">
                <a:extLst>
                  <a:ext uri="{FF2B5EF4-FFF2-40B4-BE49-F238E27FC236}">
                    <a16:creationId xmlns:a16="http://schemas.microsoft.com/office/drawing/2014/main" id="{D3DDA692-DBF8-435A-BD05-64E1B19582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6233"/>
              <a:stretch>
                <a:fillRect/>
              </a:stretch>
            </p:blipFill>
            <p:spPr bwMode="auto">
              <a:xfrm>
                <a:off x="864" y="2976"/>
                <a:ext cx="3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" name="Picture 49" descr="ermine">
                <a:extLst>
                  <a:ext uri="{FF2B5EF4-FFF2-40B4-BE49-F238E27FC236}">
                    <a16:creationId xmlns:a16="http://schemas.microsoft.com/office/drawing/2014/main" id="{9C7617F3-32D5-43BA-B23F-5C04780CDB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569" t="17148" r="37727" b="76851"/>
              <a:stretch>
                <a:fillRect/>
              </a:stretch>
            </p:blipFill>
            <p:spPr bwMode="auto">
              <a:xfrm>
                <a:off x="3360" y="2963"/>
                <a:ext cx="24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9" name="Picture 50" descr="bicycle">
                <a:extLst>
                  <a:ext uri="{FF2B5EF4-FFF2-40B4-BE49-F238E27FC236}">
                    <a16:creationId xmlns:a16="http://schemas.microsoft.com/office/drawing/2014/main" id="{133DCAFB-CB20-45FA-9824-15BD24A508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00" r="55000" b="54236"/>
              <a:stretch>
                <a:fillRect/>
              </a:stretch>
            </p:blipFill>
            <p:spPr bwMode="auto">
              <a:xfrm>
                <a:off x="2304" y="2953"/>
                <a:ext cx="197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0" name="Picture 51" descr="ermine">
                <a:extLst>
                  <a:ext uri="{FF2B5EF4-FFF2-40B4-BE49-F238E27FC236}">
                    <a16:creationId xmlns:a16="http://schemas.microsoft.com/office/drawing/2014/main" id="{6AABD43D-576C-4801-951E-018CB364BE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399" t="22293" r="38898" b="71706"/>
              <a:stretch>
                <a:fillRect/>
              </a:stretch>
            </p:blipFill>
            <p:spPr bwMode="auto">
              <a:xfrm>
                <a:off x="2592" y="2976"/>
                <a:ext cx="24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" name="Picture 52" descr="violin">
                <a:extLst>
                  <a:ext uri="{FF2B5EF4-FFF2-40B4-BE49-F238E27FC236}">
                    <a16:creationId xmlns:a16="http://schemas.microsoft.com/office/drawing/2014/main" id="{6DC2210C-8417-4AB8-9860-CFAB0B366D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6233"/>
              <a:stretch>
                <a:fillRect/>
              </a:stretch>
            </p:blipFill>
            <p:spPr bwMode="auto">
              <a:xfrm>
                <a:off x="2832" y="2976"/>
                <a:ext cx="3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" name="Picture 53" descr="ermine">
                <a:extLst>
                  <a:ext uri="{FF2B5EF4-FFF2-40B4-BE49-F238E27FC236}">
                    <a16:creationId xmlns:a16="http://schemas.microsoft.com/office/drawing/2014/main" id="{CB932AEB-29B5-49BA-A340-326E87095C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569" t="17148" r="37727" b="76851"/>
              <a:stretch>
                <a:fillRect/>
              </a:stretch>
            </p:blipFill>
            <p:spPr bwMode="auto">
              <a:xfrm>
                <a:off x="5280" y="2963"/>
                <a:ext cx="24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54" descr="bicycle">
                <a:extLst>
                  <a:ext uri="{FF2B5EF4-FFF2-40B4-BE49-F238E27FC236}">
                    <a16:creationId xmlns:a16="http://schemas.microsoft.com/office/drawing/2014/main" id="{F5875450-5FE3-4969-8D1B-2620B311B0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00" r="55000" b="54236"/>
              <a:stretch>
                <a:fillRect/>
              </a:stretch>
            </p:blipFill>
            <p:spPr bwMode="auto">
              <a:xfrm>
                <a:off x="4224" y="2953"/>
                <a:ext cx="197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55" descr="ermine">
                <a:extLst>
                  <a:ext uri="{FF2B5EF4-FFF2-40B4-BE49-F238E27FC236}">
                    <a16:creationId xmlns:a16="http://schemas.microsoft.com/office/drawing/2014/main" id="{891A84E3-D786-44AA-A002-009F6176C7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399" t="22293" r="38898" b="71706"/>
              <a:stretch>
                <a:fillRect/>
              </a:stretch>
            </p:blipFill>
            <p:spPr bwMode="auto">
              <a:xfrm>
                <a:off x="4560" y="2953"/>
                <a:ext cx="24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5" name="Picture 56" descr="violin">
                <a:extLst>
                  <a:ext uri="{FF2B5EF4-FFF2-40B4-BE49-F238E27FC236}">
                    <a16:creationId xmlns:a16="http://schemas.microsoft.com/office/drawing/2014/main" id="{D7AD4E86-046A-45F5-A83C-206DC5242B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6233"/>
              <a:stretch>
                <a:fillRect/>
              </a:stretch>
            </p:blipFill>
            <p:spPr bwMode="auto">
              <a:xfrm>
                <a:off x="4848" y="2976"/>
                <a:ext cx="3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D48D43-396F-47FF-BB7D-E94ECBF2D182}"/>
                </a:ext>
              </a:extLst>
            </p:cNvPr>
            <p:cNvSpPr txBox="1"/>
            <p:nvPr/>
          </p:nvSpPr>
          <p:spPr>
            <a:xfrm>
              <a:off x="1115999" y="6092906"/>
              <a:ext cx="6753922" cy="4865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0B0F0"/>
                  </a:solidFill>
                  <a:cs typeface="+mn-ea"/>
                  <a:sym typeface="+mn-lt"/>
                </a:rPr>
                <a:t>How do we learn a model for recognizing them?</a:t>
              </a:r>
              <a:endParaRPr lang="zh-CN" altLang="en-US" b="1" dirty="0">
                <a:solidFill>
                  <a:srgbClr val="00B0F0"/>
                </a:solidFill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A451F6E-A82E-43D7-A85F-44F4892C9850}"/>
                  </a:ext>
                </a:extLst>
              </p:cNvPr>
              <p:cNvSpPr txBox="1"/>
              <p:nvPr/>
            </p:nvSpPr>
            <p:spPr>
              <a:xfrm>
                <a:off x="2475497" y="3819680"/>
                <a:ext cx="256660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𝑦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(∅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A451F6E-A82E-43D7-A85F-44F4892C9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97" y="3819680"/>
                <a:ext cx="2566600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436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EB59-FE5D-4C04-9AA0-BBEDDA84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B32CF-E9D0-47FB-9E2E-D14A2D50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9267"/>
            <a:ext cx="10605727" cy="391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56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33FA-7FA5-4585-B257-0BBF4381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图像分类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Classification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08EF2-7A04-41AC-B165-3F3895DDC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分类器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KNN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SVM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07CD90-BD04-492B-B4AD-D54F7138B39E}"/>
              </a:ext>
            </a:extLst>
          </p:cNvPr>
          <p:cNvGrpSpPr/>
          <p:nvPr/>
        </p:nvGrpSpPr>
        <p:grpSpPr>
          <a:xfrm>
            <a:off x="4930877" y="1392402"/>
            <a:ext cx="5586164" cy="5217783"/>
            <a:chOff x="6096000" y="1356853"/>
            <a:chExt cx="5586164" cy="52177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46D7B3-04AD-4F17-984A-718490E4CA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98"/>
            <a:stretch/>
          </p:blipFill>
          <p:spPr>
            <a:xfrm>
              <a:off x="6096000" y="1356853"/>
              <a:ext cx="5586164" cy="3440806"/>
            </a:xfrm>
            <a:prstGeom prst="rect">
              <a:avLst/>
            </a:prstGeom>
          </p:spPr>
        </p:pic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F0E9C174-7321-4140-AE89-DD9546568306}"/>
                </a:ext>
              </a:extLst>
            </p:cNvPr>
            <p:cNvSpPr/>
            <p:nvPr/>
          </p:nvSpPr>
          <p:spPr>
            <a:xfrm>
              <a:off x="6489289" y="5217783"/>
              <a:ext cx="2816943" cy="135685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cs typeface="+mn-ea"/>
                  <a:sym typeface="+mn-lt"/>
                </a:rPr>
                <a:t>Category</a:t>
              </a:r>
            </a:p>
            <a:p>
              <a:pPr algn="ctr"/>
              <a:r>
                <a:rPr lang="en-US" altLang="zh-CN" sz="2400" b="1" dirty="0">
                  <a:cs typeface="+mn-ea"/>
                  <a:sym typeface="+mn-lt"/>
                </a:rPr>
                <a:t>decision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7614C3-481E-45B7-A275-A12F32E83212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7654413" y="4630994"/>
              <a:ext cx="243348" cy="58678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0529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0D33-5F4F-439B-AE22-21DC53E9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Nearest Neighbors Classifier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816C4-FA71-4DD6-957B-E9440AD0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BFE8E-7762-4936-8630-1573DEC43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85" y="1710266"/>
            <a:ext cx="896503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828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2DB4-4CB8-4FCD-99E5-2292111E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K-Nearest Neighbors Classifier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6C3D7-8F27-439C-A83B-8D984EF9B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607F6-0D69-44B2-84CA-13EA1A324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690688"/>
            <a:ext cx="938212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218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CD28-A4EF-4642-B2AF-695ECFB7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Functions for comparing histograms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63267-411B-4579-BC64-420523FCDB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L1 distance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zh-CN" altLang="en-US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𝝌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 dirty="0">
                    <a:cs typeface="+mn-ea"/>
                    <a:sym typeface="+mn-lt"/>
                  </a:rPr>
                  <a:t> </a:t>
                </a:r>
                <a:r>
                  <a:rPr lang="en-US" altLang="zh-CN" b="1" dirty="0">
                    <a:cs typeface="+mn-ea"/>
                    <a:sym typeface="+mn-lt"/>
                  </a:rPr>
                  <a:t>distance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cs typeface="+mn-ea"/>
                                              <a:sym typeface="+mn-lt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(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Histogram intersection kernel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𝐷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))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63267-411B-4579-BC64-420523FCD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2326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4F80-0490-4C49-988F-4CF930C6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>
                <a:latin typeface="+mn-lt"/>
                <a:ea typeface="+mn-ea"/>
                <a:cs typeface="+mn-ea"/>
                <a:sym typeface="+mn-lt"/>
              </a:rPr>
              <a:t>SVM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0D9D-7911-4523-9115-F450C55AC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41A4A-2F12-4BFC-BEF2-C6EED59BC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70" y="1714557"/>
            <a:ext cx="7822060" cy="457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053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6246-A2BE-4A95-B00F-9B172244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9011-DF62-4B02-B9AC-A6A4499E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简介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视觉词袋模型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改进的视觉词袋模型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67519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54F4-09D4-4892-925A-A549C874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改进的视觉词袋模型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9DDF-DBCB-4EC0-9B44-3F381E269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Spatial Information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Soft Assignment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Vector of Locally aggregated descriptors (VLAD)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Fisher Vector (FV)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2841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34A5-96F0-4DA4-A3C2-1B281888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1. Spatial Information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C0A4-92E2-4098-ACE4-E20CF947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Loss of spatial information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0FA46-9768-4697-BC09-44B45A6F0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91" y="2539194"/>
            <a:ext cx="7480817" cy="39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17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52D2-5958-4C1C-B705-24FA17F4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Spatial pyramid representation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9C27E-EE21-4BAC-9B17-B875F7AB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 descr="texton_ind_0">
            <a:extLst>
              <a:ext uri="{FF2B5EF4-FFF2-40B4-BE49-F238E27FC236}">
                <a16:creationId xmlns:a16="http://schemas.microsoft.com/office/drawing/2014/main" id="{29120054-6C96-4F9D-9797-44B5B960E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49" y="4452938"/>
            <a:ext cx="1997075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4961EA8-E440-4F0B-B1A2-10BC11E50E34}"/>
              </a:ext>
            </a:extLst>
          </p:cNvPr>
          <p:cNvGrpSpPr>
            <a:grpSpLocks/>
          </p:cNvGrpSpPr>
          <p:nvPr/>
        </p:nvGrpSpPr>
        <p:grpSpPr bwMode="auto">
          <a:xfrm>
            <a:off x="5079999" y="4456113"/>
            <a:ext cx="2017713" cy="1609725"/>
            <a:chOff x="1968" y="2812"/>
            <a:chExt cx="1680" cy="1316"/>
          </a:xfrm>
        </p:grpSpPr>
        <p:pic>
          <p:nvPicPr>
            <p:cNvPr id="6" name="Picture 5" descr="texton_ind_1_1">
              <a:extLst>
                <a:ext uri="{FF2B5EF4-FFF2-40B4-BE49-F238E27FC236}">
                  <a16:creationId xmlns:a16="http://schemas.microsoft.com/office/drawing/2014/main" id="{9A06B87F-E93D-402B-8439-D3B78B77BE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3485"/>
              <a:ext cx="816" cy="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" descr="texton_ind_1_2">
              <a:extLst>
                <a:ext uri="{FF2B5EF4-FFF2-40B4-BE49-F238E27FC236}">
                  <a16:creationId xmlns:a16="http://schemas.microsoft.com/office/drawing/2014/main" id="{14CE4158-2E01-4BFF-B8E1-286596D934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812"/>
              <a:ext cx="816" cy="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texton_ind_1_3">
              <a:extLst>
                <a:ext uri="{FF2B5EF4-FFF2-40B4-BE49-F238E27FC236}">
                  <a16:creationId xmlns:a16="http://schemas.microsoft.com/office/drawing/2014/main" id="{79845DDF-1154-42B4-9EE5-EB23D5C8F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2812"/>
              <a:ext cx="816" cy="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8" descr="texton_ind_1_4">
              <a:extLst>
                <a:ext uri="{FF2B5EF4-FFF2-40B4-BE49-F238E27FC236}">
                  <a16:creationId xmlns:a16="http://schemas.microsoft.com/office/drawing/2014/main" id="{A77F968E-8F4C-4BE8-8E4F-FF50F63F6C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3485"/>
              <a:ext cx="816" cy="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AutoShape 9">
            <a:extLst>
              <a:ext uri="{FF2B5EF4-FFF2-40B4-BE49-F238E27FC236}">
                <a16:creationId xmlns:a16="http://schemas.microsoft.com/office/drawing/2014/main" id="{215B816F-55A0-45AC-8C14-6941ADD16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7087" y="4057651"/>
            <a:ext cx="344487" cy="3079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99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000000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11" name="Picture 10" descr="burma_bagan">
            <a:extLst>
              <a:ext uri="{FF2B5EF4-FFF2-40B4-BE49-F238E27FC236}">
                <a16:creationId xmlns:a16="http://schemas.microsoft.com/office/drawing/2014/main" id="{700084E5-E850-4D30-A315-A3E751327F06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2" y="1690688"/>
            <a:ext cx="3114675" cy="2274888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ECA5CE2-E734-4002-AF98-287D2AAA1131}"/>
              </a:ext>
            </a:extLst>
          </p:cNvPr>
          <p:cNvGrpSpPr>
            <a:grpSpLocks/>
          </p:cNvGrpSpPr>
          <p:nvPr/>
        </p:nvGrpSpPr>
        <p:grpSpPr bwMode="auto">
          <a:xfrm>
            <a:off x="4540249" y="1690688"/>
            <a:ext cx="3114675" cy="2274888"/>
            <a:chOff x="1488" y="480"/>
            <a:chExt cx="2784" cy="1929"/>
          </a:xfrm>
        </p:grpSpPr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C8E465B-2945-4CB3-A185-4C7A07C66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80"/>
              <a:ext cx="0" cy="1929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E93A26F8-9BBD-4D1E-89AC-57C0A2867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440"/>
              <a:ext cx="2784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09689795-5722-40E4-94E5-234F0C04A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960"/>
              <a:ext cx="2784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4DD063BB-8B64-469A-8F3C-CCD2B425F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920"/>
              <a:ext cx="2784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DCE75C0C-B08D-4082-BDA6-21FE24D7B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480"/>
              <a:ext cx="0" cy="1929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FF1A925C-CA01-46F5-927D-686EBAE46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480"/>
              <a:ext cx="0" cy="1929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</p:grpSp>
      <p:sp>
        <p:nvSpPr>
          <p:cNvPr id="19" name="AutoShape 18">
            <a:extLst>
              <a:ext uri="{FF2B5EF4-FFF2-40B4-BE49-F238E27FC236}">
                <a16:creationId xmlns:a16="http://schemas.microsoft.com/office/drawing/2014/main" id="{D880ABC3-073B-4F18-94DB-81AFC318529D}"/>
              </a:ext>
            </a:extLst>
          </p:cNvPr>
          <p:cNvSpPr>
            <a:spLocks noChangeArrowheads="1"/>
          </p:cNvSpPr>
          <p:nvPr/>
        </p:nvSpPr>
        <p:spPr bwMode="auto">
          <a:xfrm rot="2426846">
            <a:off x="4149724" y="4022726"/>
            <a:ext cx="344488" cy="3095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99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000000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C67007B8-EEB4-4E00-B3F5-CAB09D957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4" y="6078538"/>
            <a:ext cx="6687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level 0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AA3AEB41-2EC4-4384-AD39-6CCFAD001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4" y="6075363"/>
            <a:ext cx="6687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level 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ECA03F-D4CA-4E68-93AB-3DE7832BBB02}"/>
              </a:ext>
            </a:extLst>
          </p:cNvPr>
          <p:cNvGrpSpPr>
            <a:grpSpLocks/>
          </p:cNvGrpSpPr>
          <p:nvPr/>
        </p:nvGrpSpPr>
        <p:grpSpPr bwMode="auto">
          <a:xfrm>
            <a:off x="7664449" y="4022725"/>
            <a:ext cx="2362200" cy="2361083"/>
            <a:chOff x="3798" y="3007"/>
            <a:chExt cx="1420" cy="129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5C6E322-264C-4FB2-A113-E0936563F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5" y="3245"/>
              <a:ext cx="1213" cy="883"/>
              <a:chOff x="3792" y="2812"/>
              <a:chExt cx="1680" cy="1316"/>
            </a:xfrm>
          </p:grpSpPr>
          <p:pic>
            <p:nvPicPr>
              <p:cNvPr id="26" name="Picture 23" descr="texton_ind_2_1">
                <a:extLst>
                  <a:ext uri="{FF2B5EF4-FFF2-40B4-BE49-F238E27FC236}">
                    <a16:creationId xmlns:a16="http://schemas.microsoft.com/office/drawing/2014/main" id="{F276D0D1-09DA-46A1-ACC6-3FCA52AEED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2" y="2812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24" descr="texton_ind_2_2">
                <a:extLst>
                  <a:ext uri="{FF2B5EF4-FFF2-40B4-BE49-F238E27FC236}">
                    <a16:creationId xmlns:a16="http://schemas.microsoft.com/office/drawing/2014/main" id="{58EFEA1E-408E-44A0-B2AD-33B0436D34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24" y="3153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25" descr="texton_ind_2_3">
                <a:extLst>
                  <a:ext uri="{FF2B5EF4-FFF2-40B4-BE49-F238E27FC236}">
                    <a16:creationId xmlns:a16="http://schemas.microsoft.com/office/drawing/2014/main" id="{8B900804-E9D4-46A6-84B5-CBA8257CBE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" y="2812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" name="Picture 26" descr="texton_ind_2_4">
                <a:extLst>
                  <a:ext uri="{FF2B5EF4-FFF2-40B4-BE49-F238E27FC236}">
                    <a16:creationId xmlns:a16="http://schemas.microsoft.com/office/drawing/2014/main" id="{CC1C9ADD-78F5-4BDE-9AAA-05F8B32BDB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88" y="2817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27" descr="texton_ind_2_5">
                <a:extLst>
                  <a:ext uri="{FF2B5EF4-FFF2-40B4-BE49-F238E27FC236}">
                    <a16:creationId xmlns:a16="http://schemas.microsoft.com/office/drawing/2014/main" id="{C4D80394-43D6-4C8B-BEDD-ABB9C29676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2" y="3153"/>
                <a:ext cx="38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28" descr="texton_ind_2_6">
                <a:extLst>
                  <a:ext uri="{FF2B5EF4-FFF2-40B4-BE49-F238E27FC236}">
                    <a16:creationId xmlns:a16="http://schemas.microsoft.com/office/drawing/2014/main" id="{12981146-9A5F-4BDD-A4FD-5587FFBAAF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24" y="2812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29" descr="texton_ind_2_7">
                <a:extLst>
                  <a:ext uri="{FF2B5EF4-FFF2-40B4-BE49-F238E27FC236}">
                    <a16:creationId xmlns:a16="http://schemas.microsoft.com/office/drawing/2014/main" id="{CAC8EE36-2E7F-4235-A0B7-2493A8E525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88" y="3153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" name="Picture 30" descr="texton_ind_2_8">
                <a:extLst>
                  <a:ext uri="{FF2B5EF4-FFF2-40B4-BE49-F238E27FC236}">
                    <a16:creationId xmlns:a16="http://schemas.microsoft.com/office/drawing/2014/main" id="{A4F0A5FC-25AC-4CC5-94EE-E4E2D04916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V="1">
                <a:off x="4656" y="3153"/>
                <a:ext cx="38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4" name="Picture 31" descr="texton_ind_2_9">
                <a:extLst>
                  <a:ext uri="{FF2B5EF4-FFF2-40B4-BE49-F238E27FC236}">
                    <a16:creationId xmlns:a16="http://schemas.microsoft.com/office/drawing/2014/main" id="{7223ED57-2470-40B3-B750-48605DDB8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2" y="3489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Picture 32" descr="texton_ind_2_10">
                <a:extLst>
                  <a:ext uri="{FF2B5EF4-FFF2-40B4-BE49-F238E27FC236}">
                    <a16:creationId xmlns:a16="http://schemas.microsoft.com/office/drawing/2014/main" id="{72FF9296-D8DD-4D9E-886E-982E7D9C70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" y="3825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Picture 33" descr="texton_ind_2_11">
                <a:extLst>
                  <a:ext uri="{FF2B5EF4-FFF2-40B4-BE49-F238E27FC236}">
                    <a16:creationId xmlns:a16="http://schemas.microsoft.com/office/drawing/2014/main" id="{60C8BF60-08A8-47ED-8B5D-BE39AD7FB1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" y="3489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34" descr="texton_ind_2_12">
                <a:extLst>
                  <a:ext uri="{FF2B5EF4-FFF2-40B4-BE49-F238E27FC236}">
                    <a16:creationId xmlns:a16="http://schemas.microsoft.com/office/drawing/2014/main" id="{8E31DBA3-8D24-4D2D-AC77-CA9B039FC4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24" y="3489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" name="Picture 35" descr="texton_ind_2_13">
                <a:extLst>
                  <a:ext uri="{FF2B5EF4-FFF2-40B4-BE49-F238E27FC236}">
                    <a16:creationId xmlns:a16="http://schemas.microsoft.com/office/drawing/2014/main" id="{3CD4AFF9-7931-4D28-AE38-889B9494D2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0" y="3831"/>
                <a:ext cx="376" cy="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" name="Picture 36" descr="texton_ind_2_14">
                <a:extLst>
                  <a:ext uri="{FF2B5EF4-FFF2-40B4-BE49-F238E27FC236}">
                    <a16:creationId xmlns:a16="http://schemas.microsoft.com/office/drawing/2014/main" id="{8B90100C-F5BB-4F66-9850-86476F2170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24" y="3825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0" name="Picture 37" descr="texton_ind_2_15">
                <a:extLst>
                  <a:ext uri="{FF2B5EF4-FFF2-40B4-BE49-F238E27FC236}">
                    <a16:creationId xmlns:a16="http://schemas.microsoft.com/office/drawing/2014/main" id="{E880A48C-23BB-464F-B244-6037FBD4DE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88" y="3825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38" descr="texton_ind_2_16">
                <a:extLst>
                  <a:ext uri="{FF2B5EF4-FFF2-40B4-BE49-F238E27FC236}">
                    <a16:creationId xmlns:a16="http://schemas.microsoft.com/office/drawing/2014/main" id="{CFFB0180-3FEB-4AF5-B249-8F863B1FCE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88" y="3489"/>
                <a:ext cx="384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" name="AutoShape 39">
              <a:extLst>
                <a:ext uri="{FF2B5EF4-FFF2-40B4-BE49-F238E27FC236}">
                  <a16:creationId xmlns:a16="http://schemas.microsoft.com/office/drawing/2014/main" id="{5E866348-A760-4DB5-8B21-F87F36E679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173154" flipH="1">
              <a:off x="3798" y="3007"/>
              <a:ext cx="207" cy="17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+mn-lt"/>
                <a:cs typeface="+mn-ea"/>
                <a:sym typeface="+mn-lt"/>
              </a:endParaRPr>
            </a:p>
          </p:txBody>
        </p:sp>
        <p:sp>
          <p:nvSpPr>
            <p:cNvPr id="25" name="Text Box 40">
              <a:extLst>
                <a:ext uri="{FF2B5EF4-FFF2-40B4-BE49-F238E27FC236}">
                  <a16:creationId xmlns:a16="http://schemas.microsoft.com/office/drawing/2014/main" id="{F111CD02-67AE-496C-B631-3653FAB77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9" y="4133"/>
              <a:ext cx="402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level 2</a:t>
              </a:r>
            </a:p>
          </p:txBody>
        </p:sp>
      </p:grpSp>
      <p:sp>
        <p:nvSpPr>
          <p:cNvPr id="80" name="文本框 7">
            <a:extLst>
              <a:ext uri="{FF2B5EF4-FFF2-40B4-BE49-F238E27FC236}">
                <a16:creationId xmlns:a16="http://schemas.microsoft.com/office/drawing/2014/main" id="{6F918DAE-A69E-4C76-A575-D91D285F123D}"/>
              </a:ext>
            </a:extLst>
          </p:cNvPr>
          <p:cNvSpPr txBox="1"/>
          <p:nvPr/>
        </p:nvSpPr>
        <p:spPr>
          <a:xfrm>
            <a:off x="3684543" y="6608196"/>
            <a:ext cx="76979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50" dirty="0">
                <a:cs typeface="+mn-ea"/>
                <a:sym typeface="+mn-lt"/>
              </a:rPr>
              <a:t>Lazebnik S, Schmid C, Ponce J.</a:t>
            </a:r>
            <a:r>
              <a:rPr lang="en-US" sz="1050" dirty="0">
                <a:cs typeface="+mn-ea"/>
                <a:sym typeface="+mn-lt"/>
              </a:rPr>
              <a:t> “Beyond bags of features: Spatial pyramid matching for recognizing natural scene categories”, </a:t>
            </a:r>
            <a:r>
              <a:rPr lang="en-US" altLang="zh-CN" sz="1050" i="1" dirty="0">
                <a:cs typeface="+mn-ea"/>
                <a:sym typeface="+mn-lt"/>
              </a:rPr>
              <a:t>CVPR</a:t>
            </a:r>
            <a:r>
              <a:rPr lang="en-US" sz="1050" i="1" dirty="0">
                <a:cs typeface="+mn-ea"/>
                <a:sym typeface="+mn-lt"/>
              </a:rPr>
              <a:t> 2006</a:t>
            </a:r>
          </a:p>
        </p:txBody>
      </p:sp>
    </p:spTree>
    <p:extLst>
      <p:ext uri="{BB962C8B-B14F-4D97-AF65-F5344CB8AC3E}">
        <p14:creationId xmlns:p14="http://schemas.microsoft.com/office/powerpoint/2010/main" val="1106558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D237-A0E7-4338-8296-0F5BF497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Spatial pyramid histograms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540C-7F71-41C1-A6FC-48C322E87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736F1-7420-47A3-B0D2-5178216F6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43" y="1600200"/>
            <a:ext cx="7793714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540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C555-ADE2-465B-86B4-4BAF27F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Caltech-101 dataset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7A46C-1AB3-4183-812B-FB05124A0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DD29E1-1201-4AA2-9B39-307FF327738E}"/>
              </a:ext>
            </a:extLst>
          </p:cNvPr>
          <p:cNvGrpSpPr/>
          <p:nvPr/>
        </p:nvGrpSpPr>
        <p:grpSpPr>
          <a:xfrm>
            <a:off x="1821803" y="1552148"/>
            <a:ext cx="8382000" cy="2214562"/>
            <a:chOff x="1612641" y="1366838"/>
            <a:chExt cx="8382000" cy="2214562"/>
          </a:xfrm>
        </p:grpSpPr>
        <p:pic>
          <p:nvPicPr>
            <p:cNvPr id="5" name="Picture 3" descr="image_0002">
              <a:extLst>
                <a:ext uri="{FF2B5EF4-FFF2-40B4-BE49-F238E27FC236}">
                  <a16:creationId xmlns:a16="http://schemas.microsoft.com/office/drawing/2014/main" id="{DF6FDBA2-9D0A-44EE-81D5-11818123F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641" y="1366838"/>
              <a:ext cx="982663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image_0024">
              <a:extLst>
                <a:ext uri="{FF2B5EF4-FFF2-40B4-BE49-F238E27FC236}">
                  <a16:creationId xmlns:a16="http://schemas.microsoft.com/office/drawing/2014/main" id="{8C844EE9-B9FB-4F07-B2D3-EA3B91CD39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0866" y="1366838"/>
              <a:ext cx="1247775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5" descr="image_0009">
              <a:extLst>
                <a:ext uri="{FF2B5EF4-FFF2-40B4-BE49-F238E27FC236}">
                  <a16:creationId xmlns:a16="http://schemas.microsoft.com/office/drawing/2014/main" id="{321E78EB-0550-42B5-ACC6-08D097FDED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4841" y="1366838"/>
              <a:ext cx="763588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image_0014">
              <a:extLst>
                <a:ext uri="{FF2B5EF4-FFF2-40B4-BE49-F238E27FC236}">
                  <a16:creationId xmlns:a16="http://schemas.microsoft.com/office/drawing/2014/main" id="{33D46020-F13D-4C1C-B724-1C1C1723E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1929" y="1366838"/>
              <a:ext cx="1484312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" descr="image_0011">
              <a:extLst>
                <a:ext uri="{FF2B5EF4-FFF2-40B4-BE49-F238E27FC236}">
                  <a16:creationId xmlns:a16="http://schemas.microsoft.com/office/drawing/2014/main" id="{31AA1A42-F8C2-4A70-87D5-EE170C869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2216" y="1366838"/>
              <a:ext cx="1516063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image_0018">
              <a:extLst>
                <a:ext uri="{FF2B5EF4-FFF2-40B4-BE49-F238E27FC236}">
                  <a16:creationId xmlns:a16="http://schemas.microsoft.com/office/drawing/2014/main" id="{C267C919-5D54-404A-B9C9-F651F43F3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641" y="2509838"/>
              <a:ext cx="1112838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9" descr="image_0018">
              <a:extLst>
                <a:ext uri="{FF2B5EF4-FFF2-40B4-BE49-F238E27FC236}">
                  <a16:creationId xmlns:a16="http://schemas.microsoft.com/office/drawing/2014/main" id="{7CE87595-76BD-468A-80D0-40C6C89845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9266" y="1366838"/>
              <a:ext cx="660400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0" descr="image_0012">
              <a:extLst>
                <a:ext uri="{FF2B5EF4-FFF2-40B4-BE49-F238E27FC236}">
                  <a16:creationId xmlns:a16="http://schemas.microsoft.com/office/drawing/2014/main" id="{641A35D4-DFA0-4279-A266-8957308020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75429" y="1366838"/>
              <a:ext cx="1319212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1" descr="image_0035">
              <a:extLst>
                <a:ext uri="{FF2B5EF4-FFF2-40B4-BE49-F238E27FC236}">
                  <a16:creationId xmlns:a16="http://schemas.microsoft.com/office/drawing/2014/main" id="{35B98B6D-8054-49DF-8D11-F32B3EE95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0091" y="2509838"/>
              <a:ext cx="1135063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image_0006">
              <a:extLst>
                <a:ext uri="{FF2B5EF4-FFF2-40B4-BE49-F238E27FC236}">
                  <a16:creationId xmlns:a16="http://schemas.microsoft.com/office/drawing/2014/main" id="{63F23EFA-D028-4B93-8037-2FFA80906B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5954" y="2509838"/>
              <a:ext cx="800100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3" descr="image_0010">
              <a:extLst>
                <a:ext uri="{FF2B5EF4-FFF2-40B4-BE49-F238E27FC236}">
                  <a16:creationId xmlns:a16="http://schemas.microsoft.com/office/drawing/2014/main" id="{B79476F3-2529-411A-9835-9868C309A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7966" y="2509838"/>
              <a:ext cx="1625600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4" descr="image_0013">
              <a:extLst>
                <a:ext uri="{FF2B5EF4-FFF2-40B4-BE49-F238E27FC236}">
                  <a16:creationId xmlns:a16="http://schemas.microsoft.com/office/drawing/2014/main" id="{CDC1F260-F284-4889-ABC8-DBEB77D57A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641" y="2509838"/>
              <a:ext cx="1352550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5" descr="image_0028">
              <a:extLst>
                <a:ext uri="{FF2B5EF4-FFF2-40B4-BE49-F238E27FC236}">
                  <a16:creationId xmlns:a16="http://schemas.microsoft.com/office/drawing/2014/main" id="{85D93292-4B26-45E9-BA85-C82A4F5D8A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1216" y="2509838"/>
              <a:ext cx="631825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6" descr="image_0006">
              <a:extLst>
                <a:ext uri="{FF2B5EF4-FFF2-40B4-BE49-F238E27FC236}">
                  <a16:creationId xmlns:a16="http://schemas.microsoft.com/office/drawing/2014/main" id="{80E7B813-813E-4941-8764-60320DD2DD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99241" y="2509838"/>
              <a:ext cx="1295400" cy="107156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88DA3F-346B-4353-BA3D-0B38A27EB65E}"/>
              </a:ext>
            </a:extLst>
          </p:cNvPr>
          <p:cNvGrpSpPr>
            <a:grpSpLocks/>
          </p:cNvGrpSpPr>
          <p:nvPr/>
        </p:nvGrpSpPr>
        <p:grpSpPr bwMode="auto">
          <a:xfrm>
            <a:off x="2367643" y="3931230"/>
            <a:ext cx="7456714" cy="2397125"/>
            <a:chOff x="528" y="2256"/>
            <a:chExt cx="4730" cy="1834"/>
          </a:xfrm>
        </p:grpSpPr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ED6BBA97-D8B8-4C6B-972C-1890223EE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56"/>
              <a:ext cx="416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bg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  <a:cs typeface="+mn-ea"/>
                  <a:sym typeface="+mn-lt"/>
                </a:rPr>
                <a:t>Multi-class classification results (30 training images per class)</a:t>
              </a:r>
            </a:p>
          </p:txBody>
        </p:sp>
        <p:pic>
          <p:nvPicPr>
            <p:cNvPr id="21" name="Picture 20" descr="caltech101_results2">
              <a:extLst>
                <a:ext uri="{FF2B5EF4-FFF2-40B4-BE49-F238E27FC236}">
                  <a16:creationId xmlns:a16="http://schemas.microsoft.com/office/drawing/2014/main" id="{18C5558C-6399-4E9B-80FD-CB7E440F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490"/>
              <a:ext cx="4730" cy="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Rectangle 17">
            <a:extLst>
              <a:ext uri="{FF2B5EF4-FFF2-40B4-BE49-F238E27FC236}">
                <a16:creationId xmlns:a16="http://schemas.microsoft.com/office/drawing/2014/main" id="{7FC3F500-3C04-4538-BF25-EFF8495F6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157" y="6550223"/>
            <a:ext cx="56440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+mn-lt"/>
                <a:cs typeface="+mn-ea"/>
                <a:sym typeface="+mn-lt"/>
                <a:hlinkClick r:id="rId17"/>
              </a:rPr>
              <a:t>http://www.vision.caltech.edu/Image_Datasets/Caltech101/Caltech101.html</a:t>
            </a:r>
            <a:endParaRPr lang="en-US" altLang="en-US" sz="14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07183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3F54-8BD5-4396-ACCC-3522A255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Spatially-augmented descriptors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3BBB6-C6C6-4D7F-A096-8ACDC77B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A7071-55CA-46F9-BE09-9BB41853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27302" cy="288979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F08D14-3372-4199-AC05-2A737D8ED503}"/>
              </a:ext>
            </a:extLst>
          </p:cNvPr>
          <p:cNvSpPr txBox="1">
            <a:spLocks/>
          </p:cNvSpPr>
          <p:nvPr/>
        </p:nvSpPr>
        <p:spPr>
          <a:xfrm>
            <a:off x="1691490" y="5057288"/>
            <a:ext cx="5889978" cy="110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00B0F0"/>
                </a:solidFill>
                <a:cs typeface="+mn-ea"/>
                <a:sym typeface="+mn-lt"/>
              </a:rPr>
              <a:t>Alternative to spatial pyramid</a:t>
            </a:r>
          </a:p>
          <a:p>
            <a:r>
              <a:rPr lang="en-US" altLang="zh-CN" b="1">
                <a:solidFill>
                  <a:srgbClr val="00B0F0"/>
                </a:solidFill>
                <a:cs typeface="+mn-ea"/>
                <a:sym typeface="+mn-lt"/>
              </a:rPr>
              <a:t>Greatly reduced dimensionality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1D3B3-C3D7-4374-9F04-D5A28EC3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357" y="4222835"/>
            <a:ext cx="3033394" cy="213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495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BA18-CEEF-46B3-949F-9FA26632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Soft Assignments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A943D-55C2-4F26-8932-EFD8796C4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Kernel Codebooks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Locality-constrained Linear Coding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(LLC)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349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1431-E18F-459B-AF69-3F9904BE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Kernel Codebooks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4E5B7B32-2377-49F4-A846-08B390A5E745}"/>
              </a:ext>
            </a:extLst>
          </p:cNvPr>
          <p:cNvSpPr txBox="1"/>
          <p:nvPr/>
        </p:nvSpPr>
        <p:spPr>
          <a:xfrm>
            <a:off x="6986224" y="6604084"/>
            <a:ext cx="52057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cs typeface="+mn-ea"/>
                <a:sym typeface="+mn-lt"/>
              </a:rPr>
              <a:t>Jan C. van </a:t>
            </a:r>
            <a:r>
              <a:rPr lang="en-US" sz="1050" dirty="0" err="1">
                <a:cs typeface="+mn-ea"/>
                <a:sym typeface="+mn-lt"/>
              </a:rPr>
              <a:t>Gemert</a:t>
            </a:r>
            <a:r>
              <a:rPr lang="en-US" sz="1050" dirty="0">
                <a:cs typeface="+mn-ea"/>
                <a:sym typeface="+mn-lt"/>
              </a:rPr>
              <a:t>, et al</a:t>
            </a:r>
            <a:r>
              <a:rPr lang="pl-PL" sz="1050" dirty="0">
                <a:cs typeface="+mn-ea"/>
                <a:sym typeface="+mn-lt"/>
              </a:rPr>
              <a:t>.</a:t>
            </a:r>
            <a:r>
              <a:rPr lang="en-US" sz="1050" dirty="0">
                <a:cs typeface="+mn-ea"/>
                <a:sym typeface="+mn-lt"/>
              </a:rPr>
              <a:t> “Kernel Codebooks for Scene Categorization.” </a:t>
            </a:r>
            <a:r>
              <a:rPr lang="en-US" sz="1050" i="1" dirty="0">
                <a:cs typeface="+mn-ea"/>
                <a:sym typeface="+mn-lt"/>
              </a:rPr>
              <a:t>ECCV 2008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C76E7-652C-41D9-AC1B-9167466B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071732"/>
            <a:ext cx="5358176" cy="3708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81BFCE-1D79-4043-A984-A8F52A92D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59" y="3275515"/>
            <a:ext cx="3419475" cy="819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AFC64-84C8-49D5-B83F-8E0FD79152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59" y="2109205"/>
            <a:ext cx="3981450" cy="542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F031E-6AF2-4652-843A-E6B9DEE1A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4718050"/>
            <a:ext cx="25336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415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4257-982A-463D-AACF-688DD14F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Locality-constrained Linear Coding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(LLC)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3567-CDAA-4A9E-B9E7-1E034268D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8C8D8-2C45-4533-A075-05443D38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98" y="1535828"/>
            <a:ext cx="4969502" cy="4937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1D7801-3523-40B8-B7B4-233DAE09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98" y="1965973"/>
            <a:ext cx="5123809" cy="17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DFE099-F654-4654-9642-09399141D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84" y="4164523"/>
            <a:ext cx="3590476" cy="1123810"/>
          </a:xfrm>
          <a:prstGeom prst="rect">
            <a:avLst/>
          </a:prstGeom>
        </p:spPr>
      </p:pic>
      <p:sp>
        <p:nvSpPr>
          <p:cNvPr id="7" name="文本框 7">
            <a:extLst>
              <a:ext uri="{FF2B5EF4-FFF2-40B4-BE49-F238E27FC236}">
                <a16:creationId xmlns:a16="http://schemas.microsoft.com/office/drawing/2014/main" id="{32DE37EE-BBD3-4FCD-924E-C3FBD65E82EA}"/>
              </a:ext>
            </a:extLst>
          </p:cNvPr>
          <p:cNvSpPr txBox="1"/>
          <p:nvPr/>
        </p:nvSpPr>
        <p:spPr>
          <a:xfrm>
            <a:off x="6712615" y="6604084"/>
            <a:ext cx="50626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cs typeface="+mn-ea"/>
                <a:sym typeface="+mn-lt"/>
              </a:rPr>
              <a:t>Wang</a:t>
            </a:r>
            <a:r>
              <a:rPr lang="pl-PL" sz="1050" dirty="0">
                <a:cs typeface="+mn-ea"/>
                <a:sym typeface="+mn-lt"/>
              </a:rPr>
              <a:t> </a:t>
            </a:r>
            <a:r>
              <a:rPr lang="en-US" sz="1050" dirty="0">
                <a:cs typeface="+mn-ea"/>
                <a:sym typeface="+mn-lt"/>
              </a:rPr>
              <a:t>J</a:t>
            </a:r>
            <a:r>
              <a:rPr lang="pl-PL" sz="1050" dirty="0">
                <a:cs typeface="+mn-ea"/>
                <a:sym typeface="+mn-lt"/>
              </a:rPr>
              <a:t>, </a:t>
            </a:r>
            <a:r>
              <a:rPr lang="en-US" sz="1050" dirty="0">
                <a:cs typeface="+mn-ea"/>
                <a:sym typeface="+mn-lt"/>
              </a:rPr>
              <a:t>et al.</a:t>
            </a:r>
            <a:r>
              <a:rPr lang="pl-PL" sz="1050" dirty="0">
                <a:cs typeface="+mn-ea"/>
                <a:sym typeface="+mn-lt"/>
              </a:rPr>
              <a:t>.</a:t>
            </a:r>
            <a:r>
              <a:rPr lang="en-US" sz="1050" dirty="0">
                <a:cs typeface="+mn-ea"/>
                <a:sym typeface="+mn-lt"/>
              </a:rPr>
              <a:t> “Locality-constrained Linear Coding for Image Classification.” </a:t>
            </a:r>
            <a:r>
              <a:rPr lang="en-US" altLang="zh-CN" sz="1050" i="1" dirty="0">
                <a:cs typeface="+mn-ea"/>
                <a:sym typeface="+mn-lt"/>
              </a:rPr>
              <a:t>CVPR</a:t>
            </a:r>
            <a:r>
              <a:rPr lang="en-US" sz="1050" i="1" dirty="0">
                <a:cs typeface="+mn-ea"/>
                <a:sym typeface="+mn-lt"/>
              </a:rPr>
              <a:t> 2010</a:t>
            </a:r>
          </a:p>
        </p:txBody>
      </p:sp>
    </p:spTree>
    <p:extLst>
      <p:ext uri="{BB962C8B-B14F-4D97-AF65-F5344CB8AC3E}">
        <p14:creationId xmlns:p14="http://schemas.microsoft.com/office/powerpoint/2010/main" val="5891402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CC0E-2D8B-4A69-909E-1B31459B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Vector of Locally Aggregated Descriptors (VLAD)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8F54-F424-48A4-8512-21BB01443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17F88-0A10-4914-9B7D-285791B4A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579" y="1690688"/>
            <a:ext cx="7320841" cy="4716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5F208A-775F-46A3-B45A-5665D108945F}"/>
              </a:ext>
            </a:extLst>
          </p:cNvPr>
          <p:cNvSpPr txBox="1"/>
          <p:nvPr/>
        </p:nvSpPr>
        <p:spPr>
          <a:xfrm>
            <a:off x="8882522" y="5951710"/>
            <a:ext cx="2501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Feature dimension:</a:t>
            </a: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KD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4BD566B8-3A7E-4DB1-95AF-1F214F637425}"/>
              </a:ext>
            </a:extLst>
          </p:cNvPr>
          <p:cNvSpPr txBox="1"/>
          <p:nvPr/>
        </p:nvSpPr>
        <p:spPr>
          <a:xfrm>
            <a:off x="4764967" y="6604084"/>
            <a:ext cx="6734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50" dirty="0">
                <a:cs typeface="+mn-ea"/>
                <a:sym typeface="+mn-lt"/>
              </a:rPr>
              <a:t>Jégou H, Douze M, Schmid C, Pérez P.</a:t>
            </a:r>
            <a:r>
              <a:rPr lang="en-US" sz="1050" dirty="0">
                <a:cs typeface="+mn-ea"/>
                <a:sym typeface="+mn-lt"/>
              </a:rPr>
              <a:t> “Aggregating local descriptors into a compact image representation.” </a:t>
            </a:r>
            <a:r>
              <a:rPr lang="en-US" altLang="zh-CN" sz="1050" i="1" dirty="0">
                <a:cs typeface="+mn-ea"/>
                <a:sym typeface="+mn-lt"/>
              </a:rPr>
              <a:t>CVPR</a:t>
            </a:r>
            <a:r>
              <a:rPr lang="en-US" sz="1050" i="1" dirty="0">
                <a:cs typeface="+mn-ea"/>
                <a:sym typeface="+mn-lt"/>
              </a:rPr>
              <a:t> 2010</a:t>
            </a:r>
          </a:p>
        </p:txBody>
      </p:sp>
    </p:spTree>
    <p:extLst>
      <p:ext uri="{BB962C8B-B14F-4D97-AF65-F5344CB8AC3E}">
        <p14:creationId xmlns:p14="http://schemas.microsoft.com/office/powerpoint/2010/main" val="38457332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EEAE-4358-47E1-9C07-30FF8695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3. VLAD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6298-78B5-44AC-B299-8999B8A3D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B1919-1546-4B2C-8D64-C5F51AC6C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90" y="1612346"/>
            <a:ext cx="10674220" cy="462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61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6D32-CB8D-4A4F-8F4D-A907B0CF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4. Fisher Vector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DE90B-B991-4E4A-BF74-436F2E616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CCD6B-0339-417F-949B-B0E0E4FB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3428"/>
            <a:ext cx="7269346" cy="4709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30917-4CD5-49A0-98C5-ED79FDD9B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862" y="2535972"/>
            <a:ext cx="3150382" cy="2310989"/>
          </a:xfrm>
          <a:prstGeom prst="rect">
            <a:avLst/>
          </a:prstGeom>
        </p:spPr>
      </p:pic>
      <p:sp>
        <p:nvSpPr>
          <p:cNvPr id="6" name="文本框 7">
            <a:extLst>
              <a:ext uri="{FF2B5EF4-FFF2-40B4-BE49-F238E27FC236}">
                <a16:creationId xmlns:a16="http://schemas.microsoft.com/office/drawing/2014/main" id="{83B6DC43-7BBF-4696-B687-8C6640574D04}"/>
              </a:ext>
            </a:extLst>
          </p:cNvPr>
          <p:cNvSpPr txBox="1"/>
          <p:nvPr/>
        </p:nvSpPr>
        <p:spPr>
          <a:xfrm>
            <a:off x="6393608" y="6604084"/>
            <a:ext cx="57983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cs typeface="+mn-ea"/>
                <a:sym typeface="+mn-lt"/>
              </a:rPr>
              <a:t>Sanchez</a:t>
            </a:r>
            <a:r>
              <a:rPr lang="pl-PL" sz="1050" dirty="0">
                <a:cs typeface="+mn-ea"/>
                <a:sym typeface="+mn-lt"/>
              </a:rPr>
              <a:t> </a:t>
            </a:r>
            <a:r>
              <a:rPr lang="en-US" sz="1050" dirty="0">
                <a:cs typeface="+mn-ea"/>
                <a:sym typeface="+mn-lt"/>
              </a:rPr>
              <a:t>J</a:t>
            </a:r>
            <a:r>
              <a:rPr lang="pl-PL" sz="1050" dirty="0">
                <a:cs typeface="+mn-ea"/>
                <a:sym typeface="+mn-lt"/>
              </a:rPr>
              <a:t>, </a:t>
            </a:r>
            <a:r>
              <a:rPr lang="en-US" sz="1050" dirty="0">
                <a:cs typeface="+mn-ea"/>
                <a:sym typeface="+mn-lt"/>
              </a:rPr>
              <a:t>et al. “Image Classification with the Fisher Vector: Theory and Practice.” </a:t>
            </a:r>
            <a:r>
              <a:rPr lang="en-US" sz="1050" i="1" dirty="0">
                <a:cs typeface="+mn-ea"/>
                <a:sym typeface="+mn-lt"/>
              </a:rPr>
              <a:t>IJCV 2013</a:t>
            </a:r>
          </a:p>
        </p:txBody>
      </p:sp>
    </p:spTree>
    <p:extLst>
      <p:ext uri="{BB962C8B-B14F-4D97-AF65-F5344CB8AC3E}">
        <p14:creationId xmlns:p14="http://schemas.microsoft.com/office/powerpoint/2010/main" val="12920218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43B1-722F-4F4F-BD13-D032121F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Evaluation of different encoding methods</a:t>
            </a:r>
            <a:endParaRPr lang="zh-CN" altLang="en-US" sz="4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DBB6F-3AED-495D-A9F6-9D78EFA0C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7A530B76-84B8-4261-8338-D49CD5815B90}"/>
              </a:ext>
            </a:extLst>
          </p:cNvPr>
          <p:cNvSpPr txBox="1"/>
          <p:nvPr/>
        </p:nvSpPr>
        <p:spPr>
          <a:xfrm>
            <a:off x="3551465" y="6604084"/>
            <a:ext cx="86405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cs typeface="+mn-ea"/>
                <a:sym typeface="+mn-lt"/>
              </a:rPr>
              <a:t>Chatfield</a:t>
            </a:r>
            <a:r>
              <a:rPr lang="pl-PL" sz="1050" dirty="0">
                <a:cs typeface="+mn-ea"/>
                <a:sym typeface="+mn-lt"/>
              </a:rPr>
              <a:t> </a:t>
            </a:r>
            <a:r>
              <a:rPr lang="en-US" sz="1050" dirty="0">
                <a:cs typeface="+mn-ea"/>
                <a:sym typeface="+mn-lt"/>
              </a:rPr>
              <a:t>K</a:t>
            </a:r>
            <a:r>
              <a:rPr lang="pl-PL" sz="1050" dirty="0">
                <a:cs typeface="+mn-ea"/>
                <a:sym typeface="+mn-lt"/>
              </a:rPr>
              <a:t>, </a:t>
            </a:r>
            <a:r>
              <a:rPr lang="en-US" sz="1050" dirty="0" err="1">
                <a:cs typeface="+mn-ea"/>
                <a:sym typeface="+mn-lt"/>
              </a:rPr>
              <a:t>Lempitsky</a:t>
            </a:r>
            <a:r>
              <a:rPr lang="pl-PL" sz="1050" dirty="0">
                <a:cs typeface="+mn-ea"/>
                <a:sym typeface="+mn-lt"/>
              </a:rPr>
              <a:t> </a:t>
            </a:r>
            <a:r>
              <a:rPr lang="en-US" sz="1050" dirty="0">
                <a:cs typeface="+mn-ea"/>
                <a:sym typeface="+mn-lt"/>
              </a:rPr>
              <a:t>V</a:t>
            </a:r>
            <a:r>
              <a:rPr lang="pl-PL" sz="1050" dirty="0">
                <a:cs typeface="+mn-ea"/>
                <a:sym typeface="+mn-lt"/>
              </a:rPr>
              <a:t>, </a:t>
            </a:r>
            <a:r>
              <a:rPr lang="en-US" sz="1050" dirty="0" err="1">
                <a:cs typeface="+mn-ea"/>
                <a:sym typeface="+mn-lt"/>
              </a:rPr>
              <a:t>Vedaldi</a:t>
            </a:r>
            <a:r>
              <a:rPr lang="pl-PL" sz="1050" dirty="0">
                <a:cs typeface="+mn-ea"/>
                <a:sym typeface="+mn-lt"/>
              </a:rPr>
              <a:t> </a:t>
            </a:r>
            <a:r>
              <a:rPr lang="en-US" sz="1050" dirty="0">
                <a:cs typeface="+mn-ea"/>
                <a:sym typeface="+mn-lt"/>
              </a:rPr>
              <a:t>A</a:t>
            </a:r>
            <a:r>
              <a:rPr lang="pl-PL" sz="1050" dirty="0">
                <a:cs typeface="+mn-ea"/>
                <a:sym typeface="+mn-lt"/>
              </a:rPr>
              <a:t>, </a:t>
            </a:r>
            <a:r>
              <a:rPr lang="en-US" sz="1050" dirty="0">
                <a:cs typeface="+mn-ea"/>
                <a:sym typeface="+mn-lt"/>
              </a:rPr>
              <a:t>Zisserman</a:t>
            </a:r>
            <a:r>
              <a:rPr lang="pl-PL" sz="1050" dirty="0">
                <a:cs typeface="+mn-ea"/>
                <a:sym typeface="+mn-lt"/>
              </a:rPr>
              <a:t> </a:t>
            </a:r>
            <a:r>
              <a:rPr lang="en-US" sz="1050" dirty="0">
                <a:cs typeface="+mn-ea"/>
                <a:sym typeface="+mn-lt"/>
              </a:rPr>
              <a:t>A</a:t>
            </a:r>
            <a:r>
              <a:rPr lang="pl-PL" sz="1050" dirty="0">
                <a:cs typeface="+mn-ea"/>
                <a:sym typeface="+mn-lt"/>
              </a:rPr>
              <a:t>.</a:t>
            </a:r>
            <a:r>
              <a:rPr lang="en-US" sz="1050" dirty="0">
                <a:cs typeface="+mn-ea"/>
                <a:sym typeface="+mn-lt"/>
              </a:rPr>
              <a:t> “The devil is in the details: an evaluation of recent feature encoding methods.” </a:t>
            </a:r>
            <a:r>
              <a:rPr lang="en-US" sz="1050" i="1" dirty="0">
                <a:cs typeface="+mn-ea"/>
                <a:sym typeface="+mn-lt"/>
              </a:rPr>
              <a:t>BMVC 2011.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24CDC-7376-4015-A050-CA19296FD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43" y="2251227"/>
            <a:ext cx="11130314" cy="326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292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3641-0986-4CCC-85EE-DB6EA70C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Resource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D4725-5073-4951-9AEF-B8EADB28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b="1" dirty="0">
                <a:cs typeface="+mn-ea"/>
                <a:sym typeface="+mn-lt"/>
              </a:rPr>
              <a:t>Slides</a:t>
            </a:r>
            <a:endParaRPr lang="en-US" altLang="zh-CN" sz="1800" b="1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2"/>
              </a:rPr>
              <a:t>http://www.robots.ox.ac.uk/~vedaldi/assets/teach/vedaldi14bmvc-tutorial.pdf</a:t>
            </a:r>
            <a:endParaRPr lang="en-US" altLang="zh-CN" sz="1800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3"/>
              </a:rPr>
              <a:t>http://cs.brown.edu/courses/cs143/lectures/2020Spring_11_RecognitionAndBagOfWords.pptx</a:t>
            </a:r>
            <a:endParaRPr lang="en-US" altLang="zh-CN" sz="1800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4"/>
              </a:rPr>
              <a:t>http://vision.stanford.edu/teaching/cs131_fall1718/files/14_BoW_bayes.pdf</a:t>
            </a:r>
            <a:endParaRPr lang="en-US" altLang="zh-CN" sz="1800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5"/>
              </a:rPr>
              <a:t>http://cat.cvc.uab.es/~joost/data/master/project_slides.ppt</a:t>
            </a:r>
            <a:endParaRPr lang="en-US" altLang="zh-CN" sz="1800" dirty="0">
              <a:cs typeface="+mn-ea"/>
              <a:sym typeface="+mn-lt"/>
            </a:endParaRPr>
          </a:p>
          <a:p>
            <a:endParaRPr lang="en-US" altLang="zh-CN" sz="1800" dirty="0">
              <a:cs typeface="+mn-ea"/>
              <a:sym typeface="+mn-lt"/>
            </a:endParaRPr>
          </a:p>
          <a:p>
            <a:r>
              <a:rPr lang="en-US" altLang="zh-CN" sz="2400" b="1" dirty="0">
                <a:cs typeface="+mn-ea"/>
                <a:sym typeface="+mn-lt"/>
              </a:rPr>
              <a:t>Code</a:t>
            </a:r>
          </a:p>
          <a:p>
            <a:pPr lvl="1"/>
            <a:r>
              <a:rPr lang="en-US" altLang="zh-CN" sz="1800" dirty="0">
                <a:cs typeface="+mn-ea"/>
                <a:sym typeface="+mn-lt"/>
                <a:hlinkClick r:id="rId6"/>
              </a:rPr>
              <a:t>https://www.vlfeat.org/applications/apps.html</a:t>
            </a:r>
            <a:endParaRPr lang="en-US" altLang="zh-CN" sz="1800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7"/>
              </a:rPr>
              <a:t>https://www.robots.ox.ac.uk/~vgg/practicals/instance-recognition/index.html</a:t>
            </a:r>
            <a:endParaRPr lang="en-US" altLang="zh-CN" sz="1800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8"/>
              </a:rPr>
              <a:t>https://sites.google.com/site/vggpracticals/category-level-recognition</a:t>
            </a:r>
            <a:endParaRPr lang="en-US" altLang="zh-CN" sz="1800" dirty="0">
              <a:cs typeface="+mn-ea"/>
              <a:sym typeface="+mn-lt"/>
            </a:endParaRPr>
          </a:p>
          <a:p>
            <a:pPr lvl="1"/>
            <a:r>
              <a:rPr lang="en-US" altLang="zh-CN" sz="1800" dirty="0">
                <a:cs typeface="+mn-ea"/>
                <a:sym typeface="+mn-lt"/>
                <a:hlinkClick r:id="rId9"/>
              </a:rPr>
              <a:t>http://cat.cvc.uab.es/~joost/software.html</a:t>
            </a:r>
            <a:endParaRPr lang="en-US" altLang="zh-CN" sz="1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6273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hektgsv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4675</TotalTime>
  <Words>1496</Words>
  <Application>Microsoft Office PowerPoint</Application>
  <PresentationFormat>Widescreen</PresentationFormat>
  <Paragraphs>203</Paragraphs>
  <Slides>64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等线</vt:lpstr>
      <vt:lpstr>宋体</vt:lpstr>
      <vt:lpstr>Arial</vt:lpstr>
      <vt:lpstr>Cambria Math</vt:lpstr>
      <vt:lpstr>Times New Roman</vt:lpstr>
      <vt:lpstr>Office Theme</vt:lpstr>
      <vt:lpstr>5. 视觉词袋模型 Bag of Visual Words</vt:lpstr>
      <vt:lpstr>提纲</vt:lpstr>
      <vt:lpstr>经典的视觉识别任务</vt:lpstr>
      <vt:lpstr>图像分类</vt:lpstr>
      <vt:lpstr>图像分类</vt:lpstr>
      <vt:lpstr>图像分类的难点</vt:lpstr>
      <vt:lpstr>图像分类的难点</vt:lpstr>
      <vt:lpstr>图像分类的难点</vt:lpstr>
      <vt:lpstr>图像分类</vt:lpstr>
      <vt:lpstr>图像分类</vt:lpstr>
      <vt:lpstr>图像特征表示</vt:lpstr>
      <vt:lpstr>图像特征表示</vt:lpstr>
      <vt:lpstr>好的特征表示</vt:lpstr>
      <vt:lpstr>如何得到好的特征表示？</vt:lpstr>
      <vt:lpstr>提纲</vt:lpstr>
      <vt:lpstr>Bag-of-Visual-Words</vt:lpstr>
      <vt:lpstr>Intuition 1: Bag-of-words models</vt:lpstr>
      <vt:lpstr>Intuition 1: Bag-of-words models</vt:lpstr>
      <vt:lpstr>Intuition 1: Bag-of-words models</vt:lpstr>
      <vt:lpstr>Intuition 1: Bag-of-words models</vt:lpstr>
      <vt:lpstr>Intuition 2: Texture recognition</vt:lpstr>
      <vt:lpstr>Intuition 2: Texture recognition</vt:lpstr>
      <vt:lpstr>BOVW for object recognition</vt:lpstr>
      <vt:lpstr>BOVW for object recognition</vt:lpstr>
      <vt:lpstr>步骤（Procedure）</vt:lpstr>
      <vt:lpstr>1. 提取局部特征(Extract local descriptor)</vt:lpstr>
      <vt:lpstr>1. Extract local descriptor</vt:lpstr>
      <vt:lpstr>1. Extract local descriptor</vt:lpstr>
      <vt:lpstr>1. Extract local descriptor</vt:lpstr>
      <vt:lpstr>2.学习视觉词典 （Learn “visual vocabular” ）</vt:lpstr>
      <vt:lpstr>2. Learn “Visual vocabulary”</vt:lpstr>
      <vt:lpstr>2. Learn “Visual vocabulary”</vt:lpstr>
      <vt:lpstr>2. Learn “Visual vocabulary”</vt:lpstr>
      <vt:lpstr>2. Learn “Visual vocabulary”</vt:lpstr>
      <vt:lpstr>2. Learn “Visual vocabulary”</vt:lpstr>
      <vt:lpstr>2. Learn “Visual vocabulary”</vt:lpstr>
      <vt:lpstr>2. Learn “Visual vocabulary”</vt:lpstr>
      <vt:lpstr>2. Learn “visual vocabulary”</vt:lpstr>
      <vt:lpstr>2. Learn “visual vocabulary”</vt:lpstr>
      <vt:lpstr>2. Learn “visual vocabulary”</vt:lpstr>
      <vt:lpstr>3. 生成图像特征（Image Representation）</vt:lpstr>
      <vt:lpstr>3. Image Representation</vt:lpstr>
      <vt:lpstr>3. Image Representation</vt:lpstr>
      <vt:lpstr>小结</vt:lpstr>
      <vt:lpstr>图像分类Classification</vt:lpstr>
      <vt:lpstr>Nearest Neighbors Classifier</vt:lpstr>
      <vt:lpstr>K-Nearest Neighbors Classifier</vt:lpstr>
      <vt:lpstr>Functions for comparing histograms</vt:lpstr>
      <vt:lpstr>SVM</vt:lpstr>
      <vt:lpstr>提纲</vt:lpstr>
      <vt:lpstr>改进的视觉词袋模型</vt:lpstr>
      <vt:lpstr>1. Spatial Information</vt:lpstr>
      <vt:lpstr>Spatial pyramid representation</vt:lpstr>
      <vt:lpstr>Spatial pyramid histograms</vt:lpstr>
      <vt:lpstr>Caltech-101 dataset</vt:lpstr>
      <vt:lpstr>Spatially-augmented descriptors</vt:lpstr>
      <vt:lpstr>2. Soft Assignments</vt:lpstr>
      <vt:lpstr>Kernel Codebooks</vt:lpstr>
      <vt:lpstr>Locality-constrained Linear Coding (LLC)</vt:lpstr>
      <vt:lpstr>3. Vector of Locally Aggregated Descriptors (VLAD)</vt:lpstr>
      <vt:lpstr>3. VLAD</vt:lpstr>
      <vt:lpstr>4. Fisher Vector</vt:lpstr>
      <vt:lpstr>Evaluation of different encoding methods</vt:lpstr>
      <vt:lpstr>Resource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Bag of Visual Words</dc:title>
  <dc:creator>Luo Zhiming</dc:creator>
  <cp:lastModifiedBy>Luo Zhiming</cp:lastModifiedBy>
  <cp:revision>130</cp:revision>
  <dcterms:created xsi:type="dcterms:W3CDTF">2022-10-06T06:50:09Z</dcterms:created>
  <dcterms:modified xsi:type="dcterms:W3CDTF">2023-03-27T06:09:16Z</dcterms:modified>
</cp:coreProperties>
</file>