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622" r:id="rId5"/>
    <p:sldId id="577" r:id="rId6"/>
    <p:sldId id="592" r:id="rId7"/>
    <p:sldId id="595" r:id="rId8"/>
    <p:sldId id="598" r:id="rId9"/>
    <p:sldId id="623" r:id="rId10"/>
    <p:sldId id="560" r:id="rId11"/>
    <p:sldId id="597" r:id="rId12"/>
    <p:sldId id="561" r:id="rId13"/>
    <p:sldId id="260" r:id="rId14"/>
    <p:sldId id="571" r:id="rId15"/>
    <p:sldId id="596" r:id="rId16"/>
    <p:sldId id="621" r:id="rId17"/>
    <p:sldId id="565" r:id="rId18"/>
    <p:sldId id="566" r:id="rId19"/>
    <p:sldId id="567" r:id="rId20"/>
    <p:sldId id="602" r:id="rId21"/>
    <p:sldId id="603" r:id="rId22"/>
    <p:sldId id="323" r:id="rId23"/>
    <p:sldId id="308" r:id="rId24"/>
    <p:sldId id="309" r:id="rId25"/>
    <p:sldId id="313" r:id="rId26"/>
    <p:sldId id="305" r:id="rId27"/>
    <p:sldId id="321" r:id="rId28"/>
    <p:sldId id="322" r:id="rId29"/>
    <p:sldId id="624" r:id="rId30"/>
    <p:sldId id="324" r:id="rId31"/>
    <p:sldId id="326" r:id="rId32"/>
    <p:sldId id="327" r:id="rId33"/>
    <p:sldId id="294" r:id="rId34"/>
    <p:sldId id="295" r:id="rId35"/>
    <p:sldId id="331" r:id="rId36"/>
    <p:sldId id="330" r:id="rId37"/>
    <p:sldId id="329" r:id="rId38"/>
    <p:sldId id="645" r:id="rId39"/>
    <p:sldId id="646" r:id="rId40"/>
    <p:sldId id="296" r:id="rId41"/>
    <p:sldId id="332" r:id="rId42"/>
    <p:sldId id="293" r:id="rId43"/>
    <p:sldId id="297" r:id="rId44"/>
    <p:sldId id="301" r:id="rId45"/>
    <p:sldId id="333" r:id="rId46"/>
    <p:sldId id="647" r:id="rId47"/>
    <p:sldId id="300" r:id="rId48"/>
    <p:sldId id="648" r:id="rId49"/>
    <p:sldId id="259" r:id="rId50"/>
    <p:sldId id="649" r:id="rId51"/>
    <p:sldId id="261" r:id="rId52"/>
    <p:sldId id="263" r:id="rId53"/>
    <p:sldId id="265" r:id="rId54"/>
    <p:sldId id="264" r:id="rId55"/>
    <p:sldId id="298" r:id="rId56"/>
    <p:sldId id="266" r:id="rId57"/>
    <p:sldId id="267" r:id="rId58"/>
    <p:sldId id="268" r:id="rId59"/>
    <p:sldId id="652" r:id="rId60"/>
    <p:sldId id="653" r:id="rId61"/>
    <p:sldId id="269" r:id="rId62"/>
    <p:sldId id="271" r:id="rId63"/>
    <p:sldId id="287" r:id="rId64"/>
    <p:sldId id="289" r:id="rId65"/>
    <p:sldId id="290" r:id="rId66"/>
    <p:sldId id="291" r:id="rId6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1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F16E-7CFB-4B65-8DA3-6E7A3841B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3084D-7948-4184-A027-82282779C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5C1C4-4810-47E6-9834-8512A6012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5C7C8-A74B-4EA7-B141-EAF3B458B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974FC-6189-4F6B-ACD8-AD588099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210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0978-1CFB-4747-A0CA-B6C067FFF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064E0-55BF-4597-AA9A-4F8E07EDE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9C3E-A82A-46C7-A0D8-85677CC6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F9EE5-9809-4F5A-A333-54DD8260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52172-6479-4908-AB6F-6BB624BE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074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5672-1A4F-47FB-89E6-F196E077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9FC19-AFAA-4803-AEF2-612F4F574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B6C5D-F9BC-4A22-9335-671E2FFA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2E95D-0E77-48CF-B04E-39D58835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D202E-F860-4B40-AF1B-2145998D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88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0F54-1962-4491-800C-1AD74EBE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9D4C3-1BB5-4E2A-AB4E-2A99080A5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33EFF-AD73-4337-819C-B286426EF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8A87F-4BD6-469B-B99B-6240912D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F06D5-02BA-43BC-9716-D6908F013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C4C97-EB81-4251-9B16-2C491FEC7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97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408B-1C9F-483A-9452-E6E3AD40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D45AD-4F1C-4DDB-8D9D-4BC940E87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C8289-1E2E-477A-A211-2704F9A33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19E90-47CD-4556-809B-52327C6AF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B9317D-9AAC-42B7-A9FB-88A17C72C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16C0C-FEEB-4E76-9636-D29AC583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516C5F-6F65-4ABE-B405-A744AB7A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F72C3A-2578-48AE-BA44-58FE2D9B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12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646B-32F5-44ED-816C-15B2BCBB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03E1A6-F207-4A14-8DC8-E05501A6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1A318-B916-4D18-97FD-80F373C55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F49EE-BC2B-4E86-B43F-B252F1A2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777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F45C90-6829-4561-9C7D-10478BB22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1B337-0645-49FD-B397-CE1773CD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62007-2B6A-4916-9C24-5B149652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586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409D2-C318-4F62-B83C-5B916D84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23AEE-7B61-4685-8A0F-75C2C6553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C236E-9AA3-4D16-8576-1C952F738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28F6A-9051-4155-A46A-521563080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A1EC8-FC42-495B-8439-C4337808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0A691-9F37-450E-881B-E5C9854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10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B323-1DF9-4CE1-BD6A-619A7EAA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4A2A7-21BF-4F51-A5ED-A842E391D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8B3D5-DD79-417D-AE77-F7316E724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5FF28-F2B9-4695-BB29-640849AA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478D0-B06B-46D9-8D0F-5C8E7F0A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BF429-0C71-414A-82C3-651122963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59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CE35-4FE7-4ED1-8724-A0B3409C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46CEA-DC3E-4FC2-BBF2-370298DBC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AD656-E9CB-410B-975E-D2D15A22F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9BBAA-006C-409F-9BB3-68E7BCD8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CD46-ED89-47C9-B721-0093BC3D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26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665E16-5240-4338-9491-E3BD507C2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5AF7F-1EC4-4A0B-B918-8B573C54D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59130-C17D-4F84-B41A-34912E35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405BE-DE32-4998-9F26-07362441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690CE-7DF9-47FC-9998-8A5A97E5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15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C4A052-53C2-4EEB-90AA-4704C703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BA506-8AC3-4EC5-96C6-C986C68F8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9A0E0-F6BD-4039-985C-1E81491C7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50889-EB1A-4835-B555-BAB3114B269C}" type="datetimeFigureOut">
              <a:rPr lang="zh-CN" altLang="en-US" smtClean="0"/>
              <a:t>2023-5-27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FD584-ED61-4360-8711-080ABF1C5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42AF6-0903-4ECD-AF64-D18B89515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B3B31-2C97-4076-A3C9-C19E589F40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49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rxiv.org/abs/2111.0762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11.07624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11.07624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Lyken17/pytorch-OpCounter" TargetMode="Externa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.png"/><Relationship Id="rId13" Type="http://schemas.openxmlformats.org/officeDocument/2006/relationships/image" Target="../media/image56.png"/><Relationship Id="rId3" Type="http://schemas.openxmlformats.org/officeDocument/2006/relationships/image" Target="../media/image460.png"/><Relationship Id="rId7" Type="http://schemas.openxmlformats.org/officeDocument/2006/relationships/image" Target="../media/image500.png"/><Relationship Id="rId12" Type="http://schemas.openxmlformats.org/officeDocument/2006/relationships/image" Target="../media/image5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11" Type="http://schemas.openxmlformats.org/officeDocument/2006/relationships/image" Target="../media/image54.png"/><Relationship Id="rId5" Type="http://schemas.openxmlformats.org/officeDocument/2006/relationships/image" Target="../media/image480.png"/><Relationship Id="rId10" Type="http://schemas.openxmlformats.org/officeDocument/2006/relationships/image" Target="../media/image53.png"/><Relationship Id="rId4" Type="http://schemas.openxmlformats.org/officeDocument/2006/relationships/image" Target="../media/image470.png"/><Relationship Id="rId9" Type="http://schemas.openxmlformats.org/officeDocument/2006/relationships/image" Target="../media/image52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g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5.png"/><Relationship Id="rId18" Type="http://schemas.openxmlformats.org/officeDocument/2006/relationships/image" Target="../media/image85.png"/><Relationship Id="rId3" Type="http://schemas.openxmlformats.org/officeDocument/2006/relationships/image" Target="../media/image70.png"/><Relationship Id="rId21" Type="http://schemas.openxmlformats.org/officeDocument/2006/relationships/image" Target="../media/image851.png"/><Relationship Id="rId7" Type="http://schemas.openxmlformats.org/officeDocument/2006/relationships/image" Target="../media/image74.png"/><Relationship Id="rId12" Type="http://schemas.openxmlformats.org/officeDocument/2006/relationships/image" Target="../media/image81.png"/><Relationship Id="rId17" Type="http://schemas.openxmlformats.org/officeDocument/2006/relationships/image" Target="../media/image821.png"/><Relationship Id="rId2" Type="http://schemas.openxmlformats.org/officeDocument/2006/relationships/image" Target="../media/image79.png"/><Relationship Id="rId16" Type="http://schemas.openxmlformats.org/officeDocument/2006/relationships/image" Target="../media/image811.png"/><Relationship Id="rId20" Type="http://schemas.openxmlformats.org/officeDocument/2006/relationships/image" Target="../media/image8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3.png"/><Relationship Id="rId23" Type="http://schemas.openxmlformats.org/officeDocument/2006/relationships/image" Target="../media/image87.png"/><Relationship Id="rId10" Type="http://schemas.openxmlformats.org/officeDocument/2006/relationships/image" Target="../media/image79.png"/><Relationship Id="rId19" Type="http://schemas.openxmlformats.org/officeDocument/2006/relationships/image" Target="../media/image831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3.png"/><Relationship Id="rId22" Type="http://schemas.openxmlformats.org/officeDocument/2006/relationships/image" Target="../media/image8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7.png"/><Relationship Id="rId18" Type="http://schemas.openxmlformats.org/officeDocument/2006/relationships/image" Target="../media/image112.png"/><Relationship Id="rId3" Type="http://schemas.openxmlformats.org/officeDocument/2006/relationships/image" Target="../media/image99.png"/><Relationship Id="rId21" Type="http://schemas.openxmlformats.org/officeDocument/2006/relationships/image" Target="../media/image115.png"/><Relationship Id="rId7" Type="http://schemas.openxmlformats.org/officeDocument/2006/relationships/image" Target="../media/image103.png"/><Relationship Id="rId12" Type="http://schemas.openxmlformats.org/officeDocument/2006/relationships/image" Target="../media/image97.png"/><Relationship Id="rId17" Type="http://schemas.openxmlformats.org/officeDocument/2006/relationships/image" Target="../media/image111.png"/><Relationship Id="rId2" Type="http://schemas.openxmlformats.org/officeDocument/2006/relationships/image" Target="../media/image81.png"/><Relationship Id="rId16" Type="http://schemas.openxmlformats.org/officeDocument/2006/relationships/image" Target="../media/image110.png"/><Relationship Id="rId20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300.png"/><Relationship Id="rId5" Type="http://schemas.openxmlformats.org/officeDocument/2006/relationships/image" Target="../media/image101.png"/><Relationship Id="rId15" Type="http://schemas.openxmlformats.org/officeDocument/2006/relationships/image" Target="../media/image109.png"/><Relationship Id="rId10" Type="http://schemas.openxmlformats.org/officeDocument/2006/relationships/image" Target="../media/image106.png"/><Relationship Id="rId19" Type="http://schemas.openxmlformats.org/officeDocument/2006/relationships/image" Target="../media/image113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08.png"/><Relationship Id="rId22" Type="http://schemas.openxmlformats.org/officeDocument/2006/relationships/image" Target="../media/image11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0.png"/><Relationship Id="rId13" Type="http://schemas.openxmlformats.org/officeDocument/2006/relationships/image" Target="../media/image600.png"/><Relationship Id="rId18" Type="http://schemas.openxmlformats.org/officeDocument/2006/relationships/image" Target="../media/image119.png"/><Relationship Id="rId3" Type="http://schemas.openxmlformats.org/officeDocument/2006/relationships/image" Target="../media/image510.png"/><Relationship Id="rId21" Type="http://schemas.openxmlformats.org/officeDocument/2006/relationships/image" Target="../media/image680.png"/><Relationship Id="rId7" Type="http://schemas.openxmlformats.org/officeDocument/2006/relationships/image" Target="../media/image540.png"/><Relationship Id="rId12" Type="http://schemas.openxmlformats.org/officeDocument/2006/relationships/image" Target="../media/image590.png"/><Relationship Id="rId17" Type="http://schemas.openxmlformats.org/officeDocument/2006/relationships/image" Target="../media/image118.png"/><Relationship Id="rId2" Type="http://schemas.openxmlformats.org/officeDocument/2006/relationships/image" Target="../media/image81.png"/><Relationship Id="rId16" Type="http://schemas.openxmlformats.org/officeDocument/2006/relationships/image" Target="../media/image117.png"/><Relationship Id="rId20" Type="http://schemas.openxmlformats.org/officeDocument/2006/relationships/image" Target="../media/image6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11" Type="http://schemas.openxmlformats.org/officeDocument/2006/relationships/image" Target="../media/image580.png"/><Relationship Id="rId24" Type="http://schemas.openxmlformats.org/officeDocument/2006/relationships/image" Target="../media/image710.png"/><Relationship Id="rId5" Type="http://schemas.openxmlformats.org/officeDocument/2006/relationships/image" Target="../media/image520.png"/><Relationship Id="rId15" Type="http://schemas.openxmlformats.org/officeDocument/2006/relationships/image" Target="../media/image620.png"/><Relationship Id="rId23" Type="http://schemas.openxmlformats.org/officeDocument/2006/relationships/image" Target="../media/image700.png"/><Relationship Id="rId10" Type="http://schemas.openxmlformats.org/officeDocument/2006/relationships/image" Target="../media/image570.png"/><Relationship Id="rId19" Type="http://schemas.openxmlformats.org/officeDocument/2006/relationships/image" Target="../media/image120.png"/><Relationship Id="rId4" Type="http://schemas.openxmlformats.org/officeDocument/2006/relationships/image" Target="../media/image97.png"/><Relationship Id="rId9" Type="http://schemas.openxmlformats.org/officeDocument/2006/relationships/image" Target="../media/image560.png"/><Relationship Id="rId14" Type="http://schemas.openxmlformats.org/officeDocument/2006/relationships/image" Target="../media/image610.png"/><Relationship Id="rId22" Type="http://schemas.openxmlformats.org/officeDocument/2006/relationships/image" Target="../media/image69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13" Type="http://schemas.openxmlformats.org/officeDocument/2006/relationships/image" Target="../media/image790.png"/><Relationship Id="rId18" Type="http://schemas.openxmlformats.org/officeDocument/2006/relationships/image" Target="../media/image120.png"/><Relationship Id="rId3" Type="http://schemas.openxmlformats.org/officeDocument/2006/relationships/image" Target="../media/image720.png"/><Relationship Id="rId21" Type="http://schemas.openxmlformats.org/officeDocument/2006/relationships/image" Target="../media/image840.png"/><Relationship Id="rId7" Type="http://schemas.openxmlformats.org/officeDocument/2006/relationships/image" Target="../media/image117.png"/><Relationship Id="rId12" Type="http://schemas.openxmlformats.org/officeDocument/2006/relationships/image" Target="../media/image118.png"/><Relationship Id="rId17" Type="http://schemas.openxmlformats.org/officeDocument/2006/relationships/image" Target="../media/image810.png"/><Relationship Id="rId25" Type="http://schemas.openxmlformats.org/officeDocument/2006/relationships/image" Target="../media/image880.png"/><Relationship Id="rId2" Type="http://schemas.openxmlformats.org/officeDocument/2006/relationships/image" Target="../media/image81.png"/><Relationship Id="rId16" Type="http://schemas.openxmlformats.org/officeDocument/2006/relationships/image" Target="../media/image125.png"/><Relationship Id="rId20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0.png"/><Relationship Id="rId11" Type="http://schemas.openxmlformats.org/officeDocument/2006/relationships/image" Target="../media/image125.png"/><Relationship Id="rId24" Type="http://schemas.openxmlformats.org/officeDocument/2006/relationships/image" Target="../media/image870.png"/><Relationship Id="rId5" Type="http://schemas.openxmlformats.org/officeDocument/2006/relationships/image" Target="../media/image730.png"/><Relationship Id="rId15" Type="http://schemas.openxmlformats.org/officeDocument/2006/relationships/image" Target="../media/image800.png"/><Relationship Id="rId23" Type="http://schemas.openxmlformats.org/officeDocument/2006/relationships/image" Target="../media/image860.png"/><Relationship Id="rId10" Type="http://schemas.openxmlformats.org/officeDocument/2006/relationships/image" Target="../media/image770.png"/><Relationship Id="rId19" Type="http://schemas.openxmlformats.org/officeDocument/2006/relationships/image" Target="../media/image820.png"/><Relationship Id="rId4" Type="http://schemas.openxmlformats.org/officeDocument/2006/relationships/image" Target="../media/image97.png"/><Relationship Id="rId9" Type="http://schemas.openxmlformats.org/officeDocument/2006/relationships/image" Target="../media/image760.png"/><Relationship Id="rId14" Type="http://schemas.openxmlformats.org/officeDocument/2006/relationships/image" Target="../media/image119.png"/><Relationship Id="rId22" Type="http://schemas.openxmlformats.org/officeDocument/2006/relationships/image" Target="../media/image85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0.png"/><Relationship Id="rId13" Type="http://schemas.openxmlformats.org/officeDocument/2006/relationships/image" Target="../media/image960.png"/><Relationship Id="rId18" Type="http://schemas.openxmlformats.org/officeDocument/2006/relationships/image" Target="../media/image120.png"/><Relationship Id="rId26" Type="http://schemas.openxmlformats.org/officeDocument/2006/relationships/image" Target="../media/image1060.png"/><Relationship Id="rId3" Type="http://schemas.openxmlformats.org/officeDocument/2006/relationships/image" Target="../media/image890.png"/><Relationship Id="rId21" Type="http://schemas.openxmlformats.org/officeDocument/2006/relationships/image" Target="../media/image1010.png"/><Relationship Id="rId7" Type="http://schemas.openxmlformats.org/officeDocument/2006/relationships/image" Target="../media/image117.png"/><Relationship Id="rId12" Type="http://schemas.openxmlformats.org/officeDocument/2006/relationships/image" Target="../media/image118.png"/><Relationship Id="rId17" Type="http://schemas.openxmlformats.org/officeDocument/2006/relationships/image" Target="../media/image126.png"/><Relationship Id="rId25" Type="http://schemas.openxmlformats.org/officeDocument/2006/relationships/image" Target="../media/image128.png"/><Relationship Id="rId2" Type="http://schemas.openxmlformats.org/officeDocument/2006/relationships/image" Target="../media/image81.png"/><Relationship Id="rId16" Type="http://schemas.openxmlformats.org/officeDocument/2006/relationships/image" Target="../media/image980.png"/><Relationship Id="rId20" Type="http://schemas.openxmlformats.org/officeDocument/2006/relationships/image" Target="../media/image1000.png"/><Relationship Id="rId29" Type="http://schemas.openxmlformats.org/officeDocument/2006/relationships/image" Target="../media/image10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0.png"/><Relationship Id="rId11" Type="http://schemas.openxmlformats.org/officeDocument/2006/relationships/image" Target="../media/image950.png"/><Relationship Id="rId24" Type="http://schemas.openxmlformats.org/officeDocument/2006/relationships/image" Target="../media/image1040.png"/><Relationship Id="rId5" Type="http://schemas.openxmlformats.org/officeDocument/2006/relationships/image" Target="../media/image900.png"/><Relationship Id="rId15" Type="http://schemas.openxmlformats.org/officeDocument/2006/relationships/image" Target="../media/image126.png"/><Relationship Id="rId23" Type="http://schemas.openxmlformats.org/officeDocument/2006/relationships/image" Target="../media/image1030.png"/><Relationship Id="rId28" Type="http://schemas.openxmlformats.org/officeDocument/2006/relationships/image" Target="../media/image1080.png"/><Relationship Id="rId10" Type="http://schemas.openxmlformats.org/officeDocument/2006/relationships/image" Target="../media/image940.png"/><Relationship Id="rId19" Type="http://schemas.openxmlformats.org/officeDocument/2006/relationships/image" Target="../media/image990.png"/><Relationship Id="rId31" Type="http://schemas.openxmlformats.org/officeDocument/2006/relationships/image" Target="../media/image1110.png"/><Relationship Id="rId4" Type="http://schemas.openxmlformats.org/officeDocument/2006/relationships/image" Target="../media/image97.png"/><Relationship Id="rId9" Type="http://schemas.openxmlformats.org/officeDocument/2006/relationships/image" Target="../media/image930.png"/><Relationship Id="rId14" Type="http://schemas.openxmlformats.org/officeDocument/2006/relationships/image" Target="../media/image119.png"/><Relationship Id="rId22" Type="http://schemas.openxmlformats.org/officeDocument/2006/relationships/image" Target="../media/image1020.png"/><Relationship Id="rId27" Type="http://schemas.openxmlformats.org/officeDocument/2006/relationships/image" Target="../media/image1070.png"/><Relationship Id="rId30" Type="http://schemas.openxmlformats.org/officeDocument/2006/relationships/image" Target="../media/image110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0.png"/><Relationship Id="rId13" Type="http://schemas.openxmlformats.org/officeDocument/2006/relationships/image" Target="../media/image131.png"/><Relationship Id="rId18" Type="http://schemas.openxmlformats.org/officeDocument/2006/relationships/image" Target="../media/image1220.png"/><Relationship Id="rId26" Type="http://schemas.openxmlformats.org/officeDocument/2006/relationships/image" Target="../media/image1290.png"/><Relationship Id="rId3" Type="http://schemas.openxmlformats.org/officeDocument/2006/relationships/image" Target="../media/image1120.png"/><Relationship Id="rId21" Type="http://schemas.openxmlformats.org/officeDocument/2006/relationships/image" Target="../media/image1250.png"/><Relationship Id="rId7" Type="http://schemas.openxmlformats.org/officeDocument/2006/relationships/image" Target="../media/image117.png"/><Relationship Id="rId12" Type="http://schemas.openxmlformats.org/officeDocument/2006/relationships/image" Target="../media/image130.png"/><Relationship Id="rId17" Type="http://schemas.openxmlformats.org/officeDocument/2006/relationships/image" Target="../media/image132.png"/><Relationship Id="rId25" Type="http://schemas.openxmlformats.org/officeDocument/2006/relationships/image" Target="../media/image1280.png"/><Relationship Id="rId2" Type="http://schemas.openxmlformats.org/officeDocument/2006/relationships/image" Target="../media/image81.png"/><Relationship Id="rId16" Type="http://schemas.openxmlformats.org/officeDocument/2006/relationships/image" Target="../media/image1210.png"/><Relationship Id="rId20" Type="http://schemas.openxmlformats.org/officeDocument/2006/relationships/image" Target="../media/image133.png"/><Relationship Id="rId29" Type="http://schemas.openxmlformats.org/officeDocument/2006/relationships/image" Target="../media/image1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0.png"/><Relationship Id="rId11" Type="http://schemas.openxmlformats.org/officeDocument/2006/relationships/image" Target="../media/image130.png"/><Relationship Id="rId24" Type="http://schemas.openxmlformats.org/officeDocument/2006/relationships/image" Target="../media/image133.png"/><Relationship Id="rId32" Type="http://schemas.openxmlformats.org/officeDocument/2006/relationships/image" Target="../media/image135.png"/><Relationship Id="rId5" Type="http://schemas.openxmlformats.org/officeDocument/2006/relationships/image" Target="../media/image1130.png"/><Relationship Id="rId15" Type="http://schemas.openxmlformats.org/officeDocument/2006/relationships/image" Target="../media/image132.png"/><Relationship Id="rId23" Type="http://schemas.openxmlformats.org/officeDocument/2006/relationships/image" Target="../media/image1270.png"/><Relationship Id="rId28" Type="http://schemas.openxmlformats.org/officeDocument/2006/relationships/image" Target="../media/image1310.png"/><Relationship Id="rId10" Type="http://schemas.openxmlformats.org/officeDocument/2006/relationships/image" Target="../media/image1170.png"/><Relationship Id="rId19" Type="http://schemas.openxmlformats.org/officeDocument/2006/relationships/image" Target="../media/image1230.png"/><Relationship Id="rId31" Type="http://schemas.openxmlformats.org/officeDocument/2006/relationships/image" Target="../media/image134.png"/><Relationship Id="rId4" Type="http://schemas.openxmlformats.org/officeDocument/2006/relationships/image" Target="../media/image97.png"/><Relationship Id="rId9" Type="http://schemas.openxmlformats.org/officeDocument/2006/relationships/image" Target="../media/image1160.png"/><Relationship Id="rId14" Type="http://schemas.openxmlformats.org/officeDocument/2006/relationships/image" Target="../media/image131.png"/><Relationship Id="rId22" Type="http://schemas.openxmlformats.org/officeDocument/2006/relationships/image" Target="../media/image1260.png"/><Relationship Id="rId27" Type="http://schemas.openxmlformats.org/officeDocument/2006/relationships/image" Target="../media/image1300.png"/><Relationship Id="rId30" Type="http://schemas.openxmlformats.org/officeDocument/2006/relationships/image" Target="../media/image133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hyperlink" Target="https://uvadlc-notebooks.readthedocs.io/en/latest/tutorial_notebooks/tutorial15/Vision_Transforme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7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83D9B-8DAB-4972-ABC9-004627343D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b="1" dirty="0">
                <a:latin typeface="+mn-lt"/>
                <a:ea typeface="+mn-ea"/>
                <a:cs typeface="+mn-ea"/>
                <a:sym typeface="+mn-lt"/>
              </a:rPr>
              <a:t>16. Attention &amp; Transformer</a:t>
            </a:r>
            <a:endParaRPr lang="zh-CN" altLang="en-US" sz="54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F65C2-3E55-48B0-ADB9-A66ED7477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罗志明</a:t>
            </a:r>
            <a:endParaRPr lang="en-US" altLang="zh-CN" dirty="0">
              <a:cs typeface="+mn-ea"/>
              <a:sym typeface="+mn-lt"/>
            </a:endParaRPr>
          </a:p>
          <a:p>
            <a:r>
              <a:rPr lang="en-US" altLang="zh-CN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8970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B588-7964-4762-B114-FF4D53A8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B7303-934D-40E9-9760-D423DBC86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Attention</a:t>
            </a:r>
          </a:p>
          <a:p>
            <a:r>
              <a:rPr lang="en-US" altLang="zh-CN" sz="3200" dirty="0"/>
              <a:t>Transformer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95654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5F826-7FF3-45A4-90EF-CB7AACAF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Attention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07520-131B-49D4-9779-43AA6B135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9776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cs typeface="+mn-ea"/>
                <a:sym typeface="+mn-lt"/>
              </a:rPr>
              <a:t>人类视觉的注意力机制</a:t>
            </a:r>
            <a:endParaRPr lang="en-US" altLang="zh-CN" sz="32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cs typeface="+mn-ea"/>
                <a:sym typeface="+mn-lt"/>
              </a:rPr>
              <a:t>重点关注有信息的区域</a:t>
            </a:r>
            <a:endParaRPr lang="en-US" altLang="zh-CN" sz="32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cs typeface="+mn-ea"/>
                <a:sym typeface="+mn-lt"/>
              </a:rPr>
              <a:t>提高效率与准确率</a:t>
            </a:r>
            <a:endParaRPr lang="en-US" altLang="zh-CN" sz="3200" dirty="0">
              <a:cs typeface="+mn-ea"/>
              <a:sym typeface="+mn-lt"/>
            </a:endParaRPr>
          </a:p>
        </p:txBody>
      </p:sp>
      <p:pic>
        <p:nvPicPr>
          <p:cNvPr id="1026" name="Picture 2" descr="https://pic4.zhimg.com/80/v2-1976acee0982abc20b720a4f6b5bc9c3_720w.jpg">
            <a:extLst>
              <a:ext uri="{FF2B5EF4-FFF2-40B4-BE49-F238E27FC236}">
                <a16:creationId xmlns:a16="http://schemas.microsoft.com/office/drawing/2014/main" id="{01273098-170F-424B-A0E4-F6A2F93EF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046" y="2346019"/>
            <a:ext cx="4572016" cy="331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8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0ED6-F310-4F3F-A8AC-4BAB6D387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Attention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50E74-5FC4-4004-9930-B7A566399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19725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/>
              <a:t>分类模型中的</a:t>
            </a:r>
            <a:r>
              <a:rPr lang="en-US" altLang="zh-CN" b="1" dirty="0"/>
              <a:t>Attention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如何计算出对正确分类最重要的图像区域？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1FBDF1-9863-4CBF-AD67-2EB7CCABE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792" y="2062662"/>
            <a:ext cx="4981575" cy="27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40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FE00D-4CF3-4C13-B17C-F73DF7673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Attention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609C7-0B8A-4F9E-9FD8-1C9097B4B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Hard-attention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与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Soft-attention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Cross-attention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与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Self-attention</a:t>
            </a:r>
            <a:endParaRPr lang="zh-CN" altLang="en-US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pic>
        <p:nvPicPr>
          <p:cNvPr id="2050" name="Picture 2" descr="https://pic4.zhimg.com/80/v2-8b74d869dd9bf12afac3b1dd500917f3_720w.jpg">
            <a:extLst>
              <a:ext uri="{FF2B5EF4-FFF2-40B4-BE49-F238E27FC236}">
                <a16:creationId xmlns:a16="http://schemas.microsoft.com/office/drawing/2014/main" id="{AB3A4DA5-7EBF-4207-9030-4706B4A54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" y="3811769"/>
            <a:ext cx="10759440" cy="216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048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8BF7-2D65-4005-A72A-4048FABB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Attention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6CBD0C-0813-4E97-8EAA-DCCDBC38B84A}"/>
              </a:ext>
            </a:extLst>
          </p:cNvPr>
          <p:cNvSpPr/>
          <p:nvPr/>
        </p:nvSpPr>
        <p:spPr>
          <a:xfrm>
            <a:off x="7244080" y="6540698"/>
            <a:ext cx="49479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  <a:hlinkClick r:id="rId2"/>
              </a:rPr>
              <a:t>Attention Mechanisms in Computer Vision: A Survey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3F9448-6EDE-4A31-BD53-DE26FB1D3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67" y="1614111"/>
            <a:ext cx="4144213" cy="4858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6BEC3F-89A4-447D-9B2B-364C7D45C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548" y="365125"/>
            <a:ext cx="3619385" cy="610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4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F162-8122-4059-938E-0DB1EFA9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Attention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DD7170-2948-4002-8E3F-81359992E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93" y="1607484"/>
            <a:ext cx="10076190" cy="47809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27A811-0A05-4E91-AEB5-9F1C88F11142}"/>
              </a:ext>
            </a:extLst>
          </p:cNvPr>
          <p:cNvSpPr/>
          <p:nvPr/>
        </p:nvSpPr>
        <p:spPr>
          <a:xfrm>
            <a:off x="7244080" y="6540698"/>
            <a:ext cx="49479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  <a:hlinkClick r:id="rId3"/>
              </a:rPr>
              <a:t>Attention Mechanisms in Computer Vision: A Survey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7265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F162-8122-4059-938E-0DB1EFA9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Attention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DD7170-2948-4002-8E3F-81359992E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93" y="1607484"/>
            <a:ext cx="10076190" cy="47809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27A811-0A05-4E91-AEB5-9F1C88F11142}"/>
              </a:ext>
            </a:extLst>
          </p:cNvPr>
          <p:cNvSpPr/>
          <p:nvPr/>
        </p:nvSpPr>
        <p:spPr>
          <a:xfrm>
            <a:off x="7244080" y="6540698"/>
            <a:ext cx="49479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  <a:hlinkClick r:id="rId3"/>
              </a:rPr>
              <a:t>Attention Mechanisms in Computer Vision: A Survey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8F009D5-4A47-448A-B98D-4DB4005EDB40}"/>
              </a:ext>
            </a:extLst>
          </p:cNvPr>
          <p:cNvSpPr/>
          <p:nvPr/>
        </p:nvSpPr>
        <p:spPr>
          <a:xfrm>
            <a:off x="2142067" y="4013200"/>
            <a:ext cx="1566333" cy="13255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452461-7B63-4688-835A-06A0F386E1A0}"/>
              </a:ext>
            </a:extLst>
          </p:cNvPr>
          <p:cNvSpPr/>
          <p:nvPr/>
        </p:nvSpPr>
        <p:spPr>
          <a:xfrm>
            <a:off x="4003572" y="4047065"/>
            <a:ext cx="1566333" cy="13255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CF29A2-4F9D-451D-A4A4-D820B5526C1E}"/>
              </a:ext>
            </a:extLst>
          </p:cNvPr>
          <p:cNvSpPr/>
          <p:nvPr/>
        </p:nvSpPr>
        <p:spPr>
          <a:xfrm>
            <a:off x="5923280" y="4026172"/>
            <a:ext cx="1636390" cy="134273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D4D73D-8BBD-4A81-AE59-ED8E6CC34B4A}"/>
              </a:ext>
            </a:extLst>
          </p:cNvPr>
          <p:cNvSpPr/>
          <p:nvPr/>
        </p:nvSpPr>
        <p:spPr>
          <a:xfrm>
            <a:off x="8565142" y="1607484"/>
            <a:ext cx="1992792" cy="1477825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2A3978-013D-4ABE-AD9F-7715C587AD36}"/>
              </a:ext>
            </a:extLst>
          </p:cNvPr>
          <p:cNvSpPr/>
          <p:nvPr/>
        </p:nvSpPr>
        <p:spPr>
          <a:xfrm>
            <a:off x="7854743" y="4016505"/>
            <a:ext cx="1636390" cy="1386274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1609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E931-8DF9-4FD4-A5D0-00C341FD2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Attention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6256-0C7B-4CA5-B8FC-359FF406C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Channel-wise</a:t>
            </a:r>
          </a:p>
          <a:p>
            <a:r>
              <a:rPr lang="en-US" altLang="zh-CN" dirty="0"/>
              <a:t>Spatial-wise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33CB60-1E91-4FF4-BF0E-AEBF475427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424" b="43252"/>
          <a:stretch/>
        </p:blipFill>
        <p:spPr>
          <a:xfrm>
            <a:off x="7047547" y="962819"/>
            <a:ext cx="2553651" cy="493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39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CF67-ACB1-4A96-B3D8-6FB724E1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Squeeze-and-Excitation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46E8B-2C37-4CBB-B33D-B159D0BF40FA}"/>
              </a:ext>
            </a:extLst>
          </p:cNvPr>
          <p:cNvSpPr txBox="1"/>
          <p:nvPr/>
        </p:nvSpPr>
        <p:spPr>
          <a:xfrm>
            <a:off x="7903647" y="6529532"/>
            <a:ext cx="4288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Hu et al. Squeeze-and-Excitation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Networks.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i="1" dirty="0">
                <a:cs typeface="+mn-ea"/>
                <a:sym typeface="+mn-lt"/>
              </a:rPr>
              <a:t>CVPR</a:t>
            </a:r>
            <a:r>
              <a:rPr lang="zh-CN" altLang="en-US" sz="1400" i="1" dirty="0">
                <a:cs typeface="+mn-ea"/>
                <a:sym typeface="+mn-lt"/>
              </a:rPr>
              <a:t> </a:t>
            </a:r>
            <a:r>
              <a:rPr lang="en-US" altLang="zh-CN" sz="1400" i="1" dirty="0">
                <a:cs typeface="+mn-ea"/>
                <a:sym typeface="+mn-lt"/>
              </a:rPr>
              <a:t>2018.</a:t>
            </a:r>
            <a:endParaRPr lang="zh-CN" altLang="en-US" sz="1400" i="1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E1001-FFC5-48FD-9CE8-D96A73862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47" y="1730464"/>
            <a:ext cx="5778253" cy="1844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2F2095-5533-419D-BB37-68C387527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42" y="4014349"/>
            <a:ext cx="4863914" cy="1023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95CB71-FE4D-403F-9F3F-12D7E3E88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42" y="4976395"/>
            <a:ext cx="5430101" cy="7436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6687D5-C36C-42A4-9506-18F1FD4A0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42" y="5720008"/>
            <a:ext cx="4314286" cy="80952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A1F8DED-A5A4-4E70-84F5-308FE1CC8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516" y="1690688"/>
            <a:ext cx="5173921" cy="471944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cs typeface="+mn-ea"/>
                <a:sym typeface="+mn-lt"/>
              </a:rPr>
              <a:t>In 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earlier layers</a:t>
            </a:r>
            <a:r>
              <a:rPr lang="en-US" altLang="zh-CN" dirty="0">
                <a:cs typeface="+mn-ea"/>
                <a:sym typeface="+mn-lt"/>
              </a:rPr>
              <a:t>, it excites informative features in a class-agnostic manner, strengthening the 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shared low-level representations</a:t>
            </a:r>
            <a:r>
              <a:rPr lang="en-US" altLang="zh-CN" dirty="0">
                <a:cs typeface="+mn-ea"/>
                <a:sym typeface="+mn-lt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cs typeface="+mn-ea"/>
                <a:sym typeface="+mn-lt"/>
              </a:rPr>
              <a:t>In </a:t>
            </a:r>
            <a:r>
              <a:rPr lang="en-US" altLang="zh-CN" dirty="0">
                <a:solidFill>
                  <a:srgbClr val="FF0000"/>
                </a:solidFill>
                <a:cs typeface="+mn-ea"/>
                <a:sym typeface="+mn-lt"/>
              </a:rPr>
              <a:t>later layers</a:t>
            </a:r>
            <a:r>
              <a:rPr lang="en-US" altLang="zh-CN" dirty="0">
                <a:cs typeface="+mn-ea"/>
                <a:sym typeface="+mn-lt"/>
              </a:rPr>
              <a:t>, the SE blocks become increasingly specialized, and respond to different inputs in </a:t>
            </a:r>
            <a:r>
              <a:rPr lang="en-US" altLang="zh-CN" dirty="0">
                <a:solidFill>
                  <a:srgbClr val="FF0000"/>
                </a:solidFill>
                <a:cs typeface="+mn-ea"/>
                <a:sym typeface="+mn-lt"/>
              </a:rPr>
              <a:t>a highly class-specific manner</a:t>
            </a:r>
            <a:r>
              <a:rPr lang="en-US" altLang="zh-CN" dirty="0">
                <a:cs typeface="+mn-ea"/>
                <a:sym typeface="+mn-lt"/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cs typeface="+mn-ea"/>
                <a:sym typeface="+mn-lt"/>
              </a:rPr>
              <a:t>As a consequence, the benefits of the feature recalibration performed by 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SE blocks can be accumulated </a:t>
            </a:r>
            <a:r>
              <a:rPr lang="en-US" altLang="zh-CN" dirty="0">
                <a:cs typeface="+mn-ea"/>
                <a:sym typeface="+mn-lt"/>
              </a:rPr>
              <a:t>through the network.</a:t>
            </a:r>
          </a:p>
        </p:txBody>
      </p:sp>
    </p:spTree>
    <p:extLst>
      <p:ext uri="{BB962C8B-B14F-4D97-AF65-F5344CB8AC3E}">
        <p14:creationId xmlns:p14="http://schemas.microsoft.com/office/powerpoint/2010/main" val="1167988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D7A5-3B5C-4A34-88E0-50E8F00CD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Squeeze-and-Excitation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2B0DE-A19F-44D0-A86A-4BD23048F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159" y="2839576"/>
            <a:ext cx="5778253" cy="18445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BB08C7-B36D-4607-964B-CFCFE14D2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60" y="1888066"/>
            <a:ext cx="5592999" cy="442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96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21586D5-0EB7-4D59-97BD-D114056E0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94"/>
          <a:stretch/>
        </p:blipFill>
        <p:spPr>
          <a:xfrm>
            <a:off x="1819903" y="4421918"/>
            <a:ext cx="8552194" cy="22092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FB5509-9FE0-4436-A2E3-0D0EF9870A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05" t="3873" r="9218" b="5466"/>
          <a:stretch/>
        </p:blipFill>
        <p:spPr>
          <a:xfrm>
            <a:off x="3628773" y="1484960"/>
            <a:ext cx="3078055" cy="288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FACF67-ACB1-4A96-B3D8-6FB724E1A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Squeeze-and-Excitation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F46E8B-2C37-4CBB-B33D-B159D0BF40FA}"/>
              </a:ext>
            </a:extLst>
          </p:cNvPr>
          <p:cNvSpPr txBox="1"/>
          <p:nvPr/>
        </p:nvSpPr>
        <p:spPr>
          <a:xfrm>
            <a:off x="7687241" y="6529532"/>
            <a:ext cx="4288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Hu et al. Squeeze-and-Excitation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Networks.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i="1" dirty="0">
                <a:cs typeface="+mn-ea"/>
                <a:sym typeface="+mn-lt"/>
              </a:rPr>
              <a:t>CVPR</a:t>
            </a:r>
            <a:r>
              <a:rPr lang="zh-CN" altLang="en-US" sz="1400" i="1" dirty="0">
                <a:cs typeface="+mn-ea"/>
                <a:sym typeface="+mn-lt"/>
              </a:rPr>
              <a:t> </a:t>
            </a:r>
            <a:r>
              <a:rPr lang="en-US" altLang="zh-CN" sz="1400" i="1" dirty="0">
                <a:cs typeface="+mn-ea"/>
                <a:sym typeface="+mn-lt"/>
              </a:rPr>
              <a:t>2018.</a:t>
            </a:r>
            <a:endParaRPr lang="zh-CN" altLang="en-US" sz="1400" i="1" dirty="0">
              <a:cs typeface="+mn-ea"/>
              <a:sym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37645C-AF53-498C-9726-5EBF609F03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290" t="8132" r="3474" b="5503"/>
          <a:stretch/>
        </p:blipFill>
        <p:spPr>
          <a:xfrm>
            <a:off x="378527" y="1498836"/>
            <a:ext cx="3058646" cy="2880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4306A44-23B7-44BD-93BC-704677577160}"/>
              </a:ext>
            </a:extLst>
          </p:cNvPr>
          <p:cNvGrpSpPr/>
          <p:nvPr/>
        </p:nvGrpSpPr>
        <p:grpSpPr>
          <a:xfrm>
            <a:off x="7013392" y="1679576"/>
            <a:ext cx="4615431" cy="1995104"/>
            <a:chOff x="7157326" y="1743345"/>
            <a:chExt cx="4615431" cy="199510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880FFC-C76B-47C5-BAA9-9128B5B3CDB7}"/>
                </a:ext>
              </a:extLst>
            </p:cNvPr>
            <p:cNvSpPr/>
            <p:nvPr/>
          </p:nvSpPr>
          <p:spPr>
            <a:xfrm>
              <a:off x="7157326" y="1743345"/>
              <a:ext cx="4449825" cy="15037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 dirty="0">
                  <a:solidFill>
                    <a:srgbClr val="00B0F0"/>
                  </a:solidFill>
                  <a:cs typeface="+mn-ea"/>
                  <a:sym typeface="+mn-lt"/>
                </a:rPr>
                <a:t>GFLOPS </a:t>
              </a:r>
              <a:r>
                <a:rPr lang="zh-CN" altLang="en-US" sz="2000" dirty="0">
                  <a:cs typeface="+mn-ea"/>
                  <a:sym typeface="+mn-lt"/>
                </a:rPr>
                <a:t>就是 </a:t>
              </a:r>
              <a:r>
                <a:rPr lang="en-US" altLang="zh-CN" sz="2000" dirty="0">
                  <a:cs typeface="+mn-ea"/>
                  <a:sym typeface="+mn-lt"/>
                </a:rPr>
                <a:t>Giga Floating-point Operations Per Second</a:t>
              </a:r>
              <a:r>
                <a:rPr lang="zh-CN" altLang="en-US" sz="2000" dirty="0">
                  <a:cs typeface="+mn-ea"/>
                  <a:sym typeface="+mn-lt"/>
                </a:rPr>
                <a:t>，即每秒</a:t>
              </a:r>
              <a:r>
                <a:rPr lang="en-US" altLang="zh-CN" sz="2000" dirty="0">
                  <a:cs typeface="+mn-ea"/>
                  <a:sym typeface="+mn-lt"/>
                </a:rPr>
                <a:t>10</a:t>
              </a:r>
              <a:r>
                <a:rPr lang="zh-CN" altLang="en-US" sz="2000" dirty="0">
                  <a:cs typeface="+mn-ea"/>
                  <a:sym typeface="+mn-lt"/>
                </a:rPr>
                <a:t>亿次的浮点运算数。</a:t>
              </a:r>
              <a:endParaRPr lang="en-US" altLang="zh-CN" sz="2000" dirty="0">
                <a:cs typeface="+mn-ea"/>
                <a:sym typeface="+mn-lt"/>
              </a:endParaRPr>
            </a:p>
            <a:p>
              <a:pPr marL="28575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/>
                <a:t>1GFlops = 1,000MFlops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A3F20A8-4819-4F4E-B5FC-170A1BAD7505}"/>
                </a:ext>
              </a:extLst>
            </p:cNvPr>
            <p:cNvSpPr/>
            <p:nvPr/>
          </p:nvSpPr>
          <p:spPr>
            <a:xfrm>
              <a:off x="7157326" y="3342700"/>
              <a:ext cx="4615431" cy="3957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cs typeface="+mn-ea"/>
                  <a:sym typeface="+mn-lt"/>
                  <a:hlinkClick r:id="rId5"/>
                </a:rPr>
                <a:t>https://github.com/Lyken17/pytorch-OpCounter</a:t>
              </a:r>
              <a:endParaRPr lang="en-US" altLang="zh-CN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076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4F48-A240-4E21-9ECC-BCB4B0BA6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Spatial-wise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A466F-3D36-4AA3-8B46-BE0050393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>
                <a:cs typeface="+mn-ea"/>
                <a:sym typeface="+mn-lt"/>
              </a:rPr>
              <a:t>Spatial Transformer Networks</a:t>
            </a: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>
                <a:cs typeface="+mn-ea"/>
                <a:sym typeface="+mn-lt"/>
              </a:rPr>
              <a:t>CBAM: Convolutional Block Attention Module</a:t>
            </a:r>
          </a:p>
        </p:txBody>
      </p:sp>
    </p:spTree>
    <p:extLst>
      <p:ext uri="{BB962C8B-B14F-4D97-AF65-F5344CB8AC3E}">
        <p14:creationId xmlns:p14="http://schemas.microsoft.com/office/powerpoint/2010/main" val="1672797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F28E-814C-42AA-9CD0-8E970F507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Spatial Transformer Networks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9BDE7-A116-4EC6-A06B-44EEDC4A1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21" y="2049951"/>
            <a:ext cx="4804384" cy="4073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56C2D6-FAFA-418A-98AB-F2F185157451}"/>
              </a:ext>
            </a:extLst>
          </p:cNvPr>
          <p:cNvSpPr txBox="1"/>
          <p:nvPr/>
        </p:nvSpPr>
        <p:spPr>
          <a:xfrm>
            <a:off x="8172630" y="6581001"/>
            <a:ext cx="4019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cs typeface="+mn-ea"/>
                <a:sym typeface="+mn-lt"/>
              </a:rPr>
              <a:t>Jaderberg</a:t>
            </a:r>
            <a:r>
              <a:rPr lang="en-US" altLang="zh-CN" sz="1200" dirty="0">
                <a:cs typeface="+mn-ea"/>
                <a:sym typeface="+mn-lt"/>
              </a:rPr>
              <a:t> et al. Spatial Transformer Networks.</a:t>
            </a:r>
            <a:r>
              <a:rPr lang="zh-CN" altLang="en-US" sz="1200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NeurIPS 2015.</a:t>
            </a:r>
            <a:endParaRPr lang="zh-CN" altLang="en-US" sz="1200" i="1" dirty="0">
              <a:cs typeface="+mn-ea"/>
              <a:sym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16A438-FEC9-40A1-8BBB-9B7C6046B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529" y="1375910"/>
            <a:ext cx="5672100" cy="2185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6A184A-9A59-4951-8BB1-AA4E3BFA0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244" y="3938342"/>
            <a:ext cx="5692670" cy="218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49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57BD-0945-4A5A-BE1D-8B61B700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Spatial Transformer Networks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11F66-406B-4F8C-A482-4C590166D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2D Affine Transformation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17A412-A473-4C24-8694-4D60B8CED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173" y="2601723"/>
            <a:ext cx="9115654" cy="1654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12921F-9D65-4430-B32F-FD8EBCDA5E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06" t="7651" r="7217" b="4975"/>
          <a:stretch/>
        </p:blipFill>
        <p:spPr>
          <a:xfrm>
            <a:off x="3821727" y="4532511"/>
            <a:ext cx="4475522" cy="177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46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C2483-9F40-4564-8E15-0677F4C6B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STN results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EA1BC6-4028-4627-BA3E-F947D5E84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10" y="1801720"/>
            <a:ext cx="10390476" cy="4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48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4F48-A240-4E21-9ECC-BCB4B0BA6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  <a:t>CBAM: Convolutional Block Attention Module</a:t>
            </a:r>
            <a:endParaRPr lang="zh-CN" altLang="en-US" sz="40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A466F-3D36-4AA3-8B46-BE0050393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00930" cy="4351338"/>
          </a:xfrm>
        </p:spPr>
        <p:txBody>
          <a:bodyPr/>
          <a:lstStyle/>
          <a:p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“what”: </a:t>
            </a:r>
            <a:r>
              <a:rPr lang="en-US" altLang="zh-CN" dirty="0">
                <a:cs typeface="+mn-ea"/>
                <a:sym typeface="+mn-lt"/>
              </a:rPr>
              <a:t>channel-wise</a:t>
            </a:r>
          </a:p>
          <a:p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 “where”: </a:t>
            </a:r>
            <a:r>
              <a:rPr lang="en-US" altLang="zh-CN" dirty="0">
                <a:cs typeface="+mn-ea"/>
                <a:sym typeface="+mn-lt"/>
              </a:rPr>
              <a:t>spatial-wise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C112FD-F97B-4225-8E8F-729F62207D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1" t="4879" r="2357" b="1"/>
          <a:stretch/>
        </p:blipFill>
        <p:spPr>
          <a:xfrm>
            <a:off x="2671233" y="3175000"/>
            <a:ext cx="6849534" cy="30019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4F1905-BAD9-4D2E-9306-82797678C98D}"/>
              </a:ext>
            </a:extLst>
          </p:cNvPr>
          <p:cNvSpPr txBox="1"/>
          <p:nvPr/>
        </p:nvSpPr>
        <p:spPr>
          <a:xfrm>
            <a:off x="7448394" y="6581001"/>
            <a:ext cx="4743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200" dirty="0">
                <a:cs typeface="+mn-ea"/>
                <a:sym typeface="+mn-lt"/>
              </a:rPr>
              <a:t>Woo et al. CBAM: Convolutional Block Attention Module.</a:t>
            </a:r>
            <a:r>
              <a:rPr lang="zh-CN" altLang="en-US" sz="1200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ECCV</a:t>
            </a:r>
            <a:r>
              <a:rPr lang="zh-CN" altLang="en-US" sz="1200" i="1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2018.</a:t>
            </a:r>
            <a:endParaRPr lang="zh-CN" altLang="en-US" sz="1200" i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2257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4F48-A240-4E21-9ECC-BCB4B0BA6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  <a:t>CBAM: Convolutional Block Attention Module</a:t>
            </a:r>
            <a:endParaRPr lang="zh-CN" altLang="en-US" sz="4000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DF7BA8-9460-4513-8313-991566834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25522"/>
            <a:ext cx="5257800" cy="918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4F1905-BAD9-4D2E-9306-82797678C98D}"/>
              </a:ext>
            </a:extLst>
          </p:cNvPr>
          <p:cNvSpPr txBox="1"/>
          <p:nvPr/>
        </p:nvSpPr>
        <p:spPr>
          <a:xfrm>
            <a:off x="7448394" y="6581001"/>
            <a:ext cx="4743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+mn-ea"/>
                <a:sym typeface="+mn-lt"/>
              </a:rPr>
              <a:t>Woo et al. CBAM: Convolutional Block Attention Module.</a:t>
            </a:r>
            <a:r>
              <a:rPr lang="zh-CN" altLang="en-US" sz="1200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ECCV</a:t>
            </a:r>
            <a:r>
              <a:rPr lang="zh-CN" altLang="en-US" sz="1200" i="1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2018.</a:t>
            </a:r>
            <a:endParaRPr lang="zh-CN" altLang="en-US" sz="1200" i="1" dirty="0">
              <a:cs typeface="+mn-ea"/>
              <a:sym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F1048E-17FF-4186-91D0-06FADEDAE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02254"/>
            <a:ext cx="6002811" cy="31980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8F95BE-6D96-422A-883B-88DC071CDA66}"/>
              </a:ext>
            </a:extLst>
          </p:cNvPr>
          <p:cNvSpPr txBox="1"/>
          <p:nvPr/>
        </p:nvSpPr>
        <p:spPr>
          <a:xfrm>
            <a:off x="545237" y="1877272"/>
            <a:ext cx="3691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B0F0"/>
                </a:solidFill>
                <a:cs typeface="+mn-ea"/>
                <a:sym typeface="+mn-lt"/>
              </a:rPr>
              <a:t>Channel Attention Module</a:t>
            </a:r>
            <a:endParaRPr lang="zh-CN" altLang="en-US" sz="2400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69C92-5547-4B7B-B041-C110CDF095D5}"/>
              </a:ext>
            </a:extLst>
          </p:cNvPr>
          <p:cNvSpPr txBox="1"/>
          <p:nvPr/>
        </p:nvSpPr>
        <p:spPr>
          <a:xfrm>
            <a:off x="545237" y="3630945"/>
            <a:ext cx="3501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B0F0"/>
                </a:solidFill>
                <a:cs typeface="+mn-ea"/>
                <a:sym typeface="+mn-lt"/>
              </a:rPr>
              <a:t>Spatial Attention Module</a:t>
            </a:r>
            <a:endParaRPr lang="zh-CN" altLang="en-US" sz="2400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5DEE53-C46D-455F-9EF3-07D5A420B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25145"/>
            <a:ext cx="5381939" cy="115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67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34F48-A240-4E21-9ECC-BCB4B0BA6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  <a:t>CBAM: Convolutional Block Attention Module</a:t>
            </a:r>
            <a:endParaRPr lang="zh-CN" altLang="en-US" sz="40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F1905-BAD9-4D2E-9306-82797678C98D}"/>
              </a:ext>
            </a:extLst>
          </p:cNvPr>
          <p:cNvSpPr txBox="1"/>
          <p:nvPr/>
        </p:nvSpPr>
        <p:spPr>
          <a:xfrm>
            <a:off x="7448394" y="6581001"/>
            <a:ext cx="4743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+mn-ea"/>
                <a:sym typeface="+mn-lt"/>
              </a:rPr>
              <a:t>Woo et al. CBAM: Convolutional Block Attention Module.</a:t>
            </a:r>
            <a:r>
              <a:rPr lang="zh-CN" altLang="en-US" sz="1200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ECCV</a:t>
            </a:r>
            <a:r>
              <a:rPr lang="zh-CN" altLang="en-US" sz="1200" i="1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2018.</a:t>
            </a:r>
            <a:endParaRPr lang="zh-CN" altLang="en-US" sz="1200" i="1" dirty="0">
              <a:cs typeface="+mn-ea"/>
              <a:sym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3C4617-6440-4E19-AA4F-319CD09F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596" y="1576017"/>
            <a:ext cx="6980808" cy="26849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19C944-99F3-4584-AF62-321A0F3F2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260" y="4375614"/>
            <a:ext cx="9907480" cy="19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60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ECAA-030C-4860-8DC3-C482E653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  <a:t>CBAM: Convolutional Block Attention Module</a:t>
            </a:r>
            <a:endParaRPr lang="zh-CN" altLang="en-US" sz="40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427B84-6D32-4E62-A191-B078312BA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836" y="1868642"/>
            <a:ext cx="8303930" cy="48184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12D8FC-0FF7-4274-AFE6-5C37E7889CB0}"/>
              </a:ext>
            </a:extLst>
          </p:cNvPr>
          <p:cNvSpPr txBox="1"/>
          <p:nvPr/>
        </p:nvSpPr>
        <p:spPr>
          <a:xfrm>
            <a:off x="7448394" y="6581001"/>
            <a:ext cx="4743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+mn-ea"/>
                <a:sym typeface="+mn-lt"/>
              </a:rPr>
              <a:t>Woo et al. CBAM: Convolutional Block Attention Module.</a:t>
            </a:r>
            <a:r>
              <a:rPr lang="zh-CN" altLang="en-US" sz="1200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ECCV</a:t>
            </a:r>
            <a:r>
              <a:rPr lang="zh-CN" altLang="en-US" sz="1200" i="1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2018.</a:t>
            </a:r>
            <a:endParaRPr lang="zh-CN" altLang="en-US" sz="1200" i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0913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123FA-2D0D-4827-99FF-81A1FF36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+mn-lt"/>
                <a:ea typeface="+mn-ea"/>
                <a:cs typeface="+mn-ea"/>
                <a:sym typeface="+mn-lt"/>
              </a:rPr>
              <a:t>CBAM: Convolutional Block Attention Module</a:t>
            </a:r>
            <a:endParaRPr lang="zh-CN" altLang="en-US" sz="40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A9F37-43C6-403D-B7AF-D028F57CA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50" y="1518532"/>
            <a:ext cx="8790476" cy="5085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49A343-9A79-4D13-B489-5FBEB0C5C497}"/>
              </a:ext>
            </a:extLst>
          </p:cNvPr>
          <p:cNvSpPr txBox="1"/>
          <p:nvPr/>
        </p:nvSpPr>
        <p:spPr>
          <a:xfrm>
            <a:off x="7448394" y="6581001"/>
            <a:ext cx="4743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cs typeface="+mn-ea"/>
                <a:sym typeface="+mn-lt"/>
              </a:rPr>
              <a:t>Woo et al. CBAM: Convolutional Block Attention Module.</a:t>
            </a:r>
            <a:r>
              <a:rPr lang="zh-CN" altLang="en-US" sz="1200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ECCV</a:t>
            </a:r>
            <a:r>
              <a:rPr lang="zh-CN" altLang="en-US" sz="1200" i="1" dirty="0">
                <a:cs typeface="+mn-ea"/>
                <a:sym typeface="+mn-lt"/>
              </a:rPr>
              <a:t> </a:t>
            </a:r>
            <a:r>
              <a:rPr lang="en-US" altLang="zh-CN" sz="1200" i="1" dirty="0">
                <a:cs typeface="+mn-ea"/>
                <a:sym typeface="+mn-lt"/>
              </a:rPr>
              <a:t>2018.</a:t>
            </a:r>
            <a:endParaRPr lang="zh-CN" altLang="en-US" sz="1200" i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6317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B588-7964-4762-B114-FF4D53A8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B7303-934D-40E9-9760-D423DBC86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Attention</a:t>
            </a:r>
          </a:p>
          <a:p>
            <a:r>
              <a:rPr lang="en-US" altLang="zh-CN" dirty="0"/>
              <a:t>Transformer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6487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626D-E804-47F2-AC27-1BB62654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Recurrent Neural Network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0D435-BB84-4469-8151-C5E515665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360" y="2035775"/>
            <a:ext cx="6178573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FC Nets</a:t>
            </a:r>
            <a:r>
              <a:rPr lang="zh-CN" altLang="en-US" dirty="0"/>
              <a:t>与</a:t>
            </a:r>
            <a:r>
              <a:rPr lang="en-US" altLang="zh-CN" dirty="0"/>
              <a:t>ConvNets</a:t>
            </a:r>
            <a:r>
              <a:rPr lang="zh-CN" altLang="en-US" dirty="0"/>
              <a:t>存在的局限性：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固定的输入大小 </a:t>
            </a:r>
            <a:r>
              <a:rPr lang="en-US" altLang="zh-CN" dirty="0">
                <a:solidFill>
                  <a:srgbClr val="00B0F0"/>
                </a:solidFill>
              </a:rPr>
              <a:t>(</a:t>
            </a:r>
            <a:r>
              <a:rPr lang="zh-CN" altLang="en-US" b="1" dirty="0">
                <a:solidFill>
                  <a:srgbClr val="00B0F0"/>
                </a:solidFill>
              </a:rPr>
              <a:t>例</a:t>
            </a:r>
            <a:r>
              <a:rPr lang="en-US" altLang="zh-CN" b="1" dirty="0">
                <a:solidFill>
                  <a:srgbClr val="00B0F0"/>
                </a:solidFill>
              </a:rPr>
              <a:t>:</a:t>
            </a:r>
            <a:r>
              <a:rPr lang="zh-CN" altLang="en-US" b="1" dirty="0">
                <a:solidFill>
                  <a:srgbClr val="00B0F0"/>
                </a:solidFill>
              </a:rPr>
              <a:t> </a:t>
            </a:r>
            <a:r>
              <a:rPr lang="en-US" altLang="zh-CN" dirty="0">
                <a:solidFill>
                  <a:srgbClr val="00B0F0"/>
                </a:solidFill>
              </a:rPr>
              <a:t>224*244</a:t>
            </a:r>
            <a:r>
              <a:rPr lang="zh-CN" altLang="en-US" dirty="0">
                <a:solidFill>
                  <a:srgbClr val="00B0F0"/>
                </a:solidFill>
              </a:rPr>
              <a:t>图片</a:t>
            </a:r>
            <a:r>
              <a:rPr lang="en-US" altLang="zh-CN" dirty="0">
                <a:solidFill>
                  <a:srgbClr val="00B0F0"/>
                </a:solidFill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固定的输出大小 </a:t>
            </a:r>
            <a:r>
              <a:rPr lang="en-US" altLang="zh-CN" dirty="0">
                <a:solidFill>
                  <a:srgbClr val="00B0F0"/>
                </a:solidFill>
              </a:rPr>
              <a:t>(</a:t>
            </a:r>
            <a:r>
              <a:rPr lang="zh-CN" altLang="en-US" b="1" dirty="0">
                <a:solidFill>
                  <a:srgbClr val="00B0F0"/>
                </a:solidFill>
              </a:rPr>
              <a:t>例</a:t>
            </a:r>
            <a:r>
              <a:rPr lang="en-US" altLang="zh-CN" b="1" dirty="0">
                <a:solidFill>
                  <a:srgbClr val="00B0F0"/>
                </a:solidFill>
              </a:rPr>
              <a:t>:</a:t>
            </a:r>
            <a:r>
              <a:rPr lang="zh-CN" altLang="en-US" b="1" dirty="0">
                <a:solidFill>
                  <a:srgbClr val="00B0F0"/>
                </a:solidFill>
              </a:rPr>
              <a:t> </a:t>
            </a:r>
            <a:r>
              <a:rPr lang="zh-CN" altLang="en-US" dirty="0">
                <a:solidFill>
                  <a:srgbClr val="00B0F0"/>
                </a:solidFill>
              </a:rPr>
              <a:t>预测的类别概率</a:t>
            </a:r>
            <a:r>
              <a:rPr lang="en-US" altLang="zh-CN" dirty="0">
                <a:solidFill>
                  <a:srgbClr val="00B0F0"/>
                </a:solidFill>
              </a:rPr>
              <a:t>)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RNNs</a:t>
            </a:r>
            <a:r>
              <a:rPr lang="zh-CN" altLang="en-US" dirty="0"/>
              <a:t>更适合用于处理序列输入数据</a:t>
            </a:r>
            <a:r>
              <a:rPr lang="en-US" altLang="zh-CN" sz="2400" dirty="0">
                <a:solidFill>
                  <a:srgbClr val="00B0F0"/>
                </a:solidFill>
              </a:rPr>
              <a:t>(</a:t>
            </a:r>
            <a:r>
              <a:rPr lang="zh-CN" altLang="en-US" sz="2400" dirty="0">
                <a:solidFill>
                  <a:srgbClr val="00B0F0"/>
                </a:solidFill>
              </a:rPr>
              <a:t>例：文本、语言、时序数据</a:t>
            </a:r>
            <a:r>
              <a:rPr lang="en-US" altLang="zh-CN" sz="2400" dirty="0">
                <a:solidFill>
                  <a:srgbClr val="00B0F0"/>
                </a:solidFill>
              </a:rPr>
              <a:t>)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E12F59-779E-4EA6-9A47-4A205DF33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33" y="2035775"/>
            <a:ext cx="4013200" cy="357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57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2CC5-ACFE-418B-A635-75DB4150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Recurrent Neural Network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F46FF-BFBB-4C15-9EFF-CB682E7C5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5667" cy="4351338"/>
          </a:xfrm>
        </p:spPr>
        <p:txBody>
          <a:bodyPr/>
          <a:lstStyle/>
          <a:p>
            <a:r>
              <a:rPr lang="en-US" altLang="zh-CN" dirty="0"/>
              <a:t>Recurrent Neural Network</a:t>
            </a:r>
            <a:r>
              <a:rPr lang="zh-CN" altLang="en-US" dirty="0"/>
              <a:t>带有环</a:t>
            </a:r>
            <a:r>
              <a:rPr lang="en-US" altLang="zh-CN" dirty="0"/>
              <a:t>(loop)</a:t>
            </a:r>
            <a:r>
              <a:rPr lang="zh-CN" altLang="en-US" dirty="0"/>
              <a:t>的神经网络</a:t>
            </a:r>
            <a:r>
              <a:rPr lang="en-US" altLang="zh-CN" dirty="0"/>
              <a:t>, </a:t>
            </a:r>
            <a:r>
              <a:rPr lang="zh-CN" altLang="en-US" dirty="0"/>
              <a:t>用于存储序列信息。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497F8C8-06E2-4296-B1B3-CA5D849FFC77}"/>
              </a:ext>
            </a:extLst>
          </p:cNvPr>
          <p:cNvGrpSpPr/>
          <p:nvPr/>
        </p:nvGrpSpPr>
        <p:grpSpPr>
          <a:xfrm>
            <a:off x="8875858" y="1027906"/>
            <a:ext cx="2980374" cy="3430058"/>
            <a:chOff x="8458093" y="253855"/>
            <a:chExt cx="3381041" cy="38481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23B00E-D442-4FB9-8BD2-077661396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62534" y="253855"/>
              <a:ext cx="3276600" cy="38481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CA830A0-8181-49B8-A5A3-E40DEF7F7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12411" y="550266"/>
              <a:ext cx="376845" cy="44098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10F7938-3729-4FE3-B156-BE348164B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8093" y="3647127"/>
              <a:ext cx="366779" cy="39799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77403F6-99F6-4B90-8237-8672134C1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94922" y="1935289"/>
              <a:ext cx="439942" cy="39994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0029E09-4A3C-4D4E-9D8C-72BF18026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700078" y="253855"/>
              <a:ext cx="342900" cy="3302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5C5D099-ED12-4732-BC50-E32AE11064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580" y="2930148"/>
            <a:ext cx="3952875" cy="21422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C3A0FF-B0D8-4C3B-B9B4-211F91A36E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8451" y="4890978"/>
            <a:ext cx="3747407" cy="14209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BF3360-6121-49F2-A8FA-AEA8568D3D34}"/>
                  </a:ext>
                </a:extLst>
              </p:cNvPr>
              <p:cNvSpPr txBox="1"/>
              <p:nvPr/>
            </p:nvSpPr>
            <p:spPr>
              <a:xfrm>
                <a:off x="3547460" y="2861149"/>
                <a:ext cx="5229888" cy="940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Hidden State: </a:t>
                </a:r>
                <a:r>
                  <a:rPr lang="en-US" sz="2400" dirty="0">
                    <a:solidFill>
                      <a:srgbClr val="FF0000"/>
                    </a:solidFill>
                  </a:rPr>
                  <a:t>a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>
                    <a:solidFill>
                      <a:srgbClr val="FF0000"/>
                    </a:solidFill>
                  </a:rPr>
                  <a:t>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BF3360-6121-49F2-A8FA-AEA8568D3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460" y="2861149"/>
                <a:ext cx="5229888" cy="940066"/>
              </a:xfrm>
              <a:prstGeom prst="rect">
                <a:avLst/>
              </a:prstGeom>
              <a:blipFill>
                <a:blip r:embed="rId9"/>
                <a:stretch>
                  <a:fillRect l="-1865" t="-1290" b="-135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C528BD-A339-4E0E-A7F9-EA790CF62B42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2748750" y="3331182"/>
            <a:ext cx="798710" cy="172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622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498D6-973F-485D-A3F3-5238E9B1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Recurrent Neural Networks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FB950-9038-435D-A675-6C0087307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B0F0"/>
                </a:solidFill>
              </a:rPr>
              <a:t>RNN</a:t>
            </a:r>
            <a:r>
              <a:rPr lang="zh-CN" altLang="en-US" b="1" dirty="0">
                <a:solidFill>
                  <a:srgbClr val="00B0F0"/>
                </a:solidFill>
              </a:rPr>
              <a:t>可以展开成序列模型：</a:t>
            </a:r>
            <a:endParaRPr lang="en-US" altLang="zh-CN" b="1" dirty="0">
              <a:solidFill>
                <a:srgbClr val="00B0F0"/>
              </a:solidFill>
            </a:endParaRP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88BF0-972F-427F-BB12-81FB3091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340" y="2622985"/>
            <a:ext cx="9393319" cy="250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57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D4B3-5D21-4855-8DC1-5B7BD971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Sequence Learning with One RNN Layer</a:t>
            </a:r>
            <a:endParaRPr lang="zh-CN" alt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908846-6EB7-4C85-946D-49A21BB0B884}"/>
              </a:ext>
            </a:extLst>
          </p:cNvPr>
          <p:cNvGrpSpPr/>
          <p:nvPr/>
        </p:nvGrpSpPr>
        <p:grpSpPr>
          <a:xfrm>
            <a:off x="2352185" y="1597555"/>
            <a:ext cx="7487629" cy="2407114"/>
            <a:chOff x="2352185" y="2225443"/>
            <a:chExt cx="7487629" cy="2407114"/>
          </a:xfrm>
        </p:grpSpPr>
        <p:pic>
          <p:nvPicPr>
            <p:cNvPr id="6" name="Picture 5" descr="http://karpathy.github.io/assets/rnn/diags.jpeg">
              <a:extLst>
                <a:ext uri="{FF2B5EF4-FFF2-40B4-BE49-F238E27FC236}">
                  <a16:creationId xmlns:a16="http://schemas.microsoft.com/office/drawing/2014/main" id="{B369DA03-1CDC-4F3D-B192-588C37961D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185" y="2225443"/>
              <a:ext cx="7254168" cy="22706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11">
              <a:extLst>
                <a:ext uri="{FF2B5EF4-FFF2-40B4-BE49-F238E27FC236}">
                  <a16:creationId xmlns:a16="http://schemas.microsoft.com/office/drawing/2014/main" id="{2A761DB5-4086-45FE-B6BB-24DF6D87D6E4}"/>
                </a:ext>
              </a:extLst>
            </p:cNvPr>
            <p:cNvSpPr txBox="1"/>
            <p:nvPr/>
          </p:nvSpPr>
          <p:spPr>
            <a:xfrm>
              <a:off x="3048779" y="4263225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1</a:t>
              </a:r>
            </a:p>
          </p:txBody>
        </p:sp>
        <p:sp>
          <p:nvSpPr>
            <p:cNvPr id="8" name="TextBox 12">
              <a:extLst>
                <a:ext uri="{FF2B5EF4-FFF2-40B4-BE49-F238E27FC236}">
                  <a16:creationId xmlns:a16="http://schemas.microsoft.com/office/drawing/2014/main" id="{D5C8A1A0-3254-4714-8C49-A3D8F35921CC}"/>
                </a:ext>
              </a:extLst>
            </p:cNvPr>
            <p:cNvSpPr txBox="1"/>
            <p:nvPr/>
          </p:nvSpPr>
          <p:spPr>
            <a:xfrm>
              <a:off x="4497974" y="4263225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2</a:t>
              </a:r>
            </a:p>
          </p:txBody>
        </p:sp>
        <p:sp>
          <p:nvSpPr>
            <p:cNvPr id="9" name="TextBox 13">
              <a:extLst>
                <a:ext uri="{FF2B5EF4-FFF2-40B4-BE49-F238E27FC236}">
                  <a16:creationId xmlns:a16="http://schemas.microsoft.com/office/drawing/2014/main" id="{4DE94091-4033-4E31-B6EE-12D6F230EA09}"/>
                </a:ext>
              </a:extLst>
            </p:cNvPr>
            <p:cNvSpPr txBox="1"/>
            <p:nvPr/>
          </p:nvSpPr>
          <p:spPr>
            <a:xfrm>
              <a:off x="5945448" y="4263225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3</a:t>
              </a:r>
            </a:p>
          </p:txBody>
        </p:sp>
        <p:sp>
          <p:nvSpPr>
            <p:cNvPr id="10" name="TextBox 14">
              <a:extLst>
                <a:ext uri="{FF2B5EF4-FFF2-40B4-BE49-F238E27FC236}">
                  <a16:creationId xmlns:a16="http://schemas.microsoft.com/office/drawing/2014/main" id="{371E8614-B450-433E-824E-7A024D701C96}"/>
                </a:ext>
              </a:extLst>
            </p:cNvPr>
            <p:cNvSpPr txBox="1"/>
            <p:nvPr/>
          </p:nvSpPr>
          <p:spPr>
            <a:xfrm>
              <a:off x="7993170" y="4263225"/>
              <a:ext cx="381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4</a:t>
              </a:r>
            </a:p>
          </p:txBody>
        </p:sp>
        <p:sp>
          <p:nvSpPr>
            <p:cNvPr id="11" name="TextBox 15">
              <a:extLst>
                <a:ext uri="{FF2B5EF4-FFF2-40B4-BE49-F238E27FC236}">
                  <a16:creationId xmlns:a16="http://schemas.microsoft.com/office/drawing/2014/main" id="{4CBACC8F-006E-4DC7-A43B-91895669D17A}"/>
                </a:ext>
              </a:extLst>
            </p:cNvPr>
            <p:cNvSpPr txBox="1"/>
            <p:nvPr/>
          </p:nvSpPr>
          <p:spPr>
            <a:xfrm>
              <a:off x="9545899" y="4263225"/>
              <a:ext cx="2939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5</a:t>
              </a:r>
            </a:p>
          </p:txBody>
        </p:sp>
      </p:grpSp>
      <p:sp>
        <p:nvSpPr>
          <p:cNvPr id="13" name="TextBox 10">
            <a:extLst>
              <a:ext uri="{FF2B5EF4-FFF2-40B4-BE49-F238E27FC236}">
                <a16:creationId xmlns:a16="http://schemas.microsoft.com/office/drawing/2014/main" id="{53134CE1-0970-4EA8-8D9F-632739DB46BB}"/>
              </a:ext>
            </a:extLst>
          </p:cNvPr>
          <p:cNvSpPr txBox="1"/>
          <p:nvPr/>
        </p:nvSpPr>
        <p:spPr>
          <a:xfrm>
            <a:off x="539064" y="4091033"/>
            <a:ext cx="11113871" cy="2645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en-US" sz="2000" dirty="0"/>
              <a:t>Standard NN mode without recurrent structure (e.g. </a:t>
            </a:r>
            <a:r>
              <a:rPr lang="en-US" sz="2000" b="1" u="sng" dirty="0"/>
              <a:t>image classification</a:t>
            </a:r>
            <a:r>
              <a:rPr lang="en-US" sz="2000" b="1" dirty="0"/>
              <a:t>, one label for one image</a:t>
            </a:r>
            <a:r>
              <a:rPr lang="en-US" sz="2000" dirty="0"/>
              <a:t>). </a:t>
            </a:r>
          </a:p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en-US" sz="2000" dirty="0"/>
              <a:t>Sequence output (e.g. </a:t>
            </a:r>
            <a:r>
              <a:rPr lang="en-US" sz="2000" b="1" u="sng" dirty="0"/>
              <a:t>image captioning</a:t>
            </a:r>
            <a:r>
              <a:rPr lang="en-US" sz="2000" b="1" dirty="0"/>
              <a:t>, takes an image and outputs a sentence of words</a:t>
            </a:r>
            <a:r>
              <a:rPr lang="en-US" sz="2000" dirty="0"/>
              <a:t>). </a:t>
            </a:r>
          </a:p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en-US" sz="2000" dirty="0"/>
              <a:t>Sequence input (e.g. </a:t>
            </a:r>
            <a:r>
              <a:rPr lang="en-US" sz="2000" b="1" u="sng" dirty="0"/>
              <a:t>sentiment analysis</a:t>
            </a:r>
            <a:r>
              <a:rPr lang="en-US" sz="2000" b="1" dirty="0"/>
              <a:t>, a sentence is classified as expressing positive or negative sentiment</a:t>
            </a:r>
            <a:r>
              <a:rPr lang="en-US" sz="2000" dirty="0"/>
              <a:t>). </a:t>
            </a:r>
          </a:p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en-US" sz="2000" dirty="0"/>
              <a:t>Sequence input and sequence output (e.g. </a:t>
            </a:r>
            <a:r>
              <a:rPr lang="en-US" sz="2000" b="1" u="sng" dirty="0"/>
              <a:t>machine translation</a:t>
            </a:r>
            <a:r>
              <a:rPr lang="en-US" sz="2000" b="1" dirty="0"/>
              <a:t>, a sentence in English is translated into a sentence in French</a:t>
            </a:r>
            <a:r>
              <a:rPr lang="en-US" sz="2000" dirty="0"/>
              <a:t>). </a:t>
            </a:r>
          </a:p>
          <a:p>
            <a:pPr marL="457200" indent="-457200">
              <a:lnSpc>
                <a:spcPct val="120000"/>
              </a:lnSpc>
              <a:buFont typeface="+mj-ea"/>
              <a:buAutoNum type="circleNumDbPlain"/>
            </a:pPr>
            <a:r>
              <a:rPr lang="en-US" sz="2000" dirty="0"/>
              <a:t>Synced sequence input and output (e.g. </a:t>
            </a:r>
            <a:r>
              <a:rPr lang="en-US" sz="2000" b="1" u="sng" dirty="0"/>
              <a:t>video classification</a:t>
            </a:r>
            <a:r>
              <a:rPr lang="en-US" sz="2000" b="1" dirty="0"/>
              <a:t>, label each frame of the video</a:t>
            </a:r>
            <a:r>
              <a:rPr lang="en-U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82675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AC6B-BF32-4C84-B108-3E2E1DBA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Attention is All You Need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D1A2EB-3D16-4F0F-ACE2-C55943E61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806" y="1469759"/>
            <a:ext cx="3437187" cy="5063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14E5CA-2492-4F48-B9C9-8FB5B3CD5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73" y="2232818"/>
            <a:ext cx="6053626" cy="353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31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1188-45CE-4FDE-A5ED-9858A7344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Encoder-Decoder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51F57-43A3-49B2-8D23-69C693BBE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B0F0"/>
                </a:solidFill>
              </a:rPr>
              <a:t>Machine Translation (Seq2Seq)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4" name="AutoShape 2" descr="https://smerity.com/media/images/articles/2016/gnmt_arch_1_enc_dec.svg">
            <a:extLst>
              <a:ext uri="{FF2B5EF4-FFF2-40B4-BE49-F238E27FC236}">
                <a16:creationId xmlns:a16="http://schemas.microsoft.com/office/drawing/2014/main" id="{F18124B1-0FDF-453D-9035-4677EF23A6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3FAD85-F7CF-4837-99A4-AF59108C8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01" y="2703776"/>
            <a:ext cx="8679797" cy="317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34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5C6C-CDCD-42A5-A38B-068E4BF9D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Transformer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D558-A8D4-45B1-9A84-E1E91E99F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0739" y="5808557"/>
            <a:ext cx="1896465" cy="60430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2400" dirty="0"/>
              <a:t>Encoders</a:t>
            </a:r>
            <a:endParaRPr lang="zh-CN" alt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BB9D19-E36B-40A0-BE7F-70379436A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739" y="681037"/>
            <a:ext cx="3437187" cy="506306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C2332E-36C7-41EE-85B2-FAD26EA83D0B}"/>
              </a:ext>
            </a:extLst>
          </p:cNvPr>
          <p:cNvSpPr txBox="1">
            <a:spLocks/>
          </p:cNvSpPr>
          <p:nvPr/>
        </p:nvSpPr>
        <p:spPr>
          <a:xfrm>
            <a:off x="8515926" y="5808557"/>
            <a:ext cx="2032000" cy="6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2400" dirty="0"/>
              <a:t>Decoders</a:t>
            </a:r>
            <a:endParaRPr lang="zh-CN" altLang="en-US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14D5E88-9FDA-4BCF-82A6-2DB44A95501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Seq2Seq model</a:t>
            </a:r>
          </a:p>
          <a:p>
            <a:endParaRPr lang="en-US" altLang="zh-CN" sz="2400" dirty="0"/>
          </a:p>
          <a:p>
            <a:r>
              <a:rPr lang="zh-CN" altLang="en-US" sz="2400" dirty="0"/>
              <a:t>基于</a:t>
            </a:r>
            <a:r>
              <a:rPr lang="en-US" altLang="zh-CN" sz="2400" dirty="0"/>
              <a:t>attention</a:t>
            </a:r>
            <a:r>
              <a:rPr lang="zh-CN" altLang="en-US" sz="2400" dirty="0"/>
              <a:t>与</a:t>
            </a:r>
            <a:r>
              <a:rPr lang="en-US" altLang="zh-CN" sz="2400" dirty="0"/>
              <a:t>dense layers</a:t>
            </a:r>
            <a:r>
              <a:rPr lang="zh-CN" altLang="en-US" sz="2400" dirty="0"/>
              <a:t>构建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大规模数据集上性能超过</a:t>
            </a:r>
            <a:r>
              <a:rPr lang="en-US" altLang="zh-CN" sz="2400" dirty="0"/>
              <a:t>RNNs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20556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1804-D9EC-4C92-AEFD-28C57533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Transformer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E988F-CC5F-40E9-883E-6F48B0539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Encoder</a:t>
            </a:r>
            <a:endParaRPr lang="zh-CN" altLang="en-US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8C2EB2-6BAA-4E38-83BD-BC40C63537A6}"/>
              </a:ext>
            </a:extLst>
          </p:cNvPr>
          <p:cNvGrpSpPr/>
          <p:nvPr/>
        </p:nvGrpSpPr>
        <p:grpSpPr>
          <a:xfrm>
            <a:off x="2684347" y="2432444"/>
            <a:ext cx="6823306" cy="4324520"/>
            <a:chOff x="3056597" y="2354622"/>
            <a:chExt cx="6823306" cy="432452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3C01E4-CFDC-4174-A004-EFF78EB47A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3346" r="50985"/>
            <a:stretch/>
          </p:blipFill>
          <p:spPr>
            <a:xfrm>
              <a:off x="3149738" y="2354622"/>
              <a:ext cx="2158861" cy="432452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84833BF-5A1D-43FC-A081-C17588B607E7}"/>
                </a:ext>
              </a:extLst>
            </p:cNvPr>
            <p:cNvSpPr/>
            <p:nvPr/>
          </p:nvSpPr>
          <p:spPr>
            <a:xfrm>
              <a:off x="3056601" y="2446867"/>
              <a:ext cx="2455195" cy="121073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8C8209A-737C-4782-ABC4-06523017B7FB}"/>
                </a:ext>
              </a:extLst>
            </p:cNvPr>
            <p:cNvSpPr/>
            <p:nvPr/>
          </p:nvSpPr>
          <p:spPr>
            <a:xfrm>
              <a:off x="3056598" y="3698081"/>
              <a:ext cx="2455195" cy="121073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8D2E83-8589-49F0-9D37-C53355A9F7EC}"/>
                </a:ext>
              </a:extLst>
            </p:cNvPr>
            <p:cNvSpPr/>
            <p:nvPr/>
          </p:nvSpPr>
          <p:spPr>
            <a:xfrm>
              <a:off x="3056597" y="4966230"/>
              <a:ext cx="2455195" cy="160390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97D62C-B989-4AC0-9F2D-556289B7329D}"/>
                </a:ext>
              </a:extLst>
            </p:cNvPr>
            <p:cNvSpPr txBox="1"/>
            <p:nvPr/>
          </p:nvSpPr>
          <p:spPr>
            <a:xfrm>
              <a:off x="6173439" y="2859385"/>
              <a:ext cx="37064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3. Feed Forward Networks</a:t>
              </a:r>
              <a:endParaRPr lang="zh-CN" altLang="en-US" sz="2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36ABC72-779B-4207-B677-E8E871388749}"/>
                </a:ext>
              </a:extLst>
            </p:cNvPr>
            <p:cNvSpPr txBox="1"/>
            <p:nvPr/>
          </p:nvSpPr>
          <p:spPr>
            <a:xfrm>
              <a:off x="6173439" y="4055217"/>
              <a:ext cx="33384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2. Multi-Head Attention</a:t>
              </a:r>
              <a:endParaRPr lang="zh-CN" altLang="en-US" sz="24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BC55C58-C63E-41A5-A23E-DA3E2EB57653}"/>
                </a:ext>
              </a:extLst>
            </p:cNvPr>
            <p:cNvSpPr txBox="1"/>
            <p:nvPr/>
          </p:nvSpPr>
          <p:spPr>
            <a:xfrm>
              <a:off x="6173439" y="5461089"/>
              <a:ext cx="12298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1. Input</a:t>
              </a:r>
              <a:endParaRPr lang="zh-CN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08324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B413-ED24-4EA6-B0E3-22399D5C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Input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8F388-A6C7-4699-88FD-83C0DDBFE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Position Embedding</a:t>
            </a:r>
            <a:endParaRPr lang="zh-CN" altLang="en-US" b="1" dirty="0"/>
          </a:p>
        </p:txBody>
      </p:sp>
      <p:pic>
        <p:nvPicPr>
          <p:cNvPr id="4" name="Picture 2" descr="Neural networks struggle with long term dependencies.">
            <a:extLst>
              <a:ext uri="{FF2B5EF4-FFF2-40B4-BE49-F238E27FC236}">
                <a16:creationId xmlns:a16="http://schemas.microsoft.com/office/drawing/2014/main" id="{A08B9B9B-E7D0-48E5-BEF5-112BF584D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290" y="2912488"/>
            <a:ext cx="6993419" cy="240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A6DE96-ABFB-4C0F-93AC-DDEF4341576F}"/>
              </a:ext>
            </a:extLst>
          </p:cNvPr>
          <p:cNvSpPr txBox="1"/>
          <p:nvPr/>
        </p:nvSpPr>
        <p:spPr>
          <a:xfrm>
            <a:off x="5614137" y="5455966"/>
            <a:ext cx="963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RNN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18457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9D85-CDA4-4C17-86AA-3151581C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Input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B0B1D-7CAD-4B6C-81D1-1960610B3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6987"/>
            <a:ext cx="10515600" cy="4351338"/>
          </a:xfrm>
        </p:spPr>
        <p:txBody>
          <a:bodyPr/>
          <a:lstStyle/>
          <a:p>
            <a:r>
              <a:rPr lang="en-US" altLang="zh-CN" b="1" dirty="0"/>
              <a:t>Position Embedding</a:t>
            </a:r>
            <a:endParaRPr lang="zh-CN" altLang="en-US" b="1" dirty="0"/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C80397-A596-4C87-821D-FB84A5D198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20" t="14356" r="3856" b="8795"/>
          <a:stretch/>
        </p:blipFill>
        <p:spPr>
          <a:xfrm>
            <a:off x="2559995" y="2689697"/>
            <a:ext cx="7072009" cy="147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58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1C24A-E329-4196-8452-41ACB079D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Single-head self-attention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AD756-4AAC-4CCF-820A-A45786467A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Key, Value and Query </a:t>
                </a:r>
                <a:r>
                  <a:rPr lang="en-US" altLang="zh-CN" dirty="0">
                    <a:solidFill>
                      <a:srgbClr val="00B0F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CN" dirty="0">
                    <a:solidFill>
                      <a:srgbClr val="00B0F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AD756-4AAC-4CCF-820A-A45786467A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9D08547-B140-4614-A5DF-649007B7C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474" y="2843285"/>
            <a:ext cx="5295238" cy="1171429"/>
          </a:xfrm>
          <a:prstGeom prst="rect">
            <a:avLst/>
          </a:prstGeom>
        </p:spPr>
      </p:pic>
      <p:pic>
        <p:nvPicPr>
          <p:cNvPr id="8" name="Picture 2" descr="https://pic4.zhimg.com/80/v2-1976acee0982abc20b720a4f6b5bc9c3_720w.jpg">
            <a:extLst>
              <a:ext uri="{FF2B5EF4-FFF2-40B4-BE49-F238E27FC236}">
                <a16:creationId xmlns:a16="http://schemas.microsoft.com/office/drawing/2014/main" id="{A10CB2C3-967F-4A63-B7BE-CDD651D22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206" y="1645098"/>
            <a:ext cx="3688619" cy="267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4BF843-5946-433E-B252-6F28BC1A1641}"/>
              </a:ext>
            </a:extLst>
          </p:cNvPr>
          <p:cNvSpPr txBox="1"/>
          <p:nvPr/>
        </p:nvSpPr>
        <p:spPr>
          <a:xfrm>
            <a:off x="8459757" y="4461947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What is the baby doing?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941848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368F0-47FD-424E-BA03-ABC128A96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Single-head self-attention</a:t>
            </a:r>
            <a:endParaRPr lang="zh-CN" alt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9618AC-0627-4B7D-A91B-339828A53720}"/>
              </a:ext>
            </a:extLst>
          </p:cNvPr>
          <p:cNvSpPr/>
          <p:nvPr/>
        </p:nvSpPr>
        <p:spPr>
          <a:xfrm>
            <a:off x="1092201" y="3205442"/>
            <a:ext cx="1016000" cy="48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Query</a:t>
            </a:r>
            <a:endParaRPr lang="zh-CN" altLang="en-US" b="1" dirty="0"/>
          </a:p>
        </p:txBody>
      </p:sp>
      <p:pic>
        <p:nvPicPr>
          <p:cNvPr id="7" name="Picture 2" descr="https://pic4.zhimg.com/80/v2-1976acee0982abc20b720a4f6b5bc9c3_720w.jpg">
            <a:extLst>
              <a:ext uri="{FF2B5EF4-FFF2-40B4-BE49-F238E27FC236}">
                <a16:creationId xmlns:a16="http://schemas.microsoft.com/office/drawing/2014/main" id="{6AB9288D-173B-4327-BA92-CCE49D0B4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9721" y="173092"/>
            <a:ext cx="2824479" cy="204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603048-C43A-4BB7-ADCC-FAA02B0E375C}"/>
              </a:ext>
            </a:extLst>
          </p:cNvPr>
          <p:cNvSpPr txBox="1"/>
          <p:nvPr/>
        </p:nvSpPr>
        <p:spPr>
          <a:xfrm>
            <a:off x="9431442" y="2336577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What is the baby doing?</a:t>
            </a:r>
            <a:endParaRPr lang="zh-CN" altLang="en-US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73E2E-B12F-4E14-93E8-242DF94A44E4}"/>
              </a:ext>
            </a:extLst>
          </p:cNvPr>
          <p:cNvGrpSpPr/>
          <p:nvPr/>
        </p:nvGrpSpPr>
        <p:grpSpPr>
          <a:xfrm>
            <a:off x="3005666" y="2705909"/>
            <a:ext cx="914400" cy="2367772"/>
            <a:chOff x="3005666" y="2705909"/>
            <a:chExt cx="914400" cy="236777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CEB5EA-5B7E-4A96-970B-F8174701E86E}"/>
                </a:ext>
              </a:extLst>
            </p:cNvPr>
            <p:cNvSpPr/>
            <p:nvPr/>
          </p:nvSpPr>
          <p:spPr>
            <a:xfrm>
              <a:off x="3005666" y="2705909"/>
              <a:ext cx="914400" cy="49953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Key1</a:t>
              </a:r>
              <a:endParaRPr lang="zh-CN" altLang="en-US" b="1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B45E379-EF9C-4109-8995-9363431051BC}"/>
                </a:ext>
              </a:extLst>
            </p:cNvPr>
            <p:cNvSpPr/>
            <p:nvPr/>
          </p:nvSpPr>
          <p:spPr>
            <a:xfrm>
              <a:off x="3005666" y="3748118"/>
              <a:ext cx="914400" cy="132556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Value1</a:t>
              </a:r>
              <a:endParaRPr lang="zh-CN" alt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517153A-A846-4713-8DD7-8FEBA63FD229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3462866" y="3205442"/>
              <a:ext cx="0" cy="5426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1B750C-E3C9-44A7-9772-63822EC6514F}"/>
              </a:ext>
            </a:extLst>
          </p:cNvPr>
          <p:cNvGrpSpPr/>
          <p:nvPr/>
        </p:nvGrpSpPr>
        <p:grpSpPr>
          <a:xfrm>
            <a:off x="4377266" y="2705909"/>
            <a:ext cx="914400" cy="2367772"/>
            <a:chOff x="3005666" y="2705909"/>
            <a:chExt cx="914400" cy="236777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BD93DAD-1C73-4B41-9860-C29B3BA673D2}"/>
                </a:ext>
              </a:extLst>
            </p:cNvPr>
            <p:cNvSpPr/>
            <p:nvPr/>
          </p:nvSpPr>
          <p:spPr>
            <a:xfrm>
              <a:off x="3005666" y="2705909"/>
              <a:ext cx="914400" cy="49953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Key2</a:t>
              </a:r>
              <a:endParaRPr lang="zh-CN" altLang="en-US" b="1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BB15A7-53E8-4D7F-8AC3-307C0AFC9211}"/>
                </a:ext>
              </a:extLst>
            </p:cNvPr>
            <p:cNvSpPr/>
            <p:nvPr/>
          </p:nvSpPr>
          <p:spPr>
            <a:xfrm>
              <a:off x="3005666" y="3748118"/>
              <a:ext cx="914400" cy="132556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Value2</a:t>
              </a:r>
              <a:endParaRPr lang="zh-CN" alt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0A3A252-35A4-4418-A7B9-998CD387ECE3}"/>
                </a:ext>
              </a:extLst>
            </p:cNvPr>
            <p:cNvCxnSpPr>
              <a:stCxn id="16" idx="2"/>
              <a:endCxn id="17" idx="0"/>
            </p:cNvCxnSpPr>
            <p:nvPr/>
          </p:nvCxnSpPr>
          <p:spPr>
            <a:xfrm>
              <a:off x="3462866" y="3205442"/>
              <a:ext cx="0" cy="5426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19F958-6278-4DA0-89DA-44519024F445}"/>
              </a:ext>
            </a:extLst>
          </p:cNvPr>
          <p:cNvGrpSpPr/>
          <p:nvPr/>
        </p:nvGrpSpPr>
        <p:grpSpPr>
          <a:xfrm>
            <a:off x="5744419" y="2705909"/>
            <a:ext cx="914400" cy="2367772"/>
            <a:chOff x="3005666" y="2705909"/>
            <a:chExt cx="914400" cy="236777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AC5B6C0-6AF0-4620-BBB7-6ADE29D35761}"/>
                </a:ext>
              </a:extLst>
            </p:cNvPr>
            <p:cNvSpPr/>
            <p:nvPr/>
          </p:nvSpPr>
          <p:spPr>
            <a:xfrm>
              <a:off x="3005666" y="2705909"/>
              <a:ext cx="914400" cy="49953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Key3</a:t>
              </a:r>
              <a:endParaRPr lang="zh-CN" altLang="en-US" b="1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E9DEA91-90B7-47EF-96C0-18AF387722A9}"/>
                </a:ext>
              </a:extLst>
            </p:cNvPr>
            <p:cNvSpPr/>
            <p:nvPr/>
          </p:nvSpPr>
          <p:spPr>
            <a:xfrm>
              <a:off x="3005666" y="3748118"/>
              <a:ext cx="914400" cy="132556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Value3</a:t>
              </a:r>
              <a:endParaRPr lang="zh-CN" altLang="en-US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5D9FF29-0B65-41DC-9E74-539CF9C9C696}"/>
                </a:ext>
              </a:extLst>
            </p:cNvPr>
            <p:cNvCxnSpPr>
              <a:stCxn id="20" idx="2"/>
              <a:endCxn id="21" idx="0"/>
            </p:cNvCxnSpPr>
            <p:nvPr/>
          </p:nvCxnSpPr>
          <p:spPr>
            <a:xfrm>
              <a:off x="3462866" y="3205442"/>
              <a:ext cx="0" cy="5426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64858C6-DF99-4012-893B-3DAD9907B1ED}"/>
              </a:ext>
            </a:extLst>
          </p:cNvPr>
          <p:cNvGrpSpPr/>
          <p:nvPr/>
        </p:nvGrpSpPr>
        <p:grpSpPr>
          <a:xfrm>
            <a:off x="7111571" y="2705909"/>
            <a:ext cx="914400" cy="2367772"/>
            <a:chOff x="3005666" y="2705909"/>
            <a:chExt cx="914400" cy="236777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77FC2E1-3CDF-4C0A-84E9-1B69227E5A27}"/>
                </a:ext>
              </a:extLst>
            </p:cNvPr>
            <p:cNvSpPr/>
            <p:nvPr/>
          </p:nvSpPr>
          <p:spPr>
            <a:xfrm>
              <a:off x="3005666" y="2705909"/>
              <a:ext cx="914400" cy="49953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Key4</a:t>
              </a:r>
              <a:endParaRPr lang="zh-CN" altLang="en-US" b="1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983AFCE-43CA-4520-A5D6-6640E4A08317}"/>
                </a:ext>
              </a:extLst>
            </p:cNvPr>
            <p:cNvSpPr/>
            <p:nvPr/>
          </p:nvSpPr>
          <p:spPr>
            <a:xfrm>
              <a:off x="3005666" y="3748118"/>
              <a:ext cx="914400" cy="1325563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Value4</a:t>
              </a:r>
              <a:endParaRPr lang="zh-CN" altLang="en-US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68FE46B-A901-4F6A-8D98-53A63F6CFA07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3462866" y="3205442"/>
              <a:ext cx="0" cy="5426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FB34C0-4AA0-4886-AA92-9A5BD4CE18CD}"/>
              </a:ext>
            </a:extLst>
          </p:cNvPr>
          <p:cNvCxnSpPr>
            <a:cxnSpLocks/>
            <a:stCxn id="4" idx="3"/>
            <a:endCxn id="31" idx="1"/>
          </p:cNvCxnSpPr>
          <p:nvPr/>
        </p:nvCxnSpPr>
        <p:spPr>
          <a:xfrm flipV="1">
            <a:off x="2108201" y="3429000"/>
            <a:ext cx="6959598" cy="1774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1722702-3713-4916-8F0B-7166CB04862D}"/>
              </a:ext>
            </a:extLst>
          </p:cNvPr>
          <p:cNvSpPr/>
          <p:nvPr/>
        </p:nvSpPr>
        <p:spPr>
          <a:xfrm>
            <a:off x="9067799" y="2971800"/>
            <a:ext cx="1473199" cy="914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Attention</a:t>
            </a:r>
          </a:p>
          <a:p>
            <a:pPr algn="ctr"/>
            <a:r>
              <a:rPr lang="en-US" altLang="zh-CN" b="1" dirty="0"/>
              <a:t>Value</a:t>
            </a:r>
            <a:endParaRPr lang="zh-CN" altLang="en-US" b="1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576F67F-0E8B-4537-8F60-71AECAC5790A}"/>
              </a:ext>
            </a:extLst>
          </p:cNvPr>
          <p:cNvSpPr/>
          <p:nvPr/>
        </p:nvSpPr>
        <p:spPr>
          <a:xfrm>
            <a:off x="1092201" y="2584663"/>
            <a:ext cx="1016000" cy="509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Baby</a:t>
            </a:r>
            <a:endParaRPr lang="zh-CN" alt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A986C38-0FF4-4476-A3DE-A7FA069FF1E0}"/>
              </a:ext>
            </a:extLst>
          </p:cNvPr>
          <p:cNvSpPr/>
          <p:nvPr/>
        </p:nvSpPr>
        <p:spPr>
          <a:xfrm>
            <a:off x="2822655" y="1816460"/>
            <a:ext cx="1236567" cy="70478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Top</a:t>
            </a:r>
          </a:p>
          <a:p>
            <a:pPr algn="ctr"/>
            <a:r>
              <a:rPr lang="en-US" altLang="zh-CN" dirty="0"/>
              <a:t>left</a:t>
            </a:r>
            <a:endParaRPr lang="zh-CN" alt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6A8DABF-1CA3-4717-820A-53A6B0566A10}"/>
              </a:ext>
            </a:extLst>
          </p:cNvPr>
          <p:cNvSpPr/>
          <p:nvPr/>
        </p:nvSpPr>
        <p:spPr>
          <a:xfrm>
            <a:off x="4291533" y="1817374"/>
            <a:ext cx="1236567" cy="70478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Top</a:t>
            </a:r>
          </a:p>
          <a:p>
            <a:pPr algn="ctr"/>
            <a:r>
              <a:rPr lang="en-US" altLang="zh-CN" dirty="0"/>
              <a:t>right</a:t>
            </a:r>
            <a:endParaRPr lang="zh-CN" alt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6EAF519-022F-4115-8604-C2B58C416769}"/>
              </a:ext>
            </a:extLst>
          </p:cNvPr>
          <p:cNvSpPr/>
          <p:nvPr/>
        </p:nvSpPr>
        <p:spPr>
          <a:xfrm>
            <a:off x="5597768" y="1816460"/>
            <a:ext cx="1236567" cy="70478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Bottom left</a:t>
            </a:r>
            <a:endParaRPr lang="zh-CN" alt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C1A5D84-955E-4323-969B-849EB5FAA04F}"/>
              </a:ext>
            </a:extLst>
          </p:cNvPr>
          <p:cNvSpPr/>
          <p:nvPr/>
        </p:nvSpPr>
        <p:spPr>
          <a:xfrm>
            <a:off x="6963239" y="1816459"/>
            <a:ext cx="1236567" cy="70478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Bottom right</a:t>
            </a:r>
            <a:endParaRPr lang="zh-CN" alt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D4A3477-3B61-45D6-BB44-7BFC0E0C2AC8}"/>
              </a:ext>
            </a:extLst>
          </p:cNvPr>
          <p:cNvSpPr/>
          <p:nvPr/>
        </p:nvSpPr>
        <p:spPr>
          <a:xfrm>
            <a:off x="3082555" y="5375057"/>
            <a:ext cx="716765" cy="70478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V1</a:t>
            </a:r>
            <a:endParaRPr lang="zh-CN" alt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36ED096-64CE-410E-9D2F-DCF6A9752CAC}"/>
              </a:ext>
            </a:extLst>
          </p:cNvPr>
          <p:cNvSpPr/>
          <p:nvPr/>
        </p:nvSpPr>
        <p:spPr>
          <a:xfrm>
            <a:off x="4476083" y="5375056"/>
            <a:ext cx="716765" cy="704783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V2</a:t>
            </a:r>
            <a:endParaRPr lang="zh-CN" alt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3D9F268-D6BB-43BC-BF83-F72915DB3283}"/>
              </a:ext>
            </a:extLst>
          </p:cNvPr>
          <p:cNvSpPr/>
          <p:nvPr/>
        </p:nvSpPr>
        <p:spPr>
          <a:xfrm>
            <a:off x="5843236" y="5375056"/>
            <a:ext cx="716765" cy="70478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V3</a:t>
            </a:r>
            <a:endParaRPr lang="zh-CN" alt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575FB88-21CE-42EF-AFFB-DE5518C0DC96}"/>
              </a:ext>
            </a:extLst>
          </p:cNvPr>
          <p:cNvSpPr/>
          <p:nvPr/>
        </p:nvSpPr>
        <p:spPr>
          <a:xfrm>
            <a:off x="7309206" y="5375055"/>
            <a:ext cx="716765" cy="704783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V4</a:t>
            </a:r>
            <a:endParaRPr lang="zh-CN" alt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C3839A0-3B62-4B7B-AA0D-3A68B7536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682" y="4682961"/>
            <a:ext cx="3618399" cy="80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77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1ADD9-F561-4088-B063-914444B3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Single-head self-attention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E074C-4FD6-47C3-BFE2-7161010E0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计算每一个</a:t>
            </a:r>
            <a:r>
              <a:rPr lang="en-US" altLang="zh-CN" dirty="0"/>
              <a:t>Token</a:t>
            </a:r>
            <a:r>
              <a:rPr lang="zh-CN" altLang="en-US" dirty="0"/>
              <a:t>与其他</a:t>
            </a:r>
            <a:r>
              <a:rPr lang="en-US" altLang="zh-CN" dirty="0"/>
              <a:t>Token</a:t>
            </a:r>
            <a:r>
              <a:rPr lang="zh-CN" altLang="en-US" dirty="0"/>
              <a:t>之间的关联性</a:t>
            </a:r>
            <a:r>
              <a:rPr lang="en-US" altLang="zh-CN" dirty="0"/>
              <a:t>(Attention)</a:t>
            </a: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7B4BB-74E0-4408-A550-4EE6C3EF7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64" y="2545137"/>
            <a:ext cx="5587447" cy="1043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754543-A06D-496F-B495-78DD2D124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67" y="4187528"/>
            <a:ext cx="4788019" cy="2184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5DBE91-88BA-4CBB-A00E-2EDE6EDAF2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163" y="3803878"/>
            <a:ext cx="3600000" cy="905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666FB2-2179-4482-B396-3BECA369D8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3211" y="4843919"/>
            <a:ext cx="3600000" cy="7449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67C3A1-B221-47C1-9076-8B2D98C0CD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3211" y="5786185"/>
            <a:ext cx="3600000" cy="78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745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54B2-1D44-4725-A574-9A94ADDC0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Single-head self-attention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B5D05-DF1D-4AAE-8623-C6D73E229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CAEA46C-3AAE-4A97-BE1C-56EDF92EE059}"/>
              </a:ext>
            </a:extLst>
          </p:cNvPr>
          <p:cNvGrpSpPr/>
          <p:nvPr/>
        </p:nvGrpSpPr>
        <p:grpSpPr>
          <a:xfrm>
            <a:off x="838200" y="1947390"/>
            <a:ext cx="5780714" cy="4184809"/>
            <a:chOff x="3793156" y="2222419"/>
            <a:chExt cx="5904762" cy="427045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DD63BCB-96FF-44EF-B152-890C89DE8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93156" y="2226208"/>
              <a:ext cx="5904762" cy="426666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6BE25F0-EE8E-4E99-B69B-BD7CC200D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44063" y="2226208"/>
              <a:ext cx="1209524" cy="103809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3E939E-F4D0-4F2A-8C86-3B4E68683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88394" y="2222419"/>
              <a:ext cx="1209524" cy="1038095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4C783B5-0546-45CE-AA80-277ABC576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112" y="3157171"/>
            <a:ext cx="5206787" cy="112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133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4840-DBB9-43D3-AED2-B01FD540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59400" cy="1325563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Single-head self-attention</a:t>
            </a:r>
            <a:endParaRPr lang="zh-CN" alt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D9B9F7-E00F-44DE-8DE1-6BE6EBEF66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126" r="6662"/>
          <a:stretch/>
        </p:blipFill>
        <p:spPr>
          <a:xfrm>
            <a:off x="727782" y="3088394"/>
            <a:ext cx="4752268" cy="1079874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CB9F30F-0428-4C81-8D3A-5032AE884BEB}"/>
              </a:ext>
            </a:extLst>
          </p:cNvPr>
          <p:cNvGrpSpPr/>
          <p:nvPr/>
        </p:nvGrpSpPr>
        <p:grpSpPr>
          <a:xfrm>
            <a:off x="4986869" y="924053"/>
            <a:ext cx="6616697" cy="5805087"/>
            <a:chOff x="5190069" y="610786"/>
            <a:chExt cx="6616697" cy="58050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A94EA32-68A5-4F52-9868-2B189F5B74E6}"/>
                </a:ext>
              </a:extLst>
            </p:cNvPr>
            <p:cNvSpPr/>
            <p:nvPr/>
          </p:nvSpPr>
          <p:spPr>
            <a:xfrm>
              <a:off x="5350935" y="1427431"/>
              <a:ext cx="1016000" cy="482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Query</a:t>
              </a:r>
              <a:endParaRPr lang="zh-CN" altLang="en-US" b="1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6F2E60-4549-47D0-A08E-5E7C032D6424}"/>
                </a:ext>
              </a:extLst>
            </p:cNvPr>
            <p:cNvSpPr/>
            <p:nvPr/>
          </p:nvSpPr>
          <p:spPr>
            <a:xfrm>
              <a:off x="6807200" y="610788"/>
              <a:ext cx="914400" cy="49953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Key1</a:t>
              </a:r>
              <a:endParaRPr lang="zh-CN" altLang="en-US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3113B19-DFFE-42AE-9FF2-882B0D9898E2}"/>
                </a:ext>
              </a:extLst>
            </p:cNvPr>
            <p:cNvSpPr/>
            <p:nvPr/>
          </p:nvSpPr>
          <p:spPr>
            <a:xfrm>
              <a:off x="8166100" y="610787"/>
              <a:ext cx="914400" cy="49953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Key2</a:t>
              </a:r>
              <a:endParaRPr lang="zh-CN" altLang="en-US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686E3C-6284-4F39-A09C-C4988B9247F7}"/>
                </a:ext>
              </a:extLst>
            </p:cNvPr>
            <p:cNvSpPr/>
            <p:nvPr/>
          </p:nvSpPr>
          <p:spPr>
            <a:xfrm>
              <a:off x="9525000" y="610786"/>
              <a:ext cx="914400" cy="49953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Key3</a:t>
              </a:r>
              <a:endParaRPr lang="zh-CN" altLang="en-US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512347A-204D-4F37-BE43-DB49EAE9FCA2}"/>
                </a:ext>
              </a:extLst>
            </p:cNvPr>
            <p:cNvSpPr/>
            <p:nvPr/>
          </p:nvSpPr>
          <p:spPr>
            <a:xfrm>
              <a:off x="10883900" y="610786"/>
              <a:ext cx="914400" cy="49953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Key4</a:t>
              </a:r>
              <a:endParaRPr lang="zh-CN" alt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C479EFBB-B83A-477C-B4C4-E3141C6AC846}"/>
                    </a:ext>
                  </a:extLst>
                </p:cNvPr>
                <p:cNvSpPr/>
                <p:nvPr/>
              </p:nvSpPr>
              <p:spPr>
                <a:xfrm>
                  <a:off x="6807200" y="1375608"/>
                  <a:ext cx="914400" cy="593691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C479EFBB-B83A-477C-B4C4-E3141C6AC8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7200" y="1375608"/>
                  <a:ext cx="914400" cy="593691"/>
                </a:xfrm>
                <a:prstGeom prst="ellipse">
                  <a:avLst/>
                </a:prstGeom>
                <a:blipFill>
                  <a:blip r:embed="rId3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903340AB-02AE-409F-8D37-3BF1D4EDC3FE}"/>
                    </a:ext>
                  </a:extLst>
                </p:cNvPr>
                <p:cNvSpPr/>
                <p:nvPr/>
              </p:nvSpPr>
              <p:spPr>
                <a:xfrm>
                  <a:off x="8166100" y="1375608"/>
                  <a:ext cx="914400" cy="593691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903340AB-02AE-409F-8D37-3BF1D4EDC3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6100" y="1375608"/>
                  <a:ext cx="914400" cy="593691"/>
                </a:xfrm>
                <a:prstGeom prst="ellipse">
                  <a:avLst/>
                </a:prstGeom>
                <a:blipFill>
                  <a:blip r:embed="rId4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9FF6805A-3DAA-4226-8D08-F9BC3DA4C16C}"/>
                    </a:ext>
                  </a:extLst>
                </p:cNvPr>
                <p:cNvSpPr/>
                <p:nvPr/>
              </p:nvSpPr>
              <p:spPr>
                <a:xfrm>
                  <a:off x="9525000" y="1375608"/>
                  <a:ext cx="914400" cy="593691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9FF6805A-3DAA-4226-8D08-F9BC3DA4C1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5000" y="1375608"/>
                  <a:ext cx="914400" cy="593691"/>
                </a:xfrm>
                <a:prstGeom prst="ellipse">
                  <a:avLst/>
                </a:prstGeom>
                <a:blipFill>
                  <a:blip r:embed="rId5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1977A9B6-4C0B-435D-AAA2-7E55C6330344}"/>
                    </a:ext>
                  </a:extLst>
                </p:cNvPr>
                <p:cNvSpPr/>
                <p:nvPr/>
              </p:nvSpPr>
              <p:spPr>
                <a:xfrm>
                  <a:off x="10883900" y="1375608"/>
                  <a:ext cx="914400" cy="593691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1977A9B6-4C0B-435D-AAA2-7E55C63303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83900" y="1375608"/>
                  <a:ext cx="914400" cy="593691"/>
                </a:xfrm>
                <a:prstGeom prst="ellipse">
                  <a:avLst/>
                </a:prstGeom>
                <a:blipFill>
                  <a:blip r:embed="rId6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128F9DF-FE56-48D9-A59A-6421B6B957AD}"/>
                </a:ext>
              </a:extLst>
            </p:cNvPr>
            <p:cNvSpPr/>
            <p:nvPr/>
          </p:nvSpPr>
          <p:spPr>
            <a:xfrm>
              <a:off x="6807200" y="2312727"/>
              <a:ext cx="914400" cy="49953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S1</a:t>
              </a:r>
              <a:endParaRPr lang="zh-CN" altLang="en-US" b="1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D901A94-A60F-4DC8-B21A-E5BA2BD5BDCC}"/>
                </a:ext>
              </a:extLst>
            </p:cNvPr>
            <p:cNvSpPr/>
            <p:nvPr/>
          </p:nvSpPr>
          <p:spPr>
            <a:xfrm>
              <a:off x="8166099" y="2312723"/>
              <a:ext cx="914400" cy="49953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S2</a:t>
              </a:r>
              <a:endParaRPr lang="zh-CN" altLang="en-US" b="1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5AC593C-0B00-4AC0-B17A-C2E0C446ECDD}"/>
                </a:ext>
              </a:extLst>
            </p:cNvPr>
            <p:cNvSpPr/>
            <p:nvPr/>
          </p:nvSpPr>
          <p:spPr>
            <a:xfrm>
              <a:off x="9525000" y="2312723"/>
              <a:ext cx="914400" cy="49953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S3</a:t>
              </a:r>
              <a:endParaRPr lang="zh-CN" altLang="en-US" b="1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853E5B-DE86-4844-B553-F7C922261720}"/>
                </a:ext>
              </a:extLst>
            </p:cNvPr>
            <p:cNvSpPr/>
            <p:nvPr/>
          </p:nvSpPr>
          <p:spPr>
            <a:xfrm>
              <a:off x="10883900" y="2312727"/>
              <a:ext cx="914400" cy="49953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S4</a:t>
              </a:r>
              <a:endParaRPr lang="zh-CN" altLang="en-US" b="1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21374A4-0ABD-45E3-9FB3-0415E4F049D5}"/>
                </a:ext>
              </a:extLst>
            </p:cNvPr>
            <p:cNvSpPr/>
            <p:nvPr/>
          </p:nvSpPr>
          <p:spPr>
            <a:xfrm>
              <a:off x="6807200" y="3065298"/>
              <a:ext cx="4991100" cy="499533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Softmax</a:t>
              </a:r>
              <a:endParaRPr lang="zh-CN" altLang="en-US" b="1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E8D6BD9-ECE6-4338-9F10-9221EBFFF43C}"/>
                </a:ext>
              </a:extLst>
            </p:cNvPr>
            <p:cNvSpPr/>
            <p:nvPr/>
          </p:nvSpPr>
          <p:spPr>
            <a:xfrm>
              <a:off x="6807200" y="3908259"/>
              <a:ext cx="914400" cy="49953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A1</a:t>
              </a:r>
              <a:endParaRPr lang="zh-CN" altLang="en-US" b="1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65AECC6-E8A8-4557-9AC0-7A0E1ABD9D37}"/>
                </a:ext>
              </a:extLst>
            </p:cNvPr>
            <p:cNvSpPr/>
            <p:nvPr/>
          </p:nvSpPr>
          <p:spPr>
            <a:xfrm>
              <a:off x="8199967" y="3908255"/>
              <a:ext cx="914400" cy="49953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A2</a:t>
              </a:r>
              <a:endParaRPr lang="zh-CN" altLang="en-US" b="1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BD8BD03-1E0A-4471-B14D-7EDDF3A0D622}"/>
                </a:ext>
              </a:extLst>
            </p:cNvPr>
            <p:cNvSpPr/>
            <p:nvPr/>
          </p:nvSpPr>
          <p:spPr>
            <a:xfrm>
              <a:off x="9525000" y="3908255"/>
              <a:ext cx="914400" cy="49953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A3</a:t>
              </a:r>
              <a:endParaRPr lang="zh-CN" altLang="en-US" b="1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6940E40-F823-401F-81E7-7D364DCE7AFF}"/>
                </a:ext>
              </a:extLst>
            </p:cNvPr>
            <p:cNvSpPr/>
            <p:nvPr/>
          </p:nvSpPr>
          <p:spPr>
            <a:xfrm>
              <a:off x="10883900" y="3908259"/>
              <a:ext cx="914400" cy="499533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A4</a:t>
              </a:r>
              <a:endParaRPr lang="zh-CN" alt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D94AFFA8-00A4-4629-BCAB-BEFA71145787}"/>
                    </a:ext>
                  </a:extLst>
                </p:cNvPr>
                <p:cNvSpPr/>
                <p:nvPr/>
              </p:nvSpPr>
              <p:spPr>
                <a:xfrm>
                  <a:off x="6807200" y="4660830"/>
                  <a:ext cx="914400" cy="593691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D94AFFA8-00A4-4629-BCAB-BEFA711457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7200" y="4660830"/>
                  <a:ext cx="914400" cy="593691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C957BEE-FED5-4047-B73B-3D00E55DC97D}"/>
                </a:ext>
              </a:extLst>
            </p:cNvPr>
            <p:cNvSpPr/>
            <p:nvPr/>
          </p:nvSpPr>
          <p:spPr>
            <a:xfrm>
              <a:off x="6807200" y="5482392"/>
              <a:ext cx="914400" cy="93348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Value1</a:t>
              </a:r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73F5214-4366-41AF-A1D8-29C200BDC08A}"/>
                    </a:ext>
                  </a:extLst>
                </p:cNvPr>
                <p:cNvSpPr/>
                <p:nvPr/>
              </p:nvSpPr>
              <p:spPr>
                <a:xfrm>
                  <a:off x="8199967" y="4660830"/>
                  <a:ext cx="914400" cy="593691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373F5214-4366-41AF-A1D8-29C200BDC0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9967" y="4660830"/>
                  <a:ext cx="914400" cy="59369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329FEE-AA4B-4EC6-9064-64BEDA1FBAA4}"/>
                </a:ext>
              </a:extLst>
            </p:cNvPr>
            <p:cNvSpPr/>
            <p:nvPr/>
          </p:nvSpPr>
          <p:spPr>
            <a:xfrm>
              <a:off x="8199967" y="5482392"/>
              <a:ext cx="914400" cy="93348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Value1</a:t>
              </a:r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33732E5A-E3BE-4E7B-B0DD-237DFECA09A4}"/>
                    </a:ext>
                  </a:extLst>
                </p:cNvPr>
                <p:cNvSpPr/>
                <p:nvPr/>
              </p:nvSpPr>
              <p:spPr>
                <a:xfrm>
                  <a:off x="9525000" y="4660830"/>
                  <a:ext cx="914400" cy="593691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33732E5A-E3BE-4E7B-B0DD-237DFECA09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5000" y="4660830"/>
                  <a:ext cx="914400" cy="593691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E3604D7-C244-419B-81E2-ED730F4F900C}"/>
                </a:ext>
              </a:extLst>
            </p:cNvPr>
            <p:cNvSpPr/>
            <p:nvPr/>
          </p:nvSpPr>
          <p:spPr>
            <a:xfrm>
              <a:off x="9525000" y="5482392"/>
              <a:ext cx="914400" cy="93348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Value1</a:t>
              </a:r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4197B2E2-869E-49A0-BA0F-ACE00F17853C}"/>
                    </a:ext>
                  </a:extLst>
                </p:cNvPr>
                <p:cNvSpPr/>
                <p:nvPr/>
              </p:nvSpPr>
              <p:spPr>
                <a:xfrm>
                  <a:off x="10892366" y="4660830"/>
                  <a:ext cx="914400" cy="593691"/>
                </a:xfrm>
                <a:prstGeom prst="ellipse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4197B2E2-869E-49A0-BA0F-ACE00F1785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2366" y="4660830"/>
                  <a:ext cx="914400" cy="593691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EFE6DF6-714C-42CA-BB3F-12734676EFDE}"/>
                </a:ext>
              </a:extLst>
            </p:cNvPr>
            <p:cNvSpPr/>
            <p:nvPr/>
          </p:nvSpPr>
          <p:spPr>
            <a:xfrm>
              <a:off x="10892366" y="5482392"/>
              <a:ext cx="914400" cy="93348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Value1</a:t>
              </a:r>
              <a:endParaRPr lang="zh-CN" altLang="en-US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C55071D-831A-47C5-ABE8-415F38F36E89}"/>
                </a:ext>
              </a:extLst>
            </p:cNvPr>
            <p:cNvCxnSpPr>
              <a:stCxn id="5" idx="3"/>
              <a:endCxn id="10" idx="2"/>
            </p:cNvCxnSpPr>
            <p:nvPr/>
          </p:nvCxnSpPr>
          <p:spPr>
            <a:xfrm>
              <a:off x="6366935" y="1668731"/>
              <a:ext cx="440265" cy="3723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099AA58-F752-46B3-8F1C-B62761CE432D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>
              <a:off x="7721600" y="1672454"/>
              <a:ext cx="444500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B4F09EA-97EA-43C6-974C-0ADF12F99A61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>
              <a:off x="9080500" y="1672454"/>
              <a:ext cx="444500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9E0A8AA-90E2-4EF0-BD4A-89EA5A855EC4}"/>
                </a:ext>
              </a:extLst>
            </p:cNvPr>
            <p:cNvCxnSpPr>
              <a:cxnSpLocks/>
              <a:stCxn id="12" idx="6"/>
              <a:endCxn id="13" idx="2"/>
            </p:cNvCxnSpPr>
            <p:nvPr/>
          </p:nvCxnSpPr>
          <p:spPr>
            <a:xfrm>
              <a:off x="10439400" y="1672454"/>
              <a:ext cx="444500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B6A10C4-AD7C-474A-AA7B-8F4C9223F9BC}"/>
                </a:ext>
              </a:extLst>
            </p:cNvPr>
            <p:cNvSpPr/>
            <p:nvPr/>
          </p:nvSpPr>
          <p:spPr>
            <a:xfrm>
              <a:off x="5190069" y="4683268"/>
              <a:ext cx="1172632" cy="55944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Attention</a:t>
              </a:r>
            </a:p>
            <a:p>
              <a:pPr algn="ctr"/>
              <a:r>
                <a:rPr lang="en-US" altLang="zh-CN" b="1" dirty="0"/>
                <a:t>Value</a:t>
              </a:r>
              <a:endParaRPr lang="zh-CN" altLang="en-US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D823764-0534-4035-81CE-C28D2BBC7141}"/>
                    </a:ext>
                  </a:extLst>
                </p:cNvPr>
                <p:cNvSpPr txBox="1"/>
                <p:nvPr/>
              </p:nvSpPr>
              <p:spPr>
                <a:xfrm>
                  <a:off x="7866418" y="4819174"/>
                  <a:ext cx="2308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CD823764-0534-4035-81CE-C28D2BBC7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6418" y="4819174"/>
                  <a:ext cx="230832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18421" r="-21053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C37D45E-719A-4B4E-A24E-3512FCFF2299}"/>
                    </a:ext>
                  </a:extLst>
                </p:cNvPr>
                <p:cNvSpPr txBox="1"/>
                <p:nvPr/>
              </p:nvSpPr>
              <p:spPr>
                <a:xfrm>
                  <a:off x="9217084" y="4819174"/>
                  <a:ext cx="2308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C37D45E-719A-4B4E-A24E-3512FCFF2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7084" y="4819174"/>
                  <a:ext cx="230832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1053" r="-18421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92581F9-8509-4EE6-AE53-324984E9C017}"/>
                    </a:ext>
                  </a:extLst>
                </p:cNvPr>
                <p:cNvSpPr txBox="1"/>
                <p:nvPr/>
              </p:nvSpPr>
              <p:spPr>
                <a:xfrm>
                  <a:off x="10545117" y="4819173"/>
                  <a:ext cx="23083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92581F9-8509-4EE6-AE53-324984E9C0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5117" y="4819173"/>
                  <a:ext cx="230832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1622" r="-21622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C3C5E30-D5E1-4D54-8252-6C1715D6636A}"/>
                </a:ext>
              </a:extLst>
            </p:cNvPr>
            <p:cNvCxnSpPr>
              <a:stCxn id="6" idx="2"/>
              <a:endCxn id="10" idx="0"/>
            </p:cNvCxnSpPr>
            <p:nvPr/>
          </p:nvCxnSpPr>
          <p:spPr>
            <a:xfrm>
              <a:off x="7264400" y="1110321"/>
              <a:ext cx="0" cy="26528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7CBA39B-2B9C-43A9-8B1F-2895EAE14A92}"/>
                </a:ext>
              </a:extLst>
            </p:cNvPr>
            <p:cNvCxnSpPr>
              <a:cxnSpLocks/>
              <a:stCxn id="7" idx="2"/>
              <a:endCxn id="11" idx="0"/>
            </p:cNvCxnSpPr>
            <p:nvPr/>
          </p:nvCxnSpPr>
          <p:spPr>
            <a:xfrm>
              <a:off x="8623300" y="1110320"/>
              <a:ext cx="0" cy="2652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E7988EC-C9B9-44A2-9D39-D42FA944C5C0}"/>
                </a:ext>
              </a:extLst>
            </p:cNvPr>
            <p:cNvCxnSpPr>
              <a:cxnSpLocks/>
              <a:stCxn id="8" idx="2"/>
              <a:endCxn id="12" idx="0"/>
            </p:cNvCxnSpPr>
            <p:nvPr/>
          </p:nvCxnSpPr>
          <p:spPr>
            <a:xfrm>
              <a:off x="9982200" y="1110319"/>
              <a:ext cx="0" cy="2652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A28BEF2-5DA6-4AB9-91EE-C862738F49AD}"/>
                </a:ext>
              </a:extLst>
            </p:cNvPr>
            <p:cNvCxnSpPr>
              <a:cxnSpLocks/>
              <a:stCxn id="9" idx="2"/>
              <a:endCxn id="13" idx="0"/>
            </p:cNvCxnSpPr>
            <p:nvPr/>
          </p:nvCxnSpPr>
          <p:spPr>
            <a:xfrm>
              <a:off x="11341100" y="1110319"/>
              <a:ext cx="0" cy="26528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5F35EA35-A0E1-4F77-8D9B-781BBF1CC5E2}"/>
                </a:ext>
              </a:extLst>
            </p:cNvPr>
            <p:cNvCxnSpPr>
              <a:cxnSpLocks/>
              <a:stCxn id="10" idx="4"/>
              <a:endCxn id="14" idx="0"/>
            </p:cNvCxnSpPr>
            <p:nvPr/>
          </p:nvCxnSpPr>
          <p:spPr>
            <a:xfrm>
              <a:off x="7264400" y="1969299"/>
              <a:ext cx="0" cy="3434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30F60D8-2B81-4E08-9781-76B446B5BBFB}"/>
                </a:ext>
              </a:extLst>
            </p:cNvPr>
            <p:cNvCxnSpPr>
              <a:cxnSpLocks/>
              <a:stCxn id="11" idx="4"/>
              <a:endCxn id="15" idx="0"/>
            </p:cNvCxnSpPr>
            <p:nvPr/>
          </p:nvCxnSpPr>
          <p:spPr>
            <a:xfrm flipH="1">
              <a:off x="8623299" y="1969299"/>
              <a:ext cx="1" cy="34342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5EF30F7-189E-4B7A-87FD-A887485C00E7}"/>
                </a:ext>
              </a:extLst>
            </p:cNvPr>
            <p:cNvCxnSpPr>
              <a:cxnSpLocks/>
              <a:stCxn id="12" idx="4"/>
              <a:endCxn id="16" idx="0"/>
            </p:cNvCxnSpPr>
            <p:nvPr/>
          </p:nvCxnSpPr>
          <p:spPr>
            <a:xfrm>
              <a:off x="9982200" y="1969299"/>
              <a:ext cx="0" cy="34342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52AFF38F-D113-4169-B808-0C621304CDD0}"/>
                </a:ext>
              </a:extLst>
            </p:cNvPr>
            <p:cNvCxnSpPr>
              <a:cxnSpLocks/>
              <a:stCxn id="13" idx="4"/>
              <a:endCxn id="17" idx="0"/>
            </p:cNvCxnSpPr>
            <p:nvPr/>
          </p:nvCxnSpPr>
          <p:spPr>
            <a:xfrm>
              <a:off x="11341100" y="1969299"/>
              <a:ext cx="0" cy="34342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857B8DA-5E00-4E31-946F-B528FA291173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7264400" y="2812260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C5427F8C-F12A-46E4-9CE7-27B0CC4E284E}"/>
                </a:ext>
              </a:extLst>
            </p:cNvPr>
            <p:cNvCxnSpPr>
              <a:cxnSpLocks/>
            </p:cNvCxnSpPr>
            <p:nvPr/>
          </p:nvCxnSpPr>
          <p:spPr>
            <a:xfrm>
              <a:off x="8657167" y="2812260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9B7DFD13-C4B2-4DCA-8FA6-26281DE8AC93}"/>
                </a:ext>
              </a:extLst>
            </p:cNvPr>
            <p:cNvCxnSpPr>
              <a:cxnSpLocks/>
            </p:cNvCxnSpPr>
            <p:nvPr/>
          </p:nvCxnSpPr>
          <p:spPr>
            <a:xfrm>
              <a:off x="9982200" y="2812260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69B29235-E2F4-4564-A1C1-21FD6E5F5B56}"/>
                </a:ext>
              </a:extLst>
            </p:cNvPr>
            <p:cNvCxnSpPr>
              <a:cxnSpLocks/>
            </p:cNvCxnSpPr>
            <p:nvPr/>
          </p:nvCxnSpPr>
          <p:spPr>
            <a:xfrm>
              <a:off x="11349566" y="2812260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27B1A993-D430-486E-838B-375620321E10}"/>
                </a:ext>
              </a:extLst>
            </p:cNvPr>
            <p:cNvCxnSpPr>
              <a:cxnSpLocks/>
            </p:cNvCxnSpPr>
            <p:nvPr/>
          </p:nvCxnSpPr>
          <p:spPr>
            <a:xfrm>
              <a:off x="7264400" y="3605352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3FD74D12-8216-435D-82F9-EA799A433F19}"/>
                </a:ext>
              </a:extLst>
            </p:cNvPr>
            <p:cNvCxnSpPr>
              <a:cxnSpLocks/>
            </p:cNvCxnSpPr>
            <p:nvPr/>
          </p:nvCxnSpPr>
          <p:spPr>
            <a:xfrm>
              <a:off x="8657167" y="3605352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02E473DA-B579-42C8-BEFB-D5C02CA4499C}"/>
                </a:ext>
              </a:extLst>
            </p:cNvPr>
            <p:cNvCxnSpPr>
              <a:cxnSpLocks/>
            </p:cNvCxnSpPr>
            <p:nvPr/>
          </p:nvCxnSpPr>
          <p:spPr>
            <a:xfrm>
              <a:off x="9982200" y="3605352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05B95723-4EA9-4923-B5F1-2450C4D5B648}"/>
                </a:ext>
              </a:extLst>
            </p:cNvPr>
            <p:cNvCxnSpPr>
              <a:cxnSpLocks/>
            </p:cNvCxnSpPr>
            <p:nvPr/>
          </p:nvCxnSpPr>
          <p:spPr>
            <a:xfrm>
              <a:off x="11349566" y="3605352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9F555820-4264-4A5B-BC9D-08E69116C7EC}"/>
                </a:ext>
              </a:extLst>
            </p:cNvPr>
            <p:cNvCxnSpPr>
              <a:cxnSpLocks/>
            </p:cNvCxnSpPr>
            <p:nvPr/>
          </p:nvCxnSpPr>
          <p:spPr>
            <a:xfrm>
              <a:off x="7264401" y="4407788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52D54B5-C84C-4DF6-B178-CB2C86677C4F}"/>
                </a:ext>
              </a:extLst>
            </p:cNvPr>
            <p:cNvCxnSpPr>
              <a:cxnSpLocks/>
            </p:cNvCxnSpPr>
            <p:nvPr/>
          </p:nvCxnSpPr>
          <p:spPr>
            <a:xfrm>
              <a:off x="8657168" y="4407788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43A2206-3918-4D05-B215-A90DAF65A975}"/>
                </a:ext>
              </a:extLst>
            </p:cNvPr>
            <p:cNvCxnSpPr>
              <a:cxnSpLocks/>
            </p:cNvCxnSpPr>
            <p:nvPr/>
          </p:nvCxnSpPr>
          <p:spPr>
            <a:xfrm>
              <a:off x="9982201" y="4407788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F8948418-923B-4370-BD82-182AF3AB6E1D}"/>
                </a:ext>
              </a:extLst>
            </p:cNvPr>
            <p:cNvCxnSpPr>
              <a:cxnSpLocks/>
            </p:cNvCxnSpPr>
            <p:nvPr/>
          </p:nvCxnSpPr>
          <p:spPr>
            <a:xfrm>
              <a:off x="11349567" y="4407788"/>
              <a:ext cx="0" cy="25303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1B884266-4E62-4689-A046-45BD76F65420}"/>
                </a:ext>
              </a:extLst>
            </p:cNvPr>
            <p:cNvCxnSpPr>
              <a:cxnSpLocks/>
              <a:stCxn id="25" idx="0"/>
              <a:endCxn id="24" idx="4"/>
            </p:cNvCxnSpPr>
            <p:nvPr/>
          </p:nvCxnSpPr>
          <p:spPr>
            <a:xfrm flipV="1">
              <a:off x="7264400" y="5254521"/>
              <a:ext cx="0" cy="2278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CF1455C2-8B76-47A1-8190-E37EA579EDC4}"/>
                </a:ext>
              </a:extLst>
            </p:cNvPr>
            <p:cNvCxnSpPr>
              <a:cxnSpLocks/>
              <a:stCxn id="28" idx="0"/>
              <a:endCxn id="27" idx="4"/>
            </p:cNvCxnSpPr>
            <p:nvPr/>
          </p:nvCxnSpPr>
          <p:spPr>
            <a:xfrm flipV="1">
              <a:off x="8657167" y="5254521"/>
              <a:ext cx="0" cy="2278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0B1908F3-7470-4DC2-8F02-2F03B49877C2}"/>
                </a:ext>
              </a:extLst>
            </p:cNvPr>
            <p:cNvCxnSpPr>
              <a:cxnSpLocks/>
              <a:stCxn id="30" idx="0"/>
              <a:endCxn id="29" idx="4"/>
            </p:cNvCxnSpPr>
            <p:nvPr/>
          </p:nvCxnSpPr>
          <p:spPr>
            <a:xfrm flipV="1">
              <a:off x="9982200" y="5254521"/>
              <a:ext cx="0" cy="2278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D40EFE2-276F-4A2A-A38E-7E9EA694F7D2}"/>
                </a:ext>
              </a:extLst>
            </p:cNvPr>
            <p:cNvCxnSpPr>
              <a:cxnSpLocks/>
              <a:stCxn id="32" idx="0"/>
              <a:endCxn id="31" idx="4"/>
            </p:cNvCxnSpPr>
            <p:nvPr/>
          </p:nvCxnSpPr>
          <p:spPr>
            <a:xfrm flipV="1">
              <a:off x="11349566" y="5254521"/>
              <a:ext cx="0" cy="2278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94537423-8130-41B4-84D6-6FBB4A00F1B9}"/>
                </a:ext>
              </a:extLst>
            </p:cNvPr>
            <p:cNvCxnSpPr>
              <a:cxnSpLocks/>
              <a:stCxn id="24" idx="2"/>
              <a:endCxn id="44" idx="3"/>
            </p:cNvCxnSpPr>
            <p:nvPr/>
          </p:nvCxnSpPr>
          <p:spPr>
            <a:xfrm flipH="1">
              <a:off x="6362701" y="4957676"/>
              <a:ext cx="444499" cy="531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9913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B4BF-A738-4764-9B9B-00F15D60F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Single-head self-attention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F0249-60C9-445D-BFB8-D8ABF9A61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http://jalammar.github.io/images/t/transformer_self_attention_vectors.png">
            <a:extLst>
              <a:ext uri="{FF2B5EF4-FFF2-40B4-BE49-F238E27FC236}">
                <a16:creationId xmlns:a16="http://schemas.microsoft.com/office/drawing/2014/main" id="{AF21BCAA-2F75-4986-A05A-10E4369A8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50" y="1741488"/>
            <a:ext cx="7388225" cy="466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968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E8EF-5DA3-44D0-B2F3-2F49F637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Single-head self-attention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5FE3B-53B1-462E-82A9-8F96562FC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 descr="http://jalammar.github.io/images/t/self-attention-output.png">
            <a:extLst>
              <a:ext uri="{FF2B5EF4-FFF2-40B4-BE49-F238E27FC236}">
                <a16:creationId xmlns:a16="http://schemas.microsoft.com/office/drawing/2014/main" id="{73CC4644-FD7B-419E-AA9F-3850F74B6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536" y="1606021"/>
            <a:ext cx="5344054" cy="507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536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BE8FB-8D89-43C8-BE2C-68D432D05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Single-head self-attention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381C9-51E3-4526-9DE4-7FD7A2A10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728" y="2069432"/>
            <a:ext cx="3788478" cy="4206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0731D4-565A-46BA-844F-A29BA4541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470" y="2844047"/>
            <a:ext cx="6085714" cy="2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81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C767-DE17-4B2A-8A90-4B3D91D5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Multi-head self-attention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9C902-64B1-45AF-B816-53E7DD322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通过多组不同的权重计算得到多个</a:t>
            </a:r>
            <a:r>
              <a:rPr lang="en-US" altLang="zh-CN" dirty="0"/>
              <a:t>Attention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7C0677-48CA-4092-899D-15FBE5351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463" y="2621336"/>
            <a:ext cx="4434172" cy="32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6657A5-97F5-4FE8-BFA8-EE4DF36FC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198" y="2621336"/>
            <a:ext cx="4388571" cy="324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13223E-EE3F-4C1B-B105-4C3BA0B3EDB3}"/>
              </a:ext>
            </a:extLst>
          </p:cNvPr>
          <p:cNvSpPr txBox="1"/>
          <p:nvPr/>
        </p:nvSpPr>
        <p:spPr>
          <a:xfrm>
            <a:off x="2850105" y="5939189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Single-Head</a:t>
            </a:r>
            <a:endParaRPr lang="zh-CN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980DF-7F88-4FAA-9300-978E35B6DE71}"/>
              </a:ext>
            </a:extLst>
          </p:cNvPr>
          <p:cNvSpPr txBox="1"/>
          <p:nvPr/>
        </p:nvSpPr>
        <p:spPr>
          <a:xfrm>
            <a:off x="7943069" y="59425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Multi-Head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444498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E0E2-35EA-4A2A-848D-54A5A16F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Multi-head self-attention</a:t>
            </a:r>
            <a:endParaRPr lang="zh-CN" altLang="en-US" b="1" dirty="0"/>
          </a:p>
        </p:txBody>
      </p:sp>
      <p:pic>
        <p:nvPicPr>
          <p:cNvPr id="2050" name="Picture 2" descr="multi-head scaled dot-product attention">
            <a:extLst>
              <a:ext uri="{FF2B5EF4-FFF2-40B4-BE49-F238E27FC236}">
                <a16:creationId xmlns:a16="http://schemas.microsoft.com/office/drawing/2014/main" id="{51AA8D7F-FE31-4B04-966E-2242D358F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850" y="1690688"/>
            <a:ext cx="3536950" cy="458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1CB737-60A2-44B8-89D6-CDC51A56B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67" y="1918894"/>
            <a:ext cx="6580952" cy="41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1506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2DE8-8C5B-4FDA-B5F6-96118BFA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Multi-head self-attention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9C6A2D-8DF4-456D-9D35-D11E65C9A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49" y="1562371"/>
            <a:ext cx="9276185" cy="493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755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B660-ED69-45C2-869B-7AE69E62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Multi-head self-attention (PyTorch)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4031B-2633-4C57-9399-8453374E80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000"/>
          <a:stretch/>
        </p:blipFill>
        <p:spPr>
          <a:xfrm>
            <a:off x="1554050" y="2058590"/>
            <a:ext cx="9083899" cy="376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90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67A4-A25E-4127-B6A7-EB1166CA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Layer Normalization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35AACB-7DF4-41B0-B059-D3AF62D21A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346" r="50985"/>
          <a:stretch/>
        </p:blipFill>
        <p:spPr>
          <a:xfrm>
            <a:off x="7366422" y="1690688"/>
            <a:ext cx="2158861" cy="4324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36E5BB-1719-4F56-B9C2-8BF6C84AD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009" y="2781674"/>
            <a:ext cx="5433018" cy="154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8614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5F41-4DD9-490D-B110-2D568FCC3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Transformer Encoder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A6E19-C45C-467F-9A60-4F40FB56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111068" cy="4351338"/>
          </a:xfrm>
        </p:spPr>
        <p:txBody>
          <a:bodyPr>
            <a:normAutofit/>
          </a:bodyPr>
          <a:lstStyle/>
          <a:p>
            <a:r>
              <a:rPr lang="fr-FR" altLang="zh-CN" sz="2400" dirty="0" err="1"/>
              <a:t>encoder_layer</a:t>
            </a:r>
            <a:r>
              <a:rPr lang="fr-FR" altLang="zh-CN" sz="2400" dirty="0"/>
              <a:t> = </a:t>
            </a:r>
            <a:r>
              <a:rPr lang="fr-FR" altLang="zh-CN" sz="2400" dirty="0" err="1"/>
              <a:t>nn.TransformerEncoderLayer</a:t>
            </a:r>
            <a:r>
              <a:rPr lang="fr-FR" altLang="zh-CN" sz="2400" dirty="0"/>
              <a:t>(</a:t>
            </a:r>
            <a:r>
              <a:rPr lang="fr-FR" altLang="zh-CN" sz="2400" dirty="0" err="1"/>
              <a:t>d_model</a:t>
            </a:r>
            <a:r>
              <a:rPr lang="fr-FR" altLang="zh-CN" sz="2400" dirty="0"/>
              <a:t>=512,  						       </a:t>
            </a:r>
            <a:r>
              <a:rPr lang="fr-FR" altLang="zh-CN" sz="2400" dirty="0" err="1"/>
              <a:t>nhead</a:t>
            </a:r>
            <a:r>
              <a:rPr lang="fr-FR" altLang="zh-CN" sz="2400" dirty="0"/>
              <a:t>=8)</a:t>
            </a:r>
          </a:p>
          <a:p>
            <a:r>
              <a:rPr lang="en-US" altLang="zh-CN" sz="2400" dirty="0" err="1"/>
              <a:t>transformer_encoder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nn.TransformerEncoder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encoder_layer</a:t>
            </a:r>
            <a:r>
              <a:rPr lang="en-US" altLang="zh-CN" sz="2400" dirty="0"/>
              <a:t>,</a:t>
            </a:r>
          </a:p>
          <a:p>
            <a:pPr marL="0" indent="0">
              <a:buNone/>
            </a:pPr>
            <a:r>
              <a:rPr lang="en-US" altLang="zh-CN" sz="2400" dirty="0"/>
              <a:t>     						        </a:t>
            </a:r>
            <a:r>
              <a:rPr lang="en-US" altLang="zh-CN" sz="2400" dirty="0" err="1"/>
              <a:t>num_layers</a:t>
            </a:r>
            <a:r>
              <a:rPr lang="en-US" altLang="zh-CN" sz="2400" dirty="0"/>
              <a:t>=6)</a:t>
            </a:r>
            <a:endParaRPr lang="zh-CN" alt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6342F-1DCB-4BAA-B405-68069C4BD0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346" r="50985"/>
          <a:stretch/>
        </p:blipFill>
        <p:spPr>
          <a:xfrm>
            <a:off x="9398000" y="1729582"/>
            <a:ext cx="2158861" cy="432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648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B871-FB97-410F-8A78-5956F997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Vision Transformer </a:t>
            </a:r>
            <a:r>
              <a:rPr lang="en-US" altLang="zh-CN" b="1" dirty="0">
                <a:solidFill>
                  <a:srgbClr val="00B0F0"/>
                </a:solidFill>
              </a:rPr>
              <a:t>(ViT)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DBE3A-CA86-4F14-AA1C-2501FEB3C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6" name="Picture 2" descr="https://tugot17.github.io/Vision-Transformer-Presentation/assets/vit.gif">
            <a:extLst>
              <a:ext uri="{FF2B5EF4-FFF2-40B4-BE49-F238E27FC236}">
                <a16:creationId xmlns:a16="http://schemas.microsoft.com/office/drawing/2014/main" id="{F0876AE0-483A-41C2-89DD-9F50FC2A38F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702" y="1527627"/>
            <a:ext cx="7222596" cy="496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B0ABBB3-F3B0-417C-988E-92092703A34A}"/>
              </a:ext>
            </a:extLst>
          </p:cNvPr>
          <p:cNvSpPr/>
          <p:nvPr/>
        </p:nvSpPr>
        <p:spPr>
          <a:xfrm>
            <a:off x="1761424" y="6500228"/>
            <a:ext cx="104305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Dosovitskiy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et al. </a:t>
            </a:r>
            <a:r>
              <a:rPr lang="en-US" altLang="zh-CN" sz="1600" dirty="0">
                <a:solidFill>
                  <a:srgbClr val="2F5597"/>
                </a:solidFill>
                <a:cs typeface="+mn-ea"/>
                <a:sym typeface="+mn-lt"/>
              </a:rPr>
              <a:t>An image is worth 16×16 words: transformers for image recognition at  scale. 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In </a:t>
            </a:r>
            <a:r>
              <a:rPr lang="en-US" altLang="zh-CN" sz="1600" i="1" dirty="0">
                <a:solidFill>
                  <a:srgbClr val="000000"/>
                </a:solidFill>
                <a:cs typeface="+mn-ea"/>
                <a:sym typeface="+mn-lt"/>
              </a:rPr>
              <a:t>ICLR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, 2021</a:t>
            </a:r>
            <a:r>
              <a:rPr lang="en-US" altLang="zh-CN" sz="1600" dirty="0">
                <a:cs typeface="+mn-ea"/>
                <a:sym typeface="+mn-lt"/>
              </a:rPr>
              <a:t> 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7429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194A-B51E-4FC5-8822-3149D4A2B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ViT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FDD558-B162-4F4D-BFDD-9AB2DE0D8C6F}"/>
              </a:ext>
            </a:extLst>
          </p:cNvPr>
          <p:cNvSpPr/>
          <p:nvPr/>
        </p:nvSpPr>
        <p:spPr>
          <a:xfrm>
            <a:off x="1761424" y="6500228"/>
            <a:ext cx="10430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dirty="0" err="1">
                <a:solidFill>
                  <a:srgbClr val="000000"/>
                </a:solidFill>
                <a:cs typeface="+mn-ea"/>
                <a:sym typeface="+mn-lt"/>
              </a:rPr>
              <a:t>Dosovitskiy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 et al. </a:t>
            </a:r>
            <a:r>
              <a:rPr lang="en-US" altLang="zh-CN" dirty="0">
                <a:solidFill>
                  <a:srgbClr val="2F5597"/>
                </a:solidFill>
                <a:cs typeface="+mn-ea"/>
                <a:sym typeface="+mn-lt"/>
              </a:rPr>
              <a:t>An image is worth 16×16 words: transformers for image recognition at  scale. 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In </a:t>
            </a:r>
            <a:r>
              <a:rPr lang="en-US" altLang="zh-CN" i="1" dirty="0">
                <a:solidFill>
                  <a:srgbClr val="000000"/>
                </a:solidFill>
                <a:cs typeface="+mn-ea"/>
                <a:sym typeface="+mn-lt"/>
              </a:rPr>
              <a:t>ICLR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, 2021</a:t>
            </a:r>
            <a:r>
              <a:rPr lang="en-US" altLang="zh-CN" dirty="0">
                <a:cs typeface="+mn-ea"/>
                <a:sym typeface="+mn-lt"/>
              </a:rPr>
              <a:t> 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F739C-8ECB-4208-AE89-59DDD3E93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840" y="1700313"/>
            <a:ext cx="7612320" cy="457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49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DDA0-09A2-4B2C-A485-B05FFCFCE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ViT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A6EBB8C-A61E-4DA8-924A-ED93C9056D13}"/>
              </a:ext>
            </a:extLst>
          </p:cNvPr>
          <p:cNvGrpSpPr/>
          <p:nvPr/>
        </p:nvGrpSpPr>
        <p:grpSpPr>
          <a:xfrm>
            <a:off x="685800" y="1823986"/>
            <a:ext cx="4572000" cy="4572000"/>
            <a:chOff x="1012257" y="1819976"/>
            <a:chExt cx="4572000" cy="4572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BD14E94-0A70-451E-9A8B-EF06949E9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2257" y="1819976"/>
              <a:ext cx="1524000" cy="1524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52082CD-F518-4E0E-9CAB-14FE6ED50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6257" y="1819976"/>
              <a:ext cx="1524000" cy="1524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9E3BD9-AFDA-4E6A-AC47-2B824B574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0257" y="1819976"/>
              <a:ext cx="1524000" cy="1524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FFDA91F-405C-424D-9AC1-AA92A03AC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2257" y="3343976"/>
              <a:ext cx="1524000" cy="1524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51AA4F-2A2F-4E40-98B4-61D960CD8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6257" y="3343976"/>
              <a:ext cx="1524000" cy="1524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91AF625-33FE-4B65-ADEA-F853A2374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60257" y="3343976"/>
              <a:ext cx="1524000" cy="1524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A9D785B-1000-41CA-9D78-9DF26A254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12257" y="4867976"/>
              <a:ext cx="1524000" cy="1524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F902D74-EFC1-4795-BC97-8BEB5A9BD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36257" y="4867976"/>
              <a:ext cx="1524000" cy="1524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2D5723D-3CA9-4BBB-B239-D90D1AC4F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060257" y="4867976"/>
              <a:ext cx="1524000" cy="15240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DD9067-080F-40C8-9F53-C13DDED9354B}"/>
              </a:ext>
            </a:extLst>
          </p:cNvPr>
          <p:cNvGrpSpPr/>
          <p:nvPr/>
        </p:nvGrpSpPr>
        <p:grpSpPr>
          <a:xfrm>
            <a:off x="6608542" y="1708486"/>
            <a:ext cx="4897658" cy="4822250"/>
            <a:chOff x="838999" y="1704476"/>
            <a:chExt cx="4897658" cy="482225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30C12F-3836-4003-8B03-E14D06F44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999" y="1704476"/>
              <a:ext cx="1524000" cy="1524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2570DAE-01A3-4739-8B83-4E377DDB3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6257" y="1704476"/>
              <a:ext cx="1524000" cy="1524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B05432D-7417-4834-9B19-404E02D41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2657" y="1704476"/>
              <a:ext cx="1524000" cy="15240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C0871AE-0A9B-4DA5-A15B-63718F5DA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999" y="3343976"/>
              <a:ext cx="1524000" cy="1524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37E53C7-B923-48B1-84A7-EB09B4EF1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6257" y="3343976"/>
              <a:ext cx="1524000" cy="15240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F603D14-B2DE-4154-AFCA-B66F91BAE7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12657" y="3343976"/>
              <a:ext cx="1524000" cy="1524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43E862E-0D10-4F7B-B5F0-296374C14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8999" y="5002726"/>
              <a:ext cx="1524000" cy="15240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253F01C-336C-46B4-B4F2-AF421C7C2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36257" y="5002726"/>
              <a:ext cx="1524000" cy="1524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8B2C0F5-29B5-4F97-A443-F1777599F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212657" y="5002726"/>
              <a:ext cx="1524000" cy="152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38110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82CCB-A559-4CA5-8A34-FF3BC5638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ViT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2B9DA1-A9A2-4212-B4DC-46F592F81C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cs typeface="+mn-ea"/>
                    <a:sym typeface="+mn-lt"/>
                  </a:rPr>
                  <a:t>Vectorization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Convert the patches of size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h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cs typeface="+mn-ea"/>
                    <a:sym typeface="+mn-lt"/>
                  </a:rPr>
                  <a:t>to the vectors with size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𝑐𝑤h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×1</m:t>
                    </m:r>
                  </m:oMath>
                </a14:m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2B9DA1-A9A2-4212-B4DC-46F592F81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73D2DC1C-10D4-4339-965A-E3E6764637DD}"/>
              </a:ext>
            </a:extLst>
          </p:cNvPr>
          <p:cNvGrpSpPr/>
          <p:nvPr/>
        </p:nvGrpSpPr>
        <p:grpSpPr>
          <a:xfrm>
            <a:off x="688694" y="3143989"/>
            <a:ext cx="10814611" cy="3345713"/>
            <a:chOff x="689006" y="2889000"/>
            <a:chExt cx="10814611" cy="334571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0D64020-4C18-4009-966E-57A36A83F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006" y="2889000"/>
              <a:ext cx="1080000" cy="1080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7A19457-3E1B-4983-B15F-262146245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05832" y="2889000"/>
              <a:ext cx="1080000" cy="108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A24F60-2262-4979-983F-B4BA2E618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22658" y="2889000"/>
              <a:ext cx="1080000" cy="10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1463D4E-3C8D-4E70-850F-061499387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39484" y="2889000"/>
              <a:ext cx="1080000" cy="108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3A20D7E-D670-40B1-8E7F-662B0D7AA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56310" y="2889000"/>
              <a:ext cx="1080000" cy="108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FCA4D73-09C3-4CD4-8AF5-CA7DFDEB6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73136" y="2889000"/>
              <a:ext cx="1080000" cy="1080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F077B4-3A7F-4B29-95DD-2AA264213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89962" y="2889000"/>
              <a:ext cx="1080000" cy="1080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2756CE-9600-4FC6-9359-5C9180CF3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206788" y="2889000"/>
              <a:ext cx="1080000" cy="1080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BE2BF82-71B4-4733-922D-F56B02DD9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23617" y="2889000"/>
              <a:ext cx="1080000" cy="10800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C880127-9CD3-4721-8152-992A4FC0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flipH="1">
              <a:off x="1052215" y="4619942"/>
              <a:ext cx="353581" cy="1605146"/>
            </a:xfrm>
            <a:prstGeom prst="rect">
              <a:avLst/>
            </a:prstGeom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CC7780B-E3F7-4D2C-9EF4-DF16B21A39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9005" y="4007500"/>
              <a:ext cx="1" cy="6028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BEEC811-774C-4B3E-9825-7065D5A89AFE}"/>
                    </a:ext>
                  </a:extLst>
                </p:cNvPr>
                <p:cNvSpPr txBox="1"/>
                <p:nvPr/>
              </p:nvSpPr>
              <p:spPr>
                <a:xfrm>
                  <a:off x="1435138" y="5167312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BEEC811-774C-4B3E-9825-7065D5A89A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5138" y="5167312"/>
                  <a:ext cx="402290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0DD33FF-6CC5-4593-B6E2-530803662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flipH="1">
              <a:off x="2201593" y="4619942"/>
              <a:ext cx="353581" cy="1605146"/>
            </a:xfrm>
            <a:prstGeom prst="rect">
              <a:avLst/>
            </a:prstGeom>
          </p:spPr>
        </p:pic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D34A6F8-6083-4425-AAFB-6866D38D77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8383" y="4007500"/>
              <a:ext cx="1" cy="6028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72D6E69-5805-4778-866D-F858B224F083}"/>
                    </a:ext>
                  </a:extLst>
                </p:cNvPr>
                <p:cNvSpPr txBox="1"/>
                <p:nvPr/>
              </p:nvSpPr>
              <p:spPr>
                <a:xfrm>
                  <a:off x="2584516" y="5167312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F72D6E69-5805-4778-866D-F858B224F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4516" y="5167312"/>
                  <a:ext cx="402290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CBA145F-6B1D-45ED-80CE-994BC6B3F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flipH="1">
              <a:off x="3417953" y="4610317"/>
              <a:ext cx="353581" cy="1605146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8E6919B-C068-459F-A7DF-946E9CC679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4743" y="3997875"/>
              <a:ext cx="1" cy="6028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582CAA0-E9E9-4269-9119-4D97DA82FCD9}"/>
                    </a:ext>
                  </a:extLst>
                </p:cNvPr>
                <p:cNvSpPr txBox="1"/>
                <p:nvPr/>
              </p:nvSpPr>
              <p:spPr>
                <a:xfrm>
                  <a:off x="3800876" y="5157687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582CAA0-E9E9-4269-9119-4D97DA82FC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0876" y="5157687"/>
                  <a:ext cx="402290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9091" r="-7576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08092CC-293D-4797-B29C-19D508525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flipH="1">
              <a:off x="4618414" y="4619942"/>
              <a:ext cx="353581" cy="1605146"/>
            </a:xfrm>
            <a:prstGeom prst="rect">
              <a:avLst/>
            </a:prstGeom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0A1674D-17C5-462D-B7D2-2818320E1D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5204" y="4007500"/>
              <a:ext cx="1" cy="6028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6733722-3BF7-4AA0-A752-BFA8592A441F}"/>
                    </a:ext>
                  </a:extLst>
                </p:cNvPr>
                <p:cNvSpPr txBox="1"/>
                <p:nvPr/>
              </p:nvSpPr>
              <p:spPr>
                <a:xfrm>
                  <a:off x="5001337" y="5167312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6733722-3BF7-4AA0-A752-BFA8592A44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1337" y="5167312"/>
                  <a:ext cx="402290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6E28B3D-7AA6-4D2D-BFCD-76324B7AE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flipH="1">
              <a:off x="5874680" y="4610317"/>
              <a:ext cx="353581" cy="1605146"/>
            </a:xfrm>
            <a:prstGeom prst="rect">
              <a:avLst/>
            </a:prstGeom>
          </p:spPr>
        </p:pic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D51E18F-2F73-4786-BB7F-F5A8E93A9B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51470" y="3997875"/>
              <a:ext cx="1" cy="6028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B15DFBE-5F8C-42D6-9A9E-9477D41D1406}"/>
                    </a:ext>
                  </a:extLst>
                </p:cNvPr>
                <p:cNvSpPr txBox="1"/>
                <p:nvPr/>
              </p:nvSpPr>
              <p:spPr>
                <a:xfrm>
                  <a:off x="6257603" y="5157687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B15DFBE-5F8C-42D6-9A9E-9477D41D1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7603" y="5157687"/>
                  <a:ext cx="402290" cy="369332"/>
                </a:xfrm>
                <a:prstGeom prst="rect">
                  <a:avLst/>
                </a:prstGeom>
                <a:blipFill>
                  <a:blip r:embed="rId19"/>
                  <a:stretch>
                    <a:fillRect l="-9091" r="-9091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22C153D-5EB0-425E-9433-83E30AC38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flipH="1">
              <a:off x="7129843" y="4629567"/>
              <a:ext cx="353581" cy="1605146"/>
            </a:xfrm>
            <a:prstGeom prst="rect">
              <a:avLst/>
            </a:prstGeom>
          </p:spPr>
        </p:pic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14DAE08-BC2F-4388-A83E-29A04299DB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6633" y="4017125"/>
              <a:ext cx="1" cy="6028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46350A5-AA19-4458-9E62-65B56E531B58}"/>
                    </a:ext>
                  </a:extLst>
                </p:cNvPr>
                <p:cNvSpPr txBox="1"/>
                <p:nvPr/>
              </p:nvSpPr>
              <p:spPr>
                <a:xfrm>
                  <a:off x="7512766" y="5176937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46350A5-AA19-4458-9E62-65B56E531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766" y="5176937"/>
                  <a:ext cx="402290" cy="369332"/>
                </a:xfrm>
                <a:prstGeom prst="rect">
                  <a:avLst/>
                </a:prstGeom>
                <a:blipFill>
                  <a:blip r:embed="rId20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91CF01E0-3B7F-49C3-99B2-4B0411F80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flipH="1">
              <a:off x="8279221" y="4629567"/>
              <a:ext cx="353581" cy="1605146"/>
            </a:xfrm>
            <a:prstGeom prst="rect">
              <a:avLst/>
            </a:prstGeom>
          </p:spPr>
        </p:pic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A0593C2-6254-4E09-8C9B-3EF6389B12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6011" y="4017125"/>
              <a:ext cx="1" cy="6028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8F79393-EA73-476B-AD36-C17D5C2A27B2}"/>
                    </a:ext>
                  </a:extLst>
                </p:cNvPr>
                <p:cNvSpPr txBox="1"/>
                <p:nvPr/>
              </p:nvSpPr>
              <p:spPr>
                <a:xfrm>
                  <a:off x="8662144" y="5176937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8F79393-EA73-476B-AD36-C17D5C2A27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2144" y="5176937"/>
                  <a:ext cx="402290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03164E5-A89C-42A6-8DD2-FBECBD528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flipH="1">
              <a:off x="9495581" y="4619942"/>
              <a:ext cx="353581" cy="1605146"/>
            </a:xfrm>
            <a:prstGeom prst="rect">
              <a:avLst/>
            </a:prstGeom>
          </p:spPr>
        </p:pic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8907190-3816-4913-BD5A-0D740664E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2371" y="4007500"/>
              <a:ext cx="1" cy="6028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03DD5FF-1334-408B-AA56-826FBE4E2C49}"/>
                    </a:ext>
                  </a:extLst>
                </p:cNvPr>
                <p:cNvSpPr txBox="1"/>
                <p:nvPr/>
              </p:nvSpPr>
              <p:spPr>
                <a:xfrm>
                  <a:off x="9878504" y="5167312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03DD5FF-1334-408B-AA56-826FBE4E2C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8504" y="5167312"/>
                  <a:ext cx="402290" cy="369332"/>
                </a:xfrm>
                <a:prstGeom prst="rect">
                  <a:avLst/>
                </a:prstGeom>
                <a:blipFill>
                  <a:blip r:embed="rId22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996B19E7-0BA6-4CFE-AFD2-8AC551B53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flipH="1">
              <a:off x="10696042" y="4629567"/>
              <a:ext cx="353581" cy="1605146"/>
            </a:xfrm>
            <a:prstGeom prst="rect">
              <a:avLst/>
            </a:prstGeom>
          </p:spPr>
        </p:pic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908443B9-B528-4A33-B71A-1B51F10556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72832" y="4017125"/>
              <a:ext cx="1" cy="60281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1E67C19-00C1-4FF5-8A67-85DAAD690F1D}"/>
                    </a:ext>
                  </a:extLst>
                </p:cNvPr>
                <p:cNvSpPr txBox="1"/>
                <p:nvPr/>
              </p:nvSpPr>
              <p:spPr>
                <a:xfrm>
                  <a:off x="11078965" y="5176937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1E67C19-00C1-4FF5-8A67-85DAAD690F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8965" y="5176937"/>
                  <a:ext cx="402290" cy="369332"/>
                </a:xfrm>
                <a:prstGeom prst="rect">
                  <a:avLst/>
                </a:prstGeom>
                <a:blipFill>
                  <a:blip r:embed="rId23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565708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6B16-96B5-42B5-B2E2-4DAAC846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ViT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E6FBC9-FFD2-4EFF-85C9-6BCBB61F6268}"/>
              </a:ext>
            </a:extLst>
          </p:cNvPr>
          <p:cNvGrpSpPr/>
          <p:nvPr/>
        </p:nvGrpSpPr>
        <p:grpSpPr>
          <a:xfrm>
            <a:off x="725239" y="2435758"/>
            <a:ext cx="10770719" cy="4029513"/>
            <a:chOff x="903041" y="1690688"/>
            <a:chExt cx="10770719" cy="402951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68E1816-A36E-4AD0-9D8A-87BA93F5C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244720" y="1700313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59CC83C-CC42-45FC-8ECB-EF25F760528B}"/>
                    </a:ext>
                  </a:extLst>
                </p:cNvPr>
                <p:cNvSpPr txBox="1"/>
                <p:nvPr/>
              </p:nvSpPr>
              <p:spPr>
                <a:xfrm>
                  <a:off x="1627643" y="2247683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59CC83C-CC42-45FC-8ECB-EF25F7605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643" y="2247683"/>
                  <a:ext cx="40229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F88D8F-6FE1-4BAB-B886-E8CE20B11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2394098" y="1700313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7E67737-9ADD-45CD-85B9-8B42491C7C33}"/>
                    </a:ext>
                  </a:extLst>
                </p:cNvPr>
                <p:cNvSpPr txBox="1"/>
                <p:nvPr/>
              </p:nvSpPr>
              <p:spPr>
                <a:xfrm>
                  <a:off x="2777021" y="2247683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7E67737-9ADD-45CD-85B9-8B42491C7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7021" y="2247683"/>
                  <a:ext cx="40229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E032249-3323-40B2-A1A4-BCF4D0443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10458" y="1690688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02687D-B8A6-4C6C-9E4E-68DF8145C96A}"/>
                    </a:ext>
                  </a:extLst>
                </p:cNvPr>
                <p:cNvSpPr txBox="1"/>
                <p:nvPr/>
              </p:nvSpPr>
              <p:spPr>
                <a:xfrm>
                  <a:off x="3993381" y="2238058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02687D-B8A6-4C6C-9E4E-68DF8145C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3381" y="2238058"/>
                  <a:ext cx="402290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FC66514-DB7C-4B18-BFED-26CCFD3CC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810919" y="1700313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D7790BD-4664-478D-9278-7304A82FFE02}"/>
                    </a:ext>
                  </a:extLst>
                </p:cNvPr>
                <p:cNvSpPr txBox="1"/>
                <p:nvPr/>
              </p:nvSpPr>
              <p:spPr>
                <a:xfrm>
                  <a:off x="5193842" y="2247683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D7790BD-4664-478D-9278-7304A82FFE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3842" y="2247683"/>
                  <a:ext cx="40229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8D13934-4B78-4A7D-95AA-BD414B3D3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067185" y="1690688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11045A1-EA75-4CB5-B502-2DCAFACE1B1C}"/>
                    </a:ext>
                  </a:extLst>
                </p:cNvPr>
                <p:cNvSpPr txBox="1"/>
                <p:nvPr/>
              </p:nvSpPr>
              <p:spPr>
                <a:xfrm>
                  <a:off x="6450108" y="2238058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11045A1-EA75-4CB5-B502-2DCAFACE1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108" y="2238058"/>
                  <a:ext cx="40229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9091" r="-7576" b="-180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6447BE3-DFFF-4DF1-B82D-775043EC8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7322348" y="1709938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E13F0EC-9732-4128-ABFC-5C418FA9E6B7}"/>
                    </a:ext>
                  </a:extLst>
                </p:cNvPr>
                <p:cNvSpPr txBox="1"/>
                <p:nvPr/>
              </p:nvSpPr>
              <p:spPr>
                <a:xfrm>
                  <a:off x="7705271" y="2257308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E13F0EC-9732-4128-ABFC-5C418FA9E6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5271" y="2257308"/>
                  <a:ext cx="40229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9091" r="-7576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638FAC2-5355-45D2-97EE-5CE43AD83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8471726" y="1709938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A44CFC9-23D1-499B-95B0-C14D2651B2BF}"/>
                    </a:ext>
                  </a:extLst>
                </p:cNvPr>
                <p:cNvSpPr txBox="1"/>
                <p:nvPr/>
              </p:nvSpPr>
              <p:spPr>
                <a:xfrm>
                  <a:off x="8854649" y="2257308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A44CFC9-23D1-499B-95B0-C14D2651B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4649" y="2257308"/>
                  <a:ext cx="402290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9091" r="-7576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D1A6087-23D5-4EEC-B2EA-D0185FECC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9688086" y="1700313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7A97186-1B2F-48A0-B530-7852786A9466}"/>
                    </a:ext>
                  </a:extLst>
                </p:cNvPr>
                <p:cNvSpPr txBox="1"/>
                <p:nvPr/>
              </p:nvSpPr>
              <p:spPr>
                <a:xfrm>
                  <a:off x="10071009" y="2247683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7A97186-1B2F-48A0-B530-7852786A9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1009" y="2247683"/>
                  <a:ext cx="40229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AABB0E4-A50C-4B9C-BCA7-F797DC4E9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0888547" y="1709938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B3840F9-1AB3-4FBF-B5E9-AF213E74CBFA}"/>
                    </a:ext>
                  </a:extLst>
                </p:cNvPr>
                <p:cNvSpPr txBox="1"/>
                <p:nvPr/>
              </p:nvSpPr>
              <p:spPr>
                <a:xfrm>
                  <a:off x="11271470" y="2257308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B3840F9-1AB3-4FBF-B5E9-AF213E74CB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1470" y="2257308"/>
                  <a:ext cx="402290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9091" r="-7576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BA144DD-F112-400C-BD17-A6A31C374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flipH="1">
              <a:off x="1265291" y="4749326"/>
              <a:ext cx="312436" cy="970875"/>
            </a:xfrm>
            <a:prstGeom prst="rect">
              <a:avLst/>
            </a:prstGeom>
          </p:spPr>
        </p:pic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A14268B-EC25-41DC-916E-CB47B1C0C37C}"/>
                </a:ext>
              </a:extLst>
            </p:cNvPr>
            <p:cNvSpPr/>
            <p:nvPr/>
          </p:nvSpPr>
          <p:spPr>
            <a:xfrm>
              <a:off x="903041" y="3862454"/>
              <a:ext cx="1036937" cy="47750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Dense</a:t>
              </a:r>
              <a:endParaRPr lang="zh-CN" altLang="en-US" dirty="0">
                <a:cs typeface="+mn-ea"/>
                <a:sym typeface="+mn-lt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42CEADD-15A6-480A-9671-C8EF07CF96AC}"/>
                </a:ext>
              </a:extLst>
            </p:cNvPr>
            <p:cNvCxnSpPr>
              <a:cxnSpLocks/>
              <a:stCxn id="4" idx="2"/>
              <a:endCxn id="23" idx="0"/>
            </p:cNvCxnSpPr>
            <p:nvPr/>
          </p:nvCxnSpPr>
          <p:spPr>
            <a:xfrm>
              <a:off x="1421510" y="3305459"/>
              <a:ext cx="0" cy="5569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8A47FF6-68DF-4414-B468-C7E31D924E22}"/>
                </a:ext>
              </a:extLst>
            </p:cNvPr>
            <p:cNvCxnSpPr>
              <a:cxnSpLocks/>
              <a:stCxn id="23" idx="2"/>
              <a:endCxn id="22" idx="0"/>
            </p:cNvCxnSpPr>
            <p:nvPr/>
          </p:nvCxnSpPr>
          <p:spPr>
            <a:xfrm flipH="1">
              <a:off x="1421509" y="4339962"/>
              <a:ext cx="1" cy="40936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3930597-3878-455F-A832-3D409E19AB67}"/>
                    </a:ext>
                  </a:extLst>
                </p:cNvPr>
                <p:cNvSpPr txBox="1"/>
                <p:nvPr/>
              </p:nvSpPr>
              <p:spPr>
                <a:xfrm>
                  <a:off x="1627643" y="5050097"/>
                  <a:ext cx="196515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=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+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𝒃</m:t>
                        </m:r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3930597-3878-455F-A832-3D409E19AB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27643" y="5050097"/>
                  <a:ext cx="1965153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1553" r="-3106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1CF2A6D-3DAD-42FD-BA82-3342AC4E4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CN" b="1" dirty="0"/>
              <a:t>Patch Embeddings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287951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C6B16-96B5-42B5-B2E2-4DAAC846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ViT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C0AA28D-E3DD-46F9-A9D9-73A66B336401}"/>
              </a:ext>
            </a:extLst>
          </p:cNvPr>
          <p:cNvGrpSpPr/>
          <p:nvPr/>
        </p:nvGrpSpPr>
        <p:grpSpPr>
          <a:xfrm>
            <a:off x="299697" y="2384955"/>
            <a:ext cx="11592606" cy="4029513"/>
            <a:chOff x="81154" y="1690688"/>
            <a:chExt cx="11592606" cy="402951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F88D8F-6FE1-4BAB-B886-E8CE20B11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2394098" y="1700313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7E67737-9ADD-45CD-85B9-8B42491C7C33}"/>
                    </a:ext>
                  </a:extLst>
                </p:cNvPr>
                <p:cNvSpPr txBox="1"/>
                <p:nvPr/>
              </p:nvSpPr>
              <p:spPr>
                <a:xfrm>
                  <a:off x="2777021" y="2247683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7E67737-9ADD-45CD-85B9-8B42491C7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7021" y="2247683"/>
                  <a:ext cx="402290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9091" r="-7576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E032249-3323-40B2-A1A4-BCF4D0443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610458" y="1690688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02687D-B8A6-4C6C-9E4E-68DF8145C96A}"/>
                    </a:ext>
                  </a:extLst>
                </p:cNvPr>
                <p:cNvSpPr txBox="1"/>
                <p:nvPr/>
              </p:nvSpPr>
              <p:spPr>
                <a:xfrm>
                  <a:off x="3993381" y="2238058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002687D-B8A6-4C6C-9E4E-68DF8145C9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3381" y="2238058"/>
                  <a:ext cx="40229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FC66514-DB7C-4B18-BFED-26CCFD3CC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810919" y="1700313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D7790BD-4664-478D-9278-7304A82FFE02}"/>
                    </a:ext>
                  </a:extLst>
                </p:cNvPr>
                <p:cNvSpPr txBox="1"/>
                <p:nvPr/>
              </p:nvSpPr>
              <p:spPr>
                <a:xfrm>
                  <a:off x="5193842" y="2247683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D7790BD-4664-478D-9278-7304A82FFE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3842" y="2247683"/>
                  <a:ext cx="402290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9091" r="-7576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8D13934-4B78-4A7D-95AA-BD414B3D3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067185" y="1690688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11045A1-EA75-4CB5-B502-2DCAFACE1B1C}"/>
                    </a:ext>
                  </a:extLst>
                </p:cNvPr>
                <p:cNvSpPr txBox="1"/>
                <p:nvPr/>
              </p:nvSpPr>
              <p:spPr>
                <a:xfrm>
                  <a:off x="6450108" y="2238058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11045A1-EA75-4CB5-B502-2DCAFACE1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0108" y="2238058"/>
                  <a:ext cx="40229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9091" r="-7576" b="-180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6447BE3-DFFF-4DF1-B82D-775043EC8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7322348" y="1709938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E13F0EC-9732-4128-ABFC-5C418FA9E6B7}"/>
                    </a:ext>
                  </a:extLst>
                </p:cNvPr>
                <p:cNvSpPr txBox="1"/>
                <p:nvPr/>
              </p:nvSpPr>
              <p:spPr>
                <a:xfrm>
                  <a:off x="7705271" y="2257308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E13F0EC-9732-4128-ABFC-5C418FA9E6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5271" y="2257308"/>
                  <a:ext cx="40229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638FAC2-5355-45D2-97EE-5CE43AD83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8471726" y="1709938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A44CFC9-23D1-499B-95B0-C14D2651B2BF}"/>
                    </a:ext>
                  </a:extLst>
                </p:cNvPr>
                <p:cNvSpPr txBox="1"/>
                <p:nvPr/>
              </p:nvSpPr>
              <p:spPr>
                <a:xfrm>
                  <a:off x="8854649" y="2257308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A44CFC9-23D1-499B-95B0-C14D2651B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4649" y="2257308"/>
                  <a:ext cx="40229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D1A6087-23D5-4EEC-B2EA-D0185FECC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9688086" y="1700313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7A97186-1B2F-48A0-B530-7852786A9466}"/>
                    </a:ext>
                  </a:extLst>
                </p:cNvPr>
                <p:cNvSpPr txBox="1"/>
                <p:nvPr/>
              </p:nvSpPr>
              <p:spPr>
                <a:xfrm>
                  <a:off x="10071009" y="2247683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7A97186-1B2F-48A0-B530-7852786A9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71009" y="2247683"/>
                  <a:ext cx="402290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9091" r="-7576" b="-1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AABB0E4-A50C-4B9C-BCA7-F797DC4E9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0888547" y="1709938"/>
              <a:ext cx="353581" cy="160514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B3840F9-1AB3-4FBF-B5E9-AF213E74CBFA}"/>
                    </a:ext>
                  </a:extLst>
                </p:cNvPr>
                <p:cNvSpPr txBox="1"/>
                <p:nvPr/>
              </p:nvSpPr>
              <p:spPr>
                <a:xfrm>
                  <a:off x="11271470" y="2257308"/>
                  <a:ext cx="40229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B3840F9-1AB3-4FBF-B5E9-AF213E74CB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71470" y="2257308"/>
                  <a:ext cx="40229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9091" r="-7576" b="-163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0F701A11-DB0C-443A-BA8A-0B57CB0BC7C2}"/>
                </a:ext>
              </a:extLst>
            </p:cNvPr>
            <p:cNvGrpSpPr/>
            <p:nvPr/>
          </p:nvGrpSpPr>
          <p:grpSpPr>
            <a:xfrm>
              <a:off x="903041" y="1700313"/>
              <a:ext cx="1126892" cy="4019888"/>
              <a:chOff x="903041" y="1700313"/>
              <a:chExt cx="1126892" cy="401988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68E1816-A36E-4AD0-9D8A-87BA93F5C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1244720" y="1700313"/>
                <a:ext cx="353581" cy="160514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C59CC83C-CC42-45FC-8ECB-EF25F760528B}"/>
                      </a:ext>
                    </a:extLst>
                  </p:cNvPr>
                  <p:cNvSpPr txBox="1"/>
                  <p:nvPr/>
                </p:nvSpPr>
                <p:spPr>
                  <a:xfrm>
                    <a:off x="1627643" y="2247683"/>
                    <a:ext cx="402290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C59CC83C-CC42-45FC-8ECB-EF25F76052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27643" y="2247683"/>
                    <a:ext cx="402290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091" r="-7576" b="-1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6BD908E-FEC9-4AAB-B940-4086A70A1816}"/>
                  </a:ext>
                </a:extLst>
              </p:cNvPr>
              <p:cNvGrpSpPr/>
              <p:nvPr/>
            </p:nvGrpSpPr>
            <p:grpSpPr>
              <a:xfrm>
                <a:off x="903041" y="3305459"/>
                <a:ext cx="1036937" cy="2414742"/>
                <a:chOff x="903041" y="3305459"/>
                <a:chExt cx="1036937" cy="2414742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4BA144DD-F112-400C-BD17-A6A31C374A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 flipH="1">
                  <a:off x="1265291" y="4749326"/>
                  <a:ext cx="312436" cy="970875"/>
                </a:xfrm>
                <a:prstGeom prst="rect">
                  <a:avLst/>
                </a:prstGeom>
              </p:spPr>
            </p:pic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6A14268B-EC25-41DC-916E-CB47B1C0C37C}"/>
                    </a:ext>
                  </a:extLst>
                </p:cNvPr>
                <p:cNvSpPr/>
                <p:nvPr/>
              </p:nvSpPr>
              <p:spPr>
                <a:xfrm>
                  <a:off x="903041" y="3862454"/>
                  <a:ext cx="1036937" cy="4775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cs typeface="+mn-ea"/>
                      <a:sym typeface="+mn-lt"/>
                    </a:rPr>
                    <a:t>Dense</a:t>
                  </a:r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042CEADD-15A6-480A-9671-C8EF07CF96AC}"/>
                    </a:ext>
                  </a:extLst>
                </p:cNvPr>
                <p:cNvCxnSpPr>
                  <a:cxnSpLocks/>
                  <a:stCxn id="4" idx="2"/>
                  <a:endCxn id="23" idx="0"/>
                </p:cNvCxnSpPr>
                <p:nvPr/>
              </p:nvCxnSpPr>
              <p:spPr>
                <a:xfrm>
                  <a:off x="1421510" y="3305459"/>
                  <a:ext cx="0" cy="556995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B8A47FF6-68DF-4414-B468-C7E31D924E22}"/>
                    </a:ext>
                  </a:extLst>
                </p:cNvPr>
                <p:cNvCxnSpPr>
                  <a:cxnSpLocks/>
                  <a:stCxn id="23" idx="2"/>
                  <a:endCxn id="22" idx="0"/>
                </p:cNvCxnSpPr>
                <p:nvPr/>
              </p:nvCxnSpPr>
              <p:spPr>
                <a:xfrm flipH="1">
                  <a:off x="1421509" y="4339962"/>
                  <a:ext cx="1" cy="40936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A68E82C-FB38-43A7-BAED-B34DF95DD871}"/>
                </a:ext>
              </a:extLst>
            </p:cNvPr>
            <p:cNvGrpSpPr/>
            <p:nvPr/>
          </p:nvGrpSpPr>
          <p:grpSpPr>
            <a:xfrm>
              <a:off x="2015983" y="3305459"/>
              <a:ext cx="1036937" cy="2414742"/>
              <a:chOff x="2015983" y="3305459"/>
              <a:chExt cx="1036937" cy="2414742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B0360DC-6208-40E9-91F3-AB7186FCF4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2378233" y="4749326"/>
                <a:ext cx="312436" cy="970875"/>
              </a:xfrm>
              <a:prstGeom prst="rect">
                <a:avLst/>
              </a:prstGeom>
            </p:spPr>
          </p:pic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9B0F8E4-D135-43CA-814E-EC25175E3D39}"/>
                  </a:ext>
                </a:extLst>
              </p:cNvPr>
              <p:cNvSpPr/>
              <p:nvPr/>
            </p:nvSpPr>
            <p:spPr>
              <a:xfrm>
                <a:off x="2015983" y="3862454"/>
                <a:ext cx="1036937" cy="47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Dense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FEA29611-27E2-46F2-A6B0-495D1F90C5BB}"/>
                  </a:ext>
                </a:extLst>
              </p:cNvPr>
              <p:cNvCxnSpPr>
                <a:cxnSpLocks/>
                <a:endCxn id="27" idx="0"/>
              </p:cNvCxnSpPr>
              <p:nvPr/>
            </p:nvCxnSpPr>
            <p:spPr>
              <a:xfrm>
                <a:off x="2534452" y="3305459"/>
                <a:ext cx="0" cy="556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33A8C5F8-BB17-43B5-97F7-EDF40A17F86D}"/>
                  </a:ext>
                </a:extLst>
              </p:cNvPr>
              <p:cNvCxnSpPr>
                <a:cxnSpLocks/>
                <a:stCxn id="27" idx="2"/>
                <a:endCxn id="26" idx="0"/>
              </p:cNvCxnSpPr>
              <p:nvPr/>
            </p:nvCxnSpPr>
            <p:spPr>
              <a:xfrm flipH="1">
                <a:off x="2534451" y="4339962"/>
                <a:ext cx="1" cy="40936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873B5E1-ED92-4B6B-850F-ABB31CF1CC14}"/>
                </a:ext>
              </a:extLst>
            </p:cNvPr>
            <p:cNvGrpSpPr/>
            <p:nvPr/>
          </p:nvGrpSpPr>
          <p:grpSpPr>
            <a:xfrm>
              <a:off x="3258355" y="3305459"/>
              <a:ext cx="1036937" cy="2414742"/>
              <a:chOff x="3258355" y="3305459"/>
              <a:chExt cx="1036937" cy="2414742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94D1287A-FCAA-43F9-A8E9-43B09FCF7A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3620605" y="4749326"/>
                <a:ext cx="312436" cy="970875"/>
              </a:xfrm>
              <a:prstGeom prst="rect">
                <a:avLst/>
              </a:prstGeom>
            </p:spPr>
          </p:pic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CAA16CD-FEA3-4647-A2C6-48E6506B4B43}"/>
                  </a:ext>
                </a:extLst>
              </p:cNvPr>
              <p:cNvSpPr/>
              <p:nvPr/>
            </p:nvSpPr>
            <p:spPr>
              <a:xfrm>
                <a:off x="3258355" y="3862454"/>
                <a:ext cx="1036937" cy="47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Dense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95350C35-8B69-484B-8CF0-88849C8ED631}"/>
                  </a:ext>
                </a:extLst>
              </p:cNvPr>
              <p:cNvCxnSpPr>
                <a:cxnSpLocks/>
                <a:endCxn id="33" idx="0"/>
              </p:cNvCxnSpPr>
              <p:nvPr/>
            </p:nvCxnSpPr>
            <p:spPr>
              <a:xfrm>
                <a:off x="3776824" y="3305459"/>
                <a:ext cx="0" cy="556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C377D5F6-A43B-430F-A2B6-7A1C3D5C9420}"/>
                  </a:ext>
                </a:extLst>
              </p:cNvPr>
              <p:cNvCxnSpPr>
                <a:cxnSpLocks/>
                <a:stCxn id="33" idx="2"/>
                <a:endCxn id="31" idx="0"/>
              </p:cNvCxnSpPr>
              <p:nvPr/>
            </p:nvCxnSpPr>
            <p:spPr>
              <a:xfrm flipH="1">
                <a:off x="3776823" y="4339962"/>
                <a:ext cx="1" cy="40936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4CC6871-95C6-42F8-8E06-CB495AFA4FB7}"/>
                </a:ext>
              </a:extLst>
            </p:cNvPr>
            <p:cNvGrpSpPr/>
            <p:nvPr/>
          </p:nvGrpSpPr>
          <p:grpSpPr>
            <a:xfrm>
              <a:off x="4468454" y="3305459"/>
              <a:ext cx="1036937" cy="2414742"/>
              <a:chOff x="4468454" y="3305459"/>
              <a:chExt cx="1036937" cy="2414742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DC7B40A0-0351-4A71-9D34-0171113277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4830704" y="4749326"/>
                <a:ext cx="312436" cy="970875"/>
              </a:xfrm>
              <a:prstGeom prst="rect">
                <a:avLst/>
              </a:prstGeom>
            </p:spPr>
          </p:pic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9E678E67-88E7-401D-93B4-4F2F40CA346E}"/>
                  </a:ext>
                </a:extLst>
              </p:cNvPr>
              <p:cNvSpPr/>
              <p:nvPr/>
            </p:nvSpPr>
            <p:spPr>
              <a:xfrm>
                <a:off x="4468454" y="3862454"/>
                <a:ext cx="1036937" cy="47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Dense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BB2CBF75-BFF9-4DBF-9E85-C5FB3F4B8FA6}"/>
                  </a:ext>
                </a:extLst>
              </p:cNvPr>
              <p:cNvCxnSpPr>
                <a:cxnSpLocks/>
                <a:endCxn id="37" idx="0"/>
              </p:cNvCxnSpPr>
              <p:nvPr/>
            </p:nvCxnSpPr>
            <p:spPr>
              <a:xfrm>
                <a:off x="4986923" y="3305459"/>
                <a:ext cx="0" cy="556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3DD8C0B2-79FE-4018-BA77-30329D7D4B8B}"/>
                  </a:ext>
                </a:extLst>
              </p:cNvPr>
              <p:cNvCxnSpPr>
                <a:cxnSpLocks/>
                <a:stCxn id="37" idx="2"/>
                <a:endCxn id="36" idx="0"/>
              </p:cNvCxnSpPr>
              <p:nvPr/>
            </p:nvCxnSpPr>
            <p:spPr>
              <a:xfrm flipH="1">
                <a:off x="4986922" y="4339962"/>
                <a:ext cx="1" cy="40936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29FBA38-CA90-4922-A9FD-820B97ED65F6}"/>
                </a:ext>
              </a:extLst>
            </p:cNvPr>
            <p:cNvGrpSpPr/>
            <p:nvPr/>
          </p:nvGrpSpPr>
          <p:grpSpPr>
            <a:xfrm>
              <a:off x="5690698" y="3305459"/>
              <a:ext cx="1036937" cy="2414742"/>
              <a:chOff x="5690698" y="3305459"/>
              <a:chExt cx="1036937" cy="2414742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74A28248-8178-4A16-A988-1A4D808BB6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6052948" y="4749326"/>
                <a:ext cx="312436" cy="970875"/>
              </a:xfrm>
              <a:prstGeom prst="rect">
                <a:avLst/>
              </a:prstGeom>
            </p:spPr>
          </p:pic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8FD5D1DA-4A37-4202-8DD5-DAE3025D6B7F}"/>
                  </a:ext>
                </a:extLst>
              </p:cNvPr>
              <p:cNvSpPr/>
              <p:nvPr/>
            </p:nvSpPr>
            <p:spPr>
              <a:xfrm>
                <a:off x="5690698" y="3862454"/>
                <a:ext cx="1036937" cy="47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Dense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7E0FE05-F05A-40C4-A068-81263D4284A1}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>
                <a:off x="6209167" y="3305459"/>
                <a:ext cx="0" cy="556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F5A70538-E266-4A92-A7B0-548A4630154A}"/>
                  </a:ext>
                </a:extLst>
              </p:cNvPr>
              <p:cNvCxnSpPr>
                <a:cxnSpLocks/>
                <a:stCxn id="41" idx="2"/>
                <a:endCxn id="40" idx="0"/>
              </p:cNvCxnSpPr>
              <p:nvPr/>
            </p:nvCxnSpPr>
            <p:spPr>
              <a:xfrm flipH="1">
                <a:off x="6209166" y="4339962"/>
                <a:ext cx="1" cy="40936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8DB808D-9483-4836-B1F0-56B0C6A4495C}"/>
                </a:ext>
              </a:extLst>
            </p:cNvPr>
            <p:cNvGrpSpPr/>
            <p:nvPr/>
          </p:nvGrpSpPr>
          <p:grpSpPr>
            <a:xfrm>
              <a:off x="6986866" y="3305459"/>
              <a:ext cx="1036937" cy="2414742"/>
              <a:chOff x="6986866" y="3305459"/>
              <a:chExt cx="1036937" cy="2414742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51DCF881-1E61-45A2-BD78-C71E48261A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7349116" y="4749326"/>
                <a:ext cx="312436" cy="970875"/>
              </a:xfrm>
              <a:prstGeom prst="rect">
                <a:avLst/>
              </a:prstGeom>
            </p:spPr>
          </p:pic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1F6C682-BA1F-4EF9-9B66-A09945B7AF9F}"/>
                  </a:ext>
                </a:extLst>
              </p:cNvPr>
              <p:cNvSpPr/>
              <p:nvPr/>
            </p:nvSpPr>
            <p:spPr>
              <a:xfrm>
                <a:off x="6986866" y="3862454"/>
                <a:ext cx="1036937" cy="47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Dense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7F3006C-4711-449A-943B-39DBA9985019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>
                <a:off x="7505335" y="3305459"/>
                <a:ext cx="0" cy="556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6E3500C7-1C72-402D-8959-613B225BA6D0}"/>
                  </a:ext>
                </a:extLst>
              </p:cNvPr>
              <p:cNvCxnSpPr>
                <a:cxnSpLocks/>
                <a:stCxn id="45" idx="2"/>
                <a:endCxn id="44" idx="0"/>
              </p:cNvCxnSpPr>
              <p:nvPr/>
            </p:nvCxnSpPr>
            <p:spPr>
              <a:xfrm flipH="1">
                <a:off x="7505334" y="4339962"/>
                <a:ext cx="1" cy="40936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1144915-E74C-4A33-A03A-E5A3A8F76DF1}"/>
                </a:ext>
              </a:extLst>
            </p:cNvPr>
            <p:cNvGrpSpPr/>
            <p:nvPr/>
          </p:nvGrpSpPr>
          <p:grpSpPr>
            <a:xfrm>
              <a:off x="8130012" y="3305459"/>
              <a:ext cx="1036937" cy="2414742"/>
              <a:chOff x="8130012" y="3305459"/>
              <a:chExt cx="1036937" cy="2414742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E90F604-4A80-4CCE-9E15-257927AB2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8492262" y="4749326"/>
                <a:ext cx="312436" cy="970875"/>
              </a:xfrm>
              <a:prstGeom prst="rect">
                <a:avLst/>
              </a:prstGeom>
            </p:spPr>
          </p:pic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EA33830C-0715-4983-A302-E0DF64466911}"/>
                  </a:ext>
                </a:extLst>
              </p:cNvPr>
              <p:cNvSpPr/>
              <p:nvPr/>
            </p:nvSpPr>
            <p:spPr>
              <a:xfrm>
                <a:off x="8130012" y="3862454"/>
                <a:ext cx="1036937" cy="47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Dense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12B00F5E-979D-4391-839E-AEC5A081D167}"/>
                  </a:ext>
                </a:extLst>
              </p:cNvPr>
              <p:cNvCxnSpPr>
                <a:cxnSpLocks/>
                <a:endCxn id="49" idx="0"/>
              </p:cNvCxnSpPr>
              <p:nvPr/>
            </p:nvCxnSpPr>
            <p:spPr>
              <a:xfrm>
                <a:off x="8648481" y="3305459"/>
                <a:ext cx="0" cy="556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369E07BA-5F97-4E5F-8220-9757F1080DBE}"/>
                  </a:ext>
                </a:extLst>
              </p:cNvPr>
              <p:cNvCxnSpPr>
                <a:cxnSpLocks/>
                <a:stCxn id="49" idx="2"/>
                <a:endCxn id="48" idx="0"/>
              </p:cNvCxnSpPr>
              <p:nvPr/>
            </p:nvCxnSpPr>
            <p:spPr>
              <a:xfrm flipH="1">
                <a:off x="8648480" y="4339962"/>
                <a:ext cx="1" cy="40936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783BF7E-876A-41B4-BE52-B16994243254}"/>
                </a:ext>
              </a:extLst>
            </p:cNvPr>
            <p:cNvGrpSpPr/>
            <p:nvPr/>
          </p:nvGrpSpPr>
          <p:grpSpPr>
            <a:xfrm>
              <a:off x="9343704" y="3305459"/>
              <a:ext cx="1036937" cy="2414742"/>
              <a:chOff x="9343704" y="3305459"/>
              <a:chExt cx="1036937" cy="2414742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C48E57F7-B5AB-48B9-AF7F-20623319E5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9705954" y="4749326"/>
                <a:ext cx="312436" cy="970875"/>
              </a:xfrm>
              <a:prstGeom prst="rect">
                <a:avLst/>
              </a:prstGeom>
            </p:spPr>
          </p:pic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6272D685-DD6A-4A91-AD60-1D376DB309BF}"/>
                  </a:ext>
                </a:extLst>
              </p:cNvPr>
              <p:cNvSpPr/>
              <p:nvPr/>
            </p:nvSpPr>
            <p:spPr>
              <a:xfrm>
                <a:off x="9343704" y="3862454"/>
                <a:ext cx="1036937" cy="47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Dense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95E47757-5EA5-49BB-9C5E-74AFFFF6F022}"/>
                  </a:ext>
                </a:extLst>
              </p:cNvPr>
              <p:cNvCxnSpPr>
                <a:cxnSpLocks/>
                <a:endCxn id="53" idx="0"/>
              </p:cNvCxnSpPr>
              <p:nvPr/>
            </p:nvCxnSpPr>
            <p:spPr>
              <a:xfrm>
                <a:off x="9862173" y="3305459"/>
                <a:ext cx="0" cy="556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615ACFB9-3A59-42D9-A3B5-9E36D0F504F5}"/>
                  </a:ext>
                </a:extLst>
              </p:cNvPr>
              <p:cNvCxnSpPr>
                <a:cxnSpLocks/>
                <a:stCxn id="53" idx="2"/>
                <a:endCxn id="52" idx="0"/>
              </p:cNvCxnSpPr>
              <p:nvPr/>
            </p:nvCxnSpPr>
            <p:spPr>
              <a:xfrm flipH="1">
                <a:off x="9862172" y="4339962"/>
                <a:ext cx="1" cy="40936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43F5D15B-5EA2-4970-9A3E-A15E701DDD88}"/>
                </a:ext>
              </a:extLst>
            </p:cNvPr>
            <p:cNvGrpSpPr/>
            <p:nvPr/>
          </p:nvGrpSpPr>
          <p:grpSpPr>
            <a:xfrm>
              <a:off x="10538734" y="3305459"/>
              <a:ext cx="1036937" cy="2414742"/>
              <a:chOff x="10538734" y="3305459"/>
              <a:chExt cx="1036937" cy="2414742"/>
            </a:xfrm>
          </p:grpSpPr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5F9D7257-C8B9-4619-985F-7427EFD6E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flipH="1">
                <a:off x="10900984" y="4749326"/>
                <a:ext cx="312436" cy="970875"/>
              </a:xfrm>
              <a:prstGeom prst="rect">
                <a:avLst/>
              </a:prstGeom>
            </p:spPr>
          </p:pic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BED85236-29AF-488C-BBD8-B35D49877012}"/>
                  </a:ext>
                </a:extLst>
              </p:cNvPr>
              <p:cNvSpPr/>
              <p:nvPr/>
            </p:nvSpPr>
            <p:spPr>
              <a:xfrm>
                <a:off x="10538734" y="3862454"/>
                <a:ext cx="1036937" cy="47750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cs typeface="+mn-ea"/>
                    <a:sym typeface="+mn-lt"/>
                  </a:rPr>
                  <a:t>Dense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D62E5AE0-13D2-4B4E-ADE5-D871AFC70E47}"/>
                  </a:ext>
                </a:extLst>
              </p:cNvPr>
              <p:cNvCxnSpPr>
                <a:cxnSpLocks/>
                <a:endCxn id="57" idx="0"/>
              </p:cNvCxnSpPr>
              <p:nvPr/>
            </p:nvCxnSpPr>
            <p:spPr>
              <a:xfrm>
                <a:off x="11057203" y="3305459"/>
                <a:ext cx="0" cy="55699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0626488E-A84E-4550-944D-A876217BA4A7}"/>
                  </a:ext>
                </a:extLst>
              </p:cNvPr>
              <p:cNvCxnSpPr>
                <a:cxnSpLocks/>
                <a:stCxn id="57" idx="2"/>
                <a:endCxn id="56" idx="0"/>
              </p:cNvCxnSpPr>
              <p:nvPr/>
            </p:nvCxnSpPr>
            <p:spPr>
              <a:xfrm flipH="1">
                <a:off x="11057202" y="4339962"/>
                <a:ext cx="1" cy="40936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2A6C688-7BF7-42E8-B3C7-7C88F0F0209E}"/>
                    </a:ext>
                  </a:extLst>
                </p:cNvPr>
                <p:cNvSpPr/>
                <p:nvPr/>
              </p:nvSpPr>
              <p:spPr>
                <a:xfrm>
                  <a:off x="1521542" y="5050097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2A6C688-7BF7-42E8-B3C7-7C88F0F020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1542" y="5050097"/>
                  <a:ext cx="471539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9E6B8196-4269-477D-8323-32684C7DFA05}"/>
                    </a:ext>
                  </a:extLst>
                </p:cNvPr>
                <p:cNvSpPr/>
                <p:nvPr/>
              </p:nvSpPr>
              <p:spPr>
                <a:xfrm>
                  <a:off x="2684097" y="5050097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9E6B8196-4269-477D-8323-32684C7DFA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4097" y="5050097"/>
                  <a:ext cx="471539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6A81017D-BFBA-46D9-B0B8-EFB32FDE9C1F}"/>
                    </a:ext>
                  </a:extLst>
                </p:cNvPr>
                <p:cNvSpPr/>
                <p:nvPr/>
              </p:nvSpPr>
              <p:spPr>
                <a:xfrm>
                  <a:off x="3849802" y="5050097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6A81017D-BFBA-46D9-B0B8-EFB32FDE9C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9802" y="5050097"/>
                  <a:ext cx="471539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2C3A340C-01FC-4F6A-BC3B-EE551BCE43EB}"/>
                    </a:ext>
                  </a:extLst>
                </p:cNvPr>
                <p:cNvSpPr/>
                <p:nvPr/>
              </p:nvSpPr>
              <p:spPr>
                <a:xfrm>
                  <a:off x="5033852" y="5050097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2C3A340C-01FC-4F6A-BC3B-EE551BCE43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3852" y="5050097"/>
                  <a:ext cx="471539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7DAF0CF3-906D-49B9-B5D0-E87188DF2B04}"/>
                    </a:ext>
                  </a:extLst>
                </p:cNvPr>
                <p:cNvSpPr/>
                <p:nvPr/>
              </p:nvSpPr>
              <p:spPr>
                <a:xfrm>
                  <a:off x="6253353" y="5050097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7DAF0CF3-906D-49B9-B5D0-E87188DF2B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3353" y="5050097"/>
                  <a:ext cx="471539" cy="369332"/>
                </a:xfrm>
                <a:prstGeom prst="rect">
                  <a:avLst/>
                </a:prstGeom>
                <a:blipFill>
                  <a:blip r:embed="rId17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B03D8CC8-D25F-4D44-98FA-74C0908215E9}"/>
                    </a:ext>
                  </a:extLst>
                </p:cNvPr>
                <p:cNvSpPr/>
                <p:nvPr/>
              </p:nvSpPr>
              <p:spPr>
                <a:xfrm>
                  <a:off x="7552264" y="5050097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B03D8CC8-D25F-4D44-98FA-74C0908215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2264" y="5050097"/>
                  <a:ext cx="471539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9D164B45-8A7D-414A-B6EB-0B2A25AE82BA}"/>
                    </a:ext>
                  </a:extLst>
                </p:cNvPr>
                <p:cNvSpPr/>
                <p:nvPr/>
              </p:nvSpPr>
              <p:spPr>
                <a:xfrm>
                  <a:off x="8697452" y="5050097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9D164B45-8A7D-414A-B6EB-0B2A25AE82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452" y="5050097"/>
                  <a:ext cx="471539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8338E12B-6EFC-4C66-A3F4-F90452606835}"/>
                    </a:ext>
                  </a:extLst>
                </p:cNvPr>
                <p:cNvSpPr/>
                <p:nvPr/>
              </p:nvSpPr>
              <p:spPr>
                <a:xfrm>
                  <a:off x="9912076" y="5050097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8338E12B-6EFC-4C66-A3F4-F904526068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2076" y="5050097"/>
                  <a:ext cx="471539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F267EBD5-7F9F-462D-8CE7-13FEED8D5D61}"/>
                    </a:ext>
                  </a:extLst>
                </p:cNvPr>
                <p:cNvSpPr/>
                <p:nvPr/>
              </p:nvSpPr>
              <p:spPr>
                <a:xfrm>
                  <a:off x="11118030" y="5050097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𝟗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F267EBD5-7F9F-462D-8CE7-13FEED8D5D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18030" y="5050097"/>
                  <a:ext cx="471539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DB5F1BFF-10E1-43D0-82AB-4924F6F4DFD4}"/>
                    </a:ext>
                  </a:extLst>
                </p:cNvPr>
                <p:cNvSpPr/>
                <p:nvPr/>
              </p:nvSpPr>
              <p:spPr>
                <a:xfrm>
                  <a:off x="81154" y="3970630"/>
                  <a:ext cx="69602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  <m:r>
                          <a:rPr lang="en-US" altLang="zh-C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 </m:t>
                        </m:r>
                        <m:r>
                          <a:rPr lang="en-US" altLang="zh-C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𝒃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DB5F1BFF-10E1-43D0-82AB-4924F6F4DF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54" y="3970630"/>
                  <a:ext cx="696024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C11DA842-C43C-42F8-9272-270D83E2E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CN" b="1" dirty="0"/>
              <a:t>Patch Embeddings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1220426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E3A2-4A8F-4CFC-AE4B-0DE34C00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ViT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FC8D-2C4F-40DC-B52B-44A4CDF4E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为什么要使用</a:t>
            </a:r>
            <a:r>
              <a:rPr lang="en-US" altLang="zh-CN" b="1" dirty="0">
                <a:cs typeface="+mn-ea"/>
                <a:sym typeface="+mn-lt"/>
              </a:rPr>
              <a:t>position embedding?</a:t>
            </a:r>
            <a:endParaRPr lang="zh-CN" altLang="en-US" b="1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691A40-A801-454D-8AE9-B9B2645A9ABE}"/>
              </a:ext>
            </a:extLst>
          </p:cNvPr>
          <p:cNvGrpSpPr/>
          <p:nvPr/>
        </p:nvGrpSpPr>
        <p:grpSpPr>
          <a:xfrm>
            <a:off x="1881454" y="2759879"/>
            <a:ext cx="3585776" cy="3517317"/>
            <a:chOff x="1283369" y="2153680"/>
            <a:chExt cx="3585776" cy="35173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8A62F4-1B72-400F-903E-99E22CBD6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83369" y="2182556"/>
              <a:ext cx="1080000" cy="108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DDD8090-2FEF-45ED-B033-160C1B008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6257" y="2182556"/>
              <a:ext cx="1080000" cy="10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E60F4C4-A4A5-42EF-8DC6-3B73C9667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89145" y="2153680"/>
              <a:ext cx="1080000" cy="108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5F76186-1CC0-4CDC-B87B-EE29AC3D3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3369" y="3373135"/>
              <a:ext cx="1080000" cy="108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F47CF61-5353-4457-8697-3BF7CC95D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6257" y="3383100"/>
              <a:ext cx="1080000" cy="10800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FDE38DC-0C0A-441A-BE1B-689CA7154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89145" y="3383100"/>
              <a:ext cx="1080000" cy="1080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ED54585-B7E9-4504-A676-04C3E5FFF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3369" y="4588541"/>
              <a:ext cx="1080000" cy="1080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09D9069-D17A-4B0E-92E7-2793F1EF6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36257" y="4590997"/>
              <a:ext cx="1080000" cy="1080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1BB5E24-4007-46C0-9809-492CD77AC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76498" y="4590997"/>
              <a:ext cx="1080000" cy="10800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A683F2-A521-4F46-8904-5DC4C26A5E07}"/>
              </a:ext>
            </a:extLst>
          </p:cNvPr>
          <p:cNvGrpSpPr/>
          <p:nvPr/>
        </p:nvGrpSpPr>
        <p:grpSpPr>
          <a:xfrm>
            <a:off x="6681701" y="2792127"/>
            <a:ext cx="3585776" cy="3517317"/>
            <a:chOff x="1283369" y="2153680"/>
            <a:chExt cx="3585776" cy="351731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8B894F1-3970-4A14-AFB6-3D38677CA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2432" y="3373135"/>
              <a:ext cx="1080000" cy="1080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A1ED10-C1B2-488A-BEB8-6C832126B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6439" y="4590997"/>
              <a:ext cx="1080000" cy="10800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2D04C94-10C7-46A7-9AFC-3049554DB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89145" y="2153680"/>
              <a:ext cx="1080000" cy="10800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9067196-562B-40B3-AFA3-4D4ECC6E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83369" y="3373135"/>
              <a:ext cx="1080000" cy="1080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EDE4765-4314-4914-B698-1F5EBBE90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2432" y="2190128"/>
              <a:ext cx="1080000" cy="108000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8D716F9-7F73-4C39-AB56-F1D3F7D4F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89145" y="4558749"/>
              <a:ext cx="1080000" cy="1080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430CBF-37C2-4BEC-811D-993079222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23610" y="4558749"/>
              <a:ext cx="1080000" cy="10800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3FD6A46-5763-4FDE-B09A-B57BBF374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83369" y="2200425"/>
              <a:ext cx="1080000" cy="108000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20B702A-2ED7-4C96-A497-3CD093142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781495" y="3362263"/>
              <a:ext cx="1080000" cy="10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56432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389D57E-A7D8-4E1F-AAD6-7870E23C6C54}"/>
              </a:ext>
            </a:extLst>
          </p:cNvPr>
          <p:cNvGrpSpPr/>
          <p:nvPr/>
        </p:nvGrpSpPr>
        <p:grpSpPr>
          <a:xfrm>
            <a:off x="2041252" y="1411556"/>
            <a:ext cx="7796428" cy="5446444"/>
            <a:chOff x="491167" y="296177"/>
            <a:chExt cx="7994341" cy="5835814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BB78C45F-9386-4B00-A1CA-B032A6B9D7DF}"/>
                </a:ext>
              </a:extLst>
            </p:cNvPr>
            <p:cNvGrpSpPr/>
            <p:nvPr/>
          </p:nvGrpSpPr>
          <p:grpSpPr>
            <a:xfrm>
              <a:off x="1768351" y="296177"/>
              <a:ext cx="3511114" cy="4096888"/>
              <a:chOff x="1174177" y="1613688"/>
              <a:chExt cx="3511114" cy="4096888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BC2684F3-6429-4DB2-AF02-2AC562436448}"/>
                  </a:ext>
                </a:extLst>
              </p:cNvPr>
              <p:cNvGrpSpPr/>
              <p:nvPr/>
            </p:nvGrpSpPr>
            <p:grpSpPr>
              <a:xfrm>
                <a:off x="1174177" y="1613688"/>
                <a:ext cx="1137104" cy="4096888"/>
                <a:chOff x="903041" y="1623313"/>
                <a:chExt cx="1137104" cy="4096888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7B453448-D770-4556-B8EF-81D1E9C846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623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31A04EF3-0DF8-43EA-AF85-02039FDEB3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170683"/>
                      <a:ext cx="412502" cy="39573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31A04EF3-0DF8-43EA-AF85-02039FDEB33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170683"/>
                      <a:ext cx="412502" cy="39573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091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BB40782-63DD-427C-8F1D-788FD263E465}"/>
                    </a:ext>
                  </a:extLst>
                </p:cNvPr>
                <p:cNvGrpSpPr/>
                <p:nvPr/>
              </p:nvGrpSpPr>
              <p:grpSpPr>
                <a:xfrm>
                  <a:off x="903041" y="3228459"/>
                  <a:ext cx="1036937" cy="2491742"/>
                  <a:chOff x="903041" y="3228459"/>
                  <a:chExt cx="1036937" cy="2491742"/>
                </a:xfrm>
              </p:grpSpPr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4236EB56-4DFA-4A2F-9AFD-5FF997F8F7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24" name="Rectangle: Rounded Corners 23">
                    <a:extLst>
                      <a:ext uri="{FF2B5EF4-FFF2-40B4-BE49-F238E27FC236}">
                        <a16:creationId xmlns:a16="http://schemas.microsoft.com/office/drawing/2014/main" id="{C44FAA9C-1DAC-46C1-A398-811452EABFD4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25" name="Straight Arrow Connector 24">
                    <a:extLst>
                      <a:ext uri="{FF2B5EF4-FFF2-40B4-BE49-F238E27FC236}">
                        <a16:creationId xmlns:a16="http://schemas.microsoft.com/office/drawing/2014/main" id="{93B3FE6B-52B4-4B5A-AEA3-010134A7A48C}"/>
                      </a:ext>
                    </a:extLst>
                  </p:cNvPr>
                  <p:cNvCxnSpPr>
                    <a:cxnSpLocks/>
                    <a:stCxn id="4" idx="2"/>
                    <a:endCxn id="24" idx="0"/>
                  </p:cNvCxnSpPr>
                  <p:nvPr/>
                </p:nvCxnSpPr>
                <p:spPr>
                  <a:xfrm>
                    <a:off x="1421510" y="3228459"/>
                    <a:ext cx="0" cy="633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D54E25F3-E48D-4600-8A76-BA2A7A6B68FA}"/>
                      </a:ext>
                    </a:extLst>
                  </p:cNvPr>
                  <p:cNvCxnSpPr>
                    <a:cxnSpLocks/>
                    <a:stCxn id="24" idx="2"/>
                    <a:endCxn id="23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78649983-B7E3-4053-B8A8-2E27811EF4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1542" y="4973097"/>
                      <a:ext cx="483509" cy="39573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1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78649983-B7E3-4053-B8A8-2E27811EF4B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21542" y="4973097"/>
                      <a:ext cx="483509" cy="39573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16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3F01025F-E0ED-401F-B82E-FB727F5ED636}"/>
                  </a:ext>
                </a:extLst>
              </p:cNvPr>
              <p:cNvGrpSpPr/>
              <p:nvPr/>
            </p:nvGrpSpPr>
            <p:grpSpPr>
              <a:xfrm>
                <a:off x="2333997" y="1632938"/>
                <a:ext cx="1173540" cy="4068013"/>
                <a:chOff x="2015983" y="1623313"/>
                <a:chExt cx="1173540" cy="4068013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0654D677-4EA3-4388-A95D-97E697D987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2394098" y="1623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1AB797CB-6157-41CE-BF8C-E3AD81B225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77021" y="2170683"/>
                      <a:ext cx="412502" cy="39573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1AB797CB-6157-41CE-BF8C-E3AD81B225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77021" y="2170683"/>
                      <a:ext cx="412502" cy="39573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9091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65A0CDFC-9006-433F-BF45-368B7D243F8E}"/>
                    </a:ext>
                  </a:extLst>
                </p:cNvPr>
                <p:cNvGrpSpPr/>
                <p:nvPr/>
              </p:nvGrpSpPr>
              <p:grpSpPr>
                <a:xfrm>
                  <a:off x="2015983" y="3276584"/>
                  <a:ext cx="1036937" cy="2414742"/>
                  <a:chOff x="2015983" y="3305459"/>
                  <a:chExt cx="1036937" cy="2414742"/>
                </a:xfrm>
              </p:grpSpPr>
              <p:pic>
                <p:nvPicPr>
                  <p:cNvPr id="28" name="Picture 27">
                    <a:extLst>
                      <a:ext uri="{FF2B5EF4-FFF2-40B4-BE49-F238E27FC236}">
                        <a16:creationId xmlns:a16="http://schemas.microsoft.com/office/drawing/2014/main" id="{6282CA14-A3FC-4E07-8BF9-F9E7E93B94D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2378233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6D1584F3-C9BF-4166-8945-5D867F2DF642}"/>
                      </a:ext>
                    </a:extLst>
                  </p:cNvPr>
                  <p:cNvSpPr/>
                  <p:nvPr/>
                </p:nvSpPr>
                <p:spPr>
                  <a:xfrm>
                    <a:off x="2015983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30" name="Straight Arrow Connector 29">
                    <a:extLst>
                      <a:ext uri="{FF2B5EF4-FFF2-40B4-BE49-F238E27FC236}">
                        <a16:creationId xmlns:a16="http://schemas.microsoft.com/office/drawing/2014/main" id="{4C5C788A-568C-45AE-B24E-3105E618C4B8}"/>
                      </a:ext>
                    </a:extLst>
                  </p:cNvPr>
                  <p:cNvCxnSpPr>
                    <a:cxnSpLocks/>
                    <a:endCxn id="29" idx="0"/>
                  </p:cNvCxnSpPr>
                  <p:nvPr/>
                </p:nvCxnSpPr>
                <p:spPr>
                  <a:xfrm>
                    <a:off x="2534452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8CD7D6FB-5464-4BC6-949C-559249590A21}"/>
                      </a:ext>
                    </a:extLst>
                  </p:cNvPr>
                  <p:cNvCxnSpPr>
                    <a:cxnSpLocks/>
                    <a:stCxn id="29" idx="2"/>
                    <a:endCxn id="28" idx="0"/>
                  </p:cNvCxnSpPr>
                  <p:nvPr/>
                </p:nvCxnSpPr>
                <p:spPr>
                  <a:xfrm flipH="1">
                    <a:off x="2534451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CF2F8455-34F8-476B-BA00-82FDEC6D02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84097" y="4973097"/>
                      <a:ext cx="483509" cy="39573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CF2F8455-34F8-476B-BA00-82FDEC6D024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84097" y="4973097"/>
                      <a:ext cx="483509" cy="39573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6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9D69CFD7-1C6B-4CCF-87C0-C6BF96873229}"/>
                  </a:ext>
                </a:extLst>
              </p:cNvPr>
              <p:cNvGrpSpPr/>
              <p:nvPr/>
            </p:nvGrpSpPr>
            <p:grpSpPr>
              <a:xfrm>
                <a:off x="3537763" y="1613688"/>
                <a:ext cx="1147528" cy="4077638"/>
                <a:chOff x="3258355" y="1613688"/>
                <a:chExt cx="1147528" cy="4077638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055F0A78-07ED-4A7F-A7E4-5B48B8FB7B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3610458" y="1613688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51AD5EA1-0366-4F85-9EEE-D1C7C4E777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93381" y="2161058"/>
                      <a:ext cx="412502" cy="395736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𝟑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51AD5EA1-0366-4F85-9EEE-D1C7C4E7778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93381" y="2161058"/>
                      <a:ext cx="412502" cy="39573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9091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33FD7F7F-10FA-4F4F-A0A0-E33BF65A53E0}"/>
                    </a:ext>
                  </a:extLst>
                </p:cNvPr>
                <p:cNvGrpSpPr/>
                <p:nvPr/>
              </p:nvGrpSpPr>
              <p:grpSpPr>
                <a:xfrm>
                  <a:off x="3258355" y="3276584"/>
                  <a:ext cx="1036937" cy="2414742"/>
                  <a:chOff x="3258355" y="3305459"/>
                  <a:chExt cx="1036937" cy="2414742"/>
                </a:xfrm>
              </p:grpSpPr>
              <p:pic>
                <p:nvPicPr>
                  <p:cNvPr id="33" name="Picture 32">
                    <a:extLst>
                      <a:ext uri="{FF2B5EF4-FFF2-40B4-BE49-F238E27FC236}">
                        <a16:creationId xmlns:a16="http://schemas.microsoft.com/office/drawing/2014/main" id="{AD61306A-8190-4341-A448-D95A2541BB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3620605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34" name="Rectangle: Rounded Corners 33">
                    <a:extLst>
                      <a:ext uri="{FF2B5EF4-FFF2-40B4-BE49-F238E27FC236}">
                        <a16:creationId xmlns:a16="http://schemas.microsoft.com/office/drawing/2014/main" id="{4C70E6C2-6974-4230-8C89-C73F85C4ACCA}"/>
                      </a:ext>
                    </a:extLst>
                  </p:cNvPr>
                  <p:cNvSpPr/>
                  <p:nvPr/>
                </p:nvSpPr>
                <p:spPr>
                  <a:xfrm>
                    <a:off x="3258355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35" name="Straight Arrow Connector 34">
                    <a:extLst>
                      <a:ext uri="{FF2B5EF4-FFF2-40B4-BE49-F238E27FC236}">
                        <a16:creationId xmlns:a16="http://schemas.microsoft.com/office/drawing/2014/main" id="{A164C2E4-B796-469A-BC82-14BB33676FC5}"/>
                      </a:ext>
                    </a:extLst>
                  </p:cNvPr>
                  <p:cNvCxnSpPr>
                    <a:cxnSpLocks/>
                    <a:endCxn id="34" idx="0"/>
                  </p:cNvCxnSpPr>
                  <p:nvPr/>
                </p:nvCxnSpPr>
                <p:spPr>
                  <a:xfrm>
                    <a:off x="3776824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Straight Arrow Connector 35">
                    <a:extLst>
                      <a:ext uri="{FF2B5EF4-FFF2-40B4-BE49-F238E27FC236}">
                        <a16:creationId xmlns:a16="http://schemas.microsoft.com/office/drawing/2014/main" id="{29CC797F-5A3F-4060-8595-D601277D4F87}"/>
                      </a:ext>
                    </a:extLst>
                  </p:cNvPr>
                  <p:cNvCxnSpPr>
                    <a:cxnSpLocks/>
                    <a:stCxn id="34" idx="2"/>
                    <a:endCxn id="33" idx="0"/>
                  </p:cNvCxnSpPr>
                  <p:nvPr/>
                </p:nvCxnSpPr>
                <p:spPr>
                  <a:xfrm flipH="1">
                    <a:off x="3776823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53182F9F-B133-4773-980B-F8A1C533AD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9802" y="4973097"/>
                      <a:ext cx="483509" cy="395736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𝒛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𝟑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53182F9F-B133-4773-980B-F8A1C533ADD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49802" y="4973097"/>
                      <a:ext cx="483509" cy="395736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1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A6DE2DFE-61AF-438B-A01A-EA4D308AF087}"/>
                </a:ext>
              </a:extLst>
            </p:cNvPr>
            <p:cNvGrpSpPr/>
            <p:nvPr/>
          </p:nvGrpSpPr>
          <p:grpSpPr>
            <a:xfrm>
              <a:off x="7328714" y="296177"/>
              <a:ext cx="1156744" cy="4058388"/>
              <a:chOff x="10538734" y="1632938"/>
              <a:chExt cx="1156744" cy="4058388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E0B083D8-F1A6-4BDF-99F5-E3585DCEA5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flipH="1">
                <a:off x="10888547" y="1632938"/>
                <a:ext cx="353581" cy="160514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99CFEB5E-2351-4624-82BE-FE8F7960E293}"/>
                      </a:ext>
                    </a:extLst>
                  </p:cNvPr>
                  <p:cNvSpPr txBox="1"/>
                  <p:nvPr/>
                </p:nvSpPr>
                <p:spPr>
                  <a:xfrm>
                    <a:off x="11271470" y="2180308"/>
                    <a:ext cx="424008" cy="39573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99CFEB5E-2351-4624-82BE-FE8F7960E2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271470" y="2180308"/>
                    <a:ext cx="424008" cy="39573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8824" r="-1471" b="-1147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22AD678A-422F-4838-9FCE-8CDDC5CC6F09}"/>
                  </a:ext>
                </a:extLst>
              </p:cNvPr>
              <p:cNvGrpSpPr/>
              <p:nvPr/>
            </p:nvGrpSpPr>
            <p:grpSpPr>
              <a:xfrm>
                <a:off x="10538734" y="3276584"/>
                <a:ext cx="1036937" cy="2414742"/>
                <a:chOff x="10538734" y="3305459"/>
                <a:chExt cx="1036937" cy="2414742"/>
              </a:xfrm>
            </p:grpSpPr>
            <p:pic>
              <p:nvPicPr>
                <p:cNvPr id="63" name="Picture 62">
                  <a:extLst>
                    <a:ext uri="{FF2B5EF4-FFF2-40B4-BE49-F238E27FC236}">
                      <a16:creationId xmlns:a16="http://schemas.microsoft.com/office/drawing/2014/main" id="{985FB0B2-2014-496D-9DFD-E4D8347DD4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flipH="1">
                  <a:off x="10900984" y="4749326"/>
                  <a:ext cx="312436" cy="970875"/>
                </a:xfrm>
                <a:prstGeom prst="rect">
                  <a:avLst/>
                </a:prstGeom>
              </p:spPr>
            </p:pic>
            <p:sp>
              <p:nvSpPr>
                <p:cNvPr id="64" name="Rectangle: Rounded Corners 63">
                  <a:extLst>
                    <a:ext uri="{FF2B5EF4-FFF2-40B4-BE49-F238E27FC236}">
                      <a16:creationId xmlns:a16="http://schemas.microsoft.com/office/drawing/2014/main" id="{6E2DDFD0-E0E3-459A-A8B6-62311F399054}"/>
                    </a:ext>
                  </a:extLst>
                </p:cNvPr>
                <p:cNvSpPr/>
                <p:nvPr/>
              </p:nvSpPr>
              <p:spPr>
                <a:xfrm>
                  <a:off x="10538734" y="3862454"/>
                  <a:ext cx="1036937" cy="477508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cs typeface="+mn-ea"/>
                      <a:sym typeface="+mn-lt"/>
                    </a:rPr>
                    <a:t>Dense</a:t>
                  </a:r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4E80E3DE-7B6F-4BF6-8A33-93D90EE771E1}"/>
                    </a:ext>
                  </a:extLst>
                </p:cNvPr>
                <p:cNvCxnSpPr>
                  <a:cxnSpLocks/>
                  <a:endCxn id="64" idx="0"/>
                </p:cNvCxnSpPr>
                <p:nvPr/>
              </p:nvCxnSpPr>
              <p:spPr>
                <a:xfrm>
                  <a:off x="11057203" y="3305459"/>
                  <a:ext cx="0" cy="556995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5CA1A2BC-4014-400F-8795-E2BD3047CD7C}"/>
                    </a:ext>
                  </a:extLst>
                </p:cNvPr>
                <p:cNvCxnSpPr>
                  <a:cxnSpLocks/>
                  <a:stCxn id="64" idx="2"/>
                  <a:endCxn id="63" idx="0"/>
                </p:cNvCxnSpPr>
                <p:nvPr/>
              </p:nvCxnSpPr>
              <p:spPr>
                <a:xfrm flipH="1">
                  <a:off x="11057202" y="4339962"/>
                  <a:ext cx="1" cy="409364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85771E8B-31E5-4F7C-8C30-B56B1FCCE56C}"/>
                      </a:ext>
                    </a:extLst>
                  </p:cNvPr>
                  <p:cNvSpPr/>
                  <p:nvPr/>
                </p:nvSpPr>
                <p:spPr>
                  <a:xfrm>
                    <a:off x="11118030" y="4973097"/>
                    <a:ext cx="491729" cy="39573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85771E8B-31E5-4F7C-8C30-B56B1FCCE56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18030" y="4973097"/>
                    <a:ext cx="491729" cy="39573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6B71548D-51CF-478D-81CC-86ED0EA7890B}"/>
                    </a:ext>
                  </a:extLst>
                </p:cNvPr>
                <p:cNvSpPr/>
                <p:nvPr/>
              </p:nvSpPr>
              <p:spPr>
                <a:xfrm>
                  <a:off x="662874" y="2590509"/>
                  <a:ext cx="713693" cy="39573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𝑾</m:t>
                        </m:r>
                        <m:r>
                          <a:rPr lang="en-US" altLang="zh-C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 </m:t>
                        </m:r>
                        <m:r>
                          <a:rPr lang="en-US" altLang="zh-CN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𝒃</m:t>
                        </m:r>
                      </m:oMath>
                    </m:oMathPara>
                  </a14:m>
                  <a:endParaRPr lang="zh-CN" altLang="en-US" dirty="0">
                    <a:solidFill>
                      <a:schemeClr val="accent1"/>
                    </a:solidFill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6B71548D-51CF-478D-81CC-86ED0EA789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874" y="2590509"/>
                  <a:ext cx="713693" cy="395736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60BFEFB9-81E9-4DF2-92EA-894D25D7ED49}"/>
                    </a:ext>
                  </a:extLst>
                </p:cNvPr>
                <p:cNvSpPr txBox="1"/>
                <p:nvPr/>
              </p:nvSpPr>
              <p:spPr>
                <a:xfrm>
                  <a:off x="6020240" y="739686"/>
                  <a:ext cx="465165" cy="5276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32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⋯</m:t>
                        </m:r>
                      </m:oMath>
                    </m:oMathPara>
                  </a14:m>
                  <a:endParaRPr lang="zh-CN" altLang="en-US" sz="32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60BFEFB9-81E9-4DF2-92EA-894D25D7ED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0240" y="739686"/>
                  <a:ext cx="465165" cy="52764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64881F69-32C1-4378-A732-DE95598774DB}"/>
                    </a:ext>
                  </a:extLst>
                </p:cNvPr>
                <p:cNvSpPr txBox="1"/>
                <p:nvPr/>
              </p:nvSpPr>
              <p:spPr>
                <a:xfrm>
                  <a:off x="6020238" y="2508600"/>
                  <a:ext cx="465165" cy="5276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32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⋯</m:t>
                        </m:r>
                      </m:oMath>
                    </m:oMathPara>
                  </a14:m>
                  <a:endParaRPr lang="zh-CN" altLang="en-US" sz="32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64881F69-32C1-4378-A732-DE9559877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0238" y="2508600"/>
                  <a:ext cx="465165" cy="52764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BB23380-0930-42D8-9239-2644F9E77A71}"/>
                    </a:ext>
                  </a:extLst>
                </p:cNvPr>
                <p:cNvSpPr txBox="1"/>
                <p:nvPr/>
              </p:nvSpPr>
              <p:spPr>
                <a:xfrm>
                  <a:off x="6020238" y="3665211"/>
                  <a:ext cx="465165" cy="5276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32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⋯</m:t>
                        </m:r>
                      </m:oMath>
                    </m:oMathPara>
                  </a14:m>
                  <a:endParaRPr lang="zh-CN" altLang="en-US" sz="32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ABB23380-0930-42D8-9239-2644F9E77A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0238" y="3665211"/>
                  <a:ext cx="465165" cy="52764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74E20BF9-94BD-443F-8DA5-C6688513B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043321" y="4875422"/>
              <a:ext cx="486996" cy="1256569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FE321400-58E1-4B8B-BEC4-3D179A814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134123" y="4862432"/>
              <a:ext cx="555086" cy="1256569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48A8485F-157C-4FA1-9144-2B4E38435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98571" y="4889277"/>
              <a:ext cx="503668" cy="1202877"/>
            </a:xfrm>
            <a:prstGeom prst="rect">
              <a:avLst/>
            </a:prstGeom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814E26CD-37CD-4FA9-9438-F43E0171B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671255" y="4794827"/>
              <a:ext cx="457315" cy="12335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8BDE927-F0F1-4714-9D5F-48F95E42FFD0}"/>
                    </a:ext>
                  </a:extLst>
                </p:cNvPr>
                <p:cNvSpPr txBox="1"/>
                <p:nvPr/>
              </p:nvSpPr>
              <p:spPr>
                <a:xfrm>
                  <a:off x="6020238" y="5257484"/>
                  <a:ext cx="465165" cy="52764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32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⋯</m:t>
                        </m:r>
                      </m:oMath>
                    </m:oMathPara>
                  </a14:m>
                  <a:endParaRPr lang="zh-CN" altLang="en-US" sz="32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F8BDE927-F0F1-4714-9D5F-48F95E42FF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0238" y="5257484"/>
                  <a:ext cx="465165" cy="527648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Cross 93">
              <a:extLst>
                <a:ext uri="{FF2B5EF4-FFF2-40B4-BE49-F238E27FC236}">
                  <a16:creationId xmlns:a16="http://schemas.microsoft.com/office/drawing/2014/main" id="{1E1A983E-7BE2-4300-AAEB-2AC5F5BD5881}"/>
                </a:ext>
              </a:extLst>
            </p:cNvPr>
            <p:cNvSpPr/>
            <p:nvPr/>
          </p:nvSpPr>
          <p:spPr>
            <a:xfrm>
              <a:off x="2083037" y="4463129"/>
              <a:ext cx="360000" cy="360000"/>
            </a:xfrm>
            <a:prstGeom prst="plus">
              <a:avLst/>
            </a:prstGeom>
            <a:solidFill>
              <a:srgbClr val="7030A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5" name="Cross 94">
              <a:extLst>
                <a:ext uri="{FF2B5EF4-FFF2-40B4-BE49-F238E27FC236}">
                  <a16:creationId xmlns:a16="http://schemas.microsoft.com/office/drawing/2014/main" id="{AFFAFF37-B3AF-4887-B435-BA4795F22C3D}"/>
                </a:ext>
              </a:extLst>
            </p:cNvPr>
            <p:cNvSpPr/>
            <p:nvPr/>
          </p:nvSpPr>
          <p:spPr>
            <a:xfrm>
              <a:off x="3226203" y="4442936"/>
              <a:ext cx="360000" cy="360000"/>
            </a:xfrm>
            <a:prstGeom prst="plus">
              <a:avLst/>
            </a:prstGeom>
            <a:solidFill>
              <a:srgbClr val="7030A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6" name="Cross 95">
              <a:extLst>
                <a:ext uri="{FF2B5EF4-FFF2-40B4-BE49-F238E27FC236}">
                  <a16:creationId xmlns:a16="http://schemas.microsoft.com/office/drawing/2014/main" id="{367B9676-0276-40B6-B41C-F2E3A108EE60}"/>
                </a:ext>
              </a:extLst>
            </p:cNvPr>
            <p:cNvSpPr/>
            <p:nvPr/>
          </p:nvSpPr>
          <p:spPr>
            <a:xfrm>
              <a:off x="4454468" y="4451546"/>
              <a:ext cx="360000" cy="360000"/>
            </a:xfrm>
            <a:prstGeom prst="plus">
              <a:avLst/>
            </a:prstGeom>
            <a:solidFill>
              <a:srgbClr val="7030A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7" name="Cross 96">
              <a:extLst>
                <a:ext uri="{FF2B5EF4-FFF2-40B4-BE49-F238E27FC236}">
                  <a16:creationId xmlns:a16="http://schemas.microsoft.com/office/drawing/2014/main" id="{01034437-6C45-47EA-9608-BD783C4B3CF5}"/>
                </a:ext>
              </a:extLst>
            </p:cNvPr>
            <p:cNvSpPr/>
            <p:nvPr/>
          </p:nvSpPr>
          <p:spPr>
            <a:xfrm>
              <a:off x="7672108" y="4424625"/>
              <a:ext cx="360000" cy="360000"/>
            </a:xfrm>
            <a:prstGeom prst="plus">
              <a:avLst/>
            </a:prstGeom>
            <a:solidFill>
              <a:srgbClr val="7030A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FEA62C3F-A06C-4768-A60C-AF0D8B339C67}"/>
                    </a:ext>
                  </a:extLst>
                </p:cNvPr>
                <p:cNvSpPr/>
                <p:nvPr/>
              </p:nvSpPr>
              <p:spPr>
                <a:xfrm>
                  <a:off x="2346494" y="5236228"/>
                  <a:ext cx="412896" cy="4287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𝟏</m:t>
                        </m:r>
                      </m:oMath>
                    </m:oMathPara>
                  </a14:m>
                  <a:endParaRPr lang="zh-CN" altLang="en-US" sz="20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FEA62C3F-A06C-4768-A60C-AF0D8B339C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6494" y="5236228"/>
                  <a:ext cx="412896" cy="428714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ECBD7EA9-16AB-47D5-A7E9-F6600B0D6B44}"/>
                    </a:ext>
                  </a:extLst>
                </p:cNvPr>
                <p:cNvSpPr/>
                <p:nvPr/>
              </p:nvSpPr>
              <p:spPr>
                <a:xfrm>
                  <a:off x="3458530" y="5236228"/>
                  <a:ext cx="412896" cy="4287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𝟐</m:t>
                        </m:r>
                      </m:oMath>
                    </m:oMathPara>
                  </a14:m>
                  <a:endParaRPr lang="zh-CN" altLang="en-US" sz="20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ECBD7EA9-16AB-47D5-A7E9-F6600B0D6B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530" y="5236228"/>
                  <a:ext cx="412896" cy="42871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D3D4AFF-EAA5-4F65-86F8-1636ABCE7C34}"/>
                    </a:ext>
                  </a:extLst>
                </p:cNvPr>
                <p:cNvSpPr/>
                <p:nvPr/>
              </p:nvSpPr>
              <p:spPr>
                <a:xfrm>
                  <a:off x="4757816" y="5211544"/>
                  <a:ext cx="412896" cy="4287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𝟑</m:t>
                        </m:r>
                      </m:oMath>
                    </m:oMathPara>
                  </a14:m>
                  <a:endParaRPr lang="zh-CN" altLang="en-US" sz="20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DD3D4AFF-EAA5-4F65-86F8-1636ABCE7C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7816" y="5211544"/>
                  <a:ext cx="412896" cy="42871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654FD04C-76C7-45F2-A82F-497EF12EE113}"/>
                    </a:ext>
                  </a:extLst>
                </p:cNvPr>
                <p:cNvSpPr/>
                <p:nvPr/>
              </p:nvSpPr>
              <p:spPr>
                <a:xfrm>
                  <a:off x="8059463" y="5103595"/>
                  <a:ext cx="426045" cy="4287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𝒏</m:t>
                        </m:r>
                      </m:oMath>
                    </m:oMathPara>
                  </a14:m>
                  <a:endParaRPr lang="zh-CN" altLang="en-US" sz="20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654FD04C-76C7-45F2-A82F-497EF12EE1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9463" y="5103595"/>
                  <a:ext cx="426045" cy="42871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B72E09B-5779-42E8-AA52-32D9BE001B46}"/>
                </a:ext>
              </a:extLst>
            </p:cNvPr>
            <p:cNvSpPr/>
            <p:nvPr/>
          </p:nvSpPr>
          <p:spPr>
            <a:xfrm>
              <a:off x="491167" y="5257484"/>
              <a:ext cx="1359665" cy="6925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7030A0"/>
                  </a:solidFill>
                  <a:cs typeface="+mn-ea"/>
                  <a:sym typeface="+mn-lt"/>
                </a:rPr>
                <a:t>Position </a:t>
              </a:r>
            </a:p>
            <a:p>
              <a:pPr algn="ctr"/>
              <a:r>
                <a:rPr lang="en-US" altLang="zh-CN" b="1" dirty="0">
                  <a:solidFill>
                    <a:srgbClr val="7030A0"/>
                  </a:solidFill>
                  <a:cs typeface="+mn-ea"/>
                  <a:sym typeface="+mn-lt"/>
                </a:rPr>
                <a:t>Embedding</a:t>
              </a:r>
              <a:endParaRPr lang="zh-CN" altLang="en-US" b="1" dirty="0">
                <a:solidFill>
                  <a:srgbClr val="7030A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4" name="Title 1">
            <a:extLst>
              <a:ext uri="{FF2B5EF4-FFF2-40B4-BE49-F238E27FC236}">
                <a16:creationId xmlns:a16="http://schemas.microsoft.com/office/drawing/2014/main" id="{B7775784-3299-4B78-9B3E-5720FDD87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ViT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34515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31079-56A8-4075-A1D8-196AD432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(ViT)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D6DAB-1156-48F9-A779-A9A6E9322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Position Embedding</a:t>
            </a:r>
            <a:endParaRPr lang="zh-CN" altLang="en-US" b="1" dirty="0"/>
          </a:p>
        </p:txBody>
      </p:sp>
      <p:pic>
        <p:nvPicPr>
          <p:cNvPr id="2050" name="Picture 2" descr="https://tugot17.github.io/Vision-Transformer-Presentation/assets/positions_similarities.png">
            <a:extLst>
              <a:ext uri="{FF2B5EF4-FFF2-40B4-BE49-F238E27FC236}">
                <a16:creationId xmlns:a16="http://schemas.microsoft.com/office/drawing/2014/main" id="{B47B89AB-AFBE-4628-9FCA-6860F9386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376" y="2378075"/>
            <a:ext cx="43719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3DE068-6F10-43C0-AC61-BDC2198114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27" t="8801" r="5772"/>
          <a:stretch/>
        </p:blipFill>
        <p:spPr>
          <a:xfrm>
            <a:off x="1689190" y="2378075"/>
            <a:ext cx="3949430" cy="15903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A17A4D-FD13-4B69-9218-C0522DBB4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447" y="3968428"/>
            <a:ext cx="3502915" cy="260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751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20E0-932E-476F-B133-8A68768B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ViT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6D8D8D0-4DED-4FFA-8962-60099844968F}"/>
              </a:ext>
            </a:extLst>
          </p:cNvPr>
          <p:cNvGrpSpPr/>
          <p:nvPr/>
        </p:nvGrpSpPr>
        <p:grpSpPr>
          <a:xfrm>
            <a:off x="2257066" y="2346122"/>
            <a:ext cx="7287241" cy="4146753"/>
            <a:chOff x="1727676" y="1690688"/>
            <a:chExt cx="7287241" cy="414675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B2B291C-8629-4BB3-A47B-63D4404D0567}"/>
                </a:ext>
              </a:extLst>
            </p:cNvPr>
            <p:cNvGrpSpPr/>
            <p:nvPr/>
          </p:nvGrpSpPr>
          <p:grpSpPr>
            <a:xfrm>
              <a:off x="2924347" y="1690688"/>
              <a:ext cx="5711778" cy="4146753"/>
              <a:chOff x="1836692" y="1383736"/>
              <a:chExt cx="5711778" cy="4146753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DC67F8E-A936-4D2E-BD98-9522DE0877F4}"/>
                  </a:ext>
                </a:extLst>
              </p:cNvPr>
              <p:cNvGrpSpPr/>
              <p:nvPr/>
            </p:nvGrpSpPr>
            <p:grpSpPr>
              <a:xfrm>
                <a:off x="1836692" y="1419056"/>
                <a:ext cx="1126892" cy="4019888"/>
                <a:chOff x="903041" y="1700313"/>
                <a:chExt cx="1126892" cy="4019888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5A9F744F-7280-44C6-99E9-5CAFD520EA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E26124E0-675D-428E-844F-5202E098F4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40229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E26124E0-675D-428E-844F-5202E098F4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402290" cy="369332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091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AE37E2F5-1B1F-4D65-82B8-AF51F82A6FC3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8" name="Picture 7">
                    <a:extLst>
                      <a:ext uri="{FF2B5EF4-FFF2-40B4-BE49-F238E27FC236}">
                        <a16:creationId xmlns:a16="http://schemas.microsoft.com/office/drawing/2014/main" id="{A0CC5450-716F-438B-AA8C-1230BA3974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7DFC06D5-44D0-4C67-B598-951A347562EE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DE84CB20-537E-475E-9455-2FCE68425E9C}"/>
                      </a:ext>
                    </a:extLst>
                  </p:cNvPr>
                  <p:cNvCxnSpPr>
                    <a:cxnSpLocks/>
                    <a:stCxn id="5" idx="2"/>
                    <a:endCxn id="9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Straight Arrow Connector 10">
                    <a:extLst>
                      <a:ext uri="{FF2B5EF4-FFF2-40B4-BE49-F238E27FC236}">
                        <a16:creationId xmlns:a16="http://schemas.microsoft.com/office/drawing/2014/main" id="{B3B2E824-E34D-4635-83E8-1F88844807BC}"/>
                      </a:ext>
                    </a:extLst>
                  </p:cNvPr>
                  <p:cNvCxnSpPr>
                    <a:cxnSpLocks/>
                    <a:stCxn id="9" idx="2"/>
                    <a:endCxn id="8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B2EDB8C3-5E41-45D2-89B0-EE7FE3D5282F}"/>
                  </a:ext>
                </a:extLst>
              </p:cNvPr>
              <p:cNvGrpSpPr/>
              <p:nvPr/>
            </p:nvGrpSpPr>
            <p:grpSpPr>
              <a:xfrm>
                <a:off x="3050419" y="1419056"/>
                <a:ext cx="1126892" cy="4019888"/>
                <a:chOff x="903041" y="1700313"/>
                <a:chExt cx="1126892" cy="4019888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B0371411-8F6B-4A22-9721-FEFAA25026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43E8794E-AAD4-4CBC-A142-22DC2F90ED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40229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43E8794E-AAD4-4CBC-A142-22DC2F90ED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402290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9091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76BC7C1-8C07-4E84-8841-C820F6684EBE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5E5ED54E-485B-4EB7-A999-0C7C690DEE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592C844B-8F1B-4ADE-ACFB-1D3BB8D2C771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03F51F7B-99A0-48EE-AE23-249F7E2EB680}"/>
                      </a:ext>
                    </a:extLst>
                  </p:cNvPr>
                  <p:cNvCxnSpPr>
                    <a:cxnSpLocks/>
                    <a:stCxn id="13" idx="2"/>
                    <a:endCxn id="17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6EB62EDB-D4E1-4F5B-9C03-490EDEA8C638}"/>
                      </a:ext>
                    </a:extLst>
                  </p:cNvPr>
                  <p:cNvCxnSpPr>
                    <a:cxnSpLocks/>
                    <a:stCxn id="17" idx="2"/>
                    <a:endCxn id="16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66757746-0D0D-42FB-8FD4-BA3159A78BD1}"/>
                  </a:ext>
                </a:extLst>
              </p:cNvPr>
              <p:cNvGrpSpPr/>
              <p:nvPr/>
            </p:nvGrpSpPr>
            <p:grpSpPr>
              <a:xfrm>
                <a:off x="4174193" y="1419056"/>
                <a:ext cx="1126892" cy="4019888"/>
                <a:chOff x="903041" y="1700313"/>
                <a:chExt cx="1126892" cy="4019888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9547D22A-BF87-438B-8E42-7D774CEFA6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AA7FFC9-D205-42FD-A369-51760593FE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40229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𝟑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AA7FFC9-D205-42FD-A369-51760593FE9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402290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9091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212EC56-9716-4D2C-9261-AF3E59B5C976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24" name="Picture 23">
                    <a:extLst>
                      <a:ext uri="{FF2B5EF4-FFF2-40B4-BE49-F238E27FC236}">
                        <a16:creationId xmlns:a16="http://schemas.microsoft.com/office/drawing/2014/main" id="{094A5EFD-5780-4E08-B71B-18C77C485D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25" name="Rectangle: Rounded Corners 24">
                    <a:extLst>
                      <a:ext uri="{FF2B5EF4-FFF2-40B4-BE49-F238E27FC236}">
                        <a16:creationId xmlns:a16="http://schemas.microsoft.com/office/drawing/2014/main" id="{386A6EFF-14AD-450A-AFBF-E77333451907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8A3EF692-3145-4ED6-B111-CAABB1444B2E}"/>
                      </a:ext>
                    </a:extLst>
                  </p:cNvPr>
                  <p:cNvCxnSpPr>
                    <a:cxnSpLocks/>
                    <a:stCxn id="21" idx="2"/>
                    <a:endCxn id="25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Arrow Connector 26">
                    <a:extLst>
                      <a:ext uri="{FF2B5EF4-FFF2-40B4-BE49-F238E27FC236}">
                        <a16:creationId xmlns:a16="http://schemas.microsoft.com/office/drawing/2014/main" id="{0EC63CE8-1038-42EE-94F6-1E088FF13443}"/>
                      </a:ext>
                    </a:extLst>
                  </p:cNvPr>
                  <p:cNvCxnSpPr>
                    <a:cxnSpLocks/>
                    <a:stCxn id="25" idx="2"/>
                    <a:endCxn id="24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C9D668D3-8F5A-46C8-92BD-07352CAA96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92231" y="4468069"/>
                <a:ext cx="430266" cy="106242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70C3C136-A066-4EDD-BF67-3C59FB53BB64}"/>
                      </a:ext>
                    </a:extLst>
                  </p:cNvPr>
                  <p:cNvSpPr txBox="1"/>
                  <p:nvPr/>
                </p:nvSpPr>
                <p:spPr>
                  <a:xfrm>
                    <a:off x="5653582" y="1921298"/>
                    <a:ext cx="453649" cy="4924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32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32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70C3C136-A066-4EDD-BF67-3C59FB53BB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53582" y="1921298"/>
                    <a:ext cx="453649" cy="4924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93877B9-0792-41A1-BFA8-8DF13FD1B201}"/>
                      </a:ext>
                    </a:extLst>
                  </p:cNvPr>
                  <p:cNvSpPr txBox="1"/>
                  <p:nvPr/>
                </p:nvSpPr>
                <p:spPr>
                  <a:xfrm>
                    <a:off x="5595227" y="3464320"/>
                    <a:ext cx="453649" cy="4924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32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32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93877B9-0792-41A1-BFA8-8DF13FD1B2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5227" y="3464320"/>
                    <a:ext cx="453649" cy="49244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96B05589-73C9-43B1-9E00-258B68180DD7}"/>
                      </a:ext>
                    </a:extLst>
                  </p:cNvPr>
                  <p:cNvSpPr txBox="1"/>
                  <p:nvPr/>
                </p:nvSpPr>
                <p:spPr>
                  <a:xfrm>
                    <a:off x="5595227" y="4723712"/>
                    <a:ext cx="453649" cy="4924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32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32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96B05589-73C9-43B1-9E00-258B68180D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5227" y="4723712"/>
                    <a:ext cx="453649" cy="49244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C8E0011-CCE4-4E24-8E27-9A0B45E96E23}"/>
                      </a:ext>
                    </a:extLst>
                  </p:cNvPr>
                  <p:cNvSpPr txBox="1"/>
                  <p:nvPr/>
                </p:nvSpPr>
                <p:spPr>
                  <a:xfrm>
                    <a:off x="2445878" y="4776211"/>
                    <a:ext cx="23083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C8E0011-CCE4-4E24-8E27-9A0B45E96E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45878" y="4776211"/>
                    <a:ext cx="230832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8421" r="-21053" b="-869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B6095C0-71D6-4DD0-8E0A-D6C4777F3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73341" y="4430192"/>
                <a:ext cx="499086" cy="108118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147F7BD-6EE5-4C52-AC6B-4C1D55302897}"/>
                      </a:ext>
                    </a:extLst>
                  </p:cNvPr>
                  <p:cNvSpPr txBox="1"/>
                  <p:nvPr/>
                </p:nvSpPr>
                <p:spPr>
                  <a:xfrm>
                    <a:off x="3663054" y="4776211"/>
                    <a:ext cx="23083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147F7BD-6EE5-4C52-AC6B-4C1D553028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63054" y="4776211"/>
                    <a:ext cx="230832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421" r="-21053" b="-869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0DC6DF30-4B41-4B6C-AEDF-ECBC64855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98328" y="4474841"/>
                <a:ext cx="442419" cy="101113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98A3BC36-47B8-440D-9E81-96FF7CC7571C}"/>
                      </a:ext>
                    </a:extLst>
                  </p:cNvPr>
                  <p:cNvSpPr txBox="1"/>
                  <p:nvPr/>
                </p:nvSpPr>
                <p:spPr>
                  <a:xfrm>
                    <a:off x="4783379" y="4785836"/>
                    <a:ext cx="23083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98A3BC36-47B8-440D-9E81-96FF7CC757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3379" y="4785836"/>
                    <a:ext cx="230832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1053" r="-18421"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32F3303-8638-4165-A0BF-0ED0DDA15C8C}"/>
                  </a:ext>
                </a:extLst>
              </p:cNvPr>
              <p:cNvGrpSpPr/>
              <p:nvPr/>
            </p:nvGrpSpPr>
            <p:grpSpPr>
              <a:xfrm>
                <a:off x="6334903" y="1383736"/>
                <a:ext cx="1138113" cy="4019888"/>
                <a:chOff x="903041" y="1700313"/>
                <a:chExt cx="1138113" cy="4019888"/>
              </a:xfrm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4BFF36B1-8B2A-4D8C-8540-A64EDB3DE3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FA23ADCD-9294-4283-A47A-C3680322E5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41351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𝒏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FA23ADCD-9294-4283-A47A-C3680322E5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413511" cy="369332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8824" r="-2941" b="-11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F2B74903-2A4C-4957-8AAD-2AED58D7894C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49" name="Picture 48">
                    <a:extLst>
                      <a:ext uri="{FF2B5EF4-FFF2-40B4-BE49-F238E27FC236}">
                        <a16:creationId xmlns:a16="http://schemas.microsoft.com/office/drawing/2014/main" id="{75053BA6-0D37-4F62-9553-3A13C27829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50" name="Rectangle: Rounded Corners 49">
                    <a:extLst>
                      <a:ext uri="{FF2B5EF4-FFF2-40B4-BE49-F238E27FC236}">
                        <a16:creationId xmlns:a16="http://schemas.microsoft.com/office/drawing/2014/main" id="{C53FBBB4-6DFD-41D0-A779-3EB3F72BDF48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51" name="Straight Arrow Connector 50">
                    <a:extLst>
                      <a:ext uri="{FF2B5EF4-FFF2-40B4-BE49-F238E27FC236}">
                        <a16:creationId xmlns:a16="http://schemas.microsoft.com/office/drawing/2014/main" id="{7FED0A3D-F5A1-4F93-95B5-1333C0BD4106}"/>
                      </a:ext>
                    </a:extLst>
                  </p:cNvPr>
                  <p:cNvCxnSpPr>
                    <a:cxnSpLocks/>
                    <a:stCxn id="46" idx="2"/>
                    <a:endCxn id="50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507EF5C5-7201-4249-B743-255E69D77A3E}"/>
                      </a:ext>
                    </a:extLst>
                  </p:cNvPr>
                  <p:cNvCxnSpPr>
                    <a:cxnSpLocks/>
                    <a:stCxn id="50" idx="2"/>
                    <a:endCxn id="49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76B33288-1792-4960-9BE3-153FFE5ACC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56754" y="4447937"/>
                <a:ext cx="391716" cy="10111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4AB2C3BC-0231-48CB-9389-55A16B4A8C73}"/>
                      </a:ext>
                    </a:extLst>
                  </p:cNvPr>
                  <p:cNvSpPr txBox="1"/>
                  <p:nvPr/>
                </p:nvSpPr>
                <p:spPr>
                  <a:xfrm>
                    <a:off x="6957014" y="4776210"/>
                    <a:ext cx="23083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4AB2C3BC-0231-48CB-9389-55A16B4A8C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57014" y="4776210"/>
                    <a:ext cx="230832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1622" r="-21622" b="-869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05ECD7D-1E7F-482C-B88B-DD498F024F7B}"/>
                    </a:ext>
                  </a:extLst>
                </p:cNvPr>
                <p:cNvSpPr txBox="1"/>
                <p:nvPr/>
              </p:nvSpPr>
              <p:spPr>
                <a:xfrm>
                  <a:off x="1801426" y="2717385"/>
                  <a:ext cx="83356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[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𝑪𝑳𝑺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]</m:t>
                        </m:r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05ECD7D-1E7F-482C-B88B-DD498F024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1426" y="2717385"/>
                  <a:ext cx="833562" cy="369332"/>
                </a:xfrm>
                <a:prstGeom prst="rect">
                  <a:avLst/>
                </a:prstGeom>
                <a:blipFill>
                  <a:blip r:embed="rId20"/>
                  <a:stretch>
                    <a:fillRect l="-11679" r="-12409" b="-3606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D8B9D9A4-BB18-4229-8839-3DB2C4C3F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2089926" y="4759798"/>
              <a:ext cx="312436" cy="970875"/>
            </a:xfrm>
            <a:prstGeom prst="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1140296-9859-436B-9186-16B5D22757B5}"/>
                </a:ext>
              </a:extLst>
            </p:cNvPr>
            <p:cNvSpPr/>
            <p:nvPr/>
          </p:nvSpPr>
          <p:spPr>
            <a:xfrm>
              <a:off x="1727676" y="3872926"/>
              <a:ext cx="1036937" cy="47750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Dense</a:t>
              </a:r>
              <a:endParaRPr lang="zh-CN" altLang="en-US" dirty="0">
                <a:cs typeface="+mn-ea"/>
                <a:sym typeface="+mn-lt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9888503-BD82-482D-B2F3-493CFFFC8689}"/>
                </a:ext>
              </a:extLst>
            </p:cNvPr>
            <p:cNvCxnSpPr>
              <a:cxnSpLocks/>
              <a:endCxn id="58" idx="0"/>
            </p:cNvCxnSpPr>
            <p:nvPr/>
          </p:nvCxnSpPr>
          <p:spPr>
            <a:xfrm>
              <a:off x="2246145" y="3315931"/>
              <a:ext cx="0" cy="5569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1BFE3C6-0215-4BD7-A3BB-AEA416DD4315}"/>
                </a:ext>
              </a:extLst>
            </p:cNvPr>
            <p:cNvCxnSpPr>
              <a:cxnSpLocks/>
              <a:stCxn id="58" idx="2"/>
              <a:endCxn id="57" idx="0"/>
            </p:cNvCxnSpPr>
            <p:nvPr/>
          </p:nvCxnSpPr>
          <p:spPr>
            <a:xfrm flipH="1">
              <a:off x="2246144" y="4350434"/>
              <a:ext cx="1" cy="40936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69801248-1F83-42C1-A14A-E0BD8EA6DFB6}"/>
                    </a:ext>
                  </a:extLst>
                </p:cNvPr>
                <p:cNvSpPr/>
                <p:nvPr/>
              </p:nvSpPr>
              <p:spPr>
                <a:xfrm>
                  <a:off x="2360165" y="5046621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69801248-1F83-42C1-A14A-E0BD8EA6DF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165" y="5046621"/>
                  <a:ext cx="471539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335FFC8-F9E8-484D-A66E-40B3FC519560}"/>
                    </a:ext>
                  </a:extLst>
                </p:cNvPr>
                <p:cNvSpPr/>
                <p:nvPr/>
              </p:nvSpPr>
              <p:spPr>
                <a:xfrm>
                  <a:off x="3965718" y="5060569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335FFC8-F9E8-484D-A66E-40B3FC5195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718" y="5060569"/>
                  <a:ext cx="471539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89C1F2FA-9782-40A9-B810-120857337DB6}"/>
                    </a:ext>
                  </a:extLst>
                </p:cNvPr>
                <p:cNvSpPr/>
                <p:nvPr/>
              </p:nvSpPr>
              <p:spPr>
                <a:xfrm>
                  <a:off x="5149037" y="5056256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89C1F2FA-9782-40A9-B810-120857337D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9037" y="5056256"/>
                  <a:ext cx="471539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2DD77E3-FC64-401F-83AD-25F73E94D2A6}"/>
                    </a:ext>
                  </a:extLst>
                </p:cNvPr>
                <p:cNvSpPr/>
                <p:nvPr/>
              </p:nvSpPr>
              <p:spPr>
                <a:xfrm>
                  <a:off x="6280084" y="5069164"/>
                  <a:ext cx="47153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2DD77E3-FC64-401F-83AD-25F73E94D2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0084" y="5069164"/>
                  <a:ext cx="471539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ECFC5332-6EF2-4A98-B3C6-9D281E77AD18}"/>
                    </a:ext>
                  </a:extLst>
                </p:cNvPr>
                <p:cNvSpPr/>
                <p:nvPr/>
              </p:nvSpPr>
              <p:spPr>
                <a:xfrm>
                  <a:off x="8535362" y="5046621"/>
                  <a:ext cx="47955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ECFC5332-6EF2-4A98-B3C6-9D281E77AD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5362" y="5046621"/>
                  <a:ext cx="479555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40A73E97-31F7-4C1C-ACFD-981D9288D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Extra class token</a:t>
            </a:r>
            <a:r>
              <a:rPr lang="zh-CN" altLang="en-US" dirty="0">
                <a:cs typeface="+mn-ea"/>
                <a:sym typeface="+mn-lt"/>
              </a:rPr>
              <a:t>用于最后的图像分类</a:t>
            </a:r>
          </a:p>
        </p:txBody>
      </p:sp>
    </p:spTree>
    <p:extLst>
      <p:ext uri="{BB962C8B-B14F-4D97-AF65-F5344CB8AC3E}">
        <p14:creationId xmlns:p14="http://schemas.microsoft.com/office/powerpoint/2010/main" val="34517194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20E0-932E-476F-B133-8A68768B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ViT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6D8D8D0-4DED-4FFA-8962-60099844968F}"/>
              </a:ext>
            </a:extLst>
          </p:cNvPr>
          <p:cNvGrpSpPr/>
          <p:nvPr/>
        </p:nvGrpSpPr>
        <p:grpSpPr>
          <a:xfrm>
            <a:off x="3017463" y="1690688"/>
            <a:ext cx="5834255" cy="2864151"/>
            <a:chOff x="1727676" y="1690688"/>
            <a:chExt cx="7417367" cy="414675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B2B291C-8629-4BB3-A47B-63D4404D0567}"/>
                </a:ext>
              </a:extLst>
            </p:cNvPr>
            <p:cNvGrpSpPr/>
            <p:nvPr/>
          </p:nvGrpSpPr>
          <p:grpSpPr>
            <a:xfrm>
              <a:off x="2924347" y="1690688"/>
              <a:ext cx="5748529" cy="4146753"/>
              <a:chOff x="1836692" y="1383736"/>
              <a:chExt cx="5748529" cy="4146753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DC67F8E-A936-4D2E-BD98-9522DE0877F4}"/>
                  </a:ext>
                </a:extLst>
              </p:cNvPr>
              <p:cNvGrpSpPr/>
              <p:nvPr/>
            </p:nvGrpSpPr>
            <p:grpSpPr>
              <a:xfrm>
                <a:off x="1836692" y="1419056"/>
                <a:ext cx="1236052" cy="4019888"/>
                <a:chOff x="903041" y="1700313"/>
                <a:chExt cx="1236052" cy="4019888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5A9F744F-7280-44C6-99E9-5CAFD520EA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E26124E0-675D-428E-844F-5202E098F4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511450" cy="534723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E26124E0-675D-428E-844F-5202E098F4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511450" cy="53472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091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AE37E2F5-1B1F-4D65-82B8-AF51F82A6FC3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8" name="Picture 7">
                    <a:extLst>
                      <a:ext uri="{FF2B5EF4-FFF2-40B4-BE49-F238E27FC236}">
                        <a16:creationId xmlns:a16="http://schemas.microsoft.com/office/drawing/2014/main" id="{A0CC5450-716F-438B-AA8C-1230BA3974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7DFC06D5-44D0-4C67-B598-951A347562EE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DE84CB20-537E-475E-9455-2FCE68425E9C}"/>
                      </a:ext>
                    </a:extLst>
                  </p:cNvPr>
                  <p:cNvCxnSpPr>
                    <a:cxnSpLocks/>
                    <a:stCxn id="5" idx="2"/>
                    <a:endCxn id="9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Straight Arrow Connector 10">
                    <a:extLst>
                      <a:ext uri="{FF2B5EF4-FFF2-40B4-BE49-F238E27FC236}">
                        <a16:creationId xmlns:a16="http://schemas.microsoft.com/office/drawing/2014/main" id="{B3B2E824-E34D-4635-83E8-1F88844807BC}"/>
                      </a:ext>
                    </a:extLst>
                  </p:cNvPr>
                  <p:cNvCxnSpPr>
                    <a:cxnSpLocks/>
                    <a:stCxn id="9" idx="2"/>
                    <a:endCxn id="8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B2EDB8C3-5E41-45D2-89B0-EE7FE3D5282F}"/>
                  </a:ext>
                </a:extLst>
              </p:cNvPr>
              <p:cNvGrpSpPr/>
              <p:nvPr/>
            </p:nvGrpSpPr>
            <p:grpSpPr>
              <a:xfrm>
                <a:off x="3050419" y="1419056"/>
                <a:ext cx="1236052" cy="4019888"/>
                <a:chOff x="903041" y="1700313"/>
                <a:chExt cx="1236052" cy="4019888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B0371411-8F6B-4A22-9721-FEFAA25026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43E8794E-AAD4-4CBC-A142-22DC2F90ED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511450" cy="534723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43E8794E-AAD4-4CBC-A142-22DC2F90ED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511450" cy="534723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7576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76BC7C1-8C07-4E84-8841-C820F6684EBE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5E5ED54E-485B-4EB7-A999-0C7C690DEE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592C844B-8F1B-4ADE-ACFB-1D3BB8D2C771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03F51F7B-99A0-48EE-AE23-249F7E2EB680}"/>
                      </a:ext>
                    </a:extLst>
                  </p:cNvPr>
                  <p:cNvCxnSpPr>
                    <a:cxnSpLocks/>
                    <a:stCxn id="13" idx="2"/>
                    <a:endCxn id="17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6EB62EDB-D4E1-4F5B-9C03-490EDEA8C638}"/>
                      </a:ext>
                    </a:extLst>
                  </p:cNvPr>
                  <p:cNvCxnSpPr>
                    <a:cxnSpLocks/>
                    <a:stCxn id="17" idx="2"/>
                    <a:endCxn id="16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66757746-0D0D-42FB-8FD4-BA3159A78BD1}"/>
                  </a:ext>
                </a:extLst>
              </p:cNvPr>
              <p:cNvGrpSpPr/>
              <p:nvPr/>
            </p:nvGrpSpPr>
            <p:grpSpPr>
              <a:xfrm>
                <a:off x="4174193" y="1419056"/>
                <a:ext cx="1236052" cy="4019888"/>
                <a:chOff x="903041" y="1700313"/>
                <a:chExt cx="1236052" cy="4019888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9547D22A-BF87-438B-8E42-7D774CEFA6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AA7FFC9-D205-42FD-A369-51760593FE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511450" cy="534723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𝟑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AA7FFC9-D205-42FD-A369-51760593FE9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511450" cy="534723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9231" r="-7692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212EC56-9716-4D2C-9261-AF3E59B5C976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24" name="Picture 23">
                    <a:extLst>
                      <a:ext uri="{FF2B5EF4-FFF2-40B4-BE49-F238E27FC236}">
                        <a16:creationId xmlns:a16="http://schemas.microsoft.com/office/drawing/2014/main" id="{094A5EFD-5780-4E08-B71B-18C77C485D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25" name="Rectangle: Rounded Corners 24">
                    <a:extLst>
                      <a:ext uri="{FF2B5EF4-FFF2-40B4-BE49-F238E27FC236}">
                        <a16:creationId xmlns:a16="http://schemas.microsoft.com/office/drawing/2014/main" id="{386A6EFF-14AD-450A-AFBF-E77333451907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8A3EF692-3145-4ED6-B111-CAABB1444B2E}"/>
                      </a:ext>
                    </a:extLst>
                  </p:cNvPr>
                  <p:cNvCxnSpPr>
                    <a:cxnSpLocks/>
                    <a:stCxn id="21" idx="2"/>
                    <a:endCxn id="25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Arrow Connector 26">
                    <a:extLst>
                      <a:ext uri="{FF2B5EF4-FFF2-40B4-BE49-F238E27FC236}">
                        <a16:creationId xmlns:a16="http://schemas.microsoft.com/office/drawing/2014/main" id="{0EC63CE8-1038-42EE-94F6-1E088FF13443}"/>
                      </a:ext>
                    </a:extLst>
                  </p:cNvPr>
                  <p:cNvCxnSpPr>
                    <a:cxnSpLocks/>
                    <a:stCxn id="25" idx="2"/>
                    <a:endCxn id="24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C9D668D3-8F5A-46C8-92BD-07352CAA96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92231" y="4468069"/>
                <a:ext cx="430266" cy="106242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70C3C136-A066-4EDD-BF67-3C59FB53BB64}"/>
                      </a:ext>
                    </a:extLst>
                  </p:cNvPr>
                  <p:cNvSpPr txBox="1"/>
                  <p:nvPr/>
                </p:nvSpPr>
                <p:spPr>
                  <a:xfrm>
                    <a:off x="5764169" y="1921299"/>
                    <a:ext cx="576747" cy="7129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32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32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70C3C136-A066-4EDD-BF67-3C59FB53BB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4169" y="1921299"/>
                    <a:ext cx="576747" cy="7129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93877B9-0792-41A1-BFA8-8DF13FD1B201}"/>
                      </a:ext>
                    </a:extLst>
                  </p:cNvPr>
                  <p:cNvSpPr txBox="1"/>
                  <p:nvPr/>
                </p:nvSpPr>
                <p:spPr>
                  <a:xfrm>
                    <a:off x="5764169" y="3464320"/>
                    <a:ext cx="442418" cy="7129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32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32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93877B9-0792-41A1-BFA8-8DF13FD1B2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4169" y="3464320"/>
                    <a:ext cx="442418" cy="7129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96B05589-73C9-43B1-9E00-258B68180DD7}"/>
                      </a:ext>
                    </a:extLst>
                  </p:cNvPr>
                  <p:cNvSpPr txBox="1"/>
                  <p:nvPr/>
                </p:nvSpPr>
                <p:spPr>
                  <a:xfrm>
                    <a:off x="5764169" y="4532418"/>
                    <a:ext cx="576747" cy="7129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32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32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96B05589-73C9-43B1-9E00-258B68180D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4169" y="4532418"/>
                    <a:ext cx="576747" cy="7129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C8E0011-CCE4-4E24-8E27-9A0B45E96E23}"/>
                      </a:ext>
                    </a:extLst>
                  </p:cNvPr>
                  <p:cNvSpPr txBox="1"/>
                  <p:nvPr/>
                </p:nvSpPr>
                <p:spPr>
                  <a:xfrm>
                    <a:off x="2445877" y="4776211"/>
                    <a:ext cx="293468" cy="4010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C8E0011-CCE4-4E24-8E27-9A0B45E96E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45877" y="4776211"/>
                    <a:ext cx="293468" cy="40104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8421" r="-18421"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B6095C0-71D6-4DD0-8E0A-D6C4777F3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73341" y="4430192"/>
                <a:ext cx="499086" cy="108118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147F7BD-6EE5-4C52-AC6B-4C1D55302897}"/>
                      </a:ext>
                    </a:extLst>
                  </p:cNvPr>
                  <p:cNvSpPr txBox="1"/>
                  <p:nvPr/>
                </p:nvSpPr>
                <p:spPr>
                  <a:xfrm>
                    <a:off x="3663054" y="4776211"/>
                    <a:ext cx="293468" cy="4010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147F7BD-6EE5-4C52-AC6B-4C1D553028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63054" y="4776211"/>
                    <a:ext cx="293468" cy="40104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421" r="-21053"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0DC6DF30-4B41-4B6C-AEDF-ECBC64855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98328" y="4474841"/>
                <a:ext cx="442419" cy="101113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98A3BC36-47B8-440D-9E81-96FF7CC7571C}"/>
                      </a:ext>
                    </a:extLst>
                  </p:cNvPr>
                  <p:cNvSpPr txBox="1"/>
                  <p:nvPr/>
                </p:nvSpPr>
                <p:spPr>
                  <a:xfrm>
                    <a:off x="4783379" y="4785836"/>
                    <a:ext cx="293468" cy="4010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98A3BC36-47B8-440D-9E81-96FF7CC757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3379" y="4785836"/>
                    <a:ext cx="293468" cy="40104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1622" r="-21622"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32F3303-8638-4165-A0BF-0ED0DDA15C8C}"/>
                  </a:ext>
                </a:extLst>
              </p:cNvPr>
              <p:cNvGrpSpPr/>
              <p:nvPr/>
            </p:nvGrpSpPr>
            <p:grpSpPr>
              <a:xfrm>
                <a:off x="6334903" y="1383736"/>
                <a:ext cx="1250318" cy="4019888"/>
                <a:chOff x="903041" y="1700313"/>
                <a:chExt cx="1250318" cy="4019888"/>
              </a:xfrm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4BFF36B1-8B2A-4D8C-8540-A64EDB3DE3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FA23ADCD-9294-4283-A47A-C3680322E5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525716" cy="534723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𝒏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FA23ADCD-9294-4283-A47A-C3680322E5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525716" cy="534723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8824" r="-2941" b="-114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F2B74903-2A4C-4957-8AAD-2AED58D7894C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49" name="Picture 48">
                    <a:extLst>
                      <a:ext uri="{FF2B5EF4-FFF2-40B4-BE49-F238E27FC236}">
                        <a16:creationId xmlns:a16="http://schemas.microsoft.com/office/drawing/2014/main" id="{75053BA6-0D37-4F62-9553-3A13C27829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50" name="Rectangle: Rounded Corners 49">
                    <a:extLst>
                      <a:ext uri="{FF2B5EF4-FFF2-40B4-BE49-F238E27FC236}">
                        <a16:creationId xmlns:a16="http://schemas.microsoft.com/office/drawing/2014/main" id="{C53FBBB4-6DFD-41D0-A779-3EB3F72BDF48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51" name="Straight Arrow Connector 50">
                    <a:extLst>
                      <a:ext uri="{FF2B5EF4-FFF2-40B4-BE49-F238E27FC236}">
                        <a16:creationId xmlns:a16="http://schemas.microsoft.com/office/drawing/2014/main" id="{7FED0A3D-F5A1-4F93-95B5-1333C0BD4106}"/>
                      </a:ext>
                    </a:extLst>
                  </p:cNvPr>
                  <p:cNvCxnSpPr>
                    <a:cxnSpLocks/>
                    <a:stCxn id="46" idx="2"/>
                    <a:endCxn id="50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507EF5C5-7201-4249-B743-255E69D77A3E}"/>
                      </a:ext>
                    </a:extLst>
                  </p:cNvPr>
                  <p:cNvCxnSpPr>
                    <a:cxnSpLocks/>
                    <a:stCxn id="50" idx="2"/>
                    <a:endCxn id="49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76B33288-1792-4960-9BE3-153FFE5ACC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56754" y="4447937"/>
                <a:ext cx="391716" cy="10111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4AB2C3BC-0231-48CB-9389-55A16B4A8C73}"/>
                      </a:ext>
                    </a:extLst>
                  </p:cNvPr>
                  <p:cNvSpPr txBox="1"/>
                  <p:nvPr/>
                </p:nvSpPr>
                <p:spPr>
                  <a:xfrm>
                    <a:off x="6957014" y="4776211"/>
                    <a:ext cx="293468" cy="4010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4AB2C3BC-0231-48CB-9389-55A16B4A8C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57014" y="4776211"/>
                    <a:ext cx="293468" cy="40104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421" r="-21053"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05ECD7D-1E7F-482C-B88B-DD498F024F7B}"/>
                    </a:ext>
                  </a:extLst>
                </p:cNvPr>
                <p:cNvSpPr txBox="1"/>
                <p:nvPr/>
              </p:nvSpPr>
              <p:spPr>
                <a:xfrm>
                  <a:off x="1801426" y="2717385"/>
                  <a:ext cx="1059747" cy="53472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[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𝑪𝑳𝑺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]</m:t>
                        </m:r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05ECD7D-1E7F-482C-B88B-DD498F024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1426" y="2717385"/>
                  <a:ext cx="1059747" cy="534723"/>
                </a:xfrm>
                <a:prstGeom prst="rect">
                  <a:avLst/>
                </a:prstGeom>
                <a:blipFill>
                  <a:blip r:embed="rId19"/>
                  <a:stretch>
                    <a:fillRect l="-12500" r="-12500" b="-3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D8B9D9A4-BB18-4229-8839-3DB2C4C3F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flipH="1">
              <a:off x="2089926" y="4759798"/>
              <a:ext cx="312436" cy="970875"/>
            </a:xfrm>
            <a:prstGeom prst="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1140296-9859-436B-9186-16B5D22757B5}"/>
                </a:ext>
              </a:extLst>
            </p:cNvPr>
            <p:cNvSpPr/>
            <p:nvPr/>
          </p:nvSpPr>
          <p:spPr>
            <a:xfrm>
              <a:off x="1727676" y="3872926"/>
              <a:ext cx="1036937" cy="47750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Dense</a:t>
              </a:r>
              <a:endParaRPr lang="zh-CN" altLang="en-US" dirty="0">
                <a:cs typeface="+mn-ea"/>
                <a:sym typeface="+mn-lt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9888503-BD82-482D-B2F3-493CFFFC8689}"/>
                </a:ext>
              </a:extLst>
            </p:cNvPr>
            <p:cNvCxnSpPr>
              <a:cxnSpLocks/>
              <a:endCxn id="58" idx="0"/>
            </p:cNvCxnSpPr>
            <p:nvPr/>
          </p:nvCxnSpPr>
          <p:spPr>
            <a:xfrm>
              <a:off x="2246145" y="3315931"/>
              <a:ext cx="0" cy="5569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1BFE3C6-0215-4BD7-A3BB-AEA416DD4315}"/>
                </a:ext>
              </a:extLst>
            </p:cNvPr>
            <p:cNvCxnSpPr>
              <a:cxnSpLocks/>
              <a:stCxn id="58" idx="2"/>
              <a:endCxn id="57" idx="0"/>
            </p:cNvCxnSpPr>
            <p:nvPr/>
          </p:nvCxnSpPr>
          <p:spPr>
            <a:xfrm flipH="1">
              <a:off x="2246144" y="4350434"/>
              <a:ext cx="1" cy="40936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69801248-1F83-42C1-A14A-E0BD8EA6DFB6}"/>
                    </a:ext>
                  </a:extLst>
                </p:cNvPr>
                <p:cNvSpPr/>
                <p:nvPr/>
              </p:nvSpPr>
              <p:spPr>
                <a:xfrm>
                  <a:off x="2360165" y="5046621"/>
                  <a:ext cx="599490" cy="5347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69801248-1F83-42C1-A14A-E0BD8EA6DF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165" y="5046621"/>
                  <a:ext cx="599490" cy="534723"/>
                </a:xfrm>
                <a:prstGeom prst="rect">
                  <a:avLst/>
                </a:prstGeom>
                <a:blipFill>
                  <a:blip r:embed="rId20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335FFC8-F9E8-484D-A66E-40B3FC519560}"/>
                    </a:ext>
                  </a:extLst>
                </p:cNvPr>
                <p:cNvSpPr/>
                <p:nvPr/>
              </p:nvSpPr>
              <p:spPr>
                <a:xfrm>
                  <a:off x="3965719" y="5060570"/>
                  <a:ext cx="599490" cy="5347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335FFC8-F9E8-484D-A66E-40B3FC5195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719" y="5060570"/>
                  <a:ext cx="599490" cy="534723"/>
                </a:xfrm>
                <a:prstGeom prst="rect">
                  <a:avLst/>
                </a:prstGeom>
                <a:blipFill>
                  <a:blip r:embed="rId21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89C1F2FA-9782-40A9-B810-120857337DB6}"/>
                    </a:ext>
                  </a:extLst>
                </p:cNvPr>
                <p:cNvSpPr/>
                <p:nvPr/>
              </p:nvSpPr>
              <p:spPr>
                <a:xfrm>
                  <a:off x="5149037" y="5056257"/>
                  <a:ext cx="599490" cy="5347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89C1F2FA-9782-40A9-B810-120857337D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9037" y="5056257"/>
                  <a:ext cx="599490" cy="534723"/>
                </a:xfrm>
                <a:prstGeom prst="rect">
                  <a:avLst/>
                </a:prstGeom>
                <a:blipFill>
                  <a:blip r:embed="rId22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2DD77E3-FC64-401F-83AD-25F73E94D2A6}"/>
                    </a:ext>
                  </a:extLst>
                </p:cNvPr>
                <p:cNvSpPr/>
                <p:nvPr/>
              </p:nvSpPr>
              <p:spPr>
                <a:xfrm>
                  <a:off x="6280084" y="5069164"/>
                  <a:ext cx="599490" cy="5347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2DD77E3-FC64-401F-83AD-25F73E94D2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0084" y="5069164"/>
                  <a:ext cx="599490" cy="534723"/>
                </a:xfrm>
                <a:prstGeom prst="rect">
                  <a:avLst/>
                </a:prstGeom>
                <a:blipFill>
                  <a:blip r:embed="rId23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ECFC5332-6EF2-4A98-B3C6-9D281E77AD18}"/>
                    </a:ext>
                  </a:extLst>
                </p:cNvPr>
                <p:cNvSpPr/>
                <p:nvPr/>
              </p:nvSpPr>
              <p:spPr>
                <a:xfrm>
                  <a:off x="8535362" y="5046621"/>
                  <a:ext cx="609681" cy="53472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ECFC5332-6EF2-4A98-B3C6-9D281E77AD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5362" y="5046621"/>
                  <a:ext cx="609681" cy="534723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4035B9-04B9-478E-9942-0F625A51A8C1}"/>
              </a:ext>
            </a:extLst>
          </p:cNvPr>
          <p:cNvSpPr/>
          <p:nvPr/>
        </p:nvSpPr>
        <p:spPr>
          <a:xfrm>
            <a:off x="2997001" y="4702740"/>
            <a:ext cx="5885905" cy="5663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cs typeface="+mn-ea"/>
                <a:sym typeface="+mn-lt"/>
              </a:rPr>
              <a:t>Transformer Encoder Network</a:t>
            </a:r>
            <a:endParaRPr lang="zh-CN" altLang="en-US" b="1" dirty="0">
              <a:cs typeface="+mn-ea"/>
              <a:sym typeface="+mn-lt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05D890A-F614-4B6E-8F00-B6C02B19895A}"/>
              </a:ext>
            </a:extLst>
          </p:cNvPr>
          <p:cNvCxnSpPr>
            <a:cxnSpLocks/>
          </p:cNvCxnSpPr>
          <p:nvPr/>
        </p:nvCxnSpPr>
        <p:spPr>
          <a:xfrm flipH="1">
            <a:off x="8076981" y="4451210"/>
            <a:ext cx="1" cy="2827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46F4545-CCD3-4387-8CF1-CE00BEA33CDF}"/>
              </a:ext>
            </a:extLst>
          </p:cNvPr>
          <p:cNvCxnSpPr>
            <a:cxnSpLocks/>
          </p:cNvCxnSpPr>
          <p:nvPr/>
        </p:nvCxnSpPr>
        <p:spPr>
          <a:xfrm flipH="1">
            <a:off x="6361175" y="4462753"/>
            <a:ext cx="1" cy="2827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AB157A7-178E-4BE6-9B77-58633C288AE2}"/>
              </a:ext>
            </a:extLst>
          </p:cNvPr>
          <p:cNvCxnSpPr>
            <a:cxnSpLocks/>
          </p:cNvCxnSpPr>
          <p:nvPr/>
        </p:nvCxnSpPr>
        <p:spPr>
          <a:xfrm flipH="1">
            <a:off x="5476851" y="4451876"/>
            <a:ext cx="1" cy="2827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D69CDF8-EF66-4041-B098-C640EFF4D1BA}"/>
              </a:ext>
            </a:extLst>
          </p:cNvPr>
          <p:cNvCxnSpPr>
            <a:cxnSpLocks/>
          </p:cNvCxnSpPr>
          <p:nvPr/>
        </p:nvCxnSpPr>
        <p:spPr>
          <a:xfrm flipH="1">
            <a:off x="4522054" y="4485343"/>
            <a:ext cx="1" cy="2827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7C13AA-0852-41BE-B9A2-D8AE9966F37C}"/>
              </a:ext>
            </a:extLst>
          </p:cNvPr>
          <p:cNvCxnSpPr>
            <a:cxnSpLocks/>
          </p:cNvCxnSpPr>
          <p:nvPr/>
        </p:nvCxnSpPr>
        <p:spPr>
          <a:xfrm flipH="1">
            <a:off x="3425273" y="4511991"/>
            <a:ext cx="1" cy="2827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42D4F2-C4EC-4827-A387-31D1040848AD}"/>
              </a:ext>
            </a:extLst>
          </p:cNvPr>
          <p:cNvGrpSpPr/>
          <p:nvPr/>
        </p:nvGrpSpPr>
        <p:grpSpPr>
          <a:xfrm>
            <a:off x="5140704" y="5306317"/>
            <a:ext cx="749803" cy="1220291"/>
            <a:chOff x="3235090" y="5306317"/>
            <a:chExt cx="749803" cy="122029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D2F082B-1CA6-4B86-AD0E-5A4670EBFE30}"/>
                </a:ext>
              </a:extLst>
            </p:cNvPr>
            <p:cNvGrpSpPr/>
            <p:nvPr/>
          </p:nvGrpSpPr>
          <p:grpSpPr>
            <a:xfrm>
              <a:off x="3235090" y="5306317"/>
              <a:ext cx="342867" cy="1220291"/>
              <a:chOff x="3235090" y="5306317"/>
              <a:chExt cx="342867" cy="1220291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14266218-A3CC-4ADE-B8A7-46EC975BEC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35090" y="5544762"/>
                <a:ext cx="342867" cy="981846"/>
              </a:xfrm>
              <a:prstGeom prst="rect">
                <a:avLst/>
              </a:prstGeom>
            </p:spPr>
          </p:pic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D18509FD-717B-40E8-B2F6-1CCF0229F7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03298" y="5306317"/>
                <a:ext cx="1" cy="2827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419D6327-9597-458E-9CC5-B5FC2A408818}"/>
                    </a:ext>
                  </a:extLst>
                </p:cNvPr>
                <p:cNvSpPr/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419D6327-9597-458E-9CC5-B5FC2A4088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05FA351-0FDF-449D-9B6D-F9E15DEA981C}"/>
              </a:ext>
            </a:extLst>
          </p:cNvPr>
          <p:cNvGrpSpPr/>
          <p:nvPr/>
        </p:nvGrpSpPr>
        <p:grpSpPr>
          <a:xfrm>
            <a:off x="4178105" y="5306317"/>
            <a:ext cx="749803" cy="1220291"/>
            <a:chOff x="3235090" y="5306317"/>
            <a:chExt cx="749803" cy="1220291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507D57C-0F61-4925-A4BD-51DFE57994D3}"/>
                </a:ext>
              </a:extLst>
            </p:cNvPr>
            <p:cNvGrpSpPr/>
            <p:nvPr/>
          </p:nvGrpSpPr>
          <p:grpSpPr>
            <a:xfrm>
              <a:off x="3235090" y="5306317"/>
              <a:ext cx="342867" cy="1220291"/>
              <a:chOff x="3235090" y="5306317"/>
              <a:chExt cx="342867" cy="1220291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534430C6-6CBF-4D2B-ABFE-A13B094AB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35090" y="5544762"/>
                <a:ext cx="342867" cy="981846"/>
              </a:xfrm>
              <a:prstGeom prst="rect">
                <a:avLst/>
              </a:prstGeom>
            </p:spPr>
          </p:pic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527311D0-6082-4F51-ABE0-8DA60C569D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03298" y="5306317"/>
                <a:ext cx="1" cy="2827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8274831D-726A-4B62-8B36-9E443CB6AEF5}"/>
                    </a:ext>
                  </a:extLst>
                </p:cNvPr>
                <p:cNvSpPr/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8274831D-726A-4B62-8B36-9E443CB6AE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56C572D-E941-4BFF-83BE-58F9884629BB}"/>
              </a:ext>
            </a:extLst>
          </p:cNvPr>
          <p:cNvGrpSpPr/>
          <p:nvPr/>
        </p:nvGrpSpPr>
        <p:grpSpPr>
          <a:xfrm>
            <a:off x="3256036" y="5306317"/>
            <a:ext cx="749804" cy="1220291"/>
            <a:chOff x="3235090" y="5306317"/>
            <a:chExt cx="749804" cy="1220291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F8E476C-591A-4634-8142-7C9FB0D3C86C}"/>
                </a:ext>
              </a:extLst>
            </p:cNvPr>
            <p:cNvGrpSpPr/>
            <p:nvPr/>
          </p:nvGrpSpPr>
          <p:grpSpPr>
            <a:xfrm>
              <a:off x="3235090" y="5306317"/>
              <a:ext cx="342867" cy="1220291"/>
              <a:chOff x="3235090" y="5306317"/>
              <a:chExt cx="342867" cy="1220291"/>
            </a:xfrm>
          </p:grpSpPr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F8775847-5A24-43FA-8074-7E07A7A248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35090" y="5544762"/>
                <a:ext cx="342867" cy="981846"/>
              </a:xfrm>
              <a:prstGeom prst="rect">
                <a:avLst/>
              </a:prstGeom>
            </p:spPr>
          </p:pic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8DE4BC25-ACC0-4621-A595-44CDB83FCD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03298" y="5306317"/>
                <a:ext cx="1" cy="2827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070AE58-DC72-4A72-BE36-80B2A51AD5CE}"/>
                    </a:ext>
                  </a:extLst>
                </p:cNvPr>
                <p:cNvSpPr/>
                <p:nvPr/>
              </p:nvSpPr>
              <p:spPr>
                <a:xfrm>
                  <a:off x="3514957" y="5845701"/>
                  <a:ext cx="46993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070AE58-DC72-4A72-BE36-80B2A51AD5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957" y="5845701"/>
                  <a:ext cx="4699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3DEDE79-6C3C-49D9-9E6E-27D1297C7223}"/>
              </a:ext>
            </a:extLst>
          </p:cNvPr>
          <p:cNvGrpSpPr/>
          <p:nvPr/>
        </p:nvGrpSpPr>
        <p:grpSpPr>
          <a:xfrm>
            <a:off x="5986273" y="5306317"/>
            <a:ext cx="749803" cy="1220291"/>
            <a:chOff x="3235090" y="5306317"/>
            <a:chExt cx="749803" cy="122029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1F1799C8-8C52-486C-BDB3-1CA83D8BC926}"/>
                </a:ext>
              </a:extLst>
            </p:cNvPr>
            <p:cNvGrpSpPr/>
            <p:nvPr/>
          </p:nvGrpSpPr>
          <p:grpSpPr>
            <a:xfrm>
              <a:off x="3235090" y="5306317"/>
              <a:ext cx="342867" cy="1220291"/>
              <a:chOff x="3235090" y="5306317"/>
              <a:chExt cx="342867" cy="1220291"/>
            </a:xfrm>
          </p:grpSpPr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6D8CAEB6-A665-4A2B-9C47-44243EFA72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35090" y="5544762"/>
                <a:ext cx="342867" cy="981846"/>
              </a:xfrm>
              <a:prstGeom prst="rect">
                <a:avLst/>
              </a:prstGeom>
            </p:spPr>
          </p:pic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7D4A7F83-4524-4333-84D2-89B4361CEE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03298" y="5306317"/>
                <a:ext cx="1" cy="2827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BD625B0-11A9-4EE0-B26E-B64F6A959F03}"/>
                    </a:ext>
                  </a:extLst>
                </p:cNvPr>
                <p:cNvSpPr/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BD625B0-11A9-4EE0-B26E-B64F6A959F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75CE84B-86DD-47FC-A4C6-EC2D71FEA99C}"/>
              </a:ext>
            </a:extLst>
          </p:cNvPr>
          <p:cNvGrpSpPr/>
          <p:nvPr/>
        </p:nvGrpSpPr>
        <p:grpSpPr>
          <a:xfrm>
            <a:off x="7810960" y="5306317"/>
            <a:ext cx="749803" cy="1220291"/>
            <a:chOff x="3235090" y="5306317"/>
            <a:chExt cx="749803" cy="1220291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B6BCEFD-F749-48B7-B7E9-D61AEF6577C6}"/>
                </a:ext>
              </a:extLst>
            </p:cNvPr>
            <p:cNvGrpSpPr/>
            <p:nvPr/>
          </p:nvGrpSpPr>
          <p:grpSpPr>
            <a:xfrm>
              <a:off x="3235090" y="5306317"/>
              <a:ext cx="342867" cy="1220291"/>
              <a:chOff x="3235090" y="5306317"/>
              <a:chExt cx="342867" cy="1220291"/>
            </a:xfrm>
          </p:grpSpPr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EEF1AE42-7F5B-4D0A-A2CB-BC8F33AEB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35090" y="5544762"/>
                <a:ext cx="342867" cy="981846"/>
              </a:xfrm>
              <a:prstGeom prst="rect">
                <a:avLst/>
              </a:prstGeom>
            </p:spPr>
          </p:pic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F9FDB1-8B36-454B-92F9-5F5F26D23D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03298" y="5306317"/>
                <a:ext cx="1" cy="2827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87D56208-6DA5-4A7E-9F45-8D5885F3DD16}"/>
                    </a:ext>
                  </a:extLst>
                </p:cNvPr>
                <p:cNvSpPr/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87D56208-6DA5-4A7E-9F45-8D5885F3DD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CFA3DD7-F5D6-4391-8589-B705D551112F}"/>
                  </a:ext>
                </a:extLst>
              </p:cNvPr>
              <p:cNvSpPr txBox="1"/>
              <p:nvPr/>
            </p:nvSpPr>
            <p:spPr>
              <a:xfrm>
                <a:off x="7148877" y="5788876"/>
                <a:ext cx="45365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⋯</m:t>
                      </m:r>
                    </m:oMath>
                  </m:oMathPara>
                </a14:m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CFA3DD7-F5D6-4391-8589-B705D5511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877" y="5788876"/>
                <a:ext cx="453650" cy="49244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019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20E0-932E-476F-B133-8A68768B4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Vision Transformer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ViT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6D8D8D0-4DED-4FFA-8962-60099844968F}"/>
              </a:ext>
            </a:extLst>
          </p:cNvPr>
          <p:cNvGrpSpPr/>
          <p:nvPr/>
        </p:nvGrpSpPr>
        <p:grpSpPr>
          <a:xfrm>
            <a:off x="635552" y="1690688"/>
            <a:ext cx="9602204" cy="3403586"/>
            <a:chOff x="-3062697" y="1690688"/>
            <a:chExt cx="12207740" cy="4927755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B2B291C-8629-4BB3-A47B-63D4404D0567}"/>
                </a:ext>
              </a:extLst>
            </p:cNvPr>
            <p:cNvGrpSpPr/>
            <p:nvPr/>
          </p:nvGrpSpPr>
          <p:grpSpPr>
            <a:xfrm>
              <a:off x="2924347" y="1690688"/>
              <a:ext cx="5748529" cy="4146753"/>
              <a:chOff x="1836692" y="1383736"/>
              <a:chExt cx="5748529" cy="4146753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CDC67F8E-A936-4D2E-BD98-9522DE0877F4}"/>
                  </a:ext>
                </a:extLst>
              </p:cNvPr>
              <p:cNvGrpSpPr/>
              <p:nvPr/>
            </p:nvGrpSpPr>
            <p:grpSpPr>
              <a:xfrm>
                <a:off x="1836692" y="1419056"/>
                <a:ext cx="1236052" cy="4019888"/>
                <a:chOff x="903041" y="1700313"/>
                <a:chExt cx="1236052" cy="4019888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5A9F744F-7280-44C6-99E9-5CAFD520EA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E26124E0-675D-428E-844F-5202E098F4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511450" cy="53472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E26124E0-675D-428E-844F-5202E098F4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511450" cy="53472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091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AE37E2F5-1B1F-4D65-82B8-AF51F82A6FC3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8" name="Picture 7">
                    <a:extLst>
                      <a:ext uri="{FF2B5EF4-FFF2-40B4-BE49-F238E27FC236}">
                        <a16:creationId xmlns:a16="http://schemas.microsoft.com/office/drawing/2014/main" id="{A0CC5450-716F-438B-AA8C-1230BA3974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7DFC06D5-44D0-4C67-B598-951A347562EE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DE84CB20-537E-475E-9455-2FCE68425E9C}"/>
                      </a:ext>
                    </a:extLst>
                  </p:cNvPr>
                  <p:cNvCxnSpPr>
                    <a:cxnSpLocks/>
                    <a:stCxn id="5" idx="2"/>
                    <a:endCxn id="9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Straight Arrow Connector 10">
                    <a:extLst>
                      <a:ext uri="{FF2B5EF4-FFF2-40B4-BE49-F238E27FC236}">
                        <a16:creationId xmlns:a16="http://schemas.microsoft.com/office/drawing/2014/main" id="{B3B2E824-E34D-4635-83E8-1F88844807BC}"/>
                      </a:ext>
                    </a:extLst>
                  </p:cNvPr>
                  <p:cNvCxnSpPr>
                    <a:cxnSpLocks/>
                    <a:stCxn id="9" idx="2"/>
                    <a:endCxn id="8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B2EDB8C3-5E41-45D2-89B0-EE7FE3D5282F}"/>
                  </a:ext>
                </a:extLst>
              </p:cNvPr>
              <p:cNvGrpSpPr/>
              <p:nvPr/>
            </p:nvGrpSpPr>
            <p:grpSpPr>
              <a:xfrm>
                <a:off x="3050419" y="1419056"/>
                <a:ext cx="1236052" cy="4019888"/>
                <a:chOff x="903041" y="1700313"/>
                <a:chExt cx="1236052" cy="4019888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B0371411-8F6B-4A22-9721-FEFAA25026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43E8794E-AAD4-4CBC-A142-22DC2F90ED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511450" cy="53472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43E8794E-AAD4-4CBC-A142-22DC2F90ED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511450" cy="53472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9091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76BC7C1-8C07-4E84-8841-C820F6684EBE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5E5ED54E-485B-4EB7-A999-0C7C690DEE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17" name="Rectangle: Rounded Corners 16">
                    <a:extLst>
                      <a:ext uri="{FF2B5EF4-FFF2-40B4-BE49-F238E27FC236}">
                        <a16:creationId xmlns:a16="http://schemas.microsoft.com/office/drawing/2014/main" id="{592C844B-8F1B-4ADE-ACFB-1D3BB8D2C771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18" name="Straight Arrow Connector 17">
                    <a:extLst>
                      <a:ext uri="{FF2B5EF4-FFF2-40B4-BE49-F238E27FC236}">
                        <a16:creationId xmlns:a16="http://schemas.microsoft.com/office/drawing/2014/main" id="{03F51F7B-99A0-48EE-AE23-249F7E2EB680}"/>
                      </a:ext>
                    </a:extLst>
                  </p:cNvPr>
                  <p:cNvCxnSpPr>
                    <a:cxnSpLocks/>
                    <a:stCxn id="13" idx="2"/>
                    <a:endCxn id="17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>
                    <a:extLst>
                      <a:ext uri="{FF2B5EF4-FFF2-40B4-BE49-F238E27FC236}">
                        <a16:creationId xmlns:a16="http://schemas.microsoft.com/office/drawing/2014/main" id="{6EB62EDB-D4E1-4F5B-9C03-490EDEA8C638}"/>
                      </a:ext>
                    </a:extLst>
                  </p:cNvPr>
                  <p:cNvCxnSpPr>
                    <a:cxnSpLocks/>
                    <a:stCxn id="17" idx="2"/>
                    <a:endCxn id="16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66757746-0D0D-42FB-8FD4-BA3159A78BD1}"/>
                  </a:ext>
                </a:extLst>
              </p:cNvPr>
              <p:cNvGrpSpPr/>
              <p:nvPr/>
            </p:nvGrpSpPr>
            <p:grpSpPr>
              <a:xfrm>
                <a:off x="4174193" y="1419056"/>
                <a:ext cx="1236052" cy="4019888"/>
                <a:chOff x="903041" y="1700313"/>
                <a:chExt cx="1236052" cy="4019888"/>
              </a:xfrm>
            </p:grpSpPr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9547D22A-BF87-438B-8E42-7D774CEFA6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AA7FFC9-D205-42FD-A369-51760593FE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511450" cy="53472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𝟑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AA7FFC9-D205-42FD-A369-51760593FE9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511450" cy="53472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9091" r="-7576" b="-1639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212EC56-9716-4D2C-9261-AF3E59B5C976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24" name="Picture 23">
                    <a:extLst>
                      <a:ext uri="{FF2B5EF4-FFF2-40B4-BE49-F238E27FC236}">
                        <a16:creationId xmlns:a16="http://schemas.microsoft.com/office/drawing/2014/main" id="{094A5EFD-5780-4E08-B71B-18C77C485D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25" name="Rectangle: Rounded Corners 24">
                    <a:extLst>
                      <a:ext uri="{FF2B5EF4-FFF2-40B4-BE49-F238E27FC236}">
                        <a16:creationId xmlns:a16="http://schemas.microsoft.com/office/drawing/2014/main" id="{386A6EFF-14AD-450A-AFBF-E77333451907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8A3EF692-3145-4ED6-B111-CAABB1444B2E}"/>
                      </a:ext>
                    </a:extLst>
                  </p:cNvPr>
                  <p:cNvCxnSpPr>
                    <a:cxnSpLocks/>
                    <a:stCxn id="21" idx="2"/>
                    <a:endCxn id="25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Arrow Connector 26">
                    <a:extLst>
                      <a:ext uri="{FF2B5EF4-FFF2-40B4-BE49-F238E27FC236}">
                        <a16:creationId xmlns:a16="http://schemas.microsoft.com/office/drawing/2014/main" id="{0EC63CE8-1038-42EE-94F6-1E088FF13443}"/>
                      </a:ext>
                    </a:extLst>
                  </p:cNvPr>
                  <p:cNvCxnSpPr>
                    <a:cxnSpLocks/>
                    <a:stCxn id="25" idx="2"/>
                    <a:endCxn id="24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C9D668D3-8F5A-46C8-92BD-07352CAA96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92231" y="4468069"/>
                <a:ext cx="430266" cy="106242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70C3C136-A066-4EDD-BF67-3C59FB53BB64}"/>
                      </a:ext>
                    </a:extLst>
                  </p:cNvPr>
                  <p:cNvSpPr txBox="1"/>
                  <p:nvPr/>
                </p:nvSpPr>
                <p:spPr>
                  <a:xfrm>
                    <a:off x="5764169" y="1921299"/>
                    <a:ext cx="576747" cy="7129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32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32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70C3C136-A066-4EDD-BF67-3C59FB53BB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4169" y="1921299"/>
                    <a:ext cx="576747" cy="7129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93877B9-0792-41A1-BFA8-8DF13FD1B201}"/>
                      </a:ext>
                    </a:extLst>
                  </p:cNvPr>
                  <p:cNvSpPr txBox="1"/>
                  <p:nvPr/>
                </p:nvSpPr>
                <p:spPr>
                  <a:xfrm>
                    <a:off x="5764169" y="3464320"/>
                    <a:ext cx="442418" cy="7129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32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32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993877B9-0792-41A1-BFA8-8DF13FD1B2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4169" y="3464320"/>
                    <a:ext cx="442418" cy="7129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96B05589-73C9-43B1-9E00-258B68180DD7}"/>
                      </a:ext>
                    </a:extLst>
                  </p:cNvPr>
                  <p:cNvSpPr txBox="1"/>
                  <p:nvPr/>
                </p:nvSpPr>
                <p:spPr>
                  <a:xfrm>
                    <a:off x="5764169" y="4532418"/>
                    <a:ext cx="576747" cy="71296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3200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32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96B05589-73C9-43B1-9E00-258B68180D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4169" y="4532418"/>
                    <a:ext cx="576747" cy="7129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C8E0011-CCE4-4E24-8E27-9A0B45E96E23}"/>
                      </a:ext>
                    </a:extLst>
                  </p:cNvPr>
                  <p:cNvSpPr txBox="1"/>
                  <p:nvPr/>
                </p:nvSpPr>
                <p:spPr>
                  <a:xfrm>
                    <a:off x="2445877" y="4776210"/>
                    <a:ext cx="293468" cy="4010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7C8E0011-CCE4-4E24-8E27-9A0B45E96E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45877" y="4776210"/>
                    <a:ext cx="293468" cy="40104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8421" r="-21053"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B6095C0-71D6-4DD0-8E0A-D6C4777F3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73341" y="4430192"/>
                <a:ext cx="499086" cy="108118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147F7BD-6EE5-4C52-AC6B-4C1D55302897}"/>
                      </a:ext>
                    </a:extLst>
                  </p:cNvPr>
                  <p:cNvSpPr txBox="1"/>
                  <p:nvPr/>
                </p:nvSpPr>
                <p:spPr>
                  <a:xfrm>
                    <a:off x="3663054" y="4776210"/>
                    <a:ext cx="293468" cy="4010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147F7BD-6EE5-4C52-AC6B-4C1D553028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63054" y="4776210"/>
                    <a:ext cx="293468" cy="40104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421" r="-21053"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0DC6DF30-4B41-4B6C-AEDF-ECBC64855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98328" y="4474841"/>
                <a:ext cx="442419" cy="1011135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98A3BC36-47B8-440D-9E81-96FF7CC7571C}"/>
                      </a:ext>
                    </a:extLst>
                  </p:cNvPr>
                  <p:cNvSpPr txBox="1"/>
                  <p:nvPr/>
                </p:nvSpPr>
                <p:spPr>
                  <a:xfrm>
                    <a:off x="4783379" y="4785835"/>
                    <a:ext cx="293468" cy="4010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98A3BC36-47B8-440D-9E81-96FF7CC757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3379" y="4785835"/>
                    <a:ext cx="293468" cy="401043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1053" r="-18421"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732F3303-8638-4165-A0BF-0ED0DDA15C8C}"/>
                  </a:ext>
                </a:extLst>
              </p:cNvPr>
              <p:cNvGrpSpPr/>
              <p:nvPr/>
            </p:nvGrpSpPr>
            <p:grpSpPr>
              <a:xfrm>
                <a:off x="6334903" y="1383736"/>
                <a:ext cx="1250318" cy="4019888"/>
                <a:chOff x="903041" y="1700313"/>
                <a:chExt cx="1250318" cy="4019888"/>
              </a:xfrm>
            </p:grpSpPr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4BFF36B1-8B2A-4D8C-8540-A64EDB3DE3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flipH="1">
                  <a:off x="1244720" y="1700313"/>
                  <a:ext cx="353581" cy="1605146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FA23ADCD-9294-4283-A47A-C3680322E5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27643" y="2247683"/>
                      <a:ext cx="525716" cy="53472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𝒏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400" b="1" dirty="0">
                        <a:cs typeface="+mn-ea"/>
                        <a:sym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FA23ADCD-9294-4283-A47A-C3680322E5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7643" y="2247683"/>
                      <a:ext cx="525716" cy="53472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8955" r="-2985" b="-1147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F2B74903-2A4C-4957-8AAD-2AED58D7894C}"/>
                    </a:ext>
                  </a:extLst>
                </p:cNvPr>
                <p:cNvGrpSpPr/>
                <p:nvPr/>
              </p:nvGrpSpPr>
              <p:grpSpPr>
                <a:xfrm>
                  <a:off x="903041" y="3305459"/>
                  <a:ext cx="1036937" cy="2414742"/>
                  <a:chOff x="903041" y="3305459"/>
                  <a:chExt cx="1036937" cy="2414742"/>
                </a:xfrm>
              </p:grpSpPr>
              <p:pic>
                <p:nvPicPr>
                  <p:cNvPr id="49" name="Picture 48">
                    <a:extLst>
                      <a:ext uri="{FF2B5EF4-FFF2-40B4-BE49-F238E27FC236}">
                        <a16:creationId xmlns:a16="http://schemas.microsoft.com/office/drawing/2014/main" id="{75053BA6-0D37-4F62-9553-3A13C27829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flipH="1">
                    <a:off x="1265291" y="4749326"/>
                    <a:ext cx="312436" cy="970875"/>
                  </a:xfrm>
                  <a:prstGeom prst="rect">
                    <a:avLst/>
                  </a:prstGeom>
                </p:spPr>
              </p:pic>
              <p:sp>
                <p:nvSpPr>
                  <p:cNvPr id="50" name="Rectangle: Rounded Corners 49">
                    <a:extLst>
                      <a:ext uri="{FF2B5EF4-FFF2-40B4-BE49-F238E27FC236}">
                        <a16:creationId xmlns:a16="http://schemas.microsoft.com/office/drawing/2014/main" id="{C53FBBB4-6DFD-41D0-A779-3EB3F72BDF48}"/>
                      </a:ext>
                    </a:extLst>
                  </p:cNvPr>
                  <p:cNvSpPr/>
                  <p:nvPr/>
                </p:nvSpPr>
                <p:spPr>
                  <a:xfrm>
                    <a:off x="903041" y="3862454"/>
                    <a:ext cx="1036937" cy="47750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dirty="0">
                        <a:cs typeface="+mn-ea"/>
                        <a:sym typeface="+mn-lt"/>
                      </a:rPr>
                      <a:t>Dense</a:t>
                    </a:r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51" name="Straight Arrow Connector 50">
                    <a:extLst>
                      <a:ext uri="{FF2B5EF4-FFF2-40B4-BE49-F238E27FC236}">
                        <a16:creationId xmlns:a16="http://schemas.microsoft.com/office/drawing/2014/main" id="{7FED0A3D-F5A1-4F93-95B5-1333C0BD4106}"/>
                      </a:ext>
                    </a:extLst>
                  </p:cNvPr>
                  <p:cNvCxnSpPr>
                    <a:cxnSpLocks/>
                    <a:stCxn id="46" idx="2"/>
                    <a:endCxn id="50" idx="0"/>
                  </p:cNvCxnSpPr>
                  <p:nvPr/>
                </p:nvCxnSpPr>
                <p:spPr>
                  <a:xfrm>
                    <a:off x="1421510" y="3305459"/>
                    <a:ext cx="0" cy="556995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Arrow Connector 51">
                    <a:extLst>
                      <a:ext uri="{FF2B5EF4-FFF2-40B4-BE49-F238E27FC236}">
                        <a16:creationId xmlns:a16="http://schemas.microsoft.com/office/drawing/2014/main" id="{507EF5C5-7201-4249-B743-255E69D77A3E}"/>
                      </a:ext>
                    </a:extLst>
                  </p:cNvPr>
                  <p:cNvCxnSpPr>
                    <a:cxnSpLocks/>
                    <a:stCxn id="50" idx="2"/>
                    <a:endCxn id="49" idx="0"/>
                  </p:cNvCxnSpPr>
                  <p:nvPr/>
                </p:nvCxnSpPr>
                <p:spPr>
                  <a:xfrm flipH="1">
                    <a:off x="1421509" y="4339962"/>
                    <a:ext cx="1" cy="409364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76B33288-1792-4960-9BE3-153FFE5ACC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56754" y="4447937"/>
                <a:ext cx="391716" cy="101113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4AB2C3BC-0231-48CB-9389-55A16B4A8C73}"/>
                      </a:ext>
                    </a:extLst>
                  </p:cNvPr>
                  <p:cNvSpPr txBox="1"/>
                  <p:nvPr/>
                </p:nvSpPr>
                <p:spPr>
                  <a:xfrm>
                    <a:off x="6957014" y="4776210"/>
                    <a:ext cx="293468" cy="4010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+</m:t>
                          </m:r>
                        </m:oMath>
                      </m:oMathPara>
                    </a14:m>
                    <a:endParaRPr lang="zh-CN" altLang="en-US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4AB2C3BC-0231-48CB-9389-55A16B4A8C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57014" y="4776210"/>
                    <a:ext cx="293468" cy="40104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421" r="-21053" b="-888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05ECD7D-1E7F-482C-B88B-DD498F024F7B}"/>
                    </a:ext>
                  </a:extLst>
                </p:cNvPr>
                <p:cNvSpPr txBox="1"/>
                <p:nvPr/>
              </p:nvSpPr>
              <p:spPr>
                <a:xfrm>
                  <a:off x="-3062697" y="6083719"/>
                  <a:ext cx="366836" cy="5347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𝑷</m:t>
                        </m:r>
                      </m:oMath>
                    </m:oMathPara>
                  </a14:m>
                  <a:endParaRPr lang="zh-CN" altLang="en-US" sz="24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05ECD7D-1E7F-482C-B88B-DD498F024F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062697" y="6083719"/>
                  <a:ext cx="366836" cy="534724"/>
                </a:xfrm>
                <a:prstGeom prst="rect">
                  <a:avLst/>
                </a:prstGeom>
                <a:blipFill>
                  <a:blip r:embed="rId18"/>
                  <a:stretch>
                    <a:fillRect l="-22917" r="-20833"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D8B9D9A4-BB18-4229-8839-3DB2C4C3F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2089926" y="4759798"/>
              <a:ext cx="312436" cy="970875"/>
            </a:xfrm>
            <a:prstGeom prst="rect">
              <a:avLst/>
            </a:prstGeom>
          </p:spPr>
        </p:pic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1140296-9859-436B-9186-16B5D22757B5}"/>
                </a:ext>
              </a:extLst>
            </p:cNvPr>
            <p:cNvSpPr/>
            <p:nvPr/>
          </p:nvSpPr>
          <p:spPr>
            <a:xfrm>
              <a:off x="1727676" y="3872926"/>
              <a:ext cx="1036937" cy="47750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Dense</a:t>
              </a:r>
              <a:endParaRPr lang="zh-CN" altLang="en-US" dirty="0">
                <a:cs typeface="+mn-ea"/>
                <a:sym typeface="+mn-lt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9888503-BD82-482D-B2F3-493CFFFC8689}"/>
                </a:ext>
              </a:extLst>
            </p:cNvPr>
            <p:cNvCxnSpPr>
              <a:cxnSpLocks/>
              <a:endCxn id="58" idx="0"/>
            </p:cNvCxnSpPr>
            <p:nvPr/>
          </p:nvCxnSpPr>
          <p:spPr>
            <a:xfrm>
              <a:off x="2246145" y="3315931"/>
              <a:ext cx="0" cy="55699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1BFE3C6-0215-4BD7-A3BB-AEA416DD4315}"/>
                </a:ext>
              </a:extLst>
            </p:cNvPr>
            <p:cNvCxnSpPr>
              <a:cxnSpLocks/>
              <a:stCxn id="58" idx="2"/>
              <a:endCxn id="57" idx="0"/>
            </p:cNvCxnSpPr>
            <p:nvPr/>
          </p:nvCxnSpPr>
          <p:spPr>
            <a:xfrm flipH="1">
              <a:off x="2246144" y="4350434"/>
              <a:ext cx="1" cy="40936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69801248-1F83-42C1-A14A-E0BD8EA6DFB6}"/>
                    </a:ext>
                  </a:extLst>
                </p:cNvPr>
                <p:cNvSpPr/>
                <p:nvPr/>
              </p:nvSpPr>
              <p:spPr>
                <a:xfrm>
                  <a:off x="2360166" y="5046621"/>
                  <a:ext cx="599490" cy="5347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69801248-1F83-42C1-A14A-E0BD8EA6DF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166" y="5046621"/>
                  <a:ext cx="599490" cy="534724"/>
                </a:xfrm>
                <a:prstGeom prst="rect">
                  <a:avLst/>
                </a:prstGeom>
                <a:blipFill>
                  <a:blip r:embed="rId19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335FFC8-F9E8-484D-A66E-40B3FC519560}"/>
                    </a:ext>
                  </a:extLst>
                </p:cNvPr>
                <p:cNvSpPr/>
                <p:nvPr/>
              </p:nvSpPr>
              <p:spPr>
                <a:xfrm>
                  <a:off x="3965718" y="5060569"/>
                  <a:ext cx="599490" cy="5347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3335FFC8-F9E8-484D-A66E-40B3FC5195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5718" y="5060569"/>
                  <a:ext cx="599490" cy="534724"/>
                </a:xfrm>
                <a:prstGeom prst="rect">
                  <a:avLst/>
                </a:prstGeom>
                <a:blipFill>
                  <a:blip r:embed="rId20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89C1F2FA-9782-40A9-B810-120857337DB6}"/>
                    </a:ext>
                  </a:extLst>
                </p:cNvPr>
                <p:cNvSpPr/>
                <p:nvPr/>
              </p:nvSpPr>
              <p:spPr>
                <a:xfrm>
                  <a:off x="5149037" y="5056256"/>
                  <a:ext cx="599490" cy="5347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89C1F2FA-9782-40A9-B810-120857337D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9037" y="5056256"/>
                  <a:ext cx="599490" cy="534724"/>
                </a:xfrm>
                <a:prstGeom prst="rect">
                  <a:avLst/>
                </a:prstGeom>
                <a:blipFill>
                  <a:blip r:embed="rId2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2DD77E3-FC64-401F-83AD-25F73E94D2A6}"/>
                    </a:ext>
                  </a:extLst>
                </p:cNvPr>
                <p:cNvSpPr/>
                <p:nvPr/>
              </p:nvSpPr>
              <p:spPr>
                <a:xfrm>
                  <a:off x="6280084" y="5069165"/>
                  <a:ext cx="599490" cy="5347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2DD77E3-FC64-401F-83AD-25F73E94D2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0084" y="5069165"/>
                  <a:ext cx="599490" cy="534724"/>
                </a:xfrm>
                <a:prstGeom prst="rect">
                  <a:avLst/>
                </a:prstGeom>
                <a:blipFill>
                  <a:blip r:embed="rId22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ECFC5332-6EF2-4A98-B3C6-9D281E77AD18}"/>
                    </a:ext>
                  </a:extLst>
                </p:cNvPr>
                <p:cNvSpPr/>
                <p:nvPr/>
              </p:nvSpPr>
              <p:spPr>
                <a:xfrm>
                  <a:off x="8535362" y="5046621"/>
                  <a:ext cx="609681" cy="53472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ECFC5332-6EF2-4A98-B3C6-9D281E77AD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5362" y="5046621"/>
                  <a:ext cx="609681" cy="53472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4035B9-04B9-478E-9942-0F625A51A8C1}"/>
              </a:ext>
            </a:extLst>
          </p:cNvPr>
          <p:cNvSpPr/>
          <p:nvPr/>
        </p:nvSpPr>
        <p:spPr>
          <a:xfrm>
            <a:off x="4383039" y="4702740"/>
            <a:ext cx="5885905" cy="5663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cs typeface="+mn-ea"/>
                <a:sym typeface="+mn-lt"/>
              </a:rPr>
              <a:t>Transformer Encoder Network</a:t>
            </a:r>
            <a:endParaRPr lang="zh-CN" altLang="en-US" b="1" dirty="0">
              <a:cs typeface="+mn-ea"/>
              <a:sym typeface="+mn-lt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05D890A-F614-4B6E-8F00-B6C02B19895A}"/>
              </a:ext>
            </a:extLst>
          </p:cNvPr>
          <p:cNvCxnSpPr>
            <a:cxnSpLocks/>
          </p:cNvCxnSpPr>
          <p:nvPr/>
        </p:nvCxnSpPr>
        <p:spPr>
          <a:xfrm flipH="1">
            <a:off x="9463019" y="4451210"/>
            <a:ext cx="1" cy="2827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46F4545-CCD3-4387-8CF1-CE00BEA33CDF}"/>
              </a:ext>
            </a:extLst>
          </p:cNvPr>
          <p:cNvCxnSpPr>
            <a:cxnSpLocks/>
          </p:cNvCxnSpPr>
          <p:nvPr/>
        </p:nvCxnSpPr>
        <p:spPr>
          <a:xfrm flipH="1">
            <a:off x="7747213" y="4462753"/>
            <a:ext cx="1" cy="2827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AB157A7-178E-4BE6-9B77-58633C288AE2}"/>
              </a:ext>
            </a:extLst>
          </p:cNvPr>
          <p:cNvCxnSpPr>
            <a:cxnSpLocks/>
          </p:cNvCxnSpPr>
          <p:nvPr/>
        </p:nvCxnSpPr>
        <p:spPr>
          <a:xfrm flipH="1">
            <a:off x="6862889" y="4451876"/>
            <a:ext cx="1" cy="2827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D69CDF8-EF66-4041-B098-C640EFF4D1BA}"/>
              </a:ext>
            </a:extLst>
          </p:cNvPr>
          <p:cNvCxnSpPr>
            <a:cxnSpLocks/>
          </p:cNvCxnSpPr>
          <p:nvPr/>
        </p:nvCxnSpPr>
        <p:spPr>
          <a:xfrm flipH="1">
            <a:off x="5908092" y="4485343"/>
            <a:ext cx="1" cy="2827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7C13AA-0852-41BE-B9A2-D8AE9966F37C}"/>
              </a:ext>
            </a:extLst>
          </p:cNvPr>
          <p:cNvCxnSpPr>
            <a:cxnSpLocks/>
          </p:cNvCxnSpPr>
          <p:nvPr/>
        </p:nvCxnSpPr>
        <p:spPr>
          <a:xfrm flipH="1">
            <a:off x="4811311" y="4511991"/>
            <a:ext cx="1" cy="2827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42D4F2-C4EC-4827-A387-31D1040848AD}"/>
              </a:ext>
            </a:extLst>
          </p:cNvPr>
          <p:cNvGrpSpPr/>
          <p:nvPr/>
        </p:nvGrpSpPr>
        <p:grpSpPr>
          <a:xfrm>
            <a:off x="6526742" y="5306317"/>
            <a:ext cx="749803" cy="1220291"/>
            <a:chOff x="3235090" y="5306317"/>
            <a:chExt cx="749803" cy="122029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D2F082B-1CA6-4B86-AD0E-5A4670EBFE30}"/>
                </a:ext>
              </a:extLst>
            </p:cNvPr>
            <p:cNvGrpSpPr/>
            <p:nvPr/>
          </p:nvGrpSpPr>
          <p:grpSpPr>
            <a:xfrm>
              <a:off x="3235090" y="5306317"/>
              <a:ext cx="342867" cy="1220291"/>
              <a:chOff x="3235090" y="5306317"/>
              <a:chExt cx="342867" cy="1220291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14266218-A3CC-4ADE-B8A7-46EC975BEC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35090" y="5544762"/>
                <a:ext cx="342867" cy="981846"/>
              </a:xfrm>
              <a:prstGeom prst="rect">
                <a:avLst/>
              </a:prstGeom>
            </p:spPr>
          </p:pic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D18509FD-717B-40E8-B2F6-1CCF0229F7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03298" y="5306317"/>
                <a:ext cx="1" cy="2827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419D6327-9597-458E-9CC5-B5FC2A408818}"/>
                    </a:ext>
                  </a:extLst>
                </p:cNvPr>
                <p:cNvSpPr/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419D6327-9597-458E-9CC5-B5FC2A4088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05FA351-0FDF-449D-9B6D-F9E15DEA981C}"/>
              </a:ext>
            </a:extLst>
          </p:cNvPr>
          <p:cNvGrpSpPr/>
          <p:nvPr/>
        </p:nvGrpSpPr>
        <p:grpSpPr>
          <a:xfrm>
            <a:off x="5564143" y="5306317"/>
            <a:ext cx="749803" cy="1220291"/>
            <a:chOff x="3235090" y="5306317"/>
            <a:chExt cx="749803" cy="1220291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507D57C-0F61-4925-A4BD-51DFE57994D3}"/>
                </a:ext>
              </a:extLst>
            </p:cNvPr>
            <p:cNvGrpSpPr/>
            <p:nvPr/>
          </p:nvGrpSpPr>
          <p:grpSpPr>
            <a:xfrm>
              <a:off x="3235090" y="5306317"/>
              <a:ext cx="342867" cy="1220291"/>
              <a:chOff x="3235090" y="5306317"/>
              <a:chExt cx="342867" cy="1220291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534430C6-6CBF-4D2B-ABFE-A13B094AB7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35090" y="5544762"/>
                <a:ext cx="342867" cy="981846"/>
              </a:xfrm>
              <a:prstGeom prst="rect">
                <a:avLst/>
              </a:prstGeom>
            </p:spPr>
          </p:pic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527311D0-6082-4F51-ABE0-8DA60C569D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03298" y="5306317"/>
                <a:ext cx="1" cy="2827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8274831D-726A-4B62-8B36-9E443CB6AEF5}"/>
                    </a:ext>
                  </a:extLst>
                </p:cNvPr>
                <p:cNvSpPr/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8274831D-726A-4B62-8B36-9E443CB6AE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56C572D-E941-4BFF-83BE-58F9884629BB}"/>
              </a:ext>
            </a:extLst>
          </p:cNvPr>
          <p:cNvGrpSpPr/>
          <p:nvPr/>
        </p:nvGrpSpPr>
        <p:grpSpPr>
          <a:xfrm>
            <a:off x="4642074" y="5306317"/>
            <a:ext cx="749804" cy="1220291"/>
            <a:chOff x="3235090" y="5306317"/>
            <a:chExt cx="749804" cy="1220291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F8E476C-591A-4634-8142-7C9FB0D3C86C}"/>
                </a:ext>
              </a:extLst>
            </p:cNvPr>
            <p:cNvGrpSpPr/>
            <p:nvPr/>
          </p:nvGrpSpPr>
          <p:grpSpPr>
            <a:xfrm>
              <a:off x="3235090" y="5306317"/>
              <a:ext cx="342867" cy="1220291"/>
              <a:chOff x="3235090" y="5306317"/>
              <a:chExt cx="342867" cy="1220291"/>
            </a:xfrm>
          </p:grpSpPr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F8775847-5A24-43FA-8074-7E07A7A248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35090" y="5544762"/>
                <a:ext cx="342867" cy="981846"/>
              </a:xfrm>
              <a:prstGeom prst="rect">
                <a:avLst/>
              </a:prstGeom>
            </p:spPr>
          </p:pic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8DE4BC25-ACC0-4621-A595-44CDB83FCD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03298" y="5306317"/>
                <a:ext cx="1" cy="2827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070AE58-DC72-4A72-BE36-80B2A51AD5CE}"/>
                    </a:ext>
                  </a:extLst>
                </p:cNvPr>
                <p:cNvSpPr/>
                <p:nvPr/>
              </p:nvSpPr>
              <p:spPr>
                <a:xfrm>
                  <a:off x="3514957" y="5845701"/>
                  <a:ext cx="46993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1070AE58-DC72-4A72-BE36-80B2A51AD5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957" y="5845701"/>
                  <a:ext cx="4699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3DEDE79-6C3C-49D9-9E6E-27D1297C7223}"/>
              </a:ext>
            </a:extLst>
          </p:cNvPr>
          <p:cNvGrpSpPr/>
          <p:nvPr/>
        </p:nvGrpSpPr>
        <p:grpSpPr>
          <a:xfrm>
            <a:off x="7372311" y="5306317"/>
            <a:ext cx="749803" cy="1220291"/>
            <a:chOff x="3235090" y="5306317"/>
            <a:chExt cx="749803" cy="122029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1F1799C8-8C52-486C-BDB3-1CA83D8BC926}"/>
                </a:ext>
              </a:extLst>
            </p:cNvPr>
            <p:cNvGrpSpPr/>
            <p:nvPr/>
          </p:nvGrpSpPr>
          <p:grpSpPr>
            <a:xfrm>
              <a:off x="3235090" y="5306317"/>
              <a:ext cx="342867" cy="1220291"/>
              <a:chOff x="3235090" y="5306317"/>
              <a:chExt cx="342867" cy="1220291"/>
            </a:xfrm>
          </p:grpSpPr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6D8CAEB6-A665-4A2B-9C47-44243EFA72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35090" y="5544762"/>
                <a:ext cx="342867" cy="981846"/>
              </a:xfrm>
              <a:prstGeom prst="rect">
                <a:avLst/>
              </a:prstGeom>
            </p:spPr>
          </p:pic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7D4A7F83-4524-4333-84D2-89B4361CEE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03298" y="5306317"/>
                <a:ext cx="1" cy="2827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BD625B0-11A9-4EE0-B26E-B64F6A959F03}"/>
                    </a:ext>
                  </a:extLst>
                </p:cNvPr>
                <p:cNvSpPr/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9BD625B0-11A9-4EE0-B26E-B64F6A959F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75CE84B-86DD-47FC-A4C6-EC2D71FEA99C}"/>
              </a:ext>
            </a:extLst>
          </p:cNvPr>
          <p:cNvGrpSpPr/>
          <p:nvPr/>
        </p:nvGrpSpPr>
        <p:grpSpPr>
          <a:xfrm>
            <a:off x="9196998" y="5306317"/>
            <a:ext cx="749803" cy="1220291"/>
            <a:chOff x="3235090" y="5306317"/>
            <a:chExt cx="749803" cy="1220291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B6BCEFD-F749-48B7-B7E9-D61AEF6577C6}"/>
                </a:ext>
              </a:extLst>
            </p:cNvPr>
            <p:cNvGrpSpPr/>
            <p:nvPr/>
          </p:nvGrpSpPr>
          <p:grpSpPr>
            <a:xfrm>
              <a:off x="3235090" y="5306317"/>
              <a:ext cx="342867" cy="1220291"/>
              <a:chOff x="3235090" y="5306317"/>
              <a:chExt cx="342867" cy="1220291"/>
            </a:xfrm>
          </p:grpSpPr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EEF1AE42-7F5B-4D0A-A2CB-BC8F33AEB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35090" y="5544762"/>
                <a:ext cx="342867" cy="981846"/>
              </a:xfrm>
              <a:prstGeom prst="rect">
                <a:avLst/>
              </a:prstGeom>
            </p:spPr>
          </p:pic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F9FDB1-8B36-454B-92F9-5F5F26D23D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03298" y="5306317"/>
                <a:ext cx="1" cy="28274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87D56208-6DA5-4A7E-9F45-8D5885F3DD16}"/>
                    </a:ext>
                  </a:extLst>
                </p:cNvPr>
                <p:cNvSpPr/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87D56208-6DA5-4A7E-9F45-8D5885F3DD1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4957" y="5845701"/>
                  <a:ext cx="469936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CFA3DD7-F5D6-4391-8589-B705D551112F}"/>
                  </a:ext>
                </a:extLst>
              </p:cNvPr>
              <p:cNvSpPr txBox="1"/>
              <p:nvPr/>
            </p:nvSpPr>
            <p:spPr>
              <a:xfrm>
                <a:off x="8534915" y="5788876"/>
                <a:ext cx="45365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⋯</m:t>
                      </m:r>
                    </m:oMath>
                  </m:oMathPara>
                </a14:m>
                <a:endParaRPr lang="zh-CN" altLang="en-US" sz="3200" b="1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CFA3DD7-F5D6-4391-8589-B705D5511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915" y="5788876"/>
                <a:ext cx="453650" cy="49244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0333211-3ADD-4DFD-8B2A-C1B467033781}"/>
              </a:ext>
            </a:extLst>
          </p:cNvPr>
          <p:cNvSpPr/>
          <p:nvPr/>
        </p:nvSpPr>
        <p:spPr>
          <a:xfrm>
            <a:off x="2013789" y="4442195"/>
            <a:ext cx="1783839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7030A0"/>
                </a:solidFill>
                <a:cs typeface="+mn-ea"/>
                <a:sym typeface="+mn-lt"/>
              </a:rPr>
              <a:t>Softmax</a:t>
            </a:r>
          </a:p>
          <a:p>
            <a:pPr algn="ctr"/>
            <a:r>
              <a:rPr lang="en-US" altLang="zh-CN" sz="2400" dirty="0">
                <a:solidFill>
                  <a:srgbClr val="7030A0"/>
                </a:solidFill>
                <a:cs typeface="+mn-ea"/>
                <a:sym typeface="+mn-lt"/>
              </a:rPr>
              <a:t>Classifier</a:t>
            </a:r>
            <a:endParaRPr lang="zh-CN" altLang="en-US" sz="2400" dirty="0">
              <a:solidFill>
                <a:srgbClr val="7030A0"/>
              </a:solidFill>
              <a:cs typeface="+mn-ea"/>
              <a:sym typeface="+mn-lt"/>
            </a:endParaRPr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6FE8B7D4-56F1-467A-95D4-82E75A787D4B}"/>
              </a:ext>
            </a:extLst>
          </p:cNvPr>
          <p:cNvCxnSpPr>
            <a:stCxn id="83" idx="2"/>
            <a:endCxn id="37" idx="3"/>
          </p:cNvCxnSpPr>
          <p:nvPr/>
        </p:nvCxnSpPr>
        <p:spPr>
          <a:xfrm rot="5400000" flipH="1">
            <a:off x="3491961" y="5205062"/>
            <a:ext cx="1627213" cy="1015880"/>
          </a:xfrm>
          <a:prstGeom prst="curvedConnector4">
            <a:avLst>
              <a:gd name="adj1" fmla="val -14049"/>
              <a:gd name="adj2" fmla="val 58438"/>
            </a:avLst>
          </a:prstGeom>
          <a:ln w="5715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6C834E5E-223B-42F2-AB76-D59894FB869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72528" y="3549240"/>
            <a:ext cx="415050" cy="2703337"/>
          </a:xfrm>
          <a:prstGeom prst="rect">
            <a:avLst/>
          </a:prstGeom>
        </p:spPr>
      </p:pic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370926B-81E8-486F-9001-C3B5B603E5E3}"/>
              </a:ext>
            </a:extLst>
          </p:cNvPr>
          <p:cNvCxnSpPr>
            <a:stCxn id="37" idx="1"/>
            <a:endCxn id="44" idx="3"/>
          </p:cNvCxnSpPr>
          <p:nvPr/>
        </p:nvCxnSpPr>
        <p:spPr>
          <a:xfrm flipH="1">
            <a:off x="1487578" y="4899395"/>
            <a:ext cx="526211" cy="151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6CD12C1-1171-4893-99F6-30ED09E7F3A0}"/>
                  </a:ext>
                </a:extLst>
              </p:cNvPr>
              <p:cNvSpPr txBox="1"/>
              <p:nvPr/>
            </p:nvSpPr>
            <p:spPr>
              <a:xfrm>
                <a:off x="4430054" y="2425800"/>
                <a:ext cx="65565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[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𝑪𝑳𝑺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]</m:t>
                      </m:r>
                    </m:oMath>
                  </m:oMathPara>
                </a14:m>
                <a:endParaRPr lang="zh-CN" altLang="en-US" sz="2400" b="1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6CD12C1-1171-4893-99F6-30ED09E7F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054" y="2425800"/>
                <a:ext cx="655652" cy="369332"/>
              </a:xfrm>
              <a:prstGeom prst="rect">
                <a:avLst/>
              </a:prstGeom>
              <a:blipFill>
                <a:blip r:embed="rId32"/>
                <a:stretch>
                  <a:fillRect l="-22430" r="-36449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623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AAB15-3919-4F61-AA0C-3B3B1455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ViT</a:t>
            </a:r>
            <a:r>
              <a:rPr lang="en-US" altLang="zh-CN" b="1" dirty="0">
                <a:solidFill>
                  <a:srgbClr val="00B0F0"/>
                </a:solidFill>
              </a:rPr>
              <a:t> (PyTorch Implementation)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1B2C1-20A8-4CC2-902B-F461B7CAA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94BCD-9679-48F0-8326-5CB08A40B292}"/>
              </a:ext>
            </a:extLst>
          </p:cNvPr>
          <p:cNvSpPr/>
          <p:nvPr/>
        </p:nvSpPr>
        <p:spPr>
          <a:xfrm>
            <a:off x="2366514" y="6488668"/>
            <a:ext cx="98254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hlinkClick r:id="rId2"/>
              </a:rPr>
              <a:t>https://uvadlc-notebooks.readthedocs.io/en/latest/tutorial_notebooks/tutorial15/Vision_Transformer.html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7ADAB-047C-454F-A12E-ECFDCE895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1540712"/>
            <a:ext cx="5241093" cy="4792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547A5F-AEB5-4EEF-9641-2595709B8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221" y="1450458"/>
            <a:ext cx="2499825" cy="488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159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D3BE-124A-4BFE-B569-1EAE805F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cs typeface="+mn-ea"/>
                <a:sym typeface="+mn-lt"/>
              </a:rPr>
              <a:t>Image Classification Accuracies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BDA24-7CA3-476C-992F-E513DA9F2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只在</a:t>
            </a:r>
            <a:r>
              <a:rPr lang="en-US" altLang="zh-CN" dirty="0"/>
              <a:t>ImageNet</a:t>
            </a:r>
            <a:r>
              <a:rPr lang="zh-CN" altLang="en-US" dirty="0"/>
              <a:t>数据集上性能不如</a:t>
            </a:r>
            <a:r>
              <a:rPr lang="en-US" altLang="zh-CN" dirty="0"/>
              <a:t>Resnet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更大规模的数据集上性能会提升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比更大的</a:t>
            </a:r>
            <a:r>
              <a:rPr lang="en-US" altLang="zh-CN" dirty="0"/>
              <a:t>CNNs</a:t>
            </a:r>
            <a:r>
              <a:rPr lang="zh-CN" altLang="en-US" dirty="0"/>
              <a:t>模型的性能更优</a:t>
            </a:r>
          </a:p>
        </p:txBody>
      </p:sp>
    </p:spTree>
    <p:extLst>
      <p:ext uri="{BB962C8B-B14F-4D97-AF65-F5344CB8AC3E}">
        <p14:creationId xmlns:p14="http://schemas.microsoft.com/office/powerpoint/2010/main" val="25117961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7141A-37AC-4B06-82B2-292E3EE53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Image Classification Accuracies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9599B-1C23-492D-9A5B-42A684EC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更大规模的数据集上</a:t>
            </a:r>
            <a:r>
              <a:rPr lang="en-US" altLang="zh-CN" dirty="0"/>
              <a:t>ViT</a:t>
            </a:r>
            <a:r>
              <a:rPr lang="zh-CN" altLang="en-US" dirty="0"/>
              <a:t>的性能优于</a:t>
            </a:r>
            <a:r>
              <a:rPr lang="en-US" altLang="zh-CN" dirty="0"/>
              <a:t>ResNet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B1A56-935E-4528-9A1D-2536645D6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115" y="2498255"/>
            <a:ext cx="8021769" cy="399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448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3785-1BFC-42C3-9172-2E90364DB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Object Detection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04A45-6E33-45B0-9F22-F1F8E9E3C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给定一张输入图片，预测一组</a:t>
            </a:r>
            <a:r>
              <a:rPr lang="en-US" altLang="zh-CN" b="1" dirty="0">
                <a:cs typeface="+mn-ea"/>
                <a:sym typeface="+mn-lt"/>
              </a:rPr>
              <a:t>Bounding boxes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E2A52-3170-40E7-A607-E897ED6F9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692" y="2774532"/>
            <a:ext cx="9164616" cy="266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174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A4E8-D6A4-4882-9205-F661A39C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De</a:t>
            </a:r>
            <a:r>
              <a:rPr lang="en-US" altLang="zh-CN" b="1" dirty="0">
                <a:cs typeface="+mn-ea"/>
                <a:sym typeface="+mn-lt"/>
              </a:rPr>
              <a:t>tection 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Tr</a:t>
            </a:r>
            <a:r>
              <a:rPr lang="en-US" altLang="zh-CN" b="1" dirty="0">
                <a:cs typeface="+mn-ea"/>
                <a:sym typeface="+mn-lt"/>
              </a:rPr>
              <a:t>ansformer (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DETR</a:t>
            </a:r>
            <a:r>
              <a:rPr lang="en-US" altLang="zh-CN" b="1" dirty="0">
                <a:cs typeface="+mn-ea"/>
                <a:sym typeface="+mn-lt"/>
              </a:rPr>
              <a:t>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80C8F-20B7-4CBE-85FC-3CD97398C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359443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Set prediction formulation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No geometric priors (NMS, anchors, …)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Fully differentiable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Competitive performance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49DEA-0A35-4930-A4EC-8A943C2A1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176" y="2490743"/>
            <a:ext cx="6689558" cy="233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967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452B5-0319-4D3B-80D7-1220D38B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De</a:t>
            </a:r>
            <a:r>
              <a:rPr lang="en-US" altLang="zh-CN" b="1" dirty="0">
                <a:cs typeface="+mn-ea"/>
                <a:sym typeface="+mn-lt"/>
              </a:rPr>
              <a:t>tection 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Tr</a:t>
            </a:r>
            <a:r>
              <a:rPr lang="en-US" altLang="zh-CN" b="1" dirty="0">
                <a:cs typeface="+mn-ea"/>
                <a:sym typeface="+mn-lt"/>
              </a:rPr>
              <a:t>ansformer (</a:t>
            </a:r>
            <a:r>
              <a:rPr lang="en-US" altLang="zh-CN" b="1" dirty="0">
                <a:solidFill>
                  <a:srgbClr val="00B0F0"/>
                </a:solidFill>
                <a:cs typeface="+mn-ea"/>
                <a:sym typeface="+mn-lt"/>
              </a:rPr>
              <a:t>DETR</a:t>
            </a:r>
            <a:r>
              <a:rPr lang="en-US" altLang="zh-CN" b="1" dirty="0">
                <a:cs typeface="+mn-ea"/>
                <a:sym typeface="+mn-lt"/>
              </a:rPr>
              <a:t>)</a:t>
            </a: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33BC9-6BB8-4E27-AF7A-4F7DAB6E2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524" y="1690688"/>
            <a:ext cx="9434952" cy="485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942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A7E4-7D34-45D3-A119-E67ED9AF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De</a:t>
            </a:r>
            <a:r>
              <a:rPr lang="en-US" altLang="zh-CN" dirty="0">
                <a:cs typeface="+mn-ea"/>
                <a:sym typeface="+mn-lt"/>
              </a:rPr>
              <a:t>tection 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Tr</a:t>
            </a:r>
            <a:r>
              <a:rPr lang="en-US" altLang="zh-CN" dirty="0">
                <a:cs typeface="+mn-ea"/>
                <a:sym typeface="+mn-lt"/>
              </a:rPr>
              <a:t>ansformer (</a:t>
            </a:r>
            <a:r>
              <a:rPr lang="en-US" altLang="zh-CN" dirty="0">
                <a:solidFill>
                  <a:srgbClr val="00B0F0"/>
                </a:solidFill>
                <a:cs typeface="+mn-ea"/>
                <a:sym typeface="+mn-lt"/>
              </a:rPr>
              <a:t>DETR</a:t>
            </a:r>
            <a:r>
              <a:rPr lang="en-US" altLang="zh-CN" dirty="0">
                <a:cs typeface="+mn-ea"/>
                <a:sym typeface="+mn-lt"/>
              </a:rPr>
              <a:t>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85649-3C89-4CFD-B3E1-C337CE63A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2933" cy="4351338"/>
          </a:xfrm>
        </p:spPr>
        <p:txBody>
          <a:bodyPr/>
          <a:lstStyle/>
          <a:p>
            <a:r>
              <a:rPr lang="en-US" altLang="zh-CN" dirty="0"/>
              <a:t>Bipartite matching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Loss function</a:t>
            </a:r>
          </a:p>
          <a:p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617386-214C-4E6A-AF35-8CC39D455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71067"/>
            <a:ext cx="5852784" cy="2968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46ACF5-6E4C-49EF-8E2E-9DC52152F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809" y="2388218"/>
            <a:ext cx="4685714" cy="1114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CDD7F1-1E95-4271-8D21-4F7E11ABA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266" y="4798010"/>
            <a:ext cx="5190067" cy="69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752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ADD3-A13E-4C62-A09A-930299E2D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Experimental Results</a:t>
            </a:r>
            <a:endParaRPr lang="zh-CN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FEF29-7EDE-4C1B-9736-D5F581EBC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438" y="1533079"/>
            <a:ext cx="7619896" cy="513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84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innoaht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1491</Words>
  <Application>Microsoft Office PowerPoint</Application>
  <PresentationFormat>Widescreen</PresentationFormat>
  <Paragraphs>379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宋体</vt:lpstr>
      <vt:lpstr>Arial</vt:lpstr>
      <vt:lpstr>Cambria Math</vt:lpstr>
      <vt:lpstr>Times New Roman</vt:lpstr>
      <vt:lpstr>Office Theme</vt:lpstr>
      <vt:lpstr>16. Attention &amp; Transformer</vt:lpstr>
      <vt:lpstr>提纲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Squeeze-and-Excitation</vt:lpstr>
      <vt:lpstr>Squeeze-and-Excitation</vt:lpstr>
      <vt:lpstr>Squeeze-and-Excitation</vt:lpstr>
      <vt:lpstr>Spatial-wise</vt:lpstr>
      <vt:lpstr>Spatial Transformer Networks</vt:lpstr>
      <vt:lpstr>Spatial Transformer Networks</vt:lpstr>
      <vt:lpstr>STN results</vt:lpstr>
      <vt:lpstr>CBAM: Convolutional Block Attention Module</vt:lpstr>
      <vt:lpstr>CBAM: Convolutional Block Attention Module</vt:lpstr>
      <vt:lpstr>CBAM: Convolutional Block Attention Module</vt:lpstr>
      <vt:lpstr>CBAM: Convolutional Block Attention Module</vt:lpstr>
      <vt:lpstr>CBAM: Convolutional Block Attention Module</vt:lpstr>
      <vt:lpstr>提纲</vt:lpstr>
      <vt:lpstr>Recurrent Neural Network</vt:lpstr>
      <vt:lpstr>Recurrent Neural Network</vt:lpstr>
      <vt:lpstr>Recurrent Neural Networks</vt:lpstr>
      <vt:lpstr>Sequence Learning with One RNN Layer</vt:lpstr>
      <vt:lpstr>Attention is All You Need</vt:lpstr>
      <vt:lpstr>Encoder-Decoder</vt:lpstr>
      <vt:lpstr>Transformer</vt:lpstr>
      <vt:lpstr>Transformer</vt:lpstr>
      <vt:lpstr>Input</vt:lpstr>
      <vt:lpstr>Input</vt:lpstr>
      <vt:lpstr>Single-head self-attention</vt:lpstr>
      <vt:lpstr>Single-head self-attention</vt:lpstr>
      <vt:lpstr>Single-head self-attention</vt:lpstr>
      <vt:lpstr>Single-head self-attention</vt:lpstr>
      <vt:lpstr>Single-head self-attention</vt:lpstr>
      <vt:lpstr>Single-head self-attention</vt:lpstr>
      <vt:lpstr>Single-head self-attention</vt:lpstr>
      <vt:lpstr>Single-head self-attention</vt:lpstr>
      <vt:lpstr>Multi-head self-attention</vt:lpstr>
      <vt:lpstr>Multi-head self-attention</vt:lpstr>
      <vt:lpstr>Multi-head self-attention</vt:lpstr>
      <vt:lpstr>Multi-head self-attention (PyTorch)</vt:lpstr>
      <vt:lpstr>Layer Normalization</vt:lpstr>
      <vt:lpstr>Transformer Encoder</vt:lpstr>
      <vt:lpstr>Vision Transformer (ViT)</vt:lpstr>
      <vt:lpstr>Vision Transformer (ViT)</vt:lpstr>
      <vt:lpstr>Vision Transformer (ViT)</vt:lpstr>
      <vt:lpstr>Vision Transformer (ViT)</vt:lpstr>
      <vt:lpstr>Vision Transformer (ViT)</vt:lpstr>
      <vt:lpstr>Vision Transformer (ViT)</vt:lpstr>
      <vt:lpstr>Vision Transformer (ViT)</vt:lpstr>
      <vt:lpstr>Vision Transformer (ViT)</vt:lpstr>
      <vt:lpstr>Vision Transformer (ViT)</vt:lpstr>
      <vt:lpstr>Vision Transformer (ViT)</vt:lpstr>
      <vt:lpstr>Vision Transformer (ViT)</vt:lpstr>
      <vt:lpstr>Vision Transformer (ViT)</vt:lpstr>
      <vt:lpstr>ViT (PyTorch Implementation)</vt:lpstr>
      <vt:lpstr>Image Classification Accuracies</vt:lpstr>
      <vt:lpstr>Image Classification Accuracies</vt:lpstr>
      <vt:lpstr>Object Detection</vt:lpstr>
      <vt:lpstr>Detection Transformer (DETR)</vt:lpstr>
      <vt:lpstr>Detection Transformer (DETR)</vt:lpstr>
      <vt:lpstr>Detection Transformer (DETR)</vt:lpstr>
      <vt:lpstr>Experimental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16. Attention &amp; Transformer</dc:title>
  <dc:creator>Luo Zhiming</dc:creator>
  <cp:lastModifiedBy>Luo Zhiming</cp:lastModifiedBy>
  <cp:revision>34</cp:revision>
  <dcterms:created xsi:type="dcterms:W3CDTF">2023-05-27T08:18:25Z</dcterms:created>
  <dcterms:modified xsi:type="dcterms:W3CDTF">2023-05-27T15:08:07Z</dcterms:modified>
</cp:coreProperties>
</file>