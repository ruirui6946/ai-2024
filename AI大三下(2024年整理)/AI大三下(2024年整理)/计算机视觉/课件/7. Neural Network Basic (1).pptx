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9" r:id="rId4"/>
    <p:sldId id="258" r:id="rId5"/>
    <p:sldId id="257" r:id="rId6"/>
    <p:sldId id="260" r:id="rId7"/>
    <p:sldId id="261" r:id="rId8"/>
    <p:sldId id="262" r:id="rId9"/>
    <p:sldId id="263" r:id="rId10"/>
    <p:sldId id="270" r:id="rId11"/>
    <p:sldId id="266" r:id="rId12"/>
    <p:sldId id="265" r:id="rId13"/>
    <p:sldId id="272" r:id="rId14"/>
    <p:sldId id="273" r:id="rId15"/>
    <p:sldId id="274" r:id="rId16"/>
    <p:sldId id="287" r:id="rId17"/>
    <p:sldId id="271" r:id="rId18"/>
    <p:sldId id="275" r:id="rId19"/>
    <p:sldId id="276" r:id="rId20"/>
    <p:sldId id="277" r:id="rId21"/>
    <p:sldId id="278" r:id="rId22"/>
    <p:sldId id="267" r:id="rId23"/>
    <p:sldId id="26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69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5" r:id="rId42"/>
    <p:sldId id="297" r:id="rId43"/>
    <p:sldId id="298" r:id="rId44"/>
    <p:sldId id="300" r:id="rId45"/>
    <p:sldId id="302" r:id="rId46"/>
    <p:sldId id="301" r:id="rId47"/>
    <p:sldId id="303" r:id="rId48"/>
    <p:sldId id="305" r:id="rId49"/>
    <p:sldId id="306" r:id="rId50"/>
    <p:sldId id="307" r:id="rId51"/>
    <p:sldId id="308" r:id="rId52"/>
    <p:sldId id="309" r:id="rId53"/>
    <p:sldId id="310" r:id="rId54"/>
    <p:sldId id="304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4D7D-DD8F-494A-BF02-009BB4673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D82CD-D02A-4073-AEFD-ACB593684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8E2EE-EF11-4DF3-A5C3-3AC5F10F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C441B-5D24-4DC3-868C-BF0BE41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82E96-52A5-42A0-B78E-E1DB6CC2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47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C0C7-18E1-4710-908E-4B34D88E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00769-19AF-42CC-A5FA-A4CA3C91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DA09-2F7D-4A88-B2E3-7EB42373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016F-F884-4650-B410-6E959FBD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1B367-EEEE-4096-9CE3-07CE4CC3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9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09EB-63E3-4743-A692-A7699B1B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66329-8256-4D6F-8D21-1F5CCE44F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D0CC7-CE6B-4ADD-8FA8-0FC1F1AE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EBAB2-765B-4400-BB4C-78B3D40E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2C86-404A-4D62-935C-FA4D4C08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50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A50F-41AE-4669-A415-E1E717CD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EA135-CFC7-4F1E-A85B-6202D2885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CD7C3-0140-4C56-A551-C877A1DD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8312D-1549-4FEA-9126-608E3289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D3CCD-4374-490B-8EE9-BAD8C2CB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ADB8C-7A3B-430D-AC7E-2A089210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28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9815-227B-4045-841D-0D400F182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907F8-02BE-4B12-98E4-50636619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87AE0-831F-4887-9B47-0D88E8AA8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024C6-F93B-4419-A455-ADE9217F2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C9E83-2514-46D1-9AC8-63C0F2288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70EED-82B6-40A1-8D19-584A7159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0406A-D95D-46AB-8434-FA2E033E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E853B-0E1A-474E-A1D7-94C7F5CA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01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3283-CB37-4C96-92F7-B4802F59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A3C1D-090A-46B6-813F-ED192FF4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9553A-AC10-47AE-9357-C213AB3A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C296C-8BA6-4F7F-BAD0-F2D54774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24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EFFD6-1330-4E61-8C49-85BDD773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158BC-648B-4560-9024-1DE7122B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14857-27C8-4D1A-A46A-DEDFE302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3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B430-1DDB-4220-8BE8-38E8D674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ECC5-7BA2-494B-A705-ADCB30B69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BD9E9-A1BB-4D61-89AA-CE44EE2DC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3D890-0C6D-48DD-8A93-579A1887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C80B8-406A-4A17-B9E0-5613D317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1EB37-AD7F-4A5C-B68B-F370EFC9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51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D3D03-9D04-4A48-9792-9972DE1A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475A1-7E97-439C-9F22-1DE60E1E9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9B900-BF53-4446-84AF-A38EB05C0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0FEDB-F2E6-41C1-8801-702F9BBE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077E5-B3C0-47AE-96B6-794DBD2D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CAF04-B36A-4A98-A69F-DA0220BC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80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3E2A-31F1-42FB-B4C9-3987E33E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C50D4-0E21-4499-80BA-613ABBBEA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ED1B4-C509-4715-AE38-DEEB20BC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1B5DE-CC35-4B67-8BF7-8561D53D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2BD42-9BD4-442B-ABF9-8FB60744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90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A8A2A-E926-4CCF-AF62-91FD30633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F0EC0-4011-4121-9EEF-8E9DEDCC0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1D5F-B3EC-4333-A9C4-DFE0007A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69196-7C2C-47A0-ACC3-13EACCAA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5FF3D-96CA-41A2-B788-AA87FA55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23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A55F1-BA36-48EE-8A50-384F3B0F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D0A31-0419-4C2D-8EDD-15DAB0610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1EEDD-B4AC-4E66-A946-10501D564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02EA5-FAA3-4AD9-94C7-206FA0D09705}" type="datetimeFigureOut">
              <a:rPr lang="zh-CN" altLang="en-US" smtClean="0"/>
              <a:t>2023-4-7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F5A8-208B-4E59-9963-13329CF3A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56608-7DD8-4E35-BD9E-CDF96995A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4793D-E4CF-4DA9-9E1D-FFC48E476B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49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s://jmlb.github.io/ml/2017/12/26/Calculate_Gradient_Softmax/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51B9-4366-49B6-9D7E-3E9D46929E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7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、人工神经网络基础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C6360-CACA-480F-923B-F507398B8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488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D7AD-6B7A-455D-8A4B-4504A44F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5499-4F3F-4159-9E24-23C37E9A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cs typeface="+mn-ea"/>
                <a:sym typeface="+mn-lt"/>
              </a:rPr>
              <a:t>简介</a:t>
            </a:r>
            <a:endParaRPr lang="en-US" altLang="zh-CN" dirty="0">
              <a:solidFill>
                <a:srgbClr val="0070C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激活函数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损失函数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参数优化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511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EE00-32C2-4A6C-9FA8-769EFAB4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神经网络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4436-C6D1-4F61-A2CB-EA35A393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85934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  <a:cs typeface="+mn-ea"/>
                <a:sym typeface="+mn-lt"/>
              </a:rPr>
              <a:t>神经网络</a:t>
            </a:r>
            <a:r>
              <a:rPr lang="zh-CN" altLang="en-US" dirty="0">
                <a:cs typeface="+mn-ea"/>
                <a:sym typeface="+mn-lt"/>
              </a:rPr>
              <a:t>，也称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人工神经网络 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(ANN) </a:t>
            </a:r>
            <a:r>
              <a:rPr lang="zh-CN" altLang="en-US" dirty="0">
                <a:cs typeface="+mn-ea"/>
                <a:sym typeface="+mn-lt"/>
              </a:rPr>
              <a:t>，是机器学习的子集，并且是深度学习算法的核心。其名称和结构是受人类大脑的启发，模仿了生物神经元信号相互传递的方式。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人工神经网络 </a:t>
            </a:r>
            <a:r>
              <a:rPr lang="en-US" altLang="zh-CN" dirty="0">
                <a:cs typeface="+mn-ea"/>
                <a:sym typeface="+mn-lt"/>
              </a:rPr>
              <a:t>(ANN) </a:t>
            </a:r>
            <a:r>
              <a:rPr lang="zh-CN" altLang="en-US" dirty="0">
                <a:cs typeface="+mn-ea"/>
                <a:sym typeface="+mn-lt"/>
              </a:rPr>
              <a:t>由节点层组成，包含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输入层、隐藏层和输出层</a:t>
            </a:r>
            <a:r>
              <a:rPr lang="zh-CN" altLang="en-US" dirty="0">
                <a:cs typeface="+mn-ea"/>
                <a:sym typeface="+mn-lt"/>
              </a:rPr>
              <a:t>。 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每个节点称为一个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人工神经元</a:t>
            </a:r>
            <a:r>
              <a:rPr lang="zh-CN" altLang="en-US" dirty="0">
                <a:cs typeface="+mn-ea"/>
                <a:sym typeface="+mn-lt"/>
              </a:rPr>
              <a:t>，它们连接到另一个节点，具有相关的权重。</a:t>
            </a:r>
          </a:p>
        </p:txBody>
      </p:sp>
      <p:pic>
        <p:nvPicPr>
          <p:cNvPr id="1026" name="Picture 2" descr="前馈神经网络的输入层、隐藏层和输出层的可视图">
            <a:extLst>
              <a:ext uri="{FF2B5EF4-FFF2-40B4-BE49-F238E27FC236}">
                <a16:creationId xmlns:a16="http://schemas.microsoft.com/office/drawing/2014/main" id="{404EB3BB-B2B8-4700-A49E-FDD6E59DF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86" y="2027297"/>
            <a:ext cx="5185770" cy="368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015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9725-313B-4A92-AAA7-1DE334C6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人工神经元（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Neuron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1DB3-F303-49E8-B8FE-D5D50699B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Shape 78">
            <a:extLst>
              <a:ext uri="{FF2B5EF4-FFF2-40B4-BE49-F238E27FC236}">
                <a16:creationId xmlns:a16="http://schemas.microsoft.com/office/drawing/2014/main" id="{02E43FFA-0699-421A-AB10-BF6B0495272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50" y="2885294"/>
            <a:ext cx="5221777" cy="22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77">
            <a:extLst>
              <a:ext uri="{FF2B5EF4-FFF2-40B4-BE49-F238E27FC236}">
                <a16:creationId xmlns:a16="http://schemas.microsoft.com/office/drawing/2014/main" id="{8A99456F-FF4D-4EAB-BD5B-8E5BD59F161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050" y="2694794"/>
            <a:ext cx="4864615" cy="28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51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A610-EAEA-4DE9-8B97-CE9F36B5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线性分类器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A0146D-23D1-480A-9171-141390B2E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9157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𝑏</m:t>
                      </m:r>
                    </m:oMath>
                  </m:oMathPara>
                </a14:m>
                <a:endParaRPr lang="en-US" altLang="zh-CN" sz="32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solidFill>
                      <a:srgbClr val="00B0F0"/>
                    </a:solidFill>
                    <a:cs typeface="+mn-ea"/>
                    <a:sym typeface="+mn-lt"/>
                  </a:rPr>
                  <a:t>感知机（</a:t>
                </a:r>
                <a:r>
                  <a:rPr lang="en-US" altLang="zh-CN" sz="3200" b="1" dirty="0">
                    <a:solidFill>
                      <a:srgbClr val="00B0F0"/>
                    </a:solidFill>
                    <a:cs typeface="+mn-ea"/>
                    <a:sym typeface="+mn-lt"/>
                  </a:rPr>
                  <a:t>Perception</a:t>
                </a:r>
                <a:r>
                  <a:rPr lang="zh-CN" altLang="en-US" sz="3200" b="1" dirty="0">
                    <a:solidFill>
                      <a:srgbClr val="00B0F0"/>
                    </a:solidFill>
                    <a:cs typeface="+mn-ea"/>
                    <a:sym typeface="+mn-lt"/>
                  </a:rPr>
                  <a:t>）</a:t>
                </a:r>
                <a:endParaRPr lang="en-US" altLang="zh-CN" sz="3200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𝑖𝑓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  </m:t>
                                      </m:r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𝒘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𝒙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𝑏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&gt;0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𝑜𝑡h𝑒𝑟𝑤𝑖𝑠𝑒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               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zh-CN" altLang="en-US" sz="2800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A0146D-23D1-480A-9171-141390B2E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91570" cy="4351338"/>
              </a:xfrm>
              <a:blipFill>
                <a:blip r:embed="rId2"/>
                <a:stretch>
                  <a:fillRect l="-2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4">
            <a:extLst>
              <a:ext uri="{FF2B5EF4-FFF2-40B4-BE49-F238E27FC236}">
                <a16:creationId xmlns:a16="http://schemas.microsoft.com/office/drawing/2014/main" id="{0EB4307D-084D-451C-8254-A36026543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670" y="2062616"/>
            <a:ext cx="4314529" cy="33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9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E257-EA3B-4783-8FB2-AE889DA3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多分类情况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5A4A34-60A0-43E7-B1D8-F1E968352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57850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多个输出神经元，每一个对应一个类别：</a:t>
                </a:r>
                <a:endParaRPr lang="en-US" altLang="zh-CN" b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bSup>
                      <m:r>
                        <a:rPr lang="en-US" altLang="zh-CN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1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矩阵的形式：</a:t>
                </a:r>
                <a:endParaRPr lang="en-US" altLang="zh-CN" b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𝒚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𝑾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𝒃</m:t>
                      </m:r>
                    </m:oMath>
                  </m:oMathPara>
                </a14:m>
                <a:endParaRPr lang="en-US" altLang="zh-CN" b="1" i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𝑾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altLang="zh-CN" b="1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5A4A34-60A0-43E7-B1D8-F1E968352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57850" cy="4351338"/>
              </a:xfrm>
              <a:blipFill>
                <a:blip r:embed="rId2"/>
                <a:stretch>
                  <a:fillRect l="-1940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4600469-FD22-49FE-8D21-F607AFB4F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61" y="2111375"/>
            <a:ext cx="4736957" cy="34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4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D15D-342D-4119-B3DE-BE0AEF925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手写数字识别网络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E272-7AD1-45A4-AB0F-2D17B2344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9FE5-85F3-4C16-B78A-9B7D7F550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15" y="1856963"/>
            <a:ext cx="822857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7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19EF-4933-4E32-BE4D-D84175B9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多层神经网络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5FF82-7DA7-4F7D-991D-B898B9262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96933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中间有一个或者多个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隐含层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每一层对应的参数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cs typeface="+mn-ea"/>
                    <a:sym typeface="+mn-lt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隐含层的输出：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𝒊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5FF82-7DA7-4F7D-991D-B898B9262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96933" cy="4351338"/>
              </a:xfrm>
              <a:blipFill>
                <a:blip r:embed="rId2"/>
                <a:stretch>
                  <a:fillRect l="-2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F7CBEC3-A10F-4EA9-8144-35E3F3CB2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32" y="2355855"/>
            <a:ext cx="4992851" cy="292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5370-428B-4D18-B233-3CB0EA8D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线性可分与线性不可分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5366-6E1F-4226-B35E-163970524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79533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线性分类器：</a:t>
                </a:r>
                <a:endParaRPr lang="en-US" altLang="zh-CN" b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𝑾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𝒃</m:t>
                      </m:r>
                    </m:oMath>
                  </m:oMathPara>
                </a14:m>
                <a:endParaRPr lang="en-US" altLang="zh-CN" b="1" i="1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i="1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可以找到线性分界面能把不同类别的样本没有错误的分开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5366-6E1F-4226-B35E-163970524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79533" cy="4351338"/>
              </a:xfrm>
              <a:blipFill>
                <a:blip r:embed="rId2"/>
                <a:stretch>
                  <a:fillRect l="-1967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FF02DDE-A91B-4BFC-A8AA-7F5DE9DBD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75" y="1977484"/>
            <a:ext cx="4552381" cy="4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5370-428B-4D18-B233-3CB0EA8D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线性可分与线性不可分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5366-6E1F-4226-B35E-163970524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79533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两层全连接层的神经网络：</a:t>
                </a:r>
                <a:endParaRPr lang="en-US" altLang="zh-CN" b="1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𝑇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1" i="1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𝑇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b="1" i="1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endParaRPr lang="en-US" altLang="zh-CN" b="1" i="1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655366-6E1F-4226-B35E-163970524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79533" cy="4351338"/>
              </a:xfrm>
              <a:blipFill>
                <a:blip r:embed="rId2"/>
                <a:stretch>
                  <a:fillRect l="-1967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97C9F8C-7945-4E90-8A60-4E37C4D205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0"/>
          <a:stretch/>
        </p:blipFill>
        <p:spPr>
          <a:xfrm>
            <a:off x="6296771" y="2001294"/>
            <a:ext cx="5827496" cy="40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5F0376-37BD-4686-B985-FF73324CE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086" y="3650983"/>
            <a:ext cx="3412379" cy="296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74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D7AD-6B7A-455D-8A4B-4504A44F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5499-4F3F-4159-9E24-23C37E9A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简介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激活函数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损失函数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参数优化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2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A881-D38C-4B74-BEC3-F3AA5017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常用的激活函数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2DAFD-8C3C-4239-92CF-EBCA50870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2802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通过对每一个神经元采用非线性的激活函数，让神经网络可以表示非线性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Sigmoid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Tanh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ReLU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…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B3FE6-7881-451A-B8F4-68A449088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380" y="4001294"/>
            <a:ext cx="5033136" cy="2108380"/>
          </a:xfrm>
          <a:prstGeom prst="rect">
            <a:avLst/>
          </a:prstGeom>
        </p:spPr>
      </p:pic>
      <p:pic>
        <p:nvPicPr>
          <p:cNvPr id="5" name="Shape 77">
            <a:extLst>
              <a:ext uri="{FF2B5EF4-FFF2-40B4-BE49-F238E27FC236}">
                <a16:creationId xmlns:a16="http://schemas.microsoft.com/office/drawing/2014/main" id="{A29ABDDC-68B3-4A97-8DD9-D22C31B09A5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674" y="1308036"/>
            <a:ext cx="3582525" cy="2120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461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E320-8F03-4B7B-BEC2-BCA1B778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Sigmoid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Shape 128">
            <a:extLst>
              <a:ext uri="{FF2B5EF4-FFF2-40B4-BE49-F238E27FC236}">
                <a16:creationId xmlns:a16="http://schemas.microsoft.com/office/drawing/2014/main" id="{041C27E7-C475-4694-B2F6-F9B42E7BB02D}"/>
              </a:ext>
            </a:extLst>
          </p:cNvPr>
          <p:cNvSpPr txBox="1">
            <a:spLocks/>
          </p:cNvSpPr>
          <p:nvPr/>
        </p:nvSpPr>
        <p:spPr>
          <a:xfrm>
            <a:off x="6433228" y="3429000"/>
            <a:ext cx="5587322" cy="3369261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" sz="2400" b="1" dirty="0">
                <a:solidFill>
                  <a:srgbClr val="0070C0"/>
                </a:solidFill>
                <a:cs typeface="+mn-ea"/>
                <a:sym typeface="+mn-lt"/>
              </a:rPr>
              <a:t>Take a real value and squash it into [0,1]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" sz="2400" b="1" dirty="0">
                <a:solidFill>
                  <a:srgbClr val="FF0000"/>
                </a:solidFill>
                <a:cs typeface="+mn-ea"/>
                <a:sym typeface="+mn-lt"/>
              </a:rPr>
              <a:t>Drawbacks:</a:t>
            </a:r>
          </a:p>
          <a:p>
            <a:pPr marL="457189" indent="-228594">
              <a:lnSpc>
                <a:spcPct val="120000"/>
              </a:lnSpc>
            </a:pPr>
            <a:r>
              <a:rPr lang="en" sz="2400" dirty="0">
                <a:solidFill>
                  <a:srgbClr val="FF0000"/>
                </a:solidFill>
                <a:cs typeface="+mn-ea"/>
                <a:sym typeface="+mn-lt"/>
              </a:rPr>
              <a:t>Saturated and kill gradients</a:t>
            </a:r>
          </a:p>
          <a:p>
            <a:pPr marL="457189" indent="-228594">
              <a:lnSpc>
                <a:spcPct val="120000"/>
              </a:lnSpc>
            </a:pPr>
            <a:r>
              <a:rPr lang="en" sz="2400" dirty="0">
                <a:solidFill>
                  <a:srgbClr val="FF0000"/>
                </a:solidFill>
                <a:cs typeface="+mn-ea"/>
                <a:sym typeface="+mn-lt"/>
              </a:rPr>
              <a:t>Not zero-centered</a:t>
            </a:r>
          </a:p>
          <a:p>
            <a:pPr marL="457189" indent="-228594">
              <a:lnSpc>
                <a:spcPct val="120000"/>
              </a:lnSpc>
            </a:pPr>
            <a:r>
              <a:rPr lang="en" sz="2400" dirty="0">
                <a:solidFill>
                  <a:srgbClr val="FF0000"/>
                </a:solidFill>
                <a:cs typeface="+mn-ea"/>
                <a:sym typeface="+mn-lt"/>
              </a:rPr>
              <a:t>Computation expensive</a:t>
            </a:r>
          </a:p>
        </p:txBody>
      </p:sp>
      <p:pic>
        <p:nvPicPr>
          <p:cNvPr id="10" name="Shape 130">
            <a:extLst>
              <a:ext uri="{FF2B5EF4-FFF2-40B4-BE49-F238E27FC236}">
                <a16:creationId xmlns:a16="http://schemas.microsoft.com/office/drawing/2014/main" id="{EE79DBA0-B162-4C3B-AF9C-09852284BEC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90428" y="799307"/>
            <a:ext cx="3748777" cy="2160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">
                <a:extLst>
                  <a:ext uri="{FF2B5EF4-FFF2-40B4-BE49-F238E27FC236}">
                    <a16:creationId xmlns:a16="http://schemas.microsoft.com/office/drawing/2014/main" id="{4406AB72-4913-4D64-AC28-91E60B495A0B}"/>
                  </a:ext>
                </a:extLst>
              </p:cNvPr>
              <p:cNvSpPr txBox="1"/>
              <p:nvPr/>
            </p:nvSpPr>
            <p:spPr>
              <a:xfrm>
                <a:off x="89578" y="4585592"/>
                <a:ext cx="6343650" cy="6459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𝝈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𝒅𝒙</m:t>
                          </m:r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𝒙</m:t>
                                  </m:r>
                                </m:sup>
                              </m:s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𝝈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∗(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𝟏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𝝈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1" name="文本框 1">
                <a:extLst>
                  <a:ext uri="{FF2B5EF4-FFF2-40B4-BE49-F238E27FC236}">
                    <a16:creationId xmlns:a16="http://schemas.microsoft.com/office/drawing/2014/main" id="{4406AB72-4913-4D64-AC28-91E60B495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8" y="4585592"/>
                <a:ext cx="6343650" cy="6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2">
            <a:extLst>
              <a:ext uri="{FF2B5EF4-FFF2-40B4-BE49-F238E27FC236}">
                <a16:creationId xmlns:a16="http://schemas.microsoft.com/office/drawing/2014/main" id="{03A0080A-DB9E-4697-84DD-0FBECCB1CC51}"/>
              </a:ext>
            </a:extLst>
          </p:cNvPr>
          <p:cNvSpPr txBox="1"/>
          <p:nvPr/>
        </p:nvSpPr>
        <p:spPr>
          <a:xfrm>
            <a:off x="242756" y="3744677"/>
            <a:ext cx="1024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cs typeface="+mn-ea"/>
                <a:sym typeface="+mn-lt"/>
              </a:rPr>
              <a:t>梯度</a:t>
            </a:r>
            <a:r>
              <a:rPr lang="en-US" sz="2800" b="1" dirty="0">
                <a:solidFill>
                  <a:srgbClr val="00B0F0"/>
                </a:solidFill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6823-482B-46EA-931B-909670613F0E}"/>
                  </a:ext>
                </a:extLst>
              </p:cNvPr>
              <p:cNvSpPr txBox="1"/>
              <p:nvPr/>
            </p:nvSpPr>
            <p:spPr>
              <a:xfrm>
                <a:off x="1895213" y="2063293"/>
                <a:ext cx="3170548" cy="1050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𝜎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36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6823-482B-46EA-931B-90967061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213" y="2063293"/>
                <a:ext cx="3170548" cy="10500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39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D947-EF43-47EC-828E-A53CDC95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Tanh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FAC606-A18F-47A7-B2A8-4995D5D0BE9F}"/>
                  </a:ext>
                </a:extLst>
              </p:cNvPr>
              <p:cNvSpPr txBox="1"/>
              <p:nvPr/>
            </p:nvSpPr>
            <p:spPr>
              <a:xfrm>
                <a:off x="838200" y="2034425"/>
                <a:ext cx="5596532" cy="100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−2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−2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32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FAC606-A18F-47A7-B2A8-4995D5D0B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34425"/>
                <a:ext cx="5596532" cy="100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137">
            <a:extLst>
              <a:ext uri="{FF2B5EF4-FFF2-40B4-BE49-F238E27FC236}">
                <a16:creationId xmlns:a16="http://schemas.microsoft.com/office/drawing/2014/main" id="{88FA56B8-6336-4F5D-9646-36423DB5CDA4}"/>
              </a:ext>
            </a:extLst>
          </p:cNvPr>
          <p:cNvSpPr txBox="1">
            <a:spLocks/>
          </p:cNvSpPr>
          <p:nvPr/>
        </p:nvSpPr>
        <p:spPr>
          <a:xfrm>
            <a:off x="838200" y="3600450"/>
            <a:ext cx="6067425" cy="19113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" dirty="0">
                <a:solidFill>
                  <a:srgbClr val="0070C0"/>
                </a:solidFill>
                <a:cs typeface="+mn-ea"/>
                <a:sym typeface="+mn-lt"/>
              </a:rPr>
              <a:t>Squash a real value number to [-1,1]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cs typeface="+mn-ea"/>
                <a:sym typeface="+mn-lt"/>
              </a:rPr>
              <a:t>Z</a:t>
            </a:r>
            <a:r>
              <a:rPr lang="en" dirty="0">
                <a:solidFill>
                  <a:srgbClr val="0070C0"/>
                </a:solidFill>
                <a:cs typeface="+mn-ea"/>
                <a:sym typeface="+mn-lt"/>
              </a:rPr>
              <a:t>ero-centered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K</a:t>
            </a:r>
            <a:r>
              <a:rPr lang="en" dirty="0">
                <a:solidFill>
                  <a:srgbClr val="FF0000"/>
                </a:solidFill>
                <a:cs typeface="+mn-ea"/>
                <a:sym typeface="+mn-lt"/>
              </a:rPr>
              <a:t>ill gradients</a:t>
            </a:r>
          </a:p>
        </p:txBody>
      </p:sp>
      <p:pic>
        <p:nvPicPr>
          <p:cNvPr id="6" name="Shape 139">
            <a:extLst>
              <a:ext uri="{FF2B5EF4-FFF2-40B4-BE49-F238E27FC236}">
                <a16:creationId xmlns:a16="http://schemas.microsoft.com/office/drawing/2014/main" id="{EA9233B2-BB7E-4A20-B396-CD5340053B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5954" y="2856456"/>
            <a:ext cx="4652646" cy="3088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0439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4746-D650-4850-9D3A-8C6B0738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ReLU (Rectified Linear Unit)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Shape 146">
            <a:extLst>
              <a:ext uri="{FF2B5EF4-FFF2-40B4-BE49-F238E27FC236}">
                <a16:creationId xmlns:a16="http://schemas.microsoft.com/office/drawing/2014/main" id="{3367A569-B852-4B90-BB96-3D5BDB930979}"/>
              </a:ext>
            </a:extLst>
          </p:cNvPr>
          <p:cNvSpPr txBox="1">
            <a:spLocks/>
          </p:cNvSpPr>
          <p:nvPr/>
        </p:nvSpPr>
        <p:spPr>
          <a:xfrm>
            <a:off x="965463" y="3731558"/>
            <a:ext cx="5607301" cy="24000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228594">
              <a:lnSpc>
                <a:spcPct val="150000"/>
              </a:lnSpc>
            </a:pPr>
            <a:r>
              <a:rPr lang="en" dirty="0">
                <a:solidFill>
                  <a:srgbClr val="0070C0"/>
                </a:solidFill>
                <a:cs typeface="+mn-ea"/>
                <a:sym typeface="+mn-lt"/>
              </a:rPr>
              <a:t>Simple computation</a:t>
            </a:r>
          </a:p>
          <a:p>
            <a:pPr marL="457189" indent="-228594">
              <a:lnSpc>
                <a:spcPct val="150000"/>
              </a:lnSpc>
            </a:pPr>
            <a:r>
              <a:rPr lang="en" dirty="0">
                <a:solidFill>
                  <a:srgbClr val="0070C0"/>
                </a:solidFill>
                <a:cs typeface="+mn-ea"/>
                <a:sym typeface="+mn-lt"/>
              </a:rPr>
              <a:t>Accelerate convergence speed</a:t>
            </a:r>
          </a:p>
        </p:txBody>
      </p:sp>
      <p:pic>
        <p:nvPicPr>
          <p:cNvPr id="5" name="Shape 148">
            <a:extLst>
              <a:ext uri="{FF2B5EF4-FFF2-40B4-BE49-F238E27FC236}">
                <a16:creationId xmlns:a16="http://schemas.microsoft.com/office/drawing/2014/main" id="{1AEE34CF-4D55-4F36-B4AC-DD4DB0F8DFE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68188" y="1756224"/>
            <a:ext cx="2920676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1">
            <a:extLst>
              <a:ext uri="{FF2B5EF4-FFF2-40B4-BE49-F238E27FC236}">
                <a16:creationId xmlns:a16="http://schemas.microsoft.com/office/drawing/2014/main" id="{478AF09C-7967-4DEA-B1BA-8BEFCEAAE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201" y="4151900"/>
            <a:ext cx="3346097" cy="2160000"/>
          </a:xfrm>
          <a:prstGeom prst="rect">
            <a:avLst/>
          </a:prstGeom>
        </p:spPr>
      </p:pic>
      <p:sp>
        <p:nvSpPr>
          <p:cNvPr id="7" name="文本框 2">
            <a:extLst>
              <a:ext uri="{FF2B5EF4-FFF2-40B4-BE49-F238E27FC236}">
                <a16:creationId xmlns:a16="http://schemas.microsoft.com/office/drawing/2014/main" id="{38457173-CC5D-4123-9279-3E49533BACD4}"/>
              </a:ext>
            </a:extLst>
          </p:cNvPr>
          <p:cNvSpPr txBox="1"/>
          <p:nvPr/>
        </p:nvSpPr>
        <p:spPr>
          <a:xfrm>
            <a:off x="8169964" y="373155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cs typeface="+mn-ea"/>
                <a:sym typeface="+mn-lt"/>
              </a:rPr>
              <a:t>ReLU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712D2F86-2640-4A03-A3A1-021DE5CC9E16}"/>
              </a:ext>
            </a:extLst>
          </p:cNvPr>
          <p:cNvSpPr txBox="1"/>
          <p:nvPr/>
        </p:nvSpPr>
        <p:spPr>
          <a:xfrm>
            <a:off x="7836670" y="61782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cs typeface="+mn-ea"/>
                <a:sym typeface="+mn-lt"/>
              </a:rPr>
              <a:t>Leaky 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CA9F35-C0A7-4A8B-99CA-659C3699B37B}"/>
                  </a:ext>
                </a:extLst>
              </p:cNvPr>
              <p:cNvSpPr txBox="1"/>
              <p:nvPr/>
            </p:nvSpPr>
            <p:spPr>
              <a:xfrm>
                <a:off x="1773535" y="2434124"/>
                <a:ext cx="432246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600" b="0" i="0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ReLU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600" b="0" i="0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max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(0, 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CA9F35-C0A7-4A8B-99CA-659C3699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35" y="2434124"/>
                <a:ext cx="432246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365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145B-19F7-4BDB-89F7-670093D2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常见激活函数及其导数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21250B-EB62-4B2E-BEE0-CA3357749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646" y="1825625"/>
            <a:ext cx="9870707" cy="444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07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9923-5C12-4446-89A8-7150D277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网络结构设计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0C32-A9A0-4286-99B7-EF508D9D9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用不用隐层，用一个还是用几个隐层？（深度设计）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每个隐层设置多少个神经元比较合适？（宽度设计）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24D8B-D5DC-4A9A-B3B3-420446791CD9}"/>
              </a:ext>
            </a:extLst>
          </p:cNvPr>
          <p:cNvSpPr txBox="1"/>
          <p:nvPr/>
        </p:nvSpPr>
        <p:spPr>
          <a:xfrm>
            <a:off x="4150595" y="4001294"/>
            <a:ext cx="3890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cs typeface="+mn-ea"/>
                <a:sym typeface="+mn-lt"/>
              </a:rPr>
              <a:t>没有统一的答案！</a:t>
            </a:r>
          </a:p>
        </p:txBody>
      </p:sp>
    </p:spTree>
    <p:extLst>
      <p:ext uri="{BB962C8B-B14F-4D97-AF65-F5344CB8AC3E}">
        <p14:creationId xmlns:p14="http://schemas.microsoft.com/office/powerpoint/2010/main" val="26167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9923-5C12-4446-89A8-7150D277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网络结构设计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0C32-A9A0-4286-99B7-EF508D9D9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9831"/>
            <a:ext cx="10515600" cy="54713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结论：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神经元个数越多，分界面就可以越复杂，在这个集合上的分类能力就越强。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2AE70-A9CF-4EE2-8B64-D958F5FA4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7" t="5592" r="3046"/>
          <a:stretch/>
        </p:blipFill>
        <p:spPr>
          <a:xfrm>
            <a:off x="1628775" y="1762124"/>
            <a:ext cx="8934450" cy="359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C10B-2E2F-4B78-8679-1648EE53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网络结构设计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85663-D074-48ED-87F2-501194890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cs typeface="+mn-ea"/>
                <a:sym typeface="+mn-lt"/>
              </a:rPr>
              <a:t>依据分类任务的难易程度来调整神经网络模型的复杂程度。分类任务越难，设计的神经网络结构就应该</a:t>
            </a:r>
            <a:r>
              <a:rPr lang="zh-CN" altLang="en-US" sz="3200" dirty="0">
                <a:solidFill>
                  <a:srgbClr val="00B0F0"/>
                </a:solidFill>
                <a:cs typeface="+mn-ea"/>
                <a:sym typeface="+mn-lt"/>
              </a:rPr>
              <a:t>越深、越宽</a:t>
            </a:r>
            <a:r>
              <a:rPr lang="zh-CN" altLang="en-US" sz="3200" dirty="0">
                <a:cs typeface="+mn-ea"/>
                <a:sym typeface="+mn-lt"/>
              </a:rPr>
              <a:t>。但是，需要注意的是对训练集分类精度最高的全连接神经网络模型，在真实场景下识别性能未必是最好的</a:t>
            </a:r>
            <a:r>
              <a:rPr lang="zh-CN" altLang="en-US" sz="3200" b="1" dirty="0">
                <a:solidFill>
                  <a:srgbClr val="FF0000"/>
                </a:solidFill>
                <a:cs typeface="+mn-ea"/>
                <a:sym typeface="+mn-lt"/>
              </a:rPr>
              <a:t>（过拟合）</a:t>
            </a:r>
            <a:r>
              <a:rPr lang="zh-CN" altLang="en-US" sz="3200" dirty="0">
                <a:cs typeface="+mn-ea"/>
                <a:sym typeface="+mn-lt"/>
              </a:rPr>
              <a:t> 。</a:t>
            </a:r>
          </a:p>
        </p:txBody>
      </p:sp>
    </p:spTree>
    <p:extLst>
      <p:ext uri="{BB962C8B-B14F-4D97-AF65-F5344CB8AC3E}">
        <p14:creationId xmlns:p14="http://schemas.microsoft.com/office/powerpoint/2010/main" val="3284211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0582-B2AE-4062-9F26-91BF7A52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全连接神经网络命名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554B-EBE3-4D5E-A4C3-3664B17E8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04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B0F0"/>
                </a:solidFill>
                <a:cs typeface="+mn-ea"/>
                <a:sym typeface="+mn-lt"/>
              </a:rPr>
              <a:t>N</a:t>
            </a:r>
            <a:r>
              <a:rPr lang="zh-CN" altLang="en-US" sz="3600" b="1" dirty="0">
                <a:solidFill>
                  <a:srgbClr val="00B0F0"/>
                </a:solidFill>
                <a:cs typeface="+mn-ea"/>
                <a:sym typeface="+mn-lt"/>
              </a:rPr>
              <a:t>层神经网络</a:t>
            </a:r>
            <a:endParaRPr lang="en-US" altLang="zh-CN" sz="3600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2800" dirty="0">
                <a:cs typeface="+mn-ea"/>
                <a:sym typeface="+mn-lt"/>
              </a:rPr>
              <a:t> </a:t>
            </a:r>
            <a:r>
              <a:rPr lang="zh-CN" altLang="en-US" sz="2800" dirty="0">
                <a:cs typeface="+mn-ea"/>
                <a:sym typeface="+mn-lt"/>
              </a:rPr>
              <a:t>除输入层之外其他层的数量</a:t>
            </a:r>
            <a:endParaRPr lang="en-US" altLang="zh-CN" sz="2800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dirty="0">
                <a:cs typeface="+mn-ea"/>
                <a:sym typeface="+mn-lt"/>
              </a:rPr>
              <a:t>多少个参数层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3AD71-0441-4AEF-A484-C02F88320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17" y="2156647"/>
            <a:ext cx="5060950" cy="34183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2D1EF8-63D8-411F-BD28-C356CCD04853}"/>
              </a:ext>
            </a:extLst>
          </p:cNvPr>
          <p:cNvSpPr/>
          <p:nvPr/>
        </p:nvSpPr>
        <p:spPr>
          <a:xfrm>
            <a:off x="8587270" y="5807631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cs typeface="+mn-ea"/>
                <a:sym typeface="+mn-lt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cs typeface="+mn-ea"/>
                <a:sym typeface="+mn-lt"/>
              </a:rPr>
              <a:t>层神经网络</a:t>
            </a:r>
            <a:endParaRPr lang="zh-CN" altLang="en-US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389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6DD9-0E85-4256-A545-2CE0ACE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F353-0FB0-438F-B48A-AD6F4F99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全连接神经网络组成：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一个输入层、一个输出层及多个隐层；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输入层与输出层的神经元个数由任务决定，而隐层数量以及每个隐层的神经元个数需要人为指定；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激活函数是全连接神经网络中的一个重要部分，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缺少了激活函数，全连接神经网络将退化为线性分类器。</a:t>
            </a:r>
          </a:p>
        </p:txBody>
      </p:sp>
    </p:spTree>
    <p:extLst>
      <p:ext uri="{BB962C8B-B14F-4D97-AF65-F5344CB8AC3E}">
        <p14:creationId xmlns:p14="http://schemas.microsoft.com/office/powerpoint/2010/main" val="241334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D7AD-6B7A-455D-8A4B-4504A44F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5499-4F3F-4159-9E24-23C37E9A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简介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激活函数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损失函数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参数优化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949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19DA-2372-4606-98F6-F31B0061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Softmax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E7F03-E01B-429C-BCC0-848A682602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4749800" cy="4351338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将输出转换成归一化之后的概率形式。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E7F03-E01B-429C-BCC0-848A68260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4749800" cy="4351338"/>
              </a:xfrm>
              <a:blipFill>
                <a:blip r:embed="rId2"/>
                <a:stretch>
                  <a:fillRect l="-2311" r="-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001CDED-C9BD-489E-9FA7-FAAF86B4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35" y="2297237"/>
            <a:ext cx="5433483" cy="313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4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3A4F-7D37-4E99-8CB3-619BDA15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Softmax</a:t>
            </a:r>
            <a:r>
              <a:rPr lang="zh-CN" altLang="en-US" b="1" dirty="0">
                <a:cs typeface="+mn-ea"/>
                <a:sym typeface="+mn-lt"/>
              </a:rPr>
              <a:t>函数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EF40-BDD5-4D5F-84CC-7BB472464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示例：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51600-C710-4EAB-9B33-3CE69E4F0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1708"/>
            <a:ext cx="2124075" cy="1924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8D4378-05F2-4511-AA7A-84DDE73C9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46" y="2668448"/>
            <a:ext cx="2851150" cy="19257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BCB42E-7D8D-4D50-AC44-652983B326C7}"/>
              </a:ext>
            </a:extLst>
          </p:cNvPr>
          <p:cNvCxnSpPr>
            <a:cxnSpLocks/>
          </p:cNvCxnSpPr>
          <p:nvPr/>
        </p:nvCxnSpPr>
        <p:spPr>
          <a:xfrm>
            <a:off x="2860671" y="3683002"/>
            <a:ext cx="714376" cy="7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336067-B4C2-418D-8764-47512C4ED38D}"/>
                  </a:ext>
                </a:extLst>
              </p:cNvPr>
              <p:cNvSpPr txBox="1"/>
              <p:nvPr/>
            </p:nvSpPr>
            <p:spPr>
              <a:xfrm>
                <a:off x="6413498" y="3120899"/>
                <a:ext cx="1115242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−2.3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1.9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336067-B4C2-418D-8764-47512C4ED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498" y="3120899"/>
                <a:ext cx="1115242" cy="1139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CDFA9A-B717-4451-A2F8-834B312AE286}"/>
                  </a:ext>
                </a:extLst>
              </p:cNvPr>
              <p:cNvSpPr txBox="1"/>
              <p:nvPr/>
            </p:nvSpPr>
            <p:spPr>
              <a:xfrm>
                <a:off x="8149406" y="3113295"/>
                <a:ext cx="1046312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1.81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6.69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CDFA9A-B717-4451-A2F8-834B312AE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406" y="3113295"/>
                <a:ext cx="1046312" cy="1139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391B57-B757-4EB6-BA31-907DE5A20114}"/>
                  </a:ext>
                </a:extLst>
              </p:cNvPr>
              <p:cNvSpPr txBox="1"/>
              <p:nvPr/>
            </p:nvSpPr>
            <p:spPr>
              <a:xfrm>
                <a:off x="9775010" y="3113295"/>
                <a:ext cx="1046312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0.01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391B57-B757-4EB6-BA31-907DE5A20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010" y="3113295"/>
                <a:ext cx="1046312" cy="113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3BD2DE-EF7E-48A6-BAD7-E8125F8A7179}"/>
              </a:ext>
            </a:extLst>
          </p:cNvPr>
          <p:cNvCxnSpPr>
            <a:cxnSpLocks/>
          </p:cNvCxnSpPr>
          <p:nvPr/>
        </p:nvCxnSpPr>
        <p:spPr>
          <a:xfrm>
            <a:off x="7483955" y="3690606"/>
            <a:ext cx="714376" cy="7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5309BA-367C-4184-BDC7-12B3944CADA4}"/>
              </a:ext>
            </a:extLst>
          </p:cNvPr>
          <p:cNvCxnSpPr>
            <a:cxnSpLocks/>
          </p:cNvCxnSpPr>
          <p:nvPr/>
        </p:nvCxnSpPr>
        <p:spPr>
          <a:xfrm>
            <a:off x="9130961" y="3698210"/>
            <a:ext cx="714376" cy="76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AD50EB-A178-4121-A45F-C23F540BBFEF}"/>
              </a:ext>
            </a:extLst>
          </p:cNvPr>
          <p:cNvSpPr txBox="1"/>
          <p:nvPr/>
        </p:nvSpPr>
        <p:spPr>
          <a:xfrm>
            <a:off x="10821322" y="3076918"/>
            <a:ext cx="7312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Bird</a:t>
            </a:r>
          </a:p>
          <a:p>
            <a:r>
              <a:rPr lang="en-US" altLang="zh-CN" sz="2400" dirty="0"/>
              <a:t>Cat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Car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AEC725-41E3-407F-9AC4-E76D0DDA283E}"/>
                  </a:ext>
                </a:extLst>
              </p:cNvPr>
              <p:cNvSpPr txBox="1"/>
              <p:nvPr/>
            </p:nvSpPr>
            <p:spPr>
              <a:xfrm>
                <a:off x="8397583" y="2535544"/>
                <a:ext cx="549958" cy="442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AEC725-41E3-407F-9AC4-E76D0DDA2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583" y="2535544"/>
                <a:ext cx="549958" cy="442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1EB0B5-9C49-451F-9C56-1AE33898FC7B}"/>
                  </a:ext>
                </a:extLst>
              </p:cNvPr>
              <p:cNvSpPr txBox="1"/>
              <p:nvPr/>
            </p:nvSpPr>
            <p:spPr>
              <a:xfrm>
                <a:off x="10016903" y="2282765"/>
                <a:ext cx="562525" cy="771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1EB0B5-9C49-451F-9C56-1AE33898F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6903" y="2282765"/>
                <a:ext cx="562525" cy="7713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3549616C-24D8-42BB-891C-19D9E7823E87}"/>
              </a:ext>
            </a:extLst>
          </p:cNvPr>
          <p:cNvSpPr/>
          <p:nvPr/>
        </p:nvSpPr>
        <p:spPr>
          <a:xfrm>
            <a:off x="8848390" y="4753170"/>
            <a:ext cx="1279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cs typeface="+mn-ea"/>
                <a:sym typeface="+mn-lt"/>
              </a:rPr>
              <a:t>Softmax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624E0E-D5A2-4F57-A4D3-EDA8983D078B}"/>
              </a:ext>
            </a:extLst>
          </p:cNvPr>
          <p:cNvSpPr/>
          <p:nvPr/>
        </p:nvSpPr>
        <p:spPr>
          <a:xfrm>
            <a:off x="6663398" y="4294179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分数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43F5A5-23FB-4706-A5E2-89892669CD89}"/>
              </a:ext>
            </a:extLst>
          </p:cNvPr>
          <p:cNvSpPr/>
          <p:nvPr/>
        </p:nvSpPr>
        <p:spPr>
          <a:xfrm>
            <a:off x="9973396" y="4294179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概率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65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74B7-C845-4906-B6E0-EED2E4C8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 </a:t>
            </a:r>
            <a:r>
              <a:rPr lang="en-US" altLang="zh-CN" b="1" dirty="0"/>
              <a:t>(Cross-Entropy)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41ED-9E77-433C-BF29-999CC81AB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如何度量模型的</a:t>
            </a:r>
            <a:r>
              <a:rPr lang="zh-CN" altLang="en-US" b="1" dirty="0">
                <a:solidFill>
                  <a:srgbClr val="00B050"/>
                </a:solidFill>
              </a:rPr>
              <a:t>分类输出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rgbClr val="0070C0"/>
                </a:solidFill>
              </a:rPr>
              <a:t>真实标签</a:t>
            </a:r>
            <a:r>
              <a:rPr lang="zh-CN" altLang="en-US" b="1" dirty="0"/>
              <a:t>之间的距离？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C429D7-CA61-4928-9B6B-2CE42A59AC4E}"/>
              </a:ext>
            </a:extLst>
          </p:cNvPr>
          <p:cNvGrpSpPr/>
          <p:nvPr/>
        </p:nvGrpSpPr>
        <p:grpSpPr>
          <a:xfrm>
            <a:off x="3643788" y="2913504"/>
            <a:ext cx="5297569" cy="2060512"/>
            <a:chOff x="3804654" y="2981237"/>
            <a:chExt cx="5297569" cy="2060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/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0.21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0.78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/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0EEBFD-F1FA-46BB-94E0-AB1BB1DDA15E}"/>
                </a:ext>
              </a:extLst>
            </p:cNvPr>
            <p:cNvSpPr txBox="1"/>
            <p:nvPr/>
          </p:nvSpPr>
          <p:spPr>
            <a:xfrm>
              <a:off x="8188190" y="2981237"/>
              <a:ext cx="91403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/>
                <a:t>Bird</a:t>
              </a:r>
            </a:p>
            <a:p>
              <a:r>
                <a:rPr lang="en-US" altLang="zh-CN" sz="3200" dirty="0"/>
                <a:t>Cat</a:t>
              </a:r>
            </a:p>
            <a:p>
              <a:r>
                <a:rPr lang="en-US" altLang="zh-CN" sz="3200" dirty="0">
                  <a:solidFill>
                    <a:srgbClr val="FF0000"/>
                  </a:solidFill>
                </a:rPr>
                <a:t>Car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1B1CE8D-0630-49CA-B0F7-5B588FF13C9B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5461505" y="3744203"/>
              <a:ext cx="1370877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/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B050"/>
                      </a:solidFill>
                    </a:rPr>
                    <a:t>模型预测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76" t="-14474" r="-2388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/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70C0"/>
                      </a:solidFill>
                    </a:rPr>
                    <a:t>真实标签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464" t="-14474" r="-2679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834E14-93CE-403B-9F0D-B26E75C27BB2}"/>
                </a:ext>
              </a:extLst>
            </p:cNvPr>
            <p:cNvSpPr/>
            <p:nvPr/>
          </p:nvSpPr>
          <p:spPr>
            <a:xfrm>
              <a:off x="5745584" y="3105357"/>
              <a:ext cx="906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</a:rPr>
                <a:t>度量</a:t>
              </a:r>
              <a:endParaRPr lang="zh-CN" altLang="en-US" sz="28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05F22A5-05E9-4AA8-B239-E963B95DF1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277"/>
          <a:stretch/>
        </p:blipFill>
        <p:spPr>
          <a:xfrm>
            <a:off x="1128704" y="2869571"/>
            <a:ext cx="19482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53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A21D-6D56-4099-9539-F5C64863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 </a:t>
            </a:r>
            <a:r>
              <a:rPr lang="en-US" altLang="zh-CN" b="1" dirty="0"/>
              <a:t>(Cross-Entropy)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33F36-D633-4B03-A7F2-37306204F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熵：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交叉熵：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相对熵：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33F36-D633-4B03-A7F2-37306204F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A9F12E3-952B-47AE-B310-30857CC266F9}"/>
                  </a:ext>
                </a:extLst>
              </p:cNvPr>
              <p:cNvSpPr/>
              <p:nvPr/>
            </p:nvSpPr>
            <p:spPr>
              <a:xfrm>
                <a:off x="3042949" y="5227766"/>
                <a:ext cx="44400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A9F12E3-952B-47AE-B310-30857CC266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49" y="5227766"/>
                <a:ext cx="44400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087B4D4-D5B9-4A7D-895B-84CCC734B8E6}"/>
              </a:ext>
            </a:extLst>
          </p:cNvPr>
          <p:cNvSpPr/>
          <p:nvPr/>
        </p:nvSpPr>
        <p:spPr>
          <a:xfrm>
            <a:off x="7062885" y="1766358"/>
            <a:ext cx="4858061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相对熵也叫</a:t>
            </a:r>
            <a:r>
              <a:rPr lang="en-US" altLang="zh-CN" sz="2400" dirty="0"/>
              <a:t>KL</a:t>
            </a:r>
            <a:r>
              <a:rPr lang="zh-CN" altLang="en-US" sz="2400" dirty="0"/>
              <a:t>散度</a:t>
            </a:r>
            <a:r>
              <a:rPr lang="en-US" altLang="zh-CN" sz="2400" dirty="0"/>
              <a:t>(KL divergence);</a:t>
            </a:r>
          </a:p>
          <a:p>
            <a:r>
              <a:rPr lang="zh-CN" altLang="en-US" sz="2400" dirty="0"/>
              <a:t>用来度量两个分布之间的不相似性</a:t>
            </a:r>
          </a:p>
        </p:txBody>
      </p:sp>
    </p:spTree>
    <p:extLst>
      <p:ext uri="{BB962C8B-B14F-4D97-AF65-F5344CB8AC3E}">
        <p14:creationId xmlns:p14="http://schemas.microsoft.com/office/powerpoint/2010/main" val="340667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74B7-C845-4906-B6E0-EED2E4C8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 </a:t>
            </a:r>
            <a:r>
              <a:rPr lang="en-US" altLang="zh-CN" b="1" dirty="0"/>
              <a:t>(Cross-Entropy)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41ED-9E77-433C-BF29-999CC81AB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如何度量模型的</a:t>
            </a:r>
            <a:r>
              <a:rPr lang="zh-CN" altLang="en-US" b="1" dirty="0">
                <a:solidFill>
                  <a:srgbClr val="00B050"/>
                </a:solidFill>
              </a:rPr>
              <a:t>分类输出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rgbClr val="0070C0"/>
                </a:solidFill>
              </a:rPr>
              <a:t>真实标签</a:t>
            </a:r>
            <a:r>
              <a:rPr lang="zh-CN" altLang="en-US" b="1" dirty="0"/>
              <a:t>之间的距离？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C429D7-CA61-4928-9B6B-2CE42A59AC4E}"/>
              </a:ext>
            </a:extLst>
          </p:cNvPr>
          <p:cNvGrpSpPr/>
          <p:nvPr/>
        </p:nvGrpSpPr>
        <p:grpSpPr>
          <a:xfrm>
            <a:off x="3643788" y="2913504"/>
            <a:ext cx="5297569" cy="2060512"/>
            <a:chOff x="3804654" y="2981237"/>
            <a:chExt cx="5297569" cy="2060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/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0.21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0.78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/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0EEBFD-F1FA-46BB-94E0-AB1BB1DDA15E}"/>
                </a:ext>
              </a:extLst>
            </p:cNvPr>
            <p:cNvSpPr txBox="1"/>
            <p:nvPr/>
          </p:nvSpPr>
          <p:spPr>
            <a:xfrm>
              <a:off x="8188190" y="2981237"/>
              <a:ext cx="91403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/>
                <a:t>Bird</a:t>
              </a:r>
            </a:p>
            <a:p>
              <a:r>
                <a:rPr lang="en-US" altLang="zh-CN" sz="3200" dirty="0"/>
                <a:t>Cat</a:t>
              </a:r>
            </a:p>
            <a:p>
              <a:r>
                <a:rPr lang="en-US" altLang="zh-CN" sz="3200" dirty="0">
                  <a:solidFill>
                    <a:srgbClr val="FF0000"/>
                  </a:solidFill>
                </a:rPr>
                <a:t>Car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1B1CE8D-0630-49CA-B0F7-5B588FF13C9B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5461505" y="3744203"/>
              <a:ext cx="1370877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/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B050"/>
                      </a:solidFill>
                    </a:rPr>
                    <a:t>模型预测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76" t="-14474" r="-2388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/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70C0"/>
                      </a:solidFill>
                    </a:rPr>
                    <a:t>真实标签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464" t="-14474" r="-2679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834E14-93CE-403B-9F0D-B26E75C27BB2}"/>
                </a:ext>
              </a:extLst>
            </p:cNvPr>
            <p:cNvSpPr/>
            <p:nvPr/>
          </p:nvSpPr>
          <p:spPr>
            <a:xfrm>
              <a:off x="5745584" y="3105357"/>
              <a:ext cx="906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</a:rPr>
                <a:t>度量</a:t>
              </a:r>
              <a:endParaRPr lang="zh-CN" altLang="en-US" sz="28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05F22A5-05E9-4AA8-B239-E963B95DF1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277"/>
          <a:stretch/>
        </p:blipFill>
        <p:spPr>
          <a:xfrm>
            <a:off x="1128704" y="2869571"/>
            <a:ext cx="1948250" cy="1924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B1FE20-F65A-4AD0-86AF-7A250A33B663}"/>
                  </a:ext>
                </a:extLst>
              </p:cNvPr>
              <p:cNvSpPr/>
              <p:nvPr/>
            </p:nvSpPr>
            <p:spPr>
              <a:xfrm>
                <a:off x="3205914" y="5264196"/>
                <a:ext cx="5780172" cy="613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0070C0"/>
                    </a:solidFill>
                  </a:rPr>
                  <a:t>交叉熵：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B1FE20-F65A-4AD0-86AF-7A250A33B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914" y="5264196"/>
                <a:ext cx="5780172" cy="613694"/>
              </a:xfrm>
              <a:prstGeom prst="rect">
                <a:avLst/>
              </a:prstGeom>
              <a:blipFill>
                <a:blip r:embed="rId7"/>
                <a:stretch>
                  <a:fillRect l="-1688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394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74B7-C845-4906-B6E0-EED2E4C8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 </a:t>
            </a:r>
            <a:r>
              <a:rPr lang="en-US" altLang="zh-CN" b="1" dirty="0"/>
              <a:t>(Cross-Entropy)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41ED-9E77-433C-BF29-999CC81AB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如何度量模型的</a:t>
            </a:r>
            <a:r>
              <a:rPr lang="zh-CN" altLang="en-US" b="1" dirty="0">
                <a:solidFill>
                  <a:srgbClr val="00B050"/>
                </a:solidFill>
              </a:rPr>
              <a:t>分类输出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rgbClr val="0070C0"/>
                </a:solidFill>
              </a:rPr>
              <a:t>真实标签</a:t>
            </a:r>
            <a:r>
              <a:rPr lang="zh-CN" altLang="en-US" b="1" dirty="0"/>
              <a:t>之间的距离？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C429D7-CA61-4928-9B6B-2CE42A59AC4E}"/>
              </a:ext>
            </a:extLst>
          </p:cNvPr>
          <p:cNvGrpSpPr/>
          <p:nvPr/>
        </p:nvGrpSpPr>
        <p:grpSpPr>
          <a:xfrm>
            <a:off x="3034188" y="2693371"/>
            <a:ext cx="5297569" cy="2060512"/>
            <a:chOff x="3804654" y="2981237"/>
            <a:chExt cx="5297569" cy="2060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/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0.21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0.78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BE4BFD-6536-48C0-9EAA-9B5512CEA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573" y="3011695"/>
                  <a:ext cx="1342932" cy="146501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/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0.00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82271A-C1B4-4366-A43F-213037BD1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382" y="3011695"/>
                  <a:ext cx="1342932" cy="14650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0EEBFD-F1FA-46BB-94E0-AB1BB1DDA15E}"/>
                </a:ext>
              </a:extLst>
            </p:cNvPr>
            <p:cNvSpPr txBox="1"/>
            <p:nvPr/>
          </p:nvSpPr>
          <p:spPr>
            <a:xfrm>
              <a:off x="8188190" y="2981237"/>
              <a:ext cx="91403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/>
                <a:t>Bird</a:t>
              </a:r>
            </a:p>
            <a:p>
              <a:r>
                <a:rPr lang="en-US" altLang="zh-CN" sz="3200" dirty="0"/>
                <a:t>Cat</a:t>
              </a:r>
            </a:p>
            <a:p>
              <a:r>
                <a:rPr lang="en-US" altLang="zh-CN" sz="3200" dirty="0">
                  <a:solidFill>
                    <a:srgbClr val="FF0000"/>
                  </a:solidFill>
                </a:rPr>
                <a:t>Car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1B1CE8D-0630-49CA-B0F7-5B588FF13C9B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5461505" y="3744203"/>
              <a:ext cx="1370877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/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B050"/>
                      </a:solidFill>
                    </a:rPr>
                    <a:t>模型预测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88A579B-6D43-48A7-B3D1-AFCFF05587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4654" y="4555194"/>
                  <a:ext cx="204254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76" t="-14474" r="-2388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/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0070C0"/>
                      </a:solidFill>
                    </a:rPr>
                    <a:t>真实标签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BAC6895-974D-4145-BC71-C710E8B67C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532" y="4580084"/>
                  <a:ext cx="204735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464" t="-14474" r="-2679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834E14-93CE-403B-9F0D-B26E75C27BB2}"/>
                </a:ext>
              </a:extLst>
            </p:cNvPr>
            <p:cNvSpPr/>
            <p:nvPr/>
          </p:nvSpPr>
          <p:spPr>
            <a:xfrm>
              <a:off x="5745584" y="3105357"/>
              <a:ext cx="9060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</a:rPr>
                <a:t>度量</a:t>
              </a:r>
              <a:endParaRPr lang="zh-CN" altLang="en-US" sz="28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05F22A5-05E9-4AA8-B239-E963B95DF1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277"/>
          <a:stretch/>
        </p:blipFill>
        <p:spPr>
          <a:xfrm>
            <a:off x="519104" y="2649438"/>
            <a:ext cx="1948250" cy="1924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B1FE20-F65A-4AD0-86AF-7A250A33B663}"/>
                  </a:ext>
                </a:extLst>
              </p:cNvPr>
              <p:cNvSpPr/>
              <p:nvPr/>
            </p:nvSpPr>
            <p:spPr>
              <a:xfrm>
                <a:off x="2596314" y="5193610"/>
                <a:ext cx="5954579" cy="613694"/>
              </a:xfrm>
              <a:prstGeom prst="rect">
                <a:avLst/>
              </a:prstGeom>
              <a:ln w="38100">
                <a:solidFill>
                  <a:srgbClr val="00B050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0070C0"/>
                    </a:solidFill>
                  </a:rPr>
                  <a:t>交叉熵损失：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B1FE20-F65A-4AD0-86AF-7A250A33B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314" y="5193610"/>
                <a:ext cx="5954579" cy="613694"/>
              </a:xfrm>
              <a:prstGeom prst="rect">
                <a:avLst/>
              </a:prstGeom>
              <a:blipFill>
                <a:blip r:embed="rId7"/>
                <a:stretch>
                  <a:fillRect l="-1322" b="-13084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189300C-8A0B-4A67-88BC-91CC624BBF6D}"/>
                  </a:ext>
                </a:extLst>
              </p:cNvPr>
              <p:cNvSpPr/>
              <p:nvPr/>
            </p:nvSpPr>
            <p:spPr>
              <a:xfrm>
                <a:off x="8402905" y="3247368"/>
                <a:ext cx="36072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0.21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=1.56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189300C-8A0B-4A67-88BC-91CC624BB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905" y="3247368"/>
                <a:ext cx="3607206" cy="461665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820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47EC-70FA-402F-8DC4-56C07153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 </a:t>
            </a:r>
            <a:r>
              <a:rPr lang="en-US" altLang="zh-CN" b="1" dirty="0"/>
              <a:t>(Cross-Entropy)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A68648B-CD9A-48E1-B503-FCE9041B19C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16340202"/>
                  </p:ext>
                </p:extLst>
              </p:nvPr>
            </p:nvGraphicFramePr>
            <p:xfrm>
              <a:off x="838200" y="2054224"/>
              <a:ext cx="10515600" cy="3720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77067">
                      <a:extLst>
                        <a:ext uri="{9D8B030D-6E8A-4147-A177-3AD203B41FA5}">
                          <a16:colId xmlns:a16="http://schemas.microsoft.com/office/drawing/2014/main" val="1650164543"/>
                        </a:ext>
                      </a:extLst>
                    </a:gridCol>
                    <a:gridCol w="4233333">
                      <a:extLst>
                        <a:ext uri="{9D8B030D-6E8A-4147-A177-3AD203B41FA5}">
                          <a16:colId xmlns:a16="http://schemas.microsoft.com/office/drawing/2014/main" val="368282406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319167609"/>
                        </a:ext>
                      </a:extLst>
                    </a:gridCol>
                  </a:tblGrid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分数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概率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交叉熵损失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2499063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-2, 3]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[0.999082816, 6.13858E-06,	0.000911046]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0.0004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3938334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9, 9]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[0.576116885, 0.211941558, 0.211941558]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0.2395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3477219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-100, -100]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[1, 1.68891E-48, 1.68891E-48]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36842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A68648B-CD9A-48E1-B503-FCE9041B19C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16340202"/>
                  </p:ext>
                </p:extLst>
              </p:nvPr>
            </p:nvGraphicFramePr>
            <p:xfrm>
              <a:off x="838200" y="2054224"/>
              <a:ext cx="10515600" cy="37200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77067">
                      <a:extLst>
                        <a:ext uri="{9D8B030D-6E8A-4147-A177-3AD203B41FA5}">
                          <a16:colId xmlns:a16="http://schemas.microsoft.com/office/drawing/2014/main" val="1650164543"/>
                        </a:ext>
                      </a:extLst>
                    </a:gridCol>
                    <a:gridCol w="4233333">
                      <a:extLst>
                        <a:ext uri="{9D8B030D-6E8A-4147-A177-3AD203B41FA5}">
                          <a16:colId xmlns:a16="http://schemas.microsoft.com/office/drawing/2014/main" val="368282406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319167609"/>
                        </a:ext>
                      </a:extLst>
                    </a:gridCol>
                  </a:tblGrid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分数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概率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交叉熵损失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2499063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-2, 3]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[0.999082816, 6.13858E-06,	0.000911046]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0.0004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3938334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9, 9]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[0.576116885, 0.211941558, 0.211941558]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0.2395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3477219"/>
                      </a:ext>
                    </a:extLst>
                  </a:tr>
                  <a:tr h="930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[10, -100, -100]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[1, 1.68891E-48, 1.68891E-48]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300654" r="-696" b="-13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68424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63428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2FAB-8DB5-4ABD-85B2-F538FCFA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回归任务（</a:t>
            </a:r>
            <a:r>
              <a:rPr lang="en-US" altLang="zh-CN" b="1" dirty="0"/>
              <a:t>Regression</a:t>
            </a:r>
            <a:r>
              <a:rPr lang="zh-CN" altLang="en-US" b="1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C6162-F014-4628-8A9C-C403BBC70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562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L1-Loss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𝑝𝑟𝑒𝑑𝑖𝑐𝑡𝑒𝑑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dirty="0"/>
                  <a:t>L2-Loss (MSE)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𝑝𝑟𝑒𝑑𝑖𝑐𝑡𝑒𝑑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C6162-F014-4628-8A9C-C403BBC70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56200" cy="4351338"/>
              </a:xfrm>
              <a:blipFill>
                <a:blip r:embed="rId2"/>
                <a:stretch>
                  <a:fillRect l="-2130" t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F5724F2-8782-41D3-95B9-05451183F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972" y="2438401"/>
            <a:ext cx="5478227" cy="277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18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D7AD-6B7A-455D-8A4B-4504A44F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5499-4F3F-4159-9E24-23C37E9A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简介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激活函数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损失函数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参数优化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6162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5307-EA05-48EF-A598-6599960C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计算图与反向传播算法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2FF11-7984-44ED-BF38-731654E55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计算图是一种有向图，用来表达输入、输出以及中间变量之间的计算关系，图中的每一个节点对应着一种数学运算。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计算图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2FF11-7984-44ED-BF38-731654E55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4DBD78-EEEA-45D8-A2A1-03A04A77D0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7" b="5945"/>
          <a:stretch/>
        </p:blipFill>
        <p:spPr>
          <a:xfrm>
            <a:off x="3191876" y="3640666"/>
            <a:ext cx="5808248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21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5307-EA05-48EF-A598-6599960C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计算图的前反向计算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2FF11-7984-44ED-BF38-731654E55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zh-CN" altLang="en-US" b="1" dirty="0">
                    <a:solidFill>
                      <a:srgbClr val="0070C0"/>
                    </a:solidFill>
                  </a:rPr>
                  <a:t>计算图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2FF11-7984-44ED-BF38-731654E55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12C0304-EE9F-4810-8014-2CB04203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5" y="2573867"/>
            <a:ext cx="86677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0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D91B-457D-4F79-B681-B43AEF1B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计算图小节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1042-1614-42B0-BFB4-D6A64859A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任意复杂的函数，都可以用计算图的形式表示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在整个计算图中，每个单元都会得到一些输入，然后，进行下面两个计算：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dirty="0"/>
              <a:t>这个单元的输出值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lphaLcParenR"/>
            </a:pPr>
            <a:r>
              <a:rPr lang="zh-CN" altLang="en-US" dirty="0"/>
              <a:t>其输出值关于输入值的局部梯度。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利用链式法则，每个单元应该将回传的梯度乘以它对其的输入的局部梯度，从而得到整个网络的输出对该单元的每个输入值的梯度。</a:t>
            </a:r>
          </a:p>
        </p:txBody>
      </p:sp>
    </p:spTree>
    <p:extLst>
      <p:ext uri="{BB962C8B-B14F-4D97-AF65-F5344CB8AC3E}">
        <p14:creationId xmlns:p14="http://schemas.microsoft.com/office/powerpoint/2010/main" val="2942735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95C8-278F-4F9D-A4BA-FAD2FBA0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2703-DC5A-48C1-97CD-D82FBDC0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6357C-B9D9-40CD-8D67-B44736F01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83" y="1825625"/>
            <a:ext cx="100648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72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95C8-278F-4F9D-A4BA-FAD2FBA0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2703-DC5A-48C1-97CD-D82FBDC0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1F8C68-7C73-4203-A6F2-9DC32A2D5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6" y="1902631"/>
            <a:ext cx="9889067" cy="43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38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95C8-278F-4F9D-A4BA-FAD2FBA0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2703-DC5A-48C1-97CD-D82FBDC0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24A527-154C-4323-BD0E-C00CD8FA4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33" y="1964376"/>
            <a:ext cx="9999133" cy="439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29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95C8-278F-4F9D-A4BA-FAD2FBA0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2703-DC5A-48C1-97CD-D82FBDC0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87EE97-D02D-4139-9792-3288FB014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033" y="1892664"/>
            <a:ext cx="9795933" cy="44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20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95C8-278F-4F9D-A4BA-FAD2FBA0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2703-DC5A-48C1-97CD-D82FBDC0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87EE97-D02D-4139-9792-3288FB014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033" y="1892664"/>
            <a:ext cx="9795933" cy="44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37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7873-9ADB-41F2-B6BF-6FB8DD3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2B8AB-1F7C-429C-BCD6-750C4C275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690688"/>
            <a:ext cx="9728200" cy="45193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7BD3DF-BA1B-4B81-A417-61A54A60E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1" y="763451"/>
            <a:ext cx="5207000" cy="105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3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7873-9ADB-41F2-B6BF-6FB8DD3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B957F-E0C5-4246-B50E-4D890993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87" y="2022816"/>
            <a:ext cx="9632225" cy="4200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BDDBC8-FA15-4DF0-9C90-C84D37F1F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10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7873-9ADB-41F2-B6BF-6FB8DD3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DEF69-2F5E-4FC3-BE2F-569CDDF1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947F3-49A5-460A-BBC5-35409744A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46" y="1826548"/>
            <a:ext cx="9991908" cy="44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99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7873-9ADB-41F2-B6BF-6FB8DD3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DEF69-2F5E-4FC3-BE2F-569CDDF1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7DA4BE-0029-42D3-879E-6171AF4A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49" y="1826548"/>
            <a:ext cx="10268902" cy="440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84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7873-9ADB-41F2-B6BF-6FB8DD3B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反向传播示例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BDEF69-2F5E-4FC3-BE2F-569CDDF1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1" y="500985"/>
            <a:ext cx="5207000" cy="105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94B559-277B-4CC3-AC98-9C686A02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72" y="1826548"/>
            <a:ext cx="10135055" cy="44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48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EFEF-52AD-4E87-9524-3B51E498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反传传播算法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A38E-4507-4F4E-8DE5-B76ABF4C0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http://www.cs.princeton.edu/~tengyu/forblog/chain_rule_5.jpg">
            <a:extLst>
              <a:ext uri="{FF2B5EF4-FFF2-40B4-BE49-F238E27FC236}">
                <a16:creationId xmlns:a16="http://schemas.microsoft.com/office/drawing/2014/main" id="{379BA87A-4DFC-4DED-BA8B-66DB6646C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083" y="1464861"/>
            <a:ext cx="3574519" cy="38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4EE23E-2EF3-46EB-B99B-65A28AE30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909" y="5737623"/>
            <a:ext cx="2458023" cy="960000"/>
          </a:xfrm>
          <a:prstGeom prst="rect">
            <a:avLst/>
          </a:prstGeom>
        </p:spPr>
      </p:pic>
      <p:pic>
        <p:nvPicPr>
          <p:cNvPr id="6" name="Picture 4" descr="http://www.cs.princeton.edu/~tengyu/forblog/weight5.jpg">
            <a:extLst>
              <a:ext uri="{FF2B5EF4-FFF2-40B4-BE49-F238E27FC236}">
                <a16:creationId xmlns:a16="http://schemas.microsoft.com/office/drawing/2014/main" id="{F5B94A67-7B4B-487B-BA1C-9F2C85EBE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448" y="1528551"/>
            <a:ext cx="3543705" cy="38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5">
            <a:extLst>
              <a:ext uri="{FF2B5EF4-FFF2-40B4-BE49-F238E27FC236}">
                <a16:creationId xmlns:a16="http://schemas.microsoft.com/office/drawing/2014/main" id="{8CA58E40-8A7B-4794-A40D-74EBB1831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508" y="5739247"/>
            <a:ext cx="3840000" cy="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66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11F8-5312-4ED4-A46A-93EDDB9D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交叉熵损失函数的梯度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0F57B-D42D-4814-B2FC-8B415B6987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10704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</m:e>
                    </m:nary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𝑐𝑒</m:t>
                            </m:r>
                          </m:sub>
                        </m:sSub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后续再基于反向传播计算相应的梯度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0F57B-D42D-4814-B2FC-8B415B698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10704" cy="4351338"/>
              </a:xfrm>
              <a:blipFill>
                <a:blip r:embed="rId2"/>
                <a:stretch>
                  <a:fillRect l="-2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39E7AF8-913C-4801-A408-3F8AFB8992F0}"/>
              </a:ext>
            </a:extLst>
          </p:cNvPr>
          <p:cNvGrpSpPr/>
          <p:nvPr/>
        </p:nvGrpSpPr>
        <p:grpSpPr>
          <a:xfrm>
            <a:off x="6451592" y="2708205"/>
            <a:ext cx="5091678" cy="1925777"/>
            <a:chOff x="6366926" y="3047999"/>
            <a:chExt cx="5091678" cy="19257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FC8FA4-9717-40ED-A750-944258B55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6926" y="3047999"/>
              <a:ext cx="2851150" cy="192577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C7F993-4AFB-4A92-8521-DB6DC49643BE}"/>
                </a:ext>
              </a:extLst>
            </p:cNvPr>
            <p:cNvSpPr/>
            <p:nvPr/>
          </p:nvSpPr>
          <p:spPr>
            <a:xfrm>
              <a:off x="9554632" y="3589567"/>
              <a:ext cx="1214968" cy="9824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Softmax</a:t>
              </a:r>
              <a:endParaRPr lang="zh-CN" alt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A855349-03DC-4A85-9BA3-8DF5E9AEEA09}"/>
                </a:ext>
              </a:extLst>
            </p:cNvPr>
            <p:cNvCxnSpPr/>
            <p:nvPr/>
          </p:nvCxnSpPr>
          <p:spPr>
            <a:xfrm>
              <a:off x="9203261" y="3810001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457069F-34B1-4352-8B3F-831CE735FF93}"/>
                </a:ext>
              </a:extLst>
            </p:cNvPr>
            <p:cNvCxnSpPr/>
            <p:nvPr/>
          </p:nvCxnSpPr>
          <p:spPr>
            <a:xfrm>
              <a:off x="9203260" y="4089250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2885613-BE9B-439A-8151-83C7F5E79652}"/>
                </a:ext>
              </a:extLst>
            </p:cNvPr>
            <p:cNvCxnSpPr/>
            <p:nvPr/>
          </p:nvCxnSpPr>
          <p:spPr>
            <a:xfrm>
              <a:off x="9203259" y="4377117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D3D1CA0-E52D-4362-A8E3-F88C1B469FD3}"/>
                </a:ext>
              </a:extLst>
            </p:cNvPr>
            <p:cNvCxnSpPr/>
            <p:nvPr/>
          </p:nvCxnSpPr>
          <p:spPr>
            <a:xfrm>
              <a:off x="10837332" y="3826929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84EC3A9-CDCA-454C-8B71-84F05FD0B1A9}"/>
                </a:ext>
              </a:extLst>
            </p:cNvPr>
            <p:cNvCxnSpPr/>
            <p:nvPr/>
          </p:nvCxnSpPr>
          <p:spPr>
            <a:xfrm>
              <a:off x="10837331" y="4106178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FD3082F-79D4-4774-8B0F-35F2B0766725}"/>
                </a:ext>
              </a:extLst>
            </p:cNvPr>
            <p:cNvCxnSpPr/>
            <p:nvPr/>
          </p:nvCxnSpPr>
          <p:spPr>
            <a:xfrm>
              <a:off x="10837330" y="4394045"/>
              <a:ext cx="3175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D4D3E6-8F56-475D-9364-C8788B44B68E}"/>
                    </a:ext>
                  </a:extLst>
                </p:cNvPr>
                <p:cNvSpPr txBox="1"/>
                <p:nvPr/>
              </p:nvSpPr>
              <p:spPr>
                <a:xfrm>
                  <a:off x="11164991" y="3623135"/>
                  <a:ext cx="2802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D4D3E6-8F56-475D-9364-C8788B44B6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4991" y="3623135"/>
                  <a:ext cx="28027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565" r="-6522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CCCF0-BD26-4D35-9D42-BDDD44D6DEE8}"/>
                    </a:ext>
                  </a:extLst>
                </p:cNvPr>
                <p:cNvSpPr txBox="1"/>
                <p:nvPr/>
              </p:nvSpPr>
              <p:spPr>
                <a:xfrm>
                  <a:off x="11173013" y="3942283"/>
                  <a:ext cx="2855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CCCF0-BD26-4D35-9D42-BDDD44D6D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3013" y="3942283"/>
                  <a:ext cx="28559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149" r="-4255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2776FE9-8771-4DEF-8531-1644C5A3E1DB}"/>
                    </a:ext>
                  </a:extLst>
                </p:cNvPr>
                <p:cNvSpPr txBox="1"/>
                <p:nvPr/>
              </p:nvSpPr>
              <p:spPr>
                <a:xfrm>
                  <a:off x="11173013" y="4238617"/>
                  <a:ext cx="2855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2776FE9-8771-4DEF-8531-1644C5A3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3013" y="4238617"/>
                  <a:ext cx="28559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9149" r="-4255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9B79959-16FD-4BCB-8942-F43B94A00C68}"/>
              </a:ext>
            </a:extLst>
          </p:cNvPr>
          <p:cNvSpPr/>
          <p:nvPr/>
        </p:nvSpPr>
        <p:spPr>
          <a:xfrm>
            <a:off x="5831413" y="6492875"/>
            <a:ext cx="63605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7"/>
              </a:rPr>
              <a:t>https://jmlb.github.io/ml/2017/12/26/Calculate_Gradient_Softmax/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3610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5540-9212-44A6-9D6D-5460D527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梯度下降法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A982-F3AD-4760-B423-E743CB262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799"/>
            <a:ext cx="5046133" cy="33660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在最小化损失函数时，可以通过梯度下降法来一步步的迭代求解，得到最小化的损失函数，和模型参数值。</a:t>
            </a:r>
          </a:p>
        </p:txBody>
      </p:sp>
      <p:pic>
        <p:nvPicPr>
          <p:cNvPr id="4" name="Picture 2" descr="preview">
            <a:extLst>
              <a:ext uri="{FF2B5EF4-FFF2-40B4-BE49-F238E27FC236}">
                <a16:creationId xmlns:a16="http://schemas.microsoft.com/office/drawing/2014/main" id="{B344422D-4F99-4DA7-85DF-1951F2B7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821" y="927343"/>
            <a:ext cx="4741979" cy="32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Shape 183">
            <a:extLst>
              <a:ext uri="{FF2B5EF4-FFF2-40B4-BE49-F238E27FC236}">
                <a16:creationId xmlns:a16="http://schemas.microsoft.com/office/drawing/2014/main" id="{A4DEC580-4679-4684-8C98-C9E6925B28F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193" y="4750637"/>
            <a:ext cx="4045142" cy="444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184">
            <a:extLst>
              <a:ext uri="{FF2B5EF4-FFF2-40B4-BE49-F238E27FC236}">
                <a16:creationId xmlns:a16="http://schemas.microsoft.com/office/drawing/2014/main" id="{1E688FC0-4402-4930-AFAE-64E83F0A59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126" y="4972733"/>
            <a:ext cx="3845367" cy="673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126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2712-DC36-4A80-8244-63572A4F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激活函数的梯度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9E45-8549-433A-B66B-7AD88494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8B3A6-2F7A-40B7-92DE-1887E75B0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6" y="2071937"/>
            <a:ext cx="9685867" cy="385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53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C0E4-3613-4C75-8AB5-7B03D470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梯度消失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C74D-C91B-4F36-8910-619F699BF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梯度消失是神经网络训练中非常致命的一个问题，其本质是由于链式法则的乘法特性导致的。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968F0-5376-4616-B7F7-6755664D51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23"/>
          <a:stretch/>
        </p:blipFill>
        <p:spPr>
          <a:xfrm>
            <a:off x="4305035" y="3234796"/>
            <a:ext cx="3581930" cy="307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719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2712-DC36-4A80-8244-63572A4F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激活函数的梯度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9E45-8549-433A-B66B-7AD88494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8B761-9EC2-42C2-846D-C989232EE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81" y="1871240"/>
            <a:ext cx="9469438" cy="426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881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2712-DC36-4A80-8244-63572A4F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激活函数的梯度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9E45-8549-433A-B66B-7AD88494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64E425-5FCC-4E79-8FD3-466F2FD31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333" y="2026193"/>
            <a:ext cx="9567333" cy="395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984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2712-DC36-4A80-8244-63572A4F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激活函数的梯度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9E45-8549-433A-B66B-7AD88494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BE5C4-1DF4-4312-89D3-BE632F14F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25" y="1996877"/>
            <a:ext cx="10275950" cy="40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93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3329-1B7C-4944-B709-66FD13F64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梯度爆炸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3CD72-FAFE-4D21-A4C6-025002656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梯度爆炸也是由于链式法则的乘法特性导致的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0AFAC-43D8-494E-84C1-B2590185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2668901"/>
            <a:ext cx="8410575" cy="36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254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CDD0-8B9A-43B1-8F0E-BCA952EF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小结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1D939-B88E-4419-9956-351116241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利用反向传播算法计算网络每一个节点与参数的梯度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基于梯度下降算法进行参数优化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梯度消失与爆炸</a:t>
            </a:r>
          </a:p>
        </p:txBody>
      </p:sp>
    </p:spTree>
    <p:extLst>
      <p:ext uri="{BB962C8B-B14F-4D97-AF65-F5344CB8AC3E}">
        <p14:creationId xmlns:p14="http://schemas.microsoft.com/office/powerpoint/2010/main" val="411233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przhnd5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1954</Words>
  <Application>Microsoft Office PowerPoint</Application>
  <PresentationFormat>Widescreen</PresentationFormat>
  <Paragraphs>217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宋体</vt:lpstr>
      <vt:lpstr>Arial</vt:lpstr>
      <vt:lpstr>Cambria Math</vt:lpstr>
      <vt:lpstr>Times New Roman</vt:lpstr>
      <vt:lpstr>Office Theme</vt:lpstr>
      <vt:lpstr>7、人工神经网络基础</vt:lpstr>
      <vt:lpstr>提纲</vt:lpstr>
      <vt:lpstr>神经网络</vt:lpstr>
      <vt:lpstr>人工神经元（Neuron）</vt:lpstr>
      <vt:lpstr>线性分类器</vt:lpstr>
      <vt:lpstr>多分类情况</vt:lpstr>
      <vt:lpstr>手写数字识别网络</vt:lpstr>
      <vt:lpstr>多层神经网络</vt:lpstr>
      <vt:lpstr>线性可分与线性不可分</vt:lpstr>
      <vt:lpstr>线性可分与线性不可分</vt:lpstr>
      <vt:lpstr>提纲</vt:lpstr>
      <vt:lpstr>常用的激活函数</vt:lpstr>
      <vt:lpstr>Sigmoid</vt:lpstr>
      <vt:lpstr>Tanh</vt:lpstr>
      <vt:lpstr>ReLU (Rectified Linear Unit)</vt:lpstr>
      <vt:lpstr>常见激活函数及其导数</vt:lpstr>
      <vt:lpstr>网络结构设计</vt:lpstr>
      <vt:lpstr>网络结构设计</vt:lpstr>
      <vt:lpstr>网络结构设计</vt:lpstr>
      <vt:lpstr>全连接神经网络命名</vt:lpstr>
      <vt:lpstr>小结</vt:lpstr>
      <vt:lpstr>提纲</vt:lpstr>
      <vt:lpstr>Softmax函数</vt:lpstr>
      <vt:lpstr>Softmax函数</vt:lpstr>
      <vt:lpstr>交叉熵损失函数 (Cross-Entropy)</vt:lpstr>
      <vt:lpstr>交叉熵损失函数 (Cross-Entropy)</vt:lpstr>
      <vt:lpstr>交叉熵损失函数 (Cross-Entropy)</vt:lpstr>
      <vt:lpstr>交叉熵损失函数 (Cross-Entropy)</vt:lpstr>
      <vt:lpstr>交叉熵损失函数 (Cross-Entropy)</vt:lpstr>
      <vt:lpstr>回归任务（Regression）</vt:lpstr>
      <vt:lpstr>提纲</vt:lpstr>
      <vt:lpstr>计算图与反向传播算法</vt:lpstr>
      <vt:lpstr>计算图的前反向计算</vt:lpstr>
      <vt:lpstr>计算图小节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反向传播示例2</vt:lpstr>
      <vt:lpstr>反传传播算法</vt:lpstr>
      <vt:lpstr>交叉熵损失函数的梯度</vt:lpstr>
      <vt:lpstr>梯度下降法</vt:lpstr>
      <vt:lpstr>激活函数的梯度</vt:lpstr>
      <vt:lpstr>梯度消失</vt:lpstr>
      <vt:lpstr>激活函数的梯度</vt:lpstr>
      <vt:lpstr>激活函数的梯度</vt:lpstr>
      <vt:lpstr>激活函数的梯度</vt:lpstr>
      <vt:lpstr>梯度爆炸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全连接神经网络</dc:title>
  <dc:creator>Luo Zhiming</dc:creator>
  <cp:lastModifiedBy>Luo Zhiming</cp:lastModifiedBy>
  <cp:revision>78</cp:revision>
  <dcterms:created xsi:type="dcterms:W3CDTF">2022-10-17T08:10:44Z</dcterms:created>
  <dcterms:modified xsi:type="dcterms:W3CDTF">2023-04-07T13:23:31Z</dcterms:modified>
</cp:coreProperties>
</file>