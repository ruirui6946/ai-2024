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81" r:id="rId4"/>
    <p:sldId id="257" r:id="rId5"/>
    <p:sldId id="268" r:id="rId6"/>
    <p:sldId id="262" r:id="rId7"/>
    <p:sldId id="280" r:id="rId8"/>
    <p:sldId id="264" r:id="rId9"/>
    <p:sldId id="265" r:id="rId10"/>
    <p:sldId id="270" r:id="rId11"/>
    <p:sldId id="271" r:id="rId12"/>
    <p:sldId id="267" r:id="rId13"/>
    <p:sldId id="266" r:id="rId14"/>
    <p:sldId id="273" r:id="rId15"/>
    <p:sldId id="274" r:id="rId16"/>
    <p:sldId id="276" r:id="rId17"/>
    <p:sldId id="277" r:id="rId18"/>
    <p:sldId id="275" r:id="rId19"/>
    <p:sldId id="278" r:id="rId20"/>
    <p:sldId id="258" r:id="rId21"/>
    <p:sldId id="259" r:id="rId22"/>
    <p:sldId id="260" r:id="rId23"/>
    <p:sldId id="269" r:id="rId24"/>
    <p:sldId id="26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3" d="100"/>
          <a:sy n="143" d="100"/>
        </p:scale>
        <p:origin x="150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8909-709A-46AC-80B5-5B9C56A21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1EDDA-43EF-4A02-A7DA-18E05927D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73A7B-CB12-472B-9413-B8242318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F5CD2-3CA9-492D-AF39-3011FC40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461DC-7811-4300-821D-5C421093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224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90CE-F6D4-42BC-85E6-B2805843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C9B11-452E-4122-B82F-D266A6136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98AE8-E75D-49C8-8ECB-40DD7EEA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EADB0-5D28-4BAC-911E-55B91460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75825-D456-4D63-A8BD-A2C9870F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16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B984-7CB2-42DD-8F07-710F00404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0EBCB-10E0-44BB-848E-135315925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83EDD-9AA7-4053-937F-ACD559F1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6A8-A661-4FE2-BB65-027587155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FFF7-0937-4603-9FA2-810BED33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17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52F99-8AED-4ABA-A584-D84F6804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CEA9-1088-4450-A5E0-4AF9DEA0D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DC25C-9290-48CA-B4A7-0A1F14DA3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1C10F-F6EB-4DB9-BEDB-24DBD673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77688-1984-44AF-874E-A77384CB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106A4-9A6A-424C-AAFD-78A284651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49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5873-6347-41EE-B12C-E1366211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90F5F-7C00-4A7E-8F75-60A0C06D9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FFF6C-C213-46F9-A9A7-E8B98369A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26713-F509-4661-A873-100840D2B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BD16FF-A6EC-4C5E-9616-FE681F5BD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30B47-80C2-4F8B-9252-BFE7CAE7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A712A-F611-4094-98FD-AFF7910E6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84000D-8E57-4219-A5D7-87F960FB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3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36FD-2465-483F-9CA7-D3654615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A4329B-C89C-4E98-BBC3-2C44B32A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8BBC5-BCF0-44AC-AAE4-81F5A3F7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01F3F-FFF5-4058-BF17-6893D86A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34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1970B-6637-4D5E-80C9-01B106FF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B1808-7510-4561-A405-61DD7EC3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ADDD7-07A5-49B8-986A-04F59409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687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8D73-69C8-417D-8F89-BFE401483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0BE96-4E56-450F-884B-77457F8E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3F29C-5749-482C-A11B-9718EA623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5966D-01BD-46F1-9964-345260A92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1D13E-B1F1-44C3-898C-61799540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25E3D-3AC5-4534-8B2B-FB609806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23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E9AC-4C99-4AEA-A529-E674C50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66B08-C476-4EBC-8B97-1FF64F57E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81231-FDE3-40C1-AEDF-DFC2BE01F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6297E-787D-41C8-A80A-BDDA6E79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2EBC8-2A9F-41B6-A8A9-2BD26E33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505D4-4750-431D-83A9-B94A36FD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23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801E-C19E-4765-82CD-0D764A3E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2DCEB-6FFD-4C66-A203-AEE9CF546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B2340-78AD-4F3D-8882-1CB78451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4CDC6-23DB-464B-A99B-BDCCABAB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B3ABD-F21F-489A-A633-69019A57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370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D235A-CCE4-48CD-90FB-696182395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60674-ECB4-4C60-BCC4-AAB436EC8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3393C-94CB-4D25-BF6E-70277274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D309-3B1C-4C84-AEDA-256CAF04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D5BA3-A083-49EB-8875-12B3B45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88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2D13B-02DE-4E9B-87B1-2AFD3997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A3248-7F3E-4CF7-A44E-7F676DDB1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F6A5B-AC53-4F01-98B0-94B485D32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5683B-919E-404A-95FE-8D6A6A7DEE3D}" type="datetimeFigureOut">
              <a:rPr lang="zh-CN" altLang="en-US" smtClean="0"/>
              <a:t>2023-6-8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CBB37-4097-47E0-A250-0868434E0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70DCA-9C5B-4C91-8E2F-67CCC9349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921AF-E3F0-484A-B191-806AB60480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90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6511-6DAC-47B3-B418-1B25BB3D86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Final Review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5E006-981A-4C8B-9752-5BF347A16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698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A95A-6E48-409B-B0EC-08BC3E41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Compute Vision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B939CF-6B7B-4756-B8F1-58E3A7673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9027"/>
            <a:ext cx="10515600" cy="410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7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7B52-4DCD-4168-9080-58B45AC0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2D</a:t>
            </a:r>
            <a:r>
              <a:rPr lang="zh-CN" altLang="en-US" b="1" dirty="0"/>
              <a:t>仿射与投影变换</a:t>
            </a:r>
            <a:endParaRPr lang="zh-CN" altLang="en-US" dirty="0"/>
          </a:p>
        </p:txBody>
      </p:sp>
      <p:pic>
        <p:nvPicPr>
          <p:cNvPr id="4" name="Picture 2" descr="Basic set of 2D planar transformations">
            <a:extLst>
              <a:ext uri="{FF2B5EF4-FFF2-40B4-BE49-F238E27FC236}">
                <a16:creationId xmlns:a16="http://schemas.microsoft.com/office/drawing/2014/main" id="{A6E7B452-1D80-483A-AEFB-A0227704F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78" y="2850316"/>
            <a:ext cx="5515915" cy="195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CCF48D-D36F-41C3-973E-82CC2896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709" y="2000621"/>
            <a:ext cx="5820787" cy="400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9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A9340-0725-4ACA-A168-6A61A5CE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Visual Recognition Task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A0987A-27A8-45DD-A4FB-743278D8037F}"/>
              </a:ext>
            </a:extLst>
          </p:cNvPr>
          <p:cNvGrpSpPr/>
          <p:nvPr/>
        </p:nvGrpSpPr>
        <p:grpSpPr>
          <a:xfrm>
            <a:off x="738894" y="2506499"/>
            <a:ext cx="10714211" cy="2624956"/>
            <a:chOff x="738894" y="2379751"/>
            <a:chExt cx="10714211" cy="26249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2126BEC-A447-4538-B66A-501C3E873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8894" y="2379751"/>
              <a:ext cx="10714211" cy="225562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C52801-E6CA-4423-BC50-BED8F46DBBA2}"/>
                </a:ext>
              </a:extLst>
            </p:cNvPr>
            <p:cNvSpPr/>
            <p:nvPr/>
          </p:nvSpPr>
          <p:spPr>
            <a:xfrm>
              <a:off x="928734" y="4635375"/>
              <a:ext cx="21916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Image Classification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62E6C5-5062-45F5-8565-59062AF7E7CB}"/>
                </a:ext>
              </a:extLst>
            </p:cNvPr>
            <p:cNvSpPr/>
            <p:nvPr/>
          </p:nvSpPr>
          <p:spPr>
            <a:xfrm>
              <a:off x="3505288" y="4635375"/>
              <a:ext cx="24994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Semantic Segmentation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5F95E4-6358-4DB7-9250-DC0ADE74AC9D}"/>
                </a:ext>
              </a:extLst>
            </p:cNvPr>
            <p:cNvSpPr/>
            <p:nvPr/>
          </p:nvSpPr>
          <p:spPr>
            <a:xfrm>
              <a:off x="6556508" y="4635375"/>
              <a:ext cx="18453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Object Detection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F0AF05-5806-4224-9231-7F0ACBAD9FA5}"/>
                </a:ext>
              </a:extLst>
            </p:cNvPr>
            <p:cNvSpPr/>
            <p:nvPr/>
          </p:nvSpPr>
          <p:spPr>
            <a:xfrm>
              <a:off x="8931342" y="4635375"/>
              <a:ext cx="24224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Instance Segmentation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66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BC51-4455-48CB-9800-F12DE9E3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Face Detection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30DC6-7EC1-4415-AA9B-420466965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62" y="1798677"/>
            <a:ext cx="5367632" cy="2952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767B25-9C57-4A25-A318-3CFDBDF2A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55824"/>
            <a:ext cx="2400235" cy="14370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71C134-177A-4B1B-AF30-982E27FEE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767" y="1690688"/>
            <a:ext cx="4358033" cy="3954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D122D5-E875-4C6E-92B8-3D17BA573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256" y="5126732"/>
            <a:ext cx="2369734" cy="12952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B870AB-B11B-4E83-B7E6-B3AD997FF50A}"/>
              </a:ext>
            </a:extLst>
          </p:cNvPr>
          <p:cNvSpPr txBox="1"/>
          <p:nvPr/>
        </p:nvSpPr>
        <p:spPr>
          <a:xfrm>
            <a:off x="8329978" y="5774348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非极大值抑制</a:t>
            </a:r>
            <a:r>
              <a:rPr lang="en-US" altLang="zh-CN" b="1" dirty="0"/>
              <a:t>NMS</a:t>
            </a:r>
            <a:endParaRPr lang="zh-CN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3464CC-358C-454F-B3DF-210BA67713F9}"/>
              </a:ext>
            </a:extLst>
          </p:cNvPr>
          <p:cNvSpPr txBox="1"/>
          <p:nvPr/>
        </p:nvSpPr>
        <p:spPr>
          <a:xfrm>
            <a:off x="4114717" y="4734621"/>
            <a:ext cx="151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Haar</a:t>
            </a:r>
            <a:r>
              <a:rPr lang="en-US" altLang="zh-CN" b="1" dirty="0"/>
              <a:t> Feature</a:t>
            </a:r>
            <a:endParaRPr lang="zh-CN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6B406-CD3F-4F28-9949-C68D1557D2D3}"/>
              </a:ext>
            </a:extLst>
          </p:cNvPr>
          <p:cNvSpPr txBox="1"/>
          <p:nvPr/>
        </p:nvSpPr>
        <p:spPr>
          <a:xfrm>
            <a:off x="2586747" y="6350238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积分图</a:t>
            </a:r>
            <a:r>
              <a:rPr lang="en-US" altLang="zh-CN" b="1" dirty="0"/>
              <a:t>(Integral Image)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940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F6789B-54E2-4999-B577-80573B116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局部特征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视觉单词</a:t>
            </a:r>
            <a:r>
              <a:rPr lang="en-US" altLang="zh-CN" dirty="0">
                <a:sym typeface="Wingdings" panose="05000000000000000000" pitchFamily="2" charset="2"/>
              </a:rPr>
              <a:t> (</a:t>
            </a:r>
            <a:r>
              <a:rPr lang="zh-CN" altLang="en-US" dirty="0">
                <a:sym typeface="Wingdings" panose="05000000000000000000" pitchFamily="2" charset="2"/>
              </a:rPr>
              <a:t>聚类</a:t>
            </a:r>
            <a:r>
              <a:rPr lang="en-US" altLang="zh-CN" dirty="0">
                <a:sym typeface="Wingdings" panose="05000000000000000000" pitchFamily="2" charset="2"/>
              </a:rPr>
              <a:t>) </a:t>
            </a:r>
          </a:p>
          <a:p>
            <a:r>
              <a:rPr lang="zh-CN" altLang="en-US" dirty="0"/>
              <a:t>特征量化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统计直方图</a:t>
            </a:r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63A83-7DF2-4C4E-883F-C863368F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Bag of Visual Word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55737D-58F4-4792-A8C7-2B6A03B8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19" y="3027419"/>
            <a:ext cx="8694961" cy="320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2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3A83-7DF2-4C4E-883F-C863368F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Bag of Visual Word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4" name="Content Placeholder 43">
            <a:extLst>
              <a:ext uri="{FF2B5EF4-FFF2-40B4-BE49-F238E27FC236}">
                <a16:creationId xmlns:a16="http://schemas.microsoft.com/office/drawing/2014/main" id="{00B8BDED-7D45-46FA-AD25-273C25BE0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533" y="3054152"/>
            <a:ext cx="4610088" cy="28025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4F06A90-7594-470D-91E9-6A662A151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030" y="3223497"/>
            <a:ext cx="5491633" cy="205286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B6621F-1050-498D-BDEE-25AA10701F4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5230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cs typeface="+mn-ea"/>
                <a:sym typeface="+mn-lt"/>
              </a:rPr>
              <a:t>增加空间信息</a:t>
            </a:r>
          </a:p>
        </p:txBody>
      </p:sp>
    </p:spTree>
    <p:extLst>
      <p:ext uri="{BB962C8B-B14F-4D97-AF65-F5344CB8AC3E}">
        <p14:creationId xmlns:p14="http://schemas.microsoft.com/office/powerpoint/2010/main" val="2862306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5FCA-3344-4CAF-A595-3A95A6BAF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Convolutional Neural Network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E3879-3C47-4C59-9EAD-1DF86CBFD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3072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cs typeface="+mn-ea"/>
                <a:sym typeface="+mn-lt"/>
              </a:rPr>
              <a:t>Layer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cs typeface="+mn-ea"/>
                <a:sym typeface="+mn-lt"/>
              </a:rPr>
              <a:t>Convolutional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cs typeface="+mn-ea"/>
                <a:sym typeface="+mn-lt"/>
              </a:rPr>
              <a:t>Pooling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cs typeface="+mn-ea"/>
                <a:sym typeface="+mn-lt"/>
              </a:rPr>
              <a:t>Fully-Connected 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(Linear,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Dense)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cs typeface="+mn-ea"/>
                <a:sym typeface="+mn-lt"/>
              </a:rPr>
              <a:t>激活函数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cs typeface="+mn-ea"/>
                <a:sym typeface="+mn-lt"/>
              </a:rPr>
              <a:t>Sigmoid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cs typeface="+mn-ea"/>
                <a:sym typeface="+mn-lt"/>
              </a:rPr>
              <a:t>Tanh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cs typeface="+mn-ea"/>
                <a:sym typeface="+mn-lt"/>
              </a:rPr>
              <a:t>ReLU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# Parameters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Input &amp; output size</a:t>
            </a:r>
            <a:endParaRPr lang="zh-CN" altLang="en-US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0DD54-CB8E-4456-8880-084548991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245" y="2611053"/>
            <a:ext cx="6872466" cy="24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EE30-1C21-4A60-AC6B-797D5678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Optimization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4DFC8-49EB-4191-9F29-8C21A0F0C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2933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Loss function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分类任务</a:t>
            </a:r>
            <a:r>
              <a:rPr lang="en-US" altLang="zh-CN" dirty="0">
                <a:cs typeface="+mn-ea"/>
                <a:sym typeface="+mn-lt"/>
              </a:rPr>
              <a:t> (Cross-Entropy)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回归任务</a:t>
            </a:r>
            <a:endParaRPr lang="en-US" altLang="zh-CN" dirty="0">
              <a:cs typeface="+mn-ea"/>
              <a:sym typeface="+mn-lt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L1 loss, L2 loss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图像分割</a:t>
            </a:r>
            <a:endParaRPr lang="en-US" altLang="zh-CN" dirty="0">
              <a:cs typeface="+mn-ea"/>
              <a:sym typeface="+mn-lt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Dice Loss</a:t>
            </a: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A47E0A-E067-4684-B7D1-E110B66B29CA}"/>
              </a:ext>
            </a:extLst>
          </p:cNvPr>
          <p:cNvSpPr txBox="1">
            <a:spLocks/>
          </p:cNvSpPr>
          <p:nvPr/>
        </p:nvSpPr>
        <p:spPr>
          <a:xfrm>
            <a:off x="6282266" y="2018130"/>
            <a:ext cx="50715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cs typeface="+mn-ea"/>
                <a:sym typeface="+mn-lt"/>
              </a:rPr>
              <a:t>Back-propagation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8237B6-6AB7-4F20-9C0B-3438D272D660}"/>
              </a:ext>
            </a:extLst>
          </p:cNvPr>
          <p:cNvGrpSpPr/>
          <p:nvPr/>
        </p:nvGrpSpPr>
        <p:grpSpPr>
          <a:xfrm>
            <a:off x="7119733" y="3117602"/>
            <a:ext cx="4234066" cy="1767383"/>
            <a:chOff x="7119733" y="2513708"/>
            <a:chExt cx="4234066" cy="1767383"/>
          </a:xfrm>
        </p:grpSpPr>
        <p:pic>
          <p:nvPicPr>
            <p:cNvPr id="5" name="Shape 171">
              <a:extLst>
                <a:ext uri="{FF2B5EF4-FFF2-40B4-BE49-F238E27FC236}">
                  <a16:creationId xmlns:a16="http://schemas.microsoft.com/office/drawing/2014/main" id="{974801A8-2CAB-42B6-8894-B6DF381B4085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119733" y="2513708"/>
              <a:ext cx="3827665" cy="1767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Shape 173">
              <a:extLst>
                <a:ext uri="{FF2B5EF4-FFF2-40B4-BE49-F238E27FC236}">
                  <a16:creationId xmlns:a16="http://schemas.microsoft.com/office/drawing/2014/main" id="{5A3A26CF-6A50-41A4-B7D5-36D36EB18ED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05899" y="2513708"/>
              <a:ext cx="2247900" cy="38100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608297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4958-50C2-4369-AC96-F4E21D92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Optimization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76AC6-14CE-4641-9C01-09E22FF7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zh-CN" altLang="en-US" b="1" dirty="0"/>
              <a:t>数据预处理</a:t>
            </a:r>
            <a:r>
              <a:rPr lang="en-US" altLang="zh-CN" b="1" dirty="0"/>
              <a:t>&amp;</a:t>
            </a:r>
            <a:r>
              <a:rPr lang="zh-CN" altLang="en-US" b="1" dirty="0"/>
              <a:t>数据增强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6A9001-0E52-4BCE-A06A-FBC470E9B656}"/>
              </a:ext>
            </a:extLst>
          </p:cNvPr>
          <p:cNvSpPr txBox="1">
            <a:spLocks/>
          </p:cNvSpPr>
          <p:nvPr/>
        </p:nvSpPr>
        <p:spPr>
          <a:xfrm>
            <a:off x="6426196" y="1830917"/>
            <a:ext cx="513926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Learning rate</a:t>
            </a:r>
            <a:endParaRPr lang="zh-CN" altLang="en-US" b="1" dirty="0"/>
          </a:p>
        </p:txBody>
      </p:sp>
      <p:pic>
        <p:nvPicPr>
          <p:cNvPr id="6" name="Picture 2" descr="数据增强(Data Augmentation)">
            <a:extLst>
              <a:ext uri="{FF2B5EF4-FFF2-40B4-BE49-F238E27FC236}">
                <a16:creationId xmlns:a16="http://schemas.microsoft.com/office/drawing/2014/main" id="{ACD8F439-331B-4D37-B8C1-857300F90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187" y="4628050"/>
            <a:ext cx="3674533" cy="186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://cs231n.github.io/assets/nn2/prepro1.jpeg">
            <a:extLst>
              <a:ext uri="{FF2B5EF4-FFF2-40B4-BE49-F238E27FC236}">
                <a16:creationId xmlns:a16="http://schemas.microsoft.com/office/drawing/2014/main" id="{16E0B86A-2D96-414A-8D91-3F7A402F0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26072"/>
            <a:ext cx="4664509" cy="160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cs231n.github.io/assets/nn3/learningrates.jpeg">
            <a:extLst>
              <a:ext uri="{FF2B5EF4-FFF2-40B4-BE49-F238E27FC236}">
                <a16:creationId xmlns:a16="http://schemas.microsoft.com/office/drawing/2014/main" id="{279CD819-9BFC-48EF-84F4-4E3F3ED4A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656" y="2887258"/>
            <a:ext cx="3830347" cy="345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31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93BE-C224-47D4-935C-2D6F80BC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Transfer Learning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4050F-854C-4B46-8FA9-50FA54DE4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利用预训练好的网络参数，完成其他任务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C44B7-6964-4E0D-952F-1DD2C4598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335" y="2702011"/>
            <a:ext cx="8235329" cy="347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5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9DE2D-FEFF-47CA-82B7-473CA9E3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Image Segmentation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D6AEE-728A-478B-ADA1-7EE416C7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7924"/>
            <a:ext cx="5157287" cy="2586740"/>
          </a:xfrm>
          <a:prstGeom prst="rect">
            <a:avLst/>
          </a:prstGeom>
        </p:spPr>
      </p:pic>
      <p:pic>
        <p:nvPicPr>
          <p:cNvPr id="5" name="Picture 2" descr="https://lmb.informatik.uni-freiburg.de/people/ronneber/u-net/u-net-architecture.png">
            <a:extLst>
              <a:ext uri="{FF2B5EF4-FFF2-40B4-BE49-F238E27FC236}">
                <a16:creationId xmlns:a16="http://schemas.microsoft.com/office/drawing/2014/main" id="{7A838491-236F-4076-8C71-495158954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515" y="2190212"/>
            <a:ext cx="5436599" cy="362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993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B50F-BA0E-42BF-8986-BE3C9445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Object Detection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0807F-9158-491A-8CB5-4D7AAEB01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R-CNN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4DC70-E7DF-48AD-B175-87F202CDE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086" y="2524571"/>
            <a:ext cx="9083827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28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B50F-BA0E-42BF-8986-BE3C9445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Object Detection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0807F-9158-491A-8CB5-4D7AAEB01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Fast R-CNN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8D2403-4132-4B1F-BE38-D3E83566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333" y="2621344"/>
            <a:ext cx="8547333" cy="34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38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3BD0-1B3C-412F-887A-1401A5377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Object Detection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06F05-8D83-4F11-9391-42BA27CD3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Faster R-CNN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7FF3C-4360-4C0C-A2B8-02A965B5F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92" y="2633195"/>
            <a:ext cx="8577815" cy="34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24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8893-BB01-49A4-A187-346E4417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Object Detection</a:t>
            </a:r>
            <a:endParaRPr lang="zh-CN" alt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62FCA7-E8E4-4985-A8AA-EE3F7AA99600}"/>
              </a:ext>
            </a:extLst>
          </p:cNvPr>
          <p:cNvGrpSpPr/>
          <p:nvPr/>
        </p:nvGrpSpPr>
        <p:grpSpPr>
          <a:xfrm>
            <a:off x="7553990" y="2467624"/>
            <a:ext cx="3523465" cy="3403289"/>
            <a:chOff x="6571569" y="1037165"/>
            <a:chExt cx="5221321" cy="4826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7B2422D-5C4F-4A08-B19E-C8B9F0B6C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1569" y="1037165"/>
              <a:ext cx="5221321" cy="4826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BBFDE7-ECF1-4DF9-B711-DE9DB3DF6850}"/>
                </a:ext>
              </a:extLst>
            </p:cNvPr>
            <p:cNvSpPr/>
            <p:nvPr/>
          </p:nvSpPr>
          <p:spPr>
            <a:xfrm>
              <a:off x="6625465" y="5581440"/>
              <a:ext cx="2450801" cy="2817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D32D1519-D9C9-4246-A4E3-01E151E95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7943" y="2758031"/>
            <a:ext cx="6284412" cy="27298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89-2E12-495E-ACD7-5651365FB397}"/>
              </a:ext>
            </a:extLst>
          </p:cNvPr>
          <p:cNvSpPr/>
          <p:nvPr/>
        </p:nvSpPr>
        <p:spPr>
          <a:xfrm>
            <a:off x="3058433" y="5715298"/>
            <a:ext cx="10903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YOLO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93E2708-68D8-4CF6-8B6C-1AFF7193919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利用图像的全局特征完成目标检测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zh-CN" altLang="en-US" b="1" dirty="0">
                <a:cs typeface="+mn-ea"/>
                <a:sym typeface="+mn-lt"/>
              </a:rPr>
              <a:t>输出：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7*7*30</a:t>
            </a:r>
            <a:r>
              <a:rPr lang="en-US" altLang="zh-CN" b="1" dirty="0">
                <a:solidFill>
                  <a:srgbClr val="00B050"/>
                </a:solidFill>
                <a:cs typeface="+mn-ea"/>
                <a:sym typeface="+mn-lt"/>
              </a:rPr>
              <a:t> (Pascal </a:t>
            </a:r>
            <a:r>
              <a:rPr lang="en-US" altLang="zh-CN" b="1" dirty="0" err="1">
                <a:solidFill>
                  <a:srgbClr val="00B050"/>
                </a:solidFill>
                <a:cs typeface="+mn-ea"/>
                <a:sym typeface="+mn-lt"/>
              </a:rPr>
              <a:t>Voc</a:t>
            </a:r>
            <a:r>
              <a:rPr lang="en-US" altLang="zh-CN" b="1" dirty="0">
                <a:solidFill>
                  <a:srgbClr val="00B050"/>
                </a:solidFill>
                <a:cs typeface="+mn-ea"/>
                <a:sym typeface="+mn-lt"/>
              </a:rPr>
              <a:t>)</a:t>
            </a:r>
            <a:endParaRPr lang="zh-CN" altLang="en-US" dirty="0">
              <a:solidFill>
                <a:srgbClr val="00B05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888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8F94-2424-49C2-AA3A-D55180EB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Object Detection</a:t>
            </a:r>
            <a:endParaRPr lang="zh-CN" alt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5DC040-643D-4DDF-B0E9-2494CAAE5594}"/>
              </a:ext>
            </a:extLst>
          </p:cNvPr>
          <p:cNvSpPr/>
          <p:nvPr/>
        </p:nvSpPr>
        <p:spPr>
          <a:xfrm>
            <a:off x="5720737" y="6184316"/>
            <a:ext cx="750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SSD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41B679-2509-438C-A0DC-08E4D1C91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01" y="2517741"/>
            <a:ext cx="9280998" cy="35079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7B9685-56DF-41B5-9BDF-8146128F5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利用多层的特征完成不同大小的目标检测</a:t>
            </a:r>
          </a:p>
        </p:txBody>
      </p:sp>
    </p:spTree>
    <p:extLst>
      <p:ext uri="{BB962C8B-B14F-4D97-AF65-F5344CB8AC3E}">
        <p14:creationId xmlns:p14="http://schemas.microsoft.com/office/powerpoint/2010/main" val="22792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00C9-B3FC-48C4-910A-D3FBDF7D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Instance Segmentation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AABC8-5BF7-4E3F-8C5F-2D6F7AC3D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Cascade</a:t>
            </a:r>
            <a:r>
              <a:rPr lang="zh-CN" altLang="en-US" b="1" dirty="0">
                <a:cs typeface="+mn-ea"/>
                <a:sym typeface="+mn-lt"/>
              </a:rPr>
              <a:t>方式：</a:t>
            </a:r>
            <a:r>
              <a:rPr lang="en-US" altLang="zh-CN" dirty="0">
                <a:cs typeface="+mn-ea"/>
                <a:sym typeface="+mn-lt"/>
              </a:rPr>
              <a:t>Detection </a:t>
            </a:r>
            <a:r>
              <a:rPr lang="en-US" altLang="zh-CN" dirty="0">
                <a:cs typeface="+mn-ea"/>
                <a:sym typeface="Wingdings" panose="05000000000000000000" pitchFamily="2" charset="2"/>
              </a:rPr>
              <a:t></a:t>
            </a:r>
            <a:r>
              <a:rPr lang="en-US" altLang="zh-CN" dirty="0">
                <a:cs typeface="+mn-ea"/>
                <a:sym typeface="+mn-lt"/>
              </a:rPr>
              <a:t> Segmentation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251EE4-B85A-4A60-AA06-FDC756DEE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698" y="2562885"/>
            <a:ext cx="8724604" cy="387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78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B351-66CB-462A-9463-A080187A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Instance Segmentation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164CD-D915-419F-AEAA-639D520BD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Mask R-CNN </a:t>
            </a:r>
            <a:r>
              <a:rPr lang="en-US" altLang="zh-CN" dirty="0">
                <a:solidFill>
                  <a:srgbClr val="00B0F0"/>
                </a:solidFill>
              </a:rPr>
              <a:t>(Faster R-CNN + FCN)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51877-7E32-434A-BD1F-C76196C6A1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4" t="6663" r="6093" b="4579"/>
          <a:stretch/>
        </p:blipFill>
        <p:spPr>
          <a:xfrm>
            <a:off x="2821577" y="2811003"/>
            <a:ext cx="6548846" cy="350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5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76C4-812B-47BD-B554-83457A83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Neural Style Transfer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FC57B-A7FB-4164-90CD-A18FE0B68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117" y="2026131"/>
            <a:ext cx="5137663" cy="4351338"/>
          </a:xfrm>
        </p:spPr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如何表示图像的</a:t>
            </a:r>
            <a:r>
              <a:rPr lang="en-US" altLang="zh-CN" b="1" dirty="0">
                <a:solidFill>
                  <a:srgbClr val="00B050"/>
                </a:solidFill>
                <a:cs typeface="+mn-ea"/>
                <a:sym typeface="+mn-lt"/>
              </a:rPr>
              <a:t>Style?</a:t>
            </a:r>
          </a:p>
          <a:p>
            <a:pPr lvl="1"/>
            <a:r>
              <a:rPr lang="en-US" altLang="zh-CN" dirty="0">
                <a:cs typeface="+mn-ea"/>
                <a:sym typeface="+mn-lt"/>
              </a:rPr>
              <a:t>Gram matrix</a:t>
            </a:r>
          </a:p>
          <a:p>
            <a:pPr marL="457200" lvl="1" indent="0">
              <a:buNone/>
            </a:pPr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dirty="0">
              <a:cs typeface="+mn-ea"/>
              <a:sym typeface="+mn-lt"/>
            </a:endParaRPr>
          </a:p>
          <a:p>
            <a:pPr lvl="1"/>
            <a:r>
              <a:rPr lang="en-US" altLang="zh-CN" dirty="0">
                <a:cs typeface="+mn-ea"/>
                <a:sym typeface="+mn-lt"/>
              </a:rPr>
              <a:t>Instance Normalization</a:t>
            </a:r>
          </a:p>
          <a:p>
            <a:pPr lvl="1"/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80F765-4741-47DA-8075-D307DE3E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04" y="2930619"/>
            <a:ext cx="5238081" cy="1793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215463-FF90-4B36-9978-369F1579F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426" y="3081551"/>
            <a:ext cx="2192096" cy="7459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DCE9CC-B096-42A0-982B-5213A9042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262" y="4665289"/>
            <a:ext cx="2973372" cy="72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86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2DFD-0483-4824-8778-8AFC8BF6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GAN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8BA89A-BA61-4463-A247-22D1EA4CA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5475" y="3107428"/>
            <a:ext cx="6761049" cy="330550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03D391-B24B-4993-94D2-BCB59EDD0BA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两个网络：</a:t>
            </a:r>
            <a:r>
              <a:rPr lang="en-US" altLang="zh-CN" dirty="0">
                <a:cs typeface="+mn-ea"/>
                <a:sym typeface="+mn-lt"/>
              </a:rPr>
              <a:t>Generator</a:t>
            </a:r>
            <a:r>
              <a:rPr lang="zh-CN" altLang="en-US" dirty="0">
                <a:cs typeface="+mn-ea"/>
                <a:sym typeface="+mn-lt"/>
              </a:rPr>
              <a:t>和</a:t>
            </a:r>
            <a:r>
              <a:rPr lang="en-US" altLang="zh-CN" dirty="0">
                <a:cs typeface="+mn-ea"/>
                <a:sym typeface="+mn-lt"/>
              </a:rPr>
              <a:t>Discriminator</a:t>
            </a:r>
          </a:p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训练：</a:t>
            </a:r>
            <a:r>
              <a:rPr lang="en-US" altLang="zh-CN" dirty="0">
                <a:cs typeface="+mn-ea"/>
                <a:sym typeface="+mn-lt"/>
              </a:rPr>
              <a:t>Adversarial Training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2428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6207-D8DB-4574-939F-998DA210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Attention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7445E-56D3-49E3-816E-0705A180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b="1" dirty="0">
                <a:cs typeface="+mn-ea"/>
                <a:sym typeface="+mn-lt"/>
              </a:rPr>
              <a:t>Channel-wise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cs typeface="+mn-ea"/>
                <a:sym typeface="+mn-lt"/>
              </a:rPr>
              <a:t>Spatial-wise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cs typeface="+mn-ea"/>
                <a:sym typeface="+mn-lt"/>
              </a:rPr>
              <a:t>Spatial &amp; Channel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715E6-F26F-44CE-858E-367DBFDCE9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07" t="7991" r="8055" b="3293"/>
          <a:stretch/>
        </p:blipFill>
        <p:spPr>
          <a:xfrm>
            <a:off x="838200" y="4123269"/>
            <a:ext cx="4721281" cy="19388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AD07E8-21AC-4291-8EC6-F8BA5F6BFA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" t="4077" r="1836" b="3218"/>
          <a:stretch/>
        </p:blipFill>
        <p:spPr>
          <a:xfrm>
            <a:off x="6573952" y="3911601"/>
            <a:ext cx="5060324" cy="2150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EC9E5D-1FDD-4A0A-B6FF-5C21874B3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681" y="1205530"/>
            <a:ext cx="6355270" cy="202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62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4BA2-A342-4AD0-8A03-7DA4328E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Transformer</a:t>
            </a:r>
            <a:endParaRPr lang="zh-CN" altLang="en-US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A5E297-2086-4A45-B8F2-A55498B1C2CC}"/>
              </a:ext>
            </a:extLst>
          </p:cNvPr>
          <p:cNvGrpSpPr/>
          <p:nvPr/>
        </p:nvGrpSpPr>
        <p:grpSpPr>
          <a:xfrm>
            <a:off x="6367039" y="2261572"/>
            <a:ext cx="5206787" cy="4231303"/>
            <a:chOff x="6578706" y="2063911"/>
            <a:chExt cx="5206787" cy="42313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FE54C3D-F7A6-4866-8368-E33F6BEBC8C3}"/>
                </a:ext>
              </a:extLst>
            </p:cNvPr>
            <p:cNvGrpSpPr/>
            <p:nvPr/>
          </p:nvGrpSpPr>
          <p:grpSpPr>
            <a:xfrm>
              <a:off x="7010400" y="2063911"/>
              <a:ext cx="4343400" cy="3111187"/>
              <a:chOff x="3793156" y="2222419"/>
              <a:chExt cx="5904762" cy="427045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45A446F-B2A6-4296-9AC4-DB3AD726EC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93156" y="2226208"/>
                <a:ext cx="5904762" cy="4266667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FDE2256-3A64-404B-9E58-56801C2A8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44063" y="2226208"/>
                <a:ext cx="1209524" cy="1038095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60B6904-D3FC-4034-BC50-F1A282C7AB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88394" y="2222419"/>
                <a:ext cx="1209524" cy="1038095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00C1FB5-04A8-4A72-8AC2-656096B5C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8706" y="5175098"/>
              <a:ext cx="5206787" cy="1120116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C9F24DC-C79C-47D1-BDB5-3011CF00C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6457" y="1690688"/>
            <a:ext cx="2556490" cy="480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88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70FA-9CAE-4CA1-ACA3-39F580D6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考试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0A0B2-0316-409C-B6A8-BC6FF5639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问答题（</a:t>
            </a:r>
            <a:r>
              <a:rPr lang="en-US" altLang="zh-CN" dirty="0">
                <a:cs typeface="+mn-ea"/>
                <a:sym typeface="+mn-lt"/>
              </a:rPr>
              <a:t>50%</a:t>
            </a:r>
            <a:r>
              <a:rPr lang="zh-CN" altLang="en-US" dirty="0">
                <a:cs typeface="+mn-ea"/>
                <a:sym typeface="+mn-lt"/>
              </a:rPr>
              <a:t>）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计算题（</a:t>
            </a:r>
            <a:r>
              <a:rPr lang="en-US" altLang="zh-CN" dirty="0">
                <a:cs typeface="+mn-ea"/>
                <a:sym typeface="+mn-lt"/>
              </a:rPr>
              <a:t>20%</a:t>
            </a:r>
            <a:r>
              <a:rPr lang="zh-CN" altLang="en-US" dirty="0">
                <a:cs typeface="+mn-ea"/>
                <a:sym typeface="+mn-lt"/>
              </a:rPr>
              <a:t>） 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算法设计题（</a:t>
            </a:r>
            <a:r>
              <a:rPr lang="en-US" altLang="zh-CN" dirty="0">
                <a:cs typeface="+mn-ea"/>
                <a:sym typeface="+mn-lt"/>
              </a:rPr>
              <a:t>30%</a:t>
            </a:r>
            <a:r>
              <a:rPr lang="zh-CN" altLang="en-US" dirty="0">
                <a:cs typeface="+mn-ea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35673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22eqaze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315</Words>
  <Application>Microsoft Office PowerPoint</Application>
  <PresentationFormat>Widescreen</PresentationFormat>
  <Paragraphs>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宋体</vt:lpstr>
      <vt:lpstr>Arial</vt:lpstr>
      <vt:lpstr>Times New Roman</vt:lpstr>
      <vt:lpstr>Wingdings</vt:lpstr>
      <vt:lpstr>Office Theme</vt:lpstr>
      <vt:lpstr>Final Review</vt:lpstr>
      <vt:lpstr>Compute Vision</vt:lpstr>
      <vt:lpstr>2D仿射与投影变换</vt:lpstr>
      <vt:lpstr>Visual Recognition Task</vt:lpstr>
      <vt:lpstr>Face Detection</vt:lpstr>
      <vt:lpstr>Bag of Visual Word</vt:lpstr>
      <vt:lpstr>Bag of Visual Word</vt:lpstr>
      <vt:lpstr>Convolutional Neural Network</vt:lpstr>
      <vt:lpstr>Optimization</vt:lpstr>
      <vt:lpstr>Optimization</vt:lpstr>
      <vt:lpstr>Transfer Learning</vt:lpstr>
      <vt:lpstr>Image Segmentation</vt:lpstr>
      <vt:lpstr>Object Detection</vt:lpstr>
      <vt:lpstr>Object Detection</vt:lpstr>
      <vt:lpstr>Object Detection</vt:lpstr>
      <vt:lpstr>Object Detection</vt:lpstr>
      <vt:lpstr>Object Detection</vt:lpstr>
      <vt:lpstr>Instance Segmentation</vt:lpstr>
      <vt:lpstr>Instance Segmentation</vt:lpstr>
      <vt:lpstr>Neural Style Transfer</vt:lpstr>
      <vt:lpstr>GAN</vt:lpstr>
      <vt:lpstr>Attention</vt:lpstr>
      <vt:lpstr>Transformer</vt:lpstr>
      <vt:lpstr>考试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Review</dc:title>
  <dc:creator>Luo Zhiming</dc:creator>
  <cp:lastModifiedBy>Luo Zhiming</cp:lastModifiedBy>
  <cp:revision>56</cp:revision>
  <dcterms:created xsi:type="dcterms:W3CDTF">2022-05-06T14:42:18Z</dcterms:created>
  <dcterms:modified xsi:type="dcterms:W3CDTF">2023-06-08T11:12:50Z</dcterms:modified>
</cp:coreProperties>
</file>