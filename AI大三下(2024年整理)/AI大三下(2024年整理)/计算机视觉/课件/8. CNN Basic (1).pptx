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7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58" r:id="rId12"/>
    <p:sldId id="603" r:id="rId13"/>
    <p:sldId id="605" r:id="rId14"/>
    <p:sldId id="606" r:id="rId15"/>
    <p:sldId id="607" r:id="rId16"/>
    <p:sldId id="269" r:id="rId17"/>
    <p:sldId id="600" r:id="rId18"/>
    <p:sldId id="601" r:id="rId19"/>
    <p:sldId id="613" r:id="rId20"/>
    <p:sldId id="614" r:id="rId21"/>
    <p:sldId id="597" r:id="rId22"/>
    <p:sldId id="598" r:id="rId23"/>
    <p:sldId id="616" r:id="rId24"/>
    <p:sldId id="615" r:id="rId25"/>
    <p:sldId id="655" r:id="rId26"/>
    <p:sldId id="617" r:id="rId27"/>
    <p:sldId id="618" r:id="rId28"/>
    <p:sldId id="608" r:id="rId29"/>
    <p:sldId id="619" r:id="rId30"/>
    <p:sldId id="609" r:id="rId31"/>
    <p:sldId id="620" r:id="rId32"/>
    <p:sldId id="611" r:id="rId33"/>
    <p:sldId id="612" r:id="rId34"/>
    <p:sldId id="624" r:id="rId35"/>
    <p:sldId id="625" r:id="rId36"/>
    <p:sldId id="626" r:id="rId37"/>
    <p:sldId id="632" r:id="rId38"/>
    <p:sldId id="627" r:id="rId39"/>
    <p:sldId id="629" r:id="rId40"/>
    <p:sldId id="623" r:id="rId41"/>
    <p:sldId id="628" r:id="rId42"/>
    <p:sldId id="630" r:id="rId43"/>
    <p:sldId id="631" r:id="rId44"/>
    <p:sldId id="610" r:id="rId45"/>
    <p:sldId id="621" r:id="rId46"/>
    <p:sldId id="633" r:id="rId47"/>
    <p:sldId id="634" r:id="rId48"/>
    <p:sldId id="635" r:id="rId49"/>
    <p:sldId id="636" r:id="rId50"/>
    <p:sldId id="637" r:id="rId51"/>
    <p:sldId id="638" r:id="rId52"/>
    <p:sldId id="639" r:id="rId53"/>
    <p:sldId id="640" r:id="rId54"/>
    <p:sldId id="641" r:id="rId55"/>
    <p:sldId id="643" r:id="rId56"/>
    <p:sldId id="644" r:id="rId57"/>
    <p:sldId id="645" r:id="rId58"/>
    <p:sldId id="647" r:id="rId59"/>
    <p:sldId id="648" r:id="rId60"/>
    <p:sldId id="649" r:id="rId61"/>
    <p:sldId id="651" r:id="rId62"/>
    <p:sldId id="646" r:id="rId63"/>
    <p:sldId id="652" r:id="rId64"/>
    <p:sldId id="653" r:id="rId65"/>
    <p:sldId id="654" r:id="rId66"/>
    <p:sldId id="650" r:id="rId67"/>
    <p:sldId id="622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36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FB688-ACBE-4310-817D-12164591563E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F755D-4A8F-47C9-9EDD-54698EB589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203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AB6D-D2E6-4642-B008-6144B0C52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30A5A-7AAA-45CC-A859-1ADF7CF1E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076AA-474B-401B-AE8D-138427DC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50250-E637-4B77-8DDD-CE9D39BF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7DA6B-4ACD-457F-80D7-D118134E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8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5704-3268-47F2-9D29-18E0C4BA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FEFCF-B0D1-45EC-B686-92F10ED84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806CF-CFBA-449F-8470-3BDE78C4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DBBA4-32E7-48B9-BD04-86309010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3BB44-D90D-4ABF-A77E-40CD9A63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57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5088-3F41-4A18-8030-6ABB204B3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DB382-84D4-456C-BF05-4B4C110AA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26765-A384-429B-A4E0-41AC525B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23641-EE76-4AA9-9EF6-B2B41312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081DC-D17D-4FF2-B044-988CF292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91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E05E-1DD6-41BC-B748-2765F1EC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88D7A-EB6B-4845-AB42-510CC58F3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1CCF3-44DB-4222-A785-D983CDAD0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63B2A-2A16-42D3-81C4-7F376FDC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D1B69-4F5E-4BB6-A4D8-3D244222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E9C82-9B7D-4D35-855C-7E6703B8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21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3E5E-6809-4607-86FA-1E3E6256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63A0F-8610-45FA-A8C8-4DAA09EE2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6BC69-EE3D-4535-8935-703A3A211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EEFAC9-C4A2-4D01-B7A6-6A8D3BECF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9374B-C345-4F3B-8D48-66256AE6D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606D6-2BEB-487D-AC4B-0FBD5AE33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FE820-53F6-45A6-BA28-4F589D3C5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DC53C-B2E9-4F78-8380-56BBF84F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08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04E8-F54A-455B-B6D6-63842517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435AC-AA67-4DAB-85F8-1120F6EC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DB198-E38F-44DF-84DC-ABD9A62D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4A516-412F-4543-94F2-CCF8B6F4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37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7A312-D0DB-4605-9BDE-D780C5BD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E4DC-9443-45C2-B8B9-1D3CF8A99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B36F5-4DE9-4810-A180-566E3B9A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414F-2CCF-4CB0-AA61-AF9A7893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A19B9-B856-4A9D-B030-48D76F047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6B602-06EC-4E58-BC06-BCB0ABAD7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812F8-39F4-4C6A-B45A-E6C4FC59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BB6C5-1BC3-4ED1-BAED-E4FD5283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E9259-4C26-4263-9C51-CF17F792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25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FCDF-0477-4B49-AAB3-5973BE26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AB397-FBA8-4EF4-8F12-A7AD408FC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E7D30-182C-4684-947F-AA45D70F1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24771-720A-4451-A33D-7538C6AE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941D8-B554-4105-8C14-85F05190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9B3D5-F5A2-458F-AB75-F8746038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B6A2-879D-428F-8104-169E26C6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76A71-6456-448C-A1A9-2395E6E58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23C7A-FAA9-44F5-B188-1A8B2FE5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F869-876B-4950-AD84-7B49D526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3D374-A886-4B80-AE3E-D9E93E49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9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3E6FD3-6016-4508-9166-BC9563167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A81DF-C46C-4574-8EBF-F6B970C23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04E52-DD47-4F9C-A670-F9B9241D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BB424-BCB3-4690-BB61-C3D59C97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25611-C46B-4943-B5FC-45F32DB0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133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D738CE-27E0-4223-A6FE-4E5DABF32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C98E7-A712-470D-A8C4-053E99797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0FDD-B8A1-4BC1-8489-1CFC6A083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45F93-49B3-4D2F-BA13-FAA71B43E426}" type="datetimeFigureOut">
              <a:rPr lang="zh-CN" altLang="en-US" smtClean="0"/>
              <a:t>2023-4-16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F68A0-C71E-46A0-BB71-32520A2A6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B2326-B52D-49E7-8E4D-19EF341EE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3C6DB-1F5E-4D0E-9FCD-69235C005A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80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hyperlink" Target="https://pytorch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ytorch.wiki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pytorch.org/docs/stable/nn.html#convolution-lay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pytorch.org/docs/stable/nn.html#pooling-lay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pytorch.org/docs/stable/nn.html#pooling-lay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pytorch.org/docs/stable/nn.html#linear-lay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hyperlink" Target="https://pytorch.org/docs/stable/nn.functional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https://www.cs.cmu.edu/~aharley/vis/conv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pytorch.org/docs/stable/generated/torch.nn.functional.cross_entropy.html#torch.nn.functional.cross_entropy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61759947" TargetMode="External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orch.org/vision/main/transforms.html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hyperlink" Target="https://pytorch.org/docs/stable/data.html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gi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jpeg"/><Relationship Id="rId5" Type="http://schemas.microsoft.com/office/2007/relationships/hdphoto" Target="../media/hdphoto2.wdp"/><Relationship Id="rId4" Type="http://schemas.openxmlformats.org/officeDocument/2006/relationships/image" Target="../media/image9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orch/examples/blob/main/mnist/main.py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ytorch/examples/blob/main/mnist/main.p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44F1-4091-4EA7-96C8-E8AA374BCF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、卷积神经网络基础</a:t>
            </a:r>
            <a:br>
              <a:rPr lang="en-US" altLang="zh-CN" b="1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4000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Convolutional Neural Networks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37650-E011-43EA-8870-89BAF6F936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875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3D45-A8BD-4DBD-A126-A2A28E79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7F40A-FF9C-48C0-A4FE-EDBF7651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</a:rPr>
              <a:t>简介</a:t>
            </a:r>
            <a:endParaRPr lang="en-US" altLang="zh-CN" b="1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/>
              <a:t>基础层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网络模型结构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模型优化</a:t>
            </a:r>
          </a:p>
        </p:txBody>
      </p:sp>
    </p:spTree>
    <p:extLst>
      <p:ext uri="{BB962C8B-B14F-4D97-AF65-F5344CB8AC3E}">
        <p14:creationId xmlns:p14="http://schemas.microsoft.com/office/powerpoint/2010/main" val="248980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B3DF-BC1C-4604-AEF3-CEA70E74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ImageNet Challenge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526BA-F0A0-4E4E-B146-27C1B2956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9408D-67DB-421F-B48E-F6C15BF4B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058" y="2127447"/>
            <a:ext cx="7647884" cy="3747693"/>
          </a:xfrm>
          <a:prstGeom prst="rect">
            <a:avLst/>
          </a:prstGeom>
        </p:spPr>
      </p:pic>
      <p:sp>
        <p:nvSpPr>
          <p:cNvPr id="5" name="文本框 7">
            <a:extLst>
              <a:ext uri="{FF2B5EF4-FFF2-40B4-BE49-F238E27FC236}">
                <a16:creationId xmlns:a16="http://schemas.microsoft.com/office/drawing/2014/main" id="{9F0B0542-AABC-436E-8F5F-0F646D982EBC}"/>
              </a:ext>
            </a:extLst>
          </p:cNvPr>
          <p:cNvSpPr txBox="1"/>
          <p:nvPr/>
        </p:nvSpPr>
        <p:spPr>
          <a:xfrm>
            <a:off x="7980591" y="6627168"/>
            <a:ext cx="42114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cs typeface="+mn-ea"/>
                <a:sym typeface="+mn-lt"/>
              </a:rPr>
              <a:t>O. </a:t>
            </a:r>
            <a:r>
              <a:rPr lang="en-US" sz="900" dirty="0" err="1">
                <a:cs typeface="+mn-ea"/>
                <a:sym typeface="+mn-lt"/>
              </a:rPr>
              <a:t>Russakovsky</a:t>
            </a:r>
            <a:r>
              <a:rPr lang="en-US" sz="900" dirty="0">
                <a:cs typeface="+mn-ea"/>
                <a:sym typeface="+mn-lt"/>
              </a:rPr>
              <a:t>, et al. “</a:t>
            </a:r>
            <a:r>
              <a:rPr lang="en-US" sz="900" dirty="0" err="1">
                <a:cs typeface="+mn-ea"/>
                <a:sym typeface="+mn-lt"/>
              </a:rPr>
              <a:t>Imagenet</a:t>
            </a:r>
            <a:r>
              <a:rPr lang="en-US" sz="900" dirty="0">
                <a:cs typeface="+mn-ea"/>
                <a:sym typeface="+mn-lt"/>
              </a:rPr>
              <a:t> large scale visual recognition challenge”, </a:t>
            </a:r>
            <a:r>
              <a:rPr lang="en-US" sz="900" i="1" dirty="0">
                <a:cs typeface="+mn-ea"/>
                <a:sym typeface="+mn-lt"/>
              </a:rPr>
              <a:t> IJCV 2015</a:t>
            </a:r>
          </a:p>
        </p:txBody>
      </p:sp>
    </p:spTree>
    <p:extLst>
      <p:ext uri="{BB962C8B-B14F-4D97-AF65-F5344CB8AC3E}">
        <p14:creationId xmlns:p14="http://schemas.microsoft.com/office/powerpoint/2010/main" val="3348337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2329-F543-4B4F-8825-EA44092A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ImageNet Challenge: 2012</a:t>
            </a:r>
            <a:endParaRPr lang="zh-CN" alt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7D754-6367-4C1B-846E-73C9A535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49" y="1921933"/>
            <a:ext cx="8658702" cy="4097868"/>
          </a:xfrm>
          <a:prstGeom prst="rect">
            <a:avLst/>
          </a:prstGeom>
        </p:spPr>
      </p:pic>
      <p:sp>
        <p:nvSpPr>
          <p:cNvPr id="5" name="文本框 7">
            <a:extLst>
              <a:ext uri="{FF2B5EF4-FFF2-40B4-BE49-F238E27FC236}">
                <a16:creationId xmlns:a16="http://schemas.microsoft.com/office/drawing/2014/main" id="{E0A58A95-B7BE-4AF3-B2CA-9BEC0061945A}"/>
              </a:ext>
            </a:extLst>
          </p:cNvPr>
          <p:cNvSpPr txBox="1"/>
          <p:nvPr/>
        </p:nvSpPr>
        <p:spPr>
          <a:xfrm>
            <a:off x="6638364" y="6581001"/>
            <a:ext cx="55536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cs typeface="+mn-ea"/>
                <a:sym typeface="+mn-lt"/>
              </a:rPr>
              <a:t>O. </a:t>
            </a:r>
            <a:r>
              <a:rPr lang="en-US" sz="1200" dirty="0" err="1">
                <a:cs typeface="+mn-ea"/>
                <a:sym typeface="+mn-lt"/>
              </a:rPr>
              <a:t>Russakovsky</a:t>
            </a:r>
            <a:r>
              <a:rPr lang="en-US" sz="1200" dirty="0">
                <a:cs typeface="+mn-ea"/>
                <a:sym typeface="+mn-lt"/>
              </a:rPr>
              <a:t>, et al. “</a:t>
            </a:r>
            <a:r>
              <a:rPr lang="en-US" sz="1200" dirty="0" err="1">
                <a:cs typeface="+mn-ea"/>
                <a:sym typeface="+mn-lt"/>
              </a:rPr>
              <a:t>Imagenet</a:t>
            </a:r>
            <a:r>
              <a:rPr lang="en-US" sz="1200" dirty="0">
                <a:cs typeface="+mn-ea"/>
                <a:sym typeface="+mn-lt"/>
              </a:rPr>
              <a:t> large scale visual recognition challenge”, </a:t>
            </a:r>
            <a:r>
              <a:rPr lang="en-US" sz="1200" i="1" dirty="0">
                <a:cs typeface="+mn-ea"/>
                <a:sym typeface="+mn-lt"/>
              </a:rPr>
              <a:t> IJCV 2015</a:t>
            </a:r>
          </a:p>
        </p:txBody>
      </p:sp>
    </p:spTree>
    <p:extLst>
      <p:ext uri="{BB962C8B-B14F-4D97-AF65-F5344CB8AC3E}">
        <p14:creationId xmlns:p14="http://schemas.microsoft.com/office/powerpoint/2010/main" val="3690686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0ED4-9B66-42F2-B273-4284A436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AlexNet (Supervision)</a:t>
            </a:r>
            <a:endParaRPr lang="zh-CN" alt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BFE8A-2B15-4977-9B72-EC9B7F234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97A07638-5A74-4A53-A875-A321E8FD203D}"/>
              </a:ext>
            </a:extLst>
          </p:cNvPr>
          <p:cNvSpPr txBox="1"/>
          <p:nvPr/>
        </p:nvSpPr>
        <p:spPr>
          <a:xfrm>
            <a:off x="5789670" y="6581001"/>
            <a:ext cx="6402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cs typeface="+mn-ea"/>
                <a:sym typeface="+mn-lt"/>
              </a:rPr>
              <a:t>A. </a:t>
            </a:r>
            <a:r>
              <a:rPr lang="en-US" sz="1200" dirty="0" err="1">
                <a:cs typeface="+mn-ea"/>
                <a:sym typeface="+mn-lt"/>
              </a:rPr>
              <a:t>Krizhevsky</a:t>
            </a:r>
            <a:r>
              <a:rPr lang="en-US" sz="1200" dirty="0">
                <a:cs typeface="+mn-ea"/>
                <a:sym typeface="+mn-lt"/>
              </a:rPr>
              <a:t>, et al. “</a:t>
            </a:r>
            <a:r>
              <a:rPr lang="en-US" sz="1200" dirty="0" err="1">
                <a:cs typeface="+mn-ea"/>
                <a:sym typeface="+mn-lt"/>
              </a:rPr>
              <a:t>Imagenet</a:t>
            </a:r>
            <a:r>
              <a:rPr lang="en-US" sz="1200" dirty="0">
                <a:cs typeface="+mn-ea"/>
                <a:sym typeface="+mn-lt"/>
              </a:rPr>
              <a:t> classification with deep convolutional neural networks”, </a:t>
            </a:r>
            <a:r>
              <a:rPr lang="en-US" sz="1200" i="1" dirty="0">
                <a:cs typeface="+mn-ea"/>
                <a:sym typeface="+mn-lt"/>
              </a:rPr>
              <a:t> NIPS 2012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4F65C-FB31-4B68-9329-570BDE63A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61" y="2140893"/>
            <a:ext cx="9438277" cy="343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2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51D8-51E5-4233-8CD5-467380359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ConvNets is not new.</a:t>
            </a:r>
            <a:endParaRPr lang="zh-CN" alt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C1B5-B8EB-4A68-B198-2F2127425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97FCCDB-1FFA-4806-BD8C-E823CC7839BC}"/>
              </a:ext>
            </a:extLst>
          </p:cNvPr>
          <p:cNvGrpSpPr/>
          <p:nvPr/>
        </p:nvGrpSpPr>
        <p:grpSpPr>
          <a:xfrm>
            <a:off x="838200" y="2209800"/>
            <a:ext cx="4748427" cy="3834584"/>
            <a:chOff x="1348716" y="2932442"/>
            <a:chExt cx="4248893" cy="3506458"/>
          </a:xfrm>
        </p:grpSpPr>
        <p:pic>
          <p:nvPicPr>
            <p:cNvPr id="5" name="Picture 2" descr="http://yann.lecun.com/exdb/lenet/gifs/asamples.gif">
              <a:extLst>
                <a:ext uri="{FF2B5EF4-FFF2-40B4-BE49-F238E27FC236}">
                  <a16:creationId xmlns:a16="http://schemas.microsoft.com/office/drawing/2014/main" id="{56387F39-A3FE-4F9A-AF52-C9F27AAF391A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716" y="2932442"/>
              <a:ext cx="4248893" cy="2655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http://yann.lecun.com/exdb/lenet/gifs/legend-bottom.gif">
              <a:extLst>
                <a:ext uri="{FF2B5EF4-FFF2-40B4-BE49-F238E27FC236}">
                  <a16:creationId xmlns:a16="http://schemas.microsoft.com/office/drawing/2014/main" id="{5FDEFB66-DADF-4A28-9446-2995DE2881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4733" y="5588000"/>
              <a:ext cx="3403600" cy="850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4B870208-09B9-45AC-B157-A29C62CE8C5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179"/>
          <a:stretch/>
        </p:blipFill>
        <p:spPr>
          <a:xfrm>
            <a:off x="6190103" y="2827866"/>
            <a:ext cx="5163697" cy="207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8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DE14-7D75-4BDA-AE3C-80B777D81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ConvNets are everywhere</a:t>
            </a:r>
            <a:endParaRPr lang="zh-CN" alt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E99B1-9ABF-48C9-9C24-B8EE827AC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802D76D7-102D-4225-952C-ACCEC4C2A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484" y="2064733"/>
            <a:ext cx="8631031" cy="387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39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6DCD-065C-4CC1-83BE-A5ACE1E3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ConvNets are everywhere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DC111-2BE4-446A-B370-0E21D7395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DBCC9BD2-2655-4DA8-959C-8B5C3BEA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637" y="2164995"/>
            <a:ext cx="9092725" cy="367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83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9A654-8C64-4BCC-92C6-1B3585532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ConvNets are everywhere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23899-17D7-4691-818F-EE0E29B23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73E65C6C-9496-45EF-BC0C-687EB8B09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911" y="1943478"/>
            <a:ext cx="8944177" cy="411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66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3A64-ED22-49EE-91A8-59CF8698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ConvNets are everywhere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2D41-63D5-404D-B543-4AF819155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86D05272-16B5-4BA1-8E71-A7A434D6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10" y="1861512"/>
            <a:ext cx="9188980" cy="431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0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3D45-A8BD-4DBD-A126-A2A28E79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7F40A-FF9C-48C0-A4FE-EDBF7651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简介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</a:rPr>
              <a:t>基础层</a:t>
            </a:r>
            <a:endParaRPr lang="en-US" altLang="zh-CN" b="1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/>
              <a:t>网络模型结构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模型优化</a:t>
            </a:r>
          </a:p>
        </p:txBody>
      </p:sp>
    </p:spTree>
    <p:extLst>
      <p:ext uri="{BB962C8B-B14F-4D97-AF65-F5344CB8AC3E}">
        <p14:creationId xmlns:p14="http://schemas.microsoft.com/office/powerpoint/2010/main" val="256766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3A64-ED22-49EE-91A8-59CF8698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人工神经网络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A4AA58-A2DD-40DB-86BE-CBAE863CA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1869" y="1825625"/>
            <a:ext cx="82882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26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3A64-ED22-49EE-91A8-59CF8698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多层神经网络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B72E17-6CE2-4F41-B2BF-D0C6AF4EBA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61264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中间有一个或者多个</a:t>
                </a:r>
                <a:r>
                  <a:rPr lang="zh-CN" altLang="en-US" b="1" dirty="0">
                    <a:solidFill>
                      <a:srgbClr val="00B0F0"/>
                    </a:solidFill>
                    <a:cs typeface="+mn-ea"/>
                    <a:sym typeface="+mn-lt"/>
                  </a:rPr>
                  <a:t>隐含层</a:t>
                </a:r>
                <a:endParaRPr lang="en-US" altLang="zh-CN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每一层对应的参数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cs typeface="+mn-ea"/>
                    <a:sym typeface="+mn-lt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隐含层的输出：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𝒊</m:t>
                              </m:r>
                            </m:sub>
                          </m:sSub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B72E17-6CE2-4F41-B2BF-D0C6AF4EBA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61264" cy="4351338"/>
              </a:xfrm>
              <a:blipFill>
                <a:blip r:embed="rId2"/>
                <a:stretch>
                  <a:fillRect l="-2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A6AFEDE-6E27-477C-A673-A85F18F39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464" y="1882251"/>
            <a:ext cx="5622652" cy="329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39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3A64-ED22-49EE-91A8-59CF8698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多层神经网络 </a:t>
            </a:r>
            <a:r>
              <a:rPr lang="zh-CN" altLang="en-US" b="1" dirty="0">
                <a:solidFill>
                  <a:srgbClr val="00B0F0"/>
                </a:solidFill>
                <a:cs typeface="+mn-ea"/>
                <a:sym typeface="+mn-lt"/>
              </a:rPr>
              <a:t>（图像作为输入）</a:t>
            </a:r>
            <a:endParaRPr lang="zh-CN" altLang="en-US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B72E17-6CE2-4F41-B2BF-D0C6AF4EBA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63936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输入图片：</a:t>
                </a:r>
                <a:r>
                  <a:rPr lang="en-US" altLang="zh-CN" dirty="0">
                    <a:cs typeface="+mn-ea"/>
                    <a:sym typeface="+mn-lt"/>
                  </a:rPr>
                  <a:t>200*200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b="0" dirty="0">
                    <a:cs typeface="+mn-ea"/>
                    <a:sym typeface="+mn-lt"/>
                  </a:rPr>
                  <a:t>单层神经元：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4∗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4</m:t>
                        </m:r>
                      </m:sup>
                    </m:sSup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参数量 </a:t>
                </a:r>
                <a:r>
                  <a:rPr lang="en-US" altLang="zh-CN" dirty="0">
                    <a:cs typeface="+mn-ea"/>
                    <a:sym typeface="+mn-lt"/>
                  </a:rPr>
                  <a:t>(# Parameters without bias):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B72E17-6CE2-4F41-B2BF-D0C6AF4EBA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63936" cy="4351338"/>
              </a:xfrm>
              <a:blipFill>
                <a:blip r:embed="rId2"/>
                <a:stretch>
                  <a:fillRect l="-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771AA3E-067F-49EB-A1B3-9BD42A530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619" y="1862758"/>
            <a:ext cx="3327923" cy="31324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08573A1-D6CE-42C8-98B7-C41E317C95E4}"/>
                  </a:ext>
                </a:extLst>
              </p:cNvPr>
              <p:cNvSpPr/>
              <p:nvPr/>
            </p:nvSpPr>
            <p:spPr>
              <a:xfrm>
                <a:off x="2590275" y="4155414"/>
                <a:ext cx="2259786" cy="1036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𝟏𝟔</m:t>
                      </m:r>
                      <m:r>
                        <a:rPr lang="en-US" altLang="zh-C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sSup>
                        <m:sSupPr>
                          <m:ctrlPr>
                            <a:rPr lang="en-US" altLang="zh-CN" sz="4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pPr>
                        <m:e>
                          <m:r>
                            <a:rPr lang="en-US" altLang="zh-CN" sz="4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4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𝟖</m:t>
                          </m:r>
                        </m:sup>
                      </m:sSup>
                    </m:oMath>
                  </m:oMathPara>
                </a14:m>
                <a:endParaRPr lang="zh-CN" altLang="en-US" sz="4000" b="1" dirty="0">
                  <a:solidFill>
                    <a:srgbClr val="FF0000"/>
                  </a:solidFill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08573A1-D6CE-42C8-98B7-C41E317C9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275" y="4155414"/>
                <a:ext cx="2259786" cy="1036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4F34884-32C5-4946-9010-411C6F0C042F}"/>
              </a:ext>
            </a:extLst>
          </p:cNvPr>
          <p:cNvSpPr txBox="1"/>
          <p:nvPr/>
        </p:nvSpPr>
        <p:spPr>
          <a:xfrm>
            <a:off x="7451318" y="5326702"/>
            <a:ext cx="3480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7030A0"/>
                </a:solidFill>
              </a:rPr>
              <a:t>如何降低参数量？</a:t>
            </a:r>
          </a:p>
        </p:txBody>
      </p:sp>
    </p:spTree>
    <p:extLst>
      <p:ext uri="{BB962C8B-B14F-4D97-AF65-F5344CB8AC3E}">
        <p14:creationId xmlns:p14="http://schemas.microsoft.com/office/powerpoint/2010/main" val="2363086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95B9-E638-4110-AC14-333606DB7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/>
              <a:t>卷积神经网络 </a:t>
            </a:r>
            <a:r>
              <a:rPr lang="en-US" altLang="zh-CN" sz="4000" b="1" dirty="0">
                <a:solidFill>
                  <a:srgbClr val="00B0F0"/>
                </a:solidFill>
              </a:rPr>
              <a:t>(Convolutional Neural Networks)</a:t>
            </a:r>
            <a:endParaRPr lang="zh-CN" altLang="en-US" sz="40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ED30-DFA9-410B-A8B3-F17D0F280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手写数字识别</a:t>
            </a:r>
          </a:p>
        </p:txBody>
      </p:sp>
      <p:pic>
        <p:nvPicPr>
          <p:cNvPr id="6" name="Picture 2" descr="Convolutional Neural Networks - Part 2 | Ismail Mebsout">
            <a:extLst>
              <a:ext uri="{FF2B5EF4-FFF2-40B4-BE49-F238E27FC236}">
                <a16:creationId xmlns:a16="http://schemas.microsoft.com/office/drawing/2014/main" id="{DCEEDB40-A159-4A14-A183-A1EBA0CE9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09" y="2795506"/>
            <a:ext cx="8851982" cy="338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803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BE2D-A7E3-4D00-9723-666234E8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CNN</a:t>
            </a:r>
            <a:r>
              <a:rPr lang="zh-CN" altLang="en-US" b="1" dirty="0"/>
              <a:t>的基本层 </a:t>
            </a:r>
            <a:r>
              <a:rPr lang="en-US" altLang="zh-CN" b="1" dirty="0">
                <a:solidFill>
                  <a:srgbClr val="00B0F0"/>
                </a:solidFill>
              </a:rPr>
              <a:t>(Basic Layers)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12D35-19B8-4861-BADA-39C356E0D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61984" indent="-457200">
              <a:lnSpc>
                <a:spcPct val="150000"/>
              </a:lnSpc>
            </a:pPr>
            <a:r>
              <a:rPr lang="en" altLang="zh-CN" dirty="0">
                <a:cs typeface="+mn-ea"/>
                <a:sym typeface="+mn-lt"/>
              </a:rPr>
              <a:t>Convolution Layer </a:t>
            </a:r>
            <a:r>
              <a:rPr lang="en-US" altLang="zh-CN" dirty="0">
                <a:cs typeface="+mn-ea"/>
                <a:sym typeface="+mn-lt"/>
              </a:rPr>
              <a:t>(</a:t>
            </a:r>
            <a:r>
              <a:rPr lang="zh-CN" altLang="en-US" dirty="0">
                <a:cs typeface="+mn-ea"/>
                <a:sym typeface="+mn-lt"/>
              </a:rPr>
              <a:t>卷积层</a:t>
            </a:r>
            <a:r>
              <a:rPr lang="en-US" altLang="zh-CN" dirty="0">
                <a:cs typeface="+mn-ea"/>
                <a:sym typeface="+mn-lt"/>
              </a:rPr>
              <a:t>)</a:t>
            </a:r>
            <a:endParaRPr lang="en" altLang="zh-CN" dirty="0">
              <a:cs typeface="+mn-ea"/>
              <a:sym typeface="+mn-lt"/>
            </a:endParaRPr>
          </a:p>
          <a:p>
            <a:pPr marL="761984" indent="-457200">
              <a:lnSpc>
                <a:spcPct val="150000"/>
              </a:lnSpc>
            </a:pPr>
            <a:r>
              <a:rPr lang="en" altLang="zh-CN" dirty="0">
                <a:cs typeface="+mn-ea"/>
                <a:sym typeface="+mn-lt"/>
              </a:rPr>
              <a:t>Pooling Layer (</a:t>
            </a:r>
            <a:r>
              <a:rPr lang="zh-CN" altLang="en-US" dirty="0">
                <a:cs typeface="+mn-ea"/>
                <a:sym typeface="+mn-lt"/>
              </a:rPr>
              <a:t>池化层</a:t>
            </a:r>
            <a:r>
              <a:rPr lang="en-US" altLang="zh-CN" dirty="0">
                <a:cs typeface="+mn-ea"/>
                <a:sym typeface="+mn-lt"/>
              </a:rPr>
              <a:t>)</a:t>
            </a:r>
            <a:endParaRPr lang="en" altLang="zh-CN" dirty="0">
              <a:cs typeface="+mn-ea"/>
              <a:sym typeface="+mn-lt"/>
            </a:endParaRPr>
          </a:p>
          <a:p>
            <a:pPr marL="761984" indent="-457200">
              <a:lnSpc>
                <a:spcPct val="150000"/>
              </a:lnSpc>
            </a:pPr>
            <a:r>
              <a:rPr lang="en" altLang="zh-CN" dirty="0">
                <a:cs typeface="+mn-ea"/>
                <a:sym typeface="+mn-lt"/>
              </a:rPr>
              <a:t>Fully-Connected Layer  (</a:t>
            </a:r>
            <a:r>
              <a:rPr lang="zh-CN" altLang="en-US" dirty="0">
                <a:cs typeface="+mn-ea"/>
                <a:sym typeface="+mn-lt"/>
              </a:rPr>
              <a:t>全连接层、线性层）</a:t>
            </a:r>
            <a:endParaRPr lang="en" altLang="zh-CN" dirty="0">
              <a:cs typeface="+mn-ea"/>
              <a:sym typeface="+mn-lt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3559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C7DC-B730-4BFE-B0CB-94947442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内积计算 </a:t>
            </a:r>
            <a:r>
              <a:rPr lang="en-US" altLang="zh-CN" b="1" dirty="0"/>
              <a:t>(Inner Products)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28EC0-A77E-4ED4-A055-5A3472B96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向量内积 </a:t>
                </a:r>
                <a:r>
                  <a:rPr lang="en-US" altLang="zh-CN" b="1" dirty="0"/>
                  <a:t>(Vector Inner Product)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28EC0-A77E-4ED4-A055-5A3472B96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9ED3C0E-A8F9-45AB-8559-191C14C43E0D}"/>
                  </a:ext>
                </a:extLst>
              </p:cNvPr>
              <p:cNvSpPr/>
              <p:nvPr/>
            </p:nvSpPr>
            <p:spPr>
              <a:xfrm>
                <a:off x="1602419" y="2666376"/>
                <a:ext cx="4307526" cy="17433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3200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9ED3C0E-A8F9-45AB-8559-191C14C43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419" y="2666376"/>
                <a:ext cx="4307526" cy="17433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062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C7DC-B730-4BFE-B0CB-94947442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内积计算 </a:t>
            </a:r>
            <a:r>
              <a:rPr lang="en-US" altLang="zh-CN" b="1" dirty="0"/>
              <a:t>(Inner Products)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28EC0-A77E-4ED4-A055-5A3472B96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/>
                  <a:t>矩阵内积 </a:t>
                </a:r>
                <a:r>
                  <a:rPr lang="en-US" altLang="zh-CN" b="1" dirty="0"/>
                  <a:t>(Matrix Inner Product)</a:t>
                </a:r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vec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vec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28EC0-A77E-4ED4-A055-5A3472B96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252A13-033C-4876-A285-51FB651F4544}"/>
                  </a:ext>
                </a:extLst>
              </p:cNvPr>
              <p:cNvSpPr/>
              <p:nvPr/>
            </p:nvSpPr>
            <p:spPr>
              <a:xfrm>
                <a:off x="2399373" y="2641209"/>
                <a:ext cx="5662063" cy="9235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3200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252A13-033C-4876-A285-51FB651F4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373" y="2641209"/>
                <a:ext cx="5662063" cy="923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685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C7DC-B730-4BFE-B0CB-94947442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内积计算 </a:t>
            </a:r>
            <a:r>
              <a:rPr lang="en-US" altLang="zh-CN" b="1" dirty="0"/>
              <a:t>(Inner Products)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28EC0-A77E-4ED4-A055-5A3472B96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张量内积（</a:t>
                </a:r>
                <a:r>
                  <a:rPr lang="en-US" altLang="zh-CN" b="1" dirty="0"/>
                  <a:t>Tensor Inner Product)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vec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vec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28EC0-A77E-4ED4-A055-5A3472B96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E24E911-860C-4CD6-9946-1EB160A1652E}"/>
              </a:ext>
            </a:extLst>
          </p:cNvPr>
          <p:cNvGrpSpPr/>
          <p:nvPr/>
        </p:nvGrpSpPr>
        <p:grpSpPr>
          <a:xfrm>
            <a:off x="2399373" y="2497821"/>
            <a:ext cx="5531271" cy="1124126"/>
            <a:chOff x="2399373" y="2304874"/>
            <a:chExt cx="5531271" cy="112412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C6260B25-08B2-4E83-8EE3-731C5CC6DD91}"/>
                    </a:ext>
                  </a:extLst>
                </p:cNvPr>
                <p:cNvSpPr/>
                <p:nvPr/>
              </p:nvSpPr>
              <p:spPr>
                <a:xfrm>
                  <a:off x="2399373" y="2641209"/>
                  <a:ext cx="439036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1"/>
                  <a14:m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zh-CN" altLang="en-US" sz="3200" dirty="0"/>
                    <a:t>                       </a:t>
                  </a:r>
                  <a14:m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C6260B25-08B2-4E83-8EE3-731C5CC6DD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9373" y="2641209"/>
                  <a:ext cx="439036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66859F-8477-4425-9ABB-1A34FEAB5F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1055" t="10086" r="5754" b="6791"/>
            <a:stretch/>
          </p:blipFill>
          <p:spPr>
            <a:xfrm>
              <a:off x="3724713" y="2304875"/>
              <a:ext cx="1140902" cy="11241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953CD85-5B11-4278-8E7F-0BE472B434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1055" t="10086" r="5754" b="6791"/>
            <a:stretch/>
          </p:blipFill>
          <p:spPr>
            <a:xfrm>
              <a:off x="6789742" y="2304874"/>
              <a:ext cx="1140902" cy="1124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0026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B587-6A00-45AF-AEB9-E320AB89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Image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(Matrix / Tensor)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8B453-DAB2-4CE2-B0DD-358BEB020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500" y="4612000"/>
            <a:ext cx="3337278" cy="16033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/>
              <a:t>MNIST Dataset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Matrix</a:t>
            </a:r>
            <a:r>
              <a:rPr lang="zh-CN" altLang="en-US" dirty="0"/>
              <a:t>：</a:t>
            </a:r>
            <a:r>
              <a:rPr lang="en-US" altLang="zh-CN" dirty="0"/>
              <a:t>28*28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Tensor</a:t>
            </a:r>
            <a:r>
              <a:rPr lang="zh-CN" altLang="en-US" dirty="0"/>
              <a:t>：</a:t>
            </a:r>
            <a:r>
              <a:rPr lang="en-US" altLang="zh-CN" dirty="0"/>
              <a:t>1*28*28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19E93-6E44-4BD1-915B-E7D020703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847" y="2064890"/>
            <a:ext cx="2200584" cy="21948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A50119-B2F0-4D20-A251-DF2A09A2C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741" y="2064890"/>
            <a:ext cx="4062477" cy="225183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5C4B0F-9789-4D25-87AB-C68844478915}"/>
              </a:ext>
            </a:extLst>
          </p:cNvPr>
          <p:cNvSpPr txBox="1">
            <a:spLocks/>
          </p:cNvSpPr>
          <p:nvPr/>
        </p:nvSpPr>
        <p:spPr>
          <a:xfrm>
            <a:off x="6554741" y="4612000"/>
            <a:ext cx="3337278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/>
              <a:t>RGB Image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Tensor</a:t>
            </a:r>
            <a:r>
              <a:rPr lang="zh-CN" altLang="en-US" dirty="0"/>
              <a:t>：</a:t>
            </a:r>
            <a:r>
              <a:rPr lang="en-US" altLang="zh-CN" dirty="0"/>
              <a:t>3*W*H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1887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BE2D-A7E3-4D00-9723-666234E8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Convolution Layer (</a:t>
            </a:r>
            <a:r>
              <a:rPr lang="zh-CN" altLang="en-US" b="1" dirty="0"/>
              <a:t>卷积层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12D35-19B8-4861-BADA-39C356E0D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4784" indent="0">
              <a:lnSpc>
                <a:spcPct val="150000"/>
              </a:lnSpc>
              <a:buNone/>
            </a:pPr>
            <a:r>
              <a:rPr lang="zh-CN" altLang="en-US" dirty="0">
                <a:cs typeface="+mn-ea"/>
                <a:sym typeface="+mn-lt"/>
              </a:rPr>
              <a:t>图像梯度计算：</a:t>
            </a:r>
            <a:r>
              <a:rPr lang="en-US" altLang="zh-CN" dirty="0">
                <a:cs typeface="+mn-ea"/>
                <a:sym typeface="+mn-lt"/>
              </a:rPr>
              <a:t>Sobel Filter</a:t>
            </a:r>
            <a:endParaRPr lang="en" altLang="zh-CN" dirty="0">
              <a:cs typeface="+mn-ea"/>
              <a:sym typeface="+mn-lt"/>
            </a:endParaRP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714DE-D230-41ED-8743-70112CC798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506" t="54795" r="29909" b="13707"/>
          <a:stretch/>
        </p:blipFill>
        <p:spPr>
          <a:xfrm>
            <a:off x="1401523" y="3116495"/>
            <a:ext cx="4694477" cy="215747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F2DD6D8-AAE9-4B3B-B7CB-42BB17910F4B}"/>
              </a:ext>
            </a:extLst>
          </p:cNvPr>
          <p:cNvGrpSpPr/>
          <p:nvPr/>
        </p:nvGrpSpPr>
        <p:grpSpPr>
          <a:xfrm>
            <a:off x="6870221" y="1825625"/>
            <a:ext cx="4694477" cy="4478630"/>
            <a:chOff x="5697652" y="593367"/>
            <a:chExt cx="6245060" cy="6047438"/>
          </a:xfrm>
        </p:grpSpPr>
        <p:pic>
          <p:nvPicPr>
            <p:cNvPr id="6" name="Picture 2" descr="Sobel Operator">
              <a:extLst>
                <a:ext uri="{FF2B5EF4-FFF2-40B4-BE49-F238E27FC236}">
                  <a16:creationId xmlns:a16="http://schemas.microsoft.com/office/drawing/2014/main" id="{97D727CA-B359-461F-A2A0-CBFF45B064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3652" y="593367"/>
              <a:ext cx="2950738" cy="28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Sobel Operator">
              <a:extLst>
                <a:ext uri="{FF2B5EF4-FFF2-40B4-BE49-F238E27FC236}">
                  <a16:creationId xmlns:a16="http://schemas.microsoft.com/office/drawing/2014/main" id="{24E10FD0-9CF6-42F3-A5FF-EB82A9F127F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652" y="3760805"/>
              <a:ext cx="2952000" cy="28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Sobel Operator">
              <a:extLst>
                <a:ext uri="{FF2B5EF4-FFF2-40B4-BE49-F238E27FC236}">
                  <a16:creationId xmlns:a16="http://schemas.microsoft.com/office/drawing/2014/main" id="{5C045011-2278-4CCC-80F0-135D560D0E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0712" y="3730618"/>
              <a:ext cx="2952000" cy="2910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00470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551E-A835-48D3-99ED-B9E4C18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Convolution Layer (</a:t>
            </a:r>
            <a:r>
              <a:rPr lang="zh-CN" altLang="en-US" b="1" dirty="0"/>
              <a:t>卷积层</a:t>
            </a:r>
            <a:r>
              <a:rPr lang="en-US" altLang="zh-CN" b="1" dirty="0"/>
              <a:t>)</a:t>
            </a:r>
            <a:endParaRPr lang="zh-CN" altLang="en-US" dirty="0"/>
          </a:p>
        </p:txBody>
      </p:sp>
      <p:pic>
        <p:nvPicPr>
          <p:cNvPr id="5" name="Picture 2" descr="Screen Shot 2016-07-24 at 11.25.13 PM">
            <a:extLst>
              <a:ext uri="{FF2B5EF4-FFF2-40B4-BE49-F238E27FC236}">
                <a16:creationId xmlns:a16="http://schemas.microsoft.com/office/drawing/2014/main" id="{0F79E623-9EF2-4C3F-B8E7-B9869ABFB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373" y="2399368"/>
            <a:ext cx="1612900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creen Shot 2016-07-24 at 11.25.24 PM">
            <a:extLst>
              <a:ext uri="{FF2B5EF4-FFF2-40B4-BE49-F238E27FC236}">
                <a16:creationId xmlns:a16="http://schemas.microsoft.com/office/drawing/2014/main" id="{37B364BE-821E-43D9-A89B-6142C5A65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36" y="2628900"/>
            <a:ext cx="939801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DBD41-535B-4F66-A85F-C19BCD302DEF}"/>
              </a:ext>
            </a:extLst>
          </p:cNvPr>
          <p:cNvSpPr txBox="1"/>
          <p:nvPr/>
        </p:nvSpPr>
        <p:spPr>
          <a:xfrm>
            <a:off x="1433287" y="3859868"/>
            <a:ext cx="1457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cs typeface="+mn-ea"/>
                <a:sym typeface="+mn-lt"/>
              </a:rPr>
              <a:t>Input: 5*5</a:t>
            </a:r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7F824-E2FE-4543-9CCF-2B4605E179BB}"/>
              </a:ext>
            </a:extLst>
          </p:cNvPr>
          <p:cNvSpPr txBox="1"/>
          <p:nvPr/>
        </p:nvSpPr>
        <p:spPr>
          <a:xfrm>
            <a:off x="3685396" y="3536756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cs typeface="+mn-ea"/>
                <a:sym typeface="+mn-lt"/>
              </a:rPr>
              <a:t>Filter: 3*3</a:t>
            </a:r>
            <a:endParaRPr lang="zh-CN" altLang="en-US" sz="2400" dirty="0">
              <a:cs typeface="+mn-ea"/>
              <a:sym typeface="+mn-lt"/>
            </a:endParaRPr>
          </a:p>
        </p:txBody>
      </p:sp>
      <p:pic>
        <p:nvPicPr>
          <p:cNvPr id="10" name="图片 2">
            <a:extLst>
              <a:ext uri="{FF2B5EF4-FFF2-40B4-BE49-F238E27FC236}">
                <a16:creationId xmlns:a16="http://schemas.microsoft.com/office/drawing/2014/main" id="{33B8FC16-7194-41E5-9B1C-9C3D92558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126" y="2184400"/>
            <a:ext cx="3403600" cy="2489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A4721A-FD4A-48A0-B8D5-34EDEC9C1391}"/>
              </a:ext>
            </a:extLst>
          </p:cNvPr>
          <p:cNvSpPr txBox="1"/>
          <p:nvPr/>
        </p:nvSpPr>
        <p:spPr>
          <a:xfrm>
            <a:off x="3187992" y="5167312"/>
            <a:ext cx="5816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B0F0"/>
                </a:solidFill>
              </a:rPr>
              <a:t>输出大小</a:t>
            </a:r>
            <a:r>
              <a:rPr lang="zh-CN" altLang="en-US" sz="3200" b="1" dirty="0">
                <a:solidFill>
                  <a:srgbClr val="00B0F0"/>
                </a:solidFill>
                <a:sym typeface="Wingdings" panose="05000000000000000000" pitchFamily="2" charset="2"/>
              </a:rPr>
              <a:t>：</a:t>
            </a:r>
            <a:r>
              <a:rPr lang="en-US" altLang="zh-CN" sz="3200" dirty="0">
                <a:sym typeface="Wingdings" panose="05000000000000000000" pitchFamily="2" charset="2"/>
              </a:rPr>
              <a:t>(5-3+1)*(5-3+1)=3*3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68794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551E-A835-48D3-99ED-B9E4C18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Convolution Layer (</a:t>
            </a:r>
            <a:r>
              <a:rPr lang="zh-CN" altLang="en-US" b="1" dirty="0"/>
              <a:t>卷积层</a:t>
            </a:r>
            <a:r>
              <a:rPr lang="en-US" altLang="zh-CN" b="1" dirty="0"/>
              <a:t>)</a:t>
            </a:r>
            <a:endParaRPr lang="zh-CN" altLang="en-US" dirty="0"/>
          </a:p>
        </p:txBody>
      </p:sp>
      <p:pic>
        <p:nvPicPr>
          <p:cNvPr id="5" name="Picture 2" descr="Screen Shot 2016-07-24 at 11.25.13 PM">
            <a:extLst>
              <a:ext uri="{FF2B5EF4-FFF2-40B4-BE49-F238E27FC236}">
                <a16:creationId xmlns:a16="http://schemas.microsoft.com/office/drawing/2014/main" id="{0F79E623-9EF2-4C3F-B8E7-B9869ABFBE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3" t="20670"/>
          <a:stretch/>
        </p:blipFill>
        <p:spPr bwMode="auto">
          <a:xfrm>
            <a:off x="2919954" y="2062394"/>
            <a:ext cx="1286086" cy="115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creen Shot 2016-07-24 at 11.25.24 PM">
            <a:extLst>
              <a:ext uri="{FF2B5EF4-FFF2-40B4-BE49-F238E27FC236}">
                <a16:creationId xmlns:a16="http://schemas.microsoft.com/office/drawing/2014/main" id="{37B364BE-821E-43D9-A89B-6142C5A65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097" y="3966788"/>
            <a:ext cx="939801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DBD41-535B-4F66-A85F-C19BCD302DEF}"/>
              </a:ext>
            </a:extLst>
          </p:cNvPr>
          <p:cNvSpPr txBox="1"/>
          <p:nvPr/>
        </p:nvSpPr>
        <p:spPr>
          <a:xfrm>
            <a:off x="2834272" y="3287499"/>
            <a:ext cx="1457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cs typeface="+mn-ea"/>
                <a:sym typeface="+mn-lt"/>
              </a:rPr>
              <a:t>Input: 4*4</a:t>
            </a:r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7F824-E2FE-4543-9CCF-2B4605E179BB}"/>
              </a:ext>
            </a:extLst>
          </p:cNvPr>
          <p:cNvSpPr txBox="1"/>
          <p:nvPr/>
        </p:nvSpPr>
        <p:spPr>
          <a:xfrm>
            <a:off x="2826257" y="4874644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cs typeface="+mn-ea"/>
                <a:sym typeface="+mn-lt"/>
              </a:rPr>
              <a:t>Filter: 3*3</a:t>
            </a:r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A4721A-FD4A-48A0-B8D5-34EDEC9C1391}"/>
              </a:ext>
            </a:extLst>
          </p:cNvPr>
          <p:cNvSpPr txBox="1"/>
          <p:nvPr/>
        </p:nvSpPr>
        <p:spPr>
          <a:xfrm>
            <a:off x="3288660" y="5708016"/>
            <a:ext cx="5816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B0F0"/>
                </a:solidFill>
              </a:rPr>
              <a:t>输出大小</a:t>
            </a:r>
            <a:r>
              <a:rPr lang="zh-CN" altLang="en-US" sz="3200" b="1" dirty="0">
                <a:solidFill>
                  <a:srgbClr val="00B0F0"/>
                </a:solidFill>
                <a:sym typeface="Wingdings" panose="05000000000000000000" pitchFamily="2" charset="2"/>
              </a:rPr>
              <a:t>：</a:t>
            </a:r>
            <a:r>
              <a:rPr lang="en-US" altLang="zh-CN" sz="3200" dirty="0">
                <a:sym typeface="Wingdings" panose="05000000000000000000" pitchFamily="2" charset="2"/>
              </a:rPr>
              <a:t>(4-3+1)*(4-3+1)=2*2</a:t>
            </a:r>
            <a:endParaRPr lang="zh-CN" alt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82CB75-807C-4305-8563-B02DC58A13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222" t="34417"/>
          <a:stretch/>
        </p:blipFill>
        <p:spPr>
          <a:xfrm>
            <a:off x="7430379" y="3233963"/>
            <a:ext cx="939802" cy="93077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FBAAA1A-630A-4A86-8054-0833BD9F33D2}"/>
              </a:ext>
            </a:extLst>
          </p:cNvPr>
          <p:cNvGrpSpPr/>
          <p:nvPr/>
        </p:nvGrpSpPr>
        <p:grpSpPr>
          <a:xfrm>
            <a:off x="5003172" y="3139332"/>
            <a:ext cx="1781175" cy="495532"/>
            <a:chOff x="5003172" y="3139332"/>
            <a:chExt cx="1781175" cy="4955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D85B3B9-7316-4A30-9E74-158ECAD17789}"/>
                </a:ext>
              </a:extLst>
            </p:cNvPr>
            <p:cNvCxnSpPr/>
            <p:nvPr/>
          </p:nvCxnSpPr>
          <p:spPr>
            <a:xfrm>
              <a:off x="5003172" y="3634864"/>
              <a:ext cx="1781175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170FAE-A017-4BC7-9237-E740DFAD659B}"/>
                </a:ext>
              </a:extLst>
            </p:cNvPr>
            <p:cNvSpPr txBox="1"/>
            <p:nvPr/>
          </p:nvSpPr>
          <p:spPr>
            <a:xfrm>
              <a:off x="5124960" y="3139332"/>
              <a:ext cx="15376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Convolution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88698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551E-A835-48D3-99ED-B9E4C18A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Convolution Layer (</a:t>
            </a:r>
            <a:r>
              <a:rPr lang="zh-CN" altLang="en-US" b="1" dirty="0"/>
              <a:t>卷积层</a:t>
            </a:r>
            <a:r>
              <a:rPr lang="en-US" altLang="zh-CN" b="1" dirty="0"/>
              <a:t>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AA3F6-D7AE-47D4-A0B8-7D1FEB4903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58854" y="1825625"/>
                <a:ext cx="4994945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Kernel size </a:t>
                </a:r>
                <a:r>
                  <a:rPr lang="en-US" altLang="zh-CN" dirty="0">
                    <a:solidFill>
                      <a:srgbClr val="00B0F0"/>
                    </a:solidFill>
                  </a:rPr>
                  <a:t>(K)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Stride </a:t>
                </a: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(S)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030A0"/>
                    </a:solidFill>
                    <a:cs typeface="+mn-ea"/>
                    <a:sym typeface="+mn-lt"/>
                  </a:rPr>
                  <a:t>Output Size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𝑶</m:t>
                      </m:r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𝑾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𝑲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𝑺</m:t>
                          </m:r>
                        </m:den>
                      </m:f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𝟏</m:t>
                      </m:r>
                    </m:oMath>
                  </m:oMathPara>
                </a14:m>
                <a:endParaRPr lang="en-US" altLang="zh-CN" b="1" dirty="0">
                  <a:solidFill>
                    <a:srgbClr val="7030A0"/>
                  </a:solidFill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AA3F6-D7AE-47D4-A0B8-7D1FEB4903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8854" y="1825625"/>
                <a:ext cx="4994945" cy="4351338"/>
              </a:xfrm>
              <a:blipFill>
                <a:blip r:embed="rId2"/>
                <a:stretch>
                  <a:fillRect l="-2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https://adeshpande3.github.io/assets/Stride1.png">
            <a:extLst>
              <a:ext uri="{FF2B5EF4-FFF2-40B4-BE49-F238E27FC236}">
                <a16:creationId xmlns:a16="http://schemas.microsoft.com/office/drawing/2014/main" id="{866B6955-20FD-4A86-97D5-26667B209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4832543" cy="19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adeshpande3.github.io/assets/Stride2.png">
            <a:extLst>
              <a:ext uri="{FF2B5EF4-FFF2-40B4-BE49-F238E27FC236}">
                <a16:creationId xmlns:a16="http://schemas.microsoft.com/office/drawing/2014/main" id="{739D30BC-98C3-4560-9216-CF5CE8754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48" y="4062200"/>
            <a:ext cx="4873847" cy="19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8">
            <a:extLst>
              <a:ext uri="{FF2B5EF4-FFF2-40B4-BE49-F238E27FC236}">
                <a16:creationId xmlns:a16="http://schemas.microsoft.com/office/drawing/2014/main" id="{F5CD8B78-0FC2-47D2-9A00-3BE5E5AD30B0}"/>
              </a:ext>
            </a:extLst>
          </p:cNvPr>
          <p:cNvSpPr txBox="1"/>
          <p:nvPr/>
        </p:nvSpPr>
        <p:spPr>
          <a:xfrm>
            <a:off x="2466296" y="3511700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cs typeface="+mn-ea"/>
                <a:sym typeface="+mn-lt"/>
              </a:rPr>
              <a:t>K=3, S=1</a:t>
            </a:r>
          </a:p>
        </p:txBody>
      </p:sp>
      <p:sp>
        <p:nvSpPr>
          <p:cNvPr id="9" name="文本框 12">
            <a:extLst>
              <a:ext uri="{FF2B5EF4-FFF2-40B4-BE49-F238E27FC236}">
                <a16:creationId xmlns:a16="http://schemas.microsoft.com/office/drawing/2014/main" id="{133D6239-0B5C-44B8-B8A7-948B75750DCC}"/>
              </a:ext>
            </a:extLst>
          </p:cNvPr>
          <p:cNvSpPr txBox="1"/>
          <p:nvPr/>
        </p:nvSpPr>
        <p:spPr>
          <a:xfrm>
            <a:off x="2466296" y="5982200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cs typeface="+mn-ea"/>
                <a:sym typeface="+mn-lt"/>
              </a:rPr>
              <a:t>K=3, S=2</a:t>
            </a:r>
          </a:p>
        </p:txBody>
      </p:sp>
    </p:spTree>
    <p:extLst>
      <p:ext uri="{BB962C8B-B14F-4D97-AF65-F5344CB8AC3E}">
        <p14:creationId xmlns:p14="http://schemas.microsoft.com/office/powerpoint/2010/main" val="3995139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11A804-6776-4ED3-807F-056171A1B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52" y="3749417"/>
            <a:ext cx="4106438" cy="21162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497F09-743E-4139-9661-E44A4B87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Convolution Layer (</a:t>
            </a:r>
            <a:r>
              <a:rPr lang="zh-CN" altLang="en-US" b="1" dirty="0"/>
              <a:t>卷积层</a:t>
            </a:r>
            <a:r>
              <a:rPr lang="en-US" altLang="zh-CN" b="1" dirty="0"/>
              <a:t>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792C6-D224-490C-80CD-493080BC2E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7852" y="1825625"/>
                <a:ext cx="5145947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Kernel size </a:t>
                </a:r>
                <a:r>
                  <a:rPr lang="en-US" altLang="zh-CN" dirty="0">
                    <a:solidFill>
                      <a:srgbClr val="00B0F0"/>
                    </a:solidFill>
                  </a:rPr>
                  <a:t>(K)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Stride </a:t>
                </a: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(S)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Padding </a:t>
                </a: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(P)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030A0"/>
                    </a:solidFill>
                    <a:cs typeface="+mn-ea"/>
                    <a:sym typeface="+mn-lt"/>
                  </a:rPr>
                  <a:t>Output Size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𝑶</m:t>
                      </m:r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𝑾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𝑲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𝟐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𝑷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𝑺</m:t>
                          </m:r>
                        </m:den>
                      </m:f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𝟏</m:t>
                      </m:r>
                    </m:oMath>
                  </m:oMathPara>
                </a14:m>
                <a:endParaRPr lang="en-US" altLang="zh-CN" b="1" dirty="0">
                  <a:solidFill>
                    <a:srgbClr val="7030A0"/>
                  </a:solidFill>
                  <a:cs typeface="+mn-ea"/>
                  <a:sym typeface="+mn-lt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7792C6-D224-490C-80CD-493080BC2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7852" y="1825625"/>
                <a:ext cx="5145947" cy="4351338"/>
              </a:xfrm>
              <a:blipFill>
                <a:blip r:embed="rId3"/>
                <a:stretch>
                  <a:fillRect l="-2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9">
            <a:extLst>
              <a:ext uri="{FF2B5EF4-FFF2-40B4-BE49-F238E27FC236}">
                <a16:creationId xmlns:a16="http://schemas.microsoft.com/office/drawing/2014/main" id="{3DB20094-0068-4003-80BA-27D299FE3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847" y="6004388"/>
            <a:ext cx="2627753" cy="793689"/>
          </a:xfrm>
          <a:prstGeom prst="rect">
            <a:avLst/>
          </a:prstGeom>
        </p:spPr>
      </p:pic>
      <p:pic>
        <p:nvPicPr>
          <p:cNvPr id="6" name="Picture 2" descr="https://adeshpande3.github.io/assets/Stride1.png">
            <a:extLst>
              <a:ext uri="{FF2B5EF4-FFF2-40B4-BE49-F238E27FC236}">
                <a16:creationId xmlns:a16="http://schemas.microsoft.com/office/drawing/2014/main" id="{D54561F6-B3D8-4243-8FE4-409090631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52" y="1709738"/>
            <a:ext cx="4832543" cy="19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96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1933-ED28-4A6E-8402-2B8B3C728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Convolution Layer (</a:t>
            </a:r>
            <a:r>
              <a:rPr lang="zh-CN" altLang="en-US" b="1" dirty="0"/>
              <a:t>卷积层</a:t>
            </a:r>
            <a:r>
              <a:rPr lang="en-US" altLang="zh-CN" b="1" dirty="0"/>
              <a:t>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E16C4-F5A7-4A51-B275-0B2870E8F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2063750"/>
            <a:ext cx="2390775" cy="5937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Filter (tensor)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85A7D-89D6-4631-95E3-11AEB01B7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827" y="2932963"/>
            <a:ext cx="4173696" cy="31011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235F3C-284D-4597-9662-63B197366AF6}"/>
                  </a:ext>
                </a:extLst>
              </p:cNvPr>
              <p:cNvSpPr/>
              <p:nvPr/>
            </p:nvSpPr>
            <p:spPr>
              <a:xfrm>
                <a:off x="1304050" y="2657475"/>
                <a:ext cx="13864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235F3C-284D-4597-9662-63B197366A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050" y="2657475"/>
                <a:ext cx="138647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7D801EA-0FEF-47B9-AEA1-A858C18A6A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63300" y="1835150"/>
                <a:ext cx="5145947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Input (tensor):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Filter (tensor):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∗3∗3</m:t>
                    </m:r>
                  </m:oMath>
                </a14:m>
                <a:endParaRPr lang="en-US" altLang="zh-CN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030A0"/>
                    </a:solidFill>
                    <a:cs typeface="+mn-ea"/>
                    <a:sym typeface="+mn-lt"/>
                  </a:rPr>
                  <a:t>Output Size (matrix):</a:t>
                </a:r>
              </a:p>
              <a:p>
                <a:pPr marL="457200" lvl="1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𝒔𝒊𝒛𝒆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𝒘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𝟐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∗(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𝒉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−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𝟐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  <a:cs typeface="+mn-ea"/>
                  <a:sym typeface="+mn-lt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7D801EA-0FEF-47B9-AEA1-A858C18A6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00" y="1835150"/>
                <a:ext cx="5145947" cy="4351338"/>
              </a:xfrm>
              <a:prstGeom prst="rect">
                <a:avLst/>
              </a:prstGeom>
              <a:blipFill>
                <a:blip r:embed="rId4"/>
                <a:stretch>
                  <a:fillRect l="-2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742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C6C3-23EC-4BB3-BAD9-C3A49CC0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Convolution Layer (</a:t>
            </a:r>
            <a:r>
              <a:rPr lang="zh-CN" altLang="en-US" b="1" dirty="0"/>
              <a:t>卷积层</a:t>
            </a:r>
            <a:r>
              <a:rPr lang="en-US" altLang="zh-CN" b="1" dirty="0"/>
              <a:t>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A087E-645C-4BE1-9A48-8A429C20D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6025" cy="4351338"/>
          </a:xfrm>
        </p:spPr>
        <p:txBody>
          <a:bodyPr/>
          <a:lstStyle/>
          <a:p>
            <a:r>
              <a:rPr lang="zh-CN" altLang="en-US" b="1" dirty="0"/>
              <a:t>卷积层：</a:t>
            </a:r>
            <a:r>
              <a:rPr lang="en-US" altLang="zh-CN" b="1" dirty="0">
                <a:solidFill>
                  <a:srgbClr val="00B0F0"/>
                </a:solidFill>
              </a:rPr>
              <a:t>Multiple Filters</a:t>
            </a:r>
            <a:endParaRPr lang="zh-CN" altLang="en-US" b="1" dirty="0">
              <a:solidFill>
                <a:srgbClr val="00B0F0"/>
              </a:solidFill>
            </a:endParaRPr>
          </a:p>
          <a:p>
            <a:endParaRPr lang="zh-CN" altLang="en-US" dirty="0"/>
          </a:p>
        </p:txBody>
      </p:sp>
      <p:grpSp>
        <p:nvGrpSpPr>
          <p:cNvPr id="4" name="组合 6">
            <a:extLst>
              <a:ext uri="{FF2B5EF4-FFF2-40B4-BE49-F238E27FC236}">
                <a16:creationId xmlns:a16="http://schemas.microsoft.com/office/drawing/2014/main" id="{5DB24598-C83B-4A89-880E-712277381CAC}"/>
              </a:ext>
            </a:extLst>
          </p:cNvPr>
          <p:cNvGrpSpPr/>
          <p:nvPr/>
        </p:nvGrpSpPr>
        <p:grpSpPr>
          <a:xfrm>
            <a:off x="1134156" y="2466651"/>
            <a:ext cx="5877205" cy="2981321"/>
            <a:chOff x="4129121" y="1242763"/>
            <a:chExt cx="4407904" cy="2235991"/>
          </a:xfrm>
        </p:grpSpPr>
        <p:pic>
          <p:nvPicPr>
            <p:cNvPr id="5" name="图片 3">
              <a:extLst>
                <a:ext uri="{FF2B5EF4-FFF2-40B4-BE49-F238E27FC236}">
                  <a16:creationId xmlns:a16="http://schemas.microsoft.com/office/drawing/2014/main" id="{0D78596E-8DF1-4F63-9081-BFF47B146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9121" y="1242763"/>
              <a:ext cx="4407904" cy="223599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4">
                  <a:extLst>
                    <a:ext uri="{FF2B5EF4-FFF2-40B4-BE49-F238E27FC236}">
                      <a16:creationId xmlns:a16="http://schemas.microsoft.com/office/drawing/2014/main" id="{98AE1653-6059-4F1D-BEAE-B16769291A4A}"/>
                    </a:ext>
                  </a:extLst>
                </p:cNvPr>
                <p:cNvSpPr txBox="1"/>
                <p:nvPr/>
              </p:nvSpPr>
              <p:spPr>
                <a:xfrm>
                  <a:off x="5369053" y="2043109"/>
                  <a:ext cx="13143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7030A0"/>
                      </a:solidFill>
                      <a:cs typeface="+mn-ea"/>
                      <a:sym typeface="+mn-lt"/>
                    </a:rPr>
                    <a:t>six</a:t>
                  </a:r>
                  <a:r>
                    <a:rPr lang="en-US" altLang="zh-CN" b="1" dirty="0">
                      <a:solidFill>
                        <a:srgbClr val="00B0F0"/>
                      </a:solidFill>
                      <a:cs typeface="+mn-ea"/>
                      <a:sym typeface="+mn-lt"/>
                    </a:rPr>
                    <a:t>   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𝟓</m:t>
                      </m:r>
                      <m:r>
                        <a:rPr lang="en-US" altLang="zh-CN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∗</m:t>
                      </m:r>
                      <m:r>
                        <a:rPr lang="en-US" altLang="zh-CN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𝟓</m:t>
                      </m:r>
                    </m:oMath>
                  </a14:m>
                  <a:r>
                    <a:rPr lang="en-US" altLang="zh-CN" b="1" dirty="0">
                      <a:solidFill>
                        <a:srgbClr val="00B0F0"/>
                      </a:solidFill>
                      <a:cs typeface="+mn-ea"/>
                      <a:sym typeface="+mn-lt"/>
                    </a:rPr>
                    <a:t> filters</a:t>
                  </a:r>
                </a:p>
              </p:txBody>
            </p:sp>
          </mc:Choice>
          <mc:Fallback>
            <p:sp>
              <p:nvSpPr>
                <p:cNvPr id="6" name="文本框 4">
                  <a:extLst>
                    <a:ext uri="{FF2B5EF4-FFF2-40B4-BE49-F238E27FC236}">
                      <a16:creationId xmlns:a16="http://schemas.microsoft.com/office/drawing/2014/main" id="{98AE1653-6059-4F1D-BEAE-B16769291A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053" y="2043109"/>
                  <a:ext cx="131430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778" t="-10000" r="-3125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00138F-10A4-4EB5-9836-E5E98CB19D69}"/>
              </a:ext>
            </a:extLst>
          </p:cNvPr>
          <p:cNvGrpSpPr/>
          <p:nvPr/>
        </p:nvGrpSpPr>
        <p:grpSpPr>
          <a:xfrm>
            <a:off x="7686675" y="2741334"/>
            <a:ext cx="3944587" cy="1790928"/>
            <a:chOff x="7534275" y="3241437"/>
            <a:chExt cx="3944587" cy="179092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1026DB-35FD-4ADD-AA5A-43B6A6B42B46}"/>
                </a:ext>
              </a:extLst>
            </p:cNvPr>
            <p:cNvSpPr txBox="1"/>
            <p:nvPr/>
          </p:nvSpPr>
          <p:spPr>
            <a:xfrm>
              <a:off x="7534275" y="3241437"/>
              <a:ext cx="3262432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/>
                <a:t>卷积核：</a:t>
              </a:r>
              <a:r>
                <a:rPr lang="en-US" altLang="zh-CN" sz="3200" b="1" dirty="0"/>
                <a:t>5*5*</a:t>
              </a:r>
              <a:r>
                <a:rPr lang="en-US" altLang="zh-CN" sz="3200" b="1" dirty="0">
                  <a:solidFill>
                    <a:srgbClr val="C00000"/>
                  </a:solidFill>
                </a:rPr>
                <a:t>3</a:t>
              </a:r>
              <a:r>
                <a:rPr lang="en-US" altLang="zh-CN" sz="3200" b="1" dirty="0"/>
                <a:t>*</a:t>
              </a:r>
              <a:r>
                <a:rPr lang="en-US" altLang="zh-CN" sz="3200" b="1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88152F-6363-4423-8316-0A8DA8C06CF7}"/>
                </a:ext>
              </a:extLst>
            </p:cNvPr>
            <p:cNvSpPr/>
            <p:nvPr/>
          </p:nvSpPr>
          <p:spPr>
            <a:xfrm>
              <a:off x="8207853" y="4632255"/>
              <a:ext cx="139974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Kernel size</a:t>
              </a:r>
              <a:endParaRPr lang="zh-CN" altLang="en-US" sz="2000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A427AF-A4C6-407D-896F-7D66F3F0A8FE}"/>
                </a:ext>
              </a:extLst>
            </p:cNvPr>
            <p:cNvSpPr/>
            <p:nvPr/>
          </p:nvSpPr>
          <p:spPr>
            <a:xfrm>
              <a:off x="9960257" y="4632255"/>
              <a:ext cx="5549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#In</a:t>
              </a:r>
              <a:endParaRPr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E673BF5-5BEB-478B-8C87-A336D0F1FFD6}"/>
                </a:ext>
              </a:extLst>
            </p:cNvPr>
            <p:cNvSpPr/>
            <p:nvPr/>
          </p:nvSpPr>
          <p:spPr>
            <a:xfrm>
              <a:off x="10739557" y="4632255"/>
              <a:ext cx="73930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#Out</a:t>
              </a:r>
              <a:endParaRPr lang="zh-CN" altLang="en-US" sz="2000" b="1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90554E-B986-46E0-B2E9-587C508C7099}"/>
                </a:ext>
              </a:extLst>
            </p:cNvPr>
            <p:cNvCxnSpPr>
              <a:stCxn id="7" idx="2"/>
            </p:cNvCxnSpPr>
            <p:nvPr/>
          </p:nvCxnSpPr>
          <p:spPr>
            <a:xfrm>
              <a:off x="9165491" y="3826212"/>
              <a:ext cx="77860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039E739-A19B-4B06-89E4-4E74C170E47C}"/>
                </a:ext>
              </a:extLst>
            </p:cNvPr>
            <p:cNvCxnSpPr>
              <a:endCxn id="8" idx="0"/>
            </p:cNvCxnSpPr>
            <p:nvPr/>
          </p:nvCxnSpPr>
          <p:spPr>
            <a:xfrm flipH="1">
              <a:off x="8907724" y="3895725"/>
              <a:ext cx="643768" cy="73653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94E071-B356-4416-A611-9CA91319444D}"/>
                </a:ext>
              </a:extLst>
            </p:cNvPr>
            <p:cNvCxnSpPr>
              <a:cxnSpLocks/>
            </p:cNvCxnSpPr>
            <p:nvPr/>
          </p:nvCxnSpPr>
          <p:spPr>
            <a:xfrm>
              <a:off x="10044708" y="3826212"/>
              <a:ext cx="271848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ED374F-6E6E-404E-997D-384BFC2B6150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890" y="3826212"/>
              <a:ext cx="271848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1A5C897-35C1-411C-B5A6-C24CCB3653E3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10180632" y="3895724"/>
              <a:ext cx="57105" cy="736531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058F232-C412-4939-9305-AB4ECBA4468E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10570814" y="3895725"/>
              <a:ext cx="538396" cy="73653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FB64E98-FA43-40D9-B35C-1ACFFAC11652}"/>
              </a:ext>
            </a:extLst>
          </p:cNvPr>
          <p:cNvSpPr txBox="1"/>
          <p:nvPr/>
        </p:nvSpPr>
        <p:spPr>
          <a:xfrm>
            <a:off x="3121468" y="5447972"/>
            <a:ext cx="5949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cs typeface="+mn-ea"/>
                <a:sym typeface="+mn-lt"/>
              </a:rPr>
              <a:t>#Parameters </a:t>
            </a:r>
            <a:r>
              <a:rPr lang="en-US" altLang="zh-CN" sz="3200" dirty="0">
                <a:cs typeface="+mn-ea"/>
                <a:sym typeface="+mn-lt"/>
              </a:rPr>
              <a:t>= 6*(</a:t>
            </a:r>
            <a:r>
              <a:rPr lang="en-US" altLang="zh-CN" sz="3200" u="sng" dirty="0">
                <a:cs typeface="+mn-ea"/>
                <a:sym typeface="+mn-lt"/>
              </a:rPr>
              <a:t>5*5*3</a:t>
            </a:r>
            <a:r>
              <a:rPr lang="en-US" altLang="zh-CN" sz="3200" dirty="0">
                <a:cs typeface="+mn-ea"/>
                <a:sym typeface="+mn-lt"/>
              </a:rPr>
              <a:t>+</a:t>
            </a:r>
            <a:r>
              <a:rPr lang="en-US" altLang="zh-CN" sz="3200" u="sng" dirty="0">
                <a:cs typeface="+mn-ea"/>
                <a:sym typeface="+mn-lt"/>
              </a:rPr>
              <a:t>1</a:t>
            </a:r>
            <a:r>
              <a:rPr lang="en-US" altLang="zh-CN" sz="3200" dirty="0">
                <a:cs typeface="+mn-ea"/>
                <a:sym typeface="+mn-lt"/>
              </a:rPr>
              <a:t>)=456 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546DD5-398B-4F5E-AEAB-9CB7556D9440}"/>
              </a:ext>
            </a:extLst>
          </p:cNvPr>
          <p:cNvGrpSpPr/>
          <p:nvPr/>
        </p:nvGrpSpPr>
        <p:grpSpPr>
          <a:xfrm>
            <a:off x="6461359" y="6032747"/>
            <a:ext cx="1591046" cy="647864"/>
            <a:chOff x="8479058" y="5557439"/>
            <a:chExt cx="1591046" cy="64786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2EF8F7B-FF3E-4A6E-9FB4-1F4BC06A4C74}"/>
                    </a:ext>
                  </a:extLst>
                </p:cNvPr>
                <p:cNvSpPr/>
                <p:nvPr/>
              </p:nvSpPr>
              <p:spPr>
                <a:xfrm>
                  <a:off x="8479058" y="5835971"/>
                  <a:ext cx="4700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2EF8F7B-FF3E-4A6E-9FB4-1F4BC06A4C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9058" y="5835971"/>
                  <a:ext cx="47000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5925D23-9DE9-483D-A3BF-390C6FC980F4}"/>
                    </a:ext>
                  </a:extLst>
                </p:cNvPr>
                <p:cNvSpPr/>
                <p:nvPr/>
              </p:nvSpPr>
              <p:spPr>
                <a:xfrm>
                  <a:off x="9688268" y="5835971"/>
                  <a:ext cx="3818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5925D23-9DE9-483D-A3BF-390C6FC980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8268" y="5835971"/>
                  <a:ext cx="38183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45CC82C-4B1F-4CF3-B9FB-B6C9812B3E16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V="1">
              <a:off x="8714058" y="5574352"/>
              <a:ext cx="235000" cy="26161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CCD3CB0-7A51-4FC2-82BC-88BECB89AD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32844" y="5557439"/>
              <a:ext cx="146342" cy="31917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9205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4DE4-ED9C-43FE-8212-5ED85B0B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Pooling Layer </a:t>
            </a:r>
            <a:r>
              <a:rPr lang="zh-CN" altLang="en-US" b="1" dirty="0"/>
              <a:t>（池化层）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DC5F5-2F37-452D-868E-8F2AB0F49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降低特征的分辨率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16C8B-F00C-4D02-872E-0AC91DAAA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581" y="2711900"/>
            <a:ext cx="4129031" cy="36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1CCC50-0D90-48EC-B9BC-B83EBF361882}"/>
              </a:ext>
            </a:extLst>
          </p:cNvPr>
          <p:cNvSpPr txBox="1"/>
          <p:nvPr/>
        </p:nvSpPr>
        <p:spPr>
          <a:xfrm>
            <a:off x="6683149" y="3173920"/>
            <a:ext cx="3413114" cy="165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/>
              <a:t>Pool Size = 2*2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/>
              <a:t>Stride = 2*2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63925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4DE4-ED9C-43FE-8212-5ED85B0B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Pooling Layer </a:t>
            </a:r>
            <a:r>
              <a:rPr lang="zh-CN" altLang="en-US" b="1" dirty="0"/>
              <a:t>（池化层）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DC5F5-2F37-452D-868E-8F2AB0F49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降低特征的分辨率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(Max Pooling, Average Pooling)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在每一个特征通道单独进行计算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pic>
        <p:nvPicPr>
          <p:cNvPr id="6" name="Shape 100">
            <a:extLst>
              <a:ext uri="{FF2B5EF4-FFF2-40B4-BE49-F238E27FC236}">
                <a16:creationId xmlns:a16="http://schemas.microsoft.com/office/drawing/2014/main" id="{40E97B91-8315-4E12-9913-6A8971A1EEF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8190" y="3135073"/>
            <a:ext cx="4655620" cy="36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7641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EC34-93F8-41A3-869A-3090FFB2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/>
              <a:t>Fully-Connected Layer  (</a:t>
            </a:r>
            <a:r>
              <a:rPr lang="zh-CN" altLang="en-US" sz="4000" b="1" dirty="0"/>
              <a:t>全连接层、线性层）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ED85B-E843-44F1-BE10-BB4DFCFE1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847B3-5070-4BF4-A445-10E5DAC0BC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92" r="13172"/>
          <a:stretch/>
        </p:blipFill>
        <p:spPr>
          <a:xfrm>
            <a:off x="8042047" y="2552106"/>
            <a:ext cx="2598311" cy="24643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875F7C-E333-4DA1-93DA-51FF12B56EBB}"/>
                  </a:ext>
                </a:extLst>
              </p:cNvPr>
              <p:cNvSpPr txBox="1"/>
              <p:nvPr/>
            </p:nvSpPr>
            <p:spPr>
              <a:xfrm>
                <a:off x="8302106" y="5151427"/>
                <a:ext cx="2257734" cy="454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875F7C-E333-4DA1-93DA-51FF12B56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106" y="5151427"/>
                <a:ext cx="2257734" cy="4544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Convolutional Neural Networks - Part 2 | Ismail Mebsout">
            <a:extLst>
              <a:ext uri="{FF2B5EF4-FFF2-40B4-BE49-F238E27FC236}">
                <a16:creationId xmlns:a16="http://schemas.microsoft.com/office/drawing/2014/main" id="{13B9F8A8-887D-4ED5-B4EF-2EDC8F1AD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82" y="2795506"/>
            <a:ext cx="6762123" cy="2583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712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EC34-93F8-41A3-869A-3090FFB2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/>
              <a:t>Fully-Connected Layer  (</a:t>
            </a:r>
            <a:r>
              <a:rPr lang="zh-CN" altLang="en-US" sz="4000" b="1" dirty="0"/>
              <a:t>全连接层、线性层）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847B3-5070-4BF4-A445-10E5DAC0BC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92" r="13172"/>
          <a:stretch/>
        </p:blipFill>
        <p:spPr>
          <a:xfrm>
            <a:off x="1616079" y="1857747"/>
            <a:ext cx="3022596" cy="2866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875F7C-E333-4DA1-93DA-51FF12B56EBB}"/>
                  </a:ext>
                </a:extLst>
              </p:cNvPr>
              <p:cNvSpPr txBox="1"/>
              <p:nvPr/>
            </p:nvSpPr>
            <p:spPr>
              <a:xfrm>
                <a:off x="1786367" y="4996335"/>
                <a:ext cx="2257734" cy="454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bSup>
                      <m:r>
                        <a:rPr lang="en-US" altLang="zh-CN" sz="28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875F7C-E333-4DA1-93DA-51FF12B56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367" y="4996335"/>
                <a:ext cx="2257734" cy="4544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ADB6035-3B47-43A3-B122-92792FB5679E}"/>
              </a:ext>
            </a:extLst>
          </p:cNvPr>
          <p:cNvSpPr txBox="1"/>
          <p:nvPr/>
        </p:nvSpPr>
        <p:spPr>
          <a:xfrm>
            <a:off x="6507602" y="3001995"/>
            <a:ext cx="4846198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参数量：</a:t>
            </a:r>
            <a:r>
              <a:rPr lang="en-US" altLang="zh-CN" sz="3200" b="1" u="sng" dirty="0">
                <a:solidFill>
                  <a:srgbClr val="0070C0"/>
                </a:solidFill>
              </a:rPr>
              <a:t>#In</a:t>
            </a:r>
            <a:r>
              <a:rPr lang="en-US" altLang="zh-CN" sz="3200" b="1" u="sng" dirty="0"/>
              <a:t>*</a:t>
            </a:r>
            <a:r>
              <a:rPr lang="en-US" altLang="zh-CN" sz="3200" b="1" u="sng" dirty="0">
                <a:solidFill>
                  <a:srgbClr val="C00000"/>
                </a:solidFill>
              </a:rPr>
              <a:t>#Out </a:t>
            </a:r>
            <a:r>
              <a:rPr lang="en-US" altLang="zh-CN" sz="3200" b="1" dirty="0"/>
              <a:t>+</a:t>
            </a:r>
            <a:r>
              <a:rPr lang="en-US" altLang="zh-CN" sz="3200" b="1" dirty="0">
                <a:solidFill>
                  <a:srgbClr val="C00000"/>
                </a:solidFill>
              </a:rPr>
              <a:t> </a:t>
            </a:r>
            <a:r>
              <a:rPr lang="en-US" altLang="zh-CN" sz="3200" b="1" u="sng" dirty="0">
                <a:solidFill>
                  <a:srgbClr val="C00000"/>
                </a:solidFill>
              </a:rPr>
              <a:t>#Out</a:t>
            </a:r>
            <a:endParaRPr lang="en-US" altLang="zh-CN" sz="3200" b="1" u="sng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AF2952-E87B-4C0B-BF91-2A359A060E34}"/>
                  </a:ext>
                </a:extLst>
              </p:cNvPr>
              <p:cNvSpPr txBox="1"/>
              <p:nvPr/>
            </p:nvSpPr>
            <p:spPr>
              <a:xfrm>
                <a:off x="8464605" y="4249721"/>
                <a:ext cx="5065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AF2952-E87B-4C0B-BF91-2A359A060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605" y="4249721"/>
                <a:ext cx="50654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B95861-27DF-4EE8-BD9E-20FFB9257EBB}"/>
                  </a:ext>
                </a:extLst>
              </p:cNvPr>
              <p:cNvSpPr txBox="1"/>
              <p:nvPr/>
            </p:nvSpPr>
            <p:spPr>
              <a:xfrm>
                <a:off x="10766421" y="4297488"/>
                <a:ext cx="35105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B95861-27DF-4EE8-BD9E-20FFB9257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6421" y="4297488"/>
                <a:ext cx="35105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D4F248-5007-4CE4-BE13-0B776FE1ED12}"/>
              </a:ext>
            </a:extLst>
          </p:cNvPr>
          <p:cNvCxnSpPr>
            <a:cxnSpLocks/>
            <a:stCxn id="4" idx="0"/>
            <a:endCxn id="8" idx="2"/>
          </p:cNvCxnSpPr>
          <p:nvPr/>
        </p:nvCxnSpPr>
        <p:spPr>
          <a:xfrm flipV="1">
            <a:off x="8717880" y="3586770"/>
            <a:ext cx="212821" cy="6629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7D5374-26D7-47EE-9A0B-76717CCDC130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10868026" y="3586772"/>
            <a:ext cx="73924" cy="7107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322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FD4C-FC68-4618-A134-EC4A71A2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Flatten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DDB8-4BD9-4C85-BCC5-DC8415BB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把</a:t>
            </a:r>
            <a:r>
              <a:rPr lang="en-US" altLang="zh-CN" b="1" dirty="0"/>
              <a:t>Tensor</a:t>
            </a:r>
            <a:r>
              <a:rPr lang="zh-CN" altLang="en-US" b="1" dirty="0"/>
              <a:t>展开为</a:t>
            </a:r>
            <a:r>
              <a:rPr lang="en-US" altLang="zh-CN" b="1" dirty="0"/>
              <a:t>Vector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/>
              <a:t>16*5*5 </a:t>
            </a:r>
            <a:r>
              <a:rPr lang="en-US" altLang="zh-CN" b="1" dirty="0">
                <a:sym typeface="Wingdings" panose="05000000000000000000" pitchFamily="2" charset="2"/>
              </a:rPr>
              <a:t> 400</a:t>
            </a:r>
            <a:endParaRPr lang="zh-CN" altLang="en-US" b="1" dirty="0"/>
          </a:p>
        </p:txBody>
      </p:sp>
      <p:pic>
        <p:nvPicPr>
          <p:cNvPr id="5" name="Picture 2" descr="Convolutional Neural Networks - Part 2 | Ismail Mebsout">
            <a:extLst>
              <a:ext uri="{FF2B5EF4-FFF2-40B4-BE49-F238E27FC236}">
                <a16:creationId xmlns:a16="http://schemas.microsoft.com/office/drawing/2014/main" id="{B20E8070-B6CF-4804-B03C-24FC135F5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631" y="3458369"/>
            <a:ext cx="7116738" cy="271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289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3D45-A8BD-4DBD-A126-A2A28E79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7F40A-FF9C-48C0-A4FE-EDBF7651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简介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基础层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</a:rPr>
              <a:t>网络模型结构</a:t>
            </a:r>
            <a:endParaRPr lang="en-US" altLang="zh-CN" b="1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/>
              <a:t>模型优化</a:t>
            </a:r>
          </a:p>
        </p:txBody>
      </p:sp>
    </p:spTree>
    <p:extLst>
      <p:ext uri="{BB962C8B-B14F-4D97-AF65-F5344CB8AC3E}">
        <p14:creationId xmlns:p14="http://schemas.microsoft.com/office/powerpoint/2010/main" val="3794820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A44FA-F7BA-4345-BCDE-E80B9614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PyTorch</a:t>
            </a:r>
            <a:r>
              <a:rPr lang="zh-CN" altLang="en-US" b="1" dirty="0"/>
              <a:t>编程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C3652-469A-4656-9F9F-82A0521A0AFE}"/>
              </a:ext>
            </a:extLst>
          </p:cNvPr>
          <p:cNvSpPr/>
          <p:nvPr/>
        </p:nvSpPr>
        <p:spPr>
          <a:xfrm>
            <a:off x="10235374" y="6123543"/>
            <a:ext cx="1956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https://pytorch.org/</a:t>
            </a:r>
            <a:endParaRPr lang="zh-CN" altLang="en-US" dirty="0"/>
          </a:p>
        </p:txBody>
      </p:sp>
      <p:sp>
        <p:nvSpPr>
          <p:cNvPr id="5" name="AutoShape 2" descr="https://pytorch.apachecn.org/img/logo.svg">
            <a:extLst>
              <a:ext uri="{FF2B5EF4-FFF2-40B4-BE49-F238E27FC236}">
                <a16:creationId xmlns:a16="http://schemas.microsoft.com/office/drawing/2014/main" id="{5A81703F-5EAD-4BAE-B63C-14F628D133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4" descr="https://pytorch.apachecn.org/img/logo.svg">
            <a:extLst>
              <a:ext uri="{FF2B5EF4-FFF2-40B4-BE49-F238E27FC236}">
                <a16:creationId xmlns:a16="http://schemas.microsoft.com/office/drawing/2014/main" id="{59B3196D-A909-4348-A324-1417D46B75FA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1825625"/>
            <a:ext cx="54102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PyTorch</a:t>
            </a:r>
            <a:r>
              <a:rPr lang="zh-CN" altLang="en-US" dirty="0"/>
              <a:t>是一个开源的深度学习框架，提供了各种张量操作并通过自动求导可以自动进行梯度计算，方便构建各种动态神经网络。支持使用</a:t>
            </a:r>
            <a:r>
              <a:rPr lang="en-US" altLang="zh-CN" dirty="0"/>
              <a:t>GPU/TPU</a:t>
            </a:r>
            <a:r>
              <a:rPr lang="zh-CN" altLang="en-US" dirty="0"/>
              <a:t>进行加速计算。</a:t>
            </a:r>
          </a:p>
        </p:txBody>
      </p:sp>
      <p:pic>
        <p:nvPicPr>
          <p:cNvPr id="1030" name="Picture 6" descr="https://bkimg.cdn.bcebos.com/pic/1e30e924b899a9015db3936212950a7b0308f5e4?x-bce-process=image/watermark,image_d2F0ZXIvYmFpa2U5Mg==,g_7,xp_5,yp_5">
            <a:extLst>
              <a:ext uri="{FF2B5EF4-FFF2-40B4-BE49-F238E27FC236}">
                <a16:creationId xmlns:a16="http://schemas.microsoft.com/office/drawing/2014/main" id="{DCD96FA2-4936-4D52-903C-6046D357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528" y="2229520"/>
            <a:ext cx="4303159" cy="306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572B17-9833-465E-8345-7C3D9C09139F}"/>
              </a:ext>
            </a:extLst>
          </p:cNvPr>
          <p:cNvSpPr/>
          <p:nvPr/>
        </p:nvSpPr>
        <p:spPr>
          <a:xfrm>
            <a:off x="9650112" y="6492875"/>
            <a:ext cx="2606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4"/>
              </a:rPr>
              <a:t>https://www.pytorch.wiki/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69177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879B-F173-4165-9DCA-124854EF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卷积层 </a:t>
            </a:r>
            <a:r>
              <a:rPr lang="en-US" altLang="zh-CN" b="1" dirty="0"/>
              <a:t>(Convolution Layer)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87E3A-F42D-4858-971C-7944D7104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8DB4D0-212F-4693-B9A2-76988AF8C61F}"/>
              </a:ext>
            </a:extLst>
          </p:cNvPr>
          <p:cNvSpPr/>
          <p:nvPr/>
        </p:nvSpPr>
        <p:spPr>
          <a:xfrm>
            <a:off x="6586939" y="6488668"/>
            <a:ext cx="560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https://pytorch.org/docs/stable/nn.html#convolution-layers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37050-F870-4706-B1D3-C566A2B23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9037837" cy="1740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8FF874-9124-4D13-ABD0-82E23399D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65901"/>
            <a:ext cx="7443028" cy="261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07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8E8B-0D98-457E-85F1-52F534D2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池化层 </a:t>
            </a:r>
            <a:r>
              <a:rPr lang="en-US" altLang="zh-CN" b="1" dirty="0"/>
              <a:t>(Pooling Layer)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5B6B8-56C6-4922-A45F-01A486C7B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97AD1-ADA5-40F5-ABC3-447588C0D8DA}"/>
              </a:ext>
            </a:extLst>
          </p:cNvPr>
          <p:cNvSpPr/>
          <p:nvPr/>
        </p:nvSpPr>
        <p:spPr>
          <a:xfrm>
            <a:off x="6984484" y="6488668"/>
            <a:ext cx="5207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https://pytorch.org/docs/stable/nn.html#pooling-layers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13459-121B-4350-8701-955B6A5D2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4"/>
            <a:ext cx="8699392" cy="1603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6B5244-8142-4D21-A136-DE936E3B0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646092"/>
            <a:ext cx="4908259" cy="232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92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8E8B-0D98-457E-85F1-52F534D2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池化层 </a:t>
            </a:r>
            <a:r>
              <a:rPr lang="en-US" altLang="zh-CN" b="1" dirty="0"/>
              <a:t>(Pooling Layer)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5B6B8-56C6-4922-A45F-01A486C7B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97AD1-ADA5-40F5-ABC3-447588C0D8DA}"/>
              </a:ext>
            </a:extLst>
          </p:cNvPr>
          <p:cNvSpPr/>
          <p:nvPr/>
        </p:nvSpPr>
        <p:spPr>
          <a:xfrm>
            <a:off x="6984484" y="6488668"/>
            <a:ext cx="5207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https://pytorch.org/docs/stable/nn.html#pooling-layers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3CE80-48C0-406D-9F2E-1DB86B253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7371813" cy="1697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F85628-2CCB-470E-8113-940ABA826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67070"/>
            <a:ext cx="5148088" cy="215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642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DE5E-50C5-4E4F-A757-9B915F01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线性层 </a:t>
            </a:r>
            <a:r>
              <a:rPr lang="en-US" altLang="zh-CN" b="1" dirty="0"/>
              <a:t>(Linear Layer)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5B633-B8C8-48E7-8EEA-A73206A2A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D2E9F2-FCB8-47C9-8D3B-C2F2E0EB6C64}"/>
              </a:ext>
            </a:extLst>
          </p:cNvPr>
          <p:cNvSpPr/>
          <p:nvPr/>
        </p:nvSpPr>
        <p:spPr>
          <a:xfrm>
            <a:off x="7168637" y="6488668"/>
            <a:ext cx="5023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https://pytorch.org/docs/stable/nn.html#linear-layers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2F702-2140-474B-9371-FE6FE5E35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8895184" cy="1409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50933-CFB9-4B7C-A4BF-EF23F508B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91049"/>
            <a:ext cx="3914617" cy="223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68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FB78-09C7-4870-9676-B1D7952B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激活函数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20FF8B-64E6-4A7A-8029-260B9A43B29C}"/>
              </a:ext>
            </a:extLst>
          </p:cNvPr>
          <p:cNvSpPr/>
          <p:nvPr/>
        </p:nvSpPr>
        <p:spPr>
          <a:xfrm>
            <a:off x="7324321" y="6488668"/>
            <a:ext cx="4867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https://pytorch.org/docs/stable/nn.functional.html#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9BB86-68CC-4F35-978D-09C6CB2C9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75" y="4994119"/>
            <a:ext cx="3734514" cy="848438"/>
          </a:xfrm>
          <a:prstGeom prst="rect">
            <a:avLst/>
          </a:prstGeom>
        </p:spPr>
      </p:pic>
      <p:pic>
        <p:nvPicPr>
          <p:cNvPr id="11" name="Shape 130">
            <a:extLst>
              <a:ext uri="{FF2B5EF4-FFF2-40B4-BE49-F238E27FC236}">
                <a16:creationId xmlns:a16="http://schemas.microsoft.com/office/drawing/2014/main" id="{45318A5C-01A6-40FB-8CA2-16AD23EDF63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75" y="1882332"/>
            <a:ext cx="3734514" cy="236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6459CB-487F-4E8B-94E5-5D7A9FCE27AB}"/>
              </a:ext>
            </a:extLst>
          </p:cNvPr>
          <p:cNvSpPr/>
          <p:nvPr/>
        </p:nvSpPr>
        <p:spPr>
          <a:xfrm>
            <a:off x="1880748" y="4318894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400" b="1" dirty="0">
                <a:cs typeface="+mn-ea"/>
                <a:sym typeface="+mn-lt"/>
              </a:rPr>
              <a:t>Sigmoid</a:t>
            </a:r>
            <a:endParaRPr lang="zh-CN" altLang="en-US" sz="2400" b="1" dirty="0"/>
          </a:p>
        </p:txBody>
      </p:sp>
      <p:pic>
        <p:nvPicPr>
          <p:cNvPr id="13" name="Shape 139">
            <a:extLst>
              <a:ext uri="{FF2B5EF4-FFF2-40B4-BE49-F238E27FC236}">
                <a16:creationId xmlns:a16="http://schemas.microsoft.com/office/drawing/2014/main" id="{E142DD2E-E8C1-4E60-BF5D-614AF3BFFC7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5943" y="1960442"/>
            <a:ext cx="3734514" cy="228665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925013C-6003-467B-A770-CC011A18F80B}"/>
              </a:ext>
            </a:extLst>
          </p:cNvPr>
          <p:cNvSpPr/>
          <p:nvPr/>
        </p:nvSpPr>
        <p:spPr>
          <a:xfrm>
            <a:off x="6252072" y="4345058"/>
            <a:ext cx="8585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400" b="1" dirty="0">
                <a:cs typeface="+mn-ea"/>
                <a:sym typeface="+mn-lt"/>
              </a:rPr>
              <a:t>Tanh</a:t>
            </a:r>
            <a:endParaRPr lang="zh-CN" altLang="en-US" sz="2400" b="1" dirty="0"/>
          </a:p>
        </p:txBody>
      </p:sp>
      <p:pic>
        <p:nvPicPr>
          <p:cNvPr id="15" name="Shape 148">
            <a:extLst>
              <a:ext uri="{FF2B5EF4-FFF2-40B4-BE49-F238E27FC236}">
                <a16:creationId xmlns:a16="http://schemas.microsoft.com/office/drawing/2014/main" id="{643ED106-6B04-4465-9B47-9F1C6873DE7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85875" y="1882332"/>
            <a:ext cx="3085889" cy="236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A26407C-E0F2-4FEA-9B6C-2091260967A5}"/>
              </a:ext>
            </a:extLst>
          </p:cNvPr>
          <p:cNvSpPr/>
          <p:nvPr/>
        </p:nvSpPr>
        <p:spPr>
          <a:xfrm>
            <a:off x="9842159" y="4345057"/>
            <a:ext cx="9717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400" b="1" dirty="0">
                <a:cs typeface="+mn-ea"/>
                <a:sym typeface="+mn-lt"/>
              </a:rPr>
              <a:t>ReLU</a:t>
            </a:r>
            <a:endParaRPr lang="zh-CN" altLang="en-US" sz="24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E42314-9086-4F1B-9733-57F4E0B95F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9327" y="5041853"/>
            <a:ext cx="3672601" cy="8200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97F564-B4E4-424D-8B03-096ACBEA54C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958" t="6490" r="5035"/>
          <a:stretch/>
        </p:blipFill>
        <p:spPr>
          <a:xfrm>
            <a:off x="4820679" y="4994119"/>
            <a:ext cx="3245041" cy="84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49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3435-988B-4A36-B0F7-24472F25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网络模型结构 </a:t>
            </a:r>
            <a:r>
              <a:rPr lang="en-US" altLang="zh-CN" b="1" dirty="0">
                <a:solidFill>
                  <a:srgbClr val="00B0F0"/>
                </a:solidFill>
              </a:rPr>
              <a:t>(LeNet)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D6B1C-4E88-4084-A656-57F8B9F2F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手写数字识别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8FD78-1252-4ACF-A37E-012E5ABDEA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546"/>
          <a:stretch/>
        </p:blipFill>
        <p:spPr>
          <a:xfrm>
            <a:off x="1709945" y="2536657"/>
            <a:ext cx="8772109" cy="3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74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3435-988B-4A36-B0F7-24472F25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网络模型结构 </a:t>
            </a:r>
            <a:r>
              <a:rPr lang="en-US" altLang="zh-CN" b="1" dirty="0">
                <a:solidFill>
                  <a:srgbClr val="00B0F0"/>
                </a:solidFill>
              </a:rPr>
              <a:t>(LeNet)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8FD78-1252-4ACF-A37E-012E5ABDEA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546"/>
          <a:stretch/>
        </p:blipFill>
        <p:spPr>
          <a:xfrm>
            <a:off x="6698319" y="1878674"/>
            <a:ext cx="5094400" cy="1936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2DCDCC-692B-4854-A01F-25ABDD721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95" y="1571625"/>
            <a:ext cx="6218048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3BA9BD-741C-4F81-B520-CA6424461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452" y="4458202"/>
            <a:ext cx="5072507" cy="173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86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3435-988B-4A36-B0F7-24472F25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网络模型结构 </a:t>
            </a:r>
            <a:r>
              <a:rPr lang="en-US" altLang="zh-CN" b="1" dirty="0">
                <a:solidFill>
                  <a:srgbClr val="00B0F0"/>
                </a:solidFill>
              </a:rPr>
              <a:t>(LeNet)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2DCDCC-692B-4854-A01F-25ABDD72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1" y="1571625"/>
            <a:ext cx="6218048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C5BE03-0140-455C-8407-103F3B880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827" y="4038256"/>
            <a:ext cx="3370430" cy="1154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879648-7C12-4651-AF07-96BD87C06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458" y="5943590"/>
            <a:ext cx="5732281" cy="549285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B2A2BC4C-AEB8-4485-A9B4-B78FAFDA35F3}"/>
              </a:ext>
            </a:extLst>
          </p:cNvPr>
          <p:cNvSpPr/>
          <p:nvPr/>
        </p:nvSpPr>
        <p:spPr>
          <a:xfrm>
            <a:off x="9087734" y="5399580"/>
            <a:ext cx="249213" cy="4404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0CFB01-E7C2-4083-8EAF-0C36A98EE7F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546"/>
          <a:stretch/>
        </p:blipFill>
        <p:spPr>
          <a:xfrm>
            <a:off x="6637842" y="1492781"/>
            <a:ext cx="5094400" cy="193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951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3435-988B-4A36-B0F7-24472F25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网络模型结构 </a:t>
            </a:r>
            <a:r>
              <a:rPr lang="en-US" altLang="zh-CN" b="1" dirty="0">
                <a:solidFill>
                  <a:srgbClr val="00B0F0"/>
                </a:solidFill>
              </a:rPr>
              <a:t>(LeNet)</a:t>
            </a:r>
            <a:endParaRPr lang="zh-CN" altLang="en-US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2DCDCC-692B-4854-A01F-25ABDD721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1" y="1571625"/>
            <a:ext cx="6218048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0CFB01-E7C2-4083-8EAF-0C36A98EE7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546"/>
          <a:stretch/>
        </p:blipFill>
        <p:spPr>
          <a:xfrm>
            <a:off x="6789747" y="365125"/>
            <a:ext cx="5094400" cy="19362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C4613F-1B89-4B96-8857-C82A93F4F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65" y="2600587"/>
            <a:ext cx="3836341" cy="8284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02B99C-F23D-42CC-86F3-C571CA9BA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566" y="3646956"/>
            <a:ext cx="3839867" cy="306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631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5AA1-52F0-4865-ADA8-A1F26AE7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Visualization of LeNet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F3429-2649-4AE0-9AB9-2CCD74B2A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  <a:hlinkClick r:id="rId2"/>
              </a:rPr>
              <a:t>https://www.cs.cmu.edu/~aharley/vis/conv/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26915-2FCB-4CC1-B635-44D2B6A86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872" y="2617795"/>
            <a:ext cx="5918255" cy="401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74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3D45-A8BD-4DBD-A126-A2A28E79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7F40A-FF9C-48C0-A4FE-EDBF7651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简介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基础层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网络模型结构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</a:rPr>
              <a:t>模型优化</a:t>
            </a:r>
          </a:p>
        </p:txBody>
      </p:sp>
    </p:spTree>
    <p:extLst>
      <p:ext uri="{BB962C8B-B14F-4D97-AF65-F5344CB8AC3E}">
        <p14:creationId xmlns:p14="http://schemas.microsoft.com/office/powerpoint/2010/main" val="1458509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016B-7C1F-4EF9-AB0B-5F44A0A4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模型训练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CA59-249E-42AC-A1D0-ABFA810F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参数初始化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损失函数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数据预处理 </a:t>
            </a:r>
            <a:r>
              <a:rPr lang="en-US" altLang="zh-CN" dirty="0"/>
              <a:t>&amp; </a:t>
            </a:r>
            <a:r>
              <a:rPr lang="zh-CN" altLang="en-US" dirty="0"/>
              <a:t>增强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参数优化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3FD4B-890E-452E-A8A3-233356089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02819"/>
            <a:ext cx="5356798" cy="365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6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5353-4BAC-42EF-A25A-244D5D482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参数初始化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07DE5-84E3-4B1E-B3BE-62495C12E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Weights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Small random number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Xavier / He</a:t>
            </a:r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Biases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0</a:t>
            </a:r>
            <a:endParaRPr lang="zh-CN" altLang="en-US" dirty="0"/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8A36FD86-192A-44A1-BB8A-E0260BE0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59" y="3412222"/>
            <a:ext cx="7134681" cy="175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185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111D-E1A1-4BA7-9D63-2D933C5B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损失函数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E69F-0EFA-47FA-ABDF-022548FED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分类任务：</a:t>
            </a:r>
            <a:r>
              <a:rPr lang="en-US" altLang="zh-CN" dirty="0">
                <a:solidFill>
                  <a:srgbClr val="00B0F0"/>
                </a:solidFill>
              </a:rPr>
              <a:t>Cross-Entropy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504F95-76A5-4215-92E0-5D673E451FD7}"/>
              </a:ext>
            </a:extLst>
          </p:cNvPr>
          <p:cNvSpPr/>
          <p:nvPr/>
        </p:nvSpPr>
        <p:spPr>
          <a:xfrm>
            <a:off x="6096000" y="62116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hlinkClick r:id="rId2"/>
              </a:rPr>
              <a:t>https://pytorch.org/docs/stable/generated/torch.nn.functional.cross_entropy.html#torch.nn.functional.cross_entropy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3B382-04B0-486C-9104-A33A35B3B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54" y="2579603"/>
            <a:ext cx="9351291" cy="284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474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9F597-447F-4CBC-99B4-FEA164748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数据预处理 </a:t>
            </a:r>
            <a:r>
              <a:rPr lang="en-US" altLang="zh-CN" b="1" dirty="0"/>
              <a:t>(Preprocessing)</a:t>
            </a:r>
            <a:endParaRPr lang="zh-CN" altLang="en-US" b="1" dirty="0"/>
          </a:p>
        </p:txBody>
      </p:sp>
      <p:pic>
        <p:nvPicPr>
          <p:cNvPr id="4" name="Picture 4" descr="http://cs231n.github.io/assets/nn2/prepro1.jpeg">
            <a:extLst>
              <a:ext uri="{FF2B5EF4-FFF2-40B4-BE49-F238E27FC236}">
                <a16:creationId xmlns:a16="http://schemas.microsoft.com/office/drawing/2014/main" id="{9E8DB48F-EC93-4236-840F-8A5302A0E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057" y="3893476"/>
            <a:ext cx="5731227" cy="197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17E5DBE8-DAE2-4B76-B6D8-584E33644D87}"/>
              </a:ext>
            </a:extLst>
          </p:cNvPr>
          <p:cNvSpPr/>
          <p:nvPr/>
        </p:nvSpPr>
        <p:spPr>
          <a:xfrm>
            <a:off x="7210223" y="1086456"/>
            <a:ext cx="4143577" cy="1878068"/>
          </a:xfrm>
          <a:prstGeom prst="cloudCallout">
            <a:avLst>
              <a:gd name="adj1" fmla="val -8369"/>
              <a:gd name="adj2" fmla="val 8724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相关参数只能在训练集上进行计算</a:t>
            </a:r>
            <a:endParaRPr lang="en-US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3C154F03-A45B-4FF5-816A-2F29633FCF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57925" cy="4351338"/>
              </a:xfrm>
            </p:spPr>
            <p:txBody>
              <a:bodyPr/>
              <a:lstStyle/>
              <a:p>
                <a:pPr marL="380982" indent="-380982">
                  <a:lnSpc>
                    <a:spcPct val="15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Mean Subtraction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cs typeface="+mn-ea"/>
                    <a:sym typeface="+mn-lt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𝑿</m:t>
                    </m:r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𝑿</m:t>
                    </m:r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−</m:t>
                    </m:r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𝒎𝒆𝒂𝒏</m:t>
                    </m:r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𝑿</m:t>
                    </m:r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b="1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 marL="380982" indent="-380982">
                  <a:lnSpc>
                    <a:spcPct val="15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Normalization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1" dirty="0">
                    <a:solidFill>
                      <a:srgbClr val="00B0F0"/>
                    </a:solidFill>
                    <a:cs typeface="+mn-ea"/>
                    <a:sym typeface="+mn-lt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𝑿</m:t>
                    </m:r>
                    <m:r>
                      <a:rPr lang="en-US" altLang="zh-CN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f>
                      <m:fPr>
                        <m:ctrlPr>
                          <a:rPr lang="en-US" altLang="zh-CN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𝑿</m:t>
                        </m:r>
                      </m:num>
                      <m:den>
                        <m:r>
                          <a:rPr lang="en-US" altLang="zh-CN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𝒔𝒕𝒅</m:t>
                        </m:r>
                        <m:r>
                          <a:rPr lang="en-US" altLang="zh-CN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en-US" altLang="zh-CN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𝑿</m:t>
                        </m:r>
                        <m:r>
                          <a:rPr lang="en-US" altLang="zh-CN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3C154F03-A45B-4FF5-816A-2F29633FC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57925" cy="4351338"/>
              </a:xfrm>
              <a:blipFill>
                <a:blip r:embed="rId3"/>
                <a:stretch>
                  <a:fillRect l="-2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6685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E310-6E0D-4322-B461-AF721D56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数据增强 </a:t>
            </a:r>
            <a:r>
              <a:rPr lang="en-US" altLang="zh-CN" b="1" dirty="0"/>
              <a:t>(Data Augmentation)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ED84C-C03E-4E57-ADC6-BCC1C9706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 descr="数据增强(Data Augmentation)">
            <a:extLst>
              <a:ext uri="{FF2B5EF4-FFF2-40B4-BE49-F238E27FC236}">
                <a16:creationId xmlns:a16="http://schemas.microsoft.com/office/drawing/2014/main" id="{CF67CC2B-C253-4682-AFEC-D8BA8AC4F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53" y="2614074"/>
            <a:ext cx="5065776" cy="2570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7795F-1BD7-4307-97CC-94CC42A41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98325"/>
            <a:ext cx="5811863" cy="30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582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8DB4F-82B4-495D-B0F4-77BD0A91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数据增强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C3D2C-FFDD-4953-B260-D0FD0FFB86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36"/>
          <a:stretch/>
        </p:blipFill>
        <p:spPr>
          <a:xfrm>
            <a:off x="1513586" y="1884785"/>
            <a:ext cx="9164827" cy="433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843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2BC5-B81E-44BB-9DCA-52C0B160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数据增强</a:t>
            </a:r>
            <a:endParaRPr lang="zh-CN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C90493-5B67-469C-83A8-8D0153888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2487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Horizontal flips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Random Crop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Rotation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Color jitter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Random Erasing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…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Picture 4" descr="preview">
            <a:extLst>
              <a:ext uri="{FF2B5EF4-FFF2-40B4-BE49-F238E27FC236}">
                <a16:creationId xmlns:a16="http://schemas.microsoft.com/office/drawing/2014/main" id="{059CA904-2ECF-4BE5-8F37-41180C8C6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962" y="807522"/>
            <a:ext cx="5242956" cy="524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434726-D685-4425-835F-142166FAD77E}"/>
              </a:ext>
            </a:extLst>
          </p:cNvPr>
          <p:cNvSpPr/>
          <p:nvPr/>
        </p:nvSpPr>
        <p:spPr>
          <a:xfrm>
            <a:off x="8339663" y="6488668"/>
            <a:ext cx="3852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3"/>
              </a:rPr>
              <a:t>https://zhuanlan.zhihu.com/p/61759947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311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73B6-CD42-467F-9B0F-98205261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Data Augmentation in PyTorch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E7CA5-FBFF-4881-8D6D-CA1E7D01C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6C7D9-A715-4F75-8B9A-FE79EF61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533" y="1690687"/>
            <a:ext cx="5004596" cy="45964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A0C4A-0DFE-4A88-9DD9-20495C887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40" y="1951567"/>
            <a:ext cx="5516560" cy="4074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7332F7-2F12-4ECE-91E0-37E65F34CFC3}"/>
              </a:ext>
            </a:extLst>
          </p:cNvPr>
          <p:cNvSpPr/>
          <p:nvPr/>
        </p:nvSpPr>
        <p:spPr>
          <a:xfrm>
            <a:off x="7612861" y="6488668"/>
            <a:ext cx="4579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4"/>
              </a:rPr>
              <a:t>https://pytorch.org/vision/main/transforms.html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99857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9A54-B7A4-4C40-BD69-633F1CBF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模型优化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F3507-EE7B-4DBE-B147-9BE5F25B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Stochastic Gradient Descent (SGD)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Batch &amp; Epoch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Advanced optimizers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Overfitting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44736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0ACF-3E3F-497B-B6E6-FCDE9483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Stochastic Gradient Descent (SGD)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CEEA-37AE-4455-9519-92405DBA33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53473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∗∆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8CEEA-37AE-4455-9519-92405DBA3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53473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preview">
            <a:extLst>
              <a:ext uri="{FF2B5EF4-FFF2-40B4-BE49-F238E27FC236}">
                <a16:creationId xmlns:a16="http://schemas.microsoft.com/office/drawing/2014/main" id="{E6ED2428-3EAC-4AA0-A9FF-448AC8359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685" y="2366676"/>
            <a:ext cx="4741979" cy="326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D71D7F-304F-400B-8737-3F189EE26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140" y="2834091"/>
            <a:ext cx="4373533" cy="347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225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E4B6-813C-4BA7-A28D-BACBCBE4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Batch &amp; Epoch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84531-A7FB-4675-996C-BBC493729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 descr="https://t1.daumcdn.net/cfile/tistory/999EA83359D86B6B0B">
            <a:extLst>
              <a:ext uri="{FF2B5EF4-FFF2-40B4-BE49-F238E27FC236}">
                <a16:creationId xmlns:a16="http://schemas.microsoft.com/office/drawing/2014/main" id="{BD124B75-D65F-4A13-AA6C-1BD004665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904" y="1626758"/>
            <a:ext cx="7042191" cy="497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7543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93AA-2D31-4975-8A11-49D9525E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DataLoader in PyTorch</a:t>
            </a:r>
            <a:endParaRPr lang="zh-CN" alt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EC2025-D079-4914-A95E-8AEE75F0DF22}"/>
              </a:ext>
            </a:extLst>
          </p:cNvPr>
          <p:cNvSpPr/>
          <p:nvPr/>
        </p:nvSpPr>
        <p:spPr>
          <a:xfrm>
            <a:off x="8279711" y="6488668"/>
            <a:ext cx="3912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https://pytorch.org/docs/stable/data.html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C7918-14A9-4262-8B34-934F99E68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000" y="1690688"/>
            <a:ext cx="8200000" cy="4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13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D4037-68D0-45CF-A6E2-A54BDD94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Advanced optimizers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8064-398A-49B4-8A6E-E39ECB256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1"/>
                </a:solidFill>
              </a:rPr>
              <a:t>Momentum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/>
              <a:t>Adagrad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 err="1"/>
              <a:t>RMSprop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Adam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845975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DCA8-A037-41F3-8A3E-583B71AA7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Momentum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8720D-42BF-4625-9514-8C5777DAB6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6337041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𝑚𝑢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𝑙𝑟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∗∆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36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CN" sz="3600" dirty="0"/>
              </a:p>
              <a:p>
                <a:pPr>
                  <a:lnSpc>
                    <a:spcPct val="130000"/>
                  </a:lnSpc>
                </a:pPr>
                <a:endParaRPr lang="en-US" altLang="zh-CN" sz="3600" dirty="0"/>
              </a:p>
              <a:p>
                <a:pPr>
                  <a:lnSpc>
                    <a:spcPct val="130000"/>
                  </a:lnSpc>
                </a:pPr>
                <a:r>
                  <a:rPr lang="zh-CN" altLang="en-US" sz="3600" dirty="0"/>
                  <a:t>目前采用最多的优化算法之一</a:t>
                </a:r>
                <a:endParaRPr lang="en-US" altLang="zh-CN" sz="3600" dirty="0"/>
              </a:p>
              <a:p>
                <a:pPr>
                  <a:lnSpc>
                    <a:spcPct val="130000"/>
                  </a:lnSpc>
                </a:pPr>
                <a:r>
                  <a:rPr lang="zh-CN" altLang="en-US" sz="3600" dirty="0"/>
                  <a:t>𝑚𝑢一般设置为</a:t>
                </a:r>
                <a:r>
                  <a:rPr lang="en-US" altLang="zh-CN" sz="3600" dirty="0"/>
                  <a:t>0.9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3600" dirty="0"/>
                  <a:t>比</a:t>
                </a:r>
                <a:r>
                  <a:rPr lang="en-US" altLang="zh-CN" sz="3600" dirty="0"/>
                  <a:t>SGD</a:t>
                </a:r>
                <a:r>
                  <a:rPr lang="zh-CN" altLang="en-US" sz="3600" dirty="0"/>
                  <a:t>的收敛速度快</a:t>
                </a:r>
                <a:endParaRPr lang="en-US" altLang="zh-CN" sz="3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8720D-42BF-4625-9514-8C5777DAB6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6337041" cy="4351338"/>
              </a:xfrm>
              <a:blipFill>
                <a:blip r:embed="rId2"/>
                <a:stretch>
                  <a:fillRect l="-2212"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Shape 194">
            <a:extLst>
              <a:ext uri="{FF2B5EF4-FFF2-40B4-BE49-F238E27FC236}">
                <a16:creationId xmlns:a16="http://schemas.microsoft.com/office/drawing/2014/main" id="{78499390-3051-470E-921F-733965FCD2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6629" y="3178146"/>
            <a:ext cx="3873500" cy="32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https://t1.daumcdn.net/cfile/tistory/999EA83359D86B6B0B">
            <a:extLst>
              <a:ext uri="{FF2B5EF4-FFF2-40B4-BE49-F238E27FC236}">
                <a16:creationId xmlns:a16="http://schemas.microsoft.com/office/drawing/2014/main" id="{F0F2707B-DE69-4C46-8412-701A6B94A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11" y="100669"/>
            <a:ext cx="3630935" cy="25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4176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8D6B-1C1F-4BCB-B715-B9D044D4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Visualization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FD06E-A306-4105-916A-2361F62C4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47FE4C3F-9DCB-4E9E-85BC-3425D579F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93" y="1845421"/>
            <a:ext cx="5194708" cy="4021711"/>
          </a:xfrm>
          <a:prstGeom prst="rect">
            <a:avLst/>
          </a:prstGeom>
        </p:spPr>
      </p:pic>
      <p:sp>
        <p:nvSpPr>
          <p:cNvPr id="5" name="文本框 2">
            <a:extLst>
              <a:ext uri="{FF2B5EF4-FFF2-40B4-BE49-F238E27FC236}">
                <a16:creationId xmlns:a16="http://schemas.microsoft.com/office/drawing/2014/main" id="{B51D5789-8E00-45C8-AD09-777A067EB487}"/>
              </a:ext>
            </a:extLst>
          </p:cNvPr>
          <p:cNvSpPr txBox="1"/>
          <p:nvPr/>
        </p:nvSpPr>
        <p:spPr>
          <a:xfrm>
            <a:off x="6253750" y="2028054"/>
            <a:ext cx="5579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cs typeface="+mn-ea"/>
                <a:sym typeface="+mn-lt"/>
              </a:rPr>
              <a:t>Practical:</a:t>
            </a:r>
          </a:p>
          <a:p>
            <a:r>
              <a:rPr lang="en-US" altLang="zh-CN" sz="2400" b="1" dirty="0">
                <a:solidFill>
                  <a:srgbClr val="FF0000"/>
                </a:solidFill>
                <a:cs typeface="+mn-ea"/>
                <a:sym typeface="+mn-lt"/>
              </a:rPr>
              <a:t>Nan</a:t>
            </a:r>
            <a:r>
              <a:rPr lang="en-US" altLang="zh-CN" sz="2400" dirty="0">
                <a:cs typeface="+mn-ea"/>
                <a:sym typeface="+mn-lt"/>
              </a:rPr>
              <a:t> usually means learning rate is too high.</a:t>
            </a:r>
          </a:p>
        </p:txBody>
      </p:sp>
    </p:spTree>
    <p:extLst>
      <p:ext uri="{BB962C8B-B14F-4D97-AF65-F5344CB8AC3E}">
        <p14:creationId xmlns:p14="http://schemas.microsoft.com/office/powerpoint/2010/main" val="34922969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AD6A7-DF52-4525-9ABD-1DF9B363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Overfitting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D24F4-6A2A-42A3-B903-B7CC3645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12782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训练集性能很好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测试集性能差</a:t>
            </a:r>
          </a:p>
        </p:txBody>
      </p:sp>
      <p:pic>
        <p:nvPicPr>
          <p:cNvPr id="4" name="Εικόνα 12">
            <a:extLst>
              <a:ext uri="{FF2B5EF4-FFF2-40B4-BE49-F238E27FC236}">
                <a16:creationId xmlns:a16="http://schemas.microsoft.com/office/drawing/2014/main" id="{37475897-3786-4B92-8BF4-0C6287F88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1672" y="1027906"/>
            <a:ext cx="5381438" cy="217378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316BA07-DD67-49F0-80AA-70204B4A65A3}"/>
              </a:ext>
            </a:extLst>
          </p:cNvPr>
          <p:cNvGrpSpPr/>
          <p:nvPr/>
        </p:nvGrpSpPr>
        <p:grpSpPr>
          <a:xfrm>
            <a:off x="5101340" y="3866743"/>
            <a:ext cx="6202102" cy="2350235"/>
            <a:chOff x="5885568" y="4165962"/>
            <a:chExt cx="6202102" cy="2350235"/>
          </a:xfrm>
        </p:grpSpPr>
        <p:pic>
          <p:nvPicPr>
            <p:cNvPr id="6" name="Εικόνα 19">
              <a:extLst>
                <a:ext uri="{FF2B5EF4-FFF2-40B4-BE49-F238E27FC236}">
                  <a16:creationId xmlns:a16="http://schemas.microsoft.com/office/drawing/2014/main" id="{20E2AE43-7169-4C88-8F64-49ECE70740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t="1" b="18611"/>
            <a:stretch/>
          </p:blipFill>
          <p:spPr>
            <a:xfrm>
              <a:off x="5885568" y="4297784"/>
              <a:ext cx="3490062" cy="2086590"/>
            </a:xfrm>
            <a:prstGeom prst="rect">
              <a:avLst/>
            </a:prstGeom>
          </p:spPr>
        </p:pic>
        <p:pic>
          <p:nvPicPr>
            <p:cNvPr id="7" name="Picture 2" descr="https://cs231n.github.io/assets/nn3/accuracies.jpeg">
              <a:extLst>
                <a:ext uri="{FF2B5EF4-FFF2-40B4-BE49-F238E27FC236}">
                  <a16:creationId xmlns:a16="http://schemas.microsoft.com/office/drawing/2014/main" id="{D9471802-3316-4298-9244-6960AED1F8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7795" y="4165962"/>
              <a:ext cx="2829875" cy="2350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49222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46064-D051-4F2D-97D9-F2BF6592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Learning rate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5723-C118-4D59-A7FE-7CB12D32E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0388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Step decay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Reduce the learning rate by some factor every few epochs.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Exponential decay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1/t decay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4" name="Picture 2" descr="http://cs231n.github.io/assets/nn3/learningrates.jpeg">
            <a:extLst>
              <a:ext uri="{FF2B5EF4-FFF2-40B4-BE49-F238E27FC236}">
                <a16:creationId xmlns:a16="http://schemas.microsoft.com/office/drawing/2014/main" id="{0C1CF3CC-2D71-4C12-A6CD-E69AB42B3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571" y="507874"/>
            <a:ext cx="3334840" cy="300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review">
            <a:extLst>
              <a:ext uri="{FF2B5EF4-FFF2-40B4-BE49-F238E27FC236}">
                <a16:creationId xmlns:a16="http://schemas.microsoft.com/office/drawing/2014/main" id="{539C6F9E-61F7-4457-AD71-654DA5B90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032" y="4271302"/>
            <a:ext cx="4930968" cy="190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Shape 202">
            <a:extLst>
              <a:ext uri="{FF2B5EF4-FFF2-40B4-BE49-F238E27FC236}">
                <a16:creationId xmlns:a16="http://schemas.microsoft.com/office/drawing/2014/main" id="{8FFB23DC-CE96-4123-A4CE-24C60B47AD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6256" y="4005817"/>
            <a:ext cx="2870201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Shape 203">
            <a:extLst>
              <a:ext uri="{FF2B5EF4-FFF2-40B4-BE49-F238E27FC236}">
                <a16:creationId xmlns:a16="http://schemas.microsoft.com/office/drawing/2014/main" id="{038C77AC-8755-4590-8E0C-006B00037FF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6256" y="5289503"/>
            <a:ext cx="2286000" cy="990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80941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B76C-452B-40EE-A3A0-1BAF194D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Regularization: </a:t>
            </a:r>
            <a:r>
              <a:rPr lang="en-US" altLang="zh-CN" b="1" dirty="0">
                <a:solidFill>
                  <a:schemeClr val="accent1"/>
                </a:solidFill>
              </a:rPr>
              <a:t>Weight decay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BEF5-7EBF-49C1-97E8-6D19748CC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增加一项正则项用来惩罚过大的权重参数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L2</a:t>
            </a:r>
            <a:r>
              <a:rPr lang="zh-CN" altLang="en-US" dirty="0"/>
              <a:t>正则项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CC192D-E6AF-402D-A26C-AA559F20BD6C}"/>
                  </a:ext>
                </a:extLst>
              </p:cNvPr>
              <p:cNvSpPr txBox="1"/>
              <p:nvPr/>
            </p:nvSpPr>
            <p:spPr>
              <a:xfrm>
                <a:off x="4061180" y="3538057"/>
                <a:ext cx="4069640" cy="1048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  <m:sup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CC192D-E6AF-402D-A26C-AA559F20B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180" y="3538057"/>
                <a:ext cx="4069640" cy="10484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8266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1B3A-2177-4337-A3F4-9594E5B7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Regularization: </a:t>
            </a:r>
            <a:r>
              <a:rPr lang="en-US" altLang="zh-CN" b="1" dirty="0">
                <a:solidFill>
                  <a:schemeClr val="accent1"/>
                </a:solidFill>
              </a:rPr>
              <a:t>Dropout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45C18-4B8E-4BEA-AB0E-2D055574FD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训练过程中随机的丢弃“神经元”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通过超参数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进行控制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/>
                  <a:t>20~50%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45C18-4B8E-4BEA-AB0E-2D055574F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588CBCF-0DF4-406D-9228-1FE561FFCC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0" r="56872"/>
          <a:stretch/>
        </p:blipFill>
        <p:spPr>
          <a:xfrm rot="5400000">
            <a:off x="2502192" y="3216512"/>
            <a:ext cx="2880320" cy="3672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D1A7E8-B15E-48DC-9165-FFFE166AC8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468" r="3942"/>
          <a:stretch/>
        </p:blipFill>
        <p:spPr>
          <a:xfrm rot="5400000">
            <a:off x="6642653" y="3252515"/>
            <a:ext cx="2808309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003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6475-FACF-496D-80AF-F1E89BA6A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Regularization: </a:t>
            </a:r>
            <a:r>
              <a:rPr lang="en-US" altLang="zh-CN" b="1" dirty="0">
                <a:solidFill>
                  <a:schemeClr val="accent1"/>
                </a:solidFill>
              </a:rPr>
              <a:t>Early Stopping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AFBA7-50DC-4EF4-BB88-EC4DEC482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3877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利用“验证集”来提前结束训练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例：连续</a:t>
            </a:r>
            <a:r>
              <a:rPr lang="en-US" altLang="zh-CN" dirty="0"/>
              <a:t>n</a:t>
            </a:r>
            <a:r>
              <a:rPr lang="zh-CN" altLang="en-US" dirty="0"/>
              <a:t>个</a:t>
            </a:r>
            <a:r>
              <a:rPr lang="en-US" altLang="zh-CN" dirty="0"/>
              <a:t>epochs</a:t>
            </a:r>
            <a:r>
              <a:rPr lang="zh-CN" altLang="en-US" dirty="0"/>
              <a:t>， “验证集”的性能都没有提升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3AD0C-7E7B-49FF-9298-691640E19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983" y="2407052"/>
            <a:ext cx="4535817" cy="31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498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6920A-9C21-4A6D-BFC4-6A67A560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Case Study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63BD8-8A1B-47CD-9F3A-E29F36F19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MNIST</a:t>
            </a:r>
            <a:r>
              <a:rPr lang="zh-CN" altLang="en-US" b="1" dirty="0"/>
              <a:t>手写数字识别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DataLoader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Optimizer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Epoch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Mini-Batch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Learning rate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…</a:t>
            </a:r>
            <a:endParaRPr lang="zh-CN" altLang="en-US" dirty="0"/>
          </a:p>
          <a:p>
            <a:endParaRPr lang="zh-CN" alt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36B133-16A2-417D-996E-119BDFDF9BAD}"/>
              </a:ext>
            </a:extLst>
          </p:cNvPr>
          <p:cNvSpPr/>
          <p:nvPr/>
        </p:nvSpPr>
        <p:spPr>
          <a:xfrm>
            <a:off x="6223699" y="6488668"/>
            <a:ext cx="5968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3"/>
              </a:rPr>
              <a:t>https://github.com/pytorch/examples/blob/main/mnist/main.py</a:t>
            </a:r>
            <a:endParaRPr lang="en-US" altLang="zh-CN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E7CF508-8491-434F-AF4C-A2D1C099EA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881605"/>
              </p:ext>
            </p:extLst>
          </p:nvPr>
        </p:nvGraphicFramePr>
        <p:xfrm>
          <a:off x="6642165" y="463577"/>
          <a:ext cx="4097370" cy="5800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PDF" r:id="rId4" imgW="0" imgH="360" progId="FoxitPhantomPDF.Document">
                  <p:embed/>
                </p:oleObj>
              </mc:Choice>
              <mc:Fallback>
                <p:oleObj name="PDF" r:id="rId4" imgW="0" imgH="360" progId="FoxitPhantomPDF.Document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7055E35-E403-4047-855C-9AF938D3DC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42165" y="463577"/>
                        <a:ext cx="4097370" cy="5800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5319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C40C-0814-4821-AD8B-4B63FDCD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作业三：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E5A0-3BAB-4876-B26D-BD5864595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3200" b="1" dirty="0"/>
              <a:t>MNIST</a:t>
            </a:r>
            <a:r>
              <a:rPr lang="zh-CN" altLang="en-US" sz="3200" b="1" dirty="0"/>
              <a:t>手写数字识别</a:t>
            </a:r>
            <a:endParaRPr lang="en-US" altLang="zh-CN" sz="3200" b="1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采用</a:t>
            </a:r>
            <a:r>
              <a:rPr lang="en-US" altLang="zh-CN" sz="2800" dirty="0"/>
              <a:t>PyTorch</a:t>
            </a:r>
            <a:r>
              <a:rPr lang="zh-CN" altLang="en-US" sz="2800" dirty="0"/>
              <a:t>深度学习框架，分别构建一个</a:t>
            </a:r>
            <a:r>
              <a:rPr lang="zh-CN" altLang="en-US" sz="2800" dirty="0">
                <a:solidFill>
                  <a:srgbClr val="00B0F0"/>
                </a:solidFill>
              </a:rPr>
              <a:t>多层全连接神经网络</a:t>
            </a:r>
            <a:r>
              <a:rPr lang="zh-CN" altLang="en-US" sz="2800" dirty="0"/>
              <a:t>、一个</a:t>
            </a:r>
            <a:r>
              <a:rPr lang="zh-CN" altLang="en-US" sz="2800" dirty="0">
                <a:solidFill>
                  <a:srgbClr val="FF0000"/>
                </a:solidFill>
              </a:rPr>
              <a:t>卷积神经网络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计算模型每一层输入、输出大小；相应的参数量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对比两种网络模型的准确率</a:t>
            </a:r>
            <a:endParaRPr lang="en-US" altLang="zh-CN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9A30C4-8E0A-43C9-85EC-68630AB43259}"/>
              </a:ext>
            </a:extLst>
          </p:cNvPr>
          <p:cNvSpPr/>
          <p:nvPr/>
        </p:nvSpPr>
        <p:spPr>
          <a:xfrm>
            <a:off x="6223699" y="6488668"/>
            <a:ext cx="5968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https://github.com/pytorch/examples/blob/main/mnist/main.py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966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ipwkadu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2051</Words>
  <Application>Microsoft Office PowerPoint</Application>
  <PresentationFormat>Widescreen</PresentationFormat>
  <Paragraphs>260</Paragraphs>
  <Slides>67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5" baseType="lpstr">
      <vt:lpstr>等线</vt:lpstr>
      <vt:lpstr>宋体</vt:lpstr>
      <vt:lpstr>Arial</vt:lpstr>
      <vt:lpstr>Cambria Math</vt:lpstr>
      <vt:lpstr>Times New Roman</vt:lpstr>
      <vt:lpstr>Wingdings</vt:lpstr>
      <vt:lpstr>Office Theme</vt:lpstr>
      <vt:lpstr>Foxit PhantomPDF Document</vt:lpstr>
      <vt:lpstr>8、卷积神经网络基础 Convolutional Neural Networks</vt:lpstr>
      <vt:lpstr>提纲</vt:lpstr>
      <vt:lpstr>ImageNet Challenge</vt:lpstr>
      <vt:lpstr>ImageNet Challenge: 2012</vt:lpstr>
      <vt:lpstr>AlexNet (Supervision)</vt:lpstr>
      <vt:lpstr>ConvNets is not new.</vt:lpstr>
      <vt:lpstr>ConvNets are everywhere</vt:lpstr>
      <vt:lpstr>ConvNets are everywhere</vt:lpstr>
      <vt:lpstr>ConvNets are everywhere</vt:lpstr>
      <vt:lpstr>ConvNets are everywhere</vt:lpstr>
      <vt:lpstr>提纲</vt:lpstr>
      <vt:lpstr>人工神经网络</vt:lpstr>
      <vt:lpstr>多层神经网络</vt:lpstr>
      <vt:lpstr>多层神经网络 （图像作为输入）</vt:lpstr>
      <vt:lpstr>卷积神经网络 (Convolutional Neural Networks)</vt:lpstr>
      <vt:lpstr>CNN的基本层 (Basic Layers)</vt:lpstr>
      <vt:lpstr>内积计算 (Inner Products)</vt:lpstr>
      <vt:lpstr>内积计算 (Inner Products)</vt:lpstr>
      <vt:lpstr>内积计算 (Inner Products)</vt:lpstr>
      <vt:lpstr>Image (Matrix / Tensor)</vt:lpstr>
      <vt:lpstr>Convolution Layer (卷积层)</vt:lpstr>
      <vt:lpstr>Convolution Layer (卷积层)</vt:lpstr>
      <vt:lpstr>Convolution Layer (卷积层)</vt:lpstr>
      <vt:lpstr>Convolution Layer (卷积层)</vt:lpstr>
      <vt:lpstr>Convolution Layer (卷积层)</vt:lpstr>
      <vt:lpstr>Convolution Layer (卷积层)</vt:lpstr>
      <vt:lpstr>Convolution Layer (卷积层)</vt:lpstr>
      <vt:lpstr>Pooling Layer （池化层）</vt:lpstr>
      <vt:lpstr>Pooling Layer （池化层）</vt:lpstr>
      <vt:lpstr>Fully-Connected Layer  (全连接层、线性层）</vt:lpstr>
      <vt:lpstr>Fully-Connected Layer  (全连接层、线性层）</vt:lpstr>
      <vt:lpstr>Flatten</vt:lpstr>
      <vt:lpstr>提纲</vt:lpstr>
      <vt:lpstr>PyTorch编程</vt:lpstr>
      <vt:lpstr>卷积层 (Convolution Layer)</vt:lpstr>
      <vt:lpstr>池化层 (Pooling Layer)</vt:lpstr>
      <vt:lpstr>池化层 (Pooling Layer)</vt:lpstr>
      <vt:lpstr>线性层 (Linear Layer)</vt:lpstr>
      <vt:lpstr>激活函数</vt:lpstr>
      <vt:lpstr>网络模型结构 (LeNet)</vt:lpstr>
      <vt:lpstr>网络模型结构 (LeNet)</vt:lpstr>
      <vt:lpstr>网络模型结构 (LeNet)</vt:lpstr>
      <vt:lpstr>网络模型结构 (LeNet)</vt:lpstr>
      <vt:lpstr>Visualization of LeNet</vt:lpstr>
      <vt:lpstr>提纲</vt:lpstr>
      <vt:lpstr>模型训练</vt:lpstr>
      <vt:lpstr>参数初始化</vt:lpstr>
      <vt:lpstr>损失函数</vt:lpstr>
      <vt:lpstr>数据预处理 (Preprocessing)</vt:lpstr>
      <vt:lpstr>数据增强 (Data Augmentation)</vt:lpstr>
      <vt:lpstr>数据增强</vt:lpstr>
      <vt:lpstr>数据增强</vt:lpstr>
      <vt:lpstr>Data Augmentation in PyTorch</vt:lpstr>
      <vt:lpstr>模型优化</vt:lpstr>
      <vt:lpstr>Stochastic Gradient Descent (SGD)</vt:lpstr>
      <vt:lpstr>Batch &amp; Epoch</vt:lpstr>
      <vt:lpstr>DataLoader in PyTorch</vt:lpstr>
      <vt:lpstr>Advanced optimizers</vt:lpstr>
      <vt:lpstr>Momentum</vt:lpstr>
      <vt:lpstr>Visualization</vt:lpstr>
      <vt:lpstr>Overfitting</vt:lpstr>
      <vt:lpstr>Learning rate</vt:lpstr>
      <vt:lpstr>Regularization: Weight decay</vt:lpstr>
      <vt:lpstr>Regularization: Dropout</vt:lpstr>
      <vt:lpstr>Regularization: Early Stopping</vt:lpstr>
      <vt:lpstr>Case Study</vt:lpstr>
      <vt:lpstr>作业三：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8、卷积神经网络基础 Convolutional Neural Networks</dc:title>
  <dc:creator>Luo Zhiming</dc:creator>
  <cp:lastModifiedBy>Luo Zhiming</cp:lastModifiedBy>
  <cp:revision>72</cp:revision>
  <dcterms:created xsi:type="dcterms:W3CDTF">2023-04-16T07:50:14Z</dcterms:created>
  <dcterms:modified xsi:type="dcterms:W3CDTF">2023-04-16T13:01:58Z</dcterms:modified>
</cp:coreProperties>
</file>