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tif" ContentType="image/t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7"/>
  </p:notesMasterIdLst>
  <p:sldIdLst>
    <p:sldId id="256" r:id="rId2"/>
    <p:sldId id="257" r:id="rId3"/>
    <p:sldId id="397" r:id="rId4"/>
    <p:sldId id="258" r:id="rId5"/>
    <p:sldId id="367" r:id="rId6"/>
    <p:sldId id="259" r:id="rId7"/>
    <p:sldId id="268" r:id="rId8"/>
    <p:sldId id="260" r:id="rId9"/>
    <p:sldId id="368" r:id="rId10"/>
    <p:sldId id="262" r:id="rId11"/>
    <p:sldId id="369" r:id="rId12"/>
    <p:sldId id="370" r:id="rId13"/>
    <p:sldId id="371" r:id="rId14"/>
    <p:sldId id="372" r:id="rId15"/>
    <p:sldId id="373" r:id="rId16"/>
    <p:sldId id="271" r:id="rId17"/>
    <p:sldId id="273" r:id="rId18"/>
    <p:sldId id="272" r:id="rId19"/>
    <p:sldId id="374" r:id="rId20"/>
    <p:sldId id="274" r:id="rId21"/>
    <p:sldId id="275" r:id="rId22"/>
    <p:sldId id="276" r:id="rId23"/>
    <p:sldId id="376" r:id="rId24"/>
    <p:sldId id="377" r:id="rId25"/>
    <p:sldId id="279" r:id="rId26"/>
    <p:sldId id="280" r:id="rId27"/>
    <p:sldId id="281" r:id="rId28"/>
    <p:sldId id="382" r:id="rId29"/>
    <p:sldId id="383" r:id="rId30"/>
    <p:sldId id="384" r:id="rId31"/>
    <p:sldId id="385" r:id="rId32"/>
    <p:sldId id="386" r:id="rId33"/>
    <p:sldId id="387" r:id="rId34"/>
    <p:sldId id="300" r:id="rId35"/>
    <p:sldId id="398" r:id="rId36"/>
    <p:sldId id="399" r:id="rId37"/>
    <p:sldId id="400" r:id="rId38"/>
    <p:sldId id="401" r:id="rId39"/>
    <p:sldId id="402" r:id="rId40"/>
    <p:sldId id="403" r:id="rId41"/>
    <p:sldId id="404" r:id="rId42"/>
    <p:sldId id="405" r:id="rId43"/>
    <p:sldId id="406" r:id="rId44"/>
    <p:sldId id="407" r:id="rId45"/>
    <p:sldId id="408" r:id="rId46"/>
    <p:sldId id="409" r:id="rId47"/>
    <p:sldId id="410" r:id="rId48"/>
    <p:sldId id="411" r:id="rId49"/>
    <p:sldId id="412" r:id="rId50"/>
    <p:sldId id="413" r:id="rId51"/>
    <p:sldId id="414" r:id="rId52"/>
    <p:sldId id="415" r:id="rId53"/>
    <p:sldId id="416" r:id="rId54"/>
    <p:sldId id="417" r:id="rId55"/>
    <p:sldId id="418" r:id="rId56"/>
    <p:sldId id="419" r:id="rId57"/>
    <p:sldId id="420" r:id="rId58"/>
    <p:sldId id="421" r:id="rId59"/>
    <p:sldId id="422" r:id="rId60"/>
    <p:sldId id="423" r:id="rId61"/>
    <p:sldId id="424" r:id="rId62"/>
    <p:sldId id="311" r:id="rId63"/>
    <p:sldId id="425" r:id="rId64"/>
    <p:sldId id="426" r:id="rId65"/>
    <p:sldId id="427" r:id="rId66"/>
    <p:sldId id="428" r:id="rId67"/>
    <p:sldId id="429" r:id="rId68"/>
    <p:sldId id="430" r:id="rId69"/>
    <p:sldId id="301" r:id="rId70"/>
    <p:sldId id="303" r:id="rId71"/>
    <p:sldId id="314" r:id="rId72"/>
    <p:sldId id="269" r:id="rId73"/>
    <p:sldId id="270" r:id="rId74"/>
    <p:sldId id="313" r:id="rId75"/>
    <p:sldId id="315" r:id="rId76"/>
    <p:sldId id="316" r:id="rId77"/>
    <p:sldId id="323" r:id="rId78"/>
    <p:sldId id="278" r:id="rId79"/>
    <p:sldId id="277" r:id="rId80"/>
    <p:sldId id="284" r:id="rId81"/>
    <p:sldId id="285" r:id="rId82"/>
    <p:sldId id="286" r:id="rId83"/>
    <p:sldId id="287" r:id="rId84"/>
    <p:sldId id="288" r:id="rId85"/>
    <p:sldId id="289" r:id="rId86"/>
    <p:sldId id="290" r:id="rId87"/>
    <p:sldId id="299" r:id="rId88"/>
    <p:sldId id="336" r:id="rId89"/>
    <p:sldId id="338" r:id="rId90"/>
    <p:sldId id="331" r:id="rId91"/>
    <p:sldId id="337" r:id="rId92"/>
    <p:sldId id="292" r:id="rId93"/>
    <p:sldId id="361" r:id="rId94"/>
    <p:sldId id="332" r:id="rId95"/>
    <p:sldId id="333" r:id="rId96"/>
    <p:sldId id="334" r:id="rId97"/>
    <p:sldId id="293" r:id="rId98"/>
    <p:sldId id="362" r:id="rId99"/>
    <p:sldId id="335" r:id="rId100"/>
    <p:sldId id="291" r:id="rId101"/>
    <p:sldId id="294" r:id="rId102"/>
    <p:sldId id="295" r:id="rId103"/>
    <p:sldId id="296" r:id="rId104"/>
    <p:sldId id="297" r:id="rId105"/>
    <p:sldId id="298" r:id="rId106"/>
    <p:sldId id="363" r:id="rId107"/>
    <p:sldId id="364" r:id="rId108"/>
    <p:sldId id="318" r:id="rId109"/>
    <p:sldId id="319" r:id="rId110"/>
    <p:sldId id="320" r:id="rId111"/>
    <p:sldId id="321" r:id="rId112"/>
    <p:sldId id="322" r:id="rId113"/>
    <p:sldId id="365" r:id="rId114"/>
    <p:sldId id="347" r:id="rId115"/>
    <p:sldId id="348" r:id="rId116"/>
    <p:sldId id="339" r:id="rId117"/>
    <p:sldId id="340" r:id="rId118"/>
    <p:sldId id="366" r:id="rId119"/>
    <p:sldId id="341" r:id="rId120"/>
    <p:sldId id="342" r:id="rId121"/>
    <p:sldId id="343" r:id="rId122"/>
    <p:sldId id="344" r:id="rId123"/>
    <p:sldId id="345" r:id="rId124"/>
    <p:sldId id="346" r:id="rId125"/>
    <p:sldId id="349" r:id="rId126"/>
    <p:sldId id="350" r:id="rId127"/>
    <p:sldId id="302" r:id="rId128"/>
    <p:sldId id="324" r:id="rId129"/>
    <p:sldId id="264" r:id="rId130"/>
    <p:sldId id="265" r:id="rId131"/>
    <p:sldId id="266" r:id="rId132"/>
    <p:sldId id="325" r:id="rId133"/>
    <p:sldId id="305" r:id="rId134"/>
    <p:sldId id="304" r:id="rId135"/>
    <p:sldId id="326" r:id="rId136"/>
    <p:sldId id="327" r:id="rId137"/>
    <p:sldId id="306" r:id="rId138"/>
    <p:sldId id="267" r:id="rId139"/>
    <p:sldId id="307" r:id="rId140"/>
    <p:sldId id="308" r:id="rId141"/>
    <p:sldId id="261" r:id="rId142"/>
    <p:sldId id="310" r:id="rId143"/>
    <p:sldId id="309" r:id="rId144"/>
    <p:sldId id="360" r:id="rId145"/>
    <p:sldId id="263" r:id="rId14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113" d="100"/>
          <a:sy n="113" d="100"/>
        </p:scale>
        <p:origin x="318"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viewProps" Target="viewProps.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theme" Target="theme/theme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38D844-4BA1-4641-924E-A3277D3C0414}" type="datetimeFigureOut">
              <a:rPr lang="zh-CN" altLang="en-US" smtClean="0"/>
              <a:t>2023-2-27</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3D927E-4B78-492F-B260-D0F825F11967}" type="slidenum">
              <a:rPr lang="zh-CN" altLang="en-US" smtClean="0"/>
              <a:t>‹#›</a:t>
            </a:fld>
            <a:endParaRPr lang="zh-CN" altLang="en-US"/>
          </a:p>
        </p:txBody>
      </p:sp>
    </p:spTree>
    <p:extLst>
      <p:ext uri="{BB962C8B-B14F-4D97-AF65-F5344CB8AC3E}">
        <p14:creationId xmlns:p14="http://schemas.microsoft.com/office/powerpoint/2010/main" val="26974501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8CBDAC8E-EF09-49F8-807A-A62C925E6C3C}" type="slidenum">
              <a:rPr lang="zh-CN" altLang="en-US" smtClean="0"/>
              <a:t>8</a:t>
            </a:fld>
            <a:endParaRPr lang="zh-CN" altLang="en-US"/>
          </a:p>
        </p:txBody>
      </p:sp>
    </p:spTree>
    <p:extLst>
      <p:ext uri="{BB962C8B-B14F-4D97-AF65-F5344CB8AC3E}">
        <p14:creationId xmlns:p14="http://schemas.microsoft.com/office/powerpoint/2010/main" val="34060440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8CBDAC8E-EF09-49F8-807A-A62C925E6C3C}" type="slidenum">
              <a:rPr lang="zh-CN" altLang="en-US" smtClean="0"/>
              <a:t>27</a:t>
            </a:fld>
            <a:endParaRPr lang="zh-CN" altLang="en-US"/>
          </a:p>
        </p:txBody>
      </p:sp>
    </p:spTree>
    <p:extLst>
      <p:ext uri="{BB962C8B-B14F-4D97-AF65-F5344CB8AC3E}">
        <p14:creationId xmlns:p14="http://schemas.microsoft.com/office/powerpoint/2010/main" val="28240283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24AC6-0456-4F7D-A977-F75FDC1FCB8A}"/>
              </a:ext>
            </a:extLst>
          </p:cNvPr>
          <p:cNvSpPr>
            <a:spLocks noGrp="1"/>
          </p:cNvSpPr>
          <p:nvPr>
            <p:ph type="ctrTitle"/>
          </p:nvPr>
        </p:nvSpPr>
        <p:spPr>
          <a:xfrm>
            <a:off x="1524000" y="1122363"/>
            <a:ext cx="9144000" cy="2387600"/>
          </a:xfrm>
        </p:spPr>
        <p:txBody>
          <a:bodyPr anchor="b"/>
          <a:lstStyle>
            <a:lvl1pPr algn="ctr">
              <a:defRPr sz="6000"/>
            </a:lvl1pPr>
          </a:lstStyle>
          <a:p>
            <a:r>
              <a:rPr lang="en-US" altLang="zh-CN"/>
              <a:t>Click to edit Master title style</a:t>
            </a:r>
            <a:endParaRPr lang="zh-CN" altLang="en-US"/>
          </a:p>
        </p:txBody>
      </p:sp>
      <p:sp>
        <p:nvSpPr>
          <p:cNvPr id="3" name="Subtitle 2">
            <a:extLst>
              <a:ext uri="{FF2B5EF4-FFF2-40B4-BE49-F238E27FC236}">
                <a16:creationId xmlns:a16="http://schemas.microsoft.com/office/drawing/2014/main" id="{AA2A0308-9472-4B7F-935B-865511225DA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zh-CN" altLang="en-US"/>
          </a:p>
        </p:txBody>
      </p:sp>
      <p:sp>
        <p:nvSpPr>
          <p:cNvPr id="4" name="Date Placeholder 3">
            <a:extLst>
              <a:ext uri="{FF2B5EF4-FFF2-40B4-BE49-F238E27FC236}">
                <a16:creationId xmlns:a16="http://schemas.microsoft.com/office/drawing/2014/main" id="{D1DE2FDE-3F7E-4162-A7BF-E04961B06328}"/>
              </a:ext>
            </a:extLst>
          </p:cNvPr>
          <p:cNvSpPr>
            <a:spLocks noGrp="1"/>
          </p:cNvSpPr>
          <p:nvPr>
            <p:ph type="dt" sz="half" idx="10"/>
          </p:nvPr>
        </p:nvSpPr>
        <p:spPr/>
        <p:txBody>
          <a:bodyPr/>
          <a:lstStyle/>
          <a:p>
            <a:fld id="{FE141E28-1DC4-4259-8051-5622EC7CD8CF}" type="datetimeFigureOut">
              <a:rPr lang="zh-CN" altLang="en-US" smtClean="0"/>
              <a:t>2023-2-27</a:t>
            </a:fld>
            <a:endParaRPr lang="zh-CN" altLang="en-US"/>
          </a:p>
        </p:txBody>
      </p:sp>
      <p:sp>
        <p:nvSpPr>
          <p:cNvPr id="5" name="Footer Placeholder 4">
            <a:extLst>
              <a:ext uri="{FF2B5EF4-FFF2-40B4-BE49-F238E27FC236}">
                <a16:creationId xmlns:a16="http://schemas.microsoft.com/office/drawing/2014/main" id="{180C669B-3E5E-4286-AF82-B4206CC71638}"/>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AB1C90FC-1B8D-424E-9EC2-028D7E0972D5}"/>
              </a:ext>
            </a:extLst>
          </p:cNvPr>
          <p:cNvSpPr>
            <a:spLocks noGrp="1"/>
          </p:cNvSpPr>
          <p:nvPr>
            <p:ph type="sldNum" sz="quarter" idx="12"/>
          </p:nvPr>
        </p:nvSpPr>
        <p:spPr/>
        <p:txBody>
          <a:bodyPr/>
          <a:lstStyle/>
          <a:p>
            <a:fld id="{0FE001BB-6459-4B9D-951A-7715CE632C77}" type="slidenum">
              <a:rPr lang="zh-CN" altLang="en-US" smtClean="0"/>
              <a:t>‹#›</a:t>
            </a:fld>
            <a:endParaRPr lang="zh-CN" altLang="en-US"/>
          </a:p>
        </p:txBody>
      </p:sp>
    </p:spTree>
    <p:extLst>
      <p:ext uri="{BB962C8B-B14F-4D97-AF65-F5344CB8AC3E}">
        <p14:creationId xmlns:p14="http://schemas.microsoft.com/office/powerpoint/2010/main" val="34109444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BD62C-0874-4413-85B9-72D9614C2A35}"/>
              </a:ext>
            </a:extLst>
          </p:cNvPr>
          <p:cNvSpPr>
            <a:spLocks noGrp="1"/>
          </p:cNvSpPr>
          <p:nvPr>
            <p:ph type="title"/>
          </p:nvPr>
        </p:nvSpPr>
        <p:spPr/>
        <p:txBody>
          <a:body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60527F01-04A5-4496-B673-2719DF92F699}"/>
              </a:ext>
            </a:extLst>
          </p:cNvPr>
          <p:cNvSpPr>
            <a:spLocks noGrp="1"/>
          </p:cNvSpPr>
          <p:nvPr>
            <p:ph idx="1"/>
          </p:nvPr>
        </p:nvSpPr>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7EA6B699-150D-4453-85C5-32787E132406}"/>
              </a:ext>
            </a:extLst>
          </p:cNvPr>
          <p:cNvSpPr>
            <a:spLocks noGrp="1"/>
          </p:cNvSpPr>
          <p:nvPr>
            <p:ph type="dt" sz="half" idx="10"/>
          </p:nvPr>
        </p:nvSpPr>
        <p:spPr/>
        <p:txBody>
          <a:bodyPr/>
          <a:lstStyle/>
          <a:p>
            <a:fld id="{FE141E28-1DC4-4259-8051-5622EC7CD8CF}" type="datetimeFigureOut">
              <a:rPr lang="zh-CN" altLang="en-US" smtClean="0"/>
              <a:t>2023-2-27</a:t>
            </a:fld>
            <a:endParaRPr lang="zh-CN" altLang="en-US"/>
          </a:p>
        </p:txBody>
      </p:sp>
      <p:sp>
        <p:nvSpPr>
          <p:cNvPr id="5" name="Footer Placeholder 4">
            <a:extLst>
              <a:ext uri="{FF2B5EF4-FFF2-40B4-BE49-F238E27FC236}">
                <a16:creationId xmlns:a16="http://schemas.microsoft.com/office/drawing/2014/main" id="{0D174D14-F59A-440A-9E56-F8EF8AFB243E}"/>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4035EEF2-2727-48D3-BFE1-D392BA3C2D7C}"/>
              </a:ext>
            </a:extLst>
          </p:cNvPr>
          <p:cNvSpPr>
            <a:spLocks noGrp="1"/>
          </p:cNvSpPr>
          <p:nvPr>
            <p:ph type="sldNum" sz="quarter" idx="12"/>
          </p:nvPr>
        </p:nvSpPr>
        <p:spPr/>
        <p:txBody>
          <a:bodyPr/>
          <a:lstStyle/>
          <a:p>
            <a:fld id="{0FE001BB-6459-4B9D-951A-7715CE632C77}" type="slidenum">
              <a:rPr lang="zh-CN" altLang="en-US" smtClean="0"/>
              <a:t>‹#›</a:t>
            </a:fld>
            <a:endParaRPr lang="zh-CN" altLang="en-US"/>
          </a:p>
        </p:txBody>
      </p:sp>
    </p:spTree>
    <p:extLst>
      <p:ext uri="{BB962C8B-B14F-4D97-AF65-F5344CB8AC3E}">
        <p14:creationId xmlns:p14="http://schemas.microsoft.com/office/powerpoint/2010/main" val="38074402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30107-1CAC-447F-9435-785EFE0FB36E}"/>
              </a:ext>
            </a:extLst>
          </p:cNvPr>
          <p:cNvSpPr>
            <a:spLocks noGrp="1"/>
          </p:cNvSpPr>
          <p:nvPr>
            <p:ph type="title"/>
          </p:nvPr>
        </p:nvSpPr>
        <p:spPr>
          <a:xfrm>
            <a:off x="831850" y="1709738"/>
            <a:ext cx="10515600" cy="2852737"/>
          </a:xfrm>
        </p:spPr>
        <p:txBody>
          <a:bodyPr anchor="b"/>
          <a:lstStyle>
            <a:lvl1pPr>
              <a:defRPr sz="6000"/>
            </a:lvl1p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6676AED1-3386-4BB5-A75E-8592C70320B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a:t>Edit Master text styles</a:t>
            </a:r>
          </a:p>
        </p:txBody>
      </p:sp>
      <p:sp>
        <p:nvSpPr>
          <p:cNvPr id="4" name="Date Placeholder 3">
            <a:extLst>
              <a:ext uri="{FF2B5EF4-FFF2-40B4-BE49-F238E27FC236}">
                <a16:creationId xmlns:a16="http://schemas.microsoft.com/office/drawing/2014/main" id="{A9BF606E-784E-4775-AF52-EAF9F3F133AC}"/>
              </a:ext>
            </a:extLst>
          </p:cNvPr>
          <p:cNvSpPr>
            <a:spLocks noGrp="1"/>
          </p:cNvSpPr>
          <p:nvPr>
            <p:ph type="dt" sz="half" idx="10"/>
          </p:nvPr>
        </p:nvSpPr>
        <p:spPr/>
        <p:txBody>
          <a:bodyPr/>
          <a:lstStyle/>
          <a:p>
            <a:fld id="{FE141E28-1DC4-4259-8051-5622EC7CD8CF}" type="datetimeFigureOut">
              <a:rPr lang="zh-CN" altLang="en-US" smtClean="0"/>
              <a:t>2023-2-27</a:t>
            </a:fld>
            <a:endParaRPr lang="zh-CN" altLang="en-US"/>
          </a:p>
        </p:txBody>
      </p:sp>
      <p:sp>
        <p:nvSpPr>
          <p:cNvPr id="5" name="Footer Placeholder 4">
            <a:extLst>
              <a:ext uri="{FF2B5EF4-FFF2-40B4-BE49-F238E27FC236}">
                <a16:creationId xmlns:a16="http://schemas.microsoft.com/office/drawing/2014/main" id="{3D1AD419-BAC7-45C4-BEE6-08648F222581}"/>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061DD593-E31B-451E-88FF-F68A6CB6C1DF}"/>
              </a:ext>
            </a:extLst>
          </p:cNvPr>
          <p:cNvSpPr>
            <a:spLocks noGrp="1"/>
          </p:cNvSpPr>
          <p:nvPr>
            <p:ph type="sldNum" sz="quarter" idx="12"/>
          </p:nvPr>
        </p:nvSpPr>
        <p:spPr/>
        <p:txBody>
          <a:bodyPr/>
          <a:lstStyle/>
          <a:p>
            <a:fld id="{0FE001BB-6459-4B9D-951A-7715CE632C77}" type="slidenum">
              <a:rPr lang="zh-CN" altLang="en-US" smtClean="0"/>
              <a:t>‹#›</a:t>
            </a:fld>
            <a:endParaRPr lang="zh-CN" altLang="en-US"/>
          </a:p>
        </p:txBody>
      </p:sp>
    </p:spTree>
    <p:extLst>
      <p:ext uri="{BB962C8B-B14F-4D97-AF65-F5344CB8AC3E}">
        <p14:creationId xmlns:p14="http://schemas.microsoft.com/office/powerpoint/2010/main" val="10677199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E0013-EC69-4D89-B779-C54E1E86E4E6}"/>
              </a:ext>
            </a:extLst>
          </p:cNvPr>
          <p:cNvSpPr>
            <a:spLocks noGrp="1"/>
          </p:cNvSpPr>
          <p:nvPr>
            <p:ph type="title"/>
          </p:nvPr>
        </p:nvSpPr>
        <p:spPr/>
        <p:txBody>
          <a:body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1E3082CD-DA69-4EA9-A1AE-54E6CFB4D659}"/>
              </a:ext>
            </a:extLst>
          </p:cNvPr>
          <p:cNvSpPr>
            <a:spLocks noGrp="1"/>
          </p:cNvSpPr>
          <p:nvPr>
            <p:ph sz="half" idx="1"/>
          </p:nvPr>
        </p:nvSpPr>
        <p:spPr>
          <a:xfrm>
            <a:off x="838200" y="1825625"/>
            <a:ext cx="5181600" cy="4351338"/>
          </a:xfrm>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a:extLst>
              <a:ext uri="{FF2B5EF4-FFF2-40B4-BE49-F238E27FC236}">
                <a16:creationId xmlns:a16="http://schemas.microsoft.com/office/drawing/2014/main" id="{9D3AC8CD-6E4E-4F1A-91E5-41E6E583E3A3}"/>
              </a:ext>
            </a:extLst>
          </p:cNvPr>
          <p:cNvSpPr>
            <a:spLocks noGrp="1"/>
          </p:cNvSpPr>
          <p:nvPr>
            <p:ph sz="half" idx="2"/>
          </p:nvPr>
        </p:nvSpPr>
        <p:spPr>
          <a:xfrm>
            <a:off x="6172200" y="1825625"/>
            <a:ext cx="5181600" cy="4351338"/>
          </a:xfrm>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Date Placeholder 4">
            <a:extLst>
              <a:ext uri="{FF2B5EF4-FFF2-40B4-BE49-F238E27FC236}">
                <a16:creationId xmlns:a16="http://schemas.microsoft.com/office/drawing/2014/main" id="{094E341C-0397-4C0B-A5E3-DD052ED520D2}"/>
              </a:ext>
            </a:extLst>
          </p:cNvPr>
          <p:cNvSpPr>
            <a:spLocks noGrp="1"/>
          </p:cNvSpPr>
          <p:nvPr>
            <p:ph type="dt" sz="half" idx="10"/>
          </p:nvPr>
        </p:nvSpPr>
        <p:spPr/>
        <p:txBody>
          <a:bodyPr/>
          <a:lstStyle/>
          <a:p>
            <a:fld id="{FE141E28-1DC4-4259-8051-5622EC7CD8CF}" type="datetimeFigureOut">
              <a:rPr lang="zh-CN" altLang="en-US" smtClean="0"/>
              <a:t>2023-2-27</a:t>
            </a:fld>
            <a:endParaRPr lang="zh-CN" altLang="en-US"/>
          </a:p>
        </p:txBody>
      </p:sp>
      <p:sp>
        <p:nvSpPr>
          <p:cNvPr id="6" name="Footer Placeholder 5">
            <a:extLst>
              <a:ext uri="{FF2B5EF4-FFF2-40B4-BE49-F238E27FC236}">
                <a16:creationId xmlns:a16="http://schemas.microsoft.com/office/drawing/2014/main" id="{F6351EA2-A278-4193-AC86-E7536F55F1DC}"/>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11F6FB30-BDD2-4D70-B5BC-EEF37671897E}"/>
              </a:ext>
            </a:extLst>
          </p:cNvPr>
          <p:cNvSpPr>
            <a:spLocks noGrp="1"/>
          </p:cNvSpPr>
          <p:nvPr>
            <p:ph type="sldNum" sz="quarter" idx="12"/>
          </p:nvPr>
        </p:nvSpPr>
        <p:spPr/>
        <p:txBody>
          <a:bodyPr/>
          <a:lstStyle/>
          <a:p>
            <a:fld id="{0FE001BB-6459-4B9D-951A-7715CE632C77}" type="slidenum">
              <a:rPr lang="zh-CN" altLang="en-US" smtClean="0"/>
              <a:t>‹#›</a:t>
            </a:fld>
            <a:endParaRPr lang="zh-CN" altLang="en-US"/>
          </a:p>
        </p:txBody>
      </p:sp>
    </p:spTree>
    <p:extLst>
      <p:ext uri="{BB962C8B-B14F-4D97-AF65-F5344CB8AC3E}">
        <p14:creationId xmlns:p14="http://schemas.microsoft.com/office/powerpoint/2010/main" val="16593194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ED838-A6AE-49B3-8F65-3C1891536167}"/>
              </a:ext>
            </a:extLst>
          </p:cNvPr>
          <p:cNvSpPr>
            <a:spLocks noGrp="1"/>
          </p:cNvSpPr>
          <p:nvPr>
            <p:ph type="title"/>
          </p:nvPr>
        </p:nvSpPr>
        <p:spPr>
          <a:xfrm>
            <a:off x="839788" y="365125"/>
            <a:ext cx="10515600" cy="1325563"/>
          </a:xfrm>
        </p:spPr>
        <p:txBody>
          <a:body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7DA964D9-5532-4D47-A58C-7A6CF0FD6C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Edit Master text styles</a:t>
            </a:r>
          </a:p>
        </p:txBody>
      </p:sp>
      <p:sp>
        <p:nvSpPr>
          <p:cNvPr id="4" name="Content Placeholder 3">
            <a:extLst>
              <a:ext uri="{FF2B5EF4-FFF2-40B4-BE49-F238E27FC236}">
                <a16:creationId xmlns:a16="http://schemas.microsoft.com/office/drawing/2014/main" id="{83C1C909-2FE3-4C02-B6B2-2B619802626B}"/>
              </a:ext>
            </a:extLst>
          </p:cNvPr>
          <p:cNvSpPr>
            <a:spLocks noGrp="1"/>
          </p:cNvSpPr>
          <p:nvPr>
            <p:ph sz="half" idx="2"/>
          </p:nvPr>
        </p:nvSpPr>
        <p:spPr>
          <a:xfrm>
            <a:off x="839788" y="2505075"/>
            <a:ext cx="5157787" cy="3684588"/>
          </a:xfrm>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Text Placeholder 4">
            <a:extLst>
              <a:ext uri="{FF2B5EF4-FFF2-40B4-BE49-F238E27FC236}">
                <a16:creationId xmlns:a16="http://schemas.microsoft.com/office/drawing/2014/main" id="{D05A2301-7EFA-4743-B44E-74C731E84A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Edit Master text styles</a:t>
            </a:r>
          </a:p>
        </p:txBody>
      </p:sp>
      <p:sp>
        <p:nvSpPr>
          <p:cNvPr id="6" name="Content Placeholder 5">
            <a:extLst>
              <a:ext uri="{FF2B5EF4-FFF2-40B4-BE49-F238E27FC236}">
                <a16:creationId xmlns:a16="http://schemas.microsoft.com/office/drawing/2014/main" id="{18EFA37B-B33F-46BD-A808-D679BC4FE631}"/>
              </a:ext>
            </a:extLst>
          </p:cNvPr>
          <p:cNvSpPr>
            <a:spLocks noGrp="1"/>
          </p:cNvSpPr>
          <p:nvPr>
            <p:ph sz="quarter" idx="4"/>
          </p:nvPr>
        </p:nvSpPr>
        <p:spPr>
          <a:xfrm>
            <a:off x="6172200" y="2505075"/>
            <a:ext cx="5183188" cy="3684588"/>
          </a:xfrm>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7" name="Date Placeholder 6">
            <a:extLst>
              <a:ext uri="{FF2B5EF4-FFF2-40B4-BE49-F238E27FC236}">
                <a16:creationId xmlns:a16="http://schemas.microsoft.com/office/drawing/2014/main" id="{F66261B4-BA12-4BB5-A2F2-A51B623F989C}"/>
              </a:ext>
            </a:extLst>
          </p:cNvPr>
          <p:cNvSpPr>
            <a:spLocks noGrp="1"/>
          </p:cNvSpPr>
          <p:nvPr>
            <p:ph type="dt" sz="half" idx="10"/>
          </p:nvPr>
        </p:nvSpPr>
        <p:spPr/>
        <p:txBody>
          <a:bodyPr/>
          <a:lstStyle/>
          <a:p>
            <a:fld id="{FE141E28-1DC4-4259-8051-5622EC7CD8CF}" type="datetimeFigureOut">
              <a:rPr lang="zh-CN" altLang="en-US" smtClean="0"/>
              <a:t>2023-2-27</a:t>
            </a:fld>
            <a:endParaRPr lang="zh-CN" altLang="en-US"/>
          </a:p>
        </p:txBody>
      </p:sp>
      <p:sp>
        <p:nvSpPr>
          <p:cNvPr id="8" name="Footer Placeholder 7">
            <a:extLst>
              <a:ext uri="{FF2B5EF4-FFF2-40B4-BE49-F238E27FC236}">
                <a16:creationId xmlns:a16="http://schemas.microsoft.com/office/drawing/2014/main" id="{BD0C07D2-33B2-44AD-BF66-7AF53B85602D}"/>
              </a:ext>
            </a:extLst>
          </p:cNvPr>
          <p:cNvSpPr>
            <a:spLocks noGrp="1"/>
          </p:cNvSpPr>
          <p:nvPr>
            <p:ph type="ftr" sz="quarter" idx="11"/>
          </p:nvPr>
        </p:nvSpPr>
        <p:spPr/>
        <p:txBody>
          <a:bodyPr/>
          <a:lstStyle/>
          <a:p>
            <a:endParaRPr lang="zh-CN" altLang="en-US"/>
          </a:p>
        </p:txBody>
      </p:sp>
      <p:sp>
        <p:nvSpPr>
          <p:cNvPr id="9" name="Slide Number Placeholder 8">
            <a:extLst>
              <a:ext uri="{FF2B5EF4-FFF2-40B4-BE49-F238E27FC236}">
                <a16:creationId xmlns:a16="http://schemas.microsoft.com/office/drawing/2014/main" id="{A9E6E49E-4513-43C4-B1FD-0805A221808D}"/>
              </a:ext>
            </a:extLst>
          </p:cNvPr>
          <p:cNvSpPr>
            <a:spLocks noGrp="1"/>
          </p:cNvSpPr>
          <p:nvPr>
            <p:ph type="sldNum" sz="quarter" idx="12"/>
          </p:nvPr>
        </p:nvSpPr>
        <p:spPr/>
        <p:txBody>
          <a:bodyPr/>
          <a:lstStyle/>
          <a:p>
            <a:fld id="{0FE001BB-6459-4B9D-951A-7715CE632C77}" type="slidenum">
              <a:rPr lang="zh-CN" altLang="en-US" smtClean="0"/>
              <a:t>‹#›</a:t>
            </a:fld>
            <a:endParaRPr lang="zh-CN" altLang="en-US"/>
          </a:p>
        </p:txBody>
      </p:sp>
    </p:spTree>
    <p:extLst>
      <p:ext uri="{BB962C8B-B14F-4D97-AF65-F5344CB8AC3E}">
        <p14:creationId xmlns:p14="http://schemas.microsoft.com/office/powerpoint/2010/main" val="9519639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B1B29-DECE-4AB8-8580-FBA693E591CC}"/>
              </a:ext>
            </a:extLst>
          </p:cNvPr>
          <p:cNvSpPr>
            <a:spLocks noGrp="1"/>
          </p:cNvSpPr>
          <p:nvPr>
            <p:ph type="title"/>
          </p:nvPr>
        </p:nvSpPr>
        <p:spPr/>
        <p:txBody>
          <a:bodyPr/>
          <a:lstStyle/>
          <a:p>
            <a:r>
              <a:rPr lang="en-US" altLang="zh-CN"/>
              <a:t>Click to edit Master title style</a:t>
            </a:r>
            <a:endParaRPr lang="zh-CN" altLang="en-US"/>
          </a:p>
        </p:txBody>
      </p:sp>
      <p:sp>
        <p:nvSpPr>
          <p:cNvPr id="3" name="Date Placeholder 2">
            <a:extLst>
              <a:ext uri="{FF2B5EF4-FFF2-40B4-BE49-F238E27FC236}">
                <a16:creationId xmlns:a16="http://schemas.microsoft.com/office/drawing/2014/main" id="{589BA3CF-E2C2-48EB-9852-62717D82C96C}"/>
              </a:ext>
            </a:extLst>
          </p:cNvPr>
          <p:cNvSpPr>
            <a:spLocks noGrp="1"/>
          </p:cNvSpPr>
          <p:nvPr>
            <p:ph type="dt" sz="half" idx="10"/>
          </p:nvPr>
        </p:nvSpPr>
        <p:spPr/>
        <p:txBody>
          <a:bodyPr/>
          <a:lstStyle/>
          <a:p>
            <a:fld id="{FE141E28-1DC4-4259-8051-5622EC7CD8CF}" type="datetimeFigureOut">
              <a:rPr lang="zh-CN" altLang="en-US" smtClean="0"/>
              <a:t>2023-2-27</a:t>
            </a:fld>
            <a:endParaRPr lang="zh-CN" altLang="en-US"/>
          </a:p>
        </p:txBody>
      </p:sp>
      <p:sp>
        <p:nvSpPr>
          <p:cNvPr id="4" name="Footer Placeholder 3">
            <a:extLst>
              <a:ext uri="{FF2B5EF4-FFF2-40B4-BE49-F238E27FC236}">
                <a16:creationId xmlns:a16="http://schemas.microsoft.com/office/drawing/2014/main" id="{3B4BE81A-00D5-4F65-BCB8-FE391AD37644}"/>
              </a:ext>
            </a:extLst>
          </p:cNvPr>
          <p:cNvSpPr>
            <a:spLocks noGrp="1"/>
          </p:cNvSpPr>
          <p:nvPr>
            <p:ph type="ftr" sz="quarter" idx="11"/>
          </p:nvPr>
        </p:nvSpPr>
        <p:spPr/>
        <p:txBody>
          <a:bodyPr/>
          <a:lstStyle/>
          <a:p>
            <a:endParaRPr lang="zh-CN" altLang="en-US"/>
          </a:p>
        </p:txBody>
      </p:sp>
      <p:sp>
        <p:nvSpPr>
          <p:cNvPr id="5" name="Slide Number Placeholder 4">
            <a:extLst>
              <a:ext uri="{FF2B5EF4-FFF2-40B4-BE49-F238E27FC236}">
                <a16:creationId xmlns:a16="http://schemas.microsoft.com/office/drawing/2014/main" id="{8DBE597B-A15A-4862-84F4-BBBAE8CE9D76}"/>
              </a:ext>
            </a:extLst>
          </p:cNvPr>
          <p:cNvSpPr>
            <a:spLocks noGrp="1"/>
          </p:cNvSpPr>
          <p:nvPr>
            <p:ph type="sldNum" sz="quarter" idx="12"/>
          </p:nvPr>
        </p:nvSpPr>
        <p:spPr/>
        <p:txBody>
          <a:bodyPr/>
          <a:lstStyle/>
          <a:p>
            <a:fld id="{0FE001BB-6459-4B9D-951A-7715CE632C77}" type="slidenum">
              <a:rPr lang="zh-CN" altLang="en-US" smtClean="0"/>
              <a:t>‹#›</a:t>
            </a:fld>
            <a:endParaRPr lang="zh-CN" altLang="en-US"/>
          </a:p>
        </p:txBody>
      </p:sp>
    </p:spTree>
    <p:extLst>
      <p:ext uri="{BB962C8B-B14F-4D97-AF65-F5344CB8AC3E}">
        <p14:creationId xmlns:p14="http://schemas.microsoft.com/office/powerpoint/2010/main" val="23129936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CC6D4C-D8EC-45F6-AE7F-2A6C8373BFB6}"/>
              </a:ext>
            </a:extLst>
          </p:cNvPr>
          <p:cNvSpPr>
            <a:spLocks noGrp="1"/>
          </p:cNvSpPr>
          <p:nvPr>
            <p:ph type="dt" sz="half" idx="10"/>
          </p:nvPr>
        </p:nvSpPr>
        <p:spPr/>
        <p:txBody>
          <a:bodyPr/>
          <a:lstStyle/>
          <a:p>
            <a:fld id="{FE141E28-1DC4-4259-8051-5622EC7CD8CF}" type="datetimeFigureOut">
              <a:rPr lang="zh-CN" altLang="en-US" smtClean="0"/>
              <a:t>2023-2-27</a:t>
            </a:fld>
            <a:endParaRPr lang="zh-CN" altLang="en-US"/>
          </a:p>
        </p:txBody>
      </p:sp>
      <p:sp>
        <p:nvSpPr>
          <p:cNvPr id="3" name="Footer Placeholder 2">
            <a:extLst>
              <a:ext uri="{FF2B5EF4-FFF2-40B4-BE49-F238E27FC236}">
                <a16:creationId xmlns:a16="http://schemas.microsoft.com/office/drawing/2014/main" id="{9ABF3D39-2A9A-46D5-BA67-0E51D415B429}"/>
              </a:ext>
            </a:extLst>
          </p:cNvPr>
          <p:cNvSpPr>
            <a:spLocks noGrp="1"/>
          </p:cNvSpPr>
          <p:nvPr>
            <p:ph type="ftr" sz="quarter" idx="11"/>
          </p:nvPr>
        </p:nvSpPr>
        <p:spPr/>
        <p:txBody>
          <a:bodyPr/>
          <a:lstStyle/>
          <a:p>
            <a:endParaRPr lang="zh-CN" altLang="en-US"/>
          </a:p>
        </p:txBody>
      </p:sp>
      <p:sp>
        <p:nvSpPr>
          <p:cNvPr id="4" name="Slide Number Placeholder 3">
            <a:extLst>
              <a:ext uri="{FF2B5EF4-FFF2-40B4-BE49-F238E27FC236}">
                <a16:creationId xmlns:a16="http://schemas.microsoft.com/office/drawing/2014/main" id="{D321B964-E6F8-4842-9CD6-D736DF4F7500}"/>
              </a:ext>
            </a:extLst>
          </p:cNvPr>
          <p:cNvSpPr>
            <a:spLocks noGrp="1"/>
          </p:cNvSpPr>
          <p:nvPr>
            <p:ph type="sldNum" sz="quarter" idx="12"/>
          </p:nvPr>
        </p:nvSpPr>
        <p:spPr/>
        <p:txBody>
          <a:bodyPr/>
          <a:lstStyle/>
          <a:p>
            <a:fld id="{0FE001BB-6459-4B9D-951A-7715CE632C77}" type="slidenum">
              <a:rPr lang="zh-CN" altLang="en-US" smtClean="0"/>
              <a:t>‹#›</a:t>
            </a:fld>
            <a:endParaRPr lang="zh-CN" altLang="en-US"/>
          </a:p>
        </p:txBody>
      </p:sp>
    </p:spTree>
    <p:extLst>
      <p:ext uri="{BB962C8B-B14F-4D97-AF65-F5344CB8AC3E}">
        <p14:creationId xmlns:p14="http://schemas.microsoft.com/office/powerpoint/2010/main" val="5856888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7A4FC-3679-46B8-A155-36AB7C4A6654}"/>
              </a:ext>
            </a:extLst>
          </p:cNvPr>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B6058EBF-0BB2-4281-A033-7919CC456D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Text Placeholder 3">
            <a:extLst>
              <a:ext uri="{FF2B5EF4-FFF2-40B4-BE49-F238E27FC236}">
                <a16:creationId xmlns:a16="http://schemas.microsoft.com/office/drawing/2014/main" id="{0FF0A48F-6A59-47BD-AFAB-DF4D24F3A7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Edit Master text styles</a:t>
            </a:r>
          </a:p>
        </p:txBody>
      </p:sp>
      <p:sp>
        <p:nvSpPr>
          <p:cNvPr id="5" name="Date Placeholder 4">
            <a:extLst>
              <a:ext uri="{FF2B5EF4-FFF2-40B4-BE49-F238E27FC236}">
                <a16:creationId xmlns:a16="http://schemas.microsoft.com/office/drawing/2014/main" id="{06D75DA4-EA21-4C94-963A-7734AAC5B2F2}"/>
              </a:ext>
            </a:extLst>
          </p:cNvPr>
          <p:cNvSpPr>
            <a:spLocks noGrp="1"/>
          </p:cNvSpPr>
          <p:nvPr>
            <p:ph type="dt" sz="half" idx="10"/>
          </p:nvPr>
        </p:nvSpPr>
        <p:spPr/>
        <p:txBody>
          <a:bodyPr/>
          <a:lstStyle/>
          <a:p>
            <a:fld id="{FE141E28-1DC4-4259-8051-5622EC7CD8CF}" type="datetimeFigureOut">
              <a:rPr lang="zh-CN" altLang="en-US" smtClean="0"/>
              <a:t>2023-2-27</a:t>
            </a:fld>
            <a:endParaRPr lang="zh-CN" altLang="en-US"/>
          </a:p>
        </p:txBody>
      </p:sp>
      <p:sp>
        <p:nvSpPr>
          <p:cNvPr id="6" name="Footer Placeholder 5">
            <a:extLst>
              <a:ext uri="{FF2B5EF4-FFF2-40B4-BE49-F238E27FC236}">
                <a16:creationId xmlns:a16="http://schemas.microsoft.com/office/drawing/2014/main" id="{1D27C4EA-C3E1-4828-B3FC-65506042544B}"/>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D9CC55AA-AE5C-4FB8-A9AF-BA0735874E6C}"/>
              </a:ext>
            </a:extLst>
          </p:cNvPr>
          <p:cNvSpPr>
            <a:spLocks noGrp="1"/>
          </p:cNvSpPr>
          <p:nvPr>
            <p:ph type="sldNum" sz="quarter" idx="12"/>
          </p:nvPr>
        </p:nvSpPr>
        <p:spPr/>
        <p:txBody>
          <a:bodyPr/>
          <a:lstStyle/>
          <a:p>
            <a:fld id="{0FE001BB-6459-4B9D-951A-7715CE632C77}" type="slidenum">
              <a:rPr lang="zh-CN" altLang="en-US" smtClean="0"/>
              <a:t>‹#›</a:t>
            </a:fld>
            <a:endParaRPr lang="zh-CN" altLang="en-US"/>
          </a:p>
        </p:txBody>
      </p:sp>
    </p:spTree>
    <p:extLst>
      <p:ext uri="{BB962C8B-B14F-4D97-AF65-F5344CB8AC3E}">
        <p14:creationId xmlns:p14="http://schemas.microsoft.com/office/powerpoint/2010/main" val="6282670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08687-D68F-4E20-9172-20D20067FFD7}"/>
              </a:ext>
            </a:extLst>
          </p:cNvPr>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Picture Placeholder 2">
            <a:extLst>
              <a:ext uri="{FF2B5EF4-FFF2-40B4-BE49-F238E27FC236}">
                <a16:creationId xmlns:a16="http://schemas.microsoft.com/office/drawing/2014/main" id="{94E473C2-56AD-46F3-BC41-41734C52B3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Placeholder 3">
            <a:extLst>
              <a:ext uri="{FF2B5EF4-FFF2-40B4-BE49-F238E27FC236}">
                <a16:creationId xmlns:a16="http://schemas.microsoft.com/office/drawing/2014/main" id="{33BAA01A-556A-4142-856F-A519C465FA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Edit Master text styles</a:t>
            </a:r>
          </a:p>
        </p:txBody>
      </p:sp>
      <p:sp>
        <p:nvSpPr>
          <p:cNvPr id="5" name="Date Placeholder 4">
            <a:extLst>
              <a:ext uri="{FF2B5EF4-FFF2-40B4-BE49-F238E27FC236}">
                <a16:creationId xmlns:a16="http://schemas.microsoft.com/office/drawing/2014/main" id="{2B391447-1EFD-4070-8217-1FE2172215A6}"/>
              </a:ext>
            </a:extLst>
          </p:cNvPr>
          <p:cNvSpPr>
            <a:spLocks noGrp="1"/>
          </p:cNvSpPr>
          <p:nvPr>
            <p:ph type="dt" sz="half" idx="10"/>
          </p:nvPr>
        </p:nvSpPr>
        <p:spPr/>
        <p:txBody>
          <a:bodyPr/>
          <a:lstStyle/>
          <a:p>
            <a:fld id="{FE141E28-1DC4-4259-8051-5622EC7CD8CF}" type="datetimeFigureOut">
              <a:rPr lang="zh-CN" altLang="en-US" smtClean="0"/>
              <a:t>2023-2-27</a:t>
            </a:fld>
            <a:endParaRPr lang="zh-CN" altLang="en-US"/>
          </a:p>
        </p:txBody>
      </p:sp>
      <p:sp>
        <p:nvSpPr>
          <p:cNvPr id="6" name="Footer Placeholder 5">
            <a:extLst>
              <a:ext uri="{FF2B5EF4-FFF2-40B4-BE49-F238E27FC236}">
                <a16:creationId xmlns:a16="http://schemas.microsoft.com/office/drawing/2014/main" id="{67FA6EBE-B1E2-4602-9FC6-7C215D686FD9}"/>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6A76563E-175C-4770-BC9C-A1FB56558E08}"/>
              </a:ext>
            </a:extLst>
          </p:cNvPr>
          <p:cNvSpPr>
            <a:spLocks noGrp="1"/>
          </p:cNvSpPr>
          <p:nvPr>
            <p:ph type="sldNum" sz="quarter" idx="12"/>
          </p:nvPr>
        </p:nvSpPr>
        <p:spPr/>
        <p:txBody>
          <a:bodyPr/>
          <a:lstStyle/>
          <a:p>
            <a:fld id="{0FE001BB-6459-4B9D-951A-7715CE632C77}" type="slidenum">
              <a:rPr lang="zh-CN" altLang="en-US" smtClean="0"/>
              <a:t>‹#›</a:t>
            </a:fld>
            <a:endParaRPr lang="zh-CN" altLang="en-US"/>
          </a:p>
        </p:txBody>
      </p:sp>
    </p:spTree>
    <p:extLst>
      <p:ext uri="{BB962C8B-B14F-4D97-AF65-F5344CB8AC3E}">
        <p14:creationId xmlns:p14="http://schemas.microsoft.com/office/powerpoint/2010/main" val="29603257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84339-D68D-47B9-9C5C-46431579D2EF}"/>
              </a:ext>
            </a:extLst>
          </p:cNvPr>
          <p:cNvSpPr>
            <a:spLocks noGrp="1"/>
          </p:cNvSpPr>
          <p:nvPr>
            <p:ph type="title"/>
          </p:nvPr>
        </p:nvSpPr>
        <p:spPr/>
        <p:txBody>
          <a:bodyPr/>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14CE8730-E4D2-461A-9D5B-274D8BF1513F}"/>
              </a:ext>
            </a:extLst>
          </p:cNvPr>
          <p:cNvSpPr>
            <a:spLocks noGrp="1"/>
          </p:cNvSpPr>
          <p:nvPr>
            <p:ph type="body" orient="vert" idx="1"/>
          </p:nvPr>
        </p:nvSpPr>
        <p:spPr/>
        <p:txBody>
          <a:bodyPr vert="eaVert"/>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794FB256-3508-4008-8A13-F098B6E07B45}"/>
              </a:ext>
            </a:extLst>
          </p:cNvPr>
          <p:cNvSpPr>
            <a:spLocks noGrp="1"/>
          </p:cNvSpPr>
          <p:nvPr>
            <p:ph type="dt" sz="half" idx="10"/>
          </p:nvPr>
        </p:nvSpPr>
        <p:spPr/>
        <p:txBody>
          <a:bodyPr/>
          <a:lstStyle/>
          <a:p>
            <a:fld id="{FE141E28-1DC4-4259-8051-5622EC7CD8CF}" type="datetimeFigureOut">
              <a:rPr lang="zh-CN" altLang="en-US" smtClean="0"/>
              <a:t>2023-2-27</a:t>
            </a:fld>
            <a:endParaRPr lang="zh-CN" altLang="en-US"/>
          </a:p>
        </p:txBody>
      </p:sp>
      <p:sp>
        <p:nvSpPr>
          <p:cNvPr id="5" name="Footer Placeholder 4">
            <a:extLst>
              <a:ext uri="{FF2B5EF4-FFF2-40B4-BE49-F238E27FC236}">
                <a16:creationId xmlns:a16="http://schemas.microsoft.com/office/drawing/2014/main" id="{DC1A2B85-80F4-495D-BE2D-1E0D52C8631D}"/>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3101DA6B-B6FE-4629-8F2A-015B4776BB0C}"/>
              </a:ext>
            </a:extLst>
          </p:cNvPr>
          <p:cNvSpPr>
            <a:spLocks noGrp="1"/>
          </p:cNvSpPr>
          <p:nvPr>
            <p:ph type="sldNum" sz="quarter" idx="12"/>
          </p:nvPr>
        </p:nvSpPr>
        <p:spPr/>
        <p:txBody>
          <a:bodyPr/>
          <a:lstStyle/>
          <a:p>
            <a:fld id="{0FE001BB-6459-4B9D-951A-7715CE632C77}" type="slidenum">
              <a:rPr lang="zh-CN" altLang="en-US" smtClean="0"/>
              <a:t>‹#›</a:t>
            </a:fld>
            <a:endParaRPr lang="zh-CN" altLang="en-US"/>
          </a:p>
        </p:txBody>
      </p:sp>
    </p:spTree>
    <p:extLst>
      <p:ext uri="{BB962C8B-B14F-4D97-AF65-F5344CB8AC3E}">
        <p14:creationId xmlns:p14="http://schemas.microsoft.com/office/powerpoint/2010/main" val="1399528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A95D69D-CDC0-49D5-80C9-9ACB05177454}"/>
              </a:ext>
            </a:extLst>
          </p:cNvPr>
          <p:cNvSpPr>
            <a:spLocks noGrp="1"/>
          </p:cNvSpPr>
          <p:nvPr>
            <p:ph type="title" orient="vert"/>
          </p:nvPr>
        </p:nvSpPr>
        <p:spPr>
          <a:xfrm>
            <a:off x="8724900" y="365125"/>
            <a:ext cx="2628900" cy="5811838"/>
          </a:xfrm>
        </p:spPr>
        <p:txBody>
          <a:bodyPr vert="eaVert"/>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54E2A057-7051-4F1E-92A4-6BDE30899156}"/>
              </a:ext>
            </a:extLst>
          </p:cNvPr>
          <p:cNvSpPr>
            <a:spLocks noGrp="1"/>
          </p:cNvSpPr>
          <p:nvPr>
            <p:ph type="body" orient="vert" idx="1"/>
          </p:nvPr>
        </p:nvSpPr>
        <p:spPr>
          <a:xfrm>
            <a:off x="838200" y="365125"/>
            <a:ext cx="7734300" cy="5811838"/>
          </a:xfrm>
        </p:spPr>
        <p:txBody>
          <a:bodyPr vert="eaVert"/>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6F400454-17E0-47D3-834D-212999401F72}"/>
              </a:ext>
            </a:extLst>
          </p:cNvPr>
          <p:cNvSpPr>
            <a:spLocks noGrp="1"/>
          </p:cNvSpPr>
          <p:nvPr>
            <p:ph type="dt" sz="half" idx="10"/>
          </p:nvPr>
        </p:nvSpPr>
        <p:spPr/>
        <p:txBody>
          <a:bodyPr/>
          <a:lstStyle/>
          <a:p>
            <a:fld id="{FE141E28-1DC4-4259-8051-5622EC7CD8CF}" type="datetimeFigureOut">
              <a:rPr lang="zh-CN" altLang="en-US" smtClean="0"/>
              <a:t>2023-2-27</a:t>
            </a:fld>
            <a:endParaRPr lang="zh-CN" altLang="en-US"/>
          </a:p>
        </p:txBody>
      </p:sp>
      <p:sp>
        <p:nvSpPr>
          <p:cNvPr id="5" name="Footer Placeholder 4">
            <a:extLst>
              <a:ext uri="{FF2B5EF4-FFF2-40B4-BE49-F238E27FC236}">
                <a16:creationId xmlns:a16="http://schemas.microsoft.com/office/drawing/2014/main" id="{11198AAF-FFD2-4DBB-80B8-BAAC5C7DA76A}"/>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2F756F9C-0D51-41B4-BBE9-7EAA19E536CA}"/>
              </a:ext>
            </a:extLst>
          </p:cNvPr>
          <p:cNvSpPr>
            <a:spLocks noGrp="1"/>
          </p:cNvSpPr>
          <p:nvPr>
            <p:ph type="sldNum" sz="quarter" idx="12"/>
          </p:nvPr>
        </p:nvSpPr>
        <p:spPr/>
        <p:txBody>
          <a:bodyPr/>
          <a:lstStyle/>
          <a:p>
            <a:fld id="{0FE001BB-6459-4B9D-951A-7715CE632C77}" type="slidenum">
              <a:rPr lang="zh-CN" altLang="en-US" smtClean="0"/>
              <a:t>‹#›</a:t>
            </a:fld>
            <a:endParaRPr lang="zh-CN" altLang="en-US"/>
          </a:p>
        </p:txBody>
      </p:sp>
    </p:spTree>
    <p:extLst>
      <p:ext uri="{BB962C8B-B14F-4D97-AF65-F5344CB8AC3E}">
        <p14:creationId xmlns:p14="http://schemas.microsoft.com/office/powerpoint/2010/main" val="3216503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BFFAD1-1945-4110-A84E-1539C152BC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CFC3E7CA-E3D8-483C-924A-B2C26CE236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EB60A47C-C985-46EE-A81E-A05596005D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E141E28-1DC4-4259-8051-5622EC7CD8CF}" type="datetimeFigureOut">
              <a:rPr lang="zh-CN" altLang="en-US" smtClean="0"/>
              <a:t>2023-2-27</a:t>
            </a:fld>
            <a:endParaRPr lang="zh-CN" altLang="en-US"/>
          </a:p>
        </p:txBody>
      </p:sp>
      <p:sp>
        <p:nvSpPr>
          <p:cNvPr id="5" name="Footer Placeholder 4">
            <a:extLst>
              <a:ext uri="{FF2B5EF4-FFF2-40B4-BE49-F238E27FC236}">
                <a16:creationId xmlns:a16="http://schemas.microsoft.com/office/drawing/2014/main" id="{960F9CDF-F02D-4C63-BAD4-7661D5092C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a:extLst>
              <a:ext uri="{FF2B5EF4-FFF2-40B4-BE49-F238E27FC236}">
                <a16:creationId xmlns:a16="http://schemas.microsoft.com/office/drawing/2014/main" id="{C161412B-4E31-4B94-937D-E7D5BB3CD3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E001BB-6459-4B9D-951A-7715CE632C77}" type="slidenum">
              <a:rPr lang="zh-CN" altLang="en-US" smtClean="0"/>
              <a:t>‹#›</a:t>
            </a:fld>
            <a:endParaRPr lang="zh-CN" altLang="en-US"/>
          </a:p>
        </p:txBody>
      </p:sp>
    </p:spTree>
    <p:extLst>
      <p:ext uri="{BB962C8B-B14F-4D97-AF65-F5344CB8AC3E}">
        <p14:creationId xmlns:p14="http://schemas.microsoft.com/office/powerpoint/2010/main" val="11522054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Zhiming.luo@xmu.edu.c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docs.opencv.org/3.4/db/df6/tutorial_erosion_dilatation.html" TargetMode="Externa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30.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51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19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210.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5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240.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5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270.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5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31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image" Target="../media/image331.png"/><Relationship Id="rId1" Type="http://schemas.openxmlformats.org/officeDocument/2006/relationships/slideLayout" Target="../slideLayouts/slideLayout2.xml"/><Relationship Id="rId4" Type="http://schemas.openxmlformats.org/officeDocument/2006/relationships/image" Target="../media/image350.png"/></Relationships>
</file>

<file path=ppt/slides/_rels/slide5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7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image" Target="../media/image40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hyperlink" Target="https://zhuanlan.zhihu.com/p/99959996" TargetMode="Externa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hyperlink" Target="https://docs.opencv.org/4.x/da/d22/tutorial_py_canny.html" TargetMode="Externa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191.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211.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230.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250.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260.png"/><Relationship Id="rId1" Type="http://schemas.openxmlformats.org/officeDocument/2006/relationships/slideLayout" Target="../slideLayouts/slideLayout2.xml"/><Relationship Id="rId5" Type="http://schemas.openxmlformats.org/officeDocument/2006/relationships/image" Target="../media/image85.png"/><Relationship Id="rId4" Type="http://schemas.openxmlformats.org/officeDocument/2006/relationships/image" Target="../media/image84.png"/></Relationships>
</file>

<file path=ppt/slides/_rels/slide85.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312.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87.tif"/><Relationship Id="rId2" Type="http://schemas.openxmlformats.org/officeDocument/2006/relationships/image" Target="../media/image320.png"/><Relationship Id="rId1" Type="http://schemas.openxmlformats.org/officeDocument/2006/relationships/slideLayout" Target="../slideLayouts/slideLayout2.xml"/><Relationship Id="rId4" Type="http://schemas.openxmlformats.org/officeDocument/2006/relationships/image" Target="../media/image88.png"/></Relationships>
</file>

<file path=ppt/slides/_rels/slide88.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351.png"/><Relationship Id="rId1" Type="http://schemas.openxmlformats.org/officeDocument/2006/relationships/slideLayout" Target="../slideLayouts/slideLayout2.xml"/><Relationship Id="rId4" Type="http://schemas.openxmlformats.org/officeDocument/2006/relationships/image" Target="../media/image90.png"/></Relationships>
</file>

<file path=ppt/slides/_rels/slide89.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380.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401.png"/><Relationship Id="rId1" Type="http://schemas.openxmlformats.org/officeDocument/2006/relationships/slideLayout" Target="../slideLayouts/slideLayout2.xml"/><Relationship Id="rId5" Type="http://schemas.openxmlformats.org/officeDocument/2006/relationships/image" Target="../media/image94.png"/><Relationship Id="rId4" Type="http://schemas.openxmlformats.org/officeDocument/2006/relationships/image" Target="../media/image93.png"/></Relationships>
</file>

<file path=ppt/slides/_rels/slide91.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440.png"/><Relationship Id="rId1" Type="http://schemas.openxmlformats.org/officeDocument/2006/relationships/slideLayout" Target="../slideLayouts/slideLayout2.xml"/><Relationship Id="rId4" Type="http://schemas.openxmlformats.org/officeDocument/2006/relationships/image" Target="../media/image96.png"/></Relationships>
</file>

<file path=ppt/slides/_rels/slide92.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image" Target="../media/image470.png"/><Relationship Id="rId1" Type="http://schemas.openxmlformats.org/officeDocument/2006/relationships/slideLayout" Target="../slideLayouts/slideLayout2.xml"/><Relationship Id="rId4" Type="http://schemas.openxmlformats.org/officeDocument/2006/relationships/image" Target="../media/image490.png"/></Relationships>
</file>

<file path=ppt/slides/_rels/slide93.xml.rels><?xml version="1.0" encoding="UTF-8" standalone="yes"?>
<Relationships xmlns="http://schemas.openxmlformats.org/package/2006/relationships"><Relationship Id="rId3" Type="http://schemas.openxmlformats.org/officeDocument/2006/relationships/image" Target="../media/image511.png"/><Relationship Id="rId2" Type="http://schemas.openxmlformats.org/officeDocument/2006/relationships/image" Target="../media/image98.jpeg"/><Relationship Id="rId1" Type="http://schemas.openxmlformats.org/officeDocument/2006/relationships/slideLayout" Target="../slideLayouts/slideLayout2.xml"/><Relationship Id="rId6" Type="http://schemas.openxmlformats.org/officeDocument/2006/relationships/image" Target="../media/image99.png"/><Relationship Id="rId5" Type="http://schemas.openxmlformats.org/officeDocument/2006/relationships/image" Target="../media/image97.jpeg"/><Relationship Id="rId4" Type="http://schemas.openxmlformats.org/officeDocument/2006/relationships/image" Target="../media/image520.png"/></Relationships>
</file>

<file path=ppt/slides/_rels/slide94.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580.png"/><Relationship Id="rId1" Type="http://schemas.openxmlformats.org/officeDocument/2006/relationships/slideLayout" Target="../slideLayouts/slideLayout2.xml"/><Relationship Id="rId4" Type="http://schemas.openxmlformats.org/officeDocument/2006/relationships/image" Target="../media/image105.png"/></Relationships>
</file>

<file path=ppt/slides/_rels/slide99.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620.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107.jpe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108.jpe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11.jpe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710.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124.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image" Target="../media/image127.png"/><Relationship Id="rId1" Type="http://schemas.openxmlformats.org/officeDocument/2006/relationships/slideLayout" Target="../slideLayouts/slideLayout2.xml"/><Relationship Id="rId5" Type="http://schemas.openxmlformats.org/officeDocument/2006/relationships/image" Target="../media/image130.png"/><Relationship Id="rId4" Type="http://schemas.openxmlformats.org/officeDocument/2006/relationships/image" Target="../media/image129.png"/></Relationships>
</file>

<file path=ppt/slides/_rels/slide120.xml.rels><?xml version="1.0" encoding="UTF-8" standalone="yes"?>
<Relationships xmlns="http://schemas.openxmlformats.org/package/2006/relationships"><Relationship Id="rId2" Type="http://schemas.openxmlformats.org/officeDocument/2006/relationships/image" Target="../media/image131.jpe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132.png"/><Relationship Id="rId1" Type="http://schemas.openxmlformats.org/officeDocument/2006/relationships/slideLayout" Target="../slideLayouts/slideLayout2.xml"/><Relationship Id="rId4" Type="http://schemas.openxmlformats.org/officeDocument/2006/relationships/image" Target="../media/image134.png"/></Relationships>
</file>

<file path=ppt/slides/_rels/slide122.xml.rels><?xml version="1.0" encoding="UTF-8" standalone="yes"?>
<Relationships xmlns="http://schemas.openxmlformats.org/package/2006/relationships"><Relationship Id="rId2" Type="http://schemas.openxmlformats.org/officeDocument/2006/relationships/image" Target="../media/image135.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930.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39.png"/><Relationship Id="rId1" Type="http://schemas.openxmlformats.org/officeDocument/2006/relationships/slideLayout" Target="../slideLayouts/slideLayout2.xml"/><Relationship Id="rId4" Type="http://schemas.openxmlformats.org/officeDocument/2006/relationships/image" Target="../media/image141.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image" Target="../media/image142.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1300.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320.png"/><Relationship Id="rId2" Type="http://schemas.openxmlformats.org/officeDocument/2006/relationships/image" Target="../media/image144.png"/><Relationship Id="rId1" Type="http://schemas.openxmlformats.org/officeDocument/2006/relationships/slideLayout" Target="../slideLayouts/slideLayout2.xml"/><Relationship Id="rId4" Type="http://schemas.openxmlformats.org/officeDocument/2006/relationships/image" Target="../media/image145.png"/></Relationships>
</file>

<file path=ppt/slides/_rels/slide131.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image" Target="../media/image146.png"/><Relationship Id="rId1" Type="http://schemas.openxmlformats.org/officeDocument/2006/relationships/slideLayout" Target="../slideLayouts/slideLayout2.xml"/><Relationship Id="rId4" Type="http://schemas.openxmlformats.org/officeDocument/2006/relationships/image" Target="../media/image1360.png"/></Relationships>
</file>

<file path=ppt/slides/_rels/slide132.xml.rels><?xml version="1.0" encoding="UTF-8" standalone="yes"?>
<Relationships xmlns="http://schemas.openxmlformats.org/package/2006/relationships"><Relationship Id="rId3" Type="http://schemas.openxmlformats.org/officeDocument/2006/relationships/image" Target="../media/image1380.png"/><Relationship Id="rId2" Type="http://schemas.openxmlformats.org/officeDocument/2006/relationships/image" Target="../media/image148.png"/><Relationship Id="rId1" Type="http://schemas.openxmlformats.org/officeDocument/2006/relationships/slideLayout" Target="../slideLayouts/slideLayout2.xml"/><Relationship Id="rId6" Type="http://schemas.openxmlformats.org/officeDocument/2006/relationships/image" Target="../media/image1410.png"/><Relationship Id="rId5" Type="http://schemas.openxmlformats.org/officeDocument/2006/relationships/image" Target="../media/image1400.png"/><Relationship Id="rId4" Type="http://schemas.openxmlformats.org/officeDocument/2006/relationships/image" Target="../media/image1390.png"/></Relationships>
</file>

<file path=ppt/slides/_rels/slide133.xml.rels><?xml version="1.0" encoding="UTF-8" standalone="yes"?>
<Relationships xmlns="http://schemas.openxmlformats.org/package/2006/relationships"><Relationship Id="rId2" Type="http://schemas.openxmlformats.org/officeDocument/2006/relationships/image" Target="../media/image149.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hyperlink" Target="https://www.cnblogs.com/shine-lee/p/10950963.html" TargetMode="External"/><Relationship Id="rId2" Type="http://schemas.openxmlformats.org/officeDocument/2006/relationships/image" Target="../media/image151.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hyperlink" Target="https://www.cnblogs.com/shine-lee/p/10950963.html" TargetMode="External"/><Relationship Id="rId2" Type="http://schemas.openxmlformats.org/officeDocument/2006/relationships/image" Target="../media/image152.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image" Target="../media/image1460.png"/><Relationship Id="rId1" Type="http://schemas.openxmlformats.org/officeDocument/2006/relationships/slideLayout" Target="../slideLayouts/slideLayout2.xml"/><Relationship Id="rId4" Type="http://schemas.openxmlformats.org/officeDocument/2006/relationships/image" Target="../media/image1470.png"/></Relationships>
</file>

<file path=ppt/slides/_rels/slide138.xml.rels><?xml version="1.0" encoding="UTF-8" standalone="yes"?>
<Relationships xmlns="http://schemas.openxmlformats.org/package/2006/relationships"><Relationship Id="rId2" Type="http://schemas.openxmlformats.org/officeDocument/2006/relationships/image" Target="../media/image1480.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1490.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hyperlink" Target="https://zhuanlan.zhihu.com/p/55479744" TargetMode="External"/><Relationship Id="rId2" Type="http://schemas.openxmlformats.org/officeDocument/2006/relationships/image" Target="../media/image153.jpe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image" Target="../media/image154.jpeg"/><Relationship Id="rId1" Type="http://schemas.openxmlformats.org/officeDocument/2006/relationships/slideLayout" Target="../slideLayouts/slideLayout2.xml"/><Relationship Id="rId5" Type="http://schemas.openxmlformats.org/officeDocument/2006/relationships/hyperlink" Target="https://cloud.tencent.com/developer/article/1913564" TargetMode="External"/><Relationship Id="rId4" Type="http://schemas.openxmlformats.org/officeDocument/2006/relationships/image" Target="../media/image156.jpeg"/></Relationships>
</file>

<file path=ppt/slides/_rels/slide142.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image" Target="../media/image157.png"/><Relationship Id="rId1" Type="http://schemas.openxmlformats.org/officeDocument/2006/relationships/slideLayout" Target="../slideLayouts/slideLayout2.xml"/><Relationship Id="rId4" Type="http://schemas.openxmlformats.org/officeDocument/2006/relationships/hyperlink" Target="https://theailearner.com/tag/cv2-getperspectivetransform/" TargetMode="External"/></Relationships>
</file>

<file path=ppt/slides/_rels/slide143.xml.rels><?xml version="1.0" encoding="UTF-8" standalone="yes"?>
<Relationships xmlns="http://schemas.openxmlformats.org/package/2006/relationships"><Relationship Id="rId3" Type="http://schemas.openxmlformats.org/officeDocument/2006/relationships/hyperlink" Target="https://theailearner.com/tag/cv2-getperspectivetransform/" TargetMode="External"/><Relationship Id="rId2" Type="http://schemas.openxmlformats.org/officeDocument/2006/relationships/image" Target="../media/image159.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image" Target="../media/image16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69C0F-46FB-45E4-9D76-40252CA9DBCA}"/>
              </a:ext>
            </a:extLst>
          </p:cNvPr>
          <p:cNvSpPr>
            <a:spLocks noGrp="1"/>
          </p:cNvSpPr>
          <p:nvPr>
            <p:ph type="ctrTitle"/>
          </p:nvPr>
        </p:nvSpPr>
        <p:spPr/>
        <p:txBody>
          <a:bodyPr/>
          <a:lstStyle/>
          <a:p>
            <a:r>
              <a:rPr lang="en-US" altLang="zh-CN" b="1" dirty="0">
                <a:latin typeface="+mn-lt"/>
                <a:ea typeface="+mn-ea"/>
                <a:cs typeface="+mn-ea"/>
                <a:sym typeface="+mn-lt"/>
              </a:rPr>
              <a:t>3. </a:t>
            </a:r>
            <a:r>
              <a:rPr lang="zh-CN" altLang="en-US" b="1" dirty="0">
                <a:latin typeface="+mn-lt"/>
                <a:ea typeface="+mn-ea"/>
                <a:cs typeface="+mn-ea"/>
                <a:sym typeface="+mn-lt"/>
              </a:rPr>
              <a:t>数字图像处理基础（</a:t>
            </a:r>
            <a:r>
              <a:rPr lang="en-US" altLang="zh-CN" b="1" dirty="0">
                <a:latin typeface="+mn-lt"/>
                <a:ea typeface="+mn-ea"/>
                <a:cs typeface="+mn-ea"/>
                <a:sym typeface="+mn-lt"/>
              </a:rPr>
              <a:t>2</a:t>
            </a:r>
            <a:r>
              <a:rPr lang="zh-CN" altLang="en-US" b="1" dirty="0">
                <a:latin typeface="+mn-lt"/>
                <a:ea typeface="+mn-ea"/>
                <a:cs typeface="+mn-ea"/>
                <a:sym typeface="+mn-lt"/>
              </a:rPr>
              <a:t>）</a:t>
            </a:r>
            <a:endParaRPr lang="zh-CN" altLang="en-US" dirty="0">
              <a:latin typeface="+mn-lt"/>
              <a:ea typeface="+mn-ea"/>
              <a:cs typeface="+mn-ea"/>
              <a:sym typeface="+mn-lt"/>
            </a:endParaRPr>
          </a:p>
        </p:txBody>
      </p:sp>
      <p:sp>
        <p:nvSpPr>
          <p:cNvPr id="3" name="Subtitle 2">
            <a:extLst>
              <a:ext uri="{FF2B5EF4-FFF2-40B4-BE49-F238E27FC236}">
                <a16:creationId xmlns:a16="http://schemas.microsoft.com/office/drawing/2014/main" id="{0E7DA6D0-0659-4DB4-948F-0430C80EC065}"/>
              </a:ext>
            </a:extLst>
          </p:cNvPr>
          <p:cNvSpPr>
            <a:spLocks noGrp="1"/>
          </p:cNvSpPr>
          <p:nvPr>
            <p:ph type="subTitle" idx="1"/>
          </p:nvPr>
        </p:nvSpPr>
        <p:spPr/>
        <p:txBody>
          <a:bodyPr/>
          <a:lstStyle/>
          <a:p>
            <a:pPr>
              <a:lnSpc>
                <a:spcPct val="120000"/>
              </a:lnSpc>
              <a:spcBef>
                <a:spcPts val="0"/>
              </a:spcBef>
            </a:pPr>
            <a:r>
              <a:rPr lang="zh-CN" altLang="en-US" dirty="0">
                <a:cs typeface="+mn-ea"/>
                <a:sym typeface="+mn-lt"/>
              </a:rPr>
              <a:t>罗志明</a:t>
            </a:r>
            <a:endParaRPr lang="en-US" altLang="zh-CN" dirty="0">
              <a:cs typeface="+mn-ea"/>
              <a:sym typeface="+mn-lt"/>
            </a:endParaRPr>
          </a:p>
          <a:p>
            <a:pPr>
              <a:lnSpc>
                <a:spcPct val="120000"/>
              </a:lnSpc>
              <a:spcBef>
                <a:spcPts val="0"/>
              </a:spcBef>
            </a:pPr>
            <a:r>
              <a:rPr lang="en-US" altLang="zh-CN" dirty="0">
                <a:cs typeface="+mn-ea"/>
                <a:sym typeface="+mn-lt"/>
                <a:hlinkClick r:id="rId2"/>
              </a:rPr>
              <a:t>zhiming.luo@xmu.edu.cn</a:t>
            </a:r>
            <a:endParaRPr lang="en-US" altLang="zh-CN" dirty="0">
              <a:cs typeface="+mn-ea"/>
              <a:sym typeface="+mn-lt"/>
            </a:endParaRPr>
          </a:p>
          <a:p>
            <a:endParaRPr lang="zh-CN" altLang="en-US" dirty="0">
              <a:cs typeface="+mn-ea"/>
              <a:sym typeface="+mn-lt"/>
            </a:endParaRPr>
          </a:p>
        </p:txBody>
      </p:sp>
    </p:spTree>
    <p:extLst>
      <p:ext uri="{BB962C8B-B14F-4D97-AF65-F5344CB8AC3E}">
        <p14:creationId xmlns:p14="http://schemas.microsoft.com/office/powerpoint/2010/main" val="10629833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BBA31-4CBC-4BDE-9FE8-E864E154065F}"/>
              </a:ext>
            </a:extLst>
          </p:cNvPr>
          <p:cNvSpPr>
            <a:spLocks noGrp="1"/>
          </p:cNvSpPr>
          <p:nvPr>
            <p:ph type="title"/>
          </p:nvPr>
        </p:nvSpPr>
        <p:spPr/>
        <p:txBody>
          <a:bodyPr/>
          <a:lstStyle/>
          <a:p>
            <a:r>
              <a:rPr lang="zh-CN" altLang="en-US" b="1" dirty="0">
                <a:latin typeface="+mn-lt"/>
                <a:ea typeface="+mn-ea"/>
                <a:cs typeface="+mn-ea"/>
                <a:sym typeface="+mn-lt"/>
              </a:rPr>
              <a:t>提纲</a:t>
            </a:r>
            <a:endParaRPr lang="zh-CN" altLang="en-US" dirty="0">
              <a:latin typeface="+mn-lt"/>
              <a:ea typeface="+mn-ea"/>
              <a:cs typeface="+mn-ea"/>
              <a:sym typeface="+mn-lt"/>
            </a:endParaRPr>
          </a:p>
        </p:txBody>
      </p:sp>
      <p:sp>
        <p:nvSpPr>
          <p:cNvPr id="3" name="Content Placeholder 2">
            <a:extLst>
              <a:ext uri="{FF2B5EF4-FFF2-40B4-BE49-F238E27FC236}">
                <a16:creationId xmlns:a16="http://schemas.microsoft.com/office/drawing/2014/main" id="{B157E871-4B0F-4722-9782-38D7D916B2D9}"/>
              </a:ext>
            </a:extLst>
          </p:cNvPr>
          <p:cNvSpPr>
            <a:spLocks noGrp="1"/>
          </p:cNvSpPr>
          <p:nvPr>
            <p:ph idx="1"/>
          </p:nvPr>
        </p:nvSpPr>
        <p:spPr/>
        <p:txBody>
          <a:bodyPr/>
          <a:lstStyle/>
          <a:p>
            <a:pPr marL="571500" indent="-571500">
              <a:buFont typeface="+mj-ea"/>
              <a:buAutoNum type="ea1JpnChsDbPeriod"/>
            </a:pPr>
            <a:r>
              <a:rPr lang="zh-CN" altLang="en-US" b="1" dirty="0">
                <a:solidFill>
                  <a:schemeClr val="accent1"/>
                </a:solidFill>
                <a:cs typeface="+mn-ea"/>
                <a:sym typeface="+mn-lt"/>
              </a:rPr>
              <a:t>二值形态学操作</a:t>
            </a:r>
            <a:endParaRPr lang="en-US" altLang="zh-CN" b="1" dirty="0">
              <a:solidFill>
                <a:schemeClr val="accent1"/>
              </a:solidFill>
              <a:cs typeface="+mn-ea"/>
              <a:sym typeface="+mn-lt"/>
            </a:endParaRPr>
          </a:p>
          <a:p>
            <a:pPr marL="514350" indent="-514350">
              <a:buFont typeface="+mj-lt"/>
              <a:buAutoNum type="ea1JpnChsDbPeriod"/>
            </a:pPr>
            <a:r>
              <a:rPr lang="zh-CN" altLang="en-US" dirty="0">
                <a:cs typeface="+mn-ea"/>
                <a:sym typeface="+mn-lt"/>
              </a:rPr>
              <a:t>边缘检测</a:t>
            </a:r>
            <a:endParaRPr lang="en-US" altLang="zh-CN" dirty="0">
              <a:cs typeface="+mn-ea"/>
              <a:sym typeface="+mn-lt"/>
            </a:endParaRPr>
          </a:p>
          <a:p>
            <a:pPr marL="514350" indent="-514350">
              <a:buFont typeface="+mj-lt"/>
              <a:buAutoNum type="ea1JpnChsDbPeriod"/>
            </a:pPr>
            <a:r>
              <a:rPr lang="zh-CN" altLang="en-US" dirty="0">
                <a:cs typeface="+mn-ea"/>
                <a:sym typeface="+mn-lt"/>
              </a:rPr>
              <a:t>角点检测</a:t>
            </a:r>
            <a:endParaRPr lang="en-US" altLang="zh-CN" dirty="0">
              <a:cs typeface="+mn-ea"/>
              <a:sym typeface="+mn-lt"/>
            </a:endParaRPr>
          </a:p>
          <a:p>
            <a:pPr marL="514350" indent="-514350">
              <a:buFont typeface="+mj-lt"/>
              <a:buAutoNum type="ea1JpnChsDbPeriod"/>
            </a:pPr>
            <a:r>
              <a:rPr lang="zh-CN" altLang="en-US" dirty="0">
                <a:cs typeface="+mn-ea"/>
                <a:sym typeface="+mn-lt"/>
              </a:rPr>
              <a:t>仿射变换</a:t>
            </a:r>
            <a:endParaRPr lang="en-US" altLang="zh-CN" dirty="0">
              <a:cs typeface="+mn-ea"/>
              <a:sym typeface="+mn-lt"/>
            </a:endParaRPr>
          </a:p>
          <a:p>
            <a:endParaRPr lang="zh-CN" altLang="en-US" dirty="0">
              <a:cs typeface="+mn-ea"/>
              <a:sym typeface="+mn-lt"/>
            </a:endParaRPr>
          </a:p>
        </p:txBody>
      </p:sp>
    </p:spTree>
    <p:extLst>
      <p:ext uri="{BB962C8B-B14F-4D97-AF65-F5344CB8AC3E}">
        <p14:creationId xmlns:p14="http://schemas.microsoft.com/office/powerpoint/2010/main" val="15306761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670DB-34A0-45C9-8EA1-96884E03B4FE}"/>
              </a:ext>
            </a:extLst>
          </p:cNvPr>
          <p:cNvSpPr>
            <a:spLocks noGrp="1"/>
          </p:cNvSpPr>
          <p:nvPr>
            <p:ph type="title"/>
          </p:nvPr>
        </p:nvSpPr>
        <p:spPr/>
        <p:txBody>
          <a:bodyPr/>
          <a:lstStyle/>
          <a:p>
            <a:pPr marL="857250" indent="-857250">
              <a:buFont typeface="+mj-ea"/>
              <a:buAutoNum type="ea1JpnChsDbPeriod"/>
            </a:pPr>
            <a:r>
              <a:rPr lang="zh-CN" altLang="en-US" b="1" dirty="0"/>
              <a:t>二值形态学操作</a:t>
            </a:r>
          </a:p>
        </p:txBody>
      </p:sp>
      <p:sp>
        <p:nvSpPr>
          <p:cNvPr id="3" name="Content Placeholder 2">
            <a:extLst>
              <a:ext uri="{FF2B5EF4-FFF2-40B4-BE49-F238E27FC236}">
                <a16:creationId xmlns:a16="http://schemas.microsoft.com/office/drawing/2014/main" id="{1F0FE0FF-CB33-46A9-842C-C5C1133FA5B5}"/>
              </a:ext>
            </a:extLst>
          </p:cNvPr>
          <p:cNvSpPr>
            <a:spLocks noGrp="1"/>
          </p:cNvSpPr>
          <p:nvPr>
            <p:ph idx="1"/>
          </p:nvPr>
        </p:nvSpPr>
        <p:spPr/>
        <p:txBody>
          <a:bodyPr/>
          <a:lstStyle/>
          <a:p>
            <a:pPr marL="514350" indent="-514350">
              <a:lnSpc>
                <a:spcPct val="120000"/>
              </a:lnSpc>
              <a:buFont typeface="+mj-lt"/>
              <a:buAutoNum type="arabicPeriod"/>
            </a:pPr>
            <a:r>
              <a:rPr lang="zh-CN" altLang="en-US" b="1" dirty="0">
                <a:solidFill>
                  <a:srgbClr val="0070C0"/>
                </a:solidFill>
              </a:rPr>
              <a:t>概述</a:t>
            </a:r>
            <a:endParaRPr lang="en-US" altLang="zh-CN" b="1" dirty="0">
              <a:solidFill>
                <a:srgbClr val="0070C0"/>
              </a:solidFill>
            </a:endParaRPr>
          </a:p>
          <a:p>
            <a:pPr marL="514350" indent="-514350">
              <a:lnSpc>
                <a:spcPct val="120000"/>
              </a:lnSpc>
              <a:buFont typeface="+mj-lt"/>
              <a:buAutoNum type="arabicPeriod"/>
            </a:pPr>
            <a:r>
              <a:rPr lang="zh-CN" altLang="en-US" b="1" dirty="0"/>
              <a:t>集合论基础知识</a:t>
            </a:r>
            <a:endParaRPr lang="en-US" altLang="zh-CN" b="1" dirty="0"/>
          </a:p>
          <a:p>
            <a:pPr marL="514350" indent="-514350">
              <a:lnSpc>
                <a:spcPct val="120000"/>
              </a:lnSpc>
              <a:buFont typeface="+mj-lt"/>
              <a:buAutoNum type="arabicPeriod"/>
            </a:pPr>
            <a:r>
              <a:rPr lang="zh-CN" altLang="en-US" b="1" dirty="0"/>
              <a:t>腐蚀和膨胀</a:t>
            </a:r>
            <a:endParaRPr lang="en-US" altLang="zh-CN" b="1" dirty="0"/>
          </a:p>
          <a:p>
            <a:pPr marL="514350" indent="-514350">
              <a:lnSpc>
                <a:spcPct val="120000"/>
              </a:lnSpc>
              <a:buFont typeface="+mj-lt"/>
              <a:buAutoNum type="arabicPeriod"/>
            </a:pPr>
            <a:r>
              <a:rPr lang="zh-CN" altLang="en-US" b="1" dirty="0"/>
              <a:t>开运算与闭运算</a:t>
            </a:r>
            <a:endParaRPr lang="en-US" altLang="zh-CN" b="1" dirty="0"/>
          </a:p>
          <a:p>
            <a:pPr marL="514350" indent="-514350">
              <a:lnSpc>
                <a:spcPct val="120000"/>
              </a:lnSpc>
              <a:buFont typeface="+mj-lt"/>
              <a:buAutoNum type="arabicPeriod"/>
            </a:pPr>
            <a:r>
              <a:rPr lang="zh-CN" altLang="en-US" b="1" dirty="0"/>
              <a:t>算法应用</a:t>
            </a:r>
            <a:endParaRPr lang="en-US" altLang="zh-CN" b="1" dirty="0"/>
          </a:p>
          <a:p>
            <a:pPr lvl="1">
              <a:lnSpc>
                <a:spcPct val="120000"/>
              </a:lnSpc>
            </a:pPr>
            <a:r>
              <a:rPr lang="zh-CN" altLang="en-US" b="1" dirty="0"/>
              <a:t>边界提取、孔洞填充</a:t>
            </a:r>
          </a:p>
        </p:txBody>
      </p:sp>
    </p:spTree>
    <p:extLst>
      <p:ext uri="{BB962C8B-B14F-4D97-AF65-F5344CB8AC3E}">
        <p14:creationId xmlns:p14="http://schemas.microsoft.com/office/powerpoint/2010/main" val="32705119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423C6-5BE9-43D1-9CA2-091D5D241FD8}"/>
              </a:ext>
            </a:extLst>
          </p:cNvPr>
          <p:cNvSpPr>
            <a:spLocks noGrp="1"/>
          </p:cNvSpPr>
          <p:nvPr>
            <p:ph type="title"/>
          </p:nvPr>
        </p:nvSpPr>
        <p:spPr/>
        <p:txBody>
          <a:bodyPr/>
          <a:lstStyle/>
          <a:p>
            <a:r>
              <a:rPr lang="en-US" altLang="zh-CN" b="1" dirty="0"/>
              <a:t>1. </a:t>
            </a:r>
            <a:r>
              <a:rPr lang="zh-CN" altLang="en-US" b="1" dirty="0"/>
              <a:t>概述</a:t>
            </a:r>
          </a:p>
        </p:txBody>
      </p:sp>
      <p:sp>
        <p:nvSpPr>
          <p:cNvPr id="3" name="Content Placeholder 2">
            <a:extLst>
              <a:ext uri="{FF2B5EF4-FFF2-40B4-BE49-F238E27FC236}">
                <a16:creationId xmlns:a16="http://schemas.microsoft.com/office/drawing/2014/main" id="{21CFDFDB-AF38-424A-B0DC-930EA02930BE}"/>
              </a:ext>
            </a:extLst>
          </p:cNvPr>
          <p:cNvSpPr>
            <a:spLocks noGrp="1"/>
          </p:cNvSpPr>
          <p:nvPr>
            <p:ph idx="1"/>
          </p:nvPr>
        </p:nvSpPr>
        <p:spPr/>
        <p:txBody>
          <a:bodyPr/>
          <a:lstStyle/>
          <a:p>
            <a:pPr>
              <a:lnSpc>
                <a:spcPct val="150000"/>
              </a:lnSpc>
            </a:pPr>
            <a:r>
              <a:rPr lang="zh-CN" altLang="en-US" b="1" dirty="0">
                <a:solidFill>
                  <a:srgbClr val="00B0F0"/>
                </a:solidFill>
              </a:rPr>
              <a:t>形态学</a:t>
            </a:r>
            <a:r>
              <a:rPr lang="en-US" altLang="zh-CN" b="1" dirty="0">
                <a:solidFill>
                  <a:srgbClr val="00B0F0"/>
                </a:solidFill>
              </a:rPr>
              <a:t>(Morphology)</a:t>
            </a:r>
            <a:r>
              <a:rPr lang="zh-CN" altLang="en-US" dirty="0"/>
              <a:t>原本是生物学的一个分支，主要研究动植物的形态和结构。</a:t>
            </a:r>
            <a:endParaRPr lang="en-US" altLang="zh-CN" dirty="0"/>
          </a:p>
          <a:p>
            <a:pPr>
              <a:lnSpc>
                <a:spcPct val="150000"/>
              </a:lnSpc>
            </a:pPr>
            <a:r>
              <a:rPr lang="zh-CN" altLang="en-US" dirty="0"/>
              <a:t>以</a:t>
            </a:r>
            <a:r>
              <a:rPr lang="zh-CN" altLang="en-US" b="1" dirty="0">
                <a:solidFill>
                  <a:srgbClr val="00B0F0"/>
                </a:solidFill>
              </a:rPr>
              <a:t>数学形态学</a:t>
            </a:r>
            <a:r>
              <a:rPr lang="zh-CN" altLang="en-US" dirty="0"/>
              <a:t>为工具从图像中提取表达和描述区域形状的有用图像分量</a:t>
            </a:r>
            <a:endParaRPr lang="en-US" altLang="zh-CN" dirty="0"/>
          </a:p>
          <a:p>
            <a:pPr lvl="1">
              <a:lnSpc>
                <a:spcPct val="150000"/>
              </a:lnSpc>
            </a:pPr>
            <a:r>
              <a:rPr lang="zh-CN" altLang="en-US" dirty="0"/>
              <a:t>边界、骨架、凸壳等</a:t>
            </a:r>
            <a:endParaRPr lang="en-US" altLang="zh-CN" dirty="0"/>
          </a:p>
          <a:p>
            <a:pPr>
              <a:lnSpc>
                <a:spcPct val="150000"/>
              </a:lnSpc>
            </a:pPr>
            <a:r>
              <a:rPr lang="zh-CN" altLang="en-US" b="1" dirty="0">
                <a:solidFill>
                  <a:srgbClr val="00B0F0"/>
                </a:solidFill>
              </a:rPr>
              <a:t>形态学图像处理</a:t>
            </a:r>
            <a:r>
              <a:rPr lang="zh-CN" altLang="en-US" dirty="0"/>
              <a:t>的数学基础和所用语言是集合论</a:t>
            </a:r>
            <a:endParaRPr lang="en-US" altLang="zh-CN" dirty="0"/>
          </a:p>
        </p:txBody>
      </p:sp>
    </p:spTree>
    <p:extLst>
      <p:ext uri="{BB962C8B-B14F-4D97-AF65-F5344CB8AC3E}">
        <p14:creationId xmlns:p14="http://schemas.microsoft.com/office/powerpoint/2010/main" val="3045433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B7CD-E426-437C-98E9-F93D121FBB93}"/>
              </a:ext>
            </a:extLst>
          </p:cNvPr>
          <p:cNvSpPr>
            <a:spLocks noGrp="1"/>
          </p:cNvSpPr>
          <p:nvPr>
            <p:ph type="title"/>
          </p:nvPr>
        </p:nvSpPr>
        <p:spPr/>
        <p:txBody>
          <a:bodyPr/>
          <a:lstStyle/>
          <a:p>
            <a:r>
              <a:rPr lang="en-US" altLang="zh-CN" b="1" dirty="0"/>
              <a:t>1. </a:t>
            </a:r>
            <a:r>
              <a:rPr lang="zh-CN" altLang="en-US" b="1" dirty="0"/>
              <a:t>概述</a:t>
            </a:r>
            <a:endParaRPr lang="zh-CN" altLang="en-US" dirty="0"/>
          </a:p>
        </p:txBody>
      </p:sp>
      <p:sp>
        <p:nvSpPr>
          <p:cNvPr id="3" name="Content Placeholder 2">
            <a:extLst>
              <a:ext uri="{FF2B5EF4-FFF2-40B4-BE49-F238E27FC236}">
                <a16:creationId xmlns:a16="http://schemas.microsoft.com/office/drawing/2014/main" id="{958422E1-2E08-4533-81EB-6C0D30FC82D4}"/>
              </a:ext>
            </a:extLst>
          </p:cNvPr>
          <p:cNvSpPr>
            <a:spLocks noGrp="1"/>
          </p:cNvSpPr>
          <p:nvPr>
            <p:ph idx="1"/>
          </p:nvPr>
        </p:nvSpPr>
        <p:spPr/>
        <p:txBody>
          <a:bodyPr/>
          <a:lstStyle/>
          <a:p>
            <a:pPr>
              <a:lnSpc>
                <a:spcPct val="120000"/>
              </a:lnSpc>
            </a:pPr>
            <a:r>
              <a:rPr lang="zh-CN" altLang="en-US" dirty="0">
                <a:latin typeface="KaiTi" panose="02010609060101010101" pitchFamily="49" charset="-122"/>
                <a:ea typeface="KaiTi" panose="02010609060101010101" pitchFamily="49" charset="-122"/>
              </a:rPr>
              <a:t>数学形态学的基于集合的观点</a:t>
            </a:r>
            <a:endParaRPr lang="en-US" altLang="zh-CN" dirty="0">
              <a:latin typeface="KaiTi" panose="02010609060101010101" pitchFamily="49" charset="-122"/>
              <a:ea typeface="KaiTi" panose="02010609060101010101" pitchFamily="49" charset="-122"/>
            </a:endParaRPr>
          </a:p>
          <a:p>
            <a:pPr marL="914400" lvl="1" indent="-457200">
              <a:lnSpc>
                <a:spcPct val="120000"/>
              </a:lnSpc>
              <a:buFont typeface="+mj-lt"/>
              <a:buAutoNum type="arabicPeriod"/>
            </a:pPr>
            <a:r>
              <a:rPr lang="zh-CN" altLang="en-US" dirty="0">
                <a:latin typeface="KaiTi" panose="02010609060101010101" pitchFamily="49" charset="-122"/>
                <a:ea typeface="KaiTi" panose="02010609060101010101" pitchFamily="49" charset="-122"/>
              </a:rPr>
              <a:t>运算由集合运算来定义；</a:t>
            </a:r>
          </a:p>
          <a:p>
            <a:pPr marL="914400" lvl="1" indent="-457200">
              <a:lnSpc>
                <a:spcPct val="120000"/>
              </a:lnSpc>
              <a:buFont typeface="+mj-lt"/>
              <a:buAutoNum type="arabicPeriod"/>
            </a:pPr>
            <a:r>
              <a:rPr lang="zh-CN" altLang="en-US" dirty="0">
                <a:latin typeface="KaiTi" panose="02010609060101010101" pitchFamily="49" charset="-122"/>
                <a:ea typeface="KaiTi" panose="02010609060101010101" pitchFamily="49" charset="-122"/>
              </a:rPr>
              <a:t>所有的图像必须以合理的方式转换为集合。</a:t>
            </a:r>
          </a:p>
          <a:p>
            <a:pPr>
              <a:lnSpc>
                <a:spcPct val="120000"/>
              </a:lnSpc>
            </a:pPr>
            <a:r>
              <a:rPr lang="zh-CN" altLang="en-US" dirty="0">
                <a:latin typeface="KaiTi" panose="02010609060101010101" pitchFamily="49" charset="-122"/>
                <a:ea typeface="KaiTi" panose="02010609060101010101" pitchFamily="49" charset="-122"/>
              </a:rPr>
              <a:t>形态学算子的性能主要以几何方式进行刻画，更适合视觉信息的处理和分析。</a:t>
            </a:r>
            <a:endParaRPr lang="en-US" altLang="zh-CN" dirty="0">
              <a:latin typeface="KaiTi" panose="02010609060101010101" pitchFamily="49" charset="-122"/>
              <a:ea typeface="KaiTi" panose="02010609060101010101" pitchFamily="49" charset="-122"/>
            </a:endParaRPr>
          </a:p>
          <a:p>
            <a:pPr>
              <a:lnSpc>
                <a:spcPct val="120000"/>
              </a:lnSpc>
            </a:pPr>
            <a:r>
              <a:rPr lang="zh-CN" altLang="en-US" dirty="0"/>
              <a:t>基本思想：</a:t>
            </a:r>
          </a:p>
          <a:p>
            <a:pPr lvl="1">
              <a:lnSpc>
                <a:spcPct val="120000"/>
              </a:lnSpc>
            </a:pPr>
            <a:r>
              <a:rPr lang="zh-CN" altLang="en-US" dirty="0"/>
              <a:t>利用结构元素作为“探针”在图像中不断移动，在此过程中收集图像的信息、分析图像各部分间的相互关系，从而了解图像的结构特征。 </a:t>
            </a:r>
          </a:p>
          <a:p>
            <a:pPr marL="914400" lvl="1" indent="-457200">
              <a:lnSpc>
                <a:spcPct val="120000"/>
              </a:lnSpc>
              <a:buFont typeface="+mj-lt"/>
              <a:buAutoNum type="arabicPeriod"/>
            </a:pPr>
            <a:endParaRPr lang="zh-CN" altLang="en-US" dirty="0"/>
          </a:p>
        </p:txBody>
      </p:sp>
    </p:spTree>
    <p:extLst>
      <p:ext uri="{BB962C8B-B14F-4D97-AF65-F5344CB8AC3E}">
        <p14:creationId xmlns:p14="http://schemas.microsoft.com/office/powerpoint/2010/main" val="6396257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05F3C-96FE-4241-BD66-81D855BAB4B2}"/>
              </a:ext>
            </a:extLst>
          </p:cNvPr>
          <p:cNvSpPr>
            <a:spLocks noGrp="1"/>
          </p:cNvSpPr>
          <p:nvPr>
            <p:ph type="title"/>
          </p:nvPr>
        </p:nvSpPr>
        <p:spPr/>
        <p:txBody>
          <a:bodyPr/>
          <a:lstStyle/>
          <a:p>
            <a:r>
              <a:rPr lang="en-US" altLang="zh-CN" b="1" dirty="0"/>
              <a:t>1. </a:t>
            </a:r>
            <a:r>
              <a:rPr lang="zh-CN" altLang="en-US" b="1" dirty="0"/>
              <a:t>概述</a:t>
            </a:r>
            <a:endParaRPr lang="zh-CN" altLang="en-US" dirty="0"/>
          </a:p>
        </p:txBody>
      </p:sp>
      <p:sp>
        <p:nvSpPr>
          <p:cNvPr id="3" name="Content Placeholder 2">
            <a:extLst>
              <a:ext uri="{FF2B5EF4-FFF2-40B4-BE49-F238E27FC236}">
                <a16:creationId xmlns:a16="http://schemas.microsoft.com/office/drawing/2014/main" id="{D26D58F4-EC6C-4DFD-978C-584A546DA565}"/>
              </a:ext>
            </a:extLst>
          </p:cNvPr>
          <p:cNvSpPr>
            <a:spLocks noGrp="1"/>
          </p:cNvSpPr>
          <p:nvPr>
            <p:ph idx="1"/>
          </p:nvPr>
        </p:nvSpPr>
        <p:spPr/>
        <p:txBody>
          <a:bodyPr/>
          <a:lstStyle/>
          <a:p>
            <a:pPr>
              <a:lnSpc>
                <a:spcPct val="120000"/>
              </a:lnSpc>
            </a:pPr>
            <a:r>
              <a:rPr lang="zh-CN" altLang="en-US" dirty="0"/>
              <a:t>形态学图像处理的应用可以简化图像数据，保持它们基本的形状特性，并除去不相干的结构</a:t>
            </a:r>
            <a:endParaRPr lang="en-US" altLang="zh-CN" dirty="0"/>
          </a:p>
          <a:p>
            <a:pPr>
              <a:lnSpc>
                <a:spcPct val="120000"/>
              </a:lnSpc>
            </a:pPr>
            <a:r>
              <a:rPr lang="zh-CN" altLang="en-US" dirty="0"/>
              <a:t>形态学图像处理的基本运算有</a:t>
            </a:r>
            <a:r>
              <a:rPr lang="en-US" altLang="zh-CN" dirty="0"/>
              <a:t>4</a:t>
            </a:r>
            <a:r>
              <a:rPr lang="zh-CN" altLang="en-US" dirty="0"/>
              <a:t>个：</a:t>
            </a:r>
            <a:r>
              <a:rPr lang="zh-CN" altLang="en-US" sz="2400" b="1" dirty="0">
                <a:solidFill>
                  <a:srgbClr val="00B0F0"/>
                </a:solidFill>
              </a:rPr>
              <a:t>膨胀、腐蚀、开操作和闭操作</a:t>
            </a:r>
            <a:endParaRPr lang="zh-CN" altLang="en-US" b="1" dirty="0">
              <a:solidFill>
                <a:srgbClr val="00B0F0"/>
              </a:solidFill>
            </a:endParaRPr>
          </a:p>
        </p:txBody>
      </p:sp>
      <p:graphicFrame>
        <p:nvGraphicFramePr>
          <p:cNvPr id="4" name="Object 13">
            <a:extLst>
              <a:ext uri="{FF2B5EF4-FFF2-40B4-BE49-F238E27FC236}">
                <a16:creationId xmlns:a16="http://schemas.microsoft.com/office/drawing/2014/main" id="{F1F08CC2-1ECD-4F26-82B6-54DEA37A7F97}"/>
              </a:ext>
            </a:extLst>
          </p:cNvPr>
          <p:cNvGraphicFramePr>
            <a:graphicFrameLocks noChangeAspect="1"/>
          </p:cNvGraphicFramePr>
          <p:nvPr>
            <p:extLst/>
          </p:nvPr>
        </p:nvGraphicFramePr>
        <p:xfrm>
          <a:off x="1981200" y="3857361"/>
          <a:ext cx="8229600" cy="1957387"/>
        </p:xfrm>
        <a:graphic>
          <a:graphicData uri="http://schemas.openxmlformats.org/presentationml/2006/ole">
            <mc:AlternateContent xmlns:mc="http://schemas.openxmlformats.org/markup-compatibility/2006">
              <mc:Choice xmlns:v="urn:schemas-microsoft-com:vml" Requires="v">
                <p:oleObj spid="_x0000_s2052" r:id="rId3" imgW="7766280" imgH="2051280" progId="Visio.Drawing.6">
                  <p:embed/>
                </p:oleObj>
              </mc:Choice>
              <mc:Fallback>
                <p:oleObj r:id="rId3" imgW="7766280" imgH="2051280" progId="Visio.Drawing.6">
                  <p:embed/>
                  <p:pic>
                    <p:nvPicPr>
                      <p:cNvPr id="4" name="Object 13">
                        <a:extLst>
                          <a:ext uri="{FF2B5EF4-FFF2-40B4-BE49-F238E27FC236}">
                            <a16:creationId xmlns:a16="http://schemas.microsoft.com/office/drawing/2014/main" id="{F1F08CC2-1ECD-4F26-82B6-54DEA37A7F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3857361"/>
                        <a:ext cx="8229600" cy="1957387"/>
                      </a:xfrm>
                      <a:prstGeom prst="rect">
                        <a:avLst/>
                      </a:prstGeom>
                      <a:noFill/>
                    </p:spPr>
                  </p:pic>
                </p:oleObj>
              </mc:Fallback>
            </mc:AlternateContent>
          </a:graphicData>
        </a:graphic>
      </p:graphicFrame>
    </p:spTree>
    <p:extLst>
      <p:ext uri="{BB962C8B-B14F-4D97-AF65-F5344CB8AC3E}">
        <p14:creationId xmlns:p14="http://schemas.microsoft.com/office/powerpoint/2010/main" val="30794012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CF72F-54E5-49BA-A3A5-DFF0BE45EF39}"/>
              </a:ext>
            </a:extLst>
          </p:cNvPr>
          <p:cNvSpPr>
            <a:spLocks noGrp="1"/>
          </p:cNvSpPr>
          <p:nvPr>
            <p:ph type="title"/>
          </p:nvPr>
        </p:nvSpPr>
        <p:spPr/>
        <p:txBody>
          <a:bodyPr/>
          <a:lstStyle/>
          <a:p>
            <a:r>
              <a:rPr lang="en-US" altLang="zh-CN" b="1" dirty="0"/>
              <a:t>1. </a:t>
            </a:r>
            <a:r>
              <a:rPr lang="zh-CN" altLang="en-US" b="1" dirty="0"/>
              <a:t>概述</a:t>
            </a:r>
            <a:endParaRPr lang="zh-CN" altLang="en-US" dirty="0"/>
          </a:p>
        </p:txBody>
      </p:sp>
      <p:sp>
        <p:nvSpPr>
          <p:cNvPr id="3" name="Content Placeholder 2">
            <a:extLst>
              <a:ext uri="{FF2B5EF4-FFF2-40B4-BE49-F238E27FC236}">
                <a16:creationId xmlns:a16="http://schemas.microsoft.com/office/drawing/2014/main" id="{6E56518D-3BF7-4C1B-B2FD-5282A217322D}"/>
              </a:ext>
            </a:extLst>
          </p:cNvPr>
          <p:cNvSpPr>
            <a:spLocks noGrp="1"/>
          </p:cNvSpPr>
          <p:nvPr>
            <p:ph idx="1"/>
          </p:nvPr>
        </p:nvSpPr>
        <p:spPr/>
        <p:txBody>
          <a:bodyPr>
            <a:normAutofit fontScale="92500"/>
          </a:bodyPr>
          <a:lstStyle/>
          <a:p>
            <a:pPr>
              <a:lnSpc>
                <a:spcPct val="120000"/>
              </a:lnSpc>
            </a:pPr>
            <a:r>
              <a:rPr lang="zh-CN" altLang="en-US" dirty="0"/>
              <a:t>根据探测研究图像的不同结构特点，结构元素可携带</a:t>
            </a:r>
            <a:r>
              <a:rPr lang="zh-CN" altLang="en-US" dirty="0">
                <a:solidFill>
                  <a:srgbClr val="0070C0"/>
                </a:solidFill>
              </a:rPr>
              <a:t>形态、大小、灰度、色度</a:t>
            </a:r>
            <a:r>
              <a:rPr lang="zh-CN" altLang="en-US" dirty="0"/>
              <a:t>等信息。</a:t>
            </a:r>
          </a:p>
          <a:p>
            <a:pPr>
              <a:lnSpc>
                <a:spcPct val="120000"/>
              </a:lnSpc>
            </a:pPr>
            <a:r>
              <a:rPr lang="zh-CN" altLang="en-US" dirty="0"/>
              <a:t>不同点的集合形成具有不同性质的结构元素。由于不同的结构元素可以用来检测图像不同侧面的特征，因此设计符合人的视觉特性的结构元素是分析图像的重要步骤。</a:t>
            </a:r>
          </a:p>
          <a:p>
            <a:pPr>
              <a:lnSpc>
                <a:spcPct val="120000"/>
              </a:lnSpc>
            </a:pPr>
            <a:r>
              <a:rPr lang="zh-CN" altLang="en-US" dirty="0"/>
              <a:t>这些算子及其组合来进行图像形状和结构的分析及处理，可以解决</a:t>
            </a:r>
          </a:p>
          <a:p>
            <a:pPr lvl="1">
              <a:lnSpc>
                <a:spcPct val="120000"/>
              </a:lnSpc>
            </a:pPr>
            <a:r>
              <a:rPr lang="zh-CN" altLang="en-US" dirty="0">
                <a:latin typeface="KaiTi" panose="02010609060101010101" pitchFamily="49" charset="-122"/>
                <a:ea typeface="KaiTi" panose="02010609060101010101" pitchFamily="49" charset="-122"/>
              </a:rPr>
              <a:t>抑制噪声、特征提取、边缘检测、形状识别、纹理分析、图像恢复与重建等方面的问题。</a:t>
            </a:r>
          </a:p>
          <a:p>
            <a:pPr>
              <a:lnSpc>
                <a:spcPct val="120000"/>
              </a:lnSpc>
            </a:pPr>
            <a:endParaRPr lang="zh-CN" altLang="en-US" dirty="0"/>
          </a:p>
        </p:txBody>
      </p:sp>
    </p:spTree>
    <p:extLst>
      <p:ext uri="{BB962C8B-B14F-4D97-AF65-F5344CB8AC3E}">
        <p14:creationId xmlns:p14="http://schemas.microsoft.com/office/powerpoint/2010/main" val="41450446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F598A-817B-4AAB-8575-90304C431326}"/>
              </a:ext>
            </a:extLst>
          </p:cNvPr>
          <p:cNvSpPr>
            <a:spLocks noGrp="1"/>
          </p:cNvSpPr>
          <p:nvPr>
            <p:ph type="title"/>
          </p:nvPr>
        </p:nvSpPr>
        <p:spPr/>
        <p:txBody>
          <a:bodyPr/>
          <a:lstStyle/>
          <a:p>
            <a:r>
              <a:rPr lang="en-US" altLang="zh-CN" b="1" dirty="0"/>
              <a:t>2. </a:t>
            </a:r>
            <a:r>
              <a:rPr lang="zh-CN" altLang="en-US" b="1" dirty="0"/>
              <a:t>集合论基础知识</a:t>
            </a:r>
          </a:p>
        </p:txBody>
      </p:sp>
      <p:sp>
        <p:nvSpPr>
          <p:cNvPr id="3" name="Content Placeholder 2">
            <a:extLst>
              <a:ext uri="{FF2B5EF4-FFF2-40B4-BE49-F238E27FC236}">
                <a16:creationId xmlns:a16="http://schemas.microsoft.com/office/drawing/2014/main" id="{C11A7233-901C-4E80-9550-155103714923}"/>
              </a:ext>
            </a:extLst>
          </p:cNvPr>
          <p:cNvSpPr>
            <a:spLocks noGrp="1"/>
          </p:cNvSpPr>
          <p:nvPr>
            <p:ph idx="1"/>
          </p:nvPr>
        </p:nvSpPr>
        <p:spPr/>
        <p:txBody>
          <a:bodyPr/>
          <a:lstStyle/>
          <a:p>
            <a:r>
              <a:rPr lang="zh-CN" altLang="en-US" b="1" dirty="0">
                <a:solidFill>
                  <a:srgbClr val="0070C0"/>
                </a:solidFill>
              </a:rPr>
              <a:t>集合的并、交、补、差</a:t>
            </a:r>
            <a:endParaRPr lang="en-US" altLang="zh-CN" b="1" dirty="0">
              <a:solidFill>
                <a:srgbClr val="0070C0"/>
              </a:solidFill>
            </a:endParaRPr>
          </a:p>
          <a:p>
            <a:endParaRPr lang="zh-CN" altLang="en-US" dirty="0"/>
          </a:p>
        </p:txBody>
      </p:sp>
      <p:pic>
        <p:nvPicPr>
          <p:cNvPr id="4" name="Picture 3">
            <a:extLst>
              <a:ext uri="{FF2B5EF4-FFF2-40B4-BE49-F238E27FC236}">
                <a16:creationId xmlns:a16="http://schemas.microsoft.com/office/drawing/2014/main" id="{FA6709D6-1E50-48C3-BEC1-5F5BB53AB908}"/>
              </a:ext>
            </a:extLst>
          </p:cNvPr>
          <p:cNvPicPr>
            <a:picLocks noChangeAspect="1"/>
          </p:cNvPicPr>
          <p:nvPr/>
        </p:nvPicPr>
        <p:blipFill>
          <a:blip r:embed="rId3"/>
          <a:stretch>
            <a:fillRect/>
          </a:stretch>
        </p:blipFill>
        <p:spPr>
          <a:xfrm>
            <a:off x="2162175" y="2616200"/>
            <a:ext cx="7867650" cy="3695700"/>
          </a:xfrm>
          <a:prstGeom prst="rect">
            <a:avLst/>
          </a:prstGeom>
        </p:spPr>
      </p:pic>
    </p:spTree>
    <p:extLst>
      <p:ext uri="{BB962C8B-B14F-4D97-AF65-F5344CB8AC3E}">
        <p14:creationId xmlns:p14="http://schemas.microsoft.com/office/powerpoint/2010/main" val="13606836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39588-1BF5-4D93-9919-F9882CB2A449}"/>
              </a:ext>
            </a:extLst>
          </p:cNvPr>
          <p:cNvSpPr>
            <a:spLocks noGrp="1"/>
          </p:cNvSpPr>
          <p:nvPr>
            <p:ph type="title"/>
          </p:nvPr>
        </p:nvSpPr>
        <p:spPr/>
        <p:txBody>
          <a:bodyPr/>
          <a:lstStyle/>
          <a:p>
            <a:r>
              <a:rPr lang="en-US" altLang="zh-CN" b="1" dirty="0"/>
              <a:t>2. </a:t>
            </a:r>
            <a:r>
              <a:rPr lang="zh-CN" altLang="en-US" b="1" dirty="0"/>
              <a:t>集合论基础知识</a:t>
            </a:r>
            <a:endParaRPr lang="zh-CN" alt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3E8B676-4C93-4497-80E0-7E5370D7CCB2}"/>
                  </a:ext>
                </a:extLst>
              </p:cNvPr>
              <p:cNvSpPr>
                <a:spLocks noGrp="1"/>
              </p:cNvSpPr>
              <p:nvPr>
                <p:ph idx="1"/>
              </p:nvPr>
            </p:nvSpPr>
            <p:spPr/>
            <p:txBody>
              <a:bodyPr/>
              <a:lstStyle/>
              <a:p>
                <a:pPr>
                  <a:lnSpc>
                    <a:spcPct val="120000"/>
                  </a:lnSpc>
                </a:pPr>
                <a:r>
                  <a:rPr lang="zh-CN" altLang="en-US" dirty="0"/>
                  <a:t>集合</a:t>
                </a:r>
                <a14:m>
                  <m:oMath xmlns:m="http://schemas.openxmlformats.org/officeDocument/2006/math">
                    <m:r>
                      <a:rPr lang="en-US" altLang="zh-CN" i="1" dirty="0" smtClean="0">
                        <a:latin typeface="Cambria Math" panose="02040503050406030204" pitchFamily="18" charset="0"/>
                      </a:rPr>
                      <m:t>𝐵</m:t>
                    </m:r>
                  </m:oMath>
                </a14:m>
                <a:r>
                  <a:rPr lang="zh-CN" altLang="en-US" dirty="0"/>
                  <a:t>的反射</a:t>
                </a:r>
                <a14:m>
                  <m:oMath xmlns:m="http://schemas.openxmlformats.org/officeDocument/2006/math">
                    <m:acc>
                      <m:accPr>
                        <m:chr m:val="̂"/>
                        <m:ctrlPr>
                          <a:rPr lang="zh-CN" altLang="en-US" i="1" smtClean="0">
                            <a:latin typeface="Cambria Math" panose="02040503050406030204" pitchFamily="18" charset="0"/>
                          </a:rPr>
                        </m:ctrlPr>
                      </m:accPr>
                      <m:e>
                        <m:r>
                          <a:rPr lang="en-US" altLang="zh-CN" b="0" i="1" smtClean="0">
                            <a:latin typeface="Cambria Math" panose="02040503050406030204" pitchFamily="18" charset="0"/>
                          </a:rPr>
                          <m:t>𝐵</m:t>
                        </m:r>
                      </m:e>
                    </m:acc>
                  </m:oMath>
                </a14:m>
                <a:r>
                  <a:rPr lang="zh-CN" altLang="en-US" dirty="0"/>
                  <a:t>，定义为</a:t>
                </a:r>
                <a14:m>
                  <m:oMath xmlns:m="http://schemas.openxmlformats.org/officeDocument/2006/math">
                    <m:acc>
                      <m:accPr>
                        <m:chr m:val="̂"/>
                        <m:ctrlPr>
                          <a:rPr lang="zh-CN" altLang="en-US" i="1">
                            <a:latin typeface="Cambria Math" panose="02040503050406030204" pitchFamily="18" charset="0"/>
                          </a:rPr>
                        </m:ctrlPr>
                      </m:accPr>
                      <m:e>
                        <m:r>
                          <a:rPr lang="en-US" altLang="zh-CN" i="1">
                            <a:latin typeface="Cambria Math" panose="02040503050406030204" pitchFamily="18" charset="0"/>
                          </a:rPr>
                          <m:t>𝐵</m:t>
                        </m:r>
                      </m:e>
                    </m:acc>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𝑤</m:t>
                        </m:r>
                      </m:e>
                    </m:d>
                    <m:r>
                      <a:rPr lang="en-US" altLang="zh-CN" b="0" i="1" smtClean="0">
                        <a:latin typeface="Cambria Math" panose="02040503050406030204" pitchFamily="18" charset="0"/>
                      </a:rPr>
                      <m:t>𝑤</m:t>
                    </m:r>
                    <m:r>
                      <a:rPr lang="en-US" altLang="zh-CN" b="0" i="1" smtClean="0">
                        <a:latin typeface="Cambria Math" panose="02040503050406030204" pitchFamily="18" charset="0"/>
                      </a:rPr>
                      <m:t>=−</m:t>
                    </m:r>
                    <m:r>
                      <a:rPr lang="en-US" altLang="zh-CN" b="0" i="1" smtClean="0">
                        <a:latin typeface="Cambria Math" panose="02040503050406030204" pitchFamily="18" charset="0"/>
                      </a:rPr>
                      <m:t>𝑏</m:t>
                    </m:r>
                    <m:r>
                      <a:rPr lang="en-US" altLang="zh-CN" b="0" i="1" smtClean="0">
                        <a:latin typeface="Cambria Math" panose="02040503050406030204" pitchFamily="18" charset="0"/>
                      </a:rPr>
                      <m:t>,</m:t>
                    </m:r>
                    <m:r>
                      <a:rPr lang="en-US" altLang="zh-CN" b="0" i="1" smtClean="0">
                        <a:latin typeface="Cambria Math" panose="02040503050406030204" pitchFamily="18" charset="0"/>
                      </a:rPr>
                      <m:t>𝑏</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𝐵</m:t>
                    </m:r>
                    <m:r>
                      <a:rPr lang="en-US" altLang="zh-CN" b="0" i="1" smtClean="0">
                        <a:latin typeface="Cambria Math" panose="02040503050406030204" pitchFamily="18" charset="0"/>
                      </a:rPr>
                      <m:t>}</m:t>
                    </m:r>
                    <m:r>
                      <a:rPr lang="zh-CN" altLang="en-US" i="1">
                        <a:latin typeface="Cambria Math" panose="02040503050406030204" pitchFamily="18" charset="0"/>
                      </a:rPr>
                      <m:t>，</m:t>
                    </m:r>
                  </m:oMath>
                </a14:m>
                <a:r>
                  <a:rPr lang="zh-CN" altLang="en-US" dirty="0"/>
                  <a:t>即关于原集合原点对称</a:t>
                </a:r>
                <a:endParaRPr lang="en-US" altLang="zh-CN" dirty="0"/>
              </a:p>
              <a:p>
                <a:pPr>
                  <a:lnSpc>
                    <a:spcPct val="120000"/>
                  </a:lnSpc>
                </a:pPr>
                <a:r>
                  <a:rPr lang="zh-CN" altLang="en-US" dirty="0"/>
                  <a:t>集合</a:t>
                </a:r>
                <a14:m>
                  <m:oMath xmlns:m="http://schemas.openxmlformats.org/officeDocument/2006/math">
                    <m:r>
                      <a:rPr lang="en-US" altLang="zh-CN" i="1" dirty="0" smtClean="0">
                        <a:latin typeface="Cambria Math" panose="02040503050406030204" pitchFamily="18" charset="0"/>
                      </a:rPr>
                      <m:t>𝐴</m:t>
                    </m:r>
                  </m:oMath>
                </a14:m>
                <a:r>
                  <a:rPr lang="zh-CN" altLang="en-US" dirty="0"/>
                  <a:t>平移到点</a:t>
                </a:r>
                <a14:m>
                  <m:oMath xmlns:m="http://schemas.openxmlformats.org/officeDocument/2006/math">
                    <m:r>
                      <a:rPr lang="en-US" altLang="zh-CN" b="0" i="1" smtClean="0">
                        <a:latin typeface="Cambria Math" panose="02040503050406030204" pitchFamily="18" charset="0"/>
                      </a:rPr>
                      <m:t>𝑧</m:t>
                    </m:r>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𝑧</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𝑧</m:t>
                            </m:r>
                          </m:e>
                          <m:sub>
                            <m:r>
                              <a:rPr lang="en-US" altLang="zh-CN" b="0" i="1" smtClean="0">
                                <a:latin typeface="Cambria Math" panose="02040503050406030204" pitchFamily="18" charset="0"/>
                              </a:rPr>
                              <m:t>2</m:t>
                            </m:r>
                          </m:sub>
                        </m:sSub>
                      </m:e>
                    </m:d>
                  </m:oMath>
                </a14:m>
                <a:r>
                  <a:rPr lang="zh-CN" altLang="en-US" dirty="0"/>
                  <a:t>，表示为</a:t>
                </a:r>
                <a14:m>
                  <m:oMath xmlns:m="http://schemas.openxmlformats.org/officeDocument/2006/math">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𝐴</m:t>
                        </m:r>
                        <m:r>
                          <a:rPr lang="en-US" altLang="zh-CN" b="0" i="1" dirty="0" smtClean="0">
                            <a:latin typeface="Cambria Math" panose="02040503050406030204" pitchFamily="18" charset="0"/>
                          </a:rPr>
                          <m:t>)</m:t>
                        </m:r>
                      </m:e>
                      <m:sub>
                        <m:r>
                          <a:rPr lang="en-US" altLang="zh-CN" b="0" i="1" dirty="0" smtClean="0">
                            <a:latin typeface="Cambria Math" panose="02040503050406030204" pitchFamily="18" charset="0"/>
                          </a:rPr>
                          <m:t>𝑧</m:t>
                        </m:r>
                      </m:sub>
                    </m:sSub>
                  </m:oMath>
                </a14:m>
                <a:r>
                  <a:rPr lang="zh-CN" altLang="en-US" dirty="0"/>
                  <a:t>，定义为</a:t>
                </a:r>
                <a:endParaRPr lang="en-US" altLang="zh-CN" dirty="0"/>
              </a:p>
              <a:p>
                <a:pPr marL="457200" lvl="1" indent="0">
                  <a:lnSpc>
                    <a:spcPct val="120000"/>
                  </a:lnSpc>
                  <a:buNone/>
                </a:pPr>
                <a14:m>
                  <m:oMathPara xmlns:m="http://schemas.openxmlformats.org/officeDocument/2006/math">
                    <m:oMathParaPr>
                      <m:jc m:val="centerGroup"/>
                    </m:oMathParaPr>
                    <m:oMath xmlns:m="http://schemas.openxmlformats.org/officeDocument/2006/math">
                      <m:sSub>
                        <m:sSubPr>
                          <m:ctrlPr>
                            <a:rPr lang="en-US" altLang="zh-CN" sz="2800" i="1" dirty="0">
                              <a:latin typeface="Cambria Math" panose="02040503050406030204" pitchFamily="18" charset="0"/>
                            </a:rPr>
                          </m:ctrlPr>
                        </m:sSubPr>
                        <m:e>
                          <m:r>
                            <a:rPr lang="en-US" altLang="zh-CN" sz="2800" i="1" dirty="0">
                              <a:latin typeface="Cambria Math" panose="02040503050406030204" pitchFamily="18" charset="0"/>
                            </a:rPr>
                            <m:t>(</m:t>
                          </m:r>
                          <m:r>
                            <a:rPr lang="en-US" altLang="zh-CN" sz="2800" i="1" dirty="0">
                              <a:latin typeface="Cambria Math" panose="02040503050406030204" pitchFamily="18" charset="0"/>
                            </a:rPr>
                            <m:t>𝐴</m:t>
                          </m:r>
                          <m:r>
                            <a:rPr lang="en-US" altLang="zh-CN" sz="2800" i="1" dirty="0">
                              <a:latin typeface="Cambria Math" panose="02040503050406030204" pitchFamily="18" charset="0"/>
                            </a:rPr>
                            <m:t>)</m:t>
                          </m:r>
                        </m:e>
                        <m:sub>
                          <m:r>
                            <a:rPr lang="en-US" altLang="zh-CN" sz="2800" i="1" dirty="0">
                              <a:latin typeface="Cambria Math" panose="02040503050406030204" pitchFamily="18" charset="0"/>
                            </a:rPr>
                            <m:t>𝑧</m:t>
                          </m:r>
                        </m:sub>
                      </m:sSub>
                      <m:r>
                        <a:rPr lang="en-US" altLang="zh-CN" sz="2800" b="0" i="1" dirty="0" smtClean="0">
                          <a:latin typeface="Cambria Math" panose="02040503050406030204" pitchFamily="18" charset="0"/>
                        </a:rPr>
                        <m:t>={</m:t>
                      </m:r>
                      <m:r>
                        <a:rPr lang="en-US" altLang="zh-CN" sz="2800" b="0" i="1" dirty="0" smtClean="0">
                          <a:latin typeface="Cambria Math" panose="02040503050406030204" pitchFamily="18" charset="0"/>
                        </a:rPr>
                        <m:t>𝑐</m:t>
                      </m:r>
                      <m:r>
                        <a:rPr lang="en-US" altLang="zh-CN" sz="2800" b="0" i="1" dirty="0" smtClean="0">
                          <a:latin typeface="Cambria Math" panose="02040503050406030204" pitchFamily="18" charset="0"/>
                        </a:rPr>
                        <m:t>|</m:t>
                      </m:r>
                      <m:r>
                        <a:rPr lang="en-US" altLang="zh-CN" sz="2800" b="0" i="1" dirty="0" smtClean="0">
                          <a:latin typeface="Cambria Math" panose="02040503050406030204" pitchFamily="18" charset="0"/>
                        </a:rPr>
                        <m:t>𝑐</m:t>
                      </m:r>
                      <m:r>
                        <a:rPr lang="en-US" altLang="zh-CN" sz="2800" b="0" i="1" dirty="0" smtClean="0">
                          <a:latin typeface="Cambria Math" panose="02040503050406030204" pitchFamily="18" charset="0"/>
                        </a:rPr>
                        <m:t>=</m:t>
                      </m:r>
                      <m:r>
                        <a:rPr lang="en-US" altLang="zh-CN" sz="2800" b="0" i="1" dirty="0" smtClean="0">
                          <a:latin typeface="Cambria Math" panose="02040503050406030204" pitchFamily="18" charset="0"/>
                        </a:rPr>
                        <m:t>𝑎</m:t>
                      </m:r>
                      <m:r>
                        <a:rPr lang="en-US" altLang="zh-CN" sz="2800" b="0" i="1" dirty="0" smtClean="0">
                          <a:latin typeface="Cambria Math" panose="02040503050406030204" pitchFamily="18" charset="0"/>
                        </a:rPr>
                        <m:t>+</m:t>
                      </m:r>
                      <m:r>
                        <a:rPr lang="en-US" altLang="zh-CN" sz="2800" b="0" i="1" dirty="0" smtClean="0">
                          <a:latin typeface="Cambria Math" panose="02040503050406030204" pitchFamily="18" charset="0"/>
                        </a:rPr>
                        <m:t>𝑧</m:t>
                      </m:r>
                      <m:r>
                        <a:rPr lang="en-US" altLang="zh-CN" sz="2800" b="0" i="1" dirty="0" smtClean="0">
                          <a:latin typeface="Cambria Math" panose="02040503050406030204" pitchFamily="18" charset="0"/>
                        </a:rPr>
                        <m:t>, </m:t>
                      </m:r>
                      <m:r>
                        <a:rPr lang="en-US" altLang="zh-CN" sz="2800" b="0" i="1" dirty="0" smtClean="0">
                          <a:latin typeface="Cambria Math" panose="02040503050406030204" pitchFamily="18" charset="0"/>
                        </a:rPr>
                        <m:t>𝑎</m:t>
                      </m:r>
                      <m:r>
                        <a:rPr lang="en-US" altLang="zh-CN" sz="2800" b="0" i="1" dirty="0" smtClean="0">
                          <a:latin typeface="Cambria Math" panose="02040503050406030204" pitchFamily="18" charset="0"/>
                          <a:ea typeface="Cambria Math" panose="02040503050406030204" pitchFamily="18" charset="0"/>
                        </a:rPr>
                        <m:t>∈</m:t>
                      </m:r>
                      <m:r>
                        <a:rPr lang="en-US" altLang="zh-CN" sz="2800" b="0" i="1" dirty="0" smtClean="0">
                          <a:latin typeface="Cambria Math" panose="02040503050406030204" pitchFamily="18" charset="0"/>
                          <a:ea typeface="Cambria Math" panose="02040503050406030204" pitchFamily="18" charset="0"/>
                        </a:rPr>
                        <m:t>𝐴</m:t>
                      </m:r>
                      <m:r>
                        <a:rPr lang="en-US" altLang="zh-CN" sz="2800" b="0" i="1" dirty="0" smtClean="0">
                          <a:latin typeface="Cambria Math" panose="02040503050406030204" pitchFamily="18" charset="0"/>
                        </a:rPr>
                        <m:t>}</m:t>
                      </m:r>
                    </m:oMath>
                  </m:oMathPara>
                </a14:m>
                <a:endParaRPr lang="en-US" altLang="zh-CN" sz="2800" dirty="0"/>
              </a:p>
            </p:txBody>
          </p:sp>
        </mc:Choice>
        <mc:Fallback xmlns="">
          <p:sp>
            <p:nvSpPr>
              <p:cNvPr id="3" name="Content Placeholder 2">
                <a:extLst>
                  <a:ext uri="{FF2B5EF4-FFF2-40B4-BE49-F238E27FC236}">
                    <a16:creationId xmlns:a16="http://schemas.microsoft.com/office/drawing/2014/main" id="{B3E8B676-4C93-4497-80E0-7E5370D7CCB2}"/>
                  </a:ext>
                </a:extLst>
              </p:cNvPr>
              <p:cNvSpPr>
                <a:spLocks noGrp="1" noRot="1" noChangeAspect="1" noMove="1" noResize="1" noEditPoints="1" noAdjustHandles="1" noChangeArrowheads="1" noChangeShapeType="1" noTextEdit="1"/>
              </p:cNvSpPr>
              <p:nvPr>
                <p:ph idx="1"/>
              </p:nvPr>
            </p:nvSpPr>
            <p:spPr>
              <a:blipFill>
                <a:blip r:embed="rId2"/>
                <a:stretch>
                  <a:fillRect l="-1043" t="-700" r="-812"/>
                </a:stretch>
              </a:blipFill>
            </p:spPr>
            <p:txBody>
              <a:bodyPr/>
              <a:lstStyle/>
              <a:p>
                <a:r>
                  <a:rPr lang="zh-CN" altLang="en-US">
                    <a:noFill/>
                  </a:rPr>
                  <a:t> </a:t>
                </a:r>
              </a:p>
            </p:txBody>
          </p:sp>
        </mc:Fallback>
      </mc:AlternateContent>
      <p:grpSp>
        <p:nvGrpSpPr>
          <p:cNvPr id="6" name="Group 5">
            <a:extLst>
              <a:ext uri="{FF2B5EF4-FFF2-40B4-BE49-F238E27FC236}">
                <a16:creationId xmlns:a16="http://schemas.microsoft.com/office/drawing/2014/main" id="{F28B5FF5-78B5-4CEA-A1CF-6B1735BB5DBE}"/>
              </a:ext>
            </a:extLst>
          </p:cNvPr>
          <p:cNvGrpSpPr/>
          <p:nvPr/>
        </p:nvGrpSpPr>
        <p:grpSpPr>
          <a:xfrm>
            <a:off x="1613694" y="4387850"/>
            <a:ext cx="8964611" cy="2181225"/>
            <a:chOff x="2102909" y="4311650"/>
            <a:chExt cx="8964611" cy="2181225"/>
          </a:xfrm>
        </p:grpSpPr>
        <p:pic>
          <p:nvPicPr>
            <p:cNvPr id="4" name="Picture 3">
              <a:extLst>
                <a:ext uri="{FF2B5EF4-FFF2-40B4-BE49-F238E27FC236}">
                  <a16:creationId xmlns:a16="http://schemas.microsoft.com/office/drawing/2014/main" id="{1A507121-3F51-4D7E-8C24-7FBC3B86F510}"/>
                </a:ext>
              </a:extLst>
            </p:cNvPr>
            <p:cNvPicPr>
              <a:picLocks noChangeAspect="1"/>
            </p:cNvPicPr>
            <p:nvPr/>
          </p:nvPicPr>
          <p:blipFill rotWithShape="1">
            <a:blip r:embed="rId3"/>
            <a:srcRect r="74751" b="50286"/>
            <a:stretch/>
          </p:blipFill>
          <p:spPr>
            <a:xfrm>
              <a:off x="2102909" y="4655608"/>
              <a:ext cx="1986492" cy="1837267"/>
            </a:xfrm>
            <a:prstGeom prst="rect">
              <a:avLst/>
            </a:prstGeom>
          </p:spPr>
        </p:pic>
        <p:pic>
          <p:nvPicPr>
            <p:cNvPr id="5" name="Picture 4">
              <a:extLst>
                <a:ext uri="{FF2B5EF4-FFF2-40B4-BE49-F238E27FC236}">
                  <a16:creationId xmlns:a16="http://schemas.microsoft.com/office/drawing/2014/main" id="{C0ECD1B4-C9E0-4027-889E-2F782B799FC1}"/>
                </a:ext>
              </a:extLst>
            </p:cNvPr>
            <p:cNvPicPr>
              <a:picLocks noChangeAspect="1"/>
            </p:cNvPicPr>
            <p:nvPr/>
          </p:nvPicPr>
          <p:blipFill>
            <a:blip r:embed="rId4"/>
            <a:stretch>
              <a:fillRect/>
            </a:stretch>
          </p:blipFill>
          <p:spPr>
            <a:xfrm>
              <a:off x="4257145" y="4311650"/>
              <a:ext cx="6810375" cy="2000250"/>
            </a:xfrm>
            <a:prstGeom prst="rect">
              <a:avLst/>
            </a:prstGeom>
          </p:spPr>
        </p:pic>
      </p:grpSp>
    </p:spTree>
    <p:extLst>
      <p:ext uri="{BB962C8B-B14F-4D97-AF65-F5344CB8AC3E}">
        <p14:creationId xmlns:p14="http://schemas.microsoft.com/office/powerpoint/2010/main" val="17389529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2A326-2FA4-4390-B5FC-B8D23209E146}"/>
              </a:ext>
            </a:extLst>
          </p:cNvPr>
          <p:cNvSpPr>
            <a:spLocks noGrp="1"/>
          </p:cNvSpPr>
          <p:nvPr>
            <p:ph type="title"/>
          </p:nvPr>
        </p:nvSpPr>
        <p:spPr/>
        <p:txBody>
          <a:bodyPr/>
          <a:lstStyle/>
          <a:p>
            <a:r>
              <a:rPr lang="en-US" altLang="zh-CN" b="1" dirty="0"/>
              <a:t>3. </a:t>
            </a:r>
            <a:r>
              <a:rPr lang="zh-CN" altLang="en-US" b="1" dirty="0"/>
              <a:t>腐蚀和膨胀 </a:t>
            </a:r>
            <a:r>
              <a:rPr lang="en-US" altLang="zh-CN" b="1" dirty="0"/>
              <a:t>– </a:t>
            </a:r>
            <a:r>
              <a:rPr lang="zh-CN" altLang="en-US" b="1" dirty="0">
                <a:solidFill>
                  <a:srgbClr val="00B0F0"/>
                </a:solidFill>
              </a:rPr>
              <a:t>腐蚀</a:t>
            </a:r>
            <a:endParaRPr lang="zh-CN" altLang="en-US" b="1"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0971732-B0DC-40E4-80E4-AFB7C58F420D}"/>
                  </a:ext>
                </a:extLst>
              </p:cNvPr>
              <p:cNvSpPr>
                <a:spLocks noGrp="1"/>
              </p:cNvSpPr>
              <p:nvPr>
                <p:ph idx="1"/>
              </p:nvPr>
            </p:nvSpPr>
            <p:spPr/>
            <p:txBody>
              <a:bodyPr/>
              <a:lstStyle/>
              <a:p>
                <a:pPr>
                  <a:lnSpc>
                    <a:spcPct val="150000"/>
                  </a:lnSpc>
                </a:pPr>
                <a:r>
                  <a:rPr lang="zh-CN" altLang="en-US" b="1" dirty="0">
                    <a:solidFill>
                      <a:srgbClr val="0070C0"/>
                    </a:solidFill>
                  </a:rPr>
                  <a:t>腐蚀 </a:t>
                </a:r>
                <a:r>
                  <a:rPr lang="en-US" altLang="zh-CN" b="1" dirty="0">
                    <a:solidFill>
                      <a:srgbClr val="0070C0"/>
                    </a:solidFill>
                  </a:rPr>
                  <a:t>(Erode)</a:t>
                </a:r>
                <a:r>
                  <a:rPr lang="zh-CN" altLang="en-US" b="1" dirty="0">
                    <a:solidFill>
                      <a:srgbClr val="0070C0"/>
                    </a:solidFill>
                  </a:rPr>
                  <a:t>：</a:t>
                </a:r>
                <a:r>
                  <a:rPr lang="zh-CN" altLang="en-US" dirty="0"/>
                  <a:t>让图像缩小</a:t>
                </a:r>
                <a:endParaRPr lang="en-US" altLang="zh-CN" dirty="0"/>
              </a:p>
              <a:p>
                <a:pPr lvl="1">
                  <a:lnSpc>
                    <a:spcPct val="150000"/>
                  </a:lnSpc>
                </a:pPr>
                <a:r>
                  <a:rPr lang="zh-CN" altLang="en-US" dirty="0"/>
                  <a:t>一般集合</a:t>
                </a:r>
                <a14:m>
                  <m:oMath xmlns:m="http://schemas.openxmlformats.org/officeDocument/2006/math">
                    <m:r>
                      <a:rPr lang="en-US" altLang="zh-CN" b="0" i="1" dirty="0">
                        <a:latin typeface="Cambria Math" panose="02040503050406030204" pitchFamily="18" charset="0"/>
                      </a:rPr>
                      <m:t>𝐴</m:t>
                    </m:r>
                  </m:oMath>
                </a14:m>
                <a:r>
                  <a:rPr lang="zh-CN" altLang="en-US" dirty="0"/>
                  <a:t>是图像，集合</a:t>
                </a:r>
                <a14:m>
                  <m:oMath xmlns:m="http://schemas.openxmlformats.org/officeDocument/2006/math">
                    <m:r>
                      <a:rPr lang="en-US" altLang="zh-CN" b="0" i="1" dirty="0" smtClean="0">
                        <a:latin typeface="Cambria Math" panose="02040503050406030204" pitchFamily="18" charset="0"/>
                      </a:rPr>
                      <m:t>𝐵</m:t>
                    </m:r>
                  </m:oMath>
                </a14:m>
                <a:r>
                  <a:rPr lang="zh-CN" altLang="en-US" dirty="0"/>
                  <a:t>是结构元素，</a:t>
                </a:r>
                <a:r>
                  <a:rPr lang="en-US" altLang="zh-CN" dirty="0"/>
                  <a:t> </a:t>
                </a:r>
                <a14:m>
                  <m:oMath xmlns:m="http://schemas.openxmlformats.org/officeDocument/2006/math">
                    <m:r>
                      <a:rPr lang="en-US" altLang="zh-CN" b="0" i="1" dirty="0">
                        <a:latin typeface="Cambria Math" panose="02040503050406030204" pitchFamily="18" charset="0"/>
                      </a:rPr>
                      <m:t>𝐴</m:t>
                    </m:r>
                  </m:oMath>
                </a14:m>
                <a:r>
                  <a:rPr lang="zh-CN" altLang="en-US" dirty="0"/>
                  <a:t>被</a:t>
                </a:r>
                <a14:m>
                  <m:oMath xmlns:m="http://schemas.openxmlformats.org/officeDocument/2006/math">
                    <m:r>
                      <a:rPr lang="en-US" altLang="zh-CN" b="0" i="1" dirty="0">
                        <a:latin typeface="Cambria Math" panose="02040503050406030204" pitchFamily="18" charset="0"/>
                      </a:rPr>
                      <m:t>𝐵</m:t>
                    </m:r>
                  </m:oMath>
                </a14:m>
                <a:r>
                  <a:rPr lang="zh-CN" altLang="en-US" dirty="0"/>
                  <a:t>腐蚀定义为：</a:t>
                </a:r>
                <a:endParaRPr lang="en-US" altLang="zh-CN" dirty="0"/>
              </a:p>
              <a:p>
                <a:pPr marL="457200" lvl="1" indent="0">
                  <a:lnSpc>
                    <a:spcPct val="150000"/>
                  </a:lnSpc>
                  <a:buNone/>
                </a:pPr>
                <a14:m>
                  <m:oMathPara xmlns:m="http://schemas.openxmlformats.org/officeDocument/2006/math">
                    <m:oMathParaPr>
                      <m:jc m:val="centerGroup"/>
                    </m:oMathParaPr>
                    <m:oMath xmlns:m="http://schemas.openxmlformats.org/officeDocument/2006/math">
                      <m:r>
                        <a:rPr lang="en-US" altLang="zh-CN" sz="3200" b="0" i="1" smtClean="0">
                          <a:latin typeface="Cambria Math" panose="02040503050406030204" pitchFamily="18" charset="0"/>
                        </a:rPr>
                        <m:t>𝐴</m:t>
                      </m:r>
                      <m:r>
                        <a:rPr lang="en-US" altLang="zh-CN" sz="3200" b="0" i="1" smtClean="0">
                          <a:latin typeface="Cambria Math" panose="02040503050406030204" pitchFamily="18" charset="0"/>
                          <a:ea typeface="Cambria Math" panose="02040503050406030204" pitchFamily="18" charset="0"/>
                        </a:rPr>
                        <m:t>⊖</m:t>
                      </m:r>
                      <m:r>
                        <a:rPr lang="en-US" altLang="zh-CN" sz="3200" b="0" i="1" smtClean="0">
                          <a:latin typeface="Cambria Math" panose="02040503050406030204" pitchFamily="18" charset="0"/>
                          <a:ea typeface="Cambria Math" panose="02040503050406030204" pitchFamily="18" charset="0"/>
                        </a:rPr>
                        <m:t>𝐵</m:t>
                      </m:r>
                      <m:r>
                        <a:rPr lang="en-US" altLang="zh-CN" sz="3200" b="0" i="1" smtClean="0">
                          <a:latin typeface="Cambria Math" panose="02040503050406030204" pitchFamily="18" charset="0"/>
                          <a:ea typeface="Cambria Math" panose="02040503050406030204" pitchFamily="18" charset="0"/>
                        </a:rPr>
                        <m:t>=</m:t>
                      </m:r>
                      <m:d>
                        <m:dPr>
                          <m:begChr m:val="{"/>
                          <m:endChr m:val="|"/>
                          <m:ctrlPr>
                            <a:rPr lang="en-US" altLang="zh-CN" sz="3200" b="0" i="1" smtClean="0">
                              <a:latin typeface="Cambria Math" panose="02040503050406030204" pitchFamily="18" charset="0"/>
                              <a:ea typeface="Cambria Math" panose="02040503050406030204" pitchFamily="18" charset="0"/>
                            </a:rPr>
                          </m:ctrlPr>
                        </m:dPr>
                        <m:e>
                          <m:r>
                            <a:rPr lang="en-US" altLang="zh-CN" sz="3200" b="0" i="1" smtClean="0">
                              <a:latin typeface="Cambria Math" panose="02040503050406030204" pitchFamily="18" charset="0"/>
                              <a:ea typeface="Cambria Math" panose="02040503050406030204" pitchFamily="18" charset="0"/>
                            </a:rPr>
                            <m:t>𝑧</m:t>
                          </m:r>
                        </m:e>
                      </m:d>
                      <m:sSub>
                        <m:sSubPr>
                          <m:ctrlPr>
                            <a:rPr lang="en-US" altLang="zh-CN" sz="3200" b="0" i="1" smtClean="0">
                              <a:latin typeface="Cambria Math" panose="02040503050406030204" pitchFamily="18" charset="0"/>
                              <a:ea typeface="Cambria Math" panose="02040503050406030204" pitchFamily="18" charset="0"/>
                            </a:rPr>
                          </m:ctrlPr>
                        </m:sSubPr>
                        <m:e>
                          <m:r>
                            <a:rPr lang="en-US" altLang="zh-CN" sz="3200" b="0" i="1" smtClean="0">
                              <a:latin typeface="Cambria Math" panose="02040503050406030204" pitchFamily="18" charset="0"/>
                              <a:ea typeface="Cambria Math" panose="02040503050406030204" pitchFamily="18" charset="0"/>
                            </a:rPr>
                            <m:t>(</m:t>
                          </m:r>
                          <m:r>
                            <a:rPr lang="en-US" altLang="zh-CN" sz="3200" b="0" i="1" smtClean="0">
                              <a:latin typeface="Cambria Math" panose="02040503050406030204" pitchFamily="18" charset="0"/>
                              <a:ea typeface="Cambria Math" panose="02040503050406030204" pitchFamily="18" charset="0"/>
                            </a:rPr>
                            <m:t>𝐵</m:t>
                          </m:r>
                          <m:r>
                            <a:rPr lang="en-US" altLang="zh-CN" sz="3200" b="0" i="1" smtClean="0">
                              <a:latin typeface="Cambria Math" panose="02040503050406030204" pitchFamily="18" charset="0"/>
                              <a:ea typeface="Cambria Math" panose="02040503050406030204" pitchFamily="18" charset="0"/>
                            </a:rPr>
                            <m:t>)</m:t>
                          </m:r>
                        </m:e>
                        <m:sub>
                          <m:r>
                            <a:rPr lang="en-US" altLang="zh-CN" sz="3200" b="0" i="1" smtClean="0">
                              <a:latin typeface="Cambria Math" panose="02040503050406030204" pitchFamily="18" charset="0"/>
                              <a:ea typeface="Cambria Math" panose="02040503050406030204" pitchFamily="18" charset="0"/>
                            </a:rPr>
                            <m:t>𝑧</m:t>
                          </m:r>
                        </m:sub>
                      </m:sSub>
                      <m:r>
                        <a:rPr lang="en-US" altLang="zh-CN" sz="3200" b="0" i="1" smtClean="0">
                          <a:latin typeface="Cambria Math" panose="02040503050406030204" pitchFamily="18" charset="0"/>
                          <a:ea typeface="Cambria Math" panose="02040503050406030204" pitchFamily="18" charset="0"/>
                        </a:rPr>
                        <m:t>⊆</m:t>
                      </m:r>
                      <m:r>
                        <a:rPr lang="en-US" altLang="zh-CN" sz="3200" b="0" i="1" smtClean="0">
                          <a:latin typeface="Cambria Math" panose="02040503050406030204" pitchFamily="18" charset="0"/>
                          <a:ea typeface="Cambria Math" panose="02040503050406030204" pitchFamily="18" charset="0"/>
                        </a:rPr>
                        <m:t>𝐴</m:t>
                      </m:r>
                      <m:r>
                        <a:rPr lang="en-US" altLang="zh-CN" sz="3200" b="0" i="1" smtClean="0">
                          <a:latin typeface="Cambria Math" panose="02040503050406030204" pitchFamily="18" charset="0"/>
                          <a:ea typeface="Cambria Math" panose="02040503050406030204" pitchFamily="18" charset="0"/>
                        </a:rPr>
                        <m:t>}</m:t>
                      </m:r>
                    </m:oMath>
                  </m:oMathPara>
                </a14:m>
                <a:endParaRPr lang="zh-CN" altLang="en-US" sz="3200" dirty="0"/>
              </a:p>
            </p:txBody>
          </p:sp>
        </mc:Choice>
        <mc:Fallback xmlns="">
          <p:sp>
            <p:nvSpPr>
              <p:cNvPr id="3" name="Content Placeholder 2">
                <a:extLst>
                  <a:ext uri="{FF2B5EF4-FFF2-40B4-BE49-F238E27FC236}">
                    <a16:creationId xmlns:a16="http://schemas.microsoft.com/office/drawing/2014/main" id="{60971732-B0DC-40E4-80E4-AFB7C58F420D}"/>
                  </a:ext>
                </a:extLst>
              </p:cNvPr>
              <p:cNvSpPr>
                <a:spLocks noGrp="1" noRot="1" noChangeAspect="1" noMove="1" noResize="1" noEditPoints="1" noAdjustHandles="1" noChangeArrowheads="1" noChangeShapeType="1" noTextEdit="1"/>
              </p:cNvSpPr>
              <p:nvPr>
                <p:ph idx="1"/>
              </p:nvPr>
            </p:nvSpPr>
            <p:spPr>
              <a:blipFill>
                <a:blip r:embed="rId2"/>
                <a:stretch>
                  <a:fillRect l="-1043"/>
                </a:stretch>
              </a:blipFill>
            </p:spPr>
            <p:txBody>
              <a:bodyPr/>
              <a:lstStyle/>
              <a:p>
                <a:r>
                  <a:rPr lang="zh-CN" altLang="en-US">
                    <a:noFill/>
                  </a:rPr>
                  <a:t> </a:t>
                </a:r>
              </a:p>
            </p:txBody>
          </p:sp>
        </mc:Fallback>
      </mc:AlternateContent>
      <p:pic>
        <p:nvPicPr>
          <p:cNvPr id="4" name="Picture 3">
            <a:extLst>
              <a:ext uri="{FF2B5EF4-FFF2-40B4-BE49-F238E27FC236}">
                <a16:creationId xmlns:a16="http://schemas.microsoft.com/office/drawing/2014/main" id="{2C59A492-17B8-4608-A7C8-3A2A3433299E}"/>
              </a:ext>
            </a:extLst>
          </p:cNvPr>
          <p:cNvPicPr>
            <a:picLocks noChangeAspect="1"/>
          </p:cNvPicPr>
          <p:nvPr/>
        </p:nvPicPr>
        <p:blipFill>
          <a:blip r:embed="rId3"/>
          <a:stretch>
            <a:fillRect/>
          </a:stretch>
        </p:blipFill>
        <p:spPr>
          <a:xfrm>
            <a:off x="1359357" y="4066133"/>
            <a:ext cx="9473285" cy="2316676"/>
          </a:xfrm>
          <a:prstGeom prst="rect">
            <a:avLst/>
          </a:prstGeom>
        </p:spPr>
      </p:pic>
    </p:spTree>
    <p:extLst>
      <p:ext uri="{BB962C8B-B14F-4D97-AF65-F5344CB8AC3E}">
        <p14:creationId xmlns:p14="http://schemas.microsoft.com/office/powerpoint/2010/main" val="39627614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2A326-2FA4-4390-B5FC-B8D23209E146}"/>
              </a:ext>
            </a:extLst>
          </p:cNvPr>
          <p:cNvSpPr>
            <a:spLocks noGrp="1"/>
          </p:cNvSpPr>
          <p:nvPr>
            <p:ph type="title"/>
          </p:nvPr>
        </p:nvSpPr>
        <p:spPr/>
        <p:txBody>
          <a:bodyPr/>
          <a:lstStyle/>
          <a:p>
            <a:r>
              <a:rPr lang="en-US" altLang="zh-CN" b="1" dirty="0"/>
              <a:t>3. </a:t>
            </a:r>
            <a:r>
              <a:rPr lang="zh-CN" altLang="en-US" b="1" dirty="0"/>
              <a:t>腐蚀和膨胀 </a:t>
            </a:r>
            <a:r>
              <a:rPr lang="en-US" altLang="zh-CN" b="1" dirty="0"/>
              <a:t>– </a:t>
            </a:r>
            <a:r>
              <a:rPr lang="zh-CN" altLang="en-US" b="1" dirty="0">
                <a:solidFill>
                  <a:srgbClr val="00B0F0"/>
                </a:solidFill>
              </a:rPr>
              <a:t>腐蚀（举例）</a:t>
            </a:r>
          </a:p>
        </p:txBody>
      </p:sp>
      <p:grpSp>
        <p:nvGrpSpPr>
          <p:cNvPr id="9" name="Group 8">
            <a:extLst>
              <a:ext uri="{FF2B5EF4-FFF2-40B4-BE49-F238E27FC236}">
                <a16:creationId xmlns:a16="http://schemas.microsoft.com/office/drawing/2014/main" id="{A172E6E5-E5E1-42D4-BDD8-490F39961595}"/>
              </a:ext>
            </a:extLst>
          </p:cNvPr>
          <p:cNvGrpSpPr/>
          <p:nvPr/>
        </p:nvGrpSpPr>
        <p:grpSpPr>
          <a:xfrm>
            <a:off x="1973365" y="1589088"/>
            <a:ext cx="8245269" cy="5201179"/>
            <a:chOff x="1051020" y="1521355"/>
            <a:chExt cx="8245269" cy="5201179"/>
          </a:xfrm>
        </p:grpSpPr>
        <p:sp>
          <p:nvSpPr>
            <p:cNvPr id="6" name="Rectangle 5">
              <a:extLst>
                <a:ext uri="{FF2B5EF4-FFF2-40B4-BE49-F238E27FC236}">
                  <a16:creationId xmlns:a16="http://schemas.microsoft.com/office/drawing/2014/main" id="{932C3EEC-DC71-4F31-B074-2218C423E357}"/>
                </a:ext>
              </a:extLst>
            </p:cNvPr>
            <p:cNvSpPr/>
            <p:nvPr/>
          </p:nvSpPr>
          <p:spPr>
            <a:xfrm>
              <a:off x="5333999" y="1521355"/>
              <a:ext cx="2565400" cy="461665"/>
            </a:xfrm>
            <a:prstGeom prst="rect">
              <a:avLst/>
            </a:prstGeom>
          </p:spPr>
          <p:txBody>
            <a:bodyPr wrap="square">
              <a:spAutoFit/>
            </a:bodyPr>
            <a:lstStyle/>
            <a:p>
              <a:pPr algn="ctr"/>
              <a:r>
                <a:rPr lang="en-US" altLang="zh-CN" sz="2400" dirty="0">
                  <a:solidFill>
                    <a:srgbClr val="EE2B0A"/>
                  </a:solidFill>
                  <a:latin typeface="Times New Roman" panose="02020603050405020304" pitchFamily="18" charset="0"/>
                </a:rPr>
                <a:t>A</a:t>
              </a:r>
              <a:r>
                <a:rPr lang="zh-CN" altLang="en-US" sz="2400" dirty="0">
                  <a:solidFill>
                    <a:srgbClr val="EE2B0A"/>
                  </a:solidFill>
                  <a:latin typeface="楷体_GB2312" panose="02010609030101010101" pitchFamily="49" charset="-122"/>
                  <a:ea typeface="楷体_GB2312" panose="02010609030101010101" pitchFamily="49" charset="-122"/>
                </a:rPr>
                <a:t>被</a:t>
              </a:r>
              <a:r>
                <a:rPr lang="en-US" altLang="zh-CN" sz="2400" dirty="0">
                  <a:solidFill>
                    <a:srgbClr val="EE2B0A"/>
                  </a:solidFill>
                  <a:latin typeface="Times New Roman" panose="02020603050405020304" pitchFamily="18" charset="0"/>
                </a:rPr>
                <a:t>B</a:t>
              </a:r>
              <a:r>
                <a:rPr lang="zh-CN" altLang="en-US" sz="2400" dirty="0">
                  <a:solidFill>
                    <a:srgbClr val="EE2B0A"/>
                  </a:solidFill>
                  <a:latin typeface="楷体_GB2312" panose="02010609030101010101" pitchFamily="49" charset="-122"/>
                  <a:ea typeface="楷体_GB2312" panose="02010609030101010101" pitchFamily="49" charset="-122"/>
                </a:rPr>
                <a:t>腐蚀的结果</a:t>
              </a:r>
              <a:r>
                <a:rPr lang="zh-CN" altLang="en-US" sz="2400" dirty="0"/>
                <a:t> </a:t>
              </a:r>
            </a:p>
          </p:txBody>
        </p:sp>
        <p:pic>
          <p:nvPicPr>
            <p:cNvPr id="8" name="Picture 7">
              <a:extLst>
                <a:ext uri="{FF2B5EF4-FFF2-40B4-BE49-F238E27FC236}">
                  <a16:creationId xmlns:a16="http://schemas.microsoft.com/office/drawing/2014/main" id="{5D53C6F1-029D-4C26-AFA4-69C38F5DDFB3}"/>
                </a:ext>
              </a:extLst>
            </p:cNvPr>
            <p:cNvPicPr>
              <a:picLocks noChangeAspect="1"/>
            </p:cNvPicPr>
            <p:nvPr/>
          </p:nvPicPr>
          <p:blipFill>
            <a:blip r:embed="rId2"/>
            <a:stretch>
              <a:fillRect/>
            </a:stretch>
          </p:blipFill>
          <p:spPr>
            <a:xfrm>
              <a:off x="1051020" y="1895075"/>
              <a:ext cx="8245269" cy="4827459"/>
            </a:xfrm>
            <a:prstGeom prst="rect">
              <a:avLst/>
            </a:prstGeom>
          </p:spPr>
        </p:pic>
      </p:grpSp>
    </p:spTree>
    <p:extLst>
      <p:ext uri="{BB962C8B-B14F-4D97-AF65-F5344CB8AC3E}">
        <p14:creationId xmlns:p14="http://schemas.microsoft.com/office/powerpoint/2010/main" val="21982127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2A326-2FA4-4390-B5FC-B8D23209E146}"/>
              </a:ext>
            </a:extLst>
          </p:cNvPr>
          <p:cNvSpPr>
            <a:spLocks noGrp="1"/>
          </p:cNvSpPr>
          <p:nvPr>
            <p:ph type="title"/>
          </p:nvPr>
        </p:nvSpPr>
        <p:spPr/>
        <p:txBody>
          <a:bodyPr/>
          <a:lstStyle/>
          <a:p>
            <a:r>
              <a:rPr lang="en-US" altLang="zh-CN" b="1" dirty="0"/>
              <a:t>3. </a:t>
            </a:r>
            <a:r>
              <a:rPr lang="zh-CN" altLang="en-US" b="1" dirty="0"/>
              <a:t>腐蚀和膨胀 </a:t>
            </a:r>
            <a:r>
              <a:rPr lang="en-US" altLang="zh-CN" b="1" dirty="0"/>
              <a:t>– </a:t>
            </a:r>
            <a:r>
              <a:rPr lang="zh-CN" altLang="en-US" b="1" dirty="0">
                <a:solidFill>
                  <a:srgbClr val="00B0F0"/>
                </a:solidFill>
              </a:rPr>
              <a:t>腐蚀（举例）</a:t>
            </a:r>
          </a:p>
        </p:txBody>
      </p:sp>
      <p:pic>
        <p:nvPicPr>
          <p:cNvPr id="3" name="Picture 2">
            <a:extLst>
              <a:ext uri="{FF2B5EF4-FFF2-40B4-BE49-F238E27FC236}">
                <a16:creationId xmlns:a16="http://schemas.microsoft.com/office/drawing/2014/main" id="{BFA1D566-0FB8-4905-B191-29C3AE5612FB}"/>
              </a:ext>
            </a:extLst>
          </p:cNvPr>
          <p:cNvPicPr>
            <a:picLocks noChangeAspect="1"/>
          </p:cNvPicPr>
          <p:nvPr/>
        </p:nvPicPr>
        <p:blipFill>
          <a:blip r:embed="rId2"/>
          <a:stretch>
            <a:fillRect/>
          </a:stretch>
        </p:blipFill>
        <p:spPr>
          <a:xfrm>
            <a:off x="2023054" y="1690688"/>
            <a:ext cx="8145892" cy="5139221"/>
          </a:xfrm>
          <a:prstGeom prst="rect">
            <a:avLst/>
          </a:prstGeom>
        </p:spPr>
      </p:pic>
    </p:spTree>
    <p:extLst>
      <p:ext uri="{BB962C8B-B14F-4D97-AF65-F5344CB8AC3E}">
        <p14:creationId xmlns:p14="http://schemas.microsoft.com/office/powerpoint/2010/main" val="28715028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2A326-2FA4-4390-B5FC-B8D23209E146}"/>
              </a:ext>
            </a:extLst>
          </p:cNvPr>
          <p:cNvSpPr>
            <a:spLocks noGrp="1"/>
          </p:cNvSpPr>
          <p:nvPr>
            <p:ph type="title"/>
          </p:nvPr>
        </p:nvSpPr>
        <p:spPr/>
        <p:txBody>
          <a:bodyPr/>
          <a:lstStyle/>
          <a:p>
            <a:r>
              <a:rPr lang="en-US" altLang="zh-CN" b="1" dirty="0"/>
              <a:t>3. </a:t>
            </a:r>
            <a:r>
              <a:rPr lang="zh-CN" altLang="en-US" b="1" dirty="0"/>
              <a:t>腐蚀和膨胀 </a:t>
            </a:r>
            <a:r>
              <a:rPr lang="en-US" altLang="zh-CN" b="1" dirty="0"/>
              <a:t>– </a:t>
            </a:r>
            <a:r>
              <a:rPr lang="zh-CN" altLang="en-US" b="1" dirty="0">
                <a:solidFill>
                  <a:srgbClr val="00B0F0"/>
                </a:solidFill>
              </a:rPr>
              <a:t>膨胀</a:t>
            </a:r>
            <a:endParaRPr lang="zh-CN" altLang="en-US" b="1"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0971732-B0DC-40E4-80E4-AFB7C58F420D}"/>
                  </a:ext>
                </a:extLst>
              </p:cNvPr>
              <p:cNvSpPr>
                <a:spLocks noGrp="1"/>
              </p:cNvSpPr>
              <p:nvPr>
                <p:ph idx="1"/>
              </p:nvPr>
            </p:nvSpPr>
            <p:spPr/>
            <p:txBody>
              <a:bodyPr/>
              <a:lstStyle/>
              <a:p>
                <a:pPr>
                  <a:lnSpc>
                    <a:spcPct val="150000"/>
                  </a:lnSpc>
                </a:pPr>
                <a:r>
                  <a:rPr lang="zh-CN" altLang="en-US" b="1" dirty="0">
                    <a:solidFill>
                      <a:srgbClr val="0070C0"/>
                    </a:solidFill>
                  </a:rPr>
                  <a:t>膨胀 </a:t>
                </a:r>
                <a:r>
                  <a:rPr lang="en-US" altLang="zh-CN" b="1" dirty="0">
                    <a:solidFill>
                      <a:srgbClr val="0070C0"/>
                    </a:solidFill>
                  </a:rPr>
                  <a:t>(Dilate)</a:t>
                </a:r>
                <a:r>
                  <a:rPr lang="zh-CN" altLang="en-US" b="1" dirty="0">
                    <a:solidFill>
                      <a:srgbClr val="0070C0"/>
                    </a:solidFill>
                  </a:rPr>
                  <a:t>：</a:t>
                </a:r>
                <a:r>
                  <a:rPr lang="zh-CN" altLang="en-US" dirty="0"/>
                  <a:t>让图像扩大</a:t>
                </a:r>
                <a:endParaRPr lang="en-US" altLang="zh-CN" dirty="0"/>
              </a:p>
              <a:p>
                <a:pPr lvl="1">
                  <a:lnSpc>
                    <a:spcPct val="150000"/>
                  </a:lnSpc>
                </a:pPr>
                <a14:m>
                  <m:oMath xmlns:m="http://schemas.openxmlformats.org/officeDocument/2006/math">
                    <m:r>
                      <a:rPr lang="en-US" altLang="zh-CN" b="0" i="1" dirty="0">
                        <a:latin typeface="Cambria Math" panose="02040503050406030204" pitchFamily="18" charset="0"/>
                      </a:rPr>
                      <m:t>𝐴</m:t>
                    </m:r>
                  </m:oMath>
                </a14:m>
                <a:r>
                  <a:rPr lang="zh-CN" altLang="en-US" dirty="0"/>
                  <a:t>和</a:t>
                </a:r>
                <a14:m>
                  <m:oMath xmlns:m="http://schemas.openxmlformats.org/officeDocument/2006/math">
                    <m:r>
                      <a:rPr lang="en-US" altLang="zh-CN" b="0" i="1" dirty="0" smtClean="0">
                        <a:latin typeface="Cambria Math" panose="02040503050406030204" pitchFamily="18" charset="0"/>
                      </a:rPr>
                      <m:t>𝐵</m:t>
                    </m:r>
                  </m:oMath>
                </a14:m>
                <a:r>
                  <a:rPr lang="zh-CN" altLang="en-US" dirty="0"/>
                  <a:t>是两个集合，</a:t>
                </a:r>
                <a:r>
                  <a:rPr lang="en-US" altLang="zh-CN" dirty="0"/>
                  <a:t> </a:t>
                </a:r>
                <a14:m>
                  <m:oMath xmlns:m="http://schemas.openxmlformats.org/officeDocument/2006/math">
                    <m:r>
                      <a:rPr lang="en-US" altLang="zh-CN" b="0" i="1" dirty="0">
                        <a:latin typeface="Cambria Math" panose="02040503050406030204" pitchFamily="18" charset="0"/>
                      </a:rPr>
                      <m:t>𝐴</m:t>
                    </m:r>
                  </m:oMath>
                </a14:m>
                <a:r>
                  <a:rPr lang="zh-CN" altLang="en-US" dirty="0"/>
                  <a:t>被</a:t>
                </a:r>
                <a14:m>
                  <m:oMath xmlns:m="http://schemas.openxmlformats.org/officeDocument/2006/math">
                    <m:r>
                      <a:rPr lang="en-US" altLang="zh-CN" b="0" i="1" dirty="0">
                        <a:latin typeface="Cambria Math" panose="02040503050406030204" pitchFamily="18" charset="0"/>
                      </a:rPr>
                      <m:t>𝐵</m:t>
                    </m:r>
                  </m:oMath>
                </a14:m>
                <a:r>
                  <a:rPr lang="zh-CN" altLang="en-US" dirty="0"/>
                  <a:t>膨胀定义为：</a:t>
                </a:r>
                <a:endParaRPr lang="en-US" altLang="zh-CN" dirty="0"/>
              </a:p>
              <a:p>
                <a:pPr marL="457200" lvl="1" indent="0">
                  <a:lnSpc>
                    <a:spcPct val="150000"/>
                  </a:lnSpc>
                  <a:buNone/>
                </a:pPr>
                <a14:m>
                  <m:oMathPara xmlns:m="http://schemas.openxmlformats.org/officeDocument/2006/math">
                    <m:oMathParaPr>
                      <m:jc m:val="centerGroup"/>
                    </m:oMathParaPr>
                    <m:oMath xmlns:m="http://schemas.openxmlformats.org/officeDocument/2006/math">
                      <m:r>
                        <a:rPr lang="en-US" altLang="zh-CN" sz="3200" b="0" i="1" smtClean="0">
                          <a:latin typeface="Cambria Math" panose="02040503050406030204" pitchFamily="18" charset="0"/>
                        </a:rPr>
                        <m:t>𝐴</m:t>
                      </m:r>
                      <m:r>
                        <a:rPr lang="en-US" altLang="zh-CN" sz="3200" i="1">
                          <a:latin typeface="Cambria Math" panose="02040503050406030204" pitchFamily="18" charset="0"/>
                          <a:ea typeface="Cambria Math" panose="02040503050406030204" pitchFamily="18" charset="0"/>
                        </a:rPr>
                        <m:t>⨁</m:t>
                      </m:r>
                      <m:r>
                        <a:rPr lang="en-US" altLang="zh-CN" sz="3200" b="0" i="1" smtClean="0">
                          <a:latin typeface="Cambria Math" panose="02040503050406030204" pitchFamily="18" charset="0"/>
                          <a:ea typeface="Cambria Math" panose="02040503050406030204" pitchFamily="18" charset="0"/>
                        </a:rPr>
                        <m:t>𝐵</m:t>
                      </m:r>
                      <m:r>
                        <a:rPr lang="en-US" altLang="zh-CN" sz="3200" b="0" i="1" smtClean="0">
                          <a:latin typeface="Cambria Math" panose="02040503050406030204" pitchFamily="18" charset="0"/>
                          <a:ea typeface="Cambria Math" panose="02040503050406030204" pitchFamily="18" charset="0"/>
                        </a:rPr>
                        <m:t>=</m:t>
                      </m:r>
                      <m:d>
                        <m:dPr>
                          <m:begChr m:val="{"/>
                          <m:endChr m:val="|"/>
                          <m:ctrlPr>
                            <a:rPr lang="en-US" altLang="zh-CN" sz="3200" b="0" i="1" smtClean="0">
                              <a:latin typeface="Cambria Math" panose="02040503050406030204" pitchFamily="18" charset="0"/>
                              <a:ea typeface="Cambria Math" panose="02040503050406030204" pitchFamily="18" charset="0"/>
                            </a:rPr>
                          </m:ctrlPr>
                        </m:dPr>
                        <m:e>
                          <m:r>
                            <a:rPr lang="en-US" altLang="zh-CN" sz="3200" b="0" i="1" smtClean="0">
                              <a:latin typeface="Cambria Math" panose="02040503050406030204" pitchFamily="18" charset="0"/>
                              <a:ea typeface="Cambria Math" panose="02040503050406030204" pitchFamily="18" charset="0"/>
                            </a:rPr>
                            <m:t>𝑧</m:t>
                          </m:r>
                        </m:e>
                      </m:d>
                      <m:sSub>
                        <m:sSubPr>
                          <m:ctrlPr>
                            <a:rPr lang="en-US" altLang="zh-CN" sz="3200" b="0" i="1" smtClean="0">
                              <a:latin typeface="Cambria Math" panose="02040503050406030204" pitchFamily="18" charset="0"/>
                              <a:ea typeface="Cambria Math" panose="02040503050406030204" pitchFamily="18" charset="0"/>
                            </a:rPr>
                          </m:ctrlPr>
                        </m:sSubPr>
                        <m:e>
                          <m:r>
                            <a:rPr lang="en-US" altLang="zh-CN" sz="3200" b="0" i="1" smtClean="0">
                              <a:latin typeface="Cambria Math" panose="02040503050406030204" pitchFamily="18" charset="0"/>
                              <a:ea typeface="Cambria Math" panose="02040503050406030204" pitchFamily="18" charset="0"/>
                            </a:rPr>
                            <m:t>(</m:t>
                          </m:r>
                          <m:acc>
                            <m:accPr>
                              <m:chr m:val="̂"/>
                              <m:ctrlPr>
                                <a:rPr lang="en-US" altLang="zh-CN" sz="3200" b="0" i="1" smtClean="0">
                                  <a:latin typeface="Cambria Math" panose="02040503050406030204" pitchFamily="18" charset="0"/>
                                  <a:ea typeface="Cambria Math" panose="02040503050406030204" pitchFamily="18" charset="0"/>
                                </a:rPr>
                              </m:ctrlPr>
                            </m:accPr>
                            <m:e>
                              <m:r>
                                <a:rPr lang="en-US" altLang="zh-CN" sz="3200" i="1">
                                  <a:latin typeface="Cambria Math" panose="02040503050406030204" pitchFamily="18" charset="0"/>
                                  <a:ea typeface="Cambria Math" panose="02040503050406030204" pitchFamily="18" charset="0"/>
                                </a:rPr>
                                <m:t>𝐵</m:t>
                              </m:r>
                            </m:e>
                          </m:acc>
                          <m:r>
                            <a:rPr lang="en-US" altLang="zh-CN" sz="3200" b="0" i="1" smtClean="0">
                              <a:latin typeface="Cambria Math" panose="02040503050406030204" pitchFamily="18" charset="0"/>
                              <a:ea typeface="Cambria Math" panose="02040503050406030204" pitchFamily="18" charset="0"/>
                            </a:rPr>
                            <m:t>)</m:t>
                          </m:r>
                        </m:e>
                        <m:sub>
                          <m:r>
                            <a:rPr lang="en-US" altLang="zh-CN" sz="3200" b="0" i="1" smtClean="0">
                              <a:latin typeface="Cambria Math" panose="02040503050406030204" pitchFamily="18" charset="0"/>
                              <a:ea typeface="Cambria Math" panose="02040503050406030204" pitchFamily="18" charset="0"/>
                            </a:rPr>
                            <m:t>𝑧</m:t>
                          </m:r>
                        </m:sub>
                      </m:sSub>
                      <m:r>
                        <a:rPr lang="en-US" altLang="zh-CN" sz="3200" b="0" i="1" smtClean="0">
                          <a:latin typeface="Cambria Math" panose="02040503050406030204" pitchFamily="18" charset="0"/>
                          <a:ea typeface="Cambria Math" panose="02040503050406030204" pitchFamily="18" charset="0"/>
                        </a:rPr>
                        <m:t>∩</m:t>
                      </m:r>
                      <m:r>
                        <a:rPr lang="en-US" altLang="zh-CN" sz="3200" b="0" i="1" smtClean="0">
                          <a:latin typeface="Cambria Math" panose="02040503050406030204" pitchFamily="18" charset="0"/>
                          <a:ea typeface="Cambria Math" panose="02040503050406030204" pitchFamily="18" charset="0"/>
                        </a:rPr>
                        <m:t>𝐴</m:t>
                      </m:r>
                      <m:r>
                        <a:rPr lang="en-US" altLang="zh-CN" sz="3200" b="0" i="1" smtClean="0">
                          <a:latin typeface="Cambria Math" panose="02040503050406030204" pitchFamily="18" charset="0"/>
                          <a:ea typeface="Cambria Math" panose="02040503050406030204" pitchFamily="18" charset="0"/>
                        </a:rPr>
                        <m:t>≠∅}</m:t>
                      </m:r>
                    </m:oMath>
                  </m:oMathPara>
                </a14:m>
                <a:endParaRPr lang="en-US" altLang="zh-CN" sz="3200" dirty="0"/>
              </a:p>
              <a:p>
                <a:pPr lvl="2">
                  <a:lnSpc>
                    <a:spcPct val="150000"/>
                  </a:lnSpc>
                </a:pPr>
                <a:r>
                  <a:rPr lang="zh-CN" altLang="en-US" sz="2800" dirty="0"/>
                  <a:t>上式表示：</a:t>
                </a:r>
                <a:r>
                  <a:rPr lang="en-US" altLang="zh-CN" sz="2800" dirty="0">
                    <a:ea typeface="Cambria Math" panose="02040503050406030204" pitchFamily="18" charset="0"/>
                  </a:rPr>
                  <a:t> </a:t>
                </a:r>
                <a14:m>
                  <m:oMath xmlns:m="http://schemas.openxmlformats.org/officeDocument/2006/math">
                    <m:r>
                      <a:rPr lang="en-US" altLang="zh-CN" sz="2800" i="1">
                        <a:latin typeface="Cambria Math" panose="02040503050406030204" pitchFamily="18" charset="0"/>
                        <a:ea typeface="Cambria Math" panose="02040503050406030204" pitchFamily="18" charset="0"/>
                      </a:rPr>
                      <m:t>𝐵</m:t>
                    </m:r>
                  </m:oMath>
                </a14:m>
                <a:r>
                  <a:rPr lang="zh-CN" altLang="en-US" sz="2800" dirty="0"/>
                  <a:t>的反射进行平移与</a:t>
                </a:r>
                <a14:m>
                  <m:oMath xmlns:m="http://schemas.openxmlformats.org/officeDocument/2006/math">
                    <m:r>
                      <a:rPr lang="en-US" altLang="zh-CN" sz="2800" i="1">
                        <a:latin typeface="Cambria Math" panose="02040503050406030204" pitchFamily="18" charset="0"/>
                        <a:ea typeface="Cambria Math" panose="02040503050406030204" pitchFamily="18" charset="0"/>
                      </a:rPr>
                      <m:t>𝐴</m:t>
                    </m:r>
                  </m:oMath>
                </a14:m>
                <a:r>
                  <a:rPr lang="zh-CN" altLang="en-US" sz="2800" dirty="0"/>
                  <a:t>的交集不为空</a:t>
                </a:r>
                <a:endParaRPr lang="en-US" altLang="zh-CN" sz="2800" dirty="0"/>
              </a:p>
              <a:p>
                <a:pPr lvl="2">
                  <a:lnSpc>
                    <a:spcPct val="150000"/>
                  </a:lnSpc>
                </a:pPr>
                <a14:m>
                  <m:oMath xmlns:m="http://schemas.openxmlformats.org/officeDocument/2006/math">
                    <m:r>
                      <a:rPr lang="en-US" altLang="zh-CN" sz="2800" i="1">
                        <a:latin typeface="Cambria Math" panose="02040503050406030204" pitchFamily="18" charset="0"/>
                        <a:ea typeface="Cambria Math" panose="02040503050406030204" pitchFamily="18" charset="0"/>
                      </a:rPr>
                      <m:t>𝐵</m:t>
                    </m:r>
                  </m:oMath>
                </a14:m>
                <a:r>
                  <a:rPr lang="zh-CN" altLang="en-US" sz="2800" dirty="0"/>
                  <a:t>的反射：相对于自身原点的映像</a:t>
                </a:r>
                <a:endParaRPr lang="en-US" altLang="zh-CN" sz="2800" dirty="0"/>
              </a:p>
              <a:p>
                <a:pPr lvl="2">
                  <a:lnSpc>
                    <a:spcPct val="150000"/>
                  </a:lnSpc>
                </a:pPr>
                <a14:m>
                  <m:oMath xmlns:m="http://schemas.openxmlformats.org/officeDocument/2006/math">
                    <m:acc>
                      <m:accPr>
                        <m:chr m:val="̂"/>
                        <m:ctrlPr>
                          <a:rPr lang="en-US" altLang="zh-CN" sz="2800" i="1">
                            <a:latin typeface="Cambria Math" panose="02040503050406030204" pitchFamily="18" charset="0"/>
                            <a:ea typeface="Cambria Math" panose="02040503050406030204" pitchFamily="18" charset="0"/>
                          </a:rPr>
                        </m:ctrlPr>
                      </m:accPr>
                      <m:e>
                        <m:r>
                          <a:rPr lang="en-US" altLang="zh-CN" sz="2800" i="1">
                            <a:latin typeface="Cambria Math" panose="02040503050406030204" pitchFamily="18" charset="0"/>
                            <a:ea typeface="Cambria Math" panose="02040503050406030204" pitchFamily="18" charset="0"/>
                          </a:rPr>
                          <m:t>𝐵</m:t>
                        </m:r>
                      </m:e>
                    </m:acc>
                  </m:oMath>
                </a14:m>
                <a:r>
                  <a:rPr lang="zh-CN" altLang="en-US" sz="2800" dirty="0"/>
                  <a:t>的平移：对</a:t>
                </a:r>
                <a14:m>
                  <m:oMath xmlns:m="http://schemas.openxmlformats.org/officeDocument/2006/math">
                    <m:r>
                      <a:rPr lang="en-US" altLang="zh-CN" sz="2800" i="1">
                        <a:latin typeface="Cambria Math" panose="02040503050406030204" pitchFamily="18" charset="0"/>
                        <a:ea typeface="Cambria Math" panose="02040503050406030204" pitchFamily="18" charset="0"/>
                      </a:rPr>
                      <m:t>𝐵</m:t>
                    </m:r>
                  </m:oMath>
                </a14:m>
                <a:r>
                  <a:rPr lang="zh-CN" altLang="en-US" sz="2800" dirty="0"/>
                  <a:t>的反射进行位移</a:t>
                </a:r>
                <a:endParaRPr lang="en-US" altLang="zh-CN" sz="2800" dirty="0"/>
              </a:p>
            </p:txBody>
          </p:sp>
        </mc:Choice>
        <mc:Fallback xmlns="">
          <p:sp>
            <p:nvSpPr>
              <p:cNvPr id="3" name="Content Placeholder 2">
                <a:extLst>
                  <a:ext uri="{FF2B5EF4-FFF2-40B4-BE49-F238E27FC236}">
                    <a16:creationId xmlns:a16="http://schemas.microsoft.com/office/drawing/2014/main" id="{60971732-B0DC-40E4-80E4-AFB7C58F420D}"/>
                  </a:ext>
                </a:extLst>
              </p:cNvPr>
              <p:cNvSpPr>
                <a:spLocks noGrp="1" noRot="1" noChangeAspect="1" noMove="1" noResize="1" noEditPoints="1" noAdjustHandles="1" noChangeArrowheads="1" noChangeShapeType="1" noTextEdit="1"/>
              </p:cNvSpPr>
              <p:nvPr>
                <p:ph idx="1"/>
              </p:nvPr>
            </p:nvSpPr>
            <p:spPr>
              <a:blipFill>
                <a:blip r:embed="rId2"/>
                <a:stretch>
                  <a:fillRect l="-104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628591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2A326-2FA4-4390-B5FC-B8D23209E146}"/>
              </a:ext>
            </a:extLst>
          </p:cNvPr>
          <p:cNvSpPr>
            <a:spLocks noGrp="1"/>
          </p:cNvSpPr>
          <p:nvPr>
            <p:ph type="title"/>
          </p:nvPr>
        </p:nvSpPr>
        <p:spPr/>
        <p:txBody>
          <a:bodyPr/>
          <a:lstStyle/>
          <a:p>
            <a:r>
              <a:rPr lang="en-US" altLang="zh-CN" b="1" dirty="0"/>
              <a:t>3. </a:t>
            </a:r>
            <a:r>
              <a:rPr lang="zh-CN" altLang="en-US" b="1" dirty="0"/>
              <a:t>腐蚀和膨胀 </a:t>
            </a:r>
            <a:r>
              <a:rPr lang="en-US" altLang="zh-CN" b="1" dirty="0"/>
              <a:t>– </a:t>
            </a:r>
            <a:r>
              <a:rPr lang="zh-CN" altLang="en-US" b="1" dirty="0">
                <a:solidFill>
                  <a:srgbClr val="00B0F0"/>
                </a:solidFill>
              </a:rPr>
              <a:t>膨胀</a:t>
            </a:r>
            <a:endParaRPr lang="zh-CN" altLang="en-US" b="1"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0971732-B0DC-40E4-80E4-AFB7C58F420D}"/>
                  </a:ext>
                </a:extLst>
              </p:cNvPr>
              <p:cNvSpPr>
                <a:spLocks noGrp="1"/>
              </p:cNvSpPr>
              <p:nvPr>
                <p:ph idx="1"/>
              </p:nvPr>
            </p:nvSpPr>
            <p:spPr/>
            <p:txBody>
              <a:bodyPr/>
              <a:lstStyle/>
              <a:p>
                <a:pPr>
                  <a:lnSpc>
                    <a:spcPct val="150000"/>
                  </a:lnSpc>
                </a:pPr>
                <a:r>
                  <a:rPr lang="zh-CN" altLang="en-US" b="1" dirty="0">
                    <a:solidFill>
                      <a:srgbClr val="0070C0"/>
                    </a:solidFill>
                  </a:rPr>
                  <a:t>膨胀 </a:t>
                </a:r>
                <a:r>
                  <a:rPr lang="en-US" altLang="zh-CN" b="1" dirty="0">
                    <a:solidFill>
                      <a:srgbClr val="0070C0"/>
                    </a:solidFill>
                  </a:rPr>
                  <a:t>(Dilate)</a:t>
                </a:r>
                <a:r>
                  <a:rPr lang="zh-CN" altLang="en-US" b="1" dirty="0">
                    <a:solidFill>
                      <a:srgbClr val="0070C0"/>
                    </a:solidFill>
                  </a:rPr>
                  <a:t>：</a:t>
                </a:r>
                <a:r>
                  <a:rPr lang="zh-CN" altLang="en-US" dirty="0"/>
                  <a:t>让图像扩大</a:t>
                </a:r>
                <a:endParaRPr lang="en-US" altLang="zh-CN" dirty="0"/>
              </a:p>
              <a:p>
                <a:pPr lvl="1">
                  <a:lnSpc>
                    <a:spcPct val="150000"/>
                  </a:lnSpc>
                </a:pPr>
                <a14:m>
                  <m:oMath xmlns:m="http://schemas.openxmlformats.org/officeDocument/2006/math">
                    <m:r>
                      <a:rPr lang="zh-CN" altLang="en-US" sz="2800" b="0" i="1" dirty="0" smtClean="0">
                        <a:latin typeface="Cambria Math" panose="02040503050406030204" pitchFamily="18" charset="0"/>
                      </a:rPr>
                      <m:t>另外</m:t>
                    </m:r>
                  </m:oMath>
                </a14:m>
                <a:r>
                  <a:rPr lang="zh-CN" altLang="en-US" sz="2800" dirty="0"/>
                  <a:t>一个定义：</a:t>
                </a:r>
                <a:endParaRPr lang="en-US" altLang="zh-CN" sz="2800" dirty="0"/>
              </a:p>
              <a:p>
                <a:pPr marL="457200" lvl="1" indent="0">
                  <a:lnSpc>
                    <a:spcPct val="150000"/>
                  </a:lnSpc>
                  <a:buNone/>
                </a:pPr>
                <a14:m>
                  <m:oMathPara xmlns:m="http://schemas.openxmlformats.org/officeDocument/2006/math">
                    <m:oMathParaPr>
                      <m:jc m:val="centerGroup"/>
                    </m:oMathParaPr>
                    <m:oMath xmlns:m="http://schemas.openxmlformats.org/officeDocument/2006/math">
                      <m:r>
                        <a:rPr lang="en-US" altLang="zh-CN" sz="3200" b="0" i="1" smtClean="0">
                          <a:latin typeface="Cambria Math" panose="02040503050406030204" pitchFamily="18" charset="0"/>
                        </a:rPr>
                        <m:t>𝐴</m:t>
                      </m:r>
                      <m:r>
                        <a:rPr lang="en-US" altLang="zh-CN" sz="3200" i="1">
                          <a:latin typeface="Cambria Math" panose="02040503050406030204" pitchFamily="18" charset="0"/>
                          <a:ea typeface="Cambria Math" panose="02040503050406030204" pitchFamily="18" charset="0"/>
                        </a:rPr>
                        <m:t>⨁</m:t>
                      </m:r>
                      <m:r>
                        <a:rPr lang="en-US" altLang="zh-CN" sz="3200" b="0" i="1" smtClean="0">
                          <a:latin typeface="Cambria Math" panose="02040503050406030204" pitchFamily="18" charset="0"/>
                          <a:ea typeface="Cambria Math" panose="02040503050406030204" pitchFamily="18" charset="0"/>
                        </a:rPr>
                        <m:t>𝐵</m:t>
                      </m:r>
                      <m:r>
                        <a:rPr lang="en-US" altLang="zh-CN" sz="3200" b="0" i="1" smtClean="0">
                          <a:latin typeface="Cambria Math" panose="02040503050406030204" pitchFamily="18" charset="0"/>
                          <a:ea typeface="Cambria Math" panose="02040503050406030204" pitchFamily="18" charset="0"/>
                        </a:rPr>
                        <m:t>=</m:t>
                      </m:r>
                      <m:d>
                        <m:dPr>
                          <m:begChr m:val="{"/>
                          <m:endChr m:val="|"/>
                          <m:ctrlPr>
                            <a:rPr lang="en-US" altLang="zh-CN" sz="3200" b="0" i="1" smtClean="0">
                              <a:latin typeface="Cambria Math" panose="02040503050406030204" pitchFamily="18" charset="0"/>
                              <a:ea typeface="Cambria Math" panose="02040503050406030204" pitchFamily="18" charset="0"/>
                            </a:rPr>
                          </m:ctrlPr>
                        </m:dPr>
                        <m:e>
                          <m:r>
                            <a:rPr lang="en-US" altLang="zh-CN" sz="3200" b="0" i="1" smtClean="0">
                              <a:latin typeface="Cambria Math" panose="02040503050406030204" pitchFamily="18" charset="0"/>
                              <a:ea typeface="Cambria Math" panose="02040503050406030204" pitchFamily="18" charset="0"/>
                            </a:rPr>
                            <m:t>𝑧</m:t>
                          </m:r>
                        </m:e>
                      </m:d>
                      <m:sSub>
                        <m:sSubPr>
                          <m:ctrlPr>
                            <a:rPr lang="en-US" altLang="zh-CN" sz="3200" b="0" i="1" smtClean="0">
                              <a:latin typeface="Cambria Math" panose="02040503050406030204" pitchFamily="18" charset="0"/>
                              <a:ea typeface="Cambria Math" panose="02040503050406030204" pitchFamily="18" charset="0"/>
                            </a:rPr>
                          </m:ctrlPr>
                        </m:sSubPr>
                        <m:e>
                          <m:r>
                            <a:rPr lang="en-US" altLang="zh-CN" sz="3200" b="0" i="1" smtClean="0">
                              <a:latin typeface="Cambria Math" panose="02040503050406030204" pitchFamily="18" charset="0"/>
                              <a:ea typeface="Cambria Math" panose="02040503050406030204" pitchFamily="18" charset="0"/>
                            </a:rPr>
                            <m:t>(</m:t>
                          </m:r>
                          <m:acc>
                            <m:accPr>
                              <m:chr m:val="̂"/>
                              <m:ctrlPr>
                                <a:rPr lang="en-US" altLang="zh-CN" sz="3200" b="0" i="1" smtClean="0">
                                  <a:latin typeface="Cambria Math" panose="02040503050406030204" pitchFamily="18" charset="0"/>
                                  <a:ea typeface="Cambria Math" panose="02040503050406030204" pitchFamily="18" charset="0"/>
                                </a:rPr>
                              </m:ctrlPr>
                            </m:accPr>
                            <m:e>
                              <m:r>
                                <a:rPr lang="en-US" altLang="zh-CN" sz="3200" i="1">
                                  <a:latin typeface="Cambria Math" panose="02040503050406030204" pitchFamily="18" charset="0"/>
                                  <a:ea typeface="Cambria Math" panose="02040503050406030204" pitchFamily="18" charset="0"/>
                                </a:rPr>
                                <m:t>𝐵</m:t>
                              </m:r>
                            </m:e>
                          </m:acc>
                          <m:r>
                            <a:rPr lang="en-US" altLang="zh-CN" sz="3200" b="0" i="1" smtClean="0">
                              <a:latin typeface="Cambria Math" panose="02040503050406030204" pitchFamily="18" charset="0"/>
                              <a:ea typeface="Cambria Math" panose="02040503050406030204" pitchFamily="18" charset="0"/>
                            </a:rPr>
                            <m:t>)</m:t>
                          </m:r>
                        </m:e>
                        <m:sub>
                          <m:r>
                            <a:rPr lang="en-US" altLang="zh-CN" sz="3200" b="0" i="1" smtClean="0">
                              <a:latin typeface="Cambria Math" panose="02040503050406030204" pitchFamily="18" charset="0"/>
                              <a:ea typeface="Cambria Math" panose="02040503050406030204" pitchFamily="18" charset="0"/>
                            </a:rPr>
                            <m:t>𝑧</m:t>
                          </m:r>
                        </m:sub>
                      </m:sSub>
                      <m:r>
                        <a:rPr lang="en-US" altLang="zh-CN" sz="3200" b="0" i="1" smtClean="0">
                          <a:latin typeface="Cambria Math" panose="02040503050406030204" pitchFamily="18" charset="0"/>
                          <a:ea typeface="Cambria Math" panose="02040503050406030204" pitchFamily="18" charset="0"/>
                        </a:rPr>
                        <m:t>∩</m:t>
                      </m:r>
                      <m:r>
                        <a:rPr lang="en-US" altLang="zh-CN" sz="3200" b="0" i="1" smtClean="0">
                          <a:latin typeface="Cambria Math" panose="02040503050406030204" pitchFamily="18" charset="0"/>
                          <a:ea typeface="Cambria Math" panose="02040503050406030204" pitchFamily="18" charset="0"/>
                        </a:rPr>
                        <m:t>𝐴</m:t>
                      </m:r>
                      <m:r>
                        <a:rPr lang="en-US" altLang="zh-CN" sz="3200" b="0" i="1" smtClean="0">
                          <a:latin typeface="Cambria Math" panose="02040503050406030204" pitchFamily="18" charset="0"/>
                          <a:ea typeface="Cambria Math" panose="02040503050406030204" pitchFamily="18" charset="0"/>
                        </a:rPr>
                        <m:t>⊆</m:t>
                      </m:r>
                      <m:r>
                        <a:rPr lang="en-US" altLang="zh-CN" sz="3200" b="0" i="1" smtClean="0">
                          <a:latin typeface="Cambria Math" panose="02040503050406030204" pitchFamily="18" charset="0"/>
                          <a:ea typeface="Cambria Math" panose="02040503050406030204" pitchFamily="18" charset="0"/>
                        </a:rPr>
                        <m:t>𝐴</m:t>
                      </m:r>
                      <m:r>
                        <a:rPr lang="en-US" altLang="zh-CN" sz="3200" b="0" i="1" smtClean="0">
                          <a:latin typeface="Cambria Math" panose="02040503050406030204" pitchFamily="18" charset="0"/>
                          <a:ea typeface="Cambria Math" panose="02040503050406030204" pitchFamily="18" charset="0"/>
                        </a:rPr>
                        <m:t>}</m:t>
                      </m:r>
                    </m:oMath>
                  </m:oMathPara>
                </a14:m>
                <a:endParaRPr lang="en-US" altLang="zh-CN" sz="3200" dirty="0"/>
              </a:p>
              <a:p>
                <a:pPr lvl="2">
                  <a:lnSpc>
                    <a:spcPct val="150000"/>
                  </a:lnSpc>
                </a:pPr>
                <a14:m>
                  <m:oMath xmlns:m="http://schemas.openxmlformats.org/officeDocument/2006/math">
                    <m:r>
                      <a:rPr lang="en-US" altLang="zh-CN" sz="2800" i="1">
                        <a:latin typeface="Cambria Math" panose="02040503050406030204" pitchFamily="18" charset="0"/>
                        <a:ea typeface="Cambria Math" panose="02040503050406030204" pitchFamily="18" charset="0"/>
                      </a:rPr>
                      <m:t>𝐵</m:t>
                    </m:r>
                  </m:oMath>
                </a14:m>
                <a:r>
                  <a:rPr lang="zh-CN" altLang="en-US" sz="2800" dirty="0"/>
                  <a:t>的反射进行平移与</a:t>
                </a:r>
                <a14:m>
                  <m:oMath xmlns:m="http://schemas.openxmlformats.org/officeDocument/2006/math">
                    <m:r>
                      <a:rPr lang="en-US" altLang="zh-CN" sz="2800" i="1">
                        <a:latin typeface="Cambria Math" panose="02040503050406030204" pitchFamily="18" charset="0"/>
                        <a:ea typeface="Cambria Math" panose="02040503050406030204" pitchFamily="18" charset="0"/>
                      </a:rPr>
                      <m:t>𝐴</m:t>
                    </m:r>
                  </m:oMath>
                </a14:m>
                <a:r>
                  <a:rPr lang="zh-CN" altLang="en-US" sz="2800" dirty="0"/>
                  <a:t>的交集是</a:t>
                </a:r>
                <a14:m>
                  <m:oMath xmlns:m="http://schemas.openxmlformats.org/officeDocument/2006/math">
                    <m:r>
                      <a:rPr lang="en-US" altLang="zh-CN" sz="2800" i="1">
                        <a:latin typeface="Cambria Math" panose="02040503050406030204" pitchFamily="18" charset="0"/>
                        <a:ea typeface="Cambria Math" panose="02040503050406030204" pitchFamily="18" charset="0"/>
                      </a:rPr>
                      <m:t>𝐴</m:t>
                    </m:r>
                  </m:oMath>
                </a14:m>
                <a:r>
                  <a:rPr lang="zh-CN" altLang="en-US" sz="2800" dirty="0"/>
                  <a:t>的子集</a:t>
                </a:r>
                <a:endParaRPr lang="en-US" altLang="zh-CN" sz="2800" dirty="0"/>
              </a:p>
            </p:txBody>
          </p:sp>
        </mc:Choice>
        <mc:Fallback xmlns="">
          <p:sp>
            <p:nvSpPr>
              <p:cNvPr id="3" name="Content Placeholder 2">
                <a:extLst>
                  <a:ext uri="{FF2B5EF4-FFF2-40B4-BE49-F238E27FC236}">
                    <a16:creationId xmlns:a16="http://schemas.microsoft.com/office/drawing/2014/main" id="{60971732-B0DC-40E4-80E4-AFB7C58F420D}"/>
                  </a:ext>
                </a:extLst>
              </p:cNvPr>
              <p:cNvSpPr>
                <a:spLocks noGrp="1" noRot="1" noChangeAspect="1" noMove="1" noResize="1" noEditPoints="1" noAdjustHandles="1" noChangeArrowheads="1" noChangeShapeType="1" noTextEdit="1"/>
              </p:cNvSpPr>
              <p:nvPr>
                <p:ph idx="1"/>
              </p:nvPr>
            </p:nvSpPr>
            <p:spPr>
              <a:blipFill>
                <a:blip r:embed="rId2"/>
                <a:stretch>
                  <a:fillRect l="-104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633367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2A326-2FA4-4390-B5FC-B8D23209E146}"/>
              </a:ext>
            </a:extLst>
          </p:cNvPr>
          <p:cNvSpPr>
            <a:spLocks noGrp="1"/>
          </p:cNvSpPr>
          <p:nvPr>
            <p:ph type="title"/>
          </p:nvPr>
        </p:nvSpPr>
        <p:spPr/>
        <p:txBody>
          <a:bodyPr/>
          <a:lstStyle/>
          <a:p>
            <a:r>
              <a:rPr lang="en-US" altLang="zh-CN" b="1" dirty="0"/>
              <a:t>3. </a:t>
            </a:r>
            <a:r>
              <a:rPr lang="zh-CN" altLang="en-US" b="1" dirty="0"/>
              <a:t>腐蚀和膨胀 </a:t>
            </a:r>
            <a:r>
              <a:rPr lang="en-US" altLang="zh-CN" b="1" dirty="0"/>
              <a:t>– </a:t>
            </a:r>
            <a:r>
              <a:rPr lang="zh-CN" altLang="en-US" b="1" dirty="0">
                <a:solidFill>
                  <a:srgbClr val="00B0F0"/>
                </a:solidFill>
              </a:rPr>
              <a:t>膨胀</a:t>
            </a:r>
            <a:endParaRPr lang="zh-CN" altLang="en-US" b="1" dirty="0"/>
          </a:p>
        </p:txBody>
      </p:sp>
      <p:pic>
        <p:nvPicPr>
          <p:cNvPr id="4" name="Picture 3">
            <a:extLst>
              <a:ext uri="{FF2B5EF4-FFF2-40B4-BE49-F238E27FC236}">
                <a16:creationId xmlns:a16="http://schemas.microsoft.com/office/drawing/2014/main" id="{CE48B9A9-A9AE-4BE8-B5E8-BF47D11C09C7}"/>
              </a:ext>
            </a:extLst>
          </p:cNvPr>
          <p:cNvPicPr>
            <a:picLocks noChangeAspect="1"/>
          </p:cNvPicPr>
          <p:nvPr/>
        </p:nvPicPr>
        <p:blipFill>
          <a:blip r:embed="rId2"/>
          <a:stretch>
            <a:fillRect/>
          </a:stretch>
        </p:blipFill>
        <p:spPr>
          <a:xfrm>
            <a:off x="2511352" y="1690688"/>
            <a:ext cx="7169295" cy="5051723"/>
          </a:xfrm>
          <a:prstGeom prst="rect">
            <a:avLst/>
          </a:prstGeom>
        </p:spPr>
      </p:pic>
    </p:spTree>
    <p:extLst>
      <p:ext uri="{BB962C8B-B14F-4D97-AF65-F5344CB8AC3E}">
        <p14:creationId xmlns:p14="http://schemas.microsoft.com/office/powerpoint/2010/main" val="10106662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2A326-2FA4-4390-B5FC-B8D23209E146}"/>
              </a:ext>
            </a:extLst>
          </p:cNvPr>
          <p:cNvSpPr>
            <a:spLocks noGrp="1"/>
          </p:cNvSpPr>
          <p:nvPr>
            <p:ph type="title"/>
          </p:nvPr>
        </p:nvSpPr>
        <p:spPr/>
        <p:txBody>
          <a:bodyPr/>
          <a:lstStyle/>
          <a:p>
            <a:r>
              <a:rPr lang="en-US" altLang="zh-CN" b="1" dirty="0"/>
              <a:t>3. </a:t>
            </a:r>
            <a:r>
              <a:rPr lang="zh-CN" altLang="en-US" b="1" dirty="0"/>
              <a:t>腐蚀和膨胀 </a:t>
            </a:r>
            <a:r>
              <a:rPr lang="en-US" altLang="zh-CN" b="1" dirty="0"/>
              <a:t>– </a:t>
            </a:r>
            <a:r>
              <a:rPr lang="zh-CN" altLang="en-US" b="1" dirty="0">
                <a:solidFill>
                  <a:srgbClr val="00B0F0"/>
                </a:solidFill>
              </a:rPr>
              <a:t>膨胀（举例）</a:t>
            </a:r>
            <a:endParaRPr lang="zh-CN" altLang="en-US" b="1" dirty="0"/>
          </a:p>
        </p:txBody>
      </p:sp>
      <p:pic>
        <p:nvPicPr>
          <p:cNvPr id="3" name="Picture 2">
            <a:extLst>
              <a:ext uri="{FF2B5EF4-FFF2-40B4-BE49-F238E27FC236}">
                <a16:creationId xmlns:a16="http://schemas.microsoft.com/office/drawing/2014/main" id="{149ACAC0-1AD2-47C5-B479-A2F25301FCCE}"/>
              </a:ext>
            </a:extLst>
          </p:cNvPr>
          <p:cNvPicPr>
            <a:picLocks noChangeAspect="1"/>
          </p:cNvPicPr>
          <p:nvPr/>
        </p:nvPicPr>
        <p:blipFill>
          <a:blip r:embed="rId2"/>
          <a:stretch>
            <a:fillRect/>
          </a:stretch>
        </p:blipFill>
        <p:spPr>
          <a:xfrm>
            <a:off x="1118586" y="1900103"/>
            <a:ext cx="9954827" cy="4508105"/>
          </a:xfrm>
          <a:prstGeom prst="rect">
            <a:avLst/>
          </a:prstGeom>
        </p:spPr>
      </p:pic>
    </p:spTree>
    <p:extLst>
      <p:ext uri="{BB962C8B-B14F-4D97-AF65-F5344CB8AC3E}">
        <p14:creationId xmlns:p14="http://schemas.microsoft.com/office/powerpoint/2010/main" val="2000617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6B41B-4D3A-4336-ACA0-B7AC8A2325B2}"/>
              </a:ext>
            </a:extLst>
          </p:cNvPr>
          <p:cNvSpPr>
            <a:spLocks noGrp="1"/>
          </p:cNvSpPr>
          <p:nvPr>
            <p:ph type="title"/>
          </p:nvPr>
        </p:nvSpPr>
        <p:spPr/>
        <p:txBody>
          <a:bodyPr/>
          <a:lstStyle/>
          <a:p>
            <a:r>
              <a:rPr lang="en-US" altLang="zh-CN" b="1" dirty="0"/>
              <a:t>3. </a:t>
            </a:r>
            <a:r>
              <a:rPr lang="zh-CN" altLang="en-US" b="1" dirty="0"/>
              <a:t>腐蚀和膨胀 </a:t>
            </a:r>
            <a:r>
              <a:rPr lang="en-US" altLang="zh-CN" b="1" dirty="0"/>
              <a:t>–</a:t>
            </a:r>
            <a:r>
              <a:rPr lang="zh-CN" altLang="en-US" b="1" dirty="0">
                <a:solidFill>
                  <a:srgbClr val="00B0F0"/>
                </a:solidFill>
              </a:rPr>
              <a:t>应用举例</a:t>
            </a:r>
            <a:endParaRPr lang="zh-CN" altLang="en-US" b="1" dirty="0"/>
          </a:p>
        </p:txBody>
      </p:sp>
      <p:sp>
        <p:nvSpPr>
          <p:cNvPr id="3" name="Content Placeholder 2">
            <a:extLst>
              <a:ext uri="{FF2B5EF4-FFF2-40B4-BE49-F238E27FC236}">
                <a16:creationId xmlns:a16="http://schemas.microsoft.com/office/drawing/2014/main" id="{4706DF2E-81DC-4022-B458-BAC671B049FC}"/>
              </a:ext>
            </a:extLst>
          </p:cNvPr>
          <p:cNvSpPr>
            <a:spLocks noGrp="1"/>
          </p:cNvSpPr>
          <p:nvPr>
            <p:ph idx="1"/>
          </p:nvPr>
        </p:nvSpPr>
        <p:spPr/>
        <p:txBody>
          <a:bodyPr/>
          <a:lstStyle/>
          <a:p>
            <a:endParaRPr lang="zh-CN" altLang="en-US"/>
          </a:p>
        </p:txBody>
      </p:sp>
      <p:pic>
        <p:nvPicPr>
          <p:cNvPr id="5" name="Picture 4">
            <a:extLst>
              <a:ext uri="{FF2B5EF4-FFF2-40B4-BE49-F238E27FC236}">
                <a16:creationId xmlns:a16="http://schemas.microsoft.com/office/drawing/2014/main" id="{24F01C41-89A1-4B64-A874-00C128D1B8F6}"/>
              </a:ext>
            </a:extLst>
          </p:cNvPr>
          <p:cNvPicPr>
            <a:picLocks noChangeAspect="1"/>
          </p:cNvPicPr>
          <p:nvPr/>
        </p:nvPicPr>
        <p:blipFill>
          <a:blip r:embed="rId2"/>
          <a:stretch>
            <a:fillRect/>
          </a:stretch>
        </p:blipFill>
        <p:spPr>
          <a:xfrm>
            <a:off x="1774669" y="2093912"/>
            <a:ext cx="8642661" cy="3814763"/>
          </a:xfrm>
          <a:prstGeom prst="rect">
            <a:avLst/>
          </a:prstGeom>
        </p:spPr>
      </p:pic>
    </p:spTree>
    <p:extLst>
      <p:ext uri="{BB962C8B-B14F-4D97-AF65-F5344CB8AC3E}">
        <p14:creationId xmlns:p14="http://schemas.microsoft.com/office/powerpoint/2010/main" val="30246692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9FCD7-CABB-480A-A450-9F7C6C989C4A}"/>
              </a:ext>
            </a:extLst>
          </p:cNvPr>
          <p:cNvSpPr>
            <a:spLocks noGrp="1"/>
          </p:cNvSpPr>
          <p:nvPr>
            <p:ph type="title"/>
          </p:nvPr>
        </p:nvSpPr>
        <p:spPr/>
        <p:txBody>
          <a:bodyPr/>
          <a:lstStyle/>
          <a:p>
            <a:r>
              <a:rPr lang="en-US" altLang="zh-CN" b="1" dirty="0"/>
              <a:t>3. </a:t>
            </a:r>
            <a:r>
              <a:rPr lang="zh-CN" altLang="en-US" b="1" dirty="0"/>
              <a:t>腐蚀和膨胀 </a:t>
            </a:r>
            <a:r>
              <a:rPr lang="en-US" altLang="zh-CN" b="1" dirty="0"/>
              <a:t>– </a:t>
            </a:r>
            <a:r>
              <a:rPr lang="zh-CN" altLang="en-US" b="1" dirty="0">
                <a:solidFill>
                  <a:srgbClr val="00B0F0"/>
                </a:solidFill>
              </a:rPr>
              <a:t>对偶性</a:t>
            </a:r>
          </a:p>
        </p:txBody>
      </p:sp>
      <p:sp>
        <p:nvSpPr>
          <p:cNvPr id="3" name="Content Placeholder 2">
            <a:extLst>
              <a:ext uri="{FF2B5EF4-FFF2-40B4-BE49-F238E27FC236}">
                <a16:creationId xmlns:a16="http://schemas.microsoft.com/office/drawing/2014/main" id="{0D2858A2-ED15-45D6-9D14-81FE3AE313B5}"/>
              </a:ext>
            </a:extLst>
          </p:cNvPr>
          <p:cNvSpPr>
            <a:spLocks noGrp="1"/>
          </p:cNvSpPr>
          <p:nvPr>
            <p:ph idx="1"/>
          </p:nvPr>
        </p:nvSpPr>
        <p:spPr/>
        <p:txBody>
          <a:bodyPr/>
          <a:lstStyle/>
          <a:p>
            <a:r>
              <a:rPr lang="zh-CN" altLang="en-US" dirty="0"/>
              <a:t>腐蚀和膨胀相对于补集和反射彼此对偶：</a:t>
            </a:r>
            <a:endParaRPr lang="en-US" altLang="zh-CN" dirty="0"/>
          </a:p>
          <a:p>
            <a:endParaRPr lang="zh-CN" altLang="en-US" dirty="0"/>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5E466C35-3B2A-4F08-84FB-2B32765F988A}"/>
                  </a:ext>
                </a:extLst>
              </p:cNvPr>
              <p:cNvSpPr/>
              <p:nvPr/>
            </p:nvSpPr>
            <p:spPr>
              <a:xfrm>
                <a:off x="3590487" y="2388394"/>
                <a:ext cx="4706225" cy="1040606"/>
              </a:xfrm>
              <a:prstGeom prst="rect">
                <a:avLst/>
              </a:prstGeom>
            </p:spPr>
            <p:txBody>
              <a:bodyPr wrap="none">
                <a:spAutoFit/>
              </a:bodyPr>
              <a:lstStyle/>
              <a:p>
                <a:pPr lvl="1">
                  <a:lnSpc>
                    <a:spcPct val="150000"/>
                  </a:lnSpc>
                </a:pPr>
                <a14:m>
                  <m:oMathPara xmlns:m="http://schemas.openxmlformats.org/officeDocument/2006/math">
                    <m:oMathParaPr>
                      <m:jc m:val="centerGroup"/>
                    </m:oMathParaPr>
                    <m:oMath xmlns:m="http://schemas.openxmlformats.org/officeDocument/2006/math">
                      <m:sSup>
                        <m:sSupPr>
                          <m:ctrlPr>
                            <a:rPr lang="en-US" altLang="zh-CN" sz="4000" i="1" smtClean="0">
                              <a:latin typeface="Cambria Math" panose="02040503050406030204" pitchFamily="18" charset="0"/>
                            </a:rPr>
                          </m:ctrlPr>
                        </m:sSupPr>
                        <m:e>
                          <m:r>
                            <a:rPr lang="en-US" altLang="zh-CN" sz="4000" i="1">
                              <a:latin typeface="Cambria Math" panose="02040503050406030204" pitchFamily="18" charset="0"/>
                            </a:rPr>
                            <m:t>(</m:t>
                          </m:r>
                          <m:r>
                            <a:rPr lang="en-US" altLang="zh-CN" sz="4000" i="1">
                              <a:latin typeface="Cambria Math" panose="02040503050406030204" pitchFamily="18" charset="0"/>
                            </a:rPr>
                            <m:t>𝐴</m:t>
                          </m:r>
                          <m:r>
                            <a:rPr lang="en-US" altLang="zh-CN" sz="4000" i="1" smtClean="0">
                              <a:latin typeface="Cambria Math" panose="02040503050406030204" pitchFamily="18" charset="0"/>
                              <a:ea typeface="Cambria Math" panose="02040503050406030204" pitchFamily="18" charset="0"/>
                            </a:rPr>
                            <m:t>⨁</m:t>
                          </m:r>
                          <m:r>
                            <a:rPr lang="en-US" altLang="zh-CN" sz="4000" i="1">
                              <a:latin typeface="Cambria Math" panose="02040503050406030204" pitchFamily="18" charset="0"/>
                              <a:ea typeface="Cambria Math" panose="02040503050406030204" pitchFamily="18" charset="0"/>
                            </a:rPr>
                            <m:t>𝐵</m:t>
                          </m:r>
                          <m:r>
                            <a:rPr lang="en-US" altLang="zh-CN" sz="4000" i="1">
                              <a:latin typeface="Cambria Math" panose="02040503050406030204" pitchFamily="18" charset="0"/>
                              <a:ea typeface="Cambria Math" panose="02040503050406030204" pitchFamily="18" charset="0"/>
                            </a:rPr>
                            <m:t>)</m:t>
                          </m:r>
                        </m:e>
                        <m:sup>
                          <m:r>
                            <a:rPr lang="en-US" altLang="zh-CN" sz="4000" b="0" i="1" smtClean="0">
                              <a:latin typeface="Cambria Math" panose="02040503050406030204" pitchFamily="18" charset="0"/>
                            </a:rPr>
                            <m:t>𝑐</m:t>
                          </m:r>
                        </m:sup>
                      </m:sSup>
                      <m:r>
                        <a:rPr lang="en-US" altLang="zh-CN" sz="4000" i="1">
                          <a:latin typeface="Cambria Math" panose="02040503050406030204" pitchFamily="18" charset="0"/>
                          <a:ea typeface="Cambria Math" panose="02040503050406030204" pitchFamily="18" charset="0"/>
                        </a:rPr>
                        <m:t>=</m:t>
                      </m:r>
                      <m:sSup>
                        <m:sSupPr>
                          <m:ctrlPr>
                            <a:rPr lang="en-US" altLang="zh-CN" sz="4000" i="1" smtClean="0">
                              <a:latin typeface="Cambria Math" panose="02040503050406030204" pitchFamily="18" charset="0"/>
                              <a:ea typeface="Cambria Math" panose="02040503050406030204" pitchFamily="18" charset="0"/>
                            </a:rPr>
                          </m:ctrlPr>
                        </m:sSupPr>
                        <m:e>
                          <m:r>
                            <a:rPr lang="en-US" altLang="zh-CN" sz="4000" b="0" i="1" smtClean="0">
                              <a:latin typeface="Cambria Math" panose="02040503050406030204" pitchFamily="18" charset="0"/>
                              <a:ea typeface="Cambria Math" panose="02040503050406030204" pitchFamily="18" charset="0"/>
                            </a:rPr>
                            <m:t>𝐴</m:t>
                          </m:r>
                        </m:e>
                        <m:sup>
                          <m:r>
                            <a:rPr lang="en-US" altLang="zh-CN" sz="4000" b="0" i="1" smtClean="0">
                              <a:latin typeface="Cambria Math" panose="02040503050406030204" pitchFamily="18" charset="0"/>
                              <a:ea typeface="Cambria Math" panose="02040503050406030204" pitchFamily="18" charset="0"/>
                            </a:rPr>
                            <m:t>𝑐</m:t>
                          </m:r>
                        </m:sup>
                      </m:sSup>
                      <m:r>
                        <a:rPr lang="en-US" altLang="zh-CN" sz="4000" i="1" smtClean="0">
                          <a:latin typeface="Cambria Math" panose="02040503050406030204" pitchFamily="18" charset="0"/>
                          <a:ea typeface="Cambria Math" panose="02040503050406030204" pitchFamily="18" charset="0"/>
                        </a:rPr>
                        <m:t>⊝</m:t>
                      </m:r>
                      <m:acc>
                        <m:accPr>
                          <m:chr m:val="̂"/>
                          <m:ctrlPr>
                            <a:rPr lang="en-US" altLang="zh-CN" sz="4000" i="1" smtClean="0">
                              <a:latin typeface="Cambria Math" panose="02040503050406030204" pitchFamily="18" charset="0"/>
                              <a:ea typeface="Cambria Math" panose="02040503050406030204" pitchFamily="18" charset="0"/>
                            </a:rPr>
                          </m:ctrlPr>
                        </m:accPr>
                        <m:e>
                          <m:r>
                            <a:rPr lang="en-US" altLang="zh-CN" sz="4000" b="0" i="1" smtClean="0">
                              <a:latin typeface="Cambria Math" panose="02040503050406030204" pitchFamily="18" charset="0"/>
                              <a:ea typeface="Cambria Math" panose="02040503050406030204" pitchFamily="18" charset="0"/>
                            </a:rPr>
                            <m:t>𝐵</m:t>
                          </m:r>
                        </m:e>
                      </m:acc>
                    </m:oMath>
                  </m:oMathPara>
                </a14:m>
                <a:endParaRPr lang="en-US" altLang="zh-CN" sz="4000" dirty="0"/>
              </a:p>
            </p:txBody>
          </p:sp>
        </mc:Choice>
        <mc:Fallback xmlns="">
          <p:sp>
            <p:nvSpPr>
              <p:cNvPr id="4" name="Rectangle 3">
                <a:extLst>
                  <a:ext uri="{FF2B5EF4-FFF2-40B4-BE49-F238E27FC236}">
                    <a16:creationId xmlns:a16="http://schemas.microsoft.com/office/drawing/2014/main" id="{5E466C35-3B2A-4F08-84FB-2B32765F988A}"/>
                  </a:ext>
                </a:extLst>
              </p:cNvPr>
              <p:cNvSpPr>
                <a:spLocks noRot="1" noChangeAspect="1" noMove="1" noResize="1" noEditPoints="1" noAdjustHandles="1" noChangeArrowheads="1" noChangeShapeType="1" noTextEdit="1"/>
              </p:cNvSpPr>
              <p:nvPr/>
            </p:nvSpPr>
            <p:spPr>
              <a:xfrm>
                <a:off x="3590487" y="2388394"/>
                <a:ext cx="4706225" cy="1040606"/>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621C65B1-7ECE-4824-AD82-96A6D19DFAB4}"/>
                  </a:ext>
                </a:extLst>
              </p:cNvPr>
              <p:cNvSpPr/>
              <p:nvPr/>
            </p:nvSpPr>
            <p:spPr>
              <a:xfrm>
                <a:off x="3590486" y="3549684"/>
                <a:ext cx="4706225" cy="1040606"/>
              </a:xfrm>
              <a:prstGeom prst="rect">
                <a:avLst/>
              </a:prstGeom>
            </p:spPr>
            <p:txBody>
              <a:bodyPr wrap="none">
                <a:spAutoFit/>
              </a:bodyPr>
              <a:lstStyle/>
              <a:p>
                <a:pPr lvl="1">
                  <a:lnSpc>
                    <a:spcPct val="150000"/>
                  </a:lnSpc>
                </a:pPr>
                <a14:m>
                  <m:oMathPara xmlns:m="http://schemas.openxmlformats.org/officeDocument/2006/math">
                    <m:oMathParaPr>
                      <m:jc m:val="centerGroup"/>
                    </m:oMathParaPr>
                    <m:oMath xmlns:m="http://schemas.openxmlformats.org/officeDocument/2006/math">
                      <m:sSup>
                        <m:sSupPr>
                          <m:ctrlPr>
                            <a:rPr lang="en-US" altLang="zh-CN" sz="4000" i="1" smtClean="0">
                              <a:latin typeface="Cambria Math" panose="02040503050406030204" pitchFamily="18" charset="0"/>
                            </a:rPr>
                          </m:ctrlPr>
                        </m:sSupPr>
                        <m:e>
                          <m:r>
                            <a:rPr lang="en-US" altLang="zh-CN" sz="4000" b="0" i="1" smtClean="0">
                              <a:latin typeface="Cambria Math" panose="02040503050406030204" pitchFamily="18" charset="0"/>
                            </a:rPr>
                            <m:t>(</m:t>
                          </m:r>
                          <m:r>
                            <a:rPr lang="en-US" altLang="zh-CN" sz="4000" i="1">
                              <a:latin typeface="Cambria Math" panose="02040503050406030204" pitchFamily="18" charset="0"/>
                            </a:rPr>
                            <m:t>𝐴</m:t>
                          </m:r>
                          <m:r>
                            <a:rPr lang="en-US" altLang="zh-CN" sz="4000" i="1">
                              <a:latin typeface="Cambria Math" panose="02040503050406030204" pitchFamily="18" charset="0"/>
                              <a:ea typeface="Cambria Math" panose="02040503050406030204" pitchFamily="18" charset="0"/>
                            </a:rPr>
                            <m:t>⊝</m:t>
                          </m:r>
                          <m:r>
                            <a:rPr lang="en-US" altLang="zh-CN" sz="4000" i="1">
                              <a:latin typeface="Cambria Math" panose="02040503050406030204" pitchFamily="18" charset="0"/>
                              <a:ea typeface="Cambria Math" panose="02040503050406030204" pitchFamily="18" charset="0"/>
                            </a:rPr>
                            <m:t>𝐵</m:t>
                          </m:r>
                          <m:r>
                            <a:rPr lang="en-US" altLang="zh-CN" sz="4000" b="0" i="1" smtClean="0">
                              <a:latin typeface="Cambria Math" panose="02040503050406030204" pitchFamily="18" charset="0"/>
                              <a:ea typeface="Cambria Math" panose="02040503050406030204" pitchFamily="18" charset="0"/>
                            </a:rPr>
                            <m:t>)</m:t>
                          </m:r>
                        </m:e>
                        <m:sup>
                          <m:r>
                            <a:rPr lang="en-US" altLang="zh-CN" sz="4000" b="0" i="1" smtClean="0">
                              <a:latin typeface="Cambria Math" panose="02040503050406030204" pitchFamily="18" charset="0"/>
                            </a:rPr>
                            <m:t>𝑐</m:t>
                          </m:r>
                        </m:sup>
                      </m:sSup>
                      <m:r>
                        <a:rPr lang="en-US" altLang="zh-CN" sz="4000" i="1">
                          <a:latin typeface="Cambria Math" panose="02040503050406030204" pitchFamily="18" charset="0"/>
                          <a:ea typeface="Cambria Math" panose="02040503050406030204" pitchFamily="18" charset="0"/>
                        </a:rPr>
                        <m:t>=</m:t>
                      </m:r>
                      <m:sSup>
                        <m:sSupPr>
                          <m:ctrlPr>
                            <a:rPr lang="en-US" altLang="zh-CN" sz="4000" i="1" smtClean="0">
                              <a:latin typeface="Cambria Math" panose="02040503050406030204" pitchFamily="18" charset="0"/>
                              <a:ea typeface="Cambria Math" panose="02040503050406030204" pitchFamily="18" charset="0"/>
                            </a:rPr>
                          </m:ctrlPr>
                        </m:sSupPr>
                        <m:e>
                          <m:r>
                            <a:rPr lang="en-US" altLang="zh-CN" sz="4000" b="0" i="1" smtClean="0">
                              <a:latin typeface="Cambria Math" panose="02040503050406030204" pitchFamily="18" charset="0"/>
                              <a:ea typeface="Cambria Math" panose="02040503050406030204" pitchFamily="18" charset="0"/>
                            </a:rPr>
                            <m:t>𝐴</m:t>
                          </m:r>
                        </m:e>
                        <m:sup>
                          <m:r>
                            <a:rPr lang="en-US" altLang="zh-CN" sz="4000" b="0" i="1" smtClean="0">
                              <a:latin typeface="Cambria Math" panose="02040503050406030204" pitchFamily="18" charset="0"/>
                              <a:ea typeface="Cambria Math" panose="02040503050406030204" pitchFamily="18" charset="0"/>
                            </a:rPr>
                            <m:t>𝑐</m:t>
                          </m:r>
                        </m:sup>
                      </m:sSup>
                      <m:r>
                        <a:rPr lang="en-US" altLang="zh-CN" sz="4000" i="1" smtClean="0">
                          <a:latin typeface="Cambria Math" panose="02040503050406030204" pitchFamily="18" charset="0"/>
                          <a:ea typeface="Cambria Math" panose="02040503050406030204" pitchFamily="18" charset="0"/>
                        </a:rPr>
                        <m:t>⨁</m:t>
                      </m:r>
                      <m:acc>
                        <m:accPr>
                          <m:chr m:val="̂"/>
                          <m:ctrlPr>
                            <a:rPr lang="en-US" altLang="zh-CN" sz="4000" i="1" smtClean="0">
                              <a:latin typeface="Cambria Math" panose="02040503050406030204" pitchFamily="18" charset="0"/>
                              <a:ea typeface="Cambria Math" panose="02040503050406030204" pitchFamily="18" charset="0"/>
                            </a:rPr>
                          </m:ctrlPr>
                        </m:accPr>
                        <m:e>
                          <m:r>
                            <a:rPr lang="en-US" altLang="zh-CN" sz="4000" b="0" i="1" smtClean="0">
                              <a:latin typeface="Cambria Math" panose="02040503050406030204" pitchFamily="18" charset="0"/>
                              <a:ea typeface="Cambria Math" panose="02040503050406030204" pitchFamily="18" charset="0"/>
                            </a:rPr>
                            <m:t>𝐵</m:t>
                          </m:r>
                        </m:e>
                      </m:acc>
                    </m:oMath>
                  </m:oMathPara>
                </a14:m>
                <a:endParaRPr lang="en-US" altLang="zh-CN" sz="4000" dirty="0"/>
              </a:p>
            </p:txBody>
          </p:sp>
        </mc:Choice>
        <mc:Fallback xmlns="">
          <p:sp>
            <p:nvSpPr>
              <p:cNvPr id="5" name="Rectangle 4">
                <a:extLst>
                  <a:ext uri="{FF2B5EF4-FFF2-40B4-BE49-F238E27FC236}">
                    <a16:creationId xmlns:a16="http://schemas.microsoft.com/office/drawing/2014/main" id="{621C65B1-7ECE-4824-AD82-96A6D19DFAB4}"/>
                  </a:ext>
                </a:extLst>
              </p:cNvPr>
              <p:cNvSpPr>
                <a:spLocks noRot="1" noChangeAspect="1" noMove="1" noResize="1" noEditPoints="1" noAdjustHandles="1" noChangeArrowheads="1" noChangeShapeType="1" noTextEdit="1"/>
              </p:cNvSpPr>
              <p:nvPr/>
            </p:nvSpPr>
            <p:spPr>
              <a:xfrm>
                <a:off x="3590486" y="3549684"/>
                <a:ext cx="4706225" cy="1040606"/>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012695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9537E-6F7F-4BA7-ACF0-206FBF602A4C}"/>
              </a:ext>
            </a:extLst>
          </p:cNvPr>
          <p:cNvSpPr>
            <a:spLocks noGrp="1"/>
          </p:cNvSpPr>
          <p:nvPr>
            <p:ph type="title"/>
          </p:nvPr>
        </p:nvSpPr>
        <p:spPr/>
        <p:txBody>
          <a:bodyPr/>
          <a:lstStyle/>
          <a:p>
            <a:r>
              <a:rPr lang="en-US" altLang="zh-CN" b="1" dirty="0"/>
              <a:t>3. </a:t>
            </a:r>
            <a:r>
              <a:rPr lang="zh-CN" altLang="en-US" b="1" dirty="0"/>
              <a:t>腐蚀和膨胀</a:t>
            </a:r>
          </a:p>
        </p:txBody>
      </p:sp>
      <p:sp>
        <p:nvSpPr>
          <p:cNvPr id="3" name="Content Placeholder 2">
            <a:extLst>
              <a:ext uri="{FF2B5EF4-FFF2-40B4-BE49-F238E27FC236}">
                <a16:creationId xmlns:a16="http://schemas.microsoft.com/office/drawing/2014/main" id="{9450049D-6B61-41F7-B6C1-6F2B77E3C0FB}"/>
              </a:ext>
            </a:extLst>
          </p:cNvPr>
          <p:cNvSpPr>
            <a:spLocks noGrp="1"/>
          </p:cNvSpPr>
          <p:nvPr>
            <p:ph idx="1"/>
          </p:nvPr>
        </p:nvSpPr>
        <p:spPr/>
        <p:txBody>
          <a:bodyPr/>
          <a:lstStyle/>
          <a:p>
            <a:pPr>
              <a:lnSpc>
                <a:spcPct val="120000"/>
              </a:lnSpc>
            </a:pPr>
            <a:r>
              <a:rPr lang="zh-CN" altLang="en-US" dirty="0"/>
              <a:t>腐蚀是对图像内部作滤波处理，而膨胀是利用结构元素对图像补集进行填充，因而它是对图像外部作滤波处理。</a:t>
            </a:r>
          </a:p>
          <a:p>
            <a:pPr>
              <a:lnSpc>
                <a:spcPct val="120000"/>
              </a:lnSpc>
            </a:pPr>
            <a:r>
              <a:rPr lang="zh-CN" altLang="en-US" dirty="0"/>
              <a:t>腐蚀具有收缩图像的作用，膨胀具有扩大图像的作用。</a:t>
            </a:r>
          </a:p>
          <a:p>
            <a:pPr>
              <a:lnSpc>
                <a:spcPct val="120000"/>
              </a:lnSpc>
            </a:pPr>
            <a:endParaRPr lang="zh-CN" altLang="en-US" dirty="0"/>
          </a:p>
        </p:txBody>
      </p:sp>
      <p:sp>
        <p:nvSpPr>
          <p:cNvPr id="4" name="Rectangle 3">
            <a:extLst>
              <a:ext uri="{FF2B5EF4-FFF2-40B4-BE49-F238E27FC236}">
                <a16:creationId xmlns:a16="http://schemas.microsoft.com/office/drawing/2014/main" id="{25F5663D-4689-4245-B6F5-E05ACAA0E3A3}"/>
              </a:ext>
            </a:extLst>
          </p:cNvPr>
          <p:cNvSpPr/>
          <p:nvPr/>
        </p:nvSpPr>
        <p:spPr>
          <a:xfrm>
            <a:off x="5588000" y="6492875"/>
            <a:ext cx="6604000" cy="369332"/>
          </a:xfrm>
          <a:prstGeom prst="rect">
            <a:avLst/>
          </a:prstGeom>
        </p:spPr>
        <p:txBody>
          <a:bodyPr wrap="square">
            <a:spAutoFit/>
          </a:bodyPr>
          <a:lstStyle/>
          <a:p>
            <a:pPr algn="r"/>
            <a:r>
              <a:rPr lang="zh-CN" altLang="en-US" dirty="0">
                <a:hlinkClick r:id="rId2"/>
              </a:rPr>
              <a:t>https://docs.opencv.org/3.4/db/df6/tutorial_erosion_dilatation.html</a:t>
            </a:r>
            <a:endParaRPr lang="en-US" altLang="zh-CN" dirty="0"/>
          </a:p>
        </p:txBody>
      </p:sp>
      <p:grpSp>
        <p:nvGrpSpPr>
          <p:cNvPr id="5" name="Group 4">
            <a:extLst>
              <a:ext uri="{FF2B5EF4-FFF2-40B4-BE49-F238E27FC236}">
                <a16:creationId xmlns:a16="http://schemas.microsoft.com/office/drawing/2014/main" id="{12D90280-A258-418D-9AF3-F33B51BD1149}"/>
              </a:ext>
            </a:extLst>
          </p:cNvPr>
          <p:cNvGrpSpPr/>
          <p:nvPr/>
        </p:nvGrpSpPr>
        <p:grpSpPr>
          <a:xfrm>
            <a:off x="3426967" y="3849159"/>
            <a:ext cx="5338066" cy="1800000"/>
            <a:chOff x="3426967" y="3518959"/>
            <a:chExt cx="5338066" cy="1800000"/>
          </a:xfrm>
        </p:grpSpPr>
        <p:pic>
          <p:nvPicPr>
            <p:cNvPr id="2050" name="Picture 2" descr="Morphology_1_Tutorial_Theory_Original_Image.png">
              <a:extLst>
                <a:ext uri="{FF2B5EF4-FFF2-40B4-BE49-F238E27FC236}">
                  <a16:creationId xmlns:a16="http://schemas.microsoft.com/office/drawing/2014/main" id="{FDA850F1-4E55-42A9-820C-A1B8F490AC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6967" y="3518959"/>
              <a:ext cx="1344000" cy="18000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Morphology_1_Tutorial_Theory_Dilation.png">
              <a:extLst>
                <a:ext uri="{FF2B5EF4-FFF2-40B4-BE49-F238E27FC236}">
                  <a16:creationId xmlns:a16="http://schemas.microsoft.com/office/drawing/2014/main" id="{AF26BB4D-8321-467D-8E5B-96B68EDAA3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24000" y="3518959"/>
              <a:ext cx="1344000" cy="180000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Morphology_1_Tutorial_Theory_Erosion.png">
              <a:extLst>
                <a:ext uri="{FF2B5EF4-FFF2-40B4-BE49-F238E27FC236}">
                  <a16:creationId xmlns:a16="http://schemas.microsoft.com/office/drawing/2014/main" id="{22B8F904-0BF5-44A6-AD56-10155B19CE6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21033" y="3518959"/>
              <a:ext cx="1344000" cy="18000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6778518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F5A7C-7F6E-4536-B303-9245B4448B1B}"/>
              </a:ext>
            </a:extLst>
          </p:cNvPr>
          <p:cNvSpPr>
            <a:spLocks noGrp="1"/>
          </p:cNvSpPr>
          <p:nvPr>
            <p:ph type="title"/>
          </p:nvPr>
        </p:nvSpPr>
        <p:spPr/>
        <p:txBody>
          <a:bodyPr/>
          <a:lstStyle/>
          <a:p>
            <a:r>
              <a:rPr lang="en-US" altLang="zh-CN" b="1" dirty="0"/>
              <a:t>4. </a:t>
            </a:r>
            <a:r>
              <a:rPr lang="zh-CN" altLang="en-US" b="1" dirty="0"/>
              <a:t>开运算与闭运算</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77FE04D-EF3F-4771-B56A-68635E049A45}"/>
                  </a:ext>
                </a:extLst>
              </p:cNvPr>
              <p:cNvSpPr>
                <a:spLocks noGrp="1"/>
              </p:cNvSpPr>
              <p:nvPr>
                <p:ph idx="1"/>
              </p:nvPr>
            </p:nvSpPr>
            <p:spPr/>
            <p:txBody>
              <a:bodyPr>
                <a:normAutofit fontScale="92500" lnSpcReduction="20000"/>
              </a:bodyPr>
              <a:lstStyle/>
              <a:p>
                <a:pPr>
                  <a:lnSpc>
                    <a:spcPct val="150000"/>
                  </a:lnSpc>
                </a:pPr>
                <a:r>
                  <a:rPr lang="zh-CN" altLang="en-US" sz="3000" b="1" dirty="0">
                    <a:solidFill>
                      <a:srgbClr val="00B0F0"/>
                    </a:solidFill>
                  </a:rPr>
                  <a:t>开运算：</a:t>
                </a:r>
                <a:r>
                  <a:rPr lang="zh-CN" altLang="en-US" dirty="0"/>
                  <a:t>使图像的轮廓变得光滑，断开狭窄的间断和消除细的突出物</a:t>
                </a:r>
                <a:endParaRPr lang="en-US" altLang="zh-CN" dirty="0"/>
              </a:p>
              <a:p>
                <a:pPr lvl="1">
                  <a:lnSpc>
                    <a:spcPct val="150000"/>
                  </a:lnSpc>
                </a:pPr>
                <a:r>
                  <a:rPr lang="zh-CN" altLang="en-US" dirty="0"/>
                  <a:t>使用结构元素</a:t>
                </a:r>
                <a14:m>
                  <m:oMath xmlns:m="http://schemas.openxmlformats.org/officeDocument/2006/math">
                    <m:r>
                      <a:rPr lang="en-US" altLang="zh-CN" i="1" dirty="0">
                        <a:latin typeface="Cambria Math" panose="02040503050406030204" pitchFamily="18" charset="0"/>
                      </a:rPr>
                      <m:t>𝐵</m:t>
                    </m:r>
                  </m:oMath>
                </a14:m>
                <a:r>
                  <a:rPr lang="zh-CN" altLang="en-US" dirty="0"/>
                  <a:t>对集合</a:t>
                </a:r>
                <a14:m>
                  <m:oMath xmlns:m="http://schemas.openxmlformats.org/officeDocument/2006/math">
                    <m:r>
                      <a:rPr lang="en-US" altLang="zh-CN" i="1" dirty="0">
                        <a:latin typeface="Cambria Math" panose="02040503050406030204" pitchFamily="18" charset="0"/>
                      </a:rPr>
                      <m:t>𝐴</m:t>
                    </m:r>
                  </m:oMath>
                </a14:m>
                <a:r>
                  <a:rPr lang="zh-CN" altLang="en-US" dirty="0"/>
                  <a:t>进行开运算，定义为：</a:t>
                </a:r>
                <a:endParaRPr lang="en-US" altLang="zh-CN" dirty="0"/>
              </a:p>
              <a:p>
                <a:pPr marL="457200" lvl="1" indent="0">
                  <a:lnSpc>
                    <a:spcPct val="150000"/>
                  </a:lnSpc>
                  <a:buNone/>
                </a:pPr>
                <a14:m>
                  <m:oMathPara xmlns:m="http://schemas.openxmlformats.org/officeDocument/2006/math">
                    <m:oMathParaPr>
                      <m:jc m:val="centerGroup"/>
                    </m:oMathParaPr>
                    <m:oMath xmlns:m="http://schemas.openxmlformats.org/officeDocument/2006/math">
                      <m:r>
                        <a:rPr lang="en-US" altLang="zh-CN" sz="3200" b="0" i="1" smtClean="0">
                          <a:latin typeface="Cambria Math" panose="02040503050406030204" pitchFamily="18" charset="0"/>
                        </a:rPr>
                        <m:t>𝐴</m:t>
                      </m:r>
                      <m:r>
                        <a:rPr lang="en-US" altLang="zh-CN" sz="3200" i="1">
                          <a:latin typeface="Cambria Math" panose="02040503050406030204" pitchFamily="18" charset="0"/>
                          <a:ea typeface="Cambria Math" panose="02040503050406030204" pitchFamily="18" charset="0"/>
                        </a:rPr>
                        <m:t>∘</m:t>
                      </m:r>
                      <m:r>
                        <a:rPr lang="en-US" altLang="zh-CN" sz="3200" b="0" i="1" smtClean="0">
                          <a:latin typeface="Cambria Math" panose="02040503050406030204" pitchFamily="18" charset="0"/>
                          <a:ea typeface="Cambria Math" panose="02040503050406030204" pitchFamily="18" charset="0"/>
                        </a:rPr>
                        <m:t>𝐵</m:t>
                      </m:r>
                      <m:r>
                        <a:rPr lang="en-US" altLang="zh-CN" sz="3200" b="0" i="1" smtClean="0">
                          <a:latin typeface="Cambria Math" panose="02040503050406030204" pitchFamily="18" charset="0"/>
                          <a:ea typeface="Cambria Math" panose="02040503050406030204" pitchFamily="18" charset="0"/>
                        </a:rPr>
                        <m:t>=(</m:t>
                      </m:r>
                      <m:r>
                        <a:rPr lang="en-US" altLang="zh-CN" sz="3200" b="0" i="1" smtClean="0">
                          <a:latin typeface="Cambria Math" panose="02040503050406030204" pitchFamily="18" charset="0"/>
                          <a:ea typeface="Cambria Math" panose="02040503050406030204" pitchFamily="18" charset="0"/>
                        </a:rPr>
                        <m:t>𝐴</m:t>
                      </m:r>
                      <m:r>
                        <a:rPr lang="en-US" altLang="zh-CN" sz="3200" b="0" i="1" smtClean="0">
                          <a:latin typeface="Cambria Math" panose="02040503050406030204" pitchFamily="18" charset="0"/>
                          <a:ea typeface="Cambria Math" panose="02040503050406030204" pitchFamily="18" charset="0"/>
                        </a:rPr>
                        <m:t>⊖</m:t>
                      </m:r>
                      <m:r>
                        <a:rPr lang="en-US" altLang="zh-CN" sz="3200" b="0" i="1" smtClean="0">
                          <a:latin typeface="Cambria Math" panose="02040503050406030204" pitchFamily="18" charset="0"/>
                          <a:ea typeface="Cambria Math" panose="02040503050406030204" pitchFamily="18" charset="0"/>
                        </a:rPr>
                        <m:t>𝐵</m:t>
                      </m:r>
                      <m:r>
                        <a:rPr lang="en-US" altLang="zh-CN" sz="3200" b="0" i="1" smtClean="0">
                          <a:latin typeface="Cambria Math" panose="02040503050406030204" pitchFamily="18" charset="0"/>
                          <a:ea typeface="Cambria Math" panose="02040503050406030204" pitchFamily="18" charset="0"/>
                        </a:rPr>
                        <m:t>)⨁</m:t>
                      </m:r>
                      <m:r>
                        <a:rPr lang="en-US" altLang="zh-CN" sz="3200" b="0" i="1" smtClean="0">
                          <a:latin typeface="Cambria Math" panose="02040503050406030204" pitchFamily="18" charset="0"/>
                          <a:ea typeface="Cambria Math" panose="02040503050406030204" pitchFamily="18" charset="0"/>
                        </a:rPr>
                        <m:t>𝐵</m:t>
                      </m:r>
                    </m:oMath>
                  </m:oMathPara>
                </a14:m>
                <a:endParaRPr lang="en-US" altLang="zh-CN" sz="3200" dirty="0"/>
              </a:p>
              <a:p>
                <a:pPr>
                  <a:lnSpc>
                    <a:spcPct val="150000"/>
                  </a:lnSpc>
                </a:pPr>
                <a:r>
                  <a:rPr lang="zh-CN" altLang="en-US" sz="3000" b="1" dirty="0">
                    <a:solidFill>
                      <a:srgbClr val="00B0F0"/>
                    </a:solidFill>
                  </a:rPr>
                  <a:t>闭运算：</a:t>
                </a:r>
                <a:r>
                  <a:rPr lang="zh-CN" altLang="en-US" dirty="0"/>
                  <a:t>同样使图像的轮廓变得光滑，但与开操作相反，弥合狭窄的间断、消除孔洞，并填充轮廓线中的裂痕</a:t>
                </a:r>
                <a:endParaRPr lang="en-US" altLang="zh-CN" dirty="0"/>
              </a:p>
              <a:p>
                <a:pPr lvl="1">
                  <a:lnSpc>
                    <a:spcPct val="150000"/>
                  </a:lnSpc>
                </a:pPr>
                <a:r>
                  <a:rPr lang="zh-CN" altLang="en-US" dirty="0"/>
                  <a:t>使用结构元素</a:t>
                </a:r>
                <a14:m>
                  <m:oMath xmlns:m="http://schemas.openxmlformats.org/officeDocument/2006/math">
                    <m:r>
                      <a:rPr lang="en-US" altLang="zh-CN" i="1" dirty="0">
                        <a:latin typeface="Cambria Math" panose="02040503050406030204" pitchFamily="18" charset="0"/>
                      </a:rPr>
                      <m:t>𝐵</m:t>
                    </m:r>
                  </m:oMath>
                </a14:m>
                <a:r>
                  <a:rPr lang="zh-CN" altLang="en-US" dirty="0"/>
                  <a:t>对集合</a:t>
                </a:r>
                <a14:m>
                  <m:oMath xmlns:m="http://schemas.openxmlformats.org/officeDocument/2006/math">
                    <m:r>
                      <a:rPr lang="en-US" altLang="zh-CN" i="1" dirty="0">
                        <a:latin typeface="Cambria Math" panose="02040503050406030204" pitchFamily="18" charset="0"/>
                      </a:rPr>
                      <m:t>𝐴</m:t>
                    </m:r>
                  </m:oMath>
                </a14:m>
                <a:r>
                  <a:rPr lang="zh-CN" altLang="en-US" dirty="0"/>
                  <a:t>进行闭运算，定义为：</a:t>
                </a:r>
                <a:endParaRPr lang="en-US" altLang="zh-CN" dirty="0"/>
              </a:p>
              <a:p>
                <a:pPr marL="457200" lvl="1" indent="0">
                  <a:lnSpc>
                    <a:spcPct val="150000"/>
                  </a:lnSpc>
                  <a:buNone/>
                </a:pPr>
                <a14:m>
                  <m:oMathPara xmlns:m="http://schemas.openxmlformats.org/officeDocument/2006/math">
                    <m:oMathParaPr>
                      <m:jc m:val="centerGroup"/>
                    </m:oMathParaPr>
                    <m:oMath xmlns:m="http://schemas.openxmlformats.org/officeDocument/2006/math">
                      <m:r>
                        <a:rPr lang="en-US" altLang="zh-CN" sz="3200" i="1">
                          <a:latin typeface="Cambria Math" panose="02040503050406030204" pitchFamily="18" charset="0"/>
                        </a:rPr>
                        <m:t>𝐴</m:t>
                      </m:r>
                      <m:r>
                        <a:rPr lang="en-US" altLang="zh-CN" sz="3200" i="1">
                          <a:latin typeface="Cambria Math" panose="02040503050406030204" pitchFamily="18" charset="0"/>
                          <a:ea typeface="Cambria Math" panose="02040503050406030204" pitchFamily="18" charset="0"/>
                        </a:rPr>
                        <m:t>⋅</m:t>
                      </m:r>
                      <m:r>
                        <a:rPr lang="en-US" altLang="zh-CN" sz="3200" i="1">
                          <a:latin typeface="Cambria Math" panose="02040503050406030204" pitchFamily="18" charset="0"/>
                          <a:ea typeface="Cambria Math" panose="02040503050406030204" pitchFamily="18" charset="0"/>
                        </a:rPr>
                        <m:t>𝐵</m:t>
                      </m:r>
                      <m:r>
                        <a:rPr lang="en-US" altLang="zh-CN" sz="3200" i="1">
                          <a:latin typeface="Cambria Math" panose="02040503050406030204" pitchFamily="18" charset="0"/>
                          <a:ea typeface="Cambria Math" panose="02040503050406030204" pitchFamily="18" charset="0"/>
                        </a:rPr>
                        <m:t>=(</m:t>
                      </m:r>
                      <m:r>
                        <a:rPr lang="en-US" altLang="zh-CN" sz="3200" i="1">
                          <a:latin typeface="Cambria Math" panose="02040503050406030204" pitchFamily="18" charset="0"/>
                          <a:ea typeface="Cambria Math" panose="02040503050406030204" pitchFamily="18" charset="0"/>
                        </a:rPr>
                        <m:t>𝐴</m:t>
                      </m:r>
                      <m:r>
                        <a:rPr lang="en-US" altLang="zh-CN" sz="3200" i="1">
                          <a:latin typeface="Cambria Math" panose="02040503050406030204" pitchFamily="18" charset="0"/>
                          <a:ea typeface="Cambria Math" panose="02040503050406030204" pitchFamily="18" charset="0"/>
                        </a:rPr>
                        <m:t>⨁</m:t>
                      </m:r>
                      <m:r>
                        <a:rPr lang="en-US" altLang="zh-CN" sz="3200" i="1">
                          <a:latin typeface="Cambria Math" panose="02040503050406030204" pitchFamily="18" charset="0"/>
                          <a:ea typeface="Cambria Math" panose="02040503050406030204" pitchFamily="18" charset="0"/>
                        </a:rPr>
                        <m:t>𝐵</m:t>
                      </m:r>
                      <m:r>
                        <a:rPr lang="en-US" altLang="zh-CN" sz="3200" i="1">
                          <a:latin typeface="Cambria Math" panose="02040503050406030204" pitchFamily="18" charset="0"/>
                          <a:ea typeface="Cambria Math" panose="02040503050406030204" pitchFamily="18" charset="0"/>
                        </a:rPr>
                        <m:t>)⊖</m:t>
                      </m:r>
                      <m:r>
                        <a:rPr lang="en-US" altLang="zh-CN" sz="3200" i="1" smtClean="0">
                          <a:latin typeface="Cambria Math" panose="02040503050406030204" pitchFamily="18" charset="0"/>
                          <a:ea typeface="Cambria Math" panose="02040503050406030204" pitchFamily="18" charset="0"/>
                        </a:rPr>
                        <m:t>𝐵</m:t>
                      </m:r>
                    </m:oMath>
                  </m:oMathPara>
                </a14:m>
                <a:endParaRPr lang="en-US" altLang="zh-CN" sz="3200" dirty="0"/>
              </a:p>
              <a:p>
                <a:pPr lvl="1">
                  <a:lnSpc>
                    <a:spcPct val="150000"/>
                  </a:lnSpc>
                </a:pPr>
                <a:endParaRPr lang="en-US" altLang="zh-CN" dirty="0"/>
              </a:p>
              <a:p>
                <a:pPr lvl="1">
                  <a:lnSpc>
                    <a:spcPct val="150000"/>
                  </a:lnSpc>
                </a:pPr>
                <a:endParaRPr lang="zh-CN" altLang="en-US" dirty="0"/>
              </a:p>
            </p:txBody>
          </p:sp>
        </mc:Choice>
        <mc:Fallback xmlns="">
          <p:sp>
            <p:nvSpPr>
              <p:cNvPr id="3" name="Content Placeholder 2">
                <a:extLst>
                  <a:ext uri="{FF2B5EF4-FFF2-40B4-BE49-F238E27FC236}">
                    <a16:creationId xmlns:a16="http://schemas.microsoft.com/office/drawing/2014/main" id="{377FE04D-EF3F-4771-B56A-68635E049A45}"/>
                  </a:ext>
                </a:extLst>
              </p:cNvPr>
              <p:cNvSpPr>
                <a:spLocks noGrp="1" noRot="1" noChangeAspect="1" noMove="1" noResize="1" noEditPoints="1" noAdjustHandles="1" noChangeArrowheads="1" noChangeShapeType="1" noTextEdit="1"/>
              </p:cNvSpPr>
              <p:nvPr>
                <p:ph idx="1"/>
              </p:nvPr>
            </p:nvSpPr>
            <p:spPr>
              <a:blipFill>
                <a:blip r:embed="rId2"/>
                <a:stretch>
                  <a:fillRect l="-1043" t="-28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137580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654B3-D95D-453B-951E-E043F9D0A512}"/>
              </a:ext>
            </a:extLst>
          </p:cNvPr>
          <p:cNvSpPr>
            <a:spLocks noGrp="1"/>
          </p:cNvSpPr>
          <p:nvPr>
            <p:ph type="title"/>
          </p:nvPr>
        </p:nvSpPr>
        <p:spPr/>
        <p:txBody>
          <a:bodyPr/>
          <a:lstStyle/>
          <a:p>
            <a:r>
              <a:rPr lang="en-US" altLang="zh-CN" b="1" dirty="0"/>
              <a:t>4. </a:t>
            </a:r>
            <a:r>
              <a:rPr lang="zh-CN" altLang="en-US" b="1" dirty="0"/>
              <a:t>开运算与闭运算</a:t>
            </a:r>
            <a:endParaRPr lang="zh-CN" alt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0936869-4E47-4A3E-9478-42F511D8159B}"/>
                  </a:ext>
                </a:extLst>
              </p:cNvPr>
              <p:cNvSpPr>
                <a:spLocks noGrp="1"/>
              </p:cNvSpPr>
              <p:nvPr>
                <p:ph idx="1"/>
              </p:nvPr>
            </p:nvSpPr>
            <p:spPr>
              <a:xfrm>
                <a:off x="838200" y="1825625"/>
                <a:ext cx="5257800" cy="4351338"/>
              </a:xfrm>
            </p:spPr>
            <p:txBody>
              <a:bodyPr/>
              <a:lstStyle/>
              <a:p>
                <a:pPr>
                  <a:lnSpc>
                    <a:spcPct val="150000"/>
                  </a:lnSpc>
                </a:pPr>
                <a:r>
                  <a:rPr lang="zh-CN" altLang="en-US" b="1" dirty="0">
                    <a:solidFill>
                      <a:srgbClr val="0070C0"/>
                    </a:solidFill>
                  </a:rPr>
                  <a:t>开运算的几何解释</a:t>
                </a:r>
                <a:endParaRPr lang="en-US" altLang="zh-CN" b="1" dirty="0">
                  <a:solidFill>
                    <a:srgbClr val="0070C0"/>
                  </a:solidFill>
                </a:endParaRPr>
              </a:p>
              <a:p>
                <a:pPr lvl="1">
                  <a:lnSpc>
                    <a:spcPct val="150000"/>
                  </a:lnSpc>
                </a:pPr>
                <a14:m>
                  <m:oMath xmlns:m="http://schemas.openxmlformats.org/officeDocument/2006/math">
                    <m:r>
                      <a:rPr lang="en-US" altLang="zh-CN" i="1">
                        <a:latin typeface="Cambria Math" panose="02040503050406030204" pitchFamily="18" charset="0"/>
                      </a:rPr>
                      <m:t>𝐴</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𝐵</m:t>
                    </m:r>
                  </m:oMath>
                </a14:m>
                <a:r>
                  <a:rPr lang="zh-CN" altLang="en-US" b="1" dirty="0"/>
                  <a:t>的边界通过</a:t>
                </a:r>
                <a14:m>
                  <m:oMath xmlns:m="http://schemas.openxmlformats.org/officeDocument/2006/math">
                    <m:r>
                      <a:rPr lang="en-US" altLang="zh-CN" i="1">
                        <a:latin typeface="Cambria Math" panose="02040503050406030204" pitchFamily="18" charset="0"/>
                        <a:ea typeface="Cambria Math" panose="02040503050406030204" pitchFamily="18" charset="0"/>
                      </a:rPr>
                      <m:t>𝐵</m:t>
                    </m:r>
                  </m:oMath>
                </a14:m>
                <a:r>
                  <a:rPr lang="zh-CN" altLang="en-US" b="1" dirty="0"/>
                  <a:t>中的点完成</a:t>
                </a:r>
                <a:endParaRPr lang="en-US" altLang="zh-CN" b="1" dirty="0"/>
              </a:p>
              <a:p>
                <a:pPr lvl="1">
                  <a:lnSpc>
                    <a:spcPct val="150000"/>
                  </a:lnSpc>
                </a:pPr>
                <a14:m>
                  <m:oMath xmlns:m="http://schemas.openxmlformats.org/officeDocument/2006/math">
                    <m:r>
                      <a:rPr lang="en-US" altLang="zh-CN" i="1">
                        <a:latin typeface="Cambria Math" panose="02040503050406030204" pitchFamily="18" charset="0"/>
                        <a:ea typeface="Cambria Math" panose="02040503050406030204" pitchFamily="18" charset="0"/>
                      </a:rPr>
                      <m:t>𝐵</m:t>
                    </m:r>
                  </m:oMath>
                </a14:m>
                <a:r>
                  <a:rPr lang="zh-CN" altLang="en-US" b="1" dirty="0"/>
                  <a:t>在</a:t>
                </a:r>
                <a14:m>
                  <m:oMath xmlns:m="http://schemas.openxmlformats.org/officeDocument/2006/math">
                    <m:r>
                      <a:rPr lang="en-US" altLang="zh-CN" i="1">
                        <a:latin typeface="Cambria Math" panose="02040503050406030204" pitchFamily="18" charset="0"/>
                      </a:rPr>
                      <m:t>𝐴</m:t>
                    </m:r>
                  </m:oMath>
                </a14:m>
                <a:r>
                  <a:rPr lang="zh-CN" altLang="en-US" b="1" dirty="0"/>
                  <a:t>的边界内转动时，</a:t>
                </a:r>
                <a:r>
                  <a:rPr lang="en-US" altLang="zh-CN" dirty="0">
                    <a:ea typeface="Cambria Math" panose="02040503050406030204" pitchFamily="18" charset="0"/>
                  </a:rPr>
                  <a:t> </a:t>
                </a:r>
                <a14:m>
                  <m:oMath xmlns:m="http://schemas.openxmlformats.org/officeDocument/2006/math">
                    <m:r>
                      <a:rPr lang="en-US" altLang="zh-CN" i="1">
                        <a:latin typeface="Cambria Math" panose="02040503050406030204" pitchFamily="18" charset="0"/>
                        <a:ea typeface="Cambria Math" panose="02040503050406030204" pitchFamily="18" charset="0"/>
                      </a:rPr>
                      <m:t>𝐵</m:t>
                    </m:r>
                  </m:oMath>
                </a14:m>
                <a:r>
                  <a:rPr lang="zh-CN" altLang="en-US" b="1" dirty="0"/>
                  <a:t>中的点所能到达</a:t>
                </a:r>
                <a14:m>
                  <m:oMath xmlns:m="http://schemas.openxmlformats.org/officeDocument/2006/math">
                    <m:r>
                      <a:rPr lang="en-US" altLang="zh-CN" i="1">
                        <a:latin typeface="Cambria Math" panose="02040503050406030204" pitchFamily="18" charset="0"/>
                      </a:rPr>
                      <m:t>𝐴</m:t>
                    </m:r>
                  </m:oMath>
                </a14:m>
                <a:r>
                  <a:rPr lang="zh-CN" altLang="en-US" b="1" dirty="0"/>
                  <a:t>的边界的最远点</a:t>
                </a:r>
                <a:endParaRPr lang="en-US" altLang="zh-CN" b="1" dirty="0"/>
              </a:p>
              <a:p>
                <a:pPr lvl="1">
                  <a:lnSpc>
                    <a:spcPct val="150000"/>
                  </a:lnSpc>
                </a:pPr>
                <a:endParaRPr lang="en-US" altLang="zh-CN" b="1" dirty="0"/>
              </a:p>
              <a:p>
                <a:pPr lvl="1">
                  <a:lnSpc>
                    <a:spcPct val="150000"/>
                  </a:lnSpc>
                </a:pPr>
                <a:endParaRPr lang="zh-CN" altLang="en-US" dirty="0"/>
              </a:p>
            </p:txBody>
          </p:sp>
        </mc:Choice>
        <mc:Fallback xmlns="">
          <p:sp>
            <p:nvSpPr>
              <p:cNvPr id="3" name="Content Placeholder 2">
                <a:extLst>
                  <a:ext uri="{FF2B5EF4-FFF2-40B4-BE49-F238E27FC236}">
                    <a16:creationId xmlns:a16="http://schemas.microsoft.com/office/drawing/2014/main" id="{50936869-4E47-4A3E-9478-42F511D8159B}"/>
                  </a:ext>
                </a:extLst>
              </p:cNvPr>
              <p:cNvSpPr>
                <a:spLocks noGrp="1" noRot="1" noChangeAspect="1" noMove="1" noResize="1" noEditPoints="1" noAdjustHandles="1" noChangeArrowheads="1" noChangeShapeType="1" noTextEdit="1"/>
              </p:cNvSpPr>
              <p:nvPr>
                <p:ph idx="1"/>
              </p:nvPr>
            </p:nvSpPr>
            <p:spPr>
              <a:xfrm>
                <a:off x="838200" y="1825625"/>
                <a:ext cx="5257800" cy="4351338"/>
              </a:xfrm>
              <a:blipFill>
                <a:blip r:embed="rId2"/>
                <a:stretch>
                  <a:fillRect l="-2088" r="-162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9DC77F61-28B3-4148-AB92-904A7952FA9E}"/>
                  </a:ext>
                </a:extLst>
              </p:cNvPr>
              <p:cNvSpPr/>
              <p:nvPr/>
            </p:nvSpPr>
            <p:spPr>
              <a:xfrm>
                <a:off x="6981970" y="1825625"/>
                <a:ext cx="4305088" cy="830997"/>
              </a:xfrm>
              <a:prstGeom prst="rect">
                <a:avLst/>
              </a:prstGeom>
            </p:spPr>
            <p:txBody>
              <a:bodyPr wrap="none">
                <a:spAutoFit/>
              </a:bodyPr>
              <a:lstStyle/>
              <a:p>
                <a:pPr lvl="1">
                  <a:lnSpc>
                    <a:spcPct val="150000"/>
                  </a:lnSpc>
                </a:pPr>
                <a14:m>
                  <m:oMathPara xmlns:m="http://schemas.openxmlformats.org/officeDocument/2006/math">
                    <m:oMathParaPr>
                      <m:jc m:val="center"/>
                    </m:oMathParaPr>
                    <m:oMath xmlns:m="http://schemas.openxmlformats.org/officeDocument/2006/math">
                      <m:r>
                        <a:rPr lang="en-US" altLang="zh-CN" sz="3200" i="1" smtClean="0">
                          <a:latin typeface="Cambria Math" panose="02040503050406030204" pitchFamily="18" charset="0"/>
                        </a:rPr>
                        <m:t>𝐴</m:t>
                      </m:r>
                      <m:r>
                        <a:rPr lang="en-US" altLang="zh-CN" sz="3200" i="1">
                          <a:latin typeface="Cambria Math" panose="02040503050406030204" pitchFamily="18" charset="0"/>
                          <a:ea typeface="Cambria Math" panose="02040503050406030204" pitchFamily="18" charset="0"/>
                        </a:rPr>
                        <m:t>∘</m:t>
                      </m:r>
                      <m:r>
                        <a:rPr lang="en-US" altLang="zh-CN" sz="3200" i="1">
                          <a:latin typeface="Cambria Math" panose="02040503050406030204" pitchFamily="18" charset="0"/>
                          <a:ea typeface="Cambria Math" panose="02040503050406030204" pitchFamily="18" charset="0"/>
                        </a:rPr>
                        <m:t>𝐵</m:t>
                      </m:r>
                      <m:r>
                        <a:rPr lang="en-US" altLang="zh-CN" sz="3200" i="1">
                          <a:latin typeface="Cambria Math" panose="02040503050406030204" pitchFamily="18" charset="0"/>
                          <a:ea typeface="Cambria Math" panose="02040503050406030204" pitchFamily="18" charset="0"/>
                        </a:rPr>
                        <m:t>=(</m:t>
                      </m:r>
                      <m:r>
                        <a:rPr lang="en-US" altLang="zh-CN" sz="3200" i="1">
                          <a:latin typeface="Cambria Math" panose="02040503050406030204" pitchFamily="18" charset="0"/>
                          <a:ea typeface="Cambria Math" panose="02040503050406030204" pitchFamily="18" charset="0"/>
                        </a:rPr>
                        <m:t>𝐴</m:t>
                      </m:r>
                      <m:r>
                        <a:rPr lang="en-US" altLang="zh-CN" sz="3200" i="1">
                          <a:latin typeface="Cambria Math" panose="02040503050406030204" pitchFamily="18" charset="0"/>
                          <a:ea typeface="Cambria Math" panose="02040503050406030204" pitchFamily="18" charset="0"/>
                        </a:rPr>
                        <m:t>⊖</m:t>
                      </m:r>
                      <m:r>
                        <a:rPr lang="en-US" altLang="zh-CN" sz="3200" i="1">
                          <a:latin typeface="Cambria Math" panose="02040503050406030204" pitchFamily="18" charset="0"/>
                          <a:ea typeface="Cambria Math" panose="02040503050406030204" pitchFamily="18" charset="0"/>
                        </a:rPr>
                        <m:t>𝐵</m:t>
                      </m:r>
                      <m:r>
                        <a:rPr lang="en-US" altLang="zh-CN" sz="3200" i="1">
                          <a:latin typeface="Cambria Math" panose="02040503050406030204" pitchFamily="18" charset="0"/>
                          <a:ea typeface="Cambria Math" panose="02040503050406030204" pitchFamily="18" charset="0"/>
                        </a:rPr>
                        <m:t>)⨁</m:t>
                      </m:r>
                      <m:r>
                        <a:rPr lang="en-US" altLang="zh-CN" sz="3200" i="1">
                          <a:latin typeface="Cambria Math" panose="02040503050406030204" pitchFamily="18" charset="0"/>
                          <a:ea typeface="Cambria Math" panose="02040503050406030204" pitchFamily="18" charset="0"/>
                        </a:rPr>
                        <m:t>𝐵</m:t>
                      </m:r>
                    </m:oMath>
                  </m:oMathPara>
                </a14:m>
                <a:endParaRPr lang="en-US" altLang="zh-CN" sz="3200" dirty="0"/>
              </a:p>
            </p:txBody>
          </p:sp>
        </mc:Choice>
        <mc:Fallback xmlns="">
          <p:sp>
            <p:nvSpPr>
              <p:cNvPr id="4" name="Rectangle 3">
                <a:extLst>
                  <a:ext uri="{FF2B5EF4-FFF2-40B4-BE49-F238E27FC236}">
                    <a16:creationId xmlns:a16="http://schemas.microsoft.com/office/drawing/2014/main" id="{9DC77F61-28B3-4148-AB92-904A7952FA9E}"/>
                  </a:ext>
                </a:extLst>
              </p:cNvPr>
              <p:cNvSpPr>
                <a:spLocks noRot="1" noChangeAspect="1" noMove="1" noResize="1" noEditPoints="1" noAdjustHandles="1" noChangeArrowheads="1" noChangeShapeType="1" noTextEdit="1"/>
              </p:cNvSpPr>
              <p:nvPr/>
            </p:nvSpPr>
            <p:spPr>
              <a:xfrm>
                <a:off x="6981970" y="1825625"/>
                <a:ext cx="4305088" cy="830997"/>
              </a:xfrm>
              <a:prstGeom prst="rect">
                <a:avLst/>
              </a:prstGeom>
              <a:blipFill>
                <a:blip r:embed="rId3"/>
                <a:stretch>
                  <a:fillRect/>
                </a:stretch>
              </a:blipFill>
            </p:spPr>
            <p:txBody>
              <a:bodyPr/>
              <a:lstStyle/>
              <a:p>
                <a:r>
                  <a:rPr lang="zh-CN" altLang="en-US">
                    <a:noFill/>
                  </a:rPr>
                  <a:t> </a:t>
                </a:r>
              </a:p>
            </p:txBody>
          </p:sp>
        </mc:Fallback>
      </mc:AlternateContent>
      <p:pic>
        <p:nvPicPr>
          <p:cNvPr id="6" name="Picture 5">
            <a:extLst>
              <a:ext uri="{FF2B5EF4-FFF2-40B4-BE49-F238E27FC236}">
                <a16:creationId xmlns:a16="http://schemas.microsoft.com/office/drawing/2014/main" id="{CA1F6BF8-7075-45CC-AD24-967EBEEDDFDC}"/>
              </a:ext>
            </a:extLst>
          </p:cNvPr>
          <p:cNvPicPr>
            <a:picLocks noChangeAspect="1"/>
          </p:cNvPicPr>
          <p:nvPr/>
        </p:nvPicPr>
        <p:blipFill>
          <a:blip r:embed="rId4"/>
          <a:stretch>
            <a:fillRect/>
          </a:stretch>
        </p:blipFill>
        <p:spPr>
          <a:xfrm>
            <a:off x="6077028" y="3107265"/>
            <a:ext cx="6114972" cy="3258124"/>
          </a:xfrm>
          <a:prstGeom prst="rect">
            <a:avLst/>
          </a:prstGeom>
        </p:spPr>
      </p:pic>
    </p:spTree>
    <p:extLst>
      <p:ext uri="{BB962C8B-B14F-4D97-AF65-F5344CB8AC3E}">
        <p14:creationId xmlns:p14="http://schemas.microsoft.com/office/powerpoint/2010/main" val="12897508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654B3-D95D-453B-951E-E043F9D0A512}"/>
              </a:ext>
            </a:extLst>
          </p:cNvPr>
          <p:cNvSpPr>
            <a:spLocks noGrp="1"/>
          </p:cNvSpPr>
          <p:nvPr>
            <p:ph type="title"/>
          </p:nvPr>
        </p:nvSpPr>
        <p:spPr/>
        <p:txBody>
          <a:bodyPr/>
          <a:lstStyle/>
          <a:p>
            <a:r>
              <a:rPr lang="en-US" altLang="zh-CN" b="1" dirty="0"/>
              <a:t>4. </a:t>
            </a:r>
            <a:r>
              <a:rPr lang="zh-CN" altLang="en-US" b="1" dirty="0"/>
              <a:t>开运算与闭运算</a:t>
            </a:r>
            <a:endParaRPr lang="zh-CN" alt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0936869-4E47-4A3E-9478-42F511D8159B}"/>
                  </a:ext>
                </a:extLst>
              </p:cNvPr>
              <p:cNvSpPr>
                <a:spLocks noGrp="1"/>
              </p:cNvSpPr>
              <p:nvPr>
                <p:ph idx="1"/>
              </p:nvPr>
            </p:nvSpPr>
            <p:spPr>
              <a:xfrm>
                <a:off x="838200" y="1825625"/>
                <a:ext cx="5257800" cy="4351338"/>
              </a:xfrm>
            </p:spPr>
            <p:txBody>
              <a:bodyPr/>
              <a:lstStyle/>
              <a:p>
                <a:pPr>
                  <a:lnSpc>
                    <a:spcPct val="150000"/>
                  </a:lnSpc>
                </a:pPr>
                <a:r>
                  <a:rPr lang="zh-CN" altLang="en-US" b="1" dirty="0">
                    <a:solidFill>
                      <a:srgbClr val="0070C0"/>
                    </a:solidFill>
                  </a:rPr>
                  <a:t>闭运算的几何解释</a:t>
                </a:r>
                <a:endParaRPr lang="en-US" altLang="zh-CN" b="1" dirty="0">
                  <a:solidFill>
                    <a:srgbClr val="0070C0"/>
                  </a:solidFill>
                </a:endParaRPr>
              </a:p>
              <a:p>
                <a:pPr lvl="1">
                  <a:lnSpc>
                    <a:spcPct val="150000"/>
                  </a:lnSpc>
                </a:pPr>
                <a14:m>
                  <m:oMath xmlns:m="http://schemas.openxmlformats.org/officeDocument/2006/math">
                    <m:r>
                      <a:rPr lang="en-US" altLang="zh-CN" i="1">
                        <a:latin typeface="Cambria Math" panose="02040503050406030204" pitchFamily="18" charset="0"/>
                      </a:rPr>
                      <m:t>𝐴</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𝐵</m:t>
                    </m:r>
                  </m:oMath>
                </a14:m>
                <a:r>
                  <a:rPr lang="zh-CN" altLang="en-US" b="1" dirty="0"/>
                  <a:t>的边界通过</a:t>
                </a:r>
                <a14:m>
                  <m:oMath xmlns:m="http://schemas.openxmlformats.org/officeDocument/2006/math">
                    <m:r>
                      <a:rPr lang="en-US" altLang="zh-CN" i="1">
                        <a:latin typeface="Cambria Math" panose="02040503050406030204" pitchFamily="18" charset="0"/>
                        <a:ea typeface="Cambria Math" panose="02040503050406030204" pitchFamily="18" charset="0"/>
                      </a:rPr>
                      <m:t>𝐵</m:t>
                    </m:r>
                  </m:oMath>
                </a14:m>
                <a:r>
                  <a:rPr lang="zh-CN" altLang="en-US" b="1" dirty="0"/>
                  <a:t>中的点完成</a:t>
                </a:r>
                <a:endParaRPr lang="en-US" altLang="zh-CN" b="1" dirty="0"/>
              </a:p>
              <a:p>
                <a:pPr lvl="1">
                  <a:lnSpc>
                    <a:spcPct val="150000"/>
                  </a:lnSpc>
                </a:pPr>
                <a14:m>
                  <m:oMath xmlns:m="http://schemas.openxmlformats.org/officeDocument/2006/math">
                    <m:r>
                      <a:rPr lang="en-US" altLang="zh-CN" i="1">
                        <a:latin typeface="Cambria Math" panose="02040503050406030204" pitchFamily="18" charset="0"/>
                        <a:ea typeface="Cambria Math" panose="02040503050406030204" pitchFamily="18" charset="0"/>
                      </a:rPr>
                      <m:t>𝐵</m:t>
                    </m:r>
                  </m:oMath>
                </a14:m>
                <a:r>
                  <a:rPr lang="zh-CN" altLang="en-US" b="1" dirty="0"/>
                  <a:t>在</a:t>
                </a:r>
                <a14:m>
                  <m:oMath xmlns:m="http://schemas.openxmlformats.org/officeDocument/2006/math">
                    <m:r>
                      <a:rPr lang="en-US" altLang="zh-CN" i="1">
                        <a:latin typeface="Cambria Math" panose="02040503050406030204" pitchFamily="18" charset="0"/>
                      </a:rPr>
                      <m:t>𝐴</m:t>
                    </m:r>
                  </m:oMath>
                </a14:m>
                <a:r>
                  <a:rPr lang="zh-CN" altLang="en-US" b="1" dirty="0"/>
                  <a:t>的边界外部转动</a:t>
                </a:r>
                <a:endParaRPr lang="en-US" altLang="zh-CN" b="1" dirty="0"/>
              </a:p>
              <a:p>
                <a:pPr lvl="1">
                  <a:lnSpc>
                    <a:spcPct val="150000"/>
                  </a:lnSpc>
                </a:pPr>
                <a:endParaRPr lang="en-US" altLang="zh-CN" b="1" dirty="0"/>
              </a:p>
              <a:p>
                <a:pPr lvl="1">
                  <a:lnSpc>
                    <a:spcPct val="150000"/>
                  </a:lnSpc>
                </a:pPr>
                <a:endParaRPr lang="zh-CN" altLang="en-US" dirty="0"/>
              </a:p>
            </p:txBody>
          </p:sp>
        </mc:Choice>
        <mc:Fallback xmlns="">
          <p:sp>
            <p:nvSpPr>
              <p:cNvPr id="3" name="Content Placeholder 2">
                <a:extLst>
                  <a:ext uri="{FF2B5EF4-FFF2-40B4-BE49-F238E27FC236}">
                    <a16:creationId xmlns:a16="http://schemas.microsoft.com/office/drawing/2014/main" id="{50936869-4E47-4A3E-9478-42F511D8159B}"/>
                  </a:ext>
                </a:extLst>
              </p:cNvPr>
              <p:cNvSpPr>
                <a:spLocks noGrp="1" noRot="1" noChangeAspect="1" noMove="1" noResize="1" noEditPoints="1" noAdjustHandles="1" noChangeArrowheads="1" noChangeShapeType="1" noTextEdit="1"/>
              </p:cNvSpPr>
              <p:nvPr>
                <p:ph idx="1"/>
              </p:nvPr>
            </p:nvSpPr>
            <p:spPr>
              <a:xfrm>
                <a:off x="838200" y="1825625"/>
                <a:ext cx="5257800" cy="4351338"/>
              </a:xfrm>
              <a:blipFill>
                <a:blip r:embed="rId2"/>
                <a:stretch>
                  <a:fillRect l="-20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CDE355B7-EEB0-4BAD-8CA6-FC3E352F867A}"/>
                  </a:ext>
                </a:extLst>
              </p:cNvPr>
              <p:cNvSpPr/>
              <p:nvPr/>
            </p:nvSpPr>
            <p:spPr>
              <a:xfrm>
                <a:off x="6796518" y="1917516"/>
                <a:ext cx="4237763" cy="830997"/>
              </a:xfrm>
              <a:prstGeom prst="rect">
                <a:avLst/>
              </a:prstGeom>
            </p:spPr>
            <p:txBody>
              <a:bodyPr wrap="none">
                <a:spAutoFit/>
              </a:bodyPr>
              <a:lstStyle/>
              <a:p>
                <a:pPr lvl="1">
                  <a:lnSpc>
                    <a:spcPct val="150000"/>
                  </a:lnSpc>
                </a:pPr>
                <a14:m>
                  <m:oMathPara xmlns:m="http://schemas.openxmlformats.org/officeDocument/2006/math">
                    <m:oMathParaPr>
                      <m:jc m:val="centerGroup"/>
                    </m:oMathParaPr>
                    <m:oMath xmlns:m="http://schemas.openxmlformats.org/officeDocument/2006/math">
                      <m:r>
                        <a:rPr lang="en-US" altLang="zh-CN" sz="3200" i="1">
                          <a:latin typeface="Cambria Math" panose="02040503050406030204" pitchFamily="18" charset="0"/>
                        </a:rPr>
                        <m:t>𝐴</m:t>
                      </m:r>
                      <m:r>
                        <a:rPr lang="en-US" altLang="zh-CN" sz="3200" i="1">
                          <a:latin typeface="Cambria Math" panose="02040503050406030204" pitchFamily="18" charset="0"/>
                          <a:ea typeface="Cambria Math" panose="02040503050406030204" pitchFamily="18" charset="0"/>
                        </a:rPr>
                        <m:t>⋅</m:t>
                      </m:r>
                      <m:r>
                        <a:rPr lang="en-US" altLang="zh-CN" sz="3200" i="1">
                          <a:latin typeface="Cambria Math" panose="02040503050406030204" pitchFamily="18" charset="0"/>
                          <a:ea typeface="Cambria Math" panose="02040503050406030204" pitchFamily="18" charset="0"/>
                        </a:rPr>
                        <m:t>𝐵</m:t>
                      </m:r>
                      <m:r>
                        <a:rPr lang="en-US" altLang="zh-CN" sz="3200" i="1">
                          <a:latin typeface="Cambria Math" panose="02040503050406030204" pitchFamily="18" charset="0"/>
                          <a:ea typeface="Cambria Math" panose="02040503050406030204" pitchFamily="18" charset="0"/>
                        </a:rPr>
                        <m:t>=(</m:t>
                      </m:r>
                      <m:r>
                        <a:rPr lang="en-US" altLang="zh-CN" sz="3200" i="1">
                          <a:latin typeface="Cambria Math" panose="02040503050406030204" pitchFamily="18" charset="0"/>
                          <a:ea typeface="Cambria Math" panose="02040503050406030204" pitchFamily="18" charset="0"/>
                        </a:rPr>
                        <m:t>𝐴</m:t>
                      </m:r>
                      <m:r>
                        <a:rPr lang="en-US" altLang="zh-CN" sz="3200" i="1">
                          <a:latin typeface="Cambria Math" panose="02040503050406030204" pitchFamily="18" charset="0"/>
                          <a:ea typeface="Cambria Math" panose="02040503050406030204" pitchFamily="18" charset="0"/>
                        </a:rPr>
                        <m:t>⨁</m:t>
                      </m:r>
                      <m:r>
                        <a:rPr lang="en-US" altLang="zh-CN" sz="3200" i="1">
                          <a:latin typeface="Cambria Math" panose="02040503050406030204" pitchFamily="18" charset="0"/>
                          <a:ea typeface="Cambria Math" panose="02040503050406030204" pitchFamily="18" charset="0"/>
                        </a:rPr>
                        <m:t>𝐵</m:t>
                      </m:r>
                      <m:r>
                        <a:rPr lang="en-US" altLang="zh-CN" sz="3200" i="1">
                          <a:latin typeface="Cambria Math" panose="02040503050406030204" pitchFamily="18" charset="0"/>
                          <a:ea typeface="Cambria Math" panose="02040503050406030204" pitchFamily="18" charset="0"/>
                        </a:rPr>
                        <m:t>)⊖</m:t>
                      </m:r>
                      <m:r>
                        <a:rPr lang="en-US" altLang="zh-CN" sz="3200" i="1">
                          <a:latin typeface="Cambria Math" panose="02040503050406030204" pitchFamily="18" charset="0"/>
                          <a:ea typeface="Cambria Math" panose="02040503050406030204" pitchFamily="18" charset="0"/>
                        </a:rPr>
                        <m:t>𝐵</m:t>
                      </m:r>
                    </m:oMath>
                  </m:oMathPara>
                </a14:m>
                <a:endParaRPr lang="en-US" altLang="zh-CN" sz="3200" dirty="0"/>
              </a:p>
            </p:txBody>
          </p:sp>
        </mc:Choice>
        <mc:Fallback xmlns="">
          <p:sp>
            <p:nvSpPr>
              <p:cNvPr id="7" name="Rectangle 6">
                <a:extLst>
                  <a:ext uri="{FF2B5EF4-FFF2-40B4-BE49-F238E27FC236}">
                    <a16:creationId xmlns:a16="http://schemas.microsoft.com/office/drawing/2014/main" id="{CDE355B7-EEB0-4BAD-8CA6-FC3E352F867A}"/>
                  </a:ext>
                </a:extLst>
              </p:cNvPr>
              <p:cNvSpPr>
                <a:spLocks noRot="1" noChangeAspect="1" noMove="1" noResize="1" noEditPoints="1" noAdjustHandles="1" noChangeArrowheads="1" noChangeShapeType="1" noTextEdit="1"/>
              </p:cNvSpPr>
              <p:nvPr/>
            </p:nvSpPr>
            <p:spPr>
              <a:xfrm>
                <a:off x="6796518" y="1917516"/>
                <a:ext cx="4237763" cy="830997"/>
              </a:xfrm>
              <a:prstGeom prst="rect">
                <a:avLst/>
              </a:prstGeom>
              <a:blipFill>
                <a:blip r:embed="rId3"/>
                <a:stretch>
                  <a:fillRect/>
                </a:stretch>
              </a:blipFill>
            </p:spPr>
            <p:txBody>
              <a:bodyPr/>
              <a:lstStyle/>
              <a:p>
                <a:r>
                  <a:rPr lang="zh-CN" altLang="en-US">
                    <a:noFill/>
                  </a:rPr>
                  <a:t> </a:t>
                </a:r>
              </a:p>
            </p:txBody>
          </p:sp>
        </mc:Fallback>
      </mc:AlternateContent>
      <p:pic>
        <p:nvPicPr>
          <p:cNvPr id="8" name="Picture 7">
            <a:extLst>
              <a:ext uri="{FF2B5EF4-FFF2-40B4-BE49-F238E27FC236}">
                <a16:creationId xmlns:a16="http://schemas.microsoft.com/office/drawing/2014/main" id="{B3BA6CE8-89C7-4E7E-BCD7-6FA443833F06}"/>
              </a:ext>
            </a:extLst>
          </p:cNvPr>
          <p:cNvPicPr>
            <a:picLocks noChangeAspect="1"/>
          </p:cNvPicPr>
          <p:nvPr/>
        </p:nvPicPr>
        <p:blipFill>
          <a:blip r:embed="rId4"/>
          <a:stretch>
            <a:fillRect/>
          </a:stretch>
        </p:blipFill>
        <p:spPr>
          <a:xfrm>
            <a:off x="6189134" y="2975342"/>
            <a:ext cx="5710056" cy="3080722"/>
          </a:xfrm>
          <a:prstGeom prst="rect">
            <a:avLst/>
          </a:prstGeom>
        </p:spPr>
      </p:pic>
    </p:spTree>
    <p:extLst>
      <p:ext uri="{BB962C8B-B14F-4D97-AF65-F5344CB8AC3E}">
        <p14:creationId xmlns:p14="http://schemas.microsoft.com/office/powerpoint/2010/main" val="4826867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654B3-D95D-453B-951E-E043F9D0A512}"/>
              </a:ext>
            </a:extLst>
          </p:cNvPr>
          <p:cNvSpPr>
            <a:spLocks noGrp="1"/>
          </p:cNvSpPr>
          <p:nvPr>
            <p:ph type="title"/>
          </p:nvPr>
        </p:nvSpPr>
        <p:spPr/>
        <p:txBody>
          <a:bodyPr/>
          <a:lstStyle/>
          <a:p>
            <a:r>
              <a:rPr lang="en-US" altLang="zh-CN" b="1" dirty="0"/>
              <a:t>4. </a:t>
            </a:r>
            <a:r>
              <a:rPr lang="zh-CN" altLang="en-US" b="1" dirty="0"/>
              <a:t>开运算与闭运算</a:t>
            </a:r>
            <a:endParaRPr lang="zh-CN" altLang="en-US" dirty="0"/>
          </a:p>
        </p:txBody>
      </p:sp>
      <p:sp>
        <p:nvSpPr>
          <p:cNvPr id="5" name="Content Placeholder 4">
            <a:extLst>
              <a:ext uri="{FF2B5EF4-FFF2-40B4-BE49-F238E27FC236}">
                <a16:creationId xmlns:a16="http://schemas.microsoft.com/office/drawing/2014/main" id="{4D9DACE1-FC6A-41E4-954A-2BD643E208DA}"/>
              </a:ext>
            </a:extLst>
          </p:cNvPr>
          <p:cNvSpPr>
            <a:spLocks noGrp="1"/>
          </p:cNvSpPr>
          <p:nvPr>
            <p:ph idx="1"/>
          </p:nvPr>
        </p:nvSpPr>
        <p:spPr/>
        <p:txBody>
          <a:bodyPr/>
          <a:lstStyle/>
          <a:p>
            <a:r>
              <a:rPr lang="zh-CN" altLang="en-US" b="1" dirty="0">
                <a:solidFill>
                  <a:srgbClr val="0070C0"/>
                </a:solidFill>
              </a:rPr>
              <a:t>开运算</a:t>
            </a:r>
          </a:p>
        </p:txBody>
      </p:sp>
      <p:pic>
        <p:nvPicPr>
          <p:cNvPr id="8" name="Picture 7">
            <a:extLst>
              <a:ext uri="{FF2B5EF4-FFF2-40B4-BE49-F238E27FC236}">
                <a16:creationId xmlns:a16="http://schemas.microsoft.com/office/drawing/2014/main" id="{BB5F7467-EC25-4682-84AB-E5B2A5526E75}"/>
              </a:ext>
            </a:extLst>
          </p:cNvPr>
          <p:cNvPicPr>
            <a:picLocks noChangeAspect="1"/>
          </p:cNvPicPr>
          <p:nvPr/>
        </p:nvPicPr>
        <p:blipFill>
          <a:blip r:embed="rId2"/>
          <a:stretch>
            <a:fillRect/>
          </a:stretch>
        </p:blipFill>
        <p:spPr>
          <a:xfrm>
            <a:off x="479976" y="2922773"/>
            <a:ext cx="4863753" cy="2157041"/>
          </a:xfrm>
          <a:prstGeom prst="rect">
            <a:avLst/>
          </a:prstGeom>
        </p:spPr>
      </p:pic>
      <p:pic>
        <p:nvPicPr>
          <p:cNvPr id="9" name="Picture 8">
            <a:extLst>
              <a:ext uri="{FF2B5EF4-FFF2-40B4-BE49-F238E27FC236}">
                <a16:creationId xmlns:a16="http://schemas.microsoft.com/office/drawing/2014/main" id="{7010AA67-4550-4751-A4DA-D4A56C682612}"/>
              </a:ext>
            </a:extLst>
          </p:cNvPr>
          <p:cNvPicPr>
            <a:picLocks noChangeAspect="1"/>
          </p:cNvPicPr>
          <p:nvPr/>
        </p:nvPicPr>
        <p:blipFill>
          <a:blip r:embed="rId3"/>
          <a:stretch>
            <a:fillRect/>
          </a:stretch>
        </p:blipFill>
        <p:spPr>
          <a:xfrm>
            <a:off x="5452533" y="2137328"/>
            <a:ext cx="6581229" cy="3727929"/>
          </a:xfrm>
          <a:prstGeom prst="rect">
            <a:avLst/>
          </a:prstGeom>
        </p:spPr>
      </p:pic>
    </p:spTree>
    <p:extLst>
      <p:ext uri="{BB962C8B-B14F-4D97-AF65-F5344CB8AC3E}">
        <p14:creationId xmlns:p14="http://schemas.microsoft.com/office/powerpoint/2010/main" val="11293773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654B3-D95D-453B-951E-E043F9D0A512}"/>
              </a:ext>
            </a:extLst>
          </p:cNvPr>
          <p:cNvSpPr>
            <a:spLocks noGrp="1"/>
          </p:cNvSpPr>
          <p:nvPr>
            <p:ph type="title"/>
          </p:nvPr>
        </p:nvSpPr>
        <p:spPr/>
        <p:txBody>
          <a:bodyPr/>
          <a:lstStyle/>
          <a:p>
            <a:r>
              <a:rPr lang="en-US" altLang="zh-CN" b="1" dirty="0"/>
              <a:t>4. </a:t>
            </a:r>
            <a:r>
              <a:rPr lang="zh-CN" altLang="en-US" b="1" dirty="0"/>
              <a:t>开运算与闭运算</a:t>
            </a:r>
            <a:endParaRPr lang="zh-CN" altLang="en-US" dirty="0"/>
          </a:p>
        </p:txBody>
      </p:sp>
      <p:sp>
        <p:nvSpPr>
          <p:cNvPr id="5" name="Content Placeholder 4">
            <a:extLst>
              <a:ext uri="{FF2B5EF4-FFF2-40B4-BE49-F238E27FC236}">
                <a16:creationId xmlns:a16="http://schemas.microsoft.com/office/drawing/2014/main" id="{4D9DACE1-FC6A-41E4-954A-2BD643E208DA}"/>
              </a:ext>
            </a:extLst>
          </p:cNvPr>
          <p:cNvSpPr>
            <a:spLocks noGrp="1"/>
          </p:cNvSpPr>
          <p:nvPr>
            <p:ph idx="1"/>
          </p:nvPr>
        </p:nvSpPr>
        <p:spPr/>
        <p:txBody>
          <a:bodyPr/>
          <a:lstStyle/>
          <a:p>
            <a:r>
              <a:rPr lang="zh-CN" altLang="en-US" b="1" dirty="0">
                <a:solidFill>
                  <a:srgbClr val="0070C0"/>
                </a:solidFill>
              </a:rPr>
              <a:t>闭运算</a:t>
            </a:r>
          </a:p>
        </p:txBody>
      </p:sp>
      <p:pic>
        <p:nvPicPr>
          <p:cNvPr id="8" name="Picture 7">
            <a:extLst>
              <a:ext uri="{FF2B5EF4-FFF2-40B4-BE49-F238E27FC236}">
                <a16:creationId xmlns:a16="http://schemas.microsoft.com/office/drawing/2014/main" id="{BB5F7467-EC25-4682-84AB-E5B2A5526E75}"/>
              </a:ext>
            </a:extLst>
          </p:cNvPr>
          <p:cNvPicPr>
            <a:picLocks noChangeAspect="1"/>
          </p:cNvPicPr>
          <p:nvPr/>
        </p:nvPicPr>
        <p:blipFill>
          <a:blip r:embed="rId2"/>
          <a:stretch>
            <a:fillRect/>
          </a:stretch>
        </p:blipFill>
        <p:spPr>
          <a:xfrm>
            <a:off x="372533" y="2922773"/>
            <a:ext cx="4863753" cy="2157041"/>
          </a:xfrm>
          <a:prstGeom prst="rect">
            <a:avLst/>
          </a:prstGeom>
        </p:spPr>
      </p:pic>
      <p:pic>
        <p:nvPicPr>
          <p:cNvPr id="3" name="Picture 2">
            <a:extLst>
              <a:ext uri="{FF2B5EF4-FFF2-40B4-BE49-F238E27FC236}">
                <a16:creationId xmlns:a16="http://schemas.microsoft.com/office/drawing/2014/main" id="{EA1B08F5-3A02-4603-80A1-3A2CA43DA51D}"/>
              </a:ext>
            </a:extLst>
          </p:cNvPr>
          <p:cNvPicPr>
            <a:picLocks noChangeAspect="1"/>
          </p:cNvPicPr>
          <p:nvPr/>
        </p:nvPicPr>
        <p:blipFill>
          <a:blip r:embed="rId3"/>
          <a:stretch>
            <a:fillRect/>
          </a:stretch>
        </p:blipFill>
        <p:spPr>
          <a:xfrm>
            <a:off x="5479010" y="2329993"/>
            <a:ext cx="6340457" cy="3601435"/>
          </a:xfrm>
          <a:prstGeom prst="rect">
            <a:avLst/>
          </a:prstGeom>
        </p:spPr>
      </p:pic>
    </p:spTree>
    <p:extLst>
      <p:ext uri="{BB962C8B-B14F-4D97-AF65-F5344CB8AC3E}">
        <p14:creationId xmlns:p14="http://schemas.microsoft.com/office/powerpoint/2010/main" val="30315732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BEFA1-348B-4818-8055-0DE003D9F8C8}"/>
              </a:ext>
            </a:extLst>
          </p:cNvPr>
          <p:cNvSpPr>
            <a:spLocks noGrp="1"/>
          </p:cNvSpPr>
          <p:nvPr>
            <p:ph type="title"/>
          </p:nvPr>
        </p:nvSpPr>
        <p:spPr/>
        <p:txBody>
          <a:bodyPr/>
          <a:lstStyle/>
          <a:p>
            <a:r>
              <a:rPr lang="en-US" altLang="zh-CN" b="1" dirty="0"/>
              <a:t>4. </a:t>
            </a:r>
            <a:r>
              <a:rPr lang="zh-CN" altLang="en-US" b="1" dirty="0"/>
              <a:t>开运算与闭运算</a:t>
            </a:r>
            <a:endParaRPr lang="zh-CN" alt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46C5FBD-8EA6-4070-B1A1-C0D0EFDF0803}"/>
                  </a:ext>
                </a:extLst>
              </p:cNvPr>
              <p:cNvSpPr>
                <a:spLocks noGrp="1"/>
              </p:cNvSpPr>
              <p:nvPr>
                <p:ph idx="1"/>
              </p:nvPr>
            </p:nvSpPr>
            <p:spPr/>
            <p:txBody>
              <a:bodyPr/>
              <a:lstStyle/>
              <a:p>
                <a:pPr>
                  <a:lnSpc>
                    <a:spcPct val="120000"/>
                  </a:lnSpc>
                </a:pPr>
                <a:r>
                  <a:rPr lang="zh-CN" altLang="en-US" b="1" dirty="0">
                    <a:solidFill>
                      <a:srgbClr val="0070C0"/>
                    </a:solidFill>
                  </a:rPr>
                  <a:t>开运算</a:t>
                </a:r>
                <a:r>
                  <a:rPr lang="zh-CN" altLang="en-US" dirty="0"/>
                  <a:t>的</a:t>
                </a:r>
                <a:r>
                  <a:rPr lang="en-US" altLang="zh-CN" dirty="0"/>
                  <a:t>3</a:t>
                </a:r>
                <a:r>
                  <a:rPr lang="zh-CN" altLang="en-US" dirty="0"/>
                  <a:t>条性质</a:t>
                </a:r>
                <a:endParaRPr lang="en-US" altLang="zh-CN" dirty="0"/>
              </a:p>
              <a:p>
                <a:pPr lvl="1">
                  <a:lnSpc>
                    <a:spcPct val="120000"/>
                  </a:lnSpc>
                </a:pPr>
                <a14:m>
                  <m:oMath xmlns:m="http://schemas.openxmlformats.org/officeDocument/2006/math">
                    <m:r>
                      <a:rPr lang="en-US" altLang="zh-CN" i="1">
                        <a:latin typeface="Cambria Math" panose="02040503050406030204" pitchFamily="18" charset="0"/>
                      </a:rPr>
                      <m:t>𝐴</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𝐵</m:t>
                    </m:r>
                  </m:oMath>
                </a14:m>
                <a:r>
                  <a:rPr lang="zh-CN" altLang="en-US" dirty="0"/>
                  <a:t>是</a:t>
                </a:r>
                <a14:m>
                  <m:oMath xmlns:m="http://schemas.openxmlformats.org/officeDocument/2006/math">
                    <m:r>
                      <a:rPr lang="en-US" altLang="zh-CN" i="1">
                        <a:latin typeface="Cambria Math" panose="02040503050406030204" pitchFamily="18" charset="0"/>
                      </a:rPr>
                      <m:t>𝐴</m:t>
                    </m:r>
                  </m:oMath>
                </a14:m>
                <a:r>
                  <a:rPr lang="zh-CN" altLang="en-US" dirty="0"/>
                  <a:t>的子集合</a:t>
                </a:r>
                <a:endParaRPr lang="en-US" altLang="zh-CN" dirty="0"/>
              </a:p>
              <a:p>
                <a:pPr lvl="1">
                  <a:lnSpc>
                    <a:spcPct val="120000"/>
                  </a:lnSpc>
                </a:pPr>
                <a:r>
                  <a:rPr lang="zh-CN" altLang="en-US" dirty="0"/>
                  <a:t>如果</a:t>
                </a:r>
                <a14:m>
                  <m:oMath xmlns:m="http://schemas.openxmlformats.org/officeDocument/2006/math">
                    <m:r>
                      <a:rPr lang="en-US" altLang="zh-CN" b="0" i="1" smtClean="0">
                        <a:latin typeface="Cambria Math" panose="02040503050406030204" pitchFamily="18" charset="0"/>
                      </a:rPr>
                      <m:t>𝐶</m:t>
                    </m:r>
                  </m:oMath>
                </a14:m>
                <a:r>
                  <a:rPr lang="zh-CN" altLang="en-US" dirty="0"/>
                  <a:t>是</a:t>
                </a:r>
                <a14:m>
                  <m:oMath xmlns:m="http://schemas.openxmlformats.org/officeDocument/2006/math">
                    <m:r>
                      <a:rPr lang="en-US" altLang="zh-CN" b="0" i="1" dirty="0" smtClean="0">
                        <a:latin typeface="Cambria Math" panose="02040503050406030204" pitchFamily="18" charset="0"/>
                      </a:rPr>
                      <m:t>𝐷</m:t>
                    </m:r>
                  </m:oMath>
                </a14:m>
                <a:r>
                  <a:rPr lang="zh-CN" altLang="en-US" dirty="0"/>
                  <a:t>的子集，则 </a:t>
                </a:r>
                <a14:m>
                  <m:oMath xmlns:m="http://schemas.openxmlformats.org/officeDocument/2006/math">
                    <m:r>
                      <a:rPr lang="en-US" altLang="zh-CN" b="0" i="1" smtClean="0">
                        <a:latin typeface="Cambria Math" panose="02040503050406030204" pitchFamily="18" charset="0"/>
                      </a:rPr>
                      <m:t>𝐶</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𝐵</m:t>
                    </m:r>
                  </m:oMath>
                </a14:m>
                <a:r>
                  <a:rPr lang="zh-CN" altLang="en-US" dirty="0"/>
                  <a:t>是</a:t>
                </a:r>
                <a14:m>
                  <m:oMath xmlns:m="http://schemas.openxmlformats.org/officeDocument/2006/math">
                    <m:r>
                      <a:rPr lang="en-US" altLang="zh-CN" b="0" i="1" smtClean="0">
                        <a:latin typeface="Cambria Math" panose="02040503050406030204" pitchFamily="18" charset="0"/>
                      </a:rPr>
                      <m:t>𝐷</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𝐵</m:t>
                    </m:r>
                  </m:oMath>
                </a14:m>
                <a:r>
                  <a:rPr lang="zh-CN" altLang="en-US" dirty="0"/>
                  <a:t> 的子集</a:t>
                </a:r>
                <a:endParaRPr lang="en-US" altLang="zh-CN" dirty="0"/>
              </a:p>
              <a:p>
                <a:pPr lvl="1">
                  <a:lnSpc>
                    <a:spcPct val="120000"/>
                  </a:lnSpc>
                </a:pPr>
                <a14:m>
                  <m:oMath xmlns:m="http://schemas.openxmlformats.org/officeDocument/2006/math">
                    <m:d>
                      <m:dPr>
                        <m:ctrlPr>
                          <a:rPr lang="en-US" altLang="zh-CN" b="0" i="1" smtClean="0">
                            <a:latin typeface="Cambria Math" panose="02040503050406030204" pitchFamily="18" charset="0"/>
                          </a:rPr>
                        </m:ctrlPr>
                      </m:dPr>
                      <m:e>
                        <m:r>
                          <a:rPr lang="en-US" altLang="zh-CN" i="1">
                            <a:latin typeface="Cambria Math" panose="02040503050406030204" pitchFamily="18" charset="0"/>
                          </a:rPr>
                          <m:t>𝐴</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𝐵</m:t>
                        </m:r>
                      </m:e>
                    </m:d>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𝐵</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𝐴</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𝐵</m:t>
                    </m:r>
                  </m:oMath>
                </a14:m>
                <a:endParaRPr lang="en-US" altLang="zh-CN" dirty="0"/>
              </a:p>
              <a:p>
                <a:pPr>
                  <a:lnSpc>
                    <a:spcPct val="120000"/>
                  </a:lnSpc>
                </a:pPr>
                <a:r>
                  <a:rPr lang="zh-CN" altLang="en-US" b="1" dirty="0">
                    <a:solidFill>
                      <a:srgbClr val="0070C0"/>
                    </a:solidFill>
                  </a:rPr>
                  <a:t>闭运算</a:t>
                </a:r>
                <a:r>
                  <a:rPr lang="zh-CN" altLang="en-US" dirty="0"/>
                  <a:t>的</a:t>
                </a:r>
                <a:r>
                  <a:rPr lang="en-US" altLang="zh-CN" dirty="0"/>
                  <a:t>3</a:t>
                </a:r>
                <a:r>
                  <a:rPr lang="zh-CN" altLang="en-US" dirty="0"/>
                  <a:t>条性质</a:t>
                </a:r>
                <a:endParaRPr lang="en-US" altLang="zh-CN" dirty="0"/>
              </a:p>
              <a:p>
                <a:pPr lvl="1">
                  <a:lnSpc>
                    <a:spcPct val="120000"/>
                  </a:lnSpc>
                </a:pPr>
                <a14:m>
                  <m:oMath xmlns:m="http://schemas.openxmlformats.org/officeDocument/2006/math">
                    <m:r>
                      <a:rPr lang="en-US" altLang="zh-CN" i="1">
                        <a:latin typeface="Cambria Math" panose="02040503050406030204" pitchFamily="18" charset="0"/>
                      </a:rPr>
                      <m:t>𝐴</m:t>
                    </m:r>
                  </m:oMath>
                </a14:m>
                <a:r>
                  <a:rPr lang="zh-CN" altLang="en-US" dirty="0"/>
                  <a:t>是</a:t>
                </a:r>
                <a14:m>
                  <m:oMath xmlns:m="http://schemas.openxmlformats.org/officeDocument/2006/math">
                    <m:r>
                      <a:rPr lang="en-US" altLang="zh-CN" i="1">
                        <a:latin typeface="Cambria Math" panose="02040503050406030204" pitchFamily="18" charset="0"/>
                      </a:rPr>
                      <m:t>𝐴</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𝐵</m:t>
                    </m:r>
                  </m:oMath>
                </a14:m>
                <a:r>
                  <a:rPr lang="zh-CN" altLang="en-US" dirty="0"/>
                  <a:t>的子集合</a:t>
                </a:r>
                <a:endParaRPr lang="en-US" altLang="zh-CN" dirty="0"/>
              </a:p>
              <a:p>
                <a:pPr lvl="1">
                  <a:lnSpc>
                    <a:spcPct val="120000"/>
                  </a:lnSpc>
                </a:pPr>
                <a:r>
                  <a:rPr lang="zh-CN" altLang="en-US" dirty="0"/>
                  <a:t>如果</a:t>
                </a:r>
                <a14:m>
                  <m:oMath xmlns:m="http://schemas.openxmlformats.org/officeDocument/2006/math">
                    <m:r>
                      <a:rPr lang="en-US" altLang="zh-CN" i="1">
                        <a:latin typeface="Cambria Math" panose="02040503050406030204" pitchFamily="18" charset="0"/>
                      </a:rPr>
                      <m:t>𝐶</m:t>
                    </m:r>
                  </m:oMath>
                </a14:m>
                <a:r>
                  <a:rPr lang="zh-CN" altLang="en-US" dirty="0"/>
                  <a:t>是</a:t>
                </a:r>
                <a14:m>
                  <m:oMath xmlns:m="http://schemas.openxmlformats.org/officeDocument/2006/math">
                    <m:r>
                      <a:rPr lang="en-US" altLang="zh-CN" i="1" dirty="0">
                        <a:latin typeface="Cambria Math" panose="02040503050406030204" pitchFamily="18" charset="0"/>
                      </a:rPr>
                      <m:t>𝐷</m:t>
                    </m:r>
                  </m:oMath>
                </a14:m>
                <a:r>
                  <a:rPr lang="zh-CN" altLang="en-US" dirty="0"/>
                  <a:t>的子集，则 </a:t>
                </a:r>
                <a14:m>
                  <m:oMath xmlns:m="http://schemas.openxmlformats.org/officeDocument/2006/math">
                    <m:r>
                      <a:rPr lang="en-US" altLang="zh-CN" i="1">
                        <a:latin typeface="Cambria Math" panose="02040503050406030204" pitchFamily="18" charset="0"/>
                      </a:rPr>
                      <m:t>𝐶</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𝐵</m:t>
                    </m:r>
                  </m:oMath>
                </a14:m>
                <a:r>
                  <a:rPr lang="zh-CN" altLang="en-US" dirty="0"/>
                  <a:t>是</a:t>
                </a:r>
                <a14:m>
                  <m:oMath xmlns:m="http://schemas.openxmlformats.org/officeDocument/2006/math">
                    <m:r>
                      <a:rPr lang="en-US" altLang="zh-CN" i="1">
                        <a:latin typeface="Cambria Math" panose="02040503050406030204" pitchFamily="18" charset="0"/>
                      </a:rPr>
                      <m:t>𝐷</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𝐵</m:t>
                    </m:r>
                  </m:oMath>
                </a14:m>
                <a:r>
                  <a:rPr lang="zh-CN" altLang="en-US" dirty="0"/>
                  <a:t> 的子集</a:t>
                </a:r>
                <a:endParaRPr lang="en-US" altLang="zh-CN" dirty="0"/>
              </a:p>
              <a:p>
                <a:pPr lvl="1">
                  <a:lnSpc>
                    <a:spcPct val="120000"/>
                  </a:lnSpc>
                </a:pPr>
                <a14:m>
                  <m:oMath xmlns:m="http://schemas.openxmlformats.org/officeDocument/2006/math">
                    <m:d>
                      <m:dPr>
                        <m:ctrlPr>
                          <a:rPr lang="en-US" altLang="zh-CN" i="1">
                            <a:latin typeface="Cambria Math" panose="02040503050406030204" pitchFamily="18" charset="0"/>
                          </a:rPr>
                        </m:ctrlPr>
                      </m:dPr>
                      <m:e>
                        <m:r>
                          <a:rPr lang="en-US" altLang="zh-CN" i="1">
                            <a:latin typeface="Cambria Math" panose="02040503050406030204" pitchFamily="18" charset="0"/>
                          </a:rPr>
                          <m:t>𝐴</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𝐵</m:t>
                        </m:r>
                      </m:e>
                    </m:d>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𝐵</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𝐴</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𝐵</m:t>
                    </m:r>
                  </m:oMath>
                </a14:m>
                <a:endParaRPr lang="en-US" altLang="zh-CN" dirty="0"/>
              </a:p>
              <a:p>
                <a:pPr lvl="1">
                  <a:lnSpc>
                    <a:spcPct val="120000"/>
                  </a:lnSpc>
                </a:pPr>
                <a:endParaRPr lang="zh-CN" altLang="en-US" dirty="0"/>
              </a:p>
            </p:txBody>
          </p:sp>
        </mc:Choice>
        <mc:Fallback xmlns="">
          <p:sp>
            <p:nvSpPr>
              <p:cNvPr id="3" name="Content Placeholder 2">
                <a:extLst>
                  <a:ext uri="{FF2B5EF4-FFF2-40B4-BE49-F238E27FC236}">
                    <a16:creationId xmlns:a16="http://schemas.microsoft.com/office/drawing/2014/main" id="{D46C5FBD-8EA6-4070-B1A1-C0D0EFDF0803}"/>
                  </a:ext>
                </a:extLst>
              </p:cNvPr>
              <p:cNvSpPr>
                <a:spLocks noGrp="1" noRot="1" noChangeAspect="1" noMove="1" noResize="1" noEditPoints="1" noAdjustHandles="1" noChangeArrowheads="1" noChangeShapeType="1" noTextEdit="1"/>
              </p:cNvSpPr>
              <p:nvPr>
                <p:ph idx="1"/>
              </p:nvPr>
            </p:nvSpPr>
            <p:spPr>
              <a:blipFill>
                <a:blip r:embed="rId2"/>
                <a:stretch>
                  <a:fillRect l="-1043" t="-98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9847372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A13F3-B5BD-4850-8D94-E68885EDE4A3}"/>
              </a:ext>
            </a:extLst>
          </p:cNvPr>
          <p:cNvSpPr>
            <a:spLocks noGrp="1"/>
          </p:cNvSpPr>
          <p:nvPr>
            <p:ph type="title"/>
          </p:nvPr>
        </p:nvSpPr>
        <p:spPr/>
        <p:txBody>
          <a:bodyPr/>
          <a:lstStyle/>
          <a:p>
            <a:r>
              <a:rPr lang="en-US" altLang="zh-CN" b="1" dirty="0"/>
              <a:t>4. </a:t>
            </a:r>
            <a:r>
              <a:rPr lang="zh-CN" altLang="en-US" b="1" dirty="0"/>
              <a:t>开运算与闭运算 </a:t>
            </a:r>
            <a:r>
              <a:rPr lang="en-US" altLang="zh-CN" b="1" dirty="0">
                <a:solidFill>
                  <a:srgbClr val="0070C0"/>
                </a:solidFill>
              </a:rPr>
              <a:t>– </a:t>
            </a:r>
            <a:r>
              <a:rPr lang="zh-CN" altLang="en-US" b="1" dirty="0">
                <a:solidFill>
                  <a:srgbClr val="0070C0"/>
                </a:solidFill>
              </a:rPr>
              <a:t>应用举例</a:t>
            </a:r>
            <a:endParaRPr lang="zh-CN" altLang="en-US" dirty="0">
              <a:solidFill>
                <a:srgbClr val="0070C0"/>
              </a:solidFill>
            </a:endParaRPr>
          </a:p>
        </p:txBody>
      </p:sp>
      <p:sp>
        <p:nvSpPr>
          <p:cNvPr id="3" name="Content Placeholder 2">
            <a:extLst>
              <a:ext uri="{FF2B5EF4-FFF2-40B4-BE49-F238E27FC236}">
                <a16:creationId xmlns:a16="http://schemas.microsoft.com/office/drawing/2014/main" id="{11603C10-2CAA-4056-BFA5-9A54159B1169}"/>
              </a:ext>
            </a:extLst>
          </p:cNvPr>
          <p:cNvSpPr>
            <a:spLocks noGrp="1"/>
          </p:cNvSpPr>
          <p:nvPr>
            <p:ph idx="1"/>
          </p:nvPr>
        </p:nvSpPr>
        <p:spPr>
          <a:xfrm>
            <a:off x="6781799" y="1825624"/>
            <a:ext cx="5198533" cy="4879975"/>
          </a:xfrm>
        </p:spPr>
        <p:txBody>
          <a:bodyPr>
            <a:normAutofit fontScale="92500" lnSpcReduction="20000"/>
          </a:bodyPr>
          <a:lstStyle/>
          <a:p>
            <a:pPr>
              <a:lnSpc>
                <a:spcPct val="110000"/>
              </a:lnSpc>
            </a:pPr>
            <a:r>
              <a:rPr lang="en-US" altLang="zh-CN" dirty="0">
                <a:solidFill>
                  <a:srgbClr val="0070C0"/>
                </a:solidFill>
              </a:rPr>
              <a:t>a</a:t>
            </a:r>
            <a:r>
              <a:rPr lang="zh-CN" altLang="en-US" dirty="0">
                <a:solidFill>
                  <a:srgbClr val="0070C0"/>
                </a:solidFill>
              </a:rPr>
              <a:t>图</a:t>
            </a:r>
            <a:r>
              <a:rPr lang="zh-CN" altLang="en-US" dirty="0"/>
              <a:t>是受噪声污染的指纹二值图像，噪声为黑色背景上的亮元素和亮指纹部分的暗元素</a:t>
            </a:r>
            <a:endParaRPr lang="en-US" altLang="zh-CN" dirty="0"/>
          </a:p>
          <a:p>
            <a:pPr>
              <a:lnSpc>
                <a:spcPct val="110000"/>
              </a:lnSpc>
            </a:pPr>
            <a:r>
              <a:rPr lang="en-US" altLang="zh-CN" dirty="0">
                <a:solidFill>
                  <a:srgbClr val="0070C0"/>
                </a:solidFill>
              </a:rPr>
              <a:t>b</a:t>
            </a:r>
            <a:r>
              <a:rPr lang="zh-CN" altLang="en-US" dirty="0">
                <a:solidFill>
                  <a:srgbClr val="0070C0"/>
                </a:solidFill>
              </a:rPr>
              <a:t>图</a:t>
            </a:r>
            <a:r>
              <a:rPr lang="zh-CN" altLang="en-US" dirty="0"/>
              <a:t>是使用的结构元素</a:t>
            </a:r>
            <a:endParaRPr lang="en-US" altLang="zh-CN" dirty="0"/>
          </a:p>
          <a:p>
            <a:pPr>
              <a:lnSpc>
                <a:spcPct val="110000"/>
              </a:lnSpc>
            </a:pPr>
            <a:r>
              <a:rPr lang="en-US" altLang="zh-CN" dirty="0">
                <a:solidFill>
                  <a:srgbClr val="0070C0"/>
                </a:solidFill>
              </a:rPr>
              <a:t>c</a:t>
            </a:r>
            <a:r>
              <a:rPr lang="zh-CN" altLang="en-US" dirty="0">
                <a:solidFill>
                  <a:srgbClr val="0070C0"/>
                </a:solidFill>
              </a:rPr>
              <a:t>图</a:t>
            </a:r>
            <a:r>
              <a:rPr lang="zh-CN" altLang="en-US" dirty="0"/>
              <a:t>是使用结构元素对图</a:t>
            </a:r>
            <a:r>
              <a:rPr lang="en-US" altLang="zh-CN" dirty="0"/>
              <a:t>a</a:t>
            </a:r>
            <a:r>
              <a:rPr lang="zh-CN" altLang="en-US" dirty="0"/>
              <a:t>腐蚀的结果：黑色背景噪声消除了，指纹中的噪声尺寸增加</a:t>
            </a:r>
            <a:endParaRPr lang="en-US" altLang="zh-CN" dirty="0"/>
          </a:p>
          <a:p>
            <a:pPr>
              <a:lnSpc>
                <a:spcPct val="110000"/>
              </a:lnSpc>
            </a:pPr>
            <a:r>
              <a:rPr lang="en-US" altLang="zh-CN" dirty="0">
                <a:solidFill>
                  <a:srgbClr val="0070C0"/>
                </a:solidFill>
              </a:rPr>
              <a:t>d</a:t>
            </a:r>
            <a:r>
              <a:rPr lang="zh-CN" altLang="en-US" dirty="0">
                <a:solidFill>
                  <a:srgbClr val="0070C0"/>
                </a:solidFill>
              </a:rPr>
              <a:t>图</a:t>
            </a:r>
            <a:r>
              <a:rPr lang="zh-CN" altLang="en-US" dirty="0"/>
              <a:t>是使用结构元素对图</a:t>
            </a:r>
            <a:r>
              <a:rPr lang="en-US" altLang="zh-CN" dirty="0"/>
              <a:t>c</a:t>
            </a:r>
            <a:r>
              <a:rPr lang="zh-CN" altLang="en-US" dirty="0"/>
              <a:t>膨胀的结果：包含于指纹中的噪声分量的尺寸被减小或被完全消除，带来的问题是：在指纹纹路间产生了新的间断</a:t>
            </a:r>
          </a:p>
        </p:txBody>
      </p:sp>
      <p:pic>
        <p:nvPicPr>
          <p:cNvPr id="4" name="Picture 3">
            <a:extLst>
              <a:ext uri="{FF2B5EF4-FFF2-40B4-BE49-F238E27FC236}">
                <a16:creationId xmlns:a16="http://schemas.microsoft.com/office/drawing/2014/main" id="{4A04290A-D7A3-47F3-B1B3-99B0A276E105}"/>
              </a:ext>
            </a:extLst>
          </p:cNvPr>
          <p:cNvPicPr>
            <a:picLocks noChangeAspect="1"/>
          </p:cNvPicPr>
          <p:nvPr/>
        </p:nvPicPr>
        <p:blipFill>
          <a:blip r:embed="rId2"/>
          <a:stretch>
            <a:fillRect/>
          </a:stretch>
        </p:blipFill>
        <p:spPr>
          <a:xfrm>
            <a:off x="66675" y="1825625"/>
            <a:ext cx="6618817" cy="4879975"/>
          </a:xfrm>
          <a:prstGeom prst="rect">
            <a:avLst/>
          </a:prstGeom>
        </p:spPr>
      </p:pic>
    </p:spTree>
    <p:extLst>
      <p:ext uri="{BB962C8B-B14F-4D97-AF65-F5344CB8AC3E}">
        <p14:creationId xmlns:p14="http://schemas.microsoft.com/office/powerpoint/2010/main" val="7574856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A13F3-B5BD-4850-8D94-E68885EDE4A3}"/>
              </a:ext>
            </a:extLst>
          </p:cNvPr>
          <p:cNvSpPr>
            <a:spLocks noGrp="1"/>
          </p:cNvSpPr>
          <p:nvPr>
            <p:ph type="title"/>
          </p:nvPr>
        </p:nvSpPr>
        <p:spPr/>
        <p:txBody>
          <a:bodyPr/>
          <a:lstStyle/>
          <a:p>
            <a:r>
              <a:rPr lang="en-US" altLang="zh-CN" b="1" dirty="0"/>
              <a:t>4. </a:t>
            </a:r>
            <a:r>
              <a:rPr lang="zh-CN" altLang="en-US" b="1" dirty="0"/>
              <a:t>开运算与闭运算 </a:t>
            </a:r>
            <a:r>
              <a:rPr lang="en-US" altLang="zh-CN" b="1" dirty="0">
                <a:solidFill>
                  <a:srgbClr val="0070C0"/>
                </a:solidFill>
              </a:rPr>
              <a:t>– </a:t>
            </a:r>
            <a:r>
              <a:rPr lang="zh-CN" altLang="en-US" b="1" dirty="0">
                <a:solidFill>
                  <a:srgbClr val="0070C0"/>
                </a:solidFill>
              </a:rPr>
              <a:t>应用举例</a:t>
            </a:r>
            <a:endParaRPr lang="zh-CN" altLang="en-US" dirty="0">
              <a:solidFill>
                <a:srgbClr val="0070C0"/>
              </a:solidFill>
            </a:endParaRPr>
          </a:p>
        </p:txBody>
      </p:sp>
      <p:sp>
        <p:nvSpPr>
          <p:cNvPr id="3" name="Content Placeholder 2">
            <a:extLst>
              <a:ext uri="{FF2B5EF4-FFF2-40B4-BE49-F238E27FC236}">
                <a16:creationId xmlns:a16="http://schemas.microsoft.com/office/drawing/2014/main" id="{11603C10-2CAA-4056-BFA5-9A54159B1169}"/>
              </a:ext>
            </a:extLst>
          </p:cNvPr>
          <p:cNvSpPr>
            <a:spLocks noGrp="1"/>
          </p:cNvSpPr>
          <p:nvPr>
            <p:ph idx="1"/>
          </p:nvPr>
        </p:nvSpPr>
        <p:spPr>
          <a:xfrm>
            <a:off x="6781799" y="1825624"/>
            <a:ext cx="5198533" cy="4879975"/>
          </a:xfrm>
        </p:spPr>
        <p:txBody>
          <a:bodyPr>
            <a:normAutofit/>
          </a:bodyPr>
          <a:lstStyle/>
          <a:p>
            <a:pPr>
              <a:lnSpc>
                <a:spcPct val="110000"/>
              </a:lnSpc>
            </a:pPr>
            <a:r>
              <a:rPr lang="en-US" altLang="zh-CN" dirty="0">
                <a:solidFill>
                  <a:srgbClr val="0070C0"/>
                </a:solidFill>
              </a:rPr>
              <a:t>e</a:t>
            </a:r>
            <a:r>
              <a:rPr lang="zh-CN" altLang="en-US" dirty="0">
                <a:solidFill>
                  <a:srgbClr val="0070C0"/>
                </a:solidFill>
              </a:rPr>
              <a:t>图</a:t>
            </a:r>
            <a:r>
              <a:rPr lang="zh-CN" altLang="en-US" dirty="0"/>
              <a:t>是对图</a:t>
            </a:r>
            <a:r>
              <a:rPr lang="en-US" altLang="zh-CN" dirty="0"/>
              <a:t>d</a:t>
            </a:r>
            <a:r>
              <a:rPr lang="zh-CN" altLang="en-US" dirty="0"/>
              <a:t>膨胀的结果，图</a:t>
            </a:r>
            <a:r>
              <a:rPr lang="en-US" altLang="zh-CN" dirty="0"/>
              <a:t>d</a:t>
            </a:r>
            <a:r>
              <a:rPr lang="zh-CN" altLang="en-US" dirty="0"/>
              <a:t>的大部分间断被恢复，但指纹的线路变粗了</a:t>
            </a:r>
            <a:endParaRPr lang="en-US" altLang="zh-CN" dirty="0"/>
          </a:p>
          <a:p>
            <a:pPr>
              <a:lnSpc>
                <a:spcPct val="110000"/>
              </a:lnSpc>
            </a:pPr>
            <a:r>
              <a:rPr lang="en-US" altLang="zh-CN" dirty="0">
                <a:solidFill>
                  <a:srgbClr val="0070C0"/>
                </a:solidFill>
              </a:rPr>
              <a:t>f</a:t>
            </a:r>
            <a:r>
              <a:rPr lang="zh-CN" altLang="en-US" dirty="0">
                <a:solidFill>
                  <a:srgbClr val="0070C0"/>
                </a:solidFill>
              </a:rPr>
              <a:t>图</a:t>
            </a:r>
            <a:r>
              <a:rPr lang="zh-CN" altLang="en-US" dirty="0"/>
              <a:t>是对图</a:t>
            </a:r>
            <a:r>
              <a:rPr lang="en-US" altLang="zh-CN" dirty="0"/>
              <a:t>e</a:t>
            </a:r>
            <a:r>
              <a:rPr lang="zh-CN" altLang="en-US" dirty="0"/>
              <a:t>腐蚀的结果，即对图</a:t>
            </a:r>
            <a:r>
              <a:rPr lang="en-US" altLang="zh-CN" dirty="0"/>
              <a:t>d</a:t>
            </a:r>
            <a:r>
              <a:rPr lang="zh-CN" altLang="en-US" dirty="0"/>
              <a:t>中开操作的闭操作。最后结果消除了噪声斑点</a:t>
            </a:r>
            <a:endParaRPr lang="en-US" altLang="zh-CN" dirty="0"/>
          </a:p>
          <a:p>
            <a:pPr>
              <a:lnSpc>
                <a:spcPct val="110000"/>
              </a:lnSpc>
            </a:pPr>
            <a:r>
              <a:rPr lang="zh-CN" altLang="en-US" dirty="0">
                <a:solidFill>
                  <a:srgbClr val="0070C0"/>
                </a:solidFill>
              </a:rPr>
              <a:t>缺点：</a:t>
            </a:r>
            <a:r>
              <a:rPr lang="zh-CN" altLang="en-US" dirty="0"/>
              <a:t>指纹线路还是有缺点</a:t>
            </a:r>
            <a:endParaRPr lang="en-US" altLang="zh-CN" dirty="0"/>
          </a:p>
        </p:txBody>
      </p:sp>
      <p:pic>
        <p:nvPicPr>
          <p:cNvPr id="4" name="Picture 3">
            <a:extLst>
              <a:ext uri="{FF2B5EF4-FFF2-40B4-BE49-F238E27FC236}">
                <a16:creationId xmlns:a16="http://schemas.microsoft.com/office/drawing/2014/main" id="{4A04290A-D7A3-47F3-B1B3-99B0A276E105}"/>
              </a:ext>
            </a:extLst>
          </p:cNvPr>
          <p:cNvPicPr>
            <a:picLocks noChangeAspect="1"/>
          </p:cNvPicPr>
          <p:nvPr/>
        </p:nvPicPr>
        <p:blipFill>
          <a:blip r:embed="rId3"/>
          <a:stretch>
            <a:fillRect/>
          </a:stretch>
        </p:blipFill>
        <p:spPr>
          <a:xfrm>
            <a:off x="66675" y="1825625"/>
            <a:ext cx="6618817" cy="4879975"/>
          </a:xfrm>
          <a:prstGeom prst="rect">
            <a:avLst/>
          </a:prstGeom>
        </p:spPr>
      </p:pic>
    </p:spTree>
    <p:extLst>
      <p:ext uri="{BB962C8B-B14F-4D97-AF65-F5344CB8AC3E}">
        <p14:creationId xmlns:p14="http://schemas.microsoft.com/office/powerpoint/2010/main" val="20290181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D8E9B-5F5F-4415-BD0E-7046B293E390}"/>
              </a:ext>
            </a:extLst>
          </p:cNvPr>
          <p:cNvSpPr>
            <a:spLocks noGrp="1"/>
          </p:cNvSpPr>
          <p:nvPr>
            <p:ph type="title"/>
          </p:nvPr>
        </p:nvSpPr>
        <p:spPr/>
        <p:txBody>
          <a:bodyPr/>
          <a:lstStyle/>
          <a:p>
            <a:r>
              <a:rPr lang="en-US" altLang="zh-CN" b="1" dirty="0"/>
              <a:t>6. </a:t>
            </a:r>
            <a:r>
              <a:rPr lang="zh-CN" altLang="en-US" b="1" dirty="0"/>
              <a:t>算法应用 </a:t>
            </a:r>
            <a:r>
              <a:rPr lang="en-US" altLang="zh-CN" b="1" dirty="0"/>
              <a:t>– </a:t>
            </a:r>
            <a:r>
              <a:rPr lang="zh-CN" altLang="en-US" b="1" dirty="0">
                <a:solidFill>
                  <a:srgbClr val="0070C0"/>
                </a:solidFill>
              </a:rPr>
              <a:t>边界提取</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E3859F0-9079-4B3C-8484-76F81A3286CE}"/>
                  </a:ext>
                </a:extLst>
              </p:cNvPr>
              <p:cNvSpPr>
                <a:spLocks noGrp="1"/>
              </p:cNvSpPr>
              <p:nvPr>
                <p:ph idx="1"/>
              </p:nvPr>
            </p:nvSpPr>
            <p:spPr/>
            <p:txBody>
              <a:bodyPr/>
              <a:lstStyle/>
              <a:p>
                <a:pPr>
                  <a:lnSpc>
                    <a:spcPct val="120000"/>
                  </a:lnSpc>
                </a:pPr>
                <a:r>
                  <a:rPr lang="zh-CN" altLang="en-US" sz="3600" b="1" dirty="0"/>
                  <a:t>边界提取的定义：</a:t>
                </a:r>
                <a:endParaRPr lang="en-US" altLang="zh-CN" sz="3600" b="1" dirty="0"/>
              </a:p>
              <a:p>
                <a:pPr marL="0" indent="0">
                  <a:lnSpc>
                    <a:spcPct val="120000"/>
                  </a:lnSpc>
                  <a:buNone/>
                </a:pPr>
                <a14:m>
                  <m:oMathPara xmlns:m="http://schemas.openxmlformats.org/officeDocument/2006/math">
                    <m:oMathParaPr>
                      <m:jc m:val="centerGroup"/>
                    </m:oMathParaPr>
                    <m:oMath xmlns:m="http://schemas.openxmlformats.org/officeDocument/2006/math">
                      <m:r>
                        <a:rPr lang="zh-CN" altLang="en-US" sz="3600" i="1" smtClean="0">
                          <a:latin typeface="Cambria Math" panose="02040503050406030204" pitchFamily="18" charset="0"/>
                        </a:rPr>
                        <m:t>𝛽</m:t>
                      </m:r>
                      <m:d>
                        <m:dPr>
                          <m:ctrlPr>
                            <a:rPr lang="en-US" altLang="zh-CN" sz="3600" b="0" i="1" smtClean="0">
                              <a:latin typeface="Cambria Math" panose="02040503050406030204" pitchFamily="18" charset="0"/>
                            </a:rPr>
                          </m:ctrlPr>
                        </m:dPr>
                        <m:e>
                          <m:r>
                            <a:rPr lang="en-US" altLang="zh-CN" sz="3600" b="0" i="1" smtClean="0">
                              <a:latin typeface="Cambria Math" panose="02040503050406030204" pitchFamily="18" charset="0"/>
                            </a:rPr>
                            <m:t>𝐴</m:t>
                          </m:r>
                        </m:e>
                      </m:d>
                      <m:r>
                        <a:rPr lang="en-US" altLang="zh-CN" sz="3600" b="0" i="1" smtClean="0">
                          <a:latin typeface="Cambria Math" panose="02040503050406030204" pitchFamily="18" charset="0"/>
                        </a:rPr>
                        <m:t>=</m:t>
                      </m:r>
                      <m:r>
                        <a:rPr lang="en-US" altLang="zh-CN" sz="3600" b="0" i="1" smtClean="0">
                          <a:latin typeface="Cambria Math" panose="02040503050406030204" pitchFamily="18" charset="0"/>
                        </a:rPr>
                        <m:t>𝐴</m:t>
                      </m:r>
                      <m:r>
                        <a:rPr lang="en-US" altLang="zh-CN" sz="3600" b="0" i="1" smtClean="0">
                          <a:latin typeface="Cambria Math" panose="02040503050406030204" pitchFamily="18" charset="0"/>
                        </a:rPr>
                        <m:t>−(</m:t>
                      </m:r>
                      <m:r>
                        <a:rPr lang="en-US" altLang="zh-CN" sz="3600" b="0" i="1" smtClean="0">
                          <a:latin typeface="Cambria Math" panose="02040503050406030204" pitchFamily="18" charset="0"/>
                        </a:rPr>
                        <m:t>𝐴</m:t>
                      </m:r>
                      <m:r>
                        <a:rPr lang="en-US" altLang="zh-CN" sz="3600" b="0" i="1" smtClean="0">
                          <a:latin typeface="Cambria Math" panose="02040503050406030204" pitchFamily="18" charset="0"/>
                          <a:ea typeface="Cambria Math" panose="02040503050406030204" pitchFamily="18" charset="0"/>
                        </a:rPr>
                        <m:t>⊖</m:t>
                      </m:r>
                      <m:r>
                        <a:rPr lang="en-US" altLang="zh-CN" sz="3600" b="0" i="1" smtClean="0">
                          <a:latin typeface="Cambria Math" panose="02040503050406030204" pitchFamily="18" charset="0"/>
                          <a:ea typeface="Cambria Math" panose="02040503050406030204" pitchFamily="18" charset="0"/>
                        </a:rPr>
                        <m:t>𝐵</m:t>
                      </m:r>
                      <m:r>
                        <a:rPr lang="en-US" altLang="zh-CN" sz="3600" b="0" i="1" smtClean="0">
                          <a:latin typeface="Cambria Math" panose="02040503050406030204" pitchFamily="18" charset="0"/>
                          <a:ea typeface="Cambria Math" panose="02040503050406030204" pitchFamily="18" charset="0"/>
                        </a:rPr>
                        <m:t>)</m:t>
                      </m:r>
                    </m:oMath>
                  </m:oMathPara>
                </a14:m>
                <a:endParaRPr lang="en-US" altLang="zh-CN" sz="3600" dirty="0"/>
              </a:p>
              <a:p>
                <a:pPr marL="0" indent="0">
                  <a:lnSpc>
                    <a:spcPct val="120000"/>
                  </a:lnSpc>
                  <a:buNone/>
                </a:pPr>
                <a:endParaRPr lang="zh-CN" altLang="en-US" sz="3600" dirty="0"/>
              </a:p>
            </p:txBody>
          </p:sp>
        </mc:Choice>
        <mc:Fallback xmlns="">
          <p:sp>
            <p:nvSpPr>
              <p:cNvPr id="3" name="Content Placeholder 2">
                <a:extLst>
                  <a:ext uri="{FF2B5EF4-FFF2-40B4-BE49-F238E27FC236}">
                    <a16:creationId xmlns:a16="http://schemas.microsoft.com/office/drawing/2014/main" id="{CE3859F0-9079-4B3C-8484-76F81A3286CE}"/>
                  </a:ext>
                </a:extLst>
              </p:cNvPr>
              <p:cNvSpPr>
                <a:spLocks noGrp="1" noRot="1" noChangeAspect="1" noMove="1" noResize="1" noEditPoints="1" noAdjustHandles="1" noChangeArrowheads="1" noChangeShapeType="1" noTextEdit="1"/>
              </p:cNvSpPr>
              <p:nvPr>
                <p:ph idx="1"/>
              </p:nvPr>
            </p:nvSpPr>
            <p:spPr>
              <a:blipFill>
                <a:blip r:embed="rId2"/>
                <a:stretch>
                  <a:fillRect l="-1623" t="-1541"/>
                </a:stretch>
              </a:blipFill>
            </p:spPr>
            <p:txBody>
              <a:bodyPr/>
              <a:lstStyle/>
              <a:p>
                <a:r>
                  <a:rPr lang="zh-CN" altLang="en-US">
                    <a:noFill/>
                  </a:rPr>
                  <a:t> </a:t>
                </a:r>
              </a:p>
            </p:txBody>
          </p:sp>
        </mc:Fallback>
      </mc:AlternateContent>
      <p:pic>
        <p:nvPicPr>
          <p:cNvPr id="4" name="Picture 3">
            <a:extLst>
              <a:ext uri="{FF2B5EF4-FFF2-40B4-BE49-F238E27FC236}">
                <a16:creationId xmlns:a16="http://schemas.microsoft.com/office/drawing/2014/main" id="{6886425B-C1DD-4032-B72E-8015FB620365}"/>
              </a:ext>
            </a:extLst>
          </p:cNvPr>
          <p:cNvPicPr>
            <a:picLocks noChangeAspect="1"/>
          </p:cNvPicPr>
          <p:nvPr/>
        </p:nvPicPr>
        <p:blipFill>
          <a:blip r:embed="rId3"/>
          <a:stretch>
            <a:fillRect/>
          </a:stretch>
        </p:blipFill>
        <p:spPr>
          <a:xfrm>
            <a:off x="1372722" y="3590396"/>
            <a:ext cx="9446556" cy="3191404"/>
          </a:xfrm>
          <a:prstGeom prst="rect">
            <a:avLst/>
          </a:prstGeom>
        </p:spPr>
      </p:pic>
    </p:spTree>
    <p:extLst>
      <p:ext uri="{BB962C8B-B14F-4D97-AF65-F5344CB8AC3E}">
        <p14:creationId xmlns:p14="http://schemas.microsoft.com/office/powerpoint/2010/main" val="16982270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D8E9B-5F5F-4415-BD0E-7046B293E390}"/>
              </a:ext>
            </a:extLst>
          </p:cNvPr>
          <p:cNvSpPr>
            <a:spLocks noGrp="1"/>
          </p:cNvSpPr>
          <p:nvPr>
            <p:ph type="title"/>
          </p:nvPr>
        </p:nvSpPr>
        <p:spPr/>
        <p:txBody>
          <a:bodyPr/>
          <a:lstStyle/>
          <a:p>
            <a:r>
              <a:rPr lang="en-US" altLang="zh-CN" b="1" dirty="0"/>
              <a:t>6. </a:t>
            </a:r>
            <a:r>
              <a:rPr lang="zh-CN" altLang="en-US" b="1" dirty="0"/>
              <a:t>算法应用 </a:t>
            </a:r>
            <a:r>
              <a:rPr lang="en-US" altLang="zh-CN" b="1" dirty="0"/>
              <a:t>– </a:t>
            </a:r>
            <a:r>
              <a:rPr lang="zh-CN" altLang="en-US" b="1" dirty="0">
                <a:solidFill>
                  <a:srgbClr val="0070C0"/>
                </a:solidFill>
              </a:rPr>
              <a:t>边界提取</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E3859F0-9079-4B3C-8484-76F81A3286CE}"/>
                  </a:ext>
                </a:extLst>
              </p:cNvPr>
              <p:cNvSpPr>
                <a:spLocks noGrp="1"/>
              </p:cNvSpPr>
              <p:nvPr>
                <p:ph idx="1"/>
              </p:nvPr>
            </p:nvSpPr>
            <p:spPr/>
            <p:txBody>
              <a:bodyPr/>
              <a:lstStyle/>
              <a:p>
                <a:pPr>
                  <a:lnSpc>
                    <a:spcPct val="120000"/>
                  </a:lnSpc>
                </a:pPr>
                <a:r>
                  <a:rPr lang="zh-CN" altLang="en-US" sz="3600" b="1" dirty="0"/>
                  <a:t>边界提取</a:t>
                </a:r>
                <a:endParaRPr lang="en-US" altLang="zh-CN" sz="3600" b="1" dirty="0"/>
              </a:p>
              <a:p>
                <a:pPr marL="0" indent="0">
                  <a:lnSpc>
                    <a:spcPct val="120000"/>
                  </a:lnSpc>
                  <a:buNone/>
                </a:pPr>
                <a14:m>
                  <m:oMathPara xmlns:m="http://schemas.openxmlformats.org/officeDocument/2006/math">
                    <m:oMathParaPr>
                      <m:jc m:val="centerGroup"/>
                    </m:oMathParaPr>
                    <m:oMath xmlns:m="http://schemas.openxmlformats.org/officeDocument/2006/math">
                      <m:r>
                        <a:rPr lang="zh-CN" altLang="en-US" sz="3600" i="1" smtClean="0">
                          <a:latin typeface="Cambria Math" panose="02040503050406030204" pitchFamily="18" charset="0"/>
                        </a:rPr>
                        <m:t>𝛽</m:t>
                      </m:r>
                      <m:d>
                        <m:dPr>
                          <m:ctrlPr>
                            <a:rPr lang="en-US" altLang="zh-CN" sz="3600" b="0" i="1" smtClean="0">
                              <a:latin typeface="Cambria Math" panose="02040503050406030204" pitchFamily="18" charset="0"/>
                            </a:rPr>
                          </m:ctrlPr>
                        </m:dPr>
                        <m:e>
                          <m:r>
                            <a:rPr lang="en-US" altLang="zh-CN" sz="3600" b="0" i="1" smtClean="0">
                              <a:latin typeface="Cambria Math" panose="02040503050406030204" pitchFamily="18" charset="0"/>
                            </a:rPr>
                            <m:t>𝐴</m:t>
                          </m:r>
                        </m:e>
                      </m:d>
                      <m:r>
                        <a:rPr lang="en-US" altLang="zh-CN" sz="3600" b="0" i="1" smtClean="0">
                          <a:latin typeface="Cambria Math" panose="02040503050406030204" pitchFamily="18" charset="0"/>
                        </a:rPr>
                        <m:t>=</m:t>
                      </m:r>
                      <m:r>
                        <a:rPr lang="en-US" altLang="zh-CN" sz="3600" b="0" i="1" smtClean="0">
                          <a:latin typeface="Cambria Math" panose="02040503050406030204" pitchFamily="18" charset="0"/>
                        </a:rPr>
                        <m:t>𝐴</m:t>
                      </m:r>
                      <m:r>
                        <a:rPr lang="en-US" altLang="zh-CN" sz="3600" b="0" i="1" smtClean="0">
                          <a:latin typeface="Cambria Math" panose="02040503050406030204" pitchFamily="18" charset="0"/>
                        </a:rPr>
                        <m:t>−(</m:t>
                      </m:r>
                      <m:r>
                        <a:rPr lang="en-US" altLang="zh-CN" sz="3600" b="0" i="1" smtClean="0">
                          <a:latin typeface="Cambria Math" panose="02040503050406030204" pitchFamily="18" charset="0"/>
                        </a:rPr>
                        <m:t>𝐴</m:t>
                      </m:r>
                      <m:r>
                        <a:rPr lang="en-US" altLang="zh-CN" sz="3600" b="0" i="1" smtClean="0">
                          <a:latin typeface="Cambria Math" panose="02040503050406030204" pitchFamily="18" charset="0"/>
                          <a:ea typeface="Cambria Math" panose="02040503050406030204" pitchFamily="18" charset="0"/>
                        </a:rPr>
                        <m:t>⊖</m:t>
                      </m:r>
                      <m:r>
                        <a:rPr lang="en-US" altLang="zh-CN" sz="3600" b="0" i="1" smtClean="0">
                          <a:latin typeface="Cambria Math" panose="02040503050406030204" pitchFamily="18" charset="0"/>
                          <a:ea typeface="Cambria Math" panose="02040503050406030204" pitchFamily="18" charset="0"/>
                        </a:rPr>
                        <m:t>𝐵</m:t>
                      </m:r>
                      <m:r>
                        <a:rPr lang="en-US" altLang="zh-CN" sz="3600" b="0" i="1" smtClean="0">
                          <a:latin typeface="Cambria Math" panose="02040503050406030204" pitchFamily="18" charset="0"/>
                          <a:ea typeface="Cambria Math" panose="02040503050406030204" pitchFamily="18" charset="0"/>
                        </a:rPr>
                        <m:t>)</m:t>
                      </m:r>
                    </m:oMath>
                  </m:oMathPara>
                </a14:m>
                <a:endParaRPr lang="en-US" altLang="zh-CN" sz="3600" dirty="0"/>
              </a:p>
              <a:p>
                <a:pPr marL="0" indent="0">
                  <a:lnSpc>
                    <a:spcPct val="120000"/>
                  </a:lnSpc>
                  <a:buNone/>
                </a:pPr>
                <a:endParaRPr lang="zh-CN" altLang="en-US" sz="3600" dirty="0"/>
              </a:p>
            </p:txBody>
          </p:sp>
        </mc:Choice>
        <mc:Fallback xmlns="">
          <p:sp>
            <p:nvSpPr>
              <p:cNvPr id="3" name="Content Placeholder 2">
                <a:extLst>
                  <a:ext uri="{FF2B5EF4-FFF2-40B4-BE49-F238E27FC236}">
                    <a16:creationId xmlns:a16="http://schemas.microsoft.com/office/drawing/2014/main" id="{CE3859F0-9079-4B3C-8484-76F81A3286CE}"/>
                  </a:ext>
                </a:extLst>
              </p:cNvPr>
              <p:cNvSpPr>
                <a:spLocks noGrp="1" noRot="1" noChangeAspect="1" noMove="1" noResize="1" noEditPoints="1" noAdjustHandles="1" noChangeArrowheads="1" noChangeShapeType="1" noTextEdit="1"/>
              </p:cNvSpPr>
              <p:nvPr>
                <p:ph idx="1"/>
              </p:nvPr>
            </p:nvSpPr>
            <p:spPr>
              <a:blipFill>
                <a:blip r:embed="rId2"/>
                <a:stretch>
                  <a:fillRect l="-1623" t="-1541"/>
                </a:stretch>
              </a:blipFill>
            </p:spPr>
            <p:txBody>
              <a:bodyPr/>
              <a:lstStyle/>
              <a:p>
                <a:r>
                  <a:rPr lang="zh-CN" altLang="en-US">
                    <a:noFill/>
                  </a:rPr>
                  <a:t> </a:t>
                </a:r>
              </a:p>
            </p:txBody>
          </p:sp>
        </mc:Fallback>
      </mc:AlternateContent>
      <p:pic>
        <p:nvPicPr>
          <p:cNvPr id="5" name="Picture 4">
            <a:extLst>
              <a:ext uri="{FF2B5EF4-FFF2-40B4-BE49-F238E27FC236}">
                <a16:creationId xmlns:a16="http://schemas.microsoft.com/office/drawing/2014/main" id="{D34BADE1-F289-47D0-BA93-08F202657629}"/>
              </a:ext>
            </a:extLst>
          </p:cNvPr>
          <p:cNvPicPr>
            <a:picLocks noChangeAspect="1"/>
          </p:cNvPicPr>
          <p:nvPr/>
        </p:nvPicPr>
        <p:blipFill>
          <a:blip r:embed="rId3"/>
          <a:stretch>
            <a:fillRect/>
          </a:stretch>
        </p:blipFill>
        <p:spPr>
          <a:xfrm>
            <a:off x="2414587" y="3429000"/>
            <a:ext cx="7362825" cy="3219450"/>
          </a:xfrm>
          <a:prstGeom prst="rect">
            <a:avLst/>
          </a:prstGeom>
        </p:spPr>
      </p:pic>
      <p:pic>
        <p:nvPicPr>
          <p:cNvPr id="6" name="Picture 5">
            <a:extLst>
              <a:ext uri="{FF2B5EF4-FFF2-40B4-BE49-F238E27FC236}">
                <a16:creationId xmlns:a16="http://schemas.microsoft.com/office/drawing/2014/main" id="{657CE7D4-173C-4CD6-B023-5601728B6C08}"/>
              </a:ext>
            </a:extLst>
          </p:cNvPr>
          <p:cNvPicPr>
            <a:picLocks noChangeAspect="1"/>
          </p:cNvPicPr>
          <p:nvPr/>
        </p:nvPicPr>
        <p:blipFill>
          <a:blip r:embed="rId4"/>
          <a:stretch>
            <a:fillRect/>
          </a:stretch>
        </p:blipFill>
        <p:spPr>
          <a:xfrm>
            <a:off x="9096505" y="1354138"/>
            <a:ext cx="2076190" cy="1714286"/>
          </a:xfrm>
          <a:prstGeom prst="rect">
            <a:avLst/>
          </a:prstGeom>
        </p:spPr>
      </p:pic>
    </p:spTree>
    <p:extLst>
      <p:ext uri="{BB962C8B-B14F-4D97-AF65-F5344CB8AC3E}">
        <p14:creationId xmlns:p14="http://schemas.microsoft.com/office/powerpoint/2010/main" val="1352416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77A0D-822E-476B-93F4-3CA2482B91EC}"/>
              </a:ext>
            </a:extLst>
          </p:cNvPr>
          <p:cNvSpPr>
            <a:spLocks noGrp="1"/>
          </p:cNvSpPr>
          <p:nvPr>
            <p:ph type="title"/>
          </p:nvPr>
        </p:nvSpPr>
        <p:spPr/>
        <p:txBody>
          <a:bodyPr/>
          <a:lstStyle/>
          <a:p>
            <a:r>
              <a:rPr lang="en-US" altLang="zh-CN" b="1" dirty="0"/>
              <a:t>6. </a:t>
            </a:r>
            <a:r>
              <a:rPr lang="zh-CN" altLang="en-US" b="1" dirty="0"/>
              <a:t>算法应用 </a:t>
            </a:r>
            <a:r>
              <a:rPr lang="en-US" altLang="zh-CN" b="1" dirty="0"/>
              <a:t>– </a:t>
            </a:r>
            <a:r>
              <a:rPr lang="zh-CN" altLang="en-US" b="1" dirty="0">
                <a:solidFill>
                  <a:srgbClr val="0070C0"/>
                </a:solidFill>
              </a:rPr>
              <a:t>孔洞填充</a:t>
            </a:r>
            <a:endParaRPr lang="zh-CN" altLang="en-US" dirty="0"/>
          </a:p>
        </p:txBody>
      </p:sp>
      <p:sp>
        <p:nvSpPr>
          <p:cNvPr id="3" name="Content Placeholder 2">
            <a:extLst>
              <a:ext uri="{FF2B5EF4-FFF2-40B4-BE49-F238E27FC236}">
                <a16:creationId xmlns:a16="http://schemas.microsoft.com/office/drawing/2014/main" id="{60090F51-33F3-47C7-A5DE-AA0DDFED3C8D}"/>
              </a:ext>
            </a:extLst>
          </p:cNvPr>
          <p:cNvSpPr>
            <a:spLocks noGrp="1"/>
          </p:cNvSpPr>
          <p:nvPr>
            <p:ph idx="1"/>
          </p:nvPr>
        </p:nvSpPr>
        <p:spPr>
          <a:xfrm>
            <a:off x="838200" y="1825625"/>
            <a:ext cx="5063067" cy="4351338"/>
          </a:xfrm>
        </p:spPr>
        <p:txBody>
          <a:bodyPr/>
          <a:lstStyle/>
          <a:p>
            <a:pPr>
              <a:lnSpc>
                <a:spcPct val="150000"/>
              </a:lnSpc>
            </a:pPr>
            <a:r>
              <a:rPr lang="zh-CN" altLang="en-US" b="1" dirty="0">
                <a:solidFill>
                  <a:srgbClr val="0070C0"/>
                </a:solidFill>
              </a:rPr>
              <a:t>孔洞</a:t>
            </a:r>
            <a:r>
              <a:rPr lang="zh-CN" altLang="en-US" dirty="0"/>
              <a:t>是指被前景像素连成的边框所包围的背景区域</a:t>
            </a:r>
            <a:endParaRPr lang="en-US" altLang="zh-CN" dirty="0"/>
          </a:p>
          <a:p>
            <a:pPr>
              <a:lnSpc>
                <a:spcPct val="150000"/>
              </a:lnSpc>
            </a:pPr>
            <a:r>
              <a:rPr lang="zh-CN" altLang="en-US" dirty="0"/>
              <a:t>通过膨胀、补集和交集构建填充算法。</a:t>
            </a:r>
          </a:p>
        </p:txBody>
      </p:sp>
      <p:pic>
        <p:nvPicPr>
          <p:cNvPr id="5" name="Picture 4">
            <a:extLst>
              <a:ext uri="{FF2B5EF4-FFF2-40B4-BE49-F238E27FC236}">
                <a16:creationId xmlns:a16="http://schemas.microsoft.com/office/drawing/2014/main" id="{1FDF8989-6D29-42DD-955E-3FAA30323A80}"/>
              </a:ext>
            </a:extLst>
          </p:cNvPr>
          <p:cNvPicPr>
            <a:picLocks noChangeAspect="1"/>
          </p:cNvPicPr>
          <p:nvPr/>
        </p:nvPicPr>
        <p:blipFill rotWithShape="1">
          <a:blip r:embed="rId2"/>
          <a:srcRect r="66257" b="32197"/>
          <a:stretch/>
        </p:blipFill>
        <p:spPr>
          <a:xfrm>
            <a:off x="7322080" y="2171170"/>
            <a:ext cx="3422120" cy="3448580"/>
          </a:xfrm>
          <a:prstGeom prst="rect">
            <a:avLst/>
          </a:prstGeom>
        </p:spPr>
      </p:pic>
    </p:spTree>
    <p:extLst>
      <p:ext uri="{BB962C8B-B14F-4D97-AF65-F5344CB8AC3E}">
        <p14:creationId xmlns:p14="http://schemas.microsoft.com/office/powerpoint/2010/main" val="27732858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77A0D-822E-476B-93F4-3CA2482B91EC}"/>
              </a:ext>
            </a:extLst>
          </p:cNvPr>
          <p:cNvSpPr>
            <a:spLocks noGrp="1"/>
          </p:cNvSpPr>
          <p:nvPr>
            <p:ph type="title"/>
          </p:nvPr>
        </p:nvSpPr>
        <p:spPr/>
        <p:txBody>
          <a:bodyPr/>
          <a:lstStyle/>
          <a:p>
            <a:r>
              <a:rPr lang="en-US" altLang="zh-CN" b="1" dirty="0"/>
              <a:t>6. </a:t>
            </a:r>
            <a:r>
              <a:rPr lang="zh-CN" altLang="en-US" b="1" dirty="0"/>
              <a:t>算法应用 </a:t>
            </a:r>
            <a:r>
              <a:rPr lang="en-US" altLang="zh-CN" b="1" dirty="0"/>
              <a:t>– </a:t>
            </a:r>
            <a:r>
              <a:rPr lang="zh-CN" altLang="en-US" b="1" dirty="0">
                <a:solidFill>
                  <a:srgbClr val="0070C0"/>
                </a:solidFill>
              </a:rPr>
              <a:t>孔洞填充</a:t>
            </a:r>
            <a:endParaRPr lang="zh-CN" alt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0090F51-33F3-47C7-A5DE-AA0DDFED3C8D}"/>
                  </a:ext>
                </a:extLst>
              </p:cNvPr>
              <p:cNvSpPr>
                <a:spLocks noGrp="1"/>
              </p:cNvSpPr>
              <p:nvPr>
                <p:ph idx="1"/>
              </p:nvPr>
            </p:nvSpPr>
            <p:spPr>
              <a:xfrm>
                <a:off x="838199" y="1825625"/>
                <a:ext cx="6477001" cy="4351338"/>
              </a:xfrm>
            </p:spPr>
            <p:txBody>
              <a:bodyPr/>
              <a:lstStyle/>
              <a:p>
                <a:pPr>
                  <a:lnSpc>
                    <a:spcPct val="150000"/>
                  </a:lnSpc>
                </a:pPr>
                <a:r>
                  <a:rPr lang="zh-CN" altLang="en-US" b="1" dirty="0"/>
                  <a:t>算法流程：</a:t>
                </a:r>
                <a:endParaRPr lang="en-US" altLang="zh-CN" b="1" dirty="0"/>
              </a:p>
              <a:p>
                <a:pPr marL="971550" lvl="1" indent="-514350">
                  <a:lnSpc>
                    <a:spcPct val="150000"/>
                  </a:lnSpc>
                  <a:buFont typeface="+mj-ea"/>
                  <a:buAutoNum type="circleNumDbPlain"/>
                </a:pPr>
                <a:r>
                  <a:rPr lang="zh-CN" altLang="en-US" dirty="0"/>
                  <a:t>初始化</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𝑋</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=0</m:t>
                    </m:r>
                  </m:oMath>
                </a14:m>
                <a:r>
                  <a:rPr lang="zh-CN" altLang="en-US" dirty="0"/>
                  <a:t>，大小和原图</a:t>
                </a:r>
                <a14:m>
                  <m:oMath xmlns:m="http://schemas.openxmlformats.org/officeDocument/2006/math">
                    <m:r>
                      <a:rPr lang="en-US" altLang="zh-CN" b="0" i="1">
                        <a:latin typeface="Cambria Math" panose="02040503050406030204" pitchFamily="18" charset="0"/>
                        <a:ea typeface="Cambria Math" panose="02040503050406030204" pitchFamily="18" charset="0"/>
                      </a:rPr>
                      <m:t>𝐼</m:t>
                    </m:r>
                  </m:oMath>
                </a14:m>
                <a:r>
                  <a:rPr lang="zh-CN" altLang="en-US" dirty="0"/>
                  <a:t>一致；孔洞中像素值为</a:t>
                </a:r>
                <a:r>
                  <a:rPr lang="en-US" altLang="zh-CN" dirty="0"/>
                  <a:t>1</a:t>
                </a:r>
              </a:p>
              <a:p>
                <a:pPr marL="971550" lvl="1" indent="-514350">
                  <a:lnSpc>
                    <a:spcPct val="150000"/>
                  </a:lnSpc>
                  <a:buFont typeface="+mj-ea"/>
                  <a:buAutoNum type="circleNumDbPlain"/>
                </a:pPr>
                <a:r>
                  <a:rPr lang="zh-CN" altLang="en-US" dirty="0"/>
                  <a:t>填充孔洞</a:t>
                </a:r>
                <a:endParaRPr lang="en-US" altLang="zh-CN" dirty="0"/>
              </a:p>
              <a:p>
                <a:pPr marL="457200" lvl="1" indent="0">
                  <a:lnSpc>
                    <a:spcPct val="150000"/>
                  </a:lnSpc>
                  <a:buNone/>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𝑋</m:t>
                          </m:r>
                        </m:e>
                        <m:sub>
                          <m:r>
                            <a:rPr lang="en-US" altLang="zh-CN" b="0" i="1" smtClean="0">
                              <a:latin typeface="Cambria Math" panose="02040503050406030204" pitchFamily="18" charset="0"/>
                            </a:rPr>
                            <m:t>𝑘</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a:latin typeface="Cambria Math" panose="02040503050406030204" pitchFamily="18" charset="0"/>
                            </a:rPr>
                            <m:t>𝑋</m:t>
                          </m:r>
                        </m:e>
                        <m:sub>
                          <m:r>
                            <a:rPr lang="en-US" altLang="zh-CN" b="0" i="1">
                              <a:latin typeface="Cambria Math" panose="02040503050406030204" pitchFamily="18" charset="0"/>
                            </a:rPr>
                            <m:t>𝑘</m:t>
                          </m:r>
                          <m:r>
                            <a:rPr lang="en-US" altLang="zh-CN" b="0" i="1" smtClean="0">
                              <a:latin typeface="Cambria Math" panose="02040503050406030204" pitchFamily="18" charset="0"/>
                            </a:rPr>
                            <m:t>−1</m:t>
                          </m:r>
                        </m:sub>
                      </m:sSub>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𝐵</m:t>
                      </m:r>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sSup>
                        <m:sSupPr>
                          <m:ctrlPr>
                            <a:rPr lang="en-US" altLang="zh-CN"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𝐼</m:t>
                          </m:r>
                        </m:e>
                        <m:sup>
                          <m:r>
                            <a:rPr lang="en-US" altLang="zh-CN" b="0" i="1" smtClean="0">
                              <a:latin typeface="Cambria Math" panose="02040503050406030204" pitchFamily="18" charset="0"/>
                              <a:ea typeface="Cambria Math" panose="02040503050406030204" pitchFamily="18" charset="0"/>
                            </a:rPr>
                            <m:t>𝐶</m:t>
                          </m:r>
                        </m:sup>
                      </m:sSup>
                    </m:oMath>
                  </m:oMathPara>
                </a14:m>
                <a:endParaRPr lang="en-US" altLang="zh-CN" dirty="0"/>
              </a:p>
              <a:p>
                <a:pPr marL="457200" lvl="1" indent="0">
                  <a:lnSpc>
                    <a:spcPct val="150000"/>
                  </a:lnSpc>
                  <a:buNone/>
                </a:pPr>
                <a:r>
                  <a:rPr lang="zh-CN" altLang="en-US" dirty="0">
                    <a:solidFill>
                      <a:srgbClr val="FF0000"/>
                    </a:solidFill>
                  </a:rPr>
                  <a:t>如果</a:t>
                </a:r>
                <a14:m>
                  <m:oMath xmlns:m="http://schemas.openxmlformats.org/officeDocument/2006/math">
                    <m:sSub>
                      <m:sSubPr>
                        <m:ctrlPr>
                          <a:rPr lang="en-US" altLang="zh-CN" i="1">
                            <a:solidFill>
                              <a:srgbClr val="FF0000"/>
                            </a:solidFill>
                            <a:latin typeface="Cambria Math" panose="02040503050406030204" pitchFamily="18" charset="0"/>
                          </a:rPr>
                        </m:ctrlPr>
                      </m:sSubPr>
                      <m:e>
                        <m:r>
                          <a:rPr lang="en-US" altLang="zh-CN" b="0" i="1">
                            <a:solidFill>
                              <a:srgbClr val="FF0000"/>
                            </a:solidFill>
                            <a:latin typeface="Cambria Math" panose="02040503050406030204" pitchFamily="18" charset="0"/>
                          </a:rPr>
                          <m:t>𝑋</m:t>
                        </m:r>
                      </m:e>
                      <m:sub>
                        <m:r>
                          <a:rPr lang="en-US" altLang="zh-CN" b="0" i="1">
                            <a:solidFill>
                              <a:srgbClr val="FF0000"/>
                            </a:solidFill>
                            <a:latin typeface="Cambria Math" panose="02040503050406030204" pitchFamily="18" charset="0"/>
                          </a:rPr>
                          <m:t>𝑘</m:t>
                        </m:r>
                      </m:sub>
                    </m:sSub>
                    <m:r>
                      <a:rPr lang="en-US" altLang="zh-CN" b="0" i="1" smtClean="0">
                        <a:solidFill>
                          <a:srgbClr val="FF0000"/>
                        </a:solidFill>
                        <a:latin typeface="Cambria Math" panose="02040503050406030204" pitchFamily="18" charset="0"/>
                      </a:rPr>
                      <m:t>=</m:t>
                    </m:r>
                    <m:sSub>
                      <m:sSubPr>
                        <m:ctrlPr>
                          <a:rPr lang="en-US" altLang="zh-CN" i="1">
                            <a:solidFill>
                              <a:srgbClr val="FF0000"/>
                            </a:solidFill>
                            <a:latin typeface="Cambria Math" panose="02040503050406030204" pitchFamily="18" charset="0"/>
                          </a:rPr>
                        </m:ctrlPr>
                      </m:sSubPr>
                      <m:e>
                        <m:r>
                          <a:rPr lang="en-US" altLang="zh-CN" b="0" i="1">
                            <a:solidFill>
                              <a:srgbClr val="FF0000"/>
                            </a:solidFill>
                            <a:latin typeface="Cambria Math" panose="02040503050406030204" pitchFamily="18" charset="0"/>
                          </a:rPr>
                          <m:t>𝑋</m:t>
                        </m:r>
                      </m:e>
                      <m:sub>
                        <m:r>
                          <a:rPr lang="en-US" altLang="zh-CN" b="0" i="1">
                            <a:solidFill>
                              <a:srgbClr val="FF0000"/>
                            </a:solidFill>
                            <a:latin typeface="Cambria Math" panose="02040503050406030204" pitchFamily="18" charset="0"/>
                          </a:rPr>
                          <m:t>𝑘</m:t>
                        </m:r>
                        <m:r>
                          <a:rPr lang="en-US" altLang="zh-CN" b="0" i="1">
                            <a:solidFill>
                              <a:srgbClr val="FF0000"/>
                            </a:solidFill>
                            <a:latin typeface="Cambria Math" panose="02040503050406030204" pitchFamily="18" charset="0"/>
                          </a:rPr>
                          <m:t>−1</m:t>
                        </m:r>
                      </m:sub>
                    </m:sSub>
                  </m:oMath>
                </a14:m>
                <a:r>
                  <a:rPr lang="zh-CN" altLang="en-US" dirty="0">
                    <a:solidFill>
                      <a:srgbClr val="FF0000"/>
                    </a:solidFill>
                  </a:rPr>
                  <a:t>，则算法在迭代的第</a:t>
                </a:r>
                <a14:m>
                  <m:oMath xmlns:m="http://schemas.openxmlformats.org/officeDocument/2006/math">
                    <m:r>
                      <a:rPr lang="en-US" altLang="zh-CN" b="0" i="1">
                        <a:solidFill>
                          <a:srgbClr val="FF0000"/>
                        </a:solidFill>
                        <a:latin typeface="Cambria Math" panose="02040503050406030204" pitchFamily="18" charset="0"/>
                      </a:rPr>
                      <m:t>𝑘</m:t>
                    </m:r>
                  </m:oMath>
                </a14:m>
                <a:r>
                  <a:rPr lang="zh-CN" altLang="en-US" dirty="0">
                    <a:solidFill>
                      <a:srgbClr val="FF0000"/>
                    </a:solidFill>
                  </a:rPr>
                  <a:t>步结束。</a:t>
                </a:r>
                <a:endParaRPr lang="en-US" altLang="zh-CN" dirty="0">
                  <a:solidFill>
                    <a:srgbClr val="FF0000"/>
                  </a:solidFill>
                </a:endParaRPr>
              </a:p>
              <a:p>
                <a:pPr marL="971550" lvl="1" indent="-514350">
                  <a:lnSpc>
                    <a:spcPct val="150000"/>
                  </a:lnSpc>
                  <a:buFont typeface="+mj-ea"/>
                  <a:buAutoNum type="circleNumDbPlain"/>
                </a:pPr>
                <a:endParaRPr lang="zh-CN" altLang="en-US" b="1" dirty="0"/>
              </a:p>
            </p:txBody>
          </p:sp>
        </mc:Choice>
        <mc:Fallback xmlns="">
          <p:sp>
            <p:nvSpPr>
              <p:cNvPr id="3" name="Content Placeholder 2">
                <a:extLst>
                  <a:ext uri="{FF2B5EF4-FFF2-40B4-BE49-F238E27FC236}">
                    <a16:creationId xmlns:a16="http://schemas.microsoft.com/office/drawing/2014/main" id="{60090F51-33F3-47C7-A5DE-AA0DDFED3C8D}"/>
                  </a:ext>
                </a:extLst>
              </p:cNvPr>
              <p:cNvSpPr>
                <a:spLocks noGrp="1" noRot="1" noChangeAspect="1" noMove="1" noResize="1" noEditPoints="1" noAdjustHandles="1" noChangeArrowheads="1" noChangeShapeType="1" noTextEdit="1"/>
              </p:cNvSpPr>
              <p:nvPr>
                <p:ph idx="1"/>
              </p:nvPr>
            </p:nvSpPr>
            <p:spPr>
              <a:xfrm>
                <a:off x="838199" y="1825625"/>
                <a:ext cx="6477001" cy="4351338"/>
              </a:xfrm>
              <a:blipFill>
                <a:blip r:embed="rId2"/>
                <a:stretch>
                  <a:fillRect l="-1599" r="-6115"/>
                </a:stretch>
              </a:blipFill>
            </p:spPr>
            <p:txBody>
              <a:bodyPr/>
              <a:lstStyle/>
              <a:p>
                <a:r>
                  <a:rPr lang="zh-CN" altLang="en-US">
                    <a:noFill/>
                  </a:rPr>
                  <a:t> </a:t>
                </a:r>
              </a:p>
            </p:txBody>
          </p:sp>
        </mc:Fallback>
      </mc:AlternateContent>
      <p:pic>
        <p:nvPicPr>
          <p:cNvPr id="4" name="Picture 3">
            <a:extLst>
              <a:ext uri="{FF2B5EF4-FFF2-40B4-BE49-F238E27FC236}">
                <a16:creationId xmlns:a16="http://schemas.microsoft.com/office/drawing/2014/main" id="{641367DB-9186-4F17-8023-33A58A662E0E}"/>
              </a:ext>
            </a:extLst>
          </p:cNvPr>
          <p:cNvPicPr>
            <a:picLocks noChangeAspect="1"/>
          </p:cNvPicPr>
          <p:nvPr/>
        </p:nvPicPr>
        <p:blipFill rotWithShape="1">
          <a:blip r:embed="rId3"/>
          <a:srcRect r="66257" b="32197"/>
          <a:stretch/>
        </p:blipFill>
        <p:spPr>
          <a:xfrm>
            <a:off x="7779280" y="2277004"/>
            <a:ext cx="3422120" cy="3448580"/>
          </a:xfrm>
          <a:prstGeom prst="rect">
            <a:avLst/>
          </a:prstGeom>
        </p:spPr>
      </p:pic>
    </p:spTree>
    <p:extLst>
      <p:ext uri="{BB962C8B-B14F-4D97-AF65-F5344CB8AC3E}">
        <p14:creationId xmlns:p14="http://schemas.microsoft.com/office/powerpoint/2010/main" val="34740382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2F96A-53F7-4D64-97B2-EA5751328A80}"/>
              </a:ext>
            </a:extLst>
          </p:cNvPr>
          <p:cNvSpPr>
            <a:spLocks noGrp="1"/>
          </p:cNvSpPr>
          <p:nvPr>
            <p:ph type="title"/>
          </p:nvPr>
        </p:nvSpPr>
        <p:spPr/>
        <p:txBody>
          <a:bodyPr/>
          <a:lstStyle/>
          <a:p>
            <a:r>
              <a:rPr lang="en-US" altLang="zh-CN" b="1" dirty="0"/>
              <a:t>6. </a:t>
            </a:r>
            <a:r>
              <a:rPr lang="zh-CN" altLang="en-US" b="1" dirty="0"/>
              <a:t>算法应用 </a:t>
            </a:r>
            <a:r>
              <a:rPr lang="en-US" altLang="zh-CN" b="1" dirty="0"/>
              <a:t>– </a:t>
            </a:r>
            <a:r>
              <a:rPr lang="zh-CN" altLang="en-US" b="1" dirty="0">
                <a:solidFill>
                  <a:srgbClr val="0070C0"/>
                </a:solidFill>
              </a:rPr>
              <a:t>孔洞填充</a:t>
            </a:r>
            <a:endParaRPr lang="zh-CN" alt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5AEED74-9EC7-49A6-8B0B-487F68426A01}"/>
                  </a:ext>
                </a:extLst>
              </p:cNvPr>
              <p:cNvSpPr>
                <a:spLocks noGrp="1"/>
              </p:cNvSpPr>
              <p:nvPr>
                <p:ph idx="1"/>
              </p:nvPr>
            </p:nvSpPr>
            <p:spPr>
              <a:xfrm>
                <a:off x="7165446" y="1825625"/>
                <a:ext cx="4628622" cy="4351338"/>
              </a:xfrm>
            </p:spPr>
            <p:txBody>
              <a:bodyPr/>
              <a:lstStyle/>
              <a:p>
                <a:pPr>
                  <a:lnSpc>
                    <a:spcPct val="120000"/>
                  </a:lnSpc>
                </a:pP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𝑋</m:t>
                        </m:r>
                      </m:e>
                      <m:sub>
                        <m:r>
                          <a:rPr lang="en-US" altLang="zh-CN" i="1">
                            <a:latin typeface="Cambria Math" panose="02040503050406030204" pitchFamily="18" charset="0"/>
                          </a:rPr>
                          <m:t>𝑘</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𝑋</m:t>
                        </m:r>
                      </m:e>
                      <m:sub>
                        <m:r>
                          <a:rPr lang="en-US" altLang="zh-CN" i="1">
                            <a:latin typeface="Cambria Math" panose="02040503050406030204" pitchFamily="18" charset="0"/>
                          </a:rPr>
                          <m:t>𝑘</m:t>
                        </m:r>
                        <m:r>
                          <a:rPr lang="en-US" altLang="zh-CN" i="1">
                            <a:latin typeface="Cambria Math" panose="02040503050406030204" pitchFamily="18" charset="0"/>
                          </a:rPr>
                          <m:t>−1</m:t>
                        </m:r>
                      </m:sub>
                    </m:sSub>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𝐵</m:t>
                    </m:r>
                    <m:r>
                      <a:rPr lang="en-US" altLang="zh-CN" i="1">
                        <a:latin typeface="Cambria Math" panose="02040503050406030204" pitchFamily="18" charset="0"/>
                      </a:rPr>
                      <m:t>)</m:t>
                    </m:r>
                    <m:r>
                      <a:rPr lang="en-US" altLang="zh-CN" i="1">
                        <a:latin typeface="Cambria Math" panose="02040503050406030204" pitchFamily="18" charset="0"/>
                        <a:ea typeface="Cambria Math" panose="02040503050406030204" pitchFamily="18" charset="0"/>
                      </a:rPr>
                      <m:t>⋂</m:t>
                    </m:r>
                    <m:sSup>
                      <m:sSupPr>
                        <m:ctrlPr>
                          <a:rPr lang="en-US" altLang="zh-CN" i="1">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𝐼</m:t>
                        </m:r>
                      </m:e>
                      <m:sup>
                        <m:r>
                          <a:rPr lang="en-US" altLang="zh-CN" i="1">
                            <a:latin typeface="Cambria Math" panose="02040503050406030204" pitchFamily="18" charset="0"/>
                            <a:ea typeface="Cambria Math" panose="02040503050406030204" pitchFamily="18" charset="0"/>
                          </a:rPr>
                          <m:t>𝐶</m:t>
                        </m:r>
                      </m:sup>
                    </m:sSup>
                  </m:oMath>
                </a14:m>
                <a:endParaRPr lang="en-US" altLang="zh-CN" dirty="0"/>
              </a:p>
              <a:p>
                <a:pPr marL="0" indent="0">
                  <a:lnSpc>
                    <a:spcPct val="120000"/>
                  </a:lnSpc>
                  <a:buNone/>
                </a:pPr>
                <a:r>
                  <a:rPr lang="zh-CN" altLang="en-US" b="1" dirty="0">
                    <a:solidFill>
                      <a:srgbClr val="FF0000"/>
                    </a:solidFill>
                  </a:rPr>
                  <a:t>条件膨胀：</a:t>
                </a:r>
                <a:r>
                  <a:rPr lang="zh-CN" altLang="en-US" dirty="0"/>
                  <a:t>如果对上述公式的左部不加限制，则上述公式的膨胀将填充整个区域。利用</a:t>
                </a:r>
                <a14:m>
                  <m:oMath xmlns:m="http://schemas.openxmlformats.org/officeDocument/2006/math">
                    <m:sSup>
                      <m:sSupPr>
                        <m:ctrlPr>
                          <a:rPr lang="en-US" altLang="zh-CN" i="1">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𝐼</m:t>
                        </m:r>
                      </m:e>
                      <m:sup>
                        <m:r>
                          <a:rPr lang="en-US" altLang="zh-CN" i="1">
                            <a:latin typeface="Cambria Math" panose="02040503050406030204" pitchFamily="18" charset="0"/>
                            <a:ea typeface="Cambria Math" panose="02040503050406030204" pitchFamily="18" charset="0"/>
                          </a:rPr>
                          <m:t>𝐶</m:t>
                        </m:r>
                      </m:sup>
                    </m:sSup>
                  </m:oMath>
                </a14:m>
                <a:r>
                  <a:rPr lang="zh-CN" altLang="en-US" dirty="0"/>
                  <a:t>的交集将结果限制在感兴趣区域内，实现条件膨胀。</a:t>
                </a:r>
              </a:p>
            </p:txBody>
          </p:sp>
        </mc:Choice>
        <mc:Fallback xmlns="">
          <p:sp>
            <p:nvSpPr>
              <p:cNvPr id="3" name="Content Placeholder 2">
                <a:extLst>
                  <a:ext uri="{FF2B5EF4-FFF2-40B4-BE49-F238E27FC236}">
                    <a16:creationId xmlns:a16="http://schemas.microsoft.com/office/drawing/2014/main" id="{45AEED74-9EC7-49A6-8B0B-487F68426A01}"/>
                  </a:ext>
                </a:extLst>
              </p:cNvPr>
              <p:cNvSpPr>
                <a:spLocks noGrp="1" noRot="1" noChangeAspect="1" noMove="1" noResize="1" noEditPoints="1" noAdjustHandles="1" noChangeArrowheads="1" noChangeShapeType="1" noTextEdit="1"/>
              </p:cNvSpPr>
              <p:nvPr>
                <p:ph idx="1"/>
              </p:nvPr>
            </p:nvSpPr>
            <p:spPr>
              <a:xfrm>
                <a:off x="7165446" y="1825625"/>
                <a:ext cx="4628622" cy="4351338"/>
              </a:xfrm>
              <a:blipFill>
                <a:blip r:embed="rId2"/>
                <a:stretch>
                  <a:fillRect l="-2632"/>
                </a:stretch>
              </a:blipFill>
            </p:spPr>
            <p:txBody>
              <a:bodyPr/>
              <a:lstStyle/>
              <a:p>
                <a:r>
                  <a:rPr lang="zh-CN" altLang="en-US">
                    <a:noFill/>
                  </a:rPr>
                  <a:t> </a:t>
                </a:r>
              </a:p>
            </p:txBody>
          </p:sp>
        </mc:Fallback>
      </mc:AlternateContent>
      <p:pic>
        <p:nvPicPr>
          <p:cNvPr id="4" name="Picture 3">
            <a:extLst>
              <a:ext uri="{FF2B5EF4-FFF2-40B4-BE49-F238E27FC236}">
                <a16:creationId xmlns:a16="http://schemas.microsoft.com/office/drawing/2014/main" id="{93028245-B8E8-4D20-8C0F-43837EC3DA64}"/>
              </a:ext>
            </a:extLst>
          </p:cNvPr>
          <p:cNvPicPr>
            <a:picLocks noChangeAspect="1"/>
          </p:cNvPicPr>
          <p:nvPr/>
        </p:nvPicPr>
        <p:blipFill>
          <a:blip r:embed="rId3"/>
          <a:stretch>
            <a:fillRect/>
          </a:stretch>
        </p:blipFill>
        <p:spPr>
          <a:xfrm>
            <a:off x="929745" y="1653116"/>
            <a:ext cx="6144155" cy="4839759"/>
          </a:xfrm>
          <a:prstGeom prst="rect">
            <a:avLst/>
          </a:prstGeom>
        </p:spPr>
      </p:pic>
    </p:spTree>
    <p:extLst>
      <p:ext uri="{BB962C8B-B14F-4D97-AF65-F5344CB8AC3E}">
        <p14:creationId xmlns:p14="http://schemas.microsoft.com/office/powerpoint/2010/main" val="5230215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D64B5-5967-4F91-B4CD-D47778992C1C}"/>
              </a:ext>
            </a:extLst>
          </p:cNvPr>
          <p:cNvSpPr>
            <a:spLocks noGrp="1"/>
          </p:cNvSpPr>
          <p:nvPr>
            <p:ph type="title"/>
          </p:nvPr>
        </p:nvSpPr>
        <p:spPr/>
        <p:txBody>
          <a:bodyPr/>
          <a:lstStyle/>
          <a:p>
            <a:r>
              <a:rPr lang="en-US" altLang="zh-CN" b="1" dirty="0"/>
              <a:t>6. </a:t>
            </a:r>
            <a:r>
              <a:rPr lang="zh-CN" altLang="en-US" b="1" dirty="0"/>
              <a:t>算法应用 </a:t>
            </a:r>
            <a:r>
              <a:rPr lang="en-US" altLang="zh-CN" b="1" dirty="0"/>
              <a:t>– </a:t>
            </a:r>
            <a:r>
              <a:rPr lang="zh-CN" altLang="en-US" b="1" dirty="0">
                <a:solidFill>
                  <a:srgbClr val="0070C0"/>
                </a:solidFill>
              </a:rPr>
              <a:t>孔洞填充</a:t>
            </a:r>
            <a:endParaRPr lang="zh-CN" altLang="en-US" dirty="0"/>
          </a:p>
        </p:txBody>
      </p:sp>
      <p:sp>
        <p:nvSpPr>
          <p:cNvPr id="3" name="Content Placeholder 2">
            <a:extLst>
              <a:ext uri="{FF2B5EF4-FFF2-40B4-BE49-F238E27FC236}">
                <a16:creationId xmlns:a16="http://schemas.microsoft.com/office/drawing/2014/main" id="{B06CE7B4-E223-482D-8131-832AA1179297}"/>
              </a:ext>
            </a:extLst>
          </p:cNvPr>
          <p:cNvSpPr>
            <a:spLocks noGrp="1"/>
          </p:cNvSpPr>
          <p:nvPr>
            <p:ph idx="1"/>
          </p:nvPr>
        </p:nvSpPr>
        <p:spPr/>
        <p:txBody>
          <a:bodyPr/>
          <a:lstStyle/>
          <a:p>
            <a:r>
              <a:rPr lang="zh-CN" altLang="en-US" b="1" dirty="0"/>
              <a:t>通过区域填充消除白色圈内部的孔洞</a:t>
            </a:r>
          </a:p>
        </p:txBody>
      </p:sp>
      <p:pic>
        <p:nvPicPr>
          <p:cNvPr id="4" name="Picture 3">
            <a:extLst>
              <a:ext uri="{FF2B5EF4-FFF2-40B4-BE49-F238E27FC236}">
                <a16:creationId xmlns:a16="http://schemas.microsoft.com/office/drawing/2014/main" id="{0F8B0E05-46A6-4A21-91EF-100D6AE0182A}"/>
              </a:ext>
            </a:extLst>
          </p:cNvPr>
          <p:cNvPicPr>
            <a:picLocks noChangeAspect="1"/>
          </p:cNvPicPr>
          <p:nvPr/>
        </p:nvPicPr>
        <p:blipFill>
          <a:blip r:embed="rId2"/>
          <a:stretch>
            <a:fillRect/>
          </a:stretch>
        </p:blipFill>
        <p:spPr>
          <a:xfrm>
            <a:off x="1027487" y="2452109"/>
            <a:ext cx="10137025" cy="4040766"/>
          </a:xfrm>
          <a:prstGeom prst="rect">
            <a:avLst/>
          </a:prstGeom>
        </p:spPr>
      </p:pic>
    </p:spTree>
    <p:extLst>
      <p:ext uri="{BB962C8B-B14F-4D97-AF65-F5344CB8AC3E}">
        <p14:creationId xmlns:p14="http://schemas.microsoft.com/office/powerpoint/2010/main" val="6189180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BBA31-4CBC-4BDE-9FE8-E864E154065F}"/>
              </a:ext>
            </a:extLst>
          </p:cNvPr>
          <p:cNvSpPr>
            <a:spLocks noGrp="1"/>
          </p:cNvSpPr>
          <p:nvPr>
            <p:ph type="title"/>
          </p:nvPr>
        </p:nvSpPr>
        <p:spPr/>
        <p:txBody>
          <a:bodyPr/>
          <a:lstStyle/>
          <a:p>
            <a:r>
              <a:rPr lang="zh-CN" altLang="en-US" b="1" dirty="0">
                <a:latin typeface="+mn-lt"/>
                <a:ea typeface="+mn-ea"/>
                <a:cs typeface="+mn-ea"/>
                <a:sym typeface="+mn-lt"/>
              </a:rPr>
              <a:t>提纲</a:t>
            </a:r>
            <a:endParaRPr lang="zh-CN" altLang="en-US" dirty="0">
              <a:latin typeface="+mn-lt"/>
              <a:ea typeface="+mn-ea"/>
              <a:cs typeface="+mn-ea"/>
              <a:sym typeface="+mn-lt"/>
            </a:endParaRPr>
          </a:p>
        </p:txBody>
      </p:sp>
      <p:sp>
        <p:nvSpPr>
          <p:cNvPr id="3" name="Content Placeholder 2">
            <a:extLst>
              <a:ext uri="{FF2B5EF4-FFF2-40B4-BE49-F238E27FC236}">
                <a16:creationId xmlns:a16="http://schemas.microsoft.com/office/drawing/2014/main" id="{B157E871-4B0F-4722-9782-38D7D916B2D9}"/>
              </a:ext>
            </a:extLst>
          </p:cNvPr>
          <p:cNvSpPr>
            <a:spLocks noGrp="1"/>
          </p:cNvSpPr>
          <p:nvPr>
            <p:ph idx="1"/>
          </p:nvPr>
        </p:nvSpPr>
        <p:spPr/>
        <p:txBody>
          <a:bodyPr/>
          <a:lstStyle/>
          <a:p>
            <a:pPr marL="571500" indent="-571500">
              <a:buFont typeface="+mj-ea"/>
              <a:buAutoNum type="ea1JpnChsDbPeriod"/>
            </a:pPr>
            <a:r>
              <a:rPr lang="zh-CN" altLang="en-US" dirty="0">
                <a:cs typeface="+mn-ea"/>
                <a:sym typeface="+mn-lt"/>
              </a:rPr>
              <a:t>二值形态学操作</a:t>
            </a:r>
            <a:endParaRPr lang="en-US" altLang="zh-CN" dirty="0">
              <a:cs typeface="+mn-ea"/>
              <a:sym typeface="+mn-lt"/>
            </a:endParaRPr>
          </a:p>
          <a:p>
            <a:pPr marL="514350" indent="-514350">
              <a:buFont typeface="+mj-lt"/>
              <a:buAutoNum type="ea1JpnChsDbPeriod"/>
            </a:pPr>
            <a:r>
              <a:rPr lang="zh-CN" altLang="en-US" b="1" dirty="0">
                <a:solidFill>
                  <a:schemeClr val="accent1"/>
                </a:solidFill>
                <a:cs typeface="+mn-ea"/>
                <a:sym typeface="+mn-lt"/>
              </a:rPr>
              <a:t>边缘检测</a:t>
            </a:r>
            <a:endParaRPr lang="en-US" altLang="zh-CN" b="1" dirty="0">
              <a:solidFill>
                <a:schemeClr val="accent1"/>
              </a:solidFill>
              <a:cs typeface="+mn-ea"/>
              <a:sym typeface="+mn-lt"/>
            </a:endParaRPr>
          </a:p>
          <a:p>
            <a:pPr marL="514350" indent="-514350">
              <a:buFont typeface="+mj-lt"/>
              <a:buAutoNum type="ea1JpnChsDbPeriod"/>
            </a:pPr>
            <a:r>
              <a:rPr lang="zh-CN" altLang="en-US" dirty="0">
                <a:cs typeface="+mn-ea"/>
                <a:sym typeface="+mn-lt"/>
              </a:rPr>
              <a:t>角点检测</a:t>
            </a:r>
            <a:endParaRPr lang="en-US" altLang="zh-CN" dirty="0">
              <a:cs typeface="+mn-ea"/>
              <a:sym typeface="+mn-lt"/>
            </a:endParaRPr>
          </a:p>
          <a:p>
            <a:pPr marL="514350" indent="-514350">
              <a:buFont typeface="+mj-lt"/>
              <a:buAutoNum type="ea1JpnChsDbPeriod"/>
            </a:pPr>
            <a:r>
              <a:rPr lang="zh-CN" altLang="en-US" dirty="0">
                <a:cs typeface="+mn-ea"/>
                <a:sym typeface="+mn-lt"/>
              </a:rPr>
              <a:t>仿射变换</a:t>
            </a:r>
            <a:endParaRPr lang="en-US" altLang="zh-CN" dirty="0">
              <a:cs typeface="+mn-ea"/>
              <a:sym typeface="+mn-lt"/>
            </a:endParaRPr>
          </a:p>
          <a:p>
            <a:endParaRPr lang="zh-CN" altLang="en-US" dirty="0">
              <a:cs typeface="+mn-ea"/>
              <a:sym typeface="+mn-lt"/>
            </a:endParaRPr>
          </a:p>
        </p:txBody>
      </p:sp>
    </p:spTree>
    <p:extLst>
      <p:ext uri="{BB962C8B-B14F-4D97-AF65-F5344CB8AC3E}">
        <p14:creationId xmlns:p14="http://schemas.microsoft.com/office/powerpoint/2010/main" val="26963328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CBC92-C681-411E-A7A9-99D3BF10096A}"/>
              </a:ext>
            </a:extLst>
          </p:cNvPr>
          <p:cNvSpPr>
            <a:spLocks noGrp="1"/>
          </p:cNvSpPr>
          <p:nvPr>
            <p:ph type="title"/>
          </p:nvPr>
        </p:nvSpPr>
        <p:spPr/>
        <p:txBody>
          <a:bodyPr/>
          <a:lstStyle/>
          <a:p>
            <a:r>
              <a:rPr lang="zh-CN" altLang="en-US" b="1" dirty="0">
                <a:latin typeface="+mn-lt"/>
                <a:ea typeface="+mn-ea"/>
                <a:cs typeface="+mn-ea"/>
                <a:sym typeface="+mn-lt"/>
              </a:rPr>
              <a:t>背景知识</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201FC6B-22CB-4AB8-B690-CD28EF8DC1D7}"/>
                  </a:ext>
                </a:extLst>
              </p:cNvPr>
              <p:cNvSpPr>
                <a:spLocks noGrp="1"/>
              </p:cNvSpPr>
              <p:nvPr>
                <p:ph idx="1"/>
              </p:nvPr>
            </p:nvSpPr>
            <p:spPr/>
            <p:txBody>
              <a:bodyPr>
                <a:normAutofit/>
              </a:bodyPr>
              <a:lstStyle/>
              <a:p>
                <a:pPr>
                  <a:lnSpc>
                    <a:spcPct val="130000"/>
                  </a:lnSpc>
                </a:pPr>
                <a:r>
                  <a:rPr lang="zh-CN" altLang="en-US" b="1" dirty="0">
                    <a:cs typeface="+mn-ea"/>
                    <a:sym typeface="+mn-lt"/>
                  </a:rPr>
                  <a:t>图像梯度</a:t>
                </a:r>
                <a:endParaRPr lang="en-US" altLang="zh-CN" b="1" dirty="0">
                  <a:cs typeface="+mn-ea"/>
                  <a:sym typeface="+mn-lt"/>
                </a:endParaRPr>
              </a:p>
              <a:p>
                <a:pPr lvl="1">
                  <a:lnSpc>
                    <a:spcPct val="130000"/>
                  </a:lnSpc>
                </a:pPr>
                <a:r>
                  <a:rPr lang="zh-CN" altLang="en-US" b="1" dirty="0">
                    <a:cs typeface="+mn-ea"/>
                    <a:sym typeface="+mn-lt"/>
                  </a:rPr>
                  <a:t>一阶梯度</a:t>
                </a:r>
                <a:endParaRPr lang="en-US" altLang="zh-CN" b="1" dirty="0">
                  <a:cs typeface="+mn-ea"/>
                  <a:sym typeface="+mn-lt"/>
                </a:endParaRPr>
              </a:p>
              <a:p>
                <a:pPr lvl="2">
                  <a:lnSpc>
                    <a:spcPct val="130000"/>
                  </a:lnSpc>
                </a:pPr>
                <a14:m>
                  <m:oMath xmlns:m="http://schemas.openxmlformats.org/officeDocument/2006/math">
                    <m:f>
                      <m:fPr>
                        <m:ctrlPr>
                          <a:rPr lang="en-US" altLang="zh-CN" i="1" smtClean="0">
                            <a:latin typeface="Cambria Math" panose="02040503050406030204" pitchFamily="18" charset="0"/>
                            <a:cs typeface="+mn-ea"/>
                            <a:sym typeface="+mn-lt"/>
                          </a:rPr>
                        </m:ctrlPr>
                      </m:fPr>
                      <m:num>
                        <m:r>
                          <a:rPr lang="zh-CN" altLang="en-US"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𝑓</m:t>
                        </m:r>
                        <m:r>
                          <a:rPr lang="en-US" altLang="zh-CN"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𝑥</m:t>
                        </m:r>
                        <m:r>
                          <a:rPr lang="en-US" altLang="zh-CN" b="0" i="1" smtClean="0">
                            <a:latin typeface="Cambria Math" panose="02040503050406030204" pitchFamily="18" charset="0"/>
                            <a:cs typeface="+mn-ea"/>
                            <a:sym typeface="+mn-lt"/>
                          </a:rPr>
                          <m:t>)</m:t>
                        </m:r>
                      </m:num>
                      <m:den>
                        <m:r>
                          <a:rPr lang="zh-CN" altLang="en-US"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𝑥</m:t>
                        </m:r>
                      </m:den>
                    </m:f>
                    <m:r>
                      <a:rPr lang="en-US" altLang="zh-CN"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𝑓</m:t>
                    </m:r>
                    <m:d>
                      <m:dPr>
                        <m:ctrlPr>
                          <a:rPr lang="en-US" altLang="zh-CN" i="1" smtClean="0">
                            <a:latin typeface="Cambria Math" panose="02040503050406030204" pitchFamily="18" charset="0"/>
                            <a:cs typeface="+mn-ea"/>
                            <a:sym typeface="+mn-lt"/>
                          </a:rPr>
                        </m:ctrlPr>
                      </m:dPr>
                      <m:e>
                        <m:r>
                          <a:rPr lang="en-US" altLang="zh-CN" b="0" i="1" smtClean="0">
                            <a:latin typeface="Cambria Math" panose="02040503050406030204" pitchFamily="18" charset="0"/>
                            <a:cs typeface="+mn-ea"/>
                            <a:sym typeface="+mn-lt"/>
                          </a:rPr>
                          <m:t>𝑥</m:t>
                        </m:r>
                        <m:r>
                          <a:rPr lang="en-US" altLang="zh-CN" b="0" i="1" smtClean="0">
                            <a:latin typeface="Cambria Math" panose="02040503050406030204" pitchFamily="18" charset="0"/>
                            <a:cs typeface="+mn-ea"/>
                            <a:sym typeface="+mn-lt"/>
                          </a:rPr>
                          <m:t>+1</m:t>
                        </m:r>
                      </m:e>
                    </m:d>
                    <m:r>
                      <a:rPr lang="en-US" altLang="zh-CN"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𝑓</m:t>
                    </m:r>
                    <m:r>
                      <a:rPr lang="en-US" altLang="zh-CN"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𝑥</m:t>
                    </m:r>
                    <m:r>
                      <a:rPr lang="en-US" altLang="zh-CN" b="0" i="1" smtClean="0">
                        <a:latin typeface="Cambria Math" panose="02040503050406030204" pitchFamily="18" charset="0"/>
                        <a:cs typeface="+mn-ea"/>
                        <a:sym typeface="+mn-lt"/>
                      </a:rPr>
                      <m:t>)</m:t>
                    </m:r>
                  </m:oMath>
                </a14:m>
                <a:endParaRPr lang="en-US" altLang="zh-CN" dirty="0">
                  <a:cs typeface="+mn-ea"/>
                  <a:sym typeface="+mn-lt"/>
                </a:endParaRPr>
              </a:p>
              <a:p>
                <a:pPr lvl="2">
                  <a:lnSpc>
                    <a:spcPct val="130000"/>
                  </a:lnSpc>
                </a:pPr>
                <a14:m>
                  <m:oMath xmlns:m="http://schemas.openxmlformats.org/officeDocument/2006/math">
                    <m:f>
                      <m:fPr>
                        <m:ctrlPr>
                          <a:rPr lang="en-US" altLang="zh-CN" i="1" smtClean="0">
                            <a:latin typeface="Cambria Math" panose="02040503050406030204" pitchFamily="18" charset="0"/>
                            <a:cs typeface="+mn-ea"/>
                            <a:sym typeface="+mn-lt"/>
                          </a:rPr>
                        </m:ctrlPr>
                      </m:fPr>
                      <m:num>
                        <m:r>
                          <a:rPr lang="zh-CN" altLang="en-US"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𝑓</m:t>
                        </m:r>
                        <m:r>
                          <a:rPr lang="en-US" altLang="zh-CN"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𝑥</m:t>
                        </m:r>
                        <m:r>
                          <a:rPr lang="en-US" altLang="zh-CN" b="0" i="1" smtClean="0">
                            <a:latin typeface="Cambria Math" panose="02040503050406030204" pitchFamily="18" charset="0"/>
                            <a:cs typeface="+mn-ea"/>
                            <a:sym typeface="+mn-lt"/>
                          </a:rPr>
                          <m:t>)</m:t>
                        </m:r>
                      </m:num>
                      <m:den>
                        <m:r>
                          <a:rPr lang="zh-CN" altLang="en-US"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𝑥</m:t>
                        </m:r>
                      </m:den>
                    </m:f>
                    <m:r>
                      <a:rPr lang="en-US" altLang="zh-CN"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𝑓</m:t>
                    </m:r>
                    <m:d>
                      <m:dPr>
                        <m:ctrlPr>
                          <a:rPr lang="en-US" altLang="zh-CN" i="1" smtClean="0">
                            <a:latin typeface="Cambria Math" panose="02040503050406030204" pitchFamily="18" charset="0"/>
                            <a:cs typeface="+mn-ea"/>
                            <a:sym typeface="+mn-lt"/>
                          </a:rPr>
                        </m:ctrlPr>
                      </m:dPr>
                      <m:e>
                        <m:r>
                          <a:rPr lang="en-US" altLang="zh-CN" b="0" i="1" smtClean="0">
                            <a:latin typeface="Cambria Math" panose="02040503050406030204" pitchFamily="18" charset="0"/>
                            <a:cs typeface="+mn-ea"/>
                            <a:sym typeface="+mn-lt"/>
                          </a:rPr>
                          <m:t>𝑥</m:t>
                        </m:r>
                      </m:e>
                    </m:d>
                    <m:r>
                      <a:rPr lang="en-US" altLang="zh-CN"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𝑓</m:t>
                    </m:r>
                    <m:r>
                      <a:rPr lang="en-US" altLang="zh-CN"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𝑥</m:t>
                    </m:r>
                    <m:r>
                      <a:rPr lang="en-US" altLang="zh-CN" b="0" i="1" smtClean="0">
                        <a:latin typeface="Cambria Math" panose="02040503050406030204" pitchFamily="18" charset="0"/>
                        <a:cs typeface="+mn-ea"/>
                        <a:sym typeface="+mn-lt"/>
                      </a:rPr>
                      <m:t>−1)</m:t>
                    </m:r>
                  </m:oMath>
                </a14:m>
                <a:endParaRPr lang="en-US" altLang="zh-CN" dirty="0">
                  <a:cs typeface="+mn-ea"/>
                  <a:sym typeface="+mn-lt"/>
                </a:endParaRPr>
              </a:p>
              <a:p>
                <a:pPr lvl="2">
                  <a:lnSpc>
                    <a:spcPct val="130000"/>
                  </a:lnSpc>
                </a:pPr>
                <a14:m>
                  <m:oMath xmlns:m="http://schemas.openxmlformats.org/officeDocument/2006/math">
                    <m:f>
                      <m:fPr>
                        <m:ctrlPr>
                          <a:rPr lang="en-US" altLang="zh-CN" i="1" smtClean="0">
                            <a:latin typeface="Cambria Math" panose="02040503050406030204" pitchFamily="18" charset="0"/>
                            <a:cs typeface="+mn-ea"/>
                            <a:sym typeface="+mn-lt"/>
                          </a:rPr>
                        </m:ctrlPr>
                      </m:fPr>
                      <m:num>
                        <m:r>
                          <a:rPr lang="zh-CN" altLang="en-US"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𝑓</m:t>
                        </m:r>
                        <m:r>
                          <a:rPr lang="en-US" altLang="zh-CN"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𝑥</m:t>
                        </m:r>
                        <m:r>
                          <a:rPr lang="en-US" altLang="zh-CN" b="0" i="1" smtClean="0">
                            <a:latin typeface="Cambria Math" panose="02040503050406030204" pitchFamily="18" charset="0"/>
                            <a:cs typeface="+mn-ea"/>
                            <a:sym typeface="+mn-lt"/>
                          </a:rPr>
                          <m:t>)</m:t>
                        </m:r>
                      </m:num>
                      <m:den>
                        <m:r>
                          <a:rPr lang="zh-CN" altLang="en-US"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𝑥</m:t>
                        </m:r>
                      </m:den>
                    </m:f>
                    <m:r>
                      <a:rPr lang="en-US" altLang="zh-CN" b="0" i="1" smtClean="0">
                        <a:latin typeface="Cambria Math" panose="02040503050406030204" pitchFamily="18" charset="0"/>
                        <a:cs typeface="+mn-ea"/>
                        <a:sym typeface="+mn-lt"/>
                      </a:rPr>
                      <m:t>=</m:t>
                    </m:r>
                    <m:f>
                      <m:fPr>
                        <m:ctrlPr>
                          <a:rPr lang="en-US" altLang="zh-CN" i="1" smtClean="0">
                            <a:latin typeface="Cambria Math" panose="02040503050406030204" pitchFamily="18" charset="0"/>
                            <a:cs typeface="+mn-ea"/>
                            <a:sym typeface="+mn-lt"/>
                          </a:rPr>
                        </m:ctrlPr>
                      </m:fPr>
                      <m:num>
                        <m:r>
                          <a:rPr lang="en-US" altLang="zh-CN" b="0" i="1" smtClean="0">
                            <a:latin typeface="Cambria Math" panose="02040503050406030204" pitchFamily="18" charset="0"/>
                            <a:cs typeface="+mn-ea"/>
                            <a:sym typeface="+mn-lt"/>
                          </a:rPr>
                          <m:t>𝑓</m:t>
                        </m:r>
                        <m:d>
                          <m:dPr>
                            <m:ctrlPr>
                              <a:rPr lang="en-US" altLang="zh-CN" i="1" smtClean="0">
                                <a:latin typeface="Cambria Math" panose="02040503050406030204" pitchFamily="18" charset="0"/>
                                <a:cs typeface="+mn-ea"/>
                                <a:sym typeface="+mn-lt"/>
                              </a:rPr>
                            </m:ctrlPr>
                          </m:dPr>
                          <m:e>
                            <m:r>
                              <a:rPr lang="en-US" altLang="zh-CN" b="0" i="1" smtClean="0">
                                <a:latin typeface="Cambria Math" panose="02040503050406030204" pitchFamily="18" charset="0"/>
                                <a:cs typeface="+mn-ea"/>
                                <a:sym typeface="+mn-lt"/>
                              </a:rPr>
                              <m:t>𝑥</m:t>
                            </m:r>
                            <m:r>
                              <a:rPr lang="en-US" altLang="zh-CN" b="0" i="1" smtClean="0">
                                <a:latin typeface="Cambria Math" panose="02040503050406030204" pitchFamily="18" charset="0"/>
                                <a:cs typeface="+mn-ea"/>
                                <a:sym typeface="+mn-lt"/>
                              </a:rPr>
                              <m:t>+1</m:t>
                            </m:r>
                          </m:e>
                        </m:d>
                        <m:r>
                          <a:rPr lang="en-US" altLang="zh-CN"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𝑓</m:t>
                        </m:r>
                        <m:r>
                          <a:rPr lang="en-US" altLang="zh-CN"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𝑥</m:t>
                        </m:r>
                        <m:r>
                          <a:rPr lang="en-US" altLang="zh-CN" b="0" i="1" smtClean="0">
                            <a:latin typeface="Cambria Math" panose="02040503050406030204" pitchFamily="18" charset="0"/>
                            <a:cs typeface="+mn-ea"/>
                            <a:sym typeface="+mn-lt"/>
                          </a:rPr>
                          <m:t>−1)</m:t>
                        </m:r>
                      </m:num>
                      <m:den>
                        <m:r>
                          <a:rPr lang="en-US" altLang="zh-CN" b="0" i="1" smtClean="0">
                            <a:latin typeface="Cambria Math" panose="02040503050406030204" pitchFamily="18" charset="0"/>
                            <a:cs typeface="+mn-ea"/>
                            <a:sym typeface="+mn-lt"/>
                          </a:rPr>
                          <m:t>2</m:t>
                        </m:r>
                      </m:den>
                    </m:f>
                  </m:oMath>
                </a14:m>
                <a:endParaRPr lang="en-US" altLang="zh-CN" dirty="0">
                  <a:cs typeface="+mn-ea"/>
                  <a:sym typeface="+mn-lt"/>
                </a:endParaRPr>
              </a:p>
              <a:p>
                <a:pPr lvl="1">
                  <a:lnSpc>
                    <a:spcPct val="130000"/>
                  </a:lnSpc>
                </a:pPr>
                <a:r>
                  <a:rPr lang="zh-CN" altLang="en-US" b="1" dirty="0">
                    <a:cs typeface="+mn-ea"/>
                    <a:sym typeface="+mn-lt"/>
                  </a:rPr>
                  <a:t>二阶梯度</a:t>
                </a:r>
                <a:endParaRPr lang="en-US" altLang="zh-CN" b="1" dirty="0">
                  <a:cs typeface="+mn-ea"/>
                  <a:sym typeface="+mn-lt"/>
                </a:endParaRPr>
              </a:p>
              <a:p>
                <a:pPr lvl="2">
                  <a:lnSpc>
                    <a:spcPct val="130000"/>
                  </a:lnSpc>
                </a:pPr>
                <a14:m>
                  <m:oMath xmlns:m="http://schemas.openxmlformats.org/officeDocument/2006/math">
                    <m:f>
                      <m:fPr>
                        <m:ctrlPr>
                          <a:rPr lang="en-US" altLang="zh-CN" i="1" smtClean="0">
                            <a:latin typeface="Cambria Math" panose="02040503050406030204" pitchFamily="18" charset="0"/>
                            <a:cs typeface="+mn-ea"/>
                            <a:sym typeface="+mn-lt"/>
                          </a:rPr>
                        </m:ctrlPr>
                      </m:fPr>
                      <m:num>
                        <m:sSup>
                          <m:sSupPr>
                            <m:ctrlPr>
                              <a:rPr lang="en-US" altLang="zh-CN" i="1" smtClean="0">
                                <a:latin typeface="Cambria Math" panose="02040503050406030204" pitchFamily="18" charset="0"/>
                                <a:cs typeface="+mn-ea"/>
                                <a:sym typeface="+mn-lt"/>
                              </a:rPr>
                            </m:ctrlPr>
                          </m:sSupPr>
                          <m:e>
                            <m:r>
                              <a:rPr lang="zh-CN" altLang="en-US" b="0" i="1" smtClean="0">
                                <a:latin typeface="Cambria Math" panose="02040503050406030204" pitchFamily="18" charset="0"/>
                                <a:cs typeface="+mn-ea"/>
                                <a:sym typeface="+mn-lt"/>
                              </a:rPr>
                              <m:t>𝜕</m:t>
                            </m:r>
                          </m:e>
                          <m:sup>
                            <m:r>
                              <a:rPr lang="en-US" altLang="zh-CN" b="0" i="1" smtClean="0">
                                <a:latin typeface="Cambria Math" panose="02040503050406030204" pitchFamily="18" charset="0"/>
                                <a:cs typeface="+mn-ea"/>
                                <a:sym typeface="+mn-lt"/>
                              </a:rPr>
                              <m:t>2</m:t>
                            </m:r>
                          </m:sup>
                        </m:sSup>
                        <m:r>
                          <a:rPr lang="en-US" altLang="zh-CN" b="0" i="1" smtClean="0">
                            <a:latin typeface="Cambria Math" panose="02040503050406030204" pitchFamily="18" charset="0"/>
                            <a:cs typeface="+mn-ea"/>
                            <a:sym typeface="+mn-lt"/>
                          </a:rPr>
                          <m:t>𝑓</m:t>
                        </m:r>
                        <m:r>
                          <a:rPr lang="en-US" altLang="zh-CN"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𝑥</m:t>
                        </m:r>
                        <m:r>
                          <a:rPr lang="en-US" altLang="zh-CN" b="0" i="1" smtClean="0">
                            <a:latin typeface="Cambria Math" panose="02040503050406030204" pitchFamily="18" charset="0"/>
                            <a:cs typeface="+mn-ea"/>
                            <a:sym typeface="+mn-lt"/>
                          </a:rPr>
                          <m:t>)</m:t>
                        </m:r>
                      </m:num>
                      <m:den>
                        <m:r>
                          <a:rPr lang="zh-CN" altLang="en-US" b="0" i="1" smtClean="0">
                            <a:latin typeface="Cambria Math" panose="02040503050406030204" pitchFamily="18" charset="0"/>
                            <a:cs typeface="+mn-ea"/>
                            <a:sym typeface="+mn-lt"/>
                          </a:rPr>
                          <m:t>𝜕</m:t>
                        </m:r>
                        <m:sSup>
                          <m:sSupPr>
                            <m:ctrlPr>
                              <a:rPr lang="en-US" altLang="zh-CN" b="0" i="1" smtClean="0">
                                <a:latin typeface="Cambria Math" panose="02040503050406030204" pitchFamily="18" charset="0"/>
                                <a:cs typeface="+mn-ea"/>
                                <a:sym typeface="+mn-lt"/>
                              </a:rPr>
                            </m:ctrlPr>
                          </m:sSupPr>
                          <m:e>
                            <m:r>
                              <a:rPr lang="en-US" altLang="zh-CN" b="0" i="1" smtClean="0">
                                <a:latin typeface="Cambria Math" panose="02040503050406030204" pitchFamily="18" charset="0"/>
                                <a:cs typeface="+mn-ea"/>
                                <a:sym typeface="+mn-lt"/>
                              </a:rPr>
                              <m:t>𝑥</m:t>
                            </m:r>
                          </m:e>
                          <m:sup>
                            <m:r>
                              <a:rPr lang="en-US" altLang="zh-CN" b="0" i="1" smtClean="0">
                                <a:latin typeface="Cambria Math" panose="02040503050406030204" pitchFamily="18" charset="0"/>
                                <a:cs typeface="+mn-ea"/>
                                <a:sym typeface="+mn-lt"/>
                              </a:rPr>
                              <m:t>2</m:t>
                            </m:r>
                          </m:sup>
                        </m:sSup>
                      </m:den>
                    </m:f>
                    <m:r>
                      <a:rPr lang="en-US" altLang="zh-CN"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𝑓</m:t>
                    </m:r>
                    <m:d>
                      <m:dPr>
                        <m:ctrlPr>
                          <a:rPr lang="en-US" altLang="zh-CN" b="0" i="1" smtClean="0">
                            <a:latin typeface="Cambria Math" panose="02040503050406030204" pitchFamily="18" charset="0"/>
                            <a:cs typeface="+mn-ea"/>
                            <a:sym typeface="+mn-lt"/>
                          </a:rPr>
                        </m:ctrlPr>
                      </m:dPr>
                      <m:e>
                        <m:r>
                          <a:rPr lang="en-US" altLang="zh-CN" b="0" i="1" smtClean="0">
                            <a:latin typeface="Cambria Math" panose="02040503050406030204" pitchFamily="18" charset="0"/>
                            <a:cs typeface="+mn-ea"/>
                            <a:sym typeface="+mn-lt"/>
                          </a:rPr>
                          <m:t>𝑥</m:t>
                        </m:r>
                        <m:r>
                          <a:rPr lang="en-US" altLang="zh-CN" b="0" i="1" smtClean="0">
                            <a:latin typeface="Cambria Math" panose="02040503050406030204" pitchFamily="18" charset="0"/>
                            <a:cs typeface="+mn-ea"/>
                            <a:sym typeface="+mn-lt"/>
                          </a:rPr>
                          <m:t>+1</m:t>
                        </m:r>
                      </m:e>
                    </m:d>
                    <m:r>
                      <a:rPr lang="en-US" altLang="zh-CN" b="0" i="1" smtClean="0">
                        <a:latin typeface="Cambria Math" panose="02040503050406030204" pitchFamily="18" charset="0"/>
                        <a:cs typeface="+mn-ea"/>
                        <a:sym typeface="+mn-lt"/>
                      </a:rPr>
                      <m:t>−2</m:t>
                    </m:r>
                    <m:r>
                      <a:rPr lang="en-US" altLang="zh-CN" b="0" i="1" smtClean="0">
                        <a:latin typeface="Cambria Math" panose="02040503050406030204" pitchFamily="18" charset="0"/>
                        <a:cs typeface="+mn-ea"/>
                        <a:sym typeface="+mn-lt"/>
                      </a:rPr>
                      <m:t>𝑓</m:t>
                    </m:r>
                    <m:d>
                      <m:dPr>
                        <m:ctrlPr>
                          <a:rPr lang="en-US" altLang="zh-CN" b="0" i="1" smtClean="0">
                            <a:latin typeface="Cambria Math" panose="02040503050406030204" pitchFamily="18" charset="0"/>
                            <a:cs typeface="+mn-ea"/>
                            <a:sym typeface="+mn-lt"/>
                          </a:rPr>
                        </m:ctrlPr>
                      </m:dPr>
                      <m:e>
                        <m:r>
                          <a:rPr lang="en-US" altLang="zh-CN" b="0" i="1" smtClean="0">
                            <a:latin typeface="Cambria Math" panose="02040503050406030204" pitchFamily="18" charset="0"/>
                            <a:cs typeface="+mn-ea"/>
                            <a:sym typeface="+mn-lt"/>
                          </a:rPr>
                          <m:t>𝑥</m:t>
                        </m:r>
                      </m:e>
                    </m:d>
                    <m:r>
                      <a:rPr lang="en-US" altLang="zh-CN"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𝑓</m:t>
                    </m:r>
                    <m:r>
                      <a:rPr lang="en-US" altLang="zh-CN"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𝑥</m:t>
                    </m:r>
                    <m:r>
                      <a:rPr lang="en-US" altLang="zh-CN" b="0" i="1" smtClean="0">
                        <a:latin typeface="Cambria Math" panose="02040503050406030204" pitchFamily="18" charset="0"/>
                        <a:cs typeface="+mn-ea"/>
                        <a:sym typeface="+mn-lt"/>
                      </a:rPr>
                      <m:t>−1)</m:t>
                    </m:r>
                  </m:oMath>
                </a14:m>
                <a:endParaRPr lang="zh-CN" altLang="en-US" b="1" dirty="0">
                  <a:cs typeface="+mn-ea"/>
                  <a:sym typeface="+mn-lt"/>
                </a:endParaRPr>
              </a:p>
            </p:txBody>
          </p:sp>
        </mc:Choice>
        <mc:Fallback xmlns="">
          <p:sp>
            <p:nvSpPr>
              <p:cNvPr id="3" name="Content Placeholder 2">
                <a:extLst>
                  <a:ext uri="{FF2B5EF4-FFF2-40B4-BE49-F238E27FC236}">
                    <a16:creationId xmlns:a16="http://schemas.microsoft.com/office/drawing/2014/main" id="{8201FC6B-22CB-4AB8-B690-CD28EF8DC1D7}"/>
                  </a:ext>
                </a:extLst>
              </p:cNvPr>
              <p:cNvSpPr>
                <a:spLocks noGrp="1" noRot="1" noChangeAspect="1" noMove="1" noResize="1" noEditPoints="1" noAdjustHandles="1" noChangeArrowheads="1" noChangeShapeType="1" noTextEdit="1"/>
              </p:cNvSpPr>
              <p:nvPr>
                <p:ph idx="1"/>
              </p:nvPr>
            </p:nvSpPr>
            <p:spPr>
              <a:blipFill>
                <a:blip r:embed="rId2"/>
                <a:stretch>
                  <a:fillRect l="-1043" t="-280"/>
                </a:stretch>
              </a:blipFill>
            </p:spPr>
            <p:txBody>
              <a:bodyPr/>
              <a:lstStyle/>
              <a:p>
                <a:r>
                  <a:rPr lang="zh-CN" altLang="en-US">
                    <a:noFill/>
                  </a:rPr>
                  <a:t> </a:t>
                </a:r>
              </a:p>
            </p:txBody>
          </p:sp>
        </mc:Fallback>
      </mc:AlternateContent>
      <p:pic>
        <p:nvPicPr>
          <p:cNvPr id="4" name="Picture 3">
            <a:extLst>
              <a:ext uri="{FF2B5EF4-FFF2-40B4-BE49-F238E27FC236}">
                <a16:creationId xmlns:a16="http://schemas.microsoft.com/office/drawing/2014/main" id="{40E87957-1297-47CF-9C49-9FD7407EF041}"/>
              </a:ext>
            </a:extLst>
          </p:cNvPr>
          <p:cNvPicPr>
            <a:picLocks noChangeAspect="1"/>
          </p:cNvPicPr>
          <p:nvPr/>
        </p:nvPicPr>
        <p:blipFill>
          <a:blip r:embed="rId3"/>
          <a:stretch>
            <a:fillRect/>
          </a:stretch>
        </p:blipFill>
        <p:spPr>
          <a:xfrm>
            <a:off x="6256868" y="1201529"/>
            <a:ext cx="5825065" cy="4975434"/>
          </a:xfrm>
          <a:prstGeom prst="rect">
            <a:avLst/>
          </a:prstGeom>
        </p:spPr>
      </p:pic>
    </p:spTree>
    <p:extLst>
      <p:ext uri="{BB962C8B-B14F-4D97-AF65-F5344CB8AC3E}">
        <p14:creationId xmlns:p14="http://schemas.microsoft.com/office/powerpoint/2010/main" val="40936703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93F25-3C12-4C71-9D9D-A704D0FDA13B}"/>
              </a:ext>
            </a:extLst>
          </p:cNvPr>
          <p:cNvSpPr>
            <a:spLocks noGrp="1"/>
          </p:cNvSpPr>
          <p:nvPr>
            <p:ph type="title"/>
          </p:nvPr>
        </p:nvSpPr>
        <p:spPr/>
        <p:txBody>
          <a:bodyPr/>
          <a:lstStyle/>
          <a:p>
            <a:r>
              <a:rPr lang="zh-CN" altLang="en-US" b="1" dirty="0">
                <a:latin typeface="+mn-lt"/>
                <a:ea typeface="+mn-ea"/>
                <a:cs typeface="+mn-ea"/>
                <a:sym typeface="+mn-lt"/>
              </a:rPr>
              <a:t>背景知识</a:t>
            </a:r>
            <a:endParaRPr lang="zh-CN" altLang="en-US" dirty="0">
              <a:latin typeface="+mn-lt"/>
              <a:ea typeface="+mn-ea"/>
              <a:cs typeface="+mn-ea"/>
              <a:sym typeface="+mn-lt"/>
            </a:endParaRPr>
          </a:p>
        </p:txBody>
      </p:sp>
      <p:sp>
        <p:nvSpPr>
          <p:cNvPr id="3" name="Content Placeholder 2">
            <a:extLst>
              <a:ext uri="{FF2B5EF4-FFF2-40B4-BE49-F238E27FC236}">
                <a16:creationId xmlns:a16="http://schemas.microsoft.com/office/drawing/2014/main" id="{5BFECE79-629C-405C-8541-25F0190ECDB6}"/>
              </a:ext>
            </a:extLst>
          </p:cNvPr>
          <p:cNvSpPr>
            <a:spLocks noGrp="1"/>
          </p:cNvSpPr>
          <p:nvPr>
            <p:ph idx="1"/>
          </p:nvPr>
        </p:nvSpPr>
        <p:spPr>
          <a:xfrm>
            <a:off x="838199" y="1825625"/>
            <a:ext cx="6206068" cy="4351338"/>
          </a:xfrm>
        </p:spPr>
        <p:txBody>
          <a:bodyPr/>
          <a:lstStyle/>
          <a:p>
            <a:pPr>
              <a:lnSpc>
                <a:spcPct val="120000"/>
              </a:lnSpc>
            </a:pPr>
            <a:r>
              <a:rPr lang="zh-CN" altLang="en-US" dirty="0">
                <a:cs typeface="+mn-ea"/>
                <a:sym typeface="+mn-lt"/>
              </a:rPr>
              <a:t>一阶梯度通常产生粗边缘</a:t>
            </a:r>
            <a:endParaRPr lang="en-US" altLang="zh-CN" dirty="0">
              <a:cs typeface="+mn-ea"/>
              <a:sym typeface="+mn-lt"/>
            </a:endParaRPr>
          </a:p>
          <a:p>
            <a:pPr>
              <a:lnSpc>
                <a:spcPct val="120000"/>
              </a:lnSpc>
            </a:pPr>
            <a:r>
              <a:rPr lang="zh-CN" altLang="en-US" dirty="0">
                <a:cs typeface="+mn-ea"/>
                <a:sym typeface="+mn-lt"/>
              </a:rPr>
              <a:t>二阶梯度对精细细节（如细线、孤立点和噪声）有更强的响应</a:t>
            </a:r>
            <a:endParaRPr lang="en-US" altLang="zh-CN" dirty="0">
              <a:cs typeface="+mn-ea"/>
              <a:sym typeface="+mn-lt"/>
            </a:endParaRPr>
          </a:p>
          <a:p>
            <a:pPr>
              <a:lnSpc>
                <a:spcPct val="120000"/>
              </a:lnSpc>
            </a:pPr>
            <a:r>
              <a:rPr lang="zh-CN" altLang="en-US" dirty="0">
                <a:cs typeface="+mn-ea"/>
                <a:sym typeface="+mn-lt"/>
              </a:rPr>
              <a:t>二阶梯度在台阶和斜坡过渡处会产生双边缘响应</a:t>
            </a:r>
            <a:endParaRPr lang="en-US" altLang="zh-CN" dirty="0">
              <a:cs typeface="+mn-ea"/>
              <a:sym typeface="+mn-lt"/>
            </a:endParaRPr>
          </a:p>
          <a:p>
            <a:pPr>
              <a:lnSpc>
                <a:spcPct val="120000"/>
              </a:lnSpc>
            </a:pPr>
            <a:r>
              <a:rPr lang="zh-CN" altLang="en-US" dirty="0">
                <a:cs typeface="+mn-ea"/>
                <a:sym typeface="+mn-lt"/>
              </a:rPr>
              <a:t>二阶梯度的符号可用于确定边缘的过渡是从亮到暗还是从暗到亮</a:t>
            </a:r>
          </a:p>
        </p:txBody>
      </p:sp>
      <p:pic>
        <p:nvPicPr>
          <p:cNvPr id="4" name="Picture 3">
            <a:extLst>
              <a:ext uri="{FF2B5EF4-FFF2-40B4-BE49-F238E27FC236}">
                <a16:creationId xmlns:a16="http://schemas.microsoft.com/office/drawing/2014/main" id="{7FFE5DF7-D329-4A5B-BD14-D0155D3515D0}"/>
              </a:ext>
            </a:extLst>
          </p:cNvPr>
          <p:cNvPicPr>
            <a:picLocks noChangeAspect="1"/>
          </p:cNvPicPr>
          <p:nvPr/>
        </p:nvPicPr>
        <p:blipFill rotWithShape="1">
          <a:blip r:embed="rId2"/>
          <a:srcRect r="4198"/>
          <a:stretch/>
        </p:blipFill>
        <p:spPr>
          <a:xfrm>
            <a:off x="7504153" y="2008736"/>
            <a:ext cx="3671848" cy="3832715"/>
          </a:xfrm>
          <a:prstGeom prst="rect">
            <a:avLst/>
          </a:prstGeom>
        </p:spPr>
      </p:pic>
    </p:spTree>
    <p:extLst>
      <p:ext uri="{BB962C8B-B14F-4D97-AF65-F5344CB8AC3E}">
        <p14:creationId xmlns:p14="http://schemas.microsoft.com/office/powerpoint/2010/main" val="38112601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13DE1-2C9E-4545-9607-8DFA148C58C3}"/>
              </a:ext>
            </a:extLst>
          </p:cNvPr>
          <p:cNvSpPr>
            <a:spLocks noGrp="1"/>
          </p:cNvSpPr>
          <p:nvPr>
            <p:ph type="title"/>
          </p:nvPr>
        </p:nvSpPr>
        <p:spPr/>
        <p:txBody>
          <a:bodyPr/>
          <a:lstStyle/>
          <a:p>
            <a:r>
              <a:rPr lang="zh-CN" altLang="en-US" b="1" dirty="0">
                <a:latin typeface="+mn-lt"/>
                <a:ea typeface="+mn-ea"/>
                <a:cs typeface="+mn-ea"/>
                <a:sym typeface="+mn-lt"/>
              </a:rPr>
              <a:t>孤立点的检测</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9D22558-1974-4E2F-8B47-3AAA5EC0CC57}"/>
                  </a:ext>
                </a:extLst>
              </p:cNvPr>
              <p:cNvSpPr>
                <a:spLocks noGrp="1"/>
              </p:cNvSpPr>
              <p:nvPr>
                <p:ph idx="1"/>
              </p:nvPr>
            </p:nvSpPr>
            <p:spPr/>
            <p:txBody>
              <a:bodyPr>
                <a:normAutofit fontScale="92500" lnSpcReduction="20000"/>
              </a:bodyPr>
              <a:lstStyle/>
              <a:p>
                <a:pPr>
                  <a:lnSpc>
                    <a:spcPct val="150000"/>
                  </a:lnSpc>
                </a:pPr>
                <a:r>
                  <a:rPr lang="zh-CN" altLang="en-US" b="1" dirty="0">
                    <a:solidFill>
                      <a:srgbClr val="00B0F0"/>
                    </a:solidFill>
                    <a:cs typeface="+mn-ea"/>
                    <a:sym typeface="+mn-lt"/>
                  </a:rPr>
                  <a:t>点的检测</a:t>
                </a:r>
                <a:r>
                  <a:rPr lang="zh-CN" altLang="en-US" dirty="0">
                    <a:cs typeface="+mn-ea"/>
                    <a:sym typeface="+mn-lt"/>
                  </a:rPr>
                  <a:t>以二阶梯度为基础，如果</a:t>
                </a:r>
                <a14:m>
                  <m:oMath xmlns:m="http://schemas.openxmlformats.org/officeDocument/2006/math">
                    <m:r>
                      <a:rPr lang="en-US" altLang="zh-CN"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𝑍</m:t>
                    </m:r>
                    <m:d>
                      <m:dPr>
                        <m:ctrlPr>
                          <a:rPr lang="en-US" altLang="zh-CN" b="0" i="1" smtClean="0">
                            <a:latin typeface="Cambria Math" panose="02040503050406030204" pitchFamily="18" charset="0"/>
                            <a:cs typeface="+mn-ea"/>
                            <a:sym typeface="+mn-lt"/>
                          </a:rPr>
                        </m:ctrlPr>
                      </m:dPr>
                      <m:e>
                        <m:r>
                          <a:rPr lang="en-US" altLang="zh-CN" b="0" i="1" smtClean="0">
                            <a:latin typeface="Cambria Math" panose="02040503050406030204" pitchFamily="18" charset="0"/>
                            <a:cs typeface="+mn-ea"/>
                            <a:sym typeface="+mn-lt"/>
                          </a:rPr>
                          <m:t>𝑥</m:t>
                        </m:r>
                        <m:r>
                          <a:rPr lang="en-US" altLang="zh-CN"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𝑦</m:t>
                        </m:r>
                      </m:e>
                    </m:d>
                    <m:r>
                      <a:rPr lang="en-US" altLang="zh-CN"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𝑇</m:t>
                    </m:r>
                  </m:oMath>
                </a14:m>
                <a:r>
                  <a:rPr lang="zh-CN" altLang="en-US" dirty="0">
                    <a:cs typeface="+mn-ea"/>
                    <a:sym typeface="+mn-lt"/>
                  </a:rPr>
                  <a:t>，则检测到一个点</a:t>
                </a:r>
                <a:endParaRPr lang="en-US" altLang="zh-CN" dirty="0">
                  <a:cs typeface="+mn-ea"/>
                  <a:sym typeface="+mn-lt"/>
                </a:endParaRPr>
              </a:p>
              <a:p>
                <a:pPr lvl="1">
                  <a:lnSpc>
                    <a:spcPct val="150000"/>
                  </a:lnSpc>
                </a:pPr>
                <a14:m>
                  <m:oMath xmlns:m="http://schemas.openxmlformats.org/officeDocument/2006/math">
                    <m:r>
                      <a:rPr lang="en-US" altLang="zh-CN" b="0" i="1" smtClean="0">
                        <a:latin typeface="Cambria Math" panose="02040503050406030204" pitchFamily="18" charset="0"/>
                        <a:cs typeface="+mn-ea"/>
                        <a:sym typeface="+mn-lt"/>
                      </a:rPr>
                      <m:t>𝑔</m:t>
                    </m:r>
                    <m:d>
                      <m:dPr>
                        <m:ctrlPr>
                          <a:rPr lang="en-US" altLang="zh-CN" b="0" i="1" smtClean="0">
                            <a:latin typeface="Cambria Math" panose="02040503050406030204" pitchFamily="18" charset="0"/>
                            <a:cs typeface="+mn-ea"/>
                            <a:sym typeface="+mn-lt"/>
                          </a:rPr>
                        </m:ctrlPr>
                      </m:dPr>
                      <m:e>
                        <m:r>
                          <a:rPr lang="en-US" altLang="zh-CN" b="0" i="1" smtClean="0">
                            <a:latin typeface="Cambria Math" panose="02040503050406030204" pitchFamily="18" charset="0"/>
                            <a:cs typeface="+mn-ea"/>
                            <a:sym typeface="+mn-lt"/>
                          </a:rPr>
                          <m:t>𝑥</m:t>
                        </m:r>
                        <m:r>
                          <a:rPr lang="en-US" altLang="zh-CN"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𝑦</m:t>
                        </m:r>
                      </m:e>
                    </m:d>
                    <m:r>
                      <a:rPr lang="en-US" altLang="zh-CN" b="0" i="1" smtClean="0">
                        <a:latin typeface="Cambria Math" panose="02040503050406030204" pitchFamily="18" charset="0"/>
                        <a:cs typeface="+mn-ea"/>
                        <a:sym typeface="+mn-lt"/>
                      </a:rPr>
                      <m:t>=</m:t>
                    </m:r>
                    <m:d>
                      <m:dPr>
                        <m:begChr m:val="{"/>
                        <m:endChr m:val=""/>
                        <m:ctrlPr>
                          <a:rPr lang="en-US" altLang="zh-CN" b="0" i="1" smtClean="0">
                            <a:latin typeface="Cambria Math" panose="02040503050406030204" pitchFamily="18" charset="0"/>
                            <a:cs typeface="+mn-ea"/>
                            <a:sym typeface="+mn-lt"/>
                          </a:rPr>
                        </m:ctrlPr>
                      </m:dPr>
                      <m:e>
                        <m:eqArr>
                          <m:eqArrPr>
                            <m:ctrlPr>
                              <a:rPr lang="en-US" altLang="zh-CN" b="0" i="1" smtClean="0">
                                <a:latin typeface="Cambria Math" panose="02040503050406030204" pitchFamily="18" charset="0"/>
                                <a:cs typeface="+mn-ea"/>
                                <a:sym typeface="+mn-lt"/>
                              </a:rPr>
                            </m:ctrlPr>
                          </m:eqArrPr>
                          <m:e>
                            <m:m>
                              <m:mPr>
                                <m:mcs>
                                  <m:mc>
                                    <m:mcPr>
                                      <m:count m:val="2"/>
                                      <m:mcJc m:val="center"/>
                                    </m:mcPr>
                                  </m:mc>
                                </m:mcs>
                                <m:ctrlPr>
                                  <a:rPr lang="en-US" altLang="zh-CN" b="0" i="1" smtClean="0">
                                    <a:latin typeface="Cambria Math" panose="02040503050406030204" pitchFamily="18" charset="0"/>
                                    <a:cs typeface="+mn-ea"/>
                                    <a:sym typeface="+mn-lt"/>
                                  </a:rPr>
                                </m:ctrlPr>
                              </m:mPr>
                              <m:mr>
                                <m:e>
                                  <m:r>
                                    <m:rPr>
                                      <m:brk m:alnAt="7"/>
                                    </m:rPr>
                                    <a:rPr lang="en-US" altLang="zh-CN" b="0" i="1" smtClean="0">
                                      <a:latin typeface="Cambria Math" panose="02040503050406030204" pitchFamily="18" charset="0"/>
                                      <a:cs typeface="+mn-ea"/>
                                      <a:sym typeface="+mn-lt"/>
                                    </a:rPr>
                                    <m:t>1</m:t>
                                  </m:r>
                                  <m:r>
                                    <a:rPr lang="en-US" altLang="zh-CN" b="0" i="1" smtClean="0">
                                      <a:latin typeface="Cambria Math" panose="02040503050406030204" pitchFamily="18" charset="0"/>
                                      <a:cs typeface="+mn-ea"/>
                                      <a:sym typeface="+mn-lt"/>
                                    </a:rPr>
                                    <m:t>,</m:t>
                                  </m:r>
                                </m:e>
                                <m:e>
                                  <m:r>
                                    <a:rPr lang="en-US" altLang="zh-CN"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𝑍</m:t>
                                  </m:r>
                                  <m:d>
                                    <m:dPr>
                                      <m:ctrlPr>
                                        <a:rPr lang="en-US" altLang="zh-CN" b="0" i="1" smtClean="0">
                                          <a:latin typeface="Cambria Math" panose="02040503050406030204" pitchFamily="18" charset="0"/>
                                          <a:cs typeface="+mn-ea"/>
                                          <a:sym typeface="+mn-lt"/>
                                        </a:rPr>
                                      </m:ctrlPr>
                                    </m:dPr>
                                    <m:e>
                                      <m:r>
                                        <a:rPr lang="en-US" altLang="zh-CN" b="0" i="1" smtClean="0">
                                          <a:latin typeface="Cambria Math" panose="02040503050406030204" pitchFamily="18" charset="0"/>
                                          <a:cs typeface="+mn-ea"/>
                                          <a:sym typeface="+mn-lt"/>
                                        </a:rPr>
                                        <m:t>𝑥</m:t>
                                      </m:r>
                                      <m:r>
                                        <a:rPr lang="en-US" altLang="zh-CN"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𝑦</m:t>
                                      </m:r>
                                    </m:e>
                                  </m:d>
                                  <m:r>
                                    <a:rPr lang="en-US" altLang="zh-CN"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𝑇</m:t>
                                  </m:r>
                                </m:e>
                              </m:mr>
                            </m:m>
                          </m:e>
                          <m:e>
                            <m:m>
                              <m:mPr>
                                <m:mcs>
                                  <m:mc>
                                    <m:mcPr>
                                      <m:count m:val="2"/>
                                      <m:mcJc m:val="center"/>
                                    </m:mcPr>
                                  </m:mc>
                                </m:mcs>
                                <m:ctrlPr>
                                  <a:rPr lang="en-US" altLang="zh-CN" b="0" i="1" smtClean="0">
                                    <a:latin typeface="Cambria Math" panose="02040503050406030204" pitchFamily="18" charset="0"/>
                                    <a:cs typeface="+mn-ea"/>
                                    <a:sym typeface="+mn-lt"/>
                                  </a:rPr>
                                </m:ctrlPr>
                              </m:mPr>
                              <m:mr>
                                <m:e>
                                  <m:r>
                                    <m:rPr>
                                      <m:brk m:alnAt="7"/>
                                    </m:rPr>
                                    <a:rPr lang="en-US" altLang="zh-CN" b="0" i="1" smtClean="0">
                                      <a:latin typeface="Cambria Math" panose="02040503050406030204" pitchFamily="18" charset="0"/>
                                      <a:cs typeface="+mn-ea"/>
                                      <a:sym typeface="+mn-lt"/>
                                    </a:rPr>
                                    <m:t>0</m:t>
                                  </m:r>
                                  <m:r>
                                    <a:rPr lang="en-US" altLang="zh-CN" b="0" i="1" smtClean="0">
                                      <a:latin typeface="Cambria Math" panose="02040503050406030204" pitchFamily="18" charset="0"/>
                                      <a:cs typeface="+mn-ea"/>
                                      <a:sym typeface="+mn-lt"/>
                                    </a:rPr>
                                    <m:t>,</m:t>
                                  </m:r>
                                </m:e>
                                <m:e>
                                  <m:r>
                                    <a:rPr lang="en-US" altLang="zh-CN" b="0" i="1" smtClean="0">
                                      <a:latin typeface="Cambria Math" panose="02040503050406030204" pitchFamily="18" charset="0"/>
                                      <a:cs typeface="+mn-ea"/>
                                      <a:sym typeface="+mn-lt"/>
                                    </a:rPr>
                                    <m:t>𝑜𝑡h𝑒𝑟𝑠</m:t>
                                  </m:r>
                                </m:e>
                              </m:mr>
                            </m:m>
                            <m:r>
                              <a:rPr lang="en-US" altLang="zh-CN" b="0" i="1" smtClean="0">
                                <a:latin typeface="Cambria Math" panose="02040503050406030204" pitchFamily="18" charset="0"/>
                                <a:cs typeface="+mn-ea"/>
                                <a:sym typeface="+mn-lt"/>
                              </a:rPr>
                              <m:t>            </m:t>
                            </m:r>
                          </m:e>
                        </m:eqArr>
                      </m:e>
                    </m:d>
                  </m:oMath>
                </a14:m>
                <a:endParaRPr lang="en-US" altLang="zh-CN" dirty="0">
                  <a:cs typeface="+mn-ea"/>
                  <a:sym typeface="+mn-lt"/>
                </a:endParaRPr>
              </a:p>
              <a:p>
                <a:pPr>
                  <a:lnSpc>
                    <a:spcPct val="150000"/>
                  </a:lnSpc>
                </a:pPr>
                <a:endParaRPr lang="en-US" altLang="zh-CN" b="1" dirty="0">
                  <a:solidFill>
                    <a:srgbClr val="00B0F0"/>
                  </a:solidFill>
                  <a:cs typeface="+mn-ea"/>
                  <a:sym typeface="+mn-lt"/>
                </a:endParaRPr>
              </a:p>
              <a:p>
                <a:pPr>
                  <a:lnSpc>
                    <a:spcPct val="150000"/>
                  </a:lnSpc>
                </a:pPr>
                <a:r>
                  <a:rPr lang="zh-CN" altLang="en-US" b="1" dirty="0">
                    <a:solidFill>
                      <a:srgbClr val="00B0F0"/>
                    </a:solidFill>
                    <a:cs typeface="+mn-ea"/>
                    <a:sym typeface="+mn-lt"/>
                  </a:rPr>
                  <a:t>基本思想：</a:t>
                </a:r>
                <a:r>
                  <a:rPr lang="zh-CN" altLang="en-US" dirty="0">
                    <a:cs typeface="+mn-ea"/>
                    <a:sym typeface="+mn-lt"/>
                  </a:rPr>
                  <a:t>如果一个孤立点与它周围的点不同，则可以使用上述模板进行检测。</a:t>
                </a:r>
                <a:endParaRPr lang="en-US" altLang="zh-CN" dirty="0">
                  <a:cs typeface="+mn-ea"/>
                  <a:sym typeface="+mn-lt"/>
                </a:endParaRPr>
              </a:p>
              <a:p>
                <a:pPr>
                  <a:lnSpc>
                    <a:spcPct val="150000"/>
                  </a:lnSpc>
                </a:pPr>
                <a:r>
                  <a:rPr lang="zh-CN" altLang="en-US" b="1" dirty="0">
                    <a:solidFill>
                      <a:srgbClr val="00B0F0"/>
                    </a:solidFill>
                    <a:cs typeface="+mn-ea"/>
                    <a:sym typeface="+mn-lt"/>
                  </a:rPr>
                  <a:t>注意：</a:t>
                </a:r>
                <a:r>
                  <a:rPr lang="zh-CN" altLang="en-US" dirty="0">
                    <a:cs typeface="+mn-ea"/>
                    <a:sym typeface="+mn-lt"/>
                  </a:rPr>
                  <a:t>如果模板响应为</a:t>
                </a:r>
                <a:r>
                  <a:rPr lang="en-US" altLang="zh-CN" dirty="0">
                    <a:cs typeface="+mn-ea"/>
                    <a:sym typeface="+mn-lt"/>
                  </a:rPr>
                  <a:t>0</a:t>
                </a:r>
                <a:r>
                  <a:rPr lang="zh-CN" altLang="en-US" dirty="0">
                    <a:cs typeface="+mn-ea"/>
                    <a:sym typeface="+mn-lt"/>
                  </a:rPr>
                  <a:t>，则表示在灰度级恒定的区域。</a:t>
                </a:r>
                <a:endParaRPr lang="en-US" altLang="zh-CN" dirty="0">
                  <a:cs typeface="+mn-ea"/>
                  <a:sym typeface="+mn-lt"/>
                </a:endParaRPr>
              </a:p>
            </p:txBody>
          </p:sp>
        </mc:Choice>
        <mc:Fallback xmlns="">
          <p:sp>
            <p:nvSpPr>
              <p:cNvPr id="3" name="Content Placeholder 2">
                <a:extLst>
                  <a:ext uri="{FF2B5EF4-FFF2-40B4-BE49-F238E27FC236}">
                    <a16:creationId xmlns:a16="http://schemas.microsoft.com/office/drawing/2014/main" id="{C9D22558-1974-4E2F-8B47-3AAA5EC0CC57}"/>
                  </a:ext>
                </a:extLst>
              </p:cNvPr>
              <p:cNvSpPr>
                <a:spLocks noGrp="1" noRot="1" noChangeAspect="1" noMove="1" noResize="1" noEditPoints="1" noAdjustHandles="1" noChangeArrowheads="1" noChangeShapeType="1" noTextEdit="1"/>
              </p:cNvSpPr>
              <p:nvPr>
                <p:ph idx="1"/>
              </p:nvPr>
            </p:nvSpPr>
            <p:spPr>
              <a:blipFill>
                <a:blip r:embed="rId2"/>
                <a:stretch>
                  <a:fillRect l="-928" t="-140"/>
                </a:stretch>
              </a:blipFill>
            </p:spPr>
            <p:txBody>
              <a:bodyPr/>
              <a:lstStyle/>
              <a:p>
                <a:r>
                  <a:rPr lang="zh-CN" altLang="en-US">
                    <a:noFill/>
                  </a:rPr>
                  <a:t> </a:t>
                </a:r>
              </a:p>
            </p:txBody>
          </p:sp>
        </mc:Fallback>
      </mc:AlternateContent>
      <p:pic>
        <p:nvPicPr>
          <p:cNvPr id="5" name="Picture 4">
            <a:extLst>
              <a:ext uri="{FF2B5EF4-FFF2-40B4-BE49-F238E27FC236}">
                <a16:creationId xmlns:a16="http://schemas.microsoft.com/office/drawing/2014/main" id="{9E97A40B-4528-472C-9875-90964540BD66}"/>
              </a:ext>
            </a:extLst>
          </p:cNvPr>
          <p:cNvPicPr>
            <a:picLocks noChangeAspect="1"/>
          </p:cNvPicPr>
          <p:nvPr/>
        </p:nvPicPr>
        <p:blipFill>
          <a:blip r:embed="rId3"/>
          <a:stretch>
            <a:fillRect/>
          </a:stretch>
        </p:blipFill>
        <p:spPr>
          <a:xfrm>
            <a:off x="6819899" y="2515269"/>
            <a:ext cx="1858435" cy="1827461"/>
          </a:xfrm>
          <a:prstGeom prst="rect">
            <a:avLst/>
          </a:prstGeom>
        </p:spPr>
      </p:pic>
    </p:spTree>
    <p:extLst>
      <p:ext uri="{BB962C8B-B14F-4D97-AF65-F5344CB8AC3E}">
        <p14:creationId xmlns:p14="http://schemas.microsoft.com/office/powerpoint/2010/main" val="20094777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53614-93EA-4696-B991-2403BBEC7A79}"/>
              </a:ext>
            </a:extLst>
          </p:cNvPr>
          <p:cNvSpPr>
            <a:spLocks noGrp="1"/>
          </p:cNvSpPr>
          <p:nvPr>
            <p:ph type="title"/>
          </p:nvPr>
        </p:nvSpPr>
        <p:spPr/>
        <p:txBody>
          <a:bodyPr/>
          <a:lstStyle/>
          <a:p>
            <a:r>
              <a:rPr lang="zh-CN" altLang="en-US" b="1" dirty="0">
                <a:latin typeface="+mn-lt"/>
                <a:ea typeface="+mn-ea"/>
                <a:cs typeface="+mn-ea"/>
                <a:sym typeface="+mn-lt"/>
              </a:rPr>
              <a:t>孤立点检测</a:t>
            </a:r>
          </a:p>
        </p:txBody>
      </p:sp>
      <p:sp>
        <p:nvSpPr>
          <p:cNvPr id="3" name="Content Placeholder 2">
            <a:extLst>
              <a:ext uri="{FF2B5EF4-FFF2-40B4-BE49-F238E27FC236}">
                <a16:creationId xmlns:a16="http://schemas.microsoft.com/office/drawing/2014/main" id="{5848DF65-38A6-442E-A722-B909A0A6D5F8}"/>
              </a:ext>
            </a:extLst>
          </p:cNvPr>
          <p:cNvSpPr>
            <a:spLocks noGrp="1"/>
          </p:cNvSpPr>
          <p:nvPr>
            <p:ph idx="1"/>
          </p:nvPr>
        </p:nvSpPr>
        <p:spPr/>
        <p:txBody>
          <a:bodyPr/>
          <a:lstStyle/>
          <a:p>
            <a:endParaRPr lang="zh-CN" altLang="en-US">
              <a:cs typeface="+mn-ea"/>
              <a:sym typeface="+mn-lt"/>
            </a:endParaRPr>
          </a:p>
        </p:txBody>
      </p:sp>
      <p:pic>
        <p:nvPicPr>
          <p:cNvPr id="4" name="Picture 3">
            <a:extLst>
              <a:ext uri="{FF2B5EF4-FFF2-40B4-BE49-F238E27FC236}">
                <a16:creationId xmlns:a16="http://schemas.microsoft.com/office/drawing/2014/main" id="{C6BED330-33D0-4174-BA97-AA112C125BAE}"/>
              </a:ext>
            </a:extLst>
          </p:cNvPr>
          <p:cNvPicPr>
            <a:picLocks noChangeAspect="1"/>
          </p:cNvPicPr>
          <p:nvPr/>
        </p:nvPicPr>
        <p:blipFill rotWithShape="1">
          <a:blip r:embed="rId2"/>
          <a:srcRect t="2659"/>
          <a:stretch/>
        </p:blipFill>
        <p:spPr>
          <a:xfrm>
            <a:off x="386056" y="1690688"/>
            <a:ext cx="11419888" cy="4939771"/>
          </a:xfrm>
          <a:prstGeom prst="rect">
            <a:avLst/>
          </a:prstGeom>
        </p:spPr>
      </p:pic>
    </p:spTree>
    <p:extLst>
      <p:ext uri="{BB962C8B-B14F-4D97-AF65-F5344CB8AC3E}">
        <p14:creationId xmlns:p14="http://schemas.microsoft.com/office/powerpoint/2010/main" val="42125225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94197-4218-4C89-BED9-7B61B9E5770E}"/>
              </a:ext>
            </a:extLst>
          </p:cNvPr>
          <p:cNvSpPr>
            <a:spLocks noGrp="1"/>
          </p:cNvSpPr>
          <p:nvPr>
            <p:ph type="title"/>
          </p:nvPr>
        </p:nvSpPr>
        <p:spPr/>
        <p:txBody>
          <a:bodyPr/>
          <a:lstStyle/>
          <a:p>
            <a:r>
              <a:rPr lang="zh-CN" altLang="en-US" b="1" dirty="0">
                <a:latin typeface="+mn-lt"/>
                <a:ea typeface="+mn-ea"/>
                <a:cs typeface="+mn-ea"/>
                <a:sym typeface="+mn-lt"/>
              </a:rPr>
              <a:t>线检测</a:t>
            </a:r>
          </a:p>
        </p:txBody>
      </p:sp>
      <p:sp>
        <p:nvSpPr>
          <p:cNvPr id="3" name="Content Placeholder 2">
            <a:extLst>
              <a:ext uri="{FF2B5EF4-FFF2-40B4-BE49-F238E27FC236}">
                <a16:creationId xmlns:a16="http://schemas.microsoft.com/office/drawing/2014/main" id="{783FF5D3-7098-49EF-9180-90EDA1A092BD}"/>
              </a:ext>
            </a:extLst>
          </p:cNvPr>
          <p:cNvSpPr>
            <a:spLocks noGrp="1"/>
          </p:cNvSpPr>
          <p:nvPr>
            <p:ph idx="1"/>
          </p:nvPr>
        </p:nvSpPr>
        <p:spPr>
          <a:xfrm>
            <a:off x="838200" y="1825625"/>
            <a:ext cx="4943475" cy="4351338"/>
          </a:xfrm>
        </p:spPr>
        <p:txBody>
          <a:bodyPr/>
          <a:lstStyle/>
          <a:p>
            <a:r>
              <a:rPr lang="zh-CN" altLang="en-US" b="1" dirty="0">
                <a:cs typeface="+mn-ea"/>
                <a:sym typeface="+mn-lt"/>
              </a:rPr>
              <a:t>使用拉普拉斯核进行线检测</a:t>
            </a:r>
          </a:p>
        </p:txBody>
      </p:sp>
      <p:pic>
        <p:nvPicPr>
          <p:cNvPr id="4" name="Picture 3">
            <a:extLst>
              <a:ext uri="{FF2B5EF4-FFF2-40B4-BE49-F238E27FC236}">
                <a16:creationId xmlns:a16="http://schemas.microsoft.com/office/drawing/2014/main" id="{46D1946F-7B4E-41B9-89B0-7003B1AC6DBE}"/>
              </a:ext>
            </a:extLst>
          </p:cNvPr>
          <p:cNvPicPr>
            <a:picLocks noChangeAspect="1"/>
          </p:cNvPicPr>
          <p:nvPr/>
        </p:nvPicPr>
        <p:blipFill rotWithShape="1">
          <a:blip r:embed="rId2"/>
          <a:srcRect l="1392" r="1563"/>
          <a:stretch/>
        </p:blipFill>
        <p:spPr>
          <a:xfrm>
            <a:off x="6096000" y="1690688"/>
            <a:ext cx="6076950" cy="5124511"/>
          </a:xfrm>
          <a:prstGeom prst="rect">
            <a:avLst/>
          </a:prstGeom>
        </p:spPr>
      </p:pic>
      <p:pic>
        <p:nvPicPr>
          <p:cNvPr id="6" name="Picture 5">
            <a:extLst>
              <a:ext uri="{FF2B5EF4-FFF2-40B4-BE49-F238E27FC236}">
                <a16:creationId xmlns:a16="http://schemas.microsoft.com/office/drawing/2014/main" id="{4E4728C1-929E-411E-A208-62E9A5FF0865}"/>
              </a:ext>
            </a:extLst>
          </p:cNvPr>
          <p:cNvPicPr>
            <a:picLocks noChangeAspect="1"/>
          </p:cNvPicPr>
          <p:nvPr/>
        </p:nvPicPr>
        <p:blipFill>
          <a:blip r:embed="rId3"/>
          <a:stretch>
            <a:fillRect/>
          </a:stretch>
        </p:blipFill>
        <p:spPr>
          <a:xfrm>
            <a:off x="1995486" y="2960400"/>
            <a:ext cx="2628901" cy="2585086"/>
          </a:xfrm>
          <a:prstGeom prst="rect">
            <a:avLst/>
          </a:prstGeom>
        </p:spPr>
      </p:pic>
    </p:spTree>
    <p:extLst>
      <p:ext uri="{BB962C8B-B14F-4D97-AF65-F5344CB8AC3E}">
        <p14:creationId xmlns:p14="http://schemas.microsoft.com/office/powerpoint/2010/main" val="34800030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58407-E4A4-441B-B136-34541EE52486}"/>
              </a:ext>
            </a:extLst>
          </p:cNvPr>
          <p:cNvSpPr>
            <a:spLocks noGrp="1"/>
          </p:cNvSpPr>
          <p:nvPr>
            <p:ph type="title"/>
          </p:nvPr>
        </p:nvSpPr>
        <p:spPr/>
        <p:txBody>
          <a:bodyPr/>
          <a:lstStyle/>
          <a:p>
            <a:r>
              <a:rPr lang="zh-CN" altLang="en-US" b="1" dirty="0">
                <a:latin typeface="+mn-lt"/>
                <a:ea typeface="+mn-ea"/>
                <a:cs typeface="+mn-ea"/>
                <a:sym typeface="+mn-lt"/>
              </a:rPr>
              <a:t>线检测</a:t>
            </a:r>
            <a:endParaRPr lang="zh-CN" altLang="en-US" dirty="0">
              <a:latin typeface="+mn-lt"/>
              <a:ea typeface="+mn-ea"/>
              <a:cs typeface="+mn-ea"/>
              <a:sym typeface="+mn-lt"/>
            </a:endParaRPr>
          </a:p>
        </p:txBody>
      </p:sp>
      <p:sp>
        <p:nvSpPr>
          <p:cNvPr id="3" name="Content Placeholder 2">
            <a:extLst>
              <a:ext uri="{FF2B5EF4-FFF2-40B4-BE49-F238E27FC236}">
                <a16:creationId xmlns:a16="http://schemas.microsoft.com/office/drawing/2014/main" id="{78AAEB37-C198-4814-97A9-BFBE81EC85F4}"/>
              </a:ext>
            </a:extLst>
          </p:cNvPr>
          <p:cNvSpPr>
            <a:spLocks noGrp="1"/>
          </p:cNvSpPr>
          <p:nvPr>
            <p:ph idx="1"/>
          </p:nvPr>
        </p:nvSpPr>
        <p:spPr>
          <a:xfrm>
            <a:off x="838200" y="1825625"/>
            <a:ext cx="4991100" cy="4351338"/>
          </a:xfrm>
        </p:spPr>
        <p:txBody>
          <a:bodyPr/>
          <a:lstStyle/>
          <a:p>
            <a:pPr>
              <a:lnSpc>
                <a:spcPct val="120000"/>
              </a:lnSpc>
            </a:pPr>
            <a:r>
              <a:rPr lang="zh-CN" altLang="en-US" b="1" dirty="0">
                <a:cs typeface="+mn-ea"/>
                <a:sym typeface="+mn-lt"/>
              </a:rPr>
              <a:t>拉普拉斯核</a:t>
            </a:r>
            <a:endParaRPr lang="en-US" altLang="zh-CN" b="1" dirty="0">
              <a:cs typeface="+mn-ea"/>
              <a:sym typeface="+mn-lt"/>
            </a:endParaRPr>
          </a:p>
          <a:p>
            <a:pPr lvl="1">
              <a:lnSpc>
                <a:spcPct val="120000"/>
              </a:lnSpc>
            </a:pPr>
            <a:r>
              <a:rPr lang="zh-CN" altLang="en-US" dirty="0">
                <a:cs typeface="+mn-ea"/>
                <a:sym typeface="+mn-lt"/>
              </a:rPr>
              <a:t>各向同性</a:t>
            </a:r>
            <a:endParaRPr lang="en-US" altLang="zh-CN" dirty="0">
              <a:cs typeface="+mn-ea"/>
              <a:sym typeface="+mn-lt"/>
            </a:endParaRPr>
          </a:p>
          <a:p>
            <a:pPr lvl="1">
              <a:lnSpc>
                <a:spcPct val="120000"/>
              </a:lnSpc>
            </a:pPr>
            <a:r>
              <a:rPr lang="zh-CN" altLang="en-US" dirty="0">
                <a:cs typeface="+mn-ea"/>
                <a:sym typeface="+mn-lt"/>
              </a:rPr>
              <a:t>垂直、水平、对角</a:t>
            </a:r>
            <a:endParaRPr lang="en-US" altLang="zh-CN" dirty="0">
              <a:cs typeface="+mn-ea"/>
              <a:sym typeface="+mn-lt"/>
            </a:endParaRPr>
          </a:p>
          <a:p>
            <a:pPr>
              <a:lnSpc>
                <a:spcPct val="120000"/>
              </a:lnSpc>
            </a:pPr>
            <a:r>
              <a:rPr lang="zh-CN" altLang="en-US" b="1" dirty="0">
                <a:solidFill>
                  <a:srgbClr val="00B0F0"/>
                </a:solidFill>
                <a:cs typeface="+mn-ea"/>
                <a:sym typeface="+mn-lt"/>
              </a:rPr>
              <a:t>如何检测不同方向的线？</a:t>
            </a:r>
            <a:endParaRPr lang="en-US" altLang="zh-CN" b="1" dirty="0">
              <a:solidFill>
                <a:srgbClr val="00B0F0"/>
              </a:solidFill>
              <a:cs typeface="+mn-ea"/>
              <a:sym typeface="+mn-lt"/>
            </a:endParaRPr>
          </a:p>
          <a:p>
            <a:pPr lvl="1">
              <a:lnSpc>
                <a:spcPct val="120000"/>
              </a:lnSpc>
            </a:pPr>
            <a:r>
              <a:rPr lang="zh-CN" altLang="en-US" dirty="0">
                <a:cs typeface="+mn-ea"/>
                <a:sym typeface="+mn-lt"/>
              </a:rPr>
              <a:t>第一个模板：水平</a:t>
            </a:r>
            <a:endParaRPr lang="en-US" altLang="zh-CN" dirty="0">
              <a:cs typeface="+mn-ea"/>
              <a:sym typeface="+mn-lt"/>
            </a:endParaRPr>
          </a:p>
          <a:p>
            <a:pPr lvl="1">
              <a:lnSpc>
                <a:spcPct val="120000"/>
              </a:lnSpc>
            </a:pPr>
            <a:r>
              <a:rPr lang="zh-CN" altLang="en-US" dirty="0">
                <a:cs typeface="+mn-ea"/>
                <a:sym typeface="+mn-lt"/>
              </a:rPr>
              <a:t>第二个模板：</a:t>
            </a:r>
            <a:r>
              <a:rPr lang="en-US" altLang="zh-CN" dirty="0">
                <a:cs typeface="+mn-ea"/>
                <a:sym typeface="+mn-lt"/>
              </a:rPr>
              <a:t>45</a:t>
            </a:r>
            <a:r>
              <a:rPr lang="zh-CN" altLang="en-US" dirty="0">
                <a:cs typeface="+mn-ea"/>
                <a:sym typeface="+mn-lt"/>
              </a:rPr>
              <a:t>度方向</a:t>
            </a:r>
            <a:endParaRPr lang="en-US" altLang="zh-CN" dirty="0">
              <a:cs typeface="+mn-ea"/>
              <a:sym typeface="+mn-lt"/>
            </a:endParaRPr>
          </a:p>
          <a:p>
            <a:pPr lvl="1">
              <a:lnSpc>
                <a:spcPct val="120000"/>
              </a:lnSpc>
            </a:pPr>
            <a:r>
              <a:rPr lang="zh-CN" altLang="en-US" dirty="0">
                <a:cs typeface="+mn-ea"/>
                <a:sym typeface="+mn-lt"/>
              </a:rPr>
              <a:t>第三个模板：垂直</a:t>
            </a:r>
            <a:endParaRPr lang="en-US" altLang="zh-CN" dirty="0">
              <a:cs typeface="+mn-ea"/>
              <a:sym typeface="+mn-lt"/>
            </a:endParaRPr>
          </a:p>
          <a:p>
            <a:pPr lvl="1">
              <a:lnSpc>
                <a:spcPct val="120000"/>
              </a:lnSpc>
            </a:pPr>
            <a:r>
              <a:rPr lang="zh-CN" altLang="en-US" dirty="0">
                <a:cs typeface="+mn-ea"/>
                <a:sym typeface="+mn-lt"/>
              </a:rPr>
              <a:t>第四个模板：</a:t>
            </a:r>
            <a:r>
              <a:rPr lang="en-US" altLang="zh-CN" dirty="0">
                <a:cs typeface="+mn-ea"/>
                <a:sym typeface="+mn-lt"/>
              </a:rPr>
              <a:t>-45</a:t>
            </a:r>
            <a:r>
              <a:rPr lang="zh-CN" altLang="en-US" dirty="0">
                <a:cs typeface="+mn-ea"/>
                <a:sym typeface="+mn-lt"/>
              </a:rPr>
              <a:t>度方向</a:t>
            </a:r>
          </a:p>
        </p:txBody>
      </p:sp>
      <p:grpSp>
        <p:nvGrpSpPr>
          <p:cNvPr id="6" name="Group 5">
            <a:extLst>
              <a:ext uri="{FF2B5EF4-FFF2-40B4-BE49-F238E27FC236}">
                <a16:creationId xmlns:a16="http://schemas.microsoft.com/office/drawing/2014/main" id="{9CB52F77-9F7E-4DD9-9B64-CCB595AB6411}"/>
              </a:ext>
            </a:extLst>
          </p:cNvPr>
          <p:cNvGrpSpPr>
            <a:grpSpLocks noChangeAspect="1"/>
          </p:cNvGrpSpPr>
          <p:nvPr/>
        </p:nvGrpSpPr>
        <p:grpSpPr>
          <a:xfrm>
            <a:off x="7010398" y="900788"/>
            <a:ext cx="4216528" cy="5400000"/>
            <a:chOff x="7210424" y="1576387"/>
            <a:chExt cx="3105151" cy="3976688"/>
          </a:xfrm>
        </p:grpSpPr>
        <p:pic>
          <p:nvPicPr>
            <p:cNvPr id="4" name="Picture 3">
              <a:extLst>
                <a:ext uri="{FF2B5EF4-FFF2-40B4-BE49-F238E27FC236}">
                  <a16:creationId xmlns:a16="http://schemas.microsoft.com/office/drawing/2014/main" id="{AA6472E4-63F5-4AF0-99F7-FDCE404FA7B5}"/>
                </a:ext>
              </a:extLst>
            </p:cNvPr>
            <p:cNvPicPr>
              <a:picLocks noChangeAspect="1"/>
            </p:cNvPicPr>
            <p:nvPr/>
          </p:nvPicPr>
          <p:blipFill rotWithShape="1">
            <a:blip r:embed="rId2"/>
            <a:srcRect l="20257" r="39841"/>
            <a:stretch/>
          </p:blipFill>
          <p:spPr>
            <a:xfrm>
              <a:off x="7210424" y="1576387"/>
              <a:ext cx="3105151" cy="1781175"/>
            </a:xfrm>
            <a:prstGeom prst="rect">
              <a:avLst/>
            </a:prstGeom>
          </p:spPr>
        </p:pic>
        <p:pic>
          <p:nvPicPr>
            <p:cNvPr id="5" name="Picture 4">
              <a:extLst>
                <a:ext uri="{FF2B5EF4-FFF2-40B4-BE49-F238E27FC236}">
                  <a16:creationId xmlns:a16="http://schemas.microsoft.com/office/drawing/2014/main" id="{2F831726-5362-446E-8FD1-4442BA5C3DE3}"/>
                </a:ext>
              </a:extLst>
            </p:cNvPr>
            <p:cNvPicPr>
              <a:picLocks noChangeAspect="1"/>
            </p:cNvPicPr>
            <p:nvPr/>
          </p:nvPicPr>
          <p:blipFill rotWithShape="1">
            <a:blip r:embed="rId2"/>
            <a:srcRect l="60098"/>
            <a:stretch/>
          </p:blipFill>
          <p:spPr>
            <a:xfrm>
              <a:off x="7210424" y="3771900"/>
              <a:ext cx="3105151" cy="1781175"/>
            </a:xfrm>
            <a:prstGeom prst="rect">
              <a:avLst/>
            </a:prstGeom>
          </p:spPr>
        </p:pic>
      </p:grpSp>
    </p:spTree>
    <p:extLst>
      <p:ext uri="{BB962C8B-B14F-4D97-AF65-F5344CB8AC3E}">
        <p14:creationId xmlns:p14="http://schemas.microsoft.com/office/powerpoint/2010/main" val="24817011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DEF0A-E8C3-4ADF-8C6F-7CB75BF1CE82}"/>
              </a:ext>
            </a:extLst>
          </p:cNvPr>
          <p:cNvSpPr>
            <a:spLocks noGrp="1"/>
          </p:cNvSpPr>
          <p:nvPr>
            <p:ph type="title"/>
          </p:nvPr>
        </p:nvSpPr>
        <p:spPr/>
        <p:txBody>
          <a:bodyPr/>
          <a:lstStyle/>
          <a:p>
            <a:r>
              <a:rPr lang="zh-CN" altLang="en-US" b="1" dirty="0">
                <a:latin typeface="+mn-lt"/>
                <a:ea typeface="+mn-ea"/>
                <a:cs typeface="+mn-ea"/>
                <a:sym typeface="+mn-lt"/>
              </a:rPr>
              <a:t>线检测</a:t>
            </a:r>
            <a:endParaRPr lang="zh-CN" altLang="en-US" dirty="0">
              <a:latin typeface="+mn-lt"/>
              <a:ea typeface="+mn-ea"/>
              <a:cs typeface="+mn-ea"/>
              <a:sym typeface="+mn-lt"/>
            </a:endParaRPr>
          </a:p>
        </p:txBody>
      </p:sp>
      <p:sp>
        <p:nvSpPr>
          <p:cNvPr id="3" name="Content Placeholder 2">
            <a:extLst>
              <a:ext uri="{FF2B5EF4-FFF2-40B4-BE49-F238E27FC236}">
                <a16:creationId xmlns:a16="http://schemas.microsoft.com/office/drawing/2014/main" id="{81333C72-B497-4701-AD5E-A75A59226433}"/>
              </a:ext>
            </a:extLst>
          </p:cNvPr>
          <p:cNvSpPr>
            <a:spLocks noGrp="1"/>
          </p:cNvSpPr>
          <p:nvPr>
            <p:ph idx="1"/>
          </p:nvPr>
        </p:nvSpPr>
        <p:spPr/>
        <p:txBody>
          <a:bodyPr/>
          <a:lstStyle/>
          <a:p>
            <a:endParaRPr lang="zh-CN" altLang="en-US">
              <a:cs typeface="+mn-ea"/>
              <a:sym typeface="+mn-lt"/>
            </a:endParaRPr>
          </a:p>
        </p:txBody>
      </p:sp>
      <p:pic>
        <p:nvPicPr>
          <p:cNvPr id="4" name="Picture 3">
            <a:extLst>
              <a:ext uri="{FF2B5EF4-FFF2-40B4-BE49-F238E27FC236}">
                <a16:creationId xmlns:a16="http://schemas.microsoft.com/office/drawing/2014/main" id="{3B8E5254-6456-4685-AC15-FB1FA95DC1BD}"/>
              </a:ext>
            </a:extLst>
          </p:cNvPr>
          <p:cNvPicPr>
            <a:picLocks noChangeAspect="1"/>
          </p:cNvPicPr>
          <p:nvPr/>
        </p:nvPicPr>
        <p:blipFill>
          <a:blip r:embed="rId2"/>
          <a:stretch>
            <a:fillRect/>
          </a:stretch>
        </p:blipFill>
        <p:spPr>
          <a:xfrm>
            <a:off x="2925335" y="1566863"/>
            <a:ext cx="6341330" cy="5088530"/>
          </a:xfrm>
          <a:prstGeom prst="rect">
            <a:avLst/>
          </a:prstGeom>
        </p:spPr>
      </p:pic>
    </p:spTree>
    <p:extLst>
      <p:ext uri="{BB962C8B-B14F-4D97-AF65-F5344CB8AC3E}">
        <p14:creationId xmlns:p14="http://schemas.microsoft.com/office/powerpoint/2010/main" val="42919108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A0FBF-6454-4964-88A1-426F2D42AC1F}"/>
              </a:ext>
            </a:extLst>
          </p:cNvPr>
          <p:cNvSpPr>
            <a:spLocks noGrp="1"/>
          </p:cNvSpPr>
          <p:nvPr>
            <p:ph type="title"/>
          </p:nvPr>
        </p:nvSpPr>
        <p:spPr/>
        <p:txBody>
          <a:bodyPr/>
          <a:lstStyle/>
          <a:p>
            <a:r>
              <a:rPr lang="zh-CN" altLang="en-US" b="1" dirty="0">
                <a:latin typeface="+mn-lt"/>
                <a:ea typeface="+mn-ea"/>
                <a:cs typeface="+mn-ea"/>
                <a:sym typeface="+mn-lt"/>
              </a:rPr>
              <a:t>边缘检测</a:t>
            </a:r>
          </a:p>
        </p:txBody>
      </p:sp>
      <p:sp>
        <p:nvSpPr>
          <p:cNvPr id="3" name="Content Placeholder 2">
            <a:extLst>
              <a:ext uri="{FF2B5EF4-FFF2-40B4-BE49-F238E27FC236}">
                <a16:creationId xmlns:a16="http://schemas.microsoft.com/office/drawing/2014/main" id="{AF4838C7-2DF1-47AA-96AE-43ACC496980A}"/>
              </a:ext>
            </a:extLst>
          </p:cNvPr>
          <p:cNvSpPr>
            <a:spLocks noGrp="1"/>
          </p:cNvSpPr>
          <p:nvPr>
            <p:ph idx="1"/>
          </p:nvPr>
        </p:nvSpPr>
        <p:spPr>
          <a:xfrm>
            <a:off x="838199" y="1825625"/>
            <a:ext cx="6010275" cy="4351338"/>
          </a:xfrm>
        </p:spPr>
        <p:txBody>
          <a:bodyPr>
            <a:normAutofit lnSpcReduction="10000"/>
          </a:bodyPr>
          <a:lstStyle/>
          <a:p>
            <a:pPr>
              <a:lnSpc>
                <a:spcPct val="150000"/>
              </a:lnSpc>
            </a:pPr>
            <a:r>
              <a:rPr lang="zh-CN" altLang="en-US" b="1" dirty="0">
                <a:cs typeface="+mn-ea"/>
                <a:sym typeface="+mn-lt"/>
              </a:rPr>
              <a:t>什么是边缘？</a:t>
            </a:r>
            <a:endParaRPr lang="en-US" altLang="zh-CN" b="1" dirty="0">
              <a:cs typeface="+mn-ea"/>
              <a:sym typeface="+mn-lt"/>
            </a:endParaRPr>
          </a:p>
          <a:p>
            <a:pPr lvl="1">
              <a:lnSpc>
                <a:spcPct val="150000"/>
              </a:lnSpc>
            </a:pPr>
            <a:r>
              <a:rPr lang="zh-CN" altLang="en-US" dirty="0">
                <a:cs typeface="+mn-ea"/>
                <a:sym typeface="+mn-lt"/>
              </a:rPr>
              <a:t>一组相连的像素集合，这些像素位于两个区域的边界上</a:t>
            </a:r>
            <a:endParaRPr lang="en-US" altLang="zh-CN" dirty="0">
              <a:cs typeface="+mn-ea"/>
              <a:sym typeface="+mn-lt"/>
            </a:endParaRPr>
          </a:p>
          <a:p>
            <a:pPr>
              <a:lnSpc>
                <a:spcPct val="150000"/>
              </a:lnSpc>
            </a:pPr>
            <a:r>
              <a:rPr lang="zh-CN" altLang="en-US" dirty="0">
                <a:cs typeface="+mn-ea"/>
                <a:sym typeface="+mn-lt"/>
              </a:rPr>
              <a:t>边缘检测是根据灰度突变来分割图像的一种常用方法。</a:t>
            </a:r>
            <a:endParaRPr lang="en-US" altLang="zh-CN" dirty="0">
              <a:cs typeface="+mn-ea"/>
              <a:sym typeface="+mn-lt"/>
            </a:endParaRPr>
          </a:p>
          <a:p>
            <a:pPr>
              <a:lnSpc>
                <a:spcPct val="150000"/>
              </a:lnSpc>
            </a:pPr>
            <a:r>
              <a:rPr lang="zh-CN" altLang="en-US" dirty="0">
                <a:cs typeface="+mn-ea"/>
                <a:sym typeface="+mn-lt"/>
              </a:rPr>
              <a:t>一阶导数和二阶导数在识别图像边缘中的应用</a:t>
            </a:r>
            <a:endParaRPr lang="en-US" altLang="zh-CN" dirty="0">
              <a:cs typeface="+mn-ea"/>
              <a:sym typeface="+mn-lt"/>
            </a:endParaRPr>
          </a:p>
        </p:txBody>
      </p:sp>
      <p:pic>
        <p:nvPicPr>
          <p:cNvPr id="1026" name="Picture 2" descr="https://929687.smushcdn.com/2633864/wp-content/uploads/2021/04/opencv_canny_edge_example.png?size=700x283&amp;lossy=1&amp;strip=1&amp;webp=1">
            <a:extLst>
              <a:ext uri="{FF2B5EF4-FFF2-40B4-BE49-F238E27FC236}">
                <a16:creationId xmlns:a16="http://schemas.microsoft.com/office/drawing/2014/main" id="{F65BC264-1A0E-4040-8EDB-EEF497327F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15124" y="2847976"/>
            <a:ext cx="5359917" cy="21669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92855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215CA-2EFE-4DBC-A70B-FCE07757D331}"/>
              </a:ext>
            </a:extLst>
          </p:cNvPr>
          <p:cNvSpPr>
            <a:spLocks noGrp="1"/>
          </p:cNvSpPr>
          <p:nvPr>
            <p:ph type="title"/>
          </p:nvPr>
        </p:nvSpPr>
        <p:spPr/>
        <p:txBody>
          <a:bodyPr/>
          <a:lstStyle/>
          <a:p>
            <a:r>
              <a:rPr lang="zh-CN" altLang="en-US" b="1" dirty="0">
                <a:cs typeface="+mn-ea"/>
                <a:sym typeface="+mn-lt"/>
              </a:rPr>
              <a:t>边缘检测</a:t>
            </a:r>
            <a:endParaRPr lang="zh-CN" altLang="en-US" dirty="0"/>
          </a:p>
        </p:txBody>
      </p:sp>
      <p:sp>
        <p:nvSpPr>
          <p:cNvPr id="3" name="Content Placeholder 2">
            <a:extLst>
              <a:ext uri="{FF2B5EF4-FFF2-40B4-BE49-F238E27FC236}">
                <a16:creationId xmlns:a16="http://schemas.microsoft.com/office/drawing/2014/main" id="{19724F9C-16DA-4EF2-9D90-48290AFB8D5A}"/>
              </a:ext>
            </a:extLst>
          </p:cNvPr>
          <p:cNvSpPr>
            <a:spLocks noGrp="1"/>
          </p:cNvSpPr>
          <p:nvPr>
            <p:ph idx="1"/>
          </p:nvPr>
        </p:nvSpPr>
        <p:spPr/>
        <p:txBody>
          <a:bodyPr>
            <a:normAutofit/>
          </a:bodyPr>
          <a:lstStyle/>
          <a:p>
            <a:pPr>
              <a:lnSpc>
                <a:spcPct val="120000"/>
              </a:lnSpc>
            </a:pPr>
            <a:r>
              <a:rPr lang="zh-CN" altLang="en-US" sz="3200" dirty="0"/>
              <a:t>数字边缘模型</a:t>
            </a:r>
            <a:endParaRPr lang="en-US" altLang="zh-CN" sz="3200" dirty="0"/>
          </a:p>
          <a:p>
            <a:pPr>
              <a:lnSpc>
                <a:spcPct val="120000"/>
              </a:lnSpc>
            </a:pPr>
            <a:r>
              <a:rPr lang="zh-CN" altLang="en-US" sz="3200" dirty="0"/>
              <a:t>边缘检测算子</a:t>
            </a:r>
            <a:endParaRPr lang="en-US" altLang="zh-CN" sz="3200" dirty="0"/>
          </a:p>
          <a:p>
            <a:pPr>
              <a:lnSpc>
                <a:spcPct val="120000"/>
              </a:lnSpc>
            </a:pPr>
            <a:r>
              <a:rPr lang="zh-CN" altLang="en-US" sz="3200" dirty="0"/>
              <a:t>更先进的边缘检测算法</a:t>
            </a:r>
            <a:endParaRPr lang="en-US" altLang="zh-CN" sz="3200" dirty="0"/>
          </a:p>
          <a:p>
            <a:pPr lvl="1">
              <a:lnSpc>
                <a:spcPct val="120000"/>
              </a:lnSpc>
            </a:pPr>
            <a:r>
              <a:rPr lang="en-US" altLang="zh-CN" sz="2800" dirty="0"/>
              <a:t>Marr-Hildreth</a:t>
            </a:r>
            <a:r>
              <a:rPr lang="zh-CN" altLang="en-US" sz="2800" dirty="0"/>
              <a:t>边缘检测算法</a:t>
            </a:r>
            <a:endParaRPr lang="en-US" altLang="zh-CN" sz="2800" dirty="0"/>
          </a:p>
          <a:p>
            <a:pPr lvl="1">
              <a:lnSpc>
                <a:spcPct val="120000"/>
              </a:lnSpc>
            </a:pPr>
            <a:r>
              <a:rPr lang="en-US" altLang="zh-CN" sz="2800" dirty="0"/>
              <a:t>Canny</a:t>
            </a:r>
            <a:r>
              <a:rPr lang="zh-CN" altLang="en-US" sz="2800" dirty="0"/>
              <a:t>边缘检测算法</a:t>
            </a:r>
            <a:endParaRPr lang="en-US" altLang="zh-CN" sz="2800" dirty="0"/>
          </a:p>
          <a:p>
            <a:pPr>
              <a:lnSpc>
                <a:spcPct val="120000"/>
              </a:lnSpc>
            </a:pPr>
            <a:r>
              <a:rPr lang="zh-CN" altLang="en-US" sz="3200" dirty="0"/>
              <a:t>边缘连接</a:t>
            </a:r>
          </a:p>
        </p:txBody>
      </p:sp>
    </p:spTree>
    <p:extLst>
      <p:ext uri="{BB962C8B-B14F-4D97-AF65-F5344CB8AC3E}">
        <p14:creationId xmlns:p14="http://schemas.microsoft.com/office/powerpoint/2010/main" val="6385322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A43A1-54DF-4F64-ACD4-065B2469D88F}"/>
              </a:ext>
            </a:extLst>
          </p:cNvPr>
          <p:cNvSpPr>
            <a:spLocks noGrp="1"/>
          </p:cNvSpPr>
          <p:nvPr>
            <p:ph type="title"/>
          </p:nvPr>
        </p:nvSpPr>
        <p:spPr/>
        <p:txBody>
          <a:bodyPr/>
          <a:lstStyle/>
          <a:p>
            <a:r>
              <a:rPr lang="zh-CN" altLang="en-US" b="1" dirty="0">
                <a:latin typeface="+mn-lt"/>
                <a:ea typeface="+mn-ea"/>
                <a:cs typeface="+mn-ea"/>
                <a:sym typeface="+mn-lt"/>
              </a:rPr>
              <a:t>数字边缘模型</a:t>
            </a:r>
          </a:p>
        </p:txBody>
      </p:sp>
      <p:grpSp>
        <p:nvGrpSpPr>
          <p:cNvPr id="7" name="Group 6">
            <a:extLst>
              <a:ext uri="{FF2B5EF4-FFF2-40B4-BE49-F238E27FC236}">
                <a16:creationId xmlns:a16="http://schemas.microsoft.com/office/drawing/2014/main" id="{6977292A-5704-43AC-AB85-4F92AF8E12FE}"/>
              </a:ext>
            </a:extLst>
          </p:cNvPr>
          <p:cNvGrpSpPr/>
          <p:nvPr/>
        </p:nvGrpSpPr>
        <p:grpSpPr>
          <a:xfrm>
            <a:off x="2162175" y="1529418"/>
            <a:ext cx="7867650" cy="4304645"/>
            <a:chOff x="2076450" y="1872318"/>
            <a:chExt cx="7867650" cy="4304645"/>
          </a:xfrm>
        </p:grpSpPr>
        <p:pic>
          <p:nvPicPr>
            <p:cNvPr id="5" name="Picture 4">
              <a:extLst>
                <a:ext uri="{FF2B5EF4-FFF2-40B4-BE49-F238E27FC236}">
                  <a16:creationId xmlns:a16="http://schemas.microsoft.com/office/drawing/2014/main" id="{861CA2E8-804F-4DFF-AD08-E2732A85EC92}"/>
                </a:ext>
              </a:extLst>
            </p:cNvPr>
            <p:cNvPicPr>
              <a:picLocks noChangeAspect="1"/>
            </p:cNvPicPr>
            <p:nvPr/>
          </p:nvPicPr>
          <p:blipFill>
            <a:blip r:embed="rId2"/>
            <a:stretch>
              <a:fillRect/>
            </a:stretch>
          </p:blipFill>
          <p:spPr>
            <a:xfrm>
              <a:off x="2076450" y="2395538"/>
              <a:ext cx="7867650" cy="3781425"/>
            </a:xfrm>
            <a:prstGeom prst="rect">
              <a:avLst/>
            </a:prstGeom>
          </p:spPr>
        </p:pic>
        <p:sp>
          <p:nvSpPr>
            <p:cNvPr id="6" name="Rectangle 5">
              <a:extLst>
                <a:ext uri="{FF2B5EF4-FFF2-40B4-BE49-F238E27FC236}">
                  <a16:creationId xmlns:a16="http://schemas.microsoft.com/office/drawing/2014/main" id="{0ECC635D-BAD3-4B99-AC15-A49D8AFA5215}"/>
                </a:ext>
              </a:extLst>
            </p:cNvPr>
            <p:cNvSpPr/>
            <p:nvPr/>
          </p:nvSpPr>
          <p:spPr>
            <a:xfrm>
              <a:off x="2466975" y="1872318"/>
              <a:ext cx="6096000" cy="461665"/>
            </a:xfrm>
            <a:prstGeom prst="rect">
              <a:avLst/>
            </a:prstGeom>
          </p:spPr>
          <p:txBody>
            <a:bodyPr>
              <a:spAutoFit/>
            </a:bodyPr>
            <a:lstStyle/>
            <a:p>
              <a:r>
                <a:rPr lang="zh-CN" altLang="en-US" sz="2400" dirty="0">
                  <a:solidFill>
                    <a:srgbClr val="EE2B0A"/>
                  </a:solidFill>
                  <a:cs typeface="+mn-ea"/>
                  <a:sym typeface="+mn-lt"/>
                </a:rPr>
                <a:t>理想数字边缘模型     斜坡数字边缘模型</a:t>
              </a:r>
              <a:r>
                <a:rPr lang="zh-CN" altLang="en-US" sz="2400" dirty="0">
                  <a:cs typeface="+mn-ea"/>
                  <a:sym typeface="+mn-lt"/>
                </a:rPr>
                <a:t> </a:t>
              </a:r>
            </a:p>
          </p:txBody>
        </p:sp>
      </p:grpSp>
      <p:sp>
        <p:nvSpPr>
          <p:cNvPr id="8" name="Rectangle 7">
            <a:extLst>
              <a:ext uri="{FF2B5EF4-FFF2-40B4-BE49-F238E27FC236}">
                <a16:creationId xmlns:a16="http://schemas.microsoft.com/office/drawing/2014/main" id="{166A74EA-144F-4FAB-BDB9-065266E17A2E}"/>
              </a:ext>
            </a:extLst>
          </p:cNvPr>
          <p:cNvSpPr/>
          <p:nvPr/>
        </p:nvSpPr>
        <p:spPr>
          <a:xfrm>
            <a:off x="1571625" y="5931753"/>
            <a:ext cx="8458200" cy="830997"/>
          </a:xfrm>
          <a:prstGeom prst="rect">
            <a:avLst/>
          </a:prstGeom>
        </p:spPr>
        <p:txBody>
          <a:bodyPr wrap="square">
            <a:spAutoFit/>
          </a:bodyPr>
          <a:lstStyle/>
          <a:p>
            <a:r>
              <a:rPr lang="zh-CN" altLang="en-US" sz="2400" dirty="0">
                <a:solidFill>
                  <a:srgbClr val="EE2B0A"/>
                </a:solidFill>
                <a:cs typeface="+mn-ea"/>
                <a:sym typeface="+mn-lt"/>
              </a:rPr>
              <a:t>斜坡的产生是由光学系统、取样和图像采集系统的不完善带来的边缘模糊造成</a:t>
            </a:r>
            <a:r>
              <a:rPr lang="zh-CN" altLang="en-US" sz="2400" dirty="0">
                <a:cs typeface="+mn-ea"/>
                <a:sym typeface="+mn-lt"/>
              </a:rPr>
              <a:t> </a:t>
            </a:r>
          </a:p>
        </p:txBody>
      </p:sp>
    </p:spTree>
    <p:extLst>
      <p:ext uri="{BB962C8B-B14F-4D97-AF65-F5344CB8AC3E}">
        <p14:creationId xmlns:p14="http://schemas.microsoft.com/office/powerpoint/2010/main" val="16746538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FA03F-18EE-49E5-B561-7347C17C5174}"/>
              </a:ext>
            </a:extLst>
          </p:cNvPr>
          <p:cNvSpPr>
            <a:spLocks noGrp="1"/>
          </p:cNvSpPr>
          <p:nvPr>
            <p:ph type="title"/>
          </p:nvPr>
        </p:nvSpPr>
        <p:spPr/>
        <p:txBody>
          <a:bodyPr/>
          <a:lstStyle/>
          <a:p>
            <a:r>
              <a:rPr lang="zh-CN" altLang="en-US" b="1" dirty="0">
                <a:latin typeface="+mn-lt"/>
                <a:ea typeface="+mn-ea"/>
                <a:cs typeface="+mn-ea"/>
                <a:sym typeface="+mn-lt"/>
              </a:rPr>
              <a:t>数字边缘模型</a:t>
            </a:r>
            <a:endParaRPr lang="zh-CN" altLang="en-US" dirty="0">
              <a:latin typeface="+mn-lt"/>
              <a:ea typeface="+mn-ea"/>
              <a:cs typeface="+mn-ea"/>
              <a:sym typeface="+mn-lt"/>
            </a:endParaRPr>
          </a:p>
        </p:txBody>
      </p:sp>
      <p:grpSp>
        <p:nvGrpSpPr>
          <p:cNvPr id="25" name="Group 24">
            <a:extLst>
              <a:ext uri="{FF2B5EF4-FFF2-40B4-BE49-F238E27FC236}">
                <a16:creationId xmlns:a16="http://schemas.microsoft.com/office/drawing/2014/main" id="{B281D49B-2D8E-4418-B788-F063A688F3F2}"/>
              </a:ext>
            </a:extLst>
          </p:cNvPr>
          <p:cNvGrpSpPr/>
          <p:nvPr/>
        </p:nvGrpSpPr>
        <p:grpSpPr>
          <a:xfrm>
            <a:off x="788224" y="1690688"/>
            <a:ext cx="10860850" cy="5156130"/>
            <a:chOff x="788224" y="1690688"/>
            <a:chExt cx="10860850" cy="5156130"/>
          </a:xfrm>
        </p:grpSpPr>
        <p:grpSp>
          <p:nvGrpSpPr>
            <p:cNvPr id="12" name="Group 11">
              <a:extLst>
                <a:ext uri="{FF2B5EF4-FFF2-40B4-BE49-F238E27FC236}">
                  <a16:creationId xmlns:a16="http://schemas.microsoft.com/office/drawing/2014/main" id="{28320B4D-A478-41DD-84B8-93734E98B996}"/>
                </a:ext>
              </a:extLst>
            </p:cNvPr>
            <p:cNvGrpSpPr/>
            <p:nvPr/>
          </p:nvGrpSpPr>
          <p:grpSpPr>
            <a:xfrm>
              <a:off x="1076203" y="1690688"/>
              <a:ext cx="6458193" cy="5064789"/>
              <a:chOff x="2866903" y="1536035"/>
              <a:chExt cx="6458193" cy="5064789"/>
            </a:xfrm>
          </p:grpSpPr>
          <p:pic>
            <p:nvPicPr>
              <p:cNvPr id="5" name="Picture 4">
                <a:extLst>
                  <a:ext uri="{FF2B5EF4-FFF2-40B4-BE49-F238E27FC236}">
                    <a16:creationId xmlns:a16="http://schemas.microsoft.com/office/drawing/2014/main" id="{6A77BCA1-729C-42FF-88A8-B1D62FED8F8D}"/>
                  </a:ext>
                </a:extLst>
              </p:cNvPr>
              <p:cNvPicPr>
                <a:picLocks noChangeAspect="1"/>
              </p:cNvPicPr>
              <p:nvPr/>
            </p:nvPicPr>
            <p:blipFill>
              <a:blip r:embed="rId2"/>
              <a:stretch>
                <a:fillRect/>
              </a:stretch>
            </p:blipFill>
            <p:spPr>
              <a:xfrm>
                <a:off x="2866903" y="1536035"/>
                <a:ext cx="6458193" cy="5064789"/>
              </a:xfrm>
              <a:prstGeom prst="rect">
                <a:avLst/>
              </a:prstGeom>
            </p:spPr>
          </p:pic>
          <p:sp>
            <p:nvSpPr>
              <p:cNvPr id="6" name="Oval 5">
                <a:extLst>
                  <a:ext uri="{FF2B5EF4-FFF2-40B4-BE49-F238E27FC236}">
                    <a16:creationId xmlns:a16="http://schemas.microsoft.com/office/drawing/2014/main" id="{024BF48B-423F-4CA9-B32C-E9682D2E6AE8}"/>
                  </a:ext>
                </a:extLst>
              </p:cNvPr>
              <p:cNvSpPr/>
              <p:nvPr/>
            </p:nvSpPr>
            <p:spPr>
              <a:xfrm>
                <a:off x="5153025" y="1536035"/>
                <a:ext cx="257175" cy="263591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Rectangle 6">
                <a:extLst>
                  <a:ext uri="{FF2B5EF4-FFF2-40B4-BE49-F238E27FC236}">
                    <a16:creationId xmlns:a16="http://schemas.microsoft.com/office/drawing/2014/main" id="{0C679D9A-49D3-4A90-B94F-0E1B0A3E3846}"/>
                  </a:ext>
                </a:extLst>
              </p:cNvPr>
              <p:cNvSpPr/>
              <p:nvPr/>
            </p:nvSpPr>
            <p:spPr>
              <a:xfrm>
                <a:off x="3990974" y="4758809"/>
                <a:ext cx="942975" cy="461665"/>
              </a:xfrm>
              <a:prstGeom prst="rect">
                <a:avLst/>
              </a:prstGeom>
            </p:spPr>
            <p:txBody>
              <a:bodyPr wrap="square">
                <a:spAutoFit/>
              </a:bodyPr>
              <a:lstStyle/>
              <a:p>
                <a:pPr algn="ctr"/>
                <a:r>
                  <a:rPr lang="zh-CN" altLang="en-US" sz="2400" dirty="0">
                    <a:solidFill>
                      <a:srgbClr val="EE2B0A"/>
                    </a:solidFill>
                    <a:cs typeface="+mn-ea"/>
                    <a:sym typeface="+mn-lt"/>
                  </a:rPr>
                  <a:t>边缘</a:t>
                </a:r>
                <a:r>
                  <a:rPr lang="zh-CN" altLang="en-US" sz="2400" dirty="0">
                    <a:cs typeface="+mn-ea"/>
                    <a:sym typeface="+mn-lt"/>
                  </a:rPr>
                  <a:t> </a:t>
                </a:r>
              </a:p>
            </p:txBody>
          </p:sp>
          <p:cxnSp>
            <p:nvCxnSpPr>
              <p:cNvPr id="9" name="Straight Arrow Connector 8">
                <a:extLst>
                  <a:ext uri="{FF2B5EF4-FFF2-40B4-BE49-F238E27FC236}">
                    <a16:creationId xmlns:a16="http://schemas.microsoft.com/office/drawing/2014/main" id="{6B4065AC-D34D-4306-B698-B47E3A8BB3D4}"/>
                  </a:ext>
                </a:extLst>
              </p:cNvPr>
              <p:cNvCxnSpPr>
                <a:cxnSpLocks/>
                <a:stCxn id="7" idx="0"/>
              </p:cNvCxnSpPr>
              <p:nvPr/>
            </p:nvCxnSpPr>
            <p:spPr>
              <a:xfrm flipV="1">
                <a:off x="4462462" y="4171951"/>
                <a:ext cx="804863" cy="58685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13" name="Oval 12">
              <a:extLst>
                <a:ext uri="{FF2B5EF4-FFF2-40B4-BE49-F238E27FC236}">
                  <a16:creationId xmlns:a16="http://schemas.microsoft.com/office/drawing/2014/main" id="{90B42E5B-11C5-43B6-B03D-1EF9DC8DF695}"/>
                </a:ext>
              </a:extLst>
            </p:cNvPr>
            <p:cNvSpPr/>
            <p:nvPr/>
          </p:nvSpPr>
          <p:spPr>
            <a:xfrm>
              <a:off x="5720067" y="3638550"/>
              <a:ext cx="1414158" cy="320040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 name="Rectangle 13">
              <a:extLst>
                <a:ext uri="{FF2B5EF4-FFF2-40B4-BE49-F238E27FC236}">
                  <a16:creationId xmlns:a16="http://schemas.microsoft.com/office/drawing/2014/main" id="{22235266-660B-42F1-9AD5-4B46678C3770}"/>
                </a:ext>
              </a:extLst>
            </p:cNvPr>
            <p:cNvSpPr/>
            <p:nvPr/>
          </p:nvSpPr>
          <p:spPr>
            <a:xfrm>
              <a:off x="7772399" y="3576751"/>
              <a:ext cx="3467221" cy="707886"/>
            </a:xfrm>
            <a:prstGeom prst="rect">
              <a:avLst/>
            </a:prstGeom>
          </p:spPr>
          <p:txBody>
            <a:bodyPr wrap="square">
              <a:spAutoFit/>
            </a:bodyPr>
            <a:lstStyle/>
            <a:p>
              <a:r>
                <a:rPr lang="zh-CN" altLang="en-US" sz="2000" dirty="0">
                  <a:solidFill>
                    <a:srgbClr val="EE2B0A"/>
                  </a:solidFill>
                  <a:cs typeface="+mn-ea"/>
                  <a:sym typeface="+mn-lt"/>
                </a:rPr>
                <a:t>在边缘斜面上，一阶导数为正，其它区域为零</a:t>
              </a:r>
              <a:r>
                <a:rPr lang="zh-CN" altLang="en-US" sz="2000" dirty="0">
                  <a:cs typeface="+mn-ea"/>
                  <a:sym typeface="+mn-lt"/>
                </a:rPr>
                <a:t> </a:t>
              </a:r>
            </a:p>
          </p:txBody>
        </p:sp>
        <p:cxnSp>
          <p:nvCxnSpPr>
            <p:cNvPr id="15" name="Straight Arrow Connector 14">
              <a:extLst>
                <a:ext uri="{FF2B5EF4-FFF2-40B4-BE49-F238E27FC236}">
                  <a16:creationId xmlns:a16="http://schemas.microsoft.com/office/drawing/2014/main" id="{5486E59B-6C97-4920-9B15-76AC039A9395}"/>
                </a:ext>
              </a:extLst>
            </p:cNvPr>
            <p:cNvCxnSpPr>
              <a:cxnSpLocks/>
              <a:endCxn id="14" idx="1"/>
            </p:cNvCxnSpPr>
            <p:nvPr/>
          </p:nvCxnSpPr>
          <p:spPr>
            <a:xfrm flipV="1">
              <a:off x="6753225" y="3930694"/>
              <a:ext cx="1019174" cy="51748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25E3A6A4-37A9-4C8B-A05E-8EDACC099875}"/>
                </a:ext>
              </a:extLst>
            </p:cNvPr>
            <p:cNvSpPr/>
            <p:nvPr/>
          </p:nvSpPr>
          <p:spPr>
            <a:xfrm>
              <a:off x="788224" y="5885082"/>
              <a:ext cx="3886322" cy="707886"/>
            </a:xfrm>
            <a:prstGeom prst="rect">
              <a:avLst/>
            </a:prstGeom>
          </p:spPr>
          <p:txBody>
            <a:bodyPr wrap="square">
              <a:spAutoFit/>
            </a:bodyPr>
            <a:lstStyle/>
            <a:p>
              <a:r>
                <a:rPr lang="zh-CN" altLang="en-US" sz="2000" dirty="0">
                  <a:solidFill>
                    <a:srgbClr val="EE2B0A"/>
                  </a:solidFill>
                  <a:cs typeface="+mn-ea"/>
                  <a:sym typeface="+mn-lt"/>
                </a:rPr>
                <a:t>在边缘与黑色交界处，二阶导数为正</a:t>
              </a:r>
              <a:r>
                <a:rPr lang="zh-CN" altLang="en-US" sz="2000" dirty="0">
                  <a:cs typeface="+mn-ea"/>
                  <a:sym typeface="+mn-lt"/>
                </a:rPr>
                <a:t> </a:t>
              </a:r>
            </a:p>
          </p:txBody>
        </p:sp>
        <p:cxnSp>
          <p:nvCxnSpPr>
            <p:cNvPr id="19" name="Straight Arrow Connector 18">
              <a:extLst>
                <a:ext uri="{FF2B5EF4-FFF2-40B4-BE49-F238E27FC236}">
                  <a16:creationId xmlns:a16="http://schemas.microsoft.com/office/drawing/2014/main" id="{F5948325-232D-4868-996D-870470394D51}"/>
                </a:ext>
              </a:extLst>
            </p:cNvPr>
            <p:cNvCxnSpPr>
              <a:cxnSpLocks/>
            </p:cNvCxnSpPr>
            <p:nvPr/>
          </p:nvCxnSpPr>
          <p:spPr>
            <a:xfrm flipV="1">
              <a:off x="4476933" y="5691795"/>
              <a:ext cx="1542867" cy="22852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A9A99632-C73C-4500-90F5-44FAD4CE22A9}"/>
                </a:ext>
              </a:extLst>
            </p:cNvPr>
            <p:cNvSpPr/>
            <p:nvPr/>
          </p:nvSpPr>
          <p:spPr>
            <a:xfrm>
              <a:off x="7772399" y="6138932"/>
              <a:ext cx="3876675" cy="707886"/>
            </a:xfrm>
            <a:prstGeom prst="rect">
              <a:avLst/>
            </a:prstGeom>
          </p:spPr>
          <p:txBody>
            <a:bodyPr wrap="square">
              <a:spAutoFit/>
            </a:bodyPr>
            <a:lstStyle/>
            <a:p>
              <a:r>
                <a:rPr lang="zh-CN" altLang="en-US" sz="2000" dirty="0">
                  <a:solidFill>
                    <a:srgbClr val="EE2B0A"/>
                  </a:solidFill>
                  <a:cs typeface="+mn-ea"/>
                  <a:sym typeface="+mn-lt"/>
                </a:rPr>
                <a:t>在边缘与亮色交界处，二阶导数为负</a:t>
              </a:r>
              <a:endParaRPr lang="zh-CN" altLang="en-US" sz="2000" dirty="0">
                <a:cs typeface="+mn-ea"/>
                <a:sym typeface="+mn-lt"/>
              </a:endParaRPr>
            </a:p>
          </p:txBody>
        </p:sp>
        <p:cxnSp>
          <p:nvCxnSpPr>
            <p:cNvPr id="23" name="Straight Arrow Connector 22">
              <a:extLst>
                <a:ext uri="{FF2B5EF4-FFF2-40B4-BE49-F238E27FC236}">
                  <a16:creationId xmlns:a16="http://schemas.microsoft.com/office/drawing/2014/main" id="{9DDEADA1-1EE5-49F5-8BA3-9334A570398D}"/>
                </a:ext>
              </a:extLst>
            </p:cNvPr>
            <p:cNvCxnSpPr>
              <a:cxnSpLocks/>
              <a:endCxn id="22" idx="1"/>
            </p:cNvCxnSpPr>
            <p:nvPr/>
          </p:nvCxnSpPr>
          <p:spPr>
            <a:xfrm>
              <a:off x="6705905" y="6444325"/>
              <a:ext cx="1066494" cy="4855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265939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68BB4-AD2C-4A2F-8DC9-B906A8EC8864}"/>
              </a:ext>
            </a:extLst>
          </p:cNvPr>
          <p:cNvSpPr>
            <a:spLocks noGrp="1"/>
          </p:cNvSpPr>
          <p:nvPr>
            <p:ph type="title"/>
          </p:nvPr>
        </p:nvSpPr>
        <p:spPr/>
        <p:txBody>
          <a:bodyPr/>
          <a:lstStyle/>
          <a:p>
            <a:r>
              <a:rPr lang="zh-CN" altLang="en-US" b="1" dirty="0">
                <a:latin typeface="+mn-lt"/>
                <a:ea typeface="+mn-ea"/>
                <a:cs typeface="+mn-ea"/>
                <a:sym typeface="+mn-lt"/>
              </a:rPr>
              <a:t>数字边缘模型</a:t>
            </a:r>
            <a:endParaRPr lang="zh-CN" altLang="en-US" dirty="0">
              <a:latin typeface="+mn-lt"/>
              <a:ea typeface="+mn-ea"/>
              <a:cs typeface="+mn-ea"/>
              <a:sym typeface="+mn-lt"/>
            </a:endParaRPr>
          </a:p>
        </p:txBody>
      </p:sp>
      <p:sp>
        <p:nvSpPr>
          <p:cNvPr id="3" name="Content Placeholder 2">
            <a:extLst>
              <a:ext uri="{FF2B5EF4-FFF2-40B4-BE49-F238E27FC236}">
                <a16:creationId xmlns:a16="http://schemas.microsoft.com/office/drawing/2014/main" id="{73A3A87D-7585-45D3-B62B-5F7908F6CC49}"/>
              </a:ext>
            </a:extLst>
          </p:cNvPr>
          <p:cNvSpPr>
            <a:spLocks noGrp="1"/>
          </p:cNvSpPr>
          <p:nvPr>
            <p:ph idx="1"/>
          </p:nvPr>
        </p:nvSpPr>
        <p:spPr/>
        <p:txBody>
          <a:bodyPr>
            <a:normAutofit/>
          </a:bodyPr>
          <a:lstStyle/>
          <a:p>
            <a:pPr>
              <a:lnSpc>
                <a:spcPct val="120000"/>
              </a:lnSpc>
            </a:pPr>
            <a:r>
              <a:rPr lang="zh-CN" altLang="en-US" sz="3200" b="1" dirty="0">
                <a:cs typeface="+mn-ea"/>
                <a:sym typeface="+mn-lt"/>
              </a:rPr>
              <a:t>性质</a:t>
            </a:r>
            <a:endParaRPr lang="en-US" altLang="zh-CN" sz="3200" b="1" dirty="0">
              <a:cs typeface="+mn-ea"/>
              <a:sym typeface="+mn-lt"/>
            </a:endParaRPr>
          </a:p>
          <a:p>
            <a:pPr lvl="1">
              <a:lnSpc>
                <a:spcPct val="120000"/>
              </a:lnSpc>
            </a:pPr>
            <a:r>
              <a:rPr lang="zh-CN" altLang="en-US" sz="2800" dirty="0">
                <a:cs typeface="+mn-ea"/>
                <a:sym typeface="+mn-lt"/>
              </a:rPr>
              <a:t>一阶导数可用于检测图像中的一个点是否在边缘上</a:t>
            </a:r>
          </a:p>
          <a:p>
            <a:pPr lvl="1">
              <a:lnSpc>
                <a:spcPct val="120000"/>
              </a:lnSpc>
            </a:pPr>
            <a:r>
              <a:rPr lang="zh-CN" altLang="en-US" sz="2800" dirty="0">
                <a:cs typeface="+mn-ea"/>
                <a:sym typeface="+mn-lt"/>
              </a:rPr>
              <a:t>二阶导数可以判断一个边缘像素是在边缘亮的一边还是暗的一边</a:t>
            </a:r>
          </a:p>
          <a:p>
            <a:pPr lvl="1">
              <a:lnSpc>
                <a:spcPct val="120000"/>
              </a:lnSpc>
            </a:pPr>
            <a:r>
              <a:rPr lang="zh-CN" altLang="en-US" sz="2800" dirty="0">
                <a:cs typeface="+mn-ea"/>
                <a:sym typeface="+mn-lt"/>
              </a:rPr>
              <a:t>一条连接二阶导数正值和负值的虚构直线将在边缘中点附近穿过零点</a:t>
            </a:r>
          </a:p>
          <a:p>
            <a:pPr lvl="1">
              <a:lnSpc>
                <a:spcPct val="120000"/>
              </a:lnSpc>
            </a:pPr>
            <a:r>
              <a:rPr lang="zh-CN" altLang="en-US" sz="2800" dirty="0">
                <a:cs typeface="+mn-ea"/>
                <a:sym typeface="+mn-lt"/>
              </a:rPr>
              <a:t>一阶导数使用梯度算子，二阶导数使用拉普拉斯算子</a:t>
            </a:r>
          </a:p>
        </p:txBody>
      </p:sp>
    </p:spTree>
    <p:extLst>
      <p:ext uri="{BB962C8B-B14F-4D97-AF65-F5344CB8AC3E}">
        <p14:creationId xmlns:p14="http://schemas.microsoft.com/office/powerpoint/2010/main" val="6050804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68F34-5375-4A34-8769-2FB89DF54336}"/>
              </a:ext>
            </a:extLst>
          </p:cNvPr>
          <p:cNvSpPr>
            <a:spLocks noGrp="1"/>
          </p:cNvSpPr>
          <p:nvPr>
            <p:ph type="title"/>
          </p:nvPr>
        </p:nvSpPr>
        <p:spPr/>
        <p:txBody>
          <a:bodyPr/>
          <a:lstStyle/>
          <a:p>
            <a:r>
              <a:rPr lang="zh-CN" altLang="en-US" b="1" dirty="0">
                <a:latin typeface="+mn-lt"/>
                <a:ea typeface="+mn-ea"/>
                <a:cs typeface="+mn-ea"/>
                <a:sym typeface="+mn-lt"/>
              </a:rPr>
              <a:t>数字边缘模型</a:t>
            </a:r>
            <a:endParaRPr lang="zh-CN" altLang="en-US" dirty="0">
              <a:latin typeface="+mn-lt"/>
              <a:ea typeface="+mn-ea"/>
              <a:cs typeface="+mn-ea"/>
              <a:sym typeface="+mn-lt"/>
            </a:endParaRPr>
          </a:p>
        </p:txBody>
      </p:sp>
      <p:sp>
        <p:nvSpPr>
          <p:cNvPr id="3" name="Content Placeholder 2">
            <a:extLst>
              <a:ext uri="{FF2B5EF4-FFF2-40B4-BE49-F238E27FC236}">
                <a16:creationId xmlns:a16="http://schemas.microsoft.com/office/drawing/2014/main" id="{7FE7B5D2-3EE4-474F-844D-7636FC285F1E}"/>
              </a:ext>
            </a:extLst>
          </p:cNvPr>
          <p:cNvSpPr>
            <a:spLocks noGrp="1"/>
          </p:cNvSpPr>
          <p:nvPr>
            <p:ph idx="1"/>
          </p:nvPr>
        </p:nvSpPr>
        <p:spPr/>
        <p:txBody>
          <a:bodyPr/>
          <a:lstStyle/>
          <a:p>
            <a:r>
              <a:rPr lang="zh-CN" altLang="en-US" b="1" dirty="0">
                <a:cs typeface="+mn-ea"/>
                <a:sym typeface="+mn-lt"/>
              </a:rPr>
              <a:t>带噪声的边缘区域</a:t>
            </a:r>
          </a:p>
        </p:txBody>
      </p:sp>
      <p:pic>
        <p:nvPicPr>
          <p:cNvPr id="4" name="Picture 3">
            <a:extLst>
              <a:ext uri="{FF2B5EF4-FFF2-40B4-BE49-F238E27FC236}">
                <a16:creationId xmlns:a16="http://schemas.microsoft.com/office/drawing/2014/main" id="{056823BA-5F69-40E8-9D76-4FCBC8940A03}"/>
              </a:ext>
            </a:extLst>
          </p:cNvPr>
          <p:cNvPicPr>
            <a:picLocks noChangeAspect="1"/>
          </p:cNvPicPr>
          <p:nvPr/>
        </p:nvPicPr>
        <p:blipFill>
          <a:blip r:embed="rId2"/>
          <a:stretch>
            <a:fillRect/>
          </a:stretch>
        </p:blipFill>
        <p:spPr>
          <a:xfrm>
            <a:off x="805313" y="2606981"/>
            <a:ext cx="5290687" cy="3885894"/>
          </a:xfrm>
          <a:prstGeom prst="rect">
            <a:avLst/>
          </a:prstGeom>
        </p:spPr>
      </p:pic>
      <p:pic>
        <p:nvPicPr>
          <p:cNvPr id="5" name="Picture 4">
            <a:extLst>
              <a:ext uri="{FF2B5EF4-FFF2-40B4-BE49-F238E27FC236}">
                <a16:creationId xmlns:a16="http://schemas.microsoft.com/office/drawing/2014/main" id="{3EDE80F1-E8B2-48D7-A6AF-034C1F1A0E97}"/>
              </a:ext>
            </a:extLst>
          </p:cNvPr>
          <p:cNvPicPr>
            <a:picLocks noChangeAspect="1"/>
          </p:cNvPicPr>
          <p:nvPr/>
        </p:nvPicPr>
        <p:blipFill>
          <a:blip r:embed="rId3"/>
          <a:stretch>
            <a:fillRect/>
          </a:stretch>
        </p:blipFill>
        <p:spPr>
          <a:xfrm>
            <a:off x="6315534" y="2626825"/>
            <a:ext cx="5581192" cy="4044553"/>
          </a:xfrm>
          <a:prstGeom prst="rect">
            <a:avLst/>
          </a:prstGeom>
        </p:spPr>
      </p:pic>
      <p:sp>
        <p:nvSpPr>
          <p:cNvPr id="6" name="Rectangle 5">
            <a:extLst>
              <a:ext uri="{FF2B5EF4-FFF2-40B4-BE49-F238E27FC236}">
                <a16:creationId xmlns:a16="http://schemas.microsoft.com/office/drawing/2014/main" id="{7CC8B058-1DDD-4088-BAE6-387384536CDC}"/>
              </a:ext>
            </a:extLst>
          </p:cNvPr>
          <p:cNvSpPr/>
          <p:nvPr/>
        </p:nvSpPr>
        <p:spPr>
          <a:xfrm>
            <a:off x="8189853" y="1726138"/>
            <a:ext cx="1832553" cy="584775"/>
          </a:xfrm>
          <a:prstGeom prst="rect">
            <a:avLst/>
          </a:prstGeom>
        </p:spPr>
        <p:txBody>
          <a:bodyPr wrap="none">
            <a:spAutoFit/>
          </a:bodyPr>
          <a:lstStyle/>
          <a:p>
            <a:r>
              <a:rPr lang="zh-CN" altLang="en-US" sz="3200" b="1" dirty="0">
                <a:solidFill>
                  <a:srgbClr val="EE2B0A"/>
                </a:solidFill>
                <a:cs typeface="+mn-ea"/>
                <a:sym typeface="+mn-lt"/>
              </a:rPr>
              <a:t>高斯噪声</a:t>
            </a:r>
            <a:endParaRPr lang="zh-CN" altLang="en-US" sz="3200" b="1" dirty="0">
              <a:cs typeface="+mn-ea"/>
              <a:sym typeface="+mn-lt"/>
            </a:endParaRPr>
          </a:p>
        </p:txBody>
      </p:sp>
    </p:spTree>
    <p:extLst>
      <p:ext uri="{BB962C8B-B14F-4D97-AF65-F5344CB8AC3E}">
        <p14:creationId xmlns:p14="http://schemas.microsoft.com/office/powerpoint/2010/main" val="36103402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CC14B-EAFE-4069-80E5-31BAF58FA825}"/>
              </a:ext>
            </a:extLst>
          </p:cNvPr>
          <p:cNvSpPr>
            <a:spLocks noGrp="1"/>
          </p:cNvSpPr>
          <p:nvPr>
            <p:ph type="title"/>
          </p:nvPr>
        </p:nvSpPr>
        <p:spPr/>
        <p:txBody>
          <a:bodyPr/>
          <a:lstStyle/>
          <a:p>
            <a:r>
              <a:rPr lang="zh-CN" altLang="en-US" b="1" dirty="0">
                <a:latin typeface="+mn-lt"/>
                <a:ea typeface="+mn-ea"/>
                <a:cs typeface="+mn-ea"/>
                <a:sym typeface="+mn-lt"/>
              </a:rPr>
              <a:t>边缘检测</a:t>
            </a:r>
          </a:p>
        </p:txBody>
      </p:sp>
      <p:sp>
        <p:nvSpPr>
          <p:cNvPr id="3" name="Content Placeholder 2">
            <a:extLst>
              <a:ext uri="{FF2B5EF4-FFF2-40B4-BE49-F238E27FC236}">
                <a16:creationId xmlns:a16="http://schemas.microsoft.com/office/drawing/2014/main" id="{B7E659D7-5793-4636-9D78-F26D94823008}"/>
              </a:ext>
            </a:extLst>
          </p:cNvPr>
          <p:cNvSpPr>
            <a:spLocks noGrp="1"/>
          </p:cNvSpPr>
          <p:nvPr>
            <p:ph idx="1"/>
          </p:nvPr>
        </p:nvSpPr>
        <p:spPr>
          <a:xfrm>
            <a:off x="838200" y="1825625"/>
            <a:ext cx="10515600" cy="4351338"/>
          </a:xfrm>
        </p:spPr>
        <p:txBody>
          <a:bodyPr>
            <a:normAutofit/>
          </a:bodyPr>
          <a:lstStyle/>
          <a:p>
            <a:pPr>
              <a:lnSpc>
                <a:spcPct val="150000"/>
              </a:lnSpc>
            </a:pPr>
            <a:r>
              <a:rPr lang="zh-CN" altLang="en-US" sz="3200" b="1" dirty="0">
                <a:cs typeface="+mn-ea"/>
                <a:sym typeface="+mn-lt"/>
              </a:rPr>
              <a:t>用于边缘检测的三个步骤：</a:t>
            </a:r>
            <a:endParaRPr lang="en-US" altLang="zh-CN" sz="3200" b="1" dirty="0">
              <a:cs typeface="+mn-ea"/>
              <a:sym typeface="+mn-lt"/>
            </a:endParaRPr>
          </a:p>
          <a:p>
            <a:pPr marL="914400" lvl="1" indent="-457200">
              <a:lnSpc>
                <a:spcPct val="150000"/>
              </a:lnSpc>
              <a:buFont typeface="+mj-ea"/>
              <a:buAutoNum type="circleNumDbPlain"/>
            </a:pPr>
            <a:r>
              <a:rPr lang="zh-CN" altLang="en-US" sz="2800" dirty="0">
                <a:cs typeface="+mn-ea"/>
                <a:sym typeface="+mn-lt"/>
              </a:rPr>
              <a:t>通过平滑处理，降低噪声</a:t>
            </a:r>
            <a:endParaRPr lang="en-US" altLang="zh-CN" sz="2800" dirty="0">
              <a:cs typeface="+mn-ea"/>
              <a:sym typeface="+mn-lt"/>
            </a:endParaRPr>
          </a:p>
          <a:p>
            <a:pPr marL="914400" lvl="1" indent="-457200">
              <a:lnSpc>
                <a:spcPct val="150000"/>
              </a:lnSpc>
              <a:buFont typeface="+mj-ea"/>
              <a:buAutoNum type="circleNumDbPlain"/>
            </a:pPr>
            <a:r>
              <a:rPr lang="zh-CN" altLang="en-US" sz="2800" dirty="0">
                <a:cs typeface="+mn-ea"/>
                <a:sym typeface="+mn-lt"/>
              </a:rPr>
              <a:t>检测边缘点</a:t>
            </a:r>
            <a:endParaRPr lang="en-US" altLang="zh-CN" sz="2800" dirty="0">
              <a:cs typeface="+mn-ea"/>
              <a:sym typeface="+mn-lt"/>
            </a:endParaRPr>
          </a:p>
          <a:p>
            <a:pPr marL="914400" lvl="1" indent="-457200">
              <a:lnSpc>
                <a:spcPct val="150000"/>
              </a:lnSpc>
              <a:buFont typeface="+mj-ea"/>
              <a:buAutoNum type="circleNumDbPlain"/>
            </a:pPr>
            <a:r>
              <a:rPr lang="zh-CN" altLang="en-US" sz="2800" dirty="0">
                <a:cs typeface="+mn-ea"/>
                <a:sym typeface="+mn-lt"/>
              </a:rPr>
              <a:t>边缘定位</a:t>
            </a:r>
          </a:p>
        </p:txBody>
      </p:sp>
    </p:spTree>
    <p:extLst>
      <p:ext uri="{BB962C8B-B14F-4D97-AF65-F5344CB8AC3E}">
        <p14:creationId xmlns:p14="http://schemas.microsoft.com/office/powerpoint/2010/main" val="27210893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C8E87-1F14-4E12-819A-FD1C167D177F}"/>
              </a:ext>
            </a:extLst>
          </p:cNvPr>
          <p:cNvSpPr>
            <a:spLocks noGrp="1"/>
          </p:cNvSpPr>
          <p:nvPr>
            <p:ph type="title"/>
          </p:nvPr>
        </p:nvSpPr>
        <p:spPr/>
        <p:txBody>
          <a:bodyPr/>
          <a:lstStyle/>
          <a:p>
            <a:r>
              <a:rPr lang="zh-CN" altLang="en-US" b="1" dirty="0">
                <a:latin typeface="+mn-lt"/>
                <a:ea typeface="+mn-ea"/>
                <a:cs typeface="+mn-ea"/>
                <a:sym typeface="+mn-lt"/>
              </a:rPr>
              <a:t>边缘检测</a:t>
            </a:r>
            <a:endParaRPr lang="zh-CN" altLang="en-US" dirty="0">
              <a:latin typeface="+mn-lt"/>
              <a:ea typeface="+mn-ea"/>
              <a:cs typeface="+mn-ea"/>
              <a:sym typeface="+mn-lt"/>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E82B801-3091-45F2-9BF3-F1EDED22329A}"/>
                  </a:ext>
                </a:extLst>
              </p:cNvPr>
              <p:cNvSpPr>
                <a:spLocks noGrp="1"/>
              </p:cNvSpPr>
              <p:nvPr>
                <p:ph idx="1"/>
              </p:nvPr>
            </p:nvSpPr>
            <p:spPr>
              <a:xfrm>
                <a:off x="838200" y="1825625"/>
                <a:ext cx="10515600" cy="4351338"/>
              </a:xfrm>
            </p:spPr>
            <p:txBody>
              <a:bodyPr/>
              <a:lstStyle/>
              <a:p>
                <a:pPr>
                  <a:lnSpc>
                    <a:spcPct val="120000"/>
                  </a:lnSpc>
                </a:pPr>
                <a:r>
                  <a:rPr lang="zh-CN" altLang="en-US" b="1" dirty="0">
                    <a:cs typeface="+mn-ea"/>
                    <a:sym typeface="+mn-lt"/>
                  </a:rPr>
                  <a:t>梯度算子</a:t>
                </a:r>
                <a:endParaRPr lang="en-US" altLang="zh-CN" b="1" dirty="0">
                  <a:cs typeface="+mn-ea"/>
                  <a:sym typeface="+mn-lt"/>
                </a:endParaRPr>
              </a:p>
              <a:p>
                <a:pPr lvl="1">
                  <a:lnSpc>
                    <a:spcPct val="120000"/>
                  </a:lnSpc>
                </a:pPr>
                <a:r>
                  <a:rPr lang="zh-CN" altLang="en-US" dirty="0">
                    <a:cs typeface="+mn-ea"/>
                    <a:sym typeface="+mn-lt"/>
                  </a:rPr>
                  <a:t>图像</a:t>
                </a:r>
                <a14:m>
                  <m:oMath xmlns:m="http://schemas.openxmlformats.org/officeDocument/2006/math">
                    <m:r>
                      <a:rPr lang="en-US" altLang="zh-CN" b="0" i="1" smtClean="0">
                        <a:latin typeface="Cambria Math" panose="02040503050406030204" pitchFamily="18" charset="0"/>
                        <a:cs typeface="+mn-ea"/>
                        <a:sym typeface="+mn-lt"/>
                      </a:rPr>
                      <m:t>𝑓</m:t>
                    </m:r>
                    <m:r>
                      <a:rPr lang="en-US" altLang="zh-CN"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𝑥</m:t>
                    </m:r>
                    <m:r>
                      <a:rPr lang="en-US" altLang="zh-CN"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𝑦</m:t>
                    </m:r>
                    <m:r>
                      <a:rPr lang="en-US" altLang="zh-CN" b="0" i="1" smtClean="0">
                        <a:latin typeface="Cambria Math" panose="02040503050406030204" pitchFamily="18" charset="0"/>
                        <a:cs typeface="+mn-ea"/>
                        <a:sym typeface="+mn-lt"/>
                      </a:rPr>
                      <m:t>)</m:t>
                    </m:r>
                    <m:r>
                      <a:rPr lang="zh-CN" altLang="en-US" b="0" i="1">
                        <a:latin typeface="Cambria Math" panose="02040503050406030204" pitchFamily="18" charset="0"/>
                        <a:cs typeface="+mn-ea"/>
                        <a:sym typeface="+mn-lt"/>
                      </a:rPr>
                      <m:t>在</m:t>
                    </m:r>
                  </m:oMath>
                </a14:m>
                <a:r>
                  <a:rPr lang="zh-CN" altLang="en-US" dirty="0">
                    <a:cs typeface="+mn-ea"/>
                    <a:sym typeface="+mn-lt"/>
                  </a:rPr>
                  <a:t>位置</a:t>
                </a:r>
                <a14:m>
                  <m:oMath xmlns:m="http://schemas.openxmlformats.org/officeDocument/2006/math">
                    <m:r>
                      <a:rPr lang="en-US" altLang="zh-CN"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𝑥</m:t>
                    </m:r>
                    <m:r>
                      <a:rPr lang="en-US" altLang="zh-CN"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𝑦</m:t>
                    </m:r>
                    <m:r>
                      <a:rPr lang="en-US" altLang="zh-CN" b="0" i="1" smtClean="0">
                        <a:latin typeface="Cambria Math" panose="02040503050406030204" pitchFamily="18" charset="0"/>
                        <a:cs typeface="+mn-ea"/>
                        <a:sym typeface="+mn-lt"/>
                      </a:rPr>
                      <m:t>)</m:t>
                    </m:r>
                  </m:oMath>
                </a14:m>
                <a:r>
                  <a:rPr lang="zh-CN" altLang="en-US" dirty="0">
                    <a:cs typeface="+mn-ea"/>
                    <a:sym typeface="+mn-lt"/>
                  </a:rPr>
                  <a:t>的梯度定义为向量</a:t>
                </a:r>
                <a:endParaRPr lang="en-US" altLang="zh-CN" dirty="0">
                  <a:cs typeface="+mn-ea"/>
                  <a:sym typeface="+mn-lt"/>
                </a:endParaRPr>
              </a:p>
              <a:p>
                <a:pPr marL="457200" lvl="1" indent="0">
                  <a:lnSpc>
                    <a:spcPct val="120000"/>
                  </a:lnSpc>
                  <a:buNone/>
                </a:pPr>
                <a:r>
                  <a:rPr lang="zh-CN" altLang="en-US" b="0" dirty="0">
                    <a:cs typeface="+mn-ea"/>
                    <a:sym typeface="+mn-lt"/>
                  </a:rPr>
                  <a:t>      </a:t>
                </a:r>
                <a14:m>
                  <m:oMath xmlns:m="http://schemas.openxmlformats.org/officeDocument/2006/math">
                    <m:r>
                      <a:rPr lang="zh-CN" altLang="en-US"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𝑓</m:t>
                    </m:r>
                    <m:d>
                      <m:dPr>
                        <m:ctrlPr>
                          <a:rPr lang="en-US" altLang="zh-CN" i="1" smtClean="0">
                            <a:latin typeface="Cambria Math" panose="02040503050406030204" pitchFamily="18" charset="0"/>
                            <a:cs typeface="+mn-ea"/>
                            <a:sym typeface="+mn-lt"/>
                          </a:rPr>
                        </m:ctrlPr>
                      </m:dPr>
                      <m:e>
                        <m:r>
                          <a:rPr lang="en-US" altLang="zh-CN" b="0" i="1" smtClean="0">
                            <a:latin typeface="Cambria Math" panose="02040503050406030204" pitchFamily="18" charset="0"/>
                            <a:cs typeface="+mn-ea"/>
                            <a:sym typeface="+mn-lt"/>
                          </a:rPr>
                          <m:t>𝑥</m:t>
                        </m:r>
                        <m:r>
                          <a:rPr lang="en-US" altLang="zh-CN"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𝑦</m:t>
                        </m:r>
                      </m:e>
                    </m:d>
                    <m:r>
                      <a:rPr lang="en-US" altLang="zh-CN" b="0" i="1" smtClean="0">
                        <a:latin typeface="Cambria Math" panose="02040503050406030204" pitchFamily="18" charset="0"/>
                        <a:cs typeface="+mn-ea"/>
                        <a:sym typeface="+mn-lt"/>
                      </a:rPr>
                      <m:t>=</m:t>
                    </m:r>
                    <m:d>
                      <m:dPr>
                        <m:begChr m:val="["/>
                        <m:endChr m:val="]"/>
                        <m:ctrlPr>
                          <a:rPr lang="en-US" altLang="zh-CN" i="1" smtClean="0">
                            <a:latin typeface="Cambria Math" panose="02040503050406030204" pitchFamily="18" charset="0"/>
                            <a:cs typeface="+mn-ea"/>
                            <a:sym typeface="+mn-lt"/>
                          </a:rPr>
                        </m:ctrlPr>
                      </m:dPr>
                      <m:e>
                        <m:m>
                          <m:mPr>
                            <m:mcs>
                              <m:mc>
                                <m:mcPr>
                                  <m:count m:val="1"/>
                                  <m:mcJc m:val="center"/>
                                </m:mcPr>
                              </m:mc>
                            </m:mcs>
                            <m:ctrlPr>
                              <a:rPr lang="en-US" altLang="zh-CN" i="1" smtClean="0">
                                <a:latin typeface="Cambria Math" panose="02040503050406030204" pitchFamily="18" charset="0"/>
                                <a:cs typeface="+mn-ea"/>
                                <a:sym typeface="+mn-lt"/>
                              </a:rPr>
                            </m:ctrlPr>
                          </m:mPr>
                          <m:mr>
                            <m:e>
                              <m:sSub>
                                <m:sSubPr>
                                  <m:ctrlPr>
                                    <a:rPr lang="en-US" altLang="zh-CN" i="1" smtClean="0">
                                      <a:latin typeface="Cambria Math" panose="02040503050406030204" pitchFamily="18" charset="0"/>
                                      <a:cs typeface="+mn-ea"/>
                                      <a:sym typeface="+mn-lt"/>
                                    </a:rPr>
                                  </m:ctrlPr>
                                </m:sSubPr>
                                <m:e>
                                  <m:r>
                                    <a:rPr lang="en-US" altLang="zh-CN" b="0" i="1" smtClean="0">
                                      <a:latin typeface="Cambria Math" panose="02040503050406030204" pitchFamily="18" charset="0"/>
                                      <a:cs typeface="+mn-ea"/>
                                      <a:sym typeface="+mn-lt"/>
                                    </a:rPr>
                                    <m:t>𝑔</m:t>
                                  </m:r>
                                </m:e>
                                <m:sub>
                                  <m:r>
                                    <a:rPr lang="en-US" altLang="zh-CN" b="0" i="1" smtClean="0">
                                      <a:latin typeface="Cambria Math" panose="02040503050406030204" pitchFamily="18" charset="0"/>
                                      <a:cs typeface="+mn-ea"/>
                                      <a:sym typeface="+mn-lt"/>
                                    </a:rPr>
                                    <m:t>𝑥</m:t>
                                  </m:r>
                                </m:sub>
                              </m:sSub>
                              <m:r>
                                <m:rPr>
                                  <m:brk m:alnAt="7"/>
                                </m:rPr>
                                <a:rPr lang="en-US" altLang="zh-CN"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𝑥</m:t>
                              </m:r>
                              <m:r>
                                <a:rPr lang="en-US" altLang="zh-CN"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𝑦</m:t>
                              </m:r>
                              <m:r>
                                <a:rPr lang="en-US" altLang="zh-CN" b="0" i="1" smtClean="0">
                                  <a:latin typeface="Cambria Math" panose="02040503050406030204" pitchFamily="18" charset="0"/>
                                  <a:cs typeface="+mn-ea"/>
                                  <a:sym typeface="+mn-lt"/>
                                </a:rPr>
                                <m:t>)</m:t>
                              </m:r>
                            </m:e>
                          </m:mr>
                          <m:mr>
                            <m:e>
                              <m:sSub>
                                <m:sSubPr>
                                  <m:ctrlPr>
                                    <a:rPr lang="en-US" altLang="zh-CN" i="1" smtClean="0">
                                      <a:latin typeface="Cambria Math" panose="02040503050406030204" pitchFamily="18" charset="0"/>
                                      <a:cs typeface="+mn-ea"/>
                                      <a:sym typeface="+mn-lt"/>
                                    </a:rPr>
                                  </m:ctrlPr>
                                </m:sSubPr>
                                <m:e>
                                  <m:r>
                                    <a:rPr lang="en-US" altLang="zh-CN" b="0" i="1" smtClean="0">
                                      <a:latin typeface="Cambria Math" panose="02040503050406030204" pitchFamily="18" charset="0"/>
                                      <a:cs typeface="+mn-ea"/>
                                      <a:sym typeface="+mn-lt"/>
                                    </a:rPr>
                                    <m:t>𝑔</m:t>
                                  </m:r>
                                </m:e>
                                <m:sub>
                                  <m:r>
                                    <a:rPr lang="en-US" altLang="zh-CN" b="0" i="1" smtClean="0">
                                      <a:latin typeface="Cambria Math" panose="02040503050406030204" pitchFamily="18" charset="0"/>
                                      <a:cs typeface="+mn-ea"/>
                                      <a:sym typeface="+mn-lt"/>
                                    </a:rPr>
                                    <m:t>𝑦</m:t>
                                  </m:r>
                                </m:sub>
                              </m:sSub>
                              <m:r>
                                <a:rPr lang="en-US" altLang="zh-CN"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𝑥</m:t>
                              </m:r>
                              <m:r>
                                <a:rPr lang="en-US" altLang="zh-CN"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𝑦</m:t>
                              </m:r>
                              <m:r>
                                <a:rPr lang="en-US" altLang="zh-CN" b="0" i="1" smtClean="0">
                                  <a:latin typeface="Cambria Math" panose="02040503050406030204" pitchFamily="18" charset="0"/>
                                  <a:cs typeface="+mn-ea"/>
                                  <a:sym typeface="+mn-lt"/>
                                </a:rPr>
                                <m:t>)</m:t>
                              </m:r>
                            </m:e>
                          </m:mr>
                        </m:m>
                      </m:e>
                    </m:d>
                    <m:r>
                      <a:rPr lang="en-US" altLang="zh-CN" b="0" i="1" smtClean="0">
                        <a:latin typeface="Cambria Math" panose="02040503050406030204" pitchFamily="18" charset="0"/>
                        <a:cs typeface="+mn-ea"/>
                        <a:sym typeface="+mn-lt"/>
                      </a:rPr>
                      <m:t>=</m:t>
                    </m:r>
                  </m:oMath>
                </a14:m>
                <a:r>
                  <a:rPr lang="en-US" altLang="zh-CN" dirty="0">
                    <a:cs typeface="+mn-ea"/>
                    <a:sym typeface="+mn-lt"/>
                  </a:rPr>
                  <a:t> </a:t>
                </a:r>
                <a14:m>
                  <m:oMath xmlns:m="http://schemas.openxmlformats.org/officeDocument/2006/math">
                    <m:d>
                      <m:dPr>
                        <m:begChr m:val="["/>
                        <m:endChr m:val="]"/>
                        <m:ctrlPr>
                          <a:rPr lang="en-US" altLang="zh-CN" i="1" smtClean="0">
                            <a:latin typeface="Cambria Math" panose="02040503050406030204" pitchFamily="18" charset="0"/>
                            <a:cs typeface="+mn-ea"/>
                            <a:sym typeface="+mn-lt"/>
                          </a:rPr>
                        </m:ctrlPr>
                      </m:dPr>
                      <m:e>
                        <m:m>
                          <m:mPr>
                            <m:mcs>
                              <m:mc>
                                <m:mcPr>
                                  <m:count m:val="1"/>
                                  <m:mcJc m:val="center"/>
                                </m:mcPr>
                              </m:mc>
                            </m:mcs>
                            <m:ctrlPr>
                              <a:rPr lang="en-US" altLang="zh-CN" i="1" smtClean="0">
                                <a:latin typeface="Cambria Math" panose="02040503050406030204" pitchFamily="18" charset="0"/>
                                <a:cs typeface="+mn-ea"/>
                                <a:sym typeface="+mn-lt"/>
                              </a:rPr>
                            </m:ctrlPr>
                          </m:mPr>
                          <m:mr>
                            <m:e>
                              <m:f>
                                <m:fPr>
                                  <m:ctrlPr>
                                    <a:rPr lang="en-US" altLang="zh-CN" i="1" smtClean="0">
                                      <a:latin typeface="Cambria Math" panose="02040503050406030204" pitchFamily="18" charset="0"/>
                                      <a:cs typeface="+mn-ea"/>
                                      <a:sym typeface="+mn-lt"/>
                                    </a:rPr>
                                  </m:ctrlPr>
                                </m:fPr>
                                <m:num>
                                  <m:r>
                                    <a:rPr lang="zh-CN" altLang="en-US"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𝑓</m:t>
                                  </m:r>
                                  <m:r>
                                    <a:rPr lang="en-US" altLang="zh-CN"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𝑥</m:t>
                                  </m:r>
                                  <m:r>
                                    <a:rPr lang="en-US" altLang="zh-CN"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𝑦</m:t>
                                  </m:r>
                                  <m:r>
                                    <a:rPr lang="en-US" altLang="zh-CN" b="0" i="1" smtClean="0">
                                      <a:latin typeface="Cambria Math" panose="02040503050406030204" pitchFamily="18" charset="0"/>
                                      <a:cs typeface="+mn-ea"/>
                                      <a:sym typeface="+mn-lt"/>
                                    </a:rPr>
                                    <m:t>)</m:t>
                                  </m:r>
                                </m:num>
                                <m:den>
                                  <m:r>
                                    <a:rPr lang="zh-CN" altLang="en-US"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𝑥</m:t>
                                  </m:r>
                                </m:den>
                              </m:f>
                            </m:e>
                          </m:mr>
                          <m:mr>
                            <m:e>
                              <m:f>
                                <m:fPr>
                                  <m:ctrlPr>
                                    <a:rPr lang="en-US" altLang="zh-CN" i="1" smtClean="0">
                                      <a:latin typeface="Cambria Math" panose="02040503050406030204" pitchFamily="18" charset="0"/>
                                      <a:cs typeface="+mn-ea"/>
                                      <a:sym typeface="+mn-lt"/>
                                    </a:rPr>
                                  </m:ctrlPr>
                                </m:fPr>
                                <m:num>
                                  <m:r>
                                    <a:rPr lang="zh-CN" altLang="en-US"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𝑓</m:t>
                                  </m:r>
                                  <m:r>
                                    <a:rPr lang="en-US" altLang="zh-CN"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𝑥</m:t>
                                  </m:r>
                                  <m:r>
                                    <a:rPr lang="en-US" altLang="zh-CN"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𝑦</m:t>
                                  </m:r>
                                  <m:r>
                                    <a:rPr lang="en-US" altLang="zh-CN" b="0" i="1" smtClean="0">
                                      <a:latin typeface="Cambria Math" panose="02040503050406030204" pitchFamily="18" charset="0"/>
                                      <a:cs typeface="+mn-ea"/>
                                      <a:sym typeface="+mn-lt"/>
                                    </a:rPr>
                                    <m:t>)</m:t>
                                  </m:r>
                                </m:num>
                                <m:den>
                                  <m:r>
                                    <a:rPr lang="zh-CN" altLang="en-US"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𝑦</m:t>
                                  </m:r>
                                </m:den>
                              </m:f>
                            </m:e>
                          </m:mr>
                        </m:m>
                      </m:e>
                    </m:d>
                  </m:oMath>
                </a14:m>
                <a:endParaRPr lang="en-US" altLang="zh-CN" dirty="0">
                  <a:cs typeface="+mn-ea"/>
                  <a:sym typeface="+mn-lt"/>
                </a:endParaRPr>
              </a:p>
              <a:p>
                <a:pPr marL="457200" lvl="1" indent="0">
                  <a:lnSpc>
                    <a:spcPct val="120000"/>
                  </a:lnSpc>
                  <a:buNone/>
                </a:pPr>
                <a:r>
                  <a:rPr lang="en-US" altLang="zh-CN" dirty="0">
                    <a:cs typeface="+mn-ea"/>
                    <a:sym typeface="+mn-lt"/>
                  </a:rPr>
                  <a:t>   </a:t>
                </a:r>
                <a:r>
                  <a:rPr lang="zh-CN" altLang="en-US" b="1" dirty="0">
                    <a:cs typeface="+mn-ea"/>
                    <a:sym typeface="+mn-lt"/>
                  </a:rPr>
                  <a:t>幅度：</a:t>
                </a:r>
                <a14:m>
                  <m:oMath xmlns:m="http://schemas.openxmlformats.org/officeDocument/2006/math">
                    <m:r>
                      <a:rPr lang="en-US" altLang="zh-CN" b="0" i="1" smtClean="0">
                        <a:latin typeface="Cambria Math" panose="02040503050406030204" pitchFamily="18" charset="0"/>
                        <a:cs typeface="+mn-ea"/>
                        <a:sym typeface="+mn-lt"/>
                      </a:rPr>
                      <m:t>𝑀</m:t>
                    </m:r>
                    <m:d>
                      <m:dPr>
                        <m:ctrlPr>
                          <a:rPr lang="en-US" altLang="zh-CN" b="0" i="1" smtClean="0">
                            <a:latin typeface="Cambria Math" panose="02040503050406030204" pitchFamily="18" charset="0"/>
                            <a:cs typeface="+mn-ea"/>
                            <a:sym typeface="+mn-lt"/>
                          </a:rPr>
                        </m:ctrlPr>
                      </m:dPr>
                      <m:e>
                        <m:r>
                          <a:rPr lang="en-US" altLang="zh-CN" b="0" i="1" smtClean="0">
                            <a:latin typeface="Cambria Math" panose="02040503050406030204" pitchFamily="18" charset="0"/>
                            <a:cs typeface="+mn-ea"/>
                            <a:sym typeface="+mn-lt"/>
                          </a:rPr>
                          <m:t>𝑥</m:t>
                        </m:r>
                        <m:r>
                          <a:rPr lang="en-US" altLang="zh-CN"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𝑦</m:t>
                        </m:r>
                      </m:e>
                    </m:d>
                    <m:r>
                      <a:rPr lang="en-US" altLang="zh-CN" b="0" i="1" smtClean="0">
                        <a:latin typeface="Cambria Math" panose="02040503050406030204" pitchFamily="18" charset="0"/>
                        <a:cs typeface="+mn-ea"/>
                        <a:sym typeface="+mn-lt"/>
                      </a:rPr>
                      <m:t>=</m:t>
                    </m:r>
                    <m:d>
                      <m:dPr>
                        <m:begChr m:val="‖"/>
                        <m:endChr m:val="‖"/>
                        <m:ctrlPr>
                          <a:rPr lang="en-US" altLang="zh-CN" b="0" i="1" smtClean="0">
                            <a:latin typeface="Cambria Math" panose="02040503050406030204" pitchFamily="18" charset="0"/>
                            <a:cs typeface="+mn-ea"/>
                            <a:sym typeface="+mn-lt"/>
                          </a:rPr>
                        </m:ctrlPr>
                      </m:dPr>
                      <m:e>
                        <m:r>
                          <a:rPr lang="zh-CN" altLang="en-US"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𝑓</m:t>
                        </m:r>
                        <m:d>
                          <m:dPr>
                            <m:ctrlPr>
                              <a:rPr lang="en-US" altLang="zh-CN" i="1" smtClean="0">
                                <a:latin typeface="Cambria Math" panose="02040503050406030204" pitchFamily="18" charset="0"/>
                                <a:cs typeface="+mn-ea"/>
                                <a:sym typeface="+mn-lt"/>
                              </a:rPr>
                            </m:ctrlPr>
                          </m:dPr>
                          <m:e>
                            <m:r>
                              <a:rPr lang="en-US" altLang="zh-CN" b="0" i="1" smtClean="0">
                                <a:latin typeface="Cambria Math" panose="02040503050406030204" pitchFamily="18" charset="0"/>
                                <a:cs typeface="+mn-ea"/>
                                <a:sym typeface="+mn-lt"/>
                              </a:rPr>
                              <m:t>𝑥</m:t>
                            </m:r>
                            <m:r>
                              <a:rPr lang="en-US" altLang="zh-CN"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𝑦</m:t>
                            </m:r>
                          </m:e>
                        </m:d>
                      </m:e>
                    </m:d>
                    <m:r>
                      <a:rPr lang="en-US" altLang="zh-CN" b="0" i="1" smtClean="0">
                        <a:latin typeface="Cambria Math" panose="02040503050406030204" pitchFamily="18" charset="0"/>
                        <a:cs typeface="+mn-ea"/>
                        <a:sym typeface="+mn-lt"/>
                      </a:rPr>
                      <m:t>=</m:t>
                    </m:r>
                    <m:rad>
                      <m:radPr>
                        <m:degHide m:val="on"/>
                        <m:ctrlPr>
                          <a:rPr lang="en-US" altLang="zh-CN" b="0" i="1" smtClean="0">
                            <a:latin typeface="Cambria Math" panose="02040503050406030204" pitchFamily="18" charset="0"/>
                            <a:cs typeface="+mn-ea"/>
                            <a:sym typeface="+mn-lt"/>
                          </a:rPr>
                        </m:ctrlPr>
                      </m:radPr>
                      <m:deg/>
                      <m:e>
                        <m:sSubSup>
                          <m:sSubSupPr>
                            <m:ctrlPr>
                              <a:rPr lang="en-US" altLang="zh-CN" b="0" i="1" smtClean="0">
                                <a:latin typeface="Cambria Math" panose="02040503050406030204" pitchFamily="18" charset="0"/>
                                <a:cs typeface="+mn-ea"/>
                                <a:sym typeface="+mn-lt"/>
                              </a:rPr>
                            </m:ctrlPr>
                          </m:sSubSupPr>
                          <m:e>
                            <m:r>
                              <a:rPr lang="en-US" altLang="zh-CN" b="0" i="1" smtClean="0">
                                <a:latin typeface="Cambria Math" panose="02040503050406030204" pitchFamily="18" charset="0"/>
                                <a:cs typeface="+mn-ea"/>
                                <a:sym typeface="+mn-lt"/>
                              </a:rPr>
                              <m:t>𝑔</m:t>
                            </m:r>
                          </m:e>
                          <m:sub>
                            <m:r>
                              <a:rPr lang="en-US" altLang="zh-CN" b="0" i="1" smtClean="0">
                                <a:latin typeface="Cambria Math" panose="02040503050406030204" pitchFamily="18" charset="0"/>
                                <a:cs typeface="+mn-ea"/>
                                <a:sym typeface="+mn-lt"/>
                              </a:rPr>
                              <m:t>𝑥</m:t>
                            </m:r>
                          </m:sub>
                          <m:sup>
                            <m:r>
                              <a:rPr lang="en-US" altLang="zh-CN" b="0" i="1" smtClean="0">
                                <a:latin typeface="Cambria Math" panose="02040503050406030204" pitchFamily="18" charset="0"/>
                                <a:cs typeface="+mn-ea"/>
                                <a:sym typeface="+mn-lt"/>
                              </a:rPr>
                              <m:t>2</m:t>
                            </m:r>
                          </m:sup>
                        </m:sSubSup>
                        <m:d>
                          <m:dPr>
                            <m:ctrlPr>
                              <a:rPr lang="en-US" altLang="zh-CN" b="0" i="1" smtClean="0">
                                <a:latin typeface="Cambria Math" panose="02040503050406030204" pitchFamily="18" charset="0"/>
                                <a:cs typeface="+mn-ea"/>
                                <a:sym typeface="+mn-lt"/>
                              </a:rPr>
                            </m:ctrlPr>
                          </m:dPr>
                          <m:e>
                            <m:r>
                              <a:rPr lang="en-US" altLang="zh-CN" b="0" i="1" smtClean="0">
                                <a:latin typeface="Cambria Math" panose="02040503050406030204" pitchFamily="18" charset="0"/>
                                <a:cs typeface="+mn-ea"/>
                                <a:sym typeface="+mn-lt"/>
                              </a:rPr>
                              <m:t>𝑥</m:t>
                            </m:r>
                            <m:r>
                              <a:rPr lang="en-US" altLang="zh-CN"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𝑦</m:t>
                            </m:r>
                          </m:e>
                        </m:d>
                        <m:r>
                          <a:rPr lang="en-US" altLang="zh-CN" b="0" i="1" smtClean="0">
                            <a:latin typeface="Cambria Math" panose="02040503050406030204" pitchFamily="18" charset="0"/>
                            <a:cs typeface="+mn-ea"/>
                            <a:sym typeface="+mn-lt"/>
                          </a:rPr>
                          <m:t>+</m:t>
                        </m:r>
                        <m:sSubSup>
                          <m:sSubSupPr>
                            <m:ctrlPr>
                              <a:rPr lang="en-US" altLang="zh-CN" b="0" i="1" smtClean="0">
                                <a:latin typeface="Cambria Math" panose="02040503050406030204" pitchFamily="18" charset="0"/>
                                <a:cs typeface="+mn-ea"/>
                                <a:sym typeface="+mn-lt"/>
                              </a:rPr>
                            </m:ctrlPr>
                          </m:sSubSupPr>
                          <m:e>
                            <m:r>
                              <a:rPr lang="en-US" altLang="zh-CN" b="0" i="1" smtClean="0">
                                <a:latin typeface="Cambria Math" panose="02040503050406030204" pitchFamily="18" charset="0"/>
                                <a:cs typeface="+mn-ea"/>
                                <a:sym typeface="+mn-lt"/>
                              </a:rPr>
                              <m:t>𝑔</m:t>
                            </m:r>
                          </m:e>
                          <m:sub>
                            <m:r>
                              <a:rPr lang="en-US" altLang="zh-CN" b="0" i="1" smtClean="0">
                                <a:latin typeface="Cambria Math" panose="02040503050406030204" pitchFamily="18" charset="0"/>
                                <a:cs typeface="+mn-ea"/>
                                <a:sym typeface="+mn-lt"/>
                              </a:rPr>
                              <m:t>𝑦</m:t>
                            </m:r>
                          </m:sub>
                          <m:sup>
                            <m:r>
                              <a:rPr lang="en-US" altLang="zh-CN" b="0" i="1" smtClean="0">
                                <a:latin typeface="Cambria Math" panose="02040503050406030204" pitchFamily="18" charset="0"/>
                                <a:cs typeface="+mn-ea"/>
                                <a:sym typeface="+mn-lt"/>
                              </a:rPr>
                              <m:t>2</m:t>
                            </m:r>
                          </m:sup>
                        </m:sSubSup>
                        <m:r>
                          <m:rPr>
                            <m:brk m:alnAt="7"/>
                          </m:rPr>
                          <a:rPr lang="en-US" altLang="zh-CN"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𝑥</m:t>
                        </m:r>
                        <m:r>
                          <a:rPr lang="en-US" altLang="zh-CN"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𝑦</m:t>
                        </m:r>
                        <m:r>
                          <a:rPr lang="en-US" altLang="zh-CN" b="0" i="1" smtClean="0">
                            <a:latin typeface="Cambria Math" panose="02040503050406030204" pitchFamily="18" charset="0"/>
                            <a:cs typeface="+mn-ea"/>
                            <a:sym typeface="+mn-lt"/>
                          </a:rPr>
                          <m:t>)</m:t>
                        </m:r>
                      </m:e>
                    </m:rad>
                  </m:oMath>
                </a14:m>
                <a:endParaRPr lang="en-US" altLang="zh-CN" dirty="0">
                  <a:cs typeface="+mn-ea"/>
                  <a:sym typeface="+mn-lt"/>
                </a:endParaRPr>
              </a:p>
              <a:p>
                <a:pPr marL="457200" lvl="1" indent="0">
                  <a:lnSpc>
                    <a:spcPct val="120000"/>
                  </a:lnSpc>
                  <a:buNone/>
                </a:pPr>
                <a:r>
                  <a:rPr lang="en-US" altLang="zh-CN" dirty="0">
                    <a:cs typeface="+mn-ea"/>
                    <a:sym typeface="+mn-lt"/>
                  </a:rPr>
                  <a:t>   </a:t>
                </a:r>
                <a:r>
                  <a:rPr lang="zh-CN" altLang="en-US" b="1" dirty="0">
                    <a:cs typeface="+mn-ea"/>
                    <a:sym typeface="+mn-lt"/>
                  </a:rPr>
                  <a:t>方向：</a:t>
                </a:r>
                <a14:m>
                  <m:oMath xmlns:m="http://schemas.openxmlformats.org/officeDocument/2006/math">
                    <m:r>
                      <m:rPr>
                        <m:sty m:val="p"/>
                      </m:rPr>
                      <a:rPr lang="el-GR" altLang="zh-CN" b="0" i="1" smtClean="0">
                        <a:latin typeface="Cambria Math" panose="02040503050406030204" pitchFamily="18" charset="0"/>
                        <a:ea typeface="Cambria Math" panose="02040503050406030204" pitchFamily="18" charset="0"/>
                        <a:cs typeface="+mn-ea"/>
                        <a:sym typeface="+mn-lt"/>
                      </a:rPr>
                      <m:t>α</m:t>
                    </m:r>
                    <m:d>
                      <m:dPr>
                        <m:ctrlPr>
                          <a:rPr lang="en-US" altLang="zh-CN" b="0" i="1" smtClean="0">
                            <a:latin typeface="Cambria Math" panose="02040503050406030204" pitchFamily="18" charset="0"/>
                            <a:cs typeface="+mn-ea"/>
                            <a:sym typeface="+mn-lt"/>
                          </a:rPr>
                        </m:ctrlPr>
                      </m:dPr>
                      <m:e>
                        <m:r>
                          <a:rPr lang="en-US" altLang="zh-CN" b="0" i="1" smtClean="0">
                            <a:latin typeface="Cambria Math" panose="02040503050406030204" pitchFamily="18" charset="0"/>
                            <a:cs typeface="+mn-ea"/>
                            <a:sym typeface="+mn-lt"/>
                          </a:rPr>
                          <m:t>𝑥</m:t>
                        </m:r>
                        <m:r>
                          <a:rPr lang="en-US" altLang="zh-CN"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𝑦</m:t>
                        </m:r>
                      </m:e>
                    </m:d>
                    <m:r>
                      <a:rPr lang="en-US" altLang="zh-CN" b="0" i="1" smtClean="0">
                        <a:latin typeface="Cambria Math" panose="02040503050406030204" pitchFamily="18" charset="0"/>
                        <a:cs typeface="+mn-ea"/>
                        <a:sym typeface="+mn-lt"/>
                      </a:rPr>
                      <m:t>=</m:t>
                    </m:r>
                    <m:r>
                      <m:rPr>
                        <m:sty m:val="p"/>
                      </m:rPr>
                      <a:rPr lang="en-US" altLang="zh-CN" b="0" i="0" smtClean="0">
                        <a:latin typeface="Cambria Math" panose="02040503050406030204" pitchFamily="18" charset="0"/>
                        <a:cs typeface="+mn-ea"/>
                        <a:sym typeface="+mn-lt"/>
                      </a:rPr>
                      <m:t>arctan</m:t>
                    </m:r>
                    <m:d>
                      <m:dPr>
                        <m:begChr m:val="["/>
                        <m:endChr m:val="]"/>
                        <m:ctrlPr>
                          <a:rPr lang="en-US" altLang="zh-CN" b="0" i="1" smtClean="0">
                            <a:latin typeface="Cambria Math" panose="02040503050406030204" pitchFamily="18" charset="0"/>
                            <a:cs typeface="+mn-ea"/>
                            <a:sym typeface="+mn-lt"/>
                          </a:rPr>
                        </m:ctrlPr>
                      </m:dPr>
                      <m:e>
                        <m:f>
                          <m:fPr>
                            <m:ctrlPr>
                              <a:rPr lang="en-US" altLang="zh-CN" b="0" i="1" smtClean="0">
                                <a:latin typeface="Cambria Math" panose="02040503050406030204" pitchFamily="18" charset="0"/>
                                <a:cs typeface="+mn-ea"/>
                                <a:sym typeface="+mn-lt"/>
                              </a:rPr>
                            </m:ctrlPr>
                          </m:fPr>
                          <m:num>
                            <m:sSub>
                              <m:sSubPr>
                                <m:ctrlPr>
                                  <a:rPr lang="en-US" altLang="zh-CN" i="1" smtClean="0">
                                    <a:latin typeface="Cambria Math" panose="02040503050406030204" pitchFamily="18" charset="0"/>
                                    <a:cs typeface="+mn-ea"/>
                                    <a:sym typeface="+mn-lt"/>
                                  </a:rPr>
                                </m:ctrlPr>
                              </m:sSubPr>
                              <m:e>
                                <m:r>
                                  <a:rPr lang="en-US" altLang="zh-CN" b="0" i="1" smtClean="0">
                                    <a:latin typeface="Cambria Math" panose="02040503050406030204" pitchFamily="18" charset="0"/>
                                    <a:cs typeface="+mn-ea"/>
                                    <a:sym typeface="+mn-lt"/>
                                  </a:rPr>
                                  <m:t>𝑔</m:t>
                                </m:r>
                              </m:e>
                              <m:sub>
                                <m:r>
                                  <a:rPr lang="en-US" altLang="zh-CN" b="0" i="1" smtClean="0">
                                    <a:latin typeface="Cambria Math" panose="02040503050406030204" pitchFamily="18" charset="0"/>
                                    <a:cs typeface="+mn-ea"/>
                                    <a:sym typeface="+mn-lt"/>
                                  </a:rPr>
                                  <m:t>𝑦</m:t>
                                </m:r>
                              </m:sub>
                            </m:sSub>
                            <m:r>
                              <a:rPr lang="en-US" altLang="zh-CN"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𝑥</m:t>
                            </m:r>
                            <m:r>
                              <a:rPr lang="en-US" altLang="zh-CN"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𝑦</m:t>
                            </m:r>
                            <m:r>
                              <a:rPr lang="en-US" altLang="zh-CN" b="0" i="1" smtClean="0">
                                <a:latin typeface="Cambria Math" panose="02040503050406030204" pitchFamily="18" charset="0"/>
                                <a:cs typeface="+mn-ea"/>
                                <a:sym typeface="+mn-lt"/>
                              </a:rPr>
                              <m:t>)</m:t>
                            </m:r>
                          </m:num>
                          <m:den>
                            <m:sSub>
                              <m:sSubPr>
                                <m:ctrlPr>
                                  <a:rPr lang="en-US" altLang="zh-CN" i="1" smtClean="0">
                                    <a:latin typeface="Cambria Math" panose="02040503050406030204" pitchFamily="18" charset="0"/>
                                    <a:cs typeface="+mn-ea"/>
                                    <a:sym typeface="+mn-lt"/>
                                  </a:rPr>
                                </m:ctrlPr>
                              </m:sSubPr>
                              <m:e>
                                <m:r>
                                  <a:rPr lang="en-US" altLang="zh-CN" b="0" i="1" smtClean="0">
                                    <a:latin typeface="Cambria Math" panose="02040503050406030204" pitchFamily="18" charset="0"/>
                                    <a:cs typeface="+mn-ea"/>
                                    <a:sym typeface="+mn-lt"/>
                                  </a:rPr>
                                  <m:t>𝑔</m:t>
                                </m:r>
                              </m:e>
                              <m:sub>
                                <m:r>
                                  <a:rPr lang="en-US" altLang="zh-CN" b="0" i="1" smtClean="0">
                                    <a:latin typeface="Cambria Math" panose="02040503050406030204" pitchFamily="18" charset="0"/>
                                    <a:cs typeface="+mn-ea"/>
                                    <a:sym typeface="+mn-lt"/>
                                  </a:rPr>
                                  <m:t>𝑥</m:t>
                                </m:r>
                              </m:sub>
                            </m:sSub>
                            <m:r>
                              <m:rPr>
                                <m:brk m:alnAt="7"/>
                              </m:rPr>
                              <a:rPr lang="en-US" altLang="zh-CN"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𝑥</m:t>
                            </m:r>
                            <m:r>
                              <a:rPr lang="en-US" altLang="zh-CN"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𝑦</m:t>
                            </m:r>
                            <m:r>
                              <a:rPr lang="en-US" altLang="zh-CN" b="0" i="1" smtClean="0">
                                <a:latin typeface="Cambria Math" panose="02040503050406030204" pitchFamily="18" charset="0"/>
                                <a:cs typeface="+mn-ea"/>
                                <a:sym typeface="+mn-lt"/>
                              </a:rPr>
                              <m:t>)</m:t>
                            </m:r>
                          </m:den>
                        </m:f>
                      </m:e>
                    </m:d>
                  </m:oMath>
                </a14:m>
                <a:endParaRPr lang="zh-CN" altLang="en-US" dirty="0">
                  <a:cs typeface="+mn-ea"/>
                  <a:sym typeface="+mn-lt"/>
                </a:endParaRPr>
              </a:p>
            </p:txBody>
          </p:sp>
        </mc:Choice>
        <mc:Fallback xmlns="">
          <p:sp>
            <p:nvSpPr>
              <p:cNvPr id="3" name="Content Placeholder 2">
                <a:extLst>
                  <a:ext uri="{FF2B5EF4-FFF2-40B4-BE49-F238E27FC236}">
                    <a16:creationId xmlns:a16="http://schemas.microsoft.com/office/drawing/2014/main" id="{EE82B801-3091-45F2-9BF3-F1EDED22329A}"/>
                  </a:ext>
                </a:extLst>
              </p:cNvPr>
              <p:cNvSpPr>
                <a:spLocks noGrp="1" noRot="1" noChangeAspect="1" noMove="1" noResize="1" noEditPoints="1" noAdjustHandles="1" noChangeArrowheads="1" noChangeShapeType="1" noTextEdit="1"/>
              </p:cNvSpPr>
              <p:nvPr>
                <p:ph idx="1"/>
              </p:nvPr>
            </p:nvSpPr>
            <p:spPr>
              <a:xfrm>
                <a:off x="838200" y="1825625"/>
                <a:ext cx="10515600" cy="4351338"/>
              </a:xfrm>
              <a:blipFill>
                <a:blip r:embed="rId2"/>
                <a:stretch>
                  <a:fillRect l="-1043" t="-980"/>
                </a:stretch>
              </a:blipFill>
            </p:spPr>
            <p:txBody>
              <a:bodyPr/>
              <a:lstStyle/>
              <a:p>
                <a:r>
                  <a:rPr lang="zh-CN" altLang="en-US">
                    <a:noFill/>
                  </a:rPr>
                  <a:t> </a:t>
                </a:r>
              </a:p>
            </p:txBody>
          </p:sp>
        </mc:Fallback>
      </mc:AlternateContent>
      <p:pic>
        <p:nvPicPr>
          <p:cNvPr id="4" name="Picture 3">
            <a:extLst>
              <a:ext uri="{FF2B5EF4-FFF2-40B4-BE49-F238E27FC236}">
                <a16:creationId xmlns:a16="http://schemas.microsoft.com/office/drawing/2014/main" id="{0D433E7C-66BA-479A-B509-26AF3825374C}"/>
              </a:ext>
            </a:extLst>
          </p:cNvPr>
          <p:cNvPicPr>
            <a:picLocks noChangeAspect="1"/>
          </p:cNvPicPr>
          <p:nvPr/>
        </p:nvPicPr>
        <p:blipFill>
          <a:blip r:embed="rId3"/>
          <a:stretch>
            <a:fillRect/>
          </a:stretch>
        </p:blipFill>
        <p:spPr>
          <a:xfrm>
            <a:off x="5758302" y="0"/>
            <a:ext cx="6433698" cy="2507314"/>
          </a:xfrm>
          <a:prstGeom prst="rect">
            <a:avLst/>
          </a:prstGeom>
        </p:spPr>
      </p:pic>
    </p:spTree>
    <p:extLst>
      <p:ext uri="{BB962C8B-B14F-4D97-AF65-F5344CB8AC3E}">
        <p14:creationId xmlns:p14="http://schemas.microsoft.com/office/powerpoint/2010/main" val="12041534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05FF9-16E0-42D4-9F76-1F16E1844182}"/>
              </a:ext>
            </a:extLst>
          </p:cNvPr>
          <p:cNvSpPr>
            <a:spLocks noGrp="1"/>
          </p:cNvSpPr>
          <p:nvPr>
            <p:ph type="title"/>
          </p:nvPr>
        </p:nvSpPr>
        <p:spPr/>
        <p:txBody>
          <a:bodyPr/>
          <a:lstStyle/>
          <a:p>
            <a:r>
              <a:rPr lang="zh-CN" altLang="en-US" b="1" dirty="0"/>
              <a:t>梯度算子</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47B8E0C-20AD-4CD2-AA08-7F9978D1C974}"/>
                  </a:ext>
                </a:extLst>
              </p:cNvPr>
              <p:cNvSpPr>
                <a:spLocks noGrp="1"/>
              </p:cNvSpPr>
              <p:nvPr>
                <p:ph idx="1"/>
              </p:nvPr>
            </p:nvSpPr>
            <p:spPr>
              <a:xfrm>
                <a:off x="838200" y="1825625"/>
                <a:ext cx="5010150" cy="4351338"/>
              </a:xfrm>
            </p:spPr>
            <p:txBody>
              <a:bodyPr/>
              <a:lstStyle/>
              <a:p>
                <a:pPr>
                  <a:lnSpc>
                    <a:spcPct val="150000"/>
                  </a:lnSpc>
                </a:pPr>
                <a:r>
                  <a:rPr lang="en-US" altLang="zh-CN" b="1" dirty="0"/>
                  <a:t>Roberts</a:t>
                </a:r>
                <a:r>
                  <a:rPr lang="zh-CN" altLang="en-US" b="1" dirty="0"/>
                  <a:t>交叉梯度算子</a:t>
                </a:r>
                <a:endParaRPr lang="en-US" altLang="zh-CN" b="1" dirty="0"/>
              </a:p>
              <a:p>
                <a:pPr marL="457200" lvl="1" indent="0">
                  <a:lnSpc>
                    <a:spcPct val="150000"/>
                  </a:lnSpc>
                  <a:buNone/>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cs typeface="+mn-ea"/>
                              <a:sym typeface="+mn-lt"/>
                            </a:rPr>
                          </m:ctrlPr>
                        </m:sSubPr>
                        <m:e>
                          <m:r>
                            <a:rPr lang="en-US" altLang="zh-CN" b="0" i="1" smtClean="0">
                              <a:latin typeface="Cambria Math" panose="02040503050406030204" pitchFamily="18" charset="0"/>
                              <a:cs typeface="+mn-ea"/>
                              <a:sym typeface="+mn-lt"/>
                            </a:rPr>
                            <m:t>𝑔</m:t>
                          </m:r>
                        </m:e>
                        <m:sub>
                          <m:r>
                            <a:rPr lang="en-US" altLang="zh-CN" b="0" i="1" smtClean="0">
                              <a:latin typeface="Cambria Math" panose="02040503050406030204" pitchFamily="18" charset="0"/>
                              <a:cs typeface="+mn-ea"/>
                              <a:sym typeface="+mn-lt"/>
                            </a:rPr>
                            <m:t>𝑥</m:t>
                          </m:r>
                        </m:sub>
                      </m:sSub>
                      <m:r>
                        <a:rPr lang="en-US" altLang="zh-CN" b="0" i="1" smtClean="0">
                          <a:latin typeface="Cambria Math" panose="02040503050406030204" pitchFamily="18" charset="0"/>
                          <a:cs typeface="+mn-ea"/>
                          <a:sym typeface="+mn-lt"/>
                        </a:rPr>
                        <m:t>=</m:t>
                      </m:r>
                      <m:sSub>
                        <m:sSubPr>
                          <m:ctrlPr>
                            <a:rPr lang="en-US" altLang="zh-CN" b="0" i="1" smtClean="0">
                              <a:latin typeface="Cambria Math" panose="02040503050406030204" pitchFamily="18" charset="0"/>
                              <a:cs typeface="+mn-ea"/>
                              <a:sym typeface="+mn-lt"/>
                            </a:rPr>
                          </m:ctrlPr>
                        </m:sSubPr>
                        <m:e>
                          <m:r>
                            <a:rPr lang="en-US" altLang="zh-CN" b="0" i="1" smtClean="0">
                              <a:latin typeface="Cambria Math" panose="02040503050406030204" pitchFamily="18" charset="0"/>
                              <a:cs typeface="+mn-ea"/>
                              <a:sym typeface="+mn-lt"/>
                            </a:rPr>
                            <m:t>𝑧</m:t>
                          </m:r>
                        </m:e>
                        <m:sub>
                          <m:r>
                            <a:rPr lang="en-US" altLang="zh-CN" b="0" i="1" smtClean="0">
                              <a:latin typeface="Cambria Math" panose="02040503050406030204" pitchFamily="18" charset="0"/>
                              <a:cs typeface="+mn-ea"/>
                              <a:sym typeface="+mn-lt"/>
                            </a:rPr>
                            <m:t>9</m:t>
                          </m:r>
                        </m:sub>
                      </m:sSub>
                      <m:r>
                        <a:rPr lang="en-US" altLang="zh-CN" b="0" i="1" smtClean="0">
                          <a:latin typeface="Cambria Math" panose="02040503050406030204" pitchFamily="18" charset="0"/>
                          <a:cs typeface="+mn-ea"/>
                          <a:sym typeface="+mn-lt"/>
                        </a:rPr>
                        <m:t>−</m:t>
                      </m:r>
                      <m:sSub>
                        <m:sSubPr>
                          <m:ctrlPr>
                            <a:rPr lang="en-US" altLang="zh-CN" b="0" i="1" smtClean="0">
                              <a:latin typeface="Cambria Math" panose="02040503050406030204" pitchFamily="18" charset="0"/>
                              <a:cs typeface="+mn-ea"/>
                              <a:sym typeface="+mn-lt"/>
                            </a:rPr>
                          </m:ctrlPr>
                        </m:sSubPr>
                        <m:e>
                          <m:r>
                            <a:rPr lang="en-US" altLang="zh-CN" b="0" i="1" smtClean="0">
                              <a:latin typeface="Cambria Math" panose="02040503050406030204" pitchFamily="18" charset="0"/>
                              <a:cs typeface="+mn-ea"/>
                              <a:sym typeface="+mn-lt"/>
                            </a:rPr>
                            <m:t>𝑧</m:t>
                          </m:r>
                        </m:e>
                        <m:sub>
                          <m:r>
                            <a:rPr lang="en-US" altLang="zh-CN" b="0" i="1" smtClean="0">
                              <a:latin typeface="Cambria Math" panose="02040503050406030204" pitchFamily="18" charset="0"/>
                              <a:cs typeface="+mn-ea"/>
                              <a:sym typeface="+mn-lt"/>
                            </a:rPr>
                            <m:t>5</m:t>
                          </m:r>
                        </m:sub>
                      </m:sSub>
                    </m:oMath>
                  </m:oMathPara>
                </a14:m>
                <a:endParaRPr lang="en-US" altLang="zh-CN" b="1" dirty="0"/>
              </a:p>
              <a:p>
                <a:pPr marL="457200" lvl="1" indent="0">
                  <a:lnSpc>
                    <a:spcPct val="150000"/>
                  </a:lnSpc>
                  <a:buNone/>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cs typeface="+mn-ea"/>
                              <a:sym typeface="+mn-lt"/>
                            </a:rPr>
                          </m:ctrlPr>
                        </m:sSubPr>
                        <m:e>
                          <m:r>
                            <a:rPr lang="en-US" altLang="zh-CN" b="0" i="1" smtClean="0">
                              <a:latin typeface="Cambria Math" panose="02040503050406030204" pitchFamily="18" charset="0"/>
                              <a:cs typeface="+mn-ea"/>
                              <a:sym typeface="+mn-lt"/>
                            </a:rPr>
                            <m:t>𝑔</m:t>
                          </m:r>
                        </m:e>
                        <m:sub>
                          <m:r>
                            <a:rPr lang="en-US" altLang="zh-CN" b="0" i="1" smtClean="0">
                              <a:latin typeface="Cambria Math" panose="02040503050406030204" pitchFamily="18" charset="0"/>
                              <a:cs typeface="+mn-ea"/>
                              <a:sym typeface="+mn-lt"/>
                            </a:rPr>
                            <m:t>𝑦</m:t>
                          </m:r>
                        </m:sub>
                      </m:sSub>
                      <m:r>
                        <a:rPr lang="en-US" altLang="zh-CN" b="0" i="1" smtClean="0">
                          <a:latin typeface="Cambria Math" panose="02040503050406030204" pitchFamily="18" charset="0"/>
                          <a:cs typeface="+mn-ea"/>
                          <a:sym typeface="+mn-lt"/>
                        </a:rPr>
                        <m:t>=</m:t>
                      </m:r>
                      <m:sSub>
                        <m:sSubPr>
                          <m:ctrlPr>
                            <a:rPr lang="en-US" altLang="zh-CN" b="0" i="1" smtClean="0">
                              <a:latin typeface="Cambria Math" panose="02040503050406030204" pitchFamily="18" charset="0"/>
                              <a:cs typeface="+mn-ea"/>
                              <a:sym typeface="+mn-lt"/>
                            </a:rPr>
                          </m:ctrlPr>
                        </m:sSubPr>
                        <m:e>
                          <m:r>
                            <a:rPr lang="en-US" altLang="zh-CN" b="0" i="1" smtClean="0">
                              <a:latin typeface="Cambria Math" panose="02040503050406030204" pitchFamily="18" charset="0"/>
                              <a:cs typeface="+mn-ea"/>
                              <a:sym typeface="+mn-lt"/>
                            </a:rPr>
                            <m:t>𝑧</m:t>
                          </m:r>
                        </m:e>
                        <m:sub>
                          <m:r>
                            <a:rPr lang="en-US" altLang="zh-CN" b="0" i="1" smtClean="0">
                              <a:latin typeface="Cambria Math" panose="02040503050406030204" pitchFamily="18" charset="0"/>
                              <a:cs typeface="+mn-ea"/>
                              <a:sym typeface="+mn-lt"/>
                            </a:rPr>
                            <m:t>8</m:t>
                          </m:r>
                        </m:sub>
                      </m:sSub>
                      <m:r>
                        <a:rPr lang="en-US" altLang="zh-CN" b="0" i="1" smtClean="0">
                          <a:latin typeface="Cambria Math" panose="02040503050406030204" pitchFamily="18" charset="0"/>
                          <a:cs typeface="+mn-ea"/>
                          <a:sym typeface="+mn-lt"/>
                        </a:rPr>
                        <m:t>−</m:t>
                      </m:r>
                      <m:sSub>
                        <m:sSubPr>
                          <m:ctrlPr>
                            <a:rPr lang="en-US" altLang="zh-CN" b="0" i="1" smtClean="0">
                              <a:latin typeface="Cambria Math" panose="02040503050406030204" pitchFamily="18" charset="0"/>
                              <a:cs typeface="+mn-ea"/>
                              <a:sym typeface="+mn-lt"/>
                            </a:rPr>
                          </m:ctrlPr>
                        </m:sSubPr>
                        <m:e>
                          <m:r>
                            <a:rPr lang="en-US" altLang="zh-CN" b="0" i="1" smtClean="0">
                              <a:latin typeface="Cambria Math" panose="02040503050406030204" pitchFamily="18" charset="0"/>
                              <a:cs typeface="+mn-ea"/>
                              <a:sym typeface="+mn-lt"/>
                            </a:rPr>
                            <m:t>𝑧</m:t>
                          </m:r>
                        </m:e>
                        <m:sub>
                          <m:r>
                            <a:rPr lang="en-US" altLang="zh-CN" b="0" i="1" smtClean="0">
                              <a:latin typeface="Cambria Math" panose="02040503050406030204" pitchFamily="18" charset="0"/>
                              <a:cs typeface="+mn-ea"/>
                              <a:sym typeface="+mn-lt"/>
                            </a:rPr>
                            <m:t>6</m:t>
                          </m:r>
                        </m:sub>
                      </m:sSub>
                    </m:oMath>
                  </m:oMathPara>
                </a14:m>
                <a:endParaRPr lang="en-US" altLang="zh-CN" b="0" dirty="0">
                  <a:cs typeface="+mn-ea"/>
                  <a:sym typeface="+mn-lt"/>
                </a:endParaRPr>
              </a:p>
              <a:p>
                <a:pPr marL="457200" lvl="1" indent="0">
                  <a:lnSpc>
                    <a:spcPct val="150000"/>
                  </a:lnSpc>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mn-ea"/>
                          <a:sym typeface="+mn-lt"/>
                        </a:rPr>
                        <m:t>𝑀</m:t>
                      </m:r>
                      <m:r>
                        <a:rPr lang="en-US" altLang="zh-CN" b="0" i="1" smtClean="0">
                          <a:latin typeface="Cambria Math" panose="02040503050406030204" pitchFamily="18" charset="0"/>
                          <a:cs typeface="+mn-ea"/>
                          <a:sym typeface="+mn-lt"/>
                        </a:rPr>
                        <m:t>=</m:t>
                      </m:r>
                      <m:d>
                        <m:dPr>
                          <m:begChr m:val="|"/>
                          <m:endChr m:val="|"/>
                          <m:ctrlPr>
                            <a:rPr lang="en-US" altLang="zh-CN" b="0" i="1" smtClean="0">
                              <a:latin typeface="Cambria Math" panose="02040503050406030204" pitchFamily="18" charset="0"/>
                              <a:cs typeface="+mn-ea"/>
                              <a:sym typeface="+mn-lt"/>
                            </a:rPr>
                          </m:ctrlPr>
                        </m:dPr>
                        <m:e>
                          <m:sSub>
                            <m:sSubPr>
                              <m:ctrlPr>
                                <a:rPr lang="en-US" altLang="zh-CN" i="1" smtClean="0">
                                  <a:latin typeface="Cambria Math" panose="02040503050406030204" pitchFamily="18" charset="0"/>
                                  <a:cs typeface="+mn-ea"/>
                                  <a:sym typeface="+mn-lt"/>
                                </a:rPr>
                              </m:ctrlPr>
                            </m:sSubPr>
                            <m:e>
                              <m:r>
                                <a:rPr lang="en-US" altLang="zh-CN" b="0" i="1" smtClean="0">
                                  <a:latin typeface="Cambria Math" panose="02040503050406030204" pitchFamily="18" charset="0"/>
                                  <a:cs typeface="+mn-ea"/>
                                  <a:sym typeface="+mn-lt"/>
                                </a:rPr>
                                <m:t>𝑔</m:t>
                              </m:r>
                            </m:e>
                            <m:sub>
                              <m:r>
                                <a:rPr lang="en-US" altLang="zh-CN" b="0" i="1" smtClean="0">
                                  <a:latin typeface="Cambria Math" panose="02040503050406030204" pitchFamily="18" charset="0"/>
                                  <a:cs typeface="+mn-ea"/>
                                  <a:sym typeface="+mn-lt"/>
                                </a:rPr>
                                <m:t>𝑥</m:t>
                              </m:r>
                            </m:sub>
                          </m:sSub>
                        </m:e>
                      </m:d>
                      <m:r>
                        <a:rPr lang="en-US" altLang="zh-CN" b="0" i="1" smtClean="0">
                          <a:latin typeface="Cambria Math" panose="02040503050406030204" pitchFamily="18" charset="0"/>
                          <a:cs typeface="+mn-ea"/>
                          <a:sym typeface="+mn-lt"/>
                        </a:rPr>
                        <m:t>+</m:t>
                      </m:r>
                      <m:d>
                        <m:dPr>
                          <m:begChr m:val="|"/>
                          <m:endChr m:val="|"/>
                          <m:ctrlPr>
                            <a:rPr lang="en-US" altLang="zh-CN" b="0" i="1" smtClean="0">
                              <a:latin typeface="Cambria Math" panose="02040503050406030204" pitchFamily="18" charset="0"/>
                              <a:cs typeface="+mn-ea"/>
                              <a:sym typeface="+mn-lt"/>
                            </a:rPr>
                          </m:ctrlPr>
                        </m:dPr>
                        <m:e>
                          <m:sSub>
                            <m:sSubPr>
                              <m:ctrlPr>
                                <a:rPr lang="en-US" altLang="zh-CN" i="1" smtClean="0">
                                  <a:latin typeface="Cambria Math" panose="02040503050406030204" pitchFamily="18" charset="0"/>
                                  <a:cs typeface="+mn-ea"/>
                                  <a:sym typeface="+mn-lt"/>
                                </a:rPr>
                              </m:ctrlPr>
                            </m:sSubPr>
                            <m:e>
                              <m:r>
                                <a:rPr lang="en-US" altLang="zh-CN" b="0" i="1" smtClean="0">
                                  <a:latin typeface="Cambria Math" panose="02040503050406030204" pitchFamily="18" charset="0"/>
                                  <a:cs typeface="+mn-ea"/>
                                  <a:sym typeface="+mn-lt"/>
                                </a:rPr>
                                <m:t>𝑔</m:t>
                              </m:r>
                            </m:e>
                            <m:sub>
                              <m:r>
                                <a:rPr lang="en-US" altLang="zh-CN" b="0" i="1" smtClean="0">
                                  <a:latin typeface="Cambria Math" panose="02040503050406030204" pitchFamily="18" charset="0"/>
                                  <a:cs typeface="+mn-ea"/>
                                  <a:sym typeface="+mn-lt"/>
                                </a:rPr>
                                <m:t>𝑦</m:t>
                              </m:r>
                            </m:sub>
                          </m:sSub>
                        </m:e>
                      </m:d>
                    </m:oMath>
                  </m:oMathPara>
                </a14:m>
                <a:endParaRPr lang="zh-CN" altLang="en-US" b="1" dirty="0"/>
              </a:p>
              <a:p>
                <a:pPr lvl="1">
                  <a:lnSpc>
                    <a:spcPct val="150000"/>
                  </a:lnSpc>
                </a:pPr>
                <a:endParaRPr lang="zh-CN" altLang="en-US" b="1" dirty="0"/>
              </a:p>
            </p:txBody>
          </p:sp>
        </mc:Choice>
        <mc:Fallback xmlns="">
          <p:sp>
            <p:nvSpPr>
              <p:cNvPr id="3" name="Content Placeholder 2">
                <a:extLst>
                  <a:ext uri="{FF2B5EF4-FFF2-40B4-BE49-F238E27FC236}">
                    <a16:creationId xmlns:a16="http://schemas.microsoft.com/office/drawing/2014/main" id="{547B8E0C-20AD-4CD2-AA08-7F9978D1C974}"/>
                  </a:ext>
                </a:extLst>
              </p:cNvPr>
              <p:cNvSpPr>
                <a:spLocks noGrp="1" noRot="1" noChangeAspect="1" noMove="1" noResize="1" noEditPoints="1" noAdjustHandles="1" noChangeArrowheads="1" noChangeShapeType="1" noTextEdit="1"/>
              </p:cNvSpPr>
              <p:nvPr>
                <p:ph idx="1"/>
              </p:nvPr>
            </p:nvSpPr>
            <p:spPr>
              <a:xfrm>
                <a:off x="838200" y="1825625"/>
                <a:ext cx="5010150" cy="4351338"/>
              </a:xfrm>
              <a:blipFill>
                <a:blip r:embed="rId2"/>
                <a:stretch>
                  <a:fillRect l="-2192"/>
                </a:stretch>
              </a:blipFill>
            </p:spPr>
            <p:txBody>
              <a:bodyPr/>
              <a:lstStyle/>
              <a:p>
                <a:r>
                  <a:rPr lang="zh-CN" altLang="en-US">
                    <a:noFill/>
                  </a:rPr>
                  <a:t> </a:t>
                </a:r>
              </a:p>
            </p:txBody>
          </p:sp>
        </mc:Fallback>
      </mc:AlternateContent>
      <p:pic>
        <p:nvPicPr>
          <p:cNvPr id="4" name="Picture 3">
            <a:extLst>
              <a:ext uri="{FF2B5EF4-FFF2-40B4-BE49-F238E27FC236}">
                <a16:creationId xmlns:a16="http://schemas.microsoft.com/office/drawing/2014/main" id="{7153B7B1-610C-4DB8-951D-F4BAB4A1645D}"/>
              </a:ext>
            </a:extLst>
          </p:cNvPr>
          <p:cNvPicPr>
            <a:picLocks noChangeAspect="1"/>
          </p:cNvPicPr>
          <p:nvPr/>
        </p:nvPicPr>
        <p:blipFill>
          <a:blip r:embed="rId3"/>
          <a:stretch>
            <a:fillRect/>
          </a:stretch>
        </p:blipFill>
        <p:spPr>
          <a:xfrm>
            <a:off x="7686818" y="1825625"/>
            <a:ext cx="2285714" cy="2390476"/>
          </a:xfrm>
          <a:prstGeom prst="rect">
            <a:avLst/>
          </a:prstGeom>
        </p:spPr>
      </p:pic>
      <p:pic>
        <p:nvPicPr>
          <p:cNvPr id="5" name="Picture 4">
            <a:extLst>
              <a:ext uri="{FF2B5EF4-FFF2-40B4-BE49-F238E27FC236}">
                <a16:creationId xmlns:a16="http://schemas.microsoft.com/office/drawing/2014/main" id="{126591A0-2961-4FF6-8B5A-AC268C8F3BE4}"/>
              </a:ext>
            </a:extLst>
          </p:cNvPr>
          <p:cNvPicPr>
            <a:picLocks noChangeAspect="1"/>
          </p:cNvPicPr>
          <p:nvPr/>
        </p:nvPicPr>
        <p:blipFill>
          <a:blip r:embed="rId4"/>
          <a:stretch>
            <a:fillRect/>
          </a:stretch>
        </p:blipFill>
        <p:spPr>
          <a:xfrm>
            <a:off x="6805865" y="4472201"/>
            <a:ext cx="4047619" cy="1704762"/>
          </a:xfrm>
          <a:prstGeom prst="rect">
            <a:avLst/>
          </a:prstGeom>
        </p:spPr>
      </p:pic>
    </p:spTree>
    <p:extLst>
      <p:ext uri="{BB962C8B-B14F-4D97-AF65-F5344CB8AC3E}">
        <p14:creationId xmlns:p14="http://schemas.microsoft.com/office/powerpoint/2010/main" val="34280898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05FF9-16E0-42D4-9F76-1F16E1844182}"/>
              </a:ext>
            </a:extLst>
          </p:cNvPr>
          <p:cNvSpPr>
            <a:spLocks noGrp="1"/>
          </p:cNvSpPr>
          <p:nvPr>
            <p:ph type="title"/>
          </p:nvPr>
        </p:nvSpPr>
        <p:spPr/>
        <p:txBody>
          <a:bodyPr/>
          <a:lstStyle/>
          <a:p>
            <a:r>
              <a:rPr lang="zh-CN" altLang="en-US" b="1" dirty="0"/>
              <a:t>梯度算子</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47B8E0C-20AD-4CD2-AA08-7F9978D1C974}"/>
                  </a:ext>
                </a:extLst>
              </p:cNvPr>
              <p:cNvSpPr>
                <a:spLocks noGrp="1"/>
              </p:cNvSpPr>
              <p:nvPr>
                <p:ph idx="1"/>
              </p:nvPr>
            </p:nvSpPr>
            <p:spPr>
              <a:xfrm>
                <a:off x="838200" y="1825625"/>
                <a:ext cx="5505454" cy="4351338"/>
              </a:xfrm>
            </p:spPr>
            <p:txBody>
              <a:bodyPr/>
              <a:lstStyle/>
              <a:p>
                <a:pPr>
                  <a:lnSpc>
                    <a:spcPct val="150000"/>
                  </a:lnSpc>
                </a:pPr>
                <a:r>
                  <a:rPr lang="en-US" altLang="zh-CN" b="1" dirty="0"/>
                  <a:t>Prewitt</a:t>
                </a:r>
                <a:r>
                  <a:rPr lang="zh-CN" altLang="en-US" b="1" dirty="0"/>
                  <a:t>梯度算子</a:t>
                </a:r>
                <a:endParaRPr lang="en-US" altLang="zh-CN" b="1" dirty="0"/>
              </a:p>
              <a:p>
                <a:pPr marL="457200" lvl="1" indent="0">
                  <a:lnSpc>
                    <a:spcPct val="150000"/>
                  </a:lnSpc>
                  <a:buNone/>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cs typeface="+mn-ea"/>
                              <a:sym typeface="+mn-lt"/>
                            </a:rPr>
                          </m:ctrlPr>
                        </m:sSubPr>
                        <m:e>
                          <m:r>
                            <a:rPr lang="en-US" altLang="zh-CN" b="0" i="1" smtClean="0">
                              <a:latin typeface="Cambria Math" panose="02040503050406030204" pitchFamily="18" charset="0"/>
                              <a:cs typeface="+mn-ea"/>
                              <a:sym typeface="+mn-lt"/>
                            </a:rPr>
                            <m:t>𝑔</m:t>
                          </m:r>
                        </m:e>
                        <m:sub>
                          <m:r>
                            <a:rPr lang="en-US" altLang="zh-CN" b="0" i="1" smtClean="0">
                              <a:latin typeface="Cambria Math" panose="02040503050406030204" pitchFamily="18" charset="0"/>
                              <a:cs typeface="+mn-ea"/>
                              <a:sym typeface="+mn-lt"/>
                            </a:rPr>
                            <m:t>𝑥</m:t>
                          </m:r>
                        </m:sub>
                      </m:sSub>
                      <m:r>
                        <a:rPr lang="en-US" altLang="zh-CN" b="0" i="1" smtClean="0">
                          <a:latin typeface="Cambria Math" panose="02040503050406030204" pitchFamily="18" charset="0"/>
                          <a:cs typeface="+mn-ea"/>
                          <a:sym typeface="+mn-lt"/>
                        </a:rPr>
                        <m:t>=(</m:t>
                      </m:r>
                      <m:sSub>
                        <m:sSubPr>
                          <m:ctrlPr>
                            <a:rPr lang="en-US" altLang="zh-CN" b="0" i="1" smtClean="0">
                              <a:latin typeface="Cambria Math" panose="02040503050406030204" pitchFamily="18" charset="0"/>
                              <a:cs typeface="+mn-ea"/>
                              <a:sym typeface="+mn-lt"/>
                            </a:rPr>
                          </m:ctrlPr>
                        </m:sSubPr>
                        <m:e>
                          <m:r>
                            <a:rPr lang="en-US" altLang="zh-CN" b="0" i="1" smtClean="0">
                              <a:latin typeface="Cambria Math" panose="02040503050406030204" pitchFamily="18" charset="0"/>
                              <a:cs typeface="+mn-ea"/>
                              <a:sym typeface="+mn-lt"/>
                            </a:rPr>
                            <m:t>𝑧</m:t>
                          </m:r>
                        </m:e>
                        <m:sub>
                          <m:r>
                            <a:rPr lang="en-US" altLang="zh-CN" b="0" i="1" smtClean="0">
                              <a:latin typeface="Cambria Math" panose="02040503050406030204" pitchFamily="18" charset="0"/>
                              <a:cs typeface="+mn-ea"/>
                              <a:sym typeface="+mn-lt"/>
                            </a:rPr>
                            <m:t>7</m:t>
                          </m:r>
                        </m:sub>
                      </m:sSub>
                      <m:r>
                        <a:rPr lang="en-US" altLang="zh-CN" b="0" i="1" smtClean="0">
                          <a:latin typeface="Cambria Math" panose="02040503050406030204" pitchFamily="18" charset="0"/>
                          <a:cs typeface="+mn-ea"/>
                          <a:sym typeface="+mn-lt"/>
                        </a:rPr>
                        <m:t>+</m:t>
                      </m:r>
                      <m:sSub>
                        <m:sSubPr>
                          <m:ctrlPr>
                            <a:rPr lang="en-US" altLang="zh-CN" b="0" i="1" smtClean="0">
                              <a:latin typeface="Cambria Math" panose="02040503050406030204" pitchFamily="18" charset="0"/>
                              <a:cs typeface="+mn-ea"/>
                              <a:sym typeface="+mn-lt"/>
                            </a:rPr>
                          </m:ctrlPr>
                        </m:sSubPr>
                        <m:e>
                          <m:r>
                            <a:rPr lang="en-US" altLang="zh-CN" b="0" i="1" smtClean="0">
                              <a:latin typeface="Cambria Math" panose="02040503050406030204" pitchFamily="18" charset="0"/>
                              <a:cs typeface="+mn-ea"/>
                              <a:sym typeface="+mn-lt"/>
                            </a:rPr>
                            <m:t>𝑧</m:t>
                          </m:r>
                        </m:e>
                        <m:sub>
                          <m:r>
                            <a:rPr lang="en-US" altLang="zh-CN" b="0" i="1" smtClean="0">
                              <a:latin typeface="Cambria Math" panose="02040503050406030204" pitchFamily="18" charset="0"/>
                              <a:cs typeface="+mn-ea"/>
                              <a:sym typeface="+mn-lt"/>
                            </a:rPr>
                            <m:t>8</m:t>
                          </m:r>
                        </m:sub>
                      </m:sSub>
                      <m:r>
                        <a:rPr lang="en-US" altLang="zh-CN" b="0" i="1" smtClean="0">
                          <a:latin typeface="Cambria Math" panose="02040503050406030204" pitchFamily="18" charset="0"/>
                          <a:cs typeface="+mn-ea"/>
                          <a:sym typeface="+mn-lt"/>
                        </a:rPr>
                        <m:t>+</m:t>
                      </m:r>
                      <m:sSub>
                        <m:sSubPr>
                          <m:ctrlPr>
                            <a:rPr lang="en-US" altLang="zh-CN" b="0" i="1" smtClean="0">
                              <a:latin typeface="Cambria Math" panose="02040503050406030204" pitchFamily="18" charset="0"/>
                              <a:cs typeface="+mn-ea"/>
                              <a:sym typeface="+mn-lt"/>
                            </a:rPr>
                          </m:ctrlPr>
                        </m:sSubPr>
                        <m:e>
                          <m:r>
                            <a:rPr lang="en-US" altLang="zh-CN" b="0" i="1" smtClean="0">
                              <a:latin typeface="Cambria Math" panose="02040503050406030204" pitchFamily="18" charset="0"/>
                              <a:cs typeface="+mn-ea"/>
                              <a:sym typeface="+mn-lt"/>
                            </a:rPr>
                            <m:t>𝑧</m:t>
                          </m:r>
                        </m:e>
                        <m:sub>
                          <m:r>
                            <a:rPr lang="en-US" altLang="zh-CN" b="0" i="1" smtClean="0">
                              <a:latin typeface="Cambria Math" panose="02040503050406030204" pitchFamily="18" charset="0"/>
                              <a:cs typeface="+mn-ea"/>
                              <a:sym typeface="+mn-lt"/>
                            </a:rPr>
                            <m:t>9</m:t>
                          </m:r>
                        </m:sub>
                      </m:sSub>
                      <m:r>
                        <a:rPr lang="en-US" altLang="zh-CN" b="0" i="1" smtClean="0">
                          <a:latin typeface="Cambria Math" panose="02040503050406030204" pitchFamily="18" charset="0"/>
                          <a:cs typeface="+mn-ea"/>
                          <a:sym typeface="+mn-lt"/>
                        </a:rPr>
                        <m:t>)−(</m:t>
                      </m:r>
                      <m:sSub>
                        <m:sSubPr>
                          <m:ctrlPr>
                            <a:rPr lang="en-US" altLang="zh-CN" b="0" i="1" smtClean="0">
                              <a:latin typeface="Cambria Math" panose="02040503050406030204" pitchFamily="18" charset="0"/>
                              <a:cs typeface="+mn-ea"/>
                              <a:sym typeface="+mn-lt"/>
                            </a:rPr>
                          </m:ctrlPr>
                        </m:sSubPr>
                        <m:e>
                          <m:r>
                            <a:rPr lang="en-US" altLang="zh-CN" b="0" i="1" smtClean="0">
                              <a:latin typeface="Cambria Math" panose="02040503050406030204" pitchFamily="18" charset="0"/>
                              <a:cs typeface="+mn-ea"/>
                              <a:sym typeface="+mn-lt"/>
                            </a:rPr>
                            <m:t>𝑧</m:t>
                          </m:r>
                        </m:e>
                        <m:sub>
                          <m:r>
                            <a:rPr lang="en-US" altLang="zh-CN" b="0" i="1" smtClean="0">
                              <a:latin typeface="Cambria Math" panose="02040503050406030204" pitchFamily="18" charset="0"/>
                              <a:cs typeface="+mn-ea"/>
                              <a:sym typeface="+mn-lt"/>
                            </a:rPr>
                            <m:t>1</m:t>
                          </m:r>
                        </m:sub>
                      </m:sSub>
                      <m:r>
                        <a:rPr lang="en-US" altLang="zh-CN" b="0" i="1" smtClean="0">
                          <a:latin typeface="Cambria Math" panose="02040503050406030204" pitchFamily="18" charset="0"/>
                          <a:cs typeface="+mn-ea"/>
                          <a:sym typeface="+mn-lt"/>
                        </a:rPr>
                        <m:t>+</m:t>
                      </m:r>
                      <m:sSub>
                        <m:sSubPr>
                          <m:ctrlPr>
                            <a:rPr lang="en-US" altLang="zh-CN" b="0" i="1" smtClean="0">
                              <a:latin typeface="Cambria Math" panose="02040503050406030204" pitchFamily="18" charset="0"/>
                              <a:cs typeface="+mn-ea"/>
                              <a:sym typeface="+mn-lt"/>
                            </a:rPr>
                          </m:ctrlPr>
                        </m:sSubPr>
                        <m:e>
                          <m:r>
                            <a:rPr lang="en-US" altLang="zh-CN" b="0" i="1" smtClean="0">
                              <a:latin typeface="Cambria Math" panose="02040503050406030204" pitchFamily="18" charset="0"/>
                              <a:cs typeface="+mn-ea"/>
                              <a:sym typeface="+mn-lt"/>
                            </a:rPr>
                            <m:t>𝑧</m:t>
                          </m:r>
                        </m:e>
                        <m:sub>
                          <m:r>
                            <a:rPr lang="en-US" altLang="zh-CN" b="0" i="1" smtClean="0">
                              <a:latin typeface="Cambria Math" panose="02040503050406030204" pitchFamily="18" charset="0"/>
                              <a:cs typeface="+mn-ea"/>
                              <a:sym typeface="+mn-lt"/>
                            </a:rPr>
                            <m:t>2</m:t>
                          </m:r>
                        </m:sub>
                      </m:sSub>
                      <m:r>
                        <a:rPr lang="en-US" altLang="zh-CN" b="0" i="1" smtClean="0">
                          <a:latin typeface="Cambria Math" panose="02040503050406030204" pitchFamily="18" charset="0"/>
                          <a:cs typeface="+mn-ea"/>
                          <a:sym typeface="+mn-lt"/>
                        </a:rPr>
                        <m:t>+</m:t>
                      </m:r>
                      <m:sSub>
                        <m:sSubPr>
                          <m:ctrlPr>
                            <a:rPr lang="en-US" altLang="zh-CN" b="0" i="1" smtClean="0">
                              <a:latin typeface="Cambria Math" panose="02040503050406030204" pitchFamily="18" charset="0"/>
                              <a:cs typeface="+mn-ea"/>
                              <a:sym typeface="+mn-lt"/>
                            </a:rPr>
                          </m:ctrlPr>
                        </m:sSubPr>
                        <m:e>
                          <m:r>
                            <a:rPr lang="en-US" altLang="zh-CN" b="0" i="1" smtClean="0">
                              <a:latin typeface="Cambria Math" panose="02040503050406030204" pitchFamily="18" charset="0"/>
                              <a:cs typeface="+mn-ea"/>
                              <a:sym typeface="+mn-lt"/>
                            </a:rPr>
                            <m:t>𝑧</m:t>
                          </m:r>
                        </m:e>
                        <m:sub>
                          <m:r>
                            <a:rPr lang="en-US" altLang="zh-CN" b="0" i="1" smtClean="0">
                              <a:latin typeface="Cambria Math" panose="02040503050406030204" pitchFamily="18" charset="0"/>
                              <a:cs typeface="+mn-ea"/>
                              <a:sym typeface="+mn-lt"/>
                            </a:rPr>
                            <m:t>3</m:t>
                          </m:r>
                        </m:sub>
                      </m:sSub>
                      <m:r>
                        <a:rPr lang="en-US" altLang="zh-CN" b="0" i="1" smtClean="0">
                          <a:latin typeface="Cambria Math" panose="02040503050406030204" pitchFamily="18" charset="0"/>
                          <a:cs typeface="+mn-ea"/>
                          <a:sym typeface="+mn-lt"/>
                        </a:rPr>
                        <m:t>)</m:t>
                      </m:r>
                    </m:oMath>
                  </m:oMathPara>
                </a14:m>
                <a:endParaRPr lang="en-US" altLang="zh-CN" b="1" dirty="0"/>
              </a:p>
              <a:p>
                <a:pPr marL="457200" lvl="1" indent="0">
                  <a:lnSpc>
                    <a:spcPct val="150000"/>
                  </a:lnSpc>
                  <a:buNone/>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cs typeface="+mn-ea"/>
                              <a:sym typeface="+mn-lt"/>
                            </a:rPr>
                          </m:ctrlPr>
                        </m:sSubPr>
                        <m:e>
                          <m:r>
                            <a:rPr lang="en-US" altLang="zh-CN" b="0" i="1" smtClean="0">
                              <a:latin typeface="Cambria Math" panose="02040503050406030204" pitchFamily="18" charset="0"/>
                              <a:cs typeface="+mn-ea"/>
                              <a:sym typeface="+mn-lt"/>
                            </a:rPr>
                            <m:t>𝑔</m:t>
                          </m:r>
                        </m:e>
                        <m:sub>
                          <m:r>
                            <a:rPr lang="en-US" altLang="zh-CN" b="0" i="1" smtClean="0">
                              <a:latin typeface="Cambria Math" panose="02040503050406030204" pitchFamily="18" charset="0"/>
                              <a:cs typeface="+mn-ea"/>
                              <a:sym typeface="+mn-lt"/>
                            </a:rPr>
                            <m:t>𝑥</m:t>
                          </m:r>
                        </m:sub>
                      </m:sSub>
                      <m:r>
                        <a:rPr lang="en-US" altLang="zh-CN" b="0" i="1" smtClean="0">
                          <a:latin typeface="Cambria Math" panose="02040503050406030204" pitchFamily="18" charset="0"/>
                          <a:cs typeface="+mn-ea"/>
                          <a:sym typeface="+mn-lt"/>
                        </a:rPr>
                        <m:t>=(</m:t>
                      </m:r>
                      <m:sSub>
                        <m:sSubPr>
                          <m:ctrlPr>
                            <a:rPr lang="en-US" altLang="zh-CN" b="0" i="1" smtClean="0">
                              <a:latin typeface="Cambria Math" panose="02040503050406030204" pitchFamily="18" charset="0"/>
                              <a:cs typeface="+mn-ea"/>
                              <a:sym typeface="+mn-lt"/>
                            </a:rPr>
                          </m:ctrlPr>
                        </m:sSubPr>
                        <m:e>
                          <m:r>
                            <a:rPr lang="en-US" altLang="zh-CN" b="0" i="1" smtClean="0">
                              <a:latin typeface="Cambria Math" panose="02040503050406030204" pitchFamily="18" charset="0"/>
                              <a:cs typeface="+mn-ea"/>
                              <a:sym typeface="+mn-lt"/>
                            </a:rPr>
                            <m:t>𝑧</m:t>
                          </m:r>
                        </m:e>
                        <m:sub>
                          <m:r>
                            <a:rPr lang="en-US" altLang="zh-CN" b="0" i="1" smtClean="0">
                              <a:latin typeface="Cambria Math" panose="02040503050406030204" pitchFamily="18" charset="0"/>
                              <a:cs typeface="+mn-ea"/>
                              <a:sym typeface="+mn-lt"/>
                            </a:rPr>
                            <m:t>3</m:t>
                          </m:r>
                        </m:sub>
                      </m:sSub>
                      <m:r>
                        <a:rPr lang="en-US" altLang="zh-CN" b="0" i="1" smtClean="0">
                          <a:latin typeface="Cambria Math" panose="02040503050406030204" pitchFamily="18" charset="0"/>
                          <a:cs typeface="+mn-ea"/>
                          <a:sym typeface="+mn-lt"/>
                        </a:rPr>
                        <m:t>+</m:t>
                      </m:r>
                      <m:sSub>
                        <m:sSubPr>
                          <m:ctrlPr>
                            <a:rPr lang="en-US" altLang="zh-CN" b="0" i="1" smtClean="0">
                              <a:latin typeface="Cambria Math" panose="02040503050406030204" pitchFamily="18" charset="0"/>
                              <a:cs typeface="+mn-ea"/>
                              <a:sym typeface="+mn-lt"/>
                            </a:rPr>
                          </m:ctrlPr>
                        </m:sSubPr>
                        <m:e>
                          <m:r>
                            <a:rPr lang="en-US" altLang="zh-CN" b="0" i="1" smtClean="0">
                              <a:latin typeface="Cambria Math" panose="02040503050406030204" pitchFamily="18" charset="0"/>
                              <a:cs typeface="+mn-ea"/>
                              <a:sym typeface="+mn-lt"/>
                            </a:rPr>
                            <m:t>𝑧</m:t>
                          </m:r>
                        </m:e>
                        <m:sub>
                          <m:r>
                            <a:rPr lang="en-US" altLang="zh-CN" b="0" i="1" smtClean="0">
                              <a:latin typeface="Cambria Math" panose="02040503050406030204" pitchFamily="18" charset="0"/>
                              <a:cs typeface="+mn-ea"/>
                              <a:sym typeface="+mn-lt"/>
                            </a:rPr>
                            <m:t>6</m:t>
                          </m:r>
                        </m:sub>
                      </m:sSub>
                      <m:r>
                        <a:rPr lang="en-US" altLang="zh-CN" b="0" i="1" smtClean="0">
                          <a:latin typeface="Cambria Math" panose="02040503050406030204" pitchFamily="18" charset="0"/>
                          <a:cs typeface="+mn-ea"/>
                          <a:sym typeface="+mn-lt"/>
                        </a:rPr>
                        <m:t>+</m:t>
                      </m:r>
                      <m:sSub>
                        <m:sSubPr>
                          <m:ctrlPr>
                            <a:rPr lang="en-US" altLang="zh-CN" b="0" i="1" smtClean="0">
                              <a:latin typeface="Cambria Math" panose="02040503050406030204" pitchFamily="18" charset="0"/>
                              <a:cs typeface="+mn-ea"/>
                              <a:sym typeface="+mn-lt"/>
                            </a:rPr>
                          </m:ctrlPr>
                        </m:sSubPr>
                        <m:e>
                          <m:r>
                            <a:rPr lang="en-US" altLang="zh-CN" b="0" i="1" smtClean="0">
                              <a:latin typeface="Cambria Math" panose="02040503050406030204" pitchFamily="18" charset="0"/>
                              <a:cs typeface="+mn-ea"/>
                              <a:sym typeface="+mn-lt"/>
                            </a:rPr>
                            <m:t>𝑧</m:t>
                          </m:r>
                        </m:e>
                        <m:sub>
                          <m:r>
                            <a:rPr lang="en-US" altLang="zh-CN" b="0" i="1" smtClean="0">
                              <a:latin typeface="Cambria Math" panose="02040503050406030204" pitchFamily="18" charset="0"/>
                              <a:cs typeface="+mn-ea"/>
                              <a:sym typeface="+mn-lt"/>
                            </a:rPr>
                            <m:t>9</m:t>
                          </m:r>
                        </m:sub>
                      </m:sSub>
                      <m:r>
                        <a:rPr lang="en-US" altLang="zh-CN" b="0" i="1" smtClean="0">
                          <a:latin typeface="Cambria Math" panose="02040503050406030204" pitchFamily="18" charset="0"/>
                          <a:cs typeface="+mn-ea"/>
                          <a:sym typeface="+mn-lt"/>
                        </a:rPr>
                        <m:t>)−(</m:t>
                      </m:r>
                      <m:sSub>
                        <m:sSubPr>
                          <m:ctrlPr>
                            <a:rPr lang="en-US" altLang="zh-CN" b="0" i="1" smtClean="0">
                              <a:latin typeface="Cambria Math" panose="02040503050406030204" pitchFamily="18" charset="0"/>
                              <a:cs typeface="+mn-ea"/>
                              <a:sym typeface="+mn-lt"/>
                            </a:rPr>
                          </m:ctrlPr>
                        </m:sSubPr>
                        <m:e>
                          <m:r>
                            <a:rPr lang="en-US" altLang="zh-CN" b="0" i="1" smtClean="0">
                              <a:latin typeface="Cambria Math" panose="02040503050406030204" pitchFamily="18" charset="0"/>
                              <a:cs typeface="+mn-ea"/>
                              <a:sym typeface="+mn-lt"/>
                            </a:rPr>
                            <m:t>𝑧</m:t>
                          </m:r>
                        </m:e>
                        <m:sub>
                          <m:r>
                            <a:rPr lang="en-US" altLang="zh-CN" b="0" i="1" smtClean="0">
                              <a:latin typeface="Cambria Math" panose="02040503050406030204" pitchFamily="18" charset="0"/>
                              <a:cs typeface="+mn-ea"/>
                              <a:sym typeface="+mn-lt"/>
                            </a:rPr>
                            <m:t>1</m:t>
                          </m:r>
                        </m:sub>
                      </m:sSub>
                      <m:r>
                        <a:rPr lang="en-US" altLang="zh-CN" b="0" i="1" smtClean="0">
                          <a:latin typeface="Cambria Math" panose="02040503050406030204" pitchFamily="18" charset="0"/>
                          <a:cs typeface="+mn-ea"/>
                          <a:sym typeface="+mn-lt"/>
                        </a:rPr>
                        <m:t>+</m:t>
                      </m:r>
                      <m:sSub>
                        <m:sSubPr>
                          <m:ctrlPr>
                            <a:rPr lang="en-US" altLang="zh-CN" b="0" i="1" smtClean="0">
                              <a:latin typeface="Cambria Math" panose="02040503050406030204" pitchFamily="18" charset="0"/>
                              <a:cs typeface="+mn-ea"/>
                              <a:sym typeface="+mn-lt"/>
                            </a:rPr>
                          </m:ctrlPr>
                        </m:sSubPr>
                        <m:e>
                          <m:r>
                            <a:rPr lang="en-US" altLang="zh-CN" b="0" i="1" smtClean="0">
                              <a:latin typeface="Cambria Math" panose="02040503050406030204" pitchFamily="18" charset="0"/>
                              <a:cs typeface="+mn-ea"/>
                              <a:sym typeface="+mn-lt"/>
                            </a:rPr>
                            <m:t>𝑧</m:t>
                          </m:r>
                        </m:e>
                        <m:sub>
                          <m:r>
                            <a:rPr lang="en-US" altLang="zh-CN" b="0" i="1" smtClean="0">
                              <a:latin typeface="Cambria Math" panose="02040503050406030204" pitchFamily="18" charset="0"/>
                              <a:cs typeface="+mn-ea"/>
                              <a:sym typeface="+mn-lt"/>
                            </a:rPr>
                            <m:t>4</m:t>
                          </m:r>
                        </m:sub>
                      </m:sSub>
                      <m:r>
                        <a:rPr lang="en-US" altLang="zh-CN" b="0" i="1" smtClean="0">
                          <a:latin typeface="Cambria Math" panose="02040503050406030204" pitchFamily="18" charset="0"/>
                          <a:cs typeface="+mn-ea"/>
                          <a:sym typeface="+mn-lt"/>
                        </a:rPr>
                        <m:t>+</m:t>
                      </m:r>
                      <m:sSub>
                        <m:sSubPr>
                          <m:ctrlPr>
                            <a:rPr lang="en-US" altLang="zh-CN" b="0" i="1" smtClean="0">
                              <a:latin typeface="Cambria Math" panose="02040503050406030204" pitchFamily="18" charset="0"/>
                              <a:cs typeface="+mn-ea"/>
                              <a:sym typeface="+mn-lt"/>
                            </a:rPr>
                          </m:ctrlPr>
                        </m:sSubPr>
                        <m:e>
                          <m:r>
                            <a:rPr lang="en-US" altLang="zh-CN" b="0" i="1" smtClean="0">
                              <a:latin typeface="Cambria Math" panose="02040503050406030204" pitchFamily="18" charset="0"/>
                              <a:cs typeface="+mn-ea"/>
                              <a:sym typeface="+mn-lt"/>
                            </a:rPr>
                            <m:t>𝑧</m:t>
                          </m:r>
                        </m:e>
                        <m:sub>
                          <m:r>
                            <a:rPr lang="en-US" altLang="zh-CN" b="0" i="1" smtClean="0">
                              <a:latin typeface="Cambria Math" panose="02040503050406030204" pitchFamily="18" charset="0"/>
                              <a:cs typeface="+mn-ea"/>
                              <a:sym typeface="+mn-lt"/>
                            </a:rPr>
                            <m:t>7</m:t>
                          </m:r>
                        </m:sub>
                      </m:sSub>
                      <m:r>
                        <a:rPr lang="en-US" altLang="zh-CN" b="0" i="1" smtClean="0">
                          <a:latin typeface="Cambria Math" panose="02040503050406030204" pitchFamily="18" charset="0"/>
                          <a:cs typeface="+mn-ea"/>
                          <a:sym typeface="+mn-lt"/>
                        </a:rPr>
                        <m:t>)</m:t>
                      </m:r>
                    </m:oMath>
                  </m:oMathPara>
                </a14:m>
                <a:endParaRPr lang="en-US" altLang="zh-CN" b="0" dirty="0">
                  <a:cs typeface="+mn-ea"/>
                  <a:sym typeface="+mn-lt"/>
                </a:endParaRPr>
              </a:p>
              <a:p>
                <a:pPr marL="457200" lvl="1" indent="0">
                  <a:lnSpc>
                    <a:spcPct val="150000"/>
                  </a:lnSpc>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mn-ea"/>
                          <a:sym typeface="+mn-lt"/>
                        </a:rPr>
                        <m:t>𝑀</m:t>
                      </m:r>
                      <m:r>
                        <a:rPr lang="en-US" altLang="zh-CN" b="0" i="1" smtClean="0">
                          <a:latin typeface="Cambria Math" panose="02040503050406030204" pitchFamily="18" charset="0"/>
                          <a:cs typeface="+mn-ea"/>
                          <a:sym typeface="+mn-lt"/>
                        </a:rPr>
                        <m:t>=</m:t>
                      </m:r>
                      <m:d>
                        <m:dPr>
                          <m:begChr m:val="|"/>
                          <m:endChr m:val="|"/>
                          <m:ctrlPr>
                            <a:rPr lang="en-US" altLang="zh-CN" b="0" i="1" smtClean="0">
                              <a:latin typeface="Cambria Math" panose="02040503050406030204" pitchFamily="18" charset="0"/>
                              <a:cs typeface="+mn-ea"/>
                              <a:sym typeface="+mn-lt"/>
                            </a:rPr>
                          </m:ctrlPr>
                        </m:dPr>
                        <m:e>
                          <m:sSub>
                            <m:sSubPr>
                              <m:ctrlPr>
                                <a:rPr lang="en-US" altLang="zh-CN" i="1" smtClean="0">
                                  <a:latin typeface="Cambria Math" panose="02040503050406030204" pitchFamily="18" charset="0"/>
                                  <a:cs typeface="+mn-ea"/>
                                  <a:sym typeface="+mn-lt"/>
                                </a:rPr>
                              </m:ctrlPr>
                            </m:sSubPr>
                            <m:e>
                              <m:r>
                                <a:rPr lang="en-US" altLang="zh-CN" b="0" i="1" smtClean="0">
                                  <a:latin typeface="Cambria Math" panose="02040503050406030204" pitchFamily="18" charset="0"/>
                                  <a:cs typeface="+mn-ea"/>
                                  <a:sym typeface="+mn-lt"/>
                                </a:rPr>
                                <m:t>𝑔</m:t>
                              </m:r>
                            </m:e>
                            <m:sub>
                              <m:r>
                                <a:rPr lang="en-US" altLang="zh-CN" b="0" i="1" smtClean="0">
                                  <a:latin typeface="Cambria Math" panose="02040503050406030204" pitchFamily="18" charset="0"/>
                                  <a:cs typeface="+mn-ea"/>
                                  <a:sym typeface="+mn-lt"/>
                                </a:rPr>
                                <m:t>𝑥</m:t>
                              </m:r>
                            </m:sub>
                          </m:sSub>
                        </m:e>
                      </m:d>
                      <m:r>
                        <a:rPr lang="en-US" altLang="zh-CN" b="0" i="1" smtClean="0">
                          <a:latin typeface="Cambria Math" panose="02040503050406030204" pitchFamily="18" charset="0"/>
                          <a:cs typeface="+mn-ea"/>
                          <a:sym typeface="+mn-lt"/>
                        </a:rPr>
                        <m:t>+</m:t>
                      </m:r>
                      <m:d>
                        <m:dPr>
                          <m:begChr m:val="|"/>
                          <m:endChr m:val="|"/>
                          <m:ctrlPr>
                            <a:rPr lang="en-US" altLang="zh-CN" b="0" i="1" smtClean="0">
                              <a:latin typeface="Cambria Math" panose="02040503050406030204" pitchFamily="18" charset="0"/>
                              <a:cs typeface="+mn-ea"/>
                              <a:sym typeface="+mn-lt"/>
                            </a:rPr>
                          </m:ctrlPr>
                        </m:dPr>
                        <m:e>
                          <m:sSub>
                            <m:sSubPr>
                              <m:ctrlPr>
                                <a:rPr lang="en-US" altLang="zh-CN" i="1" smtClean="0">
                                  <a:latin typeface="Cambria Math" panose="02040503050406030204" pitchFamily="18" charset="0"/>
                                  <a:cs typeface="+mn-ea"/>
                                  <a:sym typeface="+mn-lt"/>
                                </a:rPr>
                              </m:ctrlPr>
                            </m:sSubPr>
                            <m:e>
                              <m:r>
                                <a:rPr lang="en-US" altLang="zh-CN" b="0" i="1" smtClean="0">
                                  <a:latin typeface="Cambria Math" panose="02040503050406030204" pitchFamily="18" charset="0"/>
                                  <a:cs typeface="+mn-ea"/>
                                  <a:sym typeface="+mn-lt"/>
                                </a:rPr>
                                <m:t>𝑔</m:t>
                              </m:r>
                            </m:e>
                            <m:sub>
                              <m:r>
                                <a:rPr lang="en-US" altLang="zh-CN" b="0" i="1" smtClean="0">
                                  <a:latin typeface="Cambria Math" panose="02040503050406030204" pitchFamily="18" charset="0"/>
                                  <a:cs typeface="+mn-ea"/>
                                  <a:sym typeface="+mn-lt"/>
                                </a:rPr>
                                <m:t>𝑦</m:t>
                              </m:r>
                            </m:sub>
                          </m:sSub>
                        </m:e>
                      </m:d>
                    </m:oMath>
                  </m:oMathPara>
                </a14:m>
                <a:endParaRPr lang="zh-CN" altLang="en-US" b="1" dirty="0"/>
              </a:p>
              <a:p>
                <a:pPr lvl="1">
                  <a:lnSpc>
                    <a:spcPct val="150000"/>
                  </a:lnSpc>
                </a:pPr>
                <a:endParaRPr lang="zh-CN" altLang="en-US" b="1" dirty="0"/>
              </a:p>
            </p:txBody>
          </p:sp>
        </mc:Choice>
        <mc:Fallback xmlns="">
          <p:sp>
            <p:nvSpPr>
              <p:cNvPr id="3" name="Content Placeholder 2">
                <a:extLst>
                  <a:ext uri="{FF2B5EF4-FFF2-40B4-BE49-F238E27FC236}">
                    <a16:creationId xmlns:a16="http://schemas.microsoft.com/office/drawing/2014/main" id="{547B8E0C-20AD-4CD2-AA08-7F9978D1C974}"/>
                  </a:ext>
                </a:extLst>
              </p:cNvPr>
              <p:cNvSpPr>
                <a:spLocks noGrp="1" noRot="1" noChangeAspect="1" noMove="1" noResize="1" noEditPoints="1" noAdjustHandles="1" noChangeArrowheads="1" noChangeShapeType="1" noTextEdit="1"/>
              </p:cNvSpPr>
              <p:nvPr>
                <p:ph idx="1"/>
              </p:nvPr>
            </p:nvSpPr>
            <p:spPr>
              <a:xfrm>
                <a:off x="838200" y="1825625"/>
                <a:ext cx="5505454" cy="4351338"/>
              </a:xfrm>
              <a:blipFill>
                <a:blip r:embed="rId2"/>
                <a:stretch>
                  <a:fillRect l="-1993"/>
                </a:stretch>
              </a:blipFill>
            </p:spPr>
            <p:txBody>
              <a:bodyPr/>
              <a:lstStyle/>
              <a:p>
                <a:r>
                  <a:rPr lang="zh-CN" altLang="en-US">
                    <a:noFill/>
                  </a:rPr>
                  <a:t> </a:t>
                </a:r>
              </a:p>
            </p:txBody>
          </p:sp>
        </mc:Fallback>
      </mc:AlternateContent>
      <p:pic>
        <p:nvPicPr>
          <p:cNvPr id="6" name="Picture 5">
            <a:extLst>
              <a:ext uri="{FF2B5EF4-FFF2-40B4-BE49-F238E27FC236}">
                <a16:creationId xmlns:a16="http://schemas.microsoft.com/office/drawing/2014/main" id="{0E3F68EA-6484-4214-8000-7999987197A9}"/>
              </a:ext>
            </a:extLst>
          </p:cNvPr>
          <p:cNvPicPr>
            <a:picLocks noChangeAspect="1"/>
          </p:cNvPicPr>
          <p:nvPr/>
        </p:nvPicPr>
        <p:blipFill>
          <a:blip r:embed="rId3"/>
          <a:stretch>
            <a:fillRect/>
          </a:stretch>
        </p:blipFill>
        <p:spPr>
          <a:xfrm>
            <a:off x="8067503" y="1528908"/>
            <a:ext cx="2428571" cy="2333333"/>
          </a:xfrm>
          <a:prstGeom prst="rect">
            <a:avLst/>
          </a:prstGeom>
        </p:spPr>
      </p:pic>
      <p:pic>
        <p:nvPicPr>
          <p:cNvPr id="7" name="Picture 6">
            <a:extLst>
              <a:ext uri="{FF2B5EF4-FFF2-40B4-BE49-F238E27FC236}">
                <a16:creationId xmlns:a16="http://schemas.microsoft.com/office/drawing/2014/main" id="{B18D7346-20F9-4304-9FEA-577A18784452}"/>
              </a:ext>
            </a:extLst>
          </p:cNvPr>
          <p:cNvPicPr>
            <a:picLocks noChangeAspect="1"/>
          </p:cNvPicPr>
          <p:nvPr/>
        </p:nvPicPr>
        <p:blipFill>
          <a:blip r:embed="rId4"/>
          <a:stretch>
            <a:fillRect/>
          </a:stretch>
        </p:blipFill>
        <p:spPr>
          <a:xfrm>
            <a:off x="6667504" y="4001294"/>
            <a:ext cx="5228571" cy="2590476"/>
          </a:xfrm>
          <a:prstGeom prst="rect">
            <a:avLst/>
          </a:prstGeom>
        </p:spPr>
      </p:pic>
    </p:spTree>
    <p:extLst>
      <p:ext uri="{BB962C8B-B14F-4D97-AF65-F5344CB8AC3E}">
        <p14:creationId xmlns:p14="http://schemas.microsoft.com/office/powerpoint/2010/main" val="119795861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05FF9-16E0-42D4-9F76-1F16E1844182}"/>
              </a:ext>
            </a:extLst>
          </p:cNvPr>
          <p:cNvSpPr>
            <a:spLocks noGrp="1"/>
          </p:cNvSpPr>
          <p:nvPr>
            <p:ph type="title"/>
          </p:nvPr>
        </p:nvSpPr>
        <p:spPr/>
        <p:txBody>
          <a:bodyPr/>
          <a:lstStyle/>
          <a:p>
            <a:r>
              <a:rPr lang="zh-CN" altLang="en-US" b="1" dirty="0"/>
              <a:t>梯度算子</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47B8E0C-20AD-4CD2-AA08-7F9978D1C974}"/>
                  </a:ext>
                </a:extLst>
              </p:cNvPr>
              <p:cNvSpPr>
                <a:spLocks noGrp="1"/>
              </p:cNvSpPr>
              <p:nvPr>
                <p:ph idx="1"/>
              </p:nvPr>
            </p:nvSpPr>
            <p:spPr>
              <a:xfrm>
                <a:off x="838200" y="1825625"/>
                <a:ext cx="5829304" cy="4351338"/>
              </a:xfrm>
            </p:spPr>
            <p:txBody>
              <a:bodyPr/>
              <a:lstStyle/>
              <a:p>
                <a:pPr>
                  <a:lnSpc>
                    <a:spcPct val="150000"/>
                  </a:lnSpc>
                </a:pPr>
                <a:r>
                  <a:rPr lang="en-US" altLang="zh-CN" b="1" dirty="0"/>
                  <a:t>Sobel</a:t>
                </a:r>
                <a:r>
                  <a:rPr lang="zh-CN" altLang="en-US" b="1" dirty="0"/>
                  <a:t>梯度算子</a:t>
                </a:r>
                <a:endParaRPr lang="en-US" altLang="zh-CN" b="1" dirty="0"/>
              </a:p>
              <a:p>
                <a:pPr lvl="1">
                  <a:lnSpc>
                    <a:spcPct val="150000"/>
                  </a:lnSpc>
                </a:pPr>
                <a:r>
                  <a:rPr lang="zh-CN" altLang="en-US" dirty="0"/>
                  <a:t>权值</a:t>
                </a:r>
                <a:r>
                  <a:rPr lang="en-US" altLang="zh-CN" dirty="0"/>
                  <a:t>2</a:t>
                </a:r>
                <a:r>
                  <a:rPr lang="zh-CN" altLang="en-US" dirty="0"/>
                  <a:t>用于增加中心点的重要性</a:t>
                </a:r>
                <a:endParaRPr lang="en-US" altLang="zh-CN" dirty="0"/>
              </a:p>
              <a:p>
                <a:pPr marL="457200" lvl="1" indent="0">
                  <a:lnSpc>
                    <a:spcPct val="150000"/>
                  </a:lnSpc>
                  <a:buNone/>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cs typeface="+mn-ea"/>
                              <a:sym typeface="+mn-lt"/>
                            </a:rPr>
                          </m:ctrlPr>
                        </m:sSubPr>
                        <m:e>
                          <m:r>
                            <a:rPr lang="en-US" altLang="zh-CN" b="0" i="1" smtClean="0">
                              <a:latin typeface="Cambria Math" panose="02040503050406030204" pitchFamily="18" charset="0"/>
                              <a:cs typeface="+mn-ea"/>
                              <a:sym typeface="+mn-lt"/>
                            </a:rPr>
                            <m:t>𝑔</m:t>
                          </m:r>
                        </m:e>
                        <m:sub>
                          <m:r>
                            <a:rPr lang="en-US" altLang="zh-CN" b="0" i="1" smtClean="0">
                              <a:latin typeface="Cambria Math" panose="02040503050406030204" pitchFamily="18" charset="0"/>
                              <a:cs typeface="+mn-ea"/>
                              <a:sym typeface="+mn-lt"/>
                            </a:rPr>
                            <m:t>𝑥</m:t>
                          </m:r>
                        </m:sub>
                      </m:sSub>
                      <m:r>
                        <a:rPr lang="en-US" altLang="zh-CN" b="0" i="1" smtClean="0">
                          <a:latin typeface="Cambria Math" panose="02040503050406030204" pitchFamily="18" charset="0"/>
                          <a:cs typeface="+mn-ea"/>
                          <a:sym typeface="+mn-lt"/>
                        </a:rPr>
                        <m:t>=(</m:t>
                      </m:r>
                      <m:sSub>
                        <m:sSubPr>
                          <m:ctrlPr>
                            <a:rPr lang="en-US" altLang="zh-CN" b="0" i="1" smtClean="0">
                              <a:latin typeface="Cambria Math" panose="02040503050406030204" pitchFamily="18" charset="0"/>
                              <a:cs typeface="+mn-ea"/>
                              <a:sym typeface="+mn-lt"/>
                            </a:rPr>
                          </m:ctrlPr>
                        </m:sSubPr>
                        <m:e>
                          <m:r>
                            <a:rPr lang="en-US" altLang="zh-CN" b="0" i="1" smtClean="0">
                              <a:latin typeface="Cambria Math" panose="02040503050406030204" pitchFamily="18" charset="0"/>
                              <a:cs typeface="+mn-ea"/>
                              <a:sym typeface="+mn-lt"/>
                            </a:rPr>
                            <m:t>𝑧</m:t>
                          </m:r>
                        </m:e>
                        <m:sub>
                          <m:r>
                            <a:rPr lang="en-US" altLang="zh-CN" b="0" i="1" smtClean="0">
                              <a:latin typeface="Cambria Math" panose="02040503050406030204" pitchFamily="18" charset="0"/>
                              <a:cs typeface="+mn-ea"/>
                              <a:sym typeface="+mn-lt"/>
                            </a:rPr>
                            <m:t>7</m:t>
                          </m:r>
                        </m:sub>
                      </m:sSub>
                      <m:r>
                        <a:rPr lang="en-US" altLang="zh-CN" b="0" i="1" smtClean="0">
                          <a:latin typeface="Cambria Math" panose="02040503050406030204" pitchFamily="18" charset="0"/>
                          <a:cs typeface="+mn-ea"/>
                          <a:sym typeface="+mn-lt"/>
                        </a:rPr>
                        <m:t>+</m:t>
                      </m:r>
                      <m:sSub>
                        <m:sSubPr>
                          <m:ctrlPr>
                            <a:rPr lang="en-US" altLang="zh-CN" b="0" i="1" smtClean="0">
                              <a:latin typeface="Cambria Math" panose="02040503050406030204" pitchFamily="18" charset="0"/>
                              <a:cs typeface="+mn-ea"/>
                              <a:sym typeface="+mn-lt"/>
                            </a:rPr>
                          </m:ctrlPr>
                        </m:sSubPr>
                        <m:e>
                          <m:r>
                            <a:rPr lang="en-US" altLang="zh-CN" b="0" i="1" smtClean="0">
                              <a:latin typeface="Cambria Math" panose="02040503050406030204" pitchFamily="18" charset="0"/>
                              <a:cs typeface="+mn-ea"/>
                              <a:sym typeface="+mn-lt"/>
                            </a:rPr>
                            <m:t>2</m:t>
                          </m:r>
                          <m:r>
                            <a:rPr lang="en-US" altLang="zh-CN" b="0" i="1" smtClean="0">
                              <a:latin typeface="Cambria Math" panose="02040503050406030204" pitchFamily="18" charset="0"/>
                              <a:cs typeface="+mn-ea"/>
                              <a:sym typeface="+mn-lt"/>
                            </a:rPr>
                            <m:t>𝑧</m:t>
                          </m:r>
                        </m:e>
                        <m:sub>
                          <m:r>
                            <a:rPr lang="en-US" altLang="zh-CN" b="0" i="1" smtClean="0">
                              <a:latin typeface="Cambria Math" panose="02040503050406030204" pitchFamily="18" charset="0"/>
                              <a:cs typeface="+mn-ea"/>
                              <a:sym typeface="+mn-lt"/>
                            </a:rPr>
                            <m:t>8</m:t>
                          </m:r>
                        </m:sub>
                      </m:sSub>
                      <m:r>
                        <a:rPr lang="en-US" altLang="zh-CN" b="0" i="1" smtClean="0">
                          <a:latin typeface="Cambria Math" panose="02040503050406030204" pitchFamily="18" charset="0"/>
                          <a:cs typeface="+mn-ea"/>
                          <a:sym typeface="+mn-lt"/>
                        </a:rPr>
                        <m:t>+</m:t>
                      </m:r>
                      <m:sSub>
                        <m:sSubPr>
                          <m:ctrlPr>
                            <a:rPr lang="en-US" altLang="zh-CN" b="0" i="1" smtClean="0">
                              <a:latin typeface="Cambria Math" panose="02040503050406030204" pitchFamily="18" charset="0"/>
                              <a:cs typeface="+mn-ea"/>
                              <a:sym typeface="+mn-lt"/>
                            </a:rPr>
                          </m:ctrlPr>
                        </m:sSubPr>
                        <m:e>
                          <m:r>
                            <a:rPr lang="en-US" altLang="zh-CN" b="0" i="1" smtClean="0">
                              <a:latin typeface="Cambria Math" panose="02040503050406030204" pitchFamily="18" charset="0"/>
                              <a:cs typeface="+mn-ea"/>
                              <a:sym typeface="+mn-lt"/>
                            </a:rPr>
                            <m:t>𝑧</m:t>
                          </m:r>
                        </m:e>
                        <m:sub>
                          <m:r>
                            <a:rPr lang="en-US" altLang="zh-CN" b="0" i="1" smtClean="0">
                              <a:latin typeface="Cambria Math" panose="02040503050406030204" pitchFamily="18" charset="0"/>
                              <a:cs typeface="+mn-ea"/>
                              <a:sym typeface="+mn-lt"/>
                            </a:rPr>
                            <m:t>9</m:t>
                          </m:r>
                        </m:sub>
                      </m:sSub>
                      <m:r>
                        <a:rPr lang="en-US" altLang="zh-CN" b="0" i="1" smtClean="0">
                          <a:latin typeface="Cambria Math" panose="02040503050406030204" pitchFamily="18" charset="0"/>
                          <a:cs typeface="+mn-ea"/>
                          <a:sym typeface="+mn-lt"/>
                        </a:rPr>
                        <m:t>)−(</m:t>
                      </m:r>
                      <m:sSub>
                        <m:sSubPr>
                          <m:ctrlPr>
                            <a:rPr lang="en-US" altLang="zh-CN" b="0" i="1" smtClean="0">
                              <a:latin typeface="Cambria Math" panose="02040503050406030204" pitchFamily="18" charset="0"/>
                              <a:cs typeface="+mn-ea"/>
                              <a:sym typeface="+mn-lt"/>
                            </a:rPr>
                          </m:ctrlPr>
                        </m:sSubPr>
                        <m:e>
                          <m:r>
                            <a:rPr lang="en-US" altLang="zh-CN" b="0" i="1" smtClean="0">
                              <a:latin typeface="Cambria Math" panose="02040503050406030204" pitchFamily="18" charset="0"/>
                              <a:cs typeface="+mn-ea"/>
                              <a:sym typeface="+mn-lt"/>
                            </a:rPr>
                            <m:t>𝑧</m:t>
                          </m:r>
                        </m:e>
                        <m:sub>
                          <m:r>
                            <a:rPr lang="en-US" altLang="zh-CN" b="0" i="1" smtClean="0">
                              <a:latin typeface="Cambria Math" panose="02040503050406030204" pitchFamily="18" charset="0"/>
                              <a:cs typeface="+mn-ea"/>
                              <a:sym typeface="+mn-lt"/>
                            </a:rPr>
                            <m:t>1</m:t>
                          </m:r>
                        </m:sub>
                      </m:sSub>
                      <m:r>
                        <a:rPr lang="en-US" altLang="zh-CN" b="0" i="1" smtClean="0">
                          <a:latin typeface="Cambria Math" panose="02040503050406030204" pitchFamily="18" charset="0"/>
                          <a:cs typeface="+mn-ea"/>
                          <a:sym typeface="+mn-lt"/>
                        </a:rPr>
                        <m:t>+</m:t>
                      </m:r>
                      <m:sSub>
                        <m:sSubPr>
                          <m:ctrlPr>
                            <a:rPr lang="en-US" altLang="zh-CN" b="0" i="1" smtClean="0">
                              <a:latin typeface="Cambria Math" panose="02040503050406030204" pitchFamily="18" charset="0"/>
                              <a:cs typeface="+mn-ea"/>
                              <a:sym typeface="+mn-lt"/>
                            </a:rPr>
                          </m:ctrlPr>
                        </m:sSubPr>
                        <m:e>
                          <m:r>
                            <a:rPr lang="en-US" altLang="zh-CN" b="0" i="1" smtClean="0">
                              <a:latin typeface="Cambria Math" panose="02040503050406030204" pitchFamily="18" charset="0"/>
                              <a:cs typeface="+mn-ea"/>
                              <a:sym typeface="+mn-lt"/>
                            </a:rPr>
                            <m:t>2</m:t>
                          </m:r>
                          <m:r>
                            <a:rPr lang="en-US" altLang="zh-CN" b="0" i="1" smtClean="0">
                              <a:latin typeface="Cambria Math" panose="02040503050406030204" pitchFamily="18" charset="0"/>
                              <a:cs typeface="+mn-ea"/>
                              <a:sym typeface="+mn-lt"/>
                            </a:rPr>
                            <m:t>𝑧</m:t>
                          </m:r>
                        </m:e>
                        <m:sub>
                          <m:r>
                            <a:rPr lang="en-US" altLang="zh-CN" b="0" i="1" smtClean="0">
                              <a:latin typeface="Cambria Math" panose="02040503050406030204" pitchFamily="18" charset="0"/>
                              <a:cs typeface="+mn-ea"/>
                              <a:sym typeface="+mn-lt"/>
                            </a:rPr>
                            <m:t>2</m:t>
                          </m:r>
                        </m:sub>
                      </m:sSub>
                      <m:r>
                        <a:rPr lang="en-US" altLang="zh-CN" b="0" i="1" smtClean="0">
                          <a:latin typeface="Cambria Math" panose="02040503050406030204" pitchFamily="18" charset="0"/>
                          <a:cs typeface="+mn-ea"/>
                          <a:sym typeface="+mn-lt"/>
                        </a:rPr>
                        <m:t>+</m:t>
                      </m:r>
                      <m:sSub>
                        <m:sSubPr>
                          <m:ctrlPr>
                            <a:rPr lang="en-US" altLang="zh-CN" b="0" i="1" smtClean="0">
                              <a:latin typeface="Cambria Math" panose="02040503050406030204" pitchFamily="18" charset="0"/>
                              <a:cs typeface="+mn-ea"/>
                              <a:sym typeface="+mn-lt"/>
                            </a:rPr>
                          </m:ctrlPr>
                        </m:sSubPr>
                        <m:e>
                          <m:r>
                            <a:rPr lang="en-US" altLang="zh-CN" b="0" i="1" smtClean="0">
                              <a:latin typeface="Cambria Math" panose="02040503050406030204" pitchFamily="18" charset="0"/>
                              <a:cs typeface="+mn-ea"/>
                              <a:sym typeface="+mn-lt"/>
                            </a:rPr>
                            <m:t>𝑧</m:t>
                          </m:r>
                        </m:e>
                        <m:sub>
                          <m:r>
                            <a:rPr lang="en-US" altLang="zh-CN" b="0" i="1" smtClean="0">
                              <a:latin typeface="Cambria Math" panose="02040503050406030204" pitchFamily="18" charset="0"/>
                              <a:cs typeface="+mn-ea"/>
                              <a:sym typeface="+mn-lt"/>
                            </a:rPr>
                            <m:t>3</m:t>
                          </m:r>
                        </m:sub>
                      </m:sSub>
                      <m:r>
                        <a:rPr lang="en-US" altLang="zh-CN" b="0" i="1" smtClean="0">
                          <a:latin typeface="Cambria Math" panose="02040503050406030204" pitchFamily="18" charset="0"/>
                          <a:cs typeface="+mn-ea"/>
                          <a:sym typeface="+mn-lt"/>
                        </a:rPr>
                        <m:t>)</m:t>
                      </m:r>
                    </m:oMath>
                  </m:oMathPara>
                </a14:m>
                <a:endParaRPr lang="en-US" altLang="zh-CN" b="1" dirty="0"/>
              </a:p>
              <a:p>
                <a:pPr marL="457200" lvl="1" indent="0">
                  <a:lnSpc>
                    <a:spcPct val="150000"/>
                  </a:lnSpc>
                  <a:buNone/>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cs typeface="+mn-ea"/>
                              <a:sym typeface="+mn-lt"/>
                            </a:rPr>
                          </m:ctrlPr>
                        </m:sSubPr>
                        <m:e>
                          <m:r>
                            <a:rPr lang="en-US" altLang="zh-CN" b="0" i="1" smtClean="0">
                              <a:latin typeface="Cambria Math" panose="02040503050406030204" pitchFamily="18" charset="0"/>
                              <a:cs typeface="+mn-ea"/>
                              <a:sym typeface="+mn-lt"/>
                            </a:rPr>
                            <m:t>𝑔</m:t>
                          </m:r>
                        </m:e>
                        <m:sub>
                          <m:r>
                            <a:rPr lang="en-US" altLang="zh-CN" b="0" i="1" smtClean="0">
                              <a:latin typeface="Cambria Math" panose="02040503050406030204" pitchFamily="18" charset="0"/>
                              <a:cs typeface="+mn-ea"/>
                              <a:sym typeface="+mn-lt"/>
                            </a:rPr>
                            <m:t>𝑥</m:t>
                          </m:r>
                        </m:sub>
                      </m:sSub>
                      <m:r>
                        <a:rPr lang="en-US" altLang="zh-CN" b="0" i="1" smtClean="0">
                          <a:latin typeface="Cambria Math" panose="02040503050406030204" pitchFamily="18" charset="0"/>
                          <a:cs typeface="+mn-ea"/>
                          <a:sym typeface="+mn-lt"/>
                        </a:rPr>
                        <m:t>=(</m:t>
                      </m:r>
                      <m:sSub>
                        <m:sSubPr>
                          <m:ctrlPr>
                            <a:rPr lang="en-US" altLang="zh-CN" b="0" i="1" smtClean="0">
                              <a:latin typeface="Cambria Math" panose="02040503050406030204" pitchFamily="18" charset="0"/>
                              <a:cs typeface="+mn-ea"/>
                              <a:sym typeface="+mn-lt"/>
                            </a:rPr>
                          </m:ctrlPr>
                        </m:sSubPr>
                        <m:e>
                          <m:r>
                            <a:rPr lang="en-US" altLang="zh-CN" b="0" i="1" smtClean="0">
                              <a:latin typeface="Cambria Math" panose="02040503050406030204" pitchFamily="18" charset="0"/>
                              <a:cs typeface="+mn-ea"/>
                              <a:sym typeface="+mn-lt"/>
                            </a:rPr>
                            <m:t>𝑧</m:t>
                          </m:r>
                        </m:e>
                        <m:sub>
                          <m:r>
                            <a:rPr lang="en-US" altLang="zh-CN" b="0" i="1" smtClean="0">
                              <a:latin typeface="Cambria Math" panose="02040503050406030204" pitchFamily="18" charset="0"/>
                              <a:cs typeface="+mn-ea"/>
                              <a:sym typeface="+mn-lt"/>
                            </a:rPr>
                            <m:t>3</m:t>
                          </m:r>
                        </m:sub>
                      </m:sSub>
                      <m:r>
                        <a:rPr lang="en-US" altLang="zh-CN" b="0" i="1" smtClean="0">
                          <a:latin typeface="Cambria Math" panose="02040503050406030204" pitchFamily="18" charset="0"/>
                          <a:cs typeface="+mn-ea"/>
                          <a:sym typeface="+mn-lt"/>
                        </a:rPr>
                        <m:t>+</m:t>
                      </m:r>
                      <m:sSub>
                        <m:sSubPr>
                          <m:ctrlPr>
                            <a:rPr lang="en-US" altLang="zh-CN" b="0" i="1" smtClean="0">
                              <a:latin typeface="Cambria Math" panose="02040503050406030204" pitchFamily="18" charset="0"/>
                              <a:cs typeface="+mn-ea"/>
                              <a:sym typeface="+mn-lt"/>
                            </a:rPr>
                          </m:ctrlPr>
                        </m:sSubPr>
                        <m:e>
                          <m:r>
                            <a:rPr lang="en-US" altLang="zh-CN" b="0" i="1" smtClean="0">
                              <a:latin typeface="Cambria Math" panose="02040503050406030204" pitchFamily="18" charset="0"/>
                              <a:cs typeface="+mn-ea"/>
                              <a:sym typeface="+mn-lt"/>
                            </a:rPr>
                            <m:t>2</m:t>
                          </m:r>
                          <m:r>
                            <a:rPr lang="en-US" altLang="zh-CN" b="0" i="1" smtClean="0">
                              <a:latin typeface="Cambria Math" panose="02040503050406030204" pitchFamily="18" charset="0"/>
                              <a:cs typeface="+mn-ea"/>
                              <a:sym typeface="+mn-lt"/>
                            </a:rPr>
                            <m:t>𝑧</m:t>
                          </m:r>
                        </m:e>
                        <m:sub>
                          <m:r>
                            <a:rPr lang="en-US" altLang="zh-CN" b="0" i="1" smtClean="0">
                              <a:latin typeface="Cambria Math" panose="02040503050406030204" pitchFamily="18" charset="0"/>
                              <a:cs typeface="+mn-ea"/>
                              <a:sym typeface="+mn-lt"/>
                            </a:rPr>
                            <m:t>6</m:t>
                          </m:r>
                        </m:sub>
                      </m:sSub>
                      <m:r>
                        <a:rPr lang="en-US" altLang="zh-CN" b="0" i="1" smtClean="0">
                          <a:latin typeface="Cambria Math" panose="02040503050406030204" pitchFamily="18" charset="0"/>
                          <a:cs typeface="+mn-ea"/>
                          <a:sym typeface="+mn-lt"/>
                        </a:rPr>
                        <m:t>+</m:t>
                      </m:r>
                      <m:sSub>
                        <m:sSubPr>
                          <m:ctrlPr>
                            <a:rPr lang="en-US" altLang="zh-CN" b="0" i="1" smtClean="0">
                              <a:latin typeface="Cambria Math" panose="02040503050406030204" pitchFamily="18" charset="0"/>
                              <a:cs typeface="+mn-ea"/>
                              <a:sym typeface="+mn-lt"/>
                            </a:rPr>
                          </m:ctrlPr>
                        </m:sSubPr>
                        <m:e>
                          <m:r>
                            <a:rPr lang="en-US" altLang="zh-CN" b="0" i="1" smtClean="0">
                              <a:latin typeface="Cambria Math" panose="02040503050406030204" pitchFamily="18" charset="0"/>
                              <a:cs typeface="+mn-ea"/>
                              <a:sym typeface="+mn-lt"/>
                            </a:rPr>
                            <m:t>𝑧</m:t>
                          </m:r>
                        </m:e>
                        <m:sub>
                          <m:r>
                            <a:rPr lang="en-US" altLang="zh-CN" b="0" i="1" smtClean="0">
                              <a:latin typeface="Cambria Math" panose="02040503050406030204" pitchFamily="18" charset="0"/>
                              <a:cs typeface="+mn-ea"/>
                              <a:sym typeface="+mn-lt"/>
                            </a:rPr>
                            <m:t>9</m:t>
                          </m:r>
                        </m:sub>
                      </m:sSub>
                      <m:r>
                        <a:rPr lang="en-US" altLang="zh-CN" b="0" i="1" smtClean="0">
                          <a:latin typeface="Cambria Math" panose="02040503050406030204" pitchFamily="18" charset="0"/>
                          <a:cs typeface="+mn-ea"/>
                          <a:sym typeface="+mn-lt"/>
                        </a:rPr>
                        <m:t>)−(</m:t>
                      </m:r>
                      <m:sSub>
                        <m:sSubPr>
                          <m:ctrlPr>
                            <a:rPr lang="en-US" altLang="zh-CN" b="0" i="1" smtClean="0">
                              <a:latin typeface="Cambria Math" panose="02040503050406030204" pitchFamily="18" charset="0"/>
                              <a:cs typeface="+mn-ea"/>
                              <a:sym typeface="+mn-lt"/>
                            </a:rPr>
                          </m:ctrlPr>
                        </m:sSubPr>
                        <m:e>
                          <m:r>
                            <a:rPr lang="en-US" altLang="zh-CN" b="0" i="1" smtClean="0">
                              <a:latin typeface="Cambria Math" panose="02040503050406030204" pitchFamily="18" charset="0"/>
                              <a:cs typeface="+mn-ea"/>
                              <a:sym typeface="+mn-lt"/>
                            </a:rPr>
                            <m:t>𝑧</m:t>
                          </m:r>
                        </m:e>
                        <m:sub>
                          <m:r>
                            <a:rPr lang="en-US" altLang="zh-CN" b="0" i="1" smtClean="0">
                              <a:latin typeface="Cambria Math" panose="02040503050406030204" pitchFamily="18" charset="0"/>
                              <a:cs typeface="+mn-ea"/>
                              <a:sym typeface="+mn-lt"/>
                            </a:rPr>
                            <m:t>1</m:t>
                          </m:r>
                        </m:sub>
                      </m:sSub>
                      <m:r>
                        <a:rPr lang="en-US" altLang="zh-CN" b="0" i="1" smtClean="0">
                          <a:latin typeface="Cambria Math" panose="02040503050406030204" pitchFamily="18" charset="0"/>
                          <a:cs typeface="+mn-ea"/>
                          <a:sym typeface="+mn-lt"/>
                        </a:rPr>
                        <m:t>+2</m:t>
                      </m:r>
                      <m:sSub>
                        <m:sSubPr>
                          <m:ctrlPr>
                            <a:rPr lang="en-US" altLang="zh-CN" b="0" i="1" smtClean="0">
                              <a:latin typeface="Cambria Math" panose="02040503050406030204" pitchFamily="18" charset="0"/>
                              <a:cs typeface="+mn-ea"/>
                              <a:sym typeface="+mn-lt"/>
                            </a:rPr>
                          </m:ctrlPr>
                        </m:sSubPr>
                        <m:e>
                          <m:r>
                            <a:rPr lang="en-US" altLang="zh-CN" b="0" i="1" smtClean="0">
                              <a:latin typeface="Cambria Math" panose="02040503050406030204" pitchFamily="18" charset="0"/>
                              <a:cs typeface="+mn-ea"/>
                              <a:sym typeface="+mn-lt"/>
                            </a:rPr>
                            <m:t>𝑧</m:t>
                          </m:r>
                        </m:e>
                        <m:sub>
                          <m:r>
                            <a:rPr lang="en-US" altLang="zh-CN" b="0" i="1" smtClean="0">
                              <a:latin typeface="Cambria Math" panose="02040503050406030204" pitchFamily="18" charset="0"/>
                              <a:cs typeface="+mn-ea"/>
                              <a:sym typeface="+mn-lt"/>
                            </a:rPr>
                            <m:t>4</m:t>
                          </m:r>
                        </m:sub>
                      </m:sSub>
                      <m:r>
                        <a:rPr lang="en-US" altLang="zh-CN" b="0" i="1" smtClean="0">
                          <a:latin typeface="Cambria Math" panose="02040503050406030204" pitchFamily="18" charset="0"/>
                          <a:cs typeface="+mn-ea"/>
                          <a:sym typeface="+mn-lt"/>
                        </a:rPr>
                        <m:t>+</m:t>
                      </m:r>
                      <m:sSub>
                        <m:sSubPr>
                          <m:ctrlPr>
                            <a:rPr lang="en-US" altLang="zh-CN" b="0" i="1" smtClean="0">
                              <a:latin typeface="Cambria Math" panose="02040503050406030204" pitchFamily="18" charset="0"/>
                              <a:cs typeface="+mn-ea"/>
                              <a:sym typeface="+mn-lt"/>
                            </a:rPr>
                          </m:ctrlPr>
                        </m:sSubPr>
                        <m:e>
                          <m:r>
                            <a:rPr lang="en-US" altLang="zh-CN" b="0" i="1" smtClean="0">
                              <a:latin typeface="Cambria Math" panose="02040503050406030204" pitchFamily="18" charset="0"/>
                              <a:cs typeface="+mn-ea"/>
                              <a:sym typeface="+mn-lt"/>
                            </a:rPr>
                            <m:t>𝑧</m:t>
                          </m:r>
                        </m:e>
                        <m:sub>
                          <m:r>
                            <a:rPr lang="en-US" altLang="zh-CN" b="0" i="1" smtClean="0">
                              <a:latin typeface="Cambria Math" panose="02040503050406030204" pitchFamily="18" charset="0"/>
                              <a:cs typeface="+mn-ea"/>
                              <a:sym typeface="+mn-lt"/>
                            </a:rPr>
                            <m:t>7</m:t>
                          </m:r>
                        </m:sub>
                      </m:sSub>
                      <m:r>
                        <a:rPr lang="en-US" altLang="zh-CN" b="0" i="1" smtClean="0">
                          <a:latin typeface="Cambria Math" panose="02040503050406030204" pitchFamily="18" charset="0"/>
                          <a:cs typeface="+mn-ea"/>
                          <a:sym typeface="+mn-lt"/>
                        </a:rPr>
                        <m:t>)</m:t>
                      </m:r>
                    </m:oMath>
                  </m:oMathPara>
                </a14:m>
                <a:endParaRPr lang="en-US" altLang="zh-CN" b="0" dirty="0">
                  <a:cs typeface="+mn-ea"/>
                  <a:sym typeface="+mn-lt"/>
                </a:endParaRPr>
              </a:p>
              <a:p>
                <a:pPr marL="457200" lvl="1" indent="0">
                  <a:lnSpc>
                    <a:spcPct val="150000"/>
                  </a:lnSpc>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mn-ea"/>
                          <a:sym typeface="+mn-lt"/>
                        </a:rPr>
                        <m:t>𝑀</m:t>
                      </m:r>
                      <m:r>
                        <a:rPr lang="en-US" altLang="zh-CN" b="0" i="1" smtClean="0">
                          <a:latin typeface="Cambria Math" panose="02040503050406030204" pitchFamily="18" charset="0"/>
                          <a:cs typeface="+mn-ea"/>
                          <a:sym typeface="+mn-lt"/>
                        </a:rPr>
                        <m:t>=</m:t>
                      </m:r>
                      <m:d>
                        <m:dPr>
                          <m:begChr m:val="|"/>
                          <m:endChr m:val="|"/>
                          <m:ctrlPr>
                            <a:rPr lang="en-US" altLang="zh-CN" b="0" i="1" smtClean="0">
                              <a:latin typeface="Cambria Math" panose="02040503050406030204" pitchFamily="18" charset="0"/>
                              <a:cs typeface="+mn-ea"/>
                              <a:sym typeface="+mn-lt"/>
                            </a:rPr>
                          </m:ctrlPr>
                        </m:dPr>
                        <m:e>
                          <m:sSub>
                            <m:sSubPr>
                              <m:ctrlPr>
                                <a:rPr lang="en-US" altLang="zh-CN" i="1" smtClean="0">
                                  <a:latin typeface="Cambria Math" panose="02040503050406030204" pitchFamily="18" charset="0"/>
                                  <a:cs typeface="+mn-ea"/>
                                  <a:sym typeface="+mn-lt"/>
                                </a:rPr>
                              </m:ctrlPr>
                            </m:sSubPr>
                            <m:e>
                              <m:r>
                                <a:rPr lang="en-US" altLang="zh-CN" b="0" i="1" smtClean="0">
                                  <a:latin typeface="Cambria Math" panose="02040503050406030204" pitchFamily="18" charset="0"/>
                                  <a:cs typeface="+mn-ea"/>
                                  <a:sym typeface="+mn-lt"/>
                                </a:rPr>
                                <m:t>𝑔</m:t>
                              </m:r>
                            </m:e>
                            <m:sub>
                              <m:r>
                                <a:rPr lang="en-US" altLang="zh-CN" b="0" i="1" smtClean="0">
                                  <a:latin typeface="Cambria Math" panose="02040503050406030204" pitchFamily="18" charset="0"/>
                                  <a:cs typeface="+mn-ea"/>
                                  <a:sym typeface="+mn-lt"/>
                                </a:rPr>
                                <m:t>𝑥</m:t>
                              </m:r>
                            </m:sub>
                          </m:sSub>
                        </m:e>
                      </m:d>
                      <m:r>
                        <a:rPr lang="en-US" altLang="zh-CN" b="0" i="1" smtClean="0">
                          <a:latin typeface="Cambria Math" panose="02040503050406030204" pitchFamily="18" charset="0"/>
                          <a:cs typeface="+mn-ea"/>
                          <a:sym typeface="+mn-lt"/>
                        </a:rPr>
                        <m:t>+</m:t>
                      </m:r>
                      <m:d>
                        <m:dPr>
                          <m:begChr m:val="|"/>
                          <m:endChr m:val="|"/>
                          <m:ctrlPr>
                            <a:rPr lang="en-US" altLang="zh-CN" b="0" i="1" smtClean="0">
                              <a:latin typeface="Cambria Math" panose="02040503050406030204" pitchFamily="18" charset="0"/>
                              <a:cs typeface="+mn-ea"/>
                              <a:sym typeface="+mn-lt"/>
                            </a:rPr>
                          </m:ctrlPr>
                        </m:dPr>
                        <m:e>
                          <m:sSub>
                            <m:sSubPr>
                              <m:ctrlPr>
                                <a:rPr lang="en-US" altLang="zh-CN" i="1" smtClean="0">
                                  <a:latin typeface="Cambria Math" panose="02040503050406030204" pitchFamily="18" charset="0"/>
                                  <a:cs typeface="+mn-ea"/>
                                  <a:sym typeface="+mn-lt"/>
                                </a:rPr>
                              </m:ctrlPr>
                            </m:sSubPr>
                            <m:e>
                              <m:r>
                                <a:rPr lang="en-US" altLang="zh-CN" b="0" i="1" smtClean="0">
                                  <a:latin typeface="Cambria Math" panose="02040503050406030204" pitchFamily="18" charset="0"/>
                                  <a:cs typeface="+mn-ea"/>
                                  <a:sym typeface="+mn-lt"/>
                                </a:rPr>
                                <m:t>𝑔</m:t>
                              </m:r>
                            </m:e>
                            <m:sub>
                              <m:r>
                                <a:rPr lang="en-US" altLang="zh-CN" b="0" i="1" smtClean="0">
                                  <a:latin typeface="Cambria Math" panose="02040503050406030204" pitchFamily="18" charset="0"/>
                                  <a:cs typeface="+mn-ea"/>
                                  <a:sym typeface="+mn-lt"/>
                                </a:rPr>
                                <m:t>𝑦</m:t>
                              </m:r>
                            </m:sub>
                          </m:sSub>
                        </m:e>
                      </m:d>
                    </m:oMath>
                  </m:oMathPara>
                </a14:m>
                <a:endParaRPr lang="zh-CN" altLang="en-US" b="1" dirty="0"/>
              </a:p>
              <a:p>
                <a:pPr lvl="1">
                  <a:lnSpc>
                    <a:spcPct val="150000"/>
                  </a:lnSpc>
                </a:pPr>
                <a:endParaRPr lang="zh-CN" altLang="en-US" b="1" dirty="0"/>
              </a:p>
            </p:txBody>
          </p:sp>
        </mc:Choice>
        <mc:Fallback xmlns="">
          <p:sp>
            <p:nvSpPr>
              <p:cNvPr id="3" name="Content Placeholder 2">
                <a:extLst>
                  <a:ext uri="{FF2B5EF4-FFF2-40B4-BE49-F238E27FC236}">
                    <a16:creationId xmlns:a16="http://schemas.microsoft.com/office/drawing/2014/main" id="{547B8E0C-20AD-4CD2-AA08-7F9978D1C974}"/>
                  </a:ext>
                </a:extLst>
              </p:cNvPr>
              <p:cNvSpPr>
                <a:spLocks noGrp="1" noRot="1" noChangeAspect="1" noMove="1" noResize="1" noEditPoints="1" noAdjustHandles="1" noChangeArrowheads="1" noChangeShapeType="1" noTextEdit="1"/>
              </p:cNvSpPr>
              <p:nvPr>
                <p:ph idx="1"/>
              </p:nvPr>
            </p:nvSpPr>
            <p:spPr>
              <a:xfrm>
                <a:off x="838200" y="1825625"/>
                <a:ext cx="5829304" cy="4351338"/>
              </a:xfrm>
              <a:blipFill>
                <a:blip r:embed="rId2"/>
                <a:stretch>
                  <a:fillRect l="-1883"/>
                </a:stretch>
              </a:blipFill>
            </p:spPr>
            <p:txBody>
              <a:bodyPr/>
              <a:lstStyle/>
              <a:p>
                <a:r>
                  <a:rPr lang="zh-CN" altLang="en-US">
                    <a:noFill/>
                  </a:rPr>
                  <a:t> </a:t>
                </a:r>
              </a:p>
            </p:txBody>
          </p:sp>
        </mc:Fallback>
      </mc:AlternateContent>
      <p:pic>
        <p:nvPicPr>
          <p:cNvPr id="6" name="Picture 5">
            <a:extLst>
              <a:ext uri="{FF2B5EF4-FFF2-40B4-BE49-F238E27FC236}">
                <a16:creationId xmlns:a16="http://schemas.microsoft.com/office/drawing/2014/main" id="{0E3F68EA-6484-4214-8000-7999987197A9}"/>
              </a:ext>
            </a:extLst>
          </p:cNvPr>
          <p:cNvPicPr>
            <a:picLocks noChangeAspect="1"/>
          </p:cNvPicPr>
          <p:nvPr/>
        </p:nvPicPr>
        <p:blipFill>
          <a:blip r:embed="rId3"/>
          <a:stretch>
            <a:fillRect/>
          </a:stretch>
        </p:blipFill>
        <p:spPr>
          <a:xfrm>
            <a:off x="8067503" y="1528908"/>
            <a:ext cx="2428571" cy="2333333"/>
          </a:xfrm>
          <a:prstGeom prst="rect">
            <a:avLst/>
          </a:prstGeom>
        </p:spPr>
      </p:pic>
      <p:pic>
        <p:nvPicPr>
          <p:cNvPr id="4" name="Picture 3">
            <a:extLst>
              <a:ext uri="{FF2B5EF4-FFF2-40B4-BE49-F238E27FC236}">
                <a16:creationId xmlns:a16="http://schemas.microsoft.com/office/drawing/2014/main" id="{786C36AF-4AD4-480A-A987-680C32A0F0B8}"/>
              </a:ext>
            </a:extLst>
          </p:cNvPr>
          <p:cNvPicPr>
            <a:picLocks noChangeAspect="1"/>
          </p:cNvPicPr>
          <p:nvPr/>
        </p:nvPicPr>
        <p:blipFill>
          <a:blip r:embed="rId4"/>
          <a:stretch>
            <a:fillRect/>
          </a:stretch>
        </p:blipFill>
        <p:spPr>
          <a:xfrm>
            <a:off x="6762740" y="4267187"/>
            <a:ext cx="5038095" cy="2123810"/>
          </a:xfrm>
          <a:prstGeom prst="rect">
            <a:avLst/>
          </a:prstGeom>
        </p:spPr>
      </p:pic>
    </p:spTree>
    <p:extLst>
      <p:ext uri="{BB962C8B-B14F-4D97-AF65-F5344CB8AC3E}">
        <p14:creationId xmlns:p14="http://schemas.microsoft.com/office/powerpoint/2010/main" val="398942968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92AC6-93B7-4FE9-B252-EA9DA1FB6313}"/>
              </a:ext>
            </a:extLst>
          </p:cNvPr>
          <p:cNvSpPr>
            <a:spLocks noGrp="1"/>
          </p:cNvSpPr>
          <p:nvPr>
            <p:ph type="title"/>
          </p:nvPr>
        </p:nvSpPr>
        <p:spPr/>
        <p:txBody>
          <a:bodyPr/>
          <a:lstStyle/>
          <a:p>
            <a:r>
              <a:rPr lang="zh-CN" altLang="en-US" b="1" dirty="0"/>
              <a:t>梯度算子</a:t>
            </a:r>
            <a:endParaRPr lang="zh-CN" altLang="en-US" dirty="0"/>
          </a:p>
        </p:txBody>
      </p:sp>
      <p:sp>
        <p:nvSpPr>
          <p:cNvPr id="3" name="Content Placeholder 2">
            <a:extLst>
              <a:ext uri="{FF2B5EF4-FFF2-40B4-BE49-F238E27FC236}">
                <a16:creationId xmlns:a16="http://schemas.microsoft.com/office/drawing/2014/main" id="{CF4212AA-D357-4FE5-88A5-1301E1592495}"/>
              </a:ext>
            </a:extLst>
          </p:cNvPr>
          <p:cNvSpPr>
            <a:spLocks noGrp="1"/>
          </p:cNvSpPr>
          <p:nvPr>
            <p:ph idx="1"/>
          </p:nvPr>
        </p:nvSpPr>
        <p:spPr/>
        <p:txBody>
          <a:bodyPr/>
          <a:lstStyle/>
          <a:p>
            <a:endParaRPr lang="zh-CN" altLang="en-US" dirty="0"/>
          </a:p>
        </p:txBody>
      </p:sp>
      <p:pic>
        <p:nvPicPr>
          <p:cNvPr id="4" name="Picture 3">
            <a:extLst>
              <a:ext uri="{FF2B5EF4-FFF2-40B4-BE49-F238E27FC236}">
                <a16:creationId xmlns:a16="http://schemas.microsoft.com/office/drawing/2014/main" id="{1418C4CD-231A-4FD9-A9BC-985CE68F0025}"/>
              </a:ext>
            </a:extLst>
          </p:cNvPr>
          <p:cNvPicPr>
            <a:picLocks noChangeAspect="1"/>
          </p:cNvPicPr>
          <p:nvPr/>
        </p:nvPicPr>
        <p:blipFill>
          <a:blip r:embed="rId2"/>
          <a:stretch>
            <a:fillRect/>
          </a:stretch>
        </p:blipFill>
        <p:spPr>
          <a:xfrm>
            <a:off x="2176462" y="1690688"/>
            <a:ext cx="7839075" cy="4772025"/>
          </a:xfrm>
          <a:prstGeom prst="rect">
            <a:avLst/>
          </a:prstGeom>
        </p:spPr>
      </p:pic>
    </p:spTree>
    <p:extLst>
      <p:ext uri="{BB962C8B-B14F-4D97-AF65-F5344CB8AC3E}">
        <p14:creationId xmlns:p14="http://schemas.microsoft.com/office/powerpoint/2010/main" val="25186059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14DA1-378B-407A-AADD-23DC29766DD1}"/>
              </a:ext>
            </a:extLst>
          </p:cNvPr>
          <p:cNvSpPr>
            <a:spLocks noGrp="1"/>
          </p:cNvSpPr>
          <p:nvPr>
            <p:ph type="title"/>
          </p:nvPr>
        </p:nvSpPr>
        <p:spPr/>
        <p:txBody>
          <a:bodyPr/>
          <a:lstStyle/>
          <a:p>
            <a:r>
              <a:rPr lang="zh-CN" altLang="en-US" b="1" dirty="0"/>
              <a:t>梯度算子</a:t>
            </a:r>
            <a:endParaRPr lang="zh-CN" altLang="en-US" dirty="0"/>
          </a:p>
        </p:txBody>
      </p:sp>
      <p:pic>
        <p:nvPicPr>
          <p:cNvPr id="4" name="Picture 3">
            <a:extLst>
              <a:ext uri="{FF2B5EF4-FFF2-40B4-BE49-F238E27FC236}">
                <a16:creationId xmlns:a16="http://schemas.microsoft.com/office/drawing/2014/main" id="{E2498F7B-9F37-47AB-9D0A-491BF4F7DAC0}"/>
              </a:ext>
            </a:extLst>
          </p:cNvPr>
          <p:cNvPicPr>
            <a:picLocks noChangeAspect="1"/>
          </p:cNvPicPr>
          <p:nvPr/>
        </p:nvPicPr>
        <p:blipFill>
          <a:blip r:embed="rId2"/>
          <a:stretch>
            <a:fillRect/>
          </a:stretch>
        </p:blipFill>
        <p:spPr>
          <a:xfrm>
            <a:off x="2166937" y="2013853"/>
            <a:ext cx="7858125" cy="4752975"/>
          </a:xfrm>
          <a:prstGeom prst="rect">
            <a:avLst/>
          </a:prstGeom>
        </p:spPr>
      </p:pic>
      <p:sp>
        <p:nvSpPr>
          <p:cNvPr id="5" name="Rectangle 4">
            <a:extLst>
              <a:ext uri="{FF2B5EF4-FFF2-40B4-BE49-F238E27FC236}">
                <a16:creationId xmlns:a16="http://schemas.microsoft.com/office/drawing/2014/main" id="{A58A6FDB-8754-405E-BE04-A747CEF2BB1E}"/>
              </a:ext>
            </a:extLst>
          </p:cNvPr>
          <p:cNvSpPr/>
          <p:nvPr/>
        </p:nvSpPr>
        <p:spPr>
          <a:xfrm>
            <a:off x="2305050" y="1367522"/>
            <a:ext cx="2895600" cy="646331"/>
          </a:xfrm>
          <a:prstGeom prst="rect">
            <a:avLst/>
          </a:prstGeom>
        </p:spPr>
        <p:txBody>
          <a:bodyPr wrap="square">
            <a:spAutoFit/>
          </a:bodyPr>
          <a:lstStyle/>
          <a:p>
            <a:r>
              <a:rPr lang="zh-CN" altLang="en-US" b="1" dirty="0">
                <a:solidFill>
                  <a:srgbClr val="EE2B0A"/>
                </a:solidFill>
                <a:latin typeface="SimSun" panose="02010600030101010101" pitchFamily="2" charset="-122"/>
                <a:ea typeface="SimSun" panose="02010600030101010101" pitchFamily="2" charset="-122"/>
              </a:rPr>
              <a:t>原图像经过</a:t>
            </a:r>
            <a:r>
              <a:rPr lang="en-US" altLang="zh-CN" b="1" dirty="0">
                <a:solidFill>
                  <a:srgbClr val="EE2B0A"/>
                </a:solidFill>
                <a:latin typeface="TimesNewRomanPSMT"/>
              </a:rPr>
              <a:t>5</a:t>
            </a:r>
            <a:r>
              <a:rPr lang="en-US" altLang="zh-CN" b="1" dirty="0">
                <a:solidFill>
                  <a:srgbClr val="EE2B0A"/>
                </a:solidFill>
                <a:latin typeface="SimSun" panose="02010600030101010101" pitchFamily="2" charset="-122"/>
                <a:ea typeface="SimSun" panose="02010600030101010101" pitchFamily="2" charset="-122"/>
              </a:rPr>
              <a:t>× </a:t>
            </a:r>
            <a:r>
              <a:rPr lang="en-US" altLang="zh-CN" b="1" dirty="0">
                <a:solidFill>
                  <a:srgbClr val="EE2B0A"/>
                </a:solidFill>
                <a:latin typeface="TimesNewRomanPSMT"/>
              </a:rPr>
              <a:t>5</a:t>
            </a:r>
            <a:r>
              <a:rPr lang="zh-CN" altLang="en-US" b="1" dirty="0">
                <a:solidFill>
                  <a:srgbClr val="EE2B0A"/>
                </a:solidFill>
                <a:latin typeface="SimSun" panose="02010600030101010101" pitchFamily="2" charset="-122"/>
                <a:ea typeface="SimSun" panose="02010600030101010101" pitchFamily="2" charset="-122"/>
              </a:rPr>
              <a:t>的均值滤波器进行平滑处理</a:t>
            </a:r>
            <a:r>
              <a:rPr lang="zh-CN" altLang="en-US" b="1" dirty="0"/>
              <a:t> </a:t>
            </a:r>
          </a:p>
        </p:txBody>
      </p:sp>
    </p:spTree>
    <p:extLst>
      <p:ext uri="{BB962C8B-B14F-4D97-AF65-F5344CB8AC3E}">
        <p14:creationId xmlns:p14="http://schemas.microsoft.com/office/powerpoint/2010/main" val="334490166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D2318-ED75-4635-A415-A4E1A9F5A71D}"/>
              </a:ext>
            </a:extLst>
          </p:cNvPr>
          <p:cNvSpPr>
            <a:spLocks noGrp="1"/>
          </p:cNvSpPr>
          <p:nvPr>
            <p:ph type="title"/>
          </p:nvPr>
        </p:nvSpPr>
        <p:spPr/>
        <p:txBody>
          <a:bodyPr/>
          <a:lstStyle/>
          <a:p>
            <a:r>
              <a:rPr lang="zh-CN" altLang="en-US" b="1" dirty="0"/>
              <a:t>更先进的边缘检测算法</a:t>
            </a:r>
          </a:p>
        </p:txBody>
      </p:sp>
      <p:sp>
        <p:nvSpPr>
          <p:cNvPr id="3" name="Content Placeholder 2">
            <a:extLst>
              <a:ext uri="{FF2B5EF4-FFF2-40B4-BE49-F238E27FC236}">
                <a16:creationId xmlns:a16="http://schemas.microsoft.com/office/drawing/2014/main" id="{60444A8D-F242-44D9-816D-23908CD8097C}"/>
              </a:ext>
            </a:extLst>
          </p:cNvPr>
          <p:cNvSpPr>
            <a:spLocks noGrp="1"/>
          </p:cNvSpPr>
          <p:nvPr>
            <p:ph idx="1"/>
          </p:nvPr>
        </p:nvSpPr>
        <p:spPr/>
        <p:txBody>
          <a:bodyPr/>
          <a:lstStyle/>
          <a:p>
            <a:pPr>
              <a:lnSpc>
                <a:spcPct val="150000"/>
              </a:lnSpc>
            </a:pPr>
            <a:r>
              <a:rPr lang="zh-CN" altLang="en-US" dirty="0"/>
              <a:t>前面都是通过滤波器对图像进行滤波，</a:t>
            </a:r>
            <a:r>
              <a:rPr lang="zh-CN" altLang="en-US" b="1" dirty="0">
                <a:solidFill>
                  <a:srgbClr val="0070C0"/>
                </a:solidFill>
              </a:rPr>
              <a:t>未涉及边缘的特性和噪声</a:t>
            </a:r>
            <a:r>
              <a:rPr lang="zh-CN" altLang="en-US" dirty="0"/>
              <a:t>。</a:t>
            </a:r>
            <a:endParaRPr lang="en-US" altLang="zh-CN" dirty="0"/>
          </a:p>
          <a:p>
            <a:pPr>
              <a:lnSpc>
                <a:spcPct val="150000"/>
              </a:lnSpc>
            </a:pPr>
            <a:r>
              <a:rPr lang="en-US" altLang="zh-CN" dirty="0"/>
              <a:t>Marr-Hildreth</a:t>
            </a:r>
            <a:r>
              <a:rPr lang="zh-CN" altLang="en-US" dirty="0"/>
              <a:t>边缘检测算法</a:t>
            </a:r>
            <a:endParaRPr lang="en-US" altLang="zh-CN" dirty="0"/>
          </a:p>
          <a:p>
            <a:pPr>
              <a:lnSpc>
                <a:spcPct val="150000"/>
              </a:lnSpc>
            </a:pPr>
            <a:r>
              <a:rPr lang="en-US" altLang="zh-CN" dirty="0"/>
              <a:t>Canny</a:t>
            </a:r>
            <a:r>
              <a:rPr lang="zh-CN" altLang="en-US" dirty="0"/>
              <a:t>边缘检测算法</a:t>
            </a:r>
            <a:endParaRPr lang="en-US" altLang="zh-CN" dirty="0"/>
          </a:p>
        </p:txBody>
      </p:sp>
    </p:spTree>
    <p:extLst>
      <p:ext uri="{BB962C8B-B14F-4D97-AF65-F5344CB8AC3E}">
        <p14:creationId xmlns:p14="http://schemas.microsoft.com/office/powerpoint/2010/main" val="10744647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0098B-CA7A-4670-96E5-8A819933ED9A}"/>
              </a:ext>
            </a:extLst>
          </p:cNvPr>
          <p:cNvSpPr>
            <a:spLocks noGrp="1"/>
          </p:cNvSpPr>
          <p:nvPr>
            <p:ph type="title"/>
          </p:nvPr>
        </p:nvSpPr>
        <p:spPr/>
        <p:txBody>
          <a:bodyPr/>
          <a:lstStyle/>
          <a:p>
            <a:r>
              <a:rPr lang="en-US" altLang="zh-CN" b="1" dirty="0"/>
              <a:t>Marr-Hildreth</a:t>
            </a:r>
            <a:r>
              <a:rPr lang="zh-CN" altLang="en-US" b="1" dirty="0"/>
              <a:t>边缘检测算法</a:t>
            </a:r>
          </a:p>
        </p:txBody>
      </p:sp>
      <p:sp>
        <p:nvSpPr>
          <p:cNvPr id="3" name="Content Placeholder 2">
            <a:extLst>
              <a:ext uri="{FF2B5EF4-FFF2-40B4-BE49-F238E27FC236}">
                <a16:creationId xmlns:a16="http://schemas.microsoft.com/office/drawing/2014/main" id="{18B80D7D-1FCF-43A7-A722-AE65CA3B40B5}"/>
              </a:ext>
            </a:extLst>
          </p:cNvPr>
          <p:cNvSpPr>
            <a:spLocks noGrp="1"/>
          </p:cNvSpPr>
          <p:nvPr>
            <p:ph idx="1"/>
          </p:nvPr>
        </p:nvSpPr>
        <p:spPr>
          <a:xfrm>
            <a:off x="838199" y="1825625"/>
            <a:ext cx="10010776" cy="4351338"/>
          </a:xfrm>
        </p:spPr>
        <p:txBody>
          <a:bodyPr>
            <a:normAutofit/>
          </a:bodyPr>
          <a:lstStyle/>
          <a:p>
            <a:pPr>
              <a:lnSpc>
                <a:spcPct val="120000"/>
              </a:lnSpc>
            </a:pPr>
            <a:r>
              <a:rPr lang="zh-CN" altLang="en-US" sz="3200" b="1" dirty="0">
                <a:solidFill>
                  <a:srgbClr val="0070C0"/>
                </a:solidFill>
              </a:rPr>
              <a:t>主要思想：</a:t>
            </a:r>
            <a:endParaRPr lang="en-US" altLang="zh-CN" sz="3200" b="1" dirty="0">
              <a:solidFill>
                <a:srgbClr val="0070C0"/>
              </a:solidFill>
            </a:endParaRPr>
          </a:p>
          <a:p>
            <a:pPr lvl="1">
              <a:lnSpc>
                <a:spcPct val="120000"/>
              </a:lnSpc>
            </a:pPr>
            <a:r>
              <a:rPr lang="zh-CN" altLang="en-US" sz="2800" dirty="0"/>
              <a:t>灰度变化与图像尺度是相关的，检测需要使用不同大小的算子</a:t>
            </a:r>
            <a:endParaRPr lang="en-US" altLang="zh-CN" sz="2800" dirty="0"/>
          </a:p>
          <a:p>
            <a:pPr lvl="2">
              <a:lnSpc>
                <a:spcPct val="120000"/>
              </a:lnSpc>
            </a:pPr>
            <a:r>
              <a:rPr lang="zh-CN" altLang="en-US" sz="2400" dirty="0"/>
              <a:t>大算子检测模糊的边缘</a:t>
            </a:r>
            <a:endParaRPr lang="en-US" altLang="zh-CN" sz="2400" dirty="0"/>
          </a:p>
          <a:p>
            <a:pPr lvl="2">
              <a:lnSpc>
                <a:spcPct val="120000"/>
              </a:lnSpc>
            </a:pPr>
            <a:r>
              <a:rPr lang="zh-CN" altLang="en-US" sz="2400" dirty="0"/>
              <a:t>小算子检测清晰的边缘</a:t>
            </a:r>
            <a:endParaRPr lang="en-US" altLang="zh-CN" sz="2400" dirty="0"/>
          </a:p>
          <a:p>
            <a:pPr lvl="1">
              <a:lnSpc>
                <a:spcPct val="120000"/>
              </a:lnSpc>
            </a:pPr>
            <a:r>
              <a:rPr lang="zh-CN" altLang="en-US" sz="2800" dirty="0"/>
              <a:t>灰度突变在一阶导数中给出一个峰值或谷值，或等效地在二阶导数中过零点</a:t>
            </a:r>
            <a:endParaRPr lang="en-US" altLang="zh-CN" sz="2800" dirty="0"/>
          </a:p>
          <a:p>
            <a:pPr lvl="2">
              <a:lnSpc>
                <a:spcPct val="120000"/>
              </a:lnSpc>
            </a:pPr>
            <a:endParaRPr lang="zh-CN" altLang="en-US" sz="2400" dirty="0"/>
          </a:p>
        </p:txBody>
      </p:sp>
    </p:spTree>
    <p:extLst>
      <p:ext uri="{BB962C8B-B14F-4D97-AF65-F5344CB8AC3E}">
        <p14:creationId xmlns:p14="http://schemas.microsoft.com/office/powerpoint/2010/main" val="290211790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0098B-CA7A-4670-96E5-8A819933ED9A}"/>
              </a:ext>
            </a:extLst>
          </p:cNvPr>
          <p:cNvSpPr>
            <a:spLocks noGrp="1"/>
          </p:cNvSpPr>
          <p:nvPr>
            <p:ph type="title"/>
          </p:nvPr>
        </p:nvSpPr>
        <p:spPr/>
        <p:txBody>
          <a:bodyPr/>
          <a:lstStyle/>
          <a:p>
            <a:r>
              <a:rPr lang="en-US" altLang="zh-CN" b="1" dirty="0"/>
              <a:t>Marr-Hildreth</a:t>
            </a:r>
            <a:r>
              <a:rPr lang="zh-CN" altLang="en-US" b="1" dirty="0"/>
              <a:t>边缘检测算法</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8B80D7D-1FCF-43A7-A722-AE65CA3B40B5}"/>
                  </a:ext>
                </a:extLst>
              </p:cNvPr>
              <p:cNvSpPr>
                <a:spLocks noGrp="1"/>
              </p:cNvSpPr>
              <p:nvPr>
                <p:ph idx="1"/>
              </p:nvPr>
            </p:nvSpPr>
            <p:spPr>
              <a:xfrm>
                <a:off x="838198" y="1825625"/>
                <a:ext cx="5505451" cy="4351338"/>
              </a:xfrm>
            </p:spPr>
            <p:txBody>
              <a:bodyPr>
                <a:normAutofit/>
              </a:bodyPr>
              <a:lstStyle/>
              <a:p>
                <a:pPr>
                  <a:lnSpc>
                    <a:spcPct val="120000"/>
                  </a:lnSpc>
                </a:pPr>
                <a:r>
                  <a:rPr lang="zh-CN" altLang="en-US" sz="3200" b="1" dirty="0">
                    <a:solidFill>
                      <a:srgbClr val="0070C0"/>
                    </a:solidFill>
                  </a:rPr>
                  <a:t>高斯拉普拉斯算子（</a:t>
                </a:r>
                <a:r>
                  <a:rPr lang="en-US" altLang="zh-CN" sz="3200" b="1" dirty="0" err="1">
                    <a:solidFill>
                      <a:srgbClr val="0070C0"/>
                    </a:solidFill>
                  </a:rPr>
                  <a:t>LoG</a:t>
                </a:r>
                <a:r>
                  <a:rPr lang="zh-CN" altLang="en-US" sz="3200" b="1" dirty="0">
                    <a:solidFill>
                      <a:srgbClr val="0070C0"/>
                    </a:solidFill>
                  </a:rPr>
                  <a:t>）</a:t>
                </a:r>
                <a:endParaRPr lang="en-US" altLang="zh-CN" sz="3200" b="1" dirty="0">
                  <a:solidFill>
                    <a:srgbClr val="0070C0"/>
                  </a:solidFill>
                </a:endParaRPr>
              </a:p>
              <a:p>
                <a:pPr>
                  <a:lnSpc>
                    <a:spcPct val="120000"/>
                  </a:lnSpc>
                </a:pPr>
                <a14:m>
                  <m:oMath xmlns:m="http://schemas.openxmlformats.org/officeDocument/2006/math">
                    <m:r>
                      <a:rPr lang="en-US" altLang="zh-CN" b="0" i="1" smtClean="0">
                        <a:solidFill>
                          <a:schemeClr val="tx1"/>
                        </a:solidFill>
                        <a:latin typeface="Cambria Math" panose="02040503050406030204" pitchFamily="18" charset="0"/>
                      </a:rPr>
                      <m:t>𝐺</m:t>
                    </m:r>
                    <m:d>
                      <m:dPr>
                        <m:ctrlPr>
                          <a:rPr lang="en-US" altLang="zh-CN" i="1" smtClean="0">
                            <a:solidFill>
                              <a:schemeClr val="tx1"/>
                            </a:solidFill>
                            <a:latin typeface="Cambria Math" panose="02040503050406030204" pitchFamily="18" charset="0"/>
                          </a:rPr>
                        </m:ctrlPr>
                      </m:dPr>
                      <m:e>
                        <m:r>
                          <a:rPr lang="en-US" altLang="zh-CN" b="0" i="1" smtClean="0">
                            <a:solidFill>
                              <a:schemeClr val="tx1"/>
                            </a:solidFill>
                            <a:latin typeface="Cambria Math" panose="02040503050406030204" pitchFamily="18" charset="0"/>
                          </a:rPr>
                          <m:t>𝑥</m:t>
                        </m:r>
                        <m:r>
                          <a:rPr lang="en-US" altLang="zh-CN" b="0"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𝑦</m:t>
                        </m:r>
                      </m:e>
                    </m:d>
                    <m:r>
                      <a:rPr lang="en-US" altLang="zh-CN" b="0" i="1" smtClean="0">
                        <a:solidFill>
                          <a:schemeClr val="tx1"/>
                        </a:solidFill>
                        <a:latin typeface="Cambria Math" panose="02040503050406030204" pitchFamily="18" charset="0"/>
                      </a:rPr>
                      <m:t>=</m:t>
                    </m:r>
                    <m:sSup>
                      <m:sSupPr>
                        <m:ctrlPr>
                          <a:rPr lang="en-US" altLang="zh-CN" i="1" smtClean="0">
                            <a:solidFill>
                              <a:schemeClr val="tx1"/>
                            </a:solidFill>
                            <a:latin typeface="Cambria Math" panose="02040503050406030204" pitchFamily="18" charset="0"/>
                          </a:rPr>
                        </m:ctrlPr>
                      </m:sSupPr>
                      <m:e>
                        <m:r>
                          <a:rPr lang="en-US" altLang="zh-CN" b="0" i="1" smtClean="0">
                            <a:solidFill>
                              <a:schemeClr val="tx1"/>
                            </a:solidFill>
                            <a:latin typeface="Cambria Math" panose="02040503050406030204" pitchFamily="18" charset="0"/>
                          </a:rPr>
                          <m:t>𝑒</m:t>
                        </m:r>
                      </m:e>
                      <m:sup>
                        <m:r>
                          <a:rPr lang="en-US" altLang="zh-CN" b="0" i="1" smtClean="0">
                            <a:solidFill>
                              <a:schemeClr val="tx1"/>
                            </a:solidFill>
                            <a:latin typeface="Cambria Math" panose="02040503050406030204" pitchFamily="18" charset="0"/>
                          </a:rPr>
                          <m:t>−</m:t>
                        </m:r>
                        <m:f>
                          <m:fPr>
                            <m:ctrlPr>
                              <a:rPr lang="en-US" altLang="zh-CN" i="1" smtClean="0">
                                <a:solidFill>
                                  <a:schemeClr val="tx1"/>
                                </a:solidFill>
                                <a:latin typeface="Cambria Math" panose="02040503050406030204" pitchFamily="18" charset="0"/>
                              </a:rPr>
                            </m:ctrlPr>
                          </m:fPr>
                          <m:num>
                            <m:sSup>
                              <m:sSupPr>
                                <m:ctrlPr>
                                  <a:rPr lang="en-US" altLang="zh-CN" i="1" smtClean="0">
                                    <a:solidFill>
                                      <a:schemeClr val="tx1"/>
                                    </a:solidFill>
                                    <a:latin typeface="Cambria Math" panose="02040503050406030204" pitchFamily="18" charset="0"/>
                                  </a:rPr>
                                </m:ctrlPr>
                              </m:sSupPr>
                              <m:e>
                                <m:r>
                                  <a:rPr lang="en-US" altLang="zh-CN" b="0" i="1" smtClean="0">
                                    <a:solidFill>
                                      <a:schemeClr val="tx1"/>
                                    </a:solidFill>
                                    <a:latin typeface="Cambria Math" panose="02040503050406030204" pitchFamily="18" charset="0"/>
                                  </a:rPr>
                                  <m:t>𝑥</m:t>
                                </m:r>
                              </m:e>
                              <m:sup>
                                <m:r>
                                  <a:rPr lang="en-US" altLang="zh-CN" b="0" i="1" smtClean="0">
                                    <a:solidFill>
                                      <a:schemeClr val="tx1"/>
                                    </a:solidFill>
                                    <a:latin typeface="Cambria Math" panose="02040503050406030204" pitchFamily="18" charset="0"/>
                                  </a:rPr>
                                  <m:t>2</m:t>
                                </m:r>
                              </m:sup>
                            </m:sSup>
                            <m:r>
                              <a:rPr lang="en-US" altLang="zh-CN" b="0" i="1" smtClean="0">
                                <a:solidFill>
                                  <a:schemeClr val="tx1"/>
                                </a:solidFill>
                                <a:latin typeface="Cambria Math" panose="02040503050406030204" pitchFamily="18" charset="0"/>
                              </a:rPr>
                              <m:t>+</m:t>
                            </m:r>
                            <m:sSup>
                              <m:sSupPr>
                                <m:ctrlPr>
                                  <a:rPr lang="en-US" altLang="zh-CN" i="1" smtClean="0">
                                    <a:solidFill>
                                      <a:schemeClr val="tx1"/>
                                    </a:solidFill>
                                    <a:latin typeface="Cambria Math" panose="02040503050406030204" pitchFamily="18" charset="0"/>
                                  </a:rPr>
                                </m:ctrlPr>
                              </m:sSupPr>
                              <m:e>
                                <m:r>
                                  <a:rPr lang="en-US" altLang="zh-CN" b="0" i="1" smtClean="0">
                                    <a:solidFill>
                                      <a:schemeClr val="tx1"/>
                                    </a:solidFill>
                                    <a:latin typeface="Cambria Math" panose="02040503050406030204" pitchFamily="18" charset="0"/>
                                  </a:rPr>
                                  <m:t>𝑦</m:t>
                                </m:r>
                              </m:e>
                              <m:sup>
                                <m:r>
                                  <a:rPr lang="en-US" altLang="zh-CN" b="0" i="1" smtClean="0">
                                    <a:solidFill>
                                      <a:schemeClr val="tx1"/>
                                    </a:solidFill>
                                    <a:latin typeface="Cambria Math" panose="02040503050406030204" pitchFamily="18" charset="0"/>
                                  </a:rPr>
                                  <m:t>2</m:t>
                                </m:r>
                              </m:sup>
                            </m:sSup>
                          </m:num>
                          <m:den>
                            <m:r>
                              <a:rPr lang="en-US" altLang="zh-CN" b="0" i="1" smtClean="0">
                                <a:solidFill>
                                  <a:schemeClr val="tx1"/>
                                </a:solidFill>
                                <a:latin typeface="Cambria Math" panose="02040503050406030204" pitchFamily="18" charset="0"/>
                              </a:rPr>
                              <m:t>2</m:t>
                            </m:r>
                            <m:sSup>
                              <m:sSupPr>
                                <m:ctrlPr>
                                  <a:rPr lang="en-US" altLang="zh-CN" i="1" smtClean="0">
                                    <a:solidFill>
                                      <a:schemeClr val="tx1"/>
                                    </a:solidFill>
                                    <a:latin typeface="Cambria Math" panose="02040503050406030204" pitchFamily="18" charset="0"/>
                                  </a:rPr>
                                </m:ctrlPr>
                              </m:sSupPr>
                              <m:e>
                                <m:r>
                                  <a:rPr lang="zh-CN" altLang="en-US" b="0" i="1" smtClean="0">
                                    <a:solidFill>
                                      <a:schemeClr val="tx1"/>
                                    </a:solidFill>
                                    <a:latin typeface="Cambria Math" panose="02040503050406030204" pitchFamily="18" charset="0"/>
                                  </a:rPr>
                                  <m:t>𝜎</m:t>
                                </m:r>
                              </m:e>
                              <m:sup>
                                <m:r>
                                  <a:rPr lang="en-US" altLang="zh-CN" b="0" i="1" smtClean="0">
                                    <a:solidFill>
                                      <a:schemeClr val="tx1"/>
                                    </a:solidFill>
                                    <a:latin typeface="Cambria Math" panose="02040503050406030204" pitchFamily="18" charset="0"/>
                                  </a:rPr>
                                  <m:t>2</m:t>
                                </m:r>
                              </m:sup>
                            </m:sSup>
                          </m:den>
                        </m:f>
                      </m:sup>
                    </m:sSup>
                  </m:oMath>
                </a14:m>
                <a:endParaRPr lang="en-US" altLang="zh-CN" dirty="0">
                  <a:solidFill>
                    <a:schemeClr val="tx1"/>
                  </a:solidFill>
                </a:endParaRPr>
              </a:p>
              <a:p>
                <a:pPr>
                  <a:lnSpc>
                    <a:spcPct val="120000"/>
                  </a:lnSpc>
                </a:pPr>
                <a14:m>
                  <m:oMath xmlns:m="http://schemas.openxmlformats.org/officeDocument/2006/math">
                    <m:sSup>
                      <m:sSupPr>
                        <m:ctrlPr>
                          <a:rPr lang="en-US" altLang="zh-CN" i="1" smtClean="0">
                            <a:solidFill>
                              <a:schemeClr val="tx1"/>
                            </a:solidFill>
                            <a:latin typeface="Cambria Math" panose="02040503050406030204" pitchFamily="18" charset="0"/>
                          </a:rPr>
                        </m:ctrlPr>
                      </m:sSupPr>
                      <m:e>
                        <m:r>
                          <a:rPr lang="zh-CN" altLang="en-US" b="0" i="1" smtClean="0">
                            <a:solidFill>
                              <a:schemeClr val="tx1"/>
                            </a:solidFill>
                            <a:latin typeface="Cambria Math" panose="02040503050406030204" pitchFamily="18" charset="0"/>
                          </a:rPr>
                          <m:t>𝛻</m:t>
                        </m:r>
                      </m:e>
                      <m:sup>
                        <m:r>
                          <a:rPr lang="en-US" altLang="zh-CN" b="0" i="1" smtClean="0">
                            <a:solidFill>
                              <a:schemeClr val="tx1"/>
                            </a:solidFill>
                            <a:latin typeface="Cambria Math" panose="02040503050406030204" pitchFamily="18" charset="0"/>
                          </a:rPr>
                          <m:t>2</m:t>
                        </m:r>
                      </m:sup>
                    </m:sSup>
                    <m:r>
                      <a:rPr lang="en-US" altLang="zh-CN" b="0" i="1" smtClean="0">
                        <a:solidFill>
                          <a:schemeClr val="tx1"/>
                        </a:solidFill>
                        <a:latin typeface="Cambria Math" panose="02040503050406030204" pitchFamily="18" charset="0"/>
                      </a:rPr>
                      <m:t>𝐺</m:t>
                    </m:r>
                    <m:d>
                      <m:dPr>
                        <m:ctrlPr>
                          <a:rPr lang="en-US" altLang="zh-CN" i="1" smtClean="0">
                            <a:solidFill>
                              <a:schemeClr val="tx1"/>
                            </a:solidFill>
                            <a:latin typeface="Cambria Math" panose="02040503050406030204" pitchFamily="18" charset="0"/>
                          </a:rPr>
                        </m:ctrlPr>
                      </m:dPr>
                      <m:e>
                        <m:r>
                          <a:rPr lang="en-US" altLang="zh-CN" b="0" i="1" smtClean="0">
                            <a:solidFill>
                              <a:schemeClr val="tx1"/>
                            </a:solidFill>
                            <a:latin typeface="Cambria Math" panose="02040503050406030204" pitchFamily="18" charset="0"/>
                          </a:rPr>
                          <m:t>𝑥</m:t>
                        </m:r>
                        <m:r>
                          <a:rPr lang="en-US" altLang="zh-CN" b="0"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𝑦</m:t>
                        </m:r>
                      </m:e>
                    </m:d>
                    <m:r>
                      <a:rPr lang="en-US" altLang="zh-CN" b="0" i="1" smtClean="0">
                        <a:solidFill>
                          <a:schemeClr val="tx1"/>
                        </a:solidFill>
                        <a:latin typeface="Cambria Math" panose="02040503050406030204" pitchFamily="18" charset="0"/>
                      </a:rPr>
                      <m:t>=</m:t>
                    </m:r>
                    <m:f>
                      <m:fPr>
                        <m:ctrlPr>
                          <a:rPr lang="en-US" altLang="zh-CN" i="1" smtClean="0">
                            <a:solidFill>
                              <a:schemeClr val="tx1"/>
                            </a:solidFill>
                            <a:latin typeface="Cambria Math" panose="02040503050406030204" pitchFamily="18" charset="0"/>
                          </a:rPr>
                        </m:ctrlPr>
                      </m:fPr>
                      <m:num>
                        <m:sSup>
                          <m:sSupPr>
                            <m:ctrlPr>
                              <a:rPr lang="en-US" altLang="zh-CN" i="1" smtClean="0">
                                <a:solidFill>
                                  <a:schemeClr val="tx1"/>
                                </a:solidFill>
                                <a:latin typeface="Cambria Math" panose="02040503050406030204" pitchFamily="18" charset="0"/>
                              </a:rPr>
                            </m:ctrlPr>
                          </m:sSupPr>
                          <m:e>
                            <m:r>
                              <a:rPr lang="zh-CN" altLang="en-US" b="0" i="1" smtClean="0">
                                <a:solidFill>
                                  <a:schemeClr val="tx1"/>
                                </a:solidFill>
                                <a:latin typeface="Cambria Math" panose="02040503050406030204" pitchFamily="18" charset="0"/>
                              </a:rPr>
                              <m:t>𝜕</m:t>
                            </m:r>
                          </m:e>
                          <m:sup>
                            <m:r>
                              <a:rPr lang="en-US" altLang="zh-CN" b="0" i="1" smtClean="0">
                                <a:solidFill>
                                  <a:schemeClr val="tx1"/>
                                </a:solidFill>
                                <a:latin typeface="Cambria Math" panose="02040503050406030204" pitchFamily="18" charset="0"/>
                              </a:rPr>
                              <m:t>2</m:t>
                            </m:r>
                          </m:sup>
                        </m:sSup>
                        <m:r>
                          <a:rPr lang="en-US" altLang="zh-CN" b="0" i="1" smtClean="0">
                            <a:solidFill>
                              <a:schemeClr val="tx1"/>
                            </a:solidFill>
                            <a:latin typeface="Cambria Math" panose="02040503050406030204" pitchFamily="18" charset="0"/>
                          </a:rPr>
                          <m:t>𝐺</m:t>
                        </m:r>
                        <m:r>
                          <a:rPr lang="en-US" altLang="zh-CN" b="0"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𝑥</m:t>
                        </m:r>
                        <m:r>
                          <a:rPr lang="en-US" altLang="zh-CN" b="0"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𝑦</m:t>
                        </m:r>
                        <m:r>
                          <a:rPr lang="en-US" altLang="zh-CN" b="0" i="1" smtClean="0">
                            <a:solidFill>
                              <a:schemeClr val="tx1"/>
                            </a:solidFill>
                            <a:latin typeface="Cambria Math" panose="02040503050406030204" pitchFamily="18" charset="0"/>
                          </a:rPr>
                          <m:t>)</m:t>
                        </m:r>
                      </m:num>
                      <m:den>
                        <m:r>
                          <a:rPr lang="zh-CN" altLang="en-US" b="0" i="1" smtClean="0">
                            <a:solidFill>
                              <a:schemeClr val="tx1"/>
                            </a:solidFill>
                            <a:latin typeface="Cambria Math" panose="02040503050406030204" pitchFamily="18" charset="0"/>
                          </a:rPr>
                          <m:t>𝜕</m:t>
                        </m:r>
                        <m:sSup>
                          <m:sSupPr>
                            <m:ctrlPr>
                              <a:rPr lang="en-US" altLang="zh-CN" i="1" smtClean="0">
                                <a:solidFill>
                                  <a:schemeClr val="tx1"/>
                                </a:solidFill>
                                <a:latin typeface="Cambria Math" panose="02040503050406030204" pitchFamily="18" charset="0"/>
                              </a:rPr>
                            </m:ctrlPr>
                          </m:sSupPr>
                          <m:e>
                            <m:r>
                              <a:rPr lang="en-US" altLang="zh-CN" b="0" i="1" smtClean="0">
                                <a:solidFill>
                                  <a:schemeClr val="tx1"/>
                                </a:solidFill>
                                <a:latin typeface="Cambria Math" panose="02040503050406030204" pitchFamily="18" charset="0"/>
                              </a:rPr>
                              <m:t>𝑥</m:t>
                            </m:r>
                          </m:e>
                          <m:sup>
                            <m:r>
                              <a:rPr lang="en-US" altLang="zh-CN" b="0" i="1" smtClean="0">
                                <a:solidFill>
                                  <a:schemeClr val="tx1"/>
                                </a:solidFill>
                                <a:latin typeface="Cambria Math" panose="02040503050406030204" pitchFamily="18" charset="0"/>
                              </a:rPr>
                              <m:t>2</m:t>
                            </m:r>
                          </m:sup>
                        </m:sSup>
                      </m:den>
                    </m:f>
                    <m:r>
                      <a:rPr lang="en-US" altLang="zh-CN" b="0" i="0" smtClean="0">
                        <a:solidFill>
                          <a:schemeClr val="tx1"/>
                        </a:solidFill>
                        <a:latin typeface="Cambria Math" panose="02040503050406030204" pitchFamily="18" charset="0"/>
                      </a:rPr>
                      <m:t>+</m:t>
                    </m:r>
                    <m:f>
                      <m:fPr>
                        <m:ctrlPr>
                          <a:rPr lang="en-US" altLang="zh-CN" i="1" smtClean="0">
                            <a:solidFill>
                              <a:schemeClr val="tx1"/>
                            </a:solidFill>
                            <a:latin typeface="Cambria Math" panose="02040503050406030204" pitchFamily="18" charset="0"/>
                          </a:rPr>
                        </m:ctrlPr>
                      </m:fPr>
                      <m:num>
                        <m:sSup>
                          <m:sSupPr>
                            <m:ctrlPr>
                              <a:rPr lang="en-US" altLang="zh-CN" i="1" smtClean="0">
                                <a:solidFill>
                                  <a:schemeClr val="tx1"/>
                                </a:solidFill>
                                <a:latin typeface="Cambria Math" panose="02040503050406030204" pitchFamily="18" charset="0"/>
                              </a:rPr>
                            </m:ctrlPr>
                          </m:sSupPr>
                          <m:e>
                            <m:r>
                              <a:rPr lang="zh-CN" altLang="en-US" b="0" i="1" smtClean="0">
                                <a:solidFill>
                                  <a:schemeClr val="tx1"/>
                                </a:solidFill>
                                <a:latin typeface="Cambria Math" panose="02040503050406030204" pitchFamily="18" charset="0"/>
                              </a:rPr>
                              <m:t>𝜕</m:t>
                            </m:r>
                          </m:e>
                          <m:sup>
                            <m:r>
                              <a:rPr lang="en-US" altLang="zh-CN" b="0" i="1" smtClean="0">
                                <a:solidFill>
                                  <a:schemeClr val="tx1"/>
                                </a:solidFill>
                                <a:latin typeface="Cambria Math" panose="02040503050406030204" pitchFamily="18" charset="0"/>
                              </a:rPr>
                              <m:t>2</m:t>
                            </m:r>
                          </m:sup>
                        </m:sSup>
                        <m:r>
                          <a:rPr lang="en-US" altLang="zh-CN" b="0" i="1" smtClean="0">
                            <a:solidFill>
                              <a:schemeClr val="tx1"/>
                            </a:solidFill>
                            <a:latin typeface="Cambria Math" panose="02040503050406030204" pitchFamily="18" charset="0"/>
                          </a:rPr>
                          <m:t>𝐺</m:t>
                        </m:r>
                        <m:r>
                          <a:rPr lang="en-US" altLang="zh-CN" b="0"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𝑥</m:t>
                        </m:r>
                        <m:r>
                          <a:rPr lang="en-US" altLang="zh-CN" b="0"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𝑦</m:t>
                        </m:r>
                        <m:r>
                          <a:rPr lang="en-US" altLang="zh-CN" b="0" i="1" smtClean="0">
                            <a:solidFill>
                              <a:schemeClr val="tx1"/>
                            </a:solidFill>
                            <a:latin typeface="Cambria Math" panose="02040503050406030204" pitchFamily="18" charset="0"/>
                          </a:rPr>
                          <m:t>)</m:t>
                        </m:r>
                      </m:num>
                      <m:den>
                        <m:r>
                          <a:rPr lang="zh-CN" altLang="en-US" b="0" i="1" smtClean="0">
                            <a:solidFill>
                              <a:schemeClr val="tx1"/>
                            </a:solidFill>
                            <a:latin typeface="Cambria Math" panose="02040503050406030204" pitchFamily="18" charset="0"/>
                          </a:rPr>
                          <m:t>𝜕</m:t>
                        </m:r>
                        <m:sSup>
                          <m:sSupPr>
                            <m:ctrlPr>
                              <a:rPr lang="en-US" altLang="zh-CN" i="1" smtClean="0">
                                <a:solidFill>
                                  <a:schemeClr val="tx1"/>
                                </a:solidFill>
                                <a:latin typeface="Cambria Math" panose="02040503050406030204" pitchFamily="18" charset="0"/>
                              </a:rPr>
                            </m:ctrlPr>
                          </m:sSupPr>
                          <m:e>
                            <m:r>
                              <a:rPr lang="en-US" altLang="zh-CN" b="0" i="1" smtClean="0">
                                <a:solidFill>
                                  <a:schemeClr val="tx1"/>
                                </a:solidFill>
                                <a:latin typeface="Cambria Math" panose="02040503050406030204" pitchFamily="18" charset="0"/>
                              </a:rPr>
                              <m:t>𝑦</m:t>
                            </m:r>
                          </m:e>
                          <m:sup>
                            <m:r>
                              <a:rPr lang="en-US" altLang="zh-CN" b="0" i="1" smtClean="0">
                                <a:solidFill>
                                  <a:schemeClr val="tx1"/>
                                </a:solidFill>
                                <a:latin typeface="Cambria Math" panose="02040503050406030204" pitchFamily="18" charset="0"/>
                              </a:rPr>
                              <m:t>2</m:t>
                            </m:r>
                          </m:sup>
                        </m:sSup>
                      </m:den>
                    </m:f>
                  </m:oMath>
                </a14:m>
                <a:endParaRPr lang="en-US" altLang="zh-CN" dirty="0">
                  <a:solidFill>
                    <a:schemeClr val="tx1"/>
                  </a:solidFill>
                </a:endParaRPr>
              </a:p>
              <a:p>
                <a:pPr>
                  <a:lnSpc>
                    <a:spcPct val="120000"/>
                  </a:lnSpc>
                </a:pPr>
                <a14:m>
                  <m:oMath xmlns:m="http://schemas.openxmlformats.org/officeDocument/2006/math">
                    <m:sSup>
                      <m:sSupPr>
                        <m:ctrlPr>
                          <a:rPr lang="en-US" altLang="zh-CN" i="1" smtClean="0">
                            <a:solidFill>
                              <a:schemeClr val="tx1"/>
                            </a:solidFill>
                            <a:latin typeface="Cambria Math" panose="02040503050406030204" pitchFamily="18" charset="0"/>
                          </a:rPr>
                        </m:ctrlPr>
                      </m:sSupPr>
                      <m:e>
                        <m:r>
                          <a:rPr lang="zh-CN" altLang="en-US" b="0" i="1" smtClean="0">
                            <a:solidFill>
                              <a:schemeClr val="tx1"/>
                            </a:solidFill>
                            <a:latin typeface="Cambria Math" panose="02040503050406030204" pitchFamily="18" charset="0"/>
                          </a:rPr>
                          <m:t>𝛻</m:t>
                        </m:r>
                      </m:e>
                      <m:sup>
                        <m:r>
                          <a:rPr lang="en-US" altLang="zh-CN" b="0" i="1" smtClean="0">
                            <a:solidFill>
                              <a:schemeClr val="tx1"/>
                            </a:solidFill>
                            <a:latin typeface="Cambria Math" panose="02040503050406030204" pitchFamily="18" charset="0"/>
                          </a:rPr>
                          <m:t>2</m:t>
                        </m:r>
                      </m:sup>
                    </m:sSup>
                    <m:r>
                      <a:rPr lang="en-US" altLang="zh-CN" b="0" i="1" smtClean="0">
                        <a:solidFill>
                          <a:schemeClr val="tx1"/>
                        </a:solidFill>
                        <a:latin typeface="Cambria Math" panose="02040503050406030204" pitchFamily="18" charset="0"/>
                      </a:rPr>
                      <m:t>𝐺</m:t>
                    </m:r>
                    <m:d>
                      <m:dPr>
                        <m:ctrlPr>
                          <a:rPr lang="en-US" altLang="zh-CN" i="1" smtClean="0">
                            <a:solidFill>
                              <a:schemeClr val="tx1"/>
                            </a:solidFill>
                            <a:latin typeface="Cambria Math" panose="02040503050406030204" pitchFamily="18" charset="0"/>
                          </a:rPr>
                        </m:ctrlPr>
                      </m:dPr>
                      <m:e>
                        <m:r>
                          <a:rPr lang="en-US" altLang="zh-CN" b="0" i="1" smtClean="0">
                            <a:solidFill>
                              <a:schemeClr val="tx1"/>
                            </a:solidFill>
                            <a:latin typeface="Cambria Math" panose="02040503050406030204" pitchFamily="18" charset="0"/>
                          </a:rPr>
                          <m:t>𝑥</m:t>
                        </m:r>
                        <m:r>
                          <a:rPr lang="en-US" altLang="zh-CN" b="0"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𝑦</m:t>
                        </m:r>
                      </m:e>
                    </m:d>
                    <m:r>
                      <a:rPr lang="en-US" altLang="zh-CN" b="0" i="1" smtClean="0">
                        <a:solidFill>
                          <a:schemeClr val="tx1"/>
                        </a:solidFill>
                        <a:latin typeface="Cambria Math" panose="02040503050406030204" pitchFamily="18" charset="0"/>
                      </a:rPr>
                      <m:t>=(</m:t>
                    </m:r>
                    <m:f>
                      <m:fPr>
                        <m:ctrlPr>
                          <a:rPr lang="en-US" altLang="zh-CN" b="0" i="1" smtClean="0">
                            <a:solidFill>
                              <a:schemeClr val="tx1"/>
                            </a:solidFill>
                            <a:latin typeface="Cambria Math" panose="02040503050406030204" pitchFamily="18" charset="0"/>
                          </a:rPr>
                        </m:ctrlPr>
                      </m:fPr>
                      <m:num>
                        <m:sSup>
                          <m:sSupPr>
                            <m:ctrlPr>
                              <a:rPr lang="en-US" altLang="zh-CN" i="1" smtClean="0">
                                <a:solidFill>
                                  <a:schemeClr val="tx1"/>
                                </a:solidFill>
                                <a:latin typeface="Cambria Math" panose="02040503050406030204" pitchFamily="18" charset="0"/>
                              </a:rPr>
                            </m:ctrlPr>
                          </m:sSupPr>
                          <m:e>
                            <m:r>
                              <a:rPr lang="en-US" altLang="zh-CN" b="0" i="1" smtClean="0">
                                <a:solidFill>
                                  <a:schemeClr val="tx1"/>
                                </a:solidFill>
                                <a:latin typeface="Cambria Math" panose="02040503050406030204" pitchFamily="18" charset="0"/>
                              </a:rPr>
                              <m:t>𝑥</m:t>
                            </m:r>
                          </m:e>
                          <m:sup>
                            <m:r>
                              <a:rPr lang="en-US" altLang="zh-CN" b="0" i="1" smtClean="0">
                                <a:solidFill>
                                  <a:schemeClr val="tx1"/>
                                </a:solidFill>
                                <a:latin typeface="Cambria Math" panose="02040503050406030204" pitchFamily="18" charset="0"/>
                              </a:rPr>
                              <m:t>2</m:t>
                            </m:r>
                          </m:sup>
                        </m:sSup>
                        <m:r>
                          <a:rPr lang="en-US" altLang="zh-CN" b="0" i="1" smtClean="0">
                            <a:solidFill>
                              <a:schemeClr val="tx1"/>
                            </a:solidFill>
                            <a:latin typeface="Cambria Math" panose="02040503050406030204" pitchFamily="18" charset="0"/>
                          </a:rPr>
                          <m:t>+</m:t>
                        </m:r>
                        <m:sSup>
                          <m:sSupPr>
                            <m:ctrlPr>
                              <a:rPr lang="en-US" altLang="zh-CN" i="1" smtClean="0">
                                <a:solidFill>
                                  <a:schemeClr val="tx1"/>
                                </a:solidFill>
                                <a:latin typeface="Cambria Math" panose="02040503050406030204" pitchFamily="18" charset="0"/>
                              </a:rPr>
                            </m:ctrlPr>
                          </m:sSupPr>
                          <m:e>
                            <m:r>
                              <a:rPr lang="en-US" altLang="zh-CN" b="0" i="1" smtClean="0">
                                <a:solidFill>
                                  <a:schemeClr val="tx1"/>
                                </a:solidFill>
                                <a:latin typeface="Cambria Math" panose="02040503050406030204" pitchFamily="18" charset="0"/>
                              </a:rPr>
                              <m:t>𝑦</m:t>
                            </m:r>
                          </m:e>
                          <m:sup>
                            <m:r>
                              <a:rPr lang="en-US" altLang="zh-CN" b="0" i="1" smtClean="0">
                                <a:solidFill>
                                  <a:schemeClr val="tx1"/>
                                </a:solidFill>
                                <a:latin typeface="Cambria Math" panose="02040503050406030204" pitchFamily="18" charset="0"/>
                              </a:rPr>
                              <m:t>2</m:t>
                            </m:r>
                          </m:sup>
                        </m:sSup>
                        <m:r>
                          <a:rPr lang="en-US" altLang="zh-CN" b="0" i="1" smtClean="0">
                            <a:solidFill>
                              <a:schemeClr val="tx1"/>
                            </a:solidFill>
                            <a:latin typeface="Cambria Math" panose="02040503050406030204" pitchFamily="18" charset="0"/>
                          </a:rPr>
                          <m:t>−2</m:t>
                        </m:r>
                        <m:sSup>
                          <m:sSupPr>
                            <m:ctrlPr>
                              <a:rPr lang="en-US" altLang="zh-CN" i="1" smtClean="0">
                                <a:solidFill>
                                  <a:schemeClr val="tx1"/>
                                </a:solidFill>
                                <a:latin typeface="Cambria Math" panose="02040503050406030204" pitchFamily="18" charset="0"/>
                              </a:rPr>
                            </m:ctrlPr>
                          </m:sSupPr>
                          <m:e>
                            <m:r>
                              <a:rPr lang="zh-CN" altLang="en-US" b="0" i="1" smtClean="0">
                                <a:solidFill>
                                  <a:schemeClr val="tx1"/>
                                </a:solidFill>
                                <a:latin typeface="Cambria Math" panose="02040503050406030204" pitchFamily="18" charset="0"/>
                              </a:rPr>
                              <m:t>𝜎</m:t>
                            </m:r>
                          </m:e>
                          <m:sup>
                            <m:r>
                              <a:rPr lang="en-US" altLang="zh-CN" b="0" i="1" smtClean="0">
                                <a:solidFill>
                                  <a:schemeClr val="tx1"/>
                                </a:solidFill>
                                <a:latin typeface="Cambria Math" panose="02040503050406030204" pitchFamily="18" charset="0"/>
                              </a:rPr>
                              <m:t>2</m:t>
                            </m:r>
                          </m:sup>
                        </m:sSup>
                      </m:num>
                      <m:den>
                        <m:sSup>
                          <m:sSupPr>
                            <m:ctrlPr>
                              <a:rPr lang="en-US" altLang="zh-CN" b="0" i="1" smtClean="0">
                                <a:solidFill>
                                  <a:schemeClr val="tx1"/>
                                </a:solidFill>
                                <a:latin typeface="Cambria Math" panose="02040503050406030204" pitchFamily="18" charset="0"/>
                              </a:rPr>
                            </m:ctrlPr>
                          </m:sSupPr>
                          <m:e>
                            <m:r>
                              <a:rPr lang="zh-CN" altLang="en-US" b="0" i="1" smtClean="0">
                                <a:solidFill>
                                  <a:schemeClr val="tx1"/>
                                </a:solidFill>
                                <a:latin typeface="Cambria Math" panose="02040503050406030204" pitchFamily="18" charset="0"/>
                              </a:rPr>
                              <m:t>𝜎</m:t>
                            </m:r>
                          </m:e>
                          <m:sup>
                            <m:r>
                              <a:rPr lang="en-US" altLang="zh-CN" b="0" i="1" smtClean="0">
                                <a:solidFill>
                                  <a:schemeClr val="tx1"/>
                                </a:solidFill>
                                <a:latin typeface="Cambria Math" panose="02040503050406030204" pitchFamily="18" charset="0"/>
                              </a:rPr>
                              <m:t>4</m:t>
                            </m:r>
                          </m:sup>
                        </m:sSup>
                      </m:den>
                    </m:f>
                    <m:r>
                      <a:rPr lang="en-US" altLang="zh-CN" b="0" i="1" smtClean="0">
                        <a:solidFill>
                          <a:schemeClr val="tx1"/>
                        </a:solidFill>
                        <a:latin typeface="Cambria Math" panose="02040503050406030204" pitchFamily="18" charset="0"/>
                      </a:rPr>
                      <m:t>)</m:t>
                    </m:r>
                  </m:oMath>
                </a14:m>
                <a:r>
                  <a:rPr lang="en-US" altLang="zh-CN" dirty="0">
                    <a:solidFill>
                      <a:schemeClr val="tx1"/>
                    </a:solidFill>
                  </a:rPr>
                  <a:t> </a:t>
                </a:r>
                <a14:m>
                  <m:oMath xmlns:m="http://schemas.openxmlformats.org/officeDocument/2006/math">
                    <m:sSup>
                      <m:sSupPr>
                        <m:ctrlPr>
                          <a:rPr lang="en-US" altLang="zh-CN" i="1" smtClean="0">
                            <a:solidFill>
                              <a:schemeClr val="tx1"/>
                            </a:solidFill>
                            <a:latin typeface="Cambria Math" panose="02040503050406030204" pitchFamily="18" charset="0"/>
                          </a:rPr>
                        </m:ctrlPr>
                      </m:sSupPr>
                      <m:e>
                        <m:r>
                          <a:rPr lang="en-US" altLang="zh-CN" b="0" i="1" smtClean="0">
                            <a:solidFill>
                              <a:schemeClr val="tx1"/>
                            </a:solidFill>
                            <a:latin typeface="Cambria Math" panose="02040503050406030204" pitchFamily="18" charset="0"/>
                          </a:rPr>
                          <m:t>𝑒</m:t>
                        </m:r>
                      </m:e>
                      <m:sup>
                        <m:r>
                          <a:rPr lang="en-US" altLang="zh-CN" b="0" i="1" smtClean="0">
                            <a:solidFill>
                              <a:schemeClr val="tx1"/>
                            </a:solidFill>
                            <a:latin typeface="Cambria Math" panose="02040503050406030204" pitchFamily="18" charset="0"/>
                          </a:rPr>
                          <m:t>−</m:t>
                        </m:r>
                        <m:f>
                          <m:fPr>
                            <m:ctrlPr>
                              <a:rPr lang="en-US" altLang="zh-CN" i="1" smtClean="0">
                                <a:solidFill>
                                  <a:schemeClr val="tx1"/>
                                </a:solidFill>
                                <a:latin typeface="Cambria Math" panose="02040503050406030204" pitchFamily="18" charset="0"/>
                              </a:rPr>
                            </m:ctrlPr>
                          </m:fPr>
                          <m:num>
                            <m:sSup>
                              <m:sSupPr>
                                <m:ctrlPr>
                                  <a:rPr lang="en-US" altLang="zh-CN" i="1" smtClean="0">
                                    <a:solidFill>
                                      <a:schemeClr val="tx1"/>
                                    </a:solidFill>
                                    <a:latin typeface="Cambria Math" panose="02040503050406030204" pitchFamily="18" charset="0"/>
                                  </a:rPr>
                                </m:ctrlPr>
                              </m:sSupPr>
                              <m:e>
                                <m:r>
                                  <a:rPr lang="en-US" altLang="zh-CN" b="0" i="1" smtClean="0">
                                    <a:solidFill>
                                      <a:schemeClr val="tx1"/>
                                    </a:solidFill>
                                    <a:latin typeface="Cambria Math" panose="02040503050406030204" pitchFamily="18" charset="0"/>
                                  </a:rPr>
                                  <m:t>𝑥</m:t>
                                </m:r>
                              </m:e>
                              <m:sup>
                                <m:r>
                                  <a:rPr lang="en-US" altLang="zh-CN" b="0" i="1" smtClean="0">
                                    <a:solidFill>
                                      <a:schemeClr val="tx1"/>
                                    </a:solidFill>
                                    <a:latin typeface="Cambria Math" panose="02040503050406030204" pitchFamily="18" charset="0"/>
                                  </a:rPr>
                                  <m:t>2</m:t>
                                </m:r>
                              </m:sup>
                            </m:sSup>
                            <m:r>
                              <a:rPr lang="en-US" altLang="zh-CN" b="0" i="1" smtClean="0">
                                <a:solidFill>
                                  <a:schemeClr val="tx1"/>
                                </a:solidFill>
                                <a:latin typeface="Cambria Math" panose="02040503050406030204" pitchFamily="18" charset="0"/>
                              </a:rPr>
                              <m:t>+</m:t>
                            </m:r>
                            <m:sSup>
                              <m:sSupPr>
                                <m:ctrlPr>
                                  <a:rPr lang="en-US" altLang="zh-CN" i="1" smtClean="0">
                                    <a:solidFill>
                                      <a:schemeClr val="tx1"/>
                                    </a:solidFill>
                                    <a:latin typeface="Cambria Math" panose="02040503050406030204" pitchFamily="18" charset="0"/>
                                  </a:rPr>
                                </m:ctrlPr>
                              </m:sSupPr>
                              <m:e>
                                <m:r>
                                  <a:rPr lang="en-US" altLang="zh-CN" b="0" i="1" smtClean="0">
                                    <a:solidFill>
                                      <a:schemeClr val="tx1"/>
                                    </a:solidFill>
                                    <a:latin typeface="Cambria Math" panose="02040503050406030204" pitchFamily="18" charset="0"/>
                                  </a:rPr>
                                  <m:t>𝑦</m:t>
                                </m:r>
                              </m:e>
                              <m:sup>
                                <m:r>
                                  <a:rPr lang="en-US" altLang="zh-CN" b="0" i="1" smtClean="0">
                                    <a:solidFill>
                                      <a:schemeClr val="tx1"/>
                                    </a:solidFill>
                                    <a:latin typeface="Cambria Math" panose="02040503050406030204" pitchFamily="18" charset="0"/>
                                  </a:rPr>
                                  <m:t>2</m:t>
                                </m:r>
                              </m:sup>
                            </m:sSup>
                          </m:num>
                          <m:den>
                            <m:r>
                              <a:rPr lang="en-US" altLang="zh-CN" b="0" i="1" smtClean="0">
                                <a:solidFill>
                                  <a:schemeClr val="tx1"/>
                                </a:solidFill>
                                <a:latin typeface="Cambria Math" panose="02040503050406030204" pitchFamily="18" charset="0"/>
                              </a:rPr>
                              <m:t>2</m:t>
                            </m:r>
                            <m:sSup>
                              <m:sSupPr>
                                <m:ctrlPr>
                                  <a:rPr lang="en-US" altLang="zh-CN" i="1" smtClean="0">
                                    <a:solidFill>
                                      <a:schemeClr val="tx1"/>
                                    </a:solidFill>
                                    <a:latin typeface="Cambria Math" panose="02040503050406030204" pitchFamily="18" charset="0"/>
                                  </a:rPr>
                                </m:ctrlPr>
                              </m:sSupPr>
                              <m:e>
                                <m:r>
                                  <a:rPr lang="zh-CN" altLang="en-US" b="0" i="1" smtClean="0">
                                    <a:solidFill>
                                      <a:schemeClr val="tx1"/>
                                    </a:solidFill>
                                    <a:latin typeface="Cambria Math" panose="02040503050406030204" pitchFamily="18" charset="0"/>
                                  </a:rPr>
                                  <m:t>𝜎</m:t>
                                </m:r>
                              </m:e>
                              <m:sup>
                                <m:r>
                                  <a:rPr lang="en-US" altLang="zh-CN" b="0" i="1" smtClean="0">
                                    <a:solidFill>
                                      <a:schemeClr val="tx1"/>
                                    </a:solidFill>
                                    <a:latin typeface="Cambria Math" panose="02040503050406030204" pitchFamily="18" charset="0"/>
                                  </a:rPr>
                                  <m:t>2</m:t>
                                </m:r>
                              </m:sup>
                            </m:sSup>
                          </m:den>
                        </m:f>
                      </m:sup>
                    </m:sSup>
                  </m:oMath>
                </a14:m>
                <a:endParaRPr lang="zh-CN" altLang="en-US" dirty="0">
                  <a:solidFill>
                    <a:schemeClr val="tx1"/>
                  </a:solidFill>
                </a:endParaRPr>
              </a:p>
            </p:txBody>
          </p:sp>
        </mc:Choice>
        <mc:Fallback xmlns="">
          <p:sp>
            <p:nvSpPr>
              <p:cNvPr id="3" name="Content Placeholder 2">
                <a:extLst>
                  <a:ext uri="{FF2B5EF4-FFF2-40B4-BE49-F238E27FC236}">
                    <a16:creationId xmlns:a16="http://schemas.microsoft.com/office/drawing/2014/main" id="{18B80D7D-1FCF-43A7-A722-AE65CA3B40B5}"/>
                  </a:ext>
                </a:extLst>
              </p:cNvPr>
              <p:cNvSpPr>
                <a:spLocks noGrp="1" noRot="1" noChangeAspect="1" noMove="1" noResize="1" noEditPoints="1" noAdjustHandles="1" noChangeArrowheads="1" noChangeShapeType="1" noTextEdit="1"/>
              </p:cNvSpPr>
              <p:nvPr>
                <p:ph idx="1"/>
              </p:nvPr>
            </p:nvSpPr>
            <p:spPr>
              <a:xfrm>
                <a:off x="838198" y="1825625"/>
                <a:ext cx="5505451" cy="4351338"/>
              </a:xfrm>
              <a:blipFill>
                <a:blip r:embed="rId2"/>
                <a:stretch>
                  <a:fillRect l="-2434" t="-1401"/>
                </a:stretch>
              </a:blipFill>
            </p:spPr>
            <p:txBody>
              <a:bodyPr/>
              <a:lstStyle/>
              <a:p>
                <a:r>
                  <a:rPr lang="zh-CN" altLang="en-US">
                    <a:noFill/>
                  </a:rPr>
                  <a:t> </a:t>
                </a:r>
              </a:p>
            </p:txBody>
          </p:sp>
        </mc:Fallback>
      </mc:AlternateContent>
      <p:pic>
        <p:nvPicPr>
          <p:cNvPr id="4" name="Picture 3">
            <a:extLst>
              <a:ext uri="{FF2B5EF4-FFF2-40B4-BE49-F238E27FC236}">
                <a16:creationId xmlns:a16="http://schemas.microsoft.com/office/drawing/2014/main" id="{C86450E8-D629-4413-A036-5C0139B4545E}"/>
              </a:ext>
            </a:extLst>
          </p:cNvPr>
          <p:cNvPicPr>
            <a:picLocks noChangeAspect="1"/>
          </p:cNvPicPr>
          <p:nvPr/>
        </p:nvPicPr>
        <p:blipFill>
          <a:blip r:embed="rId3"/>
          <a:stretch>
            <a:fillRect/>
          </a:stretch>
        </p:blipFill>
        <p:spPr>
          <a:xfrm>
            <a:off x="6343649" y="2379031"/>
            <a:ext cx="5553075" cy="3497893"/>
          </a:xfrm>
          <a:prstGeom prst="rect">
            <a:avLst/>
          </a:prstGeom>
        </p:spPr>
      </p:pic>
    </p:spTree>
    <p:extLst>
      <p:ext uri="{BB962C8B-B14F-4D97-AF65-F5344CB8AC3E}">
        <p14:creationId xmlns:p14="http://schemas.microsoft.com/office/powerpoint/2010/main" val="293124243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5FBD8-9DC9-422B-B5B4-6E6488564442}"/>
              </a:ext>
            </a:extLst>
          </p:cNvPr>
          <p:cNvSpPr>
            <a:spLocks noGrp="1"/>
          </p:cNvSpPr>
          <p:nvPr>
            <p:ph type="title"/>
          </p:nvPr>
        </p:nvSpPr>
        <p:spPr/>
        <p:txBody>
          <a:bodyPr/>
          <a:lstStyle/>
          <a:p>
            <a:r>
              <a:rPr lang="en-US" altLang="zh-CN" b="1" dirty="0"/>
              <a:t>Marr-Hildreth</a:t>
            </a:r>
            <a:r>
              <a:rPr lang="zh-CN" altLang="en-US" b="1" dirty="0"/>
              <a:t>边缘检测算法</a:t>
            </a:r>
            <a:endParaRPr lang="zh-CN" alt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DD5A3C7-8C39-4B19-A1E7-4C4732DAF9EE}"/>
                  </a:ext>
                </a:extLst>
              </p:cNvPr>
              <p:cNvSpPr>
                <a:spLocks noGrp="1"/>
              </p:cNvSpPr>
              <p:nvPr>
                <p:ph idx="1"/>
              </p:nvPr>
            </p:nvSpPr>
            <p:spPr>
              <a:xfrm>
                <a:off x="342899" y="1892300"/>
                <a:ext cx="5686426" cy="4351338"/>
              </a:xfrm>
              <a:ln w="38100">
                <a:solidFill>
                  <a:schemeClr val="accent2">
                    <a:lumMod val="60000"/>
                    <a:lumOff val="40000"/>
                  </a:schemeClr>
                </a:solidFill>
              </a:ln>
            </p:spPr>
            <p:txBody>
              <a:bodyPr/>
              <a:lstStyle/>
              <a:p>
                <a:pPr>
                  <a:lnSpc>
                    <a:spcPct val="150000"/>
                  </a:lnSpc>
                </a:pPr>
                <a:r>
                  <a:rPr lang="zh-CN" altLang="en-US" b="1" dirty="0"/>
                  <a:t>计算步骤：</a:t>
                </a:r>
                <a:endParaRPr lang="en-US" altLang="zh-CN" b="1" dirty="0"/>
              </a:p>
              <a:p>
                <a:pPr marL="514350" indent="-514350">
                  <a:lnSpc>
                    <a:spcPct val="150000"/>
                  </a:lnSpc>
                  <a:buFont typeface="+mj-ea"/>
                  <a:buAutoNum type="circleNumDbPlain"/>
                </a:pPr>
                <a:r>
                  <a:rPr lang="zh-CN" altLang="en-US" dirty="0"/>
                  <a:t>通过</a:t>
                </a:r>
                <a:r>
                  <a:rPr lang="en-US" altLang="zh-CN" dirty="0" err="1"/>
                  <a:t>LoG</a:t>
                </a:r>
                <a:r>
                  <a:rPr lang="zh-CN" altLang="en-US" dirty="0"/>
                  <a:t>对输入图像进行卷积</a:t>
                </a:r>
                <a:endParaRPr lang="en-US" altLang="zh-CN" dirty="0"/>
              </a:p>
              <a:p>
                <a:pPr marL="0" indent="0">
                  <a:lnSpc>
                    <a:spcPct val="150000"/>
                  </a:lnSpc>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𝑔</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m:rPr>
                              <m:sty m:val="p"/>
                            </m:rPr>
                            <a:rPr lang="en-US" altLang="zh-CN" b="0" i="1" smtClean="0">
                              <a:latin typeface="Cambria Math" panose="02040503050406030204" pitchFamily="18" charset="0"/>
                              <a:ea typeface="Cambria Math" panose="02040503050406030204" pitchFamily="18" charset="0"/>
                            </a:rPr>
                            <m:t>∇</m:t>
                          </m:r>
                        </m:e>
                        <m:sup>
                          <m:r>
                            <a:rPr lang="en-US" altLang="zh-CN" b="0" i="1" smtClean="0">
                              <a:latin typeface="Cambria Math" panose="02040503050406030204" pitchFamily="18" charset="0"/>
                            </a:rPr>
                            <m:t>2</m:t>
                          </m:r>
                        </m:sup>
                      </m:sSup>
                      <m:r>
                        <a:rPr lang="zh-CN" altLang="en-US" i="1">
                          <a:latin typeface="Cambria Math" panose="02040503050406030204" pitchFamily="18" charset="0"/>
                        </a:rPr>
                        <m:t>𝐺</m:t>
                      </m:r>
                      <m:r>
                        <a:rPr lang="en-US" altLang="zh-CN" i="1">
                          <a:latin typeface="Cambria Math" panose="02040503050406030204" pitchFamily="18" charset="0"/>
                        </a:rPr>
                        <m:t>(</m:t>
                      </m:r>
                      <m:r>
                        <a:rPr lang="zh-CN" altLang="en-US" i="1">
                          <a:latin typeface="Cambria Math" panose="02040503050406030204" pitchFamily="18" charset="0"/>
                        </a:rPr>
                        <m:t>𝑥</m:t>
                      </m:r>
                      <m:r>
                        <a:rPr lang="en-US" altLang="zh-CN" i="1">
                          <a:latin typeface="Cambria Math" panose="02040503050406030204" pitchFamily="18" charset="0"/>
                        </a:rPr>
                        <m:t>,</m:t>
                      </m:r>
                      <m:r>
                        <a:rPr lang="zh-CN" altLang="en-US" i="1">
                          <a:latin typeface="Cambria Math" panose="02040503050406030204" pitchFamily="18" charset="0"/>
                        </a:rPr>
                        <m:t>𝑦</m:t>
                      </m:r>
                      <m:r>
                        <a:rPr lang="en-US" altLang="zh-CN" i="1">
                          <a:latin typeface="Cambria Math" panose="02040503050406030204" pitchFamily="18" charset="0"/>
                        </a:rPr>
                        <m:t>)</m:t>
                      </m:r>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𝑓</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𝑥</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𝑦</m:t>
                      </m:r>
                      <m:r>
                        <a:rPr lang="en-US" altLang="zh-CN" b="0" i="1" smtClean="0">
                          <a:latin typeface="Cambria Math" panose="02040503050406030204" pitchFamily="18" charset="0"/>
                          <a:ea typeface="Cambria Math" panose="02040503050406030204" pitchFamily="18" charset="0"/>
                        </a:rPr>
                        <m:t>)</m:t>
                      </m:r>
                    </m:oMath>
                  </m:oMathPara>
                </a14:m>
                <a:endParaRPr lang="en-US" altLang="zh-CN" dirty="0"/>
              </a:p>
              <a:p>
                <a:pPr marL="514350" indent="-514350">
                  <a:lnSpc>
                    <a:spcPct val="150000"/>
                  </a:lnSpc>
                  <a:buFont typeface="+mj-ea"/>
                  <a:buAutoNum type="circleNumDbPlain" startAt="2"/>
                </a:pPr>
                <a:r>
                  <a:rPr lang="zh-CN" altLang="en-US" dirty="0"/>
                  <a:t>寻找</a:t>
                </a:r>
                <a14:m>
                  <m:oMath xmlns:m="http://schemas.openxmlformats.org/officeDocument/2006/math">
                    <m:r>
                      <a:rPr lang="en-US" altLang="zh-CN" b="0" i="1" smtClean="0">
                        <a:latin typeface="Cambria Math" panose="02040503050406030204" pitchFamily="18" charset="0"/>
                      </a:rPr>
                      <m:t>𝑔</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r>
                      <a:rPr lang="zh-CN" altLang="en-US" i="1">
                        <a:latin typeface="Cambria Math" panose="02040503050406030204" pitchFamily="18" charset="0"/>
                      </a:rPr>
                      <m:t>的</m:t>
                    </m:r>
                  </m:oMath>
                </a14:m>
                <a:r>
                  <a:rPr lang="zh-CN" altLang="en-US" dirty="0"/>
                  <a:t>过零点来确定边缘</a:t>
                </a:r>
                <a:endParaRPr lang="en-US" altLang="zh-CN" dirty="0"/>
              </a:p>
              <a:p>
                <a:pPr marL="514350" indent="-514350">
                  <a:lnSpc>
                    <a:spcPct val="150000"/>
                  </a:lnSpc>
                  <a:buFont typeface="+mj-ea"/>
                  <a:buAutoNum type="circleNumDbPlain" startAt="2"/>
                </a:pPr>
                <a:endParaRPr lang="zh-CN" altLang="en-US" dirty="0"/>
              </a:p>
            </p:txBody>
          </p:sp>
        </mc:Choice>
        <mc:Fallback xmlns="">
          <p:sp>
            <p:nvSpPr>
              <p:cNvPr id="3" name="Content Placeholder 2">
                <a:extLst>
                  <a:ext uri="{FF2B5EF4-FFF2-40B4-BE49-F238E27FC236}">
                    <a16:creationId xmlns:a16="http://schemas.microsoft.com/office/drawing/2014/main" id="{7DD5A3C7-8C39-4B19-A1E7-4C4732DAF9EE}"/>
                  </a:ext>
                </a:extLst>
              </p:cNvPr>
              <p:cNvSpPr>
                <a:spLocks noGrp="1" noRot="1" noChangeAspect="1" noMove="1" noResize="1" noEditPoints="1" noAdjustHandles="1" noChangeArrowheads="1" noChangeShapeType="1" noTextEdit="1"/>
              </p:cNvSpPr>
              <p:nvPr>
                <p:ph idx="1"/>
              </p:nvPr>
            </p:nvSpPr>
            <p:spPr>
              <a:xfrm>
                <a:off x="342899" y="1892300"/>
                <a:ext cx="5686426" cy="4351338"/>
              </a:xfrm>
              <a:blipFill>
                <a:blip r:embed="rId2"/>
                <a:stretch>
                  <a:fillRect l="-1597" r="-1065"/>
                </a:stretch>
              </a:blipFill>
              <a:ln w="38100">
                <a:solidFill>
                  <a:schemeClr val="accent2">
                    <a:lumMod val="60000"/>
                    <a:lumOff val="4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299375D9-7F8F-45DE-B9A2-CD2ADA53DF36}"/>
                  </a:ext>
                </a:extLst>
              </p:cNvPr>
              <p:cNvSpPr/>
              <p:nvPr/>
            </p:nvSpPr>
            <p:spPr>
              <a:xfrm>
                <a:off x="6666258" y="1825625"/>
                <a:ext cx="4879284" cy="738664"/>
              </a:xfrm>
              <a:prstGeom prst="rect">
                <a:avLst/>
              </a:prstGeom>
            </p:spPr>
            <p:txBody>
              <a:bodyPr wrap="none">
                <a:spAutoFit/>
              </a:bodyPr>
              <a:lstStyle/>
              <a:p>
                <a:pPr>
                  <a:lnSpc>
                    <a:spcPct val="150000"/>
                  </a:lnSpc>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𝑔</m:t>
                      </m:r>
                      <m:d>
                        <m:dPr>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𝑥</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𝑦</m:t>
                          </m:r>
                        </m:e>
                      </m:d>
                      <m:r>
                        <a:rPr lang="en-US" altLang="zh-CN" sz="2800" b="0" i="1" smtClean="0">
                          <a:latin typeface="Cambria Math" panose="02040503050406030204" pitchFamily="18" charset="0"/>
                        </a:rPr>
                        <m:t>=</m:t>
                      </m:r>
                      <m:sSup>
                        <m:sSupPr>
                          <m:ctrlPr>
                            <a:rPr lang="en-US" altLang="zh-CN" sz="2800" b="0" i="1" smtClean="0">
                              <a:latin typeface="Cambria Math" panose="02040503050406030204" pitchFamily="18" charset="0"/>
                            </a:rPr>
                          </m:ctrlPr>
                        </m:sSupPr>
                        <m:e>
                          <m:r>
                            <m:rPr>
                              <m:sty m:val="p"/>
                            </m:rPr>
                            <a:rPr lang="en-US" altLang="zh-CN" sz="2800" b="0" i="1" smtClean="0">
                              <a:latin typeface="Cambria Math" panose="02040503050406030204" pitchFamily="18" charset="0"/>
                              <a:ea typeface="Cambria Math" panose="02040503050406030204" pitchFamily="18" charset="0"/>
                            </a:rPr>
                            <m:t>∇</m:t>
                          </m:r>
                        </m:e>
                        <m:sup>
                          <m:r>
                            <a:rPr lang="en-US" altLang="zh-CN" sz="2800" b="0" i="1" smtClean="0">
                              <a:latin typeface="Cambria Math" panose="02040503050406030204" pitchFamily="18" charset="0"/>
                            </a:rPr>
                            <m:t>2</m:t>
                          </m:r>
                        </m:sup>
                      </m:sSup>
                      <m:r>
                        <a:rPr lang="en-US" altLang="zh-CN" sz="2800" b="0" i="1" smtClean="0">
                          <a:latin typeface="Cambria Math" panose="02040503050406030204" pitchFamily="18" charset="0"/>
                        </a:rPr>
                        <m:t>[</m:t>
                      </m:r>
                      <m:r>
                        <a:rPr lang="zh-CN" altLang="en-US" sz="2800" i="1">
                          <a:latin typeface="Cambria Math" panose="02040503050406030204" pitchFamily="18" charset="0"/>
                        </a:rPr>
                        <m:t>𝐺</m:t>
                      </m:r>
                      <m:d>
                        <m:dPr>
                          <m:ctrlPr>
                            <a:rPr lang="en-US" altLang="zh-CN" sz="2800" i="1">
                              <a:latin typeface="Cambria Math" panose="02040503050406030204" pitchFamily="18" charset="0"/>
                            </a:rPr>
                          </m:ctrlPr>
                        </m:dPr>
                        <m:e>
                          <m:r>
                            <a:rPr lang="zh-CN" altLang="en-US" sz="2800" i="1">
                              <a:latin typeface="Cambria Math" panose="02040503050406030204" pitchFamily="18" charset="0"/>
                            </a:rPr>
                            <m:t>𝑥</m:t>
                          </m:r>
                          <m:r>
                            <a:rPr lang="en-US" altLang="zh-CN" sz="2800" i="1">
                              <a:latin typeface="Cambria Math" panose="02040503050406030204" pitchFamily="18" charset="0"/>
                            </a:rPr>
                            <m:t>,</m:t>
                          </m:r>
                          <m:r>
                            <a:rPr lang="zh-CN" altLang="en-US" sz="2800" i="1">
                              <a:latin typeface="Cambria Math" panose="02040503050406030204" pitchFamily="18" charset="0"/>
                            </a:rPr>
                            <m:t>𝑦</m:t>
                          </m:r>
                        </m:e>
                      </m:d>
                      <m:r>
                        <a:rPr lang="en-US" altLang="zh-CN" sz="2800" b="0" i="1" smtClean="0">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𝑓</m:t>
                      </m:r>
                      <m:d>
                        <m:dPr>
                          <m:ctrlPr>
                            <a:rPr lang="en-US" altLang="zh-CN" sz="2800" b="0" i="1" smtClean="0">
                              <a:latin typeface="Cambria Math" panose="02040503050406030204" pitchFamily="18" charset="0"/>
                              <a:ea typeface="Cambria Math" panose="02040503050406030204" pitchFamily="18" charset="0"/>
                            </a:rPr>
                          </m:ctrlPr>
                        </m:dPr>
                        <m:e>
                          <m:r>
                            <a:rPr lang="en-US" altLang="zh-CN" sz="2800" b="0" i="1" smtClean="0">
                              <a:latin typeface="Cambria Math" panose="02040503050406030204" pitchFamily="18" charset="0"/>
                              <a:ea typeface="Cambria Math" panose="02040503050406030204" pitchFamily="18" charset="0"/>
                            </a:rPr>
                            <m:t>𝑥</m:t>
                          </m:r>
                          <m:r>
                            <a:rPr lang="en-US" altLang="zh-CN" sz="2800" b="0" i="1" smtClean="0">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𝑦</m:t>
                          </m:r>
                        </m:e>
                      </m:d>
                      <m:r>
                        <a:rPr lang="en-US" altLang="zh-CN" sz="2800" b="0" i="1" smtClean="0">
                          <a:latin typeface="Cambria Math" panose="02040503050406030204" pitchFamily="18" charset="0"/>
                          <a:ea typeface="Cambria Math" panose="02040503050406030204" pitchFamily="18" charset="0"/>
                        </a:rPr>
                        <m:t>]</m:t>
                      </m:r>
                    </m:oMath>
                  </m:oMathPara>
                </a14:m>
                <a:endParaRPr lang="en-US" altLang="zh-CN" sz="2800" dirty="0"/>
              </a:p>
            </p:txBody>
          </p:sp>
        </mc:Choice>
        <mc:Fallback xmlns="">
          <p:sp>
            <p:nvSpPr>
              <p:cNvPr id="7" name="Rectangle 6">
                <a:extLst>
                  <a:ext uri="{FF2B5EF4-FFF2-40B4-BE49-F238E27FC236}">
                    <a16:creationId xmlns:a16="http://schemas.microsoft.com/office/drawing/2014/main" id="{299375D9-7F8F-45DE-B9A2-CD2ADA53DF36}"/>
                  </a:ext>
                </a:extLst>
              </p:cNvPr>
              <p:cNvSpPr>
                <a:spLocks noRot="1" noChangeAspect="1" noMove="1" noResize="1" noEditPoints="1" noAdjustHandles="1" noChangeArrowheads="1" noChangeShapeType="1" noTextEdit="1"/>
              </p:cNvSpPr>
              <p:nvPr/>
            </p:nvSpPr>
            <p:spPr>
              <a:xfrm>
                <a:off x="6666258" y="1825625"/>
                <a:ext cx="4879284" cy="738664"/>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18AC7591-D13A-4CB5-818D-2A0389F5EC7E}"/>
                  </a:ext>
                </a:extLst>
              </p:cNvPr>
              <p:cNvSpPr txBox="1">
                <a:spLocks/>
              </p:cNvSpPr>
              <p:nvPr/>
            </p:nvSpPr>
            <p:spPr>
              <a:xfrm>
                <a:off x="6562725" y="2930525"/>
                <a:ext cx="5086350" cy="3562350"/>
              </a:xfrm>
              <a:prstGeom prst="rect">
                <a:avLst/>
              </a:prstGeom>
              <a:ln w="38100">
                <a:solidFill>
                  <a:schemeClr val="accent2">
                    <a:lumMod val="60000"/>
                    <a:lumOff val="40000"/>
                  </a:schemeClr>
                </a:solid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zh-CN" altLang="en-US" b="1" dirty="0"/>
                  <a:t>实际计算步骤：</a:t>
                </a:r>
                <a:endParaRPr lang="en-US" altLang="zh-CN" b="1" dirty="0"/>
              </a:p>
              <a:p>
                <a:pPr marL="514350" indent="-514350">
                  <a:lnSpc>
                    <a:spcPct val="150000"/>
                  </a:lnSpc>
                  <a:buFont typeface="+mj-ea"/>
                  <a:buAutoNum type="circleNumDbPlain"/>
                </a:pPr>
                <a:r>
                  <a:rPr lang="zh-CN" altLang="en-US" dirty="0"/>
                  <a:t>使用一个</a:t>
                </a:r>
                <a14:m>
                  <m:oMath xmlns:m="http://schemas.openxmlformats.org/officeDocument/2006/math">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𝑛</m:t>
                    </m:r>
                  </m:oMath>
                </a14:m>
                <a:r>
                  <a:rPr lang="zh-CN" altLang="en-US" dirty="0"/>
                  <a:t>的高斯低通滤波器对输入图像进行滤波</a:t>
                </a:r>
                <a:endParaRPr lang="en-US" altLang="zh-CN" dirty="0"/>
              </a:p>
              <a:p>
                <a:pPr marL="514350" indent="-514350">
                  <a:lnSpc>
                    <a:spcPct val="150000"/>
                  </a:lnSpc>
                  <a:buFont typeface="+mj-ea"/>
                  <a:buAutoNum type="circleNumDbPlain" startAt="2"/>
                </a:pPr>
                <a:r>
                  <a:rPr lang="zh-CN" altLang="en-US" dirty="0"/>
                  <a:t>进行拉普拉斯滤波</a:t>
                </a:r>
                <a:endParaRPr lang="en-US" altLang="zh-CN" dirty="0"/>
              </a:p>
              <a:p>
                <a:pPr marL="514350" indent="-514350">
                  <a:lnSpc>
                    <a:spcPct val="150000"/>
                  </a:lnSpc>
                  <a:buFont typeface="+mj-ea"/>
                  <a:buAutoNum type="circleNumDbPlain" startAt="2"/>
                </a:pPr>
                <a:r>
                  <a:rPr lang="zh-CN" altLang="en-US" dirty="0"/>
                  <a:t>寻找过零点</a:t>
                </a:r>
                <a:endParaRPr lang="en-US" altLang="zh-CN" dirty="0"/>
              </a:p>
              <a:p>
                <a:pPr marL="514350" indent="-514350">
                  <a:lnSpc>
                    <a:spcPct val="150000"/>
                  </a:lnSpc>
                  <a:buFont typeface="+mj-ea"/>
                  <a:buAutoNum type="circleNumDbPlain" startAt="2"/>
                </a:pPr>
                <a:endParaRPr lang="zh-CN" altLang="en-US" dirty="0"/>
              </a:p>
            </p:txBody>
          </p:sp>
        </mc:Choice>
        <mc:Fallback xmlns="">
          <p:sp>
            <p:nvSpPr>
              <p:cNvPr id="8" name="Content Placeholder 2">
                <a:extLst>
                  <a:ext uri="{FF2B5EF4-FFF2-40B4-BE49-F238E27FC236}">
                    <a16:creationId xmlns:a16="http://schemas.microsoft.com/office/drawing/2014/main" id="{18AC7591-D13A-4CB5-818D-2A0389F5EC7E}"/>
                  </a:ext>
                </a:extLst>
              </p:cNvPr>
              <p:cNvSpPr txBox="1">
                <a:spLocks noRot="1" noChangeAspect="1" noMove="1" noResize="1" noEditPoints="1" noAdjustHandles="1" noChangeArrowheads="1" noChangeShapeType="1" noTextEdit="1"/>
              </p:cNvSpPr>
              <p:nvPr/>
            </p:nvSpPr>
            <p:spPr>
              <a:xfrm>
                <a:off x="6562725" y="2930525"/>
                <a:ext cx="5086350" cy="3562350"/>
              </a:xfrm>
              <a:prstGeom prst="rect">
                <a:avLst/>
              </a:prstGeom>
              <a:blipFill>
                <a:blip r:embed="rId4"/>
                <a:stretch>
                  <a:fillRect l="-1786"/>
                </a:stretch>
              </a:blipFill>
              <a:ln w="38100">
                <a:solidFill>
                  <a:schemeClr val="accent2">
                    <a:lumMod val="60000"/>
                    <a:lumOff val="40000"/>
                  </a:schemeClr>
                </a:solidFill>
              </a:ln>
            </p:spPr>
            <p:txBody>
              <a:bodyPr/>
              <a:lstStyle/>
              <a:p>
                <a:r>
                  <a:rPr lang="zh-CN" altLang="en-US">
                    <a:noFill/>
                  </a:rPr>
                  <a:t> </a:t>
                </a:r>
              </a:p>
            </p:txBody>
          </p:sp>
        </mc:Fallback>
      </mc:AlternateContent>
    </p:spTree>
    <p:extLst>
      <p:ext uri="{BB962C8B-B14F-4D97-AF65-F5344CB8AC3E}">
        <p14:creationId xmlns:p14="http://schemas.microsoft.com/office/powerpoint/2010/main" val="193281478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0098B-CA7A-4670-96E5-8A819933ED9A}"/>
              </a:ext>
            </a:extLst>
          </p:cNvPr>
          <p:cNvSpPr>
            <a:spLocks noGrp="1"/>
          </p:cNvSpPr>
          <p:nvPr>
            <p:ph type="title"/>
          </p:nvPr>
        </p:nvSpPr>
        <p:spPr/>
        <p:txBody>
          <a:bodyPr/>
          <a:lstStyle/>
          <a:p>
            <a:r>
              <a:rPr lang="en-US" altLang="zh-CN" b="1" dirty="0"/>
              <a:t>Marr-Hildreth</a:t>
            </a:r>
            <a:r>
              <a:rPr lang="zh-CN" altLang="en-US" b="1" dirty="0"/>
              <a:t>边缘检测算法</a:t>
            </a:r>
          </a:p>
        </p:txBody>
      </p:sp>
      <p:pic>
        <p:nvPicPr>
          <p:cNvPr id="11" name="Picture 10">
            <a:extLst>
              <a:ext uri="{FF2B5EF4-FFF2-40B4-BE49-F238E27FC236}">
                <a16:creationId xmlns:a16="http://schemas.microsoft.com/office/drawing/2014/main" id="{9EFF8A2C-DA53-4AA8-ADE4-21C3ADAC412D}"/>
              </a:ext>
            </a:extLst>
          </p:cNvPr>
          <p:cNvPicPr>
            <a:picLocks noChangeAspect="1"/>
          </p:cNvPicPr>
          <p:nvPr/>
        </p:nvPicPr>
        <p:blipFill>
          <a:blip r:embed="rId2"/>
          <a:stretch>
            <a:fillRect/>
          </a:stretch>
        </p:blipFill>
        <p:spPr>
          <a:xfrm>
            <a:off x="3818929" y="1429211"/>
            <a:ext cx="4554141" cy="4753696"/>
          </a:xfrm>
          <a:prstGeom prst="rect">
            <a:avLst/>
          </a:prstGeom>
        </p:spPr>
      </p:pic>
      <p:sp>
        <p:nvSpPr>
          <p:cNvPr id="12" name="Rectangle 11">
            <a:extLst>
              <a:ext uri="{FF2B5EF4-FFF2-40B4-BE49-F238E27FC236}">
                <a16:creationId xmlns:a16="http://schemas.microsoft.com/office/drawing/2014/main" id="{A6E26351-0C33-4AF3-8912-F48F37C9D23B}"/>
              </a:ext>
            </a:extLst>
          </p:cNvPr>
          <p:cNvSpPr/>
          <p:nvPr/>
        </p:nvSpPr>
        <p:spPr>
          <a:xfrm>
            <a:off x="3665934" y="2155478"/>
            <a:ext cx="838200" cy="369332"/>
          </a:xfrm>
          <a:prstGeom prst="rect">
            <a:avLst/>
          </a:prstGeom>
        </p:spPr>
        <p:txBody>
          <a:bodyPr wrap="square">
            <a:spAutoFit/>
          </a:bodyPr>
          <a:lstStyle/>
          <a:p>
            <a:r>
              <a:rPr lang="zh-CN" altLang="en-US" dirty="0">
                <a:solidFill>
                  <a:srgbClr val="EE2B0A"/>
                </a:solidFill>
                <a:latin typeface="SimSun" panose="02010600030101010101" pitchFamily="2" charset="-122"/>
                <a:ea typeface="SimSun" panose="02010600030101010101" pitchFamily="2" charset="-122"/>
              </a:rPr>
              <a:t>原图</a:t>
            </a:r>
            <a:endParaRPr lang="zh-CN" altLang="en-US" dirty="0"/>
          </a:p>
        </p:txBody>
      </p:sp>
      <p:sp>
        <p:nvSpPr>
          <p:cNvPr id="13" name="Rectangle 12">
            <a:extLst>
              <a:ext uri="{FF2B5EF4-FFF2-40B4-BE49-F238E27FC236}">
                <a16:creationId xmlns:a16="http://schemas.microsoft.com/office/drawing/2014/main" id="{04B42D7A-0307-4C5A-A65E-88D5A026065C}"/>
              </a:ext>
            </a:extLst>
          </p:cNvPr>
          <p:cNvSpPr/>
          <p:nvPr/>
        </p:nvSpPr>
        <p:spPr>
          <a:xfrm>
            <a:off x="7486650" y="2146638"/>
            <a:ext cx="2095500" cy="369332"/>
          </a:xfrm>
          <a:prstGeom prst="rect">
            <a:avLst/>
          </a:prstGeom>
        </p:spPr>
        <p:txBody>
          <a:bodyPr wrap="square">
            <a:spAutoFit/>
          </a:bodyPr>
          <a:lstStyle/>
          <a:p>
            <a:r>
              <a:rPr lang="en-US" altLang="zh-CN" dirty="0">
                <a:solidFill>
                  <a:srgbClr val="EE2B0A"/>
                </a:solidFill>
                <a:latin typeface="TimesNewRomanPSMT"/>
              </a:rPr>
              <a:t>Sobel</a:t>
            </a:r>
            <a:r>
              <a:rPr lang="zh-CN" altLang="en-US" dirty="0">
                <a:solidFill>
                  <a:srgbClr val="EE2B0A"/>
                </a:solidFill>
                <a:latin typeface="SimSun" panose="02010600030101010101" pitchFamily="2" charset="-122"/>
                <a:ea typeface="SimSun" panose="02010600030101010101" pitchFamily="2" charset="-122"/>
              </a:rPr>
              <a:t>算子检测结果</a:t>
            </a:r>
            <a:endParaRPr lang="zh-CN" altLang="en-US" dirty="0"/>
          </a:p>
        </p:txBody>
      </p:sp>
      <p:sp>
        <p:nvSpPr>
          <p:cNvPr id="14" name="Rectangle 13">
            <a:extLst>
              <a:ext uri="{FF2B5EF4-FFF2-40B4-BE49-F238E27FC236}">
                <a16:creationId xmlns:a16="http://schemas.microsoft.com/office/drawing/2014/main" id="{F59FC198-A0F9-40E9-B4FE-FAACD08BA535}"/>
              </a:ext>
            </a:extLst>
          </p:cNvPr>
          <p:cNvSpPr/>
          <p:nvPr/>
        </p:nvSpPr>
        <p:spPr>
          <a:xfrm>
            <a:off x="2238077" y="5144185"/>
            <a:ext cx="1543050" cy="369332"/>
          </a:xfrm>
          <a:prstGeom prst="rect">
            <a:avLst/>
          </a:prstGeom>
        </p:spPr>
        <p:txBody>
          <a:bodyPr wrap="square">
            <a:spAutoFit/>
          </a:bodyPr>
          <a:lstStyle/>
          <a:p>
            <a:r>
              <a:rPr lang="en-US" altLang="zh-CN" dirty="0" err="1">
                <a:solidFill>
                  <a:srgbClr val="EE2B0A"/>
                </a:solidFill>
                <a:latin typeface="TimesNewRomanPSMT"/>
              </a:rPr>
              <a:t>LoG</a:t>
            </a:r>
            <a:r>
              <a:rPr lang="zh-CN" altLang="en-US" dirty="0">
                <a:solidFill>
                  <a:srgbClr val="EE2B0A"/>
                </a:solidFill>
                <a:latin typeface="SimSun" panose="02010600030101010101" pitchFamily="2" charset="-122"/>
                <a:ea typeface="SimSun" panose="02010600030101010101" pitchFamily="2" charset="-122"/>
              </a:rPr>
              <a:t>检测结果</a:t>
            </a:r>
            <a:endParaRPr lang="zh-CN" altLang="en-US" dirty="0"/>
          </a:p>
        </p:txBody>
      </p:sp>
      <p:sp>
        <p:nvSpPr>
          <p:cNvPr id="15" name="Rectangle 14">
            <a:extLst>
              <a:ext uri="{FF2B5EF4-FFF2-40B4-BE49-F238E27FC236}">
                <a16:creationId xmlns:a16="http://schemas.microsoft.com/office/drawing/2014/main" id="{470EAFCC-1308-4C39-B773-29FD781C111C}"/>
              </a:ext>
            </a:extLst>
          </p:cNvPr>
          <p:cNvSpPr/>
          <p:nvPr/>
        </p:nvSpPr>
        <p:spPr>
          <a:xfrm>
            <a:off x="4229099" y="6211669"/>
            <a:ext cx="4219575" cy="646331"/>
          </a:xfrm>
          <a:prstGeom prst="rect">
            <a:avLst/>
          </a:prstGeom>
        </p:spPr>
        <p:txBody>
          <a:bodyPr wrap="square">
            <a:spAutoFit/>
          </a:bodyPr>
          <a:lstStyle/>
          <a:p>
            <a:r>
              <a:rPr lang="zh-CN" altLang="en-US" dirty="0">
                <a:solidFill>
                  <a:srgbClr val="EE2B0A"/>
                </a:solidFill>
                <a:latin typeface="SimSun" panose="02010600030101010101" pitchFamily="2" charset="-122"/>
                <a:ea typeface="SimSun" panose="02010600030101010101" pitchFamily="2" charset="-122"/>
              </a:rPr>
              <a:t>对</a:t>
            </a:r>
            <a:r>
              <a:rPr lang="en-US" altLang="zh-CN" dirty="0" err="1">
                <a:solidFill>
                  <a:srgbClr val="EE2B0A"/>
                </a:solidFill>
                <a:latin typeface="TimesNewRomanPSMT"/>
              </a:rPr>
              <a:t>LoG</a:t>
            </a:r>
            <a:r>
              <a:rPr lang="zh-CN" altLang="en-US" dirty="0">
                <a:solidFill>
                  <a:srgbClr val="EE2B0A"/>
                </a:solidFill>
                <a:latin typeface="SimSun" panose="02010600030101010101" pitchFamily="2" charset="-122"/>
                <a:ea typeface="SimSun" panose="02010600030101010101" pitchFamily="2" charset="-122"/>
              </a:rPr>
              <a:t>图像设置阈值的结果，所有正值区域为白色，所有负值区域为黑</a:t>
            </a:r>
            <a:r>
              <a:rPr lang="zh-CN" altLang="en-US" dirty="0"/>
              <a:t> </a:t>
            </a:r>
          </a:p>
        </p:txBody>
      </p:sp>
      <p:sp>
        <p:nvSpPr>
          <p:cNvPr id="16" name="Rectangle 15">
            <a:extLst>
              <a:ext uri="{FF2B5EF4-FFF2-40B4-BE49-F238E27FC236}">
                <a16:creationId xmlns:a16="http://schemas.microsoft.com/office/drawing/2014/main" id="{012EB200-5053-49D9-B1CD-F9A3AB00585D}"/>
              </a:ext>
            </a:extLst>
          </p:cNvPr>
          <p:cNvSpPr/>
          <p:nvPr/>
        </p:nvSpPr>
        <p:spPr>
          <a:xfrm>
            <a:off x="8448674" y="4867186"/>
            <a:ext cx="2609850" cy="923330"/>
          </a:xfrm>
          <a:prstGeom prst="rect">
            <a:avLst/>
          </a:prstGeom>
        </p:spPr>
        <p:txBody>
          <a:bodyPr wrap="square">
            <a:spAutoFit/>
          </a:bodyPr>
          <a:lstStyle/>
          <a:p>
            <a:r>
              <a:rPr lang="zh-CN" altLang="en-US" dirty="0">
                <a:solidFill>
                  <a:srgbClr val="EE2B0A"/>
                </a:solidFill>
                <a:latin typeface="SimSun" panose="02010600030101010101" pitchFamily="2" charset="-122"/>
                <a:ea typeface="SimSun" panose="02010600030101010101" pitchFamily="2" charset="-122"/>
              </a:rPr>
              <a:t>检测边缘：寻找零交叉点，检测黑色和白色区域之间的过渡</a:t>
            </a:r>
            <a:r>
              <a:rPr lang="zh-CN" altLang="en-US" dirty="0"/>
              <a:t> </a:t>
            </a:r>
          </a:p>
        </p:txBody>
      </p:sp>
    </p:spTree>
    <p:extLst>
      <p:ext uri="{BB962C8B-B14F-4D97-AF65-F5344CB8AC3E}">
        <p14:creationId xmlns:p14="http://schemas.microsoft.com/office/powerpoint/2010/main" val="268259599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F5FDF-B60C-45E8-8042-532DB131859F}"/>
              </a:ext>
            </a:extLst>
          </p:cNvPr>
          <p:cNvSpPr>
            <a:spLocks noGrp="1"/>
          </p:cNvSpPr>
          <p:nvPr>
            <p:ph type="title"/>
          </p:nvPr>
        </p:nvSpPr>
        <p:spPr/>
        <p:txBody>
          <a:bodyPr/>
          <a:lstStyle/>
          <a:p>
            <a:r>
              <a:rPr lang="en-US" altLang="zh-CN" b="1" dirty="0"/>
              <a:t>Marr-Hildreth</a:t>
            </a:r>
            <a:r>
              <a:rPr lang="zh-CN" altLang="en-US" b="1" dirty="0"/>
              <a:t>边缘检测算法</a:t>
            </a:r>
            <a:endParaRPr lang="zh-CN" altLang="en-US" dirty="0"/>
          </a:p>
        </p:txBody>
      </p:sp>
      <p:sp>
        <p:nvSpPr>
          <p:cNvPr id="3" name="Content Placeholder 2">
            <a:extLst>
              <a:ext uri="{FF2B5EF4-FFF2-40B4-BE49-F238E27FC236}">
                <a16:creationId xmlns:a16="http://schemas.microsoft.com/office/drawing/2014/main" id="{74E220C0-523F-4204-9B2E-19729D9B1677}"/>
              </a:ext>
            </a:extLst>
          </p:cNvPr>
          <p:cNvSpPr>
            <a:spLocks noGrp="1"/>
          </p:cNvSpPr>
          <p:nvPr>
            <p:ph idx="1"/>
          </p:nvPr>
        </p:nvSpPr>
        <p:spPr/>
        <p:txBody>
          <a:bodyPr>
            <a:normAutofit lnSpcReduction="10000"/>
          </a:bodyPr>
          <a:lstStyle/>
          <a:p>
            <a:pPr>
              <a:lnSpc>
                <a:spcPct val="150000"/>
              </a:lnSpc>
            </a:pPr>
            <a:r>
              <a:rPr lang="zh-CN" altLang="en-US" sz="3200" b="1" dirty="0"/>
              <a:t>对比二阶拉普拉斯算子和一阶</a:t>
            </a:r>
            <a:r>
              <a:rPr lang="en-US" altLang="zh-CN" sz="3200" b="1" dirty="0"/>
              <a:t>Sobel</a:t>
            </a:r>
            <a:r>
              <a:rPr lang="zh-CN" altLang="en-US" sz="3200" b="1" dirty="0"/>
              <a:t>梯度算子</a:t>
            </a:r>
            <a:endParaRPr lang="en-US" altLang="zh-CN" sz="3200" b="1" dirty="0"/>
          </a:p>
          <a:p>
            <a:pPr lvl="1">
              <a:lnSpc>
                <a:spcPct val="150000"/>
              </a:lnSpc>
            </a:pPr>
            <a:r>
              <a:rPr lang="zh-CN" altLang="en-US" sz="2800" b="1" dirty="0"/>
              <a:t>缺点：</a:t>
            </a:r>
            <a:endParaRPr lang="en-US" altLang="zh-CN" sz="2800" b="1" dirty="0"/>
          </a:p>
          <a:p>
            <a:pPr lvl="2">
              <a:lnSpc>
                <a:spcPct val="150000"/>
              </a:lnSpc>
            </a:pPr>
            <a:r>
              <a:rPr lang="zh-CN" altLang="en-US" sz="2400" dirty="0"/>
              <a:t>边缘由许多闭合环的零交叉点决定</a:t>
            </a:r>
          </a:p>
          <a:p>
            <a:pPr lvl="2">
              <a:lnSpc>
                <a:spcPct val="150000"/>
              </a:lnSpc>
            </a:pPr>
            <a:r>
              <a:rPr lang="zh-CN" altLang="en-US" sz="2400" dirty="0"/>
              <a:t>零交叉点的计算比较复杂</a:t>
            </a:r>
          </a:p>
          <a:p>
            <a:pPr lvl="1">
              <a:lnSpc>
                <a:spcPct val="150000"/>
              </a:lnSpc>
            </a:pPr>
            <a:r>
              <a:rPr lang="zh-CN" altLang="en-US" sz="2800" b="1" dirty="0"/>
              <a:t>优点</a:t>
            </a:r>
          </a:p>
          <a:p>
            <a:pPr lvl="2">
              <a:lnSpc>
                <a:spcPct val="150000"/>
              </a:lnSpc>
            </a:pPr>
            <a:r>
              <a:rPr lang="zh-CN" altLang="en-US" sz="2400" dirty="0"/>
              <a:t>零交叉点图像中的边缘比梯度边缘细</a:t>
            </a:r>
          </a:p>
          <a:p>
            <a:pPr lvl="2">
              <a:lnSpc>
                <a:spcPct val="150000"/>
              </a:lnSpc>
            </a:pPr>
            <a:r>
              <a:rPr lang="zh-CN" altLang="en-US" sz="2400" dirty="0"/>
              <a:t>抑制噪声的能力和反干扰性能</a:t>
            </a:r>
          </a:p>
        </p:txBody>
      </p:sp>
    </p:spTree>
    <p:extLst>
      <p:ext uri="{BB962C8B-B14F-4D97-AF65-F5344CB8AC3E}">
        <p14:creationId xmlns:p14="http://schemas.microsoft.com/office/powerpoint/2010/main" val="41507391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ABC15-A717-41A0-A023-CAE78BC2896C}"/>
              </a:ext>
            </a:extLst>
          </p:cNvPr>
          <p:cNvSpPr>
            <a:spLocks noGrp="1"/>
          </p:cNvSpPr>
          <p:nvPr>
            <p:ph type="title"/>
          </p:nvPr>
        </p:nvSpPr>
        <p:spPr/>
        <p:txBody>
          <a:bodyPr/>
          <a:lstStyle/>
          <a:p>
            <a:r>
              <a:rPr lang="en-US" altLang="zh-CN" b="1" dirty="0"/>
              <a:t>Canny</a:t>
            </a:r>
            <a:r>
              <a:rPr lang="zh-CN" altLang="en-US" b="1" dirty="0"/>
              <a:t>边缘检测算法</a:t>
            </a:r>
          </a:p>
        </p:txBody>
      </p:sp>
      <p:sp>
        <p:nvSpPr>
          <p:cNvPr id="3" name="Content Placeholder 2">
            <a:extLst>
              <a:ext uri="{FF2B5EF4-FFF2-40B4-BE49-F238E27FC236}">
                <a16:creationId xmlns:a16="http://schemas.microsoft.com/office/drawing/2014/main" id="{5D02A738-83DA-43FD-8F6F-023170E85946}"/>
              </a:ext>
            </a:extLst>
          </p:cNvPr>
          <p:cNvSpPr>
            <a:spLocks noGrp="1"/>
          </p:cNvSpPr>
          <p:nvPr>
            <p:ph idx="1"/>
          </p:nvPr>
        </p:nvSpPr>
        <p:spPr/>
        <p:txBody>
          <a:bodyPr/>
          <a:lstStyle/>
          <a:p>
            <a:pPr>
              <a:lnSpc>
                <a:spcPct val="150000"/>
              </a:lnSpc>
            </a:pPr>
            <a:r>
              <a:rPr lang="zh-CN" altLang="en-US" b="1" dirty="0"/>
              <a:t>三个主要目标：</a:t>
            </a:r>
            <a:endParaRPr lang="en-US" altLang="zh-CN" b="1" dirty="0"/>
          </a:p>
          <a:p>
            <a:pPr marL="514350" indent="-514350">
              <a:lnSpc>
                <a:spcPct val="150000"/>
              </a:lnSpc>
              <a:buFont typeface="+mj-ea"/>
              <a:buAutoNum type="circleNumDbPlain"/>
            </a:pPr>
            <a:r>
              <a:rPr lang="zh-CN" altLang="en-US" b="1" dirty="0">
                <a:solidFill>
                  <a:srgbClr val="00B0F0"/>
                </a:solidFill>
              </a:rPr>
              <a:t>低错误率：</a:t>
            </a:r>
            <a:r>
              <a:rPr lang="zh-CN" altLang="en-US" dirty="0"/>
              <a:t>所有边缘都应被找到，并且没有虚假响应。</a:t>
            </a:r>
            <a:endParaRPr lang="en-US" altLang="zh-CN" dirty="0"/>
          </a:p>
          <a:p>
            <a:pPr marL="514350" indent="-514350">
              <a:lnSpc>
                <a:spcPct val="150000"/>
              </a:lnSpc>
              <a:buFont typeface="+mj-ea"/>
              <a:buAutoNum type="circleNumDbPlain"/>
            </a:pPr>
            <a:r>
              <a:rPr lang="zh-CN" altLang="en-US" b="1" dirty="0">
                <a:solidFill>
                  <a:srgbClr val="00B0F0"/>
                </a:solidFill>
              </a:rPr>
              <a:t>边缘点应被很好的定位：</a:t>
            </a:r>
            <a:r>
              <a:rPr lang="zh-CN" altLang="en-US" dirty="0"/>
              <a:t>已定位的边缘尽可能地接近真实边缘，即边缘上的点和真实边缘中心之间的距离最小</a:t>
            </a:r>
            <a:endParaRPr lang="en-US" altLang="zh-CN" dirty="0"/>
          </a:p>
          <a:p>
            <a:pPr marL="514350" indent="-514350">
              <a:lnSpc>
                <a:spcPct val="150000"/>
              </a:lnSpc>
              <a:buFont typeface="+mj-ea"/>
              <a:buAutoNum type="circleNumDbPlain"/>
            </a:pPr>
            <a:r>
              <a:rPr lang="zh-CN" altLang="en-US" b="1" dirty="0">
                <a:solidFill>
                  <a:srgbClr val="00B0F0"/>
                </a:solidFill>
              </a:rPr>
              <a:t>单个边缘响应点：</a:t>
            </a:r>
            <a:r>
              <a:rPr lang="zh-CN" altLang="en-US" dirty="0"/>
              <a:t>对每个真实的边缘点，检测子应只返回一个点。</a:t>
            </a:r>
          </a:p>
        </p:txBody>
      </p:sp>
    </p:spTree>
    <p:extLst>
      <p:ext uri="{BB962C8B-B14F-4D97-AF65-F5344CB8AC3E}">
        <p14:creationId xmlns:p14="http://schemas.microsoft.com/office/powerpoint/2010/main" val="32227162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643DB-E77D-47F2-84FB-DE0E5E3C600E}"/>
              </a:ext>
            </a:extLst>
          </p:cNvPr>
          <p:cNvSpPr>
            <a:spLocks noGrp="1"/>
          </p:cNvSpPr>
          <p:nvPr>
            <p:ph type="title"/>
          </p:nvPr>
        </p:nvSpPr>
        <p:spPr/>
        <p:txBody>
          <a:bodyPr/>
          <a:lstStyle/>
          <a:p>
            <a:r>
              <a:rPr lang="en-US" altLang="zh-CN" b="1" dirty="0"/>
              <a:t>Canny</a:t>
            </a:r>
            <a:r>
              <a:rPr lang="zh-CN" altLang="en-US" b="1" dirty="0"/>
              <a:t>边缘检测算法</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D6CCF48-B852-46B6-BC5E-F1F6B99D8B58}"/>
                  </a:ext>
                </a:extLst>
              </p:cNvPr>
              <p:cNvSpPr>
                <a:spLocks noGrp="1"/>
              </p:cNvSpPr>
              <p:nvPr>
                <p:ph idx="1"/>
              </p:nvPr>
            </p:nvSpPr>
            <p:spPr/>
            <p:txBody>
              <a:bodyPr>
                <a:normAutofit fontScale="85000" lnSpcReduction="10000"/>
              </a:bodyPr>
              <a:lstStyle/>
              <a:p>
                <a:pPr marL="514350" indent="-514350">
                  <a:lnSpc>
                    <a:spcPct val="120000"/>
                  </a:lnSpc>
                  <a:buFont typeface="+mj-lt"/>
                  <a:buAutoNum type="arabicPeriod"/>
                </a:pPr>
                <a:r>
                  <a:rPr lang="zh-CN" altLang="en-US" b="1" dirty="0"/>
                  <a:t>通过高斯滤波器对图像进行平滑</a:t>
                </a:r>
                <a:r>
                  <a:rPr lang="en-US" altLang="zh-CN" b="1" dirty="0"/>
                  <a:t>: </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𝑓</m:t>
                        </m:r>
                      </m:e>
                      <m:sub>
                        <m:r>
                          <a:rPr lang="en-US" altLang="zh-CN" b="0" i="1" smtClean="0">
                            <a:latin typeface="Cambria Math" panose="02040503050406030204" pitchFamily="18" charset="0"/>
                          </a:rPr>
                          <m:t>𝑠</m:t>
                        </m:r>
                      </m:sub>
                    </m:sSub>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𝐺</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𝑓</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𝑥</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𝑦</m:t>
                    </m:r>
                    <m:r>
                      <a:rPr lang="en-US" altLang="zh-CN" b="0" i="1" smtClean="0">
                        <a:latin typeface="Cambria Math" panose="02040503050406030204" pitchFamily="18" charset="0"/>
                        <a:ea typeface="Cambria Math" panose="02040503050406030204" pitchFamily="18" charset="0"/>
                      </a:rPr>
                      <m:t>)</m:t>
                    </m:r>
                  </m:oMath>
                </a14:m>
                <a:endParaRPr lang="en-US" altLang="zh-CN" dirty="0"/>
              </a:p>
              <a:p>
                <a:pPr marL="514350" indent="-514350">
                  <a:lnSpc>
                    <a:spcPct val="120000"/>
                  </a:lnSpc>
                  <a:buFont typeface="+mj-lt"/>
                  <a:buAutoNum type="arabicPeriod"/>
                </a:pPr>
                <a:r>
                  <a:rPr lang="zh-CN" altLang="en-US" b="1" dirty="0"/>
                  <a:t>计算幅度和角度</a:t>
                </a:r>
                <a:endParaRPr lang="en-US" altLang="zh-CN" b="1" dirty="0"/>
              </a:p>
              <a:p>
                <a:pPr lvl="1">
                  <a:lnSpc>
                    <a:spcPct val="120000"/>
                  </a:lnSpc>
                </a:pP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𝑀</m:t>
                        </m:r>
                      </m:e>
                      <m:sub>
                        <m:r>
                          <a:rPr lang="en-US" altLang="zh-CN" b="0" i="1" smtClean="0">
                            <a:latin typeface="Cambria Math" panose="02040503050406030204" pitchFamily="18" charset="0"/>
                          </a:rPr>
                          <m:t>𝑠</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r>
                      <a:rPr lang="en-US" altLang="zh-CN" b="0" i="1" smtClean="0">
                        <a:latin typeface="Cambria Math" panose="02040503050406030204" pitchFamily="18" charset="0"/>
                      </a:rPr>
                      <m:t>=</m:t>
                    </m:r>
                    <m:rad>
                      <m:radPr>
                        <m:degHide m:val="on"/>
                        <m:ctrlPr>
                          <a:rPr lang="en-US" altLang="zh-CN" b="0" i="1" smtClean="0">
                            <a:latin typeface="Cambria Math" panose="02040503050406030204" pitchFamily="18" charset="0"/>
                          </a:rPr>
                        </m:ctrlPr>
                      </m:radPr>
                      <m:deg/>
                      <m:e>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𝑥</m:t>
                            </m:r>
                          </m:sub>
                          <m:sup>
                            <m:r>
                              <a:rPr lang="en-US" altLang="zh-CN" b="0" i="1" smtClean="0">
                                <a:latin typeface="Cambria Math" panose="02040503050406030204" pitchFamily="18" charset="0"/>
                              </a:rPr>
                              <m:t>2</m:t>
                            </m:r>
                          </m:sup>
                        </m:sSubSup>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𝑦</m:t>
                            </m:r>
                          </m:sub>
                          <m:sup>
                            <m:r>
                              <a:rPr lang="en-US" altLang="zh-CN" b="0" i="1" smtClean="0">
                                <a:latin typeface="Cambria Math" panose="02040503050406030204" pitchFamily="18" charset="0"/>
                              </a:rPr>
                              <m:t>2</m:t>
                            </m:r>
                          </m:sup>
                        </m:sSubSup>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e>
                    </m:rad>
                  </m:oMath>
                </a14:m>
                <a:endParaRPr lang="en-US" altLang="zh-CN" dirty="0"/>
              </a:p>
              <a:p>
                <a:pPr lvl="1">
                  <a:lnSpc>
                    <a:spcPct val="120000"/>
                  </a:lnSpc>
                </a:pPr>
                <a14:m>
                  <m:oMath xmlns:m="http://schemas.openxmlformats.org/officeDocument/2006/math">
                    <m:r>
                      <a:rPr lang="zh-CN" altLang="en-US" i="1" smtClean="0">
                        <a:latin typeface="Cambria Math" panose="02040503050406030204" pitchFamily="18" charset="0"/>
                      </a:rPr>
                      <m:t>𝛼</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arctan</m:t>
                    </m: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𝑦</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num>
                      <m:den>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𝑥</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den>
                    </m:f>
                    <m:r>
                      <a:rPr lang="en-US" altLang="zh-CN" b="0" i="1" smtClean="0">
                        <a:latin typeface="Cambria Math" panose="02040503050406030204" pitchFamily="18" charset="0"/>
                      </a:rPr>
                      <m:t>]</m:t>
                    </m:r>
                  </m:oMath>
                </a14:m>
                <a:endParaRPr lang="en-US" altLang="zh-CN" dirty="0"/>
              </a:p>
              <a:p>
                <a:pPr marL="514350" indent="-514350">
                  <a:lnSpc>
                    <a:spcPct val="120000"/>
                  </a:lnSpc>
                  <a:buFont typeface="+mj-lt"/>
                  <a:buAutoNum type="arabicPeriod"/>
                </a:pPr>
                <a:r>
                  <a:rPr lang="zh-CN" altLang="en-US" b="1" dirty="0"/>
                  <a:t>过滤非极大值</a:t>
                </a:r>
                <a:r>
                  <a:rPr lang="en-US" altLang="zh-CN" b="1" dirty="0"/>
                  <a:t>: </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𝑁</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oMath>
                </a14:m>
                <a:endParaRPr lang="en-US" altLang="zh-CN" dirty="0"/>
              </a:p>
              <a:p>
                <a:pPr lvl="1">
                  <a:lnSpc>
                    <a:spcPct val="120000"/>
                  </a:lnSpc>
                </a:pPr>
                <a:r>
                  <a:rPr lang="zh-CN" altLang="en-US" dirty="0"/>
                  <a:t>在高斯滤波过程中，边缘有可能被放大了。这个步骤使用一个规则来过滤不是边缘的点，使边缘的宽度尽可能为</a:t>
                </a:r>
                <a:r>
                  <a:rPr lang="en-US" altLang="zh-CN" dirty="0"/>
                  <a:t>1</a:t>
                </a:r>
                <a:r>
                  <a:rPr lang="zh-CN" altLang="en-US" dirty="0"/>
                  <a:t>个像素点。</a:t>
                </a:r>
                <a:endParaRPr lang="en-US" altLang="zh-CN" dirty="0"/>
              </a:p>
              <a:p>
                <a:pPr marL="514350" indent="-514350">
                  <a:lnSpc>
                    <a:spcPct val="120000"/>
                  </a:lnSpc>
                  <a:buFont typeface="+mj-lt"/>
                  <a:buAutoNum type="arabicPeriod"/>
                </a:pPr>
                <a:r>
                  <a:rPr lang="zh-CN" altLang="en-US" b="1" dirty="0"/>
                  <a:t>使用上下阀值来检测边缘</a:t>
                </a:r>
              </a:p>
            </p:txBody>
          </p:sp>
        </mc:Choice>
        <mc:Fallback xmlns="">
          <p:sp>
            <p:nvSpPr>
              <p:cNvPr id="3" name="Content Placeholder 2">
                <a:extLst>
                  <a:ext uri="{FF2B5EF4-FFF2-40B4-BE49-F238E27FC236}">
                    <a16:creationId xmlns:a16="http://schemas.microsoft.com/office/drawing/2014/main" id="{3D6CCF48-B852-46B6-BC5E-F1F6B99D8B58}"/>
                  </a:ext>
                </a:extLst>
              </p:cNvPr>
              <p:cNvSpPr>
                <a:spLocks noGrp="1" noRot="1" noChangeAspect="1" noMove="1" noResize="1" noEditPoints="1" noAdjustHandles="1" noChangeArrowheads="1" noChangeShapeType="1" noTextEdit="1"/>
              </p:cNvSpPr>
              <p:nvPr>
                <p:ph idx="1"/>
              </p:nvPr>
            </p:nvSpPr>
            <p:spPr>
              <a:blipFill>
                <a:blip r:embed="rId2"/>
                <a:stretch>
                  <a:fillRect l="-812" t="-1401" b="-84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5056195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6216E-016C-4E9C-836E-40EF8AB5BA0C}"/>
              </a:ext>
            </a:extLst>
          </p:cNvPr>
          <p:cNvSpPr>
            <a:spLocks noGrp="1"/>
          </p:cNvSpPr>
          <p:nvPr>
            <p:ph type="title"/>
          </p:nvPr>
        </p:nvSpPr>
        <p:spPr/>
        <p:txBody>
          <a:bodyPr/>
          <a:lstStyle/>
          <a:p>
            <a:r>
              <a:rPr lang="en-US" altLang="zh-CN" b="1" dirty="0"/>
              <a:t>Canny</a:t>
            </a:r>
            <a:r>
              <a:rPr lang="zh-CN" altLang="en-US" b="1" dirty="0"/>
              <a:t>边缘检测算法</a:t>
            </a:r>
            <a:endParaRPr lang="zh-CN" altLang="en-US" dirty="0"/>
          </a:p>
        </p:txBody>
      </p:sp>
      <p:sp>
        <p:nvSpPr>
          <p:cNvPr id="3" name="Content Placeholder 2">
            <a:extLst>
              <a:ext uri="{FF2B5EF4-FFF2-40B4-BE49-F238E27FC236}">
                <a16:creationId xmlns:a16="http://schemas.microsoft.com/office/drawing/2014/main" id="{501A5B77-0450-4446-90BF-50404A912C10}"/>
              </a:ext>
            </a:extLst>
          </p:cNvPr>
          <p:cNvSpPr>
            <a:spLocks noGrp="1"/>
          </p:cNvSpPr>
          <p:nvPr>
            <p:ph idx="1"/>
          </p:nvPr>
        </p:nvSpPr>
        <p:spPr/>
        <p:txBody>
          <a:bodyPr/>
          <a:lstStyle/>
          <a:p>
            <a:pPr>
              <a:lnSpc>
                <a:spcPct val="120000"/>
              </a:lnSpc>
            </a:pPr>
            <a:r>
              <a:rPr lang="zh-CN" altLang="en-US" b="1" dirty="0"/>
              <a:t>非极大值抑制</a:t>
            </a:r>
            <a:endParaRPr lang="en-US" altLang="zh-CN" b="1" dirty="0"/>
          </a:p>
          <a:p>
            <a:pPr lvl="1">
              <a:lnSpc>
                <a:spcPct val="120000"/>
              </a:lnSpc>
            </a:pPr>
            <a:r>
              <a:rPr lang="zh-CN" altLang="en-US" dirty="0"/>
              <a:t>判断是否是梯度方向上的局部最大值</a:t>
            </a:r>
          </a:p>
        </p:txBody>
      </p:sp>
      <p:grpSp>
        <p:nvGrpSpPr>
          <p:cNvPr id="6" name="Group 5">
            <a:extLst>
              <a:ext uri="{FF2B5EF4-FFF2-40B4-BE49-F238E27FC236}">
                <a16:creationId xmlns:a16="http://schemas.microsoft.com/office/drawing/2014/main" id="{F21C6D8F-3699-4581-884C-01630721155E}"/>
              </a:ext>
            </a:extLst>
          </p:cNvPr>
          <p:cNvGrpSpPr/>
          <p:nvPr/>
        </p:nvGrpSpPr>
        <p:grpSpPr>
          <a:xfrm>
            <a:off x="2705100" y="3111500"/>
            <a:ext cx="6781800" cy="3200400"/>
            <a:chOff x="2667000" y="2976563"/>
            <a:chExt cx="6781800" cy="3200400"/>
          </a:xfrm>
        </p:grpSpPr>
        <p:pic>
          <p:nvPicPr>
            <p:cNvPr id="4" name="Picture 4">
              <a:extLst>
                <a:ext uri="{FF2B5EF4-FFF2-40B4-BE49-F238E27FC236}">
                  <a16:creationId xmlns:a16="http://schemas.microsoft.com/office/drawing/2014/main" id="{88C18B18-44D5-446A-8A87-4972CDC98E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2976563"/>
              <a:ext cx="3200400"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5">
              <a:extLst>
                <a:ext uri="{FF2B5EF4-FFF2-40B4-BE49-F238E27FC236}">
                  <a16:creationId xmlns:a16="http://schemas.microsoft.com/office/drawing/2014/main" id="{4D23FE11-A2C3-4356-A190-3CAAD39E12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8400" y="2976563"/>
              <a:ext cx="3200400"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8383915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D8407-D17F-45F1-A155-6D19C9CCC33E}"/>
              </a:ext>
            </a:extLst>
          </p:cNvPr>
          <p:cNvSpPr>
            <a:spLocks noGrp="1"/>
          </p:cNvSpPr>
          <p:nvPr>
            <p:ph type="title"/>
          </p:nvPr>
        </p:nvSpPr>
        <p:spPr/>
        <p:txBody>
          <a:bodyPr/>
          <a:lstStyle/>
          <a:p>
            <a:r>
              <a:rPr lang="en-US" altLang="zh-CN" b="1" dirty="0"/>
              <a:t>Canny</a:t>
            </a:r>
            <a:r>
              <a:rPr lang="zh-CN" altLang="en-US" b="1" dirty="0"/>
              <a:t>边缘检测算法</a:t>
            </a:r>
            <a:endParaRPr lang="zh-CN" alt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8D0EAAC-1CFD-4EC7-A418-608C4F484116}"/>
                  </a:ext>
                </a:extLst>
              </p:cNvPr>
              <p:cNvSpPr>
                <a:spLocks noGrp="1"/>
              </p:cNvSpPr>
              <p:nvPr>
                <p:ph idx="1"/>
              </p:nvPr>
            </p:nvSpPr>
            <p:spPr>
              <a:xfrm>
                <a:off x="838200" y="1825625"/>
                <a:ext cx="6477000" cy="4351338"/>
              </a:xfrm>
            </p:spPr>
            <p:txBody>
              <a:bodyPr>
                <a:normAutofit fontScale="92500"/>
              </a:bodyPr>
              <a:lstStyle/>
              <a:p>
                <a:pPr>
                  <a:lnSpc>
                    <a:spcPct val="150000"/>
                  </a:lnSpc>
                </a:pPr>
                <a:r>
                  <a:rPr lang="zh-CN" altLang="en-US" b="1" dirty="0"/>
                  <a:t>使用上下阀值来检测边缘 </a:t>
                </a:r>
                <a:r>
                  <a:rPr lang="en-US" altLang="zh-CN" dirty="0"/>
                  <a:t>(</a:t>
                </a:r>
                <a:r>
                  <a:rPr lang="zh-CN" altLang="en-US" dirty="0">
                    <a:solidFill>
                      <a:srgbClr val="00B0F0"/>
                    </a:solidFill>
                  </a:rPr>
                  <a:t>高阈值</a:t>
                </a:r>
                <a14:m>
                  <m:oMath xmlns:m="http://schemas.openxmlformats.org/officeDocument/2006/math">
                    <m:sSub>
                      <m:sSubPr>
                        <m:ctrlPr>
                          <a:rPr lang="en-US" altLang="zh-CN" i="1" smtClean="0">
                            <a:solidFill>
                              <a:srgbClr val="00B0F0"/>
                            </a:solidFill>
                            <a:latin typeface="Cambria Math" panose="02040503050406030204" pitchFamily="18" charset="0"/>
                          </a:rPr>
                        </m:ctrlPr>
                      </m:sSubPr>
                      <m:e>
                        <m:r>
                          <a:rPr lang="en-US" altLang="zh-CN" b="0" i="1" smtClean="0">
                            <a:solidFill>
                              <a:srgbClr val="00B0F0"/>
                            </a:solidFill>
                            <a:latin typeface="Cambria Math" panose="02040503050406030204" pitchFamily="18" charset="0"/>
                          </a:rPr>
                          <m:t>𝑇</m:t>
                        </m:r>
                      </m:e>
                      <m:sub>
                        <m:r>
                          <a:rPr lang="en-US" altLang="zh-CN" b="0" i="1" smtClean="0">
                            <a:solidFill>
                              <a:srgbClr val="00B0F0"/>
                            </a:solidFill>
                            <a:latin typeface="Cambria Math" panose="02040503050406030204" pitchFamily="18" charset="0"/>
                          </a:rPr>
                          <m:t>𝐻</m:t>
                        </m:r>
                      </m:sub>
                    </m:sSub>
                  </m:oMath>
                </a14:m>
                <a:r>
                  <a:rPr lang="zh-CN" altLang="en-US" dirty="0">
                    <a:solidFill>
                      <a:srgbClr val="00B0F0"/>
                    </a:solidFill>
                  </a:rPr>
                  <a:t>，低阈值</a:t>
                </a:r>
                <a14:m>
                  <m:oMath xmlns:m="http://schemas.openxmlformats.org/officeDocument/2006/math">
                    <m:sSub>
                      <m:sSubPr>
                        <m:ctrlPr>
                          <a:rPr lang="en-US" altLang="zh-CN" i="1" smtClean="0">
                            <a:solidFill>
                              <a:srgbClr val="00B0F0"/>
                            </a:solidFill>
                            <a:latin typeface="Cambria Math" panose="02040503050406030204" pitchFamily="18" charset="0"/>
                          </a:rPr>
                        </m:ctrlPr>
                      </m:sSubPr>
                      <m:e>
                        <m:r>
                          <a:rPr lang="en-US" altLang="zh-CN" b="0" i="1" smtClean="0">
                            <a:solidFill>
                              <a:srgbClr val="00B0F0"/>
                            </a:solidFill>
                            <a:latin typeface="Cambria Math" panose="02040503050406030204" pitchFamily="18" charset="0"/>
                          </a:rPr>
                          <m:t>𝑇</m:t>
                        </m:r>
                      </m:e>
                      <m:sub>
                        <m:r>
                          <a:rPr lang="en-US" altLang="zh-CN" b="0" i="1" smtClean="0">
                            <a:solidFill>
                              <a:srgbClr val="00B0F0"/>
                            </a:solidFill>
                            <a:latin typeface="Cambria Math" panose="02040503050406030204" pitchFamily="18" charset="0"/>
                          </a:rPr>
                          <m:t>𝐿</m:t>
                        </m:r>
                      </m:sub>
                    </m:sSub>
                  </m:oMath>
                </a14:m>
                <a:r>
                  <a:rPr lang="en-US" altLang="zh-CN" dirty="0"/>
                  <a:t>)</a:t>
                </a:r>
                <a:endParaRPr lang="zh-CN" altLang="en-US" dirty="0"/>
              </a:p>
              <a:p>
                <a:pPr lvl="1">
                  <a:lnSpc>
                    <a:spcPct val="150000"/>
                  </a:lnSpc>
                </a:pPr>
                <a:r>
                  <a:rPr lang="zh-CN" altLang="en-US" dirty="0"/>
                  <a:t>高阈值边缘像素： </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𝑁𝐻</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r>
                      <a:rPr lang="en-US" altLang="zh-CN" b="0"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𝑁</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r>
                      <a:rPr lang="en-US" altLang="zh-CN" i="1">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𝑇</m:t>
                        </m:r>
                      </m:e>
                      <m:sub>
                        <m:r>
                          <a:rPr lang="en-US" altLang="zh-CN" b="0" i="1" smtClean="0">
                            <a:latin typeface="Cambria Math" panose="02040503050406030204" pitchFamily="18" charset="0"/>
                          </a:rPr>
                          <m:t>𝐻</m:t>
                        </m:r>
                      </m:sub>
                    </m:sSub>
                  </m:oMath>
                </a14:m>
                <a:endParaRPr lang="en-US" altLang="zh-CN" dirty="0"/>
              </a:p>
              <a:p>
                <a:pPr lvl="1">
                  <a:lnSpc>
                    <a:spcPct val="150000"/>
                  </a:lnSpc>
                </a:pPr>
                <a:r>
                  <a:rPr lang="zh-CN" altLang="en-US" dirty="0"/>
                  <a:t>介于高阈值与低阈值之间的可能边缘：</a:t>
                </a:r>
                <a:endParaRPr lang="en-US" altLang="zh-CN" dirty="0"/>
              </a:p>
              <a:p>
                <a:pPr marL="457200" lvl="1" indent="0">
                  <a:lnSpc>
                    <a:spcPct val="150000"/>
                  </a:lnSpc>
                  <a:buNone/>
                </a:pPr>
                <a:r>
                  <a:rPr lang="en-US" altLang="zh-CN" dirty="0"/>
                  <a:t>		</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𝑇</m:t>
                        </m:r>
                      </m:e>
                      <m:sub>
                        <m:r>
                          <a:rPr lang="en-US" altLang="zh-CN" b="0" i="1" smtClean="0">
                            <a:latin typeface="Cambria Math" panose="02040503050406030204" pitchFamily="18" charset="0"/>
                          </a:rPr>
                          <m:t>𝐿</m:t>
                        </m:r>
                      </m:sub>
                    </m:sSub>
                    <m:r>
                      <a:rPr lang="en-US" altLang="zh-CN" i="1" smtClean="0">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𝑁𝐿</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r>
                      <a:rPr lang="en-US" altLang="zh-CN" b="0" i="1" smtClean="0">
                        <a:latin typeface="Cambria Math" panose="02040503050406030204" pitchFamily="18" charset="0"/>
                      </a:rPr>
                      <m:t>&lt;</m:t>
                    </m:r>
                  </m:oMath>
                </a14:m>
                <a:r>
                  <a:rPr lang="en-US" altLang="zh-CN" dirty="0"/>
                  <a:t> </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𝑇</m:t>
                        </m:r>
                      </m:e>
                      <m:sub>
                        <m:r>
                          <a:rPr lang="en-US" altLang="zh-CN" b="0" i="1" smtClean="0">
                            <a:latin typeface="Cambria Math" panose="02040503050406030204" pitchFamily="18" charset="0"/>
                          </a:rPr>
                          <m:t>𝐻</m:t>
                        </m:r>
                      </m:sub>
                    </m:sSub>
                  </m:oMath>
                </a14:m>
                <a:endParaRPr lang="en-US" altLang="zh-CN" dirty="0"/>
              </a:p>
              <a:p>
                <a:pPr lvl="1">
                  <a:lnSpc>
                    <a:spcPct val="150000"/>
                  </a:lnSpc>
                </a:pPr>
                <a:r>
                  <a:rPr lang="zh-CN" altLang="en-US" dirty="0"/>
                  <a:t>连接</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𝑁𝐻</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oMath>
                </a14:m>
                <a:r>
                  <a:rPr lang="zh-CN" altLang="en-US" dirty="0"/>
                  <a:t>与</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𝑁𝐿</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oMath>
                </a14:m>
                <a:r>
                  <a:rPr lang="zh-CN" altLang="en-US" dirty="0"/>
                  <a:t>中的像素构成最终的有效边缘</a:t>
                </a:r>
                <a:endParaRPr lang="en-US" altLang="zh-CN" dirty="0"/>
              </a:p>
            </p:txBody>
          </p:sp>
        </mc:Choice>
        <mc:Fallback xmlns="">
          <p:sp>
            <p:nvSpPr>
              <p:cNvPr id="3" name="Content Placeholder 2">
                <a:extLst>
                  <a:ext uri="{FF2B5EF4-FFF2-40B4-BE49-F238E27FC236}">
                    <a16:creationId xmlns:a16="http://schemas.microsoft.com/office/drawing/2014/main" id="{C8D0EAAC-1CFD-4EC7-A418-608C4F484116}"/>
                  </a:ext>
                </a:extLst>
              </p:cNvPr>
              <p:cNvSpPr>
                <a:spLocks noGrp="1" noRot="1" noChangeAspect="1" noMove="1" noResize="1" noEditPoints="1" noAdjustHandles="1" noChangeArrowheads="1" noChangeShapeType="1" noTextEdit="1"/>
              </p:cNvSpPr>
              <p:nvPr>
                <p:ph idx="1"/>
              </p:nvPr>
            </p:nvSpPr>
            <p:spPr>
              <a:xfrm>
                <a:off x="838200" y="1825625"/>
                <a:ext cx="6477000" cy="4351338"/>
              </a:xfrm>
              <a:blipFill>
                <a:blip r:embed="rId2"/>
                <a:stretch>
                  <a:fillRect l="-1507" r="-1130"/>
                </a:stretch>
              </a:blipFill>
            </p:spPr>
            <p:txBody>
              <a:bodyPr/>
              <a:lstStyle/>
              <a:p>
                <a:r>
                  <a:rPr lang="zh-CN" altLang="en-US">
                    <a:noFill/>
                  </a:rPr>
                  <a:t> </a:t>
                </a:r>
              </a:p>
            </p:txBody>
          </p:sp>
        </mc:Fallback>
      </mc:AlternateContent>
      <p:pic>
        <p:nvPicPr>
          <p:cNvPr id="3074" name="Picture 2" descr="https://pic4.zhimg.com/80/v2-d55a6eb3add17b3c53c6d68c210cb157_720w.jpg">
            <a:extLst>
              <a:ext uri="{FF2B5EF4-FFF2-40B4-BE49-F238E27FC236}">
                <a16:creationId xmlns:a16="http://schemas.microsoft.com/office/drawing/2014/main" id="{D3638513-930C-4C72-901A-F9D15DC43B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27352" y="2554287"/>
            <a:ext cx="4374123" cy="27035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383501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643DB-E77D-47F2-84FB-DE0E5E3C600E}"/>
              </a:ext>
            </a:extLst>
          </p:cNvPr>
          <p:cNvSpPr>
            <a:spLocks noGrp="1"/>
          </p:cNvSpPr>
          <p:nvPr>
            <p:ph type="title"/>
          </p:nvPr>
        </p:nvSpPr>
        <p:spPr/>
        <p:txBody>
          <a:bodyPr/>
          <a:lstStyle/>
          <a:p>
            <a:r>
              <a:rPr lang="en-US" altLang="zh-CN" b="1" dirty="0"/>
              <a:t>Canny</a:t>
            </a:r>
            <a:r>
              <a:rPr lang="zh-CN" altLang="en-US" b="1" dirty="0"/>
              <a:t>边缘检测算法</a:t>
            </a:r>
          </a:p>
        </p:txBody>
      </p:sp>
      <p:sp>
        <p:nvSpPr>
          <p:cNvPr id="3" name="Content Placeholder 2">
            <a:extLst>
              <a:ext uri="{FF2B5EF4-FFF2-40B4-BE49-F238E27FC236}">
                <a16:creationId xmlns:a16="http://schemas.microsoft.com/office/drawing/2014/main" id="{3D6CCF48-B852-46B6-BC5E-F1F6B99D8B58}"/>
              </a:ext>
            </a:extLst>
          </p:cNvPr>
          <p:cNvSpPr>
            <a:spLocks noGrp="1"/>
          </p:cNvSpPr>
          <p:nvPr>
            <p:ph idx="1"/>
          </p:nvPr>
        </p:nvSpPr>
        <p:spPr/>
        <p:txBody>
          <a:bodyPr>
            <a:normAutofit/>
          </a:bodyPr>
          <a:lstStyle/>
          <a:p>
            <a:pPr marL="0" indent="0">
              <a:lnSpc>
                <a:spcPct val="120000"/>
              </a:lnSpc>
              <a:buNone/>
            </a:pPr>
            <a:endParaRPr lang="zh-CN" altLang="en-US" dirty="0"/>
          </a:p>
        </p:txBody>
      </p:sp>
      <p:pic>
        <p:nvPicPr>
          <p:cNvPr id="4" name="Picture 4" descr="lena">
            <a:extLst>
              <a:ext uri="{FF2B5EF4-FFF2-40B4-BE49-F238E27FC236}">
                <a16:creationId xmlns:a16="http://schemas.microsoft.com/office/drawing/2014/main" id="{DCB027D3-B7EA-4192-89D9-2F37BB6EC9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0725" y="2385219"/>
            <a:ext cx="3240000" cy="32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anny3">
            <a:extLst>
              <a:ext uri="{FF2B5EF4-FFF2-40B4-BE49-F238E27FC236}">
                <a16:creationId xmlns:a16="http://schemas.microsoft.com/office/drawing/2014/main" id="{F73ABD1B-7761-4DF0-8FDB-7969665A5C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83100" y="2385219"/>
            <a:ext cx="3240000" cy="32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2" descr="canny5">
            <a:extLst>
              <a:ext uri="{FF2B5EF4-FFF2-40B4-BE49-F238E27FC236}">
                <a16:creationId xmlns:a16="http://schemas.microsoft.com/office/drawing/2014/main" id="{DDDE4977-F172-4A9C-A5DB-B6E9EAF69F8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45475" y="2385219"/>
            <a:ext cx="3240000" cy="3240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7E9D2DCD-47AF-47FB-9F56-80639C613458}"/>
              </a:ext>
            </a:extLst>
          </p:cNvPr>
          <p:cNvSpPr/>
          <p:nvPr/>
        </p:nvSpPr>
        <p:spPr>
          <a:xfrm>
            <a:off x="1939012" y="5713113"/>
            <a:ext cx="803425" cy="493148"/>
          </a:xfrm>
          <a:prstGeom prst="rect">
            <a:avLst/>
          </a:prstGeom>
        </p:spPr>
        <p:txBody>
          <a:bodyPr wrap="none">
            <a:spAutoFit/>
          </a:bodyPr>
          <a:lstStyle/>
          <a:p>
            <a:pPr>
              <a:lnSpc>
                <a:spcPct val="120000"/>
              </a:lnSpc>
            </a:pPr>
            <a:r>
              <a:rPr lang="zh-CN" altLang="en-US" sz="2400" b="1" dirty="0"/>
              <a:t>原图</a:t>
            </a:r>
            <a:endParaRPr lang="en-US" altLang="zh-CN" sz="2400" b="1" dirty="0"/>
          </a:p>
        </p:txBody>
      </p:sp>
      <p:sp>
        <p:nvSpPr>
          <p:cNvPr id="8" name="Rectangle 7">
            <a:extLst>
              <a:ext uri="{FF2B5EF4-FFF2-40B4-BE49-F238E27FC236}">
                <a16:creationId xmlns:a16="http://schemas.microsoft.com/office/drawing/2014/main" id="{BFD4DC19-BA6A-49CF-B00F-15D3855ABDCD}"/>
              </a:ext>
            </a:extLst>
          </p:cNvPr>
          <p:cNvSpPr/>
          <p:nvPr/>
        </p:nvSpPr>
        <p:spPr>
          <a:xfrm>
            <a:off x="5237318" y="5691665"/>
            <a:ext cx="1731564" cy="493148"/>
          </a:xfrm>
          <a:prstGeom prst="rect">
            <a:avLst/>
          </a:prstGeom>
        </p:spPr>
        <p:txBody>
          <a:bodyPr wrap="none">
            <a:spAutoFit/>
          </a:bodyPr>
          <a:lstStyle/>
          <a:p>
            <a:pPr>
              <a:lnSpc>
                <a:spcPct val="120000"/>
              </a:lnSpc>
            </a:pPr>
            <a:r>
              <a:rPr lang="zh-CN" altLang="en-US" sz="2400" b="1" dirty="0"/>
              <a:t>梯度幅值图</a:t>
            </a:r>
            <a:endParaRPr lang="en-US" altLang="zh-CN" sz="2400" b="1" dirty="0"/>
          </a:p>
        </p:txBody>
      </p:sp>
      <p:sp>
        <p:nvSpPr>
          <p:cNvPr id="9" name="Rectangle 8">
            <a:extLst>
              <a:ext uri="{FF2B5EF4-FFF2-40B4-BE49-F238E27FC236}">
                <a16:creationId xmlns:a16="http://schemas.microsoft.com/office/drawing/2014/main" id="{1E46E31F-0F5A-49B4-814C-63B5A6B03D99}"/>
              </a:ext>
            </a:extLst>
          </p:cNvPr>
          <p:cNvSpPr/>
          <p:nvPr/>
        </p:nvSpPr>
        <p:spPr>
          <a:xfrm>
            <a:off x="9309072" y="5713113"/>
            <a:ext cx="1112805" cy="493148"/>
          </a:xfrm>
          <a:prstGeom prst="rect">
            <a:avLst/>
          </a:prstGeom>
        </p:spPr>
        <p:txBody>
          <a:bodyPr wrap="none">
            <a:spAutoFit/>
          </a:bodyPr>
          <a:lstStyle/>
          <a:p>
            <a:pPr>
              <a:lnSpc>
                <a:spcPct val="120000"/>
              </a:lnSpc>
            </a:pPr>
            <a:r>
              <a:rPr lang="zh-CN" altLang="en-US" sz="2400" b="1" dirty="0"/>
              <a:t>边缘图</a:t>
            </a:r>
            <a:endParaRPr lang="en-US" altLang="zh-CN" sz="2400" b="1" dirty="0"/>
          </a:p>
        </p:txBody>
      </p:sp>
    </p:spTree>
    <p:extLst>
      <p:ext uri="{BB962C8B-B14F-4D97-AF65-F5344CB8AC3E}">
        <p14:creationId xmlns:p14="http://schemas.microsoft.com/office/powerpoint/2010/main" val="157158225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643DB-E77D-47F2-84FB-DE0E5E3C600E}"/>
              </a:ext>
            </a:extLst>
          </p:cNvPr>
          <p:cNvSpPr>
            <a:spLocks noGrp="1"/>
          </p:cNvSpPr>
          <p:nvPr>
            <p:ph type="title"/>
          </p:nvPr>
        </p:nvSpPr>
        <p:spPr/>
        <p:txBody>
          <a:bodyPr/>
          <a:lstStyle/>
          <a:p>
            <a:r>
              <a:rPr lang="en-US" altLang="zh-CN" b="1" dirty="0"/>
              <a:t>Canny</a:t>
            </a:r>
            <a:r>
              <a:rPr lang="zh-CN" altLang="en-US" b="1" dirty="0"/>
              <a:t>边缘检测算法</a:t>
            </a:r>
          </a:p>
        </p:txBody>
      </p:sp>
      <p:sp>
        <p:nvSpPr>
          <p:cNvPr id="3" name="Content Placeholder 2">
            <a:extLst>
              <a:ext uri="{FF2B5EF4-FFF2-40B4-BE49-F238E27FC236}">
                <a16:creationId xmlns:a16="http://schemas.microsoft.com/office/drawing/2014/main" id="{3D6CCF48-B852-46B6-BC5E-F1F6B99D8B58}"/>
              </a:ext>
            </a:extLst>
          </p:cNvPr>
          <p:cNvSpPr>
            <a:spLocks noGrp="1"/>
          </p:cNvSpPr>
          <p:nvPr>
            <p:ph idx="1"/>
          </p:nvPr>
        </p:nvSpPr>
        <p:spPr/>
        <p:txBody>
          <a:bodyPr>
            <a:normAutofit/>
          </a:bodyPr>
          <a:lstStyle/>
          <a:p>
            <a:pPr>
              <a:lnSpc>
                <a:spcPct val="150000"/>
              </a:lnSpc>
            </a:pPr>
            <a:r>
              <a:rPr lang="zh-CN" altLang="en-US" sz="3600" b="1" dirty="0"/>
              <a:t>计算步骤小结：</a:t>
            </a:r>
            <a:endParaRPr lang="en-US" altLang="zh-CN" sz="3600" b="1" dirty="0"/>
          </a:p>
          <a:p>
            <a:pPr marL="914400" lvl="1" indent="-457200">
              <a:lnSpc>
                <a:spcPct val="150000"/>
              </a:lnSpc>
              <a:buFont typeface="+mj-ea"/>
              <a:buAutoNum type="circleNumDbPlain"/>
            </a:pPr>
            <a:r>
              <a:rPr lang="zh-CN" altLang="en-US" sz="3200" dirty="0"/>
              <a:t>使用一个高斯滤波器平滑输入图像</a:t>
            </a:r>
            <a:endParaRPr lang="en-US" altLang="zh-CN" sz="3200" dirty="0"/>
          </a:p>
          <a:p>
            <a:pPr marL="914400" lvl="1" indent="-457200">
              <a:lnSpc>
                <a:spcPct val="150000"/>
              </a:lnSpc>
              <a:buFont typeface="+mj-ea"/>
              <a:buAutoNum type="circleNumDbPlain"/>
            </a:pPr>
            <a:r>
              <a:rPr lang="zh-CN" altLang="en-US" sz="3200" dirty="0"/>
              <a:t>计算梯度幅度图像和角度图像</a:t>
            </a:r>
            <a:endParaRPr lang="en-US" altLang="zh-CN" sz="3200" dirty="0"/>
          </a:p>
          <a:p>
            <a:pPr marL="914400" lvl="1" indent="-457200">
              <a:lnSpc>
                <a:spcPct val="150000"/>
              </a:lnSpc>
              <a:buFont typeface="+mj-ea"/>
              <a:buAutoNum type="circleNumDbPlain"/>
            </a:pPr>
            <a:r>
              <a:rPr lang="zh-CN" altLang="en-US" sz="3200" dirty="0"/>
              <a:t>对梯度幅度图像应用非极大值抑制</a:t>
            </a:r>
            <a:endParaRPr lang="en-US" altLang="zh-CN" sz="3200" dirty="0"/>
          </a:p>
          <a:p>
            <a:pPr marL="914400" lvl="1" indent="-457200">
              <a:lnSpc>
                <a:spcPct val="150000"/>
              </a:lnSpc>
              <a:buFont typeface="+mj-ea"/>
              <a:buAutoNum type="circleNumDbPlain"/>
            </a:pPr>
            <a:r>
              <a:rPr lang="zh-CN" altLang="en-US" sz="3200" dirty="0"/>
              <a:t>使用双阈值处理和连通性分析来检测和连接边缘</a:t>
            </a:r>
          </a:p>
        </p:txBody>
      </p:sp>
    </p:spTree>
    <p:extLst>
      <p:ext uri="{BB962C8B-B14F-4D97-AF65-F5344CB8AC3E}">
        <p14:creationId xmlns:p14="http://schemas.microsoft.com/office/powerpoint/2010/main" val="313890266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26505-3748-4B9E-B81D-6343EE07B4DB}"/>
              </a:ext>
            </a:extLst>
          </p:cNvPr>
          <p:cNvSpPr>
            <a:spLocks noGrp="1"/>
          </p:cNvSpPr>
          <p:nvPr>
            <p:ph type="title"/>
          </p:nvPr>
        </p:nvSpPr>
        <p:spPr/>
        <p:txBody>
          <a:bodyPr/>
          <a:lstStyle/>
          <a:p>
            <a:r>
              <a:rPr lang="en-US" altLang="zh-CN" b="1" dirty="0"/>
              <a:t>Canny</a:t>
            </a:r>
            <a:r>
              <a:rPr lang="zh-CN" altLang="en-US" b="1" dirty="0"/>
              <a:t>边缘检测算法</a:t>
            </a:r>
            <a:endParaRPr lang="zh-CN" altLang="en-US" dirty="0"/>
          </a:p>
        </p:txBody>
      </p:sp>
      <p:sp>
        <p:nvSpPr>
          <p:cNvPr id="3" name="Content Placeholder 2">
            <a:extLst>
              <a:ext uri="{FF2B5EF4-FFF2-40B4-BE49-F238E27FC236}">
                <a16:creationId xmlns:a16="http://schemas.microsoft.com/office/drawing/2014/main" id="{465051A9-7DAD-46D3-8E23-D59DC0B27502}"/>
              </a:ext>
            </a:extLst>
          </p:cNvPr>
          <p:cNvSpPr>
            <a:spLocks noGrp="1"/>
          </p:cNvSpPr>
          <p:nvPr>
            <p:ph idx="1"/>
          </p:nvPr>
        </p:nvSpPr>
        <p:spPr/>
        <p:txBody>
          <a:bodyPr/>
          <a:lstStyle/>
          <a:p>
            <a:endParaRPr lang="zh-CN" altLang="en-US" dirty="0"/>
          </a:p>
        </p:txBody>
      </p:sp>
      <p:sp>
        <p:nvSpPr>
          <p:cNvPr id="5" name="Rectangle 4">
            <a:extLst>
              <a:ext uri="{FF2B5EF4-FFF2-40B4-BE49-F238E27FC236}">
                <a16:creationId xmlns:a16="http://schemas.microsoft.com/office/drawing/2014/main" id="{A70699A4-33E0-4E6D-9A2B-C6F236A72C2A}"/>
              </a:ext>
            </a:extLst>
          </p:cNvPr>
          <p:cNvSpPr/>
          <p:nvPr/>
        </p:nvSpPr>
        <p:spPr>
          <a:xfrm>
            <a:off x="8339663" y="6488668"/>
            <a:ext cx="3852337" cy="369332"/>
          </a:xfrm>
          <a:prstGeom prst="rect">
            <a:avLst/>
          </a:prstGeom>
        </p:spPr>
        <p:txBody>
          <a:bodyPr wrap="none">
            <a:spAutoFit/>
          </a:bodyPr>
          <a:lstStyle/>
          <a:p>
            <a:r>
              <a:rPr lang="zh-CN" altLang="en-US" dirty="0">
                <a:hlinkClick r:id="rId2"/>
              </a:rPr>
              <a:t>https://zhuanlan.zhihu.com/p/99959996</a:t>
            </a:r>
            <a:endParaRPr lang="zh-CN" altLang="en-US" dirty="0"/>
          </a:p>
        </p:txBody>
      </p:sp>
      <p:pic>
        <p:nvPicPr>
          <p:cNvPr id="1026" name="Picture 2" descr="https://pic4.zhimg.com/80/v2-7400b8669ef4c750aeff27ed699ba7c7_720w.jpg">
            <a:extLst>
              <a:ext uri="{FF2B5EF4-FFF2-40B4-BE49-F238E27FC236}">
                <a16:creationId xmlns:a16="http://schemas.microsoft.com/office/drawing/2014/main" id="{C7234DD2-3031-4C9F-BD21-4EE1409C21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3698" y="1825625"/>
            <a:ext cx="9184604" cy="44009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649287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76F82-0E68-4E37-9C46-5F1B43041B59}"/>
              </a:ext>
            </a:extLst>
          </p:cNvPr>
          <p:cNvSpPr>
            <a:spLocks noGrp="1"/>
          </p:cNvSpPr>
          <p:nvPr>
            <p:ph type="title"/>
          </p:nvPr>
        </p:nvSpPr>
        <p:spPr/>
        <p:txBody>
          <a:bodyPr/>
          <a:lstStyle/>
          <a:p>
            <a:r>
              <a:rPr lang="en-US" altLang="zh-CN" b="1" dirty="0"/>
              <a:t>Canny</a:t>
            </a:r>
            <a:r>
              <a:rPr lang="zh-CN" altLang="en-US" b="1" dirty="0"/>
              <a:t>边缘检测算法</a:t>
            </a:r>
            <a:endParaRPr lang="zh-CN" altLang="en-US" dirty="0"/>
          </a:p>
        </p:txBody>
      </p:sp>
      <p:sp>
        <p:nvSpPr>
          <p:cNvPr id="3" name="Content Placeholder 2">
            <a:extLst>
              <a:ext uri="{FF2B5EF4-FFF2-40B4-BE49-F238E27FC236}">
                <a16:creationId xmlns:a16="http://schemas.microsoft.com/office/drawing/2014/main" id="{26ED36BF-428E-4C92-8168-ADAB4E4B91F5}"/>
              </a:ext>
            </a:extLst>
          </p:cNvPr>
          <p:cNvSpPr>
            <a:spLocks noGrp="1"/>
          </p:cNvSpPr>
          <p:nvPr>
            <p:ph idx="1"/>
          </p:nvPr>
        </p:nvSpPr>
        <p:spPr/>
        <p:txBody>
          <a:bodyPr/>
          <a:lstStyle/>
          <a:p>
            <a:r>
              <a:rPr lang="en-US" altLang="zh-CN" b="1" dirty="0"/>
              <a:t>OpenCV</a:t>
            </a:r>
            <a:endParaRPr lang="zh-CN" altLang="en-US" b="1" dirty="0"/>
          </a:p>
        </p:txBody>
      </p:sp>
      <p:sp>
        <p:nvSpPr>
          <p:cNvPr id="4" name="Rectangle 3">
            <a:extLst>
              <a:ext uri="{FF2B5EF4-FFF2-40B4-BE49-F238E27FC236}">
                <a16:creationId xmlns:a16="http://schemas.microsoft.com/office/drawing/2014/main" id="{F7EEEA58-3651-470B-91D4-CD8AE8BAB272}"/>
              </a:ext>
            </a:extLst>
          </p:cNvPr>
          <p:cNvSpPr/>
          <p:nvPr/>
        </p:nvSpPr>
        <p:spPr>
          <a:xfrm>
            <a:off x="6616948" y="6488668"/>
            <a:ext cx="5575052" cy="369332"/>
          </a:xfrm>
          <a:prstGeom prst="rect">
            <a:avLst/>
          </a:prstGeom>
        </p:spPr>
        <p:txBody>
          <a:bodyPr wrap="none">
            <a:spAutoFit/>
          </a:bodyPr>
          <a:lstStyle/>
          <a:p>
            <a:r>
              <a:rPr lang="zh-CN" altLang="en-US" dirty="0">
                <a:hlinkClick r:id="rId2"/>
              </a:rPr>
              <a:t>https://docs.opencv.org/4.x/da/d22/tutorial_py_canny.html</a:t>
            </a:r>
            <a:endParaRPr lang="zh-CN" altLang="en-US" dirty="0"/>
          </a:p>
        </p:txBody>
      </p:sp>
      <p:pic>
        <p:nvPicPr>
          <p:cNvPr id="5" name="Picture 4">
            <a:extLst>
              <a:ext uri="{FF2B5EF4-FFF2-40B4-BE49-F238E27FC236}">
                <a16:creationId xmlns:a16="http://schemas.microsoft.com/office/drawing/2014/main" id="{47D49235-5853-4E3B-9E0A-971A125D4B68}"/>
              </a:ext>
            </a:extLst>
          </p:cNvPr>
          <p:cNvPicPr>
            <a:picLocks noChangeAspect="1"/>
          </p:cNvPicPr>
          <p:nvPr/>
        </p:nvPicPr>
        <p:blipFill>
          <a:blip r:embed="rId3"/>
          <a:stretch>
            <a:fillRect/>
          </a:stretch>
        </p:blipFill>
        <p:spPr>
          <a:xfrm>
            <a:off x="2472190" y="2231525"/>
            <a:ext cx="7247619" cy="4257143"/>
          </a:xfrm>
          <a:prstGeom prst="rect">
            <a:avLst/>
          </a:prstGeom>
        </p:spPr>
      </p:pic>
    </p:spTree>
    <p:extLst>
      <p:ext uri="{BB962C8B-B14F-4D97-AF65-F5344CB8AC3E}">
        <p14:creationId xmlns:p14="http://schemas.microsoft.com/office/powerpoint/2010/main" val="229702089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BBA31-4CBC-4BDE-9FE8-E864E154065F}"/>
              </a:ext>
            </a:extLst>
          </p:cNvPr>
          <p:cNvSpPr>
            <a:spLocks noGrp="1"/>
          </p:cNvSpPr>
          <p:nvPr>
            <p:ph type="title"/>
          </p:nvPr>
        </p:nvSpPr>
        <p:spPr/>
        <p:txBody>
          <a:bodyPr/>
          <a:lstStyle/>
          <a:p>
            <a:r>
              <a:rPr lang="zh-CN" altLang="en-US" b="1" dirty="0">
                <a:latin typeface="+mn-lt"/>
                <a:ea typeface="+mn-ea"/>
                <a:cs typeface="+mn-ea"/>
                <a:sym typeface="+mn-lt"/>
              </a:rPr>
              <a:t>提纲</a:t>
            </a:r>
            <a:endParaRPr lang="zh-CN" altLang="en-US" dirty="0">
              <a:latin typeface="+mn-lt"/>
              <a:ea typeface="+mn-ea"/>
              <a:cs typeface="+mn-ea"/>
              <a:sym typeface="+mn-lt"/>
            </a:endParaRPr>
          </a:p>
        </p:txBody>
      </p:sp>
      <p:sp>
        <p:nvSpPr>
          <p:cNvPr id="3" name="Content Placeholder 2">
            <a:extLst>
              <a:ext uri="{FF2B5EF4-FFF2-40B4-BE49-F238E27FC236}">
                <a16:creationId xmlns:a16="http://schemas.microsoft.com/office/drawing/2014/main" id="{B157E871-4B0F-4722-9782-38D7D916B2D9}"/>
              </a:ext>
            </a:extLst>
          </p:cNvPr>
          <p:cNvSpPr>
            <a:spLocks noGrp="1"/>
          </p:cNvSpPr>
          <p:nvPr>
            <p:ph idx="1"/>
          </p:nvPr>
        </p:nvSpPr>
        <p:spPr/>
        <p:txBody>
          <a:bodyPr/>
          <a:lstStyle/>
          <a:p>
            <a:pPr marL="514350" indent="-514350">
              <a:buFont typeface="+mj-lt"/>
              <a:buAutoNum type="arabicPeriod"/>
            </a:pPr>
            <a:r>
              <a:rPr lang="zh-CN" altLang="en-US" dirty="0">
                <a:cs typeface="+mn-ea"/>
                <a:sym typeface="+mn-lt"/>
              </a:rPr>
              <a:t>二值形态学操作</a:t>
            </a:r>
            <a:endParaRPr lang="en-US" altLang="zh-CN" dirty="0">
              <a:cs typeface="+mn-ea"/>
              <a:sym typeface="+mn-lt"/>
            </a:endParaRPr>
          </a:p>
          <a:p>
            <a:pPr marL="514350" indent="-514350">
              <a:buFont typeface="+mj-lt"/>
              <a:buAutoNum type="arabicPeriod"/>
            </a:pPr>
            <a:r>
              <a:rPr lang="zh-CN" altLang="en-US" dirty="0">
                <a:cs typeface="+mn-ea"/>
                <a:sym typeface="+mn-lt"/>
              </a:rPr>
              <a:t>边缘检测</a:t>
            </a:r>
            <a:endParaRPr lang="en-US" altLang="zh-CN" dirty="0">
              <a:cs typeface="+mn-ea"/>
              <a:sym typeface="+mn-lt"/>
            </a:endParaRPr>
          </a:p>
          <a:p>
            <a:pPr marL="514350" indent="-514350">
              <a:buFont typeface="+mj-lt"/>
              <a:buAutoNum type="arabicPeriod"/>
            </a:pPr>
            <a:r>
              <a:rPr lang="zh-CN" altLang="en-US" b="1" dirty="0">
                <a:solidFill>
                  <a:schemeClr val="accent1"/>
                </a:solidFill>
                <a:cs typeface="+mn-ea"/>
                <a:sym typeface="+mn-lt"/>
              </a:rPr>
              <a:t>角点检测</a:t>
            </a:r>
            <a:endParaRPr lang="en-US" altLang="zh-CN" b="1" dirty="0">
              <a:solidFill>
                <a:schemeClr val="accent1"/>
              </a:solidFill>
              <a:cs typeface="+mn-ea"/>
              <a:sym typeface="+mn-lt"/>
            </a:endParaRPr>
          </a:p>
          <a:p>
            <a:pPr marL="514350" indent="-514350">
              <a:buFont typeface="+mj-lt"/>
              <a:buAutoNum type="arabicPeriod"/>
            </a:pPr>
            <a:r>
              <a:rPr lang="zh-CN" altLang="en-US" dirty="0">
                <a:cs typeface="+mn-ea"/>
                <a:sym typeface="+mn-lt"/>
              </a:rPr>
              <a:t>仿射变换</a:t>
            </a:r>
            <a:endParaRPr lang="en-US" altLang="zh-CN" dirty="0">
              <a:cs typeface="+mn-ea"/>
              <a:sym typeface="+mn-lt"/>
            </a:endParaRPr>
          </a:p>
          <a:p>
            <a:endParaRPr lang="zh-CN" altLang="en-US" dirty="0">
              <a:cs typeface="+mn-ea"/>
              <a:sym typeface="+mn-lt"/>
            </a:endParaRPr>
          </a:p>
        </p:txBody>
      </p:sp>
    </p:spTree>
    <p:extLst>
      <p:ext uri="{BB962C8B-B14F-4D97-AF65-F5344CB8AC3E}">
        <p14:creationId xmlns:p14="http://schemas.microsoft.com/office/powerpoint/2010/main" val="93790183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0BF69-7D25-4B16-BE06-F154DD8BD4B9}"/>
              </a:ext>
            </a:extLst>
          </p:cNvPr>
          <p:cNvSpPr>
            <a:spLocks noGrp="1"/>
          </p:cNvSpPr>
          <p:nvPr>
            <p:ph type="title"/>
          </p:nvPr>
        </p:nvSpPr>
        <p:spPr/>
        <p:txBody>
          <a:bodyPr/>
          <a:lstStyle/>
          <a:p>
            <a:r>
              <a:rPr lang="zh-CN" altLang="en-US" b="1" dirty="0"/>
              <a:t>全景拼接（</a:t>
            </a:r>
            <a:r>
              <a:rPr lang="en-US" altLang="zh-CN" b="1" dirty="0"/>
              <a:t>Panorama Stitching</a:t>
            </a:r>
            <a:r>
              <a:rPr lang="zh-CN" altLang="en-US" b="1" dirty="0"/>
              <a:t>）</a:t>
            </a:r>
          </a:p>
        </p:txBody>
      </p:sp>
      <p:sp>
        <p:nvSpPr>
          <p:cNvPr id="3" name="Content Placeholder 2">
            <a:extLst>
              <a:ext uri="{FF2B5EF4-FFF2-40B4-BE49-F238E27FC236}">
                <a16:creationId xmlns:a16="http://schemas.microsoft.com/office/drawing/2014/main" id="{F2E0C40A-C4FC-400D-8727-33492FECF3A1}"/>
              </a:ext>
            </a:extLst>
          </p:cNvPr>
          <p:cNvSpPr>
            <a:spLocks noGrp="1"/>
          </p:cNvSpPr>
          <p:nvPr>
            <p:ph idx="1"/>
          </p:nvPr>
        </p:nvSpPr>
        <p:spPr/>
        <p:txBody>
          <a:bodyPr/>
          <a:lstStyle/>
          <a:p>
            <a:pPr>
              <a:lnSpc>
                <a:spcPct val="120000"/>
              </a:lnSpc>
            </a:pPr>
            <a:r>
              <a:rPr lang="zh-CN" altLang="en-US" b="1" dirty="0">
                <a:solidFill>
                  <a:srgbClr val="FF0000"/>
                </a:solidFill>
              </a:rPr>
              <a:t>如何将下面的两张图片进行拼接？</a:t>
            </a:r>
          </a:p>
        </p:txBody>
      </p:sp>
      <p:grpSp>
        <p:nvGrpSpPr>
          <p:cNvPr id="6" name="Group 5">
            <a:extLst>
              <a:ext uri="{FF2B5EF4-FFF2-40B4-BE49-F238E27FC236}">
                <a16:creationId xmlns:a16="http://schemas.microsoft.com/office/drawing/2014/main" id="{D2B7EA1F-7D8E-446B-873F-EF3A41D42F57}"/>
              </a:ext>
            </a:extLst>
          </p:cNvPr>
          <p:cNvGrpSpPr/>
          <p:nvPr/>
        </p:nvGrpSpPr>
        <p:grpSpPr>
          <a:xfrm>
            <a:off x="1239152" y="2802702"/>
            <a:ext cx="9713696" cy="3240000"/>
            <a:chOff x="1230687" y="2997435"/>
            <a:chExt cx="9713696" cy="3240000"/>
          </a:xfrm>
        </p:grpSpPr>
        <p:pic>
          <p:nvPicPr>
            <p:cNvPr id="4" name="Picture 3">
              <a:extLst>
                <a:ext uri="{FF2B5EF4-FFF2-40B4-BE49-F238E27FC236}">
                  <a16:creationId xmlns:a16="http://schemas.microsoft.com/office/drawing/2014/main" id="{44FEA172-0DBE-48FC-A7F8-7E78EA479666}"/>
                </a:ext>
              </a:extLst>
            </p:cNvPr>
            <p:cNvPicPr>
              <a:picLocks noChangeAspect="1"/>
            </p:cNvPicPr>
            <p:nvPr/>
          </p:nvPicPr>
          <p:blipFill>
            <a:blip r:embed="rId2"/>
            <a:stretch>
              <a:fillRect/>
            </a:stretch>
          </p:blipFill>
          <p:spPr>
            <a:xfrm>
              <a:off x="1230687" y="2997435"/>
              <a:ext cx="4488440" cy="3240000"/>
            </a:xfrm>
            <a:prstGeom prst="rect">
              <a:avLst/>
            </a:prstGeom>
          </p:spPr>
        </p:pic>
        <p:pic>
          <p:nvPicPr>
            <p:cNvPr id="5" name="Picture 4">
              <a:extLst>
                <a:ext uri="{FF2B5EF4-FFF2-40B4-BE49-F238E27FC236}">
                  <a16:creationId xmlns:a16="http://schemas.microsoft.com/office/drawing/2014/main" id="{7BE90527-D780-4482-8E60-CE72F072DCD1}"/>
                </a:ext>
              </a:extLst>
            </p:cNvPr>
            <p:cNvPicPr>
              <a:picLocks noChangeAspect="1"/>
            </p:cNvPicPr>
            <p:nvPr/>
          </p:nvPicPr>
          <p:blipFill>
            <a:blip r:embed="rId3"/>
            <a:stretch>
              <a:fillRect/>
            </a:stretch>
          </p:blipFill>
          <p:spPr>
            <a:xfrm>
              <a:off x="6455943" y="2997435"/>
              <a:ext cx="4488440" cy="3240000"/>
            </a:xfrm>
            <a:prstGeom prst="rect">
              <a:avLst/>
            </a:prstGeom>
          </p:spPr>
        </p:pic>
      </p:grpSp>
      <p:sp>
        <p:nvSpPr>
          <p:cNvPr id="7" name="Rectangle 6">
            <a:extLst>
              <a:ext uri="{FF2B5EF4-FFF2-40B4-BE49-F238E27FC236}">
                <a16:creationId xmlns:a16="http://schemas.microsoft.com/office/drawing/2014/main" id="{5B67D45A-C8DA-41B7-9D44-8B6CD3C04FC8}"/>
              </a:ext>
            </a:extLst>
          </p:cNvPr>
          <p:cNvSpPr/>
          <p:nvPr/>
        </p:nvSpPr>
        <p:spPr>
          <a:xfrm>
            <a:off x="10032434" y="6488668"/>
            <a:ext cx="2159566" cy="369332"/>
          </a:xfrm>
          <a:prstGeom prst="rect">
            <a:avLst/>
          </a:prstGeom>
        </p:spPr>
        <p:txBody>
          <a:bodyPr wrap="none">
            <a:spAutoFit/>
          </a:bodyPr>
          <a:lstStyle/>
          <a:p>
            <a:r>
              <a:rPr lang="en-US" altLang="zh-CN" dirty="0"/>
              <a:t>Source</a:t>
            </a:r>
            <a:r>
              <a:rPr lang="zh-CN" altLang="en-US" dirty="0"/>
              <a:t>：</a:t>
            </a:r>
            <a:r>
              <a:rPr lang="en-US" altLang="zh-CN" dirty="0"/>
              <a:t>S. </a:t>
            </a:r>
            <a:r>
              <a:rPr lang="en-US" altLang="zh-CN" dirty="0" err="1"/>
              <a:t>Lazebnik</a:t>
            </a:r>
            <a:endParaRPr lang="zh-CN" altLang="en-US" dirty="0"/>
          </a:p>
        </p:txBody>
      </p:sp>
    </p:spTree>
    <p:extLst>
      <p:ext uri="{BB962C8B-B14F-4D97-AF65-F5344CB8AC3E}">
        <p14:creationId xmlns:p14="http://schemas.microsoft.com/office/powerpoint/2010/main" val="95555145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0BF69-7D25-4B16-BE06-F154DD8BD4B9}"/>
              </a:ext>
            </a:extLst>
          </p:cNvPr>
          <p:cNvSpPr>
            <a:spLocks noGrp="1"/>
          </p:cNvSpPr>
          <p:nvPr>
            <p:ph type="title"/>
          </p:nvPr>
        </p:nvSpPr>
        <p:spPr/>
        <p:txBody>
          <a:bodyPr/>
          <a:lstStyle/>
          <a:p>
            <a:r>
              <a:rPr lang="zh-CN" altLang="en-US" b="1" dirty="0"/>
              <a:t>全景拼接（</a:t>
            </a:r>
            <a:r>
              <a:rPr lang="en-US" altLang="zh-CN" b="1" dirty="0"/>
              <a:t>Panorama Stitching</a:t>
            </a:r>
            <a:r>
              <a:rPr lang="zh-CN" altLang="en-US" b="1" dirty="0"/>
              <a:t>）</a:t>
            </a:r>
          </a:p>
        </p:txBody>
      </p:sp>
      <p:sp>
        <p:nvSpPr>
          <p:cNvPr id="3" name="Content Placeholder 2">
            <a:extLst>
              <a:ext uri="{FF2B5EF4-FFF2-40B4-BE49-F238E27FC236}">
                <a16:creationId xmlns:a16="http://schemas.microsoft.com/office/drawing/2014/main" id="{F2E0C40A-C4FC-400D-8727-33492FECF3A1}"/>
              </a:ext>
            </a:extLst>
          </p:cNvPr>
          <p:cNvSpPr>
            <a:spLocks noGrp="1"/>
          </p:cNvSpPr>
          <p:nvPr>
            <p:ph idx="1"/>
          </p:nvPr>
        </p:nvSpPr>
        <p:spPr/>
        <p:txBody>
          <a:bodyPr/>
          <a:lstStyle/>
          <a:p>
            <a:pPr>
              <a:lnSpc>
                <a:spcPct val="120000"/>
              </a:lnSpc>
            </a:pPr>
            <a:r>
              <a:rPr lang="zh-CN" altLang="en-US" b="1" dirty="0">
                <a:solidFill>
                  <a:srgbClr val="FF0000"/>
                </a:solidFill>
              </a:rPr>
              <a:t>如何将下面的两张图片进行拼接？</a:t>
            </a:r>
          </a:p>
        </p:txBody>
      </p:sp>
      <p:sp>
        <p:nvSpPr>
          <p:cNvPr id="7" name="Rectangle 6">
            <a:extLst>
              <a:ext uri="{FF2B5EF4-FFF2-40B4-BE49-F238E27FC236}">
                <a16:creationId xmlns:a16="http://schemas.microsoft.com/office/drawing/2014/main" id="{5B67D45A-C8DA-41B7-9D44-8B6CD3C04FC8}"/>
              </a:ext>
            </a:extLst>
          </p:cNvPr>
          <p:cNvSpPr/>
          <p:nvPr/>
        </p:nvSpPr>
        <p:spPr>
          <a:xfrm>
            <a:off x="10032434" y="6488668"/>
            <a:ext cx="2159566" cy="369332"/>
          </a:xfrm>
          <a:prstGeom prst="rect">
            <a:avLst/>
          </a:prstGeom>
        </p:spPr>
        <p:txBody>
          <a:bodyPr wrap="none">
            <a:spAutoFit/>
          </a:bodyPr>
          <a:lstStyle/>
          <a:p>
            <a:r>
              <a:rPr lang="en-US" altLang="zh-CN" dirty="0"/>
              <a:t>Source</a:t>
            </a:r>
            <a:r>
              <a:rPr lang="zh-CN" altLang="en-US" dirty="0"/>
              <a:t>：</a:t>
            </a:r>
            <a:r>
              <a:rPr lang="en-US" altLang="zh-CN" dirty="0"/>
              <a:t>S. </a:t>
            </a:r>
            <a:r>
              <a:rPr lang="en-US" altLang="zh-CN" dirty="0" err="1"/>
              <a:t>Lazebnik</a:t>
            </a:r>
            <a:endParaRPr lang="zh-CN" altLang="en-US" dirty="0"/>
          </a:p>
        </p:txBody>
      </p:sp>
      <p:pic>
        <p:nvPicPr>
          <p:cNvPr id="8" name="Picture 7">
            <a:extLst>
              <a:ext uri="{FF2B5EF4-FFF2-40B4-BE49-F238E27FC236}">
                <a16:creationId xmlns:a16="http://schemas.microsoft.com/office/drawing/2014/main" id="{7FC03C95-8FAA-46ED-B108-DDC2614A7529}"/>
              </a:ext>
            </a:extLst>
          </p:cNvPr>
          <p:cNvPicPr>
            <a:picLocks noChangeAspect="1"/>
          </p:cNvPicPr>
          <p:nvPr/>
        </p:nvPicPr>
        <p:blipFill>
          <a:blip r:embed="rId2"/>
          <a:stretch>
            <a:fillRect/>
          </a:stretch>
        </p:blipFill>
        <p:spPr>
          <a:xfrm>
            <a:off x="1108274" y="2741294"/>
            <a:ext cx="3476792" cy="2520000"/>
          </a:xfrm>
          <a:prstGeom prst="rect">
            <a:avLst/>
          </a:prstGeom>
        </p:spPr>
      </p:pic>
      <p:pic>
        <p:nvPicPr>
          <p:cNvPr id="9" name="Picture 8">
            <a:extLst>
              <a:ext uri="{FF2B5EF4-FFF2-40B4-BE49-F238E27FC236}">
                <a16:creationId xmlns:a16="http://schemas.microsoft.com/office/drawing/2014/main" id="{EBB19FFD-0B82-4F10-9828-81D66C5C4D70}"/>
              </a:ext>
            </a:extLst>
          </p:cNvPr>
          <p:cNvPicPr>
            <a:picLocks noChangeAspect="1"/>
          </p:cNvPicPr>
          <p:nvPr/>
        </p:nvPicPr>
        <p:blipFill>
          <a:blip r:embed="rId3"/>
          <a:stretch>
            <a:fillRect/>
          </a:stretch>
        </p:blipFill>
        <p:spPr>
          <a:xfrm>
            <a:off x="5291665" y="2741294"/>
            <a:ext cx="3492868" cy="2520000"/>
          </a:xfrm>
          <a:prstGeom prst="rect">
            <a:avLst/>
          </a:prstGeom>
        </p:spPr>
      </p:pic>
      <p:sp>
        <p:nvSpPr>
          <p:cNvPr id="10" name="TextBox 9">
            <a:extLst>
              <a:ext uri="{FF2B5EF4-FFF2-40B4-BE49-F238E27FC236}">
                <a16:creationId xmlns:a16="http://schemas.microsoft.com/office/drawing/2014/main" id="{96E2F1BF-B8A7-4A8E-9DD7-B624FB4AD594}"/>
              </a:ext>
            </a:extLst>
          </p:cNvPr>
          <p:cNvSpPr txBox="1"/>
          <p:nvPr/>
        </p:nvSpPr>
        <p:spPr>
          <a:xfrm>
            <a:off x="9096375" y="3044044"/>
            <a:ext cx="2882520" cy="495585"/>
          </a:xfrm>
          <a:prstGeom prst="rect">
            <a:avLst/>
          </a:prstGeom>
          <a:noFill/>
        </p:spPr>
        <p:txBody>
          <a:bodyPr wrap="none" rtlCol="0">
            <a:spAutoFit/>
          </a:bodyPr>
          <a:lstStyle/>
          <a:p>
            <a:pPr>
              <a:lnSpc>
                <a:spcPct val="150000"/>
              </a:lnSpc>
            </a:pPr>
            <a:r>
              <a:rPr lang="zh-CN" altLang="en-US" sz="2000" b="1" dirty="0">
                <a:solidFill>
                  <a:srgbClr val="0070C0"/>
                </a:solidFill>
              </a:rPr>
              <a:t>步骤</a:t>
            </a:r>
            <a:r>
              <a:rPr lang="en-US" altLang="zh-CN" sz="2000" b="1" dirty="0">
                <a:solidFill>
                  <a:srgbClr val="0070C0"/>
                </a:solidFill>
              </a:rPr>
              <a:t>1</a:t>
            </a:r>
            <a:r>
              <a:rPr lang="zh-CN" altLang="en-US" sz="2000" b="1" dirty="0">
                <a:solidFill>
                  <a:srgbClr val="0070C0"/>
                </a:solidFill>
              </a:rPr>
              <a:t>：</a:t>
            </a:r>
            <a:r>
              <a:rPr lang="zh-CN" altLang="en-US" sz="2000" dirty="0">
                <a:solidFill>
                  <a:srgbClr val="0070C0"/>
                </a:solidFill>
              </a:rPr>
              <a:t>提取局部关键点</a:t>
            </a:r>
            <a:endParaRPr lang="en-US" altLang="zh-CN" sz="2000" dirty="0">
              <a:solidFill>
                <a:srgbClr val="0070C0"/>
              </a:solidFill>
            </a:endParaRPr>
          </a:p>
        </p:txBody>
      </p:sp>
    </p:spTree>
    <p:extLst>
      <p:ext uri="{BB962C8B-B14F-4D97-AF65-F5344CB8AC3E}">
        <p14:creationId xmlns:p14="http://schemas.microsoft.com/office/powerpoint/2010/main" val="401630927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17303-AD2A-462C-AFA5-01DB6CA0878F}"/>
              </a:ext>
            </a:extLst>
          </p:cNvPr>
          <p:cNvSpPr>
            <a:spLocks noGrp="1"/>
          </p:cNvSpPr>
          <p:nvPr>
            <p:ph type="title"/>
          </p:nvPr>
        </p:nvSpPr>
        <p:spPr/>
        <p:txBody>
          <a:bodyPr/>
          <a:lstStyle/>
          <a:p>
            <a:r>
              <a:rPr lang="zh-CN" altLang="en-US" b="1" dirty="0"/>
              <a:t>全景拼接（</a:t>
            </a:r>
            <a:r>
              <a:rPr lang="en-US" altLang="zh-CN" b="1" dirty="0"/>
              <a:t>Panorama Stitching</a:t>
            </a:r>
            <a:r>
              <a:rPr lang="zh-CN" altLang="en-US" b="1" dirty="0"/>
              <a:t>）</a:t>
            </a:r>
            <a:endParaRPr lang="zh-CN" altLang="en-US" dirty="0"/>
          </a:p>
        </p:txBody>
      </p:sp>
      <p:sp>
        <p:nvSpPr>
          <p:cNvPr id="3" name="Content Placeholder 2">
            <a:extLst>
              <a:ext uri="{FF2B5EF4-FFF2-40B4-BE49-F238E27FC236}">
                <a16:creationId xmlns:a16="http://schemas.microsoft.com/office/drawing/2014/main" id="{E11259DB-4B17-4C1F-B2D8-D8F59766E2A2}"/>
              </a:ext>
            </a:extLst>
          </p:cNvPr>
          <p:cNvSpPr>
            <a:spLocks noGrp="1"/>
          </p:cNvSpPr>
          <p:nvPr>
            <p:ph idx="1"/>
          </p:nvPr>
        </p:nvSpPr>
        <p:spPr/>
        <p:txBody>
          <a:bodyPr/>
          <a:lstStyle/>
          <a:p>
            <a:r>
              <a:rPr lang="zh-CN" altLang="en-US" b="1" dirty="0">
                <a:solidFill>
                  <a:srgbClr val="FF0000"/>
                </a:solidFill>
              </a:rPr>
              <a:t>如何将下面的两张图片进行拼接？</a:t>
            </a:r>
          </a:p>
          <a:p>
            <a:endParaRPr lang="zh-CN" altLang="en-US" dirty="0"/>
          </a:p>
        </p:txBody>
      </p:sp>
      <p:pic>
        <p:nvPicPr>
          <p:cNvPr id="5" name="Picture 4">
            <a:extLst>
              <a:ext uri="{FF2B5EF4-FFF2-40B4-BE49-F238E27FC236}">
                <a16:creationId xmlns:a16="http://schemas.microsoft.com/office/drawing/2014/main" id="{78F6A07F-A1A3-4D24-A5F3-48AFD4B337B4}"/>
              </a:ext>
            </a:extLst>
          </p:cNvPr>
          <p:cNvPicPr>
            <a:picLocks noChangeAspect="1"/>
          </p:cNvPicPr>
          <p:nvPr/>
        </p:nvPicPr>
        <p:blipFill>
          <a:blip r:embed="rId2"/>
          <a:stretch>
            <a:fillRect/>
          </a:stretch>
        </p:blipFill>
        <p:spPr>
          <a:xfrm>
            <a:off x="629108" y="2640628"/>
            <a:ext cx="8467267" cy="3060000"/>
          </a:xfrm>
          <a:prstGeom prst="rect">
            <a:avLst/>
          </a:prstGeom>
        </p:spPr>
      </p:pic>
      <p:sp>
        <p:nvSpPr>
          <p:cNvPr id="6" name="TextBox 5">
            <a:extLst>
              <a:ext uri="{FF2B5EF4-FFF2-40B4-BE49-F238E27FC236}">
                <a16:creationId xmlns:a16="http://schemas.microsoft.com/office/drawing/2014/main" id="{4483BBBB-363A-48E3-93BF-47A547BE9504}"/>
              </a:ext>
            </a:extLst>
          </p:cNvPr>
          <p:cNvSpPr txBox="1"/>
          <p:nvPr/>
        </p:nvSpPr>
        <p:spPr>
          <a:xfrm>
            <a:off x="9096375" y="3044044"/>
            <a:ext cx="2882520" cy="957250"/>
          </a:xfrm>
          <a:prstGeom prst="rect">
            <a:avLst/>
          </a:prstGeom>
          <a:noFill/>
        </p:spPr>
        <p:txBody>
          <a:bodyPr wrap="none" rtlCol="0">
            <a:spAutoFit/>
          </a:bodyPr>
          <a:lstStyle/>
          <a:p>
            <a:pPr>
              <a:lnSpc>
                <a:spcPct val="150000"/>
              </a:lnSpc>
            </a:pPr>
            <a:r>
              <a:rPr lang="zh-CN" altLang="en-US" sz="2000" b="1" dirty="0">
                <a:solidFill>
                  <a:srgbClr val="0070C0"/>
                </a:solidFill>
              </a:rPr>
              <a:t>步骤</a:t>
            </a:r>
            <a:r>
              <a:rPr lang="en-US" altLang="zh-CN" sz="2000" b="1" dirty="0">
                <a:solidFill>
                  <a:srgbClr val="0070C0"/>
                </a:solidFill>
              </a:rPr>
              <a:t>1</a:t>
            </a:r>
            <a:r>
              <a:rPr lang="zh-CN" altLang="en-US" sz="2000" b="1" dirty="0">
                <a:solidFill>
                  <a:srgbClr val="0070C0"/>
                </a:solidFill>
              </a:rPr>
              <a:t>：</a:t>
            </a:r>
            <a:r>
              <a:rPr lang="zh-CN" altLang="en-US" sz="2000" dirty="0">
                <a:solidFill>
                  <a:srgbClr val="0070C0"/>
                </a:solidFill>
              </a:rPr>
              <a:t>提取局部关键点</a:t>
            </a:r>
            <a:endParaRPr lang="en-US" altLang="zh-CN" sz="2000" dirty="0">
              <a:solidFill>
                <a:srgbClr val="0070C0"/>
              </a:solidFill>
            </a:endParaRPr>
          </a:p>
          <a:p>
            <a:pPr>
              <a:lnSpc>
                <a:spcPct val="150000"/>
              </a:lnSpc>
            </a:pPr>
            <a:r>
              <a:rPr lang="zh-CN" altLang="en-US" sz="2000" b="1" dirty="0">
                <a:solidFill>
                  <a:srgbClr val="0070C0"/>
                </a:solidFill>
              </a:rPr>
              <a:t>步骤</a:t>
            </a:r>
            <a:r>
              <a:rPr lang="en-US" altLang="zh-CN" sz="2000" b="1" dirty="0">
                <a:solidFill>
                  <a:srgbClr val="0070C0"/>
                </a:solidFill>
              </a:rPr>
              <a:t>2</a:t>
            </a:r>
            <a:r>
              <a:rPr lang="zh-CN" altLang="en-US" sz="2000" b="1" dirty="0">
                <a:solidFill>
                  <a:srgbClr val="0070C0"/>
                </a:solidFill>
              </a:rPr>
              <a:t>：</a:t>
            </a:r>
            <a:r>
              <a:rPr lang="zh-CN" altLang="en-US" sz="2000" dirty="0">
                <a:solidFill>
                  <a:srgbClr val="0070C0"/>
                </a:solidFill>
              </a:rPr>
              <a:t>匹配关键点</a:t>
            </a:r>
          </a:p>
        </p:txBody>
      </p:sp>
      <p:sp>
        <p:nvSpPr>
          <p:cNvPr id="7" name="Rectangle 6">
            <a:extLst>
              <a:ext uri="{FF2B5EF4-FFF2-40B4-BE49-F238E27FC236}">
                <a16:creationId xmlns:a16="http://schemas.microsoft.com/office/drawing/2014/main" id="{D8370505-DACE-4054-A0E9-03213ED85B29}"/>
              </a:ext>
            </a:extLst>
          </p:cNvPr>
          <p:cNvSpPr/>
          <p:nvPr/>
        </p:nvSpPr>
        <p:spPr>
          <a:xfrm>
            <a:off x="10032434" y="6488668"/>
            <a:ext cx="2159566" cy="369332"/>
          </a:xfrm>
          <a:prstGeom prst="rect">
            <a:avLst/>
          </a:prstGeom>
        </p:spPr>
        <p:txBody>
          <a:bodyPr wrap="none">
            <a:spAutoFit/>
          </a:bodyPr>
          <a:lstStyle/>
          <a:p>
            <a:r>
              <a:rPr lang="en-US" altLang="zh-CN" dirty="0"/>
              <a:t>Source</a:t>
            </a:r>
            <a:r>
              <a:rPr lang="zh-CN" altLang="en-US" dirty="0"/>
              <a:t>：</a:t>
            </a:r>
            <a:r>
              <a:rPr lang="en-US" altLang="zh-CN" dirty="0"/>
              <a:t>S. </a:t>
            </a:r>
            <a:r>
              <a:rPr lang="en-US" altLang="zh-CN" dirty="0" err="1"/>
              <a:t>Lazebnik</a:t>
            </a:r>
            <a:endParaRPr lang="zh-CN" altLang="en-US" dirty="0"/>
          </a:p>
        </p:txBody>
      </p:sp>
    </p:spTree>
    <p:extLst>
      <p:ext uri="{BB962C8B-B14F-4D97-AF65-F5344CB8AC3E}">
        <p14:creationId xmlns:p14="http://schemas.microsoft.com/office/powerpoint/2010/main" val="393442270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82466-28EA-4B5D-AA23-E4E22BD85657}"/>
              </a:ext>
            </a:extLst>
          </p:cNvPr>
          <p:cNvSpPr>
            <a:spLocks noGrp="1"/>
          </p:cNvSpPr>
          <p:nvPr>
            <p:ph type="title"/>
          </p:nvPr>
        </p:nvSpPr>
        <p:spPr/>
        <p:txBody>
          <a:bodyPr/>
          <a:lstStyle/>
          <a:p>
            <a:r>
              <a:rPr lang="zh-CN" altLang="en-US" b="1" dirty="0"/>
              <a:t>全景拼接（</a:t>
            </a:r>
            <a:r>
              <a:rPr lang="en-US" altLang="zh-CN" b="1" dirty="0"/>
              <a:t>Panorama Stitching</a:t>
            </a:r>
            <a:r>
              <a:rPr lang="zh-CN" altLang="en-US" b="1" dirty="0"/>
              <a:t>）</a:t>
            </a:r>
            <a:endParaRPr lang="zh-CN" altLang="en-US" dirty="0"/>
          </a:p>
        </p:txBody>
      </p:sp>
      <p:sp>
        <p:nvSpPr>
          <p:cNvPr id="3" name="Content Placeholder 2">
            <a:extLst>
              <a:ext uri="{FF2B5EF4-FFF2-40B4-BE49-F238E27FC236}">
                <a16:creationId xmlns:a16="http://schemas.microsoft.com/office/drawing/2014/main" id="{E6E4504C-DF7E-4A5F-9F56-F62C0552F6FA}"/>
              </a:ext>
            </a:extLst>
          </p:cNvPr>
          <p:cNvSpPr>
            <a:spLocks noGrp="1"/>
          </p:cNvSpPr>
          <p:nvPr>
            <p:ph idx="1"/>
          </p:nvPr>
        </p:nvSpPr>
        <p:spPr/>
        <p:txBody>
          <a:bodyPr/>
          <a:lstStyle/>
          <a:p>
            <a:r>
              <a:rPr lang="zh-CN" altLang="en-US" b="1" dirty="0">
                <a:solidFill>
                  <a:srgbClr val="FF0000"/>
                </a:solidFill>
              </a:rPr>
              <a:t>如何将下面的两张图片进行拼接？</a:t>
            </a:r>
          </a:p>
          <a:p>
            <a:pPr marL="0" indent="0">
              <a:buNone/>
            </a:pPr>
            <a:endParaRPr lang="zh-CN" altLang="en-US" dirty="0"/>
          </a:p>
        </p:txBody>
      </p:sp>
      <p:pic>
        <p:nvPicPr>
          <p:cNvPr id="5" name="Picture 4">
            <a:extLst>
              <a:ext uri="{FF2B5EF4-FFF2-40B4-BE49-F238E27FC236}">
                <a16:creationId xmlns:a16="http://schemas.microsoft.com/office/drawing/2014/main" id="{51EF23E5-B485-4FB2-9B32-E6B2F8F4003B}"/>
              </a:ext>
            </a:extLst>
          </p:cNvPr>
          <p:cNvPicPr>
            <a:picLocks noChangeAspect="1"/>
          </p:cNvPicPr>
          <p:nvPr/>
        </p:nvPicPr>
        <p:blipFill>
          <a:blip r:embed="rId2"/>
          <a:stretch>
            <a:fillRect/>
          </a:stretch>
        </p:blipFill>
        <p:spPr>
          <a:xfrm>
            <a:off x="1206513" y="2733234"/>
            <a:ext cx="6493906" cy="3240000"/>
          </a:xfrm>
          <a:prstGeom prst="rect">
            <a:avLst/>
          </a:prstGeom>
        </p:spPr>
      </p:pic>
      <p:sp>
        <p:nvSpPr>
          <p:cNvPr id="6" name="TextBox 5">
            <a:extLst>
              <a:ext uri="{FF2B5EF4-FFF2-40B4-BE49-F238E27FC236}">
                <a16:creationId xmlns:a16="http://schemas.microsoft.com/office/drawing/2014/main" id="{F638887F-1842-4435-A5E1-5D412830FF88}"/>
              </a:ext>
            </a:extLst>
          </p:cNvPr>
          <p:cNvSpPr txBox="1"/>
          <p:nvPr/>
        </p:nvSpPr>
        <p:spPr>
          <a:xfrm>
            <a:off x="8085849" y="2931242"/>
            <a:ext cx="2882520" cy="1421992"/>
          </a:xfrm>
          <a:prstGeom prst="rect">
            <a:avLst/>
          </a:prstGeom>
          <a:noFill/>
        </p:spPr>
        <p:txBody>
          <a:bodyPr wrap="none" rtlCol="0">
            <a:spAutoFit/>
          </a:bodyPr>
          <a:lstStyle/>
          <a:p>
            <a:pPr>
              <a:lnSpc>
                <a:spcPct val="150000"/>
              </a:lnSpc>
            </a:pPr>
            <a:r>
              <a:rPr lang="zh-CN" altLang="en-US" sz="2000" b="1" dirty="0">
                <a:solidFill>
                  <a:srgbClr val="0070C0"/>
                </a:solidFill>
              </a:rPr>
              <a:t>步骤</a:t>
            </a:r>
            <a:r>
              <a:rPr lang="en-US" altLang="zh-CN" sz="2000" b="1" dirty="0">
                <a:solidFill>
                  <a:srgbClr val="0070C0"/>
                </a:solidFill>
              </a:rPr>
              <a:t>1</a:t>
            </a:r>
            <a:r>
              <a:rPr lang="zh-CN" altLang="en-US" sz="2000" b="1" dirty="0">
                <a:solidFill>
                  <a:srgbClr val="0070C0"/>
                </a:solidFill>
              </a:rPr>
              <a:t>：</a:t>
            </a:r>
            <a:r>
              <a:rPr lang="zh-CN" altLang="en-US" sz="2000" dirty="0">
                <a:solidFill>
                  <a:srgbClr val="0070C0"/>
                </a:solidFill>
              </a:rPr>
              <a:t>提取局部关键点</a:t>
            </a:r>
            <a:endParaRPr lang="en-US" altLang="zh-CN" sz="2000" dirty="0">
              <a:solidFill>
                <a:srgbClr val="0070C0"/>
              </a:solidFill>
            </a:endParaRPr>
          </a:p>
          <a:p>
            <a:pPr>
              <a:lnSpc>
                <a:spcPct val="150000"/>
              </a:lnSpc>
            </a:pPr>
            <a:r>
              <a:rPr lang="zh-CN" altLang="en-US" sz="2000" b="1" dirty="0">
                <a:solidFill>
                  <a:srgbClr val="0070C0"/>
                </a:solidFill>
              </a:rPr>
              <a:t>步骤</a:t>
            </a:r>
            <a:r>
              <a:rPr lang="en-US" altLang="zh-CN" sz="2000" b="1" dirty="0">
                <a:solidFill>
                  <a:srgbClr val="0070C0"/>
                </a:solidFill>
              </a:rPr>
              <a:t>2</a:t>
            </a:r>
            <a:r>
              <a:rPr lang="zh-CN" altLang="en-US" sz="2000" b="1" dirty="0">
                <a:solidFill>
                  <a:srgbClr val="0070C0"/>
                </a:solidFill>
              </a:rPr>
              <a:t>：</a:t>
            </a:r>
            <a:r>
              <a:rPr lang="zh-CN" altLang="en-US" sz="2000" dirty="0">
                <a:solidFill>
                  <a:srgbClr val="0070C0"/>
                </a:solidFill>
              </a:rPr>
              <a:t>匹配关键点</a:t>
            </a:r>
            <a:endParaRPr lang="en-US" altLang="zh-CN" sz="2000" dirty="0">
              <a:solidFill>
                <a:srgbClr val="0070C0"/>
              </a:solidFill>
            </a:endParaRPr>
          </a:p>
          <a:p>
            <a:pPr>
              <a:lnSpc>
                <a:spcPct val="150000"/>
              </a:lnSpc>
            </a:pPr>
            <a:r>
              <a:rPr lang="zh-CN" altLang="en-US" sz="2000" b="1" dirty="0">
                <a:solidFill>
                  <a:srgbClr val="0070C0"/>
                </a:solidFill>
              </a:rPr>
              <a:t>步骤</a:t>
            </a:r>
            <a:r>
              <a:rPr lang="en-US" altLang="zh-CN" sz="2000" b="1" dirty="0">
                <a:solidFill>
                  <a:srgbClr val="0070C0"/>
                </a:solidFill>
              </a:rPr>
              <a:t>3</a:t>
            </a:r>
            <a:r>
              <a:rPr lang="zh-CN" altLang="en-US" sz="2000" b="1" dirty="0">
                <a:solidFill>
                  <a:srgbClr val="0070C0"/>
                </a:solidFill>
              </a:rPr>
              <a:t>：</a:t>
            </a:r>
            <a:r>
              <a:rPr lang="zh-CN" altLang="en-US" sz="2000" dirty="0">
                <a:solidFill>
                  <a:srgbClr val="0070C0"/>
                </a:solidFill>
              </a:rPr>
              <a:t>图像对齐</a:t>
            </a:r>
          </a:p>
        </p:txBody>
      </p:sp>
      <p:sp>
        <p:nvSpPr>
          <p:cNvPr id="7" name="Rectangle 6">
            <a:extLst>
              <a:ext uri="{FF2B5EF4-FFF2-40B4-BE49-F238E27FC236}">
                <a16:creationId xmlns:a16="http://schemas.microsoft.com/office/drawing/2014/main" id="{662672DC-2DC5-47FC-B0B9-D538E99DA856}"/>
              </a:ext>
            </a:extLst>
          </p:cNvPr>
          <p:cNvSpPr/>
          <p:nvPr/>
        </p:nvSpPr>
        <p:spPr>
          <a:xfrm>
            <a:off x="10032434" y="6488668"/>
            <a:ext cx="2159566" cy="369332"/>
          </a:xfrm>
          <a:prstGeom prst="rect">
            <a:avLst/>
          </a:prstGeom>
        </p:spPr>
        <p:txBody>
          <a:bodyPr wrap="none">
            <a:spAutoFit/>
          </a:bodyPr>
          <a:lstStyle/>
          <a:p>
            <a:r>
              <a:rPr lang="en-US" altLang="zh-CN" dirty="0"/>
              <a:t>Source</a:t>
            </a:r>
            <a:r>
              <a:rPr lang="zh-CN" altLang="en-US" dirty="0"/>
              <a:t>：</a:t>
            </a:r>
            <a:r>
              <a:rPr lang="en-US" altLang="zh-CN" dirty="0"/>
              <a:t>S. </a:t>
            </a:r>
            <a:r>
              <a:rPr lang="en-US" altLang="zh-CN" dirty="0" err="1"/>
              <a:t>Lazebnik</a:t>
            </a:r>
            <a:endParaRPr lang="zh-CN" altLang="en-US" dirty="0"/>
          </a:p>
        </p:txBody>
      </p:sp>
    </p:spTree>
    <p:extLst>
      <p:ext uri="{BB962C8B-B14F-4D97-AF65-F5344CB8AC3E}">
        <p14:creationId xmlns:p14="http://schemas.microsoft.com/office/powerpoint/2010/main" val="204363040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82466-28EA-4B5D-AA23-E4E22BD85657}"/>
              </a:ext>
            </a:extLst>
          </p:cNvPr>
          <p:cNvSpPr>
            <a:spLocks noGrp="1"/>
          </p:cNvSpPr>
          <p:nvPr>
            <p:ph type="title"/>
          </p:nvPr>
        </p:nvSpPr>
        <p:spPr/>
        <p:txBody>
          <a:bodyPr/>
          <a:lstStyle/>
          <a:p>
            <a:r>
              <a:rPr lang="zh-CN" altLang="en-US" b="1" dirty="0"/>
              <a:t>全景拼接（</a:t>
            </a:r>
            <a:r>
              <a:rPr lang="en-US" altLang="zh-CN" b="1" dirty="0"/>
              <a:t>Panorama Stitching</a:t>
            </a:r>
            <a:r>
              <a:rPr lang="zh-CN" altLang="en-US" b="1" dirty="0"/>
              <a:t>）</a:t>
            </a:r>
            <a:endParaRPr lang="zh-CN" altLang="en-US" dirty="0"/>
          </a:p>
        </p:txBody>
      </p:sp>
      <p:sp>
        <p:nvSpPr>
          <p:cNvPr id="3" name="Content Placeholder 2">
            <a:extLst>
              <a:ext uri="{FF2B5EF4-FFF2-40B4-BE49-F238E27FC236}">
                <a16:creationId xmlns:a16="http://schemas.microsoft.com/office/drawing/2014/main" id="{E6E4504C-DF7E-4A5F-9F56-F62C0552F6FA}"/>
              </a:ext>
            </a:extLst>
          </p:cNvPr>
          <p:cNvSpPr>
            <a:spLocks noGrp="1"/>
          </p:cNvSpPr>
          <p:nvPr>
            <p:ph idx="1"/>
          </p:nvPr>
        </p:nvSpPr>
        <p:spPr/>
        <p:txBody>
          <a:bodyPr/>
          <a:lstStyle/>
          <a:p>
            <a:r>
              <a:rPr lang="zh-CN" altLang="en-US" b="1" dirty="0">
                <a:solidFill>
                  <a:srgbClr val="FF0000"/>
                </a:solidFill>
              </a:rPr>
              <a:t>如何将下面的两张图片进行拼接？</a:t>
            </a:r>
          </a:p>
          <a:p>
            <a:pPr marL="0" indent="0">
              <a:buNone/>
            </a:pPr>
            <a:endParaRPr lang="zh-CN" altLang="en-US" dirty="0"/>
          </a:p>
        </p:txBody>
      </p:sp>
      <p:pic>
        <p:nvPicPr>
          <p:cNvPr id="5" name="Picture 4">
            <a:extLst>
              <a:ext uri="{FF2B5EF4-FFF2-40B4-BE49-F238E27FC236}">
                <a16:creationId xmlns:a16="http://schemas.microsoft.com/office/drawing/2014/main" id="{51EF23E5-B485-4FB2-9B32-E6B2F8F4003B}"/>
              </a:ext>
            </a:extLst>
          </p:cNvPr>
          <p:cNvPicPr>
            <a:picLocks noChangeAspect="1"/>
          </p:cNvPicPr>
          <p:nvPr/>
        </p:nvPicPr>
        <p:blipFill>
          <a:blip r:embed="rId2"/>
          <a:stretch>
            <a:fillRect/>
          </a:stretch>
        </p:blipFill>
        <p:spPr>
          <a:xfrm>
            <a:off x="1206513" y="2733234"/>
            <a:ext cx="6493906" cy="3240000"/>
          </a:xfrm>
          <a:prstGeom prst="rect">
            <a:avLst/>
          </a:prstGeom>
        </p:spPr>
      </p:pic>
      <p:sp>
        <p:nvSpPr>
          <p:cNvPr id="6" name="TextBox 5">
            <a:extLst>
              <a:ext uri="{FF2B5EF4-FFF2-40B4-BE49-F238E27FC236}">
                <a16:creationId xmlns:a16="http://schemas.microsoft.com/office/drawing/2014/main" id="{F638887F-1842-4435-A5E1-5D412830FF88}"/>
              </a:ext>
            </a:extLst>
          </p:cNvPr>
          <p:cNvSpPr txBox="1"/>
          <p:nvPr/>
        </p:nvSpPr>
        <p:spPr>
          <a:xfrm>
            <a:off x="8068732" y="2931242"/>
            <a:ext cx="2882520" cy="1421992"/>
          </a:xfrm>
          <a:prstGeom prst="rect">
            <a:avLst/>
          </a:prstGeom>
          <a:noFill/>
        </p:spPr>
        <p:txBody>
          <a:bodyPr wrap="none" rtlCol="0">
            <a:spAutoFit/>
          </a:bodyPr>
          <a:lstStyle/>
          <a:p>
            <a:pPr>
              <a:lnSpc>
                <a:spcPct val="150000"/>
              </a:lnSpc>
            </a:pPr>
            <a:r>
              <a:rPr lang="zh-CN" altLang="en-US" sz="2000" b="1" dirty="0">
                <a:solidFill>
                  <a:srgbClr val="0070C0"/>
                </a:solidFill>
              </a:rPr>
              <a:t>步骤</a:t>
            </a:r>
            <a:r>
              <a:rPr lang="en-US" altLang="zh-CN" sz="2000" b="1" dirty="0">
                <a:solidFill>
                  <a:srgbClr val="0070C0"/>
                </a:solidFill>
              </a:rPr>
              <a:t>1</a:t>
            </a:r>
            <a:r>
              <a:rPr lang="zh-CN" altLang="en-US" sz="2000" b="1" dirty="0">
                <a:solidFill>
                  <a:srgbClr val="0070C0"/>
                </a:solidFill>
              </a:rPr>
              <a:t>：</a:t>
            </a:r>
            <a:r>
              <a:rPr lang="zh-CN" altLang="en-US" sz="2000" dirty="0">
                <a:solidFill>
                  <a:srgbClr val="0070C0"/>
                </a:solidFill>
              </a:rPr>
              <a:t>提取局部关键点</a:t>
            </a:r>
            <a:endParaRPr lang="en-US" altLang="zh-CN" sz="2000" dirty="0">
              <a:solidFill>
                <a:srgbClr val="0070C0"/>
              </a:solidFill>
            </a:endParaRPr>
          </a:p>
          <a:p>
            <a:pPr>
              <a:lnSpc>
                <a:spcPct val="150000"/>
              </a:lnSpc>
            </a:pPr>
            <a:r>
              <a:rPr lang="zh-CN" altLang="en-US" sz="2000" b="1" dirty="0">
                <a:solidFill>
                  <a:srgbClr val="0070C0"/>
                </a:solidFill>
              </a:rPr>
              <a:t>步骤</a:t>
            </a:r>
            <a:r>
              <a:rPr lang="en-US" altLang="zh-CN" sz="2000" b="1" dirty="0">
                <a:solidFill>
                  <a:srgbClr val="0070C0"/>
                </a:solidFill>
              </a:rPr>
              <a:t>2</a:t>
            </a:r>
            <a:r>
              <a:rPr lang="zh-CN" altLang="en-US" sz="2000" b="1" dirty="0">
                <a:solidFill>
                  <a:srgbClr val="0070C0"/>
                </a:solidFill>
              </a:rPr>
              <a:t>：</a:t>
            </a:r>
            <a:r>
              <a:rPr lang="zh-CN" altLang="en-US" sz="2000" dirty="0">
                <a:solidFill>
                  <a:srgbClr val="0070C0"/>
                </a:solidFill>
              </a:rPr>
              <a:t>匹配关键点</a:t>
            </a:r>
            <a:endParaRPr lang="en-US" altLang="zh-CN" sz="2000" dirty="0">
              <a:solidFill>
                <a:srgbClr val="0070C0"/>
              </a:solidFill>
            </a:endParaRPr>
          </a:p>
          <a:p>
            <a:pPr>
              <a:lnSpc>
                <a:spcPct val="150000"/>
              </a:lnSpc>
            </a:pPr>
            <a:r>
              <a:rPr lang="zh-CN" altLang="en-US" sz="2000" b="1" dirty="0">
                <a:solidFill>
                  <a:srgbClr val="0070C0"/>
                </a:solidFill>
              </a:rPr>
              <a:t>步骤</a:t>
            </a:r>
            <a:r>
              <a:rPr lang="en-US" altLang="zh-CN" sz="2000" b="1" dirty="0">
                <a:solidFill>
                  <a:srgbClr val="0070C0"/>
                </a:solidFill>
              </a:rPr>
              <a:t>3</a:t>
            </a:r>
            <a:r>
              <a:rPr lang="zh-CN" altLang="en-US" sz="2000" b="1" dirty="0">
                <a:solidFill>
                  <a:srgbClr val="0070C0"/>
                </a:solidFill>
              </a:rPr>
              <a:t>：</a:t>
            </a:r>
            <a:r>
              <a:rPr lang="zh-CN" altLang="en-US" sz="2000" dirty="0">
                <a:solidFill>
                  <a:srgbClr val="0070C0"/>
                </a:solidFill>
              </a:rPr>
              <a:t>图像对齐</a:t>
            </a:r>
          </a:p>
        </p:txBody>
      </p:sp>
      <p:sp>
        <p:nvSpPr>
          <p:cNvPr id="7" name="Rectangle 6">
            <a:extLst>
              <a:ext uri="{FF2B5EF4-FFF2-40B4-BE49-F238E27FC236}">
                <a16:creationId xmlns:a16="http://schemas.microsoft.com/office/drawing/2014/main" id="{662672DC-2DC5-47FC-B0B9-D538E99DA856}"/>
              </a:ext>
            </a:extLst>
          </p:cNvPr>
          <p:cNvSpPr/>
          <p:nvPr/>
        </p:nvSpPr>
        <p:spPr>
          <a:xfrm>
            <a:off x="10032434" y="6488668"/>
            <a:ext cx="2159566" cy="369332"/>
          </a:xfrm>
          <a:prstGeom prst="rect">
            <a:avLst/>
          </a:prstGeom>
        </p:spPr>
        <p:txBody>
          <a:bodyPr wrap="none">
            <a:spAutoFit/>
          </a:bodyPr>
          <a:lstStyle/>
          <a:p>
            <a:r>
              <a:rPr lang="en-US" altLang="zh-CN" dirty="0"/>
              <a:t>Source</a:t>
            </a:r>
            <a:r>
              <a:rPr lang="zh-CN" altLang="en-US" dirty="0"/>
              <a:t>：</a:t>
            </a:r>
            <a:r>
              <a:rPr lang="en-US" altLang="zh-CN" dirty="0"/>
              <a:t>S. </a:t>
            </a:r>
            <a:r>
              <a:rPr lang="en-US" altLang="zh-CN" dirty="0" err="1"/>
              <a:t>Lazebnik</a:t>
            </a:r>
            <a:endParaRPr lang="zh-CN" altLang="en-US" dirty="0"/>
          </a:p>
        </p:txBody>
      </p:sp>
    </p:spTree>
    <p:extLst>
      <p:ext uri="{BB962C8B-B14F-4D97-AF65-F5344CB8AC3E}">
        <p14:creationId xmlns:p14="http://schemas.microsoft.com/office/powerpoint/2010/main" val="425158435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6D13C-A042-4C50-889B-8E9EBFF0F089}"/>
              </a:ext>
            </a:extLst>
          </p:cNvPr>
          <p:cNvSpPr>
            <a:spLocks noGrp="1"/>
          </p:cNvSpPr>
          <p:nvPr>
            <p:ph type="title"/>
          </p:nvPr>
        </p:nvSpPr>
        <p:spPr/>
        <p:txBody>
          <a:bodyPr/>
          <a:lstStyle/>
          <a:p>
            <a:r>
              <a:rPr lang="zh-CN" altLang="en-US" b="1" dirty="0"/>
              <a:t>全景拼接（</a:t>
            </a:r>
            <a:r>
              <a:rPr lang="en-US" altLang="zh-CN" b="1" dirty="0"/>
              <a:t>Panorama Stitching</a:t>
            </a:r>
            <a:r>
              <a:rPr lang="zh-CN" altLang="en-US" b="1" dirty="0"/>
              <a:t>）</a:t>
            </a:r>
            <a:endParaRPr lang="zh-CN" altLang="en-US" dirty="0"/>
          </a:p>
        </p:txBody>
      </p:sp>
      <p:sp>
        <p:nvSpPr>
          <p:cNvPr id="3" name="Content Placeholder 2">
            <a:extLst>
              <a:ext uri="{FF2B5EF4-FFF2-40B4-BE49-F238E27FC236}">
                <a16:creationId xmlns:a16="http://schemas.microsoft.com/office/drawing/2014/main" id="{C239D0DD-1117-4777-A1ED-6BA6371E29EE}"/>
              </a:ext>
            </a:extLst>
          </p:cNvPr>
          <p:cNvSpPr>
            <a:spLocks noGrp="1"/>
          </p:cNvSpPr>
          <p:nvPr>
            <p:ph idx="1"/>
          </p:nvPr>
        </p:nvSpPr>
        <p:spPr/>
        <p:txBody>
          <a:bodyPr/>
          <a:lstStyle/>
          <a:p>
            <a:r>
              <a:rPr lang="zh-CN" altLang="en-US" b="1" dirty="0"/>
              <a:t>难点</a:t>
            </a:r>
            <a:r>
              <a:rPr lang="en-US" altLang="zh-CN" b="1" dirty="0"/>
              <a:t>1</a:t>
            </a:r>
            <a:r>
              <a:rPr lang="zh-CN" altLang="en-US" b="1" dirty="0"/>
              <a:t>：</a:t>
            </a:r>
            <a:r>
              <a:rPr lang="zh-CN" altLang="en-US" dirty="0"/>
              <a:t>在不同的图片中能检测到相同的点</a:t>
            </a:r>
          </a:p>
        </p:txBody>
      </p:sp>
      <p:pic>
        <p:nvPicPr>
          <p:cNvPr id="7" name="Picture 6">
            <a:extLst>
              <a:ext uri="{FF2B5EF4-FFF2-40B4-BE49-F238E27FC236}">
                <a16:creationId xmlns:a16="http://schemas.microsoft.com/office/drawing/2014/main" id="{AE615991-9523-4F68-AEDC-499478ABB10E}"/>
              </a:ext>
            </a:extLst>
          </p:cNvPr>
          <p:cNvPicPr>
            <a:picLocks noChangeAspect="1"/>
          </p:cNvPicPr>
          <p:nvPr/>
        </p:nvPicPr>
        <p:blipFill>
          <a:blip r:embed="rId2"/>
          <a:stretch>
            <a:fillRect/>
          </a:stretch>
        </p:blipFill>
        <p:spPr>
          <a:xfrm>
            <a:off x="2176511" y="2543285"/>
            <a:ext cx="7838977" cy="3768615"/>
          </a:xfrm>
          <a:prstGeom prst="rect">
            <a:avLst/>
          </a:prstGeom>
        </p:spPr>
      </p:pic>
    </p:spTree>
    <p:extLst>
      <p:ext uri="{BB962C8B-B14F-4D97-AF65-F5344CB8AC3E}">
        <p14:creationId xmlns:p14="http://schemas.microsoft.com/office/powerpoint/2010/main" val="133901560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1E68B-8F4E-40DE-A788-C99FE262B57A}"/>
              </a:ext>
            </a:extLst>
          </p:cNvPr>
          <p:cNvSpPr>
            <a:spLocks noGrp="1"/>
          </p:cNvSpPr>
          <p:nvPr>
            <p:ph type="title"/>
          </p:nvPr>
        </p:nvSpPr>
        <p:spPr/>
        <p:txBody>
          <a:bodyPr/>
          <a:lstStyle/>
          <a:p>
            <a:r>
              <a:rPr lang="zh-CN" altLang="en-US" b="1" dirty="0"/>
              <a:t>全景拼接（</a:t>
            </a:r>
            <a:r>
              <a:rPr lang="en-US" altLang="zh-CN" b="1" dirty="0"/>
              <a:t>Panorama Stitching</a:t>
            </a:r>
            <a:r>
              <a:rPr lang="zh-CN" altLang="en-US" b="1" dirty="0"/>
              <a:t>）</a:t>
            </a:r>
            <a:endParaRPr lang="zh-CN" altLang="en-US" dirty="0"/>
          </a:p>
        </p:txBody>
      </p:sp>
      <p:sp>
        <p:nvSpPr>
          <p:cNvPr id="3" name="Content Placeholder 2">
            <a:extLst>
              <a:ext uri="{FF2B5EF4-FFF2-40B4-BE49-F238E27FC236}">
                <a16:creationId xmlns:a16="http://schemas.microsoft.com/office/drawing/2014/main" id="{91707694-D139-4A32-AB6F-B02C8CE12CB3}"/>
              </a:ext>
            </a:extLst>
          </p:cNvPr>
          <p:cNvSpPr>
            <a:spLocks noGrp="1"/>
          </p:cNvSpPr>
          <p:nvPr>
            <p:ph idx="1"/>
          </p:nvPr>
        </p:nvSpPr>
        <p:spPr/>
        <p:txBody>
          <a:bodyPr/>
          <a:lstStyle/>
          <a:p>
            <a:r>
              <a:rPr lang="zh-CN" altLang="en-US" b="1" dirty="0"/>
              <a:t>难点</a:t>
            </a:r>
            <a:r>
              <a:rPr lang="en-US" altLang="zh-CN" b="1" dirty="0"/>
              <a:t>2</a:t>
            </a:r>
            <a:r>
              <a:rPr lang="zh-CN" altLang="en-US" b="1" dirty="0"/>
              <a:t>：</a:t>
            </a:r>
            <a:r>
              <a:rPr lang="zh-CN" altLang="en-US" dirty="0"/>
              <a:t>对每一个检测到的点正确的找到对应的点</a:t>
            </a:r>
          </a:p>
          <a:p>
            <a:endParaRPr lang="zh-CN" altLang="en-US" dirty="0"/>
          </a:p>
        </p:txBody>
      </p:sp>
      <p:pic>
        <p:nvPicPr>
          <p:cNvPr id="4" name="Picture 3">
            <a:extLst>
              <a:ext uri="{FF2B5EF4-FFF2-40B4-BE49-F238E27FC236}">
                <a16:creationId xmlns:a16="http://schemas.microsoft.com/office/drawing/2014/main" id="{9F695D9A-F864-4526-8D68-254E3CF2CD97}"/>
              </a:ext>
            </a:extLst>
          </p:cNvPr>
          <p:cNvPicPr>
            <a:picLocks noChangeAspect="1"/>
          </p:cNvPicPr>
          <p:nvPr/>
        </p:nvPicPr>
        <p:blipFill>
          <a:blip r:embed="rId2"/>
          <a:stretch>
            <a:fillRect/>
          </a:stretch>
        </p:blipFill>
        <p:spPr>
          <a:xfrm>
            <a:off x="1524000" y="2783007"/>
            <a:ext cx="9144000" cy="3080977"/>
          </a:xfrm>
          <a:prstGeom prst="rect">
            <a:avLst/>
          </a:prstGeom>
        </p:spPr>
      </p:pic>
    </p:spTree>
    <p:extLst>
      <p:ext uri="{BB962C8B-B14F-4D97-AF65-F5344CB8AC3E}">
        <p14:creationId xmlns:p14="http://schemas.microsoft.com/office/powerpoint/2010/main" val="57363410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5CC91-777D-47F6-9323-6D612CD23D62}"/>
              </a:ext>
            </a:extLst>
          </p:cNvPr>
          <p:cNvSpPr>
            <a:spLocks noGrp="1"/>
          </p:cNvSpPr>
          <p:nvPr>
            <p:ph type="title"/>
          </p:nvPr>
        </p:nvSpPr>
        <p:spPr/>
        <p:txBody>
          <a:bodyPr/>
          <a:lstStyle/>
          <a:p>
            <a:r>
              <a:rPr lang="zh-CN" altLang="en-US" b="1" dirty="0"/>
              <a:t>全景拼接（</a:t>
            </a:r>
            <a:r>
              <a:rPr lang="en-US" altLang="zh-CN" b="1" dirty="0"/>
              <a:t>Panorama Stitching</a:t>
            </a:r>
            <a:r>
              <a:rPr lang="zh-CN" altLang="en-US" b="1" dirty="0"/>
              <a:t>）</a:t>
            </a:r>
            <a:endParaRPr lang="zh-CN" altLang="en-US" dirty="0"/>
          </a:p>
        </p:txBody>
      </p:sp>
      <p:sp>
        <p:nvSpPr>
          <p:cNvPr id="3" name="Content Placeholder 2">
            <a:extLst>
              <a:ext uri="{FF2B5EF4-FFF2-40B4-BE49-F238E27FC236}">
                <a16:creationId xmlns:a16="http://schemas.microsoft.com/office/drawing/2014/main" id="{9581C1FE-F251-485F-AD74-C1FE4BC51BCB}"/>
              </a:ext>
            </a:extLst>
          </p:cNvPr>
          <p:cNvSpPr>
            <a:spLocks noGrp="1"/>
          </p:cNvSpPr>
          <p:nvPr>
            <p:ph idx="1"/>
          </p:nvPr>
        </p:nvSpPr>
        <p:spPr/>
        <p:txBody>
          <a:bodyPr/>
          <a:lstStyle/>
          <a:p>
            <a:r>
              <a:rPr lang="zh-CN" altLang="en-US" b="1" dirty="0"/>
              <a:t>难点</a:t>
            </a:r>
            <a:r>
              <a:rPr lang="en-US" altLang="zh-CN" b="1" dirty="0"/>
              <a:t>3</a:t>
            </a:r>
            <a:r>
              <a:rPr lang="zh-CN" altLang="en-US" b="1" dirty="0"/>
              <a:t>：</a:t>
            </a:r>
            <a:r>
              <a:rPr lang="zh-CN" altLang="en-US" dirty="0"/>
              <a:t>计算两幅图像之间的变换关系？</a:t>
            </a:r>
          </a:p>
          <a:p>
            <a:endParaRPr lang="zh-CN" altLang="en-US" dirty="0"/>
          </a:p>
        </p:txBody>
      </p:sp>
      <p:pic>
        <p:nvPicPr>
          <p:cNvPr id="4" name="Picture 3">
            <a:extLst>
              <a:ext uri="{FF2B5EF4-FFF2-40B4-BE49-F238E27FC236}">
                <a16:creationId xmlns:a16="http://schemas.microsoft.com/office/drawing/2014/main" id="{C0AF2AEE-9B0E-4E5A-9FF1-BB0FCA2EED33}"/>
              </a:ext>
            </a:extLst>
          </p:cNvPr>
          <p:cNvPicPr>
            <a:picLocks noChangeAspect="1"/>
          </p:cNvPicPr>
          <p:nvPr/>
        </p:nvPicPr>
        <p:blipFill>
          <a:blip r:embed="rId2"/>
          <a:stretch>
            <a:fillRect/>
          </a:stretch>
        </p:blipFill>
        <p:spPr>
          <a:xfrm>
            <a:off x="6506646" y="2650588"/>
            <a:ext cx="5414419" cy="2701412"/>
          </a:xfrm>
          <a:prstGeom prst="rect">
            <a:avLst/>
          </a:prstGeom>
        </p:spPr>
      </p:pic>
      <p:pic>
        <p:nvPicPr>
          <p:cNvPr id="7" name="Picture 6">
            <a:extLst>
              <a:ext uri="{FF2B5EF4-FFF2-40B4-BE49-F238E27FC236}">
                <a16:creationId xmlns:a16="http://schemas.microsoft.com/office/drawing/2014/main" id="{5D63FEAD-9D80-488C-8A7F-A76D14572AFE}"/>
              </a:ext>
            </a:extLst>
          </p:cNvPr>
          <p:cNvPicPr>
            <a:picLocks noChangeAspect="1"/>
          </p:cNvPicPr>
          <p:nvPr/>
        </p:nvPicPr>
        <p:blipFill>
          <a:blip r:embed="rId3"/>
          <a:stretch>
            <a:fillRect/>
          </a:stretch>
        </p:blipFill>
        <p:spPr>
          <a:xfrm>
            <a:off x="0" y="3010694"/>
            <a:ext cx="6138124" cy="2218267"/>
          </a:xfrm>
          <a:prstGeom prst="rect">
            <a:avLst/>
          </a:prstGeom>
        </p:spPr>
      </p:pic>
    </p:spTree>
    <p:extLst>
      <p:ext uri="{BB962C8B-B14F-4D97-AF65-F5344CB8AC3E}">
        <p14:creationId xmlns:p14="http://schemas.microsoft.com/office/powerpoint/2010/main" val="402071408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AA2A5-0EF6-4234-BDC8-243912521F05}"/>
              </a:ext>
            </a:extLst>
          </p:cNvPr>
          <p:cNvSpPr>
            <a:spLocks noGrp="1"/>
          </p:cNvSpPr>
          <p:nvPr>
            <p:ph type="title"/>
          </p:nvPr>
        </p:nvSpPr>
        <p:spPr/>
        <p:txBody>
          <a:bodyPr/>
          <a:lstStyle/>
          <a:p>
            <a:r>
              <a:rPr lang="zh-CN" altLang="en-US" b="1" dirty="0"/>
              <a:t>角点检测 </a:t>
            </a:r>
            <a:r>
              <a:rPr lang="en-US" altLang="zh-CN" b="1" dirty="0"/>
              <a:t>(Corner detection)</a:t>
            </a:r>
            <a:endParaRPr lang="zh-CN" altLang="en-US" dirty="0"/>
          </a:p>
        </p:txBody>
      </p:sp>
      <p:sp>
        <p:nvSpPr>
          <p:cNvPr id="3" name="Content Placeholder 2">
            <a:extLst>
              <a:ext uri="{FF2B5EF4-FFF2-40B4-BE49-F238E27FC236}">
                <a16:creationId xmlns:a16="http://schemas.microsoft.com/office/drawing/2014/main" id="{A7E78CC7-88F2-4AAE-9D8A-90298CA8C0C3}"/>
              </a:ext>
            </a:extLst>
          </p:cNvPr>
          <p:cNvSpPr>
            <a:spLocks noGrp="1"/>
          </p:cNvSpPr>
          <p:nvPr>
            <p:ph idx="1"/>
          </p:nvPr>
        </p:nvSpPr>
        <p:spPr>
          <a:xfrm>
            <a:off x="838200" y="1825625"/>
            <a:ext cx="5016500" cy="4351338"/>
          </a:xfrm>
        </p:spPr>
        <p:txBody>
          <a:bodyPr/>
          <a:lstStyle/>
          <a:p>
            <a:pPr>
              <a:lnSpc>
                <a:spcPct val="150000"/>
              </a:lnSpc>
            </a:pPr>
            <a:r>
              <a:rPr lang="en-US" altLang="zh-CN" dirty="0"/>
              <a:t>Harris </a:t>
            </a:r>
            <a:r>
              <a:rPr lang="zh-CN" altLang="en-US" dirty="0"/>
              <a:t>角点检测</a:t>
            </a:r>
            <a:endParaRPr lang="en-US" altLang="zh-CN" dirty="0"/>
          </a:p>
          <a:p>
            <a:pPr>
              <a:lnSpc>
                <a:spcPct val="150000"/>
              </a:lnSpc>
            </a:pPr>
            <a:r>
              <a:rPr lang="en-US" altLang="zh-CN" dirty="0"/>
              <a:t>Laplacian-of-Gaussian (LOG)</a:t>
            </a:r>
          </a:p>
          <a:p>
            <a:pPr>
              <a:lnSpc>
                <a:spcPct val="150000"/>
              </a:lnSpc>
            </a:pPr>
            <a:r>
              <a:rPr lang="en-US" altLang="zh-CN" dirty="0" err="1"/>
              <a:t>DoG</a:t>
            </a:r>
            <a:endParaRPr lang="en-US" altLang="zh-CN" dirty="0"/>
          </a:p>
          <a:p>
            <a:pPr>
              <a:lnSpc>
                <a:spcPct val="150000"/>
              </a:lnSpc>
            </a:pPr>
            <a:r>
              <a:rPr lang="en-US" altLang="zh-CN" dirty="0"/>
              <a:t>Harris-Laplacian</a:t>
            </a:r>
          </a:p>
        </p:txBody>
      </p:sp>
      <p:grpSp>
        <p:nvGrpSpPr>
          <p:cNvPr id="7" name="Group 6">
            <a:extLst>
              <a:ext uri="{FF2B5EF4-FFF2-40B4-BE49-F238E27FC236}">
                <a16:creationId xmlns:a16="http://schemas.microsoft.com/office/drawing/2014/main" id="{AFAF5D02-59F0-4676-B8C8-6186AC29669E}"/>
              </a:ext>
            </a:extLst>
          </p:cNvPr>
          <p:cNvGrpSpPr/>
          <p:nvPr/>
        </p:nvGrpSpPr>
        <p:grpSpPr>
          <a:xfrm>
            <a:off x="4093496" y="2127009"/>
            <a:ext cx="8017133" cy="2833474"/>
            <a:chOff x="2696496" y="2982143"/>
            <a:chExt cx="8017133" cy="2833474"/>
          </a:xfrm>
        </p:grpSpPr>
        <p:grpSp>
          <p:nvGrpSpPr>
            <p:cNvPr id="8" name="Line">
              <a:extLst>
                <a:ext uri="{FF2B5EF4-FFF2-40B4-BE49-F238E27FC236}">
                  <a16:creationId xmlns:a16="http://schemas.microsoft.com/office/drawing/2014/main" id="{1D34FAD7-10F2-4ED2-96F4-6186DEA2E62E}"/>
                </a:ext>
              </a:extLst>
            </p:cNvPr>
            <p:cNvGrpSpPr/>
            <p:nvPr/>
          </p:nvGrpSpPr>
          <p:grpSpPr>
            <a:xfrm>
              <a:off x="2696496" y="3210060"/>
              <a:ext cx="8017133" cy="2605557"/>
              <a:chOff x="0" y="0"/>
              <a:chExt cx="8017131" cy="2605556"/>
            </a:xfrm>
          </p:grpSpPr>
          <p:sp>
            <p:nvSpPr>
              <p:cNvPr id="12" name="Line">
                <a:extLst>
                  <a:ext uri="{FF2B5EF4-FFF2-40B4-BE49-F238E27FC236}">
                    <a16:creationId xmlns:a16="http://schemas.microsoft.com/office/drawing/2014/main" id="{6F93397D-47C3-4EF1-A8B2-8CE7D5B0F811}"/>
                  </a:ext>
                </a:extLst>
              </p:cNvPr>
              <p:cNvSpPr/>
              <p:nvPr/>
            </p:nvSpPr>
            <p:spPr>
              <a:xfrm>
                <a:off x="50800" y="72780"/>
                <a:ext cx="7915532" cy="2481977"/>
              </a:xfrm>
              <a:custGeom>
                <a:avLst/>
                <a:gdLst/>
                <a:ahLst/>
                <a:cxnLst>
                  <a:cxn ang="0">
                    <a:pos x="wd2" y="hd2"/>
                  </a:cxn>
                  <a:cxn ang="5400000">
                    <a:pos x="wd2" y="hd2"/>
                  </a:cxn>
                  <a:cxn ang="10800000">
                    <a:pos x="wd2" y="hd2"/>
                  </a:cxn>
                  <a:cxn ang="16200000">
                    <a:pos x="wd2" y="hd2"/>
                  </a:cxn>
                </a:cxnLst>
                <a:rect l="0" t="0" r="r" b="b"/>
                <a:pathLst>
                  <a:path w="21600" h="21600" extrusionOk="0">
                    <a:moveTo>
                      <a:pt x="0" y="21525"/>
                    </a:moveTo>
                    <a:lnTo>
                      <a:pt x="5701" y="6016"/>
                    </a:lnTo>
                    <a:lnTo>
                      <a:pt x="9317" y="18711"/>
                    </a:lnTo>
                    <a:lnTo>
                      <a:pt x="15326" y="0"/>
                    </a:lnTo>
                    <a:lnTo>
                      <a:pt x="21600" y="21600"/>
                    </a:lnTo>
                  </a:path>
                </a:pathLst>
              </a:custGeom>
              <a:gradFill flip="none" rotWithShape="1">
                <a:gsLst>
                  <a:gs pos="0">
                    <a:schemeClr val="accent1">
                      <a:satOff val="-3355"/>
                      <a:lumOff val="26614"/>
                    </a:schemeClr>
                  </a:gs>
                  <a:gs pos="64929">
                    <a:srgbClr val="FFFFFF"/>
                  </a:gs>
                </a:gsLst>
                <a:lin ang="4837306" scaled="0"/>
              </a:gradFill>
              <a:ln>
                <a:noFill/>
              </a:ln>
              <a:effectLst/>
            </p:spPr>
            <p:txBody>
              <a:bodyPr wrap="square" lIns="50800" tIns="50800" rIns="50800" bIns="50800" numCol="1" anchor="ctr">
                <a:noAutofit/>
              </a:bodyPr>
              <a:lstStyle/>
              <a:p>
                <a:pPr marL="0" marR="0" lvl="0" indent="0" algn="ctr" defTabSz="584200" rtl="0" eaLnBrk="1" fontAlgn="auto" latinLnBrk="0" hangingPunct="0">
                  <a:lnSpc>
                    <a:spcPct val="100000"/>
                  </a:lnSpc>
                  <a:spcBef>
                    <a:spcPts val="0"/>
                  </a:spcBef>
                  <a:spcAft>
                    <a:spcPts val="0"/>
                  </a:spcAft>
                  <a:buClrTx/>
                  <a:buSzTx/>
                  <a:buFontTx/>
                  <a:buNone/>
                  <a:tabLst/>
                  <a:defRPr sz="2400"/>
                </a:pPr>
                <a:endParaRPr kumimoji="0" sz="2400" b="0" i="0" u="none" strike="noStrike" kern="0" cap="none" spc="0" normalizeH="0" baseline="0" noProof="0">
                  <a:ln>
                    <a:noFill/>
                  </a:ln>
                  <a:solidFill>
                    <a:srgbClr val="000000"/>
                  </a:solidFill>
                  <a:effectLst/>
                  <a:uLnTx/>
                  <a:uFillTx/>
                  <a:latin typeface="Helvetica Light"/>
                  <a:sym typeface="Helvetica Light"/>
                </a:endParaRPr>
              </a:p>
            </p:txBody>
          </p:sp>
          <p:pic>
            <p:nvPicPr>
              <p:cNvPr id="13" name="Line" descr="Line">
                <a:extLst>
                  <a:ext uri="{FF2B5EF4-FFF2-40B4-BE49-F238E27FC236}">
                    <a16:creationId xmlns:a16="http://schemas.microsoft.com/office/drawing/2014/main" id="{F5564A40-82F3-4519-8B32-024EBF18E681}"/>
                  </a:ext>
                </a:extLst>
              </p:cNvPr>
              <p:cNvPicPr>
                <a:picLocks/>
              </p:cNvPicPr>
              <p:nvPr/>
            </p:nvPicPr>
            <p:blipFill>
              <a:blip r:embed="rId2">
                <a:extLst/>
              </a:blip>
              <a:stretch>
                <a:fillRect/>
              </a:stretch>
            </p:blipFill>
            <p:spPr>
              <a:xfrm>
                <a:off x="-1" y="-1"/>
                <a:ext cx="8017133" cy="2605558"/>
              </a:xfrm>
              <a:prstGeom prst="rect">
                <a:avLst/>
              </a:prstGeom>
              <a:effectLst/>
            </p:spPr>
          </p:pic>
        </p:grpSp>
        <p:pic>
          <p:nvPicPr>
            <p:cNvPr id="9" name="Square" descr="Square">
              <a:extLst>
                <a:ext uri="{FF2B5EF4-FFF2-40B4-BE49-F238E27FC236}">
                  <a16:creationId xmlns:a16="http://schemas.microsoft.com/office/drawing/2014/main" id="{01D530EB-80E3-487B-BA62-B1829EAB8F29}"/>
                </a:ext>
              </a:extLst>
            </p:cNvPr>
            <p:cNvPicPr>
              <a:picLocks/>
            </p:cNvPicPr>
            <p:nvPr/>
          </p:nvPicPr>
          <p:blipFill>
            <a:blip r:embed="rId3">
              <a:extLst/>
            </a:blip>
            <a:stretch>
              <a:fillRect/>
            </a:stretch>
          </p:blipFill>
          <p:spPr>
            <a:xfrm>
              <a:off x="4508500" y="3680643"/>
              <a:ext cx="624657" cy="624658"/>
            </a:xfrm>
            <a:prstGeom prst="rect">
              <a:avLst/>
            </a:prstGeom>
            <a:effectLst>
              <a:outerShdw blurRad="38100" dist="25400" dir="5400000" rotWithShape="0">
                <a:srgbClr val="000000">
                  <a:alpha val="50000"/>
                </a:srgbClr>
              </a:outerShdw>
            </a:effectLst>
          </p:spPr>
        </p:pic>
        <p:pic>
          <p:nvPicPr>
            <p:cNvPr id="10" name="Square" descr="Square">
              <a:extLst>
                <a:ext uri="{FF2B5EF4-FFF2-40B4-BE49-F238E27FC236}">
                  <a16:creationId xmlns:a16="http://schemas.microsoft.com/office/drawing/2014/main" id="{6575B890-9234-4B4A-9441-D5352643356E}"/>
                </a:ext>
              </a:extLst>
            </p:cNvPr>
            <p:cNvPicPr>
              <a:picLocks/>
            </p:cNvPicPr>
            <p:nvPr/>
          </p:nvPicPr>
          <p:blipFill>
            <a:blip r:embed="rId3">
              <a:extLst/>
            </a:blip>
            <a:stretch>
              <a:fillRect/>
            </a:stretch>
          </p:blipFill>
          <p:spPr>
            <a:xfrm>
              <a:off x="5854700" y="5064943"/>
              <a:ext cx="624657" cy="624658"/>
            </a:xfrm>
            <a:prstGeom prst="rect">
              <a:avLst/>
            </a:prstGeom>
            <a:effectLst>
              <a:outerShdw blurRad="38100" dist="25400" dir="5400000" rotWithShape="0">
                <a:srgbClr val="000000">
                  <a:alpha val="50000"/>
                </a:srgbClr>
              </a:outerShdw>
            </a:effectLst>
          </p:spPr>
        </p:pic>
        <p:pic>
          <p:nvPicPr>
            <p:cNvPr id="11" name="Square" descr="Square">
              <a:extLst>
                <a:ext uri="{FF2B5EF4-FFF2-40B4-BE49-F238E27FC236}">
                  <a16:creationId xmlns:a16="http://schemas.microsoft.com/office/drawing/2014/main" id="{B764089F-33D2-4C83-ACE9-BF756412E343}"/>
                </a:ext>
              </a:extLst>
            </p:cNvPr>
            <p:cNvPicPr>
              <a:picLocks/>
            </p:cNvPicPr>
            <p:nvPr/>
          </p:nvPicPr>
          <p:blipFill>
            <a:blip r:embed="rId3">
              <a:extLst/>
            </a:blip>
            <a:stretch>
              <a:fillRect/>
            </a:stretch>
          </p:blipFill>
          <p:spPr>
            <a:xfrm>
              <a:off x="8064500" y="2982143"/>
              <a:ext cx="624657" cy="624658"/>
            </a:xfrm>
            <a:prstGeom prst="rect">
              <a:avLst/>
            </a:prstGeom>
            <a:effectLst>
              <a:outerShdw blurRad="38100" dist="25400" dir="5400000" rotWithShape="0">
                <a:srgbClr val="000000">
                  <a:alpha val="50000"/>
                </a:srgbClr>
              </a:outerShdw>
            </a:effectLst>
          </p:spPr>
        </p:pic>
      </p:grpSp>
    </p:spTree>
    <p:extLst>
      <p:ext uri="{BB962C8B-B14F-4D97-AF65-F5344CB8AC3E}">
        <p14:creationId xmlns:p14="http://schemas.microsoft.com/office/powerpoint/2010/main" val="173546732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EAEA1-26CC-45FF-A647-A9CBE2C1322B}"/>
              </a:ext>
            </a:extLst>
          </p:cNvPr>
          <p:cNvSpPr>
            <a:spLocks noGrp="1"/>
          </p:cNvSpPr>
          <p:nvPr>
            <p:ph type="title"/>
          </p:nvPr>
        </p:nvSpPr>
        <p:spPr/>
        <p:txBody>
          <a:bodyPr/>
          <a:lstStyle/>
          <a:p>
            <a:r>
              <a:rPr lang="en-US" altLang="zh-CN" b="1" dirty="0"/>
              <a:t>Harris</a:t>
            </a:r>
            <a:r>
              <a:rPr lang="zh-CN" altLang="en-US" b="1" dirty="0"/>
              <a:t>角点检测：</a:t>
            </a:r>
            <a:r>
              <a:rPr lang="zh-CN" altLang="en-US" dirty="0"/>
              <a:t>基本思想</a:t>
            </a:r>
          </a:p>
        </p:txBody>
      </p:sp>
      <p:sp>
        <p:nvSpPr>
          <p:cNvPr id="3" name="Content Placeholder 2">
            <a:extLst>
              <a:ext uri="{FF2B5EF4-FFF2-40B4-BE49-F238E27FC236}">
                <a16:creationId xmlns:a16="http://schemas.microsoft.com/office/drawing/2014/main" id="{3020FA3A-8D79-430C-8ECA-EF6B9CEC4528}"/>
              </a:ext>
            </a:extLst>
          </p:cNvPr>
          <p:cNvSpPr>
            <a:spLocks noGrp="1"/>
          </p:cNvSpPr>
          <p:nvPr>
            <p:ph idx="1"/>
          </p:nvPr>
        </p:nvSpPr>
        <p:spPr>
          <a:xfrm>
            <a:off x="838200" y="1825625"/>
            <a:ext cx="10718800" cy="4351338"/>
          </a:xfrm>
        </p:spPr>
        <p:txBody>
          <a:bodyPr/>
          <a:lstStyle/>
          <a:p>
            <a:pPr>
              <a:lnSpc>
                <a:spcPct val="120000"/>
              </a:lnSpc>
            </a:pPr>
            <a:r>
              <a:rPr lang="zh-CN" altLang="en-US" dirty="0"/>
              <a:t>在局部窗口进行识别，在所有方向上做细微移动，</a:t>
            </a:r>
            <a:r>
              <a:rPr lang="zh-CN" altLang="en-US" b="1" dirty="0">
                <a:solidFill>
                  <a:srgbClr val="00B0F0"/>
                </a:solidFill>
              </a:rPr>
              <a:t>像素值变化都很大的区域</a:t>
            </a:r>
            <a:endParaRPr lang="en-US" altLang="zh-CN" b="1" dirty="0">
              <a:solidFill>
                <a:srgbClr val="00B0F0"/>
              </a:solidFill>
            </a:endParaRPr>
          </a:p>
          <a:p>
            <a:pPr>
              <a:lnSpc>
                <a:spcPct val="120000"/>
              </a:lnSpc>
            </a:pPr>
            <a:endParaRPr lang="zh-CN" altLang="en-US" dirty="0"/>
          </a:p>
        </p:txBody>
      </p:sp>
      <p:pic>
        <p:nvPicPr>
          <p:cNvPr id="4" name="Picture 3">
            <a:extLst>
              <a:ext uri="{FF2B5EF4-FFF2-40B4-BE49-F238E27FC236}">
                <a16:creationId xmlns:a16="http://schemas.microsoft.com/office/drawing/2014/main" id="{EA168E6C-E9BC-4E3B-9238-0AFB533D535D}"/>
              </a:ext>
            </a:extLst>
          </p:cNvPr>
          <p:cNvPicPr>
            <a:picLocks noChangeAspect="1"/>
          </p:cNvPicPr>
          <p:nvPr/>
        </p:nvPicPr>
        <p:blipFill rotWithShape="1">
          <a:blip r:embed="rId2"/>
          <a:srcRect l="2134" t="3014" r="2344"/>
          <a:stretch/>
        </p:blipFill>
        <p:spPr>
          <a:xfrm>
            <a:off x="2269066" y="2913565"/>
            <a:ext cx="7653867" cy="3398335"/>
          </a:xfrm>
          <a:prstGeom prst="rect">
            <a:avLst/>
          </a:prstGeom>
        </p:spPr>
      </p:pic>
      <p:sp>
        <p:nvSpPr>
          <p:cNvPr id="6" name="Rectangle 5">
            <a:extLst>
              <a:ext uri="{FF2B5EF4-FFF2-40B4-BE49-F238E27FC236}">
                <a16:creationId xmlns:a16="http://schemas.microsoft.com/office/drawing/2014/main" id="{7F0E139B-6820-4017-B781-60CCC02D59D0}"/>
              </a:ext>
            </a:extLst>
          </p:cNvPr>
          <p:cNvSpPr/>
          <p:nvPr/>
        </p:nvSpPr>
        <p:spPr>
          <a:xfrm>
            <a:off x="4961467" y="6513009"/>
            <a:ext cx="7230533" cy="338554"/>
          </a:xfrm>
          <a:prstGeom prst="rect">
            <a:avLst/>
          </a:prstGeom>
        </p:spPr>
        <p:txBody>
          <a:bodyPr wrap="square">
            <a:spAutoFit/>
          </a:bodyPr>
          <a:lstStyle/>
          <a:p>
            <a:pPr algn="r"/>
            <a:r>
              <a:rPr lang="en-US" altLang="zh-CN" sz="1600" dirty="0" err="1">
                <a:solidFill>
                  <a:srgbClr val="000000"/>
                </a:solidFill>
                <a:latin typeface="TimesNewRomanPSMT"/>
              </a:rPr>
              <a:t>C.Harris</a:t>
            </a:r>
            <a:r>
              <a:rPr lang="en-US" altLang="zh-CN" sz="1600" dirty="0">
                <a:solidFill>
                  <a:srgbClr val="000000"/>
                </a:solidFill>
                <a:latin typeface="TimesNewRomanPSMT"/>
              </a:rPr>
              <a:t>, </a:t>
            </a:r>
            <a:r>
              <a:rPr lang="en-US" altLang="zh-CN" sz="1600" dirty="0" err="1">
                <a:solidFill>
                  <a:srgbClr val="000000"/>
                </a:solidFill>
                <a:latin typeface="TimesNewRomanPSMT"/>
              </a:rPr>
              <a:t>M.Stephens</a:t>
            </a:r>
            <a:r>
              <a:rPr lang="en-US" altLang="zh-CN" sz="1600" dirty="0">
                <a:solidFill>
                  <a:srgbClr val="000000"/>
                </a:solidFill>
                <a:latin typeface="TimesNewRomanPSMT"/>
              </a:rPr>
              <a:t>. </a:t>
            </a:r>
            <a:r>
              <a:rPr lang="en-US" altLang="zh-CN" sz="1600" dirty="0">
                <a:solidFill>
                  <a:srgbClr val="000000"/>
                </a:solidFill>
                <a:latin typeface="MS-PGothic"/>
              </a:rPr>
              <a:t>“</a:t>
            </a:r>
            <a:r>
              <a:rPr lang="en-US" altLang="zh-CN" sz="1600" dirty="0">
                <a:solidFill>
                  <a:srgbClr val="000000"/>
                </a:solidFill>
                <a:latin typeface="TimesNewRomanPSMT"/>
              </a:rPr>
              <a:t>A Combined Corner and Edge Detector</a:t>
            </a:r>
            <a:r>
              <a:rPr lang="en-US" altLang="zh-CN" sz="1600" dirty="0">
                <a:solidFill>
                  <a:srgbClr val="000000"/>
                </a:solidFill>
                <a:latin typeface="MS-PGothic"/>
              </a:rPr>
              <a:t>”</a:t>
            </a:r>
            <a:r>
              <a:rPr lang="en-US" altLang="zh-CN" sz="1600" dirty="0">
                <a:solidFill>
                  <a:srgbClr val="000000"/>
                </a:solidFill>
                <a:latin typeface="TimesNewRomanPSMT"/>
              </a:rPr>
              <a:t>. 1988</a:t>
            </a:r>
            <a:r>
              <a:rPr lang="en-US" altLang="zh-CN" sz="1600" dirty="0"/>
              <a:t> </a:t>
            </a:r>
            <a:endParaRPr lang="zh-CN" altLang="en-US" sz="1600" dirty="0"/>
          </a:p>
        </p:txBody>
      </p:sp>
    </p:spTree>
    <p:extLst>
      <p:ext uri="{BB962C8B-B14F-4D97-AF65-F5344CB8AC3E}">
        <p14:creationId xmlns:p14="http://schemas.microsoft.com/office/powerpoint/2010/main" val="351478627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62909-02FA-49A9-AA41-29E1BC8A2A01}"/>
              </a:ext>
            </a:extLst>
          </p:cNvPr>
          <p:cNvSpPr>
            <a:spLocks noGrp="1"/>
          </p:cNvSpPr>
          <p:nvPr>
            <p:ph type="title"/>
          </p:nvPr>
        </p:nvSpPr>
        <p:spPr/>
        <p:txBody>
          <a:bodyPr/>
          <a:lstStyle/>
          <a:p>
            <a:r>
              <a:rPr lang="en-US" altLang="zh-CN" b="1" dirty="0"/>
              <a:t>Harris</a:t>
            </a:r>
            <a:r>
              <a:rPr lang="zh-CN" altLang="en-US" b="1" dirty="0"/>
              <a:t>角点检测</a:t>
            </a:r>
            <a:endParaRPr lang="zh-CN" alt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B2A3247-566D-41F7-B9DA-93261FEB44C4}"/>
                  </a:ext>
                </a:extLst>
              </p:cNvPr>
              <p:cNvSpPr>
                <a:spLocks noGrp="1"/>
              </p:cNvSpPr>
              <p:nvPr>
                <p:ph idx="1"/>
              </p:nvPr>
            </p:nvSpPr>
            <p:spPr/>
            <p:txBody>
              <a:bodyPr/>
              <a:lstStyle/>
              <a:p>
                <a:pPr>
                  <a:lnSpc>
                    <a:spcPct val="120000"/>
                  </a:lnSpc>
                </a:pPr>
                <a:r>
                  <a:rPr lang="zh-CN" altLang="en-US" b="1" dirty="0">
                    <a:solidFill>
                      <a:srgbClr val="0070C0"/>
                    </a:solidFill>
                  </a:rPr>
                  <a:t>对于窗口</a:t>
                </a:r>
                <a14:m>
                  <m:oMath xmlns:m="http://schemas.openxmlformats.org/officeDocument/2006/math">
                    <m:r>
                      <a:rPr lang="en-US" altLang="zh-CN" b="0" i="1" smtClean="0">
                        <a:solidFill>
                          <a:srgbClr val="0070C0"/>
                        </a:solidFill>
                        <a:latin typeface="Cambria Math" panose="02040503050406030204" pitchFamily="18" charset="0"/>
                      </a:rPr>
                      <m:t>𝑤</m:t>
                    </m:r>
                    <m:r>
                      <a:rPr lang="en-US" altLang="zh-CN" b="0" i="1" smtClean="0">
                        <a:solidFill>
                          <a:srgbClr val="0070C0"/>
                        </a:solidFill>
                        <a:latin typeface="Cambria Math" panose="02040503050406030204" pitchFamily="18" charset="0"/>
                      </a:rPr>
                      <m:t>(</m:t>
                    </m:r>
                    <m:r>
                      <a:rPr lang="en-US" altLang="zh-CN" b="0" i="1" smtClean="0">
                        <a:solidFill>
                          <a:srgbClr val="0070C0"/>
                        </a:solidFill>
                        <a:latin typeface="Cambria Math" panose="02040503050406030204" pitchFamily="18" charset="0"/>
                      </a:rPr>
                      <m:t>𝑥</m:t>
                    </m:r>
                    <m:r>
                      <a:rPr lang="en-US" altLang="zh-CN" b="0" i="1" smtClean="0">
                        <a:solidFill>
                          <a:srgbClr val="0070C0"/>
                        </a:solidFill>
                        <a:latin typeface="Cambria Math" panose="02040503050406030204" pitchFamily="18" charset="0"/>
                      </a:rPr>
                      <m:t>,</m:t>
                    </m:r>
                    <m:r>
                      <a:rPr lang="en-US" altLang="zh-CN" b="0" i="1" smtClean="0">
                        <a:solidFill>
                          <a:srgbClr val="0070C0"/>
                        </a:solidFill>
                        <a:latin typeface="Cambria Math" panose="02040503050406030204" pitchFamily="18" charset="0"/>
                      </a:rPr>
                      <m:t>𝑦</m:t>
                    </m:r>
                    <m:r>
                      <a:rPr lang="en-US" altLang="zh-CN" b="0" i="1" smtClean="0">
                        <a:solidFill>
                          <a:srgbClr val="0070C0"/>
                        </a:solidFill>
                        <a:latin typeface="Cambria Math" panose="02040503050406030204" pitchFamily="18" charset="0"/>
                      </a:rPr>
                      <m:t>)</m:t>
                    </m:r>
                  </m:oMath>
                </a14:m>
                <a:r>
                  <a:rPr lang="zh-CN" altLang="en-US" b="1" dirty="0">
                    <a:solidFill>
                      <a:srgbClr val="0070C0"/>
                    </a:solidFill>
                  </a:rPr>
                  <a:t>移动</a:t>
                </a:r>
                <a14:m>
                  <m:oMath xmlns:m="http://schemas.openxmlformats.org/officeDocument/2006/math">
                    <m:d>
                      <m:dPr>
                        <m:begChr m:val="["/>
                        <m:endChr m:val="]"/>
                        <m:ctrlPr>
                          <a:rPr lang="en-US" altLang="zh-CN" i="1" smtClean="0">
                            <a:solidFill>
                              <a:srgbClr val="0070C0"/>
                            </a:solidFill>
                            <a:latin typeface="Cambria Math" panose="02040503050406030204" pitchFamily="18" charset="0"/>
                          </a:rPr>
                        </m:ctrlPr>
                      </m:dPr>
                      <m:e>
                        <m:r>
                          <a:rPr lang="en-US" altLang="zh-CN" b="0" i="1" smtClean="0">
                            <a:solidFill>
                              <a:srgbClr val="0070C0"/>
                            </a:solidFill>
                            <a:latin typeface="Cambria Math" panose="02040503050406030204" pitchFamily="18" charset="0"/>
                          </a:rPr>
                          <m:t>𝑢</m:t>
                        </m:r>
                        <m:r>
                          <a:rPr lang="en-US" altLang="zh-CN" b="0" i="1" smtClean="0">
                            <a:solidFill>
                              <a:srgbClr val="0070C0"/>
                            </a:solidFill>
                            <a:latin typeface="Cambria Math" panose="02040503050406030204" pitchFamily="18" charset="0"/>
                          </a:rPr>
                          <m:t>,</m:t>
                        </m:r>
                        <m:r>
                          <a:rPr lang="en-US" altLang="zh-CN" b="0" i="1" smtClean="0">
                            <a:solidFill>
                              <a:srgbClr val="0070C0"/>
                            </a:solidFill>
                            <a:latin typeface="Cambria Math" panose="02040503050406030204" pitchFamily="18" charset="0"/>
                          </a:rPr>
                          <m:t>𝑣</m:t>
                        </m:r>
                      </m:e>
                    </m:d>
                  </m:oMath>
                </a14:m>
                <a:r>
                  <a:rPr lang="zh-CN" altLang="en-US" b="1" dirty="0">
                    <a:solidFill>
                      <a:srgbClr val="0070C0"/>
                    </a:solidFill>
                  </a:rPr>
                  <a:t>之后，灰度值的变化：</a:t>
                </a:r>
                <a:endParaRPr lang="en-US" altLang="zh-CN" b="1" dirty="0">
                  <a:solidFill>
                    <a:srgbClr val="0070C0"/>
                  </a:solidFill>
                </a:endParaRPr>
              </a:p>
              <a:p>
                <a:pPr marL="0" indent="0">
                  <a:lnSpc>
                    <a:spcPct val="120000"/>
                  </a:lnSpc>
                  <a:buNone/>
                </a:pPr>
                <a14:m>
                  <m:oMathPara xmlns:m="http://schemas.openxmlformats.org/officeDocument/2006/math">
                    <m:oMathParaPr>
                      <m:jc m:val="center"/>
                    </m:oMathParaPr>
                    <m:oMath xmlns:m="http://schemas.openxmlformats.org/officeDocument/2006/math">
                      <m:r>
                        <a:rPr lang="en-US" altLang="zh-CN" b="0" i="1" smtClean="0">
                          <a:latin typeface="Cambria Math" panose="02040503050406030204" pitchFamily="18" charset="0"/>
                        </a:rPr>
                        <m:t>𝐸</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𝑢</m:t>
                          </m:r>
                          <m:r>
                            <a:rPr lang="en-US" altLang="zh-CN" b="0" i="1" smtClean="0">
                              <a:latin typeface="Cambria Math" panose="02040503050406030204" pitchFamily="18" charset="0"/>
                            </a:rPr>
                            <m:t>,</m:t>
                          </m:r>
                          <m:r>
                            <a:rPr lang="en-US" altLang="zh-CN" b="0" i="1" smtClean="0">
                              <a:latin typeface="Cambria Math" panose="02040503050406030204" pitchFamily="18" charset="0"/>
                            </a:rPr>
                            <m:t>𝑣</m:t>
                          </m:r>
                        </m:e>
                      </m:d>
                      <m:r>
                        <a:rPr lang="en-US" altLang="zh-CN" b="0" i="1" smtClean="0">
                          <a:latin typeface="Cambria Math" panose="02040503050406030204" pitchFamily="18" charset="0"/>
                        </a:rPr>
                        <m:t>=</m:t>
                      </m:r>
                      <m:nary>
                        <m:naryPr>
                          <m:chr m:val="∑"/>
                          <m:supHide m:val="on"/>
                          <m:ctrlPr>
                            <a:rPr lang="en-US" altLang="zh-CN" b="0" i="1" smtClean="0">
                              <a:latin typeface="Cambria Math" panose="02040503050406030204" pitchFamily="18" charset="0"/>
                            </a:rPr>
                          </m:ctrlPr>
                        </m:naryPr>
                        <m:sub>
                          <m:r>
                            <m:rPr>
                              <m:brk m:alnAt="7"/>
                            </m:rP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sub>
                        <m:sup/>
                        <m:e>
                          <m:r>
                            <a:rPr lang="en-US" altLang="zh-CN" b="0" i="1" smtClean="0">
                              <a:latin typeface="Cambria Math" panose="02040503050406030204" pitchFamily="18" charset="0"/>
                            </a:rPr>
                            <m:t>𝑤</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sSup>
                            <m:sSupPr>
                              <m:ctrlPr>
                                <a:rPr lang="en-US" altLang="zh-CN" b="0" i="1" smtClean="0">
                                  <a:latin typeface="Cambria Math" panose="02040503050406030204" pitchFamily="18" charset="0"/>
                                </a:rPr>
                              </m:ctrlPr>
                            </m:sSupPr>
                            <m:e>
                              <m:d>
                                <m:dPr>
                                  <m:begChr m:val="["/>
                                  <m:endChr m:val="]"/>
                                  <m:ctrlPr>
                                    <a:rPr lang="en-US" altLang="zh-CN" i="1" smtClean="0">
                                      <a:latin typeface="Cambria Math" panose="02040503050406030204" pitchFamily="18" charset="0"/>
                                    </a:rPr>
                                  </m:ctrlPr>
                                </m:dPr>
                                <m:e>
                                  <m:r>
                                    <a:rPr lang="en-US" altLang="zh-CN" i="1">
                                      <a:latin typeface="Cambria Math" panose="02040503050406030204" pitchFamily="18" charset="0"/>
                                    </a:rPr>
                                    <m:t>𝐼</m:t>
                                  </m:r>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𝑢</m:t>
                                      </m:r>
                                      <m:r>
                                        <a:rPr lang="en-US" altLang="zh-CN" i="1">
                                          <a:latin typeface="Cambria Math" panose="02040503050406030204" pitchFamily="18" charset="0"/>
                                        </a:rPr>
                                        <m:t>,</m:t>
                                      </m:r>
                                      <m:r>
                                        <a:rPr lang="en-US" altLang="zh-CN" i="1">
                                          <a:latin typeface="Cambria Math" panose="02040503050406030204" pitchFamily="18" charset="0"/>
                                        </a:rPr>
                                        <m:t>𝑦</m:t>
                                      </m:r>
                                      <m:r>
                                        <a:rPr lang="en-US" altLang="zh-CN" i="1">
                                          <a:latin typeface="Cambria Math" panose="02040503050406030204" pitchFamily="18" charset="0"/>
                                        </a:rPr>
                                        <m:t>+</m:t>
                                      </m:r>
                                      <m:r>
                                        <a:rPr lang="en-US" altLang="zh-CN" i="1">
                                          <a:latin typeface="Cambria Math" panose="02040503050406030204" pitchFamily="18" charset="0"/>
                                        </a:rPr>
                                        <m:t>𝑣</m:t>
                                      </m:r>
                                    </m:e>
                                  </m:d>
                                  <m:r>
                                    <a:rPr lang="en-US" altLang="zh-CN" i="1">
                                      <a:latin typeface="Cambria Math" panose="02040503050406030204" pitchFamily="18" charset="0"/>
                                    </a:rPr>
                                    <m:t>−</m:t>
                                  </m:r>
                                  <m:r>
                                    <a:rPr lang="en-US" altLang="zh-CN" b="0" i="1" smtClean="0">
                                      <a:latin typeface="Cambria Math" panose="02040503050406030204" pitchFamily="18" charset="0"/>
                                    </a:rPr>
                                    <m:t>𝐼</m:t>
                                  </m:r>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e>
                              </m:d>
                            </m:e>
                            <m:sup>
                              <m:r>
                                <a:rPr lang="en-US" altLang="zh-CN" b="0" i="1" smtClean="0">
                                  <a:latin typeface="Cambria Math" panose="02040503050406030204" pitchFamily="18" charset="0"/>
                                </a:rPr>
                                <m:t>2</m:t>
                              </m:r>
                            </m:sup>
                          </m:sSup>
                        </m:e>
                      </m:nary>
                    </m:oMath>
                  </m:oMathPara>
                </a14:m>
                <a:endParaRPr lang="zh-CN" altLang="en-US" dirty="0"/>
              </a:p>
            </p:txBody>
          </p:sp>
        </mc:Choice>
        <mc:Fallback xmlns="">
          <p:sp>
            <p:nvSpPr>
              <p:cNvPr id="3" name="Content Placeholder 2">
                <a:extLst>
                  <a:ext uri="{FF2B5EF4-FFF2-40B4-BE49-F238E27FC236}">
                    <a16:creationId xmlns:a16="http://schemas.microsoft.com/office/drawing/2014/main" id="{6B2A3247-566D-41F7-B9DA-93261FEB44C4}"/>
                  </a:ext>
                </a:extLst>
              </p:cNvPr>
              <p:cNvSpPr>
                <a:spLocks noGrp="1" noRot="1" noChangeAspect="1" noMove="1" noResize="1" noEditPoints="1" noAdjustHandles="1" noChangeArrowheads="1" noChangeShapeType="1" noTextEdit="1"/>
              </p:cNvSpPr>
              <p:nvPr>
                <p:ph idx="1"/>
              </p:nvPr>
            </p:nvSpPr>
            <p:spPr>
              <a:blipFill>
                <a:blip r:embed="rId2"/>
                <a:stretch>
                  <a:fillRect l="-1043" t="-980"/>
                </a:stretch>
              </a:blipFill>
            </p:spPr>
            <p:txBody>
              <a:bodyPr/>
              <a:lstStyle/>
              <a:p>
                <a:r>
                  <a:rPr lang="zh-CN" altLang="en-US">
                    <a:noFill/>
                  </a:rPr>
                  <a:t> </a:t>
                </a:r>
              </a:p>
            </p:txBody>
          </p:sp>
        </mc:Fallback>
      </mc:AlternateContent>
      <p:pic>
        <p:nvPicPr>
          <p:cNvPr id="5" name="Picture 4">
            <a:extLst>
              <a:ext uri="{FF2B5EF4-FFF2-40B4-BE49-F238E27FC236}">
                <a16:creationId xmlns:a16="http://schemas.microsoft.com/office/drawing/2014/main" id="{AAD98B44-1536-4FB2-8FDF-A2B53A2D1A4D}"/>
              </a:ext>
            </a:extLst>
          </p:cNvPr>
          <p:cNvPicPr>
            <a:picLocks noChangeAspect="1"/>
          </p:cNvPicPr>
          <p:nvPr/>
        </p:nvPicPr>
        <p:blipFill>
          <a:blip r:embed="rId3"/>
          <a:stretch>
            <a:fillRect/>
          </a:stretch>
        </p:blipFill>
        <p:spPr>
          <a:xfrm>
            <a:off x="3372157" y="3874294"/>
            <a:ext cx="5447686" cy="2760795"/>
          </a:xfrm>
          <a:prstGeom prst="rect">
            <a:avLst/>
          </a:prstGeom>
        </p:spPr>
      </p:pic>
    </p:spTree>
    <p:extLst>
      <p:ext uri="{BB962C8B-B14F-4D97-AF65-F5344CB8AC3E}">
        <p14:creationId xmlns:p14="http://schemas.microsoft.com/office/powerpoint/2010/main" val="402249885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5E5D0-0F85-4C0B-AC5E-DF7B098E179C}"/>
              </a:ext>
            </a:extLst>
          </p:cNvPr>
          <p:cNvSpPr>
            <a:spLocks noGrp="1"/>
          </p:cNvSpPr>
          <p:nvPr>
            <p:ph type="title"/>
          </p:nvPr>
        </p:nvSpPr>
        <p:spPr/>
        <p:txBody>
          <a:bodyPr/>
          <a:lstStyle/>
          <a:p>
            <a:r>
              <a:rPr lang="en-US" altLang="zh-CN" b="1" dirty="0"/>
              <a:t>Harris</a:t>
            </a:r>
            <a:r>
              <a:rPr lang="zh-CN" altLang="en-US" b="1" dirty="0"/>
              <a:t>角点检测</a:t>
            </a:r>
            <a:endParaRPr lang="zh-CN" alt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6889668-4023-421E-990F-7CB4F09504B8}"/>
                  </a:ext>
                </a:extLst>
              </p:cNvPr>
              <p:cNvSpPr>
                <a:spLocks noGrp="1"/>
              </p:cNvSpPr>
              <p:nvPr>
                <p:ph idx="1"/>
              </p:nvPr>
            </p:nvSpPr>
            <p:spPr/>
            <p:txBody>
              <a:bodyPr/>
              <a:lstStyle/>
              <a:p>
                <a:pPr marL="0" indent="0">
                  <a:buNone/>
                </a:pPr>
                <a14:m>
                  <m:oMathPara xmlns:m="http://schemas.openxmlformats.org/officeDocument/2006/math">
                    <m:oMathParaPr>
                      <m:jc m:val="center"/>
                    </m:oMathParaPr>
                    <m:oMath xmlns:m="http://schemas.openxmlformats.org/officeDocument/2006/math">
                      <m:r>
                        <a:rPr lang="en-US" altLang="zh-CN" i="1">
                          <a:latin typeface="Cambria Math" panose="02040503050406030204" pitchFamily="18" charset="0"/>
                        </a:rPr>
                        <m:t>𝐸</m:t>
                      </m:r>
                      <m:d>
                        <m:dPr>
                          <m:ctrlPr>
                            <a:rPr lang="en-US" altLang="zh-CN" i="1">
                              <a:latin typeface="Cambria Math" panose="02040503050406030204" pitchFamily="18" charset="0"/>
                            </a:rPr>
                          </m:ctrlPr>
                        </m:dPr>
                        <m:e>
                          <m:r>
                            <a:rPr lang="en-US" altLang="zh-CN" i="1">
                              <a:latin typeface="Cambria Math" panose="02040503050406030204" pitchFamily="18" charset="0"/>
                            </a:rPr>
                            <m:t>𝑢</m:t>
                          </m:r>
                          <m:r>
                            <a:rPr lang="en-US" altLang="zh-CN" i="1">
                              <a:latin typeface="Cambria Math" panose="02040503050406030204" pitchFamily="18" charset="0"/>
                            </a:rPr>
                            <m:t>,</m:t>
                          </m:r>
                          <m:r>
                            <a:rPr lang="en-US" altLang="zh-CN" i="1">
                              <a:latin typeface="Cambria Math" panose="02040503050406030204" pitchFamily="18" charset="0"/>
                            </a:rPr>
                            <m:t>𝑣</m:t>
                          </m:r>
                        </m:e>
                      </m:d>
                      <m:r>
                        <a:rPr lang="en-US" altLang="zh-CN" i="1">
                          <a:latin typeface="Cambria Math" panose="02040503050406030204" pitchFamily="18" charset="0"/>
                        </a:rPr>
                        <m:t>=</m:t>
                      </m:r>
                      <m:nary>
                        <m:naryPr>
                          <m:chr m:val="∑"/>
                          <m:supHide m:val="on"/>
                          <m:ctrlPr>
                            <a:rPr lang="en-US" altLang="zh-CN" i="1">
                              <a:latin typeface="Cambria Math" panose="02040503050406030204" pitchFamily="18" charset="0"/>
                            </a:rPr>
                          </m:ctrlPr>
                        </m:naryPr>
                        <m:sub>
                          <m:r>
                            <m:rPr>
                              <m:brk m:alnAt="7"/>
                            </m:rPr>
                            <a:rPr lang="en-US" altLang="zh-CN" i="1">
                              <a:latin typeface="Cambria Math" panose="02040503050406030204" pitchFamily="18" charset="0"/>
                            </a:rPr>
                            <m:t>(</m:t>
                          </m:r>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r>
                            <a:rPr lang="en-US" altLang="zh-CN" i="1">
                              <a:latin typeface="Cambria Math" panose="02040503050406030204" pitchFamily="18" charset="0"/>
                            </a:rPr>
                            <m:t>)</m:t>
                          </m:r>
                        </m:sub>
                        <m:sup/>
                        <m:e>
                          <m:r>
                            <a:rPr lang="en-US" altLang="zh-CN" i="1">
                              <a:latin typeface="Cambria Math" panose="02040503050406030204" pitchFamily="18" charset="0"/>
                            </a:rPr>
                            <m:t>𝑤</m:t>
                          </m:r>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e>
                          </m:d>
                          <m:sSup>
                            <m:sSupPr>
                              <m:ctrlPr>
                                <a:rPr lang="en-US" altLang="zh-CN" i="1">
                                  <a:latin typeface="Cambria Math" panose="02040503050406030204" pitchFamily="18" charset="0"/>
                                </a:rPr>
                              </m:ctrlPr>
                            </m:sSupPr>
                            <m:e>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𝐼</m:t>
                                  </m:r>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𝑢</m:t>
                                      </m:r>
                                      <m:r>
                                        <a:rPr lang="en-US" altLang="zh-CN" i="1">
                                          <a:latin typeface="Cambria Math" panose="02040503050406030204" pitchFamily="18" charset="0"/>
                                        </a:rPr>
                                        <m:t>,</m:t>
                                      </m:r>
                                      <m:r>
                                        <a:rPr lang="en-US" altLang="zh-CN" i="1">
                                          <a:latin typeface="Cambria Math" panose="02040503050406030204" pitchFamily="18" charset="0"/>
                                        </a:rPr>
                                        <m:t>𝑦</m:t>
                                      </m:r>
                                      <m:r>
                                        <a:rPr lang="en-US" altLang="zh-CN" i="1">
                                          <a:latin typeface="Cambria Math" panose="02040503050406030204" pitchFamily="18" charset="0"/>
                                        </a:rPr>
                                        <m:t>+</m:t>
                                      </m:r>
                                      <m:r>
                                        <a:rPr lang="en-US" altLang="zh-CN" i="1">
                                          <a:latin typeface="Cambria Math" panose="02040503050406030204" pitchFamily="18" charset="0"/>
                                        </a:rPr>
                                        <m:t>𝑣</m:t>
                                      </m:r>
                                    </m:e>
                                  </m:d>
                                  <m:r>
                                    <a:rPr lang="en-US" altLang="zh-CN" i="1">
                                      <a:latin typeface="Cambria Math" panose="02040503050406030204" pitchFamily="18" charset="0"/>
                                    </a:rPr>
                                    <m:t>−</m:t>
                                  </m:r>
                                  <m:r>
                                    <a:rPr lang="en-US" altLang="zh-CN" i="1">
                                      <a:latin typeface="Cambria Math" panose="02040503050406030204" pitchFamily="18" charset="0"/>
                                    </a:rPr>
                                    <m:t>𝐼</m:t>
                                  </m:r>
                                  <m:r>
                                    <a:rPr lang="en-US" altLang="zh-CN" i="1">
                                      <a:latin typeface="Cambria Math" panose="02040503050406030204" pitchFamily="18" charset="0"/>
                                    </a:rPr>
                                    <m:t>(</m:t>
                                  </m:r>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r>
                                    <a:rPr lang="en-US" altLang="zh-CN" i="1">
                                      <a:latin typeface="Cambria Math" panose="02040503050406030204" pitchFamily="18" charset="0"/>
                                    </a:rPr>
                                    <m:t>)</m:t>
                                  </m:r>
                                </m:e>
                              </m:d>
                            </m:e>
                            <m:sup>
                              <m:r>
                                <a:rPr lang="en-US" altLang="zh-CN" i="1">
                                  <a:latin typeface="Cambria Math" panose="02040503050406030204" pitchFamily="18" charset="0"/>
                                </a:rPr>
                                <m:t>2</m:t>
                              </m:r>
                            </m:sup>
                          </m:sSup>
                        </m:e>
                      </m:nary>
                    </m:oMath>
                  </m:oMathPara>
                </a14:m>
                <a:endParaRPr lang="zh-CN" altLang="en-US" dirty="0"/>
              </a:p>
            </p:txBody>
          </p:sp>
        </mc:Choice>
        <mc:Fallback xmlns="">
          <p:sp>
            <p:nvSpPr>
              <p:cNvPr id="3" name="Content Placeholder 2">
                <a:extLst>
                  <a:ext uri="{FF2B5EF4-FFF2-40B4-BE49-F238E27FC236}">
                    <a16:creationId xmlns:a16="http://schemas.microsoft.com/office/drawing/2014/main" id="{F6889668-4023-421E-990F-7CB4F09504B8}"/>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zh-CN" altLang="en-US">
                    <a:noFill/>
                  </a:rPr>
                  <a:t> </a:t>
                </a:r>
              </a:p>
            </p:txBody>
          </p:sp>
        </mc:Fallback>
      </mc:AlternateContent>
      <p:pic>
        <p:nvPicPr>
          <p:cNvPr id="4" name="Picture 3">
            <a:extLst>
              <a:ext uri="{FF2B5EF4-FFF2-40B4-BE49-F238E27FC236}">
                <a16:creationId xmlns:a16="http://schemas.microsoft.com/office/drawing/2014/main" id="{F4FA4D47-5783-43F1-AF47-934FE14C1D44}"/>
              </a:ext>
            </a:extLst>
          </p:cNvPr>
          <p:cNvPicPr>
            <a:picLocks noChangeAspect="1"/>
          </p:cNvPicPr>
          <p:nvPr/>
        </p:nvPicPr>
        <p:blipFill>
          <a:blip r:embed="rId3"/>
          <a:stretch>
            <a:fillRect/>
          </a:stretch>
        </p:blipFill>
        <p:spPr>
          <a:xfrm>
            <a:off x="1605524" y="4729344"/>
            <a:ext cx="8980952" cy="1447619"/>
          </a:xfrm>
          <a:prstGeom prst="rect">
            <a:avLst/>
          </a:prstGeom>
        </p:spPr>
      </p:pic>
      <p:sp>
        <p:nvSpPr>
          <p:cNvPr id="5" name="Rectangle: Rounded Corners 4">
            <a:extLst>
              <a:ext uri="{FF2B5EF4-FFF2-40B4-BE49-F238E27FC236}">
                <a16:creationId xmlns:a16="http://schemas.microsoft.com/office/drawing/2014/main" id="{C0296F34-4DF3-4BEA-832E-12F2AAB815A0}"/>
              </a:ext>
            </a:extLst>
          </p:cNvPr>
          <p:cNvSpPr/>
          <p:nvPr/>
        </p:nvSpPr>
        <p:spPr>
          <a:xfrm>
            <a:off x="3598332" y="3429000"/>
            <a:ext cx="1303867" cy="914400"/>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b="1" dirty="0"/>
              <a:t>Window Function</a:t>
            </a:r>
            <a:endParaRPr lang="zh-CN" altLang="en-US" b="1" dirty="0"/>
          </a:p>
        </p:txBody>
      </p:sp>
      <p:cxnSp>
        <p:nvCxnSpPr>
          <p:cNvPr id="7" name="Straight Arrow Connector 6">
            <a:extLst>
              <a:ext uri="{FF2B5EF4-FFF2-40B4-BE49-F238E27FC236}">
                <a16:creationId xmlns:a16="http://schemas.microsoft.com/office/drawing/2014/main" id="{1142C252-0EC4-433C-9F37-33FE187CD839}"/>
              </a:ext>
            </a:extLst>
          </p:cNvPr>
          <p:cNvCxnSpPr>
            <a:stCxn id="5" idx="0"/>
          </p:cNvCxnSpPr>
          <p:nvPr/>
        </p:nvCxnSpPr>
        <p:spPr>
          <a:xfrm flipV="1">
            <a:off x="4250266" y="2514600"/>
            <a:ext cx="821267" cy="9144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8" name="Rectangle: Rounded Corners 7">
            <a:extLst>
              <a:ext uri="{FF2B5EF4-FFF2-40B4-BE49-F238E27FC236}">
                <a16:creationId xmlns:a16="http://schemas.microsoft.com/office/drawing/2014/main" id="{26DA1BC7-AEA2-4C42-B211-6B228D3FE907}"/>
              </a:ext>
            </a:extLst>
          </p:cNvPr>
          <p:cNvSpPr/>
          <p:nvPr/>
        </p:nvSpPr>
        <p:spPr>
          <a:xfrm>
            <a:off x="6468535" y="3418772"/>
            <a:ext cx="1303867" cy="914400"/>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b="1" dirty="0"/>
              <a:t>Shifted Intensity</a:t>
            </a:r>
            <a:endParaRPr lang="zh-CN" altLang="en-US" b="1" dirty="0"/>
          </a:p>
        </p:txBody>
      </p:sp>
      <p:sp>
        <p:nvSpPr>
          <p:cNvPr id="9" name="Rectangle: Rounded Corners 8">
            <a:extLst>
              <a:ext uri="{FF2B5EF4-FFF2-40B4-BE49-F238E27FC236}">
                <a16:creationId xmlns:a16="http://schemas.microsoft.com/office/drawing/2014/main" id="{2EFB83D2-D37A-496E-8FE3-8EEF9194BD68}"/>
              </a:ext>
            </a:extLst>
          </p:cNvPr>
          <p:cNvSpPr/>
          <p:nvPr/>
        </p:nvSpPr>
        <p:spPr>
          <a:xfrm>
            <a:off x="9105900" y="3550886"/>
            <a:ext cx="1303867" cy="650172"/>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b="1" dirty="0"/>
              <a:t>Intensity</a:t>
            </a:r>
            <a:endParaRPr lang="zh-CN" altLang="en-US" b="1" dirty="0"/>
          </a:p>
        </p:txBody>
      </p:sp>
      <p:cxnSp>
        <p:nvCxnSpPr>
          <p:cNvPr id="10" name="Straight Arrow Connector 9">
            <a:extLst>
              <a:ext uri="{FF2B5EF4-FFF2-40B4-BE49-F238E27FC236}">
                <a16:creationId xmlns:a16="http://schemas.microsoft.com/office/drawing/2014/main" id="{40AEE133-78B6-4346-8638-35A22D29E92C}"/>
              </a:ext>
            </a:extLst>
          </p:cNvPr>
          <p:cNvCxnSpPr>
            <a:cxnSpLocks/>
            <a:stCxn id="8" idx="0"/>
          </p:cNvCxnSpPr>
          <p:nvPr/>
        </p:nvCxnSpPr>
        <p:spPr>
          <a:xfrm flipH="1" flipV="1">
            <a:off x="6942667" y="2514602"/>
            <a:ext cx="177802" cy="90417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04C6A61E-FC41-4C9A-A817-E13F52BB619E}"/>
              </a:ext>
            </a:extLst>
          </p:cNvPr>
          <p:cNvCxnSpPr>
            <a:cxnSpLocks/>
            <a:stCxn id="9" idx="0"/>
          </p:cNvCxnSpPr>
          <p:nvPr/>
        </p:nvCxnSpPr>
        <p:spPr>
          <a:xfrm flipH="1" flipV="1">
            <a:off x="9095317" y="2514600"/>
            <a:ext cx="662517" cy="103628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922480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5E5D0-0F85-4C0B-AC5E-DF7B098E179C}"/>
              </a:ext>
            </a:extLst>
          </p:cNvPr>
          <p:cNvSpPr>
            <a:spLocks noGrp="1"/>
          </p:cNvSpPr>
          <p:nvPr>
            <p:ph type="title"/>
          </p:nvPr>
        </p:nvSpPr>
        <p:spPr/>
        <p:txBody>
          <a:bodyPr/>
          <a:lstStyle/>
          <a:p>
            <a:r>
              <a:rPr lang="en-US" altLang="zh-CN" b="1" dirty="0"/>
              <a:t>Harris</a:t>
            </a:r>
            <a:r>
              <a:rPr lang="zh-CN" altLang="en-US" b="1" dirty="0"/>
              <a:t>角点检测</a:t>
            </a:r>
            <a:endParaRPr lang="zh-CN" alt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6889668-4023-421E-990F-7CB4F09504B8}"/>
                  </a:ext>
                </a:extLst>
              </p:cNvPr>
              <p:cNvSpPr>
                <a:spLocks noGrp="1"/>
              </p:cNvSpPr>
              <p:nvPr>
                <p:ph idx="1"/>
              </p:nvPr>
            </p:nvSpPr>
            <p:spPr/>
            <p:txBody>
              <a:bodyPr/>
              <a:lstStyle/>
              <a:p>
                <a:pPr marL="0" indent="0">
                  <a:lnSpc>
                    <a:spcPct val="120000"/>
                  </a:lnSpc>
                  <a:buNone/>
                </a:pPr>
                <a14:m>
                  <m:oMathPara xmlns:m="http://schemas.openxmlformats.org/officeDocument/2006/math">
                    <m:oMathParaPr>
                      <m:jc m:val="center"/>
                    </m:oMathParaPr>
                    <m:oMath xmlns:m="http://schemas.openxmlformats.org/officeDocument/2006/math">
                      <m:r>
                        <a:rPr lang="en-US" altLang="zh-CN" i="1">
                          <a:latin typeface="Cambria Math" panose="02040503050406030204" pitchFamily="18" charset="0"/>
                        </a:rPr>
                        <m:t>𝐸</m:t>
                      </m:r>
                      <m:d>
                        <m:dPr>
                          <m:ctrlPr>
                            <a:rPr lang="en-US" altLang="zh-CN" i="1">
                              <a:latin typeface="Cambria Math" panose="02040503050406030204" pitchFamily="18" charset="0"/>
                            </a:rPr>
                          </m:ctrlPr>
                        </m:dPr>
                        <m:e>
                          <m:r>
                            <a:rPr lang="en-US" altLang="zh-CN" i="1">
                              <a:latin typeface="Cambria Math" panose="02040503050406030204" pitchFamily="18" charset="0"/>
                            </a:rPr>
                            <m:t>𝑢</m:t>
                          </m:r>
                          <m:r>
                            <a:rPr lang="en-US" altLang="zh-CN" i="1">
                              <a:latin typeface="Cambria Math" panose="02040503050406030204" pitchFamily="18" charset="0"/>
                            </a:rPr>
                            <m:t>,</m:t>
                          </m:r>
                          <m:r>
                            <a:rPr lang="en-US" altLang="zh-CN" i="1">
                              <a:latin typeface="Cambria Math" panose="02040503050406030204" pitchFamily="18" charset="0"/>
                            </a:rPr>
                            <m:t>𝑣</m:t>
                          </m:r>
                        </m:e>
                      </m:d>
                      <m:r>
                        <a:rPr lang="en-US" altLang="zh-CN" i="1">
                          <a:latin typeface="Cambria Math" panose="02040503050406030204" pitchFamily="18" charset="0"/>
                        </a:rPr>
                        <m:t>=</m:t>
                      </m:r>
                      <m:nary>
                        <m:naryPr>
                          <m:chr m:val="∑"/>
                          <m:supHide m:val="on"/>
                          <m:ctrlPr>
                            <a:rPr lang="en-US" altLang="zh-CN" i="1">
                              <a:latin typeface="Cambria Math" panose="02040503050406030204" pitchFamily="18" charset="0"/>
                            </a:rPr>
                          </m:ctrlPr>
                        </m:naryPr>
                        <m:sub>
                          <m:r>
                            <m:rPr>
                              <m:brk m:alnAt="7"/>
                            </m:rPr>
                            <a:rPr lang="en-US" altLang="zh-CN" i="1">
                              <a:latin typeface="Cambria Math" panose="02040503050406030204" pitchFamily="18" charset="0"/>
                            </a:rPr>
                            <m:t>(</m:t>
                          </m:r>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r>
                            <a:rPr lang="en-US" altLang="zh-CN" i="1">
                              <a:latin typeface="Cambria Math" panose="02040503050406030204" pitchFamily="18" charset="0"/>
                            </a:rPr>
                            <m:t>)</m:t>
                          </m:r>
                        </m:sub>
                        <m:sup/>
                        <m:e>
                          <m:r>
                            <a:rPr lang="en-US" altLang="zh-CN" i="1">
                              <a:latin typeface="Cambria Math" panose="02040503050406030204" pitchFamily="18" charset="0"/>
                            </a:rPr>
                            <m:t>𝑤</m:t>
                          </m:r>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e>
                          </m:d>
                          <m:sSup>
                            <m:sSupPr>
                              <m:ctrlPr>
                                <a:rPr lang="en-US" altLang="zh-CN" i="1">
                                  <a:latin typeface="Cambria Math" panose="02040503050406030204" pitchFamily="18" charset="0"/>
                                </a:rPr>
                              </m:ctrlPr>
                            </m:sSupPr>
                            <m:e>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𝐼</m:t>
                                  </m:r>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𝑢</m:t>
                                      </m:r>
                                      <m:r>
                                        <a:rPr lang="en-US" altLang="zh-CN" i="1">
                                          <a:latin typeface="Cambria Math" panose="02040503050406030204" pitchFamily="18" charset="0"/>
                                        </a:rPr>
                                        <m:t>,</m:t>
                                      </m:r>
                                      <m:r>
                                        <a:rPr lang="en-US" altLang="zh-CN" i="1">
                                          <a:latin typeface="Cambria Math" panose="02040503050406030204" pitchFamily="18" charset="0"/>
                                        </a:rPr>
                                        <m:t>𝑦</m:t>
                                      </m:r>
                                      <m:r>
                                        <a:rPr lang="en-US" altLang="zh-CN" i="1">
                                          <a:latin typeface="Cambria Math" panose="02040503050406030204" pitchFamily="18" charset="0"/>
                                        </a:rPr>
                                        <m:t>+</m:t>
                                      </m:r>
                                      <m:r>
                                        <a:rPr lang="en-US" altLang="zh-CN" i="1">
                                          <a:latin typeface="Cambria Math" panose="02040503050406030204" pitchFamily="18" charset="0"/>
                                        </a:rPr>
                                        <m:t>𝑣</m:t>
                                      </m:r>
                                    </m:e>
                                  </m:d>
                                  <m:r>
                                    <a:rPr lang="en-US" altLang="zh-CN" i="1">
                                      <a:latin typeface="Cambria Math" panose="02040503050406030204" pitchFamily="18" charset="0"/>
                                    </a:rPr>
                                    <m:t>−</m:t>
                                  </m:r>
                                  <m:r>
                                    <a:rPr lang="en-US" altLang="zh-CN" i="1">
                                      <a:latin typeface="Cambria Math" panose="02040503050406030204" pitchFamily="18" charset="0"/>
                                    </a:rPr>
                                    <m:t>𝐼</m:t>
                                  </m:r>
                                  <m:r>
                                    <a:rPr lang="en-US" altLang="zh-CN" i="1">
                                      <a:latin typeface="Cambria Math" panose="02040503050406030204" pitchFamily="18" charset="0"/>
                                    </a:rPr>
                                    <m:t>(</m:t>
                                  </m:r>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r>
                                    <a:rPr lang="en-US" altLang="zh-CN" i="1">
                                      <a:latin typeface="Cambria Math" panose="02040503050406030204" pitchFamily="18" charset="0"/>
                                    </a:rPr>
                                    <m:t>)</m:t>
                                  </m:r>
                                </m:e>
                              </m:d>
                            </m:e>
                            <m:sup>
                              <m:r>
                                <a:rPr lang="en-US" altLang="zh-CN" i="1">
                                  <a:latin typeface="Cambria Math" panose="02040503050406030204" pitchFamily="18" charset="0"/>
                                </a:rPr>
                                <m:t>2</m:t>
                              </m:r>
                            </m:sup>
                          </m:sSup>
                        </m:e>
                      </m:nary>
                    </m:oMath>
                  </m:oMathPara>
                </a14:m>
                <a:endParaRPr lang="en-US" altLang="zh-CN" dirty="0"/>
              </a:p>
              <a:p>
                <a:pPr>
                  <a:lnSpc>
                    <a:spcPct val="120000"/>
                  </a:lnSpc>
                </a:pPr>
                <a:r>
                  <a:rPr lang="zh-CN" altLang="en-US" b="1" dirty="0">
                    <a:solidFill>
                      <a:schemeClr val="accent1"/>
                    </a:solidFill>
                  </a:rPr>
                  <a:t>对每个像素如果都按照上面的公式计算，计算复杂度太高</a:t>
                </a:r>
                <a:endParaRPr lang="en-US" altLang="zh-CN" b="1" dirty="0">
                  <a:solidFill>
                    <a:schemeClr val="accent1"/>
                  </a:solidFill>
                </a:endParaRPr>
              </a:p>
              <a:p>
                <a:pPr>
                  <a:lnSpc>
                    <a:spcPct val="120000"/>
                  </a:lnSpc>
                </a:pPr>
                <a:r>
                  <a:rPr lang="zh-CN" altLang="en-US" b="1" dirty="0">
                    <a:solidFill>
                      <a:schemeClr val="accent1"/>
                    </a:solidFill>
                  </a:rPr>
                  <a:t>如何快速计算细微移动下的像素值变化</a:t>
                </a:r>
                <a:r>
                  <a:rPr lang="en-US" altLang="zh-CN" b="1" dirty="0">
                    <a:solidFill>
                      <a:schemeClr val="accent1"/>
                    </a:solidFill>
                  </a:rPr>
                  <a:t>?</a:t>
                </a:r>
              </a:p>
              <a:p>
                <a:pPr lvl="1">
                  <a:lnSpc>
                    <a:spcPct val="120000"/>
                  </a:lnSpc>
                </a:pPr>
                <a:r>
                  <a:rPr lang="zh-CN" altLang="en-US" b="1" dirty="0">
                    <a:solidFill>
                      <a:srgbClr val="FF0000"/>
                    </a:solidFill>
                  </a:rPr>
                  <a:t>泰勒展开</a:t>
                </a:r>
                <a:endParaRPr lang="en-US" altLang="zh-CN" b="1" dirty="0">
                  <a:solidFill>
                    <a:srgbClr val="FF0000"/>
                  </a:solidFill>
                </a:endParaRPr>
              </a:p>
            </p:txBody>
          </p:sp>
        </mc:Choice>
        <mc:Fallback xmlns="">
          <p:sp>
            <p:nvSpPr>
              <p:cNvPr id="3" name="Content Placeholder 2">
                <a:extLst>
                  <a:ext uri="{FF2B5EF4-FFF2-40B4-BE49-F238E27FC236}">
                    <a16:creationId xmlns:a16="http://schemas.microsoft.com/office/drawing/2014/main" id="{F6889668-4023-421E-990F-7CB4F09504B8}"/>
                  </a:ext>
                </a:extLst>
              </p:cNvPr>
              <p:cNvSpPr>
                <a:spLocks noGrp="1" noRot="1" noChangeAspect="1" noMove="1" noResize="1" noEditPoints="1" noAdjustHandles="1" noChangeArrowheads="1" noChangeShapeType="1" noTextEdit="1"/>
              </p:cNvSpPr>
              <p:nvPr>
                <p:ph idx="1"/>
              </p:nvPr>
            </p:nvSpPr>
            <p:spPr>
              <a:blipFill>
                <a:blip r:embed="rId2"/>
                <a:stretch>
                  <a:fillRect l="-1043"/>
                </a:stretch>
              </a:blipFill>
            </p:spPr>
            <p:txBody>
              <a:bodyPr/>
              <a:lstStyle/>
              <a:p>
                <a:r>
                  <a:rPr lang="zh-CN" altLang="en-US">
                    <a:noFill/>
                  </a:rPr>
                  <a:t> </a:t>
                </a:r>
              </a:p>
            </p:txBody>
          </p:sp>
        </mc:Fallback>
      </mc:AlternateContent>
      <p:pic>
        <p:nvPicPr>
          <p:cNvPr id="11" name="Picture 10">
            <a:extLst>
              <a:ext uri="{FF2B5EF4-FFF2-40B4-BE49-F238E27FC236}">
                <a16:creationId xmlns:a16="http://schemas.microsoft.com/office/drawing/2014/main" id="{1873148A-E265-4164-9D65-99F44AF51E55}"/>
              </a:ext>
            </a:extLst>
          </p:cNvPr>
          <p:cNvPicPr>
            <a:picLocks noChangeAspect="1"/>
          </p:cNvPicPr>
          <p:nvPr/>
        </p:nvPicPr>
        <p:blipFill>
          <a:blip r:embed="rId3"/>
          <a:stretch>
            <a:fillRect/>
          </a:stretch>
        </p:blipFill>
        <p:spPr>
          <a:xfrm>
            <a:off x="7658295" y="3873851"/>
            <a:ext cx="2654105" cy="2840216"/>
          </a:xfrm>
          <a:prstGeom prst="rect">
            <a:avLst/>
          </a:prstGeom>
        </p:spPr>
      </p:pic>
    </p:spTree>
    <p:extLst>
      <p:ext uri="{BB962C8B-B14F-4D97-AF65-F5344CB8AC3E}">
        <p14:creationId xmlns:p14="http://schemas.microsoft.com/office/powerpoint/2010/main" val="411623864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8FB3D-7E1F-4925-85FE-379813EB7DB6}"/>
              </a:ext>
            </a:extLst>
          </p:cNvPr>
          <p:cNvSpPr>
            <a:spLocks noGrp="1"/>
          </p:cNvSpPr>
          <p:nvPr>
            <p:ph type="title"/>
          </p:nvPr>
        </p:nvSpPr>
        <p:spPr/>
        <p:txBody>
          <a:bodyPr/>
          <a:lstStyle/>
          <a:p>
            <a:r>
              <a:rPr lang="en-US" altLang="zh-CN" b="1" dirty="0"/>
              <a:t>Harris</a:t>
            </a:r>
            <a:r>
              <a:rPr lang="zh-CN" altLang="en-US" b="1" dirty="0"/>
              <a:t>角点检测</a:t>
            </a:r>
            <a:endParaRPr lang="zh-CN" alt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3437FBA-C5DE-484B-A73E-F1C4A789E0D7}"/>
                  </a:ext>
                </a:extLst>
              </p:cNvPr>
              <p:cNvSpPr>
                <a:spLocks noGrp="1"/>
              </p:cNvSpPr>
              <p:nvPr>
                <p:ph idx="1"/>
              </p:nvPr>
            </p:nvSpPr>
            <p:spPr/>
            <p:txBody>
              <a:bodyPr>
                <a:normAutofit fontScale="85000" lnSpcReduction="10000"/>
              </a:bodyPr>
              <a:lstStyle/>
              <a:p>
                <a:pPr>
                  <a:lnSpc>
                    <a:spcPct val="120000"/>
                  </a:lnSpc>
                </a:pPr>
                <a:r>
                  <a:rPr lang="zh-CN" altLang="en-US" b="1" dirty="0">
                    <a:solidFill>
                      <a:srgbClr val="0070C0"/>
                    </a:solidFill>
                  </a:rPr>
                  <a:t>泰勒展开公式（一阶）</a:t>
                </a:r>
                <a:endParaRPr lang="en-US" altLang="zh-CN" b="1" dirty="0">
                  <a:solidFill>
                    <a:srgbClr val="0070C0"/>
                  </a:solidFill>
                </a:endParaRPr>
              </a:p>
              <a:p>
                <a:pPr marL="457200" lvl="1" indent="0">
                  <a:lnSpc>
                    <a:spcPct val="120000"/>
                  </a:lnSpc>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𝑇</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𝑢</m:t>
                          </m:r>
                          <m:r>
                            <a:rPr lang="en-US" altLang="zh-CN" b="0" i="1" smtClean="0">
                              <a:latin typeface="Cambria Math" panose="02040503050406030204" pitchFamily="18" charset="0"/>
                            </a:rPr>
                            <m:t>,</m:t>
                          </m:r>
                          <m:r>
                            <a:rPr lang="en-US" altLang="zh-CN" b="0" i="1" smtClean="0">
                              <a:latin typeface="Cambria Math" panose="02040503050406030204" pitchFamily="18" charset="0"/>
                            </a:rPr>
                            <m:t>𝑣</m:t>
                          </m:r>
                        </m:e>
                      </m:d>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𝑢</m:t>
                          </m:r>
                        </m:e>
                      </m:d>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𝑓</m:t>
                          </m:r>
                        </m:e>
                        <m:sub>
                          <m:r>
                            <a:rPr lang="en-US" altLang="zh-CN" b="0" i="1" smtClean="0">
                              <a:latin typeface="Cambria Math" panose="02040503050406030204" pitchFamily="18" charset="0"/>
                            </a:rPr>
                            <m:t>𝑥</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𝑢</m:t>
                          </m:r>
                          <m:r>
                            <a:rPr lang="en-US" altLang="zh-CN" b="0" i="1" smtClean="0">
                              <a:latin typeface="Cambria Math" panose="02040503050406030204" pitchFamily="18" charset="0"/>
                            </a:rPr>
                            <m:t>,</m:t>
                          </m:r>
                          <m:r>
                            <a:rPr lang="en-US" altLang="zh-CN" b="0" i="1" smtClean="0">
                              <a:latin typeface="Cambria Math" panose="02040503050406030204" pitchFamily="18" charset="0"/>
                            </a:rPr>
                            <m:t>𝑣</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r>
                        <a:rPr lang="en-US" altLang="zh-CN" b="0" i="1" smtClean="0">
                          <a:latin typeface="Cambria Math" panose="02040503050406030204" pitchFamily="18" charset="0"/>
                        </a:rPr>
                        <m:t>𝑣</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𝑓</m:t>
                          </m:r>
                        </m:e>
                        <m:sub>
                          <m:r>
                            <a:rPr lang="en-US" altLang="zh-CN" b="0" i="1" smtClean="0">
                              <a:latin typeface="Cambria Math" panose="02040503050406030204" pitchFamily="18" charset="0"/>
                            </a:rPr>
                            <m:t>𝑦</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𝑢</m:t>
                      </m:r>
                      <m:r>
                        <a:rPr lang="en-US" altLang="zh-CN" b="0" i="1" smtClean="0">
                          <a:latin typeface="Cambria Math" panose="02040503050406030204" pitchFamily="18" charset="0"/>
                        </a:rPr>
                        <m:t>,</m:t>
                      </m:r>
                      <m:r>
                        <a:rPr lang="en-US" altLang="zh-CN" b="0" i="1" smtClean="0">
                          <a:latin typeface="Cambria Math" panose="02040503050406030204" pitchFamily="18" charset="0"/>
                        </a:rPr>
                        <m:t>𝑣</m:t>
                      </m:r>
                      <m:r>
                        <a:rPr lang="en-US" altLang="zh-CN" b="0" i="1" smtClean="0">
                          <a:latin typeface="Cambria Math" panose="02040503050406030204" pitchFamily="18" charset="0"/>
                        </a:rPr>
                        <m:t>)</m:t>
                      </m:r>
                    </m:oMath>
                  </m:oMathPara>
                </a14:m>
                <a:endParaRPr lang="en-US" altLang="zh-CN" dirty="0"/>
              </a:p>
              <a:p>
                <a:pPr>
                  <a:lnSpc>
                    <a:spcPct val="120000"/>
                  </a:lnSpc>
                </a:pPr>
                <a:r>
                  <a:rPr lang="zh-CN" altLang="en-US" dirty="0">
                    <a:solidFill>
                      <a:srgbClr val="0070C0"/>
                    </a:solidFill>
                  </a:rPr>
                  <a:t>将</a:t>
                </a:r>
                <a14:m>
                  <m:oMath xmlns:m="http://schemas.openxmlformats.org/officeDocument/2006/math">
                    <m:r>
                      <a:rPr lang="en-US" altLang="zh-CN" b="0" i="1" smtClean="0">
                        <a:solidFill>
                          <a:srgbClr val="0070C0"/>
                        </a:solidFill>
                        <a:latin typeface="Cambria Math" panose="02040503050406030204" pitchFamily="18" charset="0"/>
                      </a:rPr>
                      <m:t>𝐼</m:t>
                    </m:r>
                    <m:r>
                      <a:rPr lang="en-US" altLang="zh-CN" b="0" i="1" smtClean="0">
                        <a:solidFill>
                          <a:srgbClr val="0070C0"/>
                        </a:solidFill>
                        <a:latin typeface="Cambria Math" panose="02040503050406030204" pitchFamily="18" charset="0"/>
                      </a:rPr>
                      <m:t>(</m:t>
                    </m:r>
                    <m:r>
                      <a:rPr lang="en-US" altLang="zh-CN" b="0" i="1" smtClean="0">
                        <a:solidFill>
                          <a:srgbClr val="0070C0"/>
                        </a:solidFill>
                        <a:latin typeface="Cambria Math" panose="02040503050406030204" pitchFamily="18" charset="0"/>
                      </a:rPr>
                      <m:t>𝑢</m:t>
                    </m:r>
                    <m:r>
                      <a:rPr lang="en-US" altLang="zh-CN" b="0" i="1" smtClean="0">
                        <a:solidFill>
                          <a:srgbClr val="0070C0"/>
                        </a:solidFill>
                        <a:latin typeface="Cambria Math" panose="02040503050406030204" pitchFamily="18" charset="0"/>
                      </a:rPr>
                      <m:t>+</m:t>
                    </m:r>
                    <m:r>
                      <a:rPr lang="en-US" altLang="zh-CN" b="0" i="1" smtClean="0">
                        <a:solidFill>
                          <a:srgbClr val="0070C0"/>
                        </a:solidFill>
                        <a:latin typeface="Cambria Math" panose="02040503050406030204" pitchFamily="18" charset="0"/>
                      </a:rPr>
                      <m:t>𝑥</m:t>
                    </m:r>
                    <m:r>
                      <a:rPr lang="en-US" altLang="zh-CN" b="0" i="1" smtClean="0">
                        <a:solidFill>
                          <a:srgbClr val="0070C0"/>
                        </a:solidFill>
                        <a:latin typeface="Cambria Math" panose="02040503050406030204" pitchFamily="18" charset="0"/>
                      </a:rPr>
                      <m:t>,</m:t>
                    </m:r>
                    <m:r>
                      <a:rPr lang="en-US" altLang="zh-CN" b="0" i="1" smtClean="0">
                        <a:solidFill>
                          <a:srgbClr val="0070C0"/>
                        </a:solidFill>
                        <a:latin typeface="Cambria Math" panose="02040503050406030204" pitchFamily="18" charset="0"/>
                      </a:rPr>
                      <m:t>𝑣</m:t>
                    </m:r>
                    <m:r>
                      <a:rPr lang="en-US" altLang="zh-CN" b="0" i="1" smtClean="0">
                        <a:solidFill>
                          <a:srgbClr val="0070C0"/>
                        </a:solidFill>
                        <a:latin typeface="Cambria Math" panose="02040503050406030204" pitchFamily="18" charset="0"/>
                      </a:rPr>
                      <m:t>+</m:t>
                    </m:r>
                    <m:r>
                      <a:rPr lang="en-US" altLang="zh-CN" b="0" i="1" smtClean="0">
                        <a:solidFill>
                          <a:srgbClr val="0070C0"/>
                        </a:solidFill>
                        <a:latin typeface="Cambria Math" panose="02040503050406030204" pitchFamily="18" charset="0"/>
                      </a:rPr>
                      <m:t>𝑦</m:t>
                    </m:r>
                    <m:r>
                      <a:rPr lang="en-US" altLang="zh-CN" b="0" i="1" smtClean="0">
                        <a:solidFill>
                          <a:srgbClr val="0070C0"/>
                        </a:solidFill>
                        <a:latin typeface="Cambria Math" panose="02040503050406030204" pitchFamily="18" charset="0"/>
                      </a:rPr>
                      <m:t>)</m:t>
                    </m:r>
                  </m:oMath>
                </a14:m>
                <a:r>
                  <a:rPr lang="zh-CN" altLang="en-US" dirty="0">
                    <a:solidFill>
                      <a:srgbClr val="0070C0"/>
                    </a:solidFill>
                  </a:rPr>
                  <a:t>进行一阶泰勒展开：</a:t>
                </a:r>
                <a:endParaRPr lang="en-US" altLang="zh-CN" dirty="0">
                  <a:solidFill>
                    <a:srgbClr val="0070C0"/>
                  </a:solidFill>
                </a:endParaRPr>
              </a:p>
              <a:p>
                <a:pPr marL="457200" lvl="1" indent="0">
                  <a:lnSpc>
                    <a:spcPct val="120000"/>
                  </a:lnSpc>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𝐼</m:t>
                      </m:r>
                      <m:d>
                        <m:dPr>
                          <m:ctrlPr>
                            <a:rPr lang="en-US" altLang="zh-CN" i="1">
                              <a:latin typeface="Cambria Math" panose="02040503050406030204" pitchFamily="18" charset="0"/>
                            </a:rPr>
                          </m:ctrlPr>
                        </m:dPr>
                        <m:e>
                          <m:r>
                            <a:rPr lang="en-US" altLang="zh-CN" i="1">
                              <a:latin typeface="Cambria Math" panose="02040503050406030204" pitchFamily="18" charset="0"/>
                            </a:rPr>
                            <m:t>𝑢</m:t>
                          </m:r>
                          <m:r>
                            <a:rPr lang="en-US" altLang="zh-CN" i="1">
                              <a:latin typeface="Cambria Math" panose="02040503050406030204" pitchFamily="18" charset="0"/>
                            </a:rPr>
                            <m:t>+</m:t>
                          </m:r>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𝑣</m:t>
                          </m:r>
                          <m:r>
                            <a:rPr lang="en-US" altLang="zh-CN" i="1">
                              <a:latin typeface="Cambria Math" panose="02040503050406030204" pitchFamily="18" charset="0"/>
                            </a:rPr>
                            <m:t>+</m:t>
                          </m:r>
                          <m:r>
                            <a:rPr lang="en-US" altLang="zh-CN" i="1">
                              <a:latin typeface="Cambria Math" panose="02040503050406030204" pitchFamily="18" charset="0"/>
                            </a:rPr>
                            <m:t>𝑦</m:t>
                          </m:r>
                        </m:e>
                      </m:d>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𝐼</m:t>
                      </m:r>
                      <m:d>
                        <m:dPr>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𝑥</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𝑦</m:t>
                          </m:r>
                        </m:e>
                      </m:d>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𝑢</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𝐼</m:t>
                          </m:r>
                        </m:e>
                        <m:sub>
                          <m:r>
                            <a:rPr lang="en-US" altLang="zh-CN" b="0" i="1" smtClean="0">
                              <a:latin typeface="Cambria Math" panose="02040503050406030204" pitchFamily="18" charset="0"/>
                              <a:ea typeface="Cambria Math" panose="02040503050406030204" pitchFamily="18" charset="0"/>
                            </a:rPr>
                            <m:t>𝑥</m:t>
                          </m:r>
                        </m:sub>
                      </m:sSub>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𝑣</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𝐼</m:t>
                          </m:r>
                        </m:e>
                        <m:sub>
                          <m:r>
                            <a:rPr lang="en-US" altLang="zh-CN" b="0" i="1" smtClean="0">
                              <a:latin typeface="Cambria Math" panose="02040503050406030204" pitchFamily="18" charset="0"/>
                              <a:ea typeface="Cambria Math" panose="02040503050406030204" pitchFamily="18" charset="0"/>
                            </a:rPr>
                            <m:t>𝑦</m:t>
                          </m:r>
                        </m:sub>
                      </m:sSub>
                    </m:oMath>
                  </m:oMathPara>
                </a14:m>
                <a:endParaRPr lang="en-US" altLang="zh-CN" dirty="0"/>
              </a:p>
              <a:p>
                <a:pPr>
                  <a:lnSpc>
                    <a:spcPct val="120000"/>
                  </a:lnSpc>
                </a:pPr>
                <a:r>
                  <a:rPr lang="zh-CN" altLang="en-US" b="1" dirty="0">
                    <a:solidFill>
                      <a:srgbClr val="0070C0"/>
                    </a:solidFill>
                  </a:rPr>
                  <a:t>灰度值的变化</a:t>
                </a:r>
                <a:r>
                  <a:rPr lang="en-US" altLang="zh-CN" b="1" dirty="0">
                    <a:solidFill>
                      <a:srgbClr val="0070C0"/>
                    </a:solidFill>
                  </a:rPr>
                  <a:t>:</a:t>
                </a:r>
              </a:p>
              <a:p>
                <a:pPr marL="457200" lvl="1" indent="0">
                  <a:lnSpc>
                    <a:spcPct val="120000"/>
                  </a:lnSpc>
                  <a:buNone/>
                </a:pPr>
                <a14:m>
                  <m:oMath xmlns:m="http://schemas.openxmlformats.org/officeDocument/2006/math">
                    <m:r>
                      <a:rPr lang="en-US" altLang="zh-CN" i="1">
                        <a:latin typeface="Cambria Math" panose="02040503050406030204" pitchFamily="18" charset="0"/>
                      </a:rPr>
                      <m:t>𝐸</m:t>
                    </m:r>
                    <m:d>
                      <m:dPr>
                        <m:ctrlPr>
                          <a:rPr lang="en-US" altLang="zh-CN" i="1">
                            <a:latin typeface="Cambria Math" panose="02040503050406030204" pitchFamily="18" charset="0"/>
                          </a:rPr>
                        </m:ctrlPr>
                      </m:dPr>
                      <m:e>
                        <m:r>
                          <a:rPr lang="en-US" altLang="zh-CN" i="1">
                            <a:latin typeface="Cambria Math" panose="02040503050406030204" pitchFamily="18" charset="0"/>
                          </a:rPr>
                          <m:t>𝑢</m:t>
                        </m:r>
                        <m:r>
                          <a:rPr lang="en-US" altLang="zh-CN" i="1">
                            <a:latin typeface="Cambria Math" panose="02040503050406030204" pitchFamily="18" charset="0"/>
                          </a:rPr>
                          <m:t>,</m:t>
                        </m:r>
                        <m:r>
                          <a:rPr lang="en-US" altLang="zh-CN" i="1">
                            <a:latin typeface="Cambria Math" panose="02040503050406030204" pitchFamily="18" charset="0"/>
                          </a:rPr>
                          <m:t>𝑣</m:t>
                        </m:r>
                      </m:e>
                    </m:d>
                    <m:r>
                      <a:rPr lang="en-US" altLang="zh-CN" i="1">
                        <a:latin typeface="Cambria Math" panose="02040503050406030204" pitchFamily="18" charset="0"/>
                      </a:rPr>
                      <m:t>=</m:t>
                    </m:r>
                    <m:nary>
                      <m:naryPr>
                        <m:chr m:val="∑"/>
                        <m:supHide m:val="on"/>
                        <m:ctrlPr>
                          <a:rPr lang="en-US" altLang="zh-CN" i="1">
                            <a:latin typeface="Cambria Math" panose="02040503050406030204" pitchFamily="18" charset="0"/>
                          </a:rPr>
                        </m:ctrlPr>
                      </m:naryPr>
                      <m:sub>
                        <m:r>
                          <m:rPr>
                            <m:brk m:alnAt="7"/>
                          </m:rPr>
                          <a:rPr lang="en-US" altLang="zh-CN" i="1">
                            <a:latin typeface="Cambria Math" panose="02040503050406030204" pitchFamily="18" charset="0"/>
                          </a:rPr>
                          <m:t>(</m:t>
                        </m:r>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r>
                          <a:rPr lang="en-US" altLang="zh-CN" i="1">
                            <a:latin typeface="Cambria Math" panose="02040503050406030204" pitchFamily="18" charset="0"/>
                          </a:rPr>
                          <m:t>)</m:t>
                        </m:r>
                      </m:sub>
                      <m:sup/>
                      <m:e>
                        <m:r>
                          <a:rPr lang="en-US" altLang="zh-CN" i="1">
                            <a:latin typeface="Cambria Math" panose="02040503050406030204" pitchFamily="18" charset="0"/>
                          </a:rPr>
                          <m:t>𝑤</m:t>
                        </m:r>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e>
                        </m:d>
                        <m:sSup>
                          <m:sSupPr>
                            <m:ctrlPr>
                              <a:rPr lang="en-US" altLang="zh-CN" i="1">
                                <a:latin typeface="Cambria Math" panose="02040503050406030204" pitchFamily="18" charset="0"/>
                              </a:rPr>
                            </m:ctrlPr>
                          </m:sSupPr>
                          <m:e>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𝐼</m:t>
                                </m:r>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𝑢</m:t>
                                    </m:r>
                                    <m:r>
                                      <a:rPr lang="en-US" altLang="zh-CN" i="1">
                                        <a:latin typeface="Cambria Math" panose="02040503050406030204" pitchFamily="18" charset="0"/>
                                      </a:rPr>
                                      <m:t>,</m:t>
                                    </m:r>
                                    <m:r>
                                      <a:rPr lang="en-US" altLang="zh-CN" i="1">
                                        <a:latin typeface="Cambria Math" panose="02040503050406030204" pitchFamily="18" charset="0"/>
                                      </a:rPr>
                                      <m:t>𝑦</m:t>
                                    </m:r>
                                    <m:r>
                                      <a:rPr lang="en-US" altLang="zh-CN" i="1">
                                        <a:latin typeface="Cambria Math" panose="02040503050406030204" pitchFamily="18" charset="0"/>
                                      </a:rPr>
                                      <m:t>+</m:t>
                                    </m:r>
                                    <m:r>
                                      <a:rPr lang="en-US" altLang="zh-CN" i="1">
                                        <a:latin typeface="Cambria Math" panose="02040503050406030204" pitchFamily="18" charset="0"/>
                                      </a:rPr>
                                      <m:t>𝑣</m:t>
                                    </m:r>
                                  </m:e>
                                </m:d>
                                <m:r>
                                  <a:rPr lang="en-US" altLang="zh-CN" i="1">
                                    <a:latin typeface="Cambria Math" panose="02040503050406030204" pitchFamily="18" charset="0"/>
                                  </a:rPr>
                                  <m:t>−</m:t>
                                </m:r>
                                <m:r>
                                  <a:rPr lang="en-US" altLang="zh-CN" i="1">
                                    <a:latin typeface="Cambria Math" panose="02040503050406030204" pitchFamily="18" charset="0"/>
                                  </a:rPr>
                                  <m:t>𝐼</m:t>
                                </m:r>
                                <m:r>
                                  <a:rPr lang="en-US" altLang="zh-CN" i="1">
                                    <a:latin typeface="Cambria Math" panose="02040503050406030204" pitchFamily="18" charset="0"/>
                                  </a:rPr>
                                  <m:t>(</m:t>
                                </m:r>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r>
                                  <a:rPr lang="en-US" altLang="zh-CN" i="1">
                                    <a:latin typeface="Cambria Math" panose="02040503050406030204" pitchFamily="18" charset="0"/>
                                  </a:rPr>
                                  <m:t>)</m:t>
                                </m:r>
                              </m:e>
                            </m:d>
                          </m:e>
                          <m:sup>
                            <m:r>
                              <a:rPr lang="en-US" altLang="zh-CN" i="1">
                                <a:latin typeface="Cambria Math" panose="02040503050406030204" pitchFamily="18" charset="0"/>
                              </a:rPr>
                              <m:t>2</m:t>
                            </m:r>
                          </m:sup>
                        </m:sSup>
                      </m:e>
                    </m:nary>
                  </m:oMath>
                </a14:m>
                <a:r>
                  <a:rPr lang="en-US" altLang="zh-CN" dirty="0"/>
                  <a:t> </a:t>
                </a:r>
              </a:p>
              <a:p>
                <a:pPr marL="457200" lvl="1" indent="0">
                  <a:lnSpc>
                    <a:spcPct val="120000"/>
                  </a:lnSpc>
                  <a:buNone/>
                </a:pPr>
                <a:r>
                  <a:rPr lang="en-US" altLang="zh-CN" dirty="0">
                    <a:ea typeface="Cambria Math" panose="02040503050406030204" pitchFamily="18" charset="0"/>
                  </a:rPr>
                  <a:t>             </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nary>
                      <m:naryPr>
                        <m:chr m:val="∑"/>
                        <m:supHide m:val="on"/>
                        <m:ctrlPr>
                          <a:rPr lang="en-US" altLang="zh-CN" i="1">
                            <a:latin typeface="Cambria Math" panose="02040503050406030204" pitchFamily="18" charset="0"/>
                          </a:rPr>
                        </m:ctrlPr>
                      </m:naryPr>
                      <m:sub>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e>
                        </m:d>
                      </m:sub>
                      <m:sup/>
                      <m:e>
                        <m:r>
                          <a:rPr lang="en-US" altLang="zh-CN" i="1">
                            <a:latin typeface="Cambria Math" panose="02040503050406030204" pitchFamily="18" charset="0"/>
                          </a:rPr>
                          <m:t>𝑤</m:t>
                        </m:r>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e>
                        </m:d>
                        <m:sSup>
                          <m:sSupPr>
                            <m:ctrlPr>
                              <a:rPr lang="en-US" altLang="zh-CN" i="1">
                                <a:latin typeface="Cambria Math" panose="02040503050406030204" pitchFamily="18" charset="0"/>
                              </a:rPr>
                            </m:ctrlPr>
                          </m:sSupPr>
                          <m:e>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𝐼</m:t>
                                </m:r>
                                <m:d>
                                  <m:dPr>
                                    <m:ctrlPr>
                                      <a:rPr lang="en-US"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𝑥</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𝑦</m:t>
                                    </m:r>
                                  </m:e>
                                </m:d>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𝑢</m:t>
                                </m:r>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𝐼</m:t>
                                    </m:r>
                                  </m:e>
                                  <m:sub>
                                    <m:r>
                                      <a:rPr lang="en-US" altLang="zh-CN" i="1">
                                        <a:latin typeface="Cambria Math" panose="02040503050406030204" pitchFamily="18" charset="0"/>
                                        <a:ea typeface="Cambria Math" panose="02040503050406030204" pitchFamily="18" charset="0"/>
                                      </a:rPr>
                                      <m:t>𝑥</m:t>
                                    </m:r>
                                  </m:sub>
                                </m:sSub>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𝑣</m:t>
                                </m:r>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𝐼</m:t>
                                    </m:r>
                                  </m:e>
                                  <m:sub>
                                    <m:r>
                                      <a:rPr lang="en-US" altLang="zh-CN" i="1">
                                        <a:latin typeface="Cambria Math" panose="02040503050406030204" pitchFamily="18" charset="0"/>
                                        <a:ea typeface="Cambria Math" panose="02040503050406030204" pitchFamily="18" charset="0"/>
                                      </a:rPr>
                                      <m:t>𝑦</m:t>
                                    </m:r>
                                  </m:sub>
                                </m:sSub>
                                <m:r>
                                  <a:rPr lang="en-US" altLang="zh-CN" i="1">
                                    <a:latin typeface="Cambria Math" panose="02040503050406030204" pitchFamily="18" charset="0"/>
                                  </a:rPr>
                                  <m:t>−</m:t>
                                </m:r>
                                <m:r>
                                  <a:rPr lang="en-US" altLang="zh-CN" i="1">
                                    <a:latin typeface="Cambria Math" panose="02040503050406030204" pitchFamily="18" charset="0"/>
                                  </a:rPr>
                                  <m:t>𝐼</m:t>
                                </m:r>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e>
                                </m:d>
                              </m:e>
                            </m:d>
                          </m:e>
                          <m:sup>
                            <m:r>
                              <a:rPr lang="en-US" altLang="zh-CN" i="1">
                                <a:latin typeface="Cambria Math" panose="02040503050406030204" pitchFamily="18" charset="0"/>
                              </a:rPr>
                              <m:t>2</m:t>
                            </m:r>
                          </m:sup>
                        </m:sSup>
                      </m:e>
                    </m:nary>
                  </m:oMath>
                </a14:m>
                <a:r>
                  <a:rPr lang="en-US" altLang="zh-CN" dirty="0"/>
                  <a:t> </a:t>
                </a:r>
              </a:p>
              <a:p>
                <a:pPr marL="457200" lvl="1" indent="0">
                  <a:lnSpc>
                    <a:spcPct val="120000"/>
                  </a:lnSpc>
                  <a:buNone/>
                </a:pPr>
                <a:r>
                  <a:rPr lang="en-US" altLang="zh-CN" dirty="0">
                    <a:ea typeface="Cambria Math" panose="02040503050406030204" pitchFamily="18" charset="0"/>
                  </a:rPr>
                  <a:t>             </a:t>
                </a:r>
                <a14:m>
                  <m:oMath xmlns:m="http://schemas.openxmlformats.org/officeDocument/2006/math">
                    <m:r>
                      <a:rPr lang="en-US" altLang="zh-CN" i="1">
                        <a:latin typeface="Cambria Math" panose="02040503050406030204" pitchFamily="18" charset="0"/>
                        <a:ea typeface="Cambria Math" panose="02040503050406030204" pitchFamily="18" charset="0"/>
                      </a:rPr>
                      <m:t>≈</m:t>
                    </m:r>
                    <m:nary>
                      <m:naryPr>
                        <m:chr m:val="∑"/>
                        <m:supHide m:val="on"/>
                        <m:ctrlPr>
                          <a:rPr lang="en-US" altLang="zh-CN" i="1">
                            <a:latin typeface="Cambria Math" panose="02040503050406030204" pitchFamily="18" charset="0"/>
                          </a:rPr>
                        </m:ctrlPr>
                      </m:naryPr>
                      <m:sub>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e>
                        </m:d>
                      </m:sub>
                      <m:sup/>
                      <m:e>
                        <m:r>
                          <a:rPr lang="en-US" altLang="zh-CN" i="1">
                            <a:latin typeface="Cambria Math" panose="02040503050406030204" pitchFamily="18" charset="0"/>
                          </a:rPr>
                          <m:t>𝑤</m:t>
                        </m:r>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e>
                        </m:d>
                        <m:sSup>
                          <m:sSupPr>
                            <m:ctrlPr>
                              <a:rPr lang="en-US" altLang="zh-CN" i="1">
                                <a:latin typeface="Cambria Math" panose="02040503050406030204" pitchFamily="18" charset="0"/>
                              </a:rPr>
                            </m:ctrlPr>
                          </m:sSupPr>
                          <m:e>
                            <m:r>
                              <a:rPr lang="en-US" altLang="zh-CN" b="0" i="1" smtClean="0">
                                <a:latin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𝑢</m:t>
                            </m:r>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𝐼</m:t>
                                </m:r>
                              </m:e>
                              <m:sub>
                                <m:r>
                                  <a:rPr lang="en-US" altLang="zh-CN" i="1">
                                    <a:latin typeface="Cambria Math" panose="02040503050406030204" pitchFamily="18" charset="0"/>
                                    <a:ea typeface="Cambria Math" panose="02040503050406030204" pitchFamily="18" charset="0"/>
                                  </a:rPr>
                                  <m:t>𝑥</m:t>
                                </m:r>
                              </m:sub>
                            </m:sSub>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𝑣</m:t>
                            </m:r>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𝐼</m:t>
                                </m:r>
                              </m:e>
                              <m:sub>
                                <m:r>
                                  <a:rPr lang="en-US" altLang="zh-CN" i="1">
                                    <a:latin typeface="Cambria Math" panose="02040503050406030204" pitchFamily="18" charset="0"/>
                                    <a:ea typeface="Cambria Math" panose="02040503050406030204" pitchFamily="18" charset="0"/>
                                  </a:rPr>
                                  <m:t>𝑦</m:t>
                                </m:r>
                              </m:sub>
                            </m:sSub>
                            <m:r>
                              <a:rPr lang="en-US" altLang="zh-CN" b="0" i="1" smtClean="0">
                                <a:latin typeface="Cambria Math" panose="02040503050406030204" pitchFamily="18" charset="0"/>
                                <a:ea typeface="Cambria Math" panose="02040503050406030204" pitchFamily="18" charset="0"/>
                              </a:rPr>
                              <m:t>)</m:t>
                            </m:r>
                          </m:e>
                          <m:sup>
                            <m:r>
                              <a:rPr lang="en-US" altLang="zh-CN" i="1">
                                <a:latin typeface="Cambria Math" panose="02040503050406030204" pitchFamily="18" charset="0"/>
                              </a:rPr>
                              <m:t>2</m:t>
                            </m:r>
                          </m:sup>
                        </m:sSup>
                      </m:e>
                    </m:nary>
                  </m:oMath>
                </a14:m>
                <a:r>
                  <a:rPr lang="en-US" altLang="zh-CN" dirty="0"/>
                  <a:t>    </a:t>
                </a:r>
              </a:p>
              <a:p>
                <a:pPr marL="457200" lvl="1" indent="0">
                  <a:lnSpc>
                    <a:spcPct val="120000"/>
                  </a:lnSpc>
                  <a:buNone/>
                </a:pPr>
                <a:r>
                  <a:rPr lang="en-US" altLang="zh-CN" dirty="0">
                    <a:ea typeface="Cambria Math" panose="02040503050406030204" pitchFamily="18" charset="0"/>
                  </a:rPr>
                  <a:t>             </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nary>
                      <m:naryPr>
                        <m:chr m:val="∑"/>
                        <m:supHide m:val="on"/>
                        <m:ctrlPr>
                          <a:rPr lang="en-US" altLang="zh-CN" i="1">
                            <a:latin typeface="Cambria Math" panose="02040503050406030204" pitchFamily="18" charset="0"/>
                          </a:rPr>
                        </m:ctrlPr>
                      </m:naryPr>
                      <m:sub>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e>
                        </m:d>
                      </m:sub>
                      <m:sup/>
                      <m:e>
                        <m:r>
                          <a:rPr lang="en-US" altLang="zh-CN" i="1">
                            <a:latin typeface="Cambria Math" panose="02040503050406030204" pitchFamily="18" charset="0"/>
                          </a:rPr>
                          <m:t>𝑤</m:t>
                        </m:r>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e>
                        </m:d>
                        <m:sSup>
                          <m:sSupPr>
                            <m:ctrlPr>
                              <a:rPr lang="en-US" altLang="zh-CN" i="1">
                                <a:latin typeface="Cambria Math" panose="02040503050406030204" pitchFamily="18" charset="0"/>
                              </a:rPr>
                            </m:ctrlPr>
                          </m:sSupPr>
                          <m:e>
                            <m:d>
                              <m:dPr>
                                <m:begChr m:val="["/>
                                <m:endChr m:val="]"/>
                                <m:ctrlPr>
                                  <a:rPr lang="en-US" altLang="zh-CN" i="1">
                                    <a:latin typeface="Cambria Math" panose="02040503050406030204" pitchFamily="18" charset="0"/>
                                  </a:rPr>
                                </m:ctrlPr>
                              </m:dPr>
                              <m:e>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𝑢</m:t>
                                    </m:r>
                                  </m:e>
                                  <m:sup>
                                    <m:r>
                                      <a:rPr lang="en-US" altLang="zh-CN" b="0" i="1" smtClean="0">
                                        <a:latin typeface="Cambria Math" panose="02040503050406030204" pitchFamily="18" charset="0"/>
                                      </a:rPr>
                                      <m:t>2</m:t>
                                    </m:r>
                                  </m:sup>
                                </m:sSup>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𝐼</m:t>
                                    </m:r>
                                  </m:e>
                                  <m:sub>
                                    <m:r>
                                      <a:rPr lang="en-US" altLang="zh-CN" b="0" i="1" smtClean="0">
                                        <a:latin typeface="Cambria Math" panose="02040503050406030204" pitchFamily="18" charset="0"/>
                                      </a:rPr>
                                      <m:t>𝑥</m:t>
                                    </m:r>
                                  </m:sub>
                                  <m:sup>
                                    <m:r>
                                      <a:rPr lang="en-US" altLang="zh-CN" b="0" i="1" smtClean="0">
                                        <a:latin typeface="Cambria Math" panose="02040503050406030204" pitchFamily="18" charset="0"/>
                                      </a:rPr>
                                      <m:t>2</m:t>
                                    </m:r>
                                  </m:sup>
                                </m:sSubSup>
                                <m:r>
                                  <a:rPr lang="en-US" altLang="zh-CN" i="1">
                                    <a:latin typeface="Cambria Math" panose="02040503050406030204" pitchFamily="18" charset="0"/>
                                    <a:ea typeface="Cambria Math" panose="02040503050406030204" pitchFamily="18" charset="0"/>
                                  </a:rPr>
                                  <m:t>+</m:t>
                                </m:r>
                                <m:sSup>
                                  <m:sSupPr>
                                    <m:ctrlPr>
                                      <a:rPr lang="en-US" altLang="zh-CN" i="1">
                                        <a:latin typeface="Cambria Math" panose="02040503050406030204" pitchFamily="18" charset="0"/>
                                      </a:rPr>
                                    </m:ctrlPr>
                                  </m:sSupPr>
                                  <m:e>
                                    <m:r>
                                      <a:rPr lang="en-US" altLang="zh-CN" b="0" i="1" smtClean="0">
                                        <a:latin typeface="Cambria Math" panose="02040503050406030204" pitchFamily="18" charset="0"/>
                                      </a:rPr>
                                      <m:t>𝑣</m:t>
                                    </m:r>
                                  </m:e>
                                  <m:sup>
                                    <m:r>
                                      <a:rPr lang="en-US" altLang="zh-CN" i="1">
                                        <a:latin typeface="Cambria Math" panose="02040503050406030204" pitchFamily="18" charset="0"/>
                                      </a:rPr>
                                      <m:t>2</m:t>
                                    </m:r>
                                  </m:sup>
                                </m:sSup>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𝐼</m:t>
                                    </m:r>
                                  </m:e>
                                  <m:sub>
                                    <m:r>
                                      <a:rPr lang="en-US" altLang="zh-CN" b="0" i="1" smtClean="0">
                                        <a:latin typeface="Cambria Math" panose="02040503050406030204" pitchFamily="18" charset="0"/>
                                      </a:rPr>
                                      <m:t>𝑦</m:t>
                                    </m:r>
                                  </m:sub>
                                  <m:sup>
                                    <m:r>
                                      <a:rPr lang="en-US" altLang="zh-CN" i="1">
                                        <a:latin typeface="Cambria Math" panose="02040503050406030204" pitchFamily="18" charset="0"/>
                                      </a:rPr>
                                      <m:t>2</m:t>
                                    </m:r>
                                  </m:sup>
                                </m:sSubSup>
                                <m:r>
                                  <a:rPr lang="en-US" altLang="zh-CN" b="0" i="1" smtClean="0">
                                    <a:latin typeface="Cambria Math" panose="02040503050406030204" pitchFamily="18" charset="0"/>
                                  </a:rPr>
                                  <m:t>+2</m:t>
                                </m:r>
                                <m:r>
                                  <a:rPr lang="en-US" altLang="zh-CN" b="0" i="1" smtClean="0">
                                    <a:latin typeface="Cambria Math" panose="02040503050406030204" pitchFamily="18" charset="0"/>
                                  </a:rPr>
                                  <m:t>𝑢𝑣</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𝐼</m:t>
                                    </m:r>
                                  </m:e>
                                  <m:sub>
                                    <m:r>
                                      <a:rPr lang="en-US" altLang="zh-CN" b="0" i="1" smtClean="0">
                                        <a:latin typeface="Cambria Math" panose="02040503050406030204" pitchFamily="18" charset="0"/>
                                      </a:rPr>
                                      <m:t>𝑥</m:t>
                                    </m:r>
                                  </m:sub>
                                </m:s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𝐼</m:t>
                                    </m:r>
                                  </m:e>
                                  <m:sub>
                                    <m:r>
                                      <a:rPr lang="en-US" altLang="zh-CN" b="0" i="1" smtClean="0">
                                        <a:latin typeface="Cambria Math" panose="02040503050406030204" pitchFamily="18" charset="0"/>
                                      </a:rPr>
                                      <m:t>𝑦</m:t>
                                    </m:r>
                                  </m:sub>
                                </m:sSub>
                              </m:e>
                            </m:d>
                          </m:e>
                          <m:sup>
                            <m:r>
                              <a:rPr lang="en-US" altLang="zh-CN" i="1">
                                <a:latin typeface="Cambria Math" panose="02040503050406030204" pitchFamily="18" charset="0"/>
                              </a:rPr>
                              <m:t>2</m:t>
                            </m:r>
                          </m:sup>
                        </m:sSup>
                      </m:e>
                    </m:nary>
                  </m:oMath>
                </a14:m>
                <a:r>
                  <a:rPr lang="en-US" altLang="zh-CN" dirty="0"/>
                  <a:t> </a:t>
                </a:r>
                <a:endParaRPr lang="zh-CN" altLang="en-US" dirty="0"/>
              </a:p>
            </p:txBody>
          </p:sp>
        </mc:Choice>
        <mc:Fallback xmlns="">
          <p:sp>
            <p:nvSpPr>
              <p:cNvPr id="3" name="Content Placeholder 2">
                <a:extLst>
                  <a:ext uri="{FF2B5EF4-FFF2-40B4-BE49-F238E27FC236}">
                    <a16:creationId xmlns:a16="http://schemas.microsoft.com/office/drawing/2014/main" id="{A3437FBA-C5DE-484B-A73E-F1C4A789E0D7}"/>
                  </a:ext>
                </a:extLst>
              </p:cNvPr>
              <p:cNvSpPr>
                <a:spLocks noGrp="1" noRot="1" noChangeAspect="1" noMove="1" noResize="1" noEditPoints="1" noAdjustHandles="1" noChangeArrowheads="1" noChangeShapeType="1" noTextEdit="1"/>
              </p:cNvSpPr>
              <p:nvPr>
                <p:ph idx="1"/>
              </p:nvPr>
            </p:nvSpPr>
            <p:spPr>
              <a:blipFill>
                <a:blip r:embed="rId2"/>
                <a:stretch>
                  <a:fillRect l="-812" t="-1401" b="-210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9489624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B613D-87F7-497A-B947-6C8F119473EF}"/>
              </a:ext>
            </a:extLst>
          </p:cNvPr>
          <p:cNvSpPr>
            <a:spLocks noGrp="1"/>
          </p:cNvSpPr>
          <p:nvPr>
            <p:ph type="title"/>
          </p:nvPr>
        </p:nvSpPr>
        <p:spPr/>
        <p:txBody>
          <a:bodyPr/>
          <a:lstStyle/>
          <a:p>
            <a:r>
              <a:rPr lang="en-US" altLang="zh-CN" b="1" dirty="0"/>
              <a:t>Harris</a:t>
            </a:r>
            <a:r>
              <a:rPr lang="zh-CN" altLang="en-US" b="1" dirty="0"/>
              <a:t>角点检测</a:t>
            </a:r>
            <a:endParaRPr lang="zh-CN" alt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FA301B8-56F3-4124-AD58-F8D3129211D3}"/>
                  </a:ext>
                </a:extLst>
              </p:cNvPr>
              <p:cNvSpPr>
                <a:spLocks noGrp="1"/>
              </p:cNvSpPr>
              <p:nvPr>
                <p:ph idx="1"/>
              </p:nvPr>
            </p:nvSpPr>
            <p:spPr/>
            <p:txBody>
              <a:bodyPr/>
              <a:lstStyle/>
              <a:p>
                <a:pPr>
                  <a:lnSpc>
                    <a:spcPct val="120000"/>
                  </a:lnSpc>
                </a:pPr>
                <a14:m>
                  <m:oMath xmlns:m="http://schemas.openxmlformats.org/officeDocument/2006/math">
                    <m:r>
                      <a:rPr lang="en-US" altLang="zh-CN" i="1">
                        <a:latin typeface="Cambria Math" panose="02040503050406030204" pitchFamily="18" charset="0"/>
                      </a:rPr>
                      <m:t>𝐸</m:t>
                    </m:r>
                    <m:d>
                      <m:dPr>
                        <m:ctrlPr>
                          <a:rPr lang="en-US" altLang="zh-CN" i="1">
                            <a:latin typeface="Cambria Math" panose="02040503050406030204" pitchFamily="18" charset="0"/>
                          </a:rPr>
                        </m:ctrlPr>
                      </m:dPr>
                      <m:e>
                        <m:r>
                          <a:rPr lang="en-US" altLang="zh-CN" i="1">
                            <a:latin typeface="Cambria Math" panose="02040503050406030204" pitchFamily="18" charset="0"/>
                          </a:rPr>
                          <m:t>𝑢</m:t>
                        </m:r>
                        <m:r>
                          <a:rPr lang="en-US" altLang="zh-CN" i="1">
                            <a:latin typeface="Cambria Math" panose="02040503050406030204" pitchFamily="18" charset="0"/>
                          </a:rPr>
                          <m:t>,</m:t>
                        </m:r>
                        <m:r>
                          <a:rPr lang="en-US" altLang="zh-CN" i="1">
                            <a:latin typeface="Cambria Math" panose="02040503050406030204" pitchFamily="18" charset="0"/>
                          </a:rPr>
                          <m:t>𝑣</m:t>
                        </m:r>
                      </m:e>
                    </m:d>
                    <m:r>
                      <a:rPr lang="en-US" altLang="zh-CN" i="1">
                        <a:latin typeface="Cambria Math" panose="02040503050406030204" pitchFamily="18" charset="0"/>
                        <a:ea typeface="Cambria Math" panose="02040503050406030204" pitchFamily="18" charset="0"/>
                      </a:rPr>
                      <m:t>≈</m:t>
                    </m:r>
                    <m:nary>
                      <m:naryPr>
                        <m:chr m:val="∑"/>
                        <m:supHide m:val="on"/>
                        <m:ctrlPr>
                          <a:rPr lang="en-US" altLang="zh-CN" i="1">
                            <a:latin typeface="Cambria Math" panose="02040503050406030204" pitchFamily="18" charset="0"/>
                          </a:rPr>
                        </m:ctrlPr>
                      </m:naryPr>
                      <m:sub>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e>
                        </m:d>
                      </m:sub>
                      <m:sup/>
                      <m:e>
                        <m:r>
                          <a:rPr lang="en-US" altLang="zh-CN" i="1">
                            <a:latin typeface="Cambria Math" panose="02040503050406030204" pitchFamily="18" charset="0"/>
                          </a:rPr>
                          <m:t>𝑤</m:t>
                        </m:r>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e>
                        </m:d>
                        <m:sSup>
                          <m:sSupPr>
                            <m:ctrlPr>
                              <a:rPr lang="en-US" altLang="zh-CN" i="1">
                                <a:latin typeface="Cambria Math" panose="02040503050406030204" pitchFamily="18" charset="0"/>
                              </a:rPr>
                            </m:ctrlPr>
                          </m:sSupPr>
                          <m:e>
                            <m:d>
                              <m:dPr>
                                <m:begChr m:val="["/>
                                <m:endChr m:val="]"/>
                                <m:ctrlPr>
                                  <a:rPr lang="en-US" altLang="zh-CN" i="1">
                                    <a:latin typeface="Cambria Math" panose="02040503050406030204" pitchFamily="18" charset="0"/>
                                  </a:rPr>
                                </m:ctrlPr>
                              </m:dPr>
                              <m:e>
                                <m:sSup>
                                  <m:sSupPr>
                                    <m:ctrlPr>
                                      <a:rPr lang="en-US" altLang="zh-CN" i="1">
                                        <a:latin typeface="Cambria Math" panose="02040503050406030204" pitchFamily="18" charset="0"/>
                                      </a:rPr>
                                    </m:ctrlPr>
                                  </m:sSupPr>
                                  <m:e>
                                    <m:r>
                                      <a:rPr lang="en-US" altLang="zh-CN" i="1">
                                        <a:latin typeface="Cambria Math" panose="02040503050406030204" pitchFamily="18" charset="0"/>
                                      </a:rPr>
                                      <m:t>𝑢</m:t>
                                    </m:r>
                                  </m:e>
                                  <m:sup>
                                    <m:r>
                                      <a:rPr lang="en-US" altLang="zh-CN" i="1">
                                        <a:latin typeface="Cambria Math" panose="02040503050406030204" pitchFamily="18" charset="0"/>
                                      </a:rPr>
                                      <m:t>2</m:t>
                                    </m:r>
                                  </m:sup>
                                </m:sSup>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𝐼</m:t>
                                    </m:r>
                                  </m:e>
                                  <m:sub>
                                    <m:r>
                                      <a:rPr lang="en-US" altLang="zh-CN" i="1">
                                        <a:latin typeface="Cambria Math" panose="02040503050406030204" pitchFamily="18" charset="0"/>
                                      </a:rPr>
                                      <m:t>𝑥</m:t>
                                    </m:r>
                                  </m:sub>
                                  <m:sup>
                                    <m:r>
                                      <a:rPr lang="en-US" altLang="zh-CN" i="1">
                                        <a:latin typeface="Cambria Math" panose="02040503050406030204" pitchFamily="18" charset="0"/>
                                      </a:rPr>
                                      <m:t>2</m:t>
                                    </m:r>
                                  </m:sup>
                                </m:sSubSup>
                                <m:r>
                                  <a:rPr lang="en-US" altLang="zh-CN" i="1">
                                    <a:latin typeface="Cambria Math" panose="02040503050406030204" pitchFamily="18" charset="0"/>
                                    <a:ea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𝑣</m:t>
                                    </m:r>
                                  </m:e>
                                  <m:sup>
                                    <m:r>
                                      <a:rPr lang="en-US" altLang="zh-CN" i="1">
                                        <a:latin typeface="Cambria Math" panose="02040503050406030204" pitchFamily="18" charset="0"/>
                                      </a:rPr>
                                      <m:t>2</m:t>
                                    </m:r>
                                  </m:sup>
                                </m:sSup>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𝐼</m:t>
                                    </m:r>
                                  </m:e>
                                  <m:sub>
                                    <m:r>
                                      <a:rPr lang="en-US" altLang="zh-CN" i="1">
                                        <a:latin typeface="Cambria Math" panose="02040503050406030204" pitchFamily="18" charset="0"/>
                                      </a:rPr>
                                      <m:t>𝑦</m:t>
                                    </m:r>
                                  </m:sub>
                                  <m:sup>
                                    <m:r>
                                      <a:rPr lang="en-US" altLang="zh-CN" i="1">
                                        <a:latin typeface="Cambria Math" panose="02040503050406030204" pitchFamily="18" charset="0"/>
                                      </a:rPr>
                                      <m:t>2</m:t>
                                    </m:r>
                                  </m:sup>
                                </m:sSubSup>
                                <m:r>
                                  <a:rPr lang="en-US" altLang="zh-CN" i="1">
                                    <a:latin typeface="Cambria Math" panose="02040503050406030204" pitchFamily="18" charset="0"/>
                                  </a:rPr>
                                  <m:t>+2</m:t>
                                </m:r>
                                <m:r>
                                  <a:rPr lang="en-US" altLang="zh-CN" i="1">
                                    <a:latin typeface="Cambria Math" panose="02040503050406030204" pitchFamily="18" charset="0"/>
                                  </a:rPr>
                                  <m:t>𝑢𝑣</m:t>
                                </m:r>
                                <m:sSub>
                                  <m:sSubPr>
                                    <m:ctrlPr>
                                      <a:rPr lang="en-US" altLang="zh-CN" i="1">
                                        <a:latin typeface="Cambria Math" panose="02040503050406030204" pitchFamily="18" charset="0"/>
                                      </a:rPr>
                                    </m:ctrlPr>
                                  </m:sSubPr>
                                  <m:e>
                                    <m:r>
                                      <a:rPr lang="en-US" altLang="zh-CN" i="1">
                                        <a:latin typeface="Cambria Math" panose="02040503050406030204" pitchFamily="18" charset="0"/>
                                      </a:rPr>
                                      <m:t>𝐼</m:t>
                                    </m:r>
                                  </m:e>
                                  <m:sub>
                                    <m:r>
                                      <a:rPr lang="en-US" altLang="zh-CN" i="1">
                                        <a:latin typeface="Cambria Math" panose="02040503050406030204" pitchFamily="18" charset="0"/>
                                      </a:rPr>
                                      <m:t>𝑥</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𝐼</m:t>
                                    </m:r>
                                  </m:e>
                                  <m:sub>
                                    <m:r>
                                      <a:rPr lang="en-US" altLang="zh-CN" i="1">
                                        <a:latin typeface="Cambria Math" panose="02040503050406030204" pitchFamily="18" charset="0"/>
                                      </a:rPr>
                                      <m:t>𝑦</m:t>
                                    </m:r>
                                  </m:sub>
                                </m:sSub>
                              </m:e>
                            </m:d>
                          </m:e>
                          <m:sup>
                            <m:r>
                              <a:rPr lang="en-US" altLang="zh-CN" i="1">
                                <a:latin typeface="Cambria Math" panose="02040503050406030204" pitchFamily="18" charset="0"/>
                              </a:rPr>
                              <m:t>2</m:t>
                            </m:r>
                          </m:sup>
                        </m:sSup>
                      </m:e>
                    </m:nary>
                  </m:oMath>
                </a14:m>
                <a:endParaRPr lang="zh-CN" altLang="en-US" dirty="0"/>
              </a:p>
            </p:txBody>
          </p:sp>
        </mc:Choice>
        <mc:Fallback xmlns="">
          <p:sp>
            <p:nvSpPr>
              <p:cNvPr id="3" name="Content Placeholder 2">
                <a:extLst>
                  <a:ext uri="{FF2B5EF4-FFF2-40B4-BE49-F238E27FC236}">
                    <a16:creationId xmlns:a16="http://schemas.microsoft.com/office/drawing/2014/main" id="{7FA301B8-56F3-4124-AD58-F8D3129211D3}"/>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zh-CN" altLang="en-US">
                    <a:noFill/>
                  </a:rPr>
                  <a:t> </a:t>
                </a:r>
              </a:p>
            </p:txBody>
          </p:sp>
        </mc:Fallback>
      </mc:AlternateContent>
      <p:pic>
        <p:nvPicPr>
          <p:cNvPr id="19" name="Picture 18">
            <a:extLst>
              <a:ext uri="{FF2B5EF4-FFF2-40B4-BE49-F238E27FC236}">
                <a16:creationId xmlns:a16="http://schemas.microsoft.com/office/drawing/2014/main" id="{8BCEAD41-8125-4847-A7C2-62537634828A}"/>
              </a:ext>
            </a:extLst>
          </p:cNvPr>
          <p:cNvPicPr>
            <a:picLocks noChangeAspect="1"/>
          </p:cNvPicPr>
          <p:nvPr/>
        </p:nvPicPr>
        <p:blipFill>
          <a:blip r:embed="rId3"/>
          <a:stretch>
            <a:fillRect/>
          </a:stretch>
        </p:blipFill>
        <p:spPr>
          <a:xfrm>
            <a:off x="916809" y="3279434"/>
            <a:ext cx="3240325" cy="3032466"/>
          </a:xfrm>
          <a:prstGeom prst="rect">
            <a:avLst/>
          </a:prstGeom>
        </p:spPr>
      </p:pic>
      <p:pic>
        <p:nvPicPr>
          <p:cNvPr id="34" name="Picture 33">
            <a:extLst>
              <a:ext uri="{FF2B5EF4-FFF2-40B4-BE49-F238E27FC236}">
                <a16:creationId xmlns:a16="http://schemas.microsoft.com/office/drawing/2014/main" id="{7E2423AB-EFCA-41BB-BBC9-A560304993AF}"/>
              </a:ext>
            </a:extLst>
          </p:cNvPr>
          <p:cNvPicPr>
            <a:picLocks noChangeAspect="1"/>
          </p:cNvPicPr>
          <p:nvPr/>
        </p:nvPicPr>
        <p:blipFill>
          <a:blip r:embed="rId4"/>
          <a:stretch>
            <a:fillRect/>
          </a:stretch>
        </p:blipFill>
        <p:spPr>
          <a:xfrm>
            <a:off x="4562710" y="4001294"/>
            <a:ext cx="3371380" cy="1402202"/>
          </a:xfrm>
          <a:prstGeom prst="rect">
            <a:avLst/>
          </a:prstGeom>
        </p:spPr>
      </p:pic>
      <p:pic>
        <p:nvPicPr>
          <p:cNvPr id="48" name="Picture 47">
            <a:extLst>
              <a:ext uri="{FF2B5EF4-FFF2-40B4-BE49-F238E27FC236}">
                <a16:creationId xmlns:a16="http://schemas.microsoft.com/office/drawing/2014/main" id="{206F87B6-619C-4EF6-BF92-A2FEEB60B167}"/>
              </a:ext>
            </a:extLst>
          </p:cNvPr>
          <p:cNvPicPr>
            <a:picLocks noChangeAspect="1"/>
          </p:cNvPicPr>
          <p:nvPr/>
        </p:nvPicPr>
        <p:blipFill>
          <a:blip r:embed="rId5"/>
          <a:stretch>
            <a:fillRect/>
          </a:stretch>
        </p:blipFill>
        <p:spPr>
          <a:xfrm>
            <a:off x="8339666" y="3987800"/>
            <a:ext cx="3310415" cy="1396105"/>
          </a:xfrm>
          <a:prstGeom prst="rect">
            <a:avLst/>
          </a:prstGeom>
        </p:spPr>
      </p:pic>
    </p:spTree>
    <p:extLst>
      <p:ext uri="{BB962C8B-B14F-4D97-AF65-F5344CB8AC3E}">
        <p14:creationId xmlns:p14="http://schemas.microsoft.com/office/powerpoint/2010/main" val="392540947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57E99-6539-424E-9DB3-867A2F97C7DF}"/>
              </a:ext>
            </a:extLst>
          </p:cNvPr>
          <p:cNvSpPr>
            <a:spLocks noGrp="1"/>
          </p:cNvSpPr>
          <p:nvPr>
            <p:ph type="title"/>
          </p:nvPr>
        </p:nvSpPr>
        <p:spPr/>
        <p:txBody>
          <a:bodyPr/>
          <a:lstStyle/>
          <a:p>
            <a:r>
              <a:rPr lang="en-US" altLang="zh-CN" b="1" dirty="0"/>
              <a:t>Harris</a:t>
            </a:r>
            <a:r>
              <a:rPr lang="zh-CN" altLang="en-US" b="1" dirty="0"/>
              <a:t>角点检测</a:t>
            </a:r>
            <a:endParaRPr lang="zh-CN" altLang="en-US" dirty="0"/>
          </a:p>
        </p:txBody>
      </p:sp>
      <p:sp>
        <p:nvSpPr>
          <p:cNvPr id="3" name="Content Placeholder 2">
            <a:extLst>
              <a:ext uri="{FF2B5EF4-FFF2-40B4-BE49-F238E27FC236}">
                <a16:creationId xmlns:a16="http://schemas.microsoft.com/office/drawing/2014/main" id="{8A83CC3C-1DD4-46E1-8CCB-429A5686AC09}"/>
              </a:ext>
            </a:extLst>
          </p:cNvPr>
          <p:cNvSpPr>
            <a:spLocks noGrp="1"/>
          </p:cNvSpPr>
          <p:nvPr>
            <p:ph idx="1"/>
          </p:nvPr>
        </p:nvSpPr>
        <p:spPr/>
        <p:txBody>
          <a:bodyPr/>
          <a:lstStyle/>
          <a:p>
            <a:endParaRPr lang="zh-CN" altLang="en-US"/>
          </a:p>
        </p:txBody>
      </p:sp>
      <p:pic>
        <p:nvPicPr>
          <p:cNvPr id="4" name="Picture 3">
            <a:extLst>
              <a:ext uri="{FF2B5EF4-FFF2-40B4-BE49-F238E27FC236}">
                <a16:creationId xmlns:a16="http://schemas.microsoft.com/office/drawing/2014/main" id="{2D5ED9CA-1900-4422-AFEE-03D435A2A6B6}"/>
              </a:ext>
            </a:extLst>
          </p:cNvPr>
          <p:cNvPicPr>
            <a:picLocks noChangeAspect="1"/>
          </p:cNvPicPr>
          <p:nvPr/>
        </p:nvPicPr>
        <p:blipFill>
          <a:blip r:embed="rId2"/>
          <a:stretch>
            <a:fillRect/>
          </a:stretch>
        </p:blipFill>
        <p:spPr>
          <a:xfrm>
            <a:off x="1597059" y="1690688"/>
            <a:ext cx="8997882" cy="5001338"/>
          </a:xfrm>
          <a:prstGeom prst="rect">
            <a:avLst/>
          </a:prstGeom>
        </p:spPr>
      </p:pic>
    </p:spTree>
    <p:extLst>
      <p:ext uri="{BB962C8B-B14F-4D97-AF65-F5344CB8AC3E}">
        <p14:creationId xmlns:p14="http://schemas.microsoft.com/office/powerpoint/2010/main" val="192465092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62EF-1F47-4241-B4FE-90BD0F142465}"/>
              </a:ext>
            </a:extLst>
          </p:cNvPr>
          <p:cNvSpPr>
            <a:spLocks noGrp="1"/>
          </p:cNvSpPr>
          <p:nvPr>
            <p:ph type="title"/>
          </p:nvPr>
        </p:nvSpPr>
        <p:spPr/>
        <p:txBody>
          <a:bodyPr/>
          <a:lstStyle/>
          <a:p>
            <a:r>
              <a:rPr lang="en-US" altLang="zh-CN" b="1" dirty="0"/>
              <a:t>Harris</a:t>
            </a:r>
            <a:r>
              <a:rPr lang="zh-CN" altLang="en-US" b="1" dirty="0"/>
              <a:t>角点检测</a:t>
            </a:r>
            <a:endParaRPr lang="zh-CN" alt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BA83099-C567-4E6B-A0C9-E8DC10F89362}"/>
                  </a:ext>
                </a:extLst>
              </p:cNvPr>
              <p:cNvSpPr>
                <a:spLocks noGrp="1"/>
              </p:cNvSpPr>
              <p:nvPr>
                <p:ph idx="1"/>
              </p:nvPr>
            </p:nvSpPr>
            <p:spPr/>
            <p:txBody>
              <a:bodyPr>
                <a:normAutofit lnSpcReduction="10000"/>
              </a:bodyPr>
              <a:lstStyle/>
              <a:p>
                <a14:m>
                  <m:oMath xmlns:m="http://schemas.openxmlformats.org/officeDocument/2006/math">
                    <m:r>
                      <a:rPr lang="en-US" altLang="zh-CN" i="1" smtClean="0">
                        <a:latin typeface="Cambria Math" panose="02040503050406030204" pitchFamily="18" charset="0"/>
                      </a:rPr>
                      <m:t>𝐸</m:t>
                    </m:r>
                    <m:d>
                      <m:dPr>
                        <m:ctrlPr>
                          <a:rPr lang="en-US" altLang="zh-CN" i="1">
                            <a:latin typeface="Cambria Math" panose="02040503050406030204" pitchFamily="18" charset="0"/>
                          </a:rPr>
                        </m:ctrlPr>
                      </m:dPr>
                      <m:e>
                        <m:r>
                          <a:rPr lang="en-US" altLang="zh-CN" i="1">
                            <a:latin typeface="Cambria Math" panose="02040503050406030204" pitchFamily="18" charset="0"/>
                          </a:rPr>
                          <m:t>𝑢</m:t>
                        </m:r>
                        <m:r>
                          <a:rPr lang="en-US" altLang="zh-CN" i="1">
                            <a:latin typeface="Cambria Math" panose="02040503050406030204" pitchFamily="18" charset="0"/>
                          </a:rPr>
                          <m:t>,</m:t>
                        </m:r>
                        <m:r>
                          <a:rPr lang="en-US" altLang="zh-CN" i="1">
                            <a:latin typeface="Cambria Math" panose="02040503050406030204" pitchFamily="18" charset="0"/>
                          </a:rPr>
                          <m:t>𝑣</m:t>
                        </m:r>
                      </m:e>
                    </m:d>
                    <m:r>
                      <a:rPr lang="en-US" altLang="zh-CN" i="1">
                        <a:latin typeface="Cambria Math" panose="02040503050406030204" pitchFamily="18" charset="0"/>
                        <a:ea typeface="Cambria Math" panose="02040503050406030204" pitchFamily="18" charset="0"/>
                      </a:rPr>
                      <m:t>≈</m:t>
                    </m:r>
                    <m:nary>
                      <m:naryPr>
                        <m:chr m:val="∑"/>
                        <m:supHide m:val="on"/>
                        <m:ctrlPr>
                          <a:rPr lang="en-US" altLang="zh-CN" i="1">
                            <a:latin typeface="Cambria Math" panose="02040503050406030204" pitchFamily="18" charset="0"/>
                          </a:rPr>
                        </m:ctrlPr>
                      </m:naryPr>
                      <m:sub>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e>
                        </m:d>
                      </m:sub>
                      <m:sup/>
                      <m:e>
                        <m:r>
                          <a:rPr lang="en-US" altLang="zh-CN" i="1">
                            <a:latin typeface="Cambria Math" panose="02040503050406030204" pitchFamily="18" charset="0"/>
                          </a:rPr>
                          <m:t>𝑤</m:t>
                        </m:r>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e>
                        </m:d>
                        <m:sSup>
                          <m:sSupPr>
                            <m:ctrlPr>
                              <a:rPr lang="en-US" altLang="zh-CN" i="1">
                                <a:latin typeface="Cambria Math" panose="02040503050406030204" pitchFamily="18" charset="0"/>
                              </a:rPr>
                            </m:ctrlPr>
                          </m:sSupPr>
                          <m:e>
                            <m:d>
                              <m:dPr>
                                <m:begChr m:val="["/>
                                <m:endChr m:val="]"/>
                                <m:ctrlPr>
                                  <a:rPr lang="en-US" altLang="zh-CN" i="1">
                                    <a:latin typeface="Cambria Math" panose="02040503050406030204" pitchFamily="18" charset="0"/>
                                  </a:rPr>
                                </m:ctrlPr>
                              </m:dPr>
                              <m:e>
                                <m:sSup>
                                  <m:sSupPr>
                                    <m:ctrlPr>
                                      <a:rPr lang="en-US" altLang="zh-CN" i="1">
                                        <a:latin typeface="Cambria Math" panose="02040503050406030204" pitchFamily="18" charset="0"/>
                                      </a:rPr>
                                    </m:ctrlPr>
                                  </m:sSupPr>
                                  <m:e>
                                    <m:r>
                                      <a:rPr lang="en-US" altLang="zh-CN" i="1">
                                        <a:latin typeface="Cambria Math" panose="02040503050406030204" pitchFamily="18" charset="0"/>
                                      </a:rPr>
                                      <m:t>𝑢</m:t>
                                    </m:r>
                                  </m:e>
                                  <m:sup>
                                    <m:r>
                                      <a:rPr lang="en-US" altLang="zh-CN" i="1">
                                        <a:latin typeface="Cambria Math" panose="02040503050406030204" pitchFamily="18" charset="0"/>
                                      </a:rPr>
                                      <m:t>2</m:t>
                                    </m:r>
                                  </m:sup>
                                </m:sSup>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𝐼</m:t>
                                    </m:r>
                                  </m:e>
                                  <m:sub>
                                    <m:r>
                                      <a:rPr lang="en-US" altLang="zh-CN" i="1">
                                        <a:latin typeface="Cambria Math" panose="02040503050406030204" pitchFamily="18" charset="0"/>
                                      </a:rPr>
                                      <m:t>𝑥</m:t>
                                    </m:r>
                                  </m:sub>
                                  <m:sup>
                                    <m:r>
                                      <a:rPr lang="en-US" altLang="zh-CN" i="1">
                                        <a:latin typeface="Cambria Math" panose="02040503050406030204" pitchFamily="18" charset="0"/>
                                      </a:rPr>
                                      <m:t>2</m:t>
                                    </m:r>
                                  </m:sup>
                                </m:sSubSup>
                                <m:r>
                                  <a:rPr lang="en-US" altLang="zh-CN" i="1">
                                    <a:latin typeface="Cambria Math" panose="02040503050406030204" pitchFamily="18" charset="0"/>
                                    <a:ea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𝑣</m:t>
                                    </m:r>
                                  </m:e>
                                  <m:sup>
                                    <m:r>
                                      <a:rPr lang="en-US" altLang="zh-CN" i="1">
                                        <a:latin typeface="Cambria Math" panose="02040503050406030204" pitchFamily="18" charset="0"/>
                                      </a:rPr>
                                      <m:t>2</m:t>
                                    </m:r>
                                  </m:sup>
                                </m:sSup>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𝐼</m:t>
                                    </m:r>
                                  </m:e>
                                  <m:sub>
                                    <m:r>
                                      <a:rPr lang="en-US" altLang="zh-CN" i="1">
                                        <a:latin typeface="Cambria Math" panose="02040503050406030204" pitchFamily="18" charset="0"/>
                                      </a:rPr>
                                      <m:t>𝑦</m:t>
                                    </m:r>
                                  </m:sub>
                                  <m:sup>
                                    <m:r>
                                      <a:rPr lang="en-US" altLang="zh-CN" i="1">
                                        <a:latin typeface="Cambria Math" panose="02040503050406030204" pitchFamily="18" charset="0"/>
                                      </a:rPr>
                                      <m:t>2</m:t>
                                    </m:r>
                                  </m:sup>
                                </m:sSubSup>
                                <m:r>
                                  <a:rPr lang="en-US" altLang="zh-CN" i="1">
                                    <a:latin typeface="Cambria Math" panose="02040503050406030204" pitchFamily="18" charset="0"/>
                                  </a:rPr>
                                  <m:t>+2</m:t>
                                </m:r>
                                <m:r>
                                  <a:rPr lang="en-US" altLang="zh-CN" i="1">
                                    <a:latin typeface="Cambria Math" panose="02040503050406030204" pitchFamily="18" charset="0"/>
                                  </a:rPr>
                                  <m:t>𝑢𝑣</m:t>
                                </m:r>
                                <m:sSub>
                                  <m:sSubPr>
                                    <m:ctrlPr>
                                      <a:rPr lang="en-US" altLang="zh-CN" i="1">
                                        <a:latin typeface="Cambria Math" panose="02040503050406030204" pitchFamily="18" charset="0"/>
                                      </a:rPr>
                                    </m:ctrlPr>
                                  </m:sSubPr>
                                  <m:e>
                                    <m:r>
                                      <a:rPr lang="en-US" altLang="zh-CN" i="1">
                                        <a:latin typeface="Cambria Math" panose="02040503050406030204" pitchFamily="18" charset="0"/>
                                      </a:rPr>
                                      <m:t>𝐼</m:t>
                                    </m:r>
                                  </m:e>
                                  <m:sub>
                                    <m:r>
                                      <a:rPr lang="en-US" altLang="zh-CN" i="1">
                                        <a:latin typeface="Cambria Math" panose="02040503050406030204" pitchFamily="18" charset="0"/>
                                      </a:rPr>
                                      <m:t>𝑥</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𝐼</m:t>
                                    </m:r>
                                  </m:e>
                                  <m:sub>
                                    <m:r>
                                      <a:rPr lang="en-US" altLang="zh-CN" i="1">
                                        <a:latin typeface="Cambria Math" panose="02040503050406030204" pitchFamily="18" charset="0"/>
                                      </a:rPr>
                                      <m:t>𝑦</m:t>
                                    </m:r>
                                  </m:sub>
                                </m:sSub>
                              </m:e>
                            </m:d>
                          </m:e>
                          <m:sup>
                            <m:r>
                              <a:rPr lang="en-US" altLang="zh-CN" i="1">
                                <a:latin typeface="Cambria Math" panose="02040503050406030204" pitchFamily="18" charset="0"/>
                              </a:rPr>
                              <m:t>2</m:t>
                            </m:r>
                          </m:sup>
                        </m:sSup>
                      </m:e>
                    </m:nary>
                  </m:oMath>
                </a14:m>
                <a:endParaRPr lang="en-US" altLang="zh-CN" i="1" dirty="0">
                  <a:latin typeface="Cambria Math" panose="02040503050406030204" pitchFamily="18" charset="0"/>
                </a:endParaRPr>
              </a:p>
              <a:p>
                <a:pPr marL="0" indent="0">
                  <a:buNone/>
                </a:pPr>
                <a:r>
                  <a:rPr lang="zh-CN" altLang="en-US" dirty="0"/>
                  <a:t>             </a:t>
                </a:r>
                <a14:m>
                  <m:oMath xmlns:m="http://schemas.openxmlformats.org/officeDocument/2006/math">
                    <m:r>
                      <a:rPr lang="en-US" altLang="zh-CN" b="0" i="0" smtClean="0">
                        <a:latin typeface="Cambria Math" panose="02040503050406030204" pitchFamily="18" charset="0"/>
                      </a:rPr>
                      <m:t>   </m:t>
                    </m:r>
                    <m:r>
                      <a:rPr lang="zh-CN" altLang="en-US" i="1" smtClean="0">
                        <a:latin typeface="Cambria Math" panose="02040503050406030204" pitchFamily="18" charset="0"/>
                      </a:rPr>
                      <m:t>≈</m:t>
                    </m:r>
                    <m:d>
                      <m:dPr>
                        <m:begChr m:val="["/>
                        <m:endChr m:val="]"/>
                        <m:ctrlPr>
                          <a:rPr lang="en-US" altLang="zh-CN" i="1" smtClean="0">
                            <a:latin typeface="Cambria Math" panose="02040503050406030204" pitchFamily="18" charset="0"/>
                          </a:rPr>
                        </m:ctrlPr>
                      </m:dPr>
                      <m:e>
                        <m:m>
                          <m:mPr>
                            <m:mcs>
                              <m:mc>
                                <m:mcPr>
                                  <m:count m:val="2"/>
                                  <m:mcJc m:val="center"/>
                                </m:mcPr>
                              </m:mc>
                            </m:mcs>
                            <m:ctrlPr>
                              <a:rPr lang="en-US" altLang="zh-CN" i="1" smtClean="0">
                                <a:latin typeface="Cambria Math" panose="02040503050406030204" pitchFamily="18" charset="0"/>
                              </a:rPr>
                            </m:ctrlPr>
                          </m:mPr>
                          <m:mr>
                            <m:e>
                              <m:r>
                                <m:rPr>
                                  <m:brk m:alnAt="7"/>
                                </m:rPr>
                                <a:rPr lang="en-US" altLang="zh-CN" b="0" i="1" smtClean="0">
                                  <a:latin typeface="Cambria Math" panose="02040503050406030204" pitchFamily="18" charset="0"/>
                                </a:rPr>
                                <m:t>𝑢</m:t>
                              </m:r>
                            </m:e>
                            <m:e>
                              <m:r>
                                <a:rPr lang="en-US" altLang="zh-CN" b="0" i="1" smtClean="0">
                                  <a:latin typeface="Cambria Math" panose="02040503050406030204" pitchFamily="18" charset="0"/>
                                </a:rPr>
                                <m:t>𝑣</m:t>
                              </m:r>
                            </m:e>
                          </m:mr>
                        </m:m>
                      </m:e>
                    </m:d>
                    <m:r>
                      <a:rPr lang="en-US" altLang="zh-CN" b="0" i="1" smtClean="0">
                        <a:latin typeface="Cambria Math" panose="02040503050406030204" pitchFamily="18" charset="0"/>
                      </a:rPr>
                      <m:t>𝑀</m:t>
                    </m:r>
                    <m:d>
                      <m:dPr>
                        <m:begChr m:val="["/>
                        <m:endChr m:val="]"/>
                        <m:ctrlPr>
                          <a:rPr lang="en-US" altLang="zh-CN" i="1">
                            <a:latin typeface="Cambria Math" panose="02040503050406030204" pitchFamily="18" charset="0"/>
                          </a:rPr>
                        </m:ctrlPr>
                      </m:dPr>
                      <m:e>
                        <m:m>
                          <m:mPr>
                            <m:mcs>
                              <m:mc>
                                <m:mcPr>
                                  <m:count m:val="1"/>
                                  <m:mcJc m:val="center"/>
                                </m:mcPr>
                              </m:mc>
                            </m:mcs>
                            <m:ctrlPr>
                              <a:rPr lang="en-US" altLang="zh-CN" i="1" smtClean="0">
                                <a:latin typeface="Cambria Math" panose="02040503050406030204" pitchFamily="18" charset="0"/>
                              </a:rPr>
                            </m:ctrlPr>
                          </m:mPr>
                          <m:mr>
                            <m:e>
                              <m:r>
                                <m:rPr>
                                  <m:brk m:alnAt="7"/>
                                </m:rPr>
                                <a:rPr lang="en-US" altLang="zh-CN" b="0" i="1" smtClean="0">
                                  <a:latin typeface="Cambria Math" panose="02040503050406030204" pitchFamily="18" charset="0"/>
                                </a:rPr>
                                <m:t>𝑢</m:t>
                              </m:r>
                            </m:e>
                          </m:mr>
                          <m:mr>
                            <m:e>
                              <m:r>
                                <a:rPr lang="en-US" altLang="zh-CN" b="0" i="1" smtClean="0">
                                  <a:latin typeface="Cambria Math" panose="02040503050406030204" pitchFamily="18" charset="0"/>
                                </a:rPr>
                                <m:t>𝑣</m:t>
                              </m:r>
                            </m:e>
                          </m:mr>
                        </m:m>
                      </m:e>
                    </m:d>
                  </m:oMath>
                </a14:m>
                <a:endParaRPr lang="en-US" altLang="zh-CN" dirty="0"/>
              </a:p>
              <a:p>
                <a:pPr marL="0" indent="0">
                  <a:buNone/>
                </a:pPr>
                <a:endParaRPr lang="en-US" altLang="zh-CN" dirty="0"/>
              </a:p>
              <a:p>
                <a14:m>
                  <m:oMath xmlns:m="http://schemas.openxmlformats.org/officeDocument/2006/math">
                    <m:r>
                      <a:rPr lang="en-US" altLang="zh-CN" b="0" i="1" smtClean="0">
                        <a:latin typeface="Cambria Math" panose="02040503050406030204" pitchFamily="18" charset="0"/>
                      </a:rPr>
                      <m:t>𝑀</m:t>
                    </m:r>
                    <m:r>
                      <a:rPr lang="en-US" altLang="zh-CN" b="0" i="1" smtClean="0">
                        <a:latin typeface="Cambria Math" panose="02040503050406030204" pitchFamily="18" charset="0"/>
                      </a:rPr>
                      <m:t>=</m:t>
                    </m:r>
                    <m:nary>
                      <m:naryPr>
                        <m:chr m:val="∑"/>
                        <m:supHide m:val="on"/>
                        <m:ctrlPr>
                          <a:rPr lang="en-US" altLang="zh-CN" b="0" i="1" smtClean="0">
                            <a:latin typeface="Cambria Math" panose="02040503050406030204" pitchFamily="18" charset="0"/>
                          </a:rPr>
                        </m:ctrlPr>
                      </m:naryPr>
                      <m:sub>
                        <m:r>
                          <m:rPr>
                            <m:brk m:alnAt="7"/>
                          </m:rP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sub>
                      <m:sup/>
                      <m:e>
                        <m:r>
                          <a:rPr lang="en-US" altLang="zh-CN" b="0" i="1" smtClean="0">
                            <a:latin typeface="Cambria Math" panose="02040503050406030204" pitchFamily="18" charset="0"/>
                          </a:rPr>
                          <m:t>𝑤</m:t>
                        </m:r>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m>
                              <m:mPr>
                                <m:mcs>
                                  <m:mc>
                                    <m:mcPr>
                                      <m:count m:val="2"/>
                                      <m:mcJc m:val="center"/>
                                    </m:mcPr>
                                  </m:mc>
                                </m:mcs>
                                <m:ctrlPr>
                                  <a:rPr lang="en-US" altLang="zh-CN" b="0" i="1" smtClean="0">
                                    <a:latin typeface="Cambria Math" panose="02040503050406030204" pitchFamily="18" charset="0"/>
                                  </a:rPr>
                                </m:ctrlPr>
                              </m:mPr>
                              <m:mr>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𝐼</m:t>
                                      </m:r>
                                    </m:e>
                                    <m:sub>
                                      <m:r>
                                        <a:rPr lang="en-US" altLang="zh-CN" i="1">
                                          <a:latin typeface="Cambria Math" panose="02040503050406030204" pitchFamily="18" charset="0"/>
                                        </a:rPr>
                                        <m:t>𝑥</m:t>
                                      </m:r>
                                    </m:sub>
                                    <m:sup>
                                      <m:r>
                                        <a:rPr lang="en-US" altLang="zh-CN" i="1">
                                          <a:latin typeface="Cambria Math" panose="02040503050406030204" pitchFamily="18" charset="0"/>
                                        </a:rPr>
                                        <m:t>2</m:t>
                                      </m:r>
                                    </m:sup>
                                  </m:sSubSup>
                                </m:e>
                                <m:e>
                                  <m:sSub>
                                    <m:sSubPr>
                                      <m:ctrlPr>
                                        <a:rPr lang="en-US" altLang="zh-CN" i="1">
                                          <a:latin typeface="Cambria Math" panose="02040503050406030204" pitchFamily="18" charset="0"/>
                                        </a:rPr>
                                      </m:ctrlPr>
                                    </m:sSubPr>
                                    <m:e>
                                      <m:r>
                                        <a:rPr lang="en-US" altLang="zh-CN" i="1">
                                          <a:latin typeface="Cambria Math" panose="02040503050406030204" pitchFamily="18" charset="0"/>
                                        </a:rPr>
                                        <m:t>𝐼</m:t>
                                      </m:r>
                                    </m:e>
                                    <m:sub>
                                      <m:r>
                                        <a:rPr lang="en-US" altLang="zh-CN" i="1">
                                          <a:latin typeface="Cambria Math" panose="02040503050406030204" pitchFamily="18" charset="0"/>
                                        </a:rPr>
                                        <m:t>𝑥</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𝐼</m:t>
                                      </m:r>
                                    </m:e>
                                    <m:sub>
                                      <m:r>
                                        <a:rPr lang="en-US" altLang="zh-CN" i="1">
                                          <a:latin typeface="Cambria Math" panose="02040503050406030204" pitchFamily="18" charset="0"/>
                                        </a:rPr>
                                        <m:t>𝑦</m:t>
                                      </m:r>
                                    </m:sub>
                                  </m:sSub>
                                </m:e>
                              </m:mr>
                              <m:mr>
                                <m:e>
                                  <m:sSub>
                                    <m:sSubPr>
                                      <m:ctrlPr>
                                        <a:rPr lang="en-US" altLang="zh-CN" i="1">
                                          <a:latin typeface="Cambria Math" panose="02040503050406030204" pitchFamily="18" charset="0"/>
                                        </a:rPr>
                                      </m:ctrlPr>
                                    </m:sSubPr>
                                    <m:e>
                                      <m:r>
                                        <a:rPr lang="en-US" altLang="zh-CN" i="1">
                                          <a:latin typeface="Cambria Math" panose="02040503050406030204" pitchFamily="18" charset="0"/>
                                        </a:rPr>
                                        <m:t>𝐼</m:t>
                                      </m:r>
                                    </m:e>
                                    <m:sub>
                                      <m:r>
                                        <a:rPr lang="en-US" altLang="zh-CN" i="1">
                                          <a:latin typeface="Cambria Math" panose="02040503050406030204" pitchFamily="18" charset="0"/>
                                        </a:rPr>
                                        <m:t>𝑥</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𝐼</m:t>
                                      </m:r>
                                    </m:e>
                                    <m:sub>
                                      <m:r>
                                        <a:rPr lang="en-US" altLang="zh-CN" i="1">
                                          <a:latin typeface="Cambria Math" panose="02040503050406030204" pitchFamily="18" charset="0"/>
                                        </a:rPr>
                                        <m:t>𝑦</m:t>
                                      </m:r>
                                    </m:sub>
                                  </m:sSub>
                                </m:e>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𝐼</m:t>
                                      </m:r>
                                    </m:e>
                                    <m:sub>
                                      <m:r>
                                        <a:rPr lang="en-US" altLang="zh-CN" i="1">
                                          <a:latin typeface="Cambria Math" panose="02040503050406030204" pitchFamily="18" charset="0"/>
                                        </a:rPr>
                                        <m:t>𝑦</m:t>
                                      </m:r>
                                    </m:sub>
                                    <m:sup>
                                      <m:r>
                                        <a:rPr lang="en-US" altLang="zh-CN" i="1">
                                          <a:latin typeface="Cambria Math" panose="02040503050406030204" pitchFamily="18" charset="0"/>
                                        </a:rPr>
                                        <m:t>2</m:t>
                                      </m:r>
                                    </m:sup>
                                  </m:sSubSup>
                                </m:e>
                              </m:mr>
                            </m:m>
                          </m:e>
                        </m:d>
                      </m:e>
                    </m:nary>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m>
                          <m:mPr>
                            <m:mcs>
                              <m:mc>
                                <m:mcPr>
                                  <m:count m:val="2"/>
                                  <m:mcJc m:val="center"/>
                                </m:mcPr>
                              </m:mc>
                            </m:mcs>
                            <m:ctrlPr>
                              <a:rPr lang="en-US" altLang="zh-CN" b="0" i="1" smtClean="0">
                                <a:latin typeface="Cambria Math" panose="02040503050406030204" pitchFamily="18" charset="0"/>
                              </a:rPr>
                            </m:ctrlPr>
                          </m:mPr>
                          <m:mr>
                            <m:e>
                              <m:r>
                                <m:rPr>
                                  <m:brk m:alnAt="7"/>
                                </m:rPr>
                                <a:rPr lang="en-US" altLang="zh-CN" b="0" i="1" smtClean="0">
                                  <a:latin typeface="Cambria Math" panose="02040503050406030204" pitchFamily="18" charset="0"/>
                                </a:rPr>
                                <m:t>𝐴</m:t>
                              </m:r>
                            </m:e>
                            <m:e>
                              <m:r>
                                <a:rPr lang="en-US" altLang="zh-CN" b="0" i="1" smtClean="0">
                                  <a:latin typeface="Cambria Math" panose="02040503050406030204" pitchFamily="18" charset="0"/>
                                </a:rPr>
                                <m:t>𝐶</m:t>
                              </m:r>
                            </m:e>
                          </m:mr>
                          <m:mr>
                            <m:e>
                              <m:r>
                                <a:rPr lang="en-US" altLang="zh-CN" b="0" i="1" smtClean="0">
                                  <a:latin typeface="Cambria Math" panose="02040503050406030204" pitchFamily="18" charset="0"/>
                                </a:rPr>
                                <m:t>𝐶</m:t>
                              </m:r>
                            </m:e>
                            <m:e>
                              <m:r>
                                <a:rPr lang="en-US" altLang="zh-CN" b="0" i="1" smtClean="0">
                                  <a:latin typeface="Cambria Math" panose="02040503050406030204" pitchFamily="18" charset="0"/>
                                </a:rPr>
                                <m:t>𝐵</m:t>
                              </m:r>
                            </m:e>
                          </m:mr>
                        </m:m>
                      </m:e>
                    </m:d>
                  </m:oMath>
                </a14:m>
                <a:endParaRPr lang="en-US" altLang="zh-CN" dirty="0"/>
              </a:p>
              <a:p>
                <a:endParaRPr lang="en-US" altLang="zh-CN" dirty="0"/>
              </a:p>
              <a:p>
                <a14:m>
                  <m:oMath xmlns:m="http://schemas.openxmlformats.org/officeDocument/2006/math">
                    <m:r>
                      <a:rPr lang="en-US" altLang="zh-CN" i="1">
                        <a:latin typeface="Cambria Math" panose="02040503050406030204" pitchFamily="18" charset="0"/>
                      </a:rPr>
                      <m:t>𝐸</m:t>
                    </m:r>
                    <m:d>
                      <m:dPr>
                        <m:ctrlPr>
                          <a:rPr lang="en-US" altLang="zh-CN" i="1">
                            <a:latin typeface="Cambria Math" panose="02040503050406030204" pitchFamily="18" charset="0"/>
                          </a:rPr>
                        </m:ctrlPr>
                      </m:dPr>
                      <m:e>
                        <m:r>
                          <a:rPr lang="en-US" altLang="zh-CN" i="1">
                            <a:latin typeface="Cambria Math" panose="02040503050406030204" pitchFamily="18" charset="0"/>
                          </a:rPr>
                          <m:t>𝑢</m:t>
                        </m:r>
                        <m:r>
                          <a:rPr lang="en-US" altLang="zh-CN" i="1">
                            <a:latin typeface="Cambria Math" panose="02040503050406030204" pitchFamily="18" charset="0"/>
                          </a:rPr>
                          <m:t>,</m:t>
                        </m:r>
                        <m:r>
                          <a:rPr lang="en-US" altLang="zh-CN" i="1">
                            <a:latin typeface="Cambria Math" panose="02040503050406030204" pitchFamily="18" charset="0"/>
                          </a:rPr>
                          <m:t>𝑣</m:t>
                        </m:r>
                      </m:e>
                    </m:d>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𝐴</m:t>
                    </m:r>
                    <m:sSup>
                      <m:sSupPr>
                        <m:ctrlPr>
                          <a:rPr lang="en-US" altLang="zh-CN" i="1">
                            <a:latin typeface="Cambria Math" panose="02040503050406030204" pitchFamily="18" charset="0"/>
                          </a:rPr>
                        </m:ctrlPr>
                      </m:sSupPr>
                      <m:e>
                        <m:r>
                          <a:rPr lang="en-US" altLang="zh-CN" i="1">
                            <a:latin typeface="Cambria Math" panose="02040503050406030204" pitchFamily="18" charset="0"/>
                          </a:rPr>
                          <m:t>𝑢</m:t>
                        </m:r>
                      </m:e>
                      <m:sup>
                        <m:r>
                          <a:rPr lang="en-US" altLang="zh-CN" i="1">
                            <a:latin typeface="Cambria Math" panose="02040503050406030204" pitchFamily="18" charset="0"/>
                          </a:rPr>
                          <m:t>2</m:t>
                        </m:r>
                      </m:sup>
                    </m:sSup>
                    <m:r>
                      <a:rPr lang="en-US" altLang="zh-CN" b="0" i="1" smtClean="0">
                        <a:latin typeface="Cambria Math" panose="02040503050406030204" pitchFamily="18" charset="0"/>
                      </a:rPr>
                      <m:t>+2</m:t>
                    </m:r>
                    <m:r>
                      <a:rPr lang="en-US" altLang="zh-CN" b="0" i="1" smtClean="0">
                        <a:latin typeface="Cambria Math" panose="02040503050406030204" pitchFamily="18" charset="0"/>
                      </a:rPr>
                      <m:t>𝐶𝑢𝑣</m:t>
                    </m:r>
                    <m:r>
                      <a:rPr lang="en-US" altLang="zh-CN" b="0" i="1" smtClean="0">
                        <a:latin typeface="Cambria Math" panose="02040503050406030204" pitchFamily="18" charset="0"/>
                      </a:rPr>
                      <m:t>+</m:t>
                    </m:r>
                    <m:r>
                      <a:rPr lang="en-US" altLang="zh-CN" b="0" i="1" smtClean="0">
                        <a:latin typeface="Cambria Math" panose="02040503050406030204" pitchFamily="18" charset="0"/>
                      </a:rPr>
                      <m:t>𝐵</m:t>
                    </m:r>
                    <m:sSup>
                      <m:sSupPr>
                        <m:ctrlPr>
                          <a:rPr lang="en-US" altLang="zh-CN" i="1">
                            <a:latin typeface="Cambria Math" panose="02040503050406030204" pitchFamily="18" charset="0"/>
                          </a:rPr>
                        </m:ctrlPr>
                      </m:sSupPr>
                      <m:e>
                        <m:r>
                          <a:rPr lang="en-US" altLang="zh-CN" i="1">
                            <a:latin typeface="Cambria Math" panose="02040503050406030204" pitchFamily="18" charset="0"/>
                          </a:rPr>
                          <m:t>𝑣</m:t>
                        </m:r>
                      </m:e>
                      <m:sup>
                        <m:r>
                          <a:rPr lang="en-US" altLang="zh-CN" i="1">
                            <a:latin typeface="Cambria Math" panose="02040503050406030204" pitchFamily="18" charset="0"/>
                          </a:rPr>
                          <m:t>2</m:t>
                        </m:r>
                      </m:sup>
                    </m:sSup>
                  </m:oMath>
                </a14:m>
                <a:endParaRPr lang="en-US" altLang="zh-CN" dirty="0"/>
              </a:p>
              <a:p>
                <a:pPr marL="0" indent="0">
                  <a:buNone/>
                </a:pPr>
                <a:r>
                  <a:rPr lang="zh-CN" altLang="en-US" dirty="0"/>
                  <a:t>     </a:t>
                </a:r>
              </a:p>
            </p:txBody>
          </p:sp>
        </mc:Choice>
        <mc:Fallback xmlns="">
          <p:sp>
            <p:nvSpPr>
              <p:cNvPr id="3" name="Content Placeholder 2">
                <a:extLst>
                  <a:ext uri="{FF2B5EF4-FFF2-40B4-BE49-F238E27FC236}">
                    <a16:creationId xmlns:a16="http://schemas.microsoft.com/office/drawing/2014/main" id="{5BA83099-C567-4E6B-A0C9-E8DC10F89362}"/>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zh-CN" altLang="en-US">
                    <a:noFill/>
                  </a:rPr>
                  <a:t> </a:t>
                </a:r>
              </a:p>
            </p:txBody>
          </p:sp>
        </mc:Fallback>
      </mc:AlternateContent>
      <p:sp>
        <p:nvSpPr>
          <p:cNvPr id="5" name="Rectangle 4">
            <a:extLst>
              <a:ext uri="{FF2B5EF4-FFF2-40B4-BE49-F238E27FC236}">
                <a16:creationId xmlns:a16="http://schemas.microsoft.com/office/drawing/2014/main" id="{0E4FA3F5-EEF5-4A4C-9331-20D3A29FB7B1}"/>
              </a:ext>
            </a:extLst>
          </p:cNvPr>
          <p:cNvSpPr/>
          <p:nvPr/>
        </p:nvSpPr>
        <p:spPr>
          <a:xfrm>
            <a:off x="2673228" y="5715298"/>
            <a:ext cx="1422184" cy="461665"/>
          </a:xfrm>
          <a:prstGeom prst="rect">
            <a:avLst/>
          </a:prstGeom>
        </p:spPr>
        <p:txBody>
          <a:bodyPr wrap="none">
            <a:spAutoFit/>
          </a:bodyPr>
          <a:lstStyle/>
          <a:p>
            <a:r>
              <a:rPr lang="zh-CN" altLang="en-US" sz="2400" b="1" dirty="0">
                <a:solidFill>
                  <a:srgbClr val="FF0000"/>
                </a:solidFill>
              </a:rPr>
              <a:t>椭圆方程</a:t>
            </a:r>
            <a:endParaRPr lang="zh-CN" altLang="en-US" sz="2400" dirty="0">
              <a:solidFill>
                <a:srgbClr val="FF0000"/>
              </a:solidFill>
            </a:endParaRPr>
          </a:p>
        </p:txBody>
      </p:sp>
    </p:spTree>
    <p:extLst>
      <p:ext uri="{BB962C8B-B14F-4D97-AF65-F5344CB8AC3E}">
        <p14:creationId xmlns:p14="http://schemas.microsoft.com/office/powerpoint/2010/main" val="302758985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BD9EB-6385-44B3-9E3A-B39E9501579B}"/>
              </a:ext>
            </a:extLst>
          </p:cNvPr>
          <p:cNvSpPr>
            <a:spLocks noGrp="1"/>
          </p:cNvSpPr>
          <p:nvPr>
            <p:ph type="title"/>
          </p:nvPr>
        </p:nvSpPr>
        <p:spPr/>
        <p:txBody>
          <a:bodyPr/>
          <a:lstStyle/>
          <a:p>
            <a:r>
              <a:rPr lang="zh-CN" altLang="en-US" b="1" dirty="0"/>
              <a:t>圆的方程</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85D8C17-EBC9-4894-AE66-FF938BE46658}"/>
                  </a:ext>
                </a:extLst>
              </p:cNvPr>
              <p:cNvSpPr>
                <a:spLocks noGrp="1"/>
              </p:cNvSpPr>
              <p:nvPr>
                <p:ph idx="1"/>
              </p:nvPr>
            </p:nvSpPr>
            <p:spPr>
              <a:xfrm>
                <a:off x="838200" y="1825625"/>
                <a:ext cx="6433079" cy="4351338"/>
              </a:xfrm>
            </p:spPr>
            <p:txBody>
              <a:bodyPr/>
              <a:lstStyle/>
              <a:p>
                <a14:m>
                  <m:oMath xmlns:m="http://schemas.openxmlformats.org/officeDocument/2006/math">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r>
                      <a:rPr lang="en-US" altLang="zh-CN" b="0" i="1" smtClean="0">
                        <a:latin typeface="Cambria Math" panose="02040503050406030204" pitchFamily="18" charset="0"/>
                      </a:rPr>
                      <m:t>=</m:t>
                    </m:r>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𝑥</m:t>
                        </m:r>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𝑦</m:t>
                        </m:r>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m>
                          <m:mPr>
                            <m:mcs>
                              <m:mc>
                                <m:mcPr>
                                  <m:count m:val="2"/>
                                  <m:mcJc m:val="center"/>
                                </m:mcPr>
                              </m:mc>
                            </m:mcs>
                            <m:ctrlPr>
                              <a:rPr lang="en-US" altLang="zh-CN" b="0" i="1" smtClean="0">
                                <a:latin typeface="Cambria Math" panose="02040503050406030204" pitchFamily="18" charset="0"/>
                              </a:rPr>
                            </m:ctrlPr>
                          </m:mPr>
                          <m:mr>
                            <m:e>
                              <m:r>
                                <m:rPr>
                                  <m:brk m:alnAt="7"/>
                                </m:rPr>
                                <a:rPr lang="en-US" altLang="zh-CN" b="0" i="1" smtClean="0">
                                  <a:latin typeface="Cambria Math" panose="02040503050406030204" pitchFamily="18" charset="0"/>
                                </a:rPr>
                                <m:t>𝑥</m:t>
                              </m:r>
                            </m:e>
                            <m:e>
                              <m:r>
                                <a:rPr lang="en-US" altLang="zh-CN" b="0" i="1" smtClean="0">
                                  <a:latin typeface="Cambria Math" panose="02040503050406030204" pitchFamily="18" charset="0"/>
                                </a:rPr>
                                <m:t>𝑦</m:t>
                              </m:r>
                            </m:e>
                          </m:mr>
                        </m:m>
                      </m:e>
                    </m:d>
                    <m:d>
                      <m:dPr>
                        <m:begChr m:val="["/>
                        <m:endChr m:val="]"/>
                        <m:ctrlPr>
                          <a:rPr lang="en-US" altLang="zh-CN" b="0" i="1" smtClean="0">
                            <a:latin typeface="Cambria Math" panose="02040503050406030204" pitchFamily="18" charset="0"/>
                          </a:rPr>
                        </m:ctrlPr>
                      </m:dPr>
                      <m:e>
                        <m:m>
                          <m:mPr>
                            <m:mcs>
                              <m:mc>
                                <m:mcPr>
                                  <m:count m:val="2"/>
                                  <m:mcJc m:val="center"/>
                                </m:mcPr>
                              </m:mc>
                            </m:mcs>
                            <m:ctrlPr>
                              <a:rPr lang="en-US" altLang="zh-CN" b="0" i="1" smtClean="0">
                                <a:latin typeface="Cambria Math" panose="02040503050406030204" pitchFamily="18" charset="0"/>
                              </a:rPr>
                            </m:ctrlPr>
                          </m:mPr>
                          <m:mr>
                            <m:e>
                              <m:r>
                                <m:rPr>
                                  <m:brk m:alnAt="7"/>
                                </m:rPr>
                                <a:rPr lang="en-US" altLang="zh-CN" b="0" i="1" smtClean="0">
                                  <a:latin typeface="Cambria Math" panose="02040503050406030204" pitchFamily="18" charset="0"/>
                                </a:rPr>
                                <m:t>1</m:t>
                              </m:r>
                            </m:e>
                            <m:e>
                              <m:r>
                                <a:rPr lang="en-US" altLang="zh-CN" b="0" i="1" smtClean="0">
                                  <a:latin typeface="Cambria Math" panose="02040503050406030204" pitchFamily="18" charset="0"/>
                                </a:rPr>
                                <m:t>0</m:t>
                              </m:r>
                            </m:e>
                          </m:mr>
                          <m:mr>
                            <m:e>
                              <m:r>
                                <a:rPr lang="en-US" altLang="zh-CN" b="0" i="1" smtClean="0">
                                  <a:latin typeface="Cambria Math" panose="02040503050406030204" pitchFamily="18" charset="0"/>
                                </a:rPr>
                                <m:t>0</m:t>
                              </m:r>
                            </m:e>
                            <m:e>
                              <m:r>
                                <a:rPr lang="en-US" altLang="zh-CN" b="0" i="1" smtClean="0">
                                  <a:latin typeface="Cambria Math" panose="02040503050406030204" pitchFamily="18" charset="0"/>
                                </a:rPr>
                                <m:t>1</m:t>
                              </m:r>
                            </m:e>
                          </m:mr>
                        </m:m>
                      </m:e>
                    </m:d>
                    <m:d>
                      <m:dPr>
                        <m:begChr m:val="["/>
                        <m:endChr m:val="]"/>
                        <m:ctrlPr>
                          <a:rPr lang="en-US" altLang="zh-CN" i="1">
                            <a:latin typeface="Cambria Math" panose="02040503050406030204" pitchFamily="18" charset="0"/>
                          </a:rPr>
                        </m:ctrlPr>
                      </m:dPr>
                      <m:e>
                        <m:m>
                          <m:mPr>
                            <m:mcs>
                              <m:mc>
                                <m:mcPr>
                                  <m:count m:val="1"/>
                                  <m:mcJc m:val="center"/>
                                </m:mcPr>
                              </m:mc>
                            </m:mcs>
                            <m:ctrlPr>
                              <a:rPr lang="en-US" altLang="zh-CN" i="1" smtClean="0">
                                <a:latin typeface="Cambria Math" panose="02040503050406030204" pitchFamily="18" charset="0"/>
                              </a:rPr>
                            </m:ctrlPr>
                          </m:mPr>
                          <m:mr>
                            <m:e>
                              <m:r>
                                <m:rPr>
                                  <m:brk m:alnAt="7"/>
                                </m:rPr>
                                <a:rPr lang="en-US" altLang="zh-CN" b="0" i="1" smtClean="0">
                                  <a:latin typeface="Cambria Math" panose="02040503050406030204" pitchFamily="18" charset="0"/>
                                </a:rPr>
                                <m:t>𝑥</m:t>
                              </m:r>
                            </m:e>
                          </m:mr>
                          <m:mr>
                            <m:e>
                              <m:r>
                                <a:rPr lang="en-US" altLang="zh-CN" b="0" i="1" smtClean="0">
                                  <a:latin typeface="Cambria Math" panose="02040503050406030204" pitchFamily="18" charset="0"/>
                                </a:rPr>
                                <m:t>𝑦</m:t>
                              </m:r>
                            </m:e>
                          </m:mr>
                        </m:m>
                      </m:e>
                    </m:d>
                  </m:oMath>
                </a14:m>
                <a:endParaRPr lang="en-US" altLang="zh-CN" i="1" dirty="0">
                  <a:latin typeface="Cambria Math" panose="02040503050406030204" pitchFamily="18" charset="0"/>
                </a:endParaRPr>
              </a:p>
              <a:p>
                <a:endParaRPr lang="en-US" altLang="zh-CN" i="1" dirty="0">
                  <a:latin typeface="Cambria Math" panose="02040503050406030204" pitchFamily="18" charset="0"/>
                </a:endParaRPr>
              </a:p>
              <a:p>
                <a:endParaRPr lang="en-US" altLang="zh-CN" i="1" dirty="0">
                  <a:latin typeface="Cambria Math" panose="02040503050406030204" pitchFamily="18" charset="0"/>
                </a:endParaRPr>
              </a:p>
              <a:p>
                <a14:m>
                  <m:oMath xmlns:m="http://schemas.openxmlformats.org/officeDocument/2006/math">
                    <m:r>
                      <a:rPr lang="en-US" altLang="zh-CN" i="1">
                        <a:latin typeface="Cambria Math" panose="02040503050406030204" pitchFamily="18" charset="0"/>
                      </a:rPr>
                      <m:t>𝑓</m:t>
                    </m:r>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e>
                    </m:d>
                    <m:r>
                      <a:rPr lang="en-US" altLang="zh-CN" i="1">
                        <a:latin typeface="Cambria Math" panose="02040503050406030204" pitchFamily="18" charset="0"/>
                      </a:rPr>
                      <m:t>=</m:t>
                    </m:r>
                    <m:r>
                      <a:rPr lang="en-US" altLang="zh-CN" b="0" i="1" smtClean="0">
                        <a:latin typeface="Cambria Math" panose="02040503050406030204" pitchFamily="18" charset="0"/>
                      </a:rPr>
                      <m:t>1</m:t>
                    </m:r>
                    <m:r>
                      <a:rPr lang="en-US" altLang="zh-CN" b="0" i="0" smtClean="0">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m:rPr>
                                  <m:brk m:alnAt="7"/>
                                </m:rPr>
                                <a:rPr lang="en-US" altLang="zh-CN" i="1">
                                  <a:latin typeface="Cambria Math" panose="02040503050406030204" pitchFamily="18" charset="0"/>
                                </a:rPr>
                                <m:t>𝑥</m:t>
                              </m:r>
                            </m:e>
                            <m:e>
                              <m:r>
                                <a:rPr lang="en-US" altLang="zh-CN" i="1">
                                  <a:latin typeface="Cambria Math" panose="02040503050406030204" pitchFamily="18" charset="0"/>
                                </a:rPr>
                                <m:t>𝑦</m:t>
                              </m:r>
                            </m:e>
                          </m:mr>
                        </m:m>
                      </m:e>
                    </m:d>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m:rPr>
                                  <m:brk m:alnAt="7"/>
                                </m:rPr>
                                <a:rPr lang="en-US" altLang="zh-CN" i="1">
                                  <a:latin typeface="Cambria Math" panose="02040503050406030204" pitchFamily="18" charset="0"/>
                                </a:rPr>
                                <m:t>1</m:t>
                              </m:r>
                            </m:e>
                            <m:e>
                              <m:r>
                                <a:rPr lang="en-US" altLang="zh-CN" i="1">
                                  <a:latin typeface="Cambria Math" panose="02040503050406030204" pitchFamily="18" charset="0"/>
                                </a:rPr>
                                <m:t>0</m:t>
                              </m:r>
                            </m:e>
                          </m:mr>
                          <m:mr>
                            <m:e>
                              <m:r>
                                <a:rPr lang="en-US" altLang="zh-CN" i="1">
                                  <a:latin typeface="Cambria Math" panose="02040503050406030204" pitchFamily="18" charset="0"/>
                                </a:rPr>
                                <m:t>0</m:t>
                              </m:r>
                            </m:e>
                            <m:e>
                              <m:r>
                                <a:rPr lang="en-US" altLang="zh-CN" i="1">
                                  <a:latin typeface="Cambria Math" panose="02040503050406030204" pitchFamily="18" charset="0"/>
                                </a:rPr>
                                <m:t>1</m:t>
                              </m:r>
                            </m:e>
                          </m:mr>
                        </m:m>
                      </m:e>
                    </m:d>
                    <m:d>
                      <m:dPr>
                        <m:begChr m:val="["/>
                        <m:endChr m:val="]"/>
                        <m:ctrlPr>
                          <a:rPr lang="en-US" altLang="zh-CN" i="1">
                            <a:latin typeface="Cambria Math" panose="02040503050406030204" pitchFamily="18" charset="0"/>
                          </a:rPr>
                        </m:ctrlPr>
                      </m:dPr>
                      <m:e>
                        <m:m>
                          <m:mPr>
                            <m:mcs>
                              <m:mc>
                                <m:mcPr>
                                  <m:count m:val="1"/>
                                  <m:mcJc m:val="center"/>
                                </m:mcPr>
                              </m:mc>
                            </m:mcs>
                            <m:ctrlPr>
                              <a:rPr lang="en-US" altLang="zh-CN" i="1">
                                <a:latin typeface="Cambria Math" panose="02040503050406030204" pitchFamily="18" charset="0"/>
                              </a:rPr>
                            </m:ctrlPr>
                          </m:mPr>
                          <m:mr>
                            <m:e>
                              <m:r>
                                <m:rPr>
                                  <m:brk m:alnAt="7"/>
                                </m:rPr>
                                <a:rPr lang="en-US" altLang="zh-CN" i="1">
                                  <a:latin typeface="Cambria Math" panose="02040503050406030204" pitchFamily="18" charset="0"/>
                                </a:rPr>
                                <m:t>𝑥</m:t>
                              </m:r>
                            </m:e>
                          </m:mr>
                          <m:mr>
                            <m:e>
                              <m:r>
                                <a:rPr lang="en-US" altLang="zh-CN" i="1">
                                  <a:latin typeface="Cambria Math" panose="02040503050406030204" pitchFamily="18" charset="0"/>
                                </a:rPr>
                                <m:t>𝑦</m:t>
                              </m:r>
                            </m:e>
                          </m:mr>
                        </m:m>
                      </m:e>
                    </m:d>
                  </m:oMath>
                </a14:m>
                <a:endParaRPr lang="zh-CN" altLang="en-US" dirty="0"/>
              </a:p>
            </p:txBody>
          </p:sp>
        </mc:Choice>
        <mc:Fallback xmlns="">
          <p:sp>
            <p:nvSpPr>
              <p:cNvPr id="3" name="Content Placeholder 2">
                <a:extLst>
                  <a:ext uri="{FF2B5EF4-FFF2-40B4-BE49-F238E27FC236}">
                    <a16:creationId xmlns:a16="http://schemas.microsoft.com/office/drawing/2014/main" id="{485D8C17-EBC9-4894-AE66-FF938BE46658}"/>
                  </a:ext>
                </a:extLst>
              </p:cNvPr>
              <p:cNvSpPr>
                <a:spLocks noGrp="1" noRot="1" noChangeAspect="1" noMove="1" noResize="1" noEditPoints="1" noAdjustHandles="1" noChangeArrowheads="1" noChangeShapeType="1" noTextEdit="1"/>
              </p:cNvSpPr>
              <p:nvPr>
                <p:ph idx="1"/>
              </p:nvPr>
            </p:nvSpPr>
            <p:spPr>
              <a:xfrm>
                <a:off x="838200" y="1825625"/>
                <a:ext cx="6433079" cy="4351338"/>
              </a:xfrm>
              <a:blipFill>
                <a:blip r:embed="rId2"/>
                <a:stretch>
                  <a:fillRect/>
                </a:stretch>
              </a:blipFill>
            </p:spPr>
            <p:txBody>
              <a:bodyPr/>
              <a:lstStyle/>
              <a:p>
                <a:r>
                  <a:rPr lang="zh-CN" altLang="en-US">
                    <a:noFill/>
                  </a:rPr>
                  <a:t> </a:t>
                </a:r>
              </a:p>
            </p:txBody>
          </p:sp>
        </mc:Fallback>
      </mc:AlternateContent>
      <p:pic>
        <p:nvPicPr>
          <p:cNvPr id="5" name="Image" descr="Image">
            <a:extLst>
              <a:ext uri="{FF2B5EF4-FFF2-40B4-BE49-F238E27FC236}">
                <a16:creationId xmlns:a16="http://schemas.microsoft.com/office/drawing/2014/main" id="{C5AD62E2-882C-4E18-8BFA-831A092ABEC1}"/>
              </a:ext>
            </a:extLst>
          </p:cNvPr>
          <p:cNvPicPr>
            <a:picLocks noChangeAspect="1"/>
          </p:cNvPicPr>
          <p:nvPr/>
        </p:nvPicPr>
        <p:blipFill>
          <a:blip r:embed="rId3">
            <a:extLst/>
          </a:blip>
          <a:stretch>
            <a:fillRect/>
          </a:stretch>
        </p:blipFill>
        <p:spPr>
          <a:xfrm>
            <a:off x="8066163" y="942447"/>
            <a:ext cx="2443878" cy="2032863"/>
          </a:xfrm>
          <a:prstGeom prst="rect">
            <a:avLst/>
          </a:prstGeom>
          <a:ln w="12700">
            <a:miter lim="400000"/>
          </a:ln>
        </p:spPr>
      </p:pic>
      <p:pic>
        <p:nvPicPr>
          <p:cNvPr id="6" name="1-1.pdf" descr="1-1.pdf">
            <a:extLst>
              <a:ext uri="{FF2B5EF4-FFF2-40B4-BE49-F238E27FC236}">
                <a16:creationId xmlns:a16="http://schemas.microsoft.com/office/drawing/2014/main" id="{A929626C-B12E-4843-9677-45A5C77AB09A}"/>
              </a:ext>
            </a:extLst>
          </p:cNvPr>
          <p:cNvPicPr>
            <a:picLocks noChangeAspect="1"/>
          </p:cNvPicPr>
          <p:nvPr/>
        </p:nvPicPr>
        <p:blipFill>
          <a:blip r:embed="rId4">
            <a:extLst/>
          </a:blip>
          <a:stretch>
            <a:fillRect/>
          </a:stretch>
        </p:blipFill>
        <p:spPr>
          <a:xfrm>
            <a:off x="7611486" y="3392882"/>
            <a:ext cx="3524148" cy="3099993"/>
          </a:xfrm>
          <a:prstGeom prst="rect">
            <a:avLst/>
          </a:prstGeom>
          <a:ln w="12700">
            <a:miter lim="400000"/>
          </a:ln>
        </p:spPr>
      </p:pic>
    </p:spTree>
    <p:extLst>
      <p:ext uri="{BB962C8B-B14F-4D97-AF65-F5344CB8AC3E}">
        <p14:creationId xmlns:p14="http://schemas.microsoft.com/office/powerpoint/2010/main" val="223805181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34330-DC67-470E-89BA-B78A81114153}"/>
              </a:ext>
            </a:extLst>
          </p:cNvPr>
          <p:cNvSpPr>
            <a:spLocks noGrp="1"/>
          </p:cNvSpPr>
          <p:nvPr>
            <p:ph type="title"/>
          </p:nvPr>
        </p:nvSpPr>
        <p:spPr/>
        <p:txBody>
          <a:bodyPr/>
          <a:lstStyle/>
          <a:p>
            <a:r>
              <a:rPr lang="zh-CN" altLang="en-US" b="1" dirty="0"/>
              <a:t>椭圆的方程</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E75ED8F-9CA0-422C-A88E-58A0F47BD4FB}"/>
                  </a:ext>
                </a:extLst>
              </p:cNvPr>
              <p:cNvSpPr>
                <a:spLocks noGrp="1"/>
              </p:cNvSpPr>
              <p:nvPr>
                <p:ph idx="1"/>
              </p:nvPr>
            </p:nvSpPr>
            <p:spPr/>
            <p:txBody>
              <a:bodyPr/>
              <a:lstStyle/>
              <a:p>
                <a14:m>
                  <m:oMath xmlns:m="http://schemas.openxmlformats.org/officeDocument/2006/math">
                    <m:r>
                      <a:rPr lang="en-US" altLang="zh-CN" i="1" smtClean="0">
                        <a:latin typeface="Cambria Math" panose="02040503050406030204" pitchFamily="18" charset="0"/>
                      </a:rPr>
                      <m:t>𝑓</m:t>
                    </m:r>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e>
                    </m:d>
                    <m:r>
                      <a:rPr lang="en-US" altLang="zh-CN" i="1">
                        <a:latin typeface="Cambria Math" panose="02040503050406030204" pitchFamily="18" charset="0"/>
                      </a:rPr>
                      <m:t>=</m:t>
                    </m:r>
                    <m:f>
                      <m:fPr>
                        <m:ctrlPr>
                          <a:rPr lang="en-US" altLang="zh-CN" i="1">
                            <a:latin typeface="Cambria Math" panose="02040503050406030204" pitchFamily="18" charset="0"/>
                          </a:rPr>
                        </m:ctrlPr>
                      </m:fPr>
                      <m:num>
                        <m:sSup>
                          <m:sSupPr>
                            <m:ctrlPr>
                              <a:rPr lang="en-US" altLang="zh-CN" i="1">
                                <a:latin typeface="Cambria Math" panose="02040503050406030204" pitchFamily="18" charset="0"/>
                              </a:rPr>
                            </m:ctrlPr>
                          </m:sSupPr>
                          <m:e>
                            <m:r>
                              <a:rPr lang="en-US" altLang="zh-CN" i="1">
                                <a:latin typeface="Cambria Math" panose="02040503050406030204" pitchFamily="18" charset="0"/>
                              </a:rPr>
                              <m:t>𝑥</m:t>
                            </m:r>
                          </m:e>
                          <m:sup>
                            <m:r>
                              <a:rPr lang="en-US" altLang="zh-CN" i="1">
                                <a:latin typeface="Cambria Math" panose="02040503050406030204" pitchFamily="18" charset="0"/>
                              </a:rPr>
                              <m:t>2</m:t>
                            </m:r>
                          </m:sup>
                        </m:sSup>
                      </m:num>
                      <m:den>
                        <m:sSup>
                          <m:sSupPr>
                            <m:ctrlPr>
                              <a:rPr lang="en-US" altLang="zh-CN" i="1">
                                <a:latin typeface="Cambria Math" panose="02040503050406030204" pitchFamily="18" charset="0"/>
                              </a:rPr>
                            </m:ctrlPr>
                          </m:sSupPr>
                          <m:e>
                            <m:r>
                              <a:rPr lang="en-US" altLang="zh-CN" i="1">
                                <a:latin typeface="Cambria Math" panose="02040503050406030204" pitchFamily="18" charset="0"/>
                              </a:rPr>
                              <m:t>𝑎</m:t>
                            </m:r>
                          </m:e>
                          <m:sup>
                            <m:r>
                              <a:rPr lang="en-US" altLang="zh-CN" i="1">
                                <a:latin typeface="Cambria Math" panose="02040503050406030204" pitchFamily="18" charset="0"/>
                              </a:rPr>
                              <m:t>2</m:t>
                            </m:r>
                          </m:sup>
                        </m:sSup>
                      </m:den>
                    </m:f>
                    <m:r>
                      <a:rPr lang="en-US" altLang="zh-CN" i="1">
                        <a:latin typeface="Cambria Math" panose="02040503050406030204" pitchFamily="18" charset="0"/>
                      </a:rPr>
                      <m:t>+</m:t>
                    </m:r>
                    <m:f>
                      <m:fPr>
                        <m:ctrlPr>
                          <a:rPr lang="en-US" altLang="zh-CN" i="1">
                            <a:latin typeface="Cambria Math" panose="02040503050406030204" pitchFamily="18" charset="0"/>
                          </a:rPr>
                        </m:ctrlPr>
                      </m:fPr>
                      <m:num>
                        <m:sSup>
                          <m:sSupPr>
                            <m:ctrlPr>
                              <a:rPr lang="en-US" altLang="zh-CN" i="1">
                                <a:latin typeface="Cambria Math" panose="02040503050406030204" pitchFamily="18" charset="0"/>
                              </a:rPr>
                            </m:ctrlPr>
                          </m:sSupPr>
                          <m:e>
                            <m:r>
                              <a:rPr lang="en-US" altLang="zh-CN" i="1">
                                <a:latin typeface="Cambria Math" panose="02040503050406030204" pitchFamily="18" charset="0"/>
                              </a:rPr>
                              <m:t>𝑦</m:t>
                            </m:r>
                          </m:e>
                          <m:sup>
                            <m:r>
                              <a:rPr lang="en-US" altLang="zh-CN" i="1">
                                <a:latin typeface="Cambria Math" panose="02040503050406030204" pitchFamily="18" charset="0"/>
                              </a:rPr>
                              <m:t>2</m:t>
                            </m:r>
                          </m:sup>
                        </m:sSup>
                      </m:num>
                      <m:den>
                        <m:sSup>
                          <m:sSupPr>
                            <m:ctrlPr>
                              <a:rPr lang="en-US" altLang="zh-CN" i="1">
                                <a:latin typeface="Cambria Math" panose="02040503050406030204" pitchFamily="18" charset="0"/>
                              </a:rPr>
                            </m:ctrlPr>
                          </m:sSupPr>
                          <m:e>
                            <m:r>
                              <a:rPr lang="en-US" altLang="zh-CN" i="1">
                                <a:latin typeface="Cambria Math" panose="02040503050406030204" pitchFamily="18" charset="0"/>
                              </a:rPr>
                              <m:t>𝑏</m:t>
                            </m:r>
                          </m:e>
                          <m:sup>
                            <m:r>
                              <a:rPr lang="en-US" altLang="zh-CN" i="1">
                                <a:latin typeface="Cambria Math" panose="02040503050406030204" pitchFamily="18" charset="0"/>
                              </a:rPr>
                              <m:t>2</m:t>
                            </m:r>
                          </m:sup>
                        </m:sSup>
                      </m:den>
                    </m:f>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m:rPr>
                                  <m:brk m:alnAt="7"/>
                                </m:rPr>
                                <a:rPr lang="en-US" altLang="zh-CN" i="1">
                                  <a:latin typeface="Cambria Math" panose="02040503050406030204" pitchFamily="18" charset="0"/>
                                </a:rPr>
                                <m:t>𝑥</m:t>
                              </m:r>
                            </m:e>
                            <m:e>
                              <m:r>
                                <a:rPr lang="en-US" altLang="zh-CN" i="1">
                                  <a:latin typeface="Cambria Math" panose="02040503050406030204" pitchFamily="18" charset="0"/>
                                </a:rPr>
                                <m:t>𝑦</m:t>
                              </m:r>
                            </m:e>
                          </m:mr>
                        </m:m>
                      </m:e>
                    </m:d>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sSup>
                                    <m:sSupPr>
                                      <m:ctrlPr>
                                        <a:rPr lang="en-US" altLang="zh-CN" i="1">
                                          <a:latin typeface="Cambria Math" panose="02040503050406030204" pitchFamily="18" charset="0"/>
                                        </a:rPr>
                                      </m:ctrlPr>
                                    </m:sSupPr>
                                    <m:e>
                                      <m:r>
                                        <a:rPr lang="en-US" altLang="zh-CN" i="1">
                                          <a:latin typeface="Cambria Math" panose="02040503050406030204" pitchFamily="18" charset="0"/>
                                        </a:rPr>
                                        <m:t>𝑎</m:t>
                                      </m:r>
                                    </m:e>
                                    <m:sup>
                                      <m:r>
                                        <a:rPr lang="en-US" altLang="zh-CN" i="1">
                                          <a:latin typeface="Cambria Math" panose="02040503050406030204" pitchFamily="18" charset="0"/>
                                        </a:rPr>
                                        <m:t>2</m:t>
                                      </m:r>
                                    </m:sup>
                                  </m:sSup>
                                </m:den>
                              </m:f>
                            </m:e>
                            <m:e>
                              <m:r>
                                <a:rPr lang="en-US" altLang="zh-CN" i="1">
                                  <a:latin typeface="Cambria Math" panose="02040503050406030204" pitchFamily="18" charset="0"/>
                                </a:rPr>
                                <m:t>0</m:t>
                              </m:r>
                            </m:e>
                          </m:mr>
                          <m:mr>
                            <m:e>
                              <m:r>
                                <a:rPr lang="en-US" altLang="zh-CN" i="1">
                                  <a:latin typeface="Cambria Math" panose="02040503050406030204" pitchFamily="18" charset="0"/>
                                </a:rPr>
                                <m:t>0</m:t>
                              </m:r>
                            </m:e>
                            <m:e>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sSup>
                                    <m:sSupPr>
                                      <m:ctrlPr>
                                        <a:rPr lang="en-US" altLang="zh-CN" i="1">
                                          <a:latin typeface="Cambria Math" panose="02040503050406030204" pitchFamily="18" charset="0"/>
                                        </a:rPr>
                                      </m:ctrlPr>
                                    </m:sSupPr>
                                    <m:e>
                                      <m:r>
                                        <a:rPr lang="en-US" altLang="zh-CN" i="1">
                                          <a:latin typeface="Cambria Math" panose="02040503050406030204" pitchFamily="18" charset="0"/>
                                        </a:rPr>
                                        <m:t>𝑏</m:t>
                                      </m:r>
                                    </m:e>
                                    <m:sup>
                                      <m:r>
                                        <a:rPr lang="en-US" altLang="zh-CN" i="1">
                                          <a:latin typeface="Cambria Math" panose="02040503050406030204" pitchFamily="18" charset="0"/>
                                        </a:rPr>
                                        <m:t>2</m:t>
                                      </m:r>
                                    </m:sup>
                                  </m:sSup>
                                </m:den>
                              </m:f>
                            </m:e>
                          </m:mr>
                        </m:m>
                      </m:e>
                    </m:d>
                    <m:d>
                      <m:dPr>
                        <m:begChr m:val="["/>
                        <m:endChr m:val="]"/>
                        <m:ctrlPr>
                          <a:rPr lang="en-US" altLang="zh-CN" i="1">
                            <a:latin typeface="Cambria Math" panose="02040503050406030204" pitchFamily="18" charset="0"/>
                          </a:rPr>
                        </m:ctrlPr>
                      </m:dPr>
                      <m:e>
                        <m:m>
                          <m:mPr>
                            <m:mcs>
                              <m:mc>
                                <m:mcPr>
                                  <m:count m:val="1"/>
                                  <m:mcJc m:val="center"/>
                                </m:mcPr>
                              </m:mc>
                            </m:mcs>
                            <m:ctrlPr>
                              <a:rPr lang="en-US" altLang="zh-CN" i="1">
                                <a:latin typeface="Cambria Math" panose="02040503050406030204" pitchFamily="18" charset="0"/>
                              </a:rPr>
                            </m:ctrlPr>
                          </m:mPr>
                          <m:mr>
                            <m:e>
                              <m:r>
                                <m:rPr>
                                  <m:brk m:alnAt="7"/>
                                </m:rPr>
                                <a:rPr lang="en-US" altLang="zh-CN" i="1">
                                  <a:latin typeface="Cambria Math" panose="02040503050406030204" pitchFamily="18" charset="0"/>
                                </a:rPr>
                                <m:t>𝑥</m:t>
                              </m:r>
                            </m:e>
                          </m:mr>
                          <m:mr>
                            <m:e>
                              <m:r>
                                <a:rPr lang="en-US" altLang="zh-CN" i="1">
                                  <a:latin typeface="Cambria Math" panose="02040503050406030204" pitchFamily="18" charset="0"/>
                                </a:rPr>
                                <m:t>𝑦</m:t>
                              </m:r>
                            </m:e>
                          </m:mr>
                        </m:m>
                      </m:e>
                    </m:d>
                  </m:oMath>
                </a14:m>
                <a:endParaRPr lang="en-US" altLang="zh-CN" dirty="0"/>
              </a:p>
              <a:p>
                <a:pPr marL="0" indent="0">
                  <a:buNone/>
                </a:pPr>
                <a:endParaRPr lang="en-US" altLang="zh-CN" dirty="0"/>
              </a:p>
              <a:p>
                <a14:m>
                  <m:oMath xmlns:m="http://schemas.openxmlformats.org/officeDocument/2006/math">
                    <m:r>
                      <a:rPr lang="en-US" altLang="zh-CN" i="1">
                        <a:latin typeface="Cambria Math" panose="02040503050406030204" pitchFamily="18" charset="0"/>
                      </a:rPr>
                      <m:t>𝑓</m:t>
                    </m:r>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e>
                    </m:d>
                    <m:r>
                      <a:rPr lang="en-US" altLang="zh-CN" i="1">
                        <a:latin typeface="Cambria Math" panose="02040503050406030204" pitchFamily="18" charset="0"/>
                      </a:rPr>
                      <m:t>=</m:t>
                    </m:r>
                    <m:r>
                      <a:rPr lang="en-US" altLang="zh-CN" b="0" i="1" smtClean="0">
                        <a:latin typeface="Cambria Math" panose="02040503050406030204" pitchFamily="18" charset="0"/>
                      </a:rPr>
                      <m:t>1=</m:t>
                    </m:r>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m:rPr>
                                  <m:brk m:alnAt="7"/>
                                </m:rPr>
                                <a:rPr lang="en-US" altLang="zh-CN" i="1">
                                  <a:latin typeface="Cambria Math" panose="02040503050406030204" pitchFamily="18" charset="0"/>
                                </a:rPr>
                                <m:t>𝑥</m:t>
                              </m:r>
                            </m:e>
                            <m:e>
                              <m:r>
                                <a:rPr lang="en-US" altLang="zh-CN" i="1">
                                  <a:latin typeface="Cambria Math" panose="02040503050406030204" pitchFamily="18" charset="0"/>
                                </a:rPr>
                                <m:t>𝑦</m:t>
                              </m:r>
                            </m:e>
                          </m:mr>
                        </m:m>
                      </m:e>
                    </m:d>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a:rPr lang="en-US" altLang="zh-CN" b="0" i="1" smtClean="0">
                                  <a:latin typeface="Cambria Math" panose="02040503050406030204" pitchFamily="18" charset="0"/>
                                </a:rPr>
                                <m:t>2</m:t>
                              </m:r>
                            </m:e>
                            <m:e>
                              <m:r>
                                <a:rPr lang="en-US" altLang="zh-CN" i="1">
                                  <a:latin typeface="Cambria Math" panose="02040503050406030204" pitchFamily="18" charset="0"/>
                                </a:rPr>
                                <m:t>0</m:t>
                              </m:r>
                            </m:e>
                          </m:mr>
                          <m:mr>
                            <m:e>
                              <m:r>
                                <a:rPr lang="en-US" altLang="zh-CN" i="1">
                                  <a:latin typeface="Cambria Math" panose="02040503050406030204" pitchFamily="18" charset="0"/>
                                </a:rPr>
                                <m:t>0</m:t>
                              </m:r>
                            </m:e>
                            <m:e>
                              <m:r>
                                <a:rPr lang="en-US" altLang="zh-CN" b="0" i="1" smtClean="0">
                                  <a:latin typeface="Cambria Math" panose="02040503050406030204" pitchFamily="18" charset="0"/>
                                </a:rPr>
                                <m:t>1</m:t>
                              </m:r>
                            </m:e>
                          </m:mr>
                        </m:m>
                      </m:e>
                    </m:d>
                    <m:d>
                      <m:dPr>
                        <m:begChr m:val="["/>
                        <m:endChr m:val="]"/>
                        <m:ctrlPr>
                          <a:rPr lang="en-US" altLang="zh-CN" i="1">
                            <a:latin typeface="Cambria Math" panose="02040503050406030204" pitchFamily="18" charset="0"/>
                          </a:rPr>
                        </m:ctrlPr>
                      </m:dPr>
                      <m:e>
                        <m:m>
                          <m:mPr>
                            <m:mcs>
                              <m:mc>
                                <m:mcPr>
                                  <m:count m:val="1"/>
                                  <m:mcJc m:val="center"/>
                                </m:mcPr>
                              </m:mc>
                            </m:mcs>
                            <m:ctrlPr>
                              <a:rPr lang="en-US" altLang="zh-CN" i="1">
                                <a:latin typeface="Cambria Math" panose="02040503050406030204" pitchFamily="18" charset="0"/>
                              </a:rPr>
                            </m:ctrlPr>
                          </m:mPr>
                          <m:mr>
                            <m:e>
                              <m:r>
                                <m:rPr>
                                  <m:brk m:alnAt="7"/>
                                </m:rPr>
                                <a:rPr lang="en-US" altLang="zh-CN" i="1">
                                  <a:latin typeface="Cambria Math" panose="02040503050406030204" pitchFamily="18" charset="0"/>
                                </a:rPr>
                                <m:t>𝑥</m:t>
                              </m:r>
                            </m:e>
                          </m:mr>
                          <m:mr>
                            <m:e>
                              <m:r>
                                <a:rPr lang="en-US" altLang="zh-CN" i="1">
                                  <a:latin typeface="Cambria Math" panose="02040503050406030204" pitchFamily="18" charset="0"/>
                                </a:rPr>
                                <m:t>𝑦</m:t>
                              </m:r>
                            </m:e>
                          </m:mr>
                        </m:m>
                      </m:e>
                    </m:d>
                  </m:oMath>
                </a14:m>
                <a:endParaRPr lang="en-US" altLang="zh-CN" dirty="0"/>
              </a:p>
              <a:p>
                <a:endParaRPr lang="en-US" altLang="zh-CN" dirty="0"/>
              </a:p>
              <a:p>
                <a14:m>
                  <m:oMath xmlns:m="http://schemas.openxmlformats.org/officeDocument/2006/math">
                    <m:r>
                      <a:rPr lang="en-US" altLang="zh-CN" i="1">
                        <a:latin typeface="Cambria Math" panose="02040503050406030204" pitchFamily="18" charset="0"/>
                      </a:rPr>
                      <m:t>𝑓</m:t>
                    </m:r>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e>
                    </m:d>
                    <m:r>
                      <a:rPr lang="en-US" altLang="zh-CN" i="1">
                        <a:latin typeface="Cambria Math" panose="02040503050406030204" pitchFamily="18" charset="0"/>
                      </a:rPr>
                      <m:t>=1=</m:t>
                    </m:r>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m:rPr>
                                  <m:brk m:alnAt="7"/>
                                </m:rPr>
                                <a:rPr lang="en-US" altLang="zh-CN" i="1">
                                  <a:latin typeface="Cambria Math" panose="02040503050406030204" pitchFamily="18" charset="0"/>
                                </a:rPr>
                                <m:t>𝑥</m:t>
                              </m:r>
                            </m:e>
                            <m:e>
                              <m:r>
                                <a:rPr lang="en-US" altLang="zh-CN" i="1">
                                  <a:latin typeface="Cambria Math" panose="02040503050406030204" pitchFamily="18" charset="0"/>
                                </a:rPr>
                                <m:t>𝑦</m:t>
                              </m:r>
                            </m:e>
                          </m:mr>
                        </m:m>
                      </m:e>
                    </m:d>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m:rPr>
                                  <m:brk m:alnAt="7"/>
                                </m:rPr>
                                <a:rPr lang="en-US" altLang="zh-CN" b="0" i="1" smtClean="0">
                                  <a:latin typeface="Cambria Math" panose="02040503050406030204" pitchFamily="18" charset="0"/>
                                </a:rPr>
                                <m:t>1</m:t>
                              </m:r>
                            </m:e>
                            <m:e>
                              <m:r>
                                <a:rPr lang="en-US" altLang="zh-CN" i="1">
                                  <a:latin typeface="Cambria Math" panose="02040503050406030204" pitchFamily="18" charset="0"/>
                                </a:rPr>
                                <m:t>0</m:t>
                              </m:r>
                            </m:e>
                          </m:mr>
                          <m:mr>
                            <m:e>
                              <m:r>
                                <a:rPr lang="en-US" altLang="zh-CN" i="1">
                                  <a:latin typeface="Cambria Math" panose="02040503050406030204" pitchFamily="18" charset="0"/>
                                </a:rPr>
                                <m:t>0</m:t>
                              </m:r>
                            </m:e>
                            <m:e>
                              <m:r>
                                <a:rPr lang="en-US" altLang="zh-CN" b="0" i="1" smtClean="0">
                                  <a:latin typeface="Cambria Math" panose="02040503050406030204" pitchFamily="18" charset="0"/>
                                </a:rPr>
                                <m:t>2</m:t>
                              </m:r>
                            </m:e>
                          </m:mr>
                        </m:m>
                      </m:e>
                    </m:d>
                    <m:d>
                      <m:dPr>
                        <m:begChr m:val="["/>
                        <m:endChr m:val="]"/>
                        <m:ctrlPr>
                          <a:rPr lang="en-US" altLang="zh-CN" i="1">
                            <a:latin typeface="Cambria Math" panose="02040503050406030204" pitchFamily="18" charset="0"/>
                          </a:rPr>
                        </m:ctrlPr>
                      </m:dPr>
                      <m:e>
                        <m:m>
                          <m:mPr>
                            <m:mcs>
                              <m:mc>
                                <m:mcPr>
                                  <m:count m:val="1"/>
                                  <m:mcJc m:val="center"/>
                                </m:mcPr>
                              </m:mc>
                            </m:mcs>
                            <m:ctrlPr>
                              <a:rPr lang="en-US" altLang="zh-CN" i="1">
                                <a:latin typeface="Cambria Math" panose="02040503050406030204" pitchFamily="18" charset="0"/>
                              </a:rPr>
                            </m:ctrlPr>
                          </m:mPr>
                          <m:mr>
                            <m:e>
                              <m:r>
                                <m:rPr>
                                  <m:brk m:alnAt="7"/>
                                </m:rPr>
                                <a:rPr lang="en-US" altLang="zh-CN" i="1">
                                  <a:latin typeface="Cambria Math" panose="02040503050406030204" pitchFamily="18" charset="0"/>
                                </a:rPr>
                                <m:t>𝑥</m:t>
                              </m:r>
                            </m:e>
                          </m:mr>
                          <m:mr>
                            <m:e>
                              <m:r>
                                <a:rPr lang="en-US" altLang="zh-CN" i="1">
                                  <a:latin typeface="Cambria Math" panose="02040503050406030204" pitchFamily="18" charset="0"/>
                                </a:rPr>
                                <m:t>𝑦</m:t>
                              </m:r>
                            </m:e>
                          </m:mr>
                        </m:m>
                      </m:e>
                    </m:d>
                  </m:oMath>
                </a14:m>
                <a:endParaRPr lang="zh-CN" altLang="en-US" dirty="0"/>
              </a:p>
              <a:p>
                <a:endParaRPr lang="zh-CN" altLang="en-US" dirty="0"/>
              </a:p>
            </p:txBody>
          </p:sp>
        </mc:Choice>
        <mc:Fallback xmlns="">
          <p:sp>
            <p:nvSpPr>
              <p:cNvPr id="3" name="Content Placeholder 2">
                <a:extLst>
                  <a:ext uri="{FF2B5EF4-FFF2-40B4-BE49-F238E27FC236}">
                    <a16:creationId xmlns:a16="http://schemas.microsoft.com/office/drawing/2014/main" id="{EE75ED8F-9CA0-422C-A88E-58A0F47BD4FB}"/>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zh-CN" altLang="en-US">
                    <a:noFill/>
                  </a:rPr>
                  <a:t> </a:t>
                </a:r>
              </a:p>
            </p:txBody>
          </p:sp>
        </mc:Fallback>
      </mc:AlternateContent>
      <p:pic>
        <p:nvPicPr>
          <p:cNvPr id="4" name="2-1.pdf" descr="2-1.pdf">
            <a:extLst>
              <a:ext uri="{FF2B5EF4-FFF2-40B4-BE49-F238E27FC236}">
                <a16:creationId xmlns:a16="http://schemas.microsoft.com/office/drawing/2014/main" id="{19AC34F1-9410-4C02-BDA8-0F38CB188069}"/>
              </a:ext>
            </a:extLst>
          </p:cNvPr>
          <p:cNvPicPr>
            <a:picLocks noChangeAspect="1"/>
          </p:cNvPicPr>
          <p:nvPr/>
        </p:nvPicPr>
        <p:blipFill>
          <a:blip r:embed="rId3">
            <a:extLst/>
          </a:blip>
          <a:stretch>
            <a:fillRect/>
          </a:stretch>
        </p:blipFill>
        <p:spPr>
          <a:xfrm>
            <a:off x="8137515" y="441310"/>
            <a:ext cx="3309738" cy="2911389"/>
          </a:xfrm>
          <a:prstGeom prst="rect">
            <a:avLst/>
          </a:prstGeom>
          <a:ln w="12700">
            <a:miter lim="400000"/>
          </a:ln>
        </p:spPr>
      </p:pic>
      <p:sp>
        <p:nvSpPr>
          <p:cNvPr id="5" name="decrease width in x!">
            <a:extLst>
              <a:ext uri="{FF2B5EF4-FFF2-40B4-BE49-F238E27FC236}">
                <a16:creationId xmlns:a16="http://schemas.microsoft.com/office/drawing/2014/main" id="{51D0892C-B30A-4F03-AFB4-C5B92A3403D3}"/>
              </a:ext>
            </a:extLst>
          </p:cNvPr>
          <p:cNvSpPr txBox="1"/>
          <p:nvPr/>
        </p:nvSpPr>
        <p:spPr>
          <a:xfrm>
            <a:off x="9850013" y="2692450"/>
            <a:ext cx="2341987" cy="410369"/>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p>
            <a:pPr marL="0" marR="0" lvl="0" indent="0" algn="ctr" defTabSz="584200" rtl="0" eaLnBrk="1" fontAlgn="auto" latinLnBrk="0" hangingPunct="0">
              <a:lnSpc>
                <a:spcPct val="100000"/>
              </a:lnSpc>
              <a:spcBef>
                <a:spcPts val="0"/>
              </a:spcBef>
              <a:spcAft>
                <a:spcPts val="0"/>
              </a:spcAft>
              <a:buClrTx/>
              <a:buSzTx/>
              <a:buFontTx/>
              <a:buNone/>
              <a:tabLst/>
              <a:defRPr sz="2000">
                <a:solidFill>
                  <a:srgbClr val="00882B">
                    <a:hueOff val="-554920"/>
                    <a:satOff val="-21482"/>
                    <a:lumOff val="-6228"/>
                  </a:srgbClr>
                </a:solidFill>
              </a:defRPr>
            </a:pPr>
            <a:r>
              <a:rPr kumimoji="0" sz="2000" b="1" i="0" u="none" strike="noStrike" kern="0" cap="none" spc="0" normalizeH="0" baseline="0" noProof="0" dirty="0">
                <a:ln>
                  <a:noFill/>
                </a:ln>
                <a:solidFill>
                  <a:srgbClr val="00882B">
                    <a:hueOff val="-554920"/>
                    <a:satOff val="-21482"/>
                    <a:lumOff val="-6228"/>
                  </a:srgbClr>
                </a:solidFill>
                <a:effectLst/>
                <a:uLnTx/>
                <a:uFillTx/>
                <a:latin typeface="Helvetica"/>
                <a:ea typeface="Helvetica"/>
                <a:cs typeface="Helvetica"/>
                <a:sym typeface="Helvetica"/>
              </a:rPr>
              <a:t>decrease </a:t>
            </a:r>
            <a:r>
              <a:rPr kumimoji="0" sz="2000" b="0" i="0" u="none" strike="noStrike" kern="0" cap="none" spc="0" normalizeH="0" baseline="0" noProof="0" dirty="0">
                <a:ln>
                  <a:noFill/>
                </a:ln>
                <a:solidFill>
                  <a:srgbClr val="00882B">
                    <a:hueOff val="-554920"/>
                    <a:satOff val="-21482"/>
                    <a:lumOff val="-6228"/>
                  </a:srgbClr>
                </a:solidFill>
                <a:effectLst/>
                <a:uLnTx/>
                <a:uFillTx/>
                <a:latin typeface="Helvetica Light"/>
                <a:sym typeface="Helvetica Light"/>
              </a:rPr>
              <a:t>width in</a:t>
            </a:r>
            <a:r>
              <a:rPr kumimoji="0" sz="2000" b="1" i="0" u="none" strike="noStrike" kern="0" cap="none" spc="0" normalizeH="0" baseline="0" noProof="0" dirty="0">
                <a:ln>
                  <a:noFill/>
                </a:ln>
                <a:solidFill>
                  <a:srgbClr val="00882B">
                    <a:hueOff val="-554920"/>
                    <a:satOff val="-21482"/>
                    <a:lumOff val="-6228"/>
                  </a:srgbClr>
                </a:solidFill>
                <a:effectLst/>
                <a:uLnTx/>
                <a:uFillTx/>
                <a:latin typeface="Helvetica"/>
                <a:ea typeface="Helvetica"/>
                <a:cs typeface="Helvetica"/>
                <a:sym typeface="Helvetica"/>
              </a:rPr>
              <a:t> x</a:t>
            </a:r>
          </a:p>
        </p:txBody>
      </p:sp>
      <p:pic>
        <p:nvPicPr>
          <p:cNvPr id="6" name="1-2.pdf" descr="1-2.pdf">
            <a:extLst>
              <a:ext uri="{FF2B5EF4-FFF2-40B4-BE49-F238E27FC236}">
                <a16:creationId xmlns:a16="http://schemas.microsoft.com/office/drawing/2014/main" id="{118260FC-DCDF-4BDA-AC1A-F3FBFB585732}"/>
              </a:ext>
            </a:extLst>
          </p:cNvPr>
          <p:cNvPicPr>
            <a:picLocks noChangeAspect="1"/>
          </p:cNvPicPr>
          <p:nvPr/>
        </p:nvPicPr>
        <p:blipFill>
          <a:blip r:embed="rId4">
            <a:extLst/>
          </a:blip>
          <a:stretch>
            <a:fillRect/>
          </a:stretch>
        </p:blipFill>
        <p:spPr>
          <a:xfrm>
            <a:off x="8137515" y="3755182"/>
            <a:ext cx="3397847" cy="2988895"/>
          </a:xfrm>
          <a:prstGeom prst="rect">
            <a:avLst/>
          </a:prstGeom>
          <a:ln w="12700">
            <a:miter lim="400000"/>
          </a:ln>
        </p:spPr>
      </p:pic>
      <p:sp>
        <p:nvSpPr>
          <p:cNvPr id="7" name="decrease width in y">
            <a:extLst>
              <a:ext uri="{FF2B5EF4-FFF2-40B4-BE49-F238E27FC236}">
                <a16:creationId xmlns:a16="http://schemas.microsoft.com/office/drawing/2014/main" id="{A64698A5-8D1F-495E-BF38-061C153DBB42}"/>
              </a:ext>
            </a:extLst>
          </p:cNvPr>
          <p:cNvSpPr txBox="1"/>
          <p:nvPr/>
        </p:nvSpPr>
        <p:spPr>
          <a:xfrm>
            <a:off x="9850013" y="6096739"/>
            <a:ext cx="2373351" cy="406405"/>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p>
            <a:pPr marL="0" marR="0" lvl="0" indent="0" algn="ctr" defTabSz="584200" rtl="0" eaLnBrk="1" fontAlgn="auto" latinLnBrk="0" hangingPunct="0">
              <a:lnSpc>
                <a:spcPct val="100000"/>
              </a:lnSpc>
              <a:spcBef>
                <a:spcPts val="0"/>
              </a:spcBef>
              <a:spcAft>
                <a:spcPts val="0"/>
              </a:spcAft>
              <a:buClrTx/>
              <a:buSzTx/>
              <a:buFontTx/>
              <a:buNone/>
              <a:tabLst/>
              <a:defRPr sz="2000">
                <a:solidFill>
                  <a:srgbClr val="00882B">
                    <a:hueOff val="-554920"/>
                    <a:satOff val="-21482"/>
                    <a:lumOff val="-6228"/>
                  </a:srgbClr>
                </a:solidFill>
              </a:defRPr>
            </a:pPr>
            <a:r>
              <a:rPr kumimoji="0" sz="2000" b="1" i="0" u="none" strike="noStrike" kern="0" cap="none" spc="0" normalizeH="0" baseline="0" noProof="0" dirty="0">
                <a:ln>
                  <a:noFill/>
                </a:ln>
                <a:solidFill>
                  <a:srgbClr val="00882B">
                    <a:hueOff val="-554920"/>
                    <a:satOff val="-21482"/>
                    <a:lumOff val="-6228"/>
                  </a:srgbClr>
                </a:solidFill>
                <a:effectLst/>
                <a:uLnTx/>
                <a:uFillTx/>
                <a:latin typeface="Helvetica"/>
                <a:ea typeface="Helvetica"/>
                <a:cs typeface="Helvetica"/>
                <a:sym typeface="Helvetica"/>
              </a:rPr>
              <a:t>decrease </a:t>
            </a:r>
            <a:r>
              <a:rPr kumimoji="0" sz="2000" b="0" i="0" u="none" strike="noStrike" kern="0" cap="none" spc="0" normalizeH="0" baseline="0" noProof="0" dirty="0">
                <a:ln>
                  <a:noFill/>
                </a:ln>
                <a:solidFill>
                  <a:srgbClr val="00882B">
                    <a:hueOff val="-554920"/>
                    <a:satOff val="-21482"/>
                    <a:lumOff val="-6228"/>
                  </a:srgbClr>
                </a:solidFill>
                <a:effectLst/>
                <a:uLnTx/>
                <a:uFillTx/>
                <a:latin typeface="Helvetica Light"/>
                <a:sym typeface="Helvetica Light"/>
              </a:rPr>
              <a:t>width in </a:t>
            </a:r>
            <a:r>
              <a:rPr kumimoji="0" sz="2000" b="1" i="0" u="none" strike="noStrike" kern="0" cap="none" spc="0" normalizeH="0" baseline="0" noProof="0" dirty="0">
                <a:ln>
                  <a:noFill/>
                </a:ln>
                <a:solidFill>
                  <a:srgbClr val="00882B">
                    <a:hueOff val="-554920"/>
                    <a:satOff val="-21482"/>
                    <a:lumOff val="-6228"/>
                  </a:srgbClr>
                </a:solidFill>
                <a:effectLst/>
                <a:uLnTx/>
                <a:uFillTx/>
                <a:latin typeface="Helvetica"/>
                <a:ea typeface="Helvetica"/>
                <a:cs typeface="Helvetica"/>
                <a:sym typeface="Helvetica"/>
              </a:rPr>
              <a:t>y</a:t>
            </a:r>
          </a:p>
        </p:txBody>
      </p:sp>
    </p:spTree>
    <p:extLst>
      <p:ext uri="{BB962C8B-B14F-4D97-AF65-F5344CB8AC3E}">
        <p14:creationId xmlns:p14="http://schemas.microsoft.com/office/powerpoint/2010/main" val="34690092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34330-DC67-470E-89BA-B78A81114153}"/>
              </a:ext>
            </a:extLst>
          </p:cNvPr>
          <p:cNvSpPr>
            <a:spLocks noGrp="1"/>
          </p:cNvSpPr>
          <p:nvPr>
            <p:ph type="title"/>
          </p:nvPr>
        </p:nvSpPr>
        <p:spPr/>
        <p:txBody>
          <a:bodyPr/>
          <a:lstStyle/>
          <a:p>
            <a:r>
              <a:rPr lang="zh-CN" altLang="en-US" b="1" dirty="0"/>
              <a:t>椭圆的方程</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E75ED8F-9CA0-422C-A88E-58A0F47BD4FB}"/>
                  </a:ext>
                </a:extLst>
              </p:cNvPr>
              <p:cNvSpPr>
                <a:spLocks noGrp="1"/>
              </p:cNvSpPr>
              <p:nvPr>
                <p:ph idx="1"/>
              </p:nvPr>
            </p:nvSpPr>
            <p:spPr/>
            <p:txBody>
              <a:bodyPr>
                <a:normAutofit/>
              </a:bodyPr>
              <a:lstStyle/>
              <a:p>
                <a:pPr>
                  <a:lnSpc>
                    <a:spcPct val="120000"/>
                  </a:lnSpc>
                </a:pPr>
                <a:r>
                  <a:rPr lang="zh-CN" altLang="en-US" b="1" dirty="0"/>
                  <a:t>逆时针旋转</a:t>
                </a:r>
                <a14:m>
                  <m:oMath xmlns:m="http://schemas.openxmlformats.org/officeDocument/2006/math">
                    <m:r>
                      <a:rPr lang="zh-CN" altLang="en-US" b="1" i="1" smtClean="0">
                        <a:latin typeface="Cambria Math" panose="02040503050406030204" pitchFamily="18" charset="0"/>
                      </a:rPr>
                      <m:t>𝜶</m:t>
                    </m:r>
                  </m:oMath>
                </a14:m>
                <a:endParaRPr lang="en-US" altLang="zh-CN" dirty="0"/>
              </a:p>
              <a:p>
                <a:pPr lvl="1">
                  <a:lnSpc>
                    <a:spcPct val="120000"/>
                  </a:lnSpc>
                </a:pPr>
                <a14:m>
                  <m:oMath xmlns:m="http://schemas.openxmlformats.org/officeDocument/2006/math">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m:rPr>
                                  <m:brk m:alnAt="7"/>
                                </m:rPr>
                                <a:rPr lang="en-US" altLang="zh-CN" b="0" i="1" smtClean="0">
                                  <a:latin typeface="Cambria Math" panose="02040503050406030204" pitchFamily="18" charset="0"/>
                                </a:rPr>
                                <m:t>𝑢</m:t>
                              </m:r>
                            </m:e>
                            <m:e>
                              <m:r>
                                <a:rPr lang="en-US" altLang="zh-CN" b="0" i="1" smtClean="0">
                                  <a:latin typeface="Cambria Math" panose="02040503050406030204" pitchFamily="18" charset="0"/>
                                </a:rPr>
                                <m:t>𝑣</m:t>
                              </m:r>
                            </m:e>
                          </m:mr>
                        </m:m>
                      </m:e>
                    </m:d>
                    <m:r>
                      <a:rPr lang="en-US" altLang="zh-CN" b="0" i="1" smtClean="0">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m:rPr>
                                  <m:brk m:alnAt="7"/>
                                </m:rPr>
                                <a:rPr lang="en-US" altLang="zh-CN" i="1">
                                  <a:latin typeface="Cambria Math" panose="02040503050406030204" pitchFamily="18" charset="0"/>
                                </a:rPr>
                                <m:t>𝑥</m:t>
                              </m:r>
                            </m:e>
                            <m:e>
                              <m:r>
                                <a:rPr lang="en-US" altLang="zh-CN" i="1">
                                  <a:latin typeface="Cambria Math" panose="02040503050406030204" pitchFamily="18" charset="0"/>
                                </a:rPr>
                                <m:t>𝑦</m:t>
                              </m:r>
                            </m:e>
                          </m:mr>
                        </m:m>
                      </m:e>
                    </m:d>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func>
                                <m:funcPr>
                                  <m:ctrlPr>
                                    <a:rPr lang="en-US" altLang="zh-CN" i="1">
                                      <a:latin typeface="Cambria Math" panose="02040503050406030204" pitchFamily="18" charset="0"/>
                                    </a:rPr>
                                  </m:ctrlPr>
                                </m:funcPr>
                                <m:fName>
                                  <m:r>
                                    <m:rPr>
                                      <m:sty m:val="p"/>
                                      <m:brk m:alnAt="7"/>
                                    </m:rPr>
                                    <a:rPr lang="en-US" altLang="zh-CN">
                                      <a:latin typeface="Cambria Math" panose="02040503050406030204" pitchFamily="18" charset="0"/>
                                    </a:rPr>
                                    <m:t>c</m:t>
                                  </m:r>
                                  <m:r>
                                    <m:rPr>
                                      <m:sty m:val="p"/>
                                    </m:rPr>
                                    <a:rPr lang="en-US" altLang="zh-CN">
                                      <a:latin typeface="Cambria Math" panose="02040503050406030204" pitchFamily="18" charset="0"/>
                                    </a:rPr>
                                    <m:t>os</m:t>
                                  </m:r>
                                </m:fName>
                                <m:e>
                                  <m:r>
                                    <a:rPr lang="zh-CN" altLang="en-US" i="1">
                                      <a:latin typeface="Cambria Math" panose="02040503050406030204" pitchFamily="18" charset="0"/>
                                    </a:rPr>
                                    <m:t>𝛼</m:t>
                                  </m:r>
                                </m:e>
                              </m:func>
                            </m:e>
                            <m:e>
                              <m:func>
                                <m:funcPr>
                                  <m:ctrlPr>
                                    <a:rPr lang="en-US" altLang="zh-CN" i="1" smtClean="0">
                                      <a:latin typeface="Cambria Math" panose="02040503050406030204" pitchFamily="18" charset="0"/>
                                    </a:rPr>
                                  </m:ctrlPr>
                                </m:funcPr>
                                <m:fName>
                                  <m:r>
                                    <m:rPr>
                                      <m:sty m:val="p"/>
                                    </m:rPr>
                                    <a:rPr lang="en-US" altLang="zh-CN">
                                      <a:latin typeface="Cambria Math" panose="02040503050406030204" pitchFamily="18" charset="0"/>
                                    </a:rPr>
                                    <m:t>sin</m:t>
                                  </m:r>
                                </m:fName>
                                <m:e>
                                  <m:r>
                                    <a:rPr lang="zh-CN" altLang="en-US" i="1">
                                      <a:latin typeface="Cambria Math" panose="02040503050406030204" pitchFamily="18" charset="0"/>
                                    </a:rPr>
                                    <m:t>𝛼</m:t>
                                  </m:r>
                                </m:e>
                              </m:func>
                            </m:e>
                          </m:mr>
                          <m:mr>
                            <m:e>
                              <m:func>
                                <m:funcPr>
                                  <m:ctrlPr>
                                    <a:rPr lang="en-US" altLang="zh-CN" i="1">
                                      <a:latin typeface="Cambria Math" panose="02040503050406030204" pitchFamily="18" charset="0"/>
                                    </a:rPr>
                                  </m:ctrlPr>
                                </m:funcPr>
                                <m:fName>
                                  <m:r>
                                    <a:rPr lang="en-US" altLang="zh-CN" b="0" i="0" smtClean="0">
                                      <a:latin typeface="Cambria Math" panose="02040503050406030204" pitchFamily="18" charset="0"/>
                                    </a:rPr>
                                    <m:t>−</m:t>
                                  </m:r>
                                  <m:r>
                                    <m:rPr>
                                      <m:sty m:val="p"/>
                                    </m:rPr>
                                    <a:rPr lang="en-US" altLang="zh-CN">
                                      <a:latin typeface="Cambria Math" panose="02040503050406030204" pitchFamily="18" charset="0"/>
                                    </a:rPr>
                                    <m:t>sin</m:t>
                                  </m:r>
                                </m:fName>
                                <m:e>
                                  <m:r>
                                    <a:rPr lang="zh-CN" altLang="en-US" i="1">
                                      <a:latin typeface="Cambria Math" panose="02040503050406030204" pitchFamily="18" charset="0"/>
                                    </a:rPr>
                                    <m:t>𝛼</m:t>
                                  </m:r>
                                </m:e>
                              </m:func>
                            </m:e>
                            <m:e>
                              <m:func>
                                <m:funcPr>
                                  <m:ctrlPr>
                                    <a:rPr lang="en-US" altLang="zh-CN" i="1">
                                      <a:latin typeface="Cambria Math" panose="02040503050406030204" pitchFamily="18" charset="0"/>
                                    </a:rPr>
                                  </m:ctrlPr>
                                </m:funcPr>
                                <m:fName>
                                  <m:r>
                                    <m:rPr>
                                      <m:sty m:val="p"/>
                                    </m:rPr>
                                    <a:rPr lang="en-US" altLang="zh-CN">
                                      <a:latin typeface="Cambria Math" panose="02040503050406030204" pitchFamily="18" charset="0"/>
                                    </a:rPr>
                                    <m:t>cos</m:t>
                                  </m:r>
                                </m:fName>
                                <m:e>
                                  <m:r>
                                    <a:rPr lang="zh-CN" altLang="en-US" i="1">
                                      <a:latin typeface="Cambria Math" panose="02040503050406030204" pitchFamily="18" charset="0"/>
                                    </a:rPr>
                                    <m:t>𝛼</m:t>
                                  </m:r>
                                </m:e>
                              </m:func>
                            </m:e>
                          </m:mr>
                        </m:m>
                      </m:e>
                    </m:d>
                  </m:oMath>
                </a14:m>
                <a:endParaRPr lang="en-US" altLang="zh-CN" dirty="0"/>
              </a:p>
              <a:p>
                <a:pPr marL="0" indent="0">
                  <a:lnSpc>
                    <a:spcPct val="120000"/>
                  </a:lnSpc>
                  <a:buNone/>
                </a:pPr>
                <a:endParaRPr lang="en-US" altLang="zh-CN" dirty="0"/>
              </a:p>
              <a:p>
                <a:pPr>
                  <a:lnSpc>
                    <a:spcPct val="120000"/>
                  </a:lnSpc>
                </a:pPr>
                <a14:m>
                  <m:oMath xmlns:m="http://schemas.openxmlformats.org/officeDocument/2006/math">
                    <m:r>
                      <a:rPr lang="en-US" altLang="zh-CN" i="1">
                        <a:latin typeface="Cambria Math" panose="02040503050406030204" pitchFamily="18" charset="0"/>
                      </a:rPr>
                      <m:t>𝑓</m:t>
                    </m:r>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e>
                    </m:d>
                    <m:r>
                      <a:rPr lang="en-US" altLang="zh-CN" i="1">
                        <a:latin typeface="Cambria Math" panose="02040503050406030204" pitchFamily="18" charset="0"/>
                      </a:rPr>
                      <m:t>=</m:t>
                    </m:r>
                    <m:r>
                      <a:rPr lang="en-US" altLang="zh-CN" b="0" i="1" smtClean="0">
                        <a:latin typeface="Cambria Math" panose="02040503050406030204" pitchFamily="18" charset="0"/>
                      </a:rPr>
                      <m:t>1=</m:t>
                    </m:r>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m:rPr>
                                  <m:brk m:alnAt="7"/>
                                </m:rPr>
                                <a:rPr lang="en-US" altLang="zh-CN" i="1">
                                  <a:latin typeface="Cambria Math" panose="02040503050406030204" pitchFamily="18" charset="0"/>
                                </a:rPr>
                                <m:t>𝑥</m:t>
                              </m:r>
                            </m:e>
                            <m:e>
                              <m:r>
                                <a:rPr lang="en-US" altLang="zh-CN" i="1">
                                  <a:latin typeface="Cambria Math" panose="02040503050406030204" pitchFamily="18" charset="0"/>
                                </a:rPr>
                                <m:t>𝑦</m:t>
                              </m:r>
                            </m:e>
                          </m:mr>
                        </m:m>
                      </m:e>
                    </m:d>
                    <m:r>
                      <a:rPr lang="en-US" altLang="zh-CN" b="0" i="1" smtClean="0">
                        <a:latin typeface="Cambria Math" panose="02040503050406030204" pitchFamily="18" charset="0"/>
                      </a:rPr>
                      <m:t>𝑅</m:t>
                    </m:r>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a:rPr lang="en-US" altLang="zh-CN" b="0" i="1" smtClean="0">
                                  <a:latin typeface="Cambria Math" panose="02040503050406030204" pitchFamily="18" charset="0"/>
                                </a:rPr>
                                <m:t>2</m:t>
                              </m:r>
                            </m:e>
                            <m:e>
                              <m:r>
                                <a:rPr lang="en-US" altLang="zh-CN" i="1">
                                  <a:latin typeface="Cambria Math" panose="02040503050406030204" pitchFamily="18" charset="0"/>
                                </a:rPr>
                                <m:t>0</m:t>
                              </m:r>
                            </m:e>
                          </m:mr>
                          <m:mr>
                            <m:e>
                              <m:r>
                                <a:rPr lang="en-US" altLang="zh-CN" i="1">
                                  <a:latin typeface="Cambria Math" panose="02040503050406030204" pitchFamily="18" charset="0"/>
                                </a:rPr>
                                <m:t>0</m:t>
                              </m:r>
                            </m:e>
                            <m:e>
                              <m:r>
                                <a:rPr lang="en-US" altLang="zh-CN" b="0" i="1" smtClean="0">
                                  <a:latin typeface="Cambria Math" panose="02040503050406030204" pitchFamily="18" charset="0"/>
                                </a:rPr>
                                <m:t>1</m:t>
                              </m:r>
                            </m:e>
                          </m:mr>
                        </m:m>
                      </m:e>
                    </m:d>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𝑅</m:t>
                        </m:r>
                      </m:e>
                      <m:sup>
                        <m:r>
                          <a:rPr lang="en-US" altLang="zh-CN" b="0" i="1" smtClean="0">
                            <a:latin typeface="Cambria Math" panose="02040503050406030204" pitchFamily="18" charset="0"/>
                          </a:rPr>
                          <m:t>−1</m:t>
                        </m:r>
                      </m:sup>
                    </m:sSup>
                    <m:d>
                      <m:dPr>
                        <m:begChr m:val="["/>
                        <m:endChr m:val="]"/>
                        <m:ctrlPr>
                          <a:rPr lang="en-US" altLang="zh-CN" i="1">
                            <a:latin typeface="Cambria Math" panose="02040503050406030204" pitchFamily="18" charset="0"/>
                          </a:rPr>
                        </m:ctrlPr>
                      </m:dPr>
                      <m:e>
                        <m:m>
                          <m:mPr>
                            <m:mcs>
                              <m:mc>
                                <m:mcPr>
                                  <m:count m:val="1"/>
                                  <m:mcJc m:val="center"/>
                                </m:mcPr>
                              </m:mc>
                            </m:mcs>
                            <m:ctrlPr>
                              <a:rPr lang="en-US" altLang="zh-CN" i="1">
                                <a:latin typeface="Cambria Math" panose="02040503050406030204" pitchFamily="18" charset="0"/>
                              </a:rPr>
                            </m:ctrlPr>
                          </m:mPr>
                          <m:mr>
                            <m:e>
                              <m:r>
                                <m:rPr>
                                  <m:brk m:alnAt="7"/>
                                </m:rPr>
                                <a:rPr lang="en-US" altLang="zh-CN" i="1">
                                  <a:latin typeface="Cambria Math" panose="02040503050406030204" pitchFamily="18" charset="0"/>
                                </a:rPr>
                                <m:t>𝑥</m:t>
                              </m:r>
                            </m:e>
                          </m:mr>
                          <m:mr>
                            <m:e>
                              <m:r>
                                <a:rPr lang="en-US" altLang="zh-CN" i="1">
                                  <a:latin typeface="Cambria Math" panose="02040503050406030204" pitchFamily="18" charset="0"/>
                                </a:rPr>
                                <m:t>𝑦</m:t>
                              </m:r>
                            </m:e>
                          </m:mr>
                        </m:m>
                      </m:e>
                    </m:d>
                  </m:oMath>
                </a14:m>
                <a:endParaRPr lang="en-US" altLang="zh-CN" dirty="0"/>
              </a:p>
              <a:p>
                <a:pPr marL="0" indent="0">
                  <a:lnSpc>
                    <a:spcPct val="120000"/>
                  </a:lnSpc>
                  <a:buNone/>
                </a:pPr>
                <a:endParaRPr lang="zh-CN" altLang="en-US" dirty="0"/>
              </a:p>
            </p:txBody>
          </p:sp>
        </mc:Choice>
        <mc:Fallback xmlns="">
          <p:sp>
            <p:nvSpPr>
              <p:cNvPr id="3" name="Content Placeholder 2">
                <a:extLst>
                  <a:ext uri="{FF2B5EF4-FFF2-40B4-BE49-F238E27FC236}">
                    <a16:creationId xmlns:a16="http://schemas.microsoft.com/office/drawing/2014/main" id="{EE75ED8F-9CA0-422C-A88E-58A0F47BD4FB}"/>
                  </a:ext>
                </a:extLst>
              </p:cNvPr>
              <p:cNvSpPr>
                <a:spLocks noGrp="1" noRot="1" noChangeAspect="1" noMove="1" noResize="1" noEditPoints="1" noAdjustHandles="1" noChangeArrowheads="1" noChangeShapeType="1" noTextEdit="1"/>
              </p:cNvSpPr>
              <p:nvPr>
                <p:ph idx="1"/>
              </p:nvPr>
            </p:nvSpPr>
            <p:spPr>
              <a:blipFill>
                <a:blip r:embed="rId2"/>
                <a:stretch>
                  <a:fillRect l="-1043" t="-980"/>
                </a:stretch>
              </a:blipFill>
            </p:spPr>
            <p:txBody>
              <a:bodyPr/>
              <a:lstStyle/>
              <a:p>
                <a:r>
                  <a:rPr lang="zh-CN" altLang="en-US">
                    <a:noFill/>
                  </a:rPr>
                  <a:t> </a:t>
                </a:r>
              </a:p>
            </p:txBody>
          </p:sp>
        </mc:Fallback>
      </mc:AlternateContent>
      <p:pic>
        <p:nvPicPr>
          <p:cNvPr id="14340" name="Picture 4" descr="Python 绘制椭圆平移旋转_Zetaa的博客-CSDN博客_python 旋转椭圆">
            <a:extLst>
              <a:ext uri="{FF2B5EF4-FFF2-40B4-BE49-F238E27FC236}">
                <a16:creationId xmlns:a16="http://schemas.microsoft.com/office/drawing/2014/main" id="{E66A0798-CF1D-4A8E-AE6F-B598FAD66F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40600" y="2082640"/>
            <a:ext cx="4388652" cy="32640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328626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98459-0022-413E-A6F0-6F8F31220B8A}"/>
              </a:ext>
            </a:extLst>
          </p:cNvPr>
          <p:cNvSpPr>
            <a:spLocks noGrp="1"/>
          </p:cNvSpPr>
          <p:nvPr>
            <p:ph type="title"/>
          </p:nvPr>
        </p:nvSpPr>
        <p:spPr/>
        <p:txBody>
          <a:bodyPr/>
          <a:lstStyle/>
          <a:p>
            <a:r>
              <a:rPr lang="zh-CN" altLang="en-US" b="1" dirty="0"/>
              <a:t>特征值与特征向量</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B31D925-43D5-4FF1-A205-039C8FF9D1D0}"/>
                  </a:ext>
                </a:extLst>
              </p:cNvPr>
              <p:cNvSpPr>
                <a:spLocks noGrp="1"/>
              </p:cNvSpPr>
              <p:nvPr>
                <p:ph idx="1"/>
              </p:nvPr>
            </p:nvSpPr>
            <p:spPr>
              <a:xfrm>
                <a:off x="838200" y="1825625"/>
                <a:ext cx="10515600" cy="4351338"/>
              </a:xfrm>
            </p:spPr>
            <p:txBody>
              <a:bodyPr/>
              <a:lstStyle/>
              <a:p>
                <a:pPr>
                  <a:lnSpc>
                    <a:spcPct val="120000"/>
                  </a:lnSpc>
                </a:pPr>
                <a14:m>
                  <m:oMath xmlns:m="http://schemas.openxmlformats.org/officeDocument/2006/math">
                    <m:r>
                      <a:rPr lang="en-US" altLang="zh-CN" i="1" smtClean="0">
                        <a:latin typeface="Cambria Math" panose="02040503050406030204" pitchFamily="18" charset="0"/>
                      </a:rPr>
                      <m:t>𝑓</m:t>
                    </m:r>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e>
                    </m:d>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𝑥</m:t>
                        </m:r>
                      </m:e>
                      <m:sup>
                        <m:r>
                          <a:rPr lang="en-US" altLang="zh-CN" i="1">
                            <a:latin typeface="Cambria Math" panose="02040503050406030204" pitchFamily="18" charset="0"/>
                          </a:rPr>
                          <m:t>2</m:t>
                        </m:r>
                      </m:sup>
                    </m:sSup>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𝑦</m:t>
                        </m:r>
                      </m:e>
                      <m:sup>
                        <m:r>
                          <a:rPr lang="en-US" altLang="zh-CN" i="1">
                            <a:latin typeface="Cambria Math" panose="02040503050406030204" pitchFamily="18" charset="0"/>
                          </a:rPr>
                          <m:t>2</m:t>
                        </m:r>
                      </m:sup>
                    </m:sSup>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m:rPr>
                                  <m:brk m:alnAt="7"/>
                                </m:rPr>
                                <a:rPr lang="en-US" altLang="zh-CN" i="1">
                                  <a:latin typeface="Cambria Math" panose="02040503050406030204" pitchFamily="18" charset="0"/>
                                </a:rPr>
                                <m:t>𝑥</m:t>
                              </m:r>
                            </m:e>
                            <m:e>
                              <m:r>
                                <a:rPr lang="en-US" altLang="zh-CN" i="1">
                                  <a:latin typeface="Cambria Math" panose="02040503050406030204" pitchFamily="18" charset="0"/>
                                </a:rPr>
                                <m:t>𝑦</m:t>
                              </m:r>
                            </m:e>
                          </m:mr>
                        </m:m>
                      </m:e>
                    </m:d>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m:rPr>
                                  <m:brk m:alnAt="7"/>
                                </m:rPr>
                                <a:rPr lang="en-US" altLang="zh-CN" i="1">
                                  <a:latin typeface="Cambria Math" panose="02040503050406030204" pitchFamily="18" charset="0"/>
                                </a:rPr>
                                <m:t>1</m:t>
                              </m:r>
                            </m:e>
                            <m:e>
                              <m:r>
                                <a:rPr lang="en-US" altLang="zh-CN" i="1">
                                  <a:latin typeface="Cambria Math" panose="02040503050406030204" pitchFamily="18" charset="0"/>
                                </a:rPr>
                                <m:t>0</m:t>
                              </m:r>
                            </m:e>
                          </m:mr>
                          <m:mr>
                            <m:e>
                              <m:r>
                                <a:rPr lang="en-US" altLang="zh-CN" i="1">
                                  <a:latin typeface="Cambria Math" panose="02040503050406030204" pitchFamily="18" charset="0"/>
                                </a:rPr>
                                <m:t>0</m:t>
                              </m:r>
                            </m:e>
                            <m:e>
                              <m:r>
                                <a:rPr lang="en-US" altLang="zh-CN" i="1">
                                  <a:latin typeface="Cambria Math" panose="02040503050406030204" pitchFamily="18" charset="0"/>
                                </a:rPr>
                                <m:t>1</m:t>
                              </m:r>
                            </m:e>
                          </m:mr>
                        </m:m>
                      </m:e>
                    </m:d>
                    <m:d>
                      <m:dPr>
                        <m:begChr m:val="["/>
                        <m:endChr m:val="]"/>
                        <m:ctrlPr>
                          <a:rPr lang="en-US" altLang="zh-CN" i="1">
                            <a:latin typeface="Cambria Math" panose="02040503050406030204" pitchFamily="18" charset="0"/>
                          </a:rPr>
                        </m:ctrlPr>
                      </m:dPr>
                      <m:e>
                        <m:m>
                          <m:mPr>
                            <m:mcs>
                              <m:mc>
                                <m:mcPr>
                                  <m:count m:val="1"/>
                                  <m:mcJc m:val="center"/>
                                </m:mcPr>
                              </m:mc>
                            </m:mcs>
                            <m:ctrlPr>
                              <a:rPr lang="en-US" altLang="zh-CN" i="1">
                                <a:latin typeface="Cambria Math" panose="02040503050406030204" pitchFamily="18" charset="0"/>
                              </a:rPr>
                            </m:ctrlPr>
                          </m:mPr>
                          <m:mr>
                            <m:e>
                              <m:r>
                                <m:rPr>
                                  <m:brk m:alnAt="7"/>
                                </m:rPr>
                                <a:rPr lang="en-US" altLang="zh-CN" i="1">
                                  <a:latin typeface="Cambria Math" panose="02040503050406030204" pitchFamily="18" charset="0"/>
                                </a:rPr>
                                <m:t>𝑥</m:t>
                              </m:r>
                            </m:e>
                          </m:mr>
                          <m:mr>
                            <m:e>
                              <m:r>
                                <a:rPr lang="en-US" altLang="zh-CN" i="1">
                                  <a:latin typeface="Cambria Math" panose="02040503050406030204" pitchFamily="18" charset="0"/>
                                </a:rPr>
                                <m:t>𝑦</m:t>
                              </m:r>
                            </m:e>
                          </m:mr>
                        </m:m>
                      </m:e>
                    </m:d>
                  </m:oMath>
                </a14:m>
                <a:endParaRPr lang="en-US" altLang="zh-CN" dirty="0"/>
              </a:p>
              <a:p>
                <a:pPr>
                  <a:lnSpc>
                    <a:spcPct val="120000"/>
                  </a:lnSpc>
                </a:pPr>
                <a:r>
                  <a:rPr lang="zh-CN" altLang="en-US" b="1" dirty="0">
                    <a:solidFill>
                      <a:srgbClr val="0070C0"/>
                    </a:solidFill>
                  </a:rPr>
                  <a:t>奇异值分解（</a:t>
                </a:r>
                <a:r>
                  <a:rPr lang="en-US" altLang="zh-CN" b="1" dirty="0">
                    <a:solidFill>
                      <a:srgbClr val="0070C0"/>
                    </a:solidFill>
                  </a:rPr>
                  <a:t>Singular Value Decomposition, SVD</a:t>
                </a:r>
                <a:r>
                  <a:rPr lang="zh-CN" altLang="en-US" b="1" dirty="0">
                    <a:solidFill>
                      <a:srgbClr val="0070C0"/>
                    </a:solidFill>
                  </a:rPr>
                  <a:t>）：</a:t>
                </a:r>
                <a:endParaRPr lang="en-US" altLang="zh-CN" b="1" dirty="0">
                  <a:solidFill>
                    <a:srgbClr val="0070C0"/>
                  </a:solidFill>
                </a:endParaRPr>
              </a:p>
              <a:p>
                <a:pPr lvl="1">
                  <a:lnSpc>
                    <a:spcPct val="120000"/>
                  </a:lnSpc>
                </a:pPr>
                <a:endParaRPr lang="en-US" altLang="zh-CN" i="1" dirty="0">
                  <a:latin typeface="Cambria Math" panose="02040503050406030204" pitchFamily="18" charset="0"/>
                </a:endParaRPr>
              </a:p>
              <a:p>
                <a:pPr lvl="1">
                  <a:lnSpc>
                    <a:spcPct val="120000"/>
                  </a:lnSpc>
                </a:pPr>
                <a14:m>
                  <m:oMath xmlns:m="http://schemas.openxmlformats.org/officeDocument/2006/math">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m:rPr>
                                  <m:brk m:alnAt="7"/>
                                </m:rPr>
                                <a:rPr lang="en-US" altLang="zh-CN" i="1">
                                  <a:latin typeface="Cambria Math" panose="02040503050406030204" pitchFamily="18" charset="0"/>
                                </a:rPr>
                                <m:t>1</m:t>
                              </m:r>
                            </m:e>
                            <m:e>
                              <m:r>
                                <a:rPr lang="en-US" altLang="zh-CN" i="1">
                                  <a:latin typeface="Cambria Math" panose="02040503050406030204" pitchFamily="18" charset="0"/>
                                </a:rPr>
                                <m:t>0</m:t>
                              </m:r>
                            </m:e>
                          </m:mr>
                          <m:mr>
                            <m:e>
                              <m:r>
                                <a:rPr lang="en-US" altLang="zh-CN" i="1">
                                  <a:latin typeface="Cambria Math" panose="02040503050406030204" pitchFamily="18" charset="0"/>
                                </a:rPr>
                                <m:t>0</m:t>
                              </m:r>
                            </m:e>
                            <m:e>
                              <m:r>
                                <a:rPr lang="en-US" altLang="zh-CN" i="1">
                                  <a:latin typeface="Cambria Math" panose="02040503050406030204" pitchFamily="18" charset="0"/>
                                </a:rPr>
                                <m:t>1</m:t>
                              </m:r>
                            </m:e>
                          </m:mr>
                        </m:m>
                      </m:e>
                    </m:d>
                    <m:r>
                      <a:rPr lang="en-US" altLang="zh-CN" b="0" i="1" smtClean="0">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m:rPr>
                                  <m:brk m:alnAt="7"/>
                                </m:rPr>
                                <a:rPr lang="en-US" altLang="zh-CN" i="1">
                                  <a:latin typeface="Cambria Math" panose="02040503050406030204" pitchFamily="18" charset="0"/>
                                </a:rPr>
                                <m:t>1</m:t>
                              </m:r>
                            </m:e>
                            <m:e>
                              <m:r>
                                <a:rPr lang="en-US" altLang="zh-CN" i="1">
                                  <a:latin typeface="Cambria Math" panose="02040503050406030204" pitchFamily="18" charset="0"/>
                                </a:rPr>
                                <m:t>0</m:t>
                              </m:r>
                            </m:e>
                          </m:mr>
                          <m:mr>
                            <m:e>
                              <m:r>
                                <a:rPr lang="en-US" altLang="zh-CN" i="1">
                                  <a:latin typeface="Cambria Math" panose="02040503050406030204" pitchFamily="18" charset="0"/>
                                </a:rPr>
                                <m:t>0</m:t>
                              </m:r>
                            </m:e>
                            <m:e>
                              <m:r>
                                <a:rPr lang="en-US" altLang="zh-CN" i="1">
                                  <a:latin typeface="Cambria Math" panose="02040503050406030204" pitchFamily="18" charset="0"/>
                                </a:rPr>
                                <m:t>1</m:t>
                              </m:r>
                            </m:e>
                          </m:mr>
                        </m:m>
                      </m:e>
                    </m:d>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m:rPr>
                                  <m:brk m:alnAt="7"/>
                                </m:rPr>
                                <a:rPr lang="en-US" altLang="zh-CN" i="1">
                                  <a:latin typeface="Cambria Math" panose="02040503050406030204" pitchFamily="18" charset="0"/>
                                </a:rPr>
                                <m:t>1</m:t>
                              </m:r>
                            </m:e>
                            <m:e>
                              <m:r>
                                <a:rPr lang="en-US" altLang="zh-CN" i="1">
                                  <a:latin typeface="Cambria Math" panose="02040503050406030204" pitchFamily="18" charset="0"/>
                                </a:rPr>
                                <m:t>0</m:t>
                              </m:r>
                            </m:e>
                          </m:mr>
                          <m:mr>
                            <m:e>
                              <m:r>
                                <a:rPr lang="en-US" altLang="zh-CN" i="1">
                                  <a:latin typeface="Cambria Math" panose="02040503050406030204" pitchFamily="18" charset="0"/>
                                </a:rPr>
                                <m:t>0</m:t>
                              </m:r>
                            </m:e>
                            <m:e>
                              <m:r>
                                <a:rPr lang="en-US" altLang="zh-CN" i="1">
                                  <a:latin typeface="Cambria Math" panose="02040503050406030204" pitchFamily="18" charset="0"/>
                                </a:rPr>
                                <m:t>1</m:t>
                              </m:r>
                            </m:e>
                          </m:mr>
                        </m:m>
                      </m:e>
                    </m:d>
                    <m:sSup>
                      <m:sSupPr>
                        <m:ctrlPr>
                          <a:rPr lang="en-US" altLang="zh-CN" i="1" smtClean="0">
                            <a:latin typeface="Cambria Math" panose="02040503050406030204" pitchFamily="18" charset="0"/>
                          </a:rPr>
                        </m:ctrlPr>
                      </m:sSupPr>
                      <m:e>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m:rPr>
                                      <m:brk m:alnAt="7"/>
                                    </m:rPr>
                                    <a:rPr lang="en-US" altLang="zh-CN" i="1">
                                      <a:latin typeface="Cambria Math" panose="02040503050406030204" pitchFamily="18" charset="0"/>
                                    </a:rPr>
                                    <m:t>1</m:t>
                                  </m:r>
                                </m:e>
                                <m:e>
                                  <m:r>
                                    <a:rPr lang="en-US" altLang="zh-CN" i="1">
                                      <a:latin typeface="Cambria Math" panose="02040503050406030204" pitchFamily="18" charset="0"/>
                                    </a:rPr>
                                    <m:t>0</m:t>
                                  </m:r>
                                </m:e>
                              </m:mr>
                              <m:mr>
                                <m:e>
                                  <m:r>
                                    <a:rPr lang="en-US" altLang="zh-CN" i="1">
                                      <a:latin typeface="Cambria Math" panose="02040503050406030204" pitchFamily="18" charset="0"/>
                                    </a:rPr>
                                    <m:t>0</m:t>
                                  </m:r>
                                </m:e>
                                <m:e>
                                  <m:r>
                                    <a:rPr lang="en-US" altLang="zh-CN" i="1">
                                      <a:latin typeface="Cambria Math" panose="02040503050406030204" pitchFamily="18" charset="0"/>
                                    </a:rPr>
                                    <m:t>1</m:t>
                                  </m:r>
                                </m:e>
                              </m:mr>
                            </m:m>
                          </m:e>
                        </m:d>
                      </m:e>
                      <m:sup>
                        <m:r>
                          <a:rPr lang="en-US" altLang="zh-CN" b="0" i="1" smtClean="0">
                            <a:latin typeface="Cambria Math" panose="02040503050406030204" pitchFamily="18" charset="0"/>
                          </a:rPr>
                          <m:t>𝑇</m:t>
                        </m:r>
                      </m:sup>
                    </m:sSup>
                  </m:oMath>
                </a14:m>
                <a:endParaRPr lang="zh-CN" altLang="en-US" b="1" dirty="0"/>
              </a:p>
            </p:txBody>
          </p:sp>
        </mc:Choice>
        <mc:Fallback xmlns="">
          <p:sp>
            <p:nvSpPr>
              <p:cNvPr id="3" name="Content Placeholder 2">
                <a:extLst>
                  <a:ext uri="{FF2B5EF4-FFF2-40B4-BE49-F238E27FC236}">
                    <a16:creationId xmlns:a16="http://schemas.microsoft.com/office/drawing/2014/main" id="{2B31D925-43D5-4FF1-A205-039C8FF9D1D0}"/>
                  </a:ext>
                </a:extLst>
              </p:cNvPr>
              <p:cNvSpPr>
                <a:spLocks noGrp="1" noRot="1" noChangeAspect="1" noMove="1" noResize="1" noEditPoints="1" noAdjustHandles="1" noChangeArrowheads="1" noChangeShapeType="1" noTextEdit="1"/>
              </p:cNvSpPr>
              <p:nvPr>
                <p:ph idx="1"/>
              </p:nvPr>
            </p:nvSpPr>
            <p:spPr>
              <a:xfrm>
                <a:off x="838200" y="1825625"/>
                <a:ext cx="10515600" cy="4351338"/>
              </a:xfrm>
              <a:blipFill>
                <a:blip r:embed="rId2"/>
                <a:stretch>
                  <a:fillRect l="-1043"/>
                </a:stretch>
              </a:blipFill>
            </p:spPr>
            <p:txBody>
              <a:bodyPr/>
              <a:lstStyle/>
              <a:p>
                <a:r>
                  <a:rPr lang="zh-CN" altLang="en-US">
                    <a:noFill/>
                  </a:rPr>
                  <a:t> </a:t>
                </a:r>
              </a:p>
            </p:txBody>
          </p:sp>
        </mc:Fallback>
      </mc:AlternateContent>
      <p:sp>
        <p:nvSpPr>
          <p:cNvPr id="5" name="Rectangle 4">
            <a:extLst>
              <a:ext uri="{FF2B5EF4-FFF2-40B4-BE49-F238E27FC236}">
                <a16:creationId xmlns:a16="http://schemas.microsoft.com/office/drawing/2014/main" id="{AB4D3EA8-50A1-4005-B515-75F18EF68465}"/>
              </a:ext>
            </a:extLst>
          </p:cNvPr>
          <p:cNvSpPr/>
          <p:nvPr/>
        </p:nvSpPr>
        <p:spPr>
          <a:xfrm>
            <a:off x="2561435" y="3551977"/>
            <a:ext cx="1402948" cy="369332"/>
          </a:xfrm>
          <a:prstGeom prst="rect">
            <a:avLst/>
          </a:prstGeom>
        </p:spPr>
        <p:txBody>
          <a:bodyPr wrap="none">
            <a:spAutoFit/>
          </a:bodyPr>
          <a:lstStyle/>
          <a:p>
            <a:r>
              <a:rPr lang="en-US" altLang="zh-CN" b="1" dirty="0"/>
              <a:t>eigenvectors</a:t>
            </a:r>
            <a:endParaRPr lang="zh-CN" altLang="en-US" dirty="0"/>
          </a:p>
        </p:txBody>
      </p:sp>
      <p:sp>
        <p:nvSpPr>
          <p:cNvPr id="6" name="Rectangle 5">
            <a:extLst>
              <a:ext uri="{FF2B5EF4-FFF2-40B4-BE49-F238E27FC236}">
                <a16:creationId xmlns:a16="http://schemas.microsoft.com/office/drawing/2014/main" id="{64490355-C620-46FE-9A1C-D6B8C7B4EF96}"/>
              </a:ext>
            </a:extLst>
          </p:cNvPr>
          <p:cNvSpPr/>
          <p:nvPr/>
        </p:nvSpPr>
        <p:spPr>
          <a:xfrm>
            <a:off x="3653873" y="4798238"/>
            <a:ext cx="1313180" cy="369332"/>
          </a:xfrm>
          <a:prstGeom prst="rect">
            <a:avLst/>
          </a:prstGeom>
        </p:spPr>
        <p:txBody>
          <a:bodyPr wrap="none">
            <a:spAutoFit/>
          </a:bodyPr>
          <a:lstStyle/>
          <a:p>
            <a:r>
              <a:rPr lang="en-US" altLang="zh-CN" b="1" dirty="0"/>
              <a:t>eigenvalues</a:t>
            </a:r>
            <a:endParaRPr lang="zh-CN" altLang="en-US" dirty="0"/>
          </a:p>
        </p:txBody>
      </p:sp>
      <p:sp>
        <p:nvSpPr>
          <p:cNvPr id="8" name="Rectangle: Rounded Corners 7">
            <a:extLst>
              <a:ext uri="{FF2B5EF4-FFF2-40B4-BE49-F238E27FC236}">
                <a16:creationId xmlns:a16="http://schemas.microsoft.com/office/drawing/2014/main" id="{B2D81194-DAAB-4066-AC02-E47778985371}"/>
              </a:ext>
            </a:extLst>
          </p:cNvPr>
          <p:cNvSpPr/>
          <p:nvPr/>
        </p:nvSpPr>
        <p:spPr>
          <a:xfrm>
            <a:off x="2956846" y="4084885"/>
            <a:ext cx="247827" cy="713353"/>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Rectangle: Rounded Corners 8">
            <a:extLst>
              <a:ext uri="{FF2B5EF4-FFF2-40B4-BE49-F238E27FC236}">
                <a16:creationId xmlns:a16="http://schemas.microsoft.com/office/drawing/2014/main" id="{48538033-0826-49B2-9889-0BB23DDCF4C6}"/>
              </a:ext>
            </a:extLst>
          </p:cNvPr>
          <p:cNvSpPr/>
          <p:nvPr/>
        </p:nvSpPr>
        <p:spPr>
          <a:xfrm>
            <a:off x="3413167" y="4088938"/>
            <a:ext cx="247827" cy="713353"/>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Rectangle: Rounded Corners 9">
            <a:extLst>
              <a:ext uri="{FF2B5EF4-FFF2-40B4-BE49-F238E27FC236}">
                <a16:creationId xmlns:a16="http://schemas.microsoft.com/office/drawing/2014/main" id="{28631C8B-7A59-4AE2-ADF5-CC96DBF8F802}"/>
              </a:ext>
            </a:extLst>
          </p:cNvPr>
          <p:cNvSpPr/>
          <p:nvPr/>
        </p:nvSpPr>
        <p:spPr>
          <a:xfrm>
            <a:off x="3869488" y="4098247"/>
            <a:ext cx="247827" cy="340084"/>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Rectangle: Rounded Corners 10">
            <a:extLst>
              <a:ext uri="{FF2B5EF4-FFF2-40B4-BE49-F238E27FC236}">
                <a16:creationId xmlns:a16="http://schemas.microsoft.com/office/drawing/2014/main" id="{F0A2E19F-A05D-47DB-932C-D4F90F9B07FC}"/>
              </a:ext>
            </a:extLst>
          </p:cNvPr>
          <p:cNvSpPr/>
          <p:nvPr/>
        </p:nvSpPr>
        <p:spPr>
          <a:xfrm>
            <a:off x="4325809" y="4438331"/>
            <a:ext cx="247827" cy="340084"/>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8" name="Image" descr="Image">
            <a:extLst>
              <a:ext uri="{FF2B5EF4-FFF2-40B4-BE49-F238E27FC236}">
                <a16:creationId xmlns:a16="http://schemas.microsoft.com/office/drawing/2014/main" id="{5113C83E-B32E-4C11-9D55-7C0EB3294D63}"/>
              </a:ext>
            </a:extLst>
          </p:cNvPr>
          <p:cNvPicPr>
            <a:picLocks noChangeAspect="1"/>
          </p:cNvPicPr>
          <p:nvPr/>
        </p:nvPicPr>
        <p:blipFill>
          <a:blip r:embed="rId3">
            <a:extLst/>
          </a:blip>
          <a:stretch>
            <a:fillRect/>
          </a:stretch>
        </p:blipFill>
        <p:spPr>
          <a:xfrm>
            <a:off x="10375900" y="4874953"/>
            <a:ext cx="241301" cy="215901"/>
          </a:xfrm>
          <a:prstGeom prst="rect">
            <a:avLst/>
          </a:prstGeom>
          <a:ln w="12700">
            <a:miter lim="400000"/>
          </a:ln>
        </p:spPr>
      </p:pic>
      <p:pic>
        <p:nvPicPr>
          <p:cNvPr id="19" name="Image" descr="Image">
            <a:extLst>
              <a:ext uri="{FF2B5EF4-FFF2-40B4-BE49-F238E27FC236}">
                <a16:creationId xmlns:a16="http://schemas.microsoft.com/office/drawing/2014/main" id="{4FF6A8FB-C9D8-4E98-A6EB-D5C63C7C21C4}"/>
              </a:ext>
            </a:extLst>
          </p:cNvPr>
          <p:cNvPicPr>
            <a:picLocks noChangeAspect="1"/>
          </p:cNvPicPr>
          <p:nvPr/>
        </p:nvPicPr>
        <p:blipFill>
          <a:blip r:embed="rId4">
            <a:extLst/>
          </a:blip>
          <a:stretch>
            <a:fillRect/>
          </a:stretch>
        </p:blipFill>
        <p:spPr>
          <a:xfrm>
            <a:off x="8746965" y="6492875"/>
            <a:ext cx="228601" cy="304801"/>
          </a:xfrm>
          <a:prstGeom prst="rect">
            <a:avLst/>
          </a:prstGeom>
          <a:ln w="12700">
            <a:miter lim="400000"/>
          </a:ln>
        </p:spPr>
      </p:pic>
      <p:pic>
        <p:nvPicPr>
          <p:cNvPr id="21" name="Picture 20">
            <a:extLst>
              <a:ext uri="{FF2B5EF4-FFF2-40B4-BE49-F238E27FC236}">
                <a16:creationId xmlns:a16="http://schemas.microsoft.com/office/drawing/2014/main" id="{06280ECD-BE60-4010-A525-ACC5B3C6D874}"/>
              </a:ext>
            </a:extLst>
          </p:cNvPr>
          <p:cNvPicPr>
            <a:picLocks noChangeAspect="1"/>
          </p:cNvPicPr>
          <p:nvPr/>
        </p:nvPicPr>
        <p:blipFill rotWithShape="1">
          <a:blip r:embed="rId5"/>
          <a:srcRect r="7187" b="4812"/>
          <a:stretch/>
        </p:blipFill>
        <p:spPr>
          <a:xfrm>
            <a:off x="7346633" y="3330830"/>
            <a:ext cx="3029267" cy="3162045"/>
          </a:xfrm>
          <a:prstGeom prst="rect">
            <a:avLst/>
          </a:prstGeom>
        </p:spPr>
      </p:pic>
    </p:spTree>
    <p:extLst>
      <p:ext uri="{BB962C8B-B14F-4D97-AF65-F5344CB8AC3E}">
        <p14:creationId xmlns:p14="http://schemas.microsoft.com/office/powerpoint/2010/main" val="123255850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98459-0022-413E-A6F0-6F8F31220B8A}"/>
              </a:ext>
            </a:extLst>
          </p:cNvPr>
          <p:cNvSpPr>
            <a:spLocks noGrp="1"/>
          </p:cNvSpPr>
          <p:nvPr>
            <p:ph type="title"/>
          </p:nvPr>
        </p:nvSpPr>
        <p:spPr/>
        <p:txBody>
          <a:bodyPr/>
          <a:lstStyle/>
          <a:p>
            <a:r>
              <a:rPr lang="zh-CN" altLang="en-US" b="1" dirty="0"/>
              <a:t>特征值与特征向量</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B31D925-43D5-4FF1-A205-039C8FF9D1D0}"/>
                  </a:ext>
                </a:extLst>
              </p:cNvPr>
              <p:cNvSpPr>
                <a:spLocks noGrp="1"/>
              </p:cNvSpPr>
              <p:nvPr>
                <p:ph idx="1"/>
              </p:nvPr>
            </p:nvSpPr>
            <p:spPr>
              <a:xfrm>
                <a:off x="838200" y="1825625"/>
                <a:ext cx="10515600" cy="4351338"/>
              </a:xfrm>
            </p:spPr>
            <p:txBody>
              <a:bodyPr>
                <a:normAutofit/>
              </a:bodyPr>
              <a:lstStyle/>
              <a:p>
                <a:pPr>
                  <a:lnSpc>
                    <a:spcPct val="120000"/>
                  </a:lnSpc>
                </a:pPr>
                <a14:m>
                  <m:oMath xmlns:m="http://schemas.openxmlformats.org/officeDocument/2006/math">
                    <m:r>
                      <m:rPr>
                        <m:sty m:val="p"/>
                      </m:rPr>
                      <a:rPr lang="en-US" altLang="zh-CN" i="1" dirty="0" smtClean="0">
                        <a:latin typeface="Cambria Math" panose="02040503050406030204" pitchFamily="18" charset="0"/>
                      </a:rPr>
                      <m:t>M</m:t>
                    </m:r>
                    <m:r>
                      <a:rPr lang="en-US" altLang="zh-CN" b="0" i="1" dirty="0" smtClean="0">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m:rPr>
                                  <m:brk m:alnAt="7"/>
                                </m:rPr>
                                <a:rPr lang="en-US" altLang="zh-CN" b="0" i="1" smtClean="0">
                                  <a:latin typeface="Cambria Math" panose="02040503050406030204" pitchFamily="18" charset="0"/>
                                </a:rPr>
                                <m:t>4</m:t>
                              </m:r>
                            </m:e>
                            <m:e>
                              <m:r>
                                <a:rPr lang="en-US" altLang="zh-CN" i="1">
                                  <a:latin typeface="Cambria Math" panose="02040503050406030204" pitchFamily="18" charset="0"/>
                                </a:rPr>
                                <m:t>0</m:t>
                              </m:r>
                            </m:e>
                          </m:mr>
                          <m:mr>
                            <m:e>
                              <m:r>
                                <a:rPr lang="en-US" altLang="zh-CN" i="1">
                                  <a:latin typeface="Cambria Math" panose="02040503050406030204" pitchFamily="18" charset="0"/>
                                </a:rPr>
                                <m:t>0</m:t>
                              </m:r>
                            </m:e>
                            <m:e>
                              <m:r>
                                <a:rPr lang="en-US" altLang="zh-CN" i="1">
                                  <a:latin typeface="Cambria Math" panose="02040503050406030204" pitchFamily="18" charset="0"/>
                                </a:rPr>
                                <m:t>1</m:t>
                              </m:r>
                            </m:e>
                          </m:mr>
                        </m:m>
                      </m:e>
                    </m:d>
                    <m:r>
                      <a:rPr lang="en-US" altLang="zh-CN" b="0" i="1" smtClean="0">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m:rPr>
                                  <m:brk m:alnAt="7"/>
                                </m:rPr>
                                <a:rPr lang="en-US" altLang="zh-CN" i="1">
                                  <a:latin typeface="Cambria Math" panose="02040503050406030204" pitchFamily="18" charset="0"/>
                                </a:rPr>
                                <m:t>1</m:t>
                              </m:r>
                            </m:e>
                            <m:e>
                              <m:r>
                                <a:rPr lang="en-US" altLang="zh-CN" i="1">
                                  <a:latin typeface="Cambria Math" panose="02040503050406030204" pitchFamily="18" charset="0"/>
                                </a:rPr>
                                <m:t>0</m:t>
                              </m:r>
                            </m:e>
                          </m:mr>
                          <m:mr>
                            <m:e>
                              <m:r>
                                <a:rPr lang="en-US" altLang="zh-CN" i="1">
                                  <a:latin typeface="Cambria Math" panose="02040503050406030204" pitchFamily="18" charset="0"/>
                                </a:rPr>
                                <m:t>0</m:t>
                              </m:r>
                            </m:e>
                            <m:e>
                              <m:r>
                                <a:rPr lang="en-US" altLang="zh-CN" i="1">
                                  <a:latin typeface="Cambria Math" panose="02040503050406030204" pitchFamily="18" charset="0"/>
                                </a:rPr>
                                <m:t>1</m:t>
                              </m:r>
                            </m:e>
                          </m:mr>
                        </m:m>
                      </m:e>
                    </m:d>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m:rPr>
                                  <m:brk m:alnAt="7"/>
                                </m:rPr>
                                <a:rPr lang="en-US" altLang="zh-CN" b="0" i="1" smtClean="0">
                                  <a:latin typeface="Cambria Math" panose="02040503050406030204" pitchFamily="18" charset="0"/>
                                </a:rPr>
                                <m:t>4</m:t>
                              </m:r>
                            </m:e>
                            <m:e>
                              <m:r>
                                <a:rPr lang="en-US" altLang="zh-CN" i="1">
                                  <a:latin typeface="Cambria Math" panose="02040503050406030204" pitchFamily="18" charset="0"/>
                                </a:rPr>
                                <m:t>0</m:t>
                              </m:r>
                            </m:e>
                          </m:mr>
                          <m:mr>
                            <m:e>
                              <m:r>
                                <a:rPr lang="en-US" altLang="zh-CN" i="1">
                                  <a:latin typeface="Cambria Math" panose="02040503050406030204" pitchFamily="18" charset="0"/>
                                </a:rPr>
                                <m:t>0</m:t>
                              </m:r>
                            </m:e>
                            <m:e>
                              <m:r>
                                <a:rPr lang="en-US" altLang="zh-CN" i="1">
                                  <a:latin typeface="Cambria Math" panose="02040503050406030204" pitchFamily="18" charset="0"/>
                                </a:rPr>
                                <m:t>1</m:t>
                              </m:r>
                            </m:e>
                          </m:mr>
                        </m:m>
                      </m:e>
                    </m:d>
                    <m:sSup>
                      <m:sSupPr>
                        <m:ctrlPr>
                          <a:rPr lang="en-US" altLang="zh-CN" i="1" smtClean="0">
                            <a:latin typeface="Cambria Math" panose="02040503050406030204" pitchFamily="18" charset="0"/>
                          </a:rPr>
                        </m:ctrlPr>
                      </m:sSupPr>
                      <m:e>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m:rPr>
                                      <m:brk m:alnAt="7"/>
                                    </m:rPr>
                                    <a:rPr lang="en-US" altLang="zh-CN" i="1">
                                      <a:latin typeface="Cambria Math" panose="02040503050406030204" pitchFamily="18" charset="0"/>
                                    </a:rPr>
                                    <m:t>1</m:t>
                                  </m:r>
                                </m:e>
                                <m:e>
                                  <m:r>
                                    <a:rPr lang="en-US" altLang="zh-CN" i="1">
                                      <a:latin typeface="Cambria Math" panose="02040503050406030204" pitchFamily="18" charset="0"/>
                                    </a:rPr>
                                    <m:t>0</m:t>
                                  </m:r>
                                </m:e>
                              </m:mr>
                              <m:mr>
                                <m:e>
                                  <m:r>
                                    <a:rPr lang="en-US" altLang="zh-CN" i="1">
                                      <a:latin typeface="Cambria Math" panose="02040503050406030204" pitchFamily="18" charset="0"/>
                                    </a:rPr>
                                    <m:t>0</m:t>
                                  </m:r>
                                </m:e>
                                <m:e>
                                  <m:r>
                                    <a:rPr lang="en-US" altLang="zh-CN" i="1">
                                      <a:latin typeface="Cambria Math" panose="02040503050406030204" pitchFamily="18" charset="0"/>
                                    </a:rPr>
                                    <m:t>1</m:t>
                                  </m:r>
                                </m:e>
                              </m:mr>
                            </m:m>
                          </m:e>
                        </m:d>
                      </m:e>
                      <m:sup>
                        <m:r>
                          <a:rPr lang="en-US" altLang="zh-CN" b="0" i="1" smtClean="0">
                            <a:latin typeface="Cambria Math" panose="02040503050406030204" pitchFamily="18" charset="0"/>
                          </a:rPr>
                          <m:t>𝑇</m:t>
                        </m:r>
                      </m:sup>
                    </m:sSup>
                  </m:oMath>
                </a14:m>
                <a:endParaRPr lang="en-US" altLang="zh-CN" b="1" dirty="0"/>
              </a:p>
              <a:p>
                <a:pPr marL="0" indent="0">
                  <a:lnSpc>
                    <a:spcPct val="120000"/>
                  </a:lnSpc>
                  <a:buNone/>
                </a:pPr>
                <a:endParaRPr lang="en-US" altLang="zh-CN" b="1" dirty="0"/>
              </a:p>
              <a:p>
                <a:pPr>
                  <a:lnSpc>
                    <a:spcPct val="120000"/>
                  </a:lnSpc>
                </a:pPr>
                <a14:m>
                  <m:oMath xmlns:m="http://schemas.openxmlformats.org/officeDocument/2006/math">
                    <m:r>
                      <m:rPr>
                        <m:sty m:val="p"/>
                      </m:rPr>
                      <a:rPr lang="en-US" altLang="zh-CN" i="1" dirty="0">
                        <a:latin typeface="Cambria Math" panose="02040503050406030204" pitchFamily="18" charset="0"/>
                      </a:rPr>
                      <m:t>M</m:t>
                    </m:r>
                    <m:r>
                      <a:rPr lang="en-US" altLang="zh-CN" i="1" dirty="0">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m:rPr>
                                  <m:brk m:alnAt="7"/>
                                </m:rPr>
                                <a:rPr lang="en-US" altLang="zh-CN" b="0" i="1" smtClean="0">
                                  <a:latin typeface="Cambria Math" panose="02040503050406030204" pitchFamily="18" charset="0"/>
                                </a:rPr>
                                <m:t>3</m:t>
                              </m:r>
                              <m:r>
                                <a:rPr lang="en-US" altLang="zh-CN" b="0" i="1" smtClean="0">
                                  <a:latin typeface="Cambria Math" panose="02040503050406030204" pitchFamily="18" charset="0"/>
                                </a:rPr>
                                <m:t>.25</m:t>
                              </m:r>
                            </m:e>
                            <m:e>
                              <m:r>
                                <a:rPr lang="en-US" altLang="zh-CN" b="0" i="1" smtClean="0">
                                  <a:latin typeface="Cambria Math" panose="02040503050406030204" pitchFamily="18" charset="0"/>
                                </a:rPr>
                                <m:t>1.30</m:t>
                              </m:r>
                            </m:e>
                          </m:mr>
                          <m:mr>
                            <m:e>
                              <m:r>
                                <a:rPr lang="en-US" altLang="zh-CN" b="0" i="1" smtClean="0">
                                  <a:latin typeface="Cambria Math" panose="02040503050406030204" pitchFamily="18" charset="0"/>
                                </a:rPr>
                                <m:t>1.30</m:t>
                              </m:r>
                            </m:e>
                            <m:e>
                              <m:r>
                                <a:rPr lang="en-US" altLang="zh-CN" i="1">
                                  <a:latin typeface="Cambria Math" panose="02040503050406030204" pitchFamily="18" charset="0"/>
                                </a:rPr>
                                <m:t>1</m:t>
                              </m:r>
                            </m:e>
                          </m:mr>
                        </m:m>
                      </m:e>
                    </m:d>
                  </m:oMath>
                </a14:m>
                <a:endParaRPr lang="en-US" altLang="zh-CN" i="1" dirty="0">
                  <a:latin typeface="Cambria Math" panose="02040503050406030204" pitchFamily="18" charset="0"/>
                </a:endParaRPr>
              </a:p>
              <a:p>
                <a:pPr marL="0" indent="0">
                  <a:lnSpc>
                    <a:spcPct val="120000"/>
                  </a:lnSpc>
                  <a:buNone/>
                </a:pPr>
                <a14:m>
                  <m:oMath xmlns:m="http://schemas.openxmlformats.org/officeDocument/2006/math">
                    <m:r>
                      <a:rPr lang="en-US" altLang="zh-CN" b="0" i="1" smtClean="0">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a:rPr lang="en-US" altLang="zh-CN" b="0" i="1" smtClean="0">
                                  <a:latin typeface="Cambria Math" panose="02040503050406030204" pitchFamily="18" charset="0"/>
                                </a:rPr>
                                <m:t>0.50</m:t>
                              </m:r>
                            </m:e>
                            <m:e>
                              <m:r>
                                <a:rPr lang="en-US" altLang="zh-CN" b="0" i="1" smtClean="0">
                                  <a:latin typeface="Cambria Math" panose="02040503050406030204" pitchFamily="18" charset="0"/>
                                </a:rPr>
                                <m:t>−0.87</m:t>
                              </m:r>
                            </m:e>
                          </m:mr>
                          <m:mr>
                            <m:e>
                              <m:r>
                                <a:rPr lang="en-US" altLang="zh-CN" b="0" i="1" smtClean="0">
                                  <a:latin typeface="Cambria Math" panose="02040503050406030204" pitchFamily="18" charset="0"/>
                                </a:rPr>
                                <m:t>−0.87</m:t>
                              </m:r>
                            </m:e>
                            <m:e>
                              <m:r>
                                <a:rPr lang="en-US" altLang="zh-CN" b="0" i="1" smtClean="0">
                                  <a:latin typeface="Cambria Math" panose="02040503050406030204" pitchFamily="18" charset="0"/>
                                </a:rPr>
                                <m:t>−0.50</m:t>
                              </m:r>
                            </m:e>
                          </m:mr>
                        </m:m>
                      </m:e>
                    </m:d>
                  </m:oMath>
                </a14:m>
                <a:r>
                  <a:rPr lang="en-US" altLang="zh-CN" dirty="0"/>
                  <a:t> </a:t>
                </a:r>
                <a14:m>
                  <m:oMath xmlns:m="http://schemas.openxmlformats.org/officeDocument/2006/math">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a:rPr lang="en-US" altLang="zh-CN" b="0" i="1" smtClean="0">
                                  <a:latin typeface="Cambria Math" panose="02040503050406030204" pitchFamily="18" charset="0"/>
                                </a:rPr>
                                <m:t>1</m:t>
                              </m:r>
                            </m:e>
                            <m:e>
                              <m:r>
                                <a:rPr lang="en-US" altLang="zh-CN" b="0" i="1" smtClean="0">
                                  <a:latin typeface="Cambria Math" panose="02040503050406030204" pitchFamily="18" charset="0"/>
                                </a:rPr>
                                <m:t>0</m:t>
                              </m:r>
                            </m:e>
                          </m:mr>
                          <m:mr>
                            <m:e>
                              <m:r>
                                <a:rPr lang="en-US" altLang="zh-CN" b="0" i="1" smtClean="0">
                                  <a:latin typeface="Cambria Math" panose="02040503050406030204" pitchFamily="18" charset="0"/>
                                </a:rPr>
                                <m:t>0</m:t>
                              </m:r>
                            </m:e>
                            <m:e>
                              <m:r>
                                <a:rPr lang="en-US" altLang="zh-CN" b="0" i="1" smtClean="0">
                                  <a:latin typeface="Cambria Math" panose="02040503050406030204" pitchFamily="18" charset="0"/>
                                </a:rPr>
                                <m:t>4</m:t>
                              </m:r>
                            </m:e>
                          </m:mr>
                        </m:m>
                      </m:e>
                    </m:d>
                    <m:sSup>
                      <m:sSupPr>
                        <m:ctrlPr>
                          <a:rPr lang="en-US" altLang="zh-CN" i="1">
                            <a:latin typeface="Cambria Math" panose="02040503050406030204" pitchFamily="18" charset="0"/>
                          </a:rPr>
                        </m:ctrlPr>
                      </m:sSupPr>
                      <m:e>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a:rPr lang="en-US" altLang="zh-CN" i="1">
                                      <a:latin typeface="Cambria Math" panose="02040503050406030204" pitchFamily="18" charset="0"/>
                                    </a:rPr>
                                    <m:t>0.50</m:t>
                                  </m:r>
                                </m:e>
                                <m:e>
                                  <m:r>
                                    <a:rPr lang="en-US" altLang="zh-CN" i="1">
                                      <a:latin typeface="Cambria Math" panose="02040503050406030204" pitchFamily="18" charset="0"/>
                                    </a:rPr>
                                    <m:t>−0.87</m:t>
                                  </m:r>
                                </m:e>
                              </m:mr>
                              <m:mr>
                                <m:e>
                                  <m:r>
                                    <a:rPr lang="en-US" altLang="zh-CN" i="1">
                                      <a:latin typeface="Cambria Math" panose="02040503050406030204" pitchFamily="18" charset="0"/>
                                    </a:rPr>
                                    <m:t>−0.87</m:t>
                                  </m:r>
                                </m:e>
                                <m:e>
                                  <m:r>
                                    <a:rPr lang="en-US" altLang="zh-CN" i="1">
                                      <a:latin typeface="Cambria Math" panose="02040503050406030204" pitchFamily="18" charset="0"/>
                                    </a:rPr>
                                    <m:t>−0.50</m:t>
                                  </m:r>
                                </m:e>
                              </m:mr>
                            </m:m>
                          </m:e>
                        </m:d>
                      </m:e>
                      <m:sup>
                        <m:r>
                          <a:rPr lang="en-US" altLang="zh-CN" i="1">
                            <a:latin typeface="Cambria Math" panose="02040503050406030204" pitchFamily="18" charset="0"/>
                          </a:rPr>
                          <m:t>𝑇</m:t>
                        </m:r>
                      </m:sup>
                    </m:sSup>
                  </m:oMath>
                </a14:m>
                <a:endParaRPr lang="zh-CN" altLang="en-US" b="1" dirty="0"/>
              </a:p>
            </p:txBody>
          </p:sp>
        </mc:Choice>
        <mc:Fallback xmlns="">
          <p:sp>
            <p:nvSpPr>
              <p:cNvPr id="3" name="Content Placeholder 2">
                <a:extLst>
                  <a:ext uri="{FF2B5EF4-FFF2-40B4-BE49-F238E27FC236}">
                    <a16:creationId xmlns:a16="http://schemas.microsoft.com/office/drawing/2014/main" id="{2B31D925-43D5-4FF1-A205-039C8FF9D1D0}"/>
                  </a:ext>
                </a:extLst>
              </p:cNvPr>
              <p:cNvSpPr>
                <a:spLocks noGrp="1" noRot="1" noChangeAspect="1" noMove="1" noResize="1" noEditPoints="1" noAdjustHandles="1" noChangeArrowheads="1" noChangeShapeType="1" noTextEdit="1"/>
              </p:cNvSpPr>
              <p:nvPr>
                <p:ph idx="1"/>
              </p:nvPr>
            </p:nvSpPr>
            <p:spPr>
              <a:xfrm>
                <a:off x="838200" y="1825625"/>
                <a:ext cx="10515600" cy="4351338"/>
              </a:xfrm>
              <a:blipFill>
                <a:blip r:embed="rId2"/>
                <a:stretch>
                  <a:fillRect/>
                </a:stretch>
              </a:blipFill>
            </p:spPr>
            <p:txBody>
              <a:bodyPr/>
              <a:lstStyle/>
              <a:p>
                <a:r>
                  <a:rPr lang="zh-CN" altLang="en-US">
                    <a:noFill/>
                  </a:rPr>
                  <a:t> </a:t>
                </a:r>
              </a:p>
            </p:txBody>
          </p:sp>
        </mc:Fallback>
      </mc:AlternateContent>
      <p:sp>
        <p:nvSpPr>
          <p:cNvPr id="5" name="Rectangle 4">
            <a:extLst>
              <a:ext uri="{FF2B5EF4-FFF2-40B4-BE49-F238E27FC236}">
                <a16:creationId xmlns:a16="http://schemas.microsoft.com/office/drawing/2014/main" id="{AB4D3EA8-50A1-4005-B515-75F18EF68465}"/>
              </a:ext>
            </a:extLst>
          </p:cNvPr>
          <p:cNvSpPr/>
          <p:nvPr/>
        </p:nvSpPr>
        <p:spPr>
          <a:xfrm>
            <a:off x="3130779" y="1576528"/>
            <a:ext cx="1402948" cy="369332"/>
          </a:xfrm>
          <a:prstGeom prst="rect">
            <a:avLst/>
          </a:prstGeom>
        </p:spPr>
        <p:txBody>
          <a:bodyPr wrap="none">
            <a:spAutoFit/>
          </a:bodyPr>
          <a:lstStyle/>
          <a:p>
            <a:r>
              <a:rPr lang="en-US" altLang="zh-CN" b="1" dirty="0"/>
              <a:t>eigenvectors</a:t>
            </a:r>
            <a:endParaRPr lang="zh-CN" altLang="en-US" dirty="0"/>
          </a:p>
        </p:txBody>
      </p:sp>
      <p:sp>
        <p:nvSpPr>
          <p:cNvPr id="6" name="Rectangle 5">
            <a:extLst>
              <a:ext uri="{FF2B5EF4-FFF2-40B4-BE49-F238E27FC236}">
                <a16:creationId xmlns:a16="http://schemas.microsoft.com/office/drawing/2014/main" id="{64490355-C620-46FE-9A1C-D6B8C7B4EF96}"/>
              </a:ext>
            </a:extLst>
          </p:cNvPr>
          <p:cNvSpPr/>
          <p:nvPr/>
        </p:nvSpPr>
        <p:spPr>
          <a:xfrm>
            <a:off x="4393378" y="2822789"/>
            <a:ext cx="1313180" cy="369332"/>
          </a:xfrm>
          <a:prstGeom prst="rect">
            <a:avLst/>
          </a:prstGeom>
        </p:spPr>
        <p:txBody>
          <a:bodyPr wrap="none">
            <a:spAutoFit/>
          </a:bodyPr>
          <a:lstStyle/>
          <a:p>
            <a:r>
              <a:rPr lang="en-US" altLang="zh-CN" b="1" dirty="0"/>
              <a:t>eigenvalues</a:t>
            </a:r>
            <a:endParaRPr lang="zh-CN" altLang="en-US" dirty="0"/>
          </a:p>
        </p:txBody>
      </p:sp>
      <p:sp>
        <p:nvSpPr>
          <p:cNvPr id="8" name="Rectangle: Rounded Corners 7">
            <a:extLst>
              <a:ext uri="{FF2B5EF4-FFF2-40B4-BE49-F238E27FC236}">
                <a16:creationId xmlns:a16="http://schemas.microsoft.com/office/drawing/2014/main" id="{B2D81194-DAAB-4066-AC02-E47778985371}"/>
              </a:ext>
            </a:extLst>
          </p:cNvPr>
          <p:cNvSpPr/>
          <p:nvPr/>
        </p:nvSpPr>
        <p:spPr>
          <a:xfrm>
            <a:off x="3508938" y="2109436"/>
            <a:ext cx="247827" cy="713353"/>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Rectangle: Rounded Corners 8">
            <a:extLst>
              <a:ext uri="{FF2B5EF4-FFF2-40B4-BE49-F238E27FC236}">
                <a16:creationId xmlns:a16="http://schemas.microsoft.com/office/drawing/2014/main" id="{48538033-0826-49B2-9889-0BB23DDCF4C6}"/>
              </a:ext>
            </a:extLst>
          </p:cNvPr>
          <p:cNvSpPr/>
          <p:nvPr/>
        </p:nvSpPr>
        <p:spPr>
          <a:xfrm>
            <a:off x="4025641" y="2070360"/>
            <a:ext cx="247827" cy="75243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Rectangle: Rounded Corners 9">
            <a:extLst>
              <a:ext uri="{FF2B5EF4-FFF2-40B4-BE49-F238E27FC236}">
                <a16:creationId xmlns:a16="http://schemas.microsoft.com/office/drawing/2014/main" id="{28631C8B-7A59-4AE2-ADF5-CC96DBF8F802}"/>
              </a:ext>
            </a:extLst>
          </p:cNvPr>
          <p:cNvSpPr/>
          <p:nvPr/>
        </p:nvSpPr>
        <p:spPr>
          <a:xfrm>
            <a:off x="4568227" y="2096920"/>
            <a:ext cx="247827" cy="340084"/>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Rectangle: Rounded Corners 10">
            <a:extLst>
              <a:ext uri="{FF2B5EF4-FFF2-40B4-BE49-F238E27FC236}">
                <a16:creationId xmlns:a16="http://schemas.microsoft.com/office/drawing/2014/main" id="{F0A2E19F-A05D-47DB-932C-D4F90F9B07FC}"/>
              </a:ext>
            </a:extLst>
          </p:cNvPr>
          <p:cNvSpPr/>
          <p:nvPr/>
        </p:nvSpPr>
        <p:spPr>
          <a:xfrm>
            <a:off x="5102179" y="2488760"/>
            <a:ext cx="247827" cy="340084"/>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Picture 3">
            <a:extLst>
              <a:ext uri="{FF2B5EF4-FFF2-40B4-BE49-F238E27FC236}">
                <a16:creationId xmlns:a16="http://schemas.microsoft.com/office/drawing/2014/main" id="{335878AA-7A5A-40E4-9CCD-7F70E38749EC}"/>
              </a:ext>
            </a:extLst>
          </p:cNvPr>
          <p:cNvPicPr>
            <a:picLocks noChangeAspect="1"/>
          </p:cNvPicPr>
          <p:nvPr/>
        </p:nvPicPr>
        <p:blipFill rotWithShape="1">
          <a:blip r:embed="rId3"/>
          <a:srcRect r="7574" b="5194"/>
          <a:stretch/>
        </p:blipFill>
        <p:spPr>
          <a:xfrm>
            <a:off x="8088905" y="365125"/>
            <a:ext cx="2935745" cy="2966013"/>
          </a:xfrm>
          <a:prstGeom prst="rect">
            <a:avLst/>
          </a:prstGeom>
        </p:spPr>
      </p:pic>
      <p:pic>
        <p:nvPicPr>
          <p:cNvPr id="7" name="Picture 6">
            <a:extLst>
              <a:ext uri="{FF2B5EF4-FFF2-40B4-BE49-F238E27FC236}">
                <a16:creationId xmlns:a16="http://schemas.microsoft.com/office/drawing/2014/main" id="{5B75C918-4134-4E64-BDC3-328BABE0398A}"/>
              </a:ext>
            </a:extLst>
          </p:cNvPr>
          <p:cNvPicPr>
            <a:picLocks noChangeAspect="1"/>
          </p:cNvPicPr>
          <p:nvPr/>
        </p:nvPicPr>
        <p:blipFill>
          <a:blip r:embed="rId4"/>
          <a:stretch>
            <a:fillRect/>
          </a:stretch>
        </p:blipFill>
        <p:spPr>
          <a:xfrm>
            <a:off x="7663570" y="3526863"/>
            <a:ext cx="3575929" cy="3306420"/>
          </a:xfrm>
          <a:prstGeom prst="rect">
            <a:avLst/>
          </a:prstGeom>
        </p:spPr>
      </p:pic>
    </p:spTree>
    <p:extLst>
      <p:ext uri="{BB962C8B-B14F-4D97-AF65-F5344CB8AC3E}">
        <p14:creationId xmlns:p14="http://schemas.microsoft.com/office/powerpoint/2010/main" val="22915882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C9B1A-2346-4E47-B751-F32501532607}"/>
              </a:ext>
            </a:extLst>
          </p:cNvPr>
          <p:cNvSpPr>
            <a:spLocks noGrp="1"/>
          </p:cNvSpPr>
          <p:nvPr>
            <p:ph type="title"/>
          </p:nvPr>
        </p:nvSpPr>
        <p:spPr/>
        <p:txBody>
          <a:bodyPr/>
          <a:lstStyle/>
          <a:p>
            <a:r>
              <a:rPr lang="en-US" altLang="zh-CN" b="1" dirty="0"/>
              <a:t>Harris</a:t>
            </a:r>
            <a:r>
              <a:rPr lang="zh-CN" altLang="en-US" b="1" dirty="0"/>
              <a:t>角点检测</a:t>
            </a:r>
            <a:endParaRPr lang="zh-CN" alt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4BB8413-4D90-4F33-8308-3F17A7C75FF5}"/>
                  </a:ext>
                </a:extLst>
              </p:cNvPr>
              <p:cNvSpPr>
                <a:spLocks noGrp="1"/>
              </p:cNvSpPr>
              <p:nvPr>
                <p:ph idx="1"/>
              </p:nvPr>
            </p:nvSpPr>
            <p:spPr>
              <a:xfrm>
                <a:off x="838200" y="1825625"/>
                <a:ext cx="6921500" cy="4351338"/>
              </a:xfrm>
            </p:spPr>
            <p:txBody>
              <a:bodyPr>
                <a:normAutofit/>
              </a:bodyPr>
              <a:lstStyle/>
              <a:p>
                <a:pPr>
                  <a:lnSpc>
                    <a:spcPct val="120000"/>
                  </a:lnSpc>
                </a:pPr>
                <a:r>
                  <a:rPr lang="zh-CN" altLang="en-US" sz="3200" b="1" dirty="0"/>
                  <a:t>考虑角点边界与坐标轴对齐的情况</a:t>
                </a:r>
                <a:endParaRPr lang="en-US" altLang="zh-CN" sz="3200" b="1" dirty="0"/>
              </a:p>
              <a:p>
                <a:pPr lvl="1">
                  <a:lnSpc>
                    <a:spcPct val="150000"/>
                  </a:lnSpc>
                </a:pPr>
                <a:r>
                  <a:rPr lang="zh-CN" altLang="en-US" sz="2800" dirty="0"/>
                  <a:t>在平移窗口内，只有上侧和左侧边缘，</a:t>
                </a:r>
                <a:endParaRPr lang="en-US" altLang="zh-CN" sz="2800" dirty="0"/>
              </a:p>
              <a:p>
                <a:pPr lvl="2">
                  <a:lnSpc>
                    <a:spcPct val="150000"/>
                  </a:lnSpc>
                </a:pPr>
                <a:r>
                  <a:rPr lang="zh-CN" altLang="en-US" sz="2400" dirty="0"/>
                  <a:t>左边缘：</a:t>
                </a:r>
                <a:r>
                  <a:rPr lang="en-US" altLang="zh-CN" sz="2400" dirty="0"/>
                  <a:t> </a:t>
                </a:r>
                <a14:m>
                  <m:oMath xmlns:m="http://schemas.openxmlformats.org/officeDocument/2006/math">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𝐼</m:t>
                        </m:r>
                      </m:e>
                      <m:sub>
                        <m:r>
                          <a:rPr lang="en-US" altLang="zh-CN" sz="2400" i="1" dirty="0">
                            <a:latin typeface="Cambria Math" panose="02040503050406030204" pitchFamily="18" charset="0"/>
                          </a:rPr>
                          <m:t>𝑥</m:t>
                        </m:r>
                      </m:sub>
                    </m:sSub>
                  </m:oMath>
                </a14:m>
                <a:r>
                  <a:rPr lang="zh-CN" altLang="en-US" sz="2400" dirty="0"/>
                  <a:t>很大、</a:t>
                </a:r>
                <a:r>
                  <a:rPr lang="en-US" altLang="zh-CN" sz="2400" dirty="0"/>
                  <a:t> </a:t>
                </a:r>
                <a14:m>
                  <m:oMath xmlns:m="http://schemas.openxmlformats.org/officeDocument/2006/math">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𝐼</m:t>
                        </m:r>
                      </m:e>
                      <m:sub>
                        <m:r>
                          <a:rPr lang="en-US" altLang="zh-CN" sz="2400" i="1" dirty="0">
                            <a:latin typeface="Cambria Math" panose="02040503050406030204" pitchFamily="18" charset="0"/>
                          </a:rPr>
                          <m:t>𝑦</m:t>
                        </m:r>
                      </m:sub>
                    </m:sSub>
                  </m:oMath>
                </a14:m>
                <a:r>
                  <a:rPr lang="zh-CN" altLang="en-US" sz="2400" dirty="0"/>
                  <a:t>很小</a:t>
                </a:r>
                <a:endParaRPr lang="en-US" altLang="zh-CN" sz="2400" dirty="0"/>
              </a:p>
              <a:p>
                <a:pPr lvl="2">
                  <a:lnSpc>
                    <a:spcPct val="150000"/>
                  </a:lnSpc>
                </a:pPr>
                <a:r>
                  <a:rPr lang="zh-CN" altLang="en-US" sz="2400" dirty="0"/>
                  <a:t>上边缘：</a:t>
                </a:r>
                <a14:m>
                  <m:oMath xmlns:m="http://schemas.openxmlformats.org/officeDocument/2006/math">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𝐼</m:t>
                        </m:r>
                      </m:e>
                      <m:sub>
                        <m:r>
                          <a:rPr lang="en-US" altLang="zh-CN" sz="2400" i="1" dirty="0">
                            <a:latin typeface="Cambria Math" panose="02040503050406030204" pitchFamily="18" charset="0"/>
                          </a:rPr>
                          <m:t>𝑦</m:t>
                        </m:r>
                      </m:sub>
                    </m:sSub>
                  </m:oMath>
                </a14:m>
                <a:r>
                  <a:rPr lang="zh-CN" altLang="en-US" sz="2400" dirty="0"/>
                  <a:t>很大、</a:t>
                </a:r>
                <a:r>
                  <a:rPr lang="en-US" altLang="zh-CN" sz="2400" dirty="0"/>
                  <a:t> </a:t>
                </a:r>
                <a14:m>
                  <m:oMath xmlns:m="http://schemas.openxmlformats.org/officeDocument/2006/math">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𝐼</m:t>
                        </m:r>
                      </m:e>
                      <m:sub>
                        <m:r>
                          <a:rPr lang="en-US" altLang="zh-CN" sz="2400" i="1" dirty="0">
                            <a:latin typeface="Cambria Math" panose="02040503050406030204" pitchFamily="18" charset="0"/>
                          </a:rPr>
                          <m:t>𝑥</m:t>
                        </m:r>
                      </m:sub>
                    </m:sSub>
                  </m:oMath>
                </a14:m>
                <a:r>
                  <a:rPr lang="zh-CN" altLang="en-US" sz="2400" dirty="0"/>
                  <a:t>很小</a:t>
                </a:r>
                <a:endParaRPr lang="en-US" altLang="zh-CN" sz="2400" dirty="0"/>
              </a:p>
              <a:p>
                <a:pPr lvl="2">
                  <a:lnSpc>
                    <a:spcPct val="150000"/>
                  </a:lnSpc>
                </a:pPr>
                <a14:m>
                  <m:oMath xmlns:m="http://schemas.openxmlformats.org/officeDocument/2006/math">
                    <m:r>
                      <a:rPr lang="en-US" altLang="zh-CN" sz="2400" i="1" dirty="0" smtClean="0">
                        <a:latin typeface="Cambria Math" panose="02040503050406030204" pitchFamily="18" charset="0"/>
                      </a:rPr>
                      <m:t>𝑀</m:t>
                    </m:r>
                  </m:oMath>
                </a14:m>
                <a:r>
                  <a:rPr lang="zh-CN" altLang="en-US" sz="2400" dirty="0"/>
                  <a:t>可化简为</a:t>
                </a:r>
                <a:r>
                  <a:rPr lang="en-US" altLang="zh-CN" sz="2400" dirty="0"/>
                  <a:t>: </a:t>
                </a:r>
                <a14:m>
                  <m:oMath xmlns:m="http://schemas.openxmlformats.org/officeDocument/2006/math">
                    <m:d>
                      <m:dPr>
                        <m:begChr m:val="["/>
                        <m:endChr m:val="]"/>
                        <m:ctrlPr>
                          <a:rPr lang="en-US" altLang="zh-CN" sz="2400" i="1" smtClean="0">
                            <a:latin typeface="Cambria Math" panose="02040503050406030204" pitchFamily="18" charset="0"/>
                          </a:rPr>
                        </m:ctrlPr>
                      </m:dPr>
                      <m:e>
                        <m:m>
                          <m:mPr>
                            <m:mcs>
                              <m:mc>
                                <m:mcPr>
                                  <m:count m:val="2"/>
                                  <m:mcJc m:val="center"/>
                                </m:mcPr>
                              </m:mc>
                            </m:mcs>
                            <m:ctrlPr>
                              <a:rPr lang="en-US" altLang="zh-CN" sz="2400" i="1" smtClean="0">
                                <a:latin typeface="Cambria Math" panose="02040503050406030204" pitchFamily="18" charset="0"/>
                              </a:rPr>
                            </m:ctrlPr>
                          </m:mPr>
                          <m:mr>
                            <m:e>
                              <m:sSub>
                                <m:sSubPr>
                                  <m:ctrlPr>
                                    <a:rPr lang="en-US" altLang="zh-CN" sz="2400" i="1" smtClean="0">
                                      <a:latin typeface="Cambria Math" panose="02040503050406030204" pitchFamily="18" charset="0"/>
                                    </a:rPr>
                                  </m:ctrlPr>
                                </m:sSubPr>
                                <m:e>
                                  <m:r>
                                    <a:rPr lang="zh-CN" altLang="en-US" sz="2400" i="1" smtClean="0">
                                      <a:latin typeface="Cambria Math" panose="02040503050406030204" pitchFamily="18" charset="0"/>
                                    </a:rPr>
                                    <m:t>𝜆</m:t>
                                  </m:r>
                                </m:e>
                                <m:sub>
                                  <m:r>
                                    <a:rPr lang="en-US" altLang="zh-CN" sz="2400" b="0" i="1" smtClean="0">
                                      <a:latin typeface="Cambria Math" panose="02040503050406030204" pitchFamily="18" charset="0"/>
                                    </a:rPr>
                                    <m:t>1</m:t>
                                  </m:r>
                                </m:sub>
                              </m:sSub>
                            </m:e>
                            <m:e>
                              <m:r>
                                <a:rPr lang="en-US" altLang="zh-CN" sz="2400" b="0" i="1" smtClean="0">
                                  <a:latin typeface="Cambria Math" panose="02040503050406030204" pitchFamily="18" charset="0"/>
                                </a:rPr>
                                <m:t>0</m:t>
                              </m:r>
                            </m:e>
                          </m:mr>
                          <m:mr>
                            <m:e>
                              <m:r>
                                <a:rPr lang="en-US" altLang="zh-CN" sz="2400" b="0" i="1" smtClean="0">
                                  <a:latin typeface="Cambria Math" panose="02040503050406030204" pitchFamily="18" charset="0"/>
                                </a:rPr>
                                <m:t>0</m:t>
                              </m:r>
                            </m:e>
                            <m:e>
                              <m:sSub>
                                <m:sSubPr>
                                  <m:ctrlPr>
                                    <a:rPr lang="en-US" altLang="zh-CN" sz="2400" i="1" smtClean="0">
                                      <a:latin typeface="Cambria Math" panose="02040503050406030204" pitchFamily="18" charset="0"/>
                                    </a:rPr>
                                  </m:ctrlPr>
                                </m:sSubPr>
                                <m:e>
                                  <m:r>
                                    <a:rPr lang="zh-CN" altLang="en-US" sz="2400" i="1" smtClean="0">
                                      <a:latin typeface="Cambria Math" panose="02040503050406030204" pitchFamily="18" charset="0"/>
                                    </a:rPr>
                                    <m:t>𝜆</m:t>
                                  </m:r>
                                </m:e>
                                <m:sub>
                                  <m:r>
                                    <a:rPr lang="en-US" altLang="zh-CN" sz="2400" b="0" i="1" smtClean="0">
                                      <a:latin typeface="Cambria Math" panose="02040503050406030204" pitchFamily="18" charset="0"/>
                                    </a:rPr>
                                    <m:t>2</m:t>
                                  </m:r>
                                </m:sub>
                              </m:sSub>
                            </m:e>
                          </m:mr>
                        </m:m>
                      </m:e>
                    </m:d>
                  </m:oMath>
                </a14:m>
                <a:endParaRPr lang="zh-CN" altLang="en-US" sz="2400" dirty="0"/>
              </a:p>
            </p:txBody>
          </p:sp>
        </mc:Choice>
        <mc:Fallback xmlns="">
          <p:sp>
            <p:nvSpPr>
              <p:cNvPr id="3" name="Content Placeholder 2">
                <a:extLst>
                  <a:ext uri="{FF2B5EF4-FFF2-40B4-BE49-F238E27FC236}">
                    <a16:creationId xmlns:a16="http://schemas.microsoft.com/office/drawing/2014/main" id="{34BB8413-4D90-4F33-8308-3F17A7C75FF5}"/>
                  </a:ext>
                </a:extLst>
              </p:cNvPr>
              <p:cNvSpPr>
                <a:spLocks noGrp="1" noRot="1" noChangeAspect="1" noMove="1" noResize="1" noEditPoints="1" noAdjustHandles="1" noChangeArrowheads="1" noChangeShapeType="1" noTextEdit="1"/>
              </p:cNvSpPr>
              <p:nvPr>
                <p:ph idx="1"/>
              </p:nvPr>
            </p:nvSpPr>
            <p:spPr>
              <a:xfrm>
                <a:off x="838200" y="1825625"/>
                <a:ext cx="6921500" cy="4351338"/>
              </a:xfrm>
              <a:blipFill>
                <a:blip r:embed="rId2"/>
                <a:stretch>
                  <a:fillRect l="-2026" t="-1401" r="-1322"/>
                </a:stretch>
              </a:blipFill>
            </p:spPr>
            <p:txBody>
              <a:bodyPr/>
              <a:lstStyle/>
              <a:p>
                <a:r>
                  <a:rPr lang="zh-CN" altLang="en-US">
                    <a:noFill/>
                  </a:rPr>
                  <a:t> </a:t>
                </a:r>
              </a:p>
            </p:txBody>
          </p:sp>
        </mc:Fallback>
      </mc:AlternateContent>
      <p:pic>
        <p:nvPicPr>
          <p:cNvPr id="11266" name="Picture 2" descr="axis-aligned.jpg">
            <a:extLst>
              <a:ext uri="{FF2B5EF4-FFF2-40B4-BE49-F238E27FC236}">
                <a16:creationId xmlns:a16="http://schemas.microsoft.com/office/drawing/2014/main" id="{6A92ECAF-C693-486D-8DAF-A6F08866F4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95204" y="2563019"/>
            <a:ext cx="2828925" cy="287655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F6624C2D-918F-49C3-9108-622A3973B41F}"/>
                  </a:ext>
                </a:extLst>
              </p:cNvPr>
              <p:cNvSpPr/>
              <p:nvPr/>
            </p:nvSpPr>
            <p:spPr>
              <a:xfrm>
                <a:off x="7279030" y="365125"/>
                <a:ext cx="4074770" cy="10770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rPr>
                        <m:t>𝑀</m:t>
                      </m:r>
                      <m:r>
                        <a:rPr lang="en-US" altLang="zh-CN" sz="2400" i="1">
                          <a:latin typeface="Cambria Math" panose="02040503050406030204" pitchFamily="18" charset="0"/>
                        </a:rPr>
                        <m:t>=</m:t>
                      </m:r>
                      <m:nary>
                        <m:naryPr>
                          <m:chr m:val="∑"/>
                          <m:supHide m:val="on"/>
                          <m:ctrlPr>
                            <a:rPr lang="en-US" altLang="zh-CN" sz="2400" i="1">
                              <a:latin typeface="Cambria Math" panose="02040503050406030204" pitchFamily="18" charset="0"/>
                            </a:rPr>
                          </m:ctrlPr>
                        </m:naryPr>
                        <m:sub>
                          <m:r>
                            <m:rPr>
                              <m:brk m:alnAt="7"/>
                            </m:rPr>
                            <a:rPr lang="en-US" altLang="zh-CN" sz="2400" i="1">
                              <a:latin typeface="Cambria Math" panose="02040503050406030204" pitchFamily="18" charset="0"/>
                            </a:rPr>
                            <m:t>(</m:t>
                          </m:r>
                          <m:r>
                            <a:rPr lang="en-US" altLang="zh-CN" sz="2400" i="1">
                              <a:latin typeface="Cambria Math" panose="02040503050406030204" pitchFamily="18" charset="0"/>
                            </a:rPr>
                            <m:t>𝑥</m:t>
                          </m:r>
                          <m:r>
                            <a:rPr lang="en-US" altLang="zh-CN" sz="2400" i="1">
                              <a:latin typeface="Cambria Math" panose="02040503050406030204" pitchFamily="18" charset="0"/>
                            </a:rPr>
                            <m:t>,</m:t>
                          </m:r>
                          <m:r>
                            <a:rPr lang="en-US" altLang="zh-CN" sz="2400" i="1">
                              <a:latin typeface="Cambria Math" panose="02040503050406030204" pitchFamily="18" charset="0"/>
                            </a:rPr>
                            <m:t>𝑦</m:t>
                          </m:r>
                          <m:r>
                            <a:rPr lang="en-US" altLang="zh-CN" sz="2400" i="1">
                              <a:latin typeface="Cambria Math" panose="02040503050406030204" pitchFamily="18" charset="0"/>
                            </a:rPr>
                            <m:t>)</m:t>
                          </m:r>
                        </m:sub>
                        <m:sup/>
                        <m:e>
                          <m:r>
                            <a:rPr lang="en-US" altLang="zh-CN" sz="2400" i="1">
                              <a:latin typeface="Cambria Math" panose="02040503050406030204" pitchFamily="18" charset="0"/>
                            </a:rPr>
                            <m:t>𝑤</m:t>
                          </m:r>
                          <m:r>
                            <a:rPr lang="en-US" altLang="zh-CN" sz="2400" i="1">
                              <a:latin typeface="Cambria Math" panose="02040503050406030204" pitchFamily="18" charset="0"/>
                            </a:rPr>
                            <m:t>(</m:t>
                          </m:r>
                          <m:r>
                            <a:rPr lang="en-US" altLang="zh-CN" sz="2400" i="1">
                              <a:latin typeface="Cambria Math" panose="02040503050406030204" pitchFamily="18" charset="0"/>
                            </a:rPr>
                            <m:t>𝑥</m:t>
                          </m:r>
                          <m:r>
                            <a:rPr lang="en-US" altLang="zh-CN" sz="2400" i="1">
                              <a:latin typeface="Cambria Math" panose="02040503050406030204" pitchFamily="18" charset="0"/>
                            </a:rPr>
                            <m:t>,</m:t>
                          </m:r>
                          <m:r>
                            <a:rPr lang="en-US" altLang="zh-CN" sz="2400" i="1">
                              <a:latin typeface="Cambria Math" panose="02040503050406030204" pitchFamily="18" charset="0"/>
                            </a:rPr>
                            <m:t>𝑦</m:t>
                          </m:r>
                          <m:r>
                            <a:rPr lang="en-US" altLang="zh-CN" sz="2400" i="1">
                              <a:latin typeface="Cambria Math" panose="02040503050406030204" pitchFamily="18" charset="0"/>
                            </a:rPr>
                            <m:t>)</m:t>
                          </m:r>
                          <m:d>
                            <m:dPr>
                              <m:begChr m:val="["/>
                              <m:endChr m:val="]"/>
                              <m:ctrlPr>
                                <a:rPr lang="en-US" altLang="zh-CN" sz="2400" i="1">
                                  <a:latin typeface="Cambria Math" panose="02040503050406030204" pitchFamily="18" charset="0"/>
                                </a:rPr>
                              </m:ctrlPr>
                            </m:dPr>
                            <m:e>
                              <m:m>
                                <m:mPr>
                                  <m:mcs>
                                    <m:mc>
                                      <m:mcPr>
                                        <m:count m:val="2"/>
                                        <m:mcJc m:val="center"/>
                                      </m:mcPr>
                                    </m:mc>
                                  </m:mcs>
                                  <m:ctrlPr>
                                    <a:rPr lang="en-US" altLang="zh-CN" sz="2400" i="1">
                                      <a:latin typeface="Cambria Math" panose="02040503050406030204" pitchFamily="18" charset="0"/>
                                    </a:rPr>
                                  </m:ctrlPr>
                                </m:mPr>
                                <m:mr>
                                  <m:e>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𝐼</m:t>
                                        </m:r>
                                      </m:e>
                                      <m:sub>
                                        <m:r>
                                          <a:rPr lang="en-US" altLang="zh-CN" sz="2400" i="1">
                                            <a:latin typeface="Cambria Math" panose="02040503050406030204" pitchFamily="18" charset="0"/>
                                          </a:rPr>
                                          <m:t>𝑥</m:t>
                                        </m:r>
                                      </m:sub>
                                      <m:sup>
                                        <m:r>
                                          <a:rPr lang="en-US" altLang="zh-CN" sz="2400" i="1">
                                            <a:latin typeface="Cambria Math" panose="02040503050406030204" pitchFamily="18" charset="0"/>
                                          </a:rPr>
                                          <m:t>2</m:t>
                                        </m:r>
                                      </m:sup>
                                    </m:sSubSup>
                                  </m:e>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𝐼</m:t>
                                        </m:r>
                                      </m:e>
                                      <m:sub>
                                        <m:r>
                                          <a:rPr lang="en-US" altLang="zh-CN" sz="2400" i="1">
                                            <a:latin typeface="Cambria Math" panose="02040503050406030204" pitchFamily="18" charset="0"/>
                                          </a:rPr>
                                          <m:t>𝑥</m:t>
                                        </m:r>
                                      </m:sub>
                                    </m:sSub>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𝐼</m:t>
                                        </m:r>
                                      </m:e>
                                      <m:sub>
                                        <m:r>
                                          <a:rPr lang="en-US" altLang="zh-CN" sz="2400" i="1">
                                            <a:latin typeface="Cambria Math" panose="02040503050406030204" pitchFamily="18" charset="0"/>
                                          </a:rPr>
                                          <m:t>𝑦</m:t>
                                        </m:r>
                                      </m:sub>
                                    </m:sSub>
                                  </m:e>
                                </m:mr>
                                <m:m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𝐼</m:t>
                                        </m:r>
                                      </m:e>
                                      <m:sub>
                                        <m:r>
                                          <a:rPr lang="en-US" altLang="zh-CN" sz="2400" i="1">
                                            <a:latin typeface="Cambria Math" panose="02040503050406030204" pitchFamily="18" charset="0"/>
                                          </a:rPr>
                                          <m:t>𝑥</m:t>
                                        </m:r>
                                      </m:sub>
                                    </m:sSub>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𝐼</m:t>
                                        </m:r>
                                      </m:e>
                                      <m:sub>
                                        <m:r>
                                          <a:rPr lang="en-US" altLang="zh-CN" sz="2400" i="1">
                                            <a:latin typeface="Cambria Math" panose="02040503050406030204" pitchFamily="18" charset="0"/>
                                          </a:rPr>
                                          <m:t>𝑦</m:t>
                                        </m:r>
                                      </m:sub>
                                    </m:sSub>
                                  </m:e>
                                  <m:e>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𝐼</m:t>
                                        </m:r>
                                      </m:e>
                                      <m:sub>
                                        <m:r>
                                          <a:rPr lang="en-US" altLang="zh-CN" sz="2400" i="1">
                                            <a:latin typeface="Cambria Math" panose="02040503050406030204" pitchFamily="18" charset="0"/>
                                          </a:rPr>
                                          <m:t>𝑦</m:t>
                                        </m:r>
                                      </m:sub>
                                      <m:sup>
                                        <m:r>
                                          <a:rPr lang="en-US" altLang="zh-CN" sz="2400" i="1">
                                            <a:latin typeface="Cambria Math" panose="02040503050406030204" pitchFamily="18" charset="0"/>
                                          </a:rPr>
                                          <m:t>2</m:t>
                                        </m:r>
                                      </m:sup>
                                    </m:sSubSup>
                                  </m:e>
                                </m:mr>
                              </m:m>
                            </m:e>
                          </m:d>
                        </m:e>
                      </m:nary>
                    </m:oMath>
                  </m:oMathPara>
                </a14:m>
                <a:endParaRPr lang="zh-CN" altLang="en-US" sz="2400" dirty="0"/>
              </a:p>
            </p:txBody>
          </p:sp>
        </mc:Choice>
        <mc:Fallback xmlns="">
          <p:sp>
            <p:nvSpPr>
              <p:cNvPr id="4" name="Rectangle 3">
                <a:extLst>
                  <a:ext uri="{FF2B5EF4-FFF2-40B4-BE49-F238E27FC236}">
                    <a16:creationId xmlns:a16="http://schemas.microsoft.com/office/drawing/2014/main" id="{F6624C2D-918F-49C3-9108-622A3973B41F}"/>
                  </a:ext>
                </a:extLst>
              </p:cNvPr>
              <p:cNvSpPr>
                <a:spLocks noRot="1" noChangeAspect="1" noMove="1" noResize="1" noEditPoints="1" noAdjustHandles="1" noChangeArrowheads="1" noChangeShapeType="1" noTextEdit="1"/>
              </p:cNvSpPr>
              <p:nvPr/>
            </p:nvSpPr>
            <p:spPr>
              <a:xfrm>
                <a:off x="7279030" y="365125"/>
                <a:ext cx="4074770" cy="1077090"/>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4809668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99533-EC3A-438B-900E-3EF5219C6E72}"/>
              </a:ext>
            </a:extLst>
          </p:cNvPr>
          <p:cNvSpPr>
            <a:spLocks noGrp="1"/>
          </p:cNvSpPr>
          <p:nvPr>
            <p:ph type="title"/>
          </p:nvPr>
        </p:nvSpPr>
        <p:spPr/>
        <p:txBody>
          <a:bodyPr/>
          <a:lstStyle/>
          <a:p>
            <a:r>
              <a:rPr lang="en-US" altLang="zh-CN" b="1" dirty="0"/>
              <a:t>Harris</a:t>
            </a:r>
            <a:r>
              <a:rPr lang="zh-CN" altLang="en-US" b="1" dirty="0"/>
              <a:t>角点检测</a:t>
            </a:r>
            <a:endParaRPr lang="zh-CN" altLang="en-US" dirty="0"/>
          </a:p>
        </p:txBody>
      </p:sp>
      <p:sp>
        <p:nvSpPr>
          <p:cNvPr id="3" name="Content Placeholder 2">
            <a:extLst>
              <a:ext uri="{FF2B5EF4-FFF2-40B4-BE49-F238E27FC236}">
                <a16:creationId xmlns:a16="http://schemas.microsoft.com/office/drawing/2014/main" id="{59F5CC5D-1D5C-466D-AD02-D3E56A8A1EA4}"/>
              </a:ext>
            </a:extLst>
          </p:cNvPr>
          <p:cNvSpPr>
            <a:spLocks noGrp="1"/>
          </p:cNvSpPr>
          <p:nvPr>
            <p:ph idx="1"/>
          </p:nvPr>
        </p:nvSpPr>
        <p:spPr>
          <a:xfrm>
            <a:off x="838200" y="1825625"/>
            <a:ext cx="5994400" cy="4351338"/>
          </a:xfrm>
        </p:spPr>
        <p:txBody>
          <a:bodyPr/>
          <a:lstStyle/>
          <a:p>
            <a:pPr>
              <a:lnSpc>
                <a:spcPct val="120000"/>
              </a:lnSpc>
            </a:pPr>
            <a:r>
              <a:rPr lang="zh-CN" altLang="en-US" dirty="0"/>
              <a:t>当角点边界和坐标轴没有对齐时，可对角点进行旋转变换，将其变换到与坐标轴对齐，这种旋转操作可用矩阵的相似对角化来表示，即</a:t>
            </a:r>
          </a:p>
        </p:txBody>
      </p:sp>
      <p:pic>
        <p:nvPicPr>
          <p:cNvPr id="12290" name="Picture 2" descr="not-aligned.jpg">
            <a:extLst>
              <a:ext uri="{FF2B5EF4-FFF2-40B4-BE49-F238E27FC236}">
                <a16:creationId xmlns:a16="http://schemas.microsoft.com/office/drawing/2014/main" id="{D9C8848D-9B5E-4C73-9B7E-23910C47B1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44089" y="1825625"/>
            <a:ext cx="2017712" cy="180875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DCDCBB30-79FA-49F4-A275-3EFEF5A8F3CE}"/>
                  </a:ext>
                </a:extLst>
              </p:cNvPr>
              <p:cNvSpPr/>
              <p:nvPr/>
            </p:nvSpPr>
            <p:spPr>
              <a:xfrm>
                <a:off x="7672388" y="378619"/>
                <a:ext cx="4074770" cy="10770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rPr>
                        <m:t>𝑀</m:t>
                      </m:r>
                      <m:r>
                        <a:rPr lang="en-US" altLang="zh-CN" sz="2400" i="1">
                          <a:latin typeface="Cambria Math" panose="02040503050406030204" pitchFamily="18" charset="0"/>
                        </a:rPr>
                        <m:t>=</m:t>
                      </m:r>
                      <m:nary>
                        <m:naryPr>
                          <m:chr m:val="∑"/>
                          <m:supHide m:val="on"/>
                          <m:ctrlPr>
                            <a:rPr lang="en-US" altLang="zh-CN" sz="2400" i="1">
                              <a:latin typeface="Cambria Math" panose="02040503050406030204" pitchFamily="18" charset="0"/>
                            </a:rPr>
                          </m:ctrlPr>
                        </m:naryPr>
                        <m:sub>
                          <m:r>
                            <m:rPr>
                              <m:brk m:alnAt="7"/>
                            </m:rPr>
                            <a:rPr lang="en-US" altLang="zh-CN" sz="2400" i="1">
                              <a:latin typeface="Cambria Math" panose="02040503050406030204" pitchFamily="18" charset="0"/>
                            </a:rPr>
                            <m:t>(</m:t>
                          </m:r>
                          <m:r>
                            <a:rPr lang="en-US" altLang="zh-CN" sz="2400" i="1">
                              <a:latin typeface="Cambria Math" panose="02040503050406030204" pitchFamily="18" charset="0"/>
                            </a:rPr>
                            <m:t>𝑥</m:t>
                          </m:r>
                          <m:r>
                            <a:rPr lang="en-US" altLang="zh-CN" sz="2400" i="1">
                              <a:latin typeface="Cambria Math" panose="02040503050406030204" pitchFamily="18" charset="0"/>
                            </a:rPr>
                            <m:t>,</m:t>
                          </m:r>
                          <m:r>
                            <a:rPr lang="en-US" altLang="zh-CN" sz="2400" i="1">
                              <a:latin typeface="Cambria Math" panose="02040503050406030204" pitchFamily="18" charset="0"/>
                            </a:rPr>
                            <m:t>𝑦</m:t>
                          </m:r>
                          <m:r>
                            <a:rPr lang="en-US" altLang="zh-CN" sz="2400" i="1">
                              <a:latin typeface="Cambria Math" panose="02040503050406030204" pitchFamily="18" charset="0"/>
                            </a:rPr>
                            <m:t>)</m:t>
                          </m:r>
                        </m:sub>
                        <m:sup/>
                        <m:e>
                          <m:r>
                            <a:rPr lang="en-US" altLang="zh-CN" sz="2400" i="1">
                              <a:latin typeface="Cambria Math" panose="02040503050406030204" pitchFamily="18" charset="0"/>
                            </a:rPr>
                            <m:t>𝑤</m:t>
                          </m:r>
                          <m:r>
                            <a:rPr lang="en-US" altLang="zh-CN" sz="2400" i="1">
                              <a:latin typeface="Cambria Math" panose="02040503050406030204" pitchFamily="18" charset="0"/>
                            </a:rPr>
                            <m:t>(</m:t>
                          </m:r>
                          <m:r>
                            <a:rPr lang="en-US" altLang="zh-CN" sz="2400" i="1">
                              <a:latin typeface="Cambria Math" panose="02040503050406030204" pitchFamily="18" charset="0"/>
                            </a:rPr>
                            <m:t>𝑥</m:t>
                          </m:r>
                          <m:r>
                            <a:rPr lang="en-US" altLang="zh-CN" sz="2400" i="1">
                              <a:latin typeface="Cambria Math" panose="02040503050406030204" pitchFamily="18" charset="0"/>
                            </a:rPr>
                            <m:t>,</m:t>
                          </m:r>
                          <m:r>
                            <a:rPr lang="en-US" altLang="zh-CN" sz="2400" i="1">
                              <a:latin typeface="Cambria Math" panose="02040503050406030204" pitchFamily="18" charset="0"/>
                            </a:rPr>
                            <m:t>𝑦</m:t>
                          </m:r>
                          <m:r>
                            <a:rPr lang="en-US" altLang="zh-CN" sz="2400" i="1">
                              <a:latin typeface="Cambria Math" panose="02040503050406030204" pitchFamily="18" charset="0"/>
                            </a:rPr>
                            <m:t>)</m:t>
                          </m:r>
                          <m:d>
                            <m:dPr>
                              <m:begChr m:val="["/>
                              <m:endChr m:val="]"/>
                              <m:ctrlPr>
                                <a:rPr lang="en-US" altLang="zh-CN" sz="2400" i="1">
                                  <a:latin typeface="Cambria Math" panose="02040503050406030204" pitchFamily="18" charset="0"/>
                                </a:rPr>
                              </m:ctrlPr>
                            </m:dPr>
                            <m:e>
                              <m:m>
                                <m:mPr>
                                  <m:mcs>
                                    <m:mc>
                                      <m:mcPr>
                                        <m:count m:val="2"/>
                                        <m:mcJc m:val="center"/>
                                      </m:mcPr>
                                    </m:mc>
                                  </m:mcs>
                                  <m:ctrlPr>
                                    <a:rPr lang="en-US" altLang="zh-CN" sz="2400" i="1">
                                      <a:latin typeface="Cambria Math" panose="02040503050406030204" pitchFamily="18" charset="0"/>
                                    </a:rPr>
                                  </m:ctrlPr>
                                </m:mPr>
                                <m:mr>
                                  <m:e>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𝐼</m:t>
                                        </m:r>
                                      </m:e>
                                      <m:sub>
                                        <m:r>
                                          <a:rPr lang="en-US" altLang="zh-CN" sz="2400" i="1">
                                            <a:latin typeface="Cambria Math" panose="02040503050406030204" pitchFamily="18" charset="0"/>
                                          </a:rPr>
                                          <m:t>𝑥</m:t>
                                        </m:r>
                                      </m:sub>
                                      <m:sup>
                                        <m:r>
                                          <a:rPr lang="en-US" altLang="zh-CN" sz="2400" i="1">
                                            <a:latin typeface="Cambria Math" panose="02040503050406030204" pitchFamily="18" charset="0"/>
                                          </a:rPr>
                                          <m:t>2</m:t>
                                        </m:r>
                                      </m:sup>
                                    </m:sSubSup>
                                  </m:e>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𝐼</m:t>
                                        </m:r>
                                      </m:e>
                                      <m:sub>
                                        <m:r>
                                          <a:rPr lang="en-US" altLang="zh-CN" sz="2400" i="1">
                                            <a:latin typeface="Cambria Math" panose="02040503050406030204" pitchFamily="18" charset="0"/>
                                          </a:rPr>
                                          <m:t>𝑥</m:t>
                                        </m:r>
                                      </m:sub>
                                    </m:sSub>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𝐼</m:t>
                                        </m:r>
                                      </m:e>
                                      <m:sub>
                                        <m:r>
                                          <a:rPr lang="en-US" altLang="zh-CN" sz="2400" i="1">
                                            <a:latin typeface="Cambria Math" panose="02040503050406030204" pitchFamily="18" charset="0"/>
                                          </a:rPr>
                                          <m:t>𝑦</m:t>
                                        </m:r>
                                      </m:sub>
                                    </m:sSub>
                                  </m:e>
                                </m:mr>
                                <m:m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𝐼</m:t>
                                        </m:r>
                                      </m:e>
                                      <m:sub>
                                        <m:r>
                                          <a:rPr lang="en-US" altLang="zh-CN" sz="2400" i="1">
                                            <a:latin typeface="Cambria Math" panose="02040503050406030204" pitchFamily="18" charset="0"/>
                                          </a:rPr>
                                          <m:t>𝑥</m:t>
                                        </m:r>
                                      </m:sub>
                                    </m:sSub>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𝐼</m:t>
                                        </m:r>
                                      </m:e>
                                      <m:sub>
                                        <m:r>
                                          <a:rPr lang="en-US" altLang="zh-CN" sz="2400" i="1">
                                            <a:latin typeface="Cambria Math" panose="02040503050406030204" pitchFamily="18" charset="0"/>
                                          </a:rPr>
                                          <m:t>𝑦</m:t>
                                        </m:r>
                                      </m:sub>
                                    </m:sSub>
                                  </m:e>
                                  <m:e>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𝐼</m:t>
                                        </m:r>
                                      </m:e>
                                      <m:sub>
                                        <m:r>
                                          <a:rPr lang="en-US" altLang="zh-CN" sz="2400" i="1">
                                            <a:latin typeface="Cambria Math" panose="02040503050406030204" pitchFamily="18" charset="0"/>
                                          </a:rPr>
                                          <m:t>𝑦</m:t>
                                        </m:r>
                                      </m:sub>
                                      <m:sup>
                                        <m:r>
                                          <a:rPr lang="en-US" altLang="zh-CN" sz="2400" i="1">
                                            <a:latin typeface="Cambria Math" panose="02040503050406030204" pitchFamily="18" charset="0"/>
                                          </a:rPr>
                                          <m:t>2</m:t>
                                        </m:r>
                                      </m:sup>
                                    </m:sSubSup>
                                  </m:e>
                                </m:mr>
                              </m:m>
                            </m:e>
                          </m:d>
                        </m:e>
                      </m:nary>
                    </m:oMath>
                  </m:oMathPara>
                </a14:m>
                <a:endParaRPr lang="zh-CN" altLang="en-US" sz="2400" dirty="0"/>
              </a:p>
            </p:txBody>
          </p:sp>
        </mc:Choice>
        <mc:Fallback xmlns="">
          <p:sp>
            <p:nvSpPr>
              <p:cNvPr id="4" name="Rectangle 3">
                <a:extLst>
                  <a:ext uri="{FF2B5EF4-FFF2-40B4-BE49-F238E27FC236}">
                    <a16:creationId xmlns:a16="http://schemas.microsoft.com/office/drawing/2014/main" id="{DCDCBB30-79FA-49F4-A275-3EFEF5A8F3CE}"/>
                  </a:ext>
                </a:extLst>
              </p:cNvPr>
              <p:cNvSpPr>
                <a:spLocks noRot="1" noChangeAspect="1" noMove="1" noResize="1" noEditPoints="1" noAdjustHandles="1" noChangeArrowheads="1" noChangeShapeType="1" noTextEdit="1"/>
              </p:cNvSpPr>
              <p:nvPr/>
            </p:nvSpPr>
            <p:spPr>
              <a:xfrm>
                <a:off x="7672388" y="378619"/>
                <a:ext cx="4074770" cy="1077090"/>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7BD1F11A-A0C6-4E16-9B50-E1F32D279B45}"/>
                  </a:ext>
                </a:extLst>
              </p:cNvPr>
              <p:cNvSpPr/>
              <p:nvPr/>
            </p:nvSpPr>
            <p:spPr>
              <a:xfrm>
                <a:off x="1838956" y="4128293"/>
                <a:ext cx="3992888" cy="11408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altLang="zh-CN" sz="3600" i="1" dirty="0" smtClean="0">
                          <a:latin typeface="Cambria Math" panose="02040503050406030204" pitchFamily="18" charset="0"/>
                        </a:rPr>
                        <m:t>M</m:t>
                      </m:r>
                      <m:r>
                        <a:rPr lang="en-US" altLang="zh-CN" sz="3600" b="0" i="1" dirty="0" smtClean="0">
                          <a:latin typeface="Cambria Math" panose="02040503050406030204" pitchFamily="18" charset="0"/>
                        </a:rPr>
                        <m:t>=</m:t>
                      </m:r>
                      <m:r>
                        <a:rPr lang="en-US" altLang="zh-CN" sz="3600" i="1">
                          <a:latin typeface="Cambria Math" panose="02040503050406030204" pitchFamily="18" charset="0"/>
                        </a:rPr>
                        <m:t>𝑅</m:t>
                      </m:r>
                      <m:d>
                        <m:dPr>
                          <m:begChr m:val="["/>
                          <m:endChr m:val="]"/>
                          <m:ctrlPr>
                            <a:rPr lang="en-US" altLang="zh-CN" sz="3600" i="1">
                              <a:latin typeface="Cambria Math" panose="02040503050406030204" pitchFamily="18" charset="0"/>
                            </a:rPr>
                          </m:ctrlPr>
                        </m:dPr>
                        <m:e>
                          <m:m>
                            <m:mPr>
                              <m:mcs>
                                <m:mc>
                                  <m:mcPr>
                                    <m:count m:val="2"/>
                                    <m:mcJc m:val="center"/>
                                  </m:mcPr>
                                </m:mc>
                              </m:mcs>
                              <m:ctrlPr>
                                <a:rPr lang="en-US" altLang="zh-CN" sz="3600" i="1">
                                  <a:latin typeface="Cambria Math" panose="02040503050406030204" pitchFamily="18" charset="0"/>
                                </a:rPr>
                              </m:ctrlPr>
                            </m:mPr>
                            <m:mr>
                              <m:e>
                                <m:sSub>
                                  <m:sSubPr>
                                    <m:ctrlPr>
                                      <a:rPr lang="en-US" altLang="zh-CN" sz="3600" i="1">
                                        <a:latin typeface="Cambria Math" panose="02040503050406030204" pitchFamily="18" charset="0"/>
                                      </a:rPr>
                                    </m:ctrlPr>
                                  </m:sSubPr>
                                  <m:e>
                                    <m:r>
                                      <a:rPr lang="zh-CN" altLang="en-US" sz="3600" i="1">
                                        <a:latin typeface="Cambria Math" panose="02040503050406030204" pitchFamily="18" charset="0"/>
                                      </a:rPr>
                                      <m:t>𝜆</m:t>
                                    </m:r>
                                  </m:e>
                                  <m:sub>
                                    <m:r>
                                      <a:rPr lang="en-US" altLang="zh-CN" sz="3600" i="1">
                                        <a:latin typeface="Cambria Math" panose="02040503050406030204" pitchFamily="18" charset="0"/>
                                      </a:rPr>
                                      <m:t>1</m:t>
                                    </m:r>
                                  </m:sub>
                                </m:sSub>
                              </m:e>
                              <m:e>
                                <m:r>
                                  <a:rPr lang="en-US" altLang="zh-CN" sz="3600" i="1">
                                    <a:latin typeface="Cambria Math" panose="02040503050406030204" pitchFamily="18" charset="0"/>
                                  </a:rPr>
                                  <m:t>0</m:t>
                                </m:r>
                              </m:e>
                            </m:mr>
                            <m:mr>
                              <m:e>
                                <m:r>
                                  <a:rPr lang="en-US" altLang="zh-CN" sz="3600" i="1">
                                    <a:latin typeface="Cambria Math" panose="02040503050406030204" pitchFamily="18" charset="0"/>
                                  </a:rPr>
                                  <m:t>0</m:t>
                                </m:r>
                              </m:e>
                              <m:e>
                                <m:sSub>
                                  <m:sSubPr>
                                    <m:ctrlPr>
                                      <a:rPr lang="en-US" altLang="zh-CN" sz="3600" i="1">
                                        <a:latin typeface="Cambria Math" panose="02040503050406030204" pitchFamily="18" charset="0"/>
                                      </a:rPr>
                                    </m:ctrlPr>
                                  </m:sSubPr>
                                  <m:e>
                                    <m:r>
                                      <a:rPr lang="zh-CN" altLang="en-US" sz="3600" i="1">
                                        <a:latin typeface="Cambria Math" panose="02040503050406030204" pitchFamily="18" charset="0"/>
                                      </a:rPr>
                                      <m:t>𝜆</m:t>
                                    </m:r>
                                  </m:e>
                                  <m:sub>
                                    <m:r>
                                      <a:rPr lang="en-US" altLang="zh-CN" sz="3600" i="1">
                                        <a:latin typeface="Cambria Math" panose="02040503050406030204" pitchFamily="18" charset="0"/>
                                      </a:rPr>
                                      <m:t>2</m:t>
                                    </m:r>
                                  </m:sub>
                                </m:sSub>
                              </m:e>
                            </m:mr>
                          </m:m>
                        </m:e>
                      </m:d>
                      <m:sSup>
                        <m:sSupPr>
                          <m:ctrlPr>
                            <a:rPr lang="en-US" altLang="zh-CN" sz="3600" i="1" smtClean="0">
                              <a:latin typeface="Cambria Math" panose="02040503050406030204" pitchFamily="18" charset="0"/>
                            </a:rPr>
                          </m:ctrlPr>
                        </m:sSupPr>
                        <m:e>
                          <m:r>
                            <a:rPr lang="en-US" altLang="zh-CN" sz="3600" b="0" i="1" smtClean="0">
                              <a:latin typeface="Cambria Math" panose="02040503050406030204" pitchFamily="18" charset="0"/>
                            </a:rPr>
                            <m:t>𝑅</m:t>
                          </m:r>
                        </m:e>
                        <m:sup>
                          <m:r>
                            <a:rPr lang="en-US" altLang="zh-CN" sz="3600" b="0" i="1" smtClean="0">
                              <a:latin typeface="Cambria Math" panose="02040503050406030204" pitchFamily="18" charset="0"/>
                            </a:rPr>
                            <m:t>𝑇</m:t>
                          </m:r>
                        </m:sup>
                      </m:sSup>
                    </m:oMath>
                  </m:oMathPara>
                </a14:m>
                <a:endParaRPr lang="zh-CN" altLang="en-US" sz="3600" dirty="0"/>
              </a:p>
            </p:txBody>
          </p:sp>
        </mc:Choice>
        <mc:Fallback xmlns="">
          <p:sp>
            <p:nvSpPr>
              <p:cNvPr id="5" name="Rectangle 4">
                <a:extLst>
                  <a:ext uri="{FF2B5EF4-FFF2-40B4-BE49-F238E27FC236}">
                    <a16:creationId xmlns:a16="http://schemas.microsoft.com/office/drawing/2014/main" id="{7BD1F11A-A0C6-4E16-9B50-E1F32D279B45}"/>
                  </a:ext>
                </a:extLst>
              </p:cNvPr>
              <p:cNvSpPr>
                <a:spLocks noRot="1" noChangeAspect="1" noMove="1" noResize="1" noEditPoints="1" noAdjustHandles="1" noChangeArrowheads="1" noChangeShapeType="1" noTextEdit="1"/>
              </p:cNvSpPr>
              <p:nvPr/>
            </p:nvSpPr>
            <p:spPr>
              <a:xfrm>
                <a:off x="1838956" y="4128293"/>
                <a:ext cx="3992888" cy="1140890"/>
              </a:xfrm>
              <a:prstGeom prst="rect">
                <a:avLst/>
              </a:prstGeom>
              <a:blipFill>
                <a:blip r:embed="rId4"/>
                <a:stretch>
                  <a:fillRect/>
                </a:stretch>
              </a:blipFill>
            </p:spPr>
            <p:txBody>
              <a:bodyPr/>
              <a:lstStyle/>
              <a:p>
                <a:r>
                  <a:rPr lang="zh-CN" altLang="en-US">
                    <a:noFill/>
                  </a:rPr>
                  <a:t> </a:t>
                </a:r>
              </a:p>
            </p:txBody>
          </p:sp>
        </mc:Fallback>
      </mc:AlternateContent>
      <p:pic>
        <p:nvPicPr>
          <p:cNvPr id="7" name="Picture 2" descr="axis-aligned.jpg">
            <a:extLst>
              <a:ext uri="{FF2B5EF4-FFF2-40B4-BE49-F238E27FC236}">
                <a16:creationId xmlns:a16="http://schemas.microsoft.com/office/drawing/2014/main" id="{5910BA40-D8D8-45D2-A1B3-25F75A9E14E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52918" y="1704182"/>
            <a:ext cx="1898243" cy="1930201"/>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descr="tuoyuan.png">
            <a:extLst>
              <a:ext uri="{FF2B5EF4-FFF2-40B4-BE49-F238E27FC236}">
                <a16:creationId xmlns:a16="http://schemas.microsoft.com/office/drawing/2014/main" id="{372537F2-1183-4EB0-8D07-98DA15019EA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38010" y="4033178"/>
            <a:ext cx="5026302" cy="22412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248104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EC568-EED3-41B8-A494-E3E573D7D689}"/>
              </a:ext>
            </a:extLst>
          </p:cNvPr>
          <p:cNvSpPr>
            <a:spLocks noGrp="1"/>
          </p:cNvSpPr>
          <p:nvPr>
            <p:ph type="title"/>
          </p:nvPr>
        </p:nvSpPr>
        <p:spPr/>
        <p:txBody>
          <a:bodyPr/>
          <a:lstStyle/>
          <a:p>
            <a:r>
              <a:rPr lang="en-US" altLang="zh-CN" b="1" dirty="0"/>
              <a:t>Harris</a:t>
            </a:r>
            <a:r>
              <a:rPr lang="zh-CN" altLang="en-US" b="1" dirty="0"/>
              <a:t>角点检测</a:t>
            </a:r>
            <a:endParaRPr lang="zh-CN" altLang="en-US" dirty="0"/>
          </a:p>
        </p:txBody>
      </p:sp>
      <p:sp>
        <p:nvSpPr>
          <p:cNvPr id="3" name="Content Placeholder 2">
            <a:extLst>
              <a:ext uri="{FF2B5EF4-FFF2-40B4-BE49-F238E27FC236}">
                <a16:creationId xmlns:a16="http://schemas.microsoft.com/office/drawing/2014/main" id="{B9E3A1CD-7682-4EC9-ABDC-9BA821791EE5}"/>
              </a:ext>
            </a:extLst>
          </p:cNvPr>
          <p:cNvSpPr>
            <a:spLocks noGrp="1"/>
          </p:cNvSpPr>
          <p:nvPr>
            <p:ph idx="1"/>
          </p:nvPr>
        </p:nvSpPr>
        <p:spPr/>
        <p:txBody>
          <a:bodyPr/>
          <a:lstStyle/>
          <a:p>
            <a:endParaRPr lang="zh-CN" altLang="en-US"/>
          </a:p>
        </p:txBody>
      </p:sp>
      <p:pic>
        <p:nvPicPr>
          <p:cNvPr id="5" name="Picture 4">
            <a:extLst>
              <a:ext uri="{FF2B5EF4-FFF2-40B4-BE49-F238E27FC236}">
                <a16:creationId xmlns:a16="http://schemas.microsoft.com/office/drawing/2014/main" id="{8042F880-4A0C-45AA-842F-8688D28BCD05}"/>
              </a:ext>
            </a:extLst>
          </p:cNvPr>
          <p:cNvPicPr>
            <a:picLocks noChangeAspect="1"/>
          </p:cNvPicPr>
          <p:nvPr/>
        </p:nvPicPr>
        <p:blipFill>
          <a:blip r:embed="rId2"/>
          <a:stretch>
            <a:fillRect/>
          </a:stretch>
        </p:blipFill>
        <p:spPr>
          <a:xfrm>
            <a:off x="2134981" y="1593702"/>
            <a:ext cx="7922038" cy="5035318"/>
          </a:xfrm>
          <a:prstGeom prst="rect">
            <a:avLst/>
          </a:prstGeom>
        </p:spPr>
      </p:pic>
    </p:spTree>
    <p:extLst>
      <p:ext uri="{BB962C8B-B14F-4D97-AF65-F5344CB8AC3E}">
        <p14:creationId xmlns:p14="http://schemas.microsoft.com/office/powerpoint/2010/main" val="212944751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B1F4B-0B50-4F9E-841B-891378B11D4A}"/>
              </a:ext>
            </a:extLst>
          </p:cNvPr>
          <p:cNvSpPr>
            <a:spLocks noGrp="1"/>
          </p:cNvSpPr>
          <p:nvPr>
            <p:ph type="title"/>
          </p:nvPr>
        </p:nvSpPr>
        <p:spPr/>
        <p:txBody>
          <a:bodyPr/>
          <a:lstStyle/>
          <a:p>
            <a:r>
              <a:rPr lang="en-US" altLang="zh-CN" b="1" dirty="0"/>
              <a:t>Harris</a:t>
            </a:r>
            <a:r>
              <a:rPr lang="zh-CN" altLang="en-US" b="1" dirty="0"/>
              <a:t>角点检测</a:t>
            </a:r>
            <a:endParaRPr lang="zh-CN" altLang="en-US" dirty="0"/>
          </a:p>
        </p:txBody>
      </p:sp>
      <p:sp>
        <p:nvSpPr>
          <p:cNvPr id="3" name="Content Placeholder 2">
            <a:extLst>
              <a:ext uri="{FF2B5EF4-FFF2-40B4-BE49-F238E27FC236}">
                <a16:creationId xmlns:a16="http://schemas.microsoft.com/office/drawing/2014/main" id="{574D938C-50E8-46AE-98D2-1C6C26791FB1}"/>
              </a:ext>
            </a:extLst>
          </p:cNvPr>
          <p:cNvSpPr>
            <a:spLocks noGrp="1"/>
          </p:cNvSpPr>
          <p:nvPr>
            <p:ph idx="1"/>
          </p:nvPr>
        </p:nvSpPr>
        <p:spPr/>
        <p:txBody>
          <a:bodyPr/>
          <a:lstStyle/>
          <a:p>
            <a:endParaRPr lang="zh-CN" altLang="en-US"/>
          </a:p>
        </p:txBody>
      </p:sp>
      <p:pic>
        <p:nvPicPr>
          <p:cNvPr id="5" name="Picture 4">
            <a:extLst>
              <a:ext uri="{FF2B5EF4-FFF2-40B4-BE49-F238E27FC236}">
                <a16:creationId xmlns:a16="http://schemas.microsoft.com/office/drawing/2014/main" id="{2FB10A49-05A2-4F33-992B-64EACA03E00C}"/>
              </a:ext>
            </a:extLst>
          </p:cNvPr>
          <p:cNvPicPr>
            <a:picLocks noChangeAspect="1"/>
          </p:cNvPicPr>
          <p:nvPr/>
        </p:nvPicPr>
        <p:blipFill>
          <a:blip r:embed="rId2"/>
          <a:stretch>
            <a:fillRect/>
          </a:stretch>
        </p:blipFill>
        <p:spPr>
          <a:xfrm>
            <a:off x="2236833" y="1572154"/>
            <a:ext cx="7718334" cy="5002487"/>
          </a:xfrm>
          <a:prstGeom prst="rect">
            <a:avLst/>
          </a:prstGeom>
        </p:spPr>
      </p:pic>
    </p:spTree>
    <p:extLst>
      <p:ext uri="{BB962C8B-B14F-4D97-AF65-F5344CB8AC3E}">
        <p14:creationId xmlns:p14="http://schemas.microsoft.com/office/powerpoint/2010/main" val="365177058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B1F4B-0B50-4F9E-841B-891378B11D4A}"/>
              </a:ext>
            </a:extLst>
          </p:cNvPr>
          <p:cNvSpPr>
            <a:spLocks noGrp="1"/>
          </p:cNvSpPr>
          <p:nvPr>
            <p:ph type="title"/>
          </p:nvPr>
        </p:nvSpPr>
        <p:spPr/>
        <p:txBody>
          <a:bodyPr/>
          <a:lstStyle/>
          <a:p>
            <a:r>
              <a:rPr lang="en-US" altLang="zh-CN" b="1" dirty="0"/>
              <a:t>Harris</a:t>
            </a:r>
            <a:r>
              <a:rPr lang="zh-CN" altLang="en-US" b="1" dirty="0"/>
              <a:t>角点检测</a:t>
            </a:r>
            <a:endParaRPr lang="zh-CN" altLang="en-US" dirty="0"/>
          </a:p>
        </p:txBody>
      </p:sp>
      <p:sp>
        <p:nvSpPr>
          <p:cNvPr id="3" name="Content Placeholder 2">
            <a:extLst>
              <a:ext uri="{FF2B5EF4-FFF2-40B4-BE49-F238E27FC236}">
                <a16:creationId xmlns:a16="http://schemas.microsoft.com/office/drawing/2014/main" id="{574D938C-50E8-46AE-98D2-1C6C26791FB1}"/>
              </a:ext>
            </a:extLst>
          </p:cNvPr>
          <p:cNvSpPr>
            <a:spLocks noGrp="1"/>
          </p:cNvSpPr>
          <p:nvPr>
            <p:ph idx="1"/>
          </p:nvPr>
        </p:nvSpPr>
        <p:spPr/>
        <p:txBody>
          <a:bodyPr/>
          <a:lstStyle/>
          <a:p>
            <a:endParaRPr lang="zh-CN" altLang="en-US"/>
          </a:p>
        </p:txBody>
      </p:sp>
      <p:pic>
        <p:nvPicPr>
          <p:cNvPr id="4" name="Picture 3">
            <a:extLst>
              <a:ext uri="{FF2B5EF4-FFF2-40B4-BE49-F238E27FC236}">
                <a16:creationId xmlns:a16="http://schemas.microsoft.com/office/drawing/2014/main" id="{A95ECC47-AD9B-4AF5-AF98-B7FE0C0082DC}"/>
              </a:ext>
            </a:extLst>
          </p:cNvPr>
          <p:cNvPicPr>
            <a:picLocks noChangeAspect="1"/>
          </p:cNvPicPr>
          <p:nvPr/>
        </p:nvPicPr>
        <p:blipFill>
          <a:blip r:embed="rId2"/>
          <a:stretch>
            <a:fillRect/>
          </a:stretch>
        </p:blipFill>
        <p:spPr>
          <a:xfrm>
            <a:off x="2079157" y="1690688"/>
            <a:ext cx="8033686" cy="5047650"/>
          </a:xfrm>
          <a:prstGeom prst="rect">
            <a:avLst/>
          </a:prstGeom>
        </p:spPr>
      </p:pic>
    </p:spTree>
    <p:extLst>
      <p:ext uri="{BB962C8B-B14F-4D97-AF65-F5344CB8AC3E}">
        <p14:creationId xmlns:p14="http://schemas.microsoft.com/office/powerpoint/2010/main" val="133560854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https://ooo.0o0.ooo/2017/06/28/5953b3774c2f2.png">
            <a:extLst>
              <a:ext uri="{FF2B5EF4-FFF2-40B4-BE49-F238E27FC236}">
                <a16:creationId xmlns:a16="http://schemas.microsoft.com/office/drawing/2014/main" id="{1A162217-E05A-4301-A12C-D493D42ADD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23803" y="1850201"/>
            <a:ext cx="8081264" cy="4642674"/>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E4C9B1A-2346-4E47-B751-F32501532607}"/>
              </a:ext>
            </a:extLst>
          </p:cNvPr>
          <p:cNvSpPr>
            <a:spLocks noGrp="1"/>
          </p:cNvSpPr>
          <p:nvPr>
            <p:ph type="title"/>
          </p:nvPr>
        </p:nvSpPr>
        <p:spPr/>
        <p:txBody>
          <a:bodyPr/>
          <a:lstStyle/>
          <a:p>
            <a:r>
              <a:rPr lang="en-US" altLang="zh-CN" b="1" dirty="0"/>
              <a:t>Harris</a:t>
            </a:r>
            <a:r>
              <a:rPr lang="zh-CN" altLang="en-US" b="1" dirty="0"/>
              <a:t>角点检测</a:t>
            </a:r>
            <a:endParaRPr lang="zh-CN" altLang="en-US" dirty="0"/>
          </a:p>
        </p:txBody>
      </p:sp>
      <p:sp>
        <p:nvSpPr>
          <p:cNvPr id="3" name="Content Placeholder 2">
            <a:extLst>
              <a:ext uri="{FF2B5EF4-FFF2-40B4-BE49-F238E27FC236}">
                <a16:creationId xmlns:a16="http://schemas.microsoft.com/office/drawing/2014/main" id="{34BB8413-4D90-4F33-8308-3F17A7C75FF5}"/>
              </a:ext>
            </a:extLst>
          </p:cNvPr>
          <p:cNvSpPr>
            <a:spLocks noGrp="1"/>
          </p:cNvSpPr>
          <p:nvPr>
            <p:ph idx="1"/>
          </p:nvPr>
        </p:nvSpPr>
        <p:spPr>
          <a:xfrm>
            <a:off x="838200" y="1825625"/>
            <a:ext cx="5003800" cy="4351338"/>
          </a:xfrm>
        </p:spPr>
        <p:txBody>
          <a:bodyPr>
            <a:normAutofit/>
          </a:bodyPr>
          <a:lstStyle/>
          <a:p>
            <a:pPr>
              <a:lnSpc>
                <a:spcPct val="120000"/>
              </a:lnSpc>
            </a:pPr>
            <a:r>
              <a:rPr lang="zh-CN" altLang="en-US" dirty="0"/>
              <a:t>可以将矩阵</a:t>
            </a:r>
            <a:r>
              <a:rPr lang="en-US" altLang="zh-CN" dirty="0"/>
              <a:t>M</a:t>
            </a:r>
            <a:r>
              <a:rPr lang="zh-CN" altLang="en-US" dirty="0"/>
              <a:t>看成是一个二维随机分布的协方差矩阵，通过将其对角化，</a:t>
            </a:r>
            <a:r>
              <a:rPr lang="zh-CN" altLang="en-US" b="1" dirty="0">
                <a:solidFill>
                  <a:srgbClr val="0070C0"/>
                </a:solidFill>
              </a:rPr>
              <a:t>求取矩阵的两个特征值</a:t>
            </a:r>
            <a:r>
              <a:rPr lang="zh-CN" altLang="en-US" dirty="0"/>
              <a:t>，并根据这两个特征值来判断角点。</a:t>
            </a:r>
          </a:p>
        </p:txBody>
      </p:sp>
    </p:spTree>
    <p:extLst>
      <p:ext uri="{BB962C8B-B14F-4D97-AF65-F5344CB8AC3E}">
        <p14:creationId xmlns:p14="http://schemas.microsoft.com/office/powerpoint/2010/main" val="17431079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5E9D5-6F26-4A4C-B02D-A9EE2C27F07C}"/>
              </a:ext>
            </a:extLst>
          </p:cNvPr>
          <p:cNvSpPr>
            <a:spLocks noGrp="1"/>
          </p:cNvSpPr>
          <p:nvPr>
            <p:ph type="title"/>
          </p:nvPr>
        </p:nvSpPr>
        <p:spPr/>
        <p:txBody>
          <a:bodyPr/>
          <a:lstStyle/>
          <a:p>
            <a:r>
              <a:rPr lang="en-US" altLang="zh-CN" b="1" dirty="0"/>
              <a:t>Harris</a:t>
            </a:r>
            <a:r>
              <a:rPr lang="zh-CN" altLang="en-US" b="1" dirty="0"/>
              <a:t>角点检测</a:t>
            </a:r>
            <a:endParaRPr lang="zh-CN" alt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53E9F3-59BC-4F7C-8340-17D2C02E363A}"/>
                  </a:ext>
                </a:extLst>
              </p:cNvPr>
              <p:cNvSpPr>
                <a:spLocks noGrp="1"/>
              </p:cNvSpPr>
              <p:nvPr>
                <p:ph idx="1"/>
              </p:nvPr>
            </p:nvSpPr>
            <p:spPr>
              <a:xfrm>
                <a:off x="838200" y="1825625"/>
                <a:ext cx="5342467" cy="4351338"/>
              </a:xfrm>
            </p:spPr>
            <p:txBody>
              <a:bodyPr/>
              <a:lstStyle/>
              <a:p>
                <a:pPr>
                  <a:lnSpc>
                    <a:spcPct val="110000"/>
                  </a:lnSpc>
                </a:pPr>
                <a:r>
                  <a:rPr lang="zh-CN" altLang="en-US" b="1" dirty="0">
                    <a:solidFill>
                      <a:srgbClr val="0070C0"/>
                    </a:solidFill>
                  </a:rPr>
                  <a:t>角点判断：</a:t>
                </a:r>
                <a:r>
                  <a:rPr lang="zh-CN" altLang="en-US" dirty="0"/>
                  <a:t>无需具体计算矩阵</a:t>
                </a:r>
                <a:r>
                  <a:rPr lang="en-US" altLang="zh-CN" dirty="0"/>
                  <a:t>M</a:t>
                </a:r>
                <a:r>
                  <a:rPr lang="zh-CN" altLang="en-US" dirty="0"/>
                  <a:t>的特征值，而使用下式近似计算角点响应值</a:t>
                </a:r>
                <a:endParaRPr lang="en-US" altLang="zh-CN" dirty="0"/>
              </a:p>
              <a:p>
                <a:pPr marL="0" indent="0">
                  <a:lnSpc>
                    <a:spcPct val="110000"/>
                  </a:lnSpc>
                  <a:buNone/>
                </a:pPr>
                <a14:m>
                  <m:oMathPara xmlns:m="http://schemas.openxmlformats.org/officeDocument/2006/math">
                    <m:oMathParaPr>
                      <m:jc m:val="center"/>
                    </m:oMathParaPr>
                    <m:oMath xmlns:m="http://schemas.openxmlformats.org/officeDocument/2006/math">
                      <m:r>
                        <a:rPr lang="en-US" altLang="zh-CN" b="0" i="1" smtClean="0">
                          <a:latin typeface="Cambria Math" panose="02040503050406030204" pitchFamily="18" charset="0"/>
                        </a:rPr>
                        <m:t>𝑅</m:t>
                      </m:r>
                      <m:r>
                        <a:rPr lang="en-US" altLang="zh-CN" b="0" i="1" smtClean="0">
                          <a:latin typeface="Cambria Math" panose="02040503050406030204" pitchFamily="18" charset="0"/>
                        </a:rPr>
                        <m:t>=</m:t>
                      </m:r>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det</m:t>
                          </m:r>
                        </m:fName>
                        <m:e>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𝑀</m:t>
                              </m:r>
                            </m:e>
                          </m:d>
                        </m:e>
                      </m:func>
                      <m:r>
                        <a:rPr lang="en-US" altLang="zh-CN" b="0" i="1" smtClean="0">
                          <a:latin typeface="Cambria Math" panose="02040503050406030204" pitchFamily="18" charset="0"/>
                        </a:rPr>
                        <m:t>−</m:t>
                      </m:r>
                      <m:r>
                        <a:rPr lang="zh-CN" altLang="en-US" b="0" i="1" smtClean="0">
                          <a:latin typeface="Cambria Math" panose="02040503050406030204" pitchFamily="18" charset="0"/>
                        </a:rPr>
                        <m:t>𝛼</m:t>
                      </m:r>
                      <m:sSup>
                        <m:sSupPr>
                          <m:ctrlPr>
                            <a:rPr lang="en-US" altLang="zh-CN" b="0" i="1" smtClean="0">
                              <a:latin typeface="Cambria Math" panose="02040503050406030204" pitchFamily="18" charset="0"/>
                            </a:rPr>
                          </m:ctrlPr>
                        </m:sSupPr>
                        <m:e>
                          <m:r>
                            <m:rPr>
                              <m:sty m:val="p"/>
                            </m:rPr>
                            <a:rPr lang="en-US" altLang="zh-CN" b="0" i="0" smtClean="0">
                              <a:latin typeface="Cambria Math" panose="02040503050406030204" pitchFamily="18" charset="0"/>
                            </a:rPr>
                            <m:t>trace</m:t>
                          </m:r>
                        </m:e>
                        <m:sup>
                          <m:r>
                            <a:rPr lang="en-US" altLang="zh-CN" b="0" i="1" smtClean="0">
                              <a:latin typeface="Cambria Math" panose="02040503050406030204" pitchFamily="18" charset="0"/>
                            </a:rPr>
                            <m:t>2</m:t>
                          </m:r>
                        </m:sup>
                      </m:sSup>
                      <m:r>
                        <a:rPr lang="en-US" altLang="zh-CN" b="0" i="0" smtClean="0">
                          <a:latin typeface="Cambria Math" panose="02040503050406030204" pitchFamily="18" charset="0"/>
                        </a:rPr>
                        <m:t>(</m:t>
                      </m:r>
                      <m:r>
                        <m:rPr>
                          <m:sty m:val="p"/>
                        </m:rPr>
                        <a:rPr lang="en-US" altLang="zh-CN" b="0" i="0" smtClean="0">
                          <a:latin typeface="Cambria Math" panose="02040503050406030204" pitchFamily="18" charset="0"/>
                        </a:rPr>
                        <m:t>M</m:t>
                      </m:r>
                      <m:r>
                        <a:rPr lang="en-US" altLang="zh-CN" b="0" i="0" smtClean="0">
                          <a:latin typeface="Cambria Math" panose="02040503050406030204" pitchFamily="18" charset="0"/>
                        </a:rPr>
                        <m:t>)</m:t>
                      </m:r>
                    </m:oMath>
                  </m:oMathPara>
                </a14:m>
                <a:endParaRPr lang="zh-CN" altLang="en-US" dirty="0"/>
              </a:p>
            </p:txBody>
          </p:sp>
        </mc:Choice>
        <mc:Fallback xmlns="">
          <p:sp>
            <p:nvSpPr>
              <p:cNvPr id="3" name="Content Placeholder 2">
                <a:extLst>
                  <a:ext uri="{FF2B5EF4-FFF2-40B4-BE49-F238E27FC236}">
                    <a16:creationId xmlns:a16="http://schemas.microsoft.com/office/drawing/2014/main" id="{CA53E9F3-59BC-4F7C-8340-17D2C02E363A}"/>
                  </a:ext>
                </a:extLst>
              </p:cNvPr>
              <p:cNvSpPr>
                <a:spLocks noGrp="1" noRot="1" noChangeAspect="1" noMove="1" noResize="1" noEditPoints="1" noAdjustHandles="1" noChangeArrowheads="1" noChangeShapeType="1" noTextEdit="1"/>
              </p:cNvSpPr>
              <p:nvPr>
                <p:ph idx="1"/>
              </p:nvPr>
            </p:nvSpPr>
            <p:spPr>
              <a:xfrm>
                <a:off x="838200" y="1825625"/>
                <a:ext cx="5342467" cy="4351338"/>
              </a:xfrm>
              <a:blipFill>
                <a:blip r:embed="rId2"/>
                <a:stretch>
                  <a:fillRect l="-2055" t="-1681"/>
                </a:stretch>
              </a:blipFill>
            </p:spPr>
            <p:txBody>
              <a:bodyPr/>
              <a:lstStyle/>
              <a:p>
                <a:r>
                  <a:rPr lang="zh-CN" altLang="en-US">
                    <a:noFill/>
                  </a:rPr>
                  <a:t> </a:t>
                </a:r>
              </a:p>
            </p:txBody>
          </p:sp>
        </mc:Fallback>
      </mc:AlternateContent>
      <p:pic>
        <p:nvPicPr>
          <p:cNvPr id="17" name="Picture 16">
            <a:extLst>
              <a:ext uri="{FF2B5EF4-FFF2-40B4-BE49-F238E27FC236}">
                <a16:creationId xmlns:a16="http://schemas.microsoft.com/office/drawing/2014/main" id="{9E88B0C5-B2DC-4C14-8A23-E4E408B1BB92}"/>
              </a:ext>
            </a:extLst>
          </p:cNvPr>
          <p:cNvPicPr>
            <a:picLocks noChangeAspect="1"/>
          </p:cNvPicPr>
          <p:nvPr/>
        </p:nvPicPr>
        <p:blipFill>
          <a:blip r:embed="rId3"/>
          <a:stretch>
            <a:fillRect/>
          </a:stretch>
        </p:blipFill>
        <p:spPr>
          <a:xfrm>
            <a:off x="2163948" y="3861185"/>
            <a:ext cx="2690969" cy="2895006"/>
          </a:xfrm>
          <a:prstGeom prst="rect">
            <a:avLst/>
          </a:prstGeom>
        </p:spPr>
      </p:pic>
      <p:pic>
        <p:nvPicPr>
          <p:cNvPr id="18" name="Picture 17">
            <a:extLst>
              <a:ext uri="{FF2B5EF4-FFF2-40B4-BE49-F238E27FC236}">
                <a16:creationId xmlns:a16="http://schemas.microsoft.com/office/drawing/2014/main" id="{AAB746B6-CFA7-4A12-B9EC-42459837AFE7}"/>
              </a:ext>
            </a:extLst>
          </p:cNvPr>
          <p:cNvPicPr>
            <a:picLocks noChangeAspect="1"/>
          </p:cNvPicPr>
          <p:nvPr/>
        </p:nvPicPr>
        <p:blipFill>
          <a:blip r:embed="rId4"/>
          <a:stretch>
            <a:fillRect/>
          </a:stretch>
        </p:blipFill>
        <p:spPr>
          <a:xfrm>
            <a:off x="6737302" y="1825625"/>
            <a:ext cx="4616498" cy="4351338"/>
          </a:xfrm>
          <a:prstGeom prst="rect">
            <a:avLst/>
          </a:prstGeom>
        </p:spPr>
      </p:pic>
    </p:spTree>
    <p:extLst>
      <p:ext uri="{BB962C8B-B14F-4D97-AF65-F5344CB8AC3E}">
        <p14:creationId xmlns:p14="http://schemas.microsoft.com/office/powerpoint/2010/main" val="394791722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A4DBB-0A61-4E38-BF2D-85E2238C197C}"/>
              </a:ext>
            </a:extLst>
          </p:cNvPr>
          <p:cNvSpPr>
            <a:spLocks noGrp="1"/>
          </p:cNvSpPr>
          <p:nvPr>
            <p:ph type="title"/>
          </p:nvPr>
        </p:nvSpPr>
        <p:spPr/>
        <p:txBody>
          <a:bodyPr/>
          <a:lstStyle/>
          <a:p>
            <a:r>
              <a:rPr lang="en-US" altLang="zh-CN" b="1" dirty="0"/>
              <a:t>Harris</a:t>
            </a:r>
            <a:r>
              <a:rPr lang="zh-CN" altLang="en-US" b="1" dirty="0"/>
              <a:t>角点检测</a:t>
            </a:r>
            <a:endParaRPr lang="zh-CN" altLang="en-US" dirty="0"/>
          </a:p>
        </p:txBody>
      </p:sp>
      <p:pic>
        <p:nvPicPr>
          <p:cNvPr id="13" name="Content Placeholder 12">
            <a:extLst>
              <a:ext uri="{FF2B5EF4-FFF2-40B4-BE49-F238E27FC236}">
                <a16:creationId xmlns:a16="http://schemas.microsoft.com/office/drawing/2014/main" id="{B8F910D6-205B-45A4-998F-F0A62B5FB328}"/>
              </a:ext>
            </a:extLst>
          </p:cNvPr>
          <p:cNvPicPr>
            <a:picLocks noGrp="1" noChangeAspect="1"/>
          </p:cNvPicPr>
          <p:nvPr>
            <p:ph idx="1"/>
          </p:nvPr>
        </p:nvPicPr>
        <p:blipFill>
          <a:blip r:embed="rId2"/>
          <a:stretch>
            <a:fillRect/>
          </a:stretch>
        </p:blipFill>
        <p:spPr>
          <a:xfrm>
            <a:off x="3709525" y="1690688"/>
            <a:ext cx="4772950" cy="4852920"/>
          </a:xfrm>
          <a:prstGeom prst="rect">
            <a:avLst/>
          </a:prstGeom>
        </p:spPr>
      </p:pic>
    </p:spTree>
    <p:extLst>
      <p:ext uri="{BB962C8B-B14F-4D97-AF65-F5344CB8AC3E}">
        <p14:creationId xmlns:p14="http://schemas.microsoft.com/office/powerpoint/2010/main" val="94359235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2A8B8-D1F7-4404-94C8-6162577FB6A5}"/>
              </a:ext>
            </a:extLst>
          </p:cNvPr>
          <p:cNvSpPr>
            <a:spLocks noGrp="1"/>
          </p:cNvSpPr>
          <p:nvPr>
            <p:ph type="title"/>
          </p:nvPr>
        </p:nvSpPr>
        <p:spPr/>
        <p:txBody>
          <a:bodyPr/>
          <a:lstStyle/>
          <a:p>
            <a:r>
              <a:rPr lang="en-US" altLang="zh-CN" b="1" dirty="0"/>
              <a:t>Harris</a:t>
            </a:r>
            <a:r>
              <a:rPr lang="zh-CN" altLang="en-US" b="1" dirty="0"/>
              <a:t>角点检测</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0517044-0546-4E81-BB6B-BB04EC945127}"/>
                  </a:ext>
                </a:extLst>
              </p:cNvPr>
              <p:cNvSpPr>
                <a:spLocks noGrp="1"/>
              </p:cNvSpPr>
              <p:nvPr>
                <p:ph idx="1"/>
              </p:nvPr>
            </p:nvSpPr>
            <p:spPr/>
            <p:txBody>
              <a:bodyPr/>
              <a:lstStyle/>
              <a:p>
                <a:pPr>
                  <a:lnSpc>
                    <a:spcPct val="120000"/>
                  </a:lnSpc>
                </a:pPr>
                <a:r>
                  <a:rPr lang="zh-CN" altLang="en-US" b="1" dirty="0">
                    <a:solidFill>
                      <a:srgbClr val="0070C0"/>
                    </a:solidFill>
                  </a:rPr>
                  <a:t>计算步骤：</a:t>
                </a:r>
                <a:endParaRPr lang="en-US" altLang="zh-CN" b="1" dirty="0">
                  <a:solidFill>
                    <a:srgbClr val="0070C0"/>
                  </a:solidFill>
                </a:endParaRPr>
              </a:p>
              <a:p>
                <a:pPr marL="914400" lvl="1" indent="-457200">
                  <a:lnSpc>
                    <a:spcPct val="120000"/>
                  </a:lnSpc>
                  <a:buFont typeface="+mj-lt"/>
                  <a:buAutoNum type="arabicPeriod"/>
                </a:pPr>
                <a:r>
                  <a:rPr lang="zh-CN" altLang="en-US" dirty="0"/>
                  <a:t>计算图像</a:t>
                </a:r>
                <a14:m>
                  <m:oMath xmlns:m="http://schemas.openxmlformats.org/officeDocument/2006/math">
                    <m:r>
                      <a:rPr lang="en-US" altLang="zh-CN" b="0" i="1" smtClean="0">
                        <a:latin typeface="Cambria Math" panose="02040503050406030204" pitchFamily="18" charset="0"/>
                      </a:rPr>
                      <m:t>𝐼</m:t>
                    </m:r>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oMath>
                </a14:m>
                <a:r>
                  <a:rPr lang="zh-CN" altLang="en-US" dirty="0"/>
                  <a:t>在</a:t>
                </a:r>
                <a14:m>
                  <m:oMath xmlns:m="http://schemas.openxmlformats.org/officeDocument/2006/math">
                    <m:r>
                      <a:rPr lang="en-US" altLang="zh-CN" b="0" i="1" smtClean="0">
                        <a:latin typeface="Cambria Math" panose="02040503050406030204" pitchFamily="18" charset="0"/>
                      </a:rPr>
                      <m:t>𝑥</m:t>
                    </m:r>
                  </m:oMath>
                </a14:m>
                <a:r>
                  <a:rPr lang="zh-CN" altLang="en-US" dirty="0"/>
                  <a:t>方向和</a:t>
                </a:r>
                <a14:m>
                  <m:oMath xmlns:m="http://schemas.openxmlformats.org/officeDocument/2006/math">
                    <m:r>
                      <a:rPr lang="en-US" altLang="zh-CN" b="0" i="1" smtClean="0">
                        <a:latin typeface="Cambria Math" panose="02040503050406030204" pitchFamily="18" charset="0"/>
                      </a:rPr>
                      <m:t>𝑦</m:t>
                    </m:r>
                  </m:oMath>
                </a14:m>
                <a:r>
                  <a:rPr lang="zh-CN" altLang="en-US" dirty="0"/>
                  <a:t>方向的梯度</a:t>
                </a:r>
                <a14:m>
                  <m:oMath xmlns:m="http://schemas.openxmlformats.org/officeDocument/2006/math">
                    <m:r>
                      <a:rPr lang="en-US" altLang="zh-CN" b="0" i="0"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𝐼</m:t>
                        </m:r>
                      </m:e>
                      <m:sub>
                        <m:r>
                          <a:rPr lang="en-US" altLang="zh-CN" b="0" i="1" smtClean="0">
                            <a:latin typeface="Cambria Math" panose="02040503050406030204" pitchFamily="18" charset="0"/>
                          </a:rPr>
                          <m:t>𝑥</m:t>
                        </m:r>
                      </m:sub>
                    </m:sSub>
                    <m:r>
                      <a:rPr lang="en-US" altLang="zh-CN" b="0" i="1" smtClean="0">
                        <a:latin typeface="Cambria Math" panose="02040503050406030204" pitchFamily="18" charset="0"/>
                      </a:rPr>
                      <m:t>, </m:t>
                    </m:r>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𝐼</m:t>
                        </m:r>
                      </m:e>
                      <m:sub>
                        <m:r>
                          <a:rPr lang="en-US" altLang="zh-CN" b="0" i="1" smtClean="0">
                            <a:latin typeface="Cambria Math" panose="02040503050406030204" pitchFamily="18" charset="0"/>
                          </a:rPr>
                          <m:t>𝑦</m:t>
                        </m:r>
                      </m:sub>
                    </m:sSub>
                    <m:r>
                      <a:rPr lang="en-US" altLang="zh-CN" b="0" i="1" smtClean="0">
                        <a:latin typeface="Cambria Math" panose="02040503050406030204" pitchFamily="18" charset="0"/>
                      </a:rPr>
                      <m:t>)</m:t>
                    </m:r>
                  </m:oMath>
                </a14:m>
                <a:endParaRPr lang="en-US" altLang="zh-CN" dirty="0"/>
              </a:p>
              <a:p>
                <a:pPr marL="914400" lvl="1" indent="-457200">
                  <a:lnSpc>
                    <a:spcPct val="120000"/>
                  </a:lnSpc>
                  <a:buFont typeface="+mj-lt"/>
                  <a:buAutoNum type="arabicPeriod"/>
                </a:pPr>
                <a:r>
                  <a:rPr lang="zh-CN" altLang="en-US" dirty="0"/>
                  <a:t>计算两个方向梯度的乘积</a:t>
                </a:r>
                <a14:m>
                  <m:oMath xmlns:m="http://schemas.openxmlformats.org/officeDocument/2006/math">
                    <m:r>
                      <a:rPr lang="en-US" altLang="zh-CN">
                        <a:latin typeface="Cambria Math" panose="02040503050406030204" pitchFamily="18" charset="0"/>
                      </a:rPr>
                      <m:t>(</m:t>
                    </m:r>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𝐼</m:t>
                        </m:r>
                      </m:e>
                      <m:sub>
                        <m:r>
                          <a:rPr lang="en-US" altLang="zh-CN" b="0" i="1" smtClean="0">
                            <a:latin typeface="Cambria Math" panose="02040503050406030204" pitchFamily="18" charset="0"/>
                          </a:rPr>
                          <m:t>𝑥</m:t>
                        </m:r>
                      </m:sub>
                      <m:sup>
                        <m:r>
                          <a:rPr lang="en-US" altLang="zh-CN" b="0" i="1" smtClean="0">
                            <a:latin typeface="Cambria Math" panose="02040503050406030204" pitchFamily="18" charset="0"/>
                          </a:rPr>
                          <m:t>2</m:t>
                        </m:r>
                      </m:sup>
                    </m:sSubSup>
                    <m:r>
                      <a:rPr lang="en-US" altLang="zh-CN" b="0"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𝐼</m:t>
                        </m:r>
                      </m:e>
                      <m:sub>
                        <m:r>
                          <a:rPr lang="en-US" altLang="zh-CN" i="1">
                            <a:latin typeface="Cambria Math" panose="02040503050406030204" pitchFamily="18" charset="0"/>
                          </a:rPr>
                          <m:t>𝑥</m:t>
                        </m:r>
                        <m:r>
                          <a:rPr lang="en-US" altLang="zh-CN" b="0" i="1" smtClean="0">
                            <a:latin typeface="Cambria Math" panose="02040503050406030204" pitchFamily="18" charset="0"/>
                          </a:rPr>
                          <m:t>𝑦</m:t>
                        </m:r>
                      </m:sub>
                    </m:sSub>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𝐼</m:t>
                        </m:r>
                      </m:e>
                      <m:sub>
                        <m:r>
                          <a:rPr lang="en-US" altLang="zh-CN" b="0" i="1" smtClean="0">
                            <a:latin typeface="Cambria Math" panose="02040503050406030204" pitchFamily="18" charset="0"/>
                          </a:rPr>
                          <m:t>𝑦</m:t>
                        </m:r>
                      </m:sub>
                      <m:sup>
                        <m:r>
                          <a:rPr lang="en-US" altLang="zh-CN" i="1">
                            <a:latin typeface="Cambria Math" panose="02040503050406030204" pitchFamily="18" charset="0"/>
                          </a:rPr>
                          <m:t>2</m:t>
                        </m:r>
                      </m:sup>
                    </m:sSubSup>
                    <m:r>
                      <a:rPr lang="en-US" altLang="zh-CN" i="1">
                        <a:latin typeface="Cambria Math" panose="02040503050406030204" pitchFamily="18" charset="0"/>
                      </a:rPr>
                      <m:t>)</m:t>
                    </m:r>
                  </m:oMath>
                </a14:m>
                <a:endParaRPr lang="en-US" altLang="zh-CN" dirty="0"/>
              </a:p>
              <a:p>
                <a:pPr marL="914400" lvl="1" indent="-457200">
                  <a:lnSpc>
                    <a:spcPct val="120000"/>
                  </a:lnSpc>
                  <a:buFont typeface="+mj-lt"/>
                  <a:buAutoNum type="arabicPeriod"/>
                </a:pPr>
                <a:r>
                  <a:rPr lang="zh-CN" altLang="en-US" dirty="0"/>
                  <a:t>使用高斯函数分别对</a:t>
                </a:r>
                <a14:m>
                  <m:oMath xmlns:m="http://schemas.openxmlformats.org/officeDocument/2006/math">
                    <m:r>
                      <a:rPr lang="en-US" altLang="zh-CN">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𝐼</m:t>
                        </m:r>
                      </m:e>
                      <m:sub>
                        <m:r>
                          <a:rPr lang="en-US" altLang="zh-CN" i="1">
                            <a:latin typeface="Cambria Math" panose="02040503050406030204" pitchFamily="18" charset="0"/>
                          </a:rPr>
                          <m:t>𝑥</m:t>
                        </m:r>
                      </m:sub>
                      <m:sup>
                        <m:r>
                          <a:rPr lang="en-US" altLang="zh-CN" i="1">
                            <a:latin typeface="Cambria Math" panose="02040503050406030204" pitchFamily="18" charset="0"/>
                          </a:rPr>
                          <m:t>2</m:t>
                        </m:r>
                      </m:sup>
                    </m:sSubSup>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𝐼</m:t>
                        </m:r>
                      </m:e>
                      <m:sub>
                        <m:r>
                          <a:rPr lang="en-US" altLang="zh-CN" i="1">
                            <a:latin typeface="Cambria Math" panose="02040503050406030204" pitchFamily="18" charset="0"/>
                          </a:rPr>
                          <m:t>𝑥𝑦</m:t>
                        </m:r>
                      </m:sub>
                    </m:sSub>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𝐼</m:t>
                        </m:r>
                      </m:e>
                      <m:sub>
                        <m:r>
                          <a:rPr lang="en-US" altLang="zh-CN" i="1">
                            <a:latin typeface="Cambria Math" panose="02040503050406030204" pitchFamily="18" charset="0"/>
                          </a:rPr>
                          <m:t>𝑦</m:t>
                        </m:r>
                      </m:sub>
                      <m:sup>
                        <m:r>
                          <a:rPr lang="en-US" altLang="zh-CN" i="1">
                            <a:latin typeface="Cambria Math" panose="02040503050406030204" pitchFamily="18" charset="0"/>
                          </a:rPr>
                          <m:t>2</m:t>
                        </m:r>
                      </m:sup>
                    </m:sSubSup>
                    <m:r>
                      <a:rPr lang="en-US" altLang="zh-CN" i="1">
                        <a:latin typeface="Cambria Math" panose="02040503050406030204" pitchFamily="18" charset="0"/>
                      </a:rPr>
                      <m:t>)</m:t>
                    </m:r>
                  </m:oMath>
                </a14:m>
                <a:r>
                  <a:rPr lang="zh-CN" altLang="en-US" dirty="0"/>
                  <a:t>进行加权，生成矩阵</a:t>
                </a:r>
                <a14:m>
                  <m:oMath xmlns:m="http://schemas.openxmlformats.org/officeDocument/2006/math">
                    <m:r>
                      <a:rPr lang="en-US" altLang="zh-CN" b="0" i="1" smtClean="0">
                        <a:latin typeface="Cambria Math" panose="02040503050406030204" pitchFamily="18" charset="0"/>
                      </a:rPr>
                      <m:t>𝑀</m:t>
                    </m:r>
                  </m:oMath>
                </a14:m>
                <a:endParaRPr lang="en-US" altLang="zh-CN" dirty="0"/>
              </a:p>
              <a:p>
                <a:pPr marL="914400" lvl="1" indent="-457200">
                  <a:lnSpc>
                    <a:spcPct val="120000"/>
                  </a:lnSpc>
                  <a:buFont typeface="+mj-lt"/>
                  <a:buAutoNum type="arabicPeriod"/>
                </a:pPr>
                <a:r>
                  <a:rPr lang="zh-CN" altLang="en-US" dirty="0"/>
                  <a:t>计算每个像素的响应值</a:t>
                </a:r>
                <a14:m>
                  <m:oMath xmlns:m="http://schemas.openxmlformats.org/officeDocument/2006/math">
                    <m:r>
                      <a:rPr lang="en-US" altLang="zh-CN" i="1" dirty="0" smtClean="0">
                        <a:latin typeface="Cambria Math" panose="02040503050406030204" pitchFamily="18" charset="0"/>
                      </a:rPr>
                      <m:t>𝑅</m:t>
                    </m:r>
                  </m:oMath>
                </a14:m>
                <a:r>
                  <a:rPr lang="zh-CN" altLang="en-US" dirty="0"/>
                  <a:t>，并设定一阈值</a:t>
                </a:r>
                <a14:m>
                  <m:oMath xmlns:m="http://schemas.openxmlformats.org/officeDocument/2006/math">
                    <m:r>
                      <a:rPr lang="en-US" altLang="zh-CN" i="1" dirty="0" smtClean="0">
                        <a:latin typeface="Cambria Math" panose="02040503050406030204" pitchFamily="18" charset="0"/>
                      </a:rPr>
                      <m:t>𝑇</m:t>
                    </m:r>
                  </m:oMath>
                </a14:m>
                <a:r>
                  <a:rPr lang="zh-CN" altLang="en-US" dirty="0"/>
                  <a:t>，对小于阈值置零</a:t>
                </a:r>
                <a:endParaRPr lang="en-US" altLang="zh-CN" dirty="0"/>
              </a:p>
              <a:p>
                <a:pPr marL="914400" lvl="1" indent="-457200">
                  <a:lnSpc>
                    <a:spcPct val="120000"/>
                  </a:lnSpc>
                  <a:buFont typeface="+mj-lt"/>
                  <a:buAutoNum type="arabicPeriod"/>
                </a:pPr>
                <a:r>
                  <a:rPr lang="zh-CN" altLang="en-US" dirty="0"/>
                  <a:t>在一个固定窗口大小的邻域内</a:t>
                </a:r>
                <a:r>
                  <a:rPr lang="en-US" altLang="zh-CN" dirty="0"/>
                  <a:t>(5×5)</a:t>
                </a:r>
                <a:r>
                  <a:rPr lang="zh-CN" altLang="en-US" dirty="0"/>
                  <a:t>进行非极大值抑制，局部极大值点即为图像中的</a:t>
                </a:r>
                <a:r>
                  <a:rPr lang="en-US" altLang="zh-CN" dirty="0"/>
                  <a:t>Harris</a:t>
                </a:r>
                <a:r>
                  <a:rPr lang="zh-CN" altLang="en-US" dirty="0"/>
                  <a:t>角点</a:t>
                </a:r>
                <a:endParaRPr lang="en-US" altLang="zh-CN" dirty="0"/>
              </a:p>
              <a:p>
                <a:pPr lvl="1">
                  <a:lnSpc>
                    <a:spcPct val="120000"/>
                  </a:lnSpc>
                </a:pPr>
                <a:endParaRPr lang="zh-CN" altLang="en-US" dirty="0"/>
              </a:p>
            </p:txBody>
          </p:sp>
        </mc:Choice>
        <mc:Fallback xmlns="">
          <p:sp>
            <p:nvSpPr>
              <p:cNvPr id="3" name="Content Placeholder 2">
                <a:extLst>
                  <a:ext uri="{FF2B5EF4-FFF2-40B4-BE49-F238E27FC236}">
                    <a16:creationId xmlns:a16="http://schemas.microsoft.com/office/drawing/2014/main" id="{A0517044-0546-4E81-BB6B-BB04EC945127}"/>
                  </a:ext>
                </a:extLst>
              </p:cNvPr>
              <p:cNvSpPr>
                <a:spLocks noGrp="1" noRot="1" noChangeAspect="1" noMove="1" noResize="1" noEditPoints="1" noAdjustHandles="1" noChangeArrowheads="1" noChangeShapeType="1" noTextEdit="1"/>
              </p:cNvSpPr>
              <p:nvPr>
                <p:ph idx="1"/>
              </p:nvPr>
            </p:nvSpPr>
            <p:spPr>
              <a:blipFill>
                <a:blip r:embed="rId2"/>
                <a:stretch>
                  <a:fillRect l="-1043" t="-980" r="-23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5170601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1164B-5C7F-467B-A646-9B0473BCCEC9}"/>
              </a:ext>
            </a:extLst>
          </p:cNvPr>
          <p:cNvSpPr>
            <a:spLocks noGrp="1"/>
          </p:cNvSpPr>
          <p:nvPr>
            <p:ph type="title"/>
          </p:nvPr>
        </p:nvSpPr>
        <p:spPr/>
        <p:txBody>
          <a:bodyPr/>
          <a:lstStyle/>
          <a:p>
            <a:r>
              <a:rPr lang="en-US" altLang="zh-CN" b="1" dirty="0"/>
              <a:t>Harris</a:t>
            </a:r>
            <a:r>
              <a:rPr lang="zh-CN" altLang="en-US" b="1" dirty="0"/>
              <a:t>角点检测</a:t>
            </a:r>
          </a:p>
        </p:txBody>
      </p:sp>
      <p:sp>
        <p:nvSpPr>
          <p:cNvPr id="3" name="Content Placeholder 2">
            <a:extLst>
              <a:ext uri="{FF2B5EF4-FFF2-40B4-BE49-F238E27FC236}">
                <a16:creationId xmlns:a16="http://schemas.microsoft.com/office/drawing/2014/main" id="{5D8E28AD-13E3-4F4F-897B-0E3210EE02D4}"/>
              </a:ext>
            </a:extLst>
          </p:cNvPr>
          <p:cNvSpPr>
            <a:spLocks noGrp="1"/>
          </p:cNvSpPr>
          <p:nvPr>
            <p:ph idx="1"/>
          </p:nvPr>
        </p:nvSpPr>
        <p:spPr/>
        <p:txBody>
          <a:bodyPr/>
          <a:lstStyle/>
          <a:p>
            <a:endParaRPr lang="zh-CN" altLang="en-US"/>
          </a:p>
        </p:txBody>
      </p:sp>
      <p:pic>
        <p:nvPicPr>
          <p:cNvPr id="4" name="cows_step0" descr="cows_step0">
            <a:extLst>
              <a:ext uri="{FF2B5EF4-FFF2-40B4-BE49-F238E27FC236}">
                <a16:creationId xmlns:a16="http://schemas.microsoft.com/office/drawing/2014/main" id="{B9AA7560-0599-44E1-8816-30DED6B68B73}"/>
              </a:ext>
            </a:extLst>
          </p:cNvPr>
          <p:cNvPicPr>
            <a:picLocks noChangeAspect="1"/>
          </p:cNvPicPr>
          <p:nvPr/>
        </p:nvPicPr>
        <p:blipFill>
          <a:blip r:embed="rId2">
            <a:extLst/>
          </a:blip>
          <a:stretch>
            <a:fillRect/>
          </a:stretch>
        </p:blipFill>
        <p:spPr>
          <a:xfrm>
            <a:off x="2477139" y="1825625"/>
            <a:ext cx="7237721" cy="4680000"/>
          </a:xfrm>
          <a:prstGeom prst="rect">
            <a:avLst/>
          </a:prstGeom>
          <a:ln w="12700">
            <a:miter lim="400000"/>
          </a:ln>
        </p:spPr>
      </p:pic>
    </p:spTree>
    <p:extLst>
      <p:ext uri="{BB962C8B-B14F-4D97-AF65-F5344CB8AC3E}">
        <p14:creationId xmlns:p14="http://schemas.microsoft.com/office/powerpoint/2010/main" val="329180549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B07A8-0FA1-4ABC-BBD2-54DBF1F5F1D4}"/>
              </a:ext>
            </a:extLst>
          </p:cNvPr>
          <p:cNvSpPr>
            <a:spLocks noGrp="1"/>
          </p:cNvSpPr>
          <p:nvPr>
            <p:ph type="title"/>
          </p:nvPr>
        </p:nvSpPr>
        <p:spPr/>
        <p:txBody>
          <a:bodyPr/>
          <a:lstStyle/>
          <a:p>
            <a:r>
              <a:rPr lang="en-US" altLang="zh-CN" b="1" dirty="0"/>
              <a:t>Harris</a:t>
            </a:r>
            <a:r>
              <a:rPr lang="zh-CN" altLang="en-US" b="1" dirty="0"/>
              <a:t>角点检测</a:t>
            </a:r>
            <a:endParaRPr lang="zh-CN" altLang="en-US" dirty="0"/>
          </a:p>
        </p:txBody>
      </p:sp>
      <p:sp>
        <p:nvSpPr>
          <p:cNvPr id="3" name="Content Placeholder 2">
            <a:extLst>
              <a:ext uri="{FF2B5EF4-FFF2-40B4-BE49-F238E27FC236}">
                <a16:creationId xmlns:a16="http://schemas.microsoft.com/office/drawing/2014/main" id="{7C95B1DF-B901-4411-8148-D29A86DAA7F8}"/>
              </a:ext>
            </a:extLst>
          </p:cNvPr>
          <p:cNvSpPr>
            <a:spLocks noGrp="1"/>
          </p:cNvSpPr>
          <p:nvPr>
            <p:ph idx="1"/>
          </p:nvPr>
        </p:nvSpPr>
        <p:spPr/>
        <p:txBody>
          <a:bodyPr/>
          <a:lstStyle/>
          <a:p>
            <a:r>
              <a:rPr lang="zh-CN" altLang="en-US" b="1" dirty="0">
                <a:solidFill>
                  <a:srgbClr val="0070C0"/>
                </a:solidFill>
              </a:rPr>
              <a:t>响应图</a:t>
            </a:r>
          </a:p>
        </p:txBody>
      </p:sp>
      <p:pic>
        <p:nvPicPr>
          <p:cNvPr id="4" name="cows_step1_corner_response" descr="cows_step1_corner_response">
            <a:extLst>
              <a:ext uri="{FF2B5EF4-FFF2-40B4-BE49-F238E27FC236}">
                <a16:creationId xmlns:a16="http://schemas.microsoft.com/office/drawing/2014/main" id="{F0227645-77C4-48F7-8205-46ADCC758E43}"/>
              </a:ext>
            </a:extLst>
          </p:cNvPr>
          <p:cNvPicPr>
            <a:picLocks noChangeAspect="1"/>
          </p:cNvPicPr>
          <p:nvPr/>
        </p:nvPicPr>
        <p:blipFill>
          <a:blip r:embed="rId2">
            <a:extLst/>
          </a:blip>
          <a:stretch>
            <a:fillRect/>
          </a:stretch>
        </p:blipFill>
        <p:spPr>
          <a:xfrm>
            <a:off x="2940784" y="1825625"/>
            <a:ext cx="7242084" cy="4680000"/>
          </a:xfrm>
          <a:prstGeom prst="rect">
            <a:avLst/>
          </a:prstGeom>
          <a:ln w="12700">
            <a:miter lim="400000"/>
          </a:ln>
        </p:spPr>
      </p:pic>
    </p:spTree>
    <p:extLst>
      <p:ext uri="{BB962C8B-B14F-4D97-AF65-F5344CB8AC3E}">
        <p14:creationId xmlns:p14="http://schemas.microsoft.com/office/powerpoint/2010/main" val="273654920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B07A8-0FA1-4ABC-BBD2-54DBF1F5F1D4}"/>
              </a:ext>
            </a:extLst>
          </p:cNvPr>
          <p:cNvSpPr>
            <a:spLocks noGrp="1"/>
          </p:cNvSpPr>
          <p:nvPr>
            <p:ph type="title"/>
          </p:nvPr>
        </p:nvSpPr>
        <p:spPr/>
        <p:txBody>
          <a:bodyPr/>
          <a:lstStyle/>
          <a:p>
            <a:r>
              <a:rPr lang="en-US" altLang="zh-CN" b="1" dirty="0"/>
              <a:t>Harris</a:t>
            </a:r>
            <a:r>
              <a:rPr lang="zh-CN" altLang="en-US" b="1" dirty="0"/>
              <a:t>角点检测</a:t>
            </a:r>
            <a:endParaRPr lang="zh-CN" altLang="en-US" dirty="0"/>
          </a:p>
        </p:txBody>
      </p:sp>
      <p:sp>
        <p:nvSpPr>
          <p:cNvPr id="3" name="Content Placeholder 2">
            <a:extLst>
              <a:ext uri="{FF2B5EF4-FFF2-40B4-BE49-F238E27FC236}">
                <a16:creationId xmlns:a16="http://schemas.microsoft.com/office/drawing/2014/main" id="{7C95B1DF-B901-4411-8148-D29A86DAA7F8}"/>
              </a:ext>
            </a:extLst>
          </p:cNvPr>
          <p:cNvSpPr>
            <a:spLocks noGrp="1"/>
          </p:cNvSpPr>
          <p:nvPr>
            <p:ph idx="1"/>
          </p:nvPr>
        </p:nvSpPr>
        <p:spPr/>
        <p:txBody>
          <a:bodyPr/>
          <a:lstStyle/>
          <a:p>
            <a:r>
              <a:rPr lang="zh-CN" altLang="en-US" b="1" dirty="0">
                <a:solidFill>
                  <a:srgbClr val="0070C0"/>
                </a:solidFill>
              </a:rPr>
              <a:t>阈值化</a:t>
            </a:r>
          </a:p>
        </p:txBody>
      </p:sp>
      <p:pic>
        <p:nvPicPr>
          <p:cNvPr id="5" name="cows_step2_thresh" descr="cows_step2_thresh">
            <a:extLst>
              <a:ext uri="{FF2B5EF4-FFF2-40B4-BE49-F238E27FC236}">
                <a16:creationId xmlns:a16="http://schemas.microsoft.com/office/drawing/2014/main" id="{0E4AC7D1-00E8-4ADE-AC1B-4141C373ECEA}"/>
              </a:ext>
            </a:extLst>
          </p:cNvPr>
          <p:cNvPicPr>
            <a:picLocks noChangeAspect="1"/>
          </p:cNvPicPr>
          <p:nvPr/>
        </p:nvPicPr>
        <p:blipFill>
          <a:blip r:embed="rId2">
            <a:extLst/>
          </a:blip>
          <a:stretch>
            <a:fillRect/>
          </a:stretch>
        </p:blipFill>
        <p:spPr>
          <a:xfrm>
            <a:off x="3130567" y="1812875"/>
            <a:ext cx="7242084" cy="4680000"/>
          </a:xfrm>
          <a:prstGeom prst="rect">
            <a:avLst/>
          </a:prstGeom>
          <a:ln w="12700">
            <a:miter lim="400000"/>
          </a:ln>
        </p:spPr>
      </p:pic>
    </p:spTree>
    <p:extLst>
      <p:ext uri="{BB962C8B-B14F-4D97-AF65-F5344CB8AC3E}">
        <p14:creationId xmlns:p14="http://schemas.microsoft.com/office/powerpoint/2010/main" val="244967162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B07A8-0FA1-4ABC-BBD2-54DBF1F5F1D4}"/>
              </a:ext>
            </a:extLst>
          </p:cNvPr>
          <p:cNvSpPr>
            <a:spLocks noGrp="1"/>
          </p:cNvSpPr>
          <p:nvPr>
            <p:ph type="title"/>
          </p:nvPr>
        </p:nvSpPr>
        <p:spPr/>
        <p:txBody>
          <a:bodyPr/>
          <a:lstStyle/>
          <a:p>
            <a:r>
              <a:rPr lang="en-US" altLang="zh-CN" b="1" dirty="0"/>
              <a:t>Harris</a:t>
            </a:r>
            <a:r>
              <a:rPr lang="zh-CN" altLang="en-US" b="1" dirty="0"/>
              <a:t>角点检测</a:t>
            </a:r>
            <a:endParaRPr lang="zh-CN" altLang="en-US" dirty="0"/>
          </a:p>
        </p:txBody>
      </p:sp>
      <p:sp>
        <p:nvSpPr>
          <p:cNvPr id="3" name="Content Placeholder 2">
            <a:extLst>
              <a:ext uri="{FF2B5EF4-FFF2-40B4-BE49-F238E27FC236}">
                <a16:creationId xmlns:a16="http://schemas.microsoft.com/office/drawing/2014/main" id="{7C95B1DF-B901-4411-8148-D29A86DAA7F8}"/>
              </a:ext>
            </a:extLst>
          </p:cNvPr>
          <p:cNvSpPr>
            <a:spLocks noGrp="1"/>
          </p:cNvSpPr>
          <p:nvPr>
            <p:ph idx="1"/>
          </p:nvPr>
        </p:nvSpPr>
        <p:spPr/>
        <p:txBody>
          <a:bodyPr/>
          <a:lstStyle/>
          <a:p>
            <a:r>
              <a:rPr lang="zh-CN" altLang="en-US" b="1" dirty="0">
                <a:solidFill>
                  <a:srgbClr val="0070C0"/>
                </a:solidFill>
              </a:rPr>
              <a:t>非极大值抑制</a:t>
            </a:r>
          </a:p>
        </p:txBody>
      </p:sp>
      <p:pic>
        <p:nvPicPr>
          <p:cNvPr id="6" name="cows_step3_thresh&amp;max" descr="cows_step3_thresh&amp;max">
            <a:extLst>
              <a:ext uri="{FF2B5EF4-FFF2-40B4-BE49-F238E27FC236}">
                <a16:creationId xmlns:a16="http://schemas.microsoft.com/office/drawing/2014/main" id="{9CF5F636-E00D-41F7-A9FE-2F7DF4E1EB68}"/>
              </a:ext>
            </a:extLst>
          </p:cNvPr>
          <p:cNvPicPr>
            <a:picLocks noChangeAspect="1"/>
          </p:cNvPicPr>
          <p:nvPr/>
        </p:nvPicPr>
        <p:blipFill>
          <a:blip r:embed="rId2">
            <a:extLst/>
          </a:blip>
          <a:stretch>
            <a:fillRect/>
          </a:stretch>
        </p:blipFill>
        <p:spPr>
          <a:xfrm>
            <a:off x="3757730" y="1902870"/>
            <a:ext cx="7266166" cy="4680000"/>
          </a:xfrm>
          <a:prstGeom prst="rect">
            <a:avLst/>
          </a:prstGeom>
          <a:ln w="12700">
            <a:miter lim="400000"/>
          </a:ln>
        </p:spPr>
      </p:pic>
    </p:spTree>
    <p:extLst>
      <p:ext uri="{BB962C8B-B14F-4D97-AF65-F5344CB8AC3E}">
        <p14:creationId xmlns:p14="http://schemas.microsoft.com/office/powerpoint/2010/main" val="168378534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B07A8-0FA1-4ABC-BBD2-54DBF1F5F1D4}"/>
              </a:ext>
            </a:extLst>
          </p:cNvPr>
          <p:cNvSpPr>
            <a:spLocks noGrp="1"/>
          </p:cNvSpPr>
          <p:nvPr>
            <p:ph type="title"/>
          </p:nvPr>
        </p:nvSpPr>
        <p:spPr/>
        <p:txBody>
          <a:bodyPr/>
          <a:lstStyle/>
          <a:p>
            <a:r>
              <a:rPr lang="en-US" altLang="zh-CN" b="1" dirty="0"/>
              <a:t>Harris</a:t>
            </a:r>
            <a:r>
              <a:rPr lang="zh-CN" altLang="en-US" b="1" dirty="0"/>
              <a:t>角点检测</a:t>
            </a:r>
            <a:endParaRPr lang="zh-CN" altLang="en-US" dirty="0"/>
          </a:p>
        </p:txBody>
      </p:sp>
      <p:sp>
        <p:nvSpPr>
          <p:cNvPr id="3" name="Content Placeholder 2">
            <a:extLst>
              <a:ext uri="{FF2B5EF4-FFF2-40B4-BE49-F238E27FC236}">
                <a16:creationId xmlns:a16="http://schemas.microsoft.com/office/drawing/2014/main" id="{7C95B1DF-B901-4411-8148-D29A86DAA7F8}"/>
              </a:ext>
            </a:extLst>
          </p:cNvPr>
          <p:cNvSpPr>
            <a:spLocks noGrp="1"/>
          </p:cNvSpPr>
          <p:nvPr>
            <p:ph idx="1"/>
          </p:nvPr>
        </p:nvSpPr>
        <p:spPr/>
        <p:txBody>
          <a:bodyPr/>
          <a:lstStyle/>
          <a:p>
            <a:r>
              <a:rPr lang="zh-CN" altLang="en-US" b="1" dirty="0">
                <a:solidFill>
                  <a:srgbClr val="0070C0"/>
                </a:solidFill>
              </a:rPr>
              <a:t>检测结果</a:t>
            </a:r>
          </a:p>
        </p:txBody>
      </p:sp>
      <p:pic>
        <p:nvPicPr>
          <p:cNvPr id="5" name="cows_step4_harris" descr="cows_step4_harris">
            <a:extLst>
              <a:ext uri="{FF2B5EF4-FFF2-40B4-BE49-F238E27FC236}">
                <a16:creationId xmlns:a16="http://schemas.microsoft.com/office/drawing/2014/main" id="{B78D33F3-36F2-48A3-AFBE-B96E6E2664A9}"/>
              </a:ext>
            </a:extLst>
          </p:cNvPr>
          <p:cNvPicPr>
            <a:picLocks noChangeAspect="1"/>
          </p:cNvPicPr>
          <p:nvPr/>
        </p:nvPicPr>
        <p:blipFill>
          <a:blip r:embed="rId2">
            <a:extLst/>
          </a:blip>
          <a:stretch>
            <a:fillRect/>
          </a:stretch>
        </p:blipFill>
        <p:spPr>
          <a:xfrm>
            <a:off x="3550696" y="1825625"/>
            <a:ext cx="7229016" cy="4680000"/>
          </a:xfrm>
          <a:prstGeom prst="rect">
            <a:avLst/>
          </a:prstGeom>
          <a:ln w="12700">
            <a:miter lim="400000"/>
          </a:ln>
        </p:spPr>
      </p:pic>
    </p:spTree>
    <p:extLst>
      <p:ext uri="{BB962C8B-B14F-4D97-AF65-F5344CB8AC3E}">
        <p14:creationId xmlns:p14="http://schemas.microsoft.com/office/powerpoint/2010/main" val="302736435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9F4A7-FB8C-4651-9F2B-B9B0BF1E5ED8}"/>
              </a:ext>
            </a:extLst>
          </p:cNvPr>
          <p:cNvSpPr>
            <a:spLocks noGrp="1"/>
          </p:cNvSpPr>
          <p:nvPr>
            <p:ph type="title"/>
          </p:nvPr>
        </p:nvSpPr>
        <p:spPr/>
        <p:txBody>
          <a:bodyPr/>
          <a:lstStyle/>
          <a:p>
            <a:r>
              <a:rPr lang="en-US" altLang="zh-CN" b="1" dirty="0"/>
              <a:t>Harris</a:t>
            </a:r>
            <a:r>
              <a:rPr lang="zh-CN" altLang="en-US" b="1" dirty="0"/>
              <a:t>角点性质</a:t>
            </a:r>
          </a:p>
        </p:txBody>
      </p:sp>
      <p:sp>
        <p:nvSpPr>
          <p:cNvPr id="3" name="Content Placeholder 2">
            <a:extLst>
              <a:ext uri="{FF2B5EF4-FFF2-40B4-BE49-F238E27FC236}">
                <a16:creationId xmlns:a16="http://schemas.microsoft.com/office/drawing/2014/main" id="{9F48C43A-C321-4CC2-B336-A979710A63CF}"/>
              </a:ext>
            </a:extLst>
          </p:cNvPr>
          <p:cNvSpPr>
            <a:spLocks noGrp="1"/>
          </p:cNvSpPr>
          <p:nvPr>
            <p:ph idx="1"/>
          </p:nvPr>
        </p:nvSpPr>
        <p:spPr/>
        <p:txBody>
          <a:bodyPr>
            <a:normAutofit/>
          </a:bodyPr>
          <a:lstStyle/>
          <a:p>
            <a:pPr>
              <a:lnSpc>
                <a:spcPct val="150000"/>
              </a:lnSpc>
            </a:pPr>
            <a:r>
              <a:rPr lang="zh-CN" altLang="en-US" sz="3200" b="1" dirty="0">
                <a:solidFill>
                  <a:schemeClr val="accent1"/>
                </a:solidFill>
              </a:rPr>
              <a:t>几何 </a:t>
            </a:r>
            <a:r>
              <a:rPr lang="en-US" altLang="zh-CN" sz="3200" b="1" dirty="0">
                <a:solidFill>
                  <a:schemeClr val="accent1"/>
                </a:solidFill>
              </a:rPr>
              <a:t>(Geometry)</a:t>
            </a:r>
          </a:p>
          <a:p>
            <a:pPr lvl="1">
              <a:lnSpc>
                <a:spcPct val="150000"/>
              </a:lnSpc>
            </a:pPr>
            <a:r>
              <a:rPr lang="zh-CN" altLang="en-US" sz="2800" dirty="0"/>
              <a:t>旋转 </a:t>
            </a:r>
            <a:r>
              <a:rPr lang="en-US" altLang="zh-CN" sz="2800" dirty="0"/>
              <a:t>(rotation)</a:t>
            </a:r>
          </a:p>
          <a:p>
            <a:pPr lvl="1">
              <a:lnSpc>
                <a:spcPct val="150000"/>
              </a:lnSpc>
            </a:pPr>
            <a:r>
              <a:rPr lang="zh-CN" altLang="en-US" sz="2800" dirty="0"/>
              <a:t>尺度 </a:t>
            </a:r>
            <a:r>
              <a:rPr lang="en-US" altLang="zh-CN" sz="2800" dirty="0"/>
              <a:t>(scale)</a:t>
            </a:r>
          </a:p>
          <a:p>
            <a:pPr>
              <a:lnSpc>
                <a:spcPct val="150000"/>
              </a:lnSpc>
            </a:pPr>
            <a:r>
              <a:rPr lang="zh-CN" altLang="en-US" sz="3200" b="1" dirty="0">
                <a:solidFill>
                  <a:schemeClr val="accent1"/>
                </a:solidFill>
              </a:rPr>
              <a:t>光度测量 </a:t>
            </a:r>
            <a:r>
              <a:rPr lang="en-US" altLang="zh-CN" sz="3200" b="1" dirty="0">
                <a:solidFill>
                  <a:schemeClr val="accent1"/>
                </a:solidFill>
              </a:rPr>
              <a:t>(Photometry)</a:t>
            </a:r>
          </a:p>
          <a:p>
            <a:pPr lvl="1">
              <a:lnSpc>
                <a:spcPct val="150000"/>
              </a:lnSpc>
            </a:pPr>
            <a:r>
              <a:rPr lang="zh-CN" altLang="en-US" sz="2800" dirty="0"/>
              <a:t>亮度变换 </a:t>
            </a:r>
            <a:r>
              <a:rPr lang="en-US" altLang="zh-CN" sz="2800" dirty="0"/>
              <a:t>(intensity change)</a:t>
            </a:r>
            <a:endParaRPr lang="zh-CN" altLang="en-US" sz="2800" dirty="0"/>
          </a:p>
        </p:txBody>
      </p:sp>
    </p:spTree>
    <p:extLst>
      <p:ext uri="{BB962C8B-B14F-4D97-AF65-F5344CB8AC3E}">
        <p14:creationId xmlns:p14="http://schemas.microsoft.com/office/powerpoint/2010/main" val="101565420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9F4A7-FB8C-4651-9F2B-B9B0BF1E5ED8}"/>
              </a:ext>
            </a:extLst>
          </p:cNvPr>
          <p:cNvSpPr>
            <a:spLocks noGrp="1"/>
          </p:cNvSpPr>
          <p:nvPr>
            <p:ph type="title"/>
          </p:nvPr>
        </p:nvSpPr>
        <p:spPr/>
        <p:txBody>
          <a:bodyPr/>
          <a:lstStyle/>
          <a:p>
            <a:r>
              <a:rPr lang="en-US" altLang="zh-CN" b="1" dirty="0"/>
              <a:t>Harris</a:t>
            </a:r>
            <a:r>
              <a:rPr lang="zh-CN" altLang="en-US" b="1" dirty="0"/>
              <a:t>角点性质</a:t>
            </a:r>
          </a:p>
        </p:txBody>
      </p:sp>
      <p:sp>
        <p:nvSpPr>
          <p:cNvPr id="3" name="Content Placeholder 2">
            <a:extLst>
              <a:ext uri="{FF2B5EF4-FFF2-40B4-BE49-F238E27FC236}">
                <a16:creationId xmlns:a16="http://schemas.microsoft.com/office/drawing/2014/main" id="{9F48C43A-C321-4CC2-B336-A979710A63CF}"/>
              </a:ext>
            </a:extLst>
          </p:cNvPr>
          <p:cNvSpPr>
            <a:spLocks noGrp="1"/>
          </p:cNvSpPr>
          <p:nvPr>
            <p:ph idx="1"/>
          </p:nvPr>
        </p:nvSpPr>
        <p:spPr/>
        <p:txBody>
          <a:bodyPr/>
          <a:lstStyle/>
          <a:p>
            <a:r>
              <a:rPr lang="zh-CN" altLang="en-US" b="1" dirty="0"/>
              <a:t>旋转不变性 </a:t>
            </a:r>
            <a:r>
              <a:rPr lang="en-US" altLang="zh-CN" b="1" dirty="0"/>
              <a:t>(Rotation invariance)?</a:t>
            </a:r>
            <a:endParaRPr lang="zh-CN" altLang="en-US" b="1" dirty="0"/>
          </a:p>
        </p:txBody>
      </p:sp>
      <p:pic>
        <p:nvPicPr>
          <p:cNvPr id="4" name="Picture 3">
            <a:extLst>
              <a:ext uri="{FF2B5EF4-FFF2-40B4-BE49-F238E27FC236}">
                <a16:creationId xmlns:a16="http://schemas.microsoft.com/office/drawing/2014/main" id="{45910425-9515-4CFB-9D6D-5D8AB8922069}"/>
              </a:ext>
            </a:extLst>
          </p:cNvPr>
          <p:cNvPicPr>
            <a:picLocks noChangeAspect="1"/>
          </p:cNvPicPr>
          <p:nvPr/>
        </p:nvPicPr>
        <p:blipFill>
          <a:blip r:embed="rId2"/>
          <a:stretch>
            <a:fillRect/>
          </a:stretch>
        </p:blipFill>
        <p:spPr>
          <a:xfrm>
            <a:off x="3566523" y="2505921"/>
            <a:ext cx="5058953" cy="3986954"/>
          </a:xfrm>
          <a:prstGeom prst="rect">
            <a:avLst/>
          </a:prstGeom>
        </p:spPr>
      </p:pic>
    </p:spTree>
    <p:extLst>
      <p:ext uri="{BB962C8B-B14F-4D97-AF65-F5344CB8AC3E}">
        <p14:creationId xmlns:p14="http://schemas.microsoft.com/office/powerpoint/2010/main" val="366565807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8BE5A-4594-4442-8A86-F975340A2156}"/>
              </a:ext>
            </a:extLst>
          </p:cNvPr>
          <p:cNvSpPr>
            <a:spLocks noGrp="1"/>
          </p:cNvSpPr>
          <p:nvPr>
            <p:ph type="title"/>
          </p:nvPr>
        </p:nvSpPr>
        <p:spPr/>
        <p:txBody>
          <a:bodyPr/>
          <a:lstStyle/>
          <a:p>
            <a:r>
              <a:rPr lang="en-US" altLang="zh-CN" b="1" dirty="0"/>
              <a:t>Harris</a:t>
            </a:r>
            <a:r>
              <a:rPr lang="zh-CN" altLang="en-US" b="1" dirty="0"/>
              <a:t>角点性质</a:t>
            </a:r>
            <a:endParaRPr lang="zh-CN" altLang="en-US" dirty="0"/>
          </a:p>
        </p:txBody>
      </p:sp>
      <p:sp>
        <p:nvSpPr>
          <p:cNvPr id="3" name="Content Placeholder 2">
            <a:extLst>
              <a:ext uri="{FF2B5EF4-FFF2-40B4-BE49-F238E27FC236}">
                <a16:creationId xmlns:a16="http://schemas.microsoft.com/office/drawing/2014/main" id="{D2200590-8AE7-41F5-89A3-A4D8796FAEB2}"/>
              </a:ext>
            </a:extLst>
          </p:cNvPr>
          <p:cNvSpPr>
            <a:spLocks noGrp="1"/>
          </p:cNvSpPr>
          <p:nvPr>
            <p:ph idx="1"/>
          </p:nvPr>
        </p:nvSpPr>
        <p:spPr/>
        <p:txBody>
          <a:bodyPr>
            <a:normAutofit fontScale="92500" lnSpcReduction="10000"/>
          </a:bodyPr>
          <a:lstStyle/>
          <a:p>
            <a:pPr>
              <a:lnSpc>
                <a:spcPct val="120000"/>
              </a:lnSpc>
            </a:pPr>
            <a:r>
              <a:rPr lang="zh-CN" altLang="en-US" sz="3000" b="1" dirty="0"/>
              <a:t>旋转不变性 </a:t>
            </a:r>
            <a:r>
              <a:rPr lang="en-US" altLang="zh-CN" sz="3000" b="1" dirty="0"/>
              <a:t>(Rotation invariance)?</a:t>
            </a:r>
          </a:p>
          <a:p>
            <a:pPr>
              <a:lnSpc>
                <a:spcPct val="120000"/>
              </a:lnSpc>
            </a:pPr>
            <a:endParaRPr lang="en-US" altLang="zh-CN" b="1" dirty="0"/>
          </a:p>
          <a:p>
            <a:pPr>
              <a:lnSpc>
                <a:spcPct val="120000"/>
              </a:lnSpc>
            </a:pPr>
            <a:endParaRPr lang="en-US" altLang="zh-CN" b="1" dirty="0"/>
          </a:p>
          <a:p>
            <a:pPr>
              <a:lnSpc>
                <a:spcPct val="120000"/>
              </a:lnSpc>
            </a:pPr>
            <a:endParaRPr lang="en-US" altLang="zh-CN" b="1" dirty="0"/>
          </a:p>
          <a:p>
            <a:pPr>
              <a:lnSpc>
                <a:spcPct val="120000"/>
              </a:lnSpc>
            </a:pPr>
            <a:endParaRPr lang="en-US" altLang="zh-CN" b="1" dirty="0"/>
          </a:p>
          <a:p>
            <a:pPr>
              <a:lnSpc>
                <a:spcPct val="120000"/>
              </a:lnSpc>
            </a:pPr>
            <a:endParaRPr lang="en-US" altLang="zh-CN" b="1" dirty="0"/>
          </a:p>
          <a:p>
            <a:pPr lvl="1">
              <a:lnSpc>
                <a:spcPct val="120000"/>
              </a:lnSpc>
            </a:pPr>
            <a:r>
              <a:rPr lang="zh-CN" altLang="en-US" dirty="0"/>
              <a:t>椭圆经过旋转之后，性质是保持不变的（</a:t>
            </a:r>
            <a:r>
              <a:rPr lang="zh-CN" altLang="en-US" b="1" dirty="0">
                <a:solidFill>
                  <a:srgbClr val="00B0F0"/>
                </a:solidFill>
              </a:rPr>
              <a:t>即：特征值</a:t>
            </a:r>
            <a:r>
              <a:rPr lang="zh-CN" altLang="en-US" dirty="0"/>
              <a:t>）</a:t>
            </a:r>
            <a:endParaRPr lang="en-US" altLang="zh-CN" dirty="0"/>
          </a:p>
          <a:p>
            <a:pPr lvl="1">
              <a:lnSpc>
                <a:spcPct val="120000"/>
              </a:lnSpc>
            </a:pPr>
            <a:r>
              <a:rPr lang="en-US" altLang="zh-CN" dirty="0"/>
              <a:t>Harris</a:t>
            </a:r>
            <a:r>
              <a:rPr lang="zh-CN" altLang="en-US" dirty="0"/>
              <a:t>角点的响应值</a:t>
            </a:r>
            <a:r>
              <a:rPr lang="en-US" altLang="zh-CN" dirty="0"/>
              <a:t>R</a:t>
            </a:r>
            <a:r>
              <a:rPr lang="zh-CN" altLang="en-US" dirty="0"/>
              <a:t>具有旋转不变性</a:t>
            </a:r>
          </a:p>
          <a:p>
            <a:pPr>
              <a:lnSpc>
                <a:spcPct val="120000"/>
              </a:lnSpc>
            </a:pPr>
            <a:endParaRPr lang="zh-CN" altLang="en-US" dirty="0"/>
          </a:p>
        </p:txBody>
      </p:sp>
      <p:pic>
        <p:nvPicPr>
          <p:cNvPr id="4" name="Picture 3">
            <a:extLst>
              <a:ext uri="{FF2B5EF4-FFF2-40B4-BE49-F238E27FC236}">
                <a16:creationId xmlns:a16="http://schemas.microsoft.com/office/drawing/2014/main" id="{1CA86E5C-D8C9-457C-BAEC-F01F2BADC3BA}"/>
              </a:ext>
            </a:extLst>
          </p:cNvPr>
          <p:cNvPicPr>
            <a:picLocks noChangeAspect="1"/>
          </p:cNvPicPr>
          <p:nvPr/>
        </p:nvPicPr>
        <p:blipFill>
          <a:blip r:embed="rId2"/>
          <a:stretch>
            <a:fillRect/>
          </a:stretch>
        </p:blipFill>
        <p:spPr>
          <a:xfrm>
            <a:off x="3153143" y="2463949"/>
            <a:ext cx="5885714" cy="2380952"/>
          </a:xfrm>
          <a:prstGeom prst="rect">
            <a:avLst/>
          </a:prstGeom>
        </p:spPr>
      </p:pic>
    </p:spTree>
    <p:extLst>
      <p:ext uri="{BB962C8B-B14F-4D97-AF65-F5344CB8AC3E}">
        <p14:creationId xmlns:p14="http://schemas.microsoft.com/office/powerpoint/2010/main" val="69005765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8BE5A-4594-4442-8A86-F975340A2156}"/>
              </a:ext>
            </a:extLst>
          </p:cNvPr>
          <p:cNvSpPr>
            <a:spLocks noGrp="1"/>
          </p:cNvSpPr>
          <p:nvPr>
            <p:ph type="title"/>
          </p:nvPr>
        </p:nvSpPr>
        <p:spPr/>
        <p:txBody>
          <a:bodyPr/>
          <a:lstStyle/>
          <a:p>
            <a:r>
              <a:rPr lang="en-US" altLang="zh-CN" b="1" dirty="0"/>
              <a:t>Harris</a:t>
            </a:r>
            <a:r>
              <a:rPr lang="zh-CN" altLang="en-US" b="1" dirty="0"/>
              <a:t>角点性质</a:t>
            </a:r>
            <a:endParaRPr lang="zh-CN" altLang="en-US" dirty="0"/>
          </a:p>
        </p:txBody>
      </p:sp>
      <p:sp>
        <p:nvSpPr>
          <p:cNvPr id="3" name="Content Placeholder 2">
            <a:extLst>
              <a:ext uri="{FF2B5EF4-FFF2-40B4-BE49-F238E27FC236}">
                <a16:creationId xmlns:a16="http://schemas.microsoft.com/office/drawing/2014/main" id="{D2200590-8AE7-41F5-89A3-A4D8796FAEB2}"/>
              </a:ext>
            </a:extLst>
          </p:cNvPr>
          <p:cNvSpPr>
            <a:spLocks noGrp="1"/>
          </p:cNvSpPr>
          <p:nvPr>
            <p:ph idx="1"/>
          </p:nvPr>
        </p:nvSpPr>
        <p:spPr/>
        <p:txBody>
          <a:bodyPr>
            <a:normAutofit/>
          </a:bodyPr>
          <a:lstStyle/>
          <a:p>
            <a:pPr>
              <a:lnSpc>
                <a:spcPct val="120000"/>
              </a:lnSpc>
            </a:pPr>
            <a:endParaRPr lang="en-US" altLang="zh-CN" b="1" dirty="0"/>
          </a:p>
          <a:p>
            <a:pPr>
              <a:lnSpc>
                <a:spcPct val="120000"/>
              </a:lnSpc>
            </a:pPr>
            <a:endParaRPr lang="en-US" altLang="zh-CN" b="1" dirty="0"/>
          </a:p>
          <a:p>
            <a:pPr>
              <a:lnSpc>
                <a:spcPct val="120000"/>
              </a:lnSpc>
            </a:pPr>
            <a:endParaRPr lang="en-US" altLang="zh-CN" b="1" dirty="0"/>
          </a:p>
          <a:p>
            <a:pPr>
              <a:lnSpc>
                <a:spcPct val="120000"/>
              </a:lnSpc>
            </a:pPr>
            <a:endParaRPr lang="en-US" altLang="zh-CN" b="1" dirty="0"/>
          </a:p>
          <a:p>
            <a:pPr>
              <a:lnSpc>
                <a:spcPct val="120000"/>
              </a:lnSpc>
            </a:pPr>
            <a:endParaRPr lang="en-US" altLang="zh-CN" b="1" dirty="0"/>
          </a:p>
          <a:p>
            <a:pPr>
              <a:lnSpc>
                <a:spcPct val="120000"/>
              </a:lnSpc>
            </a:pPr>
            <a:endParaRPr lang="zh-CN" altLang="en-US" dirty="0"/>
          </a:p>
        </p:txBody>
      </p:sp>
      <p:pic>
        <p:nvPicPr>
          <p:cNvPr id="5" name="Picture 4">
            <a:extLst>
              <a:ext uri="{FF2B5EF4-FFF2-40B4-BE49-F238E27FC236}">
                <a16:creationId xmlns:a16="http://schemas.microsoft.com/office/drawing/2014/main" id="{7AEC06A4-3AEA-434B-949A-1922FFF43FFF}"/>
              </a:ext>
            </a:extLst>
          </p:cNvPr>
          <p:cNvPicPr>
            <a:picLocks noChangeAspect="1"/>
          </p:cNvPicPr>
          <p:nvPr/>
        </p:nvPicPr>
        <p:blipFill>
          <a:blip r:embed="rId2"/>
          <a:stretch>
            <a:fillRect/>
          </a:stretch>
        </p:blipFill>
        <p:spPr>
          <a:xfrm>
            <a:off x="2267917" y="1536200"/>
            <a:ext cx="7656166" cy="5160872"/>
          </a:xfrm>
          <a:prstGeom prst="rect">
            <a:avLst/>
          </a:prstGeom>
        </p:spPr>
      </p:pic>
    </p:spTree>
    <p:extLst>
      <p:ext uri="{BB962C8B-B14F-4D97-AF65-F5344CB8AC3E}">
        <p14:creationId xmlns:p14="http://schemas.microsoft.com/office/powerpoint/2010/main" val="305600386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6E86A-24CA-4C6F-87CC-471264D519B5}"/>
              </a:ext>
            </a:extLst>
          </p:cNvPr>
          <p:cNvSpPr>
            <a:spLocks noGrp="1"/>
          </p:cNvSpPr>
          <p:nvPr>
            <p:ph type="title"/>
          </p:nvPr>
        </p:nvSpPr>
        <p:spPr/>
        <p:txBody>
          <a:bodyPr/>
          <a:lstStyle/>
          <a:p>
            <a:r>
              <a:rPr lang="en-US" altLang="zh-CN" b="1" dirty="0"/>
              <a:t>Harris</a:t>
            </a:r>
            <a:r>
              <a:rPr lang="zh-CN" altLang="en-US" b="1" dirty="0"/>
              <a:t>角点性质</a:t>
            </a:r>
            <a:endParaRPr lang="zh-CN" alt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13A7021-D181-4E4E-A049-89B928CB3506}"/>
                  </a:ext>
                </a:extLst>
              </p:cNvPr>
              <p:cNvSpPr>
                <a:spLocks noGrp="1"/>
              </p:cNvSpPr>
              <p:nvPr>
                <p:ph idx="1"/>
              </p:nvPr>
            </p:nvSpPr>
            <p:spPr/>
            <p:txBody>
              <a:bodyPr/>
              <a:lstStyle/>
              <a:p>
                <a:pPr>
                  <a:lnSpc>
                    <a:spcPct val="120000"/>
                  </a:lnSpc>
                </a:pPr>
                <a:r>
                  <a:rPr lang="zh-CN" altLang="en-US" b="1" dirty="0">
                    <a:solidFill>
                      <a:srgbClr val="00B0F0"/>
                    </a:solidFill>
                  </a:rPr>
                  <a:t>亮度变换不变性？</a:t>
                </a:r>
                <a:r>
                  <a:rPr lang="en-US" altLang="zh-CN" b="1" dirty="0">
                    <a:solidFill>
                      <a:srgbClr val="00B0F0"/>
                    </a:solidFill>
                  </a:rPr>
                  <a:t>(Invariance to image intensity change?)</a:t>
                </a:r>
              </a:p>
              <a:p>
                <a:pPr marL="0" indent="0">
                  <a:lnSpc>
                    <a:spcPct val="120000"/>
                  </a:lnSpc>
                  <a:buNone/>
                </a:pPr>
                <a14:m>
                  <m:oMathPara xmlns:m="http://schemas.openxmlformats.org/officeDocument/2006/math">
                    <m:oMathParaPr>
                      <m:jc m:val="center"/>
                    </m:oMathParaPr>
                    <m:oMath xmlns:m="http://schemas.openxmlformats.org/officeDocument/2006/math">
                      <m:r>
                        <a:rPr lang="en-US" altLang="zh-CN" b="0" i="1" smtClean="0">
                          <a:latin typeface="Cambria Math" panose="02040503050406030204" pitchFamily="18" charset="0"/>
                        </a:rPr>
                        <m:t>𝐼</m:t>
                      </m:r>
                      <m:r>
                        <a:rPr lang="en-US" altLang="zh-CN" b="0" i="1" smtClean="0">
                          <a:latin typeface="Cambria Math" panose="02040503050406030204" pitchFamily="18" charset="0"/>
                        </a:rPr>
                        <m:t>=</m:t>
                      </m:r>
                      <m:r>
                        <a:rPr lang="en-US" altLang="zh-CN" b="0" i="1" smtClean="0">
                          <a:latin typeface="Cambria Math" panose="02040503050406030204" pitchFamily="18" charset="0"/>
                        </a:rPr>
                        <m:t>𝑎𝐼</m:t>
                      </m:r>
                      <m:r>
                        <a:rPr lang="en-US" altLang="zh-CN" b="0" i="1" smtClean="0">
                          <a:latin typeface="Cambria Math" panose="02040503050406030204" pitchFamily="18" charset="0"/>
                        </a:rPr>
                        <m:t>+</m:t>
                      </m:r>
                      <m:r>
                        <a:rPr lang="en-US" altLang="zh-CN" b="0" i="1" smtClean="0">
                          <a:latin typeface="Cambria Math" panose="02040503050406030204" pitchFamily="18" charset="0"/>
                        </a:rPr>
                        <m:t>𝑏</m:t>
                      </m:r>
                    </m:oMath>
                  </m:oMathPara>
                </a14:m>
                <a:endParaRPr lang="en-US" altLang="zh-CN" dirty="0"/>
              </a:p>
              <a:p>
                <a:pPr marL="914400" lvl="1" indent="-457200">
                  <a:lnSpc>
                    <a:spcPct val="120000"/>
                  </a:lnSpc>
                  <a:buFont typeface="+mj-lt"/>
                  <a:buAutoNum type="alphaLcParenR"/>
                </a:pPr>
                <a:r>
                  <a:rPr lang="en-US" altLang="zh-CN" b="0" dirty="0"/>
                  <a:t> </a:t>
                </a:r>
                <a14:m>
                  <m:oMath xmlns:m="http://schemas.openxmlformats.org/officeDocument/2006/math">
                    <m:r>
                      <a:rPr lang="en-US" altLang="zh-CN" b="0" i="1" smtClean="0">
                        <a:latin typeface="Cambria Math" panose="02040503050406030204" pitchFamily="18" charset="0"/>
                      </a:rPr>
                      <m:t>𝐼</m:t>
                    </m:r>
                    <m:r>
                      <a:rPr lang="en-US" altLang="zh-CN" b="0" i="1" smtClean="0">
                        <a:latin typeface="Cambria Math" panose="02040503050406030204" pitchFamily="18" charset="0"/>
                      </a:rPr>
                      <m:t>=</m:t>
                    </m:r>
                    <m:r>
                      <a:rPr lang="en-US" altLang="zh-CN" b="0" i="1" smtClean="0">
                        <a:latin typeface="Cambria Math" panose="02040503050406030204" pitchFamily="18" charset="0"/>
                      </a:rPr>
                      <m:t>𝐼</m:t>
                    </m:r>
                    <m:r>
                      <a:rPr lang="en-US" altLang="zh-CN" b="0" i="1" smtClean="0">
                        <a:latin typeface="Cambria Math" panose="02040503050406030204" pitchFamily="18" charset="0"/>
                      </a:rPr>
                      <m:t>+</m:t>
                    </m:r>
                    <m:r>
                      <a:rPr lang="en-US" altLang="zh-CN" b="0" i="1" smtClean="0">
                        <a:latin typeface="Cambria Math" panose="02040503050406030204" pitchFamily="18" charset="0"/>
                      </a:rPr>
                      <m:t>𝑏</m:t>
                    </m:r>
                  </m:oMath>
                </a14:m>
                <a:r>
                  <a:rPr lang="zh-CN" altLang="en-US" dirty="0"/>
                  <a:t> 不影响梯度的计算</a:t>
                </a:r>
                <a:endParaRPr lang="en-US" altLang="zh-CN" dirty="0"/>
              </a:p>
              <a:p>
                <a:pPr marL="914400" lvl="1" indent="-457200">
                  <a:lnSpc>
                    <a:spcPct val="120000"/>
                  </a:lnSpc>
                  <a:buFont typeface="+mj-lt"/>
                  <a:buAutoNum type="alphaLcParenR"/>
                </a:pPr>
                <a:r>
                  <a:rPr lang="en-US" altLang="zh-CN" dirty="0"/>
                  <a:t> </a:t>
                </a:r>
                <a14:m>
                  <m:oMath xmlns:m="http://schemas.openxmlformats.org/officeDocument/2006/math">
                    <m:r>
                      <a:rPr lang="en-US" altLang="zh-CN" i="1">
                        <a:latin typeface="Cambria Math" panose="02040503050406030204" pitchFamily="18" charset="0"/>
                      </a:rPr>
                      <m:t>𝐼</m:t>
                    </m:r>
                    <m:r>
                      <a:rPr lang="en-US" altLang="zh-CN" i="1">
                        <a:latin typeface="Cambria Math" panose="02040503050406030204" pitchFamily="18" charset="0"/>
                      </a:rPr>
                      <m:t>=</m:t>
                    </m:r>
                    <m:r>
                      <a:rPr lang="en-US" altLang="zh-CN" i="1">
                        <a:latin typeface="Cambria Math" panose="02040503050406030204" pitchFamily="18" charset="0"/>
                      </a:rPr>
                      <m:t>𝑎𝐼</m:t>
                    </m:r>
                  </m:oMath>
                </a14:m>
                <a:r>
                  <a:rPr lang="zh-CN" altLang="en-US" dirty="0"/>
                  <a:t>，与</a:t>
                </a:r>
                <a:r>
                  <a:rPr lang="en-US" altLang="zh-CN" dirty="0"/>
                  <a:t>R</a:t>
                </a:r>
                <a:r>
                  <a:rPr lang="zh-CN" altLang="en-US" dirty="0"/>
                  <a:t>设定的阈值关联</a:t>
                </a:r>
              </a:p>
            </p:txBody>
          </p:sp>
        </mc:Choice>
        <mc:Fallback xmlns="">
          <p:sp>
            <p:nvSpPr>
              <p:cNvPr id="3" name="Content Placeholder 2">
                <a:extLst>
                  <a:ext uri="{FF2B5EF4-FFF2-40B4-BE49-F238E27FC236}">
                    <a16:creationId xmlns:a16="http://schemas.microsoft.com/office/drawing/2014/main" id="{613A7021-D181-4E4E-A049-89B928CB3506}"/>
                  </a:ext>
                </a:extLst>
              </p:cNvPr>
              <p:cNvSpPr>
                <a:spLocks noGrp="1" noRot="1" noChangeAspect="1" noMove="1" noResize="1" noEditPoints="1" noAdjustHandles="1" noChangeArrowheads="1" noChangeShapeType="1" noTextEdit="1"/>
              </p:cNvSpPr>
              <p:nvPr>
                <p:ph idx="1"/>
              </p:nvPr>
            </p:nvSpPr>
            <p:spPr>
              <a:blipFill>
                <a:blip r:embed="rId2"/>
                <a:stretch>
                  <a:fillRect l="-1043" t="-980"/>
                </a:stretch>
              </a:blipFill>
            </p:spPr>
            <p:txBody>
              <a:bodyPr/>
              <a:lstStyle/>
              <a:p>
                <a:r>
                  <a:rPr lang="zh-CN" altLang="en-US">
                    <a:noFill/>
                  </a:rPr>
                  <a:t> </a:t>
                </a:r>
              </a:p>
            </p:txBody>
          </p:sp>
        </mc:Fallback>
      </mc:AlternateContent>
      <p:pic>
        <p:nvPicPr>
          <p:cNvPr id="4" name="Picture 3">
            <a:extLst>
              <a:ext uri="{FF2B5EF4-FFF2-40B4-BE49-F238E27FC236}">
                <a16:creationId xmlns:a16="http://schemas.microsoft.com/office/drawing/2014/main" id="{1E4F2F2F-E6C8-43AF-AC0F-2360E2B11E59}"/>
              </a:ext>
            </a:extLst>
          </p:cNvPr>
          <p:cNvPicPr>
            <a:picLocks noChangeAspect="1"/>
          </p:cNvPicPr>
          <p:nvPr/>
        </p:nvPicPr>
        <p:blipFill rotWithShape="1">
          <a:blip r:embed="rId3"/>
          <a:srcRect t="449"/>
          <a:stretch/>
        </p:blipFill>
        <p:spPr>
          <a:xfrm>
            <a:off x="2036233" y="4080933"/>
            <a:ext cx="8119533" cy="2479747"/>
          </a:xfrm>
          <a:prstGeom prst="rect">
            <a:avLst/>
          </a:prstGeom>
        </p:spPr>
      </p:pic>
    </p:spTree>
    <p:extLst>
      <p:ext uri="{BB962C8B-B14F-4D97-AF65-F5344CB8AC3E}">
        <p14:creationId xmlns:p14="http://schemas.microsoft.com/office/powerpoint/2010/main" val="303122713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DB4BA-9842-4217-8E86-E16D0304FA02}"/>
              </a:ext>
            </a:extLst>
          </p:cNvPr>
          <p:cNvSpPr>
            <a:spLocks noGrp="1"/>
          </p:cNvSpPr>
          <p:nvPr>
            <p:ph type="title"/>
          </p:nvPr>
        </p:nvSpPr>
        <p:spPr/>
        <p:txBody>
          <a:bodyPr/>
          <a:lstStyle/>
          <a:p>
            <a:r>
              <a:rPr lang="en-US" altLang="zh-CN" b="1" dirty="0"/>
              <a:t>Harris</a:t>
            </a:r>
            <a:r>
              <a:rPr lang="zh-CN" altLang="en-US" b="1" dirty="0"/>
              <a:t>角点性质</a:t>
            </a:r>
            <a:endParaRPr lang="zh-CN" altLang="en-US" dirty="0"/>
          </a:p>
        </p:txBody>
      </p:sp>
      <p:sp>
        <p:nvSpPr>
          <p:cNvPr id="3" name="Content Placeholder 2">
            <a:extLst>
              <a:ext uri="{FF2B5EF4-FFF2-40B4-BE49-F238E27FC236}">
                <a16:creationId xmlns:a16="http://schemas.microsoft.com/office/drawing/2014/main" id="{84188DB9-E8C7-4DE2-BCF1-3CDCA868606F}"/>
              </a:ext>
            </a:extLst>
          </p:cNvPr>
          <p:cNvSpPr>
            <a:spLocks noGrp="1"/>
          </p:cNvSpPr>
          <p:nvPr>
            <p:ph idx="1"/>
          </p:nvPr>
        </p:nvSpPr>
        <p:spPr/>
        <p:txBody>
          <a:bodyPr/>
          <a:lstStyle/>
          <a:p>
            <a:r>
              <a:rPr lang="zh-CN" altLang="en-US" b="1" dirty="0">
                <a:solidFill>
                  <a:srgbClr val="00B0F0"/>
                </a:solidFill>
              </a:rPr>
              <a:t>尺度不变性？</a:t>
            </a:r>
            <a:r>
              <a:rPr lang="en-US" altLang="zh-CN" b="1" dirty="0">
                <a:solidFill>
                  <a:srgbClr val="00B0F0"/>
                </a:solidFill>
              </a:rPr>
              <a:t>(Invariant to image scale)</a:t>
            </a:r>
            <a:endParaRPr lang="zh-CN" altLang="en-US" b="1" dirty="0">
              <a:solidFill>
                <a:srgbClr val="00B0F0"/>
              </a:solidFill>
            </a:endParaRPr>
          </a:p>
        </p:txBody>
      </p:sp>
      <p:pic>
        <p:nvPicPr>
          <p:cNvPr id="4" name="Picture 3">
            <a:extLst>
              <a:ext uri="{FF2B5EF4-FFF2-40B4-BE49-F238E27FC236}">
                <a16:creationId xmlns:a16="http://schemas.microsoft.com/office/drawing/2014/main" id="{EBD4C2B6-D49B-47D6-8E71-22FFA03F1EEE}"/>
              </a:ext>
            </a:extLst>
          </p:cNvPr>
          <p:cNvPicPr>
            <a:picLocks noChangeAspect="1"/>
          </p:cNvPicPr>
          <p:nvPr/>
        </p:nvPicPr>
        <p:blipFill>
          <a:blip r:embed="rId2"/>
          <a:stretch>
            <a:fillRect/>
          </a:stretch>
        </p:blipFill>
        <p:spPr>
          <a:xfrm>
            <a:off x="1803400" y="2613848"/>
            <a:ext cx="8585200" cy="3879027"/>
          </a:xfrm>
          <a:prstGeom prst="rect">
            <a:avLst/>
          </a:prstGeom>
        </p:spPr>
      </p:pic>
    </p:spTree>
    <p:extLst>
      <p:ext uri="{BB962C8B-B14F-4D97-AF65-F5344CB8AC3E}">
        <p14:creationId xmlns:p14="http://schemas.microsoft.com/office/powerpoint/2010/main" val="238003544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F0BF1-8E8C-4669-9BBC-D30B2351E8D4}"/>
              </a:ext>
            </a:extLst>
          </p:cNvPr>
          <p:cNvSpPr>
            <a:spLocks noGrp="1"/>
          </p:cNvSpPr>
          <p:nvPr>
            <p:ph type="title"/>
          </p:nvPr>
        </p:nvSpPr>
        <p:spPr/>
        <p:txBody>
          <a:bodyPr/>
          <a:lstStyle/>
          <a:p>
            <a:r>
              <a:rPr lang="en-US" altLang="zh-CN" b="1" dirty="0"/>
              <a:t>Harris</a:t>
            </a:r>
            <a:r>
              <a:rPr lang="zh-CN" altLang="en-US" b="1" dirty="0"/>
              <a:t>角点性质</a:t>
            </a:r>
            <a:endParaRPr lang="zh-CN" altLang="en-US" dirty="0"/>
          </a:p>
        </p:txBody>
      </p:sp>
      <p:sp>
        <p:nvSpPr>
          <p:cNvPr id="3" name="Content Placeholder 2">
            <a:extLst>
              <a:ext uri="{FF2B5EF4-FFF2-40B4-BE49-F238E27FC236}">
                <a16:creationId xmlns:a16="http://schemas.microsoft.com/office/drawing/2014/main" id="{95CFCB9B-40E4-4CA8-811B-EEA323B3C432}"/>
              </a:ext>
            </a:extLst>
          </p:cNvPr>
          <p:cNvSpPr>
            <a:spLocks noGrp="1"/>
          </p:cNvSpPr>
          <p:nvPr>
            <p:ph idx="1"/>
          </p:nvPr>
        </p:nvSpPr>
        <p:spPr/>
        <p:txBody>
          <a:bodyPr/>
          <a:lstStyle/>
          <a:p>
            <a:r>
              <a:rPr lang="zh-CN" altLang="en-US" b="1" dirty="0">
                <a:solidFill>
                  <a:srgbClr val="00B0F0"/>
                </a:solidFill>
              </a:rPr>
              <a:t>尺度不变性？</a:t>
            </a:r>
            <a:r>
              <a:rPr lang="en-US" altLang="zh-CN" b="1" dirty="0">
                <a:solidFill>
                  <a:srgbClr val="00B0F0"/>
                </a:solidFill>
              </a:rPr>
              <a:t>(Invariant to image scale)</a:t>
            </a:r>
            <a:endParaRPr lang="zh-CN" altLang="en-US" b="1" dirty="0">
              <a:solidFill>
                <a:srgbClr val="00B0F0"/>
              </a:solidFill>
            </a:endParaRPr>
          </a:p>
          <a:p>
            <a:endParaRPr lang="zh-CN" altLang="en-US" dirty="0"/>
          </a:p>
        </p:txBody>
      </p:sp>
      <p:pic>
        <p:nvPicPr>
          <p:cNvPr id="4" name="Picture 3">
            <a:extLst>
              <a:ext uri="{FF2B5EF4-FFF2-40B4-BE49-F238E27FC236}">
                <a16:creationId xmlns:a16="http://schemas.microsoft.com/office/drawing/2014/main" id="{8793944B-E976-4B1E-B403-E519DA12D500}"/>
              </a:ext>
            </a:extLst>
          </p:cNvPr>
          <p:cNvPicPr>
            <a:picLocks noChangeAspect="1"/>
          </p:cNvPicPr>
          <p:nvPr/>
        </p:nvPicPr>
        <p:blipFill>
          <a:blip r:embed="rId2"/>
          <a:stretch>
            <a:fillRect/>
          </a:stretch>
        </p:blipFill>
        <p:spPr>
          <a:xfrm>
            <a:off x="2071423" y="2505038"/>
            <a:ext cx="8049153" cy="3987837"/>
          </a:xfrm>
          <a:prstGeom prst="rect">
            <a:avLst/>
          </a:prstGeom>
        </p:spPr>
      </p:pic>
    </p:spTree>
    <p:extLst>
      <p:ext uri="{BB962C8B-B14F-4D97-AF65-F5344CB8AC3E}">
        <p14:creationId xmlns:p14="http://schemas.microsoft.com/office/powerpoint/2010/main" val="278119545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54F86-6202-4088-A3D2-C4E18121DA5A}"/>
              </a:ext>
            </a:extLst>
          </p:cNvPr>
          <p:cNvSpPr>
            <a:spLocks noGrp="1"/>
          </p:cNvSpPr>
          <p:nvPr>
            <p:ph type="title"/>
          </p:nvPr>
        </p:nvSpPr>
        <p:spPr/>
        <p:txBody>
          <a:bodyPr/>
          <a:lstStyle/>
          <a:p>
            <a:r>
              <a:rPr lang="en-US" altLang="zh-CN" b="1" dirty="0"/>
              <a:t>Harris</a:t>
            </a:r>
            <a:r>
              <a:rPr lang="zh-CN" altLang="en-US" b="1" dirty="0"/>
              <a:t>角点性质</a:t>
            </a:r>
            <a:endParaRPr lang="zh-CN" altLang="en-US" dirty="0"/>
          </a:p>
        </p:txBody>
      </p:sp>
      <p:sp>
        <p:nvSpPr>
          <p:cNvPr id="3" name="Content Placeholder 2">
            <a:extLst>
              <a:ext uri="{FF2B5EF4-FFF2-40B4-BE49-F238E27FC236}">
                <a16:creationId xmlns:a16="http://schemas.microsoft.com/office/drawing/2014/main" id="{07C926D9-7B26-4E02-9F64-6A3762776033}"/>
              </a:ext>
            </a:extLst>
          </p:cNvPr>
          <p:cNvSpPr>
            <a:spLocks noGrp="1"/>
          </p:cNvSpPr>
          <p:nvPr>
            <p:ph idx="1"/>
          </p:nvPr>
        </p:nvSpPr>
        <p:spPr/>
        <p:txBody>
          <a:bodyPr/>
          <a:lstStyle/>
          <a:p>
            <a:r>
              <a:rPr lang="zh-CN" altLang="en-US" b="1" dirty="0">
                <a:solidFill>
                  <a:srgbClr val="00B0F0"/>
                </a:solidFill>
              </a:rPr>
              <a:t>尺度不变性？</a:t>
            </a:r>
            <a:r>
              <a:rPr lang="en-US" altLang="zh-CN" b="1" dirty="0">
                <a:solidFill>
                  <a:srgbClr val="00B0F0"/>
                </a:solidFill>
              </a:rPr>
              <a:t>(Invariant to image scale)</a:t>
            </a:r>
          </a:p>
          <a:p>
            <a:endParaRPr lang="zh-CN" altLang="en-US" dirty="0"/>
          </a:p>
        </p:txBody>
      </p:sp>
      <p:pic>
        <p:nvPicPr>
          <p:cNvPr id="4" name="Picture 3">
            <a:extLst>
              <a:ext uri="{FF2B5EF4-FFF2-40B4-BE49-F238E27FC236}">
                <a16:creationId xmlns:a16="http://schemas.microsoft.com/office/drawing/2014/main" id="{A36DB81D-DF4E-4C5E-A9B7-9E3206EF6A88}"/>
              </a:ext>
            </a:extLst>
          </p:cNvPr>
          <p:cNvPicPr>
            <a:picLocks noChangeAspect="1"/>
          </p:cNvPicPr>
          <p:nvPr/>
        </p:nvPicPr>
        <p:blipFill>
          <a:blip r:embed="rId2"/>
          <a:stretch>
            <a:fillRect/>
          </a:stretch>
        </p:blipFill>
        <p:spPr>
          <a:xfrm>
            <a:off x="2381948" y="2409935"/>
            <a:ext cx="7428103" cy="4448065"/>
          </a:xfrm>
          <a:prstGeom prst="rect">
            <a:avLst/>
          </a:prstGeom>
        </p:spPr>
      </p:pic>
    </p:spTree>
    <p:extLst>
      <p:ext uri="{BB962C8B-B14F-4D97-AF65-F5344CB8AC3E}">
        <p14:creationId xmlns:p14="http://schemas.microsoft.com/office/powerpoint/2010/main" val="360827561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2E83A-2F68-4ADD-95F4-8E2055988AF8}"/>
              </a:ext>
            </a:extLst>
          </p:cNvPr>
          <p:cNvSpPr>
            <a:spLocks noGrp="1"/>
          </p:cNvSpPr>
          <p:nvPr>
            <p:ph type="title"/>
          </p:nvPr>
        </p:nvSpPr>
        <p:spPr/>
        <p:txBody>
          <a:bodyPr/>
          <a:lstStyle/>
          <a:p>
            <a:r>
              <a:rPr lang="zh-CN" altLang="en-US" b="1" dirty="0"/>
              <a:t>尺度不变检测（</a:t>
            </a:r>
            <a:r>
              <a:rPr lang="en-US" altLang="zh-CN" b="1" dirty="0"/>
              <a:t>Scale Invariant Detection</a:t>
            </a:r>
            <a:r>
              <a:rPr lang="zh-CN" altLang="en-US" b="1" dirty="0"/>
              <a:t>）</a:t>
            </a:r>
            <a:endParaRPr lang="zh-CN" altLang="en-US" dirty="0"/>
          </a:p>
        </p:txBody>
      </p:sp>
      <p:sp>
        <p:nvSpPr>
          <p:cNvPr id="3" name="Content Placeholder 2">
            <a:extLst>
              <a:ext uri="{FF2B5EF4-FFF2-40B4-BE49-F238E27FC236}">
                <a16:creationId xmlns:a16="http://schemas.microsoft.com/office/drawing/2014/main" id="{1F034C70-BABD-408D-86D4-32B7AB6D3E9F}"/>
              </a:ext>
            </a:extLst>
          </p:cNvPr>
          <p:cNvSpPr>
            <a:spLocks noGrp="1"/>
          </p:cNvSpPr>
          <p:nvPr>
            <p:ph idx="1"/>
          </p:nvPr>
        </p:nvSpPr>
        <p:spPr/>
        <p:txBody>
          <a:bodyPr/>
          <a:lstStyle/>
          <a:p>
            <a:endParaRPr lang="zh-CN" altLang="en-US"/>
          </a:p>
        </p:txBody>
      </p:sp>
      <p:pic>
        <p:nvPicPr>
          <p:cNvPr id="4" name="Picture 3">
            <a:extLst>
              <a:ext uri="{FF2B5EF4-FFF2-40B4-BE49-F238E27FC236}">
                <a16:creationId xmlns:a16="http://schemas.microsoft.com/office/drawing/2014/main" id="{6DD0EF07-8CE7-4AAB-AD3E-5697725D5701}"/>
              </a:ext>
            </a:extLst>
          </p:cNvPr>
          <p:cNvPicPr>
            <a:picLocks noChangeAspect="1"/>
          </p:cNvPicPr>
          <p:nvPr/>
        </p:nvPicPr>
        <p:blipFill>
          <a:blip r:embed="rId2"/>
          <a:stretch>
            <a:fillRect/>
          </a:stretch>
        </p:blipFill>
        <p:spPr>
          <a:xfrm>
            <a:off x="2501550" y="1690688"/>
            <a:ext cx="7188899" cy="5037574"/>
          </a:xfrm>
          <a:prstGeom prst="rect">
            <a:avLst/>
          </a:prstGeom>
        </p:spPr>
      </p:pic>
    </p:spTree>
    <p:extLst>
      <p:ext uri="{BB962C8B-B14F-4D97-AF65-F5344CB8AC3E}">
        <p14:creationId xmlns:p14="http://schemas.microsoft.com/office/powerpoint/2010/main" val="358649363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E61C1-C145-44F5-9014-2B8CC8BB7A62}"/>
              </a:ext>
            </a:extLst>
          </p:cNvPr>
          <p:cNvSpPr>
            <a:spLocks noGrp="1"/>
          </p:cNvSpPr>
          <p:nvPr>
            <p:ph type="title"/>
          </p:nvPr>
        </p:nvSpPr>
        <p:spPr/>
        <p:txBody>
          <a:bodyPr/>
          <a:lstStyle/>
          <a:p>
            <a:r>
              <a:rPr lang="zh-CN" altLang="en-US" b="1" dirty="0"/>
              <a:t>尺度不变检测（</a:t>
            </a:r>
            <a:r>
              <a:rPr lang="en-US" altLang="zh-CN" b="1" dirty="0"/>
              <a:t>Scale Invariant Detection</a:t>
            </a:r>
            <a:r>
              <a:rPr lang="zh-CN" altLang="en-US" b="1" dirty="0"/>
              <a:t>）</a:t>
            </a:r>
            <a:endParaRPr lang="zh-CN" altLang="en-US" dirty="0"/>
          </a:p>
        </p:txBody>
      </p:sp>
      <p:sp>
        <p:nvSpPr>
          <p:cNvPr id="3" name="Content Placeholder 2">
            <a:extLst>
              <a:ext uri="{FF2B5EF4-FFF2-40B4-BE49-F238E27FC236}">
                <a16:creationId xmlns:a16="http://schemas.microsoft.com/office/drawing/2014/main" id="{DB20A6C1-0D9E-487E-B072-F89E823DF747}"/>
              </a:ext>
            </a:extLst>
          </p:cNvPr>
          <p:cNvSpPr>
            <a:spLocks noGrp="1"/>
          </p:cNvSpPr>
          <p:nvPr>
            <p:ph idx="1"/>
          </p:nvPr>
        </p:nvSpPr>
        <p:spPr/>
        <p:txBody>
          <a:bodyPr/>
          <a:lstStyle/>
          <a:p>
            <a:r>
              <a:rPr lang="zh-CN" altLang="en-US" b="1" dirty="0"/>
              <a:t>多尺度搜索</a:t>
            </a:r>
          </a:p>
        </p:txBody>
      </p:sp>
      <p:pic>
        <p:nvPicPr>
          <p:cNvPr id="5" name="Picture 4">
            <a:extLst>
              <a:ext uri="{FF2B5EF4-FFF2-40B4-BE49-F238E27FC236}">
                <a16:creationId xmlns:a16="http://schemas.microsoft.com/office/drawing/2014/main" id="{1AF7D043-914F-47FE-92A2-AEAE3A3FAE28}"/>
              </a:ext>
            </a:extLst>
          </p:cNvPr>
          <p:cNvPicPr>
            <a:picLocks noChangeAspect="1"/>
          </p:cNvPicPr>
          <p:nvPr/>
        </p:nvPicPr>
        <p:blipFill>
          <a:blip r:embed="rId2"/>
          <a:stretch>
            <a:fillRect/>
          </a:stretch>
        </p:blipFill>
        <p:spPr>
          <a:xfrm>
            <a:off x="838200" y="2487906"/>
            <a:ext cx="5289988" cy="3823994"/>
          </a:xfrm>
          <a:prstGeom prst="rect">
            <a:avLst/>
          </a:prstGeom>
        </p:spPr>
      </p:pic>
      <p:pic>
        <p:nvPicPr>
          <p:cNvPr id="6" name="Picture 5">
            <a:extLst>
              <a:ext uri="{FF2B5EF4-FFF2-40B4-BE49-F238E27FC236}">
                <a16:creationId xmlns:a16="http://schemas.microsoft.com/office/drawing/2014/main" id="{9434C0D7-16FA-4F82-8880-8D8D35FEA30E}"/>
              </a:ext>
            </a:extLst>
          </p:cNvPr>
          <p:cNvPicPr>
            <a:picLocks noChangeAspect="1"/>
          </p:cNvPicPr>
          <p:nvPr/>
        </p:nvPicPr>
        <p:blipFill>
          <a:blip r:embed="rId3"/>
          <a:stretch>
            <a:fillRect/>
          </a:stretch>
        </p:blipFill>
        <p:spPr>
          <a:xfrm>
            <a:off x="6128188" y="2605408"/>
            <a:ext cx="5957034" cy="3571555"/>
          </a:xfrm>
          <a:prstGeom prst="rect">
            <a:avLst/>
          </a:prstGeom>
        </p:spPr>
      </p:pic>
    </p:spTree>
    <p:extLst>
      <p:ext uri="{BB962C8B-B14F-4D97-AF65-F5344CB8AC3E}">
        <p14:creationId xmlns:p14="http://schemas.microsoft.com/office/powerpoint/2010/main" val="252479660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AC1F1-CCDD-4D35-B642-D336C11D47F1}"/>
              </a:ext>
            </a:extLst>
          </p:cNvPr>
          <p:cNvSpPr>
            <a:spLocks noGrp="1"/>
          </p:cNvSpPr>
          <p:nvPr>
            <p:ph type="title"/>
          </p:nvPr>
        </p:nvSpPr>
        <p:spPr/>
        <p:txBody>
          <a:bodyPr/>
          <a:lstStyle/>
          <a:p>
            <a:r>
              <a:rPr lang="zh-CN" altLang="en-US" b="1" dirty="0"/>
              <a:t>尺度不变检测（</a:t>
            </a:r>
            <a:r>
              <a:rPr lang="en-US" altLang="zh-CN" b="1" dirty="0"/>
              <a:t>Scale Invariant Detection</a:t>
            </a:r>
            <a:r>
              <a:rPr lang="zh-CN" altLang="en-US" b="1" dirty="0"/>
              <a:t>）</a:t>
            </a:r>
          </a:p>
        </p:txBody>
      </p:sp>
      <p:sp>
        <p:nvSpPr>
          <p:cNvPr id="3" name="Content Placeholder 2">
            <a:extLst>
              <a:ext uri="{FF2B5EF4-FFF2-40B4-BE49-F238E27FC236}">
                <a16:creationId xmlns:a16="http://schemas.microsoft.com/office/drawing/2014/main" id="{74FC4CEC-C7F0-4AE7-9773-FC585002094C}"/>
              </a:ext>
            </a:extLst>
          </p:cNvPr>
          <p:cNvSpPr>
            <a:spLocks noGrp="1"/>
          </p:cNvSpPr>
          <p:nvPr>
            <p:ph idx="1"/>
          </p:nvPr>
        </p:nvSpPr>
        <p:spPr/>
        <p:txBody>
          <a:bodyPr/>
          <a:lstStyle/>
          <a:p>
            <a:r>
              <a:rPr lang="zh-CN" altLang="en-US" b="1" dirty="0"/>
              <a:t>考虑一个点周围不同的区域大小</a:t>
            </a:r>
          </a:p>
        </p:txBody>
      </p:sp>
      <p:pic>
        <p:nvPicPr>
          <p:cNvPr id="4" name="Picture 3">
            <a:extLst>
              <a:ext uri="{FF2B5EF4-FFF2-40B4-BE49-F238E27FC236}">
                <a16:creationId xmlns:a16="http://schemas.microsoft.com/office/drawing/2014/main" id="{BDD91219-B850-44DA-AF22-8E4202161809}"/>
              </a:ext>
            </a:extLst>
          </p:cNvPr>
          <p:cNvPicPr>
            <a:picLocks noChangeAspect="1"/>
          </p:cNvPicPr>
          <p:nvPr/>
        </p:nvPicPr>
        <p:blipFill>
          <a:blip r:embed="rId2"/>
          <a:stretch>
            <a:fillRect/>
          </a:stretch>
        </p:blipFill>
        <p:spPr>
          <a:xfrm>
            <a:off x="1172651" y="2739717"/>
            <a:ext cx="5649348" cy="2873375"/>
          </a:xfrm>
          <a:prstGeom prst="rect">
            <a:avLst/>
          </a:prstGeom>
        </p:spPr>
      </p:pic>
      <p:pic>
        <p:nvPicPr>
          <p:cNvPr id="5" name="Picture 4">
            <a:extLst>
              <a:ext uri="{FF2B5EF4-FFF2-40B4-BE49-F238E27FC236}">
                <a16:creationId xmlns:a16="http://schemas.microsoft.com/office/drawing/2014/main" id="{EE037A4B-4600-4F74-9E35-276B72CFE1FD}"/>
              </a:ext>
            </a:extLst>
          </p:cNvPr>
          <p:cNvPicPr>
            <a:picLocks noChangeAspect="1"/>
          </p:cNvPicPr>
          <p:nvPr/>
        </p:nvPicPr>
        <p:blipFill>
          <a:blip r:embed="rId3"/>
          <a:stretch>
            <a:fillRect/>
          </a:stretch>
        </p:blipFill>
        <p:spPr>
          <a:xfrm>
            <a:off x="6821999" y="2603500"/>
            <a:ext cx="4992844" cy="2873375"/>
          </a:xfrm>
          <a:prstGeom prst="rect">
            <a:avLst/>
          </a:prstGeom>
        </p:spPr>
      </p:pic>
    </p:spTree>
    <p:extLst>
      <p:ext uri="{BB962C8B-B14F-4D97-AF65-F5344CB8AC3E}">
        <p14:creationId xmlns:p14="http://schemas.microsoft.com/office/powerpoint/2010/main" val="280790486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34F70-AD04-44C1-8662-CEC0E400F345}"/>
              </a:ext>
            </a:extLst>
          </p:cNvPr>
          <p:cNvSpPr>
            <a:spLocks noGrp="1"/>
          </p:cNvSpPr>
          <p:nvPr>
            <p:ph type="title"/>
          </p:nvPr>
        </p:nvSpPr>
        <p:spPr/>
        <p:txBody>
          <a:bodyPr/>
          <a:lstStyle/>
          <a:p>
            <a:r>
              <a:rPr lang="zh-CN" altLang="en-US" b="1" dirty="0"/>
              <a:t>尺度不变检测（</a:t>
            </a:r>
            <a:r>
              <a:rPr lang="en-US" altLang="zh-CN" b="1" dirty="0"/>
              <a:t>Scale Invariant Detection</a:t>
            </a:r>
            <a:r>
              <a:rPr lang="zh-CN" altLang="en-US" b="1" dirty="0"/>
              <a:t>）</a:t>
            </a:r>
            <a:endParaRPr lang="zh-CN" altLang="en-US" dirty="0"/>
          </a:p>
        </p:txBody>
      </p:sp>
      <p:sp>
        <p:nvSpPr>
          <p:cNvPr id="3" name="Content Placeholder 2">
            <a:extLst>
              <a:ext uri="{FF2B5EF4-FFF2-40B4-BE49-F238E27FC236}">
                <a16:creationId xmlns:a16="http://schemas.microsoft.com/office/drawing/2014/main" id="{C583ADBD-B366-4195-8CD7-D8A246B72BF5}"/>
              </a:ext>
            </a:extLst>
          </p:cNvPr>
          <p:cNvSpPr>
            <a:spLocks noGrp="1"/>
          </p:cNvSpPr>
          <p:nvPr>
            <p:ph idx="1"/>
          </p:nvPr>
        </p:nvSpPr>
        <p:spPr/>
        <p:txBody>
          <a:bodyPr/>
          <a:lstStyle/>
          <a:p>
            <a:r>
              <a:rPr lang="zh-CN" altLang="en-US" b="1" dirty="0"/>
              <a:t>如何对每张图片中的点单独地选择合适的尺度？</a:t>
            </a:r>
          </a:p>
        </p:txBody>
      </p:sp>
      <p:pic>
        <p:nvPicPr>
          <p:cNvPr id="4" name="Picture 3">
            <a:extLst>
              <a:ext uri="{FF2B5EF4-FFF2-40B4-BE49-F238E27FC236}">
                <a16:creationId xmlns:a16="http://schemas.microsoft.com/office/drawing/2014/main" id="{3FB726C3-E1F6-4339-8BFB-D743A70332B7}"/>
              </a:ext>
            </a:extLst>
          </p:cNvPr>
          <p:cNvPicPr>
            <a:picLocks noChangeAspect="1"/>
          </p:cNvPicPr>
          <p:nvPr/>
        </p:nvPicPr>
        <p:blipFill>
          <a:blip r:embed="rId2"/>
          <a:stretch>
            <a:fillRect/>
          </a:stretch>
        </p:blipFill>
        <p:spPr>
          <a:xfrm>
            <a:off x="523875" y="2985793"/>
            <a:ext cx="5295900" cy="2973362"/>
          </a:xfrm>
          <a:prstGeom prst="rect">
            <a:avLst/>
          </a:prstGeom>
        </p:spPr>
      </p:pic>
      <p:sp>
        <p:nvSpPr>
          <p:cNvPr id="5" name="TextBox 4">
            <a:extLst>
              <a:ext uri="{FF2B5EF4-FFF2-40B4-BE49-F238E27FC236}">
                <a16:creationId xmlns:a16="http://schemas.microsoft.com/office/drawing/2014/main" id="{DAE92BE4-0F89-4D98-8164-FC7706936272}"/>
              </a:ext>
            </a:extLst>
          </p:cNvPr>
          <p:cNvSpPr txBox="1"/>
          <p:nvPr/>
        </p:nvSpPr>
        <p:spPr>
          <a:xfrm>
            <a:off x="1456451" y="6143626"/>
            <a:ext cx="3430747" cy="523220"/>
          </a:xfrm>
          <a:prstGeom prst="rect">
            <a:avLst/>
          </a:prstGeom>
          <a:noFill/>
        </p:spPr>
        <p:txBody>
          <a:bodyPr wrap="none" rtlCol="0">
            <a:spAutoFit/>
          </a:bodyPr>
          <a:lstStyle/>
          <a:p>
            <a:r>
              <a:rPr lang="zh-CN" altLang="en-US" sz="2800" b="1" dirty="0">
                <a:solidFill>
                  <a:srgbClr val="0070C0"/>
                </a:solidFill>
              </a:rPr>
              <a:t>构建一个合适的函数</a:t>
            </a:r>
          </a:p>
        </p:txBody>
      </p:sp>
      <p:pic>
        <p:nvPicPr>
          <p:cNvPr id="6" name="Picture 5">
            <a:extLst>
              <a:ext uri="{FF2B5EF4-FFF2-40B4-BE49-F238E27FC236}">
                <a16:creationId xmlns:a16="http://schemas.microsoft.com/office/drawing/2014/main" id="{BDBED3D1-DF16-440A-9AA9-D7A4B71B2ED4}"/>
              </a:ext>
            </a:extLst>
          </p:cNvPr>
          <p:cNvPicPr>
            <a:picLocks noChangeAspect="1"/>
          </p:cNvPicPr>
          <p:nvPr/>
        </p:nvPicPr>
        <p:blipFill>
          <a:blip r:embed="rId3"/>
          <a:stretch>
            <a:fillRect/>
          </a:stretch>
        </p:blipFill>
        <p:spPr>
          <a:xfrm>
            <a:off x="5910837" y="3079444"/>
            <a:ext cx="6204963" cy="3060686"/>
          </a:xfrm>
          <a:prstGeom prst="rect">
            <a:avLst/>
          </a:prstGeom>
        </p:spPr>
      </p:pic>
    </p:spTree>
    <p:extLst>
      <p:ext uri="{BB962C8B-B14F-4D97-AF65-F5344CB8AC3E}">
        <p14:creationId xmlns:p14="http://schemas.microsoft.com/office/powerpoint/2010/main" val="341036616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AC1F1-CCDD-4D35-B642-D336C11D47F1}"/>
              </a:ext>
            </a:extLst>
          </p:cNvPr>
          <p:cNvSpPr>
            <a:spLocks noGrp="1"/>
          </p:cNvSpPr>
          <p:nvPr>
            <p:ph type="title"/>
          </p:nvPr>
        </p:nvSpPr>
        <p:spPr/>
        <p:txBody>
          <a:bodyPr/>
          <a:lstStyle/>
          <a:p>
            <a:r>
              <a:rPr lang="zh-CN" altLang="en-US" b="1" dirty="0"/>
              <a:t>尺度不变检测（</a:t>
            </a:r>
            <a:r>
              <a:rPr lang="en-US" altLang="zh-CN" b="1" dirty="0"/>
              <a:t>Scale Invariant Detection</a:t>
            </a:r>
            <a:r>
              <a:rPr lang="zh-CN" altLang="en-US" b="1" dirty="0"/>
              <a:t>）</a:t>
            </a:r>
          </a:p>
        </p:txBody>
      </p:sp>
      <p:sp>
        <p:nvSpPr>
          <p:cNvPr id="3" name="Content Placeholder 2">
            <a:extLst>
              <a:ext uri="{FF2B5EF4-FFF2-40B4-BE49-F238E27FC236}">
                <a16:creationId xmlns:a16="http://schemas.microsoft.com/office/drawing/2014/main" id="{74FC4CEC-C7F0-4AE7-9773-FC585002094C}"/>
              </a:ext>
            </a:extLst>
          </p:cNvPr>
          <p:cNvSpPr>
            <a:spLocks noGrp="1"/>
          </p:cNvSpPr>
          <p:nvPr>
            <p:ph idx="1"/>
          </p:nvPr>
        </p:nvSpPr>
        <p:spPr/>
        <p:txBody>
          <a:bodyPr>
            <a:normAutofit/>
          </a:bodyPr>
          <a:lstStyle/>
          <a:p>
            <a:pPr>
              <a:lnSpc>
                <a:spcPct val="120000"/>
              </a:lnSpc>
            </a:pPr>
            <a:r>
              <a:rPr lang="zh-CN" altLang="en-US" sz="3200" b="1" dirty="0"/>
              <a:t>构建一个“好”的尺度检测函数？</a:t>
            </a:r>
            <a:endParaRPr lang="en-US" altLang="zh-CN" sz="3200" b="1" dirty="0"/>
          </a:p>
          <a:p>
            <a:pPr lvl="1">
              <a:lnSpc>
                <a:spcPct val="120000"/>
              </a:lnSpc>
            </a:pPr>
            <a:r>
              <a:rPr lang="zh-CN" altLang="en-US" sz="2800" b="1" dirty="0">
                <a:solidFill>
                  <a:srgbClr val="00B0F0"/>
                </a:solidFill>
              </a:rPr>
              <a:t>只有一个最优的值</a:t>
            </a:r>
          </a:p>
        </p:txBody>
      </p:sp>
      <p:pic>
        <p:nvPicPr>
          <p:cNvPr id="4" name="Picture 3">
            <a:extLst>
              <a:ext uri="{FF2B5EF4-FFF2-40B4-BE49-F238E27FC236}">
                <a16:creationId xmlns:a16="http://schemas.microsoft.com/office/drawing/2014/main" id="{C10B6ED9-492A-4FDD-B999-1AE6DD3274CE}"/>
              </a:ext>
            </a:extLst>
          </p:cNvPr>
          <p:cNvPicPr>
            <a:picLocks noChangeAspect="1"/>
          </p:cNvPicPr>
          <p:nvPr/>
        </p:nvPicPr>
        <p:blipFill>
          <a:blip r:embed="rId2"/>
          <a:stretch>
            <a:fillRect/>
          </a:stretch>
        </p:blipFill>
        <p:spPr>
          <a:xfrm>
            <a:off x="189342" y="3429000"/>
            <a:ext cx="11813315" cy="2332701"/>
          </a:xfrm>
          <a:prstGeom prst="rect">
            <a:avLst/>
          </a:prstGeom>
        </p:spPr>
      </p:pic>
    </p:spTree>
    <p:extLst>
      <p:ext uri="{BB962C8B-B14F-4D97-AF65-F5344CB8AC3E}">
        <p14:creationId xmlns:p14="http://schemas.microsoft.com/office/powerpoint/2010/main" val="387964959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AC1F1-CCDD-4D35-B642-D336C11D47F1}"/>
              </a:ext>
            </a:extLst>
          </p:cNvPr>
          <p:cNvSpPr>
            <a:spLocks noGrp="1"/>
          </p:cNvSpPr>
          <p:nvPr>
            <p:ph type="title"/>
          </p:nvPr>
        </p:nvSpPr>
        <p:spPr/>
        <p:txBody>
          <a:bodyPr/>
          <a:lstStyle/>
          <a:p>
            <a:r>
              <a:rPr lang="zh-CN" altLang="en-US" b="1" dirty="0"/>
              <a:t>尺度不变检测（</a:t>
            </a:r>
            <a:r>
              <a:rPr lang="en-US" altLang="zh-CN" b="1" dirty="0"/>
              <a:t>Scale Invariant Detection</a:t>
            </a:r>
            <a:r>
              <a:rPr lang="zh-CN" altLang="en-US" b="1" dirty="0"/>
              <a:t>）</a:t>
            </a:r>
          </a:p>
        </p:txBody>
      </p:sp>
      <p:sp>
        <p:nvSpPr>
          <p:cNvPr id="3" name="Content Placeholder 2">
            <a:extLst>
              <a:ext uri="{FF2B5EF4-FFF2-40B4-BE49-F238E27FC236}">
                <a16:creationId xmlns:a16="http://schemas.microsoft.com/office/drawing/2014/main" id="{74FC4CEC-C7F0-4AE7-9773-FC585002094C}"/>
              </a:ext>
            </a:extLst>
          </p:cNvPr>
          <p:cNvSpPr>
            <a:spLocks noGrp="1"/>
          </p:cNvSpPr>
          <p:nvPr>
            <p:ph idx="1"/>
          </p:nvPr>
        </p:nvSpPr>
        <p:spPr/>
        <p:txBody>
          <a:bodyPr>
            <a:normAutofit/>
          </a:bodyPr>
          <a:lstStyle/>
          <a:p>
            <a:pPr>
              <a:lnSpc>
                <a:spcPct val="120000"/>
              </a:lnSpc>
            </a:pPr>
            <a:r>
              <a:rPr lang="zh-CN" altLang="en-US" sz="3200" b="1" dirty="0"/>
              <a:t>确定尺度的函数：</a:t>
            </a:r>
            <a:endParaRPr lang="en-US" altLang="zh-CN" sz="3200" b="1" dirty="0"/>
          </a:p>
        </p:txBody>
      </p:sp>
      <p:pic>
        <p:nvPicPr>
          <p:cNvPr id="6" name="Picture 5">
            <a:extLst>
              <a:ext uri="{FF2B5EF4-FFF2-40B4-BE49-F238E27FC236}">
                <a16:creationId xmlns:a16="http://schemas.microsoft.com/office/drawing/2014/main" id="{654CF92C-EAD2-4013-AF53-98E8667E08E4}"/>
              </a:ext>
            </a:extLst>
          </p:cNvPr>
          <p:cNvPicPr>
            <a:picLocks noChangeAspect="1"/>
          </p:cNvPicPr>
          <p:nvPr/>
        </p:nvPicPr>
        <p:blipFill>
          <a:blip r:embed="rId2"/>
          <a:stretch>
            <a:fillRect/>
          </a:stretch>
        </p:blipFill>
        <p:spPr>
          <a:xfrm>
            <a:off x="7090349" y="2938251"/>
            <a:ext cx="4263451" cy="3373649"/>
          </a:xfrm>
          <a:prstGeom prst="rect">
            <a:avLst/>
          </a:prstGeom>
        </p:spPr>
      </p:pic>
      <p:pic>
        <p:nvPicPr>
          <p:cNvPr id="7" name="Picture 6">
            <a:extLst>
              <a:ext uri="{FF2B5EF4-FFF2-40B4-BE49-F238E27FC236}">
                <a16:creationId xmlns:a16="http://schemas.microsoft.com/office/drawing/2014/main" id="{4A55F79C-6A07-46E2-92D8-82884F642CDD}"/>
              </a:ext>
            </a:extLst>
          </p:cNvPr>
          <p:cNvPicPr>
            <a:picLocks noChangeAspect="1"/>
          </p:cNvPicPr>
          <p:nvPr/>
        </p:nvPicPr>
        <p:blipFill>
          <a:blip r:embed="rId3"/>
          <a:stretch>
            <a:fillRect/>
          </a:stretch>
        </p:blipFill>
        <p:spPr>
          <a:xfrm>
            <a:off x="4403725" y="1712176"/>
            <a:ext cx="4019550" cy="885825"/>
          </a:xfrm>
          <a:prstGeom prst="rect">
            <a:avLst/>
          </a:prstGeom>
        </p:spPr>
      </p:pic>
      <p:pic>
        <p:nvPicPr>
          <p:cNvPr id="8" name="Picture 7">
            <a:extLst>
              <a:ext uri="{FF2B5EF4-FFF2-40B4-BE49-F238E27FC236}">
                <a16:creationId xmlns:a16="http://schemas.microsoft.com/office/drawing/2014/main" id="{D1A7E0BD-06AB-449E-9697-D77061E8DFF4}"/>
              </a:ext>
            </a:extLst>
          </p:cNvPr>
          <p:cNvPicPr>
            <a:picLocks noChangeAspect="1"/>
          </p:cNvPicPr>
          <p:nvPr/>
        </p:nvPicPr>
        <p:blipFill>
          <a:blip r:embed="rId4"/>
          <a:stretch>
            <a:fillRect/>
          </a:stretch>
        </p:blipFill>
        <p:spPr>
          <a:xfrm>
            <a:off x="1473200" y="2580113"/>
            <a:ext cx="4910282" cy="2842362"/>
          </a:xfrm>
          <a:prstGeom prst="rect">
            <a:avLst/>
          </a:prstGeom>
        </p:spPr>
      </p:pic>
      <p:pic>
        <p:nvPicPr>
          <p:cNvPr id="9" name="Picture 8">
            <a:extLst>
              <a:ext uri="{FF2B5EF4-FFF2-40B4-BE49-F238E27FC236}">
                <a16:creationId xmlns:a16="http://schemas.microsoft.com/office/drawing/2014/main" id="{A0827C83-1AC1-4AD8-BF5E-B4DDA36BD59D}"/>
              </a:ext>
            </a:extLst>
          </p:cNvPr>
          <p:cNvPicPr>
            <a:picLocks noChangeAspect="1"/>
          </p:cNvPicPr>
          <p:nvPr/>
        </p:nvPicPr>
        <p:blipFill>
          <a:blip r:embed="rId5"/>
          <a:stretch>
            <a:fillRect/>
          </a:stretch>
        </p:blipFill>
        <p:spPr>
          <a:xfrm>
            <a:off x="1473200" y="5564636"/>
            <a:ext cx="2954057" cy="928239"/>
          </a:xfrm>
          <a:prstGeom prst="rect">
            <a:avLst/>
          </a:prstGeom>
        </p:spPr>
      </p:pic>
    </p:spTree>
    <p:extLst>
      <p:ext uri="{BB962C8B-B14F-4D97-AF65-F5344CB8AC3E}">
        <p14:creationId xmlns:p14="http://schemas.microsoft.com/office/powerpoint/2010/main" val="369851996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B1BF0-C5A6-43B0-A865-EEDBED92443E}"/>
              </a:ext>
            </a:extLst>
          </p:cNvPr>
          <p:cNvSpPr>
            <a:spLocks noGrp="1"/>
          </p:cNvSpPr>
          <p:nvPr>
            <p:ph type="title"/>
          </p:nvPr>
        </p:nvSpPr>
        <p:spPr/>
        <p:txBody>
          <a:bodyPr/>
          <a:lstStyle/>
          <a:p>
            <a:r>
              <a:rPr lang="zh-CN" altLang="en-US" b="1" dirty="0"/>
              <a:t>尺度不变检测（</a:t>
            </a:r>
            <a:r>
              <a:rPr lang="en-US" altLang="zh-CN" b="1" dirty="0"/>
              <a:t>Scale Invariant Detection</a:t>
            </a:r>
            <a:r>
              <a:rPr lang="zh-CN" altLang="en-US" b="1" dirty="0"/>
              <a:t>）</a:t>
            </a:r>
            <a:endParaRPr lang="zh-CN" altLang="en-US" dirty="0"/>
          </a:p>
        </p:txBody>
      </p:sp>
      <p:sp>
        <p:nvSpPr>
          <p:cNvPr id="3" name="Content Placeholder 2">
            <a:extLst>
              <a:ext uri="{FF2B5EF4-FFF2-40B4-BE49-F238E27FC236}">
                <a16:creationId xmlns:a16="http://schemas.microsoft.com/office/drawing/2014/main" id="{C1B6B827-9EF0-4333-BD32-55F1C3590D74}"/>
              </a:ext>
            </a:extLst>
          </p:cNvPr>
          <p:cNvSpPr>
            <a:spLocks noGrp="1"/>
          </p:cNvSpPr>
          <p:nvPr>
            <p:ph idx="1"/>
          </p:nvPr>
        </p:nvSpPr>
        <p:spPr/>
        <p:txBody>
          <a:bodyPr/>
          <a:lstStyle/>
          <a:p>
            <a:endParaRPr lang="zh-CN" altLang="en-US"/>
          </a:p>
        </p:txBody>
      </p:sp>
      <p:pic>
        <p:nvPicPr>
          <p:cNvPr id="4" name="ripples copy" descr="ripples copy">
            <a:extLst>
              <a:ext uri="{FF2B5EF4-FFF2-40B4-BE49-F238E27FC236}">
                <a16:creationId xmlns:a16="http://schemas.microsoft.com/office/drawing/2014/main" id="{F676EB02-5BB2-4E0A-B2DE-D66FBED905B6}"/>
              </a:ext>
            </a:extLst>
          </p:cNvPr>
          <p:cNvPicPr>
            <a:picLocks noChangeAspect="1"/>
          </p:cNvPicPr>
          <p:nvPr/>
        </p:nvPicPr>
        <p:blipFill>
          <a:blip r:embed="rId2">
            <a:extLst/>
          </a:blip>
          <a:stretch>
            <a:fillRect/>
          </a:stretch>
        </p:blipFill>
        <p:spPr>
          <a:xfrm>
            <a:off x="236537" y="3673241"/>
            <a:ext cx="11718926" cy="2988142"/>
          </a:xfrm>
          <a:prstGeom prst="rect">
            <a:avLst/>
          </a:prstGeom>
          <a:ln w="12700">
            <a:miter lim="400000"/>
          </a:ln>
        </p:spPr>
      </p:pic>
      <p:pic>
        <p:nvPicPr>
          <p:cNvPr id="5" name="ripples copy" descr="ripples copy">
            <a:extLst>
              <a:ext uri="{FF2B5EF4-FFF2-40B4-BE49-F238E27FC236}">
                <a16:creationId xmlns:a16="http://schemas.microsoft.com/office/drawing/2014/main" id="{78EB2854-00D4-4942-8A52-8C7950263C44}"/>
              </a:ext>
            </a:extLst>
          </p:cNvPr>
          <p:cNvPicPr>
            <a:picLocks noChangeAspect="1"/>
          </p:cNvPicPr>
          <p:nvPr/>
        </p:nvPicPr>
        <p:blipFill>
          <a:blip r:embed="rId2">
            <a:extLst/>
          </a:blip>
          <a:srcRect l="75103" t="58872"/>
          <a:stretch>
            <a:fillRect/>
          </a:stretch>
        </p:blipFill>
        <p:spPr>
          <a:xfrm>
            <a:off x="3960270" y="1690688"/>
            <a:ext cx="4271460" cy="1799223"/>
          </a:xfrm>
          <a:prstGeom prst="rect">
            <a:avLst/>
          </a:prstGeom>
          <a:ln w="12700">
            <a:miter lim="400000"/>
          </a:ln>
        </p:spPr>
      </p:pic>
      <p:sp>
        <p:nvSpPr>
          <p:cNvPr id="6" name="Laplacian filter">
            <a:extLst>
              <a:ext uri="{FF2B5EF4-FFF2-40B4-BE49-F238E27FC236}">
                <a16:creationId xmlns:a16="http://schemas.microsoft.com/office/drawing/2014/main" id="{726C0B72-F3A4-4C79-B167-75196E3A47D2}"/>
              </a:ext>
            </a:extLst>
          </p:cNvPr>
          <p:cNvSpPr txBox="1"/>
          <p:nvPr/>
        </p:nvSpPr>
        <p:spPr>
          <a:xfrm>
            <a:off x="8295259" y="2211052"/>
            <a:ext cx="1986121" cy="471924"/>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defRPr sz="2400"/>
            </a:lvl1pPr>
          </a:lstStyle>
          <a:p>
            <a:pPr marL="0" marR="0" lvl="0" indent="0" algn="ctr" defTabSz="584200" rtl="0" eaLnBrk="1" fontAlgn="auto" latinLnBrk="0" hangingPunct="0">
              <a:lnSpc>
                <a:spcPct val="100000"/>
              </a:lnSpc>
              <a:spcBef>
                <a:spcPts val="0"/>
              </a:spcBef>
              <a:spcAft>
                <a:spcPts val="0"/>
              </a:spcAft>
              <a:buClrTx/>
              <a:buSzTx/>
              <a:buFontTx/>
              <a:buNone/>
              <a:tabLst/>
              <a:defRPr/>
            </a:pPr>
            <a:r>
              <a:rPr kumimoji="0" sz="2400" b="0" i="0" u="none" strike="noStrike" kern="0" cap="none" spc="0" normalizeH="0" baseline="0" noProof="0" dirty="0">
                <a:ln>
                  <a:noFill/>
                </a:ln>
                <a:solidFill>
                  <a:srgbClr val="000000"/>
                </a:solidFill>
                <a:effectLst/>
                <a:uLnTx/>
                <a:uFillTx/>
                <a:sym typeface="Helvetica Light"/>
              </a:rPr>
              <a:t>Laplacian filter</a:t>
            </a:r>
          </a:p>
        </p:txBody>
      </p:sp>
    </p:spTree>
    <p:extLst>
      <p:ext uri="{BB962C8B-B14F-4D97-AF65-F5344CB8AC3E}">
        <p14:creationId xmlns:p14="http://schemas.microsoft.com/office/powerpoint/2010/main" val="349047661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B1BF0-C5A6-43B0-A865-EEDBED92443E}"/>
              </a:ext>
            </a:extLst>
          </p:cNvPr>
          <p:cNvSpPr>
            <a:spLocks noGrp="1"/>
          </p:cNvSpPr>
          <p:nvPr>
            <p:ph type="title"/>
          </p:nvPr>
        </p:nvSpPr>
        <p:spPr/>
        <p:txBody>
          <a:bodyPr/>
          <a:lstStyle/>
          <a:p>
            <a:r>
              <a:rPr lang="zh-CN" altLang="en-US" b="1" dirty="0"/>
              <a:t>尺度不变检测（</a:t>
            </a:r>
            <a:r>
              <a:rPr lang="en-US" altLang="zh-CN" b="1" dirty="0"/>
              <a:t>Scale Invariant Detection</a:t>
            </a:r>
            <a:r>
              <a:rPr lang="zh-CN" altLang="en-US" b="1" dirty="0"/>
              <a:t>）</a:t>
            </a:r>
            <a:endParaRPr lang="zh-CN" altLang="en-US" dirty="0"/>
          </a:p>
        </p:txBody>
      </p:sp>
      <p:pic>
        <p:nvPicPr>
          <p:cNvPr id="8" name="Content Placeholder 7">
            <a:extLst>
              <a:ext uri="{FF2B5EF4-FFF2-40B4-BE49-F238E27FC236}">
                <a16:creationId xmlns:a16="http://schemas.microsoft.com/office/drawing/2014/main" id="{934300CF-597A-4E81-836E-5BD4381469BE}"/>
              </a:ext>
            </a:extLst>
          </p:cNvPr>
          <p:cNvPicPr>
            <a:picLocks noGrp="1" noChangeAspect="1"/>
          </p:cNvPicPr>
          <p:nvPr>
            <p:ph idx="1"/>
          </p:nvPr>
        </p:nvPicPr>
        <p:blipFill>
          <a:blip r:embed="rId2"/>
          <a:stretch>
            <a:fillRect/>
          </a:stretch>
        </p:blipFill>
        <p:spPr>
          <a:xfrm>
            <a:off x="3176519" y="2796540"/>
            <a:ext cx="8177281" cy="2856230"/>
          </a:xfrm>
          <a:prstGeom prst="rect">
            <a:avLst/>
          </a:prstGeom>
        </p:spPr>
      </p:pic>
      <p:pic>
        <p:nvPicPr>
          <p:cNvPr id="7" name="Picture 6">
            <a:extLst>
              <a:ext uri="{FF2B5EF4-FFF2-40B4-BE49-F238E27FC236}">
                <a16:creationId xmlns:a16="http://schemas.microsoft.com/office/drawing/2014/main" id="{E799FD3F-B5F3-4DBE-9966-F41D741929B1}"/>
              </a:ext>
            </a:extLst>
          </p:cNvPr>
          <p:cNvPicPr>
            <a:picLocks noChangeAspect="1"/>
          </p:cNvPicPr>
          <p:nvPr/>
        </p:nvPicPr>
        <p:blipFill rotWithShape="1">
          <a:blip r:embed="rId3"/>
          <a:srcRect r="83420"/>
          <a:stretch/>
        </p:blipFill>
        <p:spPr>
          <a:xfrm>
            <a:off x="1032442" y="2965750"/>
            <a:ext cx="1680210" cy="2687020"/>
          </a:xfrm>
          <a:prstGeom prst="rect">
            <a:avLst/>
          </a:prstGeom>
        </p:spPr>
      </p:pic>
      <p:pic>
        <p:nvPicPr>
          <p:cNvPr id="9" name="Picture 8">
            <a:extLst>
              <a:ext uri="{FF2B5EF4-FFF2-40B4-BE49-F238E27FC236}">
                <a16:creationId xmlns:a16="http://schemas.microsoft.com/office/drawing/2014/main" id="{001618D2-4AB5-42A7-A7A9-CDBAC0B49DA5}"/>
              </a:ext>
            </a:extLst>
          </p:cNvPr>
          <p:cNvPicPr>
            <a:picLocks noChangeAspect="1"/>
          </p:cNvPicPr>
          <p:nvPr/>
        </p:nvPicPr>
        <p:blipFill>
          <a:blip r:embed="rId4"/>
          <a:stretch>
            <a:fillRect/>
          </a:stretch>
        </p:blipFill>
        <p:spPr>
          <a:xfrm>
            <a:off x="3362666" y="1909171"/>
            <a:ext cx="5466667" cy="838095"/>
          </a:xfrm>
          <a:prstGeom prst="rect">
            <a:avLst/>
          </a:prstGeom>
        </p:spPr>
      </p:pic>
    </p:spTree>
    <p:extLst>
      <p:ext uri="{BB962C8B-B14F-4D97-AF65-F5344CB8AC3E}">
        <p14:creationId xmlns:p14="http://schemas.microsoft.com/office/powerpoint/2010/main" val="102293939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F4CDB-DB4D-4DC8-8786-4D7ADA11F4CE}"/>
              </a:ext>
            </a:extLst>
          </p:cNvPr>
          <p:cNvSpPr>
            <a:spLocks noGrp="1"/>
          </p:cNvSpPr>
          <p:nvPr>
            <p:ph type="title"/>
          </p:nvPr>
        </p:nvSpPr>
        <p:spPr/>
        <p:txBody>
          <a:bodyPr/>
          <a:lstStyle/>
          <a:p>
            <a:r>
              <a:rPr lang="en-US" altLang="zh-CN" b="1" dirty="0"/>
              <a:t>Harris-Laplacian</a:t>
            </a:r>
            <a:endParaRPr lang="zh-CN" altLang="en-US" dirty="0"/>
          </a:p>
        </p:txBody>
      </p:sp>
      <p:sp>
        <p:nvSpPr>
          <p:cNvPr id="3" name="Content Placeholder 2">
            <a:extLst>
              <a:ext uri="{FF2B5EF4-FFF2-40B4-BE49-F238E27FC236}">
                <a16:creationId xmlns:a16="http://schemas.microsoft.com/office/drawing/2014/main" id="{DB2E6C1D-A8C0-49DD-9EC4-A31C02F3881C}"/>
              </a:ext>
            </a:extLst>
          </p:cNvPr>
          <p:cNvSpPr>
            <a:spLocks noGrp="1"/>
          </p:cNvSpPr>
          <p:nvPr>
            <p:ph idx="1"/>
          </p:nvPr>
        </p:nvSpPr>
        <p:spPr/>
        <p:txBody>
          <a:bodyPr/>
          <a:lstStyle/>
          <a:p>
            <a:pPr>
              <a:lnSpc>
                <a:spcPct val="150000"/>
              </a:lnSpc>
            </a:pPr>
            <a:r>
              <a:rPr lang="zh-CN" altLang="en-US" b="1" dirty="0"/>
              <a:t>尺度选择 </a:t>
            </a:r>
            <a:r>
              <a:rPr lang="en-US" altLang="zh-CN" b="1" dirty="0"/>
              <a:t>(Scale Selection)</a:t>
            </a:r>
          </a:p>
          <a:p>
            <a:pPr lvl="1">
              <a:lnSpc>
                <a:spcPct val="150000"/>
              </a:lnSpc>
            </a:pPr>
            <a:r>
              <a:rPr lang="zh-CN" altLang="en-US" b="1" dirty="0">
                <a:solidFill>
                  <a:schemeClr val="accent1"/>
                </a:solidFill>
              </a:rPr>
              <a:t>哪一个尺度下对半径为</a:t>
            </a:r>
            <a:r>
              <a:rPr lang="en-US" altLang="zh-CN" b="1" dirty="0">
                <a:solidFill>
                  <a:schemeClr val="accent1"/>
                </a:solidFill>
              </a:rPr>
              <a:t>r</a:t>
            </a:r>
            <a:r>
              <a:rPr lang="zh-CN" altLang="en-US" b="1" dirty="0">
                <a:solidFill>
                  <a:schemeClr val="accent1"/>
                </a:solidFill>
              </a:rPr>
              <a:t>的圆的响应值最大？</a:t>
            </a:r>
          </a:p>
        </p:txBody>
      </p:sp>
      <p:pic>
        <p:nvPicPr>
          <p:cNvPr id="4" name="Picture 3">
            <a:extLst>
              <a:ext uri="{FF2B5EF4-FFF2-40B4-BE49-F238E27FC236}">
                <a16:creationId xmlns:a16="http://schemas.microsoft.com/office/drawing/2014/main" id="{D58E6A82-446C-40A7-BB9E-0572D9ABDA65}"/>
              </a:ext>
            </a:extLst>
          </p:cNvPr>
          <p:cNvPicPr>
            <a:picLocks noChangeAspect="1"/>
          </p:cNvPicPr>
          <p:nvPr/>
        </p:nvPicPr>
        <p:blipFill>
          <a:blip r:embed="rId2"/>
          <a:stretch>
            <a:fillRect/>
          </a:stretch>
        </p:blipFill>
        <p:spPr>
          <a:xfrm>
            <a:off x="1567428" y="3005534"/>
            <a:ext cx="9057143" cy="3171429"/>
          </a:xfrm>
          <a:prstGeom prst="rect">
            <a:avLst/>
          </a:prstGeom>
        </p:spPr>
      </p:pic>
    </p:spTree>
    <p:extLst>
      <p:ext uri="{BB962C8B-B14F-4D97-AF65-F5344CB8AC3E}">
        <p14:creationId xmlns:p14="http://schemas.microsoft.com/office/powerpoint/2010/main" val="2006724919"/>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F4CDB-DB4D-4DC8-8786-4D7ADA11F4CE}"/>
              </a:ext>
            </a:extLst>
          </p:cNvPr>
          <p:cNvSpPr>
            <a:spLocks noGrp="1"/>
          </p:cNvSpPr>
          <p:nvPr>
            <p:ph type="title"/>
          </p:nvPr>
        </p:nvSpPr>
        <p:spPr/>
        <p:txBody>
          <a:bodyPr/>
          <a:lstStyle/>
          <a:p>
            <a:pPr>
              <a:lnSpc>
                <a:spcPct val="150000"/>
              </a:lnSpc>
            </a:pPr>
            <a:r>
              <a:rPr lang="zh-CN" altLang="en-US" b="1" dirty="0"/>
              <a:t>尺度选择 </a:t>
            </a:r>
            <a:r>
              <a:rPr lang="en-US" altLang="zh-CN" b="1" dirty="0"/>
              <a:t>(Scale Selection)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B2E6C1D-A8C0-49DD-9EC4-A31C02F3881C}"/>
                  </a:ext>
                </a:extLst>
              </p:cNvPr>
              <p:cNvSpPr>
                <a:spLocks noGrp="1"/>
              </p:cNvSpPr>
              <p:nvPr>
                <p:ph idx="1"/>
              </p:nvPr>
            </p:nvSpPr>
            <p:spPr/>
            <p:txBody>
              <a:bodyPr/>
              <a:lstStyle/>
              <a:p>
                <a:pPr>
                  <a:lnSpc>
                    <a:spcPct val="150000"/>
                  </a:lnSpc>
                </a:pPr>
                <a:r>
                  <a:rPr lang="zh-CN" altLang="en-US" b="1" dirty="0">
                    <a:solidFill>
                      <a:schemeClr val="accent1"/>
                    </a:solidFill>
                  </a:rPr>
                  <a:t>哪一个尺度下对半径为</a:t>
                </a:r>
                <a:r>
                  <a:rPr lang="en-US" altLang="zh-CN" b="1" dirty="0">
                    <a:solidFill>
                      <a:schemeClr val="accent1"/>
                    </a:solidFill>
                  </a:rPr>
                  <a:t>r</a:t>
                </a:r>
                <a:r>
                  <a:rPr lang="zh-CN" altLang="en-US" b="1" dirty="0">
                    <a:solidFill>
                      <a:schemeClr val="accent1"/>
                    </a:solidFill>
                  </a:rPr>
                  <a:t>的圆的响应值最大？</a:t>
                </a:r>
                <a:endParaRPr lang="en-US" altLang="zh-CN" b="1" dirty="0">
                  <a:solidFill>
                    <a:schemeClr val="accent1"/>
                  </a:solidFill>
                </a:endParaRPr>
              </a:p>
              <a:p>
                <a:pPr lvl="1">
                  <a:lnSpc>
                    <a:spcPct val="150000"/>
                  </a:lnSpc>
                </a:pPr>
                <a:r>
                  <a:rPr lang="en-US" altLang="zh-CN" dirty="0"/>
                  <a:t>Laplacian</a:t>
                </a:r>
                <a:r>
                  <a:rPr lang="zh-CN" altLang="en-US" dirty="0"/>
                  <a:t>滤波器中</a:t>
                </a:r>
                <a:r>
                  <a:rPr lang="en-US" altLang="zh-CN" dirty="0"/>
                  <a:t>0</a:t>
                </a:r>
                <a:r>
                  <a:rPr lang="zh-CN" altLang="en-US" dirty="0"/>
                  <a:t>的位置要与圆对齐</a:t>
                </a:r>
                <a:endParaRPr lang="en-US" altLang="zh-CN" dirty="0"/>
              </a:p>
              <a:p>
                <a:pPr lvl="1">
                  <a:lnSpc>
                    <a:spcPct val="150000"/>
                  </a:lnSpc>
                </a:pPr>
                <a:r>
                  <a:rPr lang="en-US" altLang="zh-CN" b="0" dirty="0"/>
                  <a:t>Laplacian</a:t>
                </a:r>
                <a:r>
                  <a:rPr lang="zh-CN" altLang="en-US" b="0" dirty="0"/>
                  <a:t>对应计算公式：</a:t>
                </a:r>
                <a14:m>
                  <m:oMath xmlns:m="http://schemas.openxmlformats.org/officeDocument/2006/math">
                    <m:r>
                      <a:rPr lang="zh-CN" altLang="en-US" i="1" dirty="0" smtClean="0">
                        <a:latin typeface="Cambria Math" panose="02040503050406030204" pitchFamily="18" charset="0"/>
                      </a:rPr>
                      <m:t> </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𝑥</m:t>
                        </m:r>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𝑦</m:t>
                        </m:r>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−2</m:t>
                    </m:r>
                    <m:sSup>
                      <m:sSupPr>
                        <m:ctrlPr>
                          <a:rPr lang="en-US" altLang="zh-CN" b="0" i="1" smtClean="0">
                            <a:latin typeface="Cambria Math" panose="02040503050406030204" pitchFamily="18" charset="0"/>
                          </a:rPr>
                        </m:ctrlPr>
                      </m:sSupPr>
                      <m:e>
                        <m:r>
                          <a:rPr lang="zh-CN" altLang="en-US" b="0" i="1" smtClean="0">
                            <a:latin typeface="Cambria Math" panose="02040503050406030204" pitchFamily="18" charset="0"/>
                          </a:rPr>
                          <m:t>𝜎</m:t>
                        </m:r>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f>
                          <m:fPr>
                            <m:type m:val="lin"/>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𝑥</m:t>
                                </m:r>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𝑦</m:t>
                                </m:r>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m:t>
                            </m:r>
                          </m:num>
                          <m:den>
                            <m:r>
                              <a:rPr lang="en-US" altLang="zh-CN" b="0" i="1" smtClean="0">
                                <a:latin typeface="Cambria Math" panose="02040503050406030204" pitchFamily="18" charset="0"/>
                              </a:rPr>
                              <m:t>2</m:t>
                            </m:r>
                            <m:sSup>
                              <m:sSupPr>
                                <m:ctrlPr>
                                  <a:rPr lang="en-US" altLang="zh-CN" b="0" i="1" smtClean="0">
                                    <a:latin typeface="Cambria Math" panose="02040503050406030204" pitchFamily="18" charset="0"/>
                                  </a:rPr>
                                </m:ctrlPr>
                              </m:sSupPr>
                              <m:e>
                                <m:r>
                                  <a:rPr lang="zh-CN" altLang="en-US" b="0" i="1" smtClean="0">
                                    <a:latin typeface="Cambria Math" panose="02040503050406030204" pitchFamily="18" charset="0"/>
                                  </a:rPr>
                                  <m:t>𝜎</m:t>
                                </m:r>
                              </m:e>
                              <m:sup>
                                <m:r>
                                  <a:rPr lang="en-US" altLang="zh-CN" b="0" i="1" smtClean="0">
                                    <a:latin typeface="Cambria Math" panose="02040503050406030204" pitchFamily="18" charset="0"/>
                                  </a:rPr>
                                  <m:t>2</m:t>
                                </m:r>
                              </m:sup>
                            </m:sSup>
                          </m:den>
                        </m:f>
                      </m:sup>
                    </m:sSup>
                  </m:oMath>
                </a14:m>
                <a:endParaRPr lang="en-US" altLang="zh-CN" dirty="0"/>
              </a:p>
              <a:p>
                <a:pPr lvl="1">
                  <a:lnSpc>
                    <a:spcPct val="150000"/>
                  </a:lnSpc>
                </a:pPr>
                <a:r>
                  <a:rPr lang="zh-CN" altLang="en-US" dirty="0"/>
                  <a:t>相应的尺度：</a:t>
                </a:r>
                <a14:m>
                  <m:oMath xmlns:m="http://schemas.openxmlformats.org/officeDocument/2006/math">
                    <m:r>
                      <a:rPr lang="zh-CN" altLang="en-US" i="1" smtClean="0">
                        <a:latin typeface="Cambria Math" panose="02040503050406030204" pitchFamily="18" charset="0"/>
                      </a:rPr>
                      <m:t>𝜎</m:t>
                    </m:r>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r</m:t>
                    </m:r>
                    <m:r>
                      <a:rPr lang="en-US" altLang="zh-CN" b="0" i="0" smtClean="0">
                        <a:latin typeface="Cambria Math" panose="02040503050406030204" pitchFamily="18" charset="0"/>
                      </a:rPr>
                      <m:t>/</m:t>
                    </m:r>
                    <m:rad>
                      <m:radPr>
                        <m:degHide m:val="on"/>
                        <m:ctrlPr>
                          <a:rPr lang="en-US" altLang="zh-CN" b="0" i="1" smtClean="0">
                            <a:latin typeface="Cambria Math" panose="02040503050406030204" pitchFamily="18" charset="0"/>
                          </a:rPr>
                        </m:ctrlPr>
                      </m:radPr>
                      <m:deg/>
                      <m:e>
                        <m:r>
                          <a:rPr lang="en-US" altLang="zh-CN" b="0" i="1" smtClean="0">
                            <a:latin typeface="Cambria Math" panose="02040503050406030204" pitchFamily="18" charset="0"/>
                          </a:rPr>
                          <m:t>2</m:t>
                        </m:r>
                      </m:e>
                    </m:rad>
                  </m:oMath>
                </a14:m>
                <a:endParaRPr lang="en-US" altLang="zh-CN" dirty="0"/>
              </a:p>
              <a:p>
                <a:pPr marL="457200" lvl="1" indent="0">
                  <a:lnSpc>
                    <a:spcPct val="150000"/>
                  </a:lnSpc>
                  <a:buNone/>
                </a:pPr>
                <a:endParaRPr lang="zh-CN" altLang="en-US" b="1" dirty="0">
                  <a:solidFill>
                    <a:schemeClr val="accent1"/>
                  </a:solidFill>
                </a:endParaRPr>
              </a:p>
            </p:txBody>
          </p:sp>
        </mc:Choice>
        <mc:Fallback xmlns="">
          <p:sp>
            <p:nvSpPr>
              <p:cNvPr id="3" name="Content Placeholder 2">
                <a:extLst>
                  <a:ext uri="{FF2B5EF4-FFF2-40B4-BE49-F238E27FC236}">
                    <a16:creationId xmlns:a16="http://schemas.microsoft.com/office/drawing/2014/main" id="{DB2E6C1D-A8C0-49DD-9EC4-A31C02F3881C}"/>
                  </a:ext>
                </a:extLst>
              </p:cNvPr>
              <p:cNvSpPr>
                <a:spLocks noGrp="1" noRot="1" noChangeAspect="1" noMove="1" noResize="1" noEditPoints="1" noAdjustHandles="1" noChangeArrowheads="1" noChangeShapeType="1" noTextEdit="1"/>
              </p:cNvSpPr>
              <p:nvPr>
                <p:ph idx="1"/>
              </p:nvPr>
            </p:nvSpPr>
            <p:spPr>
              <a:blipFill>
                <a:blip r:embed="rId2"/>
                <a:stretch>
                  <a:fillRect l="-1043"/>
                </a:stretch>
              </a:blipFill>
            </p:spPr>
            <p:txBody>
              <a:bodyPr/>
              <a:lstStyle/>
              <a:p>
                <a:r>
                  <a:rPr lang="zh-CN" altLang="en-US">
                    <a:noFill/>
                  </a:rPr>
                  <a:t> </a:t>
                </a:r>
              </a:p>
            </p:txBody>
          </p:sp>
        </mc:Fallback>
      </mc:AlternateContent>
      <p:pic>
        <p:nvPicPr>
          <p:cNvPr id="5" name="Picture 4">
            <a:extLst>
              <a:ext uri="{FF2B5EF4-FFF2-40B4-BE49-F238E27FC236}">
                <a16:creationId xmlns:a16="http://schemas.microsoft.com/office/drawing/2014/main" id="{EB36043A-8AB4-4C8D-A265-040AA6B71B8A}"/>
              </a:ext>
            </a:extLst>
          </p:cNvPr>
          <p:cNvPicPr>
            <a:picLocks noChangeAspect="1"/>
          </p:cNvPicPr>
          <p:nvPr/>
        </p:nvPicPr>
        <p:blipFill>
          <a:blip r:embed="rId3"/>
          <a:stretch>
            <a:fillRect/>
          </a:stretch>
        </p:blipFill>
        <p:spPr>
          <a:xfrm>
            <a:off x="3340699" y="4559806"/>
            <a:ext cx="5510602" cy="2088643"/>
          </a:xfrm>
          <a:prstGeom prst="rect">
            <a:avLst/>
          </a:prstGeom>
        </p:spPr>
      </p:pic>
    </p:spTree>
    <p:extLst>
      <p:ext uri="{BB962C8B-B14F-4D97-AF65-F5344CB8AC3E}">
        <p14:creationId xmlns:p14="http://schemas.microsoft.com/office/powerpoint/2010/main" val="304060023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4C9B9-038D-4F22-B19F-522FF40E41EF}"/>
              </a:ext>
            </a:extLst>
          </p:cNvPr>
          <p:cNvSpPr>
            <a:spLocks noGrp="1"/>
          </p:cNvSpPr>
          <p:nvPr>
            <p:ph type="title"/>
          </p:nvPr>
        </p:nvSpPr>
        <p:spPr/>
        <p:txBody>
          <a:bodyPr/>
          <a:lstStyle/>
          <a:p>
            <a:r>
              <a:rPr lang="zh-CN" altLang="en-US" b="1" dirty="0"/>
              <a:t>特征尺度（</a:t>
            </a:r>
            <a:r>
              <a:rPr lang="en-US" altLang="zh-CN" b="1" dirty="0"/>
              <a:t>Characteristic scale</a:t>
            </a:r>
            <a:r>
              <a:rPr lang="zh-CN" altLang="en-US" b="1" dirty="0"/>
              <a:t>）</a:t>
            </a:r>
          </a:p>
        </p:txBody>
      </p:sp>
      <p:sp>
        <p:nvSpPr>
          <p:cNvPr id="3" name="Content Placeholder 2">
            <a:extLst>
              <a:ext uri="{FF2B5EF4-FFF2-40B4-BE49-F238E27FC236}">
                <a16:creationId xmlns:a16="http://schemas.microsoft.com/office/drawing/2014/main" id="{AAB178B2-7223-49E9-A75D-0CAC9C2566F1}"/>
              </a:ext>
            </a:extLst>
          </p:cNvPr>
          <p:cNvSpPr>
            <a:spLocks noGrp="1"/>
          </p:cNvSpPr>
          <p:nvPr>
            <p:ph idx="1"/>
          </p:nvPr>
        </p:nvSpPr>
        <p:spPr/>
        <p:txBody>
          <a:bodyPr/>
          <a:lstStyle/>
          <a:p>
            <a:r>
              <a:rPr lang="en-US" altLang="zh-CN" b="1" dirty="0"/>
              <a:t>Laplacian</a:t>
            </a:r>
            <a:r>
              <a:rPr lang="zh-CN" altLang="en-US" b="1" dirty="0"/>
              <a:t>响应最大所对应的尺度</a:t>
            </a:r>
          </a:p>
        </p:txBody>
      </p:sp>
      <p:pic>
        <p:nvPicPr>
          <p:cNvPr id="4" name="Picture 3">
            <a:extLst>
              <a:ext uri="{FF2B5EF4-FFF2-40B4-BE49-F238E27FC236}">
                <a16:creationId xmlns:a16="http://schemas.microsoft.com/office/drawing/2014/main" id="{1079901D-4B9F-487C-92AA-DFA1EE4D7279}"/>
              </a:ext>
            </a:extLst>
          </p:cNvPr>
          <p:cNvPicPr>
            <a:picLocks noChangeAspect="1"/>
          </p:cNvPicPr>
          <p:nvPr/>
        </p:nvPicPr>
        <p:blipFill>
          <a:blip r:embed="rId2"/>
          <a:stretch>
            <a:fillRect/>
          </a:stretch>
        </p:blipFill>
        <p:spPr>
          <a:xfrm>
            <a:off x="2391050" y="2330821"/>
            <a:ext cx="7409900" cy="4162054"/>
          </a:xfrm>
          <a:prstGeom prst="rect">
            <a:avLst/>
          </a:prstGeom>
        </p:spPr>
      </p:pic>
    </p:spTree>
    <p:extLst>
      <p:ext uri="{BB962C8B-B14F-4D97-AF65-F5344CB8AC3E}">
        <p14:creationId xmlns:p14="http://schemas.microsoft.com/office/powerpoint/2010/main" val="341243202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4C461-EEB6-4C7C-8CC8-B3AFF4496ABF}"/>
              </a:ext>
            </a:extLst>
          </p:cNvPr>
          <p:cNvSpPr>
            <a:spLocks noGrp="1"/>
          </p:cNvSpPr>
          <p:nvPr>
            <p:ph type="title"/>
          </p:nvPr>
        </p:nvSpPr>
        <p:spPr/>
        <p:txBody>
          <a:bodyPr/>
          <a:lstStyle/>
          <a:p>
            <a:r>
              <a:rPr lang="en-US" altLang="zh-CN" b="1" dirty="0"/>
              <a:t>Laplacian-of-Gaussian (</a:t>
            </a:r>
            <a:r>
              <a:rPr lang="en-US" altLang="zh-CN" b="1" dirty="0" err="1"/>
              <a:t>LoG</a:t>
            </a:r>
            <a:r>
              <a:rPr lang="en-US" altLang="zh-CN" b="1" dirty="0"/>
              <a:t>)</a:t>
            </a:r>
            <a:endParaRPr lang="zh-CN" altLang="en-US" b="1" dirty="0"/>
          </a:p>
        </p:txBody>
      </p:sp>
      <p:sp>
        <p:nvSpPr>
          <p:cNvPr id="3" name="Content Placeholder 2">
            <a:extLst>
              <a:ext uri="{FF2B5EF4-FFF2-40B4-BE49-F238E27FC236}">
                <a16:creationId xmlns:a16="http://schemas.microsoft.com/office/drawing/2014/main" id="{0C576F83-D3FB-48FC-A883-E58E00ACCE87}"/>
              </a:ext>
            </a:extLst>
          </p:cNvPr>
          <p:cNvSpPr>
            <a:spLocks noGrp="1"/>
          </p:cNvSpPr>
          <p:nvPr>
            <p:ph idx="1"/>
          </p:nvPr>
        </p:nvSpPr>
        <p:spPr/>
        <p:txBody>
          <a:bodyPr/>
          <a:lstStyle/>
          <a:p>
            <a:r>
              <a:rPr lang="zh-CN" altLang="en-US" b="1" dirty="0">
                <a:solidFill>
                  <a:srgbClr val="00B0F0"/>
                </a:solidFill>
              </a:rPr>
              <a:t>特征点：</a:t>
            </a:r>
            <a:r>
              <a:rPr lang="en-US" altLang="zh-CN" dirty="0"/>
              <a:t>LOG</a:t>
            </a:r>
            <a:r>
              <a:rPr lang="zh-CN" altLang="en-US" dirty="0"/>
              <a:t>尺度空间的局部最大值</a:t>
            </a:r>
            <a:endParaRPr lang="en-US" altLang="zh-CN" dirty="0"/>
          </a:p>
        </p:txBody>
      </p:sp>
      <p:pic>
        <p:nvPicPr>
          <p:cNvPr id="7" name="Picture 6">
            <a:extLst>
              <a:ext uri="{FF2B5EF4-FFF2-40B4-BE49-F238E27FC236}">
                <a16:creationId xmlns:a16="http://schemas.microsoft.com/office/drawing/2014/main" id="{F9952ED9-111C-4F80-9F40-2771856DCF3E}"/>
              </a:ext>
            </a:extLst>
          </p:cNvPr>
          <p:cNvPicPr>
            <a:picLocks noChangeAspect="1"/>
          </p:cNvPicPr>
          <p:nvPr/>
        </p:nvPicPr>
        <p:blipFill>
          <a:blip r:embed="rId2"/>
          <a:stretch>
            <a:fillRect/>
          </a:stretch>
        </p:blipFill>
        <p:spPr>
          <a:xfrm>
            <a:off x="2190750" y="2371430"/>
            <a:ext cx="7810500" cy="4410370"/>
          </a:xfrm>
          <a:prstGeom prst="rect">
            <a:avLst/>
          </a:prstGeom>
        </p:spPr>
      </p:pic>
    </p:spTree>
    <p:extLst>
      <p:ext uri="{BB962C8B-B14F-4D97-AF65-F5344CB8AC3E}">
        <p14:creationId xmlns:p14="http://schemas.microsoft.com/office/powerpoint/2010/main" val="1182943317"/>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2BD5A95-995D-4691-8C28-240737D93A07}"/>
              </a:ext>
            </a:extLst>
          </p:cNvPr>
          <p:cNvPicPr>
            <a:picLocks noChangeAspect="1"/>
          </p:cNvPicPr>
          <p:nvPr/>
        </p:nvPicPr>
        <p:blipFill>
          <a:blip r:embed="rId2"/>
          <a:stretch>
            <a:fillRect/>
          </a:stretch>
        </p:blipFill>
        <p:spPr>
          <a:xfrm>
            <a:off x="6615112" y="1235076"/>
            <a:ext cx="3814763" cy="2980473"/>
          </a:xfrm>
          <a:prstGeom prst="rect">
            <a:avLst/>
          </a:prstGeom>
        </p:spPr>
      </p:pic>
      <p:sp>
        <p:nvSpPr>
          <p:cNvPr id="2" name="Title 1">
            <a:extLst>
              <a:ext uri="{FF2B5EF4-FFF2-40B4-BE49-F238E27FC236}">
                <a16:creationId xmlns:a16="http://schemas.microsoft.com/office/drawing/2014/main" id="{431180FF-FE03-44A5-B93B-B61A04724A5C}"/>
              </a:ext>
            </a:extLst>
          </p:cNvPr>
          <p:cNvSpPr>
            <a:spLocks noGrp="1"/>
          </p:cNvSpPr>
          <p:nvPr>
            <p:ph type="title"/>
          </p:nvPr>
        </p:nvSpPr>
        <p:spPr/>
        <p:txBody>
          <a:bodyPr/>
          <a:lstStyle/>
          <a:p>
            <a:r>
              <a:rPr lang="en-US" altLang="zh-CN" b="1" dirty="0"/>
              <a:t>Laplacian-of-Gaussian (</a:t>
            </a:r>
            <a:r>
              <a:rPr lang="en-US" altLang="zh-CN" b="1" dirty="0" err="1"/>
              <a:t>LoG</a:t>
            </a:r>
            <a:r>
              <a:rPr lang="en-US" altLang="zh-CN" b="1" dirty="0"/>
              <a:t>)</a:t>
            </a:r>
            <a:endParaRPr lang="zh-CN" altLang="en-US" dirty="0"/>
          </a:p>
        </p:txBody>
      </p:sp>
      <p:sp>
        <p:nvSpPr>
          <p:cNvPr id="3" name="Content Placeholder 2">
            <a:extLst>
              <a:ext uri="{FF2B5EF4-FFF2-40B4-BE49-F238E27FC236}">
                <a16:creationId xmlns:a16="http://schemas.microsoft.com/office/drawing/2014/main" id="{49E84AC2-6E11-4CAA-8984-F87E6A51E0A7}"/>
              </a:ext>
            </a:extLst>
          </p:cNvPr>
          <p:cNvSpPr>
            <a:spLocks noGrp="1"/>
          </p:cNvSpPr>
          <p:nvPr>
            <p:ph idx="1"/>
          </p:nvPr>
        </p:nvSpPr>
        <p:spPr/>
        <p:txBody>
          <a:bodyPr/>
          <a:lstStyle/>
          <a:p>
            <a:endParaRPr lang="zh-CN" altLang="en-US" dirty="0"/>
          </a:p>
        </p:txBody>
      </p:sp>
      <p:pic>
        <p:nvPicPr>
          <p:cNvPr id="4" name="Picture 3">
            <a:extLst>
              <a:ext uri="{FF2B5EF4-FFF2-40B4-BE49-F238E27FC236}">
                <a16:creationId xmlns:a16="http://schemas.microsoft.com/office/drawing/2014/main" id="{AB801930-67A6-4323-845D-416C0CF6BF43}"/>
              </a:ext>
            </a:extLst>
          </p:cNvPr>
          <p:cNvPicPr>
            <a:picLocks noChangeAspect="1"/>
          </p:cNvPicPr>
          <p:nvPr/>
        </p:nvPicPr>
        <p:blipFill>
          <a:blip r:embed="rId3"/>
          <a:stretch>
            <a:fillRect/>
          </a:stretch>
        </p:blipFill>
        <p:spPr>
          <a:xfrm>
            <a:off x="995362" y="2305844"/>
            <a:ext cx="4695825" cy="3390900"/>
          </a:xfrm>
          <a:prstGeom prst="rect">
            <a:avLst/>
          </a:prstGeom>
        </p:spPr>
      </p:pic>
      <p:pic>
        <p:nvPicPr>
          <p:cNvPr id="5" name="Picture 4">
            <a:extLst>
              <a:ext uri="{FF2B5EF4-FFF2-40B4-BE49-F238E27FC236}">
                <a16:creationId xmlns:a16="http://schemas.microsoft.com/office/drawing/2014/main" id="{51369D1B-6FB0-4923-B220-DC61376E8002}"/>
              </a:ext>
            </a:extLst>
          </p:cNvPr>
          <p:cNvPicPr>
            <a:picLocks noChangeAspect="1"/>
          </p:cNvPicPr>
          <p:nvPr/>
        </p:nvPicPr>
        <p:blipFill>
          <a:blip r:embed="rId4"/>
          <a:stretch>
            <a:fillRect/>
          </a:stretch>
        </p:blipFill>
        <p:spPr>
          <a:xfrm>
            <a:off x="6746081" y="4215549"/>
            <a:ext cx="3552825" cy="2567800"/>
          </a:xfrm>
          <a:prstGeom prst="rect">
            <a:avLst/>
          </a:prstGeom>
        </p:spPr>
      </p:pic>
    </p:spTree>
    <p:extLst>
      <p:ext uri="{BB962C8B-B14F-4D97-AF65-F5344CB8AC3E}">
        <p14:creationId xmlns:p14="http://schemas.microsoft.com/office/powerpoint/2010/main" val="52124919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BBA31-4CBC-4BDE-9FE8-E864E154065F}"/>
              </a:ext>
            </a:extLst>
          </p:cNvPr>
          <p:cNvSpPr>
            <a:spLocks noGrp="1"/>
          </p:cNvSpPr>
          <p:nvPr>
            <p:ph type="title"/>
          </p:nvPr>
        </p:nvSpPr>
        <p:spPr/>
        <p:txBody>
          <a:bodyPr/>
          <a:lstStyle/>
          <a:p>
            <a:r>
              <a:rPr lang="zh-CN" altLang="en-US" b="1" dirty="0">
                <a:latin typeface="+mn-lt"/>
                <a:ea typeface="+mn-ea"/>
                <a:cs typeface="+mn-ea"/>
                <a:sym typeface="+mn-lt"/>
              </a:rPr>
              <a:t>提纲</a:t>
            </a:r>
            <a:endParaRPr lang="zh-CN" altLang="en-US" dirty="0">
              <a:latin typeface="+mn-lt"/>
              <a:ea typeface="+mn-ea"/>
              <a:cs typeface="+mn-ea"/>
              <a:sym typeface="+mn-lt"/>
            </a:endParaRPr>
          </a:p>
        </p:txBody>
      </p:sp>
      <p:sp>
        <p:nvSpPr>
          <p:cNvPr id="3" name="Content Placeholder 2">
            <a:extLst>
              <a:ext uri="{FF2B5EF4-FFF2-40B4-BE49-F238E27FC236}">
                <a16:creationId xmlns:a16="http://schemas.microsoft.com/office/drawing/2014/main" id="{B157E871-4B0F-4722-9782-38D7D916B2D9}"/>
              </a:ext>
            </a:extLst>
          </p:cNvPr>
          <p:cNvSpPr>
            <a:spLocks noGrp="1"/>
          </p:cNvSpPr>
          <p:nvPr>
            <p:ph idx="1"/>
          </p:nvPr>
        </p:nvSpPr>
        <p:spPr/>
        <p:txBody>
          <a:bodyPr/>
          <a:lstStyle/>
          <a:p>
            <a:pPr marL="514350" indent="-514350">
              <a:buFont typeface="+mj-lt"/>
              <a:buAutoNum type="arabicPeriod"/>
            </a:pPr>
            <a:r>
              <a:rPr lang="zh-CN" altLang="en-US" dirty="0">
                <a:cs typeface="+mn-ea"/>
                <a:sym typeface="+mn-lt"/>
              </a:rPr>
              <a:t>二值形态学操作</a:t>
            </a:r>
            <a:endParaRPr lang="en-US" altLang="zh-CN" dirty="0">
              <a:cs typeface="+mn-ea"/>
              <a:sym typeface="+mn-lt"/>
            </a:endParaRPr>
          </a:p>
          <a:p>
            <a:pPr marL="514350" indent="-514350">
              <a:buFont typeface="+mj-lt"/>
              <a:buAutoNum type="arabicPeriod"/>
            </a:pPr>
            <a:r>
              <a:rPr lang="zh-CN" altLang="en-US" dirty="0">
                <a:cs typeface="+mn-ea"/>
                <a:sym typeface="+mn-lt"/>
              </a:rPr>
              <a:t>边缘检测</a:t>
            </a:r>
            <a:endParaRPr lang="en-US" altLang="zh-CN" dirty="0">
              <a:cs typeface="+mn-ea"/>
              <a:sym typeface="+mn-lt"/>
            </a:endParaRPr>
          </a:p>
          <a:p>
            <a:pPr marL="514350" indent="-514350">
              <a:buFont typeface="+mj-lt"/>
              <a:buAutoNum type="arabicPeriod"/>
            </a:pPr>
            <a:r>
              <a:rPr lang="zh-CN" altLang="en-US" dirty="0">
                <a:cs typeface="+mn-ea"/>
                <a:sym typeface="+mn-lt"/>
              </a:rPr>
              <a:t>角点检测</a:t>
            </a:r>
            <a:endParaRPr lang="en-US" altLang="zh-CN" dirty="0">
              <a:cs typeface="+mn-ea"/>
              <a:sym typeface="+mn-lt"/>
            </a:endParaRPr>
          </a:p>
          <a:p>
            <a:pPr marL="514350" indent="-514350">
              <a:buFont typeface="+mj-lt"/>
              <a:buAutoNum type="arabicPeriod"/>
            </a:pPr>
            <a:r>
              <a:rPr lang="zh-CN" altLang="en-US" b="1" dirty="0">
                <a:solidFill>
                  <a:schemeClr val="accent1"/>
                </a:solidFill>
                <a:cs typeface="+mn-ea"/>
                <a:sym typeface="+mn-lt"/>
              </a:rPr>
              <a:t>仿射变换</a:t>
            </a:r>
            <a:endParaRPr lang="en-US" altLang="zh-CN" b="1" dirty="0">
              <a:solidFill>
                <a:schemeClr val="accent1"/>
              </a:solidFill>
              <a:cs typeface="+mn-ea"/>
              <a:sym typeface="+mn-lt"/>
            </a:endParaRPr>
          </a:p>
          <a:p>
            <a:endParaRPr lang="zh-CN" altLang="en-US" dirty="0">
              <a:cs typeface="+mn-ea"/>
              <a:sym typeface="+mn-lt"/>
            </a:endParaRPr>
          </a:p>
        </p:txBody>
      </p:sp>
    </p:spTree>
    <p:extLst>
      <p:ext uri="{BB962C8B-B14F-4D97-AF65-F5344CB8AC3E}">
        <p14:creationId xmlns:p14="http://schemas.microsoft.com/office/powerpoint/2010/main" val="380596855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9F0E9-181B-4BE9-8B01-1A41527BAC38}"/>
              </a:ext>
            </a:extLst>
          </p:cNvPr>
          <p:cNvSpPr>
            <a:spLocks noGrp="1"/>
          </p:cNvSpPr>
          <p:nvPr>
            <p:ph type="title"/>
          </p:nvPr>
        </p:nvSpPr>
        <p:spPr/>
        <p:txBody>
          <a:bodyPr/>
          <a:lstStyle/>
          <a:p>
            <a:r>
              <a:rPr lang="en-US" altLang="zh-CN" b="1" dirty="0"/>
              <a:t>2D</a:t>
            </a:r>
            <a:r>
              <a:rPr lang="zh-CN" altLang="en-US" b="1" dirty="0"/>
              <a:t>仿射与投影变换</a:t>
            </a:r>
          </a:p>
        </p:txBody>
      </p:sp>
      <p:pic>
        <p:nvPicPr>
          <p:cNvPr id="4" name="Picture 2" descr="Basic set of 2D planar transformations">
            <a:extLst>
              <a:ext uri="{FF2B5EF4-FFF2-40B4-BE49-F238E27FC236}">
                <a16:creationId xmlns:a16="http://schemas.microsoft.com/office/drawing/2014/main" id="{AA09DDCE-A34B-486A-B497-145CF29570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678" y="2850316"/>
            <a:ext cx="5515915" cy="195370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737A37B8-4D8C-4422-B8DF-BDDEAB1B70C3}"/>
              </a:ext>
            </a:extLst>
          </p:cNvPr>
          <p:cNvPicPr>
            <a:picLocks noChangeAspect="1"/>
          </p:cNvPicPr>
          <p:nvPr/>
        </p:nvPicPr>
        <p:blipFill>
          <a:blip r:embed="rId3"/>
          <a:stretch>
            <a:fillRect/>
          </a:stretch>
        </p:blipFill>
        <p:spPr>
          <a:xfrm>
            <a:off x="6228709" y="2000621"/>
            <a:ext cx="5820787" cy="4007861"/>
          </a:xfrm>
          <a:prstGeom prst="rect">
            <a:avLst/>
          </a:prstGeom>
        </p:spPr>
      </p:pic>
    </p:spTree>
    <p:extLst>
      <p:ext uri="{BB962C8B-B14F-4D97-AF65-F5344CB8AC3E}">
        <p14:creationId xmlns:p14="http://schemas.microsoft.com/office/powerpoint/2010/main" val="300363667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727B3-AF75-4E7D-AC5E-5FB7C1BECF0A}"/>
              </a:ext>
            </a:extLst>
          </p:cNvPr>
          <p:cNvSpPr>
            <a:spLocks noGrp="1"/>
          </p:cNvSpPr>
          <p:nvPr>
            <p:ph type="title"/>
          </p:nvPr>
        </p:nvSpPr>
        <p:spPr/>
        <p:txBody>
          <a:bodyPr/>
          <a:lstStyle/>
          <a:p>
            <a:r>
              <a:rPr lang="zh-CN" altLang="en-US" b="1" dirty="0"/>
              <a:t>坐标变换</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6EA9B6E-8EFC-4EDB-A0D2-263947A964A5}"/>
                  </a:ext>
                </a:extLst>
              </p:cNvPr>
              <p:cNvSpPr>
                <a:spLocks noGrp="1"/>
              </p:cNvSpPr>
              <p:nvPr>
                <p:ph idx="1"/>
              </p:nvPr>
            </p:nvSpPr>
            <p:spPr/>
            <p:txBody>
              <a:bodyPr/>
              <a:lstStyle/>
              <a:p>
                <a:pPr>
                  <a:lnSpc>
                    <a:spcPct val="120000"/>
                  </a:lnSpc>
                </a:pPr>
                <a:r>
                  <a:rPr lang="zh-CN" altLang="en-US" b="1" dirty="0"/>
                  <a:t>通过矩阵变换进行实现：</a:t>
                </a:r>
                <a14:m>
                  <m:oMath xmlns:m="http://schemas.openxmlformats.org/officeDocument/2006/math">
                    <m:sSup>
                      <m:sSupPr>
                        <m:ctrlPr>
                          <a:rPr lang="en-US" altLang="zh-CN" b="1" i="1" smtClean="0">
                            <a:solidFill>
                              <a:srgbClr val="00B0F0"/>
                            </a:solidFill>
                            <a:latin typeface="Cambria Math" panose="02040503050406030204" pitchFamily="18" charset="0"/>
                          </a:rPr>
                        </m:ctrlPr>
                      </m:sSupPr>
                      <m:e>
                        <m:r>
                          <a:rPr lang="en-US" altLang="zh-CN" b="1" i="1" smtClean="0">
                            <a:solidFill>
                              <a:srgbClr val="00B0F0"/>
                            </a:solidFill>
                            <a:latin typeface="Cambria Math" panose="02040503050406030204" pitchFamily="18" charset="0"/>
                          </a:rPr>
                          <m:t>𝒗</m:t>
                        </m:r>
                      </m:e>
                      <m:sup>
                        <m:r>
                          <a:rPr lang="en-US" altLang="zh-CN" b="1" i="1" smtClean="0">
                            <a:solidFill>
                              <a:srgbClr val="00B0F0"/>
                            </a:solidFill>
                            <a:latin typeface="Cambria Math" panose="02040503050406030204" pitchFamily="18" charset="0"/>
                          </a:rPr>
                          <m:t>′</m:t>
                        </m:r>
                      </m:sup>
                    </m:sSup>
                    <m:r>
                      <a:rPr lang="en-US" altLang="zh-CN" b="1" i="1" smtClean="0">
                        <a:solidFill>
                          <a:srgbClr val="00B0F0"/>
                        </a:solidFill>
                        <a:latin typeface="Cambria Math" panose="02040503050406030204" pitchFamily="18" charset="0"/>
                      </a:rPr>
                      <m:t>=</m:t>
                    </m:r>
                    <m:r>
                      <a:rPr lang="en-US" altLang="zh-CN" b="1" i="1" smtClean="0">
                        <a:solidFill>
                          <a:srgbClr val="00B0F0"/>
                        </a:solidFill>
                        <a:latin typeface="Cambria Math" panose="02040503050406030204" pitchFamily="18" charset="0"/>
                      </a:rPr>
                      <m:t>𝑴𝒗</m:t>
                    </m:r>
                  </m:oMath>
                </a14:m>
                <a:endParaRPr lang="en-US" altLang="zh-CN" b="1" dirty="0"/>
              </a:p>
              <a:p>
                <a:pPr marL="0" indent="0">
                  <a:lnSpc>
                    <a:spcPct val="120000"/>
                  </a:lnSpc>
                  <a:buNone/>
                </a:pPr>
                <a14:m>
                  <m:oMathPara xmlns:m="http://schemas.openxmlformats.org/officeDocument/2006/math">
                    <m:oMathParaPr>
                      <m:jc m:val="centerGroup"/>
                    </m:oMathParaPr>
                    <m:oMath xmlns:m="http://schemas.openxmlformats.org/officeDocument/2006/math">
                      <m:d>
                        <m:dPr>
                          <m:begChr m:val="["/>
                          <m:endChr m:val="]"/>
                          <m:ctrlPr>
                            <a:rPr lang="en-US" altLang="zh-CN" i="1" smtClean="0">
                              <a:latin typeface="Cambria Math" panose="02040503050406030204" pitchFamily="18" charset="0"/>
                            </a:rPr>
                          </m:ctrlPr>
                        </m:dPr>
                        <m:e>
                          <m:m>
                            <m:mPr>
                              <m:mcs>
                                <m:mc>
                                  <m:mcPr>
                                    <m:count m:val="1"/>
                                    <m:mcJc m:val="center"/>
                                  </m:mcPr>
                                </m:mc>
                              </m:mcs>
                              <m:ctrlPr>
                                <a:rPr lang="en-US" altLang="zh-CN" i="1" smtClean="0">
                                  <a:latin typeface="Cambria Math" panose="02040503050406030204" pitchFamily="18" charset="0"/>
                                </a:rPr>
                              </m:ctrlPr>
                            </m:mPr>
                            <m:mr>
                              <m:e>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𝑥</m:t>
                                    </m:r>
                                  </m:e>
                                  <m:sup>
                                    <m:r>
                                      <a:rPr lang="en-US" altLang="zh-CN" b="0" i="1" smtClean="0">
                                        <a:latin typeface="Cambria Math" panose="02040503050406030204" pitchFamily="18" charset="0"/>
                                      </a:rPr>
                                      <m:t>′</m:t>
                                    </m:r>
                                  </m:sup>
                                </m:sSup>
                              </m:e>
                            </m:mr>
                            <m:mr>
                              <m:e>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𝑦</m:t>
                                    </m:r>
                                  </m:e>
                                  <m:sup>
                                    <m:r>
                                      <a:rPr lang="en-US" altLang="zh-CN" b="0" i="1" smtClean="0">
                                        <a:latin typeface="Cambria Math" panose="02040503050406030204" pitchFamily="18" charset="0"/>
                                      </a:rPr>
                                      <m:t>′</m:t>
                                    </m:r>
                                  </m:sup>
                                </m:sSup>
                              </m:e>
                            </m:mr>
                            <m:mr>
                              <m:e>
                                <m:r>
                                  <a:rPr lang="en-US" altLang="zh-CN" b="0" i="1" smtClean="0">
                                    <a:latin typeface="Cambria Math" panose="02040503050406030204" pitchFamily="18" charset="0"/>
                                  </a:rPr>
                                  <m:t>1</m:t>
                                </m:r>
                              </m:e>
                            </m:mr>
                          </m:m>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m>
                            <m:mPr>
                              <m:mcs>
                                <m:mc>
                                  <m:mcPr>
                                    <m:count m:val="3"/>
                                    <m:mcJc m:val="center"/>
                                  </m:mcPr>
                                </m:mc>
                              </m:mcs>
                              <m:ctrlPr>
                                <a:rPr lang="en-US" altLang="zh-CN" b="0" i="1" smtClean="0">
                                  <a:latin typeface="Cambria Math" panose="02040503050406030204" pitchFamily="18" charset="0"/>
                                </a:rPr>
                              </m:ctrlPr>
                            </m:mPr>
                            <m:m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11</m:t>
                                    </m:r>
                                  </m:sub>
                                </m:sSub>
                              </m:e>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12</m:t>
                                    </m:r>
                                  </m:sub>
                                </m:sSub>
                              </m:e>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13</m:t>
                                    </m:r>
                                  </m:sub>
                                </m:sSub>
                              </m:e>
                            </m:mr>
                            <m:m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21</m:t>
                                    </m:r>
                                  </m:sub>
                                </m:sSub>
                              </m:e>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22</m:t>
                                    </m:r>
                                  </m:sub>
                                </m:sSub>
                              </m:e>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23</m:t>
                                    </m:r>
                                  </m:sub>
                                </m:sSub>
                              </m:e>
                            </m:mr>
                            <m:m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31</m:t>
                                    </m:r>
                                  </m:sub>
                                </m:sSub>
                              </m:e>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32</m:t>
                                    </m:r>
                                  </m:sub>
                                </m:sSub>
                              </m:e>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33</m:t>
                                    </m:r>
                                  </m:sub>
                                </m:sSub>
                              </m:e>
                            </m:mr>
                          </m:m>
                        </m:e>
                      </m:d>
                      <m:d>
                        <m:dPr>
                          <m:begChr m:val="["/>
                          <m:endChr m:val="]"/>
                          <m:ctrlPr>
                            <a:rPr lang="en-US" altLang="zh-CN" i="1">
                              <a:latin typeface="Cambria Math" panose="02040503050406030204" pitchFamily="18" charset="0"/>
                            </a:rPr>
                          </m:ctrlPr>
                        </m:dPr>
                        <m:e>
                          <m:m>
                            <m:mPr>
                              <m:mcs>
                                <m:mc>
                                  <m:mcPr>
                                    <m:count m:val="1"/>
                                    <m:mcJc m:val="center"/>
                                  </m:mcPr>
                                </m:mc>
                              </m:mcs>
                              <m:ctrlPr>
                                <a:rPr lang="en-US" altLang="zh-CN" i="1">
                                  <a:latin typeface="Cambria Math" panose="02040503050406030204" pitchFamily="18" charset="0"/>
                                </a:rPr>
                              </m:ctrlPr>
                            </m:mPr>
                            <m:mr>
                              <m:e>
                                <m:r>
                                  <a:rPr lang="en-US" altLang="zh-CN" b="0" i="1" smtClean="0">
                                    <a:latin typeface="Cambria Math" panose="02040503050406030204" pitchFamily="18" charset="0"/>
                                  </a:rPr>
                                  <m:t>𝑥</m:t>
                                </m:r>
                              </m:e>
                            </m:mr>
                            <m:mr>
                              <m:e>
                                <m:r>
                                  <a:rPr lang="en-US" altLang="zh-CN" b="0" i="1" smtClean="0">
                                    <a:latin typeface="Cambria Math" panose="02040503050406030204" pitchFamily="18" charset="0"/>
                                  </a:rPr>
                                  <m:t>𝑦</m:t>
                                </m:r>
                              </m:e>
                            </m:mr>
                            <m:mr>
                              <m:e>
                                <m:r>
                                  <a:rPr lang="en-US" altLang="zh-CN" i="1">
                                    <a:latin typeface="Cambria Math" panose="02040503050406030204" pitchFamily="18" charset="0"/>
                                  </a:rPr>
                                  <m:t>1</m:t>
                                </m:r>
                              </m:e>
                            </m:mr>
                          </m:m>
                        </m:e>
                      </m:d>
                    </m:oMath>
                  </m:oMathPara>
                </a14:m>
                <a:endParaRPr lang="zh-CN" altLang="en-US" dirty="0"/>
              </a:p>
            </p:txBody>
          </p:sp>
        </mc:Choice>
        <mc:Fallback xmlns="">
          <p:sp>
            <p:nvSpPr>
              <p:cNvPr id="3" name="Content Placeholder 2">
                <a:extLst>
                  <a:ext uri="{FF2B5EF4-FFF2-40B4-BE49-F238E27FC236}">
                    <a16:creationId xmlns:a16="http://schemas.microsoft.com/office/drawing/2014/main" id="{B6EA9B6E-8EFC-4EDB-A0D2-263947A964A5}"/>
                  </a:ext>
                </a:extLst>
              </p:cNvPr>
              <p:cNvSpPr>
                <a:spLocks noGrp="1" noRot="1" noChangeAspect="1" noMove="1" noResize="1" noEditPoints="1" noAdjustHandles="1" noChangeArrowheads="1" noChangeShapeType="1" noTextEdit="1"/>
              </p:cNvSpPr>
              <p:nvPr>
                <p:ph idx="1"/>
              </p:nvPr>
            </p:nvSpPr>
            <p:spPr>
              <a:blipFill>
                <a:blip r:embed="rId2"/>
                <a:stretch>
                  <a:fillRect l="-1043" t="-980"/>
                </a:stretch>
              </a:blipFill>
            </p:spPr>
            <p:txBody>
              <a:bodyPr/>
              <a:lstStyle/>
              <a:p>
                <a:r>
                  <a:rPr lang="zh-CN" altLang="en-US">
                    <a:noFill/>
                  </a:rPr>
                  <a:t> </a:t>
                </a:r>
              </a:p>
            </p:txBody>
          </p:sp>
        </mc:Fallback>
      </mc:AlternateContent>
      <p:sp>
        <p:nvSpPr>
          <p:cNvPr id="4" name="Rectangle 3">
            <a:extLst>
              <a:ext uri="{FF2B5EF4-FFF2-40B4-BE49-F238E27FC236}">
                <a16:creationId xmlns:a16="http://schemas.microsoft.com/office/drawing/2014/main" id="{A96A8C08-5D93-4813-B885-4A9455DFE953}"/>
              </a:ext>
            </a:extLst>
          </p:cNvPr>
          <p:cNvSpPr/>
          <p:nvPr/>
        </p:nvSpPr>
        <p:spPr>
          <a:xfrm>
            <a:off x="3092903" y="4001294"/>
            <a:ext cx="1733167" cy="400110"/>
          </a:xfrm>
          <a:prstGeom prst="rect">
            <a:avLst/>
          </a:prstGeom>
        </p:spPr>
        <p:txBody>
          <a:bodyPr wrap="none">
            <a:spAutoFit/>
          </a:bodyPr>
          <a:lstStyle/>
          <a:p>
            <a:r>
              <a:rPr lang="zh-CN" altLang="en-US" sz="2000" b="1" dirty="0">
                <a:solidFill>
                  <a:srgbClr val="FF0000"/>
                </a:solidFill>
              </a:rPr>
              <a:t>变换后的坐标</a:t>
            </a:r>
          </a:p>
        </p:txBody>
      </p:sp>
      <p:sp>
        <p:nvSpPr>
          <p:cNvPr id="5" name="Rectangle 4">
            <a:extLst>
              <a:ext uri="{FF2B5EF4-FFF2-40B4-BE49-F238E27FC236}">
                <a16:creationId xmlns:a16="http://schemas.microsoft.com/office/drawing/2014/main" id="{EDD322D6-D62F-430A-80DE-EE43DD36113A}"/>
              </a:ext>
            </a:extLst>
          </p:cNvPr>
          <p:cNvSpPr/>
          <p:nvPr/>
        </p:nvSpPr>
        <p:spPr>
          <a:xfrm>
            <a:off x="5726036" y="3980921"/>
            <a:ext cx="1255472" cy="400110"/>
          </a:xfrm>
          <a:prstGeom prst="rect">
            <a:avLst/>
          </a:prstGeom>
        </p:spPr>
        <p:txBody>
          <a:bodyPr wrap="none">
            <a:spAutoFit/>
          </a:bodyPr>
          <a:lstStyle/>
          <a:p>
            <a:r>
              <a:rPr lang="zh-CN" altLang="en-US" sz="2000" b="1" dirty="0">
                <a:solidFill>
                  <a:srgbClr val="FF0000"/>
                </a:solidFill>
              </a:rPr>
              <a:t>变换矩阵</a:t>
            </a:r>
          </a:p>
        </p:txBody>
      </p:sp>
      <p:sp>
        <p:nvSpPr>
          <p:cNvPr id="6" name="Rectangle 5">
            <a:extLst>
              <a:ext uri="{FF2B5EF4-FFF2-40B4-BE49-F238E27FC236}">
                <a16:creationId xmlns:a16="http://schemas.microsoft.com/office/drawing/2014/main" id="{4A6D116B-9BC8-44FE-A0F6-2C5FC7CD1FDD}"/>
              </a:ext>
            </a:extLst>
          </p:cNvPr>
          <p:cNvSpPr/>
          <p:nvPr/>
        </p:nvSpPr>
        <p:spPr>
          <a:xfrm>
            <a:off x="7365932" y="3952082"/>
            <a:ext cx="2249334" cy="400110"/>
          </a:xfrm>
          <a:prstGeom prst="rect">
            <a:avLst/>
          </a:prstGeom>
        </p:spPr>
        <p:txBody>
          <a:bodyPr wrap="none">
            <a:spAutoFit/>
          </a:bodyPr>
          <a:lstStyle/>
          <a:p>
            <a:r>
              <a:rPr lang="zh-CN" altLang="en-US" sz="2000" b="1" dirty="0">
                <a:solidFill>
                  <a:srgbClr val="FF0000"/>
                </a:solidFill>
              </a:rPr>
              <a:t>变换前的齐次坐标</a:t>
            </a:r>
          </a:p>
        </p:txBody>
      </p:sp>
    </p:spTree>
    <p:extLst>
      <p:ext uri="{BB962C8B-B14F-4D97-AF65-F5344CB8AC3E}">
        <p14:creationId xmlns:p14="http://schemas.microsoft.com/office/powerpoint/2010/main" val="716156797"/>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EBABD-868A-4D81-9655-2C654770E5FA}"/>
              </a:ext>
            </a:extLst>
          </p:cNvPr>
          <p:cNvSpPr>
            <a:spLocks noGrp="1"/>
          </p:cNvSpPr>
          <p:nvPr>
            <p:ph type="title"/>
          </p:nvPr>
        </p:nvSpPr>
        <p:spPr/>
        <p:txBody>
          <a:bodyPr/>
          <a:lstStyle/>
          <a:p>
            <a:r>
              <a:rPr lang="zh-CN" altLang="en-US" b="1" dirty="0"/>
              <a:t>坐标变换</a:t>
            </a:r>
            <a:endParaRPr lang="zh-CN" altLang="en-US" dirty="0"/>
          </a:p>
        </p:txBody>
      </p:sp>
      <p:sp>
        <p:nvSpPr>
          <p:cNvPr id="3" name="Content Placeholder 2">
            <a:extLst>
              <a:ext uri="{FF2B5EF4-FFF2-40B4-BE49-F238E27FC236}">
                <a16:creationId xmlns:a16="http://schemas.microsoft.com/office/drawing/2014/main" id="{D14EF301-A423-4810-A30E-8BBEF4876C95}"/>
              </a:ext>
            </a:extLst>
          </p:cNvPr>
          <p:cNvSpPr>
            <a:spLocks noGrp="1"/>
          </p:cNvSpPr>
          <p:nvPr>
            <p:ph idx="1"/>
          </p:nvPr>
        </p:nvSpPr>
        <p:spPr>
          <a:xfrm>
            <a:off x="838200" y="1825625"/>
            <a:ext cx="5183038" cy="4351338"/>
          </a:xfrm>
        </p:spPr>
        <p:txBody>
          <a:bodyPr/>
          <a:lstStyle/>
          <a:p>
            <a:r>
              <a:rPr lang="zh-CN" altLang="en-US" b="1" dirty="0"/>
              <a:t>平移变换（</a:t>
            </a:r>
            <a:r>
              <a:rPr lang="en-US" altLang="zh-CN" b="1" dirty="0"/>
              <a:t>translation</a:t>
            </a:r>
            <a:r>
              <a:rPr lang="zh-CN" altLang="en-US" b="1" dirty="0"/>
              <a:t>）</a:t>
            </a:r>
          </a:p>
        </p:txBody>
      </p:sp>
      <p:pic>
        <p:nvPicPr>
          <p:cNvPr id="4" name="Picture 3">
            <a:extLst>
              <a:ext uri="{FF2B5EF4-FFF2-40B4-BE49-F238E27FC236}">
                <a16:creationId xmlns:a16="http://schemas.microsoft.com/office/drawing/2014/main" id="{64E066EC-42D1-4FF1-B9EA-F376C747C3A8}"/>
              </a:ext>
            </a:extLst>
          </p:cNvPr>
          <p:cNvPicPr>
            <a:picLocks noChangeAspect="1"/>
          </p:cNvPicPr>
          <p:nvPr/>
        </p:nvPicPr>
        <p:blipFill>
          <a:blip r:embed="rId2"/>
          <a:stretch>
            <a:fillRect/>
          </a:stretch>
        </p:blipFill>
        <p:spPr>
          <a:xfrm>
            <a:off x="742838" y="2956482"/>
            <a:ext cx="4924691" cy="2864151"/>
          </a:xfrm>
          <a:prstGeom prst="rect">
            <a:avLst/>
          </a:prstGeom>
        </p:spPr>
      </p:pic>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6D127631-FDDA-4488-9D54-B37AC8201F4A}"/>
                  </a:ext>
                </a:extLst>
              </p:cNvPr>
              <p:cNvSpPr/>
              <p:nvPr/>
            </p:nvSpPr>
            <p:spPr>
              <a:xfrm>
                <a:off x="6119008" y="1494893"/>
                <a:ext cx="6065187" cy="1752018"/>
              </a:xfrm>
              <a:prstGeom prst="rect">
                <a:avLst/>
              </a:prstGeom>
            </p:spPr>
            <p:txBody>
              <a:bodyPr wrap="none">
                <a:spAutoFit/>
              </a:bodyPr>
              <a:lstStyle/>
              <a:p>
                <a:pPr>
                  <a:lnSpc>
                    <a:spcPct val="120000"/>
                  </a:lnSpc>
                </a:pPr>
                <a14:m>
                  <m:oMathPara xmlns:m="http://schemas.openxmlformats.org/officeDocument/2006/math">
                    <m:oMathParaPr>
                      <m:jc m:val="centerGroup"/>
                    </m:oMathParaPr>
                    <m:oMath xmlns:m="http://schemas.openxmlformats.org/officeDocument/2006/math">
                      <m:d>
                        <m:dPr>
                          <m:begChr m:val="["/>
                          <m:endChr m:val="]"/>
                          <m:ctrlPr>
                            <a:rPr lang="en-US" altLang="zh-CN" sz="3200" i="1" smtClean="0">
                              <a:latin typeface="Cambria Math" panose="02040503050406030204" pitchFamily="18" charset="0"/>
                            </a:rPr>
                          </m:ctrlPr>
                        </m:dPr>
                        <m:e>
                          <m:m>
                            <m:mPr>
                              <m:mcs>
                                <m:mc>
                                  <m:mcPr>
                                    <m:count m:val="1"/>
                                    <m:mcJc m:val="center"/>
                                  </m:mcPr>
                                </m:mc>
                              </m:mcs>
                              <m:ctrlPr>
                                <a:rPr lang="en-US" altLang="zh-CN" sz="3200" i="1">
                                  <a:latin typeface="Cambria Math" panose="02040503050406030204" pitchFamily="18" charset="0"/>
                                </a:rPr>
                              </m:ctrlPr>
                            </m:mPr>
                            <m:mr>
                              <m:e>
                                <m:sSup>
                                  <m:sSupPr>
                                    <m:ctrlPr>
                                      <a:rPr lang="en-US" altLang="zh-CN" sz="3200" i="1">
                                        <a:latin typeface="Cambria Math" panose="02040503050406030204" pitchFamily="18" charset="0"/>
                                      </a:rPr>
                                    </m:ctrlPr>
                                  </m:sSupPr>
                                  <m:e>
                                    <m:r>
                                      <a:rPr lang="en-US" altLang="zh-CN" sz="3200" i="1">
                                        <a:latin typeface="Cambria Math" panose="02040503050406030204" pitchFamily="18" charset="0"/>
                                      </a:rPr>
                                      <m:t>𝑥</m:t>
                                    </m:r>
                                  </m:e>
                                  <m:sup>
                                    <m:r>
                                      <a:rPr lang="en-US" altLang="zh-CN" sz="3200" i="1">
                                        <a:latin typeface="Cambria Math" panose="02040503050406030204" pitchFamily="18" charset="0"/>
                                      </a:rPr>
                                      <m:t>′</m:t>
                                    </m:r>
                                  </m:sup>
                                </m:sSup>
                              </m:e>
                            </m:mr>
                            <m:mr>
                              <m:e>
                                <m:sSup>
                                  <m:sSupPr>
                                    <m:ctrlPr>
                                      <a:rPr lang="en-US" altLang="zh-CN" sz="3200" i="1">
                                        <a:latin typeface="Cambria Math" panose="02040503050406030204" pitchFamily="18" charset="0"/>
                                      </a:rPr>
                                    </m:ctrlPr>
                                  </m:sSupPr>
                                  <m:e>
                                    <m:r>
                                      <a:rPr lang="en-US" altLang="zh-CN" sz="3200" i="1">
                                        <a:latin typeface="Cambria Math" panose="02040503050406030204" pitchFamily="18" charset="0"/>
                                      </a:rPr>
                                      <m:t>𝑦</m:t>
                                    </m:r>
                                  </m:e>
                                  <m:sup>
                                    <m:r>
                                      <a:rPr lang="en-US" altLang="zh-CN" sz="3200" i="1">
                                        <a:latin typeface="Cambria Math" panose="02040503050406030204" pitchFamily="18" charset="0"/>
                                      </a:rPr>
                                      <m:t>′</m:t>
                                    </m:r>
                                  </m:sup>
                                </m:sSup>
                              </m:e>
                            </m:mr>
                            <m:mr>
                              <m:e>
                                <m:r>
                                  <a:rPr lang="en-US" altLang="zh-CN" sz="3200" i="1">
                                    <a:latin typeface="Cambria Math" panose="02040503050406030204" pitchFamily="18" charset="0"/>
                                  </a:rPr>
                                  <m:t>1</m:t>
                                </m:r>
                              </m:e>
                            </m:mr>
                          </m:m>
                        </m:e>
                      </m:d>
                      <m:r>
                        <a:rPr lang="en-US" altLang="zh-CN" sz="3200" i="1">
                          <a:latin typeface="Cambria Math" panose="02040503050406030204" pitchFamily="18" charset="0"/>
                        </a:rPr>
                        <m:t>=</m:t>
                      </m:r>
                      <m:d>
                        <m:dPr>
                          <m:begChr m:val="["/>
                          <m:endChr m:val="]"/>
                          <m:ctrlPr>
                            <a:rPr lang="en-US" altLang="zh-CN" sz="3200" i="1">
                              <a:latin typeface="Cambria Math" panose="02040503050406030204" pitchFamily="18" charset="0"/>
                            </a:rPr>
                          </m:ctrlPr>
                        </m:dPr>
                        <m:e>
                          <m:m>
                            <m:mPr>
                              <m:mcs>
                                <m:mc>
                                  <m:mcPr>
                                    <m:count m:val="3"/>
                                    <m:mcJc m:val="center"/>
                                  </m:mcPr>
                                </m:mc>
                              </m:mcs>
                              <m:ctrlPr>
                                <a:rPr lang="en-US" altLang="zh-CN" sz="3200" i="1">
                                  <a:latin typeface="Cambria Math" panose="02040503050406030204" pitchFamily="18" charset="0"/>
                                </a:rPr>
                              </m:ctrlPr>
                            </m:mPr>
                            <m:mr>
                              <m:e>
                                <m:r>
                                  <a:rPr lang="en-US" altLang="zh-CN" sz="3200" b="0" i="1" smtClean="0">
                                    <a:latin typeface="Cambria Math" panose="02040503050406030204" pitchFamily="18" charset="0"/>
                                  </a:rPr>
                                  <m:t>1</m:t>
                                </m:r>
                              </m:e>
                              <m:e>
                                <m:r>
                                  <a:rPr lang="en-US" altLang="zh-CN" sz="3200" b="0" i="1" smtClean="0">
                                    <a:latin typeface="Cambria Math" panose="02040503050406030204" pitchFamily="18" charset="0"/>
                                  </a:rPr>
                                  <m:t>0</m:t>
                                </m:r>
                              </m:e>
                              <m:e>
                                <m:sSub>
                                  <m:sSubPr>
                                    <m:ctrlPr>
                                      <a:rPr lang="en-US" altLang="zh-CN" sz="3200" i="1">
                                        <a:latin typeface="Cambria Math" panose="02040503050406030204" pitchFamily="18" charset="0"/>
                                      </a:rPr>
                                    </m:ctrlPr>
                                  </m:sSubPr>
                                  <m:e>
                                    <m:r>
                                      <a:rPr lang="en-US" altLang="zh-CN" sz="3200" b="0" i="1" smtClean="0">
                                        <a:latin typeface="Cambria Math" panose="02040503050406030204" pitchFamily="18" charset="0"/>
                                      </a:rPr>
                                      <m:t>𝑡</m:t>
                                    </m:r>
                                  </m:e>
                                  <m:sub>
                                    <m:r>
                                      <a:rPr lang="en-US" altLang="zh-CN" sz="3200" b="0" i="1" smtClean="0">
                                        <a:latin typeface="Cambria Math" panose="02040503050406030204" pitchFamily="18" charset="0"/>
                                      </a:rPr>
                                      <m:t>𝑥</m:t>
                                    </m:r>
                                  </m:sub>
                                </m:sSub>
                              </m:e>
                            </m:mr>
                            <m:mr>
                              <m:e>
                                <m:r>
                                  <a:rPr lang="en-US" altLang="zh-CN" sz="3200" b="0" i="1" smtClean="0">
                                    <a:latin typeface="Cambria Math" panose="02040503050406030204" pitchFamily="18" charset="0"/>
                                  </a:rPr>
                                  <m:t>0</m:t>
                                </m:r>
                              </m:e>
                              <m:e>
                                <m:r>
                                  <a:rPr lang="en-US" altLang="zh-CN" sz="3200" b="0" i="1" smtClean="0">
                                    <a:latin typeface="Cambria Math" panose="02040503050406030204" pitchFamily="18" charset="0"/>
                                  </a:rPr>
                                  <m:t>1</m:t>
                                </m:r>
                              </m:e>
                              <m:e>
                                <m:sSub>
                                  <m:sSubPr>
                                    <m:ctrlPr>
                                      <a:rPr lang="en-US" altLang="zh-CN" sz="3200" i="1">
                                        <a:latin typeface="Cambria Math" panose="02040503050406030204" pitchFamily="18" charset="0"/>
                                      </a:rPr>
                                    </m:ctrlPr>
                                  </m:sSubPr>
                                  <m:e>
                                    <m:r>
                                      <a:rPr lang="en-US" altLang="zh-CN" sz="3200" b="0" i="1" smtClean="0">
                                        <a:latin typeface="Cambria Math" panose="02040503050406030204" pitchFamily="18" charset="0"/>
                                      </a:rPr>
                                      <m:t>𝑡</m:t>
                                    </m:r>
                                  </m:e>
                                  <m:sub>
                                    <m:r>
                                      <a:rPr lang="en-US" altLang="zh-CN" sz="3200" b="0" i="1" smtClean="0">
                                        <a:latin typeface="Cambria Math" panose="02040503050406030204" pitchFamily="18" charset="0"/>
                                      </a:rPr>
                                      <m:t>𝑦</m:t>
                                    </m:r>
                                  </m:sub>
                                </m:sSub>
                              </m:e>
                            </m:mr>
                            <m:mr>
                              <m:e>
                                <m:r>
                                  <a:rPr lang="en-US" altLang="zh-CN" sz="3200" b="0" i="1" smtClean="0">
                                    <a:latin typeface="Cambria Math" panose="02040503050406030204" pitchFamily="18" charset="0"/>
                                  </a:rPr>
                                  <m:t>0</m:t>
                                </m:r>
                              </m:e>
                              <m:e>
                                <m:r>
                                  <a:rPr lang="en-US" altLang="zh-CN" sz="3200" b="0" i="1" smtClean="0">
                                    <a:latin typeface="Cambria Math" panose="02040503050406030204" pitchFamily="18" charset="0"/>
                                  </a:rPr>
                                  <m:t>0</m:t>
                                </m:r>
                              </m:e>
                              <m:e>
                                <m:r>
                                  <a:rPr lang="en-US" altLang="zh-CN" sz="3200" b="0" i="1" smtClean="0">
                                    <a:latin typeface="Cambria Math" panose="02040503050406030204" pitchFamily="18" charset="0"/>
                                  </a:rPr>
                                  <m:t>1</m:t>
                                </m:r>
                              </m:e>
                            </m:mr>
                          </m:m>
                        </m:e>
                      </m:d>
                      <m:d>
                        <m:dPr>
                          <m:begChr m:val="["/>
                          <m:endChr m:val="]"/>
                          <m:ctrlPr>
                            <a:rPr lang="en-US" altLang="zh-CN" sz="3200" i="1">
                              <a:latin typeface="Cambria Math" panose="02040503050406030204" pitchFamily="18" charset="0"/>
                            </a:rPr>
                          </m:ctrlPr>
                        </m:dPr>
                        <m:e>
                          <m:m>
                            <m:mPr>
                              <m:mcs>
                                <m:mc>
                                  <m:mcPr>
                                    <m:count m:val="1"/>
                                    <m:mcJc m:val="center"/>
                                  </m:mcPr>
                                </m:mc>
                              </m:mcs>
                              <m:ctrlPr>
                                <a:rPr lang="en-US" altLang="zh-CN" sz="3200" i="1">
                                  <a:latin typeface="Cambria Math" panose="02040503050406030204" pitchFamily="18" charset="0"/>
                                </a:rPr>
                              </m:ctrlPr>
                            </m:mPr>
                            <m:mr>
                              <m:e>
                                <m:r>
                                  <a:rPr lang="en-US" altLang="zh-CN" sz="3200" i="1">
                                    <a:latin typeface="Cambria Math" panose="02040503050406030204" pitchFamily="18" charset="0"/>
                                  </a:rPr>
                                  <m:t>𝑥</m:t>
                                </m:r>
                              </m:e>
                            </m:mr>
                            <m:mr>
                              <m:e>
                                <m:r>
                                  <a:rPr lang="en-US" altLang="zh-CN" sz="3200" i="1">
                                    <a:latin typeface="Cambria Math" panose="02040503050406030204" pitchFamily="18" charset="0"/>
                                  </a:rPr>
                                  <m:t>𝑦</m:t>
                                </m:r>
                              </m:e>
                            </m:mr>
                            <m:mr>
                              <m:e>
                                <m:r>
                                  <a:rPr lang="en-US" altLang="zh-CN" sz="3200" i="1">
                                    <a:latin typeface="Cambria Math" panose="02040503050406030204" pitchFamily="18" charset="0"/>
                                  </a:rPr>
                                  <m:t>1</m:t>
                                </m:r>
                              </m:e>
                            </m:mr>
                          </m:m>
                        </m:e>
                      </m:d>
                      <m:r>
                        <a:rPr lang="en-US" altLang="zh-CN" sz="3200" b="0" i="1" smtClean="0">
                          <a:latin typeface="Cambria Math" panose="02040503050406030204" pitchFamily="18" charset="0"/>
                        </a:rPr>
                        <m:t>=</m:t>
                      </m:r>
                      <m:d>
                        <m:dPr>
                          <m:begChr m:val="["/>
                          <m:endChr m:val="]"/>
                          <m:ctrlPr>
                            <a:rPr lang="en-US" altLang="zh-CN" sz="3200" i="1">
                              <a:latin typeface="Cambria Math" panose="02040503050406030204" pitchFamily="18" charset="0"/>
                            </a:rPr>
                          </m:ctrlPr>
                        </m:dPr>
                        <m:e>
                          <m:m>
                            <m:mPr>
                              <m:mcs>
                                <m:mc>
                                  <m:mcPr>
                                    <m:count m:val="1"/>
                                    <m:mcJc m:val="center"/>
                                  </m:mcPr>
                                </m:mc>
                              </m:mcs>
                              <m:ctrlPr>
                                <a:rPr lang="en-US" altLang="zh-CN" sz="3200" i="1">
                                  <a:latin typeface="Cambria Math" panose="02040503050406030204" pitchFamily="18" charset="0"/>
                                </a:rPr>
                              </m:ctrlPr>
                            </m:mPr>
                            <m:mr>
                              <m:e>
                                <m:r>
                                  <a:rPr lang="en-US" altLang="zh-CN" sz="3200" i="1">
                                    <a:latin typeface="Cambria Math" panose="02040503050406030204" pitchFamily="18" charset="0"/>
                                  </a:rPr>
                                  <m:t>𝑥</m:t>
                                </m:r>
                                <m:r>
                                  <a:rPr lang="en-US" altLang="zh-CN" sz="3200" b="0" i="1" smtClean="0">
                                    <a:latin typeface="Cambria Math" panose="02040503050406030204" pitchFamily="18" charset="0"/>
                                  </a:rPr>
                                  <m:t>+</m:t>
                                </m:r>
                                <m:sSub>
                                  <m:sSubPr>
                                    <m:ctrlPr>
                                      <a:rPr lang="en-US" altLang="zh-CN" sz="3200" i="1">
                                        <a:latin typeface="Cambria Math" panose="02040503050406030204" pitchFamily="18" charset="0"/>
                                      </a:rPr>
                                    </m:ctrlPr>
                                  </m:sSubPr>
                                  <m:e>
                                    <m:r>
                                      <a:rPr lang="en-US" altLang="zh-CN" sz="3200" i="1">
                                        <a:latin typeface="Cambria Math" panose="02040503050406030204" pitchFamily="18" charset="0"/>
                                      </a:rPr>
                                      <m:t>𝑡</m:t>
                                    </m:r>
                                  </m:e>
                                  <m:sub>
                                    <m:r>
                                      <a:rPr lang="en-US" altLang="zh-CN" sz="3200" i="1">
                                        <a:latin typeface="Cambria Math" panose="02040503050406030204" pitchFamily="18" charset="0"/>
                                      </a:rPr>
                                      <m:t>𝑥</m:t>
                                    </m:r>
                                  </m:sub>
                                </m:sSub>
                              </m:e>
                            </m:mr>
                            <m:mr>
                              <m:e>
                                <m:r>
                                  <a:rPr lang="en-US" altLang="zh-CN" sz="3200" i="1">
                                    <a:latin typeface="Cambria Math" panose="02040503050406030204" pitchFamily="18" charset="0"/>
                                  </a:rPr>
                                  <m:t>𝑦</m:t>
                                </m:r>
                                <m:r>
                                  <a:rPr lang="en-US" altLang="zh-CN" sz="3200" b="0" i="1" smtClean="0">
                                    <a:latin typeface="Cambria Math" panose="02040503050406030204" pitchFamily="18" charset="0"/>
                                  </a:rPr>
                                  <m:t>+</m:t>
                                </m:r>
                                <m:sSub>
                                  <m:sSubPr>
                                    <m:ctrlPr>
                                      <a:rPr lang="en-US" altLang="zh-CN" sz="3200" i="1">
                                        <a:latin typeface="Cambria Math" panose="02040503050406030204" pitchFamily="18" charset="0"/>
                                      </a:rPr>
                                    </m:ctrlPr>
                                  </m:sSubPr>
                                  <m:e>
                                    <m:r>
                                      <a:rPr lang="en-US" altLang="zh-CN" sz="3200" i="1">
                                        <a:latin typeface="Cambria Math" panose="02040503050406030204" pitchFamily="18" charset="0"/>
                                      </a:rPr>
                                      <m:t>𝑡</m:t>
                                    </m:r>
                                  </m:e>
                                  <m:sub>
                                    <m:r>
                                      <a:rPr lang="en-US" altLang="zh-CN" sz="3200" i="1">
                                        <a:latin typeface="Cambria Math" panose="02040503050406030204" pitchFamily="18" charset="0"/>
                                      </a:rPr>
                                      <m:t>𝑦</m:t>
                                    </m:r>
                                  </m:sub>
                                </m:sSub>
                              </m:e>
                            </m:mr>
                            <m:mr>
                              <m:e>
                                <m:r>
                                  <a:rPr lang="en-US" altLang="zh-CN" sz="3200" i="1">
                                    <a:latin typeface="Cambria Math" panose="02040503050406030204" pitchFamily="18" charset="0"/>
                                  </a:rPr>
                                  <m:t>1</m:t>
                                </m:r>
                              </m:e>
                            </m:mr>
                          </m:m>
                        </m:e>
                      </m:d>
                    </m:oMath>
                  </m:oMathPara>
                </a14:m>
                <a:endParaRPr lang="zh-CN" altLang="en-US" sz="3200" dirty="0"/>
              </a:p>
            </p:txBody>
          </p:sp>
        </mc:Choice>
        <mc:Fallback xmlns="">
          <p:sp>
            <p:nvSpPr>
              <p:cNvPr id="6" name="Rectangle 5">
                <a:extLst>
                  <a:ext uri="{FF2B5EF4-FFF2-40B4-BE49-F238E27FC236}">
                    <a16:creationId xmlns:a16="http://schemas.microsoft.com/office/drawing/2014/main" id="{6D127631-FDDA-4488-9D54-B37AC8201F4A}"/>
                  </a:ext>
                </a:extLst>
              </p:cNvPr>
              <p:cNvSpPr>
                <a:spLocks noRot="1" noChangeAspect="1" noMove="1" noResize="1" noEditPoints="1" noAdjustHandles="1" noChangeArrowheads="1" noChangeShapeType="1" noTextEdit="1"/>
              </p:cNvSpPr>
              <p:nvPr/>
            </p:nvSpPr>
            <p:spPr>
              <a:xfrm>
                <a:off x="6119008" y="1494893"/>
                <a:ext cx="6065187" cy="1752018"/>
              </a:xfrm>
              <a:prstGeom prst="rect">
                <a:avLst/>
              </a:prstGeom>
              <a:blipFill>
                <a:blip r:embed="rId3"/>
                <a:stretch>
                  <a:fillRect/>
                </a:stretch>
              </a:blipFill>
            </p:spPr>
            <p:txBody>
              <a:bodyPr/>
              <a:lstStyle/>
              <a:p>
                <a:r>
                  <a:rPr lang="zh-CN" altLang="en-US">
                    <a:noFill/>
                  </a:rPr>
                  <a:t> </a:t>
                </a:r>
              </a:p>
            </p:txBody>
          </p:sp>
        </mc:Fallback>
      </mc:AlternateContent>
      <p:pic>
        <p:nvPicPr>
          <p:cNvPr id="7" name="Picture 6">
            <a:extLst>
              <a:ext uri="{FF2B5EF4-FFF2-40B4-BE49-F238E27FC236}">
                <a16:creationId xmlns:a16="http://schemas.microsoft.com/office/drawing/2014/main" id="{7658C49F-00FA-46F5-9110-275174D03B14}"/>
              </a:ext>
            </a:extLst>
          </p:cNvPr>
          <p:cNvPicPr>
            <a:picLocks noChangeAspect="1"/>
          </p:cNvPicPr>
          <p:nvPr/>
        </p:nvPicPr>
        <p:blipFill>
          <a:blip r:embed="rId4"/>
          <a:stretch>
            <a:fillRect/>
          </a:stretch>
        </p:blipFill>
        <p:spPr>
          <a:xfrm>
            <a:off x="6413251" y="4215022"/>
            <a:ext cx="5580212" cy="2453556"/>
          </a:xfrm>
          <a:prstGeom prst="rect">
            <a:avLst/>
          </a:prstGeom>
        </p:spPr>
      </p:pic>
    </p:spTree>
    <p:extLst>
      <p:ext uri="{BB962C8B-B14F-4D97-AF65-F5344CB8AC3E}">
        <p14:creationId xmlns:p14="http://schemas.microsoft.com/office/powerpoint/2010/main" val="133702571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CC606-7B8E-465B-B7AA-ACE4A70921A6}"/>
              </a:ext>
            </a:extLst>
          </p:cNvPr>
          <p:cNvSpPr>
            <a:spLocks noGrp="1"/>
          </p:cNvSpPr>
          <p:nvPr>
            <p:ph type="title"/>
          </p:nvPr>
        </p:nvSpPr>
        <p:spPr/>
        <p:txBody>
          <a:bodyPr/>
          <a:lstStyle/>
          <a:p>
            <a:r>
              <a:rPr lang="zh-CN" altLang="en-US" b="1" dirty="0"/>
              <a:t>坐标变换</a:t>
            </a:r>
            <a:endParaRPr lang="zh-CN" altLang="en-US" dirty="0"/>
          </a:p>
        </p:txBody>
      </p:sp>
      <p:sp>
        <p:nvSpPr>
          <p:cNvPr id="3" name="Content Placeholder 2">
            <a:extLst>
              <a:ext uri="{FF2B5EF4-FFF2-40B4-BE49-F238E27FC236}">
                <a16:creationId xmlns:a16="http://schemas.microsoft.com/office/drawing/2014/main" id="{F76305DE-283A-487B-B12E-FF5047A1DADA}"/>
              </a:ext>
            </a:extLst>
          </p:cNvPr>
          <p:cNvSpPr>
            <a:spLocks noGrp="1"/>
          </p:cNvSpPr>
          <p:nvPr>
            <p:ph idx="1"/>
          </p:nvPr>
        </p:nvSpPr>
        <p:spPr>
          <a:xfrm>
            <a:off x="838200" y="1825625"/>
            <a:ext cx="4978400" cy="4351338"/>
          </a:xfrm>
        </p:spPr>
        <p:txBody>
          <a:bodyPr/>
          <a:lstStyle/>
          <a:p>
            <a:r>
              <a:rPr lang="zh-CN" altLang="en-US" b="1" dirty="0"/>
              <a:t>尺度变换（</a:t>
            </a:r>
            <a:r>
              <a:rPr lang="en-US" altLang="zh-CN" b="1" dirty="0"/>
              <a:t>aspect</a:t>
            </a:r>
            <a:r>
              <a:rPr lang="zh-CN" altLang="en-US" b="1" dirty="0"/>
              <a:t>）</a:t>
            </a:r>
          </a:p>
        </p:txBody>
      </p:sp>
      <p:pic>
        <p:nvPicPr>
          <p:cNvPr id="4" name="Picture 3">
            <a:extLst>
              <a:ext uri="{FF2B5EF4-FFF2-40B4-BE49-F238E27FC236}">
                <a16:creationId xmlns:a16="http://schemas.microsoft.com/office/drawing/2014/main" id="{68D47969-0262-46AA-948E-F06E84115CA7}"/>
              </a:ext>
            </a:extLst>
          </p:cNvPr>
          <p:cNvPicPr>
            <a:picLocks noChangeAspect="1"/>
          </p:cNvPicPr>
          <p:nvPr/>
        </p:nvPicPr>
        <p:blipFill>
          <a:blip r:embed="rId2"/>
          <a:stretch>
            <a:fillRect/>
          </a:stretch>
        </p:blipFill>
        <p:spPr>
          <a:xfrm>
            <a:off x="838200" y="2409432"/>
            <a:ext cx="3880954" cy="2257124"/>
          </a:xfrm>
          <a:prstGeom prst="rect">
            <a:avLst/>
          </a:prstGeom>
        </p:spPr>
      </p:pic>
      <p:pic>
        <p:nvPicPr>
          <p:cNvPr id="5" name="Picture 4">
            <a:extLst>
              <a:ext uri="{FF2B5EF4-FFF2-40B4-BE49-F238E27FC236}">
                <a16:creationId xmlns:a16="http://schemas.microsoft.com/office/drawing/2014/main" id="{F44BE7DC-588B-4459-B829-6164EF4BB3E5}"/>
              </a:ext>
            </a:extLst>
          </p:cNvPr>
          <p:cNvPicPr>
            <a:picLocks noChangeAspect="1"/>
          </p:cNvPicPr>
          <p:nvPr/>
        </p:nvPicPr>
        <p:blipFill>
          <a:blip r:embed="rId3"/>
          <a:stretch>
            <a:fillRect/>
          </a:stretch>
        </p:blipFill>
        <p:spPr>
          <a:xfrm>
            <a:off x="838200" y="4540430"/>
            <a:ext cx="3880954" cy="2257124"/>
          </a:xfrm>
          <a:prstGeom prst="rect">
            <a:avLst/>
          </a:prstGeom>
        </p:spPr>
      </p:pic>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106E0301-2B87-42D6-A5B9-64960DE0BFAD}"/>
                  </a:ext>
                </a:extLst>
              </p:cNvPr>
              <p:cNvSpPr/>
              <p:nvPr/>
            </p:nvSpPr>
            <p:spPr>
              <a:xfrm>
                <a:off x="5966608" y="2914538"/>
                <a:ext cx="5769976" cy="1752018"/>
              </a:xfrm>
              <a:prstGeom prst="rect">
                <a:avLst/>
              </a:prstGeom>
            </p:spPr>
            <p:txBody>
              <a:bodyPr wrap="none">
                <a:spAutoFit/>
              </a:bodyPr>
              <a:lstStyle/>
              <a:p>
                <a:pPr>
                  <a:lnSpc>
                    <a:spcPct val="120000"/>
                  </a:lnSpc>
                </a:pPr>
                <a14:m>
                  <m:oMathPara xmlns:m="http://schemas.openxmlformats.org/officeDocument/2006/math">
                    <m:oMathParaPr>
                      <m:jc m:val="centerGroup"/>
                    </m:oMathParaPr>
                    <m:oMath xmlns:m="http://schemas.openxmlformats.org/officeDocument/2006/math">
                      <m:d>
                        <m:dPr>
                          <m:begChr m:val="["/>
                          <m:endChr m:val="]"/>
                          <m:ctrlPr>
                            <a:rPr lang="en-US" altLang="zh-CN" sz="3200" i="1" smtClean="0">
                              <a:latin typeface="Cambria Math" panose="02040503050406030204" pitchFamily="18" charset="0"/>
                            </a:rPr>
                          </m:ctrlPr>
                        </m:dPr>
                        <m:e>
                          <m:m>
                            <m:mPr>
                              <m:mcs>
                                <m:mc>
                                  <m:mcPr>
                                    <m:count m:val="1"/>
                                    <m:mcJc m:val="center"/>
                                  </m:mcPr>
                                </m:mc>
                              </m:mcs>
                              <m:ctrlPr>
                                <a:rPr lang="en-US" altLang="zh-CN" sz="3200" i="1">
                                  <a:latin typeface="Cambria Math" panose="02040503050406030204" pitchFamily="18" charset="0"/>
                                </a:rPr>
                              </m:ctrlPr>
                            </m:mPr>
                            <m:mr>
                              <m:e>
                                <m:sSup>
                                  <m:sSupPr>
                                    <m:ctrlPr>
                                      <a:rPr lang="en-US" altLang="zh-CN" sz="3200" i="1">
                                        <a:latin typeface="Cambria Math" panose="02040503050406030204" pitchFamily="18" charset="0"/>
                                      </a:rPr>
                                    </m:ctrlPr>
                                  </m:sSupPr>
                                  <m:e>
                                    <m:r>
                                      <a:rPr lang="en-US" altLang="zh-CN" sz="3200" i="1">
                                        <a:latin typeface="Cambria Math" panose="02040503050406030204" pitchFamily="18" charset="0"/>
                                      </a:rPr>
                                      <m:t>𝑥</m:t>
                                    </m:r>
                                  </m:e>
                                  <m:sup>
                                    <m:r>
                                      <a:rPr lang="en-US" altLang="zh-CN" sz="3200" i="1">
                                        <a:latin typeface="Cambria Math" panose="02040503050406030204" pitchFamily="18" charset="0"/>
                                      </a:rPr>
                                      <m:t>′</m:t>
                                    </m:r>
                                  </m:sup>
                                </m:sSup>
                              </m:e>
                            </m:mr>
                            <m:mr>
                              <m:e>
                                <m:sSup>
                                  <m:sSupPr>
                                    <m:ctrlPr>
                                      <a:rPr lang="en-US" altLang="zh-CN" sz="3200" i="1">
                                        <a:latin typeface="Cambria Math" panose="02040503050406030204" pitchFamily="18" charset="0"/>
                                      </a:rPr>
                                    </m:ctrlPr>
                                  </m:sSupPr>
                                  <m:e>
                                    <m:r>
                                      <a:rPr lang="en-US" altLang="zh-CN" sz="3200" i="1">
                                        <a:latin typeface="Cambria Math" panose="02040503050406030204" pitchFamily="18" charset="0"/>
                                      </a:rPr>
                                      <m:t>𝑦</m:t>
                                    </m:r>
                                  </m:e>
                                  <m:sup>
                                    <m:r>
                                      <a:rPr lang="en-US" altLang="zh-CN" sz="3200" i="1">
                                        <a:latin typeface="Cambria Math" panose="02040503050406030204" pitchFamily="18" charset="0"/>
                                      </a:rPr>
                                      <m:t>′</m:t>
                                    </m:r>
                                  </m:sup>
                                </m:sSup>
                              </m:e>
                            </m:mr>
                            <m:mr>
                              <m:e>
                                <m:r>
                                  <a:rPr lang="en-US" altLang="zh-CN" sz="3200" i="1">
                                    <a:latin typeface="Cambria Math" panose="02040503050406030204" pitchFamily="18" charset="0"/>
                                  </a:rPr>
                                  <m:t>1</m:t>
                                </m:r>
                              </m:e>
                            </m:mr>
                          </m:m>
                        </m:e>
                      </m:d>
                      <m:r>
                        <a:rPr lang="en-US" altLang="zh-CN" sz="3200" i="1">
                          <a:latin typeface="Cambria Math" panose="02040503050406030204" pitchFamily="18" charset="0"/>
                        </a:rPr>
                        <m:t>=</m:t>
                      </m:r>
                      <m:d>
                        <m:dPr>
                          <m:begChr m:val="["/>
                          <m:endChr m:val="]"/>
                          <m:ctrlPr>
                            <a:rPr lang="en-US" altLang="zh-CN" sz="3200" i="1">
                              <a:latin typeface="Cambria Math" panose="02040503050406030204" pitchFamily="18" charset="0"/>
                            </a:rPr>
                          </m:ctrlPr>
                        </m:dPr>
                        <m:e>
                          <m:m>
                            <m:mPr>
                              <m:mcs>
                                <m:mc>
                                  <m:mcPr>
                                    <m:count m:val="3"/>
                                    <m:mcJc m:val="center"/>
                                  </m:mcPr>
                                </m:mc>
                              </m:mcs>
                              <m:ctrlPr>
                                <a:rPr lang="en-US" altLang="zh-CN" sz="3200" i="1">
                                  <a:latin typeface="Cambria Math" panose="02040503050406030204" pitchFamily="18" charset="0"/>
                                </a:rPr>
                              </m:ctrlPr>
                            </m:mPr>
                            <m:mr>
                              <m:e>
                                <m:sSub>
                                  <m:sSubPr>
                                    <m:ctrlPr>
                                      <a:rPr lang="en-US" altLang="zh-CN" sz="3200" i="1">
                                        <a:latin typeface="Cambria Math" panose="02040503050406030204" pitchFamily="18" charset="0"/>
                                      </a:rPr>
                                    </m:ctrlPr>
                                  </m:sSubPr>
                                  <m:e>
                                    <m:r>
                                      <a:rPr lang="en-US" altLang="zh-CN" sz="3200" b="0" i="1" smtClean="0">
                                        <a:latin typeface="Cambria Math" panose="02040503050406030204" pitchFamily="18" charset="0"/>
                                      </a:rPr>
                                      <m:t>𝑠</m:t>
                                    </m:r>
                                  </m:e>
                                  <m:sub>
                                    <m:r>
                                      <a:rPr lang="en-US" altLang="zh-CN" sz="3200" i="1">
                                        <a:latin typeface="Cambria Math" panose="02040503050406030204" pitchFamily="18" charset="0"/>
                                      </a:rPr>
                                      <m:t>𝑥</m:t>
                                    </m:r>
                                  </m:sub>
                                </m:sSub>
                              </m:e>
                              <m:e>
                                <m:r>
                                  <a:rPr lang="en-US" altLang="zh-CN" sz="3200" b="0" i="1" smtClean="0">
                                    <a:latin typeface="Cambria Math" panose="02040503050406030204" pitchFamily="18" charset="0"/>
                                  </a:rPr>
                                  <m:t>0</m:t>
                                </m:r>
                              </m:e>
                              <m:e>
                                <m:r>
                                  <a:rPr lang="en-US" altLang="zh-CN" sz="3200" b="0" i="1" smtClean="0">
                                    <a:latin typeface="Cambria Math" panose="02040503050406030204" pitchFamily="18" charset="0"/>
                                  </a:rPr>
                                  <m:t>0</m:t>
                                </m:r>
                              </m:e>
                            </m:mr>
                            <m:mr>
                              <m:e>
                                <m:r>
                                  <a:rPr lang="en-US" altLang="zh-CN" sz="3200" b="0" i="1" smtClean="0">
                                    <a:latin typeface="Cambria Math" panose="02040503050406030204" pitchFamily="18" charset="0"/>
                                  </a:rPr>
                                  <m:t>0</m:t>
                                </m:r>
                              </m:e>
                              <m:e>
                                <m:sSub>
                                  <m:sSubPr>
                                    <m:ctrlPr>
                                      <a:rPr lang="en-US" altLang="zh-CN" sz="3200" i="1">
                                        <a:latin typeface="Cambria Math" panose="02040503050406030204" pitchFamily="18" charset="0"/>
                                      </a:rPr>
                                    </m:ctrlPr>
                                  </m:sSubPr>
                                  <m:e>
                                    <m:r>
                                      <a:rPr lang="en-US" altLang="zh-CN" sz="3200" i="1">
                                        <a:latin typeface="Cambria Math" panose="02040503050406030204" pitchFamily="18" charset="0"/>
                                      </a:rPr>
                                      <m:t>𝑠</m:t>
                                    </m:r>
                                  </m:e>
                                  <m:sub>
                                    <m:r>
                                      <a:rPr lang="en-US" altLang="zh-CN" sz="3200" b="0" i="1" smtClean="0">
                                        <a:latin typeface="Cambria Math" panose="02040503050406030204" pitchFamily="18" charset="0"/>
                                      </a:rPr>
                                      <m:t>𝑦</m:t>
                                    </m:r>
                                  </m:sub>
                                </m:sSub>
                              </m:e>
                              <m:e>
                                <m:r>
                                  <a:rPr lang="en-US" altLang="zh-CN" sz="3200" i="1" smtClean="0">
                                    <a:latin typeface="Cambria Math" panose="02040503050406030204" pitchFamily="18" charset="0"/>
                                  </a:rPr>
                                  <m:t>0</m:t>
                                </m:r>
                              </m:e>
                            </m:mr>
                            <m:mr>
                              <m:e>
                                <m:r>
                                  <a:rPr lang="en-US" altLang="zh-CN" sz="3200" b="0" i="1" smtClean="0">
                                    <a:latin typeface="Cambria Math" panose="02040503050406030204" pitchFamily="18" charset="0"/>
                                  </a:rPr>
                                  <m:t>0</m:t>
                                </m:r>
                              </m:e>
                              <m:e>
                                <m:r>
                                  <a:rPr lang="en-US" altLang="zh-CN" sz="3200" b="0" i="1" smtClean="0">
                                    <a:latin typeface="Cambria Math" panose="02040503050406030204" pitchFamily="18" charset="0"/>
                                  </a:rPr>
                                  <m:t>0</m:t>
                                </m:r>
                              </m:e>
                              <m:e>
                                <m:r>
                                  <a:rPr lang="en-US" altLang="zh-CN" sz="3200" b="0" i="1" smtClean="0">
                                    <a:latin typeface="Cambria Math" panose="02040503050406030204" pitchFamily="18" charset="0"/>
                                  </a:rPr>
                                  <m:t>1</m:t>
                                </m:r>
                              </m:e>
                            </m:mr>
                          </m:m>
                        </m:e>
                      </m:d>
                      <m:d>
                        <m:dPr>
                          <m:begChr m:val="["/>
                          <m:endChr m:val="]"/>
                          <m:ctrlPr>
                            <a:rPr lang="en-US" altLang="zh-CN" sz="3200" i="1">
                              <a:latin typeface="Cambria Math" panose="02040503050406030204" pitchFamily="18" charset="0"/>
                            </a:rPr>
                          </m:ctrlPr>
                        </m:dPr>
                        <m:e>
                          <m:m>
                            <m:mPr>
                              <m:mcs>
                                <m:mc>
                                  <m:mcPr>
                                    <m:count m:val="1"/>
                                    <m:mcJc m:val="center"/>
                                  </m:mcPr>
                                </m:mc>
                              </m:mcs>
                              <m:ctrlPr>
                                <a:rPr lang="en-US" altLang="zh-CN" sz="3200" i="1">
                                  <a:latin typeface="Cambria Math" panose="02040503050406030204" pitchFamily="18" charset="0"/>
                                </a:rPr>
                              </m:ctrlPr>
                            </m:mPr>
                            <m:mr>
                              <m:e>
                                <m:r>
                                  <a:rPr lang="en-US" altLang="zh-CN" sz="3200" i="1">
                                    <a:latin typeface="Cambria Math" panose="02040503050406030204" pitchFamily="18" charset="0"/>
                                  </a:rPr>
                                  <m:t>𝑥</m:t>
                                </m:r>
                              </m:e>
                            </m:mr>
                            <m:mr>
                              <m:e>
                                <m:r>
                                  <a:rPr lang="en-US" altLang="zh-CN" sz="3200" i="1">
                                    <a:latin typeface="Cambria Math" panose="02040503050406030204" pitchFamily="18" charset="0"/>
                                  </a:rPr>
                                  <m:t>𝑦</m:t>
                                </m:r>
                              </m:e>
                            </m:mr>
                            <m:mr>
                              <m:e>
                                <m:r>
                                  <a:rPr lang="en-US" altLang="zh-CN" sz="3200" i="1">
                                    <a:latin typeface="Cambria Math" panose="02040503050406030204" pitchFamily="18" charset="0"/>
                                  </a:rPr>
                                  <m:t>1</m:t>
                                </m:r>
                              </m:e>
                            </m:mr>
                          </m:m>
                        </m:e>
                      </m:d>
                      <m:r>
                        <a:rPr lang="en-US" altLang="zh-CN" sz="3200" b="0" i="1" smtClean="0">
                          <a:latin typeface="Cambria Math" panose="02040503050406030204" pitchFamily="18" charset="0"/>
                        </a:rPr>
                        <m:t>=</m:t>
                      </m:r>
                      <m:d>
                        <m:dPr>
                          <m:begChr m:val="["/>
                          <m:endChr m:val="]"/>
                          <m:ctrlPr>
                            <a:rPr lang="en-US" altLang="zh-CN" sz="3200" i="1">
                              <a:latin typeface="Cambria Math" panose="02040503050406030204" pitchFamily="18" charset="0"/>
                            </a:rPr>
                          </m:ctrlPr>
                        </m:dPr>
                        <m:e>
                          <m:m>
                            <m:mPr>
                              <m:mcs>
                                <m:mc>
                                  <m:mcPr>
                                    <m:count m:val="1"/>
                                    <m:mcJc m:val="center"/>
                                  </m:mcPr>
                                </m:mc>
                              </m:mcs>
                              <m:ctrlPr>
                                <a:rPr lang="en-US" altLang="zh-CN" sz="3200" i="1">
                                  <a:latin typeface="Cambria Math" panose="02040503050406030204" pitchFamily="18" charset="0"/>
                                </a:rPr>
                              </m:ctrlPr>
                            </m:mPr>
                            <m:mr>
                              <m:e>
                                <m:sSub>
                                  <m:sSubPr>
                                    <m:ctrlPr>
                                      <a:rPr lang="en-US" altLang="zh-CN" sz="3200" i="1">
                                        <a:latin typeface="Cambria Math" panose="02040503050406030204" pitchFamily="18" charset="0"/>
                                      </a:rPr>
                                    </m:ctrlPr>
                                  </m:sSubPr>
                                  <m:e>
                                    <m:r>
                                      <a:rPr lang="en-US" altLang="zh-CN" sz="3200" i="1">
                                        <a:latin typeface="Cambria Math" panose="02040503050406030204" pitchFamily="18" charset="0"/>
                                      </a:rPr>
                                      <m:t>𝑠</m:t>
                                    </m:r>
                                  </m:e>
                                  <m:sub>
                                    <m:r>
                                      <a:rPr lang="en-US" altLang="zh-CN" sz="3200" i="1">
                                        <a:latin typeface="Cambria Math" panose="02040503050406030204" pitchFamily="18" charset="0"/>
                                      </a:rPr>
                                      <m:t>𝑥</m:t>
                                    </m:r>
                                  </m:sub>
                                </m:sSub>
                                <m:r>
                                  <a:rPr lang="en-US" altLang="zh-CN" sz="3200" i="1">
                                    <a:latin typeface="Cambria Math" panose="02040503050406030204" pitchFamily="18" charset="0"/>
                                  </a:rPr>
                                  <m:t>𝑥</m:t>
                                </m:r>
                              </m:e>
                            </m:mr>
                            <m:mr>
                              <m:e>
                                <m:sSub>
                                  <m:sSubPr>
                                    <m:ctrlPr>
                                      <a:rPr lang="en-US" altLang="zh-CN" sz="3200" i="1">
                                        <a:latin typeface="Cambria Math" panose="02040503050406030204" pitchFamily="18" charset="0"/>
                                      </a:rPr>
                                    </m:ctrlPr>
                                  </m:sSubPr>
                                  <m:e>
                                    <m:r>
                                      <a:rPr lang="en-US" altLang="zh-CN" sz="3200" i="1">
                                        <a:latin typeface="Cambria Math" panose="02040503050406030204" pitchFamily="18" charset="0"/>
                                      </a:rPr>
                                      <m:t>𝑠</m:t>
                                    </m:r>
                                  </m:e>
                                  <m:sub>
                                    <m:r>
                                      <a:rPr lang="en-US" altLang="zh-CN" sz="3200" b="0" i="1" smtClean="0">
                                        <a:latin typeface="Cambria Math" panose="02040503050406030204" pitchFamily="18" charset="0"/>
                                      </a:rPr>
                                      <m:t>𝑦</m:t>
                                    </m:r>
                                  </m:sub>
                                </m:sSub>
                                <m:r>
                                  <a:rPr lang="en-US" altLang="zh-CN" sz="3200" i="1">
                                    <a:latin typeface="Cambria Math" panose="02040503050406030204" pitchFamily="18" charset="0"/>
                                  </a:rPr>
                                  <m:t>𝑦</m:t>
                                </m:r>
                              </m:e>
                            </m:mr>
                            <m:mr>
                              <m:e>
                                <m:r>
                                  <a:rPr lang="en-US" altLang="zh-CN" sz="3200" i="1">
                                    <a:latin typeface="Cambria Math" panose="02040503050406030204" pitchFamily="18" charset="0"/>
                                  </a:rPr>
                                  <m:t>1</m:t>
                                </m:r>
                              </m:e>
                            </m:mr>
                          </m:m>
                        </m:e>
                      </m:d>
                    </m:oMath>
                  </m:oMathPara>
                </a14:m>
                <a:endParaRPr lang="zh-CN" altLang="en-US" sz="3200" dirty="0"/>
              </a:p>
            </p:txBody>
          </p:sp>
        </mc:Choice>
        <mc:Fallback xmlns="">
          <p:sp>
            <p:nvSpPr>
              <p:cNvPr id="6" name="Rectangle 5">
                <a:extLst>
                  <a:ext uri="{FF2B5EF4-FFF2-40B4-BE49-F238E27FC236}">
                    <a16:creationId xmlns:a16="http://schemas.microsoft.com/office/drawing/2014/main" id="{106E0301-2B87-42D6-A5B9-64960DE0BFAD}"/>
                  </a:ext>
                </a:extLst>
              </p:cNvPr>
              <p:cNvSpPr>
                <a:spLocks noRot="1" noChangeAspect="1" noMove="1" noResize="1" noEditPoints="1" noAdjustHandles="1" noChangeArrowheads="1" noChangeShapeType="1" noTextEdit="1"/>
              </p:cNvSpPr>
              <p:nvPr/>
            </p:nvSpPr>
            <p:spPr>
              <a:xfrm>
                <a:off x="5966608" y="2914538"/>
                <a:ext cx="5769976" cy="1752018"/>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19329585"/>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52C4C-19DC-4BFD-A43F-675DC3511F53}"/>
              </a:ext>
            </a:extLst>
          </p:cNvPr>
          <p:cNvSpPr>
            <a:spLocks noGrp="1"/>
          </p:cNvSpPr>
          <p:nvPr>
            <p:ph type="title"/>
          </p:nvPr>
        </p:nvSpPr>
        <p:spPr/>
        <p:txBody>
          <a:bodyPr/>
          <a:lstStyle/>
          <a:p>
            <a:r>
              <a:rPr lang="zh-CN" altLang="en-US" b="1" dirty="0"/>
              <a:t>坐标变换</a:t>
            </a:r>
          </a:p>
        </p:txBody>
      </p:sp>
      <p:sp>
        <p:nvSpPr>
          <p:cNvPr id="3" name="Content Placeholder 2">
            <a:extLst>
              <a:ext uri="{FF2B5EF4-FFF2-40B4-BE49-F238E27FC236}">
                <a16:creationId xmlns:a16="http://schemas.microsoft.com/office/drawing/2014/main" id="{60AD6F1B-7452-4AF4-A75B-DEA4B4BCFA94}"/>
              </a:ext>
            </a:extLst>
          </p:cNvPr>
          <p:cNvSpPr>
            <a:spLocks noGrp="1"/>
          </p:cNvSpPr>
          <p:nvPr>
            <p:ph idx="1"/>
          </p:nvPr>
        </p:nvSpPr>
        <p:spPr>
          <a:xfrm>
            <a:off x="838200" y="1825625"/>
            <a:ext cx="5087040" cy="4351338"/>
          </a:xfrm>
        </p:spPr>
        <p:txBody>
          <a:bodyPr/>
          <a:lstStyle/>
          <a:p>
            <a:r>
              <a:rPr lang="zh-CN" altLang="en-US" b="1" dirty="0"/>
              <a:t>旋转变换</a:t>
            </a:r>
          </a:p>
        </p:txBody>
      </p:sp>
      <p:pic>
        <p:nvPicPr>
          <p:cNvPr id="7" name="Picture 6">
            <a:extLst>
              <a:ext uri="{FF2B5EF4-FFF2-40B4-BE49-F238E27FC236}">
                <a16:creationId xmlns:a16="http://schemas.microsoft.com/office/drawing/2014/main" id="{3AE128CD-912A-4539-A1C6-27BB14293B1C}"/>
              </a:ext>
            </a:extLst>
          </p:cNvPr>
          <p:cNvPicPr>
            <a:picLocks noChangeAspect="1"/>
          </p:cNvPicPr>
          <p:nvPr/>
        </p:nvPicPr>
        <p:blipFill rotWithShape="1">
          <a:blip r:embed="rId2"/>
          <a:srcRect l="1" r="49908" b="6093"/>
          <a:stretch/>
        </p:blipFill>
        <p:spPr>
          <a:xfrm>
            <a:off x="1024468" y="2598410"/>
            <a:ext cx="3496732" cy="3349953"/>
          </a:xfrm>
          <a:prstGeom prst="rect">
            <a:avLst/>
          </a:prstGeom>
        </p:spPr>
      </p:pic>
      <p:grpSp>
        <p:nvGrpSpPr>
          <p:cNvPr id="10" name="Group 9">
            <a:extLst>
              <a:ext uri="{FF2B5EF4-FFF2-40B4-BE49-F238E27FC236}">
                <a16:creationId xmlns:a16="http://schemas.microsoft.com/office/drawing/2014/main" id="{329AB306-5E57-459C-AD68-D646BDB9D697}"/>
              </a:ext>
            </a:extLst>
          </p:cNvPr>
          <p:cNvGrpSpPr/>
          <p:nvPr/>
        </p:nvGrpSpPr>
        <p:grpSpPr>
          <a:xfrm>
            <a:off x="3544108" y="2408158"/>
            <a:ext cx="3083152" cy="836657"/>
            <a:chOff x="5638800" y="3018366"/>
            <a:chExt cx="3083152" cy="836657"/>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F6E01CE-908A-4346-93E7-8C46E64E2A64}"/>
                    </a:ext>
                  </a:extLst>
                </p:cNvPr>
                <p:cNvSpPr txBox="1"/>
                <p:nvPr/>
              </p:nvSpPr>
              <p:spPr>
                <a:xfrm>
                  <a:off x="5638800" y="3018366"/>
                  <a:ext cx="307565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sz="2800" i="1" smtClean="0">
                                <a:latin typeface="Cambria Math" panose="02040503050406030204" pitchFamily="18" charset="0"/>
                              </a:rPr>
                            </m:ctrlPr>
                          </m:sSupPr>
                          <m:e>
                            <m:r>
                              <a:rPr lang="en-US" altLang="zh-CN" sz="2800" b="0" i="1" smtClean="0">
                                <a:latin typeface="Cambria Math" panose="02040503050406030204" pitchFamily="18" charset="0"/>
                              </a:rPr>
                              <m:t>𝑥</m:t>
                            </m:r>
                          </m:e>
                          <m:sup>
                            <m:r>
                              <a:rPr lang="en-US" altLang="zh-CN" sz="2800" b="0" i="1" smtClean="0">
                                <a:latin typeface="Cambria Math" panose="02040503050406030204" pitchFamily="18" charset="0"/>
                              </a:rPr>
                              <m:t>′</m:t>
                            </m:r>
                          </m:sup>
                        </m:sSup>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𝑥</m:t>
                        </m:r>
                        <m:r>
                          <m:rPr>
                            <m:sty m:val="p"/>
                          </m:rPr>
                          <a:rPr lang="en-US" altLang="zh-CN" sz="2800" b="0" i="0" smtClean="0">
                            <a:latin typeface="Cambria Math" panose="02040503050406030204" pitchFamily="18" charset="0"/>
                          </a:rPr>
                          <m:t>cos</m:t>
                        </m:r>
                        <m:r>
                          <a:rPr lang="zh-CN" altLang="en-US" sz="2800" b="0" i="1" smtClean="0">
                            <a:latin typeface="Cambria Math" panose="02040503050406030204" pitchFamily="18" charset="0"/>
                          </a:rPr>
                          <m:t>𝜃</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𝑦</m:t>
                        </m:r>
                        <m:r>
                          <m:rPr>
                            <m:sty m:val="p"/>
                          </m:rPr>
                          <a:rPr lang="en-US" altLang="zh-CN" sz="2800" b="0" i="0" smtClean="0">
                            <a:latin typeface="Cambria Math" panose="02040503050406030204" pitchFamily="18" charset="0"/>
                          </a:rPr>
                          <m:t>sin</m:t>
                        </m:r>
                        <m:r>
                          <a:rPr lang="zh-CN" altLang="en-US" sz="2800" b="0" i="1" smtClean="0">
                            <a:latin typeface="Cambria Math" panose="02040503050406030204" pitchFamily="18" charset="0"/>
                          </a:rPr>
                          <m:t>𝜃</m:t>
                        </m:r>
                      </m:oMath>
                    </m:oMathPara>
                  </a14:m>
                  <a:endParaRPr lang="zh-CN" altLang="en-US" sz="2800" dirty="0"/>
                </a:p>
              </p:txBody>
            </p:sp>
          </mc:Choice>
          <mc:Fallback xmlns="">
            <p:sp>
              <p:nvSpPr>
                <p:cNvPr id="8" name="TextBox 7">
                  <a:extLst>
                    <a:ext uri="{FF2B5EF4-FFF2-40B4-BE49-F238E27FC236}">
                      <a16:creationId xmlns:a16="http://schemas.microsoft.com/office/drawing/2014/main" id="{1F6E01CE-908A-4346-93E7-8C46E64E2A64}"/>
                    </a:ext>
                  </a:extLst>
                </p:cNvPr>
                <p:cNvSpPr txBox="1">
                  <a:spLocks noRot="1" noChangeAspect="1" noMove="1" noResize="1" noEditPoints="1" noAdjustHandles="1" noChangeArrowheads="1" noChangeShapeType="1" noTextEdit="1"/>
                </p:cNvSpPr>
                <p:nvPr/>
              </p:nvSpPr>
              <p:spPr>
                <a:xfrm>
                  <a:off x="5638800" y="3018366"/>
                  <a:ext cx="3075650" cy="43088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BCD0F27-2947-46B2-A25E-FF00AC56C67B}"/>
                    </a:ext>
                  </a:extLst>
                </p:cNvPr>
                <p:cNvSpPr txBox="1"/>
                <p:nvPr/>
              </p:nvSpPr>
              <p:spPr>
                <a:xfrm>
                  <a:off x="5638800" y="3424136"/>
                  <a:ext cx="3083152"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sz="2800" i="1" smtClean="0">
                                <a:latin typeface="Cambria Math" panose="02040503050406030204" pitchFamily="18" charset="0"/>
                              </a:rPr>
                            </m:ctrlPr>
                          </m:sSupPr>
                          <m:e>
                            <m:r>
                              <a:rPr lang="en-US" altLang="zh-CN" sz="2800" b="0" i="1" smtClean="0">
                                <a:latin typeface="Cambria Math" panose="02040503050406030204" pitchFamily="18" charset="0"/>
                              </a:rPr>
                              <m:t>𝑦</m:t>
                            </m:r>
                          </m:e>
                          <m:sup>
                            <m:r>
                              <a:rPr lang="en-US" altLang="zh-CN" sz="2800" b="0" i="1" smtClean="0">
                                <a:latin typeface="Cambria Math" panose="02040503050406030204" pitchFamily="18" charset="0"/>
                              </a:rPr>
                              <m:t>′</m:t>
                            </m:r>
                          </m:sup>
                        </m:sSup>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𝑥</m:t>
                        </m:r>
                        <m:r>
                          <m:rPr>
                            <m:sty m:val="p"/>
                          </m:rPr>
                          <a:rPr lang="en-US" altLang="zh-CN" sz="2800" b="0" i="0" smtClean="0">
                            <a:latin typeface="Cambria Math" panose="02040503050406030204" pitchFamily="18" charset="0"/>
                          </a:rPr>
                          <m:t>sin</m:t>
                        </m:r>
                        <m:r>
                          <a:rPr lang="zh-CN" altLang="en-US" sz="2800" b="0" i="1" smtClean="0">
                            <a:latin typeface="Cambria Math" panose="02040503050406030204" pitchFamily="18" charset="0"/>
                          </a:rPr>
                          <m:t>𝜃</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𝑦</m:t>
                        </m:r>
                        <m:r>
                          <m:rPr>
                            <m:sty m:val="p"/>
                          </m:rPr>
                          <a:rPr lang="en-US" altLang="zh-CN" sz="2800" b="0" i="0" smtClean="0">
                            <a:latin typeface="Cambria Math" panose="02040503050406030204" pitchFamily="18" charset="0"/>
                          </a:rPr>
                          <m:t>cos</m:t>
                        </m:r>
                        <m:r>
                          <a:rPr lang="zh-CN" altLang="en-US" sz="2800" b="0" i="1" smtClean="0">
                            <a:latin typeface="Cambria Math" panose="02040503050406030204" pitchFamily="18" charset="0"/>
                          </a:rPr>
                          <m:t>𝜃</m:t>
                        </m:r>
                      </m:oMath>
                    </m:oMathPara>
                  </a14:m>
                  <a:endParaRPr lang="zh-CN" altLang="en-US" sz="2800" dirty="0"/>
                </a:p>
              </p:txBody>
            </p:sp>
          </mc:Choice>
          <mc:Fallback xmlns="">
            <p:sp>
              <p:nvSpPr>
                <p:cNvPr id="9" name="TextBox 8">
                  <a:extLst>
                    <a:ext uri="{FF2B5EF4-FFF2-40B4-BE49-F238E27FC236}">
                      <a16:creationId xmlns:a16="http://schemas.microsoft.com/office/drawing/2014/main" id="{4BCD0F27-2947-46B2-A25E-FF00AC56C67B}"/>
                    </a:ext>
                  </a:extLst>
                </p:cNvPr>
                <p:cNvSpPr txBox="1">
                  <a:spLocks noRot="1" noChangeAspect="1" noMove="1" noResize="1" noEditPoints="1" noAdjustHandles="1" noChangeArrowheads="1" noChangeShapeType="1" noTextEdit="1"/>
                </p:cNvSpPr>
                <p:nvPr/>
              </p:nvSpPr>
              <p:spPr>
                <a:xfrm>
                  <a:off x="5638800" y="3424136"/>
                  <a:ext cx="3083152" cy="430887"/>
                </a:xfrm>
                <a:prstGeom prst="rect">
                  <a:avLst/>
                </a:prstGeom>
                <a:blipFill>
                  <a:blip r:embed="rId4"/>
                  <a:stretch>
                    <a:fillRect/>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495DB57F-761D-4486-A72F-B4AF0D74D5C9}"/>
                  </a:ext>
                </a:extLst>
              </p:cNvPr>
              <p:cNvSpPr/>
              <p:nvPr/>
            </p:nvSpPr>
            <p:spPr>
              <a:xfrm>
                <a:off x="4334803" y="5793327"/>
                <a:ext cx="372794"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rPr>
                        <m:t>𝑥</m:t>
                      </m:r>
                    </m:oMath>
                  </m:oMathPara>
                </a14:m>
                <a:endParaRPr lang="zh-CN" altLang="en-US" sz="2400" dirty="0"/>
              </a:p>
            </p:txBody>
          </p:sp>
        </mc:Choice>
        <mc:Fallback xmlns="">
          <p:sp>
            <p:nvSpPr>
              <p:cNvPr id="11" name="Rectangle 10">
                <a:extLst>
                  <a:ext uri="{FF2B5EF4-FFF2-40B4-BE49-F238E27FC236}">
                    <a16:creationId xmlns:a16="http://schemas.microsoft.com/office/drawing/2014/main" id="{495DB57F-761D-4486-A72F-B4AF0D74D5C9}"/>
                  </a:ext>
                </a:extLst>
              </p:cNvPr>
              <p:cNvSpPr>
                <a:spLocks noRot="1" noChangeAspect="1" noMove="1" noResize="1" noEditPoints="1" noAdjustHandles="1" noChangeArrowheads="1" noChangeShapeType="1" noTextEdit="1"/>
              </p:cNvSpPr>
              <p:nvPr/>
            </p:nvSpPr>
            <p:spPr>
              <a:xfrm>
                <a:off x="4334803" y="5793327"/>
                <a:ext cx="372794" cy="461665"/>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BA956A57-D3DE-4FB5-955B-CF1580069723}"/>
                  </a:ext>
                </a:extLst>
              </p:cNvPr>
              <p:cNvSpPr/>
              <p:nvPr/>
            </p:nvSpPr>
            <p:spPr>
              <a:xfrm>
                <a:off x="6373009" y="3574015"/>
                <a:ext cx="5417124" cy="1741567"/>
              </a:xfrm>
              <a:prstGeom prst="rect">
                <a:avLst/>
              </a:prstGeom>
            </p:spPr>
            <p:txBody>
              <a:bodyPr wrap="none">
                <a:spAutoFit/>
              </a:bodyPr>
              <a:lstStyle/>
              <a:p>
                <a:pPr>
                  <a:lnSpc>
                    <a:spcPct val="120000"/>
                  </a:lnSpc>
                </a:pPr>
                <a14:m>
                  <m:oMathPara xmlns:m="http://schemas.openxmlformats.org/officeDocument/2006/math">
                    <m:oMathParaPr>
                      <m:jc m:val="centerGroup"/>
                    </m:oMathParaPr>
                    <m:oMath xmlns:m="http://schemas.openxmlformats.org/officeDocument/2006/math">
                      <m:d>
                        <m:dPr>
                          <m:begChr m:val="["/>
                          <m:endChr m:val="]"/>
                          <m:ctrlPr>
                            <a:rPr lang="en-US" altLang="zh-CN" sz="3200" i="1" smtClean="0">
                              <a:latin typeface="Cambria Math" panose="02040503050406030204" pitchFamily="18" charset="0"/>
                            </a:rPr>
                          </m:ctrlPr>
                        </m:dPr>
                        <m:e>
                          <m:m>
                            <m:mPr>
                              <m:mcs>
                                <m:mc>
                                  <m:mcPr>
                                    <m:count m:val="1"/>
                                    <m:mcJc m:val="center"/>
                                  </m:mcPr>
                                </m:mc>
                              </m:mcs>
                              <m:ctrlPr>
                                <a:rPr lang="en-US" altLang="zh-CN" sz="3200" i="1">
                                  <a:latin typeface="Cambria Math" panose="02040503050406030204" pitchFamily="18" charset="0"/>
                                </a:rPr>
                              </m:ctrlPr>
                            </m:mPr>
                            <m:mr>
                              <m:e>
                                <m:sSup>
                                  <m:sSupPr>
                                    <m:ctrlPr>
                                      <a:rPr lang="en-US" altLang="zh-CN" sz="3200" i="1">
                                        <a:latin typeface="Cambria Math" panose="02040503050406030204" pitchFamily="18" charset="0"/>
                                      </a:rPr>
                                    </m:ctrlPr>
                                  </m:sSupPr>
                                  <m:e>
                                    <m:r>
                                      <a:rPr lang="en-US" altLang="zh-CN" sz="3200" i="1">
                                        <a:latin typeface="Cambria Math" panose="02040503050406030204" pitchFamily="18" charset="0"/>
                                      </a:rPr>
                                      <m:t>𝑥</m:t>
                                    </m:r>
                                  </m:e>
                                  <m:sup>
                                    <m:r>
                                      <a:rPr lang="en-US" altLang="zh-CN" sz="3200" i="1">
                                        <a:latin typeface="Cambria Math" panose="02040503050406030204" pitchFamily="18" charset="0"/>
                                      </a:rPr>
                                      <m:t>′</m:t>
                                    </m:r>
                                  </m:sup>
                                </m:sSup>
                              </m:e>
                            </m:mr>
                            <m:mr>
                              <m:e>
                                <m:sSup>
                                  <m:sSupPr>
                                    <m:ctrlPr>
                                      <a:rPr lang="en-US" altLang="zh-CN" sz="3200" i="1">
                                        <a:latin typeface="Cambria Math" panose="02040503050406030204" pitchFamily="18" charset="0"/>
                                      </a:rPr>
                                    </m:ctrlPr>
                                  </m:sSupPr>
                                  <m:e>
                                    <m:r>
                                      <a:rPr lang="en-US" altLang="zh-CN" sz="3200" i="1">
                                        <a:latin typeface="Cambria Math" panose="02040503050406030204" pitchFamily="18" charset="0"/>
                                      </a:rPr>
                                      <m:t>𝑦</m:t>
                                    </m:r>
                                  </m:e>
                                  <m:sup>
                                    <m:r>
                                      <a:rPr lang="en-US" altLang="zh-CN" sz="3200" i="1">
                                        <a:latin typeface="Cambria Math" panose="02040503050406030204" pitchFamily="18" charset="0"/>
                                      </a:rPr>
                                      <m:t>′</m:t>
                                    </m:r>
                                  </m:sup>
                                </m:sSup>
                              </m:e>
                            </m:mr>
                            <m:mr>
                              <m:e>
                                <m:r>
                                  <a:rPr lang="en-US" altLang="zh-CN" sz="3200" i="1">
                                    <a:latin typeface="Cambria Math" panose="02040503050406030204" pitchFamily="18" charset="0"/>
                                  </a:rPr>
                                  <m:t>1</m:t>
                                </m:r>
                              </m:e>
                            </m:mr>
                          </m:m>
                        </m:e>
                      </m:d>
                      <m:r>
                        <a:rPr lang="en-US" altLang="zh-CN" sz="3200" i="1">
                          <a:latin typeface="Cambria Math" panose="02040503050406030204" pitchFamily="18" charset="0"/>
                        </a:rPr>
                        <m:t>=</m:t>
                      </m:r>
                      <m:d>
                        <m:dPr>
                          <m:begChr m:val="["/>
                          <m:endChr m:val="]"/>
                          <m:ctrlPr>
                            <a:rPr lang="en-US" altLang="zh-CN" sz="3200" i="1">
                              <a:latin typeface="Cambria Math" panose="02040503050406030204" pitchFamily="18" charset="0"/>
                            </a:rPr>
                          </m:ctrlPr>
                        </m:dPr>
                        <m:e>
                          <m:m>
                            <m:mPr>
                              <m:mcs>
                                <m:mc>
                                  <m:mcPr>
                                    <m:count m:val="3"/>
                                    <m:mcJc m:val="center"/>
                                  </m:mcPr>
                                </m:mc>
                              </m:mcs>
                              <m:ctrlPr>
                                <a:rPr lang="en-US" altLang="zh-CN" sz="3200" i="1">
                                  <a:latin typeface="Cambria Math" panose="02040503050406030204" pitchFamily="18" charset="0"/>
                                </a:rPr>
                              </m:ctrlPr>
                            </m:mPr>
                            <m:mr>
                              <m:e>
                                <m:r>
                                  <m:rPr>
                                    <m:sty m:val="p"/>
                                  </m:rPr>
                                  <a:rPr lang="en-US" altLang="zh-CN" sz="3200">
                                    <a:latin typeface="Cambria Math" panose="02040503050406030204" pitchFamily="18" charset="0"/>
                                  </a:rPr>
                                  <m:t>cos</m:t>
                                </m:r>
                                <m:r>
                                  <a:rPr lang="zh-CN" altLang="en-US" sz="3200" i="1">
                                    <a:latin typeface="Cambria Math" panose="02040503050406030204" pitchFamily="18" charset="0"/>
                                  </a:rPr>
                                  <m:t>𝜃</m:t>
                                </m:r>
                              </m:e>
                              <m:e>
                                <m:r>
                                  <a:rPr lang="en-US" altLang="zh-CN" sz="3200" i="1">
                                    <a:latin typeface="Cambria Math" panose="02040503050406030204" pitchFamily="18" charset="0"/>
                                  </a:rPr>
                                  <m:t>−</m:t>
                                </m:r>
                                <m:r>
                                  <a:rPr lang="en-US" altLang="zh-CN" sz="3200" i="1">
                                    <a:latin typeface="Cambria Math" panose="02040503050406030204" pitchFamily="18" charset="0"/>
                                  </a:rPr>
                                  <m:t>𝑠𝑖𝑛</m:t>
                                </m:r>
                                <m:r>
                                  <a:rPr lang="zh-CN" altLang="en-US" sz="3200" i="1">
                                    <a:latin typeface="Cambria Math" panose="02040503050406030204" pitchFamily="18" charset="0"/>
                                  </a:rPr>
                                  <m:t>𝜃</m:t>
                                </m:r>
                              </m:e>
                              <m:e>
                                <m:r>
                                  <a:rPr lang="en-US" altLang="zh-CN" sz="3200" b="0" i="1" smtClean="0">
                                    <a:latin typeface="Cambria Math" panose="02040503050406030204" pitchFamily="18" charset="0"/>
                                  </a:rPr>
                                  <m:t>0</m:t>
                                </m:r>
                              </m:e>
                            </m:mr>
                            <m:mr>
                              <m:e>
                                <m:r>
                                  <m:rPr>
                                    <m:sty m:val="p"/>
                                  </m:rPr>
                                  <a:rPr lang="en-US" altLang="zh-CN" sz="3200">
                                    <a:latin typeface="Cambria Math" panose="02040503050406030204" pitchFamily="18" charset="0"/>
                                  </a:rPr>
                                  <m:t>sin</m:t>
                                </m:r>
                                <m:r>
                                  <a:rPr lang="zh-CN" altLang="en-US" sz="3200" i="1">
                                    <a:latin typeface="Cambria Math" panose="02040503050406030204" pitchFamily="18" charset="0"/>
                                  </a:rPr>
                                  <m:t>𝜃</m:t>
                                </m:r>
                              </m:e>
                              <m:e>
                                <m:r>
                                  <m:rPr>
                                    <m:sty m:val="p"/>
                                  </m:rPr>
                                  <a:rPr lang="en-US" altLang="zh-CN" sz="3200">
                                    <a:latin typeface="Cambria Math" panose="02040503050406030204" pitchFamily="18" charset="0"/>
                                  </a:rPr>
                                  <m:t>cos</m:t>
                                </m:r>
                                <m:r>
                                  <a:rPr lang="zh-CN" altLang="en-US" sz="3200" i="1">
                                    <a:latin typeface="Cambria Math" panose="02040503050406030204" pitchFamily="18" charset="0"/>
                                  </a:rPr>
                                  <m:t>𝜃</m:t>
                                </m:r>
                              </m:e>
                              <m:e>
                                <m:r>
                                  <a:rPr lang="en-US" altLang="zh-CN" sz="3200" i="1" smtClean="0">
                                    <a:latin typeface="Cambria Math" panose="02040503050406030204" pitchFamily="18" charset="0"/>
                                  </a:rPr>
                                  <m:t>0</m:t>
                                </m:r>
                              </m:e>
                            </m:mr>
                            <m:mr>
                              <m:e>
                                <m:r>
                                  <a:rPr lang="en-US" altLang="zh-CN" sz="3200" b="0" i="1" smtClean="0">
                                    <a:latin typeface="Cambria Math" panose="02040503050406030204" pitchFamily="18" charset="0"/>
                                  </a:rPr>
                                  <m:t>0</m:t>
                                </m:r>
                              </m:e>
                              <m:e>
                                <m:r>
                                  <a:rPr lang="en-US" altLang="zh-CN" sz="3200" b="0" i="1" smtClean="0">
                                    <a:latin typeface="Cambria Math" panose="02040503050406030204" pitchFamily="18" charset="0"/>
                                  </a:rPr>
                                  <m:t>0</m:t>
                                </m:r>
                              </m:e>
                              <m:e>
                                <m:r>
                                  <a:rPr lang="en-US" altLang="zh-CN" sz="3200" b="0" i="1" smtClean="0">
                                    <a:latin typeface="Cambria Math" panose="02040503050406030204" pitchFamily="18" charset="0"/>
                                  </a:rPr>
                                  <m:t>1</m:t>
                                </m:r>
                              </m:e>
                            </m:mr>
                          </m:m>
                        </m:e>
                      </m:d>
                      <m:d>
                        <m:dPr>
                          <m:begChr m:val="["/>
                          <m:endChr m:val="]"/>
                          <m:ctrlPr>
                            <a:rPr lang="en-US" altLang="zh-CN" sz="3200" i="1">
                              <a:latin typeface="Cambria Math" panose="02040503050406030204" pitchFamily="18" charset="0"/>
                            </a:rPr>
                          </m:ctrlPr>
                        </m:dPr>
                        <m:e>
                          <m:m>
                            <m:mPr>
                              <m:mcs>
                                <m:mc>
                                  <m:mcPr>
                                    <m:count m:val="1"/>
                                    <m:mcJc m:val="center"/>
                                  </m:mcPr>
                                </m:mc>
                              </m:mcs>
                              <m:ctrlPr>
                                <a:rPr lang="en-US" altLang="zh-CN" sz="3200" i="1">
                                  <a:latin typeface="Cambria Math" panose="02040503050406030204" pitchFamily="18" charset="0"/>
                                </a:rPr>
                              </m:ctrlPr>
                            </m:mPr>
                            <m:mr>
                              <m:e>
                                <m:r>
                                  <a:rPr lang="en-US" altLang="zh-CN" sz="3200" i="1">
                                    <a:latin typeface="Cambria Math" panose="02040503050406030204" pitchFamily="18" charset="0"/>
                                  </a:rPr>
                                  <m:t>𝑥</m:t>
                                </m:r>
                              </m:e>
                            </m:mr>
                            <m:mr>
                              <m:e>
                                <m:r>
                                  <a:rPr lang="en-US" altLang="zh-CN" sz="3200" i="1">
                                    <a:latin typeface="Cambria Math" panose="02040503050406030204" pitchFamily="18" charset="0"/>
                                  </a:rPr>
                                  <m:t>𝑦</m:t>
                                </m:r>
                              </m:e>
                            </m:mr>
                            <m:mr>
                              <m:e>
                                <m:r>
                                  <a:rPr lang="en-US" altLang="zh-CN" sz="3200" i="1">
                                    <a:latin typeface="Cambria Math" panose="02040503050406030204" pitchFamily="18" charset="0"/>
                                  </a:rPr>
                                  <m:t>1</m:t>
                                </m:r>
                              </m:e>
                            </m:mr>
                          </m:m>
                        </m:e>
                      </m:d>
                    </m:oMath>
                  </m:oMathPara>
                </a14:m>
                <a:endParaRPr lang="zh-CN" altLang="en-US" sz="3200" dirty="0"/>
              </a:p>
            </p:txBody>
          </p:sp>
        </mc:Choice>
        <mc:Fallback xmlns="">
          <p:sp>
            <p:nvSpPr>
              <p:cNvPr id="12" name="Rectangle 11">
                <a:extLst>
                  <a:ext uri="{FF2B5EF4-FFF2-40B4-BE49-F238E27FC236}">
                    <a16:creationId xmlns:a16="http://schemas.microsoft.com/office/drawing/2014/main" id="{BA956A57-D3DE-4FB5-955B-CF1580069723}"/>
                  </a:ext>
                </a:extLst>
              </p:cNvPr>
              <p:cNvSpPr>
                <a:spLocks noRot="1" noChangeAspect="1" noMove="1" noResize="1" noEditPoints="1" noAdjustHandles="1" noChangeArrowheads="1" noChangeShapeType="1" noTextEdit="1"/>
              </p:cNvSpPr>
              <p:nvPr/>
            </p:nvSpPr>
            <p:spPr>
              <a:xfrm>
                <a:off x="6373009" y="3574015"/>
                <a:ext cx="5417124" cy="1741567"/>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08190625"/>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51AB6-8642-4255-99AC-1C9E8BD9D0D2}"/>
              </a:ext>
            </a:extLst>
          </p:cNvPr>
          <p:cNvSpPr>
            <a:spLocks noGrp="1"/>
          </p:cNvSpPr>
          <p:nvPr>
            <p:ph type="title"/>
          </p:nvPr>
        </p:nvSpPr>
        <p:spPr/>
        <p:txBody>
          <a:bodyPr/>
          <a:lstStyle/>
          <a:p>
            <a:r>
              <a:rPr lang="zh-CN" altLang="en-US" b="1" dirty="0"/>
              <a:t>坐标变换</a:t>
            </a:r>
            <a:endParaRPr lang="zh-CN" altLang="en-US" dirty="0"/>
          </a:p>
        </p:txBody>
      </p:sp>
      <p:pic>
        <p:nvPicPr>
          <p:cNvPr id="5" name="Picture 4">
            <a:extLst>
              <a:ext uri="{FF2B5EF4-FFF2-40B4-BE49-F238E27FC236}">
                <a16:creationId xmlns:a16="http://schemas.microsoft.com/office/drawing/2014/main" id="{3AF71678-C330-486E-A4B1-698BD1AC267C}"/>
              </a:ext>
            </a:extLst>
          </p:cNvPr>
          <p:cNvPicPr>
            <a:picLocks noChangeAspect="1"/>
          </p:cNvPicPr>
          <p:nvPr/>
        </p:nvPicPr>
        <p:blipFill>
          <a:blip r:embed="rId2"/>
          <a:stretch>
            <a:fillRect/>
          </a:stretch>
        </p:blipFill>
        <p:spPr>
          <a:xfrm>
            <a:off x="1201321" y="1812875"/>
            <a:ext cx="9789358" cy="4680000"/>
          </a:xfrm>
          <a:prstGeom prst="rect">
            <a:avLst/>
          </a:prstGeom>
        </p:spPr>
      </p:pic>
    </p:spTree>
    <p:extLst>
      <p:ext uri="{BB962C8B-B14F-4D97-AF65-F5344CB8AC3E}">
        <p14:creationId xmlns:p14="http://schemas.microsoft.com/office/powerpoint/2010/main" val="1272141608"/>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D9172-66B5-4FA6-AF46-D7F7D802E529}"/>
              </a:ext>
            </a:extLst>
          </p:cNvPr>
          <p:cNvSpPr>
            <a:spLocks noGrp="1"/>
          </p:cNvSpPr>
          <p:nvPr>
            <p:ph type="title"/>
          </p:nvPr>
        </p:nvSpPr>
        <p:spPr/>
        <p:txBody>
          <a:bodyPr/>
          <a:lstStyle/>
          <a:p>
            <a:r>
              <a:rPr lang="zh-CN" altLang="en-US" b="1" dirty="0"/>
              <a:t>坐标变换</a:t>
            </a:r>
          </a:p>
        </p:txBody>
      </p:sp>
      <p:sp>
        <p:nvSpPr>
          <p:cNvPr id="3" name="Content Placeholder 2">
            <a:extLst>
              <a:ext uri="{FF2B5EF4-FFF2-40B4-BE49-F238E27FC236}">
                <a16:creationId xmlns:a16="http://schemas.microsoft.com/office/drawing/2014/main" id="{B6D0C166-7212-467B-8045-DF14C8385A26}"/>
              </a:ext>
            </a:extLst>
          </p:cNvPr>
          <p:cNvSpPr>
            <a:spLocks noGrp="1"/>
          </p:cNvSpPr>
          <p:nvPr>
            <p:ph idx="1"/>
          </p:nvPr>
        </p:nvSpPr>
        <p:spPr/>
        <p:txBody>
          <a:bodyPr/>
          <a:lstStyle/>
          <a:p>
            <a:r>
              <a:rPr lang="zh-CN" altLang="en-US" b="1" dirty="0"/>
              <a:t>旋转变换</a:t>
            </a:r>
          </a:p>
          <a:p>
            <a:endParaRPr lang="zh-CN" altLang="en-US" dirty="0"/>
          </a:p>
        </p:txBody>
      </p:sp>
      <p:pic>
        <p:nvPicPr>
          <p:cNvPr id="4" name="Picture 3">
            <a:extLst>
              <a:ext uri="{FF2B5EF4-FFF2-40B4-BE49-F238E27FC236}">
                <a16:creationId xmlns:a16="http://schemas.microsoft.com/office/drawing/2014/main" id="{292D0283-6DA0-4223-851F-F5E661BEE2A2}"/>
              </a:ext>
            </a:extLst>
          </p:cNvPr>
          <p:cNvPicPr>
            <a:picLocks noChangeAspect="1"/>
          </p:cNvPicPr>
          <p:nvPr/>
        </p:nvPicPr>
        <p:blipFill>
          <a:blip r:embed="rId2"/>
          <a:stretch>
            <a:fillRect/>
          </a:stretch>
        </p:blipFill>
        <p:spPr>
          <a:xfrm>
            <a:off x="3439245" y="2439045"/>
            <a:ext cx="5313509" cy="4149447"/>
          </a:xfrm>
          <a:prstGeom prst="rect">
            <a:avLst/>
          </a:prstGeom>
        </p:spPr>
      </p:pic>
    </p:spTree>
    <p:extLst>
      <p:ext uri="{BB962C8B-B14F-4D97-AF65-F5344CB8AC3E}">
        <p14:creationId xmlns:p14="http://schemas.microsoft.com/office/powerpoint/2010/main" val="2796099860"/>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CD97B-7520-45C8-B598-3ACC38D177A9}"/>
              </a:ext>
            </a:extLst>
          </p:cNvPr>
          <p:cNvSpPr>
            <a:spLocks noGrp="1"/>
          </p:cNvSpPr>
          <p:nvPr>
            <p:ph type="title"/>
          </p:nvPr>
        </p:nvSpPr>
        <p:spPr/>
        <p:txBody>
          <a:bodyPr/>
          <a:lstStyle/>
          <a:p>
            <a:r>
              <a:rPr lang="zh-CN" altLang="en-US" b="1" dirty="0"/>
              <a:t>坐标变换</a:t>
            </a:r>
          </a:p>
        </p:txBody>
      </p:sp>
      <p:pic>
        <p:nvPicPr>
          <p:cNvPr id="5" name="Picture 4">
            <a:extLst>
              <a:ext uri="{FF2B5EF4-FFF2-40B4-BE49-F238E27FC236}">
                <a16:creationId xmlns:a16="http://schemas.microsoft.com/office/drawing/2014/main" id="{DC7A3D87-C490-4FAE-9285-5AA2341FA315}"/>
              </a:ext>
            </a:extLst>
          </p:cNvPr>
          <p:cNvPicPr>
            <a:picLocks noChangeAspect="1"/>
          </p:cNvPicPr>
          <p:nvPr/>
        </p:nvPicPr>
        <p:blipFill>
          <a:blip r:embed="rId2"/>
          <a:stretch>
            <a:fillRect/>
          </a:stretch>
        </p:blipFill>
        <p:spPr>
          <a:xfrm>
            <a:off x="1478141" y="1802139"/>
            <a:ext cx="9235718" cy="3963662"/>
          </a:xfrm>
          <a:prstGeom prst="rect">
            <a:avLst/>
          </a:prstGeom>
        </p:spPr>
      </p:pic>
      <p:sp>
        <p:nvSpPr>
          <p:cNvPr id="6" name="Rectangle 5">
            <a:extLst>
              <a:ext uri="{FF2B5EF4-FFF2-40B4-BE49-F238E27FC236}">
                <a16:creationId xmlns:a16="http://schemas.microsoft.com/office/drawing/2014/main" id="{CA285995-662B-4674-8A0D-792D5F790ED3}"/>
              </a:ext>
            </a:extLst>
          </p:cNvPr>
          <p:cNvSpPr/>
          <p:nvPr/>
        </p:nvSpPr>
        <p:spPr>
          <a:xfrm>
            <a:off x="7104325" y="6492875"/>
            <a:ext cx="5087675" cy="369332"/>
          </a:xfrm>
          <a:prstGeom prst="rect">
            <a:avLst/>
          </a:prstGeom>
        </p:spPr>
        <p:txBody>
          <a:bodyPr wrap="none">
            <a:spAutoFit/>
          </a:bodyPr>
          <a:lstStyle/>
          <a:p>
            <a:r>
              <a:rPr lang="zh-CN" altLang="en-US" dirty="0">
                <a:hlinkClick r:id="rId3"/>
              </a:rPr>
              <a:t>https://www.cnblogs.com/shine-lee/p/10950963.html</a:t>
            </a:r>
            <a:endParaRPr lang="zh-CN" altLang="en-US" dirty="0"/>
          </a:p>
        </p:txBody>
      </p:sp>
    </p:spTree>
    <p:extLst>
      <p:ext uri="{BB962C8B-B14F-4D97-AF65-F5344CB8AC3E}">
        <p14:creationId xmlns:p14="http://schemas.microsoft.com/office/powerpoint/2010/main" val="1820082867"/>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A513A-5B46-4BF4-B22C-7A0E5EF024CC}"/>
              </a:ext>
            </a:extLst>
          </p:cNvPr>
          <p:cNvSpPr>
            <a:spLocks noGrp="1"/>
          </p:cNvSpPr>
          <p:nvPr>
            <p:ph type="title"/>
          </p:nvPr>
        </p:nvSpPr>
        <p:spPr/>
        <p:txBody>
          <a:bodyPr/>
          <a:lstStyle/>
          <a:p>
            <a:r>
              <a:rPr lang="zh-CN" altLang="en-US" b="1" dirty="0"/>
              <a:t>坐标变换</a:t>
            </a:r>
          </a:p>
        </p:txBody>
      </p:sp>
      <p:sp>
        <p:nvSpPr>
          <p:cNvPr id="3" name="Content Placeholder 2">
            <a:extLst>
              <a:ext uri="{FF2B5EF4-FFF2-40B4-BE49-F238E27FC236}">
                <a16:creationId xmlns:a16="http://schemas.microsoft.com/office/drawing/2014/main" id="{CC64E120-C06C-47B9-B082-5426776C7972}"/>
              </a:ext>
            </a:extLst>
          </p:cNvPr>
          <p:cNvSpPr>
            <a:spLocks noGrp="1"/>
          </p:cNvSpPr>
          <p:nvPr>
            <p:ph idx="1"/>
          </p:nvPr>
        </p:nvSpPr>
        <p:spPr/>
        <p:txBody>
          <a:bodyPr/>
          <a:lstStyle/>
          <a:p>
            <a:endParaRPr lang="zh-CN" altLang="en-US"/>
          </a:p>
        </p:txBody>
      </p:sp>
      <p:pic>
        <p:nvPicPr>
          <p:cNvPr id="5" name="Picture 4">
            <a:extLst>
              <a:ext uri="{FF2B5EF4-FFF2-40B4-BE49-F238E27FC236}">
                <a16:creationId xmlns:a16="http://schemas.microsoft.com/office/drawing/2014/main" id="{C0074EAC-C46D-481B-8932-A98948573777}"/>
              </a:ext>
            </a:extLst>
          </p:cNvPr>
          <p:cNvPicPr>
            <a:picLocks noChangeAspect="1"/>
          </p:cNvPicPr>
          <p:nvPr/>
        </p:nvPicPr>
        <p:blipFill>
          <a:blip r:embed="rId2"/>
          <a:stretch>
            <a:fillRect/>
          </a:stretch>
        </p:blipFill>
        <p:spPr>
          <a:xfrm>
            <a:off x="1982875" y="2108993"/>
            <a:ext cx="8226250" cy="3784601"/>
          </a:xfrm>
          <a:prstGeom prst="rect">
            <a:avLst/>
          </a:prstGeom>
        </p:spPr>
      </p:pic>
      <p:sp>
        <p:nvSpPr>
          <p:cNvPr id="6" name="Rectangle 5">
            <a:extLst>
              <a:ext uri="{FF2B5EF4-FFF2-40B4-BE49-F238E27FC236}">
                <a16:creationId xmlns:a16="http://schemas.microsoft.com/office/drawing/2014/main" id="{E62386DD-D35D-457A-8526-3A4A4E49F3EB}"/>
              </a:ext>
            </a:extLst>
          </p:cNvPr>
          <p:cNvSpPr/>
          <p:nvPr/>
        </p:nvSpPr>
        <p:spPr>
          <a:xfrm>
            <a:off x="7104325" y="6492875"/>
            <a:ext cx="5087675" cy="369332"/>
          </a:xfrm>
          <a:prstGeom prst="rect">
            <a:avLst/>
          </a:prstGeom>
        </p:spPr>
        <p:txBody>
          <a:bodyPr wrap="none">
            <a:spAutoFit/>
          </a:bodyPr>
          <a:lstStyle/>
          <a:p>
            <a:r>
              <a:rPr lang="zh-CN" altLang="en-US" dirty="0">
                <a:hlinkClick r:id="rId3"/>
              </a:rPr>
              <a:t>https://www.cnblogs.com/shine-lee/p/10950963.html</a:t>
            </a:r>
            <a:endParaRPr lang="zh-CN" altLang="en-US" dirty="0"/>
          </a:p>
        </p:txBody>
      </p:sp>
    </p:spTree>
    <p:extLst>
      <p:ext uri="{BB962C8B-B14F-4D97-AF65-F5344CB8AC3E}">
        <p14:creationId xmlns:p14="http://schemas.microsoft.com/office/powerpoint/2010/main" val="3274539602"/>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4B03D-72EC-4C30-A10C-F9BEB2BA9819}"/>
              </a:ext>
            </a:extLst>
          </p:cNvPr>
          <p:cNvSpPr>
            <a:spLocks noGrp="1"/>
          </p:cNvSpPr>
          <p:nvPr>
            <p:ph type="title"/>
          </p:nvPr>
        </p:nvSpPr>
        <p:spPr/>
        <p:txBody>
          <a:bodyPr/>
          <a:lstStyle/>
          <a:p>
            <a:r>
              <a:rPr lang="zh-CN" altLang="en-US" b="1" dirty="0"/>
              <a:t>坐标变换的自由度</a:t>
            </a:r>
          </a:p>
        </p:txBody>
      </p:sp>
      <p:sp>
        <p:nvSpPr>
          <p:cNvPr id="3" name="Content Placeholder 2">
            <a:extLst>
              <a:ext uri="{FF2B5EF4-FFF2-40B4-BE49-F238E27FC236}">
                <a16:creationId xmlns:a16="http://schemas.microsoft.com/office/drawing/2014/main" id="{CF5AC785-90B3-44DD-B48D-4AFF4DCFC66E}"/>
              </a:ext>
            </a:extLst>
          </p:cNvPr>
          <p:cNvSpPr>
            <a:spLocks noGrp="1"/>
          </p:cNvSpPr>
          <p:nvPr>
            <p:ph idx="1"/>
          </p:nvPr>
        </p:nvSpPr>
        <p:spPr>
          <a:xfrm>
            <a:off x="838199" y="1825625"/>
            <a:ext cx="5875867" cy="4351338"/>
          </a:xfrm>
        </p:spPr>
        <p:txBody>
          <a:bodyPr>
            <a:normAutofit fontScale="92500" lnSpcReduction="10000"/>
          </a:bodyPr>
          <a:lstStyle/>
          <a:p>
            <a:r>
              <a:rPr lang="en-US" altLang="zh-CN" b="1" dirty="0"/>
              <a:t>Translation</a:t>
            </a:r>
            <a:r>
              <a:rPr lang="en-US" altLang="zh-CN" dirty="0"/>
              <a:t>: 2</a:t>
            </a:r>
          </a:p>
          <a:p>
            <a:endParaRPr lang="en-US" altLang="zh-CN" b="1" dirty="0"/>
          </a:p>
          <a:p>
            <a:endParaRPr lang="en-US" altLang="zh-CN" b="1" dirty="0"/>
          </a:p>
          <a:p>
            <a:endParaRPr lang="en-US" altLang="zh-CN" b="1" dirty="0"/>
          </a:p>
          <a:p>
            <a:r>
              <a:rPr lang="en-US" altLang="zh-CN" b="1" dirty="0"/>
              <a:t>Euclidean</a:t>
            </a:r>
            <a:r>
              <a:rPr lang="en-US" altLang="zh-CN" dirty="0"/>
              <a:t> (rotation + translation) : 3</a:t>
            </a:r>
          </a:p>
          <a:p>
            <a:endParaRPr lang="en-US" altLang="zh-CN" b="1" dirty="0"/>
          </a:p>
          <a:p>
            <a:endParaRPr lang="en-US" altLang="zh-CN" b="1" dirty="0"/>
          </a:p>
          <a:p>
            <a:endParaRPr lang="en-US" altLang="zh-CN" b="1" dirty="0"/>
          </a:p>
          <a:p>
            <a:r>
              <a:rPr lang="en-US" altLang="zh-CN" b="1" dirty="0"/>
              <a:t>Similarity </a:t>
            </a:r>
            <a:r>
              <a:rPr lang="en-US" altLang="zh-CN" dirty="0"/>
              <a:t>(uniform scaling + rotation + translation) : 4</a:t>
            </a:r>
            <a:endParaRPr lang="zh-CN" altLang="en-US" b="1" dirty="0"/>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CF4FBFA9-727B-4AAF-A641-0F72D3238ABE}"/>
                  </a:ext>
                </a:extLst>
              </p:cNvPr>
              <p:cNvSpPr/>
              <p:nvPr/>
            </p:nvSpPr>
            <p:spPr>
              <a:xfrm>
                <a:off x="2193348" y="2238344"/>
                <a:ext cx="1740798" cy="112954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400" i="1">
                              <a:latin typeface="Cambria Math" panose="02040503050406030204" pitchFamily="18" charset="0"/>
                            </a:rPr>
                          </m:ctrlPr>
                        </m:dPr>
                        <m:e>
                          <m:m>
                            <m:mPr>
                              <m:mcs>
                                <m:mc>
                                  <m:mcPr>
                                    <m:count m:val="3"/>
                                    <m:mcJc m:val="center"/>
                                  </m:mcPr>
                                </m:mc>
                              </m:mcs>
                              <m:ctrlPr>
                                <a:rPr lang="en-US" altLang="zh-CN" sz="2400" i="1">
                                  <a:latin typeface="Cambria Math" panose="02040503050406030204" pitchFamily="18" charset="0"/>
                                </a:rPr>
                              </m:ctrlPr>
                            </m:mPr>
                            <m:mr>
                              <m:e>
                                <m:r>
                                  <a:rPr lang="en-US" altLang="zh-CN" sz="2400" i="1">
                                    <a:latin typeface="Cambria Math" panose="02040503050406030204" pitchFamily="18" charset="0"/>
                                  </a:rPr>
                                  <m:t>1</m:t>
                                </m:r>
                              </m:e>
                              <m:e>
                                <m:r>
                                  <a:rPr lang="en-US" altLang="zh-CN" sz="2400" i="1">
                                    <a:latin typeface="Cambria Math" panose="02040503050406030204" pitchFamily="18" charset="0"/>
                                  </a:rPr>
                                  <m:t>0</m:t>
                                </m:r>
                              </m:e>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𝑡</m:t>
                                    </m:r>
                                  </m:e>
                                  <m:sub>
                                    <m:r>
                                      <a:rPr lang="en-US" altLang="zh-CN" sz="2400" i="1">
                                        <a:latin typeface="Cambria Math" panose="02040503050406030204" pitchFamily="18" charset="0"/>
                                      </a:rPr>
                                      <m:t>𝑥</m:t>
                                    </m:r>
                                  </m:sub>
                                </m:sSub>
                              </m:e>
                            </m:mr>
                            <m:mr>
                              <m:e>
                                <m:r>
                                  <a:rPr lang="en-US" altLang="zh-CN" sz="2400" i="1">
                                    <a:latin typeface="Cambria Math" panose="02040503050406030204" pitchFamily="18" charset="0"/>
                                  </a:rPr>
                                  <m:t>0</m:t>
                                </m:r>
                              </m:e>
                              <m:e>
                                <m:r>
                                  <a:rPr lang="en-US" altLang="zh-CN" sz="2400" i="1">
                                    <a:latin typeface="Cambria Math" panose="02040503050406030204" pitchFamily="18" charset="0"/>
                                  </a:rPr>
                                  <m:t>1</m:t>
                                </m:r>
                              </m:e>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𝑡</m:t>
                                    </m:r>
                                  </m:e>
                                  <m:sub>
                                    <m:r>
                                      <a:rPr lang="en-US" altLang="zh-CN" sz="2400" i="1">
                                        <a:latin typeface="Cambria Math" panose="02040503050406030204" pitchFamily="18" charset="0"/>
                                      </a:rPr>
                                      <m:t>𝑦</m:t>
                                    </m:r>
                                  </m:sub>
                                </m:sSub>
                              </m:e>
                            </m:mr>
                            <m:mr>
                              <m:e>
                                <m:r>
                                  <a:rPr lang="en-US" altLang="zh-CN" sz="2400" i="1">
                                    <a:latin typeface="Cambria Math" panose="02040503050406030204" pitchFamily="18" charset="0"/>
                                  </a:rPr>
                                  <m:t>0</m:t>
                                </m:r>
                              </m:e>
                              <m:e>
                                <m:r>
                                  <a:rPr lang="en-US" altLang="zh-CN" sz="2400" i="1">
                                    <a:latin typeface="Cambria Math" panose="02040503050406030204" pitchFamily="18" charset="0"/>
                                  </a:rPr>
                                  <m:t>0</m:t>
                                </m:r>
                              </m:e>
                              <m:e>
                                <m:r>
                                  <a:rPr lang="en-US" altLang="zh-CN" sz="2400" i="1">
                                    <a:latin typeface="Cambria Math" panose="02040503050406030204" pitchFamily="18" charset="0"/>
                                  </a:rPr>
                                  <m:t>1</m:t>
                                </m:r>
                              </m:e>
                            </m:mr>
                          </m:m>
                        </m:e>
                      </m:d>
                    </m:oMath>
                  </m:oMathPara>
                </a14:m>
                <a:endParaRPr lang="zh-CN" altLang="en-US" sz="2400" dirty="0"/>
              </a:p>
            </p:txBody>
          </p:sp>
        </mc:Choice>
        <mc:Fallback xmlns="">
          <p:sp>
            <p:nvSpPr>
              <p:cNvPr id="4" name="Rectangle 3">
                <a:extLst>
                  <a:ext uri="{FF2B5EF4-FFF2-40B4-BE49-F238E27FC236}">
                    <a16:creationId xmlns:a16="http://schemas.microsoft.com/office/drawing/2014/main" id="{CF4FBFA9-727B-4AAF-A641-0F72D3238ABE}"/>
                  </a:ext>
                </a:extLst>
              </p:cNvPr>
              <p:cNvSpPr>
                <a:spLocks noRot="1" noChangeAspect="1" noMove="1" noResize="1" noEditPoints="1" noAdjustHandles="1" noChangeArrowheads="1" noChangeShapeType="1" noTextEdit="1"/>
              </p:cNvSpPr>
              <p:nvPr/>
            </p:nvSpPr>
            <p:spPr>
              <a:xfrm>
                <a:off x="2193348" y="2238344"/>
                <a:ext cx="1740798" cy="1129540"/>
              </a:xfrm>
              <a:prstGeom prst="rect">
                <a:avLst/>
              </a:prstGeom>
              <a:blipFill>
                <a:blip r:embed="rId2"/>
                <a:stretch>
                  <a:fillRect/>
                </a:stretch>
              </a:blipFill>
            </p:spPr>
            <p:txBody>
              <a:bodyPr/>
              <a:lstStyle/>
              <a:p>
                <a:r>
                  <a:rPr lang="zh-CN" altLang="en-US">
                    <a:noFill/>
                  </a:rPr>
                  <a:t> </a:t>
                </a:r>
              </a:p>
            </p:txBody>
          </p:sp>
        </mc:Fallback>
      </mc:AlternateContent>
      <p:pic>
        <p:nvPicPr>
          <p:cNvPr id="5" name="Picture 2" descr="Basic set of 2D planar transformations">
            <a:extLst>
              <a:ext uri="{FF2B5EF4-FFF2-40B4-BE49-F238E27FC236}">
                <a16:creationId xmlns:a16="http://schemas.microsoft.com/office/drawing/2014/main" id="{DD4A807A-07E5-495B-8E03-BCE4ACC90D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14066" y="2951122"/>
            <a:ext cx="5149930" cy="182407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2CB0C3B1-E41C-4498-9B5C-4525BAED4180}"/>
                  </a:ext>
                </a:extLst>
              </p:cNvPr>
              <p:cNvSpPr/>
              <p:nvPr/>
            </p:nvSpPr>
            <p:spPr>
              <a:xfrm>
                <a:off x="1641691" y="4001294"/>
                <a:ext cx="2844112" cy="113582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400" i="1">
                              <a:latin typeface="Cambria Math" panose="02040503050406030204" pitchFamily="18" charset="0"/>
                            </a:rPr>
                          </m:ctrlPr>
                        </m:dPr>
                        <m:e>
                          <m:m>
                            <m:mPr>
                              <m:mcs>
                                <m:mc>
                                  <m:mcPr>
                                    <m:count m:val="3"/>
                                    <m:mcJc m:val="center"/>
                                  </m:mcPr>
                                </m:mc>
                              </m:mcs>
                              <m:ctrlPr>
                                <a:rPr lang="en-US" altLang="zh-CN" sz="2400" i="1">
                                  <a:latin typeface="Cambria Math" panose="02040503050406030204" pitchFamily="18" charset="0"/>
                                </a:rPr>
                              </m:ctrlPr>
                            </m:mPr>
                            <m:mr>
                              <m:e>
                                <m:r>
                                  <m:rPr>
                                    <m:sty m:val="p"/>
                                  </m:rPr>
                                  <a:rPr lang="en-US" altLang="zh-CN" sz="2400">
                                    <a:latin typeface="Cambria Math" panose="02040503050406030204" pitchFamily="18" charset="0"/>
                                  </a:rPr>
                                  <m:t>cos</m:t>
                                </m:r>
                                <m:r>
                                  <a:rPr lang="zh-CN" altLang="en-US" sz="2400" i="1">
                                    <a:latin typeface="Cambria Math" panose="02040503050406030204" pitchFamily="18" charset="0"/>
                                  </a:rPr>
                                  <m:t>𝜃</m:t>
                                </m:r>
                              </m:e>
                              <m:e>
                                <m:r>
                                  <a:rPr lang="en-US" altLang="zh-CN" sz="2400" i="1">
                                    <a:latin typeface="Cambria Math" panose="02040503050406030204" pitchFamily="18" charset="0"/>
                                  </a:rPr>
                                  <m:t>−</m:t>
                                </m:r>
                                <m:r>
                                  <a:rPr lang="en-US" altLang="zh-CN" sz="2400" i="1">
                                    <a:latin typeface="Cambria Math" panose="02040503050406030204" pitchFamily="18" charset="0"/>
                                  </a:rPr>
                                  <m:t>𝑠𝑖𝑛</m:t>
                                </m:r>
                                <m:r>
                                  <a:rPr lang="zh-CN" altLang="en-US" sz="2400" i="1">
                                    <a:latin typeface="Cambria Math" panose="02040503050406030204" pitchFamily="18" charset="0"/>
                                  </a:rPr>
                                  <m:t>𝜃</m:t>
                                </m:r>
                              </m:e>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𝑡</m:t>
                                    </m:r>
                                  </m:e>
                                  <m:sub>
                                    <m:r>
                                      <a:rPr lang="en-US" altLang="zh-CN" sz="2400" i="1">
                                        <a:latin typeface="Cambria Math" panose="02040503050406030204" pitchFamily="18" charset="0"/>
                                      </a:rPr>
                                      <m:t>𝑥</m:t>
                                    </m:r>
                                  </m:sub>
                                </m:sSub>
                              </m:e>
                            </m:mr>
                            <m:mr>
                              <m:e>
                                <m:r>
                                  <m:rPr>
                                    <m:sty m:val="p"/>
                                  </m:rPr>
                                  <a:rPr lang="en-US" altLang="zh-CN" sz="2400">
                                    <a:latin typeface="Cambria Math" panose="02040503050406030204" pitchFamily="18" charset="0"/>
                                  </a:rPr>
                                  <m:t>sin</m:t>
                                </m:r>
                                <m:r>
                                  <a:rPr lang="zh-CN" altLang="en-US" sz="2400" i="1">
                                    <a:latin typeface="Cambria Math" panose="02040503050406030204" pitchFamily="18" charset="0"/>
                                  </a:rPr>
                                  <m:t>𝜃</m:t>
                                </m:r>
                              </m:e>
                              <m:e>
                                <m:r>
                                  <m:rPr>
                                    <m:sty m:val="p"/>
                                  </m:rPr>
                                  <a:rPr lang="en-US" altLang="zh-CN" sz="2400">
                                    <a:latin typeface="Cambria Math" panose="02040503050406030204" pitchFamily="18" charset="0"/>
                                  </a:rPr>
                                  <m:t>cos</m:t>
                                </m:r>
                                <m:r>
                                  <a:rPr lang="zh-CN" altLang="en-US" sz="2400" i="1">
                                    <a:latin typeface="Cambria Math" panose="02040503050406030204" pitchFamily="18" charset="0"/>
                                  </a:rPr>
                                  <m:t>𝜃</m:t>
                                </m:r>
                              </m:e>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𝑡</m:t>
                                    </m:r>
                                  </m:e>
                                  <m:sub>
                                    <m:r>
                                      <a:rPr lang="en-US" altLang="zh-CN" sz="2400" i="1">
                                        <a:latin typeface="Cambria Math" panose="02040503050406030204" pitchFamily="18" charset="0"/>
                                      </a:rPr>
                                      <m:t>𝑦</m:t>
                                    </m:r>
                                  </m:sub>
                                </m:sSub>
                              </m:e>
                            </m:mr>
                            <m:mr>
                              <m:e>
                                <m:r>
                                  <a:rPr lang="en-US" altLang="zh-CN" sz="2400" i="1">
                                    <a:latin typeface="Cambria Math" panose="02040503050406030204" pitchFamily="18" charset="0"/>
                                  </a:rPr>
                                  <m:t>0</m:t>
                                </m:r>
                              </m:e>
                              <m:e>
                                <m:r>
                                  <a:rPr lang="en-US" altLang="zh-CN" sz="2400" i="1">
                                    <a:latin typeface="Cambria Math" panose="02040503050406030204" pitchFamily="18" charset="0"/>
                                  </a:rPr>
                                  <m:t>0</m:t>
                                </m:r>
                              </m:e>
                              <m:e>
                                <m:r>
                                  <a:rPr lang="en-US" altLang="zh-CN" sz="2400" i="1">
                                    <a:latin typeface="Cambria Math" panose="02040503050406030204" pitchFamily="18" charset="0"/>
                                  </a:rPr>
                                  <m:t>1</m:t>
                                </m:r>
                              </m:e>
                            </m:mr>
                          </m:m>
                        </m:e>
                      </m:d>
                    </m:oMath>
                  </m:oMathPara>
                </a14:m>
                <a:endParaRPr lang="zh-CN" altLang="en-US" sz="2400" dirty="0"/>
              </a:p>
            </p:txBody>
          </p:sp>
        </mc:Choice>
        <mc:Fallback xmlns="">
          <p:sp>
            <p:nvSpPr>
              <p:cNvPr id="6" name="Rectangle 5">
                <a:extLst>
                  <a:ext uri="{FF2B5EF4-FFF2-40B4-BE49-F238E27FC236}">
                    <a16:creationId xmlns:a16="http://schemas.microsoft.com/office/drawing/2014/main" id="{2CB0C3B1-E41C-4498-9B5C-4525BAED4180}"/>
                  </a:ext>
                </a:extLst>
              </p:cNvPr>
              <p:cNvSpPr>
                <a:spLocks noRot="1" noChangeAspect="1" noMove="1" noResize="1" noEditPoints="1" noAdjustHandles="1" noChangeArrowheads="1" noChangeShapeType="1" noTextEdit="1"/>
              </p:cNvSpPr>
              <p:nvPr/>
            </p:nvSpPr>
            <p:spPr>
              <a:xfrm>
                <a:off x="1641691" y="4001294"/>
                <a:ext cx="2844112" cy="1135824"/>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19984599"/>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92414-7110-480F-B009-5857C5D82D7D}"/>
              </a:ext>
            </a:extLst>
          </p:cNvPr>
          <p:cNvSpPr>
            <a:spLocks noGrp="1"/>
          </p:cNvSpPr>
          <p:nvPr>
            <p:ph type="title"/>
          </p:nvPr>
        </p:nvSpPr>
        <p:spPr/>
        <p:txBody>
          <a:bodyPr/>
          <a:lstStyle/>
          <a:p>
            <a:r>
              <a:rPr lang="zh-CN" altLang="en-US" b="1" dirty="0"/>
              <a:t>级联变换</a:t>
            </a:r>
            <a:endParaRPr lang="zh-CN" altLang="en-US" dirty="0"/>
          </a:p>
        </p:txBody>
      </p:sp>
      <p:sp>
        <p:nvSpPr>
          <p:cNvPr id="3" name="Content Placeholder 2">
            <a:extLst>
              <a:ext uri="{FF2B5EF4-FFF2-40B4-BE49-F238E27FC236}">
                <a16:creationId xmlns:a16="http://schemas.microsoft.com/office/drawing/2014/main" id="{D6FA83E6-0FD2-42B2-9327-389020038D5F}"/>
              </a:ext>
            </a:extLst>
          </p:cNvPr>
          <p:cNvSpPr>
            <a:spLocks noGrp="1"/>
          </p:cNvSpPr>
          <p:nvPr>
            <p:ph idx="1"/>
          </p:nvPr>
        </p:nvSpPr>
        <p:spPr/>
        <p:txBody>
          <a:bodyPr/>
          <a:lstStyle/>
          <a:p>
            <a:pPr>
              <a:lnSpc>
                <a:spcPct val="120000"/>
              </a:lnSpc>
            </a:pPr>
            <a:r>
              <a:rPr lang="zh-CN" altLang="en-US" dirty="0"/>
              <a:t>当对一个点连续做多种不同的变换时，可以将多种变换的合并为一个矩阵</a:t>
            </a:r>
            <a:endParaRPr lang="en-US" altLang="zh-CN" dirty="0"/>
          </a:p>
          <a:p>
            <a:pPr>
              <a:lnSpc>
                <a:spcPct val="120000"/>
              </a:lnSpc>
            </a:pPr>
            <a:endParaRPr lang="en-US" altLang="zh-CN" dirty="0"/>
          </a:p>
          <a:p>
            <a:pPr>
              <a:lnSpc>
                <a:spcPct val="120000"/>
              </a:lnSpc>
            </a:pPr>
            <a:endParaRPr lang="en-US" altLang="zh-CN" dirty="0"/>
          </a:p>
          <a:p>
            <a:pPr>
              <a:lnSpc>
                <a:spcPct val="120000"/>
              </a:lnSpc>
            </a:pPr>
            <a:endParaRPr lang="en-US" altLang="zh-CN" dirty="0"/>
          </a:p>
          <a:p>
            <a:pPr>
              <a:lnSpc>
                <a:spcPct val="120000"/>
              </a:lnSpc>
            </a:pPr>
            <a:r>
              <a:rPr lang="zh-CN" altLang="en-US" dirty="0"/>
              <a:t>变换的顺序不同，结果是不一样的！</a:t>
            </a: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42A9715F-E194-4AEF-8059-0C8914A6A610}"/>
                  </a:ext>
                </a:extLst>
              </p:cNvPr>
              <p:cNvSpPr/>
              <p:nvPr/>
            </p:nvSpPr>
            <p:spPr>
              <a:xfrm>
                <a:off x="1694378" y="3133460"/>
                <a:ext cx="8803244" cy="130228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800" i="1" smtClean="0">
                              <a:latin typeface="Cambria Math" panose="02040503050406030204" pitchFamily="18" charset="0"/>
                            </a:rPr>
                          </m:ctrlPr>
                        </m:dPr>
                        <m:e>
                          <m:m>
                            <m:mPr>
                              <m:mcs>
                                <m:mc>
                                  <m:mcPr>
                                    <m:count m:val="1"/>
                                    <m:mcJc m:val="center"/>
                                  </m:mcPr>
                                </m:mc>
                              </m:mcs>
                              <m:ctrlPr>
                                <a:rPr lang="en-US" altLang="zh-CN" sz="2800" i="1">
                                  <a:latin typeface="Cambria Math" panose="02040503050406030204" pitchFamily="18" charset="0"/>
                                </a:rPr>
                              </m:ctrlPr>
                            </m:mPr>
                            <m:mr>
                              <m:e>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𝑥</m:t>
                                    </m:r>
                                  </m:e>
                                  <m:sup>
                                    <m:r>
                                      <a:rPr lang="en-US" altLang="zh-CN" sz="2800" i="1">
                                        <a:latin typeface="Cambria Math" panose="02040503050406030204" pitchFamily="18" charset="0"/>
                                      </a:rPr>
                                      <m:t>′</m:t>
                                    </m:r>
                                  </m:sup>
                                </m:sSup>
                              </m:e>
                            </m:mr>
                            <m:mr>
                              <m:e>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𝑦</m:t>
                                    </m:r>
                                  </m:e>
                                  <m:sup>
                                    <m:r>
                                      <a:rPr lang="en-US" altLang="zh-CN" sz="2800" i="1">
                                        <a:latin typeface="Cambria Math" panose="02040503050406030204" pitchFamily="18" charset="0"/>
                                      </a:rPr>
                                      <m:t>′</m:t>
                                    </m:r>
                                  </m:sup>
                                </m:sSup>
                              </m:e>
                            </m:mr>
                            <m:mr>
                              <m:e>
                                <m:r>
                                  <a:rPr lang="en-US" altLang="zh-CN" sz="2800" i="1">
                                    <a:latin typeface="Cambria Math" panose="02040503050406030204" pitchFamily="18" charset="0"/>
                                  </a:rPr>
                                  <m:t>1</m:t>
                                </m:r>
                              </m:e>
                            </m:mr>
                          </m:m>
                        </m:e>
                      </m:d>
                      <m:r>
                        <a:rPr lang="en-US" altLang="zh-CN" sz="2800" i="1">
                          <a:latin typeface="Cambria Math" panose="02040503050406030204" pitchFamily="18" charset="0"/>
                        </a:rPr>
                        <m:t>=</m:t>
                      </m:r>
                      <m:r>
                        <a:rPr lang="en-US" altLang="zh-CN" sz="2800" b="0" i="1" smtClean="0">
                          <a:latin typeface="Cambria Math" panose="02040503050406030204" pitchFamily="18" charset="0"/>
                        </a:rPr>
                        <m:t>(</m:t>
                      </m:r>
                      <m:d>
                        <m:dPr>
                          <m:begChr m:val="["/>
                          <m:endChr m:val="]"/>
                          <m:ctrlPr>
                            <a:rPr lang="en-US" altLang="zh-CN" sz="2800" i="1">
                              <a:latin typeface="Cambria Math" panose="02040503050406030204" pitchFamily="18" charset="0"/>
                            </a:rPr>
                          </m:ctrlPr>
                        </m:dPr>
                        <m:e>
                          <m:m>
                            <m:mPr>
                              <m:mcs>
                                <m:mc>
                                  <m:mcPr>
                                    <m:count m:val="3"/>
                                    <m:mcJc m:val="center"/>
                                  </m:mcPr>
                                </m:mc>
                              </m:mcs>
                              <m:ctrlPr>
                                <a:rPr lang="en-US" altLang="zh-CN" sz="2800" i="1">
                                  <a:latin typeface="Cambria Math" panose="02040503050406030204" pitchFamily="18" charset="0"/>
                                </a:rPr>
                              </m:ctrlPr>
                            </m:mPr>
                            <m:mr>
                              <m:e>
                                <m:r>
                                  <a:rPr lang="en-US" altLang="zh-CN" sz="2800" i="1">
                                    <a:latin typeface="Cambria Math" panose="02040503050406030204" pitchFamily="18" charset="0"/>
                                  </a:rPr>
                                  <m:t>1</m:t>
                                </m:r>
                              </m:e>
                              <m:e>
                                <m:r>
                                  <a:rPr lang="en-US" altLang="zh-CN" sz="2800" i="1">
                                    <a:latin typeface="Cambria Math" panose="02040503050406030204" pitchFamily="18" charset="0"/>
                                  </a:rPr>
                                  <m:t>0</m:t>
                                </m:r>
                              </m:e>
                              <m:e>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𝑡</m:t>
                                    </m:r>
                                  </m:e>
                                  <m:sub>
                                    <m:r>
                                      <a:rPr lang="en-US" altLang="zh-CN" sz="2800" i="1">
                                        <a:latin typeface="Cambria Math" panose="02040503050406030204" pitchFamily="18" charset="0"/>
                                      </a:rPr>
                                      <m:t>𝑥</m:t>
                                    </m:r>
                                  </m:sub>
                                </m:sSub>
                              </m:e>
                            </m:mr>
                            <m:mr>
                              <m:e>
                                <m:r>
                                  <a:rPr lang="en-US" altLang="zh-CN" sz="2800" i="1">
                                    <a:latin typeface="Cambria Math" panose="02040503050406030204" pitchFamily="18" charset="0"/>
                                  </a:rPr>
                                  <m:t>0</m:t>
                                </m:r>
                              </m:e>
                              <m:e>
                                <m:r>
                                  <a:rPr lang="en-US" altLang="zh-CN" sz="2800" i="1">
                                    <a:latin typeface="Cambria Math" panose="02040503050406030204" pitchFamily="18" charset="0"/>
                                  </a:rPr>
                                  <m:t>1</m:t>
                                </m:r>
                              </m:e>
                              <m:e>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𝑡</m:t>
                                    </m:r>
                                  </m:e>
                                  <m:sub>
                                    <m:r>
                                      <a:rPr lang="en-US" altLang="zh-CN" sz="2800" i="1">
                                        <a:latin typeface="Cambria Math" panose="02040503050406030204" pitchFamily="18" charset="0"/>
                                      </a:rPr>
                                      <m:t>𝑦</m:t>
                                    </m:r>
                                  </m:sub>
                                </m:sSub>
                              </m:e>
                            </m:mr>
                            <m:mr>
                              <m:e>
                                <m:r>
                                  <a:rPr lang="en-US" altLang="zh-CN" sz="2800" i="1">
                                    <a:latin typeface="Cambria Math" panose="02040503050406030204" pitchFamily="18" charset="0"/>
                                  </a:rPr>
                                  <m:t>0</m:t>
                                </m:r>
                              </m:e>
                              <m:e>
                                <m:r>
                                  <a:rPr lang="en-US" altLang="zh-CN" sz="2800" i="1">
                                    <a:latin typeface="Cambria Math" panose="02040503050406030204" pitchFamily="18" charset="0"/>
                                  </a:rPr>
                                  <m:t>0</m:t>
                                </m:r>
                              </m:e>
                              <m:e>
                                <m:r>
                                  <a:rPr lang="en-US" altLang="zh-CN" sz="2800" i="1">
                                    <a:latin typeface="Cambria Math" panose="02040503050406030204" pitchFamily="18" charset="0"/>
                                  </a:rPr>
                                  <m:t>1</m:t>
                                </m:r>
                              </m:e>
                            </m:mr>
                          </m:m>
                        </m:e>
                      </m:d>
                      <m:d>
                        <m:dPr>
                          <m:begChr m:val="["/>
                          <m:endChr m:val="]"/>
                          <m:ctrlPr>
                            <a:rPr lang="en-US" altLang="zh-CN" sz="2800" i="1">
                              <a:latin typeface="Cambria Math" panose="02040503050406030204" pitchFamily="18" charset="0"/>
                            </a:rPr>
                          </m:ctrlPr>
                        </m:dPr>
                        <m:e>
                          <m:m>
                            <m:mPr>
                              <m:mcs>
                                <m:mc>
                                  <m:mcPr>
                                    <m:count m:val="3"/>
                                    <m:mcJc m:val="center"/>
                                  </m:mcPr>
                                </m:mc>
                              </m:mcs>
                              <m:ctrlPr>
                                <a:rPr lang="en-US" altLang="zh-CN" sz="2800" i="1">
                                  <a:latin typeface="Cambria Math" panose="02040503050406030204" pitchFamily="18" charset="0"/>
                                </a:rPr>
                              </m:ctrlPr>
                            </m:mPr>
                            <m:mr>
                              <m:e>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𝑠</m:t>
                                    </m:r>
                                  </m:e>
                                  <m:sub>
                                    <m:r>
                                      <a:rPr lang="en-US" altLang="zh-CN" sz="2800" i="1">
                                        <a:latin typeface="Cambria Math" panose="02040503050406030204" pitchFamily="18" charset="0"/>
                                      </a:rPr>
                                      <m:t>𝑥</m:t>
                                    </m:r>
                                  </m:sub>
                                </m:sSub>
                              </m:e>
                              <m:e>
                                <m:r>
                                  <a:rPr lang="en-US" altLang="zh-CN" sz="2800" i="1">
                                    <a:latin typeface="Cambria Math" panose="02040503050406030204" pitchFamily="18" charset="0"/>
                                  </a:rPr>
                                  <m:t>0</m:t>
                                </m:r>
                              </m:e>
                              <m:e>
                                <m:r>
                                  <a:rPr lang="en-US" altLang="zh-CN" sz="2800" i="1">
                                    <a:latin typeface="Cambria Math" panose="02040503050406030204" pitchFamily="18" charset="0"/>
                                  </a:rPr>
                                  <m:t>0</m:t>
                                </m:r>
                              </m:e>
                            </m:mr>
                            <m:mr>
                              <m:e>
                                <m:r>
                                  <a:rPr lang="en-US" altLang="zh-CN" sz="2800" i="1">
                                    <a:latin typeface="Cambria Math" panose="02040503050406030204" pitchFamily="18" charset="0"/>
                                  </a:rPr>
                                  <m:t>0</m:t>
                                </m:r>
                              </m:e>
                              <m:e>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𝑠</m:t>
                                    </m:r>
                                  </m:e>
                                  <m:sub>
                                    <m:r>
                                      <a:rPr lang="en-US" altLang="zh-CN" sz="2800" i="1">
                                        <a:latin typeface="Cambria Math" panose="02040503050406030204" pitchFamily="18" charset="0"/>
                                      </a:rPr>
                                      <m:t>𝑦</m:t>
                                    </m:r>
                                  </m:sub>
                                </m:sSub>
                              </m:e>
                              <m:e>
                                <m:r>
                                  <a:rPr lang="en-US" altLang="zh-CN" sz="2800" i="1">
                                    <a:latin typeface="Cambria Math" panose="02040503050406030204" pitchFamily="18" charset="0"/>
                                  </a:rPr>
                                  <m:t>0</m:t>
                                </m:r>
                              </m:e>
                            </m:mr>
                            <m:mr>
                              <m:e>
                                <m:r>
                                  <a:rPr lang="en-US" altLang="zh-CN" sz="2800" i="1">
                                    <a:latin typeface="Cambria Math" panose="02040503050406030204" pitchFamily="18" charset="0"/>
                                  </a:rPr>
                                  <m:t>0</m:t>
                                </m:r>
                              </m:e>
                              <m:e>
                                <m:r>
                                  <a:rPr lang="en-US" altLang="zh-CN" sz="2800" i="1">
                                    <a:latin typeface="Cambria Math" panose="02040503050406030204" pitchFamily="18" charset="0"/>
                                  </a:rPr>
                                  <m:t>0</m:t>
                                </m:r>
                              </m:e>
                              <m:e>
                                <m:r>
                                  <a:rPr lang="en-US" altLang="zh-CN" sz="2800" i="1">
                                    <a:latin typeface="Cambria Math" panose="02040503050406030204" pitchFamily="18" charset="0"/>
                                  </a:rPr>
                                  <m:t>1</m:t>
                                </m:r>
                              </m:e>
                            </m:mr>
                          </m:m>
                        </m:e>
                      </m:d>
                      <m:d>
                        <m:dPr>
                          <m:begChr m:val="["/>
                          <m:endChr m:val="]"/>
                          <m:ctrlPr>
                            <a:rPr lang="en-US" altLang="zh-CN" sz="2800" i="1">
                              <a:latin typeface="Cambria Math" panose="02040503050406030204" pitchFamily="18" charset="0"/>
                            </a:rPr>
                          </m:ctrlPr>
                        </m:dPr>
                        <m:e>
                          <m:m>
                            <m:mPr>
                              <m:mcs>
                                <m:mc>
                                  <m:mcPr>
                                    <m:count m:val="3"/>
                                    <m:mcJc m:val="center"/>
                                  </m:mcPr>
                                </m:mc>
                              </m:mcs>
                              <m:ctrlPr>
                                <a:rPr lang="en-US" altLang="zh-CN" sz="2800" i="1">
                                  <a:latin typeface="Cambria Math" panose="02040503050406030204" pitchFamily="18" charset="0"/>
                                </a:rPr>
                              </m:ctrlPr>
                            </m:mPr>
                            <m:mr>
                              <m:e>
                                <m:r>
                                  <m:rPr>
                                    <m:sty m:val="p"/>
                                  </m:rPr>
                                  <a:rPr lang="en-US" altLang="zh-CN" sz="2800">
                                    <a:latin typeface="Cambria Math" panose="02040503050406030204" pitchFamily="18" charset="0"/>
                                  </a:rPr>
                                  <m:t>cos</m:t>
                                </m:r>
                                <m:r>
                                  <a:rPr lang="zh-CN" altLang="en-US" sz="2800" i="1">
                                    <a:latin typeface="Cambria Math" panose="02040503050406030204" pitchFamily="18" charset="0"/>
                                  </a:rPr>
                                  <m:t>𝜃</m:t>
                                </m:r>
                              </m:e>
                              <m:e>
                                <m:r>
                                  <a:rPr lang="en-US" altLang="zh-CN" sz="2800" i="1">
                                    <a:latin typeface="Cambria Math" panose="02040503050406030204" pitchFamily="18" charset="0"/>
                                  </a:rPr>
                                  <m:t>−</m:t>
                                </m:r>
                                <m:r>
                                  <a:rPr lang="en-US" altLang="zh-CN" sz="2800" i="1">
                                    <a:latin typeface="Cambria Math" panose="02040503050406030204" pitchFamily="18" charset="0"/>
                                  </a:rPr>
                                  <m:t>𝑠𝑖𝑛</m:t>
                                </m:r>
                                <m:r>
                                  <a:rPr lang="zh-CN" altLang="en-US" sz="2800" i="1">
                                    <a:latin typeface="Cambria Math" panose="02040503050406030204" pitchFamily="18" charset="0"/>
                                  </a:rPr>
                                  <m:t>𝜃</m:t>
                                </m:r>
                              </m:e>
                              <m:e>
                                <m:r>
                                  <a:rPr lang="en-US" altLang="zh-CN" sz="2800" i="1">
                                    <a:latin typeface="Cambria Math" panose="02040503050406030204" pitchFamily="18" charset="0"/>
                                  </a:rPr>
                                  <m:t>0</m:t>
                                </m:r>
                              </m:e>
                            </m:mr>
                            <m:mr>
                              <m:e>
                                <m:r>
                                  <m:rPr>
                                    <m:sty m:val="p"/>
                                  </m:rPr>
                                  <a:rPr lang="en-US" altLang="zh-CN" sz="2800">
                                    <a:latin typeface="Cambria Math" panose="02040503050406030204" pitchFamily="18" charset="0"/>
                                  </a:rPr>
                                  <m:t>sin</m:t>
                                </m:r>
                                <m:r>
                                  <a:rPr lang="zh-CN" altLang="en-US" sz="2800" i="1">
                                    <a:latin typeface="Cambria Math" panose="02040503050406030204" pitchFamily="18" charset="0"/>
                                  </a:rPr>
                                  <m:t>𝜃</m:t>
                                </m:r>
                              </m:e>
                              <m:e>
                                <m:r>
                                  <m:rPr>
                                    <m:sty m:val="p"/>
                                  </m:rPr>
                                  <a:rPr lang="en-US" altLang="zh-CN" sz="2800">
                                    <a:latin typeface="Cambria Math" panose="02040503050406030204" pitchFamily="18" charset="0"/>
                                  </a:rPr>
                                  <m:t>cos</m:t>
                                </m:r>
                                <m:r>
                                  <a:rPr lang="zh-CN" altLang="en-US" sz="2800" i="1">
                                    <a:latin typeface="Cambria Math" panose="02040503050406030204" pitchFamily="18" charset="0"/>
                                  </a:rPr>
                                  <m:t>𝜃</m:t>
                                </m:r>
                              </m:e>
                              <m:e>
                                <m:r>
                                  <a:rPr lang="en-US" altLang="zh-CN" sz="2800" i="1">
                                    <a:latin typeface="Cambria Math" panose="02040503050406030204" pitchFamily="18" charset="0"/>
                                  </a:rPr>
                                  <m:t>0</m:t>
                                </m:r>
                              </m:e>
                            </m:mr>
                            <m:mr>
                              <m:e>
                                <m:r>
                                  <a:rPr lang="en-US" altLang="zh-CN" sz="2800" i="1">
                                    <a:latin typeface="Cambria Math" panose="02040503050406030204" pitchFamily="18" charset="0"/>
                                  </a:rPr>
                                  <m:t>0</m:t>
                                </m:r>
                              </m:e>
                              <m:e>
                                <m:r>
                                  <a:rPr lang="en-US" altLang="zh-CN" sz="2800" i="1">
                                    <a:latin typeface="Cambria Math" panose="02040503050406030204" pitchFamily="18" charset="0"/>
                                  </a:rPr>
                                  <m:t>0</m:t>
                                </m:r>
                              </m:e>
                              <m:e>
                                <m:r>
                                  <a:rPr lang="en-US" altLang="zh-CN" sz="2800" i="1">
                                    <a:latin typeface="Cambria Math" panose="02040503050406030204" pitchFamily="18" charset="0"/>
                                  </a:rPr>
                                  <m:t>1</m:t>
                                </m:r>
                              </m:e>
                            </m:mr>
                          </m:m>
                        </m:e>
                      </m:d>
                      <m:r>
                        <a:rPr lang="en-US" altLang="zh-CN" sz="2800" b="0" i="1" smtClean="0">
                          <a:latin typeface="Cambria Math" panose="02040503050406030204" pitchFamily="18" charset="0"/>
                        </a:rPr>
                        <m:t>)</m:t>
                      </m:r>
                      <m:d>
                        <m:dPr>
                          <m:begChr m:val="["/>
                          <m:endChr m:val="]"/>
                          <m:ctrlPr>
                            <a:rPr lang="en-US" altLang="zh-CN" sz="2800" i="1">
                              <a:latin typeface="Cambria Math" panose="02040503050406030204" pitchFamily="18" charset="0"/>
                            </a:rPr>
                          </m:ctrlPr>
                        </m:dPr>
                        <m:e>
                          <m:m>
                            <m:mPr>
                              <m:mcs>
                                <m:mc>
                                  <m:mcPr>
                                    <m:count m:val="1"/>
                                    <m:mcJc m:val="center"/>
                                  </m:mcPr>
                                </m:mc>
                              </m:mcs>
                              <m:ctrlPr>
                                <a:rPr lang="en-US" altLang="zh-CN" sz="2800" i="1">
                                  <a:latin typeface="Cambria Math" panose="02040503050406030204" pitchFamily="18" charset="0"/>
                                </a:rPr>
                              </m:ctrlPr>
                            </m:mPr>
                            <m:mr>
                              <m:e>
                                <m:r>
                                  <a:rPr lang="en-US" altLang="zh-CN" sz="2800" i="1">
                                    <a:latin typeface="Cambria Math" panose="02040503050406030204" pitchFamily="18" charset="0"/>
                                  </a:rPr>
                                  <m:t>𝑥</m:t>
                                </m:r>
                              </m:e>
                            </m:mr>
                            <m:mr>
                              <m:e>
                                <m:r>
                                  <a:rPr lang="en-US" altLang="zh-CN" sz="2800" i="1">
                                    <a:latin typeface="Cambria Math" panose="02040503050406030204" pitchFamily="18" charset="0"/>
                                  </a:rPr>
                                  <m:t>𝑦</m:t>
                                </m:r>
                              </m:e>
                            </m:mr>
                            <m:mr>
                              <m:e>
                                <m:r>
                                  <a:rPr lang="en-US" altLang="zh-CN" sz="2800" i="1">
                                    <a:latin typeface="Cambria Math" panose="02040503050406030204" pitchFamily="18" charset="0"/>
                                  </a:rPr>
                                  <m:t>1</m:t>
                                </m:r>
                              </m:e>
                            </m:mr>
                          </m:m>
                        </m:e>
                      </m:d>
                    </m:oMath>
                  </m:oMathPara>
                </a14:m>
                <a:endParaRPr lang="zh-CN" altLang="en-US" sz="2800" dirty="0"/>
              </a:p>
            </p:txBody>
          </p:sp>
        </mc:Choice>
        <mc:Fallback xmlns="">
          <p:sp>
            <p:nvSpPr>
              <p:cNvPr id="4" name="Rectangle 3">
                <a:extLst>
                  <a:ext uri="{FF2B5EF4-FFF2-40B4-BE49-F238E27FC236}">
                    <a16:creationId xmlns:a16="http://schemas.microsoft.com/office/drawing/2014/main" id="{42A9715F-E194-4AEF-8059-0C8914A6A610}"/>
                  </a:ext>
                </a:extLst>
              </p:cNvPr>
              <p:cNvSpPr>
                <a:spLocks noRot="1" noChangeAspect="1" noMove="1" noResize="1" noEditPoints="1" noAdjustHandles="1" noChangeArrowheads="1" noChangeShapeType="1" noTextEdit="1"/>
              </p:cNvSpPr>
              <p:nvPr/>
            </p:nvSpPr>
            <p:spPr>
              <a:xfrm>
                <a:off x="1694378" y="3133460"/>
                <a:ext cx="8803244" cy="1302280"/>
              </a:xfrm>
              <a:prstGeom prst="rect">
                <a:avLst/>
              </a:prstGeom>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98760626"/>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23F2B-BE92-4161-947E-33BA495F2E7B}"/>
              </a:ext>
            </a:extLst>
          </p:cNvPr>
          <p:cNvSpPr>
            <a:spLocks noGrp="1"/>
          </p:cNvSpPr>
          <p:nvPr>
            <p:ph type="title"/>
          </p:nvPr>
        </p:nvSpPr>
        <p:spPr/>
        <p:txBody>
          <a:bodyPr/>
          <a:lstStyle/>
          <a:p>
            <a:r>
              <a:rPr lang="zh-CN" altLang="en-US" b="1" dirty="0"/>
              <a:t>仿射变换</a:t>
            </a:r>
          </a:p>
        </p:txBody>
      </p:sp>
      <p:sp>
        <p:nvSpPr>
          <p:cNvPr id="3" name="Content Placeholder 2">
            <a:extLst>
              <a:ext uri="{FF2B5EF4-FFF2-40B4-BE49-F238E27FC236}">
                <a16:creationId xmlns:a16="http://schemas.microsoft.com/office/drawing/2014/main" id="{C37B4FF2-C0E6-4A5A-B3DB-145E9750F4C5}"/>
              </a:ext>
            </a:extLst>
          </p:cNvPr>
          <p:cNvSpPr>
            <a:spLocks noGrp="1"/>
          </p:cNvSpPr>
          <p:nvPr>
            <p:ph idx="1"/>
          </p:nvPr>
        </p:nvSpPr>
        <p:spPr/>
        <p:txBody>
          <a:bodyPr>
            <a:normAutofit fontScale="92500" lnSpcReduction="10000"/>
          </a:bodyPr>
          <a:lstStyle/>
          <a:p>
            <a:pPr>
              <a:lnSpc>
                <a:spcPct val="120000"/>
              </a:lnSpc>
            </a:pPr>
            <a:r>
              <a:rPr lang="zh-CN" altLang="en-US" b="1" dirty="0"/>
              <a:t>仿射变换由两部分组成</a:t>
            </a:r>
            <a:r>
              <a:rPr lang="zh-CN" altLang="en-US" b="1" dirty="0">
                <a:solidFill>
                  <a:srgbClr val="00B0F0"/>
                </a:solidFill>
              </a:rPr>
              <a:t>（</a:t>
            </a:r>
            <a:r>
              <a:rPr lang="en-US" altLang="zh-CN" b="1" dirty="0">
                <a:solidFill>
                  <a:srgbClr val="00B0F0"/>
                </a:solidFill>
              </a:rPr>
              <a:t>6</a:t>
            </a:r>
            <a:r>
              <a:rPr lang="zh-CN" altLang="en-US" b="1" dirty="0">
                <a:solidFill>
                  <a:srgbClr val="00B0F0"/>
                </a:solidFill>
              </a:rPr>
              <a:t>个自由度）</a:t>
            </a:r>
            <a:r>
              <a:rPr lang="zh-CN" altLang="en-US" b="1" dirty="0"/>
              <a:t>：</a:t>
            </a:r>
            <a:endParaRPr lang="en-US" altLang="zh-CN" b="1" dirty="0"/>
          </a:p>
          <a:p>
            <a:pPr lvl="1">
              <a:lnSpc>
                <a:spcPct val="120000"/>
              </a:lnSpc>
            </a:pPr>
            <a:r>
              <a:rPr lang="zh-CN" altLang="en-US" dirty="0"/>
              <a:t>任意的</a:t>
            </a:r>
            <a:r>
              <a:rPr lang="en-US" altLang="zh-CN" dirty="0"/>
              <a:t>4</a:t>
            </a:r>
            <a:r>
              <a:rPr lang="zh-CN" altLang="en-US" dirty="0"/>
              <a:t>自由度的线性变换</a:t>
            </a:r>
            <a:endParaRPr lang="en-US" altLang="zh-CN" dirty="0"/>
          </a:p>
          <a:p>
            <a:pPr lvl="1">
              <a:lnSpc>
                <a:spcPct val="120000"/>
              </a:lnSpc>
            </a:pPr>
            <a:r>
              <a:rPr lang="zh-CN" altLang="en-US" dirty="0"/>
              <a:t>平移变换</a:t>
            </a:r>
            <a:endParaRPr lang="en-US" altLang="zh-CN" dirty="0"/>
          </a:p>
          <a:p>
            <a:pPr>
              <a:lnSpc>
                <a:spcPct val="120000"/>
              </a:lnSpc>
            </a:pPr>
            <a:r>
              <a:rPr lang="zh-CN" altLang="en-US" b="1" dirty="0"/>
              <a:t>特点：</a:t>
            </a:r>
            <a:endParaRPr lang="en-US" altLang="zh-CN" b="1" dirty="0"/>
          </a:p>
          <a:p>
            <a:pPr marL="914400" lvl="1" indent="-457200">
              <a:lnSpc>
                <a:spcPct val="120000"/>
              </a:lnSpc>
              <a:buFont typeface="+mj-lt"/>
              <a:buAutoNum type="arabicPeriod"/>
            </a:pPr>
            <a:r>
              <a:rPr lang="zh-CN" altLang="en-US" dirty="0"/>
              <a:t>原点</a:t>
            </a:r>
            <a:r>
              <a:rPr lang="en-US" altLang="zh-CN" dirty="0"/>
              <a:t>(0,0,1)</a:t>
            </a:r>
            <a:r>
              <a:rPr lang="zh-CN" altLang="en-US" dirty="0"/>
              <a:t>不一定映射为原点</a:t>
            </a:r>
            <a:endParaRPr lang="en-US" altLang="zh-CN" dirty="0"/>
          </a:p>
          <a:p>
            <a:pPr marL="914400" lvl="1" indent="-457200">
              <a:lnSpc>
                <a:spcPct val="120000"/>
              </a:lnSpc>
              <a:buFont typeface="+mj-lt"/>
              <a:buAutoNum type="arabicPeriod"/>
            </a:pPr>
            <a:r>
              <a:rPr lang="zh-CN" altLang="en-US" dirty="0"/>
              <a:t>直线变换后依然是直线</a:t>
            </a:r>
            <a:endParaRPr lang="en-US" altLang="zh-CN" dirty="0"/>
          </a:p>
          <a:p>
            <a:pPr marL="914400" lvl="1" indent="-457200">
              <a:lnSpc>
                <a:spcPct val="120000"/>
              </a:lnSpc>
              <a:buFont typeface="+mj-lt"/>
              <a:buAutoNum type="arabicPeriod"/>
            </a:pPr>
            <a:r>
              <a:rPr lang="zh-CN" altLang="en-US" dirty="0"/>
              <a:t>平行线变换后依然是平行线</a:t>
            </a:r>
            <a:endParaRPr lang="en-US" altLang="zh-CN" dirty="0"/>
          </a:p>
          <a:p>
            <a:pPr marL="914400" lvl="1" indent="-457200">
              <a:lnSpc>
                <a:spcPct val="120000"/>
              </a:lnSpc>
              <a:buFont typeface="+mj-lt"/>
              <a:buAutoNum type="arabicPeriod"/>
            </a:pPr>
            <a:r>
              <a:rPr lang="zh-CN" altLang="en-US" dirty="0"/>
              <a:t>比例关系保持不变</a:t>
            </a:r>
            <a:endParaRPr lang="en-US" altLang="zh-CN" dirty="0"/>
          </a:p>
          <a:p>
            <a:pPr marL="914400" lvl="1" indent="-457200">
              <a:lnSpc>
                <a:spcPct val="120000"/>
              </a:lnSpc>
              <a:buFont typeface="+mj-lt"/>
              <a:buAutoNum type="arabicPeriod"/>
            </a:pPr>
            <a:r>
              <a:rPr lang="zh-CN" altLang="en-US" dirty="0"/>
              <a:t>仿射变换的组合依然是仿射变换</a:t>
            </a: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34E26EDC-B121-4325-AB3E-4FEED40673FE}"/>
                  </a:ext>
                </a:extLst>
              </p:cNvPr>
              <p:cNvSpPr/>
              <p:nvPr/>
            </p:nvSpPr>
            <p:spPr>
              <a:xfrm>
                <a:off x="6527237" y="2691298"/>
                <a:ext cx="4604016" cy="14338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3200" i="1" smtClean="0">
                              <a:latin typeface="Cambria Math" panose="02040503050406030204" pitchFamily="18" charset="0"/>
                            </a:rPr>
                          </m:ctrlPr>
                        </m:dPr>
                        <m:e>
                          <m:m>
                            <m:mPr>
                              <m:mcs>
                                <m:mc>
                                  <m:mcPr>
                                    <m:count m:val="1"/>
                                    <m:mcJc m:val="center"/>
                                  </m:mcPr>
                                </m:mc>
                              </m:mcs>
                              <m:ctrlPr>
                                <a:rPr lang="en-US" altLang="zh-CN" sz="3200" i="1">
                                  <a:latin typeface="Cambria Math" panose="02040503050406030204" pitchFamily="18" charset="0"/>
                                </a:rPr>
                              </m:ctrlPr>
                            </m:mPr>
                            <m:mr>
                              <m:e>
                                <m:sSup>
                                  <m:sSupPr>
                                    <m:ctrlPr>
                                      <a:rPr lang="en-US" altLang="zh-CN" sz="3200" i="1">
                                        <a:latin typeface="Cambria Math" panose="02040503050406030204" pitchFamily="18" charset="0"/>
                                      </a:rPr>
                                    </m:ctrlPr>
                                  </m:sSupPr>
                                  <m:e>
                                    <m:r>
                                      <a:rPr lang="en-US" altLang="zh-CN" sz="3200" i="1">
                                        <a:latin typeface="Cambria Math" panose="02040503050406030204" pitchFamily="18" charset="0"/>
                                      </a:rPr>
                                      <m:t>𝑥</m:t>
                                    </m:r>
                                  </m:e>
                                  <m:sup>
                                    <m:r>
                                      <a:rPr lang="en-US" altLang="zh-CN" sz="3200" i="1">
                                        <a:latin typeface="Cambria Math" panose="02040503050406030204" pitchFamily="18" charset="0"/>
                                      </a:rPr>
                                      <m:t>′</m:t>
                                    </m:r>
                                  </m:sup>
                                </m:sSup>
                              </m:e>
                            </m:mr>
                            <m:mr>
                              <m:e>
                                <m:sSup>
                                  <m:sSupPr>
                                    <m:ctrlPr>
                                      <a:rPr lang="en-US" altLang="zh-CN" sz="3200" i="1">
                                        <a:latin typeface="Cambria Math" panose="02040503050406030204" pitchFamily="18" charset="0"/>
                                      </a:rPr>
                                    </m:ctrlPr>
                                  </m:sSupPr>
                                  <m:e>
                                    <m:r>
                                      <a:rPr lang="en-US" altLang="zh-CN" sz="3200" i="1">
                                        <a:latin typeface="Cambria Math" panose="02040503050406030204" pitchFamily="18" charset="0"/>
                                      </a:rPr>
                                      <m:t>𝑦</m:t>
                                    </m:r>
                                  </m:e>
                                  <m:sup>
                                    <m:r>
                                      <a:rPr lang="en-US" altLang="zh-CN" sz="3200" i="1">
                                        <a:latin typeface="Cambria Math" panose="02040503050406030204" pitchFamily="18" charset="0"/>
                                      </a:rPr>
                                      <m:t>′</m:t>
                                    </m:r>
                                  </m:sup>
                                </m:sSup>
                              </m:e>
                            </m:mr>
                            <m:mr>
                              <m:e>
                                <m:r>
                                  <a:rPr lang="en-US" altLang="zh-CN" sz="3200" i="1">
                                    <a:latin typeface="Cambria Math" panose="02040503050406030204" pitchFamily="18" charset="0"/>
                                  </a:rPr>
                                  <m:t>1</m:t>
                                </m:r>
                              </m:e>
                            </m:mr>
                          </m:m>
                        </m:e>
                      </m:d>
                      <m:r>
                        <a:rPr lang="en-US" altLang="zh-CN" sz="3200" i="1">
                          <a:latin typeface="Cambria Math" panose="02040503050406030204" pitchFamily="18" charset="0"/>
                        </a:rPr>
                        <m:t>=</m:t>
                      </m:r>
                      <m:d>
                        <m:dPr>
                          <m:begChr m:val="["/>
                          <m:endChr m:val="]"/>
                          <m:ctrlPr>
                            <a:rPr lang="en-US" altLang="zh-CN" sz="3200" i="1">
                              <a:latin typeface="Cambria Math" panose="02040503050406030204" pitchFamily="18" charset="0"/>
                            </a:rPr>
                          </m:ctrlPr>
                        </m:dPr>
                        <m:e>
                          <m:m>
                            <m:mPr>
                              <m:mcs>
                                <m:mc>
                                  <m:mcPr>
                                    <m:count m:val="3"/>
                                    <m:mcJc m:val="center"/>
                                  </m:mcPr>
                                </m:mc>
                              </m:mcs>
                              <m:ctrlPr>
                                <a:rPr lang="en-US" altLang="zh-CN" sz="3200" i="1">
                                  <a:latin typeface="Cambria Math" panose="02040503050406030204" pitchFamily="18" charset="0"/>
                                </a:rPr>
                              </m:ctrlPr>
                            </m:mPr>
                            <m:mr>
                              <m:e>
                                <m:sSub>
                                  <m:sSubPr>
                                    <m:ctrlPr>
                                      <a:rPr lang="en-US" altLang="zh-CN" sz="3200" i="1" smtClean="0">
                                        <a:latin typeface="Cambria Math" panose="02040503050406030204" pitchFamily="18" charset="0"/>
                                      </a:rPr>
                                    </m:ctrlPr>
                                  </m:sSubPr>
                                  <m:e>
                                    <m:r>
                                      <a:rPr lang="en-US" altLang="zh-CN" sz="3200" b="0" i="1" smtClean="0">
                                        <a:latin typeface="Cambria Math" panose="02040503050406030204" pitchFamily="18" charset="0"/>
                                      </a:rPr>
                                      <m:t>𝑎</m:t>
                                    </m:r>
                                  </m:e>
                                  <m:sub>
                                    <m:r>
                                      <a:rPr lang="en-US" altLang="zh-CN" sz="3200" b="0" i="1" smtClean="0">
                                        <a:latin typeface="Cambria Math" panose="02040503050406030204" pitchFamily="18" charset="0"/>
                                      </a:rPr>
                                      <m:t>1</m:t>
                                    </m:r>
                                  </m:sub>
                                </m:sSub>
                              </m:e>
                              <m:e>
                                <m:sSub>
                                  <m:sSubPr>
                                    <m:ctrlPr>
                                      <a:rPr lang="en-US" altLang="zh-CN" sz="3200" i="1">
                                        <a:latin typeface="Cambria Math" panose="02040503050406030204" pitchFamily="18" charset="0"/>
                                      </a:rPr>
                                    </m:ctrlPr>
                                  </m:sSubPr>
                                  <m:e>
                                    <m:r>
                                      <a:rPr lang="en-US" altLang="zh-CN" sz="3200" i="1">
                                        <a:latin typeface="Cambria Math" panose="02040503050406030204" pitchFamily="18" charset="0"/>
                                      </a:rPr>
                                      <m:t>𝑎</m:t>
                                    </m:r>
                                  </m:e>
                                  <m:sub>
                                    <m:r>
                                      <a:rPr lang="en-US" altLang="zh-CN" sz="3200" b="0" i="1" smtClean="0">
                                        <a:latin typeface="Cambria Math" panose="02040503050406030204" pitchFamily="18" charset="0"/>
                                      </a:rPr>
                                      <m:t>2</m:t>
                                    </m:r>
                                  </m:sub>
                                </m:sSub>
                              </m:e>
                              <m:e>
                                <m:sSub>
                                  <m:sSubPr>
                                    <m:ctrlPr>
                                      <a:rPr lang="en-US" altLang="zh-CN" sz="3200" i="1">
                                        <a:latin typeface="Cambria Math" panose="02040503050406030204" pitchFamily="18" charset="0"/>
                                      </a:rPr>
                                    </m:ctrlPr>
                                  </m:sSubPr>
                                  <m:e>
                                    <m:r>
                                      <a:rPr lang="en-US" altLang="zh-CN" sz="3200" i="1">
                                        <a:latin typeface="Cambria Math" panose="02040503050406030204" pitchFamily="18" charset="0"/>
                                      </a:rPr>
                                      <m:t>𝑡</m:t>
                                    </m:r>
                                  </m:e>
                                  <m:sub>
                                    <m:r>
                                      <a:rPr lang="en-US" altLang="zh-CN" sz="3200" i="1">
                                        <a:latin typeface="Cambria Math" panose="02040503050406030204" pitchFamily="18" charset="0"/>
                                      </a:rPr>
                                      <m:t>𝑥</m:t>
                                    </m:r>
                                  </m:sub>
                                </m:sSub>
                              </m:e>
                            </m:mr>
                            <m:mr>
                              <m:e>
                                <m:sSub>
                                  <m:sSubPr>
                                    <m:ctrlPr>
                                      <a:rPr lang="en-US" altLang="zh-CN" sz="3200" i="1">
                                        <a:latin typeface="Cambria Math" panose="02040503050406030204" pitchFamily="18" charset="0"/>
                                      </a:rPr>
                                    </m:ctrlPr>
                                  </m:sSubPr>
                                  <m:e>
                                    <m:r>
                                      <a:rPr lang="en-US" altLang="zh-CN" sz="3200" i="1">
                                        <a:latin typeface="Cambria Math" panose="02040503050406030204" pitchFamily="18" charset="0"/>
                                      </a:rPr>
                                      <m:t>𝑎</m:t>
                                    </m:r>
                                  </m:e>
                                  <m:sub>
                                    <m:r>
                                      <a:rPr lang="en-US" altLang="zh-CN" sz="3200" b="0" i="1" smtClean="0">
                                        <a:latin typeface="Cambria Math" panose="02040503050406030204" pitchFamily="18" charset="0"/>
                                      </a:rPr>
                                      <m:t>3</m:t>
                                    </m:r>
                                  </m:sub>
                                </m:sSub>
                              </m:e>
                              <m:e>
                                <m:sSub>
                                  <m:sSubPr>
                                    <m:ctrlPr>
                                      <a:rPr lang="en-US" altLang="zh-CN" sz="3200" i="1">
                                        <a:latin typeface="Cambria Math" panose="02040503050406030204" pitchFamily="18" charset="0"/>
                                      </a:rPr>
                                    </m:ctrlPr>
                                  </m:sSubPr>
                                  <m:e>
                                    <m:r>
                                      <a:rPr lang="en-US" altLang="zh-CN" sz="3200" i="1">
                                        <a:latin typeface="Cambria Math" panose="02040503050406030204" pitchFamily="18" charset="0"/>
                                      </a:rPr>
                                      <m:t>𝑎</m:t>
                                    </m:r>
                                  </m:e>
                                  <m:sub>
                                    <m:r>
                                      <a:rPr lang="en-US" altLang="zh-CN" sz="3200" b="0" i="1" smtClean="0">
                                        <a:latin typeface="Cambria Math" panose="02040503050406030204" pitchFamily="18" charset="0"/>
                                      </a:rPr>
                                      <m:t>4</m:t>
                                    </m:r>
                                  </m:sub>
                                </m:sSub>
                              </m:e>
                              <m:e>
                                <m:sSub>
                                  <m:sSubPr>
                                    <m:ctrlPr>
                                      <a:rPr lang="en-US" altLang="zh-CN" sz="3200" i="1">
                                        <a:latin typeface="Cambria Math" panose="02040503050406030204" pitchFamily="18" charset="0"/>
                                      </a:rPr>
                                    </m:ctrlPr>
                                  </m:sSubPr>
                                  <m:e>
                                    <m:r>
                                      <a:rPr lang="en-US" altLang="zh-CN" sz="3200" i="1">
                                        <a:latin typeface="Cambria Math" panose="02040503050406030204" pitchFamily="18" charset="0"/>
                                      </a:rPr>
                                      <m:t>𝑡</m:t>
                                    </m:r>
                                  </m:e>
                                  <m:sub>
                                    <m:r>
                                      <a:rPr lang="en-US" altLang="zh-CN" sz="3200" i="1">
                                        <a:latin typeface="Cambria Math" panose="02040503050406030204" pitchFamily="18" charset="0"/>
                                      </a:rPr>
                                      <m:t>𝑦</m:t>
                                    </m:r>
                                  </m:sub>
                                </m:sSub>
                              </m:e>
                            </m:mr>
                            <m:mr>
                              <m:e>
                                <m:r>
                                  <a:rPr lang="en-US" altLang="zh-CN" sz="3200" i="1">
                                    <a:latin typeface="Cambria Math" panose="02040503050406030204" pitchFamily="18" charset="0"/>
                                  </a:rPr>
                                  <m:t>0</m:t>
                                </m:r>
                              </m:e>
                              <m:e>
                                <m:r>
                                  <a:rPr lang="en-US" altLang="zh-CN" sz="3200" i="1">
                                    <a:latin typeface="Cambria Math" panose="02040503050406030204" pitchFamily="18" charset="0"/>
                                  </a:rPr>
                                  <m:t>0</m:t>
                                </m:r>
                              </m:e>
                              <m:e>
                                <m:r>
                                  <a:rPr lang="en-US" altLang="zh-CN" sz="3200" i="1">
                                    <a:latin typeface="Cambria Math" panose="02040503050406030204" pitchFamily="18" charset="0"/>
                                  </a:rPr>
                                  <m:t>1</m:t>
                                </m:r>
                              </m:e>
                            </m:mr>
                          </m:m>
                        </m:e>
                      </m:d>
                      <m:d>
                        <m:dPr>
                          <m:begChr m:val="["/>
                          <m:endChr m:val="]"/>
                          <m:ctrlPr>
                            <a:rPr lang="en-US" altLang="zh-CN" sz="3200" i="1">
                              <a:latin typeface="Cambria Math" panose="02040503050406030204" pitchFamily="18" charset="0"/>
                            </a:rPr>
                          </m:ctrlPr>
                        </m:dPr>
                        <m:e>
                          <m:m>
                            <m:mPr>
                              <m:mcs>
                                <m:mc>
                                  <m:mcPr>
                                    <m:count m:val="1"/>
                                    <m:mcJc m:val="center"/>
                                  </m:mcPr>
                                </m:mc>
                              </m:mcs>
                              <m:ctrlPr>
                                <a:rPr lang="en-US" altLang="zh-CN" sz="3200" i="1">
                                  <a:latin typeface="Cambria Math" panose="02040503050406030204" pitchFamily="18" charset="0"/>
                                </a:rPr>
                              </m:ctrlPr>
                            </m:mPr>
                            <m:mr>
                              <m:e>
                                <m:r>
                                  <a:rPr lang="en-US" altLang="zh-CN" sz="3200" i="1">
                                    <a:latin typeface="Cambria Math" panose="02040503050406030204" pitchFamily="18" charset="0"/>
                                  </a:rPr>
                                  <m:t>𝑥</m:t>
                                </m:r>
                              </m:e>
                            </m:mr>
                            <m:mr>
                              <m:e>
                                <m:r>
                                  <a:rPr lang="en-US" altLang="zh-CN" sz="3200" i="1">
                                    <a:latin typeface="Cambria Math" panose="02040503050406030204" pitchFamily="18" charset="0"/>
                                  </a:rPr>
                                  <m:t>𝑦</m:t>
                                </m:r>
                              </m:e>
                            </m:mr>
                            <m:mr>
                              <m:e>
                                <m:r>
                                  <a:rPr lang="en-US" altLang="zh-CN" sz="3200" i="1">
                                    <a:latin typeface="Cambria Math" panose="02040503050406030204" pitchFamily="18" charset="0"/>
                                  </a:rPr>
                                  <m:t>1</m:t>
                                </m:r>
                              </m:e>
                            </m:mr>
                          </m:m>
                        </m:e>
                      </m:d>
                    </m:oMath>
                  </m:oMathPara>
                </a14:m>
                <a:endParaRPr lang="zh-CN" altLang="en-US" sz="3200" dirty="0"/>
              </a:p>
            </p:txBody>
          </p:sp>
        </mc:Choice>
        <mc:Fallback xmlns="">
          <p:sp>
            <p:nvSpPr>
              <p:cNvPr id="4" name="Rectangle 3">
                <a:extLst>
                  <a:ext uri="{FF2B5EF4-FFF2-40B4-BE49-F238E27FC236}">
                    <a16:creationId xmlns:a16="http://schemas.microsoft.com/office/drawing/2014/main" id="{34E26EDC-B121-4325-AB3E-4FEED40673FE}"/>
                  </a:ext>
                </a:extLst>
              </p:cNvPr>
              <p:cNvSpPr>
                <a:spLocks noRot="1" noChangeAspect="1" noMove="1" noResize="1" noEditPoints="1" noAdjustHandles="1" noChangeArrowheads="1" noChangeShapeType="1" noTextEdit="1"/>
              </p:cNvSpPr>
              <p:nvPr/>
            </p:nvSpPr>
            <p:spPr>
              <a:xfrm>
                <a:off x="6527237" y="2691298"/>
                <a:ext cx="4604016" cy="1433854"/>
              </a:xfrm>
              <a:prstGeom prst="rect">
                <a:avLst/>
              </a:prstGeom>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38993246"/>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66574-2ACF-4A28-9C23-DDB78B7F34FB}"/>
              </a:ext>
            </a:extLst>
          </p:cNvPr>
          <p:cNvSpPr>
            <a:spLocks noGrp="1"/>
          </p:cNvSpPr>
          <p:nvPr>
            <p:ph type="title"/>
          </p:nvPr>
        </p:nvSpPr>
        <p:spPr/>
        <p:txBody>
          <a:bodyPr/>
          <a:lstStyle/>
          <a:p>
            <a:r>
              <a:rPr lang="zh-CN" altLang="en-US" b="1" dirty="0"/>
              <a:t>仿射变换的应用</a:t>
            </a:r>
            <a:endParaRPr lang="zh-CN" altLang="en-US" dirty="0"/>
          </a:p>
        </p:txBody>
      </p:sp>
      <p:sp>
        <p:nvSpPr>
          <p:cNvPr id="3" name="Content Placeholder 2">
            <a:extLst>
              <a:ext uri="{FF2B5EF4-FFF2-40B4-BE49-F238E27FC236}">
                <a16:creationId xmlns:a16="http://schemas.microsoft.com/office/drawing/2014/main" id="{A8039BFA-7D34-4CB9-801D-AA4F376B120A}"/>
              </a:ext>
            </a:extLst>
          </p:cNvPr>
          <p:cNvSpPr>
            <a:spLocks noGrp="1"/>
          </p:cNvSpPr>
          <p:nvPr>
            <p:ph idx="1"/>
          </p:nvPr>
        </p:nvSpPr>
        <p:spPr/>
        <p:txBody>
          <a:bodyPr/>
          <a:lstStyle/>
          <a:p>
            <a:r>
              <a:rPr lang="zh-CN" altLang="en-US" b="1" dirty="0"/>
              <a:t>人脸对齐</a:t>
            </a:r>
          </a:p>
        </p:txBody>
      </p:sp>
      <p:pic>
        <p:nvPicPr>
          <p:cNvPr id="13314" name="Picture 2" descr="人脸对齐-海思 HI_MPI_IVE_PerspTrans">
            <a:extLst>
              <a:ext uri="{FF2B5EF4-FFF2-40B4-BE49-F238E27FC236}">
                <a16:creationId xmlns:a16="http://schemas.microsoft.com/office/drawing/2014/main" id="{52ECE89F-61AF-4940-8B36-FCB6E2D1FA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6487" y="2577306"/>
            <a:ext cx="7439025" cy="284797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53401503-B1FE-41A1-A40B-80FB16FA2D2C}"/>
              </a:ext>
            </a:extLst>
          </p:cNvPr>
          <p:cNvSpPr/>
          <p:nvPr/>
        </p:nvSpPr>
        <p:spPr>
          <a:xfrm>
            <a:off x="8339663" y="6492875"/>
            <a:ext cx="3852337" cy="369332"/>
          </a:xfrm>
          <a:prstGeom prst="rect">
            <a:avLst/>
          </a:prstGeom>
        </p:spPr>
        <p:txBody>
          <a:bodyPr wrap="none">
            <a:spAutoFit/>
          </a:bodyPr>
          <a:lstStyle/>
          <a:p>
            <a:r>
              <a:rPr lang="zh-CN" altLang="en-US" dirty="0">
                <a:hlinkClick r:id="rId3"/>
              </a:rPr>
              <a:t>https://zhuanlan.zhihu.com/p/55479744</a:t>
            </a:r>
            <a:endParaRPr lang="zh-CN" altLang="en-US" dirty="0"/>
          </a:p>
        </p:txBody>
      </p:sp>
    </p:spTree>
    <p:extLst>
      <p:ext uri="{BB962C8B-B14F-4D97-AF65-F5344CB8AC3E}">
        <p14:creationId xmlns:p14="http://schemas.microsoft.com/office/powerpoint/2010/main" val="232617393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315E1-81D7-4620-A4C2-57272F69917E}"/>
              </a:ext>
            </a:extLst>
          </p:cNvPr>
          <p:cNvSpPr>
            <a:spLocks noGrp="1"/>
          </p:cNvSpPr>
          <p:nvPr>
            <p:ph type="title"/>
          </p:nvPr>
        </p:nvSpPr>
        <p:spPr/>
        <p:txBody>
          <a:bodyPr/>
          <a:lstStyle/>
          <a:p>
            <a:r>
              <a:rPr lang="zh-CN" altLang="en-US" b="1" dirty="0"/>
              <a:t>投影变换（仿射变换</a:t>
            </a:r>
            <a:r>
              <a:rPr lang="en-US" altLang="zh-CN" b="1" dirty="0"/>
              <a:t>+</a:t>
            </a:r>
            <a:r>
              <a:rPr lang="zh-CN" altLang="en-US" b="1" dirty="0"/>
              <a:t>投影扭曲）</a:t>
            </a:r>
          </a:p>
        </p:txBody>
      </p:sp>
      <p:sp>
        <p:nvSpPr>
          <p:cNvPr id="3" name="Content Placeholder 2">
            <a:extLst>
              <a:ext uri="{FF2B5EF4-FFF2-40B4-BE49-F238E27FC236}">
                <a16:creationId xmlns:a16="http://schemas.microsoft.com/office/drawing/2014/main" id="{ED85DF33-404B-4780-975E-C346A5541D49}"/>
              </a:ext>
            </a:extLst>
          </p:cNvPr>
          <p:cNvSpPr>
            <a:spLocks noGrp="1"/>
          </p:cNvSpPr>
          <p:nvPr>
            <p:ph idx="1"/>
          </p:nvPr>
        </p:nvSpPr>
        <p:spPr>
          <a:xfrm>
            <a:off x="846666" y="3658595"/>
            <a:ext cx="4826000" cy="2620962"/>
          </a:xfrm>
        </p:spPr>
        <p:txBody>
          <a:bodyPr>
            <a:normAutofit fontScale="85000" lnSpcReduction="10000"/>
          </a:bodyPr>
          <a:lstStyle/>
          <a:p>
            <a:pPr>
              <a:lnSpc>
                <a:spcPct val="120000"/>
              </a:lnSpc>
            </a:pPr>
            <a:r>
              <a:rPr lang="zh-CN" altLang="en-US" b="1" dirty="0"/>
              <a:t>特点：</a:t>
            </a:r>
            <a:endParaRPr lang="en-US" altLang="zh-CN" b="1" dirty="0"/>
          </a:p>
          <a:p>
            <a:pPr marL="914400" lvl="1" indent="-457200">
              <a:lnSpc>
                <a:spcPct val="120000"/>
              </a:lnSpc>
              <a:buFont typeface="+mj-lt"/>
              <a:buAutoNum type="arabicPeriod"/>
            </a:pPr>
            <a:r>
              <a:rPr lang="zh-CN" altLang="en-US" dirty="0"/>
              <a:t>原点不一定映射为原点</a:t>
            </a:r>
            <a:endParaRPr lang="en-US" altLang="zh-CN" dirty="0"/>
          </a:p>
          <a:p>
            <a:pPr marL="914400" lvl="1" indent="-457200">
              <a:lnSpc>
                <a:spcPct val="120000"/>
              </a:lnSpc>
              <a:buFont typeface="+mj-lt"/>
              <a:buAutoNum type="arabicPeriod"/>
            </a:pPr>
            <a:r>
              <a:rPr lang="zh-CN" altLang="en-US" dirty="0"/>
              <a:t>直线变换后依然是直线</a:t>
            </a:r>
            <a:endParaRPr lang="en-US" altLang="zh-CN" dirty="0"/>
          </a:p>
          <a:p>
            <a:pPr marL="914400" lvl="1" indent="-457200">
              <a:lnSpc>
                <a:spcPct val="120000"/>
              </a:lnSpc>
              <a:buFont typeface="+mj-lt"/>
              <a:buAutoNum type="arabicPeriod"/>
            </a:pPr>
            <a:r>
              <a:rPr lang="zh-CN" altLang="en-US" dirty="0"/>
              <a:t>平行线变换后不一定平行线</a:t>
            </a:r>
            <a:endParaRPr lang="en-US" altLang="zh-CN" dirty="0"/>
          </a:p>
          <a:p>
            <a:pPr marL="914400" lvl="1" indent="-457200">
              <a:lnSpc>
                <a:spcPct val="120000"/>
              </a:lnSpc>
              <a:buFont typeface="+mj-lt"/>
              <a:buAutoNum type="arabicPeriod"/>
            </a:pPr>
            <a:r>
              <a:rPr lang="zh-CN" altLang="en-US" dirty="0"/>
              <a:t>比例关系不一定保持</a:t>
            </a:r>
            <a:endParaRPr lang="en-US" altLang="zh-CN" dirty="0"/>
          </a:p>
          <a:p>
            <a:pPr marL="914400" lvl="1" indent="-457200">
              <a:lnSpc>
                <a:spcPct val="120000"/>
              </a:lnSpc>
              <a:buFont typeface="+mj-lt"/>
              <a:buAutoNum type="arabicPeriod"/>
            </a:pPr>
            <a:r>
              <a:rPr lang="zh-CN" altLang="en-US" dirty="0"/>
              <a:t>投影变换的组合依然是投影变换</a:t>
            </a:r>
          </a:p>
          <a:p>
            <a:endParaRPr lang="zh-CN" altLang="en-US" dirty="0"/>
          </a:p>
        </p:txBody>
      </p:sp>
      <p:pic>
        <p:nvPicPr>
          <p:cNvPr id="4" name="Picture 2" descr="preload">
            <a:extLst>
              <a:ext uri="{FF2B5EF4-FFF2-40B4-BE49-F238E27FC236}">
                <a16:creationId xmlns:a16="http://schemas.microsoft.com/office/drawing/2014/main" id="{84038E0E-F1C1-4DF8-B1AD-E680CE94FB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7213" y="4110041"/>
            <a:ext cx="6142037" cy="216951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https://img-blog.csdnimg.cn/20200926163416190.png">
            <a:extLst>
              <a:ext uri="{FF2B5EF4-FFF2-40B4-BE49-F238E27FC236}">
                <a16:creationId xmlns:a16="http://schemas.microsoft.com/office/drawing/2014/main" id="{87BBAA9A-96AF-4AE4-8577-8AA34BE4FB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5641" y="1831679"/>
            <a:ext cx="3448050" cy="168592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https://ask.qcloudimg.com/http-save/yehe-1974524/9413da8f62fa86061bbbed0c26f0f374.jpeg?imageView2/2/w/1620">
            <a:extLst>
              <a:ext uri="{FF2B5EF4-FFF2-40B4-BE49-F238E27FC236}">
                <a16:creationId xmlns:a16="http://schemas.microsoft.com/office/drawing/2014/main" id="{EA0168FF-D7D4-4AD2-B106-C0014DDCEB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47213" y="1399756"/>
            <a:ext cx="5631916" cy="231775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3042BCFB-8DDF-46F0-9B28-F9C182399E2E}"/>
              </a:ext>
            </a:extLst>
          </p:cNvPr>
          <p:cNvSpPr/>
          <p:nvPr/>
        </p:nvSpPr>
        <p:spPr>
          <a:xfrm>
            <a:off x="7185501" y="6492875"/>
            <a:ext cx="5006499" cy="369332"/>
          </a:xfrm>
          <a:prstGeom prst="rect">
            <a:avLst/>
          </a:prstGeom>
        </p:spPr>
        <p:txBody>
          <a:bodyPr wrap="none">
            <a:spAutoFit/>
          </a:bodyPr>
          <a:lstStyle/>
          <a:p>
            <a:r>
              <a:rPr lang="zh-CN" altLang="en-US" dirty="0">
                <a:hlinkClick r:id="rId5"/>
              </a:rPr>
              <a:t>https://cloud.tencent.com/developer/article/1913564</a:t>
            </a:r>
            <a:endParaRPr lang="zh-CN" altLang="en-US" dirty="0"/>
          </a:p>
        </p:txBody>
      </p:sp>
    </p:spTree>
    <p:extLst>
      <p:ext uri="{BB962C8B-B14F-4D97-AF65-F5344CB8AC3E}">
        <p14:creationId xmlns:p14="http://schemas.microsoft.com/office/powerpoint/2010/main" val="2688061461"/>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315E1-81D7-4620-A4C2-57272F69917E}"/>
              </a:ext>
            </a:extLst>
          </p:cNvPr>
          <p:cNvSpPr>
            <a:spLocks noGrp="1"/>
          </p:cNvSpPr>
          <p:nvPr>
            <p:ph type="title"/>
          </p:nvPr>
        </p:nvSpPr>
        <p:spPr/>
        <p:txBody>
          <a:bodyPr/>
          <a:lstStyle/>
          <a:p>
            <a:r>
              <a:rPr lang="zh-CN" altLang="en-US" b="1" dirty="0"/>
              <a:t>投影变换（仿射变换</a:t>
            </a:r>
            <a:r>
              <a:rPr lang="en-US" altLang="zh-CN" b="1" dirty="0"/>
              <a:t>+</a:t>
            </a:r>
            <a:r>
              <a:rPr lang="zh-CN" altLang="en-US" b="1" dirty="0"/>
              <a:t>投影扭曲）</a:t>
            </a:r>
          </a:p>
        </p:txBody>
      </p:sp>
      <p:pic>
        <p:nvPicPr>
          <p:cNvPr id="10" name="Picture 9">
            <a:extLst>
              <a:ext uri="{FF2B5EF4-FFF2-40B4-BE49-F238E27FC236}">
                <a16:creationId xmlns:a16="http://schemas.microsoft.com/office/drawing/2014/main" id="{F6453245-720F-42AE-ACAB-EF949B01384D}"/>
              </a:ext>
            </a:extLst>
          </p:cNvPr>
          <p:cNvPicPr>
            <a:picLocks noChangeAspect="1"/>
          </p:cNvPicPr>
          <p:nvPr/>
        </p:nvPicPr>
        <p:blipFill>
          <a:blip r:embed="rId2"/>
          <a:stretch>
            <a:fillRect/>
          </a:stretch>
        </p:blipFill>
        <p:spPr>
          <a:xfrm>
            <a:off x="279400" y="1957009"/>
            <a:ext cx="5367867" cy="3185678"/>
          </a:xfrm>
          <a:prstGeom prst="rect">
            <a:avLst/>
          </a:prstGeom>
        </p:spPr>
      </p:pic>
      <p:pic>
        <p:nvPicPr>
          <p:cNvPr id="11" name="Picture 10">
            <a:extLst>
              <a:ext uri="{FF2B5EF4-FFF2-40B4-BE49-F238E27FC236}">
                <a16:creationId xmlns:a16="http://schemas.microsoft.com/office/drawing/2014/main" id="{EF7345A7-E8BC-40F2-960A-45F1C3DDEB73}"/>
              </a:ext>
            </a:extLst>
          </p:cNvPr>
          <p:cNvPicPr>
            <a:picLocks noChangeAspect="1"/>
          </p:cNvPicPr>
          <p:nvPr/>
        </p:nvPicPr>
        <p:blipFill>
          <a:blip r:embed="rId3"/>
          <a:stretch>
            <a:fillRect/>
          </a:stretch>
        </p:blipFill>
        <p:spPr>
          <a:xfrm>
            <a:off x="5764467" y="2359372"/>
            <a:ext cx="6266667" cy="2380952"/>
          </a:xfrm>
          <a:prstGeom prst="rect">
            <a:avLst/>
          </a:prstGeom>
        </p:spPr>
      </p:pic>
      <p:sp>
        <p:nvSpPr>
          <p:cNvPr id="12" name="Rectangle 11">
            <a:extLst>
              <a:ext uri="{FF2B5EF4-FFF2-40B4-BE49-F238E27FC236}">
                <a16:creationId xmlns:a16="http://schemas.microsoft.com/office/drawing/2014/main" id="{BFDE4DE6-8E57-449E-9F7B-503BB81B935D}"/>
              </a:ext>
            </a:extLst>
          </p:cNvPr>
          <p:cNvSpPr/>
          <p:nvPr/>
        </p:nvSpPr>
        <p:spPr>
          <a:xfrm>
            <a:off x="6717360" y="6492875"/>
            <a:ext cx="5474640" cy="369332"/>
          </a:xfrm>
          <a:prstGeom prst="rect">
            <a:avLst/>
          </a:prstGeom>
        </p:spPr>
        <p:txBody>
          <a:bodyPr wrap="none">
            <a:spAutoFit/>
          </a:bodyPr>
          <a:lstStyle/>
          <a:p>
            <a:r>
              <a:rPr lang="zh-CN" altLang="en-US" dirty="0">
                <a:hlinkClick r:id="rId4"/>
              </a:rPr>
              <a:t>https://theailearner.com/tag/cv2-getperspectivetransform/</a:t>
            </a:r>
            <a:endParaRPr lang="zh-CN" altLang="en-US" dirty="0"/>
          </a:p>
        </p:txBody>
      </p:sp>
    </p:spTree>
    <p:extLst>
      <p:ext uri="{BB962C8B-B14F-4D97-AF65-F5344CB8AC3E}">
        <p14:creationId xmlns:p14="http://schemas.microsoft.com/office/powerpoint/2010/main" val="472112062"/>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ABF47-9880-4B4A-B256-C4BD34A529FF}"/>
              </a:ext>
            </a:extLst>
          </p:cNvPr>
          <p:cNvSpPr>
            <a:spLocks noGrp="1"/>
          </p:cNvSpPr>
          <p:nvPr>
            <p:ph type="title"/>
          </p:nvPr>
        </p:nvSpPr>
        <p:spPr/>
        <p:txBody>
          <a:bodyPr/>
          <a:lstStyle/>
          <a:p>
            <a:r>
              <a:rPr lang="zh-CN" altLang="en-US" b="1" dirty="0"/>
              <a:t>投影变换</a:t>
            </a:r>
            <a:r>
              <a:rPr lang="zh-CN" altLang="en-US" b="1" dirty="0">
                <a:solidFill>
                  <a:srgbClr val="00B0F0"/>
                </a:solidFill>
              </a:rPr>
              <a:t>（</a:t>
            </a:r>
            <a:r>
              <a:rPr lang="en-US" altLang="zh-CN" b="1" dirty="0">
                <a:solidFill>
                  <a:srgbClr val="00B0F0"/>
                </a:solidFill>
              </a:rPr>
              <a:t>OpenCV</a:t>
            </a:r>
            <a:r>
              <a:rPr lang="zh-CN" altLang="en-US" b="1" dirty="0">
                <a:solidFill>
                  <a:srgbClr val="00B0F0"/>
                </a:solidFill>
              </a:rPr>
              <a:t>计算）</a:t>
            </a:r>
            <a:endParaRPr lang="zh-CN" altLang="en-US" dirty="0">
              <a:solidFill>
                <a:srgbClr val="00B0F0"/>
              </a:solidFill>
            </a:endParaRPr>
          </a:p>
        </p:txBody>
      </p:sp>
      <p:sp>
        <p:nvSpPr>
          <p:cNvPr id="3" name="Content Placeholder 2">
            <a:extLst>
              <a:ext uri="{FF2B5EF4-FFF2-40B4-BE49-F238E27FC236}">
                <a16:creationId xmlns:a16="http://schemas.microsoft.com/office/drawing/2014/main" id="{FCE51C76-CE34-4F13-B11C-E91DC9AA5E31}"/>
              </a:ext>
            </a:extLst>
          </p:cNvPr>
          <p:cNvSpPr>
            <a:spLocks noGrp="1"/>
          </p:cNvSpPr>
          <p:nvPr>
            <p:ph idx="1"/>
          </p:nvPr>
        </p:nvSpPr>
        <p:spPr/>
        <p:txBody>
          <a:bodyPr/>
          <a:lstStyle/>
          <a:p>
            <a:endParaRPr lang="zh-CN" altLang="en-US" dirty="0"/>
          </a:p>
        </p:txBody>
      </p:sp>
      <p:pic>
        <p:nvPicPr>
          <p:cNvPr id="4" name="Picture 3">
            <a:extLst>
              <a:ext uri="{FF2B5EF4-FFF2-40B4-BE49-F238E27FC236}">
                <a16:creationId xmlns:a16="http://schemas.microsoft.com/office/drawing/2014/main" id="{85EA7FFA-97B3-4E5A-AA61-734ABE9BF848}"/>
              </a:ext>
            </a:extLst>
          </p:cNvPr>
          <p:cNvPicPr>
            <a:picLocks noChangeAspect="1"/>
          </p:cNvPicPr>
          <p:nvPr/>
        </p:nvPicPr>
        <p:blipFill>
          <a:blip r:embed="rId2"/>
          <a:stretch>
            <a:fillRect/>
          </a:stretch>
        </p:blipFill>
        <p:spPr>
          <a:xfrm>
            <a:off x="2418062" y="1478652"/>
            <a:ext cx="7355876" cy="5045283"/>
          </a:xfrm>
          <a:prstGeom prst="rect">
            <a:avLst/>
          </a:prstGeom>
        </p:spPr>
      </p:pic>
      <p:sp>
        <p:nvSpPr>
          <p:cNvPr id="5" name="Rectangle 4">
            <a:extLst>
              <a:ext uri="{FF2B5EF4-FFF2-40B4-BE49-F238E27FC236}">
                <a16:creationId xmlns:a16="http://schemas.microsoft.com/office/drawing/2014/main" id="{17A7343D-E2E0-43BE-B42D-36ED7CCF6783}"/>
              </a:ext>
            </a:extLst>
          </p:cNvPr>
          <p:cNvSpPr/>
          <p:nvPr/>
        </p:nvSpPr>
        <p:spPr>
          <a:xfrm>
            <a:off x="6717360" y="6492875"/>
            <a:ext cx="5474640" cy="369332"/>
          </a:xfrm>
          <a:prstGeom prst="rect">
            <a:avLst/>
          </a:prstGeom>
        </p:spPr>
        <p:txBody>
          <a:bodyPr wrap="none">
            <a:spAutoFit/>
          </a:bodyPr>
          <a:lstStyle/>
          <a:p>
            <a:r>
              <a:rPr lang="zh-CN" altLang="en-US" dirty="0">
                <a:hlinkClick r:id="rId3"/>
              </a:rPr>
              <a:t>https://theailearner.com/tag/cv2-getperspectivetransform/</a:t>
            </a:r>
            <a:endParaRPr lang="zh-CN" altLang="en-US" dirty="0"/>
          </a:p>
        </p:txBody>
      </p:sp>
    </p:spTree>
    <p:extLst>
      <p:ext uri="{BB962C8B-B14F-4D97-AF65-F5344CB8AC3E}">
        <p14:creationId xmlns:p14="http://schemas.microsoft.com/office/powerpoint/2010/main" val="1295107335"/>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12C45-8E49-4EED-A53B-A77C2285FC64}"/>
              </a:ext>
            </a:extLst>
          </p:cNvPr>
          <p:cNvSpPr>
            <a:spLocks noGrp="1"/>
          </p:cNvSpPr>
          <p:nvPr>
            <p:ph type="title"/>
          </p:nvPr>
        </p:nvSpPr>
        <p:spPr/>
        <p:txBody>
          <a:bodyPr/>
          <a:lstStyle/>
          <a:p>
            <a:r>
              <a:rPr lang="zh-CN" altLang="en-US" b="1" dirty="0"/>
              <a:t>投影变换</a:t>
            </a:r>
          </a:p>
        </p:txBody>
      </p:sp>
      <p:sp>
        <p:nvSpPr>
          <p:cNvPr id="3" name="Content Placeholder 2">
            <a:extLst>
              <a:ext uri="{FF2B5EF4-FFF2-40B4-BE49-F238E27FC236}">
                <a16:creationId xmlns:a16="http://schemas.microsoft.com/office/drawing/2014/main" id="{18568FCA-0B95-4997-9770-FBE1C04F3489}"/>
              </a:ext>
            </a:extLst>
          </p:cNvPr>
          <p:cNvSpPr>
            <a:spLocks noGrp="1"/>
          </p:cNvSpPr>
          <p:nvPr>
            <p:ph idx="1"/>
          </p:nvPr>
        </p:nvSpPr>
        <p:spPr/>
        <p:txBody>
          <a:bodyPr/>
          <a:lstStyle/>
          <a:p>
            <a:r>
              <a:rPr lang="zh-CN" altLang="en-US" b="1" dirty="0">
                <a:solidFill>
                  <a:srgbClr val="00B0F0"/>
                </a:solidFill>
              </a:rPr>
              <a:t>去除错误的匹配（</a:t>
            </a:r>
            <a:r>
              <a:rPr lang="en-US" altLang="zh-CN" b="1" dirty="0">
                <a:solidFill>
                  <a:srgbClr val="00B0F0"/>
                </a:solidFill>
              </a:rPr>
              <a:t>RANSAC)</a:t>
            </a:r>
            <a:endParaRPr lang="zh-CN" altLang="en-US" b="1" dirty="0">
              <a:solidFill>
                <a:srgbClr val="00B0F0"/>
              </a:solidFill>
            </a:endParaRPr>
          </a:p>
        </p:txBody>
      </p:sp>
      <p:pic>
        <p:nvPicPr>
          <p:cNvPr id="4" name="Picture 4">
            <a:extLst>
              <a:ext uri="{FF2B5EF4-FFF2-40B4-BE49-F238E27FC236}">
                <a16:creationId xmlns:a16="http://schemas.microsoft.com/office/drawing/2014/main" id="{47346CE9-69FB-4317-9AAE-A1AD851A94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84074" y="2687638"/>
            <a:ext cx="5823851" cy="330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Tree>
    <p:extLst>
      <p:ext uri="{BB962C8B-B14F-4D97-AF65-F5344CB8AC3E}">
        <p14:creationId xmlns:p14="http://schemas.microsoft.com/office/powerpoint/2010/main" val="1899996280"/>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18BD9-2069-44F9-ABCF-6DA29BC50E17}"/>
              </a:ext>
            </a:extLst>
          </p:cNvPr>
          <p:cNvSpPr>
            <a:spLocks noGrp="1"/>
          </p:cNvSpPr>
          <p:nvPr>
            <p:ph type="title"/>
          </p:nvPr>
        </p:nvSpPr>
        <p:spPr/>
        <p:txBody>
          <a:bodyPr/>
          <a:lstStyle/>
          <a:p>
            <a:r>
              <a:rPr lang="zh-CN" altLang="en-US" b="1" dirty="0"/>
              <a:t>作业</a:t>
            </a:r>
          </a:p>
        </p:txBody>
      </p:sp>
      <p:sp>
        <p:nvSpPr>
          <p:cNvPr id="3" name="Content Placeholder 2">
            <a:extLst>
              <a:ext uri="{FF2B5EF4-FFF2-40B4-BE49-F238E27FC236}">
                <a16:creationId xmlns:a16="http://schemas.microsoft.com/office/drawing/2014/main" id="{90C2957E-DDA2-4DA8-BB8B-38E21083BDB7}"/>
              </a:ext>
            </a:extLst>
          </p:cNvPr>
          <p:cNvSpPr>
            <a:spLocks noGrp="1"/>
          </p:cNvSpPr>
          <p:nvPr>
            <p:ph idx="1"/>
          </p:nvPr>
        </p:nvSpPr>
        <p:spPr/>
        <p:txBody>
          <a:bodyPr/>
          <a:lstStyle/>
          <a:p>
            <a:pPr>
              <a:lnSpc>
                <a:spcPct val="110000"/>
              </a:lnSpc>
            </a:pPr>
            <a:r>
              <a:rPr lang="zh-CN" altLang="en-US" dirty="0"/>
              <a:t>拍一张</a:t>
            </a:r>
            <a:r>
              <a:rPr lang="en-US" altLang="zh-CN" dirty="0"/>
              <a:t>A4</a:t>
            </a:r>
            <a:r>
              <a:rPr lang="zh-CN" altLang="en-US" dirty="0"/>
              <a:t>纸文稿的图片，利用角点检测、边缘检测等，再通过投影变换完成对文档的对齐扫描</a:t>
            </a:r>
            <a:endParaRPr lang="en-US" altLang="zh-CN" dirty="0"/>
          </a:p>
          <a:p>
            <a:pPr>
              <a:lnSpc>
                <a:spcPct val="110000"/>
              </a:lnSpc>
            </a:pPr>
            <a:r>
              <a:rPr lang="zh-CN" altLang="en-US" dirty="0"/>
              <a:t>两周内完成，提交代码</a:t>
            </a:r>
            <a:r>
              <a:rPr lang="en-US" altLang="zh-CN" dirty="0"/>
              <a:t> + 1~2</a:t>
            </a:r>
            <a:r>
              <a:rPr lang="zh-CN" altLang="en-US" dirty="0"/>
              <a:t>页的报告</a:t>
            </a:r>
            <a:endParaRPr lang="en-US" altLang="zh-CN" dirty="0"/>
          </a:p>
        </p:txBody>
      </p:sp>
      <p:grpSp>
        <p:nvGrpSpPr>
          <p:cNvPr id="7" name="Group 6">
            <a:extLst>
              <a:ext uri="{FF2B5EF4-FFF2-40B4-BE49-F238E27FC236}">
                <a16:creationId xmlns:a16="http://schemas.microsoft.com/office/drawing/2014/main" id="{9FC78A8D-8615-45F0-A9EF-B57A62565E40}"/>
              </a:ext>
            </a:extLst>
          </p:cNvPr>
          <p:cNvGrpSpPr>
            <a:grpSpLocks noChangeAspect="1"/>
          </p:cNvGrpSpPr>
          <p:nvPr/>
        </p:nvGrpSpPr>
        <p:grpSpPr>
          <a:xfrm>
            <a:off x="3843896" y="3556552"/>
            <a:ext cx="4504207" cy="2936323"/>
            <a:chOff x="1143528" y="2106993"/>
            <a:chExt cx="6626716" cy="4320000"/>
          </a:xfrm>
        </p:grpSpPr>
        <p:pic>
          <p:nvPicPr>
            <p:cNvPr id="4" name="Picture 3">
              <a:extLst>
                <a:ext uri="{FF2B5EF4-FFF2-40B4-BE49-F238E27FC236}">
                  <a16:creationId xmlns:a16="http://schemas.microsoft.com/office/drawing/2014/main" id="{31110F61-05A9-4679-9631-B5DF64C33645}"/>
                </a:ext>
              </a:extLst>
            </p:cNvPr>
            <p:cNvPicPr>
              <a:picLocks noChangeAspect="1"/>
            </p:cNvPicPr>
            <p:nvPr/>
          </p:nvPicPr>
          <p:blipFill>
            <a:blip r:embed="rId2"/>
            <a:stretch>
              <a:fillRect/>
            </a:stretch>
          </p:blipFill>
          <p:spPr>
            <a:xfrm>
              <a:off x="1143528" y="2106993"/>
              <a:ext cx="3278230" cy="4320000"/>
            </a:xfrm>
            <a:prstGeom prst="rect">
              <a:avLst/>
            </a:prstGeom>
          </p:spPr>
        </p:pic>
        <p:pic>
          <p:nvPicPr>
            <p:cNvPr id="5" name="Picture 4">
              <a:extLst>
                <a:ext uri="{FF2B5EF4-FFF2-40B4-BE49-F238E27FC236}">
                  <a16:creationId xmlns:a16="http://schemas.microsoft.com/office/drawing/2014/main" id="{BB91718A-ABE4-46D6-BF15-9A180A4CDAF8}"/>
                </a:ext>
              </a:extLst>
            </p:cNvPr>
            <p:cNvPicPr>
              <a:picLocks noChangeAspect="1"/>
            </p:cNvPicPr>
            <p:nvPr/>
          </p:nvPicPr>
          <p:blipFill>
            <a:blip r:embed="rId3"/>
            <a:stretch>
              <a:fillRect/>
            </a:stretch>
          </p:blipFill>
          <p:spPr>
            <a:xfrm>
              <a:off x="4718745" y="2106993"/>
              <a:ext cx="3051499" cy="4320000"/>
            </a:xfrm>
            <a:prstGeom prst="rect">
              <a:avLst/>
            </a:prstGeom>
          </p:spPr>
        </p:pic>
      </p:grpSp>
    </p:spTree>
    <p:extLst>
      <p:ext uri="{BB962C8B-B14F-4D97-AF65-F5344CB8AC3E}">
        <p14:creationId xmlns:p14="http://schemas.microsoft.com/office/powerpoint/2010/main" val="23288086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doet4z03">
      <a:majorFont>
        <a:latin typeface="Times New Roman" panose="020F0302020204030204"/>
        <a:ea typeface="宋体"/>
        <a:cs typeface=""/>
      </a:majorFont>
      <a:minorFont>
        <a:latin typeface="Times New Roman" panose="020F0502020204030204"/>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201</TotalTime>
  <Words>6686</Words>
  <Application>Microsoft Office PowerPoint</Application>
  <PresentationFormat>Widescreen</PresentationFormat>
  <Paragraphs>593</Paragraphs>
  <Slides>145</Slides>
  <Notes>2</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1</vt:i4>
      </vt:variant>
      <vt:variant>
        <vt:lpstr>Slide Titles</vt:lpstr>
      </vt:variant>
      <vt:variant>
        <vt:i4>145</vt:i4>
      </vt:variant>
    </vt:vector>
  </HeadingPairs>
  <TitlesOfParts>
    <vt:vector size="159" baseType="lpstr">
      <vt:lpstr>Helvetica Light</vt:lpstr>
      <vt:lpstr>KaiTi</vt:lpstr>
      <vt:lpstr>MS-PGothic</vt:lpstr>
      <vt:lpstr>TimesNewRomanPSMT</vt:lpstr>
      <vt:lpstr>等线</vt:lpstr>
      <vt:lpstr>楷体_GB2312</vt:lpstr>
      <vt:lpstr>SimSun</vt:lpstr>
      <vt:lpstr>SimSun</vt:lpstr>
      <vt:lpstr>Arial</vt:lpstr>
      <vt:lpstr>Cambria Math</vt:lpstr>
      <vt:lpstr>Helvetica</vt:lpstr>
      <vt:lpstr>Times New Roman</vt:lpstr>
      <vt:lpstr>Office Theme</vt:lpstr>
      <vt:lpstr>Visio.Drawing.6</vt:lpstr>
      <vt:lpstr>3. 数字图像处理基础（2）</vt:lpstr>
      <vt:lpstr>提纲</vt:lpstr>
      <vt:lpstr>二值形态学操作</vt:lpstr>
      <vt:lpstr>1. 概述</vt:lpstr>
      <vt:lpstr>1. 概述</vt:lpstr>
      <vt:lpstr>1. 概述</vt:lpstr>
      <vt:lpstr>1. 概述</vt:lpstr>
      <vt:lpstr>2. 集合论基础知识</vt:lpstr>
      <vt:lpstr>2. 集合论基础知识</vt:lpstr>
      <vt:lpstr>3. 腐蚀和膨胀 – 腐蚀</vt:lpstr>
      <vt:lpstr>3. 腐蚀和膨胀 – 腐蚀（举例）</vt:lpstr>
      <vt:lpstr>3. 腐蚀和膨胀 – 腐蚀（举例）</vt:lpstr>
      <vt:lpstr>3. 腐蚀和膨胀 – 膨胀</vt:lpstr>
      <vt:lpstr>3. 腐蚀和膨胀 – 膨胀</vt:lpstr>
      <vt:lpstr>3. 腐蚀和膨胀 – 膨胀</vt:lpstr>
      <vt:lpstr>3. 腐蚀和膨胀 – 膨胀（举例）</vt:lpstr>
      <vt:lpstr>3. 腐蚀和膨胀 –应用举例</vt:lpstr>
      <vt:lpstr>3. 腐蚀和膨胀 – 对偶性</vt:lpstr>
      <vt:lpstr>3. 腐蚀和膨胀</vt:lpstr>
      <vt:lpstr>4. 开运算与闭运算</vt:lpstr>
      <vt:lpstr>4. 开运算与闭运算</vt:lpstr>
      <vt:lpstr>4. 开运算与闭运算</vt:lpstr>
      <vt:lpstr>4. 开运算与闭运算</vt:lpstr>
      <vt:lpstr>4. 开运算与闭运算</vt:lpstr>
      <vt:lpstr>4. 开运算与闭运算</vt:lpstr>
      <vt:lpstr>4. 开运算与闭运算 – 应用举例</vt:lpstr>
      <vt:lpstr>4. 开运算与闭运算 – 应用举例</vt:lpstr>
      <vt:lpstr>6. 算法应用 – 边界提取</vt:lpstr>
      <vt:lpstr>6. 算法应用 – 边界提取</vt:lpstr>
      <vt:lpstr>6. 算法应用 – 孔洞填充</vt:lpstr>
      <vt:lpstr>6. 算法应用 – 孔洞填充</vt:lpstr>
      <vt:lpstr>6. 算法应用 – 孔洞填充</vt:lpstr>
      <vt:lpstr>6. 算法应用 – 孔洞填充</vt:lpstr>
      <vt:lpstr>提纲</vt:lpstr>
      <vt:lpstr>背景知识</vt:lpstr>
      <vt:lpstr>背景知识</vt:lpstr>
      <vt:lpstr>孤立点的检测</vt:lpstr>
      <vt:lpstr>孤立点检测</vt:lpstr>
      <vt:lpstr>线检测</vt:lpstr>
      <vt:lpstr>线检测</vt:lpstr>
      <vt:lpstr>线检测</vt:lpstr>
      <vt:lpstr>边缘检测</vt:lpstr>
      <vt:lpstr>边缘检测</vt:lpstr>
      <vt:lpstr>数字边缘模型</vt:lpstr>
      <vt:lpstr>数字边缘模型</vt:lpstr>
      <vt:lpstr>数字边缘模型</vt:lpstr>
      <vt:lpstr>数字边缘模型</vt:lpstr>
      <vt:lpstr>边缘检测</vt:lpstr>
      <vt:lpstr>边缘检测</vt:lpstr>
      <vt:lpstr>梯度算子</vt:lpstr>
      <vt:lpstr>梯度算子</vt:lpstr>
      <vt:lpstr>梯度算子</vt:lpstr>
      <vt:lpstr>梯度算子</vt:lpstr>
      <vt:lpstr>梯度算子</vt:lpstr>
      <vt:lpstr>更先进的边缘检测算法</vt:lpstr>
      <vt:lpstr>Marr-Hildreth边缘检测算法</vt:lpstr>
      <vt:lpstr>Marr-Hildreth边缘检测算法</vt:lpstr>
      <vt:lpstr>Marr-Hildreth边缘检测算法</vt:lpstr>
      <vt:lpstr>Marr-Hildreth边缘检测算法</vt:lpstr>
      <vt:lpstr>Marr-Hildreth边缘检测算法</vt:lpstr>
      <vt:lpstr>Canny边缘检测算法</vt:lpstr>
      <vt:lpstr>Canny边缘检测算法</vt:lpstr>
      <vt:lpstr>Canny边缘检测算法</vt:lpstr>
      <vt:lpstr>Canny边缘检测算法</vt:lpstr>
      <vt:lpstr>Canny边缘检测算法</vt:lpstr>
      <vt:lpstr>Canny边缘检测算法</vt:lpstr>
      <vt:lpstr>Canny边缘检测算法</vt:lpstr>
      <vt:lpstr>Canny边缘检测算法</vt:lpstr>
      <vt:lpstr>提纲</vt:lpstr>
      <vt:lpstr>全景拼接（Panorama Stitching）</vt:lpstr>
      <vt:lpstr>全景拼接（Panorama Stitching）</vt:lpstr>
      <vt:lpstr>全景拼接（Panorama Stitching）</vt:lpstr>
      <vt:lpstr>全景拼接（Panorama Stitching）</vt:lpstr>
      <vt:lpstr>全景拼接（Panorama Stitching）</vt:lpstr>
      <vt:lpstr>全景拼接（Panorama Stitching）</vt:lpstr>
      <vt:lpstr>全景拼接（Panorama Stitching）</vt:lpstr>
      <vt:lpstr>全景拼接（Panorama Stitching）</vt:lpstr>
      <vt:lpstr>角点检测 (Corner detection)</vt:lpstr>
      <vt:lpstr>Harris角点检测：基本思想</vt:lpstr>
      <vt:lpstr>Harris角点检测</vt:lpstr>
      <vt:lpstr>Harris角点检测</vt:lpstr>
      <vt:lpstr>Harris角点检测</vt:lpstr>
      <vt:lpstr>Harris角点检测</vt:lpstr>
      <vt:lpstr>Harris角点检测</vt:lpstr>
      <vt:lpstr>Harris角点检测</vt:lpstr>
      <vt:lpstr>Harris角点检测</vt:lpstr>
      <vt:lpstr>圆的方程</vt:lpstr>
      <vt:lpstr>椭圆的方程</vt:lpstr>
      <vt:lpstr>椭圆的方程</vt:lpstr>
      <vt:lpstr>特征值与特征向量</vt:lpstr>
      <vt:lpstr>特征值与特征向量</vt:lpstr>
      <vt:lpstr>Harris角点检测</vt:lpstr>
      <vt:lpstr>Harris角点检测</vt:lpstr>
      <vt:lpstr>Harris角点检测</vt:lpstr>
      <vt:lpstr>Harris角点检测</vt:lpstr>
      <vt:lpstr>Harris角点检测</vt:lpstr>
      <vt:lpstr>Harris角点检测</vt:lpstr>
      <vt:lpstr>Harris角点检测</vt:lpstr>
      <vt:lpstr>Harris角点检测</vt:lpstr>
      <vt:lpstr>Harris角点检测</vt:lpstr>
      <vt:lpstr>Harris角点检测</vt:lpstr>
      <vt:lpstr>Harris角点检测</vt:lpstr>
      <vt:lpstr>Harris角点检测</vt:lpstr>
      <vt:lpstr>Harris角点检测</vt:lpstr>
      <vt:lpstr>Harris角点检测</vt:lpstr>
      <vt:lpstr>Harris角点性质</vt:lpstr>
      <vt:lpstr>Harris角点性质</vt:lpstr>
      <vt:lpstr>Harris角点性质</vt:lpstr>
      <vt:lpstr>Harris角点性质</vt:lpstr>
      <vt:lpstr>Harris角点性质</vt:lpstr>
      <vt:lpstr>Harris角点性质</vt:lpstr>
      <vt:lpstr>Harris角点性质</vt:lpstr>
      <vt:lpstr>Harris角点性质</vt:lpstr>
      <vt:lpstr>尺度不变检测（Scale Invariant Detection）</vt:lpstr>
      <vt:lpstr>尺度不变检测（Scale Invariant Detection）</vt:lpstr>
      <vt:lpstr>尺度不变检测（Scale Invariant Detection）</vt:lpstr>
      <vt:lpstr>尺度不变检测（Scale Invariant Detection）</vt:lpstr>
      <vt:lpstr>尺度不变检测（Scale Invariant Detection）</vt:lpstr>
      <vt:lpstr>尺度不变检测（Scale Invariant Detection）</vt:lpstr>
      <vt:lpstr>尺度不变检测（Scale Invariant Detection）</vt:lpstr>
      <vt:lpstr>尺度不变检测（Scale Invariant Detection）</vt:lpstr>
      <vt:lpstr>Harris-Laplacian</vt:lpstr>
      <vt:lpstr>尺度选择 (Scale Selection)</vt:lpstr>
      <vt:lpstr>特征尺度（Characteristic scale）</vt:lpstr>
      <vt:lpstr>Laplacian-of-Gaussian (LoG)</vt:lpstr>
      <vt:lpstr>Laplacian-of-Gaussian (LoG)</vt:lpstr>
      <vt:lpstr>提纲</vt:lpstr>
      <vt:lpstr>2D仿射与投影变换</vt:lpstr>
      <vt:lpstr>坐标变换</vt:lpstr>
      <vt:lpstr>坐标变换</vt:lpstr>
      <vt:lpstr>坐标变换</vt:lpstr>
      <vt:lpstr>坐标变换</vt:lpstr>
      <vt:lpstr>坐标变换</vt:lpstr>
      <vt:lpstr>坐标变换</vt:lpstr>
      <vt:lpstr>坐标变换</vt:lpstr>
      <vt:lpstr>坐标变换</vt:lpstr>
      <vt:lpstr>坐标变换的自由度</vt:lpstr>
      <vt:lpstr>级联变换</vt:lpstr>
      <vt:lpstr>仿射变换</vt:lpstr>
      <vt:lpstr>仿射变换的应用</vt:lpstr>
      <vt:lpstr>投影变换（仿射变换+投影扭曲）</vt:lpstr>
      <vt:lpstr>投影变换（仿射变换+投影扭曲）</vt:lpstr>
      <vt:lpstr>投影变换（OpenCV计算）</vt:lpstr>
      <vt:lpstr>投影变换</vt:lpstr>
      <vt:lpstr>作业</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 数字图像处理基础（2）</dc:title>
  <dc:creator>Luo Zhiming</dc:creator>
  <cp:lastModifiedBy>Luo Zhiming</cp:lastModifiedBy>
  <cp:revision>20</cp:revision>
  <dcterms:created xsi:type="dcterms:W3CDTF">2023-02-27T02:11:27Z</dcterms:created>
  <dcterms:modified xsi:type="dcterms:W3CDTF">2023-02-27T05:32:37Z</dcterms:modified>
</cp:coreProperties>
</file>