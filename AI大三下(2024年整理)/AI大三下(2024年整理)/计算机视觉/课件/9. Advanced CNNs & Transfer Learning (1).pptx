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644" r:id="rId2"/>
    <p:sldId id="674" r:id="rId3"/>
    <p:sldId id="675" r:id="rId4"/>
    <p:sldId id="676" r:id="rId5"/>
    <p:sldId id="677" r:id="rId6"/>
    <p:sldId id="685" r:id="rId7"/>
    <p:sldId id="678" r:id="rId8"/>
    <p:sldId id="671" r:id="rId9"/>
    <p:sldId id="673" r:id="rId10"/>
    <p:sldId id="645" r:id="rId11"/>
    <p:sldId id="679" r:id="rId12"/>
    <p:sldId id="683" r:id="rId13"/>
    <p:sldId id="684" r:id="rId14"/>
    <p:sldId id="687" r:id="rId15"/>
    <p:sldId id="646" r:id="rId16"/>
    <p:sldId id="660" r:id="rId17"/>
    <p:sldId id="647" r:id="rId18"/>
    <p:sldId id="648" r:id="rId19"/>
    <p:sldId id="649" r:id="rId20"/>
    <p:sldId id="650" r:id="rId21"/>
    <p:sldId id="651" r:id="rId22"/>
    <p:sldId id="563" r:id="rId23"/>
    <p:sldId id="564" r:id="rId24"/>
    <p:sldId id="565" r:id="rId25"/>
    <p:sldId id="653" r:id="rId26"/>
    <p:sldId id="680" r:id="rId27"/>
    <p:sldId id="686" r:id="rId28"/>
    <p:sldId id="576" r:id="rId29"/>
    <p:sldId id="654" r:id="rId30"/>
    <p:sldId id="681" r:id="rId31"/>
    <p:sldId id="682" r:id="rId32"/>
    <p:sldId id="689" r:id="rId33"/>
    <p:sldId id="690" r:id="rId34"/>
    <p:sldId id="688" r:id="rId35"/>
    <p:sldId id="639" r:id="rId36"/>
    <p:sldId id="566" r:id="rId37"/>
    <p:sldId id="655" r:id="rId38"/>
    <p:sldId id="656" r:id="rId39"/>
    <p:sldId id="657" r:id="rId40"/>
    <p:sldId id="577" r:id="rId41"/>
    <p:sldId id="658" r:id="rId42"/>
    <p:sldId id="567" r:id="rId43"/>
    <p:sldId id="568" r:id="rId44"/>
    <p:sldId id="569" r:id="rId45"/>
    <p:sldId id="578" r:id="rId46"/>
    <p:sldId id="579" r:id="rId47"/>
    <p:sldId id="581" r:id="rId48"/>
    <p:sldId id="582" r:id="rId49"/>
    <p:sldId id="661" r:id="rId50"/>
    <p:sldId id="672" r:id="rId51"/>
    <p:sldId id="663" r:id="rId52"/>
    <p:sldId id="664" r:id="rId53"/>
    <p:sldId id="665" r:id="rId54"/>
    <p:sldId id="666" r:id="rId55"/>
    <p:sldId id="667" r:id="rId56"/>
    <p:sldId id="668" r:id="rId57"/>
    <p:sldId id="669" r:id="rId58"/>
    <p:sldId id="670" r:id="rId5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1128" y="81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24.27184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3-04-23T11:53:13.41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2729 7973 0,'0'78'63,"-48"-26"-48,48-25 1,-24 51-16,-1-1 16,-23 28-1,48-27 1,-24-26 0,24 0-1,-24 26 1,0-25 15,0-1-15,24-1-1,0-24 1,-24 25 0,24 0-1,0-26 1,0 1-1,0-2 79,-25-25-94,25 26 0,0 1 31,0-2-15,-23-25 0,-2 27-1,25-1 1,-24-26 0,24 26-1,0 0 1,24-1 109,24-25-125,49 0 15,-1 27 1,26-27 0,70 26-1,-96 0 1,49 0 0,-73-26-1,1 27 1,-49-27-1,0 25 1,23 28 15,-22-53-15,23 25-16,1 27 16,23 26-1,-48-51 16,23-1-31,-22 26 16,0-25 0,-25-2-1,0 28 1,0-1 0,23 26-1,-23 79 1,-73-80-1,26 28 1,-1-79 0,-72-1-1,-1 29 1,0-54 0,48 0 15,25 0-16,1 0 1,-50 0 0,1 0-1,23 0 1,-24 0 0,50 0-16,-98 0 15,72 0 1,50 0-1,-2 0 32,1 0-47,1 0 16,-2 0 15,0 0 16,2 0-16,-1 0-15,-1 0 93</inkml:trace>
  <inkml:trace contextRef="#ctx0" brushRef="#br0" timeOffset="1249.442">2729 8233 0,'48'-25'16,"49"-2"0,48 27-1,-25 0 1,25 0-1,23 0 1,72 0 0,50 0-1,-265 0 1,-2 0 62,26 0-78,-26 0 16,27 0-1,-3-26 1,-22 26 62,-2 0 63,2 0-110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C899B-003C-437A-83ED-E3D8D11D8F0F}" type="datetimeFigureOut">
              <a:rPr lang="zh-CN" altLang="en-US" smtClean="0"/>
              <a:t>2023-4-22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1BEC4-4C55-42F5-AD04-3DE72B58EB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178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27232-A2A8-4DBD-9C56-9955993D9F5F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62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931E5-3D69-4EE8-B01C-E43A67A01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7CC887-8D85-4468-A009-0AA97129A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73E1D-91FE-437D-A734-5B4FDDAAA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0A2B-554D-420E-AD5B-226D861C4B6A}" type="datetimeFigureOut">
              <a:rPr lang="zh-CN" altLang="en-US" smtClean="0"/>
              <a:t>2023-4-22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6014D-CE0F-4B2F-AEA5-34E0A172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35346-06D6-4E78-BDF3-B9925CD87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D141-41B5-4958-8138-4197CD27B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150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61E31-6091-460B-9B81-0CDEC28CB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EA79A-19FC-4B09-8EC4-54DC79D41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3351E-0D9A-4760-9348-1C9DE7CE5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0A2B-554D-420E-AD5B-226D861C4B6A}" type="datetimeFigureOut">
              <a:rPr lang="zh-CN" altLang="en-US" smtClean="0"/>
              <a:t>2023-4-22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34918-76F0-4EF8-A6E2-47931606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30AB8-BFD0-4A5D-AADD-89293AB6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D141-41B5-4958-8138-4197CD27B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902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4683C-A8EA-4F3D-94C4-7FB7BDBD5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FEC77-6B10-40E2-91D8-D5AA41F96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06698-F72D-4502-B54A-2243E48AD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0A2B-554D-420E-AD5B-226D861C4B6A}" type="datetimeFigureOut">
              <a:rPr lang="zh-CN" altLang="en-US" smtClean="0"/>
              <a:t>2023-4-22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4B3EF-676A-44D3-8C1F-571521946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286D6-4839-4482-B756-0C78E46AB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D141-41B5-4958-8138-4197CD27B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987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597F4-5F85-4AAA-8FBB-C4A45B562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89672-529E-4A62-BBBC-9BB4E2F9A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13F73-BE04-4A49-AFB9-320710F8C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EEF9B-74C6-41BE-B713-0778644A0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0A2B-554D-420E-AD5B-226D861C4B6A}" type="datetimeFigureOut">
              <a:rPr lang="zh-CN" altLang="en-US" smtClean="0"/>
              <a:t>2023-4-22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07C35-64A2-495D-B62C-6330CF508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4FD0E-DB59-4DEE-B89F-85CC506DB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D141-41B5-4958-8138-4197CD27B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627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0AA29-4EC4-4F5E-B867-EBB83C2E0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C5D00-333C-4922-8B48-C13E9DC70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0CC3-904C-4A30-903A-4FC2D4752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2BE99-E5B7-409D-B3A0-0409ECF7B1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ACBAA8-4CAD-4DE1-B7BF-2674267854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8D2FE-C2CB-4A8F-BEB0-0891ADF94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0A2B-554D-420E-AD5B-226D861C4B6A}" type="datetimeFigureOut">
              <a:rPr lang="zh-CN" altLang="en-US" smtClean="0"/>
              <a:t>2023-4-22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26577A-8AB6-4615-A711-2D949D76A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13FDA5-798F-4468-8E95-5EC6F2317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D141-41B5-4958-8138-4197CD27B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68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CD585-BCB4-45C4-9555-936C11B8E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DCCF3C-FFC2-4D96-9DD8-FD3473EDA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0A2B-554D-420E-AD5B-226D861C4B6A}" type="datetimeFigureOut">
              <a:rPr lang="zh-CN" altLang="en-US" smtClean="0"/>
              <a:t>2023-4-22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3E2B69-001E-4B79-AD25-4841E3B32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E2BEB-80CE-4B58-BAEA-29382DE92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D141-41B5-4958-8138-4197CD27B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632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AD7125-4964-4595-A183-E1814E5EE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0A2B-554D-420E-AD5B-226D861C4B6A}" type="datetimeFigureOut">
              <a:rPr lang="zh-CN" altLang="en-US" smtClean="0"/>
              <a:t>2023-4-22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B470F8-1FA8-4485-B569-CB68E7F22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E90CE-D348-444D-B982-1061F086C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D141-41B5-4958-8138-4197CD27B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770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476DB-8471-4F61-AC1E-135A7EDEE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DBF73-C8D7-4E29-B6C9-7F4EDFB64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F0F16-E38D-43B7-80AD-AD8A00788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3EBE9-3D49-4102-B784-5027C8232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0A2B-554D-420E-AD5B-226D861C4B6A}" type="datetimeFigureOut">
              <a:rPr lang="zh-CN" altLang="en-US" smtClean="0"/>
              <a:t>2023-4-22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EBA88-694A-48F7-9670-D2DC9A147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83576-B4D0-4F49-96E8-E71FE8F4E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D141-41B5-4958-8138-4197CD27B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691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FB5AB-6DCE-468B-9E21-6A58A683E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C6A742-6B52-4222-94B9-32CEF2A176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B21BD-A2A5-4731-9948-5ACA52104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C1DBE-1065-438D-A711-87CE89165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0A2B-554D-420E-AD5B-226D861C4B6A}" type="datetimeFigureOut">
              <a:rPr lang="zh-CN" altLang="en-US" smtClean="0"/>
              <a:t>2023-4-22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23610-3A4A-437F-B8F0-73E85A264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BF377-1ACF-44D6-ACF8-2B496BB9F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D141-41B5-4958-8138-4197CD27B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46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4E6C8-89F3-4404-B92D-661C2BAA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68E2A-3423-4537-BE32-87546E647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0E2A6-186D-4141-B899-4AE939FBD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0A2B-554D-420E-AD5B-226D861C4B6A}" type="datetimeFigureOut">
              <a:rPr lang="zh-CN" altLang="en-US" smtClean="0"/>
              <a:t>2023-4-22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575C9-0E07-4D48-B509-D52888AFD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D786E-9BE7-46B9-9CD3-F6C9D0E87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D141-41B5-4958-8138-4197CD27B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94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8B4D01-8B05-4C2A-B215-1FBA70F4CA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04A20C-C596-41BD-96E5-5485C7582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DE2F4-3DBC-426D-8B11-56A3A121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0A2B-554D-420E-AD5B-226D861C4B6A}" type="datetimeFigureOut">
              <a:rPr lang="zh-CN" altLang="en-US" smtClean="0"/>
              <a:t>2023-4-22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C03F6-4710-40E7-8F75-AEC88F095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D1865-E3B1-4FFA-9F79-DCFCE043A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D141-41B5-4958-8138-4197CD27B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437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98A594-4412-4A06-B20B-597A95F64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E4F74-7814-4388-A357-44BEBF59C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EED2E-C31E-41ED-B6CC-21FD4433D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90A2B-554D-420E-AD5B-226D861C4B6A}" type="datetimeFigureOut">
              <a:rPr lang="zh-CN" altLang="en-US" smtClean="0"/>
              <a:t>2023-4-22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3EC08-B6F9-43EC-A062-416CB8C57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EDA0F-840D-46E4-AB21-EBA942B18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0D141-41B5-4958-8138-4197CD27B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268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ustomXml" Target="../ink/ink1.xml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emf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0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18" Type="http://schemas.openxmlformats.org/officeDocument/2006/relationships/image" Target="../media/image7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" Type="http://schemas.openxmlformats.org/officeDocument/2006/relationships/image" Target="../media/image56.png"/><Relationship Id="rId16" Type="http://schemas.openxmlformats.org/officeDocument/2006/relationships/image" Target="../media/image70.pn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19" Type="http://schemas.openxmlformats.org/officeDocument/2006/relationships/image" Target="../media/image73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76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tutorials/beginner/transfer_learning_tutorial.html" TargetMode="External"/><Relationship Id="rId2" Type="http://schemas.openxmlformats.org/officeDocument/2006/relationships/hyperlink" Target="https://figshare.com/articles/dataset/15-Scene_Image_Dataset/700717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0D675-DDE5-465D-B057-C88F743E53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5400" b="1" dirty="0">
                <a:latin typeface="+mn-lt"/>
                <a:ea typeface="+mn-ea"/>
                <a:cs typeface="+mn-ea"/>
                <a:sym typeface="+mn-lt"/>
              </a:rPr>
              <a:t>9</a:t>
            </a:r>
            <a:r>
              <a:rPr lang="zh-CN" altLang="en-US" sz="5400" b="1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sz="5400" b="1" dirty="0">
                <a:latin typeface="+mn-lt"/>
                <a:ea typeface="+mn-ea"/>
                <a:cs typeface="+mn-ea"/>
                <a:sym typeface="+mn-lt"/>
              </a:rPr>
              <a:t>CNN</a:t>
            </a:r>
            <a:r>
              <a:rPr lang="zh-CN" altLang="en-US" sz="5400" b="1" dirty="0">
                <a:latin typeface="+mn-lt"/>
                <a:ea typeface="+mn-ea"/>
                <a:cs typeface="+mn-ea"/>
                <a:sym typeface="+mn-lt"/>
              </a:rPr>
              <a:t>经典模型与迁移学习</a:t>
            </a:r>
            <a:br>
              <a:rPr lang="en-US" altLang="zh-CN" sz="5400" b="1" dirty="0">
                <a:latin typeface="+mn-lt"/>
                <a:ea typeface="+mn-ea"/>
                <a:cs typeface="+mn-ea"/>
                <a:sym typeface="+mn-lt"/>
              </a:rPr>
            </a:br>
            <a:r>
              <a:rPr lang="en-US" altLang="zh-CN" sz="3200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Advanced CNN Architectures &amp; Transfer Learning</a:t>
            </a:r>
            <a:endParaRPr lang="zh-CN" altLang="en-US" sz="4400" b="1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9233B1-8F03-458E-829C-A479FB1A48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罗志明</a:t>
            </a:r>
            <a:endParaRPr lang="en-US" altLang="zh-CN" dirty="0">
              <a:cs typeface="+mn-ea"/>
              <a:sym typeface="+mn-lt"/>
            </a:endParaRPr>
          </a:p>
          <a:p>
            <a:r>
              <a:rPr lang="en-US" altLang="zh-CN" dirty="0">
                <a:cs typeface="+mn-ea"/>
                <a:sym typeface="+mn-lt"/>
              </a:rPr>
              <a:t>zhiming.luo@xmu.edu.cn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0952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3B8C4-4ED0-4E39-9520-CCEED4072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基础层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E4629-BCF6-4F38-8507-CA4006A15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卷积层 </a:t>
            </a:r>
            <a:r>
              <a:rPr lang="en-US" altLang="zh-CN" dirty="0"/>
              <a:t>(Convolutional Layer)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池化层 </a:t>
            </a:r>
            <a:r>
              <a:rPr lang="en-US" altLang="zh-CN" dirty="0"/>
              <a:t>(Pooling Layer)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全连接层 </a:t>
            </a:r>
            <a:r>
              <a:rPr lang="en-US" altLang="zh-CN" dirty="0"/>
              <a:t>(Fully-Connected Layer, Linear Layer)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7857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EB60B-0E72-4AEF-945A-2021AB99F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Convolutional Layer</a:t>
            </a:r>
            <a:endParaRPr lang="zh-CN" altLang="en-US" b="1" dirty="0"/>
          </a:p>
        </p:txBody>
      </p:sp>
      <p:grpSp>
        <p:nvGrpSpPr>
          <p:cNvPr id="9" name="组合 6">
            <a:extLst>
              <a:ext uri="{FF2B5EF4-FFF2-40B4-BE49-F238E27FC236}">
                <a16:creationId xmlns:a16="http://schemas.microsoft.com/office/drawing/2014/main" id="{AB4E35AC-2991-415D-9A94-E109659EDC7E}"/>
              </a:ext>
            </a:extLst>
          </p:cNvPr>
          <p:cNvGrpSpPr/>
          <p:nvPr/>
        </p:nvGrpSpPr>
        <p:grpSpPr>
          <a:xfrm>
            <a:off x="991281" y="2018976"/>
            <a:ext cx="5877205" cy="2981321"/>
            <a:chOff x="4129121" y="1242763"/>
            <a:chExt cx="4407904" cy="2235991"/>
          </a:xfrm>
        </p:grpSpPr>
        <p:pic>
          <p:nvPicPr>
            <p:cNvPr id="10" name="图片 3">
              <a:extLst>
                <a:ext uri="{FF2B5EF4-FFF2-40B4-BE49-F238E27FC236}">
                  <a16:creationId xmlns:a16="http://schemas.microsoft.com/office/drawing/2014/main" id="{EC7959BE-791C-48C6-BAA7-88D911630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29121" y="1242763"/>
              <a:ext cx="4407904" cy="223599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4">
                  <a:extLst>
                    <a:ext uri="{FF2B5EF4-FFF2-40B4-BE49-F238E27FC236}">
                      <a16:creationId xmlns:a16="http://schemas.microsoft.com/office/drawing/2014/main" id="{549649E0-893E-4178-9CEE-2D9A730F9E10}"/>
                    </a:ext>
                  </a:extLst>
                </p:cNvPr>
                <p:cNvSpPr txBox="1"/>
                <p:nvPr/>
              </p:nvSpPr>
              <p:spPr>
                <a:xfrm>
                  <a:off x="5369053" y="2043109"/>
                  <a:ext cx="131430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7030A0"/>
                      </a:solidFill>
                      <a:cs typeface="+mn-ea"/>
                      <a:sym typeface="+mn-lt"/>
                    </a:rPr>
                    <a:t>six</a:t>
                  </a:r>
                  <a:r>
                    <a:rPr lang="en-US" altLang="zh-CN" b="1" dirty="0">
                      <a:solidFill>
                        <a:srgbClr val="00B0F0"/>
                      </a:solidFill>
                      <a:cs typeface="+mn-ea"/>
                      <a:sym typeface="+mn-lt"/>
                    </a:rPr>
                    <a:t>   </a:t>
                  </a:r>
                  <a14:m>
                    <m:oMath xmlns:m="http://schemas.openxmlformats.org/officeDocument/2006/math">
                      <m:r>
                        <a:rPr lang="en-US" altLang="zh-CN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𝟓</m:t>
                      </m:r>
                      <m:r>
                        <a:rPr lang="en-US" altLang="zh-CN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∗</m:t>
                      </m:r>
                      <m:r>
                        <a:rPr lang="en-US" altLang="zh-CN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𝟓</m:t>
                      </m:r>
                    </m:oMath>
                  </a14:m>
                  <a:r>
                    <a:rPr lang="en-US" altLang="zh-CN" b="1" dirty="0">
                      <a:solidFill>
                        <a:srgbClr val="00B0F0"/>
                      </a:solidFill>
                      <a:cs typeface="+mn-ea"/>
                      <a:sym typeface="+mn-lt"/>
                    </a:rPr>
                    <a:t> filters</a:t>
                  </a:r>
                </a:p>
              </p:txBody>
            </p:sp>
          </mc:Choice>
          <mc:Fallback xmlns="">
            <p:sp>
              <p:nvSpPr>
                <p:cNvPr id="6" name="文本框 4">
                  <a:extLst>
                    <a:ext uri="{FF2B5EF4-FFF2-40B4-BE49-F238E27FC236}">
                      <a16:creationId xmlns:a16="http://schemas.microsoft.com/office/drawing/2014/main" id="{98AE1653-6059-4F1D-BEAE-B16769291A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9053" y="2043109"/>
                  <a:ext cx="131430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778" t="-10000" r="-3125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171A097-DD0C-4DA7-819A-B06E8E994225}"/>
              </a:ext>
            </a:extLst>
          </p:cNvPr>
          <p:cNvGrpSpPr/>
          <p:nvPr/>
        </p:nvGrpSpPr>
        <p:grpSpPr>
          <a:xfrm>
            <a:off x="7527694" y="2533536"/>
            <a:ext cx="3944587" cy="1790928"/>
            <a:chOff x="7534275" y="3241437"/>
            <a:chExt cx="3944587" cy="179092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DF6157-2DC6-403A-8F7F-4531CA2A2F0F}"/>
                </a:ext>
              </a:extLst>
            </p:cNvPr>
            <p:cNvSpPr txBox="1"/>
            <p:nvPr/>
          </p:nvSpPr>
          <p:spPr>
            <a:xfrm>
              <a:off x="7534275" y="3241437"/>
              <a:ext cx="3262432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/>
                <a:t>卷积核：</a:t>
              </a:r>
              <a:r>
                <a:rPr lang="en-US" altLang="zh-CN" sz="3200" b="1" dirty="0"/>
                <a:t>5*5*</a:t>
              </a:r>
              <a:r>
                <a:rPr lang="en-US" altLang="zh-CN" sz="3200" b="1" dirty="0">
                  <a:solidFill>
                    <a:srgbClr val="C00000"/>
                  </a:solidFill>
                </a:rPr>
                <a:t>3</a:t>
              </a:r>
              <a:r>
                <a:rPr lang="en-US" altLang="zh-CN" sz="3200" b="1" dirty="0"/>
                <a:t>*</a:t>
              </a:r>
              <a:r>
                <a:rPr lang="en-US" altLang="zh-CN" sz="3200" b="1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56B51F2-3E1B-43B3-B0C5-4DB7BBF2091F}"/>
                </a:ext>
              </a:extLst>
            </p:cNvPr>
            <p:cNvSpPr/>
            <p:nvPr/>
          </p:nvSpPr>
          <p:spPr>
            <a:xfrm>
              <a:off x="8207853" y="4632255"/>
              <a:ext cx="139974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/>
                <a:t>Kernel size</a:t>
              </a:r>
              <a:endParaRPr lang="zh-CN" altLang="en-US" sz="2000" b="1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602EF80-00A3-4515-A1BD-03A73ACF87E1}"/>
                </a:ext>
              </a:extLst>
            </p:cNvPr>
            <p:cNvSpPr/>
            <p:nvPr/>
          </p:nvSpPr>
          <p:spPr>
            <a:xfrm>
              <a:off x="9960257" y="4632255"/>
              <a:ext cx="55496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/>
                <a:t>#In</a:t>
              </a:r>
              <a:endParaRPr lang="zh-CN" altLang="en-US" sz="2000" b="1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DF9E860-27ED-4AB4-9C72-C813B91F7203}"/>
                </a:ext>
              </a:extLst>
            </p:cNvPr>
            <p:cNvSpPr/>
            <p:nvPr/>
          </p:nvSpPr>
          <p:spPr>
            <a:xfrm>
              <a:off x="10739557" y="4632255"/>
              <a:ext cx="73930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/>
                <a:t>#Out</a:t>
              </a:r>
              <a:endParaRPr lang="zh-CN" altLang="en-US" sz="2000" b="1" dirty="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30040EC-2F78-437F-8562-96B23A491178}"/>
                </a:ext>
              </a:extLst>
            </p:cNvPr>
            <p:cNvCxnSpPr>
              <a:stCxn id="13" idx="2"/>
            </p:cNvCxnSpPr>
            <p:nvPr/>
          </p:nvCxnSpPr>
          <p:spPr>
            <a:xfrm>
              <a:off x="9165491" y="3826212"/>
              <a:ext cx="778609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8E9DE9C-CCE3-44C7-96A0-D3E1236D2F5B}"/>
                </a:ext>
              </a:extLst>
            </p:cNvPr>
            <p:cNvCxnSpPr>
              <a:endCxn id="14" idx="0"/>
            </p:cNvCxnSpPr>
            <p:nvPr/>
          </p:nvCxnSpPr>
          <p:spPr>
            <a:xfrm flipH="1">
              <a:off x="8907724" y="3895725"/>
              <a:ext cx="643768" cy="73653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DC326BC-5255-4CC4-B37F-1154D0595D6E}"/>
                </a:ext>
              </a:extLst>
            </p:cNvPr>
            <p:cNvCxnSpPr>
              <a:cxnSpLocks/>
            </p:cNvCxnSpPr>
            <p:nvPr/>
          </p:nvCxnSpPr>
          <p:spPr>
            <a:xfrm>
              <a:off x="10044708" y="3826212"/>
              <a:ext cx="271848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95C2493-530E-483C-B940-CCC3B7683D9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4890" y="3826212"/>
              <a:ext cx="271848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F9601D2-B0AD-4CD9-814C-4011A7743A8A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>
              <a:off x="10180632" y="3895724"/>
              <a:ext cx="57105" cy="736531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35B1768-20FA-4C3F-BD62-CAD6862DA697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>
              <a:off x="10570814" y="3895725"/>
              <a:ext cx="538396" cy="73653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D964CFE-60A4-4251-8C0B-8EFBB80A4CBF}"/>
              </a:ext>
            </a:extLst>
          </p:cNvPr>
          <p:cNvSpPr txBox="1"/>
          <p:nvPr/>
        </p:nvSpPr>
        <p:spPr>
          <a:xfrm>
            <a:off x="2978593" y="5000297"/>
            <a:ext cx="59490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B0F0"/>
                </a:solidFill>
                <a:cs typeface="+mn-ea"/>
                <a:sym typeface="+mn-lt"/>
              </a:rPr>
              <a:t>#Parameters </a:t>
            </a:r>
            <a:r>
              <a:rPr lang="en-US" altLang="zh-CN" sz="3200" dirty="0">
                <a:cs typeface="+mn-ea"/>
                <a:sym typeface="+mn-lt"/>
              </a:rPr>
              <a:t>= 6*(</a:t>
            </a:r>
            <a:r>
              <a:rPr lang="en-US" altLang="zh-CN" sz="3200" u="sng" dirty="0">
                <a:cs typeface="+mn-ea"/>
                <a:sym typeface="+mn-lt"/>
              </a:rPr>
              <a:t>5*5*3</a:t>
            </a:r>
            <a:r>
              <a:rPr lang="en-US" altLang="zh-CN" sz="3200" dirty="0">
                <a:cs typeface="+mn-ea"/>
                <a:sym typeface="+mn-lt"/>
              </a:rPr>
              <a:t>+</a:t>
            </a:r>
            <a:r>
              <a:rPr lang="en-US" altLang="zh-CN" sz="3200" u="sng" dirty="0">
                <a:cs typeface="+mn-ea"/>
                <a:sym typeface="+mn-lt"/>
              </a:rPr>
              <a:t>1</a:t>
            </a:r>
            <a:r>
              <a:rPr lang="en-US" altLang="zh-CN" sz="3200" dirty="0">
                <a:cs typeface="+mn-ea"/>
                <a:sym typeface="+mn-lt"/>
              </a:rPr>
              <a:t>)=456 </a:t>
            </a:r>
            <a:endParaRPr lang="zh-CN" altLang="en-US" sz="3200" dirty="0">
              <a:cs typeface="+mn-ea"/>
              <a:sym typeface="+mn-lt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3D2013C-A5C6-4F8D-B1A2-000DCFF67A01}"/>
              </a:ext>
            </a:extLst>
          </p:cNvPr>
          <p:cNvGrpSpPr/>
          <p:nvPr/>
        </p:nvGrpSpPr>
        <p:grpSpPr>
          <a:xfrm>
            <a:off x="6318484" y="5585072"/>
            <a:ext cx="1591046" cy="647864"/>
            <a:chOff x="8479058" y="5557439"/>
            <a:chExt cx="1591046" cy="6478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CA43C6F6-4762-4712-98A3-9BB039D263C4}"/>
                    </a:ext>
                  </a:extLst>
                </p:cNvPr>
                <p:cNvSpPr/>
                <p:nvPr/>
              </p:nvSpPr>
              <p:spPr>
                <a:xfrm>
                  <a:off x="8479058" y="5835971"/>
                  <a:ext cx="47000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2EF8F7B-FF3E-4A6E-9FB4-1F4BC06A4C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9058" y="5835971"/>
                  <a:ext cx="47000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CBB18439-5477-47FF-93BC-3E58B3A5E0C4}"/>
                    </a:ext>
                  </a:extLst>
                </p:cNvPr>
                <p:cNvSpPr/>
                <p:nvPr/>
              </p:nvSpPr>
              <p:spPr>
                <a:xfrm>
                  <a:off x="9688268" y="5835971"/>
                  <a:ext cx="38183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𝒃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5925D23-9DE9-483D-A3BF-390C6FC980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8268" y="5835971"/>
                  <a:ext cx="38183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33EE553-95B1-4A81-81C5-96E14847BE4F}"/>
                </a:ext>
              </a:extLst>
            </p:cNvPr>
            <p:cNvCxnSpPr>
              <a:cxnSpLocks/>
              <a:stCxn id="25" idx="0"/>
            </p:cNvCxnSpPr>
            <p:nvPr/>
          </p:nvCxnSpPr>
          <p:spPr>
            <a:xfrm flipV="1">
              <a:off x="8714058" y="5574352"/>
              <a:ext cx="235000" cy="26161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45D570A-642E-4D27-B49A-494456B9A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32844" y="5557439"/>
              <a:ext cx="146342" cy="31917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90191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64ABC-1241-43AA-9849-148B6203D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Pooling Layer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543E1-AC55-499B-9B22-4F8BFF4AC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降低特征的分辨率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B0F0"/>
                </a:solidFill>
              </a:rPr>
              <a:t>(Max Pooling, Average Pooling)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在每一个特征通道单独进行计算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CBC5F5-89DF-4FBB-AAA0-092434BDC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381" y="3240223"/>
            <a:ext cx="3523069" cy="3071677"/>
          </a:xfrm>
          <a:prstGeom prst="rect">
            <a:avLst/>
          </a:prstGeom>
        </p:spPr>
      </p:pic>
      <p:pic>
        <p:nvPicPr>
          <p:cNvPr id="5" name="Shape 100">
            <a:extLst>
              <a:ext uri="{FF2B5EF4-FFF2-40B4-BE49-F238E27FC236}">
                <a16:creationId xmlns:a16="http://schemas.microsoft.com/office/drawing/2014/main" id="{F5B08BE0-9E5D-459E-8A21-B840D962B55F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0879" y="3358252"/>
            <a:ext cx="3819740" cy="29536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7646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BA1E1-8B80-4A9F-8BC1-B3704BC09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Fully-Connected Layer (Linear Layer)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3EB8E-0A57-4A80-BD66-483E1EBC4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0111B8-9F83-45F6-B4C6-9D637D1C24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92" r="13172"/>
          <a:stretch/>
        </p:blipFill>
        <p:spPr>
          <a:xfrm>
            <a:off x="1616079" y="2133972"/>
            <a:ext cx="3022596" cy="28668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51B9C2-469E-4E05-97F5-674BD7A3859A}"/>
                  </a:ext>
                </a:extLst>
              </p:cNvPr>
              <p:cNvSpPr txBox="1"/>
              <p:nvPr/>
            </p:nvSpPr>
            <p:spPr>
              <a:xfrm>
                <a:off x="1786367" y="5272560"/>
                <a:ext cx="2257734" cy="4544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𝑇</m:t>
                          </m:r>
                        </m:sup>
                      </m:sSubSup>
                      <m:r>
                        <a:rPr lang="en-US" altLang="zh-CN" sz="2800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𝒙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2800" b="1" dirty="0"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51B9C2-469E-4E05-97F5-674BD7A38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367" y="5272560"/>
                <a:ext cx="2257734" cy="4544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2D72877-7043-4D50-8F15-B856049D0FDC}"/>
              </a:ext>
            </a:extLst>
          </p:cNvPr>
          <p:cNvSpPr txBox="1"/>
          <p:nvPr/>
        </p:nvSpPr>
        <p:spPr>
          <a:xfrm>
            <a:off x="6507602" y="2830364"/>
            <a:ext cx="4846198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参数量：</a:t>
            </a:r>
            <a:r>
              <a:rPr lang="en-US" altLang="zh-CN" sz="3200" b="1" u="sng" dirty="0">
                <a:solidFill>
                  <a:srgbClr val="0070C0"/>
                </a:solidFill>
              </a:rPr>
              <a:t>#In</a:t>
            </a:r>
            <a:r>
              <a:rPr lang="en-US" altLang="zh-CN" sz="3200" b="1" u="sng" dirty="0"/>
              <a:t>*</a:t>
            </a:r>
            <a:r>
              <a:rPr lang="en-US" altLang="zh-CN" sz="3200" b="1" u="sng" dirty="0">
                <a:solidFill>
                  <a:srgbClr val="C00000"/>
                </a:solidFill>
              </a:rPr>
              <a:t>#Out </a:t>
            </a:r>
            <a:r>
              <a:rPr lang="en-US" altLang="zh-CN" sz="3200" b="1" dirty="0"/>
              <a:t>+</a:t>
            </a:r>
            <a:r>
              <a:rPr lang="en-US" altLang="zh-CN" sz="3200" b="1" dirty="0">
                <a:solidFill>
                  <a:srgbClr val="C00000"/>
                </a:solidFill>
              </a:rPr>
              <a:t> </a:t>
            </a:r>
            <a:r>
              <a:rPr lang="en-US" altLang="zh-CN" sz="3200" b="1" u="sng" dirty="0">
                <a:solidFill>
                  <a:srgbClr val="C00000"/>
                </a:solidFill>
              </a:rPr>
              <a:t>#Out</a:t>
            </a:r>
            <a:endParaRPr lang="en-US" altLang="zh-CN" sz="3200" b="1" u="sng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BE0E31-0368-401A-B11E-178EDC3EC953}"/>
                  </a:ext>
                </a:extLst>
              </p:cNvPr>
              <p:cNvSpPr txBox="1"/>
              <p:nvPr/>
            </p:nvSpPr>
            <p:spPr>
              <a:xfrm>
                <a:off x="8464605" y="4525946"/>
                <a:ext cx="5065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BE0E31-0368-401A-B11E-178EDC3EC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605" y="4525946"/>
                <a:ext cx="506549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176735-21CA-4FE8-B4A8-183EF30E36D7}"/>
                  </a:ext>
                </a:extLst>
              </p:cNvPr>
              <p:cNvSpPr txBox="1"/>
              <p:nvPr/>
            </p:nvSpPr>
            <p:spPr>
              <a:xfrm>
                <a:off x="10766421" y="4573713"/>
                <a:ext cx="35105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176735-21CA-4FE8-B4A8-183EF30E3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6421" y="4573713"/>
                <a:ext cx="351057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B42D109-4E1B-4D85-A9D5-0C03A07429A7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8717880" y="3415139"/>
            <a:ext cx="212821" cy="11108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975FCF0-7608-4C33-918E-3635D845B25F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10766421" y="3415139"/>
            <a:ext cx="175529" cy="11585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834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A0D30-EDA0-4A31-B5C0-E556E0236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Softmax</a:t>
            </a:r>
            <a:endParaRPr lang="zh-CN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A9330D3-89FE-40D7-9FD0-33ABF11944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4749800" cy="4351338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将输出转换成归一化之后的概率形式。</a:t>
                </a: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A9330D3-89FE-40D7-9FD0-33ABF11944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4749800" cy="4351338"/>
              </a:xfrm>
              <a:blipFill>
                <a:blip r:embed="rId2"/>
                <a:stretch>
                  <a:fillRect l="-2311" r="-6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6506941D-A442-4B2A-9A3B-2FCFE3EBF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679" y="1614488"/>
            <a:ext cx="5158489" cy="414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369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AC01D-D1E2-4C32-899C-CAD8370D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LeNet-5</a:t>
            </a:r>
            <a:endParaRPr lang="zh-CN" altLang="en-US" b="1" dirty="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E9E21F02-E3FC-4202-8154-DDC615BE42CE}"/>
              </a:ext>
            </a:extLst>
          </p:cNvPr>
          <p:cNvSpPr/>
          <p:nvPr/>
        </p:nvSpPr>
        <p:spPr>
          <a:xfrm>
            <a:off x="2394042" y="2719400"/>
            <a:ext cx="1324800" cy="1325563"/>
          </a:xfrm>
          <a:prstGeom prst="cube">
            <a:avLst>
              <a:gd name="adj" fmla="val 416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06558719-3A04-41DD-928F-268B24DAC204}"/>
              </a:ext>
            </a:extLst>
          </p:cNvPr>
          <p:cNvSpPr/>
          <p:nvPr/>
        </p:nvSpPr>
        <p:spPr>
          <a:xfrm>
            <a:off x="4643915" y="2958453"/>
            <a:ext cx="864000" cy="864000"/>
          </a:xfrm>
          <a:prstGeom prst="cube">
            <a:avLst>
              <a:gd name="adj" fmla="val 416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486BD981-61D0-48C9-8FC2-6DCDBA4855E4}"/>
              </a:ext>
            </a:extLst>
          </p:cNvPr>
          <p:cNvSpPr/>
          <p:nvPr/>
        </p:nvSpPr>
        <p:spPr>
          <a:xfrm>
            <a:off x="6272821" y="3029847"/>
            <a:ext cx="720000" cy="720000"/>
          </a:xfrm>
          <a:prstGeom prst="cube">
            <a:avLst>
              <a:gd name="adj" fmla="val 416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F2CEBC65-6A6E-48BB-974E-1BCC1382619A}"/>
              </a:ext>
            </a:extLst>
          </p:cNvPr>
          <p:cNvSpPr/>
          <p:nvPr/>
        </p:nvSpPr>
        <p:spPr>
          <a:xfrm>
            <a:off x="8002946" y="3110579"/>
            <a:ext cx="540000" cy="540000"/>
          </a:xfrm>
          <a:prstGeom prst="cube">
            <a:avLst>
              <a:gd name="adj" fmla="val 416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DCAF02-EB95-4D71-9A86-9E8A00010AB2}"/>
              </a:ext>
            </a:extLst>
          </p:cNvPr>
          <p:cNvGrpSpPr/>
          <p:nvPr/>
        </p:nvGrpSpPr>
        <p:grpSpPr>
          <a:xfrm>
            <a:off x="9374457" y="2386804"/>
            <a:ext cx="482114" cy="1987550"/>
            <a:chOff x="4772025" y="4505325"/>
            <a:chExt cx="482114" cy="19875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FAB2F89-4AA4-4B71-B613-6D801EA33D94}"/>
                </a:ext>
              </a:extLst>
            </p:cNvPr>
            <p:cNvSpPr/>
            <p:nvPr/>
          </p:nvSpPr>
          <p:spPr>
            <a:xfrm>
              <a:off x="4772025" y="4505325"/>
              <a:ext cx="428625" cy="198755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E3B3988-F2E1-4449-8425-9A6A1DA1DAD2}"/>
                </a:ext>
              </a:extLst>
            </p:cNvPr>
            <p:cNvSpPr/>
            <p:nvPr/>
          </p:nvSpPr>
          <p:spPr>
            <a:xfrm>
              <a:off x="4796812" y="4533900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D53B3EB-8EAB-4E6A-A922-6BB3DEE85BF6}"/>
                </a:ext>
              </a:extLst>
            </p:cNvPr>
            <p:cNvSpPr/>
            <p:nvPr/>
          </p:nvSpPr>
          <p:spPr>
            <a:xfrm>
              <a:off x="4806337" y="4962525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EBFBFC-0829-47C1-B418-F9C26FE668EE}"/>
                </a:ext>
              </a:extLst>
            </p:cNvPr>
            <p:cNvSpPr txBox="1"/>
            <p:nvPr/>
          </p:nvSpPr>
          <p:spPr>
            <a:xfrm rot="5400000">
              <a:off x="4833511" y="55510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…</a:t>
              </a:r>
              <a:endParaRPr lang="zh-CN" altLang="en-US" sz="2000" b="1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1D1BDE7-343D-41E3-BE92-8119DA2E4335}"/>
                </a:ext>
              </a:extLst>
            </p:cNvPr>
            <p:cNvSpPr/>
            <p:nvPr/>
          </p:nvSpPr>
          <p:spPr>
            <a:xfrm>
              <a:off x="4806337" y="6092825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0397CCB-E860-4BDF-B137-32CCF0682E69}"/>
              </a:ext>
            </a:extLst>
          </p:cNvPr>
          <p:cNvGrpSpPr/>
          <p:nvPr/>
        </p:nvGrpSpPr>
        <p:grpSpPr>
          <a:xfrm>
            <a:off x="10565085" y="2542737"/>
            <a:ext cx="482114" cy="1692275"/>
            <a:chOff x="4772025" y="4800599"/>
            <a:chExt cx="482114" cy="169227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88E7EDE-AEFE-4664-8891-8892C83AC8EC}"/>
                </a:ext>
              </a:extLst>
            </p:cNvPr>
            <p:cNvSpPr/>
            <p:nvPr/>
          </p:nvSpPr>
          <p:spPr>
            <a:xfrm>
              <a:off x="4772025" y="4800599"/>
              <a:ext cx="428625" cy="169227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19294FE-025F-4F55-85D7-AB350EB0960B}"/>
                </a:ext>
              </a:extLst>
            </p:cNvPr>
            <p:cNvSpPr/>
            <p:nvPr/>
          </p:nvSpPr>
          <p:spPr>
            <a:xfrm>
              <a:off x="4796812" y="4867275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4D0D2DA-B5AA-4ABA-9BD7-C0350B44F299}"/>
                </a:ext>
              </a:extLst>
            </p:cNvPr>
            <p:cNvSpPr/>
            <p:nvPr/>
          </p:nvSpPr>
          <p:spPr>
            <a:xfrm>
              <a:off x="4806337" y="5286375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CC76547-4934-45E4-B484-D6C880F7E56D}"/>
                </a:ext>
              </a:extLst>
            </p:cNvPr>
            <p:cNvSpPr txBox="1"/>
            <p:nvPr/>
          </p:nvSpPr>
          <p:spPr>
            <a:xfrm rot="5400000">
              <a:off x="4833511" y="5674920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…</a:t>
              </a:r>
              <a:endParaRPr lang="zh-CN" altLang="en-US" sz="2000" b="1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7EB02F0-DF47-4B20-93FE-6117276D80B9}"/>
                </a:ext>
              </a:extLst>
            </p:cNvPr>
            <p:cNvSpPr/>
            <p:nvPr/>
          </p:nvSpPr>
          <p:spPr>
            <a:xfrm>
              <a:off x="4806337" y="6092825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1F4CFC-7BA7-49A8-9D6F-A617CC24A493}"/>
                  </a:ext>
                </a:extLst>
              </p:cNvPr>
              <p:cNvSpPr txBox="1"/>
              <p:nvPr/>
            </p:nvSpPr>
            <p:spPr>
              <a:xfrm>
                <a:off x="11715330" y="3110579"/>
                <a:ext cx="3045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1F4CFC-7BA7-49A8-9D6F-A617CC24A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330" y="3110579"/>
                <a:ext cx="304571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C035475E-6BED-4E42-8E6E-6213374D7AF3}"/>
              </a:ext>
            </a:extLst>
          </p:cNvPr>
          <p:cNvGrpSpPr/>
          <p:nvPr/>
        </p:nvGrpSpPr>
        <p:grpSpPr>
          <a:xfrm>
            <a:off x="274875" y="2752181"/>
            <a:ext cx="1260000" cy="1260000"/>
            <a:chOff x="332025" y="2380706"/>
            <a:chExt cx="1260000" cy="1260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4D7E058-A15A-4BFE-8509-87EE6BCD2829}"/>
                </a:ext>
              </a:extLst>
            </p:cNvPr>
            <p:cNvSpPr/>
            <p:nvPr/>
          </p:nvSpPr>
          <p:spPr>
            <a:xfrm>
              <a:off x="332025" y="2380706"/>
              <a:ext cx="1260000" cy="126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05D7FD6-C56F-4C3C-9088-7EFCD228BABF}"/>
                    </a:ext>
                  </a:extLst>
                </p14:cNvPr>
                <p14:cNvContentPartPr/>
                <p14:nvPr/>
              </p14:nvContentPartPr>
              <p14:xfrm>
                <a:off x="603169" y="2578706"/>
                <a:ext cx="738464" cy="864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05D7FD6-C56F-4C3C-9088-7EFCD228BAB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93808" y="2569346"/>
                  <a:ext cx="757187" cy="88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FCFE1B1-A74E-4A03-8A28-4D35094116C4}"/>
              </a:ext>
            </a:extLst>
          </p:cNvPr>
          <p:cNvGrpSpPr/>
          <p:nvPr/>
        </p:nvGrpSpPr>
        <p:grpSpPr>
          <a:xfrm>
            <a:off x="1619101" y="2845606"/>
            <a:ext cx="710451" cy="1200329"/>
            <a:chOff x="1676251" y="2474131"/>
            <a:chExt cx="710451" cy="1200329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626EDDA-9B44-491E-8649-FB2D77727ED9}"/>
                </a:ext>
              </a:extLst>
            </p:cNvPr>
            <p:cNvSpPr txBox="1"/>
            <p:nvPr/>
          </p:nvSpPr>
          <p:spPr>
            <a:xfrm>
              <a:off x="1676251" y="2474131"/>
              <a:ext cx="710451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/>
                <a:t>Conv</a:t>
              </a:r>
            </a:p>
            <a:p>
              <a:pPr algn="ctr"/>
              <a:endParaRPr lang="en-US" altLang="zh-CN" b="1" dirty="0"/>
            </a:p>
            <a:p>
              <a:pPr algn="ctr"/>
              <a:r>
                <a:rPr lang="en-US" altLang="zh-CN" b="1" dirty="0"/>
                <a:t>5*5</a:t>
              </a:r>
            </a:p>
            <a:p>
              <a:pPr algn="ctr"/>
              <a:r>
                <a:rPr lang="en-US" altLang="zh-CN" b="1" dirty="0"/>
                <a:t>S=1</a:t>
              </a:r>
              <a:endParaRPr lang="zh-CN" altLang="en-US" b="1" dirty="0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8BDEF9B-A856-4693-B4FB-8F7187507989}"/>
                </a:ext>
              </a:extLst>
            </p:cNvPr>
            <p:cNvCxnSpPr>
              <a:cxnSpLocks/>
            </p:cNvCxnSpPr>
            <p:nvPr/>
          </p:nvCxnSpPr>
          <p:spPr>
            <a:xfrm>
              <a:off x="1715850" y="3010706"/>
              <a:ext cx="631162" cy="76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328A7ED-270A-40CA-A04F-198BF5D908C7}"/>
                  </a:ext>
                </a:extLst>
              </p:cNvPr>
              <p:cNvSpPr txBox="1"/>
              <p:nvPr/>
            </p:nvSpPr>
            <p:spPr>
              <a:xfrm>
                <a:off x="274875" y="4543747"/>
                <a:ext cx="12343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32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×32×1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328A7ED-270A-40CA-A04F-198BF5D90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875" y="4543747"/>
                <a:ext cx="1234312" cy="276999"/>
              </a:xfrm>
              <a:prstGeom prst="rect">
                <a:avLst/>
              </a:prstGeom>
              <a:blipFill>
                <a:blip r:embed="rId5"/>
                <a:stretch>
                  <a:fillRect l="-3448" r="-3941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9C7BFCB-B1A9-4303-AB4F-40966A359C18}"/>
                  </a:ext>
                </a:extLst>
              </p:cNvPr>
              <p:cNvSpPr txBox="1"/>
              <p:nvPr/>
            </p:nvSpPr>
            <p:spPr>
              <a:xfrm>
                <a:off x="2289862" y="4549831"/>
                <a:ext cx="12343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×28×6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9C7BFCB-B1A9-4303-AB4F-40966A359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9862" y="4549831"/>
                <a:ext cx="1234312" cy="276999"/>
              </a:xfrm>
              <a:prstGeom prst="rect">
                <a:avLst/>
              </a:prstGeom>
              <a:blipFill>
                <a:blip r:embed="rId6"/>
                <a:stretch>
                  <a:fillRect l="-3960" r="-3960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A0DB57BA-BCD8-4735-AD1E-1CB433C8704B}"/>
              </a:ext>
            </a:extLst>
          </p:cNvPr>
          <p:cNvGrpSpPr/>
          <p:nvPr/>
        </p:nvGrpSpPr>
        <p:grpSpPr>
          <a:xfrm>
            <a:off x="3716386" y="2844634"/>
            <a:ext cx="1058816" cy="1200329"/>
            <a:chOff x="3773536" y="2473159"/>
            <a:chExt cx="1058816" cy="1200329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59694D4-49FB-43DA-BA3B-35A52523EF67}"/>
                </a:ext>
              </a:extLst>
            </p:cNvPr>
            <p:cNvSpPr txBox="1"/>
            <p:nvPr/>
          </p:nvSpPr>
          <p:spPr>
            <a:xfrm>
              <a:off x="3773536" y="2473159"/>
              <a:ext cx="105881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/>
                <a:t>Avg Pool</a:t>
              </a:r>
            </a:p>
            <a:p>
              <a:pPr algn="ctr"/>
              <a:endParaRPr lang="en-US" altLang="zh-CN" b="1" dirty="0"/>
            </a:p>
            <a:p>
              <a:pPr algn="ctr"/>
              <a:r>
                <a:rPr lang="en-US" altLang="zh-CN" b="1" dirty="0"/>
                <a:t>2*2</a:t>
              </a:r>
            </a:p>
            <a:p>
              <a:pPr algn="ctr"/>
              <a:r>
                <a:rPr lang="en-US" altLang="zh-CN" b="1" dirty="0"/>
                <a:t>S=2</a:t>
              </a:r>
              <a:endParaRPr lang="zh-CN" altLang="en-US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92595A3-A4E4-47CB-B9B2-7E5525FE15DD}"/>
                </a:ext>
              </a:extLst>
            </p:cNvPr>
            <p:cNvCxnSpPr>
              <a:cxnSpLocks/>
            </p:cNvCxnSpPr>
            <p:nvPr/>
          </p:nvCxnSpPr>
          <p:spPr>
            <a:xfrm>
              <a:off x="3968915" y="2994482"/>
              <a:ext cx="631162" cy="76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55C2B72-B5C0-472A-B39A-46C9E7FB8942}"/>
                  </a:ext>
                </a:extLst>
              </p:cNvPr>
              <p:cNvSpPr txBox="1"/>
              <p:nvPr/>
            </p:nvSpPr>
            <p:spPr>
              <a:xfrm>
                <a:off x="4349052" y="4557701"/>
                <a:ext cx="12343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×14×6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55C2B72-B5C0-472A-B39A-46C9E7FB8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052" y="4557701"/>
                <a:ext cx="1234312" cy="276999"/>
              </a:xfrm>
              <a:prstGeom prst="rect">
                <a:avLst/>
              </a:prstGeom>
              <a:blipFill>
                <a:blip r:embed="rId7"/>
                <a:stretch>
                  <a:fillRect l="-3448" r="-3941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F31E2411-AD91-4C9A-ACF9-78FE47C9A248}"/>
              </a:ext>
            </a:extLst>
          </p:cNvPr>
          <p:cNvGrpSpPr/>
          <p:nvPr/>
        </p:nvGrpSpPr>
        <p:grpSpPr>
          <a:xfrm>
            <a:off x="5543765" y="2844634"/>
            <a:ext cx="710451" cy="1200329"/>
            <a:chOff x="1676251" y="2474131"/>
            <a:chExt cx="710451" cy="1200329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FED27CB-5005-46E2-B5A6-F627777BE91B}"/>
                </a:ext>
              </a:extLst>
            </p:cNvPr>
            <p:cNvSpPr txBox="1"/>
            <p:nvPr/>
          </p:nvSpPr>
          <p:spPr>
            <a:xfrm>
              <a:off x="1676251" y="2474131"/>
              <a:ext cx="710451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/>
                <a:t>Conv</a:t>
              </a:r>
            </a:p>
            <a:p>
              <a:pPr algn="ctr"/>
              <a:endParaRPr lang="en-US" altLang="zh-CN" b="1" dirty="0"/>
            </a:p>
            <a:p>
              <a:pPr algn="ctr"/>
              <a:r>
                <a:rPr lang="en-US" altLang="zh-CN" b="1" dirty="0"/>
                <a:t>5*5</a:t>
              </a:r>
            </a:p>
            <a:p>
              <a:pPr algn="ctr"/>
              <a:r>
                <a:rPr lang="en-US" altLang="zh-CN" b="1" dirty="0"/>
                <a:t>S=1</a:t>
              </a:r>
              <a:endParaRPr lang="zh-CN" altLang="en-US" b="1" dirty="0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A921C2C-0D51-4843-85BE-0ECF158AF197}"/>
                </a:ext>
              </a:extLst>
            </p:cNvPr>
            <p:cNvCxnSpPr>
              <a:cxnSpLocks/>
            </p:cNvCxnSpPr>
            <p:nvPr/>
          </p:nvCxnSpPr>
          <p:spPr>
            <a:xfrm>
              <a:off x="1715850" y="3010706"/>
              <a:ext cx="631162" cy="76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18F3457-A2E8-499E-BAE1-B09350539D74}"/>
                  </a:ext>
                </a:extLst>
              </p:cNvPr>
              <p:cNvSpPr txBox="1"/>
              <p:nvPr/>
            </p:nvSpPr>
            <p:spPr>
              <a:xfrm>
                <a:off x="5906758" y="4557701"/>
                <a:ext cx="13625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×10×16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18F3457-A2E8-499E-BAE1-B09350539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6758" y="4557701"/>
                <a:ext cx="1362552" cy="276999"/>
              </a:xfrm>
              <a:prstGeom prst="rect">
                <a:avLst/>
              </a:prstGeom>
              <a:blipFill>
                <a:blip r:embed="rId8"/>
                <a:stretch>
                  <a:fillRect l="-3587" r="-3587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27C186DD-3ED3-4998-B15D-DDD387A9D7AD}"/>
              </a:ext>
            </a:extLst>
          </p:cNvPr>
          <p:cNvGrpSpPr/>
          <p:nvPr/>
        </p:nvGrpSpPr>
        <p:grpSpPr>
          <a:xfrm>
            <a:off x="6928807" y="2851590"/>
            <a:ext cx="1058816" cy="1200329"/>
            <a:chOff x="3773536" y="2473159"/>
            <a:chExt cx="1058816" cy="1200329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5D81439-92B3-44E9-8B6A-32E0E0C13ED3}"/>
                </a:ext>
              </a:extLst>
            </p:cNvPr>
            <p:cNvSpPr txBox="1"/>
            <p:nvPr/>
          </p:nvSpPr>
          <p:spPr>
            <a:xfrm>
              <a:off x="3773536" y="2473159"/>
              <a:ext cx="105881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/>
                <a:t>Avg Pool</a:t>
              </a:r>
            </a:p>
            <a:p>
              <a:pPr algn="ctr"/>
              <a:endParaRPr lang="en-US" altLang="zh-CN" b="1" dirty="0"/>
            </a:p>
            <a:p>
              <a:pPr algn="ctr"/>
              <a:r>
                <a:rPr lang="en-US" altLang="zh-CN" b="1" dirty="0"/>
                <a:t>2*2</a:t>
              </a:r>
            </a:p>
            <a:p>
              <a:pPr algn="ctr"/>
              <a:r>
                <a:rPr lang="en-US" altLang="zh-CN" b="1" dirty="0"/>
                <a:t>S=2</a:t>
              </a:r>
              <a:endParaRPr lang="zh-CN" altLang="en-US" b="1" dirty="0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031785B-F291-4D6C-8D2F-7FF9A504F497}"/>
                </a:ext>
              </a:extLst>
            </p:cNvPr>
            <p:cNvCxnSpPr>
              <a:cxnSpLocks/>
            </p:cNvCxnSpPr>
            <p:nvPr/>
          </p:nvCxnSpPr>
          <p:spPr>
            <a:xfrm>
              <a:off x="3968915" y="2994482"/>
              <a:ext cx="631162" cy="76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6019989-EE97-4062-8DC9-A6343D7EA098}"/>
                  </a:ext>
                </a:extLst>
              </p:cNvPr>
              <p:cNvSpPr txBox="1"/>
              <p:nvPr/>
            </p:nvSpPr>
            <p:spPr>
              <a:xfrm>
                <a:off x="7693919" y="4543749"/>
                <a:ext cx="11060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×5×16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6019989-EE97-4062-8DC9-A6343D7EA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919" y="4543749"/>
                <a:ext cx="1106072" cy="276999"/>
              </a:xfrm>
              <a:prstGeom prst="rect">
                <a:avLst/>
              </a:prstGeom>
              <a:blipFill>
                <a:blip r:embed="rId9"/>
                <a:stretch>
                  <a:fillRect l="-4945" r="-4396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7F80DE35-64D1-4FCF-88A8-37C16F03D959}"/>
              </a:ext>
            </a:extLst>
          </p:cNvPr>
          <p:cNvGrpSpPr/>
          <p:nvPr/>
        </p:nvGrpSpPr>
        <p:grpSpPr>
          <a:xfrm>
            <a:off x="8626458" y="2907102"/>
            <a:ext cx="631162" cy="646331"/>
            <a:chOff x="1715850" y="2569381"/>
            <a:chExt cx="631162" cy="646331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382EF84-1158-45BE-B50E-076C1145D520}"/>
                </a:ext>
              </a:extLst>
            </p:cNvPr>
            <p:cNvSpPr txBox="1"/>
            <p:nvPr/>
          </p:nvSpPr>
          <p:spPr>
            <a:xfrm>
              <a:off x="1766205" y="2569381"/>
              <a:ext cx="4924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/>
                <a:t>FC</a:t>
              </a:r>
            </a:p>
            <a:p>
              <a:pPr algn="ctr"/>
              <a:endParaRPr lang="en-US" altLang="zh-CN" b="1" dirty="0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3707A5F-FB74-4EA5-92A9-FE4C37B56BD3}"/>
                </a:ext>
              </a:extLst>
            </p:cNvPr>
            <p:cNvCxnSpPr>
              <a:cxnSpLocks/>
            </p:cNvCxnSpPr>
            <p:nvPr/>
          </p:nvCxnSpPr>
          <p:spPr>
            <a:xfrm>
              <a:off x="1715850" y="3010706"/>
              <a:ext cx="631162" cy="76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81FD789-0155-4938-A75F-C5E5A6B66CE7}"/>
              </a:ext>
            </a:extLst>
          </p:cNvPr>
          <p:cNvGrpSpPr/>
          <p:nvPr/>
        </p:nvGrpSpPr>
        <p:grpSpPr>
          <a:xfrm>
            <a:off x="9865183" y="2914608"/>
            <a:ext cx="631162" cy="646331"/>
            <a:chOff x="1715850" y="2569381"/>
            <a:chExt cx="631162" cy="646331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DA98DD9-21C1-4C98-9B57-7A7B0DC46CCE}"/>
                </a:ext>
              </a:extLst>
            </p:cNvPr>
            <p:cNvSpPr txBox="1"/>
            <p:nvPr/>
          </p:nvSpPr>
          <p:spPr>
            <a:xfrm>
              <a:off x="1766205" y="2569381"/>
              <a:ext cx="4924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/>
                <a:t>FC</a:t>
              </a:r>
            </a:p>
            <a:p>
              <a:pPr algn="ctr"/>
              <a:endParaRPr lang="en-US" altLang="zh-CN" b="1" dirty="0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0DFFFE8-81B8-4FC5-8BAD-93FC37C2C2B2}"/>
                </a:ext>
              </a:extLst>
            </p:cNvPr>
            <p:cNvCxnSpPr>
              <a:cxnSpLocks/>
            </p:cNvCxnSpPr>
            <p:nvPr/>
          </p:nvCxnSpPr>
          <p:spPr>
            <a:xfrm>
              <a:off x="1715850" y="3010706"/>
              <a:ext cx="631162" cy="76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DA4D978-EBC3-405A-B1E5-80D6CC12028B}"/>
              </a:ext>
            </a:extLst>
          </p:cNvPr>
          <p:cNvGrpSpPr/>
          <p:nvPr/>
        </p:nvGrpSpPr>
        <p:grpSpPr>
          <a:xfrm>
            <a:off x="11033170" y="2914608"/>
            <a:ext cx="631162" cy="646331"/>
            <a:chOff x="1715850" y="2569381"/>
            <a:chExt cx="631162" cy="646331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088096B-E0AF-40EF-A727-0822676C3E8F}"/>
                </a:ext>
              </a:extLst>
            </p:cNvPr>
            <p:cNvSpPr txBox="1"/>
            <p:nvPr/>
          </p:nvSpPr>
          <p:spPr>
            <a:xfrm>
              <a:off x="1766205" y="2569381"/>
              <a:ext cx="4924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/>
                <a:t>FC</a:t>
              </a:r>
            </a:p>
            <a:p>
              <a:pPr algn="ctr"/>
              <a:endParaRPr lang="en-US" altLang="zh-CN" b="1" dirty="0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9527C791-F2A3-42A9-AB0B-ABF49DCEB92E}"/>
                </a:ext>
              </a:extLst>
            </p:cNvPr>
            <p:cNvCxnSpPr>
              <a:cxnSpLocks/>
            </p:cNvCxnSpPr>
            <p:nvPr/>
          </p:nvCxnSpPr>
          <p:spPr>
            <a:xfrm>
              <a:off x="1715850" y="3010706"/>
              <a:ext cx="631162" cy="76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3392623-BC5C-47E1-9166-742FAAA03433}"/>
                  </a:ext>
                </a:extLst>
              </p:cNvPr>
              <p:cNvSpPr txBox="1"/>
              <p:nvPr/>
            </p:nvSpPr>
            <p:spPr>
              <a:xfrm>
                <a:off x="9360653" y="4543748"/>
                <a:ext cx="4424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3392623-BC5C-47E1-9166-742FAAA03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0653" y="4543748"/>
                <a:ext cx="442429" cy="276999"/>
              </a:xfrm>
              <a:prstGeom prst="rect">
                <a:avLst/>
              </a:prstGeom>
              <a:blipFill>
                <a:blip r:embed="rId10"/>
                <a:stretch>
                  <a:fillRect l="-12500" r="-12500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6505552-8717-4E10-982F-9F7009BFBDB1}"/>
                  </a:ext>
                </a:extLst>
              </p:cNvPr>
              <p:cNvSpPr txBox="1"/>
              <p:nvPr/>
            </p:nvSpPr>
            <p:spPr>
              <a:xfrm>
                <a:off x="10612777" y="4543748"/>
                <a:ext cx="314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6505552-8717-4E10-982F-9F7009BFB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2777" y="4543748"/>
                <a:ext cx="314189" cy="276999"/>
              </a:xfrm>
              <a:prstGeom prst="rect">
                <a:avLst/>
              </a:prstGeom>
              <a:blipFill>
                <a:blip r:embed="rId11"/>
                <a:stretch>
                  <a:fillRect l="-17647" r="-17647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227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9275-4CFC-44DB-AEA3-B43F0FDEA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3F4B0-1089-4FDC-BBDE-5D2FB905E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B0F0"/>
                </a:solidFill>
              </a:rPr>
              <a:t>CNN</a:t>
            </a:r>
            <a:r>
              <a:rPr lang="zh-CN" altLang="en-US" dirty="0">
                <a:solidFill>
                  <a:srgbClr val="00B0F0"/>
                </a:solidFill>
              </a:rPr>
              <a:t>模型</a:t>
            </a:r>
            <a:endParaRPr lang="en-US" altLang="zh-CN" dirty="0">
              <a:solidFill>
                <a:srgbClr val="00B0F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dirty="0"/>
              <a:t>迁移学习</a:t>
            </a:r>
          </a:p>
        </p:txBody>
      </p:sp>
    </p:spTree>
    <p:extLst>
      <p:ext uri="{BB962C8B-B14F-4D97-AF65-F5344CB8AC3E}">
        <p14:creationId xmlns:p14="http://schemas.microsoft.com/office/powerpoint/2010/main" val="4208576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696C-CB1B-427D-9BF5-0CAD92886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ImageNet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8FEC8-C1F1-461C-855C-3CDFDCF8A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A745CF-BC53-475E-A8BF-DCEF7ACC2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094" y="1976536"/>
            <a:ext cx="8263812" cy="404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49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E7C04-F5C1-4FDC-8EDB-E42E33BCF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AlexNet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(ILSVRC 2012)</a:t>
            </a:r>
            <a:endParaRPr lang="zh-CN" altLang="en-US" b="1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CFD3E2-F96F-44AF-BE41-C877D36AC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454" y="2479081"/>
            <a:ext cx="9755091" cy="35478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2B2349-44D2-4C19-B67A-D56E7A6D7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951" y="450190"/>
            <a:ext cx="4286999" cy="2028891"/>
          </a:xfrm>
          <a:prstGeom prst="rect">
            <a:avLst/>
          </a:prstGeom>
        </p:spPr>
      </p:pic>
      <p:sp>
        <p:nvSpPr>
          <p:cNvPr id="6" name="文本框 7">
            <a:extLst>
              <a:ext uri="{FF2B5EF4-FFF2-40B4-BE49-F238E27FC236}">
                <a16:creationId xmlns:a16="http://schemas.microsoft.com/office/drawing/2014/main" id="{429F6A8F-E174-4A74-90DC-51E5AA4B6DFA}"/>
              </a:ext>
            </a:extLst>
          </p:cNvPr>
          <p:cNvSpPr txBox="1"/>
          <p:nvPr/>
        </p:nvSpPr>
        <p:spPr>
          <a:xfrm>
            <a:off x="5789670" y="6581001"/>
            <a:ext cx="6402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cs typeface="+mn-ea"/>
                <a:sym typeface="+mn-lt"/>
              </a:rPr>
              <a:t>A. </a:t>
            </a:r>
            <a:r>
              <a:rPr lang="en-US" sz="1200" dirty="0" err="1">
                <a:cs typeface="+mn-ea"/>
                <a:sym typeface="+mn-lt"/>
              </a:rPr>
              <a:t>Krizhevsky</a:t>
            </a:r>
            <a:r>
              <a:rPr lang="en-US" sz="1200" dirty="0">
                <a:cs typeface="+mn-ea"/>
                <a:sym typeface="+mn-lt"/>
              </a:rPr>
              <a:t>, et al. “</a:t>
            </a:r>
            <a:r>
              <a:rPr lang="en-US" sz="1200" dirty="0" err="1">
                <a:cs typeface="+mn-ea"/>
                <a:sym typeface="+mn-lt"/>
              </a:rPr>
              <a:t>Imagenet</a:t>
            </a:r>
            <a:r>
              <a:rPr lang="en-US" sz="1200" dirty="0">
                <a:cs typeface="+mn-ea"/>
                <a:sym typeface="+mn-lt"/>
              </a:rPr>
              <a:t> classification with deep convolutional neural networks”, </a:t>
            </a:r>
            <a:r>
              <a:rPr lang="en-US" sz="1200" i="1" dirty="0">
                <a:cs typeface="+mn-ea"/>
                <a:sym typeface="+mn-lt"/>
              </a:rPr>
              <a:t> NIPS 2012</a:t>
            </a:r>
          </a:p>
        </p:txBody>
      </p:sp>
    </p:spTree>
    <p:extLst>
      <p:ext uri="{BB962C8B-B14F-4D97-AF65-F5344CB8AC3E}">
        <p14:creationId xmlns:p14="http://schemas.microsoft.com/office/powerpoint/2010/main" val="2108434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4C8BD-AE73-432A-9B9B-4CD58F361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AlexNet</a:t>
            </a:r>
            <a:endParaRPr lang="zh-CN" alt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3D8CC7-1FC4-47EC-904E-84B61B4C36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790188"/>
              </p:ext>
            </p:extLst>
          </p:nvPr>
        </p:nvGraphicFramePr>
        <p:xfrm>
          <a:off x="1050925" y="1966913"/>
          <a:ext cx="18288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59959030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7560287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8636100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2202444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83480518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08838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79028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14242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70796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60790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F8D6E2-34B4-4710-A014-A2BBC4829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984392"/>
              </p:ext>
            </p:extLst>
          </p:nvPr>
        </p:nvGraphicFramePr>
        <p:xfrm>
          <a:off x="917575" y="2105554"/>
          <a:ext cx="18288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59959030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7560287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8636100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2202444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83480518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08838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79028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14242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70796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6079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610829-F5FA-44D7-BCC3-1C0E6B0AD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453647"/>
              </p:ext>
            </p:extLst>
          </p:nvPr>
        </p:nvGraphicFramePr>
        <p:xfrm>
          <a:off x="787400" y="2226732"/>
          <a:ext cx="18288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59959030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7560287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8636100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2202444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83480518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08838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79028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14242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70796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60790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9FE572-E41F-419A-B696-6086B41692F8}"/>
                  </a:ext>
                </a:extLst>
              </p:cNvPr>
              <p:cNvSpPr txBox="1"/>
              <p:nvPr/>
            </p:nvSpPr>
            <p:spPr>
              <a:xfrm>
                <a:off x="1180714" y="1620735"/>
                <a:ext cx="14907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×224×3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9FE572-E41F-419A-B696-6086B4169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714" y="1620735"/>
                <a:ext cx="1490793" cy="276999"/>
              </a:xfrm>
              <a:prstGeom prst="rect">
                <a:avLst/>
              </a:prstGeom>
              <a:blipFill>
                <a:blip r:embed="rId2"/>
                <a:stretch>
                  <a:fillRect l="-3279" r="-3279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7039ECCF-D51D-43C3-BCCC-1D9FE8800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736" y="12061"/>
            <a:ext cx="5184739" cy="1885673"/>
          </a:xfrm>
          <a:prstGeom prst="rect">
            <a:avLst/>
          </a:prstGeom>
        </p:spPr>
      </p:pic>
      <p:sp>
        <p:nvSpPr>
          <p:cNvPr id="14" name="Cube 13">
            <a:extLst>
              <a:ext uri="{FF2B5EF4-FFF2-40B4-BE49-F238E27FC236}">
                <a16:creationId xmlns:a16="http://schemas.microsoft.com/office/drawing/2014/main" id="{7DFC7EFE-0EB5-41E0-BCDA-5E7E11214652}"/>
              </a:ext>
            </a:extLst>
          </p:cNvPr>
          <p:cNvSpPr/>
          <p:nvPr/>
        </p:nvSpPr>
        <p:spPr>
          <a:xfrm>
            <a:off x="3651491" y="2226732"/>
            <a:ext cx="1324800" cy="1325563"/>
          </a:xfrm>
          <a:prstGeom prst="cube">
            <a:avLst>
              <a:gd name="adj" fmla="val 416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A6ABD1-111B-40CA-9C62-BEB29F616B77}"/>
              </a:ext>
            </a:extLst>
          </p:cNvPr>
          <p:cNvSpPr txBox="1"/>
          <p:nvPr/>
        </p:nvSpPr>
        <p:spPr>
          <a:xfrm>
            <a:off x="2892237" y="2352938"/>
            <a:ext cx="7362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/>
              <a:t>Conv</a:t>
            </a:r>
          </a:p>
          <a:p>
            <a:pPr algn="ctr"/>
            <a:endParaRPr lang="en-US" altLang="zh-CN" b="1" dirty="0"/>
          </a:p>
          <a:p>
            <a:pPr algn="ctr"/>
            <a:r>
              <a:rPr lang="en-US" altLang="zh-CN" b="1" dirty="0"/>
              <a:t>11*11</a:t>
            </a:r>
          </a:p>
          <a:p>
            <a:pPr algn="ctr"/>
            <a:r>
              <a:rPr lang="en-US" altLang="zh-CN" b="1" dirty="0"/>
              <a:t>S=4</a:t>
            </a:r>
            <a:endParaRPr lang="zh-CN" altLang="en-US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62B1516-66FD-4374-B051-1B016F95C93C}"/>
              </a:ext>
            </a:extLst>
          </p:cNvPr>
          <p:cNvCxnSpPr>
            <a:cxnSpLocks/>
          </p:cNvCxnSpPr>
          <p:nvPr/>
        </p:nvCxnSpPr>
        <p:spPr>
          <a:xfrm>
            <a:off x="2954249" y="2889513"/>
            <a:ext cx="6311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B7DAA52-1D5E-475F-89C1-59794A036922}"/>
                  </a:ext>
                </a:extLst>
              </p:cNvPr>
              <p:cNvSpPr txBox="1"/>
              <p:nvPr/>
            </p:nvSpPr>
            <p:spPr>
              <a:xfrm>
                <a:off x="3452061" y="3702862"/>
                <a:ext cx="13625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×55×96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B7DAA52-1D5E-475F-89C1-59794A036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2061" y="3702862"/>
                <a:ext cx="1362552" cy="276999"/>
              </a:xfrm>
              <a:prstGeom prst="rect">
                <a:avLst/>
              </a:prstGeom>
              <a:blipFill>
                <a:blip r:embed="rId4"/>
                <a:stretch>
                  <a:fillRect l="-3571" r="-3571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ube 17">
            <a:extLst>
              <a:ext uri="{FF2B5EF4-FFF2-40B4-BE49-F238E27FC236}">
                <a16:creationId xmlns:a16="http://schemas.microsoft.com/office/drawing/2014/main" id="{DF1C496F-392A-473F-B881-C1675F1D4B1B}"/>
              </a:ext>
            </a:extLst>
          </p:cNvPr>
          <p:cNvSpPr/>
          <p:nvPr/>
        </p:nvSpPr>
        <p:spPr>
          <a:xfrm>
            <a:off x="5824257" y="2521313"/>
            <a:ext cx="720000" cy="720000"/>
          </a:xfrm>
          <a:prstGeom prst="cube">
            <a:avLst>
              <a:gd name="adj" fmla="val 416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844D7B-E1FE-4333-B81D-498261096442}"/>
              </a:ext>
            </a:extLst>
          </p:cNvPr>
          <p:cNvSpPr txBox="1"/>
          <p:nvPr/>
        </p:nvSpPr>
        <p:spPr>
          <a:xfrm>
            <a:off x="4893808" y="2352938"/>
            <a:ext cx="11272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/>
              <a:t>Max Pool</a:t>
            </a:r>
          </a:p>
          <a:p>
            <a:pPr algn="ctr"/>
            <a:endParaRPr lang="en-US" altLang="zh-CN" b="1" dirty="0"/>
          </a:p>
          <a:p>
            <a:pPr algn="ctr"/>
            <a:r>
              <a:rPr lang="en-US" altLang="zh-CN" b="1" dirty="0"/>
              <a:t>3*3</a:t>
            </a:r>
          </a:p>
          <a:p>
            <a:pPr algn="ctr"/>
            <a:r>
              <a:rPr lang="en-US" altLang="zh-CN" b="1" dirty="0"/>
              <a:t>S=2</a:t>
            </a:r>
            <a:endParaRPr lang="zh-CN" altLang="en-US" b="1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BBB136-DB95-48F0-9DE0-F1B25BFC2606}"/>
              </a:ext>
            </a:extLst>
          </p:cNvPr>
          <p:cNvCxnSpPr>
            <a:cxnSpLocks/>
          </p:cNvCxnSpPr>
          <p:nvPr/>
        </p:nvCxnSpPr>
        <p:spPr>
          <a:xfrm>
            <a:off x="5094820" y="2874261"/>
            <a:ext cx="6311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ACC414F-1479-48C1-AD72-C41AD66A8F1E}"/>
                  </a:ext>
                </a:extLst>
              </p:cNvPr>
              <p:cNvSpPr txBox="1"/>
              <p:nvPr/>
            </p:nvSpPr>
            <p:spPr>
              <a:xfrm>
                <a:off x="5386949" y="3702862"/>
                <a:ext cx="13625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×27×96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ACC414F-1479-48C1-AD72-C41AD66A8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949" y="3702862"/>
                <a:ext cx="1362552" cy="276999"/>
              </a:xfrm>
              <a:prstGeom prst="rect">
                <a:avLst/>
              </a:prstGeom>
              <a:blipFill>
                <a:blip r:embed="rId5"/>
                <a:stretch>
                  <a:fillRect l="-3587" r="-3587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Cube 24">
            <a:extLst>
              <a:ext uri="{FF2B5EF4-FFF2-40B4-BE49-F238E27FC236}">
                <a16:creationId xmlns:a16="http://schemas.microsoft.com/office/drawing/2014/main" id="{2E9E13A8-B3BA-4BB3-AD55-26D1CF35240C}"/>
              </a:ext>
            </a:extLst>
          </p:cNvPr>
          <p:cNvSpPr/>
          <p:nvPr/>
        </p:nvSpPr>
        <p:spPr>
          <a:xfrm>
            <a:off x="7373984" y="2317983"/>
            <a:ext cx="1010143" cy="923330"/>
          </a:xfrm>
          <a:prstGeom prst="cube">
            <a:avLst>
              <a:gd name="adj" fmla="val 5362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C6010E-CEE6-4DD2-8C8C-E75B942E903E}"/>
              </a:ext>
            </a:extLst>
          </p:cNvPr>
          <p:cNvSpPr txBox="1"/>
          <p:nvPr/>
        </p:nvSpPr>
        <p:spPr>
          <a:xfrm>
            <a:off x="6585298" y="2351966"/>
            <a:ext cx="7104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/>
              <a:t>Conv</a:t>
            </a:r>
          </a:p>
          <a:p>
            <a:pPr algn="ctr"/>
            <a:endParaRPr lang="en-US" altLang="zh-CN" b="1" dirty="0"/>
          </a:p>
          <a:p>
            <a:pPr algn="ctr"/>
            <a:r>
              <a:rPr lang="en-US" altLang="zh-CN" b="1" dirty="0"/>
              <a:t>5*5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6A86856-1E32-4962-873B-7DBE04615867}"/>
              </a:ext>
            </a:extLst>
          </p:cNvPr>
          <p:cNvCxnSpPr>
            <a:cxnSpLocks/>
          </p:cNvCxnSpPr>
          <p:nvPr/>
        </p:nvCxnSpPr>
        <p:spPr>
          <a:xfrm>
            <a:off x="6634422" y="2888541"/>
            <a:ext cx="6311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0AC6216-69C7-4D32-BF7A-063236852D6B}"/>
                  </a:ext>
                </a:extLst>
              </p:cNvPr>
              <p:cNvSpPr txBox="1"/>
              <p:nvPr/>
            </p:nvSpPr>
            <p:spPr>
              <a:xfrm>
                <a:off x="7110974" y="3702862"/>
                <a:ext cx="14907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×27×256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0AC6216-69C7-4D32-BF7A-063236852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0974" y="3702862"/>
                <a:ext cx="1490793" cy="276999"/>
              </a:xfrm>
              <a:prstGeom prst="rect">
                <a:avLst/>
              </a:prstGeom>
              <a:blipFill>
                <a:blip r:embed="rId6"/>
                <a:stretch>
                  <a:fillRect l="-2857" r="-3265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DB85753A-85B4-44E2-9248-796B903B1D82}"/>
              </a:ext>
            </a:extLst>
          </p:cNvPr>
          <p:cNvSpPr txBox="1"/>
          <p:nvPr/>
        </p:nvSpPr>
        <p:spPr>
          <a:xfrm>
            <a:off x="8569739" y="2317983"/>
            <a:ext cx="11272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/>
              <a:t>Max Pool</a:t>
            </a:r>
          </a:p>
          <a:p>
            <a:pPr algn="ctr"/>
            <a:endParaRPr lang="en-US" altLang="zh-CN" b="1" dirty="0"/>
          </a:p>
          <a:p>
            <a:pPr algn="ctr"/>
            <a:r>
              <a:rPr lang="en-US" altLang="zh-CN" b="1" dirty="0"/>
              <a:t>3*3</a:t>
            </a:r>
          </a:p>
          <a:p>
            <a:pPr algn="ctr"/>
            <a:r>
              <a:rPr lang="en-US" altLang="zh-CN" b="1" dirty="0"/>
              <a:t>S=2</a:t>
            </a:r>
            <a:endParaRPr lang="zh-CN" altLang="en-US" b="1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F70D352-3326-49AC-B877-E64EE21D9493}"/>
              </a:ext>
            </a:extLst>
          </p:cNvPr>
          <p:cNvCxnSpPr>
            <a:cxnSpLocks/>
          </p:cNvCxnSpPr>
          <p:nvPr/>
        </p:nvCxnSpPr>
        <p:spPr>
          <a:xfrm>
            <a:off x="8770751" y="2839306"/>
            <a:ext cx="6311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be 31">
            <a:extLst>
              <a:ext uri="{FF2B5EF4-FFF2-40B4-BE49-F238E27FC236}">
                <a16:creationId xmlns:a16="http://schemas.microsoft.com/office/drawing/2014/main" id="{4362D5DA-DAE9-472F-9F2E-1EDB6AB315BE}"/>
              </a:ext>
            </a:extLst>
          </p:cNvPr>
          <p:cNvSpPr/>
          <p:nvPr/>
        </p:nvSpPr>
        <p:spPr>
          <a:xfrm>
            <a:off x="9835909" y="2211774"/>
            <a:ext cx="1010143" cy="923330"/>
          </a:xfrm>
          <a:prstGeom prst="cube">
            <a:avLst>
              <a:gd name="adj" fmla="val 742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871C4AE-17A0-4216-98EB-24B552FCA8C6}"/>
                  </a:ext>
                </a:extLst>
              </p:cNvPr>
              <p:cNvSpPr txBox="1"/>
              <p:nvPr/>
            </p:nvSpPr>
            <p:spPr>
              <a:xfrm>
                <a:off x="9595583" y="3702862"/>
                <a:ext cx="14907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×13×256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871C4AE-17A0-4216-98EB-24B552FCA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5583" y="3702862"/>
                <a:ext cx="1490793" cy="276999"/>
              </a:xfrm>
              <a:prstGeom prst="rect">
                <a:avLst/>
              </a:prstGeom>
              <a:blipFill>
                <a:blip r:embed="rId7"/>
                <a:stretch>
                  <a:fillRect l="-2857" r="-3265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CA541FD-F04B-446C-A4F4-E97EB6D4AC87}"/>
              </a:ext>
            </a:extLst>
          </p:cNvPr>
          <p:cNvSpPr txBox="1"/>
          <p:nvPr/>
        </p:nvSpPr>
        <p:spPr>
          <a:xfrm>
            <a:off x="76574" y="4775600"/>
            <a:ext cx="7104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/>
              <a:t>Conv</a:t>
            </a:r>
          </a:p>
          <a:p>
            <a:pPr algn="ctr"/>
            <a:endParaRPr lang="en-US" altLang="zh-CN" b="1" dirty="0"/>
          </a:p>
          <a:p>
            <a:pPr algn="ctr"/>
            <a:r>
              <a:rPr lang="en-US" altLang="zh-CN" b="1" dirty="0"/>
              <a:t>3*3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575EE98-A1D8-4A7D-8C56-55BCB7067735}"/>
              </a:ext>
            </a:extLst>
          </p:cNvPr>
          <p:cNvCxnSpPr>
            <a:cxnSpLocks/>
          </p:cNvCxnSpPr>
          <p:nvPr/>
        </p:nvCxnSpPr>
        <p:spPr>
          <a:xfrm>
            <a:off x="125698" y="5312175"/>
            <a:ext cx="6311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be 35">
            <a:extLst>
              <a:ext uri="{FF2B5EF4-FFF2-40B4-BE49-F238E27FC236}">
                <a16:creationId xmlns:a16="http://schemas.microsoft.com/office/drawing/2014/main" id="{927D31BA-16BB-474E-866E-4FF7865EE1E8}"/>
              </a:ext>
            </a:extLst>
          </p:cNvPr>
          <p:cNvSpPr/>
          <p:nvPr/>
        </p:nvSpPr>
        <p:spPr>
          <a:xfrm>
            <a:off x="926907" y="4591576"/>
            <a:ext cx="1105286" cy="1107324"/>
          </a:xfrm>
          <a:prstGeom prst="cube">
            <a:avLst>
              <a:gd name="adj" fmla="val 733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56B911D-F04C-47EE-8038-EAD7A47DAA9F}"/>
                  </a:ext>
                </a:extLst>
              </p:cNvPr>
              <p:cNvSpPr txBox="1"/>
              <p:nvPr/>
            </p:nvSpPr>
            <p:spPr>
              <a:xfrm>
                <a:off x="541400" y="5957945"/>
                <a:ext cx="14907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×13×384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56B911D-F04C-47EE-8038-EAD7A47DA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00" y="5957945"/>
                <a:ext cx="1490793" cy="276999"/>
              </a:xfrm>
              <a:prstGeom prst="rect">
                <a:avLst/>
              </a:prstGeom>
              <a:blipFill>
                <a:blip r:embed="rId8"/>
                <a:stretch>
                  <a:fillRect l="-3279" r="-3279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6B6F2115-091D-480B-A2AF-E3E2D3245291}"/>
              </a:ext>
            </a:extLst>
          </p:cNvPr>
          <p:cNvSpPr txBox="1"/>
          <p:nvPr/>
        </p:nvSpPr>
        <p:spPr>
          <a:xfrm>
            <a:off x="2044707" y="4715147"/>
            <a:ext cx="7104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/>
              <a:t>Conv</a:t>
            </a:r>
          </a:p>
          <a:p>
            <a:pPr algn="ctr"/>
            <a:endParaRPr lang="en-US" altLang="zh-CN" b="1" dirty="0"/>
          </a:p>
          <a:p>
            <a:pPr algn="ctr"/>
            <a:r>
              <a:rPr lang="en-US" altLang="zh-CN" b="1" dirty="0"/>
              <a:t>3*3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80578E9-204C-4D44-95BC-52D410595034}"/>
              </a:ext>
            </a:extLst>
          </p:cNvPr>
          <p:cNvCxnSpPr>
            <a:cxnSpLocks/>
          </p:cNvCxnSpPr>
          <p:nvPr/>
        </p:nvCxnSpPr>
        <p:spPr>
          <a:xfrm>
            <a:off x="2093831" y="5251722"/>
            <a:ext cx="6311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ube 39">
            <a:extLst>
              <a:ext uri="{FF2B5EF4-FFF2-40B4-BE49-F238E27FC236}">
                <a16:creationId xmlns:a16="http://schemas.microsoft.com/office/drawing/2014/main" id="{3B24B211-CFE8-4FE6-A880-395231D79416}"/>
              </a:ext>
            </a:extLst>
          </p:cNvPr>
          <p:cNvSpPr/>
          <p:nvPr/>
        </p:nvSpPr>
        <p:spPr>
          <a:xfrm>
            <a:off x="2895040" y="4531123"/>
            <a:ext cx="1105286" cy="1107324"/>
          </a:xfrm>
          <a:prstGeom prst="cube">
            <a:avLst>
              <a:gd name="adj" fmla="val 733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245C254-653F-4802-9776-A7D9F90146E4}"/>
                  </a:ext>
                </a:extLst>
              </p:cNvPr>
              <p:cNvSpPr txBox="1"/>
              <p:nvPr/>
            </p:nvSpPr>
            <p:spPr>
              <a:xfrm>
                <a:off x="2399565" y="5957944"/>
                <a:ext cx="14907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×13×384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245C254-653F-4802-9776-A7D9F9014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565" y="5957944"/>
                <a:ext cx="1490793" cy="276999"/>
              </a:xfrm>
              <a:prstGeom prst="rect">
                <a:avLst/>
              </a:prstGeom>
              <a:blipFill>
                <a:blip r:embed="rId9"/>
                <a:stretch>
                  <a:fillRect l="-3279" r="-3279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96086F59-CF64-4584-A41F-9E311EFD4F2C}"/>
              </a:ext>
            </a:extLst>
          </p:cNvPr>
          <p:cNvSpPr txBox="1"/>
          <p:nvPr/>
        </p:nvSpPr>
        <p:spPr>
          <a:xfrm>
            <a:off x="4096742" y="4642141"/>
            <a:ext cx="7104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/>
              <a:t>Conv</a:t>
            </a:r>
          </a:p>
          <a:p>
            <a:pPr algn="ctr"/>
            <a:endParaRPr lang="en-US" altLang="zh-CN" b="1" dirty="0"/>
          </a:p>
          <a:p>
            <a:pPr algn="ctr"/>
            <a:r>
              <a:rPr lang="en-US" altLang="zh-CN" b="1" dirty="0"/>
              <a:t>3*3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D9369EB-2FC4-408A-BDF3-6D2F4711A8A1}"/>
              </a:ext>
            </a:extLst>
          </p:cNvPr>
          <p:cNvCxnSpPr>
            <a:cxnSpLocks/>
          </p:cNvCxnSpPr>
          <p:nvPr/>
        </p:nvCxnSpPr>
        <p:spPr>
          <a:xfrm>
            <a:off x="4145866" y="5178716"/>
            <a:ext cx="6311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ube 43">
            <a:extLst>
              <a:ext uri="{FF2B5EF4-FFF2-40B4-BE49-F238E27FC236}">
                <a16:creationId xmlns:a16="http://schemas.microsoft.com/office/drawing/2014/main" id="{FA103B70-BC42-4B62-A8F3-164A0CBB2655}"/>
              </a:ext>
            </a:extLst>
          </p:cNvPr>
          <p:cNvSpPr/>
          <p:nvPr/>
        </p:nvSpPr>
        <p:spPr>
          <a:xfrm>
            <a:off x="4947075" y="4458117"/>
            <a:ext cx="1105286" cy="1107324"/>
          </a:xfrm>
          <a:prstGeom prst="cube">
            <a:avLst>
              <a:gd name="adj" fmla="val 733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1F052F7-6B72-40CC-B152-285216F7C741}"/>
                  </a:ext>
                </a:extLst>
              </p:cNvPr>
              <p:cNvSpPr txBox="1"/>
              <p:nvPr/>
            </p:nvSpPr>
            <p:spPr>
              <a:xfrm>
                <a:off x="4487875" y="5957943"/>
                <a:ext cx="14907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×13×256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1F052F7-6B72-40CC-B152-285216F7C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875" y="5957943"/>
                <a:ext cx="1490793" cy="276999"/>
              </a:xfrm>
              <a:prstGeom prst="rect">
                <a:avLst/>
              </a:prstGeom>
              <a:blipFill>
                <a:blip r:embed="rId10"/>
                <a:stretch>
                  <a:fillRect l="-2857" r="-3265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56C61572-9C90-4869-8678-B21F5D705CA2}"/>
              </a:ext>
            </a:extLst>
          </p:cNvPr>
          <p:cNvSpPr txBox="1"/>
          <p:nvPr/>
        </p:nvSpPr>
        <p:spPr>
          <a:xfrm>
            <a:off x="6014752" y="4651557"/>
            <a:ext cx="11272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/>
              <a:t>Max Pool</a:t>
            </a:r>
          </a:p>
          <a:p>
            <a:pPr algn="ctr"/>
            <a:endParaRPr lang="en-US" altLang="zh-CN" b="1" dirty="0"/>
          </a:p>
          <a:p>
            <a:pPr algn="ctr"/>
            <a:r>
              <a:rPr lang="en-US" altLang="zh-CN" b="1" dirty="0"/>
              <a:t>3*3</a:t>
            </a:r>
          </a:p>
          <a:p>
            <a:pPr algn="ctr"/>
            <a:r>
              <a:rPr lang="en-US" altLang="zh-CN" b="1" dirty="0"/>
              <a:t>S=2</a:t>
            </a:r>
            <a:endParaRPr lang="zh-CN" altLang="en-US" b="1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7390EB1-6215-4E4B-AF06-050A5D04AB9E}"/>
              </a:ext>
            </a:extLst>
          </p:cNvPr>
          <p:cNvCxnSpPr>
            <a:cxnSpLocks/>
          </p:cNvCxnSpPr>
          <p:nvPr/>
        </p:nvCxnSpPr>
        <p:spPr>
          <a:xfrm>
            <a:off x="6215764" y="5172880"/>
            <a:ext cx="6311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C077B32-85D2-449C-BFAF-72DDA9668EA8}"/>
                  </a:ext>
                </a:extLst>
              </p:cNvPr>
              <p:cNvSpPr txBox="1"/>
              <p:nvPr/>
            </p:nvSpPr>
            <p:spPr>
              <a:xfrm>
                <a:off x="6978255" y="5957942"/>
                <a:ext cx="12343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×6×256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C077B32-85D2-449C-BFAF-72DDA9668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255" y="5957942"/>
                <a:ext cx="1234312" cy="276999"/>
              </a:xfrm>
              <a:prstGeom prst="rect">
                <a:avLst/>
              </a:prstGeom>
              <a:blipFill>
                <a:blip r:embed="rId11"/>
                <a:stretch>
                  <a:fillRect l="-3960" r="-4455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Cube 49">
            <a:extLst>
              <a:ext uri="{FF2B5EF4-FFF2-40B4-BE49-F238E27FC236}">
                <a16:creationId xmlns:a16="http://schemas.microsoft.com/office/drawing/2014/main" id="{D1B76638-EF58-4793-959C-F87A5566EEB6}"/>
              </a:ext>
            </a:extLst>
          </p:cNvPr>
          <p:cNvSpPr/>
          <p:nvPr/>
        </p:nvSpPr>
        <p:spPr>
          <a:xfrm>
            <a:off x="7171051" y="4467563"/>
            <a:ext cx="1105286" cy="1107324"/>
          </a:xfrm>
          <a:prstGeom prst="cube">
            <a:avLst>
              <a:gd name="adj" fmla="val 845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285CA2D-F92C-42C3-9D3B-B4047C583BDD}"/>
              </a:ext>
            </a:extLst>
          </p:cNvPr>
          <p:cNvGrpSpPr/>
          <p:nvPr/>
        </p:nvGrpSpPr>
        <p:grpSpPr>
          <a:xfrm>
            <a:off x="8960220" y="4205281"/>
            <a:ext cx="482114" cy="1987550"/>
            <a:chOff x="4772025" y="4505325"/>
            <a:chExt cx="482114" cy="198755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CC6F848-2DC3-4C1C-81E3-E9E059180AB6}"/>
                </a:ext>
              </a:extLst>
            </p:cNvPr>
            <p:cNvSpPr/>
            <p:nvPr/>
          </p:nvSpPr>
          <p:spPr>
            <a:xfrm>
              <a:off x="4772025" y="4505325"/>
              <a:ext cx="428625" cy="198755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D93A8A4-E085-4E51-B3C6-50F916245F45}"/>
                </a:ext>
              </a:extLst>
            </p:cNvPr>
            <p:cNvSpPr/>
            <p:nvPr/>
          </p:nvSpPr>
          <p:spPr>
            <a:xfrm>
              <a:off x="4796812" y="4533900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169E0E6-79F5-4338-AB00-AFFD8D53AD93}"/>
                </a:ext>
              </a:extLst>
            </p:cNvPr>
            <p:cNvSpPr/>
            <p:nvPr/>
          </p:nvSpPr>
          <p:spPr>
            <a:xfrm>
              <a:off x="4806337" y="4962525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2FED3DE-9E4D-4F80-8F75-5B98B9CE2B19}"/>
                </a:ext>
              </a:extLst>
            </p:cNvPr>
            <p:cNvSpPr txBox="1"/>
            <p:nvPr/>
          </p:nvSpPr>
          <p:spPr>
            <a:xfrm rot="5400000">
              <a:off x="4833511" y="55510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…</a:t>
              </a:r>
              <a:endParaRPr lang="zh-CN" altLang="en-US" sz="2000" b="1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BF912E8-BF38-4632-B844-846898468DF9}"/>
                </a:ext>
              </a:extLst>
            </p:cNvPr>
            <p:cNvSpPr/>
            <p:nvPr/>
          </p:nvSpPr>
          <p:spPr>
            <a:xfrm>
              <a:off x="4806337" y="6092825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B61A75B-9585-4EB8-A0CB-C7A3DFB3B445}"/>
              </a:ext>
            </a:extLst>
          </p:cNvPr>
          <p:cNvGrpSpPr/>
          <p:nvPr/>
        </p:nvGrpSpPr>
        <p:grpSpPr>
          <a:xfrm>
            <a:off x="9890475" y="4195792"/>
            <a:ext cx="482114" cy="1987550"/>
            <a:chOff x="4772025" y="4505325"/>
            <a:chExt cx="482114" cy="1987550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1CC592A-70F7-486A-9570-5B8EE584FD68}"/>
                </a:ext>
              </a:extLst>
            </p:cNvPr>
            <p:cNvSpPr/>
            <p:nvPr/>
          </p:nvSpPr>
          <p:spPr>
            <a:xfrm>
              <a:off x="4772025" y="4505325"/>
              <a:ext cx="428625" cy="198755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C544875-E0AD-4EB9-94C9-34BF005F6237}"/>
                </a:ext>
              </a:extLst>
            </p:cNvPr>
            <p:cNvSpPr/>
            <p:nvPr/>
          </p:nvSpPr>
          <p:spPr>
            <a:xfrm>
              <a:off x="4796812" y="4533900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6CE02FA-0392-494B-AE8A-3998782B3658}"/>
                </a:ext>
              </a:extLst>
            </p:cNvPr>
            <p:cNvSpPr/>
            <p:nvPr/>
          </p:nvSpPr>
          <p:spPr>
            <a:xfrm>
              <a:off x="4806337" y="4962525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96C6DCF-011C-4948-9E94-902F63625955}"/>
                </a:ext>
              </a:extLst>
            </p:cNvPr>
            <p:cNvSpPr txBox="1"/>
            <p:nvPr/>
          </p:nvSpPr>
          <p:spPr>
            <a:xfrm rot="5400000">
              <a:off x="4833511" y="55510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…</a:t>
              </a:r>
              <a:endParaRPr lang="zh-CN" altLang="en-US" sz="2000" b="1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4568AD4D-C34C-455E-84DB-8FD8CE629480}"/>
                </a:ext>
              </a:extLst>
            </p:cNvPr>
            <p:cNvSpPr/>
            <p:nvPr/>
          </p:nvSpPr>
          <p:spPr>
            <a:xfrm>
              <a:off x="4806337" y="6092825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E349AF7-0722-4A21-9E20-FBC95778F0C7}"/>
              </a:ext>
            </a:extLst>
          </p:cNvPr>
          <p:cNvGrpSpPr/>
          <p:nvPr/>
        </p:nvGrpSpPr>
        <p:grpSpPr>
          <a:xfrm>
            <a:off x="10803713" y="4202023"/>
            <a:ext cx="482114" cy="1987550"/>
            <a:chOff x="4772025" y="4505325"/>
            <a:chExt cx="482114" cy="198755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A98A6C0-8264-40F2-9A78-76FE65A14508}"/>
                </a:ext>
              </a:extLst>
            </p:cNvPr>
            <p:cNvSpPr/>
            <p:nvPr/>
          </p:nvSpPr>
          <p:spPr>
            <a:xfrm>
              <a:off x="4772025" y="4505325"/>
              <a:ext cx="428625" cy="198755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A2436E4-504D-4C79-B8FA-CCCFA846595A}"/>
                </a:ext>
              </a:extLst>
            </p:cNvPr>
            <p:cNvSpPr/>
            <p:nvPr/>
          </p:nvSpPr>
          <p:spPr>
            <a:xfrm>
              <a:off x="4796812" y="4533900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F2658E0-409D-4425-84B0-8FE723A39575}"/>
                </a:ext>
              </a:extLst>
            </p:cNvPr>
            <p:cNvSpPr/>
            <p:nvPr/>
          </p:nvSpPr>
          <p:spPr>
            <a:xfrm>
              <a:off x="4806337" y="4962525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33938DA-2B4D-493A-9BE1-1056A8CBA781}"/>
                </a:ext>
              </a:extLst>
            </p:cNvPr>
            <p:cNvSpPr txBox="1"/>
            <p:nvPr/>
          </p:nvSpPr>
          <p:spPr>
            <a:xfrm rot="5400000">
              <a:off x="4833511" y="55510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…</a:t>
              </a:r>
              <a:endParaRPr lang="zh-CN" altLang="en-US" sz="2000" b="1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900930E3-75C7-48F4-8E86-C251E64A261E}"/>
                </a:ext>
              </a:extLst>
            </p:cNvPr>
            <p:cNvSpPr/>
            <p:nvPr/>
          </p:nvSpPr>
          <p:spPr>
            <a:xfrm>
              <a:off x="4806337" y="6092825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EB1AC53-DF59-442C-BA02-734D74FE6775}"/>
                  </a:ext>
                </a:extLst>
              </p:cNvPr>
              <p:cNvSpPr txBox="1"/>
              <p:nvPr/>
            </p:nvSpPr>
            <p:spPr>
              <a:xfrm>
                <a:off x="11871058" y="4892899"/>
                <a:ext cx="3045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EB1AC53-DF59-442C-BA02-734D74FE6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1058" y="4892899"/>
                <a:ext cx="304571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A44D6159-CFEC-4E09-B21D-3BE1AA9E55F3}"/>
              </a:ext>
            </a:extLst>
          </p:cNvPr>
          <p:cNvGrpSpPr/>
          <p:nvPr/>
        </p:nvGrpSpPr>
        <p:grpSpPr>
          <a:xfrm>
            <a:off x="11265098" y="4792178"/>
            <a:ext cx="631162" cy="646331"/>
            <a:chOff x="1715850" y="2569381"/>
            <a:chExt cx="631162" cy="646331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69F5016-652C-4EDA-A409-890DEC210568}"/>
                </a:ext>
              </a:extLst>
            </p:cNvPr>
            <p:cNvSpPr txBox="1"/>
            <p:nvPr/>
          </p:nvSpPr>
          <p:spPr>
            <a:xfrm>
              <a:off x="1766205" y="2569381"/>
              <a:ext cx="4924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/>
                <a:t>FC</a:t>
              </a:r>
            </a:p>
            <a:p>
              <a:pPr algn="ctr"/>
              <a:endParaRPr lang="en-US" altLang="zh-CN" b="1" dirty="0"/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EE9BD1E0-9CF3-43DF-9DEB-0FDA9A1D1599}"/>
                </a:ext>
              </a:extLst>
            </p:cNvPr>
            <p:cNvCxnSpPr>
              <a:cxnSpLocks/>
            </p:cNvCxnSpPr>
            <p:nvPr/>
          </p:nvCxnSpPr>
          <p:spPr>
            <a:xfrm>
              <a:off x="1715850" y="3010706"/>
              <a:ext cx="63116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58A1FE3-0478-40BF-8242-E3AA687068A5}"/>
              </a:ext>
            </a:extLst>
          </p:cNvPr>
          <p:cNvGrpSpPr/>
          <p:nvPr/>
        </p:nvGrpSpPr>
        <p:grpSpPr>
          <a:xfrm>
            <a:off x="10340258" y="4746807"/>
            <a:ext cx="434820" cy="646331"/>
            <a:chOff x="1715850" y="2569381"/>
            <a:chExt cx="631162" cy="646331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14C18EF-55A8-4486-8DE8-C57DA5F80FCC}"/>
                </a:ext>
              </a:extLst>
            </p:cNvPr>
            <p:cNvSpPr txBox="1"/>
            <p:nvPr/>
          </p:nvSpPr>
          <p:spPr>
            <a:xfrm>
              <a:off x="1766205" y="2569381"/>
              <a:ext cx="4924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/>
                <a:t>FC</a:t>
              </a:r>
            </a:p>
            <a:p>
              <a:pPr algn="ctr"/>
              <a:endParaRPr lang="en-US" altLang="zh-CN" b="1" dirty="0"/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FCD69A44-7C52-477F-BFB0-0D98203DBEAF}"/>
                </a:ext>
              </a:extLst>
            </p:cNvPr>
            <p:cNvCxnSpPr>
              <a:cxnSpLocks/>
            </p:cNvCxnSpPr>
            <p:nvPr/>
          </p:nvCxnSpPr>
          <p:spPr>
            <a:xfrm>
              <a:off x="1715850" y="3010706"/>
              <a:ext cx="63116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0C39E98-8177-44F6-8D97-2BB4256709DD}"/>
              </a:ext>
            </a:extLst>
          </p:cNvPr>
          <p:cNvGrpSpPr/>
          <p:nvPr/>
        </p:nvGrpSpPr>
        <p:grpSpPr>
          <a:xfrm>
            <a:off x="9417480" y="4722531"/>
            <a:ext cx="434820" cy="646331"/>
            <a:chOff x="1715850" y="2569381"/>
            <a:chExt cx="631162" cy="646331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07D57B-92D2-472D-B8E2-56F382324A42}"/>
                </a:ext>
              </a:extLst>
            </p:cNvPr>
            <p:cNvSpPr txBox="1"/>
            <p:nvPr/>
          </p:nvSpPr>
          <p:spPr>
            <a:xfrm>
              <a:off x="1766205" y="2569381"/>
              <a:ext cx="4924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/>
                <a:t>FC</a:t>
              </a:r>
            </a:p>
            <a:p>
              <a:pPr algn="ctr"/>
              <a:endParaRPr lang="en-US" altLang="zh-CN" b="1" dirty="0"/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07683B39-564C-4715-A0E1-FFBE6EF15588}"/>
                </a:ext>
              </a:extLst>
            </p:cNvPr>
            <p:cNvCxnSpPr>
              <a:cxnSpLocks/>
            </p:cNvCxnSpPr>
            <p:nvPr/>
          </p:nvCxnSpPr>
          <p:spPr>
            <a:xfrm>
              <a:off x="1715850" y="3010706"/>
              <a:ext cx="63116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DC12DF4-E02D-4C0C-A493-9497ABB1052C}"/>
              </a:ext>
            </a:extLst>
          </p:cNvPr>
          <p:cNvGrpSpPr/>
          <p:nvPr/>
        </p:nvGrpSpPr>
        <p:grpSpPr>
          <a:xfrm>
            <a:off x="8130232" y="4722531"/>
            <a:ext cx="889987" cy="646331"/>
            <a:chOff x="1366499" y="2569381"/>
            <a:chExt cx="1291858" cy="646331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899E33F-F42D-4F07-97F1-E893B84F2D19}"/>
                </a:ext>
              </a:extLst>
            </p:cNvPr>
            <p:cNvSpPr txBox="1"/>
            <p:nvPr/>
          </p:nvSpPr>
          <p:spPr>
            <a:xfrm>
              <a:off x="1366499" y="2569381"/>
              <a:ext cx="12918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/>
                <a:t>Flatten</a:t>
              </a:r>
            </a:p>
            <a:p>
              <a:pPr algn="ctr"/>
              <a:endParaRPr lang="en-US" altLang="zh-CN" b="1" dirty="0"/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CE753BAC-15A7-4D0E-B6DF-2FEDB6CBB17B}"/>
                </a:ext>
              </a:extLst>
            </p:cNvPr>
            <p:cNvCxnSpPr>
              <a:cxnSpLocks/>
            </p:cNvCxnSpPr>
            <p:nvPr/>
          </p:nvCxnSpPr>
          <p:spPr>
            <a:xfrm>
              <a:off x="1574763" y="3018372"/>
              <a:ext cx="84137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5B4FCF7-2F26-4391-AFE5-9433541926D5}"/>
                  </a:ext>
                </a:extLst>
              </p:cNvPr>
              <p:cNvSpPr txBox="1"/>
              <p:nvPr/>
            </p:nvSpPr>
            <p:spPr>
              <a:xfrm>
                <a:off x="8888222" y="6321506"/>
                <a:ext cx="5706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216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5B4FCF7-2F26-4391-AFE5-943354192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222" y="6321506"/>
                <a:ext cx="570669" cy="276999"/>
              </a:xfrm>
              <a:prstGeom prst="rect">
                <a:avLst/>
              </a:prstGeom>
              <a:blipFill>
                <a:blip r:embed="rId13"/>
                <a:stretch>
                  <a:fillRect l="-8511" r="-9574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F9FC19D-6FE8-467D-B8BF-2AA105BBDA9F}"/>
                  </a:ext>
                </a:extLst>
              </p:cNvPr>
              <p:cNvSpPr txBox="1"/>
              <p:nvPr/>
            </p:nvSpPr>
            <p:spPr>
              <a:xfrm>
                <a:off x="9801920" y="6321506"/>
                <a:ext cx="5706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096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F9FC19D-6FE8-467D-B8BF-2AA105BBD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1920" y="6321506"/>
                <a:ext cx="570669" cy="276999"/>
              </a:xfrm>
              <a:prstGeom prst="rect">
                <a:avLst/>
              </a:prstGeom>
              <a:blipFill>
                <a:blip r:embed="rId14"/>
                <a:stretch>
                  <a:fillRect l="-9574" r="-8511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E2E4E11-EF3E-4ECC-A414-C91D4179E9C8}"/>
                  </a:ext>
                </a:extLst>
              </p:cNvPr>
              <p:cNvSpPr txBox="1"/>
              <p:nvPr/>
            </p:nvSpPr>
            <p:spPr>
              <a:xfrm>
                <a:off x="10723165" y="6321506"/>
                <a:ext cx="5706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096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E2E4E11-EF3E-4ECC-A414-C91D4179E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3165" y="6321506"/>
                <a:ext cx="570669" cy="276999"/>
              </a:xfrm>
              <a:prstGeom prst="rect">
                <a:avLst/>
              </a:prstGeom>
              <a:blipFill>
                <a:blip r:embed="rId15"/>
                <a:stretch>
                  <a:fillRect l="-8511" r="-9574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78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E8AE3-8E45-423F-A4EE-6E1625D71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AlexNet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93554-3FFB-4DBA-A18D-15C0A061C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38725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使用</a:t>
            </a:r>
            <a:r>
              <a:rPr lang="en-US" altLang="zh-CN" b="1" dirty="0"/>
              <a:t>Dropout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Data Augmentation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Horizontal flips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Random Crop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Rotation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Color jitter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…</a:t>
            </a:r>
          </a:p>
        </p:txBody>
      </p:sp>
      <p:pic>
        <p:nvPicPr>
          <p:cNvPr id="5" name="Picture 4" descr="preview">
            <a:extLst>
              <a:ext uri="{FF2B5EF4-FFF2-40B4-BE49-F238E27FC236}">
                <a16:creationId xmlns:a16="http://schemas.microsoft.com/office/drawing/2014/main" id="{69758A6D-8750-4B06-9AC8-FAD65CF35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77" y="1454150"/>
            <a:ext cx="4400548" cy="4400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0947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B56EF-D599-47C1-A4C8-139E3C316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AlexNet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EC26F-9D46-43DA-83DD-F1A474952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53025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1" dirty="0"/>
              <a:t>ReLU</a:t>
            </a:r>
            <a:r>
              <a:rPr lang="zh-CN" altLang="en-US" b="1" dirty="0"/>
              <a:t>激活函数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计算简单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模型优化收敛的速度更快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比</a:t>
            </a:r>
            <a:r>
              <a:rPr lang="en-US" altLang="zh-CN" i="1" dirty="0">
                <a:solidFill>
                  <a:schemeClr val="accent2"/>
                </a:solidFill>
                <a:cs typeface="+mn-ea"/>
                <a:sym typeface="+mn-lt"/>
              </a:rPr>
              <a:t>tanh</a:t>
            </a:r>
            <a:r>
              <a:rPr lang="zh-CN" altLang="en-US" dirty="0">
                <a:cs typeface="+mn-ea"/>
                <a:sym typeface="+mn-lt"/>
              </a:rPr>
              <a:t>激活函数快</a:t>
            </a:r>
            <a:r>
              <a:rPr lang="en-US" altLang="zh-CN" dirty="0">
                <a:cs typeface="+mn-ea"/>
                <a:sym typeface="+mn-lt"/>
              </a:rPr>
              <a:t>6</a:t>
            </a:r>
            <a:r>
              <a:rPr lang="zh-CN" altLang="en-US" dirty="0">
                <a:cs typeface="+mn-ea"/>
                <a:sym typeface="+mn-lt"/>
              </a:rPr>
              <a:t>倍</a:t>
            </a:r>
            <a:endParaRPr lang="zh-CN" altLang="en-US" dirty="0"/>
          </a:p>
        </p:txBody>
      </p:sp>
      <p:pic>
        <p:nvPicPr>
          <p:cNvPr id="4" name="Shape 148">
            <a:extLst>
              <a:ext uri="{FF2B5EF4-FFF2-40B4-BE49-F238E27FC236}">
                <a16:creationId xmlns:a16="http://schemas.microsoft.com/office/drawing/2014/main" id="{90748544-BB01-45CD-ADD4-3D927E6011FC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78849" y="1964498"/>
            <a:ext cx="2920676" cy="2160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C6D63C-A0A9-44E4-9A91-010BA84E599C}"/>
                  </a:ext>
                </a:extLst>
              </p:cNvPr>
              <p:cNvSpPr txBox="1"/>
              <p:nvPr/>
            </p:nvSpPr>
            <p:spPr>
              <a:xfrm>
                <a:off x="6745585" y="4596732"/>
                <a:ext cx="432246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600" b="0" i="0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ReLU</m:t>
                      </m:r>
                      <m:d>
                        <m:d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</m:d>
                      <m:r>
                        <a:rPr lang="en-US" altLang="zh-CN" sz="36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3600" b="0" i="0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max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(0, 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𝑥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zh-CN" altLang="en-US" sz="3600" dirty="0"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C6D63C-A0A9-44E4-9A91-010BA84E5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585" y="4596732"/>
                <a:ext cx="4322465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5173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ECEFC-118C-4E2E-9DFF-45951F1EF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AlexNet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1FA3B-6697-4E70-9F4A-DAFBB7544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54" y="2705100"/>
            <a:ext cx="6331377" cy="23027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8D15CC-A401-4CD4-83D1-83EF0A9569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376"/>
          <a:stretch/>
        </p:blipFill>
        <p:spPr>
          <a:xfrm>
            <a:off x="6902877" y="148659"/>
            <a:ext cx="5042219" cy="665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837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2F329-8CFA-4F20-9AEB-721D08452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AlexNet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41A31-0ABA-4E94-AD63-946D0E725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第一个卷积层</a:t>
            </a:r>
            <a:r>
              <a:rPr lang="en-US" altLang="zh-CN" dirty="0">
                <a:cs typeface="+mn-ea"/>
                <a:sym typeface="+mn-lt"/>
              </a:rPr>
              <a:t>96</a:t>
            </a:r>
            <a:r>
              <a:rPr lang="zh-CN" altLang="en-US" dirty="0">
                <a:cs typeface="+mn-ea"/>
                <a:sym typeface="+mn-lt"/>
              </a:rPr>
              <a:t>个</a:t>
            </a:r>
            <a:r>
              <a:rPr lang="en-US" altLang="zh-CN" dirty="0">
                <a:cs typeface="+mn-ea"/>
                <a:sym typeface="+mn-lt"/>
              </a:rPr>
              <a:t>11*11</a:t>
            </a:r>
            <a:r>
              <a:rPr lang="zh-CN" altLang="en-US" dirty="0">
                <a:cs typeface="+mn-ea"/>
                <a:sym typeface="+mn-lt"/>
              </a:rPr>
              <a:t>卷积核的可视化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1"/>
                </a:solidFill>
                <a:cs typeface="+mn-ea"/>
                <a:sym typeface="+mn-lt"/>
              </a:rPr>
              <a:t>(Visualization)</a:t>
            </a:r>
          </a:p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EE65E3-F297-4794-8406-D243FD28E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000" y="2380552"/>
            <a:ext cx="9630000" cy="393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353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72F0D-FB4A-4B26-9AFC-76557A15B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AlexNet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2BFBB-9FE6-4E1F-B257-115D1D0A8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Visualization</a:t>
            </a:r>
            <a:endParaRPr lang="zh-CN" altLang="en-US" b="1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D0F634-F980-49B7-9095-303C92718E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45"/>
          <a:stretch/>
        </p:blipFill>
        <p:spPr>
          <a:xfrm>
            <a:off x="1268930" y="2492943"/>
            <a:ext cx="9654139" cy="393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22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7B375-0AB0-4FD9-8143-830FD6594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ILSVRC 2013:</a:t>
            </a:r>
            <a:r>
              <a:rPr lang="zh-CN" altLang="en-US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ZFNet </a:t>
            </a:r>
            <a:endParaRPr lang="zh-CN" altLang="en-US" b="1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9AF81-C9D1-4DB6-A33C-5CDB25B21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8992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改进主要是基于对</a:t>
            </a:r>
            <a:r>
              <a:rPr lang="en-US" altLang="zh-CN" dirty="0">
                <a:cs typeface="+mn-ea"/>
                <a:sym typeface="+mn-lt"/>
              </a:rPr>
              <a:t>AlexNet</a:t>
            </a:r>
            <a:r>
              <a:rPr lang="zh-CN" altLang="en-US" dirty="0">
                <a:cs typeface="+mn-ea"/>
                <a:sym typeface="+mn-lt"/>
              </a:rPr>
              <a:t>的可视化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保留更多的浅层特征并减少</a:t>
            </a:r>
            <a:r>
              <a:rPr lang="en-US" altLang="zh-CN" dirty="0">
                <a:cs typeface="+mn-ea"/>
                <a:sym typeface="+mn-lt"/>
              </a:rPr>
              <a:t>dead filters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第一层的卷积核减小为</a:t>
            </a:r>
            <a:r>
              <a:rPr lang="en-US" altLang="zh-CN" dirty="0">
                <a:cs typeface="+mn-ea"/>
                <a:sym typeface="+mn-lt"/>
              </a:rPr>
              <a:t>7*7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第一层的</a:t>
            </a:r>
            <a:r>
              <a:rPr lang="en-US" altLang="zh-CN" dirty="0">
                <a:cs typeface="+mn-ea"/>
                <a:sym typeface="+mn-lt"/>
              </a:rPr>
              <a:t>Stride</a:t>
            </a:r>
            <a:r>
              <a:rPr lang="zh-CN" altLang="en-US" dirty="0">
                <a:cs typeface="+mn-ea"/>
                <a:sym typeface="+mn-lt"/>
              </a:rPr>
              <a:t>设置为</a:t>
            </a:r>
            <a:r>
              <a:rPr lang="en-US" altLang="zh-CN" dirty="0">
                <a:cs typeface="+mn-ea"/>
                <a:sym typeface="+mn-lt"/>
              </a:rPr>
              <a:t>2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输入层增加</a:t>
            </a:r>
            <a:r>
              <a:rPr lang="en-US" altLang="zh-CN" dirty="0">
                <a:cs typeface="+mn-ea"/>
                <a:sym typeface="+mn-lt"/>
              </a:rPr>
              <a:t>dropout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8E8CB2-BD72-4B1B-8811-11529054D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192" y="2502568"/>
            <a:ext cx="5145040" cy="278937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05C9B55-CE25-46F5-8941-7F6B9B61FF8E}"/>
              </a:ext>
            </a:extLst>
          </p:cNvPr>
          <p:cNvSpPr/>
          <p:nvPr/>
        </p:nvSpPr>
        <p:spPr>
          <a:xfrm>
            <a:off x="5055704" y="6550223"/>
            <a:ext cx="71362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>
                <a:solidFill>
                  <a:srgbClr val="434343"/>
                </a:solidFill>
                <a:cs typeface="+mn-ea"/>
                <a:sym typeface="+mn-lt"/>
              </a:rPr>
              <a:t>Visualizing and understanding convolutional networks </a:t>
            </a:r>
            <a:r>
              <a:rPr lang="en-US" altLang="zh-CN" sz="1400" i="1" dirty="0">
                <a:solidFill>
                  <a:srgbClr val="434343"/>
                </a:solidFill>
                <a:cs typeface="+mn-ea"/>
                <a:sym typeface="+mn-lt"/>
              </a:rPr>
              <a:t>ECCV 2014</a:t>
            </a:r>
            <a:r>
              <a:rPr lang="en-US" altLang="zh-CN" sz="1400" dirty="0">
                <a:cs typeface="+mn-ea"/>
                <a:sym typeface="+mn-lt"/>
              </a:rPr>
              <a:t> 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1155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8785E-E3DD-49DB-B7C4-C0E8D8EF3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>
                <a:latin typeface="+mn-lt"/>
                <a:ea typeface="+mn-ea"/>
                <a:cs typeface="+mn-ea"/>
                <a:sym typeface="+mn-lt"/>
              </a:rPr>
              <a:t>Using deconvolutions to visualize layer responses</a:t>
            </a:r>
            <a:endParaRPr lang="zh-CN" altLang="en-US" sz="3600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EFEE8E-AF28-4539-8823-E26DA1B46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427" y="1690688"/>
            <a:ext cx="4973146" cy="47666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CFADC4-3D98-4C5C-8D05-F6A1CE82FF94}"/>
              </a:ext>
            </a:extLst>
          </p:cNvPr>
          <p:cNvSpPr txBox="1"/>
          <p:nvPr/>
        </p:nvSpPr>
        <p:spPr>
          <a:xfrm>
            <a:off x="2029239" y="3167390"/>
            <a:ext cx="14221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cs typeface="+mn-ea"/>
                <a:sym typeface="+mn-lt"/>
              </a:rPr>
              <a:t>DeConv</a:t>
            </a:r>
            <a:endParaRPr lang="zh-CN" altLang="en-US" sz="2800" b="1" dirty="0">
              <a:cs typeface="+mn-ea"/>
              <a:sym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078363-ECB6-4DDC-8EE6-FFF131277099}"/>
              </a:ext>
            </a:extLst>
          </p:cNvPr>
          <p:cNvSpPr txBox="1"/>
          <p:nvPr/>
        </p:nvSpPr>
        <p:spPr>
          <a:xfrm>
            <a:off x="8740576" y="3227024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cs typeface="+mn-ea"/>
                <a:sym typeface="+mn-lt"/>
              </a:rPr>
              <a:t>Conv</a:t>
            </a:r>
            <a:endParaRPr lang="zh-CN" altLang="en-US" sz="2800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596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C446D-4568-4C3C-BEA4-3541BB0D2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What do </a:t>
            </a:r>
            <a:r>
              <a:rPr lang="en-US" altLang="zh-CN" b="1" dirty="0" err="1">
                <a:latin typeface="+mn-lt"/>
                <a:ea typeface="+mn-ea"/>
                <a:cs typeface="+mn-ea"/>
                <a:sym typeface="+mn-lt"/>
              </a:rPr>
              <a:t>CovNets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 learn?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D11A8-B12C-4DCD-8A62-5F30E4DF9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C31520-9C5E-4639-98F9-88C6FF21B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26" y="1922488"/>
            <a:ext cx="10045148" cy="398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29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A66D5-1D9D-475F-AF34-DF7F5F001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What do </a:t>
            </a:r>
            <a:r>
              <a:rPr lang="en-US" altLang="zh-CN" b="1" dirty="0" err="1">
                <a:latin typeface="+mn-lt"/>
                <a:ea typeface="+mn-ea"/>
                <a:cs typeface="+mn-ea"/>
                <a:sym typeface="+mn-lt"/>
              </a:rPr>
              <a:t>CovNets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 learn?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8666E-CB38-42C6-8A4A-D424DA66C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B8D454-274D-4686-8FD7-FBEED9905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782" y="2025568"/>
            <a:ext cx="10366436" cy="382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959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E35E4-8AFD-4A59-B1E0-C17F0ADD4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What do </a:t>
            </a:r>
            <a:r>
              <a:rPr lang="en-US" altLang="zh-CN" b="1" dirty="0" err="1">
                <a:latin typeface="+mn-lt"/>
                <a:ea typeface="+mn-ea"/>
                <a:cs typeface="+mn-ea"/>
                <a:sym typeface="+mn-lt"/>
              </a:rPr>
              <a:t>CovNets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 learn?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6C20EE-4A31-4808-AAE8-C2509AC9D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914" y="1465959"/>
            <a:ext cx="8422171" cy="520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50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DEE8B-CB62-4E14-BEE8-876175D76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ILSVRC 2014: VGG and Inception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FCBCD0-B0F7-4317-B5CA-D0491A0941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52301" b="48904"/>
          <a:stretch/>
        </p:blipFill>
        <p:spPr>
          <a:xfrm>
            <a:off x="1317179" y="2147888"/>
            <a:ext cx="1373919" cy="35041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9BB457-8642-40B6-9C5D-F05584333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285" y="1690688"/>
            <a:ext cx="2064541" cy="467412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BDA81FC-ABB7-4C04-AF5E-D86AE5428963}"/>
              </a:ext>
            </a:extLst>
          </p:cNvPr>
          <p:cNvGrpSpPr/>
          <p:nvPr/>
        </p:nvGrpSpPr>
        <p:grpSpPr>
          <a:xfrm>
            <a:off x="8664023" y="1622356"/>
            <a:ext cx="2413988" cy="4870519"/>
            <a:chOff x="8577883" y="1690688"/>
            <a:chExt cx="2413988" cy="487051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FE661EC-E0E8-4174-91CA-3EC2DE7E5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77883" y="1818754"/>
              <a:ext cx="865578" cy="467412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81B04F0-C73B-4089-824D-AAF8946F2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51792" y="1690688"/>
              <a:ext cx="1340079" cy="4870519"/>
            </a:xfrm>
            <a:prstGeom prst="rect">
              <a:avLst/>
            </a:prstGeom>
          </p:spPr>
        </p:pic>
      </p:grpSp>
      <p:sp>
        <p:nvSpPr>
          <p:cNvPr id="8" name="Arrow: Right 7">
            <a:extLst>
              <a:ext uri="{FF2B5EF4-FFF2-40B4-BE49-F238E27FC236}">
                <a16:creationId xmlns:a16="http://schemas.microsoft.com/office/drawing/2014/main" id="{19146942-0BE0-4178-B286-F593F57C2C69}"/>
              </a:ext>
            </a:extLst>
          </p:cNvPr>
          <p:cNvSpPr/>
          <p:nvPr/>
        </p:nvSpPr>
        <p:spPr>
          <a:xfrm>
            <a:off x="3103987" y="323684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2E5C9D1-579F-4DAD-A3B7-2919F57C38DF}"/>
              </a:ext>
            </a:extLst>
          </p:cNvPr>
          <p:cNvSpPr/>
          <p:nvPr/>
        </p:nvSpPr>
        <p:spPr>
          <a:xfrm>
            <a:off x="7122720" y="323684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240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311DB-14B9-4832-8BF6-72712514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ILSVRC 2014: 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VGG and Inception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1BD4B6-3A66-4E49-808C-80257C0AF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901" y="1787206"/>
            <a:ext cx="9132198" cy="476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68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D1124-28D6-4EDC-BCF2-C37E2BB6B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Modern ConvNets: VGG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A9844-467F-4CCA-8851-889DE4E1B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25278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VGG networks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使用更多的卷积层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堆叠多个</a:t>
            </a:r>
            <a:r>
              <a:rPr lang="en-US" altLang="zh-CN" dirty="0">
                <a:cs typeface="+mn-ea"/>
                <a:sym typeface="+mn-lt"/>
              </a:rPr>
              <a:t>3*3</a:t>
            </a:r>
            <a:r>
              <a:rPr lang="zh-CN" altLang="en-US" dirty="0">
                <a:cs typeface="+mn-ea"/>
                <a:sym typeface="+mn-lt"/>
              </a:rPr>
              <a:t>的小卷积核</a:t>
            </a:r>
            <a:r>
              <a:rPr lang="en-US" altLang="zh-CN" dirty="0">
                <a:cs typeface="+mn-ea"/>
                <a:sym typeface="+mn-lt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性能超过</a:t>
            </a:r>
            <a:r>
              <a:rPr lang="en-US" altLang="zh-CN" dirty="0">
                <a:cs typeface="+mn-ea"/>
                <a:sym typeface="+mn-lt"/>
              </a:rPr>
              <a:t>7*7</a:t>
            </a:r>
            <a:r>
              <a:rPr lang="zh-CN" altLang="en-US" dirty="0">
                <a:cs typeface="+mn-ea"/>
                <a:sym typeface="+mn-lt"/>
              </a:rPr>
              <a:t>的大卷积核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329191-1406-4910-BFCC-C33A8A296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330" y="1571679"/>
            <a:ext cx="4685470" cy="475321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7E6C13D-E807-444C-98AD-14125464FDFE}"/>
              </a:ext>
            </a:extLst>
          </p:cNvPr>
          <p:cNvSpPr/>
          <p:nvPr/>
        </p:nvSpPr>
        <p:spPr>
          <a:xfrm>
            <a:off x="6036365" y="6550223"/>
            <a:ext cx="61556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>
                <a:solidFill>
                  <a:srgbClr val="434343"/>
                </a:solidFill>
                <a:cs typeface="+mn-ea"/>
                <a:sym typeface="+mn-lt"/>
              </a:rPr>
              <a:t>Very deep convolutional networks for large-scale image recognition, ICLR 2015</a:t>
            </a:r>
            <a:r>
              <a:rPr lang="en-US" altLang="zh-CN" sz="1400" dirty="0">
                <a:cs typeface="+mn-ea"/>
                <a:sym typeface="+mn-lt"/>
              </a:rPr>
              <a:t> 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7658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978C-E96B-4219-A2F4-19536C434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VGG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4DF5E-BD3C-4AD1-9536-59B1282E4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728792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堆叠卷积层来增大感受野（</a:t>
            </a:r>
            <a:r>
              <a:rPr lang="en-US" altLang="zh-CN" dirty="0">
                <a:cs typeface="+mn-ea"/>
                <a:sym typeface="+mn-lt"/>
              </a:rPr>
              <a:t>receptive field)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Two 3*3 layer         5*5 receptive field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Three 3*3 layer      7*7 receptive field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更多的</a:t>
            </a:r>
            <a:r>
              <a:rPr lang="en-US" altLang="zh-CN" dirty="0">
                <a:cs typeface="+mn-ea"/>
                <a:sym typeface="+mn-lt"/>
              </a:rPr>
              <a:t>non-linearity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图片 4">
            <a:extLst>
              <a:ext uri="{FF2B5EF4-FFF2-40B4-BE49-F238E27FC236}">
                <a16:creationId xmlns:a16="http://schemas.microsoft.com/office/drawing/2014/main" id="{426372BE-1DA1-435D-9985-CC71E3426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079" y="2119122"/>
            <a:ext cx="2884015" cy="3645074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CD9241F9-5AEB-4725-9EE0-FBD641CA7EBE}"/>
              </a:ext>
            </a:extLst>
          </p:cNvPr>
          <p:cNvSpPr/>
          <p:nvPr/>
        </p:nvSpPr>
        <p:spPr>
          <a:xfrm>
            <a:off x="3570708" y="2818599"/>
            <a:ext cx="357674" cy="1352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E07D526-3A61-4FA7-B09C-B2DA891C0179}"/>
              </a:ext>
            </a:extLst>
          </p:cNvPr>
          <p:cNvSpPr/>
          <p:nvPr/>
        </p:nvSpPr>
        <p:spPr>
          <a:xfrm>
            <a:off x="3589758" y="3426880"/>
            <a:ext cx="357674" cy="1352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1130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A96FD-E9D4-44D8-8ABD-EEDB5D2BF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VGG-16</a:t>
            </a:r>
            <a:endParaRPr lang="zh-CN" altLang="en-US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05004A-F201-4DF4-BDE9-93974D75B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847961"/>
              </p:ext>
            </p:extLst>
          </p:nvPr>
        </p:nvGraphicFramePr>
        <p:xfrm>
          <a:off x="1136650" y="1690688"/>
          <a:ext cx="18288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59959030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7560287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8636100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2202444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83480518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08838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79028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14242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70796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60790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ED8B8E-A30A-4B81-AC00-1971BABC0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768975"/>
              </p:ext>
            </p:extLst>
          </p:nvPr>
        </p:nvGraphicFramePr>
        <p:xfrm>
          <a:off x="1003300" y="1829329"/>
          <a:ext cx="18288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59959030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7560287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8636100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2202444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83480518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08838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79028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14242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70796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60790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BB756A-D98B-4BF8-9F78-F5E1EB9F2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599533"/>
              </p:ext>
            </p:extLst>
          </p:nvPr>
        </p:nvGraphicFramePr>
        <p:xfrm>
          <a:off x="873125" y="1950507"/>
          <a:ext cx="18288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59959030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7560287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8636100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2202444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83480518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08838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79028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14242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70796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60790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787862-2038-413C-AECC-AD69AA20519C}"/>
                  </a:ext>
                </a:extLst>
              </p:cNvPr>
              <p:cNvSpPr txBox="1"/>
              <p:nvPr/>
            </p:nvSpPr>
            <p:spPr>
              <a:xfrm>
                <a:off x="1466464" y="1344510"/>
                <a:ext cx="14907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×224×3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787862-2038-413C-AECC-AD69AA205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464" y="1344510"/>
                <a:ext cx="1490793" cy="276999"/>
              </a:xfrm>
              <a:prstGeom prst="rect">
                <a:avLst/>
              </a:prstGeom>
              <a:blipFill>
                <a:blip r:embed="rId2"/>
                <a:stretch>
                  <a:fillRect l="-3279" r="-3279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4119AE-FB85-4D73-9469-7E0250F42DF5}"/>
              </a:ext>
            </a:extLst>
          </p:cNvPr>
          <p:cNvCxnSpPr>
            <a:cxnSpLocks/>
          </p:cNvCxnSpPr>
          <p:nvPr/>
        </p:nvCxnSpPr>
        <p:spPr>
          <a:xfrm>
            <a:off x="3257550" y="2743729"/>
            <a:ext cx="9906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CEFCFF5-D0FF-4ADB-800D-C61C82B42F37}"/>
              </a:ext>
            </a:extLst>
          </p:cNvPr>
          <p:cNvSpPr txBox="1"/>
          <p:nvPr/>
        </p:nvSpPr>
        <p:spPr>
          <a:xfrm>
            <a:off x="6686522" y="553703"/>
            <a:ext cx="4873642" cy="10416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92D050"/>
                </a:solidFill>
              </a:rPr>
              <a:t>CONV=3*3 filter,</a:t>
            </a:r>
            <a:r>
              <a:rPr lang="zh-CN" altLang="en-US" sz="2400" dirty="0">
                <a:solidFill>
                  <a:srgbClr val="92D050"/>
                </a:solidFill>
              </a:rPr>
              <a:t> </a:t>
            </a:r>
            <a:r>
              <a:rPr lang="en-US" altLang="zh-CN" sz="2400" dirty="0">
                <a:solidFill>
                  <a:srgbClr val="92D050"/>
                </a:solidFill>
              </a:rPr>
              <a:t>Stride=1, Padding=1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92D050"/>
                </a:solidFill>
              </a:rPr>
              <a:t>MAX-POOL=2*2, Stride=2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331C4D6-A735-490A-886F-FB4C0FDE451D}"/>
                  </a:ext>
                </a:extLst>
              </p:cNvPr>
              <p:cNvSpPr/>
              <p:nvPr/>
            </p:nvSpPr>
            <p:spPr>
              <a:xfrm>
                <a:off x="3114374" y="2873157"/>
                <a:ext cx="127695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accent1"/>
                    </a:solidFill>
                  </a:rPr>
                  <a:t>[CONV 64]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331C4D6-A735-490A-886F-FB4C0FDE45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374" y="2873157"/>
                <a:ext cx="1276952" cy="646331"/>
              </a:xfrm>
              <a:prstGeom prst="rect">
                <a:avLst/>
              </a:prstGeom>
              <a:blipFill>
                <a:blip r:embed="rId3"/>
                <a:stretch>
                  <a:fillRect l="-3828" t="-4717" r="-3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5AE1466-10A5-4BED-82E4-69D149E5DE36}"/>
                  </a:ext>
                </a:extLst>
              </p:cNvPr>
              <p:cNvSpPr txBox="1"/>
              <p:nvPr/>
            </p:nvSpPr>
            <p:spPr>
              <a:xfrm>
                <a:off x="4286551" y="2605229"/>
                <a:ext cx="16190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×224×64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5AE1466-10A5-4BED-82E4-69D149E5D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551" y="2605229"/>
                <a:ext cx="1619033" cy="276999"/>
              </a:xfrm>
              <a:prstGeom prst="rect">
                <a:avLst/>
              </a:prstGeom>
              <a:blipFill>
                <a:blip r:embed="rId4"/>
                <a:stretch>
                  <a:fillRect l="-2632" r="-3008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33ED7A7-BDEA-4810-A5C0-97400440DF27}"/>
              </a:ext>
            </a:extLst>
          </p:cNvPr>
          <p:cNvCxnSpPr>
            <a:cxnSpLocks/>
          </p:cNvCxnSpPr>
          <p:nvPr/>
        </p:nvCxnSpPr>
        <p:spPr>
          <a:xfrm>
            <a:off x="5926547" y="2743729"/>
            <a:ext cx="9906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52BA948-5587-4209-A5E1-215E50D21FF6}"/>
              </a:ext>
            </a:extLst>
          </p:cNvPr>
          <p:cNvSpPr/>
          <p:nvPr/>
        </p:nvSpPr>
        <p:spPr>
          <a:xfrm>
            <a:off x="5952418" y="2882228"/>
            <a:ext cx="787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POOL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AAF34F-0C56-45E9-BA51-956A08188331}"/>
                  </a:ext>
                </a:extLst>
              </p:cNvPr>
              <p:cNvSpPr txBox="1"/>
              <p:nvPr/>
            </p:nvSpPr>
            <p:spPr>
              <a:xfrm>
                <a:off x="6938110" y="2605229"/>
                <a:ext cx="16190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×112×64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AAF34F-0C56-45E9-BA51-956A08188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110" y="2605229"/>
                <a:ext cx="1619033" cy="276999"/>
              </a:xfrm>
              <a:prstGeom prst="rect">
                <a:avLst/>
              </a:prstGeom>
              <a:blipFill>
                <a:blip r:embed="rId5"/>
                <a:stretch>
                  <a:fillRect l="-2632" r="-3008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15D89B-6136-46B5-8143-549D7A3BAE13}"/>
              </a:ext>
            </a:extLst>
          </p:cNvPr>
          <p:cNvCxnSpPr>
            <a:cxnSpLocks/>
          </p:cNvCxnSpPr>
          <p:nvPr/>
        </p:nvCxnSpPr>
        <p:spPr>
          <a:xfrm>
            <a:off x="8586019" y="2762623"/>
            <a:ext cx="9906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6FCC615-568D-4F3D-9A14-3C2213B0AF1F}"/>
                  </a:ext>
                </a:extLst>
              </p:cNvPr>
              <p:cNvSpPr/>
              <p:nvPr/>
            </p:nvSpPr>
            <p:spPr>
              <a:xfrm>
                <a:off x="8385134" y="2892051"/>
                <a:ext cx="139236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accent1"/>
                    </a:solidFill>
                  </a:rPr>
                  <a:t>[CONV 128]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6FCC615-568D-4F3D-9A14-3C2213B0AF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5134" y="2892051"/>
                <a:ext cx="1392369" cy="646331"/>
              </a:xfrm>
              <a:prstGeom prst="rect">
                <a:avLst/>
              </a:prstGeom>
              <a:blipFill>
                <a:blip r:embed="rId6"/>
                <a:stretch>
                  <a:fillRect l="-3509" t="-4717" r="-3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3470775-638C-4822-AA28-4429E21349F4}"/>
                  </a:ext>
                </a:extLst>
              </p:cNvPr>
              <p:cNvSpPr txBox="1"/>
              <p:nvPr/>
            </p:nvSpPr>
            <p:spPr>
              <a:xfrm>
                <a:off x="9719795" y="2624123"/>
                <a:ext cx="17472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×112×128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3470775-638C-4822-AA28-4429E2134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9795" y="2624123"/>
                <a:ext cx="1747273" cy="276999"/>
              </a:xfrm>
              <a:prstGeom prst="rect">
                <a:avLst/>
              </a:prstGeom>
              <a:blipFill>
                <a:blip r:embed="rId7"/>
                <a:stretch>
                  <a:fillRect l="-2439" r="-2787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18B4447-C1F1-4882-AD3F-1E5A65246811}"/>
              </a:ext>
            </a:extLst>
          </p:cNvPr>
          <p:cNvCxnSpPr>
            <a:cxnSpLocks/>
          </p:cNvCxnSpPr>
          <p:nvPr/>
        </p:nvCxnSpPr>
        <p:spPr>
          <a:xfrm>
            <a:off x="586238" y="4285707"/>
            <a:ext cx="9906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74151E0-F3F9-42D9-BFA6-0D7A6AC33F47}"/>
              </a:ext>
            </a:extLst>
          </p:cNvPr>
          <p:cNvSpPr/>
          <p:nvPr/>
        </p:nvSpPr>
        <p:spPr>
          <a:xfrm>
            <a:off x="612109" y="4424206"/>
            <a:ext cx="787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POOL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185F64F-46C6-4A3F-BB24-A55BC788B265}"/>
                  </a:ext>
                </a:extLst>
              </p:cNvPr>
              <p:cNvSpPr txBox="1"/>
              <p:nvPr/>
            </p:nvSpPr>
            <p:spPr>
              <a:xfrm>
                <a:off x="1597801" y="4147207"/>
                <a:ext cx="14907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×56×128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185F64F-46C6-4A3F-BB24-A55BC788B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801" y="4147207"/>
                <a:ext cx="1490793" cy="276999"/>
              </a:xfrm>
              <a:prstGeom prst="rect">
                <a:avLst/>
              </a:prstGeom>
              <a:blipFill>
                <a:blip r:embed="rId8"/>
                <a:stretch>
                  <a:fillRect l="-3265" r="-3265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999809A-BC90-4AB5-AE74-91925C25C04F}"/>
              </a:ext>
            </a:extLst>
          </p:cNvPr>
          <p:cNvCxnSpPr>
            <a:cxnSpLocks/>
          </p:cNvCxnSpPr>
          <p:nvPr/>
        </p:nvCxnSpPr>
        <p:spPr>
          <a:xfrm>
            <a:off x="3245710" y="4304601"/>
            <a:ext cx="9906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BB4E150-D5AE-4C25-9EDC-788760058039}"/>
                  </a:ext>
                </a:extLst>
              </p:cNvPr>
              <p:cNvSpPr/>
              <p:nvPr/>
            </p:nvSpPr>
            <p:spPr>
              <a:xfrm>
                <a:off x="3044825" y="4434029"/>
                <a:ext cx="139236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accent1"/>
                    </a:solidFill>
                  </a:rPr>
                  <a:t>[CONV 256]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BB4E150-D5AE-4C25-9EDC-7887600580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825" y="4434029"/>
                <a:ext cx="1392369" cy="646331"/>
              </a:xfrm>
              <a:prstGeom prst="rect">
                <a:avLst/>
              </a:prstGeom>
              <a:blipFill>
                <a:blip r:embed="rId9"/>
                <a:stretch>
                  <a:fillRect l="-3057" t="-4717" r="-30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251FF72-BCC1-4779-9608-130E0E45CBCB}"/>
                  </a:ext>
                </a:extLst>
              </p:cNvPr>
              <p:cNvSpPr txBox="1"/>
              <p:nvPr/>
            </p:nvSpPr>
            <p:spPr>
              <a:xfrm>
                <a:off x="4379486" y="4166101"/>
                <a:ext cx="14907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×56×256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251FF72-BCC1-4779-9608-130E0E45C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486" y="4166101"/>
                <a:ext cx="1490793" cy="276999"/>
              </a:xfrm>
              <a:prstGeom prst="rect">
                <a:avLst/>
              </a:prstGeom>
              <a:blipFill>
                <a:blip r:embed="rId10"/>
                <a:stretch>
                  <a:fillRect l="-3265" r="-3265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76A742A-5335-40BA-A68B-0EC102F804B0}"/>
              </a:ext>
            </a:extLst>
          </p:cNvPr>
          <p:cNvCxnSpPr>
            <a:cxnSpLocks/>
          </p:cNvCxnSpPr>
          <p:nvPr/>
        </p:nvCxnSpPr>
        <p:spPr>
          <a:xfrm>
            <a:off x="5987584" y="4304601"/>
            <a:ext cx="9906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C5FFC9B-4A2E-48BF-92B6-E45DA5C7D50F}"/>
              </a:ext>
            </a:extLst>
          </p:cNvPr>
          <p:cNvSpPr/>
          <p:nvPr/>
        </p:nvSpPr>
        <p:spPr>
          <a:xfrm>
            <a:off x="6013455" y="4443100"/>
            <a:ext cx="787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POOL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AF1FA3F-0DCD-4E03-AF73-0BC23B2883BF}"/>
                  </a:ext>
                </a:extLst>
              </p:cNvPr>
              <p:cNvSpPr txBox="1"/>
              <p:nvPr/>
            </p:nvSpPr>
            <p:spPr>
              <a:xfrm>
                <a:off x="7027722" y="4166101"/>
                <a:ext cx="14907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×28×256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AF1FA3F-0DCD-4E03-AF73-0BC23B288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7722" y="4166101"/>
                <a:ext cx="1490793" cy="276999"/>
              </a:xfrm>
              <a:prstGeom prst="rect">
                <a:avLst/>
              </a:prstGeom>
              <a:blipFill>
                <a:blip r:embed="rId11"/>
                <a:stretch>
                  <a:fillRect l="-3279" r="-3689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DACA1FE-DD9D-4AAC-9B35-DE69AA578833}"/>
              </a:ext>
            </a:extLst>
          </p:cNvPr>
          <p:cNvCxnSpPr>
            <a:cxnSpLocks/>
          </p:cNvCxnSpPr>
          <p:nvPr/>
        </p:nvCxnSpPr>
        <p:spPr>
          <a:xfrm>
            <a:off x="8647056" y="4323495"/>
            <a:ext cx="9906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82CE76D-890E-4A30-9E58-E1A8994E6B9A}"/>
                  </a:ext>
                </a:extLst>
              </p:cNvPr>
              <p:cNvSpPr/>
              <p:nvPr/>
            </p:nvSpPr>
            <p:spPr>
              <a:xfrm>
                <a:off x="8446171" y="4452923"/>
                <a:ext cx="139236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accent1"/>
                    </a:solidFill>
                  </a:rPr>
                  <a:t>[CONV 512]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82CE76D-890E-4A30-9E58-E1A8994E6B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171" y="4452923"/>
                <a:ext cx="1392369" cy="646331"/>
              </a:xfrm>
              <a:prstGeom prst="rect">
                <a:avLst/>
              </a:prstGeom>
              <a:blipFill>
                <a:blip r:embed="rId12"/>
                <a:stretch>
                  <a:fillRect l="-3509" t="-4717" r="-3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F8D00F2-18DD-4491-AA5A-3A67426BB281}"/>
                  </a:ext>
                </a:extLst>
              </p:cNvPr>
              <p:cNvSpPr txBox="1"/>
              <p:nvPr/>
            </p:nvSpPr>
            <p:spPr>
              <a:xfrm>
                <a:off x="9780832" y="4184995"/>
                <a:ext cx="14907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×28×512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F8D00F2-18DD-4491-AA5A-3A67426BB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832" y="4184995"/>
                <a:ext cx="1490793" cy="276999"/>
              </a:xfrm>
              <a:prstGeom prst="rect">
                <a:avLst/>
              </a:prstGeom>
              <a:blipFill>
                <a:blip r:embed="rId13"/>
                <a:stretch>
                  <a:fillRect l="-2857" r="-3265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AFEF4D8-BDE5-40D1-8D56-285CCB158C41}"/>
              </a:ext>
            </a:extLst>
          </p:cNvPr>
          <p:cNvCxnSpPr>
            <a:cxnSpLocks/>
          </p:cNvCxnSpPr>
          <p:nvPr/>
        </p:nvCxnSpPr>
        <p:spPr>
          <a:xfrm>
            <a:off x="586238" y="5569580"/>
            <a:ext cx="9906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EDE8A6AC-E851-49D7-8468-DC7BBCD67F2B}"/>
              </a:ext>
            </a:extLst>
          </p:cNvPr>
          <p:cNvSpPr/>
          <p:nvPr/>
        </p:nvSpPr>
        <p:spPr>
          <a:xfrm>
            <a:off x="612109" y="5708079"/>
            <a:ext cx="787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POOL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FFC5AF3-7A72-4132-9113-E452B189083C}"/>
                  </a:ext>
                </a:extLst>
              </p:cNvPr>
              <p:cNvSpPr txBox="1"/>
              <p:nvPr/>
            </p:nvSpPr>
            <p:spPr>
              <a:xfrm>
                <a:off x="1597801" y="5431080"/>
                <a:ext cx="14907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×14×512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FFC5AF3-7A72-4132-9113-E452B1890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801" y="5431080"/>
                <a:ext cx="1490793" cy="276999"/>
              </a:xfrm>
              <a:prstGeom prst="rect">
                <a:avLst/>
              </a:prstGeom>
              <a:blipFill>
                <a:blip r:embed="rId14"/>
                <a:stretch>
                  <a:fillRect l="-2857" r="-3265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0483FE6-D855-4324-97F5-BC0AE9A6939E}"/>
              </a:ext>
            </a:extLst>
          </p:cNvPr>
          <p:cNvCxnSpPr>
            <a:cxnSpLocks/>
          </p:cNvCxnSpPr>
          <p:nvPr/>
        </p:nvCxnSpPr>
        <p:spPr>
          <a:xfrm>
            <a:off x="3245710" y="5588474"/>
            <a:ext cx="9906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1101532-01BA-43D1-8672-5F8259F4B9D7}"/>
                  </a:ext>
                </a:extLst>
              </p:cNvPr>
              <p:cNvSpPr/>
              <p:nvPr/>
            </p:nvSpPr>
            <p:spPr>
              <a:xfrm>
                <a:off x="3044825" y="5717902"/>
                <a:ext cx="139236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accent1"/>
                    </a:solidFill>
                  </a:rPr>
                  <a:t>[CONV 256]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1101532-01BA-43D1-8672-5F8259F4B9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825" y="5717902"/>
                <a:ext cx="1392369" cy="646331"/>
              </a:xfrm>
              <a:prstGeom prst="rect">
                <a:avLst/>
              </a:prstGeom>
              <a:blipFill>
                <a:blip r:embed="rId15"/>
                <a:stretch>
                  <a:fillRect l="-3057" t="-5660" r="-30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1C4DB4A-9DA3-4E54-AC6E-510A4DC5A082}"/>
                  </a:ext>
                </a:extLst>
              </p:cNvPr>
              <p:cNvSpPr txBox="1"/>
              <p:nvPr/>
            </p:nvSpPr>
            <p:spPr>
              <a:xfrm>
                <a:off x="4379486" y="5449974"/>
                <a:ext cx="14907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×14×512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1C4DB4A-9DA3-4E54-AC6E-510A4DC5A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486" y="5449974"/>
                <a:ext cx="1490793" cy="276999"/>
              </a:xfrm>
              <a:prstGeom prst="rect">
                <a:avLst/>
              </a:prstGeom>
              <a:blipFill>
                <a:blip r:embed="rId16"/>
                <a:stretch>
                  <a:fillRect l="-2857" r="-3265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4642D14-63AF-4141-84B1-AB3E1E2E80F8}"/>
              </a:ext>
            </a:extLst>
          </p:cNvPr>
          <p:cNvCxnSpPr>
            <a:cxnSpLocks/>
          </p:cNvCxnSpPr>
          <p:nvPr/>
        </p:nvCxnSpPr>
        <p:spPr>
          <a:xfrm>
            <a:off x="5987584" y="5588474"/>
            <a:ext cx="9906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17E9DBA2-EFCE-4976-B910-67571ABAA497}"/>
              </a:ext>
            </a:extLst>
          </p:cNvPr>
          <p:cNvSpPr/>
          <p:nvPr/>
        </p:nvSpPr>
        <p:spPr>
          <a:xfrm>
            <a:off x="6013455" y="5726973"/>
            <a:ext cx="787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POOL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5C1A0D4-493D-4661-9424-C14F4C188354}"/>
                  </a:ext>
                </a:extLst>
              </p:cNvPr>
              <p:cNvSpPr txBox="1"/>
              <p:nvPr/>
            </p:nvSpPr>
            <p:spPr>
              <a:xfrm>
                <a:off x="7027722" y="5449974"/>
                <a:ext cx="12343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×7×512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5C1A0D4-493D-4661-9424-C14F4C188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7722" y="5449974"/>
                <a:ext cx="1234312" cy="276999"/>
              </a:xfrm>
              <a:prstGeom prst="rect">
                <a:avLst/>
              </a:prstGeom>
              <a:blipFill>
                <a:blip r:embed="rId17"/>
                <a:stretch>
                  <a:fillRect l="-3960" r="-4455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33E96D0-6F35-4F04-8FD6-6FD3B8E40991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8385134" y="5588474"/>
            <a:ext cx="58089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5C485E6-3BC8-4360-AF2F-6008FAD3E41A}"/>
                  </a:ext>
                </a:extLst>
              </p:cNvPr>
              <p:cNvSpPr txBox="1"/>
              <p:nvPr/>
            </p:nvSpPr>
            <p:spPr>
              <a:xfrm>
                <a:off x="8966025" y="5468867"/>
                <a:ext cx="5706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096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5C485E6-3BC8-4360-AF2F-6008FAD3E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6025" y="5468867"/>
                <a:ext cx="570669" cy="276999"/>
              </a:xfrm>
              <a:prstGeom prst="rect">
                <a:avLst/>
              </a:prstGeom>
              <a:blipFill>
                <a:blip r:embed="rId18"/>
                <a:stretch>
                  <a:fillRect l="-9677" r="-9677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E16E652-0DB9-493C-9F35-98AFDC3F4C89}"/>
              </a:ext>
            </a:extLst>
          </p:cNvPr>
          <p:cNvCxnSpPr>
            <a:cxnSpLocks/>
          </p:cNvCxnSpPr>
          <p:nvPr/>
        </p:nvCxnSpPr>
        <p:spPr>
          <a:xfrm>
            <a:off x="9535307" y="5588473"/>
            <a:ext cx="62786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EFFF4D8-DF4E-4094-BF70-A1FF67CCF377}"/>
                  </a:ext>
                </a:extLst>
              </p:cNvPr>
              <p:cNvSpPr txBox="1"/>
              <p:nvPr/>
            </p:nvSpPr>
            <p:spPr>
              <a:xfrm>
                <a:off x="10141874" y="5471158"/>
                <a:ext cx="5706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096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EFFF4D8-DF4E-4094-BF70-A1FF67CCF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1874" y="5471158"/>
                <a:ext cx="570669" cy="276999"/>
              </a:xfrm>
              <a:prstGeom prst="rect">
                <a:avLst/>
              </a:prstGeom>
              <a:blipFill>
                <a:blip r:embed="rId19"/>
                <a:stretch>
                  <a:fillRect l="-9677" r="-9677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66014AF-5C62-45B9-ABC4-08193277391A}"/>
              </a:ext>
            </a:extLst>
          </p:cNvPr>
          <p:cNvCxnSpPr>
            <a:cxnSpLocks/>
          </p:cNvCxnSpPr>
          <p:nvPr/>
        </p:nvCxnSpPr>
        <p:spPr>
          <a:xfrm>
            <a:off x="10742666" y="5588473"/>
            <a:ext cx="61113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62DA760-7074-445C-8B53-5D8684F21ACA}"/>
                  </a:ext>
                </a:extLst>
              </p:cNvPr>
              <p:cNvSpPr txBox="1"/>
              <p:nvPr/>
            </p:nvSpPr>
            <p:spPr>
              <a:xfrm>
                <a:off x="11402990" y="5468867"/>
                <a:ext cx="5706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62DA760-7074-445C-8B53-5D8684F21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2990" y="5468867"/>
                <a:ext cx="570669" cy="276999"/>
              </a:xfrm>
              <a:prstGeom prst="rect">
                <a:avLst/>
              </a:prstGeom>
              <a:blipFill>
                <a:blip r:embed="rId20"/>
                <a:stretch>
                  <a:fillRect l="-9677" r="-9677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8786F393-2E8C-4A7E-8D4B-9F9308FB8409}"/>
              </a:ext>
            </a:extLst>
          </p:cNvPr>
          <p:cNvSpPr/>
          <p:nvPr/>
        </p:nvSpPr>
        <p:spPr>
          <a:xfrm>
            <a:off x="8413658" y="5708079"/>
            <a:ext cx="466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FC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450DC36-B050-4594-B238-8F586244A9B3}"/>
              </a:ext>
            </a:extLst>
          </p:cNvPr>
          <p:cNvSpPr/>
          <p:nvPr/>
        </p:nvSpPr>
        <p:spPr>
          <a:xfrm>
            <a:off x="9592457" y="5702000"/>
            <a:ext cx="466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FC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7EB7E97-9BF3-4CB8-82BA-F3B38E43E898}"/>
              </a:ext>
            </a:extLst>
          </p:cNvPr>
          <p:cNvSpPr/>
          <p:nvPr/>
        </p:nvSpPr>
        <p:spPr>
          <a:xfrm>
            <a:off x="10786492" y="5714285"/>
            <a:ext cx="466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FC</a:t>
            </a:r>
          </a:p>
        </p:txBody>
      </p:sp>
    </p:spTree>
    <p:extLst>
      <p:ext uri="{BB962C8B-B14F-4D97-AF65-F5344CB8AC3E}">
        <p14:creationId xmlns:p14="http://schemas.microsoft.com/office/powerpoint/2010/main" val="21376895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5853-B4B9-4AB8-99E0-B096D7B6D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VGG-16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63666-0983-4441-866A-83464119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8165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模型的参数主要集中在</a:t>
            </a:r>
            <a:r>
              <a:rPr lang="en-US" altLang="zh-CN" dirty="0"/>
              <a:t>FC</a:t>
            </a:r>
            <a:r>
              <a:rPr lang="zh-CN" altLang="en-US" dirty="0"/>
              <a:t>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FC-6: ~1.03</a:t>
            </a:r>
            <a:r>
              <a:rPr lang="zh-CN" altLang="en-US" dirty="0"/>
              <a:t>亿参数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总参数：</a:t>
            </a:r>
            <a:r>
              <a:rPr lang="en-US" altLang="zh-CN" dirty="0"/>
              <a:t>~1.3</a:t>
            </a:r>
            <a:r>
              <a:rPr lang="zh-CN" altLang="en-US" dirty="0"/>
              <a:t>亿参数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CPU/GPU</a:t>
            </a:r>
            <a:r>
              <a:rPr lang="zh-CN" altLang="en-US" dirty="0"/>
              <a:t> </a:t>
            </a:r>
            <a:r>
              <a:rPr lang="en-US" altLang="zh-CN" dirty="0"/>
              <a:t>Memory</a:t>
            </a:r>
            <a:r>
              <a:rPr lang="zh-CN" altLang="en-US" dirty="0"/>
              <a:t>主要集中在卷积层、池化层的输出</a:t>
            </a:r>
          </a:p>
        </p:txBody>
      </p:sp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D54B5254-49EC-485F-9233-E24429A21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676642"/>
              </p:ext>
            </p:extLst>
          </p:nvPr>
        </p:nvGraphicFramePr>
        <p:xfrm>
          <a:off x="6724650" y="365125"/>
          <a:ext cx="4953000" cy="6292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62070549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593326859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381743690"/>
                    </a:ext>
                  </a:extLst>
                </a:gridCol>
              </a:tblGrid>
              <a:tr h="273602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Weights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765405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224*224*3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588103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Conv1-1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3*3*3*64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224*224*64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473839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Conv1-2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3*3*64*64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224*224*64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434838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Pool-1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112*112*64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495503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Conv2-1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3*3*64*128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112*112*128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835003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Conv2-2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3*3*128*128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112*112*128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715740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Pool-2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56*56*128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1762828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Conv3-1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3*3*128*256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56*56*256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444197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Conv3-2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3*3*</a:t>
                      </a:r>
                      <a:r>
                        <a:rPr lang="en-US" altLang="zh-CN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256×256</a:t>
                      </a:r>
                      <a:endParaRPr lang="en-US" sz="1100" b="1" dirty="0"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56*56*256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995492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Conv3-3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3*3*</a:t>
                      </a:r>
                      <a:r>
                        <a:rPr lang="en-US" altLang="zh-CN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256×256</a:t>
                      </a:r>
                      <a:endParaRPr lang="en-US" sz="1100" b="1" dirty="0"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56*56*256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653640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Pool-3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0</a:t>
                      </a:r>
                      <a:endParaRPr lang="en-US" sz="1100" b="1" dirty="0"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28*28*256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183070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Conv4-1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3*3*256*512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28*28*512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242425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Conv4-2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3*3*512*512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28*28*512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087584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Conv4-3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3*3*512*512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28*28*512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210319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Pool-4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0</a:t>
                      </a:r>
                      <a:endParaRPr lang="en-US" sz="1100" b="1" dirty="0"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14*14*512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038824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Conv5-1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3*3*512*512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14*14*512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641942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Conv5-2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3*3*512*512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14*14*512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719440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Conv5-3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3*3*512*512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14*14*512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460693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Pool-5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0</a:t>
                      </a:r>
                      <a:endParaRPr lang="en-US" sz="1100" b="1" dirty="0"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7*7*512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438787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FC-6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7*7*512*4096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4096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064227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FC-7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4096*4096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4096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579431"/>
                  </a:ext>
                </a:extLst>
              </a:tr>
              <a:tr h="27360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FC-8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4096*1000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16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65839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66C23-1AF4-4004-90DC-FD8A994CE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latin typeface="+mn-lt"/>
                <a:ea typeface="+mn-ea"/>
                <a:cs typeface="+mn-ea"/>
                <a:sym typeface="+mn-lt"/>
              </a:rPr>
              <a:t>GoogLeNet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E76C2-52EE-469C-A935-3D13B70B8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通过</a:t>
            </a:r>
            <a:r>
              <a:rPr lang="en-US" altLang="zh-CN" dirty="0">
                <a:cs typeface="+mn-ea"/>
                <a:sym typeface="+mn-lt"/>
              </a:rPr>
              <a:t>Inception Module</a:t>
            </a:r>
            <a:r>
              <a:rPr lang="zh-CN" altLang="en-US" dirty="0">
                <a:cs typeface="+mn-ea"/>
                <a:sym typeface="+mn-lt"/>
              </a:rPr>
              <a:t>提取多尺度的特征</a:t>
            </a:r>
            <a:endParaRPr lang="en-US" altLang="zh-CN" dirty="0"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采用</a:t>
            </a:r>
            <a:r>
              <a:rPr lang="en-US" altLang="zh-CN" dirty="0">
                <a:cs typeface="+mn-ea"/>
                <a:sym typeface="+mn-lt"/>
              </a:rPr>
              <a:t>1*1 convolutions</a:t>
            </a:r>
            <a:r>
              <a:rPr lang="zh-CN" altLang="en-US" dirty="0">
                <a:cs typeface="+mn-ea"/>
                <a:sym typeface="+mn-lt"/>
              </a:rPr>
              <a:t>进行降维</a:t>
            </a:r>
            <a:endParaRPr lang="en-US" altLang="zh-CN" dirty="0"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额外的优化损失函数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A1CFA1-51DC-41EC-930C-48D0B39B6F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67" b="11865"/>
          <a:stretch/>
        </p:blipFill>
        <p:spPr>
          <a:xfrm>
            <a:off x="272781" y="3392488"/>
            <a:ext cx="11779787" cy="274511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45AF2B7-75EB-4ACB-86D7-334913F6A049}"/>
              </a:ext>
            </a:extLst>
          </p:cNvPr>
          <p:cNvSpPr/>
          <p:nvPr/>
        </p:nvSpPr>
        <p:spPr>
          <a:xfrm>
            <a:off x="6036365" y="6550223"/>
            <a:ext cx="61556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>
                <a:solidFill>
                  <a:srgbClr val="434343"/>
                </a:solidFill>
                <a:cs typeface="+mn-ea"/>
                <a:sym typeface="+mn-lt"/>
              </a:rPr>
              <a:t>Going deeper with convolutions, CVPR 2015</a:t>
            </a:r>
            <a:r>
              <a:rPr lang="en-US" altLang="zh-CN" sz="1400" dirty="0">
                <a:cs typeface="+mn-ea"/>
                <a:sym typeface="+mn-lt"/>
              </a:rPr>
              <a:t> 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725572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26D4E-82A0-4DC0-8E76-649F72851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Inception module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6" name="图片 4">
            <a:extLst>
              <a:ext uri="{FF2B5EF4-FFF2-40B4-BE49-F238E27FC236}">
                <a16:creationId xmlns:a16="http://schemas.microsoft.com/office/drawing/2014/main" id="{EACCE0E2-F607-4880-A570-D18F0FD07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93" y="1776941"/>
            <a:ext cx="11016613" cy="33041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F497735-DB20-4054-A236-9D9ED8855500}"/>
              </a:ext>
            </a:extLst>
          </p:cNvPr>
          <p:cNvSpPr/>
          <p:nvPr/>
        </p:nvSpPr>
        <p:spPr>
          <a:xfrm>
            <a:off x="587693" y="5250991"/>
            <a:ext cx="6096000" cy="872034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cs typeface="+mn-ea"/>
                <a:sym typeface="+mn-lt"/>
              </a:rPr>
              <a:t>Split and Merge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cs typeface="+mn-ea"/>
                <a:sym typeface="+mn-lt"/>
              </a:rPr>
              <a:t>Dimension reduction</a:t>
            </a:r>
          </a:p>
        </p:txBody>
      </p:sp>
    </p:spTree>
    <p:extLst>
      <p:ext uri="{BB962C8B-B14F-4D97-AF65-F5344CB8AC3E}">
        <p14:creationId xmlns:p14="http://schemas.microsoft.com/office/powerpoint/2010/main" val="22255736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A6671-ABB9-4FE4-9E2C-9EADBA8A9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1*1 convolution </a:t>
            </a:r>
            <a:r>
              <a:rPr lang="zh-CN" altLang="en-US" b="1" dirty="0"/>
              <a:t> </a:t>
            </a:r>
            <a:r>
              <a:rPr lang="en-US" altLang="zh-CN" b="1" dirty="0"/>
              <a:t>(network</a:t>
            </a:r>
            <a:r>
              <a:rPr lang="zh-CN" altLang="en-US" b="1" dirty="0"/>
              <a:t> </a:t>
            </a:r>
            <a:r>
              <a:rPr lang="en-US" altLang="zh-CN" b="1" dirty="0"/>
              <a:t>in</a:t>
            </a:r>
            <a:r>
              <a:rPr lang="zh-CN" altLang="en-US" b="1" dirty="0"/>
              <a:t> </a:t>
            </a:r>
            <a:r>
              <a:rPr lang="en-US" altLang="zh-CN" b="1" dirty="0"/>
              <a:t>network)</a:t>
            </a:r>
            <a:endParaRPr lang="zh-CN" altLang="en-US" b="1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65B5BF0-BD5E-4903-A1DA-8C73F577ED41}"/>
              </a:ext>
            </a:extLst>
          </p:cNvPr>
          <p:cNvGrpSpPr/>
          <p:nvPr/>
        </p:nvGrpSpPr>
        <p:grpSpPr>
          <a:xfrm>
            <a:off x="1943401" y="2257425"/>
            <a:ext cx="7219766" cy="3269662"/>
            <a:chOff x="1438576" y="2343150"/>
            <a:chExt cx="7219766" cy="3269662"/>
          </a:xfrm>
        </p:grpSpPr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1AE934A0-FB78-4B06-A9B8-047A5B751099}"/>
                </a:ext>
              </a:extLst>
            </p:cNvPr>
            <p:cNvSpPr/>
            <p:nvPr/>
          </p:nvSpPr>
          <p:spPr>
            <a:xfrm>
              <a:off x="1536941" y="2343150"/>
              <a:ext cx="2615959" cy="2617200"/>
            </a:xfrm>
            <a:prstGeom prst="cube">
              <a:avLst>
                <a:gd name="adj" fmla="val 6530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FD9DFF4-7AF6-447E-9F50-CE6D45CA9C10}"/>
                    </a:ext>
                  </a:extLst>
                </p:cNvPr>
                <p:cNvSpPr txBox="1"/>
                <p:nvPr/>
              </p:nvSpPr>
              <p:spPr>
                <a:xfrm>
                  <a:off x="1438576" y="5335813"/>
                  <a:ext cx="149079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×28×192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FD9DFF4-7AF6-447E-9F50-CE6D45CA9C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8576" y="5335813"/>
                  <a:ext cx="1490793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3279" r="-3279"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9E62929-002D-4726-AA7D-EBD0943E9277}"/>
                </a:ext>
              </a:extLst>
            </p:cNvPr>
            <p:cNvCxnSpPr>
              <a:cxnSpLocks/>
            </p:cNvCxnSpPr>
            <p:nvPr/>
          </p:nvCxnSpPr>
          <p:spPr>
            <a:xfrm>
              <a:off x="5105400" y="3724804"/>
              <a:ext cx="9906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365FA006-DAEA-46B4-9A18-5DB6113C109A}"/>
                    </a:ext>
                  </a:extLst>
                </p:cNvPr>
                <p:cNvSpPr/>
                <p:nvPr/>
              </p:nvSpPr>
              <p:spPr>
                <a:xfrm>
                  <a:off x="4981460" y="3854232"/>
                  <a:ext cx="1238480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chemeClr val="accent1"/>
                      </a:solidFill>
                    </a:rPr>
                    <a:t>CONV 1*1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365FA006-DAEA-46B4-9A18-5DB6113C10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1460" y="3854232"/>
                  <a:ext cx="1238480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3941" t="-4717" r="-394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DA5E946-BA0A-42A2-8391-E7863B0756C5}"/>
                </a:ext>
              </a:extLst>
            </p:cNvPr>
            <p:cNvSpPr/>
            <p:nvPr/>
          </p:nvSpPr>
          <p:spPr>
            <a:xfrm>
              <a:off x="5213415" y="3207822"/>
              <a:ext cx="77457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b="1" dirty="0"/>
                <a:t>ReLU</a:t>
              </a:r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4C2ECA74-2DA7-439A-A3A5-86DC48F76677}"/>
                </a:ext>
              </a:extLst>
            </p:cNvPr>
            <p:cNvSpPr/>
            <p:nvPr/>
          </p:nvSpPr>
          <p:spPr>
            <a:xfrm>
              <a:off x="7419862" y="3105604"/>
              <a:ext cx="1238480" cy="1238400"/>
            </a:xfrm>
            <a:prstGeom prst="cube">
              <a:avLst>
                <a:gd name="adj" fmla="val 3175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CDB1F9B-CA53-4D42-B796-A56796ECCB38}"/>
                    </a:ext>
                  </a:extLst>
                </p:cNvPr>
                <p:cNvSpPr txBox="1"/>
                <p:nvPr/>
              </p:nvSpPr>
              <p:spPr>
                <a:xfrm>
                  <a:off x="7293705" y="5333250"/>
                  <a:ext cx="136255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×28×32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CDB1F9B-CA53-4D42-B796-A56796ECCB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3705" y="5333250"/>
                  <a:ext cx="136255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125" r="-3571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787271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585E-AF48-475A-8D1D-60394245D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Inception </a:t>
            </a:r>
            <a:r>
              <a:rPr lang="en-US" altLang="zh-CN" b="1" dirty="0">
                <a:solidFill>
                  <a:srgbClr val="00B0F0"/>
                </a:solidFill>
              </a:rPr>
              <a:t>(Motivation)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2B26F9A-8D0B-4BB5-BF6B-670018E280DD}"/>
              </a:ext>
            </a:extLst>
          </p:cNvPr>
          <p:cNvGrpSpPr/>
          <p:nvPr/>
        </p:nvGrpSpPr>
        <p:grpSpPr>
          <a:xfrm>
            <a:off x="1721533" y="1922752"/>
            <a:ext cx="8748933" cy="3741347"/>
            <a:chOff x="969399" y="1665577"/>
            <a:chExt cx="8748933" cy="3741347"/>
          </a:xfrm>
        </p:grpSpPr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8110A203-623F-4CE7-B8F1-897434A2FFBC}"/>
                </a:ext>
              </a:extLst>
            </p:cNvPr>
            <p:cNvSpPr/>
            <p:nvPr/>
          </p:nvSpPr>
          <p:spPr>
            <a:xfrm>
              <a:off x="1420923" y="2508650"/>
              <a:ext cx="1238480" cy="1238400"/>
            </a:xfrm>
            <a:prstGeom prst="cube">
              <a:avLst>
                <a:gd name="adj" fmla="val 3175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95C41C4-31AB-4988-B3E4-821575E36EBB}"/>
                    </a:ext>
                  </a:extLst>
                </p:cNvPr>
                <p:cNvSpPr txBox="1"/>
                <p:nvPr/>
              </p:nvSpPr>
              <p:spPr>
                <a:xfrm>
                  <a:off x="969399" y="3898609"/>
                  <a:ext cx="180934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×28×32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95C41C4-31AB-4988-B3E4-821575E36E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399" y="3898609"/>
                  <a:ext cx="1809341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3030" r="-3704"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CC981DC-C255-4247-89A9-F6AFFCF3140D}"/>
                </a:ext>
              </a:extLst>
            </p:cNvPr>
            <p:cNvGrpSpPr/>
            <p:nvPr/>
          </p:nvGrpSpPr>
          <p:grpSpPr>
            <a:xfrm>
              <a:off x="6924109" y="2338388"/>
              <a:ext cx="2410508" cy="2410126"/>
              <a:chOff x="6485959" y="1690688"/>
              <a:chExt cx="2410508" cy="2410126"/>
            </a:xfrm>
          </p:grpSpPr>
          <p:sp>
            <p:nvSpPr>
              <p:cNvPr id="6" name="Cube 5">
                <a:extLst>
                  <a:ext uri="{FF2B5EF4-FFF2-40B4-BE49-F238E27FC236}">
                    <a16:creationId xmlns:a16="http://schemas.microsoft.com/office/drawing/2014/main" id="{E0C71525-9978-4A05-9AF1-23C00375E280}"/>
                  </a:ext>
                </a:extLst>
              </p:cNvPr>
              <p:cNvSpPr/>
              <p:nvPr/>
            </p:nvSpPr>
            <p:spPr>
              <a:xfrm>
                <a:off x="7657987" y="1690688"/>
                <a:ext cx="1238480" cy="1238400"/>
              </a:xfrm>
              <a:prstGeom prst="cube">
                <a:avLst>
                  <a:gd name="adj" fmla="val 3175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Cube 6">
                <a:extLst>
                  <a:ext uri="{FF2B5EF4-FFF2-40B4-BE49-F238E27FC236}">
                    <a16:creationId xmlns:a16="http://schemas.microsoft.com/office/drawing/2014/main" id="{12B9C6DB-C600-463F-83B4-7DE478D934F4}"/>
                  </a:ext>
                </a:extLst>
              </p:cNvPr>
              <p:cNvSpPr/>
              <p:nvPr/>
            </p:nvSpPr>
            <p:spPr>
              <a:xfrm>
                <a:off x="7267462" y="2088361"/>
                <a:ext cx="1238480" cy="1238400"/>
              </a:xfrm>
              <a:prstGeom prst="cube">
                <a:avLst>
                  <a:gd name="adj" fmla="val 31750"/>
                </a:avLst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Cube 7">
                <a:extLst>
                  <a:ext uri="{FF2B5EF4-FFF2-40B4-BE49-F238E27FC236}">
                    <a16:creationId xmlns:a16="http://schemas.microsoft.com/office/drawing/2014/main" id="{374F260F-C6C1-411E-A91C-66DE4633FA45}"/>
                  </a:ext>
                </a:extLst>
              </p:cNvPr>
              <p:cNvSpPr/>
              <p:nvPr/>
            </p:nvSpPr>
            <p:spPr>
              <a:xfrm>
                <a:off x="6881472" y="2480150"/>
                <a:ext cx="1238480" cy="1238400"/>
              </a:xfrm>
              <a:prstGeom prst="cube">
                <a:avLst>
                  <a:gd name="adj" fmla="val 31750"/>
                </a:avLst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Cube 8">
                <a:extLst>
                  <a:ext uri="{FF2B5EF4-FFF2-40B4-BE49-F238E27FC236}">
                    <a16:creationId xmlns:a16="http://schemas.microsoft.com/office/drawing/2014/main" id="{142A6ABB-8A29-4801-A744-E38EDA78C66E}"/>
                  </a:ext>
                </a:extLst>
              </p:cNvPr>
              <p:cNvSpPr/>
              <p:nvPr/>
            </p:nvSpPr>
            <p:spPr>
              <a:xfrm>
                <a:off x="6485959" y="2862414"/>
                <a:ext cx="1238480" cy="1238400"/>
              </a:xfrm>
              <a:prstGeom prst="cube">
                <a:avLst>
                  <a:gd name="adj" fmla="val 31750"/>
                </a:avLst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4" name="Connector: Curved 13">
              <a:extLst>
                <a:ext uri="{FF2B5EF4-FFF2-40B4-BE49-F238E27FC236}">
                  <a16:creationId xmlns:a16="http://schemas.microsoft.com/office/drawing/2014/main" id="{87260B38-DE53-4E44-87EB-C7B0EDE54B9F}"/>
                </a:ext>
              </a:extLst>
            </p:cNvPr>
            <p:cNvCxnSpPr>
              <a:cxnSpLocks/>
              <a:stCxn id="4" idx="5"/>
              <a:endCxn id="20" idx="1"/>
            </p:cNvCxnSpPr>
            <p:nvPr/>
          </p:nvCxnSpPr>
          <p:spPr>
            <a:xfrm flipV="1">
              <a:off x="2659403" y="1896410"/>
              <a:ext cx="2006936" cy="1034844"/>
            </a:xfrm>
            <a:prstGeom prst="curvedConnector3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: Curved 15">
              <a:extLst>
                <a:ext uri="{FF2B5EF4-FFF2-40B4-BE49-F238E27FC236}">
                  <a16:creationId xmlns:a16="http://schemas.microsoft.com/office/drawing/2014/main" id="{7249EB11-F582-4FB1-AFB8-BB9E733B7AFD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>
              <a:off x="5624230" y="1896410"/>
              <a:ext cx="2748245" cy="617780"/>
            </a:xfrm>
            <a:prstGeom prst="curved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E40411F1-E239-4195-B20A-98B2AB2A1B4D}"/>
                    </a:ext>
                  </a:extLst>
                </p:cNvPr>
                <p:cNvSpPr/>
                <p:nvPr/>
              </p:nvSpPr>
              <p:spPr>
                <a:xfrm>
                  <a:off x="4666339" y="1665577"/>
                  <a:ext cx="957891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altLang="zh-CN" sz="2400" b="0" dirty="0">
                    <a:ea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E40411F1-E239-4195-B20A-98B2AB2A1B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6339" y="1665577"/>
                  <a:ext cx="957891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828FBC11-D102-4424-BFCF-48E5428ECF70}"/>
                </a:ext>
              </a:extLst>
            </p:cNvPr>
            <p:cNvCxnSpPr>
              <a:cxnSpLocks/>
              <a:stCxn id="4" idx="5"/>
              <a:endCxn id="23" idx="1"/>
            </p:cNvCxnSpPr>
            <p:nvPr/>
          </p:nvCxnSpPr>
          <p:spPr>
            <a:xfrm>
              <a:off x="2659403" y="2931254"/>
              <a:ext cx="2006936" cy="177065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: Curved 21">
              <a:extLst>
                <a:ext uri="{FF2B5EF4-FFF2-40B4-BE49-F238E27FC236}">
                  <a16:creationId xmlns:a16="http://schemas.microsoft.com/office/drawing/2014/main" id="{29155E6B-5600-4BF8-8AE4-65286C322355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 flipV="1">
              <a:off x="5624230" y="2887339"/>
              <a:ext cx="2262470" cy="220980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1D1E9DF6-C7E8-497A-8A53-698DE16B8C11}"/>
                    </a:ext>
                  </a:extLst>
                </p:cNvPr>
                <p:cNvSpPr/>
                <p:nvPr/>
              </p:nvSpPr>
              <p:spPr>
                <a:xfrm>
                  <a:off x="4666339" y="2877486"/>
                  <a:ext cx="957891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altLang="zh-CN" sz="2400" b="0" dirty="0">
                    <a:ea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1D1E9DF6-C7E8-497A-8A53-698DE16B8C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6339" y="2877486"/>
                  <a:ext cx="957891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Connector: Curved 33">
              <a:extLst>
                <a:ext uri="{FF2B5EF4-FFF2-40B4-BE49-F238E27FC236}">
                  <a16:creationId xmlns:a16="http://schemas.microsoft.com/office/drawing/2014/main" id="{51F6FA35-C4F6-43C6-8385-177815B73D8A}"/>
                </a:ext>
              </a:extLst>
            </p:cNvPr>
            <p:cNvCxnSpPr>
              <a:cxnSpLocks/>
              <a:stCxn id="4" idx="5"/>
              <a:endCxn id="36" idx="1"/>
            </p:cNvCxnSpPr>
            <p:nvPr/>
          </p:nvCxnSpPr>
          <p:spPr>
            <a:xfrm>
              <a:off x="2659403" y="2931254"/>
              <a:ext cx="2051795" cy="1057163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: Curved 34">
              <a:extLst>
                <a:ext uri="{FF2B5EF4-FFF2-40B4-BE49-F238E27FC236}">
                  <a16:creationId xmlns:a16="http://schemas.microsoft.com/office/drawing/2014/main" id="{90C5E9AB-926D-4B12-A13D-128F87F06380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 flipV="1">
              <a:off x="5669089" y="3330190"/>
              <a:ext cx="1811715" cy="658227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0FE7FCDA-A2FC-436F-87AC-BDC2CCCDC6AD}"/>
                    </a:ext>
                  </a:extLst>
                </p:cNvPr>
                <p:cNvSpPr/>
                <p:nvPr/>
              </p:nvSpPr>
              <p:spPr>
                <a:xfrm>
                  <a:off x="4711198" y="3757584"/>
                  <a:ext cx="957891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altLang="zh-CN" sz="2400" b="0" dirty="0">
                    <a:ea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0FE7FCDA-A2FC-436F-87AC-BDC2CCCDC6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1198" y="3757584"/>
                  <a:ext cx="957891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Connector: Curved 41">
              <a:extLst>
                <a:ext uri="{FF2B5EF4-FFF2-40B4-BE49-F238E27FC236}">
                  <a16:creationId xmlns:a16="http://schemas.microsoft.com/office/drawing/2014/main" id="{46864FE1-87C7-4F71-8748-8911F1A40486}"/>
                </a:ext>
              </a:extLst>
            </p:cNvPr>
            <p:cNvCxnSpPr>
              <a:cxnSpLocks/>
              <a:stCxn id="4" idx="5"/>
              <a:endCxn id="44" idx="1"/>
            </p:cNvCxnSpPr>
            <p:nvPr/>
          </p:nvCxnSpPr>
          <p:spPr>
            <a:xfrm>
              <a:off x="2659403" y="2931254"/>
              <a:ext cx="1624883" cy="2048093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: Curved 42">
              <a:extLst>
                <a:ext uri="{FF2B5EF4-FFF2-40B4-BE49-F238E27FC236}">
                  <a16:creationId xmlns:a16="http://schemas.microsoft.com/office/drawing/2014/main" id="{55151C61-D00A-4116-B6BB-1C8753D893DA}"/>
                </a:ext>
              </a:extLst>
            </p:cNvPr>
            <p:cNvCxnSpPr>
              <a:cxnSpLocks/>
              <a:stCxn id="44" idx="3"/>
              <a:endCxn id="9" idx="2"/>
            </p:cNvCxnSpPr>
            <p:nvPr/>
          </p:nvCxnSpPr>
          <p:spPr>
            <a:xfrm flipV="1">
              <a:off x="6096000" y="4325910"/>
              <a:ext cx="828109" cy="653437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DCDE092-4928-44CE-952D-A265CFCE039C}"/>
                </a:ext>
              </a:extLst>
            </p:cNvPr>
            <p:cNvSpPr/>
            <p:nvPr/>
          </p:nvSpPr>
          <p:spPr>
            <a:xfrm>
              <a:off x="4284286" y="4748514"/>
              <a:ext cx="181171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0" dirty="0">
                  <a:ea typeface="Cambria Math" panose="02040503050406030204" pitchFamily="18" charset="0"/>
                </a:rPr>
                <a:t>MAX-POOL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D88449ED-08ED-404A-BC4A-2281076E3835}"/>
                    </a:ext>
                  </a:extLst>
                </p:cNvPr>
                <p:cNvSpPr/>
                <p:nvPr/>
              </p:nvSpPr>
              <p:spPr>
                <a:xfrm>
                  <a:off x="6755465" y="4945259"/>
                  <a:ext cx="129772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×28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D88449ED-08ED-404A-BC4A-2281076E38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5465" y="4945259"/>
                  <a:ext cx="1297728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602AC272-2703-42ED-9442-9446286587DC}"/>
                    </a:ext>
                  </a:extLst>
                </p:cNvPr>
                <p:cNvSpPr/>
                <p:nvPr/>
              </p:nvSpPr>
              <p:spPr>
                <a:xfrm>
                  <a:off x="9116885" y="3198167"/>
                  <a:ext cx="60144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602AC272-2703-42ED-9442-9446286587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16885" y="3198167"/>
                  <a:ext cx="601447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B950F0D5-FBA9-470D-9DBB-E6106D8B885D}"/>
                    </a:ext>
                  </a:extLst>
                </p:cNvPr>
                <p:cNvSpPr/>
                <p:nvPr/>
              </p:nvSpPr>
              <p:spPr>
                <a:xfrm>
                  <a:off x="8633580" y="3667776"/>
                  <a:ext cx="60144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B950F0D5-FBA9-470D-9DBB-E6106D8B88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3580" y="3667776"/>
                  <a:ext cx="601447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20F80C71-9131-4A31-A2DB-92082876CAC4}"/>
                    </a:ext>
                  </a:extLst>
                </p:cNvPr>
                <p:cNvSpPr/>
                <p:nvPr/>
              </p:nvSpPr>
              <p:spPr>
                <a:xfrm>
                  <a:off x="8308912" y="4065449"/>
                  <a:ext cx="60144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20F80C71-9131-4A31-A2DB-92082876CA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8912" y="4065449"/>
                  <a:ext cx="601447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891D5C05-36DA-4D8E-B88F-1652E4532595}"/>
                    </a:ext>
                  </a:extLst>
                </p:cNvPr>
                <p:cNvSpPr/>
                <p:nvPr/>
              </p:nvSpPr>
              <p:spPr>
                <a:xfrm>
                  <a:off x="7895831" y="4466773"/>
                  <a:ext cx="60144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891D5C05-36DA-4D8E-B88F-1652E45325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5831" y="4466773"/>
                  <a:ext cx="601447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639509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BABF7-918C-45B4-AE11-C5600DDF5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Inception with dimension reduction </a:t>
            </a:r>
            <a:endParaRPr lang="zh-CN" alt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F41829D-5C64-4112-9943-57FB37850C78}"/>
              </a:ext>
            </a:extLst>
          </p:cNvPr>
          <p:cNvGrpSpPr/>
          <p:nvPr/>
        </p:nvGrpSpPr>
        <p:grpSpPr>
          <a:xfrm>
            <a:off x="2062524" y="3532746"/>
            <a:ext cx="8066951" cy="2789488"/>
            <a:chOff x="943276" y="2257425"/>
            <a:chExt cx="8807915" cy="3271475"/>
          </a:xfrm>
        </p:grpSpPr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AD571BD9-13B0-47C5-9DFA-35CCA80D0ABB}"/>
                </a:ext>
              </a:extLst>
            </p:cNvPr>
            <p:cNvSpPr/>
            <p:nvPr/>
          </p:nvSpPr>
          <p:spPr>
            <a:xfrm>
              <a:off x="1041641" y="2257425"/>
              <a:ext cx="2615959" cy="2617200"/>
            </a:xfrm>
            <a:prstGeom prst="cube">
              <a:avLst>
                <a:gd name="adj" fmla="val 6530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CEDA9DE-89A6-4A18-84B1-13190878EAFD}"/>
                    </a:ext>
                  </a:extLst>
                </p:cNvPr>
                <p:cNvSpPr txBox="1"/>
                <p:nvPr/>
              </p:nvSpPr>
              <p:spPr>
                <a:xfrm>
                  <a:off x="943276" y="5250088"/>
                  <a:ext cx="149079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×20×100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CEDA9DE-89A6-4A18-84B1-13190878EA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276" y="5250088"/>
                  <a:ext cx="1490793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5804" r="-10268" b="-282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0DB499E-91A4-42A5-8980-483F787490CD}"/>
                </a:ext>
              </a:extLst>
            </p:cNvPr>
            <p:cNvCxnSpPr>
              <a:cxnSpLocks/>
            </p:cNvCxnSpPr>
            <p:nvPr/>
          </p:nvCxnSpPr>
          <p:spPr>
            <a:xfrm>
              <a:off x="3800475" y="3639079"/>
              <a:ext cx="9906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985EFC20-6EEA-4BD7-95CA-EBE1BE5F49BA}"/>
                    </a:ext>
                  </a:extLst>
                </p:cNvPr>
                <p:cNvSpPr/>
                <p:nvPr/>
              </p:nvSpPr>
              <p:spPr>
                <a:xfrm>
                  <a:off x="3676535" y="3768507"/>
                  <a:ext cx="1238480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chemeClr val="accent1"/>
                      </a:solidFill>
                    </a:rPr>
                    <a:t>CONV 1*1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985EFC20-6EEA-4BD7-95CA-EBE1BE5F49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6535" y="3768507"/>
                  <a:ext cx="1238480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8602" t="-6667" r="-9140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63E3B1A5-EDCD-4D1A-94FE-40FA069B1676}"/>
                </a:ext>
              </a:extLst>
            </p:cNvPr>
            <p:cNvSpPr/>
            <p:nvPr/>
          </p:nvSpPr>
          <p:spPr>
            <a:xfrm>
              <a:off x="5060107" y="3149307"/>
              <a:ext cx="1238480" cy="1238400"/>
            </a:xfrm>
            <a:prstGeom prst="cube">
              <a:avLst>
                <a:gd name="adj" fmla="val 3175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4053F68-0912-4460-8812-B940DF5B5C2A}"/>
                    </a:ext>
                  </a:extLst>
                </p:cNvPr>
                <p:cNvSpPr txBox="1"/>
                <p:nvPr/>
              </p:nvSpPr>
              <p:spPr>
                <a:xfrm>
                  <a:off x="4936035" y="5250088"/>
                  <a:ext cx="136255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×20×10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4053F68-0912-4460-8812-B940DF5B5C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6035" y="5250088"/>
                  <a:ext cx="136255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6341" r="-10244" b="-282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285B7DA-8A71-4C5F-8D4B-658CCB93D9C7}"/>
                    </a:ext>
                  </a:extLst>
                </p:cNvPr>
                <p:cNvSpPr txBox="1"/>
                <p:nvPr/>
              </p:nvSpPr>
              <p:spPr>
                <a:xfrm>
                  <a:off x="8169915" y="5251901"/>
                  <a:ext cx="136255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×20×20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285B7DA-8A71-4C5F-8D4B-658CCB93D9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9915" y="5251901"/>
                  <a:ext cx="1362552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6341" r="-10244" b="-282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F0F14F6-94B4-4998-97E9-1E2030B67008}"/>
                </a:ext>
              </a:extLst>
            </p:cNvPr>
            <p:cNvCxnSpPr>
              <a:cxnSpLocks/>
            </p:cNvCxnSpPr>
            <p:nvPr/>
          </p:nvCxnSpPr>
          <p:spPr>
            <a:xfrm>
              <a:off x="6691559" y="3692836"/>
              <a:ext cx="9906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43363032-075A-4504-974C-11F7608D3B01}"/>
                    </a:ext>
                  </a:extLst>
                </p:cNvPr>
                <p:cNvSpPr/>
                <p:nvPr/>
              </p:nvSpPr>
              <p:spPr>
                <a:xfrm>
                  <a:off x="6567620" y="3822264"/>
                  <a:ext cx="1238480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chemeClr val="accent1"/>
                      </a:solidFill>
                    </a:rPr>
                    <a:t>CONV 5*5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43363032-075A-4504-974C-11F7608D3B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7620" y="3822264"/>
                  <a:ext cx="1238480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8602" t="-5495" r="-9140" b="-1208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72AE54D0-6E08-49F2-93EE-A2DF30A3A878}"/>
                </a:ext>
              </a:extLst>
            </p:cNvPr>
            <p:cNvSpPr/>
            <p:nvPr/>
          </p:nvSpPr>
          <p:spPr>
            <a:xfrm>
              <a:off x="7951191" y="2792836"/>
              <a:ext cx="1800000" cy="1800000"/>
            </a:xfrm>
            <a:prstGeom prst="cube">
              <a:avLst>
                <a:gd name="adj" fmla="val 5174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8" name="图片 4">
            <a:extLst>
              <a:ext uri="{FF2B5EF4-FFF2-40B4-BE49-F238E27FC236}">
                <a16:creationId xmlns:a16="http://schemas.microsoft.com/office/drawing/2014/main" id="{C1C7AB9C-81A5-4D53-AD8C-5FA1BC5AC6C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0000" t="993"/>
          <a:stretch/>
        </p:blipFill>
        <p:spPr>
          <a:xfrm>
            <a:off x="8153900" y="1464281"/>
            <a:ext cx="3611237" cy="214466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41745C7-5F67-4008-AD51-3CCD23661064}"/>
              </a:ext>
            </a:extLst>
          </p:cNvPr>
          <p:cNvSpPr/>
          <p:nvPr/>
        </p:nvSpPr>
        <p:spPr>
          <a:xfrm>
            <a:off x="571500" y="1951242"/>
            <a:ext cx="6096000" cy="656846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cs typeface="+mn-ea"/>
                <a:sym typeface="+mn-lt"/>
              </a:rPr>
              <a:t>显著降低计算量</a:t>
            </a:r>
            <a:endParaRPr lang="en-US" altLang="zh-CN" sz="2800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914641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88AB-64E4-4DD0-AFEC-41E6B470D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cs typeface="+mn-ea"/>
                <a:sym typeface="+mn-lt"/>
              </a:rPr>
              <a:t>GoogLeNet</a:t>
            </a:r>
            <a:endParaRPr lang="zh-CN" alt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CFD215-93ED-4618-AD5B-AA4C954D8D04}"/>
              </a:ext>
            </a:extLst>
          </p:cNvPr>
          <p:cNvGrpSpPr/>
          <p:nvPr/>
        </p:nvGrpSpPr>
        <p:grpSpPr>
          <a:xfrm>
            <a:off x="206106" y="1934355"/>
            <a:ext cx="11779787" cy="4615697"/>
            <a:chOff x="206106" y="1451755"/>
            <a:chExt cx="11779787" cy="46156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AF2B653-E399-4A1D-A5C4-438BD179FA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8967" b="11865"/>
            <a:stretch/>
          </p:blipFill>
          <p:spPr>
            <a:xfrm>
              <a:off x="206106" y="1825625"/>
              <a:ext cx="11779787" cy="2745113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F27EE76-F0BF-486B-BE16-9AB51AD3E92E}"/>
                </a:ext>
              </a:extLst>
            </p:cNvPr>
            <p:cNvSpPr/>
            <p:nvPr/>
          </p:nvSpPr>
          <p:spPr>
            <a:xfrm>
              <a:off x="2222500" y="2400300"/>
              <a:ext cx="1104900" cy="2170438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F67AE0A-7C61-4816-80D9-AB911618A428}"/>
                </a:ext>
              </a:extLst>
            </p:cNvPr>
            <p:cNvSpPr/>
            <p:nvPr/>
          </p:nvSpPr>
          <p:spPr>
            <a:xfrm>
              <a:off x="2774950" y="1451755"/>
              <a:ext cx="3822700" cy="661207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lvl="1">
                <a:lnSpc>
                  <a:spcPct val="150000"/>
                </a:lnSpc>
              </a:pPr>
              <a:r>
                <a:rPr lang="en-US" altLang="zh-CN" sz="2800" b="1" dirty="0">
                  <a:cs typeface="+mn-ea"/>
                  <a:sym typeface="+mn-lt"/>
                </a:rPr>
                <a:t>Inception Module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C6C0BA6-7E37-4174-82A1-617A36FD3A8E}"/>
                </a:ext>
              </a:extLst>
            </p:cNvPr>
            <p:cNvCxnSpPr>
              <a:endCxn id="5" idx="0"/>
            </p:cNvCxnSpPr>
            <p:nvPr/>
          </p:nvCxnSpPr>
          <p:spPr>
            <a:xfrm flipH="1">
              <a:off x="2774950" y="2159000"/>
              <a:ext cx="1924050" cy="24130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F8E706-0089-4844-8381-5B78BD1F3805}"/>
                </a:ext>
              </a:extLst>
            </p:cNvPr>
            <p:cNvSpPr/>
            <p:nvPr/>
          </p:nvSpPr>
          <p:spPr>
            <a:xfrm>
              <a:off x="6096000" y="5406245"/>
              <a:ext cx="3822700" cy="661207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lvl="1">
                <a:lnSpc>
                  <a:spcPct val="150000"/>
                </a:lnSpc>
              </a:pPr>
              <a:r>
                <a:rPr lang="en-US" altLang="zh-CN" sz="2800" b="1" dirty="0">
                  <a:cs typeface="+mn-ea"/>
                  <a:sym typeface="+mn-lt"/>
                </a:rPr>
                <a:t>Auxiliary Loss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D6E27A1-EE7C-46E7-AED8-CBFAC0776432}"/>
                </a:ext>
              </a:extLst>
            </p:cNvPr>
            <p:cNvSpPr/>
            <p:nvPr/>
          </p:nvSpPr>
          <p:spPr>
            <a:xfrm>
              <a:off x="4959350" y="3776433"/>
              <a:ext cx="2273300" cy="808039"/>
            </a:xfrm>
            <a:prstGeom prst="ellipse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4E52A72-8BB4-4D90-9C67-2136369B74A4}"/>
                </a:ext>
              </a:extLst>
            </p:cNvPr>
            <p:cNvCxnSpPr>
              <a:cxnSpLocks/>
              <a:stCxn id="9" idx="0"/>
              <a:endCxn id="10" idx="4"/>
            </p:cNvCxnSpPr>
            <p:nvPr/>
          </p:nvCxnSpPr>
          <p:spPr>
            <a:xfrm flipH="1" flipV="1">
              <a:off x="6096000" y="4584472"/>
              <a:ext cx="1911350" cy="82177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26415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9CDA3-6998-4C38-8AEC-B5B621972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Batch Normalization</a:t>
            </a:r>
            <a:endParaRPr lang="zh-CN" altLang="en-US" b="1" dirty="0"/>
          </a:p>
        </p:txBody>
      </p:sp>
      <p:pic>
        <p:nvPicPr>
          <p:cNvPr id="4" name="图片 4">
            <a:extLst>
              <a:ext uri="{FF2B5EF4-FFF2-40B4-BE49-F238E27FC236}">
                <a16:creationId xmlns:a16="http://schemas.microsoft.com/office/drawing/2014/main" id="{22687EE6-329A-4ABE-9FCF-0C812F4A2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65" y="2616887"/>
            <a:ext cx="4964775" cy="393351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1FF1DD0-EFD5-4487-ACA2-9F023976ACB6}"/>
              </a:ext>
            </a:extLst>
          </p:cNvPr>
          <p:cNvGrpSpPr/>
          <p:nvPr/>
        </p:nvGrpSpPr>
        <p:grpSpPr>
          <a:xfrm>
            <a:off x="7853291" y="4147919"/>
            <a:ext cx="2721941" cy="2312572"/>
            <a:chOff x="7451156" y="2612826"/>
            <a:chExt cx="2721941" cy="2312572"/>
          </a:xfrm>
        </p:grpSpPr>
        <p:sp>
          <p:nvSpPr>
            <p:cNvPr id="5" name="文本框 5">
              <a:extLst>
                <a:ext uri="{FF2B5EF4-FFF2-40B4-BE49-F238E27FC236}">
                  <a16:creationId xmlns:a16="http://schemas.microsoft.com/office/drawing/2014/main" id="{939C1356-F087-4C8D-9063-D0298618C710}"/>
                </a:ext>
              </a:extLst>
            </p:cNvPr>
            <p:cNvSpPr txBox="1"/>
            <p:nvPr/>
          </p:nvSpPr>
          <p:spPr>
            <a:xfrm>
              <a:off x="7754123" y="2612826"/>
              <a:ext cx="17187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00B05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Conv </a:t>
              </a:r>
              <a:r>
                <a:rPr lang="en-US" altLang="zh-CN" b="1" dirty="0">
                  <a:solidFill>
                    <a:srgbClr val="00B05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Wingdings" panose="05000000000000000000" pitchFamily="2" charset="2"/>
                </a:rPr>
                <a:t></a:t>
              </a:r>
              <a:r>
                <a:rPr lang="en-US" altLang="zh-CN" b="1" dirty="0">
                  <a:solidFill>
                    <a:srgbClr val="00B05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 ReLU</a:t>
              </a:r>
              <a:endParaRPr lang="en-US" b="1" dirty="0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" name="文本框 6">
              <a:extLst>
                <a:ext uri="{FF2B5EF4-FFF2-40B4-BE49-F238E27FC236}">
                  <a16:creationId xmlns:a16="http://schemas.microsoft.com/office/drawing/2014/main" id="{6FF51E71-A529-4B10-8C44-0964339D61FA}"/>
                </a:ext>
              </a:extLst>
            </p:cNvPr>
            <p:cNvSpPr txBox="1"/>
            <p:nvPr/>
          </p:nvSpPr>
          <p:spPr>
            <a:xfrm>
              <a:off x="7451156" y="3429000"/>
              <a:ext cx="24112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00B05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Conv </a:t>
              </a:r>
              <a:r>
                <a:rPr lang="en-US" altLang="zh-CN" b="1" dirty="0">
                  <a:solidFill>
                    <a:srgbClr val="00B05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Wingdings" panose="05000000000000000000" pitchFamily="2" charset="2"/>
                </a:rPr>
                <a:t></a:t>
              </a:r>
              <a:r>
                <a:rPr lang="en-US" altLang="zh-CN" b="1" dirty="0">
                  <a:solidFill>
                    <a:srgbClr val="00B05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 BN </a:t>
              </a:r>
              <a:r>
                <a:rPr lang="en-US" altLang="zh-CN" b="1" dirty="0">
                  <a:solidFill>
                    <a:srgbClr val="00B05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Wingdings" panose="05000000000000000000" pitchFamily="2" charset="2"/>
                </a:rPr>
                <a:t></a:t>
              </a:r>
              <a:r>
                <a:rPr lang="en-US" altLang="zh-CN" b="1" dirty="0">
                  <a:solidFill>
                    <a:srgbClr val="00B05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 ReLU</a:t>
              </a:r>
              <a:endParaRPr lang="en-US" b="1" dirty="0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" name="文本框 8">
              <a:extLst>
                <a:ext uri="{FF2B5EF4-FFF2-40B4-BE49-F238E27FC236}">
                  <a16:creationId xmlns:a16="http://schemas.microsoft.com/office/drawing/2014/main" id="{FDAF5318-765C-41B7-A677-C5C54037086C}"/>
                </a:ext>
              </a:extLst>
            </p:cNvPr>
            <p:cNvSpPr txBox="1"/>
            <p:nvPr/>
          </p:nvSpPr>
          <p:spPr>
            <a:xfrm>
              <a:off x="7526219" y="4279067"/>
              <a:ext cx="264687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ImageNet top 5 error:</a:t>
              </a:r>
            </a:p>
            <a:p>
              <a:r>
                <a:rPr lang="en-US" altLang="zh-CN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	6.67% </a:t>
              </a:r>
              <a:r>
                <a:rPr lang="en-US" altLang="zh-CN" b="1" dirty="0">
                  <a:solidFill>
                    <a:srgbClr val="00B05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Wingdings" panose="05000000000000000000" pitchFamily="2" charset="2"/>
                </a:rPr>
                <a:t></a:t>
              </a:r>
              <a:r>
                <a:rPr lang="en-US" altLang="zh-CN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 4.8%</a:t>
              </a:r>
            </a:p>
          </p:txBody>
        </p:sp>
        <p:cxnSp>
          <p:nvCxnSpPr>
            <p:cNvPr id="8" name="直接箭头连接符 10">
              <a:extLst>
                <a:ext uri="{FF2B5EF4-FFF2-40B4-BE49-F238E27FC236}">
                  <a16:creationId xmlns:a16="http://schemas.microsoft.com/office/drawing/2014/main" id="{AAB46F9F-7D17-4F3A-BC3A-C0F494B44A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99679" y="3048552"/>
              <a:ext cx="8004" cy="31209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7">
            <a:extLst>
              <a:ext uri="{FF2B5EF4-FFF2-40B4-BE49-F238E27FC236}">
                <a16:creationId xmlns:a16="http://schemas.microsoft.com/office/drawing/2014/main" id="{67C500A5-81FD-45CE-A3C6-A627CE25C9A2}"/>
              </a:ext>
            </a:extLst>
          </p:cNvPr>
          <p:cNvSpPr txBox="1"/>
          <p:nvPr/>
        </p:nvSpPr>
        <p:spPr>
          <a:xfrm>
            <a:off x="6236524" y="6627168"/>
            <a:ext cx="59554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S. </a:t>
            </a:r>
            <a:r>
              <a:rPr lang="en-US" sz="900" dirty="0" err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Ioffe</a:t>
            </a:r>
            <a:r>
              <a:rPr lang="en-US" sz="9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, et al. “Batch normalization: Accelerating deep network training by reducing internal covariate shift”, </a:t>
            </a:r>
            <a:r>
              <a:rPr lang="en-US" sz="900" i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2015</a:t>
            </a:r>
          </a:p>
        </p:txBody>
      </p:sp>
      <p:pic>
        <p:nvPicPr>
          <p:cNvPr id="10" name="Picture 2" descr="https://miro.medium.com/max/1400/1*TrjyZmHj_wInh6kFARuLZw.jpeg">
            <a:extLst>
              <a:ext uri="{FF2B5EF4-FFF2-40B4-BE49-F238E27FC236}">
                <a16:creationId xmlns:a16="http://schemas.microsoft.com/office/drawing/2014/main" id="{CCE9D9B2-36E7-47FB-912A-CA1CB8C6E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929" y="1641800"/>
            <a:ext cx="5725961" cy="190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6785B6F-46D4-4AB8-92B9-14F6F87BB3C8}"/>
              </a:ext>
            </a:extLst>
          </p:cNvPr>
          <p:cNvSpPr/>
          <p:nvPr/>
        </p:nvSpPr>
        <p:spPr>
          <a:xfrm>
            <a:off x="657225" y="1894203"/>
            <a:ext cx="4867275" cy="493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神经网络的训练更快并且更稳定</a:t>
            </a:r>
          </a:p>
        </p:txBody>
      </p:sp>
    </p:spTree>
    <p:extLst>
      <p:ext uri="{BB962C8B-B14F-4D97-AF65-F5344CB8AC3E}">
        <p14:creationId xmlns:p14="http://schemas.microsoft.com/office/powerpoint/2010/main" val="37263887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8B49C-01B9-498D-AFFB-445E89350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BN in PyTorch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A990-0CDC-429E-8487-FDF050954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4390C2-D562-4BBC-838C-7F14F3161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700" y="1728537"/>
            <a:ext cx="7340600" cy="23503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0135D0-E758-4D55-B2F1-4D3BCB264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967" y="3907926"/>
            <a:ext cx="6734248" cy="295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89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FD04A-73B8-44A9-8338-EC9A83085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ILSVRC 2015: 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ResNet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7AAB1A6-CCA7-4808-92B3-4DDA4D271CF1}"/>
              </a:ext>
            </a:extLst>
          </p:cNvPr>
          <p:cNvGrpSpPr/>
          <p:nvPr/>
        </p:nvGrpSpPr>
        <p:grpSpPr>
          <a:xfrm>
            <a:off x="918127" y="1622356"/>
            <a:ext cx="2413988" cy="4870519"/>
            <a:chOff x="8577883" y="1690688"/>
            <a:chExt cx="2413988" cy="487051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F114237-A293-46FF-B716-240A9FBA0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77883" y="1818754"/>
              <a:ext cx="865578" cy="467412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D4612D8-2B67-40A4-A303-8BB1BE1F61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51792" y="1690688"/>
              <a:ext cx="1340079" cy="4870519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4A9A548-CF1B-4267-972C-172F6976F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602" y="1750421"/>
            <a:ext cx="2064541" cy="4674121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AC906A01-9276-4F20-BC47-712287140BD6}"/>
              </a:ext>
            </a:extLst>
          </p:cNvPr>
          <p:cNvSpPr/>
          <p:nvPr/>
        </p:nvSpPr>
        <p:spPr>
          <a:xfrm>
            <a:off x="3388908" y="336491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477549-7EAB-462D-86FF-692ED708C9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4837" y="1921566"/>
            <a:ext cx="3934834" cy="4249944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E3C7AD8C-AE53-4AD6-B1F4-E9FA1204C86E}"/>
              </a:ext>
            </a:extLst>
          </p:cNvPr>
          <p:cNvSpPr/>
          <p:nvPr/>
        </p:nvSpPr>
        <p:spPr>
          <a:xfrm>
            <a:off x="6906429" y="333803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330997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3726C6-38D9-4527-AD7B-690919F92D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8298" y="1709564"/>
            <a:ext cx="7655404" cy="43513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640B11-E4A0-42CD-8639-AAC613051298}"/>
              </a:ext>
            </a:extLst>
          </p:cNvPr>
          <p:cNvSpPr/>
          <p:nvPr/>
        </p:nvSpPr>
        <p:spPr>
          <a:xfrm>
            <a:off x="6957391" y="6550223"/>
            <a:ext cx="52346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>
                <a:solidFill>
                  <a:srgbClr val="434343"/>
                </a:solidFill>
                <a:cs typeface="+mn-ea"/>
                <a:sym typeface="+mn-lt"/>
              </a:rPr>
              <a:t>He et al. Deep Residual Learning for Image Recognition, CVPR 2016</a:t>
            </a:r>
            <a:r>
              <a:rPr lang="en-US" altLang="zh-CN" sz="1400" dirty="0">
                <a:cs typeface="+mn-ea"/>
                <a:sym typeface="+mn-lt"/>
              </a:rPr>
              <a:t> 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71DDA23-648F-46D3-8772-FC8DE3066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latin typeface="+mn-lt"/>
                <a:ea typeface="+mn-ea"/>
                <a:cs typeface="+mn-ea"/>
                <a:sym typeface="+mn-lt"/>
              </a:rPr>
              <a:t>ResNet </a:t>
            </a:r>
            <a:r>
              <a:rPr lang="zh-CN" altLang="en-US" sz="4000" b="1" dirty="0">
                <a:latin typeface="+mn-lt"/>
                <a:ea typeface="+mn-ea"/>
                <a:cs typeface="+mn-ea"/>
                <a:sym typeface="+mn-lt"/>
              </a:rPr>
              <a:t>（残差网络）</a:t>
            </a:r>
          </a:p>
        </p:txBody>
      </p:sp>
    </p:spTree>
    <p:extLst>
      <p:ext uri="{BB962C8B-B14F-4D97-AF65-F5344CB8AC3E}">
        <p14:creationId xmlns:p14="http://schemas.microsoft.com/office/powerpoint/2010/main" val="592494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C5316-D8E7-489F-B339-6006BC917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>
                <a:latin typeface="+mn-lt"/>
                <a:ea typeface="+mn-ea"/>
                <a:cs typeface="+mn-ea"/>
                <a:sym typeface="+mn-lt"/>
              </a:rPr>
              <a:t>The problem with training very deep networks</a:t>
            </a:r>
            <a:endParaRPr lang="zh-CN" altLang="en-US" sz="4000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1C66FE-C5F9-405D-9AE8-F808EA801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048" y="2561845"/>
            <a:ext cx="4560826" cy="31623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46D23E-2BEE-4A6B-801D-0FCCACB59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34" y="2367792"/>
            <a:ext cx="6180724" cy="335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920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C2761-CEA7-44E5-8783-A89F5A409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Residual blocks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A02AC4-36F4-44EE-AB80-6C4FD92C3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239" y="2278257"/>
            <a:ext cx="3088813" cy="279973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65738EB-5148-4324-81EB-CBFA1EB0C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949" y="2278257"/>
            <a:ext cx="3969491" cy="271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0489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E8C17-7809-4764-9E60-60CD738DE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Residual blocks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4">
            <a:extLst>
              <a:ext uri="{FF2B5EF4-FFF2-40B4-BE49-F238E27FC236}">
                <a16:creationId xmlns:a16="http://schemas.microsoft.com/office/drawing/2014/main" id="{B49EA886-0BF3-4C32-983F-826483DFE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316" y="1874061"/>
            <a:ext cx="7767368" cy="357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2865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F8564-51D8-4B92-A2F6-DDD8B8B64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>
                <a:latin typeface="+mn-lt"/>
                <a:ea typeface="+mn-ea"/>
                <a:cs typeface="+mn-ea"/>
                <a:sym typeface="+mn-lt"/>
              </a:rPr>
              <a:t>34 layer plain network vs 34 layer residual network</a:t>
            </a:r>
            <a:endParaRPr lang="zh-CN" altLang="en-US" sz="3600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3B1BD2-AE93-4ACE-A470-61E7CE10C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55267"/>
            <a:ext cx="10515600" cy="340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545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B221-600B-42B0-A4FA-D1C4D5F03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ILSVRC 2016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66DA01-3FFE-4B0B-890B-2445EE4CA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372" y="1737071"/>
            <a:ext cx="8483255" cy="427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3501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81FC0-4904-417D-BBEB-07655DB01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ILSVRC 2016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2C8B01-E94B-4058-B2D6-5521D0330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5745"/>
            <a:ext cx="10574826" cy="438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277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40F9F-9CFA-4D8E-8547-08EA4BAD7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Ensembles (</a:t>
            </a:r>
            <a:r>
              <a:rPr lang="en-US" altLang="zh-CN" b="1" dirty="0" err="1">
                <a:latin typeface="+mn-lt"/>
                <a:ea typeface="+mn-ea"/>
                <a:cs typeface="+mn-ea"/>
                <a:sym typeface="+mn-lt"/>
              </a:rPr>
              <a:t>Hikivision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60164-0232-4F9C-9B68-0FC6C82C4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5643" cy="435133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More than 20 models, including VGG, Inception, </a:t>
            </a:r>
            <a:r>
              <a:rPr lang="en-US" altLang="zh-CN" dirty="0" err="1">
                <a:cs typeface="+mn-ea"/>
                <a:sym typeface="+mn-lt"/>
              </a:rPr>
              <a:t>ResNet</a:t>
            </a:r>
            <a:r>
              <a:rPr lang="en-US" altLang="zh-CN" dirty="0">
                <a:cs typeface="+mn-ea"/>
                <a:sym typeface="+mn-lt"/>
              </a:rPr>
              <a:t>…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Novel data augmentation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Novel learning rate policy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… and “some small tricks”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47257E-078B-49AF-851B-E10CBE107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475" y="1825625"/>
            <a:ext cx="5167726" cy="422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9482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22592-3BA0-402B-89AF-F6475A5D7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latin typeface="+mn-lt"/>
                <a:ea typeface="+mn-ea"/>
                <a:cs typeface="+mn-ea"/>
                <a:sym typeface="+mn-lt"/>
              </a:rPr>
              <a:t>MobileNet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B9AF78-726C-45B5-980F-9D36F5F287DE}"/>
              </a:ext>
            </a:extLst>
          </p:cNvPr>
          <p:cNvSpPr/>
          <p:nvPr/>
        </p:nvSpPr>
        <p:spPr>
          <a:xfrm>
            <a:off x="7066384" y="6596390"/>
            <a:ext cx="505097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 err="1">
                <a:solidFill>
                  <a:srgbClr val="000000"/>
                </a:solidFill>
                <a:cs typeface="+mn-ea"/>
                <a:sym typeface="+mn-lt"/>
              </a:rPr>
              <a:t>MobileNets</a:t>
            </a:r>
            <a:r>
              <a:rPr lang="en-US" altLang="zh-CN" sz="1100" dirty="0">
                <a:solidFill>
                  <a:srgbClr val="000000"/>
                </a:solidFill>
                <a:cs typeface="+mn-ea"/>
                <a:sym typeface="+mn-lt"/>
              </a:rPr>
              <a:t>: Efficient Convolutional Neural Networks for Mobile Vision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A14504-457A-4F24-963B-2BC4D40F2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481" y="1780590"/>
            <a:ext cx="9399037" cy="417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9444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ACFFB-9830-4D2E-877E-21823EE67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Depthwise &amp; Pointwise Convolution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6C6D0-5B7E-4672-B72A-AD88FFC54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8430" y="6127052"/>
            <a:ext cx="6016690" cy="472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>
                <a:cs typeface="+mn-ea"/>
                <a:sym typeface="+mn-lt"/>
              </a:rPr>
              <a:t>#Params = 3*3*3*4 =108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2050" name="Picture 2" descr="preview">
            <a:extLst>
              <a:ext uri="{FF2B5EF4-FFF2-40B4-BE49-F238E27FC236}">
                <a16:creationId xmlns:a16="http://schemas.microsoft.com/office/drawing/2014/main" id="{16FE22D0-EFE8-42E2-B004-6F0ADA9EF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880" y="1622100"/>
            <a:ext cx="7738240" cy="406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19693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ACFFB-9830-4D2E-877E-21823EE67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Depthwise &amp; Pointwise Convolution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098" name="Picture 2" descr="https://pic2.zhimg.com/80/v2-bf151ff051e8ba1c234230ccd5a51d39_720w.jpg">
            <a:extLst>
              <a:ext uri="{FF2B5EF4-FFF2-40B4-BE49-F238E27FC236}">
                <a16:creationId xmlns:a16="http://schemas.microsoft.com/office/drawing/2014/main" id="{C733E439-678D-44F6-B767-4DB35D252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5" y="1878282"/>
            <a:ext cx="10077450" cy="39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C0AAAAA-B7FC-4945-A43B-3EF12612C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0844" y="6023691"/>
            <a:ext cx="3410312" cy="472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>
                <a:cs typeface="+mn-ea"/>
                <a:sym typeface="+mn-lt"/>
              </a:rPr>
              <a:t>#Params = 3*3*3 =27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989060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ACFFB-9830-4D2E-877E-21823EE67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Depthwise &amp; Pointwise Convolution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074" name="Picture 2" descr="https://pic1.zhimg.com/80/v2-767f5e181c73be50b8d58b8ea9086d70_720w.jpg">
            <a:extLst>
              <a:ext uri="{FF2B5EF4-FFF2-40B4-BE49-F238E27FC236}">
                <a16:creationId xmlns:a16="http://schemas.microsoft.com/office/drawing/2014/main" id="{09B7C005-DFFC-4976-BDF9-F653288AB3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752" y="2084836"/>
            <a:ext cx="8976495" cy="3697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6E3D3AD-8B89-4815-BEA1-1D0A3E2585A7}"/>
              </a:ext>
            </a:extLst>
          </p:cNvPr>
          <p:cNvSpPr txBox="1">
            <a:spLocks/>
          </p:cNvSpPr>
          <p:nvPr/>
        </p:nvSpPr>
        <p:spPr>
          <a:xfrm>
            <a:off x="4390843" y="6082279"/>
            <a:ext cx="3410312" cy="472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cs typeface="+mn-ea"/>
                <a:sym typeface="+mn-lt"/>
              </a:rPr>
              <a:t>#Params = 1*1*3*4 =12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657279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84C5A-1064-4286-A82F-91794D0C4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Network Structure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982A5-9087-46C2-85A6-AE549F67D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908FC-7A94-48D3-97AD-C8F7B95AA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23822"/>
            <a:ext cx="4904782" cy="33549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96DDEC-300C-468C-AE08-7F668788A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020" y="721446"/>
            <a:ext cx="4990476" cy="5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397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9275-4CFC-44DB-AEA3-B43F0FDEA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3F4B0-1089-4FDC-BBDE-5D2FB905E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3600" dirty="0"/>
              <a:t>CNN</a:t>
            </a:r>
            <a:r>
              <a:rPr lang="zh-CN" altLang="en-US" sz="3600" dirty="0"/>
              <a:t>模型</a:t>
            </a:r>
            <a:endParaRPr lang="en-US" altLang="zh-CN" sz="3600" dirty="0"/>
          </a:p>
          <a:p>
            <a:pPr>
              <a:lnSpc>
                <a:spcPct val="120000"/>
              </a:lnSpc>
            </a:pPr>
            <a:r>
              <a:rPr lang="zh-CN" altLang="en-US" sz="3600" dirty="0">
                <a:solidFill>
                  <a:srgbClr val="00B0F0"/>
                </a:solidFill>
              </a:rPr>
              <a:t>迁移学习</a:t>
            </a:r>
          </a:p>
        </p:txBody>
      </p:sp>
    </p:spTree>
    <p:extLst>
      <p:ext uri="{BB962C8B-B14F-4D97-AF65-F5344CB8AC3E}">
        <p14:creationId xmlns:p14="http://schemas.microsoft.com/office/powerpoint/2010/main" val="29697444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8EAF5-D5B0-40FC-AC2E-E0A515E43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Example: 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PASCAL VOC 2007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C1E33-D95D-4AE7-8562-BEDAC05E9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图像分类数据库</a:t>
            </a:r>
            <a:r>
              <a:rPr lang="zh-CN" altLang="en-US" sz="2000" dirty="0">
                <a:cs typeface="+mn-ea"/>
                <a:sym typeface="+mn-lt"/>
              </a:rPr>
              <a:t>：</a:t>
            </a:r>
            <a:r>
              <a:rPr lang="en-US" altLang="zh-CN" sz="2000" dirty="0">
                <a:cs typeface="+mn-ea"/>
                <a:sym typeface="+mn-lt"/>
              </a:rPr>
              <a:t>20</a:t>
            </a:r>
            <a:r>
              <a:rPr lang="zh-CN" altLang="en-US" sz="2000" dirty="0">
                <a:cs typeface="+mn-ea"/>
                <a:sym typeface="+mn-lt"/>
              </a:rPr>
              <a:t>个类别</a:t>
            </a:r>
            <a:r>
              <a:rPr lang="en-US" altLang="zh-CN" sz="2000" dirty="0">
                <a:cs typeface="+mn-ea"/>
                <a:sym typeface="+mn-lt"/>
              </a:rPr>
              <a:t>, ~10K</a:t>
            </a:r>
            <a:r>
              <a:rPr lang="zh-CN" altLang="en-US" sz="2000" dirty="0">
                <a:cs typeface="+mn-ea"/>
                <a:sym typeface="+mn-lt"/>
              </a:rPr>
              <a:t>图片</a:t>
            </a:r>
            <a:r>
              <a:rPr lang="en-US" altLang="zh-CN" sz="2000" dirty="0">
                <a:cs typeface="+mn-ea"/>
                <a:sym typeface="+mn-lt"/>
              </a:rPr>
              <a:t>, 50% train, 50% test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cs typeface="+mn-ea"/>
                <a:sym typeface="+mn-lt"/>
              </a:rPr>
              <a:t>深度神经网络的参数量非常多 </a:t>
            </a:r>
            <a:r>
              <a:rPr lang="en-US" altLang="zh-CN" sz="2000" dirty="0">
                <a:cs typeface="+mn-ea"/>
                <a:sym typeface="+mn-lt"/>
              </a:rPr>
              <a:t>(</a:t>
            </a:r>
            <a:r>
              <a:rPr lang="en-US" altLang="zh-CN" sz="2000" i="1" dirty="0">
                <a:solidFill>
                  <a:srgbClr val="00B0F0"/>
                </a:solidFill>
                <a:cs typeface="+mn-ea"/>
                <a:sym typeface="+mn-lt"/>
              </a:rPr>
              <a:t>e.g.</a:t>
            </a:r>
            <a:r>
              <a:rPr lang="en-US" altLang="zh-CN" sz="2000" dirty="0">
                <a:cs typeface="+mn-ea"/>
                <a:sym typeface="+mn-lt"/>
              </a:rPr>
              <a:t> 60M in AlexNet)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cs typeface="+mn-ea"/>
                <a:sym typeface="+mn-lt"/>
              </a:rPr>
              <a:t>只使用</a:t>
            </a:r>
            <a:r>
              <a:rPr lang="en-US" altLang="zh-CN" sz="2000" dirty="0">
                <a:cs typeface="+mn-ea"/>
                <a:sym typeface="+mn-lt"/>
              </a:rPr>
              <a:t>5K</a:t>
            </a:r>
            <a:r>
              <a:rPr lang="zh-CN" altLang="en-US" sz="2000" dirty="0">
                <a:cs typeface="+mn-ea"/>
                <a:sym typeface="+mn-lt"/>
              </a:rPr>
              <a:t>的图片重新训练大规模深度神经网络，容易导致模型</a:t>
            </a:r>
            <a:r>
              <a:rPr lang="zh-CN" altLang="en-US" sz="2000" b="1" dirty="0">
                <a:solidFill>
                  <a:srgbClr val="FF0000"/>
                </a:solidFill>
                <a:cs typeface="+mn-ea"/>
                <a:sym typeface="+mn-lt"/>
              </a:rPr>
              <a:t>过拟合</a:t>
            </a:r>
            <a:endParaRPr lang="en-US" altLang="zh-CN" sz="2000" b="1" dirty="0">
              <a:solidFill>
                <a:srgbClr val="FF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cs typeface="+mn-ea"/>
                <a:sym typeface="+mn-lt"/>
              </a:rPr>
              <a:t>在这样的情况下，如何使用深度神经网络？</a:t>
            </a:r>
            <a:endParaRPr lang="en-US" altLang="zh-CN" sz="2000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185DBA-BC0E-4D26-840A-D5309DF0D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365" y="3766869"/>
            <a:ext cx="6977270" cy="30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1331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A5F4-EC97-4BF8-A8ED-133A2DA56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迁移学习 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(Transfer Learning)</a:t>
            </a:r>
            <a:endParaRPr lang="zh-CN" altLang="en-US" b="1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76930D-3B7F-4D6A-99E8-FD390B0B2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937913"/>
            <a:ext cx="10058400" cy="424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6628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46A2-A7B0-4B16-9F5E-73EE6FEA0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“Off-the-shelf”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71533-D08E-461B-B1FB-A9C098FDF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利用一个通用任务训练得到的深度模型，其中的部分层作为特征提取器</a:t>
            </a:r>
            <a:endParaRPr lang="en-US" altLang="zh-CN" dirty="0"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基于深度模型提取的特征，训练单独的分类器</a:t>
            </a:r>
            <a:r>
              <a:rPr lang="en-US" altLang="zh-CN" dirty="0">
                <a:cs typeface="+mn-ea"/>
                <a:sym typeface="+mn-lt"/>
              </a:rPr>
              <a:t>.</a:t>
            </a:r>
            <a:endParaRPr lang="zh-CN" altLang="en-US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DD970C-03B2-4CD6-9467-55965F7F68F0}"/>
              </a:ext>
            </a:extLst>
          </p:cNvPr>
          <p:cNvSpPr/>
          <p:nvPr/>
        </p:nvSpPr>
        <p:spPr>
          <a:xfrm>
            <a:off x="6096000" y="658100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altLang="zh-CN" sz="120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CNN Features Off-the-Shelf: An Astounding Baseline for Recognition, CVPRW 2014.</a:t>
            </a:r>
            <a:endParaRPr lang="zh-CN" altLang="en-US" sz="1200" dirty="0"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340B9-C77E-4093-86D5-5B19B15A68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33" b="3019"/>
          <a:stretch/>
        </p:blipFill>
        <p:spPr>
          <a:xfrm>
            <a:off x="1651198" y="3304401"/>
            <a:ext cx="8889604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4634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B841B-7DC3-4C6D-9F95-D840E4AB3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“Off-the-shelf”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13315-26DB-4B3C-B030-E496DE50C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902201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取得显著超过其他算法的性能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Image Classification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PASCAL VOC 2007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Oxford flowers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CUB Bird dataset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MIT indoors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Image retrieval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Paris 6k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Holidays</a:t>
            </a:r>
          </a:p>
          <a:p>
            <a:pPr lvl="1">
              <a:lnSpc>
                <a:spcPct val="120000"/>
              </a:lnSpc>
            </a:pPr>
            <a:r>
              <a:rPr lang="en-US" altLang="zh-CN" dirty="0" err="1">
                <a:cs typeface="+mn-ea"/>
                <a:sym typeface="+mn-lt"/>
              </a:rPr>
              <a:t>UKBench</a:t>
            </a:r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E70E88-0D33-4C5C-A548-6F43793A51F9}"/>
              </a:ext>
            </a:extLst>
          </p:cNvPr>
          <p:cNvGrpSpPr/>
          <p:nvPr/>
        </p:nvGrpSpPr>
        <p:grpSpPr>
          <a:xfrm>
            <a:off x="6686818" y="2102882"/>
            <a:ext cx="4506395" cy="3796824"/>
            <a:chOff x="6908054" y="2200795"/>
            <a:chExt cx="4506395" cy="37968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4DDC50F-5068-4473-A5A7-CF9F774CE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08054" y="2570127"/>
              <a:ext cx="4506395" cy="342749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24E139D-D80A-4866-B67A-BD8E39484064}"/>
                </a:ext>
              </a:extLst>
            </p:cNvPr>
            <p:cNvSpPr/>
            <p:nvPr/>
          </p:nvSpPr>
          <p:spPr>
            <a:xfrm>
              <a:off x="7646582" y="2200795"/>
              <a:ext cx="302933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595959"/>
                  </a:solidFill>
                  <a:cs typeface="+mn-ea"/>
                  <a:sym typeface="+mn-lt"/>
                </a:rPr>
                <a:t>Oxford 102 flowers dataset</a:t>
              </a:r>
              <a:r>
                <a:rPr lang="en-US" altLang="zh-CN" b="1" dirty="0">
                  <a:cs typeface="+mn-ea"/>
                  <a:sym typeface="+mn-lt"/>
                </a:rPr>
                <a:t> </a:t>
              </a:r>
              <a:endParaRPr lang="zh-CN" altLang="en-US" b="1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98656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AA63C-7489-4554-BE19-200A98FCB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Fine-tuning 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（微调）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3FFF8-CA7D-4B1D-8628-00B0105F0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0303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去掉通用模型的高层 </a:t>
            </a:r>
            <a:r>
              <a:rPr lang="en-US" altLang="zh-CN" dirty="0">
                <a:solidFill>
                  <a:schemeClr val="accent1"/>
                </a:solidFill>
                <a:cs typeface="+mn-ea"/>
                <a:sym typeface="+mn-lt"/>
              </a:rPr>
              <a:t>(Top Layers)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替换成新任务对应的层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通过反向传播算法对网络进行微调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EE5B34-A6AA-4B15-B3E3-B7ABDC80A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503" y="1425255"/>
            <a:ext cx="4460214" cy="495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5321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31FA-8886-423D-9223-BDD1E9CD1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Frozen 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或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fine-tune?</a:t>
            </a:r>
            <a:endParaRPr lang="zh-CN" altLang="en-US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A5742E-25C6-464B-ADCE-C2CF249D84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468533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>
                    <a:cs typeface="+mn-ea"/>
                    <a:sym typeface="+mn-lt"/>
                  </a:rPr>
                  <a:t>模型底下的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𝑛</m:t>
                    </m:r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层可以被冻结</a:t>
                </a:r>
                <a:r>
                  <a:rPr lang="en-US" altLang="zh-CN" dirty="0">
                    <a:cs typeface="+mn-ea"/>
                    <a:sym typeface="+mn-lt"/>
                  </a:rPr>
                  <a:t>(frozen)</a:t>
                </a:r>
                <a:r>
                  <a:rPr lang="zh-CN" altLang="en-US" dirty="0">
                    <a:cs typeface="+mn-ea"/>
                    <a:sym typeface="+mn-lt"/>
                  </a:rPr>
                  <a:t>或者微调</a:t>
                </a:r>
                <a:r>
                  <a:rPr lang="en-US" altLang="zh-CN" dirty="0">
                    <a:cs typeface="+mn-ea"/>
                    <a:sym typeface="+mn-lt"/>
                  </a:rPr>
                  <a:t>(fine-tune)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zh-CN" b="1" dirty="0">
                    <a:cs typeface="+mn-ea"/>
                    <a:sym typeface="+mn-lt"/>
                  </a:rPr>
                  <a:t>Frozen: </a:t>
                </a:r>
                <a:r>
                  <a:rPr lang="zh-CN" altLang="en-US" dirty="0">
                    <a:cs typeface="+mn-ea"/>
                    <a:sym typeface="+mn-lt"/>
                  </a:rPr>
                  <a:t>反向传播的时候不更新参数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altLang="zh-CN" b="1" dirty="0">
                    <a:cs typeface="+mn-ea"/>
                    <a:sym typeface="+mn-lt"/>
                  </a:rPr>
                  <a:t>Fine-tuned: </a:t>
                </a:r>
                <a:r>
                  <a:rPr lang="zh-CN" altLang="en-US" dirty="0">
                    <a:cs typeface="+mn-ea"/>
                    <a:sym typeface="+mn-lt"/>
                  </a:rPr>
                  <a:t>反向传播的时候更新参数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>
                    <a:cs typeface="+mn-ea"/>
                    <a:sym typeface="+mn-lt"/>
                  </a:rPr>
                  <a:t>采用哪一种，要根据具体情况</a:t>
                </a:r>
                <a:r>
                  <a:rPr lang="en-US" altLang="zh-CN" dirty="0">
                    <a:cs typeface="+mn-ea"/>
                    <a:sym typeface="+mn-lt"/>
                  </a:rPr>
                  <a:t>: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zh-CN" b="1" dirty="0">
                    <a:cs typeface="+mn-ea"/>
                    <a:sym typeface="+mn-lt"/>
                  </a:rPr>
                  <a:t>Frozen: </a:t>
                </a:r>
                <a:r>
                  <a:rPr lang="zh-CN" altLang="en-US" dirty="0">
                    <a:cs typeface="+mn-ea"/>
                    <a:sym typeface="+mn-lt"/>
                  </a:rPr>
                  <a:t>目标类别比较少，避免过拟合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altLang="zh-CN" b="1" dirty="0">
                    <a:cs typeface="+mn-ea"/>
                    <a:sym typeface="+mn-lt"/>
                  </a:rPr>
                  <a:t>Fine-tune:</a:t>
                </a:r>
                <a:r>
                  <a:rPr lang="zh-CN" altLang="en-US" dirty="0">
                    <a:cs typeface="+mn-ea"/>
                    <a:sym typeface="+mn-lt"/>
                  </a:rPr>
                  <a:t>目标类别较多、并且数据规模较大</a:t>
                </a:r>
                <a:endParaRPr lang="en-US" altLang="zh-CN" dirty="0"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A5742E-25C6-464B-ADCE-C2CF249D84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468533" cy="4351338"/>
              </a:xfrm>
              <a:blipFill>
                <a:blip r:embed="rId2"/>
                <a:stretch>
                  <a:fillRect l="-1979" t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CD9B26D-7317-43AD-8719-D4631D8F4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875" y="1690688"/>
            <a:ext cx="4358551" cy="442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5391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A3B82-8541-44E5-A342-CA2D7B0C6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深度模型特征的迁移性？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5004D-70DA-4239-B1E6-2770B6504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120468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Lower layers: more general features. 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迁移到其他任务的性能比较好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Higher layers: more task specific.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训练样本比较多的时候，采用</a:t>
            </a:r>
            <a:r>
              <a:rPr lang="en-US" altLang="zh-CN" dirty="0">
                <a:cs typeface="+mn-ea"/>
                <a:sym typeface="+mn-lt"/>
              </a:rPr>
              <a:t>Fine-tuning</a:t>
            </a:r>
            <a:r>
              <a:rPr lang="zh-CN" altLang="en-US" dirty="0">
                <a:cs typeface="+mn-ea"/>
                <a:sym typeface="+mn-lt"/>
              </a:rPr>
              <a:t>得到模型的泛化性能较好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迁移学习通常比在目标数据上从头训练网络的性能更优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即使采用差异比较大的任务训练得到的模型进行初始化，一般情况也会比随机初始化要好</a:t>
            </a:r>
            <a:endParaRPr lang="en-US" altLang="zh-CN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C55A9-9257-4C8C-92AB-345184EC0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667" y="2094726"/>
            <a:ext cx="3972471" cy="38973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754BE5E-AD12-471B-A637-B47936CB35FF}"/>
              </a:ext>
            </a:extLst>
          </p:cNvPr>
          <p:cNvSpPr/>
          <p:nvPr/>
        </p:nvSpPr>
        <p:spPr>
          <a:xfrm>
            <a:off x="6299200" y="6581001"/>
            <a:ext cx="58928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 err="1">
                <a:solidFill>
                  <a:srgbClr val="000000"/>
                </a:solidFill>
                <a:cs typeface="+mn-ea"/>
                <a:sym typeface="+mn-lt"/>
              </a:rPr>
              <a:t>Yosinki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 et al. 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How transferable are features in deep neural networks.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NIPS 2014.</a:t>
            </a:r>
            <a:r>
              <a:rPr lang="en-US" altLang="zh-CN" sz="1200" dirty="0">
                <a:cs typeface="+mn-ea"/>
                <a:sym typeface="+mn-lt"/>
              </a:rPr>
              <a:t> </a:t>
            </a:r>
            <a:endParaRPr lang="zh-CN" altLang="en-US" sz="12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562090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CDA35-28D1-4F6A-81C1-845D2E12E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作业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4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C4452-83AD-4A7E-A71F-7F37307AE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cs typeface="+mn-ea"/>
                <a:sym typeface="+mn-lt"/>
              </a:rPr>
              <a:t>利用</a:t>
            </a:r>
            <a:r>
              <a:rPr lang="en-US" altLang="zh-CN" b="1" dirty="0">
                <a:cs typeface="+mn-ea"/>
                <a:sym typeface="+mn-lt"/>
              </a:rPr>
              <a:t>Fine-tuning</a:t>
            </a:r>
            <a:r>
              <a:rPr lang="zh-CN" altLang="en-US" b="1" dirty="0">
                <a:cs typeface="+mn-ea"/>
                <a:sym typeface="+mn-lt"/>
              </a:rPr>
              <a:t>完成图像分类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VGG-16</a:t>
            </a:r>
            <a:r>
              <a:rPr lang="zh-CN" altLang="en-US" dirty="0">
                <a:cs typeface="+mn-ea"/>
                <a:sym typeface="+mn-lt"/>
              </a:rPr>
              <a:t>、</a:t>
            </a:r>
            <a:r>
              <a:rPr lang="en-US" altLang="zh-CN" dirty="0">
                <a:cs typeface="+mn-ea"/>
                <a:sym typeface="+mn-lt"/>
              </a:rPr>
              <a:t>ResNet-50</a:t>
            </a:r>
            <a:r>
              <a:rPr lang="zh-CN" altLang="en-US" dirty="0">
                <a:cs typeface="+mn-ea"/>
                <a:sym typeface="+mn-lt"/>
              </a:rPr>
              <a:t>模型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cs typeface="+mn-ea"/>
                <a:sym typeface="+mn-lt"/>
              </a:rPr>
              <a:t>数据集：</a:t>
            </a:r>
            <a:r>
              <a:rPr lang="en-US" altLang="zh-CN" dirty="0">
                <a:cs typeface="+mn-ea"/>
                <a:sym typeface="+mn-lt"/>
              </a:rPr>
              <a:t>Scene categories </a:t>
            </a:r>
            <a:r>
              <a:rPr lang="zh-CN" altLang="en-US" dirty="0">
                <a:cs typeface="+mn-ea"/>
                <a:sym typeface="+mn-lt"/>
              </a:rPr>
              <a:t>（</a:t>
            </a:r>
            <a:r>
              <a:rPr lang="en-US" altLang="zh-CN" dirty="0">
                <a:cs typeface="+mn-ea"/>
                <a:sym typeface="+mn-lt"/>
              </a:rPr>
              <a:t>15</a:t>
            </a:r>
            <a:r>
              <a:rPr lang="zh-CN" altLang="en-US" dirty="0">
                <a:cs typeface="+mn-ea"/>
                <a:sym typeface="+mn-lt"/>
              </a:rPr>
              <a:t>类）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cs typeface="+mn-ea"/>
                <a:sym typeface="+mn-lt"/>
              </a:rPr>
              <a:t>评估预测结果、并绘制混淆矩阵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  <a:hlinkClick r:id="rId2"/>
              </a:rPr>
              <a:t>https://figshare.com/articles/dataset/15-Scene_Image_Dataset/7007177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  <a:hlinkClick r:id="rId3"/>
              </a:rPr>
              <a:t>https://pytorch.org/tutorials/beginner/transfer_learning_tutorial.html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50368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jvbhxu5k">
      <a:majorFont>
        <a:latin typeface="Times New Roman" panose="020F0302020204030204"/>
        <a:ea typeface="宋体"/>
        <a:cs typeface=""/>
      </a:majorFont>
      <a:minorFont>
        <a:latin typeface="Times New Roman" panose="020F0502020204030204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1822</TotalTime>
  <Words>1589</Words>
  <Application>Microsoft Office PowerPoint</Application>
  <PresentationFormat>Widescreen</PresentationFormat>
  <Paragraphs>386</Paragraphs>
  <Slides>58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宋体</vt:lpstr>
      <vt:lpstr>Arial</vt:lpstr>
      <vt:lpstr>Cambria Math</vt:lpstr>
      <vt:lpstr>Times New Roman</vt:lpstr>
      <vt:lpstr>Wingdings</vt:lpstr>
      <vt:lpstr>等线</vt:lpstr>
      <vt:lpstr>微软雅黑</vt:lpstr>
      <vt:lpstr>Office Theme</vt:lpstr>
      <vt:lpstr>9、CNN经典模型与迁移学习 Advanced CNN Architectures &amp; Transfer Learning</vt:lpstr>
      <vt:lpstr>基础层</vt:lpstr>
      <vt:lpstr>Convolutional Layer</vt:lpstr>
      <vt:lpstr>Pooling Layer</vt:lpstr>
      <vt:lpstr>Fully-Connected Layer (Linear Layer)</vt:lpstr>
      <vt:lpstr>Softmax</vt:lpstr>
      <vt:lpstr>LeNet-5</vt:lpstr>
      <vt:lpstr>提纲</vt:lpstr>
      <vt:lpstr>ImageNet</vt:lpstr>
      <vt:lpstr>AlexNet (ILSVRC 2012)</vt:lpstr>
      <vt:lpstr>AlexNet</vt:lpstr>
      <vt:lpstr>AlexNet</vt:lpstr>
      <vt:lpstr>AlexNet</vt:lpstr>
      <vt:lpstr>AlexNet</vt:lpstr>
      <vt:lpstr>AlexNet</vt:lpstr>
      <vt:lpstr>AlexNet</vt:lpstr>
      <vt:lpstr>ILSVRC 2013: ZFNet </vt:lpstr>
      <vt:lpstr>Using deconvolutions to visualize layer responses</vt:lpstr>
      <vt:lpstr>What do CovNets learn?</vt:lpstr>
      <vt:lpstr>What do CovNets learn?</vt:lpstr>
      <vt:lpstr>What do CovNets learn?</vt:lpstr>
      <vt:lpstr>ILSVRC 2014: VGG and Inception</vt:lpstr>
      <vt:lpstr>ILSVRC 2014: VGG and Inception</vt:lpstr>
      <vt:lpstr>Modern ConvNets: VGG</vt:lpstr>
      <vt:lpstr>VGG</vt:lpstr>
      <vt:lpstr>VGG-16</vt:lpstr>
      <vt:lpstr>VGG-16</vt:lpstr>
      <vt:lpstr>GoogLeNet</vt:lpstr>
      <vt:lpstr>Inception module</vt:lpstr>
      <vt:lpstr>1*1 convolution  (network in network)</vt:lpstr>
      <vt:lpstr>Inception (Motivation)</vt:lpstr>
      <vt:lpstr>Inception with dimension reduction </vt:lpstr>
      <vt:lpstr>GoogLeNet</vt:lpstr>
      <vt:lpstr>Batch Normalization</vt:lpstr>
      <vt:lpstr>BN in PyTorch</vt:lpstr>
      <vt:lpstr>ILSVRC 2015: ResNet</vt:lpstr>
      <vt:lpstr>ResNet （残差网络）</vt:lpstr>
      <vt:lpstr>The problem with training very deep networks</vt:lpstr>
      <vt:lpstr>Residual blocks</vt:lpstr>
      <vt:lpstr>Residual blocks</vt:lpstr>
      <vt:lpstr>34 layer plain network vs 34 layer residual network</vt:lpstr>
      <vt:lpstr>ILSVRC 2016</vt:lpstr>
      <vt:lpstr>ILSVRC 2016</vt:lpstr>
      <vt:lpstr>Ensembles (Hikivision)</vt:lpstr>
      <vt:lpstr>MobileNet</vt:lpstr>
      <vt:lpstr>Depthwise &amp; Pointwise Convolution</vt:lpstr>
      <vt:lpstr>Depthwise &amp; Pointwise Convolution</vt:lpstr>
      <vt:lpstr>Depthwise &amp; Pointwise Convolution</vt:lpstr>
      <vt:lpstr>Network Structure</vt:lpstr>
      <vt:lpstr>提纲</vt:lpstr>
      <vt:lpstr>Example: PASCAL VOC 2007</vt:lpstr>
      <vt:lpstr>迁移学习 (Transfer Learning)</vt:lpstr>
      <vt:lpstr>“Off-the-shelf”</vt:lpstr>
      <vt:lpstr>“Off-the-shelf”</vt:lpstr>
      <vt:lpstr>Fine-tuning （微调）</vt:lpstr>
      <vt:lpstr>Frozen 或 fine-tune?</vt:lpstr>
      <vt:lpstr>深度模型特征的迁移性？</vt:lpstr>
      <vt:lpstr>作业4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CNN Architecture</dc:title>
  <dc:creator>Luo Zhiming</dc:creator>
  <cp:lastModifiedBy>Luo Zhiming</cp:lastModifiedBy>
  <cp:revision>94</cp:revision>
  <dcterms:created xsi:type="dcterms:W3CDTF">2023-04-16T13:11:25Z</dcterms:created>
  <dcterms:modified xsi:type="dcterms:W3CDTF">2023-04-23T14:35:00Z</dcterms:modified>
</cp:coreProperties>
</file>