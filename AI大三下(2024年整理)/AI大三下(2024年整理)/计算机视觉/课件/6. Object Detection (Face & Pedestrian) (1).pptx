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sldIdLst>
    <p:sldId id="332" r:id="rId2"/>
    <p:sldId id="257" r:id="rId3"/>
    <p:sldId id="307" r:id="rId4"/>
    <p:sldId id="310" r:id="rId5"/>
    <p:sldId id="311" r:id="rId6"/>
    <p:sldId id="312" r:id="rId7"/>
    <p:sldId id="314" r:id="rId8"/>
    <p:sldId id="336" r:id="rId9"/>
    <p:sldId id="313" r:id="rId10"/>
    <p:sldId id="380" r:id="rId11"/>
    <p:sldId id="308" r:id="rId12"/>
    <p:sldId id="315" r:id="rId13"/>
    <p:sldId id="316" r:id="rId14"/>
    <p:sldId id="317" r:id="rId15"/>
    <p:sldId id="318" r:id="rId16"/>
    <p:sldId id="351" r:id="rId17"/>
    <p:sldId id="364" r:id="rId18"/>
    <p:sldId id="365" r:id="rId19"/>
    <p:sldId id="366" r:id="rId20"/>
    <p:sldId id="367" r:id="rId21"/>
    <p:sldId id="368" r:id="rId22"/>
    <p:sldId id="369" r:id="rId23"/>
    <p:sldId id="370" r:id="rId24"/>
    <p:sldId id="381" r:id="rId25"/>
    <p:sldId id="371" r:id="rId26"/>
    <p:sldId id="372" r:id="rId27"/>
    <p:sldId id="373" r:id="rId28"/>
    <p:sldId id="382" r:id="rId29"/>
    <p:sldId id="303" r:id="rId30"/>
    <p:sldId id="375" r:id="rId31"/>
    <p:sldId id="376" r:id="rId32"/>
    <p:sldId id="323" r:id="rId33"/>
    <p:sldId id="348" r:id="rId34"/>
    <p:sldId id="377" r:id="rId35"/>
    <p:sldId id="378" r:id="rId36"/>
    <p:sldId id="383" r:id="rId37"/>
    <p:sldId id="379" r:id="rId38"/>
    <p:sldId id="324" r:id="rId39"/>
    <p:sldId id="325" r:id="rId40"/>
    <p:sldId id="334" r:id="rId41"/>
    <p:sldId id="346" r:id="rId42"/>
    <p:sldId id="347" r:id="rId43"/>
    <p:sldId id="328" r:id="rId44"/>
    <p:sldId id="329" r:id="rId45"/>
    <p:sldId id="352" r:id="rId46"/>
    <p:sldId id="353" r:id="rId47"/>
    <p:sldId id="354" r:id="rId48"/>
    <p:sldId id="355" r:id="rId49"/>
    <p:sldId id="291" r:id="rId50"/>
    <p:sldId id="292" r:id="rId51"/>
    <p:sldId id="356" r:id="rId52"/>
    <p:sldId id="357" r:id="rId53"/>
    <p:sldId id="358" r:id="rId54"/>
    <p:sldId id="359" r:id="rId55"/>
    <p:sldId id="360" r:id="rId56"/>
    <p:sldId id="361" r:id="rId57"/>
    <p:sldId id="362" r:id="rId58"/>
    <p:sldId id="363" r:id="rId59"/>
    <p:sldId id="309" r:id="rId60"/>
    <p:sldId id="319" r:id="rId61"/>
    <p:sldId id="321" r:id="rId62"/>
    <p:sldId id="326" r:id="rId63"/>
    <p:sldId id="327" r:id="rId64"/>
    <p:sldId id="330" r:id="rId65"/>
    <p:sldId id="333" r:id="rId66"/>
    <p:sldId id="331" r:id="rId67"/>
    <p:sldId id="335" r:id="rId68"/>
    <p:sldId id="337" r:id="rId69"/>
    <p:sldId id="338" r:id="rId70"/>
    <p:sldId id="339" r:id="rId71"/>
    <p:sldId id="340" r:id="rId72"/>
    <p:sldId id="341" r:id="rId73"/>
    <p:sldId id="344" r:id="rId74"/>
    <p:sldId id="342" r:id="rId75"/>
    <p:sldId id="345" r:id="rId76"/>
    <p:sldId id="300" r:id="rId77"/>
    <p:sldId id="304" r:id="rId7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31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471EC7-58D5-46DA-9281-FF8C84C42355}" type="datetimeFigureOut">
              <a:rPr lang="zh-CN" altLang="en-US" smtClean="0"/>
              <a:t>2023-4-1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317EC-C244-4F53-AB76-2BA34036C4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372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8B641-C0C2-4D13-8322-4BB0A3574EA1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956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52428-117A-4F64-B1EF-6434F6228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46A212-3A0D-4F95-B8F6-DF3443EA9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96512-768D-4F67-8767-75B41ABE9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FF065-EEB7-45AA-B162-7320F51153AD}" type="datetimeFigureOut">
              <a:rPr lang="zh-CN" altLang="en-US" smtClean="0"/>
              <a:t>2023-4-1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1AC12-01EE-4089-B0E9-2BECA9EC6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F0485-8EE6-4A48-86DF-D5167BE6B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6CD60-DD92-4FAA-8241-51467C1FBB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336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93A52-A6BA-471A-9A1D-B70FCE21F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7494A-238B-4E8F-A79F-0269D4DB2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92274-A623-4875-85F1-4658613CC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FF065-EEB7-45AA-B162-7320F51153AD}" type="datetimeFigureOut">
              <a:rPr lang="zh-CN" altLang="en-US" smtClean="0"/>
              <a:t>2023-4-1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1BBA5-506B-4B2B-837F-4794145FD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BFA0D-8D98-46F6-A0DC-DEA1C4D4F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6CD60-DD92-4FAA-8241-51467C1FBB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056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7D93C-D974-4B46-B6B2-B08AFA71C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1640E-BCFA-4781-AABD-B68B973B3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4AC34-BF5C-4E5C-91F6-38F8026E0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FF065-EEB7-45AA-B162-7320F51153AD}" type="datetimeFigureOut">
              <a:rPr lang="zh-CN" altLang="en-US" smtClean="0"/>
              <a:t>2023-4-1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B2DCF-ACEA-4675-B8EA-B905F7044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C11DB-4034-4DD8-ABE8-D0C7B8AA1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6CD60-DD92-4FAA-8241-51467C1FBB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957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BDBD7-9182-42CC-AEFE-E261EB8CF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3E5D1-85CB-4E15-8816-FCACE5007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64EAE-CD3C-473B-BDD8-4A57BEC1D5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52BD5-4EA5-4CD7-A4D5-A87F8CF22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FF065-EEB7-45AA-B162-7320F51153AD}" type="datetimeFigureOut">
              <a:rPr lang="zh-CN" altLang="en-US" smtClean="0"/>
              <a:t>2023-4-1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244874-EFCE-4764-97AA-D76E4C9D6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F73824-93E6-4596-879E-B1CA76617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6CD60-DD92-4FAA-8241-51467C1FBB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547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2AA5D-1062-42D5-A50F-85AED6F67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901A32-B100-4A59-ACFD-51CA791C3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B21EA-D274-4B18-81AD-F43CC519E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68083C-F621-491E-B4A9-E62882DDC7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953EA1-51AD-4E81-8919-E15ADADBDE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E72713-3C63-4F2C-B380-F88F088B9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FF065-EEB7-45AA-B162-7320F51153AD}" type="datetimeFigureOut">
              <a:rPr lang="zh-CN" altLang="en-US" smtClean="0"/>
              <a:t>2023-4-1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4817C6-6DDA-4829-8DA8-20E3DC7E4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9CEF70-ED05-49EB-A18E-B42E14E3D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6CD60-DD92-4FAA-8241-51467C1FBB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511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79606-F87F-4BB6-BE5C-FA351D3B2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736EC6-4EF5-4EF9-BA11-CC69EB193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FF065-EEB7-45AA-B162-7320F51153AD}" type="datetimeFigureOut">
              <a:rPr lang="zh-CN" altLang="en-US" smtClean="0"/>
              <a:t>2023-4-1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A891A2-F93D-44E8-BE88-C7BC43DF6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999F51-D28C-40C8-9B28-2F1074576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6CD60-DD92-4FAA-8241-51467C1FBB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37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F36E44-4780-4761-AFEB-38F6CD7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FF065-EEB7-45AA-B162-7320F51153AD}" type="datetimeFigureOut">
              <a:rPr lang="zh-CN" altLang="en-US" smtClean="0"/>
              <a:t>2023-4-1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234361-8063-47BF-87DA-D23E9D5E4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695298-C764-4D9F-A6FB-4C0C4301A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6CD60-DD92-4FAA-8241-51467C1FBB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246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971B6-70EA-4ED6-95A6-A8659A6BA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193FF-FB48-447D-A32A-F99680B55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9B9962-47DE-47C6-8AC7-9213D0D5D3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6E883-90BE-494E-8FF0-9ED8C41FE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FF065-EEB7-45AA-B162-7320F51153AD}" type="datetimeFigureOut">
              <a:rPr lang="zh-CN" altLang="en-US" smtClean="0"/>
              <a:t>2023-4-1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7F86A-BB1B-42DA-9AEA-2517C5E68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E1047C-78BC-48DC-AA64-B60426C25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6CD60-DD92-4FAA-8241-51467C1FBB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311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1F3CA-D436-45AD-8D01-875FD3E09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EB5613-DCF9-4274-BA1A-7E77252787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76E367-D490-4A8B-AE7D-1B26775B9D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A3E29-F35C-49DC-8C4B-EFC8A5F9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FF065-EEB7-45AA-B162-7320F51153AD}" type="datetimeFigureOut">
              <a:rPr lang="zh-CN" altLang="en-US" smtClean="0"/>
              <a:t>2023-4-1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8A775-B358-4172-ABBB-BC20DE89F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5F559-60DF-4D55-907E-5BCC9EA79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6CD60-DD92-4FAA-8241-51467C1FBB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52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093C0-8251-4A9A-ADA9-4D57B8A7B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52F381-F48F-47C1-A7CD-E9CE6AE49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43CBA-50A4-427A-8BBE-77DD160B3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FF065-EEB7-45AA-B162-7320F51153AD}" type="datetimeFigureOut">
              <a:rPr lang="zh-CN" altLang="en-US" smtClean="0"/>
              <a:t>2023-4-1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DBCCD-1308-46A3-8710-0DDB9CEEE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E2B7A-4B94-4E16-BA9C-88198A17F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6CD60-DD92-4FAA-8241-51467C1FBB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421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65F56B-A5D6-49D4-A7A9-2E5F8F2E61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16B145-A4E2-41DB-81AC-4C72A3050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E3C84-DDD7-4D75-833D-A74485830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FF065-EEB7-45AA-B162-7320F51153AD}" type="datetimeFigureOut">
              <a:rPr lang="zh-CN" altLang="en-US" smtClean="0"/>
              <a:t>2023-4-1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7BB86-68AD-40E9-BF18-6456BC642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1C700-62EC-4576-A5DA-8F64884A0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6CD60-DD92-4FAA-8241-51467C1FBB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304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9A1C4F-FBDF-4943-B3CA-F1B394000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6D07D-43E2-4A3A-9C14-D41365446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F3AB2-DCF8-4674-BFB1-DA1AEA06B9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FF065-EEB7-45AA-B162-7320F51153AD}" type="datetimeFigureOut">
              <a:rPr lang="zh-CN" altLang="en-US" smtClean="0"/>
              <a:t>2023-4-1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7BE55-7739-4CD0-BDFA-E2F45DF0D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7C255-5B3F-4815-B607-FC4A51C03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6CD60-DD92-4FAA-8241-51467C1FBB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48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zhiming.luo@xm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Relationship Id="rId9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vision.ucsd.edu/~bbabenko/" TargetMode="External"/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5.png"/><Relationship Id="rId4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vision.caltech.edu/html-files/EE148-2005-Spring/pprs/viola04ijcv.pdf" TargetMode="External"/><Relationship Id="rId2" Type="http://schemas.openxmlformats.org/officeDocument/2006/relationships/hyperlink" Target="http://research.microsoft.com/en-us/um/people/viola/pubs/detect/violajones_cvpr2001.pdf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iff"/><Relationship Id="rId7" Type="http://schemas.openxmlformats.org/officeDocument/2006/relationships/image" Target="../media/image31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32.png"/><Relationship Id="rId4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research.microsoft.com/en-us/um/people/viola/pubs/detect/violajones_cvpr2001.pdf" TargetMode="Externa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v-python-tutorials.readthedocs.io/zh/latest/10.%20%E7%9B%AE%E6%A0%87%E6%A3%80%E6%B5%8B/10.1.%20%E9%87%87%E7%94%A8Haar%20Cascades%E8%BF%9B%E8%A1%8C%E4%BA%BA%E8%84%B8%E6%A3%80%E6%B5%8B/" TargetMode="External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hyperlink" Target="https://mp.weixin.qq.com/s?__biz=MjM5NTE3NjY5MA==&amp;mid=2247486218&amp;idx=1&amp;sn=afc0891d242e4d0c28bfba429537ba34&amp;chksm=a6fdc297918a4b813d60876807f820b80320ec912ebfc4947baab19b636ec06eeb1a89eaa21a&amp;token=343189115&amp;lang=zh_CN#rd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image" Target="../media/image80.png"/><Relationship Id="rId16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5" Type="http://schemas.openxmlformats.org/officeDocument/2006/relationships/image" Target="../media/image9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4" Type="http://schemas.openxmlformats.org/officeDocument/2006/relationships/image" Target="../media/image9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06.png"/><Relationship Id="rId7" Type="http://schemas.openxmlformats.org/officeDocument/2006/relationships/image" Target="../media/image108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Relationship Id="rId9" Type="http://schemas.openxmlformats.org/officeDocument/2006/relationships/image" Target="../media/image11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2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8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9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jpeg"/><Relationship Id="rId2" Type="http://schemas.openxmlformats.org/officeDocument/2006/relationships/hyperlink" Target="https://pyimagesearch.com/2015/11/09/pedestrian-detection-opencv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4.jpe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qq_36563273/article/details/121510440" TargetMode="External"/><Relationship Id="rId2" Type="http://schemas.openxmlformats.org/officeDocument/2006/relationships/hyperlink" Target="https://docs.opencv.org/4.5.4/d0/dd4/tutorial_dnn_face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7414E-B622-41B5-9506-7CC5647CA5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6. 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目标检测</a:t>
            </a:r>
            <a:br>
              <a:rPr lang="en-US" altLang="zh-CN" b="1" dirty="0">
                <a:latin typeface="+mn-lt"/>
                <a:ea typeface="+mn-ea"/>
                <a:cs typeface="+mn-ea"/>
                <a:sym typeface="+mn-lt"/>
              </a:rPr>
            </a:br>
            <a:r>
              <a:rPr lang="zh-CN" altLang="en-US" sz="4000" b="1" dirty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（人脸</a:t>
            </a:r>
            <a:r>
              <a:rPr lang="en-US" altLang="zh-CN" sz="4000" b="1" dirty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 &amp; </a:t>
            </a:r>
            <a:r>
              <a:rPr lang="zh-CN" altLang="en-US" sz="4000" b="1" dirty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行人）</a:t>
            </a:r>
            <a:endParaRPr lang="zh-CN" altLang="en-US" b="1" dirty="0">
              <a:solidFill>
                <a:srgbClr val="0070C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EB3ED7-81CB-4F6A-9722-90EA0087EA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罗志明</a:t>
            </a:r>
            <a:endParaRPr lang="en-US" altLang="zh-CN" dirty="0">
              <a:cs typeface="+mn-ea"/>
              <a:sym typeface="+mn-lt"/>
            </a:endParaRPr>
          </a:p>
          <a:p>
            <a:r>
              <a:rPr lang="en-US" altLang="zh-CN" dirty="0">
                <a:cs typeface="+mn-ea"/>
                <a:sym typeface="+mn-lt"/>
                <a:hlinkClick r:id="rId2"/>
              </a:rPr>
              <a:t>zhiming.luo@xmu.edu.cn</a:t>
            </a:r>
            <a:endParaRPr lang="en-US" altLang="zh-CN" dirty="0">
              <a:cs typeface="+mn-ea"/>
              <a:sym typeface="+mn-lt"/>
            </a:endParaRPr>
          </a:p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11036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92773-E546-47CF-B6AE-2E72F7B2C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经典的视觉识别任务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3F8FD-684D-4618-AB57-4A3073EB8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444C2AC-EB27-49FA-9828-1D01072BFDF5}"/>
              </a:ext>
            </a:extLst>
          </p:cNvPr>
          <p:cNvGrpSpPr/>
          <p:nvPr/>
        </p:nvGrpSpPr>
        <p:grpSpPr>
          <a:xfrm>
            <a:off x="738894" y="2506499"/>
            <a:ext cx="10714211" cy="2624956"/>
            <a:chOff x="738894" y="2379751"/>
            <a:chExt cx="10714211" cy="262495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8DCE93C-19A6-49A0-9E8B-B2A154E6F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8894" y="2379751"/>
              <a:ext cx="10714211" cy="225562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9D2D436-A2A6-415E-893B-E95A7AD6B4BE}"/>
                </a:ext>
              </a:extLst>
            </p:cNvPr>
            <p:cNvSpPr/>
            <p:nvPr/>
          </p:nvSpPr>
          <p:spPr>
            <a:xfrm>
              <a:off x="1428886" y="4635375"/>
              <a:ext cx="110479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cs typeface="+mn-ea"/>
                  <a:sym typeface="+mn-lt"/>
                </a:rPr>
                <a:t>图像分类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59E26FA-8E25-4C95-B43E-7F84A552B91D}"/>
                </a:ext>
              </a:extLst>
            </p:cNvPr>
            <p:cNvSpPr/>
            <p:nvPr/>
          </p:nvSpPr>
          <p:spPr>
            <a:xfrm>
              <a:off x="4134050" y="4635375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cs typeface="+mn-ea"/>
                  <a:sym typeface="+mn-lt"/>
                </a:rPr>
                <a:t>语义分割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8D141F0-94A4-496D-BF0B-9395FFAC0798}"/>
                </a:ext>
              </a:extLst>
            </p:cNvPr>
            <p:cNvSpPr/>
            <p:nvPr/>
          </p:nvSpPr>
          <p:spPr>
            <a:xfrm>
              <a:off x="6949956" y="4635375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cs typeface="+mn-ea"/>
                  <a:sym typeface="+mn-lt"/>
                </a:rPr>
                <a:t>目标检测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7D62CB7-FE26-49F0-ABD3-094E207B7040}"/>
                </a:ext>
              </a:extLst>
            </p:cNvPr>
            <p:cNvSpPr/>
            <p:nvPr/>
          </p:nvSpPr>
          <p:spPr>
            <a:xfrm>
              <a:off x="9574809" y="4635375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cs typeface="+mn-ea"/>
                  <a:sym typeface="+mn-lt"/>
                </a:rPr>
                <a:t>实例分割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9863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D3FA5-DD48-4A3E-9EDF-1DDEF693B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提纲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7F4FE-4C3B-4452-A577-4E91A120E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B0F0"/>
                </a:solidFill>
                <a:cs typeface="+mn-ea"/>
                <a:sym typeface="+mn-lt"/>
              </a:rPr>
              <a:t>目标检测简介</a:t>
            </a:r>
            <a:endParaRPr lang="en-US" altLang="zh-CN" b="1" dirty="0">
              <a:solidFill>
                <a:srgbClr val="00B0F0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cs typeface="+mn-ea"/>
                <a:sym typeface="+mn-lt"/>
              </a:rPr>
              <a:t>人脸检测与识别</a:t>
            </a:r>
            <a:endParaRPr lang="en-US" altLang="zh-CN" b="1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cs typeface="+mn-ea"/>
                <a:sym typeface="+mn-lt"/>
              </a:rPr>
              <a:t>行人检测</a:t>
            </a:r>
          </a:p>
        </p:txBody>
      </p:sp>
    </p:spTree>
    <p:extLst>
      <p:ext uri="{BB962C8B-B14F-4D97-AF65-F5344CB8AC3E}">
        <p14:creationId xmlns:p14="http://schemas.microsoft.com/office/powerpoint/2010/main" val="1163665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A0A46-08BA-45DC-BA39-20CD378F1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目标检测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1ED6F-77AE-4A60-853C-C9C5CD9B1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00B0F0"/>
                </a:solidFill>
                <a:cs typeface="+mn-ea"/>
                <a:sym typeface="+mn-lt"/>
              </a:rPr>
              <a:t>目的：</a:t>
            </a:r>
            <a:r>
              <a:rPr lang="zh-CN" altLang="en-US" dirty="0">
                <a:cs typeface="+mn-ea"/>
                <a:sym typeface="+mn-lt"/>
              </a:rPr>
              <a:t>定位目标物体的具体位置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00B0F0"/>
                </a:solidFill>
                <a:cs typeface="+mn-ea"/>
                <a:sym typeface="+mn-lt"/>
              </a:rPr>
              <a:t>方法：</a:t>
            </a:r>
            <a:r>
              <a:rPr lang="zh-CN" altLang="en-US" dirty="0">
                <a:cs typeface="+mn-ea"/>
                <a:sym typeface="+mn-lt"/>
              </a:rPr>
              <a:t>构建模型快速区分目标框</a:t>
            </a:r>
            <a:r>
              <a:rPr lang="en-US" altLang="zh-CN" dirty="0">
                <a:cs typeface="+mn-ea"/>
                <a:sym typeface="+mn-lt"/>
              </a:rPr>
              <a:t>(Object)</a:t>
            </a:r>
            <a:r>
              <a:rPr lang="zh-CN" altLang="en-US" dirty="0">
                <a:cs typeface="+mn-ea"/>
                <a:sym typeface="+mn-lt"/>
              </a:rPr>
              <a:t>与非目标框</a:t>
            </a:r>
            <a:r>
              <a:rPr lang="en-US" altLang="zh-CN" dirty="0">
                <a:cs typeface="+mn-ea"/>
                <a:sym typeface="+mn-lt"/>
              </a:rPr>
              <a:t>(Non-object) </a:t>
            </a:r>
            <a:r>
              <a:rPr lang="zh-CN" altLang="en-US" dirty="0">
                <a:cs typeface="+mn-ea"/>
                <a:sym typeface="+mn-lt"/>
              </a:rPr>
              <a:t>。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DE3B6AE-6DF7-45FF-A50B-487033BF8E95}"/>
              </a:ext>
            </a:extLst>
          </p:cNvPr>
          <p:cNvGrpSpPr/>
          <p:nvPr/>
        </p:nvGrpSpPr>
        <p:grpSpPr>
          <a:xfrm>
            <a:off x="1752979" y="3234702"/>
            <a:ext cx="8686042" cy="2942261"/>
            <a:chOff x="1344286" y="3640665"/>
            <a:chExt cx="8686042" cy="294226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F6149AD-4D6E-462B-A9A4-23E96DDB20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4286" y="3640665"/>
              <a:ext cx="4161897" cy="2942261"/>
            </a:xfrm>
            <a:prstGeom prst="rect">
              <a:avLst/>
            </a:prstGeom>
          </p:spPr>
        </p:pic>
        <p:sp>
          <p:nvSpPr>
            <p:cNvPr id="6" name="Right Arrow 4">
              <a:extLst>
                <a:ext uri="{FF2B5EF4-FFF2-40B4-BE49-F238E27FC236}">
                  <a16:creationId xmlns:a16="http://schemas.microsoft.com/office/drawing/2014/main" id="{1FFA7619-3C36-4E97-83C4-49C28022A82E}"/>
                </a:ext>
              </a:extLst>
            </p:cNvPr>
            <p:cNvSpPr/>
            <p:nvPr/>
          </p:nvSpPr>
          <p:spPr>
            <a:xfrm>
              <a:off x="5761699" y="4845533"/>
              <a:ext cx="828798" cy="46166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B9B2827-81C4-4E5D-BDDD-60FAE2609B6F}"/>
                </a:ext>
              </a:extLst>
            </p:cNvPr>
            <p:cNvGrpSpPr/>
            <p:nvPr/>
          </p:nvGrpSpPr>
          <p:grpSpPr>
            <a:xfrm>
              <a:off x="6272955" y="3865117"/>
              <a:ext cx="3757373" cy="2514828"/>
              <a:chOff x="5756930" y="3987399"/>
              <a:chExt cx="3757373" cy="2514828"/>
            </a:xfrm>
          </p:grpSpPr>
          <p:pic>
            <p:nvPicPr>
              <p:cNvPr id="8" name="Picture 11" descr="C:\Users\Hoiem\AppData\Local\Temp\wz212c\model_dog_indep.png">
                <a:extLst>
                  <a:ext uri="{FF2B5EF4-FFF2-40B4-BE49-F238E27FC236}">
                    <a16:creationId xmlns:a16="http://schemas.microsoft.com/office/drawing/2014/main" id="{844D057C-048C-4904-9566-534BEA124A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749" t="54197" r="62379" b="9649"/>
              <a:stretch/>
            </p:blipFill>
            <p:spPr bwMode="auto">
              <a:xfrm>
                <a:off x="6841244" y="4317097"/>
                <a:ext cx="1588747" cy="17234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1A43034-6C71-497E-8986-2DCB27C4C298}"/>
                  </a:ext>
                </a:extLst>
              </p:cNvPr>
              <p:cNvSpPr txBox="1"/>
              <p:nvPr/>
            </p:nvSpPr>
            <p:spPr>
              <a:xfrm>
                <a:off x="7014293" y="3987399"/>
                <a:ext cx="12426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cs typeface="+mn-ea"/>
                    <a:sym typeface="+mn-lt"/>
                  </a:rPr>
                  <a:t>Dog Model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0996CF4-22F1-4ED4-8955-EEFF7A685A2A}"/>
                  </a:ext>
                </a:extLst>
              </p:cNvPr>
              <p:cNvSpPr txBox="1"/>
              <p:nvPr/>
            </p:nvSpPr>
            <p:spPr>
              <a:xfrm>
                <a:off x="5756930" y="6040562"/>
                <a:ext cx="37573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50"/>
                    </a:solidFill>
                    <a:cs typeface="+mn-ea"/>
                    <a:sym typeface="+mn-lt"/>
                  </a:rPr>
                  <a:t>Object</a:t>
                </a:r>
                <a:r>
                  <a:rPr lang="en-US" sz="2400" dirty="0">
                    <a:cs typeface="+mn-ea"/>
                    <a:sym typeface="+mn-lt"/>
                  </a:rPr>
                  <a:t> or </a:t>
                </a:r>
                <a:r>
                  <a:rPr lang="en-US" sz="2400" b="1" dirty="0">
                    <a:solidFill>
                      <a:srgbClr val="FF0000"/>
                    </a:solidFill>
                    <a:cs typeface="+mn-ea"/>
                    <a:sym typeface="+mn-lt"/>
                  </a:rPr>
                  <a:t>Non-Object</a:t>
                </a:r>
                <a:r>
                  <a:rPr lang="en-US" sz="2400" b="1" dirty="0">
                    <a:cs typeface="+mn-ea"/>
                    <a:sym typeface="+mn-lt"/>
                  </a:rPr>
                  <a:t>?</a:t>
                </a:r>
              </a:p>
            </p:txBody>
          </p:sp>
        </p:grp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8A6F429B-3A81-4C82-9EAC-E604D4910EFE}"/>
              </a:ext>
            </a:extLst>
          </p:cNvPr>
          <p:cNvSpPr/>
          <p:nvPr/>
        </p:nvSpPr>
        <p:spPr>
          <a:xfrm>
            <a:off x="10439021" y="6550223"/>
            <a:ext cx="17491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Slide from: D. </a:t>
            </a:r>
            <a:r>
              <a:rPr lang="en-US" altLang="zh-CN" sz="1400" dirty="0" err="1">
                <a:solidFill>
                  <a:schemeClr val="tx1"/>
                </a:solidFill>
                <a:cs typeface="+mn-ea"/>
                <a:sym typeface="+mn-lt"/>
              </a:rPr>
              <a:t>Hoiem</a:t>
            </a:r>
            <a:endParaRPr lang="en-US" altLang="zh-CN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23607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5A30F-F870-4F5A-B81D-2A821945C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目标物体类建模的难点</a:t>
            </a:r>
          </a:p>
        </p:txBody>
      </p:sp>
      <p:pic>
        <p:nvPicPr>
          <p:cNvPr id="4" name="Picture 3" descr="koala12">
            <a:extLst>
              <a:ext uri="{FF2B5EF4-FFF2-40B4-BE49-F238E27FC236}">
                <a16:creationId xmlns:a16="http://schemas.microsoft.com/office/drawing/2014/main" id="{793DF0C2-E2E5-406A-AB43-5A350042C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2556" y="1690688"/>
            <a:ext cx="1603375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koala2">
            <a:extLst>
              <a:ext uri="{FF2B5EF4-FFF2-40B4-BE49-F238E27FC236}">
                <a16:creationId xmlns:a16="http://schemas.microsoft.com/office/drawing/2014/main" id="{3749A025-09A8-41F9-80BD-8CF7BDF26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36531" y="1924051"/>
            <a:ext cx="2127250" cy="1595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5">
            <a:extLst>
              <a:ext uri="{FF2B5EF4-FFF2-40B4-BE49-F238E27FC236}">
                <a16:creationId xmlns:a16="http://schemas.microsoft.com/office/drawing/2014/main" id="{4DA0AF01-24B4-4E89-9203-A18B09350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406" y="3519488"/>
            <a:ext cx="1831975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200" dirty="0">
                <a:solidFill>
                  <a:srgbClr val="000000"/>
                </a:solidFill>
                <a:cs typeface="+mn-ea"/>
                <a:sym typeface="+mn-lt"/>
              </a:rPr>
              <a:t>光照</a:t>
            </a:r>
            <a:endParaRPr lang="en-US" sz="22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pic>
        <p:nvPicPr>
          <p:cNvPr id="7" name="Picture 6" descr="koala5">
            <a:extLst>
              <a:ext uri="{FF2B5EF4-FFF2-40B4-BE49-F238E27FC236}">
                <a16:creationId xmlns:a16="http://schemas.microsoft.com/office/drawing/2014/main" id="{E27E9D64-7A04-4AC9-8548-B6954B764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36344" y="1690688"/>
            <a:ext cx="1362075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7">
            <a:extLst>
              <a:ext uri="{FF2B5EF4-FFF2-40B4-BE49-F238E27FC236}">
                <a16:creationId xmlns:a16="http://schemas.microsoft.com/office/drawing/2014/main" id="{CB410FFF-9243-4CCC-B7DD-A2A0BA842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6431" y="3519488"/>
            <a:ext cx="1831975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200" dirty="0">
                <a:solidFill>
                  <a:srgbClr val="000000"/>
                </a:solidFill>
                <a:cs typeface="+mn-ea"/>
                <a:sym typeface="+mn-lt"/>
              </a:rPr>
              <a:t>姿态</a:t>
            </a:r>
            <a:endParaRPr lang="en-US" sz="22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pic>
        <p:nvPicPr>
          <p:cNvPr id="9" name="Picture 8" descr="koala11">
            <a:extLst>
              <a:ext uri="{FF2B5EF4-FFF2-40B4-BE49-F238E27FC236}">
                <a16:creationId xmlns:a16="http://schemas.microsoft.com/office/drawing/2014/main" id="{FDE144AA-B90C-42A7-933C-DAB4FC2D6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 r="17667"/>
          <a:stretch>
            <a:fillRect/>
          </a:stretch>
        </p:blipFill>
        <p:spPr bwMode="auto">
          <a:xfrm>
            <a:off x="7600231" y="4175126"/>
            <a:ext cx="1463675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Box 9">
            <a:extLst>
              <a:ext uri="{FF2B5EF4-FFF2-40B4-BE49-F238E27FC236}">
                <a16:creationId xmlns:a16="http://schemas.microsoft.com/office/drawing/2014/main" id="{9A5B855B-0F08-496C-9F1A-CDCF50BD6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931" y="3565526"/>
            <a:ext cx="2057400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200" dirty="0">
                <a:solidFill>
                  <a:srgbClr val="000000"/>
                </a:solidFill>
                <a:cs typeface="+mn-ea"/>
                <a:sym typeface="+mn-lt"/>
              </a:rPr>
              <a:t>复杂背景</a:t>
            </a:r>
            <a:endParaRPr lang="en-US" sz="22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1" name="Text Box 12">
            <a:extLst>
              <a:ext uri="{FF2B5EF4-FFF2-40B4-BE49-F238E27FC236}">
                <a16:creationId xmlns:a16="http://schemas.microsoft.com/office/drawing/2014/main" id="{B57C2BB0-2230-4F90-9900-57B5FB14F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1770" y="6024026"/>
            <a:ext cx="269081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200" dirty="0">
                <a:solidFill>
                  <a:srgbClr val="000000"/>
                </a:solidFill>
                <a:cs typeface="+mn-ea"/>
                <a:sym typeface="+mn-lt"/>
              </a:rPr>
              <a:t>类内外观差异</a:t>
            </a:r>
            <a:endParaRPr lang="en-US" sz="22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pic>
        <p:nvPicPr>
          <p:cNvPr id="12" name="Picture 13" descr="albinokoala">
            <a:extLst>
              <a:ext uri="{FF2B5EF4-FFF2-40B4-BE49-F238E27FC236}">
                <a16:creationId xmlns:a16="http://schemas.microsoft.com/office/drawing/2014/main" id="{21BF7BFC-84F4-4F94-8FCB-53D08AB0E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072931" y="4237039"/>
            <a:ext cx="1704975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 Box 14">
            <a:extLst>
              <a:ext uri="{FF2B5EF4-FFF2-40B4-BE49-F238E27FC236}">
                <a16:creationId xmlns:a16="http://schemas.microsoft.com/office/drawing/2014/main" id="{6043087B-0782-4941-ABFE-4ACF9070A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8944" y="6027875"/>
            <a:ext cx="1831975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200" dirty="0">
                <a:solidFill>
                  <a:srgbClr val="000000"/>
                </a:solidFill>
                <a:cs typeface="+mn-ea"/>
                <a:sym typeface="+mn-lt"/>
              </a:rPr>
              <a:t>遮挡</a:t>
            </a:r>
            <a:endParaRPr lang="en-US" sz="22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pic>
        <p:nvPicPr>
          <p:cNvPr id="14" name="Picture 15" descr="koala_occlusions">
            <a:extLst>
              <a:ext uri="{FF2B5EF4-FFF2-40B4-BE49-F238E27FC236}">
                <a16:creationId xmlns:a16="http://schemas.microsoft.com/office/drawing/2014/main" id="{0388B86C-AEF0-4503-9E7C-5DE943CAC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lum bright="6000"/>
          </a:blip>
          <a:srcRect b="19913"/>
          <a:stretch>
            <a:fillRect/>
          </a:stretch>
        </p:blipFill>
        <p:spPr bwMode="auto">
          <a:xfrm>
            <a:off x="2802806" y="4247358"/>
            <a:ext cx="1401763" cy="1684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6" descr="koalas_lgbg">
            <a:extLst>
              <a:ext uri="{FF2B5EF4-FFF2-40B4-BE49-F238E27FC236}">
                <a16:creationId xmlns:a16="http://schemas.microsoft.com/office/drawing/2014/main" id="{10D8EDD0-948D-4A23-B970-067CB2BA0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 r="40761"/>
          <a:stretch>
            <a:fillRect/>
          </a:stretch>
        </p:blipFill>
        <p:spPr bwMode="auto">
          <a:xfrm>
            <a:off x="8482881" y="1690688"/>
            <a:ext cx="16256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 Box 10">
            <a:extLst>
              <a:ext uri="{FF2B5EF4-FFF2-40B4-BE49-F238E27FC236}">
                <a16:creationId xmlns:a16="http://schemas.microsoft.com/office/drawing/2014/main" id="{7B4288C7-FB6B-4BE0-A5A5-95141DB8BA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0231" y="6027875"/>
            <a:ext cx="1463676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200" dirty="0">
                <a:solidFill>
                  <a:srgbClr val="000000"/>
                </a:solidFill>
                <a:cs typeface="+mn-ea"/>
                <a:sym typeface="+mn-lt"/>
              </a:rPr>
              <a:t>视角</a:t>
            </a:r>
            <a:endParaRPr lang="en-US" sz="22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BDAD33-B796-46B6-96F6-3A9603A0F154}"/>
              </a:ext>
            </a:extLst>
          </p:cNvPr>
          <p:cNvSpPr txBox="1"/>
          <p:nvPr/>
        </p:nvSpPr>
        <p:spPr>
          <a:xfrm>
            <a:off x="9604432" y="6550223"/>
            <a:ext cx="25875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cs typeface="+mn-ea"/>
                <a:sym typeface="+mn-lt"/>
              </a:rPr>
              <a:t>Slide from K. Grauman, B. </a:t>
            </a:r>
            <a:r>
              <a:rPr lang="en-US" sz="1400" dirty="0" err="1">
                <a:cs typeface="+mn-ea"/>
                <a:sym typeface="+mn-lt"/>
              </a:rPr>
              <a:t>Leibe</a:t>
            </a:r>
            <a:endParaRPr lang="en-US" sz="14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81751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6D10C-4534-488A-9DE2-55BDE1365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非目标物体建模的难点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12" descr="C:\Users\Hoiem\Documents\Presentations\NSF Frontiers - Aug 2011\fp_display\dog_0056.png">
            <a:extLst>
              <a:ext uri="{FF2B5EF4-FFF2-40B4-BE49-F238E27FC236}">
                <a16:creationId xmlns:a16="http://schemas.microsoft.com/office/drawing/2014/main" id="{E5D20806-FD19-4335-94B5-D9A282D0DE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1" t="11518" r="9890" b="14243"/>
          <a:stretch/>
        </p:blipFill>
        <p:spPr bwMode="auto">
          <a:xfrm>
            <a:off x="5795601" y="2665381"/>
            <a:ext cx="2296349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C:\Users\Hoiem\Documents\Presentations\NSF Frontiers - Aug 2011\fp_display\dog_fp_0038.jpg">
            <a:extLst>
              <a:ext uri="{FF2B5EF4-FFF2-40B4-BE49-F238E27FC236}">
                <a16:creationId xmlns:a16="http://schemas.microsoft.com/office/drawing/2014/main" id="{770D5F73-FE58-447E-9B70-7A11A1D00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0505" y="2720114"/>
            <a:ext cx="2494031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F9010C-C209-42F2-BBD3-298360C2387A}"/>
              </a:ext>
            </a:extLst>
          </p:cNvPr>
          <p:cNvSpPr txBox="1"/>
          <p:nvPr/>
        </p:nvSpPr>
        <p:spPr>
          <a:xfrm>
            <a:off x="6248676" y="2195203"/>
            <a:ext cx="1483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cs typeface="+mn-ea"/>
                <a:sym typeface="+mn-lt"/>
              </a:rPr>
              <a:t>定位误差</a:t>
            </a:r>
            <a:endParaRPr lang="en-US" b="1" dirty="0">
              <a:cs typeface="+mn-ea"/>
              <a:sym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E8704F-7940-48F6-BA2B-703AF8F4EE31}"/>
              </a:ext>
            </a:extLst>
          </p:cNvPr>
          <p:cNvSpPr txBox="1"/>
          <p:nvPr/>
        </p:nvSpPr>
        <p:spPr>
          <a:xfrm>
            <a:off x="8638772" y="2284372"/>
            <a:ext cx="2057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cs typeface="+mn-ea"/>
                <a:sym typeface="+mn-lt"/>
              </a:rPr>
              <a:t>相似物体类</a:t>
            </a:r>
            <a:endParaRPr lang="en-US" b="1" dirty="0">
              <a:cs typeface="+mn-ea"/>
              <a:sym typeface="+mn-lt"/>
            </a:endParaRPr>
          </a:p>
        </p:txBody>
      </p:sp>
      <p:pic>
        <p:nvPicPr>
          <p:cNvPr id="8" name="Picture 5" descr="C:\Users\Hoiem\Documents\Presentations\NSF Frontiers - Aug 2011\fp_display\dog_fp_0040.jpg">
            <a:extLst>
              <a:ext uri="{FF2B5EF4-FFF2-40B4-BE49-F238E27FC236}">
                <a16:creationId xmlns:a16="http://schemas.microsoft.com/office/drawing/2014/main" id="{4FABC66D-242B-402B-97EA-D2E617C23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3915" y="5232843"/>
            <a:ext cx="831359" cy="130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3815AE-F139-46C0-A017-7B6F21FC201F}"/>
              </a:ext>
            </a:extLst>
          </p:cNvPr>
          <p:cNvSpPr txBox="1"/>
          <p:nvPr/>
        </p:nvSpPr>
        <p:spPr>
          <a:xfrm>
            <a:off x="7601530" y="4781522"/>
            <a:ext cx="2421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cs typeface="+mn-ea"/>
                <a:sym typeface="+mn-lt"/>
              </a:rPr>
              <a:t>非相似物体</a:t>
            </a:r>
            <a:endParaRPr lang="en-US" b="1" dirty="0">
              <a:cs typeface="+mn-ea"/>
              <a:sym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EDC7FC-6712-4098-B9C7-43AE4BA6C558}"/>
              </a:ext>
            </a:extLst>
          </p:cNvPr>
          <p:cNvSpPr txBox="1"/>
          <p:nvPr/>
        </p:nvSpPr>
        <p:spPr>
          <a:xfrm>
            <a:off x="5136462" y="4895240"/>
            <a:ext cx="1811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cs typeface="+mn-ea"/>
                <a:sym typeface="+mn-lt"/>
              </a:rPr>
              <a:t>错误检测的背景</a:t>
            </a:r>
            <a:endParaRPr lang="en-US" b="1" dirty="0">
              <a:cs typeface="+mn-ea"/>
              <a:sym typeface="+mn-lt"/>
            </a:endParaRPr>
          </a:p>
        </p:txBody>
      </p:sp>
      <p:pic>
        <p:nvPicPr>
          <p:cNvPr id="11" name="Picture 6" descr="C:\Users\Hoiem\Documents\Presentations\NSF Frontiers - Aug 2011\fp_display\dog_fp_0013.jpg">
            <a:extLst>
              <a:ext uri="{FF2B5EF4-FFF2-40B4-BE49-F238E27FC236}">
                <a16:creationId xmlns:a16="http://schemas.microsoft.com/office/drawing/2014/main" id="{AAE6F474-C839-4D3C-84B5-C85F8997D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9479" y="5343721"/>
            <a:ext cx="613253" cy="961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7" descr="C:\Users\Hoiem\Documents\Presentations\NSF Frontiers - Aug 2011\fp_display\dog_fp_0034.jpg">
            <a:extLst>
              <a:ext uri="{FF2B5EF4-FFF2-40B4-BE49-F238E27FC236}">
                <a16:creationId xmlns:a16="http://schemas.microsoft.com/office/drawing/2014/main" id="{05984E63-9BB7-4875-AF7F-829269448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4882" y="5365418"/>
            <a:ext cx="961316" cy="961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C:\Users\Hoiem\Documents\Presentations\NSF Frontiers - Aug 2011\fp_display\dog_fp_0026.jpg">
            <a:extLst>
              <a:ext uri="{FF2B5EF4-FFF2-40B4-BE49-F238E27FC236}">
                <a16:creationId xmlns:a16="http://schemas.microsoft.com/office/drawing/2014/main" id="{9F902321-DC5A-4ACB-88B7-4C4367FB6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9075" y="5343721"/>
            <a:ext cx="1462455" cy="983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C:\Users\Hoiem\Documents\Presentations\NSF Frontiers - Aug 2011\fp_display\dog_tp_0011.jpg">
            <a:extLst>
              <a:ext uri="{FF2B5EF4-FFF2-40B4-BE49-F238E27FC236}">
                <a16:creationId xmlns:a16="http://schemas.microsoft.com/office/drawing/2014/main" id="{4AA190A5-9F2D-4E94-BA4D-05EF69B84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538520" y="2316621"/>
            <a:ext cx="1830959" cy="1806867"/>
          </a:xfrm>
          <a:prstGeom prst="rect">
            <a:avLst/>
          </a:prstGeom>
          <a:noFill/>
          <a:ln w="3810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7" descr="C:\Users\Hoiem\Documents\Presentations\NSF Frontiers - Aug 2011\fp_display\dog_tp_0017.jpg">
            <a:extLst>
              <a:ext uri="{FF2B5EF4-FFF2-40B4-BE49-F238E27FC236}">
                <a16:creationId xmlns:a16="http://schemas.microsoft.com/office/drawing/2014/main" id="{286FAB76-7371-4873-83A4-97D12AE79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484" y="4318443"/>
            <a:ext cx="1161641" cy="1828800"/>
          </a:xfrm>
          <a:prstGeom prst="rect">
            <a:avLst/>
          </a:prstGeom>
          <a:noFill/>
          <a:ln w="3810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A765F05-E58D-4406-ABB9-73EFE010CD4D}"/>
              </a:ext>
            </a:extLst>
          </p:cNvPr>
          <p:cNvCxnSpPr/>
          <p:nvPr/>
        </p:nvCxnSpPr>
        <p:spPr>
          <a:xfrm flipH="1">
            <a:off x="3512244" y="1997389"/>
            <a:ext cx="2283357" cy="45418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8C04CCE-B2BB-4DB2-9D0E-27F94B79F511}"/>
              </a:ext>
            </a:extLst>
          </p:cNvPr>
          <p:cNvSpPr txBox="1"/>
          <p:nvPr/>
        </p:nvSpPr>
        <p:spPr>
          <a:xfrm>
            <a:off x="887340" y="3477157"/>
            <a:ext cx="1483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cs typeface="+mn-ea"/>
                <a:sym typeface="+mn-lt"/>
              </a:rPr>
              <a:t>正确检测</a:t>
            </a:r>
            <a:endParaRPr lang="en-US" b="1" dirty="0">
              <a:cs typeface="+mn-ea"/>
              <a:sym typeface="+mn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2DCD50-3BD3-4C72-87D3-C2A8C93EE9C3}"/>
              </a:ext>
            </a:extLst>
          </p:cNvPr>
          <p:cNvSpPr/>
          <p:nvPr/>
        </p:nvSpPr>
        <p:spPr>
          <a:xfrm>
            <a:off x="10442803" y="6539264"/>
            <a:ext cx="17491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Slide from: D. </a:t>
            </a:r>
            <a:r>
              <a:rPr lang="en-US" altLang="zh-CN" sz="1400" dirty="0" err="1">
                <a:solidFill>
                  <a:schemeClr val="tx1"/>
                </a:solidFill>
                <a:cs typeface="+mn-ea"/>
                <a:sym typeface="+mn-lt"/>
              </a:rPr>
              <a:t>Hoiem</a:t>
            </a:r>
            <a:endParaRPr lang="en-US" altLang="zh-CN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27506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6D56D-81CD-4B1D-AABE-33A115B06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构建目标检测器的难点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212BD-2DD6-439B-8242-898B15168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96933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cs typeface="+mn-ea"/>
                <a:sym typeface="+mn-lt"/>
              </a:rPr>
              <a:t>特征与分类器</a:t>
            </a:r>
            <a:endParaRPr lang="en-US" altLang="zh-CN" b="1" dirty="0"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设计合适的特征来表示目标？</a:t>
            </a: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选择合适的分类器进行建模？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cs typeface="+mn-ea"/>
                <a:sym typeface="+mn-lt"/>
              </a:rPr>
              <a:t>如何快速查找可能目标？</a:t>
            </a:r>
            <a:endParaRPr lang="en-US" altLang="zh-CN" b="1" dirty="0"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需要对大量的候选框进行判断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9C79F44-E008-415B-8524-49A26C7C57E3}"/>
              </a:ext>
            </a:extLst>
          </p:cNvPr>
          <p:cNvGrpSpPr/>
          <p:nvPr/>
        </p:nvGrpSpPr>
        <p:grpSpPr>
          <a:xfrm>
            <a:off x="7162307" y="1686461"/>
            <a:ext cx="3657600" cy="4374804"/>
            <a:chOff x="7867850" y="1825625"/>
            <a:chExt cx="3657600" cy="4374804"/>
          </a:xfrm>
        </p:grpSpPr>
        <p:sp>
          <p:nvSpPr>
            <p:cNvPr id="5" name="Rounded Rectangle 107">
              <a:extLst>
                <a:ext uri="{FF2B5EF4-FFF2-40B4-BE49-F238E27FC236}">
                  <a16:creationId xmlns:a16="http://schemas.microsoft.com/office/drawing/2014/main" id="{045CF1C9-BA3F-4E83-B129-E021F65342C8}"/>
                </a:ext>
              </a:extLst>
            </p:cNvPr>
            <p:cNvSpPr/>
            <p:nvPr/>
          </p:nvSpPr>
          <p:spPr>
            <a:xfrm>
              <a:off x="7867850" y="1825625"/>
              <a:ext cx="3657600" cy="63976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800" b="1" dirty="0">
                  <a:cs typeface="+mn-ea"/>
                  <a:sym typeface="+mn-lt"/>
                </a:rPr>
                <a:t>载入目标检测器</a:t>
              </a:r>
              <a:endParaRPr lang="en-US" sz="2800" b="1" dirty="0">
                <a:cs typeface="+mn-ea"/>
                <a:sym typeface="+mn-lt"/>
              </a:endParaRPr>
            </a:p>
          </p:txBody>
        </p:sp>
        <p:sp>
          <p:nvSpPr>
            <p:cNvPr id="6" name="Rounded Rectangle 108">
              <a:extLst>
                <a:ext uri="{FF2B5EF4-FFF2-40B4-BE49-F238E27FC236}">
                  <a16:creationId xmlns:a16="http://schemas.microsoft.com/office/drawing/2014/main" id="{1A68B3BD-1EFF-49D5-8F5F-4756E3DF8EB7}"/>
                </a:ext>
              </a:extLst>
            </p:cNvPr>
            <p:cNvSpPr/>
            <p:nvPr/>
          </p:nvSpPr>
          <p:spPr>
            <a:xfrm>
              <a:off x="7867850" y="2908788"/>
              <a:ext cx="3657600" cy="63976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800" b="1" dirty="0">
                  <a:cs typeface="+mn-ea"/>
                  <a:sym typeface="+mn-lt"/>
                </a:rPr>
                <a:t>生成候选框</a:t>
              </a:r>
              <a:endParaRPr lang="en-US" sz="2800" b="1" dirty="0">
                <a:cs typeface="+mn-ea"/>
                <a:sym typeface="+mn-lt"/>
              </a:endParaRPr>
            </a:p>
          </p:txBody>
        </p:sp>
        <p:sp>
          <p:nvSpPr>
            <p:cNvPr id="7" name="Rounded Rectangle 109">
              <a:extLst>
                <a:ext uri="{FF2B5EF4-FFF2-40B4-BE49-F238E27FC236}">
                  <a16:creationId xmlns:a16="http://schemas.microsoft.com/office/drawing/2014/main" id="{67E80CEC-81CA-4127-B800-3AE1BA57395F}"/>
                </a:ext>
              </a:extLst>
            </p:cNvPr>
            <p:cNvSpPr/>
            <p:nvPr/>
          </p:nvSpPr>
          <p:spPr>
            <a:xfrm>
              <a:off x="7867850" y="3956825"/>
              <a:ext cx="3657600" cy="63976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800" b="1" dirty="0">
                  <a:cs typeface="+mn-ea"/>
                  <a:sym typeface="+mn-lt"/>
                </a:rPr>
                <a:t>对候选框打分</a:t>
              </a:r>
              <a:endParaRPr lang="en-US" sz="2800" b="1" dirty="0">
                <a:cs typeface="+mn-ea"/>
                <a:sym typeface="+mn-lt"/>
              </a:endParaRPr>
            </a:p>
          </p:txBody>
        </p:sp>
        <p:sp>
          <p:nvSpPr>
            <p:cNvPr id="8" name="Rounded Rectangle 110">
              <a:extLst>
                <a:ext uri="{FF2B5EF4-FFF2-40B4-BE49-F238E27FC236}">
                  <a16:creationId xmlns:a16="http://schemas.microsoft.com/office/drawing/2014/main" id="{2140693A-5897-46A1-B881-5DE78DEC1653}"/>
                </a:ext>
              </a:extLst>
            </p:cNvPr>
            <p:cNvSpPr/>
            <p:nvPr/>
          </p:nvSpPr>
          <p:spPr>
            <a:xfrm>
              <a:off x="7867850" y="5031641"/>
              <a:ext cx="3657600" cy="63976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800" b="1" dirty="0">
                  <a:cs typeface="+mn-ea"/>
                  <a:sym typeface="+mn-lt"/>
                </a:rPr>
                <a:t>最终的检测结果</a:t>
              </a:r>
              <a:endParaRPr lang="en-US" sz="2800" b="1" dirty="0">
                <a:cs typeface="+mn-ea"/>
                <a:sym typeface="+mn-lt"/>
              </a:endParaRPr>
            </a:p>
          </p:txBody>
        </p:sp>
        <p:sp>
          <p:nvSpPr>
            <p:cNvPr id="9" name="Down Arrow 111">
              <a:extLst>
                <a:ext uri="{FF2B5EF4-FFF2-40B4-BE49-F238E27FC236}">
                  <a16:creationId xmlns:a16="http://schemas.microsoft.com/office/drawing/2014/main" id="{1A6145E1-9718-4A31-B807-00AFC4C7C837}"/>
                </a:ext>
              </a:extLst>
            </p:cNvPr>
            <p:cNvSpPr/>
            <p:nvPr/>
          </p:nvSpPr>
          <p:spPr>
            <a:xfrm>
              <a:off x="9468050" y="2521538"/>
              <a:ext cx="304800" cy="3048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cs typeface="+mn-ea"/>
                <a:sym typeface="+mn-lt"/>
              </a:endParaRPr>
            </a:p>
          </p:txBody>
        </p:sp>
        <p:sp>
          <p:nvSpPr>
            <p:cNvPr id="10" name="Down Arrow 113">
              <a:extLst>
                <a:ext uri="{FF2B5EF4-FFF2-40B4-BE49-F238E27FC236}">
                  <a16:creationId xmlns:a16="http://schemas.microsoft.com/office/drawing/2014/main" id="{EF8851A0-91E4-4EC7-BB5F-5DE472F0B7C1}"/>
                </a:ext>
              </a:extLst>
            </p:cNvPr>
            <p:cNvSpPr/>
            <p:nvPr/>
          </p:nvSpPr>
          <p:spPr>
            <a:xfrm>
              <a:off x="9468050" y="3587538"/>
              <a:ext cx="304800" cy="3048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cs typeface="+mn-ea"/>
                <a:sym typeface="+mn-lt"/>
              </a:endParaRPr>
            </a:p>
          </p:txBody>
        </p:sp>
        <p:sp>
          <p:nvSpPr>
            <p:cNvPr id="11" name="Down Arrow 114">
              <a:extLst>
                <a:ext uri="{FF2B5EF4-FFF2-40B4-BE49-F238E27FC236}">
                  <a16:creationId xmlns:a16="http://schemas.microsoft.com/office/drawing/2014/main" id="{7E27AB30-A564-4357-8565-D85449BBA56C}"/>
                </a:ext>
              </a:extLst>
            </p:cNvPr>
            <p:cNvSpPr/>
            <p:nvPr/>
          </p:nvSpPr>
          <p:spPr>
            <a:xfrm>
              <a:off x="9468050" y="4659481"/>
              <a:ext cx="304800" cy="3048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cs typeface="+mn-ea"/>
                <a:sym typeface="+mn-lt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3BF6571-ED8F-4B79-9507-98C636002250}"/>
                </a:ext>
              </a:extLst>
            </p:cNvPr>
            <p:cNvSpPr/>
            <p:nvPr/>
          </p:nvSpPr>
          <p:spPr>
            <a:xfrm>
              <a:off x="8222649" y="5738764"/>
              <a:ext cx="295465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>
                  <a:cs typeface="+mn-ea"/>
                  <a:sym typeface="+mn-lt"/>
                </a:rPr>
                <a:t>目标检测的通用流程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876C421-BDF2-4291-9F6B-A3BDB02EF5D3}"/>
              </a:ext>
            </a:extLst>
          </p:cNvPr>
          <p:cNvSpPr/>
          <p:nvPr/>
        </p:nvSpPr>
        <p:spPr>
          <a:xfrm>
            <a:off x="10442803" y="6550223"/>
            <a:ext cx="17491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Slide from: D. </a:t>
            </a:r>
            <a:r>
              <a:rPr lang="en-US" altLang="zh-CN" sz="1400" dirty="0" err="1">
                <a:solidFill>
                  <a:schemeClr val="tx1"/>
                </a:solidFill>
                <a:cs typeface="+mn-ea"/>
                <a:sym typeface="+mn-lt"/>
              </a:rPr>
              <a:t>Hoiem</a:t>
            </a:r>
            <a:endParaRPr lang="en-US" altLang="zh-CN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92459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E8855-5F68-482E-8366-71D37F8AA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滑动窗口法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AF845A-39CF-4C39-B301-90F949B08A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48867" y="1867959"/>
                <a:ext cx="5757333" cy="4351338"/>
              </a:xfrm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物体外观比例相对固定，通过固定尺寸的检测框</a:t>
                </a:r>
                <a:r>
                  <a:rPr lang="en-US" altLang="zh-CN" dirty="0">
                    <a:cs typeface="+mn-ea"/>
                    <a:sym typeface="+mn-lt"/>
                  </a:rPr>
                  <a:t>(n*m)</a:t>
                </a:r>
                <a:r>
                  <a:rPr lang="zh-CN" altLang="en-US" dirty="0">
                    <a:cs typeface="+mn-ea"/>
                    <a:sym typeface="+mn-lt"/>
                  </a:rPr>
                  <a:t>进行检测</a:t>
                </a:r>
                <a:endParaRPr lang="en-US" altLang="zh-CN" dirty="0">
                  <a:cs typeface="+mn-ea"/>
                  <a:sym typeface="+mn-lt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在</a:t>
                </a:r>
                <a:r>
                  <a:rPr lang="en-US" altLang="zh-CN" dirty="0">
                    <a:cs typeface="+mn-ea"/>
                    <a:sym typeface="+mn-lt"/>
                  </a:rPr>
                  <a:t>x, y</a:t>
                </a:r>
                <a:r>
                  <a:rPr lang="zh-CN" altLang="en-US" dirty="0">
                    <a:cs typeface="+mn-ea"/>
                    <a:sym typeface="+mn-lt"/>
                  </a:rPr>
                  <a:t>方向分别按照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 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𝑦</m:t>
                    </m:r>
                  </m:oMath>
                </a14:m>
                <a:r>
                  <a:rPr lang="zh-CN" altLang="en-US" dirty="0">
                    <a:cs typeface="+mn-ea"/>
                    <a:sym typeface="+mn-lt"/>
                  </a:rPr>
                  <a:t>的步长进行滑动</a:t>
                </a:r>
                <a:endParaRPr lang="en-US" altLang="zh-CN" dirty="0">
                  <a:cs typeface="+mn-ea"/>
                  <a:sym typeface="+mn-lt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对滑动过程中的每一个检测框进行判断</a:t>
                </a:r>
                <a:endParaRPr lang="en-US" altLang="zh-CN" dirty="0">
                  <a:cs typeface="+mn-ea"/>
                  <a:sym typeface="+mn-lt"/>
                </a:endParaRP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AF845A-39CF-4C39-B301-90F949B08A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48867" y="1867959"/>
                <a:ext cx="5757333" cy="4351338"/>
              </a:xfrm>
              <a:blipFill>
                <a:blip r:embed="rId2"/>
                <a:stretch>
                  <a:fillRect l="-1905" t="-980" r="-14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4">
            <a:extLst>
              <a:ext uri="{FF2B5EF4-FFF2-40B4-BE49-F238E27FC236}">
                <a16:creationId xmlns:a16="http://schemas.microsoft.com/office/drawing/2014/main" id="{666270B3-1EA1-4F7F-85D6-56F1D84723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3793" y="2216150"/>
            <a:ext cx="3944938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AutoShape 5">
            <a:extLst>
              <a:ext uri="{FF2B5EF4-FFF2-40B4-BE49-F238E27FC236}">
                <a16:creationId xmlns:a16="http://schemas.microsoft.com/office/drawing/2014/main" id="{9AB3EAA1-E1E1-42F1-8926-DBB5ACD9D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3793" y="2216150"/>
            <a:ext cx="623888" cy="68580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9893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4.07407E-6 L 0.28841 4.07407E-6 L 0.28789 0.05162 L 0.00365 0.05162 L 0.00365 0.10763 L 0.14701 0.1074 " pathEditMode="relative" rAng="0" ptsTypes="AAAAAA">
                                      <p:cBhvr>
                                        <p:cTn id="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14" y="5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C1437-9CA7-46C2-B271-8BA72D0A0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尺度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C5427-114F-4821-8050-F1478EB94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zh-CN" altLang="en-US" b="1" dirty="0">
                <a:cs typeface="+mn-ea"/>
                <a:sym typeface="+mn-lt"/>
              </a:rPr>
              <a:t>两种常用的处理不同目标尺度大小的方法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32ECE8B-49C3-40EA-9991-F3D15EA1350B}"/>
              </a:ext>
            </a:extLst>
          </p:cNvPr>
          <p:cNvGrpSpPr/>
          <p:nvPr/>
        </p:nvGrpSpPr>
        <p:grpSpPr>
          <a:xfrm>
            <a:off x="1327796" y="2725824"/>
            <a:ext cx="9536408" cy="3341068"/>
            <a:chOff x="1058334" y="2970832"/>
            <a:chExt cx="9536408" cy="334106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79B5F2E-0B93-4A29-BA7A-5F402F0A5704}"/>
                </a:ext>
              </a:extLst>
            </p:cNvPr>
            <p:cNvGrpSpPr/>
            <p:nvPr/>
          </p:nvGrpSpPr>
          <p:grpSpPr>
            <a:xfrm>
              <a:off x="1058334" y="2970832"/>
              <a:ext cx="5926138" cy="3341068"/>
              <a:chOff x="1248161" y="2534799"/>
              <a:chExt cx="5926138" cy="3341068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61725126-4717-472C-85DD-5AAF19DD2B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48161" y="2971599"/>
                <a:ext cx="5926138" cy="2904268"/>
              </a:xfrm>
              <a:prstGeom prst="rect">
                <a:avLst/>
              </a:prstGeom>
            </p:spPr>
          </p:pic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57FC3CA-4F0D-4FF7-AFB1-7B66C05D866C}"/>
                  </a:ext>
                </a:extLst>
              </p:cNvPr>
              <p:cNvSpPr/>
              <p:nvPr/>
            </p:nvSpPr>
            <p:spPr>
              <a:xfrm>
                <a:off x="4893734" y="2534799"/>
                <a:ext cx="170180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b="1" dirty="0">
                    <a:solidFill>
                      <a:srgbClr val="000000"/>
                    </a:solidFill>
                    <a:cs typeface="+mn-ea"/>
                    <a:sym typeface="+mn-lt"/>
                  </a:rPr>
                  <a:t>Image Pyramid</a:t>
                </a:r>
                <a:r>
                  <a:rPr lang="en-US" altLang="zh-CN" dirty="0">
                    <a:cs typeface="+mn-ea"/>
                    <a:sym typeface="+mn-lt"/>
                  </a:rPr>
                  <a:t> </a:t>
                </a:r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26A4780-9B69-4338-807E-3A7BF8C47E51}"/>
                </a:ext>
              </a:extLst>
            </p:cNvPr>
            <p:cNvGrpSpPr/>
            <p:nvPr/>
          </p:nvGrpSpPr>
          <p:grpSpPr>
            <a:xfrm>
              <a:off x="7537599" y="3340164"/>
              <a:ext cx="3057143" cy="2654565"/>
              <a:chOff x="8120865" y="2534799"/>
              <a:chExt cx="3057143" cy="2654565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0AC533E-8F08-4A0C-B355-F93A6980052F}"/>
                  </a:ext>
                </a:extLst>
              </p:cNvPr>
              <p:cNvGrpSpPr/>
              <p:nvPr/>
            </p:nvGrpSpPr>
            <p:grpSpPr>
              <a:xfrm>
                <a:off x="8120865" y="2990106"/>
                <a:ext cx="3057143" cy="2199258"/>
                <a:chOff x="8163229" y="2958912"/>
                <a:chExt cx="3057143" cy="2199258"/>
              </a:xfrm>
            </p:grpSpPr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014F03B9-0ED4-4318-B6B3-16D21D1FE6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163229" y="2958912"/>
                  <a:ext cx="3057143" cy="1419048"/>
                </a:xfrm>
                <a:prstGeom prst="rect">
                  <a:avLst/>
                </a:prstGeom>
              </p:spPr>
            </p:pic>
            <p:sp>
              <p:nvSpPr>
                <p:cNvPr id="11" name="object 12">
                  <a:extLst>
                    <a:ext uri="{FF2B5EF4-FFF2-40B4-BE49-F238E27FC236}">
                      <a16:creationId xmlns:a16="http://schemas.microsoft.com/office/drawing/2014/main" id="{FF42988F-4BC9-415F-B870-40AF70752D7C}"/>
                    </a:ext>
                  </a:extLst>
                </p:cNvPr>
                <p:cNvSpPr/>
                <p:nvPr/>
              </p:nvSpPr>
              <p:spPr>
                <a:xfrm>
                  <a:off x="8442559" y="4912529"/>
                  <a:ext cx="361315" cy="2114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1315" h="211454">
                      <a:moveTo>
                        <a:pt x="179831" y="0"/>
                      </a:moveTo>
                      <a:lnTo>
                        <a:pt x="0" y="204978"/>
                      </a:lnTo>
                      <a:lnTo>
                        <a:pt x="179831" y="211074"/>
                      </a:lnTo>
                      <a:lnTo>
                        <a:pt x="361187" y="0"/>
                      </a:lnTo>
                      <a:lnTo>
                        <a:pt x="179831" y="0"/>
                      </a:lnTo>
                      <a:close/>
                    </a:path>
                  </a:pathLst>
                </a:custGeom>
                <a:ln w="10871">
                  <a:solidFill>
                    <a:srgbClr val="FF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grpSp>
              <p:nvGrpSpPr>
                <p:cNvPr id="12" name="object 13">
                  <a:extLst>
                    <a:ext uri="{FF2B5EF4-FFF2-40B4-BE49-F238E27FC236}">
                      <a16:creationId xmlns:a16="http://schemas.microsoft.com/office/drawing/2014/main" id="{A13FE863-A40B-4765-B985-EC75E35DB21D}"/>
                    </a:ext>
                  </a:extLst>
                </p:cNvPr>
                <p:cNvGrpSpPr/>
                <p:nvPr/>
              </p:nvGrpSpPr>
              <p:grpSpPr>
                <a:xfrm>
                  <a:off x="8967546" y="4584765"/>
                  <a:ext cx="1673860" cy="573405"/>
                  <a:chOff x="7069607" y="5417718"/>
                  <a:chExt cx="1673860" cy="573405"/>
                </a:xfrm>
              </p:grpSpPr>
              <p:sp>
                <p:nvSpPr>
                  <p:cNvPr id="13" name="object 14">
                    <a:extLst>
                      <a:ext uri="{FF2B5EF4-FFF2-40B4-BE49-F238E27FC236}">
                        <a16:creationId xmlns:a16="http://schemas.microsoft.com/office/drawing/2014/main" id="{C5DED5DA-858D-49C4-888C-68632F486A2E}"/>
                      </a:ext>
                    </a:extLst>
                  </p:cNvPr>
                  <p:cNvSpPr/>
                  <p:nvPr/>
                </p:nvSpPr>
                <p:spPr>
                  <a:xfrm>
                    <a:off x="7774571" y="5423154"/>
                    <a:ext cx="963294" cy="562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63295" h="562610">
                        <a:moveTo>
                          <a:pt x="479298" y="0"/>
                        </a:moveTo>
                        <a:lnTo>
                          <a:pt x="0" y="546354"/>
                        </a:lnTo>
                        <a:lnTo>
                          <a:pt x="479298" y="562356"/>
                        </a:lnTo>
                        <a:lnTo>
                          <a:pt x="963168" y="0"/>
                        </a:lnTo>
                        <a:lnTo>
                          <a:pt x="479298" y="0"/>
                        </a:lnTo>
                        <a:close/>
                      </a:path>
                    </a:pathLst>
                  </a:custGeom>
                  <a:ln w="10871">
                    <a:solidFill>
                      <a:srgbClr val="0070C0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" name="object 15">
                    <a:extLst>
                      <a:ext uri="{FF2B5EF4-FFF2-40B4-BE49-F238E27FC236}">
                        <a16:creationId xmlns:a16="http://schemas.microsoft.com/office/drawing/2014/main" id="{172B4857-C2CF-4487-B14C-93B5B839E22D}"/>
                      </a:ext>
                    </a:extLst>
                  </p:cNvPr>
                  <p:cNvSpPr/>
                  <p:nvPr/>
                </p:nvSpPr>
                <p:spPr>
                  <a:xfrm>
                    <a:off x="7075042" y="5566410"/>
                    <a:ext cx="718820" cy="419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8820" h="419100">
                        <a:moveTo>
                          <a:pt x="357377" y="0"/>
                        </a:moveTo>
                        <a:lnTo>
                          <a:pt x="0" y="406908"/>
                        </a:lnTo>
                        <a:lnTo>
                          <a:pt x="357377" y="419100"/>
                        </a:lnTo>
                        <a:lnTo>
                          <a:pt x="718565" y="0"/>
                        </a:lnTo>
                        <a:lnTo>
                          <a:pt x="357377" y="0"/>
                        </a:lnTo>
                        <a:close/>
                      </a:path>
                    </a:pathLst>
                  </a:custGeom>
                  <a:ln w="10871">
                    <a:solidFill>
                      <a:srgbClr val="00B050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</p:grpSp>
          </p:grp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58F52F4-668D-4C0C-BBD5-08DF90F9F22C}"/>
                  </a:ext>
                </a:extLst>
              </p:cNvPr>
              <p:cNvSpPr/>
              <p:nvPr/>
            </p:nvSpPr>
            <p:spPr>
              <a:xfrm>
                <a:off x="8798536" y="2534799"/>
                <a:ext cx="170180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b="1" dirty="0">
                    <a:solidFill>
                      <a:srgbClr val="000000"/>
                    </a:solidFill>
                    <a:cs typeface="+mn-ea"/>
                    <a:sym typeface="+mn-lt"/>
                  </a:rPr>
                  <a:t>Filter Pyramid</a:t>
                </a:r>
                <a:r>
                  <a:rPr lang="en-US" altLang="zh-CN" dirty="0">
                    <a:cs typeface="+mn-ea"/>
                    <a:sym typeface="+mn-lt"/>
                  </a:rPr>
                  <a:t> </a:t>
                </a:r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23119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2DE9-2849-42BB-91B4-1D4F860D7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滑动窗口 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+ 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尺度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F7FBD-8490-4A0B-BD70-D0BF75612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362AF9B-82B0-4379-A4D9-BDA928CB1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7437" y="1650206"/>
            <a:ext cx="7477125" cy="470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9280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D3FA5-DD48-4A3E-9EDF-1DDEF693B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提纲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7F4FE-4C3B-4452-A577-4E91A120E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cs typeface="+mn-ea"/>
                <a:sym typeface="+mn-lt"/>
              </a:rPr>
              <a:t>目标检测简介</a:t>
            </a:r>
            <a:endParaRPr lang="en-US" altLang="zh-CN" b="1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B0F0"/>
                </a:solidFill>
                <a:cs typeface="+mn-ea"/>
                <a:sym typeface="+mn-lt"/>
              </a:rPr>
              <a:t>人脸检测与识别</a:t>
            </a:r>
            <a:endParaRPr lang="en-US" altLang="zh-CN" b="1" dirty="0">
              <a:solidFill>
                <a:srgbClr val="00B0F0"/>
              </a:solidFill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solidFill>
                  <a:srgbClr val="00B0F0"/>
                </a:solidFill>
                <a:cs typeface="+mn-ea"/>
                <a:sym typeface="+mn-lt"/>
              </a:rPr>
              <a:t>Viola/Jones</a:t>
            </a:r>
            <a:r>
              <a:rPr lang="zh-CN" altLang="en-US" dirty="0">
                <a:solidFill>
                  <a:srgbClr val="00B0F0"/>
                </a:solidFill>
                <a:cs typeface="+mn-ea"/>
                <a:sym typeface="+mn-lt"/>
              </a:rPr>
              <a:t>人脸检测器</a:t>
            </a:r>
            <a:endParaRPr lang="en-US" altLang="zh-CN" dirty="0">
              <a:solidFill>
                <a:srgbClr val="00B0F0"/>
              </a:solidFill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LBP</a:t>
            </a:r>
            <a:r>
              <a:rPr lang="zh-CN" altLang="en-US" dirty="0">
                <a:cs typeface="+mn-ea"/>
                <a:sym typeface="+mn-lt"/>
              </a:rPr>
              <a:t>人脸识别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cs typeface="+mn-ea"/>
                <a:sym typeface="+mn-lt"/>
              </a:rPr>
              <a:t>行人检测</a:t>
            </a:r>
          </a:p>
        </p:txBody>
      </p:sp>
    </p:spTree>
    <p:extLst>
      <p:ext uri="{BB962C8B-B14F-4D97-AF65-F5344CB8AC3E}">
        <p14:creationId xmlns:p14="http://schemas.microsoft.com/office/powerpoint/2010/main" val="2073418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16B1E-B0A1-40E4-8A42-5001A135D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人脸检测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F134C-51F0-4CA8-AC1D-007137930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Picture 3" descr="fast.gif">
            <a:extLst>
              <a:ext uri="{FF2B5EF4-FFF2-40B4-BE49-F238E27FC236}">
                <a16:creationId xmlns:a16="http://schemas.microsoft.com/office/drawing/2014/main" id="{C178EFC2-345C-4D21-9F51-5C6D721B885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76699" y="2015044"/>
            <a:ext cx="4038600" cy="3028950"/>
          </a:xfrm>
          <a:prstGeom prst="rect">
            <a:avLst/>
          </a:prstGeom>
        </p:spPr>
      </p:pic>
      <p:sp>
        <p:nvSpPr>
          <p:cNvPr id="5" name="Text Box 8">
            <a:extLst>
              <a:ext uri="{FF2B5EF4-FFF2-40B4-BE49-F238E27FC236}">
                <a16:creationId xmlns:a16="http://schemas.microsoft.com/office/drawing/2014/main" id="{EE6CA6A9-14E8-4DBB-B881-B34D102A1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3207" y="5233413"/>
            <a:ext cx="494558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 b="0" dirty="0">
                <a:cs typeface="+mn-ea"/>
                <a:sym typeface="+mn-lt"/>
              </a:rPr>
              <a:t>Behold a state-of-the-art face detector!</a:t>
            </a:r>
          </a:p>
          <a:p>
            <a:pPr algn="ctr"/>
            <a:r>
              <a:rPr lang="en-US" sz="2400" b="0" dirty="0">
                <a:cs typeface="+mn-ea"/>
                <a:sym typeface="+mn-lt"/>
              </a:rPr>
              <a:t>(Courtesy </a:t>
            </a:r>
            <a:r>
              <a:rPr lang="en-US" sz="2400" b="0" dirty="0">
                <a:cs typeface="+mn-ea"/>
                <a:sym typeface="+mn-lt"/>
                <a:hlinkClick r:id="rId3"/>
              </a:rPr>
              <a:t>Boris </a:t>
            </a:r>
            <a:r>
              <a:rPr lang="en-US" sz="2400" b="0" dirty="0" err="1">
                <a:cs typeface="+mn-ea"/>
                <a:sym typeface="+mn-lt"/>
                <a:hlinkClick r:id="rId3"/>
              </a:rPr>
              <a:t>Babenko</a:t>
            </a:r>
            <a:r>
              <a:rPr lang="en-US" sz="2400" b="0" dirty="0">
                <a:cs typeface="+mn-ea"/>
                <a:sym typeface="+mn-lt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A94B26-0ADB-4A66-8F69-AF0E716B43E8}"/>
              </a:ext>
            </a:extLst>
          </p:cNvPr>
          <p:cNvSpPr txBox="1"/>
          <p:nvPr/>
        </p:nvSpPr>
        <p:spPr>
          <a:xfrm>
            <a:off x="10343417" y="6550223"/>
            <a:ext cx="18485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cs typeface="+mn-ea"/>
                <a:sym typeface="+mn-lt"/>
              </a:rPr>
              <a:t>Slide</a:t>
            </a:r>
            <a:r>
              <a:rPr lang="en-US" sz="1400" b="0" dirty="0">
                <a:cs typeface="+mn-ea"/>
                <a:sym typeface="+mn-lt"/>
              </a:rPr>
              <a:t> from S. </a:t>
            </a:r>
            <a:r>
              <a:rPr lang="en-US" sz="1400" b="0" dirty="0" err="1">
                <a:cs typeface="+mn-ea"/>
                <a:sym typeface="+mn-lt"/>
              </a:rPr>
              <a:t>Lazebnik</a:t>
            </a:r>
            <a:endParaRPr lang="en-US" sz="1400" b="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6596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6A4AA-08C5-440D-B271-BE157B38F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人脸检测与识别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60FBE-219C-407B-A482-A838798F9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D3DE266C-8273-43BE-AD74-172EE9F92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7393" y="2063750"/>
            <a:ext cx="3944938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AutoShape 5">
            <a:extLst>
              <a:ext uri="{FF2B5EF4-FFF2-40B4-BE49-F238E27FC236}">
                <a16:creationId xmlns:a16="http://schemas.microsoft.com/office/drawing/2014/main" id="{440FE917-C915-47D5-ADB4-7676F280C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393" y="2063750"/>
            <a:ext cx="623888" cy="68580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27EFCF26-DABF-4B7E-BDC2-E583CEC53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8300" y="2247900"/>
            <a:ext cx="1295400" cy="838200"/>
          </a:xfrm>
          <a:prstGeom prst="rightArrow">
            <a:avLst>
              <a:gd name="adj1" fmla="val 50000"/>
              <a:gd name="adj2" fmla="val 38636"/>
            </a:avLst>
          </a:prstGeom>
          <a:solidFill>
            <a:srgbClr val="FF99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b="0">
                <a:cs typeface="+mn-ea"/>
                <a:sym typeface="+mn-lt"/>
              </a:rPr>
              <a:t>Detection</a:t>
            </a: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78B3E477-F0EB-44EA-9C49-B4DB1FEF935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069379" y="2165350"/>
          <a:ext cx="9779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Image" r:id="rId4" imgW="977778" imgH="1002821" progId="">
                  <p:embed/>
                </p:oleObj>
              </mc:Choice>
              <mc:Fallback>
                <p:oleObj name="Image" r:id="rId4" imgW="977778" imgH="1002821" progId="">
                  <p:embed/>
                  <p:pic>
                    <p:nvPicPr>
                      <p:cNvPr id="7" name="Object 7">
                        <a:extLst>
                          <a:ext uri="{FF2B5EF4-FFF2-40B4-BE49-F238E27FC236}">
                            <a16:creationId xmlns:a16="http://schemas.microsoft.com/office/drawing/2014/main" id="{78B3E477-F0EB-44EA-9C49-B4DB1FEF93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9379" y="2165350"/>
                        <a:ext cx="9779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AutoShape 9">
            <a:extLst>
              <a:ext uri="{FF2B5EF4-FFF2-40B4-BE49-F238E27FC236}">
                <a16:creationId xmlns:a16="http://schemas.microsoft.com/office/drawing/2014/main" id="{C2627166-F14B-458F-BDEE-94444D11F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958" y="2247900"/>
            <a:ext cx="1447800" cy="838200"/>
          </a:xfrm>
          <a:prstGeom prst="rightArrow">
            <a:avLst>
              <a:gd name="adj1" fmla="val 50000"/>
              <a:gd name="adj2" fmla="val 43182"/>
            </a:avLst>
          </a:prstGeom>
          <a:solidFill>
            <a:srgbClr val="FF99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b="0">
                <a:cs typeface="+mn-ea"/>
                <a:sym typeface="+mn-lt"/>
              </a:rPr>
              <a:t>Recognition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BAF71B95-4031-4F19-B0E2-491B0D4E9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6958" y="2476500"/>
            <a:ext cx="86433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0">
                <a:cs typeface="+mn-ea"/>
                <a:sym typeface="+mn-lt"/>
              </a:rPr>
              <a:t>“Sally”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E300BFAD-B9B7-4D6C-9B9A-5CC100C24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8907" y="3801535"/>
            <a:ext cx="6863568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normAutofit/>
          </a:bodyPr>
          <a:lstStyle/>
          <a:p>
            <a:r>
              <a:rPr lang="en-US" sz="2400" b="1" dirty="0">
                <a:solidFill>
                  <a:srgbClr val="00B0F0"/>
                </a:solidFill>
                <a:cs typeface="+mn-ea"/>
                <a:sym typeface="+mn-lt"/>
              </a:rPr>
              <a:t>Step #1: </a:t>
            </a:r>
            <a:r>
              <a:rPr lang="zh-CN" altLang="en-US" sz="2400" b="0" dirty="0">
                <a:cs typeface="+mn-ea"/>
                <a:sym typeface="+mn-lt"/>
              </a:rPr>
              <a:t>输入图像</a:t>
            </a:r>
            <a:r>
              <a:rPr lang="zh-CN" altLang="en-US" sz="2400" dirty="0">
                <a:cs typeface="+mn-ea"/>
                <a:sym typeface="+mn-lt"/>
              </a:rPr>
              <a:t>、使用检测器进行“人脸检测”、</a:t>
            </a:r>
            <a:endParaRPr lang="en-US" altLang="zh-CN" sz="2400" dirty="0">
              <a:cs typeface="+mn-ea"/>
              <a:sym typeface="+mn-lt"/>
            </a:endParaRPr>
          </a:p>
          <a:p>
            <a:r>
              <a:rPr lang="zh-CN" altLang="en-US" sz="2400" dirty="0">
                <a:cs typeface="+mn-ea"/>
                <a:sym typeface="+mn-lt"/>
              </a:rPr>
              <a:t>提取人脸区域</a:t>
            </a:r>
            <a:endParaRPr lang="en-US" altLang="zh-CN" sz="2400" dirty="0">
              <a:cs typeface="+mn-ea"/>
              <a:sym typeface="+mn-lt"/>
            </a:endParaRPr>
          </a:p>
          <a:p>
            <a:endParaRPr lang="en-US" sz="2400" b="0" dirty="0">
              <a:cs typeface="+mn-ea"/>
              <a:sym typeface="+mn-lt"/>
            </a:endParaRPr>
          </a:p>
          <a:p>
            <a:r>
              <a:rPr lang="en-US" sz="2400" b="1" dirty="0">
                <a:solidFill>
                  <a:srgbClr val="00B0F0"/>
                </a:solidFill>
                <a:cs typeface="+mn-ea"/>
                <a:sym typeface="+mn-lt"/>
              </a:rPr>
              <a:t>Step #2: </a:t>
            </a:r>
            <a:r>
              <a:rPr lang="zh-CN" altLang="en-US" sz="2400" dirty="0">
                <a:cs typeface="+mn-ea"/>
                <a:sym typeface="+mn-lt"/>
              </a:rPr>
              <a:t>对提取的人脸区域进行“人脸识别”</a:t>
            </a:r>
            <a:endParaRPr lang="en-US" sz="2400" b="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4353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4.07407E-6 L 0.28841 4.07407E-6 L 0.28789 0.05162 L 0.00365 0.05162 L 0.00365 0.10763 L 0.14701 0.1074 " pathEditMode="relative" rAng="0" ptsTypes="AAAAAA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14" y="5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8" grpId="0" animBg="1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27B9A-CF0A-49BC-AE88-2FA3C2BFC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人脸检测难点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20767-B367-47E8-82D0-90205C8AA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cs typeface="+mn-ea"/>
                <a:sym typeface="+mn-lt"/>
              </a:rPr>
              <a:t>滑动窗口法：待检测的框数量多、不同的尺度</a:t>
            </a:r>
            <a:endParaRPr lang="en-US" altLang="zh-CN" b="1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  <a:cs typeface="+mn-ea"/>
                <a:sym typeface="+mn-lt"/>
              </a:rPr>
              <a:t>人脸数量少：通常</a:t>
            </a:r>
            <a:r>
              <a:rPr lang="en-US" altLang="zh-CN" dirty="0">
                <a:solidFill>
                  <a:srgbClr val="0070C0"/>
                </a:solidFill>
                <a:cs typeface="+mn-ea"/>
                <a:sym typeface="+mn-lt"/>
              </a:rPr>
              <a:t>0~10</a:t>
            </a:r>
            <a:r>
              <a:rPr lang="zh-CN" altLang="en-US" dirty="0">
                <a:solidFill>
                  <a:srgbClr val="0070C0"/>
                </a:solidFill>
                <a:cs typeface="+mn-ea"/>
                <a:sym typeface="+mn-lt"/>
              </a:rPr>
              <a:t>张人脸</a:t>
            </a:r>
            <a:endParaRPr lang="en-US" altLang="zh-CN" dirty="0">
              <a:solidFill>
                <a:srgbClr val="0070C0"/>
              </a:solidFill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  <a:cs typeface="+mn-ea"/>
                <a:sym typeface="+mn-lt"/>
              </a:rPr>
              <a:t>计算效率：对非人脸框的计算消耗要尽可能少</a:t>
            </a:r>
            <a:endParaRPr lang="en-US" altLang="zh-CN" dirty="0">
              <a:solidFill>
                <a:srgbClr val="0070C0"/>
              </a:solidFill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  <a:cs typeface="+mn-ea"/>
                <a:sym typeface="+mn-lt"/>
              </a:rPr>
              <a:t>误检率要尽可能的低</a:t>
            </a:r>
          </a:p>
        </p:txBody>
      </p:sp>
    </p:spTree>
    <p:extLst>
      <p:ext uri="{BB962C8B-B14F-4D97-AF65-F5344CB8AC3E}">
        <p14:creationId xmlns:p14="http://schemas.microsoft.com/office/powerpoint/2010/main" val="3459376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E80C4-31B2-4B3A-BB52-D9721F9DE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Viola/Jones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人脸检测器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468EC-0BB5-4E11-B74C-9D20362A8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1" dirty="0">
                <a:cs typeface="+mn-ea"/>
                <a:sym typeface="+mn-lt"/>
              </a:rPr>
              <a:t>实时人脸检测的开创性工作</a:t>
            </a:r>
            <a:endParaRPr lang="en-US" altLang="zh-CN" b="1" dirty="0"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cs typeface="+mn-ea"/>
                <a:sym typeface="+mn-lt"/>
              </a:rPr>
              <a:t>训练时间长、检测的效率高</a:t>
            </a:r>
            <a:endParaRPr lang="en-US" altLang="zh-CN" b="1" dirty="0"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cs typeface="+mn-ea"/>
                <a:sym typeface="+mn-lt"/>
              </a:rPr>
              <a:t>主要思想：</a:t>
            </a:r>
            <a:endParaRPr lang="en-US" altLang="zh-CN" b="1" dirty="0"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通过积分图进行快速地特征计算</a:t>
            </a: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Boosting</a:t>
            </a:r>
            <a:r>
              <a:rPr lang="zh-CN" altLang="en-US" dirty="0">
                <a:cs typeface="+mn-ea"/>
                <a:sym typeface="+mn-lt"/>
              </a:rPr>
              <a:t>算法进行特征选择</a:t>
            </a: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Cascade</a:t>
            </a:r>
            <a:r>
              <a:rPr lang="zh-CN" altLang="en-US" dirty="0">
                <a:cs typeface="+mn-ea"/>
                <a:sym typeface="+mn-lt"/>
              </a:rPr>
              <a:t>级联快速地排除非人脸区域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DB120F6-6AFE-48F8-A060-0D6463C24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6242248"/>
            <a:ext cx="85344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r" eaLnBrk="1" hangingPunct="1"/>
            <a:r>
              <a:rPr lang="en-US" sz="1400" b="0" dirty="0">
                <a:cs typeface="+mn-ea"/>
                <a:sym typeface="+mn-lt"/>
              </a:rPr>
              <a:t>P. Viola and M. Jones. </a:t>
            </a:r>
            <a:r>
              <a:rPr lang="en-US" sz="1400" b="0" i="1" dirty="0">
                <a:cs typeface="+mn-ea"/>
                <a:sym typeface="+mn-lt"/>
                <a:hlinkClick r:id="rId2"/>
              </a:rPr>
              <a:t>Rapid object detection using a boosted cascade of simple features.</a:t>
            </a:r>
            <a:r>
              <a:rPr lang="en-US" sz="1400" b="0" dirty="0">
                <a:cs typeface="+mn-ea"/>
                <a:sym typeface="+mn-lt"/>
              </a:rPr>
              <a:t> CVPR 2001. 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AB710063-F780-45C9-BEEE-D8C3F0EAC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6556011"/>
            <a:ext cx="85344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r" eaLnBrk="1" hangingPunct="1"/>
            <a:r>
              <a:rPr lang="en-US" sz="1400" b="0" dirty="0">
                <a:cs typeface="+mn-ea"/>
                <a:sym typeface="+mn-lt"/>
              </a:rPr>
              <a:t>P. Viola and M. Jones. </a:t>
            </a:r>
            <a:r>
              <a:rPr lang="en-US" sz="1400" b="0" i="1" dirty="0">
                <a:cs typeface="+mn-ea"/>
                <a:sym typeface="+mn-lt"/>
                <a:hlinkClick r:id="rId3"/>
              </a:rPr>
              <a:t>Robust real-time face detection.</a:t>
            </a:r>
            <a:r>
              <a:rPr lang="en-US" sz="1400" b="0" dirty="0">
                <a:cs typeface="+mn-ea"/>
                <a:sym typeface="+mn-lt"/>
              </a:rPr>
              <a:t> IJCV 57(2), 2004. </a:t>
            </a:r>
          </a:p>
        </p:txBody>
      </p:sp>
    </p:spTree>
    <p:extLst>
      <p:ext uri="{BB962C8B-B14F-4D97-AF65-F5344CB8AC3E}">
        <p14:creationId xmlns:p14="http://schemas.microsoft.com/office/powerpoint/2010/main" val="2663656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9ACEB-A3F0-4E32-A3D3-3373FA7BE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Viola/Jones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人脸检测器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83E41-6D80-4017-A89F-1B32A0B80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34FA77-FFDE-49CB-BD15-4F94E6CA9049}"/>
              </a:ext>
            </a:extLst>
          </p:cNvPr>
          <p:cNvSpPr txBox="1"/>
          <p:nvPr/>
        </p:nvSpPr>
        <p:spPr>
          <a:xfrm>
            <a:off x="9191604" y="6554241"/>
            <a:ext cx="300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cs typeface="+mn-ea"/>
                <a:sym typeface="+mn-lt"/>
              </a:rPr>
              <a:t>Pictures from </a:t>
            </a:r>
            <a:r>
              <a:rPr lang="en-GB" sz="1400" dirty="0" err="1">
                <a:cs typeface="+mn-ea"/>
                <a:sym typeface="+mn-lt"/>
              </a:rPr>
              <a:t>Romdhani</a:t>
            </a:r>
            <a:r>
              <a:rPr lang="en-GB" sz="1400" dirty="0">
                <a:cs typeface="+mn-ea"/>
                <a:sym typeface="+mn-lt"/>
              </a:rPr>
              <a:t> et al. ICCV01 </a:t>
            </a:r>
          </a:p>
        </p:txBody>
      </p:sp>
      <p:grpSp>
        <p:nvGrpSpPr>
          <p:cNvPr id="8" name="Group 14">
            <a:extLst>
              <a:ext uri="{FF2B5EF4-FFF2-40B4-BE49-F238E27FC236}">
                <a16:creationId xmlns:a16="http://schemas.microsoft.com/office/drawing/2014/main" id="{941C4FDA-9049-46BB-8473-FFBA5860FE0F}"/>
              </a:ext>
            </a:extLst>
          </p:cNvPr>
          <p:cNvGrpSpPr/>
          <p:nvPr/>
        </p:nvGrpSpPr>
        <p:grpSpPr>
          <a:xfrm>
            <a:off x="3571846" y="1847469"/>
            <a:ext cx="4975283" cy="4147568"/>
            <a:chOff x="1383023" y="1141022"/>
            <a:chExt cx="6468080" cy="517156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9358489-B6AF-4CB0-A4F7-3F5BD224EFE3}"/>
                </a:ext>
              </a:extLst>
            </p:cNvPr>
            <p:cNvSpPr/>
            <p:nvPr/>
          </p:nvSpPr>
          <p:spPr>
            <a:xfrm>
              <a:off x="1383023" y="1142985"/>
              <a:ext cx="6465599" cy="516959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cs typeface="+mn-ea"/>
                <a:sym typeface="+mn-lt"/>
              </a:endParaRPr>
            </a:p>
          </p:txBody>
        </p:sp>
        <p:pic>
          <p:nvPicPr>
            <p:cNvPr id="10" name="Picture 9" descr="detection2.jpg">
              <a:extLst>
                <a:ext uri="{FF2B5EF4-FFF2-40B4-BE49-F238E27FC236}">
                  <a16:creationId xmlns:a16="http://schemas.microsoft.com/office/drawing/2014/main" id="{0F8FC4FE-87B9-4692-A899-A8F513A227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865" y="1141022"/>
              <a:ext cx="6465238" cy="5169311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459E24C-D4ED-493D-8205-E0538A67B755}"/>
              </a:ext>
            </a:extLst>
          </p:cNvPr>
          <p:cNvGrpSpPr/>
          <p:nvPr/>
        </p:nvGrpSpPr>
        <p:grpSpPr>
          <a:xfrm>
            <a:off x="3569566" y="1818894"/>
            <a:ext cx="4986206" cy="4171979"/>
            <a:chOff x="1380743" y="1123934"/>
            <a:chExt cx="6482280" cy="52020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DA4D57E-8768-4F66-98C7-B3DA20A377E2}"/>
                </a:ext>
              </a:extLst>
            </p:cNvPr>
            <p:cNvSpPr/>
            <p:nvPr/>
          </p:nvSpPr>
          <p:spPr>
            <a:xfrm>
              <a:off x="1383023" y="1133459"/>
              <a:ext cx="6480000" cy="5184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cs typeface="+mn-ea"/>
                <a:sym typeface="+mn-lt"/>
              </a:endParaRPr>
            </a:p>
          </p:txBody>
        </p:sp>
        <p:pic>
          <p:nvPicPr>
            <p:cNvPr id="13" name="Picture 12" descr="detection2.tif">
              <a:extLst>
                <a:ext uri="{FF2B5EF4-FFF2-40B4-BE49-F238E27FC236}">
                  <a16:creationId xmlns:a16="http://schemas.microsoft.com/office/drawing/2014/main" id="{A4529439-06D9-44EE-9F07-1B1152A05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0743" y="1123934"/>
              <a:ext cx="6470077" cy="520200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14" name="Group 15">
            <a:extLst>
              <a:ext uri="{FF2B5EF4-FFF2-40B4-BE49-F238E27FC236}">
                <a16:creationId xmlns:a16="http://schemas.microsoft.com/office/drawing/2014/main" id="{6FE71F80-5C8C-4C31-A0AB-3352B44EF1C2}"/>
              </a:ext>
            </a:extLst>
          </p:cNvPr>
          <p:cNvGrpSpPr/>
          <p:nvPr/>
        </p:nvGrpSpPr>
        <p:grpSpPr>
          <a:xfrm>
            <a:off x="3571847" y="1818894"/>
            <a:ext cx="4980702" cy="4174866"/>
            <a:chOff x="1383023" y="1114409"/>
            <a:chExt cx="6475125" cy="52056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3B774D-00B3-4844-8D90-1E97B73AB733}"/>
                </a:ext>
              </a:extLst>
            </p:cNvPr>
            <p:cNvSpPr/>
            <p:nvPr/>
          </p:nvSpPr>
          <p:spPr>
            <a:xfrm>
              <a:off x="1383023" y="1114409"/>
              <a:ext cx="6475125" cy="5205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cs typeface="+mn-ea"/>
                <a:sym typeface="+mn-lt"/>
              </a:endParaRPr>
            </a:p>
          </p:txBody>
        </p:sp>
        <p:pic>
          <p:nvPicPr>
            <p:cNvPr id="16" name="Picture 15" descr="detection_f2.jpg">
              <a:extLst>
                <a:ext uri="{FF2B5EF4-FFF2-40B4-BE49-F238E27FC236}">
                  <a16:creationId xmlns:a16="http://schemas.microsoft.com/office/drawing/2014/main" id="{E8F875FC-0C7E-49B7-9336-7A66954769AA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91498" y="1123934"/>
              <a:ext cx="6436800" cy="5132134"/>
            </a:xfrm>
            <a:prstGeom prst="rect">
              <a:avLst/>
            </a:prstGeom>
          </p:spPr>
        </p:pic>
      </p:grpSp>
      <p:grpSp>
        <p:nvGrpSpPr>
          <p:cNvPr id="17" name="Group 30">
            <a:extLst>
              <a:ext uri="{FF2B5EF4-FFF2-40B4-BE49-F238E27FC236}">
                <a16:creationId xmlns:a16="http://schemas.microsoft.com/office/drawing/2014/main" id="{8B5E3DE6-D950-469F-B308-34EAE75D0344}"/>
              </a:ext>
            </a:extLst>
          </p:cNvPr>
          <p:cNvGrpSpPr/>
          <p:nvPr/>
        </p:nvGrpSpPr>
        <p:grpSpPr>
          <a:xfrm>
            <a:off x="3571846" y="1817580"/>
            <a:ext cx="4973375" cy="4171979"/>
            <a:chOff x="1383023" y="1084520"/>
            <a:chExt cx="6465600" cy="5202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867A0BD-98E0-466A-B6C1-9201925B1F4C}"/>
                </a:ext>
              </a:extLst>
            </p:cNvPr>
            <p:cNvSpPr/>
            <p:nvPr/>
          </p:nvSpPr>
          <p:spPr>
            <a:xfrm>
              <a:off x="1383023" y="1084520"/>
              <a:ext cx="6465600" cy="520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cs typeface="+mn-ea"/>
                <a:sym typeface="+mn-lt"/>
              </a:endParaRPr>
            </a:p>
          </p:txBody>
        </p:sp>
        <p:pic>
          <p:nvPicPr>
            <p:cNvPr id="19" name="Picture 18" descr="detection_f3.jpg">
              <a:extLst>
                <a:ext uri="{FF2B5EF4-FFF2-40B4-BE49-F238E27FC236}">
                  <a16:creationId xmlns:a16="http://schemas.microsoft.com/office/drawing/2014/main" id="{385CBBB1-3D9A-495F-BD34-A919FBC7A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95390" y="1315707"/>
              <a:ext cx="6398329" cy="4870800"/>
            </a:xfrm>
            <a:prstGeom prst="rect">
              <a:avLst/>
            </a:prstGeom>
          </p:spPr>
        </p:pic>
      </p:grpSp>
      <p:grpSp>
        <p:nvGrpSpPr>
          <p:cNvPr id="20" name="Group 33">
            <a:extLst>
              <a:ext uri="{FF2B5EF4-FFF2-40B4-BE49-F238E27FC236}">
                <a16:creationId xmlns:a16="http://schemas.microsoft.com/office/drawing/2014/main" id="{84A14DE5-1A4D-4F8B-98AE-ED8BB5F1DD32}"/>
              </a:ext>
            </a:extLst>
          </p:cNvPr>
          <p:cNvGrpSpPr/>
          <p:nvPr/>
        </p:nvGrpSpPr>
        <p:grpSpPr>
          <a:xfrm>
            <a:off x="3562321" y="1818894"/>
            <a:ext cx="4988029" cy="4171979"/>
            <a:chOff x="1373498" y="1114409"/>
            <a:chExt cx="6484650" cy="5202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90F60BA-93F3-48EE-9CCD-E3481C18A2D4}"/>
                </a:ext>
              </a:extLst>
            </p:cNvPr>
            <p:cNvSpPr/>
            <p:nvPr/>
          </p:nvSpPr>
          <p:spPr>
            <a:xfrm>
              <a:off x="1373498" y="1114409"/>
              <a:ext cx="6484650" cy="520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cs typeface="+mn-ea"/>
                <a:sym typeface="+mn-lt"/>
              </a:endParaRPr>
            </a:p>
          </p:txBody>
        </p:sp>
        <p:pic>
          <p:nvPicPr>
            <p:cNvPr id="22" name="Picture 21" descr="detection5.jpg">
              <a:extLst>
                <a:ext uri="{FF2B5EF4-FFF2-40B4-BE49-F238E27FC236}">
                  <a16:creationId xmlns:a16="http://schemas.microsoft.com/office/drawing/2014/main" id="{410B3064-0917-4C8E-8742-718F9FBA4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5865" y="1457311"/>
              <a:ext cx="6148800" cy="4752000"/>
            </a:xfrm>
            <a:prstGeom prst="rect">
              <a:avLst/>
            </a:prstGeom>
          </p:spPr>
        </p:pic>
      </p:grpSp>
      <p:grpSp>
        <p:nvGrpSpPr>
          <p:cNvPr id="23" name="Group 36">
            <a:extLst>
              <a:ext uri="{FF2B5EF4-FFF2-40B4-BE49-F238E27FC236}">
                <a16:creationId xmlns:a16="http://schemas.microsoft.com/office/drawing/2014/main" id="{B994737E-AFAF-4FC2-9856-871098F85212}"/>
              </a:ext>
            </a:extLst>
          </p:cNvPr>
          <p:cNvGrpSpPr/>
          <p:nvPr/>
        </p:nvGrpSpPr>
        <p:grpSpPr>
          <a:xfrm>
            <a:off x="3562321" y="1818894"/>
            <a:ext cx="4984452" cy="4171979"/>
            <a:chOff x="1373498" y="1114409"/>
            <a:chExt cx="6480001" cy="520200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378C63E-8F05-428C-B296-6AC39BDFC512}"/>
                </a:ext>
              </a:extLst>
            </p:cNvPr>
            <p:cNvSpPr/>
            <p:nvPr/>
          </p:nvSpPr>
          <p:spPr>
            <a:xfrm>
              <a:off x="1373498" y="1114409"/>
              <a:ext cx="6480001" cy="52020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cs typeface="+mn-ea"/>
                <a:sym typeface="+mn-lt"/>
              </a:endParaRPr>
            </a:p>
          </p:txBody>
        </p:sp>
        <p:pic>
          <p:nvPicPr>
            <p:cNvPr id="25" name="Picture 24" descr="detection_f.jpg">
              <a:extLst>
                <a:ext uri="{FF2B5EF4-FFF2-40B4-BE49-F238E27FC236}">
                  <a16:creationId xmlns:a16="http://schemas.microsoft.com/office/drawing/2014/main" id="{105E2C4B-9BC6-4AAD-9E6A-C6B005725D4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85918" y="1928802"/>
              <a:ext cx="5724001" cy="21601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5862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7E6EA-662D-404B-8233-481416188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AdaBoost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分类器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7B0750E-32B5-41FA-B1F2-35D4BF085C51}"/>
              </a:ext>
            </a:extLst>
          </p:cNvPr>
          <p:cNvGrpSpPr/>
          <p:nvPr/>
        </p:nvGrpSpPr>
        <p:grpSpPr>
          <a:xfrm>
            <a:off x="3809984" y="1794355"/>
            <a:ext cx="4214842" cy="1571636"/>
            <a:chOff x="3809984" y="1794355"/>
            <a:chExt cx="4214842" cy="1571636"/>
          </a:xfrm>
        </p:grpSpPr>
        <p:grpSp>
          <p:nvGrpSpPr>
            <p:cNvPr id="13" name="Group 19">
              <a:extLst>
                <a:ext uri="{FF2B5EF4-FFF2-40B4-BE49-F238E27FC236}">
                  <a16:creationId xmlns:a16="http://schemas.microsoft.com/office/drawing/2014/main" id="{76571F04-D9E5-49DE-8E93-934FCAF0B61F}"/>
                </a:ext>
              </a:extLst>
            </p:cNvPr>
            <p:cNvGrpSpPr/>
            <p:nvPr/>
          </p:nvGrpSpPr>
          <p:grpSpPr>
            <a:xfrm>
              <a:off x="6524631" y="1794355"/>
              <a:ext cx="1500195" cy="1285884"/>
              <a:chOff x="4959271" y="1857364"/>
              <a:chExt cx="1184365" cy="1285884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22634F6-ADA7-4D8E-9C06-B6FAEAFA1C2F}"/>
                  </a:ext>
                </a:extLst>
              </p:cNvPr>
              <p:cNvSpPr/>
              <p:nvPr/>
            </p:nvSpPr>
            <p:spPr>
              <a:xfrm>
                <a:off x="4959271" y="2643182"/>
                <a:ext cx="785818" cy="500066"/>
              </a:xfrm>
              <a:prstGeom prst="rect">
                <a:avLst/>
              </a:prstGeom>
              <a:noFill/>
              <a:ln w="254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CFD64F-A957-49CE-8C61-DB1D9D3E47EB}"/>
                  </a:ext>
                </a:extLst>
              </p:cNvPr>
              <p:cNvSpPr txBox="1"/>
              <p:nvPr/>
            </p:nvSpPr>
            <p:spPr>
              <a:xfrm>
                <a:off x="5072066" y="1857364"/>
                <a:ext cx="107157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b="1" dirty="0">
                    <a:cs typeface="+mn-ea"/>
                    <a:sym typeface="+mn-lt"/>
                  </a:rPr>
                  <a:t>Weak classifier</a:t>
                </a:r>
              </a:p>
            </p:txBody>
          </p:sp>
        </p:grpSp>
        <p:grpSp>
          <p:nvGrpSpPr>
            <p:cNvPr id="16" name="Group 18">
              <a:extLst>
                <a:ext uri="{FF2B5EF4-FFF2-40B4-BE49-F238E27FC236}">
                  <a16:creationId xmlns:a16="http://schemas.microsoft.com/office/drawing/2014/main" id="{03A7660C-E91C-4AAB-B79D-866CABE56353}"/>
                </a:ext>
              </a:extLst>
            </p:cNvPr>
            <p:cNvGrpSpPr/>
            <p:nvPr/>
          </p:nvGrpSpPr>
          <p:grpSpPr>
            <a:xfrm>
              <a:off x="3809984" y="1794355"/>
              <a:ext cx="1643074" cy="1285884"/>
              <a:chOff x="2714612" y="1764522"/>
              <a:chExt cx="1428760" cy="1285884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08B65DC-C5E8-42E2-9BE0-7EEA0D145A5B}"/>
                  </a:ext>
                </a:extLst>
              </p:cNvPr>
              <p:cNvSpPr/>
              <p:nvPr/>
            </p:nvSpPr>
            <p:spPr>
              <a:xfrm>
                <a:off x="3233314" y="2550340"/>
                <a:ext cx="785818" cy="500066"/>
              </a:xfrm>
              <a:prstGeom prst="rect">
                <a:avLst/>
              </a:prstGeom>
              <a:noFill/>
              <a:ln w="25400">
                <a:solidFill>
                  <a:srgbClr val="3366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13D6DCD-4033-44C1-BC75-6A25AC7AF849}"/>
                  </a:ext>
                </a:extLst>
              </p:cNvPr>
              <p:cNvSpPr txBox="1"/>
              <p:nvPr/>
            </p:nvSpPr>
            <p:spPr>
              <a:xfrm>
                <a:off x="2714612" y="1764522"/>
                <a:ext cx="14287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b="1" dirty="0">
                    <a:cs typeface="+mn-ea"/>
                    <a:sym typeface="+mn-lt"/>
                  </a:rPr>
                  <a:t>Strong classifier</a:t>
                </a:r>
              </a:p>
            </p:txBody>
          </p:sp>
        </p:grpSp>
        <p:pic>
          <p:nvPicPr>
            <p:cNvPr id="19" name="Picture 18" descr="eqn1359_1.png">
              <a:extLst>
                <a:ext uri="{FF2B5EF4-FFF2-40B4-BE49-F238E27FC236}">
                  <a16:creationId xmlns:a16="http://schemas.microsoft.com/office/drawing/2014/main" id="{BBA798C7-8A03-4693-A761-D31EF9AAC3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lum bright="-100000"/>
            </a:blip>
            <a:stretch>
              <a:fillRect/>
            </a:stretch>
          </p:blipFill>
          <p:spPr>
            <a:xfrm>
              <a:off x="4465071" y="2294421"/>
              <a:ext cx="2916813" cy="1071570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35D15E6-E875-45D1-A962-ABC279EABE76}"/>
              </a:ext>
            </a:extLst>
          </p:cNvPr>
          <p:cNvGrpSpPr/>
          <p:nvPr/>
        </p:nvGrpSpPr>
        <p:grpSpPr>
          <a:xfrm>
            <a:off x="2380146" y="3896706"/>
            <a:ext cx="7358684" cy="1928826"/>
            <a:chOff x="2237778" y="4186009"/>
            <a:chExt cx="7358684" cy="192882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F399F30-8E28-4BAF-9496-C5EC0A5D0EEA}"/>
                </a:ext>
              </a:extLst>
            </p:cNvPr>
            <p:cNvSpPr/>
            <p:nvPr/>
          </p:nvSpPr>
          <p:spPr>
            <a:xfrm>
              <a:off x="2237778" y="4680945"/>
              <a:ext cx="3643338" cy="7858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grpSp>
          <p:nvGrpSpPr>
            <p:cNvPr id="7" name="Group 14">
              <a:extLst>
                <a:ext uri="{FF2B5EF4-FFF2-40B4-BE49-F238E27FC236}">
                  <a16:creationId xmlns:a16="http://schemas.microsoft.com/office/drawing/2014/main" id="{0FFE6C2F-59B8-4434-AE45-1281FA4B8F39}"/>
                </a:ext>
              </a:extLst>
            </p:cNvPr>
            <p:cNvGrpSpPr/>
            <p:nvPr/>
          </p:nvGrpSpPr>
          <p:grpSpPr>
            <a:xfrm>
              <a:off x="6096000" y="4186009"/>
              <a:ext cx="3500462" cy="1928826"/>
              <a:chOff x="357158" y="1500174"/>
              <a:chExt cx="4288618" cy="2586050"/>
            </a:xfrm>
          </p:grpSpPr>
          <p:pic>
            <p:nvPicPr>
              <p:cNvPr id="8" name="Picture 2">
                <a:extLst>
                  <a:ext uri="{FF2B5EF4-FFF2-40B4-BE49-F238E27FC236}">
                    <a16:creationId xmlns:a16="http://schemas.microsoft.com/office/drawing/2014/main" id="{AE6B4DAB-9B89-4FB4-B4A1-036DF8F0A8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57158" y="3004822"/>
                <a:ext cx="1075078" cy="10814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9" name="Picture 3">
                <a:extLst>
                  <a:ext uri="{FF2B5EF4-FFF2-40B4-BE49-F238E27FC236}">
                    <a16:creationId xmlns:a16="http://schemas.microsoft.com/office/drawing/2014/main" id="{2F59C8C8-B8A9-48D4-BFFE-74D69BFBC09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1839087" y="1500175"/>
                <a:ext cx="1157290" cy="11636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0" name="Picture 4">
                <a:extLst>
                  <a:ext uri="{FF2B5EF4-FFF2-40B4-BE49-F238E27FC236}">
                    <a16:creationId xmlns:a16="http://schemas.microsoft.com/office/drawing/2014/main" id="{F6D15B1B-4225-4B0E-8195-3CC114EC7C2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3482162" y="1500174"/>
                <a:ext cx="1163614" cy="11572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1" name="Picture 5">
                <a:extLst>
                  <a:ext uri="{FF2B5EF4-FFF2-40B4-BE49-F238E27FC236}">
                    <a16:creationId xmlns:a16="http://schemas.microsoft.com/office/drawing/2014/main" id="{5CBD64E3-6DFE-4AF2-8882-B3733B0F60A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1839087" y="2928935"/>
                <a:ext cx="1157290" cy="11509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2" name="Picture 6">
                <a:extLst>
                  <a:ext uri="{FF2B5EF4-FFF2-40B4-BE49-F238E27FC236}">
                    <a16:creationId xmlns:a16="http://schemas.microsoft.com/office/drawing/2014/main" id="{8BB4C464-9392-49D1-A1F2-4646D16B750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3482161" y="2928934"/>
                <a:ext cx="1157290" cy="11572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pic>
          <p:nvPicPr>
            <p:cNvPr id="20" name="Picture 19" descr="eqn1359_50.png">
              <a:extLst>
                <a:ext uri="{FF2B5EF4-FFF2-40B4-BE49-F238E27FC236}">
                  <a16:creationId xmlns:a16="http://schemas.microsoft.com/office/drawing/2014/main" id="{84269E45-9CF6-416C-99E4-053FD8E17A4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lum bright="-100000"/>
            </a:blip>
            <a:stretch>
              <a:fillRect/>
            </a:stretch>
          </p:blipFill>
          <p:spPr>
            <a:xfrm>
              <a:off x="2380654" y="4752383"/>
              <a:ext cx="3500462" cy="669277"/>
            </a:xfrm>
            <a:prstGeom prst="rect">
              <a:avLst/>
            </a:prstGeom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F0480BFE-CBF8-4A1C-9BB9-CCBDE89937B9}"/>
              </a:ext>
            </a:extLst>
          </p:cNvPr>
          <p:cNvSpPr/>
          <p:nvPr/>
        </p:nvSpPr>
        <p:spPr>
          <a:xfrm>
            <a:off x="3352817" y="6203111"/>
            <a:ext cx="5542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>
                <a:solidFill>
                  <a:srgbClr val="0070C0"/>
                </a:solidFill>
                <a:cs typeface="+mn-ea"/>
                <a:sym typeface="+mn-lt"/>
              </a:rPr>
              <a:t>Weak classifiers: </a:t>
            </a:r>
            <a:r>
              <a:rPr lang="en-GB" altLang="zh-CN" sz="2400" dirty="0" err="1">
                <a:cs typeface="+mn-ea"/>
                <a:sym typeface="+mn-lt"/>
              </a:rPr>
              <a:t>Haar</a:t>
            </a:r>
            <a:r>
              <a:rPr lang="en-GB" altLang="zh-CN" sz="2400" dirty="0">
                <a:cs typeface="+mn-ea"/>
                <a:sym typeface="+mn-lt"/>
              </a:rPr>
              <a:t>-basis like functions</a:t>
            </a:r>
          </a:p>
        </p:txBody>
      </p:sp>
    </p:spTree>
    <p:extLst>
      <p:ext uri="{BB962C8B-B14F-4D97-AF65-F5344CB8AC3E}">
        <p14:creationId xmlns:p14="http://schemas.microsoft.com/office/powerpoint/2010/main" val="3989657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91E1-E636-471D-B0D2-B34AA22A8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Boosting - procedure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4BB2E-D1F9-450C-A316-F0AABAE76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It’s a sequential procedure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B75083-8938-4F9E-9225-EC7F50895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541" y="2657532"/>
            <a:ext cx="8167894" cy="373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745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7C724-CEBD-42ED-9C86-CD27C0C42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Boosting – 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Toy example</a:t>
            </a:r>
            <a:endParaRPr lang="zh-CN" altLang="en-US" b="1" dirty="0">
              <a:solidFill>
                <a:srgbClr val="00B0F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1DDD6-1F57-4920-AF4E-8A133F526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Weak learners from the family of lines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93414D-223B-4BED-8F14-7A4F12E7C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788" y="2528197"/>
            <a:ext cx="7164423" cy="411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463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2D4C0-8EE8-4166-9C7A-519318C5A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Boosting – 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Toy example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27C52C-331F-48D5-BA2D-7F3AB3279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317" y="1690688"/>
            <a:ext cx="8369955" cy="486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3120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2D4C0-8EE8-4166-9C7A-519318C5A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Boosting – 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Toy example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7B06F3-7E45-4C8C-A970-1B9F501CA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977" y="1871473"/>
            <a:ext cx="8281021" cy="444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6125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6D428-CE5C-44BD-88D3-42830A7C8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Boosting – 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Toy example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4239E8-BADC-48CD-B71E-4DE9FE903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206" y="1690688"/>
            <a:ext cx="8725272" cy="482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5624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C31FC-BEDB-42B2-B6A7-304CE550E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Boosting – 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Toy example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631082-4C57-44AE-BC1C-948FF1CA7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413" y="1835353"/>
            <a:ext cx="7992150" cy="465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7657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C31FC-BEDB-42B2-B6A7-304CE550E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Boosting – 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Toy example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B1F309-63D8-4106-B56E-D15A1F2FD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971" y="1929627"/>
            <a:ext cx="8548057" cy="465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6293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C31FC-BEDB-42B2-B6A7-304CE550E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Boosting – 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Toy example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2B5CA7-5627-4BBA-A2AC-9F4CD441E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966" y="1955770"/>
            <a:ext cx="9508067" cy="453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4150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78EE1-BCA1-4554-BBC1-8CC0FEFCB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AdaBoost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A77157-7FE1-4AC2-9ABF-0E15DFBF35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10000"/>
                  </a:lnSpc>
                  <a:buFont typeface="+mj-lt"/>
                  <a:buAutoNum type="arabicPeriod"/>
                </a:pPr>
                <a:r>
                  <a:rPr lang="en-US" altLang="zh-CN" dirty="0">
                    <a:cs typeface="+mn-ea"/>
                    <a:sym typeface="+mn-lt"/>
                  </a:rPr>
                  <a:t>Initialize the data weights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>
                    <a:cs typeface="+mn-ea"/>
                    <a:sym typeface="+mn-lt"/>
                  </a:rPr>
                  <a:t> by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𝑛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(1)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𝑁</m:t>
                        </m:r>
                      </m:den>
                    </m:f>
                  </m:oMath>
                </a14:m>
                <a:r>
                  <a:rPr lang="en-US" altLang="zh-CN" dirty="0">
                    <a:cs typeface="+mn-ea"/>
                    <a:sym typeface="+mn-lt"/>
                  </a:rPr>
                  <a:t> for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=1,…,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𝑁</m:t>
                    </m:r>
                  </m:oMath>
                </a14:m>
                <a:r>
                  <a:rPr lang="en-US" altLang="zh-CN" dirty="0">
                    <a:cs typeface="+mn-ea"/>
                    <a:sym typeface="+mn-lt"/>
                  </a:rPr>
                  <a:t>.</a:t>
                </a:r>
              </a:p>
              <a:p>
                <a:pPr marL="514350" indent="-514350">
                  <a:lnSpc>
                    <a:spcPct val="110000"/>
                  </a:lnSpc>
                  <a:buFont typeface="+mj-lt"/>
                  <a:buAutoNum type="arabicPeriod"/>
                </a:pPr>
                <a:r>
                  <a:rPr lang="en-US" altLang="zh-CN" dirty="0">
                    <a:cs typeface="+mn-ea"/>
                    <a:sym typeface="+mn-lt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=1,…,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𝑇</m:t>
                    </m:r>
                  </m:oMath>
                </a14:m>
                <a:endParaRPr lang="en-US" altLang="zh-CN" dirty="0">
                  <a:cs typeface="+mn-ea"/>
                  <a:sym typeface="+mn-lt"/>
                </a:endParaRPr>
              </a:p>
              <a:p>
                <a:pPr marL="971550" lvl="1" indent="-514350">
                  <a:lnSpc>
                    <a:spcPct val="110000"/>
                  </a:lnSpc>
                  <a:buFont typeface="+mj-lt"/>
                  <a:buAutoNum type="alphaLcParenR"/>
                </a:pPr>
                <a:r>
                  <a:rPr lang="en-US" altLang="zh-CN" dirty="0">
                    <a:cs typeface="+mn-ea"/>
                    <a:sym typeface="+mn-lt"/>
                  </a:rPr>
                  <a:t>Learn a classifier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h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r>
                  <a:rPr lang="en-US" altLang="zh-CN" dirty="0">
                    <a:cs typeface="+mn-ea"/>
                    <a:sym typeface="+mn-lt"/>
                  </a:rPr>
                  <a:t> that minimizes the weighted error</a:t>
                </a:r>
              </a:p>
              <a:p>
                <a:pPr marL="971550" lvl="1" indent="-514350">
                  <a:lnSpc>
                    <a:spcPct val="110000"/>
                  </a:lnSpc>
                  <a:buFont typeface="+mj-lt"/>
                  <a:buAutoNum type="alphaLcParenR"/>
                </a:pPr>
                <a:endParaRPr lang="en-US" altLang="zh-CN" dirty="0">
                  <a:cs typeface="+mn-ea"/>
                  <a:sym typeface="+mn-lt"/>
                </a:endParaRPr>
              </a:p>
              <a:p>
                <a:pPr marL="457200" lvl="1" indent="0">
                  <a:lnSpc>
                    <a:spcPct val="110000"/>
                  </a:lnSpc>
                  <a:buNone/>
                </a:pPr>
                <a:endParaRPr lang="en-US" altLang="zh-CN" dirty="0">
                  <a:cs typeface="+mn-ea"/>
                  <a:sym typeface="+mn-lt"/>
                </a:endParaRPr>
              </a:p>
              <a:p>
                <a:pPr marL="971550" lvl="1" indent="-514350">
                  <a:lnSpc>
                    <a:spcPct val="110000"/>
                  </a:lnSpc>
                  <a:buFont typeface="+mj-lt"/>
                  <a:buAutoNum type="alphaLcParenR" startAt="2"/>
                </a:pPr>
                <a:r>
                  <a:rPr lang="en-US" altLang="zh-CN" dirty="0">
                    <a:cs typeface="+mn-ea"/>
                    <a:sym typeface="+mn-lt"/>
                  </a:rPr>
                  <a:t>Evaluate</a:t>
                </a:r>
              </a:p>
              <a:p>
                <a:pPr marL="457200" lvl="1" indent="0">
                  <a:lnSpc>
                    <a:spcPct val="110000"/>
                  </a:lnSpc>
                  <a:buNone/>
                </a:pPr>
                <a:endParaRPr lang="en-US" altLang="zh-CN" dirty="0">
                  <a:cs typeface="+mn-ea"/>
                  <a:sym typeface="+mn-lt"/>
                </a:endParaRPr>
              </a:p>
              <a:p>
                <a:pPr marL="457200" lvl="1" indent="0">
                  <a:lnSpc>
                    <a:spcPct val="110000"/>
                  </a:lnSpc>
                  <a:buNone/>
                </a:pPr>
                <a:r>
                  <a:rPr lang="en-US" altLang="zh-CN" dirty="0">
                    <a:cs typeface="+mn-ea"/>
                    <a:sym typeface="+mn-lt"/>
                  </a:rPr>
                  <a:t>       and set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A77157-7FE1-4AC2-9ABF-0E15DFBF35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7858C35-6D54-4035-A116-276BF0E56F2B}"/>
                  </a:ext>
                </a:extLst>
              </p:cNvPr>
              <p:cNvSpPr txBox="1"/>
              <p:nvPr/>
            </p:nvSpPr>
            <p:spPr>
              <a:xfrm>
                <a:off x="2912533" y="3528099"/>
                <a:ext cx="3327400" cy="7788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𝑛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𝐼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)≠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7858C35-6D54-4035-A116-276BF0E56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533" y="3528099"/>
                <a:ext cx="3327400" cy="7788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5FE4C9-0302-4FC7-8080-85C952BF58E9}"/>
                  </a:ext>
                </a:extLst>
              </p:cNvPr>
              <p:cNvSpPr txBox="1"/>
              <p:nvPr/>
            </p:nvSpPr>
            <p:spPr>
              <a:xfrm>
                <a:off x="2844800" y="4806202"/>
                <a:ext cx="4826000" cy="6544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𝜖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𝑁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𝑛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𝑡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𝐼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)≠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𝑁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𝑛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𝑡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5FE4C9-0302-4FC7-8080-85C952BF5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4800" y="4806202"/>
                <a:ext cx="4826000" cy="6544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14DB4CA1-9764-4881-BBF8-4EF05C7B1930}"/>
              </a:ext>
            </a:extLst>
          </p:cNvPr>
          <p:cNvGrpSpPr/>
          <p:nvPr/>
        </p:nvGrpSpPr>
        <p:grpSpPr>
          <a:xfrm>
            <a:off x="7874000" y="119052"/>
            <a:ext cx="4214842" cy="1571636"/>
            <a:chOff x="3809984" y="1794355"/>
            <a:chExt cx="4214842" cy="1571636"/>
          </a:xfrm>
        </p:grpSpPr>
        <p:grpSp>
          <p:nvGrpSpPr>
            <p:cNvPr id="13" name="Group 19">
              <a:extLst>
                <a:ext uri="{FF2B5EF4-FFF2-40B4-BE49-F238E27FC236}">
                  <a16:creationId xmlns:a16="http://schemas.microsoft.com/office/drawing/2014/main" id="{08F959EF-57D7-44DB-B316-A04AB9C011E7}"/>
                </a:ext>
              </a:extLst>
            </p:cNvPr>
            <p:cNvGrpSpPr/>
            <p:nvPr/>
          </p:nvGrpSpPr>
          <p:grpSpPr>
            <a:xfrm>
              <a:off x="6524631" y="1794355"/>
              <a:ext cx="1500195" cy="1285884"/>
              <a:chOff x="4959271" y="1857364"/>
              <a:chExt cx="1184365" cy="1285884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080893A-9F19-47A1-AC1B-8EA2490F2F15}"/>
                  </a:ext>
                </a:extLst>
              </p:cNvPr>
              <p:cNvSpPr/>
              <p:nvPr/>
            </p:nvSpPr>
            <p:spPr>
              <a:xfrm>
                <a:off x="4959271" y="2643182"/>
                <a:ext cx="785818" cy="500066"/>
              </a:xfrm>
              <a:prstGeom prst="rect">
                <a:avLst/>
              </a:prstGeom>
              <a:noFill/>
              <a:ln w="254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3163643-DB37-4456-A17E-CD2B3A32CD40}"/>
                  </a:ext>
                </a:extLst>
              </p:cNvPr>
              <p:cNvSpPr txBox="1"/>
              <p:nvPr/>
            </p:nvSpPr>
            <p:spPr>
              <a:xfrm>
                <a:off x="5072066" y="1857364"/>
                <a:ext cx="107157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b="1" dirty="0">
                    <a:cs typeface="+mn-ea"/>
                    <a:sym typeface="+mn-lt"/>
                  </a:rPr>
                  <a:t>Weak classifier</a:t>
                </a:r>
              </a:p>
            </p:txBody>
          </p:sp>
        </p:grpSp>
        <p:grpSp>
          <p:nvGrpSpPr>
            <p:cNvPr id="14" name="Group 18">
              <a:extLst>
                <a:ext uri="{FF2B5EF4-FFF2-40B4-BE49-F238E27FC236}">
                  <a16:creationId xmlns:a16="http://schemas.microsoft.com/office/drawing/2014/main" id="{589F1F8C-165F-4651-84AB-7B952BD7F7CA}"/>
                </a:ext>
              </a:extLst>
            </p:cNvPr>
            <p:cNvGrpSpPr/>
            <p:nvPr/>
          </p:nvGrpSpPr>
          <p:grpSpPr>
            <a:xfrm>
              <a:off x="3809984" y="1794355"/>
              <a:ext cx="1643074" cy="1285884"/>
              <a:chOff x="2714612" y="1764522"/>
              <a:chExt cx="1428760" cy="1285884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056690D-BE4A-44E1-B03A-72EE96CA9E39}"/>
                  </a:ext>
                </a:extLst>
              </p:cNvPr>
              <p:cNvSpPr/>
              <p:nvPr/>
            </p:nvSpPr>
            <p:spPr>
              <a:xfrm>
                <a:off x="3233314" y="2550340"/>
                <a:ext cx="785818" cy="500066"/>
              </a:xfrm>
              <a:prstGeom prst="rect">
                <a:avLst/>
              </a:prstGeom>
              <a:noFill/>
              <a:ln w="25400">
                <a:solidFill>
                  <a:srgbClr val="3366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CDF691-BDD8-442F-A84A-8583B42C5028}"/>
                  </a:ext>
                </a:extLst>
              </p:cNvPr>
              <p:cNvSpPr txBox="1"/>
              <p:nvPr/>
            </p:nvSpPr>
            <p:spPr>
              <a:xfrm>
                <a:off x="2714612" y="1764522"/>
                <a:ext cx="14287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b="1" dirty="0">
                    <a:cs typeface="+mn-ea"/>
                    <a:sym typeface="+mn-lt"/>
                  </a:rPr>
                  <a:t>Strong classifier</a:t>
                </a:r>
              </a:p>
            </p:txBody>
          </p:sp>
        </p:grpSp>
        <p:pic>
          <p:nvPicPr>
            <p:cNvPr id="15" name="Picture 14" descr="eqn1359_1.png">
              <a:extLst>
                <a:ext uri="{FF2B5EF4-FFF2-40B4-BE49-F238E27FC236}">
                  <a16:creationId xmlns:a16="http://schemas.microsoft.com/office/drawing/2014/main" id="{F740A0CA-E4A4-4138-8741-FB3F7C125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lum bright="-100000"/>
            </a:blip>
            <a:stretch>
              <a:fillRect/>
            </a:stretch>
          </p:blipFill>
          <p:spPr>
            <a:xfrm>
              <a:off x="4465071" y="2294421"/>
              <a:ext cx="2916813" cy="107157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74D43C5-40F7-41CA-9C17-D51EFBEB3BDC}"/>
                  </a:ext>
                </a:extLst>
              </p:cNvPr>
              <p:cNvSpPr/>
              <p:nvPr/>
            </p:nvSpPr>
            <p:spPr>
              <a:xfrm>
                <a:off x="2723198" y="5776589"/>
                <a:ext cx="2196499" cy="716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ln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(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)</m:t>
                      </m:r>
                    </m:oMath>
                  </m:oMathPara>
                </a14:m>
                <a:endParaRPr lang="en-US" altLang="zh-CN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74D43C5-40F7-41CA-9C17-D51EFBEB3B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3198" y="5776589"/>
                <a:ext cx="2196499" cy="7160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87613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B5CB-8EFC-4967-AA5A-2DB3F2B48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AdaBoost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A91E1-6197-4F1D-878E-290410641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71550" lvl="1" indent="-514350">
              <a:lnSpc>
                <a:spcPct val="150000"/>
              </a:lnSpc>
              <a:buFont typeface="+mj-lt"/>
              <a:buAutoNum type="alphaLcParenR" startAt="3"/>
            </a:pPr>
            <a:r>
              <a:rPr lang="en-US" altLang="zh-CN" dirty="0">
                <a:cs typeface="+mn-ea"/>
                <a:sym typeface="+mn-lt"/>
              </a:rPr>
              <a:t>Update the data weighting coefficients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dirty="0">
              <a:cs typeface="+mn-ea"/>
              <a:sym typeface="+mn-lt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dirty="0">
              <a:cs typeface="+mn-ea"/>
              <a:sym typeface="+mn-lt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en-US" altLang="zh-CN" dirty="0">
                <a:cs typeface="+mn-ea"/>
                <a:sym typeface="+mn-lt"/>
              </a:rPr>
              <a:t>Make predictions using the final model by</a:t>
            </a:r>
            <a:endParaRPr lang="zh-CN" altLang="en-US" dirty="0"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0613DA0-CDCD-44FE-9549-CC1212DC42C2}"/>
                  </a:ext>
                </a:extLst>
              </p:cNvPr>
              <p:cNvSpPr/>
              <p:nvPr/>
            </p:nvSpPr>
            <p:spPr>
              <a:xfrm>
                <a:off x="3224592" y="2734670"/>
                <a:ext cx="5025094" cy="5361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𝑡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𝑒𝑥𝑝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𝑡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𝐼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h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𝑡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𝑥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)≠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𝑛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)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)</m:t>
                      </m:r>
                    </m:oMath>
                  </m:oMathPara>
                </a14:m>
                <a:endParaRPr lang="zh-CN" altLang="en-US" sz="24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0613DA0-CDCD-44FE-9549-CC1212DC42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92" y="2734670"/>
                <a:ext cx="5025094" cy="5361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E687E7A1-6FE9-436C-B865-39DE1F475461}"/>
              </a:ext>
            </a:extLst>
          </p:cNvPr>
          <p:cNvGrpSpPr/>
          <p:nvPr/>
        </p:nvGrpSpPr>
        <p:grpSpPr>
          <a:xfrm>
            <a:off x="7865533" y="119052"/>
            <a:ext cx="4214842" cy="1571636"/>
            <a:chOff x="3809984" y="1794355"/>
            <a:chExt cx="4214842" cy="1571636"/>
          </a:xfrm>
        </p:grpSpPr>
        <p:grpSp>
          <p:nvGrpSpPr>
            <p:cNvPr id="6" name="Group 19">
              <a:extLst>
                <a:ext uri="{FF2B5EF4-FFF2-40B4-BE49-F238E27FC236}">
                  <a16:creationId xmlns:a16="http://schemas.microsoft.com/office/drawing/2014/main" id="{FF7E1F06-70D1-4F57-8897-9B08B677A60F}"/>
                </a:ext>
              </a:extLst>
            </p:cNvPr>
            <p:cNvGrpSpPr/>
            <p:nvPr/>
          </p:nvGrpSpPr>
          <p:grpSpPr>
            <a:xfrm>
              <a:off x="6524631" y="1794355"/>
              <a:ext cx="1500195" cy="1285884"/>
              <a:chOff x="4959271" y="1857364"/>
              <a:chExt cx="1184365" cy="1285884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34035BC-B6A4-4BF1-AE7A-A0EE009E02CB}"/>
                  </a:ext>
                </a:extLst>
              </p:cNvPr>
              <p:cNvSpPr/>
              <p:nvPr/>
            </p:nvSpPr>
            <p:spPr>
              <a:xfrm>
                <a:off x="4959271" y="2643182"/>
                <a:ext cx="785818" cy="500066"/>
              </a:xfrm>
              <a:prstGeom prst="rect">
                <a:avLst/>
              </a:prstGeom>
              <a:noFill/>
              <a:ln w="254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EE6CB8-348D-4AC1-9E36-A96F811F00FB}"/>
                  </a:ext>
                </a:extLst>
              </p:cNvPr>
              <p:cNvSpPr txBox="1"/>
              <p:nvPr/>
            </p:nvSpPr>
            <p:spPr>
              <a:xfrm>
                <a:off x="5072066" y="1857364"/>
                <a:ext cx="107157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b="1" dirty="0">
                    <a:cs typeface="+mn-ea"/>
                    <a:sym typeface="+mn-lt"/>
                  </a:rPr>
                  <a:t>Weak classifier</a:t>
                </a:r>
              </a:p>
            </p:txBody>
          </p:sp>
        </p:grpSp>
        <p:grpSp>
          <p:nvGrpSpPr>
            <p:cNvPr id="7" name="Group 18">
              <a:extLst>
                <a:ext uri="{FF2B5EF4-FFF2-40B4-BE49-F238E27FC236}">
                  <a16:creationId xmlns:a16="http://schemas.microsoft.com/office/drawing/2014/main" id="{0E1C8419-6345-482C-96CD-ADCF2DBD2B66}"/>
                </a:ext>
              </a:extLst>
            </p:cNvPr>
            <p:cNvGrpSpPr/>
            <p:nvPr/>
          </p:nvGrpSpPr>
          <p:grpSpPr>
            <a:xfrm>
              <a:off x="3809984" y="1794355"/>
              <a:ext cx="1643074" cy="1285884"/>
              <a:chOff x="2714612" y="1764522"/>
              <a:chExt cx="1428760" cy="1285884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682A02D-3120-4908-BF97-3424600529C4}"/>
                  </a:ext>
                </a:extLst>
              </p:cNvPr>
              <p:cNvSpPr/>
              <p:nvPr/>
            </p:nvSpPr>
            <p:spPr>
              <a:xfrm>
                <a:off x="3233314" y="2550340"/>
                <a:ext cx="785818" cy="500066"/>
              </a:xfrm>
              <a:prstGeom prst="rect">
                <a:avLst/>
              </a:prstGeom>
              <a:noFill/>
              <a:ln w="25400">
                <a:solidFill>
                  <a:srgbClr val="3366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B7477A-3152-401D-8E2A-19DC98AA859B}"/>
                  </a:ext>
                </a:extLst>
              </p:cNvPr>
              <p:cNvSpPr txBox="1"/>
              <p:nvPr/>
            </p:nvSpPr>
            <p:spPr>
              <a:xfrm>
                <a:off x="2714612" y="1764522"/>
                <a:ext cx="14287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b="1" dirty="0">
                    <a:cs typeface="+mn-ea"/>
                    <a:sym typeface="+mn-lt"/>
                  </a:rPr>
                  <a:t>Strong classifier</a:t>
                </a:r>
              </a:p>
            </p:txBody>
          </p:sp>
        </p:grpSp>
        <p:pic>
          <p:nvPicPr>
            <p:cNvPr id="8" name="Picture 7" descr="eqn1359_1.png">
              <a:extLst>
                <a:ext uri="{FF2B5EF4-FFF2-40B4-BE49-F238E27FC236}">
                  <a16:creationId xmlns:a16="http://schemas.microsoft.com/office/drawing/2014/main" id="{1E3CFE57-B6D4-4460-9754-48870604F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lum bright="-100000"/>
            </a:blip>
            <a:stretch>
              <a:fillRect/>
            </a:stretch>
          </p:blipFill>
          <p:spPr>
            <a:xfrm>
              <a:off x="4465071" y="2294421"/>
              <a:ext cx="2916813" cy="107157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EFF0F44-0481-4B7B-9907-6E9D54B89D55}"/>
                  </a:ext>
                </a:extLst>
              </p:cNvPr>
              <p:cNvSpPr txBox="1"/>
              <p:nvPr/>
            </p:nvSpPr>
            <p:spPr>
              <a:xfrm>
                <a:off x="3420533" y="4529666"/>
                <a:ext cx="3607398" cy="10384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𝑠𝑖𝑔𝑛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(</m:t>
                      </m:r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𝑡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h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𝑡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𝑥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))</m:t>
                      </m:r>
                    </m:oMath>
                  </m:oMathPara>
                </a14:m>
                <a:endParaRPr lang="zh-CN" altLang="en-US" sz="24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EFF0F44-0481-4B7B-9907-6E9D54B89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533" y="4529666"/>
                <a:ext cx="3607398" cy="10384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63013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7E6EA-662D-404B-8233-481416188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AdaBoost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人脸检测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480BFE-CBF8-4A1C-9BB9-CCBDE89937B9}"/>
              </a:ext>
            </a:extLst>
          </p:cNvPr>
          <p:cNvSpPr/>
          <p:nvPr/>
        </p:nvSpPr>
        <p:spPr>
          <a:xfrm>
            <a:off x="3352817" y="6203111"/>
            <a:ext cx="5542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>
                <a:solidFill>
                  <a:srgbClr val="0070C0"/>
                </a:solidFill>
                <a:cs typeface="+mn-ea"/>
                <a:sym typeface="+mn-lt"/>
              </a:rPr>
              <a:t>Weak classifiers: </a:t>
            </a:r>
            <a:r>
              <a:rPr lang="en-GB" altLang="zh-CN" sz="2400" dirty="0" err="1">
                <a:cs typeface="+mn-ea"/>
                <a:sym typeface="+mn-lt"/>
              </a:rPr>
              <a:t>Haar</a:t>
            </a:r>
            <a:r>
              <a:rPr lang="en-GB" altLang="zh-CN" sz="2400" dirty="0">
                <a:cs typeface="+mn-ea"/>
                <a:sym typeface="+mn-lt"/>
              </a:rPr>
              <a:t>-basis like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A0BF3C3B-FEBD-493C-B663-C8E7E6F253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en-US" altLang="zh-CN" dirty="0">
                    <a:cs typeface="+mn-ea"/>
                    <a:sym typeface="+mn-lt"/>
                  </a:rPr>
                  <a:t>Defines a classifier using an additive model: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𝒉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…</m:t>
                      </m:r>
                    </m:oMath>
                  </m:oMathPara>
                </a14:m>
                <a:endParaRPr lang="en-US" altLang="zh-CN" dirty="0">
                  <a:cs typeface="+mn-ea"/>
                  <a:sym typeface="+mn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dirty="0">
                  <a:cs typeface="+mn-ea"/>
                  <a:sym typeface="+mn-lt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dirty="0">
                    <a:cs typeface="+mn-ea"/>
                    <a:sym typeface="+mn-lt"/>
                  </a:rPr>
                  <a:t>We need to define a family of weak classifiers</a:t>
                </a:r>
                <a:endParaRPr lang="zh-CN" altLang="en-US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A0BF3C3B-FEBD-493C-B663-C8E7E6F253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4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B6FBAEC-E7E9-4BB2-B3FA-E2C19066C1E5}"/>
              </a:ext>
            </a:extLst>
          </p:cNvPr>
          <p:cNvSpPr txBox="1"/>
          <p:nvPr/>
        </p:nvSpPr>
        <p:spPr>
          <a:xfrm>
            <a:off x="2215963" y="3170783"/>
            <a:ext cx="1056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cs typeface="+mn-ea"/>
                <a:sym typeface="+mn-lt"/>
              </a:rPr>
              <a:t>Strong</a:t>
            </a:r>
          </a:p>
          <a:p>
            <a:pPr algn="ctr"/>
            <a:r>
              <a:rPr lang="en-US" altLang="zh-CN" b="1" dirty="0">
                <a:solidFill>
                  <a:srgbClr val="0070C0"/>
                </a:solidFill>
                <a:cs typeface="+mn-ea"/>
                <a:sym typeface="+mn-lt"/>
              </a:rPr>
              <a:t>classifier</a:t>
            </a:r>
            <a:endParaRPr lang="zh-CN" altLang="en-US" b="1" dirty="0">
              <a:solidFill>
                <a:srgbClr val="0070C0"/>
              </a:solidFill>
              <a:cs typeface="+mn-ea"/>
              <a:sym typeface="+mn-lt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DDDA1E6-B827-4864-B944-2E07873827E4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2744314" y="2785533"/>
            <a:ext cx="202086" cy="3852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28AC78A-3C5A-4C9B-98F7-FE6948612044}"/>
              </a:ext>
            </a:extLst>
          </p:cNvPr>
          <p:cNvSpPr txBox="1"/>
          <p:nvPr/>
        </p:nvSpPr>
        <p:spPr>
          <a:xfrm>
            <a:off x="4586630" y="3170783"/>
            <a:ext cx="1056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cs typeface="+mn-ea"/>
                <a:sym typeface="+mn-lt"/>
              </a:rPr>
              <a:t>Weak</a:t>
            </a:r>
          </a:p>
          <a:p>
            <a:pPr algn="ctr"/>
            <a:r>
              <a:rPr lang="en-US" altLang="zh-CN" b="1" dirty="0">
                <a:solidFill>
                  <a:srgbClr val="0070C0"/>
                </a:solidFill>
                <a:cs typeface="+mn-ea"/>
                <a:sym typeface="+mn-lt"/>
              </a:rPr>
              <a:t>classifier</a:t>
            </a:r>
            <a:endParaRPr lang="zh-CN" altLang="en-US" b="1" dirty="0">
              <a:solidFill>
                <a:srgbClr val="0070C0"/>
              </a:solidFill>
              <a:cs typeface="+mn-ea"/>
              <a:sym typeface="+mn-lt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56EC652-31A8-4166-A1D5-DEED8D1C031A}"/>
              </a:ext>
            </a:extLst>
          </p:cNvPr>
          <p:cNvCxnSpPr>
            <a:cxnSpLocks/>
            <a:stCxn id="25" idx="0"/>
          </p:cNvCxnSpPr>
          <p:nvPr/>
        </p:nvCxnSpPr>
        <p:spPr>
          <a:xfrm flipH="1" flipV="1">
            <a:off x="4707467" y="2870200"/>
            <a:ext cx="407514" cy="3005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502CB59-9FFE-44A8-B52C-46CB3D43C80B}"/>
              </a:ext>
            </a:extLst>
          </p:cNvPr>
          <p:cNvGrpSpPr/>
          <p:nvPr/>
        </p:nvGrpSpPr>
        <p:grpSpPr>
          <a:xfrm>
            <a:off x="2416658" y="4202364"/>
            <a:ext cx="7358684" cy="1928826"/>
            <a:chOff x="2237778" y="4186009"/>
            <a:chExt cx="7358684" cy="1928826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3AC70DE-BD19-43C0-B0F4-EF8DE1432B3A}"/>
                </a:ext>
              </a:extLst>
            </p:cNvPr>
            <p:cNvSpPr/>
            <p:nvPr/>
          </p:nvSpPr>
          <p:spPr>
            <a:xfrm>
              <a:off x="2237778" y="4680945"/>
              <a:ext cx="3643338" cy="7858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grpSp>
          <p:nvGrpSpPr>
            <p:cNvPr id="33" name="Group 14">
              <a:extLst>
                <a:ext uri="{FF2B5EF4-FFF2-40B4-BE49-F238E27FC236}">
                  <a16:creationId xmlns:a16="http://schemas.microsoft.com/office/drawing/2014/main" id="{FF476654-2239-4E5A-AE16-ABC62C5DF235}"/>
                </a:ext>
              </a:extLst>
            </p:cNvPr>
            <p:cNvGrpSpPr/>
            <p:nvPr/>
          </p:nvGrpSpPr>
          <p:grpSpPr>
            <a:xfrm>
              <a:off x="6096000" y="4186009"/>
              <a:ext cx="3500462" cy="1928826"/>
              <a:chOff x="357158" y="1500174"/>
              <a:chExt cx="4288618" cy="2586050"/>
            </a:xfrm>
          </p:grpSpPr>
          <p:pic>
            <p:nvPicPr>
              <p:cNvPr id="35" name="Picture 2">
                <a:extLst>
                  <a:ext uri="{FF2B5EF4-FFF2-40B4-BE49-F238E27FC236}">
                    <a16:creationId xmlns:a16="http://schemas.microsoft.com/office/drawing/2014/main" id="{7B93EB3A-F7FF-4A27-8A6C-511AA9E61B9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57158" y="3004822"/>
                <a:ext cx="1075078" cy="10814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36" name="Picture 3">
                <a:extLst>
                  <a:ext uri="{FF2B5EF4-FFF2-40B4-BE49-F238E27FC236}">
                    <a16:creationId xmlns:a16="http://schemas.microsoft.com/office/drawing/2014/main" id="{B0A8AEE8-9A13-4E12-87D9-D3C361FBC2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1839087" y="1500175"/>
                <a:ext cx="1157290" cy="11636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37" name="Picture 4">
                <a:extLst>
                  <a:ext uri="{FF2B5EF4-FFF2-40B4-BE49-F238E27FC236}">
                    <a16:creationId xmlns:a16="http://schemas.microsoft.com/office/drawing/2014/main" id="{A87035FA-CD98-4815-9ACC-F656C2380E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3482162" y="1500174"/>
                <a:ext cx="1163614" cy="11572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38" name="Picture 5">
                <a:extLst>
                  <a:ext uri="{FF2B5EF4-FFF2-40B4-BE49-F238E27FC236}">
                    <a16:creationId xmlns:a16="http://schemas.microsoft.com/office/drawing/2014/main" id="{30C493EC-E295-4623-9252-46315F68CF8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1839087" y="2928935"/>
                <a:ext cx="1157290" cy="11509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39" name="Picture 6">
                <a:extLst>
                  <a:ext uri="{FF2B5EF4-FFF2-40B4-BE49-F238E27FC236}">
                    <a16:creationId xmlns:a16="http://schemas.microsoft.com/office/drawing/2014/main" id="{E3B46234-8ED3-4102-8DF8-D9AAE9A2FC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3482161" y="2928934"/>
                <a:ext cx="1157290" cy="11572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pic>
          <p:nvPicPr>
            <p:cNvPr id="34" name="Picture 33" descr="eqn1359_50.png">
              <a:extLst>
                <a:ext uri="{FF2B5EF4-FFF2-40B4-BE49-F238E27FC236}">
                  <a16:creationId xmlns:a16="http://schemas.microsoft.com/office/drawing/2014/main" id="{F987C101-B667-4013-8AE9-BC9FE71F17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lum bright="-100000"/>
            </a:blip>
            <a:stretch>
              <a:fillRect/>
            </a:stretch>
          </p:blipFill>
          <p:spPr>
            <a:xfrm>
              <a:off x="2380654" y="4752383"/>
              <a:ext cx="3500462" cy="6692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831007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20935-231E-4360-AFE4-3D6F8DA32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Image Features / Weak classifier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E4E6D-3ED3-4999-B539-0CCF1CB14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936547" cy="435133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“</a:t>
            </a:r>
            <a:r>
              <a:rPr lang="en-US" altLang="zh-CN" dirty="0" err="1">
                <a:cs typeface="+mn-ea"/>
                <a:sym typeface="+mn-lt"/>
              </a:rPr>
              <a:t>Haar</a:t>
            </a:r>
            <a:r>
              <a:rPr lang="en-US" altLang="zh-CN" dirty="0">
                <a:cs typeface="+mn-ea"/>
                <a:sym typeface="+mn-lt"/>
              </a:rPr>
              <a:t>-like feature”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4 kinds of Rectangle filters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Differences of sums of intensity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Thousands, computed at various positions and scales within detection window</a:t>
            </a:r>
          </a:p>
          <a:p>
            <a:pPr>
              <a:lnSpc>
                <a:spcPct val="120000"/>
              </a:lnSpc>
            </a:pP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8F1DE05-E59F-402D-9A37-8681B9FB32E2}"/>
              </a:ext>
            </a:extLst>
          </p:cNvPr>
          <p:cNvGrpSpPr/>
          <p:nvPr/>
        </p:nvGrpSpPr>
        <p:grpSpPr>
          <a:xfrm>
            <a:off x="1639888" y="4722812"/>
            <a:ext cx="8839200" cy="1589088"/>
            <a:chOff x="0" y="4343400"/>
            <a:chExt cx="8839200" cy="1589088"/>
          </a:xfrm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3195DA25-05EA-42D6-8D9E-A695A4CFF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4953000"/>
              <a:ext cx="304800" cy="4572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cs typeface="+mn-ea"/>
                <a:sym typeface="+mn-lt"/>
              </a:endParaRP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50C86356-229F-4837-82A8-487153493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4953000"/>
              <a:ext cx="304800" cy="457200"/>
            </a:xfrm>
            <a:prstGeom prst="rect">
              <a:avLst/>
            </a:prstGeom>
            <a:solidFill>
              <a:srgbClr val="808080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cs typeface="+mn-ea"/>
                <a:sym typeface="+mn-lt"/>
              </a:endParaRPr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8A4CAEE4-3AD4-4556-A2E0-3F325B246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181600"/>
              <a:ext cx="1295400" cy="2286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cs typeface="+mn-ea"/>
                <a:sym typeface="+mn-lt"/>
              </a:endParaRPr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EDAE2576-050C-475D-AEFD-F0968A906A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953000"/>
              <a:ext cx="1295400" cy="228600"/>
            </a:xfrm>
            <a:prstGeom prst="rect">
              <a:avLst/>
            </a:prstGeom>
            <a:solidFill>
              <a:srgbClr val="808080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cs typeface="+mn-ea"/>
                <a:sym typeface="+mn-lt"/>
              </a:endParaRPr>
            </a:p>
          </p:txBody>
        </p:sp>
        <p:sp>
          <p:nvSpPr>
            <p:cNvPr id="11" name="Rectangle 12">
              <a:extLst>
                <a:ext uri="{FF2B5EF4-FFF2-40B4-BE49-F238E27FC236}">
                  <a16:creationId xmlns:a16="http://schemas.microsoft.com/office/drawing/2014/main" id="{81A5751F-B25A-45A8-BD1A-D10AE1B09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4800600"/>
              <a:ext cx="4572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cs typeface="+mn-ea"/>
                <a:sym typeface="+mn-lt"/>
              </a:endParaRPr>
            </a:p>
          </p:txBody>
        </p:sp>
        <p:sp>
          <p:nvSpPr>
            <p:cNvPr id="12" name="Rectangle 13">
              <a:extLst>
                <a:ext uri="{FF2B5EF4-FFF2-40B4-BE49-F238E27FC236}">
                  <a16:creationId xmlns:a16="http://schemas.microsoft.com/office/drawing/2014/main" id="{0ECE0794-ADAA-4BBD-A51E-7DD586503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5105400"/>
              <a:ext cx="457200" cy="304800"/>
            </a:xfrm>
            <a:prstGeom prst="rect">
              <a:avLst/>
            </a:prstGeom>
            <a:solidFill>
              <a:srgbClr val="808080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cs typeface="+mn-ea"/>
                <a:sym typeface="+mn-lt"/>
              </a:endParaRPr>
            </a:p>
          </p:txBody>
        </p:sp>
        <p:sp>
          <p:nvSpPr>
            <p:cNvPr id="13" name="Rectangle 14">
              <a:extLst>
                <a:ext uri="{FF2B5EF4-FFF2-40B4-BE49-F238E27FC236}">
                  <a16:creationId xmlns:a16="http://schemas.microsoft.com/office/drawing/2014/main" id="{5A95CCD1-D077-446B-A8D2-CDE6C22FB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9200" y="4724400"/>
              <a:ext cx="228600" cy="685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cs typeface="+mn-ea"/>
                <a:sym typeface="+mn-lt"/>
              </a:endParaRPr>
            </a:p>
          </p:txBody>
        </p:sp>
        <p:sp>
          <p:nvSpPr>
            <p:cNvPr id="14" name="Rectangle 15">
              <a:extLst>
                <a:ext uri="{FF2B5EF4-FFF2-40B4-BE49-F238E27FC236}">
                  <a16:creationId xmlns:a16="http://schemas.microsoft.com/office/drawing/2014/main" id="{6D152622-D084-48C1-AA9A-92B64F6D2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4724400"/>
              <a:ext cx="228600" cy="685800"/>
            </a:xfrm>
            <a:prstGeom prst="rect">
              <a:avLst/>
            </a:prstGeom>
            <a:solidFill>
              <a:srgbClr val="808080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cs typeface="+mn-ea"/>
                <a:sym typeface="+mn-lt"/>
              </a:endParaRPr>
            </a:p>
          </p:txBody>
        </p:sp>
        <p:sp>
          <p:nvSpPr>
            <p:cNvPr id="15" name="Rectangle 16">
              <a:extLst>
                <a:ext uri="{FF2B5EF4-FFF2-40B4-BE49-F238E27FC236}">
                  <a16:creationId xmlns:a16="http://schemas.microsoft.com/office/drawing/2014/main" id="{EDA6DB38-419A-40E0-8D44-C883F8C24B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4495800"/>
              <a:ext cx="457200" cy="304800"/>
            </a:xfrm>
            <a:prstGeom prst="rect">
              <a:avLst/>
            </a:prstGeom>
            <a:solidFill>
              <a:srgbClr val="808080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cs typeface="+mn-ea"/>
                <a:sym typeface="+mn-lt"/>
              </a:endParaRPr>
            </a:p>
          </p:txBody>
        </p:sp>
        <p:sp>
          <p:nvSpPr>
            <p:cNvPr id="16" name="Rectangle 17">
              <a:extLst>
                <a:ext uri="{FF2B5EF4-FFF2-40B4-BE49-F238E27FC236}">
                  <a16:creationId xmlns:a16="http://schemas.microsoft.com/office/drawing/2014/main" id="{41CE131D-6693-4F71-B4CD-41732A321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4724400"/>
              <a:ext cx="228600" cy="685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cs typeface="+mn-ea"/>
                <a:sym typeface="+mn-lt"/>
              </a:endParaRPr>
            </a:p>
          </p:txBody>
        </p:sp>
        <p:sp>
          <p:nvSpPr>
            <p:cNvPr id="17" name="Rectangle 18">
              <a:extLst>
                <a:ext uri="{FF2B5EF4-FFF2-40B4-BE49-F238E27FC236}">
                  <a16:creationId xmlns:a16="http://schemas.microsoft.com/office/drawing/2014/main" id="{33055D20-9291-42BD-9178-608E46B2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5600" y="4800600"/>
              <a:ext cx="381000" cy="304800"/>
            </a:xfrm>
            <a:prstGeom prst="rect">
              <a:avLst/>
            </a:prstGeom>
            <a:solidFill>
              <a:srgbClr val="808080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cs typeface="+mn-ea"/>
                <a:sym typeface="+mn-lt"/>
              </a:endParaRPr>
            </a:p>
          </p:txBody>
        </p:sp>
        <p:sp>
          <p:nvSpPr>
            <p:cNvPr id="18" name="Rectangle 19">
              <a:extLst>
                <a:ext uri="{FF2B5EF4-FFF2-40B4-BE49-F238E27FC236}">
                  <a16:creationId xmlns:a16="http://schemas.microsoft.com/office/drawing/2014/main" id="{A08CAA81-38D1-467B-A412-85E9748E1E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5600" y="5105400"/>
              <a:ext cx="3810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cs typeface="+mn-ea"/>
                <a:sym typeface="+mn-lt"/>
              </a:endParaRPr>
            </a:p>
          </p:txBody>
        </p:sp>
        <p:sp>
          <p:nvSpPr>
            <p:cNvPr id="19" name="Rectangle 21">
              <a:extLst>
                <a:ext uri="{FF2B5EF4-FFF2-40B4-BE49-F238E27FC236}">
                  <a16:creationId xmlns:a16="http://schemas.microsoft.com/office/drawing/2014/main" id="{2F8A9F58-5CF7-48AF-AE13-AE9F8EF6C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6600" y="4800600"/>
              <a:ext cx="3810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cs typeface="+mn-ea"/>
                <a:sym typeface="+mn-lt"/>
              </a:endParaRPr>
            </a:p>
          </p:txBody>
        </p:sp>
        <p:sp>
          <p:nvSpPr>
            <p:cNvPr id="20" name="Rectangle 22">
              <a:extLst>
                <a:ext uri="{FF2B5EF4-FFF2-40B4-BE49-F238E27FC236}">
                  <a16:creationId xmlns:a16="http://schemas.microsoft.com/office/drawing/2014/main" id="{A98E1615-1BF7-4BEE-94DF-BB44C95AA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6600" y="5105400"/>
              <a:ext cx="381000" cy="304800"/>
            </a:xfrm>
            <a:prstGeom prst="rect">
              <a:avLst/>
            </a:prstGeom>
            <a:solidFill>
              <a:srgbClr val="808080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cs typeface="+mn-ea"/>
                <a:sym typeface="+mn-lt"/>
              </a:endParaRPr>
            </a:p>
          </p:txBody>
        </p:sp>
        <p:sp>
          <p:nvSpPr>
            <p:cNvPr id="21" name="Rectangle 23">
              <a:extLst>
                <a:ext uri="{FF2B5EF4-FFF2-40B4-BE49-F238E27FC236}">
                  <a16:creationId xmlns:a16="http://schemas.microsoft.com/office/drawing/2014/main" id="{16AFEA88-0257-4DF8-B437-EE35683EE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24800" y="4876800"/>
              <a:ext cx="228600" cy="5334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cs typeface="+mn-ea"/>
                <a:sym typeface="+mn-lt"/>
              </a:endParaRPr>
            </a:p>
          </p:txBody>
        </p:sp>
        <p:sp>
          <p:nvSpPr>
            <p:cNvPr id="22" name="Rectangle 24">
              <a:extLst>
                <a:ext uri="{FF2B5EF4-FFF2-40B4-BE49-F238E27FC236}">
                  <a16:creationId xmlns:a16="http://schemas.microsoft.com/office/drawing/2014/main" id="{14E2D712-24C2-4BB0-9C9B-DB1E4906A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00" y="4876800"/>
              <a:ext cx="228600" cy="533400"/>
            </a:xfrm>
            <a:prstGeom prst="rect">
              <a:avLst/>
            </a:prstGeom>
            <a:solidFill>
              <a:srgbClr val="808080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cs typeface="+mn-ea"/>
                <a:sym typeface="+mn-lt"/>
              </a:endParaRPr>
            </a:p>
          </p:txBody>
        </p:sp>
        <p:sp>
          <p:nvSpPr>
            <p:cNvPr id="23" name="Rectangle 25">
              <a:extLst>
                <a:ext uri="{FF2B5EF4-FFF2-40B4-BE49-F238E27FC236}">
                  <a16:creationId xmlns:a16="http://schemas.microsoft.com/office/drawing/2014/main" id="{14C0C934-7ED0-4CE0-B9BE-77B5560CA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00" y="4343400"/>
              <a:ext cx="228600" cy="5334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cs typeface="+mn-ea"/>
                <a:sym typeface="+mn-lt"/>
              </a:endParaRPr>
            </a:p>
          </p:txBody>
        </p:sp>
        <p:sp>
          <p:nvSpPr>
            <p:cNvPr id="24" name="Rectangle 26">
              <a:extLst>
                <a:ext uri="{FF2B5EF4-FFF2-40B4-BE49-F238E27FC236}">
                  <a16:creationId xmlns:a16="http://schemas.microsoft.com/office/drawing/2014/main" id="{02CD5D09-2668-4A9E-A2B7-A864B1B4D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24800" y="4343400"/>
              <a:ext cx="228600" cy="533400"/>
            </a:xfrm>
            <a:prstGeom prst="rect">
              <a:avLst/>
            </a:prstGeom>
            <a:solidFill>
              <a:srgbClr val="808080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cs typeface="+mn-ea"/>
                <a:sym typeface="+mn-lt"/>
              </a:endParaRPr>
            </a:p>
          </p:txBody>
        </p:sp>
        <p:sp>
          <p:nvSpPr>
            <p:cNvPr id="25" name="Text Box 27">
              <a:extLst>
                <a:ext uri="{FF2B5EF4-FFF2-40B4-BE49-F238E27FC236}">
                  <a16:creationId xmlns:a16="http://schemas.microsoft.com/office/drawing/2014/main" id="{DF92B064-35FA-4B81-A368-7ADDA6385F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5562600"/>
              <a:ext cx="26670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kern="0">
                  <a:solidFill>
                    <a:sysClr val="windowText" lastClr="000000"/>
                  </a:solidFill>
                  <a:cs typeface="+mn-ea"/>
                  <a:sym typeface="+mn-lt"/>
                </a:rPr>
                <a:t>Two-rectangle features</a:t>
              </a:r>
            </a:p>
          </p:txBody>
        </p:sp>
        <p:sp>
          <p:nvSpPr>
            <p:cNvPr id="26" name="Text Box 28">
              <a:extLst>
                <a:ext uri="{FF2B5EF4-FFF2-40B4-BE49-F238E27FC236}">
                  <a16:creationId xmlns:a16="http://schemas.microsoft.com/office/drawing/2014/main" id="{B21E2879-5929-47F7-8B38-D5F00B1E4F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600" y="5562600"/>
              <a:ext cx="28194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kern="0" dirty="0">
                  <a:solidFill>
                    <a:sysClr val="windowText" lastClr="000000"/>
                  </a:solidFill>
                  <a:cs typeface="+mn-ea"/>
                  <a:sym typeface="+mn-lt"/>
                </a:rPr>
                <a:t>Three-rectangle features</a:t>
              </a:r>
            </a:p>
          </p:txBody>
        </p:sp>
        <p:sp>
          <p:nvSpPr>
            <p:cNvPr id="27" name="Text Box 29">
              <a:extLst>
                <a:ext uri="{FF2B5EF4-FFF2-40B4-BE49-F238E27FC236}">
                  <a16:creationId xmlns:a16="http://schemas.microsoft.com/office/drawing/2014/main" id="{59A7C9D9-73EF-44B9-9878-6351A791BB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5562600"/>
              <a:ext cx="2667000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kern="0" dirty="0">
                  <a:solidFill>
                    <a:sysClr val="windowText" lastClr="000000"/>
                  </a:solidFill>
                  <a:cs typeface="+mn-ea"/>
                  <a:sym typeface="+mn-lt"/>
                </a:rPr>
                <a:t>Etc.</a:t>
              </a:r>
            </a:p>
          </p:txBody>
        </p:sp>
        <p:sp>
          <p:nvSpPr>
            <p:cNvPr id="28" name="TextBox 45">
              <a:extLst>
                <a:ext uri="{FF2B5EF4-FFF2-40B4-BE49-F238E27FC236}">
                  <a16:creationId xmlns:a16="http://schemas.microsoft.com/office/drawing/2014/main" id="{628903C0-A3E8-4ED0-8738-03002BE81B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" y="4572000"/>
              <a:ext cx="390525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cs typeface="+mn-ea"/>
                  <a:sym typeface="+mn-lt"/>
                </a:rPr>
                <a:t>-1</a:t>
              </a:r>
            </a:p>
          </p:txBody>
        </p:sp>
        <p:sp>
          <p:nvSpPr>
            <p:cNvPr id="29" name="TextBox 46">
              <a:extLst>
                <a:ext uri="{FF2B5EF4-FFF2-40B4-BE49-F238E27FC236}">
                  <a16:creationId xmlns:a16="http://schemas.microsoft.com/office/drawing/2014/main" id="{33B5CE7C-7433-4821-9D84-A551847405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572000"/>
              <a:ext cx="42992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cs typeface="+mn-ea"/>
                  <a:sym typeface="+mn-lt"/>
                </a:rPr>
                <a:t>+1</a:t>
              </a:r>
            </a:p>
          </p:txBody>
        </p:sp>
      </p:grpSp>
      <p:grpSp>
        <p:nvGrpSpPr>
          <p:cNvPr id="30" name="Group 14">
            <a:extLst>
              <a:ext uri="{FF2B5EF4-FFF2-40B4-BE49-F238E27FC236}">
                <a16:creationId xmlns:a16="http://schemas.microsoft.com/office/drawing/2014/main" id="{BA6BB9E9-AECD-490A-AE6F-E0AED82FACB4}"/>
              </a:ext>
            </a:extLst>
          </p:cNvPr>
          <p:cNvGrpSpPr/>
          <p:nvPr/>
        </p:nvGrpSpPr>
        <p:grpSpPr>
          <a:xfrm>
            <a:off x="7585857" y="1825625"/>
            <a:ext cx="3500462" cy="1928826"/>
            <a:chOff x="357158" y="1500174"/>
            <a:chExt cx="4288618" cy="2586050"/>
          </a:xfrm>
        </p:grpSpPr>
        <p:pic>
          <p:nvPicPr>
            <p:cNvPr id="31" name="Picture 2">
              <a:extLst>
                <a:ext uri="{FF2B5EF4-FFF2-40B4-BE49-F238E27FC236}">
                  <a16:creationId xmlns:a16="http://schemas.microsoft.com/office/drawing/2014/main" id="{2D69A9C9-FF05-420C-A3DE-01393DA211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57158" y="3004822"/>
              <a:ext cx="1075078" cy="10814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2" name="Picture 3">
              <a:extLst>
                <a:ext uri="{FF2B5EF4-FFF2-40B4-BE49-F238E27FC236}">
                  <a16:creationId xmlns:a16="http://schemas.microsoft.com/office/drawing/2014/main" id="{375813D4-8BCA-4131-9C63-1508301477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839087" y="1500175"/>
              <a:ext cx="1157290" cy="11636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3" name="Picture 4">
              <a:extLst>
                <a:ext uri="{FF2B5EF4-FFF2-40B4-BE49-F238E27FC236}">
                  <a16:creationId xmlns:a16="http://schemas.microsoft.com/office/drawing/2014/main" id="{DF211836-16BC-4DF0-8CC5-F166FB176C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482162" y="1500174"/>
              <a:ext cx="1163614" cy="11572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4" name="Picture 5">
              <a:extLst>
                <a:ext uri="{FF2B5EF4-FFF2-40B4-BE49-F238E27FC236}">
                  <a16:creationId xmlns:a16="http://schemas.microsoft.com/office/drawing/2014/main" id="{E02455BE-3F4B-4C85-A0A9-B50524B477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839087" y="2928935"/>
              <a:ext cx="1157290" cy="11509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5" name="Picture 6">
              <a:extLst>
                <a:ext uri="{FF2B5EF4-FFF2-40B4-BE49-F238E27FC236}">
                  <a16:creationId xmlns:a16="http://schemas.microsoft.com/office/drawing/2014/main" id="{601CD373-346A-4C7A-AF81-80DC573020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482161" y="2928934"/>
              <a:ext cx="1157290" cy="11572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244520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44CB3-2B8A-495C-9472-D3A1D7080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Image Features / Weak classifier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470091C-905F-4AFE-936E-7D8313F330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6203" y="1962632"/>
            <a:ext cx="63265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4595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E4520-5275-4458-B8E6-83A1327CF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Image Features / Weak classifier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72BDD-AF09-424A-88A1-5CA61A46D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dirty="0">
                <a:cs typeface="+mn-ea"/>
                <a:sym typeface="+mn-lt"/>
              </a:rPr>
              <a:t>For a 24*24 detection region, the number of possible rectangle features is ~160,000 !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A12441-16A1-4D82-8E7D-8FF5B9E1E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813" y="2843213"/>
            <a:ext cx="5467350" cy="3333750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43246F15-F2CD-4AB9-BE5A-D8E700D6A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2288" y="6338986"/>
            <a:ext cx="85344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en-US" sz="1400" b="0" dirty="0">
                <a:cs typeface="+mn-ea"/>
                <a:sym typeface="+mn-lt"/>
              </a:rPr>
              <a:t>P. Viola and M. Jones. </a:t>
            </a:r>
            <a:r>
              <a:rPr lang="en-US" sz="1400" b="0" i="1" dirty="0">
                <a:cs typeface="+mn-ea"/>
                <a:sym typeface="+mn-lt"/>
                <a:hlinkClick r:id="rId3"/>
              </a:rPr>
              <a:t>Rapid object detection using a boosted cascade of simple features.</a:t>
            </a:r>
            <a:r>
              <a:rPr lang="en-US" sz="1400" b="0" dirty="0">
                <a:cs typeface="+mn-ea"/>
                <a:sym typeface="+mn-lt"/>
              </a:rPr>
              <a:t> CVPR 2001. </a:t>
            </a:r>
          </a:p>
        </p:txBody>
      </p:sp>
    </p:spTree>
    <p:extLst>
      <p:ext uri="{BB962C8B-B14F-4D97-AF65-F5344CB8AC3E}">
        <p14:creationId xmlns:p14="http://schemas.microsoft.com/office/powerpoint/2010/main" val="34336859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E644E-AE1E-4F44-B953-63C0FD277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积分图 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(Integral Image)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91F9EB-7244-4EAF-A5B7-7C6DEC5A1B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6002868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对于每一个像素点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r>
                  <a:rPr lang="zh-CN" altLang="en-US" dirty="0">
                    <a:cs typeface="+mn-ea"/>
                    <a:sym typeface="+mn-lt"/>
                  </a:rPr>
                  <a:t>，计算从图像原点到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r>
                  <a:rPr lang="zh-CN" altLang="en-US" dirty="0">
                    <a:cs typeface="+mn-ea"/>
                    <a:sym typeface="+mn-lt"/>
                  </a:rPr>
                  <a:t>所有像素之和</a:t>
                </a:r>
                <a:r>
                  <a:rPr lang="zh-CN" altLang="en-US" dirty="0">
                    <a:solidFill>
                      <a:srgbClr val="0070C0"/>
                    </a:solidFill>
                    <a:cs typeface="+mn-ea"/>
                    <a:sym typeface="+mn-lt"/>
                  </a:rPr>
                  <a:t>（蓝色区域）</a:t>
                </a:r>
                <a:r>
                  <a:rPr lang="zh-CN" altLang="en-US" dirty="0">
                    <a:cs typeface="+mn-ea"/>
                    <a:sym typeface="+mn-lt"/>
                  </a:rPr>
                  <a:t>。</a:t>
                </a:r>
                <a:endParaRPr lang="en-US" altLang="zh-CN" dirty="0">
                  <a:cs typeface="+mn-ea"/>
                  <a:sym typeface="+mn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𝑖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𝑚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=0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𝑦</m:t>
                              </m:r>
                            </m:sup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𝑣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𝑚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dirty="0">
                  <a:cs typeface="+mn-ea"/>
                  <a:sym typeface="+mn-lt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solidFill>
                      <a:srgbClr val="92D050"/>
                    </a:solidFill>
                    <a:cs typeface="+mn-ea"/>
                    <a:sym typeface="+mn-lt"/>
                  </a:rPr>
                  <a:t>对图像进行一次遍历即可完成计算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91F9EB-7244-4EAF-A5B7-7C6DEC5A1B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6002868" cy="4351338"/>
              </a:xfrm>
              <a:blipFill>
                <a:blip r:embed="rId2"/>
                <a:stretch>
                  <a:fillRect l="-1726" t="-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0E44D1F-55CB-4663-AF40-840688785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705" y="2672722"/>
            <a:ext cx="4438095" cy="2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9944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BA5D3-2FD5-483A-B791-A0C86B850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任意矩形框内的像素之后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65907B-126F-4FC9-BE15-1EAB8C6E05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961467" cy="4351338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cs typeface="+mn-ea"/>
                    <a:sym typeface="+mn-lt"/>
                  </a:rPr>
                  <a:t>A, B, C, D</a:t>
                </a:r>
                <a:r>
                  <a:rPr lang="zh-CN" altLang="en-US" dirty="0">
                    <a:cs typeface="+mn-ea"/>
                    <a:sym typeface="+mn-lt"/>
                  </a:rPr>
                  <a:t>对应矩形框四个顶点的积分图的值</a:t>
                </a:r>
                <a:endParaRPr lang="en-US" altLang="zh-CN" dirty="0"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对应的像素之后：</a:t>
                </a:r>
                <a:endParaRPr lang="en-US" altLang="zh-CN" dirty="0">
                  <a:cs typeface="+mn-ea"/>
                  <a:sym typeface="+mn-lt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𝑠𝑢𝑚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𝐵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𝐶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𝐷</m:t>
                      </m:r>
                    </m:oMath>
                  </m:oMathPara>
                </a14:m>
                <a:endParaRPr lang="en-US" altLang="zh-CN" dirty="0"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b="1" dirty="0">
                    <a:solidFill>
                      <a:srgbClr val="0070C0"/>
                    </a:solidFill>
                    <a:cs typeface="+mn-ea"/>
                    <a:sym typeface="+mn-lt"/>
                  </a:rPr>
                  <a:t>仅需要三次运算</a:t>
                </a:r>
                <a:endParaRPr lang="en-US" altLang="zh-CN" b="1" dirty="0">
                  <a:solidFill>
                    <a:srgbClr val="0070C0"/>
                  </a:solidFill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65907B-126F-4FC9-BE15-1EAB8C6E05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961467" cy="4351338"/>
              </a:xfrm>
              <a:blipFill>
                <a:blip r:embed="rId2"/>
                <a:stretch>
                  <a:fillRect l="-2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BC19795-7FE2-4DBE-BEC8-C0D0F2AB9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019" y="2794794"/>
            <a:ext cx="4414781" cy="241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6686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201A1-536D-4159-9367-E3303C0CC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Viola &amp; Jones algorithm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E30D6-7903-48F0-B564-623761372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cs typeface="+mn-ea"/>
                <a:sym typeface="+mn-lt"/>
              </a:rPr>
              <a:t>Evaluate each rectangle filter on each example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82395E-9943-4BF0-8FB2-F3822AEA3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055" y="2538899"/>
            <a:ext cx="9284865" cy="377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4567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1290F-9925-4063-8D10-CE545B6D3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Viola &amp; Jones algorithm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95AD6-4CB2-4869-893B-907413017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en-US" altLang="zh-CN" dirty="0">
                <a:cs typeface="+mn-ea"/>
                <a:sym typeface="+mn-lt"/>
              </a:rPr>
              <a:t>Select best filter/threshold combination</a:t>
            </a:r>
          </a:p>
          <a:p>
            <a:pPr marL="514350" indent="-514350">
              <a:buFont typeface="+mj-lt"/>
              <a:buAutoNum type="arabicPeriod" startAt="2"/>
            </a:pPr>
            <a:endParaRPr lang="en-US" altLang="zh-CN" dirty="0">
              <a:cs typeface="+mn-ea"/>
              <a:sym typeface="+mn-lt"/>
            </a:endParaRPr>
          </a:p>
          <a:p>
            <a:pPr marL="514350" indent="-514350">
              <a:buFont typeface="+mj-lt"/>
              <a:buAutoNum type="arabicPeriod" startAt="2"/>
            </a:pPr>
            <a:endParaRPr lang="en-US" altLang="zh-CN" dirty="0">
              <a:cs typeface="+mn-ea"/>
              <a:sym typeface="+mn-lt"/>
            </a:endParaRPr>
          </a:p>
          <a:p>
            <a:pPr marL="514350" indent="-514350">
              <a:buFont typeface="+mj-lt"/>
              <a:buAutoNum type="arabicPeriod" startAt="2"/>
            </a:pPr>
            <a:endParaRPr lang="en-US" altLang="zh-CN" dirty="0">
              <a:cs typeface="+mn-ea"/>
              <a:sym typeface="+mn-lt"/>
            </a:endParaRPr>
          </a:p>
          <a:p>
            <a:pPr marL="514350" indent="-514350">
              <a:buFont typeface="+mj-lt"/>
              <a:buAutoNum type="arabicPeriod" startAt="2"/>
            </a:pPr>
            <a:endParaRPr lang="en-US" altLang="zh-CN" dirty="0">
              <a:cs typeface="+mn-ea"/>
              <a:sym typeface="+mn-lt"/>
            </a:endParaRPr>
          </a:p>
          <a:p>
            <a:pPr marL="514350" indent="-514350">
              <a:buFont typeface="+mj-lt"/>
              <a:buAutoNum type="arabicPeriod" startAt="2"/>
            </a:pPr>
            <a:endParaRPr lang="en-US" altLang="zh-CN" dirty="0">
              <a:cs typeface="+mn-ea"/>
              <a:sym typeface="+mn-lt"/>
            </a:endParaRPr>
          </a:p>
          <a:p>
            <a:pPr marL="514350" indent="-514350">
              <a:buFont typeface="+mj-lt"/>
              <a:buAutoNum type="arabicPeriod" startAt="2"/>
            </a:pPr>
            <a:r>
              <a:rPr lang="en-US" altLang="zh-CN" dirty="0">
                <a:cs typeface="+mn-ea"/>
                <a:sym typeface="+mn-lt"/>
              </a:rPr>
              <a:t>Reweight examples</a:t>
            </a:r>
          </a:p>
          <a:p>
            <a:pPr marL="514350" indent="-514350">
              <a:buFont typeface="+mj-lt"/>
              <a:buAutoNum type="arabicPeriod" startAt="2"/>
            </a:pP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D83654-3672-4E17-8325-66EDE6127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733" y="2421656"/>
            <a:ext cx="8069510" cy="24240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0D9EE0-3375-47D9-8E9A-117101BD5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6631" y="5724582"/>
            <a:ext cx="5485714" cy="9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2238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95011-3EA6-41B8-9E85-9FA247F52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Viola &amp; Jones algorithm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C456F-5F68-4BBD-BE7D-D0083CB17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一个</a:t>
            </a:r>
            <a:r>
              <a:rPr lang="en-US" altLang="zh-CN" dirty="0"/>
              <a:t>24*24</a:t>
            </a:r>
            <a:r>
              <a:rPr lang="zh-CN" altLang="en-US" dirty="0"/>
              <a:t>的窗口就有</a:t>
            </a:r>
            <a:r>
              <a:rPr lang="en-US" altLang="zh-CN" dirty="0"/>
              <a:t>160000</a:t>
            </a:r>
            <a:r>
              <a:rPr lang="zh-CN" altLang="en-US" dirty="0"/>
              <a:t>个特征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文章中说</a:t>
            </a:r>
            <a:r>
              <a:rPr lang="en-US" altLang="zh-CN" dirty="0"/>
              <a:t>200</a:t>
            </a:r>
            <a:r>
              <a:rPr lang="zh-CN" altLang="en-US" dirty="0"/>
              <a:t>个特征就能够提供</a:t>
            </a:r>
            <a:r>
              <a:rPr lang="en-US" altLang="zh-CN" dirty="0"/>
              <a:t>95%</a:t>
            </a:r>
            <a:r>
              <a:rPr lang="zh-CN" altLang="en-US" dirty="0"/>
              <a:t>的准确度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最后使用</a:t>
            </a:r>
            <a:r>
              <a:rPr lang="en-US" altLang="zh-CN" dirty="0"/>
              <a:t>6000</a:t>
            </a:r>
            <a:r>
              <a:rPr lang="zh-CN" altLang="en-US" dirty="0"/>
              <a:t>个特征</a:t>
            </a:r>
            <a:endParaRPr lang="en-US" altLang="zh-C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F37139-E659-4B05-9E17-C5CAFED4C4E8}"/>
              </a:ext>
            </a:extLst>
          </p:cNvPr>
          <p:cNvSpPr/>
          <p:nvPr/>
        </p:nvSpPr>
        <p:spPr>
          <a:xfrm>
            <a:off x="3325850" y="4547573"/>
            <a:ext cx="5540299" cy="7375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cs typeface="+mn-ea"/>
                <a:sym typeface="+mn-lt"/>
              </a:rPr>
              <a:t>如何进一步降低计算复杂度？</a:t>
            </a:r>
            <a:endParaRPr lang="en-US" altLang="zh-CN" sz="32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152044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78B47-FC3B-4942-9F37-CEA09559D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Cascade for Fast Detection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37931-0498-4B11-BFD9-FD4C579CF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95799"/>
            <a:ext cx="10515600" cy="1681163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Fast classifiers early in cascade which reject many negative examples but detect almost all positive examples.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Slow classifiers later, but most examples don’t get there.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337280-7F80-49EB-834B-93DD546C4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266" y="1646926"/>
            <a:ext cx="8038444" cy="284887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4B1007F-177B-435B-BF22-F4530B601813}"/>
              </a:ext>
            </a:extLst>
          </p:cNvPr>
          <p:cNvSpPr/>
          <p:nvPr/>
        </p:nvSpPr>
        <p:spPr>
          <a:xfrm>
            <a:off x="8670843" y="6492875"/>
            <a:ext cx="35211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404040"/>
                </a:solidFill>
                <a:cs typeface="+mn-ea"/>
                <a:sym typeface="+mn-lt"/>
                <a:hlinkClick r:id="rId3"/>
              </a:rPr>
              <a:t>采用</a:t>
            </a:r>
            <a:r>
              <a:rPr lang="en-US" altLang="zh-CN" b="1" dirty="0" err="1">
                <a:solidFill>
                  <a:srgbClr val="404040"/>
                </a:solidFill>
                <a:cs typeface="+mn-ea"/>
                <a:sym typeface="+mn-lt"/>
                <a:hlinkClick r:id="rId3"/>
              </a:rPr>
              <a:t>Haar</a:t>
            </a:r>
            <a:r>
              <a:rPr lang="en-US" altLang="zh-CN" b="1" dirty="0">
                <a:solidFill>
                  <a:srgbClr val="404040"/>
                </a:solidFill>
                <a:cs typeface="+mn-ea"/>
                <a:sym typeface="+mn-lt"/>
                <a:hlinkClick r:id="rId3"/>
              </a:rPr>
              <a:t> Cascades</a:t>
            </a:r>
            <a:r>
              <a:rPr lang="zh-CN" altLang="en-US" b="1" dirty="0">
                <a:solidFill>
                  <a:srgbClr val="404040"/>
                </a:solidFill>
                <a:cs typeface="+mn-ea"/>
                <a:sym typeface="+mn-lt"/>
                <a:hlinkClick r:id="rId3"/>
              </a:rPr>
              <a:t>进行人脸检测</a:t>
            </a:r>
            <a:endParaRPr lang="zh-CN" altLang="en-US" b="1" i="0" dirty="0">
              <a:solidFill>
                <a:srgbClr val="404040"/>
              </a:solidFill>
              <a:effectLst/>
              <a:cs typeface="+mn-ea"/>
              <a:sym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F38B16-F275-435F-ADC2-A4F8F527D1AD}"/>
              </a:ext>
            </a:extLst>
          </p:cNvPr>
          <p:cNvSpPr/>
          <p:nvPr/>
        </p:nvSpPr>
        <p:spPr>
          <a:xfrm>
            <a:off x="8085667" y="121028"/>
            <a:ext cx="398968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  <a:latin typeface="Lato"/>
              </a:rPr>
              <a:t>文章</a:t>
            </a:r>
            <a:r>
              <a:rPr lang="zh-CN" altLang="en-US" sz="2400" b="0" i="0" dirty="0">
                <a:solidFill>
                  <a:srgbClr val="00B0F0"/>
                </a:solidFill>
                <a:effectLst/>
                <a:latin typeface="Lato"/>
              </a:rPr>
              <a:t>作者将 </a:t>
            </a:r>
            <a:r>
              <a:rPr lang="en-US" altLang="zh-CN" sz="2400" b="0" i="0" dirty="0">
                <a:solidFill>
                  <a:srgbClr val="00B0F0"/>
                </a:solidFill>
                <a:effectLst/>
                <a:latin typeface="Lato"/>
              </a:rPr>
              <a:t>6000 </a:t>
            </a:r>
            <a:r>
              <a:rPr lang="zh-CN" altLang="en-US" sz="2400" b="0" i="0" dirty="0">
                <a:solidFill>
                  <a:srgbClr val="00B0F0"/>
                </a:solidFill>
                <a:effectLst/>
                <a:latin typeface="Lato"/>
              </a:rPr>
              <a:t>多个特征分为 </a:t>
            </a:r>
            <a:r>
              <a:rPr lang="en-US" altLang="zh-CN" sz="2400" b="0" i="0" dirty="0">
                <a:solidFill>
                  <a:srgbClr val="00B0F0"/>
                </a:solidFill>
                <a:effectLst/>
                <a:latin typeface="Lato"/>
              </a:rPr>
              <a:t>38 </a:t>
            </a:r>
            <a:r>
              <a:rPr lang="zh-CN" altLang="en-US" sz="2400" b="0" i="0" dirty="0">
                <a:solidFill>
                  <a:srgbClr val="00B0F0"/>
                </a:solidFill>
                <a:effectLst/>
                <a:latin typeface="Lato"/>
              </a:rPr>
              <a:t>个阶段，前五个阶段的特征数分别为 </a:t>
            </a:r>
            <a:r>
              <a:rPr lang="en-US" altLang="zh-CN" sz="2400" b="0" i="0" dirty="0">
                <a:solidFill>
                  <a:srgbClr val="00B0F0"/>
                </a:solidFill>
                <a:effectLst/>
                <a:latin typeface="Lato"/>
              </a:rPr>
              <a:t>1</a:t>
            </a:r>
            <a:r>
              <a:rPr lang="zh-CN" altLang="en-US" sz="2400" dirty="0">
                <a:solidFill>
                  <a:srgbClr val="00B0F0"/>
                </a:solidFill>
                <a:latin typeface="Lato"/>
              </a:rPr>
              <a:t>、</a:t>
            </a:r>
            <a:r>
              <a:rPr lang="en-US" altLang="zh-CN" sz="2400" b="0" i="0" dirty="0">
                <a:solidFill>
                  <a:srgbClr val="00B0F0"/>
                </a:solidFill>
                <a:effectLst/>
                <a:latin typeface="Lato"/>
              </a:rPr>
              <a:t>10</a:t>
            </a:r>
            <a:r>
              <a:rPr lang="zh-CN" altLang="en-US" sz="2400" dirty="0">
                <a:solidFill>
                  <a:srgbClr val="00B0F0"/>
                </a:solidFill>
                <a:latin typeface="Lato"/>
              </a:rPr>
              <a:t>、</a:t>
            </a:r>
            <a:r>
              <a:rPr lang="en-US" altLang="zh-CN" sz="2400" b="0" i="0" dirty="0">
                <a:solidFill>
                  <a:srgbClr val="00B0F0"/>
                </a:solidFill>
                <a:effectLst/>
                <a:latin typeface="Lato"/>
              </a:rPr>
              <a:t>25</a:t>
            </a:r>
            <a:r>
              <a:rPr lang="zh-CN" altLang="en-US" sz="2400" dirty="0">
                <a:solidFill>
                  <a:srgbClr val="00B0F0"/>
                </a:solidFill>
                <a:latin typeface="Lato"/>
              </a:rPr>
              <a:t>、</a:t>
            </a:r>
            <a:r>
              <a:rPr lang="en-US" altLang="zh-CN" sz="2400" b="0" i="0" dirty="0">
                <a:solidFill>
                  <a:srgbClr val="00B0F0"/>
                </a:solidFill>
                <a:effectLst/>
                <a:latin typeface="Lato"/>
              </a:rPr>
              <a:t>25 </a:t>
            </a:r>
            <a:r>
              <a:rPr lang="zh-CN" altLang="en-US" sz="2400" b="0" i="0" dirty="0">
                <a:solidFill>
                  <a:srgbClr val="00B0F0"/>
                </a:solidFill>
                <a:effectLst/>
                <a:latin typeface="Lato"/>
              </a:rPr>
              <a:t>和 </a:t>
            </a:r>
            <a:r>
              <a:rPr lang="en-US" altLang="zh-CN" sz="2400" b="0" i="0" dirty="0">
                <a:solidFill>
                  <a:srgbClr val="00B0F0"/>
                </a:solidFill>
                <a:effectLst/>
                <a:latin typeface="Lato"/>
              </a:rPr>
              <a:t>50</a:t>
            </a:r>
            <a:r>
              <a:rPr lang="zh-CN" altLang="en-US" sz="2400" b="0" i="0" dirty="0">
                <a:solidFill>
                  <a:srgbClr val="00B0F0"/>
                </a:solidFill>
                <a:effectLst/>
                <a:latin typeface="Lato"/>
              </a:rPr>
              <a:t>。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89363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BD48F-8C23-4A0D-8F7F-8CD29736B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后处理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BD7DF-2AAA-405D-AF59-49AE544C1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cs typeface="+mn-ea"/>
                <a:sym typeface="+mn-lt"/>
              </a:rPr>
              <a:t>非极大值抑制</a:t>
            </a:r>
          </a:p>
        </p:txBody>
      </p:sp>
      <p:pic>
        <p:nvPicPr>
          <p:cNvPr id="4" name="Picture 6" descr="这里写图片描述">
            <a:extLst>
              <a:ext uri="{FF2B5EF4-FFF2-40B4-BE49-F238E27FC236}">
                <a16:creationId xmlns:a16="http://schemas.microsoft.com/office/drawing/2014/main" id="{FDA3134A-F6D9-45C1-ABC5-BE14FCAD9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350" y="2830444"/>
            <a:ext cx="57912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这里写图片描述">
            <a:extLst>
              <a:ext uri="{FF2B5EF4-FFF2-40B4-BE49-F238E27FC236}">
                <a16:creationId xmlns:a16="http://schemas.microsoft.com/office/drawing/2014/main" id="{56B2D031-CDD4-4FB8-9670-C018623CD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4411" y="2830444"/>
            <a:ext cx="57912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81577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21BCE-56C2-4666-97E9-F2D197C3C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非极大值抑制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2" descr="这里写图片描述">
            <a:extLst>
              <a:ext uri="{FF2B5EF4-FFF2-40B4-BE49-F238E27FC236}">
                <a16:creationId xmlns:a16="http://schemas.microsoft.com/office/drawing/2014/main" id="{822BDA15-A97B-496F-ABA9-42071050F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934" y="1490663"/>
            <a:ext cx="57912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这里写图片描述">
            <a:extLst>
              <a:ext uri="{FF2B5EF4-FFF2-40B4-BE49-F238E27FC236}">
                <a16:creationId xmlns:a16="http://schemas.microsoft.com/office/drawing/2014/main" id="{ADF07D21-38A9-42DA-B2CF-F048D52A8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934" y="4159199"/>
            <a:ext cx="57912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Object Detction #1: NMS. In a typical object detection pipeline… | by yy |  Medium">
            <a:extLst>
              <a:ext uri="{FF2B5EF4-FFF2-40B4-BE49-F238E27FC236}">
                <a16:creationId xmlns:a16="http://schemas.microsoft.com/office/drawing/2014/main" id="{854460B1-7FF8-4F51-88D0-86504A64C46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9319" y="1825524"/>
            <a:ext cx="4324481" cy="4667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08651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847BC-D36C-40B1-94F0-300B11614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YuNet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 (CNN) vs. </a:t>
            </a:r>
            <a:r>
              <a:rPr lang="en-US" altLang="zh-CN" b="1" dirty="0" err="1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Haar</a:t>
            </a:r>
            <a:endParaRPr lang="zh-CN" altLang="en-US" b="1" dirty="0">
              <a:solidFill>
                <a:srgbClr val="00B0F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2761C-8482-498A-9046-F44DA61DF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9133" y="1825625"/>
            <a:ext cx="5875867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 err="1">
                <a:cs typeface="+mn-ea"/>
                <a:sym typeface="+mn-lt"/>
              </a:rPr>
              <a:t>YuNet</a:t>
            </a:r>
            <a:r>
              <a:rPr lang="zh-CN" altLang="en-US" dirty="0">
                <a:cs typeface="+mn-ea"/>
                <a:sym typeface="+mn-lt"/>
              </a:rPr>
              <a:t>于</a:t>
            </a:r>
            <a:r>
              <a:rPr lang="en-US" altLang="zh-CN" dirty="0">
                <a:cs typeface="+mn-ea"/>
                <a:sym typeface="+mn-lt"/>
              </a:rPr>
              <a:t>2018</a:t>
            </a:r>
            <a:r>
              <a:rPr lang="zh-CN" altLang="en-US" dirty="0">
                <a:cs typeface="+mn-ea"/>
                <a:sym typeface="+mn-lt"/>
              </a:rPr>
              <a:t>年</a:t>
            </a:r>
            <a:r>
              <a:rPr lang="en-US" altLang="zh-CN" dirty="0">
                <a:cs typeface="+mn-ea"/>
                <a:sym typeface="+mn-lt"/>
              </a:rPr>
              <a:t>12</a:t>
            </a:r>
            <a:r>
              <a:rPr lang="zh-CN" altLang="en-US" dirty="0">
                <a:cs typeface="+mn-ea"/>
                <a:sym typeface="+mn-lt"/>
              </a:rPr>
              <a:t>月发布，</a:t>
            </a:r>
            <a:r>
              <a:rPr lang="en-US" altLang="zh-CN" dirty="0">
                <a:cs typeface="+mn-ea"/>
                <a:sym typeface="+mn-lt"/>
              </a:rPr>
              <a:t>2019</a:t>
            </a:r>
            <a:r>
              <a:rPr lang="zh-CN" altLang="en-US" dirty="0">
                <a:cs typeface="+mn-ea"/>
                <a:sym typeface="+mn-lt"/>
              </a:rPr>
              <a:t>年</a:t>
            </a:r>
            <a:r>
              <a:rPr lang="en-US" altLang="zh-CN" dirty="0">
                <a:cs typeface="+mn-ea"/>
                <a:sym typeface="+mn-lt"/>
              </a:rPr>
              <a:t>3</a:t>
            </a:r>
            <a:r>
              <a:rPr lang="zh-CN" altLang="en-US" dirty="0">
                <a:cs typeface="+mn-ea"/>
                <a:sym typeface="+mn-lt"/>
              </a:rPr>
              <a:t>月开源。它是一个强大的、轻量级的人脸检测模型，可以装载在大部分设备上运行。</a:t>
            </a:r>
            <a:r>
              <a:rPr lang="en-US" altLang="zh-CN" dirty="0" err="1">
                <a:cs typeface="+mn-ea"/>
                <a:sym typeface="+mn-lt"/>
              </a:rPr>
              <a:t>YuNet</a:t>
            </a:r>
            <a:r>
              <a:rPr lang="zh-CN" altLang="en-US" dirty="0">
                <a:cs typeface="+mn-ea"/>
                <a:sym typeface="+mn-lt"/>
              </a:rPr>
              <a:t>的人脸检测速度可达到</a:t>
            </a:r>
            <a:r>
              <a:rPr lang="en-US" altLang="zh-CN" dirty="0">
                <a:cs typeface="+mn-ea"/>
                <a:sym typeface="+mn-lt"/>
              </a:rPr>
              <a:t>1000fps</a:t>
            </a:r>
            <a:r>
              <a:rPr lang="zh-CN" altLang="en-US" dirty="0">
                <a:cs typeface="+mn-ea"/>
                <a:sym typeface="+mn-lt"/>
              </a:rPr>
              <a:t>，并且可以检测很多较难检测的对象，如被遮挡的人脸、侧脸等。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7249E9-DC70-414B-8CD5-2A215163380B}"/>
              </a:ext>
            </a:extLst>
          </p:cNvPr>
          <p:cNvSpPr/>
          <p:nvPr/>
        </p:nvSpPr>
        <p:spPr>
          <a:xfrm>
            <a:off x="6096000" y="6488668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US" altLang="zh-CN" dirty="0">
                <a:solidFill>
                  <a:srgbClr val="222222"/>
                </a:solidFill>
                <a:cs typeface="+mn-ea"/>
                <a:sym typeface="+mn-lt"/>
                <a:hlinkClick r:id="rId2"/>
              </a:rPr>
              <a:t>OpenCV</a:t>
            </a:r>
            <a:r>
              <a:rPr lang="zh-CN" altLang="en-US" dirty="0">
                <a:solidFill>
                  <a:srgbClr val="222222"/>
                </a:solidFill>
                <a:cs typeface="+mn-ea"/>
                <a:sym typeface="+mn-lt"/>
                <a:hlinkClick r:id="rId2"/>
              </a:rPr>
              <a:t>人脸检测：级联分类器与</a:t>
            </a:r>
            <a:r>
              <a:rPr lang="en-US" altLang="zh-CN" dirty="0" err="1">
                <a:solidFill>
                  <a:srgbClr val="222222"/>
                </a:solidFill>
                <a:cs typeface="+mn-ea"/>
                <a:sym typeface="+mn-lt"/>
                <a:hlinkClick r:id="rId2"/>
              </a:rPr>
              <a:t>YuNet</a:t>
            </a:r>
            <a:r>
              <a:rPr lang="zh-CN" altLang="en-US" dirty="0">
                <a:solidFill>
                  <a:srgbClr val="222222"/>
                </a:solidFill>
                <a:cs typeface="+mn-ea"/>
                <a:sym typeface="+mn-lt"/>
                <a:hlinkClick r:id="rId2"/>
              </a:rPr>
              <a:t>效果对比</a:t>
            </a:r>
            <a:endParaRPr lang="zh-CN" altLang="en-US" dirty="0">
              <a:solidFill>
                <a:srgbClr val="222222"/>
              </a:solidFill>
              <a:cs typeface="+mn-ea"/>
              <a:sym typeface="+mn-lt"/>
            </a:endParaRPr>
          </a:p>
        </p:txBody>
      </p:sp>
      <p:pic>
        <p:nvPicPr>
          <p:cNvPr id="4098" name="Picture 2" descr="图片">
            <a:extLst>
              <a:ext uri="{FF2B5EF4-FFF2-40B4-BE49-F238E27FC236}">
                <a16:creationId xmlns:a16="http://schemas.microsoft.com/office/drawing/2014/main" id="{A206A0C2-CD1C-48A3-B9CF-31F9447E89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5" t="194" r="7132"/>
          <a:stretch/>
        </p:blipFill>
        <p:spPr bwMode="auto">
          <a:xfrm>
            <a:off x="745068" y="1998500"/>
            <a:ext cx="5257800" cy="4005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603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8C756-9E62-4204-8B1F-9D9AFDC58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YuNet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 (CNN) vs. </a:t>
            </a:r>
            <a:r>
              <a:rPr lang="en-US" altLang="zh-CN" b="1" dirty="0" err="1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Haar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A43FE-76FD-4BD3-9FCE-3264B7F13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5D62AD-F16E-4244-B03D-1B5F0AD86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72968"/>
            <a:ext cx="5126955" cy="45908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E374A0-7933-4C48-BA47-85C2A3CD7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016" y="1825625"/>
            <a:ext cx="5042071" cy="497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5753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99CF3-3220-44A3-9DF8-923FAE79A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YuNet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 (CNN) vs. </a:t>
            </a:r>
            <a:r>
              <a:rPr lang="en-US" altLang="zh-CN" b="1" dirty="0" err="1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Haar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0482E-3728-4290-BE5A-9A03C4F91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5DBFD9-2C2B-46AD-93B2-92E50D4E8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5195448" cy="47244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F1D508-E887-4DF5-9EE5-8F7742B96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705" y="1807572"/>
            <a:ext cx="5083630" cy="476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948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D3FA5-DD48-4A3E-9EDF-1DDEF693B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提纲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7F4FE-4C3B-4452-A577-4E91A120E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cs typeface="+mn-ea"/>
                <a:sym typeface="+mn-lt"/>
              </a:rPr>
              <a:t>机器学习基础</a:t>
            </a:r>
            <a:endParaRPr lang="en-US" altLang="zh-CN" b="1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cs typeface="+mn-ea"/>
                <a:sym typeface="+mn-lt"/>
              </a:rPr>
              <a:t>目标检测简介</a:t>
            </a:r>
            <a:endParaRPr lang="en-US" altLang="zh-CN" b="1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B0F0"/>
                </a:solidFill>
                <a:cs typeface="+mn-ea"/>
                <a:sym typeface="+mn-lt"/>
              </a:rPr>
              <a:t>人脸检测与识别</a:t>
            </a:r>
            <a:endParaRPr lang="en-US" altLang="zh-CN" b="1" dirty="0">
              <a:solidFill>
                <a:srgbClr val="00B0F0"/>
              </a:solidFill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Viola/Jones</a:t>
            </a:r>
            <a:r>
              <a:rPr lang="zh-CN" altLang="en-US" dirty="0">
                <a:cs typeface="+mn-ea"/>
                <a:sym typeface="+mn-lt"/>
              </a:rPr>
              <a:t>人脸检测器</a:t>
            </a: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solidFill>
                  <a:srgbClr val="00B0F0"/>
                </a:solidFill>
                <a:cs typeface="+mn-ea"/>
                <a:sym typeface="+mn-lt"/>
              </a:rPr>
              <a:t>LBP</a:t>
            </a:r>
            <a:r>
              <a:rPr lang="zh-CN" altLang="en-US" dirty="0">
                <a:solidFill>
                  <a:srgbClr val="00B0F0"/>
                </a:solidFill>
                <a:cs typeface="+mn-ea"/>
                <a:sym typeface="+mn-lt"/>
              </a:rPr>
              <a:t>人脸识别</a:t>
            </a:r>
            <a:endParaRPr lang="en-US" altLang="zh-CN" dirty="0">
              <a:solidFill>
                <a:srgbClr val="00B0F0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cs typeface="+mn-ea"/>
                <a:sym typeface="+mn-lt"/>
              </a:rPr>
              <a:t>行人检测</a:t>
            </a:r>
          </a:p>
        </p:txBody>
      </p:sp>
    </p:spTree>
    <p:extLst>
      <p:ext uri="{BB962C8B-B14F-4D97-AF65-F5344CB8AC3E}">
        <p14:creationId xmlns:p14="http://schemas.microsoft.com/office/powerpoint/2010/main" val="9713432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9B992-A1CB-4D85-BAB9-46768E07D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人脸识别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E6659-4A13-4B43-B732-EE5F67471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00023"/>
            <a:ext cx="10515600" cy="4351338"/>
          </a:xfrm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Picture 2" descr="https://929687.smushcdn.com/2633864/wp-content/uploads/2021/03/what_is_face_reco_history.png?size=700x353&amp;lossy=1&amp;strip=1&amp;webp=1">
            <a:extLst>
              <a:ext uri="{FF2B5EF4-FFF2-40B4-BE49-F238E27FC236}">
                <a16:creationId xmlns:a16="http://schemas.microsoft.com/office/drawing/2014/main" id="{9F4FB891-1E4C-48DC-9F0F-F15CCD1B7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279" y="1856052"/>
            <a:ext cx="8005441" cy="403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C8DD536-88C9-4F9C-92C8-80BADEF05E48}"/>
              </a:ext>
            </a:extLst>
          </p:cNvPr>
          <p:cNvSpPr/>
          <p:nvPr/>
        </p:nvSpPr>
        <p:spPr>
          <a:xfrm>
            <a:off x="3048000" y="6045614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zh-CN" altLang="en-US" sz="2800" b="1" i="0" dirty="0">
                <a:solidFill>
                  <a:srgbClr val="051E50"/>
                </a:solidFill>
                <a:effectLst/>
                <a:cs typeface="+mn-ea"/>
                <a:sym typeface="+mn-lt"/>
              </a:rPr>
              <a:t>人脸识别发展的简要历史</a:t>
            </a:r>
            <a:endParaRPr lang="en-US" altLang="zh-CN" sz="2800" b="1" i="0" dirty="0">
              <a:solidFill>
                <a:srgbClr val="051E50"/>
              </a:solidFill>
              <a:effectLst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72599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28649-DAB1-439A-A623-4CDA1DF73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人脸识别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EBAA2-2165-4E76-B0E4-2F04DFE78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2050" name="Picture 2" descr="https://ask.qcloudimg.com/http-save/yehe-7282388/c3lroqmspu.jpeg?imageView2/2/w/1620">
            <a:extLst>
              <a:ext uri="{FF2B5EF4-FFF2-40B4-BE49-F238E27FC236}">
                <a16:creationId xmlns:a16="http://schemas.microsoft.com/office/drawing/2014/main" id="{7B31CF61-9C2D-4B7C-A109-7B946DC26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523" y="1613686"/>
            <a:ext cx="8874953" cy="495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25654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AAA2E-CC9C-4FAC-8091-C5C4B2131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b="1" dirty="0">
                <a:latin typeface="+mn-lt"/>
                <a:ea typeface="+mn-ea"/>
                <a:cs typeface="+mn-ea"/>
                <a:sym typeface="+mn-lt"/>
              </a:rPr>
              <a:t>Local Binary Patterns (LBP) for Face Recognition</a:t>
            </a:r>
            <a:endParaRPr lang="zh-CN" altLang="en-US" sz="3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B581B-8D7B-4DC8-B648-36A3188E0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644901-B0A3-46B0-8216-221B3CD77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616" y="1825625"/>
            <a:ext cx="7100767" cy="4380651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BBBFE5F1-C7B3-42DA-ACE0-095F0EB55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6550223"/>
            <a:ext cx="85344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r"/>
            <a:r>
              <a:rPr lang="en-US" sz="1400" dirty="0">
                <a:cs typeface="+mn-ea"/>
                <a:sym typeface="+mn-lt"/>
              </a:rPr>
              <a:t>T. </a:t>
            </a:r>
            <a:r>
              <a:rPr lang="en-US" sz="1400" dirty="0" err="1">
                <a:cs typeface="+mn-ea"/>
                <a:sym typeface="+mn-lt"/>
              </a:rPr>
              <a:t>Ahonen</a:t>
            </a:r>
            <a:r>
              <a:rPr lang="en-US" sz="1400" dirty="0">
                <a:cs typeface="+mn-ea"/>
                <a:sym typeface="+mn-lt"/>
              </a:rPr>
              <a:t> et al</a:t>
            </a:r>
            <a:r>
              <a:rPr lang="en-US" sz="1400" b="0" dirty="0">
                <a:cs typeface="+mn-ea"/>
                <a:sym typeface="+mn-lt"/>
              </a:rPr>
              <a:t>. </a:t>
            </a:r>
            <a:r>
              <a:rPr lang="en-US" sz="1400" i="1" dirty="0">
                <a:cs typeface="+mn-ea"/>
                <a:sym typeface="+mn-lt"/>
              </a:rPr>
              <a:t>Face Recognition with Local Binary Patterns</a:t>
            </a:r>
            <a:r>
              <a:rPr lang="en-US" sz="1400" b="0" dirty="0">
                <a:cs typeface="+mn-ea"/>
                <a:sym typeface="+mn-lt"/>
              </a:rPr>
              <a:t> ECCV 2004. </a:t>
            </a:r>
          </a:p>
        </p:txBody>
      </p:sp>
    </p:spTree>
    <p:extLst>
      <p:ext uri="{BB962C8B-B14F-4D97-AF65-F5344CB8AC3E}">
        <p14:creationId xmlns:p14="http://schemas.microsoft.com/office/powerpoint/2010/main" val="11951032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0255F-1A77-4E42-B295-93933113F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LBP Operator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7F2D2-A6D6-4C53-9537-D884AE070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One of the best performing texture descriptors</a:t>
            </a:r>
          </a:p>
          <a:p>
            <a:r>
              <a:rPr lang="en-US" altLang="zh-CN" dirty="0">
                <a:cs typeface="+mn-ea"/>
                <a:sym typeface="+mn-lt"/>
              </a:rPr>
              <a:t>A label is assigned to every pixel</a:t>
            </a:r>
          </a:p>
          <a:p>
            <a:r>
              <a:rPr lang="en-US" altLang="zh-CN" dirty="0">
                <a:cs typeface="+mn-ea"/>
                <a:sym typeface="+mn-lt"/>
              </a:rPr>
              <a:t>Use center pixel value to threshold the 3*3 neighborhood</a:t>
            </a:r>
          </a:p>
          <a:p>
            <a:r>
              <a:rPr lang="en-US" altLang="zh-CN" dirty="0">
                <a:cs typeface="+mn-ea"/>
                <a:sym typeface="+mn-lt"/>
              </a:rPr>
              <a:t>Result in binary number</a:t>
            </a:r>
          </a:p>
          <a:p>
            <a:r>
              <a:rPr lang="en-US" altLang="zh-CN" dirty="0">
                <a:cs typeface="+mn-ea"/>
                <a:sym typeface="+mn-lt"/>
              </a:rPr>
              <a:t>Histogram of the labels is used as texture descriptor</a:t>
            </a:r>
          </a:p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2" descr="https://pica.zhimg.com/80/v2-5ed20e0a3a36b7bc8cd2cef30c39912d_720w.jpg?source=1940ef5c">
            <a:extLst>
              <a:ext uri="{FF2B5EF4-FFF2-40B4-BE49-F238E27FC236}">
                <a16:creationId xmlns:a16="http://schemas.microsoft.com/office/drawing/2014/main" id="{BFE618EB-BA74-4EF0-BB6F-C013E89B3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2338" y="241944"/>
            <a:ext cx="3543300" cy="197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Farideh\Desktop\Capture2.PNG">
            <a:extLst>
              <a:ext uri="{FF2B5EF4-FFF2-40B4-BE49-F238E27FC236}">
                <a16:creationId xmlns:a16="http://schemas.microsoft.com/office/drawing/2014/main" id="{2D84F956-48AB-4CC2-91A1-C74A2A7F5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7745" y="4576763"/>
            <a:ext cx="8236509" cy="1600200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E2FBB6-C839-49B4-86AD-650D8C64B3C3}"/>
              </a:ext>
            </a:extLst>
          </p:cNvPr>
          <p:cNvSpPr txBox="1"/>
          <p:nvPr/>
        </p:nvSpPr>
        <p:spPr>
          <a:xfrm>
            <a:off x="4644745" y="6329363"/>
            <a:ext cx="2413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cs typeface="+mn-ea"/>
                <a:sym typeface="+mn-lt"/>
              </a:rPr>
              <a:t>The Basic LBP operator</a:t>
            </a:r>
          </a:p>
        </p:txBody>
      </p:sp>
    </p:spTree>
    <p:extLst>
      <p:ext uri="{BB962C8B-B14F-4D97-AF65-F5344CB8AC3E}">
        <p14:creationId xmlns:p14="http://schemas.microsoft.com/office/powerpoint/2010/main" val="14169731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40CC8-FC85-42FF-A121-DCDB562C6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LBP Operator (2)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A0BF1-D7DF-4D93-86D3-A1BB5FDB0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>
                <a:cs typeface="+mn-ea"/>
                <a:sym typeface="+mn-lt"/>
              </a:rPr>
              <a:t>LBP is extended to use different sizes of neighborhoods.</a:t>
            </a:r>
          </a:p>
          <a:p>
            <a:r>
              <a:rPr lang="en-US" altLang="zh-CN" sz="2400" dirty="0">
                <a:cs typeface="+mn-ea"/>
                <a:sym typeface="+mn-lt"/>
              </a:rPr>
              <a:t>Local neighborhoods is defined as a set of </a:t>
            </a:r>
            <a:r>
              <a:rPr lang="en-US" altLang="zh-CN" sz="2400" b="1" dirty="0">
                <a:solidFill>
                  <a:srgbClr val="0070C0"/>
                </a:solidFill>
                <a:cs typeface="+mn-ea"/>
                <a:sym typeface="+mn-lt"/>
              </a:rPr>
              <a:t>sampling points</a:t>
            </a:r>
            <a:r>
              <a:rPr lang="en-US" altLang="zh-CN" sz="2400" dirty="0">
                <a:cs typeface="+mn-ea"/>
                <a:sym typeface="+mn-lt"/>
              </a:rPr>
              <a:t>.</a:t>
            </a:r>
          </a:p>
          <a:p>
            <a:r>
              <a:rPr lang="en-US" altLang="zh-CN" sz="2400" dirty="0">
                <a:cs typeface="+mn-ea"/>
                <a:sym typeface="+mn-lt"/>
              </a:rPr>
              <a:t>points evenly spaced on a circle centered at the labeled pixel.</a:t>
            </a:r>
          </a:p>
          <a:p>
            <a:r>
              <a:rPr lang="en-US" altLang="zh-CN" sz="2400" b="1" dirty="0">
                <a:solidFill>
                  <a:srgbClr val="0070C0"/>
                </a:solidFill>
                <a:cs typeface="+mn-ea"/>
                <a:sym typeface="+mn-lt"/>
              </a:rPr>
              <a:t>(P, R), P = number of sampling points , R = radius  </a:t>
            </a:r>
          </a:p>
          <a:p>
            <a:r>
              <a:rPr lang="en-US" altLang="zh-CN" sz="2400" b="1" dirty="0">
                <a:solidFill>
                  <a:srgbClr val="0070C0"/>
                </a:solidFill>
                <a:cs typeface="+mn-ea"/>
                <a:sym typeface="+mn-lt"/>
              </a:rPr>
              <a:t>Bilinear interpolation </a:t>
            </a:r>
            <a:r>
              <a:rPr lang="en-US" altLang="zh-CN" sz="2400" dirty="0">
                <a:cs typeface="+mn-ea"/>
                <a:sym typeface="+mn-lt"/>
              </a:rPr>
              <a:t>is used if sampling point is not in the center of the pixel. </a:t>
            </a:r>
          </a:p>
          <a:p>
            <a:endParaRPr lang="zh-CN" altLang="en-US" sz="2400" dirty="0">
              <a:cs typeface="+mn-ea"/>
              <a:sym typeface="+mn-lt"/>
            </a:endParaRPr>
          </a:p>
        </p:txBody>
      </p:sp>
      <p:pic>
        <p:nvPicPr>
          <p:cNvPr id="4" name="Picture 3" descr="C:\Users\Farideh\Desktop\Capture3.PNG">
            <a:extLst>
              <a:ext uri="{FF2B5EF4-FFF2-40B4-BE49-F238E27FC236}">
                <a16:creationId xmlns:a16="http://schemas.microsoft.com/office/drawing/2014/main" id="{FAC105E3-B195-4AA5-BF1B-7C99EDE01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555" y="4283617"/>
            <a:ext cx="6248889" cy="1893346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D564F7-098B-41E7-B047-EF80BB810D86}"/>
              </a:ext>
            </a:extLst>
          </p:cNvPr>
          <p:cNvSpPr txBox="1"/>
          <p:nvPr/>
        </p:nvSpPr>
        <p:spPr>
          <a:xfrm>
            <a:off x="2209555" y="6264817"/>
            <a:ext cx="777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cs typeface="+mn-ea"/>
                <a:sym typeface="+mn-lt"/>
              </a:rPr>
              <a:t>The circular (8,1), (16,2) and (8,2) neighborhoods. The pixel values are bilinearly</a:t>
            </a:r>
          </a:p>
          <a:p>
            <a:pPr algn="ctr"/>
            <a:r>
              <a:rPr lang="en-US" sz="1400" dirty="0">
                <a:cs typeface="+mn-ea"/>
                <a:sym typeface="+mn-lt"/>
              </a:rPr>
              <a:t>interpolated whenever the sampling point is not in the center of a pixel.</a:t>
            </a:r>
          </a:p>
        </p:txBody>
      </p:sp>
    </p:spTree>
    <p:extLst>
      <p:ext uri="{BB962C8B-B14F-4D97-AF65-F5344CB8AC3E}">
        <p14:creationId xmlns:p14="http://schemas.microsoft.com/office/powerpoint/2010/main" val="25390974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04CA9-B3FE-459F-919D-89B45AE7A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线性插值（</a:t>
            </a:r>
            <a:r>
              <a:rPr lang="en-US" altLang="zh-CN" b="1" dirty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Linear Interpolation</a:t>
            </a:r>
            <a:r>
              <a:rPr lang="zh-CN" altLang="en-US" b="1" dirty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E6A421-D062-4EA0-85DD-02056A3BC7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731374"/>
              </a:xfrm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en-US" altLang="zh-CN" dirty="0">
                    <a:cs typeface="+mn-ea"/>
                    <a:sym typeface="+mn-lt"/>
                  </a:rPr>
                  <a:t>Interpolate the </a:t>
                </a:r>
                <a:r>
                  <a:rPr lang="en-US" altLang="zh-CN" spc="-5" dirty="0">
                    <a:cs typeface="+mn-ea"/>
                    <a:sym typeface="+mn-lt"/>
                  </a:rPr>
                  <a:t>value </a:t>
                </a:r>
                <a14:m>
                  <m:oMath xmlns:m="http://schemas.openxmlformats.org/officeDocument/2006/math">
                    <m:r>
                      <a:rPr lang="zh-CN" altLang="en-US" sz="2400" i="1" spc="-10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𝑓</m:t>
                    </m:r>
                    <m:r>
                      <a:rPr lang="en-US" altLang="zh-CN" sz="2400" i="1" spc="-10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a:rPr lang="zh-CN" altLang="en-US" sz="2400" i="1" spc="-10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𝑝</m:t>
                    </m:r>
                    <m:r>
                      <a:rPr lang="en-US" altLang="zh-CN" sz="2400" i="1" spc="-10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  <m:r>
                      <a:rPr lang="en-US" altLang="zh-CN" sz="2400" i="1" spc="-325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</m:t>
                    </m:r>
                  </m:oMath>
                </a14:m>
                <a:r>
                  <a:rPr lang="en-US" altLang="zh-CN" dirty="0">
                    <a:cs typeface="+mn-ea"/>
                    <a:sym typeface="+mn-lt"/>
                  </a:rPr>
                  <a:t>of  a point </a:t>
                </a:r>
                <a14:m>
                  <m:oMath xmlns:m="http://schemas.openxmlformats.org/officeDocument/2006/math">
                    <m:r>
                      <a:rPr lang="zh-CN" altLang="en-US" sz="2400" i="1" spc="-105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𝑝</m:t>
                    </m:r>
                  </m:oMath>
                </a14:m>
                <a:r>
                  <a:rPr lang="zh-CN" altLang="en-US" sz="2400" spc="-105" dirty="0">
                    <a:cs typeface="+mn-ea"/>
                    <a:sym typeface="+mn-lt"/>
                  </a:rPr>
                  <a:t> </a:t>
                </a:r>
                <a:r>
                  <a:rPr lang="en-US" altLang="zh-CN" spc="-5" dirty="0">
                    <a:cs typeface="+mn-ea"/>
                    <a:sym typeface="+mn-lt"/>
                  </a:rPr>
                  <a:t>between </a:t>
                </a:r>
                <a14:m>
                  <m:oMath xmlns:m="http://schemas.openxmlformats.org/officeDocument/2006/math">
                    <m:r>
                      <a:rPr lang="zh-CN" altLang="en-US" sz="2400" i="1" spc="-170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𝑝</m:t>
                    </m:r>
                    <m:r>
                      <a:rPr lang="en-US" altLang="zh-CN" sz="2625" i="1" spc="-254" baseline="-15873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1 </m:t>
                    </m:r>
                  </m:oMath>
                </a14:m>
                <a:r>
                  <a:rPr lang="en-US" altLang="zh-CN" dirty="0">
                    <a:cs typeface="+mn-ea"/>
                    <a:sym typeface="+mn-lt"/>
                  </a:rPr>
                  <a:t>and</a:t>
                </a:r>
                <a:r>
                  <a:rPr lang="en-US" altLang="zh-CN" spc="20" dirty="0"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400" i="1" spc="-145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𝑝</m:t>
                    </m:r>
                    <m:r>
                      <a:rPr lang="en-US" altLang="zh-CN" sz="2625" i="1" spc="-217" baseline="-15873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2</m:t>
                    </m:r>
                  </m:oMath>
                </a14:m>
                <a:endParaRPr lang="en-US" altLang="zh-CN" sz="2625" baseline="-15873" dirty="0">
                  <a:cs typeface="+mn-ea"/>
                  <a:sym typeface="+mn-lt"/>
                </a:endParaRP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zh-CN" altLang="en-US" i="1" spc="-10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𝑓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a:rPr lang="zh-CN" altLang="en-US" i="1" spc="-10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𝑝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r>
                  <a:rPr lang="zh-CN" altLang="en-US" dirty="0">
                    <a:cs typeface="+mn-ea"/>
                    <a:sym typeface="+mn-lt"/>
                  </a:rPr>
                  <a:t> </a:t>
                </a:r>
                <a:r>
                  <a:rPr lang="en-US" altLang="zh-CN" dirty="0">
                    <a:cs typeface="+mn-ea"/>
                    <a:sym typeface="+mn-lt"/>
                  </a:rPr>
                  <a:t>is the </a:t>
                </a:r>
                <a:r>
                  <a:rPr lang="en-US" altLang="zh-CN" dirty="0">
                    <a:solidFill>
                      <a:srgbClr val="00B050"/>
                    </a:solidFill>
                    <a:cs typeface="+mn-ea"/>
                    <a:sym typeface="+mn-lt"/>
                  </a:rPr>
                  <a:t>weighted sum </a:t>
                </a:r>
                <a:r>
                  <a:rPr lang="en-US" altLang="zh-CN" dirty="0">
                    <a:cs typeface="+mn-ea"/>
                    <a:sym typeface="+mn-lt"/>
                  </a:rPr>
                  <a:t>of </a:t>
                </a:r>
                <a14:m>
                  <m:oMath xmlns:m="http://schemas.openxmlformats.org/officeDocument/2006/math">
                    <m:r>
                      <a:rPr lang="zh-CN" altLang="en-US" i="1" spc="-10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𝑓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sSub>
                      <m:sSubPr>
                        <m:ctrlPr>
                          <a:rPr lang="en-US" altLang="zh-CN" i="1" spc="-10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pc="-10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𝑝</m:t>
                        </m:r>
                      </m:e>
                      <m:sub>
                        <m:r>
                          <a:rPr lang="en-US" altLang="zh-CN" b="0" i="1" spc="-10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sub>
                    </m:sSub>
                    <m:r>
                      <a:rPr lang="en-US" altLang="zh-CN" i="1" spc="-10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r>
                  <a:rPr lang="zh-CN" altLang="en-US" dirty="0">
                    <a:cs typeface="+mn-ea"/>
                    <a:sym typeface="+mn-lt"/>
                  </a:rPr>
                  <a:t> </a:t>
                </a:r>
                <a:r>
                  <a:rPr lang="en-US" altLang="zh-CN" dirty="0">
                    <a:cs typeface="+mn-ea"/>
                    <a:sym typeface="+mn-lt"/>
                  </a:rPr>
                  <a:t>and </a:t>
                </a:r>
                <a14:m>
                  <m:oMath xmlns:m="http://schemas.openxmlformats.org/officeDocument/2006/math">
                    <m:r>
                      <a:rPr lang="zh-CN" altLang="en-US" i="1" spc="-10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𝑓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sSub>
                      <m:sSubPr>
                        <m:ctrlPr>
                          <a:rPr lang="en-US" altLang="zh-CN" i="1" spc="-10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pc="-10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𝑝</m:t>
                        </m:r>
                      </m:e>
                      <m:sub>
                        <m:r>
                          <a:rPr lang="en-US" altLang="zh-CN" b="0" i="1" spc="-10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</m:t>
                        </m:r>
                      </m:sub>
                    </m:sSub>
                    <m:r>
                      <a:rPr lang="en-US" altLang="zh-CN" i="1" spc="-10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endParaRPr lang="en-US" altLang="zh-CN" dirty="0">
                  <a:cs typeface="+mn-ea"/>
                  <a:sym typeface="+mn-lt"/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pc="-10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pc="-10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𝑤</m:t>
                        </m:r>
                      </m:e>
                      <m:sub>
                        <m:r>
                          <a:rPr lang="en-US" altLang="zh-CN" b="0" i="1" spc="-10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cs typeface="+mn-ea"/>
                    <a:sym typeface="+mn-lt"/>
                  </a:rPr>
                  <a:t> </a:t>
                </a:r>
                <a:r>
                  <a:rPr lang="en-US" altLang="zh-CN" dirty="0">
                    <a:cs typeface="+mn-ea"/>
                    <a:sym typeface="+mn-lt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pc="-10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pc="-10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𝑤</m:t>
                        </m:r>
                      </m:e>
                      <m:sub>
                        <m:r>
                          <a:rPr lang="en-US" altLang="zh-CN" b="0" i="1" spc="-10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cs typeface="+mn-ea"/>
                    <a:sym typeface="+mn-lt"/>
                  </a:rPr>
                  <a:t> </a:t>
                </a:r>
                <a:r>
                  <a:rPr lang="en-US" altLang="zh-CN" dirty="0">
                    <a:cs typeface="+mn-ea"/>
                    <a:sym typeface="+mn-lt"/>
                  </a:rPr>
                  <a:t>are </a:t>
                </a:r>
                <a:r>
                  <a:rPr lang="en-US" altLang="zh-CN" dirty="0">
                    <a:solidFill>
                      <a:srgbClr val="00B050"/>
                    </a:solidFill>
                    <a:cs typeface="+mn-ea"/>
                    <a:sym typeface="+mn-lt"/>
                  </a:rPr>
                  <a:t>inversely proportional </a:t>
                </a:r>
                <a:r>
                  <a:rPr lang="en-US" altLang="zh-CN" dirty="0">
                    <a:cs typeface="+mn-ea"/>
                    <a:sym typeface="+mn-lt"/>
                  </a:rPr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pc="-10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pc="-10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𝑑</m:t>
                        </m:r>
                      </m:e>
                      <m:sub>
                        <m:r>
                          <a:rPr lang="en-US" altLang="zh-CN" b="0" i="1" spc="-10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cs typeface="+mn-ea"/>
                    <a:sym typeface="+mn-lt"/>
                  </a:rPr>
                  <a:t> </a:t>
                </a:r>
                <a:r>
                  <a:rPr lang="en-US" altLang="zh-CN" dirty="0">
                    <a:cs typeface="+mn-ea"/>
                    <a:sym typeface="+mn-lt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pc="-10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pc="-10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𝑑</m:t>
                        </m:r>
                      </m:e>
                      <m:sub>
                        <m:r>
                          <a:rPr lang="en-US" altLang="zh-CN" b="0" i="1" spc="-10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</m:t>
                        </m:r>
                      </m:sub>
                    </m:sSub>
                  </m:oMath>
                </a14:m>
                <a:endParaRPr lang="zh-CN" altLang="en-US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E6A421-D062-4EA0-85DD-02056A3BC7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731374"/>
              </a:xfrm>
              <a:blipFill>
                <a:blip r:embed="rId2"/>
                <a:stretch>
                  <a:fillRect l="-1043" t="-10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CD00589-53E1-4781-9477-C3DBE1945F2A}"/>
                  </a:ext>
                </a:extLst>
              </p:cNvPr>
              <p:cNvSpPr txBox="1"/>
              <p:nvPr/>
            </p:nvSpPr>
            <p:spPr>
              <a:xfrm>
                <a:off x="6429375" y="4339120"/>
                <a:ext cx="4270208" cy="701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𝑝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𝑑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×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𝑑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×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4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CD00589-53E1-4781-9477-C3DBE1945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75" y="4339120"/>
                <a:ext cx="4270208" cy="701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DD8C1A02-695B-4233-9DFF-234503CC5015}"/>
              </a:ext>
            </a:extLst>
          </p:cNvPr>
          <p:cNvGrpSpPr/>
          <p:nvPr/>
        </p:nvGrpSpPr>
        <p:grpSpPr>
          <a:xfrm>
            <a:off x="1894217" y="3982986"/>
            <a:ext cx="3039110" cy="1732115"/>
            <a:chOff x="1846592" y="3840111"/>
            <a:chExt cx="3039110" cy="173211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977EAC9-3212-47B5-96C4-8AC52D5E4F68}"/>
                </a:ext>
              </a:extLst>
            </p:cNvPr>
            <p:cNvGrpSpPr/>
            <p:nvPr/>
          </p:nvGrpSpPr>
          <p:grpSpPr>
            <a:xfrm>
              <a:off x="1846592" y="3840111"/>
              <a:ext cx="3039110" cy="1732115"/>
              <a:chOff x="1789442" y="4135386"/>
              <a:chExt cx="3039110" cy="173211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object 10">
                    <a:extLst>
                      <a:ext uri="{FF2B5EF4-FFF2-40B4-BE49-F238E27FC236}">
                        <a16:creationId xmlns:a16="http://schemas.microsoft.com/office/drawing/2014/main" id="{667BBB71-DE45-494D-834E-1B3C927F26A7}"/>
                      </a:ext>
                    </a:extLst>
                  </p:cNvPr>
                  <p:cNvSpPr txBox="1"/>
                  <p:nvPr/>
                </p:nvSpPr>
                <p:spPr>
                  <a:xfrm>
                    <a:off x="2092703" y="5065266"/>
                    <a:ext cx="311150" cy="312843"/>
                  </a:xfrm>
                  <a:prstGeom prst="rect">
                    <a:avLst/>
                  </a:prstGeom>
                </p:spPr>
                <p:txBody>
                  <a:bodyPr vert="horz" wrap="square" lIns="0" tIns="12065" rIns="0" bIns="0" rtlCol="0">
                    <a:spAutoFit/>
                  </a:bodyPr>
                  <a:lstStyle/>
                  <a:p>
                    <a:pPr marL="38100">
                      <a:lnSpc>
                        <a:spcPct val="100000"/>
                      </a:lnSpc>
                      <a:spcBef>
                        <a:spcPts val="95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000" i="1" spc="-140" dirty="0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𝑝</m:t>
                          </m:r>
                          <m:r>
                            <a:rPr lang="en-US" altLang="zh-CN" sz="2175" i="1" spc="-209" baseline="-15325" dirty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oMath>
                      </m:oMathPara>
                    </a14:m>
                    <a:endParaRPr sz="2175" baseline="-15325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4" name="object 10">
                    <a:extLst>
                      <a:ext uri="{FF2B5EF4-FFF2-40B4-BE49-F238E27FC236}">
                        <a16:creationId xmlns:a16="http://schemas.microsoft.com/office/drawing/2014/main" id="{667BBB71-DE45-494D-834E-1B3C927F26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92703" y="5065266"/>
                    <a:ext cx="311150" cy="31284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7308" b="-2941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" name="object 11">
                <a:extLst>
                  <a:ext uri="{FF2B5EF4-FFF2-40B4-BE49-F238E27FC236}">
                    <a16:creationId xmlns:a16="http://schemas.microsoft.com/office/drawing/2014/main" id="{4458DA32-1BA2-4926-9681-10C50429FDBF}"/>
                  </a:ext>
                </a:extLst>
              </p:cNvPr>
              <p:cNvSpPr txBox="1"/>
              <p:nvPr/>
            </p:nvSpPr>
            <p:spPr>
              <a:xfrm>
                <a:off x="4214114" y="5089652"/>
                <a:ext cx="316865" cy="33020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2000" spc="-114" dirty="0">
                    <a:cs typeface="+mn-ea"/>
                    <a:sym typeface="+mn-lt"/>
                  </a:rPr>
                  <a:t>𝑝</a:t>
                </a:r>
                <a:r>
                  <a:rPr sz="2175" spc="-172" baseline="-15325" dirty="0">
                    <a:cs typeface="+mn-ea"/>
                    <a:sym typeface="+mn-lt"/>
                  </a:rPr>
                  <a:t>2</a:t>
                </a:r>
                <a:endParaRPr sz="2175" baseline="-15325" dirty="0">
                  <a:cs typeface="+mn-ea"/>
                  <a:sym typeface="+mn-lt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object 12">
                    <a:extLst>
                      <a:ext uri="{FF2B5EF4-FFF2-40B4-BE49-F238E27FC236}">
                        <a16:creationId xmlns:a16="http://schemas.microsoft.com/office/drawing/2014/main" id="{8F069618-A317-4C6F-A372-C72F7D05CA96}"/>
                      </a:ext>
                    </a:extLst>
                  </p:cNvPr>
                  <p:cNvSpPr txBox="1"/>
                  <p:nvPr/>
                </p:nvSpPr>
                <p:spPr>
                  <a:xfrm>
                    <a:off x="1979929" y="4427473"/>
                    <a:ext cx="680085" cy="330200"/>
                  </a:xfrm>
                  <a:prstGeom prst="rect">
                    <a:avLst/>
                  </a:prstGeom>
                </p:spPr>
                <p:txBody>
                  <a:bodyPr vert="horz" wrap="square" lIns="0" tIns="12065" rIns="0" bIns="0" rtlCol="0">
                    <a:spAutoFit/>
                  </a:bodyPr>
                  <a:lstStyle/>
                  <a:p>
                    <a:pPr marL="38100">
                      <a:lnSpc>
                        <a:spcPct val="100000"/>
                      </a:lnSpc>
                      <a:spcBef>
                        <a:spcPts val="95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000" i="1" spc="-35" dirty="0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𝑓</m:t>
                          </m:r>
                          <m:r>
                            <a:rPr lang="en-US" altLang="zh-CN" sz="2000" i="1" spc="-35" dirty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(</m:t>
                          </m:r>
                          <m:r>
                            <a:rPr lang="zh-CN" altLang="en-US" sz="2000" i="1" spc="-35" dirty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𝑝</m:t>
                          </m:r>
                          <m:r>
                            <a:rPr lang="en-US" altLang="zh-CN" sz="2175" i="1" spc="-52" baseline="-15325" dirty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  <m:r>
                            <a:rPr lang="en-US" altLang="zh-CN" sz="2000" i="1" spc="-35" dirty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)</m:t>
                          </m:r>
                        </m:oMath>
                      </m:oMathPara>
                    </a14:m>
                    <a:endParaRPr sz="2000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6" name="object 12">
                    <a:extLst>
                      <a:ext uri="{FF2B5EF4-FFF2-40B4-BE49-F238E27FC236}">
                        <a16:creationId xmlns:a16="http://schemas.microsoft.com/office/drawing/2014/main" id="{8F069618-A317-4C6F-A372-C72F7D05CA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79929" y="4427473"/>
                    <a:ext cx="680085" cy="33020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2500" r="-8036" b="-3148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object 13">
                    <a:extLst>
                      <a:ext uri="{FF2B5EF4-FFF2-40B4-BE49-F238E27FC236}">
                        <a16:creationId xmlns:a16="http://schemas.microsoft.com/office/drawing/2014/main" id="{9D922E5A-9D33-4D32-AA6D-F7C5430D66B6}"/>
                      </a:ext>
                    </a:extLst>
                  </p:cNvPr>
                  <p:cNvSpPr txBox="1"/>
                  <p:nvPr/>
                </p:nvSpPr>
                <p:spPr>
                  <a:xfrm>
                    <a:off x="4059420" y="4435847"/>
                    <a:ext cx="726440" cy="330200"/>
                  </a:xfrm>
                  <a:prstGeom prst="rect">
                    <a:avLst/>
                  </a:prstGeom>
                </p:spPr>
                <p:txBody>
                  <a:bodyPr vert="horz" wrap="square" lIns="0" tIns="12065" rIns="0" bIns="0" rtlCol="0">
                    <a:spAutoFit/>
                  </a:bodyPr>
                  <a:lstStyle/>
                  <a:p>
                    <a:pPr marL="38100">
                      <a:lnSpc>
                        <a:spcPct val="100000"/>
                      </a:lnSpc>
                      <a:spcBef>
                        <a:spcPts val="95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000" i="1" spc="-65" dirty="0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𝑓</m:t>
                          </m:r>
                          <m:r>
                            <a:rPr lang="en-US" altLang="zh-CN" sz="2000" i="1" spc="-65" dirty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(</m:t>
                          </m:r>
                          <m:r>
                            <a:rPr lang="zh-CN" altLang="en-US" sz="2000" i="1" spc="-65" dirty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𝑝</m:t>
                          </m:r>
                          <m:r>
                            <a:rPr lang="en-US" altLang="zh-CN" sz="2175" i="1" spc="-97" baseline="-15325" dirty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2</m:t>
                          </m:r>
                          <m:r>
                            <a:rPr lang="zh-CN" altLang="en-US" sz="2175" i="1" spc="-165" baseline="-15325" dirty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 </m:t>
                          </m:r>
                          <m:r>
                            <a:rPr lang="en-US" altLang="zh-CN" sz="2000" i="1" spc="45" dirty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)</m:t>
                          </m:r>
                        </m:oMath>
                      </m:oMathPara>
                    </a14:m>
                    <a:endParaRPr sz="2000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7" name="object 13">
                    <a:extLst>
                      <a:ext uri="{FF2B5EF4-FFF2-40B4-BE49-F238E27FC236}">
                        <a16:creationId xmlns:a16="http://schemas.microsoft.com/office/drawing/2014/main" id="{9D922E5A-9D33-4D32-AA6D-F7C5430D66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59420" y="4435847"/>
                    <a:ext cx="726440" cy="33020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0084" r="-5882" b="-3148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" name="object 14">
                <a:extLst>
                  <a:ext uri="{FF2B5EF4-FFF2-40B4-BE49-F238E27FC236}">
                    <a16:creationId xmlns:a16="http://schemas.microsoft.com/office/drawing/2014/main" id="{DBBB2F6B-404D-4C45-A172-228543545EF2}"/>
                  </a:ext>
                </a:extLst>
              </p:cNvPr>
              <p:cNvSpPr txBox="1"/>
              <p:nvPr/>
            </p:nvSpPr>
            <p:spPr>
              <a:xfrm>
                <a:off x="3035549" y="5065272"/>
                <a:ext cx="167005" cy="33020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2000" spc="-145" dirty="0">
                    <a:solidFill>
                      <a:srgbClr val="FF0000"/>
                    </a:solidFill>
                    <a:cs typeface="+mn-ea"/>
                    <a:sym typeface="+mn-lt"/>
                  </a:rPr>
                  <a:t>𝑝</a:t>
                </a:r>
                <a:endParaRPr sz="2000" dirty="0">
                  <a:cs typeface="+mn-ea"/>
                  <a:sym typeface="+mn-lt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object 15">
                    <a:extLst>
                      <a:ext uri="{FF2B5EF4-FFF2-40B4-BE49-F238E27FC236}">
                        <a16:creationId xmlns:a16="http://schemas.microsoft.com/office/drawing/2014/main" id="{ACCBF1E6-5C67-461D-9803-86BF31EED4C4}"/>
                      </a:ext>
                    </a:extLst>
                  </p:cNvPr>
                  <p:cNvSpPr txBox="1"/>
                  <p:nvPr/>
                </p:nvSpPr>
                <p:spPr>
                  <a:xfrm>
                    <a:off x="2996314" y="4511929"/>
                    <a:ext cx="528320" cy="330200"/>
                  </a:xfrm>
                  <a:prstGeom prst="rect">
                    <a:avLst/>
                  </a:prstGeom>
                </p:spPr>
                <p:txBody>
                  <a:bodyPr vert="horz" wrap="square" lIns="0" tIns="12065" rIns="0" bIns="0" rtlCol="0">
                    <a:spAutoFit/>
                  </a:bodyPr>
                  <a:lstStyle/>
                  <a:p>
                    <a:pPr marL="12700">
                      <a:lnSpc>
                        <a:spcPct val="100000"/>
                      </a:lnSpc>
                      <a:spcBef>
                        <a:spcPts val="95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000" i="1" spc="-15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𝑓</m:t>
                          </m:r>
                          <m:r>
                            <a:rPr lang="en-US" altLang="zh-CN" sz="2000" i="1" spc="-15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(</m:t>
                          </m:r>
                          <m:r>
                            <a:rPr lang="zh-CN" altLang="en-US" sz="2000" i="1" spc="-15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𝑝</m:t>
                          </m:r>
                          <m:r>
                            <a:rPr lang="en-US" altLang="zh-CN" sz="2000" i="1" spc="-15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)</m:t>
                          </m:r>
                        </m:oMath>
                      </m:oMathPara>
                    </a14:m>
                    <a:endParaRPr sz="2000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9" name="object 15">
                    <a:extLst>
                      <a:ext uri="{FF2B5EF4-FFF2-40B4-BE49-F238E27FC236}">
                        <a16:creationId xmlns:a16="http://schemas.microsoft.com/office/drawing/2014/main" id="{ACCBF1E6-5C67-461D-9803-86BF31EED4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96314" y="4511929"/>
                    <a:ext cx="528320" cy="33020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0930" r="-19767" b="-3148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0" name="object 16">
                <a:extLst>
                  <a:ext uri="{FF2B5EF4-FFF2-40B4-BE49-F238E27FC236}">
                    <a16:creationId xmlns:a16="http://schemas.microsoft.com/office/drawing/2014/main" id="{108CAC0B-BEB1-4F71-8E8D-86AF12FDAB0D}"/>
                  </a:ext>
                </a:extLst>
              </p:cNvPr>
              <p:cNvGrpSpPr/>
              <p:nvPr/>
            </p:nvGrpSpPr>
            <p:grpSpPr>
              <a:xfrm>
                <a:off x="1789442" y="4867268"/>
                <a:ext cx="3039110" cy="284233"/>
                <a:chOff x="2103767" y="5572118"/>
                <a:chExt cx="3039110" cy="284233"/>
              </a:xfrm>
            </p:grpSpPr>
            <p:sp>
              <p:nvSpPr>
                <p:cNvPr id="11" name="object 17">
                  <a:extLst>
                    <a:ext uri="{FF2B5EF4-FFF2-40B4-BE49-F238E27FC236}">
                      <a16:creationId xmlns:a16="http://schemas.microsoft.com/office/drawing/2014/main" id="{19FA0EA4-BAA3-4856-ADDF-ED15F09EF0CB}"/>
                    </a:ext>
                  </a:extLst>
                </p:cNvPr>
                <p:cNvSpPr/>
                <p:nvPr/>
              </p:nvSpPr>
              <p:spPr>
                <a:xfrm>
                  <a:off x="2642501" y="5678424"/>
                  <a:ext cx="1964689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4689">
                      <a:moveTo>
                        <a:pt x="0" y="0"/>
                      </a:moveTo>
                      <a:lnTo>
                        <a:pt x="1964436" y="0"/>
                      </a:lnTo>
                    </a:path>
                  </a:pathLst>
                </a:custGeom>
                <a:ln w="19062">
                  <a:solidFill>
                    <a:srgbClr val="FF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" name="object 18">
                  <a:extLst>
                    <a:ext uri="{FF2B5EF4-FFF2-40B4-BE49-F238E27FC236}">
                      <a16:creationId xmlns:a16="http://schemas.microsoft.com/office/drawing/2014/main" id="{EB2DF9F3-0414-4DF3-8D53-4D2D0E7436DE}"/>
                    </a:ext>
                  </a:extLst>
                </p:cNvPr>
                <p:cNvSpPr/>
                <p:nvPr/>
              </p:nvSpPr>
              <p:spPr>
                <a:xfrm>
                  <a:off x="2454662" y="5578976"/>
                  <a:ext cx="197370" cy="199656"/>
                </a:xfrm>
                <a:prstGeom prst="rect">
                  <a:avLst/>
                </a:prstGeom>
                <a:blipFill>
                  <a:blip r:embed="rId8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" name="object 19">
                  <a:extLst>
                    <a:ext uri="{FF2B5EF4-FFF2-40B4-BE49-F238E27FC236}">
                      <a16:creationId xmlns:a16="http://schemas.microsoft.com/office/drawing/2014/main" id="{0E5695B5-C3FA-472A-87F7-E95B003F22C1}"/>
                    </a:ext>
                  </a:extLst>
                </p:cNvPr>
                <p:cNvSpPr/>
                <p:nvPr/>
              </p:nvSpPr>
              <p:spPr>
                <a:xfrm>
                  <a:off x="4786007" y="5668892"/>
                  <a:ext cx="356870" cy="196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870" h="19685">
                      <a:moveTo>
                        <a:pt x="0" y="0"/>
                      </a:moveTo>
                      <a:lnTo>
                        <a:pt x="0" y="19062"/>
                      </a:lnTo>
                      <a:lnTo>
                        <a:pt x="356615" y="19062"/>
                      </a:lnTo>
                      <a:lnTo>
                        <a:pt x="35661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" name="object 20">
                  <a:extLst>
                    <a:ext uri="{FF2B5EF4-FFF2-40B4-BE49-F238E27FC236}">
                      <a16:creationId xmlns:a16="http://schemas.microsoft.com/office/drawing/2014/main" id="{B297C493-A4CD-4C2C-B2AF-E9E11AC3980F}"/>
                    </a:ext>
                  </a:extLst>
                </p:cNvPr>
                <p:cNvSpPr/>
                <p:nvPr/>
              </p:nvSpPr>
              <p:spPr>
                <a:xfrm>
                  <a:off x="4597406" y="5578976"/>
                  <a:ext cx="198132" cy="199656"/>
                </a:xfrm>
                <a:prstGeom prst="rect">
                  <a:avLst/>
                </a:prstGeom>
                <a:blipFill>
                  <a:blip r:embed="rId9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" name="object 21">
                  <a:extLst>
                    <a:ext uri="{FF2B5EF4-FFF2-40B4-BE49-F238E27FC236}">
                      <a16:creationId xmlns:a16="http://schemas.microsoft.com/office/drawing/2014/main" id="{063F82F8-1B24-40A1-8808-FBFB76DD544D}"/>
                    </a:ext>
                  </a:extLst>
                </p:cNvPr>
                <p:cNvSpPr/>
                <p:nvPr/>
              </p:nvSpPr>
              <p:spPr>
                <a:xfrm>
                  <a:off x="3357257" y="5588508"/>
                  <a:ext cx="178308" cy="180594"/>
                </a:xfrm>
                <a:prstGeom prst="rect">
                  <a:avLst/>
                </a:prstGeom>
                <a:blipFill>
                  <a:blip r:embed="rId10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" name="object 22">
                  <a:extLst>
                    <a:ext uri="{FF2B5EF4-FFF2-40B4-BE49-F238E27FC236}">
                      <a16:creationId xmlns:a16="http://schemas.microsoft.com/office/drawing/2014/main" id="{1B9D33CC-FE9A-4FAE-BD2D-2DD1F5B2CCDB}"/>
                    </a:ext>
                  </a:extLst>
                </p:cNvPr>
                <p:cNvSpPr/>
                <p:nvPr/>
              </p:nvSpPr>
              <p:spPr>
                <a:xfrm>
                  <a:off x="2106815" y="5668892"/>
                  <a:ext cx="357505" cy="196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505" h="19685">
                      <a:moveTo>
                        <a:pt x="0" y="0"/>
                      </a:moveTo>
                      <a:lnTo>
                        <a:pt x="0" y="19062"/>
                      </a:lnTo>
                      <a:lnTo>
                        <a:pt x="357378" y="19062"/>
                      </a:lnTo>
                      <a:lnTo>
                        <a:pt x="35737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" name="object 23">
                  <a:extLst>
                    <a:ext uri="{FF2B5EF4-FFF2-40B4-BE49-F238E27FC236}">
                      <a16:creationId xmlns:a16="http://schemas.microsoft.com/office/drawing/2014/main" id="{689D05B2-B0FB-468C-9C5F-0CDBA5A14053}"/>
                    </a:ext>
                  </a:extLst>
                </p:cNvPr>
                <p:cNvSpPr/>
                <p:nvPr/>
              </p:nvSpPr>
              <p:spPr>
                <a:xfrm>
                  <a:off x="2639453" y="5671566"/>
                  <a:ext cx="1964689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4689">
                      <a:moveTo>
                        <a:pt x="0" y="0"/>
                      </a:moveTo>
                      <a:lnTo>
                        <a:pt x="1964436" y="0"/>
                      </a:lnTo>
                    </a:path>
                  </a:pathLst>
                </a:custGeom>
                <a:ln w="19062">
                  <a:solidFill>
                    <a:srgbClr val="FF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" name="object 24">
                  <a:extLst>
                    <a:ext uri="{FF2B5EF4-FFF2-40B4-BE49-F238E27FC236}">
                      <a16:creationId xmlns:a16="http://schemas.microsoft.com/office/drawing/2014/main" id="{8D0E6890-79C3-4984-A0BE-B604668A16B9}"/>
                    </a:ext>
                  </a:extLst>
                </p:cNvPr>
                <p:cNvSpPr/>
                <p:nvPr/>
              </p:nvSpPr>
              <p:spPr>
                <a:xfrm>
                  <a:off x="4782197" y="5662034"/>
                  <a:ext cx="357505" cy="196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504" h="19685">
                      <a:moveTo>
                        <a:pt x="0" y="0"/>
                      </a:moveTo>
                      <a:lnTo>
                        <a:pt x="0" y="19062"/>
                      </a:lnTo>
                      <a:lnTo>
                        <a:pt x="357377" y="19062"/>
                      </a:lnTo>
                      <a:lnTo>
                        <a:pt x="35737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" name="object 25">
                  <a:extLst>
                    <a:ext uri="{FF2B5EF4-FFF2-40B4-BE49-F238E27FC236}">
                      <a16:creationId xmlns:a16="http://schemas.microsoft.com/office/drawing/2014/main" id="{6022DE6F-E771-43D8-B995-F5DA0DD36467}"/>
                    </a:ext>
                  </a:extLst>
                </p:cNvPr>
                <p:cNvSpPr/>
                <p:nvPr/>
              </p:nvSpPr>
              <p:spPr>
                <a:xfrm>
                  <a:off x="2451614" y="5572118"/>
                  <a:ext cx="197370" cy="198894"/>
                </a:xfrm>
                <a:prstGeom prst="rect">
                  <a:avLst/>
                </a:prstGeom>
                <a:blipFill>
                  <a:blip r:embed="rId11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object 26">
                  <a:extLst>
                    <a:ext uri="{FF2B5EF4-FFF2-40B4-BE49-F238E27FC236}">
                      <a16:creationId xmlns:a16="http://schemas.microsoft.com/office/drawing/2014/main" id="{8A9B8743-0457-475C-AEED-1C798DB8E1A7}"/>
                    </a:ext>
                  </a:extLst>
                </p:cNvPr>
                <p:cNvSpPr/>
                <p:nvPr/>
              </p:nvSpPr>
              <p:spPr>
                <a:xfrm>
                  <a:off x="4594358" y="5572118"/>
                  <a:ext cx="197370" cy="198894"/>
                </a:xfrm>
                <a:prstGeom prst="rect">
                  <a:avLst/>
                </a:prstGeom>
                <a:blipFill>
                  <a:blip r:embed="rId12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object 27">
                  <a:extLst>
                    <a:ext uri="{FF2B5EF4-FFF2-40B4-BE49-F238E27FC236}">
                      <a16:creationId xmlns:a16="http://schemas.microsoft.com/office/drawing/2014/main" id="{0D7D8EE2-7A5C-4807-8ECB-757370FFFD31}"/>
                    </a:ext>
                  </a:extLst>
                </p:cNvPr>
                <p:cNvSpPr/>
                <p:nvPr/>
              </p:nvSpPr>
              <p:spPr>
                <a:xfrm>
                  <a:off x="3353447" y="5581650"/>
                  <a:ext cx="179070" cy="179832"/>
                </a:xfrm>
                <a:prstGeom prst="rect">
                  <a:avLst/>
                </a:prstGeom>
                <a:blipFill>
                  <a:blip r:embed="rId13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" name="object 28">
                  <a:extLst>
                    <a:ext uri="{FF2B5EF4-FFF2-40B4-BE49-F238E27FC236}">
                      <a16:creationId xmlns:a16="http://schemas.microsoft.com/office/drawing/2014/main" id="{905F4845-F188-4586-80F4-D65619B760AD}"/>
                    </a:ext>
                  </a:extLst>
                </p:cNvPr>
                <p:cNvSpPr/>
                <p:nvPr/>
              </p:nvSpPr>
              <p:spPr>
                <a:xfrm>
                  <a:off x="2103767" y="5662034"/>
                  <a:ext cx="357505" cy="196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505" h="19685">
                      <a:moveTo>
                        <a:pt x="0" y="0"/>
                      </a:moveTo>
                      <a:lnTo>
                        <a:pt x="0" y="19062"/>
                      </a:lnTo>
                      <a:lnTo>
                        <a:pt x="357377" y="19062"/>
                      </a:lnTo>
                      <a:lnTo>
                        <a:pt x="35737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" name="object 29">
                  <a:extLst>
                    <a:ext uri="{FF2B5EF4-FFF2-40B4-BE49-F238E27FC236}">
                      <a16:creationId xmlns:a16="http://schemas.microsoft.com/office/drawing/2014/main" id="{D415F27B-94FD-479C-8610-46491942306C}"/>
                    </a:ext>
                  </a:extLst>
                </p:cNvPr>
                <p:cNvSpPr/>
                <p:nvPr/>
              </p:nvSpPr>
              <p:spPr>
                <a:xfrm>
                  <a:off x="3094367" y="5671566"/>
                  <a:ext cx="259079" cy="182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079" h="182245">
                      <a:moveTo>
                        <a:pt x="259079" y="0"/>
                      </a:moveTo>
                      <a:lnTo>
                        <a:pt x="241889" y="44238"/>
                      </a:lnTo>
                      <a:lnTo>
                        <a:pt x="215514" y="84157"/>
                      </a:lnTo>
                      <a:lnTo>
                        <a:pt x="181502" y="118705"/>
                      </a:lnTo>
                      <a:lnTo>
                        <a:pt x="141398" y="146828"/>
                      </a:lnTo>
                      <a:lnTo>
                        <a:pt x="96749" y="167473"/>
                      </a:lnTo>
                      <a:lnTo>
                        <a:pt x="49101" y="179587"/>
                      </a:lnTo>
                      <a:lnTo>
                        <a:pt x="0" y="182118"/>
                      </a:lnTo>
                    </a:path>
                  </a:pathLst>
                </a:custGeom>
                <a:ln w="19100">
                  <a:solidFill>
                    <a:srgbClr val="00B050"/>
                  </a:solidFill>
                  <a:prstDash val="dot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" name="object 30">
                  <a:extLst>
                    <a:ext uri="{FF2B5EF4-FFF2-40B4-BE49-F238E27FC236}">
                      <a16:creationId xmlns:a16="http://schemas.microsoft.com/office/drawing/2014/main" id="{4EBB2578-B287-4BE4-B326-2ABBC95C3FA2}"/>
                    </a:ext>
                  </a:extLst>
                </p:cNvPr>
                <p:cNvSpPr/>
                <p:nvPr/>
              </p:nvSpPr>
              <p:spPr>
                <a:xfrm>
                  <a:off x="3532517" y="5671566"/>
                  <a:ext cx="463550" cy="1847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3550" h="184785">
                      <a:moveTo>
                        <a:pt x="463295" y="182118"/>
                      </a:moveTo>
                      <a:lnTo>
                        <a:pt x="416705" y="184466"/>
                      </a:lnTo>
                      <a:lnTo>
                        <a:pt x="367637" y="181246"/>
                      </a:lnTo>
                      <a:lnTo>
                        <a:pt x="317042" y="172832"/>
                      </a:lnTo>
                      <a:lnTo>
                        <a:pt x="265870" y="159599"/>
                      </a:lnTo>
                      <a:lnTo>
                        <a:pt x="215074" y="141922"/>
                      </a:lnTo>
                      <a:lnTo>
                        <a:pt x="165603" y="120176"/>
                      </a:lnTo>
                      <a:lnTo>
                        <a:pt x="118410" y="94736"/>
                      </a:lnTo>
                      <a:lnTo>
                        <a:pt x="74444" y="65977"/>
                      </a:lnTo>
                      <a:lnTo>
                        <a:pt x="34657" y="34273"/>
                      </a:lnTo>
                      <a:lnTo>
                        <a:pt x="0" y="0"/>
                      </a:lnTo>
                    </a:path>
                  </a:pathLst>
                </a:custGeom>
                <a:ln w="19075">
                  <a:solidFill>
                    <a:srgbClr val="00B050"/>
                  </a:solidFill>
                  <a:prstDash val="dot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" name="object 31">
                  <a:extLst>
                    <a:ext uri="{FF2B5EF4-FFF2-40B4-BE49-F238E27FC236}">
                      <a16:creationId xmlns:a16="http://schemas.microsoft.com/office/drawing/2014/main" id="{E0BB5D44-48EE-412D-8E74-61D837E766FE}"/>
                    </a:ext>
                  </a:extLst>
                </p:cNvPr>
                <p:cNvSpPr/>
                <p:nvPr/>
              </p:nvSpPr>
              <p:spPr>
                <a:xfrm>
                  <a:off x="4175645" y="5671566"/>
                  <a:ext cx="428625" cy="1835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5" h="183514">
                      <a:moveTo>
                        <a:pt x="428244" y="0"/>
                      </a:moveTo>
                      <a:lnTo>
                        <a:pt x="399176" y="33244"/>
                      </a:lnTo>
                      <a:lnTo>
                        <a:pt x="364687" y="64148"/>
                      </a:lnTo>
                      <a:lnTo>
                        <a:pt x="325662" y="92336"/>
                      </a:lnTo>
                      <a:lnTo>
                        <a:pt x="282988" y="117433"/>
                      </a:lnTo>
                      <a:lnTo>
                        <a:pt x="237553" y="139064"/>
                      </a:lnTo>
                      <a:lnTo>
                        <a:pt x="190243" y="156856"/>
                      </a:lnTo>
                      <a:lnTo>
                        <a:pt x="141946" y="170431"/>
                      </a:lnTo>
                      <a:lnTo>
                        <a:pt x="93549" y="179417"/>
                      </a:lnTo>
                      <a:lnTo>
                        <a:pt x="45937" y="183437"/>
                      </a:lnTo>
                      <a:lnTo>
                        <a:pt x="0" y="182118"/>
                      </a:lnTo>
                    </a:path>
                  </a:pathLst>
                </a:custGeom>
                <a:ln w="19075">
                  <a:solidFill>
                    <a:srgbClr val="00B050"/>
                  </a:solidFill>
                  <a:prstDash val="dot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" name="object 32">
                  <a:extLst>
                    <a:ext uri="{FF2B5EF4-FFF2-40B4-BE49-F238E27FC236}">
                      <a16:creationId xmlns:a16="http://schemas.microsoft.com/office/drawing/2014/main" id="{F926EE6A-5964-4144-9A99-1D3901FBB3DC}"/>
                    </a:ext>
                  </a:extLst>
                </p:cNvPr>
                <p:cNvSpPr/>
                <p:nvPr/>
              </p:nvSpPr>
              <p:spPr>
                <a:xfrm>
                  <a:off x="2639453" y="5671566"/>
                  <a:ext cx="257175" cy="182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82245">
                      <a:moveTo>
                        <a:pt x="256794" y="182118"/>
                      </a:moveTo>
                      <a:lnTo>
                        <a:pt x="209698" y="180707"/>
                      </a:lnTo>
                      <a:lnTo>
                        <a:pt x="163496" y="169339"/>
                      </a:lnTo>
                      <a:lnTo>
                        <a:pt x="119733" y="149067"/>
                      </a:lnTo>
                      <a:lnTo>
                        <a:pt x="79956" y="120944"/>
                      </a:lnTo>
                      <a:lnTo>
                        <a:pt x="45711" y="86023"/>
                      </a:lnTo>
                      <a:lnTo>
                        <a:pt x="18543" y="45357"/>
                      </a:lnTo>
                      <a:lnTo>
                        <a:pt x="0" y="0"/>
                      </a:lnTo>
                    </a:path>
                  </a:pathLst>
                </a:custGeom>
                <a:ln w="19100">
                  <a:solidFill>
                    <a:srgbClr val="00B050"/>
                  </a:solidFill>
                  <a:prstDash val="dot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object 57">
                    <a:extLst>
                      <a:ext uri="{FF2B5EF4-FFF2-40B4-BE49-F238E27FC236}">
                        <a16:creationId xmlns:a16="http://schemas.microsoft.com/office/drawing/2014/main" id="{793E94C7-BE7F-434D-BEAA-F042F10FA356}"/>
                      </a:ext>
                    </a:extLst>
                  </p:cNvPr>
                  <p:cNvSpPr txBox="1"/>
                  <p:nvPr/>
                </p:nvSpPr>
                <p:spPr>
                  <a:xfrm>
                    <a:off x="2582672" y="4993640"/>
                    <a:ext cx="324485" cy="312843"/>
                  </a:xfrm>
                  <a:prstGeom prst="rect">
                    <a:avLst/>
                  </a:prstGeom>
                </p:spPr>
                <p:txBody>
                  <a:bodyPr vert="horz" wrap="square" lIns="0" tIns="12065" rIns="0" bIns="0" rtlCol="0">
                    <a:spAutoFit/>
                  </a:bodyPr>
                  <a:lstStyle/>
                  <a:p>
                    <a:pPr marL="38100">
                      <a:lnSpc>
                        <a:spcPct val="100000"/>
                      </a:lnSpc>
                      <a:spcBef>
                        <a:spcPts val="95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000" i="1" spc="-9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𝑑</m:t>
                          </m:r>
                          <m:r>
                            <a:rPr lang="en-US" altLang="zh-CN" sz="2175" i="1" spc="-135" baseline="-15325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oMath>
                      </m:oMathPara>
                    </a14:m>
                    <a:endParaRPr sz="2175" baseline="-15325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29" name="object 57">
                    <a:extLst>
                      <a:ext uri="{FF2B5EF4-FFF2-40B4-BE49-F238E27FC236}">
                        <a16:creationId xmlns:a16="http://schemas.microsoft.com/office/drawing/2014/main" id="{793E94C7-BE7F-434D-BEAA-F042F10FA3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82672" y="4993640"/>
                    <a:ext cx="324485" cy="312843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16981" b="-156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object 58">
                    <a:extLst>
                      <a:ext uri="{FF2B5EF4-FFF2-40B4-BE49-F238E27FC236}">
                        <a16:creationId xmlns:a16="http://schemas.microsoft.com/office/drawing/2014/main" id="{1C66A32F-2F62-434D-BF5B-F7DED38BA31B}"/>
                      </a:ext>
                    </a:extLst>
                  </p:cNvPr>
                  <p:cNvSpPr txBox="1"/>
                  <p:nvPr/>
                </p:nvSpPr>
                <p:spPr>
                  <a:xfrm>
                    <a:off x="3588511" y="5049265"/>
                    <a:ext cx="330835" cy="312843"/>
                  </a:xfrm>
                  <a:prstGeom prst="rect">
                    <a:avLst/>
                  </a:prstGeom>
                </p:spPr>
                <p:txBody>
                  <a:bodyPr vert="horz" wrap="square" lIns="0" tIns="12065" rIns="0" bIns="0" rtlCol="0">
                    <a:spAutoFit/>
                  </a:bodyPr>
                  <a:lstStyle/>
                  <a:p>
                    <a:pPr marL="38100">
                      <a:lnSpc>
                        <a:spcPct val="100000"/>
                      </a:lnSpc>
                      <a:spcBef>
                        <a:spcPts val="95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000" i="1" spc="-65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𝑑</m:t>
                          </m:r>
                          <m:r>
                            <a:rPr lang="en-US" altLang="zh-CN" sz="2175" i="1" spc="-97" baseline="-15325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2</m:t>
                          </m:r>
                        </m:oMath>
                      </m:oMathPara>
                    </a14:m>
                    <a:endParaRPr sz="2175" baseline="-15325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30" name="object 58">
                    <a:extLst>
                      <a:ext uri="{FF2B5EF4-FFF2-40B4-BE49-F238E27FC236}">
                        <a16:creationId xmlns:a16="http://schemas.microsoft.com/office/drawing/2014/main" id="{1C66A32F-2F62-434D-BF5B-F7DED38BA3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88511" y="5049265"/>
                    <a:ext cx="330835" cy="312843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16667" r="-1852" b="-1346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1" name="object 59">
                <a:extLst>
                  <a:ext uri="{FF2B5EF4-FFF2-40B4-BE49-F238E27FC236}">
                    <a16:creationId xmlns:a16="http://schemas.microsoft.com/office/drawing/2014/main" id="{6AD8B408-8111-4581-958E-34178E5197C2}"/>
                  </a:ext>
                </a:extLst>
              </p:cNvPr>
              <p:cNvSpPr txBox="1"/>
              <p:nvPr/>
            </p:nvSpPr>
            <p:spPr>
              <a:xfrm>
                <a:off x="3187953" y="5239765"/>
                <a:ext cx="189230" cy="627736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2000" spc="140" dirty="0">
                    <a:solidFill>
                      <a:srgbClr val="0070C0"/>
                    </a:solidFill>
                    <a:cs typeface="+mn-ea"/>
                    <a:sym typeface="+mn-lt"/>
                  </a:rPr>
                  <a:t>𝒅</a:t>
                </a:r>
                <a:endParaRPr sz="2000" dirty="0">
                  <a:cs typeface="+mn-ea"/>
                  <a:sym typeface="+mn-lt"/>
                </a:endParaRPr>
              </a:p>
            </p:txBody>
          </p:sp>
          <p:sp>
            <p:nvSpPr>
              <p:cNvPr id="32" name="object 61">
                <a:extLst>
                  <a:ext uri="{FF2B5EF4-FFF2-40B4-BE49-F238E27FC236}">
                    <a16:creationId xmlns:a16="http://schemas.microsoft.com/office/drawing/2014/main" id="{F5296015-BFE6-4D3C-B2B4-92D3F9626669}"/>
                  </a:ext>
                </a:extLst>
              </p:cNvPr>
              <p:cNvSpPr/>
              <p:nvPr/>
            </p:nvSpPr>
            <p:spPr>
              <a:xfrm>
                <a:off x="2603258" y="4135386"/>
                <a:ext cx="1463040" cy="943610"/>
              </a:xfrm>
              <a:custGeom>
                <a:avLst/>
                <a:gdLst/>
                <a:ahLst/>
                <a:cxnLst/>
                <a:rect l="l" t="t" r="r" b="b"/>
                <a:pathLst>
                  <a:path w="1463039" h="943610">
                    <a:moveTo>
                      <a:pt x="38100" y="441198"/>
                    </a:moveTo>
                    <a:lnTo>
                      <a:pt x="12954" y="427482"/>
                    </a:lnTo>
                    <a:lnTo>
                      <a:pt x="0" y="452628"/>
                    </a:lnTo>
                    <a:lnTo>
                      <a:pt x="25146" y="466344"/>
                    </a:lnTo>
                    <a:lnTo>
                      <a:pt x="38100" y="441198"/>
                    </a:lnTo>
                    <a:close/>
                  </a:path>
                  <a:path w="1463039" h="943610">
                    <a:moveTo>
                      <a:pt x="65532" y="390906"/>
                    </a:moveTo>
                    <a:lnTo>
                      <a:pt x="40386" y="377190"/>
                    </a:lnTo>
                    <a:lnTo>
                      <a:pt x="26670" y="402336"/>
                    </a:lnTo>
                    <a:lnTo>
                      <a:pt x="51816" y="416052"/>
                    </a:lnTo>
                    <a:lnTo>
                      <a:pt x="65532" y="390906"/>
                    </a:lnTo>
                    <a:close/>
                  </a:path>
                  <a:path w="1463039" h="943610">
                    <a:moveTo>
                      <a:pt x="92964" y="341376"/>
                    </a:moveTo>
                    <a:lnTo>
                      <a:pt x="68580" y="326898"/>
                    </a:lnTo>
                    <a:lnTo>
                      <a:pt x="64770" y="333756"/>
                    </a:lnTo>
                    <a:lnTo>
                      <a:pt x="54102" y="352044"/>
                    </a:lnTo>
                    <a:lnTo>
                      <a:pt x="79248" y="365760"/>
                    </a:lnTo>
                    <a:lnTo>
                      <a:pt x="92964" y="341376"/>
                    </a:lnTo>
                    <a:close/>
                  </a:path>
                  <a:path w="1463039" h="943610">
                    <a:moveTo>
                      <a:pt x="121920" y="291846"/>
                    </a:moveTo>
                    <a:lnTo>
                      <a:pt x="96774" y="277368"/>
                    </a:lnTo>
                    <a:lnTo>
                      <a:pt x="82296" y="302514"/>
                    </a:lnTo>
                    <a:lnTo>
                      <a:pt x="107442" y="316230"/>
                    </a:lnTo>
                    <a:lnTo>
                      <a:pt x="115062" y="302514"/>
                    </a:lnTo>
                    <a:lnTo>
                      <a:pt x="121920" y="291846"/>
                    </a:lnTo>
                    <a:close/>
                  </a:path>
                  <a:path w="1463039" h="943610">
                    <a:moveTo>
                      <a:pt x="150876" y="243078"/>
                    </a:moveTo>
                    <a:lnTo>
                      <a:pt x="127254" y="228600"/>
                    </a:lnTo>
                    <a:lnTo>
                      <a:pt x="117348" y="243840"/>
                    </a:lnTo>
                    <a:lnTo>
                      <a:pt x="112014" y="252984"/>
                    </a:lnTo>
                    <a:lnTo>
                      <a:pt x="136398" y="267462"/>
                    </a:lnTo>
                    <a:lnTo>
                      <a:pt x="141732" y="258318"/>
                    </a:lnTo>
                    <a:lnTo>
                      <a:pt x="141732" y="259080"/>
                    </a:lnTo>
                    <a:lnTo>
                      <a:pt x="150876" y="243078"/>
                    </a:lnTo>
                    <a:close/>
                  </a:path>
                  <a:path w="1463039" h="943610">
                    <a:moveTo>
                      <a:pt x="182118" y="196596"/>
                    </a:moveTo>
                    <a:lnTo>
                      <a:pt x="159258" y="179832"/>
                    </a:lnTo>
                    <a:lnTo>
                      <a:pt x="157734" y="181356"/>
                    </a:lnTo>
                    <a:lnTo>
                      <a:pt x="144018" y="201168"/>
                    </a:lnTo>
                    <a:lnTo>
                      <a:pt x="142494" y="204216"/>
                    </a:lnTo>
                    <a:lnTo>
                      <a:pt x="166878" y="219456"/>
                    </a:lnTo>
                    <a:lnTo>
                      <a:pt x="167640" y="218313"/>
                    </a:lnTo>
                    <a:lnTo>
                      <a:pt x="168402" y="217170"/>
                    </a:lnTo>
                    <a:lnTo>
                      <a:pt x="167640" y="217170"/>
                    </a:lnTo>
                    <a:lnTo>
                      <a:pt x="181356" y="197358"/>
                    </a:lnTo>
                    <a:lnTo>
                      <a:pt x="181356" y="198120"/>
                    </a:lnTo>
                    <a:lnTo>
                      <a:pt x="182118" y="196596"/>
                    </a:lnTo>
                    <a:close/>
                  </a:path>
                  <a:path w="1463039" h="943610">
                    <a:moveTo>
                      <a:pt x="215646" y="150876"/>
                    </a:moveTo>
                    <a:lnTo>
                      <a:pt x="193548" y="133350"/>
                    </a:lnTo>
                    <a:lnTo>
                      <a:pt x="176022" y="156210"/>
                    </a:lnTo>
                    <a:lnTo>
                      <a:pt x="198882" y="173736"/>
                    </a:lnTo>
                    <a:lnTo>
                      <a:pt x="208026" y="160782"/>
                    </a:lnTo>
                    <a:lnTo>
                      <a:pt x="215646" y="150876"/>
                    </a:lnTo>
                    <a:close/>
                  </a:path>
                  <a:path w="1463039" h="943610">
                    <a:moveTo>
                      <a:pt x="252222" y="108966"/>
                    </a:moveTo>
                    <a:lnTo>
                      <a:pt x="231648" y="89154"/>
                    </a:lnTo>
                    <a:lnTo>
                      <a:pt x="228600" y="92202"/>
                    </a:lnTo>
                    <a:lnTo>
                      <a:pt x="214122" y="108204"/>
                    </a:lnTo>
                    <a:lnTo>
                      <a:pt x="211836" y="111252"/>
                    </a:lnTo>
                    <a:lnTo>
                      <a:pt x="233934" y="129540"/>
                    </a:lnTo>
                    <a:lnTo>
                      <a:pt x="235458" y="127254"/>
                    </a:lnTo>
                    <a:lnTo>
                      <a:pt x="249174" y="112014"/>
                    </a:lnTo>
                    <a:lnTo>
                      <a:pt x="252222" y="108966"/>
                    </a:lnTo>
                    <a:close/>
                  </a:path>
                  <a:path w="1463039" h="943610">
                    <a:moveTo>
                      <a:pt x="275082" y="805434"/>
                    </a:moveTo>
                    <a:lnTo>
                      <a:pt x="249936" y="791718"/>
                    </a:lnTo>
                    <a:lnTo>
                      <a:pt x="236220" y="816864"/>
                    </a:lnTo>
                    <a:lnTo>
                      <a:pt x="261366" y="830580"/>
                    </a:lnTo>
                    <a:lnTo>
                      <a:pt x="275082" y="805434"/>
                    </a:lnTo>
                    <a:close/>
                  </a:path>
                  <a:path w="1463039" h="943610">
                    <a:moveTo>
                      <a:pt x="292608" y="71628"/>
                    </a:moveTo>
                    <a:lnTo>
                      <a:pt x="275844" y="49530"/>
                    </a:lnTo>
                    <a:lnTo>
                      <a:pt x="273558" y="51054"/>
                    </a:lnTo>
                    <a:lnTo>
                      <a:pt x="265938" y="57150"/>
                    </a:lnTo>
                    <a:lnTo>
                      <a:pt x="258318" y="64008"/>
                    </a:lnTo>
                    <a:lnTo>
                      <a:pt x="252984" y="68580"/>
                    </a:lnTo>
                    <a:lnTo>
                      <a:pt x="272034" y="89916"/>
                    </a:lnTo>
                    <a:lnTo>
                      <a:pt x="276606" y="85344"/>
                    </a:lnTo>
                    <a:lnTo>
                      <a:pt x="277368" y="84734"/>
                    </a:lnTo>
                    <a:lnTo>
                      <a:pt x="284226" y="79248"/>
                    </a:lnTo>
                    <a:lnTo>
                      <a:pt x="291084" y="73152"/>
                    </a:lnTo>
                    <a:lnTo>
                      <a:pt x="292608" y="71628"/>
                    </a:lnTo>
                    <a:close/>
                  </a:path>
                  <a:path w="1463039" h="943610">
                    <a:moveTo>
                      <a:pt x="301752" y="755142"/>
                    </a:moveTo>
                    <a:lnTo>
                      <a:pt x="277368" y="741426"/>
                    </a:lnTo>
                    <a:lnTo>
                      <a:pt x="265938" y="762000"/>
                    </a:lnTo>
                    <a:lnTo>
                      <a:pt x="263652" y="766572"/>
                    </a:lnTo>
                    <a:lnTo>
                      <a:pt x="288798" y="780288"/>
                    </a:lnTo>
                    <a:lnTo>
                      <a:pt x="291084" y="775716"/>
                    </a:lnTo>
                    <a:lnTo>
                      <a:pt x="301752" y="755142"/>
                    </a:lnTo>
                    <a:close/>
                  </a:path>
                  <a:path w="1463039" h="943610">
                    <a:moveTo>
                      <a:pt x="315468" y="834390"/>
                    </a:moveTo>
                    <a:lnTo>
                      <a:pt x="307848" y="820674"/>
                    </a:lnTo>
                    <a:lnTo>
                      <a:pt x="298704" y="818388"/>
                    </a:lnTo>
                    <a:lnTo>
                      <a:pt x="291846" y="822198"/>
                    </a:lnTo>
                    <a:lnTo>
                      <a:pt x="242074" y="852678"/>
                    </a:lnTo>
                    <a:lnTo>
                      <a:pt x="227761" y="844880"/>
                    </a:lnTo>
                    <a:lnTo>
                      <a:pt x="225552" y="787146"/>
                    </a:lnTo>
                    <a:lnTo>
                      <a:pt x="225552" y="778764"/>
                    </a:lnTo>
                    <a:lnTo>
                      <a:pt x="218694" y="772668"/>
                    </a:lnTo>
                    <a:lnTo>
                      <a:pt x="211074" y="773430"/>
                    </a:lnTo>
                    <a:lnTo>
                      <a:pt x="202692" y="773430"/>
                    </a:lnTo>
                    <a:lnTo>
                      <a:pt x="196596" y="780288"/>
                    </a:lnTo>
                    <a:lnTo>
                      <a:pt x="197358" y="787908"/>
                    </a:lnTo>
                    <a:lnTo>
                      <a:pt x="201168" y="911352"/>
                    </a:lnTo>
                    <a:lnTo>
                      <a:pt x="207264" y="907618"/>
                    </a:lnTo>
                    <a:lnTo>
                      <a:pt x="229362" y="894105"/>
                    </a:lnTo>
                    <a:lnTo>
                      <a:pt x="247650" y="882916"/>
                    </a:lnTo>
                    <a:lnTo>
                      <a:pt x="307086" y="846582"/>
                    </a:lnTo>
                    <a:lnTo>
                      <a:pt x="313944" y="842772"/>
                    </a:lnTo>
                    <a:lnTo>
                      <a:pt x="315468" y="834390"/>
                    </a:lnTo>
                    <a:close/>
                  </a:path>
                  <a:path w="1463039" h="943610">
                    <a:moveTo>
                      <a:pt x="329946" y="705612"/>
                    </a:moveTo>
                    <a:lnTo>
                      <a:pt x="304800" y="691896"/>
                    </a:lnTo>
                    <a:lnTo>
                      <a:pt x="291084" y="716280"/>
                    </a:lnTo>
                    <a:lnTo>
                      <a:pt x="316230" y="729996"/>
                    </a:lnTo>
                    <a:lnTo>
                      <a:pt x="329946" y="705612"/>
                    </a:lnTo>
                    <a:close/>
                  </a:path>
                  <a:path w="1463039" h="943610">
                    <a:moveTo>
                      <a:pt x="339090" y="43434"/>
                    </a:moveTo>
                    <a:lnTo>
                      <a:pt x="326136" y="17526"/>
                    </a:lnTo>
                    <a:lnTo>
                      <a:pt x="320802" y="19812"/>
                    </a:lnTo>
                    <a:lnTo>
                      <a:pt x="312420" y="24384"/>
                    </a:lnTo>
                    <a:lnTo>
                      <a:pt x="304800" y="28956"/>
                    </a:lnTo>
                    <a:lnTo>
                      <a:pt x="300228" y="32004"/>
                    </a:lnTo>
                    <a:lnTo>
                      <a:pt x="315468" y="56388"/>
                    </a:lnTo>
                    <a:lnTo>
                      <a:pt x="319278" y="53848"/>
                    </a:lnTo>
                    <a:lnTo>
                      <a:pt x="320040" y="53340"/>
                    </a:lnTo>
                    <a:lnTo>
                      <a:pt x="319278" y="53340"/>
                    </a:lnTo>
                    <a:lnTo>
                      <a:pt x="326136" y="49911"/>
                    </a:lnTo>
                    <a:lnTo>
                      <a:pt x="326898" y="49530"/>
                    </a:lnTo>
                    <a:lnTo>
                      <a:pt x="326136" y="49530"/>
                    </a:lnTo>
                    <a:lnTo>
                      <a:pt x="333756" y="45720"/>
                    </a:lnTo>
                    <a:lnTo>
                      <a:pt x="339090" y="43434"/>
                    </a:lnTo>
                    <a:close/>
                  </a:path>
                  <a:path w="1463039" h="943610">
                    <a:moveTo>
                      <a:pt x="357378" y="655320"/>
                    </a:moveTo>
                    <a:lnTo>
                      <a:pt x="332232" y="641604"/>
                    </a:lnTo>
                    <a:lnTo>
                      <a:pt x="318516" y="666750"/>
                    </a:lnTo>
                    <a:lnTo>
                      <a:pt x="343662" y="680466"/>
                    </a:lnTo>
                    <a:lnTo>
                      <a:pt x="357378" y="655320"/>
                    </a:lnTo>
                    <a:close/>
                  </a:path>
                  <a:path w="1463039" h="943610">
                    <a:moveTo>
                      <a:pt x="385572" y="605790"/>
                    </a:moveTo>
                    <a:lnTo>
                      <a:pt x="361188" y="592074"/>
                    </a:lnTo>
                    <a:lnTo>
                      <a:pt x="346710" y="616458"/>
                    </a:lnTo>
                    <a:lnTo>
                      <a:pt x="371094" y="630936"/>
                    </a:lnTo>
                    <a:lnTo>
                      <a:pt x="385572" y="605790"/>
                    </a:lnTo>
                    <a:close/>
                  </a:path>
                  <a:path w="1463039" h="943610">
                    <a:moveTo>
                      <a:pt x="388620" y="28956"/>
                    </a:moveTo>
                    <a:lnTo>
                      <a:pt x="385572" y="762"/>
                    </a:lnTo>
                    <a:lnTo>
                      <a:pt x="380238" y="762"/>
                    </a:lnTo>
                    <a:lnTo>
                      <a:pt x="371094" y="2286"/>
                    </a:lnTo>
                    <a:lnTo>
                      <a:pt x="362712" y="4572"/>
                    </a:lnTo>
                    <a:lnTo>
                      <a:pt x="355854" y="6096"/>
                    </a:lnTo>
                    <a:lnTo>
                      <a:pt x="362712" y="34290"/>
                    </a:lnTo>
                    <a:lnTo>
                      <a:pt x="369570" y="32232"/>
                    </a:lnTo>
                    <a:lnTo>
                      <a:pt x="370332" y="32004"/>
                    </a:lnTo>
                    <a:lnTo>
                      <a:pt x="369570" y="32004"/>
                    </a:lnTo>
                    <a:lnTo>
                      <a:pt x="376428" y="30632"/>
                    </a:lnTo>
                    <a:lnTo>
                      <a:pt x="377190" y="30480"/>
                    </a:lnTo>
                    <a:lnTo>
                      <a:pt x="376428" y="30480"/>
                    </a:lnTo>
                    <a:lnTo>
                      <a:pt x="384810" y="28956"/>
                    </a:lnTo>
                    <a:lnTo>
                      <a:pt x="384048" y="29718"/>
                    </a:lnTo>
                    <a:lnTo>
                      <a:pt x="384810" y="29591"/>
                    </a:lnTo>
                    <a:lnTo>
                      <a:pt x="388620" y="28956"/>
                    </a:lnTo>
                    <a:close/>
                  </a:path>
                  <a:path w="1463039" h="943610">
                    <a:moveTo>
                      <a:pt x="414528" y="557022"/>
                    </a:moveTo>
                    <a:lnTo>
                      <a:pt x="389382" y="541782"/>
                    </a:lnTo>
                    <a:lnTo>
                      <a:pt x="382524" y="554736"/>
                    </a:lnTo>
                    <a:lnTo>
                      <a:pt x="374904" y="566928"/>
                    </a:lnTo>
                    <a:lnTo>
                      <a:pt x="400050" y="581406"/>
                    </a:lnTo>
                    <a:lnTo>
                      <a:pt x="406908" y="569214"/>
                    </a:lnTo>
                    <a:lnTo>
                      <a:pt x="414528" y="557022"/>
                    </a:lnTo>
                    <a:close/>
                  </a:path>
                  <a:path w="1463039" h="943610">
                    <a:moveTo>
                      <a:pt x="443484" y="507492"/>
                    </a:moveTo>
                    <a:lnTo>
                      <a:pt x="419100" y="493014"/>
                    </a:lnTo>
                    <a:lnTo>
                      <a:pt x="404622" y="517398"/>
                    </a:lnTo>
                    <a:lnTo>
                      <a:pt x="429006" y="531876"/>
                    </a:lnTo>
                    <a:lnTo>
                      <a:pt x="443484" y="507492"/>
                    </a:lnTo>
                    <a:close/>
                  </a:path>
                  <a:path w="1463039" h="943610">
                    <a:moveTo>
                      <a:pt x="447294" y="4572"/>
                    </a:moveTo>
                    <a:lnTo>
                      <a:pt x="443484" y="3048"/>
                    </a:lnTo>
                    <a:lnTo>
                      <a:pt x="425196" y="0"/>
                    </a:lnTo>
                    <a:lnTo>
                      <a:pt x="416814" y="0"/>
                    </a:lnTo>
                    <a:lnTo>
                      <a:pt x="414528" y="28194"/>
                    </a:lnTo>
                    <a:lnTo>
                      <a:pt x="422148" y="28956"/>
                    </a:lnTo>
                    <a:lnTo>
                      <a:pt x="421386" y="28956"/>
                    </a:lnTo>
                    <a:lnTo>
                      <a:pt x="422148" y="29019"/>
                    </a:lnTo>
                    <a:lnTo>
                      <a:pt x="429768" y="29718"/>
                    </a:lnTo>
                    <a:lnTo>
                      <a:pt x="429006" y="29718"/>
                    </a:lnTo>
                    <a:lnTo>
                      <a:pt x="429768" y="29845"/>
                    </a:lnTo>
                    <a:lnTo>
                      <a:pt x="437388" y="31242"/>
                    </a:lnTo>
                    <a:lnTo>
                      <a:pt x="436626" y="31242"/>
                    </a:lnTo>
                    <a:lnTo>
                      <a:pt x="437388" y="31394"/>
                    </a:lnTo>
                    <a:lnTo>
                      <a:pt x="440436" y="32004"/>
                    </a:lnTo>
                    <a:lnTo>
                      <a:pt x="447294" y="4572"/>
                    </a:lnTo>
                    <a:close/>
                  </a:path>
                  <a:path w="1463039" h="943610">
                    <a:moveTo>
                      <a:pt x="473202" y="459486"/>
                    </a:moveTo>
                    <a:lnTo>
                      <a:pt x="448818" y="444246"/>
                    </a:lnTo>
                    <a:lnTo>
                      <a:pt x="440436" y="457962"/>
                    </a:lnTo>
                    <a:lnTo>
                      <a:pt x="433578" y="468630"/>
                    </a:lnTo>
                    <a:lnTo>
                      <a:pt x="457962" y="483108"/>
                    </a:lnTo>
                    <a:lnTo>
                      <a:pt x="464820" y="473202"/>
                    </a:lnTo>
                    <a:lnTo>
                      <a:pt x="473202" y="459486"/>
                    </a:lnTo>
                    <a:close/>
                  </a:path>
                  <a:path w="1463039" h="943610">
                    <a:moveTo>
                      <a:pt x="503682" y="411480"/>
                    </a:moveTo>
                    <a:lnTo>
                      <a:pt x="480060" y="395478"/>
                    </a:lnTo>
                    <a:lnTo>
                      <a:pt x="479298" y="397002"/>
                    </a:lnTo>
                    <a:lnTo>
                      <a:pt x="464820" y="419862"/>
                    </a:lnTo>
                    <a:lnTo>
                      <a:pt x="488442" y="435102"/>
                    </a:lnTo>
                    <a:lnTo>
                      <a:pt x="502920" y="413004"/>
                    </a:lnTo>
                    <a:lnTo>
                      <a:pt x="503682" y="411480"/>
                    </a:lnTo>
                    <a:close/>
                  </a:path>
                  <a:path w="1463039" h="943610">
                    <a:moveTo>
                      <a:pt x="503682" y="27432"/>
                    </a:moveTo>
                    <a:lnTo>
                      <a:pt x="499110" y="24384"/>
                    </a:lnTo>
                    <a:lnTo>
                      <a:pt x="480822" y="15240"/>
                    </a:lnTo>
                    <a:lnTo>
                      <a:pt x="476250" y="13716"/>
                    </a:lnTo>
                    <a:lnTo>
                      <a:pt x="465582" y="40386"/>
                    </a:lnTo>
                    <a:lnTo>
                      <a:pt x="468630" y="41605"/>
                    </a:lnTo>
                    <a:lnTo>
                      <a:pt x="469392" y="41910"/>
                    </a:lnTo>
                    <a:lnTo>
                      <a:pt x="468630" y="41148"/>
                    </a:lnTo>
                    <a:lnTo>
                      <a:pt x="485394" y="49885"/>
                    </a:lnTo>
                    <a:lnTo>
                      <a:pt x="486156" y="50292"/>
                    </a:lnTo>
                    <a:lnTo>
                      <a:pt x="485394" y="49530"/>
                    </a:lnTo>
                    <a:lnTo>
                      <a:pt x="489204" y="51816"/>
                    </a:lnTo>
                    <a:lnTo>
                      <a:pt x="503682" y="27432"/>
                    </a:lnTo>
                    <a:close/>
                  </a:path>
                  <a:path w="1463039" h="943610">
                    <a:moveTo>
                      <a:pt x="535686" y="364236"/>
                    </a:moveTo>
                    <a:lnTo>
                      <a:pt x="512064" y="348234"/>
                    </a:lnTo>
                    <a:lnTo>
                      <a:pt x="498348" y="368046"/>
                    </a:lnTo>
                    <a:lnTo>
                      <a:pt x="496062" y="371856"/>
                    </a:lnTo>
                    <a:lnTo>
                      <a:pt x="519684" y="387858"/>
                    </a:lnTo>
                    <a:lnTo>
                      <a:pt x="521970" y="385000"/>
                    </a:lnTo>
                    <a:lnTo>
                      <a:pt x="522732" y="384048"/>
                    </a:lnTo>
                    <a:lnTo>
                      <a:pt x="521970" y="384048"/>
                    </a:lnTo>
                    <a:lnTo>
                      <a:pt x="535686" y="364236"/>
                    </a:lnTo>
                    <a:close/>
                  </a:path>
                  <a:path w="1463039" h="943610">
                    <a:moveTo>
                      <a:pt x="552450" y="60198"/>
                    </a:moveTo>
                    <a:lnTo>
                      <a:pt x="537210" y="48006"/>
                    </a:lnTo>
                    <a:lnTo>
                      <a:pt x="528828" y="42672"/>
                    </a:lnTo>
                    <a:lnTo>
                      <a:pt x="512826" y="66294"/>
                    </a:lnTo>
                    <a:lnTo>
                      <a:pt x="520446" y="71628"/>
                    </a:lnTo>
                    <a:lnTo>
                      <a:pt x="520446" y="70866"/>
                    </a:lnTo>
                    <a:lnTo>
                      <a:pt x="535686" y="83058"/>
                    </a:lnTo>
                    <a:lnTo>
                      <a:pt x="552450" y="60198"/>
                    </a:lnTo>
                    <a:close/>
                  </a:path>
                  <a:path w="1463039" h="943610">
                    <a:moveTo>
                      <a:pt x="568452" y="317754"/>
                    </a:moveTo>
                    <a:lnTo>
                      <a:pt x="545592" y="300990"/>
                    </a:lnTo>
                    <a:lnTo>
                      <a:pt x="528828" y="324612"/>
                    </a:lnTo>
                    <a:lnTo>
                      <a:pt x="551688" y="341376"/>
                    </a:lnTo>
                    <a:lnTo>
                      <a:pt x="568452" y="317754"/>
                    </a:lnTo>
                    <a:close/>
                  </a:path>
                  <a:path w="1463039" h="943610">
                    <a:moveTo>
                      <a:pt x="597408" y="99060"/>
                    </a:moveTo>
                    <a:lnTo>
                      <a:pt x="595122" y="96774"/>
                    </a:lnTo>
                    <a:lnTo>
                      <a:pt x="576072" y="79248"/>
                    </a:lnTo>
                    <a:lnTo>
                      <a:pt x="556260" y="100584"/>
                    </a:lnTo>
                    <a:lnTo>
                      <a:pt x="575310" y="117348"/>
                    </a:lnTo>
                    <a:lnTo>
                      <a:pt x="576834" y="119634"/>
                    </a:lnTo>
                    <a:lnTo>
                      <a:pt x="597408" y="99060"/>
                    </a:lnTo>
                    <a:close/>
                  </a:path>
                  <a:path w="1463039" h="943610">
                    <a:moveTo>
                      <a:pt x="602742" y="272796"/>
                    </a:moveTo>
                    <a:lnTo>
                      <a:pt x="580644" y="255270"/>
                    </a:lnTo>
                    <a:lnTo>
                      <a:pt x="576834" y="259842"/>
                    </a:lnTo>
                    <a:lnTo>
                      <a:pt x="563118" y="278130"/>
                    </a:lnTo>
                    <a:lnTo>
                      <a:pt x="585216" y="295656"/>
                    </a:lnTo>
                    <a:lnTo>
                      <a:pt x="598932" y="277368"/>
                    </a:lnTo>
                    <a:lnTo>
                      <a:pt x="598932" y="278130"/>
                    </a:lnTo>
                    <a:lnTo>
                      <a:pt x="602742" y="272796"/>
                    </a:lnTo>
                    <a:close/>
                  </a:path>
                  <a:path w="1463039" h="943610">
                    <a:moveTo>
                      <a:pt x="637794" y="140970"/>
                    </a:moveTo>
                    <a:lnTo>
                      <a:pt x="634746" y="137160"/>
                    </a:lnTo>
                    <a:lnTo>
                      <a:pt x="617982" y="119634"/>
                    </a:lnTo>
                    <a:lnTo>
                      <a:pt x="596646" y="139446"/>
                    </a:lnTo>
                    <a:lnTo>
                      <a:pt x="613410" y="156972"/>
                    </a:lnTo>
                    <a:lnTo>
                      <a:pt x="613410" y="156210"/>
                    </a:lnTo>
                    <a:lnTo>
                      <a:pt x="616458" y="160020"/>
                    </a:lnTo>
                    <a:lnTo>
                      <a:pt x="637794" y="140970"/>
                    </a:lnTo>
                    <a:close/>
                  </a:path>
                  <a:path w="1463039" h="943610">
                    <a:moveTo>
                      <a:pt x="638556" y="230124"/>
                    </a:moveTo>
                    <a:lnTo>
                      <a:pt x="617982" y="211074"/>
                    </a:lnTo>
                    <a:lnTo>
                      <a:pt x="615696" y="212598"/>
                    </a:lnTo>
                    <a:lnTo>
                      <a:pt x="598932" y="232410"/>
                    </a:lnTo>
                    <a:lnTo>
                      <a:pt x="620268" y="251460"/>
                    </a:lnTo>
                    <a:lnTo>
                      <a:pt x="637794" y="230886"/>
                    </a:lnTo>
                    <a:lnTo>
                      <a:pt x="637794" y="231648"/>
                    </a:lnTo>
                    <a:lnTo>
                      <a:pt x="638556" y="230124"/>
                    </a:lnTo>
                    <a:close/>
                  </a:path>
                  <a:path w="1463039" h="943610">
                    <a:moveTo>
                      <a:pt x="677418" y="188976"/>
                    </a:moveTo>
                    <a:lnTo>
                      <a:pt x="673950" y="185381"/>
                    </a:lnTo>
                    <a:lnTo>
                      <a:pt x="675132" y="184404"/>
                    </a:lnTo>
                    <a:lnTo>
                      <a:pt x="674370" y="183642"/>
                    </a:lnTo>
                    <a:lnTo>
                      <a:pt x="656844" y="162306"/>
                    </a:lnTo>
                    <a:lnTo>
                      <a:pt x="634746" y="180594"/>
                    </a:lnTo>
                    <a:lnTo>
                      <a:pt x="639508" y="186397"/>
                    </a:lnTo>
                    <a:lnTo>
                      <a:pt x="637032" y="188976"/>
                    </a:lnTo>
                    <a:lnTo>
                      <a:pt x="657606" y="208788"/>
                    </a:lnTo>
                    <a:lnTo>
                      <a:pt x="675894" y="189738"/>
                    </a:lnTo>
                    <a:lnTo>
                      <a:pt x="675894" y="190500"/>
                    </a:lnTo>
                    <a:lnTo>
                      <a:pt x="677418" y="188976"/>
                    </a:lnTo>
                    <a:close/>
                  </a:path>
                  <a:path w="1463039" h="943610">
                    <a:moveTo>
                      <a:pt x="710946" y="229362"/>
                    </a:moveTo>
                    <a:lnTo>
                      <a:pt x="694944" y="208026"/>
                    </a:lnTo>
                    <a:lnTo>
                      <a:pt x="693420" y="206502"/>
                    </a:lnTo>
                    <a:lnTo>
                      <a:pt x="671322" y="224790"/>
                    </a:lnTo>
                    <a:lnTo>
                      <a:pt x="672846" y="226314"/>
                    </a:lnTo>
                    <a:lnTo>
                      <a:pt x="672084" y="226314"/>
                    </a:lnTo>
                    <a:lnTo>
                      <a:pt x="672846" y="227241"/>
                    </a:lnTo>
                    <a:lnTo>
                      <a:pt x="688848" y="246888"/>
                    </a:lnTo>
                    <a:lnTo>
                      <a:pt x="710946" y="229362"/>
                    </a:lnTo>
                    <a:close/>
                  </a:path>
                  <a:path w="1463039" h="943610">
                    <a:moveTo>
                      <a:pt x="718566" y="150876"/>
                    </a:moveTo>
                    <a:lnTo>
                      <a:pt x="700278" y="128778"/>
                    </a:lnTo>
                    <a:lnTo>
                      <a:pt x="694944" y="132588"/>
                    </a:lnTo>
                    <a:lnTo>
                      <a:pt x="678180" y="147828"/>
                    </a:lnTo>
                    <a:lnTo>
                      <a:pt x="697230" y="169164"/>
                    </a:lnTo>
                    <a:lnTo>
                      <a:pt x="713994" y="153924"/>
                    </a:lnTo>
                    <a:lnTo>
                      <a:pt x="713994" y="154686"/>
                    </a:lnTo>
                    <a:lnTo>
                      <a:pt x="718566" y="150876"/>
                    </a:lnTo>
                    <a:close/>
                  </a:path>
                  <a:path w="1463039" h="943610">
                    <a:moveTo>
                      <a:pt x="745236" y="275844"/>
                    </a:moveTo>
                    <a:lnTo>
                      <a:pt x="736092" y="262128"/>
                    </a:lnTo>
                    <a:lnTo>
                      <a:pt x="728472" y="252222"/>
                    </a:lnTo>
                    <a:lnTo>
                      <a:pt x="705612" y="269748"/>
                    </a:lnTo>
                    <a:lnTo>
                      <a:pt x="713232" y="279654"/>
                    </a:lnTo>
                    <a:lnTo>
                      <a:pt x="713232" y="278892"/>
                    </a:lnTo>
                    <a:lnTo>
                      <a:pt x="722376" y="292608"/>
                    </a:lnTo>
                    <a:lnTo>
                      <a:pt x="745236" y="275844"/>
                    </a:lnTo>
                    <a:close/>
                  </a:path>
                  <a:path w="1463039" h="943610">
                    <a:moveTo>
                      <a:pt x="762762" y="117348"/>
                    </a:moveTo>
                    <a:lnTo>
                      <a:pt x="746760" y="92964"/>
                    </a:lnTo>
                    <a:lnTo>
                      <a:pt x="735330" y="101346"/>
                    </a:lnTo>
                    <a:lnTo>
                      <a:pt x="723138" y="110490"/>
                    </a:lnTo>
                    <a:lnTo>
                      <a:pt x="739902" y="133350"/>
                    </a:lnTo>
                    <a:lnTo>
                      <a:pt x="751332" y="124777"/>
                    </a:lnTo>
                    <a:lnTo>
                      <a:pt x="752094" y="124206"/>
                    </a:lnTo>
                    <a:lnTo>
                      <a:pt x="751332" y="124206"/>
                    </a:lnTo>
                    <a:lnTo>
                      <a:pt x="762762" y="117348"/>
                    </a:lnTo>
                    <a:close/>
                  </a:path>
                  <a:path w="1463039" h="943610">
                    <a:moveTo>
                      <a:pt x="778764" y="322326"/>
                    </a:moveTo>
                    <a:lnTo>
                      <a:pt x="778002" y="320802"/>
                    </a:lnTo>
                    <a:lnTo>
                      <a:pt x="762000" y="298704"/>
                    </a:lnTo>
                    <a:lnTo>
                      <a:pt x="739140" y="315468"/>
                    </a:lnTo>
                    <a:lnTo>
                      <a:pt x="754380" y="337566"/>
                    </a:lnTo>
                    <a:lnTo>
                      <a:pt x="754380" y="336804"/>
                    </a:lnTo>
                    <a:lnTo>
                      <a:pt x="755142" y="338328"/>
                    </a:lnTo>
                    <a:lnTo>
                      <a:pt x="778764" y="322326"/>
                    </a:lnTo>
                    <a:close/>
                  </a:path>
                  <a:path w="1463039" h="943610">
                    <a:moveTo>
                      <a:pt x="810006" y="90678"/>
                    </a:moveTo>
                    <a:lnTo>
                      <a:pt x="799338" y="64008"/>
                    </a:lnTo>
                    <a:lnTo>
                      <a:pt x="796290" y="65532"/>
                    </a:lnTo>
                    <a:lnTo>
                      <a:pt x="775716" y="75438"/>
                    </a:lnTo>
                    <a:lnTo>
                      <a:pt x="771906" y="77724"/>
                    </a:lnTo>
                    <a:lnTo>
                      <a:pt x="786384" y="102870"/>
                    </a:lnTo>
                    <a:lnTo>
                      <a:pt x="789432" y="100584"/>
                    </a:lnTo>
                    <a:lnTo>
                      <a:pt x="788670" y="101346"/>
                    </a:lnTo>
                    <a:lnTo>
                      <a:pt x="789432" y="100965"/>
                    </a:lnTo>
                    <a:lnTo>
                      <a:pt x="807720" y="91821"/>
                    </a:lnTo>
                    <a:lnTo>
                      <a:pt x="808482" y="91440"/>
                    </a:lnTo>
                    <a:lnTo>
                      <a:pt x="807720" y="91440"/>
                    </a:lnTo>
                    <a:lnTo>
                      <a:pt x="810006" y="90678"/>
                    </a:lnTo>
                    <a:close/>
                  </a:path>
                  <a:path w="1463039" h="943610">
                    <a:moveTo>
                      <a:pt x="810768" y="369570"/>
                    </a:moveTo>
                    <a:lnTo>
                      <a:pt x="798576" y="352044"/>
                    </a:lnTo>
                    <a:lnTo>
                      <a:pt x="794766" y="345948"/>
                    </a:lnTo>
                    <a:lnTo>
                      <a:pt x="771144" y="361950"/>
                    </a:lnTo>
                    <a:lnTo>
                      <a:pt x="774954" y="368046"/>
                    </a:lnTo>
                    <a:lnTo>
                      <a:pt x="774954" y="367284"/>
                    </a:lnTo>
                    <a:lnTo>
                      <a:pt x="787146" y="385572"/>
                    </a:lnTo>
                    <a:lnTo>
                      <a:pt x="810768" y="369570"/>
                    </a:lnTo>
                    <a:close/>
                  </a:path>
                  <a:path w="1463039" h="943610">
                    <a:moveTo>
                      <a:pt x="835914" y="80772"/>
                    </a:moveTo>
                    <a:lnTo>
                      <a:pt x="835850" y="80606"/>
                    </a:lnTo>
                    <a:lnTo>
                      <a:pt x="835152" y="80772"/>
                    </a:lnTo>
                    <a:lnTo>
                      <a:pt x="835914" y="80772"/>
                    </a:lnTo>
                    <a:close/>
                  </a:path>
                  <a:path w="1463039" h="943610">
                    <a:moveTo>
                      <a:pt x="842772" y="417576"/>
                    </a:moveTo>
                    <a:lnTo>
                      <a:pt x="841248" y="416052"/>
                    </a:lnTo>
                    <a:lnTo>
                      <a:pt x="826770" y="393954"/>
                    </a:lnTo>
                    <a:lnTo>
                      <a:pt x="803148" y="409194"/>
                    </a:lnTo>
                    <a:lnTo>
                      <a:pt x="817626" y="432054"/>
                    </a:lnTo>
                    <a:lnTo>
                      <a:pt x="818388" y="433578"/>
                    </a:lnTo>
                    <a:lnTo>
                      <a:pt x="842772" y="417576"/>
                    </a:lnTo>
                    <a:close/>
                  </a:path>
                  <a:path w="1463039" h="943610">
                    <a:moveTo>
                      <a:pt x="861822" y="74676"/>
                    </a:moveTo>
                    <a:lnTo>
                      <a:pt x="856488" y="46482"/>
                    </a:lnTo>
                    <a:lnTo>
                      <a:pt x="848106" y="48006"/>
                    </a:lnTo>
                    <a:lnTo>
                      <a:pt x="837438" y="50292"/>
                    </a:lnTo>
                    <a:lnTo>
                      <a:pt x="826770" y="53340"/>
                    </a:lnTo>
                    <a:lnTo>
                      <a:pt x="826770" y="54102"/>
                    </a:lnTo>
                    <a:lnTo>
                      <a:pt x="835850" y="80606"/>
                    </a:lnTo>
                    <a:lnTo>
                      <a:pt x="844296" y="78651"/>
                    </a:lnTo>
                    <a:lnTo>
                      <a:pt x="845058" y="78486"/>
                    </a:lnTo>
                    <a:lnTo>
                      <a:pt x="844296" y="78486"/>
                    </a:lnTo>
                    <a:lnTo>
                      <a:pt x="853440" y="76365"/>
                    </a:lnTo>
                    <a:lnTo>
                      <a:pt x="854202" y="76200"/>
                    </a:lnTo>
                    <a:lnTo>
                      <a:pt x="853440" y="76200"/>
                    </a:lnTo>
                    <a:lnTo>
                      <a:pt x="861822" y="74676"/>
                    </a:lnTo>
                    <a:close/>
                  </a:path>
                  <a:path w="1463039" h="943610">
                    <a:moveTo>
                      <a:pt x="873252" y="466344"/>
                    </a:moveTo>
                    <a:lnTo>
                      <a:pt x="863346" y="449580"/>
                    </a:lnTo>
                    <a:lnTo>
                      <a:pt x="858012" y="441960"/>
                    </a:lnTo>
                    <a:lnTo>
                      <a:pt x="833628" y="457200"/>
                    </a:lnTo>
                    <a:lnTo>
                      <a:pt x="838962" y="464820"/>
                    </a:lnTo>
                    <a:lnTo>
                      <a:pt x="848868" y="481584"/>
                    </a:lnTo>
                    <a:lnTo>
                      <a:pt x="873252" y="466344"/>
                    </a:lnTo>
                    <a:close/>
                  </a:path>
                  <a:path w="1463039" h="943610">
                    <a:moveTo>
                      <a:pt x="903732" y="515112"/>
                    </a:moveTo>
                    <a:lnTo>
                      <a:pt x="888492" y="490728"/>
                    </a:lnTo>
                    <a:lnTo>
                      <a:pt x="864108" y="505206"/>
                    </a:lnTo>
                    <a:lnTo>
                      <a:pt x="879348" y="529590"/>
                    </a:lnTo>
                    <a:lnTo>
                      <a:pt x="903732" y="515112"/>
                    </a:lnTo>
                    <a:close/>
                  </a:path>
                  <a:path w="1463039" h="943610">
                    <a:moveTo>
                      <a:pt x="916686" y="41910"/>
                    </a:moveTo>
                    <a:lnTo>
                      <a:pt x="889254" y="41910"/>
                    </a:lnTo>
                    <a:lnTo>
                      <a:pt x="886206" y="42672"/>
                    </a:lnTo>
                    <a:lnTo>
                      <a:pt x="888492" y="70866"/>
                    </a:lnTo>
                    <a:lnTo>
                      <a:pt x="890778" y="70866"/>
                    </a:lnTo>
                    <a:lnTo>
                      <a:pt x="900684" y="70104"/>
                    </a:lnTo>
                    <a:lnTo>
                      <a:pt x="899922" y="70866"/>
                    </a:lnTo>
                    <a:lnTo>
                      <a:pt x="900684" y="70866"/>
                    </a:lnTo>
                    <a:lnTo>
                      <a:pt x="915162" y="70866"/>
                    </a:lnTo>
                    <a:lnTo>
                      <a:pt x="916686" y="41910"/>
                    </a:lnTo>
                    <a:close/>
                  </a:path>
                  <a:path w="1463039" h="943610">
                    <a:moveTo>
                      <a:pt x="933450" y="563880"/>
                    </a:moveTo>
                    <a:lnTo>
                      <a:pt x="928116" y="554736"/>
                    </a:lnTo>
                    <a:lnTo>
                      <a:pt x="918210" y="539496"/>
                    </a:lnTo>
                    <a:lnTo>
                      <a:pt x="893826" y="553974"/>
                    </a:lnTo>
                    <a:lnTo>
                      <a:pt x="903732" y="569976"/>
                    </a:lnTo>
                    <a:lnTo>
                      <a:pt x="909066" y="578358"/>
                    </a:lnTo>
                    <a:lnTo>
                      <a:pt x="933450" y="563880"/>
                    </a:lnTo>
                    <a:close/>
                  </a:path>
                  <a:path w="1463039" h="943610">
                    <a:moveTo>
                      <a:pt x="962406" y="612648"/>
                    </a:moveTo>
                    <a:lnTo>
                      <a:pt x="947928" y="588264"/>
                    </a:lnTo>
                    <a:lnTo>
                      <a:pt x="923544" y="602742"/>
                    </a:lnTo>
                    <a:lnTo>
                      <a:pt x="938022" y="627888"/>
                    </a:lnTo>
                    <a:lnTo>
                      <a:pt x="962406" y="612648"/>
                    </a:lnTo>
                    <a:close/>
                  </a:path>
                  <a:path w="1463039" h="943610">
                    <a:moveTo>
                      <a:pt x="976122" y="51816"/>
                    </a:moveTo>
                    <a:lnTo>
                      <a:pt x="972312" y="50292"/>
                    </a:lnTo>
                    <a:lnTo>
                      <a:pt x="961644" y="48006"/>
                    </a:lnTo>
                    <a:lnTo>
                      <a:pt x="950976" y="46482"/>
                    </a:lnTo>
                    <a:lnTo>
                      <a:pt x="946404" y="45720"/>
                    </a:lnTo>
                    <a:lnTo>
                      <a:pt x="941832" y="73914"/>
                    </a:lnTo>
                    <a:lnTo>
                      <a:pt x="946404" y="74676"/>
                    </a:lnTo>
                    <a:lnTo>
                      <a:pt x="946404" y="73914"/>
                    </a:lnTo>
                    <a:lnTo>
                      <a:pt x="956310" y="76200"/>
                    </a:lnTo>
                    <a:lnTo>
                      <a:pt x="955548" y="76200"/>
                    </a:lnTo>
                    <a:lnTo>
                      <a:pt x="956310" y="76365"/>
                    </a:lnTo>
                    <a:lnTo>
                      <a:pt x="965454" y="78486"/>
                    </a:lnTo>
                    <a:lnTo>
                      <a:pt x="964692" y="78486"/>
                    </a:lnTo>
                    <a:lnTo>
                      <a:pt x="965454" y="78638"/>
                    </a:lnTo>
                    <a:lnTo>
                      <a:pt x="968502" y="79248"/>
                    </a:lnTo>
                    <a:lnTo>
                      <a:pt x="976122" y="51816"/>
                    </a:lnTo>
                    <a:close/>
                  </a:path>
                  <a:path w="1463039" h="943610">
                    <a:moveTo>
                      <a:pt x="992124" y="662178"/>
                    </a:moveTo>
                    <a:lnTo>
                      <a:pt x="977646" y="637794"/>
                    </a:lnTo>
                    <a:lnTo>
                      <a:pt x="952500" y="652272"/>
                    </a:lnTo>
                    <a:lnTo>
                      <a:pt x="966978" y="676656"/>
                    </a:lnTo>
                    <a:lnTo>
                      <a:pt x="992124" y="662178"/>
                    </a:lnTo>
                    <a:close/>
                  </a:path>
                  <a:path w="1463039" h="943610">
                    <a:moveTo>
                      <a:pt x="1020318" y="711708"/>
                    </a:moveTo>
                    <a:lnTo>
                      <a:pt x="1015746" y="703326"/>
                    </a:lnTo>
                    <a:lnTo>
                      <a:pt x="1005840" y="686562"/>
                    </a:lnTo>
                    <a:lnTo>
                      <a:pt x="981456" y="701040"/>
                    </a:lnTo>
                    <a:lnTo>
                      <a:pt x="991362" y="717804"/>
                    </a:lnTo>
                    <a:lnTo>
                      <a:pt x="995934" y="726186"/>
                    </a:lnTo>
                    <a:lnTo>
                      <a:pt x="1020318" y="711708"/>
                    </a:lnTo>
                    <a:close/>
                  </a:path>
                  <a:path w="1463039" h="943610">
                    <a:moveTo>
                      <a:pt x="1031748" y="70866"/>
                    </a:moveTo>
                    <a:lnTo>
                      <a:pt x="1023366" y="67818"/>
                    </a:lnTo>
                    <a:lnTo>
                      <a:pt x="1012698" y="63246"/>
                    </a:lnTo>
                    <a:lnTo>
                      <a:pt x="1004316" y="60198"/>
                    </a:lnTo>
                    <a:lnTo>
                      <a:pt x="994410" y="86868"/>
                    </a:lnTo>
                    <a:lnTo>
                      <a:pt x="1002792" y="89916"/>
                    </a:lnTo>
                    <a:lnTo>
                      <a:pt x="1012698" y="93726"/>
                    </a:lnTo>
                    <a:lnTo>
                      <a:pt x="1011936" y="93726"/>
                    </a:lnTo>
                    <a:lnTo>
                      <a:pt x="1012698" y="94068"/>
                    </a:lnTo>
                    <a:lnTo>
                      <a:pt x="1020318" y="97536"/>
                    </a:lnTo>
                    <a:lnTo>
                      <a:pt x="1031748" y="70866"/>
                    </a:lnTo>
                    <a:close/>
                  </a:path>
                  <a:path w="1463039" h="943610">
                    <a:moveTo>
                      <a:pt x="1049274" y="761238"/>
                    </a:moveTo>
                    <a:lnTo>
                      <a:pt x="1034796" y="736092"/>
                    </a:lnTo>
                    <a:lnTo>
                      <a:pt x="1010412" y="750570"/>
                    </a:lnTo>
                    <a:lnTo>
                      <a:pt x="1024890" y="775716"/>
                    </a:lnTo>
                    <a:lnTo>
                      <a:pt x="1049274" y="761238"/>
                    </a:lnTo>
                    <a:close/>
                  </a:path>
                  <a:path w="1463039" h="943610">
                    <a:moveTo>
                      <a:pt x="1069848" y="122682"/>
                    </a:moveTo>
                    <a:lnTo>
                      <a:pt x="1069276" y="122364"/>
                    </a:lnTo>
                    <a:lnTo>
                      <a:pt x="1069086" y="122682"/>
                    </a:lnTo>
                    <a:lnTo>
                      <a:pt x="1069848" y="122682"/>
                    </a:lnTo>
                    <a:close/>
                  </a:path>
                  <a:path w="1463039" h="943610">
                    <a:moveTo>
                      <a:pt x="1077468" y="810768"/>
                    </a:moveTo>
                    <a:lnTo>
                      <a:pt x="1063752" y="785622"/>
                    </a:lnTo>
                    <a:lnTo>
                      <a:pt x="1038606" y="800100"/>
                    </a:lnTo>
                    <a:lnTo>
                      <a:pt x="1053084" y="824484"/>
                    </a:lnTo>
                    <a:lnTo>
                      <a:pt x="1077468" y="810768"/>
                    </a:lnTo>
                    <a:close/>
                  </a:path>
                  <a:path w="1463039" h="943610">
                    <a:moveTo>
                      <a:pt x="1084326" y="98298"/>
                    </a:moveTo>
                    <a:lnTo>
                      <a:pt x="1063752" y="86868"/>
                    </a:lnTo>
                    <a:lnTo>
                      <a:pt x="1058418" y="83820"/>
                    </a:lnTo>
                    <a:lnTo>
                      <a:pt x="1045464" y="109728"/>
                    </a:lnTo>
                    <a:lnTo>
                      <a:pt x="1050036" y="112014"/>
                    </a:lnTo>
                    <a:lnTo>
                      <a:pt x="1069276" y="122364"/>
                    </a:lnTo>
                    <a:lnTo>
                      <a:pt x="1084326" y="98298"/>
                    </a:lnTo>
                    <a:close/>
                  </a:path>
                  <a:path w="1463039" h="943610">
                    <a:moveTo>
                      <a:pt x="1106424" y="860298"/>
                    </a:moveTo>
                    <a:lnTo>
                      <a:pt x="1104900" y="858012"/>
                    </a:lnTo>
                    <a:lnTo>
                      <a:pt x="1091946" y="835152"/>
                    </a:lnTo>
                    <a:lnTo>
                      <a:pt x="1066800" y="849630"/>
                    </a:lnTo>
                    <a:lnTo>
                      <a:pt x="1079754" y="871728"/>
                    </a:lnTo>
                    <a:lnTo>
                      <a:pt x="1081278" y="874776"/>
                    </a:lnTo>
                    <a:lnTo>
                      <a:pt x="1106424" y="860298"/>
                    </a:lnTo>
                    <a:close/>
                  </a:path>
                  <a:path w="1463039" h="943610">
                    <a:moveTo>
                      <a:pt x="1133094" y="130302"/>
                    </a:moveTo>
                    <a:lnTo>
                      <a:pt x="1123950" y="124206"/>
                    </a:lnTo>
                    <a:lnTo>
                      <a:pt x="1108710" y="113538"/>
                    </a:lnTo>
                    <a:lnTo>
                      <a:pt x="1093470" y="137922"/>
                    </a:lnTo>
                    <a:lnTo>
                      <a:pt x="1107948" y="147828"/>
                    </a:lnTo>
                    <a:lnTo>
                      <a:pt x="1107948" y="147066"/>
                    </a:lnTo>
                    <a:lnTo>
                      <a:pt x="1116330" y="153162"/>
                    </a:lnTo>
                    <a:lnTo>
                      <a:pt x="1133094" y="130302"/>
                    </a:lnTo>
                    <a:close/>
                  </a:path>
                  <a:path w="1463039" h="943610">
                    <a:moveTo>
                      <a:pt x="1138428" y="811530"/>
                    </a:moveTo>
                    <a:lnTo>
                      <a:pt x="1131570" y="804672"/>
                    </a:lnTo>
                    <a:lnTo>
                      <a:pt x="1116330" y="804672"/>
                    </a:lnTo>
                    <a:lnTo>
                      <a:pt x="1109472" y="810768"/>
                    </a:lnTo>
                    <a:lnTo>
                      <a:pt x="1108913" y="891755"/>
                    </a:lnTo>
                    <a:lnTo>
                      <a:pt x="1108887" y="893851"/>
                    </a:lnTo>
                    <a:lnTo>
                      <a:pt x="1108710" y="918210"/>
                    </a:lnTo>
                    <a:lnTo>
                      <a:pt x="1108875" y="923239"/>
                    </a:lnTo>
                    <a:lnTo>
                      <a:pt x="1108710" y="922909"/>
                    </a:lnTo>
                    <a:lnTo>
                      <a:pt x="1108710" y="918210"/>
                    </a:lnTo>
                    <a:lnTo>
                      <a:pt x="1108710" y="893749"/>
                    </a:lnTo>
                    <a:lnTo>
                      <a:pt x="1108887" y="893851"/>
                    </a:lnTo>
                    <a:lnTo>
                      <a:pt x="1108887" y="891781"/>
                    </a:lnTo>
                    <a:lnTo>
                      <a:pt x="1107059" y="892797"/>
                    </a:lnTo>
                    <a:lnTo>
                      <a:pt x="1043940" y="856488"/>
                    </a:lnTo>
                    <a:lnTo>
                      <a:pt x="1037082" y="852678"/>
                    </a:lnTo>
                    <a:lnTo>
                      <a:pt x="1028700" y="854964"/>
                    </a:lnTo>
                    <a:lnTo>
                      <a:pt x="1024890" y="861822"/>
                    </a:lnTo>
                    <a:lnTo>
                      <a:pt x="1020318" y="868680"/>
                    </a:lnTo>
                    <a:lnTo>
                      <a:pt x="1022604" y="877062"/>
                    </a:lnTo>
                    <a:lnTo>
                      <a:pt x="1029462" y="880872"/>
                    </a:lnTo>
                    <a:lnTo>
                      <a:pt x="1095756" y="919416"/>
                    </a:lnTo>
                    <a:lnTo>
                      <a:pt x="1134618" y="942022"/>
                    </a:lnTo>
                    <a:lnTo>
                      <a:pt x="1136904" y="943356"/>
                    </a:lnTo>
                    <a:lnTo>
                      <a:pt x="1138428" y="819150"/>
                    </a:lnTo>
                    <a:lnTo>
                      <a:pt x="1138428" y="811530"/>
                    </a:lnTo>
                    <a:close/>
                  </a:path>
                  <a:path w="1463039" h="943610">
                    <a:moveTo>
                      <a:pt x="1178814" y="165354"/>
                    </a:moveTo>
                    <a:lnTo>
                      <a:pt x="1164336" y="153162"/>
                    </a:lnTo>
                    <a:lnTo>
                      <a:pt x="1155954" y="147066"/>
                    </a:lnTo>
                    <a:lnTo>
                      <a:pt x="1139190" y="169926"/>
                    </a:lnTo>
                    <a:lnTo>
                      <a:pt x="1146810" y="176022"/>
                    </a:lnTo>
                    <a:lnTo>
                      <a:pt x="1161288" y="187452"/>
                    </a:lnTo>
                    <a:lnTo>
                      <a:pt x="1178814" y="165354"/>
                    </a:lnTo>
                    <a:close/>
                  </a:path>
                  <a:path w="1463039" h="943610">
                    <a:moveTo>
                      <a:pt x="1223010" y="202692"/>
                    </a:moveTo>
                    <a:lnTo>
                      <a:pt x="1204722" y="186690"/>
                    </a:lnTo>
                    <a:lnTo>
                      <a:pt x="1200912" y="183642"/>
                    </a:lnTo>
                    <a:lnTo>
                      <a:pt x="1182624" y="205740"/>
                    </a:lnTo>
                    <a:lnTo>
                      <a:pt x="1185672" y="208026"/>
                    </a:lnTo>
                    <a:lnTo>
                      <a:pt x="1203960" y="224028"/>
                    </a:lnTo>
                    <a:lnTo>
                      <a:pt x="1223010" y="202692"/>
                    </a:lnTo>
                    <a:close/>
                  </a:path>
                  <a:path w="1463039" h="943610">
                    <a:moveTo>
                      <a:pt x="1265682" y="242316"/>
                    </a:moveTo>
                    <a:lnTo>
                      <a:pt x="1264158" y="240792"/>
                    </a:lnTo>
                    <a:lnTo>
                      <a:pt x="1244346" y="222504"/>
                    </a:lnTo>
                    <a:lnTo>
                      <a:pt x="1224534" y="243078"/>
                    </a:lnTo>
                    <a:lnTo>
                      <a:pt x="1244346" y="261366"/>
                    </a:lnTo>
                    <a:lnTo>
                      <a:pt x="1245870" y="262890"/>
                    </a:lnTo>
                    <a:lnTo>
                      <a:pt x="1265682" y="242316"/>
                    </a:lnTo>
                    <a:close/>
                  </a:path>
                  <a:path w="1463039" h="943610">
                    <a:moveTo>
                      <a:pt x="1306068" y="282702"/>
                    </a:moveTo>
                    <a:lnTo>
                      <a:pt x="1303782" y="280416"/>
                    </a:lnTo>
                    <a:lnTo>
                      <a:pt x="1286256" y="262128"/>
                    </a:lnTo>
                    <a:lnTo>
                      <a:pt x="1265682" y="282702"/>
                    </a:lnTo>
                    <a:lnTo>
                      <a:pt x="1283970" y="300228"/>
                    </a:lnTo>
                    <a:lnTo>
                      <a:pt x="1286256" y="302514"/>
                    </a:lnTo>
                    <a:lnTo>
                      <a:pt x="1306068" y="282702"/>
                    </a:lnTo>
                    <a:close/>
                  </a:path>
                  <a:path w="1463039" h="943610">
                    <a:moveTo>
                      <a:pt x="1346454" y="323850"/>
                    </a:moveTo>
                    <a:lnTo>
                      <a:pt x="1344168" y="320802"/>
                    </a:lnTo>
                    <a:lnTo>
                      <a:pt x="1326642" y="303276"/>
                    </a:lnTo>
                    <a:lnTo>
                      <a:pt x="1306068" y="323088"/>
                    </a:lnTo>
                    <a:lnTo>
                      <a:pt x="1322832" y="340614"/>
                    </a:lnTo>
                    <a:lnTo>
                      <a:pt x="1325880" y="343662"/>
                    </a:lnTo>
                    <a:lnTo>
                      <a:pt x="1346454" y="323850"/>
                    </a:lnTo>
                    <a:close/>
                  </a:path>
                  <a:path w="1463039" h="943610">
                    <a:moveTo>
                      <a:pt x="1385316" y="365760"/>
                    </a:moveTo>
                    <a:lnTo>
                      <a:pt x="1383792" y="363474"/>
                    </a:lnTo>
                    <a:lnTo>
                      <a:pt x="1366266" y="344424"/>
                    </a:lnTo>
                    <a:lnTo>
                      <a:pt x="1344930" y="364236"/>
                    </a:lnTo>
                    <a:lnTo>
                      <a:pt x="1362456" y="382524"/>
                    </a:lnTo>
                    <a:lnTo>
                      <a:pt x="1364742" y="384810"/>
                    </a:lnTo>
                    <a:lnTo>
                      <a:pt x="1385316" y="365760"/>
                    </a:lnTo>
                    <a:close/>
                  </a:path>
                  <a:path w="1463039" h="943610">
                    <a:moveTo>
                      <a:pt x="1424178" y="407670"/>
                    </a:moveTo>
                    <a:lnTo>
                      <a:pt x="1423416" y="406146"/>
                    </a:lnTo>
                    <a:lnTo>
                      <a:pt x="1405128" y="386334"/>
                    </a:lnTo>
                    <a:lnTo>
                      <a:pt x="1383792" y="406146"/>
                    </a:lnTo>
                    <a:lnTo>
                      <a:pt x="1402080" y="425958"/>
                    </a:lnTo>
                    <a:lnTo>
                      <a:pt x="1402842" y="426720"/>
                    </a:lnTo>
                    <a:lnTo>
                      <a:pt x="1424178" y="407670"/>
                    </a:lnTo>
                    <a:close/>
                  </a:path>
                  <a:path w="1463039" h="943610">
                    <a:moveTo>
                      <a:pt x="1463040" y="449580"/>
                    </a:moveTo>
                    <a:lnTo>
                      <a:pt x="1443228" y="429006"/>
                    </a:lnTo>
                    <a:lnTo>
                      <a:pt x="1422654" y="448056"/>
                    </a:lnTo>
                    <a:lnTo>
                      <a:pt x="1441704" y="469392"/>
                    </a:lnTo>
                    <a:lnTo>
                      <a:pt x="1463040" y="44958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37" name="object 33">
              <a:extLst>
                <a:ext uri="{FF2B5EF4-FFF2-40B4-BE49-F238E27FC236}">
                  <a16:creationId xmlns:a16="http://schemas.microsoft.com/office/drawing/2014/main" id="{F26457B4-5D7C-48D0-BF0B-9E8FF38B8929}"/>
                </a:ext>
              </a:extLst>
            </p:cNvPr>
            <p:cNvSpPr/>
            <p:nvPr/>
          </p:nvSpPr>
          <p:spPr>
            <a:xfrm>
              <a:off x="2265437" y="4740262"/>
              <a:ext cx="725170" cy="453390"/>
            </a:xfrm>
            <a:custGeom>
              <a:avLst/>
              <a:gdLst/>
              <a:ahLst/>
              <a:cxnLst/>
              <a:rect l="l" t="t" r="r" b="b"/>
              <a:pathLst>
                <a:path w="725170" h="453389">
                  <a:moveTo>
                    <a:pt x="724662" y="453389"/>
                  </a:moveTo>
                  <a:lnTo>
                    <a:pt x="682868" y="441192"/>
                  </a:lnTo>
                  <a:lnTo>
                    <a:pt x="639449" y="426241"/>
                  </a:lnTo>
                  <a:lnTo>
                    <a:pt x="594708" y="408725"/>
                  </a:lnTo>
                  <a:lnTo>
                    <a:pt x="548951" y="388834"/>
                  </a:lnTo>
                  <a:lnTo>
                    <a:pt x="502480" y="366755"/>
                  </a:lnTo>
                  <a:lnTo>
                    <a:pt x="455601" y="342679"/>
                  </a:lnTo>
                  <a:lnTo>
                    <a:pt x="408618" y="316793"/>
                  </a:lnTo>
                  <a:lnTo>
                    <a:pt x="361835" y="289288"/>
                  </a:lnTo>
                  <a:lnTo>
                    <a:pt x="315556" y="260351"/>
                  </a:lnTo>
                  <a:lnTo>
                    <a:pt x="270086" y="230171"/>
                  </a:lnTo>
                  <a:lnTo>
                    <a:pt x="225729" y="198939"/>
                  </a:lnTo>
                  <a:lnTo>
                    <a:pt x="182789" y="166842"/>
                  </a:lnTo>
                  <a:lnTo>
                    <a:pt x="141571" y="134069"/>
                  </a:lnTo>
                  <a:lnTo>
                    <a:pt x="102378" y="100809"/>
                  </a:lnTo>
                  <a:lnTo>
                    <a:pt x="65516" y="67252"/>
                  </a:lnTo>
                  <a:lnTo>
                    <a:pt x="31288" y="33586"/>
                  </a:lnTo>
                  <a:lnTo>
                    <a:pt x="0" y="0"/>
                  </a:lnTo>
                </a:path>
              </a:pathLst>
            </a:custGeom>
            <a:ln w="19088">
              <a:solidFill>
                <a:srgbClr val="0070C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38" name="object 34">
              <a:extLst>
                <a:ext uri="{FF2B5EF4-FFF2-40B4-BE49-F238E27FC236}">
                  <a16:creationId xmlns:a16="http://schemas.microsoft.com/office/drawing/2014/main" id="{7E2D0423-177D-4C2B-AACF-B01321976F7A}"/>
                </a:ext>
              </a:extLst>
            </p:cNvPr>
            <p:cNvSpPr/>
            <p:nvPr/>
          </p:nvSpPr>
          <p:spPr>
            <a:xfrm>
              <a:off x="3710951" y="4740262"/>
              <a:ext cx="697230" cy="453390"/>
            </a:xfrm>
            <a:custGeom>
              <a:avLst/>
              <a:gdLst/>
              <a:ahLst/>
              <a:cxnLst/>
              <a:rect l="l" t="t" r="r" b="b"/>
              <a:pathLst>
                <a:path w="697229" h="453389">
                  <a:moveTo>
                    <a:pt x="697229" y="0"/>
                  </a:moveTo>
                  <a:lnTo>
                    <a:pt x="669482" y="32193"/>
                  </a:lnTo>
                  <a:lnTo>
                    <a:pt x="638611" y="64642"/>
                  </a:lnTo>
                  <a:lnTo>
                    <a:pt x="604910" y="97155"/>
                  </a:lnTo>
                  <a:lnTo>
                    <a:pt x="568670" y="129544"/>
                  </a:lnTo>
                  <a:lnTo>
                    <a:pt x="530186" y="161621"/>
                  </a:lnTo>
                  <a:lnTo>
                    <a:pt x="489750" y="193196"/>
                  </a:lnTo>
                  <a:lnTo>
                    <a:pt x="447656" y="224081"/>
                  </a:lnTo>
                  <a:lnTo>
                    <a:pt x="404197" y="254086"/>
                  </a:lnTo>
                  <a:lnTo>
                    <a:pt x="359666" y="283023"/>
                  </a:lnTo>
                  <a:lnTo>
                    <a:pt x="314356" y="310703"/>
                  </a:lnTo>
                  <a:lnTo>
                    <a:pt x="268560" y="336936"/>
                  </a:lnTo>
                  <a:lnTo>
                    <a:pt x="222572" y="361535"/>
                  </a:lnTo>
                  <a:lnTo>
                    <a:pt x="176684" y="384309"/>
                  </a:lnTo>
                  <a:lnTo>
                    <a:pt x="131189" y="405071"/>
                  </a:lnTo>
                  <a:lnTo>
                    <a:pt x="86382" y="423631"/>
                  </a:lnTo>
                  <a:lnTo>
                    <a:pt x="42554" y="439800"/>
                  </a:lnTo>
                  <a:lnTo>
                    <a:pt x="0" y="453389"/>
                  </a:lnTo>
                </a:path>
              </a:pathLst>
            </a:custGeom>
            <a:ln w="19088">
              <a:solidFill>
                <a:srgbClr val="0070C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object 14">
                  <a:extLst>
                    <a:ext uri="{FF2B5EF4-FFF2-40B4-BE49-F238E27FC236}">
                      <a16:creationId xmlns:a16="http://schemas.microsoft.com/office/drawing/2014/main" id="{C983A500-2640-482D-AC94-BE42A609734C}"/>
                    </a:ext>
                  </a:extLst>
                </p:cNvPr>
                <p:cNvSpPr txBox="1"/>
                <p:nvPr/>
              </p:nvSpPr>
              <p:spPr>
                <a:xfrm>
                  <a:off x="3273799" y="5047984"/>
                  <a:ext cx="167005" cy="330200"/>
                </a:xfrm>
                <a:prstGeom prst="rect">
                  <a:avLst/>
                </a:prstGeom>
              </p:spPr>
              <p:txBody>
                <a:bodyPr vert="horz" wrap="square" lIns="0" tIns="12065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95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𝑑</m:t>
                        </m:r>
                      </m:oMath>
                    </m:oMathPara>
                  </a14:m>
                  <a:endParaRPr sz="2000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40" name="object 14">
                  <a:extLst>
                    <a:ext uri="{FF2B5EF4-FFF2-40B4-BE49-F238E27FC236}">
                      <a16:creationId xmlns:a16="http://schemas.microsoft.com/office/drawing/2014/main" id="{C983A500-2640-482D-AC94-BE42A60973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3799" y="5047984"/>
                  <a:ext cx="167005" cy="330200"/>
                </a:xfrm>
                <a:prstGeom prst="rect">
                  <a:avLst/>
                </a:prstGeom>
                <a:blipFill>
                  <a:blip r:embed="rId16"/>
                  <a:stretch>
                    <a:fillRect l="-48148" r="-51852" b="-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B18581C0-BBAA-49FA-92F5-2C942B099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7A1F-0DF6-417D-AA31-86220CDC9DC8}" type="slidenum">
              <a:rPr lang="zh-CN" altLang="en-US" smtClean="0">
                <a:cs typeface="+mn-ea"/>
                <a:sym typeface="+mn-lt"/>
              </a:rPr>
              <a:t>49</a:t>
            </a:fld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054112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1889-2C41-4EDD-AF7C-14C0B903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0070C0"/>
                </a:solidFill>
                <a:cs typeface="+mn-ea"/>
                <a:sym typeface="+mn-lt"/>
              </a:rPr>
              <a:t>双线</a:t>
            </a:r>
            <a:r>
              <a:rPr lang="zh-CN" altLang="en-US" b="1" dirty="0">
                <a:solidFill>
                  <a:srgbClr val="0070C0"/>
                </a:solidFill>
                <a:cs typeface="+mn-ea"/>
                <a:sym typeface="+mn-lt"/>
              </a:rPr>
              <a:t>性插值（</a:t>
            </a:r>
            <a:r>
              <a:rPr lang="en-US" altLang="zh-CN" b="1" dirty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Bilinear Interpolation</a:t>
            </a:r>
            <a:r>
              <a:rPr lang="zh-CN" altLang="en-US" b="1" dirty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FA1D7-6D9A-46EA-9D08-00B86AFB3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A way to interpolate point value on a 2D grid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Using </a:t>
            </a:r>
            <a:r>
              <a:rPr lang="en-US" altLang="zh-CN" dirty="0">
                <a:solidFill>
                  <a:srgbClr val="00B050"/>
                </a:solidFill>
                <a:cs typeface="+mn-ea"/>
                <a:sym typeface="+mn-lt"/>
              </a:rPr>
              <a:t>linear interpolation </a:t>
            </a:r>
            <a:r>
              <a:rPr lang="en-US" altLang="zh-CN" dirty="0">
                <a:cs typeface="+mn-ea"/>
                <a:sym typeface="+mn-lt"/>
              </a:rPr>
              <a:t>twice (horizontal &amp; vertical)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E150DA-421E-49AA-8B69-41F49AD2C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040" y="3338798"/>
            <a:ext cx="3281086" cy="31540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F5B97C-D63C-4D0E-B5AB-32CCAD343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342" y="3832268"/>
            <a:ext cx="5933634" cy="216713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38E45-705B-492B-B3C8-9D1C1F88A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7A1F-0DF6-417D-AA31-86220CDC9DC8}" type="slidenum">
              <a:rPr lang="zh-CN" altLang="en-US" smtClean="0">
                <a:cs typeface="+mn-ea"/>
                <a:sym typeface="+mn-lt"/>
              </a:rPr>
              <a:t>50</a:t>
            </a:fld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582028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2082A-ED05-4425-B425-EE64DFC47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Uniform LBP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8A0D9-84B2-42DB-BCA5-217B8A4CF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Uniform patterns to further improve LBP.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Uniform patterns has at most 2 bitwise transitions in binary pattern.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Histogram assigns separate bin for every uniform pattern.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Histogram assigns a single bin for all non-uniform pattern.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In FERET dataset, (8,1) neighborhoods : 90.6 percent of patterns are uniform.</a:t>
            </a:r>
          </a:p>
        </p:txBody>
      </p:sp>
    </p:spTree>
    <p:extLst>
      <p:ext uri="{BB962C8B-B14F-4D97-AF65-F5344CB8AC3E}">
        <p14:creationId xmlns:p14="http://schemas.microsoft.com/office/powerpoint/2010/main" val="3951376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619CF-488F-4CE2-BDF3-7477B8AB9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Uniform LBP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B3BD3-580A-4CCF-805A-6E36CD383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lnSpcReduction="10000"/>
          </a:bodyPr>
          <a:lstStyle/>
          <a:p>
            <a:r>
              <a:rPr lang="en-US" altLang="zh-CN" dirty="0">
                <a:cs typeface="+mn-ea"/>
                <a:sym typeface="+mn-lt"/>
              </a:rPr>
              <a:t>Uniform patterns examples </a:t>
            </a:r>
          </a:p>
          <a:p>
            <a:pPr lvl="1"/>
            <a:r>
              <a:rPr lang="fr-FR" altLang="zh-CN" dirty="0">
                <a:cs typeface="+mn-ea"/>
                <a:sym typeface="+mn-lt"/>
              </a:rPr>
              <a:t>00000000 (0 transitions) </a:t>
            </a:r>
          </a:p>
          <a:p>
            <a:pPr lvl="1"/>
            <a:r>
              <a:rPr lang="fr-FR" altLang="zh-CN" dirty="0">
                <a:cs typeface="+mn-ea"/>
                <a:sym typeface="+mn-lt"/>
              </a:rPr>
              <a:t>01110000 (2 transitions) </a:t>
            </a:r>
          </a:p>
          <a:p>
            <a:pPr lvl="1"/>
            <a:r>
              <a:rPr lang="fr-FR" altLang="zh-CN" dirty="0">
                <a:cs typeface="+mn-ea"/>
                <a:sym typeface="+mn-lt"/>
              </a:rPr>
              <a:t>11001111 (2 transitions) </a:t>
            </a:r>
          </a:p>
          <a:p>
            <a:endParaRPr lang="en-US" altLang="zh-CN" dirty="0">
              <a:cs typeface="+mn-ea"/>
              <a:sym typeface="+mn-lt"/>
            </a:endParaRPr>
          </a:p>
          <a:p>
            <a:r>
              <a:rPr lang="en-US" altLang="zh-CN" dirty="0">
                <a:cs typeface="+mn-ea"/>
                <a:sym typeface="+mn-lt"/>
              </a:rPr>
              <a:t>Non-uniform patterns examples</a:t>
            </a:r>
          </a:p>
          <a:p>
            <a:pPr lvl="1"/>
            <a:r>
              <a:rPr lang="en-US" altLang="zh-CN" dirty="0">
                <a:cs typeface="+mn-ea"/>
                <a:sym typeface="+mn-lt"/>
              </a:rPr>
              <a:t>11001001 (4 transitions) </a:t>
            </a:r>
          </a:p>
          <a:p>
            <a:pPr lvl="1"/>
            <a:r>
              <a:rPr lang="en-US" altLang="zh-CN" dirty="0">
                <a:cs typeface="+mn-ea"/>
                <a:sym typeface="+mn-lt"/>
              </a:rPr>
              <a:t>01010011 (5 transitions)</a:t>
            </a:r>
          </a:p>
          <a:p>
            <a:pPr lvl="1"/>
            <a:endParaRPr lang="en-US" altLang="zh-CN" dirty="0">
              <a:cs typeface="+mn-ea"/>
              <a:sym typeface="+mn-lt"/>
            </a:endParaRPr>
          </a:p>
          <a:p>
            <a:r>
              <a:rPr lang="en-US" altLang="zh-CN" dirty="0">
                <a:cs typeface="+mn-ea"/>
                <a:sym typeface="+mn-lt"/>
              </a:rPr>
              <a:t>59 bins histogram 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 descr="C:\Users\Farideh\Desktop\AMLGu.png">
            <a:extLst>
              <a:ext uri="{FF2B5EF4-FFF2-40B4-BE49-F238E27FC236}">
                <a16:creationId xmlns:a16="http://schemas.microsoft.com/office/drawing/2014/main" id="{AB7EA1CC-27A3-48F5-AD2F-46B576DC1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9524" y="1018476"/>
            <a:ext cx="4889684" cy="547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C8BA0-FD69-44F7-ABF8-38685E37BF1F}"/>
              </a:ext>
            </a:extLst>
          </p:cNvPr>
          <p:cNvCxnSpPr/>
          <p:nvPr/>
        </p:nvCxnSpPr>
        <p:spPr>
          <a:xfrm flipH="1">
            <a:off x="1708638" y="2904067"/>
            <a:ext cx="1143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994FE24-2AE1-4E0C-9412-97CFDB393251}"/>
              </a:ext>
            </a:extLst>
          </p:cNvPr>
          <p:cNvCxnSpPr/>
          <p:nvPr/>
        </p:nvCxnSpPr>
        <p:spPr>
          <a:xfrm flipH="1">
            <a:off x="2131971" y="2904067"/>
            <a:ext cx="1143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8B5A920-F62D-4190-82F5-281A101D7142}"/>
              </a:ext>
            </a:extLst>
          </p:cNvPr>
          <p:cNvCxnSpPr/>
          <p:nvPr/>
        </p:nvCxnSpPr>
        <p:spPr>
          <a:xfrm flipH="1">
            <a:off x="1847784" y="3254879"/>
            <a:ext cx="1143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3F50F-937A-423F-90E3-CF2808426463}"/>
              </a:ext>
            </a:extLst>
          </p:cNvPr>
          <p:cNvCxnSpPr/>
          <p:nvPr/>
        </p:nvCxnSpPr>
        <p:spPr>
          <a:xfrm flipH="1">
            <a:off x="2136016" y="3264821"/>
            <a:ext cx="1143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B08B1B-0F9E-4950-B74B-E05B8DDD8EA8}"/>
              </a:ext>
            </a:extLst>
          </p:cNvPr>
          <p:cNvCxnSpPr/>
          <p:nvPr/>
        </p:nvCxnSpPr>
        <p:spPr>
          <a:xfrm flipH="1">
            <a:off x="1851099" y="4550283"/>
            <a:ext cx="1143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F9A56F8-E8CF-42CE-BEAB-A7C33113567C}"/>
              </a:ext>
            </a:extLst>
          </p:cNvPr>
          <p:cNvCxnSpPr/>
          <p:nvPr/>
        </p:nvCxnSpPr>
        <p:spPr>
          <a:xfrm flipH="1">
            <a:off x="2139331" y="4550282"/>
            <a:ext cx="1143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3626736-F8AD-415C-B73A-C7FD58B05D60}"/>
              </a:ext>
            </a:extLst>
          </p:cNvPr>
          <p:cNvCxnSpPr/>
          <p:nvPr/>
        </p:nvCxnSpPr>
        <p:spPr>
          <a:xfrm flipH="1">
            <a:off x="2291731" y="4553596"/>
            <a:ext cx="1143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DB4380-FDEE-457F-BA2D-37AE8D06EB92}"/>
              </a:ext>
            </a:extLst>
          </p:cNvPr>
          <p:cNvCxnSpPr/>
          <p:nvPr/>
        </p:nvCxnSpPr>
        <p:spPr>
          <a:xfrm flipH="1">
            <a:off x="2619724" y="4553597"/>
            <a:ext cx="1143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E42FC5A-D6DB-4E6C-8E34-5393F393028C}"/>
              </a:ext>
            </a:extLst>
          </p:cNvPr>
          <p:cNvCxnSpPr/>
          <p:nvPr/>
        </p:nvCxnSpPr>
        <p:spPr>
          <a:xfrm flipH="1">
            <a:off x="1705321" y="4891523"/>
            <a:ext cx="1143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513726B-8E7C-4BB3-B248-42EB1BCDE69E}"/>
              </a:ext>
            </a:extLst>
          </p:cNvPr>
          <p:cNvCxnSpPr/>
          <p:nvPr/>
        </p:nvCxnSpPr>
        <p:spPr>
          <a:xfrm flipH="1">
            <a:off x="1874288" y="4891523"/>
            <a:ext cx="1143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2B3923-F1F2-4DE3-B615-0C7C292EED0D}"/>
              </a:ext>
            </a:extLst>
          </p:cNvPr>
          <p:cNvCxnSpPr/>
          <p:nvPr/>
        </p:nvCxnSpPr>
        <p:spPr>
          <a:xfrm flipH="1">
            <a:off x="2033317" y="4891523"/>
            <a:ext cx="1143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C4A7311-8F44-4CD7-8CEF-A6A59DE9EA3F}"/>
              </a:ext>
            </a:extLst>
          </p:cNvPr>
          <p:cNvCxnSpPr/>
          <p:nvPr/>
        </p:nvCxnSpPr>
        <p:spPr>
          <a:xfrm flipH="1">
            <a:off x="2182402" y="4891523"/>
            <a:ext cx="1143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AA63945-1C46-42A0-AB51-0ADE7658B0B5}"/>
              </a:ext>
            </a:extLst>
          </p:cNvPr>
          <p:cNvCxnSpPr/>
          <p:nvPr/>
        </p:nvCxnSpPr>
        <p:spPr>
          <a:xfrm flipH="1">
            <a:off x="2460694" y="4891523"/>
            <a:ext cx="1143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6044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90340-48D6-40DE-B19A-921F6D1B0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LBP Histogram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E60153-B185-4E00-82B6-BE263E2B6F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576" y="1690688"/>
            <a:ext cx="7837824" cy="4969537"/>
          </a:xfrm>
        </p:spPr>
      </p:pic>
    </p:spTree>
    <p:extLst>
      <p:ext uri="{BB962C8B-B14F-4D97-AF65-F5344CB8AC3E}">
        <p14:creationId xmlns:p14="http://schemas.microsoft.com/office/powerpoint/2010/main" val="14667721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F5AFB-4187-4B32-B4DC-BB7510F7C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Face description using LBP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3EC93-E079-4B44-A7BA-0595FB10C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88467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Step 1: </a:t>
            </a:r>
            <a:r>
              <a:rPr lang="en-US" altLang="zh-CN" dirty="0">
                <a:cs typeface="+mn-ea"/>
                <a:sym typeface="+mn-lt"/>
              </a:rPr>
              <a:t>facial image is divided into local regions (blocks)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Step 2: </a:t>
            </a:r>
            <a:r>
              <a:rPr lang="en-US" altLang="zh-CN" dirty="0">
                <a:cs typeface="+mn-ea"/>
                <a:sym typeface="+mn-lt"/>
              </a:rPr>
              <a:t>Extract LBP histogram for each region.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Step 3: </a:t>
            </a:r>
            <a:r>
              <a:rPr lang="en-US" altLang="zh-CN" dirty="0">
                <a:cs typeface="+mn-ea"/>
                <a:sym typeface="+mn-lt"/>
              </a:rPr>
              <a:t>Concatenated all histograms into a spatially enhanced histogram.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2" descr="C:\Users\Farideh\Desktop\LBP-face.jpg">
            <a:extLst>
              <a:ext uri="{FF2B5EF4-FFF2-40B4-BE49-F238E27FC236}">
                <a16:creationId xmlns:a16="http://schemas.microsoft.com/office/drawing/2014/main" id="{2825849A-71E6-4D5A-B277-9CBE1359F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6934" y="2572501"/>
            <a:ext cx="5284620" cy="2594956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20344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3560F-3A08-4145-8C9F-57429D820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Compute the Distance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82E4-55F3-4D31-A820-91D25B4DD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Euclidean Distance</a:t>
            </a:r>
            <a:endParaRPr lang="zh-CN" altLang="en-US" b="1" dirty="0">
              <a:cs typeface="+mn-ea"/>
              <a:sym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E64275-6389-4723-80E0-097ECEF9C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737" y="2499947"/>
            <a:ext cx="2148509" cy="22084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A6C0CE-D684-418D-96F3-6080F5929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8791" y="2425046"/>
            <a:ext cx="2220586" cy="22833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74CE7E-F83E-4F93-9C52-272D3BD06D97}"/>
                  </a:ext>
                </a:extLst>
              </p:cNvPr>
              <p:cNvSpPr txBox="1"/>
              <p:nvPr/>
            </p:nvSpPr>
            <p:spPr>
              <a:xfrm>
                <a:off x="6441540" y="4843297"/>
                <a:ext cx="202690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𝑋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=[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,…,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𝑛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]</m:t>
                      </m:r>
                    </m:oMath>
                  </m:oMathPara>
                </a14:m>
                <a:endParaRPr lang="zh-CN" altLang="en-US" sz="24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74CE7E-F83E-4F93-9C52-272D3BD06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540" y="4843297"/>
                <a:ext cx="2026902" cy="369332"/>
              </a:xfrm>
              <a:prstGeom prst="rect">
                <a:avLst/>
              </a:prstGeom>
              <a:blipFill>
                <a:blip r:embed="rId4"/>
                <a:stretch>
                  <a:fillRect l="-2711" r="-4518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49FCE87-2A8C-4B7B-BFF7-73EBB39807A4}"/>
                  </a:ext>
                </a:extLst>
              </p:cNvPr>
              <p:cNvSpPr txBox="1"/>
              <p:nvPr/>
            </p:nvSpPr>
            <p:spPr>
              <a:xfrm>
                <a:off x="9395633" y="4843297"/>
                <a:ext cx="19997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𝑌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=[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,…,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𝑛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]</m:t>
                      </m:r>
                    </m:oMath>
                  </m:oMathPara>
                </a14:m>
                <a:endParaRPr lang="zh-CN" altLang="en-US" sz="24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49FCE87-2A8C-4B7B-BFF7-73EBB39807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5633" y="4843297"/>
                <a:ext cx="1999778" cy="369332"/>
              </a:xfrm>
              <a:prstGeom prst="rect">
                <a:avLst/>
              </a:prstGeom>
              <a:blipFill>
                <a:blip r:embed="rId5"/>
                <a:stretch>
                  <a:fillRect l="-2439" r="-4878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55890D7-8888-45A7-A3A3-123BC11F1E1D}"/>
                  </a:ext>
                </a:extLst>
              </p:cNvPr>
              <p:cNvSpPr txBox="1"/>
              <p:nvPr/>
            </p:nvSpPr>
            <p:spPr>
              <a:xfrm>
                <a:off x="1532465" y="2910098"/>
                <a:ext cx="3397533" cy="10911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𝐷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𝑋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𝑌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𝑖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zh-CN" altLang="en-US" sz="24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55890D7-8888-45A7-A3A3-123BC11F1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465" y="2910098"/>
                <a:ext cx="3397533" cy="10911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41727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376CA-585E-4CCD-A9F6-674F58EA2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Other Distance Metrics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AEE16B-50AD-4D1F-8805-65E3E90F9D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>
                    <a:cs typeface="+mn-ea"/>
                    <a:sym typeface="+mn-lt"/>
                  </a:rPr>
                  <a:t>Histogram intersection</a:t>
                </a:r>
              </a:p>
              <a:p>
                <a:endParaRPr lang="en-US" altLang="zh-CN" b="1" dirty="0">
                  <a:cs typeface="+mn-ea"/>
                  <a:sym typeface="+mn-lt"/>
                </a:endParaRPr>
              </a:p>
              <a:p>
                <a:endParaRPr lang="en-US" altLang="zh-CN" b="1" dirty="0">
                  <a:cs typeface="+mn-ea"/>
                  <a:sym typeface="+mn-lt"/>
                </a:endParaRPr>
              </a:p>
              <a:p>
                <a:r>
                  <a:rPr lang="en-US" altLang="zh-CN" dirty="0">
                    <a:cs typeface="+mn-ea"/>
                    <a:sym typeface="+mn-lt"/>
                  </a:rPr>
                  <a:t>Log-likelihood statistic:</a:t>
                </a:r>
              </a:p>
              <a:p>
                <a:endParaRPr lang="en-US" altLang="zh-CN" b="1" dirty="0">
                  <a:cs typeface="+mn-ea"/>
                  <a:sym typeface="+mn-lt"/>
                </a:endParaRPr>
              </a:p>
              <a:p>
                <a:endParaRPr lang="en-US" altLang="zh-CN" b="1" dirty="0">
                  <a:cs typeface="+mn-ea"/>
                  <a:sym typeface="+mn-lt"/>
                </a:endParaRPr>
              </a:p>
              <a:p>
                <a:r>
                  <a:rPr lang="en-US" altLang="zh-CN" dirty="0">
                    <a:cs typeface="+mn-ea"/>
                    <a:sym typeface="+mn-lt"/>
                  </a:rPr>
                  <a:t>Chi-square statistic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cs typeface="+mn-ea"/>
                    <a:sym typeface="+mn-lt"/>
                  </a:rPr>
                  <a:t>)</a:t>
                </a:r>
              </a:p>
              <a:p>
                <a:pPr lvl="1"/>
                <a:endParaRPr lang="en-US" altLang="zh-CN" b="1" dirty="0">
                  <a:cs typeface="+mn-ea"/>
                  <a:sym typeface="+mn-lt"/>
                </a:endParaRPr>
              </a:p>
              <a:p>
                <a:pPr lvl="1"/>
                <a:endParaRPr lang="zh-CN" altLang="en-US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AEE16B-50AD-4D1F-8805-65E3E90F9D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29E77D-DD4D-406B-9C01-FB8C064B142F}"/>
                  </a:ext>
                </a:extLst>
              </p:cNvPr>
              <p:cNvSpPr txBox="1"/>
              <p:nvPr/>
            </p:nvSpPr>
            <p:spPr>
              <a:xfrm>
                <a:off x="1611477" y="2377748"/>
                <a:ext cx="2944396" cy="7467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𝐷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𝑋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𝑌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𝑖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min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20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29E77D-DD4D-406B-9C01-FB8C064B1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477" y="2377748"/>
                <a:ext cx="2944396" cy="7467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B3130F2-8382-405F-A4E8-627D1F4340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4121" y="2545782"/>
            <a:ext cx="2148509" cy="22084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D00426-2FD0-4E56-87C3-D88D32AFB1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2175" y="2470881"/>
            <a:ext cx="2220586" cy="22833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1DE355-5873-4292-BE3C-998453A6E182}"/>
                  </a:ext>
                </a:extLst>
              </p:cNvPr>
              <p:cNvSpPr txBox="1"/>
              <p:nvPr/>
            </p:nvSpPr>
            <p:spPr>
              <a:xfrm>
                <a:off x="6454924" y="4889132"/>
                <a:ext cx="202690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𝑋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=[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,…,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𝑛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]</m:t>
                      </m:r>
                    </m:oMath>
                  </m:oMathPara>
                </a14:m>
                <a:endParaRPr lang="zh-CN" altLang="en-US" sz="24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1DE355-5873-4292-BE3C-998453A6E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4924" y="4889132"/>
                <a:ext cx="2026902" cy="369332"/>
              </a:xfrm>
              <a:prstGeom prst="rect">
                <a:avLst/>
              </a:prstGeom>
              <a:blipFill>
                <a:blip r:embed="rId6"/>
                <a:stretch>
                  <a:fillRect l="-2711" r="-4518" b="-36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731DC7-E9D5-4C49-B6B9-085C70B863D0}"/>
                  </a:ext>
                </a:extLst>
              </p:cNvPr>
              <p:cNvSpPr txBox="1"/>
              <p:nvPr/>
            </p:nvSpPr>
            <p:spPr>
              <a:xfrm>
                <a:off x="9409017" y="4889132"/>
                <a:ext cx="19997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𝑌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=[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,…,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𝑛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]</m:t>
                      </m:r>
                    </m:oMath>
                  </m:oMathPara>
                </a14:m>
                <a:endParaRPr lang="zh-CN" altLang="en-US" sz="24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731DC7-E9D5-4C49-B6B9-085C70B86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9017" y="4889132"/>
                <a:ext cx="1999778" cy="369332"/>
              </a:xfrm>
              <a:prstGeom prst="rect">
                <a:avLst/>
              </a:prstGeom>
              <a:blipFill>
                <a:blip r:embed="rId7"/>
                <a:stretch>
                  <a:fillRect l="-2432" r="-4559" b="-36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B91265-2C5D-4DF0-A39A-F570AD478F07}"/>
                  </a:ext>
                </a:extLst>
              </p:cNvPr>
              <p:cNvSpPr txBox="1"/>
              <p:nvPr/>
            </p:nvSpPr>
            <p:spPr>
              <a:xfrm>
                <a:off x="1611477" y="3940996"/>
                <a:ext cx="2989280" cy="7467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𝐷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𝑋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𝑌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log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20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B91265-2C5D-4DF0-A39A-F570AD478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477" y="3940996"/>
                <a:ext cx="2989280" cy="7467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68E8E0D-EF19-4E71-BDAA-7F0456BFC575}"/>
                  </a:ext>
                </a:extLst>
              </p:cNvPr>
              <p:cNvSpPr txBox="1"/>
              <p:nvPr/>
            </p:nvSpPr>
            <p:spPr>
              <a:xfrm>
                <a:off x="1611477" y="5539021"/>
                <a:ext cx="2981842" cy="7802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𝜒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𝑋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𝑌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0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68E8E0D-EF19-4E71-BDAA-7F0456BFC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477" y="5539021"/>
                <a:ext cx="2981842" cy="78021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76198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EC8B7-1E1C-4CD3-8852-AA66E7000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Weighting the important region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5D853-0BA5-4074-AF2B-47AFFD94A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833534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Specific facial features </a:t>
            </a:r>
            <a:r>
              <a:rPr lang="en-US" altLang="zh-CN" dirty="0">
                <a:solidFill>
                  <a:srgbClr val="00B0F0"/>
                </a:solidFill>
                <a:cs typeface="+mn-ea"/>
                <a:sym typeface="+mn-lt"/>
              </a:rPr>
              <a:t>(such as eyes) </a:t>
            </a:r>
            <a:r>
              <a:rPr lang="en-US" altLang="zh-CN" dirty="0">
                <a:cs typeface="+mn-ea"/>
                <a:sym typeface="+mn-lt"/>
              </a:rPr>
              <a:t>contains more important information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Be weighted based on the importance of information </a:t>
            </a:r>
          </a:p>
          <a:p>
            <a:pPr>
              <a:lnSpc>
                <a:spcPct val="15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 descr="C:\Users\Farideh\Desktop\Capture5.PNG">
            <a:extLst>
              <a:ext uri="{FF2B5EF4-FFF2-40B4-BE49-F238E27FC236}">
                <a16:creationId xmlns:a16="http://schemas.microsoft.com/office/drawing/2014/main" id="{C501B4FE-1AC8-44D7-943B-871152FEF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8144" y="2581697"/>
            <a:ext cx="4265656" cy="2283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6BB592E4-0351-4B16-ABF3-69C130D77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0320" y="4865287"/>
            <a:ext cx="5361413" cy="1182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8373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C36C1-D9C4-4391-A171-62664CDDD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Perform the Recognition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B3AC2-69BB-48CB-B941-C8D5CFD03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44533" cy="4351338"/>
          </a:xfrm>
        </p:spPr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Gallery and Probe Pictures</a:t>
            </a:r>
            <a:endParaRPr lang="zh-CN" altLang="en-US" b="1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E89DCA-D419-4C66-AD4D-4249D5EB2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418" y="2526540"/>
            <a:ext cx="7103164" cy="414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7377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D3FA5-DD48-4A3E-9EDF-1DDEF693B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提纲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7F4FE-4C3B-4452-A577-4E91A120E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cs typeface="+mn-ea"/>
                <a:sym typeface="+mn-lt"/>
              </a:rPr>
              <a:t>机器学习基础</a:t>
            </a:r>
            <a:endParaRPr lang="en-US" altLang="zh-CN" b="1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cs typeface="+mn-ea"/>
                <a:sym typeface="+mn-lt"/>
              </a:rPr>
              <a:t>目标检测简介</a:t>
            </a:r>
            <a:endParaRPr lang="en-US" altLang="zh-CN" b="1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cs typeface="+mn-ea"/>
                <a:sym typeface="+mn-lt"/>
              </a:rPr>
              <a:t>人脸检测与识别</a:t>
            </a:r>
            <a:endParaRPr lang="en-US" altLang="zh-CN" b="1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B0F0"/>
                </a:solidFill>
                <a:cs typeface="+mn-ea"/>
                <a:sym typeface="+mn-lt"/>
              </a:rPr>
              <a:t>行人检测</a:t>
            </a:r>
          </a:p>
        </p:txBody>
      </p:sp>
    </p:spTree>
    <p:extLst>
      <p:ext uri="{BB962C8B-B14F-4D97-AF65-F5344CB8AC3E}">
        <p14:creationId xmlns:p14="http://schemas.microsoft.com/office/powerpoint/2010/main" val="245809615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4BA3D-DB49-4DE9-9D4A-95DD303DE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行人检测 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(Pedestrian Detection)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3B9F0-2152-441B-9253-0A96CB6A1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CA5BC6-964D-4E18-A02B-8776C8D60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900" y="1929606"/>
            <a:ext cx="6172200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3758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299E2-C08B-4879-97EC-8B904BB56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行人检测的难点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A70A8-8B3E-4ADC-B042-676D43ACB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85267" cy="435133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rgbClr val="00B0F0"/>
                </a:solidFill>
                <a:cs typeface="+mn-ea"/>
                <a:sym typeface="+mn-lt"/>
              </a:rPr>
              <a:t>姿态</a:t>
            </a:r>
            <a:endParaRPr lang="en-US" altLang="zh-CN" b="1" dirty="0">
              <a:solidFill>
                <a:srgbClr val="00B0F0"/>
              </a:solidFill>
              <a:cs typeface="+mn-ea"/>
              <a:sym typeface="+mn-lt"/>
            </a:endParaRPr>
          </a:p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rgbClr val="00B0F0"/>
                </a:solidFill>
                <a:cs typeface="+mn-ea"/>
                <a:sym typeface="+mn-lt"/>
              </a:rPr>
              <a:t>衣着</a:t>
            </a:r>
            <a:endParaRPr lang="en-US" altLang="zh-CN" b="1" dirty="0">
              <a:solidFill>
                <a:srgbClr val="00B0F0"/>
              </a:solidFill>
              <a:cs typeface="+mn-ea"/>
              <a:sym typeface="+mn-lt"/>
            </a:endParaRPr>
          </a:p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rgbClr val="00B0F0"/>
                </a:solidFill>
                <a:cs typeface="+mn-ea"/>
                <a:sym typeface="+mn-lt"/>
              </a:rPr>
              <a:t>光照</a:t>
            </a:r>
            <a:endParaRPr lang="en-US" altLang="zh-CN" b="1" dirty="0">
              <a:solidFill>
                <a:srgbClr val="00B0F0"/>
              </a:solidFill>
              <a:cs typeface="+mn-ea"/>
              <a:sym typeface="+mn-lt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cs typeface="+mn-ea"/>
                <a:sym typeface="+mn-lt"/>
              </a:rPr>
              <a:t>背景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cs typeface="+mn-ea"/>
                <a:sym typeface="+mn-lt"/>
              </a:rPr>
              <a:t>遮挡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10000"/>
              </a:lnSpc>
            </a:pPr>
            <a:r>
              <a:rPr lang="en-US" altLang="zh-CN" dirty="0">
                <a:cs typeface="+mn-ea"/>
                <a:sym typeface="+mn-lt"/>
              </a:rPr>
              <a:t>…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asted-image.png">
            <a:extLst>
              <a:ext uri="{FF2B5EF4-FFF2-40B4-BE49-F238E27FC236}">
                <a16:creationId xmlns:a16="http://schemas.microsoft.com/office/drawing/2014/main" id="{F91F9D9D-12B0-4F54-9B23-D8A410525C16}"/>
              </a:ext>
            </a:extLst>
          </p:cNvPr>
          <p:cNvPicPr/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96000" y="1625292"/>
            <a:ext cx="5526119" cy="154144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A405EA7F-1980-4E12-9CEC-4544FDD7F858}"/>
              </a:ext>
            </a:extLst>
          </p:cNvPr>
          <p:cNvGrpSpPr/>
          <p:nvPr/>
        </p:nvGrpSpPr>
        <p:grpSpPr>
          <a:xfrm>
            <a:off x="6168376" y="3311051"/>
            <a:ext cx="1995609" cy="3387482"/>
            <a:chOff x="6471671" y="3427554"/>
            <a:chExt cx="1995609" cy="3387482"/>
          </a:xfrm>
        </p:grpSpPr>
        <p:pic>
          <p:nvPicPr>
            <p:cNvPr id="6" name="pasted-image.png">
              <a:extLst>
                <a:ext uri="{FF2B5EF4-FFF2-40B4-BE49-F238E27FC236}">
                  <a16:creationId xmlns:a16="http://schemas.microsoft.com/office/drawing/2014/main" id="{2806DA01-230D-4FE2-9BDA-AEF1B59458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6471671" y="3427554"/>
              <a:ext cx="797090" cy="335916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" name="pasted-image.png">
              <a:extLst>
                <a:ext uri="{FF2B5EF4-FFF2-40B4-BE49-F238E27FC236}">
                  <a16:creationId xmlns:a16="http://schemas.microsoft.com/office/drawing/2014/main" id="{4445349A-6891-4815-8CFD-7048E7883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7670190" y="3429000"/>
              <a:ext cx="797090" cy="3386036"/>
            </a:xfrm>
            <a:prstGeom prst="rect">
              <a:avLst/>
            </a:prstGeom>
            <a:ln w="12700">
              <a:miter lim="400000"/>
            </a:ln>
          </p:spPr>
        </p:pic>
      </p:grpSp>
      <p:pic>
        <p:nvPicPr>
          <p:cNvPr id="8" name="pasted-image.png">
            <a:extLst>
              <a:ext uri="{FF2B5EF4-FFF2-40B4-BE49-F238E27FC236}">
                <a16:creationId xmlns:a16="http://schemas.microsoft.com/office/drawing/2014/main" id="{4D535942-6C1B-47E2-806B-DCA00668C67B}"/>
              </a:ext>
            </a:extLst>
          </p:cNvPr>
          <p:cNvPicPr/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981376" y="3573301"/>
            <a:ext cx="2019999" cy="1304777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pasted-image.png">
            <a:extLst>
              <a:ext uri="{FF2B5EF4-FFF2-40B4-BE49-F238E27FC236}">
                <a16:creationId xmlns:a16="http://schemas.microsoft.com/office/drawing/2014/main" id="{3A3A233B-C206-4C40-A6AA-9B10225D9089}"/>
              </a:ext>
            </a:extLst>
          </p:cNvPr>
          <p:cNvPicPr/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470164" y="5020774"/>
            <a:ext cx="2996288" cy="167775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4862789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299E2-C08B-4879-97EC-8B904BB56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行人检测的难点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A70A8-8B3E-4ADC-B042-676D43ACB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85267" cy="435133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b="1" dirty="0">
                <a:cs typeface="+mn-ea"/>
                <a:sym typeface="+mn-lt"/>
              </a:rPr>
              <a:t>姿态</a:t>
            </a:r>
            <a:endParaRPr lang="en-US" altLang="zh-CN" b="1" dirty="0">
              <a:cs typeface="+mn-ea"/>
              <a:sym typeface="+mn-lt"/>
            </a:endParaRPr>
          </a:p>
          <a:p>
            <a:pPr>
              <a:lnSpc>
                <a:spcPct val="110000"/>
              </a:lnSpc>
            </a:pPr>
            <a:r>
              <a:rPr lang="zh-CN" altLang="en-US" b="1" dirty="0">
                <a:cs typeface="+mn-ea"/>
                <a:sym typeface="+mn-lt"/>
              </a:rPr>
              <a:t>衣着</a:t>
            </a:r>
            <a:endParaRPr lang="en-US" altLang="zh-CN" b="1" dirty="0">
              <a:cs typeface="+mn-ea"/>
              <a:sym typeface="+mn-lt"/>
            </a:endParaRPr>
          </a:p>
          <a:p>
            <a:pPr>
              <a:lnSpc>
                <a:spcPct val="110000"/>
              </a:lnSpc>
            </a:pPr>
            <a:r>
              <a:rPr lang="zh-CN" altLang="en-US" b="1" dirty="0">
                <a:cs typeface="+mn-ea"/>
                <a:sym typeface="+mn-lt"/>
              </a:rPr>
              <a:t>光照</a:t>
            </a:r>
            <a:endParaRPr lang="en-US" altLang="zh-CN" b="1" dirty="0">
              <a:cs typeface="+mn-ea"/>
              <a:sym typeface="+mn-lt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rgbClr val="00B0F0"/>
                </a:solidFill>
                <a:cs typeface="+mn-ea"/>
                <a:sym typeface="+mn-lt"/>
              </a:rPr>
              <a:t>背景</a:t>
            </a:r>
            <a:endParaRPr lang="en-US" altLang="zh-CN" dirty="0">
              <a:solidFill>
                <a:srgbClr val="00B0F0"/>
              </a:solidFill>
              <a:cs typeface="+mn-ea"/>
              <a:sym typeface="+mn-lt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rgbClr val="00B0F0"/>
                </a:solidFill>
                <a:cs typeface="+mn-ea"/>
                <a:sym typeface="+mn-lt"/>
              </a:rPr>
              <a:t>遮挡</a:t>
            </a:r>
            <a:endParaRPr lang="en-US" altLang="zh-CN" dirty="0">
              <a:solidFill>
                <a:srgbClr val="00B0F0"/>
              </a:solidFill>
              <a:cs typeface="+mn-ea"/>
              <a:sym typeface="+mn-lt"/>
            </a:endParaRPr>
          </a:p>
          <a:p>
            <a:pPr>
              <a:lnSpc>
                <a:spcPct val="110000"/>
              </a:lnSpc>
            </a:pPr>
            <a:r>
              <a:rPr lang="en-US" altLang="zh-CN" dirty="0">
                <a:cs typeface="+mn-ea"/>
                <a:sym typeface="+mn-lt"/>
              </a:rPr>
              <a:t>…</a:t>
            </a:r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9485535-1978-4A27-9CA7-F81C16DA32E7}"/>
              </a:ext>
            </a:extLst>
          </p:cNvPr>
          <p:cNvGrpSpPr/>
          <p:nvPr/>
        </p:nvGrpSpPr>
        <p:grpSpPr>
          <a:xfrm>
            <a:off x="4297089" y="1595438"/>
            <a:ext cx="7124189" cy="2745798"/>
            <a:chOff x="4562475" y="2625565"/>
            <a:chExt cx="7124189" cy="2745798"/>
          </a:xfrm>
        </p:grpSpPr>
        <p:pic>
          <p:nvPicPr>
            <p:cNvPr id="11" name="pasted-image.png">
              <a:extLst>
                <a:ext uri="{FF2B5EF4-FFF2-40B4-BE49-F238E27FC236}">
                  <a16:creationId xmlns:a16="http://schemas.microsoft.com/office/drawing/2014/main" id="{48A43D47-9FC2-448D-A75D-3DF2601F83DA}"/>
                </a:ext>
              </a:extLst>
            </p:cNvPr>
            <p:cNvPicPr/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8172999" y="3065558"/>
              <a:ext cx="3513665" cy="2294692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2" name="Shape 65">
              <a:extLst>
                <a:ext uri="{FF2B5EF4-FFF2-40B4-BE49-F238E27FC236}">
                  <a16:creationId xmlns:a16="http://schemas.microsoft.com/office/drawing/2014/main" id="{0AC17F9C-9B8D-4B34-B8B8-85866241A15B}"/>
                </a:ext>
              </a:extLst>
            </p:cNvPr>
            <p:cNvSpPr/>
            <p:nvPr/>
          </p:nvSpPr>
          <p:spPr>
            <a:xfrm>
              <a:off x="9275139" y="2647364"/>
              <a:ext cx="1652568" cy="4719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pPr lvl="0">
                <a:defRPr sz="1800"/>
              </a:pPr>
              <a:r>
                <a:rPr sz="2400" b="1" dirty="0">
                  <a:cs typeface="+mn-ea"/>
                  <a:sym typeface="+mn-lt"/>
                </a:rPr>
                <a:t>Rural  Area</a:t>
              </a:r>
            </a:p>
          </p:txBody>
        </p:sp>
        <p:sp>
          <p:nvSpPr>
            <p:cNvPr id="13" name="Shape 66">
              <a:extLst>
                <a:ext uri="{FF2B5EF4-FFF2-40B4-BE49-F238E27FC236}">
                  <a16:creationId xmlns:a16="http://schemas.microsoft.com/office/drawing/2014/main" id="{EE0BB5AE-16E0-45ED-A1A6-D224FFC9B387}"/>
                </a:ext>
              </a:extLst>
            </p:cNvPr>
            <p:cNvSpPr/>
            <p:nvPr/>
          </p:nvSpPr>
          <p:spPr>
            <a:xfrm>
              <a:off x="5583513" y="2625565"/>
              <a:ext cx="743793" cy="4719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pPr lvl="0">
                <a:defRPr sz="1800"/>
              </a:pPr>
              <a:r>
                <a:rPr sz="2400" b="1" dirty="0">
                  <a:cs typeface="+mn-ea"/>
                  <a:sym typeface="+mn-lt"/>
                </a:rPr>
                <a:t>City </a:t>
              </a:r>
            </a:p>
          </p:txBody>
        </p:sp>
        <p:pic>
          <p:nvPicPr>
            <p:cNvPr id="14" name="pasted-image.png">
              <a:extLst>
                <a:ext uri="{FF2B5EF4-FFF2-40B4-BE49-F238E27FC236}">
                  <a16:creationId xmlns:a16="http://schemas.microsoft.com/office/drawing/2014/main" id="{B7BC9642-AD17-4701-AB8E-7894ABF6C7D5}"/>
                </a:ext>
              </a:extLst>
            </p:cNvPr>
            <p:cNvPicPr/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4562475" y="3076671"/>
              <a:ext cx="3285067" cy="2294692"/>
            </a:xfrm>
            <a:prstGeom prst="rect">
              <a:avLst/>
            </a:prstGeom>
            <a:ln w="12700">
              <a:miter lim="400000"/>
            </a:ln>
          </p:spPr>
        </p:pic>
      </p:grpSp>
      <p:pic>
        <p:nvPicPr>
          <p:cNvPr id="15" name="pasted-image.png">
            <a:extLst>
              <a:ext uri="{FF2B5EF4-FFF2-40B4-BE49-F238E27FC236}">
                <a16:creationId xmlns:a16="http://schemas.microsoft.com/office/drawing/2014/main" id="{567F11B9-E114-41C1-BCCD-0BE55D5C72E0}"/>
              </a:ext>
            </a:extLst>
          </p:cNvPr>
          <p:cNvPicPr/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925635" y="4615844"/>
            <a:ext cx="8133799" cy="18770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5233368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2F29B-4030-4BAE-81C5-008CF8602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latin typeface="+mn-lt"/>
                <a:ea typeface="+mn-ea"/>
                <a:cs typeface="+mn-ea"/>
                <a:sym typeface="+mn-lt"/>
              </a:rPr>
              <a:t>Dalal-Triggs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行人检测器 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(HOG)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75122-CFA2-4FB5-A6F9-2D5145DA0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15267"/>
            <a:ext cx="10515600" cy="2561696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>
                <a:cs typeface="+mn-ea"/>
                <a:sym typeface="+mn-lt"/>
              </a:rPr>
              <a:t>通过滑动窗口法在不同尺度下提取</a:t>
            </a:r>
            <a:r>
              <a:rPr lang="en-US" altLang="zh-CN" dirty="0">
                <a:cs typeface="+mn-ea"/>
                <a:sym typeface="+mn-lt"/>
              </a:rPr>
              <a:t>64*128</a:t>
            </a:r>
            <a:r>
              <a:rPr lang="zh-CN" altLang="en-US" dirty="0">
                <a:cs typeface="+mn-ea"/>
                <a:sym typeface="+mn-lt"/>
              </a:rPr>
              <a:t>像素的矩形框</a:t>
            </a:r>
            <a:endParaRPr lang="en-US" altLang="zh-CN" dirty="0">
              <a:cs typeface="+mn-ea"/>
              <a:sym typeface="+mn-lt"/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>
                <a:cs typeface="+mn-ea"/>
                <a:sym typeface="+mn-lt"/>
              </a:rPr>
              <a:t>计算每一个框的梯度直方图特征</a:t>
            </a:r>
            <a:r>
              <a:rPr lang="en-US" altLang="zh-CN" dirty="0">
                <a:cs typeface="+mn-ea"/>
                <a:sym typeface="+mn-lt"/>
              </a:rPr>
              <a:t>(HOG)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>
                <a:cs typeface="+mn-ea"/>
                <a:sym typeface="+mn-lt"/>
              </a:rPr>
              <a:t>通过</a:t>
            </a:r>
            <a:r>
              <a:rPr lang="en-US" altLang="zh-CN" dirty="0">
                <a:cs typeface="+mn-ea"/>
                <a:sym typeface="+mn-lt"/>
              </a:rPr>
              <a:t>Linear SVM</a:t>
            </a:r>
            <a:r>
              <a:rPr lang="zh-CN" altLang="en-US" dirty="0">
                <a:cs typeface="+mn-ea"/>
                <a:sym typeface="+mn-lt"/>
              </a:rPr>
              <a:t>对每一个候选框进行打分</a:t>
            </a:r>
            <a:endParaRPr lang="en-US" altLang="zh-CN" dirty="0">
              <a:cs typeface="+mn-ea"/>
              <a:sym typeface="+mn-lt"/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>
                <a:cs typeface="+mn-ea"/>
                <a:sym typeface="+mn-lt"/>
              </a:rPr>
              <a:t>采用非极大值抑制去除得分低的检测框</a:t>
            </a:r>
            <a:endParaRPr lang="en-US" altLang="zh-CN" dirty="0">
              <a:cs typeface="+mn-ea"/>
              <a:sym typeface="+mn-lt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0F5A854-FD69-466A-940C-3CA519D1A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212" y="1690688"/>
            <a:ext cx="8791575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0831D46-97E5-47D6-BA74-1A9B0AFDACCE}"/>
              </a:ext>
            </a:extLst>
          </p:cNvPr>
          <p:cNvSpPr/>
          <p:nvPr/>
        </p:nvSpPr>
        <p:spPr>
          <a:xfrm>
            <a:off x="4199467" y="6581001"/>
            <a:ext cx="799253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200" b="0" i="0" dirty="0" err="1">
                <a:solidFill>
                  <a:srgbClr val="222222"/>
                </a:solidFill>
                <a:effectLst/>
                <a:cs typeface="+mn-ea"/>
                <a:sym typeface="+mn-lt"/>
              </a:rPr>
              <a:t>Dalal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cs typeface="+mn-ea"/>
                <a:sym typeface="+mn-lt"/>
              </a:rPr>
              <a:t>, Navneet, and Bill </a:t>
            </a:r>
            <a:r>
              <a:rPr lang="en-US" altLang="zh-CN" sz="1200" b="0" i="0" dirty="0" err="1">
                <a:solidFill>
                  <a:srgbClr val="222222"/>
                </a:solidFill>
                <a:effectLst/>
                <a:cs typeface="+mn-ea"/>
                <a:sym typeface="+mn-lt"/>
              </a:rPr>
              <a:t>Triggs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cs typeface="+mn-ea"/>
                <a:sym typeface="+mn-lt"/>
              </a:rPr>
              <a:t>. "Histograms of oriented gradients for human detection." In CVPR, pp. 886-893, 2005.</a:t>
            </a:r>
            <a:endParaRPr lang="zh-CN" altLang="en-US" sz="12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440607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4FB0C-4113-4C38-8306-AEB0E231E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latin typeface="+mn-lt"/>
                <a:ea typeface="+mn-ea"/>
                <a:cs typeface="+mn-ea"/>
                <a:sym typeface="+mn-lt"/>
              </a:rPr>
              <a:t>Dalal-Triggs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行人检测器 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(HOG)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B96B3495-4B4D-43E1-B70F-EDA53C2A78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8"/>
          <a:stretch/>
        </p:blipFill>
        <p:spPr bwMode="auto">
          <a:xfrm>
            <a:off x="2476764" y="2057400"/>
            <a:ext cx="7238471" cy="4622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23966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E25AF-7A69-46F3-A03A-91DB0C37E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预处理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6550B-65CF-4620-A243-1AA1C5DBB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  <a:cs typeface="+mn-ea"/>
                <a:sym typeface="+mn-lt"/>
              </a:rPr>
              <a:t>假设预设的高宽比是</a:t>
            </a:r>
            <a:r>
              <a:rPr lang="en-US" altLang="zh-CN" dirty="0">
                <a:solidFill>
                  <a:srgbClr val="00B0F0"/>
                </a:solidFill>
                <a:cs typeface="+mn-ea"/>
                <a:sym typeface="+mn-lt"/>
              </a:rPr>
              <a:t>2:1  </a:t>
            </a:r>
            <a:r>
              <a:rPr lang="zh-CN" altLang="en-US" dirty="0">
                <a:solidFill>
                  <a:srgbClr val="00B0F0"/>
                </a:solidFill>
                <a:cs typeface="+mn-ea"/>
                <a:sym typeface="+mn-lt"/>
              </a:rPr>
              <a:t>（</a:t>
            </a:r>
            <a:r>
              <a:rPr lang="en-US" altLang="zh-CN" dirty="0">
                <a:solidFill>
                  <a:srgbClr val="00B0F0"/>
                </a:solidFill>
                <a:cs typeface="+mn-ea"/>
                <a:sym typeface="+mn-lt"/>
              </a:rPr>
              <a:t>128*64</a:t>
            </a:r>
            <a:r>
              <a:rPr lang="zh-CN" altLang="en-US" dirty="0">
                <a:solidFill>
                  <a:srgbClr val="00B0F0"/>
                </a:solidFill>
                <a:cs typeface="+mn-ea"/>
                <a:sym typeface="+mn-lt"/>
              </a:rPr>
              <a:t>）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4FFC53-9D2A-4EB6-B026-1DFD96738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576513"/>
            <a:ext cx="670560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68484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EA7B4-5A77-45B8-B808-63D8743F0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HOG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C03F52-740E-4239-ABBE-CBA15F89DC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11784" cy="4351338"/>
              </a:xfrm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solidFill>
                      <a:srgbClr val="00B0F0"/>
                    </a:solidFill>
                    <a:cs typeface="+mn-ea"/>
                    <a:sym typeface="+mn-lt"/>
                  </a:rPr>
                  <a:t>计算水平方向和垂直方向的梯度</a:t>
                </a:r>
                <a:endParaRPr lang="en-US" altLang="zh-CN" b="1" dirty="0">
                  <a:solidFill>
                    <a:srgbClr val="00B0F0"/>
                  </a:solidFill>
                  <a:cs typeface="+mn-ea"/>
                  <a:sym typeface="+mn-lt"/>
                </a:endParaRP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𝐺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𝑦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𝐼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+1,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𝑦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𝐼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−1,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endParaRPr lang="en-US" altLang="zh-CN" dirty="0">
                  <a:cs typeface="+mn-ea"/>
                  <a:sym typeface="+mn-lt"/>
                </a:endParaRP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𝐺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𝑦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𝐼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+1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𝐼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−1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endParaRPr lang="en-US" altLang="zh-CN" dirty="0">
                  <a:cs typeface="+mn-ea"/>
                  <a:sym typeface="+mn-lt"/>
                </a:endParaRP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𝐺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𝑦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𝑦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endParaRPr lang="en-US" altLang="zh-CN" dirty="0">
                  <a:cs typeface="+mn-ea"/>
                  <a:sym typeface="+mn-lt"/>
                </a:endParaRP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𝑦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arctan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⁡(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𝑥</m:t>
                            </m:r>
                          </m:sub>
                        </m:sSub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endParaRPr lang="zh-CN" altLang="en-US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C03F52-740E-4239-ABBE-CBA15F89DC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11784" cy="4351338"/>
              </a:xfrm>
              <a:blipFill>
                <a:blip r:embed="rId2"/>
                <a:stretch>
                  <a:fillRect l="-1768" t="-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1212035F-9AED-4949-976D-E225DAF6B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4928" y="793221"/>
            <a:ext cx="2558201" cy="15238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3CCEA5-479E-40D9-9829-1E4AF59766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318" y="2821152"/>
            <a:ext cx="5501419" cy="28732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7E009E-D251-4B26-9B9F-18D8101DCEEC}"/>
              </a:ext>
            </a:extLst>
          </p:cNvPr>
          <p:cNvSpPr txBox="1"/>
          <p:nvPr/>
        </p:nvSpPr>
        <p:spPr>
          <a:xfrm>
            <a:off x="6620220" y="5695447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X</a:t>
            </a:r>
            <a:r>
              <a:rPr lang="zh-CN" altLang="en-US" dirty="0">
                <a:cs typeface="+mn-ea"/>
                <a:sym typeface="+mn-lt"/>
              </a:rPr>
              <a:t>方向梯度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2FFD56-C271-4456-9284-0D3595E0D2F3}"/>
              </a:ext>
            </a:extLst>
          </p:cNvPr>
          <p:cNvSpPr txBox="1"/>
          <p:nvPr/>
        </p:nvSpPr>
        <p:spPr>
          <a:xfrm>
            <a:off x="8594459" y="5695447"/>
            <a:ext cx="1274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Y</a:t>
            </a:r>
            <a:r>
              <a:rPr lang="zh-CN" altLang="en-US" dirty="0">
                <a:cs typeface="+mn-ea"/>
                <a:sym typeface="+mn-lt"/>
              </a:rPr>
              <a:t>方向梯度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75942B-1D8A-4D4D-AEA9-07DF1C594183}"/>
              </a:ext>
            </a:extLst>
          </p:cNvPr>
          <p:cNvSpPr txBox="1"/>
          <p:nvPr/>
        </p:nvSpPr>
        <p:spPr>
          <a:xfrm>
            <a:off x="10453129" y="5695447"/>
            <a:ext cx="1274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cs typeface="+mn-ea"/>
                <a:sym typeface="+mn-lt"/>
              </a:rPr>
              <a:t>梯度幅值</a:t>
            </a:r>
          </a:p>
        </p:txBody>
      </p:sp>
    </p:spTree>
    <p:extLst>
      <p:ext uri="{BB962C8B-B14F-4D97-AF65-F5344CB8AC3E}">
        <p14:creationId xmlns:p14="http://schemas.microsoft.com/office/powerpoint/2010/main" val="40973695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7F9A2-ED04-4D43-8267-B57AE1B3D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HOG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B5E22-9A30-478E-9632-9C78F9973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936958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B0F0"/>
                </a:solidFill>
                <a:cs typeface="+mn-ea"/>
                <a:sym typeface="+mn-lt"/>
              </a:rPr>
              <a:t>计算梯度直方图</a:t>
            </a:r>
            <a:endParaRPr lang="en-US" altLang="zh-CN" b="1" dirty="0">
              <a:solidFill>
                <a:srgbClr val="00B0F0"/>
              </a:solidFill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将图像分成若干个</a:t>
            </a:r>
            <a:r>
              <a:rPr lang="en-US" altLang="zh-CN" dirty="0">
                <a:cs typeface="+mn-ea"/>
                <a:sym typeface="+mn-lt"/>
              </a:rPr>
              <a:t>8*8</a:t>
            </a:r>
            <a:r>
              <a:rPr lang="zh-CN" altLang="en-US" dirty="0">
                <a:cs typeface="+mn-ea"/>
                <a:sym typeface="+mn-lt"/>
              </a:rPr>
              <a:t>大小的网格</a:t>
            </a: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计算每一个网格的梯度直方图</a:t>
            </a: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endParaRPr lang="zh-CN" altLang="en-US" b="1" dirty="0">
              <a:cs typeface="+mn-ea"/>
              <a:sym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03C4BF-7CF1-4C01-9F44-C462B6DCE4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448"/>
          <a:stretch/>
        </p:blipFill>
        <p:spPr>
          <a:xfrm>
            <a:off x="5775159" y="1825625"/>
            <a:ext cx="6275018" cy="373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69282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7F9A2-ED04-4D43-8267-B57AE1B3D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HOG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B5E22-9A30-478E-9632-9C78F9973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314346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B0F0"/>
                </a:solidFill>
                <a:cs typeface="+mn-ea"/>
                <a:sym typeface="+mn-lt"/>
              </a:rPr>
              <a:t>计算梯度直方图</a:t>
            </a:r>
            <a:endParaRPr lang="en-US" altLang="zh-CN" b="1" dirty="0">
              <a:solidFill>
                <a:srgbClr val="00B0F0"/>
              </a:solidFill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将图像分成若干个</a:t>
            </a:r>
            <a:r>
              <a:rPr lang="en-US" altLang="zh-CN" dirty="0">
                <a:cs typeface="+mn-ea"/>
                <a:sym typeface="+mn-lt"/>
              </a:rPr>
              <a:t>8*8</a:t>
            </a:r>
            <a:r>
              <a:rPr lang="zh-CN" altLang="en-US" dirty="0">
                <a:cs typeface="+mn-ea"/>
                <a:sym typeface="+mn-lt"/>
              </a:rPr>
              <a:t>大小的网格</a:t>
            </a: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计算每一个网格的梯度直方图</a:t>
            </a:r>
            <a:endParaRPr lang="en-US" altLang="zh-CN" dirty="0">
              <a:cs typeface="+mn-ea"/>
              <a:sym typeface="+mn-lt"/>
            </a:endParaRPr>
          </a:p>
          <a:p>
            <a:pPr lvl="2"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直方图是有</a:t>
            </a:r>
            <a:r>
              <a:rPr lang="en-US" altLang="zh-CN" dirty="0">
                <a:cs typeface="+mn-ea"/>
                <a:sym typeface="+mn-lt"/>
              </a:rPr>
              <a:t>9</a:t>
            </a:r>
            <a:r>
              <a:rPr lang="zh-CN" altLang="en-US" dirty="0">
                <a:cs typeface="+mn-ea"/>
                <a:sym typeface="+mn-lt"/>
              </a:rPr>
              <a:t>个</a:t>
            </a:r>
            <a:r>
              <a:rPr lang="en-US" altLang="zh-CN" dirty="0">
                <a:cs typeface="+mn-ea"/>
                <a:sym typeface="+mn-lt"/>
              </a:rPr>
              <a:t>bin</a:t>
            </a:r>
          </a:p>
          <a:p>
            <a:pPr lvl="2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Bin</a:t>
            </a:r>
            <a:r>
              <a:rPr lang="zh-CN" altLang="en-US" dirty="0">
                <a:cs typeface="+mn-ea"/>
                <a:sym typeface="+mn-lt"/>
              </a:rPr>
              <a:t>的值：每个角度对应的幅值之和</a:t>
            </a: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endParaRPr lang="zh-CN" altLang="en-US" b="1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717FDE-0E3B-42DA-8A33-D1E40CC81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0293" y="251354"/>
            <a:ext cx="4245761" cy="31485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C3EECD-AB43-4B49-925C-DA7B98DF0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693" y="3429000"/>
            <a:ext cx="4453005" cy="322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7011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7F9A2-ED04-4D43-8267-B57AE1B3D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HOG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B5E22-9A30-478E-9632-9C78F9973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314346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B0F0"/>
                </a:solidFill>
                <a:cs typeface="+mn-ea"/>
                <a:sym typeface="+mn-lt"/>
              </a:rPr>
              <a:t>计算梯度直方图</a:t>
            </a:r>
            <a:endParaRPr lang="en-US" altLang="zh-CN" b="1" dirty="0">
              <a:solidFill>
                <a:srgbClr val="00B0F0"/>
              </a:solidFill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将图像分成若干个</a:t>
            </a:r>
            <a:r>
              <a:rPr lang="en-US" altLang="zh-CN" dirty="0">
                <a:cs typeface="+mn-ea"/>
                <a:sym typeface="+mn-lt"/>
              </a:rPr>
              <a:t>8*8</a:t>
            </a:r>
            <a:r>
              <a:rPr lang="zh-CN" altLang="en-US" dirty="0">
                <a:cs typeface="+mn-ea"/>
                <a:sym typeface="+mn-lt"/>
              </a:rPr>
              <a:t>大小的网格</a:t>
            </a: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计算每一个网格的梯度直方图</a:t>
            </a:r>
            <a:endParaRPr lang="en-US" altLang="zh-CN" dirty="0">
              <a:cs typeface="+mn-ea"/>
              <a:sym typeface="+mn-lt"/>
            </a:endParaRPr>
          </a:p>
          <a:p>
            <a:pPr lvl="2"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直方图是有</a:t>
            </a:r>
            <a:r>
              <a:rPr lang="en-US" altLang="zh-CN" dirty="0">
                <a:cs typeface="+mn-ea"/>
                <a:sym typeface="+mn-lt"/>
              </a:rPr>
              <a:t>9</a:t>
            </a:r>
            <a:r>
              <a:rPr lang="zh-CN" altLang="en-US" dirty="0">
                <a:cs typeface="+mn-ea"/>
                <a:sym typeface="+mn-lt"/>
              </a:rPr>
              <a:t>个</a:t>
            </a:r>
            <a:r>
              <a:rPr lang="en-US" altLang="zh-CN" dirty="0">
                <a:cs typeface="+mn-ea"/>
                <a:sym typeface="+mn-lt"/>
              </a:rPr>
              <a:t>bin</a:t>
            </a:r>
          </a:p>
          <a:p>
            <a:pPr lvl="2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Bin</a:t>
            </a:r>
            <a:r>
              <a:rPr lang="zh-CN" altLang="en-US" dirty="0">
                <a:cs typeface="+mn-ea"/>
                <a:sym typeface="+mn-lt"/>
              </a:rPr>
              <a:t>的值：每个角度对应的幅值之和</a:t>
            </a: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endParaRPr lang="zh-CN" altLang="en-US" b="1" dirty="0">
              <a:cs typeface="+mn-ea"/>
              <a:sym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E0DD35-D312-4925-9589-AB24CFBC6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987" y="2152121"/>
            <a:ext cx="4924425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6991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12A27-C531-4F46-B8FF-94EED7302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HOG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E59F0A-910A-40E6-B949-A6A5E370C6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5630333" cy="4351338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b="1" dirty="0">
                    <a:solidFill>
                      <a:srgbClr val="00B0F0"/>
                    </a:solidFill>
                    <a:cs typeface="+mn-ea"/>
                    <a:sym typeface="+mn-lt"/>
                  </a:rPr>
                  <a:t>Cell</a:t>
                </a:r>
                <a:r>
                  <a:rPr lang="zh-CN" altLang="en-US" b="1" dirty="0">
                    <a:solidFill>
                      <a:srgbClr val="00B0F0"/>
                    </a:solidFill>
                    <a:cs typeface="+mn-ea"/>
                    <a:sym typeface="+mn-lt"/>
                  </a:rPr>
                  <a:t>进行归一化</a:t>
                </a:r>
                <a:endParaRPr lang="en-US" altLang="zh-CN" b="1" dirty="0">
                  <a:solidFill>
                    <a:srgbClr val="00B0F0"/>
                  </a:solidFill>
                  <a:cs typeface="+mn-ea"/>
                  <a:sym typeface="+mn-lt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b="1" dirty="0">
                    <a:solidFill>
                      <a:srgbClr val="FF0000"/>
                    </a:solidFill>
                    <a:cs typeface="+mn-ea"/>
                    <a:sym typeface="+mn-lt"/>
                  </a:rPr>
                  <a:t>问题：</a:t>
                </a:r>
                <a:r>
                  <a:rPr lang="zh-CN" altLang="en-US" dirty="0">
                    <a:cs typeface="+mn-ea"/>
                    <a:sym typeface="+mn-lt"/>
                  </a:rPr>
                  <a:t>图像梯度对于光照很敏感</a:t>
                </a:r>
                <a:endParaRPr lang="en-US" altLang="zh-CN" dirty="0">
                  <a:cs typeface="+mn-ea"/>
                  <a:sym typeface="+mn-lt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b="1" dirty="0">
                    <a:solidFill>
                      <a:srgbClr val="00B050"/>
                    </a:solidFill>
                    <a:cs typeface="+mn-ea"/>
                    <a:sym typeface="+mn-lt"/>
                  </a:rPr>
                  <a:t>解决方法：</a:t>
                </a:r>
                <a:endParaRPr lang="en-US" altLang="zh-CN" b="1" dirty="0">
                  <a:solidFill>
                    <a:srgbClr val="00B050"/>
                  </a:solidFill>
                  <a:cs typeface="+mn-ea"/>
                  <a:sym typeface="+mn-lt"/>
                </a:endParaRPr>
              </a:p>
              <a:p>
                <a:pPr lvl="2">
                  <a:lnSpc>
                    <a:spcPct val="150000"/>
                  </a:lnSpc>
                </a:pPr>
                <a:r>
                  <a:rPr lang="en-US" altLang="zh-CN" dirty="0">
                    <a:cs typeface="+mn-ea"/>
                    <a:sym typeface="+mn-lt"/>
                  </a:rPr>
                  <a:t>2*2</a:t>
                </a:r>
                <a:r>
                  <a:rPr lang="zh-CN" altLang="en-US" dirty="0">
                    <a:cs typeface="+mn-ea"/>
                    <a:sym typeface="+mn-lt"/>
                  </a:rPr>
                  <a:t>网格构成一个</a:t>
                </a:r>
                <a:r>
                  <a:rPr lang="en-US" altLang="zh-CN" dirty="0">
                    <a:cs typeface="+mn-ea"/>
                    <a:sym typeface="+mn-lt"/>
                  </a:rPr>
                  <a:t>Cell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对向量采用</a:t>
                </a:r>
                <a:r>
                  <a:rPr lang="en-US" altLang="zh-CN" dirty="0">
                    <a:cs typeface="+mn-ea"/>
                    <a:sym typeface="+mn-lt"/>
                  </a:rPr>
                  <a:t>L2</a:t>
                </a:r>
                <a:r>
                  <a:rPr lang="zh-CN" altLang="en-US" dirty="0">
                    <a:cs typeface="+mn-ea"/>
                    <a:sym typeface="+mn-lt"/>
                  </a:rPr>
                  <a:t>归一化</a:t>
                </a:r>
                <a:endParaRPr lang="en-US" altLang="zh-CN" dirty="0">
                  <a:cs typeface="+mn-ea"/>
                  <a:sym typeface="+mn-lt"/>
                </a:endParaRP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zh-CN" altLang="en-US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𝑣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𝑣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𝑣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E59F0A-910A-40E6-B949-A6A5E370C6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5630333" cy="4351338"/>
              </a:xfrm>
              <a:blipFill>
                <a:blip r:embed="rId2"/>
                <a:stretch>
                  <a:fillRect l="-18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34701A9-5B8A-408F-A367-EE18CCB23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1665" y="1634331"/>
            <a:ext cx="2419350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99929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12A27-C531-4F46-B8FF-94EED7302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HOG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E59F0A-910A-40E6-B949-A6A5E370C6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5867401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b="1" dirty="0">
                    <a:solidFill>
                      <a:srgbClr val="00B0F0"/>
                    </a:solidFill>
                    <a:cs typeface="+mn-ea"/>
                    <a:sym typeface="+mn-lt"/>
                  </a:rPr>
                  <a:t>特征维度</a:t>
                </a:r>
                <a:r>
                  <a:rPr lang="en-US" altLang="zh-CN" b="1" dirty="0">
                    <a:solidFill>
                      <a:srgbClr val="00B0F0"/>
                    </a:solidFill>
                    <a:cs typeface="+mn-ea"/>
                    <a:sym typeface="+mn-lt"/>
                  </a:rPr>
                  <a:t> </a:t>
                </a:r>
                <a:r>
                  <a:rPr lang="zh-CN" altLang="en-US" b="1" dirty="0">
                    <a:solidFill>
                      <a:srgbClr val="00B0F0"/>
                    </a:solidFill>
                    <a:cs typeface="+mn-ea"/>
                    <a:sym typeface="+mn-lt"/>
                  </a:rPr>
                  <a:t>（</a:t>
                </a:r>
                <a:r>
                  <a:rPr lang="en-US" altLang="zh-CN" b="1" dirty="0">
                    <a:solidFill>
                      <a:srgbClr val="00B0F0"/>
                    </a:solidFill>
                    <a:cs typeface="+mn-ea"/>
                    <a:sym typeface="+mn-lt"/>
                  </a:rPr>
                  <a:t>128*64</a:t>
                </a:r>
                <a:r>
                  <a:rPr lang="zh-CN" altLang="en-US" b="1" dirty="0">
                    <a:solidFill>
                      <a:srgbClr val="00B0F0"/>
                    </a:solidFill>
                    <a:cs typeface="+mn-ea"/>
                    <a:sym typeface="+mn-lt"/>
                  </a:rPr>
                  <a:t>）</a:t>
                </a:r>
                <a:endParaRPr lang="en-US" altLang="zh-CN" b="1" dirty="0">
                  <a:solidFill>
                    <a:srgbClr val="00B0F0"/>
                  </a:solidFill>
                  <a:cs typeface="+mn-ea"/>
                  <a:sym typeface="+mn-lt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zh-CN" b="1" dirty="0">
                    <a:solidFill>
                      <a:schemeClr val="tx1"/>
                    </a:solidFill>
                    <a:cs typeface="+mn-ea"/>
                    <a:sym typeface="+mn-lt"/>
                  </a:rPr>
                  <a:t>Cell</a:t>
                </a:r>
                <a:r>
                  <a:rPr lang="zh-CN" altLang="en-US" b="1" dirty="0">
                    <a:solidFill>
                      <a:schemeClr val="tx1"/>
                    </a:solidFill>
                    <a:cs typeface="+mn-ea"/>
                    <a:sym typeface="+mn-lt"/>
                  </a:rPr>
                  <a:t>数目：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fPr>
                          <m:num>
                            <m:r>
                              <a:rPr lang="en-US" altLang="zh-CN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128</m:t>
                            </m:r>
                          </m:num>
                          <m:den>
                            <m:r>
                              <a:rPr lang="en-US" altLang="zh-CN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8</m:t>
                            </m:r>
                          </m:den>
                        </m:f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−1</m:t>
                        </m:r>
                      </m:e>
                    </m:d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∗</m:t>
                    </m:r>
                    <m:d>
                      <m:dPr>
                        <m:ctrlP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fPr>
                          <m:num>
                            <m:r>
                              <a:rPr lang="en-US" altLang="zh-CN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64</m:t>
                            </m:r>
                          </m:num>
                          <m:den>
                            <m:r>
                              <a:rPr lang="en-US" altLang="zh-CN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8</m:t>
                            </m:r>
                          </m:den>
                        </m:f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−1</m:t>
                        </m:r>
                      </m:e>
                    </m:d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=105</m:t>
                    </m:r>
                  </m:oMath>
                </a14:m>
                <a:endParaRPr lang="en-US" altLang="zh-CN" b="1" i="1" dirty="0">
                  <a:solidFill>
                    <a:srgbClr val="00B050"/>
                  </a:solidFill>
                  <a:cs typeface="+mn-ea"/>
                  <a:sym typeface="+mn-lt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b="1" dirty="0">
                    <a:solidFill>
                      <a:srgbClr val="00B050"/>
                    </a:solidFill>
                    <a:cs typeface="+mn-ea"/>
                    <a:sym typeface="+mn-lt"/>
                  </a:rPr>
                  <a:t>维度：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105∗36=3780</m:t>
                    </m:r>
                  </m:oMath>
                </a14:m>
                <a:endParaRPr lang="en-US" altLang="zh-CN" dirty="0">
                  <a:solidFill>
                    <a:srgbClr val="00B050"/>
                  </a:solidFill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E59F0A-910A-40E6-B949-A6A5E370C6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5867401" cy="4351338"/>
              </a:xfrm>
              <a:blipFill>
                <a:blip r:embed="rId2"/>
                <a:stretch>
                  <a:fillRect l="-1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34701A9-5B8A-408F-A367-EE18CCB23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102" y="1606152"/>
            <a:ext cx="2419350" cy="47339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9D68F7-952B-46F1-AF09-FB52AEC2E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1954" y="1606152"/>
            <a:ext cx="2342624" cy="467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89853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D0160-55B4-4A23-A918-BEEB31391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Linear SVM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389CA8-3F0B-422B-9052-BDAD1B85BA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16132" y="1825625"/>
                <a:ext cx="5037667" cy="4351338"/>
              </a:xfrm>
            </p:spPr>
            <p:txBody>
              <a:bodyPr/>
              <a:lstStyle/>
              <a:p>
                <a:pPr lvl="0"/>
                <a14:m>
                  <m:oMath xmlns:m="http://schemas.openxmlformats.org/officeDocument/2006/math">
                    <m:r>
                      <a:rPr lang="en-US" altLang="zh-CN" sz="4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𝑦</m:t>
                    </m:r>
                    <m:r>
                      <a:rPr lang="en-US" altLang="zh-CN" sz="4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</m:t>
                    </m:r>
                    <m:sSup>
                      <m:sSupPr>
                        <m:ctrlPr>
                          <a:rPr lang="en-US" altLang="zh-CN" sz="4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pPr>
                      <m:e>
                        <m:r>
                          <a:rPr lang="en-US" altLang="zh-CN" sz="4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𝒘</m:t>
                        </m:r>
                      </m:e>
                      <m:sup>
                        <m:r>
                          <a:rPr lang="en-US" altLang="zh-CN" sz="4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𝑇</m:t>
                        </m:r>
                      </m:sup>
                    </m:sSup>
                    <m:r>
                      <a:rPr lang="en-US" altLang="zh-CN" sz="40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𝒙</m:t>
                    </m:r>
                    <m:r>
                      <a:rPr lang="en-US" altLang="zh-CN" sz="4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+</m:t>
                    </m:r>
                    <m:r>
                      <a:rPr lang="en-US" altLang="zh-CN" sz="4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𝑏</m:t>
                    </m:r>
                  </m:oMath>
                </a14:m>
                <a:endParaRPr lang="zh-CN" altLang="en-US" sz="4000" dirty="0">
                  <a:solidFill>
                    <a:prstClr val="black"/>
                  </a:solidFill>
                  <a:cs typeface="+mn-ea"/>
                  <a:sym typeface="+mn-lt"/>
                </a:endParaRPr>
              </a:p>
              <a:p>
                <a:pPr marL="0" indent="0">
                  <a:buNone/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389CA8-3F0B-422B-9052-BDAD1B85BA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16132" y="1825625"/>
                <a:ext cx="5037667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5">
            <a:extLst>
              <a:ext uri="{FF2B5EF4-FFF2-40B4-BE49-F238E27FC236}">
                <a16:creationId xmlns:a16="http://schemas.microsoft.com/office/drawing/2014/main" id="{AB290924-883E-47BA-B250-AB08BBB52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0998" y="3429000"/>
            <a:ext cx="4207933" cy="2552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6CEF1E-6405-4058-8AD2-7136B157FA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238" y="2552733"/>
            <a:ext cx="5356762" cy="215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81585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26D55-A261-403C-8EA3-058B36569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可视化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F38BA-6EBA-4071-9484-8825CF657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93DC04-F828-4855-A5AF-41BCC4B48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505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9241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C3551-261B-4EC6-9B9E-1962CB7DA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多尺度检测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CA44C-8EB1-4EDF-86CD-0555E51C7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7B65F1-00A9-4EAF-BA5E-16D2928C5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7" y="2275225"/>
            <a:ext cx="6159500" cy="34521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B7D64A-06B4-49BF-9ED7-B63EAC4D1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6550" y="1825625"/>
            <a:ext cx="1562100" cy="28765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A8344EB-D254-4DE0-99F4-AF188F7894FB}"/>
              </a:ext>
            </a:extLst>
          </p:cNvPr>
          <p:cNvSpPr/>
          <p:nvPr/>
        </p:nvSpPr>
        <p:spPr>
          <a:xfrm>
            <a:off x="5168900" y="5801598"/>
            <a:ext cx="1854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HOG pyramid</a:t>
            </a:r>
            <a:endParaRPr lang="zh-CN" altLang="en-US" sz="2000" b="1" dirty="0">
              <a:cs typeface="+mn-ea"/>
              <a:sym typeface="+mn-lt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4E1F9F6-47F1-4D65-AB00-4E68903CD058}"/>
              </a:ext>
            </a:extLst>
          </p:cNvPr>
          <p:cNvCxnSpPr>
            <a:cxnSpLocks/>
          </p:cNvCxnSpPr>
          <p:nvPr/>
        </p:nvCxnSpPr>
        <p:spPr>
          <a:xfrm flipH="1">
            <a:off x="7023102" y="2929467"/>
            <a:ext cx="2203448" cy="6350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16081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90375-79FC-4DD2-90ED-ED4E85262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例子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70089-EAAC-406F-9615-E79345E8C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185AE8-1CC1-4AFE-9E32-D489F5985303}"/>
              </a:ext>
            </a:extLst>
          </p:cNvPr>
          <p:cNvSpPr/>
          <p:nvPr/>
        </p:nvSpPr>
        <p:spPr>
          <a:xfrm>
            <a:off x="5249333" y="6471735"/>
            <a:ext cx="69426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dirty="0">
                <a:cs typeface="+mn-ea"/>
                <a:sym typeface="+mn-lt"/>
                <a:hlinkClick r:id="rId2"/>
              </a:rPr>
              <a:t>https://pyimagesearch.com/2015/11/09/pedestrian-detection-opencv/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2050" name="Picture 2" descr="https://pyimagesearch.com/wp-content/uploads/2015/11/pedestrian_detection_person_032.jpg">
            <a:extLst>
              <a:ext uri="{FF2B5EF4-FFF2-40B4-BE49-F238E27FC236}">
                <a16:creationId xmlns:a16="http://schemas.microsoft.com/office/drawing/2014/main" id="{DED68336-01CE-4720-85BB-610CE2D66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22250"/>
            <a:ext cx="5139266" cy="3758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pyimagesearch.com/wp-content/uploads/2015/11/pedestrian_detection_person_293.jpg">
            <a:extLst>
              <a:ext uri="{FF2B5EF4-FFF2-40B4-BE49-F238E27FC236}">
                <a16:creationId xmlns:a16="http://schemas.microsoft.com/office/drawing/2014/main" id="{7BE3129A-AD75-4B71-A322-65D7996E2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3068" y="1903448"/>
            <a:ext cx="5139266" cy="4355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116750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8C9AA-40BF-4583-BDD0-2AA49CE41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课后作业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0558D-4358-41CA-8BBD-871DD77D9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cs typeface="+mn-ea"/>
                <a:sym typeface="+mn-lt"/>
              </a:rPr>
              <a:t>完成一个人脸识别的程序，可以识别你宿舍的几位同学</a:t>
            </a:r>
            <a:endParaRPr lang="en-US" altLang="zh-CN" sz="3200" dirty="0"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zh-CN" altLang="en-US" sz="2800" dirty="0">
                <a:cs typeface="+mn-ea"/>
                <a:sym typeface="+mn-lt"/>
              </a:rPr>
              <a:t>人脸检测</a:t>
            </a:r>
            <a:endParaRPr lang="en-US" altLang="zh-CN" sz="2800" dirty="0"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zh-CN" altLang="en-US" sz="2800" dirty="0">
                <a:cs typeface="+mn-ea"/>
                <a:sym typeface="+mn-lt"/>
              </a:rPr>
              <a:t>人脸特征提取与比对</a:t>
            </a:r>
            <a:endParaRPr lang="en-US" altLang="zh-CN" sz="2800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00B0F0"/>
                </a:solidFill>
                <a:cs typeface="+mn-ea"/>
                <a:sym typeface="+mn-lt"/>
              </a:rPr>
              <a:t>提交形式</a:t>
            </a:r>
            <a:r>
              <a:rPr lang="en-US" altLang="zh-CN" sz="3200" b="1" dirty="0">
                <a:solidFill>
                  <a:srgbClr val="00B0F0"/>
                </a:solidFill>
                <a:cs typeface="+mn-ea"/>
                <a:sym typeface="+mn-lt"/>
              </a:rPr>
              <a:t>: </a:t>
            </a:r>
            <a:r>
              <a:rPr lang="en-US" altLang="zh-CN" sz="3200" dirty="0">
                <a:cs typeface="+mn-ea"/>
                <a:sym typeface="+mn-lt"/>
              </a:rPr>
              <a:t>Python</a:t>
            </a:r>
            <a:r>
              <a:rPr lang="zh-CN" altLang="en-US" sz="3200" dirty="0">
                <a:cs typeface="+mn-ea"/>
                <a:sym typeface="+mn-lt"/>
              </a:rPr>
              <a:t>代码</a:t>
            </a:r>
            <a:r>
              <a:rPr lang="en-US" altLang="zh-CN" sz="3200" dirty="0">
                <a:cs typeface="+mn-ea"/>
                <a:sym typeface="+mn-lt"/>
              </a:rPr>
              <a:t> + 1~2</a:t>
            </a:r>
            <a:r>
              <a:rPr lang="zh-CN" altLang="en-US" sz="3200" dirty="0">
                <a:cs typeface="+mn-ea"/>
                <a:sym typeface="+mn-lt"/>
              </a:rPr>
              <a:t>页的报告</a:t>
            </a:r>
            <a:endParaRPr lang="en-US" altLang="zh-CN" sz="3200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cs typeface="+mn-ea"/>
                <a:sym typeface="+mn-lt"/>
              </a:rPr>
              <a:t>两周内提交</a:t>
            </a:r>
            <a:endParaRPr lang="zh-CN" altLang="en-US" sz="32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3976535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D0606-C1F3-463B-B2DF-7F004E1F3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cs typeface="+mn-ea"/>
                <a:sym typeface="+mn-lt"/>
              </a:rPr>
              <a:t>课后作业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8F48F-1523-4734-9034-EA317698F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cs typeface="+mn-ea"/>
                <a:sym typeface="+mn-lt"/>
              </a:rPr>
              <a:t>参考资料</a:t>
            </a:r>
            <a:endParaRPr lang="en-US" altLang="zh-CN" b="1" dirty="0"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  <a:hlinkClick r:id="rId2"/>
              </a:rPr>
              <a:t>https://docs.opencv.org/4.5.4/d0/dd4/tutorial_dnn_face.html</a:t>
            </a: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  <a:hlinkClick r:id="rId3"/>
              </a:rPr>
              <a:t>https://blog.csdn.net/qq_36563273/article/details/121510440</a:t>
            </a: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人脸检测器</a:t>
            </a:r>
            <a:r>
              <a:rPr lang="en-US" altLang="zh-CN" dirty="0">
                <a:cs typeface="+mn-ea"/>
                <a:sym typeface="+mn-lt"/>
              </a:rPr>
              <a:t>: </a:t>
            </a:r>
            <a:r>
              <a:rPr lang="en-US" altLang="zh-CN" dirty="0">
                <a:solidFill>
                  <a:srgbClr val="00B0F0"/>
                </a:solidFill>
                <a:cs typeface="+mn-ea"/>
                <a:sym typeface="+mn-lt"/>
              </a:rPr>
              <a:t>cv2.FaceDetectorYN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人脸特征提取：</a:t>
            </a:r>
            <a:r>
              <a:rPr lang="en-US" altLang="zh-CN" dirty="0">
                <a:solidFill>
                  <a:srgbClr val="00B0F0"/>
                </a:solidFill>
                <a:cs typeface="+mn-ea"/>
                <a:sym typeface="+mn-lt"/>
              </a:rPr>
              <a:t>cv2.FaceRecognizerSF</a:t>
            </a:r>
          </a:p>
        </p:txBody>
      </p:sp>
    </p:spTree>
    <p:extLst>
      <p:ext uri="{BB962C8B-B14F-4D97-AF65-F5344CB8AC3E}">
        <p14:creationId xmlns:p14="http://schemas.microsoft.com/office/powerpoint/2010/main" val="179417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djleqmoq">
      <a:majorFont>
        <a:latin typeface="Times New Roman" panose="020F0302020204030204"/>
        <a:ea typeface="宋体"/>
        <a:cs typeface=""/>
      </a:majorFont>
      <a:minorFont>
        <a:latin typeface="Times New Roman" panose="020F0502020204030204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2711</Words>
  <Application>Microsoft Office PowerPoint</Application>
  <PresentationFormat>Widescreen</PresentationFormat>
  <Paragraphs>365</Paragraphs>
  <Slides>77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5" baseType="lpstr">
      <vt:lpstr>Lato</vt:lpstr>
      <vt:lpstr>等线</vt:lpstr>
      <vt:lpstr>宋体</vt:lpstr>
      <vt:lpstr>Arial</vt:lpstr>
      <vt:lpstr>Cambria Math</vt:lpstr>
      <vt:lpstr>Times New Roman</vt:lpstr>
      <vt:lpstr>Office Theme</vt:lpstr>
      <vt:lpstr>Image</vt:lpstr>
      <vt:lpstr>6. 目标检测 （人脸 &amp; 行人）</vt:lpstr>
      <vt:lpstr>经典的视觉识别任务</vt:lpstr>
      <vt:lpstr>提纲</vt:lpstr>
      <vt:lpstr>目标检测</vt:lpstr>
      <vt:lpstr>目标物体类建模的难点</vt:lpstr>
      <vt:lpstr>非目标物体建模的难点</vt:lpstr>
      <vt:lpstr>构建目标检测器的难点</vt:lpstr>
      <vt:lpstr>滑动窗口法</vt:lpstr>
      <vt:lpstr>尺度</vt:lpstr>
      <vt:lpstr>滑动窗口 + 尺度</vt:lpstr>
      <vt:lpstr>提纲</vt:lpstr>
      <vt:lpstr>人脸检测</vt:lpstr>
      <vt:lpstr>人脸检测与识别</vt:lpstr>
      <vt:lpstr>人脸检测难点</vt:lpstr>
      <vt:lpstr>Viola/Jones人脸检测器</vt:lpstr>
      <vt:lpstr>Viola/Jones人脸检测器</vt:lpstr>
      <vt:lpstr>AdaBoost分类器</vt:lpstr>
      <vt:lpstr>Boosting - procedure</vt:lpstr>
      <vt:lpstr>Boosting – Toy example</vt:lpstr>
      <vt:lpstr>Boosting – Toy example</vt:lpstr>
      <vt:lpstr>Boosting – Toy example</vt:lpstr>
      <vt:lpstr>Boosting – Toy example</vt:lpstr>
      <vt:lpstr>Boosting – Toy example</vt:lpstr>
      <vt:lpstr>Boosting – Toy example</vt:lpstr>
      <vt:lpstr>Boosting – Toy example</vt:lpstr>
      <vt:lpstr>AdaBoost</vt:lpstr>
      <vt:lpstr>AdaBoost</vt:lpstr>
      <vt:lpstr>AdaBoost人脸检测</vt:lpstr>
      <vt:lpstr>Image Features / Weak classifier</vt:lpstr>
      <vt:lpstr>Image Features / Weak classifier</vt:lpstr>
      <vt:lpstr>Image Features / Weak classifier</vt:lpstr>
      <vt:lpstr>积分图 (Integral Image)</vt:lpstr>
      <vt:lpstr>任意矩形框内的像素之后</vt:lpstr>
      <vt:lpstr>Viola &amp; Jones algorithm</vt:lpstr>
      <vt:lpstr>Viola &amp; Jones algorithm</vt:lpstr>
      <vt:lpstr>Viola &amp; Jones algorithm</vt:lpstr>
      <vt:lpstr>Cascade for Fast Detection</vt:lpstr>
      <vt:lpstr>后处理</vt:lpstr>
      <vt:lpstr>非极大值抑制</vt:lpstr>
      <vt:lpstr>YuNet (CNN) vs. Haar</vt:lpstr>
      <vt:lpstr>YuNet (CNN) vs. Haar</vt:lpstr>
      <vt:lpstr>YuNet (CNN) vs. Haar</vt:lpstr>
      <vt:lpstr>提纲</vt:lpstr>
      <vt:lpstr>人脸识别</vt:lpstr>
      <vt:lpstr>人脸识别</vt:lpstr>
      <vt:lpstr>Local Binary Patterns (LBP) for Face Recognition</vt:lpstr>
      <vt:lpstr>LBP Operator</vt:lpstr>
      <vt:lpstr>LBP Operator (2)</vt:lpstr>
      <vt:lpstr>线性插值（Linear Interpolation）</vt:lpstr>
      <vt:lpstr>双线性插值（Bilinear Interpolation）</vt:lpstr>
      <vt:lpstr>Uniform LBP</vt:lpstr>
      <vt:lpstr>Uniform LBP</vt:lpstr>
      <vt:lpstr>LBP Histogram</vt:lpstr>
      <vt:lpstr>Face description using LBP</vt:lpstr>
      <vt:lpstr>Compute the Distance</vt:lpstr>
      <vt:lpstr>Other Distance Metrics</vt:lpstr>
      <vt:lpstr>Weighting the important region</vt:lpstr>
      <vt:lpstr>Perform the Recognition</vt:lpstr>
      <vt:lpstr>提纲</vt:lpstr>
      <vt:lpstr>行人检测 (Pedestrian Detection)</vt:lpstr>
      <vt:lpstr>行人检测的难点</vt:lpstr>
      <vt:lpstr>行人检测的难点</vt:lpstr>
      <vt:lpstr>Dalal-Triggs行人检测器 (HOG)</vt:lpstr>
      <vt:lpstr>Dalal-Triggs行人检测器 (HOG)</vt:lpstr>
      <vt:lpstr>预处理</vt:lpstr>
      <vt:lpstr>HOG</vt:lpstr>
      <vt:lpstr>HOG</vt:lpstr>
      <vt:lpstr>HOG</vt:lpstr>
      <vt:lpstr>HOG</vt:lpstr>
      <vt:lpstr>HOG</vt:lpstr>
      <vt:lpstr>HOG</vt:lpstr>
      <vt:lpstr>Linear SVM</vt:lpstr>
      <vt:lpstr>可视化</vt:lpstr>
      <vt:lpstr>多尺度检测</vt:lpstr>
      <vt:lpstr>例子</vt:lpstr>
      <vt:lpstr>课后作业</vt:lpstr>
      <vt:lpstr>课后作业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目标检测（人脸 &amp; 行人）</dc:title>
  <dc:creator>Luo Zhiming</dc:creator>
  <cp:lastModifiedBy>Luo Zhiming</cp:lastModifiedBy>
  <cp:revision>18</cp:revision>
  <dcterms:created xsi:type="dcterms:W3CDTF">2023-04-01T06:17:55Z</dcterms:created>
  <dcterms:modified xsi:type="dcterms:W3CDTF">2023-04-01T09:41:42Z</dcterms:modified>
</cp:coreProperties>
</file>