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9"/>
  </p:notesMasterIdLst>
  <p:sldIdLst>
    <p:sldId id="256" r:id="rId2"/>
    <p:sldId id="613" r:id="rId3"/>
    <p:sldId id="272" r:id="rId4"/>
    <p:sldId id="273" r:id="rId5"/>
    <p:sldId id="275" r:id="rId6"/>
    <p:sldId id="631" r:id="rId7"/>
    <p:sldId id="633" r:id="rId8"/>
    <p:sldId id="276" r:id="rId9"/>
    <p:sldId id="277" r:id="rId10"/>
    <p:sldId id="274" r:id="rId11"/>
    <p:sldId id="589" r:id="rId12"/>
    <p:sldId id="278" r:id="rId13"/>
    <p:sldId id="279" r:id="rId14"/>
    <p:sldId id="644" r:id="rId15"/>
    <p:sldId id="596" r:id="rId16"/>
    <p:sldId id="634" r:id="rId17"/>
    <p:sldId id="641" r:id="rId18"/>
    <p:sldId id="642" r:id="rId19"/>
    <p:sldId id="645" r:id="rId20"/>
    <p:sldId id="646" r:id="rId21"/>
    <p:sldId id="575" r:id="rId22"/>
    <p:sldId id="638" r:id="rId23"/>
    <p:sldId id="576" r:id="rId24"/>
    <p:sldId id="619" r:id="rId25"/>
    <p:sldId id="577" r:id="rId26"/>
    <p:sldId id="269" r:id="rId27"/>
    <p:sldId id="580" r:id="rId28"/>
    <p:sldId id="635" r:id="rId29"/>
    <p:sldId id="618" r:id="rId30"/>
    <p:sldId id="620" r:id="rId31"/>
    <p:sldId id="637" r:id="rId32"/>
    <p:sldId id="588" r:id="rId33"/>
    <p:sldId id="604" r:id="rId34"/>
    <p:sldId id="614" r:id="rId35"/>
    <p:sldId id="581" r:id="rId36"/>
    <p:sldId id="582" r:id="rId37"/>
    <p:sldId id="583" r:id="rId38"/>
    <p:sldId id="639" r:id="rId39"/>
    <p:sldId id="636" r:id="rId40"/>
    <p:sldId id="640" r:id="rId41"/>
    <p:sldId id="584" r:id="rId42"/>
    <p:sldId id="622" r:id="rId43"/>
    <p:sldId id="560" r:id="rId44"/>
    <p:sldId id="565" r:id="rId45"/>
    <p:sldId id="621" r:id="rId46"/>
    <p:sldId id="623" r:id="rId47"/>
    <p:sldId id="566" r:id="rId48"/>
    <p:sldId id="586" r:id="rId49"/>
    <p:sldId id="587" r:id="rId50"/>
    <p:sldId id="561" r:id="rId51"/>
    <p:sldId id="592" r:id="rId52"/>
    <p:sldId id="593" r:id="rId53"/>
    <p:sldId id="594" r:id="rId54"/>
    <p:sldId id="595" r:id="rId55"/>
    <p:sldId id="569" r:id="rId56"/>
    <p:sldId id="585" r:id="rId57"/>
    <p:sldId id="556" r:id="rId58"/>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15"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DFDF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4180" autoAdjust="0"/>
    <p:restoredTop sz="89199" autoAdjust="0"/>
  </p:normalViewPr>
  <p:slideViewPr>
    <p:cSldViewPr snapToGrid="0" showGuides="1">
      <p:cViewPr varScale="1">
        <p:scale>
          <a:sx n="102" d="100"/>
          <a:sy n="102" d="100"/>
        </p:scale>
        <p:origin x="426" y="108"/>
      </p:cViewPr>
      <p:guideLst>
        <p:guide orient="horz" pos="2115"/>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2F0C66D-094B-4D70-850C-ACFA29C3ECD9}" type="datetimeFigureOut">
              <a:rPr lang="zh-CN" altLang="en-US" smtClean="0"/>
              <a:t>2023-4-23</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2A3B39C-A63A-48E7-A72A-7E8881E9DBEB}" type="slidenum">
              <a:rPr lang="zh-CN" altLang="en-US" smtClean="0"/>
              <a:t>‹#›</a:t>
            </a:fld>
            <a:endParaRPr lang="zh-CN" altLang="en-US"/>
          </a:p>
        </p:txBody>
      </p:sp>
    </p:spTree>
    <p:extLst>
      <p:ext uri="{BB962C8B-B14F-4D97-AF65-F5344CB8AC3E}">
        <p14:creationId xmlns:p14="http://schemas.microsoft.com/office/powerpoint/2010/main" val="7450694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dirty="0"/>
          </a:p>
        </p:txBody>
      </p:sp>
      <p:sp>
        <p:nvSpPr>
          <p:cNvPr id="4" name="Slide Number Placeholder 3"/>
          <p:cNvSpPr>
            <a:spLocks noGrp="1"/>
          </p:cNvSpPr>
          <p:nvPr>
            <p:ph type="sldNum" sz="quarter" idx="5"/>
          </p:nvPr>
        </p:nvSpPr>
        <p:spPr/>
        <p:txBody>
          <a:bodyPr/>
          <a:lstStyle/>
          <a:p>
            <a:fld id="{02A3B39C-A63A-48E7-A72A-7E8881E9DBEB}" type="slidenum">
              <a:rPr lang="zh-CN" altLang="en-US" smtClean="0"/>
              <a:t>11</a:t>
            </a:fld>
            <a:endParaRPr lang="zh-CN" altLang="en-US"/>
          </a:p>
        </p:txBody>
      </p:sp>
    </p:spTree>
    <p:extLst>
      <p:ext uri="{BB962C8B-B14F-4D97-AF65-F5344CB8AC3E}">
        <p14:creationId xmlns:p14="http://schemas.microsoft.com/office/powerpoint/2010/main" val="29479300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dirty="0"/>
          </a:p>
        </p:txBody>
      </p:sp>
      <p:sp>
        <p:nvSpPr>
          <p:cNvPr id="4" name="Slide Number Placeholder 3"/>
          <p:cNvSpPr>
            <a:spLocks noGrp="1"/>
          </p:cNvSpPr>
          <p:nvPr>
            <p:ph type="sldNum" sz="quarter" idx="5"/>
          </p:nvPr>
        </p:nvSpPr>
        <p:spPr/>
        <p:txBody>
          <a:bodyPr/>
          <a:lstStyle/>
          <a:p>
            <a:fld id="{02A3B39C-A63A-48E7-A72A-7E8881E9DBEB}" type="slidenum">
              <a:rPr lang="zh-CN" altLang="en-US" smtClean="0"/>
              <a:t>18</a:t>
            </a:fld>
            <a:endParaRPr lang="zh-CN" altLang="en-US"/>
          </a:p>
        </p:txBody>
      </p:sp>
    </p:spTree>
    <p:extLst>
      <p:ext uri="{BB962C8B-B14F-4D97-AF65-F5344CB8AC3E}">
        <p14:creationId xmlns:p14="http://schemas.microsoft.com/office/powerpoint/2010/main" val="26698314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2A3B39C-A63A-48E7-A72A-7E8881E9DBEB}" type="slidenum">
              <a:rPr lang="zh-CN" altLang="en-US" smtClean="0"/>
              <a:t>26</a:t>
            </a:fld>
            <a:endParaRPr lang="zh-CN" altLang="en-US"/>
          </a:p>
        </p:txBody>
      </p:sp>
    </p:spTree>
    <p:extLst>
      <p:ext uri="{BB962C8B-B14F-4D97-AF65-F5344CB8AC3E}">
        <p14:creationId xmlns:p14="http://schemas.microsoft.com/office/powerpoint/2010/main" val="260738326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2A3B39C-A63A-48E7-A72A-7E8881E9DBEB}" type="slidenum">
              <a:rPr lang="zh-CN" altLang="en-US" smtClean="0"/>
              <a:t>27</a:t>
            </a:fld>
            <a:endParaRPr lang="zh-CN" altLang="en-US"/>
          </a:p>
        </p:txBody>
      </p:sp>
    </p:spTree>
    <p:extLst>
      <p:ext uri="{BB962C8B-B14F-4D97-AF65-F5344CB8AC3E}">
        <p14:creationId xmlns:p14="http://schemas.microsoft.com/office/powerpoint/2010/main" val="343974366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dirty="0"/>
          </a:p>
        </p:txBody>
      </p:sp>
      <p:sp>
        <p:nvSpPr>
          <p:cNvPr id="4" name="Slide Number Placeholder 3"/>
          <p:cNvSpPr>
            <a:spLocks noGrp="1"/>
          </p:cNvSpPr>
          <p:nvPr>
            <p:ph type="sldNum" sz="quarter" idx="5"/>
          </p:nvPr>
        </p:nvSpPr>
        <p:spPr/>
        <p:txBody>
          <a:bodyPr/>
          <a:lstStyle/>
          <a:p>
            <a:fld id="{02A3B39C-A63A-48E7-A72A-7E8881E9DBEB}" type="slidenum">
              <a:rPr lang="zh-CN" altLang="en-US" smtClean="0"/>
              <a:t>33</a:t>
            </a:fld>
            <a:endParaRPr lang="zh-CN" altLang="en-US"/>
          </a:p>
        </p:txBody>
      </p:sp>
    </p:spTree>
    <p:extLst>
      <p:ext uri="{BB962C8B-B14F-4D97-AF65-F5344CB8AC3E}">
        <p14:creationId xmlns:p14="http://schemas.microsoft.com/office/powerpoint/2010/main" val="75834339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dirty="0"/>
          </a:p>
        </p:txBody>
      </p:sp>
      <p:sp>
        <p:nvSpPr>
          <p:cNvPr id="4" name="Slide Number Placeholder 3"/>
          <p:cNvSpPr>
            <a:spLocks noGrp="1"/>
          </p:cNvSpPr>
          <p:nvPr>
            <p:ph type="sldNum" sz="quarter" idx="5"/>
          </p:nvPr>
        </p:nvSpPr>
        <p:spPr/>
        <p:txBody>
          <a:bodyPr/>
          <a:lstStyle/>
          <a:p>
            <a:fld id="{02A3B39C-A63A-48E7-A72A-7E8881E9DBEB}" type="slidenum">
              <a:rPr lang="zh-CN" altLang="en-US" smtClean="0"/>
              <a:t>34</a:t>
            </a:fld>
            <a:endParaRPr lang="zh-CN" altLang="en-US"/>
          </a:p>
        </p:txBody>
      </p:sp>
    </p:spTree>
    <p:extLst>
      <p:ext uri="{BB962C8B-B14F-4D97-AF65-F5344CB8AC3E}">
        <p14:creationId xmlns:p14="http://schemas.microsoft.com/office/powerpoint/2010/main" val="329672766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dirty="0"/>
          </a:p>
        </p:txBody>
      </p:sp>
      <p:sp>
        <p:nvSpPr>
          <p:cNvPr id="4" name="Slide Number Placeholder 3"/>
          <p:cNvSpPr>
            <a:spLocks noGrp="1"/>
          </p:cNvSpPr>
          <p:nvPr>
            <p:ph type="sldNum" sz="quarter" idx="5"/>
          </p:nvPr>
        </p:nvSpPr>
        <p:spPr/>
        <p:txBody>
          <a:bodyPr/>
          <a:lstStyle/>
          <a:p>
            <a:fld id="{02A3B39C-A63A-48E7-A72A-7E8881E9DBEB}" type="slidenum">
              <a:rPr lang="zh-CN" altLang="en-US" smtClean="0"/>
              <a:t>38</a:t>
            </a:fld>
            <a:endParaRPr lang="zh-CN" altLang="en-US"/>
          </a:p>
        </p:txBody>
      </p:sp>
    </p:spTree>
    <p:extLst>
      <p:ext uri="{BB962C8B-B14F-4D97-AF65-F5344CB8AC3E}">
        <p14:creationId xmlns:p14="http://schemas.microsoft.com/office/powerpoint/2010/main" val="350340760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dirty="0"/>
          </a:p>
        </p:txBody>
      </p:sp>
      <p:sp>
        <p:nvSpPr>
          <p:cNvPr id="4" name="Slide Number Placeholder 3"/>
          <p:cNvSpPr>
            <a:spLocks noGrp="1"/>
          </p:cNvSpPr>
          <p:nvPr>
            <p:ph type="sldNum" sz="quarter" idx="5"/>
          </p:nvPr>
        </p:nvSpPr>
        <p:spPr/>
        <p:txBody>
          <a:bodyPr/>
          <a:lstStyle/>
          <a:p>
            <a:fld id="{02A3B39C-A63A-48E7-A72A-7E8881E9DBEB}" type="slidenum">
              <a:rPr lang="zh-CN" altLang="en-US" smtClean="0"/>
              <a:t>41</a:t>
            </a:fld>
            <a:endParaRPr lang="zh-CN" altLang="en-US"/>
          </a:p>
        </p:txBody>
      </p:sp>
    </p:spTree>
    <p:extLst>
      <p:ext uri="{BB962C8B-B14F-4D97-AF65-F5344CB8AC3E}">
        <p14:creationId xmlns:p14="http://schemas.microsoft.com/office/powerpoint/2010/main" val="166447987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dirty="0"/>
          </a:p>
        </p:txBody>
      </p:sp>
      <p:sp>
        <p:nvSpPr>
          <p:cNvPr id="4" name="Slide Number Placeholder 3"/>
          <p:cNvSpPr>
            <a:spLocks noGrp="1"/>
          </p:cNvSpPr>
          <p:nvPr>
            <p:ph type="sldNum" sz="quarter" idx="5"/>
          </p:nvPr>
        </p:nvSpPr>
        <p:spPr/>
        <p:txBody>
          <a:bodyPr/>
          <a:lstStyle/>
          <a:p>
            <a:fld id="{02A3B39C-A63A-48E7-A72A-7E8881E9DBEB}" type="slidenum">
              <a:rPr lang="zh-CN" altLang="en-US" smtClean="0"/>
              <a:t>46</a:t>
            </a:fld>
            <a:endParaRPr lang="zh-CN" altLang="en-US"/>
          </a:p>
        </p:txBody>
      </p:sp>
    </p:spTree>
    <p:extLst>
      <p:ext uri="{BB962C8B-B14F-4D97-AF65-F5344CB8AC3E}">
        <p14:creationId xmlns:p14="http://schemas.microsoft.com/office/powerpoint/2010/main" val="30637434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p>
        </p:txBody>
      </p:sp>
      <p:sp>
        <p:nvSpPr>
          <p:cNvPr id="4" name="日期占位符 3"/>
          <p:cNvSpPr>
            <a:spLocks noGrp="1"/>
          </p:cNvSpPr>
          <p:nvPr>
            <p:ph type="dt" sz="half" idx="10"/>
          </p:nvPr>
        </p:nvSpPr>
        <p:spPr/>
        <p:txBody>
          <a:bodyPr/>
          <a:lstStyle/>
          <a:p>
            <a:fld id="{47E0FF87-73F7-4A4A-944B-F0035CEB34BC}" type="datetimeFigureOut">
              <a:rPr lang="zh-CN" altLang="en-US" smtClean="0"/>
              <a:t>2023-4-23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B8B1FC3-BB1A-41D4-93C8-760DB4FB6E0A}" type="slidenum">
              <a:rPr lang="zh-CN" altLang="en-US" smtClean="0"/>
              <a:t>‹#›</a:t>
            </a:fld>
            <a:endParaRPr lang="zh-CN" altLang="en-US"/>
          </a:p>
        </p:txBody>
      </p:sp>
    </p:spTree>
    <p:extLst>
      <p:ext uri="{BB962C8B-B14F-4D97-AF65-F5344CB8AC3E}">
        <p14:creationId xmlns:p14="http://schemas.microsoft.com/office/powerpoint/2010/main" val="21006838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lvl1pPr>
              <a:lnSpc>
                <a:spcPct val="125000"/>
              </a:lnSpc>
              <a:defRPr/>
            </a:lvl1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nvPr>
        </p:nvSpPr>
        <p:spPr/>
        <p:txBody>
          <a:bodyPr/>
          <a:lstStyle/>
          <a:p>
            <a:fld id="{47E0FF87-73F7-4A4A-944B-F0035CEB34BC}" type="datetimeFigureOut">
              <a:rPr lang="zh-CN" altLang="en-US" smtClean="0"/>
              <a:t>2023-4-23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B8B1FC3-BB1A-41D4-93C8-760DB4FB6E0A}" type="slidenum">
              <a:rPr lang="zh-CN" altLang="en-US" smtClean="0"/>
              <a:t>‹#›</a:t>
            </a:fld>
            <a:endParaRPr lang="zh-CN" altLang="en-US"/>
          </a:p>
        </p:txBody>
      </p:sp>
    </p:spTree>
    <p:extLst>
      <p:ext uri="{BB962C8B-B14F-4D97-AF65-F5344CB8AC3E}">
        <p14:creationId xmlns:p14="http://schemas.microsoft.com/office/powerpoint/2010/main" val="9120181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p:cNvSpPr>
            <a:spLocks noGrp="1"/>
          </p:cNvSpPr>
          <p:nvPr>
            <p:ph type="dt" sz="half" idx="10"/>
          </p:nvPr>
        </p:nvSpPr>
        <p:spPr/>
        <p:txBody>
          <a:bodyPr/>
          <a:lstStyle/>
          <a:p>
            <a:fld id="{47E0FF87-73F7-4A4A-944B-F0035CEB34BC}" type="datetimeFigureOut">
              <a:rPr lang="zh-CN" altLang="en-US" smtClean="0"/>
              <a:t>2023-4-23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B8B1FC3-BB1A-41D4-93C8-760DB4FB6E0A}" type="slidenum">
              <a:rPr lang="zh-CN" altLang="en-US" smtClean="0"/>
              <a:t>‹#›</a:t>
            </a:fld>
            <a:endParaRPr lang="zh-CN" altLang="en-US"/>
          </a:p>
        </p:txBody>
      </p:sp>
    </p:spTree>
    <p:extLst>
      <p:ext uri="{BB962C8B-B14F-4D97-AF65-F5344CB8AC3E}">
        <p14:creationId xmlns:p14="http://schemas.microsoft.com/office/powerpoint/2010/main" val="28617808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47E0FF87-73F7-4A4A-944B-F0035CEB34BC}" type="datetimeFigureOut">
              <a:rPr lang="zh-CN" altLang="en-US" smtClean="0"/>
              <a:t>2023-4-23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B8B1FC3-BB1A-41D4-93C8-760DB4FB6E0A}" type="slidenum">
              <a:rPr lang="zh-CN" altLang="en-US" smtClean="0"/>
              <a:t>‹#›</a:t>
            </a:fld>
            <a:endParaRPr lang="zh-CN" altLang="en-US"/>
          </a:p>
        </p:txBody>
      </p:sp>
    </p:spTree>
    <p:extLst>
      <p:ext uri="{BB962C8B-B14F-4D97-AF65-F5344CB8AC3E}">
        <p14:creationId xmlns:p14="http://schemas.microsoft.com/office/powerpoint/2010/main" val="10928943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47E0FF87-73F7-4A4A-944B-F0035CEB34BC}" type="datetimeFigureOut">
              <a:rPr lang="zh-CN" altLang="en-US" smtClean="0"/>
              <a:t>2023-4-23</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B8B1FC3-BB1A-41D4-93C8-760DB4FB6E0A}" type="slidenum">
              <a:rPr lang="zh-CN" altLang="en-US" smtClean="0"/>
              <a:t>‹#›</a:t>
            </a:fld>
            <a:endParaRPr lang="zh-CN" altLang="en-US"/>
          </a:p>
        </p:txBody>
      </p:sp>
    </p:spTree>
    <p:extLst>
      <p:ext uri="{BB962C8B-B14F-4D97-AF65-F5344CB8AC3E}">
        <p14:creationId xmlns:p14="http://schemas.microsoft.com/office/powerpoint/2010/main" val="5783266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47E0FF87-73F7-4A4A-944B-F0035CEB34BC}" type="datetimeFigureOut">
              <a:rPr lang="zh-CN" altLang="en-US" smtClean="0"/>
              <a:t>2023-4-23</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B8B1FC3-BB1A-41D4-93C8-760DB4FB6E0A}" type="slidenum">
              <a:rPr lang="zh-CN" altLang="en-US" smtClean="0"/>
              <a:t>‹#›</a:t>
            </a:fld>
            <a:endParaRPr lang="zh-CN" altLang="en-US"/>
          </a:p>
        </p:txBody>
      </p:sp>
    </p:spTree>
    <p:extLst>
      <p:ext uri="{BB962C8B-B14F-4D97-AF65-F5344CB8AC3E}">
        <p14:creationId xmlns:p14="http://schemas.microsoft.com/office/powerpoint/2010/main" val="7405155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47E0FF87-73F7-4A4A-944B-F0035CEB34BC}" type="datetimeFigureOut">
              <a:rPr lang="zh-CN" altLang="en-US" smtClean="0"/>
              <a:t>2023-4-23</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B8B1FC3-BB1A-41D4-93C8-760DB4FB6E0A}" type="slidenum">
              <a:rPr lang="zh-CN" altLang="en-US" smtClean="0"/>
              <a:t>‹#›</a:t>
            </a:fld>
            <a:endParaRPr lang="zh-CN" altLang="en-US"/>
          </a:p>
        </p:txBody>
      </p:sp>
    </p:spTree>
    <p:extLst>
      <p:ext uri="{BB962C8B-B14F-4D97-AF65-F5344CB8AC3E}">
        <p14:creationId xmlns:p14="http://schemas.microsoft.com/office/powerpoint/2010/main" val="28685401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47E0FF87-73F7-4A4A-944B-F0035CEB34BC}" type="datetimeFigureOut">
              <a:rPr lang="zh-CN" altLang="en-US" smtClean="0"/>
              <a:t>2023-4-23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B8B1FC3-BB1A-41D4-93C8-760DB4FB6E0A}" type="slidenum">
              <a:rPr lang="zh-CN" altLang="en-US" smtClean="0"/>
              <a:t>‹#›</a:t>
            </a:fld>
            <a:endParaRPr lang="zh-CN" altLang="en-US"/>
          </a:p>
        </p:txBody>
      </p:sp>
    </p:spTree>
    <p:extLst>
      <p:ext uri="{BB962C8B-B14F-4D97-AF65-F5344CB8AC3E}">
        <p14:creationId xmlns:p14="http://schemas.microsoft.com/office/powerpoint/2010/main" val="22048341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47E0FF87-73F7-4A4A-944B-F0035CEB34BC}" type="datetimeFigureOut">
              <a:rPr lang="zh-CN" altLang="en-US" smtClean="0"/>
              <a:t>2023-4-23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B8B1FC3-BB1A-41D4-93C8-760DB4FB6E0A}" type="slidenum">
              <a:rPr lang="zh-CN" altLang="en-US" smtClean="0"/>
              <a:t>‹#›</a:t>
            </a:fld>
            <a:endParaRPr lang="zh-CN" altLang="en-US"/>
          </a:p>
        </p:txBody>
      </p:sp>
    </p:spTree>
    <p:extLst>
      <p:ext uri="{BB962C8B-B14F-4D97-AF65-F5344CB8AC3E}">
        <p14:creationId xmlns:p14="http://schemas.microsoft.com/office/powerpoint/2010/main" val="9610381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47E0FF87-73F7-4A4A-944B-F0035CEB34BC}" type="datetimeFigureOut">
              <a:rPr lang="zh-CN" altLang="en-US" smtClean="0"/>
              <a:t>2023-4-23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B8B1FC3-BB1A-41D4-93C8-760DB4FB6E0A}" type="slidenum">
              <a:rPr lang="zh-CN" altLang="en-US" smtClean="0"/>
              <a:t>‹#›</a:t>
            </a:fld>
            <a:endParaRPr lang="zh-CN" altLang="en-US"/>
          </a:p>
        </p:txBody>
      </p:sp>
    </p:spTree>
    <p:extLst>
      <p:ext uri="{BB962C8B-B14F-4D97-AF65-F5344CB8AC3E}">
        <p14:creationId xmlns:p14="http://schemas.microsoft.com/office/powerpoint/2010/main" val="41325755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47E0FF87-73F7-4A4A-944B-F0035CEB34BC}" type="datetimeFigureOut">
              <a:rPr lang="zh-CN" altLang="en-US" smtClean="0"/>
              <a:t>2023-4-23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B8B1FC3-BB1A-41D4-93C8-760DB4FB6E0A}" type="slidenum">
              <a:rPr lang="zh-CN" altLang="en-US" smtClean="0"/>
              <a:t>‹#›</a:t>
            </a:fld>
            <a:endParaRPr lang="zh-CN" altLang="en-US"/>
          </a:p>
        </p:txBody>
      </p:sp>
    </p:spTree>
    <p:extLst>
      <p:ext uri="{BB962C8B-B14F-4D97-AF65-F5344CB8AC3E}">
        <p14:creationId xmlns:p14="http://schemas.microsoft.com/office/powerpoint/2010/main" val="19651685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7E0FF87-73F7-4A4A-944B-F0035CEB34BC}" type="datetimeFigureOut">
              <a:rPr lang="zh-CN" altLang="en-US" smtClean="0"/>
              <a:t>2023-4-23</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B8B1FC3-BB1A-41D4-93C8-760DB4FB6E0A}" type="slidenum">
              <a:rPr lang="zh-CN" altLang="en-US" smtClean="0"/>
              <a:t>‹#›</a:t>
            </a:fld>
            <a:endParaRPr lang="zh-CN" altLang="en-US"/>
          </a:p>
        </p:txBody>
      </p:sp>
    </p:spTree>
    <p:extLst>
      <p:ext uri="{BB962C8B-B14F-4D97-AF65-F5344CB8AC3E}">
        <p14:creationId xmlns:p14="http://schemas.microsoft.com/office/powerpoint/2010/main" val="103906546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zhiming.luo@xmu.edu.cn"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22.png"/></Relationships>
</file>

<file path=ppt/slides/_rels/slide1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4.gif"/><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5.png"/><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7.png"/><Relationship Id="rId4" Type="http://schemas.openxmlformats.org/officeDocument/2006/relationships/image" Target="../media/image2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10.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 Id="rId4" Type="http://schemas.openxmlformats.org/officeDocument/2006/relationships/image" Target="../media/image39.png"/></Relationships>
</file>

<file path=ppt/slides/_rels/slide32.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2.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42.png"/></Relationships>
</file>

<file path=ppt/slides/_rels/slide33.xml.rels><?xml version="1.0" encoding="UTF-8" standalone="yes"?>
<Relationships xmlns="http://schemas.openxmlformats.org/package/2006/relationships"><Relationship Id="rId8" Type="http://schemas.openxmlformats.org/officeDocument/2006/relationships/image" Target="../media/image48.png"/><Relationship Id="rId3" Type="http://schemas.openxmlformats.org/officeDocument/2006/relationships/image" Target="../media/image370.png"/><Relationship Id="rId7" Type="http://schemas.openxmlformats.org/officeDocument/2006/relationships/image" Target="../media/image47.png"/><Relationship Id="rId12" Type="http://schemas.openxmlformats.org/officeDocument/2006/relationships/image" Target="../media/image52.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46.png"/><Relationship Id="rId11" Type="http://schemas.openxmlformats.org/officeDocument/2006/relationships/image" Target="../media/image51.png"/><Relationship Id="rId5" Type="http://schemas.openxmlformats.org/officeDocument/2006/relationships/image" Target="../media/image45.png"/><Relationship Id="rId10" Type="http://schemas.openxmlformats.org/officeDocument/2006/relationships/image" Target="../media/image50.png"/><Relationship Id="rId4" Type="http://schemas.openxmlformats.org/officeDocument/2006/relationships/hyperlink" Target="https://zhuanlan.zhihu.com/p/355089493" TargetMode="External"/><Relationship Id="rId9" Type="http://schemas.openxmlformats.org/officeDocument/2006/relationships/image" Target="../media/image49.png"/></Relationships>
</file>

<file path=ppt/slides/_rels/slide34.xml.rels><?xml version="1.0" encoding="UTF-8" standalone="yes"?>
<Relationships xmlns="http://schemas.openxmlformats.org/package/2006/relationships"><Relationship Id="rId8" Type="http://schemas.openxmlformats.org/officeDocument/2006/relationships/image" Target="../media/image57.png"/><Relationship Id="rId3" Type="http://schemas.openxmlformats.org/officeDocument/2006/relationships/image" Target="../media/image59.png"/><Relationship Id="rId7" Type="http://schemas.openxmlformats.org/officeDocument/2006/relationships/image" Target="../media/image56.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55.png"/><Relationship Id="rId11" Type="http://schemas.openxmlformats.org/officeDocument/2006/relationships/image" Target="../media/image60.png"/><Relationship Id="rId5" Type="http://schemas.openxmlformats.org/officeDocument/2006/relationships/image" Target="../media/image54.png"/><Relationship Id="rId10" Type="http://schemas.openxmlformats.org/officeDocument/2006/relationships/image" Target="../media/image59.png"/><Relationship Id="rId4" Type="http://schemas.openxmlformats.org/officeDocument/2006/relationships/image" Target="../media/image53.png"/><Relationship Id="rId9" Type="http://schemas.openxmlformats.org/officeDocument/2006/relationships/image" Target="../media/image51.png"/></Relationships>
</file>

<file path=ppt/slides/_rels/slide35.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4.png"/><Relationship Id="rId1" Type="http://schemas.openxmlformats.org/officeDocument/2006/relationships/slideLayout" Target="../slideLayouts/slideLayout2.xml"/><Relationship Id="rId6" Type="http://schemas.openxmlformats.org/officeDocument/2006/relationships/image" Target="../media/image68.png"/><Relationship Id="rId5" Type="http://schemas.openxmlformats.org/officeDocument/2006/relationships/image" Target="../media/image67.png"/><Relationship Id="rId4" Type="http://schemas.openxmlformats.org/officeDocument/2006/relationships/image" Target="../media/image66.png"/></Relationships>
</file>

<file path=ppt/slides/_rels/slide38.xml.rels><?xml version="1.0" encoding="UTF-8" standalone="yes"?>
<Relationships xmlns="http://schemas.openxmlformats.org/package/2006/relationships"><Relationship Id="rId3" Type="http://schemas.openxmlformats.org/officeDocument/2006/relationships/hyperlink" Target="https://pytorch.org/docs/stable/generated/torch.nn.ConvTranspose2d.html" TargetMode="External"/><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70.png"/><Relationship Id="rId4" Type="http://schemas.openxmlformats.org/officeDocument/2006/relationships/image" Target="../media/image69.png"/></Relationships>
</file>

<file path=ppt/slides/_rels/slide39.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hyperlink" Target="https://github.com/wkentaro/pytorch-fcn" TargetMode="External"/><Relationship Id="rId2" Type="http://schemas.openxmlformats.org/officeDocument/2006/relationships/image" Target="../media/image72.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8" Type="http://schemas.openxmlformats.org/officeDocument/2006/relationships/image" Target="../media/image44.png"/><Relationship Id="rId3" Type="http://schemas.openxmlformats.org/officeDocument/2006/relationships/hyperlink" Target="https://distill.pub/2016/deconv-checkerboard/" TargetMode="External"/><Relationship Id="rId7" Type="http://schemas.openxmlformats.org/officeDocument/2006/relationships/image" Target="../media/image43.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75.png"/><Relationship Id="rId5" Type="http://schemas.openxmlformats.org/officeDocument/2006/relationships/image" Target="../media/image74.png"/><Relationship Id="rId4" Type="http://schemas.openxmlformats.org/officeDocument/2006/relationships/image" Target="../media/image73.png"/></Relationships>
</file>

<file path=ppt/slides/_rels/slide42.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image" Target="../media/image78.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hyperlink" Target="https://slidetodoc.com/markov-random-fields-and-segmentation-with-graph-cuts/" TargetMode="External"/><Relationship Id="rId1" Type="http://schemas.openxmlformats.org/officeDocument/2006/relationships/slideLayout" Target="../slideLayouts/slideLayout2.xml"/><Relationship Id="rId5" Type="http://schemas.openxmlformats.org/officeDocument/2006/relationships/image" Target="../media/image82.png"/><Relationship Id="rId4" Type="http://schemas.openxmlformats.org/officeDocument/2006/relationships/image" Target="../media/image81.png"/></Relationships>
</file>

<file path=ppt/slides/_rels/slide46.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86.png"/><Relationship Id="rId5" Type="http://schemas.openxmlformats.org/officeDocument/2006/relationships/image" Target="../media/image85.png"/><Relationship Id="rId4" Type="http://schemas.openxmlformats.org/officeDocument/2006/relationships/image" Target="../media/image84.png"/></Relationships>
</file>

<file path=ppt/slides/_rels/slide47.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image" Target="../media/image87.png"/><Relationship Id="rId1" Type="http://schemas.openxmlformats.org/officeDocument/2006/relationships/slideLayout" Target="../slideLayouts/slideLayout2.xml"/><Relationship Id="rId4" Type="http://schemas.openxmlformats.org/officeDocument/2006/relationships/image" Target="../media/image89.png"/></Relationships>
</file>

<file path=ppt/slides/_rels/slide48.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image" Target="../media/image91.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93.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93.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93.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93.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image" Target="../media/image94.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image" Target="../media/image96.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image" Target="../media/image98.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hyperlink" Target="http://cs231n.stanford.edu/slides/2020/lecture_12.pdf" TargetMode="External"/><Relationship Id="rId7" Type="http://schemas.openxmlformats.org/officeDocument/2006/relationships/hyperlink" Target="https://amaarora.github.io/2020/09/13/unet.html" TargetMode="External"/><Relationship Id="rId2" Type="http://schemas.openxmlformats.org/officeDocument/2006/relationships/hyperlink" Target="https://www.slideshare.net/xavigiro/image-segmentation-with-deep-learning-xavier-giro-carles-ventura-issondl-2020?next_slideshow=1" TargetMode="External"/><Relationship Id="rId1" Type="http://schemas.openxmlformats.org/officeDocument/2006/relationships/slideLayout" Target="../slideLayouts/slideLayout2.xml"/><Relationship Id="rId6" Type="http://schemas.openxmlformats.org/officeDocument/2006/relationships/hyperlink" Target="https://github.com/MIC-DKFZ/nnUNet" TargetMode="External"/><Relationship Id="rId5" Type="http://schemas.openxmlformats.org/officeDocument/2006/relationships/hyperlink" Target="https://github.com/qubvel/segmentation_models.pytorch" TargetMode="External"/><Relationship Id="rId4" Type="http://schemas.openxmlformats.org/officeDocument/2006/relationships/hyperlink" Target="https://www.jeremyjordan.me/evaluating-image-segmentation-model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1409252" y="1532510"/>
            <a:ext cx="9373496" cy="2387600"/>
          </a:xfrm>
        </p:spPr>
        <p:txBody>
          <a:bodyPr>
            <a:normAutofit/>
          </a:bodyPr>
          <a:lstStyle/>
          <a:p>
            <a:pPr>
              <a:lnSpc>
                <a:spcPct val="120000"/>
              </a:lnSpc>
            </a:pPr>
            <a:r>
              <a:rPr lang="en-US" altLang="zh-CN" b="1" dirty="0">
                <a:latin typeface="+mn-lt"/>
                <a:ea typeface="+mn-ea"/>
                <a:cs typeface="+mn-ea"/>
                <a:sym typeface="+mn-lt"/>
              </a:rPr>
              <a:t>10</a:t>
            </a:r>
            <a:r>
              <a:rPr lang="zh-CN" altLang="en-US" b="1" dirty="0">
                <a:latin typeface="+mn-lt"/>
                <a:ea typeface="+mn-ea"/>
                <a:cs typeface="+mn-ea"/>
                <a:sym typeface="+mn-lt"/>
              </a:rPr>
              <a:t>、图像语义分割</a:t>
            </a:r>
            <a:br>
              <a:rPr lang="en-US" altLang="zh-CN" sz="4800" b="1" dirty="0">
                <a:latin typeface="+mn-lt"/>
                <a:ea typeface="+mn-ea"/>
                <a:cs typeface="+mn-ea"/>
                <a:sym typeface="+mn-lt"/>
              </a:rPr>
            </a:br>
            <a:r>
              <a:rPr lang="en-US" altLang="zh-CN" sz="4000" b="1" dirty="0">
                <a:solidFill>
                  <a:srgbClr val="00B0F0"/>
                </a:solidFill>
                <a:latin typeface="+mn-lt"/>
                <a:ea typeface="+mn-ea"/>
                <a:cs typeface="+mn-ea"/>
                <a:sym typeface="+mn-lt"/>
              </a:rPr>
              <a:t>Semantic Segmentation</a:t>
            </a:r>
            <a:endParaRPr lang="zh-CN" altLang="en-US" sz="4800" b="1" dirty="0">
              <a:solidFill>
                <a:srgbClr val="00B0F0"/>
              </a:solidFill>
              <a:latin typeface="+mn-lt"/>
              <a:ea typeface="+mn-ea"/>
              <a:cs typeface="+mn-ea"/>
              <a:sym typeface="+mn-lt"/>
            </a:endParaRPr>
          </a:p>
        </p:txBody>
      </p:sp>
      <p:sp>
        <p:nvSpPr>
          <p:cNvPr id="3" name="副标题 2"/>
          <p:cNvSpPr>
            <a:spLocks noGrp="1"/>
          </p:cNvSpPr>
          <p:nvPr>
            <p:ph type="subTitle" idx="1"/>
          </p:nvPr>
        </p:nvSpPr>
        <p:spPr>
          <a:xfrm>
            <a:off x="1524000" y="4001427"/>
            <a:ext cx="9144000" cy="1655762"/>
          </a:xfrm>
        </p:spPr>
        <p:txBody>
          <a:bodyPr/>
          <a:lstStyle/>
          <a:p>
            <a:r>
              <a:rPr lang="zh-CN" altLang="en-US" dirty="0">
                <a:cs typeface="+mn-ea"/>
                <a:sym typeface="+mn-lt"/>
              </a:rPr>
              <a:t>罗志明</a:t>
            </a:r>
          </a:p>
          <a:p>
            <a:r>
              <a:rPr lang="en-US" altLang="zh-CN" dirty="0">
                <a:cs typeface="+mn-ea"/>
                <a:sym typeface="+mn-lt"/>
                <a:hlinkClick r:id="rId2"/>
              </a:rPr>
              <a:t>zhiming.luo@xmu.edu.cn</a:t>
            </a:r>
            <a:endParaRPr lang="en-US" altLang="zh-CN" dirty="0">
              <a:cs typeface="+mn-ea"/>
              <a:sym typeface="+mn-lt"/>
            </a:endParaRPr>
          </a:p>
        </p:txBody>
      </p:sp>
    </p:spTree>
    <p:extLst>
      <p:ext uri="{BB962C8B-B14F-4D97-AF65-F5344CB8AC3E}">
        <p14:creationId xmlns:p14="http://schemas.microsoft.com/office/powerpoint/2010/main" val="3678987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7F21F2-46C8-44E5-A65F-C6D6AD82A045}"/>
              </a:ext>
            </a:extLst>
          </p:cNvPr>
          <p:cNvSpPr>
            <a:spLocks noGrp="1"/>
          </p:cNvSpPr>
          <p:nvPr>
            <p:ph type="title"/>
          </p:nvPr>
        </p:nvSpPr>
        <p:spPr/>
        <p:txBody>
          <a:bodyPr/>
          <a:lstStyle/>
          <a:p>
            <a:r>
              <a:rPr lang="zh-CN" altLang="en-US" b="1" dirty="0">
                <a:latin typeface="+mn-lt"/>
                <a:ea typeface="+mn-ea"/>
                <a:cs typeface="+mn-ea"/>
                <a:sym typeface="+mn-lt"/>
              </a:rPr>
              <a:t>图像与物体分割</a:t>
            </a:r>
            <a:r>
              <a:rPr lang="zh-CN" altLang="en-US" sz="3200" b="1" dirty="0">
                <a:latin typeface="+mn-lt"/>
                <a:ea typeface="+mn-ea"/>
                <a:cs typeface="+mn-ea"/>
                <a:sym typeface="+mn-lt"/>
              </a:rPr>
              <a:t>（</a:t>
            </a:r>
            <a:r>
              <a:rPr lang="en-US" altLang="zh-CN" sz="3200" b="1" dirty="0">
                <a:latin typeface="+mn-lt"/>
                <a:ea typeface="+mn-ea"/>
                <a:cs typeface="+mn-ea"/>
                <a:sym typeface="+mn-lt"/>
              </a:rPr>
              <a:t>Image and object segmentation</a:t>
            </a:r>
            <a:r>
              <a:rPr lang="zh-CN" altLang="en-US" sz="3200" b="1" dirty="0">
                <a:latin typeface="+mn-lt"/>
                <a:ea typeface="+mn-ea"/>
                <a:cs typeface="+mn-ea"/>
                <a:sym typeface="+mn-lt"/>
              </a:rPr>
              <a:t>）</a:t>
            </a:r>
            <a:endParaRPr lang="zh-CN" altLang="en-US" dirty="0">
              <a:latin typeface="+mn-lt"/>
              <a:ea typeface="+mn-ea"/>
              <a:cs typeface="+mn-ea"/>
              <a:sym typeface="+mn-lt"/>
            </a:endParaRPr>
          </a:p>
        </p:txBody>
      </p:sp>
      <p:pic>
        <p:nvPicPr>
          <p:cNvPr id="1026" name="Picture 2" descr="grabcut_output1.jpg">
            <a:extLst>
              <a:ext uri="{FF2B5EF4-FFF2-40B4-BE49-F238E27FC236}">
                <a16:creationId xmlns:a16="http://schemas.microsoft.com/office/drawing/2014/main" id="{BB2DBDFF-D287-4CFB-A801-3758F3C45E8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06830" y="3595783"/>
            <a:ext cx="5186562" cy="2673961"/>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41690664-A3F6-48CB-9030-5F17FD3DD736}"/>
              </a:ext>
            </a:extLst>
          </p:cNvPr>
          <p:cNvPicPr>
            <a:picLocks noChangeAspect="1"/>
          </p:cNvPicPr>
          <p:nvPr/>
        </p:nvPicPr>
        <p:blipFill rotWithShape="1">
          <a:blip r:embed="rId3">
            <a:extLst>
              <a:ext uri="{28A0092B-C50C-407E-A947-70E740481C1C}">
                <a14:useLocalDpi xmlns:a14="http://schemas.microsoft.com/office/drawing/2010/main" val="0"/>
              </a:ext>
            </a:extLst>
          </a:blip>
          <a:srcRect l="11523" t="10905" r="8917" b="9803"/>
          <a:stretch/>
        </p:blipFill>
        <p:spPr>
          <a:xfrm>
            <a:off x="1707141" y="3372653"/>
            <a:ext cx="3130748" cy="3120222"/>
          </a:xfrm>
          <a:prstGeom prst="rect">
            <a:avLst/>
          </a:prstGeom>
        </p:spPr>
      </p:pic>
      <p:sp>
        <p:nvSpPr>
          <p:cNvPr id="8" name="Content Placeholder 2">
            <a:extLst>
              <a:ext uri="{FF2B5EF4-FFF2-40B4-BE49-F238E27FC236}">
                <a16:creationId xmlns:a16="http://schemas.microsoft.com/office/drawing/2014/main" id="{EC3535CF-15C0-49FA-85E4-1B78B41E32C4}"/>
              </a:ext>
            </a:extLst>
          </p:cNvPr>
          <p:cNvSpPr>
            <a:spLocks noGrp="1"/>
          </p:cNvSpPr>
          <p:nvPr>
            <p:ph idx="1"/>
          </p:nvPr>
        </p:nvSpPr>
        <p:spPr>
          <a:xfrm>
            <a:off x="838200" y="1825625"/>
            <a:ext cx="10515600" cy="4351338"/>
          </a:xfrm>
        </p:spPr>
        <p:txBody>
          <a:bodyPr/>
          <a:lstStyle/>
          <a:p>
            <a:pPr>
              <a:lnSpc>
                <a:spcPct val="150000"/>
              </a:lnSpc>
            </a:pPr>
            <a:r>
              <a:rPr lang="zh-CN" altLang="en-US" b="1" dirty="0">
                <a:cs typeface="+mn-ea"/>
                <a:sym typeface="+mn-lt"/>
              </a:rPr>
              <a:t>图像分割</a:t>
            </a:r>
            <a:endParaRPr lang="en-US" altLang="zh-CN" b="1" dirty="0">
              <a:cs typeface="+mn-ea"/>
              <a:sym typeface="+mn-lt"/>
            </a:endParaRPr>
          </a:p>
          <a:p>
            <a:pPr lvl="1">
              <a:lnSpc>
                <a:spcPct val="150000"/>
              </a:lnSpc>
            </a:pPr>
            <a:r>
              <a:rPr lang="zh-CN" altLang="en-US" dirty="0">
                <a:cs typeface="+mn-ea"/>
                <a:sym typeface="+mn-lt"/>
              </a:rPr>
              <a:t>提取物体的轮廓、识别目标前景区域</a:t>
            </a:r>
            <a:endParaRPr lang="en-US" altLang="zh-CN" dirty="0">
              <a:cs typeface="+mn-ea"/>
              <a:sym typeface="+mn-lt"/>
            </a:endParaRPr>
          </a:p>
          <a:p>
            <a:pPr lvl="1">
              <a:lnSpc>
                <a:spcPct val="150000"/>
              </a:lnSpc>
            </a:pPr>
            <a:endParaRPr lang="zh-CN" altLang="en-US" dirty="0">
              <a:cs typeface="+mn-ea"/>
              <a:sym typeface="+mn-lt"/>
            </a:endParaRPr>
          </a:p>
        </p:txBody>
      </p:sp>
    </p:spTree>
    <p:extLst>
      <p:ext uri="{BB962C8B-B14F-4D97-AF65-F5344CB8AC3E}">
        <p14:creationId xmlns:p14="http://schemas.microsoft.com/office/powerpoint/2010/main" val="35951123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E0299C-C44E-4526-B145-FC815ED1ACFA}"/>
              </a:ext>
            </a:extLst>
          </p:cNvPr>
          <p:cNvSpPr>
            <a:spLocks noGrp="1"/>
          </p:cNvSpPr>
          <p:nvPr>
            <p:ph type="title"/>
          </p:nvPr>
        </p:nvSpPr>
        <p:spPr/>
        <p:txBody>
          <a:bodyPr/>
          <a:lstStyle/>
          <a:p>
            <a:r>
              <a:rPr lang="zh-CN" altLang="en-US" b="1" dirty="0">
                <a:latin typeface="+mn-lt"/>
                <a:ea typeface="+mn-ea"/>
                <a:cs typeface="+mn-ea"/>
                <a:sym typeface="+mn-lt"/>
              </a:rPr>
              <a:t>图像与物体分割</a:t>
            </a:r>
          </a:p>
        </p:txBody>
      </p:sp>
      <p:sp>
        <p:nvSpPr>
          <p:cNvPr id="3" name="Content Placeholder 2">
            <a:extLst>
              <a:ext uri="{FF2B5EF4-FFF2-40B4-BE49-F238E27FC236}">
                <a16:creationId xmlns:a16="http://schemas.microsoft.com/office/drawing/2014/main" id="{1FD335A3-215D-4128-9E05-CD2ED8949CA7}"/>
              </a:ext>
            </a:extLst>
          </p:cNvPr>
          <p:cNvSpPr>
            <a:spLocks noGrp="1"/>
          </p:cNvSpPr>
          <p:nvPr>
            <p:ph idx="1"/>
          </p:nvPr>
        </p:nvSpPr>
        <p:spPr/>
        <p:txBody>
          <a:bodyPr/>
          <a:lstStyle/>
          <a:p>
            <a:pPr>
              <a:lnSpc>
                <a:spcPct val="120000"/>
              </a:lnSpc>
            </a:pPr>
            <a:r>
              <a:rPr lang="zh-CN" altLang="en-US" b="1" dirty="0">
                <a:cs typeface="+mn-ea"/>
                <a:sym typeface="+mn-lt"/>
              </a:rPr>
              <a:t>图像分割</a:t>
            </a:r>
            <a:endParaRPr lang="en-US" altLang="zh-CN" b="1" dirty="0">
              <a:cs typeface="+mn-ea"/>
              <a:sym typeface="+mn-lt"/>
            </a:endParaRPr>
          </a:p>
          <a:p>
            <a:pPr lvl="1">
              <a:lnSpc>
                <a:spcPct val="120000"/>
              </a:lnSpc>
            </a:pPr>
            <a:r>
              <a:rPr lang="zh-CN" altLang="en-US" dirty="0">
                <a:cs typeface="+mn-ea"/>
                <a:sym typeface="+mn-lt"/>
              </a:rPr>
              <a:t>将具有相似性质的像素组合成小的区域</a:t>
            </a:r>
            <a:r>
              <a:rPr lang="en-US" altLang="zh-CN" dirty="0">
                <a:cs typeface="+mn-ea"/>
                <a:sym typeface="+mn-lt"/>
              </a:rPr>
              <a:t> (Regions)</a:t>
            </a:r>
          </a:p>
          <a:p>
            <a:pPr lvl="1">
              <a:lnSpc>
                <a:spcPct val="120000"/>
              </a:lnSpc>
            </a:pPr>
            <a:endParaRPr lang="zh-CN" altLang="en-US" dirty="0">
              <a:cs typeface="+mn-ea"/>
              <a:sym typeface="+mn-lt"/>
            </a:endParaRPr>
          </a:p>
        </p:txBody>
      </p:sp>
      <p:pic>
        <p:nvPicPr>
          <p:cNvPr id="4" name="Picture 3">
            <a:extLst>
              <a:ext uri="{FF2B5EF4-FFF2-40B4-BE49-F238E27FC236}">
                <a16:creationId xmlns:a16="http://schemas.microsoft.com/office/drawing/2014/main" id="{5AEF3CAA-6773-4E81-B7E5-865201DC38D9}"/>
              </a:ext>
            </a:extLst>
          </p:cNvPr>
          <p:cNvPicPr>
            <a:picLocks noChangeAspect="1"/>
          </p:cNvPicPr>
          <p:nvPr/>
        </p:nvPicPr>
        <p:blipFill>
          <a:blip r:embed="rId2"/>
          <a:stretch>
            <a:fillRect/>
          </a:stretch>
        </p:blipFill>
        <p:spPr>
          <a:xfrm>
            <a:off x="1048437" y="3052763"/>
            <a:ext cx="2552700" cy="3124200"/>
          </a:xfrm>
          <a:prstGeom prst="rect">
            <a:avLst/>
          </a:prstGeom>
        </p:spPr>
      </p:pic>
      <p:pic>
        <p:nvPicPr>
          <p:cNvPr id="5" name="Picture 4">
            <a:extLst>
              <a:ext uri="{FF2B5EF4-FFF2-40B4-BE49-F238E27FC236}">
                <a16:creationId xmlns:a16="http://schemas.microsoft.com/office/drawing/2014/main" id="{F6164FD2-E582-4CA3-A759-58AC0A74AF42}"/>
              </a:ext>
            </a:extLst>
          </p:cNvPr>
          <p:cNvPicPr>
            <a:picLocks noChangeAspect="1"/>
          </p:cNvPicPr>
          <p:nvPr/>
        </p:nvPicPr>
        <p:blipFill>
          <a:blip r:embed="rId3"/>
          <a:stretch>
            <a:fillRect/>
          </a:stretch>
        </p:blipFill>
        <p:spPr>
          <a:xfrm>
            <a:off x="3979863" y="3343275"/>
            <a:ext cx="7686675" cy="2543175"/>
          </a:xfrm>
          <a:prstGeom prst="rect">
            <a:avLst/>
          </a:prstGeom>
        </p:spPr>
      </p:pic>
      <p:sp>
        <p:nvSpPr>
          <p:cNvPr id="6" name="TextBox 5">
            <a:extLst>
              <a:ext uri="{FF2B5EF4-FFF2-40B4-BE49-F238E27FC236}">
                <a16:creationId xmlns:a16="http://schemas.microsoft.com/office/drawing/2014/main" id="{A23DEB26-F6BD-4040-99CB-791E8E17D319}"/>
              </a:ext>
            </a:extLst>
          </p:cNvPr>
          <p:cNvSpPr txBox="1"/>
          <p:nvPr/>
        </p:nvSpPr>
        <p:spPr>
          <a:xfrm>
            <a:off x="4629092" y="6311900"/>
            <a:ext cx="2933816" cy="461665"/>
          </a:xfrm>
          <a:prstGeom prst="rect">
            <a:avLst/>
          </a:prstGeom>
          <a:noFill/>
        </p:spPr>
        <p:txBody>
          <a:bodyPr wrap="none" rtlCol="0">
            <a:spAutoFit/>
          </a:bodyPr>
          <a:lstStyle/>
          <a:p>
            <a:r>
              <a:rPr lang="zh-CN" altLang="en-US" sz="2400" b="1" dirty="0">
                <a:solidFill>
                  <a:srgbClr val="00B0F0"/>
                </a:solidFill>
                <a:cs typeface="+mn-ea"/>
                <a:sym typeface="+mn-lt"/>
              </a:rPr>
              <a:t>超像素 </a:t>
            </a:r>
            <a:r>
              <a:rPr lang="en-US" altLang="zh-CN" sz="2400" b="1" dirty="0">
                <a:solidFill>
                  <a:srgbClr val="00B0F0"/>
                </a:solidFill>
                <a:cs typeface="+mn-ea"/>
                <a:sym typeface="+mn-lt"/>
              </a:rPr>
              <a:t>(</a:t>
            </a:r>
            <a:r>
              <a:rPr lang="en-US" altLang="zh-CN" sz="2400" b="1" dirty="0" err="1">
                <a:solidFill>
                  <a:srgbClr val="00B0F0"/>
                </a:solidFill>
                <a:cs typeface="+mn-ea"/>
                <a:sym typeface="+mn-lt"/>
              </a:rPr>
              <a:t>Superpixels</a:t>
            </a:r>
            <a:r>
              <a:rPr lang="en-US" altLang="zh-CN" sz="2400" b="1" dirty="0">
                <a:solidFill>
                  <a:srgbClr val="00B0F0"/>
                </a:solidFill>
                <a:cs typeface="+mn-ea"/>
                <a:sym typeface="+mn-lt"/>
              </a:rPr>
              <a:t>)</a:t>
            </a:r>
            <a:endParaRPr lang="zh-CN" altLang="en-US" sz="2400" b="1" dirty="0">
              <a:solidFill>
                <a:srgbClr val="00B0F0"/>
              </a:solidFill>
              <a:cs typeface="+mn-ea"/>
              <a:sym typeface="+mn-lt"/>
            </a:endParaRPr>
          </a:p>
        </p:txBody>
      </p:sp>
    </p:spTree>
    <p:extLst>
      <p:ext uri="{BB962C8B-B14F-4D97-AF65-F5344CB8AC3E}">
        <p14:creationId xmlns:p14="http://schemas.microsoft.com/office/powerpoint/2010/main" val="37732199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E0299C-C44E-4526-B145-FC815ED1ACFA}"/>
              </a:ext>
            </a:extLst>
          </p:cNvPr>
          <p:cNvSpPr>
            <a:spLocks noGrp="1"/>
          </p:cNvSpPr>
          <p:nvPr>
            <p:ph type="title"/>
          </p:nvPr>
        </p:nvSpPr>
        <p:spPr/>
        <p:txBody>
          <a:bodyPr/>
          <a:lstStyle/>
          <a:p>
            <a:r>
              <a:rPr lang="zh-CN" altLang="en-US" b="1" dirty="0">
                <a:cs typeface="+mn-ea"/>
                <a:sym typeface="+mn-lt"/>
              </a:rPr>
              <a:t>图像与物体分割</a:t>
            </a:r>
            <a:endParaRPr lang="zh-CN" altLang="en-US" b="1" dirty="0">
              <a:latin typeface="+mn-lt"/>
              <a:ea typeface="+mn-ea"/>
              <a:cs typeface="+mn-ea"/>
              <a:sym typeface="+mn-lt"/>
            </a:endParaRPr>
          </a:p>
        </p:txBody>
      </p:sp>
      <p:sp>
        <p:nvSpPr>
          <p:cNvPr id="3" name="Content Placeholder 2">
            <a:extLst>
              <a:ext uri="{FF2B5EF4-FFF2-40B4-BE49-F238E27FC236}">
                <a16:creationId xmlns:a16="http://schemas.microsoft.com/office/drawing/2014/main" id="{1FD335A3-215D-4128-9E05-CD2ED8949CA7}"/>
              </a:ext>
            </a:extLst>
          </p:cNvPr>
          <p:cNvSpPr>
            <a:spLocks noGrp="1"/>
          </p:cNvSpPr>
          <p:nvPr>
            <p:ph idx="1"/>
          </p:nvPr>
        </p:nvSpPr>
        <p:spPr/>
        <p:txBody>
          <a:bodyPr/>
          <a:lstStyle/>
          <a:p>
            <a:pPr>
              <a:lnSpc>
                <a:spcPct val="120000"/>
              </a:lnSpc>
            </a:pPr>
            <a:r>
              <a:rPr lang="zh-CN" altLang="en-US" dirty="0">
                <a:cs typeface="+mn-ea"/>
                <a:sym typeface="+mn-lt"/>
              </a:rPr>
              <a:t>将图像识别对应的语义目标类别</a:t>
            </a:r>
            <a:endParaRPr lang="en-US" altLang="zh-CN" dirty="0">
              <a:cs typeface="+mn-ea"/>
              <a:sym typeface="+mn-lt"/>
            </a:endParaRPr>
          </a:p>
          <a:p>
            <a:pPr lvl="1">
              <a:lnSpc>
                <a:spcPct val="120000"/>
              </a:lnSpc>
            </a:pPr>
            <a:r>
              <a:rPr lang="zh-CN" altLang="en-US" b="1" dirty="0">
                <a:cs typeface="+mn-ea"/>
                <a:sym typeface="+mn-lt"/>
              </a:rPr>
              <a:t>目标层次分割：</a:t>
            </a:r>
            <a:r>
              <a:rPr lang="zh-CN" altLang="en-US" dirty="0">
                <a:cs typeface="+mn-ea"/>
                <a:sym typeface="+mn-lt"/>
              </a:rPr>
              <a:t>需要对目标进行准备的定位与识别</a:t>
            </a:r>
            <a:endParaRPr lang="en-US" altLang="zh-CN" dirty="0">
              <a:cs typeface="+mn-ea"/>
              <a:sym typeface="+mn-lt"/>
            </a:endParaRPr>
          </a:p>
          <a:p>
            <a:pPr lvl="1">
              <a:lnSpc>
                <a:spcPct val="120000"/>
              </a:lnSpc>
            </a:pPr>
            <a:endParaRPr lang="zh-CN" altLang="en-US" dirty="0">
              <a:cs typeface="+mn-ea"/>
              <a:sym typeface="+mn-lt"/>
            </a:endParaRPr>
          </a:p>
        </p:txBody>
      </p:sp>
      <p:pic>
        <p:nvPicPr>
          <p:cNvPr id="6" name="Picture 5">
            <a:extLst>
              <a:ext uri="{FF2B5EF4-FFF2-40B4-BE49-F238E27FC236}">
                <a16:creationId xmlns:a16="http://schemas.microsoft.com/office/drawing/2014/main" id="{432642C4-33F4-4466-B49D-C4ADE4E7428E}"/>
              </a:ext>
            </a:extLst>
          </p:cNvPr>
          <p:cNvPicPr>
            <a:picLocks noChangeAspect="1"/>
          </p:cNvPicPr>
          <p:nvPr/>
        </p:nvPicPr>
        <p:blipFill>
          <a:blip r:embed="rId2"/>
          <a:stretch>
            <a:fillRect/>
          </a:stretch>
        </p:blipFill>
        <p:spPr>
          <a:xfrm>
            <a:off x="3625424" y="3025884"/>
            <a:ext cx="4941151" cy="3651046"/>
          </a:xfrm>
          <a:prstGeom prst="rect">
            <a:avLst/>
          </a:prstGeom>
        </p:spPr>
      </p:pic>
    </p:spTree>
    <p:extLst>
      <p:ext uri="{BB962C8B-B14F-4D97-AF65-F5344CB8AC3E}">
        <p14:creationId xmlns:p14="http://schemas.microsoft.com/office/powerpoint/2010/main" val="2064879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05657F-CFED-4167-BD90-219A932D5B04}"/>
              </a:ext>
            </a:extLst>
          </p:cNvPr>
          <p:cNvSpPr>
            <a:spLocks noGrp="1"/>
          </p:cNvSpPr>
          <p:nvPr>
            <p:ph type="title"/>
          </p:nvPr>
        </p:nvSpPr>
        <p:spPr/>
        <p:txBody>
          <a:bodyPr/>
          <a:lstStyle/>
          <a:p>
            <a:r>
              <a:rPr lang="zh-CN" altLang="en-US" b="1" dirty="0">
                <a:latin typeface="+mn-lt"/>
                <a:ea typeface="+mn-ea"/>
                <a:cs typeface="+mn-ea"/>
                <a:sym typeface="+mn-lt"/>
              </a:rPr>
              <a:t>相关应用</a:t>
            </a:r>
          </a:p>
        </p:txBody>
      </p:sp>
      <p:pic>
        <p:nvPicPr>
          <p:cNvPr id="4" name="图片 3">
            <a:extLst>
              <a:ext uri="{FF2B5EF4-FFF2-40B4-BE49-F238E27FC236}">
                <a16:creationId xmlns:a16="http://schemas.microsoft.com/office/drawing/2014/main" id="{E5763451-9FF9-4443-B03B-80EE4874B3AF}"/>
              </a:ext>
            </a:extLst>
          </p:cNvPr>
          <p:cNvPicPr>
            <a:picLocks noChangeAspect="1"/>
          </p:cNvPicPr>
          <p:nvPr/>
        </p:nvPicPr>
        <p:blipFill>
          <a:blip r:embed="rId2"/>
          <a:stretch>
            <a:fillRect/>
          </a:stretch>
        </p:blipFill>
        <p:spPr>
          <a:xfrm>
            <a:off x="1234951" y="1557751"/>
            <a:ext cx="9556694" cy="5136560"/>
          </a:xfrm>
          <a:prstGeom prst="rect">
            <a:avLst/>
          </a:prstGeom>
        </p:spPr>
      </p:pic>
    </p:spTree>
    <p:extLst>
      <p:ext uri="{BB962C8B-B14F-4D97-AF65-F5344CB8AC3E}">
        <p14:creationId xmlns:p14="http://schemas.microsoft.com/office/powerpoint/2010/main" val="13317213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F293D1-7DF9-43DA-B3F8-1419527E0A3D}"/>
              </a:ext>
            </a:extLst>
          </p:cNvPr>
          <p:cNvSpPr>
            <a:spLocks noGrp="1"/>
          </p:cNvSpPr>
          <p:nvPr>
            <p:ph type="title"/>
          </p:nvPr>
        </p:nvSpPr>
        <p:spPr/>
        <p:txBody>
          <a:bodyPr/>
          <a:lstStyle/>
          <a:p>
            <a:r>
              <a:rPr lang="zh-CN" altLang="en-US" b="1" dirty="0">
                <a:cs typeface="+mn-ea"/>
                <a:sym typeface="+mn-lt"/>
              </a:rPr>
              <a:t>相关应用</a:t>
            </a:r>
            <a:endParaRPr lang="zh-CN" altLang="en-US" b="1" dirty="0">
              <a:latin typeface="+mn-lt"/>
              <a:ea typeface="+mn-ea"/>
              <a:cs typeface="+mn-ea"/>
              <a:sym typeface="+mn-lt"/>
            </a:endParaRPr>
          </a:p>
        </p:txBody>
      </p:sp>
      <p:pic>
        <p:nvPicPr>
          <p:cNvPr id="4" name="Picture 3">
            <a:extLst>
              <a:ext uri="{FF2B5EF4-FFF2-40B4-BE49-F238E27FC236}">
                <a16:creationId xmlns:a16="http://schemas.microsoft.com/office/drawing/2014/main" id="{A48831A4-1AAF-4BFF-90E0-57E53E908923}"/>
              </a:ext>
            </a:extLst>
          </p:cNvPr>
          <p:cNvPicPr>
            <a:picLocks noChangeAspect="1"/>
          </p:cNvPicPr>
          <p:nvPr/>
        </p:nvPicPr>
        <p:blipFill>
          <a:blip r:embed="rId2"/>
          <a:stretch>
            <a:fillRect/>
          </a:stretch>
        </p:blipFill>
        <p:spPr>
          <a:xfrm>
            <a:off x="2445283" y="1817857"/>
            <a:ext cx="7301434" cy="4675018"/>
          </a:xfrm>
          <a:prstGeom prst="rect">
            <a:avLst/>
          </a:prstGeom>
        </p:spPr>
      </p:pic>
    </p:spTree>
    <p:extLst>
      <p:ext uri="{BB962C8B-B14F-4D97-AF65-F5344CB8AC3E}">
        <p14:creationId xmlns:p14="http://schemas.microsoft.com/office/powerpoint/2010/main" val="30344083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F8A4FC-4B5F-4611-B35B-FB3509323D74}"/>
              </a:ext>
            </a:extLst>
          </p:cNvPr>
          <p:cNvSpPr>
            <a:spLocks noGrp="1"/>
          </p:cNvSpPr>
          <p:nvPr>
            <p:ph type="title"/>
          </p:nvPr>
        </p:nvSpPr>
        <p:spPr/>
        <p:txBody>
          <a:bodyPr/>
          <a:lstStyle/>
          <a:p>
            <a:r>
              <a:rPr lang="zh-CN" altLang="en-US" b="1" dirty="0"/>
              <a:t>视觉识别任务</a:t>
            </a:r>
          </a:p>
        </p:txBody>
      </p:sp>
      <p:grpSp>
        <p:nvGrpSpPr>
          <p:cNvPr id="9" name="Group 8">
            <a:extLst>
              <a:ext uri="{FF2B5EF4-FFF2-40B4-BE49-F238E27FC236}">
                <a16:creationId xmlns:a16="http://schemas.microsoft.com/office/drawing/2014/main" id="{DA1A736D-B48E-4FD6-BEA1-78D7F76A60C2}"/>
              </a:ext>
            </a:extLst>
          </p:cNvPr>
          <p:cNvGrpSpPr/>
          <p:nvPr/>
        </p:nvGrpSpPr>
        <p:grpSpPr>
          <a:xfrm>
            <a:off x="738894" y="2506499"/>
            <a:ext cx="10714211" cy="2624956"/>
            <a:chOff x="738894" y="2379751"/>
            <a:chExt cx="10714211" cy="2624956"/>
          </a:xfrm>
        </p:grpSpPr>
        <p:pic>
          <p:nvPicPr>
            <p:cNvPr id="4" name="Picture 3">
              <a:extLst>
                <a:ext uri="{FF2B5EF4-FFF2-40B4-BE49-F238E27FC236}">
                  <a16:creationId xmlns:a16="http://schemas.microsoft.com/office/drawing/2014/main" id="{293A4A65-90E9-40AF-9708-BC810BDA7DD3}"/>
                </a:ext>
              </a:extLst>
            </p:cNvPr>
            <p:cNvPicPr>
              <a:picLocks noChangeAspect="1"/>
            </p:cNvPicPr>
            <p:nvPr/>
          </p:nvPicPr>
          <p:blipFill>
            <a:blip r:embed="rId2"/>
            <a:stretch>
              <a:fillRect/>
            </a:stretch>
          </p:blipFill>
          <p:spPr>
            <a:xfrm>
              <a:off x="738894" y="2379751"/>
              <a:ext cx="10714211" cy="2255624"/>
            </a:xfrm>
            <a:prstGeom prst="rect">
              <a:avLst/>
            </a:prstGeom>
          </p:spPr>
        </p:pic>
        <p:sp>
          <p:nvSpPr>
            <p:cNvPr id="5" name="Rectangle 4">
              <a:extLst>
                <a:ext uri="{FF2B5EF4-FFF2-40B4-BE49-F238E27FC236}">
                  <a16:creationId xmlns:a16="http://schemas.microsoft.com/office/drawing/2014/main" id="{42B0AC40-D063-44D5-8F63-54BDCB107A05}"/>
                </a:ext>
              </a:extLst>
            </p:cNvPr>
            <p:cNvSpPr/>
            <p:nvPr/>
          </p:nvSpPr>
          <p:spPr>
            <a:xfrm>
              <a:off x="1315233" y="4635375"/>
              <a:ext cx="1114408" cy="369332"/>
            </a:xfrm>
            <a:prstGeom prst="rect">
              <a:avLst/>
            </a:prstGeom>
          </p:spPr>
          <p:txBody>
            <a:bodyPr wrap="none">
              <a:spAutoFit/>
            </a:bodyPr>
            <a:lstStyle/>
            <a:p>
              <a:r>
                <a:rPr lang="zh-CN" altLang="en-US" b="1" dirty="0">
                  <a:cs typeface="+mn-ea"/>
                  <a:sym typeface="+mn-lt"/>
                </a:rPr>
                <a:t>图像分类</a:t>
              </a:r>
              <a:endParaRPr lang="zh-CN" altLang="en-US" b="1" dirty="0"/>
            </a:p>
          </p:txBody>
        </p:sp>
        <p:sp>
          <p:nvSpPr>
            <p:cNvPr id="6" name="Rectangle 5">
              <a:extLst>
                <a:ext uri="{FF2B5EF4-FFF2-40B4-BE49-F238E27FC236}">
                  <a16:creationId xmlns:a16="http://schemas.microsoft.com/office/drawing/2014/main" id="{C5717DDE-D30D-4296-A765-3DF5806AC8EF}"/>
                </a:ext>
              </a:extLst>
            </p:cNvPr>
            <p:cNvSpPr/>
            <p:nvPr/>
          </p:nvSpPr>
          <p:spPr>
            <a:xfrm>
              <a:off x="3935870" y="4627535"/>
              <a:ext cx="1114408" cy="369332"/>
            </a:xfrm>
            <a:prstGeom prst="rect">
              <a:avLst/>
            </a:prstGeom>
          </p:spPr>
          <p:txBody>
            <a:bodyPr wrap="none">
              <a:spAutoFit/>
            </a:bodyPr>
            <a:lstStyle/>
            <a:p>
              <a:r>
                <a:rPr lang="zh-CN" altLang="en-US" b="1" dirty="0">
                  <a:cs typeface="+mn-ea"/>
                  <a:sym typeface="+mn-lt"/>
                </a:rPr>
                <a:t>语义分割</a:t>
              </a:r>
              <a:endParaRPr lang="zh-CN" altLang="en-US" b="1" dirty="0"/>
            </a:p>
          </p:txBody>
        </p:sp>
        <p:sp>
          <p:nvSpPr>
            <p:cNvPr id="7" name="Rectangle 6">
              <a:extLst>
                <a:ext uri="{FF2B5EF4-FFF2-40B4-BE49-F238E27FC236}">
                  <a16:creationId xmlns:a16="http://schemas.microsoft.com/office/drawing/2014/main" id="{1E627DB8-CF4B-4A54-AEBC-04B2932D51B5}"/>
                </a:ext>
              </a:extLst>
            </p:cNvPr>
            <p:cNvSpPr/>
            <p:nvPr/>
          </p:nvSpPr>
          <p:spPr>
            <a:xfrm>
              <a:off x="6886446" y="4635375"/>
              <a:ext cx="1114408" cy="369332"/>
            </a:xfrm>
            <a:prstGeom prst="rect">
              <a:avLst/>
            </a:prstGeom>
          </p:spPr>
          <p:txBody>
            <a:bodyPr wrap="none">
              <a:spAutoFit/>
            </a:bodyPr>
            <a:lstStyle/>
            <a:p>
              <a:r>
                <a:rPr lang="zh-CN" altLang="en-US" b="1" dirty="0">
                  <a:cs typeface="+mn-ea"/>
                  <a:sym typeface="+mn-lt"/>
                </a:rPr>
                <a:t>目标检测</a:t>
              </a:r>
              <a:endParaRPr lang="zh-CN" altLang="en-US" b="1" dirty="0"/>
            </a:p>
          </p:txBody>
        </p:sp>
        <p:sp>
          <p:nvSpPr>
            <p:cNvPr id="8" name="Rectangle 7">
              <a:extLst>
                <a:ext uri="{FF2B5EF4-FFF2-40B4-BE49-F238E27FC236}">
                  <a16:creationId xmlns:a16="http://schemas.microsoft.com/office/drawing/2014/main" id="{0CC8C11F-8C80-4737-AB8C-39852003372A}"/>
                </a:ext>
              </a:extLst>
            </p:cNvPr>
            <p:cNvSpPr/>
            <p:nvPr/>
          </p:nvSpPr>
          <p:spPr>
            <a:xfrm>
              <a:off x="9507083" y="4635375"/>
              <a:ext cx="1114408" cy="369332"/>
            </a:xfrm>
            <a:prstGeom prst="rect">
              <a:avLst/>
            </a:prstGeom>
          </p:spPr>
          <p:txBody>
            <a:bodyPr wrap="none">
              <a:spAutoFit/>
            </a:bodyPr>
            <a:lstStyle/>
            <a:p>
              <a:r>
                <a:rPr lang="zh-CN" altLang="en-US" b="1" dirty="0">
                  <a:cs typeface="+mn-ea"/>
                  <a:sym typeface="+mn-lt"/>
                </a:rPr>
                <a:t>实例分割</a:t>
              </a:r>
              <a:endParaRPr lang="zh-CN" altLang="en-US" b="1" dirty="0"/>
            </a:p>
          </p:txBody>
        </p:sp>
      </p:grpSp>
    </p:spTree>
    <p:extLst>
      <p:ext uri="{BB962C8B-B14F-4D97-AF65-F5344CB8AC3E}">
        <p14:creationId xmlns:p14="http://schemas.microsoft.com/office/powerpoint/2010/main" val="30401215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05657F-CFED-4167-BD90-219A932D5B04}"/>
              </a:ext>
            </a:extLst>
          </p:cNvPr>
          <p:cNvSpPr>
            <a:spLocks noGrp="1"/>
          </p:cNvSpPr>
          <p:nvPr>
            <p:ph type="title"/>
          </p:nvPr>
        </p:nvSpPr>
        <p:spPr/>
        <p:txBody>
          <a:bodyPr/>
          <a:lstStyle/>
          <a:p>
            <a:r>
              <a:rPr lang="zh-CN" altLang="en-US" b="1" dirty="0">
                <a:latin typeface="+mn-lt"/>
                <a:ea typeface="+mn-ea"/>
                <a:cs typeface="+mn-ea"/>
                <a:sym typeface="+mn-lt"/>
              </a:rPr>
              <a:t>语义分割 </a:t>
            </a:r>
            <a:r>
              <a:rPr lang="en-US" altLang="zh-CN" b="1" dirty="0">
                <a:latin typeface="+mn-lt"/>
                <a:ea typeface="+mn-ea"/>
                <a:cs typeface="+mn-ea"/>
                <a:sym typeface="+mn-lt"/>
              </a:rPr>
              <a:t>(Semantic Segmentation)</a:t>
            </a:r>
            <a:endParaRPr lang="zh-CN" altLang="en-US" b="1" dirty="0">
              <a:latin typeface="+mn-lt"/>
              <a:ea typeface="+mn-ea"/>
              <a:cs typeface="+mn-ea"/>
              <a:sym typeface="+mn-lt"/>
            </a:endParaRPr>
          </a:p>
        </p:txBody>
      </p:sp>
      <p:pic>
        <p:nvPicPr>
          <p:cNvPr id="5" name="图片 7">
            <a:extLst>
              <a:ext uri="{FF2B5EF4-FFF2-40B4-BE49-F238E27FC236}">
                <a16:creationId xmlns:a16="http://schemas.microsoft.com/office/drawing/2014/main" id="{58F9AC4D-E884-4FEA-9ACA-7CE503DC2311}"/>
              </a:ext>
            </a:extLst>
          </p:cNvPr>
          <p:cNvPicPr>
            <a:picLocks noChangeAspect="1"/>
          </p:cNvPicPr>
          <p:nvPr/>
        </p:nvPicPr>
        <p:blipFill>
          <a:blip r:embed="rId2"/>
          <a:stretch>
            <a:fillRect/>
          </a:stretch>
        </p:blipFill>
        <p:spPr>
          <a:xfrm>
            <a:off x="1073871" y="1962198"/>
            <a:ext cx="4857750" cy="3838575"/>
          </a:xfrm>
          <a:prstGeom prst="rect">
            <a:avLst/>
          </a:prstGeom>
        </p:spPr>
      </p:pic>
      <p:sp>
        <p:nvSpPr>
          <p:cNvPr id="6" name="内容占位符 2">
            <a:extLst>
              <a:ext uri="{FF2B5EF4-FFF2-40B4-BE49-F238E27FC236}">
                <a16:creationId xmlns:a16="http://schemas.microsoft.com/office/drawing/2014/main" id="{D4C36579-9DF7-462E-BA19-D065CAA8E80D}"/>
              </a:ext>
            </a:extLst>
          </p:cNvPr>
          <p:cNvSpPr>
            <a:spLocks noGrp="1"/>
          </p:cNvSpPr>
          <p:nvPr>
            <p:ph idx="1"/>
          </p:nvPr>
        </p:nvSpPr>
        <p:spPr>
          <a:xfrm>
            <a:off x="6260381" y="2482915"/>
            <a:ext cx="5383306" cy="2369857"/>
          </a:xfrm>
        </p:spPr>
        <p:txBody>
          <a:bodyPr/>
          <a:lstStyle/>
          <a:p>
            <a:r>
              <a:rPr lang="zh-CN" altLang="en-US" dirty="0">
                <a:cs typeface="+mn-ea"/>
                <a:sym typeface="+mn-lt"/>
              </a:rPr>
              <a:t>识别每一个像素的语义类别</a:t>
            </a:r>
            <a:endParaRPr lang="en-US" altLang="zh-CN" dirty="0">
              <a:cs typeface="+mn-ea"/>
              <a:sym typeface="+mn-lt"/>
            </a:endParaRPr>
          </a:p>
          <a:p>
            <a:r>
              <a:rPr lang="zh-CN" altLang="en-US" dirty="0">
                <a:cs typeface="+mn-ea"/>
                <a:sym typeface="+mn-lt"/>
              </a:rPr>
              <a:t>并不区分不同的实例</a:t>
            </a:r>
            <a:endParaRPr lang="en-US" altLang="zh-CN" dirty="0">
              <a:cs typeface="+mn-ea"/>
              <a:sym typeface="+mn-lt"/>
            </a:endParaRPr>
          </a:p>
          <a:p>
            <a:endParaRPr lang="zh-CN" altLang="en-US" dirty="0">
              <a:cs typeface="+mn-ea"/>
              <a:sym typeface="+mn-lt"/>
            </a:endParaRPr>
          </a:p>
        </p:txBody>
      </p:sp>
    </p:spTree>
    <p:extLst>
      <p:ext uri="{BB962C8B-B14F-4D97-AF65-F5344CB8AC3E}">
        <p14:creationId xmlns:p14="http://schemas.microsoft.com/office/powerpoint/2010/main" val="30270596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05657F-CFED-4167-BD90-219A932D5B04}"/>
              </a:ext>
            </a:extLst>
          </p:cNvPr>
          <p:cNvSpPr>
            <a:spLocks noGrp="1"/>
          </p:cNvSpPr>
          <p:nvPr>
            <p:ph type="title"/>
          </p:nvPr>
        </p:nvSpPr>
        <p:spPr/>
        <p:txBody>
          <a:bodyPr/>
          <a:lstStyle/>
          <a:p>
            <a:r>
              <a:rPr lang="zh-CN" altLang="en-US" b="1" dirty="0">
                <a:latin typeface="+mn-lt"/>
                <a:ea typeface="+mn-ea"/>
                <a:cs typeface="+mn-ea"/>
                <a:sym typeface="+mn-lt"/>
              </a:rPr>
              <a:t>实例分割 </a:t>
            </a:r>
            <a:r>
              <a:rPr lang="en-US" altLang="zh-CN" b="1" dirty="0">
                <a:latin typeface="+mn-lt"/>
                <a:ea typeface="+mn-ea"/>
                <a:cs typeface="+mn-ea"/>
                <a:sym typeface="+mn-lt"/>
              </a:rPr>
              <a:t>(Instance Segmentation)</a:t>
            </a:r>
            <a:endParaRPr lang="zh-CN" altLang="en-US" b="1" dirty="0">
              <a:latin typeface="+mn-lt"/>
              <a:ea typeface="+mn-ea"/>
              <a:cs typeface="+mn-ea"/>
              <a:sym typeface="+mn-lt"/>
            </a:endParaRPr>
          </a:p>
        </p:txBody>
      </p:sp>
      <p:pic>
        <p:nvPicPr>
          <p:cNvPr id="7" name="图片 2">
            <a:extLst>
              <a:ext uri="{FF2B5EF4-FFF2-40B4-BE49-F238E27FC236}">
                <a16:creationId xmlns:a16="http://schemas.microsoft.com/office/drawing/2014/main" id="{F3290888-3713-46E3-BB24-AC454356A622}"/>
              </a:ext>
            </a:extLst>
          </p:cNvPr>
          <p:cNvPicPr>
            <a:picLocks noChangeAspect="1"/>
          </p:cNvPicPr>
          <p:nvPr/>
        </p:nvPicPr>
        <p:blipFill>
          <a:blip r:embed="rId2"/>
          <a:stretch>
            <a:fillRect/>
          </a:stretch>
        </p:blipFill>
        <p:spPr>
          <a:xfrm>
            <a:off x="676275" y="1829718"/>
            <a:ext cx="5419725" cy="4133850"/>
          </a:xfrm>
          <a:prstGeom prst="rect">
            <a:avLst/>
          </a:prstGeom>
        </p:spPr>
      </p:pic>
      <p:sp>
        <p:nvSpPr>
          <p:cNvPr id="8" name="内容占位符 2">
            <a:extLst>
              <a:ext uri="{FF2B5EF4-FFF2-40B4-BE49-F238E27FC236}">
                <a16:creationId xmlns:a16="http://schemas.microsoft.com/office/drawing/2014/main" id="{ECBE9935-1F20-4FEA-9E7E-511C4F3DABA9}"/>
              </a:ext>
            </a:extLst>
          </p:cNvPr>
          <p:cNvSpPr>
            <a:spLocks noGrp="1"/>
          </p:cNvSpPr>
          <p:nvPr>
            <p:ph idx="1"/>
          </p:nvPr>
        </p:nvSpPr>
        <p:spPr>
          <a:xfrm>
            <a:off x="6416511" y="2011385"/>
            <a:ext cx="5383306" cy="3770516"/>
          </a:xfrm>
        </p:spPr>
        <p:txBody>
          <a:bodyPr>
            <a:normAutofit/>
          </a:bodyPr>
          <a:lstStyle/>
          <a:p>
            <a:r>
              <a:rPr lang="zh-CN" altLang="en-US" dirty="0">
                <a:cs typeface="+mn-ea"/>
                <a:sym typeface="+mn-lt"/>
              </a:rPr>
              <a:t>检测目标实例、分类，并识别对应的前景像素</a:t>
            </a:r>
            <a:endParaRPr lang="en-US" altLang="zh-CN" dirty="0">
              <a:cs typeface="+mn-ea"/>
              <a:sym typeface="+mn-lt"/>
            </a:endParaRPr>
          </a:p>
          <a:p>
            <a:r>
              <a:rPr lang="zh-CN" altLang="en-US" b="1" dirty="0">
                <a:cs typeface="+mn-ea"/>
                <a:sym typeface="+mn-lt"/>
              </a:rPr>
              <a:t>语义标签：</a:t>
            </a:r>
            <a:r>
              <a:rPr lang="zh-CN" altLang="en-US" dirty="0">
                <a:cs typeface="+mn-ea"/>
                <a:sym typeface="+mn-lt"/>
              </a:rPr>
              <a:t>语义类别、实例</a:t>
            </a:r>
            <a:r>
              <a:rPr lang="en-US" altLang="zh-CN" dirty="0">
                <a:cs typeface="+mn-ea"/>
                <a:sym typeface="+mn-lt"/>
              </a:rPr>
              <a:t>ID</a:t>
            </a:r>
          </a:p>
          <a:p>
            <a:r>
              <a:rPr lang="zh-CN" altLang="en-US" dirty="0">
                <a:cs typeface="+mn-ea"/>
                <a:sym typeface="+mn-lt"/>
              </a:rPr>
              <a:t>不识别背景类</a:t>
            </a:r>
          </a:p>
        </p:txBody>
      </p:sp>
    </p:spTree>
    <p:extLst>
      <p:ext uri="{BB962C8B-B14F-4D97-AF65-F5344CB8AC3E}">
        <p14:creationId xmlns:p14="http://schemas.microsoft.com/office/powerpoint/2010/main" val="12476173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0461CA-98F5-4EF2-AAE5-2E79104DCAEB}"/>
              </a:ext>
            </a:extLst>
          </p:cNvPr>
          <p:cNvSpPr>
            <a:spLocks noGrp="1"/>
          </p:cNvSpPr>
          <p:nvPr>
            <p:ph type="title"/>
          </p:nvPr>
        </p:nvSpPr>
        <p:spPr/>
        <p:txBody>
          <a:bodyPr/>
          <a:lstStyle/>
          <a:p>
            <a:r>
              <a:rPr lang="en-US" altLang="zh-CN" b="1" dirty="0">
                <a:latin typeface="+mn-lt"/>
                <a:ea typeface="+mn-ea"/>
                <a:cs typeface="+mn-ea"/>
                <a:sym typeface="+mn-lt"/>
              </a:rPr>
              <a:t>Semantic vs Instance Segmentation</a:t>
            </a:r>
            <a:endParaRPr lang="zh-CN" altLang="en-US" dirty="0">
              <a:latin typeface="+mn-lt"/>
              <a:ea typeface="+mn-ea"/>
              <a:cs typeface="+mn-ea"/>
              <a:sym typeface="+mn-lt"/>
            </a:endParaRPr>
          </a:p>
        </p:txBody>
      </p:sp>
      <p:grpSp>
        <p:nvGrpSpPr>
          <p:cNvPr id="3" name="Group 2">
            <a:extLst>
              <a:ext uri="{FF2B5EF4-FFF2-40B4-BE49-F238E27FC236}">
                <a16:creationId xmlns:a16="http://schemas.microsoft.com/office/drawing/2014/main" id="{2F41A0A6-518A-4FD7-8595-6631CC0C6E04}"/>
              </a:ext>
            </a:extLst>
          </p:cNvPr>
          <p:cNvGrpSpPr/>
          <p:nvPr/>
        </p:nvGrpSpPr>
        <p:grpSpPr>
          <a:xfrm>
            <a:off x="1682670" y="1703853"/>
            <a:ext cx="8826659" cy="4789022"/>
            <a:chOff x="1682670" y="1690688"/>
            <a:chExt cx="8826659" cy="4789022"/>
          </a:xfrm>
        </p:grpSpPr>
        <p:pic>
          <p:nvPicPr>
            <p:cNvPr id="4" name="Picture 3">
              <a:extLst>
                <a:ext uri="{FF2B5EF4-FFF2-40B4-BE49-F238E27FC236}">
                  <a16:creationId xmlns:a16="http://schemas.microsoft.com/office/drawing/2014/main" id="{FFBB4D93-74C8-46AB-BAB6-401E3BA221B0}"/>
                </a:ext>
              </a:extLst>
            </p:cNvPr>
            <p:cNvPicPr>
              <a:picLocks noChangeAspect="1"/>
            </p:cNvPicPr>
            <p:nvPr/>
          </p:nvPicPr>
          <p:blipFill>
            <a:blip r:embed="rId2"/>
            <a:stretch>
              <a:fillRect/>
            </a:stretch>
          </p:blipFill>
          <p:spPr>
            <a:xfrm>
              <a:off x="1682670" y="1690688"/>
              <a:ext cx="8826659" cy="4450468"/>
            </a:xfrm>
            <a:prstGeom prst="rect">
              <a:avLst/>
            </a:prstGeom>
          </p:spPr>
        </p:pic>
        <p:sp>
          <p:nvSpPr>
            <p:cNvPr id="5" name="TextBox 4">
              <a:extLst>
                <a:ext uri="{FF2B5EF4-FFF2-40B4-BE49-F238E27FC236}">
                  <a16:creationId xmlns:a16="http://schemas.microsoft.com/office/drawing/2014/main" id="{EADB9CDD-9489-4C76-8C94-2AD72EF1EBD5}"/>
                </a:ext>
              </a:extLst>
            </p:cNvPr>
            <p:cNvSpPr txBox="1"/>
            <p:nvPr/>
          </p:nvSpPr>
          <p:spPr>
            <a:xfrm>
              <a:off x="1980211" y="6141156"/>
              <a:ext cx="1584088" cy="338554"/>
            </a:xfrm>
            <a:prstGeom prst="rect">
              <a:avLst/>
            </a:prstGeom>
            <a:noFill/>
          </p:spPr>
          <p:txBody>
            <a:bodyPr wrap="none" rtlCol="0">
              <a:spAutoFit/>
            </a:bodyPr>
            <a:lstStyle/>
            <a:p>
              <a:r>
                <a:rPr lang="en-US" altLang="zh-CN" sz="1600" dirty="0">
                  <a:cs typeface="+mn-ea"/>
                  <a:sym typeface="+mn-lt"/>
                </a:rPr>
                <a:t>Object Detection</a:t>
              </a:r>
              <a:endParaRPr lang="zh-CN" altLang="en-US" sz="1600" dirty="0">
                <a:cs typeface="+mn-ea"/>
                <a:sym typeface="+mn-lt"/>
              </a:endParaRPr>
            </a:p>
          </p:txBody>
        </p:sp>
        <p:sp>
          <p:nvSpPr>
            <p:cNvPr id="6" name="TextBox 5">
              <a:extLst>
                <a:ext uri="{FF2B5EF4-FFF2-40B4-BE49-F238E27FC236}">
                  <a16:creationId xmlns:a16="http://schemas.microsoft.com/office/drawing/2014/main" id="{7FEE3A05-FCF5-4778-A97F-D8ED2EACA425}"/>
                </a:ext>
              </a:extLst>
            </p:cNvPr>
            <p:cNvSpPr txBox="1"/>
            <p:nvPr/>
          </p:nvSpPr>
          <p:spPr>
            <a:xfrm>
              <a:off x="3962081" y="6141156"/>
              <a:ext cx="2133918" cy="338554"/>
            </a:xfrm>
            <a:prstGeom prst="rect">
              <a:avLst/>
            </a:prstGeom>
            <a:noFill/>
          </p:spPr>
          <p:txBody>
            <a:bodyPr wrap="none" rtlCol="0">
              <a:spAutoFit/>
            </a:bodyPr>
            <a:lstStyle/>
            <a:p>
              <a:r>
                <a:rPr lang="en-US" altLang="zh-CN" sz="1600" dirty="0">
                  <a:cs typeface="+mn-ea"/>
                  <a:sym typeface="+mn-lt"/>
                </a:rPr>
                <a:t>Semantic Segmentation</a:t>
              </a:r>
              <a:endParaRPr lang="zh-CN" altLang="en-US" sz="1600" dirty="0">
                <a:cs typeface="+mn-ea"/>
                <a:sym typeface="+mn-lt"/>
              </a:endParaRPr>
            </a:p>
          </p:txBody>
        </p:sp>
        <p:sp>
          <p:nvSpPr>
            <p:cNvPr id="7" name="TextBox 6">
              <a:extLst>
                <a:ext uri="{FF2B5EF4-FFF2-40B4-BE49-F238E27FC236}">
                  <a16:creationId xmlns:a16="http://schemas.microsoft.com/office/drawing/2014/main" id="{0019BCD7-8FA5-429D-812D-487554C876A3}"/>
                </a:ext>
              </a:extLst>
            </p:cNvPr>
            <p:cNvSpPr txBox="1"/>
            <p:nvPr/>
          </p:nvSpPr>
          <p:spPr>
            <a:xfrm>
              <a:off x="6232711" y="6141156"/>
              <a:ext cx="2053767" cy="338554"/>
            </a:xfrm>
            <a:prstGeom prst="rect">
              <a:avLst/>
            </a:prstGeom>
            <a:noFill/>
          </p:spPr>
          <p:txBody>
            <a:bodyPr wrap="none" rtlCol="0">
              <a:spAutoFit/>
            </a:bodyPr>
            <a:lstStyle/>
            <a:p>
              <a:r>
                <a:rPr lang="en-US" altLang="zh-CN" sz="1600" dirty="0">
                  <a:cs typeface="+mn-ea"/>
                  <a:sym typeface="+mn-lt"/>
                </a:rPr>
                <a:t>Instance Segmentation</a:t>
              </a:r>
              <a:endParaRPr lang="zh-CN" altLang="en-US" sz="1600" dirty="0">
                <a:cs typeface="+mn-ea"/>
                <a:sym typeface="+mn-lt"/>
              </a:endParaRPr>
            </a:p>
          </p:txBody>
        </p:sp>
        <p:sp>
          <p:nvSpPr>
            <p:cNvPr id="8" name="TextBox 7">
              <a:extLst>
                <a:ext uri="{FF2B5EF4-FFF2-40B4-BE49-F238E27FC236}">
                  <a16:creationId xmlns:a16="http://schemas.microsoft.com/office/drawing/2014/main" id="{0D2D0686-BAA9-4D7B-93AF-B92166F8C537}"/>
                </a:ext>
              </a:extLst>
            </p:cNvPr>
            <p:cNvSpPr txBox="1"/>
            <p:nvPr/>
          </p:nvSpPr>
          <p:spPr>
            <a:xfrm>
              <a:off x="8764411" y="6141156"/>
              <a:ext cx="1252266" cy="338554"/>
            </a:xfrm>
            <a:prstGeom prst="rect">
              <a:avLst/>
            </a:prstGeom>
            <a:noFill/>
          </p:spPr>
          <p:txBody>
            <a:bodyPr wrap="none" rtlCol="0">
              <a:spAutoFit/>
            </a:bodyPr>
            <a:lstStyle/>
            <a:p>
              <a:r>
                <a:rPr lang="en-US" altLang="zh-CN" sz="1600" dirty="0">
                  <a:cs typeface="+mn-ea"/>
                  <a:sym typeface="+mn-lt"/>
                </a:rPr>
                <a:t>Ground truth</a:t>
              </a:r>
              <a:endParaRPr lang="zh-CN" altLang="en-US" sz="1600" dirty="0">
                <a:cs typeface="+mn-ea"/>
                <a:sym typeface="+mn-lt"/>
              </a:endParaRPr>
            </a:p>
          </p:txBody>
        </p:sp>
      </p:grpSp>
    </p:spTree>
    <p:extLst>
      <p:ext uri="{BB962C8B-B14F-4D97-AF65-F5344CB8AC3E}">
        <p14:creationId xmlns:p14="http://schemas.microsoft.com/office/powerpoint/2010/main" val="4489167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496D44-087B-41C0-A58D-14D8A4924801}"/>
              </a:ext>
            </a:extLst>
          </p:cNvPr>
          <p:cNvSpPr>
            <a:spLocks noGrp="1"/>
          </p:cNvSpPr>
          <p:nvPr>
            <p:ph type="title"/>
          </p:nvPr>
        </p:nvSpPr>
        <p:spPr/>
        <p:txBody>
          <a:bodyPr/>
          <a:lstStyle/>
          <a:p>
            <a:r>
              <a:rPr lang="zh-CN" altLang="en-US" b="1" dirty="0">
                <a:latin typeface="+mn-lt"/>
                <a:ea typeface="+mn-ea"/>
                <a:cs typeface="+mn-ea"/>
                <a:sym typeface="+mn-lt"/>
              </a:rPr>
              <a:t>全局分割 </a:t>
            </a:r>
            <a:r>
              <a:rPr lang="en-US" altLang="zh-CN" b="1" dirty="0">
                <a:latin typeface="+mn-lt"/>
                <a:ea typeface="+mn-ea"/>
                <a:cs typeface="+mn-ea"/>
                <a:sym typeface="+mn-lt"/>
              </a:rPr>
              <a:t>(Panoptic Segmentation)</a:t>
            </a:r>
            <a:endParaRPr lang="zh-CN" altLang="en-US" b="1" dirty="0">
              <a:latin typeface="+mn-lt"/>
              <a:ea typeface="+mn-ea"/>
              <a:cs typeface="+mn-ea"/>
              <a:sym typeface="+mn-lt"/>
            </a:endParaRPr>
          </a:p>
        </p:txBody>
      </p:sp>
      <p:sp>
        <p:nvSpPr>
          <p:cNvPr id="3" name="Content Placeholder 2">
            <a:extLst>
              <a:ext uri="{FF2B5EF4-FFF2-40B4-BE49-F238E27FC236}">
                <a16:creationId xmlns:a16="http://schemas.microsoft.com/office/drawing/2014/main" id="{FE0CCCDC-C037-4762-BD5A-62C0C6A6A0F0}"/>
              </a:ext>
            </a:extLst>
          </p:cNvPr>
          <p:cNvSpPr>
            <a:spLocks noGrp="1"/>
          </p:cNvSpPr>
          <p:nvPr>
            <p:ph idx="1"/>
          </p:nvPr>
        </p:nvSpPr>
        <p:spPr>
          <a:xfrm>
            <a:off x="6355975" y="1825625"/>
            <a:ext cx="5342965" cy="4351338"/>
          </a:xfrm>
        </p:spPr>
        <p:txBody>
          <a:bodyPr/>
          <a:lstStyle/>
          <a:p>
            <a:pPr>
              <a:lnSpc>
                <a:spcPct val="150000"/>
              </a:lnSpc>
            </a:pPr>
            <a:r>
              <a:rPr lang="zh-CN" altLang="en-US" b="1" dirty="0">
                <a:solidFill>
                  <a:srgbClr val="00B0F0"/>
                </a:solidFill>
                <a:cs typeface="+mn-ea"/>
                <a:sym typeface="+mn-lt"/>
              </a:rPr>
              <a:t>语义分割</a:t>
            </a:r>
            <a:r>
              <a:rPr lang="zh-CN" altLang="en-US" dirty="0">
                <a:cs typeface="+mn-ea"/>
                <a:sym typeface="+mn-lt"/>
              </a:rPr>
              <a:t>与</a:t>
            </a:r>
            <a:r>
              <a:rPr lang="zh-CN" altLang="en-US" b="1" dirty="0">
                <a:solidFill>
                  <a:srgbClr val="7030A0"/>
                </a:solidFill>
                <a:cs typeface="+mn-ea"/>
                <a:sym typeface="+mn-lt"/>
              </a:rPr>
              <a:t>实例分割</a:t>
            </a:r>
            <a:r>
              <a:rPr lang="zh-CN" altLang="en-US" dirty="0">
                <a:cs typeface="+mn-ea"/>
                <a:sym typeface="+mn-lt"/>
              </a:rPr>
              <a:t>的融合</a:t>
            </a:r>
            <a:r>
              <a:rPr lang="en-US" altLang="zh-CN" dirty="0">
                <a:cs typeface="+mn-ea"/>
                <a:sym typeface="+mn-lt"/>
              </a:rPr>
              <a:t> </a:t>
            </a:r>
          </a:p>
          <a:p>
            <a:pPr>
              <a:lnSpc>
                <a:spcPct val="150000"/>
              </a:lnSpc>
            </a:pPr>
            <a:r>
              <a:rPr lang="en-US" altLang="zh-CN" dirty="0">
                <a:solidFill>
                  <a:srgbClr val="0070C0"/>
                </a:solidFill>
                <a:cs typeface="+mn-ea"/>
                <a:sym typeface="+mn-lt"/>
              </a:rPr>
              <a:t>Stuff</a:t>
            </a:r>
            <a:r>
              <a:rPr lang="en-US" altLang="zh-CN" dirty="0">
                <a:cs typeface="+mn-ea"/>
                <a:sym typeface="+mn-lt"/>
              </a:rPr>
              <a:t> </a:t>
            </a:r>
            <a:r>
              <a:rPr lang="zh-CN" altLang="en-US" dirty="0">
                <a:cs typeface="+mn-ea"/>
                <a:sym typeface="+mn-lt"/>
              </a:rPr>
              <a:t>、</a:t>
            </a:r>
            <a:r>
              <a:rPr lang="en-US" altLang="zh-CN" dirty="0">
                <a:solidFill>
                  <a:srgbClr val="FF0000"/>
                </a:solidFill>
                <a:cs typeface="+mn-ea"/>
                <a:sym typeface="+mn-lt"/>
              </a:rPr>
              <a:t>Thing</a:t>
            </a:r>
            <a:r>
              <a:rPr lang="zh-CN" altLang="en-US" dirty="0">
                <a:solidFill>
                  <a:srgbClr val="FF0000"/>
                </a:solidFill>
                <a:cs typeface="+mn-ea"/>
                <a:sym typeface="+mn-lt"/>
              </a:rPr>
              <a:t>类别</a:t>
            </a:r>
            <a:endParaRPr lang="en-US" altLang="zh-CN" dirty="0">
              <a:cs typeface="+mn-ea"/>
              <a:sym typeface="+mn-lt"/>
            </a:endParaRPr>
          </a:p>
          <a:p>
            <a:pPr lvl="1">
              <a:lnSpc>
                <a:spcPct val="150000"/>
              </a:lnSpc>
            </a:pPr>
            <a:r>
              <a:rPr lang="en-US" altLang="zh-CN" dirty="0">
                <a:solidFill>
                  <a:srgbClr val="0070C0"/>
                </a:solidFill>
                <a:cs typeface="+mn-ea"/>
                <a:sym typeface="+mn-lt"/>
              </a:rPr>
              <a:t>Stuff: </a:t>
            </a:r>
            <a:r>
              <a:rPr lang="en-US" altLang="zh-CN" dirty="0">
                <a:cs typeface="+mn-ea"/>
                <a:sym typeface="+mn-lt"/>
              </a:rPr>
              <a:t>sky, road, …</a:t>
            </a:r>
          </a:p>
          <a:p>
            <a:pPr lvl="1">
              <a:lnSpc>
                <a:spcPct val="150000"/>
              </a:lnSpc>
            </a:pPr>
            <a:r>
              <a:rPr lang="en-US" altLang="zh-CN" dirty="0">
                <a:solidFill>
                  <a:srgbClr val="FF0000"/>
                </a:solidFill>
                <a:cs typeface="+mn-ea"/>
                <a:sym typeface="+mn-lt"/>
              </a:rPr>
              <a:t>Thing: </a:t>
            </a:r>
            <a:r>
              <a:rPr lang="en-US" altLang="zh-CN" dirty="0">
                <a:cs typeface="+mn-ea"/>
                <a:sym typeface="+mn-lt"/>
              </a:rPr>
              <a:t>pedestrian, vehicle, …</a:t>
            </a:r>
            <a:endParaRPr lang="zh-CN" altLang="en-US" dirty="0">
              <a:cs typeface="+mn-ea"/>
              <a:sym typeface="+mn-lt"/>
            </a:endParaRPr>
          </a:p>
        </p:txBody>
      </p:sp>
      <p:pic>
        <p:nvPicPr>
          <p:cNvPr id="4" name="Picture 3">
            <a:extLst>
              <a:ext uri="{FF2B5EF4-FFF2-40B4-BE49-F238E27FC236}">
                <a16:creationId xmlns:a16="http://schemas.microsoft.com/office/drawing/2014/main" id="{A4948586-C7B1-4A10-91E8-AF7CEC226E96}"/>
              </a:ext>
            </a:extLst>
          </p:cNvPr>
          <p:cNvPicPr>
            <a:picLocks noChangeAspect="1"/>
          </p:cNvPicPr>
          <p:nvPr/>
        </p:nvPicPr>
        <p:blipFill>
          <a:blip r:embed="rId3"/>
          <a:stretch>
            <a:fillRect/>
          </a:stretch>
        </p:blipFill>
        <p:spPr>
          <a:xfrm>
            <a:off x="493059" y="1985874"/>
            <a:ext cx="5602941" cy="4030839"/>
          </a:xfrm>
          <a:prstGeom prst="rect">
            <a:avLst/>
          </a:prstGeom>
        </p:spPr>
      </p:pic>
      <p:sp>
        <p:nvSpPr>
          <p:cNvPr id="5" name="TextBox 4">
            <a:extLst>
              <a:ext uri="{FF2B5EF4-FFF2-40B4-BE49-F238E27FC236}">
                <a16:creationId xmlns:a16="http://schemas.microsoft.com/office/drawing/2014/main" id="{FE8D1596-117F-42A2-B051-361E2D532199}"/>
              </a:ext>
            </a:extLst>
          </p:cNvPr>
          <p:cNvSpPr txBox="1"/>
          <p:nvPr/>
        </p:nvSpPr>
        <p:spPr>
          <a:xfrm>
            <a:off x="8147303" y="6552651"/>
            <a:ext cx="4044697" cy="307777"/>
          </a:xfrm>
          <a:prstGeom prst="rect">
            <a:avLst/>
          </a:prstGeom>
          <a:noFill/>
        </p:spPr>
        <p:txBody>
          <a:bodyPr wrap="none" rtlCol="0">
            <a:spAutoFit/>
          </a:bodyPr>
          <a:lstStyle/>
          <a:p>
            <a:r>
              <a:rPr lang="en-US" altLang="zh-CN" sz="1400" dirty="0">
                <a:cs typeface="+mn-ea"/>
                <a:sym typeface="+mn-lt"/>
              </a:rPr>
              <a:t>Kirillov, et al. </a:t>
            </a:r>
            <a:r>
              <a:rPr lang="en-US" altLang="zh-CN" sz="1400" b="1" dirty="0">
                <a:cs typeface="+mn-ea"/>
                <a:sym typeface="+mn-lt"/>
              </a:rPr>
              <a:t>Panoptic Segmentation</a:t>
            </a:r>
            <a:r>
              <a:rPr lang="en-US" altLang="zh-CN" sz="1400" dirty="0">
                <a:cs typeface="+mn-ea"/>
                <a:sym typeface="+mn-lt"/>
              </a:rPr>
              <a:t>, </a:t>
            </a:r>
            <a:r>
              <a:rPr lang="en-US" altLang="zh-CN" sz="1400" i="1" dirty="0">
                <a:cs typeface="+mn-ea"/>
                <a:sym typeface="+mn-lt"/>
              </a:rPr>
              <a:t>CVPR</a:t>
            </a:r>
            <a:r>
              <a:rPr lang="en-US" altLang="zh-CN" sz="1400" dirty="0">
                <a:cs typeface="+mn-ea"/>
                <a:sym typeface="+mn-lt"/>
              </a:rPr>
              <a:t> </a:t>
            </a:r>
            <a:r>
              <a:rPr lang="en-US" altLang="zh-CN" sz="1400" i="1" dirty="0">
                <a:cs typeface="+mn-ea"/>
                <a:sym typeface="+mn-lt"/>
              </a:rPr>
              <a:t>2019</a:t>
            </a:r>
            <a:endParaRPr lang="zh-CN" altLang="en-US" sz="1400" i="1" dirty="0">
              <a:cs typeface="+mn-ea"/>
              <a:sym typeface="+mn-lt"/>
            </a:endParaRPr>
          </a:p>
        </p:txBody>
      </p:sp>
    </p:spTree>
    <p:extLst>
      <p:ext uri="{BB962C8B-B14F-4D97-AF65-F5344CB8AC3E}">
        <p14:creationId xmlns:p14="http://schemas.microsoft.com/office/powerpoint/2010/main" val="38565684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080FB8-AD38-47F3-94F0-381075844453}"/>
              </a:ext>
            </a:extLst>
          </p:cNvPr>
          <p:cNvSpPr>
            <a:spLocks noGrp="1"/>
          </p:cNvSpPr>
          <p:nvPr>
            <p:ph type="title"/>
          </p:nvPr>
        </p:nvSpPr>
        <p:spPr/>
        <p:txBody>
          <a:bodyPr/>
          <a:lstStyle/>
          <a:p>
            <a:r>
              <a:rPr lang="en-US" altLang="zh-CN" b="1" dirty="0">
                <a:latin typeface="+mn-lt"/>
                <a:ea typeface="+mn-ea"/>
                <a:cs typeface="+mn-ea"/>
                <a:sym typeface="+mn-lt"/>
              </a:rPr>
              <a:t>Datasets</a:t>
            </a:r>
            <a:endParaRPr lang="zh-CN" altLang="en-US" b="1" dirty="0">
              <a:latin typeface="+mn-lt"/>
              <a:ea typeface="+mn-ea"/>
              <a:cs typeface="+mn-ea"/>
              <a:sym typeface="+mn-lt"/>
            </a:endParaRPr>
          </a:p>
        </p:txBody>
      </p:sp>
      <p:pic>
        <p:nvPicPr>
          <p:cNvPr id="4" name="图片 5">
            <a:extLst>
              <a:ext uri="{FF2B5EF4-FFF2-40B4-BE49-F238E27FC236}">
                <a16:creationId xmlns:a16="http://schemas.microsoft.com/office/drawing/2014/main" id="{71EC5F7E-3058-4AC1-BEA8-37EA966669F2}"/>
              </a:ext>
            </a:extLst>
          </p:cNvPr>
          <p:cNvPicPr>
            <a:picLocks noChangeAspect="1"/>
          </p:cNvPicPr>
          <p:nvPr/>
        </p:nvPicPr>
        <p:blipFill>
          <a:blip r:embed="rId2"/>
          <a:stretch>
            <a:fillRect/>
          </a:stretch>
        </p:blipFill>
        <p:spPr>
          <a:xfrm>
            <a:off x="1136149" y="1663243"/>
            <a:ext cx="4147298" cy="4829632"/>
          </a:xfrm>
          <a:prstGeom prst="rect">
            <a:avLst/>
          </a:prstGeom>
        </p:spPr>
      </p:pic>
      <p:pic>
        <p:nvPicPr>
          <p:cNvPr id="5" name="图片 6">
            <a:extLst>
              <a:ext uri="{FF2B5EF4-FFF2-40B4-BE49-F238E27FC236}">
                <a16:creationId xmlns:a16="http://schemas.microsoft.com/office/drawing/2014/main" id="{0A02F08F-740D-42F2-9B25-E24FD890EA11}"/>
              </a:ext>
            </a:extLst>
          </p:cNvPr>
          <p:cNvPicPr>
            <a:picLocks noChangeAspect="1"/>
          </p:cNvPicPr>
          <p:nvPr/>
        </p:nvPicPr>
        <p:blipFill>
          <a:blip r:embed="rId3"/>
          <a:stretch>
            <a:fillRect/>
          </a:stretch>
        </p:blipFill>
        <p:spPr>
          <a:xfrm>
            <a:off x="6269972" y="1663243"/>
            <a:ext cx="5174167" cy="5029367"/>
          </a:xfrm>
          <a:prstGeom prst="rect">
            <a:avLst/>
          </a:prstGeom>
        </p:spPr>
      </p:pic>
    </p:spTree>
    <p:extLst>
      <p:ext uri="{BB962C8B-B14F-4D97-AF65-F5344CB8AC3E}">
        <p14:creationId xmlns:p14="http://schemas.microsoft.com/office/powerpoint/2010/main" val="10330228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080FB8-AD38-47F3-94F0-381075844453}"/>
              </a:ext>
            </a:extLst>
          </p:cNvPr>
          <p:cNvSpPr>
            <a:spLocks noGrp="1"/>
          </p:cNvSpPr>
          <p:nvPr>
            <p:ph type="title"/>
          </p:nvPr>
        </p:nvSpPr>
        <p:spPr/>
        <p:txBody>
          <a:bodyPr/>
          <a:lstStyle/>
          <a:p>
            <a:r>
              <a:rPr lang="en-US" altLang="zh-CN" b="1" dirty="0">
                <a:latin typeface="+mn-lt"/>
                <a:ea typeface="+mn-ea"/>
                <a:cs typeface="+mn-ea"/>
                <a:sym typeface="+mn-lt"/>
              </a:rPr>
              <a:t>Datasets</a:t>
            </a:r>
            <a:endParaRPr lang="zh-CN" altLang="en-US" b="1" dirty="0">
              <a:latin typeface="+mn-lt"/>
              <a:ea typeface="+mn-ea"/>
              <a:cs typeface="+mn-ea"/>
              <a:sym typeface="+mn-lt"/>
            </a:endParaRPr>
          </a:p>
        </p:txBody>
      </p:sp>
      <p:pic>
        <p:nvPicPr>
          <p:cNvPr id="3" name="Picture 2">
            <a:extLst>
              <a:ext uri="{FF2B5EF4-FFF2-40B4-BE49-F238E27FC236}">
                <a16:creationId xmlns:a16="http://schemas.microsoft.com/office/drawing/2014/main" id="{13080C98-0957-421F-A0E7-5EC95D85C00D}"/>
              </a:ext>
            </a:extLst>
          </p:cNvPr>
          <p:cNvPicPr>
            <a:picLocks noChangeAspect="1"/>
          </p:cNvPicPr>
          <p:nvPr/>
        </p:nvPicPr>
        <p:blipFill>
          <a:blip r:embed="rId2"/>
          <a:stretch>
            <a:fillRect/>
          </a:stretch>
        </p:blipFill>
        <p:spPr>
          <a:xfrm>
            <a:off x="1151982" y="1606935"/>
            <a:ext cx="4338577" cy="5066906"/>
          </a:xfrm>
          <a:prstGeom prst="rect">
            <a:avLst/>
          </a:prstGeom>
        </p:spPr>
      </p:pic>
      <p:pic>
        <p:nvPicPr>
          <p:cNvPr id="7" name="Picture 6">
            <a:extLst>
              <a:ext uri="{FF2B5EF4-FFF2-40B4-BE49-F238E27FC236}">
                <a16:creationId xmlns:a16="http://schemas.microsoft.com/office/drawing/2014/main" id="{7DFFC612-5BF7-43EB-8D73-7EAF64A1ED80}"/>
              </a:ext>
            </a:extLst>
          </p:cNvPr>
          <p:cNvPicPr>
            <a:picLocks noChangeAspect="1"/>
          </p:cNvPicPr>
          <p:nvPr/>
        </p:nvPicPr>
        <p:blipFill>
          <a:blip r:embed="rId3"/>
          <a:stretch>
            <a:fillRect/>
          </a:stretch>
        </p:blipFill>
        <p:spPr>
          <a:xfrm>
            <a:off x="6701442" y="1606935"/>
            <a:ext cx="4054104" cy="5234412"/>
          </a:xfrm>
          <a:prstGeom prst="rect">
            <a:avLst/>
          </a:prstGeom>
        </p:spPr>
      </p:pic>
    </p:spTree>
    <p:extLst>
      <p:ext uri="{BB962C8B-B14F-4D97-AF65-F5344CB8AC3E}">
        <p14:creationId xmlns:p14="http://schemas.microsoft.com/office/powerpoint/2010/main" val="37239865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1974CF-E28C-48BA-B1FE-6EF3F62C5DF7}"/>
              </a:ext>
            </a:extLst>
          </p:cNvPr>
          <p:cNvSpPr>
            <a:spLocks noGrp="1"/>
          </p:cNvSpPr>
          <p:nvPr>
            <p:ph type="title"/>
          </p:nvPr>
        </p:nvSpPr>
        <p:spPr/>
        <p:txBody>
          <a:bodyPr/>
          <a:lstStyle/>
          <a:p>
            <a:r>
              <a:rPr lang="zh-CN" altLang="en-US" b="1" dirty="0"/>
              <a:t>图像分割的方法</a:t>
            </a:r>
          </a:p>
        </p:txBody>
      </p:sp>
      <p:grpSp>
        <p:nvGrpSpPr>
          <p:cNvPr id="4" name="Group 3">
            <a:extLst>
              <a:ext uri="{FF2B5EF4-FFF2-40B4-BE49-F238E27FC236}">
                <a16:creationId xmlns:a16="http://schemas.microsoft.com/office/drawing/2014/main" id="{B04027BE-E07A-48DA-849B-FFA9E4CBA708}"/>
              </a:ext>
            </a:extLst>
          </p:cNvPr>
          <p:cNvGrpSpPr/>
          <p:nvPr/>
        </p:nvGrpSpPr>
        <p:grpSpPr>
          <a:xfrm>
            <a:off x="917428" y="1972235"/>
            <a:ext cx="4710190" cy="3987797"/>
            <a:chOff x="917428" y="1972235"/>
            <a:chExt cx="4710190" cy="3987797"/>
          </a:xfrm>
        </p:grpSpPr>
        <p:pic>
          <p:nvPicPr>
            <p:cNvPr id="5" name="图片 8">
              <a:extLst>
                <a:ext uri="{FF2B5EF4-FFF2-40B4-BE49-F238E27FC236}">
                  <a16:creationId xmlns:a16="http://schemas.microsoft.com/office/drawing/2014/main" id="{3176A043-529D-42C2-8CED-B54634304241}"/>
                </a:ext>
              </a:extLst>
            </p:cNvPr>
            <p:cNvPicPr>
              <a:picLocks noChangeAspect="1"/>
            </p:cNvPicPr>
            <p:nvPr/>
          </p:nvPicPr>
          <p:blipFill>
            <a:blip r:embed="rId2"/>
            <a:stretch>
              <a:fillRect/>
            </a:stretch>
          </p:blipFill>
          <p:spPr>
            <a:xfrm>
              <a:off x="917428" y="1972235"/>
              <a:ext cx="4710190" cy="3987797"/>
            </a:xfrm>
            <a:prstGeom prst="rect">
              <a:avLst/>
            </a:prstGeom>
          </p:spPr>
        </p:pic>
        <p:sp>
          <p:nvSpPr>
            <p:cNvPr id="6" name="椭圆 7">
              <a:extLst>
                <a:ext uri="{FF2B5EF4-FFF2-40B4-BE49-F238E27FC236}">
                  <a16:creationId xmlns:a16="http://schemas.microsoft.com/office/drawing/2014/main" id="{40600E77-B84C-409C-90CC-CA3B0A73AB17}"/>
                </a:ext>
              </a:extLst>
            </p:cNvPr>
            <p:cNvSpPr/>
            <p:nvPr/>
          </p:nvSpPr>
          <p:spPr>
            <a:xfrm>
              <a:off x="1273392" y="2528047"/>
              <a:ext cx="1254654" cy="1066800"/>
            </a:xfrm>
            <a:prstGeom prst="ellipse">
              <a:avLst/>
            </a:prstGeom>
            <a:noFill/>
            <a:ln w="7620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zh-CN" altLang="en-US">
                <a:cs typeface="+mn-ea"/>
                <a:sym typeface="+mn-lt"/>
              </a:endParaRPr>
            </a:p>
          </p:txBody>
        </p:sp>
      </p:grpSp>
      <p:pic>
        <p:nvPicPr>
          <p:cNvPr id="7" name="Picture 2" descr="otsu.jpg">
            <a:extLst>
              <a:ext uri="{FF2B5EF4-FFF2-40B4-BE49-F238E27FC236}">
                <a16:creationId xmlns:a16="http://schemas.microsoft.com/office/drawing/2014/main" id="{32E75F2D-1CA2-4774-B064-D518E693F37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88322" y="2442133"/>
            <a:ext cx="4286250" cy="304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482138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a:latin typeface="+mn-lt"/>
                <a:ea typeface="+mn-ea"/>
                <a:cs typeface="+mn-ea"/>
                <a:sym typeface="+mn-lt"/>
              </a:rPr>
              <a:t>语义分割</a:t>
            </a:r>
          </a:p>
        </p:txBody>
      </p:sp>
      <p:sp>
        <p:nvSpPr>
          <p:cNvPr id="3" name="内容占位符 2"/>
          <p:cNvSpPr>
            <a:spLocks noGrp="1"/>
          </p:cNvSpPr>
          <p:nvPr>
            <p:ph idx="1"/>
          </p:nvPr>
        </p:nvSpPr>
        <p:spPr/>
        <p:txBody>
          <a:bodyPr>
            <a:normAutofit/>
          </a:bodyPr>
          <a:lstStyle/>
          <a:p>
            <a:pPr>
              <a:lnSpc>
                <a:spcPct val="150000"/>
              </a:lnSpc>
            </a:pPr>
            <a:r>
              <a:rPr lang="zh-CN" altLang="en-US" b="1" dirty="0">
                <a:cs typeface="+mn-ea"/>
                <a:sym typeface="+mn-lt"/>
              </a:rPr>
              <a:t>评价指标</a:t>
            </a:r>
            <a:endParaRPr lang="en-US" altLang="zh-CN" b="1" dirty="0">
              <a:cs typeface="+mn-ea"/>
              <a:sym typeface="+mn-lt"/>
            </a:endParaRPr>
          </a:p>
          <a:p>
            <a:pPr>
              <a:lnSpc>
                <a:spcPct val="150000"/>
              </a:lnSpc>
            </a:pPr>
            <a:r>
              <a:rPr lang="zh-CN" altLang="en-US" b="1" dirty="0">
                <a:cs typeface="+mn-ea"/>
                <a:sym typeface="+mn-lt"/>
              </a:rPr>
              <a:t>损失函数</a:t>
            </a:r>
            <a:endParaRPr lang="en-US" altLang="zh-CN" b="1" dirty="0">
              <a:cs typeface="+mn-ea"/>
              <a:sym typeface="+mn-lt"/>
            </a:endParaRPr>
          </a:p>
          <a:p>
            <a:pPr>
              <a:lnSpc>
                <a:spcPct val="150000"/>
              </a:lnSpc>
            </a:pPr>
            <a:r>
              <a:rPr lang="zh-CN" altLang="en-US" b="1" dirty="0">
                <a:cs typeface="+mn-ea"/>
                <a:sym typeface="+mn-lt"/>
              </a:rPr>
              <a:t>代表性模型</a:t>
            </a:r>
            <a:endParaRPr lang="en-US" altLang="zh-CN" b="1" dirty="0">
              <a:cs typeface="+mn-ea"/>
              <a:sym typeface="+mn-lt"/>
            </a:endParaRPr>
          </a:p>
        </p:txBody>
      </p:sp>
      <p:pic>
        <p:nvPicPr>
          <p:cNvPr id="4" name="图片 7">
            <a:extLst>
              <a:ext uri="{FF2B5EF4-FFF2-40B4-BE49-F238E27FC236}">
                <a16:creationId xmlns:a16="http://schemas.microsoft.com/office/drawing/2014/main" id="{3EE4E337-B18C-4997-B45A-951F827B4F2F}"/>
              </a:ext>
            </a:extLst>
          </p:cNvPr>
          <p:cNvPicPr>
            <a:picLocks noChangeAspect="1"/>
          </p:cNvPicPr>
          <p:nvPr/>
        </p:nvPicPr>
        <p:blipFill>
          <a:blip r:embed="rId2"/>
          <a:stretch>
            <a:fillRect/>
          </a:stretch>
        </p:blipFill>
        <p:spPr>
          <a:xfrm>
            <a:off x="6324600" y="1438275"/>
            <a:ext cx="4857750" cy="3838575"/>
          </a:xfrm>
          <a:prstGeom prst="rect">
            <a:avLst/>
          </a:prstGeom>
        </p:spPr>
      </p:pic>
    </p:spTree>
    <p:extLst>
      <p:ext uri="{BB962C8B-B14F-4D97-AF65-F5344CB8AC3E}">
        <p14:creationId xmlns:p14="http://schemas.microsoft.com/office/powerpoint/2010/main" val="12381641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12549F-1D06-4F18-BFB7-C4FB12D33CD1}"/>
              </a:ext>
            </a:extLst>
          </p:cNvPr>
          <p:cNvSpPr>
            <a:spLocks noGrp="1"/>
          </p:cNvSpPr>
          <p:nvPr>
            <p:ph type="title"/>
          </p:nvPr>
        </p:nvSpPr>
        <p:spPr/>
        <p:txBody>
          <a:bodyPr/>
          <a:lstStyle/>
          <a:p>
            <a:r>
              <a:rPr lang="zh-CN" altLang="en-US" b="1" dirty="0">
                <a:cs typeface="+mn-ea"/>
                <a:sym typeface="+mn-lt"/>
              </a:rPr>
              <a:t>语义分割：</a:t>
            </a:r>
            <a:r>
              <a:rPr lang="zh-CN" altLang="en-US" b="1" dirty="0">
                <a:solidFill>
                  <a:srgbClr val="00B0F0"/>
                </a:solidFill>
                <a:cs typeface="+mn-ea"/>
                <a:sym typeface="+mn-lt"/>
              </a:rPr>
              <a:t>问题定义</a:t>
            </a:r>
            <a:endParaRPr lang="zh-CN" altLang="en-US" dirty="0">
              <a:solidFill>
                <a:srgbClr val="00B0F0"/>
              </a:solidFill>
            </a:endParaRPr>
          </a:p>
        </p:txBody>
      </p:sp>
      <p:pic>
        <p:nvPicPr>
          <p:cNvPr id="4" name="Picture 3">
            <a:extLst>
              <a:ext uri="{FF2B5EF4-FFF2-40B4-BE49-F238E27FC236}">
                <a16:creationId xmlns:a16="http://schemas.microsoft.com/office/drawing/2014/main" id="{A9D71E0D-87ED-4B28-9F35-78C3CAFA2FAA}"/>
              </a:ext>
            </a:extLst>
          </p:cNvPr>
          <p:cNvPicPr>
            <a:picLocks noChangeAspect="1"/>
          </p:cNvPicPr>
          <p:nvPr/>
        </p:nvPicPr>
        <p:blipFill>
          <a:blip r:embed="rId2"/>
          <a:stretch>
            <a:fillRect/>
          </a:stretch>
        </p:blipFill>
        <p:spPr>
          <a:xfrm>
            <a:off x="644378" y="2184732"/>
            <a:ext cx="10903244" cy="3728672"/>
          </a:xfrm>
          <a:prstGeom prst="rect">
            <a:avLst/>
          </a:prstGeom>
        </p:spPr>
      </p:pic>
    </p:spTree>
    <p:extLst>
      <p:ext uri="{BB962C8B-B14F-4D97-AF65-F5344CB8AC3E}">
        <p14:creationId xmlns:p14="http://schemas.microsoft.com/office/powerpoint/2010/main" val="178558074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15110F-AD35-4FAE-AFAA-BFC14F0EE1E3}"/>
              </a:ext>
            </a:extLst>
          </p:cNvPr>
          <p:cNvSpPr>
            <a:spLocks noGrp="1"/>
          </p:cNvSpPr>
          <p:nvPr>
            <p:ph type="title"/>
          </p:nvPr>
        </p:nvSpPr>
        <p:spPr/>
        <p:txBody>
          <a:bodyPr/>
          <a:lstStyle/>
          <a:p>
            <a:r>
              <a:rPr lang="zh-CN" altLang="en-US" b="1" dirty="0">
                <a:cs typeface="+mn-ea"/>
                <a:sym typeface="+mn-lt"/>
              </a:rPr>
              <a:t>语义分割：</a:t>
            </a:r>
            <a:r>
              <a:rPr lang="zh-CN" altLang="en-US" b="1" dirty="0">
                <a:solidFill>
                  <a:srgbClr val="00B0F0"/>
                </a:solidFill>
                <a:cs typeface="+mn-ea"/>
                <a:sym typeface="+mn-lt"/>
              </a:rPr>
              <a:t>评价指标</a:t>
            </a:r>
            <a:endParaRPr lang="zh-CN" altLang="en-US" b="1" dirty="0"/>
          </a:p>
        </p:txBody>
      </p:sp>
      <p:sp>
        <p:nvSpPr>
          <p:cNvPr id="3" name="Content Placeholder 2">
            <a:extLst>
              <a:ext uri="{FF2B5EF4-FFF2-40B4-BE49-F238E27FC236}">
                <a16:creationId xmlns:a16="http://schemas.microsoft.com/office/drawing/2014/main" id="{6F46EA11-5460-4561-AE6F-564F8667B84C}"/>
              </a:ext>
            </a:extLst>
          </p:cNvPr>
          <p:cNvSpPr>
            <a:spLocks noGrp="1"/>
          </p:cNvSpPr>
          <p:nvPr>
            <p:ph idx="1"/>
          </p:nvPr>
        </p:nvSpPr>
        <p:spPr>
          <a:xfrm>
            <a:off x="838200" y="1825625"/>
            <a:ext cx="4946964" cy="4351338"/>
          </a:xfrm>
        </p:spPr>
        <p:txBody>
          <a:bodyPr/>
          <a:lstStyle/>
          <a:p>
            <a:r>
              <a:rPr lang="en-US" altLang="zh-CN" b="1" dirty="0"/>
              <a:t>Pixel Accuracy</a:t>
            </a:r>
          </a:p>
          <a:p>
            <a:endParaRPr lang="en-US" altLang="zh-CN" b="1" dirty="0"/>
          </a:p>
          <a:p>
            <a:endParaRPr lang="en-US" altLang="zh-CN" b="1" dirty="0"/>
          </a:p>
          <a:p>
            <a:r>
              <a:rPr lang="en-US" altLang="zh-CN" b="1" dirty="0"/>
              <a:t>Mean Pixel Accuracy</a:t>
            </a:r>
          </a:p>
          <a:p>
            <a:r>
              <a:rPr lang="en-US" altLang="zh-CN" b="1" dirty="0"/>
              <a:t>…</a:t>
            </a:r>
            <a:endParaRPr lang="zh-CN" altLang="en-US" b="1" dirty="0"/>
          </a:p>
        </p:txBody>
      </p:sp>
      <p:pic>
        <p:nvPicPr>
          <p:cNvPr id="5" name="Picture 4">
            <a:extLst>
              <a:ext uri="{FF2B5EF4-FFF2-40B4-BE49-F238E27FC236}">
                <a16:creationId xmlns:a16="http://schemas.microsoft.com/office/drawing/2014/main" id="{9D204528-5803-41A2-A89D-AEE8EFD0FCDF}"/>
              </a:ext>
            </a:extLst>
          </p:cNvPr>
          <p:cNvPicPr>
            <a:picLocks noChangeAspect="1"/>
          </p:cNvPicPr>
          <p:nvPr/>
        </p:nvPicPr>
        <p:blipFill>
          <a:blip r:embed="rId2"/>
          <a:stretch>
            <a:fillRect/>
          </a:stretch>
        </p:blipFill>
        <p:spPr>
          <a:xfrm>
            <a:off x="1145015" y="2484724"/>
            <a:ext cx="4333333" cy="1209524"/>
          </a:xfrm>
          <a:prstGeom prst="rect">
            <a:avLst/>
          </a:prstGeom>
        </p:spPr>
      </p:pic>
      <p:grpSp>
        <p:nvGrpSpPr>
          <p:cNvPr id="9" name="Group 8">
            <a:extLst>
              <a:ext uri="{FF2B5EF4-FFF2-40B4-BE49-F238E27FC236}">
                <a16:creationId xmlns:a16="http://schemas.microsoft.com/office/drawing/2014/main" id="{70DEA24C-DF17-4DA6-B719-7FB4EFAF5EBE}"/>
              </a:ext>
            </a:extLst>
          </p:cNvPr>
          <p:cNvGrpSpPr/>
          <p:nvPr/>
        </p:nvGrpSpPr>
        <p:grpSpPr>
          <a:xfrm>
            <a:off x="6560244" y="1518843"/>
            <a:ext cx="4946964" cy="4240773"/>
            <a:chOff x="6535691" y="1292195"/>
            <a:chExt cx="4946964" cy="4240773"/>
          </a:xfrm>
        </p:grpSpPr>
        <p:pic>
          <p:nvPicPr>
            <p:cNvPr id="4" name="Picture 2" descr="Screen-Shot-2018-05-21-at-10.44.23-PM">
              <a:extLst>
                <a:ext uri="{FF2B5EF4-FFF2-40B4-BE49-F238E27FC236}">
                  <a16:creationId xmlns:a16="http://schemas.microsoft.com/office/drawing/2014/main" id="{ED8A4EF4-48CC-495D-869F-67C176705825}"/>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4518"/>
            <a:stretch/>
          </p:blipFill>
          <p:spPr bwMode="auto">
            <a:xfrm>
              <a:off x="6535691" y="3357563"/>
              <a:ext cx="4946964" cy="2175405"/>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descr="Screen-Shot-2018-05-21-at-10.44.23-PM">
              <a:extLst>
                <a:ext uri="{FF2B5EF4-FFF2-40B4-BE49-F238E27FC236}">
                  <a16:creationId xmlns:a16="http://schemas.microsoft.com/office/drawing/2014/main" id="{C99678BF-9998-4FC0-AFA4-970736B55D15}"/>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68776"/>
            <a:stretch/>
          </p:blipFill>
          <p:spPr bwMode="auto">
            <a:xfrm>
              <a:off x="7829722" y="1292195"/>
              <a:ext cx="2358901" cy="2175405"/>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4478948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15110F-AD35-4FAE-AFAA-BFC14F0EE1E3}"/>
              </a:ext>
            </a:extLst>
          </p:cNvPr>
          <p:cNvSpPr>
            <a:spLocks noGrp="1"/>
          </p:cNvSpPr>
          <p:nvPr>
            <p:ph type="title"/>
          </p:nvPr>
        </p:nvSpPr>
        <p:spPr/>
        <p:txBody>
          <a:bodyPr/>
          <a:lstStyle/>
          <a:p>
            <a:r>
              <a:rPr lang="zh-CN" altLang="en-US" b="1" dirty="0">
                <a:cs typeface="+mn-ea"/>
                <a:sym typeface="+mn-lt"/>
              </a:rPr>
              <a:t>语义分割：</a:t>
            </a:r>
            <a:r>
              <a:rPr lang="zh-CN" altLang="en-US" b="1" dirty="0">
                <a:solidFill>
                  <a:srgbClr val="00B0F0"/>
                </a:solidFill>
                <a:cs typeface="+mn-ea"/>
                <a:sym typeface="+mn-lt"/>
              </a:rPr>
              <a:t>评价指标</a:t>
            </a:r>
            <a:endParaRPr lang="zh-CN" altLang="en-US" b="1" dirty="0"/>
          </a:p>
        </p:txBody>
      </p:sp>
      <p:sp>
        <p:nvSpPr>
          <p:cNvPr id="3" name="Content Placeholder 2">
            <a:extLst>
              <a:ext uri="{FF2B5EF4-FFF2-40B4-BE49-F238E27FC236}">
                <a16:creationId xmlns:a16="http://schemas.microsoft.com/office/drawing/2014/main" id="{6F46EA11-5460-4561-AE6F-564F8667B84C}"/>
              </a:ext>
            </a:extLst>
          </p:cNvPr>
          <p:cNvSpPr>
            <a:spLocks noGrp="1"/>
          </p:cNvSpPr>
          <p:nvPr>
            <p:ph idx="1"/>
          </p:nvPr>
        </p:nvSpPr>
        <p:spPr>
          <a:xfrm>
            <a:off x="838199" y="1825625"/>
            <a:ext cx="5607867" cy="4351338"/>
          </a:xfrm>
        </p:spPr>
        <p:txBody>
          <a:bodyPr/>
          <a:lstStyle/>
          <a:p>
            <a:r>
              <a:rPr lang="en-US" altLang="zh-CN" b="1" dirty="0"/>
              <a:t>Intersection-over-Union (IoU)</a:t>
            </a:r>
          </a:p>
          <a:p>
            <a:endParaRPr lang="en-US" altLang="zh-CN" b="1" dirty="0"/>
          </a:p>
          <a:p>
            <a:endParaRPr lang="en-US" altLang="zh-CN" b="1" dirty="0"/>
          </a:p>
          <a:p>
            <a:r>
              <a:rPr lang="en-US" altLang="zh-CN" b="1" dirty="0"/>
              <a:t>mIoU</a:t>
            </a:r>
          </a:p>
          <a:p>
            <a:r>
              <a:rPr lang="en-US" altLang="zh-CN" b="1" dirty="0"/>
              <a:t>…</a:t>
            </a:r>
          </a:p>
        </p:txBody>
      </p:sp>
      <p:grpSp>
        <p:nvGrpSpPr>
          <p:cNvPr id="9" name="Group 8">
            <a:extLst>
              <a:ext uri="{FF2B5EF4-FFF2-40B4-BE49-F238E27FC236}">
                <a16:creationId xmlns:a16="http://schemas.microsoft.com/office/drawing/2014/main" id="{70DEA24C-DF17-4DA6-B719-7FB4EFAF5EBE}"/>
              </a:ext>
            </a:extLst>
          </p:cNvPr>
          <p:cNvGrpSpPr/>
          <p:nvPr/>
        </p:nvGrpSpPr>
        <p:grpSpPr>
          <a:xfrm>
            <a:off x="6560244" y="187983"/>
            <a:ext cx="4946964" cy="4240773"/>
            <a:chOff x="6535691" y="1292195"/>
            <a:chExt cx="4946964" cy="4240773"/>
          </a:xfrm>
        </p:grpSpPr>
        <p:pic>
          <p:nvPicPr>
            <p:cNvPr id="4" name="Picture 2" descr="Screen-Shot-2018-05-21-at-10.44.23-PM">
              <a:extLst>
                <a:ext uri="{FF2B5EF4-FFF2-40B4-BE49-F238E27FC236}">
                  <a16:creationId xmlns:a16="http://schemas.microsoft.com/office/drawing/2014/main" id="{ED8A4EF4-48CC-495D-869F-67C176705825}"/>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4518"/>
            <a:stretch/>
          </p:blipFill>
          <p:spPr bwMode="auto">
            <a:xfrm>
              <a:off x="6535691" y="3357563"/>
              <a:ext cx="4946964" cy="2175405"/>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descr="Screen-Shot-2018-05-21-at-10.44.23-PM">
              <a:extLst>
                <a:ext uri="{FF2B5EF4-FFF2-40B4-BE49-F238E27FC236}">
                  <a16:creationId xmlns:a16="http://schemas.microsoft.com/office/drawing/2014/main" id="{C99678BF-9998-4FC0-AFA4-970736B55D15}"/>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68776"/>
            <a:stretch/>
          </p:blipFill>
          <p:spPr bwMode="auto">
            <a:xfrm>
              <a:off x="7829722" y="1292195"/>
              <a:ext cx="2358901" cy="2175405"/>
            </a:xfrm>
            <a:prstGeom prst="rect">
              <a:avLst/>
            </a:prstGeom>
            <a:noFill/>
            <a:extLst>
              <a:ext uri="{909E8E84-426E-40DD-AFC4-6F175D3DCCD1}">
                <a14:hiddenFill xmlns:a14="http://schemas.microsoft.com/office/drawing/2010/main">
                  <a:solidFill>
                    <a:srgbClr val="FFFFFF"/>
                  </a:solidFill>
                </a14:hiddenFill>
              </a:ext>
            </a:extLst>
          </p:spPr>
        </p:pic>
      </p:grpSp>
      <p:pic>
        <p:nvPicPr>
          <p:cNvPr id="8" name="Picture 2" descr="Figure 2: Computing the Intersection of Union is as simple as dividing the area of overlap between the bounding boxes by the area of union (thank you to the excellent Pittsburg HW4 assignment for the inspiration for this figure).">
            <a:extLst>
              <a:ext uri="{FF2B5EF4-FFF2-40B4-BE49-F238E27FC236}">
                <a16:creationId xmlns:a16="http://schemas.microsoft.com/office/drawing/2014/main" id="{1A9C355D-B92D-4C2E-9B9B-5E56054CEBA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709419" y="4457075"/>
            <a:ext cx="2837106" cy="2212942"/>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9">
            <a:extLst>
              <a:ext uri="{FF2B5EF4-FFF2-40B4-BE49-F238E27FC236}">
                <a16:creationId xmlns:a16="http://schemas.microsoft.com/office/drawing/2014/main" id="{3BBEBDF8-87BD-48E5-9D66-7F9ADBF3E869}"/>
              </a:ext>
            </a:extLst>
          </p:cNvPr>
          <p:cNvPicPr>
            <a:picLocks noChangeAspect="1"/>
          </p:cNvPicPr>
          <p:nvPr/>
        </p:nvPicPr>
        <p:blipFill>
          <a:blip r:embed="rId5"/>
          <a:stretch>
            <a:fillRect/>
          </a:stretch>
        </p:blipFill>
        <p:spPr>
          <a:xfrm>
            <a:off x="1424139" y="2715560"/>
            <a:ext cx="5136105" cy="1011947"/>
          </a:xfrm>
          <a:prstGeom prst="rect">
            <a:avLst/>
          </a:prstGeom>
        </p:spPr>
      </p:pic>
    </p:spTree>
    <p:extLst>
      <p:ext uri="{BB962C8B-B14F-4D97-AF65-F5344CB8AC3E}">
        <p14:creationId xmlns:p14="http://schemas.microsoft.com/office/powerpoint/2010/main" val="27332348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DF5D90-11C1-4537-97FE-94334F5770BA}"/>
              </a:ext>
            </a:extLst>
          </p:cNvPr>
          <p:cNvSpPr>
            <a:spLocks noGrp="1"/>
          </p:cNvSpPr>
          <p:nvPr>
            <p:ph type="title"/>
          </p:nvPr>
        </p:nvSpPr>
        <p:spPr/>
        <p:txBody>
          <a:bodyPr/>
          <a:lstStyle/>
          <a:p>
            <a:r>
              <a:rPr lang="zh-CN" altLang="en-US" b="1" dirty="0">
                <a:cs typeface="+mn-ea"/>
                <a:sym typeface="+mn-lt"/>
              </a:rPr>
              <a:t>语义分割：</a:t>
            </a:r>
            <a:r>
              <a:rPr lang="zh-CN" altLang="en-US" b="1" dirty="0">
                <a:solidFill>
                  <a:srgbClr val="00B0F0"/>
                </a:solidFill>
                <a:cs typeface="+mn-ea"/>
                <a:sym typeface="+mn-lt"/>
              </a:rPr>
              <a:t>损失函数</a:t>
            </a:r>
            <a:endParaRPr lang="zh-CN" altLang="en-US" b="1" dirty="0"/>
          </a:p>
        </p:txBody>
      </p:sp>
      <p:sp>
        <p:nvSpPr>
          <p:cNvPr id="3" name="Content Placeholder 2">
            <a:extLst>
              <a:ext uri="{FF2B5EF4-FFF2-40B4-BE49-F238E27FC236}">
                <a16:creationId xmlns:a16="http://schemas.microsoft.com/office/drawing/2014/main" id="{5870BD75-0EEF-4FCC-AF2D-AE45F2404326}"/>
              </a:ext>
            </a:extLst>
          </p:cNvPr>
          <p:cNvSpPr>
            <a:spLocks noGrp="1"/>
          </p:cNvSpPr>
          <p:nvPr>
            <p:ph idx="1"/>
          </p:nvPr>
        </p:nvSpPr>
        <p:spPr/>
        <p:txBody>
          <a:bodyPr/>
          <a:lstStyle/>
          <a:p>
            <a:pPr>
              <a:lnSpc>
                <a:spcPct val="150000"/>
              </a:lnSpc>
            </a:pPr>
            <a:r>
              <a:rPr lang="zh-CN" altLang="en-US" b="1" dirty="0"/>
              <a:t>语义分割</a:t>
            </a:r>
            <a:r>
              <a:rPr lang="zh-CN" altLang="en-US" dirty="0"/>
              <a:t>可以看成是对每一个像素进行单独分类的任务</a:t>
            </a:r>
            <a:endParaRPr lang="en-US" altLang="zh-CN" dirty="0"/>
          </a:p>
          <a:p>
            <a:pPr>
              <a:lnSpc>
                <a:spcPct val="150000"/>
              </a:lnSpc>
            </a:pPr>
            <a:r>
              <a:rPr lang="zh-CN" altLang="en-US" b="1" dirty="0"/>
              <a:t>交叉熵损失函数（</a:t>
            </a:r>
            <a:r>
              <a:rPr lang="en-US" altLang="zh-CN" b="1" dirty="0"/>
              <a:t>Cross-Entropy Loss</a:t>
            </a:r>
            <a:r>
              <a:rPr lang="zh-CN" altLang="en-US" b="1" dirty="0"/>
              <a:t>）</a:t>
            </a:r>
            <a:endParaRPr lang="zh-CN" altLang="en-US" dirty="0">
              <a:solidFill>
                <a:srgbClr val="00B0F0"/>
              </a:solidFill>
            </a:endParaRPr>
          </a:p>
        </p:txBody>
      </p:sp>
      <p:pic>
        <p:nvPicPr>
          <p:cNvPr id="4" name="Picture 2" descr="https://latex.codecogs.com/gif.latex?%5Chuge%20L%28p%2Cq%29%3D-%5Csum_%7Bi%3D1%7D%5E%7BK%7Dq%28x_i%29%20%5Clog%20%28p%28x_i%29%29">
            <a:extLst>
              <a:ext uri="{FF2B5EF4-FFF2-40B4-BE49-F238E27FC236}">
                <a16:creationId xmlns:a16="http://schemas.microsoft.com/office/drawing/2014/main" id="{3254274E-7707-4FD2-928D-2937FC8D2B8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87900" y="3766560"/>
            <a:ext cx="4134273" cy="1011947"/>
          </a:xfrm>
          <a:prstGeom prst="rect">
            <a:avLst/>
          </a:prstGeom>
          <a:noFill/>
          <a:extLst>
            <a:ext uri="{909E8E84-426E-40DD-AFC4-6F175D3DCCD1}">
              <a14:hiddenFill xmlns:a14="http://schemas.microsoft.com/office/drawing/2010/main">
                <a:solidFill>
                  <a:srgbClr val="FFFFFF"/>
                </a:solidFill>
              </a14:hiddenFill>
            </a:ext>
          </a:extLst>
        </p:spPr>
      </p:pic>
      <p:grpSp>
        <p:nvGrpSpPr>
          <p:cNvPr id="5" name="Group 4">
            <a:extLst>
              <a:ext uri="{FF2B5EF4-FFF2-40B4-BE49-F238E27FC236}">
                <a16:creationId xmlns:a16="http://schemas.microsoft.com/office/drawing/2014/main" id="{BD48FD66-DAF2-4573-A55F-174ADBFE6926}"/>
              </a:ext>
            </a:extLst>
          </p:cNvPr>
          <p:cNvGrpSpPr/>
          <p:nvPr/>
        </p:nvGrpSpPr>
        <p:grpSpPr>
          <a:xfrm>
            <a:off x="7418084" y="2970391"/>
            <a:ext cx="3935716" cy="3206572"/>
            <a:chOff x="6535691" y="1292195"/>
            <a:chExt cx="4946964" cy="4240773"/>
          </a:xfrm>
        </p:grpSpPr>
        <p:pic>
          <p:nvPicPr>
            <p:cNvPr id="6" name="Picture 2" descr="Screen-Shot-2018-05-21-at-10.44.23-PM">
              <a:extLst>
                <a:ext uri="{FF2B5EF4-FFF2-40B4-BE49-F238E27FC236}">
                  <a16:creationId xmlns:a16="http://schemas.microsoft.com/office/drawing/2014/main" id="{C79EEEBA-8F0B-41A4-9D8F-20A156C21F7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4518"/>
            <a:stretch/>
          </p:blipFill>
          <p:spPr bwMode="auto">
            <a:xfrm>
              <a:off x="6535691" y="3357563"/>
              <a:ext cx="4946964" cy="2175405"/>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descr="Screen-Shot-2018-05-21-at-10.44.23-PM">
              <a:extLst>
                <a:ext uri="{FF2B5EF4-FFF2-40B4-BE49-F238E27FC236}">
                  <a16:creationId xmlns:a16="http://schemas.microsoft.com/office/drawing/2014/main" id="{FA67AFBB-505F-4472-811B-3ACDE7403AA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68776"/>
            <a:stretch/>
          </p:blipFill>
          <p:spPr bwMode="auto">
            <a:xfrm>
              <a:off x="7829722" y="1292195"/>
              <a:ext cx="2358901" cy="2175405"/>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42714328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6B4D84-BCED-49F2-A0D0-FAB1E6B8C4D6}"/>
              </a:ext>
            </a:extLst>
          </p:cNvPr>
          <p:cNvSpPr>
            <a:spLocks noGrp="1"/>
          </p:cNvSpPr>
          <p:nvPr>
            <p:ph type="title"/>
          </p:nvPr>
        </p:nvSpPr>
        <p:spPr/>
        <p:txBody>
          <a:bodyPr/>
          <a:lstStyle/>
          <a:p>
            <a:r>
              <a:rPr lang="zh-CN" altLang="en-US" b="1" dirty="0">
                <a:cs typeface="+mn-ea"/>
                <a:sym typeface="+mn-lt"/>
              </a:rPr>
              <a:t>语义分割：</a:t>
            </a:r>
            <a:r>
              <a:rPr lang="zh-CN" altLang="en-US" b="1" dirty="0">
                <a:solidFill>
                  <a:srgbClr val="00B0F0"/>
                </a:solidFill>
                <a:cs typeface="+mn-ea"/>
                <a:sym typeface="+mn-lt"/>
              </a:rPr>
              <a:t>损失函数</a:t>
            </a:r>
            <a:endParaRPr lang="zh-CN" altLang="en-US" dirty="0"/>
          </a:p>
        </p:txBody>
      </p:sp>
      <p:sp>
        <p:nvSpPr>
          <p:cNvPr id="3" name="Content Placeholder 2">
            <a:extLst>
              <a:ext uri="{FF2B5EF4-FFF2-40B4-BE49-F238E27FC236}">
                <a16:creationId xmlns:a16="http://schemas.microsoft.com/office/drawing/2014/main" id="{E94BC8E0-3978-462B-BFCB-4D49470EA57F}"/>
              </a:ext>
            </a:extLst>
          </p:cNvPr>
          <p:cNvSpPr>
            <a:spLocks noGrp="1"/>
          </p:cNvSpPr>
          <p:nvPr>
            <p:ph idx="1"/>
          </p:nvPr>
        </p:nvSpPr>
        <p:spPr/>
        <p:txBody>
          <a:bodyPr/>
          <a:lstStyle/>
          <a:p>
            <a:pPr>
              <a:lnSpc>
                <a:spcPct val="120000"/>
              </a:lnSpc>
            </a:pPr>
            <a:r>
              <a:rPr lang="en-US" altLang="zh-CN" b="1" dirty="0"/>
              <a:t>IoU</a:t>
            </a:r>
            <a:r>
              <a:rPr lang="zh-CN" altLang="en-US" b="1" dirty="0"/>
              <a:t>相关的损失函数</a:t>
            </a:r>
            <a:endParaRPr lang="en-US" altLang="zh-CN" b="1" dirty="0"/>
          </a:p>
          <a:p>
            <a:pPr lvl="1">
              <a:lnSpc>
                <a:spcPct val="120000"/>
              </a:lnSpc>
            </a:pPr>
            <a:r>
              <a:rPr lang="en-US" altLang="zh-CN" b="1" dirty="0"/>
              <a:t>Soft IoU Loss</a:t>
            </a:r>
            <a:r>
              <a:rPr lang="zh-CN" altLang="en-US" b="1" dirty="0"/>
              <a:t>：</a:t>
            </a:r>
            <a:endParaRPr lang="en-US" altLang="zh-CN" b="1" dirty="0"/>
          </a:p>
          <a:p>
            <a:pPr lvl="1">
              <a:lnSpc>
                <a:spcPct val="120000"/>
              </a:lnSpc>
            </a:pPr>
            <a:endParaRPr lang="en-US" altLang="zh-CN" b="1" dirty="0"/>
          </a:p>
          <a:p>
            <a:pPr lvl="1">
              <a:lnSpc>
                <a:spcPct val="120000"/>
              </a:lnSpc>
            </a:pPr>
            <a:endParaRPr lang="en-US" altLang="zh-CN" b="1" dirty="0"/>
          </a:p>
          <a:p>
            <a:pPr marL="457200" lvl="1" indent="0">
              <a:lnSpc>
                <a:spcPct val="120000"/>
              </a:lnSpc>
              <a:buNone/>
            </a:pPr>
            <a:endParaRPr lang="en-US" altLang="zh-CN" b="1" dirty="0"/>
          </a:p>
          <a:p>
            <a:pPr lvl="1">
              <a:lnSpc>
                <a:spcPct val="120000"/>
              </a:lnSpc>
            </a:pPr>
            <a:r>
              <a:rPr lang="en-US" altLang="zh-CN" b="1" dirty="0"/>
              <a:t>Dice Loss</a:t>
            </a:r>
            <a:endParaRPr lang="zh-CN" altLang="en-US" b="1" dirty="0"/>
          </a:p>
        </p:txBody>
      </p:sp>
      <p:pic>
        <p:nvPicPr>
          <p:cNvPr id="4" name="Picture 3">
            <a:extLst>
              <a:ext uri="{FF2B5EF4-FFF2-40B4-BE49-F238E27FC236}">
                <a16:creationId xmlns:a16="http://schemas.microsoft.com/office/drawing/2014/main" id="{08BDDCFA-195F-46A1-9956-F997AEB38766}"/>
              </a:ext>
            </a:extLst>
          </p:cNvPr>
          <p:cNvPicPr>
            <a:picLocks noChangeAspect="1"/>
          </p:cNvPicPr>
          <p:nvPr/>
        </p:nvPicPr>
        <p:blipFill rotWithShape="1">
          <a:blip r:embed="rId2"/>
          <a:srcRect l="4420" t="10757" r="4420" b="14433"/>
          <a:stretch/>
        </p:blipFill>
        <p:spPr>
          <a:xfrm>
            <a:off x="3863527" y="3390823"/>
            <a:ext cx="4653482" cy="1025964"/>
          </a:xfrm>
          <a:prstGeom prst="rect">
            <a:avLst/>
          </a:prstGeom>
        </p:spPr>
      </p:pic>
      <p:pic>
        <p:nvPicPr>
          <p:cNvPr id="5" name="Picture 4">
            <a:extLst>
              <a:ext uri="{FF2B5EF4-FFF2-40B4-BE49-F238E27FC236}">
                <a16:creationId xmlns:a16="http://schemas.microsoft.com/office/drawing/2014/main" id="{804A0D88-B606-4738-91DC-E5000B14188E}"/>
              </a:ext>
            </a:extLst>
          </p:cNvPr>
          <p:cNvPicPr>
            <a:picLocks noChangeAspect="1"/>
          </p:cNvPicPr>
          <p:nvPr/>
        </p:nvPicPr>
        <p:blipFill rotWithShape="1">
          <a:blip r:embed="rId3"/>
          <a:srcRect l="4698" t="12550" r="4698" b="13419"/>
          <a:stretch/>
        </p:blipFill>
        <p:spPr>
          <a:xfrm>
            <a:off x="3863527" y="2641679"/>
            <a:ext cx="4653482" cy="749144"/>
          </a:xfrm>
          <a:prstGeom prst="rect">
            <a:avLst/>
          </a:prstGeom>
        </p:spPr>
      </p:pic>
      <p:pic>
        <p:nvPicPr>
          <p:cNvPr id="6" name="Picture 5">
            <a:extLst>
              <a:ext uri="{FF2B5EF4-FFF2-40B4-BE49-F238E27FC236}">
                <a16:creationId xmlns:a16="http://schemas.microsoft.com/office/drawing/2014/main" id="{4202A613-25D2-4301-891A-32DBBAB81CCE}"/>
              </a:ext>
            </a:extLst>
          </p:cNvPr>
          <p:cNvPicPr>
            <a:picLocks noChangeAspect="1"/>
          </p:cNvPicPr>
          <p:nvPr/>
        </p:nvPicPr>
        <p:blipFill rotWithShape="1">
          <a:blip r:embed="rId4"/>
          <a:srcRect t="16195" b="10814"/>
          <a:stretch/>
        </p:blipFill>
        <p:spPr>
          <a:xfrm>
            <a:off x="2031130" y="5090025"/>
            <a:ext cx="3011994" cy="1025964"/>
          </a:xfrm>
          <a:prstGeom prst="rect">
            <a:avLst/>
          </a:prstGeom>
        </p:spPr>
      </p:pic>
      <p:pic>
        <p:nvPicPr>
          <p:cNvPr id="7" name="Picture 6">
            <a:extLst>
              <a:ext uri="{FF2B5EF4-FFF2-40B4-BE49-F238E27FC236}">
                <a16:creationId xmlns:a16="http://schemas.microsoft.com/office/drawing/2014/main" id="{5959CB69-0305-4ED1-AD60-D5FCDA191011}"/>
              </a:ext>
            </a:extLst>
          </p:cNvPr>
          <p:cNvPicPr>
            <a:picLocks noChangeAspect="1"/>
          </p:cNvPicPr>
          <p:nvPr/>
        </p:nvPicPr>
        <p:blipFill>
          <a:blip r:embed="rId5"/>
          <a:stretch>
            <a:fillRect/>
          </a:stretch>
        </p:blipFill>
        <p:spPr>
          <a:xfrm>
            <a:off x="5500764" y="4944414"/>
            <a:ext cx="2314575" cy="1171575"/>
          </a:xfrm>
          <a:prstGeom prst="rect">
            <a:avLst/>
          </a:prstGeom>
        </p:spPr>
      </p:pic>
      <p:pic>
        <p:nvPicPr>
          <p:cNvPr id="8" name="Picture 2" descr="Figure 2: Computing the Intersection of Union is as simple as dividing the area of overlap between the bounding boxes by the area of union (thank you to the excellent Pittsburg HW4 assignment for the inspiration for this figure).">
            <a:extLst>
              <a:ext uri="{FF2B5EF4-FFF2-40B4-BE49-F238E27FC236}">
                <a16:creationId xmlns:a16="http://schemas.microsoft.com/office/drawing/2014/main" id="{67B2E555-8476-4294-B166-7FB036525B9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517009" y="308371"/>
            <a:ext cx="3117993" cy="24320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8007472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6C7B1C-6A03-4A72-B1B6-6898EF0DDBB5}"/>
              </a:ext>
            </a:extLst>
          </p:cNvPr>
          <p:cNvSpPr>
            <a:spLocks noGrp="1"/>
          </p:cNvSpPr>
          <p:nvPr>
            <p:ph type="title"/>
          </p:nvPr>
        </p:nvSpPr>
        <p:spPr/>
        <p:txBody>
          <a:bodyPr/>
          <a:lstStyle/>
          <a:p>
            <a:r>
              <a:rPr lang="zh-CN" altLang="en-US" b="1" dirty="0">
                <a:cs typeface="+mn-ea"/>
                <a:sym typeface="+mn-lt"/>
              </a:rPr>
              <a:t>语义分割：</a:t>
            </a:r>
            <a:r>
              <a:rPr lang="zh-CN" altLang="en-US" b="1" dirty="0">
                <a:solidFill>
                  <a:srgbClr val="00B0F0"/>
                </a:solidFill>
                <a:cs typeface="+mn-ea"/>
                <a:sym typeface="+mn-lt"/>
              </a:rPr>
              <a:t>代表性模型</a:t>
            </a:r>
            <a:endParaRPr lang="zh-CN" altLang="en-US" b="1" dirty="0">
              <a:solidFill>
                <a:srgbClr val="00B0F0"/>
              </a:solidFill>
              <a:latin typeface="+mn-lt"/>
              <a:ea typeface="+mn-ea"/>
              <a:cs typeface="+mn-ea"/>
              <a:sym typeface="+mn-lt"/>
            </a:endParaRPr>
          </a:p>
        </p:txBody>
      </p:sp>
      <p:sp>
        <p:nvSpPr>
          <p:cNvPr id="3" name="Content Placeholder 2">
            <a:extLst>
              <a:ext uri="{FF2B5EF4-FFF2-40B4-BE49-F238E27FC236}">
                <a16:creationId xmlns:a16="http://schemas.microsoft.com/office/drawing/2014/main" id="{ABA701B8-EA6D-416A-AEDA-C6D80F9B5A8B}"/>
              </a:ext>
            </a:extLst>
          </p:cNvPr>
          <p:cNvSpPr>
            <a:spLocks noGrp="1"/>
          </p:cNvSpPr>
          <p:nvPr>
            <p:ph idx="1"/>
          </p:nvPr>
        </p:nvSpPr>
        <p:spPr/>
        <p:txBody>
          <a:bodyPr>
            <a:normAutofit/>
          </a:bodyPr>
          <a:lstStyle/>
          <a:p>
            <a:r>
              <a:rPr lang="en-US" altLang="zh-CN" b="1" dirty="0">
                <a:cs typeface="+mn-ea"/>
                <a:sym typeface="+mn-lt"/>
              </a:rPr>
              <a:t>FCN</a:t>
            </a:r>
          </a:p>
          <a:p>
            <a:pPr lvl="1"/>
            <a:r>
              <a:rPr lang="en-US" altLang="zh-CN" dirty="0">
                <a:cs typeface="+mn-ea"/>
                <a:sym typeface="+mn-lt"/>
              </a:rPr>
              <a:t>Learnable Upsampling</a:t>
            </a:r>
          </a:p>
          <a:p>
            <a:r>
              <a:rPr lang="en-US" altLang="zh-CN" b="1" dirty="0" err="1">
                <a:cs typeface="+mn-ea"/>
                <a:sym typeface="+mn-lt"/>
              </a:rPr>
              <a:t>DeepLab</a:t>
            </a:r>
            <a:endParaRPr lang="en-US" altLang="zh-CN" b="1" dirty="0">
              <a:cs typeface="+mn-ea"/>
              <a:sym typeface="+mn-lt"/>
            </a:endParaRPr>
          </a:p>
          <a:p>
            <a:pPr lvl="1"/>
            <a:r>
              <a:rPr lang="en-US" altLang="zh-CN" dirty="0">
                <a:cs typeface="+mn-ea"/>
                <a:sym typeface="+mn-lt"/>
              </a:rPr>
              <a:t>Dilated Convolution</a:t>
            </a:r>
          </a:p>
          <a:p>
            <a:r>
              <a:rPr lang="en-US" altLang="zh-CN" b="1" dirty="0">
                <a:cs typeface="+mn-ea"/>
                <a:sym typeface="+mn-lt"/>
              </a:rPr>
              <a:t>U-Net</a:t>
            </a:r>
          </a:p>
          <a:p>
            <a:r>
              <a:rPr lang="en-US" altLang="zh-CN" b="1" dirty="0" err="1">
                <a:cs typeface="+mn-ea"/>
                <a:sym typeface="+mn-lt"/>
              </a:rPr>
              <a:t>PSPNet</a:t>
            </a:r>
            <a:endParaRPr lang="en-US" altLang="zh-CN" b="1" dirty="0">
              <a:cs typeface="+mn-ea"/>
              <a:sym typeface="+mn-lt"/>
            </a:endParaRPr>
          </a:p>
          <a:p>
            <a:endParaRPr lang="zh-CN" altLang="en-US" b="1" dirty="0">
              <a:cs typeface="+mn-ea"/>
              <a:sym typeface="+mn-lt"/>
            </a:endParaRPr>
          </a:p>
        </p:txBody>
      </p:sp>
    </p:spTree>
    <p:extLst>
      <p:ext uri="{BB962C8B-B14F-4D97-AF65-F5344CB8AC3E}">
        <p14:creationId xmlns:p14="http://schemas.microsoft.com/office/powerpoint/2010/main" val="335843941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E434CD-8E31-4ED7-A90E-6DE267B5C0E4}"/>
              </a:ext>
            </a:extLst>
          </p:cNvPr>
          <p:cNvSpPr>
            <a:spLocks noGrp="1"/>
          </p:cNvSpPr>
          <p:nvPr>
            <p:ph type="title"/>
          </p:nvPr>
        </p:nvSpPr>
        <p:spPr/>
        <p:txBody>
          <a:bodyPr>
            <a:normAutofit/>
          </a:bodyPr>
          <a:lstStyle/>
          <a:p>
            <a:pPr marL="742950" indent="-742950">
              <a:buFont typeface="+mj-lt"/>
              <a:buAutoNum type="arabicPeriod"/>
            </a:pPr>
            <a:r>
              <a:rPr lang="en-US" altLang="zh-CN" sz="3600" b="1" dirty="0">
                <a:cs typeface="+mn-ea"/>
                <a:sym typeface="+mn-lt"/>
              </a:rPr>
              <a:t>From classification to semantic segmentation</a:t>
            </a:r>
            <a:endParaRPr lang="zh-CN" altLang="en-US" sz="3600" dirty="0"/>
          </a:p>
        </p:txBody>
      </p:sp>
      <p:pic>
        <p:nvPicPr>
          <p:cNvPr id="4" name="Content Placeholder 3">
            <a:extLst>
              <a:ext uri="{FF2B5EF4-FFF2-40B4-BE49-F238E27FC236}">
                <a16:creationId xmlns:a16="http://schemas.microsoft.com/office/drawing/2014/main" id="{497C92D6-ACC7-472B-ADAC-0091FA7649C2}"/>
              </a:ext>
            </a:extLst>
          </p:cNvPr>
          <p:cNvPicPr>
            <a:picLocks noGrp="1" noChangeAspect="1"/>
          </p:cNvPicPr>
          <p:nvPr>
            <p:ph idx="1"/>
          </p:nvPr>
        </p:nvPicPr>
        <p:blipFill>
          <a:blip r:embed="rId2"/>
          <a:stretch>
            <a:fillRect/>
          </a:stretch>
        </p:blipFill>
        <p:spPr>
          <a:xfrm>
            <a:off x="1328782" y="1825625"/>
            <a:ext cx="9534436" cy="4351338"/>
          </a:xfrm>
          <a:prstGeom prst="rect">
            <a:avLst/>
          </a:prstGeom>
        </p:spPr>
      </p:pic>
    </p:spTree>
    <p:extLst>
      <p:ext uri="{BB962C8B-B14F-4D97-AF65-F5344CB8AC3E}">
        <p14:creationId xmlns:p14="http://schemas.microsoft.com/office/powerpoint/2010/main" val="13962459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6C7B1C-6A03-4A72-B1B6-6898EF0DDBB5}"/>
              </a:ext>
            </a:extLst>
          </p:cNvPr>
          <p:cNvSpPr>
            <a:spLocks noGrp="1"/>
          </p:cNvSpPr>
          <p:nvPr>
            <p:ph type="title"/>
          </p:nvPr>
        </p:nvSpPr>
        <p:spPr/>
        <p:txBody>
          <a:bodyPr>
            <a:normAutofit/>
          </a:bodyPr>
          <a:lstStyle/>
          <a:p>
            <a:r>
              <a:rPr lang="en-US" altLang="zh-CN" sz="4000" b="1" dirty="0">
                <a:latin typeface="+mn-lt"/>
                <a:ea typeface="+mn-ea"/>
                <a:cs typeface="+mn-ea"/>
                <a:sym typeface="+mn-lt"/>
              </a:rPr>
              <a:t>From classification to semantic segmentation</a:t>
            </a:r>
            <a:endParaRPr lang="zh-CN" altLang="en-US" sz="4000" b="1" dirty="0">
              <a:latin typeface="+mn-lt"/>
              <a:ea typeface="+mn-ea"/>
              <a:cs typeface="+mn-ea"/>
              <a:sym typeface="+mn-lt"/>
            </a:endParaRPr>
          </a:p>
        </p:txBody>
      </p:sp>
      <p:sp>
        <p:nvSpPr>
          <p:cNvPr id="3" name="TextBox 2">
            <a:extLst>
              <a:ext uri="{FF2B5EF4-FFF2-40B4-BE49-F238E27FC236}">
                <a16:creationId xmlns:a16="http://schemas.microsoft.com/office/drawing/2014/main" id="{D3ECE5D5-7537-4C03-88CD-59ABBB9379AE}"/>
              </a:ext>
            </a:extLst>
          </p:cNvPr>
          <p:cNvSpPr txBox="1"/>
          <p:nvPr/>
        </p:nvSpPr>
        <p:spPr>
          <a:xfrm>
            <a:off x="1893600" y="5794020"/>
            <a:ext cx="8404800" cy="954107"/>
          </a:xfrm>
          <a:prstGeom prst="rect">
            <a:avLst/>
          </a:prstGeom>
          <a:noFill/>
        </p:spPr>
        <p:txBody>
          <a:bodyPr wrap="none" rtlCol="0">
            <a:spAutoFit/>
          </a:bodyPr>
          <a:lstStyle/>
          <a:p>
            <a:pPr algn="ctr"/>
            <a:r>
              <a:rPr lang="en-US" altLang="zh-CN" sz="2800" b="1" dirty="0">
                <a:solidFill>
                  <a:srgbClr val="FF0000"/>
                </a:solidFill>
                <a:cs typeface="+mn-ea"/>
                <a:sym typeface="+mn-lt"/>
              </a:rPr>
              <a:t>Low efficiency: </a:t>
            </a:r>
            <a:r>
              <a:rPr lang="en-US" altLang="zh-CN" sz="2800" dirty="0">
                <a:solidFill>
                  <a:srgbClr val="FF0000"/>
                </a:solidFill>
                <a:cs typeface="+mn-ea"/>
                <a:sym typeface="+mn-lt"/>
              </a:rPr>
              <a:t>a large amount of repeated computation </a:t>
            </a:r>
          </a:p>
          <a:p>
            <a:pPr algn="ctr"/>
            <a:r>
              <a:rPr lang="en-US" altLang="zh-CN" sz="2800" dirty="0">
                <a:solidFill>
                  <a:srgbClr val="FF0000"/>
                </a:solidFill>
                <a:cs typeface="+mn-ea"/>
                <a:sym typeface="+mn-lt"/>
              </a:rPr>
              <a:t>between overlapping patches.</a:t>
            </a:r>
            <a:endParaRPr lang="zh-CN" altLang="en-US" sz="2800" dirty="0">
              <a:solidFill>
                <a:srgbClr val="FF0000"/>
              </a:solidFill>
              <a:cs typeface="+mn-ea"/>
              <a:sym typeface="+mn-lt"/>
            </a:endParaRPr>
          </a:p>
        </p:txBody>
      </p:sp>
      <p:pic>
        <p:nvPicPr>
          <p:cNvPr id="4" name="Picture 3">
            <a:extLst>
              <a:ext uri="{FF2B5EF4-FFF2-40B4-BE49-F238E27FC236}">
                <a16:creationId xmlns:a16="http://schemas.microsoft.com/office/drawing/2014/main" id="{7694DC30-C7FC-46ED-9BD8-94E8D6CC1494}"/>
              </a:ext>
            </a:extLst>
          </p:cNvPr>
          <p:cNvPicPr>
            <a:picLocks noChangeAspect="1"/>
          </p:cNvPicPr>
          <p:nvPr/>
        </p:nvPicPr>
        <p:blipFill>
          <a:blip r:embed="rId2"/>
          <a:stretch>
            <a:fillRect/>
          </a:stretch>
        </p:blipFill>
        <p:spPr>
          <a:xfrm>
            <a:off x="1230735" y="1744540"/>
            <a:ext cx="9730530" cy="3995628"/>
          </a:xfrm>
          <a:prstGeom prst="rect">
            <a:avLst/>
          </a:prstGeom>
        </p:spPr>
      </p:pic>
    </p:spTree>
    <p:extLst>
      <p:ext uri="{BB962C8B-B14F-4D97-AF65-F5344CB8AC3E}">
        <p14:creationId xmlns:p14="http://schemas.microsoft.com/office/powerpoint/2010/main" val="10396070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4DC9F4-FD5D-4D35-93D8-EA855C30CD72}"/>
              </a:ext>
            </a:extLst>
          </p:cNvPr>
          <p:cNvSpPr>
            <a:spLocks noGrp="1"/>
          </p:cNvSpPr>
          <p:nvPr>
            <p:ph type="title"/>
          </p:nvPr>
        </p:nvSpPr>
        <p:spPr/>
        <p:txBody>
          <a:bodyPr>
            <a:normAutofit/>
          </a:bodyPr>
          <a:lstStyle/>
          <a:p>
            <a:r>
              <a:rPr lang="en-US" altLang="zh-CN" sz="4000" b="1" dirty="0">
                <a:latin typeface="+mn-lt"/>
                <a:ea typeface="+mn-ea"/>
                <a:cs typeface="+mn-ea"/>
                <a:sym typeface="+mn-lt"/>
              </a:rPr>
              <a:t>From classification to semantic segmentation</a:t>
            </a:r>
            <a:endParaRPr lang="zh-CN" altLang="en-US" sz="4000" b="1" dirty="0">
              <a:latin typeface="+mn-lt"/>
              <a:ea typeface="+mn-ea"/>
              <a:cs typeface="+mn-ea"/>
              <a:sym typeface="+mn-lt"/>
            </a:endParaRPr>
          </a:p>
        </p:txBody>
      </p:sp>
      <p:sp>
        <p:nvSpPr>
          <p:cNvPr id="3" name="Content Placeholder 2">
            <a:extLst>
              <a:ext uri="{FF2B5EF4-FFF2-40B4-BE49-F238E27FC236}">
                <a16:creationId xmlns:a16="http://schemas.microsoft.com/office/drawing/2014/main" id="{710ACBAB-B375-45F8-8911-8BD3E4590626}"/>
              </a:ext>
            </a:extLst>
          </p:cNvPr>
          <p:cNvSpPr>
            <a:spLocks noGrp="1"/>
          </p:cNvSpPr>
          <p:nvPr>
            <p:ph idx="1"/>
          </p:nvPr>
        </p:nvSpPr>
        <p:spPr/>
        <p:txBody>
          <a:bodyPr/>
          <a:lstStyle/>
          <a:p>
            <a:r>
              <a:rPr lang="en-US" altLang="zh-CN" b="1" dirty="0">
                <a:cs typeface="+mn-ea"/>
                <a:sym typeface="+mn-lt"/>
              </a:rPr>
              <a:t>Fully convolutional neural networks</a:t>
            </a:r>
            <a:endParaRPr lang="zh-CN" altLang="en-US" b="1" dirty="0">
              <a:cs typeface="+mn-ea"/>
              <a:sym typeface="+mn-lt"/>
            </a:endParaRPr>
          </a:p>
        </p:txBody>
      </p:sp>
      <p:sp>
        <p:nvSpPr>
          <p:cNvPr id="10" name="TextBox 9">
            <a:extLst>
              <a:ext uri="{FF2B5EF4-FFF2-40B4-BE49-F238E27FC236}">
                <a16:creationId xmlns:a16="http://schemas.microsoft.com/office/drawing/2014/main" id="{B8BAB33C-0BF9-4DC4-9106-64ECFF177B83}"/>
              </a:ext>
            </a:extLst>
          </p:cNvPr>
          <p:cNvSpPr txBox="1"/>
          <p:nvPr/>
        </p:nvSpPr>
        <p:spPr>
          <a:xfrm>
            <a:off x="936960" y="5706073"/>
            <a:ext cx="10318081" cy="830997"/>
          </a:xfrm>
          <a:prstGeom prst="rect">
            <a:avLst/>
          </a:prstGeom>
          <a:noFill/>
        </p:spPr>
        <p:txBody>
          <a:bodyPr wrap="none" rtlCol="0">
            <a:spAutoFit/>
          </a:bodyPr>
          <a:lstStyle/>
          <a:p>
            <a:pPr algn="ctr"/>
            <a:r>
              <a:rPr lang="en-US" altLang="zh-CN" sz="2400" b="1" dirty="0">
                <a:solidFill>
                  <a:srgbClr val="FF0000"/>
                </a:solidFill>
                <a:cs typeface="+mn-ea"/>
                <a:sym typeface="+mn-lt"/>
              </a:rPr>
              <a:t>Limited receptive field: </a:t>
            </a:r>
            <a:r>
              <a:rPr lang="en-US" altLang="zh-CN" sz="2400" dirty="0">
                <a:solidFill>
                  <a:srgbClr val="FF0000"/>
                </a:solidFill>
                <a:cs typeface="+mn-ea"/>
                <a:sym typeface="+mn-lt"/>
              </a:rPr>
              <a:t>each pixel only can use information inside a small patch;</a:t>
            </a:r>
          </a:p>
          <a:p>
            <a:pPr algn="ctr"/>
            <a:r>
              <a:rPr lang="en-US" altLang="zh-CN" sz="2400" dirty="0">
                <a:solidFill>
                  <a:srgbClr val="FF0000"/>
                </a:solidFill>
                <a:cs typeface="+mn-ea"/>
                <a:sym typeface="+mn-lt"/>
              </a:rPr>
              <a:t>requires a large amount of GPU memory.</a:t>
            </a:r>
            <a:endParaRPr lang="zh-CN" altLang="en-US" sz="2400" dirty="0">
              <a:solidFill>
                <a:srgbClr val="FF0000"/>
              </a:solidFill>
              <a:cs typeface="+mn-ea"/>
              <a:sym typeface="+mn-lt"/>
            </a:endParaRPr>
          </a:p>
        </p:txBody>
      </p:sp>
      <p:pic>
        <p:nvPicPr>
          <p:cNvPr id="5" name="Picture 4">
            <a:extLst>
              <a:ext uri="{FF2B5EF4-FFF2-40B4-BE49-F238E27FC236}">
                <a16:creationId xmlns:a16="http://schemas.microsoft.com/office/drawing/2014/main" id="{880EA978-7100-46F4-87E7-BAAF8CDC556F}"/>
              </a:ext>
            </a:extLst>
          </p:cNvPr>
          <p:cNvPicPr>
            <a:picLocks noChangeAspect="1"/>
          </p:cNvPicPr>
          <p:nvPr/>
        </p:nvPicPr>
        <p:blipFill>
          <a:blip r:embed="rId2"/>
          <a:stretch>
            <a:fillRect/>
          </a:stretch>
        </p:blipFill>
        <p:spPr>
          <a:xfrm>
            <a:off x="2069385" y="2530787"/>
            <a:ext cx="8053227" cy="3107817"/>
          </a:xfrm>
          <a:prstGeom prst="rect">
            <a:avLst/>
          </a:prstGeom>
        </p:spPr>
      </p:pic>
    </p:spTree>
    <p:extLst>
      <p:ext uri="{BB962C8B-B14F-4D97-AF65-F5344CB8AC3E}">
        <p14:creationId xmlns:p14="http://schemas.microsoft.com/office/powerpoint/2010/main" val="273595988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6C7B1C-6A03-4A72-B1B6-6898EF0DDBB5}"/>
              </a:ext>
            </a:extLst>
          </p:cNvPr>
          <p:cNvSpPr>
            <a:spLocks noGrp="1"/>
          </p:cNvSpPr>
          <p:nvPr>
            <p:ph type="title"/>
          </p:nvPr>
        </p:nvSpPr>
        <p:spPr/>
        <p:txBody>
          <a:bodyPr>
            <a:normAutofit/>
          </a:bodyPr>
          <a:lstStyle/>
          <a:p>
            <a:r>
              <a:rPr lang="en-US" altLang="zh-CN" sz="4000" b="1" dirty="0">
                <a:latin typeface="+mn-lt"/>
                <a:ea typeface="+mn-ea"/>
                <a:cs typeface="+mn-ea"/>
                <a:sym typeface="+mn-lt"/>
              </a:rPr>
              <a:t>From classification to semantic segmentation</a:t>
            </a:r>
            <a:endParaRPr lang="zh-CN" altLang="en-US" sz="4000" b="1" dirty="0">
              <a:latin typeface="+mn-lt"/>
              <a:ea typeface="+mn-ea"/>
              <a:cs typeface="+mn-ea"/>
              <a:sym typeface="+mn-lt"/>
            </a:endParaRPr>
          </a:p>
        </p:txBody>
      </p:sp>
      <p:pic>
        <p:nvPicPr>
          <p:cNvPr id="3" name="Picture 2">
            <a:extLst>
              <a:ext uri="{FF2B5EF4-FFF2-40B4-BE49-F238E27FC236}">
                <a16:creationId xmlns:a16="http://schemas.microsoft.com/office/drawing/2014/main" id="{8FAD18A6-FF24-4763-AD58-5E7669DF603F}"/>
              </a:ext>
            </a:extLst>
          </p:cNvPr>
          <p:cNvPicPr>
            <a:picLocks noChangeAspect="1"/>
          </p:cNvPicPr>
          <p:nvPr/>
        </p:nvPicPr>
        <p:blipFill>
          <a:blip r:embed="rId2"/>
          <a:stretch>
            <a:fillRect/>
          </a:stretch>
        </p:blipFill>
        <p:spPr>
          <a:xfrm>
            <a:off x="2631326" y="2965826"/>
            <a:ext cx="6929349" cy="3375836"/>
          </a:xfrm>
          <a:prstGeom prst="rect">
            <a:avLst/>
          </a:prstGeom>
        </p:spPr>
      </p:pic>
      <p:sp>
        <p:nvSpPr>
          <p:cNvPr id="7" name="TextBox 6">
            <a:extLst>
              <a:ext uri="{FF2B5EF4-FFF2-40B4-BE49-F238E27FC236}">
                <a16:creationId xmlns:a16="http://schemas.microsoft.com/office/drawing/2014/main" id="{4CFE00DE-1A0D-4DA1-8254-2562FB6CBB04}"/>
              </a:ext>
            </a:extLst>
          </p:cNvPr>
          <p:cNvSpPr txBox="1"/>
          <p:nvPr/>
        </p:nvSpPr>
        <p:spPr>
          <a:xfrm>
            <a:off x="4874484" y="6519446"/>
            <a:ext cx="7317516" cy="338554"/>
          </a:xfrm>
          <a:prstGeom prst="rect">
            <a:avLst/>
          </a:prstGeom>
          <a:noFill/>
        </p:spPr>
        <p:txBody>
          <a:bodyPr wrap="none" rtlCol="0">
            <a:spAutoFit/>
          </a:bodyPr>
          <a:lstStyle/>
          <a:p>
            <a:r>
              <a:rPr lang="en-US" altLang="zh-CN" sz="1600" dirty="0">
                <a:cs typeface="+mn-ea"/>
                <a:sym typeface="+mn-lt"/>
              </a:rPr>
              <a:t>Long, et al. </a:t>
            </a:r>
            <a:r>
              <a:rPr lang="en-US" altLang="zh-CN" sz="1600" b="1" dirty="0">
                <a:cs typeface="+mn-ea"/>
                <a:sym typeface="+mn-lt"/>
              </a:rPr>
              <a:t>Fully Convolutional Networks for Semantic Segmentation</a:t>
            </a:r>
            <a:r>
              <a:rPr lang="en-US" altLang="zh-CN" sz="1600" dirty="0">
                <a:cs typeface="+mn-ea"/>
                <a:sym typeface="+mn-lt"/>
              </a:rPr>
              <a:t>, </a:t>
            </a:r>
            <a:r>
              <a:rPr lang="en-US" altLang="zh-CN" sz="1600" i="1" dirty="0">
                <a:cs typeface="+mn-ea"/>
                <a:sym typeface="+mn-lt"/>
              </a:rPr>
              <a:t>CVPR</a:t>
            </a:r>
            <a:r>
              <a:rPr lang="en-US" altLang="zh-CN" sz="1600" dirty="0">
                <a:cs typeface="+mn-ea"/>
                <a:sym typeface="+mn-lt"/>
              </a:rPr>
              <a:t> </a:t>
            </a:r>
            <a:r>
              <a:rPr lang="en-US" altLang="zh-CN" sz="1600" i="1" dirty="0">
                <a:cs typeface="+mn-ea"/>
                <a:sym typeface="+mn-lt"/>
              </a:rPr>
              <a:t>2015</a:t>
            </a:r>
            <a:endParaRPr lang="zh-CN" altLang="en-US" sz="1600" i="1" dirty="0">
              <a:cs typeface="+mn-ea"/>
              <a:sym typeface="+mn-lt"/>
            </a:endParaRPr>
          </a:p>
        </p:txBody>
      </p:sp>
      <mc:AlternateContent xmlns:mc="http://schemas.openxmlformats.org/markup-compatibility/2006" xmlns:a14="http://schemas.microsoft.com/office/drawing/2010/main">
        <mc:Choice Requires="a14">
          <p:sp>
            <p:nvSpPr>
              <p:cNvPr id="8" name="Content Placeholder 2">
                <a:extLst>
                  <a:ext uri="{FF2B5EF4-FFF2-40B4-BE49-F238E27FC236}">
                    <a16:creationId xmlns:a16="http://schemas.microsoft.com/office/drawing/2014/main" id="{1E480B63-382A-4052-A792-7DA9542A1AFD}"/>
                  </a:ext>
                </a:extLst>
              </p:cNvPr>
              <p:cNvSpPr>
                <a:spLocks noGrp="1"/>
              </p:cNvSpPr>
              <p:nvPr>
                <p:ph idx="1"/>
              </p:nvPr>
            </p:nvSpPr>
            <p:spPr>
              <a:xfrm>
                <a:off x="838200" y="1690689"/>
                <a:ext cx="10370270" cy="1193914"/>
              </a:xfrm>
            </p:spPr>
            <p:txBody>
              <a:bodyPr>
                <a:normAutofit fontScale="92500"/>
              </a:bodyPr>
              <a:lstStyle/>
              <a:p>
                <a:pPr>
                  <a:lnSpc>
                    <a:spcPct val="100000"/>
                  </a:lnSpc>
                </a:pPr>
                <a:r>
                  <a:rPr lang="en-US" altLang="zh-CN" sz="2400" dirty="0">
                    <a:cs typeface="+mn-ea"/>
                    <a:sym typeface="+mn-lt"/>
                  </a:rPr>
                  <a:t>The fully-connected layer can be viewed as a convolution layer of kernel size </a:t>
                </a:r>
                <a14:m>
                  <m:oMath xmlns:m="http://schemas.openxmlformats.org/officeDocument/2006/math">
                    <m:r>
                      <a:rPr lang="en-US" altLang="zh-CN" sz="2400" i="1" dirty="0" smtClean="0">
                        <a:latin typeface="Cambria Math" panose="02040503050406030204" pitchFamily="18" charset="0"/>
                        <a:cs typeface="+mn-ea"/>
                        <a:sym typeface="+mn-lt"/>
                      </a:rPr>
                      <m:t>1∗1</m:t>
                    </m:r>
                  </m:oMath>
                </a14:m>
                <a:r>
                  <a:rPr lang="en-US" altLang="zh-CN" sz="2400" dirty="0">
                    <a:cs typeface="+mn-ea"/>
                    <a:sym typeface="+mn-lt"/>
                  </a:rPr>
                  <a:t>.</a:t>
                </a:r>
              </a:p>
              <a:p>
                <a:pPr>
                  <a:lnSpc>
                    <a:spcPct val="100000"/>
                  </a:lnSpc>
                </a:pPr>
                <a:r>
                  <a:rPr lang="en-US" altLang="zh-CN" sz="2400" dirty="0">
                    <a:cs typeface="+mn-ea"/>
                    <a:sym typeface="+mn-lt"/>
                  </a:rPr>
                  <a:t>The output will cover the entire input region.</a:t>
                </a:r>
              </a:p>
            </p:txBody>
          </p:sp>
        </mc:Choice>
        <mc:Fallback xmlns="">
          <p:sp>
            <p:nvSpPr>
              <p:cNvPr id="8" name="Content Placeholder 2">
                <a:extLst>
                  <a:ext uri="{FF2B5EF4-FFF2-40B4-BE49-F238E27FC236}">
                    <a16:creationId xmlns:a16="http://schemas.microsoft.com/office/drawing/2014/main" id="{1E480B63-382A-4052-A792-7DA9542A1AFD}"/>
                  </a:ext>
                </a:extLst>
              </p:cNvPr>
              <p:cNvSpPr>
                <a:spLocks noGrp="1" noRot="1" noChangeAspect="1" noMove="1" noResize="1" noEditPoints="1" noAdjustHandles="1" noChangeArrowheads="1" noChangeShapeType="1" noTextEdit="1"/>
              </p:cNvSpPr>
              <p:nvPr>
                <p:ph idx="1"/>
              </p:nvPr>
            </p:nvSpPr>
            <p:spPr>
              <a:xfrm>
                <a:off x="838200" y="1690689"/>
                <a:ext cx="10370270" cy="1193914"/>
              </a:xfrm>
              <a:blipFill>
                <a:blip r:embed="rId3"/>
                <a:stretch>
                  <a:fillRect l="-705" t="-3061"/>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30636231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05ECCEF-7529-4901-9FE5-25587E70B246}"/>
              </a:ext>
            </a:extLst>
          </p:cNvPr>
          <p:cNvPicPr>
            <a:picLocks noChangeAspect="1"/>
          </p:cNvPicPr>
          <p:nvPr/>
        </p:nvPicPr>
        <p:blipFill>
          <a:blip r:embed="rId3"/>
          <a:stretch>
            <a:fillRect/>
          </a:stretch>
        </p:blipFill>
        <p:spPr>
          <a:xfrm>
            <a:off x="1245909" y="2391566"/>
            <a:ext cx="9700181" cy="2469496"/>
          </a:xfrm>
          <a:prstGeom prst="rect">
            <a:avLst/>
          </a:prstGeom>
        </p:spPr>
      </p:pic>
      <p:sp>
        <p:nvSpPr>
          <p:cNvPr id="6" name="Content Placeholder 2">
            <a:extLst>
              <a:ext uri="{FF2B5EF4-FFF2-40B4-BE49-F238E27FC236}">
                <a16:creationId xmlns:a16="http://schemas.microsoft.com/office/drawing/2014/main" id="{5DDB5A96-F722-44D9-924C-A06A4C59AA93}"/>
              </a:ext>
            </a:extLst>
          </p:cNvPr>
          <p:cNvSpPr>
            <a:spLocks noGrp="1"/>
          </p:cNvSpPr>
          <p:nvPr>
            <p:ph idx="1"/>
          </p:nvPr>
        </p:nvSpPr>
        <p:spPr>
          <a:xfrm>
            <a:off x="838200" y="1690689"/>
            <a:ext cx="10370270" cy="1193914"/>
          </a:xfrm>
        </p:spPr>
        <p:txBody>
          <a:bodyPr>
            <a:normAutofit/>
          </a:bodyPr>
          <a:lstStyle/>
          <a:p>
            <a:r>
              <a:rPr lang="en-US" altLang="zh-CN" sz="2400" b="1" dirty="0">
                <a:solidFill>
                  <a:srgbClr val="00B0F0"/>
                </a:solidFill>
                <a:cs typeface="+mn-ea"/>
                <a:sym typeface="+mn-lt"/>
              </a:rPr>
              <a:t>Dense Prediction: </a:t>
            </a:r>
            <a:r>
              <a:rPr lang="en-US" altLang="zh-CN" sz="2400" dirty="0">
                <a:cs typeface="+mn-ea"/>
                <a:sym typeface="+mn-lt"/>
              </a:rPr>
              <a:t>fully convolutional, end-to-end, pixel-to-pixel network</a:t>
            </a:r>
          </a:p>
        </p:txBody>
      </p:sp>
      <p:sp>
        <p:nvSpPr>
          <p:cNvPr id="7" name="Content Placeholder 2">
            <a:extLst>
              <a:ext uri="{FF2B5EF4-FFF2-40B4-BE49-F238E27FC236}">
                <a16:creationId xmlns:a16="http://schemas.microsoft.com/office/drawing/2014/main" id="{DCE992EC-0960-4779-9ECE-8C8555260DBA}"/>
              </a:ext>
            </a:extLst>
          </p:cNvPr>
          <p:cNvSpPr txBox="1">
            <a:spLocks/>
          </p:cNvSpPr>
          <p:nvPr/>
        </p:nvSpPr>
        <p:spPr>
          <a:xfrm>
            <a:off x="838200" y="5167311"/>
            <a:ext cx="10370270" cy="1193914"/>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125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10000"/>
              </a:lnSpc>
            </a:pPr>
            <a:r>
              <a:rPr lang="en-US" altLang="zh-CN" sz="2400" b="1" dirty="0">
                <a:solidFill>
                  <a:srgbClr val="C00000"/>
                </a:solidFill>
                <a:cs typeface="+mn-ea"/>
                <a:sym typeface="+mn-lt"/>
              </a:rPr>
              <a:t>Problems</a:t>
            </a:r>
          </a:p>
          <a:p>
            <a:pPr lvl="1">
              <a:lnSpc>
                <a:spcPct val="110000"/>
              </a:lnSpc>
            </a:pPr>
            <a:r>
              <a:rPr lang="en-US" altLang="zh-CN" sz="2000" dirty="0">
                <a:cs typeface="+mn-ea"/>
                <a:sym typeface="+mn-lt"/>
              </a:rPr>
              <a:t>Output is small than the input  </a:t>
            </a:r>
            <a:r>
              <a:rPr lang="en-US" altLang="zh-CN" sz="2000" dirty="0">
                <a:cs typeface="+mn-ea"/>
                <a:sym typeface="Wingdings" panose="05000000000000000000" pitchFamily="2" charset="2"/>
              </a:rPr>
              <a:t></a:t>
            </a:r>
            <a:r>
              <a:rPr lang="en-US" altLang="zh-CN" sz="2000" dirty="0">
                <a:cs typeface="+mn-ea"/>
                <a:sym typeface="+mn-lt"/>
              </a:rPr>
              <a:t> Add upsampling layers</a:t>
            </a:r>
          </a:p>
          <a:p>
            <a:pPr lvl="1">
              <a:lnSpc>
                <a:spcPct val="110000"/>
              </a:lnSpc>
            </a:pPr>
            <a:r>
              <a:rPr lang="en-US" altLang="zh-CN" sz="2000" dirty="0">
                <a:cs typeface="+mn-ea"/>
                <a:sym typeface="+mn-lt"/>
              </a:rPr>
              <a:t>Output is very coarse </a:t>
            </a:r>
            <a:r>
              <a:rPr lang="en-US" altLang="zh-CN" sz="2000" dirty="0">
                <a:cs typeface="+mn-ea"/>
                <a:sym typeface="Wingdings" panose="05000000000000000000" pitchFamily="2" charset="2"/>
              </a:rPr>
              <a:t></a:t>
            </a:r>
            <a:r>
              <a:rPr lang="en-US" altLang="zh-CN" sz="2000" dirty="0">
                <a:cs typeface="+mn-ea"/>
                <a:sym typeface="+mn-lt"/>
              </a:rPr>
              <a:t> Add fine details from previous layers</a:t>
            </a:r>
          </a:p>
        </p:txBody>
      </p:sp>
      <p:sp>
        <p:nvSpPr>
          <p:cNvPr id="8" name="TextBox 7">
            <a:extLst>
              <a:ext uri="{FF2B5EF4-FFF2-40B4-BE49-F238E27FC236}">
                <a16:creationId xmlns:a16="http://schemas.microsoft.com/office/drawing/2014/main" id="{6CE69D4E-858A-4244-8237-518F8D823578}"/>
              </a:ext>
            </a:extLst>
          </p:cNvPr>
          <p:cNvSpPr txBox="1"/>
          <p:nvPr/>
        </p:nvSpPr>
        <p:spPr>
          <a:xfrm>
            <a:off x="9009864" y="4699885"/>
            <a:ext cx="2953536" cy="646331"/>
          </a:xfrm>
          <a:prstGeom prst="rect">
            <a:avLst/>
          </a:prstGeom>
          <a:noFill/>
        </p:spPr>
        <p:txBody>
          <a:bodyPr wrap="square" rtlCol="0">
            <a:spAutoFit/>
          </a:bodyPr>
          <a:lstStyle/>
          <a:p>
            <a:r>
              <a:rPr lang="en-US" altLang="zh-CN" dirty="0">
                <a:solidFill>
                  <a:srgbClr val="7030A0"/>
                </a:solidFill>
                <a:cs typeface="+mn-ea"/>
                <a:sym typeface="+mn-lt"/>
              </a:rPr>
              <a:t>Pixelwise cross-entropy loss function for training.</a:t>
            </a:r>
            <a:endParaRPr lang="zh-CN" altLang="en-US" dirty="0">
              <a:solidFill>
                <a:srgbClr val="7030A0"/>
              </a:solidFill>
              <a:cs typeface="+mn-ea"/>
              <a:sym typeface="+mn-lt"/>
            </a:endParaRPr>
          </a:p>
        </p:txBody>
      </p:sp>
      <p:sp>
        <p:nvSpPr>
          <p:cNvPr id="9" name="Title 1">
            <a:extLst>
              <a:ext uri="{FF2B5EF4-FFF2-40B4-BE49-F238E27FC236}">
                <a16:creationId xmlns:a16="http://schemas.microsoft.com/office/drawing/2014/main" id="{A07DD832-EED2-42AB-B5F7-A4F5424CB9B1}"/>
              </a:ext>
            </a:extLst>
          </p:cNvPr>
          <p:cNvSpPr txBox="1">
            <a:spLocks/>
          </p:cNvSpPr>
          <p:nvPr/>
        </p:nvSpPr>
        <p:spPr>
          <a:xfrm>
            <a:off x="838200" y="3651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4000" b="1" dirty="0">
                <a:latin typeface="+mn-lt"/>
                <a:ea typeface="+mn-ea"/>
                <a:cs typeface="+mn-ea"/>
                <a:sym typeface="+mn-lt"/>
              </a:rPr>
              <a:t>From classification to semantic segmentation</a:t>
            </a:r>
            <a:endParaRPr lang="zh-CN" altLang="en-US" sz="4000" b="1" dirty="0">
              <a:latin typeface="+mn-lt"/>
              <a:ea typeface="+mn-ea"/>
              <a:cs typeface="+mn-ea"/>
              <a:sym typeface="+mn-lt"/>
            </a:endParaRPr>
          </a:p>
        </p:txBody>
      </p:sp>
    </p:spTree>
    <p:extLst>
      <p:ext uri="{BB962C8B-B14F-4D97-AF65-F5344CB8AC3E}">
        <p14:creationId xmlns:p14="http://schemas.microsoft.com/office/powerpoint/2010/main" val="129545458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2">
            <a:extLst>
              <a:ext uri="{FF2B5EF4-FFF2-40B4-BE49-F238E27FC236}">
                <a16:creationId xmlns:a16="http://schemas.microsoft.com/office/drawing/2014/main" id="{5DDB5A96-F722-44D9-924C-A06A4C59AA93}"/>
              </a:ext>
            </a:extLst>
          </p:cNvPr>
          <p:cNvSpPr>
            <a:spLocks noGrp="1"/>
          </p:cNvSpPr>
          <p:nvPr>
            <p:ph idx="1"/>
          </p:nvPr>
        </p:nvSpPr>
        <p:spPr>
          <a:xfrm>
            <a:off x="838200" y="1690689"/>
            <a:ext cx="10370270" cy="1193914"/>
          </a:xfrm>
        </p:spPr>
        <p:txBody>
          <a:bodyPr>
            <a:normAutofit/>
          </a:bodyPr>
          <a:lstStyle/>
          <a:p>
            <a:r>
              <a:rPr lang="en-US" altLang="zh-CN" sz="2400" b="1" dirty="0">
                <a:solidFill>
                  <a:srgbClr val="00B0F0"/>
                </a:solidFill>
                <a:cs typeface="+mn-ea"/>
                <a:sym typeface="+mn-lt"/>
              </a:rPr>
              <a:t>Dense Prediction: </a:t>
            </a:r>
            <a:r>
              <a:rPr lang="en-US" altLang="zh-CN" sz="2400" dirty="0">
                <a:cs typeface="+mn-ea"/>
                <a:sym typeface="+mn-lt"/>
              </a:rPr>
              <a:t>fully convolutional, end-to-end, pixel-to-pixel network</a:t>
            </a:r>
          </a:p>
        </p:txBody>
      </p:sp>
      <p:sp>
        <p:nvSpPr>
          <p:cNvPr id="8" name="TextBox 7">
            <a:extLst>
              <a:ext uri="{FF2B5EF4-FFF2-40B4-BE49-F238E27FC236}">
                <a16:creationId xmlns:a16="http://schemas.microsoft.com/office/drawing/2014/main" id="{6CE69D4E-858A-4244-8237-518F8D823578}"/>
              </a:ext>
            </a:extLst>
          </p:cNvPr>
          <p:cNvSpPr txBox="1"/>
          <p:nvPr/>
        </p:nvSpPr>
        <p:spPr>
          <a:xfrm>
            <a:off x="8179520" y="5912971"/>
            <a:ext cx="2953536" cy="646331"/>
          </a:xfrm>
          <a:prstGeom prst="rect">
            <a:avLst/>
          </a:prstGeom>
          <a:noFill/>
        </p:spPr>
        <p:txBody>
          <a:bodyPr wrap="square" rtlCol="0">
            <a:spAutoFit/>
          </a:bodyPr>
          <a:lstStyle/>
          <a:p>
            <a:r>
              <a:rPr lang="en-US" altLang="zh-CN" b="1" dirty="0">
                <a:solidFill>
                  <a:srgbClr val="7030A0"/>
                </a:solidFill>
                <a:cs typeface="+mn-ea"/>
                <a:sym typeface="+mn-lt"/>
              </a:rPr>
              <a:t>Pixelwise cross-entropy loss function for training.</a:t>
            </a:r>
            <a:endParaRPr lang="zh-CN" altLang="en-US" b="1" dirty="0">
              <a:solidFill>
                <a:srgbClr val="7030A0"/>
              </a:solidFill>
              <a:cs typeface="+mn-ea"/>
              <a:sym typeface="+mn-lt"/>
            </a:endParaRPr>
          </a:p>
        </p:txBody>
      </p:sp>
      <p:sp>
        <p:nvSpPr>
          <p:cNvPr id="9" name="Title 1">
            <a:extLst>
              <a:ext uri="{FF2B5EF4-FFF2-40B4-BE49-F238E27FC236}">
                <a16:creationId xmlns:a16="http://schemas.microsoft.com/office/drawing/2014/main" id="{A07DD832-EED2-42AB-B5F7-A4F5424CB9B1}"/>
              </a:ext>
            </a:extLst>
          </p:cNvPr>
          <p:cNvSpPr txBox="1">
            <a:spLocks/>
          </p:cNvSpPr>
          <p:nvPr/>
        </p:nvSpPr>
        <p:spPr>
          <a:xfrm>
            <a:off x="838200" y="3651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4000" b="1">
                <a:latin typeface="+mn-lt"/>
                <a:ea typeface="+mn-ea"/>
                <a:cs typeface="+mn-ea"/>
                <a:sym typeface="+mn-lt"/>
              </a:rPr>
              <a:t>From classification to semantic segmentation</a:t>
            </a:r>
            <a:endParaRPr lang="zh-CN" altLang="en-US" sz="4000" b="1" dirty="0">
              <a:latin typeface="+mn-lt"/>
              <a:ea typeface="+mn-ea"/>
              <a:cs typeface="+mn-ea"/>
              <a:sym typeface="+mn-lt"/>
            </a:endParaRPr>
          </a:p>
        </p:txBody>
      </p:sp>
      <p:pic>
        <p:nvPicPr>
          <p:cNvPr id="10" name="Picture 9">
            <a:extLst>
              <a:ext uri="{FF2B5EF4-FFF2-40B4-BE49-F238E27FC236}">
                <a16:creationId xmlns:a16="http://schemas.microsoft.com/office/drawing/2014/main" id="{EB1C6ECD-1783-4623-BD22-A84C96D8FB9D}"/>
              </a:ext>
            </a:extLst>
          </p:cNvPr>
          <p:cNvPicPr>
            <a:picLocks noChangeAspect="1"/>
          </p:cNvPicPr>
          <p:nvPr/>
        </p:nvPicPr>
        <p:blipFill>
          <a:blip r:embed="rId3"/>
          <a:stretch>
            <a:fillRect/>
          </a:stretch>
        </p:blipFill>
        <p:spPr>
          <a:xfrm>
            <a:off x="2546451" y="2381095"/>
            <a:ext cx="6953768" cy="3487801"/>
          </a:xfrm>
          <a:prstGeom prst="rect">
            <a:avLst/>
          </a:prstGeom>
        </p:spPr>
      </p:pic>
      <p:cxnSp>
        <p:nvCxnSpPr>
          <p:cNvPr id="4" name="Straight Arrow Connector 3">
            <a:extLst>
              <a:ext uri="{FF2B5EF4-FFF2-40B4-BE49-F238E27FC236}">
                <a16:creationId xmlns:a16="http://schemas.microsoft.com/office/drawing/2014/main" id="{A323FA1E-A4FE-44E0-8E95-309E03363EF7}"/>
              </a:ext>
            </a:extLst>
          </p:cNvPr>
          <p:cNvCxnSpPr>
            <a:stCxn id="8" idx="0"/>
          </p:cNvCxnSpPr>
          <p:nvPr/>
        </p:nvCxnSpPr>
        <p:spPr>
          <a:xfrm flipH="1" flipV="1">
            <a:off x="8700940" y="5167311"/>
            <a:ext cx="955348" cy="745660"/>
          </a:xfrm>
          <a:prstGeom prst="straightConnector1">
            <a:avLst/>
          </a:prstGeom>
          <a:ln w="57150">
            <a:solidFill>
              <a:srgbClr val="7030A0"/>
            </a:solidFill>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A9F1BEA6-261C-44FA-A972-12F3902C11A8}"/>
              </a:ext>
            </a:extLst>
          </p:cNvPr>
          <p:cNvSpPr txBox="1"/>
          <p:nvPr/>
        </p:nvSpPr>
        <p:spPr>
          <a:xfrm>
            <a:off x="4342419" y="5978959"/>
            <a:ext cx="2510867" cy="646331"/>
          </a:xfrm>
          <a:prstGeom prst="rect">
            <a:avLst/>
          </a:prstGeom>
          <a:noFill/>
        </p:spPr>
        <p:txBody>
          <a:bodyPr wrap="square" rtlCol="0">
            <a:spAutoFit/>
          </a:bodyPr>
          <a:lstStyle/>
          <a:p>
            <a:r>
              <a:rPr lang="en-US" altLang="zh-CN" b="1" dirty="0">
                <a:solidFill>
                  <a:srgbClr val="7030A0"/>
                </a:solidFill>
                <a:cs typeface="+mn-ea"/>
                <a:sym typeface="+mn-lt"/>
              </a:rPr>
              <a:t>Learnable Upsampling (Deconvolution)</a:t>
            </a:r>
            <a:endParaRPr lang="zh-CN" altLang="en-US" b="1" dirty="0">
              <a:solidFill>
                <a:srgbClr val="7030A0"/>
              </a:solidFill>
              <a:cs typeface="+mn-ea"/>
              <a:sym typeface="+mn-lt"/>
            </a:endParaRPr>
          </a:p>
        </p:txBody>
      </p:sp>
      <p:cxnSp>
        <p:nvCxnSpPr>
          <p:cNvPr id="12" name="Straight Arrow Connector 11">
            <a:extLst>
              <a:ext uri="{FF2B5EF4-FFF2-40B4-BE49-F238E27FC236}">
                <a16:creationId xmlns:a16="http://schemas.microsoft.com/office/drawing/2014/main" id="{422535D4-A91E-4A0D-9EFD-A91D72226479}"/>
              </a:ext>
            </a:extLst>
          </p:cNvPr>
          <p:cNvCxnSpPr>
            <a:cxnSpLocks/>
            <a:stCxn id="11" idx="0"/>
          </p:cNvCxnSpPr>
          <p:nvPr/>
        </p:nvCxnSpPr>
        <p:spPr>
          <a:xfrm flipV="1">
            <a:off x="5597853" y="5326144"/>
            <a:ext cx="1500677" cy="652815"/>
          </a:xfrm>
          <a:prstGeom prst="straightConnector1">
            <a:avLst/>
          </a:prstGeom>
          <a:ln w="57150">
            <a:solidFill>
              <a:srgbClr val="7030A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1523640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D1DFBA-1D14-4F44-982E-FFD8F58CD9D9}"/>
              </a:ext>
            </a:extLst>
          </p:cNvPr>
          <p:cNvSpPr>
            <a:spLocks noGrp="1"/>
          </p:cNvSpPr>
          <p:nvPr>
            <p:ph type="title"/>
          </p:nvPr>
        </p:nvSpPr>
        <p:spPr/>
        <p:txBody>
          <a:bodyPr>
            <a:normAutofit/>
          </a:bodyPr>
          <a:lstStyle/>
          <a:p>
            <a:r>
              <a:rPr lang="en-US" altLang="zh-CN" sz="4000" b="1" dirty="0">
                <a:cs typeface="+mn-ea"/>
                <a:sym typeface="+mn-lt"/>
              </a:rPr>
              <a:t>From classification to semantic segmentation</a:t>
            </a:r>
            <a:endParaRPr lang="zh-CN" altLang="en-US" sz="4000" dirty="0"/>
          </a:p>
        </p:txBody>
      </p:sp>
      <p:pic>
        <p:nvPicPr>
          <p:cNvPr id="4" name="Picture 3">
            <a:extLst>
              <a:ext uri="{FF2B5EF4-FFF2-40B4-BE49-F238E27FC236}">
                <a16:creationId xmlns:a16="http://schemas.microsoft.com/office/drawing/2014/main" id="{5D705A22-1600-4FC7-9B16-1F1CCECB9C5F}"/>
              </a:ext>
            </a:extLst>
          </p:cNvPr>
          <p:cNvPicPr>
            <a:picLocks noChangeAspect="1"/>
          </p:cNvPicPr>
          <p:nvPr/>
        </p:nvPicPr>
        <p:blipFill>
          <a:blip r:embed="rId2"/>
          <a:stretch>
            <a:fillRect/>
          </a:stretch>
        </p:blipFill>
        <p:spPr>
          <a:xfrm>
            <a:off x="652630" y="2087487"/>
            <a:ext cx="10886739" cy="3827614"/>
          </a:xfrm>
          <a:prstGeom prst="rect">
            <a:avLst/>
          </a:prstGeom>
        </p:spPr>
      </p:pic>
    </p:spTree>
    <p:extLst>
      <p:ext uri="{BB962C8B-B14F-4D97-AF65-F5344CB8AC3E}">
        <p14:creationId xmlns:p14="http://schemas.microsoft.com/office/powerpoint/2010/main" val="409304717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7C9A1B-66F9-4EF1-A154-0BDBB897A576}"/>
              </a:ext>
            </a:extLst>
          </p:cNvPr>
          <p:cNvSpPr>
            <a:spLocks noGrp="1"/>
          </p:cNvSpPr>
          <p:nvPr>
            <p:ph type="title"/>
          </p:nvPr>
        </p:nvSpPr>
        <p:spPr/>
        <p:txBody>
          <a:bodyPr/>
          <a:lstStyle/>
          <a:p>
            <a:r>
              <a:rPr lang="en-US" altLang="zh-CN" b="1" dirty="0">
                <a:latin typeface="+mn-lt"/>
                <a:ea typeface="+mn-ea"/>
                <a:cs typeface="+mn-ea"/>
                <a:sym typeface="+mn-lt"/>
              </a:rPr>
              <a:t>Upsampling -- UnPooling</a:t>
            </a:r>
            <a:endParaRPr lang="zh-CN" altLang="en-US" b="1" dirty="0">
              <a:latin typeface="+mn-lt"/>
              <a:ea typeface="+mn-ea"/>
              <a:cs typeface="+mn-ea"/>
              <a:sym typeface="+mn-lt"/>
            </a:endParaRPr>
          </a:p>
        </p:txBody>
      </p:sp>
      <p:pic>
        <p:nvPicPr>
          <p:cNvPr id="4" name="Picture 3">
            <a:extLst>
              <a:ext uri="{FF2B5EF4-FFF2-40B4-BE49-F238E27FC236}">
                <a16:creationId xmlns:a16="http://schemas.microsoft.com/office/drawing/2014/main" id="{265059DB-284E-4AA7-815F-B154DE000F78}"/>
              </a:ext>
            </a:extLst>
          </p:cNvPr>
          <p:cNvPicPr>
            <a:picLocks noChangeAspect="1"/>
          </p:cNvPicPr>
          <p:nvPr/>
        </p:nvPicPr>
        <p:blipFill>
          <a:blip r:embed="rId2"/>
          <a:stretch>
            <a:fillRect/>
          </a:stretch>
        </p:blipFill>
        <p:spPr>
          <a:xfrm>
            <a:off x="941656" y="2325574"/>
            <a:ext cx="10308688" cy="3212988"/>
          </a:xfrm>
          <a:prstGeom prst="rect">
            <a:avLst/>
          </a:prstGeom>
        </p:spPr>
      </p:pic>
    </p:spTree>
    <p:extLst>
      <p:ext uri="{BB962C8B-B14F-4D97-AF65-F5344CB8AC3E}">
        <p14:creationId xmlns:p14="http://schemas.microsoft.com/office/powerpoint/2010/main" val="395160344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1A51A8-29FD-4749-985C-0A78AD6BA4CD}"/>
              </a:ext>
            </a:extLst>
          </p:cNvPr>
          <p:cNvSpPr>
            <a:spLocks noGrp="1"/>
          </p:cNvSpPr>
          <p:nvPr>
            <p:ph type="title"/>
          </p:nvPr>
        </p:nvSpPr>
        <p:spPr/>
        <p:txBody>
          <a:bodyPr/>
          <a:lstStyle/>
          <a:p>
            <a:r>
              <a:rPr lang="en-US" altLang="zh-CN" b="1" dirty="0">
                <a:latin typeface="+mn-lt"/>
                <a:ea typeface="+mn-ea"/>
                <a:cs typeface="+mn-ea"/>
                <a:sym typeface="+mn-lt"/>
              </a:rPr>
              <a:t>Upsampling – Max UnPooling</a:t>
            </a:r>
            <a:endParaRPr lang="zh-CN" altLang="en-US" dirty="0">
              <a:latin typeface="+mn-lt"/>
              <a:ea typeface="+mn-ea"/>
              <a:cs typeface="+mn-ea"/>
              <a:sym typeface="+mn-lt"/>
            </a:endParaRPr>
          </a:p>
        </p:txBody>
      </p:sp>
      <p:pic>
        <p:nvPicPr>
          <p:cNvPr id="4" name="Picture 3">
            <a:extLst>
              <a:ext uri="{FF2B5EF4-FFF2-40B4-BE49-F238E27FC236}">
                <a16:creationId xmlns:a16="http://schemas.microsoft.com/office/drawing/2014/main" id="{15ACFA94-74E4-4F70-93BE-D5E90A89AEAE}"/>
              </a:ext>
            </a:extLst>
          </p:cNvPr>
          <p:cNvPicPr>
            <a:picLocks noChangeAspect="1"/>
          </p:cNvPicPr>
          <p:nvPr/>
        </p:nvPicPr>
        <p:blipFill>
          <a:blip r:embed="rId2"/>
          <a:stretch>
            <a:fillRect/>
          </a:stretch>
        </p:blipFill>
        <p:spPr>
          <a:xfrm>
            <a:off x="985361" y="1690688"/>
            <a:ext cx="10221278" cy="4492685"/>
          </a:xfrm>
          <a:prstGeom prst="rect">
            <a:avLst/>
          </a:prstGeom>
        </p:spPr>
      </p:pic>
    </p:spTree>
    <p:extLst>
      <p:ext uri="{BB962C8B-B14F-4D97-AF65-F5344CB8AC3E}">
        <p14:creationId xmlns:p14="http://schemas.microsoft.com/office/powerpoint/2010/main" val="338650908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8CF59F-86BF-4A56-BADB-3F12E4EB940D}"/>
              </a:ext>
            </a:extLst>
          </p:cNvPr>
          <p:cNvSpPr>
            <a:spLocks noGrp="1"/>
          </p:cNvSpPr>
          <p:nvPr>
            <p:ph type="title"/>
          </p:nvPr>
        </p:nvSpPr>
        <p:spPr/>
        <p:txBody>
          <a:bodyPr/>
          <a:lstStyle/>
          <a:p>
            <a:r>
              <a:rPr lang="en-US" altLang="zh-CN" b="1" dirty="0">
                <a:solidFill>
                  <a:srgbClr val="00B0F0"/>
                </a:solidFill>
                <a:cs typeface="+mn-ea"/>
                <a:sym typeface="+mn-lt"/>
              </a:rPr>
              <a:t>Learnable upsampling: </a:t>
            </a:r>
            <a:r>
              <a:rPr lang="en-US" altLang="zh-CN" b="1" dirty="0">
                <a:cs typeface="+mn-ea"/>
                <a:sym typeface="+mn-lt"/>
              </a:rPr>
              <a:t>convolution layer</a:t>
            </a:r>
            <a:endParaRPr lang="zh-CN" altLang="en-US" b="1" dirty="0"/>
          </a:p>
        </p:txBody>
      </p:sp>
      <p:pic>
        <p:nvPicPr>
          <p:cNvPr id="4" name="Picture 2" descr="https://adeshpande3.github.io/assets/Stride1.png">
            <a:extLst>
              <a:ext uri="{FF2B5EF4-FFF2-40B4-BE49-F238E27FC236}">
                <a16:creationId xmlns:a16="http://schemas.microsoft.com/office/drawing/2014/main" id="{F3197982-E5E5-4F99-BB1D-9FDBB052D8C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96387" y="2865255"/>
            <a:ext cx="4832543" cy="1920000"/>
          </a:xfrm>
          <a:prstGeom prst="rect">
            <a:avLst/>
          </a:prstGeom>
          <a:noFill/>
          <a:extLst>
            <a:ext uri="{909E8E84-426E-40DD-AFC4-6F175D3DCCD1}">
              <a14:hiddenFill xmlns:a14="http://schemas.microsoft.com/office/drawing/2010/main">
                <a:solidFill>
                  <a:srgbClr val="FFFFFF"/>
                </a:solidFill>
              </a14:hiddenFill>
            </a:ext>
          </a:extLst>
        </p:spPr>
      </p:pic>
      <p:sp>
        <p:nvSpPr>
          <p:cNvPr id="5" name="文本框 8">
            <a:extLst>
              <a:ext uri="{FF2B5EF4-FFF2-40B4-BE49-F238E27FC236}">
                <a16:creationId xmlns:a16="http://schemas.microsoft.com/office/drawing/2014/main" id="{6FE890D7-0946-43B2-8FA1-B897CDF6213E}"/>
              </a:ext>
            </a:extLst>
          </p:cNvPr>
          <p:cNvSpPr txBox="1"/>
          <p:nvPr/>
        </p:nvSpPr>
        <p:spPr>
          <a:xfrm>
            <a:off x="2919199" y="4987269"/>
            <a:ext cx="1386918" cy="461665"/>
          </a:xfrm>
          <a:prstGeom prst="rect">
            <a:avLst/>
          </a:prstGeom>
          <a:noFill/>
        </p:spPr>
        <p:txBody>
          <a:bodyPr wrap="square" rtlCol="0">
            <a:spAutoFit/>
          </a:bodyPr>
          <a:lstStyle/>
          <a:p>
            <a:r>
              <a:rPr lang="en-US" sz="2400" dirty="0">
                <a:solidFill>
                  <a:srgbClr val="00B0F0"/>
                </a:solidFill>
                <a:cs typeface="+mn-ea"/>
                <a:sym typeface="+mn-lt"/>
              </a:rPr>
              <a:t>K=3, S=1</a:t>
            </a:r>
          </a:p>
        </p:txBody>
      </p:sp>
      <p:pic>
        <p:nvPicPr>
          <p:cNvPr id="7" name="图片 5">
            <a:extLst>
              <a:ext uri="{FF2B5EF4-FFF2-40B4-BE49-F238E27FC236}">
                <a16:creationId xmlns:a16="http://schemas.microsoft.com/office/drawing/2014/main" id="{61432079-E720-417B-8F0E-4904D5A150D5}"/>
              </a:ext>
            </a:extLst>
          </p:cNvPr>
          <p:cNvPicPr>
            <a:picLocks noChangeAspect="1"/>
          </p:cNvPicPr>
          <p:nvPr/>
        </p:nvPicPr>
        <p:blipFill>
          <a:blip r:embed="rId3"/>
          <a:stretch>
            <a:fillRect/>
          </a:stretch>
        </p:blipFill>
        <p:spPr>
          <a:xfrm>
            <a:off x="6998547" y="2529093"/>
            <a:ext cx="3049743" cy="2729199"/>
          </a:xfrm>
          <a:prstGeom prst="rect">
            <a:avLst/>
          </a:prstGeom>
        </p:spPr>
      </p:pic>
      <p:pic>
        <p:nvPicPr>
          <p:cNvPr id="8" name="图片 9">
            <a:extLst>
              <a:ext uri="{FF2B5EF4-FFF2-40B4-BE49-F238E27FC236}">
                <a16:creationId xmlns:a16="http://schemas.microsoft.com/office/drawing/2014/main" id="{12454C50-DEFE-4A01-B21E-DE561A96FFA7}"/>
              </a:ext>
            </a:extLst>
          </p:cNvPr>
          <p:cNvPicPr>
            <a:picLocks noChangeAspect="1"/>
          </p:cNvPicPr>
          <p:nvPr/>
        </p:nvPicPr>
        <p:blipFill>
          <a:blip r:embed="rId4"/>
          <a:stretch>
            <a:fillRect/>
          </a:stretch>
        </p:blipFill>
        <p:spPr>
          <a:xfrm>
            <a:off x="7464378" y="5210899"/>
            <a:ext cx="2627753" cy="793689"/>
          </a:xfrm>
          <a:prstGeom prst="rect">
            <a:avLst/>
          </a:prstGeom>
        </p:spPr>
      </p:pic>
    </p:spTree>
    <p:extLst>
      <p:ext uri="{BB962C8B-B14F-4D97-AF65-F5344CB8AC3E}">
        <p14:creationId xmlns:p14="http://schemas.microsoft.com/office/powerpoint/2010/main" val="283634600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9BCE4E-2DEF-48E6-89D0-2F13C9195F3D}"/>
              </a:ext>
            </a:extLst>
          </p:cNvPr>
          <p:cNvSpPr>
            <a:spLocks noGrp="1"/>
          </p:cNvSpPr>
          <p:nvPr>
            <p:ph type="title"/>
          </p:nvPr>
        </p:nvSpPr>
        <p:spPr/>
        <p:txBody>
          <a:bodyPr>
            <a:normAutofit/>
          </a:bodyPr>
          <a:lstStyle/>
          <a:p>
            <a:r>
              <a:rPr lang="en-US" altLang="zh-CN" sz="3600" b="1" dirty="0">
                <a:solidFill>
                  <a:srgbClr val="00B0F0"/>
                </a:solidFill>
                <a:latin typeface="+mn-lt"/>
                <a:ea typeface="+mn-ea"/>
                <a:cs typeface="+mn-ea"/>
                <a:sym typeface="+mn-lt"/>
              </a:rPr>
              <a:t>Learnable upsampling: </a:t>
            </a:r>
            <a:r>
              <a:rPr lang="en-US" altLang="zh-CN" sz="3600" b="1" dirty="0">
                <a:latin typeface="+mn-lt"/>
                <a:ea typeface="+mn-ea"/>
                <a:cs typeface="+mn-ea"/>
                <a:sym typeface="+mn-lt"/>
              </a:rPr>
              <a:t>recovering spatial shape</a:t>
            </a:r>
            <a:endParaRPr lang="zh-CN" altLang="en-US" sz="3600" b="1" dirty="0">
              <a:latin typeface="+mn-lt"/>
              <a:ea typeface="+mn-ea"/>
              <a:cs typeface="+mn-ea"/>
              <a:sym typeface="+mn-lt"/>
            </a:endParaRPr>
          </a:p>
        </p:txBody>
      </p:sp>
      <p:sp>
        <p:nvSpPr>
          <p:cNvPr id="5" name="TextBox 4">
            <a:extLst>
              <a:ext uri="{FF2B5EF4-FFF2-40B4-BE49-F238E27FC236}">
                <a16:creationId xmlns:a16="http://schemas.microsoft.com/office/drawing/2014/main" id="{1E847C97-349C-481D-A8FD-22D221D57885}"/>
              </a:ext>
            </a:extLst>
          </p:cNvPr>
          <p:cNvSpPr txBox="1"/>
          <p:nvPr/>
        </p:nvSpPr>
        <p:spPr>
          <a:xfrm>
            <a:off x="6420315" y="6590354"/>
            <a:ext cx="5783122" cy="276999"/>
          </a:xfrm>
          <a:prstGeom prst="rect">
            <a:avLst/>
          </a:prstGeom>
          <a:noFill/>
        </p:spPr>
        <p:txBody>
          <a:bodyPr wrap="none" rtlCol="0">
            <a:spAutoFit/>
          </a:bodyPr>
          <a:lstStyle/>
          <a:p>
            <a:r>
              <a:rPr lang="en-US" altLang="zh-CN" sz="1200" dirty="0">
                <a:cs typeface="+mn-ea"/>
                <a:sym typeface="+mn-lt"/>
              </a:rPr>
              <a:t>Vincent Dumoulin, Francesco </a:t>
            </a:r>
            <a:r>
              <a:rPr lang="en-US" altLang="zh-CN" sz="1200" dirty="0" err="1">
                <a:cs typeface="+mn-ea"/>
                <a:sym typeface="+mn-lt"/>
              </a:rPr>
              <a:t>Visin</a:t>
            </a:r>
            <a:r>
              <a:rPr lang="en-US" altLang="zh-CN" sz="1200" dirty="0">
                <a:cs typeface="+mn-ea"/>
                <a:sym typeface="+mn-lt"/>
              </a:rPr>
              <a:t>, “A guide to convolution arithmetic for deep learning”</a:t>
            </a:r>
            <a:endParaRPr lang="zh-CN" altLang="en-US" sz="1200" dirty="0">
              <a:cs typeface="+mn-ea"/>
              <a:sym typeface="+mn-lt"/>
            </a:endParaRPr>
          </a:p>
        </p:txBody>
      </p:sp>
      <p:pic>
        <p:nvPicPr>
          <p:cNvPr id="4" name="Picture 3">
            <a:extLst>
              <a:ext uri="{FF2B5EF4-FFF2-40B4-BE49-F238E27FC236}">
                <a16:creationId xmlns:a16="http://schemas.microsoft.com/office/drawing/2014/main" id="{8A9D3648-BCF7-4F24-82F9-E3849DE707C4}"/>
              </a:ext>
            </a:extLst>
          </p:cNvPr>
          <p:cNvPicPr>
            <a:picLocks noChangeAspect="1"/>
          </p:cNvPicPr>
          <p:nvPr/>
        </p:nvPicPr>
        <p:blipFill>
          <a:blip r:embed="rId2"/>
          <a:stretch>
            <a:fillRect/>
          </a:stretch>
        </p:blipFill>
        <p:spPr>
          <a:xfrm>
            <a:off x="471965" y="2008561"/>
            <a:ext cx="5191080" cy="3550029"/>
          </a:xfrm>
          <a:prstGeom prst="rect">
            <a:avLst/>
          </a:prstGeom>
        </p:spPr>
      </p:pic>
      <p:grpSp>
        <p:nvGrpSpPr>
          <p:cNvPr id="8" name="Group 7">
            <a:extLst>
              <a:ext uri="{FF2B5EF4-FFF2-40B4-BE49-F238E27FC236}">
                <a16:creationId xmlns:a16="http://schemas.microsoft.com/office/drawing/2014/main" id="{CCD494A5-1444-4926-B3C0-409802210283}"/>
              </a:ext>
            </a:extLst>
          </p:cNvPr>
          <p:cNvGrpSpPr/>
          <p:nvPr/>
        </p:nvGrpSpPr>
        <p:grpSpPr>
          <a:xfrm>
            <a:off x="6146426" y="1500188"/>
            <a:ext cx="5207374" cy="2552700"/>
            <a:chOff x="6252474" y="1312133"/>
            <a:chExt cx="5207374" cy="2552700"/>
          </a:xfrm>
        </p:grpSpPr>
        <p:pic>
          <p:nvPicPr>
            <p:cNvPr id="4098" name="Picture 2" descr="https://pic1.zhimg.com/80/v2-7f36c655f202202843095377471387b9_720w.jpg?source=1940ef5c">
              <a:extLst>
                <a:ext uri="{FF2B5EF4-FFF2-40B4-BE49-F238E27FC236}">
                  <a16:creationId xmlns:a16="http://schemas.microsoft.com/office/drawing/2014/main" id="{C98E9B5C-FDB8-43D3-BD61-7DD2DCC48CC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52474" y="1825228"/>
              <a:ext cx="2095500" cy="1876425"/>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descr="https://pic2.zhimg.com/80/v2-cfa18dbc6e6dc30b246738e819468ae6_720w.jpg?source=1940ef5c">
              <a:extLst>
                <a:ext uri="{FF2B5EF4-FFF2-40B4-BE49-F238E27FC236}">
                  <a16:creationId xmlns:a16="http://schemas.microsoft.com/office/drawing/2014/main" id="{166F74CD-E77C-4458-B59A-D8193866A7F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269098" y="1312133"/>
              <a:ext cx="2190750" cy="2552700"/>
            </a:xfrm>
            <a:prstGeom prst="rect">
              <a:avLst/>
            </a:prstGeom>
            <a:noFill/>
            <a:extLst>
              <a:ext uri="{909E8E84-426E-40DD-AFC4-6F175D3DCCD1}">
                <a14:hiddenFill xmlns:a14="http://schemas.microsoft.com/office/drawing/2010/main">
                  <a:solidFill>
                    <a:srgbClr val="FFFFFF"/>
                  </a:solidFill>
                </a14:hiddenFill>
              </a:ext>
            </a:extLst>
          </p:spPr>
        </p:pic>
        <p:sp>
          <p:nvSpPr>
            <p:cNvPr id="3" name="Arrow: Right 2">
              <a:extLst>
                <a:ext uri="{FF2B5EF4-FFF2-40B4-BE49-F238E27FC236}">
                  <a16:creationId xmlns:a16="http://schemas.microsoft.com/office/drawing/2014/main" id="{0DC92BA4-98F4-4AA6-B533-049F699FFEE8}"/>
                </a:ext>
              </a:extLst>
            </p:cNvPr>
            <p:cNvSpPr/>
            <p:nvPr/>
          </p:nvSpPr>
          <p:spPr>
            <a:xfrm>
              <a:off x="8552006" y="2656289"/>
              <a:ext cx="717092" cy="27699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nvGrpSpPr>
          <p:cNvPr id="7" name="Group 6">
            <a:extLst>
              <a:ext uri="{FF2B5EF4-FFF2-40B4-BE49-F238E27FC236}">
                <a16:creationId xmlns:a16="http://schemas.microsoft.com/office/drawing/2014/main" id="{D4015539-CED2-476F-A1C8-B3488894A263}"/>
              </a:ext>
            </a:extLst>
          </p:cNvPr>
          <p:cNvGrpSpPr/>
          <p:nvPr/>
        </p:nvGrpSpPr>
        <p:grpSpPr>
          <a:xfrm>
            <a:off x="6337359" y="3985194"/>
            <a:ext cx="5165268" cy="2339234"/>
            <a:chOff x="6337359" y="3985194"/>
            <a:chExt cx="5165268" cy="2339234"/>
          </a:xfrm>
        </p:grpSpPr>
        <p:pic>
          <p:nvPicPr>
            <p:cNvPr id="4102" name="Picture 6" descr="https://pica.zhimg.com/80/v2-5dd3a09e8368884b629e9cb7279f311e_720w.jpg?source=1940ef5c">
              <a:extLst>
                <a:ext uri="{FF2B5EF4-FFF2-40B4-BE49-F238E27FC236}">
                  <a16:creationId xmlns:a16="http://schemas.microsoft.com/office/drawing/2014/main" id="{F3CDE56A-0116-4D22-A559-97A44461834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337359" y="4152728"/>
              <a:ext cx="2257425" cy="2171700"/>
            </a:xfrm>
            <a:prstGeom prst="rect">
              <a:avLst/>
            </a:prstGeom>
            <a:noFill/>
            <a:extLst>
              <a:ext uri="{909E8E84-426E-40DD-AFC4-6F175D3DCCD1}">
                <a14:hiddenFill xmlns:a14="http://schemas.microsoft.com/office/drawing/2010/main">
                  <a:solidFill>
                    <a:srgbClr val="FFFFFF"/>
                  </a:solidFill>
                </a14:hiddenFill>
              </a:ext>
            </a:extLst>
          </p:spPr>
        </p:pic>
        <p:pic>
          <p:nvPicPr>
            <p:cNvPr id="4104" name="Picture 8" descr="https://pic3.zhimg.com/80/v2-bf9fdb42390762b2f7c49d0024dcbc90_720w.jpg?source=1940ef5c">
              <a:extLst>
                <a:ext uri="{FF2B5EF4-FFF2-40B4-BE49-F238E27FC236}">
                  <a16:creationId xmlns:a16="http://schemas.microsoft.com/office/drawing/2014/main" id="{0A3ACA43-DF94-4B67-B13F-F4E86FC2E72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311876" y="3985194"/>
              <a:ext cx="2190751" cy="2311978"/>
            </a:xfrm>
            <a:prstGeom prst="rect">
              <a:avLst/>
            </a:prstGeom>
            <a:noFill/>
            <a:extLst>
              <a:ext uri="{909E8E84-426E-40DD-AFC4-6F175D3DCCD1}">
                <a14:hiddenFill xmlns:a14="http://schemas.microsoft.com/office/drawing/2010/main">
                  <a:solidFill>
                    <a:srgbClr val="FFFFFF"/>
                  </a:solidFill>
                </a14:hiddenFill>
              </a:ext>
            </a:extLst>
          </p:spPr>
        </p:pic>
        <p:sp>
          <p:nvSpPr>
            <p:cNvPr id="11" name="Arrow: Right 10">
              <a:extLst>
                <a:ext uri="{FF2B5EF4-FFF2-40B4-BE49-F238E27FC236}">
                  <a16:creationId xmlns:a16="http://schemas.microsoft.com/office/drawing/2014/main" id="{D1A97B48-C93B-4050-8AC4-E32702E8AE68}"/>
                </a:ext>
              </a:extLst>
            </p:cNvPr>
            <p:cNvSpPr/>
            <p:nvPr/>
          </p:nvSpPr>
          <p:spPr>
            <a:xfrm>
              <a:off x="8594784" y="5238578"/>
              <a:ext cx="717092" cy="27699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spTree>
    <p:extLst>
      <p:ext uri="{BB962C8B-B14F-4D97-AF65-F5344CB8AC3E}">
        <p14:creationId xmlns:p14="http://schemas.microsoft.com/office/powerpoint/2010/main" val="246895509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9B188F-502D-4557-B59C-54FDE1A5A3AF}"/>
              </a:ext>
            </a:extLst>
          </p:cNvPr>
          <p:cNvSpPr>
            <a:spLocks noGrp="1"/>
          </p:cNvSpPr>
          <p:nvPr>
            <p:ph type="title"/>
          </p:nvPr>
        </p:nvSpPr>
        <p:spPr/>
        <p:txBody>
          <a:bodyPr/>
          <a:lstStyle/>
          <a:p>
            <a:r>
              <a:rPr lang="en-US" altLang="zh-CN" b="1" dirty="0">
                <a:latin typeface="+mn-lt"/>
                <a:ea typeface="+mn-ea"/>
                <a:cs typeface="+mn-ea"/>
                <a:sym typeface="+mn-lt"/>
              </a:rPr>
              <a:t>Convolution as Matrix Multiplication</a:t>
            </a:r>
            <a:endParaRPr lang="zh-CN" altLang="en-US" b="1" dirty="0">
              <a:latin typeface="+mn-lt"/>
              <a:ea typeface="+mn-ea"/>
              <a:cs typeface="+mn-ea"/>
              <a:sym typeface="+mn-lt"/>
            </a:endParaRP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EC2535AF-5F31-498C-BAD4-D3217E1BBD89}"/>
                  </a:ext>
                </a:extLst>
              </p:cNvPr>
              <p:cNvSpPr txBox="1"/>
              <p:nvPr/>
            </p:nvSpPr>
            <p:spPr>
              <a:xfrm>
                <a:off x="8231292" y="4812389"/>
                <a:ext cx="1559721" cy="55399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3600" b="1" i="1" smtClean="0">
                          <a:latin typeface="Cambria Math" panose="02040503050406030204" pitchFamily="18" charset="0"/>
                          <a:cs typeface="+mn-ea"/>
                          <a:sym typeface="+mn-lt"/>
                        </a:rPr>
                        <m:t>𝒚</m:t>
                      </m:r>
                      <m:r>
                        <a:rPr lang="en-US" altLang="zh-CN" sz="3600" b="0" i="1" smtClean="0">
                          <a:latin typeface="Cambria Math" panose="02040503050406030204" pitchFamily="18" charset="0"/>
                          <a:cs typeface="+mn-ea"/>
                          <a:sym typeface="+mn-lt"/>
                        </a:rPr>
                        <m:t>=</m:t>
                      </m:r>
                      <m:r>
                        <a:rPr lang="en-US" altLang="zh-CN" sz="3600" b="1" i="1" smtClean="0">
                          <a:latin typeface="Cambria Math" panose="02040503050406030204" pitchFamily="18" charset="0"/>
                          <a:cs typeface="+mn-ea"/>
                          <a:sym typeface="+mn-lt"/>
                        </a:rPr>
                        <m:t>𝑪𝒙</m:t>
                      </m:r>
                    </m:oMath>
                  </m:oMathPara>
                </a14:m>
                <a:endParaRPr lang="zh-CN" altLang="en-US" sz="3600" b="1" dirty="0">
                  <a:cs typeface="+mn-ea"/>
                  <a:sym typeface="+mn-lt"/>
                </a:endParaRPr>
              </a:p>
            </p:txBody>
          </p:sp>
        </mc:Choice>
        <mc:Fallback xmlns="">
          <p:sp>
            <p:nvSpPr>
              <p:cNvPr id="4" name="TextBox 3">
                <a:extLst>
                  <a:ext uri="{FF2B5EF4-FFF2-40B4-BE49-F238E27FC236}">
                    <a16:creationId xmlns:a16="http://schemas.microsoft.com/office/drawing/2014/main" id="{EC2535AF-5F31-498C-BAD4-D3217E1BBD89}"/>
                  </a:ext>
                </a:extLst>
              </p:cNvPr>
              <p:cNvSpPr txBox="1">
                <a:spLocks noRot="1" noChangeAspect="1" noMove="1" noResize="1" noEditPoints="1" noAdjustHandles="1" noChangeArrowheads="1" noChangeShapeType="1" noTextEdit="1"/>
              </p:cNvSpPr>
              <p:nvPr/>
            </p:nvSpPr>
            <p:spPr>
              <a:xfrm>
                <a:off x="8231292" y="4812389"/>
                <a:ext cx="1559721" cy="553998"/>
              </a:xfrm>
              <a:prstGeom prst="rect">
                <a:avLst/>
              </a:prstGeom>
              <a:blipFill>
                <a:blip r:embed="rId3"/>
                <a:stretch>
                  <a:fillRect/>
                </a:stretch>
              </a:blipFill>
            </p:spPr>
            <p:txBody>
              <a:bodyPr/>
              <a:lstStyle/>
              <a:p>
                <a:r>
                  <a:rPr lang="zh-CN" altLang="en-US">
                    <a:noFill/>
                  </a:rPr>
                  <a:t> </a:t>
                </a:r>
              </a:p>
            </p:txBody>
          </p:sp>
        </mc:Fallback>
      </mc:AlternateContent>
      <p:sp>
        <p:nvSpPr>
          <p:cNvPr id="15" name="Rectangle 14">
            <a:extLst>
              <a:ext uri="{FF2B5EF4-FFF2-40B4-BE49-F238E27FC236}">
                <a16:creationId xmlns:a16="http://schemas.microsoft.com/office/drawing/2014/main" id="{A2DBBB5C-84AC-4F66-8D03-5EEA645CA3CD}"/>
              </a:ext>
            </a:extLst>
          </p:cNvPr>
          <p:cNvSpPr/>
          <p:nvPr/>
        </p:nvSpPr>
        <p:spPr>
          <a:xfrm>
            <a:off x="7990750" y="6507405"/>
            <a:ext cx="3967753" cy="369332"/>
          </a:xfrm>
          <a:prstGeom prst="rect">
            <a:avLst/>
          </a:prstGeom>
        </p:spPr>
        <p:txBody>
          <a:bodyPr wrap="none">
            <a:spAutoFit/>
          </a:bodyPr>
          <a:lstStyle/>
          <a:p>
            <a:r>
              <a:rPr lang="zh-CN" altLang="en-US" dirty="0">
                <a:cs typeface="+mn-ea"/>
                <a:sym typeface="+mn-lt"/>
                <a:hlinkClick r:id="rId4"/>
              </a:rPr>
              <a:t>https://zhuanlan.zhihu.com/p/355089493</a:t>
            </a:r>
            <a:endParaRPr lang="zh-CN" altLang="en-US" dirty="0">
              <a:cs typeface="+mn-ea"/>
              <a:sym typeface="+mn-lt"/>
            </a:endParaRPr>
          </a:p>
        </p:txBody>
      </p:sp>
      <p:pic>
        <p:nvPicPr>
          <p:cNvPr id="23" name="Picture 22">
            <a:extLst>
              <a:ext uri="{FF2B5EF4-FFF2-40B4-BE49-F238E27FC236}">
                <a16:creationId xmlns:a16="http://schemas.microsoft.com/office/drawing/2014/main" id="{2BB68254-BAD5-4DED-9EFD-8CEF1F89A436}"/>
              </a:ext>
            </a:extLst>
          </p:cNvPr>
          <p:cNvPicPr>
            <a:picLocks noChangeAspect="1"/>
          </p:cNvPicPr>
          <p:nvPr/>
        </p:nvPicPr>
        <p:blipFill>
          <a:blip r:embed="rId5"/>
          <a:stretch>
            <a:fillRect/>
          </a:stretch>
        </p:blipFill>
        <p:spPr>
          <a:xfrm>
            <a:off x="729732" y="2570619"/>
            <a:ext cx="1514286" cy="676190"/>
          </a:xfrm>
          <a:prstGeom prst="rect">
            <a:avLst/>
          </a:prstGeom>
        </p:spPr>
      </p:pic>
      <p:pic>
        <p:nvPicPr>
          <p:cNvPr id="27" name="Picture 26">
            <a:extLst>
              <a:ext uri="{FF2B5EF4-FFF2-40B4-BE49-F238E27FC236}">
                <a16:creationId xmlns:a16="http://schemas.microsoft.com/office/drawing/2014/main" id="{242BC796-DA70-49A5-B169-D4F0ADB621E7}"/>
              </a:ext>
            </a:extLst>
          </p:cNvPr>
          <p:cNvPicPr>
            <a:picLocks noChangeAspect="1"/>
          </p:cNvPicPr>
          <p:nvPr/>
        </p:nvPicPr>
        <p:blipFill>
          <a:blip r:embed="rId6"/>
          <a:stretch>
            <a:fillRect/>
          </a:stretch>
        </p:blipFill>
        <p:spPr>
          <a:xfrm>
            <a:off x="1528899" y="4413744"/>
            <a:ext cx="3095238" cy="1638095"/>
          </a:xfrm>
          <a:prstGeom prst="rect">
            <a:avLst/>
          </a:prstGeom>
        </p:spPr>
      </p:pic>
      <p:pic>
        <p:nvPicPr>
          <p:cNvPr id="25" name="Picture 24">
            <a:extLst>
              <a:ext uri="{FF2B5EF4-FFF2-40B4-BE49-F238E27FC236}">
                <a16:creationId xmlns:a16="http://schemas.microsoft.com/office/drawing/2014/main" id="{02967221-7A96-42B2-BF87-0AD533FD07AA}"/>
              </a:ext>
            </a:extLst>
          </p:cNvPr>
          <p:cNvPicPr>
            <a:picLocks noChangeAspect="1"/>
          </p:cNvPicPr>
          <p:nvPr/>
        </p:nvPicPr>
        <p:blipFill>
          <a:blip r:embed="rId7"/>
          <a:stretch>
            <a:fillRect/>
          </a:stretch>
        </p:blipFill>
        <p:spPr>
          <a:xfrm>
            <a:off x="3523300" y="1874983"/>
            <a:ext cx="1314286" cy="619048"/>
          </a:xfrm>
          <a:prstGeom prst="rect">
            <a:avLst/>
          </a:prstGeom>
        </p:spPr>
      </p:pic>
      <p:pic>
        <p:nvPicPr>
          <p:cNvPr id="26" name="Picture 25">
            <a:extLst>
              <a:ext uri="{FF2B5EF4-FFF2-40B4-BE49-F238E27FC236}">
                <a16:creationId xmlns:a16="http://schemas.microsoft.com/office/drawing/2014/main" id="{11E1226A-32F4-4FD3-8C8E-D399A8D6EE7A}"/>
              </a:ext>
            </a:extLst>
          </p:cNvPr>
          <p:cNvPicPr>
            <a:picLocks noChangeAspect="1"/>
          </p:cNvPicPr>
          <p:nvPr/>
        </p:nvPicPr>
        <p:blipFill>
          <a:blip r:embed="rId8"/>
          <a:stretch>
            <a:fillRect/>
          </a:stretch>
        </p:blipFill>
        <p:spPr>
          <a:xfrm>
            <a:off x="4295435" y="3308747"/>
            <a:ext cx="1295238" cy="866667"/>
          </a:xfrm>
          <a:prstGeom prst="rect">
            <a:avLst/>
          </a:prstGeom>
        </p:spPr>
      </p:pic>
      <p:grpSp>
        <p:nvGrpSpPr>
          <p:cNvPr id="56" name="Group 55">
            <a:extLst>
              <a:ext uri="{FF2B5EF4-FFF2-40B4-BE49-F238E27FC236}">
                <a16:creationId xmlns:a16="http://schemas.microsoft.com/office/drawing/2014/main" id="{657B3DA2-F783-484F-9B3E-2B8F02B2B42E}"/>
              </a:ext>
            </a:extLst>
          </p:cNvPr>
          <p:cNvGrpSpPr/>
          <p:nvPr/>
        </p:nvGrpSpPr>
        <p:grpSpPr>
          <a:xfrm>
            <a:off x="2198983" y="1692712"/>
            <a:ext cx="1755069" cy="2582547"/>
            <a:chOff x="7931217" y="2415434"/>
            <a:chExt cx="1755069" cy="2582547"/>
          </a:xfrm>
        </p:grpSpPr>
        <p:pic>
          <p:nvPicPr>
            <p:cNvPr id="57" name="Picture 56">
              <a:extLst>
                <a:ext uri="{FF2B5EF4-FFF2-40B4-BE49-F238E27FC236}">
                  <a16:creationId xmlns:a16="http://schemas.microsoft.com/office/drawing/2014/main" id="{EB476D93-BA60-45EE-A542-3A8E2D99C199}"/>
                </a:ext>
              </a:extLst>
            </p:cNvPr>
            <p:cNvPicPr>
              <a:picLocks noChangeAspect="1"/>
            </p:cNvPicPr>
            <p:nvPr/>
          </p:nvPicPr>
          <p:blipFill>
            <a:blip r:embed="rId9"/>
            <a:stretch>
              <a:fillRect/>
            </a:stretch>
          </p:blipFill>
          <p:spPr>
            <a:xfrm>
              <a:off x="8223119" y="3534814"/>
              <a:ext cx="1463167" cy="1463167"/>
            </a:xfrm>
            <a:prstGeom prst="rect">
              <a:avLst/>
            </a:prstGeom>
            <a:scene3d>
              <a:camera prst="isometricTopUp"/>
              <a:lightRig rig="threePt" dir="t"/>
            </a:scene3d>
          </p:spPr>
        </p:pic>
        <p:cxnSp>
          <p:nvCxnSpPr>
            <p:cNvPr id="58" name="Straight Connector 57">
              <a:extLst>
                <a:ext uri="{FF2B5EF4-FFF2-40B4-BE49-F238E27FC236}">
                  <a16:creationId xmlns:a16="http://schemas.microsoft.com/office/drawing/2014/main" id="{7337B24F-90C7-4CAA-B29B-C165F0D49ED6}"/>
                </a:ext>
              </a:extLst>
            </p:cNvPr>
            <p:cNvCxnSpPr>
              <a:cxnSpLocks/>
            </p:cNvCxnSpPr>
            <p:nvPr/>
          </p:nvCxnSpPr>
          <p:spPr>
            <a:xfrm>
              <a:off x="7931217" y="2909253"/>
              <a:ext cx="1" cy="1357144"/>
            </a:xfrm>
            <a:prstGeom prst="line">
              <a:avLst/>
            </a:prstGeom>
            <a:ln w="28575"/>
          </p:spPr>
          <p:style>
            <a:lnRef idx="1">
              <a:schemeClr val="dk1"/>
            </a:lnRef>
            <a:fillRef idx="0">
              <a:schemeClr val="dk1"/>
            </a:fillRef>
            <a:effectRef idx="0">
              <a:schemeClr val="dk1"/>
            </a:effectRef>
            <a:fontRef idx="minor">
              <a:schemeClr val="tx1"/>
            </a:fontRef>
          </p:style>
        </p:cxnSp>
        <p:cxnSp>
          <p:nvCxnSpPr>
            <p:cNvPr id="59" name="Straight Connector 58">
              <a:extLst>
                <a:ext uri="{FF2B5EF4-FFF2-40B4-BE49-F238E27FC236}">
                  <a16:creationId xmlns:a16="http://schemas.microsoft.com/office/drawing/2014/main" id="{29DDA01E-CF3F-4569-A072-C4B30A980658}"/>
                </a:ext>
              </a:extLst>
            </p:cNvPr>
            <p:cNvCxnSpPr>
              <a:cxnSpLocks/>
            </p:cNvCxnSpPr>
            <p:nvPr/>
          </p:nvCxnSpPr>
          <p:spPr>
            <a:xfrm>
              <a:off x="8306602" y="3070459"/>
              <a:ext cx="320840" cy="1588168"/>
            </a:xfrm>
            <a:prstGeom prst="line">
              <a:avLst/>
            </a:prstGeom>
            <a:ln w="28575"/>
          </p:spPr>
          <p:style>
            <a:lnRef idx="1">
              <a:schemeClr val="dk1"/>
            </a:lnRef>
            <a:fillRef idx="0">
              <a:schemeClr val="dk1"/>
            </a:fillRef>
            <a:effectRef idx="0">
              <a:schemeClr val="dk1"/>
            </a:effectRef>
            <a:fontRef idx="minor">
              <a:schemeClr val="tx1"/>
            </a:fontRef>
          </p:style>
        </p:cxnSp>
        <p:cxnSp>
          <p:nvCxnSpPr>
            <p:cNvPr id="60" name="Straight Connector 59">
              <a:extLst>
                <a:ext uri="{FF2B5EF4-FFF2-40B4-BE49-F238E27FC236}">
                  <a16:creationId xmlns:a16="http://schemas.microsoft.com/office/drawing/2014/main" id="{DBCE0596-8FC6-4B0F-91BB-DDCF1256516A}"/>
                </a:ext>
              </a:extLst>
            </p:cNvPr>
            <p:cNvCxnSpPr>
              <a:cxnSpLocks/>
            </p:cNvCxnSpPr>
            <p:nvPr/>
          </p:nvCxnSpPr>
          <p:spPr>
            <a:xfrm>
              <a:off x="8306602" y="2731105"/>
              <a:ext cx="320840" cy="1133438"/>
            </a:xfrm>
            <a:prstGeom prst="line">
              <a:avLst/>
            </a:prstGeom>
            <a:ln w="28575"/>
          </p:spPr>
          <p:style>
            <a:lnRef idx="1">
              <a:schemeClr val="dk1"/>
            </a:lnRef>
            <a:fillRef idx="0">
              <a:schemeClr val="dk1"/>
            </a:fillRef>
            <a:effectRef idx="0">
              <a:schemeClr val="dk1"/>
            </a:effectRef>
            <a:fontRef idx="minor">
              <a:schemeClr val="tx1"/>
            </a:fontRef>
          </p:style>
        </p:cxnSp>
        <p:cxnSp>
          <p:nvCxnSpPr>
            <p:cNvPr id="61" name="Straight Connector 60">
              <a:extLst>
                <a:ext uri="{FF2B5EF4-FFF2-40B4-BE49-F238E27FC236}">
                  <a16:creationId xmlns:a16="http://schemas.microsoft.com/office/drawing/2014/main" id="{CB65E218-11AA-44BE-98F0-FBF9A9B69B51}"/>
                </a:ext>
              </a:extLst>
            </p:cNvPr>
            <p:cNvCxnSpPr>
              <a:cxnSpLocks/>
            </p:cNvCxnSpPr>
            <p:nvPr/>
          </p:nvCxnSpPr>
          <p:spPr>
            <a:xfrm>
              <a:off x="8627442" y="2909253"/>
              <a:ext cx="660701" cy="1352332"/>
            </a:xfrm>
            <a:prstGeom prst="line">
              <a:avLst/>
            </a:prstGeom>
            <a:ln w="28575"/>
          </p:spPr>
          <p:style>
            <a:lnRef idx="1">
              <a:schemeClr val="dk1"/>
            </a:lnRef>
            <a:fillRef idx="0">
              <a:schemeClr val="dk1"/>
            </a:fillRef>
            <a:effectRef idx="0">
              <a:schemeClr val="dk1"/>
            </a:effectRef>
            <a:fontRef idx="minor">
              <a:schemeClr val="tx1"/>
            </a:fontRef>
          </p:style>
        </p:cxnSp>
        <p:pic>
          <p:nvPicPr>
            <p:cNvPr id="62" name="Picture 61">
              <a:extLst>
                <a:ext uri="{FF2B5EF4-FFF2-40B4-BE49-F238E27FC236}">
                  <a16:creationId xmlns:a16="http://schemas.microsoft.com/office/drawing/2014/main" id="{536FA591-BA2F-4AFA-AA0E-F9C2A42F0E55}"/>
                </a:ext>
              </a:extLst>
            </p:cNvPr>
            <p:cNvPicPr>
              <a:picLocks noChangeAspect="1"/>
            </p:cNvPicPr>
            <p:nvPr/>
          </p:nvPicPr>
          <p:blipFill>
            <a:blip r:embed="rId10"/>
            <a:stretch>
              <a:fillRect/>
            </a:stretch>
          </p:blipFill>
          <p:spPr>
            <a:xfrm>
              <a:off x="8136672" y="2415434"/>
              <a:ext cx="981541" cy="987638"/>
            </a:xfrm>
            <a:prstGeom prst="rect">
              <a:avLst/>
            </a:prstGeom>
            <a:scene3d>
              <a:camera prst="isometricTopUp"/>
              <a:lightRig rig="threePt" dir="t"/>
            </a:scene3d>
          </p:spPr>
        </p:pic>
      </p:grpSp>
      <p:grpSp>
        <p:nvGrpSpPr>
          <p:cNvPr id="63" name="Group 62">
            <a:extLst>
              <a:ext uri="{FF2B5EF4-FFF2-40B4-BE49-F238E27FC236}">
                <a16:creationId xmlns:a16="http://schemas.microsoft.com/office/drawing/2014/main" id="{180C32CC-81EB-4DF1-A2EF-C305423809ED}"/>
              </a:ext>
            </a:extLst>
          </p:cNvPr>
          <p:cNvGrpSpPr/>
          <p:nvPr/>
        </p:nvGrpSpPr>
        <p:grpSpPr>
          <a:xfrm>
            <a:off x="6601329" y="2008383"/>
            <a:ext cx="5361905" cy="2400000"/>
            <a:chOff x="6510943" y="1295542"/>
            <a:chExt cx="5361905" cy="2400000"/>
          </a:xfrm>
        </p:grpSpPr>
        <p:pic>
          <p:nvPicPr>
            <p:cNvPr id="64" name="Picture 63">
              <a:extLst>
                <a:ext uri="{FF2B5EF4-FFF2-40B4-BE49-F238E27FC236}">
                  <a16:creationId xmlns:a16="http://schemas.microsoft.com/office/drawing/2014/main" id="{7EC55C0C-BBE1-4F36-B5A6-B0286469FA29}"/>
                </a:ext>
              </a:extLst>
            </p:cNvPr>
            <p:cNvPicPr>
              <a:picLocks noChangeAspect="1"/>
            </p:cNvPicPr>
            <p:nvPr/>
          </p:nvPicPr>
          <p:blipFill>
            <a:blip r:embed="rId11"/>
            <a:stretch>
              <a:fillRect/>
            </a:stretch>
          </p:blipFill>
          <p:spPr>
            <a:xfrm>
              <a:off x="6510943" y="1295542"/>
              <a:ext cx="5361905" cy="2400000"/>
            </a:xfrm>
            <a:prstGeom prst="rect">
              <a:avLst/>
            </a:prstGeom>
          </p:spPr>
        </p:pic>
        <p:pic>
          <p:nvPicPr>
            <p:cNvPr id="65" name="Picture 64">
              <a:extLst>
                <a:ext uri="{FF2B5EF4-FFF2-40B4-BE49-F238E27FC236}">
                  <a16:creationId xmlns:a16="http://schemas.microsoft.com/office/drawing/2014/main" id="{35BE5601-93C9-48BA-A174-803D1A165DB1}"/>
                </a:ext>
              </a:extLst>
            </p:cNvPr>
            <p:cNvPicPr>
              <a:picLocks noChangeAspect="1"/>
            </p:cNvPicPr>
            <p:nvPr/>
          </p:nvPicPr>
          <p:blipFill>
            <a:blip r:embed="rId12"/>
            <a:stretch>
              <a:fillRect/>
            </a:stretch>
          </p:blipFill>
          <p:spPr>
            <a:xfrm>
              <a:off x="10777609" y="2232881"/>
              <a:ext cx="190476" cy="295238"/>
            </a:xfrm>
            <a:prstGeom prst="rect">
              <a:avLst/>
            </a:prstGeom>
          </p:spPr>
        </p:pic>
        <p:pic>
          <p:nvPicPr>
            <p:cNvPr id="66" name="Picture 65">
              <a:extLst>
                <a:ext uri="{FF2B5EF4-FFF2-40B4-BE49-F238E27FC236}">
                  <a16:creationId xmlns:a16="http://schemas.microsoft.com/office/drawing/2014/main" id="{D92F5B5D-ED11-4FAC-93EC-FEAA6D9F07C1}"/>
                </a:ext>
              </a:extLst>
            </p:cNvPr>
            <p:cNvPicPr>
              <a:picLocks noChangeAspect="1"/>
            </p:cNvPicPr>
            <p:nvPr/>
          </p:nvPicPr>
          <p:blipFill>
            <a:blip r:embed="rId12"/>
            <a:stretch>
              <a:fillRect/>
            </a:stretch>
          </p:blipFill>
          <p:spPr>
            <a:xfrm>
              <a:off x="8820964" y="2739958"/>
              <a:ext cx="190476" cy="295238"/>
            </a:xfrm>
            <a:prstGeom prst="rect">
              <a:avLst/>
            </a:prstGeom>
          </p:spPr>
        </p:pic>
      </p:grpSp>
    </p:spTree>
    <p:extLst>
      <p:ext uri="{BB962C8B-B14F-4D97-AF65-F5344CB8AC3E}">
        <p14:creationId xmlns:p14="http://schemas.microsoft.com/office/powerpoint/2010/main" val="318857727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8485A0-C758-4F30-86E5-BFDF2CA47040}"/>
              </a:ext>
            </a:extLst>
          </p:cNvPr>
          <p:cNvSpPr>
            <a:spLocks noGrp="1"/>
          </p:cNvSpPr>
          <p:nvPr>
            <p:ph type="title"/>
          </p:nvPr>
        </p:nvSpPr>
        <p:spPr/>
        <p:txBody>
          <a:bodyPr/>
          <a:lstStyle/>
          <a:p>
            <a:r>
              <a:rPr lang="en-US" altLang="zh-CN" b="1" dirty="0">
                <a:latin typeface="+mn-lt"/>
                <a:ea typeface="+mn-ea"/>
                <a:cs typeface="+mn-ea"/>
                <a:sym typeface="+mn-lt"/>
              </a:rPr>
              <a:t>Deconvolution </a:t>
            </a:r>
            <a:r>
              <a:rPr lang="en-US" altLang="zh-CN" b="1" dirty="0">
                <a:solidFill>
                  <a:srgbClr val="00B0F0"/>
                </a:solidFill>
                <a:latin typeface="+mn-lt"/>
                <a:ea typeface="+mn-ea"/>
                <a:cs typeface="+mn-ea"/>
                <a:sym typeface="+mn-lt"/>
              </a:rPr>
              <a:t>(Transposed Convolution)</a:t>
            </a:r>
            <a:endParaRPr lang="zh-CN" altLang="en-US" b="1" dirty="0">
              <a:solidFill>
                <a:srgbClr val="00B0F0"/>
              </a:solidFill>
              <a:latin typeface="+mn-lt"/>
              <a:ea typeface="+mn-ea"/>
              <a:cs typeface="+mn-ea"/>
              <a:sym typeface="+mn-lt"/>
            </a:endParaRP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12371D76-EB94-4860-AAD4-D120E2E3B6F3}"/>
                  </a:ext>
                </a:extLst>
              </p:cNvPr>
              <p:cNvSpPr txBox="1"/>
              <p:nvPr/>
            </p:nvSpPr>
            <p:spPr>
              <a:xfrm>
                <a:off x="8292481" y="6007473"/>
                <a:ext cx="1775422" cy="56393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3600" b="1" i="1" smtClean="0">
                          <a:latin typeface="Cambria Math" panose="02040503050406030204" pitchFamily="18" charset="0"/>
                          <a:cs typeface="+mn-ea"/>
                          <a:sym typeface="+mn-lt"/>
                        </a:rPr>
                        <m:t>𝒚</m:t>
                      </m:r>
                      <m:r>
                        <a:rPr lang="en-US" altLang="zh-CN" sz="3600" b="0" i="1" smtClean="0">
                          <a:latin typeface="Cambria Math" panose="02040503050406030204" pitchFamily="18" charset="0"/>
                          <a:cs typeface="+mn-ea"/>
                          <a:sym typeface="+mn-lt"/>
                        </a:rPr>
                        <m:t>=</m:t>
                      </m:r>
                      <m:sSup>
                        <m:sSupPr>
                          <m:ctrlPr>
                            <a:rPr lang="en-US" altLang="zh-CN" sz="3600" b="0" i="1" smtClean="0">
                              <a:latin typeface="Cambria Math" panose="02040503050406030204" pitchFamily="18" charset="0"/>
                              <a:cs typeface="+mn-ea"/>
                              <a:sym typeface="+mn-lt"/>
                            </a:rPr>
                          </m:ctrlPr>
                        </m:sSupPr>
                        <m:e>
                          <m:r>
                            <a:rPr lang="en-US" altLang="zh-CN" sz="3600" b="1" i="1" smtClean="0">
                              <a:latin typeface="Cambria Math" panose="02040503050406030204" pitchFamily="18" charset="0"/>
                              <a:cs typeface="+mn-ea"/>
                              <a:sym typeface="+mn-lt"/>
                            </a:rPr>
                            <m:t>𝑪</m:t>
                          </m:r>
                        </m:e>
                        <m:sup>
                          <m:r>
                            <a:rPr lang="en-US" altLang="zh-CN" sz="3600" b="0" i="1" smtClean="0">
                              <a:latin typeface="Cambria Math" panose="02040503050406030204" pitchFamily="18" charset="0"/>
                              <a:cs typeface="+mn-ea"/>
                              <a:sym typeface="+mn-lt"/>
                            </a:rPr>
                            <m:t>𝑇</m:t>
                          </m:r>
                        </m:sup>
                      </m:sSup>
                      <m:r>
                        <a:rPr lang="en-US" altLang="zh-CN" sz="3600" b="1" i="1" smtClean="0">
                          <a:latin typeface="Cambria Math" panose="02040503050406030204" pitchFamily="18" charset="0"/>
                          <a:cs typeface="+mn-ea"/>
                          <a:sym typeface="+mn-lt"/>
                        </a:rPr>
                        <m:t>𝒙</m:t>
                      </m:r>
                    </m:oMath>
                  </m:oMathPara>
                </a14:m>
                <a:endParaRPr lang="zh-CN" altLang="en-US" sz="3600" b="1" dirty="0">
                  <a:cs typeface="+mn-ea"/>
                  <a:sym typeface="+mn-lt"/>
                </a:endParaRPr>
              </a:p>
            </p:txBody>
          </p:sp>
        </mc:Choice>
        <mc:Fallback xmlns="">
          <p:sp>
            <p:nvSpPr>
              <p:cNvPr id="6" name="TextBox 5">
                <a:extLst>
                  <a:ext uri="{FF2B5EF4-FFF2-40B4-BE49-F238E27FC236}">
                    <a16:creationId xmlns:a16="http://schemas.microsoft.com/office/drawing/2014/main" id="{12371D76-EB94-4860-AAD4-D120E2E3B6F3}"/>
                  </a:ext>
                </a:extLst>
              </p:cNvPr>
              <p:cNvSpPr txBox="1">
                <a:spLocks noRot="1" noChangeAspect="1" noMove="1" noResize="1" noEditPoints="1" noAdjustHandles="1" noChangeArrowheads="1" noChangeShapeType="1" noTextEdit="1"/>
              </p:cNvSpPr>
              <p:nvPr/>
            </p:nvSpPr>
            <p:spPr>
              <a:xfrm>
                <a:off x="8292481" y="6007473"/>
                <a:ext cx="1775422" cy="563937"/>
              </a:xfrm>
              <a:prstGeom prst="rect">
                <a:avLst/>
              </a:prstGeom>
              <a:blipFill>
                <a:blip r:embed="rId3"/>
                <a:stretch>
                  <a:fillRect/>
                </a:stretch>
              </a:blipFill>
            </p:spPr>
            <p:txBody>
              <a:bodyPr/>
              <a:lstStyle/>
              <a:p>
                <a:r>
                  <a:rPr lang="zh-CN" altLang="en-US">
                    <a:noFill/>
                  </a:rPr>
                  <a:t> </a:t>
                </a:r>
              </a:p>
            </p:txBody>
          </p:sp>
        </mc:Fallback>
      </mc:AlternateContent>
      <p:pic>
        <p:nvPicPr>
          <p:cNvPr id="5" name="Picture 4">
            <a:extLst>
              <a:ext uri="{FF2B5EF4-FFF2-40B4-BE49-F238E27FC236}">
                <a16:creationId xmlns:a16="http://schemas.microsoft.com/office/drawing/2014/main" id="{AAC7D3C3-7F17-4077-8E56-5C0B1ABE069D}"/>
              </a:ext>
            </a:extLst>
          </p:cNvPr>
          <p:cNvPicPr>
            <a:picLocks noChangeAspect="1"/>
          </p:cNvPicPr>
          <p:nvPr/>
        </p:nvPicPr>
        <p:blipFill>
          <a:blip r:embed="rId4"/>
          <a:stretch>
            <a:fillRect/>
          </a:stretch>
        </p:blipFill>
        <p:spPr>
          <a:xfrm>
            <a:off x="3557991" y="2077245"/>
            <a:ext cx="1866667" cy="1009524"/>
          </a:xfrm>
          <a:prstGeom prst="rect">
            <a:avLst/>
          </a:prstGeom>
        </p:spPr>
      </p:pic>
      <p:pic>
        <p:nvPicPr>
          <p:cNvPr id="7" name="Picture 6">
            <a:extLst>
              <a:ext uri="{FF2B5EF4-FFF2-40B4-BE49-F238E27FC236}">
                <a16:creationId xmlns:a16="http://schemas.microsoft.com/office/drawing/2014/main" id="{B6DA3B65-FCF6-4CFF-9FA8-525067B3361D}"/>
              </a:ext>
            </a:extLst>
          </p:cNvPr>
          <p:cNvPicPr>
            <a:picLocks noChangeAspect="1"/>
          </p:cNvPicPr>
          <p:nvPr/>
        </p:nvPicPr>
        <p:blipFill>
          <a:blip r:embed="rId5"/>
          <a:stretch>
            <a:fillRect/>
          </a:stretch>
        </p:blipFill>
        <p:spPr>
          <a:xfrm>
            <a:off x="3166773" y="4676619"/>
            <a:ext cx="1419048" cy="714286"/>
          </a:xfrm>
          <a:prstGeom prst="rect">
            <a:avLst/>
          </a:prstGeom>
        </p:spPr>
      </p:pic>
      <p:grpSp>
        <p:nvGrpSpPr>
          <p:cNvPr id="15" name="Group 14">
            <a:extLst>
              <a:ext uri="{FF2B5EF4-FFF2-40B4-BE49-F238E27FC236}">
                <a16:creationId xmlns:a16="http://schemas.microsoft.com/office/drawing/2014/main" id="{4AA0B657-3111-41A9-B1A7-84DF280E0B44}"/>
              </a:ext>
            </a:extLst>
          </p:cNvPr>
          <p:cNvGrpSpPr/>
          <p:nvPr/>
        </p:nvGrpSpPr>
        <p:grpSpPr>
          <a:xfrm>
            <a:off x="1798810" y="2400510"/>
            <a:ext cx="1775861" cy="2966442"/>
            <a:chOff x="7852612" y="1986624"/>
            <a:chExt cx="1775861" cy="2966442"/>
          </a:xfrm>
        </p:grpSpPr>
        <p:pic>
          <p:nvPicPr>
            <p:cNvPr id="16" name="Picture 15">
              <a:extLst>
                <a:ext uri="{FF2B5EF4-FFF2-40B4-BE49-F238E27FC236}">
                  <a16:creationId xmlns:a16="http://schemas.microsoft.com/office/drawing/2014/main" id="{446A85AD-F058-43EB-9785-3EB4CAD08AB3}"/>
                </a:ext>
              </a:extLst>
            </p:cNvPr>
            <p:cNvPicPr>
              <a:picLocks noChangeAspect="1"/>
            </p:cNvPicPr>
            <p:nvPr/>
          </p:nvPicPr>
          <p:blipFill>
            <a:blip r:embed="rId6"/>
            <a:stretch>
              <a:fillRect/>
            </a:stretch>
          </p:blipFill>
          <p:spPr>
            <a:xfrm>
              <a:off x="8165306" y="3465513"/>
              <a:ext cx="1463167" cy="1487553"/>
            </a:xfrm>
            <a:prstGeom prst="rect">
              <a:avLst/>
            </a:prstGeom>
            <a:scene3d>
              <a:camera prst="isometricTopUp"/>
              <a:lightRig rig="threePt" dir="t"/>
            </a:scene3d>
          </p:spPr>
        </p:pic>
        <p:cxnSp>
          <p:nvCxnSpPr>
            <p:cNvPr id="17" name="Straight Connector 16">
              <a:extLst>
                <a:ext uri="{FF2B5EF4-FFF2-40B4-BE49-F238E27FC236}">
                  <a16:creationId xmlns:a16="http://schemas.microsoft.com/office/drawing/2014/main" id="{2C377D2F-9FAA-4AE0-9FAC-6548F729854D}"/>
                </a:ext>
              </a:extLst>
            </p:cNvPr>
            <p:cNvCxnSpPr>
              <a:cxnSpLocks/>
            </p:cNvCxnSpPr>
            <p:nvPr/>
          </p:nvCxnSpPr>
          <p:spPr>
            <a:xfrm flipH="1">
              <a:off x="7852612" y="2547504"/>
              <a:ext cx="434740" cy="1661785"/>
            </a:xfrm>
            <a:prstGeom prst="line">
              <a:avLst/>
            </a:prstGeom>
            <a:ln w="28575"/>
          </p:spPr>
          <p:style>
            <a:lnRef idx="1">
              <a:schemeClr val="dk1"/>
            </a:lnRef>
            <a:fillRef idx="0">
              <a:schemeClr val="dk1"/>
            </a:fillRef>
            <a:effectRef idx="0">
              <a:schemeClr val="dk1"/>
            </a:effectRef>
            <a:fontRef idx="minor">
              <a:schemeClr val="tx1"/>
            </a:fontRef>
          </p:style>
        </p:cxnSp>
        <p:cxnSp>
          <p:nvCxnSpPr>
            <p:cNvPr id="18" name="Straight Connector 17">
              <a:extLst>
                <a:ext uri="{FF2B5EF4-FFF2-40B4-BE49-F238E27FC236}">
                  <a16:creationId xmlns:a16="http://schemas.microsoft.com/office/drawing/2014/main" id="{67D814AD-4422-4247-B8DB-C93CD6B10F94}"/>
                </a:ext>
              </a:extLst>
            </p:cNvPr>
            <p:cNvCxnSpPr>
              <a:cxnSpLocks/>
            </p:cNvCxnSpPr>
            <p:nvPr/>
          </p:nvCxnSpPr>
          <p:spPr>
            <a:xfrm flipH="1">
              <a:off x="8383604" y="2435191"/>
              <a:ext cx="168472" cy="1474457"/>
            </a:xfrm>
            <a:prstGeom prst="line">
              <a:avLst/>
            </a:prstGeom>
            <a:ln w="28575"/>
          </p:spPr>
          <p:style>
            <a:lnRef idx="1">
              <a:schemeClr val="dk1"/>
            </a:lnRef>
            <a:fillRef idx="0">
              <a:schemeClr val="dk1"/>
            </a:fillRef>
            <a:effectRef idx="0">
              <a:schemeClr val="dk1"/>
            </a:effectRef>
            <a:fontRef idx="minor">
              <a:schemeClr val="tx1"/>
            </a:fontRef>
          </p:style>
        </p:cxnSp>
        <p:cxnSp>
          <p:nvCxnSpPr>
            <p:cNvPr id="19" name="Straight Connector 18">
              <a:extLst>
                <a:ext uri="{FF2B5EF4-FFF2-40B4-BE49-F238E27FC236}">
                  <a16:creationId xmlns:a16="http://schemas.microsoft.com/office/drawing/2014/main" id="{0617AEAA-959A-4833-990C-E9424D81BA66}"/>
                </a:ext>
              </a:extLst>
            </p:cNvPr>
            <p:cNvCxnSpPr>
              <a:cxnSpLocks/>
            </p:cNvCxnSpPr>
            <p:nvPr/>
          </p:nvCxnSpPr>
          <p:spPr>
            <a:xfrm flipH="1">
              <a:off x="8383604" y="2721010"/>
              <a:ext cx="141397" cy="1789598"/>
            </a:xfrm>
            <a:prstGeom prst="line">
              <a:avLst/>
            </a:prstGeom>
            <a:ln w="28575"/>
          </p:spPr>
          <p:style>
            <a:lnRef idx="1">
              <a:schemeClr val="dk1"/>
            </a:lnRef>
            <a:fillRef idx="0">
              <a:schemeClr val="dk1"/>
            </a:fillRef>
            <a:effectRef idx="0">
              <a:schemeClr val="dk1"/>
            </a:effectRef>
            <a:fontRef idx="minor">
              <a:schemeClr val="tx1"/>
            </a:fontRef>
          </p:style>
        </p:cxnSp>
        <p:cxnSp>
          <p:nvCxnSpPr>
            <p:cNvPr id="20" name="Straight Connector 19">
              <a:extLst>
                <a:ext uri="{FF2B5EF4-FFF2-40B4-BE49-F238E27FC236}">
                  <a16:creationId xmlns:a16="http://schemas.microsoft.com/office/drawing/2014/main" id="{F345CF7A-4336-44F3-93A0-446D53950721}"/>
                </a:ext>
              </a:extLst>
            </p:cNvPr>
            <p:cNvCxnSpPr>
              <a:cxnSpLocks/>
            </p:cNvCxnSpPr>
            <p:nvPr/>
          </p:nvCxnSpPr>
          <p:spPr>
            <a:xfrm>
              <a:off x="8808822" y="2537879"/>
              <a:ext cx="55948" cy="1671410"/>
            </a:xfrm>
            <a:prstGeom prst="line">
              <a:avLst/>
            </a:prstGeom>
            <a:ln w="28575"/>
          </p:spPr>
          <p:style>
            <a:lnRef idx="1">
              <a:schemeClr val="dk1"/>
            </a:lnRef>
            <a:fillRef idx="0">
              <a:schemeClr val="dk1"/>
            </a:fillRef>
            <a:effectRef idx="0">
              <a:schemeClr val="dk1"/>
            </a:effectRef>
            <a:fontRef idx="minor">
              <a:schemeClr val="tx1"/>
            </a:fontRef>
          </p:style>
        </p:cxnSp>
        <p:pic>
          <p:nvPicPr>
            <p:cNvPr id="21" name="Picture 20">
              <a:extLst>
                <a:ext uri="{FF2B5EF4-FFF2-40B4-BE49-F238E27FC236}">
                  <a16:creationId xmlns:a16="http://schemas.microsoft.com/office/drawing/2014/main" id="{D4085D2F-3C1D-4F4B-8DBC-75E24DED538F}"/>
                </a:ext>
              </a:extLst>
            </p:cNvPr>
            <p:cNvPicPr>
              <a:picLocks noChangeAspect="1"/>
            </p:cNvPicPr>
            <p:nvPr/>
          </p:nvPicPr>
          <p:blipFill>
            <a:blip r:embed="rId7"/>
            <a:stretch>
              <a:fillRect/>
            </a:stretch>
          </p:blipFill>
          <p:spPr>
            <a:xfrm>
              <a:off x="8525001" y="1986624"/>
              <a:ext cx="1103472" cy="1121761"/>
            </a:xfrm>
            <a:prstGeom prst="rect">
              <a:avLst/>
            </a:prstGeom>
            <a:scene3d>
              <a:camera prst="isometricTopUp"/>
              <a:lightRig rig="threePt" dir="t"/>
            </a:scene3d>
          </p:spPr>
        </p:pic>
      </p:grpSp>
      <p:pic>
        <p:nvPicPr>
          <p:cNvPr id="11" name="Picture 10">
            <a:extLst>
              <a:ext uri="{FF2B5EF4-FFF2-40B4-BE49-F238E27FC236}">
                <a16:creationId xmlns:a16="http://schemas.microsoft.com/office/drawing/2014/main" id="{E2AE07E5-8303-4A64-8C0E-38A8A48ED636}"/>
              </a:ext>
            </a:extLst>
          </p:cNvPr>
          <p:cNvPicPr>
            <a:picLocks noChangeAspect="1"/>
          </p:cNvPicPr>
          <p:nvPr/>
        </p:nvPicPr>
        <p:blipFill>
          <a:blip r:embed="rId8"/>
          <a:stretch>
            <a:fillRect/>
          </a:stretch>
        </p:blipFill>
        <p:spPr>
          <a:xfrm>
            <a:off x="541969" y="3505427"/>
            <a:ext cx="1285714" cy="552381"/>
          </a:xfrm>
          <a:prstGeom prst="rect">
            <a:avLst/>
          </a:prstGeom>
        </p:spPr>
      </p:pic>
      <p:grpSp>
        <p:nvGrpSpPr>
          <p:cNvPr id="22" name="Group 21">
            <a:extLst>
              <a:ext uri="{FF2B5EF4-FFF2-40B4-BE49-F238E27FC236}">
                <a16:creationId xmlns:a16="http://schemas.microsoft.com/office/drawing/2014/main" id="{801FDF5E-F2AA-4569-B6D4-91D0DAE8432C}"/>
              </a:ext>
            </a:extLst>
          </p:cNvPr>
          <p:cNvGrpSpPr/>
          <p:nvPr/>
        </p:nvGrpSpPr>
        <p:grpSpPr>
          <a:xfrm>
            <a:off x="6510943" y="1295542"/>
            <a:ext cx="5361905" cy="2400000"/>
            <a:chOff x="6510943" y="1295542"/>
            <a:chExt cx="5361905" cy="2400000"/>
          </a:xfrm>
        </p:grpSpPr>
        <p:pic>
          <p:nvPicPr>
            <p:cNvPr id="12" name="Picture 11">
              <a:extLst>
                <a:ext uri="{FF2B5EF4-FFF2-40B4-BE49-F238E27FC236}">
                  <a16:creationId xmlns:a16="http://schemas.microsoft.com/office/drawing/2014/main" id="{0BD69DDE-70EC-405A-AA5E-004F814FF238}"/>
                </a:ext>
              </a:extLst>
            </p:cNvPr>
            <p:cNvPicPr>
              <a:picLocks noChangeAspect="1"/>
            </p:cNvPicPr>
            <p:nvPr/>
          </p:nvPicPr>
          <p:blipFill>
            <a:blip r:embed="rId9"/>
            <a:stretch>
              <a:fillRect/>
            </a:stretch>
          </p:blipFill>
          <p:spPr>
            <a:xfrm>
              <a:off x="6510943" y="1295542"/>
              <a:ext cx="5361905" cy="2400000"/>
            </a:xfrm>
            <a:prstGeom prst="rect">
              <a:avLst/>
            </a:prstGeom>
          </p:spPr>
        </p:pic>
        <p:pic>
          <p:nvPicPr>
            <p:cNvPr id="13" name="Picture 12">
              <a:extLst>
                <a:ext uri="{FF2B5EF4-FFF2-40B4-BE49-F238E27FC236}">
                  <a16:creationId xmlns:a16="http://schemas.microsoft.com/office/drawing/2014/main" id="{0B9CBAE6-A3BC-4639-BB25-687AC06BE0F2}"/>
                </a:ext>
              </a:extLst>
            </p:cNvPr>
            <p:cNvPicPr>
              <a:picLocks noChangeAspect="1"/>
            </p:cNvPicPr>
            <p:nvPr/>
          </p:nvPicPr>
          <p:blipFill>
            <a:blip r:embed="rId10"/>
            <a:stretch>
              <a:fillRect/>
            </a:stretch>
          </p:blipFill>
          <p:spPr>
            <a:xfrm>
              <a:off x="10777609" y="2232881"/>
              <a:ext cx="190476" cy="295238"/>
            </a:xfrm>
            <a:prstGeom prst="rect">
              <a:avLst/>
            </a:prstGeom>
          </p:spPr>
        </p:pic>
        <p:pic>
          <p:nvPicPr>
            <p:cNvPr id="14" name="Picture 13">
              <a:extLst>
                <a:ext uri="{FF2B5EF4-FFF2-40B4-BE49-F238E27FC236}">
                  <a16:creationId xmlns:a16="http://schemas.microsoft.com/office/drawing/2014/main" id="{47F9FD4F-C8FF-46B1-9D84-E6B3A765D05C}"/>
                </a:ext>
              </a:extLst>
            </p:cNvPr>
            <p:cNvPicPr>
              <a:picLocks noChangeAspect="1"/>
            </p:cNvPicPr>
            <p:nvPr/>
          </p:nvPicPr>
          <p:blipFill>
            <a:blip r:embed="rId10"/>
            <a:stretch>
              <a:fillRect/>
            </a:stretch>
          </p:blipFill>
          <p:spPr>
            <a:xfrm>
              <a:off x="8820964" y="2739958"/>
              <a:ext cx="190476" cy="295238"/>
            </a:xfrm>
            <a:prstGeom prst="rect">
              <a:avLst/>
            </a:prstGeom>
          </p:spPr>
        </p:pic>
      </p:grpSp>
      <p:pic>
        <p:nvPicPr>
          <p:cNvPr id="8" name="Picture 7">
            <a:extLst>
              <a:ext uri="{FF2B5EF4-FFF2-40B4-BE49-F238E27FC236}">
                <a16:creationId xmlns:a16="http://schemas.microsoft.com/office/drawing/2014/main" id="{9B9EF5A0-428F-496A-8627-BC308565716C}"/>
              </a:ext>
            </a:extLst>
          </p:cNvPr>
          <p:cNvPicPr>
            <a:picLocks noChangeAspect="1"/>
          </p:cNvPicPr>
          <p:nvPr/>
        </p:nvPicPr>
        <p:blipFill>
          <a:blip r:embed="rId11"/>
          <a:stretch>
            <a:fillRect/>
          </a:stretch>
        </p:blipFill>
        <p:spPr>
          <a:xfrm>
            <a:off x="7606180" y="3429000"/>
            <a:ext cx="3171429" cy="2495238"/>
          </a:xfrm>
          <a:prstGeom prst="rect">
            <a:avLst/>
          </a:prstGeom>
        </p:spPr>
      </p:pic>
    </p:spTree>
    <p:extLst>
      <p:ext uri="{BB962C8B-B14F-4D97-AF65-F5344CB8AC3E}">
        <p14:creationId xmlns:p14="http://schemas.microsoft.com/office/powerpoint/2010/main" val="12717251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089517-ECDF-4A5B-A162-01FCEE824FFB}"/>
              </a:ext>
            </a:extLst>
          </p:cNvPr>
          <p:cNvSpPr>
            <a:spLocks noGrp="1"/>
          </p:cNvSpPr>
          <p:nvPr>
            <p:ph type="title"/>
          </p:nvPr>
        </p:nvSpPr>
        <p:spPr/>
        <p:txBody>
          <a:bodyPr/>
          <a:lstStyle/>
          <a:p>
            <a:r>
              <a:rPr lang="en-US" altLang="zh-CN" b="1" dirty="0">
                <a:latin typeface="+mn-lt"/>
                <a:ea typeface="+mn-ea"/>
                <a:cs typeface="+mn-ea"/>
                <a:sym typeface="+mn-lt"/>
              </a:rPr>
              <a:t>Resolution: spectrum of deep features</a:t>
            </a:r>
            <a:endParaRPr lang="zh-CN" altLang="en-US" b="1" dirty="0">
              <a:latin typeface="+mn-lt"/>
              <a:ea typeface="+mn-ea"/>
              <a:cs typeface="+mn-ea"/>
              <a:sym typeface="+mn-lt"/>
            </a:endParaRPr>
          </a:p>
        </p:txBody>
      </p:sp>
      <p:sp>
        <p:nvSpPr>
          <p:cNvPr id="3" name="Content Placeholder 2">
            <a:extLst>
              <a:ext uri="{FF2B5EF4-FFF2-40B4-BE49-F238E27FC236}">
                <a16:creationId xmlns:a16="http://schemas.microsoft.com/office/drawing/2014/main" id="{1E4ECB30-6A32-4459-939A-D9BA9CE0C5B4}"/>
              </a:ext>
            </a:extLst>
          </p:cNvPr>
          <p:cNvSpPr>
            <a:spLocks noGrp="1"/>
          </p:cNvSpPr>
          <p:nvPr>
            <p:ph idx="1"/>
          </p:nvPr>
        </p:nvSpPr>
        <p:spPr>
          <a:xfrm>
            <a:off x="838200" y="1825625"/>
            <a:ext cx="10515600" cy="691332"/>
          </a:xfrm>
        </p:spPr>
        <p:txBody>
          <a:bodyPr/>
          <a:lstStyle/>
          <a:p>
            <a:r>
              <a:rPr lang="en-US" altLang="zh-CN" b="1" dirty="0">
                <a:solidFill>
                  <a:srgbClr val="C00000"/>
                </a:solidFill>
                <a:cs typeface="+mn-ea"/>
                <a:sym typeface="+mn-lt"/>
              </a:rPr>
              <a:t>Problem: </a:t>
            </a:r>
            <a:r>
              <a:rPr lang="en-US" altLang="zh-CN" dirty="0">
                <a:cs typeface="+mn-ea"/>
                <a:sym typeface="+mn-lt"/>
              </a:rPr>
              <a:t>coarse output</a:t>
            </a:r>
            <a:endParaRPr lang="zh-CN" altLang="en-US" dirty="0">
              <a:cs typeface="+mn-ea"/>
              <a:sym typeface="+mn-lt"/>
            </a:endParaRPr>
          </a:p>
        </p:txBody>
      </p:sp>
      <p:pic>
        <p:nvPicPr>
          <p:cNvPr id="4" name="Picture 3">
            <a:extLst>
              <a:ext uri="{FF2B5EF4-FFF2-40B4-BE49-F238E27FC236}">
                <a16:creationId xmlns:a16="http://schemas.microsoft.com/office/drawing/2014/main" id="{63E64D52-7B5D-4C56-BA96-6A0073F3647D}"/>
              </a:ext>
            </a:extLst>
          </p:cNvPr>
          <p:cNvPicPr>
            <a:picLocks noChangeAspect="1"/>
          </p:cNvPicPr>
          <p:nvPr/>
        </p:nvPicPr>
        <p:blipFill>
          <a:blip r:embed="rId2"/>
          <a:stretch>
            <a:fillRect/>
          </a:stretch>
        </p:blipFill>
        <p:spPr>
          <a:xfrm>
            <a:off x="2594610" y="2482208"/>
            <a:ext cx="7002780" cy="2015317"/>
          </a:xfrm>
          <a:prstGeom prst="rect">
            <a:avLst/>
          </a:prstGeom>
        </p:spPr>
      </p:pic>
      <p:sp>
        <p:nvSpPr>
          <p:cNvPr id="5" name="Content Placeholder 2">
            <a:extLst>
              <a:ext uri="{FF2B5EF4-FFF2-40B4-BE49-F238E27FC236}">
                <a16:creationId xmlns:a16="http://schemas.microsoft.com/office/drawing/2014/main" id="{965A733A-6FBB-4C2E-A614-CEBB05F5A13E}"/>
              </a:ext>
            </a:extLst>
          </p:cNvPr>
          <p:cNvSpPr txBox="1">
            <a:spLocks/>
          </p:cNvSpPr>
          <p:nvPr/>
        </p:nvSpPr>
        <p:spPr>
          <a:xfrm>
            <a:off x="838200" y="4525807"/>
            <a:ext cx="10515600" cy="691332"/>
          </a:xfrm>
          <a:prstGeom prst="rect">
            <a:avLst/>
          </a:prstGeom>
        </p:spPr>
        <p:txBody>
          <a:bodyPr vert="horz" lIns="91440" tIns="45720" rIns="91440" bIns="45720" rtlCol="0">
            <a:normAutofit/>
          </a:bodyPr>
          <a:lstStyle>
            <a:lvl1pPr marL="228600" indent="-228600" algn="l" defTabSz="914400" rtl="0" eaLnBrk="1" latinLnBrk="0" hangingPunct="1">
              <a:lnSpc>
                <a:spcPct val="125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dirty="0">
                <a:cs typeface="+mn-ea"/>
                <a:sym typeface="+mn-lt"/>
              </a:rPr>
              <a:t>Combine </a:t>
            </a:r>
            <a:r>
              <a:rPr lang="en-US" altLang="zh-CN" b="1" dirty="0">
                <a:cs typeface="+mn-ea"/>
                <a:sym typeface="+mn-lt"/>
              </a:rPr>
              <a:t>shallow</a:t>
            </a:r>
            <a:r>
              <a:rPr lang="en-US" altLang="zh-CN" dirty="0">
                <a:cs typeface="+mn-ea"/>
                <a:sym typeface="+mn-lt"/>
              </a:rPr>
              <a:t> features with the </a:t>
            </a:r>
            <a:r>
              <a:rPr lang="en-US" altLang="zh-CN" b="1" dirty="0">
                <a:cs typeface="+mn-ea"/>
                <a:sym typeface="+mn-lt"/>
              </a:rPr>
              <a:t>deep</a:t>
            </a:r>
            <a:r>
              <a:rPr lang="en-US" altLang="zh-CN" dirty="0">
                <a:cs typeface="+mn-ea"/>
                <a:sym typeface="+mn-lt"/>
              </a:rPr>
              <a:t> features</a:t>
            </a:r>
            <a:endParaRPr lang="zh-CN" altLang="en-US" dirty="0">
              <a:cs typeface="+mn-ea"/>
              <a:sym typeface="+mn-lt"/>
            </a:endParaRPr>
          </a:p>
        </p:txBody>
      </p:sp>
      <p:pic>
        <p:nvPicPr>
          <p:cNvPr id="6" name="Picture 5">
            <a:extLst>
              <a:ext uri="{FF2B5EF4-FFF2-40B4-BE49-F238E27FC236}">
                <a16:creationId xmlns:a16="http://schemas.microsoft.com/office/drawing/2014/main" id="{431A8451-F7DD-4ED4-A6EF-4D2493A08960}"/>
              </a:ext>
            </a:extLst>
          </p:cNvPr>
          <p:cNvPicPr>
            <a:picLocks noChangeAspect="1"/>
          </p:cNvPicPr>
          <p:nvPr/>
        </p:nvPicPr>
        <p:blipFill>
          <a:blip r:embed="rId3"/>
          <a:stretch>
            <a:fillRect/>
          </a:stretch>
        </p:blipFill>
        <p:spPr>
          <a:xfrm>
            <a:off x="1703433" y="5162300"/>
            <a:ext cx="8785134" cy="1639138"/>
          </a:xfrm>
          <a:prstGeom prst="rect">
            <a:avLst/>
          </a:prstGeom>
        </p:spPr>
      </p:pic>
    </p:spTree>
    <p:extLst>
      <p:ext uri="{BB962C8B-B14F-4D97-AF65-F5344CB8AC3E}">
        <p14:creationId xmlns:p14="http://schemas.microsoft.com/office/powerpoint/2010/main" val="120721936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10F2D7-A2F7-4214-BFDF-A838554F7A96}"/>
              </a:ext>
            </a:extLst>
          </p:cNvPr>
          <p:cNvSpPr>
            <a:spLocks noGrp="1"/>
          </p:cNvSpPr>
          <p:nvPr>
            <p:ph type="title"/>
          </p:nvPr>
        </p:nvSpPr>
        <p:spPr/>
        <p:txBody>
          <a:bodyPr/>
          <a:lstStyle/>
          <a:p>
            <a:r>
              <a:rPr lang="en-US" altLang="zh-CN" b="1" dirty="0">
                <a:latin typeface="+mn-lt"/>
                <a:ea typeface="+mn-ea"/>
                <a:cs typeface="+mn-ea"/>
                <a:sym typeface="+mn-lt"/>
              </a:rPr>
              <a:t>Fine details: </a:t>
            </a:r>
            <a:r>
              <a:rPr lang="en-US" altLang="zh-CN" dirty="0">
                <a:latin typeface="+mn-lt"/>
                <a:ea typeface="+mn-ea"/>
                <a:cs typeface="+mn-ea"/>
                <a:sym typeface="+mn-lt"/>
              </a:rPr>
              <a:t>skip connections</a:t>
            </a:r>
            <a:endParaRPr lang="zh-CN" altLang="en-US" dirty="0">
              <a:latin typeface="+mn-lt"/>
              <a:ea typeface="+mn-ea"/>
              <a:cs typeface="+mn-ea"/>
              <a:sym typeface="+mn-lt"/>
            </a:endParaRPr>
          </a:p>
        </p:txBody>
      </p:sp>
      <p:pic>
        <p:nvPicPr>
          <p:cNvPr id="4" name="Picture 3">
            <a:extLst>
              <a:ext uri="{FF2B5EF4-FFF2-40B4-BE49-F238E27FC236}">
                <a16:creationId xmlns:a16="http://schemas.microsoft.com/office/drawing/2014/main" id="{C96852D6-B5BC-44FA-A05B-DEE6CA5E19C9}"/>
              </a:ext>
            </a:extLst>
          </p:cNvPr>
          <p:cNvPicPr>
            <a:picLocks noChangeAspect="1"/>
          </p:cNvPicPr>
          <p:nvPr/>
        </p:nvPicPr>
        <p:blipFill>
          <a:blip r:embed="rId2"/>
          <a:stretch>
            <a:fillRect/>
          </a:stretch>
        </p:blipFill>
        <p:spPr>
          <a:xfrm>
            <a:off x="1156262" y="2017059"/>
            <a:ext cx="9700181" cy="4111335"/>
          </a:xfrm>
          <a:prstGeom prst="rect">
            <a:avLst/>
          </a:prstGeom>
        </p:spPr>
      </p:pic>
      <p:sp>
        <p:nvSpPr>
          <p:cNvPr id="5" name="TextBox 4">
            <a:extLst>
              <a:ext uri="{FF2B5EF4-FFF2-40B4-BE49-F238E27FC236}">
                <a16:creationId xmlns:a16="http://schemas.microsoft.com/office/drawing/2014/main" id="{16FFA290-EBE1-4502-9E9D-1FA08A412F25}"/>
              </a:ext>
            </a:extLst>
          </p:cNvPr>
          <p:cNvSpPr txBox="1"/>
          <p:nvPr/>
        </p:nvSpPr>
        <p:spPr>
          <a:xfrm>
            <a:off x="1506070" y="5109882"/>
            <a:ext cx="3251211" cy="523220"/>
          </a:xfrm>
          <a:prstGeom prst="rect">
            <a:avLst/>
          </a:prstGeom>
          <a:noFill/>
        </p:spPr>
        <p:txBody>
          <a:bodyPr wrap="none" rtlCol="0">
            <a:spAutoFit/>
          </a:bodyPr>
          <a:lstStyle/>
          <a:p>
            <a:r>
              <a:rPr lang="en-US" altLang="zh-CN" sz="2800" b="1" dirty="0">
                <a:solidFill>
                  <a:srgbClr val="00B0F0"/>
                </a:solidFill>
                <a:cs typeface="+mn-ea"/>
                <a:sym typeface="+mn-lt"/>
              </a:rPr>
              <a:t>End-to-end training</a:t>
            </a:r>
            <a:endParaRPr lang="zh-CN" altLang="en-US" sz="2800" b="1" dirty="0">
              <a:solidFill>
                <a:srgbClr val="00B0F0"/>
              </a:solidFill>
              <a:cs typeface="+mn-ea"/>
              <a:sym typeface="+mn-lt"/>
            </a:endParaRPr>
          </a:p>
        </p:txBody>
      </p:sp>
      <p:sp>
        <p:nvSpPr>
          <p:cNvPr id="6" name="TextBox 5">
            <a:extLst>
              <a:ext uri="{FF2B5EF4-FFF2-40B4-BE49-F238E27FC236}">
                <a16:creationId xmlns:a16="http://schemas.microsoft.com/office/drawing/2014/main" id="{1F030F0A-DB23-41D6-B4BA-BDD74026281E}"/>
              </a:ext>
            </a:extLst>
          </p:cNvPr>
          <p:cNvSpPr txBox="1"/>
          <p:nvPr/>
        </p:nvSpPr>
        <p:spPr>
          <a:xfrm>
            <a:off x="5737411" y="4177553"/>
            <a:ext cx="1949573" cy="707886"/>
          </a:xfrm>
          <a:prstGeom prst="rect">
            <a:avLst/>
          </a:prstGeom>
          <a:noFill/>
        </p:spPr>
        <p:txBody>
          <a:bodyPr wrap="none" rtlCol="0">
            <a:spAutoFit/>
          </a:bodyPr>
          <a:lstStyle/>
          <a:p>
            <a:r>
              <a:rPr lang="en-US" altLang="zh-CN" sz="2000" b="1" dirty="0">
                <a:solidFill>
                  <a:srgbClr val="C00000"/>
                </a:solidFill>
                <a:cs typeface="+mn-ea"/>
                <a:sym typeface="+mn-lt"/>
              </a:rPr>
              <a:t>skip connection </a:t>
            </a:r>
          </a:p>
          <a:p>
            <a:r>
              <a:rPr lang="en-US" altLang="zh-CN" sz="2000" b="1" dirty="0">
                <a:solidFill>
                  <a:srgbClr val="C00000"/>
                </a:solidFill>
                <a:cs typeface="+mn-ea"/>
                <a:sym typeface="+mn-lt"/>
              </a:rPr>
              <a:t>fuse layers</a:t>
            </a:r>
            <a:endParaRPr lang="zh-CN" altLang="en-US" sz="2000" b="1" dirty="0">
              <a:solidFill>
                <a:srgbClr val="C00000"/>
              </a:solidFill>
              <a:cs typeface="+mn-ea"/>
              <a:sym typeface="+mn-lt"/>
            </a:endParaRPr>
          </a:p>
        </p:txBody>
      </p:sp>
    </p:spTree>
    <p:extLst>
      <p:ext uri="{BB962C8B-B14F-4D97-AF65-F5344CB8AC3E}">
        <p14:creationId xmlns:p14="http://schemas.microsoft.com/office/powerpoint/2010/main" val="192837088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75934C-99D6-493B-A793-E61D6C6D2AE7}"/>
              </a:ext>
            </a:extLst>
          </p:cNvPr>
          <p:cNvSpPr>
            <a:spLocks noGrp="1"/>
          </p:cNvSpPr>
          <p:nvPr>
            <p:ph type="title"/>
          </p:nvPr>
        </p:nvSpPr>
        <p:spPr/>
        <p:txBody>
          <a:bodyPr/>
          <a:lstStyle/>
          <a:p>
            <a:r>
              <a:rPr lang="en-US" altLang="zh-CN" b="1" dirty="0">
                <a:latin typeface="+mn-lt"/>
                <a:ea typeface="+mn-ea"/>
                <a:cs typeface="+mn-ea"/>
                <a:sym typeface="+mn-lt"/>
              </a:rPr>
              <a:t>Experimental Results</a:t>
            </a:r>
            <a:endParaRPr lang="zh-CN" altLang="en-US" b="1" dirty="0">
              <a:latin typeface="+mn-lt"/>
              <a:ea typeface="+mn-ea"/>
              <a:cs typeface="+mn-ea"/>
              <a:sym typeface="+mn-lt"/>
            </a:endParaRPr>
          </a:p>
        </p:txBody>
      </p:sp>
      <p:pic>
        <p:nvPicPr>
          <p:cNvPr id="5" name="Picture 4">
            <a:extLst>
              <a:ext uri="{FF2B5EF4-FFF2-40B4-BE49-F238E27FC236}">
                <a16:creationId xmlns:a16="http://schemas.microsoft.com/office/drawing/2014/main" id="{7B2C45AB-9B62-4117-8E10-EA96FBB417CD}"/>
              </a:ext>
            </a:extLst>
          </p:cNvPr>
          <p:cNvPicPr>
            <a:picLocks noChangeAspect="1"/>
          </p:cNvPicPr>
          <p:nvPr/>
        </p:nvPicPr>
        <p:blipFill>
          <a:blip r:embed="rId2"/>
          <a:stretch>
            <a:fillRect/>
          </a:stretch>
        </p:blipFill>
        <p:spPr>
          <a:xfrm>
            <a:off x="6073076" y="1305931"/>
            <a:ext cx="5922765" cy="3008799"/>
          </a:xfrm>
          <a:prstGeom prst="rect">
            <a:avLst/>
          </a:prstGeom>
        </p:spPr>
      </p:pic>
      <p:grpSp>
        <p:nvGrpSpPr>
          <p:cNvPr id="7" name="Group 6">
            <a:extLst>
              <a:ext uri="{FF2B5EF4-FFF2-40B4-BE49-F238E27FC236}">
                <a16:creationId xmlns:a16="http://schemas.microsoft.com/office/drawing/2014/main" id="{758E4886-B53C-4EBC-8F8C-C867DC6B865A}"/>
              </a:ext>
            </a:extLst>
          </p:cNvPr>
          <p:cNvGrpSpPr/>
          <p:nvPr/>
        </p:nvGrpSpPr>
        <p:grpSpPr>
          <a:xfrm>
            <a:off x="356569" y="1566192"/>
            <a:ext cx="5716507" cy="2488275"/>
            <a:chOff x="356569" y="2184862"/>
            <a:chExt cx="5716507" cy="2488275"/>
          </a:xfrm>
        </p:grpSpPr>
        <p:pic>
          <p:nvPicPr>
            <p:cNvPr id="4" name="Picture 3">
              <a:extLst>
                <a:ext uri="{FF2B5EF4-FFF2-40B4-BE49-F238E27FC236}">
                  <a16:creationId xmlns:a16="http://schemas.microsoft.com/office/drawing/2014/main" id="{A03EFB9F-C9E3-4E7A-AF8A-1A35F0C28801}"/>
                </a:ext>
              </a:extLst>
            </p:cNvPr>
            <p:cNvPicPr>
              <a:picLocks noChangeAspect="1"/>
            </p:cNvPicPr>
            <p:nvPr/>
          </p:nvPicPr>
          <p:blipFill>
            <a:blip r:embed="rId3"/>
            <a:stretch>
              <a:fillRect/>
            </a:stretch>
          </p:blipFill>
          <p:spPr>
            <a:xfrm>
              <a:off x="1983151" y="2184862"/>
              <a:ext cx="4089925" cy="2488275"/>
            </a:xfrm>
            <a:prstGeom prst="rect">
              <a:avLst/>
            </a:prstGeom>
          </p:spPr>
        </p:pic>
        <p:pic>
          <p:nvPicPr>
            <p:cNvPr id="6" name="Picture 5">
              <a:extLst>
                <a:ext uri="{FF2B5EF4-FFF2-40B4-BE49-F238E27FC236}">
                  <a16:creationId xmlns:a16="http://schemas.microsoft.com/office/drawing/2014/main" id="{C53B4673-E89A-42D5-AFFD-91CE143C9DAD}"/>
                </a:ext>
              </a:extLst>
            </p:cNvPr>
            <p:cNvPicPr>
              <a:picLocks noChangeAspect="1"/>
            </p:cNvPicPr>
            <p:nvPr/>
          </p:nvPicPr>
          <p:blipFill>
            <a:blip r:embed="rId4"/>
            <a:stretch>
              <a:fillRect/>
            </a:stretch>
          </p:blipFill>
          <p:spPr>
            <a:xfrm>
              <a:off x="356569" y="2447054"/>
              <a:ext cx="1430424" cy="2114763"/>
            </a:xfrm>
            <a:prstGeom prst="rect">
              <a:avLst/>
            </a:prstGeom>
          </p:spPr>
        </p:pic>
      </p:grpSp>
      <p:pic>
        <p:nvPicPr>
          <p:cNvPr id="3" name="Picture 2">
            <a:extLst>
              <a:ext uri="{FF2B5EF4-FFF2-40B4-BE49-F238E27FC236}">
                <a16:creationId xmlns:a16="http://schemas.microsoft.com/office/drawing/2014/main" id="{3690D552-6BDC-498B-B7B3-76DB22C4534F}"/>
              </a:ext>
            </a:extLst>
          </p:cNvPr>
          <p:cNvPicPr>
            <a:picLocks noChangeAspect="1"/>
          </p:cNvPicPr>
          <p:nvPr/>
        </p:nvPicPr>
        <p:blipFill>
          <a:blip r:embed="rId5"/>
          <a:stretch>
            <a:fillRect/>
          </a:stretch>
        </p:blipFill>
        <p:spPr>
          <a:xfrm>
            <a:off x="6296471" y="4448801"/>
            <a:ext cx="5475975" cy="2206536"/>
          </a:xfrm>
          <a:prstGeom prst="rect">
            <a:avLst/>
          </a:prstGeom>
        </p:spPr>
      </p:pic>
      <p:pic>
        <p:nvPicPr>
          <p:cNvPr id="8" name="Picture 7">
            <a:extLst>
              <a:ext uri="{FF2B5EF4-FFF2-40B4-BE49-F238E27FC236}">
                <a16:creationId xmlns:a16="http://schemas.microsoft.com/office/drawing/2014/main" id="{DCB730FD-6099-4C77-BE1B-C0F04069C746}"/>
              </a:ext>
            </a:extLst>
          </p:cNvPr>
          <p:cNvPicPr>
            <a:picLocks noChangeAspect="1"/>
          </p:cNvPicPr>
          <p:nvPr/>
        </p:nvPicPr>
        <p:blipFill>
          <a:blip r:embed="rId6"/>
          <a:stretch>
            <a:fillRect/>
          </a:stretch>
        </p:blipFill>
        <p:spPr>
          <a:xfrm>
            <a:off x="935979" y="4192163"/>
            <a:ext cx="4409038" cy="2450407"/>
          </a:xfrm>
          <a:prstGeom prst="rect">
            <a:avLst/>
          </a:prstGeom>
        </p:spPr>
      </p:pic>
    </p:spTree>
    <p:extLst>
      <p:ext uri="{BB962C8B-B14F-4D97-AF65-F5344CB8AC3E}">
        <p14:creationId xmlns:p14="http://schemas.microsoft.com/office/powerpoint/2010/main" val="119084815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3B5F22-8D49-4838-8CBE-F4518E48D960}"/>
              </a:ext>
            </a:extLst>
          </p:cNvPr>
          <p:cNvSpPr>
            <a:spLocks noGrp="1"/>
          </p:cNvSpPr>
          <p:nvPr>
            <p:ph type="title"/>
          </p:nvPr>
        </p:nvSpPr>
        <p:spPr/>
        <p:txBody>
          <a:bodyPr/>
          <a:lstStyle/>
          <a:p>
            <a:r>
              <a:rPr lang="en-US" altLang="zh-CN" b="1" dirty="0"/>
              <a:t>Transposed Convolution in PyTorch</a:t>
            </a:r>
            <a:endParaRPr lang="zh-CN" altLang="en-US" b="1" dirty="0"/>
          </a:p>
        </p:txBody>
      </p:sp>
      <p:sp>
        <p:nvSpPr>
          <p:cNvPr id="3" name="Content Placeholder 2">
            <a:extLst>
              <a:ext uri="{FF2B5EF4-FFF2-40B4-BE49-F238E27FC236}">
                <a16:creationId xmlns:a16="http://schemas.microsoft.com/office/drawing/2014/main" id="{23F6129A-A228-487B-B8B1-9351927CE051}"/>
              </a:ext>
            </a:extLst>
          </p:cNvPr>
          <p:cNvSpPr>
            <a:spLocks noGrp="1"/>
          </p:cNvSpPr>
          <p:nvPr>
            <p:ph idx="1"/>
          </p:nvPr>
        </p:nvSpPr>
        <p:spPr/>
        <p:txBody>
          <a:bodyPr/>
          <a:lstStyle/>
          <a:p>
            <a:endParaRPr lang="zh-CN" altLang="en-US" dirty="0"/>
          </a:p>
        </p:txBody>
      </p:sp>
      <p:sp>
        <p:nvSpPr>
          <p:cNvPr id="4" name="Rectangle 3">
            <a:extLst>
              <a:ext uri="{FF2B5EF4-FFF2-40B4-BE49-F238E27FC236}">
                <a16:creationId xmlns:a16="http://schemas.microsoft.com/office/drawing/2014/main" id="{87159EC4-077A-42BB-83B6-F145508765EE}"/>
              </a:ext>
            </a:extLst>
          </p:cNvPr>
          <p:cNvSpPr/>
          <p:nvPr/>
        </p:nvSpPr>
        <p:spPr>
          <a:xfrm>
            <a:off x="4656499" y="6492875"/>
            <a:ext cx="7535501" cy="369332"/>
          </a:xfrm>
          <a:prstGeom prst="rect">
            <a:avLst/>
          </a:prstGeom>
        </p:spPr>
        <p:txBody>
          <a:bodyPr wrap="square">
            <a:spAutoFit/>
          </a:bodyPr>
          <a:lstStyle/>
          <a:p>
            <a:pPr algn="r"/>
            <a:r>
              <a:rPr lang="zh-CN" altLang="en-US" dirty="0">
                <a:hlinkClick r:id="rId3"/>
              </a:rPr>
              <a:t>https://pytorch.org/docs/stable/generated/torch.nn.ConvTranspose2d.html</a:t>
            </a:r>
            <a:endParaRPr lang="zh-CN" altLang="en-US" dirty="0"/>
          </a:p>
        </p:txBody>
      </p:sp>
      <p:pic>
        <p:nvPicPr>
          <p:cNvPr id="5" name="Picture 4">
            <a:extLst>
              <a:ext uri="{FF2B5EF4-FFF2-40B4-BE49-F238E27FC236}">
                <a16:creationId xmlns:a16="http://schemas.microsoft.com/office/drawing/2014/main" id="{308B1FAD-8A7A-4577-A37D-C1019143E4FF}"/>
              </a:ext>
            </a:extLst>
          </p:cNvPr>
          <p:cNvPicPr>
            <a:picLocks noChangeAspect="1"/>
          </p:cNvPicPr>
          <p:nvPr/>
        </p:nvPicPr>
        <p:blipFill>
          <a:blip r:embed="rId4"/>
          <a:stretch>
            <a:fillRect/>
          </a:stretch>
        </p:blipFill>
        <p:spPr>
          <a:xfrm>
            <a:off x="838200" y="1801773"/>
            <a:ext cx="8342857" cy="2247619"/>
          </a:xfrm>
          <a:prstGeom prst="rect">
            <a:avLst/>
          </a:prstGeom>
        </p:spPr>
      </p:pic>
      <p:pic>
        <p:nvPicPr>
          <p:cNvPr id="6" name="Picture 5">
            <a:extLst>
              <a:ext uri="{FF2B5EF4-FFF2-40B4-BE49-F238E27FC236}">
                <a16:creationId xmlns:a16="http://schemas.microsoft.com/office/drawing/2014/main" id="{140B5764-7E71-4B28-9A1C-404CFEAAB02E}"/>
              </a:ext>
            </a:extLst>
          </p:cNvPr>
          <p:cNvPicPr>
            <a:picLocks noChangeAspect="1"/>
          </p:cNvPicPr>
          <p:nvPr/>
        </p:nvPicPr>
        <p:blipFill>
          <a:blip r:embed="rId5"/>
          <a:stretch>
            <a:fillRect/>
          </a:stretch>
        </p:blipFill>
        <p:spPr>
          <a:xfrm>
            <a:off x="982718" y="4073244"/>
            <a:ext cx="6052784" cy="2327372"/>
          </a:xfrm>
          <a:prstGeom prst="rect">
            <a:avLst/>
          </a:prstGeom>
        </p:spPr>
      </p:pic>
    </p:spTree>
    <p:extLst>
      <p:ext uri="{BB962C8B-B14F-4D97-AF65-F5344CB8AC3E}">
        <p14:creationId xmlns:p14="http://schemas.microsoft.com/office/powerpoint/2010/main" val="138637263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0F595B-77F0-4AFD-8704-97243A0C9AE6}"/>
              </a:ext>
            </a:extLst>
          </p:cNvPr>
          <p:cNvSpPr>
            <a:spLocks noGrp="1"/>
          </p:cNvSpPr>
          <p:nvPr>
            <p:ph type="title"/>
          </p:nvPr>
        </p:nvSpPr>
        <p:spPr/>
        <p:txBody>
          <a:bodyPr/>
          <a:lstStyle/>
          <a:p>
            <a:r>
              <a:rPr lang="en-US" altLang="zh-CN" b="1" dirty="0"/>
              <a:t>Transfer Learning</a:t>
            </a:r>
            <a:endParaRPr lang="zh-CN" altLang="en-US" b="1"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4416A54-A8EB-4B56-8F56-4D965B71BBD4}"/>
                  </a:ext>
                </a:extLst>
              </p:cNvPr>
              <p:cNvSpPr>
                <a:spLocks noGrp="1"/>
              </p:cNvSpPr>
              <p:nvPr>
                <p:ph idx="1"/>
              </p:nvPr>
            </p:nvSpPr>
            <p:spPr/>
            <p:txBody>
              <a:bodyPr>
                <a:normAutofit fontScale="85000" lnSpcReduction="20000"/>
              </a:bodyPr>
              <a:lstStyle/>
              <a:p>
                <a:pPr>
                  <a:lnSpc>
                    <a:spcPct val="140000"/>
                  </a:lnSpc>
                </a:pPr>
                <a:r>
                  <a:rPr lang="en-US" altLang="zh-CN" dirty="0"/>
                  <a:t>Cast ImageNet models </a:t>
                </a:r>
                <a:r>
                  <a:rPr lang="en-US" altLang="zh-CN" dirty="0">
                    <a:solidFill>
                      <a:srgbClr val="00B0F0"/>
                    </a:solidFill>
                  </a:rPr>
                  <a:t>(AlexNet, VGG, </a:t>
                </a:r>
                <a:r>
                  <a:rPr lang="en-US" altLang="zh-CN" dirty="0" err="1">
                    <a:solidFill>
                      <a:srgbClr val="00B0F0"/>
                    </a:solidFill>
                  </a:rPr>
                  <a:t>GoogLeNet</a:t>
                </a:r>
                <a:r>
                  <a:rPr lang="en-US" altLang="zh-CN" dirty="0">
                    <a:solidFill>
                      <a:srgbClr val="00B0F0"/>
                    </a:solidFill>
                  </a:rPr>
                  <a:t>, etc.)</a:t>
                </a:r>
                <a:r>
                  <a:rPr lang="en-US" altLang="zh-CN" dirty="0"/>
                  <a:t> into FCNs and augment them for segmentation: </a:t>
                </a:r>
              </a:p>
              <a:p>
                <a:pPr lvl="1">
                  <a:lnSpc>
                    <a:spcPct val="140000"/>
                  </a:lnSpc>
                </a:pPr>
                <a:r>
                  <a:rPr lang="en-US" altLang="zh-CN" dirty="0"/>
                  <a:t>Discard classifier layer, </a:t>
                </a:r>
              </a:p>
              <a:p>
                <a:pPr lvl="1">
                  <a:lnSpc>
                    <a:spcPct val="140000"/>
                  </a:lnSpc>
                </a:pPr>
                <a:r>
                  <a:rPr lang="en-US" altLang="zh-CN" dirty="0"/>
                  <a:t>Transform FC to CONV, </a:t>
                </a:r>
              </a:p>
              <a:p>
                <a:pPr lvl="1">
                  <a:lnSpc>
                    <a:spcPct val="140000"/>
                  </a:lnSpc>
                </a:pPr>
                <a:r>
                  <a:rPr lang="en-US" altLang="zh-CN" dirty="0"/>
                  <a:t>Upsampling</a:t>
                </a:r>
              </a:p>
              <a:p>
                <a:pPr lvl="1">
                  <a:lnSpc>
                    <a:spcPct val="140000"/>
                  </a:lnSpc>
                </a:pPr>
                <a:r>
                  <a:rPr lang="en-US" altLang="zh-CN" dirty="0"/>
                  <a:t>Add skip connections</a:t>
                </a:r>
              </a:p>
              <a:p>
                <a:pPr lvl="1">
                  <a:lnSpc>
                    <a:spcPct val="140000"/>
                  </a:lnSpc>
                </a:pPr>
                <a:r>
                  <a:rPr lang="en-US" altLang="zh-CN" dirty="0"/>
                  <a:t>Add </a:t>
                </a:r>
                <a14:m>
                  <m:oMath xmlns:m="http://schemas.openxmlformats.org/officeDocument/2006/math">
                    <m:r>
                      <a:rPr lang="en-US" altLang="zh-CN" i="1" dirty="0" smtClean="0">
                        <a:latin typeface="Cambria Math" panose="02040503050406030204" pitchFamily="18" charset="0"/>
                      </a:rPr>
                      <m:t>1</m:t>
                    </m:r>
                    <m:r>
                      <a:rPr lang="en-US" altLang="zh-CN" i="1" dirty="0" smtClean="0">
                        <a:latin typeface="Cambria Math" panose="02040503050406030204" pitchFamily="18" charset="0"/>
                        <a:ea typeface="Cambria Math" panose="02040503050406030204" pitchFamily="18" charset="0"/>
                      </a:rPr>
                      <m:t>×</m:t>
                    </m:r>
                    <m:r>
                      <a:rPr lang="en-US" altLang="zh-CN" i="1" dirty="0" smtClean="0">
                        <a:latin typeface="Cambria Math" panose="02040503050406030204" pitchFamily="18" charset="0"/>
                      </a:rPr>
                      <m:t>1</m:t>
                    </m:r>
                  </m:oMath>
                </a14:m>
                <a:r>
                  <a:rPr lang="en-US" altLang="zh-CN" dirty="0"/>
                  <a:t> CONV with </a:t>
                </a:r>
                <a14:m>
                  <m:oMath xmlns:m="http://schemas.openxmlformats.org/officeDocument/2006/math">
                    <m:r>
                      <a:rPr lang="en-US" altLang="zh-CN" i="1" dirty="0" smtClean="0">
                        <a:solidFill>
                          <a:srgbClr val="00B0F0"/>
                        </a:solidFill>
                        <a:latin typeface="Cambria Math" panose="02040503050406030204" pitchFamily="18" charset="0"/>
                      </a:rPr>
                      <m:t>𝐾</m:t>
                    </m:r>
                  </m:oMath>
                </a14:m>
                <a:r>
                  <a:rPr lang="en-US" altLang="zh-CN" dirty="0"/>
                  <a:t> filters for prediction at each output location,</a:t>
                </a:r>
              </a:p>
              <a:p>
                <a:pPr>
                  <a:lnSpc>
                    <a:spcPct val="140000"/>
                  </a:lnSpc>
                </a:pPr>
                <a:r>
                  <a:rPr lang="en-US" altLang="zh-CN" dirty="0"/>
                  <a:t>Train for segmentation by fine-tuning all layers with </a:t>
                </a:r>
                <a:r>
                  <a:rPr lang="en-US" altLang="zh-CN" dirty="0">
                    <a:solidFill>
                      <a:srgbClr val="00B0F0"/>
                    </a:solidFill>
                  </a:rPr>
                  <a:t>PASCAL VOC 2011</a:t>
                </a:r>
                <a:r>
                  <a:rPr lang="en-US" altLang="zh-CN" dirty="0"/>
                  <a:t> with a pixelwise loss </a:t>
                </a:r>
                <a:r>
                  <a:rPr lang="en-US" altLang="zh-CN" dirty="0">
                    <a:solidFill>
                      <a:srgbClr val="00B0F0"/>
                    </a:solidFill>
                  </a:rPr>
                  <a:t>(e.g., Cross-Entropy).</a:t>
                </a:r>
                <a:endParaRPr lang="zh-CN" altLang="en-US" dirty="0">
                  <a:solidFill>
                    <a:srgbClr val="00B0F0"/>
                  </a:solidFill>
                </a:endParaRPr>
              </a:p>
            </p:txBody>
          </p:sp>
        </mc:Choice>
        <mc:Fallback xmlns="">
          <p:sp>
            <p:nvSpPr>
              <p:cNvPr id="3" name="Content Placeholder 2">
                <a:extLst>
                  <a:ext uri="{FF2B5EF4-FFF2-40B4-BE49-F238E27FC236}">
                    <a16:creationId xmlns:a16="http://schemas.microsoft.com/office/drawing/2014/main" id="{74416A54-A8EB-4B56-8F56-4D965B71BBD4}"/>
                  </a:ext>
                </a:extLst>
              </p:cNvPr>
              <p:cNvSpPr>
                <a:spLocks noGrp="1" noRot="1" noChangeAspect="1" noMove="1" noResize="1" noEditPoints="1" noAdjustHandles="1" noChangeArrowheads="1" noChangeShapeType="1" noTextEdit="1"/>
              </p:cNvSpPr>
              <p:nvPr>
                <p:ph idx="1"/>
              </p:nvPr>
            </p:nvSpPr>
            <p:spPr>
              <a:blipFill>
                <a:blip r:embed="rId2"/>
                <a:stretch>
                  <a:fillRect l="-812" t="-280" r="-1043"/>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20280815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19305B-ECD0-4A30-A161-8763156325BC}"/>
              </a:ext>
            </a:extLst>
          </p:cNvPr>
          <p:cNvSpPr>
            <a:spLocks noGrp="1"/>
          </p:cNvSpPr>
          <p:nvPr>
            <p:ph type="title"/>
          </p:nvPr>
        </p:nvSpPr>
        <p:spPr/>
        <p:txBody>
          <a:bodyPr/>
          <a:lstStyle/>
          <a:p>
            <a:r>
              <a:rPr lang="en-US" altLang="zh-CN" b="1" dirty="0"/>
              <a:t>FCN Code</a:t>
            </a:r>
            <a:endParaRPr lang="zh-CN" altLang="en-US" b="1" dirty="0"/>
          </a:p>
        </p:txBody>
      </p:sp>
      <p:sp>
        <p:nvSpPr>
          <p:cNvPr id="3" name="Content Placeholder 2">
            <a:extLst>
              <a:ext uri="{FF2B5EF4-FFF2-40B4-BE49-F238E27FC236}">
                <a16:creationId xmlns:a16="http://schemas.microsoft.com/office/drawing/2014/main" id="{42F9F0AE-EA5D-465C-923C-899145CAB17B}"/>
              </a:ext>
            </a:extLst>
          </p:cNvPr>
          <p:cNvSpPr>
            <a:spLocks noGrp="1"/>
          </p:cNvSpPr>
          <p:nvPr>
            <p:ph idx="1"/>
          </p:nvPr>
        </p:nvSpPr>
        <p:spPr/>
        <p:txBody>
          <a:bodyPr/>
          <a:lstStyle/>
          <a:p>
            <a:endParaRPr lang="zh-CN" altLang="en-US" dirty="0"/>
          </a:p>
        </p:txBody>
      </p:sp>
      <p:pic>
        <p:nvPicPr>
          <p:cNvPr id="4" name="Picture 3">
            <a:extLst>
              <a:ext uri="{FF2B5EF4-FFF2-40B4-BE49-F238E27FC236}">
                <a16:creationId xmlns:a16="http://schemas.microsoft.com/office/drawing/2014/main" id="{46E20149-6DC2-4E2F-96C9-B30B2802693D}"/>
              </a:ext>
            </a:extLst>
          </p:cNvPr>
          <p:cNvPicPr>
            <a:picLocks noChangeAspect="1"/>
          </p:cNvPicPr>
          <p:nvPr/>
        </p:nvPicPr>
        <p:blipFill rotWithShape="1">
          <a:blip r:embed="rId2"/>
          <a:srcRect t="3110"/>
          <a:stretch/>
        </p:blipFill>
        <p:spPr>
          <a:xfrm>
            <a:off x="838200" y="1690688"/>
            <a:ext cx="6023371" cy="4731929"/>
          </a:xfrm>
          <a:prstGeom prst="rect">
            <a:avLst/>
          </a:prstGeom>
        </p:spPr>
      </p:pic>
      <p:sp>
        <p:nvSpPr>
          <p:cNvPr id="5" name="Rectangle 4">
            <a:extLst>
              <a:ext uri="{FF2B5EF4-FFF2-40B4-BE49-F238E27FC236}">
                <a16:creationId xmlns:a16="http://schemas.microsoft.com/office/drawing/2014/main" id="{42D362F5-7568-4622-BC4B-1226145AC6CE}"/>
              </a:ext>
            </a:extLst>
          </p:cNvPr>
          <p:cNvSpPr/>
          <p:nvPr/>
        </p:nvSpPr>
        <p:spPr>
          <a:xfrm>
            <a:off x="8256307" y="6492875"/>
            <a:ext cx="3935693" cy="369332"/>
          </a:xfrm>
          <a:prstGeom prst="rect">
            <a:avLst/>
          </a:prstGeom>
        </p:spPr>
        <p:txBody>
          <a:bodyPr wrap="none">
            <a:spAutoFit/>
          </a:bodyPr>
          <a:lstStyle/>
          <a:p>
            <a:r>
              <a:rPr lang="zh-CN" altLang="en-US" dirty="0">
                <a:hlinkClick r:id="rId3"/>
              </a:rPr>
              <a:t>https://github.com/wkentaro/pytorch-fcn</a:t>
            </a:r>
            <a:endParaRPr lang="zh-CN" altLang="en-US" dirty="0"/>
          </a:p>
        </p:txBody>
      </p:sp>
    </p:spTree>
    <p:extLst>
      <p:ext uri="{BB962C8B-B14F-4D97-AF65-F5344CB8AC3E}">
        <p14:creationId xmlns:p14="http://schemas.microsoft.com/office/powerpoint/2010/main" val="143496316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372008-C832-46BA-B86B-3450C8744BD9}"/>
              </a:ext>
            </a:extLst>
          </p:cNvPr>
          <p:cNvSpPr>
            <a:spLocks noGrp="1"/>
          </p:cNvSpPr>
          <p:nvPr>
            <p:ph type="title"/>
          </p:nvPr>
        </p:nvSpPr>
        <p:spPr/>
        <p:txBody>
          <a:bodyPr/>
          <a:lstStyle/>
          <a:p>
            <a:r>
              <a:rPr lang="en-US" altLang="zh-CN" b="1" dirty="0">
                <a:latin typeface="+mn-lt"/>
                <a:ea typeface="+mn-ea"/>
                <a:cs typeface="+mn-ea"/>
                <a:sym typeface="+mn-lt"/>
              </a:rPr>
              <a:t>Deconvolution and Checkerboard Artifacts</a:t>
            </a:r>
            <a:endParaRPr lang="zh-CN" altLang="en-US" b="1" dirty="0">
              <a:latin typeface="+mn-lt"/>
              <a:ea typeface="+mn-ea"/>
              <a:cs typeface="+mn-ea"/>
              <a:sym typeface="+mn-lt"/>
            </a:endParaRPr>
          </a:p>
        </p:txBody>
      </p:sp>
      <p:sp>
        <p:nvSpPr>
          <p:cNvPr id="4" name="Rectangle 3">
            <a:extLst>
              <a:ext uri="{FF2B5EF4-FFF2-40B4-BE49-F238E27FC236}">
                <a16:creationId xmlns:a16="http://schemas.microsoft.com/office/drawing/2014/main" id="{3F53426E-99EE-4365-86D3-3E32ED875801}"/>
              </a:ext>
            </a:extLst>
          </p:cNvPr>
          <p:cNvSpPr/>
          <p:nvPr/>
        </p:nvSpPr>
        <p:spPr>
          <a:xfrm>
            <a:off x="7794642" y="6492875"/>
            <a:ext cx="4397358" cy="369332"/>
          </a:xfrm>
          <a:prstGeom prst="rect">
            <a:avLst/>
          </a:prstGeom>
        </p:spPr>
        <p:txBody>
          <a:bodyPr wrap="none">
            <a:spAutoFit/>
          </a:bodyPr>
          <a:lstStyle/>
          <a:p>
            <a:r>
              <a:rPr lang="zh-CN" altLang="en-US" dirty="0">
                <a:cs typeface="+mn-ea"/>
                <a:sym typeface="+mn-lt"/>
                <a:hlinkClick r:id="rId3"/>
              </a:rPr>
              <a:t>https://distill.pub/2016/deconv-checkerboard/</a:t>
            </a:r>
            <a:endParaRPr lang="en-US" altLang="zh-CN" dirty="0">
              <a:cs typeface="+mn-ea"/>
              <a:sym typeface="+mn-lt"/>
            </a:endParaRPr>
          </a:p>
        </p:txBody>
      </p:sp>
      <p:pic>
        <p:nvPicPr>
          <p:cNvPr id="5" name="Picture 4">
            <a:extLst>
              <a:ext uri="{FF2B5EF4-FFF2-40B4-BE49-F238E27FC236}">
                <a16:creationId xmlns:a16="http://schemas.microsoft.com/office/drawing/2014/main" id="{47173A12-84B4-43C8-92BC-05A7AB5037A5}"/>
              </a:ext>
            </a:extLst>
          </p:cNvPr>
          <p:cNvPicPr>
            <a:picLocks noChangeAspect="1"/>
          </p:cNvPicPr>
          <p:nvPr/>
        </p:nvPicPr>
        <p:blipFill>
          <a:blip r:embed="rId4"/>
          <a:stretch>
            <a:fillRect/>
          </a:stretch>
        </p:blipFill>
        <p:spPr>
          <a:xfrm>
            <a:off x="0" y="1617163"/>
            <a:ext cx="6303467" cy="3342646"/>
          </a:xfrm>
          <a:prstGeom prst="rect">
            <a:avLst/>
          </a:prstGeom>
        </p:spPr>
      </p:pic>
      <p:pic>
        <p:nvPicPr>
          <p:cNvPr id="6" name="Picture 5">
            <a:extLst>
              <a:ext uri="{FF2B5EF4-FFF2-40B4-BE49-F238E27FC236}">
                <a16:creationId xmlns:a16="http://schemas.microsoft.com/office/drawing/2014/main" id="{53C04026-7D7F-4CF5-B4E9-D977D73023A4}"/>
              </a:ext>
            </a:extLst>
          </p:cNvPr>
          <p:cNvPicPr>
            <a:picLocks noChangeAspect="1"/>
          </p:cNvPicPr>
          <p:nvPr/>
        </p:nvPicPr>
        <p:blipFill>
          <a:blip r:embed="rId5"/>
          <a:stretch>
            <a:fillRect/>
          </a:stretch>
        </p:blipFill>
        <p:spPr>
          <a:xfrm>
            <a:off x="0" y="5240837"/>
            <a:ext cx="6212604" cy="1352635"/>
          </a:xfrm>
          <a:prstGeom prst="rect">
            <a:avLst/>
          </a:prstGeom>
        </p:spPr>
      </p:pic>
      <p:sp>
        <p:nvSpPr>
          <p:cNvPr id="8" name="TextBox 7">
            <a:extLst>
              <a:ext uri="{FF2B5EF4-FFF2-40B4-BE49-F238E27FC236}">
                <a16:creationId xmlns:a16="http://schemas.microsoft.com/office/drawing/2014/main" id="{34CF1278-EBAC-4B8C-84E5-1E24215BF90A}"/>
              </a:ext>
            </a:extLst>
          </p:cNvPr>
          <p:cNvSpPr txBox="1"/>
          <p:nvPr/>
        </p:nvSpPr>
        <p:spPr>
          <a:xfrm>
            <a:off x="6108283" y="5783612"/>
            <a:ext cx="5820761" cy="523220"/>
          </a:xfrm>
          <a:prstGeom prst="rect">
            <a:avLst/>
          </a:prstGeom>
          <a:noFill/>
        </p:spPr>
        <p:txBody>
          <a:bodyPr wrap="none" rtlCol="0">
            <a:spAutoFit/>
          </a:bodyPr>
          <a:lstStyle/>
          <a:p>
            <a:r>
              <a:rPr lang="en-US" altLang="zh-CN" sz="2800" b="1" dirty="0">
                <a:solidFill>
                  <a:srgbClr val="00B050"/>
                </a:solidFill>
                <a:cs typeface="+mn-ea"/>
                <a:sym typeface="+mn-lt"/>
              </a:rPr>
              <a:t>Bilinear Interpolation + Convolution</a:t>
            </a:r>
            <a:endParaRPr lang="zh-CN" altLang="en-US" sz="2800" b="1" dirty="0">
              <a:solidFill>
                <a:srgbClr val="00B050"/>
              </a:solidFill>
              <a:cs typeface="+mn-ea"/>
              <a:sym typeface="+mn-lt"/>
            </a:endParaRPr>
          </a:p>
        </p:txBody>
      </p:sp>
      <p:pic>
        <p:nvPicPr>
          <p:cNvPr id="7" name="Picture 6">
            <a:extLst>
              <a:ext uri="{FF2B5EF4-FFF2-40B4-BE49-F238E27FC236}">
                <a16:creationId xmlns:a16="http://schemas.microsoft.com/office/drawing/2014/main" id="{E7598677-5878-42FA-840C-EF6DE6A8ED1A}"/>
              </a:ext>
            </a:extLst>
          </p:cNvPr>
          <p:cNvPicPr>
            <a:picLocks noChangeAspect="1"/>
          </p:cNvPicPr>
          <p:nvPr/>
        </p:nvPicPr>
        <p:blipFill rotWithShape="1">
          <a:blip r:embed="rId6"/>
          <a:srcRect l="4312" r="2569" b="3362"/>
          <a:stretch/>
        </p:blipFill>
        <p:spPr>
          <a:xfrm>
            <a:off x="6137896" y="3923552"/>
            <a:ext cx="6024490" cy="1993602"/>
          </a:xfrm>
          <a:prstGeom prst="rect">
            <a:avLst/>
          </a:prstGeom>
        </p:spPr>
      </p:pic>
      <p:grpSp>
        <p:nvGrpSpPr>
          <p:cNvPr id="9" name="Group 8">
            <a:extLst>
              <a:ext uri="{FF2B5EF4-FFF2-40B4-BE49-F238E27FC236}">
                <a16:creationId xmlns:a16="http://schemas.microsoft.com/office/drawing/2014/main" id="{EF1EEFC5-35D3-4652-A553-10FF3B99E1A9}"/>
              </a:ext>
            </a:extLst>
          </p:cNvPr>
          <p:cNvGrpSpPr/>
          <p:nvPr/>
        </p:nvGrpSpPr>
        <p:grpSpPr>
          <a:xfrm>
            <a:off x="6567507" y="1491297"/>
            <a:ext cx="5165268" cy="2339234"/>
            <a:chOff x="6337359" y="3985194"/>
            <a:chExt cx="5165268" cy="2339234"/>
          </a:xfrm>
        </p:grpSpPr>
        <p:pic>
          <p:nvPicPr>
            <p:cNvPr id="10" name="Picture 6" descr="https://pica.zhimg.com/80/v2-5dd3a09e8368884b629e9cb7279f311e_720w.jpg?source=1940ef5c">
              <a:extLst>
                <a:ext uri="{FF2B5EF4-FFF2-40B4-BE49-F238E27FC236}">
                  <a16:creationId xmlns:a16="http://schemas.microsoft.com/office/drawing/2014/main" id="{0076557E-096D-4677-B18B-0EAB29DDFA1C}"/>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337359" y="4152728"/>
              <a:ext cx="2257425" cy="2171700"/>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8" descr="https://pic3.zhimg.com/80/v2-bf9fdb42390762b2f7c49d0024dcbc90_720w.jpg?source=1940ef5c">
              <a:extLst>
                <a:ext uri="{FF2B5EF4-FFF2-40B4-BE49-F238E27FC236}">
                  <a16:creationId xmlns:a16="http://schemas.microsoft.com/office/drawing/2014/main" id="{3AA2B4F7-4F7C-4FE9-878D-B20F29B51924}"/>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311876" y="3985194"/>
              <a:ext cx="2190751" cy="2311978"/>
            </a:xfrm>
            <a:prstGeom prst="rect">
              <a:avLst/>
            </a:prstGeom>
            <a:noFill/>
            <a:extLst>
              <a:ext uri="{909E8E84-426E-40DD-AFC4-6F175D3DCCD1}">
                <a14:hiddenFill xmlns:a14="http://schemas.microsoft.com/office/drawing/2010/main">
                  <a:solidFill>
                    <a:srgbClr val="FFFFFF"/>
                  </a:solidFill>
                </a14:hiddenFill>
              </a:ext>
            </a:extLst>
          </p:spPr>
        </p:pic>
        <p:sp>
          <p:nvSpPr>
            <p:cNvPr id="12" name="Arrow: Right 11">
              <a:extLst>
                <a:ext uri="{FF2B5EF4-FFF2-40B4-BE49-F238E27FC236}">
                  <a16:creationId xmlns:a16="http://schemas.microsoft.com/office/drawing/2014/main" id="{DA790442-0A26-4216-8708-D68CA637E153}"/>
                </a:ext>
              </a:extLst>
            </p:cNvPr>
            <p:cNvSpPr/>
            <p:nvPr/>
          </p:nvSpPr>
          <p:spPr>
            <a:xfrm>
              <a:off x="8594784" y="5238578"/>
              <a:ext cx="717092" cy="27699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spTree>
    <p:extLst>
      <p:ext uri="{BB962C8B-B14F-4D97-AF65-F5344CB8AC3E}">
        <p14:creationId xmlns:p14="http://schemas.microsoft.com/office/powerpoint/2010/main" val="157752396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FC9329-A620-47F1-9DA6-68267AB89B26}"/>
              </a:ext>
            </a:extLst>
          </p:cNvPr>
          <p:cNvSpPr>
            <a:spLocks noGrp="1"/>
          </p:cNvSpPr>
          <p:nvPr>
            <p:ph type="title"/>
          </p:nvPr>
        </p:nvSpPr>
        <p:spPr/>
        <p:txBody>
          <a:bodyPr/>
          <a:lstStyle/>
          <a:p>
            <a:r>
              <a:rPr lang="en-US" altLang="zh-CN" b="1" dirty="0">
                <a:latin typeface="+mn-lt"/>
                <a:ea typeface="+mn-ea"/>
                <a:cs typeface="+mn-ea"/>
                <a:sym typeface="+mn-lt"/>
              </a:rPr>
              <a:t>Deconvolution Network</a:t>
            </a:r>
            <a:endParaRPr lang="zh-CN" altLang="en-US" b="1" dirty="0">
              <a:latin typeface="+mn-lt"/>
              <a:ea typeface="+mn-ea"/>
              <a:cs typeface="+mn-ea"/>
              <a:sym typeface="+mn-lt"/>
            </a:endParaRPr>
          </a:p>
        </p:txBody>
      </p:sp>
      <p:pic>
        <p:nvPicPr>
          <p:cNvPr id="6" name="Picture 5">
            <a:extLst>
              <a:ext uri="{FF2B5EF4-FFF2-40B4-BE49-F238E27FC236}">
                <a16:creationId xmlns:a16="http://schemas.microsoft.com/office/drawing/2014/main" id="{10894D66-F203-4940-BDCD-2FE9C1DCDB02}"/>
              </a:ext>
            </a:extLst>
          </p:cNvPr>
          <p:cNvPicPr>
            <a:picLocks noChangeAspect="1"/>
          </p:cNvPicPr>
          <p:nvPr/>
        </p:nvPicPr>
        <p:blipFill>
          <a:blip r:embed="rId2"/>
          <a:stretch>
            <a:fillRect/>
          </a:stretch>
        </p:blipFill>
        <p:spPr>
          <a:xfrm>
            <a:off x="609731" y="1939817"/>
            <a:ext cx="11338295" cy="4258851"/>
          </a:xfrm>
          <a:prstGeom prst="rect">
            <a:avLst/>
          </a:prstGeom>
        </p:spPr>
      </p:pic>
    </p:spTree>
    <p:extLst>
      <p:ext uri="{BB962C8B-B14F-4D97-AF65-F5344CB8AC3E}">
        <p14:creationId xmlns:p14="http://schemas.microsoft.com/office/powerpoint/2010/main" val="285767602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AAE7C3F-77B7-456F-AE20-908CDC07A7E4}"/>
              </a:ext>
            </a:extLst>
          </p:cNvPr>
          <p:cNvPicPr>
            <a:picLocks noChangeAspect="1"/>
          </p:cNvPicPr>
          <p:nvPr/>
        </p:nvPicPr>
        <p:blipFill>
          <a:blip r:embed="rId2"/>
          <a:stretch>
            <a:fillRect/>
          </a:stretch>
        </p:blipFill>
        <p:spPr>
          <a:xfrm>
            <a:off x="3568796" y="1621845"/>
            <a:ext cx="8430699" cy="3614310"/>
          </a:xfrm>
          <a:prstGeom prst="rect">
            <a:avLst/>
          </a:prstGeom>
        </p:spPr>
      </p:pic>
      <p:sp>
        <p:nvSpPr>
          <p:cNvPr id="2" name="Title 1">
            <a:extLst>
              <a:ext uri="{FF2B5EF4-FFF2-40B4-BE49-F238E27FC236}">
                <a16:creationId xmlns:a16="http://schemas.microsoft.com/office/drawing/2014/main" id="{03CC9D87-B3C2-4A59-87C3-22A7E49A827F}"/>
              </a:ext>
            </a:extLst>
          </p:cNvPr>
          <p:cNvSpPr>
            <a:spLocks noGrp="1"/>
          </p:cNvSpPr>
          <p:nvPr>
            <p:ph type="title"/>
          </p:nvPr>
        </p:nvSpPr>
        <p:spPr/>
        <p:txBody>
          <a:bodyPr/>
          <a:lstStyle/>
          <a:p>
            <a:pPr marL="742950" indent="-742950">
              <a:buFont typeface="+mj-lt"/>
              <a:buAutoNum type="arabicPeriod" startAt="2"/>
            </a:pPr>
            <a:r>
              <a:rPr lang="en-US" altLang="zh-CN" b="1" dirty="0" err="1">
                <a:latin typeface="+mn-lt"/>
                <a:ea typeface="+mn-ea"/>
                <a:cs typeface="+mn-ea"/>
                <a:sym typeface="+mn-lt"/>
              </a:rPr>
              <a:t>DeepLab</a:t>
            </a:r>
            <a:endParaRPr lang="zh-CN" altLang="en-US" b="1" dirty="0">
              <a:latin typeface="+mn-lt"/>
              <a:ea typeface="+mn-ea"/>
              <a:cs typeface="+mn-ea"/>
              <a:sym typeface="+mn-lt"/>
            </a:endParaRPr>
          </a:p>
        </p:txBody>
      </p:sp>
      <p:sp>
        <p:nvSpPr>
          <p:cNvPr id="3" name="Content Placeholder 2">
            <a:extLst>
              <a:ext uri="{FF2B5EF4-FFF2-40B4-BE49-F238E27FC236}">
                <a16:creationId xmlns:a16="http://schemas.microsoft.com/office/drawing/2014/main" id="{4B1C2A9B-61BD-48EE-A4FB-92532105E62B}"/>
              </a:ext>
            </a:extLst>
          </p:cNvPr>
          <p:cNvSpPr>
            <a:spLocks noGrp="1"/>
          </p:cNvSpPr>
          <p:nvPr>
            <p:ph idx="1"/>
          </p:nvPr>
        </p:nvSpPr>
        <p:spPr>
          <a:xfrm>
            <a:off x="838200" y="1932495"/>
            <a:ext cx="5220023" cy="4244468"/>
          </a:xfrm>
        </p:spPr>
        <p:txBody>
          <a:bodyPr/>
          <a:lstStyle/>
          <a:p>
            <a:r>
              <a:rPr lang="en-US" altLang="zh-CN" dirty="0" err="1">
                <a:cs typeface="+mn-ea"/>
                <a:sym typeface="+mn-lt"/>
              </a:rPr>
              <a:t>Atrous</a:t>
            </a:r>
            <a:r>
              <a:rPr lang="en-US" altLang="zh-CN" dirty="0">
                <a:cs typeface="+mn-ea"/>
                <a:sym typeface="+mn-lt"/>
              </a:rPr>
              <a:t> Convolution</a:t>
            </a:r>
          </a:p>
          <a:p>
            <a:r>
              <a:rPr lang="en-US" altLang="zh-CN" dirty="0">
                <a:cs typeface="+mn-ea"/>
                <a:sym typeface="+mn-lt"/>
              </a:rPr>
              <a:t>Spatial Pyramid</a:t>
            </a:r>
          </a:p>
          <a:p>
            <a:r>
              <a:rPr lang="en-US" altLang="zh-CN" dirty="0">
                <a:cs typeface="+mn-ea"/>
                <a:sym typeface="+mn-lt"/>
              </a:rPr>
              <a:t>CRF (post-processing)</a:t>
            </a:r>
            <a:endParaRPr lang="zh-CN" altLang="en-US" dirty="0">
              <a:cs typeface="+mn-ea"/>
              <a:sym typeface="+mn-lt"/>
            </a:endParaRPr>
          </a:p>
        </p:txBody>
      </p:sp>
    </p:spTree>
    <p:extLst>
      <p:ext uri="{BB962C8B-B14F-4D97-AF65-F5344CB8AC3E}">
        <p14:creationId xmlns:p14="http://schemas.microsoft.com/office/powerpoint/2010/main" val="174823823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CC9D87-B3C2-4A59-87C3-22A7E49A827F}"/>
              </a:ext>
            </a:extLst>
          </p:cNvPr>
          <p:cNvSpPr>
            <a:spLocks noGrp="1"/>
          </p:cNvSpPr>
          <p:nvPr>
            <p:ph type="title"/>
          </p:nvPr>
        </p:nvSpPr>
        <p:spPr/>
        <p:txBody>
          <a:bodyPr/>
          <a:lstStyle/>
          <a:p>
            <a:r>
              <a:rPr lang="en-US" altLang="zh-CN" b="1" dirty="0" err="1">
                <a:latin typeface="+mn-lt"/>
                <a:ea typeface="+mn-ea"/>
                <a:cs typeface="+mn-ea"/>
                <a:sym typeface="+mn-lt"/>
              </a:rPr>
              <a:t>Atrous</a:t>
            </a:r>
            <a:r>
              <a:rPr lang="en-US" altLang="zh-CN" b="1" dirty="0">
                <a:latin typeface="+mn-lt"/>
                <a:ea typeface="+mn-ea"/>
                <a:cs typeface="+mn-ea"/>
                <a:sym typeface="+mn-lt"/>
              </a:rPr>
              <a:t> (Dilated) Convolution</a:t>
            </a:r>
            <a:endParaRPr lang="zh-CN" altLang="en-US" b="1" dirty="0">
              <a:latin typeface="+mn-lt"/>
              <a:ea typeface="+mn-ea"/>
              <a:cs typeface="+mn-ea"/>
              <a:sym typeface="+mn-lt"/>
            </a:endParaRPr>
          </a:p>
        </p:txBody>
      </p:sp>
      <p:pic>
        <p:nvPicPr>
          <p:cNvPr id="5" name="Picture 4">
            <a:extLst>
              <a:ext uri="{FF2B5EF4-FFF2-40B4-BE49-F238E27FC236}">
                <a16:creationId xmlns:a16="http://schemas.microsoft.com/office/drawing/2014/main" id="{86AF2EB5-BBD7-46DC-B225-872C5220FD23}"/>
              </a:ext>
            </a:extLst>
          </p:cNvPr>
          <p:cNvPicPr>
            <a:picLocks noChangeAspect="1"/>
          </p:cNvPicPr>
          <p:nvPr/>
        </p:nvPicPr>
        <p:blipFill>
          <a:blip r:embed="rId2"/>
          <a:stretch>
            <a:fillRect/>
          </a:stretch>
        </p:blipFill>
        <p:spPr>
          <a:xfrm>
            <a:off x="6315739" y="2198273"/>
            <a:ext cx="5638970" cy="4018935"/>
          </a:xfrm>
          <a:prstGeom prst="rect">
            <a:avLst/>
          </a:prstGeom>
        </p:spPr>
      </p:pic>
      <p:pic>
        <p:nvPicPr>
          <p:cNvPr id="6" name="Picture 5">
            <a:extLst>
              <a:ext uri="{FF2B5EF4-FFF2-40B4-BE49-F238E27FC236}">
                <a16:creationId xmlns:a16="http://schemas.microsoft.com/office/drawing/2014/main" id="{227F8153-E9FA-4BE9-9B8D-ECAAC2D26BFD}"/>
              </a:ext>
            </a:extLst>
          </p:cNvPr>
          <p:cNvPicPr>
            <a:picLocks noChangeAspect="1"/>
          </p:cNvPicPr>
          <p:nvPr/>
        </p:nvPicPr>
        <p:blipFill>
          <a:blip r:embed="rId3"/>
          <a:stretch>
            <a:fillRect/>
          </a:stretch>
        </p:blipFill>
        <p:spPr>
          <a:xfrm>
            <a:off x="352896" y="1690688"/>
            <a:ext cx="5523366" cy="4671276"/>
          </a:xfrm>
          <a:prstGeom prst="rect">
            <a:avLst/>
          </a:prstGeom>
        </p:spPr>
      </p:pic>
    </p:spTree>
    <p:extLst>
      <p:ext uri="{BB962C8B-B14F-4D97-AF65-F5344CB8AC3E}">
        <p14:creationId xmlns:p14="http://schemas.microsoft.com/office/powerpoint/2010/main" val="413729271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BCC0BA-C7C4-41B9-9856-210C30731C84}"/>
              </a:ext>
            </a:extLst>
          </p:cNvPr>
          <p:cNvSpPr>
            <a:spLocks noGrp="1"/>
          </p:cNvSpPr>
          <p:nvPr>
            <p:ph type="title"/>
          </p:nvPr>
        </p:nvSpPr>
        <p:spPr/>
        <p:txBody>
          <a:bodyPr/>
          <a:lstStyle/>
          <a:p>
            <a:r>
              <a:rPr lang="en-US" altLang="zh-CN" b="1" dirty="0">
                <a:latin typeface="+mn-lt"/>
                <a:ea typeface="+mn-ea"/>
                <a:cs typeface="+mn-ea"/>
                <a:sym typeface="+mn-lt"/>
              </a:rPr>
              <a:t>Conditional Random Field (CRF)</a:t>
            </a:r>
            <a:endParaRPr lang="zh-CN" altLang="en-US" dirty="0">
              <a:latin typeface="+mn-lt"/>
              <a:ea typeface="+mn-ea"/>
              <a:cs typeface="+mn-ea"/>
              <a:sym typeface="+mn-lt"/>
            </a:endParaRPr>
          </a:p>
        </p:txBody>
      </p:sp>
      <p:sp>
        <p:nvSpPr>
          <p:cNvPr id="4" name="Rectangle 3">
            <a:extLst>
              <a:ext uri="{FF2B5EF4-FFF2-40B4-BE49-F238E27FC236}">
                <a16:creationId xmlns:a16="http://schemas.microsoft.com/office/drawing/2014/main" id="{8A9E83C7-78B8-4E96-83C5-613AC39F3EF6}"/>
              </a:ext>
            </a:extLst>
          </p:cNvPr>
          <p:cNvSpPr/>
          <p:nvPr/>
        </p:nvSpPr>
        <p:spPr>
          <a:xfrm>
            <a:off x="4558553" y="6492875"/>
            <a:ext cx="7633447" cy="646331"/>
          </a:xfrm>
          <a:prstGeom prst="rect">
            <a:avLst/>
          </a:prstGeom>
        </p:spPr>
        <p:txBody>
          <a:bodyPr wrap="square">
            <a:spAutoFit/>
          </a:bodyPr>
          <a:lstStyle/>
          <a:p>
            <a:r>
              <a:rPr lang="zh-CN" altLang="en-US" dirty="0">
                <a:cs typeface="+mn-ea"/>
                <a:sym typeface="+mn-lt"/>
                <a:hlinkClick r:id="rId2"/>
              </a:rPr>
              <a:t>https://slidetodoc.com/markov-random-fields-and-segmentation-with-graph-cuts/</a:t>
            </a:r>
            <a:endParaRPr lang="en-US" altLang="zh-CN" dirty="0">
              <a:cs typeface="+mn-ea"/>
              <a:sym typeface="+mn-lt"/>
            </a:endParaRPr>
          </a:p>
          <a:p>
            <a:endParaRPr lang="en-US" altLang="zh-CN" dirty="0">
              <a:cs typeface="+mn-ea"/>
              <a:sym typeface="+mn-lt"/>
            </a:endParaRPr>
          </a:p>
        </p:txBody>
      </p:sp>
      <p:pic>
        <p:nvPicPr>
          <p:cNvPr id="5" name="Picture 4">
            <a:extLst>
              <a:ext uri="{FF2B5EF4-FFF2-40B4-BE49-F238E27FC236}">
                <a16:creationId xmlns:a16="http://schemas.microsoft.com/office/drawing/2014/main" id="{34E5652B-89F6-4B8C-BB93-F6B6EE9F04F1}"/>
              </a:ext>
            </a:extLst>
          </p:cNvPr>
          <p:cNvPicPr>
            <a:picLocks noChangeAspect="1"/>
          </p:cNvPicPr>
          <p:nvPr/>
        </p:nvPicPr>
        <p:blipFill>
          <a:blip r:embed="rId3"/>
          <a:stretch>
            <a:fillRect/>
          </a:stretch>
        </p:blipFill>
        <p:spPr>
          <a:xfrm>
            <a:off x="719019" y="1930233"/>
            <a:ext cx="5521423" cy="4114193"/>
          </a:xfrm>
          <a:prstGeom prst="rect">
            <a:avLst/>
          </a:prstGeom>
        </p:spPr>
      </p:pic>
      <p:grpSp>
        <p:nvGrpSpPr>
          <p:cNvPr id="20" name="Group 19">
            <a:extLst>
              <a:ext uri="{FF2B5EF4-FFF2-40B4-BE49-F238E27FC236}">
                <a16:creationId xmlns:a16="http://schemas.microsoft.com/office/drawing/2014/main" id="{98735A22-0855-46EF-A1CC-71EF87C91DE0}"/>
              </a:ext>
            </a:extLst>
          </p:cNvPr>
          <p:cNvGrpSpPr/>
          <p:nvPr/>
        </p:nvGrpSpPr>
        <p:grpSpPr>
          <a:xfrm>
            <a:off x="7645241" y="1690688"/>
            <a:ext cx="2880000" cy="4802187"/>
            <a:chOff x="6952222" y="1690688"/>
            <a:chExt cx="2880000" cy="4802187"/>
          </a:xfrm>
        </p:grpSpPr>
        <p:grpSp>
          <p:nvGrpSpPr>
            <p:cNvPr id="13" name="Group 36">
              <a:extLst>
                <a:ext uri="{FF2B5EF4-FFF2-40B4-BE49-F238E27FC236}">
                  <a16:creationId xmlns:a16="http://schemas.microsoft.com/office/drawing/2014/main" id="{24C02596-06DF-45B9-8D0F-CD47A6B00087}"/>
                </a:ext>
              </a:extLst>
            </p:cNvPr>
            <p:cNvGrpSpPr>
              <a:grpSpLocks noChangeAspect="1"/>
            </p:cNvGrpSpPr>
            <p:nvPr/>
          </p:nvGrpSpPr>
          <p:grpSpPr bwMode="auto">
            <a:xfrm>
              <a:off x="6952222" y="1690688"/>
              <a:ext cx="2880000" cy="1898667"/>
              <a:chOff x="2924" y="349"/>
              <a:chExt cx="1296" cy="848"/>
            </a:xfrm>
          </p:grpSpPr>
          <p:pic>
            <p:nvPicPr>
              <p:cNvPr id="14" name="Picture 33" descr="153093">
                <a:extLst>
                  <a:ext uri="{FF2B5EF4-FFF2-40B4-BE49-F238E27FC236}">
                    <a16:creationId xmlns:a16="http://schemas.microsoft.com/office/drawing/2014/main" id="{2D18BF44-F8B0-4E5A-9E0D-667BC2FEC7E7}"/>
                  </a:ext>
                </a:extLst>
              </p:cNvPr>
              <p:cNvPicPr>
                <a:picLocks noChangeAspect="1" noChangeArrowheads="1"/>
              </p:cNvPicPr>
              <p:nvPr/>
            </p:nvPicPr>
            <p:blipFill>
              <a:blip r:embed="rId4" cstate="print"/>
              <a:srcRect/>
              <a:stretch>
                <a:fillRect/>
              </a:stretch>
            </p:blipFill>
            <p:spPr bwMode="auto">
              <a:xfrm>
                <a:off x="2928" y="349"/>
                <a:ext cx="1292" cy="848"/>
              </a:xfrm>
              <a:prstGeom prst="rect">
                <a:avLst/>
              </a:prstGeom>
              <a:noFill/>
              <a:ln w="9525">
                <a:noFill/>
                <a:miter lim="800000"/>
                <a:headEnd/>
                <a:tailEnd/>
              </a:ln>
            </p:spPr>
          </p:pic>
          <p:sp>
            <p:nvSpPr>
              <p:cNvPr id="15" name="Freeform 35">
                <a:extLst>
                  <a:ext uri="{FF2B5EF4-FFF2-40B4-BE49-F238E27FC236}">
                    <a16:creationId xmlns:a16="http://schemas.microsoft.com/office/drawing/2014/main" id="{9511881E-4658-4296-ABDF-FCEBDC92B818}"/>
                  </a:ext>
                </a:extLst>
              </p:cNvPr>
              <p:cNvSpPr>
                <a:spLocks/>
              </p:cNvSpPr>
              <p:nvPr/>
            </p:nvSpPr>
            <p:spPr bwMode="auto">
              <a:xfrm>
                <a:off x="2924" y="447"/>
                <a:ext cx="977" cy="714"/>
              </a:xfrm>
              <a:custGeom>
                <a:avLst/>
                <a:gdLst>
                  <a:gd name="T0" fmla="*/ 202 w 977"/>
                  <a:gd name="T1" fmla="*/ 315 h 714"/>
                  <a:gd name="T2" fmla="*/ 46 w 977"/>
                  <a:gd name="T3" fmla="*/ 354 h 714"/>
                  <a:gd name="T4" fmla="*/ 7 w 977"/>
                  <a:gd name="T5" fmla="*/ 339 h 714"/>
                  <a:gd name="T6" fmla="*/ 52 w 977"/>
                  <a:gd name="T7" fmla="*/ 225 h 714"/>
                  <a:gd name="T8" fmla="*/ 94 w 977"/>
                  <a:gd name="T9" fmla="*/ 186 h 714"/>
                  <a:gd name="T10" fmla="*/ 127 w 977"/>
                  <a:gd name="T11" fmla="*/ 165 h 714"/>
                  <a:gd name="T12" fmla="*/ 193 w 977"/>
                  <a:gd name="T13" fmla="*/ 141 h 714"/>
                  <a:gd name="T14" fmla="*/ 355 w 977"/>
                  <a:gd name="T15" fmla="*/ 120 h 714"/>
                  <a:gd name="T16" fmla="*/ 487 w 977"/>
                  <a:gd name="T17" fmla="*/ 132 h 714"/>
                  <a:gd name="T18" fmla="*/ 568 w 977"/>
                  <a:gd name="T19" fmla="*/ 144 h 714"/>
                  <a:gd name="T20" fmla="*/ 712 w 977"/>
                  <a:gd name="T21" fmla="*/ 75 h 714"/>
                  <a:gd name="T22" fmla="*/ 754 w 977"/>
                  <a:gd name="T23" fmla="*/ 27 h 714"/>
                  <a:gd name="T24" fmla="*/ 862 w 977"/>
                  <a:gd name="T25" fmla="*/ 0 h 714"/>
                  <a:gd name="T26" fmla="*/ 904 w 977"/>
                  <a:gd name="T27" fmla="*/ 39 h 714"/>
                  <a:gd name="T28" fmla="*/ 916 w 977"/>
                  <a:gd name="T29" fmla="*/ 57 h 714"/>
                  <a:gd name="T30" fmla="*/ 922 w 977"/>
                  <a:gd name="T31" fmla="*/ 66 h 714"/>
                  <a:gd name="T32" fmla="*/ 934 w 977"/>
                  <a:gd name="T33" fmla="*/ 210 h 714"/>
                  <a:gd name="T34" fmla="*/ 949 w 977"/>
                  <a:gd name="T35" fmla="*/ 462 h 714"/>
                  <a:gd name="T36" fmla="*/ 967 w 977"/>
                  <a:gd name="T37" fmla="*/ 621 h 714"/>
                  <a:gd name="T38" fmla="*/ 916 w 977"/>
                  <a:gd name="T39" fmla="*/ 711 h 714"/>
                  <a:gd name="T40" fmla="*/ 880 w 977"/>
                  <a:gd name="T41" fmla="*/ 702 h 714"/>
                  <a:gd name="T42" fmla="*/ 862 w 977"/>
                  <a:gd name="T43" fmla="*/ 696 h 714"/>
                  <a:gd name="T44" fmla="*/ 829 w 977"/>
                  <a:gd name="T45" fmla="*/ 651 h 714"/>
                  <a:gd name="T46" fmla="*/ 790 w 977"/>
                  <a:gd name="T47" fmla="*/ 570 h 714"/>
                  <a:gd name="T48" fmla="*/ 748 w 977"/>
                  <a:gd name="T49" fmla="*/ 480 h 714"/>
                  <a:gd name="T50" fmla="*/ 691 w 977"/>
                  <a:gd name="T51" fmla="*/ 369 h 714"/>
                  <a:gd name="T52" fmla="*/ 643 w 977"/>
                  <a:gd name="T53" fmla="*/ 351 h 714"/>
                  <a:gd name="T54" fmla="*/ 511 w 977"/>
                  <a:gd name="T55" fmla="*/ 378 h 714"/>
                  <a:gd name="T56" fmla="*/ 382 w 977"/>
                  <a:gd name="T57" fmla="*/ 366 h 714"/>
                  <a:gd name="T58" fmla="*/ 223 w 977"/>
                  <a:gd name="T59" fmla="*/ 318 h 714"/>
                  <a:gd name="T60" fmla="*/ 202 w 977"/>
                  <a:gd name="T61" fmla="*/ 315 h 714"/>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977"/>
                  <a:gd name="T94" fmla="*/ 0 h 714"/>
                  <a:gd name="T95" fmla="*/ 977 w 977"/>
                  <a:gd name="T96" fmla="*/ 714 h 714"/>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977" h="714">
                    <a:moveTo>
                      <a:pt x="202" y="315"/>
                    </a:moveTo>
                    <a:cubicBezTo>
                      <a:pt x="149" y="319"/>
                      <a:pt x="99" y="343"/>
                      <a:pt x="46" y="354"/>
                    </a:cubicBezTo>
                    <a:cubicBezTo>
                      <a:pt x="26" y="352"/>
                      <a:pt x="17" y="355"/>
                      <a:pt x="7" y="339"/>
                    </a:cubicBezTo>
                    <a:cubicBezTo>
                      <a:pt x="9" y="279"/>
                      <a:pt x="0" y="251"/>
                      <a:pt x="52" y="225"/>
                    </a:cubicBezTo>
                    <a:cubicBezTo>
                      <a:pt x="62" y="210"/>
                      <a:pt x="79" y="196"/>
                      <a:pt x="94" y="186"/>
                    </a:cubicBezTo>
                    <a:cubicBezTo>
                      <a:pt x="101" y="175"/>
                      <a:pt x="114" y="169"/>
                      <a:pt x="127" y="165"/>
                    </a:cubicBezTo>
                    <a:cubicBezTo>
                      <a:pt x="145" y="147"/>
                      <a:pt x="169" y="145"/>
                      <a:pt x="193" y="141"/>
                    </a:cubicBezTo>
                    <a:cubicBezTo>
                      <a:pt x="247" y="133"/>
                      <a:pt x="301" y="127"/>
                      <a:pt x="355" y="120"/>
                    </a:cubicBezTo>
                    <a:cubicBezTo>
                      <a:pt x="411" y="122"/>
                      <a:pt x="438" y="125"/>
                      <a:pt x="487" y="132"/>
                    </a:cubicBezTo>
                    <a:cubicBezTo>
                      <a:pt x="512" y="140"/>
                      <a:pt x="541" y="141"/>
                      <a:pt x="568" y="144"/>
                    </a:cubicBezTo>
                    <a:cubicBezTo>
                      <a:pt x="652" y="141"/>
                      <a:pt x="648" y="118"/>
                      <a:pt x="712" y="75"/>
                    </a:cubicBezTo>
                    <a:cubicBezTo>
                      <a:pt x="719" y="64"/>
                      <a:pt x="743" y="34"/>
                      <a:pt x="754" y="27"/>
                    </a:cubicBezTo>
                    <a:cubicBezTo>
                      <a:pt x="768" y="6"/>
                      <a:pt x="837" y="6"/>
                      <a:pt x="862" y="0"/>
                    </a:cubicBezTo>
                    <a:cubicBezTo>
                      <a:pt x="884" y="2"/>
                      <a:pt x="886" y="27"/>
                      <a:pt x="904" y="39"/>
                    </a:cubicBezTo>
                    <a:cubicBezTo>
                      <a:pt x="908" y="45"/>
                      <a:pt x="912" y="51"/>
                      <a:pt x="916" y="57"/>
                    </a:cubicBezTo>
                    <a:cubicBezTo>
                      <a:pt x="918" y="60"/>
                      <a:pt x="922" y="66"/>
                      <a:pt x="922" y="66"/>
                    </a:cubicBezTo>
                    <a:cubicBezTo>
                      <a:pt x="927" y="114"/>
                      <a:pt x="931" y="162"/>
                      <a:pt x="934" y="210"/>
                    </a:cubicBezTo>
                    <a:cubicBezTo>
                      <a:pt x="929" y="294"/>
                      <a:pt x="922" y="381"/>
                      <a:pt x="949" y="462"/>
                    </a:cubicBezTo>
                    <a:cubicBezTo>
                      <a:pt x="957" y="515"/>
                      <a:pt x="963" y="568"/>
                      <a:pt x="967" y="621"/>
                    </a:cubicBezTo>
                    <a:cubicBezTo>
                      <a:pt x="964" y="703"/>
                      <a:pt x="977" y="696"/>
                      <a:pt x="916" y="711"/>
                    </a:cubicBezTo>
                    <a:cubicBezTo>
                      <a:pt x="858" y="705"/>
                      <a:pt x="908" y="714"/>
                      <a:pt x="880" y="702"/>
                    </a:cubicBezTo>
                    <a:cubicBezTo>
                      <a:pt x="874" y="699"/>
                      <a:pt x="862" y="696"/>
                      <a:pt x="862" y="696"/>
                    </a:cubicBezTo>
                    <a:cubicBezTo>
                      <a:pt x="851" y="680"/>
                      <a:pt x="840" y="667"/>
                      <a:pt x="829" y="651"/>
                    </a:cubicBezTo>
                    <a:cubicBezTo>
                      <a:pt x="812" y="626"/>
                      <a:pt x="817" y="588"/>
                      <a:pt x="790" y="570"/>
                    </a:cubicBezTo>
                    <a:cubicBezTo>
                      <a:pt x="780" y="539"/>
                      <a:pt x="766" y="507"/>
                      <a:pt x="748" y="480"/>
                    </a:cubicBezTo>
                    <a:cubicBezTo>
                      <a:pt x="742" y="449"/>
                      <a:pt x="718" y="387"/>
                      <a:pt x="691" y="369"/>
                    </a:cubicBezTo>
                    <a:cubicBezTo>
                      <a:pt x="674" y="349"/>
                      <a:pt x="673" y="349"/>
                      <a:pt x="643" y="351"/>
                    </a:cubicBezTo>
                    <a:cubicBezTo>
                      <a:pt x="613" y="353"/>
                      <a:pt x="554" y="376"/>
                      <a:pt x="511" y="378"/>
                    </a:cubicBezTo>
                    <a:cubicBezTo>
                      <a:pt x="470" y="376"/>
                      <a:pt x="423" y="378"/>
                      <a:pt x="382" y="366"/>
                    </a:cubicBezTo>
                    <a:cubicBezTo>
                      <a:pt x="327" y="350"/>
                      <a:pt x="282" y="323"/>
                      <a:pt x="223" y="318"/>
                    </a:cubicBezTo>
                    <a:cubicBezTo>
                      <a:pt x="206" y="315"/>
                      <a:pt x="213" y="315"/>
                      <a:pt x="202" y="315"/>
                    </a:cubicBezTo>
                    <a:close/>
                  </a:path>
                </a:pathLst>
              </a:custGeom>
              <a:noFill/>
              <a:ln w="34925">
                <a:solidFill>
                  <a:srgbClr val="FF0000"/>
                </a:solidFill>
                <a:round/>
                <a:headEnd/>
                <a:tailEnd/>
              </a:ln>
            </p:spPr>
            <p:txBody>
              <a:bodyPr/>
              <a:lstStyle/>
              <a:p>
                <a:endParaRPr lang="en-US">
                  <a:cs typeface="+mn-ea"/>
                  <a:sym typeface="+mn-lt"/>
                </a:endParaRPr>
              </a:p>
            </p:txBody>
          </p:sp>
        </p:grpSp>
        <p:grpSp>
          <p:nvGrpSpPr>
            <p:cNvPr id="16" name="Group 39">
              <a:extLst>
                <a:ext uri="{FF2B5EF4-FFF2-40B4-BE49-F238E27FC236}">
                  <a16:creationId xmlns:a16="http://schemas.microsoft.com/office/drawing/2014/main" id="{09F9A2F2-44B5-4638-BB43-446B377757C6}"/>
                </a:ext>
              </a:extLst>
            </p:cNvPr>
            <p:cNvGrpSpPr>
              <a:grpSpLocks noChangeAspect="1"/>
            </p:cNvGrpSpPr>
            <p:nvPr/>
          </p:nvGrpSpPr>
          <p:grpSpPr bwMode="auto">
            <a:xfrm>
              <a:off x="6952222" y="4557644"/>
              <a:ext cx="2880000" cy="1935231"/>
              <a:chOff x="2854" y="3039"/>
              <a:chExt cx="1292" cy="868"/>
            </a:xfrm>
          </p:grpSpPr>
          <p:sp>
            <p:nvSpPr>
              <p:cNvPr id="17" name="Rectangle 38">
                <a:extLst>
                  <a:ext uri="{FF2B5EF4-FFF2-40B4-BE49-F238E27FC236}">
                    <a16:creationId xmlns:a16="http://schemas.microsoft.com/office/drawing/2014/main" id="{59875E34-A7A5-4B0A-9153-7775DDE1343D}"/>
                  </a:ext>
                </a:extLst>
              </p:cNvPr>
              <p:cNvSpPr>
                <a:spLocks noChangeArrowheads="1"/>
              </p:cNvSpPr>
              <p:nvPr/>
            </p:nvSpPr>
            <p:spPr bwMode="auto">
              <a:xfrm>
                <a:off x="2854" y="3041"/>
                <a:ext cx="1292" cy="848"/>
              </a:xfrm>
              <a:prstGeom prst="rect">
                <a:avLst/>
              </a:prstGeom>
              <a:solidFill>
                <a:schemeClr val="tx1"/>
              </a:solidFill>
              <a:ln w="9525">
                <a:noFill/>
                <a:miter lim="800000"/>
                <a:headEnd/>
                <a:tailEnd/>
              </a:ln>
            </p:spPr>
            <p:txBody>
              <a:bodyPr wrap="none" anchor="ctr"/>
              <a:lstStyle/>
              <a:p>
                <a:endParaRPr lang="en-US">
                  <a:cs typeface="+mn-ea"/>
                  <a:sym typeface="+mn-lt"/>
                </a:endParaRPr>
              </a:p>
            </p:txBody>
          </p:sp>
          <p:pic>
            <p:nvPicPr>
              <p:cNvPr id="18" name="Picture 30" descr="o1">
                <a:extLst>
                  <a:ext uri="{FF2B5EF4-FFF2-40B4-BE49-F238E27FC236}">
                    <a16:creationId xmlns:a16="http://schemas.microsoft.com/office/drawing/2014/main" id="{91AA68D1-E0CC-4E32-AB6E-B2B6CD740AEA}"/>
                  </a:ext>
                </a:extLst>
              </p:cNvPr>
              <p:cNvPicPr>
                <a:picLocks noChangeAspect="1" noChangeArrowheads="1"/>
              </p:cNvPicPr>
              <p:nvPr/>
            </p:nvPicPr>
            <p:blipFill>
              <a:blip r:embed="rId5" cstate="print"/>
              <a:srcRect/>
              <a:stretch>
                <a:fillRect/>
              </a:stretch>
            </p:blipFill>
            <p:spPr bwMode="auto">
              <a:xfrm>
                <a:off x="2883" y="3039"/>
                <a:ext cx="1218" cy="868"/>
              </a:xfrm>
              <a:prstGeom prst="rect">
                <a:avLst/>
              </a:prstGeom>
              <a:noFill/>
              <a:ln w="9525">
                <a:noFill/>
                <a:miter lim="800000"/>
                <a:headEnd/>
                <a:tailEnd/>
              </a:ln>
            </p:spPr>
          </p:pic>
        </p:grpSp>
        <p:sp>
          <p:nvSpPr>
            <p:cNvPr id="19" name="Right Arrow 9">
              <a:extLst>
                <a:ext uri="{FF2B5EF4-FFF2-40B4-BE49-F238E27FC236}">
                  <a16:creationId xmlns:a16="http://schemas.microsoft.com/office/drawing/2014/main" id="{696775FE-244A-4A9D-BF31-8C0BD8A08486}"/>
                </a:ext>
              </a:extLst>
            </p:cNvPr>
            <p:cNvSpPr/>
            <p:nvPr/>
          </p:nvSpPr>
          <p:spPr>
            <a:xfrm rot="5400000">
              <a:off x="8031489" y="3883458"/>
              <a:ext cx="685800" cy="3810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cs typeface="+mn-ea"/>
                <a:sym typeface="+mn-lt"/>
              </a:endParaRPr>
            </a:p>
          </p:txBody>
        </p:sp>
      </p:grpSp>
    </p:spTree>
    <p:extLst>
      <p:ext uri="{BB962C8B-B14F-4D97-AF65-F5344CB8AC3E}">
        <p14:creationId xmlns:p14="http://schemas.microsoft.com/office/powerpoint/2010/main" val="163353166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20FAEE-8CD5-4ABD-8A58-B12C267002A0}"/>
              </a:ext>
            </a:extLst>
          </p:cNvPr>
          <p:cNvSpPr>
            <a:spLocks noGrp="1"/>
          </p:cNvSpPr>
          <p:nvPr>
            <p:ph type="title"/>
          </p:nvPr>
        </p:nvSpPr>
        <p:spPr/>
        <p:txBody>
          <a:bodyPr/>
          <a:lstStyle/>
          <a:p>
            <a:r>
              <a:rPr lang="en-US" altLang="zh-CN" b="1" dirty="0">
                <a:latin typeface="+mn-lt"/>
                <a:ea typeface="+mn-ea"/>
                <a:cs typeface="+mn-ea"/>
                <a:sym typeface="+mn-lt"/>
              </a:rPr>
              <a:t>Conditional Random Field (CRF)</a:t>
            </a:r>
            <a:endParaRPr lang="zh-CN" altLang="en-US" dirty="0">
              <a:latin typeface="+mn-lt"/>
              <a:ea typeface="+mn-ea"/>
              <a:cs typeface="+mn-ea"/>
              <a:sym typeface="+mn-lt"/>
            </a:endParaRPr>
          </a:p>
        </p:txBody>
      </p:sp>
      <p:pic>
        <p:nvPicPr>
          <p:cNvPr id="4" name="Picture 3">
            <a:extLst>
              <a:ext uri="{FF2B5EF4-FFF2-40B4-BE49-F238E27FC236}">
                <a16:creationId xmlns:a16="http://schemas.microsoft.com/office/drawing/2014/main" id="{22E40E62-44E2-404D-BF9C-838347690F6B}"/>
              </a:ext>
            </a:extLst>
          </p:cNvPr>
          <p:cNvPicPr>
            <a:picLocks noChangeAspect="1"/>
          </p:cNvPicPr>
          <p:nvPr/>
        </p:nvPicPr>
        <p:blipFill>
          <a:blip r:embed="rId3"/>
          <a:stretch>
            <a:fillRect/>
          </a:stretch>
        </p:blipFill>
        <p:spPr>
          <a:xfrm>
            <a:off x="365069" y="2261937"/>
            <a:ext cx="5209093" cy="3197860"/>
          </a:xfrm>
          <a:prstGeom prst="rect">
            <a:avLst/>
          </a:prstGeom>
        </p:spPr>
      </p:pic>
      <p:pic>
        <p:nvPicPr>
          <p:cNvPr id="6" name="Picture 5">
            <a:extLst>
              <a:ext uri="{FF2B5EF4-FFF2-40B4-BE49-F238E27FC236}">
                <a16:creationId xmlns:a16="http://schemas.microsoft.com/office/drawing/2014/main" id="{D3148ED5-7548-402C-AF3A-AB1028989D51}"/>
              </a:ext>
            </a:extLst>
          </p:cNvPr>
          <p:cNvPicPr>
            <a:picLocks noChangeAspect="1"/>
          </p:cNvPicPr>
          <p:nvPr/>
        </p:nvPicPr>
        <p:blipFill>
          <a:blip r:embed="rId4"/>
          <a:stretch>
            <a:fillRect/>
          </a:stretch>
        </p:blipFill>
        <p:spPr>
          <a:xfrm>
            <a:off x="6430921" y="5554822"/>
            <a:ext cx="5554891" cy="1103856"/>
          </a:xfrm>
          <a:prstGeom prst="rect">
            <a:avLst/>
          </a:prstGeom>
        </p:spPr>
      </p:pic>
      <p:pic>
        <p:nvPicPr>
          <p:cNvPr id="7" name="Picture 6">
            <a:extLst>
              <a:ext uri="{FF2B5EF4-FFF2-40B4-BE49-F238E27FC236}">
                <a16:creationId xmlns:a16="http://schemas.microsoft.com/office/drawing/2014/main" id="{3FC62F48-DB14-40E6-BDAB-16C34D876528}"/>
              </a:ext>
            </a:extLst>
          </p:cNvPr>
          <p:cNvPicPr>
            <a:picLocks noChangeAspect="1"/>
          </p:cNvPicPr>
          <p:nvPr/>
        </p:nvPicPr>
        <p:blipFill>
          <a:blip r:embed="rId5"/>
          <a:stretch>
            <a:fillRect/>
          </a:stretch>
        </p:blipFill>
        <p:spPr>
          <a:xfrm>
            <a:off x="6208270" y="3431354"/>
            <a:ext cx="5548940" cy="1966496"/>
          </a:xfrm>
          <a:prstGeom prst="rect">
            <a:avLst/>
          </a:prstGeom>
        </p:spPr>
      </p:pic>
      <p:pic>
        <p:nvPicPr>
          <p:cNvPr id="8" name="Picture 7">
            <a:extLst>
              <a:ext uri="{FF2B5EF4-FFF2-40B4-BE49-F238E27FC236}">
                <a16:creationId xmlns:a16="http://schemas.microsoft.com/office/drawing/2014/main" id="{86484241-CAEC-4833-B9EE-53C4DD6B4E5A}"/>
              </a:ext>
            </a:extLst>
          </p:cNvPr>
          <p:cNvPicPr>
            <a:picLocks noChangeAspect="1"/>
          </p:cNvPicPr>
          <p:nvPr/>
        </p:nvPicPr>
        <p:blipFill>
          <a:blip r:embed="rId6"/>
          <a:stretch>
            <a:fillRect/>
          </a:stretch>
        </p:blipFill>
        <p:spPr>
          <a:xfrm>
            <a:off x="7658931" y="1460150"/>
            <a:ext cx="2647619" cy="1809524"/>
          </a:xfrm>
          <a:prstGeom prst="rect">
            <a:avLst/>
          </a:prstGeom>
        </p:spPr>
      </p:pic>
    </p:spTree>
    <p:extLst>
      <p:ext uri="{BB962C8B-B14F-4D97-AF65-F5344CB8AC3E}">
        <p14:creationId xmlns:p14="http://schemas.microsoft.com/office/powerpoint/2010/main" val="43668374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CC9D87-B3C2-4A59-87C3-22A7E49A827F}"/>
              </a:ext>
            </a:extLst>
          </p:cNvPr>
          <p:cNvSpPr>
            <a:spLocks noGrp="1"/>
          </p:cNvSpPr>
          <p:nvPr>
            <p:ph type="title"/>
          </p:nvPr>
        </p:nvSpPr>
        <p:spPr/>
        <p:txBody>
          <a:bodyPr/>
          <a:lstStyle/>
          <a:p>
            <a:r>
              <a:rPr lang="en-US" altLang="zh-CN" b="1" dirty="0">
                <a:latin typeface="+mn-lt"/>
                <a:ea typeface="+mn-ea"/>
                <a:cs typeface="+mn-ea"/>
                <a:sym typeface="+mn-lt"/>
              </a:rPr>
              <a:t>Conditional Random Field (CRF)</a:t>
            </a:r>
            <a:endParaRPr lang="zh-CN" altLang="en-US" b="1" dirty="0">
              <a:latin typeface="+mn-lt"/>
              <a:ea typeface="+mn-ea"/>
              <a:cs typeface="+mn-ea"/>
              <a:sym typeface="+mn-lt"/>
            </a:endParaRPr>
          </a:p>
        </p:txBody>
      </p:sp>
      <p:sp>
        <p:nvSpPr>
          <p:cNvPr id="3" name="Content Placeholder 2">
            <a:extLst>
              <a:ext uri="{FF2B5EF4-FFF2-40B4-BE49-F238E27FC236}">
                <a16:creationId xmlns:a16="http://schemas.microsoft.com/office/drawing/2014/main" id="{4B1C2A9B-61BD-48EE-A4FB-92532105E62B}"/>
              </a:ext>
            </a:extLst>
          </p:cNvPr>
          <p:cNvSpPr>
            <a:spLocks noGrp="1"/>
          </p:cNvSpPr>
          <p:nvPr>
            <p:ph idx="1"/>
          </p:nvPr>
        </p:nvSpPr>
        <p:spPr>
          <a:xfrm>
            <a:off x="838200" y="1825625"/>
            <a:ext cx="5257800" cy="813880"/>
          </a:xfrm>
        </p:spPr>
        <p:txBody>
          <a:bodyPr/>
          <a:lstStyle/>
          <a:p>
            <a:r>
              <a:rPr lang="en-US" altLang="zh-CN" b="1" dirty="0">
                <a:cs typeface="+mn-ea"/>
                <a:sym typeface="+mn-lt"/>
              </a:rPr>
              <a:t>Energy Function</a:t>
            </a:r>
            <a:endParaRPr lang="zh-CN" altLang="en-US" b="1" dirty="0">
              <a:cs typeface="+mn-ea"/>
              <a:sym typeface="+mn-lt"/>
            </a:endParaRPr>
          </a:p>
        </p:txBody>
      </p:sp>
      <p:pic>
        <p:nvPicPr>
          <p:cNvPr id="5" name="Picture 4">
            <a:extLst>
              <a:ext uri="{FF2B5EF4-FFF2-40B4-BE49-F238E27FC236}">
                <a16:creationId xmlns:a16="http://schemas.microsoft.com/office/drawing/2014/main" id="{EA7881EA-4F06-440E-8489-5229A200085E}"/>
              </a:ext>
            </a:extLst>
          </p:cNvPr>
          <p:cNvPicPr>
            <a:picLocks noChangeAspect="1"/>
          </p:cNvPicPr>
          <p:nvPr/>
        </p:nvPicPr>
        <p:blipFill>
          <a:blip r:embed="rId2"/>
          <a:stretch>
            <a:fillRect/>
          </a:stretch>
        </p:blipFill>
        <p:spPr>
          <a:xfrm>
            <a:off x="6166553" y="2162969"/>
            <a:ext cx="5909183" cy="3318403"/>
          </a:xfrm>
          <a:prstGeom prst="rect">
            <a:avLst/>
          </a:prstGeom>
        </p:spPr>
      </p:pic>
      <p:pic>
        <p:nvPicPr>
          <p:cNvPr id="6" name="Picture 5">
            <a:extLst>
              <a:ext uri="{FF2B5EF4-FFF2-40B4-BE49-F238E27FC236}">
                <a16:creationId xmlns:a16="http://schemas.microsoft.com/office/drawing/2014/main" id="{01107926-0031-4F03-B4AA-D3DE20D25544}"/>
              </a:ext>
            </a:extLst>
          </p:cNvPr>
          <p:cNvPicPr>
            <a:picLocks noChangeAspect="1"/>
          </p:cNvPicPr>
          <p:nvPr/>
        </p:nvPicPr>
        <p:blipFill>
          <a:blip r:embed="rId3"/>
          <a:stretch>
            <a:fillRect/>
          </a:stretch>
        </p:blipFill>
        <p:spPr>
          <a:xfrm>
            <a:off x="1178204" y="2774442"/>
            <a:ext cx="4577792" cy="912792"/>
          </a:xfrm>
          <a:prstGeom prst="rect">
            <a:avLst/>
          </a:prstGeom>
        </p:spPr>
      </p:pic>
      <p:pic>
        <p:nvPicPr>
          <p:cNvPr id="7" name="Picture 6">
            <a:extLst>
              <a:ext uri="{FF2B5EF4-FFF2-40B4-BE49-F238E27FC236}">
                <a16:creationId xmlns:a16="http://schemas.microsoft.com/office/drawing/2014/main" id="{C64B50CB-9A9E-47C9-9967-B0AD501667B5}"/>
              </a:ext>
            </a:extLst>
          </p:cNvPr>
          <p:cNvPicPr>
            <a:picLocks noChangeAspect="1"/>
          </p:cNvPicPr>
          <p:nvPr/>
        </p:nvPicPr>
        <p:blipFill>
          <a:blip r:embed="rId4"/>
          <a:stretch>
            <a:fillRect/>
          </a:stretch>
        </p:blipFill>
        <p:spPr>
          <a:xfrm>
            <a:off x="838200" y="3965607"/>
            <a:ext cx="5081551" cy="1350480"/>
          </a:xfrm>
          <a:prstGeom prst="rect">
            <a:avLst/>
          </a:prstGeom>
        </p:spPr>
      </p:pic>
    </p:spTree>
    <p:extLst>
      <p:ext uri="{BB962C8B-B14F-4D97-AF65-F5344CB8AC3E}">
        <p14:creationId xmlns:p14="http://schemas.microsoft.com/office/powerpoint/2010/main" val="21560869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64F5B8-E4C3-4DAB-A591-B6038CDCBB1D}"/>
              </a:ext>
            </a:extLst>
          </p:cNvPr>
          <p:cNvSpPr>
            <a:spLocks noGrp="1"/>
          </p:cNvSpPr>
          <p:nvPr>
            <p:ph type="title"/>
          </p:nvPr>
        </p:nvSpPr>
        <p:spPr/>
        <p:txBody>
          <a:bodyPr/>
          <a:lstStyle/>
          <a:p>
            <a:r>
              <a:rPr lang="en-US" altLang="zh-CN" b="1" dirty="0" err="1">
                <a:latin typeface="+mn-lt"/>
                <a:ea typeface="+mn-ea"/>
                <a:cs typeface="+mn-ea"/>
                <a:sym typeface="+mn-lt"/>
              </a:rPr>
              <a:t>DeepLab</a:t>
            </a:r>
            <a:r>
              <a:rPr lang="en-US" altLang="zh-CN" b="1" dirty="0">
                <a:latin typeface="+mn-lt"/>
                <a:ea typeface="+mn-ea"/>
                <a:cs typeface="+mn-ea"/>
                <a:sym typeface="+mn-lt"/>
              </a:rPr>
              <a:t> Results</a:t>
            </a:r>
            <a:endParaRPr lang="zh-CN" altLang="en-US" b="1" dirty="0">
              <a:latin typeface="+mn-lt"/>
              <a:ea typeface="+mn-ea"/>
              <a:cs typeface="+mn-ea"/>
              <a:sym typeface="+mn-lt"/>
            </a:endParaRPr>
          </a:p>
        </p:txBody>
      </p:sp>
      <p:pic>
        <p:nvPicPr>
          <p:cNvPr id="4" name="Picture 3">
            <a:extLst>
              <a:ext uri="{FF2B5EF4-FFF2-40B4-BE49-F238E27FC236}">
                <a16:creationId xmlns:a16="http://schemas.microsoft.com/office/drawing/2014/main" id="{281CC720-060C-4CDA-954E-4A016E43CF8B}"/>
              </a:ext>
            </a:extLst>
          </p:cNvPr>
          <p:cNvPicPr>
            <a:picLocks noChangeAspect="1"/>
          </p:cNvPicPr>
          <p:nvPr/>
        </p:nvPicPr>
        <p:blipFill>
          <a:blip r:embed="rId2"/>
          <a:stretch>
            <a:fillRect/>
          </a:stretch>
        </p:blipFill>
        <p:spPr>
          <a:xfrm>
            <a:off x="838200" y="1690688"/>
            <a:ext cx="10928055" cy="4802187"/>
          </a:xfrm>
          <a:prstGeom prst="rect">
            <a:avLst/>
          </a:prstGeom>
        </p:spPr>
      </p:pic>
    </p:spTree>
    <p:extLst>
      <p:ext uri="{BB962C8B-B14F-4D97-AF65-F5344CB8AC3E}">
        <p14:creationId xmlns:p14="http://schemas.microsoft.com/office/powerpoint/2010/main" val="274165810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21C95E-4339-43B9-A613-71047FB74EFA}"/>
              </a:ext>
            </a:extLst>
          </p:cNvPr>
          <p:cNvSpPr>
            <a:spLocks noGrp="1"/>
          </p:cNvSpPr>
          <p:nvPr>
            <p:ph type="title"/>
          </p:nvPr>
        </p:nvSpPr>
        <p:spPr/>
        <p:txBody>
          <a:bodyPr/>
          <a:lstStyle/>
          <a:p>
            <a:r>
              <a:rPr lang="en-US" altLang="zh-CN" b="1" dirty="0" err="1">
                <a:latin typeface="+mn-lt"/>
                <a:ea typeface="+mn-ea"/>
                <a:cs typeface="+mn-ea"/>
                <a:sym typeface="+mn-lt"/>
              </a:rPr>
              <a:t>DeepLab</a:t>
            </a:r>
            <a:r>
              <a:rPr lang="en-US" altLang="zh-CN" b="1" dirty="0">
                <a:latin typeface="+mn-lt"/>
                <a:ea typeface="+mn-ea"/>
                <a:cs typeface="+mn-ea"/>
                <a:sym typeface="+mn-lt"/>
              </a:rPr>
              <a:t> Results</a:t>
            </a:r>
            <a:endParaRPr lang="zh-CN" altLang="en-US" dirty="0">
              <a:latin typeface="+mn-lt"/>
              <a:ea typeface="+mn-ea"/>
              <a:cs typeface="+mn-ea"/>
              <a:sym typeface="+mn-lt"/>
            </a:endParaRPr>
          </a:p>
        </p:txBody>
      </p:sp>
      <p:pic>
        <p:nvPicPr>
          <p:cNvPr id="4" name="Picture 3">
            <a:extLst>
              <a:ext uri="{FF2B5EF4-FFF2-40B4-BE49-F238E27FC236}">
                <a16:creationId xmlns:a16="http://schemas.microsoft.com/office/drawing/2014/main" id="{4D6DB02C-A571-4E93-8139-2ED4560571BB}"/>
              </a:ext>
            </a:extLst>
          </p:cNvPr>
          <p:cNvPicPr>
            <a:picLocks noChangeAspect="1"/>
          </p:cNvPicPr>
          <p:nvPr/>
        </p:nvPicPr>
        <p:blipFill>
          <a:blip r:embed="rId2"/>
          <a:stretch>
            <a:fillRect/>
          </a:stretch>
        </p:blipFill>
        <p:spPr>
          <a:xfrm>
            <a:off x="0" y="2188135"/>
            <a:ext cx="5921829" cy="3585996"/>
          </a:xfrm>
          <a:prstGeom prst="rect">
            <a:avLst/>
          </a:prstGeom>
        </p:spPr>
      </p:pic>
      <p:pic>
        <p:nvPicPr>
          <p:cNvPr id="5" name="Picture 4">
            <a:extLst>
              <a:ext uri="{FF2B5EF4-FFF2-40B4-BE49-F238E27FC236}">
                <a16:creationId xmlns:a16="http://schemas.microsoft.com/office/drawing/2014/main" id="{879A7875-8062-4C5A-8BAD-AEC31EB57468}"/>
              </a:ext>
            </a:extLst>
          </p:cNvPr>
          <p:cNvPicPr>
            <a:picLocks noChangeAspect="1"/>
          </p:cNvPicPr>
          <p:nvPr/>
        </p:nvPicPr>
        <p:blipFill>
          <a:blip r:embed="rId3"/>
          <a:stretch>
            <a:fillRect/>
          </a:stretch>
        </p:blipFill>
        <p:spPr>
          <a:xfrm>
            <a:off x="6093912" y="2188135"/>
            <a:ext cx="6098088" cy="3688967"/>
          </a:xfrm>
          <a:prstGeom prst="rect">
            <a:avLst/>
          </a:prstGeom>
        </p:spPr>
      </p:pic>
    </p:spTree>
    <p:extLst>
      <p:ext uri="{BB962C8B-B14F-4D97-AF65-F5344CB8AC3E}">
        <p14:creationId xmlns:p14="http://schemas.microsoft.com/office/powerpoint/2010/main" val="45089475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A6ED0A-05F7-4E89-82AA-D08F57429BE4}"/>
              </a:ext>
            </a:extLst>
          </p:cNvPr>
          <p:cNvSpPr>
            <a:spLocks noGrp="1"/>
          </p:cNvSpPr>
          <p:nvPr>
            <p:ph type="title"/>
          </p:nvPr>
        </p:nvSpPr>
        <p:spPr/>
        <p:txBody>
          <a:bodyPr/>
          <a:lstStyle/>
          <a:p>
            <a:pPr marL="742950" indent="-742950">
              <a:buFont typeface="+mj-lt"/>
              <a:buAutoNum type="arabicPeriod" startAt="3"/>
            </a:pPr>
            <a:r>
              <a:rPr lang="en-US" altLang="zh-CN" b="1" dirty="0">
                <a:latin typeface="+mn-lt"/>
                <a:ea typeface="+mn-ea"/>
                <a:cs typeface="+mn-ea"/>
                <a:sym typeface="+mn-lt"/>
              </a:rPr>
              <a:t>U-Net</a:t>
            </a:r>
            <a:endParaRPr lang="zh-CN" altLang="en-US" b="1" dirty="0">
              <a:latin typeface="+mn-lt"/>
              <a:ea typeface="+mn-ea"/>
              <a:cs typeface="+mn-ea"/>
              <a:sym typeface="+mn-lt"/>
            </a:endParaRPr>
          </a:p>
        </p:txBody>
      </p:sp>
      <p:pic>
        <p:nvPicPr>
          <p:cNvPr id="1026" name="Picture 2" descr="https://lmb.informatik.uni-freiburg.de/people/ronneber/u-net/u-net-architecture.png">
            <a:extLst>
              <a:ext uri="{FF2B5EF4-FFF2-40B4-BE49-F238E27FC236}">
                <a16:creationId xmlns:a16="http://schemas.microsoft.com/office/drawing/2014/main" id="{93CB4ABB-340D-416D-A866-EAB2706FC900}"/>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337934" y="1917065"/>
            <a:ext cx="5436599" cy="3622163"/>
          </a:xfrm>
          <a:prstGeom prst="rect">
            <a:avLst/>
          </a:prstGeom>
          <a:noFill/>
          <a:extLst>
            <a:ext uri="{909E8E84-426E-40DD-AFC4-6F175D3DCCD1}">
              <a14:hiddenFill xmlns:a14="http://schemas.microsoft.com/office/drawing/2010/main">
                <a:solidFill>
                  <a:srgbClr val="FFFFFF"/>
                </a:solidFill>
              </a14:hiddenFill>
            </a:ext>
          </a:extLst>
        </p:spPr>
      </p:pic>
      <p:sp>
        <p:nvSpPr>
          <p:cNvPr id="4" name="Content Placeholder 2">
            <a:extLst>
              <a:ext uri="{FF2B5EF4-FFF2-40B4-BE49-F238E27FC236}">
                <a16:creationId xmlns:a16="http://schemas.microsoft.com/office/drawing/2014/main" id="{7E06AD98-B9E1-4A33-B6F7-CBB4D3393B4E}"/>
              </a:ext>
            </a:extLst>
          </p:cNvPr>
          <p:cNvSpPr>
            <a:spLocks noGrp="1"/>
          </p:cNvSpPr>
          <p:nvPr>
            <p:ph idx="1"/>
          </p:nvPr>
        </p:nvSpPr>
        <p:spPr>
          <a:xfrm>
            <a:off x="838201" y="1690688"/>
            <a:ext cx="5257800" cy="4499761"/>
          </a:xfrm>
        </p:spPr>
        <p:txBody>
          <a:bodyPr>
            <a:normAutofit/>
          </a:bodyPr>
          <a:lstStyle/>
          <a:p>
            <a:r>
              <a:rPr lang="en-US" altLang="zh-CN" dirty="0">
                <a:cs typeface="+mn-ea"/>
                <a:sym typeface="+mn-lt"/>
              </a:rPr>
              <a:t>A </a:t>
            </a:r>
            <a:r>
              <a:rPr lang="en-US" altLang="zh-CN" dirty="0">
                <a:solidFill>
                  <a:srgbClr val="00B0F0"/>
                </a:solidFill>
                <a:cs typeface="+mn-ea"/>
                <a:sym typeface="+mn-lt"/>
              </a:rPr>
              <a:t>contracting path </a:t>
            </a:r>
            <a:r>
              <a:rPr lang="en-US" altLang="zh-CN" dirty="0">
                <a:cs typeface="+mn-ea"/>
                <a:sym typeface="+mn-lt"/>
              </a:rPr>
              <a:t>and an </a:t>
            </a:r>
            <a:r>
              <a:rPr lang="en-US" altLang="zh-CN" dirty="0">
                <a:solidFill>
                  <a:srgbClr val="00B0F0"/>
                </a:solidFill>
                <a:cs typeface="+mn-ea"/>
                <a:sym typeface="+mn-lt"/>
              </a:rPr>
              <a:t>expansive path</a:t>
            </a:r>
          </a:p>
          <a:p>
            <a:r>
              <a:rPr lang="en-US" altLang="zh-CN" dirty="0">
                <a:cs typeface="+mn-ea"/>
                <a:sym typeface="+mn-lt"/>
              </a:rPr>
              <a:t>Adds convolutions in the upsampling path </a:t>
            </a:r>
          </a:p>
          <a:p>
            <a:r>
              <a:rPr lang="en-US" altLang="zh-CN" b="1" dirty="0">
                <a:solidFill>
                  <a:srgbClr val="0070C0"/>
                </a:solidFill>
                <a:cs typeface="+mn-ea"/>
                <a:sym typeface="+mn-lt"/>
              </a:rPr>
              <a:t>Skip connections: </a:t>
            </a:r>
            <a:r>
              <a:rPr lang="en-US" altLang="zh-CN" dirty="0">
                <a:cs typeface="+mn-ea"/>
                <a:sym typeface="+mn-lt"/>
              </a:rPr>
              <a:t>concatenation of feature maps</a:t>
            </a:r>
            <a:endParaRPr lang="zh-CN" altLang="en-US" dirty="0">
              <a:cs typeface="+mn-ea"/>
              <a:sym typeface="+mn-lt"/>
            </a:endParaRPr>
          </a:p>
        </p:txBody>
      </p:sp>
      <p:sp>
        <p:nvSpPr>
          <p:cNvPr id="5" name="Rectangle 4">
            <a:extLst>
              <a:ext uri="{FF2B5EF4-FFF2-40B4-BE49-F238E27FC236}">
                <a16:creationId xmlns:a16="http://schemas.microsoft.com/office/drawing/2014/main" id="{7A6ABC1C-5C57-419C-AE64-35FB403AF7BA}"/>
              </a:ext>
            </a:extLst>
          </p:cNvPr>
          <p:cNvSpPr/>
          <p:nvPr/>
        </p:nvSpPr>
        <p:spPr>
          <a:xfrm>
            <a:off x="4268164" y="6550223"/>
            <a:ext cx="7923836" cy="307777"/>
          </a:xfrm>
          <a:prstGeom prst="rect">
            <a:avLst/>
          </a:prstGeom>
        </p:spPr>
        <p:txBody>
          <a:bodyPr wrap="none">
            <a:spAutoFit/>
          </a:bodyPr>
          <a:lstStyle/>
          <a:p>
            <a:r>
              <a:rPr lang="en-US" altLang="zh-CN" sz="1400" dirty="0" err="1">
                <a:cs typeface="+mn-ea"/>
                <a:sym typeface="+mn-lt"/>
              </a:rPr>
              <a:t>Ronneberger</a:t>
            </a:r>
            <a:r>
              <a:rPr lang="en-US" altLang="zh-CN" sz="1400" dirty="0">
                <a:cs typeface="+mn-ea"/>
                <a:sym typeface="+mn-lt"/>
              </a:rPr>
              <a:t> et al. </a:t>
            </a:r>
            <a:r>
              <a:rPr lang="en-US" altLang="zh-CN" sz="1400" b="1" dirty="0">
                <a:cs typeface="+mn-ea"/>
                <a:sym typeface="+mn-lt"/>
              </a:rPr>
              <a:t>U-Net: Convolutional Networks for Biomedical Image Segmentation</a:t>
            </a:r>
            <a:r>
              <a:rPr lang="en-US" altLang="zh-CN" sz="1400" dirty="0">
                <a:cs typeface="+mn-ea"/>
                <a:sym typeface="+mn-lt"/>
              </a:rPr>
              <a:t>, </a:t>
            </a:r>
            <a:r>
              <a:rPr lang="en-US" altLang="zh-CN" sz="1400" i="1" dirty="0">
                <a:cs typeface="+mn-ea"/>
                <a:sym typeface="+mn-lt"/>
              </a:rPr>
              <a:t>MICCAI</a:t>
            </a:r>
            <a:r>
              <a:rPr lang="en-US" altLang="zh-CN" sz="1400" dirty="0">
                <a:cs typeface="+mn-ea"/>
                <a:sym typeface="+mn-lt"/>
              </a:rPr>
              <a:t> </a:t>
            </a:r>
            <a:r>
              <a:rPr lang="en-US" altLang="zh-CN" sz="1400" i="1" dirty="0">
                <a:cs typeface="+mn-ea"/>
                <a:sym typeface="+mn-lt"/>
              </a:rPr>
              <a:t>2015</a:t>
            </a:r>
            <a:r>
              <a:rPr lang="en-US" altLang="zh-CN" sz="1400" dirty="0">
                <a:cs typeface="+mn-ea"/>
                <a:sym typeface="+mn-lt"/>
              </a:rPr>
              <a:t>.</a:t>
            </a:r>
            <a:endParaRPr lang="zh-CN" altLang="en-US" sz="1400" dirty="0">
              <a:cs typeface="+mn-ea"/>
              <a:sym typeface="+mn-lt"/>
            </a:endParaRPr>
          </a:p>
        </p:txBody>
      </p:sp>
    </p:spTree>
    <p:extLst>
      <p:ext uri="{BB962C8B-B14F-4D97-AF65-F5344CB8AC3E}">
        <p14:creationId xmlns:p14="http://schemas.microsoft.com/office/powerpoint/2010/main" val="194966838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1B4062-F549-4736-9F82-273CB0FF0BBA}"/>
              </a:ext>
            </a:extLst>
          </p:cNvPr>
          <p:cNvSpPr>
            <a:spLocks noGrp="1"/>
          </p:cNvSpPr>
          <p:nvPr>
            <p:ph type="title"/>
          </p:nvPr>
        </p:nvSpPr>
        <p:spPr/>
        <p:txBody>
          <a:bodyPr/>
          <a:lstStyle/>
          <a:p>
            <a:r>
              <a:rPr lang="en-US" altLang="zh-CN" b="1" dirty="0">
                <a:latin typeface="+mn-lt"/>
                <a:ea typeface="+mn-ea"/>
                <a:cs typeface="+mn-ea"/>
                <a:sym typeface="+mn-lt"/>
              </a:rPr>
              <a:t>U-Net</a:t>
            </a:r>
            <a:endParaRPr lang="zh-CN" altLang="en-US" b="1" dirty="0">
              <a:latin typeface="+mn-lt"/>
              <a:ea typeface="+mn-ea"/>
              <a:cs typeface="+mn-ea"/>
              <a:sym typeface="+mn-lt"/>
            </a:endParaRPr>
          </a:p>
        </p:txBody>
      </p:sp>
      <p:pic>
        <p:nvPicPr>
          <p:cNvPr id="4" name="Picture 3">
            <a:extLst>
              <a:ext uri="{FF2B5EF4-FFF2-40B4-BE49-F238E27FC236}">
                <a16:creationId xmlns:a16="http://schemas.microsoft.com/office/drawing/2014/main" id="{50514738-DC0D-4A17-82FD-630FB8A99F7E}"/>
              </a:ext>
            </a:extLst>
          </p:cNvPr>
          <p:cNvPicPr>
            <a:picLocks noChangeAspect="1"/>
          </p:cNvPicPr>
          <p:nvPr/>
        </p:nvPicPr>
        <p:blipFill>
          <a:blip r:embed="rId2"/>
          <a:stretch>
            <a:fillRect/>
          </a:stretch>
        </p:blipFill>
        <p:spPr>
          <a:xfrm>
            <a:off x="2915376" y="1820936"/>
            <a:ext cx="6361247" cy="4238104"/>
          </a:xfrm>
          <a:prstGeom prst="rect">
            <a:avLst/>
          </a:prstGeom>
        </p:spPr>
      </p:pic>
      <p:sp>
        <p:nvSpPr>
          <p:cNvPr id="5" name="Arrow: Right 4">
            <a:extLst>
              <a:ext uri="{FF2B5EF4-FFF2-40B4-BE49-F238E27FC236}">
                <a16:creationId xmlns:a16="http://schemas.microsoft.com/office/drawing/2014/main" id="{2BA040D0-F9AB-44AF-A8E0-55AEB2CA89F0}"/>
              </a:ext>
            </a:extLst>
          </p:cNvPr>
          <p:cNvSpPr/>
          <p:nvPr/>
        </p:nvSpPr>
        <p:spPr>
          <a:xfrm rot="3318855">
            <a:off x="3376923" y="4034433"/>
            <a:ext cx="2780206" cy="253387"/>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cs typeface="+mn-ea"/>
              <a:sym typeface="+mn-lt"/>
            </a:endParaRPr>
          </a:p>
        </p:txBody>
      </p:sp>
      <p:sp>
        <p:nvSpPr>
          <p:cNvPr id="6" name="TextBox 3">
            <a:extLst>
              <a:ext uri="{FF2B5EF4-FFF2-40B4-BE49-F238E27FC236}">
                <a16:creationId xmlns:a16="http://schemas.microsoft.com/office/drawing/2014/main" id="{3C4EC16F-64A1-414D-8649-DA9960001C81}"/>
              </a:ext>
            </a:extLst>
          </p:cNvPr>
          <p:cNvSpPr txBox="1"/>
          <p:nvPr/>
        </p:nvSpPr>
        <p:spPr>
          <a:xfrm>
            <a:off x="4506203" y="3334636"/>
            <a:ext cx="2111900" cy="276999"/>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200" b="1" dirty="0">
                <a:solidFill>
                  <a:srgbClr val="00B050"/>
                </a:solidFill>
                <a:cs typeface="+mn-ea"/>
                <a:sym typeface="+mn-lt"/>
              </a:rPr>
              <a:t>- Increases field of view</a:t>
            </a:r>
          </a:p>
        </p:txBody>
      </p:sp>
      <p:sp>
        <p:nvSpPr>
          <p:cNvPr id="7" name="TextBox 6">
            <a:extLst>
              <a:ext uri="{FF2B5EF4-FFF2-40B4-BE49-F238E27FC236}">
                <a16:creationId xmlns:a16="http://schemas.microsoft.com/office/drawing/2014/main" id="{DC4378B8-7ACB-4284-8080-41A9BF0A450B}"/>
              </a:ext>
            </a:extLst>
          </p:cNvPr>
          <p:cNvSpPr txBox="1"/>
          <p:nvPr/>
        </p:nvSpPr>
        <p:spPr>
          <a:xfrm>
            <a:off x="4618527" y="3571802"/>
            <a:ext cx="2111901" cy="276999"/>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200" b="1" dirty="0">
                <a:solidFill>
                  <a:srgbClr val="FF0000"/>
                </a:solidFill>
                <a:cs typeface="+mn-ea"/>
                <a:sym typeface="+mn-lt"/>
              </a:rPr>
              <a:t>- Lose Spatial Information</a:t>
            </a:r>
          </a:p>
        </p:txBody>
      </p:sp>
      <p:sp>
        <p:nvSpPr>
          <p:cNvPr id="8" name="TextBox 7">
            <a:extLst>
              <a:ext uri="{FF2B5EF4-FFF2-40B4-BE49-F238E27FC236}">
                <a16:creationId xmlns:a16="http://schemas.microsoft.com/office/drawing/2014/main" id="{9285C601-35DB-492D-B5E4-6A9751A9F71E}"/>
              </a:ext>
            </a:extLst>
          </p:cNvPr>
          <p:cNvSpPr txBox="1"/>
          <p:nvPr/>
        </p:nvSpPr>
        <p:spPr>
          <a:xfrm>
            <a:off x="4178320" y="3035896"/>
            <a:ext cx="2329848" cy="369332"/>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b="1" dirty="0">
                <a:solidFill>
                  <a:srgbClr val="FFC000"/>
                </a:solidFill>
                <a:cs typeface="+mn-ea"/>
                <a:sym typeface="+mn-lt"/>
              </a:rPr>
              <a:t>“Contraction” Phase</a:t>
            </a:r>
          </a:p>
        </p:txBody>
      </p:sp>
    </p:spTree>
    <p:extLst>
      <p:ext uri="{BB962C8B-B14F-4D97-AF65-F5344CB8AC3E}">
        <p14:creationId xmlns:p14="http://schemas.microsoft.com/office/powerpoint/2010/main" val="369404848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1B4062-F549-4736-9F82-273CB0FF0BBA}"/>
              </a:ext>
            </a:extLst>
          </p:cNvPr>
          <p:cNvSpPr>
            <a:spLocks noGrp="1"/>
          </p:cNvSpPr>
          <p:nvPr>
            <p:ph type="title"/>
          </p:nvPr>
        </p:nvSpPr>
        <p:spPr/>
        <p:txBody>
          <a:bodyPr/>
          <a:lstStyle/>
          <a:p>
            <a:r>
              <a:rPr lang="en-US" altLang="zh-CN" b="1" dirty="0">
                <a:latin typeface="+mn-lt"/>
                <a:ea typeface="+mn-ea"/>
                <a:cs typeface="+mn-ea"/>
                <a:sym typeface="+mn-lt"/>
              </a:rPr>
              <a:t>U-Net</a:t>
            </a:r>
            <a:endParaRPr lang="zh-CN" altLang="en-US" b="1" dirty="0">
              <a:latin typeface="+mn-lt"/>
              <a:ea typeface="+mn-ea"/>
              <a:cs typeface="+mn-ea"/>
              <a:sym typeface="+mn-lt"/>
            </a:endParaRPr>
          </a:p>
        </p:txBody>
      </p:sp>
      <p:pic>
        <p:nvPicPr>
          <p:cNvPr id="9" name="Picture 8">
            <a:extLst>
              <a:ext uri="{FF2B5EF4-FFF2-40B4-BE49-F238E27FC236}">
                <a16:creationId xmlns:a16="http://schemas.microsoft.com/office/drawing/2014/main" id="{50514738-DC0D-4A17-82FD-630FB8A99F7E}"/>
              </a:ext>
            </a:extLst>
          </p:cNvPr>
          <p:cNvPicPr>
            <a:picLocks noChangeAspect="1"/>
          </p:cNvPicPr>
          <p:nvPr/>
        </p:nvPicPr>
        <p:blipFill>
          <a:blip r:embed="rId2"/>
          <a:stretch>
            <a:fillRect/>
          </a:stretch>
        </p:blipFill>
        <p:spPr>
          <a:xfrm>
            <a:off x="3022953" y="1690688"/>
            <a:ext cx="6361247" cy="4238104"/>
          </a:xfrm>
          <a:prstGeom prst="rect">
            <a:avLst/>
          </a:prstGeom>
        </p:spPr>
      </p:pic>
      <p:sp>
        <p:nvSpPr>
          <p:cNvPr id="10" name="Arrow: Right 9">
            <a:extLst>
              <a:ext uri="{FF2B5EF4-FFF2-40B4-BE49-F238E27FC236}">
                <a16:creationId xmlns:a16="http://schemas.microsoft.com/office/drawing/2014/main" id="{2BA040D0-F9AB-44AF-A8E0-55AEB2CA89F0}"/>
              </a:ext>
            </a:extLst>
          </p:cNvPr>
          <p:cNvSpPr/>
          <p:nvPr/>
        </p:nvSpPr>
        <p:spPr>
          <a:xfrm rot="18195122">
            <a:off x="5260127" y="4010920"/>
            <a:ext cx="2780206" cy="253387"/>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cs typeface="+mn-ea"/>
              <a:sym typeface="+mn-lt"/>
            </a:endParaRPr>
          </a:p>
        </p:txBody>
      </p:sp>
      <p:sp>
        <p:nvSpPr>
          <p:cNvPr id="11" name="TextBox 3">
            <a:extLst>
              <a:ext uri="{FF2B5EF4-FFF2-40B4-BE49-F238E27FC236}">
                <a16:creationId xmlns:a16="http://schemas.microsoft.com/office/drawing/2014/main" id="{3C4EC16F-64A1-414D-8649-DA9960001C81}"/>
              </a:ext>
            </a:extLst>
          </p:cNvPr>
          <p:cNvSpPr txBox="1"/>
          <p:nvPr/>
        </p:nvSpPr>
        <p:spPr>
          <a:xfrm>
            <a:off x="4675327" y="3274980"/>
            <a:ext cx="2683847" cy="461665"/>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171450" indent="-171450" algn="ctr">
              <a:buFontTx/>
              <a:buChar char="-"/>
            </a:pPr>
            <a:r>
              <a:rPr lang="en-US" sz="1200" b="1" dirty="0">
                <a:solidFill>
                  <a:srgbClr val="00B050"/>
                </a:solidFill>
                <a:cs typeface="+mn-ea"/>
                <a:sym typeface="+mn-lt"/>
              </a:rPr>
              <a:t>Create High Resolution </a:t>
            </a:r>
          </a:p>
          <a:p>
            <a:pPr algn="ctr"/>
            <a:r>
              <a:rPr lang="en-US" sz="1200" b="1" dirty="0">
                <a:solidFill>
                  <a:srgbClr val="00B050"/>
                </a:solidFill>
                <a:cs typeface="+mn-ea"/>
                <a:sym typeface="+mn-lt"/>
              </a:rPr>
              <a:t>Mapping</a:t>
            </a:r>
          </a:p>
        </p:txBody>
      </p:sp>
      <p:sp>
        <p:nvSpPr>
          <p:cNvPr id="12" name="TextBox 7">
            <a:extLst>
              <a:ext uri="{FF2B5EF4-FFF2-40B4-BE49-F238E27FC236}">
                <a16:creationId xmlns:a16="http://schemas.microsoft.com/office/drawing/2014/main" id="{9285C601-35DB-492D-B5E4-6A9751A9F71E}"/>
              </a:ext>
            </a:extLst>
          </p:cNvPr>
          <p:cNvSpPr txBox="1"/>
          <p:nvPr/>
        </p:nvSpPr>
        <p:spPr>
          <a:xfrm>
            <a:off x="4967779" y="2905648"/>
            <a:ext cx="2329848" cy="369332"/>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b="1" dirty="0">
                <a:solidFill>
                  <a:srgbClr val="FFC000"/>
                </a:solidFill>
                <a:cs typeface="+mn-ea"/>
                <a:sym typeface="+mn-lt"/>
              </a:rPr>
              <a:t>“Expansion” Phase</a:t>
            </a:r>
          </a:p>
        </p:txBody>
      </p:sp>
    </p:spTree>
    <p:extLst>
      <p:ext uri="{BB962C8B-B14F-4D97-AF65-F5344CB8AC3E}">
        <p14:creationId xmlns:p14="http://schemas.microsoft.com/office/powerpoint/2010/main" val="233547516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E5BC93-18C2-4A99-909C-42248F7E0FFB}"/>
              </a:ext>
            </a:extLst>
          </p:cNvPr>
          <p:cNvSpPr>
            <a:spLocks noGrp="1"/>
          </p:cNvSpPr>
          <p:nvPr>
            <p:ph type="title"/>
          </p:nvPr>
        </p:nvSpPr>
        <p:spPr/>
        <p:txBody>
          <a:bodyPr/>
          <a:lstStyle/>
          <a:p>
            <a:r>
              <a:rPr lang="en-US" altLang="zh-CN" b="1" dirty="0">
                <a:latin typeface="+mn-lt"/>
                <a:ea typeface="+mn-ea"/>
                <a:cs typeface="+mn-ea"/>
                <a:sym typeface="+mn-lt"/>
              </a:rPr>
              <a:t>U-Net</a:t>
            </a:r>
            <a:endParaRPr lang="zh-CN" altLang="en-US" b="1" dirty="0">
              <a:latin typeface="+mn-lt"/>
              <a:ea typeface="+mn-ea"/>
              <a:cs typeface="+mn-ea"/>
              <a:sym typeface="+mn-lt"/>
            </a:endParaRPr>
          </a:p>
        </p:txBody>
      </p:sp>
      <p:pic>
        <p:nvPicPr>
          <p:cNvPr id="8" name="Picture 7">
            <a:extLst>
              <a:ext uri="{FF2B5EF4-FFF2-40B4-BE49-F238E27FC236}">
                <a16:creationId xmlns:a16="http://schemas.microsoft.com/office/drawing/2014/main" id="{50514738-DC0D-4A17-82FD-630FB8A99F7E}"/>
              </a:ext>
            </a:extLst>
          </p:cNvPr>
          <p:cNvPicPr>
            <a:picLocks noChangeAspect="1"/>
          </p:cNvPicPr>
          <p:nvPr/>
        </p:nvPicPr>
        <p:blipFill>
          <a:blip r:embed="rId2"/>
          <a:stretch>
            <a:fillRect/>
          </a:stretch>
        </p:blipFill>
        <p:spPr>
          <a:xfrm>
            <a:off x="3318788" y="1874725"/>
            <a:ext cx="6361247" cy="4238104"/>
          </a:xfrm>
          <a:prstGeom prst="rect">
            <a:avLst/>
          </a:prstGeom>
        </p:spPr>
      </p:pic>
      <p:sp>
        <p:nvSpPr>
          <p:cNvPr id="9" name="Oval 8">
            <a:extLst>
              <a:ext uri="{FF2B5EF4-FFF2-40B4-BE49-F238E27FC236}">
                <a16:creationId xmlns:a16="http://schemas.microsoft.com/office/drawing/2014/main" id="{590DA44E-C015-4A40-B988-9A489C1A7324}"/>
              </a:ext>
            </a:extLst>
          </p:cNvPr>
          <p:cNvSpPr/>
          <p:nvPr/>
        </p:nvSpPr>
        <p:spPr>
          <a:xfrm>
            <a:off x="4365086" y="2564147"/>
            <a:ext cx="3629025" cy="516548"/>
          </a:xfrm>
          <a:prstGeom prst="ellipse">
            <a:avLst/>
          </a:prstGeom>
          <a:solidFill>
            <a:srgbClr val="FFFF00">
              <a:alpha val="3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cs typeface="+mn-ea"/>
              <a:sym typeface="+mn-lt"/>
            </a:endParaRPr>
          </a:p>
        </p:txBody>
      </p:sp>
      <p:sp>
        <p:nvSpPr>
          <p:cNvPr id="10" name="Oval 9">
            <a:extLst>
              <a:ext uri="{FF2B5EF4-FFF2-40B4-BE49-F238E27FC236}">
                <a16:creationId xmlns:a16="http://schemas.microsoft.com/office/drawing/2014/main" id="{7F61DC31-3F66-4F30-AE0F-5EA92F5D13E3}"/>
              </a:ext>
            </a:extLst>
          </p:cNvPr>
          <p:cNvSpPr/>
          <p:nvPr/>
        </p:nvSpPr>
        <p:spPr>
          <a:xfrm>
            <a:off x="4631785" y="3993777"/>
            <a:ext cx="2971801" cy="516548"/>
          </a:xfrm>
          <a:prstGeom prst="ellipse">
            <a:avLst/>
          </a:prstGeom>
          <a:solidFill>
            <a:srgbClr val="FFFF00">
              <a:alpha val="3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cs typeface="+mn-ea"/>
              <a:sym typeface="+mn-lt"/>
            </a:endParaRPr>
          </a:p>
        </p:txBody>
      </p:sp>
      <p:sp>
        <p:nvSpPr>
          <p:cNvPr id="11" name="Oval 10">
            <a:extLst>
              <a:ext uri="{FF2B5EF4-FFF2-40B4-BE49-F238E27FC236}">
                <a16:creationId xmlns:a16="http://schemas.microsoft.com/office/drawing/2014/main" id="{FF75276E-AEC9-4164-A0B5-62FDB3E61936}"/>
              </a:ext>
            </a:extLst>
          </p:cNvPr>
          <p:cNvSpPr/>
          <p:nvPr/>
        </p:nvSpPr>
        <p:spPr>
          <a:xfrm>
            <a:off x="5082023" y="4907296"/>
            <a:ext cx="1995489" cy="337606"/>
          </a:xfrm>
          <a:prstGeom prst="ellipse">
            <a:avLst/>
          </a:prstGeom>
          <a:solidFill>
            <a:srgbClr val="FFFF00">
              <a:alpha val="3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cs typeface="+mn-ea"/>
              <a:sym typeface="+mn-lt"/>
            </a:endParaRPr>
          </a:p>
        </p:txBody>
      </p:sp>
      <p:sp>
        <p:nvSpPr>
          <p:cNvPr id="12" name="Oval 11">
            <a:extLst>
              <a:ext uri="{FF2B5EF4-FFF2-40B4-BE49-F238E27FC236}">
                <a16:creationId xmlns:a16="http://schemas.microsoft.com/office/drawing/2014/main" id="{9AC05CCA-F3CD-4362-BABC-3C662A42F140}"/>
              </a:ext>
            </a:extLst>
          </p:cNvPr>
          <p:cNvSpPr/>
          <p:nvPr/>
        </p:nvSpPr>
        <p:spPr>
          <a:xfrm flipV="1">
            <a:off x="5761627" y="5423407"/>
            <a:ext cx="417971" cy="245384"/>
          </a:xfrm>
          <a:prstGeom prst="ellipse">
            <a:avLst/>
          </a:prstGeom>
          <a:solidFill>
            <a:srgbClr val="FFFF00">
              <a:alpha val="3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cs typeface="+mn-ea"/>
              <a:sym typeface="+mn-lt"/>
            </a:endParaRPr>
          </a:p>
        </p:txBody>
      </p:sp>
      <p:sp>
        <p:nvSpPr>
          <p:cNvPr id="13" name="TextBox 3">
            <a:extLst>
              <a:ext uri="{FF2B5EF4-FFF2-40B4-BE49-F238E27FC236}">
                <a16:creationId xmlns:a16="http://schemas.microsoft.com/office/drawing/2014/main" id="{7DAFBB61-1766-4F8C-9E97-46D320D0A0F8}"/>
              </a:ext>
            </a:extLst>
          </p:cNvPr>
          <p:cNvSpPr txBox="1"/>
          <p:nvPr/>
        </p:nvSpPr>
        <p:spPr>
          <a:xfrm>
            <a:off x="4818988" y="2120109"/>
            <a:ext cx="2597394" cy="400110"/>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1000" b="1" dirty="0">
                <a:solidFill>
                  <a:srgbClr val="0070C0"/>
                </a:solidFill>
                <a:cs typeface="+mn-ea"/>
                <a:sym typeface="+mn-lt"/>
              </a:rPr>
              <a:t>Concatenate with high-resolution feature maps from the Contraction Phase</a:t>
            </a:r>
          </a:p>
        </p:txBody>
      </p:sp>
    </p:spTree>
    <p:extLst>
      <p:ext uri="{BB962C8B-B14F-4D97-AF65-F5344CB8AC3E}">
        <p14:creationId xmlns:p14="http://schemas.microsoft.com/office/powerpoint/2010/main" val="372818779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769D24-0FCD-408B-9D56-52F1B2D08885}"/>
              </a:ext>
            </a:extLst>
          </p:cNvPr>
          <p:cNvSpPr>
            <a:spLocks noGrp="1"/>
          </p:cNvSpPr>
          <p:nvPr>
            <p:ph type="title"/>
          </p:nvPr>
        </p:nvSpPr>
        <p:spPr/>
        <p:txBody>
          <a:bodyPr/>
          <a:lstStyle/>
          <a:p>
            <a:r>
              <a:rPr lang="en-US" altLang="zh-CN" b="1" dirty="0">
                <a:latin typeface="+mn-lt"/>
                <a:ea typeface="+mn-ea"/>
                <a:cs typeface="+mn-ea"/>
                <a:sym typeface="+mn-lt"/>
              </a:rPr>
              <a:t>U-Net</a:t>
            </a:r>
            <a:endParaRPr lang="zh-CN" altLang="en-US" b="1" dirty="0">
              <a:latin typeface="+mn-lt"/>
              <a:ea typeface="+mn-ea"/>
              <a:cs typeface="+mn-ea"/>
              <a:sym typeface="+mn-lt"/>
            </a:endParaRPr>
          </a:p>
        </p:txBody>
      </p:sp>
      <p:pic>
        <p:nvPicPr>
          <p:cNvPr id="4" name="Picture 3">
            <a:extLst>
              <a:ext uri="{FF2B5EF4-FFF2-40B4-BE49-F238E27FC236}">
                <a16:creationId xmlns:a16="http://schemas.microsoft.com/office/drawing/2014/main" id="{3247EFF7-636F-4EEB-BB1B-A604EDAE0246}"/>
              </a:ext>
            </a:extLst>
          </p:cNvPr>
          <p:cNvPicPr>
            <a:picLocks noChangeAspect="1"/>
          </p:cNvPicPr>
          <p:nvPr/>
        </p:nvPicPr>
        <p:blipFill>
          <a:blip r:embed="rId2"/>
          <a:stretch>
            <a:fillRect/>
          </a:stretch>
        </p:blipFill>
        <p:spPr>
          <a:xfrm>
            <a:off x="5218611" y="2171169"/>
            <a:ext cx="6642784" cy="2723693"/>
          </a:xfrm>
          <a:prstGeom prst="rect">
            <a:avLst/>
          </a:prstGeom>
        </p:spPr>
      </p:pic>
      <p:pic>
        <p:nvPicPr>
          <p:cNvPr id="6" name="Picture 5">
            <a:extLst>
              <a:ext uri="{FF2B5EF4-FFF2-40B4-BE49-F238E27FC236}">
                <a16:creationId xmlns:a16="http://schemas.microsoft.com/office/drawing/2014/main" id="{BD26F64B-0A2B-437E-A25C-50D075A68091}"/>
              </a:ext>
            </a:extLst>
          </p:cNvPr>
          <p:cNvPicPr>
            <a:picLocks noChangeAspect="1"/>
          </p:cNvPicPr>
          <p:nvPr/>
        </p:nvPicPr>
        <p:blipFill>
          <a:blip r:embed="rId3"/>
          <a:stretch>
            <a:fillRect/>
          </a:stretch>
        </p:blipFill>
        <p:spPr>
          <a:xfrm>
            <a:off x="330605" y="2171169"/>
            <a:ext cx="4743450" cy="2723693"/>
          </a:xfrm>
          <a:prstGeom prst="rect">
            <a:avLst/>
          </a:prstGeom>
        </p:spPr>
      </p:pic>
    </p:spTree>
    <p:extLst>
      <p:ext uri="{BB962C8B-B14F-4D97-AF65-F5344CB8AC3E}">
        <p14:creationId xmlns:p14="http://schemas.microsoft.com/office/powerpoint/2010/main" val="43859306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A6ED0A-05F7-4E89-82AA-D08F57429BE4}"/>
              </a:ext>
            </a:extLst>
          </p:cNvPr>
          <p:cNvSpPr>
            <a:spLocks noGrp="1"/>
          </p:cNvSpPr>
          <p:nvPr>
            <p:ph type="title"/>
          </p:nvPr>
        </p:nvSpPr>
        <p:spPr/>
        <p:txBody>
          <a:bodyPr/>
          <a:lstStyle/>
          <a:p>
            <a:pPr marL="742950" indent="-742950">
              <a:buFont typeface="+mj-lt"/>
              <a:buAutoNum type="arabicPeriod" startAt="4"/>
            </a:pPr>
            <a:r>
              <a:rPr lang="en-US" altLang="zh-CN" b="1" dirty="0" err="1">
                <a:latin typeface="+mn-lt"/>
                <a:ea typeface="+mn-ea"/>
                <a:cs typeface="+mn-ea"/>
                <a:sym typeface="+mn-lt"/>
              </a:rPr>
              <a:t>PSPNet</a:t>
            </a:r>
            <a:endParaRPr lang="zh-CN" altLang="en-US" b="1" dirty="0">
              <a:latin typeface="+mn-lt"/>
              <a:ea typeface="+mn-ea"/>
              <a:cs typeface="+mn-ea"/>
              <a:sym typeface="+mn-lt"/>
            </a:endParaRPr>
          </a:p>
        </p:txBody>
      </p:sp>
      <p:pic>
        <p:nvPicPr>
          <p:cNvPr id="3" name="Picture 2">
            <a:extLst>
              <a:ext uri="{FF2B5EF4-FFF2-40B4-BE49-F238E27FC236}">
                <a16:creationId xmlns:a16="http://schemas.microsoft.com/office/drawing/2014/main" id="{D10C773E-BDAD-48E6-BD0C-E5BBDE2171DA}"/>
              </a:ext>
            </a:extLst>
          </p:cNvPr>
          <p:cNvPicPr>
            <a:picLocks noChangeAspect="1"/>
          </p:cNvPicPr>
          <p:nvPr/>
        </p:nvPicPr>
        <p:blipFill>
          <a:blip r:embed="rId2"/>
          <a:stretch>
            <a:fillRect/>
          </a:stretch>
        </p:blipFill>
        <p:spPr>
          <a:xfrm>
            <a:off x="838200" y="3289955"/>
            <a:ext cx="10527981" cy="3002801"/>
          </a:xfrm>
          <a:prstGeom prst="rect">
            <a:avLst/>
          </a:prstGeom>
        </p:spPr>
      </p:pic>
      <p:sp>
        <p:nvSpPr>
          <p:cNvPr id="5" name="TextBox 4">
            <a:extLst>
              <a:ext uri="{FF2B5EF4-FFF2-40B4-BE49-F238E27FC236}">
                <a16:creationId xmlns:a16="http://schemas.microsoft.com/office/drawing/2014/main" id="{E7071ACF-8A19-4461-B81C-56A334921050}"/>
              </a:ext>
            </a:extLst>
          </p:cNvPr>
          <p:cNvSpPr txBox="1"/>
          <p:nvPr/>
        </p:nvSpPr>
        <p:spPr>
          <a:xfrm>
            <a:off x="7565412" y="6550223"/>
            <a:ext cx="4626588" cy="307777"/>
          </a:xfrm>
          <a:prstGeom prst="rect">
            <a:avLst/>
          </a:prstGeom>
          <a:noFill/>
        </p:spPr>
        <p:txBody>
          <a:bodyPr wrap="none" rtlCol="0">
            <a:spAutoFit/>
          </a:bodyPr>
          <a:lstStyle/>
          <a:p>
            <a:r>
              <a:rPr lang="en-US" altLang="zh-CN" sz="1400" dirty="0">
                <a:cs typeface="+mn-ea"/>
                <a:sym typeface="+mn-lt"/>
              </a:rPr>
              <a:t>Zhao, et al. </a:t>
            </a:r>
            <a:r>
              <a:rPr lang="en-US" altLang="zh-CN" sz="1400" b="1" dirty="0">
                <a:cs typeface="+mn-ea"/>
                <a:sym typeface="+mn-lt"/>
              </a:rPr>
              <a:t>Pyramid Scene Parsing Network</a:t>
            </a:r>
            <a:r>
              <a:rPr lang="en-US" altLang="zh-CN" sz="1400" dirty="0">
                <a:cs typeface="+mn-ea"/>
                <a:sym typeface="+mn-lt"/>
              </a:rPr>
              <a:t>, </a:t>
            </a:r>
            <a:r>
              <a:rPr lang="en-US" altLang="zh-CN" sz="1400" i="1" dirty="0">
                <a:cs typeface="+mn-ea"/>
                <a:sym typeface="+mn-lt"/>
              </a:rPr>
              <a:t>CVPR</a:t>
            </a:r>
            <a:r>
              <a:rPr lang="en-US" altLang="zh-CN" sz="1400" dirty="0">
                <a:cs typeface="+mn-ea"/>
                <a:sym typeface="+mn-lt"/>
              </a:rPr>
              <a:t> </a:t>
            </a:r>
            <a:r>
              <a:rPr lang="en-US" altLang="zh-CN" sz="1400" i="1" dirty="0">
                <a:cs typeface="+mn-ea"/>
                <a:sym typeface="+mn-lt"/>
              </a:rPr>
              <a:t>2017</a:t>
            </a:r>
            <a:endParaRPr lang="zh-CN" altLang="en-US" sz="1400" i="1" dirty="0">
              <a:cs typeface="+mn-ea"/>
              <a:sym typeface="+mn-lt"/>
            </a:endParaRPr>
          </a:p>
        </p:txBody>
      </p:sp>
      <p:sp>
        <p:nvSpPr>
          <p:cNvPr id="6" name="Content Placeholder 2">
            <a:extLst>
              <a:ext uri="{FF2B5EF4-FFF2-40B4-BE49-F238E27FC236}">
                <a16:creationId xmlns:a16="http://schemas.microsoft.com/office/drawing/2014/main" id="{D7FD94ED-8A5F-4C5B-949E-9C62C4FB4BD6}"/>
              </a:ext>
            </a:extLst>
          </p:cNvPr>
          <p:cNvSpPr>
            <a:spLocks noGrp="1"/>
          </p:cNvSpPr>
          <p:nvPr>
            <p:ph idx="1"/>
          </p:nvPr>
        </p:nvSpPr>
        <p:spPr>
          <a:xfrm>
            <a:off x="838200" y="1690688"/>
            <a:ext cx="5804647" cy="1599267"/>
          </a:xfrm>
        </p:spPr>
        <p:txBody>
          <a:bodyPr>
            <a:normAutofit fontScale="92500" lnSpcReduction="20000"/>
          </a:bodyPr>
          <a:lstStyle/>
          <a:p>
            <a:r>
              <a:rPr lang="en-US" altLang="zh-CN" dirty="0">
                <a:cs typeface="+mn-ea"/>
                <a:sym typeface="+mn-lt"/>
              </a:rPr>
              <a:t>Different sub-region representation</a:t>
            </a:r>
          </a:p>
          <a:p>
            <a:r>
              <a:rPr lang="en-US" altLang="zh-CN" dirty="0">
                <a:cs typeface="+mn-ea"/>
                <a:sym typeface="+mn-lt"/>
              </a:rPr>
              <a:t>Local and global context information</a:t>
            </a:r>
          </a:p>
          <a:p>
            <a:r>
              <a:rPr lang="en-US" altLang="zh-CN" dirty="0">
                <a:cs typeface="+mn-ea"/>
                <a:sym typeface="+mn-lt"/>
              </a:rPr>
              <a:t>Deep Supervision</a:t>
            </a:r>
          </a:p>
        </p:txBody>
      </p:sp>
      <p:pic>
        <p:nvPicPr>
          <p:cNvPr id="4" name="Picture 3">
            <a:extLst>
              <a:ext uri="{FF2B5EF4-FFF2-40B4-BE49-F238E27FC236}">
                <a16:creationId xmlns:a16="http://schemas.microsoft.com/office/drawing/2014/main" id="{85B91BBD-2C30-4849-9573-74F93270C3C5}"/>
              </a:ext>
            </a:extLst>
          </p:cNvPr>
          <p:cNvPicPr>
            <a:picLocks noChangeAspect="1"/>
          </p:cNvPicPr>
          <p:nvPr/>
        </p:nvPicPr>
        <p:blipFill>
          <a:blip r:embed="rId3"/>
          <a:stretch>
            <a:fillRect/>
          </a:stretch>
        </p:blipFill>
        <p:spPr>
          <a:xfrm>
            <a:off x="7262715" y="264646"/>
            <a:ext cx="4358040" cy="2324287"/>
          </a:xfrm>
          <a:prstGeom prst="rect">
            <a:avLst/>
          </a:prstGeom>
        </p:spPr>
      </p:pic>
      <p:sp>
        <p:nvSpPr>
          <p:cNvPr id="7" name="TextBox 6">
            <a:extLst>
              <a:ext uri="{FF2B5EF4-FFF2-40B4-BE49-F238E27FC236}">
                <a16:creationId xmlns:a16="http://schemas.microsoft.com/office/drawing/2014/main" id="{CA7A4798-8788-4D47-80C7-0C8C256F5500}"/>
              </a:ext>
            </a:extLst>
          </p:cNvPr>
          <p:cNvSpPr txBox="1"/>
          <p:nvPr/>
        </p:nvSpPr>
        <p:spPr>
          <a:xfrm>
            <a:off x="8561293" y="2616189"/>
            <a:ext cx="2456329" cy="369332"/>
          </a:xfrm>
          <a:prstGeom prst="rect">
            <a:avLst/>
          </a:prstGeom>
          <a:noFill/>
        </p:spPr>
        <p:txBody>
          <a:bodyPr wrap="square" rtlCol="0">
            <a:spAutoFit/>
          </a:bodyPr>
          <a:lstStyle/>
          <a:p>
            <a:r>
              <a:rPr lang="en-US" altLang="zh-CN" b="1" dirty="0">
                <a:solidFill>
                  <a:srgbClr val="C00000"/>
                </a:solidFill>
                <a:cs typeface="+mn-ea"/>
                <a:sym typeface="+mn-lt"/>
              </a:rPr>
              <a:t>Auxiliary Supervision</a:t>
            </a:r>
            <a:endParaRPr lang="zh-CN" altLang="en-US" b="1" dirty="0">
              <a:solidFill>
                <a:srgbClr val="C00000"/>
              </a:solidFill>
              <a:cs typeface="+mn-ea"/>
              <a:sym typeface="+mn-lt"/>
            </a:endParaRPr>
          </a:p>
        </p:txBody>
      </p:sp>
    </p:spTree>
    <p:extLst>
      <p:ext uri="{BB962C8B-B14F-4D97-AF65-F5344CB8AC3E}">
        <p14:creationId xmlns:p14="http://schemas.microsoft.com/office/powerpoint/2010/main" val="298448330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A6ED0A-05F7-4E89-82AA-D08F57429BE4}"/>
              </a:ext>
            </a:extLst>
          </p:cNvPr>
          <p:cNvSpPr>
            <a:spLocks noGrp="1"/>
          </p:cNvSpPr>
          <p:nvPr>
            <p:ph type="title"/>
          </p:nvPr>
        </p:nvSpPr>
        <p:spPr/>
        <p:txBody>
          <a:bodyPr/>
          <a:lstStyle/>
          <a:p>
            <a:r>
              <a:rPr lang="en-US" altLang="zh-CN" b="1" dirty="0" err="1">
                <a:latin typeface="+mn-lt"/>
                <a:ea typeface="+mn-ea"/>
                <a:cs typeface="+mn-ea"/>
                <a:sym typeface="+mn-lt"/>
              </a:rPr>
              <a:t>PSPNet</a:t>
            </a:r>
            <a:endParaRPr lang="zh-CN" altLang="en-US" b="1" dirty="0">
              <a:latin typeface="+mn-lt"/>
              <a:ea typeface="+mn-ea"/>
              <a:cs typeface="+mn-ea"/>
              <a:sym typeface="+mn-lt"/>
            </a:endParaRPr>
          </a:p>
        </p:txBody>
      </p:sp>
      <p:sp>
        <p:nvSpPr>
          <p:cNvPr id="5" name="TextBox 4">
            <a:extLst>
              <a:ext uri="{FF2B5EF4-FFF2-40B4-BE49-F238E27FC236}">
                <a16:creationId xmlns:a16="http://schemas.microsoft.com/office/drawing/2014/main" id="{E7071ACF-8A19-4461-B81C-56A334921050}"/>
              </a:ext>
            </a:extLst>
          </p:cNvPr>
          <p:cNvSpPr txBox="1"/>
          <p:nvPr/>
        </p:nvSpPr>
        <p:spPr>
          <a:xfrm>
            <a:off x="7565412" y="6550223"/>
            <a:ext cx="4626588" cy="307777"/>
          </a:xfrm>
          <a:prstGeom prst="rect">
            <a:avLst/>
          </a:prstGeom>
          <a:noFill/>
        </p:spPr>
        <p:txBody>
          <a:bodyPr wrap="none" rtlCol="0">
            <a:spAutoFit/>
          </a:bodyPr>
          <a:lstStyle/>
          <a:p>
            <a:r>
              <a:rPr lang="en-US" altLang="zh-CN" sz="1400" dirty="0">
                <a:cs typeface="+mn-ea"/>
                <a:sym typeface="+mn-lt"/>
              </a:rPr>
              <a:t>Zhao, et al. </a:t>
            </a:r>
            <a:r>
              <a:rPr lang="en-US" altLang="zh-CN" sz="1400" b="1" dirty="0">
                <a:cs typeface="+mn-ea"/>
                <a:sym typeface="+mn-lt"/>
              </a:rPr>
              <a:t>Pyramid Scene Parsing Network</a:t>
            </a:r>
            <a:r>
              <a:rPr lang="en-US" altLang="zh-CN" sz="1400" dirty="0">
                <a:cs typeface="+mn-ea"/>
                <a:sym typeface="+mn-lt"/>
              </a:rPr>
              <a:t>, </a:t>
            </a:r>
            <a:r>
              <a:rPr lang="en-US" altLang="zh-CN" sz="1400" i="1" dirty="0">
                <a:cs typeface="+mn-ea"/>
                <a:sym typeface="+mn-lt"/>
              </a:rPr>
              <a:t>CVPR</a:t>
            </a:r>
            <a:r>
              <a:rPr lang="en-US" altLang="zh-CN" sz="1400" dirty="0">
                <a:cs typeface="+mn-ea"/>
                <a:sym typeface="+mn-lt"/>
              </a:rPr>
              <a:t> </a:t>
            </a:r>
            <a:r>
              <a:rPr lang="en-US" altLang="zh-CN" sz="1400" i="1" dirty="0">
                <a:cs typeface="+mn-ea"/>
                <a:sym typeface="+mn-lt"/>
              </a:rPr>
              <a:t>2017</a:t>
            </a:r>
            <a:endParaRPr lang="zh-CN" altLang="en-US" sz="1400" i="1" dirty="0">
              <a:cs typeface="+mn-ea"/>
              <a:sym typeface="+mn-lt"/>
            </a:endParaRPr>
          </a:p>
        </p:txBody>
      </p:sp>
      <p:pic>
        <p:nvPicPr>
          <p:cNvPr id="10" name="Picture 9">
            <a:extLst>
              <a:ext uri="{FF2B5EF4-FFF2-40B4-BE49-F238E27FC236}">
                <a16:creationId xmlns:a16="http://schemas.microsoft.com/office/drawing/2014/main" id="{04FC67D6-3DD1-414C-9DB1-15E5D14156BD}"/>
              </a:ext>
            </a:extLst>
          </p:cNvPr>
          <p:cNvPicPr>
            <a:picLocks noChangeAspect="1"/>
          </p:cNvPicPr>
          <p:nvPr/>
        </p:nvPicPr>
        <p:blipFill rotWithShape="1">
          <a:blip r:embed="rId2"/>
          <a:srcRect l="1618" r="2206" b="2525"/>
          <a:stretch/>
        </p:blipFill>
        <p:spPr>
          <a:xfrm>
            <a:off x="98612" y="1851237"/>
            <a:ext cx="5862917" cy="4236871"/>
          </a:xfrm>
          <a:prstGeom prst="rect">
            <a:avLst/>
          </a:prstGeom>
        </p:spPr>
      </p:pic>
      <p:pic>
        <p:nvPicPr>
          <p:cNvPr id="11" name="Picture 10">
            <a:extLst>
              <a:ext uri="{FF2B5EF4-FFF2-40B4-BE49-F238E27FC236}">
                <a16:creationId xmlns:a16="http://schemas.microsoft.com/office/drawing/2014/main" id="{D527B5E4-9F75-474E-B028-9EFE637648EA}"/>
              </a:ext>
            </a:extLst>
          </p:cNvPr>
          <p:cNvPicPr>
            <a:picLocks noChangeAspect="1"/>
          </p:cNvPicPr>
          <p:nvPr/>
        </p:nvPicPr>
        <p:blipFill rotWithShape="1">
          <a:blip r:embed="rId3"/>
          <a:srcRect l="3349" r="1693"/>
          <a:stretch/>
        </p:blipFill>
        <p:spPr>
          <a:xfrm>
            <a:off x="6358241" y="2363291"/>
            <a:ext cx="5528959" cy="3212761"/>
          </a:xfrm>
          <a:prstGeom prst="rect">
            <a:avLst/>
          </a:prstGeom>
        </p:spPr>
      </p:pic>
    </p:spTree>
    <p:extLst>
      <p:ext uri="{BB962C8B-B14F-4D97-AF65-F5344CB8AC3E}">
        <p14:creationId xmlns:p14="http://schemas.microsoft.com/office/powerpoint/2010/main" val="93671893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9A1D1A-6CAE-44CF-B112-7D16989BFF4A}"/>
              </a:ext>
            </a:extLst>
          </p:cNvPr>
          <p:cNvSpPr>
            <a:spLocks noGrp="1"/>
          </p:cNvSpPr>
          <p:nvPr>
            <p:ph type="title"/>
          </p:nvPr>
        </p:nvSpPr>
        <p:spPr/>
        <p:txBody>
          <a:bodyPr/>
          <a:lstStyle/>
          <a:p>
            <a:r>
              <a:rPr lang="en-US" altLang="zh-CN" b="1" dirty="0">
                <a:latin typeface="+mn-lt"/>
                <a:ea typeface="+mn-ea"/>
                <a:cs typeface="+mn-ea"/>
                <a:sym typeface="+mn-lt"/>
              </a:rPr>
              <a:t>Resources</a:t>
            </a:r>
            <a:endParaRPr lang="zh-CN" altLang="en-US" b="1" dirty="0">
              <a:latin typeface="+mn-lt"/>
              <a:ea typeface="+mn-ea"/>
              <a:cs typeface="+mn-ea"/>
              <a:sym typeface="+mn-lt"/>
            </a:endParaRPr>
          </a:p>
        </p:txBody>
      </p:sp>
      <p:sp>
        <p:nvSpPr>
          <p:cNvPr id="3" name="Content Placeholder 2">
            <a:extLst>
              <a:ext uri="{FF2B5EF4-FFF2-40B4-BE49-F238E27FC236}">
                <a16:creationId xmlns:a16="http://schemas.microsoft.com/office/drawing/2014/main" id="{DD194D7F-D22D-4357-B8BF-2523DE5C5632}"/>
              </a:ext>
            </a:extLst>
          </p:cNvPr>
          <p:cNvSpPr>
            <a:spLocks noGrp="1"/>
          </p:cNvSpPr>
          <p:nvPr>
            <p:ph idx="1"/>
          </p:nvPr>
        </p:nvSpPr>
        <p:spPr/>
        <p:txBody>
          <a:bodyPr>
            <a:normAutofit/>
          </a:bodyPr>
          <a:lstStyle/>
          <a:p>
            <a:r>
              <a:rPr lang="en-US" altLang="zh-CN" sz="2400" dirty="0">
                <a:cs typeface="+mn-ea"/>
                <a:sym typeface="+mn-lt"/>
                <a:hlinkClick r:id="rId2"/>
              </a:rPr>
              <a:t>https://www.slideshare.net/xavigiro/image-segmentation-with-deep-learning-xavier-giro-carles-ventura-issondl-2020?next_slideshow=1</a:t>
            </a:r>
            <a:endParaRPr lang="en-US" altLang="zh-CN" sz="2400" dirty="0">
              <a:cs typeface="+mn-ea"/>
              <a:sym typeface="+mn-lt"/>
            </a:endParaRPr>
          </a:p>
          <a:p>
            <a:r>
              <a:rPr lang="en-US" altLang="zh-CN" sz="2400" dirty="0">
                <a:cs typeface="+mn-ea"/>
                <a:sym typeface="+mn-lt"/>
                <a:hlinkClick r:id="rId3"/>
              </a:rPr>
              <a:t>http://cs231n.stanford.edu/slides/2020/lecture_12.pdf</a:t>
            </a:r>
            <a:endParaRPr lang="en-US" altLang="zh-CN" sz="2400" dirty="0">
              <a:cs typeface="+mn-ea"/>
              <a:sym typeface="+mn-lt"/>
            </a:endParaRPr>
          </a:p>
          <a:p>
            <a:r>
              <a:rPr lang="en-US" altLang="zh-CN" sz="2400" dirty="0">
                <a:cs typeface="+mn-ea"/>
                <a:sym typeface="+mn-lt"/>
                <a:hlinkClick r:id="rId4"/>
              </a:rPr>
              <a:t>https://www.jeremyjordan.me/evaluating-image-segmentation-models/</a:t>
            </a:r>
            <a:endParaRPr lang="en-US" altLang="zh-CN" sz="2400" dirty="0">
              <a:cs typeface="+mn-ea"/>
              <a:sym typeface="+mn-lt"/>
            </a:endParaRPr>
          </a:p>
          <a:p>
            <a:r>
              <a:rPr lang="en-US" altLang="zh-CN" sz="2400" dirty="0">
                <a:cs typeface="+mn-ea"/>
                <a:sym typeface="+mn-lt"/>
                <a:hlinkClick r:id="rId5"/>
              </a:rPr>
              <a:t>https://github.com/qubvel/segmentation_models.pytorch</a:t>
            </a:r>
            <a:endParaRPr lang="en-US" altLang="zh-CN" sz="2400" dirty="0">
              <a:cs typeface="+mn-ea"/>
              <a:sym typeface="+mn-lt"/>
            </a:endParaRPr>
          </a:p>
          <a:p>
            <a:r>
              <a:rPr lang="en-US" altLang="zh-CN" sz="2400" dirty="0">
                <a:cs typeface="+mn-ea"/>
                <a:sym typeface="+mn-lt"/>
                <a:hlinkClick r:id="rId6"/>
              </a:rPr>
              <a:t>https://github.com/MIC-DKFZ/nnUNet</a:t>
            </a:r>
            <a:endParaRPr lang="en-US" altLang="zh-CN" sz="2400" dirty="0">
              <a:cs typeface="+mn-ea"/>
              <a:sym typeface="+mn-lt"/>
            </a:endParaRPr>
          </a:p>
          <a:p>
            <a:r>
              <a:rPr lang="en-US" altLang="zh-CN" sz="2400" dirty="0">
                <a:cs typeface="+mn-ea"/>
                <a:sym typeface="+mn-lt"/>
                <a:hlinkClick r:id="rId7"/>
              </a:rPr>
              <a:t>https://amaarora.github.io/2020/09/13/unet.html</a:t>
            </a:r>
            <a:endParaRPr lang="en-US" altLang="zh-CN" sz="2400" dirty="0">
              <a:cs typeface="+mn-ea"/>
              <a:sym typeface="+mn-lt"/>
            </a:endParaRPr>
          </a:p>
          <a:p>
            <a:endParaRPr lang="en-US" altLang="zh-CN" sz="2400" dirty="0">
              <a:cs typeface="+mn-ea"/>
              <a:sym typeface="+mn-lt"/>
            </a:endParaRPr>
          </a:p>
          <a:p>
            <a:endParaRPr lang="en-US" altLang="zh-CN" sz="2400" dirty="0">
              <a:cs typeface="+mn-ea"/>
              <a:sym typeface="+mn-lt"/>
            </a:endParaRPr>
          </a:p>
        </p:txBody>
      </p:sp>
    </p:spTree>
    <p:extLst>
      <p:ext uri="{BB962C8B-B14F-4D97-AF65-F5344CB8AC3E}">
        <p14:creationId xmlns:p14="http://schemas.microsoft.com/office/powerpoint/2010/main" val="1844707729"/>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pphdxgyl">
      <a:majorFont>
        <a:latin typeface="Times New Roman" panose="020F0302020204030204"/>
        <a:ea typeface="宋体"/>
        <a:cs typeface=""/>
      </a:majorFont>
      <a:minorFont>
        <a:latin typeface="Times New Roman" panose="020F0502020204030204"/>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18849</TotalTime>
  <Words>1308</Words>
  <Application>Microsoft Office PowerPoint</Application>
  <PresentationFormat>Widescreen</PresentationFormat>
  <Paragraphs>185</Paragraphs>
  <Slides>57</Slides>
  <Notes>9</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57</vt:i4>
      </vt:variant>
    </vt:vector>
  </HeadingPairs>
  <TitlesOfParts>
    <vt:vector size="64" baseType="lpstr">
      <vt:lpstr>等线</vt:lpstr>
      <vt:lpstr>宋体</vt:lpstr>
      <vt:lpstr>Arial</vt:lpstr>
      <vt:lpstr>Cambria Math</vt:lpstr>
      <vt:lpstr>Times New Roman</vt:lpstr>
      <vt:lpstr>Wingdings</vt:lpstr>
      <vt:lpstr>Office 主题​​</vt:lpstr>
      <vt:lpstr>10、图像语义分割 Semantic Segmentation</vt:lpstr>
      <vt:lpstr>图像与物体分割（Image and object segmentation）</vt:lpstr>
      <vt:lpstr>图像与物体分割</vt:lpstr>
      <vt:lpstr>图像与物体分割</vt:lpstr>
      <vt:lpstr>相关应用</vt:lpstr>
      <vt:lpstr>相关应用</vt:lpstr>
      <vt:lpstr>视觉识别任务</vt:lpstr>
      <vt:lpstr>语义分割 (Semantic Segmentation)</vt:lpstr>
      <vt:lpstr>实例分割 (Instance Segmentation)</vt:lpstr>
      <vt:lpstr>Semantic vs Instance Segmentation</vt:lpstr>
      <vt:lpstr>全局分割 (Panoptic Segmentation)</vt:lpstr>
      <vt:lpstr>Datasets</vt:lpstr>
      <vt:lpstr>Datasets</vt:lpstr>
      <vt:lpstr>图像分割的方法</vt:lpstr>
      <vt:lpstr>语义分割</vt:lpstr>
      <vt:lpstr>语义分割：问题定义</vt:lpstr>
      <vt:lpstr>语义分割：评价指标</vt:lpstr>
      <vt:lpstr>语义分割：评价指标</vt:lpstr>
      <vt:lpstr>语义分割：损失函数</vt:lpstr>
      <vt:lpstr>语义分割：损失函数</vt:lpstr>
      <vt:lpstr>语义分割：代表性模型</vt:lpstr>
      <vt:lpstr>From classification to semantic segmentation</vt:lpstr>
      <vt:lpstr>From classification to semantic segmentation</vt:lpstr>
      <vt:lpstr>From classification to semantic segmentation</vt:lpstr>
      <vt:lpstr>From classification to semantic segmentation</vt:lpstr>
      <vt:lpstr>PowerPoint Presentation</vt:lpstr>
      <vt:lpstr>PowerPoint Presentation</vt:lpstr>
      <vt:lpstr>From classification to semantic segmentation</vt:lpstr>
      <vt:lpstr>Upsampling -- UnPooling</vt:lpstr>
      <vt:lpstr>Upsampling – Max UnPooling</vt:lpstr>
      <vt:lpstr>Learnable upsampling: convolution layer</vt:lpstr>
      <vt:lpstr>Learnable upsampling: recovering spatial shape</vt:lpstr>
      <vt:lpstr>Convolution as Matrix Multiplication</vt:lpstr>
      <vt:lpstr>Deconvolution (Transposed Convolution)</vt:lpstr>
      <vt:lpstr>Resolution: spectrum of deep features</vt:lpstr>
      <vt:lpstr>Fine details: skip connections</vt:lpstr>
      <vt:lpstr>Experimental Results</vt:lpstr>
      <vt:lpstr>Transposed Convolution in PyTorch</vt:lpstr>
      <vt:lpstr>Transfer Learning</vt:lpstr>
      <vt:lpstr>FCN Code</vt:lpstr>
      <vt:lpstr>Deconvolution and Checkerboard Artifacts</vt:lpstr>
      <vt:lpstr>Deconvolution Network</vt:lpstr>
      <vt:lpstr>DeepLab</vt:lpstr>
      <vt:lpstr>Atrous (Dilated) Convolution</vt:lpstr>
      <vt:lpstr>Conditional Random Field (CRF)</vt:lpstr>
      <vt:lpstr>Conditional Random Field (CRF)</vt:lpstr>
      <vt:lpstr>Conditional Random Field (CRF)</vt:lpstr>
      <vt:lpstr>DeepLab Results</vt:lpstr>
      <vt:lpstr>DeepLab Results</vt:lpstr>
      <vt:lpstr>U-Net</vt:lpstr>
      <vt:lpstr>U-Net</vt:lpstr>
      <vt:lpstr>U-Net</vt:lpstr>
      <vt:lpstr>U-Net</vt:lpstr>
      <vt:lpstr>U-Net</vt:lpstr>
      <vt:lpstr>PSPNet</vt:lpstr>
      <vt:lpstr>PSPNet</vt:lpstr>
      <vt:lpstr>Resources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lancer lian</dc:creator>
  <cp:lastModifiedBy>Luo Zhiming</cp:lastModifiedBy>
  <cp:revision>388</cp:revision>
  <dcterms:created xsi:type="dcterms:W3CDTF">2020-10-06T17:16:56Z</dcterms:created>
  <dcterms:modified xsi:type="dcterms:W3CDTF">2023-04-23T15:36:18Z</dcterms:modified>
</cp:coreProperties>
</file>