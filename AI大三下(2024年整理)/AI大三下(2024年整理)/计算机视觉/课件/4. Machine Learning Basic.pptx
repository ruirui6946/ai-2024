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594" r:id="rId2"/>
    <p:sldId id="595" r:id="rId3"/>
    <p:sldId id="596" r:id="rId4"/>
    <p:sldId id="260" r:id="rId5"/>
    <p:sldId id="261" r:id="rId6"/>
    <p:sldId id="262" r:id="rId7"/>
    <p:sldId id="306" r:id="rId8"/>
    <p:sldId id="307" r:id="rId9"/>
    <p:sldId id="308" r:id="rId10"/>
    <p:sldId id="317" r:id="rId11"/>
    <p:sldId id="318" r:id="rId12"/>
    <p:sldId id="309" r:id="rId13"/>
    <p:sldId id="310" r:id="rId14"/>
    <p:sldId id="311" r:id="rId15"/>
    <p:sldId id="312" r:id="rId16"/>
    <p:sldId id="313" r:id="rId17"/>
    <p:sldId id="314" r:id="rId18"/>
    <p:sldId id="625" r:id="rId19"/>
    <p:sldId id="627" r:id="rId20"/>
    <p:sldId id="628" r:id="rId21"/>
    <p:sldId id="626" r:id="rId22"/>
    <p:sldId id="633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31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E1EEF-C7C8-4368-8FDB-40CB35B4998F}" type="datetimeFigureOut">
              <a:rPr lang="zh-CN" altLang="en-US" smtClean="0"/>
              <a:t>2023-2-27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1F755-3CC7-4815-A60D-0F2C5A007E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441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25381-7F01-45C5-902E-7D1162343F5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069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89747-1906-465C-9B3F-348EAA245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F9E82-5F99-4DBF-8945-5FEB561E9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83485-A3D8-43CC-9D3C-C39E60B8B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8F6B-FA23-44FB-BA5E-23B183B32F30}" type="datetimeFigureOut">
              <a:rPr lang="zh-CN" altLang="en-US" smtClean="0"/>
              <a:t>2023-2-27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2BB8C-5DD0-4143-BC17-F00F9789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B4940-4A6C-40BF-906A-37A41048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0B13-9137-4801-BB6A-64D7D5F5B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691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6683-4F2F-4367-909C-275EB399D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907BC-C08A-447C-B655-278109927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A7E12-F733-45F6-9013-D684707A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8F6B-FA23-44FB-BA5E-23B183B32F30}" type="datetimeFigureOut">
              <a:rPr lang="zh-CN" altLang="en-US" smtClean="0"/>
              <a:t>2023-2-27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9D5CB-3F76-4F8E-A161-0744D3DF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FCCD5-F394-4391-A1ED-625B0001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0B13-9137-4801-BB6A-64D7D5F5B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46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DB14A-733D-46B0-A8BC-419E82C3B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68463-846C-4452-ABA3-F0A520410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B79FF-C732-4CA7-B660-CAC4E22C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8F6B-FA23-44FB-BA5E-23B183B32F30}" type="datetimeFigureOut">
              <a:rPr lang="zh-CN" altLang="en-US" smtClean="0"/>
              <a:t>2023-2-27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EDE81-A3FF-43DC-A798-0107A9943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E5C0F-E16D-4580-9495-4E60779D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0B13-9137-4801-BB6A-64D7D5F5B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901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D14C7-1185-4F68-A104-8FBCF89F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5318D-CAE4-4003-840A-D7BB9412A9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A3D64-43D6-4978-958D-25C77A15A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D9C32-AAFF-4CD8-B6B1-27C20FEB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8F6B-FA23-44FB-BA5E-23B183B32F30}" type="datetimeFigureOut">
              <a:rPr lang="zh-CN" altLang="en-US" smtClean="0"/>
              <a:t>2023-2-27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D12CC-0829-40E4-BE56-6A36E120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A2D79-F955-4D7D-86C2-CCD0F479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0B13-9137-4801-BB6A-64D7D5F5B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559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1877-EBD7-4830-807A-37AC408AC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2ACC3-2967-4A51-A52C-F71C26A64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E3FDE-D5C2-453E-BCA9-4747E8796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C8DD1-9CE4-40CD-BF7A-6117AD9380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77B74D-5237-4D71-B1A3-AEF57953A9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CFDF15-1503-440D-A753-3915F79FA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8F6B-FA23-44FB-BA5E-23B183B32F30}" type="datetimeFigureOut">
              <a:rPr lang="zh-CN" altLang="en-US" smtClean="0"/>
              <a:t>2023-2-27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475744-28F3-4BC8-8B5C-E81C483C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B18E78-5EEB-4B5E-8D64-CF2266C52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0B13-9137-4801-BB6A-64D7D5F5B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084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C632-83FD-4DDD-8694-8766DF49F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22B25-AAD7-496C-A2D3-1BC1FF955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8F6B-FA23-44FB-BA5E-23B183B32F30}" type="datetimeFigureOut">
              <a:rPr lang="zh-CN" altLang="en-US" smtClean="0"/>
              <a:t>2023-2-27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505D52-C724-48D9-9275-84E3C171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5B772E-B3FD-4873-BED0-BFF2FF90F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0B13-9137-4801-BB6A-64D7D5F5B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914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6C9822-D2AD-4F2B-AFFE-FE5C981E1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8F6B-FA23-44FB-BA5E-23B183B32F30}" type="datetimeFigureOut">
              <a:rPr lang="zh-CN" altLang="en-US" smtClean="0"/>
              <a:t>2023-2-27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BBA40-CF5C-4FC3-BE93-5C2E5E44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CD7D4-0D6C-4F29-9E88-7943E858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0B13-9137-4801-BB6A-64D7D5F5B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699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FBA5C-E808-42B3-A233-BFE3DD121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93269-3BB0-4A8E-9B19-5479E343C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01D0CC-C7A1-452D-A15E-6A31F7FFA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06DFB-013D-48E8-9783-FCEDD033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8F6B-FA23-44FB-BA5E-23B183B32F30}" type="datetimeFigureOut">
              <a:rPr lang="zh-CN" altLang="en-US" smtClean="0"/>
              <a:t>2023-2-27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47D6-BDC0-4A16-9096-AC5133F1B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C58C6-74C1-4FEA-919E-5B934FB3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0B13-9137-4801-BB6A-64D7D5F5B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12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60BC7-951C-405D-BFD2-ECE4CDF9F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BE57EF-533D-43AB-914E-26D390796E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76428-40B8-4432-A05B-8C0DFF53D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8F673-3412-4C00-B17A-9D4B046D7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8F6B-FA23-44FB-BA5E-23B183B32F30}" type="datetimeFigureOut">
              <a:rPr lang="zh-CN" altLang="en-US" smtClean="0"/>
              <a:t>2023-2-27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F9239-96A3-48EF-9E4E-DA7DBAE96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CC3A2-C502-43F3-B3C2-77B25A90C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0B13-9137-4801-BB6A-64D7D5F5B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025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F421B-6B5E-44C2-86B9-5D962C932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237A0-FA8A-4876-9B15-6B43749A6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2E432-885A-4F33-9827-72F64C2E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8F6B-FA23-44FB-BA5E-23B183B32F30}" type="datetimeFigureOut">
              <a:rPr lang="zh-CN" altLang="en-US" smtClean="0"/>
              <a:t>2023-2-27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89870-638B-4B17-B714-286EBDC36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602AD-ADF1-4FED-B103-7A42B3540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0B13-9137-4801-BB6A-64D7D5F5B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25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D04079-E958-41D4-B800-C35FE534C8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0EA2D-2DCC-4608-B1BE-F1E4FD13B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4029D-8CBA-4333-88F8-35B84807E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8F6B-FA23-44FB-BA5E-23B183B32F30}" type="datetimeFigureOut">
              <a:rPr lang="zh-CN" altLang="en-US" smtClean="0"/>
              <a:t>2023-2-27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0B3F9-1456-4D78-9957-098AB3302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8826C-FF81-4642-9DE8-CD2E597B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0B13-9137-4801-BB6A-64D7D5F5B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76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66626-EDF5-4BB3-8EEA-3C25A95DC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37703-FF64-42CC-80C7-B32DD8F86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150C2-3A78-420A-AE45-F5822F857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78F6B-FA23-44FB-BA5E-23B183B32F30}" type="datetimeFigureOut">
              <a:rPr lang="zh-CN" altLang="en-US" smtClean="0"/>
              <a:t>2023-2-27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8FEFF-2FD8-474C-AB9E-9D2C46C08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6D8CD-95FF-464B-A21F-ECA2DE5AF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B0B13-9137-4801-BB6A-64D7D5F5B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85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iming.luo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ision.in.tum.de/_media/teaching/ws2016/mlcv16/clustering.pdf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A62EA-A05A-4499-8DAF-AB8A74EF6B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4. 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机器学习基础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F7C9D-65C4-44D9-9A9D-A2AF0BB819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罗志明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  <a:hlinkClick r:id="rId2"/>
              </a:rPr>
              <a:t>zhiming.luo@xmu.edu.cn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0371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CEB74-127E-4DFC-A5C7-EA4C3F0A3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机器学习任务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21A8175-85F5-4957-8863-243ED4917991}"/>
              </a:ext>
            </a:extLst>
          </p:cNvPr>
          <p:cNvSpPr txBox="1"/>
          <p:nvPr/>
        </p:nvSpPr>
        <p:spPr>
          <a:xfrm>
            <a:off x="5198600" y="4619518"/>
            <a:ext cx="1363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回归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009FB5F-CE14-446C-BBF7-5DA1CA426E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0270" y="2196039"/>
            <a:ext cx="2150407" cy="2118149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749FCC2A-0596-4888-A8A3-A5E668FAEE54}"/>
              </a:ext>
            </a:extLst>
          </p:cNvPr>
          <p:cNvSpPr txBox="1"/>
          <p:nvPr/>
        </p:nvSpPr>
        <p:spPr>
          <a:xfrm>
            <a:off x="8880673" y="4666488"/>
            <a:ext cx="150959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聚类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7" name="object 17">
            <a:extLst>
              <a:ext uri="{FF2B5EF4-FFF2-40B4-BE49-F238E27FC236}">
                <a16:creationId xmlns:a16="http://schemas.microsoft.com/office/drawing/2014/main" id="{4F118D58-591B-452A-8D42-F8DED8FE98B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2064" y="2339529"/>
            <a:ext cx="2509577" cy="1948295"/>
          </a:xfrm>
          <a:prstGeom prst="rect">
            <a:avLst/>
          </a:prstGeom>
        </p:spPr>
      </p:pic>
      <p:pic>
        <p:nvPicPr>
          <p:cNvPr id="8" name="object 19">
            <a:extLst>
              <a:ext uri="{FF2B5EF4-FFF2-40B4-BE49-F238E27FC236}">
                <a16:creationId xmlns:a16="http://schemas.microsoft.com/office/drawing/2014/main" id="{5654600C-EEE1-4C34-B560-8041C8C5984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53989" y="2319476"/>
            <a:ext cx="2587176" cy="1995936"/>
          </a:xfrm>
          <a:prstGeom prst="rect">
            <a:avLst/>
          </a:prstGeom>
        </p:spPr>
      </p:pic>
      <p:sp>
        <p:nvSpPr>
          <p:cNvPr id="9" name="object 4">
            <a:extLst>
              <a:ext uri="{FF2B5EF4-FFF2-40B4-BE49-F238E27FC236}">
                <a16:creationId xmlns:a16="http://schemas.microsoft.com/office/drawing/2014/main" id="{98F2CB7D-CFC3-4AAF-BF8F-1BE7927DCDD4}"/>
              </a:ext>
            </a:extLst>
          </p:cNvPr>
          <p:cNvSpPr txBox="1"/>
          <p:nvPr/>
        </p:nvSpPr>
        <p:spPr>
          <a:xfrm>
            <a:off x="1460761" y="4632251"/>
            <a:ext cx="193218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分类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822BC20B-4851-4284-B576-4D2889DC07E3}"/>
              </a:ext>
            </a:extLst>
          </p:cNvPr>
          <p:cNvSpPr/>
          <p:nvPr/>
        </p:nvSpPr>
        <p:spPr>
          <a:xfrm>
            <a:off x="1605677" y="5127694"/>
            <a:ext cx="5064760" cy="462280"/>
          </a:xfrm>
          <a:custGeom>
            <a:avLst/>
            <a:gdLst/>
            <a:ahLst/>
            <a:cxnLst/>
            <a:rect l="l" t="t" r="r" b="b"/>
            <a:pathLst>
              <a:path w="5064760" h="462279">
                <a:moveTo>
                  <a:pt x="0" y="0"/>
                </a:moveTo>
                <a:lnTo>
                  <a:pt x="1962" y="72998"/>
                </a:lnTo>
                <a:lnTo>
                  <a:pt x="7426" y="136396"/>
                </a:lnTo>
                <a:lnTo>
                  <a:pt x="15759" y="186390"/>
                </a:lnTo>
                <a:lnTo>
                  <a:pt x="38492" y="230950"/>
                </a:lnTo>
                <a:lnTo>
                  <a:pt x="2493687" y="230950"/>
                </a:lnTo>
                <a:lnTo>
                  <a:pt x="2505853" y="242723"/>
                </a:lnTo>
                <a:lnTo>
                  <a:pt x="2516420" y="275509"/>
                </a:lnTo>
                <a:lnTo>
                  <a:pt x="2524752" y="325503"/>
                </a:lnTo>
                <a:lnTo>
                  <a:pt x="2530216" y="388901"/>
                </a:lnTo>
                <a:lnTo>
                  <a:pt x="2532179" y="461900"/>
                </a:lnTo>
                <a:lnTo>
                  <a:pt x="2534141" y="388901"/>
                </a:lnTo>
                <a:lnTo>
                  <a:pt x="2539605" y="325503"/>
                </a:lnTo>
                <a:lnTo>
                  <a:pt x="2547938" y="275509"/>
                </a:lnTo>
                <a:lnTo>
                  <a:pt x="2558505" y="242723"/>
                </a:lnTo>
                <a:lnTo>
                  <a:pt x="2570672" y="230950"/>
                </a:lnTo>
                <a:lnTo>
                  <a:pt x="5025867" y="230950"/>
                </a:lnTo>
                <a:lnTo>
                  <a:pt x="5038033" y="219176"/>
                </a:lnTo>
                <a:lnTo>
                  <a:pt x="5048599" y="186390"/>
                </a:lnTo>
                <a:lnTo>
                  <a:pt x="5056932" y="136396"/>
                </a:lnTo>
                <a:lnTo>
                  <a:pt x="5062396" y="72998"/>
                </a:lnTo>
                <a:lnTo>
                  <a:pt x="5064359" y="0"/>
                </a:lnTo>
              </a:path>
            </a:pathLst>
          </a:custGeom>
          <a:ln w="5715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object 13">
            <a:extLst>
              <a:ext uri="{FF2B5EF4-FFF2-40B4-BE49-F238E27FC236}">
                <a16:creationId xmlns:a16="http://schemas.microsoft.com/office/drawing/2014/main" id="{63FCC50A-BB31-4C92-8F6F-7BEFD9B0B25C}"/>
              </a:ext>
            </a:extLst>
          </p:cNvPr>
          <p:cNvSpPr txBox="1"/>
          <p:nvPr/>
        </p:nvSpPr>
        <p:spPr>
          <a:xfrm>
            <a:off x="2864784" y="5737645"/>
            <a:ext cx="270339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+mn-ea"/>
                <a:sym typeface="+mn-lt"/>
              </a:rPr>
              <a:t>有监督学习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5197E52E-6ED1-4092-9D1F-005900807C2A}"/>
              </a:ext>
            </a:extLst>
          </p:cNvPr>
          <p:cNvSpPr/>
          <p:nvPr/>
        </p:nvSpPr>
        <p:spPr>
          <a:xfrm>
            <a:off x="8367602" y="1911761"/>
            <a:ext cx="2475865" cy="3571875"/>
          </a:xfrm>
          <a:custGeom>
            <a:avLst/>
            <a:gdLst/>
            <a:ahLst/>
            <a:cxnLst/>
            <a:rect l="l" t="t" r="r" b="b"/>
            <a:pathLst>
              <a:path w="2475865" h="3571875">
                <a:moveTo>
                  <a:pt x="0" y="412574"/>
                </a:moveTo>
                <a:lnTo>
                  <a:pt x="2775" y="364459"/>
                </a:lnTo>
                <a:lnTo>
                  <a:pt x="10896" y="317974"/>
                </a:lnTo>
                <a:lnTo>
                  <a:pt x="24052" y="273429"/>
                </a:lnTo>
                <a:lnTo>
                  <a:pt x="41934" y="231134"/>
                </a:lnTo>
                <a:lnTo>
                  <a:pt x="64232" y="191398"/>
                </a:lnTo>
                <a:lnTo>
                  <a:pt x="90638" y="154530"/>
                </a:lnTo>
                <a:lnTo>
                  <a:pt x="120840" y="120840"/>
                </a:lnTo>
                <a:lnTo>
                  <a:pt x="154530" y="90637"/>
                </a:lnTo>
                <a:lnTo>
                  <a:pt x="191398" y="64232"/>
                </a:lnTo>
                <a:lnTo>
                  <a:pt x="231134" y="41934"/>
                </a:lnTo>
                <a:lnTo>
                  <a:pt x="273430" y="24052"/>
                </a:lnTo>
                <a:lnTo>
                  <a:pt x="317975" y="10896"/>
                </a:lnTo>
                <a:lnTo>
                  <a:pt x="364459" y="2775"/>
                </a:lnTo>
                <a:lnTo>
                  <a:pt x="412574" y="0"/>
                </a:lnTo>
                <a:lnTo>
                  <a:pt x="2062818" y="0"/>
                </a:lnTo>
                <a:lnTo>
                  <a:pt x="2110933" y="2775"/>
                </a:lnTo>
                <a:lnTo>
                  <a:pt x="2157417" y="10896"/>
                </a:lnTo>
                <a:lnTo>
                  <a:pt x="2201962" y="24052"/>
                </a:lnTo>
                <a:lnTo>
                  <a:pt x="2244258" y="41934"/>
                </a:lnTo>
                <a:lnTo>
                  <a:pt x="2283994" y="64232"/>
                </a:lnTo>
                <a:lnTo>
                  <a:pt x="2320862" y="90637"/>
                </a:lnTo>
                <a:lnTo>
                  <a:pt x="2354552" y="120840"/>
                </a:lnTo>
                <a:lnTo>
                  <a:pt x="2384754" y="154530"/>
                </a:lnTo>
                <a:lnTo>
                  <a:pt x="2411160" y="191398"/>
                </a:lnTo>
                <a:lnTo>
                  <a:pt x="2433458" y="231134"/>
                </a:lnTo>
                <a:lnTo>
                  <a:pt x="2451340" y="273429"/>
                </a:lnTo>
                <a:lnTo>
                  <a:pt x="2464496" y="317974"/>
                </a:lnTo>
                <a:lnTo>
                  <a:pt x="2472617" y="364459"/>
                </a:lnTo>
                <a:lnTo>
                  <a:pt x="2475393" y="412574"/>
                </a:lnTo>
                <a:lnTo>
                  <a:pt x="2475393" y="3159301"/>
                </a:lnTo>
                <a:lnTo>
                  <a:pt x="2472617" y="3207415"/>
                </a:lnTo>
                <a:lnTo>
                  <a:pt x="2464496" y="3253900"/>
                </a:lnTo>
                <a:lnTo>
                  <a:pt x="2451340" y="3298445"/>
                </a:lnTo>
                <a:lnTo>
                  <a:pt x="2433458" y="3340740"/>
                </a:lnTo>
                <a:lnTo>
                  <a:pt x="2411160" y="3380476"/>
                </a:lnTo>
                <a:lnTo>
                  <a:pt x="2384754" y="3417344"/>
                </a:lnTo>
                <a:lnTo>
                  <a:pt x="2354552" y="3451034"/>
                </a:lnTo>
                <a:lnTo>
                  <a:pt x="2320862" y="3481237"/>
                </a:lnTo>
                <a:lnTo>
                  <a:pt x="2283994" y="3507642"/>
                </a:lnTo>
                <a:lnTo>
                  <a:pt x="2244258" y="3529940"/>
                </a:lnTo>
                <a:lnTo>
                  <a:pt x="2201962" y="3547822"/>
                </a:lnTo>
                <a:lnTo>
                  <a:pt x="2157417" y="3560978"/>
                </a:lnTo>
                <a:lnTo>
                  <a:pt x="2110933" y="3569099"/>
                </a:lnTo>
                <a:lnTo>
                  <a:pt x="2062818" y="3571875"/>
                </a:lnTo>
                <a:lnTo>
                  <a:pt x="412574" y="3571875"/>
                </a:lnTo>
                <a:lnTo>
                  <a:pt x="364459" y="3569099"/>
                </a:lnTo>
                <a:lnTo>
                  <a:pt x="317975" y="3560978"/>
                </a:lnTo>
                <a:lnTo>
                  <a:pt x="273430" y="3547822"/>
                </a:lnTo>
                <a:lnTo>
                  <a:pt x="231134" y="3529940"/>
                </a:lnTo>
                <a:lnTo>
                  <a:pt x="191398" y="3507642"/>
                </a:lnTo>
                <a:lnTo>
                  <a:pt x="154530" y="3481237"/>
                </a:lnTo>
                <a:lnTo>
                  <a:pt x="120840" y="3451034"/>
                </a:lnTo>
                <a:lnTo>
                  <a:pt x="90638" y="3417344"/>
                </a:lnTo>
                <a:lnTo>
                  <a:pt x="64232" y="3380476"/>
                </a:lnTo>
                <a:lnTo>
                  <a:pt x="41934" y="3340740"/>
                </a:lnTo>
                <a:lnTo>
                  <a:pt x="24052" y="3298445"/>
                </a:lnTo>
                <a:lnTo>
                  <a:pt x="10896" y="3253900"/>
                </a:lnTo>
                <a:lnTo>
                  <a:pt x="2775" y="3207415"/>
                </a:lnTo>
                <a:lnTo>
                  <a:pt x="0" y="3159301"/>
                </a:lnTo>
                <a:lnTo>
                  <a:pt x="0" y="412574"/>
                </a:lnTo>
                <a:close/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7516123C-76C8-4952-8F90-4A0BC51CB075}"/>
              </a:ext>
            </a:extLst>
          </p:cNvPr>
          <p:cNvSpPr txBox="1"/>
          <p:nvPr/>
        </p:nvSpPr>
        <p:spPr>
          <a:xfrm>
            <a:off x="8206405" y="5737645"/>
            <a:ext cx="2858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+mn-ea"/>
                <a:sym typeface="+mn-lt"/>
              </a:rPr>
              <a:t>无监督学习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21591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D509-A327-470F-8C9B-4B99DD449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分类任务：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图像分类</a:t>
            </a:r>
          </a:p>
        </p:txBody>
      </p:sp>
      <p:pic>
        <p:nvPicPr>
          <p:cNvPr id="16" name="object 3">
            <a:extLst>
              <a:ext uri="{FF2B5EF4-FFF2-40B4-BE49-F238E27FC236}">
                <a16:creationId xmlns:a16="http://schemas.microsoft.com/office/drawing/2014/main" id="{EF36205A-4630-4567-9049-92B61623A8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044" y="4366801"/>
            <a:ext cx="2347911" cy="2347910"/>
          </a:xfrm>
          <a:prstGeom prst="rect">
            <a:avLst/>
          </a:prstGeom>
        </p:spPr>
      </p:pic>
      <p:sp>
        <p:nvSpPr>
          <p:cNvPr id="17" name="object 4">
            <a:extLst>
              <a:ext uri="{FF2B5EF4-FFF2-40B4-BE49-F238E27FC236}">
                <a16:creationId xmlns:a16="http://schemas.microsoft.com/office/drawing/2014/main" id="{E505F166-72EB-4B32-BF2D-0771592E03FA}"/>
              </a:ext>
            </a:extLst>
          </p:cNvPr>
          <p:cNvSpPr txBox="1"/>
          <p:nvPr/>
        </p:nvSpPr>
        <p:spPr>
          <a:xfrm>
            <a:off x="7566620" y="5154016"/>
            <a:ext cx="32106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Images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&amp;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Labels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object 5">
            <a:extLst>
              <a:ext uri="{FF2B5EF4-FFF2-40B4-BE49-F238E27FC236}">
                <a16:creationId xmlns:a16="http://schemas.microsoft.com/office/drawing/2014/main" id="{54B42F86-FB32-4002-B5B8-1B91F9E77755}"/>
              </a:ext>
            </a:extLst>
          </p:cNvPr>
          <p:cNvSpPr/>
          <p:nvPr/>
        </p:nvSpPr>
        <p:spPr>
          <a:xfrm>
            <a:off x="5936998" y="2712366"/>
            <a:ext cx="285750" cy="1583055"/>
          </a:xfrm>
          <a:custGeom>
            <a:avLst/>
            <a:gdLst/>
            <a:ahLst/>
            <a:cxnLst/>
            <a:rect l="l" t="t" r="r" b="b"/>
            <a:pathLst>
              <a:path w="285750" h="1583054">
                <a:moveTo>
                  <a:pt x="143229" y="0"/>
                </a:moveTo>
                <a:lnTo>
                  <a:pt x="0" y="171154"/>
                </a:lnTo>
                <a:lnTo>
                  <a:pt x="114393" y="125670"/>
                </a:lnTo>
                <a:lnTo>
                  <a:pt x="111372" y="1582837"/>
                </a:lnTo>
                <a:lnTo>
                  <a:pt x="168522" y="1582955"/>
                </a:lnTo>
                <a:lnTo>
                  <a:pt x="171543" y="125789"/>
                </a:lnTo>
                <a:lnTo>
                  <a:pt x="285748" y="171745"/>
                </a:lnTo>
                <a:lnTo>
                  <a:pt x="1432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473EC1E3-EAC2-4623-B724-ED5508B1C207}"/>
              </a:ext>
            </a:extLst>
          </p:cNvPr>
          <p:cNvSpPr txBox="1"/>
          <p:nvPr/>
        </p:nvSpPr>
        <p:spPr>
          <a:xfrm>
            <a:off x="4922044" y="3298756"/>
            <a:ext cx="102602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T</a:t>
            </a:r>
            <a:r>
              <a:rPr kumimoji="0" sz="32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r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ain</a:t>
            </a:r>
          </a:p>
        </p:txBody>
      </p:sp>
      <p:sp>
        <p:nvSpPr>
          <p:cNvPr id="20" name="object 7">
            <a:extLst>
              <a:ext uri="{FF2B5EF4-FFF2-40B4-BE49-F238E27FC236}">
                <a16:creationId xmlns:a16="http://schemas.microsoft.com/office/drawing/2014/main" id="{D30E96A8-2733-41E9-8785-9A3312141EFA}"/>
              </a:ext>
            </a:extLst>
          </p:cNvPr>
          <p:cNvSpPr txBox="1"/>
          <p:nvPr/>
        </p:nvSpPr>
        <p:spPr>
          <a:xfrm>
            <a:off x="5238413" y="2056151"/>
            <a:ext cx="1677670" cy="512961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9060" marR="0" lvl="0" indent="0" algn="l" defTabSz="914400" rtl="0" eaLnBrk="1" fontAlgn="auto" latinLnBrk="0" hangingPunct="1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Classifier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FEBE0097-15E7-422F-B361-70E9A8E53FBA}"/>
              </a:ext>
            </a:extLst>
          </p:cNvPr>
          <p:cNvSpPr/>
          <p:nvPr/>
        </p:nvSpPr>
        <p:spPr>
          <a:xfrm>
            <a:off x="3387445" y="2234238"/>
            <a:ext cx="1420495" cy="285750"/>
          </a:xfrm>
          <a:custGeom>
            <a:avLst/>
            <a:gdLst/>
            <a:ahLst/>
            <a:cxnLst/>
            <a:rect l="l" t="t" r="r" b="b"/>
            <a:pathLst>
              <a:path w="1420495" h="285750">
                <a:moveTo>
                  <a:pt x="1248844" y="0"/>
                </a:moveTo>
                <a:lnTo>
                  <a:pt x="1294563" y="114300"/>
                </a:lnTo>
                <a:lnTo>
                  <a:pt x="0" y="114300"/>
                </a:lnTo>
                <a:lnTo>
                  <a:pt x="0" y="171450"/>
                </a:lnTo>
                <a:lnTo>
                  <a:pt x="1294563" y="171450"/>
                </a:lnTo>
                <a:lnTo>
                  <a:pt x="1248843" y="285750"/>
                </a:lnTo>
                <a:lnTo>
                  <a:pt x="1420293" y="142875"/>
                </a:lnTo>
                <a:lnTo>
                  <a:pt x="12488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0A75A3F7-78F7-40FB-BD8D-F5A55047E810}"/>
              </a:ext>
            </a:extLst>
          </p:cNvPr>
          <p:cNvSpPr/>
          <p:nvPr/>
        </p:nvSpPr>
        <p:spPr>
          <a:xfrm>
            <a:off x="7455693" y="2205663"/>
            <a:ext cx="1420495" cy="285750"/>
          </a:xfrm>
          <a:custGeom>
            <a:avLst/>
            <a:gdLst/>
            <a:ahLst/>
            <a:cxnLst/>
            <a:rect l="l" t="t" r="r" b="b"/>
            <a:pathLst>
              <a:path w="1420495" h="285750">
                <a:moveTo>
                  <a:pt x="1248844" y="0"/>
                </a:moveTo>
                <a:lnTo>
                  <a:pt x="1294564" y="114300"/>
                </a:lnTo>
                <a:lnTo>
                  <a:pt x="0" y="114300"/>
                </a:lnTo>
                <a:lnTo>
                  <a:pt x="0" y="171450"/>
                </a:lnTo>
                <a:lnTo>
                  <a:pt x="1294564" y="171450"/>
                </a:lnTo>
                <a:lnTo>
                  <a:pt x="1248844" y="285750"/>
                </a:lnTo>
                <a:lnTo>
                  <a:pt x="1420294" y="142875"/>
                </a:lnTo>
                <a:lnTo>
                  <a:pt x="12488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object 10">
            <a:extLst>
              <a:ext uri="{FF2B5EF4-FFF2-40B4-BE49-F238E27FC236}">
                <a16:creationId xmlns:a16="http://schemas.microsoft.com/office/drawing/2014/main" id="{D3278234-AB18-49E9-8F04-434AAA2FD49C}"/>
              </a:ext>
            </a:extLst>
          </p:cNvPr>
          <p:cNvSpPr txBox="1"/>
          <p:nvPr/>
        </p:nvSpPr>
        <p:spPr>
          <a:xfrm>
            <a:off x="9422336" y="2094221"/>
            <a:ext cx="2072005" cy="511037"/>
          </a:xfrm>
          <a:prstGeom prst="rect">
            <a:avLst/>
          </a:prstGeom>
          <a:ln w="12700">
            <a:solidFill>
              <a:srgbClr val="4472C4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0965" marR="93345" lvl="0" indent="-635" algn="ctr" defTabSz="914400" rtl="0" eaLnBrk="1" fontAlgn="auto" latinLnBrk="0" hangingPunct="1">
              <a:lnSpc>
                <a:spcPct val="100299"/>
              </a:lnSpc>
              <a:spcBef>
                <a:spcPts val="1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“Dog”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object 11">
            <a:extLst>
              <a:ext uri="{FF2B5EF4-FFF2-40B4-BE49-F238E27FC236}">
                <a16:creationId xmlns:a16="http://schemas.microsoft.com/office/drawing/2014/main" id="{352E25B9-4316-4B18-814F-A0A31BF77E18}"/>
              </a:ext>
            </a:extLst>
          </p:cNvPr>
          <p:cNvSpPr txBox="1"/>
          <p:nvPr/>
        </p:nvSpPr>
        <p:spPr>
          <a:xfrm>
            <a:off x="1120002" y="3803011"/>
            <a:ext cx="17881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Test</a:t>
            </a:r>
            <a:r>
              <a:rPr kumimoji="0" sz="3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Image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object 12">
            <a:extLst>
              <a:ext uri="{FF2B5EF4-FFF2-40B4-BE49-F238E27FC236}">
                <a16:creationId xmlns:a16="http://schemas.microsoft.com/office/drawing/2014/main" id="{D3E54252-AB6C-422B-A2B5-014B0D4C595E}"/>
              </a:ext>
            </a:extLst>
          </p:cNvPr>
          <p:cNvSpPr txBox="1"/>
          <p:nvPr/>
        </p:nvSpPr>
        <p:spPr>
          <a:xfrm>
            <a:off x="7566620" y="2488078"/>
            <a:ext cx="11874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P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r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e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d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i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ct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6" name="object 13">
            <a:extLst>
              <a:ext uri="{FF2B5EF4-FFF2-40B4-BE49-F238E27FC236}">
                <a16:creationId xmlns:a16="http://schemas.microsoft.com/office/drawing/2014/main" id="{0005AA53-6340-434E-94D4-B3993B12557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7909" y="1719001"/>
            <a:ext cx="2176462" cy="1982461"/>
          </a:xfrm>
          <a:prstGeom prst="rect">
            <a:avLst/>
          </a:prstGeom>
        </p:spPr>
      </p:pic>
      <p:sp>
        <p:nvSpPr>
          <p:cNvPr id="27" name="object 14">
            <a:extLst>
              <a:ext uri="{FF2B5EF4-FFF2-40B4-BE49-F238E27FC236}">
                <a16:creationId xmlns:a16="http://schemas.microsoft.com/office/drawing/2014/main" id="{7158ADA5-88F9-4A2A-80D5-388D1A3EB3AB}"/>
              </a:ext>
            </a:extLst>
          </p:cNvPr>
          <p:cNvSpPr txBox="1"/>
          <p:nvPr/>
        </p:nvSpPr>
        <p:spPr>
          <a:xfrm>
            <a:off x="9422335" y="3008791"/>
            <a:ext cx="2072005" cy="512961"/>
          </a:xfrm>
          <a:prstGeom prst="rect">
            <a:avLst/>
          </a:prstGeom>
          <a:solidFill>
            <a:srgbClr val="E7E6E6"/>
          </a:solidFill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0805" marR="0" lvl="0" indent="0" algn="l" defTabSz="914400" rtl="0" eaLnBrk="1" fontAlgn="auto" latinLnBrk="0" hangingPunct="1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+mn-ea"/>
                <a:sym typeface="+mn-lt"/>
              </a:rPr>
              <a:t>multi-class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9688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A9DA6-41EC-49D1-AF37-3F6D94EEB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回归任务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: 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年龄估计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 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5C37D-8910-4711-8691-91C6369E3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901605-81CC-40A6-B431-AB49F3A3E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734" y="1870470"/>
            <a:ext cx="5990531" cy="462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423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78BF-89DB-4D29-BAFD-43631D362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回归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vs. 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分类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3F52E-B14F-49B6-9C58-281293923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回归</a:t>
            </a: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: </a:t>
            </a:r>
            <a:r>
              <a:rPr lang="zh-CN" altLang="en-US" dirty="0">
                <a:cs typeface="+mn-ea"/>
                <a:sym typeface="+mn-lt"/>
              </a:rPr>
              <a:t>标签是连续的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分类</a:t>
            </a: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: </a:t>
            </a:r>
            <a:r>
              <a:rPr lang="zh-CN" altLang="en-US" dirty="0">
                <a:cs typeface="+mn-ea"/>
                <a:sym typeface="+mn-lt"/>
              </a:rPr>
              <a:t>标签是类别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3D756E-4E70-4B81-A852-DB77CDA58105}"/>
              </a:ext>
            </a:extLst>
          </p:cNvPr>
          <p:cNvGrpSpPr/>
          <p:nvPr/>
        </p:nvGrpSpPr>
        <p:grpSpPr>
          <a:xfrm>
            <a:off x="3161449" y="3429000"/>
            <a:ext cx="5869101" cy="3249988"/>
            <a:chOff x="3043197" y="3496350"/>
            <a:chExt cx="5869101" cy="3249988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9770BDD0-95C4-4A39-BB4D-73727D0D6DBA}"/>
                </a:ext>
              </a:extLst>
            </p:cNvPr>
            <p:cNvSpPr txBox="1"/>
            <p:nvPr/>
          </p:nvSpPr>
          <p:spPr>
            <a:xfrm>
              <a:off x="7069733" y="5542388"/>
              <a:ext cx="136334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-45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rPr>
                <a:t>回归</a:t>
              </a:r>
              <a:endPara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pic>
          <p:nvPicPr>
            <p:cNvPr id="5" name="object 17">
              <a:extLst>
                <a:ext uri="{FF2B5EF4-FFF2-40B4-BE49-F238E27FC236}">
                  <a16:creationId xmlns:a16="http://schemas.microsoft.com/office/drawing/2014/main" id="{007D65AC-1C0D-46F6-8FA7-2362571F247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3197" y="3516403"/>
              <a:ext cx="2509577" cy="1948295"/>
            </a:xfrm>
            <a:prstGeom prst="rect">
              <a:avLst/>
            </a:prstGeom>
          </p:spPr>
        </p:pic>
        <p:pic>
          <p:nvPicPr>
            <p:cNvPr id="6" name="object 19">
              <a:extLst>
                <a:ext uri="{FF2B5EF4-FFF2-40B4-BE49-F238E27FC236}">
                  <a16:creationId xmlns:a16="http://schemas.microsoft.com/office/drawing/2014/main" id="{1723F006-D4DB-4C9B-8EF6-F2C1AA6F058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5122" y="3496350"/>
              <a:ext cx="2587176" cy="1995936"/>
            </a:xfrm>
            <a:prstGeom prst="rect">
              <a:avLst/>
            </a:prstGeom>
          </p:spPr>
        </p:pic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EAAFD2B5-50FF-415E-8AF7-F7396F752106}"/>
                </a:ext>
              </a:extLst>
            </p:cNvPr>
            <p:cNvSpPr txBox="1"/>
            <p:nvPr/>
          </p:nvSpPr>
          <p:spPr>
            <a:xfrm>
              <a:off x="3331894" y="5555121"/>
              <a:ext cx="1932182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-1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rPr>
                <a:t>分类</a:t>
              </a:r>
              <a:endPara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D48FD1F6-8A8E-48E4-B7E0-C79B774DED06}"/>
                </a:ext>
              </a:extLst>
            </p:cNvPr>
            <p:cNvSpPr/>
            <p:nvPr/>
          </p:nvSpPr>
          <p:spPr>
            <a:xfrm>
              <a:off x="3476810" y="5813495"/>
              <a:ext cx="5064760" cy="462280"/>
            </a:xfrm>
            <a:custGeom>
              <a:avLst/>
              <a:gdLst/>
              <a:ahLst/>
              <a:cxnLst/>
              <a:rect l="l" t="t" r="r" b="b"/>
              <a:pathLst>
                <a:path w="5064760" h="462279">
                  <a:moveTo>
                    <a:pt x="0" y="0"/>
                  </a:moveTo>
                  <a:lnTo>
                    <a:pt x="1962" y="72998"/>
                  </a:lnTo>
                  <a:lnTo>
                    <a:pt x="7426" y="136396"/>
                  </a:lnTo>
                  <a:lnTo>
                    <a:pt x="15759" y="186390"/>
                  </a:lnTo>
                  <a:lnTo>
                    <a:pt x="38492" y="230950"/>
                  </a:lnTo>
                  <a:lnTo>
                    <a:pt x="2493687" y="230950"/>
                  </a:lnTo>
                  <a:lnTo>
                    <a:pt x="2505853" y="242723"/>
                  </a:lnTo>
                  <a:lnTo>
                    <a:pt x="2516420" y="275509"/>
                  </a:lnTo>
                  <a:lnTo>
                    <a:pt x="2524752" y="325503"/>
                  </a:lnTo>
                  <a:lnTo>
                    <a:pt x="2530216" y="388901"/>
                  </a:lnTo>
                  <a:lnTo>
                    <a:pt x="2532179" y="461900"/>
                  </a:lnTo>
                  <a:lnTo>
                    <a:pt x="2534141" y="388901"/>
                  </a:lnTo>
                  <a:lnTo>
                    <a:pt x="2539605" y="325503"/>
                  </a:lnTo>
                  <a:lnTo>
                    <a:pt x="2547938" y="275509"/>
                  </a:lnTo>
                  <a:lnTo>
                    <a:pt x="2558505" y="242723"/>
                  </a:lnTo>
                  <a:lnTo>
                    <a:pt x="2570672" y="230950"/>
                  </a:lnTo>
                  <a:lnTo>
                    <a:pt x="5025867" y="230950"/>
                  </a:lnTo>
                  <a:lnTo>
                    <a:pt x="5038033" y="219176"/>
                  </a:lnTo>
                  <a:lnTo>
                    <a:pt x="5048599" y="186390"/>
                  </a:lnTo>
                  <a:lnTo>
                    <a:pt x="5056932" y="136396"/>
                  </a:lnTo>
                  <a:lnTo>
                    <a:pt x="5062396" y="72998"/>
                  </a:lnTo>
                  <a:lnTo>
                    <a:pt x="5064359" y="0"/>
                  </a:lnTo>
                </a:path>
              </a:pathLst>
            </a:custGeom>
            <a:ln w="5715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object 13">
              <a:extLst>
                <a:ext uri="{FF2B5EF4-FFF2-40B4-BE49-F238E27FC236}">
                  <a16:creationId xmlns:a16="http://schemas.microsoft.com/office/drawing/2014/main" id="{4CDEABCB-772F-49A2-A9AB-FBAA896C8676}"/>
                </a:ext>
              </a:extLst>
            </p:cNvPr>
            <p:cNvSpPr txBox="1"/>
            <p:nvPr/>
          </p:nvSpPr>
          <p:spPr>
            <a:xfrm>
              <a:off x="4642780" y="6364182"/>
              <a:ext cx="2703392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cs typeface="+mn-ea"/>
                  <a:sym typeface="+mn-lt"/>
                </a:rPr>
                <a:t>有监督学习</a:t>
              </a:r>
              <a:endPara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7804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EB9E8-6613-4F7C-9790-B348DB385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分类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&amp;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回归：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目标检测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A08588-D5A5-4D36-AA70-8DE629F75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242" y="1786140"/>
            <a:ext cx="2466975" cy="18478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9828480-A8EF-4037-952D-82865E6094A1}"/>
                  </a:ext>
                </a:extLst>
              </p:cNvPr>
              <p:cNvSpPr/>
              <p:nvPr/>
            </p:nvSpPr>
            <p:spPr>
              <a:xfrm>
                <a:off x="1272556" y="3681555"/>
                <a:ext cx="261834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cs typeface="+mn-ea"/>
                          <a:sym typeface="+mn-lt"/>
                        </a:rPr>
                        <m:t>𝐶</m:t>
                      </m:r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cs typeface="+mn-ea"/>
                          <a:sym typeface="+mn-lt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kumimoji="0" lang="en-US" altLang="zh-CN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cs typeface="+mn-ea"/>
                              <a:sym typeface="+mn-lt"/>
                            </a:rPr>
                            <m:t>𝐂𝐚𝐭</m:t>
                          </m:r>
                          <m:r>
                            <a:rPr kumimoji="0" lang="en-US" altLang="zh-CN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cs typeface="+mn-ea"/>
                              <a:sym typeface="+mn-lt"/>
                            </a:rPr>
                            <m:t>, </m:t>
                          </m:r>
                          <m:r>
                            <a:rPr kumimoji="0" lang="en-US" altLang="zh-CN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cs typeface="+mn-ea"/>
                              <a:sym typeface="+mn-lt"/>
                            </a:rPr>
                            <m:t>𝐃𝐨𝐠</m:t>
                          </m:r>
                          <m:r>
                            <a:rPr kumimoji="0" lang="en-US" altLang="zh-CN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cs typeface="+mn-ea"/>
                              <a:sym typeface="+mn-lt"/>
                            </a:rPr>
                            <m:t>, </m:t>
                          </m:r>
                          <m:r>
                            <a:rPr kumimoji="0" lang="en-US" altLang="zh-CN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cs typeface="+mn-ea"/>
                              <a:sym typeface="+mn-lt"/>
                            </a:rPr>
                            <m:t>𝐃𝐮𝐜𝐤</m:t>
                          </m:r>
                        </m:e>
                      </m:d>
                    </m:oMath>
                  </m:oMathPara>
                </a14:m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9828480-A8EF-4037-952D-82865E6094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556" y="3681555"/>
                <a:ext cx="2618345" cy="400110"/>
              </a:xfrm>
              <a:prstGeom prst="rect">
                <a:avLst/>
              </a:prstGeom>
              <a:blipFill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B96EAD7F-C8A6-423C-8CC6-E281D7B57437}"/>
              </a:ext>
            </a:extLst>
          </p:cNvPr>
          <p:cNvGrpSpPr/>
          <p:nvPr/>
        </p:nvGrpSpPr>
        <p:grpSpPr>
          <a:xfrm>
            <a:off x="1361508" y="4523021"/>
            <a:ext cx="2466975" cy="1847850"/>
            <a:chOff x="7847235" y="3771106"/>
            <a:chExt cx="2466975" cy="184785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FE5A652-FCC6-490D-828A-4F397A4C4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47235" y="3771106"/>
              <a:ext cx="2466975" cy="184785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88DDFA-127F-4191-BAFF-48D751F3C445}"/>
                </a:ext>
              </a:extLst>
            </p:cNvPr>
            <p:cNvSpPr/>
            <p:nvPr/>
          </p:nvSpPr>
          <p:spPr>
            <a:xfrm>
              <a:off x="8932334" y="3839895"/>
              <a:ext cx="1185334" cy="1591734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12E039E-CD82-4762-9950-444D765018FA}"/>
                </a:ext>
              </a:extLst>
            </p:cNvPr>
            <p:cNvSpPr/>
            <p:nvPr/>
          </p:nvSpPr>
          <p:spPr>
            <a:xfrm>
              <a:off x="8001001" y="4288569"/>
              <a:ext cx="795866" cy="85069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06DBAE-34F4-4DDC-A959-68DFA6A33706}"/>
                </a:ext>
              </a:extLst>
            </p:cNvPr>
            <p:cNvSpPr/>
            <p:nvPr/>
          </p:nvSpPr>
          <p:spPr>
            <a:xfrm>
              <a:off x="8544234" y="4227286"/>
              <a:ext cx="523566" cy="69184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4AF7CF-197B-4FF8-A9CD-598044AFCB4D}"/>
                </a:ext>
              </a:extLst>
            </p:cNvPr>
            <p:cNvSpPr/>
            <p:nvPr/>
          </p:nvSpPr>
          <p:spPr>
            <a:xfrm>
              <a:off x="8855449" y="5021789"/>
              <a:ext cx="424017" cy="443707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6A58392-353A-4F01-A79A-FB30B33FE7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44667" y="1832206"/>
                <a:ext cx="7824826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3600" b="1" dirty="0">
                    <a:cs typeface="+mn-ea"/>
                    <a:sym typeface="+mn-lt"/>
                  </a:rPr>
                  <a:t>输入</a:t>
                </a:r>
                <a:r>
                  <a:rPr lang="en-US" altLang="zh-CN" sz="3600" b="1" dirty="0">
                    <a:cs typeface="+mn-ea"/>
                    <a:sym typeface="+mn-lt"/>
                  </a:rPr>
                  <a:t>: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cs typeface="+mn-ea"/>
                        <a:sym typeface="+mn-lt"/>
                      </a:rPr>
                      <m:t>𝐼</m:t>
                    </m:r>
                  </m:oMath>
                </a14:m>
                <a:r>
                  <a:rPr lang="en-US" altLang="zh-CN" sz="2800" dirty="0">
                    <a:cs typeface="+mn-ea"/>
                    <a:sym typeface="+mn-lt"/>
                  </a:rPr>
                  <a:t>: </a:t>
                </a:r>
                <a:r>
                  <a:rPr lang="zh-CN" altLang="en-US" sz="2800" dirty="0">
                    <a:cs typeface="+mn-ea"/>
                    <a:sym typeface="+mn-lt"/>
                  </a:rPr>
                  <a:t>图片</a:t>
                </a:r>
                <a:endParaRPr lang="en-US" altLang="zh-CN" sz="2800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i="1" smtClean="0">
                            <a:cs typeface="+mn-ea"/>
                            <a:sym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mtClean="0"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cs typeface="+mn-ea"/>
                            <a:sym typeface="+mn-lt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 smtClean="0"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0" i="1" smtClean="0">
                            <a:cs typeface="+mn-ea"/>
                            <a:sym typeface="+mn-lt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i="1" smtClean="0"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>
                    <a:cs typeface="+mn-ea"/>
                    <a:sym typeface="+mn-lt"/>
                  </a:rPr>
                  <a:t>: </a:t>
                </a:r>
                <a:r>
                  <a:rPr lang="zh-CN" altLang="en-US" sz="2800" dirty="0">
                    <a:cs typeface="+mn-ea"/>
                    <a:sym typeface="+mn-lt"/>
                  </a:rPr>
                  <a:t>目标物体的类别</a:t>
                </a:r>
                <a:endParaRPr lang="en-US" altLang="zh-CN" sz="2800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3600" b="1" dirty="0">
                    <a:cs typeface="+mn-ea"/>
                    <a:sym typeface="+mn-lt"/>
                  </a:rPr>
                  <a:t>输出</a:t>
                </a:r>
                <a:r>
                  <a:rPr lang="en-US" altLang="zh-CN" sz="3600" b="1" dirty="0">
                    <a:cs typeface="+mn-ea"/>
                    <a:sym typeface="+mn-lt"/>
                  </a:rPr>
                  <a:t>: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i="1" smtClean="0">
                            <a:cs typeface="+mn-ea"/>
                            <a:sym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mtClean="0"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cs typeface="+mn-ea"/>
                            <a:sym typeface="+mn-lt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 smtClean="0"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0" i="1" smtClean="0">
                            <a:cs typeface="+mn-ea"/>
                            <a:sym typeface="+mn-lt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i="1" smtClean="0"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>
                    <a:cs typeface="+mn-ea"/>
                    <a:sym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cs typeface="+mn-ea"/>
                        <a:sym typeface="+mn-lt"/>
                      </a:rPr>
                      <m:t>𝑚</m:t>
                    </m:r>
                  </m:oMath>
                </a14:m>
                <a:r>
                  <a:rPr lang="zh-CN" altLang="en-US" sz="2800" dirty="0">
                    <a:cs typeface="+mn-ea"/>
                    <a:sym typeface="+mn-lt"/>
                  </a:rPr>
                  <a:t>个检测到的目标物体矩形框</a:t>
                </a:r>
                <a:endParaRPr lang="en-US" altLang="zh-CN" sz="2800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i="1" smtClean="0">
                            <a:cs typeface="+mn-ea"/>
                            <a:sym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mtClean="0"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cs typeface="+mn-ea"/>
                            <a:sym typeface="+mn-lt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 smtClean="0"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0" i="1" smtClean="0">
                            <a:cs typeface="+mn-ea"/>
                            <a:sym typeface="+mn-lt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i="1" smtClean="0"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cs typeface="+mn-ea"/>
                                <a:sym typeface="+mn-lt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>
                    <a:cs typeface="+mn-ea"/>
                    <a:sym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cs typeface="+mn-ea"/>
                        <a:sym typeface="+mn-lt"/>
                      </a:rPr>
                      <m:t>𝑚</m:t>
                    </m:r>
                  </m:oMath>
                </a14:m>
                <a:r>
                  <a:rPr lang="zh-CN" altLang="en-US" sz="2800" dirty="0">
                    <a:cs typeface="+mn-ea"/>
                    <a:sym typeface="+mn-lt"/>
                  </a:rPr>
                  <a:t>个检测到的目标物体类别</a:t>
                </a:r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6A58392-353A-4F01-A79A-FB30B33FE7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44667" y="1832206"/>
                <a:ext cx="7824826" cy="4351338"/>
              </a:xfrm>
              <a:blipFill>
                <a:blip r:embed="rId4"/>
                <a:stretch>
                  <a:fillRect l="-2103" t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312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87B77-FC9A-4C35-846C-59D61635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聚类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: 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图像分割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03ABF-CB76-4F78-B83F-C4C091939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970" y="1548285"/>
            <a:ext cx="7440060" cy="48675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592BC2-EF3A-4962-A93D-8E7754DCD590}"/>
              </a:ext>
            </a:extLst>
          </p:cNvPr>
          <p:cNvSpPr/>
          <p:nvPr/>
        </p:nvSpPr>
        <p:spPr>
          <a:xfrm>
            <a:off x="5461001" y="6492875"/>
            <a:ext cx="67309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  <a:hlinkClick r:id="rId3"/>
              </a:rPr>
              <a:t>https://vision.in.tum.de/_media/teaching/ws2016/mlcv16/clustering.pdf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8873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45482-627E-4045-AF6F-0C0B795A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构建模型的一般流程</a:t>
            </a:r>
            <a:r>
              <a:rPr lang="zh-CN" altLang="en-US" b="1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（图像分类）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1DB40-153A-4568-B68B-E804C384E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cs typeface="+mn-ea"/>
                <a:sym typeface="+mn-lt"/>
              </a:rPr>
              <a:t>数据集构建</a:t>
            </a:r>
            <a:endParaRPr lang="en-US" altLang="zh-CN" b="1" dirty="0">
              <a:cs typeface="+mn-ea"/>
              <a:sym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cs typeface="+mn-ea"/>
                <a:sym typeface="+mn-lt"/>
              </a:rPr>
              <a:t>分类器设计与学习</a:t>
            </a:r>
            <a:endParaRPr lang="en-US" altLang="zh-CN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53699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C23F5-C738-45C1-A243-90AD1C6FF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数据集构建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42482-B872-4321-92D5-10EE07754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1532" y="1825625"/>
            <a:ext cx="5012267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训练集（</a:t>
            </a:r>
            <a:r>
              <a:rPr lang="en-US" altLang="zh-CN" dirty="0">
                <a:cs typeface="+mn-ea"/>
                <a:sym typeface="+mn-lt"/>
              </a:rPr>
              <a:t>Training Set</a:t>
            </a:r>
            <a:r>
              <a:rPr lang="zh-CN" altLang="en-US" dirty="0">
                <a:cs typeface="+mn-ea"/>
                <a:sym typeface="+mn-lt"/>
              </a:rPr>
              <a:t>）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验证集（</a:t>
            </a: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Validation Set</a:t>
            </a: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）</a:t>
            </a:r>
            <a:endParaRPr lang="en-US" altLang="zh-CN" dirty="0">
              <a:solidFill>
                <a:srgbClr val="00B0F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测试集（</a:t>
            </a:r>
            <a:r>
              <a:rPr lang="en-US" altLang="zh-CN" dirty="0">
                <a:cs typeface="+mn-ea"/>
                <a:sym typeface="+mn-lt"/>
              </a:rPr>
              <a:t>Testing Set</a:t>
            </a:r>
            <a:r>
              <a:rPr lang="zh-CN" altLang="en-US" dirty="0">
                <a:cs typeface="+mn-ea"/>
                <a:sym typeface="+mn-lt"/>
              </a:rPr>
              <a:t>）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66941-8496-435E-859B-382E2BCBD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897" y="1690688"/>
            <a:ext cx="4477459" cy="475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964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87FA5-44E6-4EB2-BCA9-0BD223B3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图像分类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3951B-19C2-4556-93C6-C3EE46A33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67E34D-5234-4927-8029-2FD8D3508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912" y="2286794"/>
            <a:ext cx="902017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61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9FCFC-94CF-4A26-914B-AE23575EA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图像分类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E9D2C-D1EA-41A8-AFD4-7D9168790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21641-A25C-4F70-97DA-C7F674379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1852613"/>
            <a:ext cx="852487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25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86BC9-40B1-4DED-A8AC-46D217999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分类器的设计与学习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F8169-BAAD-4B7C-B9D6-4532C7AB4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8B05BE-2098-4A60-8350-713E8C1D6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71" y="1690688"/>
            <a:ext cx="8686658" cy="469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66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869B9-57EA-4902-8F40-757DFE231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分类器的设计与学习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42D6E-7D03-498F-B330-F72BB1949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DB0690-8283-40AA-94B5-D119E83C01A0}"/>
              </a:ext>
            </a:extLst>
          </p:cNvPr>
          <p:cNvGrpSpPr/>
          <p:nvPr/>
        </p:nvGrpSpPr>
        <p:grpSpPr>
          <a:xfrm>
            <a:off x="1830290" y="1690688"/>
            <a:ext cx="8531419" cy="4667250"/>
            <a:chOff x="1517010" y="1825625"/>
            <a:chExt cx="7851104" cy="415729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1600B0F-F5CE-4A45-BEB2-82DFB19D5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7010" y="1834092"/>
              <a:ext cx="4720385" cy="414882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7D8DFCB-DE43-47DE-821F-CD3094B99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7238" y="1825625"/>
              <a:ext cx="3190876" cy="41488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6649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795E-8AA8-4690-AA62-6893A3120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分类器的设计与学习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6A240-DF0C-4AB6-9629-DB81C2442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1861A7-017A-448B-9A56-CAC7E6D9561D}"/>
              </a:ext>
            </a:extLst>
          </p:cNvPr>
          <p:cNvGrpSpPr/>
          <p:nvPr/>
        </p:nvGrpSpPr>
        <p:grpSpPr>
          <a:xfrm>
            <a:off x="1952769" y="1700194"/>
            <a:ext cx="7850472" cy="4736708"/>
            <a:chOff x="1952769" y="1700194"/>
            <a:chExt cx="7850472" cy="47367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4C8B0F8-882D-41AF-B733-18003E99A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30201" y="1700194"/>
              <a:ext cx="2973040" cy="473670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2BE5940-3FD7-4FDA-B5EE-7C7CDA4C5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2769" y="1825625"/>
              <a:ext cx="5057631" cy="44155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7313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54841-1065-48F6-B460-D63C7CF7C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分类器的设计与学习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811DD-014F-4483-9096-152C3B8F9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E677172-E3B5-42A2-8B32-179314B85964}"/>
              </a:ext>
            </a:extLst>
          </p:cNvPr>
          <p:cNvGrpSpPr/>
          <p:nvPr/>
        </p:nvGrpSpPr>
        <p:grpSpPr>
          <a:xfrm>
            <a:off x="2316771" y="1825625"/>
            <a:ext cx="7558458" cy="4312526"/>
            <a:chOff x="1646124" y="1864437"/>
            <a:chExt cx="7558458" cy="43125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837A83F-D931-4344-94D1-56E54206A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6124" y="1903249"/>
              <a:ext cx="4866317" cy="427371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ECD489-CDF9-4B16-A432-06F5A4757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56047" y="1864437"/>
              <a:ext cx="3048535" cy="4273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034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40F9F-D9A7-4E95-9338-753211894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分类器的设计与学习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FDCBB-F99A-41AE-B96F-EA8EBA8C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EB9FFB-CE09-4318-854F-C7F2F93B09F0}"/>
              </a:ext>
            </a:extLst>
          </p:cNvPr>
          <p:cNvGrpSpPr/>
          <p:nvPr/>
        </p:nvGrpSpPr>
        <p:grpSpPr>
          <a:xfrm>
            <a:off x="2236942" y="1741223"/>
            <a:ext cx="7718116" cy="4520142"/>
            <a:chOff x="1644543" y="1741223"/>
            <a:chExt cx="7718116" cy="452014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04B9CA8-8F3B-47D7-9B4B-B5FF3D809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4543" y="1825625"/>
              <a:ext cx="4968384" cy="425360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A4F5DD9-8887-4316-92CF-B48866A0F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4752" y="1741223"/>
              <a:ext cx="3157907" cy="45201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149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7EB81-E9BA-47E9-A32F-4043AF436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分类器的设计与学习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45ED4-3B8B-4783-97AC-1AB558F2F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95A7A2-7D5A-496C-868C-0839A7EDEAA6}"/>
              </a:ext>
            </a:extLst>
          </p:cNvPr>
          <p:cNvGrpSpPr/>
          <p:nvPr/>
        </p:nvGrpSpPr>
        <p:grpSpPr>
          <a:xfrm>
            <a:off x="1928686" y="1702436"/>
            <a:ext cx="7821255" cy="4506978"/>
            <a:chOff x="1928686" y="1702436"/>
            <a:chExt cx="7821255" cy="450697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9D50E72-184A-4D47-A8A0-DE8D3F52A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686" y="1825625"/>
              <a:ext cx="4810781" cy="438378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4919879-4F3F-44C5-934F-2C59B5217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46334" y="1702436"/>
              <a:ext cx="3103607" cy="45069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7167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41D4C-F5F8-463E-A47F-D6309D4E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常用的评价指标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BD7AB7ED-1F46-4FA4-AC64-B5CD96D420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4165032"/>
              </p:ext>
            </p:extLst>
          </p:nvPr>
        </p:nvGraphicFramePr>
        <p:xfrm>
          <a:off x="1306181" y="2316480"/>
          <a:ext cx="4595814" cy="111252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531938">
                  <a:extLst>
                    <a:ext uri="{9D8B030D-6E8A-4147-A177-3AD203B41FA5}">
                      <a16:colId xmlns:a16="http://schemas.microsoft.com/office/drawing/2014/main" val="2516611159"/>
                    </a:ext>
                  </a:extLst>
                </a:gridCol>
                <a:gridCol w="1531938">
                  <a:extLst>
                    <a:ext uri="{9D8B030D-6E8A-4147-A177-3AD203B41FA5}">
                      <a16:colId xmlns:a16="http://schemas.microsoft.com/office/drawing/2014/main" val="1527524771"/>
                    </a:ext>
                  </a:extLst>
                </a:gridCol>
                <a:gridCol w="1531938">
                  <a:extLst>
                    <a:ext uri="{9D8B030D-6E8A-4147-A177-3AD203B41FA5}">
                      <a16:colId xmlns:a16="http://schemas.microsoft.com/office/drawing/2014/main" val="7348965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True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False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993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True</a:t>
                      </a:r>
                      <a:endParaRPr lang="zh-CN" altLang="en-US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TP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FP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998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False</a:t>
                      </a:r>
                      <a:endParaRPr lang="zh-CN" altLang="en-US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FN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TN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18301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76AB29-FAB5-4F51-8660-5BD5621618F2}"/>
                  </a:ext>
                </a:extLst>
              </p:cNvPr>
              <p:cNvSpPr txBox="1"/>
              <p:nvPr/>
            </p:nvSpPr>
            <p:spPr>
              <a:xfrm>
                <a:off x="838038" y="4868105"/>
                <a:ext cx="5966120" cy="9301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cs typeface="+mn-ea"/>
                          <a:sym typeface="+mn-lt"/>
                        </a:rPr>
                        <m:t>𝐴𝑐𝑐𝑢𝑟𝑎𝑐𝑦</m:t>
                      </m:r>
                      <m:r>
                        <a:rPr lang="en-US" altLang="zh-CN" sz="3200" b="0" i="1" smtClean="0"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sz="3200" b="0" i="1" smtClean="0"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𝑇𝑃</m:t>
                          </m:r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𝑇𝑁</m:t>
                          </m:r>
                        </m:num>
                        <m:den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𝑇𝑃</m:t>
                          </m:r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𝑇𝑁</m:t>
                          </m:r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𝐹𝑃</m:t>
                          </m:r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zh-CN" altLang="en-US" sz="3200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76AB29-FAB5-4F51-8660-5BD562161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038" y="4868105"/>
                <a:ext cx="5966120" cy="9301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E756F41-7668-4921-834D-C8ED31EA5BD9}"/>
              </a:ext>
            </a:extLst>
          </p:cNvPr>
          <p:cNvSpPr/>
          <p:nvPr/>
        </p:nvSpPr>
        <p:spPr>
          <a:xfrm>
            <a:off x="3821098" y="1947148"/>
            <a:ext cx="1133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Prediction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30509E-5388-42CB-AD04-DB623A36F88F}"/>
              </a:ext>
            </a:extLst>
          </p:cNvPr>
          <p:cNvSpPr/>
          <p:nvPr/>
        </p:nvSpPr>
        <p:spPr>
          <a:xfrm>
            <a:off x="698322" y="2831284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Real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99DC36-FB7D-4D3F-957D-4EF06C64CFCD}"/>
              </a:ext>
            </a:extLst>
          </p:cNvPr>
          <p:cNvSpPr/>
          <p:nvPr/>
        </p:nvSpPr>
        <p:spPr>
          <a:xfrm>
            <a:off x="1545908" y="3656914"/>
            <a:ext cx="18902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cs typeface="+mn-ea"/>
                <a:sym typeface="+mn-lt"/>
              </a:rPr>
              <a:t>TP: </a:t>
            </a:r>
            <a:r>
              <a:rPr lang="en-US" altLang="zh-CN" dirty="0">
                <a:cs typeface="+mn-ea"/>
                <a:sym typeface="+mn-lt"/>
              </a:rPr>
              <a:t>True Positive</a:t>
            </a:r>
          </a:p>
          <a:p>
            <a:r>
              <a:rPr lang="en-US" altLang="zh-CN" b="1" dirty="0">
                <a:cs typeface="+mn-ea"/>
                <a:sym typeface="+mn-lt"/>
              </a:rPr>
              <a:t>FP: </a:t>
            </a:r>
            <a:r>
              <a:rPr lang="en-US" altLang="zh-CN" dirty="0">
                <a:cs typeface="+mn-ea"/>
                <a:sym typeface="+mn-lt"/>
              </a:rPr>
              <a:t>False Positive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583EFC-FC5D-4632-A330-E491B623E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121210"/>
              </p:ext>
            </p:extLst>
          </p:nvPr>
        </p:nvGraphicFramePr>
        <p:xfrm>
          <a:off x="7292226" y="2180154"/>
          <a:ext cx="36576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712395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62239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241252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9218412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Predict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796687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908632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Real</a:t>
                      </a:r>
                      <a:endParaRPr lang="zh-CN" altLang="en-US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88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1582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9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11245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5A5B178-9A48-4161-8CF9-E12097B19FA4}"/>
              </a:ext>
            </a:extLst>
          </p:cNvPr>
          <p:cNvSpPr txBox="1"/>
          <p:nvPr/>
        </p:nvSpPr>
        <p:spPr>
          <a:xfrm>
            <a:off x="8522144" y="1690688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Method 1</a:t>
            </a:r>
            <a:endParaRPr lang="zh-CN" altLang="en-US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E239FB8-91DB-4690-802E-3F055F8B2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419833"/>
              </p:ext>
            </p:extLst>
          </p:nvPr>
        </p:nvGraphicFramePr>
        <p:xfrm>
          <a:off x="7263063" y="4769435"/>
          <a:ext cx="36576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712395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62239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241252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9218412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Predict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796687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908632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Real</a:t>
                      </a:r>
                      <a:endParaRPr lang="zh-CN" altLang="en-US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80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10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1582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9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11245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D8FAEF8-E199-42AE-ABC1-A5C2608269A3}"/>
              </a:ext>
            </a:extLst>
          </p:cNvPr>
          <p:cNvSpPr txBox="1"/>
          <p:nvPr/>
        </p:nvSpPr>
        <p:spPr>
          <a:xfrm>
            <a:off x="8587913" y="4296902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Method 2</a:t>
            </a:r>
            <a:endParaRPr lang="zh-CN" altLang="en-US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170E93-D7E2-41BB-B35D-5A83E778C761}"/>
              </a:ext>
            </a:extLst>
          </p:cNvPr>
          <p:cNvSpPr/>
          <p:nvPr/>
        </p:nvSpPr>
        <p:spPr>
          <a:xfrm>
            <a:off x="3604088" y="3656913"/>
            <a:ext cx="2197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cs typeface="+mn-ea"/>
                <a:sym typeface="+mn-lt"/>
              </a:rPr>
              <a:t>TN: </a:t>
            </a:r>
            <a:r>
              <a:rPr lang="en-US" altLang="zh-CN" dirty="0">
                <a:cs typeface="+mn-ea"/>
                <a:sym typeface="+mn-lt"/>
              </a:rPr>
              <a:t>True Negative</a:t>
            </a:r>
          </a:p>
          <a:p>
            <a:r>
              <a:rPr lang="en-US" altLang="zh-CN" b="1" dirty="0">
                <a:cs typeface="+mn-ea"/>
                <a:sym typeface="+mn-lt"/>
              </a:rPr>
              <a:t>FN: </a:t>
            </a:r>
            <a:r>
              <a:rPr lang="en-US" altLang="zh-CN" dirty="0">
                <a:cs typeface="+mn-ea"/>
                <a:sym typeface="+mn-lt"/>
              </a:rPr>
              <a:t>False Negative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1609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41D4C-F5F8-463E-A47F-D6309D4E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常用的评价指标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BD7AB7ED-1F46-4FA4-AC64-B5CD96D420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8720313"/>
              </p:ext>
            </p:extLst>
          </p:nvPr>
        </p:nvGraphicFramePr>
        <p:xfrm>
          <a:off x="1306181" y="2316480"/>
          <a:ext cx="4595814" cy="111252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531938">
                  <a:extLst>
                    <a:ext uri="{9D8B030D-6E8A-4147-A177-3AD203B41FA5}">
                      <a16:colId xmlns:a16="http://schemas.microsoft.com/office/drawing/2014/main" val="2516611159"/>
                    </a:ext>
                  </a:extLst>
                </a:gridCol>
                <a:gridCol w="1531938">
                  <a:extLst>
                    <a:ext uri="{9D8B030D-6E8A-4147-A177-3AD203B41FA5}">
                      <a16:colId xmlns:a16="http://schemas.microsoft.com/office/drawing/2014/main" val="1527524771"/>
                    </a:ext>
                  </a:extLst>
                </a:gridCol>
                <a:gridCol w="1531938">
                  <a:extLst>
                    <a:ext uri="{9D8B030D-6E8A-4147-A177-3AD203B41FA5}">
                      <a16:colId xmlns:a16="http://schemas.microsoft.com/office/drawing/2014/main" val="7348965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True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False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993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True</a:t>
                      </a:r>
                      <a:endParaRPr lang="zh-CN" altLang="en-US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TP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FP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998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False</a:t>
                      </a:r>
                      <a:endParaRPr lang="zh-CN" altLang="en-US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FN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TN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18301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76AB29-FAB5-4F51-8660-5BD5621618F2}"/>
                  </a:ext>
                </a:extLst>
              </p:cNvPr>
              <p:cNvSpPr txBox="1"/>
              <p:nvPr/>
            </p:nvSpPr>
            <p:spPr>
              <a:xfrm>
                <a:off x="1870371" y="4580924"/>
                <a:ext cx="3901453" cy="9301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cs typeface="+mn-ea"/>
                          <a:sym typeface="+mn-lt"/>
                        </a:rPr>
                        <m:t>𝑃𝑟𝑒𝑐𝑖𝑠𝑖𝑜𝑛</m:t>
                      </m:r>
                      <m:r>
                        <a:rPr lang="en-US" altLang="zh-CN" sz="3200" b="0" i="1" smtClean="0"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sz="3200" b="0" i="1" smtClean="0"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𝑇𝑃</m:t>
                          </m:r>
                        </m:num>
                        <m:den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𝑇𝑃</m:t>
                          </m:r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zh-CN" altLang="en-US" sz="3200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76AB29-FAB5-4F51-8660-5BD562161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371" y="4580924"/>
                <a:ext cx="3901453" cy="9301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E756F41-7668-4921-834D-C8ED31EA5BD9}"/>
              </a:ext>
            </a:extLst>
          </p:cNvPr>
          <p:cNvSpPr/>
          <p:nvPr/>
        </p:nvSpPr>
        <p:spPr>
          <a:xfrm>
            <a:off x="3821098" y="1947148"/>
            <a:ext cx="1133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Prediction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30509E-5388-42CB-AD04-DB623A36F88F}"/>
              </a:ext>
            </a:extLst>
          </p:cNvPr>
          <p:cNvSpPr/>
          <p:nvPr/>
        </p:nvSpPr>
        <p:spPr>
          <a:xfrm>
            <a:off x="698322" y="2831284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Real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99DC36-FB7D-4D3F-957D-4EF06C64CFCD}"/>
              </a:ext>
            </a:extLst>
          </p:cNvPr>
          <p:cNvSpPr/>
          <p:nvPr/>
        </p:nvSpPr>
        <p:spPr>
          <a:xfrm>
            <a:off x="1545908" y="3656914"/>
            <a:ext cx="18902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cs typeface="+mn-ea"/>
                <a:sym typeface="+mn-lt"/>
              </a:rPr>
              <a:t>TP: </a:t>
            </a:r>
            <a:r>
              <a:rPr lang="en-US" altLang="zh-CN" dirty="0">
                <a:cs typeface="+mn-ea"/>
                <a:sym typeface="+mn-lt"/>
              </a:rPr>
              <a:t>True Positive</a:t>
            </a:r>
          </a:p>
          <a:p>
            <a:r>
              <a:rPr lang="en-US" altLang="zh-CN" b="1" dirty="0">
                <a:cs typeface="+mn-ea"/>
                <a:sym typeface="+mn-lt"/>
              </a:rPr>
              <a:t>FP: </a:t>
            </a:r>
            <a:r>
              <a:rPr lang="en-US" altLang="zh-CN" dirty="0">
                <a:cs typeface="+mn-ea"/>
                <a:sym typeface="+mn-lt"/>
              </a:rPr>
              <a:t>False Positive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583EFC-FC5D-4632-A330-E491B623E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174227"/>
              </p:ext>
            </p:extLst>
          </p:nvPr>
        </p:nvGraphicFramePr>
        <p:xfrm>
          <a:off x="7292226" y="2180154"/>
          <a:ext cx="36576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712395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62239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241252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9218412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Predict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796687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908632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Real</a:t>
                      </a:r>
                      <a:endParaRPr lang="zh-CN" altLang="en-US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88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1582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9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11245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5A5B178-9A48-4161-8CF9-E12097B19FA4}"/>
              </a:ext>
            </a:extLst>
          </p:cNvPr>
          <p:cNvSpPr txBox="1"/>
          <p:nvPr/>
        </p:nvSpPr>
        <p:spPr>
          <a:xfrm>
            <a:off x="8522144" y="1690688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Method 1</a:t>
            </a:r>
            <a:endParaRPr lang="zh-CN" altLang="en-US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E239FB8-91DB-4690-802E-3F055F8B2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643493"/>
              </p:ext>
            </p:extLst>
          </p:nvPr>
        </p:nvGraphicFramePr>
        <p:xfrm>
          <a:off x="7263063" y="4769435"/>
          <a:ext cx="36576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712395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62239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241252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9218412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Predict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796687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908632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Real</a:t>
                      </a:r>
                      <a:endParaRPr lang="zh-CN" altLang="en-US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80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10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1582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9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11245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D8FAEF8-E199-42AE-ABC1-A5C2608269A3}"/>
              </a:ext>
            </a:extLst>
          </p:cNvPr>
          <p:cNvSpPr txBox="1"/>
          <p:nvPr/>
        </p:nvSpPr>
        <p:spPr>
          <a:xfrm>
            <a:off x="8587913" y="4296902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Method 2</a:t>
            </a:r>
            <a:endParaRPr lang="zh-CN" altLang="en-US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170E93-D7E2-41BB-B35D-5A83E778C761}"/>
              </a:ext>
            </a:extLst>
          </p:cNvPr>
          <p:cNvSpPr/>
          <p:nvPr/>
        </p:nvSpPr>
        <p:spPr>
          <a:xfrm>
            <a:off x="3604088" y="3656913"/>
            <a:ext cx="2197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cs typeface="+mn-ea"/>
                <a:sym typeface="+mn-lt"/>
              </a:rPr>
              <a:t>TN: </a:t>
            </a:r>
            <a:r>
              <a:rPr lang="en-US" altLang="zh-CN" dirty="0">
                <a:cs typeface="+mn-ea"/>
                <a:sym typeface="+mn-lt"/>
              </a:rPr>
              <a:t>True Negative</a:t>
            </a:r>
          </a:p>
          <a:p>
            <a:r>
              <a:rPr lang="en-US" altLang="zh-CN" b="1" dirty="0">
                <a:cs typeface="+mn-ea"/>
                <a:sym typeface="+mn-lt"/>
              </a:rPr>
              <a:t>FN: </a:t>
            </a:r>
            <a:r>
              <a:rPr lang="en-US" altLang="zh-CN" dirty="0">
                <a:cs typeface="+mn-ea"/>
                <a:sym typeface="+mn-lt"/>
              </a:rPr>
              <a:t>False Negative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540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41D4C-F5F8-463E-A47F-D6309D4E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常用的评价指标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BD7AB7ED-1F46-4FA4-AC64-B5CD96D420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295340"/>
              </p:ext>
            </p:extLst>
          </p:nvPr>
        </p:nvGraphicFramePr>
        <p:xfrm>
          <a:off x="1306181" y="2316480"/>
          <a:ext cx="4595814" cy="111252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531938">
                  <a:extLst>
                    <a:ext uri="{9D8B030D-6E8A-4147-A177-3AD203B41FA5}">
                      <a16:colId xmlns:a16="http://schemas.microsoft.com/office/drawing/2014/main" val="2516611159"/>
                    </a:ext>
                  </a:extLst>
                </a:gridCol>
                <a:gridCol w="1531938">
                  <a:extLst>
                    <a:ext uri="{9D8B030D-6E8A-4147-A177-3AD203B41FA5}">
                      <a16:colId xmlns:a16="http://schemas.microsoft.com/office/drawing/2014/main" val="1527524771"/>
                    </a:ext>
                  </a:extLst>
                </a:gridCol>
                <a:gridCol w="1531938">
                  <a:extLst>
                    <a:ext uri="{9D8B030D-6E8A-4147-A177-3AD203B41FA5}">
                      <a16:colId xmlns:a16="http://schemas.microsoft.com/office/drawing/2014/main" val="7348965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True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False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993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True</a:t>
                      </a:r>
                      <a:endParaRPr lang="zh-CN" altLang="en-US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TP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FP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998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False</a:t>
                      </a:r>
                      <a:endParaRPr lang="zh-CN" altLang="en-US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FN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TN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18301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76AB29-FAB5-4F51-8660-5BD5621618F2}"/>
                  </a:ext>
                </a:extLst>
              </p:cNvPr>
              <p:cNvSpPr txBox="1"/>
              <p:nvPr/>
            </p:nvSpPr>
            <p:spPr>
              <a:xfrm>
                <a:off x="1870371" y="4580924"/>
                <a:ext cx="3351238" cy="9301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cs typeface="+mn-ea"/>
                          <a:sym typeface="+mn-lt"/>
                        </a:rPr>
                        <m:t>𝑅𝑒𝑐𝑎𝑙𝑙</m:t>
                      </m:r>
                      <m:r>
                        <a:rPr lang="en-US" altLang="zh-CN" sz="3200" b="0" i="1" smtClean="0"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sz="3200" b="0" i="1" smtClean="0"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𝑇𝑃</m:t>
                          </m:r>
                        </m:num>
                        <m:den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𝑇𝑃</m:t>
                          </m:r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cs typeface="+mn-ea"/>
                              <a:sym typeface="+mn-lt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zh-CN" altLang="en-US" sz="3200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76AB29-FAB5-4F51-8660-5BD562161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371" y="4580924"/>
                <a:ext cx="3351238" cy="9301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E756F41-7668-4921-834D-C8ED31EA5BD9}"/>
              </a:ext>
            </a:extLst>
          </p:cNvPr>
          <p:cNvSpPr/>
          <p:nvPr/>
        </p:nvSpPr>
        <p:spPr>
          <a:xfrm>
            <a:off x="3821098" y="1947148"/>
            <a:ext cx="1133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Prediction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30509E-5388-42CB-AD04-DB623A36F88F}"/>
              </a:ext>
            </a:extLst>
          </p:cNvPr>
          <p:cNvSpPr/>
          <p:nvPr/>
        </p:nvSpPr>
        <p:spPr>
          <a:xfrm>
            <a:off x="698322" y="2831284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Real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99DC36-FB7D-4D3F-957D-4EF06C64CFCD}"/>
              </a:ext>
            </a:extLst>
          </p:cNvPr>
          <p:cNvSpPr/>
          <p:nvPr/>
        </p:nvSpPr>
        <p:spPr>
          <a:xfrm>
            <a:off x="1545908" y="3656914"/>
            <a:ext cx="18902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cs typeface="+mn-ea"/>
                <a:sym typeface="+mn-lt"/>
              </a:rPr>
              <a:t>TP: </a:t>
            </a:r>
            <a:r>
              <a:rPr lang="en-US" altLang="zh-CN" dirty="0">
                <a:cs typeface="+mn-ea"/>
                <a:sym typeface="+mn-lt"/>
              </a:rPr>
              <a:t>True Positive</a:t>
            </a:r>
          </a:p>
          <a:p>
            <a:r>
              <a:rPr lang="en-US" altLang="zh-CN" b="1" dirty="0">
                <a:cs typeface="+mn-ea"/>
                <a:sym typeface="+mn-lt"/>
              </a:rPr>
              <a:t>FP: </a:t>
            </a:r>
            <a:r>
              <a:rPr lang="en-US" altLang="zh-CN" dirty="0">
                <a:cs typeface="+mn-ea"/>
                <a:sym typeface="+mn-lt"/>
              </a:rPr>
              <a:t>False Positive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583EFC-FC5D-4632-A330-E491B623E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700248"/>
              </p:ext>
            </p:extLst>
          </p:nvPr>
        </p:nvGraphicFramePr>
        <p:xfrm>
          <a:off x="7292226" y="2180154"/>
          <a:ext cx="36576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712395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62239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241252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9218412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Predict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796687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908632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Real</a:t>
                      </a:r>
                      <a:endParaRPr lang="zh-CN" altLang="en-US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88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1582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9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11245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5A5B178-9A48-4161-8CF9-E12097B19FA4}"/>
              </a:ext>
            </a:extLst>
          </p:cNvPr>
          <p:cNvSpPr txBox="1"/>
          <p:nvPr/>
        </p:nvSpPr>
        <p:spPr>
          <a:xfrm>
            <a:off x="8522144" y="1690688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Method 1</a:t>
            </a:r>
            <a:endParaRPr lang="zh-CN" altLang="en-US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E239FB8-91DB-4690-802E-3F055F8B2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149621"/>
              </p:ext>
            </p:extLst>
          </p:nvPr>
        </p:nvGraphicFramePr>
        <p:xfrm>
          <a:off x="7263063" y="4769435"/>
          <a:ext cx="36576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712395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62239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241252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9218412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Predict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796687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908632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Real</a:t>
                      </a:r>
                      <a:endParaRPr lang="zh-CN" altLang="en-US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80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10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1582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9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11245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D8FAEF8-E199-42AE-ABC1-A5C2608269A3}"/>
              </a:ext>
            </a:extLst>
          </p:cNvPr>
          <p:cNvSpPr txBox="1"/>
          <p:nvPr/>
        </p:nvSpPr>
        <p:spPr>
          <a:xfrm>
            <a:off x="8587913" y="4296902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Method 2</a:t>
            </a:r>
            <a:endParaRPr lang="zh-CN" altLang="en-US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170E93-D7E2-41BB-B35D-5A83E778C761}"/>
              </a:ext>
            </a:extLst>
          </p:cNvPr>
          <p:cNvSpPr/>
          <p:nvPr/>
        </p:nvSpPr>
        <p:spPr>
          <a:xfrm>
            <a:off x="3604088" y="3656913"/>
            <a:ext cx="2197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cs typeface="+mn-ea"/>
                <a:sym typeface="+mn-lt"/>
              </a:rPr>
              <a:t>TN: </a:t>
            </a:r>
            <a:r>
              <a:rPr lang="en-US" altLang="zh-CN" dirty="0">
                <a:cs typeface="+mn-ea"/>
                <a:sym typeface="+mn-lt"/>
              </a:rPr>
              <a:t>True Negative</a:t>
            </a:r>
          </a:p>
          <a:p>
            <a:r>
              <a:rPr lang="en-US" altLang="zh-CN" b="1" dirty="0">
                <a:cs typeface="+mn-ea"/>
                <a:sym typeface="+mn-lt"/>
              </a:rPr>
              <a:t>FN: </a:t>
            </a:r>
            <a:r>
              <a:rPr lang="en-US" altLang="zh-CN" dirty="0">
                <a:cs typeface="+mn-ea"/>
                <a:sym typeface="+mn-lt"/>
              </a:rPr>
              <a:t>False Negative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3418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0A08-CE70-451E-BAB6-E85A7B38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常用的评价指标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524D8-0D13-4CA3-9937-14D36BEA1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多分类：</a:t>
            </a:r>
            <a:r>
              <a:rPr lang="zh-CN" altLang="en-US" dirty="0">
                <a:cs typeface="+mn-ea"/>
                <a:sym typeface="+mn-lt"/>
              </a:rPr>
              <a:t>混淆矩阵</a:t>
            </a:r>
          </a:p>
        </p:txBody>
      </p:sp>
      <p:pic>
        <p:nvPicPr>
          <p:cNvPr id="4" name="Picture 2" descr="Multi-class confusion matrix where the majority of predicted scores match the actual values">
            <a:extLst>
              <a:ext uri="{FF2B5EF4-FFF2-40B4-BE49-F238E27FC236}">
                <a16:creationId xmlns:a16="http://schemas.microsoft.com/office/drawing/2014/main" id="{9354B9FB-921F-45FC-BF3B-F679363F6A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9" t="11714" r="21179" b="7767"/>
          <a:stretch/>
        </p:blipFill>
        <p:spPr bwMode="auto">
          <a:xfrm>
            <a:off x="1244600" y="2527034"/>
            <a:ext cx="4055533" cy="4097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Multi-class confusion matrix where the prediction for lion is often a monkey. In this case, the model is on the class lion">
            <a:extLst>
              <a:ext uri="{FF2B5EF4-FFF2-40B4-BE49-F238E27FC236}">
                <a16:creationId xmlns:a16="http://schemas.microsoft.com/office/drawing/2014/main" id="{6CA701F8-F39D-49BB-93A8-4FE8245BC7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3" t="11541" r="21079" b="8137"/>
          <a:stretch/>
        </p:blipFill>
        <p:spPr bwMode="auto">
          <a:xfrm>
            <a:off x="6587065" y="2472001"/>
            <a:ext cx="4191001" cy="4207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028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169E8-1CE1-46FA-B9D8-7BE10A59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常用评价指标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4069-252B-4716-8A23-0B5BF40B6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Top-1</a:t>
            </a:r>
            <a:r>
              <a:rPr lang="zh-CN" altLang="en-US" b="1" dirty="0">
                <a:cs typeface="+mn-ea"/>
                <a:sym typeface="+mn-lt"/>
              </a:rPr>
              <a:t>指标与</a:t>
            </a:r>
            <a:r>
              <a:rPr lang="en-US" altLang="zh-CN" b="1" dirty="0">
                <a:cs typeface="+mn-ea"/>
                <a:sym typeface="+mn-lt"/>
              </a:rPr>
              <a:t>Top-5</a:t>
            </a:r>
            <a:r>
              <a:rPr lang="zh-CN" altLang="en-US" b="1" dirty="0">
                <a:cs typeface="+mn-ea"/>
                <a:sym typeface="+mn-lt"/>
              </a:rPr>
              <a:t>指标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9B4C9E-1C8A-47AA-B12A-CB3D0D2965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34" t="13072" r="4589" b="8496"/>
          <a:stretch/>
        </p:blipFill>
        <p:spPr>
          <a:xfrm>
            <a:off x="1498600" y="2541559"/>
            <a:ext cx="9194800" cy="352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550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xunvevw">
      <a:majorFont>
        <a:latin typeface="Times New Roman" panose="020F0302020204030204"/>
        <a:ea typeface="宋体"/>
        <a:cs typeface=""/>
      </a:majorFont>
      <a:minorFont>
        <a:latin typeface="Times New Roman" panose="020F0502020204030204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566</Words>
  <Application>Microsoft Office PowerPoint</Application>
  <PresentationFormat>Widescreen</PresentationFormat>
  <Paragraphs>168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等线</vt:lpstr>
      <vt:lpstr>宋体</vt:lpstr>
      <vt:lpstr>Arial</vt:lpstr>
      <vt:lpstr>Times New Roman</vt:lpstr>
      <vt:lpstr>Office Theme</vt:lpstr>
      <vt:lpstr>4. 机器学习基础</vt:lpstr>
      <vt:lpstr>机器学习任务</vt:lpstr>
      <vt:lpstr>分类任务：图像分类</vt:lpstr>
      <vt:lpstr>回归任务: 年龄估计 </vt:lpstr>
      <vt:lpstr>回归 vs. 分类</vt:lpstr>
      <vt:lpstr>分类&amp;回归：目标检测</vt:lpstr>
      <vt:lpstr>聚类: 图像分割</vt:lpstr>
      <vt:lpstr>构建模型的一般流程（图像分类）</vt:lpstr>
      <vt:lpstr>数据集构建</vt:lpstr>
      <vt:lpstr>图像分类</vt:lpstr>
      <vt:lpstr>图像分类</vt:lpstr>
      <vt:lpstr>分类器的设计与学习</vt:lpstr>
      <vt:lpstr>分类器的设计与学习</vt:lpstr>
      <vt:lpstr>分类器的设计与学习</vt:lpstr>
      <vt:lpstr>分类器的设计与学习</vt:lpstr>
      <vt:lpstr>分类器的设计与学习</vt:lpstr>
      <vt:lpstr>分类器的设计与学习</vt:lpstr>
      <vt:lpstr>常用的评价指标</vt:lpstr>
      <vt:lpstr>常用的评价指标</vt:lpstr>
      <vt:lpstr>常用的评价指标</vt:lpstr>
      <vt:lpstr>常用的评价指标</vt:lpstr>
      <vt:lpstr>常用评价指标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机器学习基础</dc:title>
  <dc:creator>Luo Zhiming</dc:creator>
  <cp:lastModifiedBy>Luo Zhiming</cp:lastModifiedBy>
  <cp:revision>3</cp:revision>
  <dcterms:created xsi:type="dcterms:W3CDTF">2023-02-27T09:35:11Z</dcterms:created>
  <dcterms:modified xsi:type="dcterms:W3CDTF">2023-02-27T11:21:58Z</dcterms:modified>
</cp:coreProperties>
</file>