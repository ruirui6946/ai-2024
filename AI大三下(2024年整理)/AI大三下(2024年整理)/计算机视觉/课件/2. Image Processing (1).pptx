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56" r:id="rId2"/>
    <p:sldId id="278" r:id="rId3"/>
    <p:sldId id="258" r:id="rId4"/>
    <p:sldId id="298" r:id="rId5"/>
    <p:sldId id="262" r:id="rId6"/>
    <p:sldId id="347" r:id="rId7"/>
    <p:sldId id="257" r:id="rId8"/>
    <p:sldId id="290" r:id="rId9"/>
    <p:sldId id="291" r:id="rId10"/>
    <p:sldId id="259" r:id="rId11"/>
    <p:sldId id="260" r:id="rId12"/>
    <p:sldId id="261" r:id="rId13"/>
    <p:sldId id="277" r:id="rId14"/>
    <p:sldId id="264" r:id="rId15"/>
    <p:sldId id="280" r:id="rId16"/>
    <p:sldId id="282" r:id="rId17"/>
    <p:sldId id="281" r:id="rId18"/>
    <p:sldId id="283" r:id="rId19"/>
    <p:sldId id="348" r:id="rId20"/>
    <p:sldId id="284" r:id="rId21"/>
    <p:sldId id="286" r:id="rId22"/>
    <p:sldId id="287" r:id="rId23"/>
    <p:sldId id="288" r:id="rId24"/>
    <p:sldId id="289" r:id="rId25"/>
    <p:sldId id="267" r:id="rId26"/>
    <p:sldId id="285" r:id="rId27"/>
    <p:sldId id="346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274" r:id="rId38"/>
    <p:sldId id="275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279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8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90" y="5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DC2822-3CC5-4AF9-9759-7517DBE23A29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2FD34-9389-41BC-A098-70A838D041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8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52FD34-9389-41BC-A098-70A838D041F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640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AEDD3-104D-42AC-9B71-4CE82319EF3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823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AEDD3-104D-42AC-9B71-4CE82319EF36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594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AEDD3-104D-42AC-9B71-4CE82319EF36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890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AEDD3-104D-42AC-9B71-4CE82319EF36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611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0AEDD3-104D-42AC-9B71-4CE82319EF36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848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A546-FA7C-4AC5-91F4-7FA510125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C5720-AC7F-49D5-89D9-C380D5FD2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BA0B-39D9-4002-A4A0-BE05D2A1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2A078-E7F1-48F7-B10D-4AFBBC57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7243A-E2DB-4921-8515-EE752D51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69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EB206-197D-4364-9949-D549E604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16D36-D562-4DC9-A14F-000F25877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833C-9E58-42C0-86BE-D18D783AF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3F90F-897D-4EB5-AC66-34B51E306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F76A6-4676-4F6E-B255-E5983CA4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501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A0BDC-B0D7-47F6-AC44-0C9B0735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79ADD-AAB5-49CB-80F9-49131E3F8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69FC1-C6D4-4C5C-8C30-48C826A1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3429-E72B-4B61-ACAF-5F4D9F2B0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CF29B-B9CA-4C0C-9768-1E551F64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0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63133-7832-436C-836F-90B7F05C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91A82-4123-48AD-8FE3-6F79F9781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233FC-8DB2-4FD1-959E-99B969366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95D9E-6D6D-4317-A4FF-B1450BE10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E7391-4FD2-4F90-AB20-E26075EF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07DB4-1443-417A-8D05-E0294479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153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BDDA-DA17-4AAE-A31E-8CDA30A4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FE9BB-E683-4A5A-A2AD-CB013F2E9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A1E88-1F56-45A9-B537-F048C7889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7A58A5-36DF-4A87-BA29-6FD6FDFB3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05334-29B9-4DDE-9E76-F0A538AC52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4D563D-8C63-45B6-9966-D890769A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E17D2-8EC5-4ED2-B453-E1705E4E4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A658FE-FFB5-40AD-BE99-AC2BA21F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545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C3D3-2FEF-4ABB-B5EC-93C6D31B4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FE772-6686-491A-81C8-2A65BBBA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8C7CF-829E-44EE-BB5B-104C5D40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48E2E-81DD-4765-BAE8-2ED02AF7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39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83848-F181-45EE-9E7C-B59F6BA5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CEB1B5-11D0-48A4-8EA2-F88BF3D5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DD5F0-DCCC-4EE4-8DBC-11335EA7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58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AD49-A90C-4C07-9B23-B7C648420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46E1E-0417-4474-950F-FDCAA79EC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2230B-3993-4B9C-BEF9-8607943F2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3457B-4538-4DFE-BE5B-0AE1D8438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750AD-2A4C-4C7C-AA6B-E592E94B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01338-572E-4AF0-AD70-F8CF7785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025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558C-8D5F-4DCE-B2C5-97E5361C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681F6-8190-4DC4-ACB8-D228493A4D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BFBF9-E499-46E7-837C-879BFD570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F39-B88A-4DFC-8CE8-077B119D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77AA2-C372-4DD8-8A02-52A3050D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AC232-1053-442A-8651-B2DA184B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37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3200-A522-440E-9EF4-A40A22DDF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44198-9F48-4B48-A2F8-7215D7D8A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99084-B9FE-4FEF-90E5-A048D14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CE4F7-2F27-49E7-B57C-095E085D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97976-4380-4AB6-B622-05E3BAB4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030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E371A4-C493-44CC-AB72-B5FD2BB20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E0B19-B658-4A43-B0D8-30A05077B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87F5E-2F1C-451B-B132-F90E71DA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99ED2-8054-4AE6-B77A-1E3A4BCD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07781-E6C5-4A0E-985A-ADBA9561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5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BB30D-BD59-4B99-91E2-C896F05A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5536A-CF50-414F-ACD5-DA36E4748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D5CD5-30C3-466C-A7C4-90203B6D3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2C8B7-3277-4706-ACAD-ED3C5C8AF387}" type="datetimeFigureOut">
              <a:rPr lang="zh-CN" altLang="en-US" smtClean="0"/>
              <a:t>2023-3-8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C4EBF-B7C5-4ECC-B2FC-28646082E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CB750-09A6-48FC-BCA6-54CE27B47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B769D-853E-49DF-B0B0-8AFDE35F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41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cv.org/3.4/d4/d1b/tutorial_histogram_equalization.html" TargetMode="Externa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6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NUL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16C8-07F3-4373-9CF3-976252073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2. 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数字图像处理基础（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）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B6709-D4D4-4325-8348-75D5312FD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6782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E697-EC4A-4ECB-B754-FAE66799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586CA-E1BE-4A09-BF78-944625C5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1"/>
                </a:solidFill>
                <a:cs typeface="+mn-ea"/>
                <a:sym typeface="+mn-lt"/>
              </a:rPr>
              <a:t>数字图像与数字图像处理</a:t>
            </a:r>
            <a:endParaRPr lang="en-US" altLang="zh-CN" dirty="0">
              <a:solidFill>
                <a:schemeClr val="accent1"/>
              </a:solidFill>
              <a:cs typeface="+mn-ea"/>
              <a:sym typeface="+mn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图像感知与获取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图像类型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灰度变换与空间滤波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01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CACC-6F28-4336-8339-11D88F6DA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、数字图像与数字图像处理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360A0E-859C-4F02-BDDD-E7EECA5EE0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b="1" dirty="0">
                    <a:solidFill>
                      <a:srgbClr val="0070C0"/>
                    </a:solidFill>
                    <a:cs typeface="+mn-ea"/>
                    <a:sym typeface="+mn-lt"/>
                  </a:rPr>
                  <a:t>数字图像 </a:t>
                </a:r>
                <a:r>
                  <a:rPr lang="en-US" altLang="zh-CN" b="1" dirty="0">
                    <a:solidFill>
                      <a:srgbClr val="0070C0"/>
                    </a:solidFill>
                    <a:cs typeface="+mn-ea"/>
                    <a:sym typeface="+mn-lt"/>
                  </a:rPr>
                  <a:t>(digital image)</a:t>
                </a:r>
                <a:r>
                  <a:rPr lang="zh-CN" altLang="en-US" b="1" dirty="0">
                    <a:solidFill>
                      <a:srgbClr val="0070C0"/>
                    </a:solidFill>
                    <a:cs typeface="+mn-ea"/>
                    <a:sym typeface="+mn-lt"/>
                  </a:rPr>
                  <a:t>：</a:t>
                </a:r>
                <a:endParaRPr lang="en-US" altLang="zh-CN" b="1" dirty="0">
                  <a:solidFill>
                    <a:srgbClr val="0070C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dirty="0">
                    <a:cs typeface="+mn-ea"/>
                    <a:sym typeface="+mn-lt"/>
                  </a:rPr>
                  <a:t>空间（平面）坐标：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dirty="0">
                    <a:cs typeface="+mn-ea"/>
                    <a:sym typeface="+mn-lt"/>
                  </a:rPr>
                  <a:t>强度或灰度：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dirty="0">
                    <a:cs typeface="+mn-ea"/>
                    <a:sym typeface="+mn-lt"/>
                  </a:rPr>
                  <a:t>有限的离散量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b="1" dirty="0">
                    <a:solidFill>
                      <a:srgbClr val="0070C0"/>
                    </a:solidFill>
                    <a:cs typeface="+mn-ea"/>
                    <a:sym typeface="+mn-lt"/>
                  </a:rPr>
                  <a:t>数字图像处理 </a:t>
                </a:r>
                <a:r>
                  <a:rPr lang="en-US" altLang="zh-CN" b="1" dirty="0">
                    <a:solidFill>
                      <a:srgbClr val="0070C0"/>
                    </a:solidFill>
                    <a:cs typeface="+mn-ea"/>
                    <a:sym typeface="+mn-lt"/>
                  </a:rPr>
                  <a:t>(digital image processing)</a:t>
                </a:r>
                <a:r>
                  <a:rPr lang="zh-CN" altLang="en-US" b="1" dirty="0">
                    <a:solidFill>
                      <a:srgbClr val="0070C0"/>
                    </a:solidFill>
                    <a:cs typeface="+mn-ea"/>
                    <a:sym typeface="+mn-lt"/>
                  </a:rPr>
                  <a:t>：</a:t>
                </a:r>
                <a:r>
                  <a:rPr lang="zh-CN" altLang="en-US" sz="2400" dirty="0">
                    <a:cs typeface="+mn-ea"/>
                    <a:sym typeface="+mn-lt"/>
                  </a:rPr>
                  <a:t>用计算机技术或其他数字技术，对图像信息进行某些数学运算和各种加工处理。</a:t>
                </a:r>
                <a:endParaRPr lang="en-US" altLang="zh-CN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360A0E-859C-4F02-BDDD-E7EECA5EE0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2088" t="-280" r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anny1.jpg">
            <a:extLst>
              <a:ext uri="{FF2B5EF4-FFF2-40B4-BE49-F238E27FC236}">
                <a16:creationId xmlns:a16="http://schemas.microsoft.com/office/drawing/2014/main" id="{7E95383B-02B7-4765-BA24-1D4F9F166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974" y="4326466"/>
            <a:ext cx="5798343" cy="193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E3465E-E810-4656-AA96-7A9AFD1AD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092" y="1690688"/>
            <a:ext cx="4740106" cy="240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7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FA527-B5BE-439D-8EAC-69E3D2AC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1</a:t>
            </a:r>
            <a:r>
              <a:rPr lang="zh-CN" altLang="en-US" b="1" dirty="0">
                <a:cs typeface="+mn-ea"/>
                <a:sym typeface="+mn-lt"/>
              </a:rPr>
              <a:t>、数字图像与数字图像处理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FC0F1-B2B0-49FC-8E06-4245206E8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最早的电子图像：</a:t>
            </a:r>
            <a:r>
              <a:rPr lang="en-US" altLang="zh-CN" dirty="0"/>
              <a:t>1957</a:t>
            </a:r>
            <a:r>
              <a:rPr lang="zh-CN" altLang="en-US" dirty="0"/>
              <a:t>年，美国国家标准局的工程师</a:t>
            </a:r>
            <a:r>
              <a:rPr lang="en-US" altLang="zh-CN" dirty="0"/>
              <a:t>Kirsch</a:t>
            </a:r>
            <a:r>
              <a:rPr lang="zh-CN" altLang="en-US" dirty="0"/>
              <a:t>利用标准电子自动计算机（</a:t>
            </a:r>
            <a:r>
              <a:rPr lang="en-US" altLang="zh-CN" dirty="0"/>
              <a:t>SEAC</a:t>
            </a:r>
            <a:r>
              <a:rPr lang="zh-CN" altLang="en-US" dirty="0"/>
              <a:t>）扫描了世界上第一张电子图片</a:t>
            </a:r>
            <a:endParaRPr lang="en-US" altLang="zh-CN" dirty="0"/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他扫描了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个月大的儿子的照片，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2*2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英寸，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176*176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像素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1D91E9-BF57-47E9-9ABA-43A4B1D3F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833" y="3253720"/>
            <a:ext cx="8678333" cy="340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1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9D5E7-E67A-4FD1-A64B-6CE7BA50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1</a:t>
            </a:r>
            <a:r>
              <a:rPr lang="zh-CN" altLang="en-US" b="1" dirty="0">
                <a:cs typeface="+mn-ea"/>
                <a:sym typeface="+mn-lt"/>
              </a:rPr>
              <a:t>、数字图像与数字图像处理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74E68-FB73-49D8-9729-ED3DAE4A0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0070C0"/>
                </a:solidFill>
              </a:rPr>
              <a:t>基本特征（狭义）：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输入和输出都是图像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56DFD-A504-48F9-B4BD-14DAD6457D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7" t="11140" r="2015" b="6861"/>
          <a:stretch/>
        </p:blipFill>
        <p:spPr>
          <a:xfrm>
            <a:off x="176177" y="3475390"/>
            <a:ext cx="5842001" cy="1807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7462D7-BA24-444C-BFBD-57A8374B4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612" y="3038797"/>
            <a:ext cx="5118253" cy="2433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5DEB59-C8CD-48E5-B1E5-DC2BDFCA15D5}"/>
              </a:ext>
            </a:extLst>
          </p:cNvPr>
          <p:cNvSpPr txBox="1"/>
          <p:nvPr/>
        </p:nvSpPr>
        <p:spPr>
          <a:xfrm>
            <a:off x="8091055" y="5635096"/>
            <a:ext cx="1627369" cy="559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B0F0"/>
                </a:solidFill>
              </a:rPr>
              <a:t>图像压缩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0648D6-D808-443C-98D4-915713B5A8F3}"/>
              </a:ext>
            </a:extLst>
          </p:cNvPr>
          <p:cNvGrpSpPr/>
          <p:nvPr/>
        </p:nvGrpSpPr>
        <p:grpSpPr>
          <a:xfrm>
            <a:off x="6096000" y="2055887"/>
            <a:ext cx="5785910" cy="626710"/>
            <a:chOff x="6198076" y="1680020"/>
            <a:chExt cx="5785910" cy="6267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9BBDF45-C03B-4A83-9D7F-E35FFC0B73AB}"/>
                </a:ext>
              </a:extLst>
            </p:cNvPr>
            <p:cNvSpPr txBox="1"/>
            <p:nvPr/>
          </p:nvSpPr>
          <p:spPr>
            <a:xfrm>
              <a:off x="6198076" y="1692459"/>
              <a:ext cx="1085554" cy="559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002060"/>
                  </a:solidFill>
                </a:rPr>
                <a:t>图像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1</a:t>
              </a:r>
              <a:endParaRPr lang="zh-CN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4927A6-DD74-4E8C-B48E-D663F6132DDD}"/>
                </a:ext>
              </a:extLst>
            </p:cNvPr>
            <p:cNvSpPr txBox="1"/>
            <p:nvPr/>
          </p:nvSpPr>
          <p:spPr>
            <a:xfrm>
              <a:off x="7772457" y="1680020"/>
              <a:ext cx="2646878" cy="62671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solidFill>
                    <a:schemeClr val="bg1"/>
                  </a:solidFill>
                </a:rPr>
                <a:t>图像分析系统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9E8DF4-9A10-480B-9677-9879DD3464A1}"/>
                </a:ext>
              </a:extLst>
            </p:cNvPr>
            <p:cNvSpPr txBox="1"/>
            <p:nvPr/>
          </p:nvSpPr>
          <p:spPr>
            <a:xfrm>
              <a:off x="10898432" y="1692459"/>
              <a:ext cx="1085554" cy="559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solidFill>
                    <a:srgbClr val="002060"/>
                  </a:solidFill>
                </a:rPr>
                <a:t>图像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2</a:t>
              </a:r>
              <a:endParaRPr lang="zh-CN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AE1EE68F-1D70-4598-B30D-6514488AEC2E}"/>
                </a:ext>
              </a:extLst>
            </p:cNvPr>
            <p:cNvSpPr/>
            <p:nvPr/>
          </p:nvSpPr>
          <p:spPr>
            <a:xfrm>
              <a:off x="7226327" y="1847893"/>
              <a:ext cx="486697" cy="24902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4E5E547A-DE77-47F4-84D9-3B94C9B28A87}"/>
                </a:ext>
              </a:extLst>
            </p:cNvPr>
            <p:cNvSpPr/>
            <p:nvPr/>
          </p:nvSpPr>
          <p:spPr>
            <a:xfrm>
              <a:off x="10478768" y="1847893"/>
              <a:ext cx="486697" cy="249028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BCF30CA-850E-40AC-A9F4-AB468F1BC5B3}"/>
              </a:ext>
            </a:extLst>
          </p:cNvPr>
          <p:cNvSpPr txBox="1"/>
          <p:nvPr/>
        </p:nvSpPr>
        <p:spPr>
          <a:xfrm>
            <a:off x="2124758" y="5628919"/>
            <a:ext cx="1627369" cy="559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B0F0"/>
                </a:solidFill>
              </a:rPr>
              <a:t>图像增强</a:t>
            </a:r>
          </a:p>
        </p:txBody>
      </p:sp>
    </p:spTree>
    <p:extLst>
      <p:ext uri="{BB962C8B-B14F-4D97-AF65-F5344CB8AC3E}">
        <p14:creationId xmlns:p14="http://schemas.microsoft.com/office/powerpoint/2010/main" val="80990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E697-EC4A-4ECB-B754-FAE66799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586CA-E1BE-4A09-BF78-944625C5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数字图像与数字图像处理</a:t>
            </a:r>
            <a:endParaRPr lang="en-US" altLang="zh-CN" dirty="0">
              <a:cs typeface="+mn-ea"/>
              <a:sym typeface="+mn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1"/>
                </a:solidFill>
                <a:cs typeface="+mn-ea"/>
                <a:sym typeface="+mn-lt"/>
              </a:rPr>
              <a:t>图像感知与获取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图像类型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灰度变换与空间滤波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5739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E24D6-3E77-4390-9E1E-31ADFCF3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、图像感知与获取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16738-72FE-453E-81FF-9C38B775F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cs typeface="+mn-ea"/>
                <a:sym typeface="+mn-lt"/>
              </a:rPr>
              <a:t>在视觉图像处理应用中，最主要的图像来源于</a:t>
            </a:r>
            <a:r>
              <a:rPr lang="zh-CN" altLang="en-US" b="1" dirty="0">
                <a:solidFill>
                  <a:schemeClr val="accent1"/>
                </a:solidFill>
                <a:cs typeface="+mn-ea"/>
                <a:sym typeface="+mn-lt"/>
              </a:rPr>
              <a:t>电磁辐射成像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EFA21-8D08-48CA-AFC0-DF93D07F8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823" y="2601756"/>
            <a:ext cx="6474354" cy="389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40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D58A-BCB6-4271-A497-14D3CB5D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zh-CN" altLang="en-US" b="1" dirty="0">
                <a:cs typeface="+mn-ea"/>
                <a:sym typeface="+mn-lt"/>
              </a:rPr>
              <a:t>、图像感知与获取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C5A22-41E0-4587-B3BF-892204C7F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98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可见光谱</a:t>
            </a:r>
            <a:endParaRPr lang="en-US" altLang="zh-CN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仅有单一波长成份的光称为</a:t>
            </a:r>
            <a:r>
              <a:rPr lang="zh-CN" altLang="en-US" b="1" dirty="0">
                <a:solidFill>
                  <a:schemeClr val="accent2"/>
                </a:solidFill>
              </a:rPr>
              <a:t>单色光</a:t>
            </a:r>
            <a:r>
              <a:rPr lang="zh-CN" altLang="en-US" dirty="0"/>
              <a:t>，含有两种以上波长成份的光称为</a:t>
            </a:r>
            <a:r>
              <a:rPr lang="zh-CN" altLang="en-US" b="1" dirty="0">
                <a:solidFill>
                  <a:schemeClr val="accent2"/>
                </a:solidFill>
              </a:rPr>
              <a:t>复合光</a:t>
            </a:r>
            <a:r>
              <a:rPr lang="en-US" altLang="zh-CN" dirty="0"/>
              <a:t>,</a:t>
            </a:r>
            <a:r>
              <a:rPr lang="zh-CN" altLang="en-US" dirty="0"/>
              <a:t>单色光和复合光都是有色彩的光。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没有色彩的光称为</a:t>
            </a:r>
            <a:r>
              <a:rPr lang="zh-CN" altLang="en-US" b="1" dirty="0">
                <a:solidFill>
                  <a:schemeClr val="accent2"/>
                </a:solidFill>
              </a:rPr>
              <a:t>消色光</a:t>
            </a:r>
            <a:r>
              <a:rPr lang="zh-CN" altLang="en-US" dirty="0"/>
              <a:t>。消色光就是观察者看到的黑白电视的光，所以消色指白色、黑色和各种深浅程度不同的灰色。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消色光的属性仅有</a:t>
            </a:r>
            <a:r>
              <a:rPr lang="zh-CN" altLang="en-US" b="1" dirty="0">
                <a:solidFill>
                  <a:schemeClr val="accent2"/>
                </a:solidFill>
              </a:rPr>
              <a:t>亮度或强度</a:t>
            </a:r>
            <a:r>
              <a:rPr lang="zh-CN" altLang="en-US" dirty="0"/>
              <a:t>，通常用</a:t>
            </a:r>
            <a:r>
              <a:rPr lang="zh-CN" altLang="en-US" b="1" dirty="0">
                <a:solidFill>
                  <a:schemeClr val="accent2"/>
                </a:solidFill>
              </a:rPr>
              <a:t>灰度级</a:t>
            </a:r>
            <a:r>
              <a:rPr lang="en-US" altLang="zh-CN" b="1" dirty="0">
                <a:solidFill>
                  <a:schemeClr val="accent2"/>
                </a:solidFill>
              </a:rPr>
              <a:t>(gray level)</a:t>
            </a:r>
            <a:r>
              <a:rPr lang="zh-CN" altLang="en-US" dirty="0"/>
              <a:t>描述这种光的强度。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8F18B-863B-423F-8EB5-F190B21D84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4" r="3027"/>
          <a:stretch/>
        </p:blipFill>
        <p:spPr>
          <a:xfrm>
            <a:off x="6883400" y="2627577"/>
            <a:ext cx="5308600" cy="311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2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57B1-813B-4B8A-88AA-E32A26D8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zh-CN" altLang="en-US" b="1" dirty="0">
                <a:cs typeface="+mn-ea"/>
                <a:sym typeface="+mn-lt"/>
              </a:rPr>
              <a:t>、图像感知与获取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FCA3-DC40-40C6-A625-F0D489C69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096BE-43B2-473B-91AA-CEE2EA3500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8" t="5074" r="1273" b="2079"/>
          <a:stretch/>
        </p:blipFill>
        <p:spPr>
          <a:xfrm>
            <a:off x="321732" y="1773413"/>
            <a:ext cx="6155268" cy="4640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71E7EF-06C8-4E4F-BB34-04CCE2BA4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122" y="1917992"/>
            <a:ext cx="5146146" cy="416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80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232FB-55A0-440A-9D5C-3DB90497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zh-CN" altLang="en-US" b="1" dirty="0">
                <a:cs typeface="+mn-ea"/>
                <a:sym typeface="+mn-lt"/>
              </a:rPr>
              <a:t>、图像感知与获取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D560-33D6-433B-8E79-237EB4E9AB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90488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b="1" dirty="0">
                    <a:solidFill>
                      <a:schemeClr val="accent1"/>
                    </a:solidFill>
                  </a:rPr>
                  <a:t>简单的成像模型：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入射分量（光源）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：反射分量（物体）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9D560-33D6-433B-8E79-237EB4E9A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90488" cy="4351338"/>
              </a:xfrm>
              <a:blipFill>
                <a:blip r:embed="rId2"/>
                <a:stretch>
                  <a:fillRect l="-2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B03953D-F498-4DAD-B5CD-201BEBB0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313" y="2190585"/>
            <a:ext cx="5639220" cy="374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1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CA812-BDC9-479F-86EE-AA521FB4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zh-CN" altLang="en-US" b="1" dirty="0">
                <a:cs typeface="+mn-ea"/>
                <a:sym typeface="+mn-lt"/>
              </a:rPr>
              <a:t>、图像感知与获取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E0E2D-8A4F-422F-883E-F70E43300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70C0"/>
                </a:solidFill>
              </a:rPr>
              <a:t>图像数字化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将代表图像的连续信号</a:t>
            </a:r>
            <a:r>
              <a:rPr lang="zh-CN" altLang="en-US" dirty="0">
                <a:solidFill>
                  <a:schemeClr val="accent1"/>
                </a:solidFill>
              </a:rPr>
              <a:t>（模拟、连续）</a:t>
            </a:r>
            <a:r>
              <a:rPr lang="zh-CN" altLang="en-US" dirty="0"/>
              <a:t>转换为离散信号</a:t>
            </a:r>
            <a:r>
              <a:rPr lang="zh-CN" altLang="en-US" dirty="0">
                <a:solidFill>
                  <a:schemeClr val="accent1"/>
                </a:solidFill>
              </a:rPr>
              <a:t>（数字）</a:t>
            </a:r>
            <a:r>
              <a:rPr lang="zh-CN" altLang="en-US" dirty="0"/>
              <a:t>的过程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/>
              <a:t>步骤：</a:t>
            </a:r>
            <a:r>
              <a:rPr lang="zh-CN" altLang="en-US" dirty="0"/>
              <a:t>采样和量化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主要技术</a:t>
            </a:r>
            <a:endParaRPr lang="en-US" altLang="zh-CN" dirty="0"/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zh-CN" altLang="en-US" b="1" dirty="0"/>
              <a:t>成像：</a:t>
            </a:r>
            <a:r>
              <a:rPr lang="zh-CN" altLang="en-US" dirty="0"/>
              <a:t>光信号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电信号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zh-CN" altLang="en-US" b="1" dirty="0">
                <a:sym typeface="Wingdings" panose="05000000000000000000" pitchFamily="2" charset="2"/>
              </a:rPr>
              <a:t>模数转换 </a:t>
            </a:r>
            <a:r>
              <a:rPr lang="en-US" altLang="zh-CN" dirty="0">
                <a:sym typeface="Wingdings" panose="05000000000000000000" pitchFamily="2" charset="2"/>
              </a:rPr>
              <a:t>(A/D Converter)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70C0"/>
                </a:solidFill>
              </a:rPr>
              <a:t>数字化（采集）设备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手机、扫描仪、数码相机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173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8E39-FD3D-44E5-A4E8-86037668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zh-CN" altLang="en-US" b="1" dirty="0">
                <a:cs typeface="+mn-ea"/>
                <a:sym typeface="+mn-lt"/>
              </a:rPr>
              <a:t>、图像感知与获取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7ED38-A0AB-4EF6-ABE3-B4A9B6EA4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1200" cy="43513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70C0"/>
                </a:solidFill>
              </a:rPr>
              <a:t>实例：数字化过程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zh-CN" altLang="en-US" dirty="0"/>
              <a:t>连续图像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/>
              <a:t>B</a:t>
            </a:r>
            <a:r>
              <a:rPr lang="zh-CN" altLang="en-US" dirty="0"/>
              <a:t>的一条扫描线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zh-CN" altLang="en-US" dirty="0"/>
              <a:t>采样和量化</a:t>
            </a:r>
            <a:endParaRPr lang="en-US" altLang="zh-CN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zh-CN" altLang="en-US" dirty="0"/>
              <a:t>数字扫描线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89CEF-13A6-4DCC-AA01-FBEBBC332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562" y="1606021"/>
            <a:ext cx="5993305" cy="50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47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AAE4-D379-40A9-90ED-5E58CE82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zh-CN" altLang="en-US" b="1" dirty="0">
                <a:cs typeface="+mn-ea"/>
                <a:sym typeface="+mn-lt"/>
              </a:rPr>
              <a:t>、图像感知与获取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采样与量化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8CC5E-F5EE-407A-9745-5C29F9AFD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19801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采样：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空间坐标的离散化成为空间采样，简称采样，确定图像的</a:t>
            </a:r>
            <a:r>
              <a:rPr lang="zh-CN" altLang="en-US" b="1" dirty="0">
                <a:solidFill>
                  <a:srgbClr val="FF0000"/>
                </a:solidFill>
              </a:rPr>
              <a:t>空间分辨率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即用空间上部分点（采样点）的灰度值代表图像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量化：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40000"/>
              </a:lnSpc>
            </a:pPr>
            <a:r>
              <a:rPr lang="zh-CN" altLang="en-US" dirty="0"/>
              <a:t>对采样点灰度值的离散化过程，确定图像</a:t>
            </a:r>
            <a:r>
              <a:rPr lang="zh-CN" altLang="en-US" b="1" dirty="0">
                <a:solidFill>
                  <a:srgbClr val="FF0000"/>
                </a:solidFill>
              </a:rPr>
              <a:t>灰度分辨率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40000"/>
              </a:lnSpc>
            </a:pPr>
            <a:r>
              <a:rPr lang="zh-CN" altLang="en-US" b="1" dirty="0"/>
              <a:t>两种量化：</a:t>
            </a:r>
            <a:r>
              <a:rPr lang="zh-CN" altLang="en-US" dirty="0"/>
              <a:t>均匀量化、非均匀量化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53FC2-8123-4E15-B018-1FC5ACB91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86" y="2317752"/>
            <a:ext cx="4819927" cy="352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80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12F90-1A07-4FB3-92CF-1117200D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zh-CN" altLang="en-US" b="1" dirty="0">
                <a:cs typeface="+mn-ea"/>
                <a:sym typeface="+mn-lt"/>
              </a:rPr>
              <a:t>、图像感知与获取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chemeClr val="accent1"/>
                </a:solidFill>
              </a:rPr>
              <a:t>分辨率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0004C-8C3C-40CB-BEBF-B9E663F05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98067" cy="435133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空间分辨率：</a:t>
            </a:r>
            <a:r>
              <a:rPr lang="zh-CN" altLang="en-US" dirty="0"/>
              <a:t>图像中最小可辨别细节的测度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单位距离的点数（像素数）</a:t>
            </a:r>
            <a:endParaRPr lang="en-US" altLang="zh-CN" dirty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点数</a:t>
            </a:r>
            <a:r>
              <a:rPr lang="en-US" altLang="zh-CN" dirty="0"/>
              <a:t>/</a:t>
            </a:r>
            <a:r>
              <a:rPr lang="zh-CN" altLang="en-US" dirty="0"/>
              <a:t>英寸（</a:t>
            </a:r>
            <a:r>
              <a:rPr lang="en-US" altLang="zh-CN" dirty="0"/>
              <a:t>dpi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图像大小本身并不含有空间分辨率信息</a:t>
            </a:r>
            <a:endParaRPr lang="en-US" altLang="zh-CN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空间分辨率的测度必须针对空间单位才有意义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87E531-B67D-4A6E-B0AA-4DB2C312A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000" y="1532594"/>
            <a:ext cx="3971933" cy="517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85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12F90-1A07-4FB3-92CF-1117200D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zh-CN" altLang="en-US" b="1" dirty="0">
                <a:cs typeface="+mn-ea"/>
                <a:sym typeface="+mn-lt"/>
              </a:rPr>
              <a:t>、图像感知与获取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chemeClr val="accent1"/>
                </a:solidFill>
              </a:rPr>
              <a:t>分辨率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0004C-8C3C-40CB-BEBF-B9E663F05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393267" cy="43513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灰度分辨率：</a:t>
            </a:r>
            <a:r>
              <a:rPr lang="zh-CN" altLang="en-US" dirty="0"/>
              <a:t>在灰度级中可分辨的最小变化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灰度级通常是</a:t>
            </a:r>
            <a:r>
              <a:rPr lang="en-US" altLang="zh-CN" dirty="0"/>
              <a:t>2</a:t>
            </a:r>
            <a:r>
              <a:rPr lang="zh-CN" altLang="en-US" dirty="0"/>
              <a:t>的整数次幂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灰度分辨率的降低，图像的细节信息在逐渐损失，伪轮廓信息在逐渐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08469F-26C4-4597-99E1-38E454877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466" y="2157694"/>
            <a:ext cx="5629760" cy="368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20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12F90-1A07-4FB3-92CF-1117200D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cs typeface="+mn-ea"/>
                <a:sym typeface="+mn-lt"/>
              </a:rPr>
              <a:t>2</a:t>
            </a:r>
            <a:r>
              <a:rPr lang="zh-CN" altLang="en-US" b="1" dirty="0">
                <a:cs typeface="+mn-ea"/>
                <a:sym typeface="+mn-lt"/>
              </a:rPr>
              <a:t>、图像感知与获取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chemeClr val="accent1"/>
                </a:solidFill>
              </a:rPr>
              <a:t>分辨率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0004C-8C3C-40CB-BEBF-B9E663F05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accent1"/>
                </a:solidFill>
              </a:rPr>
              <a:t>空间分辨率</a:t>
            </a:r>
            <a:r>
              <a:rPr lang="en-US" altLang="zh-CN" b="1" dirty="0">
                <a:solidFill>
                  <a:schemeClr val="accent1"/>
                </a:solidFill>
              </a:rPr>
              <a:t>&amp;</a:t>
            </a:r>
            <a:r>
              <a:rPr lang="zh-CN" altLang="en-US" b="1" dirty="0">
                <a:solidFill>
                  <a:schemeClr val="accent1"/>
                </a:solidFill>
              </a:rPr>
              <a:t>灰度分辨率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90090-9DF8-4755-A990-3CE6BD204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276" y="2468516"/>
            <a:ext cx="8039448" cy="432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23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1518-43F8-4735-881E-6AAD8743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、图像的采样与量化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chemeClr val="accent1"/>
                </a:solidFill>
              </a:rPr>
              <a:t>分辨率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CC82-DE5B-4611-9EAB-09703D310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存储大小（无压缩）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dirty="0"/>
              <a:t>图像（水平）尺寸：</a:t>
            </a:r>
            <a:r>
              <a:rPr lang="en-US" altLang="zh-CN" dirty="0"/>
              <a:t>W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图像（垂直）尺寸：</a:t>
            </a:r>
            <a:r>
              <a:rPr lang="en-US" altLang="zh-CN" dirty="0"/>
              <a:t>H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灰度级：</a:t>
            </a:r>
            <a:r>
              <a:rPr lang="en-US" altLang="zh-CN" dirty="0"/>
              <a:t>G (</a:t>
            </a:r>
            <a:r>
              <a:rPr lang="en-US" altLang="zh-CN" i="1" dirty="0"/>
              <a:t>k</a:t>
            </a:r>
            <a:r>
              <a:rPr lang="en-US" altLang="zh-CN" dirty="0"/>
              <a:t>-bit)</a:t>
            </a:r>
          </a:p>
          <a:p>
            <a:pPr lvl="1">
              <a:lnSpc>
                <a:spcPct val="100000"/>
              </a:lnSpc>
            </a:pPr>
            <a:r>
              <a:rPr lang="zh-CN" altLang="en-US" dirty="0"/>
              <a:t>图像所需的位数：</a:t>
            </a:r>
            <a:r>
              <a:rPr lang="en-US" altLang="zh-CN" dirty="0"/>
              <a:t>W*H*</a:t>
            </a:r>
            <a:r>
              <a:rPr lang="en-US" altLang="zh-CN" i="1" dirty="0"/>
              <a:t>k</a:t>
            </a:r>
            <a:endParaRPr lang="zh-CN" alt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B23F7-27AC-4F4D-AAB0-A7150536C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848" y="4331032"/>
            <a:ext cx="9610304" cy="198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86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1518-43F8-4735-881E-6AAD8743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</a:t>
            </a:r>
            <a:r>
              <a:rPr lang="zh-CN" altLang="en-US" b="1" dirty="0"/>
              <a:t>、图像的采样与量化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chemeClr val="accent1"/>
                </a:solidFill>
              </a:rPr>
              <a:t>分辨率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5CC82-DE5B-4611-9EAB-09703D310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量化等级</a:t>
            </a:r>
            <a:r>
              <a:rPr lang="zh-CN" altLang="en-US" b="1" dirty="0">
                <a:solidFill>
                  <a:srgbClr val="FF0000"/>
                </a:solidFill>
              </a:rPr>
              <a:t>越多</a:t>
            </a:r>
            <a:r>
              <a:rPr lang="zh-CN" altLang="en-US" dirty="0"/>
              <a:t>，所得图像层次越丰富，灰度分辨率高，图像质量好，但数据量大；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量化等级</a:t>
            </a:r>
            <a:r>
              <a:rPr lang="zh-CN" altLang="en-US" b="1" dirty="0">
                <a:solidFill>
                  <a:srgbClr val="FF0000"/>
                </a:solidFill>
              </a:rPr>
              <a:t>越少</a:t>
            </a:r>
            <a:r>
              <a:rPr lang="zh-CN" altLang="en-US" dirty="0"/>
              <a:t>，图像层次欠丰富，灰度分辨率低，会出现假轮廓现象，图像质量变差，但数据量小。 </a:t>
            </a:r>
            <a:br>
              <a:rPr lang="zh-CN" altLang="en-US" dirty="0"/>
            </a:b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016043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E697-EC4A-4ECB-B754-FAE66799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586CA-E1BE-4A09-BF78-944625C5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数字图像与数字图像处理</a:t>
            </a:r>
            <a:endParaRPr lang="en-US" altLang="zh-CN" dirty="0">
              <a:cs typeface="+mn-ea"/>
              <a:sym typeface="+mn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图像感知与获取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accent1"/>
                </a:solidFill>
              </a:rPr>
              <a:t>图像类型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灰度变换与空间滤波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4718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2A20-A79C-418C-8AB4-F0913B1E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、图像类型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69C93-7883-4991-ABC2-CBD298D10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图像分类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</a:rPr>
              <a:t>按照图像的动态特性：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lvl="2">
              <a:lnSpc>
                <a:spcPct val="150000"/>
              </a:lnSpc>
            </a:pPr>
            <a:r>
              <a:rPr lang="zh-CN" altLang="en-US" dirty="0"/>
              <a:t>静止图像和运动图像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</a:rPr>
              <a:t>按照图像的色彩：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lvl="2">
              <a:lnSpc>
                <a:spcPct val="150000"/>
              </a:lnSpc>
            </a:pPr>
            <a:r>
              <a:rPr lang="zh-CN" altLang="en-US" dirty="0"/>
              <a:t>灰度图像和彩色图像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</a:rPr>
              <a:t>按照图像的维数：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lvl="2">
              <a:lnSpc>
                <a:spcPct val="150000"/>
              </a:lnSpc>
            </a:pPr>
            <a:r>
              <a:rPr lang="zh-CN" altLang="en-US" dirty="0"/>
              <a:t>二维图像、三维图像等</a:t>
            </a:r>
          </a:p>
        </p:txBody>
      </p:sp>
    </p:spTree>
    <p:extLst>
      <p:ext uri="{BB962C8B-B14F-4D97-AF65-F5344CB8AC3E}">
        <p14:creationId xmlns:p14="http://schemas.microsoft.com/office/powerpoint/2010/main" val="2242744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A5FE-27C7-44A4-90F4-67712E20D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、图像类型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52EC-DAF0-4BAD-A311-0CC18B52B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</a:rPr>
              <a:t>位图</a:t>
            </a:r>
            <a:r>
              <a:rPr lang="zh-CN" altLang="en-US" dirty="0"/>
              <a:t>通过许多像素点表示一幅图像，每个像素具有颜色属性和位置属性。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位图分成如下四种：</a:t>
            </a:r>
            <a:r>
              <a:rPr lang="zh-CN" altLang="en-US" dirty="0">
                <a:solidFill>
                  <a:schemeClr val="accent2"/>
                </a:solidFill>
              </a:rPr>
              <a:t>二值图像 </a:t>
            </a:r>
            <a:r>
              <a:rPr lang="en-US" altLang="zh-CN" dirty="0">
                <a:solidFill>
                  <a:schemeClr val="accent2"/>
                </a:solidFill>
              </a:rPr>
              <a:t>(binary images)</a:t>
            </a:r>
            <a:r>
              <a:rPr lang="zh-CN" altLang="en-US" dirty="0">
                <a:solidFill>
                  <a:schemeClr val="accent2"/>
                </a:solidFill>
              </a:rPr>
              <a:t>、亮度图像 </a:t>
            </a:r>
            <a:r>
              <a:rPr lang="en-US" altLang="zh-CN" dirty="0">
                <a:solidFill>
                  <a:schemeClr val="accent2"/>
                </a:solidFill>
              </a:rPr>
              <a:t>(intensity images)</a:t>
            </a:r>
            <a:r>
              <a:rPr lang="zh-CN" altLang="en-US" dirty="0">
                <a:solidFill>
                  <a:schemeClr val="accent2"/>
                </a:solidFill>
              </a:rPr>
              <a:t>、索引图像</a:t>
            </a:r>
            <a:r>
              <a:rPr lang="en-US" altLang="zh-CN" dirty="0">
                <a:solidFill>
                  <a:schemeClr val="accent2"/>
                </a:solidFill>
              </a:rPr>
              <a:t>(indexed images)</a:t>
            </a:r>
            <a:r>
              <a:rPr lang="zh-CN" altLang="en-US" dirty="0">
                <a:solidFill>
                  <a:schemeClr val="accent2"/>
                </a:solidFill>
              </a:rPr>
              <a:t>和</a:t>
            </a:r>
            <a:r>
              <a:rPr lang="en-US" altLang="zh-CN" dirty="0">
                <a:solidFill>
                  <a:schemeClr val="accent2"/>
                </a:solidFill>
              </a:rPr>
              <a:t>RGB</a:t>
            </a:r>
            <a:r>
              <a:rPr lang="zh-CN" altLang="en-US" dirty="0">
                <a:solidFill>
                  <a:schemeClr val="accent2"/>
                </a:solidFill>
              </a:rPr>
              <a:t>图像</a:t>
            </a:r>
            <a:r>
              <a:rPr lang="en-US" altLang="zh-CN" dirty="0">
                <a:solidFill>
                  <a:schemeClr val="accent2"/>
                </a:solidFill>
              </a:rPr>
              <a:t>(RGB images)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189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78CA9-6595-434A-930E-14478B4B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、图像类型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6565D-858E-4581-BA48-BF7FB2E95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2"/>
                </a:solidFill>
              </a:rPr>
              <a:t>二值图像：</a:t>
            </a:r>
            <a:r>
              <a:rPr lang="zh-CN" altLang="en-US" dirty="0"/>
              <a:t>只有黑白两种颜色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F1D18-EEA0-4241-9207-0F4D7DFAB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286" y="2676420"/>
            <a:ext cx="8571428" cy="3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42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66E6-90C4-471C-89CC-9036F03B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、图像类型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501A1-E7C3-482E-84EA-0FC3060B3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08" y="1825625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</a:rPr>
              <a:t>亮度图像：</a:t>
            </a:r>
            <a:r>
              <a:rPr lang="zh-CN" altLang="en-US" dirty="0"/>
              <a:t>像素灰度级用</a:t>
            </a:r>
            <a:r>
              <a:rPr lang="en-US" altLang="zh-CN" dirty="0"/>
              <a:t>8</a:t>
            </a:r>
            <a:r>
              <a:rPr lang="zh-CN" altLang="en-US" dirty="0"/>
              <a:t>表示，每个像素都是介于黑色和白色之间的</a:t>
            </a:r>
            <a:r>
              <a:rPr lang="en-US" altLang="zh-CN" dirty="0"/>
              <a:t>256</a:t>
            </a:r>
            <a:r>
              <a:rPr lang="zh-CN" altLang="en-US" dirty="0"/>
              <a:t>种灰度种的一种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A90683-5725-42DB-882F-06D985FD2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442" y="3557058"/>
            <a:ext cx="2686050" cy="2419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927E02-21B9-42C8-B6B0-205D616E2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708" y="2995083"/>
            <a:ext cx="35242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49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3187-880E-4B57-9C89-E7242125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、图像类型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8F48F-612C-45E9-A25A-F8628D939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</a:rPr>
              <a:t>索引图像：</a:t>
            </a:r>
            <a:r>
              <a:rPr lang="zh-CN" altLang="en-US" dirty="0"/>
              <a:t>颜色是预先定义的（索引颜色）。索引颜色的图像最多只能显示</a:t>
            </a:r>
            <a:r>
              <a:rPr lang="en-US" altLang="zh-CN" dirty="0"/>
              <a:t>256</a:t>
            </a:r>
            <a:r>
              <a:rPr lang="zh-CN" altLang="en-US" dirty="0"/>
              <a:t>种颜色。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9FDA7-628A-4A1B-9427-607B83462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00" y="3645221"/>
            <a:ext cx="3990476" cy="22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4CAAC6-6E90-47CC-BAAE-BF896D7378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53"/>
          <a:stretch/>
        </p:blipFill>
        <p:spPr>
          <a:xfrm>
            <a:off x="4500609" y="3429000"/>
            <a:ext cx="2942857" cy="2689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68BEAC-A8F6-45CC-9FBA-8DE44F272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399" y="3324891"/>
            <a:ext cx="4114439" cy="272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59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D6F31-172D-4628-9D28-EE40C9F5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/>
              <a:t>3</a:t>
            </a:r>
            <a:r>
              <a:rPr lang="zh-CN" altLang="en-US" b="1" dirty="0"/>
              <a:t>、图像类型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6A272-3046-482C-9908-4B738B33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17159"/>
            <a:ext cx="10515600" cy="4351338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>
                <a:solidFill>
                  <a:schemeClr val="accent2"/>
                </a:solidFill>
              </a:rPr>
              <a:t>RGB</a:t>
            </a:r>
            <a:r>
              <a:rPr lang="zh-CN" altLang="en-US" b="1" dirty="0">
                <a:solidFill>
                  <a:schemeClr val="accent2"/>
                </a:solidFill>
              </a:rPr>
              <a:t>图像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FDF0B-7ACC-4268-AD1C-2D0A8E8A9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091" y="2376489"/>
            <a:ext cx="8023816" cy="448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684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6957-88FC-46A4-BEAB-9088C84A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</a:t>
            </a:r>
            <a:r>
              <a:rPr lang="zh-CN" altLang="en-US" b="1" dirty="0"/>
              <a:t>、图像类型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5E04C-818A-4898-9088-E165E2807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38744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一幅</a:t>
            </a:r>
            <a:r>
              <a:rPr lang="en-US" altLang="zh-CN" dirty="0"/>
              <a:t>RGB</a:t>
            </a:r>
            <a:r>
              <a:rPr lang="zh-CN" altLang="en-US" dirty="0"/>
              <a:t>图像就是彩色像素有一个</a:t>
            </a:r>
            <a:r>
              <a:rPr lang="en-US" altLang="zh-CN" dirty="0"/>
              <a:t>W*H*3</a:t>
            </a:r>
            <a:r>
              <a:rPr lang="zh-CN" altLang="en-US" dirty="0"/>
              <a:t>数组</a:t>
            </a:r>
            <a:r>
              <a:rPr lang="en-US" altLang="zh-CN" dirty="0"/>
              <a:t>,</a:t>
            </a:r>
            <a:r>
              <a:rPr lang="zh-CN" altLang="en-US" dirty="0"/>
              <a:t>其中每一个彩色像素点都是在特定空间位置的彩色图像对应的</a:t>
            </a:r>
            <a:r>
              <a:rPr lang="zh-CN" altLang="en-US" dirty="0">
                <a:solidFill>
                  <a:srgbClr val="FF0000"/>
                </a:solidFill>
              </a:rPr>
              <a:t>红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B050"/>
                </a:solidFill>
              </a:rPr>
              <a:t>绿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chemeClr val="accent1"/>
                </a:solidFill>
              </a:rPr>
              <a:t>蓝</a:t>
            </a:r>
            <a:r>
              <a:rPr lang="zh-CN" altLang="en-US" dirty="0"/>
              <a:t>三个分量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在真彩色图像中，每一个像素由红、绿和蓝三个字节组成，每个字节为</a:t>
            </a:r>
            <a:r>
              <a:rPr lang="en-US" altLang="zh-CN" dirty="0"/>
              <a:t>8 </a:t>
            </a:r>
            <a:r>
              <a:rPr lang="zh-CN" altLang="en-US" dirty="0"/>
              <a:t>，表示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255</a:t>
            </a:r>
            <a:r>
              <a:rPr lang="zh-CN" altLang="en-US" dirty="0"/>
              <a:t>之间的不同的亮度值，</a:t>
            </a:r>
            <a:r>
              <a:rPr lang="zh-CN" altLang="en-US" b="1" dirty="0">
                <a:solidFill>
                  <a:schemeClr val="accent2"/>
                </a:solidFill>
              </a:rPr>
              <a:t>这三个字节组合可以产生</a:t>
            </a:r>
            <a:r>
              <a:rPr lang="en-US" altLang="zh-CN" b="1" dirty="0">
                <a:solidFill>
                  <a:schemeClr val="accent2"/>
                </a:solidFill>
              </a:rPr>
              <a:t>1670</a:t>
            </a:r>
            <a:r>
              <a:rPr lang="zh-CN" altLang="en-US" b="1" dirty="0">
                <a:solidFill>
                  <a:schemeClr val="accent2"/>
                </a:solidFill>
              </a:rPr>
              <a:t>万种不同的颜色</a:t>
            </a:r>
            <a:r>
              <a:rPr lang="zh-CN" altLang="en-US" dirty="0"/>
              <a:t>。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2A8FF-0EF4-4321-A6C0-176566146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010" y="2603310"/>
            <a:ext cx="5044124" cy="27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72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E697-EC4A-4ECB-B754-FAE667998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586CA-E1BE-4A09-BF78-944625C5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数字图像与数字图像处理</a:t>
            </a:r>
            <a:endParaRPr lang="en-US" altLang="zh-CN" dirty="0">
              <a:cs typeface="+mn-ea"/>
              <a:sym typeface="+mn-lt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cs typeface="+mn-ea"/>
                <a:sym typeface="+mn-lt"/>
              </a:rPr>
              <a:t>图像感知与获取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图像类型</a:t>
            </a: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</a:rPr>
              <a:t>灰度变换与空间滤波</a:t>
            </a:r>
            <a:endParaRPr lang="en-US" altLang="zh-CN" b="1" dirty="0">
              <a:solidFill>
                <a:srgbClr val="0070C0"/>
              </a:solidFill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3904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4C1D-A7C8-4331-8855-A58F534A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70C0"/>
                </a:solidFill>
              </a:rPr>
              <a:t>4. </a:t>
            </a:r>
            <a:r>
              <a:rPr lang="zh-CN" altLang="en-US" b="1" dirty="0">
                <a:solidFill>
                  <a:srgbClr val="0070C0"/>
                </a:solidFill>
              </a:rPr>
              <a:t>灰度变换与空间滤波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AAA2D-CEF8-42ED-845D-1C45D8681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1" dirty="0"/>
              <a:t>灰度变换基础</a:t>
            </a:r>
            <a:endParaRPr lang="en-US" altLang="zh-CN" b="1" dirty="0"/>
          </a:p>
          <a:p>
            <a:pPr marL="514350" indent="-514350">
              <a:lnSpc>
                <a:spcPct val="150000"/>
              </a:lnSpc>
              <a:buFont typeface="+mj-lt"/>
              <a:buAutoNum type="circleNumDbPlain"/>
            </a:pPr>
            <a:r>
              <a:rPr lang="zh-CN" altLang="en-US" b="1" dirty="0"/>
              <a:t>灰度变换函数</a:t>
            </a:r>
            <a:endParaRPr lang="en-US" altLang="zh-CN" b="1" dirty="0"/>
          </a:p>
          <a:p>
            <a:pPr marL="514350" indent="-514350">
              <a:lnSpc>
                <a:spcPct val="150000"/>
              </a:lnSpc>
              <a:buFont typeface="+mj-lt"/>
              <a:buAutoNum type="circleNumDbPlain"/>
            </a:pPr>
            <a:r>
              <a:rPr lang="zh-CN" altLang="en-US" b="1" dirty="0"/>
              <a:t>直方图处理</a:t>
            </a:r>
            <a:endParaRPr lang="en-US" altLang="zh-CN" b="1" dirty="0"/>
          </a:p>
          <a:p>
            <a:pPr marL="514350" indent="-514350">
              <a:lnSpc>
                <a:spcPct val="150000"/>
              </a:lnSpc>
              <a:buFont typeface="+mj-lt"/>
              <a:buAutoNum type="circleNumDbPlain"/>
            </a:pPr>
            <a:r>
              <a:rPr lang="zh-CN" altLang="en-US" b="1" dirty="0"/>
              <a:t>空间滤波基础</a:t>
            </a:r>
            <a:endParaRPr lang="en-US" altLang="zh-CN" b="1" dirty="0"/>
          </a:p>
          <a:p>
            <a:pPr marL="514350" indent="-514350">
              <a:lnSpc>
                <a:spcPct val="150000"/>
              </a:lnSpc>
              <a:buFont typeface="+mj-lt"/>
              <a:buAutoNum type="circleNumDbPlain"/>
            </a:pPr>
            <a:r>
              <a:rPr lang="zh-CN" altLang="en-US" b="1" dirty="0"/>
              <a:t>空间滤波器</a:t>
            </a:r>
          </a:p>
        </p:txBody>
      </p:sp>
    </p:spTree>
    <p:extLst>
      <p:ext uri="{BB962C8B-B14F-4D97-AF65-F5344CB8AC3E}">
        <p14:creationId xmlns:p14="http://schemas.microsoft.com/office/powerpoint/2010/main" val="2295691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524B-5D72-44D1-88BA-D0A52319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/>
            </a:pPr>
            <a:r>
              <a:rPr lang="zh-CN" altLang="en-US" b="1" dirty="0"/>
              <a:t>灰度变换基础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F1770-496A-43CF-BA94-2CB91B192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曝光不足或过度的图片 </a:t>
            </a:r>
            <a:r>
              <a:rPr lang="en-US" altLang="zh-CN" b="1" dirty="0">
                <a:solidFill>
                  <a:srgbClr val="0070C0"/>
                </a:solidFill>
              </a:rPr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像素值进行灰度变换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CD652D-654E-4ABE-B0AB-7E0E4C472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811" y="2576963"/>
            <a:ext cx="3593233" cy="360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92C580-A11C-4825-ADDD-C82A3D8A1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189" y="2576963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9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EA2A-E1AC-44B3-8072-B271274D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/>
            </a:pPr>
            <a:r>
              <a:rPr lang="zh-CN" altLang="en-US" b="1" dirty="0"/>
              <a:t>灰度变换基础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DBE87-F3DA-4928-9E34-BDD00BCB3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220183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40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4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40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40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40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4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4000" b="1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3200" dirty="0"/>
                  <a:t>变换函数</a:t>
                </a:r>
                <a:endParaRPr lang="en-US" altLang="zh-CN" sz="32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dirty="0">
                    <a:solidFill>
                      <a:srgbClr val="0070C0"/>
                    </a:solidFill>
                  </a:rPr>
                  <a:t>每个像素单独处理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DBE87-F3DA-4928-9E34-BDD00BCB3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220183" cy="4351338"/>
              </a:xfrm>
              <a:blipFill>
                <a:blip r:embed="rId2"/>
                <a:stretch>
                  <a:fillRect l="-3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0D66B4D-6469-4563-A54D-40039EFE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183" y="1825625"/>
            <a:ext cx="724852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05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0856-47E1-43F1-BEA1-6175AE7E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44252-8456-4BBF-A26D-C2E9CCC05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一些常用的灰度变换函数</a:t>
            </a:r>
            <a:endParaRPr lang="en-US" altLang="zh-CN" b="1" dirty="0"/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图像反转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对数变换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幂律（</a:t>
            </a:r>
            <a:r>
              <a:rPr lang="en-US" altLang="zh-CN" b="1" dirty="0">
                <a:solidFill>
                  <a:srgbClr val="0070C0"/>
                </a:solidFill>
              </a:rPr>
              <a:t>Gamma</a:t>
            </a:r>
            <a:r>
              <a:rPr lang="zh-CN" altLang="en-US" b="1" dirty="0">
                <a:solidFill>
                  <a:srgbClr val="0070C0"/>
                </a:solidFill>
              </a:rPr>
              <a:t>）变换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分段线性变换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直方图处理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zh-CN" altLang="en-US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8A66D-88D5-4060-8534-38B4AE2B1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004" y="1111520"/>
            <a:ext cx="5529262" cy="520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97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0856-47E1-43F1-BEA1-6175AE7E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--</a:t>
            </a:r>
            <a:r>
              <a:rPr lang="zh-CN" altLang="en-US" b="1" dirty="0">
                <a:solidFill>
                  <a:srgbClr val="0070C0"/>
                </a:solidFill>
              </a:rPr>
              <a:t>图像反转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44252-8456-4BBF-A26D-C2E9CCC05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414736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70C0"/>
                    </a:solidFill>
                  </a:rPr>
                  <a:t>图像反转</a:t>
                </a:r>
                <a:endParaRPr lang="en-US" altLang="zh-CN" b="1" dirty="0">
                  <a:solidFill>
                    <a:srgbClr val="0070C0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−1−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44252-8456-4BBF-A26D-C2E9CCC05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414736" cy="4351338"/>
              </a:xfrm>
              <a:blipFill>
                <a:blip r:embed="rId2"/>
                <a:stretch>
                  <a:fillRect l="-2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230751-3E42-4B7D-A70B-573486BD4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71" y="3217558"/>
            <a:ext cx="3480329" cy="327531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648B7E-2CD5-425E-BBC3-AC688E6BABA4}"/>
              </a:ext>
            </a:extLst>
          </p:cNvPr>
          <p:cNvCxnSpPr/>
          <p:nvPr/>
        </p:nvCxnSpPr>
        <p:spPr>
          <a:xfrm>
            <a:off x="1608667" y="3318933"/>
            <a:ext cx="2836333" cy="285803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BC75F6-6A8D-4C65-A254-FB7033EC9330}"/>
              </a:ext>
            </a:extLst>
          </p:cNvPr>
          <p:cNvGrpSpPr/>
          <p:nvPr/>
        </p:nvGrpSpPr>
        <p:grpSpPr>
          <a:xfrm>
            <a:off x="5468221" y="2663081"/>
            <a:ext cx="6402575" cy="3275317"/>
            <a:chOff x="5330451" y="3217558"/>
            <a:chExt cx="6402575" cy="32753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744D65E-E7F7-419F-B923-929A484EF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0451" y="3217558"/>
              <a:ext cx="2880000" cy="28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8B8912F-85E1-4760-B6D7-658D48AC7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53026" y="3217558"/>
              <a:ext cx="2880000" cy="28800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41E623-A9D9-4C6D-BF04-D816DB6FCA03}"/>
                </a:ext>
              </a:extLst>
            </p:cNvPr>
            <p:cNvSpPr/>
            <p:nvPr/>
          </p:nvSpPr>
          <p:spPr>
            <a:xfrm>
              <a:off x="6271526" y="6037622"/>
              <a:ext cx="881973" cy="4552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0070C0"/>
                  </a:solidFill>
                </a:rPr>
                <a:t>变换前</a:t>
              </a:r>
              <a:endParaRPr lang="en-US" altLang="zh-CN" b="1" dirty="0">
                <a:solidFill>
                  <a:srgbClr val="0070C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ECEDCB-8953-4329-BA82-72B03E99504C}"/>
                </a:ext>
              </a:extLst>
            </p:cNvPr>
            <p:cNvSpPr/>
            <p:nvPr/>
          </p:nvSpPr>
          <p:spPr>
            <a:xfrm>
              <a:off x="9869615" y="6037622"/>
              <a:ext cx="881973" cy="4552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0070C0"/>
                  </a:solidFill>
                </a:rPr>
                <a:t>变换后</a:t>
              </a:r>
              <a:endParaRPr lang="en-US" altLang="zh-CN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85131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9102-C53E-4E20-B4B2-BD4F1275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-- </a:t>
            </a:r>
            <a:r>
              <a:rPr lang="zh-CN" altLang="en-US" b="1" dirty="0">
                <a:solidFill>
                  <a:srgbClr val="0070C0"/>
                </a:solidFill>
              </a:rPr>
              <a:t>对数变换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CC6AB-538D-4CD7-9120-7A410C9BD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332" y="1825625"/>
            <a:ext cx="4961467" cy="4351338"/>
          </a:xfrm>
        </p:spPr>
        <p:txBody>
          <a:bodyPr/>
          <a:lstStyle/>
          <a:p>
            <a:r>
              <a:rPr lang="en-US" altLang="zh-CN" b="1" dirty="0">
                <a:solidFill>
                  <a:srgbClr val="00B050"/>
                </a:solidFill>
              </a:rPr>
              <a:t>Log</a:t>
            </a:r>
            <a:r>
              <a:rPr lang="zh-CN" altLang="en-US" b="1" dirty="0">
                <a:solidFill>
                  <a:srgbClr val="00B050"/>
                </a:solidFill>
              </a:rPr>
              <a:t>函数</a:t>
            </a:r>
            <a:endParaRPr lang="en-US" altLang="zh-CN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 lvl="1"/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拉伸灰度值低的区域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压缩灰度值高的区域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Inverse Log</a:t>
            </a:r>
            <a:r>
              <a:rPr lang="zh-CN" altLang="en-US" b="1" dirty="0">
                <a:solidFill>
                  <a:srgbClr val="FF0000"/>
                </a:solidFill>
              </a:rPr>
              <a:t>函数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拉伸灰度值高的区域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压缩灰度值低的区域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FFB61-62B8-43AB-B33D-9359F7B56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71" y="1761467"/>
            <a:ext cx="4884179" cy="45964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105513-B684-48C6-B758-6D279712A5DA}"/>
                  </a:ext>
                </a:extLst>
              </p:cNvPr>
              <p:cNvSpPr txBox="1"/>
              <p:nvPr/>
            </p:nvSpPr>
            <p:spPr>
              <a:xfrm>
                <a:off x="7124700" y="2325291"/>
                <a:ext cx="376115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 altLang="zh-CN" sz="4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4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105513-B684-48C6-B758-6D279712A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700" y="2325291"/>
                <a:ext cx="3761158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12CCB4-070D-4D2B-903C-37522620FCAD}"/>
                  </a:ext>
                </a:extLst>
              </p:cNvPr>
              <p:cNvSpPr txBox="1"/>
              <p:nvPr/>
            </p:nvSpPr>
            <p:spPr>
              <a:xfrm>
                <a:off x="7243901" y="4537273"/>
                <a:ext cx="325832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𝑐</m:t>
                      </m:r>
                      <m:func>
                        <m:funcPr>
                          <m:ctrlPr>
                            <a:rPr lang="en-US" altLang="zh-CN" sz="4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4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40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p>
                              <m:r>
                                <a:rPr lang="en-US" altLang="zh-CN" sz="4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12CCB4-070D-4D2B-903C-37522620F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901" y="4537273"/>
                <a:ext cx="3258328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5141E21-9C2D-473B-82B7-A4256465C3CA}"/>
              </a:ext>
            </a:extLst>
          </p:cNvPr>
          <p:cNvSpPr/>
          <p:nvPr/>
        </p:nvSpPr>
        <p:spPr>
          <a:xfrm>
            <a:off x="1460500" y="3860800"/>
            <a:ext cx="508000" cy="20193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1580DA-491B-4A4D-A402-F9218093294B}"/>
              </a:ext>
            </a:extLst>
          </p:cNvPr>
          <p:cNvSpPr/>
          <p:nvPr/>
        </p:nvSpPr>
        <p:spPr>
          <a:xfrm>
            <a:off x="4883650" y="1931194"/>
            <a:ext cx="508000" cy="20193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9C5B72-AF04-4067-90CB-F5B2DDFF2D78}"/>
              </a:ext>
            </a:extLst>
          </p:cNvPr>
          <p:cNvSpPr/>
          <p:nvPr/>
        </p:nvSpPr>
        <p:spPr>
          <a:xfrm>
            <a:off x="3722908" y="1906588"/>
            <a:ext cx="1668741" cy="43021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C6360F-C1B4-4ADC-8D08-2E2E04CFB09A}"/>
              </a:ext>
            </a:extLst>
          </p:cNvPr>
          <p:cNvSpPr/>
          <p:nvPr/>
        </p:nvSpPr>
        <p:spPr>
          <a:xfrm>
            <a:off x="1460500" y="5410200"/>
            <a:ext cx="2262408" cy="4699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961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474C-30BD-4002-84CE-838A85AD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-- </a:t>
            </a:r>
            <a:r>
              <a:rPr lang="zh-CN" altLang="en-US" b="1" dirty="0">
                <a:solidFill>
                  <a:srgbClr val="0070C0"/>
                </a:solidFill>
              </a:rPr>
              <a:t>对数变换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51BD4C-F0FE-43AF-992B-0B0247A298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图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：</a:t>
                </a:r>
                <a:r>
                  <a:rPr lang="zh-CN" altLang="en-US" dirty="0"/>
                  <a:t>值域为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0~1.5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 dirty="0"/>
                  <a:t>的傅里叶频谱</a:t>
                </a:r>
                <a:endParaRPr lang="en-US" altLang="zh-CN" dirty="0"/>
              </a:p>
              <a:p>
                <a:r>
                  <a:rPr lang="zh-CN" altLang="en-US" b="1" dirty="0"/>
                  <a:t>图</a:t>
                </a:r>
                <a:r>
                  <a:rPr lang="en-US" altLang="zh-CN" b="1" dirty="0"/>
                  <a:t>b</a:t>
                </a:r>
                <a:r>
                  <a:rPr lang="zh-CN" altLang="en-US" b="1" dirty="0"/>
                  <a:t>：</a:t>
                </a:r>
                <a:r>
                  <a:rPr lang="zh-CN" altLang="en-US" dirty="0"/>
                  <a:t>对数变换的结果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51BD4C-F0FE-43AF-992B-0B0247A29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1AD55EB-BA5E-4C72-BB14-502812C1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324" y="3036569"/>
            <a:ext cx="895135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350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5CED-0611-43BC-BD75-84B9A070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幂律（伽马）变换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E5EFD-398C-4683-835E-DC589C49E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63" y="1978440"/>
            <a:ext cx="4729485" cy="43874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AF491A-B14C-41FB-8F7C-00EE298E841A}"/>
                  </a:ext>
                </a:extLst>
              </p:cNvPr>
              <p:cNvSpPr txBox="1"/>
              <p:nvPr/>
            </p:nvSpPr>
            <p:spPr>
              <a:xfrm>
                <a:off x="6328836" y="1831563"/>
                <a:ext cx="2182713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8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4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CN" altLang="en-US" sz="4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zh-CN" altLang="en-US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AF491A-B14C-41FB-8F7C-00EE298E8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836" y="1831563"/>
                <a:ext cx="2182713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31088B6-A69A-443B-821F-778E837514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28836" y="2711102"/>
                <a:ext cx="5380563" cy="284641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b="1" dirty="0"/>
                  <a:t>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b="1" dirty="0"/>
                  <a:t>是正常数</a:t>
                </a:r>
                <a:endParaRPr lang="en-US" altLang="zh-CN" b="1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/>
                  <a:t>提高灰度级，使图像变亮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降低灰度级，使图像变暗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31088B6-A69A-443B-821F-778E837514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28836" y="2711102"/>
                <a:ext cx="5380563" cy="2846418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325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2021-AFDE-42B3-83AB-A01A15E5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幂律（伽马）变换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2F83C-FF29-466C-9200-5B2C0AB78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图像增强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BB56E-6742-4873-86D3-A7D036EAB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592" y="2782358"/>
            <a:ext cx="4385726" cy="28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1FBB4D-3601-4BA4-9903-1FA947FC1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84" y="2782358"/>
            <a:ext cx="438286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5478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2021-AFDE-42B3-83AB-A01A15E5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幂律（伽马）变换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E2F83C-FF29-466C-9200-5B2C0AB787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43880" cy="4351338"/>
              </a:xfrm>
            </p:spPr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zh-CN" altLang="en-US" b="1" dirty="0"/>
                  <a:t>胸上部脊椎骨折的核磁共振图像</a:t>
                </a:r>
                <a:endParaRPr lang="en-US" altLang="zh-CN" b="1" dirty="0"/>
              </a:p>
              <a:p>
                <a:pPr lvl="1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/>
                  <a:t>会让图像变亮、增加背景细节</a:t>
                </a:r>
                <a:endParaRPr lang="en-US" altLang="zh-CN" dirty="0"/>
              </a:p>
              <a:p>
                <a:pPr lvl="1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dirty="0"/>
                  <a:t>值太小又会导致对比度降低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E2F83C-FF29-466C-9200-5B2C0AB787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43880" cy="4351338"/>
              </a:xfrm>
              <a:blipFill>
                <a:blip r:embed="rId3"/>
                <a:stretch>
                  <a:fillRect l="-1946" r="-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F9CDA97-3384-4D14-A5F3-BCA9135E8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988" y="1301294"/>
            <a:ext cx="518074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77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2021-AFDE-42B3-83AB-A01A15E5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幂律（伽马）变换</a:t>
            </a:r>
            <a:endParaRPr lang="zh-CN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B1EEDA-E88D-42F9-BFEE-F9A533159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168" y="1458000"/>
            <a:ext cx="6735832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B26B68AC-4309-40C0-B13E-643250BB80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40436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b="1" dirty="0"/>
                  <a:t>航拍地面图像</a:t>
                </a:r>
                <a:endParaRPr lang="en-US" altLang="zh-CN" b="1" dirty="0"/>
              </a:p>
              <a:p>
                <a:pPr lvl="1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降低灰度级，让图像变暗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B26B68AC-4309-40C0-B13E-643250BB80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404360" cy="4351338"/>
              </a:xfrm>
              <a:blipFill>
                <a:blip r:embed="rId3"/>
                <a:stretch>
                  <a:fillRect l="-2493" r="-9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8236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2021-AFDE-42B3-83AB-A01A15E5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分段线性变换</a:t>
            </a:r>
            <a:endParaRPr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716DD6-EF79-402B-9162-4EAB7122CB63}"/>
              </a:ext>
            </a:extLst>
          </p:cNvPr>
          <p:cNvGrpSpPr/>
          <p:nvPr/>
        </p:nvGrpSpPr>
        <p:grpSpPr>
          <a:xfrm>
            <a:off x="4531850" y="1535974"/>
            <a:ext cx="7217006" cy="5232137"/>
            <a:chOff x="4557250" y="1421674"/>
            <a:chExt cx="7217006" cy="523213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83969EB-1D19-4B1E-BB74-1306AECE2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7250" y="1421674"/>
              <a:ext cx="5251326" cy="523213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00B1337-95D1-4570-830E-9C135D56C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17987" y="1443484"/>
              <a:ext cx="1856269" cy="5049391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EA21D4A-7869-45A9-BC49-5EDD99E759E6}"/>
              </a:ext>
            </a:extLst>
          </p:cNvPr>
          <p:cNvSpPr/>
          <p:nvPr/>
        </p:nvSpPr>
        <p:spPr>
          <a:xfrm>
            <a:off x="838200" y="1690688"/>
            <a:ext cx="2244525" cy="7375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0B0F0"/>
                </a:solidFill>
              </a:rPr>
              <a:t>对比度增强</a:t>
            </a:r>
            <a:endParaRPr lang="en-US" altLang="zh-CN" sz="3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550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2021-AFDE-42B3-83AB-A01A15E5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分段线性变换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A21D4A-7869-45A9-BC49-5EDD99E759E6}"/>
              </a:ext>
            </a:extLst>
          </p:cNvPr>
          <p:cNvSpPr/>
          <p:nvPr/>
        </p:nvSpPr>
        <p:spPr>
          <a:xfrm>
            <a:off x="964878" y="1690688"/>
            <a:ext cx="2244525" cy="7375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0B0F0"/>
                </a:solidFill>
              </a:rPr>
              <a:t>灰度级分层</a:t>
            </a:r>
            <a:endParaRPr lang="en-US" altLang="zh-CN" sz="3200" b="1" dirty="0">
              <a:solidFill>
                <a:srgbClr val="00B0F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5D59C3-BE61-4F26-9EBD-678773982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644" y="2729264"/>
            <a:ext cx="9882711" cy="340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819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22021-AFDE-42B3-83AB-A01A15E5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2"/>
            </a:pPr>
            <a:r>
              <a:rPr lang="zh-CN" altLang="en-US" b="1" dirty="0"/>
              <a:t>灰度变换函数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分段线性变换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78B0F7-0E88-4E26-8568-ECCBA16F3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744" y="1690688"/>
            <a:ext cx="8856512" cy="494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876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B496-C10F-420F-B77F-17E7D723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4378B-04B4-4098-A2AC-4E06A9884B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4875" y="1970087"/>
                <a:ext cx="50292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00B0F0"/>
                    </a:solidFill>
                  </a:rPr>
                  <a:t>直方图：</a:t>
                </a:r>
                <a:endParaRPr lang="en-US" altLang="zh-CN" sz="3200" b="1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32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zh-CN" sz="32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rgbClr val="00B0F0"/>
                    </a:solidFill>
                  </a:rPr>
                  <a:t>归一化直方图：</a:t>
                </a:r>
                <a:endParaRPr lang="en-US" altLang="zh-CN" sz="3200" b="1" dirty="0">
                  <a:solidFill>
                    <a:srgbClr val="00B0F0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zh-CN" sz="28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𝑀𝑁</m:t>
                        </m:r>
                      </m:den>
                    </m:f>
                  </m:oMath>
                </a14:m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zh-CN" sz="28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255</m:t>
                        </m:r>
                      </m:sup>
                      <m:e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A4378B-04B4-4098-A2AC-4E06A9884B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4875" y="1970087"/>
                <a:ext cx="5029200" cy="4351338"/>
              </a:xfrm>
              <a:blipFill>
                <a:blip r:embed="rId2"/>
                <a:stretch>
                  <a:fillRect l="-27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72CCACD-78CE-4F71-84C2-72E92B1DD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27" y="228717"/>
            <a:ext cx="3836219" cy="65528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C508124-528D-4A22-8CAD-B48D3002E373}"/>
              </a:ext>
            </a:extLst>
          </p:cNvPr>
          <p:cNvSpPr/>
          <p:nvPr/>
        </p:nvSpPr>
        <p:spPr>
          <a:xfrm>
            <a:off x="8965532" y="5952093"/>
            <a:ext cx="29049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EE2B0A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直方图均衡化达到的效果</a:t>
            </a:r>
            <a:r>
              <a:rPr lang="zh-CN" alt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99794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C020-F02A-4C46-88B7-3F2B8E3E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均衡化</a:t>
            </a:r>
            <a:endParaRPr lang="zh-CN" altLang="en-US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61E17-57DA-4A1B-AA1F-0335D35939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3600" b="1" dirty="0">
                    <a:solidFill>
                      <a:srgbClr val="00B0F0"/>
                    </a:solidFill>
                  </a:rPr>
                  <a:t>直方图均衡化</a:t>
                </a:r>
                <a:endParaRPr lang="en-US" altLang="zh-CN" sz="3600" b="1" dirty="0">
                  <a:solidFill>
                    <a:srgbClr val="00B0F0"/>
                  </a:solidFill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zh-CN" altLang="en-US" sz="3200" dirty="0">
                    <a:solidFill>
                      <a:schemeClr val="tx1"/>
                    </a:solidFill>
                  </a:rPr>
                  <a:t>希望一幅图像的像素占有全部可能的灰度级且分布均匀，能够具有高对比度</a:t>
                </a:r>
                <a:endParaRPr lang="en-US" altLang="zh-CN" sz="3200" dirty="0">
                  <a:solidFill>
                    <a:schemeClr val="tx1"/>
                  </a:solidFill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zh-CN" altLang="en-US" sz="3200" dirty="0">
                    <a:solidFill>
                      <a:schemeClr val="tx1"/>
                    </a:solidFill>
                  </a:rPr>
                  <a:t>使用方法是灰度级变换：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3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zh-CN" altLang="en-US" sz="3200" dirty="0">
                    <a:solidFill>
                      <a:schemeClr val="tx1"/>
                    </a:solidFill>
                  </a:rPr>
                  <a:t>基本思想是把原始图的直方图变换为</a:t>
                </a:r>
                <a:r>
                  <a:rPr lang="zh-CN" altLang="en-US" sz="3200" b="1" dirty="0">
                    <a:solidFill>
                      <a:srgbClr val="FF0000"/>
                    </a:solidFill>
                  </a:rPr>
                  <a:t>均匀分布</a:t>
                </a:r>
                <a:r>
                  <a:rPr lang="zh-CN" altLang="en-US" sz="3200" dirty="0">
                    <a:solidFill>
                      <a:schemeClr val="tx1"/>
                    </a:solidFill>
                  </a:rPr>
                  <a:t>的形式，这样就增加了像素灰度值的动态范围，从而达到增强图像整体对比度的效果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61E17-57DA-4A1B-AA1F-0335D3593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401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7862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50AF99-A33D-4EB3-BEDF-0C9BBF9A1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251" y="2353620"/>
            <a:ext cx="6014749" cy="3074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359BA7-6106-4E6E-AF2F-14E88A62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均衡化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1583E6-567B-488D-BBDD-6FE0D8D268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39051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rgbClr val="00B0F0"/>
                    </a:solidFill>
                  </a:rPr>
                  <a:t>直方图均衡化</a:t>
                </a:r>
                <a:endParaRPr lang="en-US" altLang="zh-CN" b="1" dirty="0">
                  <a:solidFill>
                    <a:srgbClr val="00B0F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b="1" dirty="0">
                  <a:solidFill>
                    <a:srgbClr val="00B0F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满足下列两个条件：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514350" indent="-514350">
                  <a:lnSpc>
                    <a:spcPct val="120000"/>
                  </a:lnSpc>
                  <a:buFont typeface="+mj-ea"/>
                  <a:buAutoNum type="circleNumDbPlain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在区间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中为单值</a:t>
                </a:r>
                <a:r>
                  <a:rPr lang="zh-CN" altLang="en-US" dirty="0"/>
                  <a:t>且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单调递增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514350" indent="-514350">
                  <a:lnSpc>
                    <a:spcPct val="120000"/>
                  </a:lnSpc>
                  <a:buFont typeface="+mj-ea"/>
                  <a:buAutoNum type="circleNumDbPlain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时，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1583E6-567B-488D-BBDD-6FE0D8D268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39051" cy="4351338"/>
              </a:xfrm>
              <a:blipFill>
                <a:blip r:embed="rId3"/>
                <a:stretch>
                  <a:fillRect l="-2057" t="-980" r="-1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0BFF55A-9055-4540-AAA2-F11FBCDFC23F}"/>
                  </a:ext>
                </a:extLst>
              </p:cNvPr>
              <p:cNvSpPr/>
              <p:nvPr/>
            </p:nvSpPr>
            <p:spPr>
              <a:xfrm>
                <a:off x="1831343" y="2353620"/>
                <a:ext cx="2277803" cy="7325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0BFF55A-9055-4540-AAA2-F11FBCDFC2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343" y="2353620"/>
                <a:ext cx="2277803" cy="7325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47795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4738E-3E17-4A40-95A5-D352D697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均衡化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EB13B-3B3D-4AAE-A199-15F89228C0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B0F0"/>
                    </a:solidFill>
                  </a:rPr>
                  <a:t>直方图均衡化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的概率密度函数，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的概率密度函数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已知，并且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连续可微分，则有：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CN" sz="36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num>
                      <m:den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den>
                    </m:f>
                    <m:r>
                      <a:rPr lang="en-US" altLang="zh-CN" sz="36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zh-CN" altLang="en-US" sz="3600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6EB13B-3B3D-4AAE-A199-15F89228C0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46428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B1F9-4F37-4C66-B9E9-31B55048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均衡化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9E4239-1118-4A03-BA5C-6D65496033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b="1" dirty="0">
                    <a:solidFill>
                      <a:srgbClr val="00B0F0"/>
                    </a:solidFill>
                  </a:rPr>
                  <a:t>直方图均衡化</a:t>
                </a:r>
                <a:r>
                  <a:rPr lang="en-US" altLang="zh-CN" b="1" dirty="0">
                    <a:solidFill>
                      <a:srgbClr val="00B0F0"/>
                    </a:solidFill>
                  </a:rPr>
                  <a:t> – </a:t>
                </a:r>
                <a:r>
                  <a:rPr lang="zh-CN" altLang="en-US" b="1" dirty="0">
                    <a:solidFill>
                      <a:srgbClr val="00B0F0"/>
                    </a:solidFill>
                  </a:rPr>
                  <a:t>变换函数</a:t>
                </a:r>
                <a:endParaRPr lang="en-US" altLang="zh-CN" b="1" dirty="0">
                  <a:solidFill>
                    <a:srgbClr val="00B0F0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nary>
                        <m:naryPr>
                          <m:ctrlP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zh-CN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𝑑𝑤</m:t>
                          </m:r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rgbClr val="0070C0"/>
                  </a:solidFill>
                </a:endParaRPr>
              </a:p>
              <a:p>
                <a:r>
                  <a:rPr lang="zh-CN" altLang="en-US" dirty="0"/>
                  <a:t>关于上限的定积分的导数就是该上限的积分值（莱布尼茨准则）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𝑑𝑠</m:t>
                        </m:r>
                      </m:num>
                      <m:den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den>
                    </m:f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num>
                      <m:den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den>
                    </m:f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nary>
                          <m:nary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3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3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2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𝑑𝑤</m:t>
                            </m:r>
                          </m:e>
                        </m:nary>
                      </m:e>
                    </m:d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−1)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sz="3200" dirty="0">
                    <a:solidFill>
                      <a:schemeClr val="accent5">
                        <a:lumMod val="75000"/>
                      </a:schemeClr>
                    </a:solidFill>
                  </a:rPr>
                  <a:t>(r)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3200" dirty="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 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𝑑𝑟</m:t>
                            </m:r>
                          </m:num>
                          <m:den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𝑑𝑠</m:t>
                            </m:r>
                          </m:den>
                        </m:f>
                      </m:e>
                    </m:d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m:rPr>
                        <m:nor/>
                      </m:rPr>
                      <a:rPr lang="en-US" altLang="zh-CN" sz="3200" dirty="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|</m:t>
                    </m:r>
                    <m:f>
                      <m:fPr>
                        <m:ctrlPr>
                          <a:rPr lang="en-US" altLang="zh-CN" sz="320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  <m:sSub>
                          <m:sSubPr>
                            <m:ctrlP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32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32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altLang="zh-CN" sz="32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  <m:t>)</m:t>
                        </m:r>
                      </m:den>
                    </m:f>
                    <m:r>
                      <m:rPr>
                        <m:nor/>
                      </m:rPr>
                      <a:rPr lang="en-US" altLang="zh-CN" sz="3200" dirty="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|</m:t>
                    </m:r>
                  </m:oMath>
                </a14:m>
                <a:r>
                  <a:rPr lang="en-US" altLang="zh-CN" sz="3200" dirty="0">
                    <a:solidFill>
                      <a:schemeClr val="accent5">
                        <a:lumMod val="75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−1) </m:t>
                        </m:r>
                      </m:den>
                    </m:f>
                  </m:oMath>
                </a14:m>
                <a:endParaRPr lang="en-US" altLang="zh-CN" sz="3200" dirty="0">
                  <a:solidFill>
                    <a:schemeClr val="tx1"/>
                  </a:solidFill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9E4239-1118-4A03-BA5C-6D6549603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6628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C18B-01B3-4CEC-BFE1-BCA36D51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均衡化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01E8D5-278E-4AAD-B3ED-D251395A8D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B0F0"/>
                    </a:solidFill>
                  </a:rPr>
                  <a:t>直方图均衡化</a:t>
                </a:r>
                <a:endParaRPr lang="en-US" altLang="zh-CN" b="1" dirty="0">
                  <a:solidFill>
                    <a:srgbClr val="00B0F0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离散值：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dirty="0"/>
                  <a:t>变换函数的离散形式：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对应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均衡化之后的结果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01E8D5-278E-4AAD-B3ED-D251395A8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A151CF3-5076-4CCA-8925-B70100FE8743}"/>
                  </a:ext>
                </a:extLst>
              </p:cNvPr>
              <p:cNvSpPr/>
              <p:nvPr/>
            </p:nvSpPr>
            <p:spPr>
              <a:xfrm>
                <a:off x="5787340" y="1572367"/>
                <a:ext cx="5566460" cy="10260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nary>
                        <m:naryPr>
                          <m:ctrlPr>
                            <a:rPr lang="en-US" altLang="zh-C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zh-CN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𝑑𝑤</m:t>
                          </m:r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A151CF3-5076-4CCA-8925-B70100FE87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340" y="1572367"/>
                <a:ext cx="5566460" cy="10260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159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C18B-01B3-4CEC-BFE1-BCA36D51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均衡化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01E8D5-278E-4AAD-B3ED-D251395A8D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00B0F0"/>
                    </a:solidFill>
                  </a:rPr>
                  <a:t>直方图均衡化 （例子）</a:t>
                </a:r>
                <a:endParaRPr lang="en-US" altLang="zh-CN" b="1" dirty="0">
                  <a:solidFill>
                    <a:srgbClr val="00B0F0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−1)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具体数值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8−1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∗0.19=1.33</m:t>
                    </m:r>
                  </m:oMath>
                </a14:m>
                <a:endParaRPr lang="en-US" altLang="zh-CN" b="0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8−1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0.19+0.25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=3.08</m:t>
                    </m:r>
                  </m:oMath>
                </a14:m>
                <a:endParaRPr lang="en-US" altLang="zh-CN" b="0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zh-CN" dirty="0"/>
                  <a:t>…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8−1</m:t>
                        </m:r>
                      </m:e>
                    </m:d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altLang="zh-CN" dirty="0"/>
              </a:p>
              <a:p>
                <a:pPr lvl="1"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01E8D5-278E-4AAD-B3ED-D251395A8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928" b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604F4848-DA84-4731-84B3-08EC46E4CE43}"/>
              </a:ext>
            </a:extLst>
          </p:cNvPr>
          <p:cNvGrpSpPr/>
          <p:nvPr/>
        </p:nvGrpSpPr>
        <p:grpSpPr>
          <a:xfrm>
            <a:off x="6096000" y="2409145"/>
            <a:ext cx="5998029" cy="3048000"/>
            <a:chOff x="6193971" y="2719000"/>
            <a:chExt cx="5998029" cy="304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30A8E27-796D-4E41-8E75-9FF14EA5D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3971" y="2719000"/>
              <a:ext cx="4267200" cy="3048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306B5D8-D96F-4C95-81E8-ADB78CA70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9400" y="2719000"/>
              <a:ext cx="1752600" cy="1952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2168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02C8-26C2-4CBF-B4DF-AC786083D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均衡化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AA5C8-F91C-4558-B827-DC5B52D1C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B0F0"/>
                </a:solidFill>
              </a:rPr>
              <a:t>直方图均衡化 （例子）</a:t>
            </a:r>
            <a:endParaRPr lang="en-US" altLang="zh-CN" b="1" dirty="0">
              <a:solidFill>
                <a:srgbClr val="00B0F0"/>
              </a:solidFill>
            </a:endParaRP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BA6AC-8090-4EF6-A5B6-DF9F1B35F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2501900"/>
            <a:ext cx="101060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224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A426-3380-43B4-A3CE-383D2252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均衡化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3B53E-D2B9-4123-8708-21536F7C8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B0F0"/>
                </a:solidFill>
              </a:rPr>
              <a:t>直方图均衡化 （例子）</a:t>
            </a:r>
            <a:endParaRPr lang="en-US" altLang="zh-CN" b="1" dirty="0">
              <a:solidFill>
                <a:srgbClr val="00B0F0"/>
              </a:solidFill>
            </a:endParaRP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485B7-F03A-43C2-89CE-2899AFD98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158" y="1289050"/>
            <a:ext cx="3885772" cy="5203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CADCE7-C31B-44D4-A1D5-A40D17BC3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070" y="2463800"/>
            <a:ext cx="520065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9970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C020-F02A-4C46-88B7-3F2B8E3E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3"/>
            </a:pPr>
            <a:r>
              <a:rPr lang="zh-CN" altLang="en-US" b="1" dirty="0"/>
              <a:t>直方图处理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均衡化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61E17-57DA-4A1B-AA1F-0335D3593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600" b="1" dirty="0">
                <a:solidFill>
                  <a:srgbClr val="00B0F0"/>
                </a:solidFill>
              </a:rPr>
              <a:t>直方图均衡化 </a:t>
            </a:r>
            <a:r>
              <a:rPr lang="en-US" altLang="zh-CN" sz="3600" b="1" dirty="0">
                <a:solidFill>
                  <a:srgbClr val="00B0F0"/>
                </a:solidFill>
              </a:rPr>
              <a:t>(OpenCV)</a:t>
            </a:r>
          </a:p>
          <a:p>
            <a:pPr lvl="1">
              <a:lnSpc>
                <a:spcPct val="130000"/>
              </a:lnSpc>
            </a:pPr>
            <a:r>
              <a:rPr lang="en-US" altLang="zh-CN" sz="3200" dirty="0" err="1"/>
              <a:t>dst</a:t>
            </a:r>
            <a:r>
              <a:rPr lang="en-US" altLang="zh-CN" sz="3200" dirty="0"/>
              <a:t> = cv2.equalizeHist(</a:t>
            </a:r>
            <a:r>
              <a:rPr lang="en-US" altLang="zh-CN" sz="3200" dirty="0" err="1"/>
              <a:t>src</a:t>
            </a:r>
            <a:r>
              <a:rPr lang="en-US" altLang="zh-CN" sz="3200" dirty="0"/>
              <a:t>)</a:t>
            </a:r>
          </a:p>
        </p:txBody>
      </p:sp>
      <p:pic>
        <p:nvPicPr>
          <p:cNvPr id="1026" name="Picture 2" descr="Histogram_Equalization_Original_Image.jpg">
            <a:extLst>
              <a:ext uri="{FF2B5EF4-FFF2-40B4-BE49-F238E27FC236}">
                <a16:creationId xmlns:a16="http://schemas.microsoft.com/office/drawing/2014/main" id="{406DD95A-500A-43B8-A172-3F479A811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387" y="3429000"/>
            <a:ext cx="16573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2D5131-6800-493D-BFC3-CCF815413E57}"/>
              </a:ext>
            </a:extLst>
          </p:cNvPr>
          <p:cNvSpPr/>
          <p:nvPr/>
        </p:nvSpPr>
        <p:spPr>
          <a:xfrm>
            <a:off x="5256245" y="6488668"/>
            <a:ext cx="69357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hlinkClick r:id="rId3"/>
              </a:rPr>
              <a:t>https://docs.opencv.org/3.4/d4/d1b/tutorial_histogram_equalization.html</a:t>
            </a:r>
            <a:endParaRPr lang="zh-CN" altLang="en-US" dirty="0"/>
          </a:p>
        </p:txBody>
      </p:sp>
      <p:pic>
        <p:nvPicPr>
          <p:cNvPr id="1028" name="Picture 4" descr="Histogram_Equalization_Original_Histogram.jpg">
            <a:extLst>
              <a:ext uri="{FF2B5EF4-FFF2-40B4-BE49-F238E27FC236}">
                <a16:creationId xmlns:a16="http://schemas.microsoft.com/office/drawing/2014/main" id="{B0A778B1-657B-4D0D-BD52-BD338F414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868" y="3614737"/>
            <a:ext cx="1905000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istogram_Equalization_Equalized_Image.jpg">
            <a:extLst>
              <a:ext uri="{FF2B5EF4-FFF2-40B4-BE49-F238E27FC236}">
                <a16:creationId xmlns:a16="http://schemas.microsoft.com/office/drawing/2014/main" id="{6E43E8EB-8709-4712-8ABE-274C24E58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772" y="3424335"/>
            <a:ext cx="16573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istogram_Equalization_Equalized_Histogram.jpg">
            <a:extLst>
              <a:ext uri="{FF2B5EF4-FFF2-40B4-BE49-F238E27FC236}">
                <a16:creationId xmlns:a16="http://schemas.microsoft.com/office/drawing/2014/main" id="{2EB400FC-8A2D-43D9-A279-CC4C0026F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555" y="3610072"/>
            <a:ext cx="1905000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351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85C2-AD61-41E8-8C58-EACF1195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b="1" dirty="0"/>
              <a:t>空间滤波器基础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39C67-C870-431F-A9B4-7432143D2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高斯噪声 </a:t>
            </a:r>
            <a:r>
              <a:rPr lang="en-US" altLang="zh-CN" b="1" dirty="0">
                <a:solidFill>
                  <a:srgbClr val="0070C0"/>
                </a:solidFill>
              </a:rPr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空间域平滑滤波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E93EDD-3732-48C6-866C-46E27D8C9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327" y="2576963"/>
            <a:ext cx="3732110" cy="360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32EF14-B3B2-46B0-8571-5C1C16121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563" y="2576963"/>
            <a:ext cx="373211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110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FDD5-1EB4-47CF-9284-EDD9056A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4"/>
            </a:pPr>
            <a:r>
              <a:rPr lang="zh-CN" altLang="en-US" b="1" dirty="0"/>
              <a:t>空间滤波器基础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BC7C7-873F-42D6-AB24-82C0465F2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667" y="1825625"/>
            <a:ext cx="5655733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solidFill>
                  <a:srgbClr val="0070C0"/>
                </a:solidFill>
              </a:rPr>
              <a:t>定义：</a:t>
            </a:r>
            <a:r>
              <a:rPr lang="zh-CN" altLang="en-US" dirty="0"/>
              <a:t>使用空间模板对图像进行卷积处理，被成为</a:t>
            </a:r>
            <a:r>
              <a:rPr lang="zh-CN" altLang="en-US" b="1" dirty="0">
                <a:solidFill>
                  <a:srgbClr val="00B0F0"/>
                </a:solidFill>
              </a:rPr>
              <a:t>空间滤波</a:t>
            </a:r>
            <a:r>
              <a:rPr lang="zh-CN" altLang="en-US" dirty="0"/>
              <a:t>。模板本身被称为</a:t>
            </a:r>
            <a:r>
              <a:rPr lang="zh-CN" altLang="en-US" b="1" dirty="0">
                <a:solidFill>
                  <a:srgbClr val="00B050"/>
                </a:solidFill>
              </a:rPr>
              <a:t>空间滤波器</a:t>
            </a:r>
            <a:r>
              <a:rPr lang="zh-CN" altLang="en-US" dirty="0"/>
              <a:t>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3CCDD-DFAE-4E67-821B-E441B0963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1452875"/>
            <a:ext cx="4665939" cy="50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DC512E-05A8-4DDC-8899-C08275E148A8}"/>
                  </a:ext>
                </a:extLst>
              </p:cNvPr>
              <p:cNvSpPr txBox="1"/>
              <p:nvPr/>
            </p:nvSpPr>
            <p:spPr>
              <a:xfrm>
                <a:off x="1446280" y="4216400"/>
                <a:ext cx="5445080" cy="1045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DC512E-05A8-4DDC-8899-C08275E14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280" y="4216400"/>
                <a:ext cx="5445080" cy="10459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1003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BCFD-3ED9-4411-98C8-EA3AD2C1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低通（平滑）滤波器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09E39-574E-4171-9FDC-8D6049A5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作用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模糊处理：</a:t>
            </a:r>
            <a:r>
              <a:rPr lang="zh-CN" altLang="en-US" dirty="0"/>
              <a:t>去除图像中一些不重要的细节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减小噪声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分类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线性滤波器：</a:t>
            </a:r>
            <a:r>
              <a:rPr lang="zh-CN" altLang="en-US" dirty="0"/>
              <a:t>均值滤波器、高斯滤波器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非线性滤波器</a:t>
            </a:r>
            <a:endParaRPr lang="en-US" altLang="zh-CN" b="1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最大值滤波器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中值滤波器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最小值滤波器</a:t>
            </a:r>
          </a:p>
        </p:txBody>
      </p:sp>
    </p:spTree>
    <p:extLst>
      <p:ext uri="{BB962C8B-B14F-4D97-AF65-F5344CB8AC3E}">
        <p14:creationId xmlns:p14="http://schemas.microsoft.com/office/powerpoint/2010/main" val="28509232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85CF-CFE7-49AE-8EC0-C94E1F51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均值滤波器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1B1AB-9481-4160-BDA3-47EB75972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6901" y="1825625"/>
            <a:ext cx="49149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070C0"/>
                </a:solidFill>
              </a:rPr>
              <a:t>作用</a:t>
            </a:r>
            <a:endParaRPr lang="en-US" altLang="zh-CN" sz="3200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减小图像灰度的“尖锐”变化、减小噪声</a:t>
            </a:r>
            <a:endParaRPr lang="en-US" altLang="zh-CN" sz="2800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由于图像边缘是由图像灰度尖锐变化引起的，所以也存在边缘模糊的问题</a:t>
            </a:r>
            <a:endParaRPr lang="en-US" altLang="zh-C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41CD2-B9F2-4C39-9B3E-AAACFDCBC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87" y="2465175"/>
            <a:ext cx="6648450" cy="2409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3B376A-733E-48FD-A981-CA671C4DFA1A}"/>
                  </a:ext>
                </a:extLst>
              </p:cNvPr>
              <p:cNvSpPr txBox="1"/>
              <p:nvPr/>
            </p:nvSpPr>
            <p:spPr>
              <a:xfrm>
                <a:off x="838200" y="5217253"/>
                <a:ext cx="5881225" cy="8644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3B376A-733E-48FD-A981-CA671C4DF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17253"/>
                <a:ext cx="5881225" cy="864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7179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85CF-CFE7-49AE-8EC0-C94E1F51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均值滤波器（例</a:t>
            </a:r>
            <a:r>
              <a:rPr lang="en-US" altLang="zh-CN" b="1" dirty="0">
                <a:solidFill>
                  <a:srgbClr val="0070C0"/>
                </a:solidFill>
              </a:rPr>
              <a:t>1</a:t>
            </a:r>
            <a:r>
              <a:rPr lang="zh-CN" altLang="en-US" b="1" dirty="0">
                <a:solidFill>
                  <a:srgbClr val="0070C0"/>
                </a:solidFill>
              </a:rPr>
              <a:t>）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C3733-F8DF-4EA7-B43B-0ADDA931C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A3FC9D-58A4-499C-A320-575CB32B8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662" y="1690688"/>
            <a:ext cx="5344676" cy="503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875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85CF-CFE7-49AE-8EC0-C94E1F51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均值滤波器（例</a:t>
            </a:r>
            <a:r>
              <a:rPr lang="en-US" altLang="zh-CN" b="1" dirty="0">
                <a:solidFill>
                  <a:srgbClr val="0070C0"/>
                </a:solidFill>
              </a:rPr>
              <a:t>2</a:t>
            </a:r>
            <a:r>
              <a:rPr lang="zh-CN" altLang="en-US" b="1" dirty="0">
                <a:solidFill>
                  <a:srgbClr val="0070C0"/>
                </a:solidFill>
              </a:rPr>
              <a:t>）</a:t>
            </a:r>
            <a:endParaRPr lang="zh-CN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9C3733-F8DF-4EA7-B43B-0ADDA931C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通过模糊去噪提取感兴趣物体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44E8D-B324-4241-8904-972118250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904" y="2259822"/>
            <a:ext cx="9294191" cy="459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377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344A3-3CC2-46CC-9DF5-5B80E1662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高斯滤波器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ACAD7-A90A-4D0D-9062-363D71AF1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CN" b="1" dirty="0"/>
              <a:t>2D </a:t>
            </a:r>
            <a:r>
              <a:rPr lang="zh-CN" altLang="en-US" b="1" dirty="0"/>
              <a:t>高斯滤波器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45FCBB-4ECA-4E70-B1E7-9018079CE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231" y="1791970"/>
            <a:ext cx="4471538" cy="1356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69CD99-017C-4CB8-AE90-890E7AF22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" y="3148238"/>
            <a:ext cx="9893300" cy="316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1287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49CF4-38E5-4DF6-8B1F-8A3D730F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均值 </a:t>
            </a:r>
            <a:r>
              <a:rPr lang="en-US" altLang="zh-CN" b="1" dirty="0">
                <a:solidFill>
                  <a:srgbClr val="0070C0"/>
                </a:solidFill>
              </a:rPr>
              <a:t>vs </a:t>
            </a:r>
            <a:r>
              <a:rPr lang="zh-CN" altLang="en-US" b="1" dirty="0">
                <a:solidFill>
                  <a:srgbClr val="0070C0"/>
                </a:solidFill>
              </a:rPr>
              <a:t>高斯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93B58-544E-4F91-BC59-9BF834A69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529" y="2201294"/>
            <a:ext cx="8166942" cy="360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AFF60A-5C6D-4B9A-A852-ED547CBE58A6}"/>
              </a:ext>
            </a:extLst>
          </p:cNvPr>
          <p:cNvSpPr/>
          <p:nvPr/>
        </p:nvSpPr>
        <p:spPr>
          <a:xfrm>
            <a:off x="3354777" y="5801294"/>
            <a:ext cx="8803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均值 </a:t>
            </a:r>
            <a:endParaRPr lang="zh-CN" alt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82D908-C35C-442A-BAA3-CC0C79079C69}"/>
              </a:ext>
            </a:extLst>
          </p:cNvPr>
          <p:cNvSpPr/>
          <p:nvPr/>
        </p:nvSpPr>
        <p:spPr>
          <a:xfrm>
            <a:off x="8129977" y="5801293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高斯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69174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6AF6D-CCE2-4477-9620-A0123AF9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统计排序滤波器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B627C-0458-4EA6-961B-A7DB7791F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什么是统计排序滤波器？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/>
              <a:t>一种非线性滤波器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基于滤波器所在图像区域中像素的排序，由排序结果决定的值代替中心像素的值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分类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中值滤波器：</a:t>
            </a:r>
            <a:r>
              <a:rPr lang="zh-CN" altLang="en-US" dirty="0"/>
              <a:t>用像素领域内的中间值代替该像素，</a:t>
            </a:r>
            <a:r>
              <a:rPr lang="zh-CN" altLang="en-US" dirty="0">
                <a:solidFill>
                  <a:srgbClr val="FF0000"/>
                </a:solidFill>
              </a:rPr>
              <a:t>去除噪声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最大值滤波器：</a:t>
            </a:r>
            <a:r>
              <a:rPr lang="zh-CN" altLang="en-US" dirty="0"/>
              <a:t>用像素领域内的最大值代替该像素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最小值滤波器：</a:t>
            </a:r>
            <a:r>
              <a:rPr lang="zh-CN" altLang="en-US" dirty="0"/>
              <a:t>用像素领域内的最小值代替该像素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6079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256D-26C5-404C-A05B-9B67DEB4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中值滤波器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759DAE-199A-4A18-A339-A12EF63194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用模板区域内像素的中间值，作为结果值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𝑚𝑒𝑑𝑖𝑎𝑛</m:t>
                      </m:r>
                      <m:d>
                        <m:dPr>
                          <m:begChr m:val="{"/>
                          <m:endChr m:val="|"/>
                          <m:ctrlPr>
                            <a:rPr lang="en-US" altLang="zh-CN" sz="36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6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60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让突出的亮点（暗点）更像其周围的值，消除孤立的亮点（暗点）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759DAE-199A-4A18-A339-A12EF63194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918E86A-060A-46DE-AC84-538ED1D4D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173" y="4213445"/>
            <a:ext cx="5433653" cy="241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457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256D-26C5-404C-A05B-9B67DEB4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中值滤波器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59DAE-199A-4A18-A339-A12EF6319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/>
              <a:t>特点：</a:t>
            </a:r>
            <a:endParaRPr lang="en-US" altLang="zh-CN" sz="2400" b="1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在去除噪音的同时， 可以比较好地保留边的锐度和图像的细节（ 优于均值滤波器）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能够有效去除</a:t>
            </a:r>
            <a:r>
              <a:rPr lang="zh-CN" altLang="en-US" sz="2000" b="1" dirty="0">
                <a:solidFill>
                  <a:schemeClr val="accent1"/>
                </a:solidFill>
              </a:rPr>
              <a:t>脉冲噪声</a:t>
            </a:r>
            <a:r>
              <a:rPr lang="zh-CN" altLang="en-US" sz="2000" dirty="0"/>
              <a:t>：以黑白点叠加在图像上 </a:t>
            </a:r>
            <a:br>
              <a:rPr lang="zh-CN" altLang="en-US" sz="2000" dirty="0"/>
            </a:br>
            <a:endParaRPr lang="en-US" altLang="zh-C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B78E3-C1A7-43A4-8108-E7BEB7065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366" y="3188410"/>
            <a:ext cx="7073267" cy="366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1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457B-E1AB-4EE9-A8C6-30F2AA8C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高通（锐化）滤波器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0086E-20CE-4AE8-9232-8955D85B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/>
              <a:t>主要用途：</a:t>
            </a:r>
            <a:endParaRPr lang="en-US" altLang="zh-CN" b="1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突出图像中的细节，增强被模糊了的细节</a:t>
            </a:r>
          </a:p>
          <a:p>
            <a:pPr lvl="1">
              <a:lnSpc>
                <a:spcPct val="110000"/>
              </a:lnSpc>
            </a:pPr>
            <a:r>
              <a:rPr lang="zh-CN" altLang="en-US" dirty="0"/>
              <a:t>印刷中的细微层次、弥补扫描对图像的钝化</a:t>
            </a:r>
          </a:p>
          <a:p>
            <a:pPr lvl="1">
              <a:lnSpc>
                <a:spcPct val="110000"/>
              </a:lnSpc>
            </a:pPr>
            <a:r>
              <a:rPr lang="zh-CN" altLang="en-US" dirty="0"/>
              <a:t>超声探测成像，分辨率低，边缘模糊，通过锐化来改善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图像识别中，分割前的边缘提取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锐化处理恢复过度钝化、暴光不足的图像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428D15-C09E-47B9-AE88-55C0BF8D9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795" y="4814888"/>
            <a:ext cx="6712409" cy="14970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F0DD12-CA69-4C1B-B5D3-DD6F20CD3A8B}"/>
              </a:ext>
            </a:extLst>
          </p:cNvPr>
          <p:cNvSpPr txBox="1"/>
          <p:nvPr/>
        </p:nvSpPr>
        <p:spPr>
          <a:xfrm>
            <a:off x="1849120" y="6304895"/>
            <a:ext cx="1194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</a:rPr>
              <a:t>Smooth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CE0A9-4E4F-4D31-93D3-B3E4FED13BC7}"/>
              </a:ext>
            </a:extLst>
          </p:cNvPr>
          <p:cNvSpPr txBox="1"/>
          <p:nvPr/>
        </p:nvSpPr>
        <p:spPr>
          <a:xfrm>
            <a:off x="9022080" y="6304894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</a:rPr>
              <a:t>Sharpen</a:t>
            </a:r>
            <a:endParaRPr lang="zh-CN" alt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7843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457B-E1AB-4EE9-A8C6-30F2AA8C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高通（锐化）滤波器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0086E-20CE-4AE8-9232-8955D85BB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45735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均值产生钝化</a:t>
            </a:r>
            <a:r>
              <a:rPr lang="zh-CN" altLang="en-US" dirty="0"/>
              <a:t>的效果， 而</a:t>
            </a:r>
            <a:r>
              <a:rPr lang="zh-CN" altLang="en-US" b="1" dirty="0">
                <a:solidFill>
                  <a:srgbClr val="FF0000"/>
                </a:solidFill>
              </a:rPr>
              <a:t>均值与积分</a:t>
            </a:r>
            <a:r>
              <a:rPr lang="zh-CN" altLang="en-US" dirty="0"/>
              <a:t>相似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微分</a:t>
            </a:r>
            <a:r>
              <a:rPr lang="zh-CN" altLang="en-US" dirty="0"/>
              <a:t>能不能产生相反的效果， 即</a:t>
            </a:r>
            <a:r>
              <a:rPr lang="zh-CN" altLang="en-US" b="1" dirty="0">
                <a:solidFill>
                  <a:srgbClr val="FF0000"/>
                </a:solidFill>
              </a:rPr>
              <a:t>锐化</a:t>
            </a:r>
            <a:r>
              <a:rPr lang="zh-CN" altLang="en-US" dirty="0"/>
              <a:t>的效果？ 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在图像处理中应用微分最常用的方法是计算</a:t>
            </a:r>
            <a:r>
              <a:rPr lang="zh-CN" altLang="en-US" b="1" dirty="0">
                <a:solidFill>
                  <a:srgbClr val="FF0000"/>
                </a:solidFill>
              </a:rPr>
              <a:t>梯度</a:t>
            </a:r>
            <a:br>
              <a:rPr lang="zh-CN" altLang="en-US" dirty="0"/>
            </a:br>
            <a:endParaRPr lang="en-US" altLang="zh-C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40A35-9B37-4DDA-88A7-EC93C51CB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375" y="1690688"/>
            <a:ext cx="4959425" cy="50244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6785AB-54B9-46B5-A2FF-038ABFD5386F}"/>
                  </a:ext>
                </a:extLst>
              </p:cNvPr>
              <p:cNvSpPr txBox="1"/>
              <p:nvPr/>
            </p:nvSpPr>
            <p:spPr>
              <a:xfrm>
                <a:off x="2499360" y="4972138"/>
                <a:ext cx="2376100" cy="1520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6785AB-54B9-46B5-A2FF-038ABFD53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360" y="4972138"/>
                <a:ext cx="2376100" cy="15207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15615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457B-E1AB-4EE9-A8C6-30F2AA8C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高通（锐化）滤波器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0086E-20CE-4AE8-9232-8955D85BB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45735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3600" b="1" dirty="0">
                <a:solidFill>
                  <a:schemeClr val="accent1"/>
                </a:solidFill>
              </a:rPr>
              <a:t>利用边缘来增强图像</a:t>
            </a:r>
            <a:br>
              <a:rPr lang="zh-CN" altLang="en-US" sz="3600" b="1" dirty="0">
                <a:solidFill>
                  <a:schemeClr val="accent1"/>
                </a:solidFill>
              </a:rPr>
            </a:br>
            <a:endParaRPr lang="en-US" altLang="zh-CN" sz="3600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4516A8-AA0E-46EA-AED7-39B029F91730}"/>
                  </a:ext>
                </a:extLst>
              </p:cNvPr>
              <p:cNvSpPr txBox="1"/>
              <p:nvPr/>
            </p:nvSpPr>
            <p:spPr>
              <a:xfrm>
                <a:off x="3116947" y="3853935"/>
                <a:ext cx="595810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4516A8-AA0E-46EA-AED7-39B029F91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947" y="3853935"/>
                <a:ext cx="595810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8CD42EC-F86D-4FDE-88A2-CE8AD62B078B}"/>
              </a:ext>
            </a:extLst>
          </p:cNvPr>
          <p:cNvSpPr/>
          <p:nvPr/>
        </p:nvSpPr>
        <p:spPr>
          <a:xfrm>
            <a:off x="5261750" y="2733637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原始图像</a:t>
            </a:r>
            <a:endParaRPr lang="zh-CN" alt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11F5D-C046-4FBD-8165-B48277B25874}"/>
              </a:ext>
            </a:extLst>
          </p:cNvPr>
          <p:cNvSpPr/>
          <p:nvPr/>
        </p:nvSpPr>
        <p:spPr>
          <a:xfrm>
            <a:off x="2852787" y="5263534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锐化增强图像</a:t>
            </a:r>
            <a:endParaRPr lang="zh-CN" alt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EF4FC4-846A-46F2-B579-8C435B76B1AC}"/>
              </a:ext>
            </a:extLst>
          </p:cNvPr>
          <p:cNvSpPr/>
          <p:nvPr/>
        </p:nvSpPr>
        <p:spPr>
          <a:xfrm>
            <a:off x="8445241" y="526353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边缘图像</a:t>
            </a:r>
            <a:endParaRPr lang="zh-CN" alt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794A83-37CF-4D14-B1D6-298D24369B13}"/>
              </a:ext>
            </a:extLst>
          </p:cNvPr>
          <p:cNvSpPr/>
          <p:nvPr/>
        </p:nvSpPr>
        <p:spPr>
          <a:xfrm>
            <a:off x="6444485" y="5263534"/>
            <a:ext cx="14350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比例因子</a:t>
            </a:r>
            <a:endParaRPr lang="zh-CN" altLang="en-US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83BF34-F3AF-4B8E-AAAE-1B1271B4B914}"/>
              </a:ext>
            </a:extLst>
          </p:cNvPr>
          <p:cNvCxnSpPr>
            <a:stCxn id="6" idx="0"/>
            <a:endCxn id="7" idx="2"/>
          </p:cNvCxnSpPr>
          <p:nvPr/>
        </p:nvCxnSpPr>
        <p:spPr>
          <a:xfrm flipH="1" flipV="1">
            <a:off x="5972842" y="3195302"/>
            <a:ext cx="123158" cy="6586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AC0575-17A7-45D7-BCC1-5191B8851D1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873259" y="4407933"/>
            <a:ext cx="0" cy="855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E5BC76-6923-4A03-92AD-C30B251F8492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161989" y="4407933"/>
            <a:ext cx="10489" cy="855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B0CBC8-743D-4E7C-874B-2D1AEAC9E3B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445241" y="4407933"/>
            <a:ext cx="711092" cy="8556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7327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FF9E37-DF48-41B8-97DB-B84CF2721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590" y="1525814"/>
            <a:ext cx="6680299" cy="49670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C8FDD-395C-46EE-B1C2-817643F2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高通（锐化）滤波器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C2F95-67AD-43E2-AB20-3F048A01E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70306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梯度与边缘</a:t>
            </a:r>
            <a:endParaRPr lang="en-US" altLang="zh-CN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一阶梯度：</a:t>
            </a:r>
            <a:r>
              <a:rPr lang="zh-CN" altLang="en-US" b="1" dirty="0"/>
              <a:t>产生较宽的边缘</a:t>
            </a:r>
            <a:endParaRPr lang="en-US" altLang="zh-CN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二阶梯度：</a:t>
            </a:r>
            <a:r>
              <a:rPr lang="zh-CN" altLang="en-US" b="1" dirty="0"/>
              <a:t>产生细的边缘</a:t>
            </a:r>
            <a:endParaRPr lang="en-US" altLang="zh-CN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b="1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04EB17-B94A-4AC4-8E0C-AA7DBCC1BB8A}"/>
                  </a:ext>
                </a:extLst>
              </p:cNvPr>
              <p:cNvSpPr/>
              <p:nvPr/>
            </p:nvSpPr>
            <p:spPr>
              <a:xfrm>
                <a:off x="1023256" y="4219621"/>
                <a:ext cx="6096000" cy="13415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C04EB17-B94A-4AC4-8E0C-AA7DBCC1BB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56" y="4219621"/>
                <a:ext cx="6096000" cy="13415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C43AEA-FC05-4F80-9F7D-5163C6DDD298}"/>
                  </a:ext>
                </a:extLst>
              </p:cNvPr>
              <p:cNvSpPr/>
              <p:nvPr/>
            </p:nvSpPr>
            <p:spPr>
              <a:xfrm>
                <a:off x="1121252" y="3164492"/>
                <a:ext cx="3101555" cy="677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C43AEA-FC05-4F80-9F7D-5163C6DDD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252" y="3164492"/>
                <a:ext cx="3101555" cy="6776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50473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934A-8CD6-48D2-B8F0-BFD07963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高通（锐化）滤波器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C27EE-2824-4249-B8A1-3CBEAD93F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77408" cy="4351338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梯度方向与幅值</a:t>
            </a:r>
            <a:endParaRPr lang="en-US" altLang="zh-CN" b="1" dirty="0">
              <a:solidFill>
                <a:schemeClr val="accent1"/>
              </a:solidFill>
            </a:endParaRP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AD4CC-9A4D-41C8-AE97-510BB5124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36460"/>
            <a:ext cx="5700754" cy="28453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2FDD10-5AAB-4ADB-8347-3BE28E1F66EE}"/>
                  </a:ext>
                </a:extLst>
              </p:cNvPr>
              <p:cNvSpPr txBox="1"/>
              <p:nvPr/>
            </p:nvSpPr>
            <p:spPr>
              <a:xfrm>
                <a:off x="1774683" y="2480557"/>
                <a:ext cx="2376100" cy="1520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2FDD10-5AAB-4ADB-8347-3BE28E1F6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83" y="2480557"/>
                <a:ext cx="2376100" cy="1520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AF70B3-F3E9-4227-AE0E-B92E7271BBE7}"/>
                  </a:ext>
                </a:extLst>
              </p:cNvPr>
              <p:cNvSpPr txBox="1"/>
              <p:nvPr/>
            </p:nvSpPr>
            <p:spPr>
              <a:xfrm>
                <a:off x="1774683" y="4201548"/>
                <a:ext cx="2693110" cy="751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AF70B3-F3E9-4227-AE0E-B92E7271B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83" y="4201548"/>
                <a:ext cx="2693110" cy="751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A2A06F-4918-4FEE-BF1E-879C671D2C53}"/>
                  </a:ext>
                </a:extLst>
              </p:cNvPr>
              <p:cNvSpPr txBox="1"/>
              <p:nvPr/>
            </p:nvSpPr>
            <p:spPr>
              <a:xfrm>
                <a:off x="1774683" y="5277983"/>
                <a:ext cx="2784865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)≈|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|+|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A2A06F-4918-4FEE-BF1E-879C671D2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683" y="5277983"/>
                <a:ext cx="2784865" cy="398507"/>
              </a:xfrm>
              <a:prstGeom prst="rect">
                <a:avLst/>
              </a:prstGeom>
              <a:blipFill>
                <a:blip r:embed="rId5"/>
                <a:stretch>
                  <a:fillRect l="-1969" r="-3501" b="-2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2240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6264-C942-4D3A-8A35-0D8FC536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高通（锐化）滤波器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3CDFA-0434-46A5-940D-78327FC99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二阶梯度（拉普拉斯）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钝化掩蔽和高提升滤波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一阶梯度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Roberts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Sobel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Prewitt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70014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BA71-EEC9-453E-810F-3A1185FC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拉普拉斯滤波器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FAAB8-CDF4-410C-9DC0-E99052C4E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</a:rPr>
              <a:t>拉普拉斯滤波器 （二阶梯度）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6D454-73C0-439C-B408-08C8182EE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253" y="2497491"/>
            <a:ext cx="5678747" cy="34231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65A5522-C008-4034-BBC3-11320C1F797D}"/>
                  </a:ext>
                </a:extLst>
              </p:cNvPr>
              <p:cNvSpPr/>
              <p:nvPr/>
            </p:nvSpPr>
            <p:spPr>
              <a:xfrm>
                <a:off x="1985529" y="2623202"/>
                <a:ext cx="2820580" cy="915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200" dirty="0"/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zh-CN" alt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65A5522-C008-4034-BBC3-11320C1F79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529" y="2623202"/>
                <a:ext cx="2820580" cy="915443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EF4AC4C-0ECF-41CF-84F8-F2D5F1B239BB}"/>
                  </a:ext>
                </a:extLst>
              </p:cNvPr>
              <p:cNvSpPr/>
              <p:nvPr/>
            </p:nvSpPr>
            <p:spPr>
              <a:xfrm>
                <a:off x="477231" y="3792309"/>
                <a:ext cx="5837175" cy="833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EF4AC4C-0ECF-41CF-84F8-F2D5F1B239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31" y="3792309"/>
                <a:ext cx="5837175" cy="8334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0AA4380-006C-477D-83A4-C45D06B15FCD}"/>
                  </a:ext>
                </a:extLst>
              </p:cNvPr>
              <p:cNvSpPr/>
              <p:nvPr/>
            </p:nvSpPr>
            <p:spPr>
              <a:xfrm>
                <a:off x="477231" y="4942655"/>
                <a:ext cx="5838714" cy="8965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0AA4380-006C-477D-83A4-C45D06B15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31" y="4942655"/>
                <a:ext cx="5838714" cy="8965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01FE95-0A91-4C21-BE3D-BA9E2B3D0F77}"/>
                  </a:ext>
                </a:extLst>
              </p:cNvPr>
              <p:cNvSpPr txBox="1"/>
              <p:nvPr/>
            </p:nvSpPr>
            <p:spPr>
              <a:xfrm>
                <a:off x="6703054" y="1669115"/>
                <a:ext cx="52991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01FE95-0A91-4C21-BE3D-BA9E2B3D0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054" y="1669115"/>
                <a:ext cx="5299143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4835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9C9D-1B63-42F8-B62A-7F738CFB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</a:t>
            </a:r>
            <a:r>
              <a:rPr lang="zh-CN" altLang="en-US" b="1" dirty="0">
                <a:solidFill>
                  <a:srgbClr val="0070C0"/>
                </a:solidFill>
              </a:rPr>
              <a:t>拉普拉斯滤波器（例）</a:t>
            </a:r>
            <a:endParaRPr lang="zh-CN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0E5AE1B-1D60-4C9F-868B-779B863C63BC}"/>
              </a:ext>
            </a:extLst>
          </p:cNvPr>
          <p:cNvGrpSpPr/>
          <p:nvPr/>
        </p:nvGrpSpPr>
        <p:grpSpPr>
          <a:xfrm>
            <a:off x="6246022" y="1413732"/>
            <a:ext cx="6022088" cy="5443519"/>
            <a:chOff x="6246022" y="1413732"/>
            <a:chExt cx="6022088" cy="544351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932C66E-3A3E-4C93-B1D6-406AA8061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1510" y="1937830"/>
              <a:ext cx="5298828" cy="4919421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6B3905-1ABE-4F5C-82F4-2737853703F9}"/>
                </a:ext>
              </a:extLst>
            </p:cNvPr>
            <p:cNvSpPr/>
            <p:nvPr/>
          </p:nvSpPr>
          <p:spPr>
            <a:xfrm>
              <a:off x="7343780" y="1568498"/>
              <a:ext cx="200919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原图</a:t>
              </a:r>
              <a:r>
                <a:rPr lang="en-US" altLang="zh-CN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:</a:t>
              </a:r>
              <a:r>
                <a:rPr lang="zh-CN" altLang="en-US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月球北极</a:t>
              </a:r>
              <a:r>
                <a:rPr lang="zh-CN" altLang="en-US" b="1" dirty="0"/>
                <a:t> 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046A038-F9C2-4287-B72B-84F8D86E6040}"/>
                </a:ext>
              </a:extLst>
            </p:cNvPr>
            <p:cNvSpPr/>
            <p:nvPr/>
          </p:nvSpPr>
          <p:spPr>
            <a:xfrm>
              <a:off x="9782804" y="1413732"/>
              <a:ext cx="17675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Laplacian</a:t>
              </a:r>
              <a:r>
                <a:rPr lang="zh-CN" altLang="en-US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滤波后的图像</a:t>
              </a:r>
              <a:endParaRPr lang="zh-CN" altLang="en-US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33B150-1492-464F-827A-E3A9AB1EA863}"/>
                </a:ext>
              </a:extLst>
            </p:cNvPr>
            <p:cNvSpPr/>
            <p:nvPr/>
          </p:nvSpPr>
          <p:spPr>
            <a:xfrm>
              <a:off x="6246022" y="4534999"/>
              <a:ext cx="200919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标定的图像</a:t>
              </a:r>
              <a:endParaRPr lang="zh-CN" altLang="en-US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D9E8EB-3178-4B66-BCCF-488AADEDCDE6}"/>
                </a:ext>
              </a:extLst>
            </p:cNvPr>
            <p:cNvSpPr/>
            <p:nvPr/>
          </p:nvSpPr>
          <p:spPr>
            <a:xfrm>
              <a:off x="10258918" y="4534999"/>
              <a:ext cx="200919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增强后的图像</a:t>
              </a:r>
              <a:endParaRPr lang="zh-CN" altLang="en-US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C057305-1DB5-4548-9325-728479899DCA}"/>
                  </a:ext>
                </a:extLst>
              </p:cNvPr>
              <p:cNvSpPr/>
              <p:nvPr/>
            </p:nvSpPr>
            <p:spPr>
              <a:xfrm>
                <a:off x="416350" y="1937830"/>
                <a:ext cx="5524141" cy="13713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m:rPr>
                                    <m:brk m:alnAt="7"/>
                                  </m:rP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</m:e>
                                  <m:sup>
                                    <m:r>
                                      <a:rPr lang="en-US" altLang="zh-CN" sz="3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3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C057305-1DB5-4548-9325-728479899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50" y="1937830"/>
                <a:ext cx="5524141" cy="1371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8A59186-5FD2-4CE1-94B0-8DB1D2321937}"/>
              </a:ext>
            </a:extLst>
          </p:cNvPr>
          <p:cNvGrpSpPr/>
          <p:nvPr/>
        </p:nvGrpSpPr>
        <p:grpSpPr>
          <a:xfrm>
            <a:off x="505193" y="3899629"/>
            <a:ext cx="5150466" cy="2555437"/>
            <a:chOff x="542516" y="3788229"/>
            <a:chExt cx="5150466" cy="255543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7522CD8-DF4F-4CE6-AA48-3B8CC6EA1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3684" y="3788229"/>
              <a:ext cx="4239298" cy="25554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6D2CBEC-A09A-42B4-9CF6-A06E30B60A78}"/>
                    </a:ext>
                  </a:extLst>
                </p:cNvPr>
                <p:cNvSpPr/>
                <p:nvPr/>
              </p:nvSpPr>
              <p:spPr>
                <a:xfrm>
                  <a:off x="542516" y="4135930"/>
                  <a:ext cx="63190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altLang="zh-CN" sz="28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US" altLang="zh-CN" sz="2800" dirty="0">
                      <a:solidFill>
                        <a:srgbClr val="00B0F0"/>
                      </a:solidFill>
                    </a:rPr>
                    <a:t>1</a:t>
                  </a:r>
                  <a:endParaRPr lang="zh-CN" altLang="en-US" sz="28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86D2CBEC-A09A-42B4-9CF6-A06E30B60A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516" y="4135930"/>
                  <a:ext cx="631904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2791" r="-17308" b="-313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ADC502C-9706-4746-95BE-21B18BFC7FD0}"/>
                </a:ext>
              </a:extLst>
            </p:cNvPr>
            <p:cNvSpPr/>
            <p:nvPr/>
          </p:nvSpPr>
          <p:spPr>
            <a:xfrm>
              <a:off x="713055" y="5485913"/>
              <a:ext cx="36420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rgbClr val="00B0F0"/>
                  </a:solidFill>
                </a:rPr>
                <a:t>1</a:t>
              </a:r>
              <a:endParaRPr lang="zh-CN" altLang="en-US" sz="2800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919F3D-EDB1-4449-9901-EC8C43908073}"/>
              </a:ext>
            </a:extLst>
          </p:cNvPr>
          <p:cNvCxnSpPr/>
          <p:nvPr/>
        </p:nvCxnSpPr>
        <p:spPr>
          <a:xfrm>
            <a:off x="505193" y="5178488"/>
            <a:ext cx="40294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9253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02AC-02A4-4DF1-8862-CDD5FB94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</a:t>
            </a:r>
            <a:r>
              <a:rPr lang="zh-CN" altLang="en-US" b="1" dirty="0">
                <a:solidFill>
                  <a:srgbClr val="0070C0"/>
                </a:solidFill>
              </a:rPr>
              <a:t>拉普拉斯算子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FA3832-4354-4811-8789-D71336592A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60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3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brk m:alnAt="7"/>
                      </m:rPr>
                      <a:rPr lang="en-US" altLang="zh-CN" sz="3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altLang="zh-CN" sz="3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brk m:alnAt="7"/>
                      </m:rPr>
                      <a:rPr lang="en-US" altLang="zh-CN" sz="36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36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−[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]=5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−[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FA3832-4354-4811-8789-D71336592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4F15F9D-2285-46B1-8AC0-E51DD861F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491" y="4001294"/>
            <a:ext cx="2980952" cy="2342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AF3AA1-8F9F-44C4-8B60-23E198577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559" y="4058437"/>
            <a:ext cx="2676190" cy="2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460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02AC-02A4-4DF1-8862-CDD5FB94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</a:t>
            </a:r>
            <a:r>
              <a:rPr lang="zh-CN" altLang="en-US" b="1" dirty="0">
                <a:solidFill>
                  <a:srgbClr val="0070C0"/>
                </a:solidFill>
              </a:rPr>
              <a:t>拉普拉斯算子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A3832-4354-4811-8789-D71336592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8159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zh-CN" alt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A1299-82AB-4998-B7E8-66895F43B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490" y="1506213"/>
            <a:ext cx="5555019" cy="535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415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95A8-8169-4255-92C1-F55CAD71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chemeClr val="accent1"/>
                </a:solidFill>
              </a:rPr>
              <a:t>钝化掩蔽和高提升滤波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86DBC-2D73-40A1-A456-9BB8A96B0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8543" cy="43513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/>
              <a:t>Image Sharpening by Unsharp Masking and </a:t>
            </a:r>
            <a:r>
              <a:rPr lang="en-US" altLang="zh-CN" dirty="0" err="1"/>
              <a:t>Highboost</a:t>
            </a:r>
            <a:r>
              <a:rPr lang="en-US" altLang="zh-CN" dirty="0"/>
              <a:t> Filtering</a:t>
            </a:r>
          </a:p>
          <a:p>
            <a:pPr>
              <a:lnSpc>
                <a:spcPct val="110000"/>
              </a:lnSpc>
            </a:pPr>
            <a:r>
              <a:rPr lang="zh-CN" altLang="en-US" b="1" dirty="0"/>
              <a:t>步骤</a:t>
            </a:r>
            <a:r>
              <a:rPr lang="en-US" altLang="zh-CN" b="1" dirty="0"/>
              <a:t>1</a:t>
            </a:r>
            <a:r>
              <a:rPr lang="zh-CN" altLang="en-US" b="1" dirty="0"/>
              <a:t>：</a:t>
            </a:r>
            <a:r>
              <a:rPr lang="zh-CN" altLang="en-US" dirty="0"/>
              <a:t>模糊原图像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b="1" dirty="0"/>
              <a:t>步骤</a:t>
            </a:r>
            <a:r>
              <a:rPr lang="en-US" altLang="zh-CN" b="1" dirty="0"/>
              <a:t>2</a:t>
            </a:r>
            <a:r>
              <a:rPr lang="zh-CN" altLang="en-US" b="1" dirty="0"/>
              <a:t>：</a:t>
            </a:r>
            <a:r>
              <a:rPr lang="zh-CN" altLang="en-US" dirty="0"/>
              <a:t>用原图像减去模糊后的图像得到模板（</a:t>
            </a:r>
            <a:r>
              <a:rPr lang="en-US" altLang="zh-CN" dirty="0"/>
              <a:t>mask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b="1" dirty="0"/>
              <a:t>步骤</a:t>
            </a:r>
            <a:r>
              <a:rPr lang="en-US" altLang="zh-CN" b="1" dirty="0"/>
              <a:t>3</a:t>
            </a:r>
            <a:r>
              <a:rPr lang="zh-CN" altLang="en-US" b="1" dirty="0"/>
              <a:t>：</a:t>
            </a:r>
            <a:r>
              <a:rPr lang="zh-CN" altLang="en-US" dirty="0"/>
              <a:t>将</a:t>
            </a:r>
            <a:r>
              <a:rPr lang="en-US" altLang="zh-CN" dirty="0"/>
              <a:t>mask</a:t>
            </a:r>
            <a:r>
              <a:rPr lang="zh-CN" altLang="en-US" dirty="0"/>
              <a:t>和原图相加</a:t>
            </a:r>
            <a:endParaRPr lang="en-US" altLang="zh-CN" dirty="0"/>
          </a:p>
          <a:p>
            <a:pPr>
              <a:lnSpc>
                <a:spcPct val="110000"/>
              </a:lnSpc>
            </a:pPr>
            <a:endParaRPr lang="zh-CN" alt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7A3D433-2EAE-492A-922C-219279E99DB5}"/>
              </a:ext>
            </a:extLst>
          </p:cNvPr>
          <p:cNvGrpSpPr/>
          <p:nvPr/>
        </p:nvGrpSpPr>
        <p:grpSpPr>
          <a:xfrm>
            <a:off x="7131699" y="1887874"/>
            <a:ext cx="4637140" cy="4289089"/>
            <a:chOff x="6431902" y="2502528"/>
            <a:chExt cx="4637140" cy="428908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6790CB-5FF3-4ED7-8ADD-17AB4FE0C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31902" y="2532058"/>
              <a:ext cx="2908041" cy="425955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868F59-FFAC-4926-9F49-1F2BFDE14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8152" y="2502528"/>
              <a:ext cx="1590890" cy="4095361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56CC7AA-A572-4901-BF48-E578E89B4396}"/>
                  </a:ext>
                </a:extLst>
              </p:cNvPr>
              <p:cNvSpPr/>
              <p:nvPr/>
            </p:nvSpPr>
            <p:spPr>
              <a:xfrm>
                <a:off x="397389" y="5448922"/>
                <a:ext cx="6596101" cy="5343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altLang="zh-CN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56CC7AA-A572-4901-BF48-E578E89B43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89" y="5448922"/>
                <a:ext cx="6596101" cy="5343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68674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95A8-8169-4255-92C1-F55CAD71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chemeClr val="accent1"/>
                </a:solidFill>
              </a:rPr>
              <a:t>钝化掩蔽和高提升滤波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95D3470-FE3E-419B-ABB2-517AB67D2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A67158-A3C9-47F3-A875-950FEBC69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230" y="1513407"/>
            <a:ext cx="8101540" cy="516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363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3CD29B-1DEA-49F8-9ECB-D5DE7059E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8543" cy="43513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b="1" dirty="0"/>
              <a:t>Roberts </a:t>
            </a:r>
            <a:r>
              <a:rPr lang="zh-CN" altLang="en-US" b="1" dirty="0"/>
              <a:t>和 </a:t>
            </a:r>
            <a:r>
              <a:rPr lang="en-US" altLang="zh-CN" b="1" dirty="0"/>
              <a:t>Sobel</a:t>
            </a:r>
            <a:r>
              <a:rPr lang="zh-CN" altLang="en-US" b="1" dirty="0"/>
              <a:t>算子</a:t>
            </a:r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A02AC-02A4-4DF1-8862-CDD5FB94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一阶梯度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AF633-4FE0-42F0-876A-09FEB2212C7F}"/>
                  </a:ext>
                </a:extLst>
              </p:cNvPr>
              <p:cNvSpPr txBox="1"/>
              <p:nvPr/>
            </p:nvSpPr>
            <p:spPr>
              <a:xfrm>
                <a:off x="1597919" y="2480557"/>
                <a:ext cx="2376100" cy="1520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zh-CN" altLang="en-US" sz="240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8AF633-4FE0-42F0-876A-09FEB2212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919" y="2480557"/>
                <a:ext cx="2376100" cy="15207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02A934-FA4D-4E1F-AA8D-4963D2E27699}"/>
                  </a:ext>
                </a:extLst>
              </p:cNvPr>
              <p:cNvSpPr txBox="1"/>
              <p:nvPr/>
            </p:nvSpPr>
            <p:spPr>
              <a:xfrm>
                <a:off x="1597919" y="4201548"/>
                <a:ext cx="2693110" cy="7515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02A934-FA4D-4E1F-AA8D-4963D2E27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919" y="4201548"/>
                <a:ext cx="2693110" cy="751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5ABF7B-DB3B-4FFD-A959-93C1F71C3732}"/>
                  </a:ext>
                </a:extLst>
              </p:cNvPr>
              <p:cNvSpPr txBox="1"/>
              <p:nvPr/>
            </p:nvSpPr>
            <p:spPr>
              <a:xfrm>
                <a:off x="1597919" y="5277983"/>
                <a:ext cx="2784865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)≈|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|+|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5ABF7B-DB3B-4FFD-A959-93C1F71C3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919" y="5277983"/>
                <a:ext cx="2784865" cy="398507"/>
              </a:xfrm>
              <a:prstGeom prst="rect">
                <a:avLst/>
              </a:prstGeom>
              <a:blipFill>
                <a:blip r:embed="rId4"/>
                <a:stretch>
                  <a:fillRect l="-1969" r="-3501" b="-2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84DE932-BCDE-4C42-A92A-35A88C310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2784" y="1953241"/>
            <a:ext cx="7671431" cy="454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763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CA89-EFB5-495B-B76A-7C83E77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ea"/>
              <a:buAutoNum type="circleNumDbPlain" startAt="5"/>
            </a:pPr>
            <a:r>
              <a:rPr lang="zh-CN" altLang="en-US" b="1" dirty="0"/>
              <a:t>空间滤波器  </a:t>
            </a:r>
            <a:r>
              <a:rPr lang="en-US" altLang="zh-CN" b="1" dirty="0"/>
              <a:t>– </a:t>
            </a:r>
            <a:r>
              <a:rPr lang="zh-CN" altLang="en-US" b="1" dirty="0">
                <a:solidFill>
                  <a:srgbClr val="0070C0"/>
                </a:solidFill>
              </a:rPr>
              <a:t>一阶梯度（例）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E71CD-6B2C-43D9-B1F8-4AC8C8801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/>
                </a:solidFill>
              </a:rPr>
              <a:t>利用梯度增强边缘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93DAB4C-E796-4A8F-9C96-76D2CE1E1CA8}"/>
              </a:ext>
            </a:extLst>
          </p:cNvPr>
          <p:cNvGrpSpPr/>
          <p:nvPr/>
        </p:nvGrpSpPr>
        <p:grpSpPr>
          <a:xfrm>
            <a:off x="2471454" y="2602463"/>
            <a:ext cx="7249091" cy="4086355"/>
            <a:chOff x="2471454" y="2406520"/>
            <a:chExt cx="7249091" cy="40863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52E3960-22F4-4EB0-9ACE-249A7749C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1454" y="2406520"/>
              <a:ext cx="7249091" cy="3600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7552D59-5F78-4CFB-90F3-454B5BD5F20B}"/>
                </a:ext>
              </a:extLst>
            </p:cNvPr>
            <p:cNvSpPr/>
            <p:nvPr/>
          </p:nvSpPr>
          <p:spPr>
            <a:xfrm>
              <a:off x="3325540" y="6123543"/>
              <a:ext cx="200919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原始图像</a:t>
              </a:r>
              <a:endParaRPr lang="zh-CN" altLang="en-US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718937-319B-4DB1-8F74-A901C339D08C}"/>
                </a:ext>
              </a:extLst>
            </p:cNvPr>
            <p:cNvSpPr/>
            <p:nvPr/>
          </p:nvSpPr>
          <p:spPr>
            <a:xfrm>
              <a:off x="6857270" y="6123543"/>
              <a:ext cx="200919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Sobel</a:t>
              </a:r>
              <a:r>
                <a:rPr lang="zh-CN" altLang="en-US" b="1" dirty="0">
                  <a:solidFill>
                    <a:srgbClr val="EE2B0A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梯度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1678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0nehvdn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1413</TotalTime>
  <Words>4097</Words>
  <Application>Microsoft Office PowerPoint</Application>
  <PresentationFormat>Widescreen</PresentationFormat>
  <Paragraphs>355</Paragraphs>
  <Slides>76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5" baseType="lpstr">
      <vt:lpstr>等线</vt:lpstr>
      <vt:lpstr>楷体</vt:lpstr>
      <vt:lpstr>楷体_GB2312</vt:lpstr>
      <vt:lpstr>宋体</vt:lpstr>
      <vt:lpstr>Arial</vt:lpstr>
      <vt:lpstr>Cambria Math</vt:lpstr>
      <vt:lpstr>Times New Roman</vt:lpstr>
      <vt:lpstr>Wingdings</vt:lpstr>
      <vt:lpstr>Office Theme</vt:lpstr>
      <vt:lpstr>2. 数字图像处理基础（1）</vt:lpstr>
      <vt:lpstr>提纲</vt:lpstr>
      <vt:lpstr>1、数字图像与数字图像处理</vt:lpstr>
      <vt:lpstr>1、数字图像与数字图像处理</vt:lpstr>
      <vt:lpstr>1、数字图像与数字图像处理</vt:lpstr>
      <vt:lpstr>提纲</vt:lpstr>
      <vt:lpstr>2、图像感知与获取</vt:lpstr>
      <vt:lpstr>2、图像感知与获取</vt:lpstr>
      <vt:lpstr>2、图像感知与获取</vt:lpstr>
      <vt:lpstr>2、图像感知与获取</vt:lpstr>
      <vt:lpstr>2、图像感知与获取</vt:lpstr>
      <vt:lpstr>2、图像感知与获取</vt:lpstr>
      <vt:lpstr>2、图像感知与获取 – 采样与量化</vt:lpstr>
      <vt:lpstr>2、图像感知与获取 – 分辨率</vt:lpstr>
      <vt:lpstr>2、图像感知与获取 – 分辨率</vt:lpstr>
      <vt:lpstr>2、图像感知与获取 – 分辨率</vt:lpstr>
      <vt:lpstr>2、图像的采样与量化 – 分辨率</vt:lpstr>
      <vt:lpstr>2、图像的采样与量化 – 分辨率</vt:lpstr>
      <vt:lpstr>提纲</vt:lpstr>
      <vt:lpstr>3、图像类型</vt:lpstr>
      <vt:lpstr>3、图像类型</vt:lpstr>
      <vt:lpstr>3、图像类型</vt:lpstr>
      <vt:lpstr>3、图像类型</vt:lpstr>
      <vt:lpstr>3、图像类型</vt:lpstr>
      <vt:lpstr>3、图像类型</vt:lpstr>
      <vt:lpstr>3、图像类型</vt:lpstr>
      <vt:lpstr>提纲</vt:lpstr>
      <vt:lpstr>4. 灰度变换与空间滤波</vt:lpstr>
      <vt:lpstr>灰度变换基础</vt:lpstr>
      <vt:lpstr>灰度变换基础</vt:lpstr>
      <vt:lpstr>灰度变换函数</vt:lpstr>
      <vt:lpstr>灰度变换函数 --图像反转</vt:lpstr>
      <vt:lpstr>灰度变换函数 -- 对数变换</vt:lpstr>
      <vt:lpstr>灰度变换函数 -- 对数变换</vt:lpstr>
      <vt:lpstr>灰度变换函数 – 幂律（伽马）变换</vt:lpstr>
      <vt:lpstr>灰度变换函数 – 幂律（伽马）变换</vt:lpstr>
      <vt:lpstr>灰度变换函数 – 幂律（伽马）变换</vt:lpstr>
      <vt:lpstr>灰度变换函数 – 幂律（伽马）变换</vt:lpstr>
      <vt:lpstr>灰度变换函数 – 分段线性变换</vt:lpstr>
      <vt:lpstr>灰度变换函数 – 分段线性变换</vt:lpstr>
      <vt:lpstr>灰度变换函数 – 分段线性变换</vt:lpstr>
      <vt:lpstr>直方图处理</vt:lpstr>
      <vt:lpstr>直方图处理 – 均衡化</vt:lpstr>
      <vt:lpstr>直方图处理 – 均衡化</vt:lpstr>
      <vt:lpstr>直方图处理 – 均衡化</vt:lpstr>
      <vt:lpstr>直方图处理 – 均衡化</vt:lpstr>
      <vt:lpstr>直方图处理 – 均衡化</vt:lpstr>
      <vt:lpstr>直方图处理 – 均衡化</vt:lpstr>
      <vt:lpstr>直方图处理 – 均衡化</vt:lpstr>
      <vt:lpstr>直方图处理 – 均衡化</vt:lpstr>
      <vt:lpstr>直方图处理 – 均衡化</vt:lpstr>
      <vt:lpstr>空间滤波器基础</vt:lpstr>
      <vt:lpstr>空间滤波器基础</vt:lpstr>
      <vt:lpstr>空间滤波器 – 低通（平滑）滤波器</vt:lpstr>
      <vt:lpstr>空间滤波器 – 均值滤波器</vt:lpstr>
      <vt:lpstr>空间滤波器 – 均值滤波器（例1）</vt:lpstr>
      <vt:lpstr>空间滤波器 – 均值滤波器（例2）</vt:lpstr>
      <vt:lpstr>空间滤波器 – 高斯滤波器</vt:lpstr>
      <vt:lpstr>空间滤波器 – 均值 vs 高斯</vt:lpstr>
      <vt:lpstr>空间滤波器 – 统计排序滤波器</vt:lpstr>
      <vt:lpstr>空间滤波器 – 中值滤波器</vt:lpstr>
      <vt:lpstr>空间滤波器 – 中值滤波器</vt:lpstr>
      <vt:lpstr>空间滤波器 – 高通（锐化）滤波器</vt:lpstr>
      <vt:lpstr>空间滤波器 – 高通（锐化）滤波器</vt:lpstr>
      <vt:lpstr>空间滤波器 – 高通（锐化）滤波器</vt:lpstr>
      <vt:lpstr>空间滤波器 – 高通（锐化）滤波器</vt:lpstr>
      <vt:lpstr>空间滤波器 – 高通（锐化）滤波器</vt:lpstr>
      <vt:lpstr>空间滤波器 – 高通（锐化）滤波器</vt:lpstr>
      <vt:lpstr>空间滤波器 – 拉普拉斯滤波器</vt:lpstr>
      <vt:lpstr>空间滤波器 –拉普拉斯滤波器（例）</vt:lpstr>
      <vt:lpstr>空间滤波器 –拉普拉斯算子</vt:lpstr>
      <vt:lpstr>空间滤波器 –拉普拉斯算子</vt:lpstr>
      <vt:lpstr>空间滤波器 – 钝化掩蔽和高提升滤波</vt:lpstr>
      <vt:lpstr>空间滤波器 – 钝化掩蔽和高提升滤波</vt:lpstr>
      <vt:lpstr>空间滤波器  – 一阶梯度</vt:lpstr>
      <vt:lpstr>空间滤波器  – 一阶梯度（例）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数字图像处理基础</dc:title>
  <dc:creator>Luo Zhiming</dc:creator>
  <cp:lastModifiedBy>Luo Zhiming</cp:lastModifiedBy>
  <cp:revision>161</cp:revision>
  <dcterms:created xsi:type="dcterms:W3CDTF">2022-09-12T08:46:20Z</dcterms:created>
  <dcterms:modified xsi:type="dcterms:W3CDTF">2023-03-08T04:04:58Z</dcterms:modified>
</cp:coreProperties>
</file>