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56" r:id="rId2"/>
    <p:sldId id="260" r:id="rId3"/>
    <p:sldId id="278" r:id="rId4"/>
    <p:sldId id="257" r:id="rId5"/>
    <p:sldId id="279" r:id="rId6"/>
    <p:sldId id="330" r:id="rId7"/>
    <p:sldId id="329" r:id="rId8"/>
    <p:sldId id="275" r:id="rId9"/>
    <p:sldId id="320" r:id="rId10"/>
    <p:sldId id="259" r:id="rId11"/>
    <p:sldId id="265" r:id="rId12"/>
    <p:sldId id="261" r:id="rId13"/>
    <p:sldId id="333" r:id="rId14"/>
    <p:sldId id="292" r:id="rId15"/>
    <p:sldId id="289" r:id="rId16"/>
    <p:sldId id="317" r:id="rId17"/>
    <p:sldId id="266" r:id="rId18"/>
    <p:sldId id="298" r:id="rId19"/>
    <p:sldId id="296" r:id="rId20"/>
    <p:sldId id="318" r:id="rId21"/>
    <p:sldId id="334" r:id="rId22"/>
    <p:sldId id="335" r:id="rId23"/>
    <p:sldId id="336" r:id="rId24"/>
    <p:sldId id="337" r:id="rId25"/>
    <p:sldId id="338" r:id="rId26"/>
    <p:sldId id="339" r:id="rId27"/>
    <p:sldId id="332" r:id="rId28"/>
    <p:sldId id="340" r:id="rId29"/>
    <p:sldId id="341" r:id="rId30"/>
    <p:sldId id="342" r:id="rId31"/>
    <p:sldId id="343" r:id="rId32"/>
    <p:sldId id="344" r:id="rId33"/>
    <p:sldId id="345" r:id="rId34"/>
    <p:sldId id="346" r:id="rId35"/>
    <p:sldId id="347" r:id="rId36"/>
    <p:sldId id="348" r:id="rId37"/>
    <p:sldId id="349" r:id="rId38"/>
    <p:sldId id="350" r:id="rId39"/>
    <p:sldId id="351" r:id="rId40"/>
    <p:sldId id="286" r:id="rId41"/>
    <p:sldId id="290" r:id="rId42"/>
    <p:sldId id="291" r:id="rId43"/>
    <p:sldId id="352" r:id="rId44"/>
    <p:sldId id="353" r:id="rId45"/>
    <p:sldId id="324" r:id="rId46"/>
    <p:sldId id="325" r:id="rId47"/>
    <p:sldId id="294" r:id="rId48"/>
    <p:sldId id="313" r:id="rId49"/>
    <p:sldId id="327" r:id="rId50"/>
    <p:sldId id="314" r:id="rId51"/>
    <p:sldId id="315" r:id="rId52"/>
    <p:sldId id="316" r:id="rId53"/>
    <p:sldId id="321" r:id="rId54"/>
    <p:sldId id="322" r:id="rId55"/>
    <p:sldId id="287" r:id="rId56"/>
    <p:sldId id="263" r:id="rId57"/>
    <p:sldId id="284" r:id="rId58"/>
    <p:sldId id="276" r:id="rId59"/>
    <p:sldId id="277" r:id="rId60"/>
    <p:sldId id="282" r:id="rId6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02" autoAdjust="0"/>
    <p:restoredTop sz="88814" autoAdjust="0"/>
  </p:normalViewPr>
  <p:slideViewPr>
    <p:cSldViewPr snapToGrid="0" showGuides="1">
      <p:cViewPr varScale="1">
        <p:scale>
          <a:sx n="106" d="100"/>
          <a:sy n="106" d="100"/>
        </p:scale>
        <p:origin x="336" y="108"/>
      </p:cViewPr>
      <p:guideLst>
        <p:guide orient="horz" pos="2183"/>
        <p:guide pos="3863"/>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628090-E461-4C50-957C-5A9ADAF3FD92}" type="datetimeFigureOut">
              <a:rPr lang="zh-CN" altLang="en-US" smtClean="0"/>
              <a:t>2023-2-26</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92ED9C-7570-43AA-BD10-8548E112CA8A}" type="slidenum">
              <a:rPr lang="zh-CN" altLang="en-US" smtClean="0"/>
              <a:t>‹#›</a:t>
            </a:fld>
            <a:endParaRPr lang="zh-CN" altLang="en-US"/>
          </a:p>
        </p:txBody>
      </p:sp>
    </p:spTree>
    <p:extLst>
      <p:ext uri="{BB962C8B-B14F-4D97-AF65-F5344CB8AC3E}">
        <p14:creationId xmlns:p14="http://schemas.microsoft.com/office/powerpoint/2010/main" val="427365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3992ED9C-7570-43AA-BD10-8548E112CA8A}" type="slidenum">
              <a:rPr lang="zh-CN" altLang="en-US" smtClean="0"/>
              <a:t>28</a:t>
            </a:fld>
            <a:endParaRPr lang="zh-CN" altLang="en-US"/>
          </a:p>
        </p:txBody>
      </p:sp>
    </p:spTree>
    <p:extLst>
      <p:ext uri="{BB962C8B-B14F-4D97-AF65-F5344CB8AC3E}">
        <p14:creationId xmlns:p14="http://schemas.microsoft.com/office/powerpoint/2010/main" val="2143535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3992ED9C-7570-43AA-BD10-8548E112CA8A}" type="slidenum">
              <a:rPr lang="zh-CN" altLang="en-US" smtClean="0"/>
              <a:t>31</a:t>
            </a:fld>
            <a:endParaRPr lang="zh-CN" altLang="en-US"/>
          </a:p>
        </p:txBody>
      </p:sp>
    </p:spTree>
    <p:extLst>
      <p:ext uri="{BB962C8B-B14F-4D97-AF65-F5344CB8AC3E}">
        <p14:creationId xmlns:p14="http://schemas.microsoft.com/office/powerpoint/2010/main" val="1063118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3992ED9C-7570-43AA-BD10-8548E112CA8A}" type="slidenum">
              <a:rPr lang="zh-CN" altLang="en-US" smtClean="0"/>
              <a:t>34</a:t>
            </a:fld>
            <a:endParaRPr lang="zh-CN" altLang="en-US"/>
          </a:p>
        </p:txBody>
      </p:sp>
    </p:spTree>
    <p:extLst>
      <p:ext uri="{BB962C8B-B14F-4D97-AF65-F5344CB8AC3E}">
        <p14:creationId xmlns:p14="http://schemas.microsoft.com/office/powerpoint/2010/main" val="3610986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3992ED9C-7570-43AA-BD10-8548E112CA8A}" type="slidenum">
              <a:rPr lang="zh-CN" altLang="en-US" smtClean="0"/>
              <a:t>38</a:t>
            </a:fld>
            <a:endParaRPr lang="zh-CN" altLang="en-US"/>
          </a:p>
        </p:txBody>
      </p:sp>
    </p:spTree>
    <p:extLst>
      <p:ext uri="{BB962C8B-B14F-4D97-AF65-F5344CB8AC3E}">
        <p14:creationId xmlns:p14="http://schemas.microsoft.com/office/powerpoint/2010/main" val="3346081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3992ED9C-7570-43AA-BD10-8548E112CA8A}" type="slidenum">
              <a:rPr lang="zh-CN" altLang="en-US" smtClean="0"/>
              <a:t>39</a:t>
            </a:fld>
            <a:endParaRPr lang="zh-CN" altLang="en-US"/>
          </a:p>
        </p:txBody>
      </p:sp>
    </p:spTree>
    <p:extLst>
      <p:ext uri="{BB962C8B-B14F-4D97-AF65-F5344CB8AC3E}">
        <p14:creationId xmlns:p14="http://schemas.microsoft.com/office/powerpoint/2010/main" val="3270426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3992ED9C-7570-43AA-BD10-8548E112CA8A}" type="slidenum">
              <a:rPr lang="zh-CN" altLang="en-US" smtClean="0"/>
              <a:t>43</a:t>
            </a:fld>
            <a:endParaRPr lang="zh-CN" altLang="en-US"/>
          </a:p>
        </p:txBody>
      </p:sp>
    </p:spTree>
    <p:extLst>
      <p:ext uri="{BB962C8B-B14F-4D97-AF65-F5344CB8AC3E}">
        <p14:creationId xmlns:p14="http://schemas.microsoft.com/office/powerpoint/2010/main" val="1497769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1965</a:t>
            </a:r>
            <a:r>
              <a:rPr lang="zh-CN" altLang="en-US" sz="1200" b="0" i="0" kern="1200" dirty="0">
                <a:solidFill>
                  <a:schemeClr val="tx1"/>
                </a:solidFill>
                <a:effectLst/>
                <a:latin typeface="+mn-lt"/>
                <a:ea typeface="+mn-ea"/>
                <a:cs typeface="+mn-cs"/>
              </a:rPr>
              <a:t>年， </a:t>
            </a:r>
            <a:r>
              <a:rPr lang="en-US" altLang="zh-CN" sz="1200" b="0" i="0" kern="1200" dirty="0">
                <a:solidFill>
                  <a:schemeClr val="tx1"/>
                </a:solidFill>
                <a:effectLst/>
                <a:latin typeface="+mn-lt"/>
                <a:ea typeface="+mn-ea"/>
                <a:cs typeface="+mn-cs"/>
              </a:rPr>
              <a:t>Lawrence Roberts《</a:t>
            </a:r>
            <a:r>
              <a:rPr lang="zh-CN" altLang="en-US" sz="1200" b="0" i="0" kern="1200" dirty="0">
                <a:solidFill>
                  <a:schemeClr val="tx1"/>
                </a:solidFill>
                <a:effectLst/>
                <a:latin typeface="+mn-lt"/>
                <a:ea typeface="+mn-ea"/>
                <a:cs typeface="+mn-cs"/>
              </a:rPr>
              <a:t>三维固体的机器感知</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描述了从二维图片中推导三维信息的过程。</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现代计算机视觉的前导之一，开创了理解三维场景为目的的计算机视觉研究。他对积木世界的创造性研究给人们带来极大的启发，之后人们开始对积木世界进行深入的研究，从边缘的检测、角点特征的提取，到线条、平面、曲线等几何要素分析，到图像明暗、纹理、运动以及成像几何等，并建立了各种数据结构和推理规则。</a:t>
            </a:r>
            <a:endParaRPr lang="zh-CN" altLang="en-US" dirty="0"/>
          </a:p>
        </p:txBody>
      </p:sp>
      <p:sp>
        <p:nvSpPr>
          <p:cNvPr id="4" name="Slide Number Placeholder 3"/>
          <p:cNvSpPr>
            <a:spLocks noGrp="1"/>
          </p:cNvSpPr>
          <p:nvPr>
            <p:ph type="sldNum" sz="quarter" idx="5"/>
          </p:nvPr>
        </p:nvSpPr>
        <p:spPr/>
        <p:txBody>
          <a:bodyPr/>
          <a:lstStyle/>
          <a:p>
            <a:fld id="{3992ED9C-7570-43AA-BD10-8548E112CA8A}" type="slidenum">
              <a:rPr lang="zh-CN" altLang="en-US" smtClean="0"/>
              <a:t>45</a:t>
            </a:fld>
            <a:endParaRPr lang="zh-CN" altLang="en-US"/>
          </a:p>
        </p:txBody>
      </p:sp>
    </p:spTree>
    <p:extLst>
      <p:ext uri="{BB962C8B-B14F-4D97-AF65-F5344CB8AC3E}">
        <p14:creationId xmlns:p14="http://schemas.microsoft.com/office/powerpoint/2010/main" val="1663800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1966</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MITAI</a:t>
            </a:r>
            <a:r>
              <a:rPr lang="zh-CN" altLang="en-US" sz="1200" b="0" i="0" kern="1200" dirty="0">
                <a:solidFill>
                  <a:schemeClr val="tx1"/>
                </a:solidFill>
                <a:effectLst/>
                <a:latin typeface="+mn-lt"/>
                <a:ea typeface="+mn-ea"/>
                <a:cs typeface="+mn-cs"/>
              </a:rPr>
              <a:t>实验室的</a:t>
            </a:r>
            <a:r>
              <a:rPr lang="en-US" altLang="zh-CN" sz="1200" b="0" i="0" kern="1200" dirty="0">
                <a:solidFill>
                  <a:schemeClr val="tx1"/>
                </a:solidFill>
                <a:effectLst/>
                <a:latin typeface="+mn-lt"/>
                <a:ea typeface="+mn-ea"/>
                <a:cs typeface="+mn-cs"/>
              </a:rPr>
              <a:t>Seymour </a:t>
            </a:r>
            <a:r>
              <a:rPr lang="en-US" altLang="zh-CN" sz="1200" b="0" i="0" kern="1200" dirty="0" err="1">
                <a:solidFill>
                  <a:schemeClr val="tx1"/>
                </a:solidFill>
                <a:effectLst/>
                <a:latin typeface="+mn-lt"/>
                <a:ea typeface="+mn-ea"/>
                <a:cs typeface="+mn-cs"/>
              </a:rPr>
              <a:t>Papert</a:t>
            </a:r>
            <a:r>
              <a:rPr lang="zh-CN" altLang="en-US" sz="1200" b="0" i="0" kern="1200" dirty="0">
                <a:solidFill>
                  <a:schemeClr val="tx1"/>
                </a:solidFill>
                <a:effectLst/>
                <a:latin typeface="+mn-lt"/>
                <a:ea typeface="+mn-ea"/>
                <a:cs typeface="+mn-cs"/>
              </a:rPr>
              <a:t>教授决定启动夏季视觉项目，并在几个月内解决机器视觉问题。</a:t>
            </a:r>
            <a:r>
              <a:rPr lang="en-US" altLang="zh-CN" sz="1200" b="0" i="0" kern="1200" dirty="0">
                <a:solidFill>
                  <a:schemeClr val="tx1"/>
                </a:solidFill>
                <a:effectLst/>
                <a:latin typeface="+mn-lt"/>
                <a:ea typeface="+mn-ea"/>
                <a:cs typeface="+mn-cs"/>
              </a:rPr>
              <a:t>Seymour</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Gerald Sussman</a:t>
            </a:r>
            <a:r>
              <a:rPr lang="zh-CN" altLang="en-US" sz="1200" b="0" i="0" kern="1200" dirty="0">
                <a:solidFill>
                  <a:schemeClr val="tx1"/>
                </a:solidFill>
                <a:effectLst/>
                <a:latin typeface="+mn-lt"/>
                <a:ea typeface="+mn-ea"/>
                <a:cs typeface="+mn-cs"/>
              </a:rPr>
              <a:t>协调学生将设计一个可以自动执行背景</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前景分割，并从真实世界的图像中提取非重叠物体的平台。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虽然未成功，但是计算机视觉作为一个科学领域的正式诞生的标志。</a:t>
            </a:r>
          </a:p>
        </p:txBody>
      </p:sp>
      <p:sp>
        <p:nvSpPr>
          <p:cNvPr id="4" name="Slide Number Placeholder 3"/>
          <p:cNvSpPr>
            <a:spLocks noGrp="1"/>
          </p:cNvSpPr>
          <p:nvPr>
            <p:ph type="sldNum" sz="quarter" idx="5"/>
          </p:nvPr>
        </p:nvSpPr>
        <p:spPr/>
        <p:txBody>
          <a:bodyPr/>
          <a:lstStyle/>
          <a:p>
            <a:fld id="{3992ED9C-7570-43AA-BD10-8548E112CA8A}" type="slidenum">
              <a:rPr lang="zh-CN" altLang="en-US" smtClean="0"/>
              <a:t>46</a:t>
            </a:fld>
            <a:endParaRPr lang="zh-CN" altLang="en-US"/>
          </a:p>
        </p:txBody>
      </p:sp>
    </p:spTree>
    <p:extLst>
      <p:ext uri="{BB962C8B-B14F-4D97-AF65-F5344CB8AC3E}">
        <p14:creationId xmlns:p14="http://schemas.microsoft.com/office/powerpoint/2010/main" val="678141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首先从图像提取边缘信息（二阶导数的过零点），然后提取点状基元（</a:t>
            </a:r>
            <a:r>
              <a:rPr lang="en-US" altLang="zh-CN" dirty="0"/>
              <a:t>blob, </a:t>
            </a:r>
            <a:r>
              <a:rPr lang="zh-CN" altLang="en-US" dirty="0"/>
              <a:t>线状基元（</a:t>
            </a:r>
            <a:r>
              <a:rPr lang="en-US" altLang="zh-CN" dirty="0"/>
              <a:t>edge</a:t>
            </a:r>
            <a:r>
              <a:rPr lang="zh-CN" altLang="en-US" dirty="0"/>
              <a:t>）和杆状基元 </a:t>
            </a:r>
            <a:r>
              <a:rPr lang="en-US" altLang="zh-CN" dirty="0"/>
              <a:t>(bar), </a:t>
            </a:r>
            <a:r>
              <a:rPr lang="zh-CN" altLang="en-US" dirty="0"/>
              <a:t>进而对这些初级基元（</a:t>
            </a:r>
            <a:r>
              <a:rPr lang="en-US" altLang="zh-CN" dirty="0"/>
              <a:t>raw primal sketch</a:t>
            </a:r>
            <a:r>
              <a:rPr lang="zh-CN" altLang="en-US" dirty="0"/>
              <a:t>）组合形成完 整基元（</a:t>
            </a:r>
            <a:r>
              <a:rPr lang="en-US" altLang="zh-CN" dirty="0"/>
              <a:t>full primal sketch</a:t>
            </a:r>
            <a:r>
              <a:rPr lang="zh-CN" altLang="en-US" dirty="0"/>
              <a:t>）， 上述过程为视觉计算理论的特征提取阶段。在此基础上，通过 立体视觉和运动视觉等模块，将基元提升到 </a:t>
            </a:r>
            <a:r>
              <a:rPr lang="en-US" altLang="zh-CN" dirty="0"/>
              <a:t>2.5 </a:t>
            </a:r>
            <a:r>
              <a:rPr lang="zh-CN" altLang="en-US" dirty="0"/>
              <a:t>维表达。最后，将 </a:t>
            </a:r>
            <a:r>
              <a:rPr lang="en-US" altLang="zh-CN" dirty="0"/>
              <a:t>2.5 </a:t>
            </a:r>
            <a:r>
              <a:rPr lang="zh-CN" altLang="en-US" dirty="0"/>
              <a:t>维表达提升到三维表 达。在马尔的</a:t>
            </a:r>
            <a:r>
              <a:rPr lang="en-US" altLang="zh-CN" dirty="0"/>
              <a:t>《</a:t>
            </a:r>
            <a:r>
              <a:rPr lang="zh-CN" altLang="en-US" dirty="0"/>
              <a:t>视觉</a:t>
            </a:r>
            <a:r>
              <a:rPr lang="en-US" altLang="zh-CN" dirty="0"/>
              <a:t>》</a:t>
            </a:r>
            <a:r>
              <a:rPr lang="zh-CN" altLang="en-US" dirty="0"/>
              <a:t>一书中，重点介绍了特征提取和 </a:t>
            </a:r>
            <a:r>
              <a:rPr lang="en-US" altLang="zh-CN" dirty="0"/>
              <a:t>2.5 </a:t>
            </a:r>
            <a:r>
              <a:rPr lang="zh-CN" altLang="en-US" dirty="0"/>
              <a:t>维表达对应的计算方法。在 </a:t>
            </a:r>
            <a:r>
              <a:rPr lang="en-US" altLang="zh-CN" dirty="0"/>
              <a:t>2.5 </a:t>
            </a:r>
            <a:r>
              <a:rPr lang="zh-CN" altLang="en-US" dirty="0"/>
              <a:t>为表达部分，也仅仅重点介绍了立体视觉和运动视觉部分。由于当双眼（左右相机）的相互 位置已知时（计算机视觉中称之为相机外参数），立体视觉就转化为“左右图像点的对应问 题”（</a:t>
            </a:r>
            <a:r>
              <a:rPr lang="en-US" altLang="zh-CN" dirty="0"/>
              <a:t>image point correspondence</a:t>
            </a:r>
            <a:r>
              <a:rPr lang="zh-CN" altLang="en-US" dirty="0"/>
              <a:t>）</a:t>
            </a:r>
            <a:r>
              <a:rPr lang="en-US" altLang="zh-CN" dirty="0"/>
              <a:t>, </a:t>
            </a:r>
            <a:r>
              <a:rPr lang="zh-CN" altLang="en-US" dirty="0"/>
              <a:t>所以，马尔在立体视觉部分重点介绍了图像点之间的匹 配问题，即如何剔除误匹配，并给出了对应算法。</a:t>
            </a:r>
          </a:p>
        </p:txBody>
      </p:sp>
      <p:sp>
        <p:nvSpPr>
          <p:cNvPr id="4" name="Slide Number Placeholder 3"/>
          <p:cNvSpPr>
            <a:spLocks noGrp="1"/>
          </p:cNvSpPr>
          <p:nvPr>
            <p:ph type="sldNum" sz="quarter" idx="5"/>
          </p:nvPr>
        </p:nvSpPr>
        <p:spPr/>
        <p:txBody>
          <a:bodyPr/>
          <a:lstStyle/>
          <a:p>
            <a:fld id="{3992ED9C-7570-43AA-BD10-8548E112CA8A}" type="slidenum">
              <a:rPr lang="zh-CN" altLang="en-US" smtClean="0"/>
              <a:t>49</a:t>
            </a:fld>
            <a:endParaRPr lang="zh-CN" altLang="en-US"/>
          </a:p>
        </p:txBody>
      </p:sp>
    </p:spTree>
    <p:extLst>
      <p:ext uri="{BB962C8B-B14F-4D97-AF65-F5344CB8AC3E}">
        <p14:creationId xmlns:p14="http://schemas.microsoft.com/office/powerpoint/2010/main" val="4034570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3992ED9C-7570-43AA-BD10-8548E112CA8A}" type="slidenum">
              <a:rPr lang="zh-CN" altLang="en-US" smtClean="0"/>
              <a:t>58</a:t>
            </a:fld>
            <a:endParaRPr lang="zh-CN" altLang="en-US"/>
          </a:p>
        </p:txBody>
      </p:sp>
    </p:spTree>
    <p:extLst>
      <p:ext uri="{BB962C8B-B14F-4D97-AF65-F5344CB8AC3E}">
        <p14:creationId xmlns:p14="http://schemas.microsoft.com/office/powerpoint/2010/main" val="2932350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F5C09-1545-4849-B15A-351B281641FD}"/>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1432E7C6-5D24-48CF-AD91-E264396672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D583EAD6-9C5F-4C91-86A8-564A1D4C5DB3}"/>
              </a:ext>
            </a:extLst>
          </p:cNvPr>
          <p:cNvSpPr>
            <a:spLocks noGrp="1"/>
          </p:cNvSpPr>
          <p:nvPr>
            <p:ph type="dt" sz="half" idx="10"/>
          </p:nvPr>
        </p:nvSpPr>
        <p:spPr/>
        <p:txBody>
          <a:bodyPr/>
          <a:lstStyle/>
          <a:p>
            <a:fld id="{7616C93C-505D-4A32-B2D9-A024A7E747AE}" type="datetimeFigureOut">
              <a:rPr lang="zh-CN" altLang="en-US" smtClean="0"/>
              <a:t>2023-2-26</a:t>
            </a:fld>
            <a:endParaRPr lang="zh-CN" altLang="en-US"/>
          </a:p>
        </p:txBody>
      </p:sp>
      <p:sp>
        <p:nvSpPr>
          <p:cNvPr id="5" name="Footer Placeholder 4">
            <a:extLst>
              <a:ext uri="{FF2B5EF4-FFF2-40B4-BE49-F238E27FC236}">
                <a16:creationId xmlns:a16="http://schemas.microsoft.com/office/drawing/2014/main" id="{38E1E8D2-5C03-49D2-BDFB-DE9BDD12BDC8}"/>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20734A02-BAAE-4F9A-A161-74278F0E3F57}"/>
              </a:ext>
            </a:extLst>
          </p:cNvPr>
          <p:cNvSpPr>
            <a:spLocks noGrp="1"/>
          </p:cNvSpPr>
          <p:nvPr>
            <p:ph type="sldNum" sz="quarter" idx="12"/>
          </p:nvPr>
        </p:nvSpPr>
        <p:spPr/>
        <p:txBody>
          <a:bodyPr/>
          <a:lstStyle/>
          <a:p>
            <a:fld id="{86969C57-9D77-4AF2-BA9B-0C01EE718746}" type="slidenum">
              <a:rPr lang="zh-CN" altLang="en-US" smtClean="0"/>
              <a:t>‹#›</a:t>
            </a:fld>
            <a:endParaRPr lang="zh-CN" altLang="en-US"/>
          </a:p>
        </p:txBody>
      </p:sp>
    </p:spTree>
    <p:extLst>
      <p:ext uri="{BB962C8B-B14F-4D97-AF65-F5344CB8AC3E}">
        <p14:creationId xmlns:p14="http://schemas.microsoft.com/office/powerpoint/2010/main" val="367134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302AD-2E83-41B7-BCED-E3FB0576E0A3}"/>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0D3FAB28-D8D4-4291-88E8-E1164C12F26A}"/>
              </a:ext>
            </a:extLst>
          </p:cNvPr>
          <p:cNvSpPr>
            <a:spLocks noGrp="1"/>
          </p:cNvSpPr>
          <p:nvPr>
            <p:ph idx="1"/>
          </p:nvPr>
        </p:nvSpPr>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A8CFE301-845B-4368-B2E9-34D86194A4BB}"/>
              </a:ext>
            </a:extLst>
          </p:cNvPr>
          <p:cNvSpPr>
            <a:spLocks noGrp="1"/>
          </p:cNvSpPr>
          <p:nvPr>
            <p:ph type="dt" sz="half" idx="10"/>
          </p:nvPr>
        </p:nvSpPr>
        <p:spPr/>
        <p:txBody>
          <a:bodyPr/>
          <a:lstStyle/>
          <a:p>
            <a:fld id="{7616C93C-505D-4A32-B2D9-A024A7E747AE}" type="datetimeFigureOut">
              <a:rPr lang="zh-CN" altLang="en-US" smtClean="0"/>
              <a:t>2023-2-26</a:t>
            </a:fld>
            <a:endParaRPr lang="zh-CN" altLang="en-US"/>
          </a:p>
        </p:txBody>
      </p:sp>
      <p:sp>
        <p:nvSpPr>
          <p:cNvPr id="5" name="Footer Placeholder 4">
            <a:extLst>
              <a:ext uri="{FF2B5EF4-FFF2-40B4-BE49-F238E27FC236}">
                <a16:creationId xmlns:a16="http://schemas.microsoft.com/office/drawing/2014/main" id="{052BD938-3784-4EFE-947F-0884C1495F97}"/>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131E195A-B2AD-421C-8DDB-EAE0B27106EC}"/>
              </a:ext>
            </a:extLst>
          </p:cNvPr>
          <p:cNvSpPr>
            <a:spLocks noGrp="1"/>
          </p:cNvSpPr>
          <p:nvPr>
            <p:ph type="sldNum" sz="quarter" idx="12"/>
          </p:nvPr>
        </p:nvSpPr>
        <p:spPr/>
        <p:txBody>
          <a:bodyPr/>
          <a:lstStyle/>
          <a:p>
            <a:fld id="{86969C57-9D77-4AF2-BA9B-0C01EE718746}" type="slidenum">
              <a:rPr lang="zh-CN" altLang="en-US" smtClean="0"/>
              <a:t>‹#›</a:t>
            </a:fld>
            <a:endParaRPr lang="zh-CN" altLang="en-US"/>
          </a:p>
        </p:txBody>
      </p:sp>
    </p:spTree>
    <p:extLst>
      <p:ext uri="{BB962C8B-B14F-4D97-AF65-F5344CB8AC3E}">
        <p14:creationId xmlns:p14="http://schemas.microsoft.com/office/powerpoint/2010/main" val="656400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C43D0-709B-424B-84E0-23BC0B7EFC41}"/>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1A597901-80D6-4574-ADF6-AA62E00A96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Edit Master text styles</a:t>
            </a:r>
          </a:p>
        </p:txBody>
      </p:sp>
      <p:sp>
        <p:nvSpPr>
          <p:cNvPr id="4" name="Date Placeholder 3">
            <a:extLst>
              <a:ext uri="{FF2B5EF4-FFF2-40B4-BE49-F238E27FC236}">
                <a16:creationId xmlns:a16="http://schemas.microsoft.com/office/drawing/2014/main" id="{355AF9AD-B570-4BDA-A558-0D8408D35A73}"/>
              </a:ext>
            </a:extLst>
          </p:cNvPr>
          <p:cNvSpPr>
            <a:spLocks noGrp="1"/>
          </p:cNvSpPr>
          <p:nvPr>
            <p:ph type="dt" sz="half" idx="10"/>
          </p:nvPr>
        </p:nvSpPr>
        <p:spPr/>
        <p:txBody>
          <a:bodyPr/>
          <a:lstStyle/>
          <a:p>
            <a:fld id="{7616C93C-505D-4A32-B2D9-A024A7E747AE}" type="datetimeFigureOut">
              <a:rPr lang="zh-CN" altLang="en-US" smtClean="0"/>
              <a:t>2023-2-26</a:t>
            </a:fld>
            <a:endParaRPr lang="zh-CN" altLang="en-US"/>
          </a:p>
        </p:txBody>
      </p:sp>
      <p:sp>
        <p:nvSpPr>
          <p:cNvPr id="5" name="Footer Placeholder 4">
            <a:extLst>
              <a:ext uri="{FF2B5EF4-FFF2-40B4-BE49-F238E27FC236}">
                <a16:creationId xmlns:a16="http://schemas.microsoft.com/office/drawing/2014/main" id="{F20D532F-90EB-4108-856D-F85633086FFB}"/>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14731F35-2C0F-4B85-BC72-5343A577F3E0}"/>
              </a:ext>
            </a:extLst>
          </p:cNvPr>
          <p:cNvSpPr>
            <a:spLocks noGrp="1"/>
          </p:cNvSpPr>
          <p:nvPr>
            <p:ph type="sldNum" sz="quarter" idx="12"/>
          </p:nvPr>
        </p:nvSpPr>
        <p:spPr/>
        <p:txBody>
          <a:bodyPr/>
          <a:lstStyle/>
          <a:p>
            <a:fld id="{86969C57-9D77-4AF2-BA9B-0C01EE718746}" type="slidenum">
              <a:rPr lang="zh-CN" altLang="en-US" smtClean="0"/>
              <a:t>‹#›</a:t>
            </a:fld>
            <a:endParaRPr lang="zh-CN" altLang="en-US"/>
          </a:p>
        </p:txBody>
      </p:sp>
    </p:spTree>
    <p:extLst>
      <p:ext uri="{BB962C8B-B14F-4D97-AF65-F5344CB8AC3E}">
        <p14:creationId xmlns:p14="http://schemas.microsoft.com/office/powerpoint/2010/main" val="1118191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B26DB-90EB-465E-BCAE-C7D51CAC82D1}"/>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8A264F59-8841-4197-8725-2958B0986885}"/>
              </a:ext>
            </a:extLst>
          </p:cNvPr>
          <p:cNvSpPr>
            <a:spLocks noGrp="1"/>
          </p:cNvSpPr>
          <p:nvPr>
            <p:ph sz="half" idx="1"/>
          </p:nvPr>
        </p:nvSpPr>
        <p:spPr>
          <a:xfrm>
            <a:off x="838200" y="1825625"/>
            <a:ext cx="51816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13DEE372-F5F3-43BC-9111-34425931107C}"/>
              </a:ext>
            </a:extLst>
          </p:cNvPr>
          <p:cNvSpPr>
            <a:spLocks noGrp="1"/>
          </p:cNvSpPr>
          <p:nvPr>
            <p:ph sz="half" idx="2"/>
          </p:nvPr>
        </p:nvSpPr>
        <p:spPr>
          <a:xfrm>
            <a:off x="6172200" y="1825625"/>
            <a:ext cx="51816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C023CEAF-6EF7-4403-98B5-5BAC63BDF0E1}"/>
              </a:ext>
            </a:extLst>
          </p:cNvPr>
          <p:cNvSpPr>
            <a:spLocks noGrp="1"/>
          </p:cNvSpPr>
          <p:nvPr>
            <p:ph type="dt" sz="half" idx="10"/>
          </p:nvPr>
        </p:nvSpPr>
        <p:spPr/>
        <p:txBody>
          <a:bodyPr/>
          <a:lstStyle/>
          <a:p>
            <a:fld id="{7616C93C-505D-4A32-B2D9-A024A7E747AE}" type="datetimeFigureOut">
              <a:rPr lang="zh-CN" altLang="en-US" smtClean="0"/>
              <a:t>2023-2-26</a:t>
            </a:fld>
            <a:endParaRPr lang="zh-CN" altLang="en-US"/>
          </a:p>
        </p:txBody>
      </p:sp>
      <p:sp>
        <p:nvSpPr>
          <p:cNvPr id="6" name="Footer Placeholder 5">
            <a:extLst>
              <a:ext uri="{FF2B5EF4-FFF2-40B4-BE49-F238E27FC236}">
                <a16:creationId xmlns:a16="http://schemas.microsoft.com/office/drawing/2014/main" id="{723239CF-1832-4766-9455-C450F1F40690}"/>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1C67612A-1E01-43CC-BB7F-C133A81362F3}"/>
              </a:ext>
            </a:extLst>
          </p:cNvPr>
          <p:cNvSpPr>
            <a:spLocks noGrp="1"/>
          </p:cNvSpPr>
          <p:nvPr>
            <p:ph type="sldNum" sz="quarter" idx="12"/>
          </p:nvPr>
        </p:nvSpPr>
        <p:spPr/>
        <p:txBody>
          <a:bodyPr/>
          <a:lstStyle/>
          <a:p>
            <a:fld id="{86969C57-9D77-4AF2-BA9B-0C01EE718746}" type="slidenum">
              <a:rPr lang="zh-CN" altLang="en-US" smtClean="0"/>
              <a:t>‹#›</a:t>
            </a:fld>
            <a:endParaRPr lang="zh-CN" altLang="en-US"/>
          </a:p>
        </p:txBody>
      </p:sp>
    </p:spTree>
    <p:extLst>
      <p:ext uri="{BB962C8B-B14F-4D97-AF65-F5344CB8AC3E}">
        <p14:creationId xmlns:p14="http://schemas.microsoft.com/office/powerpoint/2010/main" val="3523647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B2245-3845-441F-86FC-0AF61C75BC8A}"/>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4E879520-F736-477C-925C-40FCEB1F47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Edit Master text styles</a:t>
            </a:r>
          </a:p>
        </p:txBody>
      </p:sp>
      <p:sp>
        <p:nvSpPr>
          <p:cNvPr id="4" name="Content Placeholder 3">
            <a:extLst>
              <a:ext uri="{FF2B5EF4-FFF2-40B4-BE49-F238E27FC236}">
                <a16:creationId xmlns:a16="http://schemas.microsoft.com/office/drawing/2014/main" id="{B5ACC450-0010-4509-B3DB-09991B1C0D97}"/>
              </a:ext>
            </a:extLst>
          </p:cNvPr>
          <p:cNvSpPr>
            <a:spLocks noGrp="1"/>
          </p:cNvSpPr>
          <p:nvPr>
            <p:ph sz="half" idx="2"/>
          </p:nvPr>
        </p:nvSpPr>
        <p:spPr>
          <a:xfrm>
            <a:off x="839788" y="2505075"/>
            <a:ext cx="5157787"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3013F8E1-8CDF-44AE-9D04-2D51F4DBF0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Edit Master text styles</a:t>
            </a:r>
          </a:p>
        </p:txBody>
      </p:sp>
      <p:sp>
        <p:nvSpPr>
          <p:cNvPr id="6" name="Content Placeholder 5">
            <a:extLst>
              <a:ext uri="{FF2B5EF4-FFF2-40B4-BE49-F238E27FC236}">
                <a16:creationId xmlns:a16="http://schemas.microsoft.com/office/drawing/2014/main" id="{210EED85-5EAB-4F8B-A6F8-67D1E4576BB7}"/>
              </a:ext>
            </a:extLst>
          </p:cNvPr>
          <p:cNvSpPr>
            <a:spLocks noGrp="1"/>
          </p:cNvSpPr>
          <p:nvPr>
            <p:ph sz="quarter" idx="4"/>
          </p:nvPr>
        </p:nvSpPr>
        <p:spPr>
          <a:xfrm>
            <a:off x="6172200" y="2505075"/>
            <a:ext cx="5183188"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0AE78712-895D-4162-856B-795B4AE29F5D}"/>
              </a:ext>
            </a:extLst>
          </p:cNvPr>
          <p:cNvSpPr>
            <a:spLocks noGrp="1"/>
          </p:cNvSpPr>
          <p:nvPr>
            <p:ph type="dt" sz="half" idx="10"/>
          </p:nvPr>
        </p:nvSpPr>
        <p:spPr/>
        <p:txBody>
          <a:bodyPr/>
          <a:lstStyle/>
          <a:p>
            <a:fld id="{7616C93C-505D-4A32-B2D9-A024A7E747AE}" type="datetimeFigureOut">
              <a:rPr lang="zh-CN" altLang="en-US" smtClean="0"/>
              <a:t>2023-2-26</a:t>
            </a:fld>
            <a:endParaRPr lang="zh-CN" altLang="en-US"/>
          </a:p>
        </p:txBody>
      </p:sp>
      <p:sp>
        <p:nvSpPr>
          <p:cNvPr id="8" name="Footer Placeholder 7">
            <a:extLst>
              <a:ext uri="{FF2B5EF4-FFF2-40B4-BE49-F238E27FC236}">
                <a16:creationId xmlns:a16="http://schemas.microsoft.com/office/drawing/2014/main" id="{C2486365-F5A5-40BD-935B-FBDE943B8265}"/>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3140C531-0191-4EC3-9E5D-0F0A7FA6BA7A}"/>
              </a:ext>
            </a:extLst>
          </p:cNvPr>
          <p:cNvSpPr>
            <a:spLocks noGrp="1"/>
          </p:cNvSpPr>
          <p:nvPr>
            <p:ph type="sldNum" sz="quarter" idx="12"/>
          </p:nvPr>
        </p:nvSpPr>
        <p:spPr/>
        <p:txBody>
          <a:bodyPr/>
          <a:lstStyle/>
          <a:p>
            <a:fld id="{86969C57-9D77-4AF2-BA9B-0C01EE718746}" type="slidenum">
              <a:rPr lang="zh-CN" altLang="en-US" smtClean="0"/>
              <a:t>‹#›</a:t>
            </a:fld>
            <a:endParaRPr lang="zh-CN" altLang="en-US"/>
          </a:p>
        </p:txBody>
      </p:sp>
    </p:spTree>
    <p:extLst>
      <p:ext uri="{BB962C8B-B14F-4D97-AF65-F5344CB8AC3E}">
        <p14:creationId xmlns:p14="http://schemas.microsoft.com/office/powerpoint/2010/main" val="3631662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D3A91-8074-42F8-B9AD-5B32E2D5D527}"/>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9BF20FBC-2E1B-459C-9F48-96CC7AFBF54D}"/>
              </a:ext>
            </a:extLst>
          </p:cNvPr>
          <p:cNvSpPr>
            <a:spLocks noGrp="1"/>
          </p:cNvSpPr>
          <p:nvPr>
            <p:ph type="dt" sz="half" idx="10"/>
          </p:nvPr>
        </p:nvSpPr>
        <p:spPr/>
        <p:txBody>
          <a:bodyPr/>
          <a:lstStyle/>
          <a:p>
            <a:fld id="{7616C93C-505D-4A32-B2D9-A024A7E747AE}" type="datetimeFigureOut">
              <a:rPr lang="zh-CN" altLang="en-US" smtClean="0"/>
              <a:t>2023-2-26</a:t>
            </a:fld>
            <a:endParaRPr lang="zh-CN" altLang="en-US"/>
          </a:p>
        </p:txBody>
      </p:sp>
      <p:sp>
        <p:nvSpPr>
          <p:cNvPr id="4" name="Footer Placeholder 3">
            <a:extLst>
              <a:ext uri="{FF2B5EF4-FFF2-40B4-BE49-F238E27FC236}">
                <a16:creationId xmlns:a16="http://schemas.microsoft.com/office/drawing/2014/main" id="{023A4EB0-CC63-4757-9B95-B923C25B8B27}"/>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B49651A0-A030-4C55-91F9-D97284D4FA08}"/>
              </a:ext>
            </a:extLst>
          </p:cNvPr>
          <p:cNvSpPr>
            <a:spLocks noGrp="1"/>
          </p:cNvSpPr>
          <p:nvPr>
            <p:ph type="sldNum" sz="quarter" idx="12"/>
          </p:nvPr>
        </p:nvSpPr>
        <p:spPr/>
        <p:txBody>
          <a:bodyPr/>
          <a:lstStyle/>
          <a:p>
            <a:fld id="{86969C57-9D77-4AF2-BA9B-0C01EE718746}" type="slidenum">
              <a:rPr lang="zh-CN" altLang="en-US" smtClean="0"/>
              <a:t>‹#›</a:t>
            </a:fld>
            <a:endParaRPr lang="zh-CN" altLang="en-US"/>
          </a:p>
        </p:txBody>
      </p:sp>
    </p:spTree>
    <p:extLst>
      <p:ext uri="{BB962C8B-B14F-4D97-AF65-F5344CB8AC3E}">
        <p14:creationId xmlns:p14="http://schemas.microsoft.com/office/powerpoint/2010/main" val="1680428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DF1A7B-8181-460A-A45A-4DFB68DD6F05}"/>
              </a:ext>
            </a:extLst>
          </p:cNvPr>
          <p:cNvSpPr>
            <a:spLocks noGrp="1"/>
          </p:cNvSpPr>
          <p:nvPr>
            <p:ph type="dt" sz="half" idx="10"/>
          </p:nvPr>
        </p:nvSpPr>
        <p:spPr/>
        <p:txBody>
          <a:bodyPr/>
          <a:lstStyle/>
          <a:p>
            <a:fld id="{7616C93C-505D-4A32-B2D9-A024A7E747AE}" type="datetimeFigureOut">
              <a:rPr lang="zh-CN" altLang="en-US" smtClean="0"/>
              <a:t>2023-2-26</a:t>
            </a:fld>
            <a:endParaRPr lang="zh-CN" altLang="en-US"/>
          </a:p>
        </p:txBody>
      </p:sp>
      <p:sp>
        <p:nvSpPr>
          <p:cNvPr id="3" name="Footer Placeholder 2">
            <a:extLst>
              <a:ext uri="{FF2B5EF4-FFF2-40B4-BE49-F238E27FC236}">
                <a16:creationId xmlns:a16="http://schemas.microsoft.com/office/drawing/2014/main" id="{80941B59-8F12-42A6-BB42-F633EE62B6A7}"/>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9815FABA-FCBF-4BE1-872C-4727F212A532}"/>
              </a:ext>
            </a:extLst>
          </p:cNvPr>
          <p:cNvSpPr>
            <a:spLocks noGrp="1"/>
          </p:cNvSpPr>
          <p:nvPr>
            <p:ph type="sldNum" sz="quarter" idx="12"/>
          </p:nvPr>
        </p:nvSpPr>
        <p:spPr/>
        <p:txBody>
          <a:bodyPr/>
          <a:lstStyle/>
          <a:p>
            <a:fld id="{86969C57-9D77-4AF2-BA9B-0C01EE718746}" type="slidenum">
              <a:rPr lang="zh-CN" altLang="en-US" smtClean="0"/>
              <a:t>‹#›</a:t>
            </a:fld>
            <a:endParaRPr lang="zh-CN" altLang="en-US"/>
          </a:p>
        </p:txBody>
      </p:sp>
    </p:spTree>
    <p:extLst>
      <p:ext uri="{BB962C8B-B14F-4D97-AF65-F5344CB8AC3E}">
        <p14:creationId xmlns:p14="http://schemas.microsoft.com/office/powerpoint/2010/main" val="1494705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3AEF8-E99D-463C-B725-A70A4C53DA9B}"/>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C953CDE5-68EC-4EA0-A695-2634F2CB51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52BE51BF-3F3E-4E4A-BC87-87527F70DE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Edit Master text styles</a:t>
            </a:r>
          </a:p>
        </p:txBody>
      </p:sp>
      <p:sp>
        <p:nvSpPr>
          <p:cNvPr id="5" name="Date Placeholder 4">
            <a:extLst>
              <a:ext uri="{FF2B5EF4-FFF2-40B4-BE49-F238E27FC236}">
                <a16:creationId xmlns:a16="http://schemas.microsoft.com/office/drawing/2014/main" id="{A43A880C-48EF-47B0-8099-254476ACB01E}"/>
              </a:ext>
            </a:extLst>
          </p:cNvPr>
          <p:cNvSpPr>
            <a:spLocks noGrp="1"/>
          </p:cNvSpPr>
          <p:nvPr>
            <p:ph type="dt" sz="half" idx="10"/>
          </p:nvPr>
        </p:nvSpPr>
        <p:spPr/>
        <p:txBody>
          <a:bodyPr/>
          <a:lstStyle/>
          <a:p>
            <a:fld id="{7616C93C-505D-4A32-B2D9-A024A7E747AE}" type="datetimeFigureOut">
              <a:rPr lang="zh-CN" altLang="en-US" smtClean="0"/>
              <a:t>2023-2-26</a:t>
            </a:fld>
            <a:endParaRPr lang="zh-CN" altLang="en-US"/>
          </a:p>
        </p:txBody>
      </p:sp>
      <p:sp>
        <p:nvSpPr>
          <p:cNvPr id="6" name="Footer Placeholder 5">
            <a:extLst>
              <a:ext uri="{FF2B5EF4-FFF2-40B4-BE49-F238E27FC236}">
                <a16:creationId xmlns:a16="http://schemas.microsoft.com/office/drawing/2014/main" id="{D653D773-FC56-4F2E-849D-5CC8152D5BB2}"/>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F463E0F8-9912-4039-A0F6-78D93C08BC5E}"/>
              </a:ext>
            </a:extLst>
          </p:cNvPr>
          <p:cNvSpPr>
            <a:spLocks noGrp="1"/>
          </p:cNvSpPr>
          <p:nvPr>
            <p:ph type="sldNum" sz="quarter" idx="12"/>
          </p:nvPr>
        </p:nvSpPr>
        <p:spPr/>
        <p:txBody>
          <a:bodyPr/>
          <a:lstStyle/>
          <a:p>
            <a:fld id="{86969C57-9D77-4AF2-BA9B-0C01EE718746}" type="slidenum">
              <a:rPr lang="zh-CN" altLang="en-US" smtClean="0"/>
              <a:t>‹#›</a:t>
            </a:fld>
            <a:endParaRPr lang="zh-CN" altLang="en-US"/>
          </a:p>
        </p:txBody>
      </p:sp>
    </p:spTree>
    <p:extLst>
      <p:ext uri="{BB962C8B-B14F-4D97-AF65-F5344CB8AC3E}">
        <p14:creationId xmlns:p14="http://schemas.microsoft.com/office/powerpoint/2010/main" val="651461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6A2A4-A8B6-4CAE-B603-3B436C4A8ECE}"/>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547E14C9-595F-4A75-B94A-73A78FB547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CABDBFB1-03FC-4464-A6D3-286074D3B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Edit Master text styles</a:t>
            </a:r>
          </a:p>
        </p:txBody>
      </p:sp>
      <p:sp>
        <p:nvSpPr>
          <p:cNvPr id="5" name="Date Placeholder 4">
            <a:extLst>
              <a:ext uri="{FF2B5EF4-FFF2-40B4-BE49-F238E27FC236}">
                <a16:creationId xmlns:a16="http://schemas.microsoft.com/office/drawing/2014/main" id="{63F56EC5-7D1B-42B8-93FF-E3AB665C4FD2}"/>
              </a:ext>
            </a:extLst>
          </p:cNvPr>
          <p:cNvSpPr>
            <a:spLocks noGrp="1"/>
          </p:cNvSpPr>
          <p:nvPr>
            <p:ph type="dt" sz="half" idx="10"/>
          </p:nvPr>
        </p:nvSpPr>
        <p:spPr/>
        <p:txBody>
          <a:bodyPr/>
          <a:lstStyle/>
          <a:p>
            <a:fld id="{7616C93C-505D-4A32-B2D9-A024A7E747AE}" type="datetimeFigureOut">
              <a:rPr lang="zh-CN" altLang="en-US" smtClean="0"/>
              <a:t>2023-2-26</a:t>
            </a:fld>
            <a:endParaRPr lang="zh-CN" altLang="en-US"/>
          </a:p>
        </p:txBody>
      </p:sp>
      <p:sp>
        <p:nvSpPr>
          <p:cNvPr id="6" name="Footer Placeholder 5">
            <a:extLst>
              <a:ext uri="{FF2B5EF4-FFF2-40B4-BE49-F238E27FC236}">
                <a16:creationId xmlns:a16="http://schemas.microsoft.com/office/drawing/2014/main" id="{0E7AE272-CAAF-43C8-9A33-63ED924E49B8}"/>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3122388E-85D6-4398-A143-907198E64A59}"/>
              </a:ext>
            </a:extLst>
          </p:cNvPr>
          <p:cNvSpPr>
            <a:spLocks noGrp="1"/>
          </p:cNvSpPr>
          <p:nvPr>
            <p:ph type="sldNum" sz="quarter" idx="12"/>
          </p:nvPr>
        </p:nvSpPr>
        <p:spPr/>
        <p:txBody>
          <a:bodyPr/>
          <a:lstStyle/>
          <a:p>
            <a:fld id="{86969C57-9D77-4AF2-BA9B-0C01EE718746}" type="slidenum">
              <a:rPr lang="zh-CN" altLang="en-US" smtClean="0"/>
              <a:t>‹#›</a:t>
            </a:fld>
            <a:endParaRPr lang="zh-CN" altLang="en-US"/>
          </a:p>
        </p:txBody>
      </p:sp>
    </p:spTree>
    <p:extLst>
      <p:ext uri="{BB962C8B-B14F-4D97-AF65-F5344CB8AC3E}">
        <p14:creationId xmlns:p14="http://schemas.microsoft.com/office/powerpoint/2010/main" val="3600985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5D575-8BB8-4028-8844-EBD731AF28E6}"/>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03E749CE-86C8-4652-889A-ACF91A42FE68}"/>
              </a:ext>
            </a:extLst>
          </p:cNvPr>
          <p:cNvSpPr>
            <a:spLocks noGrp="1"/>
          </p:cNvSpPr>
          <p:nvPr>
            <p:ph type="body" orient="vert" idx="1"/>
          </p:nvPr>
        </p:nvSpPr>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796CEC85-0904-46C8-A040-CCAA8944BAAB}"/>
              </a:ext>
            </a:extLst>
          </p:cNvPr>
          <p:cNvSpPr>
            <a:spLocks noGrp="1"/>
          </p:cNvSpPr>
          <p:nvPr>
            <p:ph type="dt" sz="half" idx="10"/>
          </p:nvPr>
        </p:nvSpPr>
        <p:spPr/>
        <p:txBody>
          <a:bodyPr/>
          <a:lstStyle/>
          <a:p>
            <a:fld id="{7616C93C-505D-4A32-B2D9-A024A7E747AE}" type="datetimeFigureOut">
              <a:rPr lang="zh-CN" altLang="en-US" smtClean="0"/>
              <a:t>2023-2-26</a:t>
            </a:fld>
            <a:endParaRPr lang="zh-CN" altLang="en-US"/>
          </a:p>
        </p:txBody>
      </p:sp>
      <p:sp>
        <p:nvSpPr>
          <p:cNvPr id="5" name="Footer Placeholder 4">
            <a:extLst>
              <a:ext uri="{FF2B5EF4-FFF2-40B4-BE49-F238E27FC236}">
                <a16:creationId xmlns:a16="http://schemas.microsoft.com/office/drawing/2014/main" id="{4EB6A6DF-11BF-47F4-BEA9-77A03ACDE583}"/>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5C38EF4E-5591-4678-A3F4-229890F613FB}"/>
              </a:ext>
            </a:extLst>
          </p:cNvPr>
          <p:cNvSpPr>
            <a:spLocks noGrp="1"/>
          </p:cNvSpPr>
          <p:nvPr>
            <p:ph type="sldNum" sz="quarter" idx="12"/>
          </p:nvPr>
        </p:nvSpPr>
        <p:spPr/>
        <p:txBody>
          <a:bodyPr/>
          <a:lstStyle/>
          <a:p>
            <a:fld id="{86969C57-9D77-4AF2-BA9B-0C01EE718746}" type="slidenum">
              <a:rPr lang="zh-CN" altLang="en-US" smtClean="0"/>
              <a:t>‹#›</a:t>
            </a:fld>
            <a:endParaRPr lang="zh-CN" altLang="en-US"/>
          </a:p>
        </p:txBody>
      </p:sp>
    </p:spTree>
    <p:extLst>
      <p:ext uri="{BB962C8B-B14F-4D97-AF65-F5344CB8AC3E}">
        <p14:creationId xmlns:p14="http://schemas.microsoft.com/office/powerpoint/2010/main" val="2344184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946CC2-9346-483C-B36D-DE48C2FE7CD5}"/>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50359F26-58B5-431D-B1AE-CAE70FD00188}"/>
              </a:ext>
            </a:extLst>
          </p:cNvPr>
          <p:cNvSpPr>
            <a:spLocks noGrp="1"/>
          </p:cNvSpPr>
          <p:nvPr>
            <p:ph type="body" orient="vert" idx="1"/>
          </p:nvPr>
        </p:nvSpPr>
        <p:spPr>
          <a:xfrm>
            <a:off x="838200" y="365125"/>
            <a:ext cx="7734300" cy="5811838"/>
          </a:xfrm>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DBBD042A-C6DB-49F6-ACB2-C146437CB0B3}"/>
              </a:ext>
            </a:extLst>
          </p:cNvPr>
          <p:cNvSpPr>
            <a:spLocks noGrp="1"/>
          </p:cNvSpPr>
          <p:nvPr>
            <p:ph type="dt" sz="half" idx="10"/>
          </p:nvPr>
        </p:nvSpPr>
        <p:spPr/>
        <p:txBody>
          <a:bodyPr/>
          <a:lstStyle/>
          <a:p>
            <a:fld id="{7616C93C-505D-4A32-B2D9-A024A7E747AE}" type="datetimeFigureOut">
              <a:rPr lang="zh-CN" altLang="en-US" smtClean="0"/>
              <a:t>2023-2-26</a:t>
            </a:fld>
            <a:endParaRPr lang="zh-CN" altLang="en-US"/>
          </a:p>
        </p:txBody>
      </p:sp>
      <p:sp>
        <p:nvSpPr>
          <p:cNvPr id="5" name="Footer Placeholder 4">
            <a:extLst>
              <a:ext uri="{FF2B5EF4-FFF2-40B4-BE49-F238E27FC236}">
                <a16:creationId xmlns:a16="http://schemas.microsoft.com/office/drawing/2014/main" id="{6BF5EAB4-1C21-4363-9348-3CFC6A999EFE}"/>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2422DEFE-A511-403D-A375-C987310F3ED3}"/>
              </a:ext>
            </a:extLst>
          </p:cNvPr>
          <p:cNvSpPr>
            <a:spLocks noGrp="1"/>
          </p:cNvSpPr>
          <p:nvPr>
            <p:ph type="sldNum" sz="quarter" idx="12"/>
          </p:nvPr>
        </p:nvSpPr>
        <p:spPr/>
        <p:txBody>
          <a:bodyPr/>
          <a:lstStyle/>
          <a:p>
            <a:fld id="{86969C57-9D77-4AF2-BA9B-0C01EE718746}" type="slidenum">
              <a:rPr lang="zh-CN" altLang="en-US" smtClean="0"/>
              <a:t>‹#›</a:t>
            </a:fld>
            <a:endParaRPr lang="zh-CN" altLang="en-US"/>
          </a:p>
        </p:txBody>
      </p:sp>
    </p:spTree>
    <p:extLst>
      <p:ext uri="{BB962C8B-B14F-4D97-AF65-F5344CB8AC3E}">
        <p14:creationId xmlns:p14="http://schemas.microsoft.com/office/powerpoint/2010/main" val="2394516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B63F30-BDD4-42AB-8D2B-E94F4DC5DD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D3C521AA-2492-4092-A175-63D37A70D5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46D588B1-DB08-4735-89F6-5100DD0933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16C93C-505D-4A32-B2D9-A024A7E747AE}" type="datetimeFigureOut">
              <a:rPr lang="zh-CN" altLang="en-US" smtClean="0"/>
              <a:t>2023-2-26</a:t>
            </a:fld>
            <a:endParaRPr lang="zh-CN" altLang="en-US"/>
          </a:p>
        </p:txBody>
      </p:sp>
      <p:sp>
        <p:nvSpPr>
          <p:cNvPr id="5" name="Footer Placeholder 4">
            <a:extLst>
              <a:ext uri="{FF2B5EF4-FFF2-40B4-BE49-F238E27FC236}">
                <a16:creationId xmlns:a16="http://schemas.microsoft.com/office/drawing/2014/main" id="{9A0F9A37-1CF4-4C05-B4D1-DF3F990D75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a:extLst>
              <a:ext uri="{FF2B5EF4-FFF2-40B4-BE49-F238E27FC236}">
                <a16:creationId xmlns:a16="http://schemas.microsoft.com/office/drawing/2014/main" id="{0498D912-4839-4D5B-B87A-E44E73E742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969C57-9D77-4AF2-BA9B-0C01EE718746}" type="slidenum">
              <a:rPr lang="zh-CN" altLang="en-US" smtClean="0"/>
              <a:t>‹#›</a:t>
            </a:fld>
            <a:endParaRPr lang="zh-CN" altLang="en-US"/>
          </a:p>
        </p:txBody>
      </p:sp>
    </p:spTree>
    <p:extLst>
      <p:ext uri="{BB962C8B-B14F-4D97-AF65-F5344CB8AC3E}">
        <p14:creationId xmlns:p14="http://schemas.microsoft.com/office/powerpoint/2010/main" val="17564978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imt.xmu.edu.c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1247150094@qq.com" TargetMode="External"/><Relationship Id="rId2" Type="http://schemas.openxmlformats.org/officeDocument/2006/relationships/hyperlink" Target="mailto:zhiming.luo@xmu.edu.cn"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zeliski.org/Book/"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szeliski.org/Book/"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ibm.com/topics/computer-vision"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vision.ia.ac.cn/zh/teaching/%E8%AE%A1%E7%AE%97%E6%9C%BA%E8%A7%86%E8%A7%89%E8%AE%B2%E4%B9%89%E7%AC%AC%E4%B8%80%E7%AB%A0.pdf"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hyperlink" Target="http://staff.ustc.edu.cn/~lgliu/Resources/CG/What_is_CG.htm"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jpeg"/><Relationship Id="rId7" Type="http://schemas.openxmlformats.org/officeDocument/2006/relationships/image" Target="../media/image40.jpeg"/><Relationship Id="rId2" Type="http://schemas.openxmlformats.org/officeDocument/2006/relationships/image" Target="../media/image35.jpeg"/><Relationship Id="rId1" Type="http://schemas.openxmlformats.org/officeDocument/2006/relationships/slideLayout" Target="../slideLayouts/slideLayout2.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37.jpeg"/></Relationships>
</file>

<file path=ppt/slides/_rels/slide42.xml.rels><?xml version="1.0" encoding="UTF-8" standalone="yes"?>
<Relationships xmlns="http://schemas.openxmlformats.org/package/2006/relationships"><Relationship Id="rId3" Type="http://schemas.openxmlformats.org/officeDocument/2006/relationships/image" Target="../media/image42.jpeg"/><Relationship Id="rId7" Type="http://schemas.openxmlformats.org/officeDocument/2006/relationships/image" Target="../media/image46.jpeg"/><Relationship Id="rId2" Type="http://schemas.openxmlformats.org/officeDocument/2006/relationships/image" Target="../media/image41.jpeg"/><Relationship Id="rId1" Type="http://schemas.openxmlformats.org/officeDocument/2006/relationships/slideLayout" Target="../slideLayouts/slideLayout2.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www.youtube.com/watch?v=vT1JzLTH4G4&amp;list=PLC1qU-LWwrF64f4QKQT-Vg5Wr4qEE1Zxk"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vision.ia.ac.cn/zh/teaching/%E8%AE%A1%E7%AE%97%E6%9C%BA%E8%A7%86%E8%A7%89%E8%AE%B2%E4%B9%89%E7%AC%AC%E4%B8%80%E7%AB%A0.pdf"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jpeg"/></Relationships>
</file>

<file path=ppt/slides/_rels/slide5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baike.baidu.com/item/%E8%AE%A1%E7%AE%97%E6%9C%BA%E8%A7%86%E8%A7%89/2803351" TargetMode="External"/><Relationship Id="rId2" Type="http://schemas.openxmlformats.org/officeDocument/2006/relationships/hyperlink" Target="https://baike.baidu.com/item/%E8%AE%A1%E7%AE%97%E6%9C%BA%E8%A7%86%E8%A7%89%E5%9B%BD%E9%99%85%E5%A4%A7%E4%BC%9A/55713222"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hyperlink" Target="https://cv-xueba.club/index.html#course"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zhuanlan.zhihu.com/p/364346303" TargetMode="External"/></Relationships>
</file>

<file path=ppt/slides/_rels/slide59.xml.rels><?xml version="1.0" encoding="UTF-8" standalone="yes"?>
<Relationships xmlns="http://schemas.openxmlformats.org/package/2006/relationships"><Relationship Id="rId2" Type="http://schemas.openxmlformats.org/officeDocument/2006/relationships/hyperlink" Target="http://vision.ia.ac.cn/zh/teaching/%E8%AE%A1%E7%AE%97%E6%9C%BA%E8%A7%86%E8%A7%89%E8%AE%B2%E4%B9%89%E7%AC%AC%E4%BA%8C%E7%AB%A0.pdf"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1B41C-C1C8-4648-A3BF-9B301A524FC7}"/>
              </a:ext>
            </a:extLst>
          </p:cNvPr>
          <p:cNvSpPr>
            <a:spLocks noGrp="1"/>
          </p:cNvSpPr>
          <p:nvPr>
            <p:ph type="ctrTitle"/>
          </p:nvPr>
        </p:nvSpPr>
        <p:spPr>
          <a:xfrm>
            <a:off x="1524000" y="1280504"/>
            <a:ext cx="9144000" cy="2387600"/>
          </a:xfrm>
        </p:spPr>
        <p:txBody>
          <a:bodyPr/>
          <a:lstStyle/>
          <a:p>
            <a:r>
              <a:rPr lang="zh-CN" altLang="en-US" b="1" dirty="0">
                <a:latin typeface="+mn-lt"/>
                <a:ea typeface="+mn-ea"/>
                <a:cs typeface="+mn-ea"/>
                <a:sym typeface="+mn-lt"/>
              </a:rPr>
              <a:t>计算机视觉</a:t>
            </a:r>
            <a:br>
              <a:rPr lang="en-US" altLang="zh-CN" b="1" dirty="0">
                <a:latin typeface="+mn-lt"/>
                <a:ea typeface="+mn-ea"/>
                <a:cs typeface="+mn-ea"/>
                <a:sym typeface="+mn-lt"/>
              </a:rPr>
            </a:br>
            <a:r>
              <a:rPr lang="en-US" altLang="zh-CN" b="1" dirty="0">
                <a:latin typeface="+mn-lt"/>
                <a:ea typeface="+mn-ea"/>
                <a:cs typeface="+mn-ea"/>
                <a:sym typeface="+mn-lt"/>
              </a:rPr>
              <a:t>Computer Vision</a:t>
            </a:r>
            <a:endParaRPr lang="zh-CN" altLang="en-US" b="1" dirty="0">
              <a:latin typeface="+mn-lt"/>
              <a:ea typeface="+mn-ea"/>
              <a:cs typeface="+mn-ea"/>
              <a:sym typeface="+mn-lt"/>
            </a:endParaRPr>
          </a:p>
        </p:txBody>
      </p:sp>
      <p:sp>
        <p:nvSpPr>
          <p:cNvPr id="3" name="Subtitle 2">
            <a:extLst>
              <a:ext uri="{FF2B5EF4-FFF2-40B4-BE49-F238E27FC236}">
                <a16:creationId xmlns:a16="http://schemas.microsoft.com/office/drawing/2014/main" id="{0B98D2B8-7F1E-4F92-8271-E5F27E707C2E}"/>
              </a:ext>
            </a:extLst>
          </p:cNvPr>
          <p:cNvSpPr>
            <a:spLocks noGrp="1"/>
          </p:cNvSpPr>
          <p:nvPr>
            <p:ph type="subTitle" idx="1"/>
          </p:nvPr>
        </p:nvSpPr>
        <p:spPr>
          <a:xfrm>
            <a:off x="1524000" y="3921733"/>
            <a:ext cx="9144000" cy="1854753"/>
          </a:xfrm>
        </p:spPr>
        <p:txBody>
          <a:bodyPr>
            <a:normAutofit fontScale="92500" lnSpcReduction="10000"/>
          </a:bodyPr>
          <a:lstStyle/>
          <a:p>
            <a:pPr>
              <a:lnSpc>
                <a:spcPct val="110000"/>
              </a:lnSpc>
            </a:pPr>
            <a:r>
              <a:rPr lang="zh-CN" altLang="en-US" b="1" dirty="0">
                <a:cs typeface="+mn-ea"/>
                <a:sym typeface="+mn-lt"/>
              </a:rPr>
              <a:t>罗志明</a:t>
            </a:r>
            <a:endParaRPr lang="en-US" altLang="zh-CN" b="1" dirty="0">
              <a:cs typeface="+mn-ea"/>
              <a:sym typeface="+mn-lt"/>
            </a:endParaRPr>
          </a:p>
          <a:p>
            <a:pPr>
              <a:lnSpc>
                <a:spcPct val="110000"/>
              </a:lnSpc>
            </a:pPr>
            <a:r>
              <a:rPr lang="zh-CN" altLang="en-US" b="1" dirty="0">
                <a:cs typeface="+mn-ea"/>
                <a:sym typeface="+mn-lt"/>
              </a:rPr>
              <a:t>厦门大学人工智能系</a:t>
            </a:r>
            <a:endParaRPr lang="en-US" altLang="zh-CN" b="1" dirty="0">
              <a:cs typeface="+mn-ea"/>
              <a:sym typeface="+mn-lt"/>
            </a:endParaRPr>
          </a:p>
          <a:p>
            <a:pPr>
              <a:lnSpc>
                <a:spcPct val="110000"/>
              </a:lnSpc>
            </a:pPr>
            <a:r>
              <a:rPr lang="zh-CN" altLang="en-US" b="1" dirty="0">
                <a:cs typeface="+mn-ea"/>
                <a:sym typeface="+mn-lt"/>
              </a:rPr>
              <a:t>智能多媒体技术实验室</a:t>
            </a:r>
            <a:endParaRPr lang="en-US" altLang="zh-CN" b="1" dirty="0">
              <a:cs typeface="+mn-ea"/>
              <a:sym typeface="+mn-lt"/>
            </a:endParaRPr>
          </a:p>
          <a:p>
            <a:pPr>
              <a:lnSpc>
                <a:spcPct val="110000"/>
              </a:lnSpc>
            </a:pPr>
            <a:r>
              <a:rPr lang="en-US" altLang="zh-CN" dirty="0">
                <a:cs typeface="+mn-ea"/>
                <a:sym typeface="+mn-lt"/>
                <a:hlinkClick r:id="rId2"/>
              </a:rPr>
              <a:t>http://imt.xmu.edu.cn</a:t>
            </a:r>
            <a:endParaRPr lang="en-US" altLang="zh-CN" dirty="0">
              <a:cs typeface="+mn-ea"/>
              <a:sym typeface="+mn-lt"/>
            </a:endParaRPr>
          </a:p>
          <a:p>
            <a:pPr>
              <a:lnSpc>
                <a:spcPct val="110000"/>
              </a:lnSpc>
            </a:pPr>
            <a:endParaRPr lang="en-US" altLang="zh-CN" dirty="0">
              <a:cs typeface="+mn-ea"/>
              <a:sym typeface="+mn-lt"/>
            </a:endParaRPr>
          </a:p>
        </p:txBody>
      </p:sp>
    </p:spTree>
    <p:extLst>
      <p:ext uri="{BB962C8B-B14F-4D97-AF65-F5344CB8AC3E}">
        <p14:creationId xmlns:p14="http://schemas.microsoft.com/office/powerpoint/2010/main" val="3014609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677AA-C599-4BAB-8474-B95CD313DFC7}"/>
              </a:ext>
            </a:extLst>
          </p:cNvPr>
          <p:cNvSpPr>
            <a:spLocks noGrp="1"/>
          </p:cNvSpPr>
          <p:nvPr>
            <p:ph type="title"/>
          </p:nvPr>
        </p:nvSpPr>
        <p:spPr/>
        <p:txBody>
          <a:bodyPr/>
          <a:lstStyle/>
          <a:p>
            <a:pPr algn="ctr"/>
            <a:r>
              <a:rPr lang="zh-CN" altLang="en-US" b="1" dirty="0">
                <a:latin typeface="+mn-lt"/>
                <a:ea typeface="+mn-ea"/>
                <a:cs typeface="+mn-ea"/>
                <a:sym typeface="+mn-lt"/>
              </a:rPr>
              <a:t>联系方式</a:t>
            </a:r>
          </a:p>
        </p:txBody>
      </p:sp>
      <p:sp>
        <p:nvSpPr>
          <p:cNvPr id="3" name="Content Placeholder 2">
            <a:extLst>
              <a:ext uri="{FF2B5EF4-FFF2-40B4-BE49-F238E27FC236}">
                <a16:creationId xmlns:a16="http://schemas.microsoft.com/office/drawing/2014/main" id="{D137B1D2-AC5A-46C7-88C4-AF13270C39B6}"/>
              </a:ext>
            </a:extLst>
          </p:cNvPr>
          <p:cNvSpPr>
            <a:spLocks noGrp="1"/>
          </p:cNvSpPr>
          <p:nvPr>
            <p:ph idx="1"/>
          </p:nvPr>
        </p:nvSpPr>
        <p:spPr/>
        <p:txBody>
          <a:bodyPr/>
          <a:lstStyle/>
          <a:p>
            <a:pPr>
              <a:lnSpc>
                <a:spcPct val="150000"/>
              </a:lnSpc>
            </a:pPr>
            <a:r>
              <a:rPr lang="zh-CN" altLang="en-US" b="1" dirty="0">
                <a:cs typeface="+mn-ea"/>
                <a:sym typeface="+mn-lt"/>
              </a:rPr>
              <a:t>罗志明</a:t>
            </a:r>
            <a:endParaRPr lang="en-US" altLang="zh-CN" b="1" dirty="0">
              <a:cs typeface="+mn-ea"/>
              <a:sym typeface="+mn-lt"/>
            </a:endParaRPr>
          </a:p>
          <a:p>
            <a:pPr lvl="1">
              <a:lnSpc>
                <a:spcPct val="150000"/>
              </a:lnSpc>
            </a:pPr>
            <a:r>
              <a:rPr lang="en-US" altLang="zh-CN" dirty="0">
                <a:cs typeface="+mn-ea"/>
                <a:sym typeface="+mn-lt"/>
                <a:hlinkClick r:id="rId2"/>
              </a:rPr>
              <a:t>zhiming.luo@xmu.edu.cn</a:t>
            </a:r>
            <a:endParaRPr lang="en-US" altLang="zh-CN" dirty="0">
              <a:cs typeface="+mn-ea"/>
              <a:sym typeface="+mn-lt"/>
            </a:endParaRPr>
          </a:p>
          <a:p>
            <a:pPr lvl="1">
              <a:lnSpc>
                <a:spcPct val="150000"/>
              </a:lnSpc>
            </a:pPr>
            <a:r>
              <a:rPr lang="zh-CN" altLang="en-US" b="1" dirty="0">
                <a:cs typeface="+mn-ea"/>
                <a:sym typeface="+mn-lt"/>
              </a:rPr>
              <a:t>电话：</a:t>
            </a:r>
            <a:r>
              <a:rPr lang="en-US" altLang="zh-CN" dirty="0">
                <a:cs typeface="+mn-ea"/>
                <a:sym typeface="+mn-lt"/>
              </a:rPr>
              <a:t>15260201086</a:t>
            </a:r>
          </a:p>
          <a:p>
            <a:pPr>
              <a:lnSpc>
                <a:spcPct val="150000"/>
              </a:lnSpc>
            </a:pPr>
            <a:r>
              <a:rPr lang="zh-CN" altLang="en-US" b="1" dirty="0">
                <a:cs typeface="+mn-ea"/>
                <a:sym typeface="+mn-lt"/>
              </a:rPr>
              <a:t>柴家星（课程助教）</a:t>
            </a:r>
            <a:endParaRPr lang="en-US" altLang="zh-CN" b="1" dirty="0">
              <a:cs typeface="+mn-ea"/>
              <a:sym typeface="+mn-lt"/>
            </a:endParaRPr>
          </a:p>
          <a:p>
            <a:pPr lvl="1">
              <a:lnSpc>
                <a:spcPct val="150000"/>
              </a:lnSpc>
            </a:pPr>
            <a:r>
              <a:rPr lang="en-US" altLang="zh-CN" dirty="0">
                <a:cs typeface="+mn-ea"/>
                <a:sym typeface="+mn-lt"/>
                <a:hlinkClick r:id="rId3"/>
              </a:rPr>
              <a:t>1552150863@qq.com</a:t>
            </a:r>
            <a:endParaRPr lang="en-US" altLang="zh-CN" dirty="0">
              <a:cs typeface="+mn-ea"/>
              <a:sym typeface="+mn-lt"/>
            </a:endParaRPr>
          </a:p>
          <a:p>
            <a:pPr lvl="1">
              <a:lnSpc>
                <a:spcPct val="150000"/>
              </a:lnSpc>
            </a:pPr>
            <a:r>
              <a:rPr lang="zh-CN" altLang="en-US" b="1" dirty="0">
                <a:cs typeface="+mn-ea"/>
                <a:sym typeface="+mn-lt"/>
              </a:rPr>
              <a:t>电话：</a:t>
            </a:r>
            <a:r>
              <a:rPr lang="en-US" altLang="zh-CN" dirty="0">
                <a:cs typeface="+mn-ea"/>
                <a:sym typeface="+mn-lt"/>
              </a:rPr>
              <a:t>17630622129</a:t>
            </a:r>
          </a:p>
        </p:txBody>
      </p:sp>
    </p:spTree>
    <p:extLst>
      <p:ext uri="{BB962C8B-B14F-4D97-AF65-F5344CB8AC3E}">
        <p14:creationId xmlns:p14="http://schemas.microsoft.com/office/powerpoint/2010/main" val="2422802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25131-159E-4F13-BEB7-A07F148377F4}"/>
              </a:ext>
            </a:extLst>
          </p:cNvPr>
          <p:cNvSpPr>
            <a:spLocks noGrp="1"/>
          </p:cNvSpPr>
          <p:nvPr>
            <p:ph type="title"/>
          </p:nvPr>
        </p:nvSpPr>
        <p:spPr/>
        <p:txBody>
          <a:bodyPr/>
          <a:lstStyle/>
          <a:p>
            <a:pPr algn="ctr"/>
            <a:r>
              <a:rPr lang="zh-CN" altLang="en-US" b="1" dirty="0">
                <a:latin typeface="+mn-lt"/>
                <a:ea typeface="+mn-ea"/>
                <a:cs typeface="+mn-ea"/>
                <a:sym typeface="+mn-lt"/>
              </a:rPr>
              <a:t>联络沟通方式</a:t>
            </a:r>
          </a:p>
        </p:txBody>
      </p:sp>
      <p:sp>
        <p:nvSpPr>
          <p:cNvPr id="3" name="Content Placeholder 2">
            <a:extLst>
              <a:ext uri="{FF2B5EF4-FFF2-40B4-BE49-F238E27FC236}">
                <a16:creationId xmlns:a16="http://schemas.microsoft.com/office/drawing/2014/main" id="{3290EBBF-7FE2-4028-BCE5-DB6EF94CB156}"/>
              </a:ext>
            </a:extLst>
          </p:cNvPr>
          <p:cNvSpPr>
            <a:spLocks noGrp="1"/>
          </p:cNvSpPr>
          <p:nvPr>
            <p:ph idx="1"/>
          </p:nvPr>
        </p:nvSpPr>
        <p:spPr>
          <a:xfrm>
            <a:off x="838199" y="1825625"/>
            <a:ext cx="6422680" cy="4351338"/>
          </a:xfrm>
        </p:spPr>
        <p:txBody>
          <a:bodyPr>
            <a:normAutofit/>
          </a:bodyPr>
          <a:lstStyle/>
          <a:p>
            <a:pPr>
              <a:lnSpc>
                <a:spcPct val="200000"/>
              </a:lnSpc>
            </a:pPr>
            <a:r>
              <a:rPr lang="en-US" altLang="zh-CN" b="1" dirty="0">
                <a:cs typeface="+mn-ea"/>
                <a:sym typeface="+mn-lt"/>
              </a:rPr>
              <a:t>QQ</a:t>
            </a:r>
            <a:r>
              <a:rPr lang="zh-CN" altLang="en-US" b="1" dirty="0">
                <a:cs typeface="+mn-ea"/>
                <a:sym typeface="+mn-lt"/>
              </a:rPr>
              <a:t>群</a:t>
            </a:r>
            <a:r>
              <a:rPr lang="zh-CN" altLang="en-US" dirty="0">
                <a:cs typeface="+mn-ea"/>
                <a:sym typeface="+mn-lt"/>
              </a:rPr>
              <a:t>：</a:t>
            </a:r>
            <a:r>
              <a:rPr lang="en-US" altLang="zh-CN" dirty="0">
                <a:cs typeface="+mn-ea"/>
                <a:sym typeface="+mn-lt"/>
              </a:rPr>
              <a:t>471462619</a:t>
            </a:r>
          </a:p>
          <a:p>
            <a:pPr lvl="1">
              <a:lnSpc>
                <a:spcPct val="200000"/>
              </a:lnSpc>
            </a:pPr>
            <a:r>
              <a:rPr lang="zh-CN" altLang="en-US" dirty="0">
                <a:cs typeface="+mn-ea"/>
                <a:sym typeface="+mn-lt"/>
              </a:rPr>
              <a:t>请还没有入群的同学，尽快入群</a:t>
            </a:r>
            <a:endParaRPr lang="en-US" altLang="zh-CN" dirty="0">
              <a:cs typeface="+mn-ea"/>
              <a:sym typeface="+mn-lt"/>
            </a:endParaRPr>
          </a:p>
          <a:p>
            <a:pPr lvl="1">
              <a:lnSpc>
                <a:spcPct val="200000"/>
              </a:lnSpc>
            </a:pPr>
            <a:r>
              <a:rPr lang="zh-CN" altLang="en-US" dirty="0">
                <a:cs typeface="+mn-ea"/>
                <a:sym typeface="+mn-lt"/>
              </a:rPr>
              <a:t>电子书、课件、作业都会放在群共享里面</a:t>
            </a:r>
            <a:endParaRPr lang="en-US" altLang="zh-CN" dirty="0">
              <a:cs typeface="+mn-ea"/>
              <a:sym typeface="+mn-lt"/>
            </a:endParaRPr>
          </a:p>
          <a:p>
            <a:pPr lvl="1">
              <a:lnSpc>
                <a:spcPct val="200000"/>
              </a:lnSpc>
            </a:pPr>
            <a:r>
              <a:rPr lang="zh-CN" altLang="en-US" dirty="0">
                <a:cs typeface="+mn-ea"/>
                <a:sym typeface="+mn-lt"/>
              </a:rPr>
              <a:t>今后发布与课程相关的通知等，都会在群里进行</a:t>
            </a:r>
            <a:endParaRPr lang="en-US" altLang="zh-CN" dirty="0">
              <a:cs typeface="+mn-ea"/>
              <a:sym typeface="+mn-lt"/>
            </a:endParaRPr>
          </a:p>
        </p:txBody>
      </p:sp>
      <p:pic>
        <p:nvPicPr>
          <p:cNvPr id="5" name="Picture 4">
            <a:extLst>
              <a:ext uri="{FF2B5EF4-FFF2-40B4-BE49-F238E27FC236}">
                <a16:creationId xmlns:a16="http://schemas.microsoft.com/office/drawing/2014/main" id="{CD963C68-C07D-4B85-8386-712CC20C3A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6303" y="0"/>
            <a:ext cx="3855697" cy="6858000"/>
          </a:xfrm>
          <a:prstGeom prst="rect">
            <a:avLst/>
          </a:prstGeom>
        </p:spPr>
      </p:pic>
    </p:spTree>
    <p:extLst>
      <p:ext uri="{BB962C8B-B14F-4D97-AF65-F5344CB8AC3E}">
        <p14:creationId xmlns:p14="http://schemas.microsoft.com/office/powerpoint/2010/main" val="397587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ABB2B-33D5-41B5-804C-8CFDB149AB4A}"/>
              </a:ext>
            </a:extLst>
          </p:cNvPr>
          <p:cNvSpPr>
            <a:spLocks noGrp="1"/>
          </p:cNvSpPr>
          <p:nvPr>
            <p:ph type="title"/>
          </p:nvPr>
        </p:nvSpPr>
        <p:spPr/>
        <p:txBody>
          <a:bodyPr/>
          <a:lstStyle/>
          <a:p>
            <a:pPr algn="ctr"/>
            <a:r>
              <a:rPr lang="zh-CN" altLang="en-US" b="1" dirty="0">
                <a:latin typeface="+mn-lt"/>
                <a:ea typeface="+mn-ea"/>
                <a:cs typeface="+mn-ea"/>
                <a:sym typeface="+mn-lt"/>
              </a:rPr>
              <a:t>参考教材</a:t>
            </a:r>
          </a:p>
        </p:txBody>
      </p:sp>
      <p:pic>
        <p:nvPicPr>
          <p:cNvPr id="4" name="Picture 3">
            <a:extLst>
              <a:ext uri="{FF2B5EF4-FFF2-40B4-BE49-F238E27FC236}">
                <a16:creationId xmlns:a16="http://schemas.microsoft.com/office/drawing/2014/main" id="{26FB1B72-06CD-47E6-B725-FA3D9F02C890}"/>
              </a:ext>
            </a:extLst>
          </p:cNvPr>
          <p:cNvPicPr>
            <a:picLocks noChangeAspect="1"/>
          </p:cNvPicPr>
          <p:nvPr/>
        </p:nvPicPr>
        <p:blipFill>
          <a:blip r:embed="rId2"/>
          <a:stretch>
            <a:fillRect/>
          </a:stretch>
        </p:blipFill>
        <p:spPr>
          <a:xfrm>
            <a:off x="5298044" y="1997242"/>
            <a:ext cx="6509544" cy="3266466"/>
          </a:xfrm>
          <a:prstGeom prst="rect">
            <a:avLst/>
          </a:prstGeom>
        </p:spPr>
      </p:pic>
      <p:sp>
        <p:nvSpPr>
          <p:cNvPr id="5" name="TextBox 4">
            <a:extLst>
              <a:ext uri="{FF2B5EF4-FFF2-40B4-BE49-F238E27FC236}">
                <a16:creationId xmlns:a16="http://schemas.microsoft.com/office/drawing/2014/main" id="{09DE0810-122C-48DF-BB4F-55A5AEDE96A0}"/>
              </a:ext>
            </a:extLst>
          </p:cNvPr>
          <p:cNvSpPr txBox="1"/>
          <p:nvPr/>
        </p:nvSpPr>
        <p:spPr>
          <a:xfrm>
            <a:off x="2786555" y="5846544"/>
            <a:ext cx="6618889" cy="646331"/>
          </a:xfrm>
          <a:prstGeom prst="rect">
            <a:avLst/>
          </a:prstGeom>
          <a:noFill/>
        </p:spPr>
        <p:txBody>
          <a:bodyPr wrap="square" rtlCol="0">
            <a:spAutoFit/>
          </a:bodyPr>
          <a:lstStyle/>
          <a:p>
            <a:pPr algn="ctr" fontAlgn="auto">
              <a:spcBef>
                <a:spcPts val="0"/>
              </a:spcBef>
              <a:spcAft>
                <a:spcPts val="0"/>
              </a:spcAft>
            </a:pPr>
            <a:r>
              <a:rPr lang="en-US" sz="3600" dirty="0">
                <a:solidFill>
                  <a:prstClr val="black"/>
                </a:solidFill>
                <a:cs typeface="+mn-ea"/>
                <a:sym typeface="+mn-lt"/>
                <a:hlinkClick r:id="rId3"/>
              </a:rPr>
              <a:t>http://szeliski.org/Book/</a:t>
            </a:r>
            <a:endParaRPr lang="en-US" sz="3600" dirty="0">
              <a:solidFill>
                <a:prstClr val="black"/>
              </a:solidFill>
              <a:cs typeface="+mn-ea"/>
              <a:sym typeface="+mn-lt"/>
            </a:endParaRPr>
          </a:p>
        </p:txBody>
      </p:sp>
      <p:pic>
        <p:nvPicPr>
          <p:cNvPr id="1026" name="Picture 2" descr="计算机视觉：算法与应用（附配套用书）》(Richard,Szeliski，艾海舟)【摘要书评试读】- 京东图书">
            <a:extLst>
              <a:ext uri="{FF2B5EF4-FFF2-40B4-BE49-F238E27FC236}">
                <a16:creationId xmlns:a16="http://schemas.microsoft.com/office/drawing/2014/main" id="{5E342558-C0B3-41E7-A0C8-AB09163F8E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144" y="1997242"/>
            <a:ext cx="333375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1169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6402B-2362-4DCC-88B9-51EABACF1B46}"/>
              </a:ext>
            </a:extLst>
          </p:cNvPr>
          <p:cNvSpPr>
            <a:spLocks noGrp="1"/>
          </p:cNvSpPr>
          <p:nvPr>
            <p:ph type="title"/>
          </p:nvPr>
        </p:nvSpPr>
        <p:spPr/>
        <p:txBody>
          <a:bodyPr/>
          <a:lstStyle/>
          <a:p>
            <a:pPr algn="ctr"/>
            <a:r>
              <a:rPr lang="zh-CN" altLang="en-US" b="1" dirty="0">
                <a:latin typeface="+mn-lt"/>
                <a:ea typeface="+mn-ea"/>
                <a:cs typeface="+mn-ea"/>
                <a:sym typeface="+mn-lt"/>
              </a:rPr>
              <a:t>参考教材</a:t>
            </a:r>
            <a:endParaRPr lang="zh-CN" altLang="en-US" dirty="0">
              <a:latin typeface="+mn-lt"/>
              <a:ea typeface="+mn-ea"/>
              <a:cs typeface="+mn-ea"/>
              <a:sym typeface="+mn-lt"/>
            </a:endParaRPr>
          </a:p>
        </p:txBody>
      </p:sp>
      <p:pic>
        <p:nvPicPr>
          <p:cNvPr id="5" name="Picture 4">
            <a:extLst>
              <a:ext uri="{FF2B5EF4-FFF2-40B4-BE49-F238E27FC236}">
                <a16:creationId xmlns:a16="http://schemas.microsoft.com/office/drawing/2014/main" id="{6B1F39FC-33D1-45D0-A7F9-A2DE7D7E7C01}"/>
              </a:ext>
            </a:extLst>
          </p:cNvPr>
          <p:cNvPicPr>
            <a:picLocks noChangeAspect="1"/>
          </p:cNvPicPr>
          <p:nvPr/>
        </p:nvPicPr>
        <p:blipFill>
          <a:blip r:embed="rId2"/>
          <a:stretch>
            <a:fillRect/>
          </a:stretch>
        </p:blipFill>
        <p:spPr>
          <a:xfrm>
            <a:off x="6001544" y="1408273"/>
            <a:ext cx="6062133" cy="5449727"/>
          </a:xfrm>
          <a:prstGeom prst="rect">
            <a:avLst/>
          </a:prstGeom>
        </p:spPr>
      </p:pic>
      <p:pic>
        <p:nvPicPr>
          <p:cNvPr id="6" name="Picture 5">
            <a:extLst>
              <a:ext uri="{FF2B5EF4-FFF2-40B4-BE49-F238E27FC236}">
                <a16:creationId xmlns:a16="http://schemas.microsoft.com/office/drawing/2014/main" id="{2EF3F804-484B-4B1B-BC0B-DC2F465AAFD5}"/>
              </a:ext>
            </a:extLst>
          </p:cNvPr>
          <p:cNvPicPr>
            <a:picLocks noChangeAspect="1"/>
          </p:cNvPicPr>
          <p:nvPr/>
        </p:nvPicPr>
        <p:blipFill>
          <a:blip r:embed="rId3"/>
          <a:stretch>
            <a:fillRect/>
          </a:stretch>
        </p:blipFill>
        <p:spPr>
          <a:xfrm>
            <a:off x="341754" y="2173718"/>
            <a:ext cx="5003150" cy="2510563"/>
          </a:xfrm>
          <a:prstGeom prst="rect">
            <a:avLst/>
          </a:prstGeom>
        </p:spPr>
      </p:pic>
      <p:sp>
        <p:nvSpPr>
          <p:cNvPr id="7" name="TextBox 6">
            <a:extLst>
              <a:ext uri="{FF2B5EF4-FFF2-40B4-BE49-F238E27FC236}">
                <a16:creationId xmlns:a16="http://schemas.microsoft.com/office/drawing/2014/main" id="{6731E8AB-86F7-40F8-A6BE-539B80CE804B}"/>
              </a:ext>
            </a:extLst>
          </p:cNvPr>
          <p:cNvSpPr txBox="1"/>
          <p:nvPr/>
        </p:nvSpPr>
        <p:spPr>
          <a:xfrm>
            <a:off x="-366220" y="4844145"/>
            <a:ext cx="6618889" cy="646331"/>
          </a:xfrm>
          <a:prstGeom prst="rect">
            <a:avLst/>
          </a:prstGeom>
          <a:noFill/>
        </p:spPr>
        <p:txBody>
          <a:bodyPr wrap="square" rtlCol="0">
            <a:spAutoFit/>
          </a:bodyPr>
          <a:lstStyle/>
          <a:p>
            <a:pPr algn="ctr" fontAlgn="auto">
              <a:spcBef>
                <a:spcPts val="0"/>
              </a:spcBef>
              <a:spcAft>
                <a:spcPts val="0"/>
              </a:spcAft>
            </a:pPr>
            <a:r>
              <a:rPr lang="en-US" sz="3600" dirty="0">
                <a:solidFill>
                  <a:prstClr val="black"/>
                </a:solidFill>
                <a:cs typeface="+mn-ea"/>
                <a:sym typeface="+mn-lt"/>
                <a:hlinkClick r:id="rId4"/>
              </a:rPr>
              <a:t>http://szeliski.org/Book/</a:t>
            </a:r>
            <a:endParaRPr lang="en-US" sz="3600" dirty="0">
              <a:solidFill>
                <a:prstClr val="black"/>
              </a:solidFill>
              <a:cs typeface="+mn-ea"/>
              <a:sym typeface="+mn-lt"/>
            </a:endParaRPr>
          </a:p>
        </p:txBody>
      </p:sp>
    </p:spTree>
    <p:extLst>
      <p:ext uri="{BB962C8B-B14F-4D97-AF65-F5344CB8AC3E}">
        <p14:creationId xmlns:p14="http://schemas.microsoft.com/office/powerpoint/2010/main" val="3404030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E7B67-594A-4C33-A777-DB4D8D857CE5}"/>
              </a:ext>
            </a:extLst>
          </p:cNvPr>
          <p:cNvSpPr>
            <a:spLocks noGrp="1"/>
          </p:cNvSpPr>
          <p:nvPr>
            <p:ph type="title"/>
          </p:nvPr>
        </p:nvSpPr>
        <p:spPr/>
        <p:txBody>
          <a:bodyPr/>
          <a:lstStyle/>
          <a:p>
            <a:pPr algn="ctr"/>
            <a:r>
              <a:rPr lang="zh-CN" altLang="en-US" b="1" dirty="0">
                <a:cs typeface="+mn-ea"/>
                <a:sym typeface="+mn-lt"/>
              </a:rPr>
              <a:t>参考教材</a:t>
            </a:r>
            <a:endParaRPr lang="zh-CN" altLang="en-US" dirty="0"/>
          </a:p>
        </p:txBody>
      </p:sp>
      <p:pic>
        <p:nvPicPr>
          <p:cNvPr id="4" name="Picture 3">
            <a:extLst>
              <a:ext uri="{FF2B5EF4-FFF2-40B4-BE49-F238E27FC236}">
                <a16:creationId xmlns:a16="http://schemas.microsoft.com/office/drawing/2014/main" id="{3451861F-40C9-44EF-919B-53B1B2A2BC2D}"/>
              </a:ext>
            </a:extLst>
          </p:cNvPr>
          <p:cNvPicPr>
            <a:picLocks noChangeAspect="1"/>
          </p:cNvPicPr>
          <p:nvPr/>
        </p:nvPicPr>
        <p:blipFill>
          <a:blip r:embed="rId2"/>
          <a:stretch>
            <a:fillRect/>
          </a:stretch>
        </p:blipFill>
        <p:spPr>
          <a:xfrm>
            <a:off x="929795" y="1844579"/>
            <a:ext cx="4413929" cy="4475576"/>
          </a:xfrm>
          <a:prstGeom prst="rect">
            <a:avLst/>
          </a:prstGeom>
        </p:spPr>
      </p:pic>
      <p:pic>
        <p:nvPicPr>
          <p:cNvPr id="5" name="Picture 4">
            <a:extLst>
              <a:ext uri="{FF2B5EF4-FFF2-40B4-BE49-F238E27FC236}">
                <a16:creationId xmlns:a16="http://schemas.microsoft.com/office/drawing/2014/main" id="{7AD7B5CD-AB34-4F16-85A3-B87EB9FB850F}"/>
              </a:ext>
            </a:extLst>
          </p:cNvPr>
          <p:cNvPicPr>
            <a:picLocks noChangeAspect="1"/>
          </p:cNvPicPr>
          <p:nvPr/>
        </p:nvPicPr>
        <p:blipFill>
          <a:blip r:embed="rId3"/>
          <a:stretch>
            <a:fillRect/>
          </a:stretch>
        </p:blipFill>
        <p:spPr>
          <a:xfrm>
            <a:off x="5529665" y="2392311"/>
            <a:ext cx="6224761" cy="3380112"/>
          </a:xfrm>
          <a:prstGeom prst="rect">
            <a:avLst/>
          </a:prstGeom>
        </p:spPr>
      </p:pic>
    </p:spTree>
    <p:extLst>
      <p:ext uri="{BB962C8B-B14F-4D97-AF65-F5344CB8AC3E}">
        <p14:creationId xmlns:p14="http://schemas.microsoft.com/office/powerpoint/2010/main" val="1978876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653B7-9B59-4F13-AF92-CFAFC08FC15B}"/>
              </a:ext>
            </a:extLst>
          </p:cNvPr>
          <p:cNvSpPr>
            <a:spLocks noGrp="1"/>
          </p:cNvSpPr>
          <p:nvPr>
            <p:ph type="title"/>
          </p:nvPr>
        </p:nvSpPr>
        <p:spPr/>
        <p:txBody>
          <a:bodyPr/>
          <a:lstStyle/>
          <a:p>
            <a:pPr algn="ctr"/>
            <a:r>
              <a:rPr lang="zh-CN" altLang="en-US" b="1" dirty="0">
                <a:cs typeface="+mn-ea"/>
                <a:sym typeface="+mn-lt"/>
              </a:rPr>
              <a:t>参考书</a:t>
            </a:r>
            <a:endParaRPr lang="zh-CN" altLang="en-US" dirty="0"/>
          </a:p>
        </p:txBody>
      </p:sp>
      <p:sp>
        <p:nvSpPr>
          <p:cNvPr id="3" name="Content Placeholder 2">
            <a:extLst>
              <a:ext uri="{FF2B5EF4-FFF2-40B4-BE49-F238E27FC236}">
                <a16:creationId xmlns:a16="http://schemas.microsoft.com/office/drawing/2014/main" id="{E1901337-6E9F-4577-9A93-0BB61CF3E77D}"/>
              </a:ext>
            </a:extLst>
          </p:cNvPr>
          <p:cNvSpPr>
            <a:spLocks noGrp="1"/>
          </p:cNvSpPr>
          <p:nvPr>
            <p:ph idx="1"/>
          </p:nvPr>
        </p:nvSpPr>
        <p:spPr/>
        <p:txBody>
          <a:bodyPr/>
          <a:lstStyle/>
          <a:p>
            <a:endParaRPr lang="zh-CN" altLang="en-US" dirty="0"/>
          </a:p>
        </p:txBody>
      </p:sp>
      <p:pic>
        <p:nvPicPr>
          <p:cNvPr id="4" name="Picture 3">
            <a:extLst>
              <a:ext uri="{FF2B5EF4-FFF2-40B4-BE49-F238E27FC236}">
                <a16:creationId xmlns:a16="http://schemas.microsoft.com/office/drawing/2014/main" id="{29AF8D2E-94F5-4763-83F1-673EA2E36A9D}"/>
              </a:ext>
            </a:extLst>
          </p:cNvPr>
          <p:cNvPicPr>
            <a:picLocks noChangeAspect="1"/>
          </p:cNvPicPr>
          <p:nvPr/>
        </p:nvPicPr>
        <p:blipFill>
          <a:blip r:embed="rId2"/>
          <a:stretch>
            <a:fillRect/>
          </a:stretch>
        </p:blipFill>
        <p:spPr>
          <a:xfrm>
            <a:off x="976834" y="1763187"/>
            <a:ext cx="5028954" cy="4729688"/>
          </a:xfrm>
          <a:prstGeom prst="rect">
            <a:avLst/>
          </a:prstGeom>
        </p:spPr>
      </p:pic>
      <p:pic>
        <p:nvPicPr>
          <p:cNvPr id="5" name="Picture 2" descr="https://img14.360buyimg.com/pop/jfs/t1/208555/3/1270/62988/61476fa1E27d149d1/c80fad0320940021.jpg">
            <a:extLst>
              <a:ext uri="{FF2B5EF4-FFF2-40B4-BE49-F238E27FC236}">
                <a16:creationId xmlns:a16="http://schemas.microsoft.com/office/drawing/2014/main" id="{E36C77C8-FE1B-47C6-BA39-E02F0702EE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4111" y="1763186"/>
            <a:ext cx="4729689" cy="4729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1349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8A4E1-6FAB-45C8-A8D7-7C81F2643BD9}"/>
              </a:ext>
            </a:extLst>
          </p:cNvPr>
          <p:cNvSpPr>
            <a:spLocks noGrp="1"/>
          </p:cNvSpPr>
          <p:nvPr>
            <p:ph type="title"/>
          </p:nvPr>
        </p:nvSpPr>
        <p:spPr>
          <a:xfrm>
            <a:off x="838200" y="365125"/>
            <a:ext cx="10515600" cy="1325563"/>
          </a:xfrm>
        </p:spPr>
        <p:txBody>
          <a:bodyPr/>
          <a:lstStyle/>
          <a:p>
            <a:pPr algn="ctr"/>
            <a:r>
              <a:rPr lang="zh-CN" altLang="en-US" b="1" dirty="0">
                <a:latin typeface="+mn-lt"/>
                <a:ea typeface="+mn-ea"/>
                <a:cs typeface="+mn-ea"/>
                <a:sym typeface="+mn-lt"/>
              </a:rPr>
              <a:t>参考书</a:t>
            </a:r>
          </a:p>
        </p:txBody>
      </p:sp>
      <p:pic>
        <p:nvPicPr>
          <p:cNvPr id="5" name="Picture 4">
            <a:extLst>
              <a:ext uri="{FF2B5EF4-FFF2-40B4-BE49-F238E27FC236}">
                <a16:creationId xmlns:a16="http://schemas.microsoft.com/office/drawing/2014/main" id="{C610CFD9-A3EF-4941-8F8D-7E09CCE38BEE}"/>
              </a:ext>
            </a:extLst>
          </p:cNvPr>
          <p:cNvPicPr>
            <a:picLocks noChangeAspect="1"/>
          </p:cNvPicPr>
          <p:nvPr/>
        </p:nvPicPr>
        <p:blipFill>
          <a:blip r:embed="rId2"/>
          <a:stretch>
            <a:fillRect/>
          </a:stretch>
        </p:blipFill>
        <p:spPr>
          <a:xfrm>
            <a:off x="2040888" y="1760848"/>
            <a:ext cx="3338200" cy="4298330"/>
          </a:xfrm>
          <a:prstGeom prst="rect">
            <a:avLst/>
          </a:prstGeom>
        </p:spPr>
      </p:pic>
      <p:pic>
        <p:nvPicPr>
          <p:cNvPr id="6146" name="Picture 2" descr="https://img1.doubanio.com/view/subject/l/public/s33531488.jpg">
            <a:extLst>
              <a:ext uri="{FF2B5EF4-FFF2-40B4-BE49-F238E27FC236}">
                <a16:creationId xmlns:a16="http://schemas.microsoft.com/office/drawing/2014/main" id="{6322FB1C-409E-4415-8FBF-B374E343EF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2513" y="1528763"/>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4725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51ED6-FE77-496A-B3D2-258D6F7E5AE1}"/>
              </a:ext>
            </a:extLst>
          </p:cNvPr>
          <p:cNvSpPr>
            <a:spLocks noGrp="1"/>
          </p:cNvSpPr>
          <p:nvPr>
            <p:ph type="title"/>
          </p:nvPr>
        </p:nvSpPr>
        <p:spPr/>
        <p:txBody>
          <a:bodyPr/>
          <a:lstStyle/>
          <a:p>
            <a:pPr algn="ctr"/>
            <a:r>
              <a:rPr lang="zh-CN" altLang="en-US" b="1" dirty="0"/>
              <a:t>参考书</a:t>
            </a:r>
          </a:p>
        </p:txBody>
      </p:sp>
      <p:pic>
        <p:nvPicPr>
          <p:cNvPr id="4" name="Picture 3">
            <a:extLst>
              <a:ext uri="{FF2B5EF4-FFF2-40B4-BE49-F238E27FC236}">
                <a16:creationId xmlns:a16="http://schemas.microsoft.com/office/drawing/2014/main" id="{3420676E-E2DF-411B-BA94-38A5AACF8E4B}"/>
              </a:ext>
            </a:extLst>
          </p:cNvPr>
          <p:cNvPicPr>
            <a:picLocks noChangeAspect="1"/>
          </p:cNvPicPr>
          <p:nvPr/>
        </p:nvPicPr>
        <p:blipFill>
          <a:blip r:embed="rId2"/>
          <a:stretch>
            <a:fillRect/>
          </a:stretch>
        </p:blipFill>
        <p:spPr>
          <a:xfrm>
            <a:off x="7134225" y="1690688"/>
            <a:ext cx="4219575" cy="4862870"/>
          </a:xfrm>
          <a:prstGeom prst="rect">
            <a:avLst/>
          </a:prstGeom>
        </p:spPr>
      </p:pic>
      <p:pic>
        <p:nvPicPr>
          <p:cNvPr id="3" name="Picture 2">
            <a:extLst>
              <a:ext uri="{FF2B5EF4-FFF2-40B4-BE49-F238E27FC236}">
                <a16:creationId xmlns:a16="http://schemas.microsoft.com/office/drawing/2014/main" id="{6059F368-EB30-4F0F-9C40-BA4C1ACE0B33}"/>
              </a:ext>
            </a:extLst>
          </p:cNvPr>
          <p:cNvPicPr>
            <a:picLocks noChangeAspect="1"/>
          </p:cNvPicPr>
          <p:nvPr/>
        </p:nvPicPr>
        <p:blipFill>
          <a:blip r:embed="rId3"/>
          <a:stretch>
            <a:fillRect/>
          </a:stretch>
        </p:blipFill>
        <p:spPr>
          <a:xfrm>
            <a:off x="1438728" y="1522700"/>
            <a:ext cx="3619048" cy="4838095"/>
          </a:xfrm>
          <a:prstGeom prst="rect">
            <a:avLst/>
          </a:prstGeom>
        </p:spPr>
      </p:pic>
    </p:spTree>
    <p:extLst>
      <p:ext uri="{BB962C8B-B14F-4D97-AF65-F5344CB8AC3E}">
        <p14:creationId xmlns:p14="http://schemas.microsoft.com/office/powerpoint/2010/main" val="1403058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EF92F-56FD-4B4C-9720-3B992A265775}"/>
              </a:ext>
            </a:extLst>
          </p:cNvPr>
          <p:cNvSpPr>
            <a:spLocks noGrp="1"/>
          </p:cNvSpPr>
          <p:nvPr>
            <p:ph type="title"/>
          </p:nvPr>
        </p:nvSpPr>
        <p:spPr/>
        <p:txBody>
          <a:bodyPr/>
          <a:lstStyle/>
          <a:p>
            <a:pPr algn="ctr"/>
            <a:r>
              <a:rPr lang="zh-CN" altLang="en-US" b="1" dirty="0">
                <a:latin typeface="+mn-lt"/>
                <a:ea typeface="+mn-ea"/>
                <a:cs typeface="+mn-ea"/>
                <a:sym typeface="+mn-lt"/>
              </a:rPr>
              <a:t>教学安排</a:t>
            </a:r>
          </a:p>
        </p:txBody>
      </p:sp>
      <p:sp>
        <p:nvSpPr>
          <p:cNvPr id="3" name="Content Placeholder 2">
            <a:extLst>
              <a:ext uri="{FF2B5EF4-FFF2-40B4-BE49-F238E27FC236}">
                <a16:creationId xmlns:a16="http://schemas.microsoft.com/office/drawing/2014/main" id="{78C24DD5-BB09-4CB0-B4A8-656AC889278C}"/>
              </a:ext>
            </a:extLst>
          </p:cNvPr>
          <p:cNvSpPr>
            <a:spLocks noGrp="1"/>
          </p:cNvSpPr>
          <p:nvPr>
            <p:ph idx="1"/>
          </p:nvPr>
        </p:nvSpPr>
        <p:spPr/>
        <p:txBody>
          <a:bodyPr>
            <a:normAutofit lnSpcReduction="10000"/>
          </a:bodyPr>
          <a:lstStyle/>
          <a:p>
            <a:pPr>
              <a:lnSpc>
                <a:spcPct val="150000"/>
              </a:lnSpc>
            </a:pPr>
            <a:r>
              <a:rPr lang="zh-CN" altLang="en-US" b="1" dirty="0">
                <a:cs typeface="+mn-ea"/>
                <a:sym typeface="+mn-lt"/>
              </a:rPr>
              <a:t>学时：</a:t>
            </a:r>
            <a:r>
              <a:rPr lang="en-US" altLang="zh-CN" b="1" dirty="0">
                <a:cs typeface="+mn-ea"/>
                <a:sym typeface="+mn-lt"/>
              </a:rPr>
              <a:t>16</a:t>
            </a:r>
            <a:r>
              <a:rPr lang="zh-CN" altLang="en-US" b="1" dirty="0">
                <a:cs typeface="+mn-ea"/>
                <a:sym typeface="+mn-lt"/>
              </a:rPr>
              <a:t>周</a:t>
            </a:r>
            <a:r>
              <a:rPr lang="en-US" altLang="zh-CN" b="1" dirty="0">
                <a:cs typeface="+mn-ea"/>
                <a:sym typeface="+mn-lt"/>
              </a:rPr>
              <a:t>*2=32</a:t>
            </a:r>
            <a:r>
              <a:rPr lang="zh-CN" altLang="en-US" b="1" dirty="0">
                <a:cs typeface="+mn-ea"/>
                <a:sym typeface="+mn-lt"/>
              </a:rPr>
              <a:t>个学时</a:t>
            </a:r>
            <a:endParaRPr lang="en-US" altLang="zh-CN" b="1" dirty="0">
              <a:cs typeface="+mn-ea"/>
              <a:sym typeface="+mn-lt"/>
            </a:endParaRPr>
          </a:p>
          <a:p>
            <a:pPr lvl="1">
              <a:lnSpc>
                <a:spcPct val="150000"/>
              </a:lnSpc>
            </a:pPr>
            <a:r>
              <a:rPr lang="zh-CN" altLang="en-US" dirty="0">
                <a:cs typeface="+mn-ea"/>
                <a:sym typeface="+mn-lt"/>
              </a:rPr>
              <a:t>上课</a:t>
            </a:r>
            <a:r>
              <a:rPr lang="en-US" altLang="zh-CN" dirty="0">
                <a:cs typeface="+mn-ea"/>
                <a:sym typeface="+mn-lt"/>
              </a:rPr>
              <a:t>14</a:t>
            </a:r>
            <a:r>
              <a:rPr lang="zh-CN" altLang="en-US" dirty="0">
                <a:cs typeface="+mn-ea"/>
                <a:sym typeface="+mn-lt"/>
              </a:rPr>
              <a:t>周、小组汇报</a:t>
            </a:r>
            <a:r>
              <a:rPr lang="en-US" altLang="zh-CN" dirty="0">
                <a:cs typeface="+mn-ea"/>
                <a:sym typeface="+mn-lt"/>
              </a:rPr>
              <a:t>2</a:t>
            </a:r>
            <a:r>
              <a:rPr lang="zh-CN" altLang="en-US" dirty="0">
                <a:cs typeface="+mn-ea"/>
                <a:sym typeface="+mn-lt"/>
              </a:rPr>
              <a:t>周</a:t>
            </a:r>
            <a:endParaRPr lang="en-US" altLang="zh-CN" dirty="0">
              <a:cs typeface="+mn-ea"/>
              <a:sym typeface="+mn-lt"/>
            </a:endParaRPr>
          </a:p>
          <a:p>
            <a:pPr>
              <a:lnSpc>
                <a:spcPct val="150000"/>
              </a:lnSpc>
            </a:pPr>
            <a:r>
              <a:rPr lang="zh-CN" altLang="en-US" b="1" dirty="0">
                <a:cs typeface="+mn-ea"/>
                <a:sym typeface="+mn-lt"/>
              </a:rPr>
              <a:t>成绩评定：</a:t>
            </a:r>
            <a:endParaRPr lang="en-US" altLang="zh-CN" b="1" dirty="0">
              <a:cs typeface="+mn-ea"/>
              <a:sym typeface="+mn-lt"/>
            </a:endParaRPr>
          </a:p>
          <a:p>
            <a:pPr lvl="1">
              <a:lnSpc>
                <a:spcPct val="150000"/>
              </a:lnSpc>
            </a:pPr>
            <a:r>
              <a:rPr lang="zh-CN" altLang="en-US" dirty="0">
                <a:cs typeface="+mn-ea"/>
                <a:sym typeface="+mn-lt"/>
              </a:rPr>
              <a:t>出勤：</a:t>
            </a:r>
            <a:r>
              <a:rPr lang="en-US" altLang="zh-CN" dirty="0">
                <a:cs typeface="+mn-ea"/>
                <a:sym typeface="+mn-lt"/>
              </a:rPr>
              <a:t>5%</a:t>
            </a:r>
          </a:p>
          <a:p>
            <a:pPr lvl="1">
              <a:lnSpc>
                <a:spcPct val="150000"/>
              </a:lnSpc>
            </a:pPr>
            <a:r>
              <a:rPr lang="zh-CN" altLang="en-US" dirty="0">
                <a:cs typeface="+mn-ea"/>
                <a:sym typeface="+mn-lt"/>
              </a:rPr>
              <a:t>课后编程作业：</a:t>
            </a:r>
            <a:r>
              <a:rPr lang="en-US" altLang="zh-CN" dirty="0">
                <a:cs typeface="+mn-ea"/>
                <a:sym typeface="+mn-lt"/>
              </a:rPr>
              <a:t>30%</a:t>
            </a:r>
          </a:p>
          <a:p>
            <a:pPr lvl="1">
              <a:lnSpc>
                <a:spcPct val="150000"/>
              </a:lnSpc>
            </a:pPr>
            <a:r>
              <a:rPr lang="zh-CN" altLang="en-US" dirty="0">
                <a:cs typeface="+mn-ea"/>
                <a:sym typeface="+mn-lt"/>
              </a:rPr>
              <a:t>课程项目（小组）：</a:t>
            </a:r>
            <a:r>
              <a:rPr lang="en-US" altLang="zh-CN" dirty="0">
                <a:cs typeface="+mn-ea"/>
                <a:sym typeface="+mn-lt"/>
              </a:rPr>
              <a:t>25%</a:t>
            </a:r>
          </a:p>
          <a:p>
            <a:pPr lvl="1">
              <a:lnSpc>
                <a:spcPct val="150000"/>
              </a:lnSpc>
            </a:pPr>
            <a:r>
              <a:rPr lang="zh-CN" altLang="en-US" dirty="0">
                <a:cs typeface="+mn-ea"/>
                <a:sym typeface="+mn-lt"/>
              </a:rPr>
              <a:t>期末考试：</a:t>
            </a:r>
            <a:r>
              <a:rPr lang="en-US" altLang="zh-CN" dirty="0">
                <a:cs typeface="+mn-ea"/>
                <a:sym typeface="+mn-lt"/>
              </a:rPr>
              <a:t>40%</a:t>
            </a:r>
            <a:endParaRPr lang="zh-CN" altLang="en-US" dirty="0">
              <a:cs typeface="+mn-ea"/>
              <a:sym typeface="+mn-lt"/>
            </a:endParaRPr>
          </a:p>
        </p:txBody>
      </p:sp>
    </p:spTree>
    <p:extLst>
      <p:ext uri="{BB962C8B-B14F-4D97-AF65-F5344CB8AC3E}">
        <p14:creationId xmlns:p14="http://schemas.microsoft.com/office/powerpoint/2010/main" val="1511087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3B559-F70F-4474-96FD-EE5D525F8EDB}"/>
              </a:ext>
            </a:extLst>
          </p:cNvPr>
          <p:cNvSpPr>
            <a:spLocks noGrp="1"/>
          </p:cNvSpPr>
          <p:nvPr>
            <p:ph type="title"/>
          </p:nvPr>
        </p:nvSpPr>
        <p:spPr/>
        <p:txBody>
          <a:bodyPr/>
          <a:lstStyle/>
          <a:p>
            <a:pPr algn="ctr"/>
            <a:r>
              <a:rPr lang="zh-CN" altLang="en-US" b="1" dirty="0">
                <a:latin typeface="+mn-lt"/>
                <a:ea typeface="+mn-ea"/>
                <a:cs typeface="+mn-ea"/>
                <a:sym typeface="+mn-lt"/>
              </a:rPr>
              <a:t>先导课程</a:t>
            </a:r>
          </a:p>
        </p:txBody>
      </p:sp>
      <p:sp>
        <p:nvSpPr>
          <p:cNvPr id="3" name="Content Placeholder 2">
            <a:extLst>
              <a:ext uri="{FF2B5EF4-FFF2-40B4-BE49-F238E27FC236}">
                <a16:creationId xmlns:a16="http://schemas.microsoft.com/office/drawing/2014/main" id="{9B2584CA-7893-4089-94C8-146C45458F8A}"/>
              </a:ext>
            </a:extLst>
          </p:cNvPr>
          <p:cNvSpPr>
            <a:spLocks noGrp="1"/>
          </p:cNvSpPr>
          <p:nvPr>
            <p:ph idx="1"/>
          </p:nvPr>
        </p:nvSpPr>
        <p:spPr/>
        <p:txBody>
          <a:bodyPr/>
          <a:lstStyle/>
          <a:p>
            <a:pPr>
              <a:lnSpc>
                <a:spcPct val="150000"/>
              </a:lnSpc>
            </a:pPr>
            <a:r>
              <a:rPr lang="zh-CN" altLang="en-US" b="1" dirty="0">
                <a:cs typeface="+mn-ea"/>
                <a:sym typeface="+mn-lt"/>
              </a:rPr>
              <a:t>数字图像处理</a:t>
            </a:r>
            <a:endParaRPr lang="en-US" altLang="zh-CN" b="1" dirty="0">
              <a:cs typeface="+mn-ea"/>
              <a:sym typeface="+mn-lt"/>
            </a:endParaRPr>
          </a:p>
          <a:p>
            <a:pPr>
              <a:lnSpc>
                <a:spcPct val="150000"/>
              </a:lnSpc>
            </a:pPr>
            <a:r>
              <a:rPr lang="zh-CN" altLang="en-US" b="1" dirty="0">
                <a:cs typeface="+mn-ea"/>
                <a:sym typeface="+mn-lt"/>
              </a:rPr>
              <a:t>机器学习</a:t>
            </a:r>
            <a:endParaRPr lang="en-US" altLang="zh-CN" b="1" dirty="0">
              <a:cs typeface="+mn-ea"/>
              <a:sym typeface="+mn-lt"/>
            </a:endParaRPr>
          </a:p>
          <a:p>
            <a:pPr>
              <a:lnSpc>
                <a:spcPct val="150000"/>
              </a:lnSpc>
            </a:pPr>
            <a:r>
              <a:rPr lang="zh-CN" altLang="en-US" b="1" dirty="0">
                <a:cs typeface="+mn-ea"/>
                <a:sym typeface="+mn-lt"/>
              </a:rPr>
              <a:t>程序设计（</a:t>
            </a:r>
            <a:r>
              <a:rPr lang="en-US" altLang="zh-CN" b="1" dirty="0">
                <a:cs typeface="+mn-ea"/>
                <a:sym typeface="+mn-lt"/>
              </a:rPr>
              <a:t>Python</a:t>
            </a:r>
            <a:r>
              <a:rPr lang="zh-CN" altLang="en-US" b="1" dirty="0">
                <a:cs typeface="+mn-ea"/>
                <a:sym typeface="+mn-lt"/>
              </a:rPr>
              <a:t>、</a:t>
            </a:r>
            <a:r>
              <a:rPr lang="en-US" altLang="zh-CN" b="1" dirty="0">
                <a:cs typeface="+mn-ea"/>
                <a:sym typeface="+mn-lt"/>
              </a:rPr>
              <a:t>C/C++</a:t>
            </a:r>
            <a:r>
              <a:rPr lang="zh-CN" altLang="en-US" b="1" dirty="0">
                <a:cs typeface="+mn-ea"/>
                <a:sym typeface="+mn-lt"/>
              </a:rPr>
              <a:t>）</a:t>
            </a:r>
            <a:endParaRPr lang="en-US" altLang="zh-CN" b="1" dirty="0">
              <a:cs typeface="+mn-ea"/>
              <a:sym typeface="+mn-lt"/>
            </a:endParaRPr>
          </a:p>
          <a:p>
            <a:pPr>
              <a:lnSpc>
                <a:spcPct val="150000"/>
              </a:lnSpc>
            </a:pPr>
            <a:r>
              <a:rPr lang="zh-CN" altLang="en-US" b="1" dirty="0">
                <a:cs typeface="+mn-ea"/>
                <a:sym typeface="+mn-lt"/>
              </a:rPr>
              <a:t>深度学习</a:t>
            </a:r>
            <a:r>
              <a:rPr lang="zh-CN" altLang="en-US" b="1" dirty="0">
                <a:solidFill>
                  <a:srgbClr val="00B0F0"/>
                </a:solidFill>
                <a:cs typeface="+mn-ea"/>
                <a:sym typeface="+mn-lt"/>
              </a:rPr>
              <a:t>（部分课程会重叠）</a:t>
            </a:r>
          </a:p>
        </p:txBody>
      </p:sp>
    </p:spTree>
    <p:extLst>
      <p:ext uri="{BB962C8B-B14F-4D97-AF65-F5344CB8AC3E}">
        <p14:creationId xmlns:p14="http://schemas.microsoft.com/office/powerpoint/2010/main" val="4240276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3D72A-0DFB-4E7F-886D-9AFF04CD3AD5}"/>
              </a:ext>
            </a:extLst>
          </p:cNvPr>
          <p:cNvSpPr>
            <a:spLocks noGrp="1"/>
          </p:cNvSpPr>
          <p:nvPr>
            <p:ph type="title"/>
          </p:nvPr>
        </p:nvSpPr>
        <p:spPr/>
        <p:txBody>
          <a:bodyPr/>
          <a:lstStyle/>
          <a:p>
            <a:pPr algn="ctr"/>
            <a:r>
              <a:rPr lang="zh-CN" altLang="en-US" b="1" dirty="0">
                <a:latin typeface="+mn-lt"/>
                <a:ea typeface="+mn-ea"/>
                <a:cs typeface="+mn-ea"/>
                <a:sym typeface="+mn-lt"/>
              </a:rPr>
              <a:t>课程计划</a:t>
            </a:r>
          </a:p>
        </p:txBody>
      </p:sp>
      <p:sp>
        <p:nvSpPr>
          <p:cNvPr id="3" name="Content Placeholder 2">
            <a:extLst>
              <a:ext uri="{FF2B5EF4-FFF2-40B4-BE49-F238E27FC236}">
                <a16:creationId xmlns:a16="http://schemas.microsoft.com/office/drawing/2014/main" id="{4A386675-A6B6-4110-88BE-C74D436038AC}"/>
              </a:ext>
            </a:extLst>
          </p:cNvPr>
          <p:cNvSpPr>
            <a:spLocks noGrp="1"/>
          </p:cNvSpPr>
          <p:nvPr>
            <p:ph idx="1"/>
          </p:nvPr>
        </p:nvSpPr>
        <p:spPr/>
        <p:txBody>
          <a:bodyPr>
            <a:normAutofit fontScale="85000" lnSpcReduction="20000"/>
          </a:bodyPr>
          <a:lstStyle/>
          <a:p>
            <a:pPr>
              <a:lnSpc>
                <a:spcPct val="130000"/>
              </a:lnSpc>
            </a:pPr>
            <a:r>
              <a:rPr lang="zh-CN" altLang="en-US" b="1" dirty="0">
                <a:cs typeface="+mn-ea"/>
                <a:sym typeface="+mn-lt"/>
              </a:rPr>
              <a:t>数字图像处理</a:t>
            </a:r>
            <a:endParaRPr lang="en-US" altLang="zh-CN" b="1" dirty="0">
              <a:cs typeface="+mn-ea"/>
              <a:sym typeface="+mn-lt"/>
            </a:endParaRPr>
          </a:p>
          <a:p>
            <a:pPr lvl="1">
              <a:lnSpc>
                <a:spcPct val="130000"/>
              </a:lnSpc>
            </a:pPr>
            <a:r>
              <a:rPr lang="zh-CN" altLang="en-US" dirty="0">
                <a:cs typeface="+mn-ea"/>
                <a:sym typeface="+mn-lt"/>
              </a:rPr>
              <a:t>基础知识、图像滤波、边缘检测、形态学图像处理、特征点检测</a:t>
            </a:r>
            <a:endParaRPr lang="en-US" altLang="zh-CN" b="1" dirty="0">
              <a:cs typeface="+mn-ea"/>
              <a:sym typeface="+mn-lt"/>
            </a:endParaRPr>
          </a:p>
          <a:p>
            <a:pPr>
              <a:lnSpc>
                <a:spcPct val="110000"/>
              </a:lnSpc>
            </a:pPr>
            <a:r>
              <a:rPr lang="zh-CN" altLang="en-US" b="1" dirty="0">
                <a:cs typeface="+mn-ea"/>
                <a:sym typeface="+mn-lt"/>
              </a:rPr>
              <a:t>传统视觉方法</a:t>
            </a:r>
            <a:endParaRPr lang="en-US" altLang="zh-CN" b="1" dirty="0">
              <a:cs typeface="+mn-ea"/>
              <a:sym typeface="+mn-lt"/>
            </a:endParaRPr>
          </a:p>
          <a:p>
            <a:pPr lvl="1">
              <a:lnSpc>
                <a:spcPct val="110000"/>
              </a:lnSpc>
            </a:pPr>
            <a:r>
              <a:rPr lang="zh-CN" altLang="en-US" dirty="0">
                <a:cs typeface="+mn-ea"/>
                <a:sym typeface="+mn-lt"/>
              </a:rPr>
              <a:t>视觉词袋模型 </a:t>
            </a:r>
            <a:r>
              <a:rPr lang="en-US" altLang="zh-CN" dirty="0">
                <a:cs typeface="+mn-ea"/>
                <a:sym typeface="+mn-lt"/>
              </a:rPr>
              <a:t>(Bag of Visual Words)</a:t>
            </a:r>
          </a:p>
          <a:p>
            <a:pPr lvl="1">
              <a:lnSpc>
                <a:spcPct val="110000"/>
              </a:lnSpc>
            </a:pPr>
            <a:r>
              <a:rPr lang="zh-CN" altLang="en-US" dirty="0">
                <a:cs typeface="+mn-ea"/>
                <a:sym typeface="+mn-lt"/>
              </a:rPr>
              <a:t>目标检测 </a:t>
            </a:r>
            <a:r>
              <a:rPr lang="en-US" altLang="zh-CN" dirty="0">
                <a:cs typeface="+mn-ea"/>
                <a:sym typeface="+mn-lt"/>
              </a:rPr>
              <a:t>(</a:t>
            </a:r>
            <a:r>
              <a:rPr lang="en-US" altLang="zh-CN" dirty="0" err="1">
                <a:cs typeface="+mn-ea"/>
                <a:sym typeface="+mn-lt"/>
              </a:rPr>
              <a:t>Haar</a:t>
            </a:r>
            <a:r>
              <a:rPr lang="zh-CN" altLang="en-US" dirty="0">
                <a:cs typeface="+mn-ea"/>
                <a:sym typeface="+mn-lt"/>
              </a:rPr>
              <a:t>、</a:t>
            </a:r>
            <a:r>
              <a:rPr lang="en-US" altLang="zh-CN" dirty="0">
                <a:cs typeface="+mn-ea"/>
                <a:sym typeface="+mn-lt"/>
              </a:rPr>
              <a:t>HOG</a:t>
            </a:r>
            <a:r>
              <a:rPr lang="zh-CN" altLang="en-US" dirty="0">
                <a:cs typeface="+mn-ea"/>
                <a:sym typeface="+mn-lt"/>
              </a:rPr>
              <a:t>等</a:t>
            </a:r>
            <a:r>
              <a:rPr lang="en-US" altLang="zh-CN" dirty="0">
                <a:cs typeface="+mn-ea"/>
                <a:sym typeface="+mn-lt"/>
              </a:rPr>
              <a:t>)</a:t>
            </a:r>
          </a:p>
          <a:p>
            <a:pPr>
              <a:lnSpc>
                <a:spcPct val="110000"/>
              </a:lnSpc>
            </a:pPr>
            <a:r>
              <a:rPr lang="zh-CN" altLang="en-US" b="1" dirty="0">
                <a:cs typeface="+mn-ea"/>
                <a:sym typeface="+mn-lt"/>
              </a:rPr>
              <a:t>深度学习方法</a:t>
            </a:r>
            <a:endParaRPr lang="en-US" altLang="zh-CN" b="1" dirty="0">
              <a:cs typeface="+mn-ea"/>
              <a:sym typeface="+mn-lt"/>
            </a:endParaRPr>
          </a:p>
          <a:p>
            <a:pPr lvl="1">
              <a:lnSpc>
                <a:spcPct val="110000"/>
              </a:lnSpc>
            </a:pPr>
            <a:r>
              <a:rPr lang="zh-CN" altLang="en-US" dirty="0">
                <a:cs typeface="+mn-ea"/>
                <a:sym typeface="+mn-lt"/>
              </a:rPr>
              <a:t>卷积神经网络</a:t>
            </a:r>
            <a:endParaRPr lang="en-US" altLang="zh-CN" dirty="0">
              <a:cs typeface="+mn-ea"/>
              <a:sym typeface="+mn-lt"/>
            </a:endParaRPr>
          </a:p>
          <a:p>
            <a:pPr lvl="1">
              <a:lnSpc>
                <a:spcPct val="110000"/>
              </a:lnSpc>
            </a:pPr>
            <a:r>
              <a:rPr lang="zh-CN" altLang="en-US" dirty="0">
                <a:cs typeface="+mn-ea"/>
                <a:sym typeface="+mn-lt"/>
              </a:rPr>
              <a:t>目标检测 </a:t>
            </a:r>
            <a:endParaRPr lang="en-US" altLang="zh-CN" dirty="0">
              <a:cs typeface="+mn-ea"/>
              <a:sym typeface="+mn-lt"/>
            </a:endParaRPr>
          </a:p>
          <a:p>
            <a:pPr lvl="1">
              <a:lnSpc>
                <a:spcPct val="110000"/>
              </a:lnSpc>
            </a:pPr>
            <a:r>
              <a:rPr lang="zh-CN" altLang="en-US" dirty="0">
                <a:cs typeface="+mn-ea"/>
                <a:sym typeface="+mn-lt"/>
              </a:rPr>
              <a:t>语义分割、实例分割 </a:t>
            </a:r>
            <a:endParaRPr lang="en-US" altLang="zh-CN" dirty="0">
              <a:cs typeface="+mn-ea"/>
              <a:sym typeface="+mn-lt"/>
            </a:endParaRPr>
          </a:p>
          <a:p>
            <a:pPr lvl="1">
              <a:lnSpc>
                <a:spcPct val="110000"/>
              </a:lnSpc>
            </a:pPr>
            <a:r>
              <a:rPr lang="zh-CN" altLang="en-US" dirty="0">
                <a:cs typeface="+mn-ea"/>
                <a:sym typeface="+mn-lt"/>
              </a:rPr>
              <a:t>图像生成</a:t>
            </a:r>
            <a:endParaRPr lang="en-US" altLang="zh-CN" dirty="0">
              <a:cs typeface="+mn-ea"/>
              <a:sym typeface="+mn-lt"/>
            </a:endParaRPr>
          </a:p>
          <a:p>
            <a:pPr lvl="1">
              <a:lnSpc>
                <a:spcPct val="110000"/>
              </a:lnSpc>
            </a:pPr>
            <a:r>
              <a:rPr lang="zh-CN" altLang="en-US" dirty="0">
                <a:cs typeface="+mn-ea"/>
                <a:sym typeface="+mn-lt"/>
              </a:rPr>
              <a:t>注意力机制与</a:t>
            </a:r>
            <a:r>
              <a:rPr lang="en-US" altLang="zh-CN" dirty="0">
                <a:cs typeface="+mn-ea"/>
                <a:sym typeface="+mn-lt"/>
              </a:rPr>
              <a:t>Transformer</a:t>
            </a:r>
          </a:p>
        </p:txBody>
      </p:sp>
    </p:spTree>
    <p:extLst>
      <p:ext uri="{BB962C8B-B14F-4D97-AF65-F5344CB8AC3E}">
        <p14:creationId xmlns:p14="http://schemas.microsoft.com/office/powerpoint/2010/main" val="1687449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B3727-EAF9-4708-A196-FBE0763CD772}"/>
              </a:ext>
            </a:extLst>
          </p:cNvPr>
          <p:cNvSpPr>
            <a:spLocks noGrp="1"/>
          </p:cNvSpPr>
          <p:nvPr>
            <p:ph type="title"/>
          </p:nvPr>
        </p:nvSpPr>
        <p:spPr/>
        <p:txBody>
          <a:bodyPr/>
          <a:lstStyle/>
          <a:p>
            <a:r>
              <a:rPr lang="zh-CN" altLang="en-US" b="1" dirty="0"/>
              <a:t>提纲</a:t>
            </a:r>
          </a:p>
        </p:txBody>
      </p:sp>
      <p:sp>
        <p:nvSpPr>
          <p:cNvPr id="3" name="Content Placeholder 2">
            <a:extLst>
              <a:ext uri="{FF2B5EF4-FFF2-40B4-BE49-F238E27FC236}">
                <a16:creationId xmlns:a16="http://schemas.microsoft.com/office/drawing/2014/main" id="{C309EE0F-29CA-491F-8141-892F5308F8CE}"/>
              </a:ext>
            </a:extLst>
          </p:cNvPr>
          <p:cNvSpPr>
            <a:spLocks noGrp="1"/>
          </p:cNvSpPr>
          <p:nvPr>
            <p:ph idx="1"/>
          </p:nvPr>
        </p:nvSpPr>
        <p:spPr/>
        <p:txBody>
          <a:bodyPr/>
          <a:lstStyle/>
          <a:p>
            <a:pPr>
              <a:lnSpc>
                <a:spcPct val="150000"/>
              </a:lnSpc>
            </a:pPr>
            <a:r>
              <a:rPr lang="zh-CN" altLang="en-US" b="1" dirty="0">
                <a:solidFill>
                  <a:schemeClr val="accent1"/>
                </a:solidFill>
              </a:rPr>
              <a:t>计算机视觉的定义</a:t>
            </a:r>
            <a:endParaRPr lang="en-US" altLang="zh-CN" b="1" dirty="0">
              <a:solidFill>
                <a:schemeClr val="accent1"/>
              </a:solidFill>
            </a:endParaRPr>
          </a:p>
          <a:p>
            <a:pPr>
              <a:lnSpc>
                <a:spcPct val="150000"/>
              </a:lnSpc>
            </a:pPr>
            <a:r>
              <a:rPr lang="zh-CN" altLang="en-US" b="1" dirty="0"/>
              <a:t>计算机视觉的典型问题和应用</a:t>
            </a:r>
            <a:endParaRPr lang="en-US" altLang="zh-CN" b="1" dirty="0"/>
          </a:p>
          <a:p>
            <a:pPr>
              <a:lnSpc>
                <a:spcPct val="150000"/>
              </a:lnSpc>
            </a:pPr>
            <a:r>
              <a:rPr lang="zh-CN" altLang="en-US" b="1" dirty="0"/>
              <a:t>计算机视觉的发展历史</a:t>
            </a:r>
            <a:endParaRPr lang="zh-CN" altLang="en-US" dirty="0"/>
          </a:p>
        </p:txBody>
      </p:sp>
    </p:spTree>
    <p:extLst>
      <p:ext uri="{BB962C8B-B14F-4D97-AF65-F5344CB8AC3E}">
        <p14:creationId xmlns:p14="http://schemas.microsoft.com/office/powerpoint/2010/main" val="2151011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0B84C-4B7E-4A64-AAB6-794494F17945}"/>
              </a:ext>
            </a:extLst>
          </p:cNvPr>
          <p:cNvSpPr>
            <a:spLocks noGrp="1"/>
          </p:cNvSpPr>
          <p:nvPr>
            <p:ph type="title"/>
          </p:nvPr>
        </p:nvSpPr>
        <p:spPr/>
        <p:txBody>
          <a:bodyPr/>
          <a:lstStyle/>
          <a:p>
            <a:pPr algn="ctr"/>
            <a:r>
              <a:rPr lang="zh-CN" altLang="en-US" b="1" dirty="0">
                <a:latin typeface="+mn-lt"/>
                <a:ea typeface="+mn-ea"/>
                <a:cs typeface="+mn-ea"/>
                <a:sym typeface="+mn-lt"/>
              </a:rPr>
              <a:t>什么是计算机视觉？</a:t>
            </a:r>
            <a:endParaRPr lang="zh-CN" altLang="en-US" dirty="0">
              <a:latin typeface="+mn-lt"/>
              <a:ea typeface="+mn-ea"/>
              <a:cs typeface="+mn-ea"/>
              <a:sym typeface="+mn-lt"/>
            </a:endParaRPr>
          </a:p>
        </p:txBody>
      </p:sp>
      <p:grpSp>
        <p:nvGrpSpPr>
          <p:cNvPr id="9" name="Group 8">
            <a:extLst>
              <a:ext uri="{FF2B5EF4-FFF2-40B4-BE49-F238E27FC236}">
                <a16:creationId xmlns:a16="http://schemas.microsoft.com/office/drawing/2014/main" id="{84420729-CDC3-414E-A04C-F2A7D0414D5A}"/>
              </a:ext>
            </a:extLst>
          </p:cNvPr>
          <p:cNvGrpSpPr/>
          <p:nvPr/>
        </p:nvGrpSpPr>
        <p:grpSpPr>
          <a:xfrm>
            <a:off x="197232" y="1690688"/>
            <a:ext cx="8633783" cy="4943521"/>
            <a:chOff x="1779108" y="1823436"/>
            <a:chExt cx="8633783" cy="4943521"/>
          </a:xfrm>
        </p:grpSpPr>
        <p:pic>
          <p:nvPicPr>
            <p:cNvPr id="5" name="Picture 4">
              <a:extLst>
                <a:ext uri="{FF2B5EF4-FFF2-40B4-BE49-F238E27FC236}">
                  <a16:creationId xmlns:a16="http://schemas.microsoft.com/office/drawing/2014/main" id="{AE895C7C-88F9-44C7-B205-C052702C482C}"/>
                </a:ext>
              </a:extLst>
            </p:cNvPr>
            <p:cNvPicPr>
              <a:picLocks noChangeAspect="1"/>
            </p:cNvPicPr>
            <p:nvPr/>
          </p:nvPicPr>
          <p:blipFill>
            <a:blip r:embed="rId2"/>
            <a:stretch>
              <a:fillRect/>
            </a:stretch>
          </p:blipFill>
          <p:spPr>
            <a:xfrm>
              <a:off x="1779108" y="1823436"/>
              <a:ext cx="8633783" cy="4574189"/>
            </a:xfrm>
            <a:prstGeom prst="rect">
              <a:avLst/>
            </a:prstGeom>
          </p:spPr>
        </p:pic>
        <p:sp>
          <p:nvSpPr>
            <p:cNvPr id="7" name="TextBox 6">
              <a:extLst>
                <a:ext uri="{FF2B5EF4-FFF2-40B4-BE49-F238E27FC236}">
                  <a16:creationId xmlns:a16="http://schemas.microsoft.com/office/drawing/2014/main" id="{F24BB1D4-FBD0-4FA2-911B-183D4F317E9F}"/>
                </a:ext>
              </a:extLst>
            </p:cNvPr>
            <p:cNvSpPr txBox="1"/>
            <p:nvPr/>
          </p:nvSpPr>
          <p:spPr>
            <a:xfrm>
              <a:off x="2905125" y="6397625"/>
              <a:ext cx="1415772" cy="369332"/>
            </a:xfrm>
            <a:prstGeom prst="rect">
              <a:avLst/>
            </a:prstGeom>
            <a:noFill/>
          </p:spPr>
          <p:txBody>
            <a:bodyPr wrap="none" rtlCol="0">
              <a:spAutoFit/>
            </a:bodyPr>
            <a:lstStyle/>
            <a:p>
              <a:r>
                <a:rPr lang="en-US" altLang="zh-CN" b="1" dirty="0">
                  <a:cs typeface="+mn-ea"/>
                  <a:sym typeface="+mn-lt"/>
                </a:rPr>
                <a:t>What we see</a:t>
              </a:r>
              <a:endParaRPr lang="zh-CN" altLang="en-US" b="1" dirty="0">
                <a:cs typeface="+mn-ea"/>
                <a:sym typeface="+mn-lt"/>
              </a:endParaRPr>
            </a:p>
          </p:txBody>
        </p:sp>
        <p:sp>
          <p:nvSpPr>
            <p:cNvPr id="8" name="TextBox 7">
              <a:extLst>
                <a:ext uri="{FF2B5EF4-FFF2-40B4-BE49-F238E27FC236}">
                  <a16:creationId xmlns:a16="http://schemas.microsoft.com/office/drawing/2014/main" id="{BC06AD21-CAD1-4FCB-BEC9-34E6C1EF361A}"/>
                </a:ext>
              </a:extLst>
            </p:cNvPr>
            <p:cNvSpPr txBox="1"/>
            <p:nvPr/>
          </p:nvSpPr>
          <p:spPr>
            <a:xfrm>
              <a:off x="7239000" y="6345707"/>
              <a:ext cx="2354171" cy="369332"/>
            </a:xfrm>
            <a:prstGeom prst="rect">
              <a:avLst/>
            </a:prstGeom>
            <a:noFill/>
          </p:spPr>
          <p:txBody>
            <a:bodyPr wrap="none" rtlCol="0">
              <a:spAutoFit/>
            </a:bodyPr>
            <a:lstStyle/>
            <a:p>
              <a:r>
                <a:rPr lang="en-US" altLang="zh-CN" b="1" dirty="0">
                  <a:cs typeface="+mn-ea"/>
                  <a:sym typeface="+mn-lt"/>
                </a:rPr>
                <a:t>What a computer sees</a:t>
              </a:r>
              <a:endParaRPr lang="zh-CN" altLang="en-US" b="1" dirty="0">
                <a:cs typeface="+mn-ea"/>
                <a:sym typeface="+mn-lt"/>
              </a:endParaRPr>
            </a:p>
          </p:txBody>
        </p:sp>
      </p:grpSp>
      <p:sp>
        <p:nvSpPr>
          <p:cNvPr id="10" name="TextBox 9">
            <a:extLst>
              <a:ext uri="{FF2B5EF4-FFF2-40B4-BE49-F238E27FC236}">
                <a16:creationId xmlns:a16="http://schemas.microsoft.com/office/drawing/2014/main" id="{B8391DCE-5AE6-4D65-A961-E61177878C44}"/>
              </a:ext>
            </a:extLst>
          </p:cNvPr>
          <p:cNvSpPr txBox="1"/>
          <p:nvPr/>
        </p:nvSpPr>
        <p:spPr>
          <a:xfrm>
            <a:off x="8831015" y="2562225"/>
            <a:ext cx="3360985" cy="1569660"/>
          </a:xfrm>
          <a:prstGeom prst="rect">
            <a:avLst/>
          </a:prstGeom>
          <a:noFill/>
        </p:spPr>
        <p:txBody>
          <a:bodyPr wrap="none" rtlCol="0">
            <a:spAutoFit/>
          </a:bodyPr>
          <a:lstStyle/>
          <a:p>
            <a:r>
              <a:rPr lang="en-US" altLang="zh-CN" sz="3200" b="1" dirty="0">
                <a:cs typeface="+mn-ea"/>
                <a:sym typeface="+mn-lt"/>
              </a:rPr>
              <a:t>To bridge the gap </a:t>
            </a:r>
          </a:p>
          <a:p>
            <a:r>
              <a:rPr lang="en-US" altLang="zh-CN" sz="3200" b="1" dirty="0">
                <a:cs typeface="+mn-ea"/>
                <a:sym typeface="+mn-lt"/>
              </a:rPr>
              <a:t>between pixels </a:t>
            </a:r>
          </a:p>
          <a:p>
            <a:r>
              <a:rPr lang="en-US" altLang="zh-CN" sz="3200" b="1" dirty="0">
                <a:cs typeface="+mn-ea"/>
                <a:sym typeface="+mn-lt"/>
              </a:rPr>
              <a:t>and </a:t>
            </a:r>
            <a:r>
              <a:rPr lang="en-US" altLang="zh-CN" sz="3200" b="1" dirty="0">
                <a:solidFill>
                  <a:schemeClr val="accent2">
                    <a:lumMod val="75000"/>
                  </a:schemeClr>
                </a:solidFill>
                <a:cs typeface="+mn-ea"/>
                <a:sym typeface="+mn-lt"/>
              </a:rPr>
              <a:t>“meaning”</a:t>
            </a:r>
            <a:endParaRPr lang="zh-CN" altLang="en-US" sz="3200" b="1" dirty="0">
              <a:solidFill>
                <a:schemeClr val="accent2">
                  <a:lumMod val="75000"/>
                </a:schemeClr>
              </a:solidFill>
              <a:cs typeface="+mn-ea"/>
              <a:sym typeface="+mn-lt"/>
            </a:endParaRPr>
          </a:p>
        </p:txBody>
      </p:sp>
    </p:spTree>
    <p:extLst>
      <p:ext uri="{BB962C8B-B14F-4D97-AF65-F5344CB8AC3E}">
        <p14:creationId xmlns:p14="http://schemas.microsoft.com/office/powerpoint/2010/main" val="1619718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5B0C6-AD27-47CF-8A27-3769479AC9D2}"/>
              </a:ext>
            </a:extLst>
          </p:cNvPr>
          <p:cNvSpPr>
            <a:spLocks noGrp="1"/>
          </p:cNvSpPr>
          <p:nvPr>
            <p:ph type="title"/>
          </p:nvPr>
        </p:nvSpPr>
        <p:spPr/>
        <p:txBody>
          <a:bodyPr/>
          <a:lstStyle/>
          <a:p>
            <a:pPr algn="ctr"/>
            <a:r>
              <a:rPr lang="zh-CN" altLang="en-US" b="1" dirty="0">
                <a:cs typeface="+mn-ea"/>
                <a:sym typeface="+mn-lt"/>
              </a:rPr>
              <a:t>什么是计算机视觉？</a:t>
            </a:r>
            <a:endParaRPr lang="zh-CN" altLang="en-US" dirty="0">
              <a:latin typeface="+mn-lt"/>
              <a:ea typeface="+mn-ea"/>
              <a:cs typeface="+mn-ea"/>
              <a:sym typeface="+mn-lt"/>
            </a:endParaRPr>
          </a:p>
        </p:txBody>
      </p:sp>
      <p:pic>
        <p:nvPicPr>
          <p:cNvPr id="4" name="Picture 3">
            <a:extLst>
              <a:ext uri="{FF2B5EF4-FFF2-40B4-BE49-F238E27FC236}">
                <a16:creationId xmlns:a16="http://schemas.microsoft.com/office/drawing/2014/main" id="{1A5F5661-2010-405D-9529-94910EA06C07}"/>
              </a:ext>
            </a:extLst>
          </p:cNvPr>
          <p:cNvPicPr>
            <a:picLocks noChangeAspect="1"/>
          </p:cNvPicPr>
          <p:nvPr/>
        </p:nvPicPr>
        <p:blipFill>
          <a:blip r:embed="rId2"/>
          <a:stretch>
            <a:fillRect/>
          </a:stretch>
        </p:blipFill>
        <p:spPr>
          <a:xfrm>
            <a:off x="581714" y="2030069"/>
            <a:ext cx="11028571" cy="4304762"/>
          </a:xfrm>
          <a:prstGeom prst="rect">
            <a:avLst/>
          </a:prstGeom>
        </p:spPr>
      </p:pic>
    </p:spTree>
    <p:extLst>
      <p:ext uri="{BB962C8B-B14F-4D97-AF65-F5344CB8AC3E}">
        <p14:creationId xmlns:p14="http://schemas.microsoft.com/office/powerpoint/2010/main" val="31558489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E20BF-8242-4E37-9E37-A1E561E0DFEA}"/>
              </a:ext>
            </a:extLst>
          </p:cNvPr>
          <p:cNvSpPr>
            <a:spLocks noGrp="1"/>
          </p:cNvSpPr>
          <p:nvPr>
            <p:ph type="title"/>
          </p:nvPr>
        </p:nvSpPr>
        <p:spPr/>
        <p:txBody>
          <a:bodyPr/>
          <a:lstStyle/>
          <a:p>
            <a:pPr algn="ctr"/>
            <a:r>
              <a:rPr lang="zh-CN" altLang="en-US" b="1" dirty="0"/>
              <a:t>人类视觉</a:t>
            </a:r>
          </a:p>
        </p:txBody>
      </p:sp>
      <p:sp>
        <p:nvSpPr>
          <p:cNvPr id="3" name="Content Placeholder 2">
            <a:extLst>
              <a:ext uri="{FF2B5EF4-FFF2-40B4-BE49-F238E27FC236}">
                <a16:creationId xmlns:a16="http://schemas.microsoft.com/office/drawing/2014/main" id="{244F3C58-D765-433E-9121-2CB4F2074109}"/>
              </a:ext>
            </a:extLst>
          </p:cNvPr>
          <p:cNvSpPr>
            <a:spLocks noGrp="1"/>
          </p:cNvSpPr>
          <p:nvPr>
            <p:ph idx="1"/>
          </p:nvPr>
        </p:nvSpPr>
        <p:spPr>
          <a:xfrm>
            <a:off x="838200" y="1825625"/>
            <a:ext cx="4991100" cy="4351338"/>
          </a:xfrm>
        </p:spPr>
        <p:txBody>
          <a:bodyPr>
            <a:normAutofit fontScale="77500" lnSpcReduction="20000"/>
          </a:bodyPr>
          <a:lstStyle/>
          <a:p>
            <a:pPr>
              <a:lnSpc>
                <a:spcPct val="150000"/>
              </a:lnSpc>
            </a:pPr>
            <a:r>
              <a:rPr lang="zh-CN" altLang="en-US" dirty="0"/>
              <a:t>人类感知外部世界主要是通过</a:t>
            </a:r>
            <a:r>
              <a:rPr lang="zh-CN" altLang="en-US" dirty="0">
                <a:solidFill>
                  <a:srgbClr val="00B0F0"/>
                </a:solidFill>
              </a:rPr>
              <a:t>视觉、听觉、触觉、嗅觉和味觉</a:t>
            </a:r>
            <a:r>
              <a:rPr lang="zh-CN" altLang="en-US" dirty="0"/>
              <a:t>等感觉器官，其中</a:t>
            </a:r>
            <a:r>
              <a:rPr lang="zh-CN" altLang="en-US" dirty="0">
                <a:solidFill>
                  <a:srgbClr val="FF0000"/>
                </a:solidFill>
              </a:rPr>
              <a:t>约</a:t>
            </a:r>
            <a:r>
              <a:rPr lang="en-US" altLang="zh-CN" dirty="0">
                <a:solidFill>
                  <a:srgbClr val="FF0000"/>
                </a:solidFill>
              </a:rPr>
              <a:t>80%</a:t>
            </a:r>
            <a:r>
              <a:rPr lang="zh-CN" altLang="en-US" dirty="0"/>
              <a:t>的信息是由视觉获取的。</a:t>
            </a:r>
          </a:p>
          <a:p>
            <a:pPr>
              <a:lnSpc>
                <a:spcPct val="150000"/>
              </a:lnSpc>
            </a:pPr>
            <a:r>
              <a:rPr lang="zh-CN" altLang="en-US" dirty="0"/>
              <a:t>人类是通过眼睛与大脑来获取、处理与理解视觉信息的。</a:t>
            </a:r>
          </a:p>
          <a:p>
            <a:pPr>
              <a:lnSpc>
                <a:spcPct val="150000"/>
              </a:lnSpc>
            </a:pPr>
            <a:r>
              <a:rPr lang="zh-CN" altLang="en-US" dirty="0"/>
              <a:t>周围环境中的物体在可见光的照射下，在眼睛的视网膜上形成图像，再由感光细胞转换成神经脉冲信号，经神经纤维传到大脑皮层进行处理、理解。</a:t>
            </a:r>
          </a:p>
          <a:p>
            <a:pPr>
              <a:lnSpc>
                <a:spcPct val="150000"/>
              </a:lnSpc>
            </a:pPr>
            <a:endParaRPr lang="zh-CN" altLang="en-US" dirty="0"/>
          </a:p>
        </p:txBody>
      </p:sp>
      <p:pic>
        <p:nvPicPr>
          <p:cNvPr id="4098" name="Picture 2" descr="视觉传导通路解剖图.jpg">
            <a:extLst>
              <a:ext uri="{FF2B5EF4-FFF2-40B4-BE49-F238E27FC236}">
                <a16:creationId xmlns:a16="http://schemas.microsoft.com/office/drawing/2014/main" id="{1AC68EA5-F27C-4F2E-8C0A-ECAD75EC89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6983" y="2172494"/>
            <a:ext cx="47625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524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C9913-E4C8-4582-8870-91530CD7D2FC}"/>
              </a:ext>
            </a:extLst>
          </p:cNvPr>
          <p:cNvSpPr>
            <a:spLocks noGrp="1"/>
          </p:cNvSpPr>
          <p:nvPr>
            <p:ph type="title"/>
          </p:nvPr>
        </p:nvSpPr>
        <p:spPr/>
        <p:txBody>
          <a:bodyPr/>
          <a:lstStyle/>
          <a:p>
            <a:pPr algn="ctr">
              <a:lnSpc>
                <a:spcPct val="150000"/>
              </a:lnSpc>
            </a:pPr>
            <a:r>
              <a:rPr lang="zh-CN" altLang="en-US" b="1" dirty="0">
                <a:cs typeface="+mn-ea"/>
                <a:sym typeface="+mn-lt"/>
              </a:rPr>
              <a:t>什么是计算机视觉？</a:t>
            </a:r>
            <a:endParaRPr lang="en-US" altLang="zh-CN" b="1" dirty="0">
              <a:latin typeface="+mn-lt"/>
              <a:ea typeface="+mn-ea"/>
              <a:cs typeface="+mn-ea"/>
              <a:sym typeface="+mn-lt"/>
            </a:endParaRPr>
          </a:p>
        </p:txBody>
      </p:sp>
      <p:sp>
        <p:nvSpPr>
          <p:cNvPr id="3" name="Content Placeholder 2">
            <a:extLst>
              <a:ext uri="{FF2B5EF4-FFF2-40B4-BE49-F238E27FC236}">
                <a16:creationId xmlns:a16="http://schemas.microsoft.com/office/drawing/2014/main" id="{73392A05-22A1-4790-9720-BC916649C311}"/>
              </a:ext>
            </a:extLst>
          </p:cNvPr>
          <p:cNvSpPr>
            <a:spLocks noGrp="1"/>
          </p:cNvSpPr>
          <p:nvPr>
            <p:ph idx="1"/>
          </p:nvPr>
        </p:nvSpPr>
        <p:spPr/>
        <p:txBody>
          <a:bodyPr>
            <a:normAutofit fontScale="85000" lnSpcReduction="10000"/>
          </a:bodyPr>
          <a:lstStyle/>
          <a:p>
            <a:pPr>
              <a:lnSpc>
                <a:spcPct val="150000"/>
              </a:lnSpc>
            </a:pPr>
            <a:r>
              <a:rPr lang="en-US" altLang="zh-CN" sz="3600" dirty="0">
                <a:cs typeface="+mn-ea"/>
                <a:sym typeface="+mn-lt"/>
              </a:rPr>
              <a:t>Computer vision is a field of artificial intelligence (AI) that </a:t>
            </a:r>
            <a:r>
              <a:rPr lang="en-US" altLang="zh-CN" sz="3600" dirty="0">
                <a:solidFill>
                  <a:srgbClr val="00B0F0"/>
                </a:solidFill>
                <a:cs typeface="+mn-ea"/>
                <a:sym typeface="+mn-lt"/>
              </a:rPr>
              <a:t>enables computers and systems to derive meaningful information</a:t>
            </a:r>
            <a:r>
              <a:rPr lang="en-US" altLang="zh-CN" sz="3600" dirty="0">
                <a:cs typeface="+mn-ea"/>
                <a:sym typeface="+mn-lt"/>
              </a:rPr>
              <a:t> from </a:t>
            </a:r>
            <a:r>
              <a:rPr lang="en-US" altLang="zh-CN" sz="3600" dirty="0">
                <a:solidFill>
                  <a:srgbClr val="FF0000"/>
                </a:solidFill>
                <a:cs typeface="+mn-ea"/>
                <a:sym typeface="+mn-lt"/>
              </a:rPr>
              <a:t>digital images, videos and other visual inputs</a:t>
            </a:r>
            <a:r>
              <a:rPr lang="en-US" altLang="zh-CN" sz="3600" dirty="0">
                <a:cs typeface="+mn-ea"/>
                <a:sym typeface="+mn-lt"/>
              </a:rPr>
              <a:t> — and </a:t>
            </a:r>
            <a:r>
              <a:rPr lang="en-US" altLang="zh-CN" sz="3600" dirty="0">
                <a:solidFill>
                  <a:srgbClr val="7030A0"/>
                </a:solidFill>
                <a:cs typeface="+mn-ea"/>
                <a:sym typeface="+mn-lt"/>
              </a:rPr>
              <a:t>take actions or make recommendations </a:t>
            </a:r>
            <a:r>
              <a:rPr lang="en-US" altLang="zh-CN" sz="3600" dirty="0">
                <a:cs typeface="+mn-ea"/>
                <a:sym typeface="+mn-lt"/>
              </a:rPr>
              <a:t>based on that information. If AI enables computers to think, computer vision enables them </a:t>
            </a:r>
            <a:r>
              <a:rPr lang="en-US" altLang="zh-CN" sz="3600" dirty="0">
                <a:solidFill>
                  <a:srgbClr val="FFC000"/>
                </a:solidFill>
                <a:cs typeface="+mn-ea"/>
                <a:sym typeface="+mn-lt"/>
              </a:rPr>
              <a:t>to see, observe and understand.</a:t>
            </a:r>
          </a:p>
        </p:txBody>
      </p:sp>
      <p:sp>
        <p:nvSpPr>
          <p:cNvPr id="4" name="Rectangle 3">
            <a:extLst>
              <a:ext uri="{FF2B5EF4-FFF2-40B4-BE49-F238E27FC236}">
                <a16:creationId xmlns:a16="http://schemas.microsoft.com/office/drawing/2014/main" id="{1DE42883-7809-4914-BF1D-37E75F1EE877}"/>
              </a:ext>
            </a:extLst>
          </p:cNvPr>
          <p:cNvSpPr/>
          <p:nvPr/>
        </p:nvSpPr>
        <p:spPr>
          <a:xfrm>
            <a:off x="7820675" y="6488668"/>
            <a:ext cx="4371325" cy="369332"/>
          </a:xfrm>
          <a:prstGeom prst="rect">
            <a:avLst/>
          </a:prstGeom>
        </p:spPr>
        <p:txBody>
          <a:bodyPr wrap="none">
            <a:spAutoFit/>
          </a:bodyPr>
          <a:lstStyle/>
          <a:p>
            <a:r>
              <a:rPr lang="zh-CN" altLang="en-US" dirty="0">
                <a:cs typeface="+mn-ea"/>
                <a:sym typeface="+mn-lt"/>
                <a:hlinkClick r:id="rId2"/>
              </a:rPr>
              <a:t>https://www.ibm.com/topics/computer-vision</a:t>
            </a:r>
            <a:endParaRPr lang="zh-CN" altLang="en-US" dirty="0">
              <a:cs typeface="+mn-ea"/>
              <a:sym typeface="+mn-lt"/>
            </a:endParaRPr>
          </a:p>
        </p:txBody>
      </p:sp>
    </p:spTree>
    <p:extLst>
      <p:ext uri="{BB962C8B-B14F-4D97-AF65-F5344CB8AC3E}">
        <p14:creationId xmlns:p14="http://schemas.microsoft.com/office/powerpoint/2010/main" val="3135141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CCD98-69DB-4C4F-9F53-814E6ED937DF}"/>
              </a:ext>
            </a:extLst>
          </p:cNvPr>
          <p:cNvSpPr>
            <a:spLocks noGrp="1"/>
          </p:cNvSpPr>
          <p:nvPr>
            <p:ph type="title"/>
          </p:nvPr>
        </p:nvSpPr>
        <p:spPr/>
        <p:txBody>
          <a:bodyPr/>
          <a:lstStyle/>
          <a:p>
            <a:pPr algn="ctr"/>
            <a:r>
              <a:rPr lang="zh-CN" altLang="en-US" b="1" dirty="0">
                <a:cs typeface="+mn-ea"/>
                <a:sym typeface="+mn-lt"/>
              </a:rPr>
              <a:t>什么是计算机视觉？</a:t>
            </a:r>
            <a:endParaRPr lang="zh-CN" altLang="en-US" b="1" dirty="0">
              <a:latin typeface="+mn-lt"/>
              <a:ea typeface="+mn-ea"/>
              <a:cs typeface="+mn-ea"/>
              <a:sym typeface="+mn-lt"/>
            </a:endParaRPr>
          </a:p>
        </p:txBody>
      </p:sp>
      <p:sp>
        <p:nvSpPr>
          <p:cNvPr id="3" name="Content Placeholder 2">
            <a:extLst>
              <a:ext uri="{FF2B5EF4-FFF2-40B4-BE49-F238E27FC236}">
                <a16:creationId xmlns:a16="http://schemas.microsoft.com/office/drawing/2014/main" id="{38CA1092-64D1-450E-8D40-77C6B69A17FF}"/>
              </a:ext>
            </a:extLst>
          </p:cNvPr>
          <p:cNvSpPr>
            <a:spLocks noGrp="1"/>
          </p:cNvSpPr>
          <p:nvPr>
            <p:ph idx="1"/>
          </p:nvPr>
        </p:nvSpPr>
        <p:spPr/>
        <p:txBody>
          <a:bodyPr>
            <a:normAutofit fontScale="92500" lnSpcReduction="20000"/>
          </a:bodyPr>
          <a:lstStyle/>
          <a:p>
            <a:pPr>
              <a:lnSpc>
                <a:spcPct val="150000"/>
              </a:lnSpc>
            </a:pPr>
            <a:r>
              <a:rPr lang="zh-CN" altLang="en-US" dirty="0">
                <a:cs typeface="+mn-ea"/>
                <a:sym typeface="+mn-lt"/>
              </a:rPr>
              <a:t>计算机视觉是以图像（视频）为输入，</a:t>
            </a:r>
            <a:r>
              <a:rPr lang="zh-CN" altLang="en-US" dirty="0">
                <a:solidFill>
                  <a:srgbClr val="00B0F0"/>
                </a:solidFill>
                <a:cs typeface="+mn-ea"/>
                <a:sym typeface="+mn-lt"/>
              </a:rPr>
              <a:t>以对环境的表达</a:t>
            </a:r>
            <a:r>
              <a:rPr lang="en-US" altLang="zh-CN" dirty="0">
                <a:solidFill>
                  <a:srgbClr val="00B0F0"/>
                </a:solidFill>
                <a:cs typeface="+mn-ea"/>
                <a:sym typeface="+mn-lt"/>
              </a:rPr>
              <a:t>(representation)</a:t>
            </a:r>
            <a:r>
              <a:rPr lang="zh-CN" altLang="en-US" dirty="0">
                <a:solidFill>
                  <a:srgbClr val="00B0F0"/>
                </a:solidFill>
                <a:cs typeface="+mn-ea"/>
                <a:sym typeface="+mn-lt"/>
              </a:rPr>
              <a:t>和理解为目标</a:t>
            </a:r>
            <a:r>
              <a:rPr lang="zh-CN" altLang="en-US" dirty="0">
                <a:cs typeface="+mn-ea"/>
                <a:sym typeface="+mn-lt"/>
              </a:rPr>
              <a:t>，研究图像信息组织、物体和场景识别、进而对事件给予解释的学科。</a:t>
            </a:r>
            <a:endParaRPr lang="en-US" altLang="zh-CN" dirty="0">
              <a:cs typeface="+mn-ea"/>
              <a:sym typeface="+mn-lt"/>
            </a:endParaRPr>
          </a:p>
          <a:p>
            <a:pPr>
              <a:lnSpc>
                <a:spcPct val="150000"/>
              </a:lnSpc>
            </a:pPr>
            <a:r>
              <a:rPr lang="zh-CN" altLang="en-US" dirty="0">
                <a:cs typeface="+mn-ea"/>
                <a:sym typeface="+mn-lt"/>
              </a:rPr>
              <a:t>正像其它学科一样，一个大量人员研究了多年的学科，却很难给出一个严格的定义， 模式识别如此，目前火热的人工智能如此，计算机视觉亦如此。与计算机视觉密切相关的概念有</a:t>
            </a:r>
            <a:r>
              <a:rPr lang="zh-CN" altLang="en-US" b="1" dirty="0">
                <a:solidFill>
                  <a:schemeClr val="accent2"/>
                </a:solidFill>
                <a:cs typeface="+mn-ea"/>
                <a:sym typeface="+mn-lt"/>
              </a:rPr>
              <a:t>视觉感知（</a:t>
            </a:r>
            <a:r>
              <a:rPr lang="en-US" altLang="zh-CN" b="1" dirty="0">
                <a:solidFill>
                  <a:schemeClr val="accent2"/>
                </a:solidFill>
                <a:cs typeface="+mn-ea"/>
                <a:sym typeface="+mn-lt"/>
              </a:rPr>
              <a:t>visual perception</a:t>
            </a:r>
            <a:r>
              <a:rPr lang="zh-CN" altLang="en-US" b="1" dirty="0">
                <a:solidFill>
                  <a:schemeClr val="accent2"/>
                </a:solidFill>
                <a:cs typeface="+mn-ea"/>
                <a:sym typeface="+mn-lt"/>
              </a:rPr>
              <a:t>），视觉认知</a:t>
            </a:r>
            <a:r>
              <a:rPr lang="en-US" altLang="zh-CN" b="1" dirty="0">
                <a:solidFill>
                  <a:schemeClr val="accent2"/>
                </a:solidFill>
                <a:cs typeface="+mn-ea"/>
                <a:sym typeface="+mn-lt"/>
              </a:rPr>
              <a:t>(visual cognition)</a:t>
            </a:r>
            <a:r>
              <a:rPr lang="zh-CN" altLang="en-US" b="1" dirty="0">
                <a:solidFill>
                  <a:schemeClr val="accent2"/>
                </a:solidFill>
                <a:cs typeface="+mn-ea"/>
                <a:sym typeface="+mn-lt"/>
              </a:rPr>
              <a:t>，图像和视频理解</a:t>
            </a:r>
            <a:r>
              <a:rPr lang="en-US" altLang="zh-CN" b="1" dirty="0">
                <a:solidFill>
                  <a:schemeClr val="accent2"/>
                </a:solidFill>
                <a:cs typeface="+mn-ea"/>
                <a:sym typeface="+mn-lt"/>
              </a:rPr>
              <a:t>( image and video understanding)</a:t>
            </a:r>
            <a:r>
              <a:rPr lang="zh-CN" altLang="en-US" b="1" dirty="0">
                <a:solidFill>
                  <a:schemeClr val="accent2"/>
                </a:solidFill>
                <a:cs typeface="+mn-ea"/>
                <a:sym typeface="+mn-lt"/>
              </a:rPr>
              <a:t>。</a:t>
            </a:r>
          </a:p>
        </p:txBody>
      </p:sp>
      <p:sp>
        <p:nvSpPr>
          <p:cNvPr id="5" name="Rectangle 4">
            <a:extLst>
              <a:ext uri="{FF2B5EF4-FFF2-40B4-BE49-F238E27FC236}">
                <a16:creationId xmlns:a16="http://schemas.microsoft.com/office/drawing/2014/main" id="{79B5FE7B-A59C-4183-8EC3-A3023AAC4A67}"/>
              </a:ext>
            </a:extLst>
          </p:cNvPr>
          <p:cNvSpPr/>
          <p:nvPr/>
        </p:nvSpPr>
        <p:spPr>
          <a:xfrm>
            <a:off x="6307056" y="6488668"/>
            <a:ext cx="5884944" cy="369332"/>
          </a:xfrm>
          <a:prstGeom prst="rect">
            <a:avLst/>
          </a:prstGeom>
        </p:spPr>
        <p:txBody>
          <a:bodyPr wrap="none">
            <a:spAutoFit/>
          </a:bodyPr>
          <a:lstStyle/>
          <a:p>
            <a:r>
              <a:rPr lang="en-US" altLang="zh-CN" dirty="0">
                <a:cs typeface="+mn-ea"/>
                <a:sym typeface="+mn-lt"/>
                <a:hlinkClick r:id="rId2"/>
              </a:rPr>
              <a:t>《</a:t>
            </a:r>
            <a:r>
              <a:rPr lang="zh-CN" altLang="en-US" dirty="0">
                <a:cs typeface="+mn-ea"/>
                <a:sym typeface="+mn-lt"/>
                <a:hlinkClick r:id="rId2"/>
              </a:rPr>
              <a:t>计算机视觉简介：历史、现状和发展趋势？</a:t>
            </a:r>
            <a:r>
              <a:rPr lang="en-US" altLang="zh-CN" dirty="0">
                <a:cs typeface="+mn-ea"/>
                <a:sym typeface="+mn-lt"/>
                <a:hlinkClick r:id="rId2"/>
              </a:rPr>
              <a:t>》--</a:t>
            </a:r>
            <a:r>
              <a:rPr lang="zh-CN" altLang="en-US" dirty="0">
                <a:cs typeface="+mn-ea"/>
                <a:sym typeface="+mn-lt"/>
                <a:hlinkClick r:id="rId2"/>
              </a:rPr>
              <a:t>胡占义 </a:t>
            </a:r>
            <a:endParaRPr lang="zh-CN" altLang="en-US" dirty="0">
              <a:cs typeface="+mn-ea"/>
              <a:sym typeface="+mn-lt"/>
            </a:endParaRPr>
          </a:p>
        </p:txBody>
      </p:sp>
    </p:spTree>
    <p:extLst>
      <p:ext uri="{BB962C8B-B14F-4D97-AF65-F5344CB8AC3E}">
        <p14:creationId xmlns:p14="http://schemas.microsoft.com/office/powerpoint/2010/main" val="4163400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06699-5E97-495C-AD56-E1A10D54AC6A}"/>
              </a:ext>
            </a:extLst>
          </p:cNvPr>
          <p:cNvSpPr>
            <a:spLocks noGrp="1"/>
          </p:cNvSpPr>
          <p:nvPr>
            <p:ph type="title"/>
          </p:nvPr>
        </p:nvSpPr>
        <p:spPr/>
        <p:txBody>
          <a:bodyPr/>
          <a:lstStyle/>
          <a:p>
            <a:pPr algn="ctr"/>
            <a:r>
              <a:rPr lang="zh-CN" altLang="en-US" b="1" dirty="0">
                <a:latin typeface="+mn-lt"/>
                <a:ea typeface="+mn-ea"/>
                <a:cs typeface="+mn-ea"/>
                <a:sym typeface="+mn-lt"/>
              </a:rPr>
              <a:t>为什么要研究计算机视觉？</a:t>
            </a:r>
          </a:p>
        </p:txBody>
      </p:sp>
      <p:sp>
        <p:nvSpPr>
          <p:cNvPr id="3" name="Content Placeholder 2">
            <a:extLst>
              <a:ext uri="{FF2B5EF4-FFF2-40B4-BE49-F238E27FC236}">
                <a16:creationId xmlns:a16="http://schemas.microsoft.com/office/drawing/2014/main" id="{CFCE71B2-2CAE-41AB-9B03-ACBB448B554B}"/>
              </a:ext>
            </a:extLst>
          </p:cNvPr>
          <p:cNvSpPr>
            <a:spLocks noGrp="1"/>
          </p:cNvSpPr>
          <p:nvPr>
            <p:ph idx="1"/>
          </p:nvPr>
        </p:nvSpPr>
        <p:spPr/>
        <p:txBody>
          <a:bodyPr/>
          <a:lstStyle/>
          <a:p>
            <a:r>
              <a:rPr lang="en-US" altLang="zh-CN" b="1" dirty="0">
                <a:solidFill>
                  <a:schemeClr val="accent1"/>
                </a:solidFill>
                <a:cs typeface="+mn-ea"/>
                <a:sym typeface="+mn-lt"/>
              </a:rPr>
              <a:t>Vision is useful: </a:t>
            </a:r>
            <a:r>
              <a:rPr lang="en-US" altLang="zh-CN" dirty="0">
                <a:cs typeface="+mn-ea"/>
                <a:sym typeface="+mn-lt"/>
              </a:rPr>
              <a:t>Image and video are everywhere!</a:t>
            </a:r>
            <a:endParaRPr lang="zh-CN" altLang="en-US" dirty="0">
              <a:cs typeface="+mn-ea"/>
              <a:sym typeface="+mn-lt"/>
            </a:endParaRPr>
          </a:p>
        </p:txBody>
      </p:sp>
      <p:pic>
        <p:nvPicPr>
          <p:cNvPr id="4" name="Picture 3">
            <a:extLst>
              <a:ext uri="{FF2B5EF4-FFF2-40B4-BE49-F238E27FC236}">
                <a16:creationId xmlns:a16="http://schemas.microsoft.com/office/drawing/2014/main" id="{796C7CCA-01E7-4FC7-A93D-72C9EEA7B197}"/>
              </a:ext>
            </a:extLst>
          </p:cNvPr>
          <p:cNvPicPr>
            <a:picLocks noChangeAspect="1"/>
          </p:cNvPicPr>
          <p:nvPr/>
        </p:nvPicPr>
        <p:blipFill>
          <a:blip r:embed="rId2"/>
          <a:stretch>
            <a:fillRect/>
          </a:stretch>
        </p:blipFill>
        <p:spPr>
          <a:xfrm>
            <a:off x="2634106" y="2441582"/>
            <a:ext cx="6923787" cy="4279050"/>
          </a:xfrm>
          <a:prstGeom prst="rect">
            <a:avLst/>
          </a:prstGeom>
        </p:spPr>
      </p:pic>
    </p:spTree>
    <p:extLst>
      <p:ext uri="{BB962C8B-B14F-4D97-AF65-F5344CB8AC3E}">
        <p14:creationId xmlns:p14="http://schemas.microsoft.com/office/powerpoint/2010/main" val="473957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66832-12A2-4617-B390-A5C53F7616D3}"/>
              </a:ext>
            </a:extLst>
          </p:cNvPr>
          <p:cNvSpPr>
            <a:spLocks noGrp="1"/>
          </p:cNvSpPr>
          <p:nvPr>
            <p:ph type="title"/>
          </p:nvPr>
        </p:nvSpPr>
        <p:spPr/>
        <p:txBody>
          <a:bodyPr/>
          <a:lstStyle/>
          <a:p>
            <a:pPr algn="ctr"/>
            <a:r>
              <a:rPr lang="zh-CN" altLang="en-US" b="1" dirty="0"/>
              <a:t>计算机视觉</a:t>
            </a:r>
            <a:r>
              <a:rPr lang="en-US" altLang="zh-CN" b="1" dirty="0"/>
              <a:t>—</a:t>
            </a:r>
            <a:r>
              <a:rPr lang="zh-CN" altLang="en-US" b="1" dirty="0"/>
              <a:t>主要方法</a:t>
            </a:r>
          </a:p>
        </p:txBody>
      </p:sp>
      <p:sp>
        <p:nvSpPr>
          <p:cNvPr id="3" name="Content Placeholder 2">
            <a:extLst>
              <a:ext uri="{FF2B5EF4-FFF2-40B4-BE49-F238E27FC236}">
                <a16:creationId xmlns:a16="http://schemas.microsoft.com/office/drawing/2014/main" id="{DEDAF663-8FA0-4FEE-9A19-749033ED5E5A}"/>
              </a:ext>
            </a:extLst>
          </p:cNvPr>
          <p:cNvSpPr>
            <a:spLocks noGrp="1"/>
          </p:cNvSpPr>
          <p:nvPr>
            <p:ph idx="1"/>
          </p:nvPr>
        </p:nvSpPr>
        <p:spPr/>
        <p:txBody>
          <a:bodyPr/>
          <a:lstStyle/>
          <a:p>
            <a:pPr>
              <a:lnSpc>
                <a:spcPct val="150000"/>
              </a:lnSpc>
            </a:pPr>
            <a:r>
              <a:rPr lang="zh-CN" altLang="en-US" b="1" dirty="0">
                <a:solidFill>
                  <a:srgbClr val="7030A0"/>
                </a:solidFill>
              </a:rPr>
              <a:t>仿生学方法：</a:t>
            </a:r>
            <a:r>
              <a:rPr lang="zh-CN" altLang="en-US" dirty="0"/>
              <a:t>参照</a:t>
            </a:r>
            <a:r>
              <a:rPr lang="zh-CN" altLang="en-US" dirty="0">
                <a:solidFill>
                  <a:srgbClr val="FF0000"/>
                </a:solidFill>
              </a:rPr>
              <a:t>人类视觉系统</a:t>
            </a:r>
            <a:r>
              <a:rPr lang="zh-CN" altLang="en-US" dirty="0"/>
              <a:t>的</a:t>
            </a:r>
            <a:r>
              <a:rPr lang="zh-CN" altLang="en-US" dirty="0">
                <a:solidFill>
                  <a:srgbClr val="FF0000"/>
                </a:solidFill>
              </a:rPr>
              <a:t>结构原理</a:t>
            </a:r>
            <a:r>
              <a:rPr lang="zh-CN" altLang="en-US" dirty="0"/>
              <a:t>，建立</a:t>
            </a:r>
            <a:r>
              <a:rPr lang="zh-CN" altLang="en-US" dirty="0">
                <a:solidFill>
                  <a:srgbClr val="FF0000"/>
                </a:solidFill>
              </a:rPr>
              <a:t>相应的处理模块</a:t>
            </a:r>
            <a:r>
              <a:rPr lang="zh-CN" altLang="en-US" dirty="0"/>
              <a:t>完成类似的功能和工作。</a:t>
            </a:r>
          </a:p>
          <a:p>
            <a:pPr>
              <a:lnSpc>
                <a:spcPct val="150000"/>
              </a:lnSpc>
            </a:pPr>
            <a:r>
              <a:rPr lang="zh-CN" altLang="en-US" b="1" dirty="0">
                <a:solidFill>
                  <a:srgbClr val="7030A0"/>
                </a:solidFill>
              </a:rPr>
              <a:t>工程学方法：</a:t>
            </a:r>
            <a:r>
              <a:rPr lang="zh-CN" altLang="en-US" dirty="0"/>
              <a:t>从分析</a:t>
            </a:r>
            <a:r>
              <a:rPr lang="zh-CN" altLang="en-US" dirty="0">
                <a:solidFill>
                  <a:srgbClr val="FF0000"/>
                </a:solidFill>
              </a:rPr>
              <a:t>人类视觉</a:t>
            </a:r>
            <a:r>
              <a:rPr lang="zh-CN" altLang="en-US" dirty="0"/>
              <a:t>过程的</a:t>
            </a:r>
            <a:r>
              <a:rPr lang="zh-CN" altLang="en-US" dirty="0">
                <a:solidFill>
                  <a:srgbClr val="FF0000"/>
                </a:solidFill>
              </a:rPr>
              <a:t>功能</a:t>
            </a:r>
            <a:r>
              <a:rPr lang="zh-CN" altLang="en-US" dirty="0"/>
              <a:t>着手，并</a:t>
            </a:r>
            <a:r>
              <a:rPr lang="zh-CN" altLang="en-US" dirty="0">
                <a:solidFill>
                  <a:srgbClr val="FF0000"/>
                </a:solidFill>
              </a:rPr>
              <a:t>不刻意模拟</a:t>
            </a:r>
            <a:r>
              <a:rPr lang="zh-CN" altLang="en-US" dirty="0"/>
              <a:t>人类视觉系统内部</a:t>
            </a:r>
            <a:r>
              <a:rPr lang="zh-CN" altLang="en-US" dirty="0">
                <a:solidFill>
                  <a:srgbClr val="FF0000"/>
                </a:solidFill>
              </a:rPr>
              <a:t>结构</a:t>
            </a:r>
            <a:r>
              <a:rPr lang="zh-CN" altLang="en-US" dirty="0"/>
              <a:t>，仅考虑系统的输入和输出，采用任何现有的可行手段</a:t>
            </a:r>
            <a:r>
              <a:rPr lang="zh-CN" altLang="en-US" dirty="0">
                <a:solidFill>
                  <a:srgbClr val="FF0000"/>
                </a:solidFill>
              </a:rPr>
              <a:t>实现视觉系统的功能</a:t>
            </a:r>
            <a:r>
              <a:rPr lang="zh-CN" altLang="en-US" dirty="0"/>
              <a:t>。</a:t>
            </a:r>
          </a:p>
        </p:txBody>
      </p:sp>
    </p:spTree>
    <p:extLst>
      <p:ext uri="{BB962C8B-B14F-4D97-AF65-F5344CB8AC3E}">
        <p14:creationId xmlns:p14="http://schemas.microsoft.com/office/powerpoint/2010/main" val="2118900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32C09-064A-42EA-8779-9D859183A124}"/>
              </a:ext>
            </a:extLst>
          </p:cNvPr>
          <p:cNvSpPr>
            <a:spLocks noGrp="1"/>
          </p:cNvSpPr>
          <p:nvPr>
            <p:ph type="title"/>
          </p:nvPr>
        </p:nvSpPr>
        <p:spPr/>
        <p:txBody>
          <a:bodyPr/>
          <a:lstStyle/>
          <a:p>
            <a:pPr algn="ctr"/>
            <a:r>
              <a:rPr lang="zh-CN" altLang="en-US" b="1" dirty="0">
                <a:latin typeface="+mn-lt"/>
                <a:ea typeface="+mn-ea"/>
                <a:cs typeface="+mn-ea"/>
                <a:sym typeface="+mn-lt"/>
              </a:rPr>
              <a:t>数字图像处理 </a:t>
            </a:r>
            <a:r>
              <a:rPr lang="en-US" altLang="zh-CN" b="1" dirty="0">
                <a:latin typeface="+mn-lt"/>
                <a:ea typeface="+mn-ea"/>
                <a:cs typeface="+mn-ea"/>
                <a:sym typeface="+mn-lt"/>
              </a:rPr>
              <a:t>vs </a:t>
            </a:r>
            <a:r>
              <a:rPr lang="zh-CN" altLang="en-US" b="1" dirty="0">
                <a:latin typeface="+mn-lt"/>
                <a:ea typeface="+mn-ea"/>
                <a:cs typeface="+mn-ea"/>
                <a:sym typeface="+mn-lt"/>
              </a:rPr>
              <a:t>计算机视觉</a:t>
            </a:r>
          </a:p>
        </p:txBody>
      </p:sp>
      <p:sp>
        <p:nvSpPr>
          <p:cNvPr id="3" name="Content Placeholder 2">
            <a:extLst>
              <a:ext uri="{FF2B5EF4-FFF2-40B4-BE49-F238E27FC236}">
                <a16:creationId xmlns:a16="http://schemas.microsoft.com/office/drawing/2014/main" id="{C2651471-83E1-49A7-A739-28C34C8BADC0}"/>
              </a:ext>
            </a:extLst>
          </p:cNvPr>
          <p:cNvSpPr>
            <a:spLocks noGrp="1"/>
          </p:cNvSpPr>
          <p:nvPr>
            <p:ph idx="1"/>
          </p:nvPr>
        </p:nvSpPr>
        <p:spPr/>
        <p:txBody>
          <a:bodyPr>
            <a:normAutofit lnSpcReduction="10000"/>
          </a:bodyPr>
          <a:lstStyle/>
          <a:p>
            <a:pPr>
              <a:lnSpc>
                <a:spcPct val="150000"/>
              </a:lnSpc>
            </a:pPr>
            <a:r>
              <a:rPr lang="zh-CN" altLang="en-US" b="1" dirty="0">
                <a:cs typeface="+mn-ea"/>
                <a:sym typeface="+mn-lt"/>
              </a:rPr>
              <a:t>图像处理技术</a:t>
            </a:r>
            <a:r>
              <a:rPr lang="zh-CN" altLang="en-US" dirty="0">
                <a:cs typeface="+mn-ea"/>
                <a:sym typeface="+mn-lt"/>
              </a:rPr>
              <a:t>通常是把一幅图像变换成另外一幅图像，也就是说，图像处理系统的输入是图像，输出仍然是图像。</a:t>
            </a:r>
            <a:endParaRPr lang="en-US" altLang="zh-CN" dirty="0">
              <a:cs typeface="+mn-ea"/>
              <a:sym typeface="+mn-lt"/>
            </a:endParaRPr>
          </a:p>
          <a:p>
            <a:pPr lvl="1">
              <a:lnSpc>
                <a:spcPct val="150000"/>
              </a:lnSpc>
              <a:buFont typeface="Wingdings" panose="05000000000000000000" pitchFamily="2" charset="2"/>
              <a:buChar char="Ø"/>
            </a:pPr>
            <a:r>
              <a:rPr lang="zh-CN" altLang="en-US" dirty="0">
                <a:cs typeface="+mn-ea"/>
                <a:sym typeface="+mn-lt"/>
              </a:rPr>
              <a:t> 图像增强</a:t>
            </a:r>
            <a:endParaRPr lang="en-US" altLang="zh-CN" dirty="0">
              <a:cs typeface="+mn-ea"/>
              <a:sym typeface="+mn-lt"/>
            </a:endParaRPr>
          </a:p>
          <a:p>
            <a:pPr lvl="1">
              <a:lnSpc>
                <a:spcPct val="150000"/>
              </a:lnSpc>
              <a:buFont typeface="Wingdings" panose="05000000000000000000" pitchFamily="2" charset="2"/>
              <a:buChar char="Ø"/>
            </a:pPr>
            <a:r>
              <a:rPr lang="zh-CN" altLang="en-US" dirty="0">
                <a:cs typeface="+mn-ea"/>
                <a:sym typeface="+mn-lt"/>
              </a:rPr>
              <a:t> 图像压缩</a:t>
            </a:r>
            <a:endParaRPr lang="en-US" altLang="zh-CN" dirty="0">
              <a:cs typeface="+mn-ea"/>
              <a:sym typeface="+mn-lt"/>
            </a:endParaRPr>
          </a:p>
          <a:p>
            <a:pPr lvl="1">
              <a:lnSpc>
                <a:spcPct val="150000"/>
              </a:lnSpc>
              <a:buFont typeface="Wingdings" panose="05000000000000000000" pitchFamily="2" charset="2"/>
              <a:buChar char="Ø"/>
            </a:pPr>
            <a:r>
              <a:rPr lang="zh-CN" altLang="en-US" dirty="0">
                <a:cs typeface="+mn-ea"/>
                <a:sym typeface="+mn-lt"/>
              </a:rPr>
              <a:t> 模糊较正</a:t>
            </a:r>
            <a:endParaRPr lang="en-US" altLang="zh-CN" dirty="0">
              <a:cs typeface="+mn-ea"/>
              <a:sym typeface="+mn-lt"/>
            </a:endParaRPr>
          </a:p>
          <a:p>
            <a:pPr lvl="1">
              <a:lnSpc>
                <a:spcPct val="150000"/>
              </a:lnSpc>
              <a:buFont typeface="Wingdings" panose="05000000000000000000" pitchFamily="2" charset="2"/>
              <a:buChar char="Ø"/>
            </a:pPr>
            <a:r>
              <a:rPr lang="zh-CN" altLang="en-US" dirty="0">
                <a:cs typeface="+mn-ea"/>
                <a:sym typeface="+mn-lt"/>
              </a:rPr>
              <a:t> 傅里叶变换</a:t>
            </a:r>
            <a:endParaRPr lang="en-US" altLang="zh-CN" dirty="0">
              <a:cs typeface="+mn-ea"/>
              <a:sym typeface="+mn-lt"/>
            </a:endParaRPr>
          </a:p>
          <a:p>
            <a:pPr lvl="1">
              <a:lnSpc>
                <a:spcPct val="150000"/>
              </a:lnSpc>
              <a:buFont typeface="Wingdings" panose="05000000000000000000" pitchFamily="2" charset="2"/>
              <a:buChar char="Ø"/>
            </a:pPr>
            <a:r>
              <a:rPr lang="en-US" altLang="zh-CN" dirty="0">
                <a:cs typeface="+mn-ea"/>
                <a:sym typeface="+mn-lt"/>
              </a:rPr>
              <a:t> …</a:t>
            </a:r>
            <a:endParaRPr lang="zh-CN" altLang="en-US" dirty="0">
              <a:cs typeface="+mn-ea"/>
              <a:sym typeface="+mn-lt"/>
            </a:endParaRPr>
          </a:p>
        </p:txBody>
      </p:sp>
    </p:spTree>
    <p:extLst>
      <p:ext uri="{BB962C8B-B14F-4D97-AF65-F5344CB8AC3E}">
        <p14:creationId xmlns:p14="http://schemas.microsoft.com/office/powerpoint/2010/main" val="759928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C109-5899-42F5-9322-073112820F43}"/>
              </a:ext>
            </a:extLst>
          </p:cNvPr>
          <p:cNvSpPr>
            <a:spLocks noGrp="1"/>
          </p:cNvSpPr>
          <p:nvPr>
            <p:ph type="title"/>
          </p:nvPr>
        </p:nvSpPr>
        <p:spPr/>
        <p:txBody>
          <a:bodyPr/>
          <a:lstStyle/>
          <a:p>
            <a:pPr algn="ctr"/>
            <a:r>
              <a:rPr lang="zh-CN" altLang="en-US" b="1" dirty="0">
                <a:cs typeface="+mn-ea"/>
                <a:sym typeface="+mn-lt"/>
              </a:rPr>
              <a:t>数字图像处理 </a:t>
            </a:r>
            <a:r>
              <a:rPr lang="en-US" altLang="zh-CN" b="1" dirty="0">
                <a:cs typeface="+mn-ea"/>
                <a:sym typeface="+mn-lt"/>
              </a:rPr>
              <a:t>vs </a:t>
            </a:r>
            <a:r>
              <a:rPr lang="zh-CN" altLang="en-US" b="1" dirty="0">
                <a:cs typeface="+mn-ea"/>
                <a:sym typeface="+mn-lt"/>
              </a:rPr>
              <a:t>计算机视觉</a:t>
            </a:r>
            <a:endParaRPr lang="zh-CN" altLang="en-US" dirty="0"/>
          </a:p>
        </p:txBody>
      </p:sp>
      <p:pic>
        <p:nvPicPr>
          <p:cNvPr id="4" name="Content Placeholder 3">
            <a:extLst>
              <a:ext uri="{FF2B5EF4-FFF2-40B4-BE49-F238E27FC236}">
                <a16:creationId xmlns:a16="http://schemas.microsoft.com/office/drawing/2014/main" id="{774D2031-03A8-4863-9F31-F535C37EF882}"/>
              </a:ext>
            </a:extLst>
          </p:cNvPr>
          <p:cNvPicPr>
            <a:picLocks noGrp="1" noChangeAspect="1"/>
          </p:cNvPicPr>
          <p:nvPr>
            <p:ph idx="1"/>
          </p:nvPr>
        </p:nvPicPr>
        <p:blipFill>
          <a:blip r:embed="rId2"/>
          <a:stretch>
            <a:fillRect/>
          </a:stretch>
        </p:blipFill>
        <p:spPr>
          <a:xfrm>
            <a:off x="1869618" y="2050207"/>
            <a:ext cx="8525789" cy="3925080"/>
          </a:xfrm>
          <a:prstGeom prst="rect">
            <a:avLst/>
          </a:prstGeom>
        </p:spPr>
      </p:pic>
    </p:spTree>
    <p:extLst>
      <p:ext uri="{BB962C8B-B14F-4D97-AF65-F5344CB8AC3E}">
        <p14:creationId xmlns:p14="http://schemas.microsoft.com/office/powerpoint/2010/main" val="1966674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87EE6-F48E-47B4-A120-C23E1E868CAE}"/>
              </a:ext>
            </a:extLst>
          </p:cNvPr>
          <p:cNvSpPr>
            <a:spLocks noGrp="1"/>
          </p:cNvSpPr>
          <p:nvPr>
            <p:ph type="title"/>
          </p:nvPr>
        </p:nvSpPr>
        <p:spPr/>
        <p:txBody>
          <a:bodyPr/>
          <a:lstStyle/>
          <a:p>
            <a:pPr algn="ctr"/>
            <a:r>
              <a:rPr lang="zh-CN" altLang="en-US" b="1" dirty="0">
                <a:latin typeface="+mn-lt"/>
                <a:ea typeface="+mn-ea"/>
                <a:cs typeface="+mn-ea"/>
                <a:sym typeface="+mn-lt"/>
              </a:rPr>
              <a:t>计算图形学 </a:t>
            </a:r>
            <a:r>
              <a:rPr lang="en-US" altLang="zh-CN" b="1" dirty="0">
                <a:latin typeface="+mn-lt"/>
                <a:ea typeface="+mn-ea"/>
                <a:cs typeface="+mn-ea"/>
                <a:sym typeface="+mn-lt"/>
              </a:rPr>
              <a:t>vs </a:t>
            </a:r>
            <a:r>
              <a:rPr lang="zh-CN" altLang="en-US" b="1" dirty="0">
                <a:latin typeface="+mn-lt"/>
                <a:ea typeface="+mn-ea"/>
                <a:cs typeface="+mn-ea"/>
                <a:sym typeface="+mn-lt"/>
              </a:rPr>
              <a:t>计算机视觉</a:t>
            </a:r>
          </a:p>
        </p:txBody>
      </p:sp>
      <p:sp>
        <p:nvSpPr>
          <p:cNvPr id="3" name="Content Placeholder 2">
            <a:extLst>
              <a:ext uri="{FF2B5EF4-FFF2-40B4-BE49-F238E27FC236}">
                <a16:creationId xmlns:a16="http://schemas.microsoft.com/office/drawing/2014/main" id="{A7F937B7-2578-4367-AE6B-3FA5980D20CC}"/>
              </a:ext>
            </a:extLst>
          </p:cNvPr>
          <p:cNvSpPr>
            <a:spLocks noGrp="1"/>
          </p:cNvSpPr>
          <p:nvPr>
            <p:ph idx="1"/>
          </p:nvPr>
        </p:nvSpPr>
        <p:spPr>
          <a:xfrm>
            <a:off x="838199" y="1825625"/>
            <a:ext cx="4886325" cy="4351338"/>
          </a:xfrm>
        </p:spPr>
        <p:txBody>
          <a:bodyPr>
            <a:normAutofit fontScale="70000" lnSpcReduction="20000"/>
          </a:bodyPr>
          <a:lstStyle/>
          <a:p>
            <a:pPr>
              <a:lnSpc>
                <a:spcPct val="140000"/>
              </a:lnSpc>
            </a:pPr>
            <a:r>
              <a:rPr lang="zh-CN" altLang="en-US" b="1" dirty="0">
                <a:solidFill>
                  <a:srgbClr val="0070C0"/>
                </a:solidFill>
                <a:cs typeface="+mn-ea"/>
                <a:sym typeface="+mn-lt"/>
              </a:rPr>
              <a:t>狭义地理解，</a:t>
            </a:r>
            <a:r>
              <a:rPr lang="zh-CN" altLang="en-US" dirty="0">
                <a:cs typeface="+mn-ea"/>
                <a:sym typeface="+mn-lt"/>
              </a:rPr>
              <a:t>计算机图形学是数字图象处理或计算机视觉的逆过程：计算机图形学是用计算机来画图像的学科，数字图象处理是把外界获得的图象用计算机进行处理的学科，计算机视觉是根据获取的图像来理解和识别其中的物体的三维信息及其他信息。</a:t>
            </a:r>
            <a:endParaRPr lang="en-US" altLang="zh-CN" dirty="0">
              <a:cs typeface="+mn-ea"/>
              <a:sym typeface="+mn-lt"/>
            </a:endParaRPr>
          </a:p>
          <a:p>
            <a:pPr>
              <a:lnSpc>
                <a:spcPct val="140000"/>
              </a:lnSpc>
            </a:pPr>
            <a:r>
              <a:rPr lang="zh-CN" altLang="en-US" dirty="0">
                <a:cs typeface="+mn-ea"/>
                <a:sym typeface="+mn-lt"/>
              </a:rPr>
              <a:t>计算机图形学主要包含</a:t>
            </a:r>
            <a:r>
              <a:rPr lang="zh-CN" altLang="en-US" b="1" dirty="0">
                <a:solidFill>
                  <a:srgbClr val="0070C0"/>
                </a:solidFill>
                <a:cs typeface="+mn-ea"/>
                <a:sym typeface="+mn-lt"/>
              </a:rPr>
              <a:t>四大部分的内容</a:t>
            </a:r>
            <a:r>
              <a:rPr lang="zh-CN" altLang="en-US" dirty="0">
                <a:cs typeface="+mn-ea"/>
                <a:sym typeface="+mn-lt"/>
              </a:rPr>
              <a:t>：建模</a:t>
            </a:r>
            <a:r>
              <a:rPr lang="en-US" altLang="zh-CN" dirty="0">
                <a:cs typeface="+mn-ea"/>
                <a:sym typeface="+mn-lt"/>
              </a:rPr>
              <a:t>(Modeling)</a:t>
            </a:r>
            <a:r>
              <a:rPr lang="zh-CN" altLang="en-US" dirty="0">
                <a:cs typeface="+mn-ea"/>
                <a:sym typeface="+mn-lt"/>
              </a:rPr>
              <a:t>、渲染</a:t>
            </a:r>
            <a:r>
              <a:rPr lang="en-US" altLang="zh-CN" dirty="0">
                <a:cs typeface="+mn-ea"/>
                <a:sym typeface="+mn-lt"/>
              </a:rPr>
              <a:t>(Rendering)</a:t>
            </a:r>
            <a:r>
              <a:rPr lang="zh-CN" altLang="en-US" dirty="0">
                <a:cs typeface="+mn-ea"/>
                <a:sym typeface="+mn-lt"/>
              </a:rPr>
              <a:t>、动画</a:t>
            </a:r>
            <a:r>
              <a:rPr lang="en-US" altLang="zh-CN" dirty="0">
                <a:cs typeface="+mn-ea"/>
                <a:sym typeface="+mn-lt"/>
              </a:rPr>
              <a:t>(Animation)</a:t>
            </a:r>
            <a:r>
              <a:rPr lang="zh-CN" altLang="en-US" dirty="0">
                <a:cs typeface="+mn-ea"/>
                <a:sym typeface="+mn-lt"/>
              </a:rPr>
              <a:t>和人机交互</a:t>
            </a:r>
            <a:r>
              <a:rPr lang="en-US" altLang="zh-CN" dirty="0">
                <a:cs typeface="+mn-ea"/>
                <a:sym typeface="+mn-lt"/>
              </a:rPr>
              <a:t>(Human–computer Interaction, HCI)</a:t>
            </a:r>
            <a:endParaRPr lang="zh-CN" altLang="en-US" dirty="0">
              <a:cs typeface="+mn-ea"/>
              <a:sym typeface="+mn-lt"/>
            </a:endParaRPr>
          </a:p>
        </p:txBody>
      </p:sp>
      <p:sp>
        <p:nvSpPr>
          <p:cNvPr id="4" name="Rectangle 3">
            <a:extLst>
              <a:ext uri="{FF2B5EF4-FFF2-40B4-BE49-F238E27FC236}">
                <a16:creationId xmlns:a16="http://schemas.microsoft.com/office/drawing/2014/main" id="{7AB8B1F5-6A48-44E6-9EF6-5A0B4F6CB8A6}"/>
              </a:ext>
            </a:extLst>
          </p:cNvPr>
          <p:cNvSpPr/>
          <p:nvPr/>
        </p:nvSpPr>
        <p:spPr>
          <a:xfrm>
            <a:off x="6256721" y="6488668"/>
            <a:ext cx="5935279" cy="369332"/>
          </a:xfrm>
          <a:prstGeom prst="rect">
            <a:avLst/>
          </a:prstGeom>
        </p:spPr>
        <p:txBody>
          <a:bodyPr wrap="none">
            <a:spAutoFit/>
          </a:bodyPr>
          <a:lstStyle/>
          <a:p>
            <a:r>
              <a:rPr lang="zh-CN" altLang="en-US" dirty="0">
                <a:cs typeface="+mn-ea"/>
                <a:sym typeface="+mn-lt"/>
                <a:hlinkClick r:id="rId2"/>
              </a:rPr>
              <a:t>http://staff.ustc.edu.cn/~lgliu/Resources/CG/What_is_CG.htm</a:t>
            </a:r>
            <a:endParaRPr lang="en-US" altLang="zh-CN" dirty="0">
              <a:cs typeface="+mn-ea"/>
              <a:sym typeface="+mn-lt"/>
            </a:endParaRPr>
          </a:p>
        </p:txBody>
      </p:sp>
      <p:pic>
        <p:nvPicPr>
          <p:cNvPr id="5122" name="Picture 2" descr="△ 图源CCTV5直播">
            <a:extLst>
              <a:ext uri="{FF2B5EF4-FFF2-40B4-BE49-F238E27FC236}">
                <a16:creationId xmlns:a16="http://schemas.microsoft.com/office/drawing/2014/main" id="{871180B3-6FF8-46A6-844F-44E995CA9A0C}"/>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256721" y="2257599"/>
            <a:ext cx="5795077" cy="3277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419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6F39B-F0BB-49EE-916E-9A992DB0EF06}"/>
              </a:ext>
            </a:extLst>
          </p:cNvPr>
          <p:cNvSpPr>
            <a:spLocks noGrp="1"/>
          </p:cNvSpPr>
          <p:nvPr>
            <p:ph type="title"/>
          </p:nvPr>
        </p:nvSpPr>
        <p:spPr/>
        <p:txBody>
          <a:bodyPr/>
          <a:lstStyle/>
          <a:p>
            <a:r>
              <a:rPr lang="zh-CN" altLang="en-US" b="1" dirty="0">
                <a:latin typeface="+mn-lt"/>
                <a:ea typeface="+mn-ea"/>
                <a:cs typeface="+mn-ea"/>
                <a:sym typeface="+mn-lt"/>
              </a:rPr>
              <a:t>数字图像处理</a:t>
            </a:r>
            <a:r>
              <a:rPr lang="en-US" altLang="zh-CN" b="1" dirty="0">
                <a:latin typeface="+mn-lt"/>
                <a:ea typeface="+mn-ea"/>
                <a:cs typeface="+mn-ea"/>
                <a:sym typeface="+mn-lt"/>
              </a:rPr>
              <a:t>&amp;</a:t>
            </a:r>
            <a:r>
              <a:rPr lang="zh-CN" altLang="en-US" b="1" dirty="0">
                <a:latin typeface="+mn-lt"/>
                <a:ea typeface="+mn-ea"/>
                <a:cs typeface="+mn-ea"/>
                <a:sym typeface="+mn-lt"/>
              </a:rPr>
              <a:t>计算机视觉</a:t>
            </a:r>
            <a:r>
              <a:rPr lang="en-US" altLang="zh-CN" b="1" dirty="0">
                <a:latin typeface="+mn-lt"/>
                <a:ea typeface="+mn-ea"/>
                <a:cs typeface="+mn-ea"/>
                <a:sym typeface="+mn-lt"/>
              </a:rPr>
              <a:t>&amp;</a:t>
            </a:r>
            <a:r>
              <a:rPr lang="zh-CN" altLang="en-US" b="1" dirty="0">
                <a:latin typeface="+mn-lt"/>
                <a:ea typeface="+mn-ea"/>
                <a:cs typeface="+mn-ea"/>
                <a:sym typeface="+mn-lt"/>
              </a:rPr>
              <a:t>计算机图形</a:t>
            </a:r>
            <a:endParaRPr lang="zh-CN" altLang="en-US" dirty="0">
              <a:latin typeface="+mn-lt"/>
              <a:ea typeface="+mn-ea"/>
              <a:cs typeface="+mn-ea"/>
              <a:sym typeface="+mn-lt"/>
            </a:endParaRPr>
          </a:p>
        </p:txBody>
      </p:sp>
      <p:pic>
        <p:nvPicPr>
          <p:cNvPr id="6" name="Content Placeholder 5">
            <a:extLst>
              <a:ext uri="{FF2B5EF4-FFF2-40B4-BE49-F238E27FC236}">
                <a16:creationId xmlns:a16="http://schemas.microsoft.com/office/drawing/2014/main" id="{97508FC3-C238-44A9-BD02-0578C87026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6009603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A2ED2-D79E-4E8D-BCE0-EA662EC9163D}"/>
              </a:ext>
            </a:extLst>
          </p:cNvPr>
          <p:cNvSpPr>
            <a:spLocks noGrp="1"/>
          </p:cNvSpPr>
          <p:nvPr>
            <p:ph type="title"/>
          </p:nvPr>
        </p:nvSpPr>
        <p:spPr/>
        <p:txBody>
          <a:bodyPr/>
          <a:lstStyle/>
          <a:p>
            <a:pPr algn="ctr"/>
            <a:r>
              <a:rPr lang="zh-CN" altLang="en-US" b="1" dirty="0">
                <a:latin typeface="+mn-lt"/>
                <a:ea typeface="+mn-ea"/>
                <a:cs typeface="+mn-ea"/>
                <a:sym typeface="+mn-lt"/>
              </a:rPr>
              <a:t>计算机视觉涉及的学科</a:t>
            </a:r>
            <a:endParaRPr lang="zh-CN" altLang="en-US" dirty="0">
              <a:latin typeface="+mn-lt"/>
              <a:ea typeface="+mn-ea"/>
              <a:cs typeface="+mn-ea"/>
              <a:sym typeface="+mn-lt"/>
            </a:endParaRPr>
          </a:p>
        </p:txBody>
      </p:sp>
      <p:pic>
        <p:nvPicPr>
          <p:cNvPr id="4" name="Picture 3">
            <a:extLst>
              <a:ext uri="{FF2B5EF4-FFF2-40B4-BE49-F238E27FC236}">
                <a16:creationId xmlns:a16="http://schemas.microsoft.com/office/drawing/2014/main" id="{5AC1D18D-692B-4C28-8E34-C96EE7C70669}"/>
              </a:ext>
            </a:extLst>
          </p:cNvPr>
          <p:cNvPicPr>
            <a:picLocks noChangeAspect="1"/>
          </p:cNvPicPr>
          <p:nvPr/>
        </p:nvPicPr>
        <p:blipFill>
          <a:blip r:embed="rId2"/>
          <a:stretch>
            <a:fillRect/>
          </a:stretch>
        </p:blipFill>
        <p:spPr>
          <a:xfrm>
            <a:off x="2385838" y="1743601"/>
            <a:ext cx="7420324" cy="4749274"/>
          </a:xfrm>
          <a:prstGeom prst="rect">
            <a:avLst/>
          </a:prstGeom>
        </p:spPr>
      </p:pic>
      <p:sp>
        <p:nvSpPr>
          <p:cNvPr id="5" name="TextBox 4">
            <a:extLst>
              <a:ext uri="{FF2B5EF4-FFF2-40B4-BE49-F238E27FC236}">
                <a16:creationId xmlns:a16="http://schemas.microsoft.com/office/drawing/2014/main" id="{420264E1-9175-4DDE-95D4-EF65C21D4689}"/>
              </a:ext>
            </a:extLst>
          </p:cNvPr>
          <p:cNvSpPr txBox="1"/>
          <p:nvPr/>
        </p:nvSpPr>
        <p:spPr>
          <a:xfrm>
            <a:off x="10228962" y="6488668"/>
            <a:ext cx="1963038" cy="369332"/>
          </a:xfrm>
          <a:prstGeom prst="rect">
            <a:avLst/>
          </a:prstGeom>
          <a:noFill/>
        </p:spPr>
        <p:txBody>
          <a:bodyPr wrap="none" rtlCol="0">
            <a:spAutoFit/>
          </a:bodyPr>
          <a:lstStyle/>
          <a:p>
            <a:r>
              <a:rPr lang="en-US" altLang="zh-CN" b="1" dirty="0">
                <a:cs typeface="+mn-ea"/>
                <a:sym typeface="+mn-lt"/>
              </a:rPr>
              <a:t>Credits</a:t>
            </a:r>
            <a:r>
              <a:rPr lang="en-US" altLang="zh-CN" dirty="0">
                <a:cs typeface="+mn-ea"/>
                <a:sym typeface="+mn-lt"/>
              </a:rPr>
              <a:t>: Li Fei-Fei</a:t>
            </a:r>
            <a:endParaRPr lang="zh-CN" altLang="en-US" dirty="0">
              <a:cs typeface="+mn-ea"/>
              <a:sym typeface="+mn-lt"/>
            </a:endParaRPr>
          </a:p>
        </p:txBody>
      </p:sp>
    </p:spTree>
    <p:extLst>
      <p:ext uri="{BB962C8B-B14F-4D97-AF65-F5344CB8AC3E}">
        <p14:creationId xmlns:p14="http://schemas.microsoft.com/office/powerpoint/2010/main" val="2416559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B3727-EAF9-4708-A196-FBE0763CD772}"/>
              </a:ext>
            </a:extLst>
          </p:cNvPr>
          <p:cNvSpPr>
            <a:spLocks noGrp="1"/>
          </p:cNvSpPr>
          <p:nvPr>
            <p:ph type="title"/>
          </p:nvPr>
        </p:nvSpPr>
        <p:spPr/>
        <p:txBody>
          <a:bodyPr/>
          <a:lstStyle/>
          <a:p>
            <a:r>
              <a:rPr lang="zh-CN" altLang="en-US" b="1" dirty="0"/>
              <a:t>提纲</a:t>
            </a:r>
          </a:p>
        </p:txBody>
      </p:sp>
      <p:sp>
        <p:nvSpPr>
          <p:cNvPr id="3" name="Content Placeholder 2">
            <a:extLst>
              <a:ext uri="{FF2B5EF4-FFF2-40B4-BE49-F238E27FC236}">
                <a16:creationId xmlns:a16="http://schemas.microsoft.com/office/drawing/2014/main" id="{C309EE0F-29CA-491F-8141-892F5308F8CE}"/>
              </a:ext>
            </a:extLst>
          </p:cNvPr>
          <p:cNvSpPr>
            <a:spLocks noGrp="1"/>
          </p:cNvSpPr>
          <p:nvPr>
            <p:ph idx="1"/>
          </p:nvPr>
        </p:nvSpPr>
        <p:spPr/>
        <p:txBody>
          <a:bodyPr/>
          <a:lstStyle/>
          <a:p>
            <a:pPr>
              <a:lnSpc>
                <a:spcPct val="150000"/>
              </a:lnSpc>
            </a:pPr>
            <a:r>
              <a:rPr lang="zh-CN" altLang="en-US" b="1" dirty="0"/>
              <a:t>计算机视觉的定义</a:t>
            </a:r>
            <a:endParaRPr lang="en-US" altLang="zh-CN" b="1" dirty="0"/>
          </a:p>
          <a:p>
            <a:pPr>
              <a:lnSpc>
                <a:spcPct val="150000"/>
              </a:lnSpc>
            </a:pPr>
            <a:r>
              <a:rPr lang="zh-CN" altLang="en-US" b="1" dirty="0">
                <a:solidFill>
                  <a:schemeClr val="accent1"/>
                </a:solidFill>
              </a:rPr>
              <a:t>计算机视觉的典型问题和应用</a:t>
            </a:r>
            <a:endParaRPr lang="en-US" altLang="zh-CN" b="1" dirty="0">
              <a:solidFill>
                <a:schemeClr val="accent1"/>
              </a:solidFill>
            </a:endParaRPr>
          </a:p>
          <a:p>
            <a:pPr>
              <a:lnSpc>
                <a:spcPct val="150000"/>
              </a:lnSpc>
            </a:pPr>
            <a:r>
              <a:rPr lang="zh-CN" altLang="en-US" b="1" dirty="0"/>
              <a:t>计算机视觉的发展历史</a:t>
            </a:r>
            <a:endParaRPr lang="zh-CN" altLang="en-US" dirty="0"/>
          </a:p>
        </p:txBody>
      </p:sp>
    </p:spTree>
    <p:extLst>
      <p:ext uri="{BB962C8B-B14F-4D97-AF65-F5344CB8AC3E}">
        <p14:creationId xmlns:p14="http://schemas.microsoft.com/office/powerpoint/2010/main" val="27177445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57A9E-137C-41CA-87BC-F312D201D6DC}"/>
              </a:ext>
            </a:extLst>
          </p:cNvPr>
          <p:cNvSpPr>
            <a:spLocks noGrp="1"/>
          </p:cNvSpPr>
          <p:nvPr>
            <p:ph type="title"/>
          </p:nvPr>
        </p:nvSpPr>
        <p:spPr/>
        <p:txBody>
          <a:bodyPr/>
          <a:lstStyle/>
          <a:p>
            <a:pPr algn="ctr"/>
            <a:r>
              <a:rPr lang="zh-CN" altLang="en-US" b="1" dirty="0"/>
              <a:t>典型问题和应用总览</a:t>
            </a:r>
          </a:p>
        </p:txBody>
      </p:sp>
      <p:sp>
        <p:nvSpPr>
          <p:cNvPr id="3" name="Content Placeholder 2">
            <a:extLst>
              <a:ext uri="{FF2B5EF4-FFF2-40B4-BE49-F238E27FC236}">
                <a16:creationId xmlns:a16="http://schemas.microsoft.com/office/drawing/2014/main" id="{AB119E1E-EE99-474C-A32F-9FEBCE87239D}"/>
              </a:ext>
            </a:extLst>
          </p:cNvPr>
          <p:cNvSpPr>
            <a:spLocks noGrp="1"/>
          </p:cNvSpPr>
          <p:nvPr>
            <p:ph idx="1"/>
          </p:nvPr>
        </p:nvSpPr>
        <p:spPr/>
        <p:txBody>
          <a:bodyPr/>
          <a:lstStyle/>
          <a:p>
            <a:endParaRPr lang="zh-CN" altLang="en-US" dirty="0"/>
          </a:p>
        </p:txBody>
      </p:sp>
      <p:sp>
        <p:nvSpPr>
          <p:cNvPr id="4" name="TextBox 3">
            <a:extLst>
              <a:ext uri="{FF2B5EF4-FFF2-40B4-BE49-F238E27FC236}">
                <a16:creationId xmlns:a16="http://schemas.microsoft.com/office/drawing/2014/main" id="{E91BC905-AA2F-4278-84F4-5CC1F84C0FA7}"/>
              </a:ext>
            </a:extLst>
          </p:cNvPr>
          <p:cNvSpPr txBox="1"/>
          <p:nvPr/>
        </p:nvSpPr>
        <p:spPr>
          <a:xfrm>
            <a:off x="10152018" y="6488668"/>
            <a:ext cx="2039982" cy="369332"/>
          </a:xfrm>
          <a:prstGeom prst="rect">
            <a:avLst/>
          </a:prstGeom>
          <a:noFill/>
        </p:spPr>
        <p:txBody>
          <a:bodyPr wrap="none" rtlCol="0">
            <a:spAutoFit/>
          </a:bodyPr>
          <a:lstStyle/>
          <a:p>
            <a:r>
              <a:rPr lang="en-US" altLang="zh-CN" b="1" dirty="0">
                <a:cs typeface="+mn-ea"/>
                <a:sym typeface="+mn-lt"/>
              </a:rPr>
              <a:t>Credits</a:t>
            </a:r>
            <a:r>
              <a:rPr lang="en-US" altLang="zh-CN" dirty="0">
                <a:cs typeface="+mn-ea"/>
                <a:sym typeface="+mn-lt"/>
              </a:rPr>
              <a:t>: </a:t>
            </a:r>
            <a:r>
              <a:rPr lang="en-US" altLang="zh-CN" dirty="0" err="1">
                <a:cs typeface="+mn-ea"/>
                <a:sym typeface="+mn-lt"/>
              </a:rPr>
              <a:t>Lingxi</a:t>
            </a:r>
            <a:r>
              <a:rPr lang="en-US" altLang="zh-CN" dirty="0">
                <a:cs typeface="+mn-ea"/>
                <a:sym typeface="+mn-lt"/>
              </a:rPr>
              <a:t> </a:t>
            </a:r>
            <a:r>
              <a:rPr lang="en-US" altLang="zh-CN" dirty="0" err="1">
                <a:cs typeface="+mn-ea"/>
                <a:sym typeface="+mn-lt"/>
              </a:rPr>
              <a:t>Xie</a:t>
            </a:r>
            <a:endParaRPr lang="zh-CN" altLang="en-US" dirty="0">
              <a:cs typeface="+mn-ea"/>
              <a:sym typeface="+mn-lt"/>
            </a:endParaRPr>
          </a:p>
        </p:txBody>
      </p:sp>
      <p:pic>
        <p:nvPicPr>
          <p:cNvPr id="5" name="Picture 4">
            <a:extLst>
              <a:ext uri="{FF2B5EF4-FFF2-40B4-BE49-F238E27FC236}">
                <a16:creationId xmlns:a16="http://schemas.microsoft.com/office/drawing/2014/main" id="{E3256370-5FF1-4083-A1D6-B22398346E2D}"/>
              </a:ext>
            </a:extLst>
          </p:cNvPr>
          <p:cNvPicPr>
            <a:picLocks noChangeAspect="1"/>
          </p:cNvPicPr>
          <p:nvPr/>
        </p:nvPicPr>
        <p:blipFill>
          <a:blip r:embed="rId2"/>
          <a:stretch>
            <a:fillRect/>
          </a:stretch>
        </p:blipFill>
        <p:spPr>
          <a:xfrm>
            <a:off x="1213200" y="1580830"/>
            <a:ext cx="9832031" cy="4950843"/>
          </a:xfrm>
          <a:prstGeom prst="rect">
            <a:avLst/>
          </a:prstGeom>
        </p:spPr>
      </p:pic>
    </p:spTree>
    <p:extLst>
      <p:ext uri="{BB962C8B-B14F-4D97-AF65-F5344CB8AC3E}">
        <p14:creationId xmlns:p14="http://schemas.microsoft.com/office/powerpoint/2010/main" val="3795146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371D3-49E0-4AEE-AF84-45E1E31D52D9}"/>
              </a:ext>
            </a:extLst>
          </p:cNvPr>
          <p:cNvSpPr>
            <a:spLocks noGrp="1"/>
          </p:cNvSpPr>
          <p:nvPr>
            <p:ph type="title"/>
          </p:nvPr>
        </p:nvSpPr>
        <p:spPr/>
        <p:txBody>
          <a:bodyPr/>
          <a:lstStyle/>
          <a:p>
            <a:r>
              <a:rPr lang="zh-CN" altLang="en-US" b="1" dirty="0"/>
              <a:t>图像分类：</a:t>
            </a:r>
            <a:r>
              <a:rPr lang="zh-CN" altLang="en-US" dirty="0"/>
              <a:t>最简单的应用</a:t>
            </a:r>
          </a:p>
        </p:txBody>
      </p:sp>
      <p:sp>
        <p:nvSpPr>
          <p:cNvPr id="3" name="Content Placeholder 2">
            <a:extLst>
              <a:ext uri="{FF2B5EF4-FFF2-40B4-BE49-F238E27FC236}">
                <a16:creationId xmlns:a16="http://schemas.microsoft.com/office/drawing/2014/main" id="{03369C13-FFEF-440C-B3C8-A5B6908EBCA4}"/>
              </a:ext>
            </a:extLst>
          </p:cNvPr>
          <p:cNvSpPr>
            <a:spLocks noGrp="1"/>
          </p:cNvSpPr>
          <p:nvPr>
            <p:ph idx="1"/>
          </p:nvPr>
        </p:nvSpPr>
        <p:spPr>
          <a:xfrm>
            <a:off x="838200" y="1825625"/>
            <a:ext cx="6730497" cy="4351338"/>
          </a:xfrm>
        </p:spPr>
        <p:txBody>
          <a:bodyPr>
            <a:normAutofit fontScale="92500" lnSpcReduction="20000"/>
          </a:bodyPr>
          <a:lstStyle/>
          <a:p>
            <a:pPr>
              <a:lnSpc>
                <a:spcPct val="130000"/>
              </a:lnSpc>
            </a:pPr>
            <a:r>
              <a:rPr lang="zh-CN" altLang="en-US" b="1" dirty="0"/>
              <a:t>定义：给定一张图像，判断其中的主要物体属于哪个语义类别</a:t>
            </a:r>
            <a:endParaRPr lang="en-US" altLang="zh-CN" b="1" dirty="0"/>
          </a:p>
          <a:p>
            <a:pPr lvl="1">
              <a:lnSpc>
                <a:spcPct val="130000"/>
              </a:lnSpc>
            </a:pPr>
            <a:r>
              <a:rPr lang="zh-CN" altLang="en-US" dirty="0"/>
              <a:t>最简单的语义识别任务，很容易手机数据</a:t>
            </a:r>
            <a:endParaRPr lang="en-US" altLang="zh-CN" dirty="0"/>
          </a:p>
          <a:p>
            <a:pPr lvl="2">
              <a:lnSpc>
                <a:spcPct val="130000"/>
              </a:lnSpc>
            </a:pPr>
            <a:r>
              <a:rPr lang="zh-CN" altLang="en-US" b="1" dirty="0">
                <a:latin typeface="KaiTi" panose="02010609060101010101" pitchFamily="49" charset="-122"/>
                <a:ea typeface="KaiTi" panose="02010609060101010101" pitchFamily="49" charset="-122"/>
              </a:rPr>
              <a:t>缺点：</a:t>
            </a:r>
            <a:r>
              <a:rPr lang="zh-CN" altLang="en-US" dirty="0">
                <a:latin typeface="KaiTi" panose="02010609060101010101" pitchFamily="49" charset="-122"/>
                <a:ea typeface="KaiTi" panose="02010609060101010101" pitchFamily="49" charset="-122"/>
              </a:rPr>
              <a:t>语义细节较弱，标签容易带有歧义性</a:t>
            </a:r>
            <a:endParaRPr lang="en-US" altLang="zh-CN" dirty="0">
              <a:latin typeface="KaiTi" panose="02010609060101010101" pitchFamily="49" charset="-122"/>
              <a:ea typeface="KaiTi" panose="02010609060101010101" pitchFamily="49" charset="-122"/>
            </a:endParaRPr>
          </a:p>
          <a:p>
            <a:pPr>
              <a:lnSpc>
                <a:spcPct val="130000"/>
              </a:lnSpc>
            </a:pPr>
            <a:r>
              <a:rPr lang="zh-CN" altLang="en-US" b="1" dirty="0"/>
              <a:t>著名数据集：</a:t>
            </a:r>
            <a:endParaRPr lang="en-US" altLang="zh-CN" b="1" dirty="0"/>
          </a:p>
          <a:p>
            <a:pPr lvl="1">
              <a:lnSpc>
                <a:spcPct val="130000"/>
              </a:lnSpc>
            </a:pPr>
            <a:r>
              <a:rPr lang="en-US" altLang="zh-CN" b="1" dirty="0"/>
              <a:t>MNIST</a:t>
            </a:r>
            <a:r>
              <a:rPr lang="zh-CN" altLang="en-US" b="1" dirty="0"/>
              <a:t>：   </a:t>
            </a:r>
            <a:r>
              <a:rPr lang="en-US" altLang="zh-CN" dirty="0"/>
              <a:t>10</a:t>
            </a:r>
            <a:r>
              <a:rPr lang="zh-CN" altLang="en-US" dirty="0"/>
              <a:t>类手写数字，低清图像</a:t>
            </a:r>
            <a:endParaRPr lang="en-US" altLang="zh-CN" dirty="0"/>
          </a:p>
          <a:p>
            <a:pPr lvl="1">
              <a:lnSpc>
                <a:spcPct val="130000"/>
              </a:lnSpc>
            </a:pPr>
            <a:r>
              <a:rPr lang="en-US" altLang="zh-CN" b="1" dirty="0"/>
              <a:t>CIFAR</a:t>
            </a:r>
            <a:r>
              <a:rPr lang="zh-CN" altLang="en-US" b="1" dirty="0"/>
              <a:t>：    </a:t>
            </a:r>
            <a:r>
              <a:rPr lang="en-US" altLang="zh-CN" dirty="0"/>
              <a:t>10/100</a:t>
            </a:r>
            <a:r>
              <a:rPr lang="zh-CN" altLang="en-US" dirty="0"/>
              <a:t>类常用物体，低清图像</a:t>
            </a:r>
            <a:endParaRPr lang="en-US" altLang="zh-CN" dirty="0"/>
          </a:p>
          <a:p>
            <a:pPr lvl="1">
              <a:lnSpc>
                <a:spcPct val="130000"/>
              </a:lnSpc>
            </a:pPr>
            <a:r>
              <a:rPr lang="en-US" altLang="zh-CN" b="1" dirty="0"/>
              <a:t>ImageNet</a:t>
            </a:r>
            <a:r>
              <a:rPr lang="zh-CN" altLang="en-US" b="1" dirty="0"/>
              <a:t>：</a:t>
            </a:r>
            <a:r>
              <a:rPr lang="en-US" altLang="zh-CN" dirty="0"/>
              <a:t>2</a:t>
            </a:r>
            <a:r>
              <a:rPr lang="zh-CN" altLang="en-US" dirty="0"/>
              <a:t>万余类通用物体，高清图像</a:t>
            </a:r>
            <a:endParaRPr lang="en-US" altLang="zh-CN" dirty="0"/>
          </a:p>
          <a:p>
            <a:pPr lvl="2">
              <a:lnSpc>
                <a:spcPct val="130000"/>
              </a:lnSpc>
            </a:pPr>
            <a:r>
              <a:rPr lang="zh-CN" altLang="en-US" dirty="0">
                <a:solidFill>
                  <a:schemeClr val="accent1"/>
                </a:solidFill>
                <a:latin typeface="KaiTi" panose="02010609060101010101" pitchFamily="49" charset="-122"/>
                <a:ea typeface="KaiTi" panose="02010609060101010101" pitchFamily="49" charset="-122"/>
              </a:rPr>
              <a:t>其中</a:t>
            </a:r>
            <a:r>
              <a:rPr lang="en-US" altLang="zh-CN" dirty="0">
                <a:solidFill>
                  <a:schemeClr val="accent1"/>
                </a:solidFill>
                <a:latin typeface="KaiTi" panose="02010609060101010101" pitchFamily="49" charset="-122"/>
                <a:ea typeface="KaiTi" panose="02010609060101010101" pitchFamily="49" charset="-122"/>
              </a:rPr>
              <a:t>1000</a:t>
            </a:r>
            <a:r>
              <a:rPr lang="zh-CN" altLang="en-US" dirty="0">
                <a:solidFill>
                  <a:schemeClr val="accent1"/>
                </a:solidFill>
                <a:latin typeface="KaiTi" panose="02010609060101010101" pitchFamily="49" charset="-122"/>
                <a:ea typeface="KaiTi" panose="02010609060101010101" pitchFamily="49" charset="-122"/>
              </a:rPr>
              <a:t>类代表性物体构成比赛数据集，是近十年最重要的图像分类评测指标</a:t>
            </a:r>
          </a:p>
        </p:txBody>
      </p:sp>
      <p:sp>
        <p:nvSpPr>
          <p:cNvPr id="4" name="TextBox 3">
            <a:extLst>
              <a:ext uri="{FF2B5EF4-FFF2-40B4-BE49-F238E27FC236}">
                <a16:creationId xmlns:a16="http://schemas.microsoft.com/office/drawing/2014/main" id="{A8976E48-0183-408F-8E8C-33708E87DBD3}"/>
              </a:ext>
            </a:extLst>
          </p:cNvPr>
          <p:cNvSpPr txBox="1"/>
          <p:nvPr/>
        </p:nvSpPr>
        <p:spPr>
          <a:xfrm>
            <a:off x="10152018" y="6488668"/>
            <a:ext cx="2039982" cy="369332"/>
          </a:xfrm>
          <a:prstGeom prst="rect">
            <a:avLst/>
          </a:prstGeom>
          <a:noFill/>
        </p:spPr>
        <p:txBody>
          <a:bodyPr wrap="none" rtlCol="0">
            <a:spAutoFit/>
          </a:bodyPr>
          <a:lstStyle/>
          <a:p>
            <a:r>
              <a:rPr lang="en-US" altLang="zh-CN" b="1" dirty="0">
                <a:cs typeface="+mn-ea"/>
                <a:sym typeface="+mn-lt"/>
              </a:rPr>
              <a:t>Credits</a:t>
            </a:r>
            <a:r>
              <a:rPr lang="en-US" altLang="zh-CN" dirty="0">
                <a:cs typeface="+mn-ea"/>
                <a:sym typeface="+mn-lt"/>
              </a:rPr>
              <a:t>: </a:t>
            </a:r>
            <a:r>
              <a:rPr lang="en-US" altLang="zh-CN" dirty="0" err="1">
                <a:cs typeface="+mn-ea"/>
                <a:sym typeface="+mn-lt"/>
              </a:rPr>
              <a:t>Lingxi</a:t>
            </a:r>
            <a:r>
              <a:rPr lang="en-US" altLang="zh-CN" dirty="0">
                <a:cs typeface="+mn-ea"/>
                <a:sym typeface="+mn-lt"/>
              </a:rPr>
              <a:t> </a:t>
            </a:r>
            <a:r>
              <a:rPr lang="en-US" altLang="zh-CN" dirty="0" err="1">
                <a:cs typeface="+mn-ea"/>
                <a:sym typeface="+mn-lt"/>
              </a:rPr>
              <a:t>Xie</a:t>
            </a:r>
            <a:endParaRPr lang="zh-CN" altLang="en-US" dirty="0">
              <a:cs typeface="+mn-ea"/>
              <a:sym typeface="+mn-lt"/>
            </a:endParaRPr>
          </a:p>
        </p:txBody>
      </p:sp>
      <p:pic>
        <p:nvPicPr>
          <p:cNvPr id="6" name="Picture 5">
            <a:extLst>
              <a:ext uri="{FF2B5EF4-FFF2-40B4-BE49-F238E27FC236}">
                <a16:creationId xmlns:a16="http://schemas.microsoft.com/office/drawing/2014/main" id="{82DCDB7C-BD59-4EC1-A7FC-26DFE32BA998}"/>
              </a:ext>
            </a:extLst>
          </p:cNvPr>
          <p:cNvPicPr>
            <a:picLocks noChangeAspect="1"/>
          </p:cNvPicPr>
          <p:nvPr/>
        </p:nvPicPr>
        <p:blipFill>
          <a:blip r:embed="rId3"/>
          <a:stretch>
            <a:fillRect/>
          </a:stretch>
        </p:blipFill>
        <p:spPr>
          <a:xfrm>
            <a:off x="7568697" y="1429857"/>
            <a:ext cx="4477459" cy="4754195"/>
          </a:xfrm>
          <a:prstGeom prst="rect">
            <a:avLst/>
          </a:prstGeom>
        </p:spPr>
      </p:pic>
    </p:spTree>
    <p:extLst>
      <p:ext uri="{BB962C8B-B14F-4D97-AF65-F5344CB8AC3E}">
        <p14:creationId xmlns:p14="http://schemas.microsoft.com/office/powerpoint/2010/main" val="110390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C8A0-F70B-41E1-9DA8-29B56DCB6B58}"/>
              </a:ext>
            </a:extLst>
          </p:cNvPr>
          <p:cNvSpPr>
            <a:spLocks noGrp="1"/>
          </p:cNvSpPr>
          <p:nvPr>
            <p:ph type="title"/>
          </p:nvPr>
        </p:nvSpPr>
        <p:spPr/>
        <p:txBody>
          <a:bodyPr/>
          <a:lstStyle/>
          <a:p>
            <a:r>
              <a:rPr lang="zh-CN" altLang="en-US" b="1" dirty="0"/>
              <a:t>物体检测和分割</a:t>
            </a:r>
          </a:p>
        </p:txBody>
      </p:sp>
      <p:sp>
        <p:nvSpPr>
          <p:cNvPr id="6" name="Content Placeholder 2">
            <a:extLst>
              <a:ext uri="{FF2B5EF4-FFF2-40B4-BE49-F238E27FC236}">
                <a16:creationId xmlns:a16="http://schemas.microsoft.com/office/drawing/2014/main" id="{C133C62F-7C6F-4A5C-97E4-06FB011F4F4C}"/>
              </a:ext>
            </a:extLst>
          </p:cNvPr>
          <p:cNvSpPr>
            <a:spLocks noGrp="1"/>
          </p:cNvSpPr>
          <p:nvPr>
            <p:ph idx="1"/>
          </p:nvPr>
        </p:nvSpPr>
        <p:spPr>
          <a:xfrm>
            <a:off x="838200" y="1825625"/>
            <a:ext cx="6730497" cy="4351338"/>
          </a:xfrm>
        </p:spPr>
        <p:txBody>
          <a:bodyPr>
            <a:normAutofit fontScale="92500" lnSpcReduction="20000"/>
          </a:bodyPr>
          <a:lstStyle/>
          <a:p>
            <a:pPr>
              <a:lnSpc>
                <a:spcPct val="130000"/>
              </a:lnSpc>
            </a:pPr>
            <a:r>
              <a:rPr lang="zh-CN" altLang="en-US" b="1" dirty="0"/>
              <a:t>定义：给定一张图像，找出其中的每个物体，描述它的外形并判断它的类别</a:t>
            </a:r>
            <a:endParaRPr lang="en-US" altLang="zh-CN" b="1" dirty="0"/>
          </a:p>
          <a:p>
            <a:pPr lvl="1">
              <a:lnSpc>
                <a:spcPct val="130000"/>
              </a:lnSpc>
            </a:pPr>
            <a:r>
              <a:rPr lang="zh-CN" altLang="en-US" dirty="0"/>
              <a:t>相比于图像分类，提供了更多细节</a:t>
            </a:r>
            <a:endParaRPr lang="en-US" altLang="zh-CN" dirty="0"/>
          </a:p>
          <a:p>
            <a:pPr lvl="2">
              <a:lnSpc>
                <a:spcPct val="130000"/>
              </a:lnSpc>
            </a:pPr>
            <a:r>
              <a:rPr lang="zh-CN" altLang="en-US" b="1" dirty="0">
                <a:latin typeface="KaiTi" panose="02010609060101010101" pitchFamily="49" charset="-122"/>
                <a:ea typeface="KaiTi" panose="02010609060101010101" pitchFamily="49" charset="-122"/>
              </a:rPr>
              <a:t>物体检测：</a:t>
            </a:r>
            <a:r>
              <a:rPr lang="zh-CN" altLang="en-US" dirty="0">
                <a:latin typeface="KaiTi" panose="02010609060101010101" pitchFamily="49" charset="-122"/>
                <a:ea typeface="KaiTi" panose="02010609060101010101" pitchFamily="49" charset="-122"/>
              </a:rPr>
              <a:t>用最小的矩形框包围物体</a:t>
            </a:r>
            <a:endParaRPr lang="en-US" altLang="zh-CN" dirty="0">
              <a:latin typeface="KaiTi" panose="02010609060101010101" pitchFamily="49" charset="-122"/>
              <a:ea typeface="KaiTi" panose="02010609060101010101" pitchFamily="49" charset="-122"/>
            </a:endParaRPr>
          </a:p>
          <a:p>
            <a:pPr lvl="2">
              <a:lnSpc>
                <a:spcPct val="130000"/>
              </a:lnSpc>
            </a:pPr>
            <a:r>
              <a:rPr lang="zh-CN" altLang="en-US" b="1" dirty="0">
                <a:latin typeface="KaiTi" panose="02010609060101010101" pitchFamily="49" charset="-122"/>
                <a:ea typeface="KaiTi" panose="02010609060101010101" pitchFamily="49" charset="-122"/>
              </a:rPr>
              <a:t>物体分割：</a:t>
            </a:r>
            <a:r>
              <a:rPr lang="zh-CN" altLang="en-US" dirty="0">
                <a:latin typeface="KaiTi" panose="02010609060101010101" pitchFamily="49" charset="-122"/>
                <a:ea typeface="KaiTi" panose="02010609060101010101" pitchFamily="49" charset="-122"/>
              </a:rPr>
              <a:t>将物体的每个像素分离出来</a:t>
            </a:r>
            <a:endParaRPr lang="en-US" altLang="zh-CN" dirty="0">
              <a:latin typeface="KaiTi" panose="02010609060101010101" pitchFamily="49" charset="-122"/>
              <a:ea typeface="KaiTi" panose="02010609060101010101" pitchFamily="49" charset="-122"/>
            </a:endParaRPr>
          </a:p>
          <a:p>
            <a:pPr>
              <a:lnSpc>
                <a:spcPct val="130000"/>
              </a:lnSpc>
            </a:pPr>
            <a:r>
              <a:rPr lang="zh-CN" altLang="en-US" b="1" dirty="0"/>
              <a:t>著名数据集：</a:t>
            </a:r>
            <a:endParaRPr lang="en-US" altLang="zh-CN" b="1" dirty="0"/>
          </a:p>
          <a:p>
            <a:pPr lvl="1">
              <a:lnSpc>
                <a:spcPct val="130000"/>
              </a:lnSpc>
            </a:pPr>
            <a:r>
              <a:rPr lang="en-US" altLang="zh-CN" b="1" dirty="0"/>
              <a:t>PASCAL-VOC</a:t>
            </a:r>
            <a:r>
              <a:rPr lang="zh-CN" altLang="en-US" b="1" dirty="0"/>
              <a:t>：</a:t>
            </a:r>
            <a:r>
              <a:rPr lang="en-US" altLang="zh-CN" dirty="0"/>
              <a:t>10</a:t>
            </a:r>
            <a:r>
              <a:rPr lang="zh-CN" altLang="en-US" dirty="0"/>
              <a:t>类，约</a:t>
            </a:r>
            <a:r>
              <a:rPr lang="en-US" altLang="zh-CN" dirty="0"/>
              <a:t>3</a:t>
            </a:r>
            <a:r>
              <a:rPr lang="zh-CN" altLang="en-US" dirty="0"/>
              <a:t>万个物体</a:t>
            </a:r>
            <a:endParaRPr lang="en-US" altLang="zh-CN" dirty="0"/>
          </a:p>
          <a:p>
            <a:pPr lvl="1">
              <a:lnSpc>
                <a:spcPct val="130000"/>
              </a:lnSpc>
            </a:pPr>
            <a:r>
              <a:rPr lang="en-US" altLang="zh-CN" b="1" dirty="0"/>
              <a:t>MS-COCO</a:t>
            </a:r>
            <a:r>
              <a:rPr lang="zh-CN" altLang="en-US" b="1" dirty="0"/>
              <a:t>：</a:t>
            </a:r>
            <a:r>
              <a:rPr lang="en-US" altLang="zh-CN" dirty="0"/>
              <a:t>80</a:t>
            </a:r>
            <a:r>
              <a:rPr lang="zh-CN" altLang="en-US" dirty="0"/>
              <a:t>类，超</a:t>
            </a:r>
            <a:r>
              <a:rPr lang="en-US" altLang="zh-CN" dirty="0"/>
              <a:t>100</a:t>
            </a:r>
            <a:r>
              <a:rPr lang="zh-CN" altLang="en-US" dirty="0"/>
              <a:t>万个物体</a:t>
            </a:r>
            <a:endParaRPr lang="en-US" altLang="zh-CN" dirty="0"/>
          </a:p>
          <a:p>
            <a:pPr lvl="2">
              <a:lnSpc>
                <a:spcPct val="130000"/>
              </a:lnSpc>
            </a:pPr>
            <a:r>
              <a:rPr lang="zh-CN" altLang="en-US" dirty="0"/>
              <a:t>相比于</a:t>
            </a:r>
            <a:r>
              <a:rPr lang="en-US" altLang="zh-CN" dirty="0"/>
              <a:t>PASCAL-VOC</a:t>
            </a:r>
            <a:r>
              <a:rPr lang="zh-CN" altLang="en-US" dirty="0"/>
              <a:t>，</a:t>
            </a:r>
            <a:r>
              <a:rPr lang="en-US" altLang="zh-CN" dirty="0"/>
              <a:t>MS-COCO</a:t>
            </a:r>
            <a:r>
              <a:rPr lang="zh-CN" altLang="en-US" dirty="0"/>
              <a:t>包含更多困难样例，如密集人群、非典型物体等。</a:t>
            </a:r>
          </a:p>
        </p:txBody>
      </p:sp>
      <p:sp>
        <p:nvSpPr>
          <p:cNvPr id="7" name="TextBox 6">
            <a:extLst>
              <a:ext uri="{FF2B5EF4-FFF2-40B4-BE49-F238E27FC236}">
                <a16:creationId xmlns:a16="http://schemas.microsoft.com/office/drawing/2014/main" id="{55A970BA-B8DC-42FF-8709-F40832F08D0B}"/>
              </a:ext>
            </a:extLst>
          </p:cNvPr>
          <p:cNvSpPr txBox="1"/>
          <p:nvPr/>
        </p:nvSpPr>
        <p:spPr>
          <a:xfrm>
            <a:off x="10152018" y="6488668"/>
            <a:ext cx="2039982" cy="369332"/>
          </a:xfrm>
          <a:prstGeom prst="rect">
            <a:avLst/>
          </a:prstGeom>
          <a:noFill/>
        </p:spPr>
        <p:txBody>
          <a:bodyPr wrap="none" rtlCol="0">
            <a:spAutoFit/>
          </a:bodyPr>
          <a:lstStyle/>
          <a:p>
            <a:r>
              <a:rPr lang="en-US" altLang="zh-CN" b="1" dirty="0">
                <a:cs typeface="+mn-ea"/>
                <a:sym typeface="+mn-lt"/>
              </a:rPr>
              <a:t>Credits</a:t>
            </a:r>
            <a:r>
              <a:rPr lang="en-US" altLang="zh-CN" dirty="0">
                <a:cs typeface="+mn-ea"/>
                <a:sym typeface="+mn-lt"/>
              </a:rPr>
              <a:t>: </a:t>
            </a:r>
            <a:r>
              <a:rPr lang="en-US" altLang="zh-CN" dirty="0" err="1">
                <a:cs typeface="+mn-ea"/>
                <a:sym typeface="+mn-lt"/>
              </a:rPr>
              <a:t>Lingxi</a:t>
            </a:r>
            <a:r>
              <a:rPr lang="en-US" altLang="zh-CN" dirty="0">
                <a:cs typeface="+mn-ea"/>
                <a:sym typeface="+mn-lt"/>
              </a:rPr>
              <a:t> </a:t>
            </a:r>
            <a:r>
              <a:rPr lang="en-US" altLang="zh-CN" dirty="0" err="1">
                <a:cs typeface="+mn-ea"/>
                <a:sym typeface="+mn-lt"/>
              </a:rPr>
              <a:t>Xie</a:t>
            </a:r>
            <a:endParaRPr lang="zh-CN" altLang="en-US" dirty="0">
              <a:cs typeface="+mn-ea"/>
              <a:sym typeface="+mn-lt"/>
            </a:endParaRPr>
          </a:p>
        </p:txBody>
      </p:sp>
      <p:pic>
        <p:nvPicPr>
          <p:cNvPr id="9" name="Picture 8">
            <a:extLst>
              <a:ext uri="{FF2B5EF4-FFF2-40B4-BE49-F238E27FC236}">
                <a16:creationId xmlns:a16="http://schemas.microsoft.com/office/drawing/2014/main" id="{37359AF7-D007-468C-A980-096F6A929132}"/>
              </a:ext>
            </a:extLst>
          </p:cNvPr>
          <p:cNvPicPr>
            <a:picLocks noChangeAspect="1"/>
          </p:cNvPicPr>
          <p:nvPr/>
        </p:nvPicPr>
        <p:blipFill>
          <a:blip r:embed="rId2"/>
          <a:stretch>
            <a:fillRect/>
          </a:stretch>
        </p:blipFill>
        <p:spPr>
          <a:xfrm>
            <a:off x="7661118" y="799903"/>
            <a:ext cx="4279982" cy="5512280"/>
          </a:xfrm>
          <a:prstGeom prst="rect">
            <a:avLst/>
          </a:prstGeom>
        </p:spPr>
      </p:pic>
    </p:spTree>
    <p:extLst>
      <p:ext uri="{BB962C8B-B14F-4D97-AF65-F5344CB8AC3E}">
        <p14:creationId xmlns:p14="http://schemas.microsoft.com/office/powerpoint/2010/main" val="17857426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C8A0-F70B-41E1-9DA8-29B56DCB6B58}"/>
              </a:ext>
            </a:extLst>
          </p:cNvPr>
          <p:cNvSpPr>
            <a:spLocks noGrp="1"/>
          </p:cNvSpPr>
          <p:nvPr>
            <p:ph type="title"/>
          </p:nvPr>
        </p:nvSpPr>
        <p:spPr/>
        <p:txBody>
          <a:bodyPr/>
          <a:lstStyle/>
          <a:p>
            <a:r>
              <a:rPr lang="zh-CN" altLang="en-US" b="1" dirty="0"/>
              <a:t>物体的结构解析</a:t>
            </a:r>
          </a:p>
        </p:txBody>
      </p:sp>
      <p:sp>
        <p:nvSpPr>
          <p:cNvPr id="6" name="Content Placeholder 2">
            <a:extLst>
              <a:ext uri="{FF2B5EF4-FFF2-40B4-BE49-F238E27FC236}">
                <a16:creationId xmlns:a16="http://schemas.microsoft.com/office/drawing/2014/main" id="{C133C62F-7C6F-4A5C-97E4-06FB011F4F4C}"/>
              </a:ext>
            </a:extLst>
          </p:cNvPr>
          <p:cNvSpPr>
            <a:spLocks noGrp="1"/>
          </p:cNvSpPr>
          <p:nvPr>
            <p:ph idx="1"/>
          </p:nvPr>
        </p:nvSpPr>
        <p:spPr>
          <a:xfrm>
            <a:off x="838200" y="1825625"/>
            <a:ext cx="6730497" cy="4351338"/>
          </a:xfrm>
        </p:spPr>
        <p:txBody>
          <a:bodyPr>
            <a:normAutofit fontScale="77500" lnSpcReduction="20000"/>
          </a:bodyPr>
          <a:lstStyle/>
          <a:p>
            <a:pPr>
              <a:lnSpc>
                <a:spcPct val="130000"/>
              </a:lnSpc>
            </a:pPr>
            <a:r>
              <a:rPr lang="zh-CN" altLang="en-US" b="1" dirty="0"/>
              <a:t>定义：给定一张图像，找出其中的每个物体，并且识别它的部件</a:t>
            </a:r>
            <a:endParaRPr lang="en-US" altLang="zh-CN" b="1" dirty="0"/>
          </a:p>
          <a:p>
            <a:pPr lvl="1">
              <a:lnSpc>
                <a:spcPct val="130000"/>
              </a:lnSpc>
            </a:pPr>
            <a:r>
              <a:rPr lang="zh-CN" altLang="en-US" dirty="0"/>
              <a:t>相比于物体检测和分割，进一步强调了语义细节，体现了更高层次的理解</a:t>
            </a:r>
            <a:endParaRPr lang="en-US" altLang="zh-CN" dirty="0"/>
          </a:p>
          <a:p>
            <a:pPr lvl="2">
              <a:lnSpc>
                <a:spcPct val="130000"/>
              </a:lnSpc>
            </a:pPr>
            <a:r>
              <a:rPr lang="zh-CN" altLang="en-US" b="1" dirty="0">
                <a:latin typeface="KaiTi" panose="02010609060101010101" pitchFamily="49" charset="-122"/>
                <a:ea typeface="KaiTi" panose="02010609060101010101" pitchFamily="49" charset="-122"/>
              </a:rPr>
              <a:t>姿态估计：</a:t>
            </a:r>
            <a:r>
              <a:rPr lang="zh-CN" altLang="en-US" dirty="0">
                <a:latin typeface="KaiTi" panose="02010609060101010101" pitchFamily="49" charset="-122"/>
                <a:ea typeface="KaiTi" panose="02010609060101010101" pitchFamily="49" charset="-122"/>
              </a:rPr>
              <a:t>识别特定物体的关键点</a:t>
            </a:r>
            <a:endParaRPr lang="en-US" altLang="zh-CN" dirty="0">
              <a:latin typeface="KaiTi" panose="02010609060101010101" pitchFamily="49" charset="-122"/>
              <a:ea typeface="KaiTi" panose="02010609060101010101" pitchFamily="49" charset="-122"/>
            </a:endParaRPr>
          </a:p>
          <a:p>
            <a:pPr lvl="2">
              <a:lnSpc>
                <a:spcPct val="130000"/>
              </a:lnSpc>
            </a:pPr>
            <a:r>
              <a:rPr lang="zh-CN" altLang="en-US" b="1" dirty="0">
                <a:latin typeface="KaiTi" panose="02010609060101010101" pitchFamily="49" charset="-122"/>
                <a:ea typeface="KaiTi" panose="02010609060101010101" pitchFamily="49" charset="-122"/>
              </a:rPr>
              <a:t>部件识别：</a:t>
            </a:r>
            <a:r>
              <a:rPr lang="zh-CN" altLang="en-US" dirty="0">
                <a:latin typeface="KaiTi" panose="02010609060101010101" pitchFamily="49" charset="-122"/>
                <a:ea typeface="KaiTi" panose="02010609060101010101" pitchFamily="49" charset="-122"/>
              </a:rPr>
              <a:t>将物体解析为细节部分</a:t>
            </a:r>
            <a:endParaRPr lang="en-US" altLang="zh-CN" dirty="0">
              <a:latin typeface="KaiTi" panose="02010609060101010101" pitchFamily="49" charset="-122"/>
              <a:ea typeface="KaiTi" panose="02010609060101010101" pitchFamily="49" charset="-122"/>
            </a:endParaRPr>
          </a:p>
          <a:p>
            <a:pPr>
              <a:lnSpc>
                <a:spcPct val="130000"/>
              </a:lnSpc>
            </a:pPr>
            <a:r>
              <a:rPr lang="zh-CN" altLang="en-US" b="1" dirty="0"/>
              <a:t>著名数据集：</a:t>
            </a:r>
            <a:endParaRPr lang="en-US" altLang="zh-CN" b="1" dirty="0"/>
          </a:p>
          <a:p>
            <a:pPr lvl="1">
              <a:lnSpc>
                <a:spcPct val="130000"/>
              </a:lnSpc>
            </a:pPr>
            <a:r>
              <a:rPr lang="en-US" altLang="zh-CN" b="1" dirty="0"/>
              <a:t>MPII</a:t>
            </a:r>
            <a:r>
              <a:rPr lang="zh-CN" altLang="en-US" b="1" dirty="0"/>
              <a:t>：</a:t>
            </a:r>
            <a:r>
              <a:rPr lang="zh-CN" altLang="en-US" dirty="0"/>
              <a:t>超</a:t>
            </a:r>
            <a:r>
              <a:rPr lang="en-US" altLang="zh-CN" dirty="0"/>
              <a:t>4</a:t>
            </a:r>
            <a:r>
              <a:rPr lang="zh-CN" altLang="en-US" dirty="0"/>
              <a:t>万人，</a:t>
            </a:r>
            <a:r>
              <a:rPr lang="en-US" altLang="zh-CN" dirty="0"/>
              <a:t>50</a:t>
            </a:r>
            <a:r>
              <a:rPr lang="zh-CN" altLang="en-US" dirty="0"/>
              <a:t>万人体关键点</a:t>
            </a:r>
            <a:endParaRPr lang="en-US" altLang="zh-CN" dirty="0"/>
          </a:p>
          <a:p>
            <a:pPr lvl="1">
              <a:lnSpc>
                <a:spcPct val="130000"/>
              </a:lnSpc>
            </a:pPr>
            <a:r>
              <a:rPr lang="en-US" altLang="zh-CN" b="1" dirty="0"/>
              <a:t>MS-COCO</a:t>
            </a:r>
            <a:r>
              <a:rPr lang="zh-CN" altLang="en-US" b="1" dirty="0"/>
              <a:t>：</a:t>
            </a:r>
            <a:r>
              <a:rPr lang="zh-CN" altLang="en-US" dirty="0"/>
              <a:t>超</a:t>
            </a:r>
            <a:r>
              <a:rPr lang="en-US" altLang="zh-CN" dirty="0"/>
              <a:t>15</a:t>
            </a:r>
            <a:r>
              <a:rPr lang="zh-CN" altLang="en-US" dirty="0"/>
              <a:t>万人，</a:t>
            </a:r>
            <a:r>
              <a:rPr lang="en-US" altLang="zh-CN" dirty="0"/>
              <a:t>170</a:t>
            </a:r>
            <a:r>
              <a:rPr lang="zh-CN" altLang="en-US" dirty="0"/>
              <a:t>万人体关键点</a:t>
            </a:r>
            <a:endParaRPr lang="en-US" altLang="zh-CN" dirty="0"/>
          </a:p>
          <a:p>
            <a:pPr lvl="1">
              <a:lnSpc>
                <a:spcPct val="130000"/>
              </a:lnSpc>
            </a:pPr>
            <a:r>
              <a:rPr lang="en-US" altLang="zh-CN" b="1" dirty="0"/>
              <a:t>PASCAL-Parts</a:t>
            </a:r>
            <a:r>
              <a:rPr lang="zh-CN" altLang="en-US" b="1" dirty="0"/>
              <a:t>：</a:t>
            </a:r>
            <a:r>
              <a:rPr lang="zh-CN" altLang="en-US" dirty="0"/>
              <a:t>为</a:t>
            </a:r>
            <a:r>
              <a:rPr lang="en-US" altLang="zh-CN" dirty="0"/>
              <a:t>PASCAL-VOC</a:t>
            </a:r>
            <a:r>
              <a:rPr lang="zh-CN" altLang="en-US" dirty="0"/>
              <a:t>的每个物体提供部件标注。</a:t>
            </a:r>
          </a:p>
        </p:txBody>
      </p:sp>
      <p:sp>
        <p:nvSpPr>
          <p:cNvPr id="7" name="TextBox 6">
            <a:extLst>
              <a:ext uri="{FF2B5EF4-FFF2-40B4-BE49-F238E27FC236}">
                <a16:creationId xmlns:a16="http://schemas.microsoft.com/office/drawing/2014/main" id="{55A970BA-B8DC-42FF-8709-F40832F08D0B}"/>
              </a:ext>
            </a:extLst>
          </p:cNvPr>
          <p:cNvSpPr txBox="1"/>
          <p:nvPr/>
        </p:nvSpPr>
        <p:spPr>
          <a:xfrm>
            <a:off x="10152018" y="6488668"/>
            <a:ext cx="2039982" cy="369332"/>
          </a:xfrm>
          <a:prstGeom prst="rect">
            <a:avLst/>
          </a:prstGeom>
          <a:noFill/>
        </p:spPr>
        <p:txBody>
          <a:bodyPr wrap="none" rtlCol="0">
            <a:spAutoFit/>
          </a:bodyPr>
          <a:lstStyle/>
          <a:p>
            <a:r>
              <a:rPr lang="en-US" altLang="zh-CN" b="1" dirty="0">
                <a:cs typeface="+mn-ea"/>
                <a:sym typeface="+mn-lt"/>
              </a:rPr>
              <a:t>Credits</a:t>
            </a:r>
            <a:r>
              <a:rPr lang="en-US" altLang="zh-CN" dirty="0">
                <a:cs typeface="+mn-ea"/>
                <a:sym typeface="+mn-lt"/>
              </a:rPr>
              <a:t>: </a:t>
            </a:r>
            <a:r>
              <a:rPr lang="en-US" altLang="zh-CN" dirty="0" err="1">
                <a:cs typeface="+mn-ea"/>
                <a:sym typeface="+mn-lt"/>
              </a:rPr>
              <a:t>Lingxi</a:t>
            </a:r>
            <a:r>
              <a:rPr lang="en-US" altLang="zh-CN" dirty="0">
                <a:cs typeface="+mn-ea"/>
                <a:sym typeface="+mn-lt"/>
              </a:rPr>
              <a:t> </a:t>
            </a:r>
            <a:r>
              <a:rPr lang="en-US" altLang="zh-CN" dirty="0" err="1">
                <a:cs typeface="+mn-ea"/>
                <a:sym typeface="+mn-lt"/>
              </a:rPr>
              <a:t>Xie</a:t>
            </a:r>
            <a:endParaRPr lang="zh-CN" altLang="en-US" dirty="0">
              <a:cs typeface="+mn-ea"/>
              <a:sym typeface="+mn-lt"/>
            </a:endParaRPr>
          </a:p>
        </p:txBody>
      </p:sp>
      <p:pic>
        <p:nvPicPr>
          <p:cNvPr id="3" name="Picture 2">
            <a:extLst>
              <a:ext uri="{FF2B5EF4-FFF2-40B4-BE49-F238E27FC236}">
                <a16:creationId xmlns:a16="http://schemas.microsoft.com/office/drawing/2014/main" id="{881A3F7C-0A00-4128-A238-55C6ADD743E3}"/>
              </a:ext>
            </a:extLst>
          </p:cNvPr>
          <p:cNvPicPr>
            <a:picLocks noChangeAspect="1"/>
          </p:cNvPicPr>
          <p:nvPr/>
        </p:nvPicPr>
        <p:blipFill>
          <a:blip r:embed="rId2"/>
          <a:stretch>
            <a:fillRect/>
          </a:stretch>
        </p:blipFill>
        <p:spPr>
          <a:xfrm>
            <a:off x="7430578" y="896838"/>
            <a:ext cx="4761422" cy="5280125"/>
          </a:xfrm>
          <a:prstGeom prst="rect">
            <a:avLst/>
          </a:prstGeom>
        </p:spPr>
      </p:pic>
    </p:spTree>
    <p:extLst>
      <p:ext uri="{BB962C8B-B14F-4D97-AF65-F5344CB8AC3E}">
        <p14:creationId xmlns:p14="http://schemas.microsoft.com/office/powerpoint/2010/main" val="39433269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C8A0-F70B-41E1-9DA8-29B56DCB6B58}"/>
              </a:ext>
            </a:extLst>
          </p:cNvPr>
          <p:cNvSpPr>
            <a:spLocks noGrp="1"/>
          </p:cNvSpPr>
          <p:nvPr>
            <p:ph type="title"/>
          </p:nvPr>
        </p:nvSpPr>
        <p:spPr/>
        <p:txBody>
          <a:bodyPr/>
          <a:lstStyle/>
          <a:p>
            <a:r>
              <a:rPr lang="zh-CN" altLang="en-US" b="1" dirty="0"/>
              <a:t>图像恢复</a:t>
            </a:r>
            <a:r>
              <a:rPr lang="en-US" altLang="zh-CN" b="1" dirty="0"/>
              <a:t>&amp;</a:t>
            </a:r>
            <a:r>
              <a:rPr lang="zh-CN" altLang="en-US" b="1" dirty="0"/>
              <a:t>增强：</a:t>
            </a:r>
            <a:r>
              <a:rPr lang="zh-CN" altLang="en-US" dirty="0"/>
              <a:t>智能摄像的标配</a:t>
            </a:r>
            <a:endParaRPr lang="zh-CN" altLang="en-US" b="1" dirty="0"/>
          </a:p>
        </p:txBody>
      </p:sp>
      <p:sp>
        <p:nvSpPr>
          <p:cNvPr id="6" name="Content Placeholder 2">
            <a:extLst>
              <a:ext uri="{FF2B5EF4-FFF2-40B4-BE49-F238E27FC236}">
                <a16:creationId xmlns:a16="http://schemas.microsoft.com/office/drawing/2014/main" id="{C133C62F-7C6F-4A5C-97E4-06FB011F4F4C}"/>
              </a:ext>
            </a:extLst>
          </p:cNvPr>
          <p:cNvSpPr>
            <a:spLocks noGrp="1"/>
          </p:cNvSpPr>
          <p:nvPr>
            <p:ph idx="1"/>
          </p:nvPr>
        </p:nvSpPr>
        <p:spPr>
          <a:xfrm>
            <a:off x="838200" y="1825625"/>
            <a:ext cx="5420247" cy="4351338"/>
          </a:xfrm>
        </p:spPr>
        <p:txBody>
          <a:bodyPr>
            <a:normAutofit fontScale="85000" lnSpcReduction="20000"/>
          </a:bodyPr>
          <a:lstStyle/>
          <a:p>
            <a:pPr>
              <a:lnSpc>
                <a:spcPct val="130000"/>
              </a:lnSpc>
            </a:pPr>
            <a:r>
              <a:rPr lang="zh-CN" altLang="en-US" b="1" dirty="0"/>
              <a:t>图像采样过程往往会遇到降质问题</a:t>
            </a:r>
            <a:endParaRPr lang="en-US" altLang="zh-CN" b="1" dirty="0"/>
          </a:p>
          <a:p>
            <a:pPr lvl="1">
              <a:lnSpc>
                <a:spcPct val="130000"/>
              </a:lnSpc>
            </a:pPr>
            <a:r>
              <a:rPr lang="zh-CN" altLang="en-US" dirty="0"/>
              <a:t>常见的降质如右图所示</a:t>
            </a:r>
            <a:endParaRPr lang="en-US" altLang="zh-CN" dirty="0"/>
          </a:p>
          <a:p>
            <a:pPr lvl="2">
              <a:lnSpc>
                <a:spcPct val="130000"/>
              </a:lnSpc>
            </a:pPr>
            <a:r>
              <a:rPr lang="zh-CN" altLang="en-US" dirty="0">
                <a:latin typeface="KaiTi" panose="02010609060101010101" pitchFamily="49" charset="-122"/>
                <a:ea typeface="KaiTi" panose="02010609060101010101" pitchFamily="49" charset="-122"/>
              </a:rPr>
              <a:t>除了这些例子，还有拍照过程的常见问题，如马赛克、反光、摩尔纹，以及雨、雪、雾等天气的影像</a:t>
            </a:r>
            <a:endParaRPr lang="en-US" altLang="zh-CN" dirty="0">
              <a:latin typeface="KaiTi" panose="02010609060101010101" pitchFamily="49" charset="-122"/>
              <a:ea typeface="KaiTi" panose="02010609060101010101" pitchFamily="49" charset="-122"/>
            </a:endParaRPr>
          </a:p>
          <a:p>
            <a:pPr lvl="1">
              <a:lnSpc>
                <a:spcPct val="130000"/>
              </a:lnSpc>
            </a:pPr>
            <a:r>
              <a:rPr lang="zh-CN" altLang="en-US" b="1" dirty="0">
                <a:solidFill>
                  <a:schemeClr val="accent1"/>
                </a:solidFill>
              </a:rPr>
              <a:t>图像恢复</a:t>
            </a:r>
            <a:r>
              <a:rPr lang="en-US" altLang="zh-CN" b="1" dirty="0">
                <a:solidFill>
                  <a:schemeClr val="accent1"/>
                </a:solidFill>
              </a:rPr>
              <a:t>&amp;</a:t>
            </a:r>
            <a:r>
              <a:rPr lang="zh-CN" altLang="en-US" b="1" dirty="0">
                <a:solidFill>
                  <a:schemeClr val="accent1"/>
                </a:solidFill>
              </a:rPr>
              <a:t>增强</a:t>
            </a:r>
            <a:r>
              <a:rPr lang="zh-CN" altLang="en-US" dirty="0"/>
              <a:t>，即将降质图像复原</a:t>
            </a:r>
            <a:endParaRPr lang="en-US" altLang="zh-CN" dirty="0"/>
          </a:p>
          <a:p>
            <a:pPr lvl="1">
              <a:lnSpc>
                <a:spcPct val="130000"/>
              </a:lnSpc>
            </a:pPr>
            <a:r>
              <a:rPr lang="zh-CN" altLang="en-US" dirty="0"/>
              <a:t>相比于识别任务，此类任务的主要难点是在</a:t>
            </a:r>
            <a:r>
              <a:rPr lang="zh-CN" altLang="en-US" dirty="0">
                <a:solidFill>
                  <a:srgbClr val="FF0000"/>
                </a:solidFill>
              </a:rPr>
              <a:t>不完整信息</a:t>
            </a:r>
            <a:r>
              <a:rPr lang="zh-CN" altLang="en-US" dirty="0"/>
              <a:t>下做推断</a:t>
            </a:r>
            <a:endParaRPr lang="en-US" altLang="zh-CN" dirty="0"/>
          </a:p>
          <a:p>
            <a:pPr>
              <a:lnSpc>
                <a:spcPct val="130000"/>
              </a:lnSpc>
            </a:pPr>
            <a:r>
              <a:rPr lang="zh-CN" altLang="en-US" b="1" dirty="0"/>
              <a:t>著名数据集：</a:t>
            </a:r>
            <a:endParaRPr lang="en-US" altLang="zh-CN" b="1" dirty="0"/>
          </a:p>
          <a:p>
            <a:pPr lvl="1">
              <a:lnSpc>
                <a:spcPct val="130000"/>
              </a:lnSpc>
            </a:pPr>
            <a:r>
              <a:rPr lang="zh-CN" altLang="en-US" dirty="0"/>
              <a:t>根据任务而不同，较为分散</a:t>
            </a:r>
            <a:endParaRPr lang="en-US" altLang="zh-CN" dirty="0"/>
          </a:p>
          <a:p>
            <a:pPr lvl="1">
              <a:lnSpc>
                <a:spcPct val="130000"/>
              </a:lnSpc>
            </a:pPr>
            <a:r>
              <a:rPr lang="en-US" altLang="zh-CN" b="1" dirty="0"/>
              <a:t>NTIRE</a:t>
            </a:r>
            <a:r>
              <a:rPr lang="zh-CN" altLang="en-US" b="1" dirty="0"/>
              <a:t>：</a:t>
            </a:r>
            <a:r>
              <a:rPr lang="zh-CN" altLang="en-US" dirty="0"/>
              <a:t>集合多种任务的挑战赛</a:t>
            </a:r>
            <a:endParaRPr lang="en-US" altLang="zh-CN" dirty="0"/>
          </a:p>
        </p:txBody>
      </p:sp>
      <p:sp>
        <p:nvSpPr>
          <p:cNvPr id="7" name="TextBox 6">
            <a:extLst>
              <a:ext uri="{FF2B5EF4-FFF2-40B4-BE49-F238E27FC236}">
                <a16:creationId xmlns:a16="http://schemas.microsoft.com/office/drawing/2014/main" id="{55A970BA-B8DC-42FF-8709-F40832F08D0B}"/>
              </a:ext>
            </a:extLst>
          </p:cNvPr>
          <p:cNvSpPr txBox="1"/>
          <p:nvPr/>
        </p:nvSpPr>
        <p:spPr>
          <a:xfrm>
            <a:off x="10152018" y="6488668"/>
            <a:ext cx="2039982" cy="369332"/>
          </a:xfrm>
          <a:prstGeom prst="rect">
            <a:avLst/>
          </a:prstGeom>
          <a:noFill/>
        </p:spPr>
        <p:txBody>
          <a:bodyPr wrap="none" rtlCol="0">
            <a:spAutoFit/>
          </a:bodyPr>
          <a:lstStyle/>
          <a:p>
            <a:r>
              <a:rPr lang="en-US" altLang="zh-CN" b="1" dirty="0">
                <a:cs typeface="+mn-ea"/>
                <a:sym typeface="+mn-lt"/>
              </a:rPr>
              <a:t>Credits</a:t>
            </a:r>
            <a:r>
              <a:rPr lang="en-US" altLang="zh-CN" dirty="0">
                <a:cs typeface="+mn-ea"/>
                <a:sym typeface="+mn-lt"/>
              </a:rPr>
              <a:t>: </a:t>
            </a:r>
            <a:r>
              <a:rPr lang="en-US" altLang="zh-CN" dirty="0" err="1">
                <a:cs typeface="+mn-ea"/>
                <a:sym typeface="+mn-lt"/>
              </a:rPr>
              <a:t>Lingxi</a:t>
            </a:r>
            <a:r>
              <a:rPr lang="en-US" altLang="zh-CN" dirty="0">
                <a:cs typeface="+mn-ea"/>
                <a:sym typeface="+mn-lt"/>
              </a:rPr>
              <a:t> </a:t>
            </a:r>
            <a:r>
              <a:rPr lang="en-US" altLang="zh-CN" dirty="0" err="1">
                <a:cs typeface="+mn-ea"/>
                <a:sym typeface="+mn-lt"/>
              </a:rPr>
              <a:t>Xie</a:t>
            </a:r>
            <a:endParaRPr lang="zh-CN" altLang="en-US" dirty="0">
              <a:cs typeface="+mn-ea"/>
              <a:sym typeface="+mn-lt"/>
            </a:endParaRPr>
          </a:p>
        </p:txBody>
      </p:sp>
      <p:pic>
        <p:nvPicPr>
          <p:cNvPr id="4" name="Picture 3">
            <a:extLst>
              <a:ext uri="{FF2B5EF4-FFF2-40B4-BE49-F238E27FC236}">
                <a16:creationId xmlns:a16="http://schemas.microsoft.com/office/drawing/2014/main" id="{CED19895-5590-4C49-9C56-30BFBA6A166C}"/>
              </a:ext>
            </a:extLst>
          </p:cNvPr>
          <p:cNvPicPr>
            <a:picLocks noChangeAspect="1"/>
          </p:cNvPicPr>
          <p:nvPr/>
        </p:nvPicPr>
        <p:blipFill>
          <a:blip r:embed="rId3"/>
          <a:stretch>
            <a:fillRect/>
          </a:stretch>
        </p:blipFill>
        <p:spPr>
          <a:xfrm>
            <a:off x="6376138" y="1701795"/>
            <a:ext cx="5746449" cy="4775765"/>
          </a:xfrm>
          <a:prstGeom prst="rect">
            <a:avLst/>
          </a:prstGeom>
        </p:spPr>
      </p:pic>
    </p:spTree>
    <p:extLst>
      <p:ext uri="{BB962C8B-B14F-4D97-AF65-F5344CB8AC3E}">
        <p14:creationId xmlns:p14="http://schemas.microsoft.com/office/powerpoint/2010/main" val="4162727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DBD6C-E460-4274-AA32-E5C8852E4FEE}"/>
              </a:ext>
            </a:extLst>
          </p:cNvPr>
          <p:cNvSpPr>
            <a:spLocks noGrp="1"/>
          </p:cNvSpPr>
          <p:nvPr>
            <p:ph type="title"/>
          </p:nvPr>
        </p:nvSpPr>
        <p:spPr/>
        <p:txBody>
          <a:bodyPr/>
          <a:lstStyle/>
          <a:p>
            <a:r>
              <a:rPr lang="zh-CN" altLang="en-US" b="1" dirty="0"/>
              <a:t>图像生成：从语义产生图像</a:t>
            </a:r>
          </a:p>
        </p:txBody>
      </p:sp>
      <p:sp>
        <p:nvSpPr>
          <p:cNvPr id="3" name="Content Placeholder 2">
            <a:extLst>
              <a:ext uri="{FF2B5EF4-FFF2-40B4-BE49-F238E27FC236}">
                <a16:creationId xmlns:a16="http://schemas.microsoft.com/office/drawing/2014/main" id="{FE5F87E8-FB6C-474D-B878-E3117E91958F}"/>
              </a:ext>
            </a:extLst>
          </p:cNvPr>
          <p:cNvSpPr>
            <a:spLocks noGrp="1"/>
          </p:cNvSpPr>
          <p:nvPr>
            <p:ph idx="1"/>
          </p:nvPr>
        </p:nvSpPr>
        <p:spPr>
          <a:xfrm>
            <a:off x="838200" y="1825625"/>
            <a:ext cx="6612802" cy="4351338"/>
          </a:xfrm>
        </p:spPr>
        <p:txBody>
          <a:bodyPr/>
          <a:lstStyle/>
          <a:p>
            <a:pPr>
              <a:lnSpc>
                <a:spcPct val="120000"/>
              </a:lnSpc>
            </a:pPr>
            <a:r>
              <a:rPr lang="zh-CN" altLang="en-US" b="1" dirty="0"/>
              <a:t>给定语义，产生相应的图像</a:t>
            </a:r>
            <a:r>
              <a:rPr lang="en-US" altLang="zh-CN" b="1" dirty="0"/>
              <a:t>—</a:t>
            </a:r>
            <a:r>
              <a:rPr lang="zh-CN" altLang="en-US" b="1" dirty="0"/>
              <a:t>可以认为是图像识别的反问题</a:t>
            </a:r>
            <a:endParaRPr lang="en-US" altLang="zh-CN" b="1" dirty="0"/>
          </a:p>
          <a:p>
            <a:pPr lvl="1">
              <a:lnSpc>
                <a:spcPct val="120000"/>
              </a:lnSpc>
            </a:pPr>
            <a:r>
              <a:rPr lang="zh-CN" altLang="en-US" dirty="0"/>
              <a:t>相比于识别类任务，生成任务往往需要对语义空间更加深入的理解</a:t>
            </a:r>
            <a:endParaRPr lang="en-US" altLang="zh-CN" dirty="0"/>
          </a:p>
          <a:p>
            <a:pPr lvl="2">
              <a:lnSpc>
                <a:spcPct val="120000"/>
              </a:lnSpc>
            </a:pPr>
            <a:r>
              <a:rPr lang="zh-CN" altLang="en-US" dirty="0">
                <a:solidFill>
                  <a:schemeClr val="accent1"/>
                </a:solidFill>
                <a:latin typeface="KaiTi" panose="02010609060101010101" pitchFamily="49" charset="-122"/>
                <a:ea typeface="KaiTi" panose="02010609060101010101" pitchFamily="49" charset="-122"/>
              </a:rPr>
              <a:t>认出一只猫 </a:t>
            </a:r>
            <a:r>
              <a:rPr lang="en-US" altLang="zh-CN" dirty="0">
                <a:solidFill>
                  <a:schemeClr val="accent1"/>
                </a:solidFill>
                <a:latin typeface="KaiTi" panose="02010609060101010101" pitchFamily="49" charset="-122"/>
                <a:ea typeface="KaiTi" panose="02010609060101010101" pitchFamily="49" charset="-122"/>
              </a:rPr>
              <a:t>vs. </a:t>
            </a:r>
            <a:r>
              <a:rPr lang="zh-CN" altLang="en-US" dirty="0">
                <a:solidFill>
                  <a:schemeClr val="accent1"/>
                </a:solidFill>
                <a:latin typeface="KaiTi" panose="02010609060101010101" pitchFamily="49" charset="-122"/>
                <a:ea typeface="KaiTi" panose="02010609060101010101" pitchFamily="49" charset="-122"/>
              </a:rPr>
              <a:t>画出一只逼真的猫</a:t>
            </a:r>
            <a:endParaRPr lang="en-US" altLang="zh-CN" dirty="0">
              <a:solidFill>
                <a:schemeClr val="accent1"/>
              </a:solidFill>
              <a:latin typeface="KaiTi" panose="02010609060101010101" pitchFamily="49" charset="-122"/>
              <a:ea typeface="KaiTi" panose="02010609060101010101" pitchFamily="49" charset="-122"/>
            </a:endParaRPr>
          </a:p>
          <a:p>
            <a:pPr>
              <a:lnSpc>
                <a:spcPct val="120000"/>
              </a:lnSpc>
            </a:pPr>
            <a:r>
              <a:rPr lang="zh-CN" altLang="en-US" b="1" dirty="0"/>
              <a:t>图像生成任务可以在任何数据集上评估</a:t>
            </a:r>
            <a:endParaRPr lang="en-US" altLang="zh-CN" b="1" dirty="0"/>
          </a:p>
          <a:p>
            <a:pPr lvl="1">
              <a:lnSpc>
                <a:spcPct val="120000"/>
              </a:lnSpc>
            </a:pPr>
            <a:r>
              <a:rPr lang="zh-CN" altLang="en-US" sz="2000" dirty="0">
                <a:latin typeface="KaiTi" panose="02010609060101010101" pitchFamily="49" charset="-122"/>
                <a:ea typeface="KaiTi" panose="02010609060101010101" pitchFamily="49" charset="-122"/>
              </a:rPr>
              <a:t>例如：以</a:t>
            </a:r>
            <a:r>
              <a:rPr lang="en-US" altLang="zh-CN" sz="2000" dirty="0">
                <a:latin typeface="KaiTi" panose="02010609060101010101" pitchFamily="49" charset="-122"/>
                <a:ea typeface="KaiTi" panose="02010609060101010101" pitchFamily="49" charset="-122"/>
              </a:rPr>
              <a:t>ImageNet</a:t>
            </a:r>
            <a:r>
              <a:rPr lang="zh-CN" altLang="en-US" sz="2000" dirty="0">
                <a:latin typeface="KaiTi" panose="02010609060101010101" pitchFamily="49" charset="-122"/>
                <a:ea typeface="KaiTi" panose="02010609060101010101" pitchFamily="49" charset="-122"/>
              </a:rPr>
              <a:t>数据集作为参考，就能够从</a:t>
            </a:r>
            <a:r>
              <a:rPr lang="en-US" altLang="zh-CN" sz="2000" dirty="0">
                <a:latin typeface="KaiTi" panose="02010609060101010101" pitchFamily="49" charset="-122"/>
                <a:ea typeface="KaiTi" panose="02010609060101010101" pitchFamily="49" charset="-122"/>
              </a:rPr>
              <a:t>ImageNet</a:t>
            </a:r>
            <a:r>
              <a:rPr lang="zh-CN" altLang="en-US" sz="2000" dirty="0">
                <a:latin typeface="KaiTi" panose="02010609060101010101" pitchFamily="49" charset="-122"/>
                <a:ea typeface="KaiTi" panose="02010609060101010101" pitchFamily="49" charset="-122"/>
              </a:rPr>
              <a:t>语义空间中采样图片</a:t>
            </a:r>
          </a:p>
        </p:txBody>
      </p:sp>
      <p:pic>
        <p:nvPicPr>
          <p:cNvPr id="4" name="Picture 3">
            <a:extLst>
              <a:ext uri="{FF2B5EF4-FFF2-40B4-BE49-F238E27FC236}">
                <a16:creationId xmlns:a16="http://schemas.microsoft.com/office/drawing/2014/main" id="{48A0A3EE-EEFD-46B6-8C25-CD6CAF249347}"/>
              </a:ext>
            </a:extLst>
          </p:cNvPr>
          <p:cNvPicPr>
            <a:picLocks noChangeAspect="1"/>
          </p:cNvPicPr>
          <p:nvPr/>
        </p:nvPicPr>
        <p:blipFill>
          <a:blip r:embed="rId2"/>
          <a:stretch>
            <a:fillRect/>
          </a:stretch>
        </p:blipFill>
        <p:spPr>
          <a:xfrm>
            <a:off x="7543724" y="1446164"/>
            <a:ext cx="4551705" cy="5024776"/>
          </a:xfrm>
          <a:prstGeom prst="rect">
            <a:avLst/>
          </a:prstGeom>
        </p:spPr>
      </p:pic>
      <p:sp>
        <p:nvSpPr>
          <p:cNvPr id="5" name="TextBox 4">
            <a:extLst>
              <a:ext uri="{FF2B5EF4-FFF2-40B4-BE49-F238E27FC236}">
                <a16:creationId xmlns:a16="http://schemas.microsoft.com/office/drawing/2014/main" id="{20766C13-3996-4FBC-8C43-3C0492F663E0}"/>
              </a:ext>
            </a:extLst>
          </p:cNvPr>
          <p:cNvSpPr txBox="1"/>
          <p:nvPr/>
        </p:nvSpPr>
        <p:spPr>
          <a:xfrm>
            <a:off x="10152018" y="6488668"/>
            <a:ext cx="2039982" cy="369332"/>
          </a:xfrm>
          <a:prstGeom prst="rect">
            <a:avLst/>
          </a:prstGeom>
          <a:noFill/>
        </p:spPr>
        <p:txBody>
          <a:bodyPr wrap="none" rtlCol="0">
            <a:spAutoFit/>
          </a:bodyPr>
          <a:lstStyle/>
          <a:p>
            <a:r>
              <a:rPr lang="en-US" altLang="zh-CN" b="1" dirty="0">
                <a:cs typeface="+mn-ea"/>
                <a:sym typeface="+mn-lt"/>
              </a:rPr>
              <a:t>Credits</a:t>
            </a:r>
            <a:r>
              <a:rPr lang="en-US" altLang="zh-CN" dirty="0">
                <a:cs typeface="+mn-ea"/>
                <a:sym typeface="+mn-lt"/>
              </a:rPr>
              <a:t>: </a:t>
            </a:r>
            <a:r>
              <a:rPr lang="en-US" altLang="zh-CN" dirty="0" err="1">
                <a:cs typeface="+mn-ea"/>
                <a:sym typeface="+mn-lt"/>
              </a:rPr>
              <a:t>Lingxi</a:t>
            </a:r>
            <a:r>
              <a:rPr lang="en-US" altLang="zh-CN" dirty="0">
                <a:cs typeface="+mn-ea"/>
                <a:sym typeface="+mn-lt"/>
              </a:rPr>
              <a:t> </a:t>
            </a:r>
            <a:r>
              <a:rPr lang="en-US" altLang="zh-CN" dirty="0" err="1">
                <a:cs typeface="+mn-ea"/>
                <a:sym typeface="+mn-lt"/>
              </a:rPr>
              <a:t>Xie</a:t>
            </a:r>
            <a:endParaRPr lang="zh-CN" altLang="en-US" dirty="0">
              <a:cs typeface="+mn-ea"/>
              <a:sym typeface="+mn-lt"/>
            </a:endParaRPr>
          </a:p>
        </p:txBody>
      </p:sp>
    </p:spTree>
    <p:extLst>
      <p:ext uri="{BB962C8B-B14F-4D97-AF65-F5344CB8AC3E}">
        <p14:creationId xmlns:p14="http://schemas.microsoft.com/office/powerpoint/2010/main" val="18360223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A132C-AF2C-41E9-9F40-5F36AC0D4009}"/>
              </a:ext>
            </a:extLst>
          </p:cNvPr>
          <p:cNvSpPr>
            <a:spLocks noGrp="1"/>
          </p:cNvSpPr>
          <p:nvPr>
            <p:ph type="title"/>
          </p:nvPr>
        </p:nvSpPr>
        <p:spPr/>
        <p:txBody>
          <a:bodyPr/>
          <a:lstStyle/>
          <a:p>
            <a:r>
              <a:rPr lang="zh-CN" altLang="en-US" b="1" dirty="0"/>
              <a:t>从二维到三维，从静止到动态</a:t>
            </a:r>
          </a:p>
        </p:txBody>
      </p:sp>
      <p:sp>
        <p:nvSpPr>
          <p:cNvPr id="3" name="Content Placeholder 2">
            <a:extLst>
              <a:ext uri="{FF2B5EF4-FFF2-40B4-BE49-F238E27FC236}">
                <a16:creationId xmlns:a16="http://schemas.microsoft.com/office/drawing/2014/main" id="{BC85DD4B-2767-4783-BA66-D53F236BB751}"/>
              </a:ext>
            </a:extLst>
          </p:cNvPr>
          <p:cNvSpPr>
            <a:spLocks noGrp="1"/>
          </p:cNvSpPr>
          <p:nvPr>
            <p:ph idx="1"/>
          </p:nvPr>
        </p:nvSpPr>
        <p:spPr>
          <a:xfrm>
            <a:off x="838200" y="1834679"/>
            <a:ext cx="5770830" cy="4351338"/>
          </a:xfrm>
        </p:spPr>
        <p:txBody>
          <a:bodyPr>
            <a:normAutofit/>
          </a:bodyPr>
          <a:lstStyle/>
          <a:p>
            <a:pPr>
              <a:lnSpc>
                <a:spcPct val="110000"/>
              </a:lnSpc>
            </a:pPr>
            <a:r>
              <a:rPr lang="zh-CN" altLang="en-US" b="1" dirty="0"/>
              <a:t>前面讨论的主要是二维、静止图像</a:t>
            </a:r>
            <a:endParaRPr lang="en-US" altLang="zh-CN" b="1" dirty="0"/>
          </a:p>
          <a:p>
            <a:pPr lvl="1">
              <a:lnSpc>
                <a:spcPct val="110000"/>
              </a:lnSpc>
            </a:pPr>
            <a:r>
              <a:rPr lang="zh-CN" altLang="en-US" dirty="0">
                <a:latin typeface="KaiTi" panose="02010609060101010101" pitchFamily="49" charset="-122"/>
                <a:ea typeface="KaiTi" panose="02010609060101010101" pitchFamily="49" charset="-122"/>
              </a:rPr>
              <a:t>人类生活在三维空间中，并且万物都随时间发生变化</a:t>
            </a:r>
            <a:endParaRPr lang="en-US" altLang="zh-CN" dirty="0">
              <a:latin typeface="KaiTi" panose="02010609060101010101" pitchFamily="49" charset="-122"/>
              <a:ea typeface="KaiTi" panose="02010609060101010101" pitchFamily="49" charset="-122"/>
            </a:endParaRPr>
          </a:p>
          <a:p>
            <a:pPr>
              <a:lnSpc>
                <a:spcPct val="110000"/>
              </a:lnSpc>
            </a:pPr>
            <a:r>
              <a:rPr lang="en-US" altLang="zh-CN" b="1" dirty="0"/>
              <a:t>CV</a:t>
            </a:r>
            <a:r>
              <a:rPr lang="zh-CN" altLang="en-US" b="1" dirty="0"/>
              <a:t>在空间和时间上的扩展</a:t>
            </a:r>
            <a:endParaRPr lang="en-US" altLang="zh-CN" b="1" dirty="0"/>
          </a:p>
          <a:p>
            <a:pPr lvl="1">
              <a:lnSpc>
                <a:spcPct val="110000"/>
              </a:lnSpc>
            </a:pPr>
            <a:r>
              <a:rPr lang="zh-CN" altLang="en-US" b="1" dirty="0"/>
              <a:t>难度显著提升</a:t>
            </a:r>
            <a:endParaRPr lang="en-US" altLang="zh-CN" b="1" dirty="0"/>
          </a:p>
          <a:p>
            <a:pPr lvl="2">
              <a:lnSpc>
                <a:spcPct val="110000"/>
              </a:lnSpc>
            </a:pPr>
            <a:r>
              <a:rPr lang="zh-CN" altLang="en-US" dirty="0">
                <a:latin typeface="KaiTi" panose="02010609060101010101" pitchFamily="49" charset="-122"/>
                <a:ea typeface="KaiTi" panose="02010609060101010101" pitchFamily="49" charset="-122"/>
              </a:rPr>
              <a:t>从</a:t>
            </a:r>
            <a:r>
              <a:rPr lang="zh-CN" altLang="en-US" dirty="0">
                <a:solidFill>
                  <a:srgbClr val="FF0000"/>
                </a:solidFill>
                <a:latin typeface="KaiTi" panose="02010609060101010101" pitchFamily="49" charset="-122"/>
                <a:ea typeface="KaiTi" panose="02010609060101010101" pitchFamily="49" charset="-122"/>
              </a:rPr>
              <a:t>数据</a:t>
            </a:r>
            <a:r>
              <a:rPr lang="zh-CN" altLang="en-US" dirty="0">
                <a:latin typeface="KaiTi" panose="02010609060101010101" pitchFamily="49" charset="-122"/>
                <a:ea typeface="KaiTi" panose="02010609060101010101" pitchFamily="49" charset="-122"/>
              </a:rPr>
              <a:t>角度看，采集和存储成本上升，造成训练、测试数据量显著减少</a:t>
            </a:r>
            <a:endParaRPr lang="en-US" altLang="zh-CN" dirty="0">
              <a:latin typeface="KaiTi" panose="02010609060101010101" pitchFamily="49" charset="-122"/>
              <a:ea typeface="KaiTi" panose="02010609060101010101" pitchFamily="49" charset="-122"/>
            </a:endParaRPr>
          </a:p>
          <a:p>
            <a:pPr lvl="2">
              <a:lnSpc>
                <a:spcPct val="110000"/>
              </a:lnSpc>
            </a:pPr>
            <a:r>
              <a:rPr lang="zh-CN" altLang="en-US" dirty="0">
                <a:latin typeface="KaiTi" panose="02010609060101010101" pitchFamily="49" charset="-122"/>
                <a:ea typeface="KaiTi" panose="02010609060101010101" pitchFamily="49" charset="-122"/>
              </a:rPr>
              <a:t>从</a:t>
            </a:r>
            <a:r>
              <a:rPr lang="zh-CN" altLang="en-US" dirty="0">
                <a:solidFill>
                  <a:srgbClr val="FF0000"/>
                </a:solidFill>
                <a:latin typeface="KaiTi" panose="02010609060101010101" pitchFamily="49" charset="-122"/>
                <a:ea typeface="KaiTi" panose="02010609060101010101" pitchFamily="49" charset="-122"/>
              </a:rPr>
              <a:t>算法</a:t>
            </a:r>
            <a:r>
              <a:rPr lang="zh-CN" altLang="en-US" dirty="0">
                <a:latin typeface="KaiTi" panose="02010609060101010101" pitchFamily="49" charset="-122"/>
                <a:ea typeface="KaiTi" panose="02010609060101010101" pitchFamily="49" charset="-122"/>
              </a:rPr>
              <a:t>角度看，高维数据更复杂，结构化信息更难学习</a:t>
            </a:r>
          </a:p>
        </p:txBody>
      </p:sp>
      <p:pic>
        <p:nvPicPr>
          <p:cNvPr id="4" name="Picture 3">
            <a:extLst>
              <a:ext uri="{FF2B5EF4-FFF2-40B4-BE49-F238E27FC236}">
                <a16:creationId xmlns:a16="http://schemas.microsoft.com/office/drawing/2014/main" id="{D6152D24-FAA3-468C-B6E9-78877CD06417}"/>
              </a:ext>
            </a:extLst>
          </p:cNvPr>
          <p:cNvPicPr>
            <a:picLocks noChangeAspect="1"/>
          </p:cNvPicPr>
          <p:nvPr/>
        </p:nvPicPr>
        <p:blipFill>
          <a:blip r:embed="rId2"/>
          <a:stretch>
            <a:fillRect/>
          </a:stretch>
        </p:blipFill>
        <p:spPr>
          <a:xfrm>
            <a:off x="6865611" y="1711697"/>
            <a:ext cx="4777146" cy="4755961"/>
          </a:xfrm>
          <a:prstGeom prst="rect">
            <a:avLst/>
          </a:prstGeom>
        </p:spPr>
      </p:pic>
      <p:sp>
        <p:nvSpPr>
          <p:cNvPr id="5" name="TextBox 4">
            <a:extLst>
              <a:ext uri="{FF2B5EF4-FFF2-40B4-BE49-F238E27FC236}">
                <a16:creationId xmlns:a16="http://schemas.microsoft.com/office/drawing/2014/main" id="{4BEE3C6E-F92D-474B-B7B2-C5C152C959FA}"/>
              </a:ext>
            </a:extLst>
          </p:cNvPr>
          <p:cNvSpPr txBox="1"/>
          <p:nvPr/>
        </p:nvSpPr>
        <p:spPr>
          <a:xfrm>
            <a:off x="10152018" y="6488668"/>
            <a:ext cx="2039982" cy="369332"/>
          </a:xfrm>
          <a:prstGeom prst="rect">
            <a:avLst/>
          </a:prstGeom>
          <a:noFill/>
        </p:spPr>
        <p:txBody>
          <a:bodyPr wrap="none" rtlCol="0">
            <a:spAutoFit/>
          </a:bodyPr>
          <a:lstStyle/>
          <a:p>
            <a:r>
              <a:rPr lang="en-US" altLang="zh-CN" b="1" dirty="0">
                <a:cs typeface="+mn-ea"/>
                <a:sym typeface="+mn-lt"/>
              </a:rPr>
              <a:t>Credits</a:t>
            </a:r>
            <a:r>
              <a:rPr lang="en-US" altLang="zh-CN" dirty="0">
                <a:cs typeface="+mn-ea"/>
                <a:sym typeface="+mn-lt"/>
              </a:rPr>
              <a:t>: </a:t>
            </a:r>
            <a:r>
              <a:rPr lang="en-US" altLang="zh-CN" dirty="0" err="1">
                <a:cs typeface="+mn-ea"/>
                <a:sym typeface="+mn-lt"/>
              </a:rPr>
              <a:t>Lingxi</a:t>
            </a:r>
            <a:r>
              <a:rPr lang="en-US" altLang="zh-CN" dirty="0">
                <a:cs typeface="+mn-ea"/>
                <a:sym typeface="+mn-lt"/>
              </a:rPr>
              <a:t> </a:t>
            </a:r>
            <a:r>
              <a:rPr lang="en-US" altLang="zh-CN" dirty="0" err="1">
                <a:cs typeface="+mn-ea"/>
                <a:sym typeface="+mn-lt"/>
              </a:rPr>
              <a:t>Xie</a:t>
            </a:r>
            <a:endParaRPr lang="zh-CN" altLang="en-US" dirty="0">
              <a:cs typeface="+mn-ea"/>
              <a:sym typeface="+mn-lt"/>
            </a:endParaRPr>
          </a:p>
        </p:txBody>
      </p:sp>
    </p:spTree>
    <p:extLst>
      <p:ext uri="{BB962C8B-B14F-4D97-AF65-F5344CB8AC3E}">
        <p14:creationId xmlns:p14="http://schemas.microsoft.com/office/powerpoint/2010/main" val="32510441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6491D-E40B-472F-9604-9DBA4F3E495D}"/>
              </a:ext>
            </a:extLst>
          </p:cNvPr>
          <p:cNvSpPr>
            <a:spLocks noGrp="1"/>
          </p:cNvSpPr>
          <p:nvPr>
            <p:ph type="title"/>
          </p:nvPr>
        </p:nvSpPr>
        <p:spPr/>
        <p:txBody>
          <a:bodyPr/>
          <a:lstStyle/>
          <a:p>
            <a:r>
              <a:rPr lang="zh-CN" altLang="en-US" b="1" dirty="0"/>
              <a:t>几何分析：最古老的</a:t>
            </a:r>
            <a:r>
              <a:rPr lang="en-US" altLang="zh-CN" b="1" dirty="0"/>
              <a:t>CV</a:t>
            </a:r>
            <a:r>
              <a:rPr lang="zh-CN" altLang="en-US" b="1" dirty="0"/>
              <a:t>领域之一</a:t>
            </a:r>
          </a:p>
        </p:txBody>
      </p:sp>
      <p:sp>
        <p:nvSpPr>
          <p:cNvPr id="3" name="Content Placeholder 2">
            <a:extLst>
              <a:ext uri="{FF2B5EF4-FFF2-40B4-BE49-F238E27FC236}">
                <a16:creationId xmlns:a16="http://schemas.microsoft.com/office/drawing/2014/main" id="{D0AEC677-2D28-4584-83E4-C4BDAB7FC089}"/>
              </a:ext>
            </a:extLst>
          </p:cNvPr>
          <p:cNvSpPr>
            <a:spLocks noGrp="1"/>
          </p:cNvSpPr>
          <p:nvPr>
            <p:ph idx="1"/>
          </p:nvPr>
        </p:nvSpPr>
        <p:spPr>
          <a:xfrm>
            <a:off x="838199" y="1825625"/>
            <a:ext cx="6712391" cy="4351338"/>
          </a:xfrm>
        </p:spPr>
        <p:txBody>
          <a:bodyPr>
            <a:normAutofit fontScale="92500" lnSpcReduction="10000"/>
          </a:bodyPr>
          <a:lstStyle/>
          <a:p>
            <a:pPr>
              <a:lnSpc>
                <a:spcPct val="110000"/>
              </a:lnSpc>
            </a:pPr>
            <a:r>
              <a:rPr lang="zh-CN" altLang="en-US" b="1" dirty="0">
                <a:solidFill>
                  <a:schemeClr val="accent1"/>
                </a:solidFill>
              </a:rPr>
              <a:t>几何分析</a:t>
            </a:r>
            <a:r>
              <a:rPr lang="zh-CN" altLang="en-US" dirty="0"/>
              <a:t>主要指识别图像结构、物体形状等基本信息</a:t>
            </a:r>
            <a:endParaRPr lang="en-US" altLang="zh-CN" dirty="0"/>
          </a:p>
          <a:p>
            <a:pPr lvl="1">
              <a:lnSpc>
                <a:spcPct val="110000"/>
              </a:lnSpc>
            </a:pPr>
            <a:r>
              <a:rPr lang="zh-CN" altLang="en-US" dirty="0"/>
              <a:t>第一篇</a:t>
            </a:r>
            <a:r>
              <a:rPr lang="en-US" altLang="zh-CN" dirty="0"/>
              <a:t>CV</a:t>
            </a:r>
            <a:r>
              <a:rPr lang="zh-CN" altLang="en-US" dirty="0"/>
              <a:t>博士论文研究几何形状</a:t>
            </a:r>
            <a:endParaRPr lang="en-US" altLang="zh-CN" dirty="0"/>
          </a:p>
          <a:p>
            <a:pPr lvl="1">
              <a:lnSpc>
                <a:spcPct val="110000"/>
              </a:lnSpc>
            </a:pPr>
            <a:r>
              <a:rPr lang="zh-CN" altLang="en-US" dirty="0"/>
              <a:t>一些几何分析问题被一般识别问题取代</a:t>
            </a:r>
            <a:endParaRPr lang="en-US" altLang="zh-CN" dirty="0"/>
          </a:p>
          <a:p>
            <a:pPr lvl="2">
              <a:lnSpc>
                <a:spcPct val="110000"/>
              </a:lnSpc>
            </a:pPr>
            <a:r>
              <a:rPr lang="zh-CN" altLang="en-US" dirty="0">
                <a:latin typeface="KaiTi" panose="02010609060101010101" pitchFamily="49" charset="-122"/>
                <a:ea typeface="KaiTi" panose="02010609060101010101" pitchFamily="49" charset="-122"/>
              </a:rPr>
              <a:t>例</a:t>
            </a:r>
            <a:r>
              <a:rPr lang="en-US" altLang="zh-CN" dirty="0">
                <a:latin typeface="KaiTi" panose="02010609060101010101" pitchFamily="49" charset="-122"/>
                <a:ea typeface="KaiTi" panose="02010609060101010101" pitchFamily="49" charset="-122"/>
              </a:rPr>
              <a:t>1</a:t>
            </a:r>
            <a:r>
              <a:rPr lang="zh-CN" altLang="en-US" dirty="0">
                <a:latin typeface="KaiTi" panose="02010609060101010101" pitchFamily="49" charset="-122"/>
                <a:ea typeface="KaiTi" panose="02010609060101010101" pitchFamily="49" charset="-122"/>
              </a:rPr>
              <a:t>：关键点检测和姿态估计</a:t>
            </a:r>
            <a:endParaRPr lang="en-US" altLang="zh-CN" dirty="0">
              <a:latin typeface="KaiTi" panose="02010609060101010101" pitchFamily="49" charset="-122"/>
              <a:ea typeface="KaiTi" panose="02010609060101010101" pitchFamily="49" charset="-122"/>
            </a:endParaRPr>
          </a:p>
          <a:p>
            <a:pPr lvl="2">
              <a:lnSpc>
                <a:spcPct val="110000"/>
              </a:lnSpc>
            </a:pPr>
            <a:r>
              <a:rPr lang="zh-CN" altLang="en-US" dirty="0">
                <a:latin typeface="KaiTi" panose="02010609060101010101" pitchFamily="49" charset="-122"/>
                <a:ea typeface="KaiTi" panose="02010609060101010101" pitchFamily="49" charset="-122"/>
              </a:rPr>
              <a:t>例</a:t>
            </a:r>
            <a:r>
              <a:rPr lang="en-US" altLang="zh-CN" dirty="0">
                <a:latin typeface="KaiTi" panose="02010609060101010101" pitchFamily="49" charset="-122"/>
                <a:ea typeface="KaiTi" panose="02010609060101010101" pitchFamily="49" charset="-122"/>
              </a:rPr>
              <a:t>2</a:t>
            </a:r>
            <a:r>
              <a:rPr lang="zh-CN" altLang="en-US" dirty="0">
                <a:latin typeface="KaiTi" panose="02010609060101010101" pitchFamily="49" charset="-122"/>
                <a:ea typeface="KaiTi" panose="02010609060101010101" pitchFamily="49" charset="-122"/>
              </a:rPr>
              <a:t>：边缘检测和三维结构分析</a:t>
            </a:r>
            <a:endParaRPr lang="en-US" altLang="zh-CN" dirty="0">
              <a:latin typeface="KaiTi" panose="02010609060101010101" pitchFamily="49" charset="-122"/>
              <a:ea typeface="KaiTi" panose="02010609060101010101" pitchFamily="49" charset="-122"/>
            </a:endParaRPr>
          </a:p>
          <a:p>
            <a:pPr lvl="2">
              <a:lnSpc>
                <a:spcPct val="110000"/>
              </a:lnSpc>
            </a:pPr>
            <a:r>
              <a:rPr lang="zh-CN" altLang="en-US" dirty="0">
                <a:latin typeface="KaiTi" panose="02010609060101010101" pitchFamily="49" charset="-122"/>
                <a:ea typeface="KaiTi" panose="02010609060101010101" pitchFamily="49" charset="-122"/>
              </a:rPr>
              <a:t>例</a:t>
            </a:r>
            <a:r>
              <a:rPr lang="en-US" altLang="zh-CN" dirty="0">
                <a:latin typeface="KaiTi" panose="02010609060101010101" pitchFamily="49" charset="-122"/>
                <a:ea typeface="KaiTi" panose="02010609060101010101" pitchFamily="49" charset="-122"/>
              </a:rPr>
              <a:t>3</a:t>
            </a:r>
            <a:r>
              <a:rPr lang="zh-CN" altLang="en-US" dirty="0">
                <a:latin typeface="KaiTi" panose="02010609060101010101" pitchFamily="49" charset="-122"/>
                <a:ea typeface="KaiTi" panose="02010609060101010101" pitchFamily="49" charset="-122"/>
              </a:rPr>
              <a:t>：关键点匹配和仿射变换分析</a:t>
            </a:r>
            <a:endParaRPr lang="en-US" altLang="zh-CN" dirty="0">
              <a:latin typeface="KaiTi" panose="02010609060101010101" pitchFamily="49" charset="-122"/>
              <a:ea typeface="KaiTi" panose="02010609060101010101" pitchFamily="49" charset="-122"/>
            </a:endParaRPr>
          </a:p>
          <a:p>
            <a:pPr lvl="1">
              <a:lnSpc>
                <a:spcPct val="110000"/>
              </a:lnSpc>
            </a:pPr>
            <a:r>
              <a:rPr lang="zh-CN" altLang="en-US" dirty="0"/>
              <a:t>许多几何分析问题仍然发挥重要作用</a:t>
            </a:r>
            <a:endParaRPr lang="en-US" altLang="zh-CN" dirty="0"/>
          </a:p>
          <a:p>
            <a:pPr lvl="2">
              <a:lnSpc>
                <a:spcPct val="110000"/>
              </a:lnSpc>
            </a:pPr>
            <a:r>
              <a:rPr lang="zh-CN" altLang="en-US" dirty="0">
                <a:latin typeface="KaiTi" panose="02010609060101010101" pitchFamily="49" charset="-122"/>
                <a:ea typeface="KaiTi" panose="02010609060101010101" pitchFamily="49" charset="-122"/>
              </a:rPr>
              <a:t>例</a:t>
            </a:r>
            <a:r>
              <a:rPr lang="en-US" altLang="zh-CN" dirty="0">
                <a:latin typeface="KaiTi" panose="02010609060101010101" pitchFamily="49" charset="-122"/>
                <a:ea typeface="KaiTi" panose="02010609060101010101" pitchFamily="49" charset="-122"/>
              </a:rPr>
              <a:t>1</a:t>
            </a:r>
            <a:r>
              <a:rPr lang="zh-CN" altLang="en-US" dirty="0">
                <a:latin typeface="KaiTi" panose="02010609060101010101" pitchFamily="49" charset="-122"/>
                <a:ea typeface="KaiTi" panose="02010609060101010101" pitchFamily="49" charset="-122"/>
              </a:rPr>
              <a:t>：摄像机标定、地平线和消失点检测</a:t>
            </a:r>
            <a:endParaRPr lang="en-US" altLang="zh-CN" dirty="0">
              <a:latin typeface="KaiTi" panose="02010609060101010101" pitchFamily="49" charset="-122"/>
              <a:ea typeface="KaiTi" panose="02010609060101010101" pitchFamily="49" charset="-122"/>
            </a:endParaRPr>
          </a:p>
          <a:p>
            <a:pPr lvl="2">
              <a:lnSpc>
                <a:spcPct val="110000"/>
              </a:lnSpc>
            </a:pPr>
            <a:r>
              <a:rPr lang="zh-CN" altLang="en-US" dirty="0">
                <a:latin typeface="KaiTi" panose="02010609060101010101" pitchFamily="49" charset="-122"/>
                <a:ea typeface="KaiTi" panose="02010609060101010101" pitchFamily="49" charset="-122"/>
              </a:rPr>
              <a:t>例</a:t>
            </a:r>
            <a:r>
              <a:rPr lang="en-US" altLang="zh-CN" dirty="0">
                <a:latin typeface="KaiTi" panose="02010609060101010101" pitchFamily="49" charset="-122"/>
                <a:ea typeface="KaiTi" panose="02010609060101010101" pitchFamily="49" charset="-122"/>
              </a:rPr>
              <a:t>2</a:t>
            </a:r>
            <a:r>
              <a:rPr lang="zh-CN" altLang="en-US" dirty="0">
                <a:latin typeface="KaiTi" panose="02010609060101010101" pitchFamily="49" charset="-122"/>
                <a:ea typeface="KaiTi" panose="02010609060101010101" pitchFamily="49" charset="-122"/>
              </a:rPr>
              <a:t>：双目视觉和图像合成</a:t>
            </a:r>
            <a:endParaRPr lang="en-US" altLang="zh-CN" dirty="0">
              <a:latin typeface="KaiTi" panose="02010609060101010101" pitchFamily="49" charset="-122"/>
              <a:ea typeface="KaiTi" panose="02010609060101010101" pitchFamily="49" charset="-122"/>
            </a:endParaRPr>
          </a:p>
          <a:p>
            <a:pPr lvl="2">
              <a:lnSpc>
                <a:spcPct val="110000"/>
              </a:lnSpc>
            </a:pPr>
            <a:r>
              <a:rPr lang="zh-CN" altLang="en-US" dirty="0">
                <a:latin typeface="KaiTi" panose="02010609060101010101" pitchFamily="49" charset="-122"/>
                <a:ea typeface="KaiTi" panose="02010609060101010101" pitchFamily="49" charset="-122"/>
              </a:rPr>
              <a:t>例</a:t>
            </a:r>
            <a:r>
              <a:rPr lang="en-US" altLang="zh-CN" dirty="0">
                <a:latin typeface="KaiTi" panose="02010609060101010101" pitchFamily="49" charset="-122"/>
                <a:ea typeface="KaiTi" panose="02010609060101010101" pitchFamily="49" charset="-122"/>
              </a:rPr>
              <a:t>3</a:t>
            </a:r>
            <a:r>
              <a:rPr lang="zh-CN" altLang="en-US" dirty="0">
                <a:latin typeface="KaiTi" panose="02010609060101010101" pitchFamily="49" charset="-122"/>
                <a:ea typeface="KaiTi" panose="02010609060101010101" pitchFamily="49" charset="-122"/>
              </a:rPr>
              <a:t>：运动推断结构：</a:t>
            </a:r>
            <a:r>
              <a:rPr lang="en-US" altLang="zh-CN" dirty="0" err="1">
                <a:latin typeface="KaiTi" panose="02010609060101010101" pitchFamily="49" charset="-122"/>
                <a:ea typeface="KaiTi" panose="02010609060101010101" pitchFamily="49" charset="-122"/>
              </a:rPr>
              <a:t>SfM</a:t>
            </a:r>
            <a:r>
              <a:rPr lang="zh-CN" altLang="en-US" dirty="0">
                <a:latin typeface="KaiTi" panose="02010609060101010101" pitchFamily="49" charset="-122"/>
                <a:ea typeface="KaiTi" panose="02010609060101010101" pitchFamily="49" charset="-122"/>
              </a:rPr>
              <a:t>与</a:t>
            </a:r>
            <a:r>
              <a:rPr lang="en-US" altLang="zh-CN" dirty="0">
                <a:latin typeface="KaiTi" panose="02010609060101010101" pitchFamily="49" charset="-122"/>
                <a:ea typeface="KaiTi" panose="02010609060101010101" pitchFamily="49" charset="-122"/>
              </a:rPr>
              <a:t>SLAM</a:t>
            </a:r>
            <a:endParaRPr lang="zh-CN" altLang="en-US" dirty="0">
              <a:latin typeface="KaiTi" panose="02010609060101010101" pitchFamily="49" charset="-122"/>
              <a:ea typeface="KaiTi" panose="02010609060101010101" pitchFamily="49" charset="-122"/>
            </a:endParaRPr>
          </a:p>
        </p:txBody>
      </p:sp>
      <p:pic>
        <p:nvPicPr>
          <p:cNvPr id="4" name="Picture 3">
            <a:extLst>
              <a:ext uri="{FF2B5EF4-FFF2-40B4-BE49-F238E27FC236}">
                <a16:creationId xmlns:a16="http://schemas.microsoft.com/office/drawing/2014/main" id="{CECCDAC0-813A-4310-BC5F-7BF917FFE44D}"/>
              </a:ext>
            </a:extLst>
          </p:cNvPr>
          <p:cNvPicPr>
            <a:picLocks noChangeAspect="1"/>
          </p:cNvPicPr>
          <p:nvPr/>
        </p:nvPicPr>
        <p:blipFill>
          <a:blip r:embed="rId3"/>
          <a:stretch>
            <a:fillRect/>
          </a:stretch>
        </p:blipFill>
        <p:spPr>
          <a:xfrm>
            <a:off x="7740061" y="1574978"/>
            <a:ext cx="4310101" cy="4852631"/>
          </a:xfrm>
          <a:prstGeom prst="rect">
            <a:avLst/>
          </a:prstGeom>
        </p:spPr>
      </p:pic>
      <p:sp>
        <p:nvSpPr>
          <p:cNvPr id="5" name="TextBox 4">
            <a:extLst>
              <a:ext uri="{FF2B5EF4-FFF2-40B4-BE49-F238E27FC236}">
                <a16:creationId xmlns:a16="http://schemas.microsoft.com/office/drawing/2014/main" id="{5A132243-A34E-48C3-A4E1-0F91662FDC02}"/>
              </a:ext>
            </a:extLst>
          </p:cNvPr>
          <p:cNvSpPr txBox="1"/>
          <p:nvPr/>
        </p:nvSpPr>
        <p:spPr>
          <a:xfrm>
            <a:off x="10152018" y="6488668"/>
            <a:ext cx="2039982" cy="369332"/>
          </a:xfrm>
          <a:prstGeom prst="rect">
            <a:avLst/>
          </a:prstGeom>
          <a:noFill/>
        </p:spPr>
        <p:txBody>
          <a:bodyPr wrap="none" rtlCol="0">
            <a:spAutoFit/>
          </a:bodyPr>
          <a:lstStyle/>
          <a:p>
            <a:r>
              <a:rPr lang="en-US" altLang="zh-CN" b="1" dirty="0">
                <a:cs typeface="+mn-ea"/>
                <a:sym typeface="+mn-lt"/>
              </a:rPr>
              <a:t>Credits</a:t>
            </a:r>
            <a:r>
              <a:rPr lang="en-US" altLang="zh-CN" dirty="0">
                <a:cs typeface="+mn-ea"/>
                <a:sym typeface="+mn-lt"/>
              </a:rPr>
              <a:t>: </a:t>
            </a:r>
            <a:r>
              <a:rPr lang="en-US" altLang="zh-CN" dirty="0" err="1">
                <a:cs typeface="+mn-ea"/>
                <a:sym typeface="+mn-lt"/>
              </a:rPr>
              <a:t>Lingxi</a:t>
            </a:r>
            <a:r>
              <a:rPr lang="en-US" altLang="zh-CN" dirty="0">
                <a:cs typeface="+mn-ea"/>
                <a:sym typeface="+mn-lt"/>
              </a:rPr>
              <a:t> </a:t>
            </a:r>
            <a:r>
              <a:rPr lang="en-US" altLang="zh-CN" dirty="0" err="1">
                <a:cs typeface="+mn-ea"/>
                <a:sym typeface="+mn-lt"/>
              </a:rPr>
              <a:t>Xie</a:t>
            </a:r>
            <a:endParaRPr lang="zh-CN" altLang="en-US" dirty="0">
              <a:cs typeface="+mn-ea"/>
              <a:sym typeface="+mn-lt"/>
            </a:endParaRPr>
          </a:p>
        </p:txBody>
      </p:sp>
    </p:spTree>
    <p:extLst>
      <p:ext uri="{BB962C8B-B14F-4D97-AF65-F5344CB8AC3E}">
        <p14:creationId xmlns:p14="http://schemas.microsoft.com/office/powerpoint/2010/main" val="2522605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47BCC-04A7-4780-AA27-D693207F8EF8}"/>
              </a:ext>
            </a:extLst>
          </p:cNvPr>
          <p:cNvSpPr>
            <a:spLocks noGrp="1"/>
          </p:cNvSpPr>
          <p:nvPr>
            <p:ph type="title"/>
          </p:nvPr>
        </p:nvSpPr>
        <p:spPr/>
        <p:txBody>
          <a:bodyPr/>
          <a:lstStyle/>
          <a:p>
            <a:r>
              <a:rPr lang="zh-CN" altLang="en-US" b="1" dirty="0"/>
              <a:t>三维视觉：更接近人类的理解方式</a:t>
            </a:r>
          </a:p>
        </p:txBody>
      </p:sp>
      <p:sp>
        <p:nvSpPr>
          <p:cNvPr id="3" name="Content Placeholder 2">
            <a:extLst>
              <a:ext uri="{FF2B5EF4-FFF2-40B4-BE49-F238E27FC236}">
                <a16:creationId xmlns:a16="http://schemas.microsoft.com/office/drawing/2014/main" id="{1EBC3D46-05A0-4576-B123-CF7ED8920994}"/>
              </a:ext>
            </a:extLst>
          </p:cNvPr>
          <p:cNvSpPr>
            <a:spLocks noGrp="1"/>
          </p:cNvSpPr>
          <p:nvPr>
            <p:ph idx="1"/>
          </p:nvPr>
        </p:nvSpPr>
        <p:spPr>
          <a:xfrm>
            <a:off x="838200" y="1825625"/>
            <a:ext cx="6458893" cy="4351338"/>
          </a:xfrm>
        </p:spPr>
        <p:txBody>
          <a:bodyPr>
            <a:normAutofit lnSpcReduction="10000"/>
          </a:bodyPr>
          <a:lstStyle/>
          <a:p>
            <a:pPr>
              <a:lnSpc>
                <a:spcPct val="110000"/>
              </a:lnSpc>
            </a:pPr>
            <a:r>
              <a:rPr lang="zh-CN" altLang="en-US" dirty="0"/>
              <a:t>引入空间深度信息，缓解病态问题</a:t>
            </a:r>
            <a:endParaRPr lang="en-US" altLang="zh-CN" dirty="0"/>
          </a:p>
          <a:p>
            <a:pPr lvl="1">
              <a:lnSpc>
                <a:spcPct val="110000"/>
              </a:lnSpc>
            </a:pPr>
            <a:r>
              <a:rPr lang="zh-CN" altLang="en-US" dirty="0">
                <a:latin typeface="KaiTi" panose="02010609060101010101" pitchFamily="49" charset="-122"/>
                <a:ea typeface="KaiTi" panose="02010609060101010101" pitchFamily="49" charset="-122"/>
              </a:rPr>
              <a:t>大部分图像采集设备只能感知二维信息，因此三维信号大多来源于重建</a:t>
            </a:r>
            <a:endParaRPr lang="en-US" altLang="zh-CN" dirty="0">
              <a:latin typeface="KaiTi" panose="02010609060101010101" pitchFamily="49" charset="-122"/>
              <a:ea typeface="KaiTi" panose="02010609060101010101" pitchFamily="49" charset="-122"/>
            </a:endParaRPr>
          </a:p>
          <a:p>
            <a:pPr lvl="1">
              <a:lnSpc>
                <a:spcPct val="110000"/>
              </a:lnSpc>
            </a:pPr>
            <a:r>
              <a:rPr lang="zh-CN" altLang="en-US" dirty="0">
                <a:latin typeface="KaiTi" panose="02010609060101010101" pitchFamily="49" charset="-122"/>
                <a:ea typeface="KaiTi" panose="02010609060101010101" pitchFamily="49" charset="-122"/>
              </a:rPr>
              <a:t>三维重建与几何分析密切相关</a:t>
            </a:r>
            <a:endParaRPr lang="en-US" altLang="zh-CN" dirty="0">
              <a:latin typeface="KaiTi" panose="02010609060101010101" pitchFamily="49" charset="-122"/>
              <a:ea typeface="KaiTi" panose="02010609060101010101" pitchFamily="49" charset="-122"/>
            </a:endParaRPr>
          </a:p>
          <a:p>
            <a:pPr>
              <a:lnSpc>
                <a:spcPct val="110000"/>
              </a:lnSpc>
            </a:pPr>
            <a:r>
              <a:rPr lang="zh-CN" altLang="en-US" dirty="0"/>
              <a:t>基于三维信号，可以重新定义识别、生成等问题，难度更大</a:t>
            </a:r>
            <a:endParaRPr lang="en-US" altLang="zh-CN" dirty="0"/>
          </a:p>
          <a:p>
            <a:pPr lvl="1">
              <a:lnSpc>
                <a:spcPct val="110000"/>
              </a:lnSpc>
            </a:pPr>
            <a:r>
              <a:rPr lang="zh-CN" altLang="en-US" dirty="0">
                <a:latin typeface="KaiTi" panose="02010609060101010101" pitchFamily="49" charset="-122"/>
                <a:ea typeface="KaiTi" panose="02010609060101010101" pitchFamily="49" charset="-122"/>
              </a:rPr>
              <a:t>稀疏表示：主要来源于多传感器融合</a:t>
            </a:r>
            <a:endParaRPr lang="en-US" altLang="zh-CN" dirty="0">
              <a:latin typeface="KaiTi" panose="02010609060101010101" pitchFamily="49" charset="-122"/>
              <a:ea typeface="KaiTi" panose="02010609060101010101" pitchFamily="49" charset="-122"/>
            </a:endParaRPr>
          </a:p>
          <a:p>
            <a:pPr lvl="2">
              <a:lnSpc>
                <a:spcPct val="110000"/>
              </a:lnSpc>
            </a:pPr>
            <a:r>
              <a:rPr lang="zh-CN" altLang="en-US" dirty="0">
                <a:latin typeface="KaiTi" panose="02010609060101010101" pitchFamily="49" charset="-122"/>
                <a:ea typeface="KaiTi" panose="02010609060101010101" pitchFamily="49" charset="-122"/>
              </a:rPr>
              <a:t>典型案例：网格、点云、</a:t>
            </a:r>
            <a:r>
              <a:rPr lang="en-US" altLang="zh-CN" dirty="0">
                <a:latin typeface="KaiTi" panose="02010609060101010101" pitchFamily="49" charset="-122"/>
                <a:ea typeface="KaiTi" panose="02010609060101010101" pitchFamily="49" charset="-122"/>
              </a:rPr>
              <a:t>LiDAR</a:t>
            </a:r>
            <a:r>
              <a:rPr lang="zh-CN" altLang="en-US" dirty="0">
                <a:latin typeface="KaiTi" panose="02010609060101010101" pitchFamily="49" charset="-122"/>
                <a:ea typeface="KaiTi" panose="02010609060101010101" pitchFamily="49" charset="-122"/>
              </a:rPr>
              <a:t>等</a:t>
            </a:r>
            <a:endParaRPr lang="en-US" altLang="zh-CN" dirty="0">
              <a:latin typeface="KaiTi" panose="02010609060101010101" pitchFamily="49" charset="-122"/>
              <a:ea typeface="KaiTi" panose="02010609060101010101" pitchFamily="49" charset="-122"/>
            </a:endParaRPr>
          </a:p>
          <a:p>
            <a:pPr lvl="1">
              <a:lnSpc>
                <a:spcPct val="110000"/>
              </a:lnSpc>
            </a:pPr>
            <a:r>
              <a:rPr lang="zh-CN" altLang="en-US" dirty="0">
                <a:latin typeface="KaiTi" panose="02010609060101010101" pitchFamily="49" charset="-122"/>
                <a:ea typeface="KaiTi" panose="02010609060101010101" pitchFamily="49" charset="-122"/>
              </a:rPr>
              <a:t>密集表示：主要来源于密集采样</a:t>
            </a:r>
            <a:endParaRPr lang="en-US" altLang="zh-CN" dirty="0">
              <a:latin typeface="KaiTi" panose="02010609060101010101" pitchFamily="49" charset="-122"/>
              <a:ea typeface="KaiTi" panose="02010609060101010101" pitchFamily="49" charset="-122"/>
            </a:endParaRPr>
          </a:p>
          <a:p>
            <a:pPr lvl="2">
              <a:lnSpc>
                <a:spcPct val="110000"/>
              </a:lnSpc>
            </a:pPr>
            <a:r>
              <a:rPr lang="zh-CN" altLang="en-US" dirty="0">
                <a:latin typeface="KaiTi" panose="02010609060101010101" pitchFamily="49" charset="-122"/>
                <a:ea typeface="KaiTi" panose="02010609060101010101" pitchFamily="49" charset="-122"/>
              </a:rPr>
              <a:t>典型例子：医疗影像（如</a:t>
            </a:r>
            <a:r>
              <a:rPr lang="en-US" altLang="zh-CN" dirty="0">
                <a:latin typeface="KaiTi" panose="02010609060101010101" pitchFamily="49" charset="-122"/>
                <a:ea typeface="KaiTi" panose="02010609060101010101" pitchFamily="49" charset="-122"/>
              </a:rPr>
              <a:t>CT</a:t>
            </a:r>
            <a:r>
              <a:rPr lang="zh-CN" altLang="en-US" dirty="0">
                <a:latin typeface="KaiTi" panose="02010609060101010101" pitchFamily="49" charset="-122"/>
                <a:ea typeface="KaiTi" panose="02010609060101010101" pitchFamily="49" charset="-122"/>
              </a:rPr>
              <a:t>、</a:t>
            </a:r>
            <a:r>
              <a:rPr lang="en-US" altLang="zh-CN" dirty="0">
                <a:latin typeface="KaiTi" panose="02010609060101010101" pitchFamily="49" charset="-122"/>
                <a:ea typeface="KaiTi" panose="02010609060101010101" pitchFamily="49" charset="-122"/>
              </a:rPr>
              <a:t>MRI</a:t>
            </a:r>
            <a:r>
              <a:rPr lang="zh-CN" altLang="en-US" dirty="0">
                <a:latin typeface="KaiTi" panose="02010609060101010101" pitchFamily="49" charset="-122"/>
                <a:ea typeface="KaiTi" panose="02010609060101010101" pitchFamily="49" charset="-122"/>
              </a:rPr>
              <a:t>扫描）</a:t>
            </a:r>
          </a:p>
        </p:txBody>
      </p:sp>
      <p:sp>
        <p:nvSpPr>
          <p:cNvPr id="4" name="TextBox 3">
            <a:extLst>
              <a:ext uri="{FF2B5EF4-FFF2-40B4-BE49-F238E27FC236}">
                <a16:creationId xmlns:a16="http://schemas.microsoft.com/office/drawing/2014/main" id="{A2800A15-6CC7-488E-BCB0-B3DBE6D2A18E}"/>
              </a:ext>
            </a:extLst>
          </p:cNvPr>
          <p:cNvSpPr txBox="1"/>
          <p:nvPr/>
        </p:nvSpPr>
        <p:spPr>
          <a:xfrm>
            <a:off x="10152018" y="6488668"/>
            <a:ext cx="2039982" cy="369332"/>
          </a:xfrm>
          <a:prstGeom prst="rect">
            <a:avLst/>
          </a:prstGeom>
          <a:noFill/>
        </p:spPr>
        <p:txBody>
          <a:bodyPr wrap="none" rtlCol="0">
            <a:spAutoFit/>
          </a:bodyPr>
          <a:lstStyle/>
          <a:p>
            <a:r>
              <a:rPr lang="en-US" altLang="zh-CN" b="1" dirty="0">
                <a:cs typeface="+mn-ea"/>
                <a:sym typeface="+mn-lt"/>
              </a:rPr>
              <a:t>Credits</a:t>
            </a:r>
            <a:r>
              <a:rPr lang="en-US" altLang="zh-CN" dirty="0">
                <a:cs typeface="+mn-ea"/>
                <a:sym typeface="+mn-lt"/>
              </a:rPr>
              <a:t>: </a:t>
            </a:r>
            <a:r>
              <a:rPr lang="en-US" altLang="zh-CN" dirty="0" err="1">
                <a:cs typeface="+mn-ea"/>
                <a:sym typeface="+mn-lt"/>
              </a:rPr>
              <a:t>Lingxi</a:t>
            </a:r>
            <a:r>
              <a:rPr lang="en-US" altLang="zh-CN" dirty="0">
                <a:cs typeface="+mn-ea"/>
                <a:sym typeface="+mn-lt"/>
              </a:rPr>
              <a:t> </a:t>
            </a:r>
            <a:r>
              <a:rPr lang="en-US" altLang="zh-CN" dirty="0" err="1">
                <a:cs typeface="+mn-ea"/>
                <a:sym typeface="+mn-lt"/>
              </a:rPr>
              <a:t>Xie</a:t>
            </a:r>
            <a:endParaRPr lang="zh-CN" altLang="en-US" dirty="0">
              <a:cs typeface="+mn-ea"/>
              <a:sym typeface="+mn-lt"/>
            </a:endParaRPr>
          </a:p>
        </p:txBody>
      </p:sp>
      <p:pic>
        <p:nvPicPr>
          <p:cNvPr id="5" name="Picture 4">
            <a:extLst>
              <a:ext uri="{FF2B5EF4-FFF2-40B4-BE49-F238E27FC236}">
                <a16:creationId xmlns:a16="http://schemas.microsoft.com/office/drawing/2014/main" id="{32514D31-AF92-43DE-A952-E08D0D9728BC}"/>
              </a:ext>
            </a:extLst>
          </p:cNvPr>
          <p:cNvPicPr>
            <a:picLocks noChangeAspect="1"/>
          </p:cNvPicPr>
          <p:nvPr/>
        </p:nvPicPr>
        <p:blipFill>
          <a:blip r:embed="rId2"/>
          <a:stretch>
            <a:fillRect/>
          </a:stretch>
        </p:blipFill>
        <p:spPr>
          <a:xfrm>
            <a:off x="7794088" y="1648062"/>
            <a:ext cx="3731728" cy="4883233"/>
          </a:xfrm>
          <a:prstGeom prst="rect">
            <a:avLst/>
          </a:prstGeom>
        </p:spPr>
      </p:pic>
    </p:spTree>
    <p:extLst>
      <p:ext uri="{BB962C8B-B14F-4D97-AF65-F5344CB8AC3E}">
        <p14:creationId xmlns:p14="http://schemas.microsoft.com/office/powerpoint/2010/main" val="215477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B34CE-4B05-48E1-BDF5-D6081A7DA5F6}"/>
              </a:ext>
            </a:extLst>
          </p:cNvPr>
          <p:cNvSpPr>
            <a:spLocks noGrp="1"/>
          </p:cNvSpPr>
          <p:nvPr>
            <p:ph type="title"/>
          </p:nvPr>
        </p:nvSpPr>
        <p:spPr/>
        <p:txBody>
          <a:bodyPr/>
          <a:lstStyle/>
          <a:p>
            <a:r>
              <a:rPr lang="zh-CN" altLang="en-US" b="1" dirty="0"/>
              <a:t>视频理解和生成：</a:t>
            </a:r>
            <a:r>
              <a:rPr lang="zh-CN" altLang="en-US" dirty="0"/>
              <a:t>结合时空信息</a:t>
            </a:r>
          </a:p>
        </p:txBody>
      </p:sp>
      <p:sp>
        <p:nvSpPr>
          <p:cNvPr id="3" name="Content Placeholder 2">
            <a:extLst>
              <a:ext uri="{FF2B5EF4-FFF2-40B4-BE49-F238E27FC236}">
                <a16:creationId xmlns:a16="http://schemas.microsoft.com/office/drawing/2014/main" id="{94E0E261-DF77-44D0-AD3E-A70C26EB6A11}"/>
              </a:ext>
            </a:extLst>
          </p:cNvPr>
          <p:cNvSpPr>
            <a:spLocks noGrp="1"/>
          </p:cNvSpPr>
          <p:nvPr>
            <p:ph idx="1"/>
          </p:nvPr>
        </p:nvSpPr>
        <p:spPr>
          <a:xfrm>
            <a:off x="838200" y="1825625"/>
            <a:ext cx="6784818" cy="4351338"/>
          </a:xfrm>
        </p:spPr>
        <p:txBody>
          <a:bodyPr>
            <a:normAutofit fontScale="92500" lnSpcReduction="10000"/>
          </a:bodyPr>
          <a:lstStyle/>
          <a:p>
            <a:pPr>
              <a:lnSpc>
                <a:spcPct val="110000"/>
              </a:lnSpc>
            </a:pPr>
            <a:r>
              <a:rPr lang="zh-CN" altLang="en-US" b="1" dirty="0"/>
              <a:t>引入时序信息，更好地理解逻辑</a:t>
            </a:r>
            <a:endParaRPr lang="en-US" altLang="zh-CN" b="1" dirty="0"/>
          </a:p>
          <a:p>
            <a:pPr lvl="1">
              <a:lnSpc>
                <a:spcPct val="110000"/>
              </a:lnSpc>
            </a:pPr>
            <a:r>
              <a:rPr lang="zh-CN" altLang="en-US" dirty="0">
                <a:latin typeface="KaiTi" panose="02010609060101010101" pitchFamily="49" charset="-122"/>
                <a:ea typeface="KaiTi" panose="02010609060101010101" pitchFamily="49" charset="-122"/>
              </a:rPr>
              <a:t>视频信号可以很方便地被记录下来</a:t>
            </a:r>
            <a:endParaRPr lang="en-US" altLang="zh-CN" dirty="0">
              <a:latin typeface="KaiTi" panose="02010609060101010101" pitchFamily="49" charset="-122"/>
              <a:ea typeface="KaiTi" panose="02010609060101010101" pitchFamily="49" charset="-122"/>
            </a:endParaRPr>
          </a:p>
          <a:p>
            <a:pPr lvl="1">
              <a:lnSpc>
                <a:spcPct val="110000"/>
              </a:lnSpc>
            </a:pPr>
            <a:r>
              <a:rPr lang="zh-CN" altLang="en-US" dirty="0">
                <a:latin typeface="KaiTi" panose="02010609060101010101" pitchFamily="49" charset="-122"/>
                <a:ea typeface="KaiTi" panose="02010609060101010101" pitchFamily="49" charset="-122"/>
              </a:rPr>
              <a:t>比起图像信号，视频信号的语义密度更低，结构化信息（尤其是时序逻辑）更难以学习</a:t>
            </a:r>
            <a:endParaRPr lang="en-US" altLang="zh-CN" dirty="0">
              <a:latin typeface="KaiTi" panose="02010609060101010101" pitchFamily="49" charset="-122"/>
              <a:ea typeface="KaiTi" panose="02010609060101010101" pitchFamily="49" charset="-122"/>
            </a:endParaRPr>
          </a:p>
          <a:p>
            <a:pPr>
              <a:lnSpc>
                <a:spcPct val="110000"/>
              </a:lnSpc>
            </a:pPr>
            <a:r>
              <a:rPr lang="zh-CN" altLang="en-US" b="1" dirty="0"/>
              <a:t>典型问题和数据集</a:t>
            </a:r>
            <a:endParaRPr lang="en-US" altLang="zh-CN" b="1" dirty="0"/>
          </a:p>
          <a:p>
            <a:pPr lvl="1">
              <a:lnSpc>
                <a:spcPct val="110000"/>
              </a:lnSpc>
            </a:pPr>
            <a:r>
              <a:rPr lang="zh-CN" altLang="en-US" dirty="0">
                <a:latin typeface="KaiTi" panose="02010609060101010101" pitchFamily="49" charset="-122"/>
                <a:ea typeface="KaiTi" panose="02010609060101010101" pitchFamily="49" charset="-122"/>
              </a:rPr>
              <a:t>视频分类</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动作分类：最基础的识别任务</a:t>
            </a:r>
            <a:endParaRPr lang="en-US" altLang="zh-CN" dirty="0">
              <a:latin typeface="KaiTi" panose="02010609060101010101" pitchFamily="49" charset="-122"/>
              <a:ea typeface="KaiTi" panose="02010609060101010101" pitchFamily="49" charset="-122"/>
            </a:endParaRPr>
          </a:p>
          <a:p>
            <a:pPr lvl="2">
              <a:lnSpc>
                <a:spcPct val="110000"/>
              </a:lnSpc>
            </a:pPr>
            <a:r>
              <a:rPr lang="zh-CN" altLang="en-US" dirty="0">
                <a:latin typeface="KaiTi" panose="02010609060101010101" pitchFamily="49" charset="-122"/>
                <a:ea typeface="KaiTi" panose="02010609060101010101" pitchFamily="49" charset="-122"/>
              </a:rPr>
              <a:t>数据集的演进：从</a:t>
            </a:r>
            <a:r>
              <a:rPr lang="en-US" altLang="zh-CN" dirty="0">
                <a:latin typeface="KaiTi" panose="02010609060101010101" pitchFamily="49" charset="-122"/>
                <a:ea typeface="KaiTi" panose="02010609060101010101" pitchFamily="49" charset="-122"/>
              </a:rPr>
              <a:t>UCF-101</a:t>
            </a:r>
            <a:r>
              <a:rPr lang="zh-CN" altLang="en-US" dirty="0">
                <a:latin typeface="KaiTi" panose="02010609060101010101" pitchFamily="49" charset="-122"/>
                <a:ea typeface="KaiTi" panose="02010609060101010101" pitchFamily="49" charset="-122"/>
              </a:rPr>
              <a:t>到</a:t>
            </a:r>
            <a:r>
              <a:rPr lang="en-US" altLang="zh-CN" dirty="0">
                <a:latin typeface="KaiTi" panose="02010609060101010101" pitchFamily="49" charset="-122"/>
                <a:ea typeface="KaiTi" panose="02010609060101010101" pitchFamily="49" charset="-122"/>
              </a:rPr>
              <a:t>Kinetics</a:t>
            </a:r>
            <a:r>
              <a:rPr lang="zh-CN" altLang="en-US" dirty="0">
                <a:latin typeface="KaiTi" panose="02010609060101010101" pitchFamily="49" charset="-122"/>
                <a:ea typeface="KaiTi" panose="02010609060101010101" pitchFamily="49" charset="-122"/>
              </a:rPr>
              <a:t>系列，再到</a:t>
            </a:r>
            <a:r>
              <a:rPr lang="en-US" altLang="zh-CN" dirty="0">
                <a:latin typeface="KaiTi" panose="02010609060101010101" pitchFamily="49" charset="-122"/>
                <a:ea typeface="KaiTi" panose="02010609060101010101" pitchFamily="49" charset="-122"/>
              </a:rPr>
              <a:t>Charades</a:t>
            </a:r>
            <a:r>
              <a:rPr lang="zh-CN" altLang="en-US" dirty="0">
                <a:latin typeface="KaiTi" panose="02010609060101010101" pitchFamily="49" charset="-122"/>
                <a:ea typeface="KaiTi" panose="02010609060101010101" pitchFamily="49" charset="-122"/>
              </a:rPr>
              <a:t>和</a:t>
            </a:r>
            <a:r>
              <a:rPr lang="en-US" altLang="zh-CN" dirty="0" err="1">
                <a:latin typeface="KaiTi" panose="02010609060101010101" pitchFamily="49" charset="-122"/>
                <a:ea typeface="KaiTi" panose="02010609060101010101" pitchFamily="49" charset="-122"/>
              </a:rPr>
              <a:t>Sth-Sth</a:t>
            </a:r>
            <a:r>
              <a:rPr lang="zh-CN" altLang="en-US" dirty="0">
                <a:latin typeface="KaiTi" panose="02010609060101010101" pitchFamily="49" charset="-122"/>
                <a:ea typeface="KaiTi" panose="02010609060101010101" pitchFamily="49" charset="-122"/>
              </a:rPr>
              <a:t>，体现出业界对视频类任务本质困难的理解更加深刻</a:t>
            </a:r>
            <a:endParaRPr lang="en-US" altLang="zh-CN" dirty="0">
              <a:latin typeface="KaiTi" panose="02010609060101010101" pitchFamily="49" charset="-122"/>
              <a:ea typeface="KaiTi" panose="02010609060101010101" pitchFamily="49" charset="-122"/>
            </a:endParaRPr>
          </a:p>
          <a:p>
            <a:pPr lvl="1">
              <a:lnSpc>
                <a:spcPct val="110000"/>
              </a:lnSpc>
            </a:pPr>
            <a:r>
              <a:rPr lang="zh-CN" altLang="en-US" dirty="0">
                <a:latin typeface="KaiTi" panose="02010609060101010101" pitchFamily="49" charset="-122"/>
                <a:ea typeface="KaiTi" panose="02010609060101010101" pitchFamily="49" charset="-122"/>
              </a:rPr>
              <a:t>视频动作检测和视频实例分割</a:t>
            </a:r>
            <a:endParaRPr lang="en-US" altLang="zh-CN" dirty="0">
              <a:latin typeface="KaiTi" panose="02010609060101010101" pitchFamily="49" charset="-122"/>
              <a:ea typeface="KaiTi" panose="02010609060101010101" pitchFamily="49" charset="-122"/>
            </a:endParaRPr>
          </a:p>
          <a:p>
            <a:pPr lvl="2">
              <a:lnSpc>
                <a:spcPct val="110000"/>
              </a:lnSpc>
            </a:pPr>
            <a:r>
              <a:rPr lang="zh-CN" altLang="en-US" dirty="0">
                <a:latin typeface="KaiTi" panose="02010609060101010101" pitchFamily="49" charset="-122"/>
                <a:ea typeface="KaiTi" panose="02010609060101010101" pitchFamily="49" charset="-122"/>
              </a:rPr>
              <a:t>往往涉及更高级的逻辑理解，研究较为初步</a:t>
            </a:r>
          </a:p>
        </p:txBody>
      </p:sp>
      <p:pic>
        <p:nvPicPr>
          <p:cNvPr id="4" name="Picture 3">
            <a:extLst>
              <a:ext uri="{FF2B5EF4-FFF2-40B4-BE49-F238E27FC236}">
                <a16:creationId xmlns:a16="http://schemas.microsoft.com/office/drawing/2014/main" id="{FD0E2057-0BB9-4224-AF38-588BD313E76A}"/>
              </a:ext>
            </a:extLst>
          </p:cNvPr>
          <p:cNvPicPr>
            <a:picLocks noChangeAspect="1"/>
          </p:cNvPicPr>
          <p:nvPr/>
        </p:nvPicPr>
        <p:blipFill>
          <a:blip r:embed="rId2"/>
          <a:stretch>
            <a:fillRect/>
          </a:stretch>
        </p:blipFill>
        <p:spPr>
          <a:xfrm>
            <a:off x="7765648" y="1882802"/>
            <a:ext cx="4203033" cy="4236983"/>
          </a:xfrm>
          <a:prstGeom prst="rect">
            <a:avLst/>
          </a:prstGeom>
        </p:spPr>
      </p:pic>
      <p:sp>
        <p:nvSpPr>
          <p:cNvPr id="5" name="TextBox 4">
            <a:extLst>
              <a:ext uri="{FF2B5EF4-FFF2-40B4-BE49-F238E27FC236}">
                <a16:creationId xmlns:a16="http://schemas.microsoft.com/office/drawing/2014/main" id="{5801F219-B7C7-4BA2-B898-5E8C8EFF9EE2}"/>
              </a:ext>
            </a:extLst>
          </p:cNvPr>
          <p:cNvSpPr txBox="1"/>
          <p:nvPr/>
        </p:nvSpPr>
        <p:spPr>
          <a:xfrm>
            <a:off x="10152018" y="6488668"/>
            <a:ext cx="2039982" cy="369332"/>
          </a:xfrm>
          <a:prstGeom prst="rect">
            <a:avLst/>
          </a:prstGeom>
          <a:noFill/>
        </p:spPr>
        <p:txBody>
          <a:bodyPr wrap="none" rtlCol="0">
            <a:spAutoFit/>
          </a:bodyPr>
          <a:lstStyle/>
          <a:p>
            <a:r>
              <a:rPr lang="en-US" altLang="zh-CN" b="1" dirty="0">
                <a:cs typeface="+mn-ea"/>
                <a:sym typeface="+mn-lt"/>
              </a:rPr>
              <a:t>Credits</a:t>
            </a:r>
            <a:r>
              <a:rPr lang="en-US" altLang="zh-CN" dirty="0">
                <a:cs typeface="+mn-ea"/>
                <a:sym typeface="+mn-lt"/>
              </a:rPr>
              <a:t>: </a:t>
            </a:r>
            <a:r>
              <a:rPr lang="en-US" altLang="zh-CN" dirty="0" err="1">
                <a:cs typeface="+mn-ea"/>
                <a:sym typeface="+mn-lt"/>
              </a:rPr>
              <a:t>Lingxi</a:t>
            </a:r>
            <a:r>
              <a:rPr lang="en-US" altLang="zh-CN" dirty="0">
                <a:cs typeface="+mn-ea"/>
                <a:sym typeface="+mn-lt"/>
              </a:rPr>
              <a:t> </a:t>
            </a:r>
            <a:r>
              <a:rPr lang="en-US" altLang="zh-CN" dirty="0" err="1">
                <a:cs typeface="+mn-ea"/>
                <a:sym typeface="+mn-lt"/>
              </a:rPr>
              <a:t>Xie</a:t>
            </a:r>
            <a:endParaRPr lang="zh-CN" altLang="en-US" dirty="0">
              <a:cs typeface="+mn-ea"/>
              <a:sym typeface="+mn-lt"/>
            </a:endParaRPr>
          </a:p>
        </p:txBody>
      </p:sp>
    </p:spTree>
    <p:extLst>
      <p:ext uri="{BB962C8B-B14F-4D97-AF65-F5344CB8AC3E}">
        <p14:creationId xmlns:p14="http://schemas.microsoft.com/office/powerpoint/2010/main" val="39745507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BDFE3-A76E-4D51-9BDC-D9BDC2BBBDF3}"/>
              </a:ext>
            </a:extLst>
          </p:cNvPr>
          <p:cNvSpPr>
            <a:spLocks noGrp="1"/>
          </p:cNvSpPr>
          <p:nvPr>
            <p:ph type="title"/>
          </p:nvPr>
        </p:nvSpPr>
        <p:spPr/>
        <p:txBody>
          <a:bodyPr/>
          <a:lstStyle/>
          <a:p>
            <a:r>
              <a:rPr lang="zh-CN" altLang="en-US" b="1" dirty="0"/>
              <a:t>物体跟踪和重识别</a:t>
            </a:r>
          </a:p>
        </p:txBody>
      </p:sp>
      <p:sp>
        <p:nvSpPr>
          <p:cNvPr id="3" name="Content Placeholder 2">
            <a:extLst>
              <a:ext uri="{FF2B5EF4-FFF2-40B4-BE49-F238E27FC236}">
                <a16:creationId xmlns:a16="http://schemas.microsoft.com/office/drawing/2014/main" id="{0235AD28-C2A3-44D4-AA10-E93AB87C5365}"/>
              </a:ext>
            </a:extLst>
          </p:cNvPr>
          <p:cNvSpPr>
            <a:spLocks noGrp="1"/>
          </p:cNvSpPr>
          <p:nvPr>
            <p:ph idx="1"/>
          </p:nvPr>
        </p:nvSpPr>
        <p:spPr>
          <a:xfrm>
            <a:off x="838199" y="1825625"/>
            <a:ext cx="7038315" cy="4351338"/>
          </a:xfrm>
        </p:spPr>
        <p:txBody>
          <a:bodyPr/>
          <a:lstStyle/>
          <a:p>
            <a:pPr>
              <a:lnSpc>
                <a:spcPct val="110000"/>
              </a:lnSpc>
            </a:pPr>
            <a:r>
              <a:rPr lang="zh-CN" altLang="en-US" b="1" dirty="0"/>
              <a:t>结合了三维空间和时序分析</a:t>
            </a:r>
            <a:endParaRPr lang="en-US" altLang="zh-CN" b="1" dirty="0"/>
          </a:p>
          <a:p>
            <a:pPr lvl="1">
              <a:lnSpc>
                <a:spcPct val="110000"/>
              </a:lnSpc>
            </a:pPr>
            <a:r>
              <a:rPr lang="zh-CN" altLang="en-US" dirty="0">
                <a:latin typeface="KaiTi" panose="02010609060101010101" pitchFamily="49" charset="-122"/>
                <a:ea typeface="KaiTi" panose="02010609060101010101" pitchFamily="49" charset="-122"/>
              </a:rPr>
              <a:t>物体跟踪：连续捕捉物体在视频序列中的位置</a:t>
            </a:r>
            <a:endParaRPr lang="en-US" altLang="zh-CN" dirty="0">
              <a:latin typeface="KaiTi" panose="02010609060101010101" pitchFamily="49" charset="-122"/>
              <a:ea typeface="KaiTi" panose="02010609060101010101" pitchFamily="49" charset="-122"/>
            </a:endParaRPr>
          </a:p>
          <a:p>
            <a:pPr lvl="1">
              <a:lnSpc>
                <a:spcPct val="110000"/>
              </a:lnSpc>
            </a:pPr>
            <a:r>
              <a:rPr lang="zh-CN" altLang="en-US" dirty="0">
                <a:latin typeface="KaiTi" panose="02010609060101010101" pitchFamily="49" charset="-122"/>
                <a:ea typeface="KaiTi" panose="02010609060101010101" pitchFamily="49" charset="-122"/>
              </a:rPr>
              <a:t>物体重识别：将特定的物体从另一个时间</a:t>
            </a:r>
            <a:r>
              <a:rPr lang="en-US" altLang="zh-CN" dirty="0">
                <a:latin typeface="KaiTi" panose="02010609060101010101" pitchFamily="49" charset="-122"/>
                <a:ea typeface="KaiTi" panose="02010609060101010101" pitchFamily="49" charset="-122"/>
              </a:rPr>
              <a:t>/</a:t>
            </a:r>
            <a:r>
              <a:rPr lang="zh-CN" altLang="en-US" dirty="0">
                <a:latin typeface="KaiTi" panose="02010609060101010101" pitchFamily="49" charset="-122"/>
                <a:ea typeface="KaiTi" panose="02010609060101010101" pitchFamily="49" charset="-122"/>
              </a:rPr>
              <a:t>空间中识别出来</a:t>
            </a:r>
            <a:endParaRPr lang="en-US" altLang="zh-CN" dirty="0">
              <a:latin typeface="KaiTi" panose="02010609060101010101" pitchFamily="49" charset="-122"/>
              <a:ea typeface="KaiTi" panose="02010609060101010101" pitchFamily="49" charset="-122"/>
            </a:endParaRPr>
          </a:p>
          <a:p>
            <a:pPr>
              <a:lnSpc>
                <a:spcPct val="110000"/>
              </a:lnSpc>
            </a:pPr>
            <a:r>
              <a:rPr lang="zh-CN" altLang="en-US" b="1" dirty="0"/>
              <a:t>跟踪与重识别，本质上是同一个任务</a:t>
            </a:r>
            <a:endParaRPr lang="en-US" altLang="zh-CN" b="1" dirty="0"/>
          </a:p>
          <a:p>
            <a:pPr lvl="1">
              <a:lnSpc>
                <a:spcPct val="110000"/>
              </a:lnSpc>
            </a:pPr>
            <a:r>
              <a:rPr lang="zh-CN" altLang="en-US" dirty="0">
                <a:latin typeface="KaiTi" panose="02010609060101010101" pitchFamily="49" charset="-122"/>
                <a:ea typeface="KaiTi" panose="02010609060101010101" pitchFamily="49" charset="-122"/>
              </a:rPr>
              <a:t>跟踪更重视效率，重识别更重视精度</a:t>
            </a:r>
            <a:endParaRPr lang="en-US" altLang="zh-CN" dirty="0">
              <a:latin typeface="KaiTi" panose="02010609060101010101" pitchFamily="49" charset="-122"/>
              <a:ea typeface="KaiTi" panose="02010609060101010101" pitchFamily="49" charset="-122"/>
            </a:endParaRPr>
          </a:p>
          <a:p>
            <a:pPr lvl="1">
              <a:lnSpc>
                <a:spcPct val="110000"/>
              </a:lnSpc>
            </a:pPr>
            <a:r>
              <a:rPr lang="zh-CN" altLang="en-US" dirty="0">
                <a:latin typeface="KaiTi" panose="02010609060101010101" pitchFamily="49" charset="-122"/>
                <a:ea typeface="KaiTi" panose="02010609060101010101" pitchFamily="49" charset="-122"/>
              </a:rPr>
              <a:t>趋势：从单摄像头到多摄像头</a:t>
            </a:r>
            <a:endParaRPr lang="en-US" altLang="zh-CN" dirty="0">
              <a:latin typeface="KaiTi" panose="02010609060101010101" pitchFamily="49" charset="-122"/>
              <a:ea typeface="KaiTi" panose="02010609060101010101" pitchFamily="49" charset="-122"/>
            </a:endParaRPr>
          </a:p>
          <a:p>
            <a:pPr lvl="1">
              <a:lnSpc>
                <a:spcPct val="110000"/>
              </a:lnSpc>
            </a:pPr>
            <a:r>
              <a:rPr lang="zh-CN" altLang="en-US" dirty="0">
                <a:latin typeface="KaiTi" panose="02010609060101010101" pitchFamily="49" charset="-122"/>
                <a:ea typeface="KaiTi" panose="02010609060101010101" pitchFamily="49" charset="-122"/>
              </a:rPr>
              <a:t>理想框架：结合摄像头标定、三维重建、逻辑推理等模块</a:t>
            </a:r>
          </a:p>
        </p:txBody>
      </p:sp>
      <p:pic>
        <p:nvPicPr>
          <p:cNvPr id="4" name="Picture 3">
            <a:extLst>
              <a:ext uri="{FF2B5EF4-FFF2-40B4-BE49-F238E27FC236}">
                <a16:creationId xmlns:a16="http://schemas.microsoft.com/office/drawing/2014/main" id="{B0C02D6F-A23C-46DC-97D7-B7F2232866D9}"/>
              </a:ext>
            </a:extLst>
          </p:cNvPr>
          <p:cNvPicPr>
            <a:picLocks noChangeAspect="1"/>
          </p:cNvPicPr>
          <p:nvPr/>
        </p:nvPicPr>
        <p:blipFill>
          <a:blip r:embed="rId2"/>
          <a:stretch>
            <a:fillRect/>
          </a:stretch>
        </p:blipFill>
        <p:spPr>
          <a:xfrm>
            <a:off x="7761135" y="1027906"/>
            <a:ext cx="4430865" cy="5563354"/>
          </a:xfrm>
          <a:prstGeom prst="rect">
            <a:avLst/>
          </a:prstGeom>
        </p:spPr>
      </p:pic>
      <p:sp>
        <p:nvSpPr>
          <p:cNvPr id="5" name="TextBox 4">
            <a:extLst>
              <a:ext uri="{FF2B5EF4-FFF2-40B4-BE49-F238E27FC236}">
                <a16:creationId xmlns:a16="http://schemas.microsoft.com/office/drawing/2014/main" id="{29997FDC-DB04-4DDC-97BE-4626C6F1B627}"/>
              </a:ext>
            </a:extLst>
          </p:cNvPr>
          <p:cNvSpPr txBox="1"/>
          <p:nvPr/>
        </p:nvSpPr>
        <p:spPr>
          <a:xfrm>
            <a:off x="10152018" y="6488668"/>
            <a:ext cx="2039982" cy="369332"/>
          </a:xfrm>
          <a:prstGeom prst="rect">
            <a:avLst/>
          </a:prstGeom>
          <a:noFill/>
        </p:spPr>
        <p:txBody>
          <a:bodyPr wrap="none" rtlCol="0">
            <a:spAutoFit/>
          </a:bodyPr>
          <a:lstStyle/>
          <a:p>
            <a:r>
              <a:rPr lang="en-US" altLang="zh-CN" b="1" dirty="0">
                <a:cs typeface="+mn-ea"/>
                <a:sym typeface="+mn-lt"/>
              </a:rPr>
              <a:t>Credits</a:t>
            </a:r>
            <a:r>
              <a:rPr lang="en-US" altLang="zh-CN" dirty="0">
                <a:cs typeface="+mn-ea"/>
                <a:sym typeface="+mn-lt"/>
              </a:rPr>
              <a:t>: </a:t>
            </a:r>
            <a:r>
              <a:rPr lang="en-US" altLang="zh-CN" dirty="0" err="1">
                <a:cs typeface="+mn-ea"/>
                <a:sym typeface="+mn-lt"/>
              </a:rPr>
              <a:t>Lingxi</a:t>
            </a:r>
            <a:r>
              <a:rPr lang="en-US" altLang="zh-CN" dirty="0">
                <a:cs typeface="+mn-ea"/>
                <a:sym typeface="+mn-lt"/>
              </a:rPr>
              <a:t> </a:t>
            </a:r>
            <a:r>
              <a:rPr lang="en-US" altLang="zh-CN" dirty="0" err="1">
                <a:cs typeface="+mn-ea"/>
                <a:sym typeface="+mn-lt"/>
              </a:rPr>
              <a:t>Xie</a:t>
            </a:r>
            <a:endParaRPr lang="zh-CN" altLang="en-US" dirty="0">
              <a:cs typeface="+mn-ea"/>
              <a:sym typeface="+mn-lt"/>
            </a:endParaRPr>
          </a:p>
        </p:txBody>
      </p:sp>
    </p:spTree>
    <p:extLst>
      <p:ext uri="{BB962C8B-B14F-4D97-AF65-F5344CB8AC3E}">
        <p14:creationId xmlns:p14="http://schemas.microsoft.com/office/powerpoint/2010/main" val="31428476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E2304-92BC-4D16-9CF0-FB08B0D978DC}"/>
              </a:ext>
            </a:extLst>
          </p:cNvPr>
          <p:cNvSpPr>
            <a:spLocks noGrp="1"/>
          </p:cNvSpPr>
          <p:nvPr>
            <p:ph type="title"/>
          </p:nvPr>
        </p:nvSpPr>
        <p:spPr/>
        <p:txBody>
          <a:bodyPr/>
          <a:lstStyle/>
          <a:p>
            <a:r>
              <a:rPr lang="zh-CN" altLang="en-US" b="1" dirty="0"/>
              <a:t>图文跨模态：</a:t>
            </a:r>
            <a:r>
              <a:rPr lang="zh-CN" altLang="en-US" dirty="0"/>
              <a:t>图像与文本结合</a:t>
            </a:r>
          </a:p>
        </p:txBody>
      </p:sp>
      <p:sp>
        <p:nvSpPr>
          <p:cNvPr id="3" name="Content Placeholder 2">
            <a:extLst>
              <a:ext uri="{FF2B5EF4-FFF2-40B4-BE49-F238E27FC236}">
                <a16:creationId xmlns:a16="http://schemas.microsoft.com/office/drawing/2014/main" id="{123C3661-C09F-4845-B80F-F902CE67BC58}"/>
              </a:ext>
            </a:extLst>
          </p:cNvPr>
          <p:cNvSpPr>
            <a:spLocks noGrp="1"/>
          </p:cNvSpPr>
          <p:nvPr>
            <p:ph idx="1"/>
          </p:nvPr>
        </p:nvSpPr>
        <p:spPr>
          <a:xfrm>
            <a:off x="838200" y="1825625"/>
            <a:ext cx="6268770" cy="4351338"/>
          </a:xfrm>
        </p:spPr>
        <p:txBody>
          <a:bodyPr/>
          <a:lstStyle/>
          <a:p>
            <a:pPr>
              <a:lnSpc>
                <a:spcPct val="110000"/>
              </a:lnSpc>
            </a:pPr>
            <a:r>
              <a:rPr lang="zh-CN" altLang="en-US" dirty="0"/>
              <a:t>图像和文本是截然不同的数据模态</a:t>
            </a:r>
            <a:endParaRPr lang="en-US" altLang="zh-CN" dirty="0"/>
          </a:p>
          <a:p>
            <a:pPr lvl="1">
              <a:lnSpc>
                <a:spcPct val="110000"/>
              </a:lnSpc>
            </a:pPr>
            <a:r>
              <a:rPr lang="zh-CN" altLang="en-US" dirty="0">
                <a:latin typeface="KaiTi" panose="02010609060101010101" pitchFamily="49" charset="-122"/>
                <a:ea typeface="KaiTi" panose="02010609060101010101" pitchFamily="49" charset="-122"/>
              </a:rPr>
              <a:t>跨模态任务，本质上是数据分布的对齐</a:t>
            </a:r>
            <a:endParaRPr lang="en-US" altLang="zh-CN" dirty="0">
              <a:latin typeface="KaiTi" panose="02010609060101010101" pitchFamily="49" charset="-122"/>
              <a:ea typeface="KaiTi" panose="02010609060101010101" pitchFamily="49" charset="-122"/>
            </a:endParaRPr>
          </a:p>
          <a:p>
            <a:pPr lvl="2">
              <a:lnSpc>
                <a:spcPct val="110000"/>
              </a:lnSpc>
            </a:pPr>
            <a:r>
              <a:rPr lang="zh-CN" altLang="en-US" dirty="0">
                <a:latin typeface="KaiTi" panose="02010609060101010101" pitchFamily="49" charset="-122"/>
                <a:ea typeface="KaiTi" panose="02010609060101010101" pitchFamily="49" charset="-122"/>
              </a:rPr>
              <a:t>由于两种分布差距巨大，跨模态任务十分困难，也是业界研究的前沿课题</a:t>
            </a:r>
            <a:endParaRPr lang="en-US" altLang="zh-CN" dirty="0">
              <a:latin typeface="KaiTi" panose="02010609060101010101" pitchFamily="49" charset="-122"/>
              <a:ea typeface="KaiTi" panose="02010609060101010101" pitchFamily="49" charset="-122"/>
            </a:endParaRPr>
          </a:p>
          <a:p>
            <a:pPr>
              <a:lnSpc>
                <a:spcPct val="110000"/>
              </a:lnSpc>
            </a:pPr>
            <a:r>
              <a:rPr lang="zh-CN" altLang="en-US" dirty="0"/>
              <a:t>跨模态理解类任务</a:t>
            </a:r>
            <a:endParaRPr lang="en-US" altLang="zh-CN" dirty="0"/>
          </a:p>
          <a:p>
            <a:pPr lvl="1">
              <a:lnSpc>
                <a:spcPct val="110000"/>
              </a:lnSpc>
            </a:pPr>
            <a:r>
              <a:rPr lang="zh-CN" altLang="en-US" dirty="0">
                <a:latin typeface="KaiTi" panose="02010609060101010101" pitchFamily="49" charset="-122"/>
                <a:ea typeface="KaiTi" panose="02010609060101010101" pitchFamily="49" charset="-122"/>
              </a:rPr>
              <a:t>以文搜图</a:t>
            </a:r>
            <a:endParaRPr lang="en-US" altLang="zh-CN" dirty="0">
              <a:latin typeface="KaiTi" panose="02010609060101010101" pitchFamily="49" charset="-122"/>
              <a:ea typeface="KaiTi" panose="02010609060101010101" pitchFamily="49" charset="-122"/>
            </a:endParaRPr>
          </a:p>
          <a:p>
            <a:pPr lvl="1">
              <a:lnSpc>
                <a:spcPct val="110000"/>
              </a:lnSpc>
            </a:pPr>
            <a:r>
              <a:rPr lang="zh-CN" altLang="en-US" dirty="0">
                <a:latin typeface="KaiTi" panose="02010609060101010101" pitchFamily="49" charset="-122"/>
                <a:ea typeface="KaiTi" panose="02010609060101010101" pitchFamily="49" charset="-122"/>
              </a:rPr>
              <a:t>视觉问答：以文字方式理解图像内容</a:t>
            </a:r>
            <a:endParaRPr lang="en-US" altLang="zh-CN" dirty="0">
              <a:latin typeface="KaiTi" panose="02010609060101010101" pitchFamily="49" charset="-122"/>
              <a:ea typeface="KaiTi" panose="02010609060101010101" pitchFamily="49" charset="-122"/>
            </a:endParaRPr>
          </a:p>
          <a:p>
            <a:pPr lvl="2">
              <a:lnSpc>
                <a:spcPct val="110000"/>
              </a:lnSpc>
            </a:pPr>
            <a:r>
              <a:rPr lang="zh-CN" altLang="en-US" dirty="0">
                <a:latin typeface="KaiTi" panose="02010609060101010101" pitchFamily="49" charset="-122"/>
                <a:ea typeface="KaiTi" panose="02010609060101010101" pitchFamily="49" charset="-122"/>
              </a:rPr>
              <a:t>为了与图像生成文本区分，该任务的答案通常比较简单</a:t>
            </a:r>
          </a:p>
        </p:txBody>
      </p:sp>
      <p:pic>
        <p:nvPicPr>
          <p:cNvPr id="4" name="Picture 3">
            <a:extLst>
              <a:ext uri="{FF2B5EF4-FFF2-40B4-BE49-F238E27FC236}">
                <a16:creationId xmlns:a16="http://schemas.microsoft.com/office/drawing/2014/main" id="{9207548E-13EF-4223-B36F-255B9FF570CC}"/>
              </a:ext>
            </a:extLst>
          </p:cNvPr>
          <p:cNvPicPr>
            <a:picLocks noChangeAspect="1"/>
          </p:cNvPicPr>
          <p:nvPr/>
        </p:nvPicPr>
        <p:blipFill>
          <a:blip r:embed="rId3"/>
          <a:stretch>
            <a:fillRect/>
          </a:stretch>
        </p:blipFill>
        <p:spPr>
          <a:xfrm>
            <a:off x="7451002" y="1461597"/>
            <a:ext cx="4398633" cy="4904528"/>
          </a:xfrm>
          <a:prstGeom prst="rect">
            <a:avLst/>
          </a:prstGeom>
        </p:spPr>
      </p:pic>
      <p:sp>
        <p:nvSpPr>
          <p:cNvPr id="5" name="TextBox 4">
            <a:extLst>
              <a:ext uri="{FF2B5EF4-FFF2-40B4-BE49-F238E27FC236}">
                <a16:creationId xmlns:a16="http://schemas.microsoft.com/office/drawing/2014/main" id="{0438C776-7CB2-4273-9265-B87C29BA7A04}"/>
              </a:ext>
            </a:extLst>
          </p:cNvPr>
          <p:cNvSpPr txBox="1"/>
          <p:nvPr/>
        </p:nvSpPr>
        <p:spPr>
          <a:xfrm>
            <a:off x="10152018" y="6488668"/>
            <a:ext cx="2039982" cy="369332"/>
          </a:xfrm>
          <a:prstGeom prst="rect">
            <a:avLst/>
          </a:prstGeom>
          <a:noFill/>
        </p:spPr>
        <p:txBody>
          <a:bodyPr wrap="none" rtlCol="0">
            <a:spAutoFit/>
          </a:bodyPr>
          <a:lstStyle/>
          <a:p>
            <a:r>
              <a:rPr lang="en-US" altLang="zh-CN" b="1" dirty="0">
                <a:cs typeface="+mn-ea"/>
                <a:sym typeface="+mn-lt"/>
              </a:rPr>
              <a:t>Credits</a:t>
            </a:r>
            <a:r>
              <a:rPr lang="en-US" altLang="zh-CN" dirty="0">
                <a:cs typeface="+mn-ea"/>
                <a:sym typeface="+mn-lt"/>
              </a:rPr>
              <a:t>: </a:t>
            </a:r>
            <a:r>
              <a:rPr lang="en-US" altLang="zh-CN" dirty="0" err="1">
                <a:cs typeface="+mn-ea"/>
                <a:sym typeface="+mn-lt"/>
              </a:rPr>
              <a:t>Lingxi</a:t>
            </a:r>
            <a:r>
              <a:rPr lang="en-US" altLang="zh-CN" dirty="0">
                <a:cs typeface="+mn-ea"/>
                <a:sym typeface="+mn-lt"/>
              </a:rPr>
              <a:t> </a:t>
            </a:r>
            <a:r>
              <a:rPr lang="en-US" altLang="zh-CN" dirty="0" err="1">
                <a:cs typeface="+mn-ea"/>
                <a:sym typeface="+mn-lt"/>
              </a:rPr>
              <a:t>Xie</a:t>
            </a:r>
            <a:endParaRPr lang="zh-CN" altLang="en-US" dirty="0">
              <a:cs typeface="+mn-ea"/>
              <a:sym typeface="+mn-lt"/>
            </a:endParaRPr>
          </a:p>
        </p:txBody>
      </p:sp>
    </p:spTree>
    <p:extLst>
      <p:ext uri="{BB962C8B-B14F-4D97-AF65-F5344CB8AC3E}">
        <p14:creationId xmlns:p14="http://schemas.microsoft.com/office/powerpoint/2010/main" val="30393702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E2304-92BC-4D16-9CF0-FB08B0D978DC}"/>
              </a:ext>
            </a:extLst>
          </p:cNvPr>
          <p:cNvSpPr>
            <a:spLocks noGrp="1"/>
          </p:cNvSpPr>
          <p:nvPr>
            <p:ph type="title"/>
          </p:nvPr>
        </p:nvSpPr>
        <p:spPr/>
        <p:txBody>
          <a:bodyPr/>
          <a:lstStyle/>
          <a:p>
            <a:r>
              <a:rPr lang="zh-CN" altLang="en-US" b="1" dirty="0"/>
              <a:t>图文跨模态：</a:t>
            </a:r>
            <a:r>
              <a:rPr lang="zh-CN" altLang="en-US" dirty="0"/>
              <a:t>图像与文本结合</a:t>
            </a:r>
          </a:p>
        </p:txBody>
      </p:sp>
      <p:sp>
        <p:nvSpPr>
          <p:cNvPr id="3" name="Content Placeholder 2">
            <a:extLst>
              <a:ext uri="{FF2B5EF4-FFF2-40B4-BE49-F238E27FC236}">
                <a16:creationId xmlns:a16="http://schemas.microsoft.com/office/drawing/2014/main" id="{123C3661-C09F-4845-B80F-F902CE67BC58}"/>
              </a:ext>
            </a:extLst>
          </p:cNvPr>
          <p:cNvSpPr>
            <a:spLocks noGrp="1"/>
          </p:cNvSpPr>
          <p:nvPr>
            <p:ph idx="1"/>
          </p:nvPr>
        </p:nvSpPr>
        <p:spPr>
          <a:xfrm>
            <a:off x="838200" y="1825625"/>
            <a:ext cx="6268770" cy="4351338"/>
          </a:xfrm>
        </p:spPr>
        <p:txBody>
          <a:bodyPr>
            <a:normAutofit fontScale="92500" lnSpcReduction="20000"/>
          </a:bodyPr>
          <a:lstStyle/>
          <a:p>
            <a:pPr>
              <a:lnSpc>
                <a:spcPct val="120000"/>
              </a:lnSpc>
            </a:pPr>
            <a:r>
              <a:rPr lang="zh-CN" altLang="en-US" dirty="0"/>
              <a:t>图像和文本是截然不同的数据模态</a:t>
            </a:r>
            <a:endParaRPr lang="en-US" altLang="zh-CN" dirty="0"/>
          </a:p>
          <a:p>
            <a:pPr lvl="1">
              <a:lnSpc>
                <a:spcPct val="120000"/>
              </a:lnSpc>
            </a:pPr>
            <a:r>
              <a:rPr lang="zh-CN" altLang="en-US" dirty="0">
                <a:latin typeface="KaiTi" panose="02010609060101010101" pitchFamily="49" charset="-122"/>
                <a:ea typeface="KaiTi" panose="02010609060101010101" pitchFamily="49" charset="-122"/>
              </a:rPr>
              <a:t>跨模态任务，本质上是数据分布的对齐</a:t>
            </a:r>
            <a:endParaRPr lang="en-US" altLang="zh-CN" dirty="0">
              <a:latin typeface="KaiTi" panose="02010609060101010101" pitchFamily="49" charset="-122"/>
              <a:ea typeface="KaiTi" panose="02010609060101010101" pitchFamily="49" charset="-122"/>
            </a:endParaRPr>
          </a:p>
          <a:p>
            <a:pPr lvl="2">
              <a:lnSpc>
                <a:spcPct val="120000"/>
              </a:lnSpc>
            </a:pPr>
            <a:r>
              <a:rPr lang="zh-CN" altLang="en-US" dirty="0">
                <a:latin typeface="KaiTi" panose="02010609060101010101" pitchFamily="49" charset="-122"/>
                <a:ea typeface="KaiTi" panose="02010609060101010101" pitchFamily="49" charset="-122"/>
              </a:rPr>
              <a:t>由于两种分布差距巨大，跨模态任务十分困难，也是业界研究的前沿课题</a:t>
            </a:r>
            <a:endParaRPr lang="en-US" altLang="zh-CN" dirty="0">
              <a:latin typeface="KaiTi" panose="02010609060101010101" pitchFamily="49" charset="-122"/>
              <a:ea typeface="KaiTi" panose="02010609060101010101" pitchFamily="49" charset="-122"/>
            </a:endParaRPr>
          </a:p>
          <a:p>
            <a:pPr>
              <a:lnSpc>
                <a:spcPct val="120000"/>
              </a:lnSpc>
            </a:pPr>
            <a:r>
              <a:rPr lang="zh-CN" altLang="en-US" dirty="0"/>
              <a:t>跨模态理解类任务</a:t>
            </a:r>
            <a:endParaRPr lang="en-US" altLang="zh-CN" dirty="0"/>
          </a:p>
          <a:p>
            <a:pPr lvl="1">
              <a:lnSpc>
                <a:spcPct val="120000"/>
              </a:lnSpc>
            </a:pPr>
            <a:r>
              <a:rPr lang="zh-CN" altLang="en-US" dirty="0">
                <a:latin typeface="KaiTi" panose="02010609060101010101" pitchFamily="49" charset="-122"/>
                <a:ea typeface="KaiTi" panose="02010609060101010101" pitchFamily="49" charset="-122"/>
              </a:rPr>
              <a:t>从图像生成文本和从文本生成图像</a:t>
            </a:r>
            <a:endParaRPr lang="en-US" altLang="zh-CN" dirty="0">
              <a:latin typeface="KaiTi" panose="02010609060101010101" pitchFamily="49" charset="-122"/>
              <a:ea typeface="KaiTi" panose="02010609060101010101" pitchFamily="49" charset="-122"/>
            </a:endParaRPr>
          </a:p>
          <a:p>
            <a:pPr lvl="2">
              <a:lnSpc>
                <a:spcPct val="120000"/>
              </a:lnSpc>
            </a:pPr>
            <a:r>
              <a:rPr lang="zh-CN" altLang="en-US" dirty="0">
                <a:latin typeface="KaiTi" panose="02010609060101010101" pitchFamily="49" charset="-122"/>
                <a:ea typeface="KaiTi" panose="02010609060101010101" pitchFamily="49" charset="-122"/>
              </a:rPr>
              <a:t>图像生成文本（</a:t>
            </a:r>
            <a:r>
              <a:rPr lang="en-US" altLang="zh-CN" dirty="0">
                <a:latin typeface="KaiTi" panose="02010609060101010101" pitchFamily="49" charset="-122"/>
                <a:ea typeface="KaiTi" panose="02010609060101010101" pitchFamily="49" charset="-122"/>
              </a:rPr>
              <a:t>Image Caption</a:t>
            </a:r>
            <a:r>
              <a:rPr lang="zh-CN" altLang="en-US" dirty="0">
                <a:latin typeface="KaiTi" panose="02010609060101010101" pitchFamily="49" charset="-122"/>
                <a:ea typeface="KaiTi" panose="02010609060101010101" pitchFamily="49" charset="-122"/>
              </a:rPr>
              <a:t>）</a:t>
            </a:r>
            <a:endParaRPr lang="en-US" altLang="zh-CN" dirty="0">
              <a:latin typeface="KaiTi" panose="02010609060101010101" pitchFamily="49" charset="-122"/>
              <a:ea typeface="KaiTi" panose="02010609060101010101" pitchFamily="49" charset="-122"/>
            </a:endParaRPr>
          </a:p>
          <a:p>
            <a:pPr lvl="2">
              <a:lnSpc>
                <a:spcPct val="120000"/>
              </a:lnSpc>
            </a:pPr>
            <a:r>
              <a:rPr lang="zh-CN" altLang="en-US" dirty="0">
                <a:latin typeface="KaiTi" panose="02010609060101010101" pitchFamily="49" charset="-122"/>
                <a:ea typeface="KaiTi" panose="02010609060101010101" pitchFamily="49" charset="-122"/>
              </a:rPr>
              <a:t>由于图像维度更高、空间更复杂，因而文本生成图像任务难度更大</a:t>
            </a:r>
            <a:endParaRPr lang="en-US" altLang="zh-CN" dirty="0">
              <a:latin typeface="KaiTi" panose="02010609060101010101" pitchFamily="49" charset="-122"/>
              <a:ea typeface="KaiTi" panose="02010609060101010101" pitchFamily="49" charset="-122"/>
            </a:endParaRPr>
          </a:p>
          <a:p>
            <a:pPr lvl="1">
              <a:lnSpc>
                <a:spcPct val="120000"/>
              </a:lnSpc>
            </a:pPr>
            <a:r>
              <a:rPr lang="zh-CN" altLang="en-US" dirty="0">
                <a:latin typeface="KaiTi" panose="02010609060101010101" pitchFamily="49" charset="-122"/>
                <a:ea typeface="KaiTi" panose="02010609060101010101" pitchFamily="49" charset="-122"/>
              </a:rPr>
              <a:t>相较于理解类任务，生成类问题对空间对齐的要求更高，评估起来也更困难</a:t>
            </a:r>
            <a:endParaRPr lang="en-US" altLang="zh-CN" dirty="0">
              <a:latin typeface="KaiTi" panose="02010609060101010101" pitchFamily="49" charset="-122"/>
              <a:ea typeface="KaiTi" panose="02010609060101010101" pitchFamily="49" charset="-122"/>
            </a:endParaRPr>
          </a:p>
        </p:txBody>
      </p:sp>
      <p:sp>
        <p:nvSpPr>
          <p:cNvPr id="5" name="TextBox 4">
            <a:extLst>
              <a:ext uri="{FF2B5EF4-FFF2-40B4-BE49-F238E27FC236}">
                <a16:creationId xmlns:a16="http://schemas.microsoft.com/office/drawing/2014/main" id="{0438C776-7CB2-4273-9265-B87C29BA7A04}"/>
              </a:ext>
            </a:extLst>
          </p:cNvPr>
          <p:cNvSpPr txBox="1"/>
          <p:nvPr/>
        </p:nvSpPr>
        <p:spPr>
          <a:xfrm>
            <a:off x="10152018" y="6488668"/>
            <a:ext cx="2039982" cy="369332"/>
          </a:xfrm>
          <a:prstGeom prst="rect">
            <a:avLst/>
          </a:prstGeom>
          <a:noFill/>
        </p:spPr>
        <p:txBody>
          <a:bodyPr wrap="none" rtlCol="0">
            <a:spAutoFit/>
          </a:bodyPr>
          <a:lstStyle/>
          <a:p>
            <a:r>
              <a:rPr lang="en-US" altLang="zh-CN" b="1" dirty="0">
                <a:cs typeface="+mn-ea"/>
                <a:sym typeface="+mn-lt"/>
              </a:rPr>
              <a:t>Credits</a:t>
            </a:r>
            <a:r>
              <a:rPr lang="en-US" altLang="zh-CN" dirty="0">
                <a:cs typeface="+mn-ea"/>
                <a:sym typeface="+mn-lt"/>
              </a:rPr>
              <a:t>: </a:t>
            </a:r>
            <a:r>
              <a:rPr lang="en-US" altLang="zh-CN" dirty="0" err="1">
                <a:cs typeface="+mn-ea"/>
                <a:sym typeface="+mn-lt"/>
              </a:rPr>
              <a:t>Lingxi</a:t>
            </a:r>
            <a:r>
              <a:rPr lang="en-US" altLang="zh-CN" dirty="0">
                <a:cs typeface="+mn-ea"/>
                <a:sym typeface="+mn-lt"/>
              </a:rPr>
              <a:t> </a:t>
            </a:r>
            <a:r>
              <a:rPr lang="en-US" altLang="zh-CN" dirty="0" err="1">
                <a:cs typeface="+mn-ea"/>
                <a:sym typeface="+mn-lt"/>
              </a:rPr>
              <a:t>Xie</a:t>
            </a:r>
            <a:endParaRPr lang="zh-CN" altLang="en-US" dirty="0">
              <a:cs typeface="+mn-ea"/>
              <a:sym typeface="+mn-lt"/>
            </a:endParaRPr>
          </a:p>
        </p:txBody>
      </p:sp>
      <p:pic>
        <p:nvPicPr>
          <p:cNvPr id="6" name="Picture 5">
            <a:extLst>
              <a:ext uri="{FF2B5EF4-FFF2-40B4-BE49-F238E27FC236}">
                <a16:creationId xmlns:a16="http://schemas.microsoft.com/office/drawing/2014/main" id="{5B91003B-F95C-45CB-B2EF-04630EE05547}"/>
              </a:ext>
            </a:extLst>
          </p:cNvPr>
          <p:cNvPicPr>
            <a:picLocks noChangeAspect="1"/>
          </p:cNvPicPr>
          <p:nvPr/>
        </p:nvPicPr>
        <p:blipFill>
          <a:blip r:embed="rId3"/>
          <a:stretch>
            <a:fillRect/>
          </a:stretch>
        </p:blipFill>
        <p:spPr>
          <a:xfrm>
            <a:off x="7373994" y="1338014"/>
            <a:ext cx="4259710" cy="5060119"/>
          </a:xfrm>
          <a:prstGeom prst="rect">
            <a:avLst/>
          </a:prstGeom>
        </p:spPr>
      </p:pic>
    </p:spTree>
    <p:extLst>
      <p:ext uri="{BB962C8B-B14F-4D97-AF65-F5344CB8AC3E}">
        <p14:creationId xmlns:p14="http://schemas.microsoft.com/office/powerpoint/2010/main" val="36482412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AC6A0-EC05-46DD-B0A1-8DD34A9E4FE0}"/>
              </a:ext>
            </a:extLst>
          </p:cNvPr>
          <p:cNvSpPr>
            <a:spLocks noGrp="1"/>
          </p:cNvSpPr>
          <p:nvPr>
            <p:ph type="title"/>
          </p:nvPr>
        </p:nvSpPr>
        <p:spPr/>
        <p:txBody>
          <a:bodyPr/>
          <a:lstStyle/>
          <a:p>
            <a:pPr algn="ctr"/>
            <a:r>
              <a:rPr lang="zh-CN" altLang="en-US" b="1" dirty="0">
                <a:latin typeface="+mn-lt"/>
                <a:ea typeface="+mn-ea"/>
                <a:cs typeface="+mn-ea"/>
                <a:sym typeface="+mn-lt"/>
              </a:rPr>
              <a:t>为什么计算机视觉很难？</a:t>
            </a:r>
          </a:p>
        </p:txBody>
      </p:sp>
      <p:pic>
        <p:nvPicPr>
          <p:cNvPr id="4" name="Picture 3">
            <a:extLst>
              <a:ext uri="{FF2B5EF4-FFF2-40B4-BE49-F238E27FC236}">
                <a16:creationId xmlns:a16="http://schemas.microsoft.com/office/drawing/2014/main" id="{9C09FB95-437A-4EEF-8152-EF188498B1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8099" y="2236459"/>
            <a:ext cx="8715802" cy="4621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EE005BB7-94C9-45D3-912F-109D984E76F3}"/>
              </a:ext>
            </a:extLst>
          </p:cNvPr>
          <p:cNvSpPr txBox="1"/>
          <p:nvPr/>
        </p:nvSpPr>
        <p:spPr>
          <a:xfrm>
            <a:off x="3772126" y="1627626"/>
            <a:ext cx="4647747" cy="461665"/>
          </a:xfrm>
          <a:prstGeom prst="rect">
            <a:avLst/>
          </a:prstGeom>
          <a:noFill/>
        </p:spPr>
        <p:txBody>
          <a:bodyPr wrap="none" rtlCol="0">
            <a:spAutoFit/>
          </a:bodyPr>
          <a:lstStyle/>
          <a:p>
            <a:r>
              <a:rPr lang="en-US" altLang="zh-CN" sz="2400" b="1" dirty="0">
                <a:solidFill>
                  <a:srgbClr val="00B0F0"/>
                </a:solidFill>
              </a:rPr>
              <a:t>Images from Pascal VOC datasets</a:t>
            </a:r>
            <a:endParaRPr lang="zh-CN" altLang="en-US" sz="2400" b="1" dirty="0">
              <a:solidFill>
                <a:srgbClr val="00B0F0"/>
              </a:solidFill>
            </a:endParaRPr>
          </a:p>
        </p:txBody>
      </p:sp>
    </p:spTree>
    <p:extLst>
      <p:ext uri="{BB962C8B-B14F-4D97-AF65-F5344CB8AC3E}">
        <p14:creationId xmlns:p14="http://schemas.microsoft.com/office/powerpoint/2010/main" val="26747623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D90AD-B5F3-4141-8B7C-0686BE490BD6}"/>
              </a:ext>
            </a:extLst>
          </p:cNvPr>
          <p:cNvSpPr>
            <a:spLocks noGrp="1"/>
          </p:cNvSpPr>
          <p:nvPr>
            <p:ph type="title"/>
          </p:nvPr>
        </p:nvSpPr>
        <p:spPr/>
        <p:txBody>
          <a:bodyPr/>
          <a:lstStyle/>
          <a:p>
            <a:pPr algn="ctr"/>
            <a:r>
              <a:rPr lang="zh-CN" altLang="en-US" b="1" dirty="0">
                <a:cs typeface="+mn-ea"/>
                <a:sym typeface="+mn-lt"/>
              </a:rPr>
              <a:t>为什么计算机视觉很难？</a:t>
            </a:r>
            <a:endParaRPr lang="zh-CN" altLang="en-US" dirty="0">
              <a:latin typeface="+mn-lt"/>
              <a:ea typeface="+mn-ea"/>
              <a:cs typeface="+mn-ea"/>
              <a:sym typeface="+mn-lt"/>
            </a:endParaRPr>
          </a:p>
        </p:txBody>
      </p:sp>
      <p:grpSp>
        <p:nvGrpSpPr>
          <p:cNvPr id="4" name="Group 3">
            <a:extLst>
              <a:ext uri="{FF2B5EF4-FFF2-40B4-BE49-F238E27FC236}">
                <a16:creationId xmlns:a16="http://schemas.microsoft.com/office/drawing/2014/main" id="{903FF503-6923-4419-96D0-410180BA5501}"/>
              </a:ext>
            </a:extLst>
          </p:cNvPr>
          <p:cNvGrpSpPr/>
          <p:nvPr/>
        </p:nvGrpSpPr>
        <p:grpSpPr>
          <a:xfrm>
            <a:off x="1752600" y="1911350"/>
            <a:ext cx="8686800" cy="1631950"/>
            <a:chOff x="457200" y="1143000"/>
            <a:chExt cx="8686800" cy="1631950"/>
          </a:xfrm>
        </p:grpSpPr>
        <p:pic>
          <p:nvPicPr>
            <p:cNvPr id="5" name="Picture 8" descr="C:\images\events\event_254.jpg">
              <a:extLst>
                <a:ext uri="{FF2B5EF4-FFF2-40B4-BE49-F238E27FC236}">
                  <a16:creationId xmlns:a16="http://schemas.microsoft.com/office/drawing/2014/main" id="{81A456CB-3C99-4F65-A067-166C15D7DC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143000"/>
              <a:ext cx="2057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9" descr="C:\images\events\event_252.jpg">
              <a:extLst>
                <a:ext uri="{FF2B5EF4-FFF2-40B4-BE49-F238E27FC236}">
                  <a16:creationId xmlns:a16="http://schemas.microsoft.com/office/drawing/2014/main" id="{5765D508-CE1D-43B2-98BD-4F36DBACD1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1143000"/>
              <a:ext cx="1905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0" descr="C:\images\events\event_299.jpg">
              <a:extLst>
                <a:ext uri="{FF2B5EF4-FFF2-40B4-BE49-F238E27FC236}">
                  <a16:creationId xmlns:a16="http://schemas.microsoft.com/office/drawing/2014/main" id="{ED2C7762-4229-4D16-ADEF-B5BACD0B9A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1143000"/>
              <a:ext cx="20574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11">
              <a:extLst>
                <a:ext uri="{FF2B5EF4-FFF2-40B4-BE49-F238E27FC236}">
                  <a16:creationId xmlns:a16="http://schemas.microsoft.com/office/drawing/2014/main" id="{04F13982-CE49-4E84-B2EC-0F9E19D7EAC4}"/>
                </a:ext>
              </a:extLst>
            </p:cNvPr>
            <p:cNvSpPr txBox="1">
              <a:spLocks noChangeArrowheads="1"/>
            </p:cNvSpPr>
            <p:nvPr/>
          </p:nvSpPr>
          <p:spPr bwMode="auto">
            <a:xfrm>
              <a:off x="6705600" y="1600200"/>
              <a:ext cx="2438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altLang="zh-CN" sz="1800" b="1" dirty="0">
                  <a:latin typeface="+mn-lt"/>
                  <a:cs typeface="+mn-ea"/>
                  <a:sym typeface="+mn-lt"/>
                </a:rPr>
                <a:t>Intra-class variation.</a:t>
              </a:r>
              <a:endParaRPr lang="nl-NL" altLang="zh-CN" sz="1800" b="1" dirty="0">
                <a:latin typeface="+mn-lt"/>
                <a:cs typeface="+mn-ea"/>
                <a:sym typeface="+mn-lt"/>
              </a:endParaRPr>
            </a:p>
          </p:txBody>
        </p:sp>
      </p:grpSp>
      <p:grpSp>
        <p:nvGrpSpPr>
          <p:cNvPr id="9" name="Group 15">
            <a:extLst>
              <a:ext uri="{FF2B5EF4-FFF2-40B4-BE49-F238E27FC236}">
                <a16:creationId xmlns:a16="http://schemas.microsoft.com/office/drawing/2014/main" id="{5D7B7423-0748-4FB0-9E6E-C0F2B690F726}"/>
              </a:ext>
            </a:extLst>
          </p:cNvPr>
          <p:cNvGrpSpPr>
            <a:grpSpLocks/>
          </p:cNvGrpSpPr>
          <p:nvPr/>
        </p:nvGrpSpPr>
        <p:grpSpPr bwMode="auto">
          <a:xfrm>
            <a:off x="1752600" y="3938588"/>
            <a:ext cx="8686800" cy="2133600"/>
            <a:chOff x="288" y="1968"/>
            <a:chExt cx="5472" cy="1344"/>
          </a:xfrm>
        </p:grpSpPr>
        <p:pic>
          <p:nvPicPr>
            <p:cNvPr id="10" name="Picture 7" descr="C:\images\events\event_301.jpg">
              <a:extLst>
                <a:ext uri="{FF2B5EF4-FFF2-40B4-BE49-F238E27FC236}">
                  <a16:creationId xmlns:a16="http://schemas.microsoft.com/office/drawing/2014/main" id="{7CC14399-CC51-4B48-9C4C-F47BBDC8ED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 y="2112"/>
              <a:ext cx="1344" cy="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C:\images\events\event_349.jpg">
              <a:extLst>
                <a:ext uri="{FF2B5EF4-FFF2-40B4-BE49-F238E27FC236}">
                  <a16:creationId xmlns:a16="http://schemas.microsoft.com/office/drawing/2014/main" id="{90698FB8-79C1-4A16-B9F1-D78ECAAA96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4" y="1968"/>
              <a:ext cx="910" cy="1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C:\images\events\event_326.jpg">
              <a:extLst>
                <a:ext uri="{FF2B5EF4-FFF2-40B4-BE49-F238E27FC236}">
                  <a16:creationId xmlns:a16="http://schemas.microsoft.com/office/drawing/2014/main" id="{7C1470DC-68DA-4415-A2AC-9E37ED0BD83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80" y="2064"/>
              <a:ext cx="1344" cy="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14">
              <a:extLst>
                <a:ext uri="{FF2B5EF4-FFF2-40B4-BE49-F238E27FC236}">
                  <a16:creationId xmlns:a16="http://schemas.microsoft.com/office/drawing/2014/main" id="{4F98CE52-0FBB-44FD-84C8-4D681544793A}"/>
                </a:ext>
              </a:extLst>
            </p:cNvPr>
            <p:cNvSpPr txBox="1">
              <a:spLocks noChangeArrowheads="1"/>
            </p:cNvSpPr>
            <p:nvPr/>
          </p:nvSpPr>
          <p:spPr bwMode="auto">
            <a:xfrm>
              <a:off x="4224" y="2496"/>
              <a:ext cx="15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altLang="zh-CN" sz="1800" b="1" dirty="0">
                  <a:latin typeface="+mn-lt"/>
                  <a:cs typeface="+mn-ea"/>
                  <a:sym typeface="+mn-lt"/>
                </a:rPr>
                <a:t>Lighting changes.</a:t>
              </a:r>
              <a:endParaRPr lang="nl-NL" altLang="zh-CN" sz="1800" b="1" dirty="0">
                <a:latin typeface="+mn-lt"/>
                <a:cs typeface="+mn-ea"/>
                <a:sym typeface="+mn-lt"/>
              </a:endParaRPr>
            </a:p>
          </p:txBody>
        </p:sp>
      </p:grpSp>
    </p:spTree>
    <p:extLst>
      <p:ext uri="{BB962C8B-B14F-4D97-AF65-F5344CB8AC3E}">
        <p14:creationId xmlns:p14="http://schemas.microsoft.com/office/powerpoint/2010/main" val="18601178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D90AD-B5F3-4141-8B7C-0686BE490BD6}"/>
              </a:ext>
            </a:extLst>
          </p:cNvPr>
          <p:cNvSpPr>
            <a:spLocks noGrp="1"/>
          </p:cNvSpPr>
          <p:nvPr>
            <p:ph type="title"/>
          </p:nvPr>
        </p:nvSpPr>
        <p:spPr/>
        <p:txBody>
          <a:bodyPr/>
          <a:lstStyle/>
          <a:p>
            <a:pPr algn="ctr"/>
            <a:r>
              <a:rPr lang="zh-CN" altLang="en-US" b="1" dirty="0">
                <a:cs typeface="+mn-ea"/>
                <a:sym typeface="+mn-lt"/>
              </a:rPr>
              <a:t>为什么计算机视觉很难？</a:t>
            </a:r>
            <a:endParaRPr lang="zh-CN" altLang="en-US" dirty="0">
              <a:latin typeface="+mn-lt"/>
              <a:ea typeface="+mn-ea"/>
              <a:cs typeface="+mn-ea"/>
              <a:sym typeface="+mn-lt"/>
            </a:endParaRPr>
          </a:p>
        </p:txBody>
      </p:sp>
      <p:grpSp>
        <p:nvGrpSpPr>
          <p:cNvPr id="14" name="Group 24">
            <a:extLst>
              <a:ext uri="{FF2B5EF4-FFF2-40B4-BE49-F238E27FC236}">
                <a16:creationId xmlns:a16="http://schemas.microsoft.com/office/drawing/2014/main" id="{29883DE8-54CB-49F2-AEF2-04BF29FC0B43}"/>
              </a:ext>
            </a:extLst>
          </p:cNvPr>
          <p:cNvGrpSpPr>
            <a:grpSpLocks/>
          </p:cNvGrpSpPr>
          <p:nvPr/>
        </p:nvGrpSpPr>
        <p:grpSpPr bwMode="auto">
          <a:xfrm>
            <a:off x="1760375" y="3467974"/>
            <a:ext cx="9513888" cy="3028950"/>
            <a:chOff x="768" y="1824"/>
            <a:chExt cx="5993" cy="1908"/>
          </a:xfrm>
        </p:grpSpPr>
        <p:pic>
          <p:nvPicPr>
            <p:cNvPr id="15" name="Picture 18" descr="C:\images\events\event_129.jpg">
              <a:extLst>
                <a:ext uri="{FF2B5EF4-FFF2-40B4-BE49-F238E27FC236}">
                  <a16:creationId xmlns:a16="http://schemas.microsoft.com/office/drawing/2014/main" id="{4DC762E2-0BE6-4158-BC02-1D682611B0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 y="1824"/>
              <a:ext cx="1344" cy="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9" descr="C:\images\events\event_093.jpg">
              <a:extLst>
                <a:ext uri="{FF2B5EF4-FFF2-40B4-BE49-F238E27FC236}">
                  <a16:creationId xmlns:a16="http://schemas.microsoft.com/office/drawing/2014/main" id="{B9D3C0E2-D451-4B43-965C-8BEC690C1F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 y="2784"/>
              <a:ext cx="1344" cy="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20">
              <a:extLst>
                <a:ext uri="{FF2B5EF4-FFF2-40B4-BE49-F238E27FC236}">
                  <a16:creationId xmlns:a16="http://schemas.microsoft.com/office/drawing/2014/main" id="{907DC774-2B9D-4587-B03D-61F63A0F185D}"/>
                </a:ext>
              </a:extLst>
            </p:cNvPr>
            <p:cNvSpPr txBox="1">
              <a:spLocks noChangeArrowheads="1"/>
            </p:cNvSpPr>
            <p:nvPr/>
          </p:nvSpPr>
          <p:spPr bwMode="auto">
            <a:xfrm>
              <a:off x="3907" y="2667"/>
              <a:ext cx="285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altLang="zh-CN" sz="1800" b="1" dirty="0">
                  <a:latin typeface="+mn-lt"/>
                  <a:cs typeface="+mn-ea"/>
                  <a:sym typeface="+mn-lt"/>
                </a:rPr>
                <a:t>Similar backgrounds- Different classes.</a:t>
              </a:r>
              <a:endParaRPr lang="nl-NL" altLang="zh-CN" sz="1800" b="1" dirty="0">
                <a:latin typeface="+mn-lt"/>
                <a:cs typeface="+mn-ea"/>
                <a:sym typeface="+mn-lt"/>
              </a:endParaRPr>
            </a:p>
          </p:txBody>
        </p:sp>
        <p:pic>
          <p:nvPicPr>
            <p:cNvPr id="18" name="Picture 21" descr="C:\images\events\event_267.jpg">
              <a:extLst>
                <a:ext uri="{FF2B5EF4-FFF2-40B4-BE49-F238E27FC236}">
                  <a16:creationId xmlns:a16="http://schemas.microsoft.com/office/drawing/2014/main" id="{6A5E09FA-160F-4B74-9BBD-8F6B780192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6" y="1824"/>
              <a:ext cx="1248" cy="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2" descr="C:\images\events\event_219.jpg">
              <a:extLst>
                <a:ext uri="{FF2B5EF4-FFF2-40B4-BE49-F238E27FC236}">
                  <a16:creationId xmlns:a16="http://schemas.microsoft.com/office/drawing/2014/main" id="{74A70233-E856-4619-A79E-2D2E01E2EA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6" y="2796"/>
              <a:ext cx="1248" cy="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0" name="Group 19">
            <a:extLst>
              <a:ext uri="{FF2B5EF4-FFF2-40B4-BE49-F238E27FC236}">
                <a16:creationId xmlns:a16="http://schemas.microsoft.com/office/drawing/2014/main" id="{5B0D9B84-2158-4BE7-BC85-1B60B23A2A42}"/>
              </a:ext>
            </a:extLst>
          </p:cNvPr>
          <p:cNvGrpSpPr/>
          <p:nvPr/>
        </p:nvGrpSpPr>
        <p:grpSpPr>
          <a:xfrm>
            <a:off x="1912775" y="1683464"/>
            <a:ext cx="8587890" cy="1379422"/>
            <a:chOff x="1371600" y="1211378"/>
            <a:chExt cx="8587890" cy="1379422"/>
          </a:xfrm>
        </p:grpSpPr>
        <p:sp>
          <p:nvSpPr>
            <p:cNvPr id="21" name="Text Box 15">
              <a:extLst>
                <a:ext uri="{FF2B5EF4-FFF2-40B4-BE49-F238E27FC236}">
                  <a16:creationId xmlns:a16="http://schemas.microsoft.com/office/drawing/2014/main" id="{C7363E4D-9224-4712-AFA5-21E3DB2E2E18}"/>
                </a:ext>
              </a:extLst>
            </p:cNvPr>
            <p:cNvSpPr txBox="1">
              <a:spLocks noChangeArrowheads="1"/>
            </p:cNvSpPr>
            <p:nvPr/>
          </p:nvSpPr>
          <p:spPr bwMode="auto">
            <a:xfrm>
              <a:off x="6202363" y="1720334"/>
              <a:ext cx="37571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altLang="zh-CN" sz="1800" b="1" dirty="0">
                  <a:latin typeface="+mn-lt"/>
                  <a:cs typeface="+mn-ea"/>
                  <a:sym typeface="+mn-lt"/>
                </a:rPr>
                <a:t>Background variation.</a:t>
              </a:r>
              <a:endParaRPr lang="nl-NL" altLang="zh-CN" sz="1800" b="1" dirty="0">
                <a:latin typeface="+mn-lt"/>
                <a:cs typeface="+mn-ea"/>
                <a:sym typeface="+mn-lt"/>
              </a:endParaRPr>
            </a:p>
          </p:txBody>
        </p:sp>
        <p:pic>
          <p:nvPicPr>
            <p:cNvPr id="22" name="Picture 26" descr="C:\students\master09\events\event_001.jpg">
              <a:extLst>
                <a:ext uri="{FF2B5EF4-FFF2-40B4-BE49-F238E27FC236}">
                  <a16:creationId xmlns:a16="http://schemas.microsoft.com/office/drawing/2014/main" id="{94A0545A-0DCB-49AF-85A5-FCB45BFF0E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1211378"/>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27" descr="C:\students\master09\events\event_013.jpg">
              <a:extLst>
                <a:ext uri="{FF2B5EF4-FFF2-40B4-BE49-F238E27FC236}">
                  <a16:creationId xmlns:a16="http://schemas.microsoft.com/office/drawing/2014/main" id="{32084689-18E4-4353-A16D-D9FF3DDAF5C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7600" y="1219200"/>
              <a:ext cx="22860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0171998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D1A87-1FCB-4A18-A5B3-82A5C8CE4354}"/>
              </a:ext>
            </a:extLst>
          </p:cNvPr>
          <p:cNvSpPr>
            <a:spLocks noGrp="1"/>
          </p:cNvSpPr>
          <p:nvPr>
            <p:ph type="title"/>
          </p:nvPr>
        </p:nvSpPr>
        <p:spPr/>
        <p:txBody>
          <a:bodyPr/>
          <a:lstStyle/>
          <a:p>
            <a:r>
              <a:rPr lang="zh-CN" altLang="en-US" b="1" dirty="0"/>
              <a:t>数据高效：问题和解决方案</a:t>
            </a:r>
          </a:p>
        </p:txBody>
      </p:sp>
      <p:pic>
        <p:nvPicPr>
          <p:cNvPr id="5" name="Content Placeholder 4">
            <a:extLst>
              <a:ext uri="{FF2B5EF4-FFF2-40B4-BE49-F238E27FC236}">
                <a16:creationId xmlns:a16="http://schemas.microsoft.com/office/drawing/2014/main" id="{C21CBE5D-5445-436D-A364-7562FEBB2DC2}"/>
              </a:ext>
            </a:extLst>
          </p:cNvPr>
          <p:cNvPicPr>
            <a:picLocks noGrp="1" noChangeAspect="1"/>
          </p:cNvPicPr>
          <p:nvPr>
            <p:ph idx="1"/>
          </p:nvPr>
        </p:nvPicPr>
        <p:blipFill>
          <a:blip r:embed="rId3"/>
          <a:stretch>
            <a:fillRect/>
          </a:stretch>
        </p:blipFill>
        <p:spPr>
          <a:xfrm>
            <a:off x="838200" y="1833767"/>
            <a:ext cx="5679996" cy="4257447"/>
          </a:xfrm>
          <a:prstGeom prst="rect">
            <a:avLst/>
          </a:prstGeom>
        </p:spPr>
      </p:pic>
      <p:pic>
        <p:nvPicPr>
          <p:cNvPr id="4" name="Picture 3">
            <a:extLst>
              <a:ext uri="{FF2B5EF4-FFF2-40B4-BE49-F238E27FC236}">
                <a16:creationId xmlns:a16="http://schemas.microsoft.com/office/drawing/2014/main" id="{03FAA680-B369-4768-AFC1-7383735DB0D2}"/>
              </a:ext>
            </a:extLst>
          </p:cNvPr>
          <p:cNvPicPr>
            <a:picLocks noChangeAspect="1"/>
          </p:cNvPicPr>
          <p:nvPr/>
        </p:nvPicPr>
        <p:blipFill>
          <a:blip r:embed="rId4"/>
          <a:stretch>
            <a:fillRect/>
          </a:stretch>
        </p:blipFill>
        <p:spPr>
          <a:xfrm>
            <a:off x="6941491" y="1432108"/>
            <a:ext cx="4230485" cy="5060767"/>
          </a:xfrm>
          <a:prstGeom prst="rect">
            <a:avLst/>
          </a:prstGeom>
        </p:spPr>
      </p:pic>
      <p:sp>
        <p:nvSpPr>
          <p:cNvPr id="6" name="TextBox 5">
            <a:extLst>
              <a:ext uri="{FF2B5EF4-FFF2-40B4-BE49-F238E27FC236}">
                <a16:creationId xmlns:a16="http://schemas.microsoft.com/office/drawing/2014/main" id="{D1658E61-7261-4668-9FF6-FD2809DB944E}"/>
              </a:ext>
            </a:extLst>
          </p:cNvPr>
          <p:cNvSpPr txBox="1"/>
          <p:nvPr/>
        </p:nvSpPr>
        <p:spPr>
          <a:xfrm>
            <a:off x="10152018" y="6488668"/>
            <a:ext cx="2039982" cy="369332"/>
          </a:xfrm>
          <a:prstGeom prst="rect">
            <a:avLst/>
          </a:prstGeom>
          <a:noFill/>
        </p:spPr>
        <p:txBody>
          <a:bodyPr wrap="none" rtlCol="0">
            <a:spAutoFit/>
          </a:bodyPr>
          <a:lstStyle/>
          <a:p>
            <a:r>
              <a:rPr lang="en-US" altLang="zh-CN" b="1" dirty="0">
                <a:cs typeface="+mn-ea"/>
                <a:sym typeface="+mn-lt"/>
              </a:rPr>
              <a:t>Credits</a:t>
            </a:r>
            <a:r>
              <a:rPr lang="en-US" altLang="zh-CN" dirty="0">
                <a:cs typeface="+mn-ea"/>
                <a:sym typeface="+mn-lt"/>
              </a:rPr>
              <a:t>: </a:t>
            </a:r>
            <a:r>
              <a:rPr lang="en-US" altLang="zh-CN" dirty="0" err="1">
                <a:cs typeface="+mn-ea"/>
                <a:sym typeface="+mn-lt"/>
              </a:rPr>
              <a:t>Lingxi</a:t>
            </a:r>
            <a:r>
              <a:rPr lang="en-US" altLang="zh-CN" dirty="0">
                <a:cs typeface="+mn-ea"/>
                <a:sym typeface="+mn-lt"/>
              </a:rPr>
              <a:t> </a:t>
            </a:r>
            <a:r>
              <a:rPr lang="en-US" altLang="zh-CN" dirty="0" err="1">
                <a:cs typeface="+mn-ea"/>
                <a:sym typeface="+mn-lt"/>
              </a:rPr>
              <a:t>Xie</a:t>
            </a:r>
            <a:endParaRPr lang="zh-CN" altLang="en-US" dirty="0">
              <a:cs typeface="+mn-ea"/>
              <a:sym typeface="+mn-lt"/>
            </a:endParaRPr>
          </a:p>
        </p:txBody>
      </p:sp>
    </p:spTree>
    <p:extLst>
      <p:ext uri="{BB962C8B-B14F-4D97-AF65-F5344CB8AC3E}">
        <p14:creationId xmlns:p14="http://schemas.microsoft.com/office/powerpoint/2010/main" val="5694356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B3727-EAF9-4708-A196-FBE0763CD772}"/>
              </a:ext>
            </a:extLst>
          </p:cNvPr>
          <p:cNvSpPr>
            <a:spLocks noGrp="1"/>
          </p:cNvSpPr>
          <p:nvPr>
            <p:ph type="title"/>
          </p:nvPr>
        </p:nvSpPr>
        <p:spPr/>
        <p:txBody>
          <a:bodyPr/>
          <a:lstStyle/>
          <a:p>
            <a:r>
              <a:rPr lang="zh-CN" altLang="en-US" b="1" dirty="0"/>
              <a:t>提纲</a:t>
            </a:r>
          </a:p>
        </p:txBody>
      </p:sp>
      <p:sp>
        <p:nvSpPr>
          <p:cNvPr id="3" name="Content Placeholder 2">
            <a:extLst>
              <a:ext uri="{FF2B5EF4-FFF2-40B4-BE49-F238E27FC236}">
                <a16:creationId xmlns:a16="http://schemas.microsoft.com/office/drawing/2014/main" id="{C309EE0F-29CA-491F-8141-892F5308F8CE}"/>
              </a:ext>
            </a:extLst>
          </p:cNvPr>
          <p:cNvSpPr>
            <a:spLocks noGrp="1"/>
          </p:cNvSpPr>
          <p:nvPr>
            <p:ph idx="1"/>
          </p:nvPr>
        </p:nvSpPr>
        <p:spPr/>
        <p:txBody>
          <a:bodyPr/>
          <a:lstStyle/>
          <a:p>
            <a:pPr>
              <a:lnSpc>
                <a:spcPct val="150000"/>
              </a:lnSpc>
            </a:pPr>
            <a:r>
              <a:rPr lang="zh-CN" altLang="en-US" b="1" dirty="0"/>
              <a:t>计算机视觉的定义</a:t>
            </a:r>
            <a:endParaRPr lang="en-US" altLang="zh-CN" b="1" dirty="0"/>
          </a:p>
          <a:p>
            <a:pPr>
              <a:lnSpc>
                <a:spcPct val="150000"/>
              </a:lnSpc>
            </a:pPr>
            <a:r>
              <a:rPr lang="zh-CN" altLang="en-US" b="1" dirty="0"/>
              <a:t>计算机视觉的典型问题和应用</a:t>
            </a:r>
            <a:endParaRPr lang="en-US" altLang="zh-CN" b="1" dirty="0"/>
          </a:p>
          <a:p>
            <a:pPr>
              <a:lnSpc>
                <a:spcPct val="150000"/>
              </a:lnSpc>
            </a:pPr>
            <a:r>
              <a:rPr lang="zh-CN" altLang="en-US" b="1" dirty="0">
                <a:solidFill>
                  <a:schemeClr val="accent1"/>
                </a:solidFill>
              </a:rPr>
              <a:t>计算机视觉的发展历史</a:t>
            </a:r>
            <a:endParaRPr lang="en-US" altLang="zh-CN" b="1" dirty="0">
              <a:solidFill>
                <a:schemeClr val="accent1"/>
              </a:solidFill>
            </a:endParaRPr>
          </a:p>
          <a:p>
            <a:pPr marL="0" indent="0">
              <a:lnSpc>
                <a:spcPct val="150000"/>
              </a:lnSpc>
              <a:buNone/>
            </a:pPr>
            <a:endParaRPr lang="zh-CN" altLang="en-US" dirty="0"/>
          </a:p>
        </p:txBody>
      </p:sp>
    </p:spTree>
    <p:extLst>
      <p:ext uri="{BB962C8B-B14F-4D97-AF65-F5344CB8AC3E}">
        <p14:creationId xmlns:p14="http://schemas.microsoft.com/office/powerpoint/2010/main" val="24702398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EE6B6-C4F9-43E4-AF95-9AD3BF3A27EE}"/>
              </a:ext>
            </a:extLst>
          </p:cNvPr>
          <p:cNvSpPr>
            <a:spLocks noGrp="1"/>
          </p:cNvSpPr>
          <p:nvPr>
            <p:ph type="title"/>
          </p:nvPr>
        </p:nvSpPr>
        <p:spPr>
          <a:xfrm>
            <a:off x="838200" y="365125"/>
            <a:ext cx="10515600" cy="1325563"/>
          </a:xfrm>
        </p:spPr>
        <p:txBody>
          <a:bodyPr/>
          <a:lstStyle/>
          <a:p>
            <a:pPr algn="ctr"/>
            <a:r>
              <a:rPr lang="zh-CN" altLang="en-US" b="1" dirty="0"/>
              <a:t>计算机视觉的历史</a:t>
            </a:r>
          </a:p>
        </p:txBody>
      </p:sp>
      <p:pic>
        <p:nvPicPr>
          <p:cNvPr id="4" name="Picture 3">
            <a:extLst>
              <a:ext uri="{FF2B5EF4-FFF2-40B4-BE49-F238E27FC236}">
                <a16:creationId xmlns:a16="http://schemas.microsoft.com/office/drawing/2014/main" id="{0B173372-1591-4E7E-AFBE-53D194CB6002}"/>
              </a:ext>
            </a:extLst>
          </p:cNvPr>
          <p:cNvPicPr>
            <a:picLocks noChangeAspect="1"/>
          </p:cNvPicPr>
          <p:nvPr/>
        </p:nvPicPr>
        <p:blipFill>
          <a:blip r:embed="rId3"/>
          <a:stretch>
            <a:fillRect/>
          </a:stretch>
        </p:blipFill>
        <p:spPr>
          <a:xfrm>
            <a:off x="1594379" y="1776903"/>
            <a:ext cx="9076267" cy="4825103"/>
          </a:xfrm>
          <a:prstGeom prst="rect">
            <a:avLst/>
          </a:prstGeom>
        </p:spPr>
      </p:pic>
      <p:sp>
        <p:nvSpPr>
          <p:cNvPr id="6" name="Rectangle 5">
            <a:extLst>
              <a:ext uri="{FF2B5EF4-FFF2-40B4-BE49-F238E27FC236}">
                <a16:creationId xmlns:a16="http://schemas.microsoft.com/office/drawing/2014/main" id="{0AE5A4BD-FFE9-4D49-8929-AC6F4E63D8B8}"/>
              </a:ext>
            </a:extLst>
          </p:cNvPr>
          <p:cNvSpPr/>
          <p:nvPr/>
        </p:nvSpPr>
        <p:spPr>
          <a:xfrm>
            <a:off x="6353175" y="6602006"/>
            <a:ext cx="6096000" cy="253916"/>
          </a:xfrm>
          <a:prstGeom prst="rect">
            <a:avLst/>
          </a:prstGeom>
        </p:spPr>
        <p:txBody>
          <a:bodyPr>
            <a:spAutoFit/>
          </a:bodyPr>
          <a:lstStyle/>
          <a:p>
            <a:r>
              <a:rPr lang="zh-CN" altLang="en-US" sz="1050" dirty="0">
                <a:hlinkClick r:id="rId4"/>
              </a:rPr>
              <a:t>https://www.youtube.com/watch?v=vT1JzLTH4G4&amp;list=PLC1qU-LWwrF64f4QKQT-Vg5Wr4qEE1Zxk</a:t>
            </a:r>
            <a:endParaRPr lang="en-US" altLang="zh-CN" sz="1050" dirty="0"/>
          </a:p>
        </p:txBody>
      </p:sp>
    </p:spTree>
    <p:extLst>
      <p:ext uri="{BB962C8B-B14F-4D97-AF65-F5344CB8AC3E}">
        <p14:creationId xmlns:p14="http://schemas.microsoft.com/office/powerpoint/2010/main" val="31966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DFBBF-8E55-4F3D-8561-020BDC6509E3}"/>
              </a:ext>
            </a:extLst>
          </p:cNvPr>
          <p:cNvSpPr>
            <a:spLocks noGrp="1"/>
          </p:cNvSpPr>
          <p:nvPr>
            <p:ph type="title"/>
          </p:nvPr>
        </p:nvSpPr>
        <p:spPr/>
        <p:txBody>
          <a:bodyPr/>
          <a:lstStyle/>
          <a:p>
            <a:pPr algn="ctr"/>
            <a:r>
              <a:rPr lang="zh-CN" altLang="en-US" b="1" dirty="0"/>
              <a:t>计算机视觉的历史</a:t>
            </a:r>
            <a:endParaRPr lang="zh-CN" altLang="en-US" dirty="0"/>
          </a:p>
        </p:txBody>
      </p:sp>
      <p:pic>
        <p:nvPicPr>
          <p:cNvPr id="4" name="Picture 3">
            <a:extLst>
              <a:ext uri="{FF2B5EF4-FFF2-40B4-BE49-F238E27FC236}">
                <a16:creationId xmlns:a16="http://schemas.microsoft.com/office/drawing/2014/main" id="{254B69B1-987D-4030-B829-CB5F8C16C7FE}"/>
              </a:ext>
            </a:extLst>
          </p:cNvPr>
          <p:cNvPicPr>
            <a:picLocks noChangeAspect="1"/>
          </p:cNvPicPr>
          <p:nvPr/>
        </p:nvPicPr>
        <p:blipFill>
          <a:blip r:embed="rId3"/>
          <a:stretch>
            <a:fillRect/>
          </a:stretch>
        </p:blipFill>
        <p:spPr>
          <a:xfrm>
            <a:off x="2728912" y="1352550"/>
            <a:ext cx="6734175" cy="5505450"/>
          </a:xfrm>
          <a:prstGeom prst="rect">
            <a:avLst/>
          </a:prstGeom>
        </p:spPr>
      </p:pic>
    </p:spTree>
    <p:extLst>
      <p:ext uri="{BB962C8B-B14F-4D97-AF65-F5344CB8AC3E}">
        <p14:creationId xmlns:p14="http://schemas.microsoft.com/office/powerpoint/2010/main" val="29745086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5FA84-4680-4E65-AB9D-E431E0F5D537}"/>
              </a:ext>
            </a:extLst>
          </p:cNvPr>
          <p:cNvSpPr>
            <a:spLocks noGrp="1"/>
          </p:cNvSpPr>
          <p:nvPr>
            <p:ph type="title"/>
          </p:nvPr>
        </p:nvSpPr>
        <p:spPr/>
        <p:txBody>
          <a:bodyPr/>
          <a:lstStyle/>
          <a:p>
            <a:pPr algn="ctr"/>
            <a:r>
              <a:rPr lang="zh-CN" altLang="en-US" b="1" dirty="0">
                <a:latin typeface="+mn-lt"/>
                <a:ea typeface="+mn-ea"/>
                <a:cs typeface="+mn-ea"/>
                <a:sym typeface="+mn-lt"/>
              </a:rPr>
              <a:t>发展阶段</a:t>
            </a:r>
          </a:p>
        </p:txBody>
      </p:sp>
      <p:sp>
        <p:nvSpPr>
          <p:cNvPr id="3" name="Content Placeholder 2">
            <a:extLst>
              <a:ext uri="{FF2B5EF4-FFF2-40B4-BE49-F238E27FC236}">
                <a16:creationId xmlns:a16="http://schemas.microsoft.com/office/drawing/2014/main" id="{80A367B5-2416-427C-A130-CF36F68C6052}"/>
              </a:ext>
            </a:extLst>
          </p:cNvPr>
          <p:cNvSpPr>
            <a:spLocks noGrp="1"/>
          </p:cNvSpPr>
          <p:nvPr>
            <p:ph idx="1"/>
          </p:nvPr>
        </p:nvSpPr>
        <p:spPr/>
        <p:txBody>
          <a:bodyPr/>
          <a:lstStyle/>
          <a:p>
            <a:pPr>
              <a:lnSpc>
                <a:spcPct val="150000"/>
              </a:lnSpc>
            </a:pPr>
            <a:r>
              <a:rPr lang="zh-CN" altLang="en-US" b="1" dirty="0">
                <a:cs typeface="+mn-ea"/>
                <a:sym typeface="+mn-lt"/>
              </a:rPr>
              <a:t>马尔计算视觉（</a:t>
            </a:r>
            <a:r>
              <a:rPr lang="en-US" altLang="zh-CN" b="1" dirty="0">
                <a:cs typeface="+mn-ea"/>
                <a:sym typeface="+mn-lt"/>
              </a:rPr>
              <a:t>Computational Vision)</a:t>
            </a:r>
          </a:p>
          <a:p>
            <a:pPr>
              <a:lnSpc>
                <a:spcPct val="150000"/>
              </a:lnSpc>
            </a:pPr>
            <a:r>
              <a:rPr lang="zh-CN" altLang="en-US" b="1" dirty="0">
                <a:cs typeface="+mn-ea"/>
                <a:sym typeface="+mn-lt"/>
              </a:rPr>
              <a:t>主动和目的视觉</a:t>
            </a:r>
            <a:endParaRPr lang="en-US" altLang="zh-CN" b="1" dirty="0">
              <a:cs typeface="+mn-ea"/>
              <a:sym typeface="+mn-lt"/>
            </a:endParaRPr>
          </a:p>
          <a:p>
            <a:pPr>
              <a:lnSpc>
                <a:spcPct val="150000"/>
              </a:lnSpc>
            </a:pPr>
            <a:r>
              <a:rPr lang="zh-CN" altLang="en-US" b="1" dirty="0">
                <a:cs typeface="+mn-ea"/>
                <a:sym typeface="+mn-lt"/>
              </a:rPr>
              <a:t>多视几何和分层三维重建</a:t>
            </a:r>
            <a:endParaRPr lang="en-US" altLang="zh-CN" b="1" dirty="0">
              <a:cs typeface="+mn-ea"/>
              <a:sym typeface="+mn-lt"/>
            </a:endParaRPr>
          </a:p>
          <a:p>
            <a:pPr>
              <a:lnSpc>
                <a:spcPct val="150000"/>
              </a:lnSpc>
            </a:pPr>
            <a:r>
              <a:rPr lang="zh-CN" altLang="en-US" b="1" dirty="0">
                <a:cs typeface="+mn-ea"/>
                <a:sym typeface="+mn-lt"/>
              </a:rPr>
              <a:t>基于学习的视觉（</a:t>
            </a:r>
            <a:r>
              <a:rPr lang="en-US" altLang="zh-CN" b="1" dirty="0">
                <a:cs typeface="+mn-ea"/>
                <a:sym typeface="+mn-lt"/>
              </a:rPr>
              <a:t>Learning based vision)</a:t>
            </a:r>
            <a:endParaRPr lang="zh-CN" altLang="en-US" b="1" dirty="0">
              <a:cs typeface="+mn-ea"/>
              <a:sym typeface="+mn-lt"/>
            </a:endParaRPr>
          </a:p>
        </p:txBody>
      </p:sp>
      <p:sp>
        <p:nvSpPr>
          <p:cNvPr id="5" name="Rectangle 4">
            <a:extLst>
              <a:ext uri="{FF2B5EF4-FFF2-40B4-BE49-F238E27FC236}">
                <a16:creationId xmlns:a16="http://schemas.microsoft.com/office/drawing/2014/main" id="{8EC24838-6DBC-4A7E-8A63-D2A86B10F599}"/>
              </a:ext>
            </a:extLst>
          </p:cNvPr>
          <p:cNvSpPr/>
          <p:nvPr/>
        </p:nvSpPr>
        <p:spPr>
          <a:xfrm>
            <a:off x="6307056" y="6488668"/>
            <a:ext cx="5884944" cy="369332"/>
          </a:xfrm>
          <a:prstGeom prst="rect">
            <a:avLst/>
          </a:prstGeom>
        </p:spPr>
        <p:txBody>
          <a:bodyPr wrap="none">
            <a:spAutoFit/>
          </a:bodyPr>
          <a:lstStyle/>
          <a:p>
            <a:r>
              <a:rPr lang="en-US" altLang="zh-CN" dirty="0">
                <a:cs typeface="+mn-ea"/>
                <a:sym typeface="+mn-lt"/>
                <a:hlinkClick r:id="rId2"/>
              </a:rPr>
              <a:t>《</a:t>
            </a:r>
            <a:r>
              <a:rPr lang="zh-CN" altLang="en-US" dirty="0">
                <a:cs typeface="+mn-ea"/>
                <a:sym typeface="+mn-lt"/>
                <a:hlinkClick r:id="rId2"/>
              </a:rPr>
              <a:t>计算机视觉简介：历史、现状和发展趋势？</a:t>
            </a:r>
            <a:r>
              <a:rPr lang="en-US" altLang="zh-CN" dirty="0">
                <a:cs typeface="+mn-ea"/>
                <a:sym typeface="+mn-lt"/>
                <a:hlinkClick r:id="rId2"/>
              </a:rPr>
              <a:t>》--</a:t>
            </a:r>
            <a:r>
              <a:rPr lang="zh-CN" altLang="en-US" dirty="0">
                <a:cs typeface="+mn-ea"/>
                <a:sym typeface="+mn-lt"/>
                <a:hlinkClick r:id="rId2"/>
              </a:rPr>
              <a:t>胡占义 </a:t>
            </a:r>
            <a:endParaRPr lang="zh-CN" altLang="en-US" dirty="0">
              <a:cs typeface="+mn-ea"/>
              <a:sym typeface="+mn-lt"/>
            </a:endParaRPr>
          </a:p>
        </p:txBody>
      </p:sp>
    </p:spTree>
    <p:extLst>
      <p:ext uri="{BB962C8B-B14F-4D97-AF65-F5344CB8AC3E}">
        <p14:creationId xmlns:p14="http://schemas.microsoft.com/office/powerpoint/2010/main" val="4407887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CB8C1-CC13-410D-ADFC-744C8D328E3F}"/>
              </a:ext>
            </a:extLst>
          </p:cNvPr>
          <p:cNvSpPr>
            <a:spLocks noGrp="1"/>
          </p:cNvSpPr>
          <p:nvPr>
            <p:ph type="title"/>
          </p:nvPr>
        </p:nvSpPr>
        <p:spPr/>
        <p:txBody>
          <a:bodyPr/>
          <a:lstStyle/>
          <a:p>
            <a:pPr algn="ctr"/>
            <a:r>
              <a:rPr lang="zh-CN" altLang="en-US" b="1" dirty="0"/>
              <a:t>马尔计算视觉</a:t>
            </a:r>
          </a:p>
        </p:txBody>
      </p:sp>
      <p:sp>
        <p:nvSpPr>
          <p:cNvPr id="3" name="Content Placeholder 2">
            <a:extLst>
              <a:ext uri="{FF2B5EF4-FFF2-40B4-BE49-F238E27FC236}">
                <a16:creationId xmlns:a16="http://schemas.microsoft.com/office/drawing/2014/main" id="{810FFA6B-C86A-4F2E-BBE5-885B6741FE68}"/>
              </a:ext>
            </a:extLst>
          </p:cNvPr>
          <p:cNvSpPr>
            <a:spLocks noGrp="1"/>
          </p:cNvSpPr>
          <p:nvPr>
            <p:ph idx="1"/>
          </p:nvPr>
        </p:nvSpPr>
        <p:spPr>
          <a:xfrm>
            <a:off x="838199" y="1825625"/>
            <a:ext cx="6334125" cy="4351338"/>
          </a:xfrm>
        </p:spPr>
        <p:txBody>
          <a:bodyPr>
            <a:normAutofit fontScale="92500" lnSpcReduction="10000"/>
          </a:bodyPr>
          <a:lstStyle/>
          <a:p>
            <a:pPr>
              <a:lnSpc>
                <a:spcPct val="110000"/>
              </a:lnSpc>
            </a:pPr>
            <a:r>
              <a:rPr lang="en-US" altLang="zh-CN" dirty="0"/>
              <a:t>Marr</a:t>
            </a:r>
            <a:r>
              <a:rPr lang="zh-CN" altLang="en-US" dirty="0"/>
              <a:t>在</a:t>
            </a:r>
            <a:r>
              <a:rPr lang="en-US" altLang="zh-CN" dirty="0"/>
              <a:t>80</a:t>
            </a:r>
            <a:r>
              <a:rPr lang="zh-CN" altLang="en-US" dirty="0"/>
              <a:t>年代初，首次从信息处理的角度，综合了图像处理、心理物理学、神经生物学、临床精神病学的研究成果，提出了第一个较为完善的视觉系统框架，形成了</a:t>
            </a:r>
            <a:r>
              <a:rPr lang="en-US" altLang="zh-CN" dirty="0"/>
              <a:t>Marr</a:t>
            </a:r>
            <a:r>
              <a:rPr lang="zh-CN" altLang="en-US" dirty="0"/>
              <a:t>计算视觉理论。</a:t>
            </a:r>
          </a:p>
          <a:p>
            <a:pPr>
              <a:lnSpc>
                <a:spcPct val="110000"/>
              </a:lnSpc>
            </a:pPr>
            <a:r>
              <a:rPr lang="en-US" altLang="zh-CN" dirty="0"/>
              <a:t>Marr</a:t>
            </a:r>
            <a:r>
              <a:rPr lang="zh-CN" altLang="en-US" dirty="0"/>
              <a:t>计算视觉理论有二个核心论点：</a:t>
            </a:r>
          </a:p>
          <a:p>
            <a:pPr lvl="1">
              <a:lnSpc>
                <a:spcPct val="110000"/>
              </a:lnSpc>
            </a:pPr>
            <a:r>
              <a:rPr lang="zh-CN" altLang="en-US" dirty="0"/>
              <a:t>人类视觉的主要功能是复原三维场景的可见几何表面，即三维重建问题；</a:t>
            </a:r>
          </a:p>
          <a:p>
            <a:pPr lvl="1">
              <a:lnSpc>
                <a:spcPct val="110000"/>
              </a:lnSpc>
            </a:pPr>
            <a:r>
              <a:rPr lang="zh-CN" altLang="en-US" dirty="0"/>
              <a:t>其次，马尔认为这种从二维图像到三维几何结构的复原过程可以通过计算完成。</a:t>
            </a:r>
          </a:p>
        </p:txBody>
      </p:sp>
      <p:pic>
        <p:nvPicPr>
          <p:cNvPr id="8194" name="Picture 2" descr="https://pic2.zhimg.com/80/v2-0cd407e1f47871ec4d514b6dc7c7ff19_720w.jpg">
            <a:extLst>
              <a:ext uri="{FF2B5EF4-FFF2-40B4-BE49-F238E27FC236}">
                <a16:creationId xmlns:a16="http://schemas.microsoft.com/office/drawing/2014/main" id="{4442B592-7D0D-46D7-86EF-446F033CFF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2344" y="1598659"/>
            <a:ext cx="3680531" cy="4896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68735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CB8C1-CC13-410D-ADFC-744C8D328E3F}"/>
              </a:ext>
            </a:extLst>
          </p:cNvPr>
          <p:cNvSpPr>
            <a:spLocks noGrp="1"/>
          </p:cNvSpPr>
          <p:nvPr>
            <p:ph type="title"/>
          </p:nvPr>
        </p:nvSpPr>
        <p:spPr/>
        <p:txBody>
          <a:bodyPr/>
          <a:lstStyle/>
          <a:p>
            <a:pPr algn="ctr"/>
            <a:r>
              <a:rPr lang="zh-CN" altLang="en-US" b="1" dirty="0"/>
              <a:t>马尔计算视觉</a:t>
            </a:r>
          </a:p>
        </p:txBody>
      </p:sp>
      <p:sp>
        <p:nvSpPr>
          <p:cNvPr id="3" name="Content Placeholder 2">
            <a:extLst>
              <a:ext uri="{FF2B5EF4-FFF2-40B4-BE49-F238E27FC236}">
                <a16:creationId xmlns:a16="http://schemas.microsoft.com/office/drawing/2014/main" id="{810FFA6B-C86A-4F2E-BBE5-885B6741FE68}"/>
              </a:ext>
            </a:extLst>
          </p:cNvPr>
          <p:cNvSpPr>
            <a:spLocks noGrp="1"/>
          </p:cNvSpPr>
          <p:nvPr>
            <p:ph idx="1"/>
          </p:nvPr>
        </p:nvSpPr>
        <p:spPr>
          <a:xfrm>
            <a:off x="838199" y="1825625"/>
            <a:ext cx="6334125" cy="4351338"/>
          </a:xfrm>
        </p:spPr>
        <p:txBody>
          <a:bodyPr/>
          <a:lstStyle/>
          <a:p>
            <a:r>
              <a:rPr lang="en-US" altLang="zh-CN" dirty="0"/>
              <a:t>Stages of Visual Representation</a:t>
            </a:r>
            <a:endParaRPr lang="zh-CN" altLang="en-US" dirty="0"/>
          </a:p>
        </p:txBody>
      </p:sp>
      <p:pic>
        <p:nvPicPr>
          <p:cNvPr id="4" name="Picture 3">
            <a:extLst>
              <a:ext uri="{FF2B5EF4-FFF2-40B4-BE49-F238E27FC236}">
                <a16:creationId xmlns:a16="http://schemas.microsoft.com/office/drawing/2014/main" id="{D5869246-440A-4BA9-92E4-E8A082F8F177}"/>
              </a:ext>
            </a:extLst>
          </p:cNvPr>
          <p:cNvPicPr>
            <a:picLocks noChangeAspect="1"/>
          </p:cNvPicPr>
          <p:nvPr/>
        </p:nvPicPr>
        <p:blipFill>
          <a:blip r:embed="rId3"/>
          <a:stretch>
            <a:fillRect/>
          </a:stretch>
        </p:blipFill>
        <p:spPr>
          <a:xfrm>
            <a:off x="2841381" y="2382837"/>
            <a:ext cx="6582264" cy="4280671"/>
          </a:xfrm>
          <a:prstGeom prst="rect">
            <a:avLst/>
          </a:prstGeom>
        </p:spPr>
      </p:pic>
    </p:spTree>
    <p:extLst>
      <p:ext uri="{BB962C8B-B14F-4D97-AF65-F5344CB8AC3E}">
        <p14:creationId xmlns:p14="http://schemas.microsoft.com/office/powerpoint/2010/main" val="28885397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AB074-BEC3-4484-9FC4-D91A18B53C3E}"/>
              </a:ext>
            </a:extLst>
          </p:cNvPr>
          <p:cNvSpPr>
            <a:spLocks noGrp="1"/>
          </p:cNvSpPr>
          <p:nvPr>
            <p:ph type="title"/>
          </p:nvPr>
        </p:nvSpPr>
        <p:spPr/>
        <p:txBody>
          <a:bodyPr/>
          <a:lstStyle/>
          <a:p>
            <a:pPr algn="ctr"/>
            <a:r>
              <a:rPr lang="zh-CN" altLang="en-US" b="1" dirty="0">
                <a:cs typeface="+mn-ea"/>
                <a:sym typeface="+mn-lt"/>
              </a:rPr>
              <a:t>主动和目的视觉</a:t>
            </a:r>
            <a:endParaRPr lang="zh-CN" altLang="en-US" b="1" dirty="0"/>
          </a:p>
        </p:txBody>
      </p:sp>
      <p:sp>
        <p:nvSpPr>
          <p:cNvPr id="3" name="Content Placeholder 2">
            <a:extLst>
              <a:ext uri="{FF2B5EF4-FFF2-40B4-BE49-F238E27FC236}">
                <a16:creationId xmlns:a16="http://schemas.microsoft.com/office/drawing/2014/main" id="{5ADDA4AB-02BB-4AD1-A1ED-96AB28440C29}"/>
              </a:ext>
            </a:extLst>
          </p:cNvPr>
          <p:cNvSpPr>
            <a:spLocks noGrp="1"/>
          </p:cNvSpPr>
          <p:nvPr>
            <p:ph idx="1"/>
          </p:nvPr>
        </p:nvSpPr>
        <p:spPr/>
        <p:txBody>
          <a:bodyPr/>
          <a:lstStyle/>
          <a:p>
            <a:pPr>
              <a:lnSpc>
                <a:spcPct val="150000"/>
              </a:lnSpc>
            </a:pPr>
            <a:r>
              <a:rPr lang="zh-CN" altLang="en-US" dirty="0"/>
              <a:t>宾夕法尼亚大学的 </a:t>
            </a:r>
            <a:r>
              <a:rPr lang="en-US" altLang="zh-CN" dirty="0"/>
              <a:t>R. </a:t>
            </a:r>
            <a:r>
              <a:rPr lang="en-US" altLang="zh-CN" dirty="0" err="1"/>
              <a:t>Bajcsy</a:t>
            </a:r>
            <a:r>
              <a:rPr lang="zh-CN" altLang="en-US" dirty="0"/>
              <a:t>认为：视觉过程必然存在人与环境的交互，并提出了主动视觉的概念（</a:t>
            </a:r>
            <a:r>
              <a:rPr lang="en-US" altLang="zh-CN" dirty="0"/>
              <a:t>active vision</a:t>
            </a:r>
            <a:r>
              <a:rPr lang="zh-CN" altLang="en-US" dirty="0"/>
              <a:t>）。</a:t>
            </a:r>
            <a:endParaRPr lang="en-US" altLang="zh-CN" dirty="0"/>
          </a:p>
          <a:p>
            <a:pPr>
              <a:lnSpc>
                <a:spcPct val="150000"/>
              </a:lnSpc>
            </a:pPr>
            <a:r>
              <a:rPr lang="zh-CN" altLang="en-US" dirty="0"/>
              <a:t>马里兰大学的 </a:t>
            </a:r>
            <a:r>
              <a:rPr lang="en-US" altLang="zh-CN" dirty="0"/>
              <a:t>J. Y. </a:t>
            </a:r>
            <a:r>
              <a:rPr lang="en-US" altLang="zh-CN" dirty="0" err="1"/>
              <a:t>Aloimono</a:t>
            </a:r>
            <a:r>
              <a:rPr lang="zh-CN" altLang="en-US" dirty="0"/>
              <a:t>认为视觉要有目的性，且在很多应用，不需要严格三维重建，并提出了“目的和定性视觉”（</a:t>
            </a:r>
            <a:r>
              <a:rPr lang="en-US" altLang="zh-CN" dirty="0"/>
              <a:t>purpose and qualitative vision</a:t>
            </a:r>
            <a:r>
              <a:rPr lang="zh-CN" altLang="en-US" dirty="0"/>
              <a:t>） 的概念。</a:t>
            </a:r>
            <a:endParaRPr lang="en-US" altLang="zh-CN" dirty="0"/>
          </a:p>
          <a:p>
            <a:pPr>
              <a:lnSpc>
                <a:spcPct val="150000"/>
              </a:lnSpc>
            </a:pPr>
            <a:r>
              <a:rPr lang="zh-CN" altLang="en-US" dirty="0"/>
              <a:t>主动视觉在计算机视觉界基本没有太多实质性进展。</a:t>
            </a:r>
          </a:p>
        </p:txBody>
      </p:sp>
    </p:spTree>
    <p:extLst>
      <p:ext uri="{BB962C8B-B14F-4D97-AF65-F5344CB8AC3E}">
        <p14:creationId xmlns:p14="http://schemas.microsoft.com/office/powerpoint/2010/main" val="24239967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B2509-9EA9-420D-967A-C70AFBF94DE3}"/>
              </a:ext>
            </a:extLst>
          </p:cNvPr>
          <p:cNvSpPr>
            <a:spLocks noGrp="1"/>
          </p:cNvSpPr>
          <p:nvPr>
            <p:ph type="title"/>
          </p:nvPr>
        </p:nvSpPr>
        <p:spPr/>
        <p:txBody>
          <a:bodyPr/>
          <a:lstStyle/>
          <a:p>
            <a:pPr algn="ctr"/>
            <a:r>
              <a:rPr lang="zh-CN" altLang="en-US" b="1" dirty="0">
                <a:cs typeface="+mn-ea"/>
                <a:sym typeface="+mn-lt"/>
              </a:rPr>
              <a:t>多视几何和分层三维重建</a:t>
            </a:r>
            <a:endParaRPr lang="zh-CN" altLang="en-US" b="1" dirty="0"/>
          </a:p>
        </p:txBody>
      </p:sp>
      <p:sp>
        <p:nvSpPr>
          <p:cNvPr id="3" name="Content Placeholder 2">
            <a:extLst>
              <a:ext uri="{FF2B5EF4-FFF2-40B4-BE49-F238E27FC236}">
                <a16:creationId xmlns:a16="http://schemas.microsoft.com/office/drawing/2014/main" id="{E309E284-619B-44D8-8573-03BA187F2B23}"/>
              </a:ext>
            </a:extLst>
          </p:cNvPr>
          <p:cNvSpPr>
            <a:spLocks noGrp="1"/>
          </p:cNvSpPr>
          <p:nvPr>
            <p:ph idx="1"/>
          </p:nvPr>
        </p:nvSpPr>
        <p:spPr/>
        <p:txBody>
          <a:bodyPr/>
          <a:lstStyle/>
          <a:p>
            <a:pPr>
              <a:lnSpc>
                <a:spcPct val="110000"/>
              </a:lnSpc>
            </a:pPr>
            <a:r>
              <a:rPr lang="zh-CN" altLang="en-US" dirty="0"/>
              <a:t>多视几何理论下的分层三维重建能有效提高三维重建的鲁棒性和精度</a:t>
            </a:r>
            <a:endParaRPr lang="en-US" altLang="zh-CN" dirty="0"/>
          </a:p>
          <a:p>
            <a:pPr lvl="1">
              <a:lnSpc>
                <a:spcPct val="110000"/>
              </a:lnSpc>
            </a:pPr>
            <a:r>
              <a:rPr lang="zh-CN" altLang="en-US" dirty="0"/>
              <a:t>射影重建</a:t>
            </a:r>
            <a:r>
              <a:rPr lang="en-US" altLang="zh-CN" dirty="0">
                <a:sym typeface="Wingdings" panose="05000000000000000000" pitchFamily="2" charset="2"/>
              </a:rPr>
              <a:t></a:t>
            </a:r>
            <a:r>
              <a:rPr lang="zh-CN" altLang="en-US" dirty="0">
                <a:sym typeface="Wingdings" panose="05000000000000000000" pitchFamily="2" charset="2"/>
              </a:rPr>
              <a:t>放射重建</a:t>
            </a:r>
            <a:r>
              <a:rPr lang="en-US" altLang="zh-CN" dirty="0">
                <a:sym typeface="Wingdings" panose="05000000000000000000" pitchFamily="2" charset="2"/>
              </a:rPr>
              <a:t></a:t>
            </a:r>
            <a:r>
              <a:rPr lang="zh-CN" altLang="en-US" dirty="0">
                <a:sym typeface="Wingdings" panose="05000000000000000000" pitchFamily="2" charset="2"/>
              </a:rPr>
              <a:t>欧式空间（度量空间）</a:t>
            </a:r>
            <a:endParaRPr lang="zh-CN" altLang="en-US" dirty="0"/>
          </a:p>
        </p:txBody>
      </p:sp>
      <p:pic>
        <p:nvPicPr>
          <p:cNvPr id="4" name="Picture 3">
            <a:extLst>
              <a:ext uri="{FF2B5EF4-FFF2-40B4-BE49-F238E27FC236}">
                <a16:creationId xmlns:a16="http://schemas.microsoft.com/office/drawing/2014/main" id="{F8ACFD37-46ED-4CDA-B2DC-68D46A9C8485}"/>
              </a:ext>
            </a:extLst>
          </p:cNvPr>
          <p:cNvPicPr>
            <a:picLocks noChangeAspect="1"/>
          </p:cNvPicPr>
          <p:nvPr/>
        </p:nvPicPr>
        <p:blipFill>
          <a:blip r:embed="rId2"/>
          <a:stretch>
            <a:fillRect/>
          </a:stretch>
        </p:blipFill>
        <p:spPr>
          <a:xfrm>
            <a:off x="838200" y="3487979"/>
            <a:ext cx="5008159" cy="3004896"/>
          </a:xfrm>
          <a:prstGeom prst="rect">
            <a:avLst/>
          </a:prstGeom>
        </p:spPr>
      </p:pic>
      <p:pic>
        <p:nvPicPr>
          <p:cNvPr id="5" name="Picture 4">
            <a:extLst>
              <a:ext uri="{FF2B5EF4-FFF2-40B4-BE49-F238E27FC236}">
                <a16:creationId xmlns:a16="http://schemas.microsoft.com/office/drawing/2014/main" id="{A6B3F78A-A52E-4652-BB46-2101ACB3D415}"/>
              </a:ext>
            </a:extLst>
          </p:cNvPr>
          <p:cNvPicPr>
            <a:picLocks noChangeAspect="1"/>
          </p:cNvPicPr>
          <p:nvPr/>
        </p:nvPicPr>
        <p:blipFill>
          <a:blip r:embed="rId3"/>
          <a:stretch>
            <a:fillRect/>
          </a:stretch>
        </p:blipFill>
        <p:spPr>
          <a:xfrm>
            <a:off x="6273806" y="3571331"/>
            <a:ext cx="4931781" cy="2921544"/>
          </a:xfrm>
          <a:prstGeom prst="rect">
            <a:avLst/>
          </a:prstGeom>
        </p:spPr>
      </p:pic>
    </p:spTree>
    <p:extLst>
      <p:ext uri="{BB962C8B-B14F-4D97-AF65-F5344CB8AC3E}">
        <p14:creationId xmlns:p14="http://schemas.microsoft.com/office/powerpoint/2010/main" val="40244391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C6A98-B53C-4463-9D23-5E2025B84FBA}"/>
              </a:ext>
            </a:extLst>
          </p:cNvPr>
          <p:cNvSpPr>
            <a:spLocks noGrp="1"/>
          </p:cNvSpPr>
          <p:nvPr>
            <p:ph type="title"/>
          </p:nvPr>
        </p:nvSpPr>
        <p:spPr/>
        <p:txBody>
          <a:bodyPr/>
          <a:lstStyle/>
          <a:p>
            <a:pPr algn="ctr"/>
            <a:r>
              <a:rPr lang="zh-CN" altLang="en-US" b="1" dirty="0">
                <a:cs typeface="+mn-ea"/>
                <a:sym typeface="+mn-lt"/>
              </a:rPr>
              <a:t>基于学习的视觉（</a:t>
            </a:r>
            <a:r>
              <a:rPr lang="en-US" altLang="zh-CN" b="1" dirty="0">
                <a:cs typeface="+mn-ea"/>
                <a:sym typeface="+mn-lt"/>
              </a:rPr>
              <a:t>Learning based vision)</a:t>
            </a:r>
            <a:endParaRPr lang="zh-CN" altLang="en-US" b="1" dirty="0"/>
          </a:p>
        </p:txBody>
      </p:sp>
      <p:sp>
        <p:nvSpPr>
          <p:cNvPr id="3" name="Content Placeholder 2">
            <a:extLst>
              <a:ext uri="{FF2B5EF4-FFF2-40B4-BE49-F238E27FC236}">
                <a16:creationId xmlns:a16="http://schemas.microsoft.com/office/drawing/2014/main" id="{DB1E08D4-6955-4AE5-B56F-EDCA82B0815C}"/>
              </a:ext>
            </a:extLst>
          </p:cNvPr>
          <p:cNvSpPr>
            <a:spLocks noGrp="1"/>
          </p:cNvSpPr>
          <p:nvPr>
            <p:ph idx="1"/>
          </p:nvPr>
        </p:nvSpPr>
        <p:spPr>
          <a:xfrm>
            <a:off x="838200" y="1825625"/>
            <a:ext cx="10515600" cy="4351338"/>
          </a:xfrm>
        </p:spPr>
        <p:txBody>
          <a:bodyPr/>
          <a:lstStyle/>
          <a:p>
            <a:r>
              <a:rPr lang="zh-CN" altLang="en-US" b="1" dirty="0"/>
              <a:t>以机器学习为主要技术手段的计算机视觉研究</a:t>
            </a:r>
          </a:p>
        </p:txBody>
      </p:sp>
      <p:grpSp>
        <p:nvGrpSpPr>
          <p:cNvPr id="5" name="Group 4">
            <a:extLst>
              <a:ext uri="{FF2B5EF4-FFF2-40B4-BE49-F238E27FC236}">
                <a16:creationId xmlns:a16="http://schemas.microsoft.com/office/drawing/2014/main" id="{9B9797DC-F9CC-487C-9F52-B5D804F0FB18}"/>
              </a:ext>
            </a:extLst>
          </p:cNvPr>
          <p:cNvGrpSpPr/>
          <p:nvPr/>
        </p:nvGrpSpPr>
        <p:grpSpPr>
          <a:xfrm>
            <a:off x="465208" y="3082131"/>
            <a:ext cx="3181350" cy="2405578"/>
            <a:chOff x="928512" y="3034506"/>
            <a:chExt cx="3181350" cy="2405578"/>
          </a:xfrm>
        </p:grpSpPr>
        <p:pic>
          <p:nvPicPr>
            <p:cNvPr id="9218" name="Picture 2" descr="https://img-blog.csdn.net/20170410134124658">
              <a:extLst>
                <a:ext uri="{FF2B5EF4-FFF2-40B4-BE49-F238E27FC236}">
                  <a16:creationId xmlns:a16="http://schemas.microsoft.com/office/drawing/2014/main" id="{9BDB4734-CB44-4AE0-9154-4C2E44F414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512" y="3034506"/>
              <a:ext cx="3181350" cy="19335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DA924DB-77DE-4D04-A412-3B55F3F80165}"/>
                </a:ext>
              </a:extLst>
            </p:cNvPr>
            <p:cNvSpPr txBox="1"/>
            <p:nvPr/>
          </p:nvSpPr>
          <p:spPr>
            <a:xfrm>
              <a:off x="1247003" y="5070752"/>
              <a:ext cx="2776466" cy="369332"/>
            </a:xfrm>
            <a:prstGeom prst="rect">
              <a:avLst/>
            </a:prstGeom>
            <a:noFill/>
          </p:spPr>
          <p:txBody>
            <a:bodyPr wrap="none" rtlCol="0">
              <a:spAutoFit/>
            </a:bodyPr>
            <a:lstStyle/>
            <a:p>
              <a:r>
                <a:rPr lang="en-US" altLang="zh-CN" b="1" dirty="0" err="1"/>
                <a:t>Haar</a:t>
              </a:r>
              <a:r>
                <a:rPr lang="en-US" altLang="zh-CN" b="1" dirty="0"/>
                <a:t> Features + AdaBoost</a:t>
              </a:r>
              <a:endParaRPr lang="zh-CN" altLang="en-US" b="1" dirty="0"/>
            </a:p>
          </p:txBody>
        </p:sp>
      </p:grpSp>
      <p:grpSp>
        <p:nvGrpSpPr>
          <p:cNvPr id="6" name="Group 5">
            <a:extLst>
              <a:ext uri="{FF2B5EF4-FFF2-40B4-BE49-F238E27FC236}">
                <a16:creationId xmlns:a16="http://schemas.microsoft.com/office/drawing/2014/main" id="{A67E9C61-81E0-4558-B8F4-8520D255027A}"/>
              </a:ext>
            </a:extLst>
          </p:cNvPr>
          <p:cNvGrpSpPr/>
          <p:nvPr/>
        </p:nvGrpSpPr>
        <p:grpSpPr>
          <a:xfrm>
            <a:off x="4489450" y="2753010"/>
            <a:ext cx="3286125" cy="2919365"/>
            <a:chOff x="4672190" y="2772060"/>
            <a:chExt cx="3286125" cy="2919365"/>
          </a:xfrm>
        </p:grpSpPr>
        <p:pic>
          <p:nvPicPr>
            <p:cNvPr id="9220" name="Picture 4" descr="https://gimg2.baidu.com/image_search/src=http%3A%2F%2Fp3.itc.cn%2Fimages01%2F20210208%2F011977e6f1ce4f24adf9838bd18560c7.png&amp;refer=http%3A%2F%2Fp3.itc.cn&amp;app=2002&amp;size=f9999,10000&amp;q=a80&amp;n=0&amp;g=0n&amp;fmt=jpeg?sec=1648098637&amp;t=1e649ab41fed48450f524435fbea3c17">
              <a:extLst>
                <a:ext uri="{FF2B5EF4-FFF2-40B4-BE49-F238E27FC236}">
                  <a16:creationId xmlns:a16="http://schemas.microsoft.com/office/drawing/2014/main" id="{55CE5063-C31E-4852-8DA5-8E6C47160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2190" y="2772060"/>
              <a:ext cx="3286125" cy="255003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BECCD90-9472-41E6-B924-3FD056B1B6BB}"/>
                </a:ext>
              </a:extLst>
            </p:cNvPr>
            <p:cNvSpPr txBox="1"/>
            <p:nvPr/>
          </p:nvSpPr>
          <p:spPr>
            <a:xfrm>
              <a:off x="5275903" y="5322093"/>
              <a:ext cx="2200411" cy="369332"/>
            </a:xfrm>
            <a:prstGeom prst="rect">
              <a:avLst/>
            </a:prstGeom>
            <a:noFill/>
          </p:spPr>
          <p:txBody>
            <a:bodyPr wrap="none" rtlCol="0">
              <a:spAutoFit/>
            </a:bodyPr>
            <a:lstStyle/>
            <a:p>
              <a:r>
                <a:rPr lang="en-US" altLang="zh-CN" b="1" dirty="0"/>
                <a:t>Bag of Visual Words</a:t>
              </a:r>
              <a:endParaRPr lang="zh-CN" altLang="en-US" b="1" dirty="0"/>
            </a:p>
          </p:txBody>
        </p:sp>
      </p:grpSp>
      <p:grpSp>
        <p:nvGrpSpPr>
          <p:cNvPr id="9" name="Group 8">
            <a:extLst>
              <a:ext uri="{FF2B5EF4-FFF2-40B4-BE49-F238E27FC236}">
                <a16:creationId xmlns:a16="http://schemas.microsoft.com/office/drawing/2014/main" id="{9B3A53F2-1137-489D-870D-0F0422B5B123}"/>
              </a:ext>
            </a:extLst>
          </p:cNvPr>
          <p:cNvGrpSpPr/>
          <p:nvPr/>
        </p:nvGrpSpPr>
        <p:grpSpPr>
          <a:xfrm>
            <a:off x="8346370" y="3297739"/>
            <a:ext cx="3560233" cy="1502357"/>
            <a:chOff x="8365420" y="3387555"/>
            <a:chExt cx="3560233" cy="1502357"/>
          </a:xfrm>
        </p:grpSpPr>
        <p:pic>
          <p:nvPicPr>
            <p:cNvPr id="9222" name="Picture 6" descr="https://gimg2.baidu.com/image_search/src=http%3A%2F%2Fimg-blog.csdnimg.cn%2F20191129105303674.png%3Fx-oss-process%3Dimage%2Fwatermark%2Ctype_ZmFuZ3poZW5naGVpdGk%2Cshadow_10%2Ctext_aHR0cHM6Ly9ibG9nLmNzZG4ubmV0L3FxXzM5MDcxNzM5%2Csize_16%2Ccolor_FFFFFF%2Ct_70&amp;refer=http%3A%2F%2Fimg-blog.csdnimg.cn&amp;app=2002&amp;size=f9999,10000&amp;q=a80&amp;n=0&amp;g=0n&amp;fmt=jpeg?sec=1648098844&amp;t=29d15522691bfe5f7cc7ed9d548aa1b0">
              <a:extLst>
                <a:ext uri="{FF2B5EF4-FFF2-40B4-BE49-F238E27FC236}">
                  <a16:creationId xmlns:a16="http://schemas.microsoft.com/office/drawing/2014/main" id="{2AE2918D-9FFC-4D42-9D9D-691A047832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21636" y="3429000"/>
              <a:ext cx="1704017" cy="134007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0D5EF66-771C-4361-90F5-4174E6A66BDC}"/>
                </a:ext>
              </a:extLst>
            </p:cNvPr>
            <p:cNvPicPr>
              <a:picLocks noChangeAspect="1"/>
            </p:cNvPicPr>
            <p:nvPr/>
          </p:nvPicPr>
          <p:blipFill>
            <a:blip r:embed="rId5"/>
            <a:stretch>
              <a:fillRect/>
            </a:stretch>
          </p:blipFill>
          <p:spPr>
            <a:xfrm>
              <a:off x="8365420" y="3387555"/>
              <a:ext cx="1704016" cy="1502357"/>
            </a:xfrm>
            <a:prstGeom prst="rect">
              <a:avLst/>
            </a:prstGeom>
          </p:spPr>
        </p:pic>
      </p:grpSp>
      <p:sp>
        <p:nvSpPr>
          <p:cNvPr id="13" name="TextBox 12">
            <a:extLst>
              <a:ext uri="{FF2B5EF4-FFF2-40B4-BE49-F238E27FC236}">
                <a16:creationId xmlns:a16="http://schemas.microsoft.com/office/drawing/2014/main" id="{584C2E74-4EE3-4CF7-ABB8-0D019DE6A6B0}"/>
              </a:ext>
            </a:extLst>
          </p:cNvPr>
          <p:cNvSpPr txBox="1"/>
          <p:nvPr/>
        </p:nvSpPr>
        <p:spPr>
          <a:xfrm>
            <a:off x="9370154" y="4933711"/>
            <a:ext cx="1483098" cy="369332"/>
          </a:xfrm>
          <a:prstGeom prst="rect">
            <a:avLst/>
          </a:prstGeom>
          <a:noFill/>
        </p:spPr>
        <p:txBody>
          <a:bodyPr wrap="none" rtlCol="0">
            <a:spAutoFit/>
          </a:bodyPr>
          <a:lstStyle/>
          <a:p>
            <a:r>
              <a:rPr lang="en-US" altLang="zh-CN" b="1" dirty="0"/>
              <a:t>HOG + SVM</a:t>
            </a:r>
            <a:endParaRPr lang="zh-CN" altLang="en-US" b="1" dirty="0"/>
          </a:p>
        </p:txBody>
      </p:sp>
    </p:spTree>
    <p:extLst>
      <p:ext uri="{BB962C8B-B14F-4D97-AF65-F5344CB8AC3E}">
        <p14:creationId xmlns:p14="http://schemas.microsoft.com/office/powerpoint/2010/main" val="2622330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C6A98-B53C-4463-9D23-5E2025B84FBA}"/>
              </a:ext>
            </a:extLst>
          </p:cNvPr>
          <p:cNvSpPr>
            <a:spLocks noGrp="1"/>
          </p:cNvSpPr>
          <p:nvPr>
            <p:ph type="title"/>
          </p:nvPr>
        </p:nvSpPr>
        <p:spPr/>
        <p:txBody>
          <a:bodyPr/>
          <a:lstStyle/>
          <a:p>
            <a:pPr algn="ctr"/>
            <a:r>
              <a:rPr lang="zh-CN" altLang="en-US" b="1" dirty="0">
                <a:cs typeface="+mn-ea"/>
                <a:sym typeface="+mn-lt"/>
              </a:rPr>
              <a:t>基于学习的视觉（</a:t>
            </a:r>
            <a:r>
              <a:rPr lang="en-US" altLang="zh-CN" b="1" dirty="0">
                <a:cs typeface="+mn-ea"/>
                <a:sym typeface="+mn-lt"/>
              </a:rPr>
              <a:t>Learning based vision)</a:t>
            </a:r>
            <a:endParaRPr lang="zh-CN" altLang="en-US" b="1" dirty="0"/>
          </a:p>
        </p:txBody>
      </p:sp>
      <p:sp>
        <p:nvSpPr>
          <p:cNvPr id="3" name="Content Placeholder 2">
            <a:extLst>
              <a:ext uri="{FF2B5EF4-FFF2-40B4-BE49-F238E27FC236}">
                <a16:creationId xmlns:a16="http://schemas.microsoft.com/office/drawing/2014/main" id="{DB1E08D4-6955-4AE5-B56F-EDCA82B0815C}"/>
              </a:ext>
            </a:extLst>
          </p:cNvPr>
          <p:cNvSpPr>
            <a:spLocks noGrp="1"/>
          </p:cNvSpPr>
          <p:nvPr>
            <p:ph idx="1"/>
          </p:nvPr>
        </p:nvSpPr>
        <p:spPr>
          <a:xfrm>
            <a:off x="838200" y="1825625"/>
            <a:ext cx="10515600" cy="4351338"/>
          </a:xfrm>
        </p:spPr>
        <p:txBody>
          <a:bodyPr/>
          <a:lstStyle/>
          <a:p>
            <a:r>
              <a:rPr lang="zh-CN" altLang="en-US" b="1" dirty="0"/>
              <a:t>以机器学习为主要技术手段的计算机视觉研究</a:t>
            </a:r>
          </a:p>
        </p:txBody>
      </p:sp>
      <p:pic>
        <p:nvPicPr>
          <p:cNvPr id="10242" name="Picture 2" descr="https://gimg2.baidu.com/image_search/src=http%3A%2F%2Fpic3.zhimg.com%2Fv2-cb2fed42ce6cf60d6007c9236cd81bbc_1200x500.jpg&amp;refer=http%3A%2F%2Fpic3.zhimg.com&amp;app=2002&amp;size=f9999,10000&amp;q=a80&amp;n=0&amp;g=0n&amp;fmt=jpeg?sec=1648098743&amp;t=d4c96629891f8f65c27490778b7bb40d">
            <a:extLst>
              <a:ext uri="{FF2B5EF4-FFF2-40B4-BE49-F238E27FC236}">
                <a16:creationId xmlns:a16="http://schemas.microsoft.com/office/drawing/2014/main" id="{2171F378-343A-4567-B9F6-5865A2E193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740" y="3250579"/>
            <a:ext cx="5071533" cy="2113139"/>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09F8E6E-AD2C-44FE-873A-E092C9DB0464}"/>
              </a:ext>
            </a:extLst>
          </p:cNvPr>
          <p:cNvSpPr txBox="1"/>
          <p:nvPr/>
        </p:nvSpPr>
        <p:spPr>
          <a:xfrm>
            <a:off x="1840974" y="5479399"/>
            <a:ext cx="1947969" cy="369332"/>
          </a:xfrm>
          <a:prstGeom prst="rect">
            <a:avLst/>
          </a:prstGeom>
          <a:noFill/>
        </p:spPr>
        <p:txBody>
          <a:bodyPr wrap="none" rtlCol="0">
            <a:spAutoFit/>
          </a:bodyPr>
          <a:lstStyle/>
          <a:p>
            <a:r>
              <a:rPr lang="en-US" altLang="zh-CN" b="1" dirty="0"/>
              <a:t>ImageNet Dataset</a:t>
            </a:r>
            <a:endParaRPr lang="zh-CN" altLang="en-US" b="1" dirty="0"/>
          </a:p>
        </p:txBody>
      </p:sp>
      <p:pic>
        <p:nvPicPr>
          <p:cNvPr id="10246" name="Picture 6" descr="https://pic1.zhimg.com/80/v2-bf3867966fc46feac560ed35f269fedc_720w.jpg">
            <a:extLst>
              <a:ext uri="{FF2B5EF4-FFF2-40B4-BE49-F238E27FC236}">
                <a16:creationId xmlns:a16="http://schemas.microsoft.com/office/drawing/2014/main" id="{D4FB4FD6-9497-4CEA-A2F3-8B796A19C2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2513" y="2641442"/>
            <a:ext cx="5952095" cy="3670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43136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C6A98-B53C-4463-9D23-5E2025B84FBA}"/>
              </a:ext>
            </a:extLst>
          </p:cNvPr>
          <p:cNvSpPr>
            <a:spLocks noGrp="1"/>
          </p:cNvSpPr>
          <p:nvPr>
            <p:ph type="title"/>
          </p:nvPr>
        </p:nvSpPr>
        <p:spPr/>
        <p:txBody>
          <a:bodyPr/>
          <a:lstStyle/>
          <a:p>
            <a:pPr algn="ctr"/>
            <a:r>
              <a:rPr lang="zh-CN" altLang="en-US" b="1" dirty="0">
                <a:cs typeface="+mn-ea"/>
                <a:sym typeface="+mn-lt"/>
              </a:rPr>
              <a:t>基于学习的视觉（</a:t>
            </a:r>
            <a:r>
              <a:rPr lang="en-US" altLang="zh-CN" b="1" dirty="0">
                <a:cs typeface="+mn-ea"/>
                <a:sym typeface="+mn-lt"/>
              </a:rPr>
              <a:t>Learning based vision)</a:t>
            </a:r>
            <a:endParaRPr lang="zh-CN" altLang="en-US" b="1" dirty="0"/>
          </a:p>
        </p:txBody>
      </p:sp>
      <p:sp>
        <p:nvSpPr>
          <p:cNvPr id="3" name="Content Placeholder 2">
            <a:extLst>
              <a:ext uri="{FF2B5EF4-FFF2-40B4-BE49-F238E27FC236}">
                <a16:creationId xmlns:a16="http://schemas.microsoft.com/office/drawing/2014/main" id="{DB1E08D4-6955-4AE5-B56F-EDCA82B0815C}"/>
              </a:ext>
            </a:extLst>
          </p:cNvPr>
          <p:cNvSpPr>
            <a:spLocks noGrp="1"/>
          </p:cNvSpPr>
          <p:nvPr>
            <p:ph idx="1"/>
          </p:nvPr>
        </p:nvSpPr>
        <p:spPr>
          <a:xfrm>
            <a:off x="838200" y="1825625"/>
            <a:ext cx="10515600" cy="4351338"/>
          </a:xfrm>
        </p:spPr>
        <p:txBody>
          <a:bodyPr/>
          <a:lstStyle/>
          <a:p>
            <a:r>
              <a:rPr lang="zh-CN" altLang="en-US" b="1" dirty="0"/>
              <a:t>以机器学习为主要技术手段的计算机视觉研究</a:t>
            </a:r>
          </a:p>
        </p:txBody>
      </p:sp>
      <p:pic>
        <p:nvPicPr>
          <p:cNvPr id="4" name="Picture 3">
            <a:extLst>
              <a:ext uri="{FF2B5EF4-FFF2-40B4-BE49-F238E27FC236}">
                <a16:creationId xmlns:a16="http://schemas.microsoft.com/office/drawing/2014/main" id="{9590BB01-C45D-45CB-991C-E1BB9FC75DE3}"/>
              </a:ext>
            </a:extLst>
          </p:cNvPr>
          <p:cNvPicPr>
            <a:picLocks noChangeAspect="1"/>
          </p:cNvPicPr>
          <p:nvPr/>
        </p:nvPicPr>
        <p:blipFill>
          <a:blip r:embed="rId2"/>
          <a:stretch>
            <a:fillRect/>
          </a:stretch>
        </p:blipFill>
        <p:spPr>
          <a:xfrm>
            <a:off x="2681892" y="2631948"/>
            <a:ext cx="6901242" cy="3545015"/>
          </a:xfrm>
          <a:prstGeom prst="rect">
            <a:avLst/>
          </a:prstGeom>
        </p:spPr>
      </p:pic>
      <p:sp>
        <p:nvSpPr>
          <p:cNvPr id="6" name="TextBox 5">
            <a:extLst>
              <a:ext uri="{FF2B5EF4-FFF2-40B4-BE49-F238E27FC236}">
                <a16:creationId xmlns:a16="http://schemas.microsoft.com/office/drawing/2014/main" id="{81A6E370-B4D7-45DD-8844-28DC10E7BD48}"/>
              </a:ext>
            </a:extLst>
          </p:cNvPr>
          <p:cNvSpPr txBox="1"/>
          <p:nvPr/>
        </p:nvSpPr>
        <p:spPr>
          <a:xfrm>
            <a:off x="5407538" y="6311900"/>
            <a:ext cx="1449949" cy="369332"/>
          </a:xfrm>
          <a:prstGeom prst="rect">
            <a:avLst/>
          </a:prstGeom>
          <a:noFill/>
        </p:spPr>
        <p:txBody>
          <a:bodyPr wrap="none" rtlCol="0">
            <a:spAutoFit/>
          </a:bodyPr>
          <a:lstStyle/>
          <a:p>
            <a:r>
              <a:rPr lang="en-US" altLang="zh-CN" b="1" dirty="0"/>
              <a:t>Transformer</a:t>
            </a:r>
            <a:endParaRPr lang="zh-CN" altLang="en-US" b="1" dirty="0"/>
          </a:p>
        </p:txBody>
      </p:sp>
    </p:spTree>
    <p:extLst>
      <p:ext uri="{BB962C8B-B14F-4D97-AF65-F5344CB8AC3E}">
        <p14:creationId xmlns:p14="http://schemas.microsoft.com/office/powerpoint/2010/main" val="6594606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BF3D9-FCB6-4B5A-B871-0BA73EF091A4}"/>
              </a:ext>
            </a:extLst>
          </p:cNvPr>
          <p:cNvSpPr>
            <a:spLocks noGrp="1"/>
          </p:cNvSpPr>
          <p:nvPr>
            <p:ph type="title"/>
          </p:nvPr>
        </p:nvSpPr>
        <p:spPr/>
        <p:txBody>
          <a:bodyPr/>
          <a:lstStyle/>
          <a:p>
            <a:pPr algn="ctr"/>
            <a:r>
              <a:rPr lang="en-US" altLang="zh-CN" b="1" dirty="0">
                <a:latin typeface="+mn-lt"/>
                <a:ea typeface="+mn-ea"/>
                <a:cs typeface="+mn-ea"/>
                <a:sym typeface="+mn-lt"/>
              </a:rPr>
              <a:t>Most active topics of research in CV</a:t>
            </a:r>
            <a:endParaRPr lang="zh-CN" altLang="en-US" b="1" dirty="0">
              <a:latin typeface="+mn-lt"/>
              <a:ea typeface="+mn-ea"/>
              <a:cs typeface="+mn-ea"/>
              <a:sym typeface="+mn-lt"/>
            </a:endParaRPr>
          </a:p>
        </p:txBody>
      </p:sp>
      <p:pic>
        <p:nvPicPr>
          <p:cNvPr id="5" name="Picture 4">
            <a:extLst>
              <a:ext uri="{FF2B5EF4-FFF2-40B4-BE49-F238E27FC236}">
                <a16:creationId xmlns:a16="http://schemas.microsoft.com/office/drawing/2014/main" id="{FBC8EF8A-FD75-4268-9884-8F5E5807C643}"/>
              </a:ext>
            </a:extLst>
          </p:cNvPr>
          <p:cNvPicPr>
            <a:picLocks noChangeAspect="1"/>
          </p:cNvPicPr>
          <p:nvPr/>
        </p:nvPicPr>
        <p:blipFill>
          <a:blip r:embed="rId2"/>
          <a:stretch>
            <a:fillRect/>
          </a:stretch>
        </p:blipFill>
        <p:spPr>
          <a:xfrm>
            <a:off x="423904" y="1784332"/>
            <a:ext cx="11344192" cy="4921268"/>
          </a:xfrm>
          <a:prstGeom prst="rect">
            <a:avLst/>
          </a:prstGeom>
        </p:spPr>
      </p:pic>
    </p:spTree>
    <p:extLst>
      <p:ext uri="{BB962C8B-B14F-4D97-AF65-F5344CB8AC3E}">
        <p14:creationId xmlns:p14="http://schemas.microsoft.com/office/powerpoint/2010/main" val="20340113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3CC21-5990-4491-9490-F3CB1911DFE1}"/>
              </a:ext>
            </a:extLst>
          </p:cNvPr>
          <p:cNvSpPr>
            <a:spLocks noGrp="1"/>
          </p:cNvSpPr>
          <p:nvPr>
            <p:ph type="title"/>
          </p:nvPr>
        </p:nvSpPr>
        <p:spPr/>
        <p:txBody>
          <a:bodyPr/>
          <a:lstStyle/>
          <a:p>
            <a:pPr algn="ctr"/>
            <a:r>
              <a:rPr lang="zh-CN" altLang="en-US" b="1" dirty="0">
                <a:latin typeface="+mn-lt"/>
                <a:ea typeface="+mn-ea"/>
                <a:cs typeface="+mn-ea"/>
                <a:sym typeface="+mn-lt"/>
              </a:rPr>
              <a:t>相关学术会议与期刊</a:t>
            </a:r>
          </a:p>
        </p:txBody>
      </p:sp>
      <p:sp>
        <p:nvSpPr>
          <p:cNvPr id="3" name="Content Placeholder 2">
            <a:extLst>
              <a:ext uri="{FF2B5EF4-FFF2-40B4-BE49-F238E27FC236}">
                <a16:creationId xmlns:a16="http://schemas.microsoft.com/office/drawing/2014/main" id="{FD643DDA-7114-42CE-86BB-B8CC27DF0CA3}"/>
              </a:ext>
            </a:extLst>
          </p:cNvPr>
          <p:cNvSpPr>
            <a:spLocks noGrp="1"/>
          </p:cNvSpPr>
          <p:nvPr>
            <p:ph idx="1"/>
          </p:nvPr>
        </p:nvSpPr>
        <p:spPr/>
        <p:txBody>
          <a:bodyPr/>
          <a:lstStyle/>
          <a:p>
            <a:pPr>
              <a:lnSpc>
                <a:spcPct val="150000"/>
              </a:lnSpc>
            </a:pPr>
            <a:r>
              <a:rPr lang="zh-CN" altLang="en-US" b="1" dirty="0">
                <a:cs typeface="+mn-ea"/>
                <a:sym typeface="+mn-lt"/>
              </a:rPr>
              <a:t>学术会议</a:t>
            </a:r>
            <a:endParaRPr lang="en-US" altLang="zh-CN" b="1" dirty="0">
              <a:cs typeface="+mn-ea"/>
              <a:sym typeface="+mn-lt"/>
            </a:endParaRPr>
          </a:p>
          <a:p>
            <a:pPr lvl="1">
              <a:lnSpc>
                <a:spcPct val="150000"/>
              </a:lnSpc>
            </a:pPr>
            <a:r>
              <a:rPr lang="en-US" altLang="zh-CN" dirty="0">
                <a:cs typeface="+mn-ea"/>
                <a:sym typeface="+mn-lt"/>
              </a:rPr>
              <a:t>CVPR</a:t>
            </a:r>
            <a:r>
              <a:rPr lang="zh-CN" altLang="en-US" dirty="0">
                <a:cs typeface="+mn-ea"/>
                <a:sym typeface="+mn-lt"/>
              </a:rPr>
              <a:t>、</a:t>
            </a:r>
            <a:r>
              <a:rPr lang="en-US" altLang="zh-CN" dirty="0">
                <a:cs typeface="+mn-ea"/>
                <a:sym typeface="+mn-lt"/>
              </a:rPr>
              <a:t>ICCV</a:t>
            </a:r>
            <a:r>
              <a:rPr lang="zh-CN" altLang="en-US" dirty="0">
                <a:cs typeface="+mn-ea"/>
                <a:sym typeface="+mn-lt"/>
              </a:rPr>
              <a:t>、</a:t>
            </a:r>
            <a:r>
              <a:rPr lang="en-US" altLang="zh-CN" dirty="0">
                <a:cs typeface="+mn-ea"/>
                <a:sym typeface="+mn-lt"/>
              </a:rPr>
              <a:t>ECCV</a:t>
            </a:r>
          </a:p>
          <a:p>
            <a:pPr lvl="1">
              <a:lnSpc>
                <a:spcPct val="150000"/>
              </a:lnSpc>
            </a:pPr>
            <a:r>
              <a:rPr lang="en-US" altLang="zh-CN" dirty="0">
                <a:cs typeface="+mn-ea"/>
                <a:sym typeface="+mn-lt"/>
              </a:rPr>
              <a:t>NeurIPS</a:t>
            </a:r>
            <a:r>
              <a:rPr lang="zh-CN" altLang="en-US" dirty="0">
                <a:cs typeface="+mn-ea"/>
                <a:sym typeface="+mn-lt"/>
              </a:rPr>
              <a:t>、</a:t>
            </a:r>
            <a:r>
              <a:rPr lang="en-US" altLang="zh-CN" dirty="0">
                <a:cs typeface="+mn-ea"/>
                <a:sym typeface="+mn-lt"/>
              </a:rPr>
              <a:t>ICLR</a:t>
            </a:r>
            <a:r>
              <a:rPr lang="zh-CN" altLang="en-US" dirty="0">
                <a:cs typeface="+mn-ea"/>
                <a:sym typeface="+mn-lt"/>
              </a:rPr>
              <a:t>、</a:t>
            </a:r>
            <a:r>
              <a:rPr lang="en-US" altLang="zh-CN" dirty="0">
                <a:cs typeface="+mn-ea"/>
                <a:sym typeface="+mn-lt"/>
              </a:rPr>
              <a:t>AAAI</a:t>
            </a:r>
            <a:r>
              <a:rPr lang="zh-CN" altLang="en-US" dirty="0">
                <a:cs typeface="+mn-ea"/>
                <a:sym typeface="+mn-lt"/>
              </a:rPr>
              <a:t>等</a:t>
            </a:r>
            <a:endParaRPr lang="en-US" altLang="zh-CN" dirty="0">
              <a:cs typeface="+mn-ea"/>
              <a:sym typeface="+mn-lt"/>
            </a:endParaRPr>
          </a:p>
          <a:p>
            <a:pPr>
              <a:lnSpc>
                <a:spcPct val="150000"/>
              </a:lnSpc>
            </a:pPr>
            <a:r>
              <a:rPr lang="zh-CN" altLang="en-US" b="1" dirty="0">
                <a:cs typeface="+mn-ea"/>
                <a:sym typeface="+mn-lt"/>
              </a:rPr>
              <a:t>学术期刊</a:t>
            </a:r>
            <a:endParaRPr lang="en-US" altLang="zh-CN" b="1" dirty="0">
              <a:cs typeface="+mn-ea"/>
              <a:sym typeface="+mn-lt"/>
            </a:endParaRPr>
          </a:p>
          <a:p>
            <a:pPr lvl="1">
              <a:lnSpc>
                <a:spcPct val="150000"/>
              </a:lnSpc>
            </a:pPr>
            <a:r>
              <a:rPr lang="en-US" altLang="zh-CN" dirty="0">
                <a:cs typeface="+mn-ea"/>
                <a:sym typeface="+mn-lt"/>
              </a:rPr>
              <a:t>TPAMI</a:t>
            </a:r>
            <a:r>
              <a:rPr lang="zh-CN" altLang="en-US" dirty="0">
                <a:cs typeface="+mn-ea"/>
                <a:sym typeface="+mn-lt"/>
              </a:rPr>
              <a:t>、</a:t>
            </a:r>
            <a:r>
              <a:rPr lang="en-US" altLang="zh-CN" dirty="0">
                <a:cs typeface="+mn-ea"/>
                <a:sym typeface="+mn-lt"/>
              </a:rPr>
              <a:t>IJCV</a:t>
            </a:r>
          </a:p>
          <a:p>
            <a:pPr lvl="1">
              <a:lnSpc>
                <a:spcPct val="150000"/>
              </a:lnSpc>
            </a:pPr>
            <a:r>
              <a:rPr lang="en-US" altLang="zh-CN" dirty="0">
                <a:cs typeface="+mn-ea"/>
                <a:sym typeface="+mn-lt"/>
              </a:rPr>
              <a:t>TIP</a:t>
            </a:r>
            <a:r>
              <a:rPr lang="zh-CN" altLang="en-US" dirty="0">
                <a:cs typeface="+mn-ea"/>
                <a:sym typeface="+mn-lt"/>
              </a:rPr>
              <a:t>、</a:t>
            </a:r>
            <a:r>
              <a:rPr lang="en-US" altLang="zh-CN" dirty="0">
                <a:cs typeface="+mn-ea"/>
                <a:sym typeface="+mn-lt"/>
              </a:rPr>
              <a:t>TMM</a:t>
            </a:r>
            <a:r>
              <a:rPr lang="zh-CN" altLang="en-US" dirty="0">
                <a:cs typeface="+mn-ea"/>
                <a:sym typeface="+mn-lt"/>
              </a:rPr>
              <a:t>、</a:t>
            </a:r>
            <a:r>
              <a:rPr lang="en-US" altLang="zh-CN" dirty="0">
                <a:cs typeface="+mn-ea"/>
                <a:sym typeface="+mn-lt"/>
              </a:rPr>
              <a:t>PR</a:t>
            </a:r>
          </a:p>
        </p:txBody>
      </p:sp>
      <p:sp>
        <p:nvSpPr>
          <p:cNvPr id="4" name="Rectangle 3">
            <a:extLst>
              <a:ext uri="{FF2B5EF4-FFF2-40B4-BE49-F238E27FC236}">
                <a16:creationId xmlns:a16="http://schemas.microsoft.com/office/drawing/2014/main" id="{CF1F1540-7027-4338-B987-4317191B5694}"/>
              </a:ext>
            </a:extLst>
          </p:cNvPr>
          <p:cNvSpPr/>
          <p:nvPr/>
        </p:nvSpPr>
        <p:spPr>
          <a:xfrm>
            <a:off x="6638924" y="2552611"/>
            <a:ext cx="4714876" cy="2677656"/>
          </a:xfrm>
          <a:prstGeom prst="rect">
            <a:avLst/>
          </a:prstGeom>
        </p:spPr>
        <p:txBody>
          <a:bodyPr wrap="square">
            <a:spAutoFit/>
          </a:bodyPr>
          <a:lstStyle/>
          <a:p>
            <a:r>
              <a:rPr lang="zh-CN" altLang="en-US" sz="2400" dirty="0">
                <a:solidFill>
                  <a:srgbClr val="136EC2"/>
                </a:solidFill>
                <a:latin typeface="Helvetica Neue"/>
                <a:hlinkClick r:id="rId2"/>
              </a:rPr>
              <a:t>计算机视觉国际大会</a:t>
            </a:r>
            <a:r>
              <a:rPr lang="zh-CN" altLang="en-US" sz="2400" dirty="0">
                <a:solidFill>
                  <a:srgbClr val="333333"/>
                </a:solidFill>
                <a:latin typeface="Helvetica Neue"/>
              </a:rPr>
              <a:t>（</a:t>
            </a:r>
            <a:r>
              <a:rPr lang="en-US" altLang="zh-CN" sz="2400" dirty="0">
                <a:solidFill>
                  <a:srgbClr val="333333"/>
                </a:solidFill>
                <a:latin typeface="Helvetica Neue"/>
              </a:rPr>
              <a:t>ICCV, International Conference on Computer Vision</a:t>
            </a:r>
            <a:r>
              <a:rPr lang="zh-CN" altLang="en-US" sz="2400" dirty="0">
                <a:solidFill>
                  <a:srgbClr val="333333"/>
                </a:solidFill>
                <a:latin typeface="Helvetica Neue"/>
              </a:rPr>
              <a:t>）是计算机领域世界顶级的学术会议之一，每两年举办一届。其评选出的最佳论文（马尔奖）被看作是</a:t>
            </a:r>
            <a:r>
              <a:rPr lang="zh-CN" altLang="en-US" sz="2400" dirty="0">
                <a:solidFill>
                  <a:srgbClr val="136EC2"/>
                </a:solidFill>
                <a:latin typeface="Helvetica Neue"/>
                <a:hlinkClick r:id="rId3"/>
              </a:rPr>
              <a:t>计算机视觉</a:t>
            </a:r>
            <a:r>
              <a:rPr lang="zh-CN" altLang="en-US" sz="2400" dirty="0">
                <a:solidFill>
                  <a:srgbClr val="333333"/>
                </a:solidFill>
                <a:latin typeface="Helvetica Neue"/>
              </a:rPr>
              <a:t>研究方面的最高荣誉之一。</a:t>
            </a:r>
            <a:endParaRPr lang="zh-CN" altLang="en-US" sz="2400" dirty="0"/>
          </a:p>
        </p:txBody>
      </p:sp>
    </p:spTree>
    <p:extLst>
      <p:ext uri="{BB962C8B-B14F-4D97-AF65-F5344CB8AC3E}">
        <p14:creationId xmlns:p14="http://schemas.microsoft.com/office/powerpoint/2010/main" val="34761654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F5CB9-100A-433A-B702-9726CF522F5F}"/>
              </a:ext>
            </a:extLst>
          </p:cNvPr>
          <p:cNvSpPr>
            <a:spLocks noGrp="1"/>
          </p:cNvSpPr>
          <p:nvPr>
            <p:ph type="title"/>
          </p:nvPr>
        </p:nvSpPr>
        <p:spPr/>
        <p:txBody>
          <a:bodyPr/>
          <a:lstStyle/>
          <a:p>
            <a:pPr algn="ctr"/>
            <a:r>
              <a:rPr lang="zh-CN" altLang="en-US" b="1" dirty="0">
                <a:latin typeface="+mn-lt"/>
                <a:ea typeface="+mn-ea"/>
                <a:cs typeface="+mn-ea"/>
                <a:sym typeface="+mn-lt"/>
              </a:rPr>
              <a:t>课程资源</a:t>
            </a:r>
          </a:p>
        </p:txBody>
      </p:sp>
      <p:sp>
        <p:nvSpPr>
          <p:cNvPr id="3" name="Content Placeholder 2">
            <a:extLst>
              <a:ext uri="{FF2B5EF4-FFF2-40B4-BE49-F238E27FC236}">
                <a16:creationId xmlns:a16="http://schemas.microsoft.com/office/drawing/2014/main" id="{EBB88BFA-FDC5-4CEE-953A-499A01D447CA}"/>
              </a:ext>
            </a:extLst>
          </p:cNvPr>
          <p:cNvSpPr>
            <a:spLocks noGrp="1"/>
          </p:cNvSpPr>
          <p:nvPr>
            <p:ph idx="1"/>
          </p:nvPr>
        </p:nvSpPr>
        <p:spPr/>
        <p:txBody>
          <a:bodyPr/>
          <a:lstStyle/>
          <a:p>
            <a:r>
              <a:rPr lang="en-US" altLang="zh-CN" dirty="0">
                <a:cs typeface="+mn-ea"/>
                <a:sym typeface="+mn-lt"/>
                <a:hlinkClick r:id="rId2"/>
              </a:rPr>
              <a:t>https://cv-xueba.club/index.html#course</a:t>
            </a:r>
            <a:endParaRPr lang="en-US" altLang="zh-CN" dirty="0">
              <a:cs typeface="+mn-ea"/>
              <a:sym typeface="+mn-lt"/>
            </a:endParaRPr>
          </a:p>
          <a:p>
            <a:endParaRPr lang="zh-CN" altLang="en-US" dirty="0">
              <a:cs typeface="+mn-ea"/>
              <a:sym typeface="+mn-lt"/>
            </a:endParaRPr>
          </a:p>
        </p:txBody>
      </p:sp>
      <p:pic>
        <p:nvPicPr>
          <p:cNvPr id="4" name="Picture 3">
            <a:extLst>
              <a:ext uri="{FF2B5EF4-FFF2-40B4-BE49-F238E27FC236}">
                <a16:creationId xmlns:a16="http://schemas.microsoft.com/office/drawing/2014/main" id="{82DF03BD-8727-4A63-AD1E-B247C88ECC6D}"/>
              </a:ext>
            </a:extLst>
          </p:cNvPr>
          <p:cNvPicPr>
            <a:picLocks noChangeAspect="1"/>
          </p:cNvPicPr>
          <p:nvPr/>
        </p:nvPicPr>
        <p:blipFill>
          <a:blip r:embed="rId3"/>
          <a:stretch>
            <a:fillRect/>
          </a:stretch>
        </p:blipFill>
        <p:spPr>
          <a:xfrm>
            <a:off x="3163534" y="2339868"/>
            <a:ext cx="5864931" cy="4371377"/>
          </a:xfrm>
          <a:prstGeom prst="rect">
            <a:avLst/>
          </a:prstGeom>
        </p:spPr>
      </p:pic>
    </p:spTree>
    <p:extLst>
      <p:ext uri="{BB962C8B-B14F-4D97-AF65-F5344CB8AC3E}">
        <p14:creationId xmlns:p14="http://schemas.microsoft.com/office/powerpoint/2010/main" val="9972320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DFED-98C1-4112-98F4-4CCF6C4CA647}"/>
              </a:ext>
            </a:extLst>
          </p:cNvPr>
          <p:cNvSpPr>
            <a:spLocks noGrp="1"/>
          </p:cNvSpPr>
          <p:nvPr>
            <p:ph type="title"/>
          </p:nvPr>
        </p:nvSpPr>
        <p:spPr/>
        <p:txBody>
          <a:bodyPr/>
          <a:lstStyle/>
          <a:p>
            <a:pPr algn="ctr"/>
            <a:r>
              <a:rPr lang="zh-CN" altLang="en-US" b="1" dirty="0">
                <a:latin typeface="+mn-lt"/>
                <a:ea typeface="+mn-ea"/>
                <a:cs typeface="+mn-ea"/>
                <a:sym typeface="+mn-lt"/>
              </a:rPr>
              <a:t>课程项目</a:t>
            </a:r>
          </a:p>
        </p:txBody>
      </p:sp>
      <p:sp>
        <p:nvSpPr>
          <p:cNvPr id="3" name="Content Placeholder 2">
            <a:extLst>
              <a:ext uri="{FF2B5EF4-FFF2-40B4-BE49-F238E27FC236}">
                <a16:creationId xmlns:a16="http://schemas.microsoft.com/office/drawing/2014/main" id="{4D7E5C5D-79E6-4B95-979C-5136D59FB3BC}"/>
              </a:ext>
            </a:extLst>
          </p:cNvPr>
          <p:cNvSpPr>
            <a:spLocks noGrp="1"/>
          </p:cNvSpPr>
          <p:nvPr>
            <p:ph idx="1"/>
          </p:nvPr>
        </p:nvSpPr>
        <p:spPr/>
        <p:txBody>
          <a:bodyPr/>
          <a:lstStyle/>
          <a:p>
            <a:pPr>
              <a:lnSpc>
                <a:spcPct val="150000"/>
              </a:lnSpc>
            </a:pPr>
            <a:r>
              <a:rPr lang="zh-CN" altLang="en-US" dirty="0">
                <a:cs typeface="+mn-ea"/>
                <a:sym typeface="+mn-lt"/>
              </a:rPr>
              <a:t>自选课题</a:t>
            </a:r>
            <a:endParaRPr lang="en-US" altLang="zh-CN" dirty="0">
              <a:cs typeface="+mn-ea"/>
              <a:sym typeface="+mn-lt"/>
            </a:endParaRPr>
          </a:p>
          <a:p>
            <a:pPr>
              <a:lnSpc>
                <a:spcPct val="150000"/>
              </a:lnSpc>
            </a:pPr>
            <a:r>
              <a:rPr lang="en-US" altLang="zh-CN" dirty="0">
                <a:cs typeface="+mn-ea"/>
                <a:sym typeface="+mn-lt"/>
              </a:rPr>
              <a:t>3</a:t>
            </a:r>
            <a:r>
              <a:rPr lang="zh-CN" altLang="en-US" dirty="0">
                <a:cs typeface="+mn-ea"/>
                <a:sym typeface="+mn-lt"/>
              </a:rPr>
              <a:t>人一个小组</a:t>
            </a:r>
            <a:endParaRPr lang="en-US" altLang="zh-CN" dirty="0">
              <a:cs typeface="+mn-ea"/>
              <a:sym typeface="+mn-lt"/>
            </a:endParaRPr>
          </a:p>
          <a:p>
            <a:pPr>
              <a:lnSpc>
                <a:spcPct val="150000"/>
              </a:lnSpc>
            </a:pPr>
            <a:r>
              <a:rPr lang="en-US" altLang="zh-CN" dirty="0">
                <a:cs typeface="+mn-ea"/>
                <a:sym typeface="+mn-lt"/>
              </a:rPr>
              <a:t>10~15</a:t>
            </a:r>
            <a:r>
              <a:rPr lang="zh-CN" altLang="en-US" dirty="0">
                <a:cs typeface="+mn-ea"/>
                <a:sym typeface="+mn-lt"/>
              </a:rPr>
              <a:t>分钟的汇报、报告</a:t>
            </a:r>
            <a:endParaRPr lang="en-US" altLang="zh-CN" dirty="0">
              <a:cs typeface="+mn-ea"/>
              <a:sym typeface="+mn-lt"/>
            </a:endParaRPr>
          </a:p>
          <a:p>
            <a:pPr>
              <a:lnSpc>
                <a:spcPct val="150000"/>
              </a:lnSpc>
            </a:pPr>
            <a:r>
              <a:rPr lang="zh-CN" altLang="en-US" dirty="0">
                <a:cs typeface="+mn-ea"/>
                <a:sym typeface="+mn-lt"/>
              </a:rPr>
              <a:t>沟通、讨论</a:t>
            </a:r>
            <a:endParaRPr lang="en-US" altLang="zh-CN" dirty="0">
              <a:cs typeface="+mn-ea"/>
              <a:sym typeface="+mn-lt"/>
            </a:endParaRPr>
          </a:p>
          <a:p>
            <a:pPr>
              <a:lnSpc>
                <a:spcPct val="150000"/>
              </a:lnSpc>
            </a:pPr>
            <a:r>
              <a:rPr lang="zh-CN" altLang="en-US" dirty="0">
                <a:cs typeface="+mn-ea"/>
                <a:sym typeface="+mn-lt"/>
              </a:rPr>
              <a:t>成绩：</a:t>
            </a:r>
            <a:r>
              <a:rPr lang="en-US" altLang="zh-CN" dirty="0">
                <a:cs typeface="+mn-ea"/>
                <a:sym typeface="+mn-lt"/>
              </a:rPr>
              <a:t>25%</a:t>
            </a:r>
            <a:endParaRPr lang="zh-CN" altLang="en-US" dirty="0">
              <a:cs typeface="+mn-ea"/>
              <a:sym typeface="+mn-lt"/>
            </a:endParaRPr>
          </a:p>
        </p:txBody>
      </p:sp>
      <p:pic>
        <p:nvPicPr>
          <p:cNvPr id="6" name="Picture 5">
            <a:extLst>
              <a:ext uri="{FF2B5EF4-FFF2-40B4-BE49-F238E27FC236}">
                <a16:creationId xmlns:a16="http://schemas.microsoft.com/office/drawing/2014/main" id="{BC8B9539-6AE2-4A68-9BA8-D842F2E6B42A}"/>
              </a:ext>
            </a:extLst>
          </p:cNvPr>
          <p:cNvPicPr>
            <a:picLocks noChangeAspect="1"/>
          </p:cNvPicPr>
          <p:nvPr/>
        </p:nvPicPr>
        <p:blipFill>
          <a:blip r:embed="rId3"/>
          <a:stretch>
            <a:fillRect/>
          </a:stretch>
        </p:blipFill>
        <p:spPr>
          <a:xfrm>
            <a:off x="5497395" y="1879997"/>
            <a:ext cx="6237970" cy="4242594"/>
          </a:xfrm>
          <a:prstGeom prst="rect">
            <a:avLst/>
          </a:prstGeom>
        </p:spPr>
      </p:pic>
      <p:sp>
        <p:nvSpPr>
          <p:cNvPr id="8" name="Rectangle 7">
            <a:extLst>
              <a:ext uri="{FF2B5EF4-FFF2-40B4-BE49-F238E27FC236}">
                <a16:creationId xmlns:a16="http://schemas.microsoft.com/office/drawing/2014/main" id="{EE5D7AC2-A9BD-4665-A295-B0583C754EA1}"/>
              </a:ext>
            </a:extLst>
          </p:cNvPr>
          <p:cNvSpPr/>
          <p:nvPr/>
        </p:nvSpPr>
        <p:spPr>
          <a:xfrm>
            <a:off x="8224247" y="6508750"/>
            <a:ext cx="3967753" cy="369332"/>
          </a:xfrm>
          <a:prstGeom prst="rect">
            <a:avLst/>
          </a:prstGeom>
        </p:spPr>
        <p:txBody>
          <a:bodyPr wrap="none">
            <a:spAutoFit/>
          </a:bodyPr>
          <a:lstStyle/>
          <a:p>
            <a:r>
              <a:rPr lang="zh-CN" altLang="en-US" dirty="0">
                <a:cs typeface="+mn-ea"/>
                <a:sym typeface="+mn-lt"/>
                <a:hlinkClick r:id="rId4"/>
              </a:rPr>
              <a:t>https://zhuanlan.zhihu.com/p/364346303</a:t>
            </a:r>
            <a:endParaRPr lang="en-US" altLang="zh-CN" dirty="0">
              <a:cs typeface="+mn-ea"/>
              <a:sym typeface="+mn-lt"/>
            </a:endParaRPr>
          </a:p>
        </p:txBody>
      </p:sp>
    </p:spTree>
    <p:extLst>
      <p:ext uri="{BB962C8B-B14F-4D97-AF65-F5344CB8AC3E}">
        <p14:creationId xmlns:p14="http://schemas.microsoft.com/office/powerpoint/2010/main" val="37771058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97DBF-497A-4B6A-84F8-B6E9903791BF}"/>
              </a:ext>
            </a:extLst>
          </p:cNvPr>
          <p:cNvSpPr>
            <a:spLocks noGrp="1"/>
          </p:cNvSpPr>
          <p:nvPr>
            <p:ph type="title"/>
          </p:nvPr>
        </p:nvSpPr>
        <p:spPr/>
        <p:txBody>
          <a:bodyPr/>
          <a:lstStyle/>
          <a:p>
            <a:pPr algn="ctr"/>
            <a:r>
              <a:rPr lang="zh-CN" altLang="en-US" b="1" dirty="0">
                <a:latin typeface="+mn-lt"/>
                <a:ea typeface="+mn-ea"/>
                <a:cs typeface="+mn-ea"/>
                <a:sym typeface="+mn-lt"/>
              </a:rPr>
              <a:t>第一次作业</a:t>
            </a:r>
          </a:p>
        </p:txBody>
      </p:sp>
      <p:sp>
        <p:nvSpPr>
          <p:cNvPr id="3" name="Content Placeholder 2">
            <a:extLst>
              <a:ext uri="{FF2B5EF4-FFF2-40B4-BE49-F238E27FC236}">
                <a16:creationId xmlns:a16="http://schemas.microsoft.com/office/drawing/2014/main" id="{86A3E399-4EA7-464F-BC19-ACE3AB4F69B3}"/>
              </a:ext>
            </a:extLst>
          </p:cNvPr>
          <p:cNvSpPr>
            <a:spLocks noGrp="1"/>
          </p:cNvSpPr>
          <p:nvPr>
            <p:ph idx="1"/>
          </p:nvPr>
        </p:nvSpPr>
        <p:spPr/>
        <p:txBody>
          <a:bodyPr>
            <a:normAutofit/>
          </a:bodyPr>
          <a:lstStyle/>
          <a:p>
            <a:pPr>
              <a:lnSpc>
                <a:spcPct val="150000"/>
              </a:lnSpc>
            </a:pPr>
            <a:r>
              <a:rPr lang="zh-CN" altLang="en-US" b="1" dirty="0">
                <a:cs typeface="+mn-ea"/>
                <a:sym typeface="+mn-lt"/>
              </a:rPr>
              <a:t>阅读文献：</a:t>
            </a:r>
            <a:endParaRPr lang="en-US" altLang="zh-CN" b="1" dirty="0">
              <a:cs typeface="+mn-ea"/>
              <a:sym typeface="+mn-lt"/>
            </a:endParaRPr>
          </a:p>
          <a:p>
            <a:pPr lvl="1">
              <a:lnSpc>
                <a:spcPct val="150000"/>
              </a:lnSpc>
            </a:pPr>
            <a:r>
              <a:rPr lang="en-US" altLang="zh-CN" dirty="0">
                <a:cs typeface="+mn-ea"/>
                <a:sym typeface="+mn-lt"/>
              </a:rPr>
              <a:t>《Computer Vision: Algorithms and Applications》</a:t>
            </a:r>
            <a:r>
              <a:rPr lang="zh-CN" altLang="en-US" dirty="0">
                <a:cs typeface="+mn-ea"/>
                <a:sym typeface="+mn-lt"/>
              </a:rPr>
              <a:t>第一章</a:t>
            </a:r>
            <a:endParaRPr lang="en-US" altLang="zh-CN" dirty="0">
              <a:cs typeface="+mn-ea"/>
              <a:sym typeface="+mn-lt"/>
            </a:endParaRPr>
          </a:p>
          <a:p>
            <a:pPr lvl="1">
              <a:lnSpc>
                <a:spcPct val="150000"/>
              </a:lnSpc>
            </a:pPr>
            <a:r>
              <a:rPr lang="en-US" altLang="zh-CN" dirty="0">
                <a:cs typeface="+mn-ea"/>
                <a:sym typeface="+mn-lt"/>
                <a:hlinkClick r:id="rId2"/>
              </a:rPr>
              <a:t>《</a:t>
            </a:r>
            <a:r>
              <a:rPr lang="zh-CN" altLang="en-US" dirty="0">
                <a:cs typeface="+mn-ea"/>
                <a:sym typeface="+mn-lt"/>
                <a:hlinkClick r:id="rId2"/>
              </a:rPr>
              <a:t>计算机视觉简介：历史、现状和发展趋势</a:t>
            </a:r>
            <a:r>
              <a:rPr lang="en-US" altLang="zh-CN" dirty="0">
                <a:cs typeface="+mn-ea"/>
                <a:sym typeface="+mn-lt"/>
                <a:hlinkClick r:id="rId2"/>
              </a:rPr>
              <a:t>》</a:t>
            </a:r>
          </a:p>
          <a:p>
            <a:pPr lvl="1">
              <a:lnSpc>
                <a:spcPct val="150000"/>
              </a:lnSpc>
            </a:pPr>
            <a:r>
              <a:rPr lang="en-US" altLang="zh-CN" dirty="0">
                <a:cs typeface="+mn-ea"/>
                <a:sym typeface="+mn-lt"/>
                <a:hlinkClick r:id="rId2"/>
              </a:rPr>
              <a:t>《</a:t>
            </a:r>
            <a:r>
              <a:rPr lang="zh-CN" altLang="en-US" dirty="0">
                <a:cs typeface="+mn-ea"/>
                <a:sym typeface="+mn-lt"/>
                <a:hlinkClick r:id="rId2"/>
              </a:rPr>
              <a:t>生物视觉中的物体识别通道简介</a:t>
            </a:r>
            <a:r>
              <a:rPr lang="en-US" altLang="zh-CN">
                <a:cs typeface="+mn-ea"/>
                <a:sym typeface="+mn-lt"/>
                <a:hlinkClick r:id="rId2"/>
              </a:rPr>
              <a:t>》</a:t>
            </a:r>
            <a:endParaRPr lang="en-US" altLang="zh-CN" dirty="0">
              <a:cs typeface="+mn-ea"/>
              <a:sym typeface="+mn-lt"/>
            </a:endParaRPr>
          </a:p>
        </p:txBody>
      </p:sp>
    </p:spTree>
    <p:extLst>
      <p:ext uri="{BB962C8B-B14F-4D97-AF65-F5344CB8AC3E}">
        <p14:creationId xmlns:p14="http://schemas.microsoft.com/office/powerpoint/2010/main" val="22789963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A1F2B150-B215-4627-B9DD-6FCE4C2867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994" y="1283221"/>
            <a:ext cx="8600012" cy="429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0608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d0hkjjdn">
      <a:majorFont>
        <a:latin typeface="Times New Roman" panose="020F0302020204030204"/>
        <a:ea typeface="宋体"/>
        <a:cs typeface=""/>
      </a:majorFont>
      <a:minorFont>
        <a:latin typeface="Times New Roman" panose="020F0502020204030204"/>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11670</TotalTime>
  <Words>4940</Words>
  <Application>Microsoft Office PowerPoint</Application>
  <PresentationFormat>Widescreen</PresentationFormat>
  <Paragraphs>297</Paragraphs>
  <Slides>60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Helvetica Neue</vt:lpstr>
      <vt:lpstr>KaiTi</vt:lpstr>
      <vt:lpstr>等线</vt:lpstr>
      <vt:lpstr>宋体</vt:lpstr>
      <vt:lpstr>Arial</vt:lpstr>
      <vt:lpstr>Times New Roman</vt:lpstr>
      <vt:lpstr>Wingdings</vt:lpstr>
      <vt:lpstr>Office Theme</vt:lpstr>
      <vt:lpstr>计算机视觉 Computer Vision</vt:lpstr>
      <vt:lpstr>联系方式</vt:lpstr>
      <vt:lpstr>联络沟通方式</vt:lpstr>
      <vt:lpstr>参考教材</vt:lpstr>
      <vt:lpstr>参考教材</vt:lpstr>
      <vt:lpstr>参考教材</vt:lpstr>
      <vt:lpstr>参考书</vt:lpstr>
      <vt:lpstr>参考书</vt:lpstr>
      <vt:lpstr>参考书</vt:lpstr>
      <vt:lpstr>教学安排</vt:lpstr>
      <vt:lpstr>先导课程</vt:lpstr>
      <vt:lpstr>课程计划</vt:lpstr>
      <vt:lpstr>提纲</vt:lpstr>
      <vt:lpstr>什么是计算机视觉？</vt:lpstr>
      <vt:lpstr>什么是计算机视觉？</vt:lpstr>
      <vt:lpstr>人类视觉</vt:lpstr>
      <vt:lpstr>什么是计算机视觉？</vt:lpstr>
      <vt:lpstr>什么是计算机视觉？</vt:lpstr>
      <vt:lpstr>为什么要研究计算机视觉？</vt:lpstr>
      <vt:lpstr>计算机视觉—主要方法</vt:lpstr>
      <vt:lpstr>数字图像处理 vs 计算机视觉</vt:lpstr>
      <vt:lpstr>数字图像处理 vs 计算机视觉</vt:lpstr>
      <vt:lpstr>计算图形学 vs 计算机视觉</vt:lpstr>
      <vt:lpstr>数字图像处理&amp;计算机视觉&amp;计算机图形</vt:lpstr>
      <vt:lpstr>计算机视觉涉及的学科</vt:lpstr>
      <vt:lpstr>提纲</vt:lpstr>
      <vt:lpstr>典型问题和应用总览</vt:lpstr>
      <vt:lpstr>图像分类：最简单的应用</vt:lpstr>
      <vt:lpstr>物体检测和分割</vt:lpstr>
      <vt:lpstr>物体的结构解析</vt:lpstr>
      <vt:lpstr>图像恢复&amp;增强：智能摄像的标配</vt:lpstr>
      <vt:lpstr>图像生成：从语义产生图像</vt:lpstr>
      <vt:lpstr>从二维到三维，从静止到动态</vt:lpstr>
      <vt:lpstr>几何分析：最古老的CV领域之一</vt:lpstr>
      <vt:lpstr>三维视觉：更接近人类的理解方式</vt:lpstr>
      <vt:lpstr>视频理解和生成：结合时空信息</vt:lpstr>
      <vt:lpstr>物体跟踪和重识别</vt:lpstr>
      <vt:lpstr>图文跨模态：图像与文本结合</vt:lpstr>
      <vt:lpstr>图文跨模态：图像与文本结合</vt:lpstr>
      <vt:lpstr>为什么计算机视觉很难？</vt:lpstr>
      <vt:lpstr>为什么计算机视觉很难？</vt:lpstr>
      <vt:lpstr>为什么计算机视觉很难？</vt:lpstr>
      <vt:lpstr>数据高效：问题和解决方案</vt:lpstr>
      <vt:lpstr>提纲</vt:lpstr>
      <vt:lpstr>计算机视觉的历史</vt:lpstr>
      <vt:lpstr>计算机视觉的历史</vt:lpstr>
      <vt:lpstr>发展阶段</vt:lpstr>
      <vt:lpstr>马尔计算视觉</vt:lpstr>
      <vt:lpstr>马尔计算视觉</vt:lpstr>
      <vt:lpstr>主动和目的视觉</vt:lpstr>
      <vt:lpstr>多视几何和分层三维重建</vt:lpstr>
      <vt:lpstr>基于学习的视觉（Learning based vision)</vt:lpstr>
      <vt:lpstr>基于学习的视觉（Learning based vision)</vt:lpstr>
      <vt:lpstr>基于学习的视觉（Learning based vision)</vt:lpstr>
      <vt:lpstr>Most active topics of research in CV</vt:lpstr>
      <vt:lpstr>相关学术会议与期刊</vt:lpstr>
      <vt:lpstr>课程资源</vt:lpstr>
      <vt:lpstr>课程项目</vt:lpstr>
      <vt:lpstr>第一次作业</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计算机视觉 Computer Vision</dc:title>
  <dc:creator>Luo Zhiming</dc:creator>
  <cp:lastModifiedBy>Luo Zhiming</cp:lastModifiedBy>
  <cp:revision>227</cp:revision>
  <dcterms:created xsi:type="dcterms:W3CDTF">2022-01-26T11:37:32Z</dcterms:created>
  <dcterms:modified xsi:type="dcterms:W3CDTF">2023-02-27T01:53:48Z</dcterms:modified>
</cp:coreProperties>
</file>