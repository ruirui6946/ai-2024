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89" r:id="rId4"/>
    <p:sldId id="259" r:id="rId5"/>
    <p:sldId id="292" r:id="rId6"/>
    <p:sldId id="297" r:id="rId7"/>
    <p:sldId id="311" r:id="rId8"/>
    <p:sldId id="312" r:id="rId9"/>
    <p:sldId id="325" r:id="rId10"/>
    <p:sldId id="315" r:id="rId11"/>
    <p:sldId id="316" r:id="rId12"/>
    <p:sldId id="317" r:id="rId13"/>
    <p:sldId id="323" r:id="rId14"/>
    <p:sldId id="319" r:id="rId15"/>
    <p:sldId id="320" r:id="rId16"/>
    <p:sldId id="321" r:id="rId17"/>
    <p:sldId id="324" r:id="rId18"/>
    <p:sldId id="308" r:id="rId19"/>
    <p:sldId id="309" r:id="rId20"/>
    <p:sldId id="310" r:id="rId21"/>
    <p:sldId id="337" r:id="rId22"/>
    <p:sldId id="327" r:id="rId23"/>
    <p:sldId id="338" r:id="rId24"/>
    <p:sldId id="339" r:id="rId25"/>
    <p:sldId id="340" r:id="rId26"/>
    <p:sldId id="305" r:id="rId27"/>
    <p:sldId id="342" r:id="rId28"/>
    <p:sldId id="307" r:id="rId29"/>
    <p:sldId id="344" r:id="rId30"/>
    <p:sldId id="298" r:id="rId31"/>
    <p:sldId id="328" r:id="rId32"/>
    <p:sldId id="290" r:id="rId33"/>
    <p:sldId id="329" r:id="rId34"/>
    <p:sldId id="258" r:id="rId35"/>
    <p:sldId id="330" r:id="rId36"/>
    <p:sldId id="334" r:id="rId37"/>
    <p:sldId id="331" r:id="rId38"/>
    <p:sldId id="332" r:id="rId39"/>
    <p:sldId id="333" r:id="rId40"/>
    <p:sldId id="335" r:id="rId41"/>
    <p:sldId id="303" r:id="rId42"/>
    <p:sldId id="304" r:id="rId43"/>
    <p:sldId id="336" r:id="rId44"/>
    <p:sldId id="294" r:id="rId45"/>
    <p:sldId id="295" r:id="rId46"/>
    <p:sldId id="296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8BB436-96B8-4FFB-8106-0DEC7CC8FF5A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B9075-02DA-4E29-A6E2-1CFE65D94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89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B9075-02DA-4E29-A6E2-1CFE65D94E2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17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B9075-02DA-4E29-A6E2-1CFE65D94E2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296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B9075-02DA-4E29-A6E2-1CFE65D94E2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316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B9075-02DA-4E29-A6E2-1CFE65D94E2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372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B9075-02DA-4E29-A6E2-1CFE65D94E2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092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B9075-02DA-4E29-A6E2-1CFE65D94E2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97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EF88-917F-408C-975C-C01671E3F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ACE3F-8F2D-49FB-B04A-07B10EEAC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B0A33-56B3-41B3-B15F-C809563F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F0761-8E6F-4457-8A9A-1FD01EBA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C2006-09EF-4E24-B33E-07A0E9F5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878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CF9A-D33B-4DB7-9478-D88CDFC5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77E68-4043-494C-BCD1-D3A01E4D2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B4EEE-380D-4DB9-BA56-97B35C8B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95FC5-F514-4670-868C-B6382B45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41656-25DD-4573-9A95-A6DC2D0D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935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384E-AA7B-4086-9B7D-EA8E3D93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538D8-FBC8-4F87-AAF8-48152E9A3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01BD2-6818-4746-A265-D51882CF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D042-87C3-4538-AA84-E3ADA980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832BE-FAC2-4FE9-9A57-12C40676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57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C33E-E800-443B-AF0D-04181B0B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7A85-93E1-42CD-940F-1ACB817EF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3D58F-4CF5-44F7-8956-8DB36818C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9E5E7-1147-4E36-8DEE-0F556376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41010-E328-4BAA-A817-4D8C7323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1551F-DF25-48E1-8B69-20D1CE5A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18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D2CB-9543-402A-8126-C840401F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82A35-5D42-46DB-ACDA-815F74157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2A28E-1E2C-459B-9373-D7071385F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7B428D-C042-4351-A81D-A12191468D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EA0A38-82E3-427C-AD61-FAD0A12CA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51C7E-076B-42D0-BD71-24E6F2B6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55F62-ADBA-4973-BC58-15DD6447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4B7AF-A853-440B-BA91-FD387B17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53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9939-1FDC-41B6-AC8F-A4599DF4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DB1E1-0832-461F-BEEE-DF43DABE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858AF-C589-4E98-992F-E849A9B0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A22CE8-B0C8-45B0-B8D2-7A0C4B1D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18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246A3A-8518-48CF-9B0F-AF614CFA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20A3D-D12F-4A96-A511-A44470D8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8E7DF-77EB-48A3-8B5C-0FCA1B45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63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9BDB-19EB-4524-B495-6C2F7C2B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AEC58-E975-41EC-BE9B-023E6D226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AE1BF-8FA7-4691-ACE5-5EEC72D73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B86AD-130B-4A45-A707-F6476C33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F927A-AEC2-444E-9292-E2C5478C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B9F69-D39F-4B28-BCE6-53CEF204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659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C483-4D0A-4E5A-862C-044C6910A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D4C89-2C94-4161-8B7C-AA184F822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6FB18-3484-4F7E-B8D5-38613D1D4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2B59C-EEDD-437D-BCD5-C818F4BD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B54F3-2926-47DF-92D1-B0C6B8125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5D9A8-E1F0-412E-82BE-089B40D6F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217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5DED-7A76-4F53-911D-E4588C166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453A8-6384-46CB-BDCD-D06E6F415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A7E0-6533-428C-83AD-073AB87E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60F4-64A3-4245-87A9-9A14B29AF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EC5B0-6F68-4193-8FA5-438893D8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90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DFE5F1-F4E1-4564-8334-AC149899F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87ED2-D92C-48BB-A4C4-1EC4E6869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B3D87-4D07-4B38-A064-CED1EA58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A0BB5-B06A-447C-BAD9-6A93835C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61C39-ABEC-44F0-8155-6C8E928E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64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ABA82-2FA5-4D50-B2FF-84363971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AB7F1-9CD0-41A4-9F5C-8C114062E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1398A-0ACD-4474-AC59-6D4D3799B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24F94-C983-4184-B8AF-494379D54DFB}" type="datetimeFigureOut">
              <a:rPr lang="zh-CN" altLang="en-US" smtClean="0"/>
              <a:t>2023-5-17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DCCC2-88B2-48FE-AC8B-4F7BFEC77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7E95B-BDB9-4218-87E9-B57A0F5AD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6C148-F1F9-4E04-9CF7-ECE5C1331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01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A1F5-FA8A-49E5-9BA5-D79CF62D1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b="1" dirty="0">
                <a:latin typeface="+mn-lt"/>
                <a:ea typeface="+mn-ea"/>
                <a:cs typeface="+mn-ea"/>
                <a:sym typeface="+mn-lt"/>
              </a:rPr>
              <a:t>12</a:t>
            </a:r>
            <a:r>
              <a:rPr lang="zh-CN" altLang="en-US" sz="4400" b="1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4400" b="1" dirty="0">
                <a:latin typeface="+mn-lt"/>
                <a:ea typeface="+mn-ea"/>
                <a:cs typeface="+mn-ea"/>
                <a:sym typeface="+mn-lt"/>
              </a:rPr>
              <a:t>CNN-Based Object Detection (2)</a:t>
            </a:r>
            <a:endParaRPr lang="zh-CN" altLang="en-US" sz="44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6C011-BCCB-422E-9E7F-192771EFC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cs typeface="+mn-ea"/>
                <a:sym typeface="+mn-lt"/>
              </a:rPr>
              <a:t>罗志明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b="1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919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BEF7-669E-4B82-88B5-5F703C763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实时目标检测算法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FA48-3C75-4E24-99C3-9EA397253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>
                <a:cs typeface="+mn-ea"/>
                <a:sym typeface="+mn-lt"/>
              </a:rPr>
              <a:t>YOLO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cs typeface="+mn-ea"/>
                <a:sym typeface="+mn-lt"/>
              </a:rPr>
              <a:t>SSD</a:t>
            </a:r>
          </a:p>
        </p:txBody>
      </p:sp>
    </p:spTree>
    <p:extLst>
      <p:ext uri="{BB962C8B-B14F-4D97-AF65-F5344CB8AC3E}">
        <p14:creationId xmlns:p14="http://schemas.microsoft.com/office/powerpoint/2010/main" val="245402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F6E4-1E13-4636-8FDD-DD91B4CA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5444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YOLO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Y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ou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nly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L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ook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nce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433CC1-EAEB-421C-9D63-ECC3A3D3C8DF}"/>
              </a:ext>
            </a:extLst>
          </p:cNvPr>
          <p:cNvSpPr/>
          <p:nvPr/>
        </p:nvSpPr>
        <p:spPr>
          <a:xfrm>
            <a:off x="411079" y="3244334"/>
            <a:ext cx="113698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222222"/>
                </a:solidFill>
                <a:cs typeface="+mn-ea"/>
                <a:sym typeface="+mn-lt"/>
              </a:rPr>
              <a:t>Redmon et al. </a:t>
            </a:r>
            <a:r>
              <a:rPr lang="en-US" altLang="zh-CN" sz="2400" dirty="0">
                <a:solidFill>
                  <a:srgbClr val="0097A7"/>
                </a:solidFill>
                <a:cs typeface="+mn-ea"/>
                <a:sym typeface="+mn-lt"/>
              </a:rPr>
              <a:t>You Only Look Once: Unified, Real-Time Object Detection</a:t>
            </a:r>
            <a:r>
              <a:rPr lang="en-US" altLang="zh-CN" sz="2400" dirty="0">
                <a:solidFill>
                  <a:srgbClr val="222222"/>
                </a:solidFill>
                <a:cs typeface="+mn-ea"/>
                <a:sym typeface="+mn-lt"/>
              </a:rPr>
              <a:t>. CVPR 2016</a:t>
            </a:r>
            <a:r>
              <a:rPr lang="en-US" altLang="zh-CN" sz="2400" dirty="0">
                <a:cs typeface="+mn-ea"/>
                <a:sym typeface="+mn-lt"/>
              </a:rPr>
              <a:t> </a:t>
            </a:r>
            <a:endParaRPr lang="zh-CN" altLang="en-US" sz="2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043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37E2-A2ED-4750-87D2-C3536A17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YOLO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Y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ou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nly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L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ook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nce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AED20-6339-41FE-9076-B40F1517D31D}"/>
              </a:ext>
            </a:extLst>
          </p:cNvPr>
          <p:cNvSpPr/>
          <p:nvPr/>
        </p:nvSpPr>
        <p:spPr>
          <a:xfrm>
            <a:off x="822159" y="6488668"/>
            <a:ext cx="11369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Redmon et al.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You Only Look Once: Unified, Real-Time Object Detection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CVPR 2016</a:t>
            </a:r>
            <a:r>
              <a:rPr lang="en-US" altLang="zh-CN" dirty="0">
                <a:cs typeface="+mn-ea"/>
                <a:sym typeface="+mn-lt"/>
              </a:rPr>
              <a:t>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3FD38F-AA34-4262-A0B8-16A83420A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33622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使用回归</a:t>
            </a:r>
            <a:r>
              <a:rPr lang="en-US" altLang="zh-CN" dirty="0">
                <a:cs typeface="+mn-ea"/>
                <a:sym typeface="+mn-lt"/>
              </a:rPr>
              <a:t>Regression</a:t>
            </a:r>
            <a:r>
              <a:rPr lang="zh-CN" altLang="en-US" dirty="0">
                <a:cs typeface="+mn-ea"/>
                <a:sym typeface="+mn-lt"/>
              </a:rPr>
              <a:t>完成目标检测</a:t>
            </a:r>
            <a:endParaRPr lang="en-US" altLang="zh-CN" dirty="0"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accent2"/>
                </a:solidFill>
                <a:cs typeface="+mn-ea"/>
                <a:sym typeface="+mn-lt"/>
              </a:rPr>
              <a:t>特点</a:t>
            </a:r>
            <a:r>
              <a:rPr lang="en-US" altLang="zh-CN" b="1" dirty="0">
                <a:solidFill>
                  <a:schemeClr val="accent2"/>
                </a:solidFill>
                <a:cs typeface="+mn-ea"/>
                <a:sym typeface="+mn-lt"/>
              </a:rPr>
              <a:t>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cs typeface="+mn-ea"/>
                <a:sym typeface="+mn-lt"/>
              </a:rPr>
              <a:t>计算速度快</a:t>
            </a:r>
            <a:r>
              <a:rPr lang="en-US" altLang="zh-CN" sz="2400" dirty="0">
                <a:cs typeface="+mn-ea"/>
                <a:sym typeface="+mn-lt"/>
              </a:rPr>
              <a:t>(45 fps)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cs typeface="+mn-ea"/>
                <a:sym typeface="+mn-lt"/>
              </a:rPr>
              <a:t>整张图像上进行推理</a:t>
            </a:r>
            <a:endParaRPr lang="en-US" altLang="zh-CN" sz="2400" dirty="0">
              <a:cs typeface="+mn-ea"/>
              <a:sym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CAE948-84FF-46FC-8BE7-E5A2A225CD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6" t="3775" r="3078" b="4306"/>
          <a:stretch/>
        </p:blipFill>
        <p:spPr>
          <a:xfrm>
            <a:off x="6613921" y="2254927"/>
            <a:ext cx="5066908" cy="261891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3972AEB-1890-423D-AA70-5166C2D73EC1}"/>
              </a:ext>
            </a:extLst>
          </p:cNvPr>
          <p:cNvGrpSpPr/>
          <p:nvPr/>
        </p:nvGrpSpPr>
        <p:grpSpPr>
          <a:xfrm>
            <a:off x="7199538" y="5167312"/>
            <a:ext cx="4294765" cy="369332"/>
            <a:chOff x="6507079" y="5168561"/>
            <a:chExt cx="4294765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1A6C55-C39A-4A53-B1F1-68C1B44E480F}"/>
                </a:ext>
              </a:extLst>
            </p:cNvPr>
            <p:cNvSpPr txBox="1"/>
            <p:nvPr/>
          </p:nvSpPr>
          <p:spPr>
            <a:xfrm>
              <a:off x="6507079" y="5168561"/>
              <a:ext cx="42947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Image</a:t>
              </a:r>
              <a:r>
                <a:rPr lang="en-US" altLang="zh-CN" dirty="0">
                  <a:cs typeface="+mn-ea"/>
                  <a:sym typeface="+mn-lt"/>
                </a:rPr>
                <a:t>       bounding box &amp; class probability</a:t>
              </a:r>
              <a:endParaRPr lang="zh-CN" altLang="en-US" dirty="0">
                <a:cs typeface="+mn-ea"/>
                <a:sym typeface="+mn-lt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5DE8F43A-2FD0-4A7B-A54B-AEC5E59F5960}"/>
                </a:ext>
              </a:extLst>
            </p:cNvPr>
            <p:cNvCxnSpPr>
              <a:cxnSpLocks/>
            </p:cNvCxnSpPr>
            <p:nvPr/>
          </p:nvCxnSpPr>
          <p:spPr>
            <a:xfrm>
              <a:off x="7230533" y="5367865"/>
              <a:ext cx="3556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837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7B3E5-1AC4-4586-85DD-C9FEC89F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模型结构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FB0DF-027B-4AE1-A191-1FA0DE926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3936"/>
            <a:ext cx="10515600" cy="192072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不需要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Region Proposal</a:t>
            </a:r>
            <a:r>
              <a:rPr lang="zh-CN" altLang="en-US" dirty="0">
                <a:cs typeface="+mn-ea"/>
                <a:sym typeface="+mn-lt"/>
              </a:rPr>
              <a:t>及后续的相关运算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利用</a:t>
            </a:r>
            <a:r>
              <a:rPr lang="en-US" altLang="zh-CN" dirty="0">
                <a:cs typeface="+mn-ea"/>
                <a:sym typeface="+mn-lt"/>
              </a:rPr>
              <a:t>CNN</a:t>
            </a:r>
            <a:r>
              <a:rPr lang="zh-CN" altLang="en-US" dirty="0">
                <a:cs typeface="+mn-ea"/>
                <a:sym typeface="+mn-lt"/>
              </a:rPr>
              <a:t>进行一遍推理就可以完成</a:t>
            </a:r>
            <a:r>
              <a:rPr lang="en-US" altLang="zh-CN" dirty="0">
                <a:cs typeface="+mn-ea"/>
                <a:sym typeface="+mn-lt"/>
              </a:rPr>
              <a:t>Bounding box</a:t>
            </a:r>
            <a:r>
              <a:rPr lang="zh-CN" altLang="en-US" dirty="0">
                <a:cs typeface="+mn-ea"/>
                <a:sym typeface="+mn-lt"/>
              </a:rPr>
              <a:t>与</a:t>
            </a:r>
            <a:r>
              <a:rPr lang="en-US" altLang="zh-CN" dirty="0">
                <a:cs typeface="+mn-ea"/>
                <a:sym typeface="+mn-lt"/>
              </a:rPr>
              <a:t>Class</a:t>
            </a:r>
            <a:r>
              <a:rPr lang="zh-CN" altLang="en-US" dirty="0">
                <a:cs typeface="+mn-ea"/>
                <a:sym typeface="+mn-lt"/>
              </a:rPr>
              <a:t>概率预测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1CE464-CC69-40DD-B22E-E7ED6A1D2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919" y="1585651"/>
            <a:ext cx="7144161" cy="310329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68BA45F-07CC-4FC4-A64C-EB9610D062E1}"/>
              </a:ext>
            </a:extLst>
          </p:cNvPr>
          <p:cNvSpPr/>
          <p:nvPr/>
        </p:nvSpPr>
        <p:spPr>
          <a:xfrm>
            <a:off x="8248261" y="2799184"/>
            <a:ext cx="1169437" cy="1325563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466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76B8-8AEF-449A-8FDF-0F423866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统一的框架（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Unified Detection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212F5-DF59-42E7-9EC6-9EBC90A1E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cs typeface="+mn-ea"/>
                <a:sym typeface="+mn-lt"/>
              </a:rPr>
              <a:t>Image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S x S </a:t>
            </a:r>
            <a:r>
              <a:rPr lang="en-US" altLang="zh-CN" dirty="0">
                <a:cs typeface="+mn-ea"/>
                <a:sym typeface="+mn-lt"/>
              </a:rPr>
              <a:t>grids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cs typeface="+mn-ea"/>
                <a:sym typeface="+mn-lt"/>
              </a:rPr>
              <a:t>Grid cell</a:t>
            </a:r>
          </a:p>
          <a:p>
            <a:r>
              <a:rPr lang="en-US" altLang="zh-CN" b="1" dirty="0">
                <a:solidFill>
                  <a:srgbClr val="FF0000"/>
                </a:solidFill>
                <a:cs typeface="+mn-ea"/>
                <a:sym typeface="+mn-lt"/>
              </a:rPr>
              <a:t>B</a:t>
            </a:r>
            <a:r>
              <a:rPr lang="en-US" altLang="zh-CN" dirty="0">
                <a:cs typeface="+mn-ea"/>
                <a:sym typeface="+mn-lt"/>
              </a:rPr>
              <a:t>: </a:t>
            </a:r>
            <a:r>
              <a:rPr lang="en-US" altLang="zh-CN" dirty="0" err="1">
                <a:cs typeface="+mn-ea"/>
                <a:sym typeface="+mn-lt"/>
              </a:rPr>
              <a:t>BBoxes</a:t>
            </a:r>
            <a:r>
              <a:rPr lang="en-US" altLang="zh-CN" dirty="0">
                <a:cs typeface="+mn-ea"/>
                <a:sym typeface="+mn-lt"/>
              </a:rPr>
              <a:t> and Confidence</a:t>
            </a:r>
            <a:r>
              <a:rPr lang="zh-CN" altLang="en-US" dirty="0">
                <a:cs typeface="+mn-ea"/>
                <a:sym typeface="+mn-lt"/>
              </a:rPr>
              <a:t>得分</a:t>
            </a:r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en-US" altLang="zh-CN" b="1" dirty="0">
                <a:solidFill>
                  <a:srgbClr val="00B050"/>
                </a:solidFill>
                <a:cs typeface="+mn-ea"/>
                <a:sym typeface="+mn-lt"/>
              </a:rPr>
              <a:t>C</a:t>
            </a:r>
            <a:r>
              <a:rPr lang="en-US" altLang="zh-CN" dirty="0">
                <a:cs typeface="+mn-ea"/>
                <a:sym typeface="+mn-lt"/>
              </a:rPr>
              <a:t>: </a:t>
            </a:r>
            <a:r>
              <a:rPr lang="zh-CN" altLang="en-US" dirty="0">
                <a:cs typeface="+mn-ea"/>
                <a:sym typeface="+mn-lt"/>
              </a:rPr>
              <a:t>类别概率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(#classes)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720AC-F51E-4F1E-AF3C-DB5CB2193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315" y="1492141"/>
            <a:ext cx="4430414" cy="4094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7A318F-608D-4A1A-BD9B-38E841B0DD15}"/>
                  </a:ext>
                </a:extLst>
              </p:cNvPr>
              <p:cNvSpPr txBox="1"/>
              <p:nvPr/>
            </p:nvSpPr>
            <p:spPr>
              <a:xfrm>
                <a:off x="1913277" y="5020734"/>
                <a:ext cx="309321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Pr</m:t>
                      </m:r>
                      <m:r>
                        <a:rPr lang="en-US" altLang="zh-CN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Class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i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Object</m:t>
                      </m:r>
                      <m:r>
                        <a:rPr lang="en-US" altLang="zh-CN" sz="32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zh-CN" altLang="en-US" sz="3200" dirty="0">
                  <a:solidFill>
                    <a:srgbClr val="00B050"/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7A318F-608D-4A1A-BD9B-38E841B0D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277" y="5020734"/>
                <a:ext cx="309321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1C62619-6458-4212-A898-345310C00925}"/>
              </a:ext>
            </a:extLst>
          </p:cNvPr>
          <p:cNvSpPr txBox="1"/>
          <p:nvPr/>
        </p:nvSpPr>
        <p:spPr>
          <a:xfrm>
            <a:off x="1900436" y="3539629"/>
            <a:ext cx="3317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cs typeface="+mn-ea"/>
                <a:sym typeface="+mn-lt"/>
              </a:rPr>
              <a:t>x, y, w, h, confidence</a:t>
            </a:r>
            <a:endParaRPr lang="zh-CN" altLang="en-US" sz="2800" b="1" dirty="0"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3286C7-9F5A-49C5-BD6E-DB73B2FEA226}"/>
                  </a:ext>
                </a:extLst>
              </p:cNvPr>
              <p:cNvSpPr txBox="1"/>
              <p:nvPr/>
            </p:nvSpPr>
            <p:spPr>
              <a:xfrm>
                <a:off x="5541310" y="3615262"/>
                <a:ext cx="2843342" cy="4582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Object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IOU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pred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truth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accent4">
                      <a:lumMod val="75000"/>
                    </a:schemeClr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3286C7-9F5A-49C5-BD6E-DB73B2FEA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310" y="3615262"/>
                <a:ext cx="2843342" cy="458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F649AD8-368D-4A65-8565-8E7B79B03371}"/>
              </a:ext>
            </a:extLst>
          </p:cNvPr>
          <p:cNvSpPr/>
          <p:nvPr/>
        </p:nvSpPr>
        <p:spPr>
          <a:xfrm>
            <a:off x="1904810" y="3615264"/>
            <a:ext cx="1498789" cy="4335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78BAED-9567-48AE-9A0C-10047A06D307}"/>
              </a:ext>
            </a:extLst>
          </p:cNvPr>
          <p:cNvSpPr/>
          <p:nvPr/>
        </p:nvSpPr>
        <p:spPr>
          <a:xfrm>
            <a:off x="3450166" y="3615262"/>
            <a:ext cx="1759186" cy="4335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5089C6-B978-48C1-A66B-3C5827ED8F29}"/>
              </a:ext>
            </a:extLst>
          </p:cNvPr>
          <p:cNvCxnSpPr>
            <a:endCxn id="10" idx="0"/>
          </p:cNvCxnSpPr>
          <p:nvPr/>
        </p:nvCxnSpPr>
        <p:spPr>
          <a:xfrm>
            <a:off x="2243667" y="3285067"/>
            <a:ext cx="410538" cy="3301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1F7EA6-667C-4DCB-911C-D9F9F2C8804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199560" y="3242738"/>
            <a:ext cx="130199" cy="3725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E8F9C9-B437-4A5D-BA3F-38627C69D91A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5209352" y="3832061"/>
            <a:ext cx="331958" cy="123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6C17F19-8153-4C75-B22A-C16E406A9902}"/>
              </a:ext>
            </a:extLst>
          </p:cNvPr>
          <p:cNvSpPr/>
          <p:nvPr/>
        </p:nvSpPr>
        <p:spPr>
          <a:xfrm>
            <a:off x="7273778" y="5344580"/>
            <a:ext cx="2450801" cy="281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5356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76B8-8AEF-449A-8FDF-0F423866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统一的框架（</a:t>
            </a:r>
            <a:r>
              <a:rPr lang="en-US" altLang="zh-CN" b="1" dirty="0">
                <a:cs typeface="+mn-ea"/>
                <a:sym typeface="+mn-lt"/>
              </a:rPr>
              <a:t>Unified Detection</a:t>
            </a:r>
            <a:r>
              <a:rPr lang="zh-CN" altLang="en-US" b="1" dirty="0">
                <a:cs typeface="+mn-ea"/>
                <a:sym typeface="+mn-lt"/>
              </a:rPr>
              <a:t>）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212F5-DF59-42E7-9EC6-9EBC90A1E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55267" cy="43513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每一个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grid cell</a:t>
            </a:r>
            <a:r>
              <a:rPr lang="zh-CN" altLang="en-US" dirty="0">
                <a:cs typeface="+mn-ea"/>
                <a:sym typeface="+mn-lt"/>
              </a:rPr>
              <a:t>预测对应的类别概率</a:t>
            </a:r>
            <a:r>
              <a:rPr lang="en-US" altLang="zh-CN" dirty="0">
                <a:cs typeface="+mn-ea"/>
                <a:sym typeface="+mn-lt"/>
              </a:rPr>
              <a:t>,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不考虑</a:t>
            </a:r>
            <a:r>
              <a:rPr lang="en-US" altLang="zh-CN" dirty="0">
                <a:solidFill>
                  <a:srgbClr val="FF0000"/>
                </a:solidFill>
                <a:cs typeface="+mn-ea"/>
                <a:sym typeface="+mn-lt"/>
              </a:rPr>
              <a:t>boxes B.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测试时，每一个</a:t>
            </a:r>
            <a:r>
              <a:rPr lang="en-US" altLang="zh-CN" dirty="0">
                <a:cs typeface="+mn-ea"/>
                <a:sym typeface="+mn-lt"/>
              </a:rPr>
              <a:t>Box</a:t>
            </a:r>
            <a:r>
              <a:rPr lang="zh-CN" altLang="en-US" dirty="0">
                <a:cs typeface="+mn-ea"/>
                <a:sym typeface="+mn-lt"/>
              </a:rPr>
              <a:t>的预测得分：</a:t>
            </a:r>
            <a:endParaRPr lang="en-US" altLang="zh-CN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AA1BF7-32C8-45AF-84B1-965FC281DF5C}"/>
              </a:ext>
            </a:extLst>
          </p:cNvPr>
          <p:cNvGrpSpPr/>
          <p:nvPr/>
        </p:nvGrpSpPr>
        <p:grpSpPr>
          <a:xfrm>
            <a:off x="6881641" y="1350963"/>
            <a:ext cx="5221321" cy="4826000"/>
            <a:chOff x="6571569" y="1037165"/>
            <a:chExt cx="5221321" cy="4826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35720AC-F51E-4F1E-AF3C-DB5CB2193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1569" y="1037165"/>
              <a:ext cx="5221321" cy="48260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49BBEF-3851-4861-BD17-5B0E65E961E3}"/>
                </a:ext>
              </a:extLst>
            </p:cNvPr>
            <p:cNvSpPr/>
            <p:nvPr/>
          </p:nvSpPr>
          <p:spPr>
            <a:xfrm>
              <a:off x="6625465" y="5581440"/>
              <a:ext cx="2450801" cy="2817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5D03023-8485-48A3-82E7-876D06179174}"/>
              </a:ext>
            </a:extLst>
          </p:cNvPr>
          <p:cNvGrpSpPr/>
          <p:nvPr/>
        </p:nvGrpSpPr>
        <p:grpSpPr>
          <a:xfrm>
            <a:off x="1224230" y="3763963"/>
            <a:ext cx="5383204" cy="1051471"/>
            <a:chOff x="1083733" y="4546601"/>
            <a:chExt cx="5383204" cy="10514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833D4C7-2945-4B30-A433-F4F61C2C23DB}"/>
                    </a:ext>
                  </a:extLst>
                </p:cNvPr>
                <p:cNvSpPr txBox="1"/>
                <p:nvPr/>
              </p:nvSpPr>
              <p:spPr>
                <a:xfrm>
                  <a:off x="1083733" y="4546601"/>
                  <a:ext cx="5383204" cy="4582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Class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Object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4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∗</m:t>
                        </m:r>
                        <m:func>
                          <m:funcPr>
                            <m:ctrlPr>
                              <a:rPr lang="en-US" altLang="zh-CN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Object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∗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IOU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pred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truth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rgbClr val="00B050"/>
                    </a:solidFill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833D4C7-2945-4B30-A433-F4F61C2C2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733" y="4546601"/>
                  <a:ext cx="5383204" cy="45826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24FB2F9-F635-40D0-B927-BCB5B74C2AE3}"/>
                    </a:ext>
                  </a:extLst>
                </p:cNvPr>
                <p:cNvSpPr txBox="1"/>
                <p:nvPr/>
              </p:nvSpPr>
              <p:spPr>
                <a:xfrm>
                  <a:off x="1083733" y="5139805"/>
                  <a:ext cx="3075650" cy="45826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Pr</m:t>
                            </m:r>
                          </m:fName>
                          <m:e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Class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∗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IOU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pred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truth</m:t>
                            </m:r>
                          </m:sup>
                        </m:sSubSup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24FB2F9-F635-40D0-B927-BCB5B74C2A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733" y="5139805"/>
                  <a:ext cx="3075650" cy="45826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56269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41C4-95A2-4C81-804E-AD3FBB59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YOLO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的工作原理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C1B2-66FC-4FF3-B389-E6DAF4A8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1516"/>
            <a:ext cx="10820400" cy="17214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Confidence scores: </a:t>
            </a:r>
            <a:r>
              <a:rPr lang="en-US" altLang="zh-CN" dirty="0">
                <a:cs typeface="+mn-ea"/>
                <a:sym typeface="+mn-lt"/>
              </a:rPr>
              <a:t>Box</a:t>
            </a:r>
            <a:r>
              <a:rPr lang="zh-CN" altLang="en-US" dirty="0">
                <a:cs typeface="+mn-ea"/>
                <a:sym typeface="+mn-lt"/>
              </a:rPr>
              <a:t>包含物体的置信度 </a:t>
            </a:r>
            <a:r>
              <a:rPr lang="en-US" altLang="zh-CN" dirty="0">
                <a:cs typeface="+mn-ea"/>
                <a:sym typeface="+mn-lt"/>
              </a:rPr>
              <a:t>+ Box</a:t>
            </a:r>
            <a:r>
              <a:rPr lang="zh-CN" altLang="en-US" dirty="0">
                <a:cs typeface="+mn-ea"/>
                <a:sym typeface="+mn-lt"/>
              </a:rPr>
              <a:t>位置预测的准确率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Conditional class probabilities: </a:t>
            </a:r>
            <a:r>
              <a:rPr lang="zh-CN" altLang="en-US" dirty="0">
                <a:cs typeface="+mn-ea"/>
                <a:sym typeface="+mn-lt"/>
              </a:rPr>
              <a:t>检测物体的基础上对应的类别概率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F7015-4591-40E0-9427-0C699E66B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71" y="1612543"/>
            <a:ext cx="3998857" cy="25184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3D2109-8059-4553-A407-637926AED40F}"/>
                  </a:ext>
                </a:extLst>
              </p:cNvPr>
              <p:cNvSpPr txBox="1"/>
              <p:nvPr/>
            </p:nvSpPr>
            <p:spPr>
              <a:xfrm>
                <a:off x="4674329" y="4913087"/>
                <a:ext cx="2843342" cy="4582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Object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IOU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pred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truth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rgbClr val="00B0F0"/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3D2109-8059-4553-A407-637926AED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329" y="4913087"/>
                <a:ext cx="2843342" cy="458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A8EE820-F76E-47C2-8EDE-766F22D23412}"/>
                  </a:ext>
                </a:extLst>
              </p:cNvPr>
              <p:cNvSpPr/>
              <p:nvPr/>
            </p:nvSpPr>
            <p:spPr>
              <a:xfrm>
                <a:off x="4838219" y="6031210"/>
                <a:ext cx="25155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Class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Object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A8EE820-F76E-47C2-8EDE-766F22D23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219" y="6031210"/>
                <a:ext cx="2515560" cy="461665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34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41C4-95A2-4C81-804E-AD3FBB59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YOLO</a:t>
            </a:r>
            <a:r>
              <a:rPr lang="zh-CN" altLang="en-US" b="1" dirty="0">
                <a:cs typeface="+mn-ea"/>
                <a:sym typeface="+mn-lt"/>
              </a:rPr>
              <a:t>的工作原理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C1B2-66FC-4FF3-B389-E6DAF4A8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06" y="4919132"/>
            <a:ext cx="11065935" cy="173562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cs typeface="+mn-ea"/>
                <a:sym typeface="+mn-lt"/>
              </a:rPr>
              <a:t>测试时将</a:t>
            </a:r>
            <a:r>
              <a:rPr lang="en-US" altLang="zh-CN" sz="2400" dirty="0">
                <a:cs typeface="+mn-ea"/>
                <a:sym typeface="+mn-lt"/>
              </a:rPr>
              <a:t>conditional class probabilities</a:t>
            </a:r>
            <a:r>
              <a:rPr lang="zh-CN" altLang="en-US" sz="2400" dirty="0">
                <a:cs typeface="+mn-ea"/>
                <a:sym typeface="+mn-lt"/>
              </a:rPr>
              <a:t>与</a:t>
            </a:r>
            <a:r>
              <a:rPr lang="en-US" altLang="zh-CN" sz="2400" dirty="0">
                <a:cs typeface="+mn-ea"/>
                <a:sym typeface="+mn-lt"/>
              </a:rPr>
              <a:t>box confidence</a:t>
            </a:r>
            <a:r>
              <a:rPr lang="zh-CN" altLang="en-US" sz="2400" dirty="0">
                <a:cs typeface="+mn-ea"/>
                <a:sym typeface="+mn-lt"/>
              </a:rPr>
              <a:t>进行相乘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cs typeface="+mn-ea"/>
                <a:sym typeface="+mn-lt"/>
              </a:rPr>
              <a:t>得到每一个</a:t>
            </a:r>
            <a:r>
              <a:rPr lang="en-US" altLang="zh-CN" sz="2400" dirty="0">
                <a:cs typeface="+mn-ea"/>
                <a:sym typeface="+mn-lt"/>
              </a:rPr>
              <a:t>box</a:t>
            </a:r>
            <a:r>
              <a:rPr lang="zh-CN" altLang="en-US" sz="2400" dirty="0">
                <a:cs typeface="+mn-ea"/>
                <a:sym typeface="+mn-lt"/>
              </a:rPr>
              <a:t>对应的类别概率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 err="1">
                <a:cs typeface="+mn-ea"/>
                <a:sym typeface="+mn-lt"/>
              </a:rPr>
              <a:t>Bbox</a:t>
            </a:r>
            <a:r>
              <a:rPr lang="zh-CN" altLang="en-US" sz="2400" dirty="0">
                <a:cs typeface="+mn-ea"/>
                <a:sym typeface="+mn-lt"/>
              </a:rPr>
              <a:t>预测位置的准确率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F7015-4591-40E0-9427-0C699E66B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731" y="1433355"/>
            <a:ext cx="4372538" cy="27538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6F0C54-9B84-4513-8C36-7F5A2566DD67}"/>
                  </a:ext>
                </a:extLst>
              </p:cNvPr>
              <p:cNvSpPr txBox="1"/>
              <p:nvPr/>
            </p:nvSpPr>
            <p:spPr>
              <a:xfrm>
                <a:off x="1862309" y="4324023"/>
                <a:ext cx="8467382" cy="4582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Class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Object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</m:t>
                      </m:r>
                      <m:func>
                        <m:funcPr>
                          <m:ctrlPr>
                            <a:rPr lang="en-US" altLang="zh-CN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Object</m:t>
                              </m:r>
                            </m:e>
                          </m:d>
                        </m:e>
                      </m:func>
                      <m:r>
                        <a:rPr lang="en-US" altLang="zh-CN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IOU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pred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truth</m:t>
                          </m:r>
                        </m:sup>
                      </m:sSubSup>
                      <m:r>
                        <a:rPr lang="en-US" altLang="zh-CN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</m:t>
                          </m:r>
                        </m:fName>
                        <m:e>
                          <m: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Class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</m:func>
                      <m:r>
                        <a:rPr lang="en-US" altLang="zh-CN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IOU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pred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truth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rgbClr val="00B0F0"/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6F0C54-9B84-4513-8C36-7F5A2566D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309" y="4324023"/>
                <a:ext cx="8467382" cy="458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30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83AF-AD30-483B-BAB0-F79215FF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>
                <a:latin typeface="+mn-lt"/>
                <a:ea typeface="+mn-ea"/>
                <a:cs typeface="+mn-ea"/>
                <a:sym typeface="+mn-lt"/>
              </a:rPr>
              <a:t>具体流程：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3776A-040C-4D32-B1D7-8A3DBF1B5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380" y="1812875"/>
            <a:ext cx="470124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EE4A-62EE-46BC-995B-C005B8EC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cs typeface="+mn-ea"/>
                <a:sym typeface="+mn-lt"/>
              </a:rPr>
              <a:t>具体流程：</a:t>
            </a:r>
            <a:r>
              <a:rPr lang="en-US" altLang="zh-CN" sz="3200" dirty="0">
                <a:latin typeface="+mn-lt"/>
                <a:ea typeface="+mn-ea"/>
                <a:cs typeface="+mn-ea"/>
                <a:sym typeface="+mn-lt"/>
              </a:rPr>
              <a:t>S*S grids</a:t>
            </a:r>
            <a:endParaRPr lang="zh-CN" altLang="en-US" sz="32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7834E-7BA6-455E-9637-08898E5E6E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55" t="10864" r="2447"/>
          <a:stretch/>
        </p:blipFill>
        <p:spPr>
          <a:xfrm>
            <a:off x="3183468" y="1690688"/>
            <a:ext cx="4705929" cy="468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74D3063-0477-4305-A105-43C78FAB4E05}"/>
              </a:ext>
            </a:extLst>
          </p:cNvPr>
          <p:cNvSpPr/>
          <p:nvPr/>
        </p:nvSpPr>
        <p:spPr>
          <a:xfrm>
            <a:off x="8442187" y="2772545"/>
            <a:ext cx="17924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cs typeface="+mn-ea"/>
                <a:sym typeface="+mn-lt"/>
              </a:rPr>
              <a:t>7*7 grids</a:t>
            </a:r>
            <a:endParaRPr lang="zh-CN" altLang="en-US" sz="32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1113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EE4A-62EE-46BC-995B-C005B8EC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cs typeface="+mn-ea"/>
                <a:sym typeface="+mn-lt"/>
              </a:rPr>
              <a:t>具体流程： </a:t>
            </a:r>
            <a:r>
              <a:rPr lang="zh-CN" altLang="en-US" sz="2400" dirty="0">
                <a:cs typeface="+mn-ea"/>
                <a:sym typeface="+mn-lt"/>
              </a:rPr>
              <a:t>每一个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cell 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预测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 boxes </a:t>
            </a:r>
            <a:r>
              <a:rPr lang="en-US" altLang="zh-CN" sz="2400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sz="2400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x,y,w,h</a:t>
            </a:r>
            <a:r>
              <a:rPr lang="en-US" altLang="zh-CN" sz="2400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和对应的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confidences </a:t>
            </a:r>
            <a:r>
              <a:rPr lang="en-US" altLang="zh-CN" sz="2400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P(Object)</a:t>
            </a:r>
            <a:endParaRPr lang="zh-CN" altLang="en-US" sz="3200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12A7BA-3DF7-4F2C-9D43-8EBF882BA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922" y="2055284"/>
            <a:ext cx="4211811" cy="4211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4998B-BCE7-4ECD-AFB7-AFC1AFADC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561" y="2913708"/>
            <a:ext cx="2562439" cy="14284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2A0C1B4-004B-448F-A0B3-89101F520DE2}"/>
              </a:ext>
            </a:extLst>
          </p:cNvPr>
          <p:cNvSpPr/>
          <p:nvPr/>
        </p:nvSpPr>
        <p:spPr>
          <a:xfrm>
            <a:off x="1338321" y="2347671"/>
            <a:ext cx="11031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  <a:cs typeface="+mn-ea"/>
                <a:sym typeface="+mn-lt"/>
              </a:rPr>
              <a:t>B = 2</a:t>
            </a:r>
            <a:endParaRPr lang="zh-CN" altLang="en-US" sz="3200" b="1" dirty="0">
              <a:solidFill>
                <a:srgbClr val="00B050"/>
              </a:solidFill>
              <a:cs typeface="+mn-ea"/>
              <a:sym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4B5EEF-5C43-4E3B-BEF3-C25680F9F889}"/>
              </a:ext>
            </a:extLst>
          </p:cNvPr>
          <p:cNvSpPr/>
          <p:nvPr/>
        </p:nvSpPr>
        <p:spPr>
          <a:xfrm>
            <a:off x="7605760" y="2055284"/>
            <a:ext cx="3299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cs typeface="+mn-ea"/>
                <a:sym typeface="+mn-lt"/>
              </a:rPr>
              <a:t>Each box predict: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43D5F4-CF54-4458-BF4D-D729E5CE5E61}"/>
              </a:ext>
            </a:extLst>
          </p:cNvPr>
          <p:cNvSpPr/>
          <p:nvPr/>
        </p:nvSpPr>
        <p:spPr>
          <a:xfrm>
            <a:off x="7774215" y="4625014"/>
            <a:ext cx="350448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cs typeface="+mn-ea"/>
                <a:sym typeface="+mn-lt"/>
              </a:rPr>
              <a:t>P(Object): </a:t>
            </a:r>
            <a:r>
              <a:rPr lang="en-US" altLang="zh-CN" sz="2400" dirty="0">
                <a:cs typeface="+mn-ea"/>
                <a:sym typeface="+mn-lt"/>
              </a:rPr>
              <a:t>probability that </a:t>
            </a:r>
          </a:p>
          <a:p>
            <a:r>
              <a:rPr lang="en-US" altLang="zh-CN" sz="2400" dirty="0">
                <a:cs typeface="+mn-ea"/>
                <a:sym typeface="+mn-lt"/>
              </a:rPr>
              <a:t>the box contains an object</a:t>
            </a:r>
            <a:endParaRPr lang="zh-CN" altLang="en-US" sz="2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587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73265D-066F-4F64-91DB-0EA7AF89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938" y="1816795"/>
            <a:ext cx="5048123" cy="48896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D47A9EF-B1EF-4576-852E-F6E5DDCD93BB}"/>
              </a:ext>
            </a:extLst>
          </p:cNvPr>
          <p:cNvSpPr txBox="1">
            <a:spLocks/>
          </p:cNvSpPr>
          <p:nvPr/>
        </p:nvSpPr>
        <p:spPr>
          <a:xfrm>
            <a:off x="838200" y="3618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zh-CN" altLang="en-US" sz="3200" b="1" dirty="0">
                <a:cs typeface="+mn-ea"/>
                <a:sym typeface="+mn-lt"/>
              </a:rPr>
              <a:t>具体流程： </a:t>
            </a:r>
            <a:r>
              <a:rPr lang="zh-CN" altLang="en-US" sz="2400" dirty="0">
                <a:cs typeface="+mn-ea"/>
                <a:sym typeface="+mn-lt"/>
              </a:rPr>
              <a:t>每一个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cell 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预测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 boxes </a:t>
            </a:r>
            <a:r>
              <a:rPr lang="en-US" altLang="zh-CN" sz="2400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sz="2400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x,y,w,h</a:t>
            </a:r>
            <a:r>
              <a:rPr lang="en-US" altLang="zh-CN" sz="2400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和对应的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confidences </a:t>
            </a:r>
            <a:r>
              <a:rPr lang="en-US" altLang="zh-CN" sz="2400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P(Object)</a:t>
            </a:r>
            <a:endParaRPr lang="zh-CN" altLang="en-US" sz="3200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3120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A0E0-61CD-4B92-87D1-E9B0431C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cs typeface="+mn-ea"/>
                <a:sym typeface="+mn-lt"/>
              </a:rPr>
              <a:t>具体流程：</a:t>
            </a:r>
            <a:r>
              <a:rPr lang="zh-CN" altLang="en-US" sz="3200" dirty="0">
                <a:cs typeface="+mn-ea"/>
                <a:sym typeface="+mn-lt"/>
              </a:rPr>
              <a:t>每一个</a:t>
            </a:r>
            <a:r>
              <a:rPr lang="en-US" altLang="zh-CN" sz="3200" dirty="0">
                <a:cs typeface="+mn-ea"/>
                <a:sym typeface="+mn-lt"/>
              </a:rPr>
              <a:t>cell </a:t>
            </a:r>
            <a:r>
              <a:rPr lang="zh-CN" altLang="en-US" sz="3200" dirty="0">
                <a:cs typeface="+mn-ea"/>
                <a:sym typeface="+mn-lt"/>
              </a:rPr>
              <a:t>预测</a:t>
            </a:r>
            <a:r>
              <a:rPr lang="en-US" altLang="zh-CN" sz="3200" dirty="0">
                <a:latin typeface="+mn-lt"/>
                <a:ea typeface="+mn-ea"/>
                <a:cs typeface="+mn-ea"/>
                <a:sym typeface="+mn-lt"/>
              </a:rPr>
              <a:t>class probability</a:t>
            </a:r>
            <a:endParaRPr lang="zh-CN" altLang="en-US" sz="32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FD89F-7283-4A4B-B6DC-AB70A7FAAB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58" r="443"/>
          <a:stretch/>
        </p:blipFill>
        <p:spPr>
          <a:xfrm>
            <a:off x="2124371" y="1975157"/>
            <a:ext cx="7943257" cy="423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44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CC9C7-9DDD-4B1A-B8B8-8B7770E1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>
                <a:cs typeface="+mn-ea"/>
                <a:sym typeface="+mn-lt"/>
              </a:rPr>
              <a:t>具体流程： </a:t>
            </a:r>
            <a:r>
              <a:rPr lang="zh-CN" altLang="en-US" sz="3600" dirty="0">
                <a:cs typeface="+mn-ea"/>
                <a:sym typeface="+mn-lt"/>
              </a:rPr>
              <a:t>融合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box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class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的预测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135E79-382C-4110-9AD4-E2653ED22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96" y="1756942"/>
            <a:ext cx="8607608" cy="477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41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FCAE5-F949-413F-B1A5-23D70491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>
                <a:cs typeface="+mn-ea"/>
                <a:sym typeface="+mn-lt"/>
              </a:rPr>
              <a:t>具体流程： 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Threshold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NMS</a:t>
            </a:r>
            <a:endParaRPr lang="zh-CN" altLang="en-US" sz="36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3F32FC-30B2-471E-820A-A549AF1B9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117" y="1690688"/>
            <a:ext cx="5191766" cy="49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13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EADF-8CB0-47B0-93DB-0D39B23F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YOLO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模型的训练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33F7A-AC6E-4E1A-9A92-7C70611C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4000" dirty="0">
                <a:cs typeface="+mn-ea"/>
                <a:sym typeface="+mn-lt"/>
              </a:rPr>
              <a:t>Network</a:t>
            </a:r>
            <a:r>
              <a:rPr lang="zh-CN" altLang="en-US" sz="4000" dirty="0">
                <a:cs typeface="+mn-ea"/>
                <a:sym typeface="+mn-lt"/>
              </a:rPr>
              <a:t>设计</a:t>
            </a:r>
            <a:r>
              <a:rPr lang="en-US" altLang="zh-CN" sz="4000" dirty="0">
                <a:cs typeface="+mn-ea"/>
                <a:sym typeface="+mn-lt"/>
              </a:rPr>
              <a:t> &amp; Pre-Training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4000" dirty="0">
                <a:cs typeface="+mn-ea"/>
                <a:sym typeface="+mn-lt"/>
              </a:rPr>
              <a:t>Label Assignment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4000" dirty="0">
                <a:cs typeface="+mn-ea"/>
                <a:sym typeface="+mn-lt"/>
              </a:rPr>
              <a:t>Loss Function</a:t>
            </a:r>
          </a:p>
        </p:txBody>
      </p:sp>
    </p:spTree>
    <p:extLst>
      <p:ext uri="{BB962C8B-B14F-4D97-AF65-F5344CB8AC3E}">
        <p14:creationId xmlns:p14="http://schemas.microsoft.com/office/powerpoint/2010/main" val="2553692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7C733-FEC2-48C2-859A-2650A661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1. Network Design: YOLO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EA6F0-7FA5-46FD-827D-5FF457FA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1900"/>
          </a:xfrm>
        </p:spPr>
        <p:txBody>
          <a:bodyPr/>
          <a:lstStyle/>
          <a:p>
            <a:r>
              <a:rPr lang="en-US" altLang="zh-CN" b="1" dirty="0" err="1">
                <a:solidFill>
                  <a:srgbClr val="00B0F0"/>
                </a:solidFill>
                <a:cs typeface="+mn-ea"/>
                <a:sym typeface="+mn-lt"/>
              </a:rPr>
              <a:t>GoogLeNet</a:t>
            </a: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的修改版本</a:t>
            </a:r>
            <a:endParaRPr lang="en-US" altLang="zh-CN" b="1" dirty="0">
              <a:solidFill>
                <a:srgbClr val="00B0F0"/>
              </a:solidFill>
              <a:cs typeface="+mn-ea"/>
              <a:sym typeface="+mn-lt"/>
            </a:endParaRPr>
          </a:p>
          <a:p>
            <a:r>
              <a:rPr lang="en-US" altLang="zh-CN" b="1" dirty="0">
                <a:solidFill>
                  <a:srgbClr val="FFC000"/>
                </a:solidFill>
                <a:cs typeface="+mn-ea"/>
                <a:sym typeface="+mn-lt"/>
              </a:rPr>
              <a:t>1*1 reduction layer</a:t>
            </a:r>
            <a:endParaRPr lang="zh-CN" altLang="en-US" b="1" dirty="0">
              <a:solidFill>
                <a:srgbClr val="FFC000"/>
              </a:solidFill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311B0-64C7-46C2-A5D3-F24E9F49E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867" y="775468"/>
            <a:ext cx="2852515" cy="15669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F2BCE38-8278-44ED-BE04-EB15ABC9F6C5}"/>
              </a:ext>
            </a:extLst>
          </p:cNvPr>
          <p:cNvGrpSpPr/>
          <p:nvPr/>
        </p:nvGrpSpPr>
        <p:grpSpPr>
          <a:xfrm>
            <a:off x="1666875" y="2859275"/>
            <a:ext cx="8858250" cy="3722501"/>
            <a:chOff x="1666875" y="2859275"/>
            <a:chExt cx="8858250" cy="37225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3C450FA-218A-4CED-A289-E14A9AEB77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581" t="9929" r="5009" b="2606"/>
            <a:stretch/>
          </p:blipFill>
          <p:spPr>
            <a:xfrm>
              <a:off x="1666875" y="2859275"/>
              <a:ext cx="8858250" cy="372250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89F14B-6393-417C-9E0E-9589DEA6E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46857" y="3053576"/>
              <a:ext cx="3877993" cy="967349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19525E7-AF9E-447C-9BF7-5802428EC3FB}"/>
              </a:ext>
            </a:extLst>
          </p:cNvPr>
          <p:cNvSpPr/>
          <p:nvPr/>
        </p:nvSpPr>
        <p:spPr>
          <a:xfrm>
            <a:off x="4447915" y="5438775"/>
            <a:ext cx="3211243" cy="114300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5402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42E7-0852-49EC-B4D8-B1F8920C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Pre-Training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59B9B-8563-4B6D-866F-630E4936E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b="1" dirty="0">
                <a:cs typeface="+mn-ea"/>
                <a:sym typeface="+mn-lt"/>
              </a:rPr>
              <a:t>ImageNet</a:t>
            </a:r>
            <a:r>
              <a:rPr lang="zh-CN" altLang="en-US" b="1" dirty="0">
                <a:cs typeface="+mn-ea"/>
                <a:sym typeface="+mn-lt"/>
              </a:rPr>
              <a:t>数据集进行预训练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在前</a:t>
            </a:r>
            <a:r>
              <a:rPr lang="en-US" altLang="zh-CN" dirty="0">
                <a:cs typeface="+mn-ea"/>
                <a:sym typeface="+mn-lt"/>
              </a:rPr>
              <a:t>20 convolutional layers</a:t>
            </a:r>
            <a:r>
              <a:rPr lang="zh-CN" altLang="en-US" dirty="0">
                <a:cs typeface="+mn-ea"/>
                <a:sym typeface="+mn-lt"/>
              </a:rPr>
              <a:t>的后面增加</a:t>
            </a:r>
            <a:r>
              <a:rPr lang="en-US" altLang="zh-CN" dirty="0">
                <a:cs typeface="+mn-ea"/>
                <a:sym typeface="+mn-lt"/>
              </a:rPr>
              <a:t>Average Pooling Layer</a:t>
            </a:r>
            <a:r>
              <a:rPr lang="zh-CN" altLang="en-US" dirty="0">
                <a:cs typeface="+mn-ea"/>
                <a:sym typeface="+mn-lt"/>
              </a:rPr>
              <a:t>与</a:t>
            </a:r>
            <a:r>
              <a:rPr lang="en-US" altLang="zh-CN" dirty="0">
                <a:cs typeface="+mn-ea"/>
                <a:sym typeface="+mn-lt"/>
              </a:rPr>
              <a:t>FC Layer 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cs typeface="+mn-ea"/>
                <a:sym typeface="+mn-lt"/>
              </a:rPr>
              <a:t>88% top-5 accuracy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5BA524-6CDC-4235-AECF-D8F1B5ECE66D}"/>
              </a:ext>
            </a:extLst>
          </p:cNvPr>
          <p:cNvGrpSpPr/>
          <p:nvPr/>
        </p:nvGrpSpPr>
        <p:grpSpPr>
          <a:xfrm>
            <a:off x="1898649" y="3246061"/>
            <a:ext cx="8394701" cy="3611939"/>
            <a:chOff x="1898649" y="3179103"/>
            <a:chExt cx="8394701" cy="361193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C801AA5-2C92-4598-B750-AA3701EBF6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440" t="10902" r="4610"/>
            <a:stretch/>
          </p:blipFill>
          <p:spPr>
            <a:xfrm>
              <a:off x="1898649" y="3179103"/>
              <a:ext cx="8394701" cy="3611939"/>
            </a:xfrm>
            <a:prstGeom prst="rect">
              <a:avLst/>
            </a:prstGeom>
          </p:spPr>
        </p:pic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762FA9BA-392D-46A1-A411-06534B60A3F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12723" y="5560752"/>
              <a:ext cx="1054628" cy="97366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E60F1B1-3775-49D2-BCD6-E409706844C7}"/>
              </a:ext>
            </a:extLst>
          </p:cNvPr>
          <p:cNvSpPr/>
          <p:nvPr/>
        </p:nvSpPr>
        <p:spPr>
          <a:xfrm>
            <a:off x="2641600" y="3429000"/>
            <a:ext cx="3649134" cy="914401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Feature Extractor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60938A6-7C26-4EFA-AE8C-3454F90EE9C4}"/>
              </a:ext>
            </a:extLst>
          </p:cNvPr>
          <p:cNvSpPr/>
          <p:nvPr/>
        </p:nvSpPr>
        <p:spPr>
          <a:xfrm>
            <a:off x="6697133" y="3459910"/>
            <a:ext cx="3420535" cy="914401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Object Classifier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2066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42E7-0852-49EC-B4D8-B1F8920C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Pre-Training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59B9B-8563-4B6D-866F-630E4936E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10000"/>
              </a:lnSpc>
              <a:buFont typeface="+mj-lt"/>
              <a:buAutoNum type="arabicPeriod" startAt="2"/>
            </a:pPr>
            <a:r>
              <a:rPr lang="en-US" altLang="zh-CN" b="1" dirty="0">
                <a:cs typeface="+mn-ea"/>
                <a:sym typeface="+mn-lt"/>
              </a:rPr>
              <a:t>Detection Network</a:t>
            </a:r>
            <a:r>
              <a:rPr lang="zh-CN" altLang="en-US" b="1" dirty="0">
                <a:cs typeface="+mn-ea"/>
                <a:sym typeface="+mn-lt"/>
              </a:rPr>
              <a:t>再训练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增加输入图像的分辨率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(224*224 </a:t>
            </a:r>
            <a:r>
              <a:rPr lang="zh-CN" altLang="en-US" dirty="0">
                <a:solidFill>
                  <a:schemeClr val="accent1"/>
                </a:solidFill>
                <a:cs typeface="+mn-ea"/>
                <a:sym typeface="+mn-lt"/>
              </a:rPr>
              <a:t>到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 448*448)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8CFE2E-6D09-440F-9970-886C4B20E6A7}"/>
              </a:ext>
            </a:extLst>
          </p:cNvPr>
          <p:cNvGrpSpPr/>
          <p:nvPr/>
        </p:nvGrpSpPr>
        <p:grpSpPr>
          <a:xfrm>
            <a:off x="1898649" y="3144460"/>
            <a:ext cx="8394701" cy="3611939"/>
            <a:chOff x="1898649" y="3246061"/>
            <a:chExt cx="8394701" cy="361193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D5BA524-6CDC-4235-AECF-D8F1B5ECE66D}"/>
                </a:ext>
              </a:extLst>
            </p:cNvPr>
            <p:cNvGrpSpPr/>
            <p:nvPr/>
          </p:nvGrpSpPr>
          <p:grpSpPr>
            <a:xfrm>
              <a:off x="1898649" y="3246061"/>
              <a:ext cx="8394701" cy="3611939"/>
              <a:chOff x="1898649" y="3179103"/>
              <a:chExt cx="8394701" cy="361193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C801AA5-2C92-4598-B750-AA3701EBF64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440" t="10902" r="4610"/>
              <a:stretch/>
            </p:blipFill>
            <p:spPr>
              <a:xfrm>
                <a:off x="1898649" y="3179103"/>
                <a:ext cx="8394701" cy="3611939"/>
              </a:xfrm>
              <a:prstGeom prst="rect">
                <a:avLst/>
              </a:prstGeom>
            </p:spPr>
          </p:pic>
          <p:cxnSp>
            <p:nvCxnSpPr>
              <p:cNvPr id="11" name="Connector: Elbow 10">
                <a:extLst>
                  <a:ext uri="{FF2B5EF4-FFF2-40B4-BE49-F238E27FC236}">
                    <a16:creationId xmlns:a16="http://schemas.microsoft.com/office/drawing/2014/main" id="{762FA9BA-392D-46A1-A411-06534B60A3F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512723" y="5560752"/>
                <a:ext cx="1054628" cy="97366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EE60F1B1-3775-49D2-BCD6-E409706844C7}"/>
                </a:ext>
              </a:extLst>
            </p:cNvPr>
            <p:cNvSpPr/>
            <p:nvPr/>
          </p:nvSpPr>
          <p:spPr>
            <a:xfrm>
              <a:off x="2641600" y="3429000"/>
              <a:ext cx="3649134" cy="914401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Feature Extractor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F60938A6-7C26-4EFA-AE8C-3454F90EE9C4}"/>
                </a:ext>
              </a:extLst>
            </p:cNvPr>
            <p:cNvSpPr/>
            <p:nvPr/>
          </p:nvSpPr>
          <p:spPr>
            <a:xfrm>
              <a:off x="6697133" y="3459910"/>
              <a:ext cx="3420535" cy="914401"/>
            </a:xfrm>
            <a:prstGeom prst="right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Object Classifier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4993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6918-7261-4DE4-84B1-4A2E9177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模型输出到物体检测结果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4DA8A-59AF-4B7C-A1E4-3635B1109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941" y="1905919"/>
            <a:ext cx="4969933" cy="4351338"/>
          </a:xfrm>
        </p:spPr>
        <p:txBody>
          <a:bodyPr/>
          <a:lstStyle/>
          <a:p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x: </a:t>
            </a:r>
            <a:r>
              <a:rPr lang="en-US" altLang="zh-CN" dirty="0">
                <a:cs typeface="+mn-ea"/>
                <a:sym typeface="+mn-lt"/>
              </a:rPr>
              <a:t>offset of a grid cell size</a:t>
            </a:r>
          </a:p>
          <a:p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y: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offset of a grid cell size</a:t>
            </a:r>
          </a:p>
          <a:p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w: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normalized by image width</a:t>
            </a:r>
          </a:p>
          <a:p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h:</a:t>
            </a:r>
            <a:r>
              <a:rPr lang="zh-CN" altLang="en-US" dirty="0">
                <a:solidFill>
                  <a:srgbClr val="00B0F0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normalized by image height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E02A23-6F76-4067-A16C-D1126E2ACDE7}"/>
              </a:ext>
            </a:extLst>
          </p:cNvPr>
          <p:cNvGrpSpPr/>
          <p:nvPr/>
        </p:nvGrpSpPr>
        <p:grpSpPr>
          <a:xfrm>
            <a:off x="329066" y="1777172"/>
            <a:ext cx="5473010" cy="3079340"/>
            <a:chOff x="276381" y="1889330"/>
            <a:chExt cx="5473010" cy="30793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95C820-1BB7-4D2F-B211-C9DE473AE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6534" y="2018077"/>
              <a:ext cx="1742857" cy="247619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A8DB3D-BBF7-4351-9570-E9B827DA9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381" y="1889330"/>
              <a:ext cx="3331583" cy="307934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CD2364E-4184-42B4-BD7D-4B27C80C1A09}"/>
              </a:ext>
            </a:extLst>
          </p:cNvPr>
          <p:cNvGrpSpPr/>
          <p:nvPr/>
        </p:nvGrpSpPr>
        <p:grpSpPr>
          <a:xfrm>
            <a:off x="276381" y="5167312"/>
            <a:ext cx="5641126" cy="1333603"/>
            <a:chOff x="-22428" y="5144188"/>
            <a:chExt cx="5641126" cy="13336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81A012-0BDB-46C2-ADD5-8999AB782E10}"/>
                </a:ext>
              </a:extLst>
            </p:cNvPr>
            <p:cNvSpPr/>
            <p:nvPr/>
          </p:nvSpPr>
          <p:spPr>
            <a:xfrm>
              <a:off x="492316" y="5170930"/>
              <a:ext cx="4320000" cy="25025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69FF9B0-1B42-4EA9-A7F1-0086C68F6249}"/>
                    </a:ext>
                  </a:extLst>
                </p:cNvPr>
                <p:cNvSpPr txBox="1"/>
                <p:nvPr/>
              </p:nvSpPr>
              <p:spPr>
                <a:xfrm>
                  <a:off x="4961467" y="5144188"/>
                  <a:ext cx="6572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1∗30</m:t>
                        </m:r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69FF9B0-1B42-4EA9-A7F1-0086C68F62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1467" y="5144188"/>
                  <a:ext cx="65723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8333" r="-7407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C791C143-A94F-456C-AA77-6605BFFB388C}"/>
                </a:ext>
              </a:extLst>
            </p:cNvPr>
            <p:cNvSpPr/>
            <p:nvPr/>
          </p:nvSpPr>
          <p:spPr>
            <a:xfrm rot="16200000">
              <a:off x="727189" y="5211045"/>
              <a:ext cx="250257" cy="720000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5238F341-AB1C-4A5A-8540-70F27322152D}"/>
                </a:ext>
              </a:extLst>
            </p:cNvPr>
            <p:cNvSpPr/>
            <p:nvPr/>
          </p:nvSpPr>
          <p:spPr>
            <a:xfrm rot="16200000">
              <a:off x="1457044" y="5211045"/>
              <a:ext cx="250257" cy="720000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80F9CBC5-AB28-4129-9D49-55DB611546C9}"/>
                </a:ext>
              </a:extLst>
            </p:cNvPr>
            <p:cNvSpPr/>
            <p:nvPr/>
          </p:nvSpPr>
          <p:spPr>
            <a:xfrm rot="16200000">
              <a:off x="3259391" y="4143247"/>
              <a:ext cx="250257" cy="2855596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0B71C6E-4991-475B-A56C-B4E70A918A03}"/>
                    </a:ext>
                  </a:extLst>
                </p:cNvPr>
                <p:cNvSpPr txBox="1"/>
                <p:nvPr/>
              </p:nvSpPr>
              <p:spPr>
                <a:xfrm>
                  <a:off x="1489198" y="5820851"/>
                  <a:ext cx="1859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5</m:t>
                        </m:r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0B71C6E-4991-475B-A56C-B4E70A918A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9198" y="5820851"/>
                  <a:ext cx="18594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9032" r="-29032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CB9DD68-071C-4254-A948-E78F23442A0A}"/>
                    </a:ext>
                  </a:extLst>
                </p:cNvPr>
                <p:cNvSpPr txBox="1"/>
                <p:nvPr/>
              </p:nvSpPr>
              <p:spPr>
                <a:xfrm>
                  <a:off x="745226" y="5823252"/>
                  <a:ext cx="18594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5</m:t>
                        </m:r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CB9DD68-071C-4254-A948-E78F23442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226" y="5823252"/>
                  <a:ext cx="18594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9032" r="-29032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C9D64AB-4E99-4672-A9B7-40D60E9C95ED}"/>
                    </a:ext>
                  </a:extLst>
                </p:cNvPr>
                <p:cNvSpPr txBox="1"/>
                <p:nvPr/>
              </p:nvSpPr>
              <p:spPr>
                <a:xfrm>
                  <a:off x="3227424" y="5820850"/>
                  <a:ext cx="3141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20</m:t>
                        </m:r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C9D64AB-4E99-4672-A9B7-40D60E9C9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424" y="5820850"/>
                  <a:ext cx="31418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5385" r="-17308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AB2D776-7BA0-478D-AEB3-079EBDD8CF4C}"/>
                    </a:ext>
                  </a:extLst>
                </p:cNvPr>
                <p:cNvSpPr txBox="1"/>
                <p:nvPr/>
              </p:nvSpPr>
              <p:spPr>
                <a:xfrm>
                  <a:off x="-22428" y="6135317"/>
                  <a:ext cx="13112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𝒘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𝒉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𝒄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oMath>
                    </m:oMathPara>
                  </a14:m>
                  <a:endParaRPr lang="zh-CN" altLang="en-US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AB2D776-7BA0-478D-AEB3-079EBDD8C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428" y="6135317"/>
                  <a:ext cx="131125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5581" r="-6047" b="-347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97FB034-08CB-4E3B-8694-E047E95CE232}"/>
                    </a:ext>
                  </a:extLst>
                </p:cNvPr>
                <p:cNvSpPr txBox="1"/>
                <p:nvPr/>
              </p:nvSpPr>
              <p:spPr>
                <a:xfrm>
                  <a:off x="1295708" y="6140767"/>
                  <a:ext cx="13112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𝒘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𝒉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𝒄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oMath>
                    </m:oMathPara>
                  </a14:m>
                  <a:endParaRPr lang="zh-CN" altLang="en-US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97FB034-08CB-4E3B-8694-E047E95CE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708" y="6140767"/>
                  <a:ext cx="1311256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5581" r="-6047" b="-347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F15400-51A9-4E1D-AF0B-AE58F1A64CDD}"/>
                </a:ext>
              </a:extLst>
            </p:cNvPr>
            <p:cNvSpPr txBox="1"/>
            <p:nvPr/>
          </p:nvSpPr>
          <p:spPr>
            <a:xfrm>
              <a:off x="2766762" y="6108459"/>
              <a:ext cx="2452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7030A0"/>
                  </a:solidFill>
                  <a:cs typeface="+mn-ea"/>
                  <a:sym typeface="+mn-lt"/>
                </a:rPr>
                <a:t>Pascal VOC: 20 classes</a:t>
              </a:r>
              <a:endParaRPr lang="zh-CN" altLang="en-US" b="1" dirty="0">
                <a:solidFill>
                  <a:srgbClr val="7030A0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3242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B383-9C38-4591-A68B-8884980F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Label Assignment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FE473-DC12-4108-8437-A4F7E6EC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数据标注到对应的</a:t>
            </a:r>
            <a:r>
              <a:rPr lang="en-US" altLang="zh-CN" dirty="0">
                <a:cs typeface="+mn-ea"/>
                <a:sym typeface="+mn-lt"/>
              </a:rPr>
              <a:t>Grid Cell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4C8339-C8DB-491E-8955-16ECB65FF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134" y="2562747"/>
            <a:ext cx="3986362" cy="3930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CCDBA-8DE7-413C-8941-FE7EF4D20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428" y="2562747"/>
            <a:ext cx="4069438" cy="393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23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9102-A680-42CC-A2FD-318845A14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Label Assignment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1B21-1953-4F46-BF13-FA2500A22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092"/>
            <a:ext cx="10515600" cy="4351338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设置对应</a:t>
            </a:r>
            <a:r>
              <a:rPr lang="en-US" altLang="zh-CN" dirty="0">
                <a:cs typeface="+mn-ea"/>
                <a:sym typeface="+mn-lt"/>
              </a:rPr>
              <a:t>grid cell</a:t>
            </a:r>
            <a:r>
              <a:rPr lang="zh-CN" altLang="en-US" dirty="0">
                <a:cs typeface="+mn-ea"/>
                <a:sym typeface="+mn-lt"/>
              </a:rPr>
              <a:t>的类别预测概率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0B63D-30E3-472D-A9E2-8109BF070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084" y="2505797"/>
            <a:ext cx="5144115" cy="405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22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0D0C-86D9-4880-856B-B806ED00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Label Assignment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535C5-F96A-4CF4-AB4F-348E927A2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在</a:t>
            </a:r>
            <a:r>
              <a:rPr lang="en-US" altLang="zh-CN" dirty="0">
                <a:cs typeface="+mn-ea"/>
                <a:sym typeface="+mn-lt"/>
              </a:rPr>
              <a:t>cell</a:t>
            </a:r>
            <a:r>
              <a:rPr lang="zh-CN" altLang="en-US" dirty="0">
                <a:cs typeface="+mn-ea"/>
                <a:sym typeface="+mn-lt"/>
              </a:rPr>
              <a:t>中找到最好的</a:t>
            </a:r>
            <a:r>
              <a:rPr lang="en-US" altLang="zh-CN" dirty="0">
                <a:cs typeface="+mn-ea"/>
                <a:sym typeface="+mn-lt"/>
              </a:rPr>
              <a:t>Box</a:t>
            </a:r>
            <a:r>
              <a:rPr lang="zh-CN" altLang="en-US" dirty="0">
                <a:cs typeface="+mn-ea"/>
                <a:sym typeface="+mn-lt"/>
              </a:rPr>
              <a:t>预测</a:t>
            </a:r>
            <a:r>
              <a:rPr lang="en-US" altLang="zh-CN" dirty="0">
                <a:cs typeface="+mn-ea"/>
                <a:sym typeface="+mn-lt"/>
              </a:rPr>
              <a:t>, </a:t>
            </a:r>
            <a:r>
              <a:rPr lang="zh-CN" altLang="en-US" dirty="0">
                <a:cs typeface="+mn-ea"/>
                <a:sym typeface="+mn-lt"/>
              </a:rPr>
              <a:t>增加其</a:t>
            </a:r>
            <a:r>
              <a:rPr lang="en-US" altLang="zh-CN" dirty="0">
                <a:cs typeface="+mn-ea"/>
                <a:sym typeface="+mn-lt"/>
              </a:rPr>
              <a:t>confidence</a:t>
            </a:r>
            <a:r>
              <a:rPr lang="zh-CN" altLang="en-US" dirty="0">
                <a:cs typeface="+mn-ea"/>
                <a:sym typeface="+mn-lt"/>
              </a:rPr>
              <a:t>、降低另外</a:t>
            </a:r>
            <a:r>
              <a:rPr lang="en-US" altLang="zh-CN" dirty="0">
                <a:cs typeface="+mn-ea"/>
                <a:sym typeface="+mn-lt"/>
              </a:rPr>
              <a:t>Box</a:t>
            </a:r>
            <a:r>
              <a:rPr lang="zh-CN" altLang="en-US" dirty="0">
                <a:cs typeface="+mn-ea"/>
                <a:sym typeface="+mn-lt"/>
              </a:rPr>
              <a:t>的</a:t>
            </a:r>
            <a:r>
              <a:rPr lang="en-US" altLang="zh-CN" dirty="0">
                <a:cs typeface="+mn-ea"/>
                <a:sym typeface="+mn-lt"/>
              </a:rPr>
              <a:t> confidence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0CE6D-770E-4087-B215-3721BF5A4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21597"/>
            <a:ext cx="3404486" cy="3280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ECC00E-A8C5-4667-A7C9-6D8B98D70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533" y="3059550"/>
            <a:ext cx="3404486" cy="34044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F978BB-2617-441F-9EFF-3BCA9F3BB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866" y="3025443"/>
            <a:ext cx="3438660" cy="337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15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F9A1-4F0F-40CE-A7F6-69375A81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Label Assignment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E1208-B4DB-4196-B843-5171D2AF9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>
                <a:cs typeface="+mn-ea"/>
                <a:sym typeface="+mn-lt"/>
              </a:rPr>
              <a:t>Cell</a:t>
            </a:r>
            <a:r>
              <a:rPr lang="zh-CN" altLang="en-US" dirty="0">
                <a:cs typeface="+mn-ea"/>
                <a:sym typeface="+mn-lt"/>
              </a:rPr>
              <a:t>没有标注物体时，降低其</a:t>
            </a:r>
            <a:r>
              <a:rPr lang="en-US" altLang="zh-CN" dirty="0">
                <a:cs typeface="+mn-ea"/>
                <a:sym typeface="+mn-lt"/>
              </a:rPr>
              <a:t>confidence, </a:t>
            </a:r>
            <a:r>
              <a:rPr lang="zh-CN" altLang="en-US" dirty="0">
                <a:cs typeface="+mn-ea"/>
                <a:sym typeface="+mn-lt"/>
              </a:rPr>
              <a:t>不调整</a:t>
            </a:r>
            <a:r>
              <a:rPr lang="en-US" altLang="zh-CN" dirty="0">
                <a:cs typeface="+mn-ea"/>
                <a:sym typeface="+mn-lt"/>
              </a:rPr>
              <a:t>class probabilities </a:t>
            </a:r>
            <a:r>
              <a:rPr lang="zh-CN" altLang="en-US" dirty="0">
                <a:cs typeface="+mn-ea"/>
                <a:sym typeface="+mn-lt"/>
              </a:rPr>
              <a:t>与坐标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8B761-CDB9-46DD-B54B-FF9FF0C48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90" y="3011303"/>
            <a:ext cx="3113426" cy="3044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8E5161-91A9-4E9E-970D-34C8ADB12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626" y="2976825"/>
            <a:ext cx="3154314" cy="31134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EA2CEE-10C3-4149-BF89-3D6CE8EE4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750" y="2988118"/>
            <a:ext cx="4694163" cy="30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13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5482-42A9-4C3B-AF1A-CD567665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3. Loss Function (sum-squared error)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5F7E6-9E04-4C01-A447-94C9C5C48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1969" y="1722787"/>
            <a:ext cx="407831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FFC000"/>
                </a:solidFill>
                <a:cs typeface="+mn-ea"/>
                <a:sym typeface="+mn-lt"/>
              </a:rPr>
              <a:t>cell </a:t>
            </a:r>
            <a:r>
              <a:rPr lang="en-US" altLang="zh-CN" i="1" dirty="0" err="1">
                <a:solidFill>
                  <a:srgbClr val="FFC000"/>
                </a:solidFill>
                <a:cs typeface="+mn-ea"/>
                <a:sym typeface="+mn-lt"/>
              </a:rPr>
              <a:t>i</a:t>
            </a:r>
            <a:r>
              <a:rPr lang="zh-CN" altLang="en-US" dirty="0">
                <a:cs typeface="+mn-ea"/>
                <a:sym typeface="+mn-lt"/>
              </a:rPr>
              <a:t>中是否有物体</a:t>
            </a:r>
            <a:endParaRPr lang="en-US" altLang="zh-CN" i="1" dirty="0">
              <a:solidFill>
                <a:srgbClr val="FFC000"/>
              </a:solidFill>
              <a:cs typeface="+mn-ea"/>
              <a:sym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CN" dirty="0">
              <a:solidFill>
                <a:srgbClr val="FF0000"/>
              </a:solidFill>
              <a:cs typeface="+mn-ea"/>
              <a:sym typeface="+mn-l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FFC000"/>
                </a:solidFill>
                <a:cs typeface="+mn-ea"/>
                <a:sym typeface="+mn-lt"/>
              </a:rPr>
              <a:t>cell </a:t>
            </a:r>
            <a:r>
              <a:rPr lang="en-US" altLang="zh-CN" i="1" dirty="0" err="1">
                <a:solidFill>
                  <a:srgbClr val="FFC000"/>
                </a:solidFill>
                <a:cs typeface="+mn-ea"/>
                <a:sym typeface="+mn-lt"/>
              </a:rPr>
              <a:t>i</a:t>
            </a:r>
            <a:r>
              <a:rPr lang="en-US" altLang="zh-CN" dirty="0">
                <a:solidFill>
                  <a:srgbClr val="FFC000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中的第</a:t>
            </a:r>
            <a:r>
              <a:rPr lang="en-US" altLang="zh-CN" i="1" dirty="0">
                <a:solidFill>
                  <a:srgbClr val="00B0F0"/>
                </a:solidFill>
                <a:cs typeface="+mn-ea"/>
                <a:sym typeface="+mn-lt"/>
              </a:rPr>
              <a:t>j</a:t>
            </a:r>
            <a:r>
              <a:rPr lang="zh-CN" altLang="en-US" dirty="0">
                <a:cs typeface="+mn-ea"/>
                <a:sym typeface="+mn-lt"/>
              </a:rPr>
              <a:t>个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cs typeface="+mn-ea"/>
                <a:sym typeface="+mn-lt"/>
              </a:rPr>
              <a:t>bbox</a:t>
            </a:r>
            <a:r>
              <a:rPr lang="zh-CN" altLang="en-US" dirty="0">
                <a:cs typeface="+mn-ea"/>
                <a:sym typeface="+mn-lt"/>
              </a:rPr>
              <a:t>用于预测物体</a:t>
            </a:r>
            <a:endParaRPr lang="en-US" altLang="zh-CN" dirty="0">
              <a:cs typeface="+mn-ea"/>
              <a:sym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CN" dirty="0">
              <a:cs typeface="+mn-ea"/>
              <a:sym typeface="+mn-l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FFC000"/>
                </a:solidFill>
                <a:cs typeface="+mn-ea"/>
                <a:sym typeface="+mn-lt"/>
              </a:rPr>
              <a:t>cell </a:t>
            </a:r>
            <a:r>
              <a:rPr lang="en-US" altLang="zh-CN" i="1" dirty="0" err="1">
                <a:solidFill>
                  <a:srgbClr val="FFC000"/>
                </a:solidFill>
                <a:cs typeface="+mn-ea"/>
                <a:sym typeface="+mn-lt"/>
              </a:rPr>
              <a:t>i</a:t>
            </a:r>
            <a:r>
              <a:rPr lang="en-US" altLang="zh-CN" dirty="0">
                <a:solidFill>
                  <a:srgbClr val="FFC000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中的第</a:t>
            </a:r>
            <a:r>
              <a:rPr lang="en-US" altLang="zh-CN" i="1" dirty="0">
                <a:solidFill>
                  <a:srgbClr val="00B0F0"/>
                </a:solidFill>
                <a:cs typeface="+mn-ea"/>
                <a:sym typeface="+mn-lt"/>
              </a:rPr>
              <a:t>j</a:t>
            </a:r>
            <a:r>
              <a:rPr lang="zh-CN" altLang="en-US" dirty="0">
                <a:cs typeface="+mn-ea"/>
                <a:sym typeface="+mn-lt"/>
              </a:rPr>
              <a:t>个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cs typeface="+mn-ea"/>
                <a:sym typeface="+mn-lt"/>
              </a:rPr>
              <a:t>bbox</a:t>
            </a:r>
            <a:r>
              <a:rPr lang="zh-CN" altLang="en-US" dirty="0">
                <a:cs typeface="+mn-ea"/>
                <a:sym typeface="+mn-lt"/>
              </a:rPr>
              <a:t>没有对应的物体标注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A8077-00FB-4D0F-AD84-FA6122A34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94" y="1825625"/>
            <a:ext cx="6759606" cy="4470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D29BB-C3FD-497F-8569-B4F9D26C4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552" y="1880786"/>
            <a:ext cx="624914" cy="6484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01330B-3229-4093-A50B-FC4BC125D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285" y="4737050"/>
            <a:ext cx="743448" cy="6013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A076BC-8165-4F8E-9B76-445A8A23C0BF}"/>
              </a:ext>
            </a:extLst>
          </p:cNvPr>
          <p:cNvSpPr/>
          <p:nvPr/>
        </p:nvSpPr>
        <p:spPr>
          <a:xfrm>
            <a:off x="7127316" y="1880786"/>
            <a:ext cx="743448" cy="54068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B0508-52EC-498E-84E2-07AE36F28A7F}"/>
              </a:ext>
            </a:extLst>
          </p:cNvPr>
          <p:cNvGrpSpPr/>
          <p:nvPr/>
        </p:nvGrpSpPr>
        <p:grpSpPr>
          <a:xfrm>
            <a:off x="7150410" y="2915550"/>
            <a:ext cx="743448" cy="717615"/>
            <a:chOff x="7139018" y="3180841"/>
            <a:chExt cx="743448" cy="71761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8DC0E07-1425-4612-BD0E-0F1382A127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210"/>
            <a:stretch/>
          </p:blipFill>
          <p:spPr>
            <a:xfrm>
              <a:off x="7198285" y="3180841"/>
              <a:ext cx="624914" cy="71761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4AB453-7AA4-4154-B281-D43DCC5F7393}"/>
                </a:ext>
              </a:extLst>
            </p:cNvPr>
            <p:cNvSpPr/>
            <p:nvPr/>
          </p:nvSpPr>
          <p:spPr>
            <a:xfrm>
              <a:off x="7139018" y="3308918"/>
              <a:ext cx="743448" cy="540681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2EF76-EFE8-4138-BF75-C5535960F54B}"/>
              </a:ext>
            </a:extLst>
          </p:cNvPr>
          <p:cNvSpPr/>
          <p:nvPr/>
        </p:nvSpPr>
        <p:spPr>
          <a:xfrm>
            <a:off x="7198285" y="4767368"/>
            <a:ext cx="743448" cy="5406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096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5482-42A9-4C3B-AF1A-CD567665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Loss Function (no-object)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5F7E6-9E04-4C01-A447-94C9C5C48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025" y="1825625"/>
            <a:ext cx="5067300" cy="43513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rgbClr val="FFC000"/>
                </a:solidFill>
                <a:cs typeface="+mn-ea"/>
                <a:sym typeface="+mn-lt"/>
              </a:rPr>
              <a:t>cell </a:t>
            </a:r>
            <a:r>
              <a:rPr lang="en-US" altLang="zh-CN" i="1" dirty="0" err="1">
                <a:solidFill>
                  <a:srgbClr val="FFC000"/>
                </a:solidFill>
                <a:cs typeface="+mn-ea"/>
                <a:sym typeface="+mn-lt"/>
              </a:rPr>
              <a:t>i</a:t>
            </a:r>
            <a:r>
              <a:rPr lang="en-US" altLang="zh-CN" dirty="0">
                <a:solidFill>
                  <a:srgbClr val="FFC000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中的第</a:t>
            </a:r>
            <a:r>
              <a:rPr lang="en-US" altLang="zh-CN" i="1" dirty="0">
                <a:solidFill>
                  <a:srgbClr val="00B0F0"/>
                </a:solidFill>
                <a:cs typeface="+mn-ea"/>
                <a:sym typeface="+mn-lt"/>
              </a:rPr>
              <a:t>j</a:t>
            </a:r>
            <a:r>
              <a:rPr lang="zh-CN" altLang="en-US" dirty="0">
                <a:cs typeface="+mn-ea"/>
                <a:sym typeface="+mn-lt"/>
              </a:rPr>
              <a:t>个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cs typeface="+mn-ea"/>
                <a:sym typeface="+mn-lt"/>
              </a:rPr>
              <a:t>bbox</a:t>
            </a:r>
            <a:r>
              <a:rPr lang="zh-CN" altLang="en-US" dirty="0">
                <a:cs typeface="+mn-ea"/>
                <a:sym typeface="+mn-lt"/>
              </a:rPr>
              <a:t>没有对应的物体标注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降低对应的</a:t>
            </a:r>
            <a:r>
              <a:rPr lang="en-US" altLang="zh-CN" dirty="0">
                <a:cs typeface="+mn-ea"/>
                <a:sym typeface="+mn-lt"/>
              </a:rPr>
              <a:t>Confidence.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A8077-00FB-4D0F-AD84-FA6122A34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94" y="1825625"/>
            <a:ext cx="6759606" cy="4470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96635C-957D-46A6-9C6D-E93EC5F2E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369" y="3612172"/>
            <a:ext cx="2471566" cy="7782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190D1A0-3618-48BF-AEB3-4746215421E8}"/>
              </a:ext>
            </a:extLst>
          </p:cNvPr>
          <p:cNvSpPr/>
          <p:nvPr/>
        </p:nvSpPr>
        <p:spPr>
          <a:xfrm>
            <a:off x="1991287" y="4521834"/>
            <a:ext cx="3859182" cy="8375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8739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5E3F-D371-419E-84CA-FEBF0302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Loss Function (class probabilities)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46436-47FB-4788-93A8-3C9E4DA8D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94" y="1825625"/>
            <a:ext cx="6759606" cy="447092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6BF03E-2A51-417F-A74C-1FAD4FEF3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025" y="1825625"/>
            <a:ext cx="4921281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优化</a:t>
            </a:r>
            <a:r>
              <a:rPr lang="en-US" altLang="zh-CN" dirty="0">
                <a:solidFill>
                  <a:srgbClr val="FFC000"/>
                </a:solidFill>
                <a:cs typeface="+mn-ea"/>
                <a:sym typeface="+mn-lt"/>
              </a:rPr>
              <a:t>cell </a:t>
            </a:r>
            <a:r>
              <a:rPr lang="en-US" altLang="zh-CN" i="1" dirty="0" err="1">
                <a:solidFill>
                  <a:srgbClr val="FFC000"/>
                </a:solidFill>
                <a:cs typeface="+mn-ea"/>
                <a:sym typeface="+mn-lt"/>
              </a:rPr>
              <a:t>i</a:t>
            </a:r>
            <a:r>
              <a:rPr lang="en-US" altLang="zh-CN" dirty="0">
                <a:solidFill>
                  <a:srgbClr val="FFC000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rgbClr val="FFC000"/>
                </a:solidFill>
                <a:cs typeface="+mn-ea"/>
                <a:sym typeface="+mn-lt"/>
              </a:rPr>
              <a:t>对应的物体类别概率</a:t>
            </a:r>
            <a:endParaRPr lang="en-US" altLang="zh-CN" dirty="0">
              <a:solidFill>
                <a:srgbClr val="FFC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不考虑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sz="3200" dirty="0">
                <a:solidFill>
                  <a:srgbClr val="00B0F0"/>
                </a:solidFill>
                <a:cs typeface="+mn-ea"/>
                <a:sym typeface="+mn-lt"/>
              </a:rPr>
              <a:t>boxes B</a:t>
            </a:r>
            <a:r>
              <a:rPr lang="zh-CN" altLang="en-US" sz="3200" dirty="0">
                <a:cs typeface="+mn-ea"/>
                <a:sym typeface="+mn-lt"/>
              </a:rPr>
              <a:t>的数目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CE95B-D9FF-4294-B119-022819FAEC55}"/>
              </a:ext>
            </a:extLst>
          </p:cNvPr>
          <p:cNvSpPr/>
          <p:nvPr/>
        </p:nvSpPr>
        <p:spPr>
          <a:xfrm>
            <a:off x="3342716" y="5419852"/>
            <a:ext cx="3566084" cy="87669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8923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5E3F-D371-419E-84CA-FEBF0302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Loss Function (object)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46436-47FB-4788-93A8-3C9E4DA8D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94" y="1825625"/>
            <a:ext cx="6759606" cy="447092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6BF03E-2A51-417F-A74C-1FAD4FEF3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025" y="1825625"/>
            <a:ext cx="4921281" cy="43513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3200" dirty="0">
                <a:solidFill>
                  <a:srgbClr val="FFC000"/>
                </a:solidFill>
                <a:cs typeface="+mn-ea"/>
                <a:sym typeface="+mn-lt"/>
              </a:rPr>
              <a:t>cell </a:t>
            </a:r>
            <a:r>
              <a:rPr lang="en-US" altLang="zh-CN" sz="3200" i="1" dirty="0" err="1">
                <a:solidFill>
                  <a:srgbClr val="FFC000"/>
                </a:solidFill>
                <a:cs typeface="+mn-ea"/>
                <a:sym typeface="+mn-lt"/>
              </a:rPr>
              <a:t>i</a:t>
            </a:r>
            <a:r>
              <a:rPr lang="en-US" altLang="zh-CN" sz="3200" dirty="0">
                <a:solidFill>
                  <a:srgbClr val="FFC000"/>
                </a:solidFill>
                <a:cs typeface="+mn-ea"/>
                <a:sym typeface="+mn-lt"/>
              </a:rPr>
              <a:t> </a:t>
            </a:r>
            <a:r>
              <a:rPr lang="zh-CN" altLang="en-US" sz="3200" dirty="0">
                <a:cs typeface="+mn-ea"/>
                <a:sym typeface="+mn-lt"/>
              </a:rPr>
              <a:t>中的第</a:t>
            </a:r>
            <a:r>
              <a:rPr lang="en-US" altLang="zh-CN" sz="3200" i="1" dirty="0">
                <a:solidFill>
                  <a:srgbClr val="00B0F0"/>
                </a:solidFill>
                <a:cs typeface="+mn-ea"/>
                <a:sym typeface="+mn-lt"/>
              </a:rPr>
              <a:t>j</a:t>
            </a:r>
            <a:r>
              <a:rPr lang="zh-CN" altLang="en-US" sz="3200" dirty="0">
                <a:cs typeface="+mn-ea"/>
                <a:sym typeface="+mn-lt"/>
              </a:rPr>
              <a:t>个</a:t>
            </a:r>
            <a:r>
              <a:rPr lang="en-US" altLang="zh-CN" sz="3200" dirty="0">
                <a:cs typeface="+mn-ea"/>
                <a:sym typeface="+mn-lt"/>
              </a:rPr>
              <a:t> </a:t>
            </a:r>
            <a:r>
              <a:rPr lang="en-US" altLang="zh-CN" sz="3200" dirty="0" err="1">
                <a:solidFill>
                  <a:srgbClr val="00B0F0"/>
                </a:solidFill>
                <a:cs typeface="+mn-ea"/>
                <a:sym typeface="+mn-lt"/>
              </a:rPr>
              <a:t>bbox</a:t>
            </a:r>
            <a:r>
              <a:rPr lang="zh-CN" altLang="en-US" sz="3200" dirty="0">
                <a:cs typeface="+mn-ea"/>
                <a:sym typeface="+mn-lt"/>
              </a:rPr>
              <a:t>用于预测物体</a:t>
            </a:r>
            <a:endParaRPr lang="en-US" altLang="zh-CN" sz="3200" dirty="0">
              <a:solidFill>
                <a:prstClr val="black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ADAB97-C7F3-4123-ABA3-A42844AE47DF}"/>
              </a:ext>
            </a:extLst>
          </p:cNvPr>
          <p:cNvSpPr/>
          <p:nvPr/>
        </p:nvSpPr>
        <p:spPr>
          <a:xfrm>
            <a:off x="317809" y="1800224"/>
            <a:ext cx="6531723" cy="268710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EA0F0-4E8F-4895-8DC5-C0A9C25ECB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99"/>
          <a:stretch/>
        </p:blipFill>
        <p:spPr>
          <a:xfrm>
            <a:off x="8323884" y="3261085"/>
            <a:ext cx="2389562" cy="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76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2F18-E27C-4E02-8B08-C014F7DE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Strengths and Weaknesses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28B5C-6AAD-4F39-971F-D37CE296C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Strengths: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Fast: </a:t>
            </a:r>
            <a:r>
              <a:rPr lang="en-US" altLang="zh-CN" dirty="0">
                <a:cs typeface="+mn-ea"/>
                <a:sym typeface="+mn-lt"/>
              </a:rPr>
              <a:t>45fps, smaller version 155fps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End2end training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Background</a:t>
            </a:r>
            <a:r>
              <a:rPr lang="zh-CN" altLang="en-US" dirty="0">
                <a:cs typeface="+mn-ea"/>
                <a:sym typeface="+mn-lt"/>
              </a:rPr>
              <a:t>错误率低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Weaknesses: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比</a:t>
            </a:r>
            <a:r>
              <a:rPr lang="en-US" altLang="zh-CN" dirty="0">
                <a:cs typeface="+mn-ea"/>
                <a:sym typeface="+mn-lt"/>
              </a:rPr>
              <a:t>state-of-the-art</a:t>
            </a:r>
            <a:r>
              <a:rPr lang="zh-CN" altLang="en-US" dirty="0">
                <a:cs typeface="+mn-ea"/>
                <a:sym typeface="+mn-lt"/>
              </a:rPr>
              <a:t>算法的准确率低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物体坐标的预测准确率不足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330CD-762B-4B5D-ACF0-04A72B46F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761" y="1975795"/>
            <a:ext cx="4664033" cy="345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13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4C5A-1009-4CC9-9AF6-7B97DA1D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Limitation of YOLO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BF2A7-8157-4F16-9603-21CBBDBF2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7467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Group of small objects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Unusual aspect ratios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Coarse feature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Localization error of bounding box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86A28-9D31-4D36-AC03-BCD9ECFB7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335" y="1258963"/>
            <a:ext cx="5222656" cy="509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25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F6E4-1E13-4636-8FDD-DD91B4CA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5444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SSD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ingle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hot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MultiBox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etector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433CC1-EAEB-421C-9D63-ECC3A3D3C8DF}"/>
              </a:ext>
            </a:extLst>
          </p:cNvPr>
          <p:cNvSpPr/>
          <p:nvPr/>
        </p:nvSpPr>
        <p:spPr>
          <a:xfrm>
            <a:off x="411079" y="3244334"/>
            <a:ext cx="113698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222222"/>
                </a:solidFill>
                <a:cs typeface="+mn-ea"/>
                <a:sym typeface="+mn-lt"/>
              </a:rPr>
              <a:t>Liu et al. </a:t>
            </a:r>
            <a:r>
              <a:rPr lang="en-US" altLang="zh-CN" sz="2400" dirty="0">
                <a:solidFill>
                  <a:srgbClr val="0097A7"/>
                </a:solidFill>
                <a:cs typeface="+mn-ea"/>
                <a:sym typeface="+mn-lt"/>
              </a:rPr>
              <a:t>SSD: Single Shot </a:t>
            </a:r>
            <a:r>
              <a:rPr lang="en-US" altLang="zh-CN" sz="2400" dirty="0" err="1">
                <a:solidFill>
                  <a:srgbClr val="0097A7"/>
                </a:solidFill>
                <a:cs typeface="+mn-ea"/>
                <a:sym typeface="+mn-lt"/>
              </a:rPr>
              <a:t>MultiBox</a:t>
            </a:r>
            <a:r>
              <a:rPr lang="en-US" altLang="zh-CN" sz="2400" dirty="0">
                <a:solidFill>
                  <a:srgbClr val="0097A7"/>
                </a:solidFill>
                <a:cs typeface="+mn-ea"/>
                <a:sym typeface="+mn-lt"/>
              </a:rPr>
              <a:t> Detector</a:t>
            </a:r>
            <a:r>
              <a:rPr lang="en-US" altLang="zh-CN" sz="2400" dirty="0">
                <a:solidFill>
                  <a:srgbClr val="222222"/>
                </a:solidFill>
                <a:cs typeface="+mn-ea"/>
                <a:sym typeface="+mn-lt"/>
              </a:rPr>
              <a:t>. ECCV 2016</a:t>
            </a:r>
            <a:r>
              <a:rPr lang="en-US" altLang="zh-CN" sz="2400" dirty="0">
                <a:cs typeface="+mn-ea"/>
                <a:sym typeface="+mn-lt"/>
              </a:rPr>
              <a:t> </a:t>
            </a:r>
            <a:endParaRPr lang="zh-CN" altLang="en-US" sz="2400" dirty="0">
              <a:cs typeface="+mn-ea"/>
              <a:sym typeface="+mn-lt"/>
            </a:endParaRPr>
          </a:p>
          <a:p>
            <a:pPr algn="ctr"/>
            <a:r>
              <a:rPr lang="en-US" altLang="zh-CN" sz="2400" dirty="0">
                <a:cs typeface="+mn-ea"/>
                <a:sym typeface="+mn-lt"/>
              </a:rPr>
              <a:t> </a:t>
            </a:r>
            <a:endParaRPr lang="zh-CN" altLang="en-US" sz="2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1344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FAB3-6858-4B93-9E0B-D15141BE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+mn-lt"/>
                <a:ea typeface="+mn-ea"/>
                <a:cs typeface="+mn-ea"/>
                <a:sym typeface="+mn-lt"/>
              </a:rPr>
              <a:t>Faster R-CNN</a:t>
            </a:r>
            <a:endParaRPr lang="zh-CN" altLang="en-US" sz="36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5F636-A853-4E86-9652-88D400BD5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69970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二阶段的目标检测算法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cs typeface="+mn-ea"/>
                <a:sym typeface="+mn-lt"/>
              </a:rPr>
              <a:t>Bounding Box</a:t>
            </a:r>
            <a:r>
              <a:rPr lang="zh-CN" altLang="en-US" dirty="0">
                <a:cs typeface="+mn-ea"/>
                <a:sym typeface="+mn-lt"/>
              </a:rPr>
              <a:t>的分类和回归进行了两次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4ACB2-3FC7-4643-B0E7-8F334A7B3A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679" r="748"/>
          <a:stretch/>
        </p:blipFill>
        <p:spPr>
          <a:xfrm>
            <a:off x="2021707" y="1505729"/>
            <a:ext cx="8148586" cy="340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42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A0FE6-9F40-4B9C-8BA9-557EC79A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SSD: Single Shot </a:t>
            </a: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MultiBox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 Detector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C6B57-0E3D-4BE5-8A04-F58F23C1D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39478"/>
            <a:ext cx="10515600" cy="196978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b="1" dirty="0" err="1">
                <a:solidFill>
                  <a:schemeClr val="accent1"/>
                </a:solidFill>
                <a:cs typeface="+mn-ea"/>
                <a:sym typeface="+mn-lt"/>
              </a:rPr>
              <a:t>mAP</a:t>
            </a:r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: </a:t>
            </a:r>
            <a:r>
              <a:rPr lang="en-US" altLang="zh-CN" dirty="0">
                <a:cs typeface="+mn-ea"/>
                <a:sym typeface="+mn-lt"/>
              </a:rPr>
              <a:t>SSD (72.1),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Faster R-CNN (73.2)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dirty="0">
                <a:cs typeface="+mn-ea"/>
                <a:sym typeface="+mn-lt"/>
              </a:rPr>
              <a:t>SSD (58 fps) </a:t>
            </a:r>
            <a:r>
              <a:rPr lang="en-US" altLang="zh-CN" b="1" dirty="0" err="1">
                <a:solidFill>
                  <a:schemeClr val="accent1"/>
                </a:solidFill>
                <a:cs typeface="+mn-ea"/>
                <a:sym typeface="+mn-lt"/>
              </a:rPr>
              <a:t>v.s</a:t>
            </a:r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. </a:t>
            </a:r>
            <a:r>
              <a:rPr lang="en-US" altLang="zh-CN" dirty="0">
                <a:cs typeface="+mn-ea"/>
                <a:sym typeface="+mn-lt"/>
              </a:rPr>
              <a:t>Faster R-CNN (7 fps) </a:t>
            </a:r>
            <a:r>
              <a:rPr lang="en-US" altLang="zh-CN" b="1" dirty="0" err="1">
                <a:solidFill>
                  <a:schemeClr val="accent1"/>
                </a:solidFill>
                <a:cs typeface="+mn-ea"/>
                <a:sym typeface="+mn-lt"/>
              </a:rPr>
              <a:t>v.s</a:t>
            </a:r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.</a:t>
            </a:r>
            <a:r>
              <a:rPr lang="en-US" altLang="zh-CN" dirty="0">
                <a:cs typeface="+mn-ea"/>
                <a:sym typeface="+mn-lt"/>
              </a:rPr>
              <a:t> YOLO (45 fps)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在不同层的特征图上，检测不同大小的物体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D81AC5-AE11-41E8-95E4-4B193D7F92B2}"/>
              </a:ext>
            </a:extLst>
          </p:cNvPr>
          <p:cNvSpPr/>
          <p:nvPr/>
        </p:nvSpPr>
        <p:spPr>
          <a:xfrm>
            <a:off x="822159" y="6488668"/>
            <a:ext cx="11369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Liu et al.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SSD: Single Shot </a:t>
            </a:r>
            <a:r>
              <a:rPr lang="en-US" altLang="zh-CN" dirty="0" err="1">
                <a:solidFill>
                  <a:srgbClr val="0097A7"/>
                </a:solidFill>
                <a:cs typeface="+mn-ea"/>
                <a:sym typeface="+mn-lt"/>
              </a:rPr>
              <a:t>MultiBox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 Detector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ECCV 2016</a:t>
            </a:r>
            <a:r>
              <a:rPr lang="en-US" altLang="zh-CN" dirty="0">
                <a:cs typeface="+mn-ea"/>
                <a:sym typeface="+mn-lt"/>
              </a:rPr>
              <a:t> 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B44BD-D2B8-45DD-9637-74627E474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555" y="1559120"/>
            <a:ext cx="5742889" cy="264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15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D048-1A5B-4D4B-874A-D30415FE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Network Architecture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4B853-2BB1-49C3-94AF-CD3FC1BB5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90" y="1861167"/>
            <a:ext cx="11788219" cy="3397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803843-E4FA-4373-974D-02F7B5B8109B}"/>
              </a:ext>
            </a:extLst>
          </p:cNvPr>
          <p:cNvSpPr txBox="1"/>
          <p:nvPr/>
        </p:nvSpPr>
        <p:spPr>
          <a:xfrm>
            <a:off x="1890877" y="6023285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VGG  – </a:t>
            </a:r>
            <a:r>
              <a:rPr lang="zh-CN" altLang="en-US" b="1" dirty="0">
                <a:cs typeface="+mn-ea"/>
                <a:sym typeface="+mn-lt"/>
              </a:rPr>
              <a:t>提取特征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F5A3245-3C68-4B98-8C0F-6DC88C214FA5}"/>
              </a:ext>
            </a:extLst>
          </p:cNvPr>
          <p:cNvSpPr/>
          <p:nvPr/>
        </p:nvSpPr>
        <p:spPr>
          <a:xfrm>
            <a:off x="2741933" y="5428649"/>
            <a:ext cx="226622" cy="5532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9B48E-0BB4-4DA0-9AE5-66E1B3895822}"/>
              </a:ext>
            </a:extLst>
          </p:cNvPr>
          <p:cNvSpPr txBox="1"/>
          <p:nvPr/>
        </p:nvSpPr>
        <p:spPr>
          <a:xfrm>
            <a:off x="6166431" y="6023285"/>
            <a:ext cx="375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cs typeface="+mn-ea"/>
                <a:sym typeface="+mn-lt"/>
              </a:rPr>
              <a:t>多个特征层进行多尺度的目标检测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571C6BF-E32E-4F2A-9629-D76AE5CE8FB1}"/>
              </a:ext>
            </a:extLst>
          </p:cNvPr>
          <p:cNvSpPr/>
          <p:nvPr/>
        </p:nvSpPr>
        <p:spPr>
          <a:xfrm>
            <a:off x="7932000" y="5428649"/>
            <a:ext cx="226622" cy="5532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3747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0A4-D4C6-455D-8BC9-4BB16683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Network Architecture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F847A-99DC-42BC-899A-6625BB819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33239"/>
            <a:ext cx="10515600" cy="20261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去掉了</a:t>
            </a:r>
            <a:r>
              <a:rPr lang="en-US" altLang="zh-CN" dirty="0">
                <a:cs typeface="+mn-ea"/>
                <a:sym typeface="+mn-lt"/>
              </a:rPr>
              <a:t>Faster R-CNN</a:t>
            </a:r>
            <a:r>
              <a:rPr lang="zh-CN" altLang="en-US" dirty="0">
                <a:cs typeface="+mn-ea"/>
                <a:sym typeface="+mn-lt"/>
              </a:rPr>
              <a:t>中的</a:t>
            </a:r>
            <a:r>
              <a:rPr lang="en-US" altLang="zh-CN" dirty="0">
                <a:cs typeface="+mn-ea"/>
                <a:sym typeface="+mn-lt"/>
              </a:rPr>
              <a:t>RPN</a:t>
            </a:r>
            <a:r>
              <a:rPr lang="zh-CN" altLang="en-US" dirty="0">
                <a:cs typeface="+mn-ea"/>
                <a:sym typeface="+mn-lt"/>
              </a:rPr>
              <a:t>对应的</a:t>
            </a:r>
            <a:r>
              <a:rPr lang="en-US" altLang="zh-CN" dirty="0">
                <a:cs typeface="+mn-ea"/>
                <a:sym typeface="+mn-lt"/>
              </a:rPr>
              <a:t>Proposal</a:t>
            </a:r>
            <a:r>
              <a:rPr lang="zh-CN" altLang="en-US" dirty="0">
                <a:cs typeface="+mn-ea"/>
                <a:sym typeface="+mn-lt"/>
              </a:rPr>
              <a:t>的步骤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额外增加卷积层用于检测大的目标物体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AFED2-2759-4762-9F22-08001CF16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45" y="1527302"/>
            <a:ext cx="9566709" cy="275683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67FDBC6-6CA5-4656-AC5F-B334D5D205F3}"/>
              </a:ext>
            </a:extLst>
          </p:cNvPr>
          <p:cNvSpPr/>
          <p:nvPr/>
        </p:nvSpPr>
        <p:spPr>
          <a:xfrm>
            <a:off x="6525301" y="1518835"/>
            <a:ext cx="2415495" cy="2775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1586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D99F-63F3-4B3F-8F3D-4A06F486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Anchor (Default) Boxes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033C8-AC64-4F19-8AF8-93FEDA91A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与</a:t>
            </a:r>
            <a:r>
              <a:rPr lang="en-US" altLang="zh-CN" dirty="0">
                <a:cs typeface="+mn-ea"/>
                <a:sym typeface="+mn-lt"/>
              </a:rPr>
              <a:t>Faster R-CNN</a:t>
            </a:r>
            <a:r>
              <a:rPr lang="zh-CN" altLang="en-US" dirty="0">
                <a:cs typeface="+mn-ea"/>
                <a:sym typeface="+mn-lt"/>
              </a:rPr>
              <a:t>一样</a:t>
            </a:r>
            <a:r>
              <a:rPr lang="en-US" altLang="zh-CN" dirty="0">
                <a:cs typeface="+mn-ea"/>
                <a:sym typeface="+mn-lt"/>
              </a:rPr>
              <a:t>, SSD</a:t>
            </a:r>
            <a:r>
              <a:rPr lang="zh-CN" altLang="en-US" dirty="0">
                <a:cs typeface="+mn-ea"/>
                <a:sym typeface="+mn-lt"/>
              </a:rPr>
              <a:t>同样使用</a:t>
            </a:r>
            <a:r>
              <a:rPr lang="en-US" altLang="zh-CN" dirty="0">
                <a:cs typeface="+mn-ea"/>
                <a:sym typeface="+mn-lt"/>
              </a:rPr>
              <a:t>Anchor</a:t>
            </a:r>
            <a:r>
              <a:rPr lang="zh-CN" altLang="en-US" dirty="0">
                <a:cs typeface="+mn-ea"/>
                <a:sym typeface="+mn-lt"/>
              </a:rPr>
              <a:t>的机制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采用多个不同高宽比的</a:t>
            </a:r>
            <a:r>
              <a:rPr lang="en-US" altLang="zh-CN" dirty="0">
                <a:cs typeface="+mn-ea"/>
                <a:sym typeface="+mn-lt"/>
              </a:rPr>
              <a:t>Anchor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E311E-D31B-4849-984A-701750690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211" y="3203504"/>
            <a:ext cx="8883578" cy="328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90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B7A0-EC93-4C7C-AB12-4A8DDD216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Anchor (Default) Boxes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4F06-E359-46FA-9DD7-C75173EDF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不同层的特征，检测特定尺度大小的物体：</a:t>
            </a:r>
            <a:endParaRPr lang="en-US" altLang="zh-CN" sz="2400" dirty="0"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400" i="1" dirty="0"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400" i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B40F5-CB2A-4BDA-A155-CF29209A87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7" t="10075" r="5731" b="9515"/>
          <a:stretch/>
        </p:blipFill>
        <p:spPr>
          <a:xfrm>
            <a:off x="2893853" y="2683933"/>
            <a:ext cx="6404294" cy="745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12FAA9-8601-4731-B2F7-8443FA7FB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443" y="4001294"/>
            <a:ext cx="6605113" cy="251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622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640E-62DC-4F1A-AC18-7F7F3D43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Multi-Scale Feature Maps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5DB97-3346-48BB-88A9-1D74CF7CA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29" y="2919224"/>
            <a:ext cx="4994535" cy="28951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83393B-FE2A-44C3-817B-7FAC65FB5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573" y="2907563"/>
            <a:ext cx="2559249" cy="2847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BDA977-BC1C-4AAB-B328-E3E8EAE30D5D}"/>
              </a:ext>
            </a:extLst>
          </p:cNvPr>
          <p:cNvSpPr txBox="1"/>
          <p:nvPr/>
        </p:nvSpPr>
        <p:spPr>
          <a:xfrm>
            <a:off x="2647751" y="1831711"/>
            <a:ext cx="1102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cs typeface="+mn-ea"/>
                <a:sym typeface="+mn-lt"/>
              </a:rPr>
              <a:t>SSD</a:t>
            </a:r>
            <a:endParaRPr lang="zh-CN" altLang="en-US" sz="2800" b="1" dirty="0">
              <a:cs typeface="+mn-ea"/>
              <a:sym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BB249-2FBA-4F69-A425-E6000F42016A}"/>
              </a:ext>
            </a:extLst>
          </p:cNvPr>
          <p:cNvSpPr txBox="1"/>
          <p:nvPr/>
        </p:nvSpPr>
        <p:spPr>
          <a:xfrm>
            <a:off x="7218751" y="1690688"/>
            <a:ext cx="2559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cs typeface="+mn-ea"/>
                <a:sym typeface="+mn-lt"/>
              </a:rPr>
              <a:t>Faster R-CNN RPN</a:t>
            </a:r>
            <a:endParaRPr lang="zh-CN" altLang="en-US" sz="2800" b="1" dirty="0"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C1913-AE48-4F22-B4B3-8871F1063113}"/>
              </a:ext>
            </a:extLst>
          </p:cNvPr>
          <p:cNvSpPr txBox="1"/>
          <p:nvPr/>
        </p:nvSpPr>
        <p:spPr>
          <a:xfrm>
            <a:off x="6090474" y="3920067"/>
            <a:ext cx="644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B0F0"/>
                </a:solidFill>
                <a:cs typeface="+mn-ea"/>
                <a:sym typeface="+mn-lt"/>
              </a:rPr>
              <a:t>VS</a:t>
            </a:r>
            <a:endParaRPr lang="zh-CN" altLang="en-US" sz="2800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500907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7021-2504-4B75-B792-2ED84BD6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通过卷积运算得到预测结果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D216A1-0623-4F45-BEC7-D1BBD31BEB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每一个特征图</a:t>
                </a:r>
                <a:r>
                  <a:rPr lang="en-US" altLang="zh-CN" dirty="0">
                    <a:cs typeface="+mn-ea"/>
                    <a:sym typeface="+mn-lt"/>
                  </a:rPr>
                  <a:t>, </a:t>
                </a:r>
                <a:r>
                  <a:rPr lang="zh-CN" altLang="en-US" dirty="0">
                    <a:cs typeface="+mn-ea"/>
                    <a:sym typeface="+mn-lt"/>
                  </a:rPr>
                  <a:t>分别采用如下两种卷积运算</a:t>
                </a:r>
                <a:r>
                  <a:rPr lang="en-US" altLang="zh-CN" dirty="0">
                    <a:cs typeface="+mn-ea"/>
                    <a:sym typeface="+mn-lt"/>
                  </a:rPr>
                  <a:t>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CN" i="1" dirty="0">
                    <a:cs typeface="+mn-ea"/>
                    <a:sym typeface="+mn-lt"/>
                  </a:rPr>
                  <a:t>C</a:t>
                </a:r>
                <a:r>
                  <a:rPr lang="en-US" altLang="zh-CN" dirty="0">
                    <a:cs typeface="+mn-ea"/>
                    <a:sym typeface="+mn-lt"/>
                  </a:rPr>
                  <a:t> filters</a:t>
                </a:r>
                <a:r>
                  <a:rPr lang="zh-CN" altLang="en-US" dirty="0">
                    <a:cs typeface="+mn-ea"/>
                    <a:sym typeface="+mn-lt"/>
                  </a:rPr>
                  <a:t>：目标类别预测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4 filters</a:t>
                </a:r>
                <a:r>
                  <a:rPr lang="zh-CN" altLang="en-US" dirty="0">
                    <a:cs typeface="+mn-ea"/>
                    <a:sym typeface="+mn-lt"/>
                  </a:rPr>
                  <a:t>：</a:t>
                </a:r>
                <a:r>
                  <a:rPr lang="en-US" altLang="zh-CN" dirty="0">
                    <a:cs typeface="+mn-ea"/>
                    <a:sym typeface="+mn-lt"/>
                  </a:rPr>
                  <a:t> Bounding Box</a:t>
                </a:r>
                <a:r>
                  <a:rPr lang="zh-CN" altLang="en-US" dirty="0">
                    <a:cs typeface="+mn-ea"/>
                    <a:sym typeface="+mn-lt"/>
                  </a:rPr>
                  <a:t>回归</a:t>
                </a:r>
                <a:r>
                  <a:rPr lang="en-US" altLang="zh-CN" dirty="0">
                    <a:cs typeface="+mn-ea"/>
                    <a:sym typeface="+mn-lt"/>
                  </a:rPr>
                  <a:t> (x, y, w, h)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 anchors</a:t>
                </a:r>
                <a:r>
                  <a:rPr lang="zh-CN" altLang="en-US" dirty="0">
                    <a:cs typeface="+mn-ea"/>
                    <a:sym typeface="+mn-lt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𝐶</m:t>
                    </m:r>
                    <m:r>
                      <a:rPr lang="en-US" altLang="zh-CN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+4)</m:t>
                    </m:r>
                    <m:r>
                      <a:rPr lang="en-US" altLang="zh-CN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𝑘</m:t>
                    </m:r>
                    <m:r>
                      <a:rPr lang="en-US" altLang="zh-CN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filters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D216A1-0623-4F45-BEC7-D1BBD31BE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5F948B5-2C34-49AB-8571-F1E194E26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76" y="4207006"/>
            <a:ext cx="7299848" cy="210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943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1BC3-0AB0-4A56-8C70-F7E526777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SSD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的检测输出层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E51782A-93F2-4466-A162-005845721E88}"/>
              </a:ext>
            </a:extLst>
          </p:cNvPr>
          <p:cNvGrpSpPr/>
          <p:nvPr/>
        </p:nvGrpSpPr>
        <p:grpSpPr>
          <a:xfrm>
            <a:off x="746135" y="1395991"/>
            <a:ext cx="10699729" cy="5096884"/>
            <a:chOff x="309371" y="1395991"/>
            <a:chExt cx="10699729" cy="509688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9FEE868-6AA8-4B90-98B1-4B882A54053C}"/>
                </a:ext>
              </a:extLst>
            </p:cNvPr>
            <p:cNvGrpSpPr/>
            <p:nvPr/>
          </p:nvGrpSpPr>
          <p:grpSpPr>
            <a:xfrm>
              <a:off x="309371" y="2019300"/>
              <a:ext cx="8029958" cy="4473575"/>
              <a:chOff x="1435100" y="2019300"/>
              <a:chExt cx="8029958" cy="4473575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FC1A54D-F8BC-495E-A22D-FF3C34F8E1F1}"/>
                  </a:ext>
                </a:extLst>
              </p:cNvPr>
              <p:cNvGrpSpPr/>
              <p:nvPr/>
            </p:nvGrpSpPr>
            <p:grpSpPr>
              <a:xfrm>
                <a:off x="5069223" y="3605915"/>
                <a:ext cx="2308590" cy="121920"/>
                <a:chOff x="5069223" y="3605915"/>
                <a:chExt cx="2308590" cy="121920"/>
              </a:xfrm>
            </p:grpSpPr>
            <p:sp>
              <p:nvSpPr>
                <p:cNvPr id="8" name="object 3">
                  <a:extLst>
                    <a:ext uri="{FF2B5EF4-FFF2-40B4-BE49-F238E27FC236}">
                      <a16:creationId xmlns:a16="http://schemas.microsoft.com/office/drawing/2014/main" id="{D85B5060-A58B-49D4-B9A3-388F7A31D740}"/>
                    </a:ext>
                  </a:extLst>
                </p:cNvPr>
                <p:cNvSpPr/>
                <p:nvPr/>
              </p:nvSpPr>
              <p:spPr>
                <a:xfrm>
                  <a:off x="5069223" y="3666875"/>
                  <a:ext cx="218884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8845">
                      <a:moveTo>
                        <a:pt x="0" y="0"/>
                      </a:moveTo>
                      <a:lnTo>
                        <a:pt x="2175967" y="0"/>
                      </a:lnTo>
                      <a:lnTo>
                        <a:pt x="2188667" y="0"/>
                      </a:lnTo>
                    </a:path>
                  </a:pathLst>
                </a:custGeom>
                <a:ln w="2540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object 4">
                  <a:extLst>
                    <a:ext uri="{FF2B5EF4-FFF2-40B4-BE49-F238E27FC236}">
                      <a16:creationId xmlns:a16="http://schemas.microsoft.com/office/drawing/2014/main" id="{1F7872A7-29EC-43CC-9386-45B09DA4356F}"/>
                    </a:ext>
                  </a:extLst>
                </p:cNvPr>
                <p:cNvSpPr/>
                <p:nvPr/>
              </p:nvSpPr>
              <p:spPr>
                <a:xfrm>
                  <a:off x="7255893" y="3605915"/>
                  <a:ext cx="121920" cy="12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" h="121920">
                      <a:moveTo>
                        <a:pt x="0" y="0"/>
                      </a:moveTo>
                      <a:lnTo>
                        <a:pt x="0" y="121919"/>
                      </a:lnTo>
                      <a:lnTo>
                        <a:pt x="121920" y="609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10" name="object 5">
                <a:extLst>
                  <a:ext uri="{FF2B5EF4-FFF2-40B4-BE49-F238E27FC236}">
                    <a16:creationId xmlns:a16="http://schemas.microsoft.com/office/drawing/2014/main" id="{132F5907-BC31-4B1C-847C-AE8A53ECBE9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35100" y="2019300"/>
                <a:ext cx="3600000" cy="3600000"/>
              </a:xfrm>
              <a:prstGeom prst="rect">
                <a:avLst/>
              </a:prstGeom>
            </p:spPr>
          </p:pic>
          <p:sp>
            <p:nvSpPr>
              <p:cNvPr id="11" name="object 6">
                <a:extLst>
                  <a:ext uri="{FF2B5EF4-FFF2-40B4-BE49-F238E27FC236}">
                    <a16:creationId xmlns:a16="http://schemas.microsoft.com/office/drawing/2014/main" id="{179B36E7-9956-4309-9ED7-244794FDCA54}"/>
                  </a:ext>
                </a:extLst>
              </p:cNvPr>
              <p:cNvSpPr txBox="1"/>
              <p:nvPr/>
            </p:nvSpPr>
            <p:spPr>
              <a:xfrm>
                <a:off x="5414433" y="3124200"/>
                <a:ext cx="1606550" cy="51308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3200" spc="-5" dirty="0">
                    <a:cs typeface="+mn-ea"/>
                    <a:sym typeface="+mn-lt"/>
                  </a:rPr>
                  <a:t>ConvNet</a:t>
                </a:r>
                <a:endParaRPr sz="3200" dirty="0">
                  <a:cs typeface="+mn-ea"/>
                  <a:sym typeface="+mn-lt"/>
                </a:endParaRPr>
              </a:p>
            </p:txBody>
          </p:sp>
          <p:sp>
            <p:nvSpPr>
              <p:cNvPr id="13" name="object 9">
                <a:extLst>
                  <a:ext uri="{FF2B5EF4-FFF2-40B4-BE49-F238E27FC236}">
                    <a16:creationId xmlns:a16="http://schemas.microsoft.com/office/drawing/2014/main" id="{D1455A5D-2DFD-450F-BC7C-DA49A5A643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00316" y="2379795"/>
                <a:ext cx="1600553" cy="3600000"/>
              </a:xfrm>
              <a:custGeom>
                <a:avLst/>
                <a:gdLst/>
                <a:ahLst/>
                <a:cxnLst/>
                <a:rect l="l" t="t" r="r" b="b"/>
                <a:pathLst>
                  <a:path w="2244725" h="5048884">
                    <a:moveTo>
                      <a:pt x="2244360" y="2017900"/>
                    </a:moveTo>
                    <a:lnTo>
                      <a:pt x="228049" y="0"/>
                    </a:lnTo>
                    <a:lnTo>
                      <a:pt x="0" y="0"/>
                    </a:lnTo>
                    <a:lnTo>
                      <a:pt x="0" y="3030933"/>
                    </a:lnTo>
                    <a:lnTo>
                      <a:pt x="2016311" y="5048834"/>
                    </a:lnTo>
                    <a:lnTo>
                      <a:pt x="2244360" y="5048834"/>
                    </a:lnTo>
                    <a:lnTo>
                      <a:pt x="2244360" y="2017900"/>
                    </a:lnTo>
                    <a:close/>
                  </a:path>
                  <a:path w="2244725" h="5048884">
                    <a:moveTo>
                      <a:pt x="2244360" y="2017900"/>
                    </a:moveTo>
                    <a:lnTo>
                      <a:pt x="2016311" y="2017900"/>
                    </a:lnTo>
                    <a:lnTo>
                      <a:pt x="0" y="0"/>
                    </a:lnTo>
                  </a:path>
                  <a:path w="2244725" h="5048884">
                    <a:moveTo>
                      <a:pt x="2016311" y="2017900"/>
                    </a:moveTo>
                    <a:lnTo>
                      <a:pt x="2016311" y="5048834"/>
                    </a:lnTo>
                  </a:path>
                </a:pathLst>
              </a:custGeom>
              <a:ln w="1557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99F81465-A866-429E-846D-71BB75BBE09E}"/>
                  </a:ext>
                </a:extLst>
              </p:cNvPr>
              <p:cNvSpPr txBox="1"/>
              <p:nvPr/>
            </p:nvSpPr>
            <p:spPr>
              <a:xfrm>
                <a:off x="7255893" y="5979795"/>
                <a:ext cx="2209165" cy="51308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3200" spc="-10" dirty="0">
                    <a:cs typeface="+mn-ea"/>
                    <a:sym typeface="+mn-lt"/>
                  </a:rPr>
                  <a:t>feature</a:t>
                </a:r>
                <a:r>
                  <a:rPr sz="3200" spc="-75" dirty="0">
                    <a:cs typeface="+mn-ea"/>
                    <a:sym typeface="+mn-lt"/>
                  </a:rPr>
                  <a:t> </a:t>
                </a:r>
                <a:r>
                  <a:rPr sz="3200" spc="55" dirty="0">
                    <a:cs typeface="+mn-ea"/>
                    <a:sym typeface="+mn-lt"/>
                  </a:rPr>
                  <a:t>map</a:t>
                </a:r>
                <a:endParaRPr sz="32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BB283CE1-D72D-4FB1-AE87-E7B38667C1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31417" y="3727133"/>
              <a:ext cx="480180" cy="1080000"/>
            </a:xfrm>
            <a:custGeom>
              <a:avLst/>
              <a:gdLst/>
              <a:ahLst/>
              <a:cxnLst/>
              <a:rect l="l" t="t" r="r" b="b"/>
              <a:pathLst>
                <a:path w="751840" h="1691004">
                  <a:moveTo>
                    <a:pt x="751522" y="530631"/>
                  </a:moveTo>
                  <a:lnTo>
                    <a:pt x="221308" y="0"/>
                  </a:lnTo>
                  <a:lnTo>
                    <a:pt x="0" y="0"/>
                  </a:lnTo>
                  <a:lnTo>
                    <a:pt x="0" y="1159966"/>
                  </a:lnTo>
                  <a:lnTo>
                    <a:pt x="530213" y="1690598"/>
                  </a:lnTo>
                  <a:lnTo>
                    <a:pt x="751522" y="1690598"/>
                  </a:lnTo>
                  <a:lnTo>
                    <a:pt x="751522" y="530631"/>
                  </a:lnTo>
                  <a:close/>
                </a:path>
                <a:path w="751840" h="1691004">
                  <a:moveTo>
                    <a:pt x="751522" y="530631"/>
                  </a:moveTo>
                  <a:lnTo>
                    <a:pt x="530213" y="530631"/>
                  </a:lnTo>
                  <a:lnTo>
                    <a:pt x="0" y="0"/>
                  </a:lnTo>
                </a:path>
                <a:path w="751840" h="1691004">
                  <a:moveTo>
                    <a:pt x="530213" y="530631"/>
                  </a:moveTo>
                  <a:lnTo>
                    <a:pt x="530213" y="1690598"/>
                  </a:lnTo>
                </a:path>
              </a:pathLst>
            </a:custGeom>
            <a:ln w="35047">
              <a:solidFill>
                <a:srgbClr val="008F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grpSp>
          <p:nvGrpSpPr>
            <p:cNvPr id="17" name="object 8">
              <a:extLst>
                <a:ext uri="{FF2B5EF4-FFF2-40B4-BE49-F238E27FC236}">
                  <a16:creationId xmlns:a16="http://schemas.microsoft.com/office/drawing/2014/main" id="{2FA90B08-CCB9-4393-A66C-BBB161117AF4}"/>
                </a:ext>
              </a:extLst>
            </p:cNvPr>
            <p:cNvGrpSpPr/>
            <p:nvPr/>
          </p:nvGrpSpPr>
          <p:grpSpPr>
            <a:xfrm>
              <a:off x="5727177" y="4567784"/>
              <a:ext cx="932815" cy="576580"/>
              <a:chOff x="7520293" y="6375005"/>
              <a:chExt cx="932815" cy="576580"/>
            </a:xfrm>
          </p:grpSpPr>
          <p:sp>
            <p:nvSpPr>
              <p:cNvPr id="18" name="object 9">
                <a:extLst>
                  <a:ext uri="{FF2B5EF4-FFF2-40B4-BE49-F238E27FC236}">
                    <a16:creationId xmlns:a16="http://schemas.microsoft.com/office/drawing/2014/main" id="{E7430DC0-D8AC-4C7A-B13B-AB0982AC2757}"/>
                  </a:ext>
                </a:extLst>
              </p:cNvPr>
              <p:cNvSpPr/>
              <p:nvPr/>
            </p:nvSpPr>
            <p:spPr>
              <a:xfrm>
                <a:off x="7532993" y="6432076"/>
                <a:ext cx="826769" cy="506730"/>
              </a:xfrm>
              <a:custGeom>
                <a:avLst/>
                <a:gdLst/>
                <a:ahLst/>
                <a:cxnLst/>
                <a:rect l="l" t="t" r="r" b="b"/>
                <a:pathLst>
                  <a:path w="826770" h="506729">
                    <a:moveTo>
                      <a:pt x="0" y="506605"/>
                    </a:moveTo>
                    <a:lnTo>
                      <a:pt x="815803" y="6636"/>
                    </a:lnTo>
                    <a:lnTo>
                      <a:pt x="826631" y="0"/>
                    </a:lnTo>
                  </a:path>
                </a:pathLst>
              </a:custGeom>
              <a:ln w="25400">
                <a:solidFill>
                  <a:srgbClr val="00F9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" name="object 10">
                <a:extLst>
                  <a:ext uri="{FF2B5EF4-FFF2-40B4-BE49-F238E27FC236}">
                    <a16:creationId xmlns:a16="http://schemas.microsoft.com/office/drawing/2014/main" id="{2796570F-02F4-4588-93A9-9A651B6AA694}"/>
                  </a:ext>
                </a:extLst>
              </p:cNvPr>
              <p:cNvSpPr/>
              <p:nvPr/>
            </p:nvSpPr>
            <p:spPr>
              <a:xfrm>
                <a:off x="8316943" y="6375005"/>
                <a:ext cx="135890" cy="116205"/>
              </a:xfrm>
              <a:custGeom>
                <a:avLst/>
                <a:gdLst/>
                <a:ahLst/>
                <a:cxnLst/>
                <a:rect l="l" t="t" r="r" b="b"/>
                <a:pathLst>
                  <a:path w="135890" h="116204">
                    <a:moveTo>
                      <a:pt x="135804" y="0"/>
                    </a:moveTo>
                    <a:lnTo>
                      <a:pt x="0" y="11730"/>
                    </a:lnTo>
                    <a:lnTo>
                      <a:pt x="63707" y="115683"/>
                    </a:lnTo>
                    <a:lnTo>
                      <a:pt x="135804" y="0"/>
                    </a:lnTo>
                    <a:close/>
                  </a:path>
                </a:pathLst>
              </a:custGeom>
              <a:solidFill>
                <a:srgbClr val="00F9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0" name="object 11">
              <a:extLst>
                <a:ext uri="{FF2B5EF4-FFF2-40B4-BE49-F238E27FC236}">
                  <a16:creationId xmlns:a16="http://schemas.microsoft.com/office/drawing/2014/main" id="{45C34E10-FF80-4D5D-B455-D842F901C074}"/>
                </a:ext>
              </a:extLst>
            </p:cNvPr>
            <p:cNvSpPr txBox="1"/>
            <p:nvPr/>
          </p:nvSpPr>
          <p:spPr>
            <a:xfrm>
              <a:off x="4334701" y="5127840"/>
              <a:ext cx="4104449" cy="733149"/>
            </a:xfrm>
            <a:prstGeom prst="rect">
              <a:avLst/>
            </a:prstGeom>
          </p:spPr>
          <p:txBody>
            <a:bodyPr vert="horz" wrap="square" lIns="0" tIns="10160" rIns="0" bIns="0" rtlCol="0">
              <a:spAutoFit/>
            </a:bodyPr>
            <a:lstStyle/>
            <a:p>
              <a:pPr marL="266700" marR="1713864" indent="-254000">
                <a:lnSpc>
                  <a:spcPct val="100699"/>
                </a:lnSpc>
                <a:spcBef>
                  <a:spcPts val="80"/>
                </a:spcBef>
              </a:pPr>
              <a:r>
                <a:rPr sz="2400" spc="-5" dirty="0">
                  <a:cs typeface="+mn-ea"/>
                  <a:sym typeface="+mn-lt"/>
                </a:rPr>
                <a:t>small</a:t>
              </a:r>
              <a:r>
                <a:rPr sz="2400" spc="-25" dirty="0">
                  <a:cs typeface="+mn-ea"/>
                  <a:sym typeface="+mn-lt"/>
                </a:rPr>
                <a:t> </a:t>
              </a:r>
              <a:r>
                <a:rPr sz="2400" spc="25" dirty="0">
                  <a:cs typeface="+mn-ea"/>
                  <a:sym typeface="+mn-lt"/>
                </a:rPr>
                <a:t>(e.g.</a:t>
              </a:r>
              <a:r>
                <a:rPr sz="2400" spc="-25" dirty="0">
                  <a:cs typeface="+mn-ea"/>
                  <a:sym typeface="+mn-lt"/>
                </a:rPr>
                <a:t> </a:t>
              </a:r>
              <a:r>
                <a:rPr sz="2400" spc="-5" dirty="0">
                  <a:cs typeface="+mn-ea"/>
                  <a:sym typeface="+mn-lt"/>
                </a:rPr>
                <a:t>3x3)</a:t>
              </a:r>
              <a:r>
                <a:rPr lang="zh-CN" altLang="en-US" sz="2400" spc="-5" dirty="0">
                  <a:cs typeface="+mn-ea"/>
                  <a:sym typeface="+mn-lt"/>
                </a:rPr>
                <a:t> </a:t>
              </a:r>
              <a:r>
                <a:rPr lang="zh-CN" altLang="en-US" sz="2400" spc="-660" dirty="0">
                  <a:cs typeface="+mn-ea"/>
                  <a:sym typeface="+mn-lt"/>
                </a:rPr>
                <a:t>  </a:t>
              </a:r>
              <a:r>
                <a:rPr sz="2400" spc="30" dirty="0">
                  <a:cs typeface="+mn-ea"/>
                  <a:sym typeface="+mn-lt"/>
                </a:rPr>
                <a:t>conv</a:t>
              </a:r>
              <a:r>
                <a:rPr sz="2400" spc="-20" dirty="0">
                  <a:cs typeface="+mn-ea"/>
                  <a:sym typeface="+mn-lt"/>
                </a:rPr>
                <a:t> </a:t>
              </a:r>
              <a:r>
                <a:rPr sz="2400" spc="5" dirty="0">
                  <a:cs typeface="+mn-ea"/>
                  <a:sym typeface="+mn-lt"/>
                </a:rPr>
                <a:t>kernel</a:t>
              </a:r>
              <a:endParaRPr sz="2400" dirty="0">
                <a:cs typeface="+mn-ea"/>
                <a:sym typeface="+mn-lt"/>
              </a:endParaRPr>
            </a:p>
          </p:txBody>
        </p:sp>
        <p:sp>
          <p:nvSpPr>
            <p:cNvPr id="21" name="object 8">
              <a:extLst>
                <a:ext uri="{FF2B5EF4-FFF2-40B4-BE49-F238E27FC236}">
                  <a16:creationId xmlns:a16="http://schemas.microsoft.com/office/drawing/2014/main" id="{98597838-BF5E-49A6-B8B2-2A74B2D413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82494" y="3864491"/>
              <a:ext cx="240970" cy="792000"/>
            </a:xfrm>
            <a:custGeom>
              <a:avLst/>
              <a:gdLst/>
              <a:ahLst/>
              <a:cxnLst/>
              <a:rect l="l" t="t" r="r" b="b"/>
              <a:pathLst>
                <a:path w="363220" h="1193800">
                  <a:moveTo>
                    <a:pt x="363139" y="363425"/>
                  </a:moveTo>
                  <a:lnTo>
                    <a:pt x="0" y="0"/>
                  </a:lnTo>
                  <a:lnTo>
                    <a:pt x="0" y="830040"/>
                  </a:lnTo>
                  <a:lnTo>
                    <a:pt x="363139" y="1193466"/>
                  </a:lnTo>
                  <a:lnTo>
                    <a:pt x="363139" y="363425"/>
                  </a:lnTo>
                  <a:close/>
                </a:path>
                <a:path w="363220" h="1193800">
                  <a:moveTo>
                    <a:pt x="363139" y="363425"/>
                  </a:moveTo>
                  <a:lnTo>
                    <a:pt x="363139" y="363425"/>
                  </a:lnTo>
                  <a:lnTo>
                    <a:pt x="0" y="0"/>
                  </a:lnTo>
                </a:path>
                <a:path w="363220" h="1193800">
                  <a:moveTo>
                    <a:pt x="363139" y="363425"/>
                  </a:moveTo>
                  <a:lnTo>
                    <a:pt x="363139" y="1193466"/>
                  </a:lnTo>
                </a:path>
              </a:pathLst>
            </a:custGeom>
            <a:ln w="350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55926E-3178-4F22-8D6E-94D826583E87}"/>
                </a:ext>
              </a:extLst>
            </p:cNvPr>
            <p:cNvSpPr/>
            <p:nvPr/>
          </p:nvSpPr>
          <p:spPr>
            <a:xfrm>
              <a:off x="4716957" y="4179183"/>
              <a:ext cx="132343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pc="15" dirty="0">
                  <a:cs typeface="+mn-ea"/>
                  <a:sym typeface="+mn-lt"/>
                </a:rPr>
                <a:t>default </a:t>
              </a:r>
              <a:r>
                <a:rPr lang="en-US" altLang="zh-CN" spc="40" dirty="0">
                  <a:cs typeface="+mn-ea"/>
                  <a:sym typeface="+mn-lt"/>
                </a:rPr>
                <a:t>box 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33E69BB-65E5-4284-AEA3-F2372EC3DE8B}"/>
                </a:ext>
              </a:extLst>
            </p:cNvPr>
            <p:cNvGrpSpPr/>
            <p:nvPr/>
          </p:nvGrpSpPr>
          <p:grpSpPr>
            <a:xfrm>
              <a:off x="5963958" y="4042867"/>
              <a:ext cx="718536" cy="327915"/>
              <a:chOff x="7612657" y="5690747"/>
              <a:chExt cx="718536" cy="327915"/>
            </a:xfrm>
          </p:grpSpPr>
          <p:sp>
            <p:nvSpPr>
              <p:cNvPr id="24" name="object 11">
                <a:extLst>
                  <a:ext uri="{FF2B5EF4-FFF2-40B4-BE49-F238E27FC236}">
                    <a16:creationId xmlns:a16="http://schemas.microsoft.com/office/drawing/2014/main" id="{DF9388E3-4FD6-477E-8D37-94939DA977E1}"/>
                  </a:ext>
                </a:extLst>
              </p:cNvPr>
              <p:cNvSpPr/>
              <p:nvPr/>
            </p:nvSpPr>
            <p:spPr>
              <a:xfrm>
                <a:off x="7612657" y="5741167"/>
                <a:ext cx="619125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277495">
                    <a:moveTo>
                      <a:pt x="0" y="277500"/>
                    </a:moveTo>
                    <a:lnTo>
                      <a:pt x="606963" y="5198"/>
                    </a:lnTo>
                    <a:lnTo>
                      <a:pt x="618551" y="0"/>
                    </a:lnTo>
                  </a:path>
                </a:pathLst>
              </a:custGeom>
              <a:ln w="254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" name="object 12">
                <a:extLst>
                  <a:ext uri="{FF2B5EF4-FFF2-40B4-BE49-F238E27FC236}">
                    <a16:creationId xmlns:a16="http://schemas.microsoft.com/office/drawing/2014/main" id="{A77B98A0-25BF-4E96-B4D1-A9906DA4AE9C}"/>
                  </a:ext>
                </a:extLst>
              </p:cNvPr>
              <p:cNvSpPr/>
              <p:nvPr/>
            </p:nvSpPr>
            <p:spPr>
              <a:xfrm>
                <a:off x="8194668" y="5690747"/>
                <a:ext cx="13652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136525" h="111760">
                    <a:moveTo>
                      <a:pt x="0" y="0"/>
                    </a:moveTo>
                    <a:lnTo>
                      <a:pt x="49904" y="111238"/>
                    </a:lnTo>
                    <a:lnTo>
                      <a:pt x="136190" y="57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6814D34-1B6D-456A-AA80-28E983F8FF22}"/>
                </a:ext>
              </a:extLst>
            </p:cNvPr>
            <p:cNvGrpSpPr/>
            <p:nvPr/>
          </p:nvGrpSpPr>
          <p:grpSpPr>
            <a:xfrm>
              <a:off x="6962416" y="1395991"/>
              <a:ext cx="4046684" cy="3001367"/>
              <a:chOff x="8712371" y="3035300"/>
              <a:chExt cx="4046684" cy="3001367"/>
            </a:xfrm>
          </p:grpSpPr>
          <p:sp>
            <p:nvSpPr>
              <p:cNvPr id="22" name="object 3">
                <a:extLst>
                  <a:ext uri="{FF2B5EF4-FFF2-40B4-BE49-F238E27FC236}">
                    <a16:creationId xmlns:a16="http://schemas.microsoft.com/office/drawing/2014/main" id="{7644864C-0215-4951-A8C2-DCE5948F4630}"/>
                  </a:ext>
                </a:extLst>
              </p:cNvPr>
              <p:cNvSpPr txBox="1"/>
              <p:nvPr/>
            </p:nvSpPr>
            <p:spPr>
              <a:xfrm>
                <a:off x="9664700" y="3035300"/>
                <a:ext cx="1335405" cy="690880"/>
              </a:xfrm>
              <a:prstGeom prst="rect">
                <a:avLst/>
              </a:prstGeom>
            </p:spPr>
            <p:txBody>
              <a:bodyPr vert="horz" wrap="square" lIns="0" tIns="27940" rIns="0" bIns="0" rtlCol="0">
                <a:spAutoFit/>
              </a:bodyPr>
              <a:lstStyle/>
              <a:p>
                <a:pPr marL="12700" marR="5080" indent="419100">
                  <a:lnSpc>
                    <a:spcPts val="2600"/>
                  </a:lnSpc>
                  <a:spcBef>
                    <a:spcPts val="220"/>
                  </a:spcBef>
                </a:pPr>
                <a:r>
                  <a:rPr sz="2200" spc="40" dirty="0">
                    <a:cs typeface="+mn-ea"/>
                    <a:sym typeface="+mn-lt"/>
                  </a:rPr>
                  <a:t>box </a:t>
                </a:r>
                <a:r>
                  <a:rPr sz="2200" spc="45" dirty="0">
                    <a:cs typeface="+mn-ea"/>
                    <a:sym typeface="+mn-lt"/>
                  </a:rPr>
                  <a:t> </a:t>
                </a:r>
                <a:r>
                  <a:rPr sz="2200" spc="-40" dirty="0">
                    <a:cs typeface="+mn-ea"/>
                    <a:sym typeface="+mn-lt"/>
                  </a:rPr>
                  <a:t>r</a:t>
                </a:r>
                <a:r>
                  <a:rPr sz="2200" spc="45" dirty="0">
                    <a:cs typeface="+mn-ea"/>
                    <a:sym typeface="+mn-lt"/>
                  </a:rPr>
                  <a:t>eg</a:t>
                </a:r>
                <a:r>
                  <a:rPr sz="2200" spc="-15" dirty="0">
                    <a:cs typeface="+mn-ea"/>
                    <a:sym typeface="+mn-lt"/>
                  </a:rPr>
                  <a:t>r</a:t>
                </a:r>
                <a:r>
                  <a:rPr sz="2200" spc="-5" dirty="0">
                    <a:cs typeface="+mn-ea"/>
                    <a:sym typeface="+mn-lt"/>
                  </a:rPr>
                  <a:t>ession</a:t>
                </a:r>
                <a:endParaRPr sz="2200" dirty="0">
                  <a:cs typeface="+mn-ea"/>
                  <a:sym typeface="+mn-lt"/>
                </a:endParaRPr>
              </a:p>
            </p:txBody>
          </p:sp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F803FDDD-2F87-4872-8F97-595B83298C34}"/>
                  </a:ext>
                </a:extLst>
              </p:cNvPr>
              <p:cNvSpPr txBox="1"/>
              <p:nvPr/>
            </p:nvSpPr>
            <p:spPr>
              <a:xfrm>
                <a:off x="11201400" y="3035300"/>
                <a:ext cx="1557655" cy="690880"/>
              </a:xfrm>
              <a:prstGeom prst="rect">
                <a:avLst/>
              </a:prstGeom>
            </p:spPr>
            <p:txBody>
              <a:bodyPr vert="horz" wrap="square" lIns="0" tIns="27940" rIns="0" bIns="0" rtlCol="0">
                <a:spAutoFit/>
              </a:bodyPr>
              <a:lstStyle/>
              <a:p>
                <a:pPr marL="12700" marR="5080" indent="152400">
                  <a:lnSpc>
                    <a:spcPts val="2600"/>
                  </a:lnSpc>
                  <a:spcBef>
                    <a:spcPts val="220"/>
                  </a:spcBef>
                </a:pPr>
                <a:r>
                  <a:rPr sz="2200" spc="10" dirty="0">
                    <a:cs typeface="+mn-ea"/>
                    <a:sym typeface="+mn-lt"/>
                  </a:rPr>
                  <a:t>multiclass </a:t>
                </a:r>
                <a:r>
                  <a:rPr sz="2200" spc="15" dirty="0">
                    <a:cs typeface="+mn-ea"/>
                    <a:sym typeface="+mn-lt"/>
                  </a:rPr>
                  <a:t> </a:t>
                </a:r>
                <a:r>
                  <a:rPr sz="2200" spc="75" dirty="0">
                    <a:cs typeface="+mn-ea"/>
                    <a:sym typeface="+mn-lt"/>
                  </a:rPr>
                  <a:t>p</a:t>
                </a:r>
                <a:r>
                  <a:rPr sz="2200" spc="5" dirty="0">
                    <a:cs typeface="+mn-ea"/>
                    <a:sym typeface="+mn-lt"/>
                  </a:rPr>
                  <a:t>r</a:t>
                </a:r>
                <a:r>
                  <a:rPr sz="2200" spc="20" dirty="0">
                    <a:cs typeface="+mn-ea"/>
                    <a:sym typeface="+mn-lt"/>
                  </a:rPr>
                  <a:t>obabilities</a:t>
                </a:r>
                <a:endParaRPr sz="2200" dirty="0">
                  <a:cs typeface="+mn-ea"/>
                  <a:sym typeface="+mn-lt"/>
                </a:endParaRPr>
              </a:p>
            </p:txBody>
          </p:sp>
          <p:sp>
            <p:nvSpPr>
              <p:cNvPr id="28" name="object 9">
                <a:extLst>
                  <a:ext uri="{FF2B5EF4-FFF2-40B4-BE49-F238E27FC236}">
                    <a16:creationId xmlns:a16="http://schemas.microsoft.com/office/drawing/2014/main" id="{EC9A3861-1C89-4295-8828-9481F9AEFB22}"/>
                  </a:ext>
                </a:extLst>
              </p:cNvPr>
              <p:cNvSpPr/>
              <p:nvPr/>
            </p:nvSpPr>
            <p:spPr>
              <a:xfrm>
                <a:off x="8712371" y="6032222"/>
                <a:ext cx="3350260" cy="4445"/>
              </a:xfrm>
              <a:custGeom>
                <a:avLst/>
                <a:gdLst/>
                <a:ahLst/>
                <a:cxnLst/>
                <a:rect l="l" t="t" r="r" b="b"/>
                <a:pathLst>
                  <a:path w="3350259" h="4445">
                    <a:moveTo>
                      <a:pt x="0" y="4321"/>
                    </a:moveTo>
                    <a:lnTo>
                      <a:pt x="3350202" y="0"/>
                    </a:lnTo>
                  </a:path>
                </a:pathLst>
              </a:custGeom>
              <a:ln w="3116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" name="object 10">
                <a:extLst>
                  <a:ext uri="{FF2B5EF4-FFF2-40B4-BE49-F238E27FC236}">
                    <a16:creationId xmlns:a16="http://schemas.microsoft.com/office/drawing/2014/main" id="{19574E71-8B6F-4759-A7B8-9CA186ED12CC}"/>
                  </a:ext>
                </a:extLst>
              </p:cNvPr>
              <p:cNvSpPr/>
              <p:nvPr/>
            </p:nvSpPr>
            <p:spPr>
              <a:xfrm>
                <a:off x="10523919" y="3833407"/>
                <a:ext cx="0" cy="2200275"/>
              </a:xfrm>
              <a:custGeom>
                <a:avLst/>
                <a:gdLst/>
                <a:ahLst/>
                <a:cxnLst/>
                <a:rect l="l" t="t" r="r" b="b"/>
                <a:pathLst>
                  <a:path h="2200275">
                    <a:moveTo>
                      <a:pt x="2" y="2200232"/>
                    </a:moveTo>
                    <a:lnTo>
                      <a:pt x="0" y="0"/>
                    </a:lnTo>
                  </a:path>
                </a:pathLst>
              </a:custGeom>
              <a:ln w="3111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pic>
            <p:nvPicPr>
              <p:cNvPr id="30" name="object 11">
                <a:extLst>
                  <a:ext uri="{FF2B5EF4-FFF2-40B4-BE49-F238E27FC236}">
                    <a16:creationId xmlns:a16="http://schemas.microsoft.com/office/drawing/2014/main" id="{B8CE948E-A833-4831-AFD2-3B40A04FD475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0454030" y="3802481"/>
                <a:ext cx="139780" cy="139881"/>
              </a:xfrm>
              <a:prstGeom prst="rect">
                <a:avLst/>
              </a:prstGeom>
            </p:spPr>
          </p:pic>
          <p:sp>
            <p:nvSpPr>
              <p:cNvPr id="31" name="object 12">
                <a:extLst>
                  <a:ext uri="{FF2B5EF4-FFF2-40B4-BE49-F238E27FC236}">
                    <a16:creationId xmlns:a16="http://schemas.microsoft.com/office/drawing/2014/main" id="{B7BB2319-120A-4ADD-8D78-58E04BD5430E}"/>
                  </a:ext>
                </a:extLst>
              </p:cNvPr>
              <p:cNvSpPr/>
              <p:nvPr/>
            </p:nvSpPr>
            <p:spPr>
              <a:xfrm>
                <a:off x="12056807" y="3831987"/>
                <a:ext cx="0" cy="2200275"/>
              </a:xfrm>
              <a:custGeom>
                <a:avLst/>
                <a:gdLst/>
                <a:ahLst/>
                <a:cxnLst/>
                <a:rect l="l" t="t" r="r" b="b"/>
                <a:pathLst>
                  <a:path h="2200275">
                    <a:moveTo>
                      <a:pt x="2" y="2200233"/>
                    </a:moveTo>
                    <a:lnTo>
                      <a:pt x="0" y="0"/>
                    </a:lnTo>
                  </a:path>
                </a:pathLst>
              </a:custGeom>
              <a:ln w="3111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pic>
            <p:nvPicPr>
              <p:cNvPr id="32" name="object 13">
                <a:extLst>
                  <a:ext uri="{FF2B5EF4-FFF2-40B4-BE49-F238E27FC236}">
                    <a16:creationId xmlns:a16="http://schemas.microsoft.com/office/drawing/2014/main" id="{7BC96384-7CD3-4C4E-A7E0-A9CE821CF449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1986917" y="3801061"/>
                <a:ext cx="139780" cy="13988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91599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0CED-690C-4878-B8E5-CF68093E2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SSD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训练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937ED-42F4-44C1-997E-CE1D3B0FD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cs typeface="+mn-ea"/>
                <a:sym typeface="+mn-lt"/>
              </a:rPr>
              <a:t>根据人工标注，给</a:t>
            </a:r>
            <a:r>
              <a:rPr lang="en-US" altLang="zh-CN" dirty="0">
                <a:cs typeface="+mn-ea"/>
                <a:sym typeface="+mn-lt"/>
              </a:rPr>
              <a:t>Anchor (Default Box)</a:t>
            </a:r>
            <a:r>
              <a:rPr lang="zh-CN" altLang="en-US" dirty="0">
                <a:cs typeface="+mn-ea"/>
                <a:sym typeface="+mn-lt"/>
              </a:rPr>
              <a:t>打上对应的标签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dirty="0">
                <a:cs typeface="+mn-ea"/>
                <a:sym typeface="+mn-lt"/>
              </a:rPr>
              <a:t>Loss = </a:t>
            </a:r>
            <a:r>
              <a:rPr lang="en-US" altLang="zh-CN" b="1" dirty="0">
                <a:cs typeface="+mn-ea"/>
                <a:sym typeface="+mn-lt"/>
              </a:rPr>
              <a:t>SmoothL1</a:t>
            </a:r>
            <a:r>
              <a:rPr lang="en-US" altLang="zh-CN" dirty="0">
                <a:cs typeface="+mn-ea"/>
                <a:sym typeface="+mn-lt"/>
              </a:rPr>
              <a:t>+ </a:t>
            </a:r>
            <a:r>
              <a:rPr lang="en-US" altLang="zh-CN" b="1" dirty="0">
                <a:cs typeface="+mn-ea"/>
                <a:sym typeface="+mn-lt"/>
              </a:rPr>
              <a:t>Softmax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DEE5468-2514-4119-A80A-BBE910CA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75" y="3110441"/>
            <a:ext cx="6726649" cy="338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489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1706A-EE66-4F43-82B6-2590FCA04F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0" t="16606" r="4701" b="9368"/>
          <a:stretch/>
        </p:blipFill>
        <p:spPr>
          <a:xfrm>
            <a:off x="4596437" y="1652881"/>
            <a:ext cx="6290734" cy="787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72B8F9-06C7-4B16-8280-AB035FF3C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525" y="2951589"/>
            <a:ext cx="6759242" cy="11828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2392B9-512D-4FE3-A5C1-4309DC30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训练目标函数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1D3FC-5025-4AE4-B4A3-205B88873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Final loss function</a:t>
            </a:r>
            <a:r>
              <a:rPr lang="zh-CN" altLang="en-US" b="1" dirty="0">
                <a:cs typeface="+mn-ea"/>
                <a:sym typeface="+mn-lt"/>
              </a:rPr>
              <a:t>：</a:t>
            </a:r>
            <a:endParaRPr lang="en-US" altLang="zh-CN" b="1" dirty="0"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dirty="0">
              <a:cs typeface="+mn-ea"/>
              <a:sym typeface="+mn-lt"/>
            </a:endParaRPr>
          </a:p>
          <a:p>
            <a:endParaRPr lang="en-US" altLang="zh-CN" b="1" dirty="0">
              <a:cs typeface="+mn-ea"/>
              <a:sym typeface="+mn-lt"/>
            </a:endParaRPr>
          </a:p>
          <a:p>
            <a:r>
              <a:rPr lang="en-US" altLang="zh-CN" b="1" dirty="0">
                <a:cs typeface="+mn-ea"/>
                <a:sym typeface="+mn-lt"/>
              </a:rPr>
              <a:t>Confidence Loss</a:t>
            </a:r>
            <a:r>
              <a:rPr lang="zh-CN" altLang="en-US" b="1" dirty="0">
                <a:cs typeface="+mn-ea"/>
                <a:sym typeface="+mn-lt"/>
              </a:rPr>
              <a:t>：</a:t>
            </a:r>
            <a:endParaRPr lang="en-US" altLang="zh-CN" b="1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  <a:p>
            <a:r>
              <a:rPr lang="en-US" altLang="zh-CN" b="1" dirty="0">
                <a:cs typeface="+mn-ea"/>
                <a:sym typeface="+mn-lt"/>
              </a:rPr>
              <a:t>Localization Loss</a:t>
            </a:r>
            <a:r>
              <a:rPr lang="zh-CN" altLang="en-US" b="1" dirty="0">
                <a:cs typeface="+mn-ea"/>
                <a:sym typeface="+mn-lt"/>
              </a:rPr>
              <a:t>：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73142B-2D50-4151-8B36-52854DA5B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415" y="4450513"/>
            <a:ext cx="5930839" cy="201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877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E7EE-B4A6-40C7-80F9-086E6CDA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Data Augmentation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2AF74-AA44-4767-93E8-B562EA3BC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323" y="1537511"/>
            <a:ext cx="6243393" cy="32567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49CE62-75B0-4427-AA6E-9E2A7A08C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571" y="4794214"/>
            <a:ext cx="6942857" cy="2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33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0283-9610-46E8-8ACD-3364EB71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Data Augmentation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99F9-3C22-4B07-9D4A-0C9648D02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3113" y="3979878"/>
            <a:ext cx="5226699" cy="814970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cs typeface="+mn-ea"/>
                <a:sym typeface="+mn-lt"/>
              </a:rPr>
              <a:t>Random expansion creates more 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small</a:t>
            </a:r>
            <a:r>
              <a:rPr lang="en-US" altLang="zh-CN" dirty="0">
                <a:cs typeface="+mn-ea"/>
                <a:sym typeface="+mn-lt"/>
              </a:rPr>
              <a:t> training examples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985B6-10F5-4C40-B9F2-8C4F1FA3A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114" y="1620623"/>
            <a:ext cx="7711772" cy="23644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212A27-2635-4E9A-8AB5-DBF56880C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482" y="4794848"/>
            <a:ext cx="6417035" cy="202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67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7675-A6A1-4A21-A2DD-443D533C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Results on VOC2007 test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C6667-D092-4F62-B3F8-B5D5BC26E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82" y="2279172"/>
            <a:ext cx="10641835" cy="292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102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304armqu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5462</TotalTime>
  <Words>1314</Words>
  <Application>Microsoft Office PowerPoint</Application>
  <PresentationFormat>Widescreen</PresentationFormat>
  <Paragraphs>180</Paragraphs>
  <Slides>46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等线</vt:lpstr>
      <vt:lpstr>宋体</vt:lpstr>
      <vt:lpstr>Arial</vt:lpstr>
      <vt:lpstr>Cambria Math</vt:lpstr>
      <vt:lpstr>Times New Roman</vt:lpstr>
      <vt:lpstr>Wingdings</vt:lpstr>
      <vt:lpstr>Office Theme</vt:lpstr>
      <vt:lpstr>12、CNN-Based Object Detection (2)</vt:lpstr>
      <vt:lpstr>实时目标检测算法</vt:lpstr>
      <vt:lpstr>YOLO: You Only Look Once</vt:lpstr>
      <vt:lpstr>YOLO: You Only Look Once</vt:lpstr>
      <vt:lpstr>模型结构</vt:lpstr>
      <vt:lpstr>统一的框架（Unified Detection）</vt:lpstr>
      <vt:lpstr>统一的框架（Unified Detection）</vt:lpstr>
      <vt:lpstr>YOLO的工作原理</vt:lpstr>
      <vt:lpstr>YOLO的工作原理</vt:lpstr>
      <vt:lpstr>具体流程：</vt:lpstr>
      <vt:lpstr>具体流程：S*S grids</vt:lpstr>
      <vt:lpstr>具体流程： 每一个cell 预测B boxes (x,y,w,h) 和对应的confidences P(Object)</vt:lpstr>
      <vt:lpstr>PowerPoint Presentation</vt:lpstr>
      <vt:lpstr>具体流程：每一个cell 预测class probability</vt:lpstr>
      <vt:lpstr>具体流程： 融合box和class的预测</vt:lpstr>
      <vt:lpstr>具体流程： Threshold和NMS</vt:lpstr>
      <vt:lpstr>YOLO模型的训练</vt:lpstr>
      <vt:lpstr>1. Network Design: YOLO</vt:lpstr>
      <vt:lpstr>Pre-Training</vt:lpstr>
      <vt:lpstr>Pre-Training</vt:lpstr>
      <vt:lpstr>模型输出到物体检测结果</vt:lpstr>
      <vt:lpstr>2. Label Assignment</vt:lpstr>
      <vt:lpstr>2. Label Assignment</vt:lpstr>
      <vt:lpstr>2. Label Assignment</vt:lpstr>
      <vt:lpstr>2. Label Assignment</vt:lpstr>
      <vt:lpstr>3. Loss Function (sum-squared error)</vt:lpstr>
      <vt:lpstr>Loss Function (no-object)</vt:lpstr>
      <vt:lpstr>Loss Function (class probabilities)</vt:lpstr>
      <vt:lpstr>Loss Function (object)</vt:lpstr>
      <vt:lpstr>Strengths and Weaknesses</vt:lpstr>
      <vt:lpstr>Limitation of YOLO</vt:lpstr>
      <vt:lpstr>SSD: Single Shot MultiBox Detector</vt:lpstr>
      <vt:lpstr>Faster R-CNN</vt:lpstr>
      <vt:lpstr>SSD: Single Shot MultiBox Detector</vt:lpstr>
      <vt:lpstr>Network Architecture</vt:lpstr>
      <vt:lpstr>Network Architecture</vt:lpstr>
      <vt:lpstr>Anchor (Default) Boxes</vt:lpstr>
      <vt:lpstr>Anchor (Default) Boxes</vt:lpstr>
      <vt:lpstr>Multi-Scale Feature Maps</vt:lpstr>
      <vt:lpstr>通过卷积运算得到预测结果</vt:lpstr>
      <vt:lpstr>SSD的检测输出层</vt:lpstr>
      <vt:lpstr>SSD训练</vt:lpstr>
      <vt:lpstr>训练目标函数</vt:lpstr>
      <vt:lpstr>Data Augmentation</vt:lpstr>
      <vt:lpstr>Data Augmentation</vt:lpstr>
      <vt:lpstr>Results on VOC2007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CNN-Based Object Detection (2)</dc:title>
  <dc:creator>Luo Zhiming</dc:creator>
  <cp:lastModifiedBy>Luo Zhiming</cp:lastModifiedBy>
  <cp:revision>150</cp:revision>
  <dcterms:created xsi:type="dcterms:W3CDTF">2022-04-08T14:09:34Z</dcterms:created>
  <dcterms:modified xsi:type="dcterms:W3CDTF">2023-05-17T15:34:41Z</dcterms:modified>
</cp:coreProperties>
</file>