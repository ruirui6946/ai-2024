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8" r:id="rId3"/>
    <p:sldId id="259" r:id="rId4"/>
    <p:sldId id="593" r:id="rId5"/>
    <p:sldId id="594" r:id="rId6"/>
    <p:sldId id="595" r:id="rId7"/>
    <p:sldId id="598" r:id="rId8"/>
    <p:sldId id="599" r:id="rId9"/>
    <p:sldId id="561" r:id="rId10"/>
    <p:sldId id="600" r:id="rId11"/>
    <p:sldId id="571" r:id="rId12"/>
    <p:sldId id="582" r:id="rId13"/>
    <p:sldId id="603" r:id="rId14"/>
    <p:sldId id="581" r:id="rId15"/>
    <p:sldId id="604" r:id="rId16"/>
    <p:sldId id="261" r:id="rId17"/>
    <p:sldId id="605" r:id="rId18"/>
    <p:sldId id="601" r:id="rId19"/>
    <p:sldId id="602" r:id="rId20"/>
    <p:sldId id="578" r:id="rId21"/>
    <p:sldId id="606" r:id="rId22"/>
    <p:sldId id="569" r:id="rId23"/>
    <p:sldId id="608" r:id="rId24"/>
    <p:sldId id="570" r:id="rId25"/>
    <p:sldId id="583" r:id="rId26"/>
    <p:sldId id="641" r:id="rId27"/>
    <p:sldId id="625" r:id="rId28"/>
    <p:sldId id="627" r:id="rId29"/>
    <p:sldId id="628" r:id="rId30"/>
    <p:sldId id="631" r:id="rId31"/>
    <p:sldId id="632" r:id="rId32"/>
    <p:sldId id="633" r:id="rId33"/>
    <p:sldId id="634" r:id="rId34"/>
    <p:sldId id="635" r:id="rId35"/>
    <p:sldId id="636" r:id="rId36"/>
    <p:sldId id="637" r:id="rId37"/>
    <p:sldId id="638" r:id="rId38"/>
    <p:sldId id="640" r:id="rId39"/>
    <p:sldId id="607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10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114" y="26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E11BD5-6F82-4901-A3D2-B8A51D9E6FAA}" type="datetimeFigureOut">
              <a:rPr lang="zh-CN" altLang="en-US" smtClean="0"/>
              <a:t>2023-5-20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2AE9E-55A3-4AA1-9E3E-39DC727E2B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677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2AE9E-55A3-4AA1-9E3E-39DC727E2B4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564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DBCE3-C528-4BDC-950D-762334F95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6D5FD-A5FA-4A4F-9A53-61AC68134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5DAF0-046E-4B1A-9374-33C4116B4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ECC1-CF09-4C4C-8B39-4AA947E2C0FA}" type="datetimeFigureOut">
              <a:rPr lang="zh-CN" altLang="en-US" smtClean="0"/>
              <a:t>2023-5-20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F13FD-B955-4CD5-A18C-4A65D4240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6E007-1CC3-4384-AED4-B105F9BBA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A664-1BA1-41B2-9446-7B790D9739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724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F513A-5554-4A92-AE01-58B46BE6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48532-3CEA-49CE-BD99-02B45B70B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9E3C6-FA1A-48E6-91FE-CE4496928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ECC1-CF09-4C4C-8B39-4AA947E2C0FA}" type="datetimeFigureOut">
              <a:rPr lang="zh-CN" altLang="en-US" smtClean="0"/>
              <a:t>2023-5-20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B445-1631-430B-A7C8-29C45CD2B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E1718-552A-4328-A9AF-7E148702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A664-1BA1-41B2-9446-7B790D9739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995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C32F7-B424-4AA1-BD05-243FACE93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B414A-6887-456D-A3A3-F1B008ACE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0C3FA-E39A-4BDC-AF9D-0FC5F9F18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ECC1-CF09-4C4C-8B39-4AA947E2C0FA}" type="datetimeFigureOut">
              <a:rPr lang="zh-CN" altLang="en-US" smtClean="0"/>
              <a:t>2023-5-20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C9F94-4CDD-412F-A80E-C18C9F34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5900E-DB3E-442B-9D9A-F6855F086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A664-1BA1-41B2-9446-7B790D9739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520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1FCDA-9AE9-4634-A9B6-A9A5015E4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622B7-F321-46D9-B95A-55038799A3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04257-9796-49F3-891D-C8BD85D26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E939A-746F-4D5F-9E3B-79A6FF71F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ECC1-CF09-4C4C-8B39-4AA947E2C0FA}" type="datetimeFigureOut">
              <a:rPr lang="zh-CN" altLang="en-US" smtClean="0"/>
              <a:t>2023-5-20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14671-7133-4F75-AE35-FAF97917E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97EF1-8CEF-4226-9F05-132C2A272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A664-1BA1-41B2-9446-7B790D9739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485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1A1A4-7050-4179-A542-8E09FCB5F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53EBC-89A3-4E37-9ACF-CA0549A57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A8C278-9975-4448-9F88-8848BD738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69503D-95B7-4D14-8903-97FA9F0B9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C50100-5A48-44C9-8F27-45DB7B80EE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6E14DE-4287-4DF0-82D1-926F3CC9B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ECC1-CF09-4C4C-8B39-4AA947E2C0FA}" type="datetimeFigureOut">
              <a:rPr lang="zh-CN" altLang="en-US" smtClean="0"/>
              <a:t>2023-5-20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AD27F3-B340-4DD3-B8CB-9144B0A86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C2AEE0-D883-4ABA-9BC7-1A3D289AF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A664-1BA1-41B2-9446-7B790D9739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704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30EBF-7791-4D50-8346-68EE55A70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ADEEC4-CD08-4843-B9E8-7C884242B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ECC1-CF09-4C4C-8B39-4AA947E2C0FA}" type="datetimeFigureOut">
              <a:rPr lang="zh-CN" altLang="en-US" smtClean="0"/>
              <a:t>2023-5-20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70C1D2-D5F3-4FE8-942A-2674405DE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EFD36A-263E-44D7-9E21-D672D4D7C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A664-1BA1-41B2-9446-7B790D9739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424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E392BD-C323-4BA9-B2D4-46CB305D3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ECC1-CF09-4C4C-8B39-4AA947E2C0FA}" type="datetimeFigureOut">
              <a:rPr lang="zh-CN" altLang="en-US" smtClean="0"/>
              <a:t>2023-5-20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5E5402-E141-4276-82F3-D514608CF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0FE67-35DC-4B64-B39F-E8DDB31AD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A664-1BA1-41B2-9446-7B790D9739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886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5E4A6-2061-44C8-9541-853635516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D88D1-4CAF-492F-AD77-5AF3F6C14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E4533-0A69-407E-9EC9-F9E8C7A2B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B37F5-D365-4E10-AAD9-0357594A2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ECC1-CF09-4C4C-8B39-4AA947E2C0FA}" type="datetimeFigureOut">
              <a:rPr lang="zh-CN" altLang="en-US" smtClean="0"/>
              <a:t>2023-5-20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66825-1DC1-4C91-BAF5-472220CA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DEC00-CBF0-4533-ABE2-10EC5A92A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A664-1BA1-41B2-9446-7B790D9739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202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AB3B6-3EAB-4BA1-9147-7A3F54058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1713C2-1C61-4FF5-81E3-D22324F0B3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AC3A9-B0E6-437D-A37F-435C3D562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1072D-E66A-4812-8E06-BF3290BC6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ECC1-CF09-4C4C-8B39-4AA947E2C0FA}" type="datetimeFigureOut">
              <a:rPr lang="zh-CN" altLang="en-US" smtClean="0"/>
              <a:t>2023-5-20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4F687-13B6-4A2A-87A4-F8922B0FB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5CF17-AC1F-4C95-B0C9-05159E21D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A664-1BA1-41B2-9446-7B790D9739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562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DC512-8DB7-47FE-B85A-0F03A4380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553F4C-9CF5-43CE-B35F-FAF3719C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67C01-619E-46F9-AF8C-CBA16B7FB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ECC1-CF09-4C4C-8B39-4AA947E2C0FA}" type="datetimeFigureOut">
              <a:rPr lang="zh-CN" altLang="en-US" smtClean="0"/>
              <a:t>2023-5-20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F90C6-1D97-4E9B-A8CB-19A8AD83F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F5A0A-065D-4974-BA77-1BDD674B8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A664-1BA1-41B2-9446-7B790D9739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499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4C30FD-E8A9-4D93-ABAC-6CF2FEB93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5B6657-9278-4B7D-BDAA-C33E18218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67276-704C-492C-A8A6-F6EEEA19F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ECC1-CF09-4C4C-8B39-4AA947E2C0FA}" type="datetimeFigureOut">
              <a:rPr lang="zh-CN" altLang="en-US" smtClean="0"/>
              <a:t>2023-5-20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5F9AF-14F5-4755-A364-2770D893E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6A75B-2D0E-46D4-A592-82E89B74D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A664-1BA1-41B2-9446-7B790D9739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754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38BBD6-4D04-4AA8-8405-A89266B50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C0632-05EC-4C72-8B68-6EE8BAC20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D3F79-26B6-49A6-9585-EFE69BE5D9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7ECC1-CF09-4C4C-8B39-4AA947E2C0FA}" type="datetimeFigureOut">
              <a:rPr lang="zh-CN" altLang="en-US" smtClean="0"/>
              <a:t>2023-5-20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B094B-D37B-4DB1-AC4D-3F3C093DB9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D7AD2-A2F8-4CDD-B631-3F1629274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3A664-1BA1-41B2-9446-7B790D9739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965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himing.luo@xm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dres.me/images/style-transfer.gif" TargetMode="External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7labs.com/blog/neural-style-transfer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tutorials/advanced/neural_style_tutorial.html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6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tutorials/advanced/neural_style_tutorial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027E2-54C8-4759-A657-AB085FE08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85" y="1077913"/>
            <a:ext cx="9655629" cy="2387600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14. Neural Style Transfer (NST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）</a:t>
            </a:r>
            <a:br>
              <a:rPr lang="en-US" altLang="zh-CN" b="1" dirty="0">
                <a:latin typeface="+mn-lt"/>
                <a:ea typeface="+mn-ea"/>
                <a:cs typeface="+mn-ea"/>
                <a:sym typeface="+mn-lt"/>
              </a:rPr>
            </a:br>
            <a:r>
              <a:rPr lang="zh-CN" altLang="en-US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神经风格迁移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3CDF41-EE7E-49D1-918B-48D3438253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罗志明</a:t>
            </a:r>
            <a:endParaRPr lang="en-US" altLang="zh-CN" dirty="0">
              <a:cs typeface="+mn-ea"/>
              <a:sym typeface="+mn-lt"/>
            </a:endParaRPr>
          </a:p>
          <a:p>
            <a:r>
              <a:rPr lang="en-US" altLang="zh-CN" dirty="0">
                <a:cs typeface="+mn-ea"/>
                <a:sym typeface="+mn-lt"/>
                <a:hlinkClick r:id="rId2"/>
              </a:rPr>
              <a:t>zhiming.luo@xmu.edu.cn</a:t>
            </a:r>
            <a:endParaRPr lang="en-US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7670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15318-D5E7-48E9-AD82-757953F99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简介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87AEA-C0C8-44E5-B29D-598128C80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cs typeface="+mn-ea"/>
                <a:sym typeface="+mn-lt"/>
              </a:rPr>
              <a:t>将</a:t>
            </a:r>
            <a:r>
              <a:rPr lang="zh-CN" altLang="en-US" sz="3200" dirty="0">
                <a:solidFill>
                  <a:srgbClr val="0070C0"/>
                </a:solidFill>
                <a:cs typeface="+mn-ea"/>
                <a:sym typeface="+mn-lt"/>
              </a:rPr>
              <a:t>内容图像</a:t>
            </a:r>
            <a:r>
              <a:rPr lang="en-US" altLang="zh-CN" sz="3200" dirty="0">
                <a:solidFill>
                  <a:srgbClr val="0070C0"/>
                </a:solidFill>
                <a:cs typeface="+mn-ea"/>
                <a:sym typeface="+mn-lt"/>
              </a:rPr>
              <a:t>(content)</a:t>
            </a:r>
            <a:r>
              <a:rPr lang="zh-CN" altLang="en-US" sz="3200" dirty="0">
                <a:cs typeface="+mn-ea"/>
                <a:sym typeface="+mn-lt"/>
              </a:rPr>
              <a:t>转换成新的</a:t>
            </a:r>
            <a:r>
              <a:rPr lang="zh-CN" altLang="en-US" sz="3200" dirty="0">
                <a:solidFill>
                  <a:srgbClr val="7030A0"/>
                </a:solidFill>
                <a:cs typeface="+mn-ea"/>
                <a:sym typeface="+mn-lt"/>
              </a:rPr>
              <a:t>图像风格</a:t>
            </a:r>
            <a:r>
              <a:rPr lang="en-US" altLang="zh-CN" sz="3200" dirty="0">
                <a:solidFill>
                  <a:srgbClr val="7030A0"/>
                </a:solidFill>
                <a:cs typeface="+mn-ea"/>
                <a:sym typeface="+mn-lt"/>
              </a:rPr>
              <a:t>(Style)</a:t>
            </a:r>
            <a:endParaRPr lang="zh-CN" altLang="en-US" sz="3200" b="1" dirty="0">
              <a:solidFill>
                <a:srgbClr val="7030A0"/>
              </a:solidFill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8F6A22-4771-455B-B4FC-F4129A55D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66" y="2812667"/>
            <a:ext cx="2880000" cy="288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FBD20C-7D9A-4206-9A3A-FA54CF988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427" y="2812667"/>
            <a:ext cx="2880000" cy="2880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51E04A-2B2D-42D4-A6AB-C3A25F4FFE9A}"/>
              </a:ext>
            </a:extLst>
          </p:cNvPr>
          <p:cNvSpPr/>
          <p:nvPr/>
        </p:nvSpPr>
        <p:spPr>
          <a:xfrm>
            <a:off x="1667972" y="5721120"/>
            <a:ext cx="14237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cs typeface="+mn-ea"/>
                <a:sym typeface="+mn-lt"/>
              </a:rPr>
              <a:t>Content</a:t>
            </a:r>
            <a:endParaRPr lang="zh-CN" altLang="en-US" sz="2800" dirty="0">
              <a:cs typeface="+mn-ea"/>
              <a:sym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830B61-23E9-4402-9C69-76A1557A9605}"/>
              </a:ext>
            </a:extLst>
          </p:cNvPr>
          <p:cNvSpPr/>
          <p:nvPr/>
        </p:nvSpPr>
        <p:spPr>
          <a:xfrm>
            <a:off x="5619983" y="5682619"/>
            <a:ext cx="9428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cs typeface="+mn-ea"/>
                <a:sym typeface="+mn-lt"/>
              </a:rPr>
              <a:t>Style</a:t>
            </a:r>
            <a:endParaRPr lang="zh-CN" altLang="en-US" sz="2800" dirty="0"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529A72-1B1B-4AC7-974B-D183EE31012C}"/>
                  </a:ext>
                </a:extLst>
              </p:cNvPr>
              <p:cNvSpPr txBox="1"/>
              <p:nvPr/>
            </p:nvSpPr>
            <p:spPr>
              <a:xfrm>
                <a:off x="3911739" y="3819230"/>
                <a:ext cx="613950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8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</m:oMath>
                  </m:oMathPara>
                </a14:m>
                <a:endParaRPr lang="zh-CN" altLang="en-US" sz="4800" b="1" dirty="0">
                  <a:solidFill>
                    <a:srgbClr val="00B0F0"/>
                  </a:solidFill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529A72-1B1B-4AC7-974B-D183EE310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739" y="3819230"/>
                <a:ext cx="613950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1F0A8A-2AE1-43B9-943F-6D2193307C28}"/>
                  </a:ext>
                </a:extLst>
              </p:cNvPr>
              <p:cNvSpPr txBox="1"/>
              <p:nvPr/>
            </p:nvSpPr>
            <p:spPr>
              <a:xfrm>
                <a:off x="7743423" y="3819230"/>
                <a:ext cx="613951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8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</m:oMath>
                  </m:oMathPara>
                </a14:m>
                <a:endParaRPr lang="zh-CN" altLang="en-US" sz="4800" b="1" dirty="0">
                  <a:solidFill>
                    <a:srgbClr val="00B0F0"/>
                  </a:solidFill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1F0A8A-2AE1-43B9-943F-6D2193307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423" y="3819230"/>
                <a:ext cx="613951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491E8331-068E-4AC4-AA59-2CB45D2D22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222" y="2748562"/>
            <a:ext cx="2880000" cy="2880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DE68827-6531-41B6-BEBD-B9234B722869}"/>
              </a:ext>
            </a:extLst>
          </p:cNvPr>
          <p:cNvSpPr/>
          <p:nvPr/>
        </p:nvSpPr>
        <p:spPr>
          <a:xfrm>
            <a:off x="9296777" y="5721120"/>
            <a:ext cx="17988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B050"/>
                </a:solidFill>
                <a:cs typeface="+mn-ea"/>
                <a:sym typeface="+mn-lt"/>
              </a:rPr>
              <a:t>Generated</a:t>
            </a:r>
            <a:endParaRPr lang="zh-CN" altLang="en-US" sz="2800" dirty="0">
              <a:solidFill>
                <a:srgbClr val="00B05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366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31B18-0DA7-4458-BFB7-734C30BB8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简介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2" descr="alt text">
            <a:extLst>
              <a:ext uri="{FF2B5EF4-FFF2-40B4-BE49-F238E27FC236}">
                <a16:creationId xmlns:a16="http://schemas.microsoft.com/office/drawing/2014/main" id="{2E4F0086-A2D0-4898-9CCF-AACB5FD3C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394" y="1613685"/>
            <a:ext cx="7541212" cy="480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59EC4D-B48D-488B-9690-4FF0DFBFD919}"/>
              </a:ext>
            </a:extLst>
          </p:cNvPr>
          <p:cNvSpPr/>
          <p:nvPr/>
        </p:nvSpPr>
        <p:spPr>
          <a:xfrm>
            <a:off x="6704729" y="6581001"/>
            <a:ext cx="54872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err="1">
                <a:cs typeface="+mn-ea"/>
                <a:sym typeface="+mn-lt"/>
              </a:rPr>
              <a:t>Gatys</a:t>
            </a:r>
            <a:r>
              <a:rPr lang="en-US" altLang="zh-CN" sz="1200" dirty="0">
                <a:cs typeface="+mn-ea"/>
                <a:sym typeface="+mn-lt"/>
              </a:rPr>
              <a:t> et al. Image Style Transfer Using Convolutional Neural Networks.</a:t>
            </a:r>
            <a:r>
              <a:rPr lang="zh-CN" altLang="en-US" sz="1200" dirty="0">
                <a:cs typeface="+mn-ea"/>
                <a:sym typeface="+mn-lt"/>
              </a:rPr>
              <a:t> </a:t>
            </a:r>
            <a:r>
              <a:rPr lang="en-US" altLang="zh-CN" sz="1200" i="1" dirty="0">
                <a:cs typeface="+mn-ea"/>
                <a:sym typeface="+mn-lt"/>
              </a:rPr>
              <a:t>CVPR</a:t>
            </a:r>
            <a:r>
              <a:rPr lang="zh-CN" altLang="en-US" sz="1200" i="1" dirty="0">
                <a:cs typeface="+mn-ea"/>
                <a:sym typeface="+mn-lt"/>
              </a:rPr>
              <a:t> </a:t>
            </a:r>
            <a:r>
              <a:rPr lang="en-US" altLang="zh-CN" sz="1200" i="1" dirty="0">
                <a:cs typeface="+mn-ea"/>
                <a:sym typeface="+mn-lt"/>
              </a:rPr>
              <a:t>2016</a:t>
            </a:r>
            <a:r>
              <a:rPr lang="en-US" altLang="zh-CN" sz="1200" dirty="0">
                <a:cs typeface="+mn-ea"/>
                <a:sym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093CD-F568-4A3D-83C8-958B5436A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手机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Apps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39976-0A65-4788-A6F5-6334F1217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777" y="1867658"/>
            <a:ext cx="9906446" cy="462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577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77914-4F2B-49D1-A50D-0736DC2F9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手机</a:t>
            </a:r>
            <a:r>
              <a:rPr lang="en-US" altLang="zh-CN" b="1" dirty="0">
                <a:cs typeface="+mn-ea"/>
                <a:sym typeface="+mn-lt"/>
              </a:rPr>
              <a:t>Apps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15E7F4-606B-44F9-8925-0B46C0D1A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279" y="1690688"/>
            <a:ext cx="2293442" cy="4963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0DFBC6-175B-4FC8-A2EE-5CBAD4706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73" y="2654432"/>
            <a:ext cx="3657143" cy="18571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87DFEA-7370-4728-B553-A3B6B365B7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85" y="4122247"/>
            <a:ext cx="3359999" cy="252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1E48B7-7A2A-49DC-8D0D-FE6310E954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85" y="1536684"/>
            <a:ext cx="3361313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127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99572-FC10-4989-B63E-9EFF895AF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难点与挑战？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88B4D37-FD19-4397-83BC-39FEB4185521}"/>
              </a:ext>
            </a:extLst>
          </p:cNvPr>
          <p:cNvGrpSpPr/>
          <p:nvPr/>
        </p:nvGrpSpPr>
        <p:grpSpPr>
          <a:xfrm>
            <a:off x="313606" y="1690688"/>
            <a:ext cx="11564788" cy="4497331"/>
            <a:chOff x="344505" y="2015392"/>
            <a:chExt cx="11564788" cy="449733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B17BF5D-E83B-4DED-A59D-10270920D7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14248" y="2015392"/>
              <a:ext cx="3163503" cy="237262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6E5C3F9-6A4A-43AE-ADD7-DA72B85BE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4505" y="4692875"/>
              <a:ext cx="2606135" cy="1800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BD66CCA-1B6C-44EC-9C61-91C36B78B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27420" y="4712723"/>
              <a:ext cx="2269325" cy="1800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A87C0E6-E5E9-4396-9D0F-B3615C84D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46103" y="4712723"/>
              <a:ext cx="1463190" cy="1800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8950208-84CA-4EBF-950E-6A774C43E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73525" y="4695700"/>
              <a:ext cx="2738650" cy="1800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F9F25E9-A948-4ABD-9C2A-83C996D93B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88955" y="4712723"/>
              <a:ext cx="1380368" cy="1800000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2BD458F-1FBA-4686-9AE4-57D64953BC80}"/>
              </a:ext>
            </a:extLst>
          </p:cNvPr>
          <p:cNvSpPr/>
          <p:nvPr/>
        </p:nvSpPr>
        <p:spPr>
          <a:xfrm>
            <a:off x="6704729" y="6581001"/>
            <a:ext cx="54872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err="1">
                <a:cs typeface="+mn-ea"/>
                <a:sym typeface="+mn-lt"/>
              </a:rPr>
              <a:t>Gatys</a:t>
            </a:r>
            <a:r>
              <a:rPr lang="en-US" altLang="zh-CN" sz="1200" dirty="0">
                <a:cs typeface="+mn-ea"/>
                <a:sym typeface="+mn-lt"/>
              </a:rPr>
              <a:t> et al. Image Style Transfer Using Convolutional Neural Networks.</a:t>
            </a:r>
            <a:r>
              <a:rPr lang="zh-CN" altLang="en-US" sz="1200" dirty="0">
                <a:cs typeface="+mn-ea"/>
                <a:sym typeface="+mn-lt"/>
              </a:rPr>
              <a:t> </a:t>
            </a:r>
            <a:r>
              <a:rPr lang="en-US" altLang="zh-CN" sz="1200" i="1" dirty="0">
                <a:cs typeface="+mn-ea"/>
                <a:sym typeface="+mn-lt"/>
              </a:rPr>
              <a:t>CVPR</a:t>
            </a:r>
            <a:r>
              <a:rPr lang="zh-CN" altLang="en-US" sz="1200" i="1" dirty="0">
                <a:cs typeface="+mn-ea"/>
                <a:sym typeface="+mn-lt"/>
              </a:rPr>
              <a:t> </a:t>
            </a:r>
            <a:r>
              <a:rPr lang="en-US" altLang="zh-CN" sz="1200" i="1" dirty="0">
                <a:cs typeface="+mn-ea"/>
                <a:sym typeface="+mn-lt"/>
              </a:rPr>
              <a:t>2016</a:t>
            </a:r>
            <a:r>
              <a:rPr lang="en-US" altLang="zh-CN" sz="1200" dirty="0">
                <a:cs typeface="+mn-ea"/>
                <a:sym typeface="+mn-lt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65BE97-4F83-4A5F-B4E1-2DC12DE6175F}"/>
              </a:ext>
            </a:extLst>
          </p:cNvPr>
          <p:cNvSpPr txBox="1"/>
          <p:nvPr/>
        </p:nvSpPr>
        <p:spPr>
          <a:xfrm>
            <a:off x="563979" y="2283348"/>
            <a:ext cx="3427540" cy="1200329"/>
          </a:xfrm>
          <a:prstGeom prst="rect">
            <a:avLst/>
          </a:prstGeom>
          <a:noFill/>
          <a:ln w="28575"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cs typeface="+mn-ea"/>
                <a:sym typeface="+mn-lt"/>
              </a:rPr>
              <a:t>如何输入图像的</a:t>
            </a:r>
            <a:endParaRPr lang="en-US" altLang="zh-CN" sz="3600" b="1" dirty="0">
              <a:cs typeface="+mn-ea"/>
              <a:sym typeface="+mn-lt"/>
            </a:endParaRPr>
          </a:p>
          <a:p>
            <a:pPr algn="ctr"/>
            <a:r>
              <a:rPr lang="zh-CN" altLang="en-US" sz="3600" b="1" dirty="0">
                <a:solidFill>
                  <a:srgbClr val="0070C0"/>
                </a:solidFill>
                <a:cs typeface="+mn-ea"/>
                <a:sym typeface="+mn-lt"/>
              </a:rPr>
              <a:t>内容</a:t>
            </a:r>
            <a:r>
              <a:rPr lang="en-US" altLang="zh-CN" sz="3600" b="1" dirty="0">
                <a:solidFill>
                  <a:srgbClr val="0070C0"/>
                </a:solidFill>
                <a:cs typeface="+mn-ea"/>
                <a:sym typeface="+mn-lt"/>
              </a:rPr>
              <a:t>“Content”?</a:t>
            </a:r>
            <a:endParaRPr lang="zh-CN" altLang="en-US" sz="3600" b="1" dirty="0">
              <a:solidFill>
                <a:srgbClr val="0070C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86897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99572-FC10-4989-B63E-9EFF895AF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难点与挑战？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88B4D37-FD19-4397-83BC-39FEB4185521}"/>
              </a:ext>
            </a:extLst>
          </p:cNvPr>
          <p:cNvGrpSpPr/>
          <p:nvPr/>
        </p:nvGrpSpPr>
        <p:grpSpPr>
          <a:xfrm>
            <a:off x="313606" y="1690688"/>
            <a:ext cx="11564788" cy="4497331"/>
            <a:chOff x="344505" y="2015392"/>
            <a:chExt cx="11564788" cy="449733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B17BF5D-E83B-4DED-A59D-10270920D7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14248" y="2015392"/>
              <a:ext cx="3163503" cy="237262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6E5C3F9-6A4A-43AE-ADD7-DA72B85BE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4505" y="4692875"/>
              <a:ext cx="2606135" cy="1800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BD66CCA-1B6C-44EC-9C61-91C36B78B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27420" y="4712723"/>
              <a:ext cx="2269325" cy="1800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A87C0E6-E5E9-4396-9D0F-B3615C84D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46103" y="4712723"/>
              <a:ext cx="1463190" cy="1800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8950208-84CA-4EBF-950E-6A774C43E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73525" y="4695700"/>
              <a:ext cx="2738650" cy="1800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F9F25E9-A948-4ABD-9C2A-83C996D93B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88955" y="4712723"/>
              <a:ext cx="1380368" cy="1800000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2BD458F-1FBA-4686-9AE4-57D64953BC80}"/>
              </a:ext>
            </a:extLst>
          </p:cNvPr>
          <p:cNvSpPr/>
          <p:nvPr/>
        </p:nvSpPr>
        <p:spPr>
          <a:xfrm>
            <a:off x="6704729" y="6581001"/>
            <a:ext cx="54872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err="1">
                <a:cs typeface="+mn-ea"/>
                <a:sym typeface="+mn-lt"/>
              </a:rPr>
              <a:t>Gatys</a:t>
            </a:r>
            <a:r>
              <a:rPr lang="en-US" altLang="zh-CN" sz="1200" dirty="0">
                <a:cs typeface="+mn-ea"/>
                <a:sym typeface="+mn-lt"/>
              </a:rPr>
              <a:t> et al. Image Style Transfer Using Convolutional Neural Networks.</a:t>
            </a:r>
            <a:r>
              <a:rPr lang="zh-CN" altLang="en-US" sz="1200" dirty="0">
                <a:cs typeface="+mn-ea"/>
                <a:sym typeface="+mn-lt"/>
              </a:rPr>
              <a:t> </a:t>
            </a:r>
            <a:r>
              <a:rPr lang="en-US" altLang="zh-CN" sz="1200" i="1" dirty="0">
                <a:cs typeface="+mn-ea"/>
                <a:sym typeface="+mn-lt"/>
              </a:rPr>
              <a:t>CVPR</a:t>
            </a:r>
            <a:r>
              <a:rPr lang="zh-CN" altLang="en-US" sz="1200" i="1" dirty="0">
                <a:cs typeface="+mn-ea"/>
                <a:sym typeface="+mn-lt"/>
              </a:rPr>
              <a:t> </a:t>
            </a:r>
            <a:r>
              <a:rPr lang="en-US" altLang="zh-CN" sz="1200" i="1" dirty="0">
                <a:cs typeface="+mn-ea"/>
                <a:sym typeface="+mn-lt"/>
              </a:rPr>
              <a:t>2016</a:t>
            </a:r>
            <a:r>
              <a:rPr lang="en-US" altLang="zh-CN" sz="1200" dirty="0">
                <a:cs typeface="+mn-ea"/>
                <a:sym typeface="+mn-lt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697FD7-9D0D-40C6-96CD-D0DF7CBA4A6D}"/>
              </a:ext>
            </a:extLst>
          </p:cNvPr>
          <p:cNvSpPr txBox="1"/>
          <p:nvPr/>
        </p:nvSpPr>
        <p:spPr>
          <a:xfrm>
            <a:off x="8424657" y="2391035"/>
            <a:ext cx="3427540" cy="1200329"/>
          </a:xfrm>
          <a:prstGeom prst="rect">
            <a:avLst/>
          </a:prstGeom>
          <a:noFill/>
          <a:ln w="28575"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cs typeface="+mn-ea"/>
                <a:sym typeface="+mn-lt"/>
              </a:rPr>
              <a:t>如何表示图像的</a:t>
            </a:r>
            <a:endParaRPr lang="en-US" altLang="zh-CN" sz="3600" b="1" dirty="0">
              <a:cs typeface="+mn-ea"/>
              <a:sym typeface="+mn-lt"/>
            </a:endParaRPr>
          </a:p>
          <a:p>
            <a:pPr algn="ctr"/>
            <a:r>
              <a:rPr lang="zh-CN" altLang="en-US" sz="3600" b="1" dirty="0">
                <a:solidFill>
                  <a:srgbClr val="7030A0"/>
                </a:solidFill>
                <a:cs typeface="+mn-ea"/>
                <a:sym typeface="+mn-lt"/>
              </a:rPr>
              <a:t>风格</a:t>
            </a:r>
            <a:r>
              <a:rPr lang="en-US" altLang="zh-CN" sz="3600" b="1" dirty="0">
                <a:solidFill>
                  <a:srgbClr val="7030A0"/>
                </a:solidFill>
                <a:cs typeface="+mn-ea"/>
                <a:sym typeface="+mn-lt"/>
              </a:rPr>
              <a:t>“Style”?</a:t>
            </a:r>
            <a:endParaRPr lang="zh-CN" altLang="en-US" sz="3600" b="1" dirty="0">
              <a:solidFill>
                <a:srgbClr val="7030A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8760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C8059-6B7D-45B3-AAE6-452DC1732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NST: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 需要解决的问题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D567E-AE77-48B8-9430-CB9BBCFB1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如何从</a:t>
            </a:r>
            <a:r>
              <a:rPr lang="zh-CN" altLang="en-US" dirty="0">
                <a:solidFill>
                  <a:srgbClr val="0070C0"/>
                </a:solidFill>
                <a:cs typeface="+mn-ea"/>
                <a:sym typeface="+mn-lt"/>
              </a:rPr>
              <a:t>内容图像</a:t>
            </a:r>
            <a:r>
              <a:rPr lang="en-US" altLang="zh-CN" dirty="0">
                <a:solidFill>
                  <a:srgbClr val="0070C0"/>
                </a:solidFill>
                <a:cs typeface="+mn-ea"/>
                <a:sym typeface="+mn-lt"/>
              </a:rPr>
              <a:t>(content image)</a:t>
            </a:r>
            <a:r>
              <a:rPr lang="zh-CN" altLang="en-US" dirty="0">
                <a:cs typeface="+mn-ea"/>
                <a:sym typeface="+mn-lt"/>
              </a:rPr>
              <a:t>里面提取</a:t>
            </a:r>
            <a:r>
              <a:rPr lang="zh-CN" altLang="en-US" dirty="0">
                <a:solidFill>
                  <a:srgbClr val="0070C0"/>
                </a:solidFill>
                <a:cs typeface="+mn-ea"/>
                <a:sym typeface="+mn-lt"/>
              </a:rPr>
              <a:t>内容</a:t>
            </a:r>
            <a:r>
              <a:rPr lang="en-US" altLang="zh-CN" dirty="0">
                <a:solidFill>
                  <a:srgbClr val="0070C0"/>
                </a:solidFill>
                <a:cs typeface="+mn-ea"/>
                <a:sym typeface="+mn-lt"/>
              </a:rPr>
              <a:t>(content)</a:t>
            </a:r>
            <a:r>
              <a:rPr lang="zh-CN" altLang="en-US" dirty="0">
                <a:cs typeface="+mn-ea"/>
                <a:sym typeface="+mn-lt"/>
              </a:rPr>
              <a:t>？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如何从</a:t>
            </a:r>
            <a:r>
              <a:rPr lang="zh-CN" altLang="en-US" dirty="0">
                <a:solidFill>
                  <a:srgbClr val="7030A0"/>
                </a:solidFill>
                <a:cs typeface="+mn-ea"/>
                <a:sym typeface="+mn-lt"/>
              </a:rPr>
              <a:t>风格图像</a:t>
            </a:r>
            <a:r>
              <a:rPr lang="en-US" altLang="zh-CN" dirty="0">
                <a:solidFill>
                  <a:srgbClr val="7030A0"/>
                </a:solidFill>
                <a:cs typeface="+mn-ea"/>
                <a:sym typeface="+mn-lt"/>
              </a:rPr>
              <a:t>(style image)</a:t>
            </a:r>
            <a:r>
              <a:rPr lang="zh-CN" altLang="en-US" dirty="0">
                <a:cs typeface="+mn-ea"/>
                <a:sym typeface="+mn-lt"/>
              </a:rPr>
              <a:t>里面计算对应的</a:t>
            </a:r>
            <a:r>
              <a:rPr lang="zh-CN" altLang="en-US" dirty="0">
                <a:solidFill>
                  <a:srgbClr val="7030A0"/>
                </a:solidFill>
                <a:cs typeface="+mn-ea"/>
                <a:sym typeface="+mn-lt"/>
              </a:rPr>
              <a:t>风格</a:t>
            </a:r>
            <a:r>
              <a:rPr lang="en-US" altLang="zh-CN" dirty="0">
                <a:solidFill>
                  <a:srgbClr val="7030A0"/>
                </a:solidFill>
                <a:cs typeface="+mn-ea"/>
                <a:sym typeface="+mn-lt"/>
              </a:rPr>
              <a:t>(style)</a:t>
            </a:r>
            <a:r>
              <a:rPr lang="en-US" altLang="zh-CN" dirty="0">
                <a:cs typeface="+mn-ea"/>
                <a:sym typeface="+mn-lt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如何将</a:t>
            </a:r>
            <a:r>
              <a:rPr lang="zh-CN" altLang="en-US" dirty="0">
                <a:solidFill>
                  <a:srgbClr val="0070C0"/>
                </a:solidFill>
                <a:cs typeface="+mn-ea"/>
                <a:sym typeface="+mn-lt"/>
              </a:rPr>
              <a:t>内容</a:t>
            </a:r>
            <a:r>
              <a:rPr lang="en-US" altLang="zh-CN" dirty="0">
                <a:solidFill>
                  <a:srgbClr val="0070C0"/>
                </a:solidFill>
                <a:cs typeface="+mn-ea"/>
                <a:sym typeface="+mn-lt"/>
              </a:rPr>
              <a:t>(content)</a:t>
            </a:r>
            <a:r>
              <a:rPr lang="zh-CN" altLang="en-US" dirty="0">
                <a:cs typeface="+mn-ea"/>
                <a:sym typeface="+mn-lt"/>
              </a:rPr>
              <a:t>与</a:t>
            </a:r>
            <a:r>
              <a:rPr lang="zh-CN" altLang="en-US" dirty="0">
                <a:solidFill>
                  <a:srgbClr val="7030A0"/>
                </a:solidFill>
                <a:cs typeface="+mn-ea"/>
                <a:sym typeface="+mn-lt"/>
              </a:rPr>
              <a:t>风格</a:t>
            </a:r>
            <a:r>
              <a:rPr lang="en-US" altLang="zh-CN" dirty="0">
                <a:solidFill>
                  <a:srgbClr val="7030A0"/>
                </a:solidFill>
                <a:cs typeface="+mn-ea"/>
                <a:sym typeface="+mn-lt"/>
              </a:rPr>
              <a:t>(style)</a:t>
            </a:r>
            <a:r>
              <a:rPr lang="zh-CN" altLang="en-US" dirty="0">
                <a:cs typeface="+mn-ea"/>
                <a:sym typeface="+mn-lt"/>
              </a:rPr>
              <a:t>进行融合？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如何支持任意不同的</a:t>
            </a:r>
            <a:r>
              <a:rPr lang="zh-CN" altLang="en-US" dirty="0">
                <a:solidFill>
                  <a:srgbClr val="7030A0"/>
                </a:solidFill>
                <a:cs typeface="+mn-ea"/>
                <a:sym typeface="+mn-lt"/>
              </a:rPr>
              <a:t>图像风格</a:t>
            </a:r>
            <a:r>
              <a:rPr lang="en-US" altLang="zh-CN" dirty="0">
                <a:cs typeface="+mn-ea"/>
                <a:sym typeface="+mn-lt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如何实现快速计算？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21D5F5-7C6B-45F0-8450-B7A55ECCF9BD}"/>
              </a:ext>
            </a:extLst>
          </p:cNvPr>
          <p:cNvSpPr/>
          <p:nvPr/>
        </p:nvSpPr>
        <p:spPr>
          <a:xfrm>
            <a:off x="499115" y="5503631"/>
            <a:ext cx="111937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err="1">
                <a:cs typeface="+mn-ea"/>
                <a:sym typeface="+mn-lt"/>
              </a:rPr>
              <a:t>Gatys</a:t>
            </a:r>
            <a:r>
              <a:rPr lang="en-US" altLang="zh-CN" sz="2400" dirty="0">
                <a:cs typeface="+mn-ea"/>
                <a:sym typeface="+mn-lt"/>
              </a:rPr>
              <a:t> et al. </a:t>
            </a:r>
            <a:r>
              <a:rPr lang="en-US" altLang="zh-CN" sz="2400" b="1" dirty="0">
                <a:solidFill>
                  <a:srgbClr val="00B050"/>
                </a:solidFill>
                <a:cs typeface="+mn-ea"/>
                <a:sym typeface="+mn-lt"/>
              </a:rPr>
              <a:t>Image Style Transfer Using Convolutional Neural Networks.</a:t>
            </a:r>
            <a:r>
              <a:rPr lang="zh-CN" altLang="en-US" sz="2400" b="1" dirty="0">
                <a:solidFill>
                  <a:srgbClr val="00B050"/>
                </a:solidFill>
                <a:cs typeface="+mn-ea"/>
                <a:sym typeface="+mn-lt"/>
              </a:rPr>
              <a:t> </a:t>
            </a:r>
            <a:r>
              <a:rPr lang="en-US" altLang="zh-CN" sz="2400" i="1" dirty="0">
                <a:cs typeface="+mn-ea"/>
                <a:sym typeface="+mn-lt"/>
              </a:rPr>
              <a:t>CVPR</a:t>
            </a:r>
            <a:r>
              <a:rPr lang="zh-CN" altLang="en-US" sz="2400" i="1" dirty="0">
                <a:cs typeface="+mn-ea"/>
                <a:sym typeface="+mn-lt"/>
              </a:rPr>
              <a:t> </a:t>
            </a:r>
            <a:r>
              <a:rPr lang="en-US" altLang="zh-CN" sz="2400" i="1" dirty="0">
                <a:cs typeface="+mn-ea"/>
                <a:sym typeface="+mn-lt"/>
              </a:rPr>
              <a:t>2016</a:t>
            </a:r>
            <a:r>
              <a:rPr lang="en-US" altLang="zh-CN" sz="2400" dirty="0">
                <a:cs typeface="+mn-ea"/>
                <a:sym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7674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1D1F0-3766-48E1-90E1-97277D30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Neural Style Transfer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0EF746-4689-4EFB-9311-B3BAA20FB14E}"/>
              </a:ext>
            </a:extLst>
          </p:cNvPr>
          <p:cNvSpPr/>
          <p:nvPr/>
        </p:nvSpPr>
        <p:spPr>
          <a:xfrm>
            <a:off x="6704729" y="6581001"/>
            <a:ext cx="54872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err="1">
                <a:cs typeface="+mn-ea"/>
                <a:sym typeface="+mn-lt"/>
              </a:rPr>
              <a:t>Gatys</a:t>
            </a:r>
            <a:r>
              <a:rPr lang="en-US" altLang="zh-CN" sz="1200" dirty="0">
                <a:cs typeface="+mn-ea"/>
                <a:sym typeface="+mn-lt"/>
              </a:rPr>
              <a:t> et al. Image Style Transfer Using Convolutional Neural Networks.</a:t>
            </a:r>
            <a:r>
              <a:rPr lang="zh-CN" altLang="en-US" sz="1200" dirty="0">
                <a:cs typeface="+mn-ea"/>
                <a:sym typeface="+mn-lt"/>
              </a:rPr>
              <a:t> </a:t>
            </a:r>
            <a:r>
              <a:rPr lang="en-US" altLang="zh-CN" sz="1200" i="1" dirty="0">
                <a:cs typeface="+mn-ea"/>
                <a:sym typeface="+mn-lt"/>
              </a:rPr>
              <a:t>CVPR</a:t>
            </a:r>
            <a:r>
              <a:rPr lang="zh-CN" altLang="en-US" sz="1200" i="1" dirty="0">
                <a:cs typeface="+mn-ea"/>
                <a:sym typeface="+mn-lt"/>
              </a:rPr>
              <a:t> </a:t>
            </a:r>
            <a:r>
              <a:rPr lang="en-US" altLang="zh-CN" sz="1200" i="1" dirty="0">
                <a:cs typeface="+mn-ea"/>
                <a:sym typeface="+mn-lt"/>
              </a:rPr>
              <a:t>2016</a:t>
            </a:r>
            <a:r>
              <a:rPr lang="en-US" altLang="zh-CN" sz="1200" dirty="0">
                <a:cs typeface="+mn-ea"/>
                <a:sym typeface="+mn-lt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1934EE-1C4A-412A-9E1D-174D4851E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878" y="1611172"/>
            <a:ext cx="7073918" cy="48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09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685C8-7D2F-4360-A555-D6C50BB89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>
                <a:latin typeface="+mn-lt"/>
                <a:ea typeface="+mn-ea"/>
                <a:cs typeface="+mn-ea"/>
                <a:sym typeface="+mn-lt"/>
              </a:rPr>
              <a:t>Neural Style Transfer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013A47-54AD-43B4-9EE2-4C31CA9AB2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406" y="1817822"/>
            <a:ext cx="8085188" cy="454791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F1FD17-3CFD-40BE-BE7A-AB77BB29B7A2}"/>
              </a:ext>
            </a:extLst>
          </p:cNvPr>
          <p:cNvSpPr/>
          <p:nvPr/>
        </p:nvSpPr>
        <p:spPr>
          <a:xfrm>
            <a:off x="8224183" y="6492875"/>
            <a:ext cx="3967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cs typeface="+mn-ea"/>
                <a:sym typeface="+mn-lt"/>
                <a:hlinkClick r:id="rId3"/>
              </a:rPr>
              <a:t>https://ndres.me/images/style-transfer.gif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72995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FF823-5BC4-426E-9123-6F81005FF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Neural Style Transfer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4BBE65-42BC-40F1-BB76-9758EB83C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885" y="2281513"/>
            <a:ext cx="6514229" cy="361985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3487EC0-5EE1-48CC-961A-1DC642E9F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371486" cy="453163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方法</a:t>
            </a:r>
            <a:r>
              <a:rPr lang="en-US" altLang="zh-CN" b="1" dirty="0">
                <a:cs typeface="+mn-ea"/>
                <a:sym typeface="+mn-lt"/>
              </a:rPr>
              <a:t>: </a:t>
            </a:r>
            <a:r>
              <a:rPr lang="zh-CN" altLang="en-US" dirty="0">
                <a:cs typeface="+mn-ea"/>
                <a:sym typeface="+mn-lt"/>
              </a:rPr>
              <a:t>输入一张随机的噪声图像，通过</a:t>
            </a:r>
            <a:r>
              <a:rPr lang="zh-CN" altLang="en-US" dirty="0">
                <a:solidFill>
                  <a:srgbClr val="0070C0"/>
                </a:solidFill>
                <a:cs typeface="+mn-ea"/>
                <a:sym typeface="+mn-lt"/>
              </a:rPr>
              <a:t>内容图像</a:t>
            </a:r>
            <a:r>
              <a:rPr lang="en-US" altLang="zh-CN" dirty="0">
                <a:solidFill>
                  <a:srgbClr val="0070C0"/>
                </a:solidFill>
                <a:cs typeface="+mn-ea"/>
                <a:sym typeface="+mn-lt"/>
              </a:rPr>
              <a:t>(content image)</a:t>
            </a:r>
            <a:r>
              <a:rPr lang="zh-CN" altLang="en-US" dirty="0">
                <a:cs typeface="+mn-ea"/>
                <a:sym typeface="+mn-lt"/>
              </a:rPr>
              <a:t>与</a:t>
            </a:r>
            <a:r>
              <a:rPr lang="zh-CN" altLang="en-US" dirty="0">
                <a:solidFill>
                  <a:srgbClr val="7030A0"/>
                </a:solidFill>
                <a:cs typeface="+mn-ea"/>
                <a:sym typeface="+mn-lt"/>
              </a:rPr>
              <a:t>风格图像</a:t>
            </a:r>
            <a:r>
              <a:rPr lang="en-US" altLang="zh-CN" dirty="0">
                <a:solidFill>
                  <a:srgbClr val="7030A0"/>
                </a:solidFill>
                <a:cs typeface="+mn-ea"/>
                <a:sym typeface="+mn-lt"/>
              </a:rPr>
              <a:t>(style image)</a:t>
            </a:r>
            <a:r>
              <a:rPr lang="zh-CN" altLang="en-US" dirty="0">
                <a:cs typeface="+mn-ea"/>
                <a:sym typeface="+mn-lt"/>
              </a:rPr>
              <a:t>的指导进行迭代优化。</a:t>
            </a:r>
            <a:endParaRPr lang="zh-CN" altLang="en-US" dirty="0">
              <a:solidFill>
                <a:srgbClr val="7030A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1160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1A98-C3A1-4DB5-AC67-34E0CEE87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反向传播算法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(Back propagation)</a:t>
            </a:r>
            <a:endParaRPr lang="zh-CN" altLang="en-US" b="1" dirty="0">
              <a:solidFill>
                <a:srgbClr val="FF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2" name="Picture 2" descr="http://www.cs.princeton.edu/~tengyu/forblog/chain_rule_5.jpg">
            <a:extLst>
              <a:ext uri="{FF2B5EF4-FFF2-40B4-BE49-F238E27FC236}">
                <a16:creationId xmlns:a16="http://schemas.microsoft.com/office/drawing/2014/main" id="{60D17395-A30F-4098-9E7B-EC34C3CC6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119" y="2280025"/>
            <a:ext cx="2680889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图片 4">
            <a:extLst>
              <a:ext uri="{FF2B5EF4-FFF2-40B4-BE49-F238E27FC236}">
                <a16:creationId xmlns:a16="http://schemas.microsoft.com/office/drawing/2014/main" id="{4ABB6B3C-4F4D-4058-BFA2-CDF86950D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988" y="5484596"/>
            <a:ext cx="1843517" cy="720000"/>
          </a:xfrm>
          <a:prstGeom prst="rect">
            <a:avLst/>
          </a:prstGeom>
        </p:spPr>
      </p:pic>
      <p:pic>
        <p:nvPicPr>
          <p:cNvPr id="14" name="Picture 4" descr="http://www.cs.princeton.edu/~tengyu/forblog/weight5.jpg">
            <a:extLst>
              <a:ext uri="{FF2B5EF4-FFF2-40B4-BE49-F238E27FC236}">
                <a16:creationId xmlns:a16="http://schemas.microsoft.com/office/drawing/2014/main" id="{97D7BB71-2E40-4C76-8D13-FA6E610C8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517" y="2280025"/>
            <a:ext cx="2657779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图片 5">
            <a:extLst>
              <a:ext uri="{FF2B5EF4-FFF2-40B4-BE49-F238E27FC236}">
                <a16:creationId xmlns:a16="http://schemas.microsoft.com/office/drawing/2014/main" id="{DCF89E4C-1BC3-4886-A161-9A4CE8F8AD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4063" y="5438047"/>
            <a:ext cx="2880000" cy="72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8052CE-50EA-4391-961C-5CF47823CAFE}"/>
                  </a:ext>
                </a:extLst>
              </p:cNvPr>
              <p:cNvSpPr txBox="1"/>
              <p:nvPr/>
            </p:nvSpPr>
            <p:spPr>
              <a:xfrm>
                <a:off x="1201934" y="2263638"/>
                <a:ext cx="1802994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𝒚</m:t>
                      </m:r>
                      <m:r>
                        <a:rPr lang="en-US" altLang="zh-CN" sz="4000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r>
                        <a:rPr lang="en-US" altLang="zh-CN" sz="4000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𝒘𝒙</m:t>
                      </m:r>
                    </m:oMath>
                  </m:oMathPara>
                </a14:m>
                <a:endParaRPr lang="zh-CN" altLang="en-US" sz="4000" b="1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8052CE-50EA-4391-961C-5CF47823C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934" y="2263638"/>
                <a:ext cx="1802994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933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85C9D-3981-4F41-AE4D-5AB901D4E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图像内容的表示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(Content representation)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BEADA-EF4F-4BB1-A604-9259975E6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如何从</a:t>
            </a:r>
            <a:r>
              <a:rPr lang="zh-CN" altLang="en-US" dirty="0">
                <a:solidFill>
                  <a:srgbClr val="0070C0"/>
                </a:solidFill>
                <a:cs typeface="+mn-ea"/>
                <a:sym typeface="+mn-lt"/>
              </a:rPr>
              <a:t>内容图像</a:t>
            </a:r>
            <a:r>
              <a:rPr lang="en-US" altLang="zh-CN" dirty="0">
                <a:solidFill>
                  <a:srgbClr val="0070C0"/>
                </a:solidFill>
                <a:cs typeface="+mn-ea"/>
                <a:sym typeface="+mn-lt"/>
              </a:rPr>
              <a:t>(content image)</a:t>
            </a:r>
            <a:r>
              <a:rPr lang="zh-CN" altLang="en-US" dirty="0">
                <a:cs typeface="+mn-ea"/>
                <a:sym typeface="+mn-lt"/>
              </a:rPr>
              <a:t>里面提取</a:t>
            </a:r>
            <a:r>
              <a:rPr lang="zh-CN" altLang="en-US" dirty="0">
                <a:solidFill>
                  <a:srgbClr val="0070C0"/>
                </a:solidFill>
                <a:cs typeface="+mn-ea"/>
                <a:sym typeface="+mn-lt"/>
              </a:rPr>
              <a:t>内容</a:t>
            </a:r>
            <a:r>
              <a:rPr lang="en-US" altLang="zh-CN" dirty="0">
                <a:solidFill>
                  <a:srgbClr val="0070C0"/>
                </a:solidFill>
                <a:cs typeface="+mn-ea"/>
                <a:sym typeface="+mn-lt"/>
              </a:rPr>
              <a:t>(content)</a:t>
            </a:r>
            <a:r>
              <a:rPr lang="zh-CN" altLang="en-US" dirty="0">
                <a:cs typeface="+mn-ea"/>
                <a:sym typeface="+mn-lt"/>
              </a:rPr>
              <a:t>？</a:t>
            </a:r>
            <a:endParaRPr lang="en-US" altLang="zh-CN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99C370-9073-4E46-BDFA-53187C189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993" y="2539012"/>
            <a:ext cx="7168014" cy="407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625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B012A-6391-40F9-9ADA-E20B3E9F9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内容损失函数 </a:t>
            </a:r>
            <a:r>
              <a:rPr lang="en-US" altLang="zh-CN" b="1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(Content loss)</a:t>
            </a:r>
            <a:endParaRPr lang="zh-CN" altLang="en-US" b="1" dirty="0">
              <a:solidFill>
                <a:srgbClr val="0070C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2E800-C3EE-4371-86A0-7DF27DAAC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88466" cy="435133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>
                <a:cs typeface="+mn-ea"/>
                <a:sym typeface="+mn-lt"/>
              </a:rPr>
              <a:t>通过迭代优化，让</a:t>
            </a:r>
            <a:r>
              <a:rPr lang="zh-CN" altLang="en-US" b="1" dirty="0">
                <a:solidFill>
                  <a:srgbClr val="00B050"/>
                </a:solidFill>
                <a:cs typeface="+mn-ea"/>
                <a:sym typeface="+mn-lt"/>
              </a:rPr>
              <a:t>生成图像</a:t>
            </a:r>
            <a:r>
              <a:rPr lang="zh-CN" altLang="en-US" dirty="0">
                <a:cs typeface="+mn-ea"/>
                <a:sym typeface="+mn-lt"/>
              </a:rPr>
              <a:t>的高层特征与</a:t>
            </a:r>
            <a:r>
              <a:rPr lang="zh-CN" altLang="en-US" b="1" dirty="0">
                <a:solidFill>
                  <a:srgbClr val="0070C0"/>
                </a:solidFill>
                <a:cs typeface="+mn-ea"/>
                <a:sym typeface="+mn-lt"/>
              </a:rPr>
              <a:t>内容图像</a:t>
            </a:r>
            <a:r>
              <a:rPr lang="zh-CN" altLang="en-US" dirty="0">
                <a:cs typeface="+mn-ea"/>
                <a:sym typeface="+mn-lt"/>
              </a:rPr>
              <a:t>的高层特征一致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dirty="0">
                <a:cs typeface="+mn-ea"/>
                <a:sym typeface="+mn-lt"/>
              </a:rPr>
              <a:t>MSE</a:t>
            </a:r>
            <a:r>
              <a:rPr lang="zh-CN" altLang="en-US" dirty="0">
                <a:cs typeface="+mn-ea"/>
                <a:sym typeface="+mn-lt"/>
              </a:rPr>
              <a:t>损失函数</a:t>
            </a:r>
            <a:endParaRPr lang="en-US" altLang="zh-CN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007BFD-07E1-4205-9F99-CA731F8E9E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63" t="13578" r="21108" b="11461"/>
          <a:stretch/>
        </p:blipFill>
        <p:spPr>
          <a:xfrm>
            <a:off x="1151466" y="4001293"/>
            <a:ext cx="4775200" cy="90642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B25BEAA-85F0-4C10-BC77-4C1927BF8481}"/>
              </a:ext>
            </a:extLst>
          </p:cNvPr>
          <p:cNvGrpSpPr/>
          <p:nvPr/>
        </p:nvGrpSpPr>
        <p:grpSpPr>
          <a:xfrm>
            <a:off x="6176558" y="2360611"/>
            <a:ext cx="5905082" cy="3281363"/>
            <a:chOff x="6223544" y="2360612"/>
            <a:chExt cx="5905082" cy="328136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81D3BEA-2EFD-422F-9DF4-B55F82306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23544" y="2360612"/>
              <a:ext cx="5905082" cy="3281363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9C899B-7DA7-4565-A554-77D25E60C4D7}"/>
                </a:ext>
              </a:extLst>
            </p:cNvPr>
            <p:cNvSpPr/>
            <p:nvPr/>
          </p:nvSpPr>
          <p:spPr>
            <a:xfrm>
              <a:off x="9046759" y="2988733"/>
              <a:ext cx="2844800" cy="609600"/>
            </a:xfrm>
            <a:prstGeom prst="rect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03E22E57-85B0-4AE5-AC36-D3C528A92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5718" y="1529050"/>
            <a:ext cx="2585233" cy="59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167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85C9D-3981-4F41-AE4D-5AB901D4E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图像风格表示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(Style representation)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BEADA-EF4F-4BB1-A604-9259975E6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如何从</a:t>
            </a:r>
            <a:r>
              <a:rPr lang="zh-CN" altLang="en-US" dirty="0">
                <a:solidFill>
                  <a:srgbClr val="7030A0"/>
                </a:solidFill>
                <a:cs typeface="+mn-ea"/>
                <a:sym typeface="+mn-lt"/>
              </a:rPr>
              <a:t>风格图像</a:t>
            </a:r>
            <a:r>
              <a:rPr lang="en-US" altLang="zh-CN" dirty="0">
                <a:solidFill>
                  <a:srgbClr val="7030A0"/>
                </a:solidFill>
                <a:cs typeface="+mn-ea"/>
                <a:sym typeface="+mn-lt"/>
              </a:rPr>
              <a:t>(style image)</a:t>
            </a:r>
            <a:r>
              <a:rPr lang="zh-CN" altLang="en-US" dirty="0">
                <a:cs typeface="+mn-ea"/>
                <a:sym typeface="+mn-lt"/>
              </a:rPr>
              <a:t>里面计算对应的</a:t>
            </a:r>
            <a:r>
              <a:rPr lang="zh-CN" altLang="en-US" dirty="0">
                <a:solidFill>
                  <a:srgbClr val="7030A0"/>
                </a:solidFill>
                <a:cs typeface="+mn-ea"/>
                <a:sym typeface="+mn-lt"/>
              </a:rPr>
              <a:t>风格</a:t>
            </a:r>
            <a:r>
              <a:rPr lang="en-US" altLang="zh-CN" dirty="0">
                <a:solidFill>
                  <a:srgbClr val="7030A0"/>
                </a:solidFill>
                <a:cs typeface="+mn-ea"/>
                <a:sym typeface="+mn-lt"/>
              </a:rPr>
              <a:t>(style)</a:t>
            </a:r>
            <a:r>
              <a:rPr lang="en-US" altLang="zh-CN" dirty="0">
                <a:cs typeface="+mn-ea"/>
                <a:sym typeface="+mn-lt"/>
              </a:rPr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99C370-9073-4E46-BDFA-53187C189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814" y="2749255"/>
            <a:ext cx="6266372" cy="356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590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FABFA-FC6C-44B2-B4F6-201F64F08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Style representation -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Gram matrix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E9E746-BB0E-4A53-ACC1-EE45FD5D25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29200" cy="435133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00B0F0"/>
                    </a:solidFill>
                    <a:cs typeface="+mn-ea"/>
                    <a:sym typeface="+mn-lt"/>
                  </a:rPr>
                  <a:t>Gram matrix: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cs typeface="+mn-ea"/>
                    <a:sym typeface="+mn-lt"/>
                  </a:rPr>
                  <a:t>给定特征层</a:t>
                </a:r>
                <a:r>
                  <a:rPr lang="en-US" altLang="zh-CN" dirty="0">
                    <a:solidFill>
                      <a:schemeClr val="tx1"/>
                    </a:solidFill>
                    <a:cs typeface="+mn-ea"/>
                    <a:sym typeface="+mn-lt"/>
                  </a:rPr>
                  <a:t>layer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𝑙</m:t>
                    </m:r>
                  </m:oMath>
                </a14:m>
                <a:endParaRPr lang="en-US" altLang="zh-CN" b="1" dirty="0">
                  <a:solidFill>
                    <a:schemeClr val="tx1"/>
                  </a:solidFill>
                  <a:cs typeface="+mn-ea"/>
                  <a:sym typeface="+mn-lt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计算特征图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𝑖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𝑗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之间的相关性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E9E746-BB0E-4A53-ACC1-EE45FD5D25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29200" cy="4351338"/>
              </a:xfrm>
              <a:blipFill>
                <a:blip r:embed="rId2"/>
                <a:stretch>
                  <a:fillRect l="-2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302299B-91CA-41E9-89DD-77C7514F46CB}"/>
              </a:ext>
            </a:extLst>
          </p:cNvPr>
          <p:cNvGrpSpPr/>
          <p:nvPr/>
        </p:nvGrpSpPr>
        <p:grpSpPr>
          <a:xfrm>
            <a:off x="6172200" y="2260600"/>
            <a:ext cx="5905082" cy="3481387"/>
            <a:chOff x="6286918" y="2360611"/>
            <a:chExt cx="5905082" cy="348138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CFE6DA5-3116-4793-9575-BFDA9D426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918" y="2360612"/>
              <a:ext cx="5905082" cy="328136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3E4D713-9252-4514-9B6F-DEA275902C3B}"/>
                </a:ext>
              </a:extLst>
            </p:cNvPr>
            <p:cNvSpPr/>
            <p:nvPr/>
          </p:nvSpPr>
          <p:spPr>
            <a:xfrm>
              <a:off x="6324602" y="2360611"/>
              <a:ext cx="4165598" cy="3481387"/>
            </a:xfrm>
            <a:prstGeom prst="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6636EF4-BBAE-4B37-ADC9-5EA59829B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015" y="4001293"/>
            <a:ext cx="3198857" cy="108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529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205BF-75E4-4309-88E6-12FD1DB90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Style representation -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Gram matrix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88B43-94E9-494C-9FFC-48EDD0B92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6933" y="1825625"/>
            <a:ext cx="4986867" cy="42111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利用特征的分布来表示图像的风格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通过特征图之间的相关性来表示特征的分布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1E4F65-815E-4BCF-9128-EDA9B0B145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90" t="20491" r="4081" b="5324"/>
          <a:stretch/>
        </p:blipFill>
        <p:spPr>
          <a:xfrm>
            <a:off x="389466" y="2227119"/>
            <a:ext cx="5562601" cy="35483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6D857E-BB65-42B2-B55C-589CF9090D45}"/>
              </a:ext>
            </a:extLst>
          </p:cNvPr>
          <p:cNvSpPr/>
          <p:nvPr/>
        </p:nvSpPr>
        <p:spPr>
          <a:xfrm>
            <a:off x="6096000" y="649287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  <a:hlinkClick r:id="rId3"/>
              </a:rPr>
              <a:t>https://www.v7labs.com/blog/neural-style-transfer</a:t>
            </a:r>
            <a:r>
              <a:rPr lang="en-US" altLang="zh-CN" dirty="0">
                <a:cs typeface="+mn-ea"/>
                <a:sym typeface="+mn-lt"/>
                <a:hlinkClick r:id="rId3"/>
              </a:rPr>
              <a:t> 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5967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A262A-30CE-43FE-B891-EEE8D5F59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Gram matrix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– PyTorch Code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13433C-DF10-4A2E-BDDB-262B29E3B8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5292" y="1908112"/>
            <a:ext cx="9081415" cy="424715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DAC0415-4912-444D-BC3C-19BB7B897E71}"/>
              </a:ext>
            </a:extLst>
          </p:cNvPr>
          <p:cNvSpPr/>
          <p:nvPr/>
        </p:nvSpPr>
        <p:spPr>
          <a:xfrm>
            <a:off x="6086803" y="6488668"/>
            <a:ext cx="6105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cs typeface="+mn-ea"/>
                <a:sym typeface="+mn-lt"/>
                <a:hlinkClick r:id="rId3"/>
              </a:rPr>
              <a:t>https://pytorch.org/tutorials/advanced/neural_style_tutorial.html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7286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C62A6-3FF8-4DAA-A87E-EC9E6AAD9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风格损失函数 </a:t>
            </a:r>
            <a:r>
              <a:rPr lang="en-US" altLang="zh-CN" b="1" dirty="0">
                <a:cs typeface="+mn-ea"/>
                <a:sym typeface="+mn-lt"/>
              </a:rPr>
              <a:t>(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Style loss)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7E60E-A6B5-4E67-8A52-927C66741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340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通过迭代优化，让</a:t>
            </a:r>
            <a:r>
              <a:rPr lang="zh-CN" altLang="en-US" b="1" dirty="0">
                <a:solidFill>
                  <a:srgbClr val="00B050"/>
                </a:solidFill>
                <a:cs typeface="+mn-ea"/>
                <a:sym typeface="+mn-lt"/>
              </a:rPr>
              <a:t>生成图像</a:t>
            </a:r>
            <a:r>
              <a:rPr lang="zh-CN" altLang="en-US" dirty="0">
                <a:cs typeface="+mn-ea"/>
                <a:sym typeface="+mn-lt"/>
              </a:rPr>
              <a:t>的风格特征与</a:t>
            </a:r>
            <a:r>
              <a:rPr lang="zh-CN" altLang="en-US" b="1" dirty="0">
                <a:solidFill>
                  <a:srgbClr val="7030A0"/>
                </a:solidFill>
                <a:cs typeface="+mn-ea"/>
                <a:sym typeface="+mn-lt"/>
              </a:rPr>
              <a:t>风格图像</a:t>
            </a:r>
            <a:r>
              <a:rPr lang="zh-CN" altLang="en-US" dirty="0">
                <a:cs typeface="+mn-ea"/>
                <a:sym typeface="+mn-lt"/>
              </a:rPr>
              <a:t>的风格特征一致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A802E9C-B576-4D2F-AF1E-B0073F6F3519}"/>
              </a:ext>
            </a:extLst>
          </p:cNvPr>
          <p:cNvGrpSpPr/>
          <p:nvPr/>
        </p:nvGrpSpPr>
        <p:grpSpPr>
          <a:xfrm>
            <a:off x="6172200" y="2260600"/>
            <a:ext cx="5905082" cy="3481387"/>
            <a:chOff x="6286918" y="2360611"/>
            <a:chExt cx="5905082" cy="348138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96C2C61-AB00-4C72-8F72-369E87CDB7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918" y="2360612"/>
              <a:ext cx="5905082" cy="328136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75F71F9-9DF6-433A-92B7-D45CA2179BDB}"/>
                </a:ext>
              </a:extLst>
            </p:cNvPr>
            <p:cNvSpPr/>
            <p:nvPr/>
          </p:nvSpPr>
          <p:spPr>
            <a:xfrm>
              <a:off x="6324602" y="2360611"/>
              <a:ext cx="4165598" cy="3481387"/>
            </a:xfrm>
            <a:prstGeom prst="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26C314C-121D-451A-A301-2CBD3ADDB5E6}"/>
              </a:ext>
            </a:extLst>
          </p:cNvPr>
          <p:cNvGrpSpPr/>
          <p:nvPr/>
        </p:nvGrpSpPr>
        <p:grpSpPr>
          <a:xfrm>
            <a:off x="1566708" y="3932497"/>
            <a:ext cx="3876985" cy="1936238"/>
            <a:chOff x="1483638" y="3887230"/>
            <a:chExt cx="3876985" cy="193623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66AE829-105C-4B61-8A7A-F396B057A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3638" y="3887230"/>
              <a:ext cx="3876985" cy="86624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3A1AD12-BEA5-4CC2-A5AE-056BE37DF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3638" y="4753478"/>
              <a:ext cx="3215753" cy="10699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0835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CD93F-7960-4C58-B043-0E619AEC0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4000" b="1" dirty="0">
                <a:cs typeface="+mn-ea"/>
                <a:sym typeface="+mn-lt"/>
              </a:rPr>
              <a:t>如何将</a:t>
            </a:r>
            <a:r>
              <a:rPr lang="zh-CN" altLang="en-US" sz="4000" b="1" dirty="0">
                <a:solidFill>
                  <a:srgbClr val="0070C0"/>
                </a:solidFill>
                <a:cs typeface="+mn-ea"/>
                <a:sym typeface="+mn-lt"/>
              </a:rPr>
              <a:t>内容</a:t>
            </a:r>
            <a:r>
              <a:rPr lang="en-US" altLang="zh-CN" sz="4000" b="1" dirty="0">
                <a:solidFill>
                  <a:srgbClr val="0070C0"/>
                </a:solidFill>
                <a:cs typeface="+mn-ea"/>
                <a:sym typeface="+mn-lt"/>
              </a:rPr>
              <a:t>(content)</a:t>
            </a:r>
            <a:r>
              <a:rPr lang="zh-CN" altLang="en-US" sz="4000" b="1" dirty="0">
                <a:cs typeface="+mn-ea"/>
                <a:sym typeface="+mn-lt"/>
              </a:rPr>
              <a:t>与</a:t>
            </a:r>
            <a:r>
              <a:rPr lang="zh-CN" altLang="en-US" sz="4000" b="1" dirty="0">
                <a:solidFill>
                  <a:srgbClr val="7030A0"/>
                </a:solidFill>
                <a:cs typeface="+mn-ea"/>
                <a:sym typeface="+mn-lt"/>
              </a:rPr>
              <a:t>风格</a:t>
            </a:r>
            <a:r>
              <a:rPr lang="en-US" altLang="zh-CN" sz="4000" b="1" dirty="0">
                <a:solidFill>
                  <a:srgbClr val="7030A0"/>
                </a:solidFill>
                <a:cs typeface="+mn-ea"/>
                <a:sym typeface="+mn-lt"/>
              </a:rPr>
              <a:t>(style)</a:t>
            </a:r>
            <a:r>
              <a:rPr lang="zh-CN" altLang="en-US" sz="4000" b="1" dirty="0">
                <a:cs typeface="+mn-ea"/>
                <a:sym typeface="+mn-lt"/>
              </a:rPr>
              <a:t>进行融合？</a:t>
            </a:r>
            <a:endParaRPr lang="en-US" altLang="zh-CN" sz="4000" b="1" dirty="0">
              <a:cs typeface="+mn-ea"/>
              <a:sym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A8E8B4-FF95-4254-8054-7939360951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249" b="16317"/>
          <a:stretch/>
        </p:blipFill>
        <p:spPr>
          <a:xfrm>
            <a:off x="2221808" y="6145741"/>
            <a:ext cx="7748384" cy="5757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F22703-A120-4CC6-9611-1730005A1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816" y="1629426"/>
            <a:ext cx="7870367" cy="437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119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F6D1B-07C3-4E9F-9789-92C17B045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具体实现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C10BE-843C-43AB-98F3-799EC2ADA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0267" y="3171825"/>
            <a:ext cx="2946399" cy="1002242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>
                <a:cs typeface="+mn-ea"/>
                <a:sym typeface="+mn-lt"/>
              </a:rPr>
              <a:t>采用</a:t>
            </a:r>
            <a:r>
              <a:rPr lang="en-US" altLang="zh-CN" b="1" dirty="0">
                <a:cs typeface="+mn-ea"/>
                <a:sym typeface="+mn-lt"/>
              </a:rPr>
              <a:t>VGG-19</a:t>
            </a:r>
            <a:r>
              <a:rPr lang="zh-CN" altLang="en-US" b="1" dirty="0">
                <a:cs typeface="+mn-ea"/>
                <a:sym typeface="+mn-lt"/>
              </a:rPr>
              <a:t>用于特征提取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912EE9-97BD-4700-AE1F-9A7191E39E98}"/>
              </a:ext>
            </a:extLst>
          </p:cNvPr>
          <p:cNvGrpSpPr/>
          <p:nvPr/>
        </p:nvGrpSpPr>
        <p:grpSpPr>
          <a:xfrm>
            <a:off x="838200" y="2112432"/>
            <a:ext cx="6327849" cy="3627967"/>
            <a:chOff x="838200" y="2112432"/>
            <a:chExt cx="6327849" cy="362796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0E5EE8F-66FC-4782-BA71-B244B1183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112432"/>
              <a:ext cx="6327849" cy="3627967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3C4BA61-1CA1-44DC-9C8B-514C74AFFBB8}"/>
                </a:ext>
              </a:extLst>
            </p:cNvPr>
            <p:cNvSpPr/>
            <p:nvPr/>
          </p:nvSpPr>
          <p:spPr>
            <a:xfrm>
              <a:off x="931333" y="5096933"/>
              <a:ext cx="1794934" cy="228600"/>
            </a:xfrm>
            <a:prstGeom prst="rect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853632-4D33-4A9D-A3BD-B7CF9B50B9FE}"/>
                </a:ext>
              </a:extLst>
            </p:cNvPr>
            <p:cNvSpPr/>
            <p:nvPr/>
          </p:nvSpPr>
          <p:spPr>
            <a:xfrm>
              <a:off x="2870199" y="4834465"/>
              <a:ext cx="2929468" cy="228600"/>
            </a:xfrm>
            <a:prstGeom prst="rect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602F45-A921-4569-AB66-EF1C9238FEA8}"/>
                </a:ext>
              </a:extLst>
            </p:cNvPr>
            <p:cNvSpPr/>
            <p:nvPr/>
          </p:nvSpPr>
          <p:spPr>
            <a:xfrm>
              <a:off x="3843867" y="5054598"/>
              <a:ext cx="745066" cy="262468"/>
            </a:xfrm>
            <a:prstGeom prst="rect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6944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1D1F0-3766-48E1-90E1-97277D30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迁移结果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60AAB-0F26-42E6-A9BD-3FF4CBE84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722" y="1813027"/>
            <a:ext cx="6314555" cy="479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059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1D1F0-3766-48E1-90E1-97277D30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cs typeface="+mn-ea"/>
                <a:sym typeface="+mn-lt"/>
              </a:rPr>
              <a:t>迁移结果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A0B63E-2D9E-4792-8B98-2BD4EAF91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29" y="1843609"/>
            <a:ext cx="3237471" cy="216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4BAA98-8DCE-4351-9217-1509ABDE4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016" y="4337540"/>
            <a:ext cx="1839277" cy="23048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1B305F-13A4-40BA-BC29-181CB66F8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3329" y="1299976"/>
            <a:ext cx="2568838" cy="26603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095DA2-0E89-4C87-A6B8-83953BBEC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4962" y="4110319"/>
            <a:ext cx="2568838" cy="274768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35F14D1-97C9-445E-AD95-506D4DD728D5}"/>
              </a:ext>
            </a:extLst>
          </p:cNvPr>
          <p:cNvGrpSpPr/>
          <p:nvPr/>
        </p:nvGrpSpPr>
        <p:grpSpPr>
          <a:xfrm>
            <a:off x="5041592" y="1477235"/>
            <a:ext cx="3245070" cy="2526374"/>
            <a:chOff x="5454315" y="1433294"/>
            <a:chExt cx="3245070" cy="252637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01DA614-F19B-4C47-8E6A-E51CCC8B7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54315" y="1799668"/>
              <a:ext cx="3245070" cy="2160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FDE14F-6D38-4AD8-9DB8-EDA06AF9A9F8}"/>
                </a:ext>
              </a:extLst>
            </p:cNvPr>
            <p:cNvSpPr txBox="1"/>
            <p:nvPr/>
          </p:nvSpPr>
          <p:spPr>
            <a:xfrm>
              <a:off x="6548500" y="1433294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cs typeface="+mn-ea"/>
                  <a:sym typeface="+mn-lt"/>
                </a:rPr>
                <a:t>Conv2_2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230C3CA-AC19-4091-8961-A15E52DE2297}"/>
              </a:ext>
            </a:extLst>
          </p:cNvPr>
          <p:cNvGrpSpPr/>
          <p:nvPr/>
        </p:nvGrpSpPr>
        <p:grpSpPr>
          <a:xfrm>
            <a:off x="5041592" y="4152874"/>
            <a:ext cx="3245070" cy="2523417"/>
            <a:chOff x="5454315" y="4040045"/>
            <a:chExt cx="3245070" cy="252341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7B73A1E-8292-4334-AE59-7534DDD1C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54315" y="4403462"/>
              <a:ext cx="3245070" cy="2160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61203C-012C-4577-8E78-D7FCA47BA9E1}"/>
                </a:ext>
              </a:extLst>
            </p:cNvPr>
            <p:cNvSpPr txBox="1"/>
            <p:nvPr/>
          </p:nvSpPr>
          <p:spPr>
            <a:xfrm>
              <a:off x="6548500" y="4040045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cs typeface="+mn-ea"/>
                  <a:sym typeface="+mn-lt"/>
                </a:rPr>
                <a:t>Conv4_2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4370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1D1F0-3766-48E1-90E1-97277D30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cs typeface="+mn-ea"/>
                <a:sym typeface="+mn-lt"/>
              </a:rPr>
              <a:t>迁移结果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419D82-D14A-43C9-B4CA-E8CDE2DA69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249" b="16317"/>
          <a:stretch/>
        </p:blipFill>
        <p:spPr>
          <a:xfrm>
            <a:off x="1942408" y="1690688"/>
            <a:ext cx="7748384" cy="57573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BF6F6D8-BC28-43AC-908D-0788421A6290}"/>
              </a:ext>
            </a:extLst>
          </p:cNvPr>
          <p:cNvSpPr/>
          <p:nvPr/>
        </p:nvSpPr>
        <p:spPr>
          <a:xfrm>
            <a:off x="7509933" y="1699156"/>
            <a:ext cx="313267" cy="46460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6F36D4-AB89-4774-9B7F-C668CA937A7C}"/>
              </a:ext>
            </a:extLst>
          </p:cNvPr>
          <p:cNvSpPr/>
          <p:nvPr/>
        </p:nvSpPr>
        <p:spPr>
          <a:xfrm>
            <a:off x="4792134" y="1707622"/>
            <a:ext cx="313267" cy="46460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  <a:cs typeface="+mn-ea"/>
              <a:sym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A62339-D848-415C-9AA6-65F48C008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804" y="2566021"/>
            <a:ext cx="2520000" cy="189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DD1FF6-710C-4334-A9F8-C841FBBBD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804" y="4836584"/>
            <a:ext cx="2520000" cy="16562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08FACE-3A3A-47A1-B684-922878A1D202}"/>
                  </a:ext>
                </a:extLst>
              </p:cNvPr>
              <p:cNvSpPr txBox="1"/>
              <p:nvPr/>
            </p:nvSpPr>
            <p:spPr>
              <a:xfrm>
                <a:off x="10024533" y="4113751"/>
                <a:ext cx="88286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zh-CN" altLang="en-US" sz="32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zh-CN" altLang="en-US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𝜶</m:t>
                          </m:r>
                        </m:num>
                        <m:den>
                          <m:r>
                            <a:rPr lang="zh-CN" alt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𝜷</m:t>
                          </m:r>
                        </m:den>
                      </m:f>
                    </m:oMath>
                  </m:oMathPara>
                </a14:m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08FACE-3A3A-47A1-B684-922878A1D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4533" y="4113751"/>
                <a:ext cx="882869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81026FBA-AACD-4562-B981-9E0C986FAF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7342" y="2283355"/>
            <a:ext cx="5573450" cy="440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289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1C065-C1D9-4FFE-8028-FD8EA1B39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不足之处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8445F-F476-43C3-9109-26C3D369C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325533" cy="435133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dirty="0">
                <a:cs typeface="+mn-ea"/>
                <a:sym typeface="+mn-lt"/>
              </a:rPr>
              <a:t>计算量太大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7030A0"/>
                </a:solidFill>
                <a:cs typeface="+mn-ea"/>
                <a:sym typeface="+mn-lt"/>
              </a:rPr>
              <a:t>8.5s</a:t>
            </a:r>
            <a:r>
              <a:rPr lang="en-US" altLang="zh-CN" dirty="0">
                <a:cs typeface="+mn-ea"/>
                <a:sym typeface="+mn-lt"/>
              </a:rPr>
              <a:t> 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512*512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2080Ti GPU </a:t>
            </a:r>
            <a:r>
              <a:rPr lang="en-US" altLang="zh-CN" dirty="0">
                <a:solidFill>
                  <a:schemeClr val="accent4"/>
                </a:solidFill>
                <a:cs typeface="+mn-ea"/>
                <a:sym typeface="+mn-lt"/>
              </a:rPr>
              <a:t>(</a:t>
            </a:r>
            <a:r>
              <a:rPr lang="en-US" altLang="zh-CN" dirty="0" err="1">
                <a:solidFill>
                  <a:schemeClr val="accent4"/>
                </a:solidFill>
                <a:cs typeface="+mn-ea"/>
                <a:sym typeface="+mn-lt"/>
              </a:rPr>
              <a:t>iters</a:t>
            </a:r>
            <a:r>
              <a:rPr lang="en-US" altLang="zh-CN" dirty="0">
                <a:solidFill>
                  <a:schemeClr val="accent4"/>
                </a:solidFill>
                <a:cs typeface="+mn-ea"/>
                <a:sym typeface="+mn-lt"/>
              </a:rPr>
              <a:t>=300)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cs typeface="+mn-ea"/>
                <a:sym typeface="+mn-lt"/>
              </a:rPr>
              <a:t>GPU</a:t>
            </a:r>
            <a:r>
              <a:rPr lang="zh-CN" altLang="en-US" b="1" dirty="0">
                <a:cs typeface="+mn-ea"/>
                <a:sym typeface="+mn-lt"/>
              </a:rPr>
              <a:t>显存</a:t>
            </a:r>
            <a:r>
              <a:rPr lang="en-US" altLang="zh-CN" dirty="0">
                <a:cs typeface="+mn-ea"/>
                <a:sym typeface="+mn-lt"/>
              </a:rPr>
              <a:t>– Gram Matrix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0070C0"/>
                </a:solidFill>
                <a:cs typeface="+mn-ea"/>
                <a:sym typeface="+mn-lt"/>
              </a:rPr>
              <a:t>&gt;2300MB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382C8D-8CB4-414F-AD03-986AA4D54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288" y="1825625"/>
            <a:ext cx="6750791" cy="375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63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C8059-6B7D-45B3-AAE6-452DC1732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NST: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 需要解决的问题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D567E-AE77-48B8-9430-CB9BBCFB1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如何从</a:t>
            </a:r>
            <a:r>
              <a:rPr lang="zh-CN" altLang="en-US" dirty="0">
                <a:solidFill>
                  <a:srgbClr val="0070C0"/>
                </a:solidFill>
                <a:cs typeface="+mn-ea"/>
                <a:sym typeface="+mn-lt"/>
              </a:rPr>
              <a:t>内容图像</a:t>
            </a:r>
            <a:r>
              <a:rPr lang="en-US" altLang="zh-CN" dirty="0">
                <a:solidFill>
                  <a:srgbClr val="0070C0"/>
                </a:solidFill>
                <a:cs typeface="+mn-ea"/>
                <a:sym typeface="+mn-lt"/>
              </a:rPr>
              <a:t>(content image)</a:t>
            </a:r>
            <a:r>
              <a:rPr lang="zh-CN" altLang="en-US" dirty="0">
                <a:cs typeface="+mn-ea"/>
                <a:sym typeface="+mn-lt"/>
              </a:rPr>
              <a:t>里面提取</a:t>
            </a:r>
            <a:r>
              <a:rPr lang="zh-CN" altLang="en-US" dirty="0">
                <a:solidFill>
                  <a:srgbClr val="0070C0"/>
                </a:solidFill>
                <a:cs typeface="+mn-ea"/>
                <a:sym typeface="+mn-lt"/>
              </a:rPr>
              <a:t>内容</a:t>
            </a:r>
            <a:r>
              <a:rPr lang="en-US" altLang="zh-CN" dirty="0">
                <a:solidFill>
                  <a:srgbClr val="0070C0"/>
                </a:solidFill>
                <a:cs typeface="+mn-ea"/>
                <a:sym typeface="+mn-lt"/>
              </a:rPr>
              <a:t>(content)</a:t>
            </a:r>
            <a:r>
              <a:rPr lang="zh-CN" altLang="en-US" dirty="0">
                <a:cs typeface="+mn-ea"/>
                <a:sym typeface="+mn-lt"/>
              </a:rPr>
              <a:t>？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如何从</a:t>
            </a:r>
            <a:r>
              <a:rPr lang="zh-CN" altLang="en-US" dirty="0">
                <a:solidFill>
                  <a:srgbClr val="7030A0"/>
                </a:solidFill>
                <a:cs typeface="+mn-ea"/>
                <a:sym typeface="+mn-lt"/>
              </a:rPr>
              <a:t>风格图像</a:t>
            </a:r>
            <a:r>
              <a:rPr lang="en-US" altLang="zh-CN" dirty="0">
                <a:solidFill>
                  <a:srgbClr val="7030A0"/>
                </a:solidFill>
                <a:cs typeface="+mn-ea"/>
                <a:sym typeface="+mn-lt"/>
              </a:rPr>
              <a:t>(style image)</a:t>
            </a:r>
            <a:r>
              <a:rPr lang="zh-CN" altLang="en-US" dirty="0">
                <a:cs typeface="+mn-ea"/>
                <a:sym typeface="+mn-lt"/>
              </a:rPr>
              <a:t>里面计算对应的</a:t>
            </a:r>
            <a:r>
              <a:rPr lang="zh-CN" altLang="en-US" dirty="0">
                <a:solidFill>
                  <a:srgbClr val="7030A0"/>
                </a:solidFill>
                <a:cs typeface="+mn-ea"/>
                <a:sym typeface="+mn-lt"/>
              </a:rPr>
              <a:t>风格</a:t>
            </a:r>
            <a:r>
              <a:rPr lang="en-US" altLang="zh-CN" dirty="0">
                <a:solidFill>
                  <a:srgbClr val="7030A0"/>
                </a:solidFill>
                <a:cs typeface="+mn-ea"/>
                <a:sym typeface="+mn-lt"/>
              </a:rPr>
              <a:t>(style)</a:t>
            </a:r>
            <a:r>
              <a:rPr lang="en-US" altLang="zh-CN" dirty="0">
                <a:cs typeface="+mn-ea"/>
                <a:sym typeface="+mn-lt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如何将</a:t>
            </a:r>
            <a:r>
              <a:rPr lang="zh-CN" altLang="en-US" dirty="0">
                <a:solidFill>
                  <a:srgbClr val="0070C0"/>
                </a:solidFill>
                <a:cs typeface="+mn-ea"/>
                <a:sym typeface="+mn-lt"/>
              </a:rPr>
              <a:t>内容</a:t>
            </a:r>
            <a:r>
              <a:rPr lang="en-US" altLang="zh-CN" dirty="0">
                <a:solidFill>
                  <a:srgbClr val="0070C0"/>
                </a:solidFill>
                <a:cs typeface="+mn-ea"/>
                <a:sym typeface="+mn-lt"/>
              </a:rPr>
              <a:t>(content)</a:t>
            </a:r>
            <a:r>
              <a:rPr lang="zh-CN" altLang="en-US" dirty="0">
                <a:cs typeface="+mn-ea"/>
                <a:sym typeface="+mn-lt"/>
              </a:rPr>
              <a:t>与</a:t>
            </a:r>
            <a:r>
              <a:rPr lang="zh-CN" altLang="en-US" dirty="0">
                <a:solidFill>
                  <a:srgbClr val="7030A0"/>
                </a:solidFill>
                <a:cs typeface="+mn-ea"/>
                <a:sym typeface="+mn-lt"/>
              </a:rPr>
              <a:t>风格</a:t>
            </a:r>
            <a:r>
              <a:rPr lang="en-US" altLang="zh-CN" dirty="0">
                <a:solidFill>
                  <a:srgbClr val="7030A0"/>
                </a:solidFill>
                <a:cs typeface="+mn-ea"/>
                <a:sym typeface="+mn-lt"/>
              </a:rPr>
              <a:t>(style)</a:t>
            </a:r>
            <a:r>
              <a:rPr lang="zh-CN" altLang="en-US" dirty="0">
                <a:cs typeface="+mn-ea"/>
                <a:sym typeface="+mn-lt"/>
              </a:rPr>
              <a:t>进行融合？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如何支持任意不同的</a:t>
            </a:r>
            <a:r>
              <a:rPr lang="zh-CN" altLang="en-US" dirty="0">
                <a:solidFill>
                  <a:srgbClr val="7030A0"/>
                </a:solidFill>
                <a:cs typeface="+mn-ea"/>
                <a:sym typeface="+mn-lt"/>
              </a:rPr>
              <a:t>图像风格</a:t>
            </a:r>
            <a:r>
              <a:rPr lang="en-US" altLang="zh-CN" dirty="0">
                <a:cs typeface="+mn-ea"/>
                <a:sym typeface="+mn-lt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如何实现快速计算？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21D5F5-7C6B-45F0-8450-B7A55ECCF9BD}"/>
              </a:ext>
            </a:extLst>
          </p:cNvPr>
          <p:cNvSpPr/>
          <p:nvPr/>
        </p:nvSpPr>
        <p:spPr>
          <a:xfrm>
            <a:off x="499115" y="5503631"/>
            <a:ext cx="11248849" cy="4968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cs typeface="+mn-ea"/>
                <a:sym typeface="+mn-lt"/>
              </a:rPr>
              <a:t>Arbitrary Style Transfer in Real-time with Adaptive Instance Normalization </a:t>
            </a:r>
            <a:r>
              <a:rPr lang="en-US" altLang="zh-CN" sz="2400" i="1" dirty="0">
                <a:solidFill>
                  <a:srgbClr val="92D050"/>
                </a:solidFill>
                <a:cs typeface="+mn-ea"/>
                <a:sym typeface="+mn-lt"/>
              </a:rPr>
              <a:t>(CVPR 2017)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830604-DA48-471D-882D-F76C74BC9FF2}"/>
              </a:ext>
            </a:extLst>
          </p:cNvPr>
          <p:cNvSpPr/>
          <p:nvPr/>
        </p:nvSpPr>
        <p:spPr>
          <a:xfrm>
            <a:off x="838199" y="3766242"/>
            <a:ext cx="5381531" cy="13052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2292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89ED3-8C93-4143-B627-9F3D20DA4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通用框架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(General framework)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4A5733-6DCC-4C30-A692-CE88F7F61E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17270" y="1825623"/>
                <a:ext cx="6627134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rgbClr val="00B0F0"/>
                    </a:solidFill>
                    <a:cs typeface="+mn-ea"/>
                    <a:sym typeface="+mn-lt"/>
                  </a:rPr>
                  <a:t>Encoder: </a:t>
                </a:r>
                <a:r>
                  <a:rPr lang="zh-CN" altLang="en-US" dirty="0">
                    <a:cs typeface="+mn-ea"/>
                    <a:sym typeface="+mn-lt"/>
                  </a:rPr>
                  <a:t>提取</a:t>
                </a:r>
                <a:r>
                  <a:rPr lang="zh-CN" altLang="en-US" dirty="0">
                    <a:solidFill>
                      <a:schemeClr val="accent1"/>
                    </a:solidFill>
                    <a:cs typeface="+mn-ea"/>
                    <a:sym typeface="+mn-lt"/>
                  </a:rPr>
                  <a:t>内容图像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𝐼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1"/>
                    </a:solidFill>
                    <a:cs typeface="+mn-ea"/>
                    <a:sym typeface="+mn-lt"/>
                  </a:rPr>
                  <a:t> </a:t>
                </a:r>
                <a:r>
                  <a:rPr lang="zh-CN" altLang="en-US" dirty="0">
                    <a:cs typeface="+mn-ea"/>
                    <a:sym typeface="+mn-lt"/>
                  </a:rPr>
                  <a:t>与</a:t>
                </a:r>
                <a:r>
                  <a:rPr lang="zh-CN" altLang="en-US" dirty="0">
                    <a:solidFill>
                      <a:srgbClr val="7030A0"/>
                    </a:solidFill>
                    <a:cs typeface="+mn-ea"/>
                    <a:sym typeface="+mn-lt"/>
                  </a:rPr>
                  <a:t>风格图像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𝐼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𝑠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对应的特征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s</m:t>
                        </m:r>
                      </m:sub>
                    </m:sSub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rgbClr val="00B0F0"/>
                    </a:solidFill>
                    <a:cs typeface="+mn-ea"/>
                    <a:sym typeface="+mn-lt"/>
                  </a:rPr>
                  <a:t>Transform: </a:t>
                </a:r>
                <a:r>
                  <a:rPr lang="zh-CN" altLang="en-US" dirty="0">
                    <a:cs typeface="+mn-ea"/>
                    <a:sym typeface="+mn-lt"/>
                  </a:rPr>
                  <a:t>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s</m:t>
                        </m:r>
                      </m:sub>
                    </m:sSub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的信息迁移到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𝐹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𝑐</m:t>
                        </m:r>
                      </m:sub>
                    </m:sSub>
                  </m:oMath>
                </a14:m>
                <a:endParaRPr lang="en-US" altLang="zh-CN" dirty="0">
                  <a:solidFill>
                    <a:srgbClr val="00B0F0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rgbClr val="00B0F0"/>
                    </a:solidFill>
                    <a:cs typeface="+mn-ea"/>
                    <a:sym typeface="+mn-lt"/>
                  </a:rPr>
                  <a:t>Decoder: </a:t>
                </a:r>
                <a:r>
                  <a:rPr lang="zh-CN" altLang="en-US" dirty="0">
                    <a:cs typeface="+mn-ea"/>
                    <a:sym typeface="+mn-lt"/>
                  </a:rPr>
                  <a:t>解码得到最后的风格迁移后的图像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𝐼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𝑠𝑡𝑦𝑙𝑖𝑧𝑒𝑑</m:t>
                        </m:r>
                      </m:sub>
                    </m:sSub>
                  </m:oMath>
                </a14:m>
                <a:endParaRPr lang="en-US" altLang="zh-CN" dirty="0">
                  <a:solidFill>
                    <a:srgbClr val="00B0F0"/>
                  </a:solidFill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4A5733-6DCC-4C30-A692-CE88F7F61E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17270" y="1825623"/>
                <a:ext cx="6627134" cy="4351338"/>
              </a:xfrm>
              <a:blipFill>
                <a:blip r:embed="rId2"/>
                <a:stretch>
                  <a:fillRect l="-16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D3A4A34-60CF-4F68-948A-EBB636285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814" y="1710530"/>
            <a:ext cx="2001403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3476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A8637-CA00-47C9-AD14-C26BEF050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Batch Normalization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80D64-B0E4-4BE1-BEA4-8AA46E257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621867" cy="4351338"/>
          </a:xfrm>
        </p:spPr>
        <p:txBody>
          <a:bodyPr/>
          <a:lstStyle/>
          <a:p>
            <a:pPr marL="285750" indent="-285750">
              <a:lnSpc>
                <a:spcPct val="120000"/>
              </a:lnSpc>
            </a:pPr>
            <a:r>
              <a:rPr lang="zh-CN" altLang="en-US" dirty="0"/>
              <a:t>神经网络的训练更快并且更稳定</a:t>
            </a:r>
          </a:p>
        </p:txBody>
      </p:sp>
      <p:pic>
        <p:nvPicPr>
          <p:cNvPr id="4" name="图片 4">
            <a:extLst>
              <a:ext uri="{FF2B5EF4-FFF2-40B4-BE49-F238E27FC236}">
                <a16:creationId xmlns:a16="http://schemas.microsoft.com/office/drawing/2014/main" id="{C3A7DA94-2C1D-4CDC-A905-62E4DDC6B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632" y="1690688"/>
            <a:ext cx="5094862" cy="4036582"/>
          </a:xfrm>
          <a:prstGeom prst="rect">
            <a:avLst/>
          </a:prstGeom>
        </p:spPr>
      </p:pic>
      <p:sp>
        <p:nvSpPr>
          <p:cNvPr id="5" name="文本框 7">
            <a:extLst>
              <a:ext uri="{FF2B5EF4-FFF2-40B4-BE49-F238E27FC236}">
                <a16:creationId xmlns:a16="http://schemas.microsoft.com/office/drawing/2014/main" id="{C26C2195-BB09-4392-B76C-161EF1681815}"/>
              </a:ext>
            </a:extLst>
          </p:cNvPr>
          <p:cNvSpPr txBox="1"/>
          <p:nvPr/>
        </p:nvSpPr>
        <p:spPr>
          <a:xfrm>
            <a:off x="4854735" y="6581001"/>
            <a:ext cx="73372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cs typeface="+mn-ea"/>
                <a:sym typeface="+mn-lt"/>
              </a:rPr>
              <a:t>S. </a:t>
            </a:r>
            <a:r>
              <a:rPr lang="en-US" sz="1200" dirty="0" err="1">
                <a:cs typeface="+mn-ea"/>
                <a:sym typeface="+mn-lt"/>
              </a:rPr>
              <a:t>Ioffe</a:t>
            </a:r>
            <a:r>
              <a:rPr lang="en-US" sz="1200" dirty="0">
                <a:cs typeface="+mn-ea"/>
                <a:sym typeface="+mn-lt"/>
              </a:rPr>
              <a:t>, et al. “Batch normalization: Accelerating deep network training by reducing internal covariate shift”, </a:t>
            </a:r>
            <a:r>
              <a:rPr lang="en-US" sz="1200" i="1" dirty="0">
                <a:cs typeface="+mn-ea"/>
                <a:sym typeface="+mn-lt"/>
              </a:rPr>
              <a:t> 2015</a:t>
            </a:r>
          </a:p>
        </p:txBody>
      </p:sp>
      <p:pic>
        <p:nvPicPr>
          <p:cNvPr id="3074" name="Picture 2" descr="https://miro.medium.com/max/1400/1*TrjyZmHj_wInh6kFARuLZw.jpeg">
            <a:extLst>
              <a:ext uri="{FF2B5EF4-FFF2-40B4-BE49-F238E27FC236}">
                <a16:creationId xmlns:a16="http://schemas.microsoft.com/office/drawing/2014/main" id="{294498D4-56F7-42C8-9E61-30BFF9CD1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151" y="2921710"/>
            <a:ext cx="5725961" cy="190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8236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FDFD-4D6C-40F6-98D5-3B9F4FBC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样本归一化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(Instance Normalization)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55302E-3769-44F4-A1AC-D217EAAEB9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515599" cy="4351338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Instance Normalization</a:t>
                </a:r>
                <a:r>
                  <a:rPr lang="zh-CN" altLang="en-US" dirty="0">
                    <a:cs typeface="+mn-ea"/>
                    <a:sym typeface="+mn-lt"/>
                  </a:rPr>
                  <a:t>中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与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是在单样本的特征上计算得到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每一个特征通道的特征图分别进行计算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55302E-3769-44F4-A1AC-D217EAAEB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515599" cy="4351338"/>
              </a:xfrm>
              <a:blipFill>
                <a:blip r:embed="rId2"/>
                <a:stretch>
                  <a:fillRect l="-986" t="-980" r="-6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03D1763-102E-491A-B9FE-D9B9F6B3E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417" y="3224582"/>
            <a:ext cx="3561905" cy="8666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9A741F-6BC8-4765-B3D2-7BF2D223B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898" y="4248963"/>
            <a:ext cx="3069162" cy="823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A2CD3E-29F9-4CC6-86C6-507A8BCE5D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6897" y="5279823"/>
            <a:ext cx="4423829" cy="897140"/>
          </a:xfrm>
          <a:prstGeom prst="rect">
            <a:avLst/>
          </a:prstGeom>
        </p:spPr>
      </p:pic>
      <p:pic>
        <p:nvPicPr>
          <p:cNvPr id="4098" name="Picture 2" descr="https://www.baeldung.com/wp-content/uploads/sites/4/2021/06/instance-norm-300x287-1.png">
            <a:extLst>
              <a:ext uri="{FF2B5EF4-FFF2-40B4-BE49-F238E27FC236}">
                <a16:creationId xmlns:a16="http://schemas.microsoft.com/office/drawing/2014/main" id="{84F1753A-C648-4740-A4E3-BF78B6B7F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6891" y="3429000"/>
            <a:ext cx="2257841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www.baeldung.com/wp-content/uploads/sites/4/2021/06/batch-norm-300x291-1.png">
            <a:extLst>
              <a:ext uri="{FF2B5EF4-FFF2-40B4-BE49-F238E27FC236}">
                <a16:creationId xmlns:a16="http://schemas.microsoft.com/office/drawing/2014/main" id="{C5B56A9D-3CFD-49CE-BB8B-9FFA84DC7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8564" y="3429000"/>
            <a:ext cx="2226804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1165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39AA6-3E2D-4E0A-A87E-59407BAB6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Adaptive Instance Normalization (</a:t>
            </a:r>
            <a:r>
              <a:rPr lang="en-US" altLang="zh-CN" b="1" dirty="0" err="1">
                <a:latin typeface="+mn-lt"/>
                <a:ea typeface="+mn-ea"/>
                <a:cs typeface="+mn-ea"/>
                <a:sym typeface="+mn-lt"/>
              </a:rPr>
              <a:t>AdaIN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A93076-E95F-4A7A-BFEC-D838E31E36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内容图像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、风格图像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𝑦</m:t>
                    </m:r>
                  </m:oMath>
                </a14:m>
                <a:r>
                  <a:rPr lang="en-US" altLang="zh-CN" dirty="0">
                    <a:cs typeface="+mn-ea"/>
                    <a:sym typeface="+mn-lt"/>
                  </a:rPr>
                  <a:t>,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dirty="0" err="1">
                    <a:cs typeface="+mn-ea"/>
                    <a:sym typeface="+mn-lt"/>
                  </a:rPr>
                  <a:t>AdaIN</a:t>
                </a:r>
                <a:r>
                  <a:rPr lang="en-US" altLang="zh-CN" dirty="0">
                    <a:cs typeface="+mn-ea"/>
                    <a:sym typeface="+mn-lt"/>
                  </a:rPr>
                  <a:t>: </a:t>
                </a:r>
                <a:r>
                  <a:rPr lang="zh-CN" altLang="en-US" dirty="0">
                    <a:cs typeface="+mn-ea"/>
                    <a:sym typeface="+mn-lt"/>
                  </a:rPr>
                  <a:t>让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的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特征均值和方差与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𝑦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的一致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dirty="0" err="1">
                    <a:cs typeface="+mn-ea"/>
                    <a:sym typeface="+mn-lt"/>
                  </a:rPr>
                  <a:t>AdaIN</a:t>
                </a:r>
                <a:r>
                  <a:rPr lang="zh-CN" altLang="en-US" dirty="0">
                    <a:cs typeface="+mn-ea"/>
                    <a:sym typeface="+mn-lt"/>
                  </a:rPr>
                  <a:t>没有需要学习的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𝛽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en-US" altLang="zh-CN" dirty="0">
                    <a:cs typeface="+mn-ea"/>
                    <a:sym typeface="+mn-lt"/>
                  </a:rPr>
                  <a:t>, </a:t>
                </a:r>
                <a:r>
                  <a:rPr lang="zh-CN" altLang="en-US" dirty="0">
                    <a:cs typeface="+mn-ea"/>
                    <a:sym typeface="+mn-lt"/>
                  </a:rPr>
                  <a:t>直接使用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𝑦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计算得到的均值和方差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A93076-E95F-4A7A-BFEC-D838E31E36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4C3C560-A802-4EC8-8EE1-C55C2B350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586" y="4001294"/>
            <a:ext cx="7034827" cy="13863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EC1FD5-5752-46FE-8DE2-92DBEB3AC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567" y="1690688"/>
            <a:ext cx="4071691" cy="99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5999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03AC-AD65-4B3F-BF84-8365D4513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模型框架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Architecture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691CA7-CA4A-4D0E-84B8-868976A61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699" y="1855142"/>
            <a:ext cx="6224645" cy="44369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D1C089-52E8-4A8A-BB83-6FDC63ABE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552" y="1710529"/>
            <a:ext cx="2001403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52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3B561-E65C-445C-88E1-D8240691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模型框架 </a:t>
            </a:r>
            <a:r>
              <a:rPr lang="en-US" altLang="zh-CN" b="1" dirty="0">
                <a:cs typeface="+mn-ea"/>
                <a:sym typeface="+mn-lt"/>
              </a:rPr>
              <a:t>Architecture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08AE05-091E-4C67-B10A-03579B181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41" y="2708482"/>
            <a:ext cx="6070061" cy="24027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194A800-374F-4FCE-AFD6-852309E6F1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62527" y="1825625"/>
                <a:ext cx="4771175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3200" dirty="0">
                    <a:cs typeface="+mn-ea"/>
                    <a:sym typeface="+mn-lt"/>
                  </a:rPr>
                  <a:t>融合后的特征图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𝑡</m:t>
                    </m:r>
                  </m:oMath>
                </a14:m>
                <a:r>
                  <a:rPr lang="en-US" altLang="zh-CN" sz="3200" dirty="0">
                    <a:cs typeface="+mn-ea"/>
                    <a:sym typeface="+mn-lt"/>
                  </a:rPr>
                  <a:t>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sz="3200" dirty="0">
                  <a:cs typeface="+mn-ea"/>
                  <a:sym typeface="+mn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sz="3200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3200" dirty="0">
                    <a:cs typeface="+mn-ea"/>
                    <a:sym typeface="+mn-lt"/>
                  </a:rPr>
                  <a:t>Decoder:</a:t>
                </a:r>
                <a:endParaRPr lang="zh-CN" altLang="en-US" sz="3200" dirty="0"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194A800-374F-4FCE-AFD6-852309E6F1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62527" y="1825625"/>
                <a:ext cx="4771175" cy="4351338"/>
              </a:xfrm>
              <a:blipFill>
                <a:blip r:embed="rId3"/>
                <a:stretch>
                  <a:fillRect l="-2941" t="-14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098CF40-7C58-4524-861C-DA8CAFC25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703" y="2602206"/>
            <a:ext cx="3613559" cy="10078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27BFBC-CA22-4BFE-BD68-5428AB40AA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184" y="4673720"/>
            <a:ext cx="2749847" cy="100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7047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2272D-38A2-402D-A40F-1108EC211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模型训练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823E5-F55D-4707-9672-A1342C141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0832" cy="4351338"/>
          </a:xfrm>
        </p:spPr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Loss function</a:t>
            </a:r>
          </a:p>
          <a:p>
            <a:pPr marL="0" indent="0">
              <a:buNone/>
            </a:pPr>
            <a:endParaRPr lang="en-US" altLang="zh-CN" dirty="0">
              <a:cs typeface="+mn-ea"/>
              <a:sym typeface="+mn-lt"/>
            </a:endParaRPr>
          </a:p>
          <a:p>
            <a:r>
              <a:rPr lang="en-US" altLang="zh-CN" dirty="0">
                <a:cs typeface="+mn-ea"/>
                <a:sym typeface="+mn-lt"/>
              </a:rPr>
              <a:t>Content Loss</a:t>
            </a:r>
          </a:p>
          <a:p>
            <a:pPr marL="0" indent="0">
              <a:buNone/>
            </a:pPr>
            <a:endParaRPr lang="en-US" altLang="zh-CN" dirty="0">
              <a:cs typeface="+mn-ea"/>
              <a:sym typeface="+mn-lt"/>
            </a:endParaRPr>
          </a:p>
          <a:p>
            <a:r>
              <a:rPr lang="en-US" altLang="zh-CN" dirty="0">
                <a:cs typeface="+mn-ea"/>
                <a:sym typeface="+mn-lt"/>
              </a:rPr>
              <a:t>Style Loss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544BBC-D368-4A5A-9FE3-0B2F312880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482" b="13110"/>
          <a:stretch/>
        </p:blipFill>
        <p:spPr>
          <a:xfrm>
            <a:off x="3639611" y="1737268"/>
            <a:ext cx="3751043" cy="741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10DB99-E89A-4F39-9959-5C524F96F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892" y="2886476"/>
            <a:ext cx="3704762" cy="8095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4D4858-C36E-49DB-B9FB-0C72CA26F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554" y="4001294"/>
            <a:ext cx="6580156" cy="222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2137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9E1D1-89C7-4ADC-A870-15B202DAF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Results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7965E9-408D-4E89-AABD-D144C1455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841" y="1359185"/>
            <a:ext cx="6374317" cy="534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259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51984-DB13-4ECD-82B0-A76C15830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Results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585F8-9F25-4258-90CF-7D165FBF0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C6562D-5559-41C1-8C03-A3E188D85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191" y="2667960"/>
            <a:ext cx="6504762" cy="2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3684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EBFC6-6E8A-4BDF-A86A-4BC01EDC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Additional results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- Style interpolation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31DE3B-3C6B-4A6A-BD77-C80310507C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600" b="0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𝐾</m:t>
                    </m:r>
                  </m:oMath>
                </a14:m>
                <a:r>
                  <a:rPr lang="zh-CN" altLang="en-US" sz="3600" dirty="0">
                    <a:cs typeface="+mn-ea"/>
                    <a:sym typeface="+mn-lt"/>
                  </a:rPr>
                  <a:t>张风格图像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31DE3B-3C6B-4A6A-BD77-C80310507C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9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B12E1D8-FD04-4F25-B70F-9D4EA371B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619" y="2736386"/>
            <a:ext cx="8430762" cy="117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4392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EBFC6-6E8A-4BDF-A86A-4BC01EDC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Additional results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- Style interpolation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59BEA-C57D-49FC-97AC-54AE1A852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905" y="1690688"/>
            <a:ext cx="6876190" cy="4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8005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196DE-CA64-4E1D-95CD-5D552C8B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Additional results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– Spatial control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47AD4-4370-498E-BE81-257AED73D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572"/>
            <a:ext cx="10515600" cy="4351338"/>
          </a:xfrm>
        </p:spPr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Spatial control</a:t>
            </a:r>
            <a:endParaRPr lang="zh-CN" altLang="en-US" b="1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5F10A8-E291-4514-8EE1-D13FDB5D7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560" y="2442208"/>
            <a:ext cx="7952880" cy="428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6969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FC232-2B8F-4FB4-8085-2B6455CB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Resource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4A596-44EE-444E-A284-7B25775B5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>
                <a:cs typeface="+mn-ea"/>
                <a:sym typeface="+mn-lt"/>
              </a:rPr>
              <a:t>Gatys</a:t>
            </a:r>
            <a:r>
              <a:rPr lang="en-US" altLang="zh-CN" dirty="0">
                <a:cs typeface="+mn-ea"/>
                <a:sym typeface="+mn-lt"/>
              </a:rPr>
              <a:t> et al. </a:t>
            </a:r>
            <a:r>
              <a:rPr lang="en-US" altLang="zh-CN" dirty="0">
                <a:solidFill>
                  <a:srgbClr val="0070C0"/>
                </a:solidFill>
                <a:cs typeface="+mn-ea"/>
                <a:sym typeface="+mn-lt"/>
              </a:rPr>
              <a:t>Image Style Transfer Using Convolutional Neural Networks.</a:t>
            </a:r>
            <a:r>
              <a:rPr lang="en-US" altLang="zh-CN" dirty="0">
                <a:cs typeface="+mn-ea"/>
                <a:sym typeface="+mn-lt"/>
              </a:rPr>
              <a:t> CVPR 2016.</a:t>
            </a:r>
          </a:p>
          <a:p>
            <a:r>
              <a:rPr lang="en-US" altLang="zh-CN" dirty="0">
                <a:cs typeface="+mn-ea"/>
                <a:sym typeface="+mn-lt"/>
              </a:rPr>
              <a:t>Huang et al. </a:t>
            </a:r>
            <a:r>
              <a:rPr lang="en-US" altLang="zh-CN" dirty="0">
                <a:solidFill>
                  <a:srgbClr val="0070C0"/>
                </a:solidFill>
                <a:cs typeface="+mn-ea"/>
                <a:sym typeface="+mn-lt"/>
              </a:rPr>
              <a:t>Arbitrary Style Transfer in Real-time with Adaptive Instance Normalization.</a:t>
            </a:r>
            <a:r>
              <a:rPr lang="en-US" altLang="zh-CN" dirty="0">
                <a:cs typeface="+mn-ea"/>
                <a:sym typeface="+mn-lt"/>
              </a:rPr>
              <a:t> CVPR 2017.</a:t>
            </a:r>
          </a:p>
          <a:p>
            <a:r>
              <a:rPr lang="en-US" altLang="zh-CN" dirty="0">
                <a:cs typeface="+mn-ea"/>
                <a:sym typeface="+mn-lt"/>
                <a:hlinkClick r:id="rId2"/>
              </a:rPr>
              <a:t>https://pytorch.org/tutorials/advanced/neural_style_tutorial.html</a:t>
            </a:r>
            <a:endParaRPr lang="en-US" altLang="zh-CN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04663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4fqz5z2">
      <a:majorFont>
        <a:latin typeface="Times New Roman" panose="020F0302020204030204"/>
        <a:ea typeface="宋体"/>
        <a:cs typeface=""/>
      </a:majorFont>
      <a:minorFont>
        <a:latin typeface="Times New Roman" panose="020F0502020204030204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3185</TotalTime>
  <Words>1173</Words>
  <Application>Microsoft Office PowerPoint</Application>
  <PresentationFormat>Widescreen</PresentationFormat>
  <Paragraphs>117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等线</vt:lpstr>
      <vt:lpstr>宋体</vt:lpstr>
      <vt:lpstr>Arial</vt:lpstr>
      <vt:lpstr>Cambria Math</vt:lpstr>
      <vt:lpstr>Times New Roman</vt:lpstr>
      <vt:lpstr>Office Theme</vt:lpstr>
      <vt:lpstr>14. Neural Style Transfer (NST） 神经风格迁移</vt:lpstr>
      <vt:lpstr>简介</vt:lpstr>
      <vt:lpstr>简介</vt:lpstr>
      <vt:lpstr>手机Apps</vt:lpstr>
      <vt:lpstr>手机Apps</vt:lpstr>
      <vt:lpstr>难点与挑战？</vt:lpstr>
      <vt:lpstr>难点与挑战？</vt:lpstr>
      <vt:lpstr>NST: 需要解决的问题</vt:lpstr>
      <vt:lpstr>Neural Style Transfer</vt:lpstr>
      <vt:lpstr>Neural Style Transfer</vt:lpstr>
      <vt:lpstr>Neural Style Transfer</vt:lpstr>
      <vt:lpstr>反向传播算法 (Back propagation)</vt:lpstr>
      <vt:lpstr>图像内容的表示 (Content representation)</vt:lpstr>
      <vt:lpstr>内容损失函数 (Content loss)</vt:lpstr>
      <vt:lpstr>图像风格表示 (Style representation)</vt:lpstr>
      <vt:lpstr>Style representation - Gram matrix</vt:lpstr>
      <vt:lpstr>Style representation - Gram matrix</vt:lpstr>
      <vt:lpstr>Gram matrix – PyTorch Code</vt:lpstr>
      <vt:lpstr>风格损失函数 (Style loss)</vt:lpstr>
      <vt:lpstr>如何将内容(content)与风格(style)进行融合？</vt:lpstr>
      <vt:lpstr>具体实现</vt:lpstr>
      <vt:lpstr>迁移结果</vt:lpstr>
      <vt:lpstr>迁移结果</vt:lpstr>
      <vt:lpstr>迁移结果</vt:lpstr>
      <vt:lpstr>不足之处</vt:lpstr>
      <vt:lpstr>NST: 需要解决的问题</vt:lpstr>
      <vt:lpstr>通用框架 (General framework)</vt:lpstr>
      <vt:lpstr>Batch Normalization</vt:lpstr>
      <vt:lpstr>样本归一化 (Instance Normalization)</vt:lpstr>
      <vt:lpstr>Adaptive Instance Normalization (AdaIN)</vt:lpstr>
      <vt:lpstr>模型框架 Architecture</vt:lpstr>
      <vt:lpstr>模型框架 Architecture</vt:lpstr>
      <vt:lpstr>模型训练</vt:lpstr>
      <vt:lpstr>Results</vt:lpstr>
      <vt:lpstr>Results</vt:lpstr>
      <vt:lpstr>Additional results - Style interpolation</vt:lpstr>
      <vt:lpstr>Additional results - Style interpolation</vt:lpstr>
      <vt:lpstr>Additional results – Spatial control</vt:lpstr>
      <vt:lpstr>Resource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Synthesis: Neural Style Transfer</dc:title>
  <dc:creator>Luo Zhiming</dc:creator>
  <cp:lastModifiedBy>Luo Zhiming</cp:lastModifiedBy>
  <cp:revision>198</cp:revision>
  <dcterms:created xsi:type="dcterms:W3CDTF">2022-04-23T05:43:57Z</dcterms:created>
  <dcterms:modified xsi:type="dcterms:W3CDTF">2023-05-20T10:26:42Z</dcterms:modified>
</cp:coreProperties>
</file>