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3" r:id="rId2"/>
    <p:sldId id="265" r:id="rId3"/>
    <p:sldId id="267" r:id="rId4"/>
    <p:sldId id="270" r:id="rId5"/>
    <p:sldId id="271" r:id="rId6"/>
    <p:sldId id="272" r:id="rId7"/>
    <p:sldId id="278" r:id="rId8"/>
    <p:sldId id="273" r:id="rId9"/>
    <p:sldId id="281" r:id="rId10"/>
    <p:sldId id="279" r:id="rId11"/>
    <p:sldId id="277" r:id="rId12"/>
    <p:sldId id="276" r:id="rId13"/>
    <p:sldId id="274" r:id="rId14"/>
    <p:sldId id="275" r:id="rId15"/>
    <p:sldId id="280" r:id="rId16"/>
    <p:sldId id="282" r:id="rId17"/>
    <p:sldId id="26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7468"/>
    <a:srgbClr val="F2F2F2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707" autoAdjust="0"/>
  </p:normalViewPr>
  <p:slideViewPr>
    <p:cSldViewPr snapToGrid="0">
      <p:cViewPr varScale="1">
        <p:scale>
          <a:sx n="56" d="100"/>
          <a:sy n="56" d="100"/>
        </p:scale>
        <p:origin x="16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DBCEC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3DD-4ECC-975D-4A6E43EC2857}"/>
              </c:ext>
            </c:extLst>
          </c:dPt>
          <c:dPt>
            <c:idx val="1"/>
            <c:bubble3D val="0"/>
            <c:spPr>
              <a:solidFill>
                <a:srgbClr val="93756A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3DD-4ECC-975D-4A6E43EC2857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3DD-4ECC-975D-4A6E43EC28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rgbClr val="8989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Sheet1!$G$11:$G$12</c:f>
              <c:strCache>
                <c:ptCount val="2"/>
                <c:pt idx="0">
                  <c:v>学者症候群</c:v>
                </c:pt>
                <c:pt idx="1">
                  <c:v>其他</c:v>
                </c:pt>
              </c:strCache>
            </c:strRef>
          </c:cat>
          <c:val>
            <c:numRef>
              <c:f>Sheet1!$H$11:$H$12</c:f>
              <c:numCache>
                <c:formatCode>0%</c:formatCode>
                <c:ptCount val="2"/>
                <c:pt idx="0">
                  <c:v>0.1</c:v>
                </c:pt>
                <c:pt idx="1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DD-4ECC-975D-4A6E43EC2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DBCEC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38D-40E7-AD61-9401AD0AB10A}"/>
              </c:ext>
            </c:extLst>
          </c:dPt>
          <c:dPt>
            <c:idx val="1"/>
            <c:bubble3D val="0"/>
            <c:spPr>
              <a:solidFill>
                <a:srgbClr val="93756A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38D-40E7-AD61-9401AD0AB10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94A8012-4723-4B2C-8B31-048E3AC0326B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38D-40E7-AD61-9401AD0AB10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73E0095-4494-418E-B50C-462AF6427BC7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38D-40E7-AD61-9401AD0AB1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zh-CN" sz="1800" b="0" i="0" u="none" strike="noStrike" kern="1200" baseline="0">
                    <a:solidFill>
                      <a:srgbClr val="8989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Sheet1!$G$11:$G$12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Sheet1!$H$11:$H$12</c:f>
              <c:numCache>
                <c:formatCode>0%</c:formatCode>
                <c:ptCount val="2"/>
                <c:pt idx="0">
                  <c:v>0.85699999999999998</c:v>
                </c:pt>
                <c:pt idx="1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38D-40E7-AD61-9401AD0AB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DBCEC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5BF-4C25-A350-E491232EC7C9}"/>
              </c:ext>
            </c:extLst>
          </c:dPt>
          <c:dPt>
            <c:idx val="1"/>
            <c:bubble3D val="0"/>
            <c:spPr>
              <a:solidFill>
                <a:srgbClr val="93756A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5BF-4C25-A350-E491232EC7C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94A8012-4723-4B2C-8B31-048E3AC0326B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5BF-4C25-A350-E491232EC7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73E0095-4494-418E-B50C-462AF6427BC7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5BF-4C25-A350-E491232EC7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zh-CN" sz="1800" b="0" i="0" u="none" strike="noStrike" kern="1200" baseline="0">
                    <a:solidFill>
                      <a:srgbClr val="8989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Sheet1!$G$11:$G$12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Sheet1!$H$11:$H$12</c:f>
              <c:numCache>
                <c:formatCode>0%</c:formatCode>
                <c:ptCount val="2"/>
                <c:pt idx="0">
                  <c:v>0.85699999999999998</c:v>
                </c:pt>
                <c:pt idx="1">
                  <c:v>0.14299999999999999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BF-4C25-A350-E491232EC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DBCEC6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81FE-4004-8F40-1B846157B13E}"/>
              </c:ext>
            </c:extLst>
          </c:dPt>
          <c:dPt>
            <c:idx val="1"/>
            <c:bubble3D val="0"/>
            <c:spPr>
              <a:solidFill>
                <a:srgbClr val="93756A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81FE-4004-8F40-1B846157B1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94A8012-4723-4B2C-8B31-048E3AC0326B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1FE-4004-8F40-1B846157B1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73E0095-4494-418E-B50C-462AF6427BC7}" type="VALUE">
                      <a:rPr lang="en-US" altLang="zh-CN">
                        <a:solidFill>
                          <a:srgbClr val="917468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1FE-4004-8F40-1B846157B1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zh-CN" sz="1800" b="0" i="0" u="none" strike="noStrike" kern="1200" baseline="0">
                    <a:solidFill>
                      <a:srgbClr val="89898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Sheet1!$G$11:$G$12</c:f>
              <c:strCache>
                <c:ptCount val="2"/>
                <c:pt idx="0">
                  <c:v>男</c:v>
                </c:pt>
                <c:pt idx="1">
                  <c:v>女</c:v>
                </c:pt>
              </c:strCache>
            </c:strRef>
          </c:cat>
          <c:val>
            <c:numRef>
              <c:f>Sheet1!$H$11:$H$12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FE-4004-8F40-1B846157B1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9CF08-2D5C-4DA0-AD21-B1103E4A6010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C331C-FA7C-4F18-ACCB-1473FF8079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05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很多人都想过成为万里挑一的科学家：</a:t>
            </a:r>
            <a:endParaRPr lang="en-US" altLang="zh-CN" dirty="0"/>
          </a:p>
          <a:p>
            <a:r>
              <a:rPr lang="zh-CN" altLang="en-US" dirty="0"/>
              <a:t>打电话被雷劈了，然后就突然变成音乐大师，听一遍乐谱就能完整演奏。。。</a:t>
            </a:r>
            <a:endParaRPr lang="en-US" altLang="zh-CN" dirty="0"/>
          </a:p>
          <a:p>
            <a:r>
              <a:rPr lang="zh-CN" altLang="en-US" dirty="0"/>
              <a:t>学者技能通常存在于五个主要领域中的一个或多个领域：艺术、记忆、算术、音乐能力和空间技能。</a:t>
            </a:r>
            <a:endParaRPr lang="en-US" altLang="zh-CN" dirty="0"/>
          </a:p>
          <a:p>
            <a:r>
              <a:rPr lang="zh-CN" altLang="en-US" dirty="0"/>
              <a:t>最常见的学者是历法学者，即“人类日历”，他们可以快速准确地计算任何给定日期的星期几，或者回忆任何给定日期的个人记忆。</a:t>
            </a:r>
            <a:endParaRPr lang="en-US" altLang="zh-CN" dirty="0"/>
          </a:p>
          <a:p>
            <a:r>
              <a:rPr lang="zh-CN" altLang="en-US" dirty="0"/>
              <a:t>在空间能力方面，有位时运不济的仁兄被人背后敲了一闷棍，从此之后对空间的敏锐度暴增，可以轻松地还原自己看到过的三维物体，成为了知名雕塑大师；</a:t>
            </a:r>
            <a:endParaRPr lang="en-US" altLang="zh-CN" dirty="0"/>
          </a:p>
          <a:p>
            <a:r>
              <a:rPr lang="zh-CN" altLang="en-US" dirty="0"/>
              <a:t>突发性学者症。突然有一天，世界就发生了巨大的变化，一位</a:t>
            </a:r>
            <a:r>
              <a:rPr lang="en-US" altLang="zh-CN" dirty="0"/>
              <a:t>40</a:t>
            </a:r>
            <a:r>
              <a:rPr lang="zh-CN" altLang="en-US" dirty="0"/>
              <a:t>岁的女性突然对周围物品的颜色，纹理，材质的认识有了巨大改变，并且对绘画产生了巨大的欲望，这种欲望占据了清醒时候的每一刻。这种突发性学者症的平均发生年龄在</a:t>
            </a:r>
            <a:r>
              <a:rPr lang="en-US" altLang="zh-CN" dirty="0"/>
              <a:t>47</a:t>
            </a:r>
            <a:r>
              <a:rPr lang="zh-CN" altLang="en-US" dirty="0"/>
              <a:t>岁。</a:t>
            </a:r>
            <a:endParaRPr lang="en-US" altLang="zh-CN" dirty="0"/>
          </a:p>
          <a:p>
            <a:r>
              <a:rPr lang="zh-CN" altLang="en-US" dirty="0"/>
              <a:t>获得性学者症。</a:t>
            </a:r>
            <a:r>
              <a:rPr lang="en-US" altLang="zh-CN" dirty="0"/>
              <a:t>4</a:t>
            </a:r>
            <a:r>
              <a:rPr lang="zh-CN" altLang="en-US" dirty="0"/>
              <a:t>岁就确证癫痫的脑人在治疗过程中大脑被破坏，从而获得了对数字的惊人感觉，在他的世界里，数字都有着动态的有颜色的轮廓。然后怒背五个多小时，两万多位圆周率。</a:t>
            </a:r>
            <a:endParaRPr lang="en-US" altLang="zh-CN" dirty="0"/>
          </a:p>
          <a:p>
            <a:r>
              <a:rPr lang="zh-CN" altLang="en-US" dirty="0"/>
              <a:t>这些突发性学者症大多是左脑受伤，所以你找到成为天才的方法了吗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C331C-FA7C-4F18-ACCB-1473FF8079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18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特殊：</a:t>
            </a:r>
            <a:br>
              <a:rPr lang="en-US" altLang="zh-CN" dirty="0"/>
            </a:br>
            <a:r>
              <a:rPr lang="zh-CN" altLang="en-US" dirty="0"/>
              <a:t>电影情节：看一眼就输出</a:t>
            </a:r>
            <a:r>
              <a:rPr lang="en-US" altLang="zh-CN" dirty="0"/>
              <a:t>246</a:t>
            </a:r>
            <a:r>
              <a:rPr lang="zh-CN" altLang="en-US" dirty="0"/>
              <a:t>根牙签；一字不拉地背出</a:t>
            </a:r>
            <a:r>
              <a:rPr lang="en-US" altLang="zh-CN" dirty="0"/>
              <a:t>1.2</a:t>
            </a:r>
            <a:r>
              <a:rPr lang="zh-CN" altLang="en-US" dirty="0"/>
              <a:t>万本书；背出数年来航空公司的失事记录，包括时间，遇害人员姓名等等；</a:t>
            </a:r>
            <a:endParaRPr lang="en-US" altLang="zh-CN" dirty="0"/>
          </a:p>
          <a:p>
            <a:r>
              <a:rPr lang="zh-CN" altLang="en-US" dirty="0"/>
              <a:t>缺点：</a:t>
            </a:r>
            <a:endParaRPr lang="en-US" altLang="zh-CN" dirty="0"/>
          </a:p>
          <a:p>
            <a:r>
              <a:rPr lang="zh-CN" altLang="en-US" dirty="0"/>
              <a:t>机器学习上的过拟合；背电话簿和书本，记住牙签的数目有什么用，福尔摩斯的人物形象是知识领域非常奇怪，地球围着太阳转关他什么事，他只要记住伦敦每种土壤的味道颜色和质地即可。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C331C-FA7C-4F18-ACCB-1473FF8079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49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在发病之前，患者对艺术创作没有丝毫兴趣，也没有表现出任何才能。但在患者突发蛛网膜下腔出血后的几周内，他开始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在许多笔记本上写满诗歌，夸张而极具表现力地进行绘画创作，把几乎全部的时间都用来绘画和雕塑。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他不但充满了创作力，而且无法停止手中的创作。他渴望把所有的空间都填满自己的作品，这已经成了一种强迫症。他画满了家里所有的地板、墙砖、天花板，他疯狂的在所有能够绘画的地方创作，不仅仅用画笔和颜料，甚至用蜡油和烟火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这种疯狂最终让他的妻子无法忍受，离他而去。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在学者综合症的患者中，有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的人都会受到自闭症的困扰，而另外的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则具有智障或其他脑损伤的特征。根据这两个特征，他也将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学者综合症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分为了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智障学者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自闭学者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C331C-FA7C-4F18-ACCB-1473FF8079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有的学者通过脑电信号刺激的方式，来做到对左脑的暂时抑制，从而激发潜能：</a:t>
            </a:r>
            <a:br>
              <a:rPr lang="en-US" altLang="zh-CN" dirty="0"/>
            </a:b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澳大利亚脑科学家艾伦·斯奈德（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Allan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Synder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）曾进行过这样一个试验：通过一种叫做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跨颅磁刺激仪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Transcranial magnetic stimulation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TMS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人为地暂时抑制大脑前额叶和颞叶功能，在这些脑区受到抑制后，被试表现出了明显提高的绘画技能（更多的细节），发现了之前漏过的语法错误，对屏幕上斑点的计数结果也更加准确。斯奈德的解释是，跨颅磁刺激仪暂时性减低了左脑脑区的功能，而右脑的功能则相对提高，于是提高了被试的注意力和想象力。</a:t>
            </a:r>
            <a:b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这就是所谓“将右脑能力从左脑暴政中解放出来”。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C331C-FA7C-4F18-ACCB-1473FF8079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173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C331C-FA7C-4F18-ACCB-1473FF8079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2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3EF80-5E88-D3BC-6679-5C091BF00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C5957F-5BE8-FC93-CA94-8469BD4EB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F09372-47CC-7B36-AA8A-431583BF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1364D-9B49-B7A6-675E-654C7E4A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488969-1E4E-563E-E728-3D22E4C3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76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16315-3058-8BAD-CB21-D1C4CB61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344BE-88B0-18F1-E48E-ADA5F7197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9ACA51-8B7C-B80C-C36F-9892D047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426BD-FC1E-B7C9-42DA-998072B6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3A556-5DD7-AADA-7E81-F58C5CEA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0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4C03D-70DC-0722-F26E-5F143707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05C712-045A-2510-B84B-58EFF46D7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9A639-56D5-5855-DB81-8B7AC9CB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B4B79-7288-FA4B-F3D0-3A57CBED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6E7D6-993F-5FCF-D379-B772AEAA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4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35547-B60F-E9B8-15BD-27D2568A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18F5D-2EBE-4E97-72BA-9F9C63439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3793F-2D38-8F56-B5FD-74228AC4B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3834B3-69E1-04FD-3F60-D6ACE0F6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5C4D23-B1A7-BE9A-7E09-2167E20B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21FF85-7DAB-0639-C89F-48EB9FFF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40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E3484-352A-A6CD-5046-6CDBDC00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40C928-F64D-4371-A6CF-37DBBC61C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A2790C-A621-3B96-DAB7-176104A04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629064-E951-E5D2-4F90-163123959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F00E4B-90DD-3879-DE37-CAB0AB36B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1E356A-63E5-9621-7883-E05C969E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911D9B-9258-6005-2F98-9F9428FF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7D4349-CDC3-754A-1CD1-C1E9B47A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98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1B57C-DF8E-4809-3A70-74EE6900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E3C50E-2197-A1CC-D583-0393A01A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8DDD99-89B9-5C9C-AB46-BA5119BEE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E14D23-DA26-9D61-A77C-D4C3FA04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21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E801A-5C48-552A-8F9C-4ADD3529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85BDD8-41B2-D120-F6AE-AFC6EF9B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E10D31-DE1D-FF17-8E57-539A2918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89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0DE3D-D5E5-00CB-19AA-5697C38EB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433825-B0C8-D8C2-8A15-4B4D5112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A16172-3109-4F8C-D095-A3ED5CF7D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24C0B6-5D31-05A2-CA41-55F6EC82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A783B2-CFF2-32B2-126A-8B6CBFA0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E8EFC1-D302-529F-551A-F23C80D0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3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FAAF8-4610-E749-007B-25470AC6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128997-A079-B88C-B4F8-9A20A9DD4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A46A86-6303-20FA-51D1-5C0B7D234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30B23C-59B6-2F32-6F7B-98F44004D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3D5686-BC2B-8942-4665-11DD0F44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E39183-352A-0045-70A7-97C65218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3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8FCB3-8118-5BAC-F0DD-54A625BF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CE63DF-28AF-C842-D04A-994E6BD6D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36F7D-75AF-7E76-2942-FE18D10B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24E29E-B0C6-C29D-3BAF-9B5C6321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8F1D4-CB0A-7621-BAF9-657BF379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56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2BD6AE-956A-7DD6-05A0-62389449F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75A0E2-8035-95B3-74C8-19A51CDF0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3DDE5C-36B2-0504-E3A4-F6A5DB16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947A82-BDCC-0D9A-64E2-B8DCC784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87020C-0787-BAA3-AE91-B8BD27C5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3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B0B6DC-8C53-51C0-CCF5-2FBD380EE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2405E7-171E-5479-1FF7-C0AE743D0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8D9875-E026-4AD7-5F6B-1C6BB2F97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0312F-A44C-4122-BE23-347BF6633021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6C7BA-5596-5A5D-1A9E-003612EAA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866739-04DC-6022-9F8C-8196F101A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E0FD1-DC06-4E48-9065-A996ECBD8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7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37514" y="2475655"/>
            <a:ext cx="47169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solidFill>
                  <a:srgbClr val="9375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学者症候群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95398" y="3646635"/>
            <a:ext cx="960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9375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Savant Syndrome</a:t>
            </a:r>
            <a:endParaRPr lang="zh-CN" altLang="en-US" sz="3200" dirty="0">
              <a:solidFill>
                <a:srgbClr val="9375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685753" y="4481813"/>
            <a:ext cx="4820489" cy="370029"/>
          </a:xfrm>
          <a:prstGeom prst="roundRect">
            <a:avLst>
              <a:gd name="adj" fmla="val 50000"/>
            </a:avLst>
          </a:prstGeom>
          <a:solidFill>
            <a:srgbClr val="937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马承乾   刘丁铭   林铭烽   杜彧铉   李聪</a:t>
            </a:r>
          </a:p>
        </p:txBody>
      </p:sp>
    </p:spTree>
    <p:extLst>
      <p:ext uri="{BB962C8B-B14F-4D97-AF65-F5344CB8AC3E}">
        <p14:creationId xmlns:p14="http://schemas.microsoft.com/office/powerpoint/2010/main" val="8803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1435100" y="2920995"/>
            <a:ext cx="1955799" cy="1955799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76915" y="3508106"/>
            <a:ext cx="1655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74957" y="2040047"/>
            <a:ext cx="314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什么是学者症候群</a:t>
            </a:r>
          </a:p>
        </p:txBody>
      </p:sp>
      <p:sp>
        <p:nvSpPr>
          <p:cNvPr id="9" name="椭圆 8"/>
          <p:cNvSpPr/>
          <p:nvPr/>
        </p:nvSpPr>
        <p:spPr>
          <a:xfrm>
            <a:off x="6406834" y="1933827"/>
            <a:ext cx="682908" cy="682908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66831" y="2079041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微软雅黑" panose="020F0502020204030204"/>
                <a:ea typeface="微软雅黑"/>
                <a:cs typeface="+mn-ea"/>
                <a:sym typeface="+mn-lt"/>
              </a:rPr>
              <a:t>01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406834" y="3016222"/>
            <a:ext cx="682908" cy="682908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66831" y="3161436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微软雅黑" panose="020F0502020204030204"/>
                <a:ea typeface="微软雅黑"/>
                <a:cs typeface="+mn-ea"/>
                <a:sym typeface="+mn-lt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405175" y="4098617"/>
            <a:ext cx="682908" cy="682908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65172" y="4243831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微软雅黑" panose="020F0502020204030204"/>
                <a:ea typeface="微软雅黑"/>
                <a:cs typeface="+mn-ea"/>
                <a:sym typeface="+mn-lt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405175" y="5182172"/>
            <a:ext cx="682908" cy="682908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65172" y="5327386"/>
            <a:ext cx="555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微软雅黑" panose="020F0502020204030204"/>
                <a:ea typeface="微软雅黑"/>
                <a:cs typeface="+mn-ea"/>
                <a:sym typeface="+mn-lt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微软雅黑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3AA288-1406-15C9-880E-3E5865A91821}"/>
              </a:ext>
            </a:extLst>
          </p:cNvPr>
          <p:cNvSpPr txBox="1"/>
          <p:nvPr/>
        </p:nvSpPr>
        <p:spPr>
          <a:xfrm>
            <a:off x="7374957" y="3085560"/>
            <a:ext cx="314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学者症候群的病理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88F5FA-12AF-35F5-B120-5D916A183510}"/>
              </a:ext>
            </a:extLst>
          </p:cNvPr>
          <p:cNvSpPr txBox="1"/>
          <p:nvPr/>
        </p:nvSpPr>
        <p:spPr>
          <a:xfrm>
            <a:off x="7374957" y="4208697"/>
            <a:ext cx="314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学者症候群的特征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3F44B0-03CA-B04C-E68B-CE92F74EA19E}"/>
              </a:ext>
            </a:extLst>
          </p:cNvPr>
          <p:cNvSpPr txBox="1"/>
          <p:nvPr/>
        </p:nvSpPr>
        <p:spPr>
          <a:xfrm>
            <a:off x="7374956" y="5262016"/>
            <a:ext cx="3147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问答环节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93756A"/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333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0" name="PA_文本框 2"/>
          <p:cNvSpPr txBox="1"/>
          <p:nvPr>
            <p:custDataLst>
              <p:tags r:id="rId1"/>
            </p:custDataLst>
          </p:nvPr>
        </p:nvSpPr>
        <p:spPr>
          <a:xfrm>
            <a:off x="3086031" y="2505669"/>
            <a:ext cx="6019934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什么是学者症候群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099392" y="3676141"/>
            <a:ext cx="1993211" cy="394635"/>
          </a:xfrm>
          <a:prstGeom prst="roundRect">
            <a:avLst>
              <a:gd name="adj" fmla="val 50000"/>
            </a:avLst>
          </a:prstGeom>
          <a:solidFill>
            <a:srgbClr val="937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PART.01</a:t>
            </a:r>
            <a:endParaRPr lang="zh-CN" altLang="en-US" sz="1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483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什么是学者症候群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697579" y="1736250"/>
            <a:ext cx="52669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学者症候群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Savant Syndrome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是一种神经发展障碍，其特征在于患者智力存在低下或发育迟缓，但在某些领域（如音乐、绘画、数学等）表现出非凡的天赋或技能。这些技能可能表现为超凡的记忆力、精湛的艺术创作能力、或者异常出色的数学计算能力，等等。</a:t>
            </a:r>
          </a:p>
        </p:txBody>
      </p:sp>
      <p:sp>
        <p:nvSpPr>
          <p:cNvPr id="2" name="圆角矩形 7">
            <a:extLst>
              <a:ext uri="{FF2B5EF4-FFF2-40B4-BE49-F238E27FC236}">
                <a16:creationId xmlns:a16="http://schemas.microsoft.com/office/drawing/2014/main" id="{681095FB-7E76-8C22-3B49-5D8312B06F7F}"/>
              </a:ext>
            </a:extLst>
          </p:cNvPr>
          <p:cNvSpPr/>
          <p:nvPr/>
        </p:nvSpPr>
        <p:spPr>
          <a:xfrm>
            <a:off x="7711403" y="883308"/>
            <a:ext cx="2537609" cy="701791"/>
          </a:xfrm>
          <a:prstGeom prst="roundRect">
            <a:avLst>
              <a:gd name="adj" fmla="val 50000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666666"/>
                </a:solidFill>
                <a:latin typeface="微软雅黑" panose="020B0503020204020204" pitchFamily="34" charset="-122"/>
                <a:cs typeface="+mn-ea"/>
              </a:rPr>
              <a:t>数学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8A2A068-D3D6-638D-A471-E7BC93566C0F}"/>
              </a:ext>
            </a:extLst>
          </p:cNvPr>
          <p:cNvSpPr/>
          <p:nvPr/>
        </p:nvSpPr>
        <p:spPr>
          <a:xfrm>
            <a:off x="7711402" y="2162693"/>
            <a:ext cx="2537609" cy="701791"/>
          </a:xfrm>
          <a:prstGeom prst="roundRect">
            <a:avLst>
              <a:gd name="adj" fmla="val 50000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666666"/>
                </a:solidFill>
                <a:latin typeface="微软雅黑" panose="020B0503020204020204" pitchFamily="34" charset="-122"/>
                <a:cs typeface="+mn-ea"/>
                <a:sym typeface="+mn-lt"/>
              </a:rPr>
              <a:t>音乐</a:t>
            </a:r>
            <a:endParaRPr lang="en-US" altLang="zh-CN" sz="2400" b="1" dirty="0">
              <a:solidFill>
                <a:srgbClr val="666666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DE259E4D-BE62-C4C3-9942-CB23226CF7EF}"/>
              </a:ext>
            </a:extLst>
          </p:cNvPr>
          <p:cNvSpPr/>
          <p:nvPr/>
        </p:nvSpPr>
        <p:spPr>
          <a:xfrm>
            <a:off x="7711402" y="3625210"/>
            <a:ext cx="2537609" cy="701791"/>
          </a:xfrm>
          <a:prstGeom prst="roundRect">
            <a:avLst>
              <a:gd name="adj" fmla="val 50000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666666"/>
                </a:solidFill>
                <a:latin typeface="微软雅黑" panose="020B0503020204020204" pitchFamily="34" charset="-122"/>
                <a:cs typeface="+mn-ea"/>
                <a:sym typeface="+mn-lt"/>
              </a:rPr>
              <a:t>绘画</a:t>
            </a:r>
            <a:endParaRPr lang="en-US" altLang="zh-CN" sz="2400" b="1" dirty="0">
              <a:solidFill>
                <a:srgbClr val="666666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圆角矩形 7">
            <a:extLst>
              <a:ext uri="{FF2B5EF4-FFF2-40B4-BE49-F238E27FC236}">
                <a16:creationId xmlns:a16="http://schemas.microsoft.com/office/drawing/2014/main" id="{252D113E-BD41-EC70-646F-3891D003C68A}"/>
              </a:ext>
            </a:extLst>
          </p:cNvPr>
          <p:cNvSpPr/>
          <p:nvPr/>
        </p:nvSpPr>
        <p:spPr>
          <a:xfrm>
            <a:off x="7711402" y="5087727"/>
            <a:ext cx="2537609" cy="701791"/>
          </a:xfrm>
          <a:prstGeom prst="roundRect">
            <a:avLst>
              <a:gd name="adj" fmla="val 50000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666666"/>
                </a:solidFill>
                <a:latin typeface="微软雅黑" panose="020B0503020204020204" pitchFamily="34" charset="-122"/>
                <a:cs typeface="+mn-ea"/>
                <a:sym typeface="+mn-lt"/>
              </a:rPr>
              <a:t>记忆</a:t>
            </a:r>
            <a:endParaRPr lang="en-US" altLang="zh-CN" sz="2400" b="1" dirty="0">
              <a:solidFill>
                <a:srgbClr val="666666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021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什么是学者症候群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7C05D0DC-7DCD-2DC7-15C5-925F826B8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69" y="1756907"/>
            <a:ext cx="5185481" cy="452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学者症候群的最著名例子是虚构人物雷蒙德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巴比特，由达斯汀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霍夫曼在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1988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年的电影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雨人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中扮演。而该角色的原型是金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匹克：他能够完全背诵他所阅读过的所有书籍，每页只需约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秒钟。据称，他的记忆中存储着约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万本书的内容。</a:t>
            </a:r>
          </a:p>
          <a:p>
            <a:pPr marL="0" marR="0" lvl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金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匹克的神经系统存在一些异常。他的胼胝体发育不全，这是连接大脑两个半球的结构，而与此相关的神经束完全缺失。一些研究人员认为，金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匹克的神经系统可能通过其他方式进行连接，以弥补胼胝体的缺陷，从而增强了他的记忆力。这一现象引发了对于神经连接方式的深入研究。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0FF44D-9648-44E5-047B-CADF072CC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986" y="1756907"/>
            <a:ext cx="3638482" cy="25716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3297879-33DA-CC7A-7567-D865E14FC613}"/>
              </a:ext>
            </a:extLst>
          </p:cNvPr>
          <p:cNvSpPr txBox="1"/>
          <p:nvPr/>
        </p:nvSpPr>
        <p:spPr>
          <a:xfrm>
            <a:off x="8400730" y="4596011"/>
            <a:ext cx="1274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·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匹克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Kim Peek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658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2200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01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什么是学者症候群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7C05D0DC-7DCD-2DC7-15C5-925F826B8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70" y="1995805"/>
            <a:ext cx="4954142" cy="327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在早期有关学者综合症的报道中，失明、智力障碍和音乐天才的组合被广泛地提及。其中，盲人托马斯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威金斯是一个突出的例子。</a:t>
            </a:r>
          </a:p>
          <a:p>
            <a:pPr marL="0" marR="0" lvl="0" algn="just" defTabSz="121602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作为美国著名的钢琴家和作曲家，尽管威金斯失明并患有自闭症，但他从很小的时候就展现出了非凡的音乐天赋。他能够在仅仅听过一次之后，便能复现复杂的音乐作品，并且可以在单次听过后演奏多首曲目。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297879-33DA-CC7A-7567-D865E14FC613}"/>
              </a:ext>
            </a:extLst>
          </p:cNvPr>
          <p:cNvSpPr txBox="1"/>
          <p:nvPr/>
        </p:nvSpPr>
        <p:spPr>
          <a:xfrm>
            <a:off x="8029137" y="4324948"/>
            <a:ext cx="20717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托马斯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威金斯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Thomas Wiggins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B5BDD0-1791-F3F4-0DCF-76E1205F6E5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821446" y="1008156"/>
            <a:ext cx="2487120" cy="30289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8637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0" name="PA_文本框 2"/>
          <p:cNvSpPr txBox="1"/>
          <p:nvPr>
            <p:custDataLst>
              <p:tags r:id="rId1"/>
            </p:custDataLst>
          </p:nvPr>
        </p:nvSpPr>
        <p:spPr>
          <a:xfrm>
            <a:off x="3086031" y="2505669"/>
            <a:ext cx="6019934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学者症候群的病理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099392" y="3676141"/>
            <a:ext cx="1993211" cy="394635"/>
          </a:xfrm>
          <a:prstGeom prst="roundRect">
            <a:avLst>
              <a:gd name="adj" fmla="val 50000"/>
            </a:avLst>
          </a:prstGeom>
          <a:solidFill>
            <a:srgbClr val="937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PART.02</a:t>
            </a:r>
            <a:endParaRPr lang="zh-CN" altLang="en-US" sz="1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039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学者症候群的病理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570201" y="1566955"/>
            <a:ext cx="62002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至今，学者症候群的成因尚未完全明确，但有一种流行的假说称为“左脑损伤假说”。据此假说，患者的左脑功能受到了损伤，而右脑可能通过动员其他脑区域的功能来弥补左脑的损伤，从而开发出一些潜藏在右脑的技能。</a:t>
            </a:r>
          </a:p>
          <a:p>
            <a:pPr algn="just"/>
            <a:r>
              <a:rPr lang="zh-CN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左脑主要负责语言、逻辑、分析和代数等方面的思维和行为，而右脑则更注重直觉、综合、几何和绘图等方面的思维和行为。因此，尽管部分学者症候群患者缺乏交流能力，但他们却拥有超凡的艺术天赋。这可能是因为右脑的功能得到了加强，使得他们在艺术创作等领域表现出非凡的才能。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A0E07D7-878C-849F-87AE-63C6568AD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340" y="1469821"/>
            <a:ext cx="4138034" cy="335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9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学者症候群的病理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4812379" y="1722085"/>
            <a:ext cx="62002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有人认为，学者症候群的成因与自闭症的心智盲目性特征相关。这导致患者对社交缺乏兴趣，从而将更多的时间用于培养或练习他们的特殊技能。</a:t>
            </a:r>
          </a:p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而另一些人认为，患者们将时间投入特殊技能的培养不是因为心智盲目性，而是与自闭症相关的强迫症所导致。他们可能有一种一种强烈的内在冲动，渴望将这些特殊技能练习到极致。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显然这些观点都只能解释部分现象，没法解释学者症候群的情形。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0FA7B1-7D8E-3E18-7C65-97F605B7C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25" y="2480085"/>
            <a:ext cx="17716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0" name="PA_文本框 2"/>
          <p:cNvSpPr txBox="1"/>
          <p:nvPr>
            <p:custDataLst>
              <p:tags r:id="rId1"/>
            </p:custDataLst>
          </p:nvPr>
        </p:nvSpPr>
        <p:spPr>
          <a:xfrm>
            <a:off x="3086031" y="2505669"/>
            <a:ext cx="6019934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学者症候群的特征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099392" y="3676141"/>
            <a:ext cx="1993211" cy="394635"/>
          </a:xfrm>
          <a:prstGeom prst="roundRect">
            <a:avLst>
              <a:gd name="adj" fmla="val 50000"/>
            </a:avLst>
          </a:prstGeom>
          <a:solidFill>
            <a:srgbClr val="937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PART.03</a:t>
            </a:r>
            <a:endParaRPr lang="zh-CN" altLang="en-US" sz="1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416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</a:t>
            </a:r>
            <a:r>
              <a:rPr lang="en-US" altLang="zh-CN" sz="2400" b="1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学者症候群的特征</a:t>
            </a:r>
          </a:p>
        </p:txBody>
      </p:sp>
      <p:sp>
        <p:nvSpPr>
          <p:cNvPr id="8" name="圆角矩形 16">
            <a:extLst>
              <a:ext uri="{FF2B5EF4-FFF2-40B4-BE49-F238E27FC236}">
                <a16:creationId xmlns:a16="http://schemas.microsoft.com/office/drawing/2014/main" id="{13D3309C-8A34-ED3D-4610-BA00EF7ECE8D}"/>
              </a:ext>
            </a:extLst>
          </p:cNvPr>
          <p:cNvSpPr/>
          <p:nvPr/>
        </p:nvSpPr>
        <p:spPr>
          <a:xfrm>
            <a:off x="1265449" y="1830738"/>
            <a:ext cx="3798088" cy="3977397"/>
          </a:xfrm>
          <a:prstGeom prst="roundRect">
            <a:avLst>
              <a:gd name="adj" fmla="val 44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z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66539422-439A-D8EE-DAFB-11FFA5303E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0068429"/>
              </p:ext>
            </p:extLst>
          </p:nvPr>
        </p:nvGraphicFramePr>
        <p:xfrm>
          <a:off x="1265449" y="2041757"/>
          <a:ext cx="3409937" cy="204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1">
            <a:extLst>
              <a:ext uri="{FF2B5EF4-FFF2-40B4-BE49-F238E27FC236}">
                <a16:creationId xmlns:a16="http://schemas.microsoft.com/office/drawing/2014/main" id="{D3326B4A-DC98-7A72-8698-37B99E42B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652" y="3976100"/>
            <a:ext cx="3016678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研究表明大约十分之一的自闭症患者表现出学者症候群，并非所有自闭症都具有该特征，但二者之间确实存在联系。</a:t>
            </a:r>
          </a:p>
        </p:txBody>
      </p:sp>
      <p:sp>
        <p:nvSpPr>
          <p:cNvPr id="19" name="圆角矩形 16">
            <a:extLst>
              <a:ext uri="{FF2B5EF4-FFF2-40B4-BE49-F238E27FC236}">
                <a16:creationId xmlns:a16="http://schemas.microsoft.com/office/drawing/2014/main" id="{81F9C6E5-F05B-DE88-5699-135E7A02AAAB}"/>
              </a:ext>
            </a:extLst>
          </p:cNvPr>
          <p:cNvSpPr/>
          <p:nvPr/>
        </p:nvSpPr>
        <p:spPr>
          <a:xfrm>
            <a:off x="7128463" y="1830738"/>
            <a:ext cx="3798088" cy="3977397"/>
          </a:xfrm>
          <a:prstGeom prst="roundRect">
            <a:avLst>
              <a:gd name="adj" fmla="val 446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z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00A50959-232C-6111-0DCA-80E56FF56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7374669"/>
              </p:ext>
            </p:extLst>
          </p:nvPr>
        </p:nvGraphicFramePr>
        <p:xfrm>
          <a:off x="7128463" y="2041757"/>
          <a:ext cx="3409937" cy="204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08B3C2D8-D3A4-22FB-A56E-B4F26C54BC32}"/>
              </a:ext>
            </a:extLst>
          </p:cNvPr>
          <p:cNvSpPr txBox="1"/>
          <p:nvPr/>
        </p:nvSpPr>
        <p:spPr>
          <a:xfrm>
            <a:off x="7470142" y="4054598"/>
            <a:ext cx="3114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学者症候群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中，男性与女性的比例约为6:1。</a:t>
            </a:r>
          </a:p>
        </p:txBody>
      </p:sp>
    </p:spTree>
    <p:extLst>
      <p:ext uri="{BB962C8B-B14F-4D97-AF65-F5344CB8AC3E}">
        <p14:creationId xmlns:p14="http://schemas.microsoft.com/office/powerpoint/2010/main" val="3009632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</a:t>
            </a:r>
            <a:r>
              <a:rPr lang="en-US" altLang="zh-CN" sz="2400" b="1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697578" y="1756311"/>
            <a:ext cx="526547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在学者症候群中，男性与女性的比例约为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 : 1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，而在自闭症中，这一比例约为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 : 1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algn="just"/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Geschwind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Galaburda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他们关于大脑偏侧化的工作中指出，左半球通常比右半球晚完成发育，因此受到产前影响，其中一些影响可能是有害的，持续时间更长。尤其是在男性胎儿中，循环的睾酮可以达到非常高的水平，可以减缓生长，损害更容易暴露的左半球的神经功能，而实际上是右半球的扩张和优势转移。</a:t>
            </a:r>
          </a:p>
          <a:p>
            <a:pPr algn="just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一种“优越病理”被假设为右脑代偿性生长是由于发育受损或左脑实际受伤的结果。</a:t>
            </a: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DFEFE9D-92C0-C712-A29C-25D12E4190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36314"/>
              </p:ext>
            </p:extLst>
          </p:nvPr>
        </p:nvGraphicFramePr>
        <p:xfrm>
          <a:off x="7373907" y="1115038"/>
          <a:ext cx="3409937" cy="204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238F9B5B-92C9-C01B-2049-C9C7BC78A4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6210472"/>
              </p:ext>
            </p:extLst>
          </p:nvPr>
        </p:nvGraphicFramePr>
        <p:xfrm>
          <a:off x="7373906" y="3697001"/>
          <a:ext cx="3409937" cy="204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6396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</a:t>
            </a:r>
            <a:r>
              <a:rPr lang="en-US" altLang="zh-CN" sz="2400" b="1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697578" y="1756311"/>
            <a:ext cx="57032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学者症候群可能是先天性的，也可能是后天的。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多数情况下，学者技能在儿童时期出现，并与出生时存在的潜在发育残疾相关。然而，在没有神经损伤的正常个体中，无论是在婴儿期、儿童期还是成年期，在脑损伤或疾病后都有可能会出现之前不存在的“获得性”学者技能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学者症候群的特征包括神经损伤、智力异常和分化。</a:t>
            </a:r>
          </a:p>
        </p:txBody>
      </p:sp>
      <p:pic>
        <p:nvPicPr>
          <p:cNvPr id="2050" name="Picture 2" descr="大脑思考 的图像结果">
            <a:extLst>
              <a:ext uri="{FF2B5EF4-FFF2-40B4-BE49-F238E27FC236}">
                <a16:creationId xmlns:a16="http://schemas.microsoft.com/office/drawing/2014/main" id="{C46E0C71-B926-B654-5B9F-0C7981D51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38" y="1756311"/>
            <a:ext cx="2927832" cy="292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533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</a:t>
            </a:r>
            <a:r>
              <a:rPr lang="en-US" altLang="zh-CN" sz="2400" b="1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697578" y="1756311"/>
            <a:ext cx="51584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特殊技能通常表现为在某个特定领域内的特殊能力。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在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Rimland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543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名具有特殊技能的儿童的样本中，音乐能力是最常被报道的技能，其次是记忆、艺术、数学、日历计算和超感官知觉。但无论是什么特殊能力，它们的共同特点是非凡的记忆能力。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510960-E86A-FEB2-AFAB-4E54F1384F25}"/>
              </a:ext>
            </a:extLst>
          </p:cNvPr>
          <p:cNvSpPr>
            <a:spLocks/>
          </p:cNvSpPr>
          <p:nvPr/>
        </p:nvSpPr>
        <p:spPr bwMode="auto">
          <a:xfrm>
            <a:off x="6939328" y="1614708"/>
            <a:ext cx="2141605" cy="2856109"/>
          </a:xfrm>
          <a:custGeom>
            <a:avLst/>
            <a:gdLst>
              <a:gd name="T0" fmla="*/ 760485 w 437"/>
              <a:gd name="T1" fmla="*/ 4185293 h 583"/>
              <a:gd name="T2" fmla="*/ 989449 w 437"/>
              <a:gd name="T3" fmla="*/ 3931886 h 583"/>
              <a:gd name="T4" fmla="*/ 1316539 w 437"/>
              <a:gd name="T5" fmla="*/ 3858317 h 583"/>
              <a:gd name="T6" fmla="*/ 1488261 w 437"/>
              <a:gd name="T7" fmla="*/ 3972758 h 583"/>
              <a:gd name="T8" fmla="*/ 1520971 w 437"/>
              <a:gd name="T9" fmla="*/ 4070851 h 583"/>
              <a:gd name="T10" fmla="*/ 1619098 w 437"/>
              <a:gd name="T11" fmla="*/ 4111723 h 583"/>
              <a:gd name="T12" fmla="*/ 1831706 w 437"/>
              <a:gd name="T13" fmla="*/ 3989107 h 583"/>
              <a:gd name="T14" fmla="*/ 1880770 w 437"/>
              <a:gd name="T15" fmla="*/ 3801096 h 583"/>
              <a:gd name="T16" fmla="*/ 1758111 w 437"/>
              <a:gd name="T17" fmla="*/ 3204365 h 583"/>
              <a:gd name="T18" fmla="*/ 2960168 w 437"/>
              <a:gd name="T19" fmla="*/ 1773845 h 583"/>
              <a:gd name="T20" fmla="*/ 3091005 w 437"/>
              <a:gd name="T21" fmla="*/ 1618531 h 583"/>
              <a:gd name="T22" fmla="*/ 3091005 w 437"/>
              <a:gd name="T23" fmla="*/ 1209811 h 583"/>
              <a:gd name="T24" fmla="*/ 3115536 w 437"/>
              <a:gd name="T25" fmla="*/ 1046323 h 583"/>
              <a:gd name="T26" fmla="*/ 3140068 w 437"/>
              <a:gd name="T27" fmla="*/ 1029974 h 583"/>
              <a:gd name="T28" fmla="*/ 3262727 w 437"/>
              <a:gd name="T29" fmla="*/ 1070846 h 583"/>
              <a:gd name="T30" fmla="*/ 3303613 w 437"/>
              <a:gd name="T31" fmla="*/ 1144416 h 583"/>
              <a:gd name="T32" fmla="*/ 3499868 w 437"/>
              <a:gd name="T33" fmla="*/ 1160765 h 583"/>
              <a:gd name="T34" fmla="*/ 3573463 w 437"/>
              <a:gd name="T35" fmla="*/ 915533 h 583"/>
              <a:gd name="T36" fmla="*/ 3499868 w 437"/>
              <a:gd name="T37" fmla="*/ 662126 h 583"/>
              <a:gd name="T38" fmla="*/ 3303613 w 437"/>
              <a:gd name="T39" fmla="*/ 678475 h 583"/>
              <a:gd name="T40" fmla="*/ 3262727 w 437"/>
              <a:gd name="T41" fmla="*/ 752045 h 583"/>
              <a:gd name="T42" fmla="*/ 3140068 w 437"/>
              <a:gd name="T43" fmla="*/ 792917 h 583"/>
              <a:gd name="T44" fmla="*/ 3115536 w 437"/>
              <a:gd name="T45" fmla="*/ 784742 h 583"/>
              <a:gd name="T46" fmla="*/ 3091005 w 437"/>
              <a:gd name="T47" fmla="*/ 621254 h 583"/>
              <a:gd name="T48" fmla="*/ 3091005 w 437"/>
              <a:gd name="T49" fmla="*/ 130790 h 583"/>
              <a:gd name="T50" fmla="*/ 2960168 w 437"/>
              <a:gd name="T51" fmla="*/ 8174 h 583"/>
              <a:gd name="T52" fmla="*/ 0 w 437"/>
              <a:gd name="T53" fmla="*/ 3204365 h 583"/>
              <a:gd name="T54" fmla="*/ 359799 w 437"/>
              <a:gd name="T55" fmla="*/ 4675757 h 583"/>
              <a:gd name="T56" fmla="*/ 547876 w 437"/>
              <a:gd name="T57" fmla="*/ 4732977 h 583"/>
              <a:gd name="T58" fmla="*/ 825903 w 437"/>
              <a:gd name="T59" fmla="*/ 4569489 h 583"/>
              <a:gd name="T60" fmla="*/ 850435 w 437"/>
              <a:gd name="T61" fmla="*/ 4463222 h 583"/>
              <a:gd name="T62" fmla="*/ 776840 w 437"/>
              <a:gd name="T63" fmla="*/ 4381478 h 583"/>
              <a:gd name="T64" fmla="*/ 760485 w 437"/>
              <a:gd name="T65" fmla="*/ 4185293 h 58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437" h="583">
                <a:moveTo>
                  <a:pt x="93" y="512"/>
                </a:moveTo>
                <a:cubicBezTo>
                  <a:pt x="97" y="499"/>
                  <a:pt x="107" y="489"/>
                  <a:pt x="121" y="481"/>
                </a:cubicBezTo>
                <a:cubicBezTo>
                  <a:pt x="134" y="473"/>
                  <a:pt x="149" y="470"/>
                  <a:pt x="161" y="472"/>
                </a:cubicBezTo>
                <a:cubicBezTo>
                  <a:pt x="170" y="473"/>
                  <a:pt x="178" y="479"/>
                  <a:pt x="182" y="486"/>
                </a:cubicBezTo>
                <a:cubicBezTo>
                  <a:pt x="184" y="490"/>
                  <a:pt x="185" y="494"/>
                  <a:pt x="186" y="498"/>
                </a:cubicBezTo>
                <a:cubicBezTo>
                  <a:pt x="186" y="506"/>
                  <a:pt x="190" y="508"/>
                  <a:pt x="198" y="503"/>
                </a:cubicBezTo>
                <a:cubicBezTo>
                  <a:pt x="224" y="488"/>
                  <a:pt x="224" y="488"/>
                  <a:pt x="224" y="488"/>
                </a:cubicBezTo>
                <a:cubicBezTo>
                  <a:pt x="232" y="483"/>
                  <a:pt x="234" y="473"/>
                  <a:pt x="230" y="465"/>
                </a:cubicBezTo>
                <a:cubicBezTo>
                  <a:pt x="220" y="443"/>
                  <a:pt x="215" y="418"/>
                  <a:pt x="215" y="392"/>
                </a:cubicBezTo>
                <a:cubicBezTo>
                  <a:pt x="215" y="304"/>
                  <a:pt x="278" y="231"/>
                  <a:pt x="362" y="217"/>
                </a:cubicBezTo>
                <a:cubicBezTo>
                  <a:pt x="371" y="215"/>
                  <a:pt x="378" y="207"/>
                  <a:pt x="378" y="198"/>
                </a:cubicBezTo>
                <a:cubicBezTo>
                  <a:pt x="378" y="148"/>
                  <a:pt x="378" y="148"/>
                  <a:pt x="378" y="148"/>
                </a:cubicBezTo>
                <a:cubicBezTo>
                  <a:pt x="378" y="139"/>
                  <a:pt x="379" y="129"/>
                  <a:pt x="381" y="128"/>
                </a:cubicBezTo>
                <a:cubicBezTo>
                  <a:pt x="382" y="127"/>
                  <a:pt x="383" y="126"/>
                  <a:pt x="384" y="126"/>
                </a:cubicBezTo>
                <a:cubicBezTo>
                  <a:pt x="390" y="126"/>
                  <a:pt x="395" y="126"/>
                  <a:pt x="399" y="131"/>
                </a:cubicBezTo>
                <a:cubicBezTo>
                  <a:pt x="401" y="134"/>
                  <a:pt x="402" y="137"/>
                  <a:pt x="404" y="140"/>
                </a:cubicBezTo>
                <a:cubicBezTo>
                  <a:pt x="409" y="149"/>
                  <a:pt x="421" y="150"/>
                  <a:pt x="428" y="142"/>
                </a:cubicBezTo>
                <a:cubicBezTo>
                  <a:pt x="434" y="134"/>
                  <a:pt x="437" y="122"/>
                  <a:pt x="437" y="112"/>
                </a:cubicBezTo>
                <a:cubicBezTo>
                  <a:pt x="437" y="101"/>
                  <a:pt x="434" y="90"/>
                  <a:pt x="428" y="81"/>
                </a:cubicBezTo>
                <a:cubicBezTo>
                  <a:pt x="421" y="73"/>
                  <a:pt x="409" y="74"/>
                  <a:pt x="404" y="83"/>
                </a:cubicBezTo>
                <a:cubicBezTo>
                  <a:pt x="402" y="86"/>
                  <a:pt x="401" y="89"/>
                  <a:pt x="399" y="92"/>
                </a:cubicBezTo>
                <a:cubicBezTo>
                  <a:pt x="395" y="97"/>
                  <a:pt x="390" y="97"/>
                  <a:pt x="384" y="97"/>
                </a:cubicBezTo>
                <a:cubicBezTo>
                  <a:pt x="383" y="97"/>
                  <a:pt x="382" y="97"/>
                  <a:pt x="381" y="96"/>
                </a:cubicBezTo>
                <a:cubicBezTo>
                  <a:pt x="379" y="94"/>
                  <a:pt x="378" y="85"/>
                  <a:pt x="378" y="76"/>
                </a:cubicBezTo>
                <a:cubicBezTo>
                  <a:pt x="378" y="16"/>
                  <a:pt x="378" y="16"/>
                  <a:pt x="378" y="16"/>
                </a:cubicBezTo>
                <a:cubicBezTo>
                  <a:pt x="378" y="7"/>
                  <a:pt x="371" y="0"/>
                  <a:pt x="362" y="1"/>
                </a:cubicBezTo>
                <a:cubicBezTo>
                  <a:pt x="159" y="17"/>
                  <a:pt x="0" y="186"/>
                  <a:pt x="0" y="392"/>
                </a:cubicBezTo>
                <a:cubicBezTo>
                  <a:pt x="0" y="457"/>
                  <a:pt x="16" y="518"/>
                  <a:pt x="44" y="572"/>
                </a:cubicBezTo>
                <a:cubicBezTo>
                  <a:pt x="48" y="581"/>
                  <a:pt x="59" y="583"/>
                  <a:pt x="67" y="579"/>
                </a:cubicBezTo>
                <a:cubicBezTo>
                  <a:pt x="101" y="559"/>
                  <a:pt x="101" y="559"/>
                  <a:pt x="101" y="559"/>
                </a:cubicBezTo>
                <a:cubicBezTo>
                  <a:pt x="109" y="554"/>
                  <a:pt x="110" y="550"/>
                  <a:pt x="104" y="546"/>
                </a:cubicBezTo>
                <a:cubicBezTo>
                  <a:pt x="100" y="543"/>
                  <a:pt x="97" y="540"/>
                  <a:pt x="95" y="536"/>
                </a:cubicBezTo>
                <a:cubicBezTo>
                  <a:pt x="90" y="529"/>
                  <a:pt x="90" y="520"/>
                  <a:pt x="93" y="512"/>
                </a:cubicBezTo>
                <a:close/>
              </a:path>
            </a:pathLst>
          </a:cu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75E521AA-94B6-7CE3-C11F-AEDC7EFD4D52}"/>
              </a:ext>
            </a:extLst>
          </p:cNvPr>
          <p:cNvSpPr>
            <a:spLocks/>
          </p:cNvSpPr>
          <p:nvPr/>
        </p:nvSpPr>
        <p:spPr bwMode="auto">
          <a:xfrm>
            <a:off x="8874480" y="1609951"/>
            <a:ext cx="1916123" cy="2841837"/>
          </a:xfrm>
          <a:custGeom>
            <a:avLst/>
            <a:gdLst>
              <a:gd name="T0" fmla="*/ 367967 w 391"/>
              <a:gd name="T1" fmla="*/ 596821 h 580"/>
              <a:gd name="T2" fmla="*/ 466092 w 391"/>
              <a:gd name="T3" fmla="*/ 923846 h 580"/>
              <a:gd name="T4" fmla="*/ 367967 w 391"/>
              <a:gd name="T5" fmla="*/ 1242695 h 580"/>
              <a:gd name="T6" fmla="*/ 179895 w 391"/>
              <a:gd name="T7" fmla="*/ 1332627 h 580"/>
              <a:gd name="T8" fmla="*/ 81770 w 391"/>
              <a:gd name="T9" fmla="*/ 1308100 h 580"/>
              <a:gd name="T10" fmla="*/ 0 w 391"/>
              <a:gd name="T11" fmla="*/ 1373505 h 580"/>
              <a:gd name="T12" fmla="*/ 0 w 391"/>
              <a:gd name="T13" fmla="*/ 1618774 h 580"/>
              <a:gd name="T14" fmla="*/ 130833 w 391"/>
              <a:gd name="T15" fmla="*/ 1765935 h 580"/>
              <a:gd name="T16" fmla="*/ 1439160 w 391"/>
              <a:gd name="T17" fmla="*/ 3213021 h 580"/>
              <a:gd name="T18" fmla="*/ 1349213 w 391"/>
              <a:gd name="T19" fmla="*/ 3711734 h 580"/>
              <a:gd name="T20" fmla="*/ 1422806 w 391"/>
              <a:gd name="T21" fmla="*/ 3899774 h 580"/>
              <a:gd name="T22" fmla="*/ 1774419 w 391"/>
              <a:gd name="T23" fmla="*/ 4104164 h 580"/>
              <a:gd name="T24" fmla="*/ 1905252 w 391"/>
              <a:gd name="T25" fmla="*/ 4202272 h 580"/>
              <a:gd name="T26" fmla="*/ 1905252 w 391"/>
              <a:gd name="T27" fmla="*/ 4234974 h 580"/>
              <a:gd name="T28" fmla="*/ 1807127 w 391"/>
              <a:gd name="T29" fmla="*/ 4316730 h 580"/>
              <a:gd name="T30" fmla="*/ 1725357 w 391"/>
              <a:gd name="T31" fmla="*/ 4316730 h 580"/>
              <a:gd name="T32" fmla="*/ 1610878 w 391"/>
              <a:gd name="T33" fmla="*/ 4480243 h 580"/>
              <a:gd name="T34" fmla="*/ 1790773 w 391"/>
              <a:gd name="T35" fmla="*/ 4668282 h 580"/>
              <a:gd name="T36" fmla="*/ 2044262 w 391"/>
              <a:gd name="T37" fmla="*/ 4725512 h 580"/>
              <a:gd name="T38" fmla="*/ 2126032 w 391"/>
              <a:gd name="T39" fmla="*/ 4553824 h 580"/>
              <a:gd name="T40" fmla="*/ 2085147 w 391"/>
              <a:gd name="T41" fmla="*/ 4480243 h 580"/>
              <a:gd name="T42" fmla="*/ 2109678 w 391"/>
              <a:gd name="T43" fmla="*/ 4357609 h 580"/>
              <a:gd name="T44" fmla="*/ 2134209 w 391"/>
              <a:gd name="T45" fmla="*/ 4333082 h 580"/>
              <a:gd name="T46" fmla="*/ 2281396 w 391"/>
              <a:gd name="T47" fmla="*/ 4398487 h 580"/>
              <a:gd name="T48" fmla="*/ 2706602 w 391"/>
              <a:gd name="T49" fmla="*/ 4643755 h 580"/>
              <a:gd name="T50" fmla="*/ 2886497 w 391"/>
              <a:gd name="T51" fmla="*/ 4594702 h 580"/>
              <a:gd name="T52" fmla="*/ 3197225 w 391"/>
              <a:gd name="T53" fmla="*/ 3213021 h 580"/>
              <a:gd name="T54" fmla="*/ 130833 w 391"/>
              <a:gd name="T55" fmla="*/ 8176 h 580"/>
              <a:gd name="T56" fmla="*/ 0 w 391"/>
              <a:gd name="T57" fmla="*/ 138986 h 580"/>
              <a:gd name="T58" fmla="*/ 0 w 391"/>
              <a:gd name="T59" fmla="*/ 466011 h 580"/>
              <a:gd name="T60" fmla="*/ 81770 w 391"/>
              <a:gd name="T61" fmla="*/ 531416 h 580"/>
              <a:gd name="T62" fmla="*/ 179895 w 391"/>
              <a:gd name="T63" fmla="*/ 506889 h 580"/>
              <a:gd name="T64" fmla="*/ 367967 w 391"/>
              <a:gd name="T65" fmla="*/ 596821 h 58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391" h="580">
                <a:moveTo>
                  <a:pt x="45" y="73"/>
                </a:moveTo>
                <a:cubicBezTo>
                  <a:pt x="53" y="83"/>
                  <a:pt x="57" y="97"/>
                  <a:pt x="57" y="113"/>
                </a:cubicBezTo>
                <a:cubicBezTo>
                  <a:pt x="57" y="128"/>
                  <a:pt x="53" y="142"/>
                  <a:pt x="45" y="152"/>
                </a:cubicBezTo>
                <a:cubicBezTo>
                  <a:pt x="39" y="159"/>
                  <a:pt x="31" y="163"/>
                  <a:pt x="22" y="163"/>
                </a:cubicBezTo>
                <a:cubicBezTo>
                  <a:pt x="18" y="163"/>
                  <a:pt x="13" y="162"/>
                  <a:pt x="10" y="160"/>
                </a:cubicBezTo>
                <a:cubicBezTo>
                  <a:pt x="3" y="157"/>
                  <a:pt x="0" y="159"/>
                  <a:pt x="0" y="168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07"/>
                  <a:pt x="7" y="215"/>
                  <a:pt x="16" y="216"/>
                </a:cubicBezTo>
                <a:cubicBezTo>
                  <a:pt x="106" y="225"/>
                  <a:pt x="176" y="301"/>
                  <a:pt x="176" y="393"/>
                </a:cubicBezTo>
                <a:cubicBezTo>
                  <a:pt x="176" y="414"/>
                  <a:pt x="172" y="435"/>
                  <a:pt x="165" y="454"/>
                </a:cubicBezTo>
                <a:cubicBezTo>
                  <a:pt x="162" y="462"/>
                  <a:pt x="166" y="473"/>
                  <a:pt x="174" y="477"/>
                </a:cubicBezTo>
                <a:cubicBezTo>
                  <a:pt x="217" y="502"/>
                  <a:pt x="217" y="502"/>
                  <a:pt x="217" y="502"/>
                </a:cubicBezTo>
                <a:cubicBezTo>
                  <a:pt x="225" y="507"/>
                  <a:pt x="232" y="512"/>
                  <a:pt x="233" y="514"/>
                </a:cubicBezTo>
                <a:cubicBezTo>
                  <a:pt x="233" y="516"/>
                  <a:pt x="233" y="517"/>
                  <a:pt x="233" y="518"/>
                </a:cubicBezTo>
                <a:cubicBezTo>
                  <a:pt x="230" y="523"/>
                  <a:pt x="227" y="528"/>
                  <a:pt x="221" y="528"/>
                </a:cubicBezTo>
                <a:cubicBezTo>
                  <a:pt x="218" y="529"/>
                  <a:pt x="214" y="528"/>
                  <a:pt x="211" y="528"/>
                </a:cubicBezTo>
                <a:cubicBezTo>
                  <a:pt x="200" y="529"/>
                  <a:pt x="193" y="538"/>
                  <a:pt x="197" y="548"/>
                </a:cubicBezTo>
                <a:cubicBezTo>
                  <a:pt x="201" y="558"/>
                  <a:pt x="209" y="566"/>
                  <a:pt x="219" y="571"/>
                </a:cubicBezTo>
                <a:cubicBezTo>
                  <a:pt x="228" y="576"/>
                  <a:pt x="239" y="580"/>
                  <a:pt x="250" y="578"/>
                </a:cubicBezTo>
                <a:cubicBezTo>
                  <a:pt x="260" y="576"/>
                  <a:pt x="265" y="566"/>
                  <a:pt x="260" y="557"/>
                </a:cubicBezTo>
                <a:cubicBezTo>
                  <a:pt x="258" y="554"/>
                  <a:pt x="256" y="551"/>
                  <a:pt x="255" y="548"/>
                </a:cubicBezTo>
                <a:cubicBezTo>
                  <a:pt x="252" y="542"/>
                  <a:pt x="255" y="538"/>
                  <a:pt x="258" y="533"/>
                </a:cubicBezTo>
                <a:cubicBezTo>
                  <a:pt x="258" y="531"/>
                  <a:pt x="260" y="531"/>
                  <a:pt x="261" y="530"/>
                </a:cubicBezTo>
                <a:cubicBezTo>
                  <a:pt x="263" y="530"/>
                  <a:pt x="271" y="534"/>
                  <a:pt x="279" y="538"/>
                </a:cubicBezTo>
                <a:cubicBezTo>
                  <a:pt x="331" y="568"/>
                  <a:pt x="331" y="568"/>
                  <a:pt x="331" y="568"/>
                </a:cubicBezTo>
                <a:cubicBezTo>
                  <a:pt x="339" y="573"/>
                  <a:pt x="349" y="570"/>
                  <a:pt x="353" y="562"/>
                </a:cubicBezTo>
                <a:cubicBezTo>
                  <a:pt x="377" y="510"/>
                  <a:pt x="391" y="453"/>
                  <a:pt x="391" y="393"/>
                </a:cubicBezTo>
                <a:cubicBezTo>
                  <a:pt x="391" y="182"/>
                  <a:pt x="225" y="10"/>
                  <a:pt x="16" y="1"/>
                </a:cubicBezTo>
                <a:cubicBezTo>
                  <a:pt x="7" y="0"/>
                  <a:pt x="0" y="8"/>
                  <a:pt x="0" y="1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66"/>
                  <a:pt x="3" y="69"/>
                  <a:pt x="10" y="65"/>
                </a:cubicBezTo>
                <a:cubicBezTo>
                  <a:pt x="13" y="63"/>
                  <a:pt x="18" y="62"/>
                  <a:pt x="22" y="62"/>
                </a:cubicBezTo>
                <a:cubicBezTo>
                  <a:pt x="31" y="62"/>
                  <a:pt x="39" y="66"/>
                  <a:pt x="45" y="73"/>
                </a:cubicBezTo>
                <a:close/>
              </a:path>
            </a:pathLst>
          </a:custGeom>
          <a:solidFill>
            <a:srgbClr val="EBD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696E5821-3281-746C-946C-0D6E96BAB80F}"/>
              </a:ext>
            </a:extLst>
          </p:cNvPr>
          <p:cNvSpPr>
            <a:spLocks/>
          </p:cNvSpPr>
          <p:nvPr/>
        </p:nvSpPr>
        <p:spPr bwMode="auto">
          <a:xfrm>
            <a:off x="7258047" y="3991310"/>
            <a:ext cx="3253795" cy="1469916"/>
          </a:xfrm>
          <a:custGeom>
            <a:avLst/>
            <a:gdLst>
              <a:gd name="T0" fmla="*/ 4758770 w 664"/>
              <a:gd name="T1" fmla="*/ 874792 h 300"/>
              <a:gd name="T2" fmla="*/ 4423530 w 664"/>
              <a:gd name="T3" fmla="*/ 801211 h 300"/>
              <a:gd name="T4" fmla="*/ 4194586 w 664"/>
              <a:gd name="T5" fmla="*/ 555943 h 300"/>
              <a:gd name="T6" fmla="*/ 4210939 w 664"/>
              <a:gd name="T7" fmla="*/ 351552 h 300"/>
              <a:gd name="T8" fmla="*/ 4284529 w 664"/>
              <a:gd name="T9" fmla="*/ 269796 h 300"/>
              <a:gd name="T10" fmla="*/ 4268175 w 664"/>
              <a:gd name="T11" fmla="*/ 171688 h 300"/>
              <a:gd name="T12" fmla="*/ 4055584 w 664"/>
              <a:gd name="T13" fmla="*/ 49054 h 300"/>
              <a:gd name="T14" fmla="*/ 3859346 w 664"/>
              <a:gd name="T15" fmla="*/ 89932 h 300"/>
              <a:gd name="T16" fmla="*/ 2681919 w 664"/>
              <a:gd name="T17" fmla="*/ 694928 h 300"/>
              <a:gd name="T18" fmla="*/ 1569904 w 664"/>
              <a:gd name="T19" fmla="*/ 179864 h 300"/>
              <a:gd name="T20" fmla="*/ 1365489 w 664"/>
              <a:gd name="T21" fmla="*/ 138986 h 300"/>
              <a:gd name="T22" fmla="*/ 1013896 w 664"/>
              <a:gd name="T23" fmla="*/ 343376 h 300"/>
              <a:gd name="T24" fmla="*/ 866718 w 664"/>
              <a:gd name="T25" fmla="*/ 408781 h 300"/>
              <a:gd name="T26" fmla="*/ 834011 w 664"/>
              <a:gd name="T27" fmla="*/ 392430 h 300"/>
              <a:gd name="T28" fmla="*/ 809482 w 664"/>
              <a:gd name="T29" fmla="*/ 269796 h 300"/>
              <a:gd name="T30" fmla="*/ 858541 w 664"/>
              <a:gd name="T31" fmla="*/ 188039 h 300"/>
              <a:gd name="T32" fmla="*/ 768599 w 664"/>
              <a:gd name="T33" fmla="*/ 16351 h 300"/>
              <a:gd name="T34" fmla="*/ 515125 w 664"/>
              <a:gd name="T35" fmla="*/ 73581 h 300"/>
              <a:gd name="T36" fmla="*/ 343416 w 664"/>
              <a:gd name="T37" fmla="*/ 261620 h 300"/>
              <a:gd name="T38" fmla="*/ 449712 w 664"/>
              <a:gd name="T39" fmla="*/ 425133 h 300"/>
              <a:gd name="T40" fmla="*/ 539654 w 664"/>
              <a:gd name="T41" fmla="*/ 425133 h 300"/>
              <a:gd name="T42" fmla="*/ 629597 w 664"/>
              <a:gd name="T43" fmla="*/ 506889 h 300"/>
              <a:gd name="T44" fmla="*/ 637773 w 664"/>
              <a:gd name="T45" fmla="*/ 539591 h 300"/>
              <a:gd name="T46" fmla="*/ 498771 w 664"/>
              <a:gd name="T47" fmla="*/ 637699 h 300"/>
              <a:gd name="T48" fmla="*/ 81766 w 664"/>
              <a:gd name="T49" fmla="*/ 882968 h 300"/>
              <a:gd name="T50" fmla="*/ 40883 w 664"/>
              <a:gd name="T51" fmla="*/ 1062831 h 300"/>
              <a:gd name="T52" fmla="*/ 2681919 w 664"/>
              <a:gd name="T53" fmla="*/ 2452688 h 300"/>
              <a:gd name="T54" fmla="*/ 5388367 w 664"/>
              <a:gd name="T55" fmla="*/ 972900 h 300"/>
              <a:gd name="T56" fmla="*/ 5339308 w 664"/>
              <a:gd name="T57" fmla="*/ 784860 h 300"/>
              <a:gd name="T58" fmla="*/ 5053127 w 664"/>
              <a:gd name="T59" fmla="*/ 621348 h 300"/>
              <a:gd name="T60" fmla="*/ 4955008 w 664"/>
              <a:gd name="T61" fmla="*/ 662226 h 300"/>
              <a:gd name="T62" fmla="*/ 4922302 w 664"/>
              <a:gd name="T63" fmla="*/ 760333 h 300"/>
              <a:gd name="T64" fmla="*/ 4758770 w 664"/>
              <a:gd name="T65" fmla="*/ 874792 h 30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664" h="300">
                <a:moveTo>
                  <a:pt x="582" y="107"/>
                </a:moveTo>
                <a:cubicBezTo>
                  <a:pt x="569" y="109"/>
                  <a:pt x="555" y="106"/>
                  <a:pt x="541" y="98"/>
                </a:cubicBezTo>
                <a:cubicBezTo>
                  <a:pt x="528" y="91"/>
                  <a:pt x="518" y="80"/>
                  <a:pt x="513" y="68"/>
                </a:cubicBezTo>
                <a:cubicBezTo>
                  <a:pt x="510" y="59"/>
                  <a:pt x="511" y="50"/>
                  <a:pt x="515" y="43"/>
                </a:cubicBezTo>
                <a:cubicBezTo>
                  <a:pt x="517" y="39"/>
                  <a:pt x="520" y="36"/>
                  <a:pt x="524" y="33"/>
                </a:cubicBezTo>
                <a:cubicBezTo>
                  <a:pt x="530" y="29"/>
                  <a:pt x="530" y="25"/>
                  <a:pt x="522" y="21"/>
                </a:cubicBezTo>
                <a:cubicBezTo>
                  <a:pt x="496" y="6"/>
                  <a:pt x="496" y="6"/>
                  <a:pt x="496" y="6"/>
                </a:cubicBezTo>
                <a:cubicBezTo>
                  <a:pt x="488" y="1"/>
                  <a:pt x="478" y="4"/>
                  <a:pt x="472" y="11"/>
                </a:cubicBezTo>
                <a:cubicBezTo>
                  <a:pt x="440" y="56"/>
                  <a:pt x="387" y="85"/>
                  <a:pt x="328" y="85"/>
                </a:cubicBezTo>
                <a:cubicBezTo>
                  <a:pt x="273" y="85"/>
                  <a:pt x="224" y="60"/>
                  <a:pt x="192" y="22"/>
                </a:cubicBezTo>
                <a:cubicBezTo>
                  <a:pt x="186" y="15"/>
                  <a:pt x="175" y="12"/>
                  <a:pt x="167" y="17"/>
                </a:cubicBezTo>
                <a:cubicBezTo>
                  <a:pt x="124" y="42"/>
                  <a:pt x="124" y="42"/>
                  <a:pt x="124" y="42"/>
                </a:cubicBezTo>
                <a:cubicBezTo>
                  <a:pt x="116" y="46"/>
                  <a:pt x="108" y="50"/>
                  <a:pt x="106" y="50"/>
                </a:cubicBezTo>
                <a:cubicBezTo>
                  <a:pt x="104" y="49"/>
                  <a:pt x="103" y="49"/>
                  <a:pt x="102" y="48"/>
                </a:cubicBezTo>
                <a:cubicBezTo>
                  <a:pt x="99" y="43"/>
                  <a:pt x="97" y="38"/>
                  <a:pt x="99" y="33"/>
                </a:cubicBezTo>
                <a:cubicBezTo>
                  <a:pt x="101" y="29"/>
                  <a:pt x="103" y="27"/>
                  <a:pt x="105" y="23"/>
                </a:cubicBezTo>
                <a:cubicBezTo>
                  <a:pt x="110" y="14"/>
                  <a:pt x="105" y="4"/>
                  <a:pt x="94" y="2"/>
                </a:cubicBezTo>
                <a:cubicBezTo>
                  <a:pt x="84" y="0"/>
                  <a:pt x="73" y="4"/>
                  <a:pt x="63" y="9"/>
                </a:cubicBezTo>
                <a:cubicBezTo>
                  <a:pt x="54" y="14"/>
                  <a:pt x="45" y="22"/>
                  <a:pt x="42" y="32"/>
                </a:cubicBezTo>
                <a:cubicBezTo>
                  <a:pt x="38" y="42"/>
                  <a:pt x="45" y="52"/>
                  <a:pt x="55" y="52"/>
                </a:cubicBezTo>
                <a:cubicBezTo>
                  <a:pt x="59" y="52"/>
                  <a:pt x="62" y="52"/>
                  <a:pt x="66" y="52"/>
                </a:cubicBezTo>
                <a:cubicBezTo>
                  <a:pt x="72" y="52"/>
                  <a:pt x="74" y="57"/>
                  <a:pt x="77" y="62"/>
                </a:cubicBezTo>
                <a:cubicBezTo>
                  <a:pt x="78" y="63"/>
                  <a:pt x="78" y="65"/>
                  <a:pt x="78" y="66"/>
                </a:cubicBezTo>
                <a:cubicBezTo>
                  <a:pt x="77" y="68"/>
                  <a:pt x="69" y="73"/>
                  <a:pt x="61" y="78"/>
                </a:cubicBezTo>
                <a:cubicBezTo>
                  <a:pt x="10" y="108"/>
                  <a:pt x="10" y="108"/>
                  <a:pt x="10" y="108"/>
                </a:cubicBezTo>
                <a:cubicBezTo>
                  <a:pt x="2" y="112"/>
                  <a:pt x="0" y="122"/>
                  <a:pt x="5" y="130"/>
                </a:cubicBezTo>
                <a:cubicBezTo>
                  <a:pt x="76" y="232"/>
                  <a:pt x="194" y="300"/>
                  <a:pt x="328" y="300"/>
                </a:cubicBezTo>
                <a:cubicBezTo>
                  <a:pt x="467" y="300"/>
                  <a:pt x="589" y="228"/>
                  <a:pt x="659" y="119"/>
                </a:cubicBezTo>
                <a:cubicBezTo>
                  <a:pt x="664" y="111"/>
                  <a:pt x="661" y="101"/>
                  <a:pt x="653" y="96"/>
                </a:cubicBezTo>
                <a:cubicBezTo>
                  <a:pt x="618" y="76"/>
                  <a:pt x="618" y="76"/>
                  <a:pt x="618" y="76"/>
                </a:cubicBezTo>
                <a:cubicBezTo>
                  <a:pt x="610" y="72"/>
                  <a:pt x="606" y="74"/>
                  <a:pt x="606" y="81"/>
                </a:cubicBezTo>
                <a:cubicBezTo>
                  <a:pt x="606" y="85"/>
                  <a:pt x="604" y="89"/>
                  <a:pt x="602" y="93"/>
                </a:cubicBezTo>
                <a:cubicBezTo>
                  <a:pt x="598" y="101"/>
                  <a:pt x="590" y="106"/>
                  <a:pt x="582" y="107"/>
                </a:cubicBezTo>
                <a:close/>
              </a:path>
            </a:pathLst>
          </a:custGeom>
          <a:solidFill>
            <a:srgbClr val="DBCE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1">
            <a:extLst>
              <a:ext uri="{FF2B5EF4-FFF2-40B4-BE49-F238E27FC236}">
                <a16:creationId xmlns:a16="http://schemas.microsoft.com/office/drawing/2014/main" id="{C93B940D-F2F8-947C-86B6-DDCF40269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469" y="3403385"/>
            <a:ext cx="9950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记忆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AC5958B6-2597-3230-C1CC-B4FD50A1A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180" y="2816235"/>
            <a:ext cx="9950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数学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23970EFF-7EB3-A2AC-1852-5184A11E2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6668" y="2825524"/>
            <a:ext cx="9950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艺术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1">
            <a:extLst>
              <a:ext uri="{FF2B5EF4-FFF2-40B4-BE49-F238E27FC236}">
                <a16:creationId xmlns:a16="http://schemas.microsoft.com/office/drawing/2014/main" id="{E892851F-4362-6A81-BA46-259F5F76A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469" y="4670381"/>
            <a:ext cx="9950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cs typeface="+mn-ea"/>
                <a:sym typeface="+mn-lt"/>
              </a:rPr>
              <a:t>感知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083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0" name="PA_文本框 2"/>
          <p:cNvSpPr txBox="1"/>
          <p:nvPr>
            <p:custDataLst>
              <p:tags r:id="rId1"/>
            </p:custDataLst>
          </p:nvPr>
        </p:nvSpPr>
        <p:spPr>
          <a:xfrm>
            <a:off x="3086031" y="2505669"/>
            <a:ext cx="6019934" cy="92333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rPr>
              <a:t>问答环节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099392" y="3676141"/>
            <a:ext cx="1993211" cy="394635"/>
          </a:xfrm>
          <a:prstGeom prst="roundRect">
            <a:avLst>
              <a:gd name="adj" fmla="val 50000"/>
            </a:avLst>
          </a:prstGeom>
          <a:solidFill>
            <a:srgbClr val="9375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PART.04</a:t>
            </a:r>
            <a:endParaRPr lang="zh-CN" altLang="en-US" sz="16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979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0888" y="486544"/>
            <a:ext cx="11210224" cy="588491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30200" y="954805"/>
            <a:ext cx="3483938" cy="558799"/>
          </a:xfrm>
          <a:prstGeom prst="roundRect">
            <a:avLst>
              <a:gd name="adj" fmla="val 16668"/>
            </a:avLst>
          </a:prstGeom>
          <a:solidFill>
            <a:srgbClr val="F3D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7579" y="1008156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0</a:t>
            </a:r>
            <a:r>
              <a:rPr lang="en-US" altLang="zh-CN" sz="2400" b="1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3756A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学者症候群的特征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D15AF4-D8A6-1050-B0AC-9CFD05708FDB}"/>
              </a:ext>
            </a:extLst>
          </p:cNvPr>
          <p:cNvSpPr txBox="1"/>
          <p:nvPr/>
        </p:nvSpPr>
        <p:spPr>
          <a:xfrm>
            <a:off x="697577" y="1756311"/>
            <a:ext cx="517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问题：学者症候群通常在什么时候表现出来？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BC9ED8-4F40-DEED-10C6-01E897A63A85}"/>
              </a:ext>
            </a:extLst>
          </p:cNvPr>
          <p:cNvSpPr txBox="1"/>
          <p:nvPr/>
        </p:nvSpPr>
        <p:spPr>
          <a:xfrm>
            <a:off x="697578" y="2587308"/>
            <a:ext cx="5177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答案：大多数情况下在儿童时期出现，但成年期的脑损伤或疾病也有可能导致</a:t>
            </a:r>
            <a:r>
              <a:rPr lang="zh-CN" altLang="en-US" sz="16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FD46FE-3143-0839-59BC-FF70E76E17DC}"/>
              </a:ext>
            </a:extLst>
          </p:cNvPr>
          <p:cNvSpPr txBox="1"/>
          <p:nvPr/>
        </p:nvSpPr>
        <p:spPr>
          <a:xfrm>
            <a:off x="697577" y="4049109"/>
            <a:ext cx="517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问题：大约有多少的自闭症患者同时伴有学者症候群？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FAAE40-0748-1D56-FB44-8A38DFE02293}"/>
              </a:ext>
            </a:extLst>
          </p:cNvPr>
          <p:cNvSpPr txBox="1"/>
          <p:nvPr/>
        </p:nvSpPr>
        <p:spPr>
          <a:xfrm>
            <a:off x="697577" y="4880106"/>
            <a:ext cx="5177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答案：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10%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0817EE-797A-4658-36E3-094F562502B3}"/>
              </a:ext>
            </a:extLst>
          </p:cNvPr>
          <p:cNvSpPr txBox="1"/>
          <p:nvPr/>
        </p:nvSpPr>
        <p:spPr>
          <a:xfrm>
            <a:off x="6199344" y="1756310"/>
            <a:ext cx="517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问题：学者症候群患者中，男女比是多少？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946694-48B5-39E7-0567-49AAEE71BC6B}"/>
              </a:ext>
            </a:extLst>
          </p:cNvPr>
          <p:cNvSpPr txBox="1"/>
          <p:nvPr/>
        </p:nvSpPr>
        <p:spPr>
          <a:xfrm>
            <a:off x="6199344" y="2587308"/>
            <a:ext cx="5177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答案：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 :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2226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4945570" y="1473201"/>
            <a:ext cx="1955799" cy="1955799"/>
          </a:xfrm>
          <a:prstGeom prst="ellipse">
            <a:avLst/>
          </a:prstGeom>
          <a:noFill/>
          <a:ln>
            <a:solidFill>
              <a:srgbClr val="9375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95852" y="1727825"/>
            <a:ext cx="16552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93756A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感谢观看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95400" y="3989338"/>
            <a:ext cx="960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9375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WATCHING</a:t>
            </a:r>
            <a:endParaRPr lang="zh-CN" altLang="en-US" sz="4400" dirty="0">
              <a:solidFill>
                <a:srgbClr val="9375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36633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1898</Words>
  <Application>Microsoft Office PowerPoint</Application>
  <PresentationFormat>宽屏</PresentationFormat>
  <Paragraphs>99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思源宋体 Heavy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聪 李</dc:creator>
  <cp:lastModifiedBy>承乾 马</cp:lastModifiedBy>
  <cp:revision>23</cp:revision>
  <dcterms:created xsi:type="dcterms:W3CDTF">2024-04-04T10:41:35Z</dcterms:created>
  <dcterms:modified xsi:type="dcterms:W3CDTF">2024-04-07T01:43:00Z</dcterms:modified>
</cp:coreProperties>
</file>