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2"/>
  </p:sldMasterIdLst>
  <p:notesMasterIdLst>
    <p:notesMasterId r:id="rId21"/>
  </p:notesMasterIdLst>
  <p:handoutMasterIdLst>
    <p:handoutMasterId r:id="rId22"/>
  </p:handoutMasterIdLst>
  <p:sldIdLst>
    <p:sldId id="256" r:id="rId3"/>
    <p:sldId id="263" r:id="rId4"/>
    <p:sldId id="266" r:id="rId5"/>
    <p:sldId id="269" r:id="rId6"/>
    <p:sldId id="257" r:id="rId7"/>
    <p:sldId id="258" r:id="rId8"/>
    <p:sldId id="259" r:id="rId9"/>
    <p:sldId id="260" r:id="rId10"/>
    <p:sldId id="270" r:id="rId11"/>
    <p:sldId id="261" r:id="rId12"/>
    <p:sldId id="262" r:id="rId13"/>
    <p:sldId id="271" r:id="rId14"/>
    <p:sldId id="268" r:id="rId15"/>
    <p:sldId id="272" r:id="rId16"/>
    <p:sldId id="264" r:id="rId17"/>
    <p:sldId id="273" r:id="rId18"/>
    <p:sldId id="274" r:id="rId19"/>
    <p:sldId id="265" r:id="rId20"/>
  </p:sldIdLst>
  <p:sldSz cx="14630400" cy="8229600"/>
  <p:notesSz cx="8229600" cy="14630400"/>
  <p:custDataLst>
    <p:tags r:id="rId23"/>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钰轩 李" initials="钰李" lastIdx="9"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142" autoAdjust="0"/>
  </p:normalViewPr>
  <p:slideViewPr>
    <p:cSldViewPr snapToGrid="0" snapToObjects="1">
      <p:cViewPr varScale="1">
        <p:scale>
          <a:sx n="65" d="100"/>
          <a:sy n="6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566160" cy="734061"/>
          </a:xfrm>
          <a:prstGeom prst="rect">
            <a:avLst/>
          </a:prstGeom>
        </p:spPr>
        <p:txBody>
          <a:bodyPr vert="horz" lIns="91440" tIns="45720" rIns="91440" bIns="45720" rtlCol="0"/>
          <a:lstStyle>
            <a:lvl1pPr algn="l">
              <a:defRPr sz="1440"/>
            </a:lvl1pPr>
          </a:lstStyle>
          <a:p>
            <a:endParaRPr lang="zh-CN" altLang="en-US"/>
          </a:p>
        </p:txBody>
      </p:sp>
      <p:sp>
        <p:nvSpPr>
          <p:cNvPr id="3" name="日期占位符 2"/>
          <p:cNvSpPr>
            <a:spLocks noGrp="1"/>
          </p:cNvSpPr>
          <p:nvPr>
            <p:ph type="dt" sz="quarter" idx="1"/>
          </p:nvPr>
        </p:nvSpPr>
        <p:spPr>
          <a:xfrm>
            <a:off x="4661536" y="0"/>
            <a:ext cx="3566160" cy="734061"/>
          </a:xfrm>
          <a:prstGeom prst="rect">
            <a:avLst/>
          </a:prstGeom>
        </p:spPr>
        <p:txBody>
          <a:bodyPr vert="horz" lIns="91440" tIns="45720" rIns="91440" bIns="45720" rtlCol="0"/>
          <a:lstStyle>
            <a:lvl1pPr algn="r">
              <a:defRPr sz="1440"/>
            </a:lvl1pPr>
          </a:lstStyle>
          <a:p>
            <a:fld id="{0F9B84EA-7D68-4D60-9CB1-D50884785D1C}" type="datetimeFigureOut">
              <a:rPr lang="zh-CN" altLang="en-US" smtClean="0"/>
              <a:t>2024-05-31</a:t>
            </a:fld>
            <a:endParaRPr lang="zh-CN" altLang="en-US"/>
          </a:p>
        </p:txBody>
      </p:sp>
      <p:sp>
        <p:nvSpPr>
          <p:cNvPr id="4" name="页脚占位符 3"/>
          <p:cNvSpPr>
            <a:spLocks noGrp="1"/>
          </p:cNvSpPr>
          <p:nvPr>
            <p:ph type="ftr" sz="quarter" idx="2"/>
          </p:nvPr>
        </p:nvSpPr>
        <p:spPr>
          <a:xfrm>
            <a:off x="0" y="13896341"/>
            <a:ext cx="3566160" cy="734059"/>
          </a:xfrm>
          <a:prstGeom prst="rect">
            <a:avLst/>
          </a:prstGeom>
        </p:spPr>
        <p:txBody>
          <a:bodyPr vert="horz" lIns="91440" tIns="45720" rIns="91440" bIns="45720" rtlCol="0" anchor="b"/>
          <a:lstStyle>
            <a:lvl1pPr algn="l">
              <a:defRPr sz="1440"/>
            </a:lvl1pPr>
          </a:lstStyle>
          <a:p>
            <a:endParaRPr lang="zh-CN" altLang="en-US"/>
          </a:p>
        </p:txBody>
      </p:sp>
      <p:sp>
        <p:nvSpPr>
          <p:cNvPr id="5" name="灯片编号占位符 4"/>
          <p:cNvSpPr>
            <a:spLocks noGrp="1"/>
          </p:cNvSpPr>
          <p:nvPr>
            <p:ph type="sldNum" sz="quarter" idx="3"/>
          </p:nvPr>
        </p:nvSpPr>
        <p:spPr>
          <a:xfrm>
            <a:off x="4661536" y="13896341"/>
            <a:ext cx="3566160" cy="734059"/>
          </a:xfrm>
          <a:prstGeom prst="rect">
            <a:avLst/>
          </a:prstGeom>
        </p:spPr>
        <p:txBody>
          <a:bodyPr vert="horz" lIns="91440" tIns="45720" rIns="91440" bIns="45720" rtlCol="0" anchor="b"/>
          <a:lstStyle>
            <a:lvl1pPr algn="r">
              <a:defRPr sz="144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5/31/2024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大家好，我们组汇报的主题是失读症。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接下来我将从失读症的分类、病理学基础和治疗手段三个方面进行介绍。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纯失读症，又称为字形失读症，表现出来是纯字盲。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患者在阅读单词时特别依赖于字母</a:t>
            </a:r>
            <a:r>
              <a:rPr lang="en-US" altLang="zh-CN" dirty="0"/>
              <a:t>-</a:t>
            </a:r>
            <a:r>
              <a:rPr lang="zh-CN" altLang="en-US" dirty="0"/>
              <a:t>音素的转换规则（拼音规则），而对不规则拼写的单词和整体识别单词的能力受到损害，也就是会依赖于书面单词的发音来理解其含义。无法区分同音异义词，导致了患者的阅读理解障碍。无法直接从书写形式获取单词的意义，而是必须通过发音来确认单词是否为真实单词，阅读过程理解困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304800" algn="just">
              <a:lnSpc>
                <a:spcPct val="150000"/>
              </a:lnSpc>
            </a:pPr>
            <a:r>
              <a:rPr lang="zh-CN" altLang="en-US" sz="1800" kern="100" dirty="0">
                <a:solidFill>
                  <a:srgbClr val="0D0D0D"/>
                </a:solidFill>
                <a:effectLst/>
                <a:highlight>
                  <a:srgbClr val="FFFFFF"/>
                </a:highlight>
                <a:latin typeface="宋体" panose="02010600030101010101" pitchFamily="2" charset="-122"/>
                <a:ea typeface="宋体" panose="02010600030101010101" pitchFamily="2" charset="-122"/>
                <a:cs typeface="Segoe UI" panose="020B0502040204020203" pitchFamily="34" charset="0"/>
              </a:rPr>
              <a:t>语</a:t>
            </a:r>
            <a:r>
              <a:rPr lang="zh-CN" altLang="zh-CN" sz="1800" kern="100" dirty="0">
                <a:solidFill>
                  <a:srgbClr val="0D0D0D"/>
                </a:solidFill>
                <a:effectLst/>
                <a:highlight>
                  <a:srgbClr val="FFFFFF"/>
                </a:highlight>
                <a:latin typeface="宋体" panose="02010600030101010101" pitchFamily="2" charset="-122"/>
                <a:ea typeface="宋体" panose="02010600030101010101" pitchFamily="2" charset="-122"/>
                <a:cs typeface="Segoe UI" panose="020B0502040204020203" pitchFamily="34" charset="0"/>
              </a:rPr>
              <a:t>音失读症，也称音素失读症。患者在阅读过程中特别依赖词形识别通路，而在使用字母</a:t>
            </a:r>
            <a:r>
              <a:rPr lang="en-US" altLang="zh-CN" sz="1800" kern="100" dirty="0">
                <a:solidFill>
                  <a:srgbClr val="0D0D0D"/>
                </a:solidFill>
                <a:effectLst/>
                <a:highlight>
                  <a:srgbClr val="FFFFFF"/>
                </a:highlight>
                <a:latin typeface="宋体" panose="02010600030101010101" pitchFamily="2" charset="-122"/>
                <a:ea typeface="宋体" panose="02010600030101010101" pitchFamily="2" charset="-122"/>
                <a:cs typeface="Segoe UI" panose="020B0502040204020203" pitchFamily="34" charset="0"/>
              </a:rPr>
              <a:t>-</a:t>
            </a:r>
            <a:r>
              <a:rPr lang="zh-CN" altLang="zh-CN" sz="1800" kern="100" dirty="0">
                <a:solidFill>
                  <a:srgbClr val="0D0D0D"/>
                </a:solidFill>
                <a:effectLst/>
                <a:highlight>
                  <a:srgbClr val="FFFFFF"/>
                </a:highlight>
                <a:latin typeface="宋体" panose="02010600030101010101" pitchFamily="2" charset="-122"/>
                <a:ea typeface="宋体" panose="02010600030101010101" pitchFamily="2" charset="-122"/>
                <a:cs typeface="Segoe UI" panose="020B0502040204020203" pitchFamily="34" charset="0"/>
              </a:rPr>
              <a:t>音素转换规则（即拼音规则）时遇到困难。</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这一类失读症表现出来的特征是无法通过</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拼读</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方法进行阅读，熟悉的单词可以读得很好，</a:t>
            </a:r>
            <a:r>
              <a:rPr lang="zh-CN" altLang="zh-CN" sz="1800" dirty="0">
                <a:effectLst/>
                <a:ea typeface="宋体" panose="02010600030101010101" pitchFamily="2" charset="-122"/>
                <a:cs typeface="Times New Roman" panose="02020603050405020304" pitchFamily="18" charset="0"/>
              </a:rPr>
              <a:t>整体词形识别能力较强</a:t>
            </a:r>
            <a:r>
              <a:rPr lang="zh-CN" altLang="en-US" sz="1800" dirty="0">
                <a:effectLst/>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但不熟悉的单词或可发音的错误单词则无法识别。</a:t>
            </a:r>
            <a:endPar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endParaRPr>
          </a:p>
          <a:p>
            <a:pPr indent="304800" algn="just">
              <a:lnSpc>
                <a:spcPct val="150000"/>
              </a:lnSpc>
            </a:pPr>
            <a:r>
              <a:rPr lang="zh-CN" altLang="zh-CN" sz="1800" dirty="0">
                <a:effectLst/>
                <a:ea typeface="宋体" panose="02010600030101010101" pitchFamily="2" charset="-122"/>
                <a:cs typeface="Times New Roman" panose="02020603050405020304" pitchFamily="18" charset="0"/>
              </a:rPr>
              <a:t>患者依赖词形进行识别，但在阅读新词或无意义词时遇到显著困难；难以将字母转换为相应的音素，因此不能通过拼读来阅读新词。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304800" algn="just">
              <a:lnSpc>
                <a:spcPct val="150000"/>
              </a:lnSpc>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深层失读症是</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一类</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比较复杂的失读症，通常与广泛的大脑损伤有关。</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临床症状包括</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语义错误、音素转换困难、词形识别困难、语义处理受损等等。</a:t>
            </a:r>
          </a:p>
          <a:p>
            <a:pPr indent="304800" algn="just">
              <a:lnSpc>
                <a:spcPct val="150000"/>
              </a:lnSpc>
            </a:pP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患者在大声阅读时会产生语义的理解错误，</a:t>
            </a:r>
            <a:r>
              <a:rPr lang="zh-CN" altLang="en-US" sz="1800" kern="100" dirty="0">
                <a:effectLst/>
                <a:latin typeface="宋体" panose="02010600030101010101" pitchFamily="2" charset="-122"/>
                <a:ea typeface="宋体" panose="02010600030101010101" pitchFamily="2" charset="-122"/>
                <a:cs typeface="Times New Roman" panose="02020603050405020304" pitchFamily="18" charset="0"/>
              </a:rPr>
              <a:t>具体表现为</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所读出的词语和目标词语在意义上是相关联的。语义错读可能表现为同义词（比如</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律师</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，会读成</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代理人</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）或者反义词（比如</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远</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被读成</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近</a:t>
            </a:r>
            <a:r>
              <a:rPr lang="en-US" altLang="zh-CN" sz="1800" kern="100" dirty="0">
                <a:effectLst/>
                <a:latin typeface="宋体" panose="02010600030101010101" pitchFamily="2" charset="-122"/>
                <a:ea typeface="宋体" panose="02010600030101010101" pitchFamily="2" charset="-122"/>
                <a:cs typeface="Times New Roman" panose="02020603050405020304" pitchFamily="18" charset="0"/>
              </a:rPr>
              <a:t>”</a:t>
            </a:r>
            <a:r>
              <a:rPr lang="zh-CN" altLang="zh-CN" sz="1800" kern="100" dirty="0">
                <a:effectLst/>
                <a:latin typeface="宋体" panose="02010600030101010101" pitchFamily="2" charset="-122"/>
                <a:ea typeface="宋体" panose="02010600030101010101" pitchFamily="2" charset="-122"/>
                <a:cs typeface="Times New Roman" panose="02020603050405020304" pitchFamily="18" charset="0"/>
              </a:rPr>
              <a:t>）等等。</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从病理学的角度出发，根据大脑受损部位不同，失读症包括了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在失读症的研究历史中，曾有过一些著名的病例，</a:t>
            </a:r>
            <a:r>
              <a:rPr lang="zh-CN" altLang="zh-CN" sz="1800" dirty="0">
                <a:effectLst/>
                <a:ea typeface="宋体" panose="02010600030101010101" pitchFamily="2" charset="-122"/>
                <a:cs typeface="Times New Roman" panose="02020603050405020304" pitchFamily="18" charset="0"/>
              </a:rPr>
              <a:t>这些真实的案例帮助医学界更好地理解和研究这种神经性阅读障碍</a:t>
            </a:r>
            <a:r>
              <a:rPr lang="zh-CN" altLang="en-US" sz="1800" dirty="0">
                <a:effectLst/>
                <a:ea typeface="宋体" panose="02010600030101010101" pitchFamily="2" charset="-122"/>
                <a:cs typeface="Times New Roman" panose="02020603050405020304" pitchFamily="18" charset="0"/>
              </a:rPr>
              <a:t>，也推动了</a:t>
            </a:r>
            <a:r>
              <a:rPr lang="zh-CN" altLang="en-US" dirty="0"/>
              <a:t>针对失读症的治疗手段的发展。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在失读症的研究历史中，曾有过一些著名的病例，</a:t>
            </a:r>
            <a:r>
              <a:rPr lang="zh-CN" altLang="zh-CN" sz="1800" dirty="0">
                <a:effectLst/>
                <a:ea typeface="宋体" panose="02010600030101010101" pitchFamily="2" charset="-122"/>
                <a:cs typeface="Times New Roman" panose="02020603050405020304" pitchFamily="18" charset="0"/>
              </a:rPr>
              <a:t>这些真实的案例帮助医学界更好地理解和研究这种神经性阅读障碍</a:t>
            </a:r>
            <a:r>
              <a:rPr lang="zh-CN" altLang="en-US" sz="1800" dirty="0">
                <a:effectLst/>
                <a:ea typeface="宋体" panose="02010600030101010101" pitchFamily="2" charset="-122"/>
                <a:cs typeface="Times New Roman" panose="02020603050405020304" pitchFamily="18" charset="0"/>
              </a:rPr>
              <a:t>，也推动了</a:t>
            </a:r>
            <a:r>
              <a:rPr lang="zh-CN" altLang="en-US" dirty="0"/>
              <a:t>针对失读症的治疗手段的发展。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407487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在失读症的研究历史中，曾有过一些著名的病例，</a:t>
            </a:r>
            <a:r>
              <a:rPr lang="zh-CN" altLang="zh-CN" sz="1800" dirty="0">
                <a:effectLst/>
                <a:ea typeface="宋体" panose="02010600030101010101" pitchFamily="2" charset="-122"/>
                <a:cs typeface="Times New Roman" panose="02020603050405020304" pitchFamily="18" charset="0"/>
              </a:rPr>
              <a:t>这些真实的案例帮助医学界更好地理解和研究这种神经性阅读障碍</a:t>
            </a:r>
            <a:r>
              <a:rPr lang="zh-CN" altLang="en-US" sz="1800" dirty="0">
                <a:effectLst/>
                <a:ea typeface="宋体" panose="02010600030101010101" pitchFamily="2" charset="-122"/>
                <a:cs typeface="Times New Roman" panose="02020603050405020304" pitchFamily="18" charset="0"/>
              </a:rPr>
              <a:t>，也推动了</a:t>
            </a:r>
            <a:r>
              <a:rPr lang="zh-CN" altLang="en-US" dirty="0"/>
              <a:t>针对失读症的治疗手段的发展。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471632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a:t>我的汇报到此结束，谢谢大家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2.xml"/><Relationship Id="rId5" Type="http://schemas.openxmlformats.org/officeDocument/2006/relationships/tags" Target="../tags/tag6.xml"/><Relationship Id="rId10" Type="http://schemas.openxmlformats.org/officeDocument/2006/relationships/slideLayout" Target="../slideLayouts/slideLayout1.xml"/><Relationship Id="rId4" Type="http://schemas.openxmlformats.org/officeDocument/2006/relationships/tags" Target="../tags/tag5.xml"/><Relationship Id="rId9" Type="http://schemas.openxmlformats.org/officeDocument/2006/relationships/tags" Target="../tags/tag10.xml"/></Relationships>
</file>

<file path=ppt/slides/_rels/slide3.xml.rels><?xml version="1.0" encoding="UTF-8" standalone="yes"?>
<Relationships xmlns="http://schemas.openxmlformats.org/package/2006/relationships"><Relationship Id="rId3" Type="http://schemas.openxmlformats.org/officeDocument/2006/relationships/hyperlink" Target="https://zh.wikipedia.org/wiki/%E6%99%BA%E5%8A%9B" TargetMode="External"/><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zh.wikipedia.org/wiki/%E6%9B%B8%E5%AF%AB" TargetMode="External"/><Relationship Id="rId5" Type="http://schemas.openxmlformats.org/officeDocument/2006/relationships/hyperlink" Target="https://zh.wikipedia.org/wiki/%E6%8B%BC%E5%AF%AB" TargetMode="External"/><Relationship Id="rId4" Type="http://schemas.openxmlformats.org/officeDocument/2006/relationships/hyperlink" Target="https://zh.wikipedia.org/wiki/%E9%96%B1%E8%AE%8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image" Target="../media/image4.pn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image" Target="../media/image3.pn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notesSlide" Target="../notesSlides/notesSlide5.xml"/><Relationship Id="rId5" Type="http://schemas.openxmlformats.org/officeDocument/2006/relationships/tags" Target="../tags/tag15.xml"/><Relationship Id="rId10" Type="http://schemas.openxmlformats.org/officeDocument/2006/relationships/slideLayout" Target="../slideLayouts/slideLayout1.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image" Target="../media/image11.jpe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10.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notesSlide" Target="../notesSlides/notesSlide10.xml"/><Relationship Id="rId5" Type="http://schemas.openxmlformats.org/officeDocument/2006/relationships/tags" Target="../tags/tag24.xml"/><Relationship Id="rId10" Type="http://schemas.openxmlformats.org/officeDocument/2006/relationships/slideLayout" Target="../slideLayouts/slideLayout1.xml"/><Relationship Id="rId4" Type="http://schemas.openxmlformats.org/officeDocument/2006/relationships/tags" Target="../tags/tag23.xml"/><Relationship Id="rId9" Type="http://schemas.openxmlformats.org/officeDocument/2006/relationships/tags" Target="../tags/tag2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31.xml"/><Relationship Id="rId7" Type="http://schemas.openxmlformats.org/officeDocument/2006/relationships/image" Target="../media/image16.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notesSlide" Target="../notesSlides/notesSlide15.xml"/><Relationship Id="rId5" Type="http://schemas.openxmlformats.org/officeDocument/2006/relationships/slideLayout" Target="../slideLayouts/slideLayout1.xml"/><Relationship Id="rId4" Type="http://schemas.openxmlformats.org/officeDocument/2006/relationships/tags" Target="../tags/tag32.xml"/><Relationship Id="rId9"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616518"/>
            <a:ext cx="7477601" cy="958215"/>
          </a:xfrm>
          <a:prstGeom prst="rect">
            <a:avLst/>
          </a:prstGeom>
          <a:noFill/>
        </p:spPr>
        <p:txBody>
          <a:bodyPr wrap="none" rtlCol="0" anchor="t"/>
          <a:lstStyle/>
          <a:p>
            <a:pPr marL="0" indent="0" algn="l">
              <a:lnSpc>
                <a:spcPts val="7545"/>
              </a:lnSpc>
              <a:buNone/>
            </a:pPr>
            <a:r>
              <a:rPr lang="zh-CN" altLang="en-US" sz="7200" b="1" dirty="0">
                <a:solidFill>
                  <a:schemeClr val="tx1"/>
                </a:solidFill>
                <a:effectLst/>
                <a:latin typeface="Arial" panose="020B0604020202020204"/>
                <a:ea typeface="微软雅黑" panose="020B0503020204020204" charset="-122"/>
                <a:sym typeface="Arial" panose="020B0604020202020204"/>
              </a:rPr>
              <a:t>失读症 Alexia</a:t>
            </a:r>
          </a:p>
        </p:txBody>
      </p:sp>
      <p:sp>
        <p:nvSpPr>
          <p:cNvPr id="6" name="Text 3"/>
          <p:cNvSpPr/>
          <p:nvPr/>
        </p:nvSpPr>
        <p:spPr>
          <a:xfrm>
            <a:off x="833199" y="3907988"/>
            <a:ext cx="7477601" cy="1066205"/>
          </a:xfrm>
          <a:prstGeom prst="rect">
            <a:avLst/>
          </a:prstGeom>
          <a:noFill/>
        </p:spPr>
        <p:txBody>
          <a:bodyPr wrap="square" rtlCol="0" anchor="t"/>
          <a:lstStyle/>
          <a:p>
            <a:pPr marL="0" indent="0">
              <a:lnSpc>
                <a:spcPts val="2800"/>
              </a:lnSpc>
              <a:buNone/>
            </a:pPr>
            <a:r>
              <a:rPr lang="zh-CN" altLang="en-US" sz="1750" dirty="0">
                <a:solidFill>
                  <a:srgbClr val="746558"/>
                </a:solidFill>
                <a:latin typeface="微软雅黑" panose="020B0503020204020204" charset="-122"/>
                <a:ea typeface="微软雅黑" panose="020B0503020204020204" charset="-122"/>
                <a:cs typeface="微软雅黑" panose="020B0503020204020204" charset="-122"/>
              </a:rPr>
              <a:t>汇报人：李钰轩</a:t>
            </a:r>
          </a:p>
          <a:p>
            <a:pPr marL="0" indent="0">
              <a:lnSpc>
                <a:spcPts val="2800"/>
              </a:lnSpc>
              <a:buNone/>
            </a:pPr>
            <a:r>
              <a:rPr lang="zh-CN" altLang="en-US" sz="1750" dirty="0">
                <a:solidFill>
                  <a:srgbClr val="746558"/>
                </a:solidFill>
                <a:latin typeface="微软雅黑" panose="020B0503020204020204" charset="-122"/>
                <a:ea typeface="微软雅黑" panose="020B0503020204020204" charset="-122"/>
                <a:cs typeface="微软雅黑" panose="020B0503020204020204" charset="-122"/>
              </a:rPr>
              <a:t>时间：</a:t>
            </a:r>
            <a:r>
              <a:rPr lang="en-US" altLang="zh-CN" sz="1750" dirty="0">
                <a:solidFill>
                  <a:srgbClr val="746558"/>
                </a:solidFill>
                <a:latin typeface="微软雅黑" panose="020B0503020204020204" charset="-122"/>
                <a:ea typeface="微软雅黑" panose="020B0503020204020204" charset="-122"/>
                <a:cs typeface="微软雅黑" panose="020B0503020204020204" charset="-122"/>
              </a:rPr>
              <a:t>2024</a:t>
            </a:r>
            <a:r>
              <a:rPr lang="zh-CN" altLang="en-US" sz="1750" dirty="0">
                <a:solidFill>
                  <a:srgbClr val="746558"/>
                </a:solidFill>
                <a:latin typeface="微软雅黑" panose="020B0503020204020204" charset="-122"/>
                <a:ea typeface="微软雅黑" panose="020B0503020204020204" charset="-122"/>
                <a:cs typeface="微软雅黑" panose="020B0503020204020204" charset="-122"/>
              </a:rPr>
              <a:t>年</a:t>
            </a:r>
            <a:r>
              <a:rPr lang="en-US" altLang="zh-CN" sz="1750" dirty="0">
                <a:solidFill>
                  <a:srgbClr val="746558"/>
                </a:solidFill>
                <a:latin typeface="微软雅黑" panose="020B0503020204020204" charset="-122"/>
                <a:ea typeface="微软雅黑" panose="020B0503020204020204" charset="-122"/>
                <a:cs typeface="微软雅黑" panose="020B0503020204020204" charset="-122"/>
              </a:rPr>
              <a:t>5</a:t>
            </a:r>
            <a:r>
              <a:rPr lang="zh-CN" altLang="en-US" sz="1750" dirty="0">
                <a:solidFill>
                  <a:srgbClr val="746558"/>
                </a:solidFill>
                <a:latin typeface="微软雅黑" panose="020B0503020204020204" charset="-122"/>
                <a:ea typeface="微软雅黑" panose="020B0503020204020204" charset="-122"/>
                <a:cs typeface="微软雅黑" panose="020B0503020204020204" charset="-122"/>
              </a:rPr>
              <a:t>月</a:t>
            </a:r>
            <a:r>
              <a:rPr lang="en-US" altLang="zh-CN" sz="1750" dirty="0">
                <a:solidFill>
                  <a:srgbClr val="746558"/>
                </a:solidFill>
                <a:latin typeface="微软雅黑" panose="020B0503020204020204" charset="-122"/>
                <a:ea typeface="微软雅黑" panose="020B0503020204020204" charset="-122"/>
                <a:cs typeface="微软雅黑" panose="020B0503020204020204" charset="-122"/>
              </a:rPr>
              <a:t>31</a:t>
            </a:r>
            <a:r>
              <a:rPr lang="zh-CN" altLang="en-US" sz="1750" dirty="0">
                <a:solidFill>
                  <a:srgbClr val="746558"/>
                </a:solidFill>
                <a:latin typeface="微软雅黑" panose="020B0503020204020204" charset="-122"/>
                <a:ea typeface="微软雅黑" panose="020B0503020204020204" charset="-122"/>
                <a:cs typeface="微软雅黑" panose="020B0503020204020204" charset="-122"/>
              </a:rPr>
              <a:t>日</a:t>
            </a:r>
          </a:p>
          <a:p>
            <a:pPr marL="0" indent="0">
              <a:lnSpc>
                <a:spcPts val="2800"/>
              </a:lnSpc>
              <a:buNone/>
            </a:pPr>
            <a:r>
              <a:rPr lang="zh-CN" altLang="en-US" sz="1750" dirty="0">
                <a:solidFill>
                  <a:srgbClr val="746558"/>
                </a:solidFill>
                <a:latin typeface="微软雅黑" panose="020B0503020204020204" charset="-122"/>
                <a:ea typeface="微软雅黑" panose="020B0503020204020204" charset="-122"/>
                <a:cs typeface="微软雅黑" panose="020B0503020204020204" charset="-122"/>
              </a:rPr>
              <a:t>队员：连国鑫  李钰轩 何梦环 康馨月</a:t>
            </a:r>
            <a:endParaRPr lang="en-US" altLang="zh-CN" sz="1750" dirty="0">
              <a:solidFill>
                <a:srgbClr val="746558"/>
              </a:solidFill>
              <a:latin typeface="微软雅黑" panose="020B0503020204020204" charset="-122"/>
              <a:ea typeface="微软雅黑" panose="020B0503020204020204" charset="-122"/>
              <a:cs typeface="微软雅黑" panose="020B0503020204020204" charset="-122"/>
            </a:endParaRPr>
          </a:p>
          <a:p>
            <a:pPr marL="0" indent="0">
              <a:lnSpc>
                <a:spcPts val="2800"/>
              </a:lnSpc>
              <a:buNone/>
            </a:pPr>
            <a:endParaRPr lang="zh-CN" altLang="en-US" sz="1750" dirty="0">
              <a:solidFill>
                <a:srgbClr val="746558"/>
              </a:solidFill>
              <a:latin typeface="微软雅黑" panose="020B0503020204020204" charset="-122"/>
              <a:ea typeface="微软雅黑" panose="020B0503020204020204" charset="-122"/>
              <a:cs typeface="微软雅黑" panose="020B0503020204020204" charset="-122"/>
            </a:endParaRPr>
          </a:p>
        </p:txBody>
      </p:sp>
      <p:sp>
        <p:nvSpPr>
          <p:cNvPr id="7" name="Shape 4"/>
          <p:cNvSpPr/>
          <p:nvPr/>
        </p:nvSpPr>
        <p:spPr>
          <a:xfrm>
            <a:off x="833199" y="5240774"/>
            <a:ext cx="355402" cy="355402"/>
          </a:xfrm>
          <a:prstGeom prst="roundRect">
            <a:avLst>
              <a:gd name="adj" fmla="val 25726039"/>
            </a:avLst>
          </a:prstGeom>
          <a:noFill/>
          <a:ln w="7620">
            <a:solidFill>
              <a:srgbClr val="FFFFF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0" y="0"/>
            <a:ext cx="14630400" cy="8229600"/>
          </a:xfrm>
          <a:prstGeom prst="rect">
            <a:avLst/>
          </a:prstGeom>
          <a:solidFill>
            <a:srgbClr val="F9F6F0"/>
          </a:solidFill>
        </p:spPr>
      </p:sp>
      <p:sp>
        <p:nvSpPr>
          <p:cNvPr id="5" name="Text 2"/>
          <p:cNvSpPr/>
          <p:nvPr/>
        </p:nvSpPr>
        <p:spPr>
          <a:xfrm>
            <a:off x="1181814" y="973952"/>
            <a:ext cx="7477601" cy="1388745"/>
          </a:xfrm>
          <a:prstGeom prst="rect">
            <a:avLst/>
          </a:prstGeom>
          <a:noFill/>
        </p:spPr>
        <p:txBody>
          <a:bodyPr wrap="square" rtlCol="0" anchor="t"/>
          <a:lstStyle/>
          <a:p>
            <a:pPr marL="0" indent="0">
              <a:lnSpc>
                <a:spcPts val="5470"/>
              </a:lnSpc>
              <a:buNone/>
            </a:pPr>
            <a:r>
              <a:rPr lang="zh-CN" altLang="en-US" sz="8000" b="1" dirty="0">
                <a:solidFill>
                  <a:srgbClr val="484237"/>
                </a:solidFill>
                <a:latin typeface="微软雅黑" panose="020B0503020204020204" charset="-122"/>
                <a:ea typeface="微软雅黑" panose="020B0503020204020204" charset="-122"/>
                <a:cs typeface="微软雅黑" panose="020B0503020204020204" charset="-122"/>
              </a:rPr>
              <a:t>目录</a:t>
            </a:r>
          </a:p>
        </p:txBody>
      </p:sp>
      <p:sp>
        <p:nvSpPr>
          <p:cNvPr id="6" name="Shape 3"/>
          <p:cNvSpPr/>
          <p:nvPr>
            <p:custDataLst>
              <p:tags r:id="rId1"/>
            </p:custDataLst>
          </p:nvPr>
        </p:nvSpPr>
        <p:spPr>
          <a:xfrm>
            <a:off x="1280239" y="2729706"/>
            <a:ext cx="499943" cy="499943"/>
          </a:xfrm>
          <a:prstGeom prst="roundRect">
            <a:avLst>
              <a:gd name="adj" fmla="val 26667"/>
            </a:avLst>
          </a:prstGeom>
          <a:solidFill>
            <a:srgbClr val="EFE7D6"/>
          </a:solidFill>
        </p:spPr>
      </p:sp>
      <p:sp>
        <p:nvSpPr>
          <p:cNvPr id="7" name="Text 4"/>
          <p:cNvSpPr/>
          <p:nvPr>
            <p:custDataLst>
              <p:tags r:id="rId2"/>
            </p:custDataLst>
          </p:nvPr>
        </p:nvSpPr>
        <p:spPr>
          <a:xfrm>
            <a:off x="1451570" y="2771378"/>
            <a:ext cx="157282" cy="416481"/>
          </a:xfrm>
          <a:prstGeom prst="rect">
            <a:avLst/>
          </a:prstGeom>
          <a:noFill/>
        </p:spPr>
        <p:txBody>
          <a:bodyPr wrap="none" rtlCol="0" anchor="t"/>
          <a:lstStyle/>
          <a:p>
            <a:pPr marL="0" indent="0" algn="ctr">
              <a:lnSpc>
                <a:spcPts val="3280"/>
              </a:lnSpc>
              <a:buNone/>
            </a:pPr>
            <a:r>
              <a:rPr lang="en-US" sz="3200" b="1" dirty="0"/>
              <a:t>1</a:t>
            </a:r>
          </a:p>
        </p:txBody>
      </p:sp>
      <p:sp>
        <p:nvSpPr>
          <p:cNvPr id="8" name="Text 5"/>
          <p:cNvSpPr/>
          <p:nvPr>
            <p:custDataLst>
              <p:tags r:id="rId3"/>
            </p:custDataLst>
          </p:nvPr>
        </p:nvSpPr>
        <p:spPr>
          <a:xfrm>
            <a:off x="2002353" y="2882463"/>
            <a:ext cx="2777490" cy="347186"/>
          </a:xfrm>
          <a:prstGeom prst="rect">
            <a:avLst/>
          </a:prstGeom>
          <a:noFill/>
        </p:spPr>
        <p:txBody>
          <a:bodyPr wrap="none" rtlCol="0" anchor="t"/>
          <a:lstStyle/>
          <a:p>
            <a:pPr marL="0" indent="0">
              <a:lnSpc>
                <a:spcPts val="2735"/>
              </a:lnSpc>
              <a:buNone/>
            </a:pPr>
            <a:r>
              <a:rPr lang="zh-CN" altLang="en-US" sz="5400" b="1" dirty="0">
                <a:solidFill>
                  <a:schemeClr val="accent2">
                    <a:lumMod val="50000"/>
                  </a:schemeClr>
                </a:solidFill>
                <a:latin typeface="微软雅黑" panose="020B0503020204020204" charset="-122"/>
                <a:ea typeface="微软雅黑" panose="020B0503020204020204" charset="-122"/>
                <a:cs typeface="微软雅黑" panose="020B0503020204020204" charset="-122"/>
              </a:rPr>
              <a:t>分类</a:t>
            </a:r>
          </a:p>
        </p:txBody>
      </p:sp>
      <p:sp>
        <p:nvSpPr>
          <p:cNvPr id="10" name="Shape 7"/>
          <p:cNvSpPr/>
          <p:nvPr>
            <p:custDataLst>
              <p:tags r:id="rId4"/>
            </p:custDataLst>
          </p:nvPr>
        </p:nvSpPr>
        <p:spPr>
          <a:xfrm>
            <a:off x="1280239" y="4393009"/>
            <a:ext cx="499943" cy="499943"/>
          </a:xfrm>
          <a:prstGeom prst="roundRect">
            <a:avLst>
              <a:gd name="adj" fmla="val 26667"/>
            </a:avLst>
          </a:prstGeom>
          <a:solidFill>
            <a:srgbClr val="EFE7D6"/>
          </a:solidFill>
        </p:spPr>
      </p:sp>
      <p:sp>
        <p:nvSpPr>
          <p:cNvPr id="11" name="Text 8"/>
          <p:cNvSpPr/>
          <p:nvPr>
            <p:custDataLst>
              <p:tags r:id="rId5"/>
            </p:custDataLst>
          </p:nvPr>
        </p:nvSpPr>
        <p:spPr>
          <a:xfrm>
            <a:off x="1429185" y="4392651"/>
            <a:ext cx="202049" cy="416481"/>
          </a:xfrm>
          <a:prstGeom prst="rect">
            <a:avLst/>
          </a:prstGeom>
          <a:noFill/>
        </p:spPr>
        <p:txBody>
          <a:bodyPr wrap="none" rtlCol="0" anchor="t"/>
          <a:lstStyle/>
          <a:p>
            <a:pPr algn="ctr">
              <a:lnSpc>
                <a:spcPts val="3280"/>
              </a:lnSpc>
            </a:pPr>
            <a:r>
              <a:rPr lang="en-US" sz="3200" b="1" dirty="0"/>
              <a:t>2</a:t>
            </a:r>
          </a:p>
        </p:txBody>
      </p:sp>
      <p:sp>
        <p:nvSpPr>
          <p:cNvPr id="12" name="Text 9"/>
          <p:cNvSpPr/>
          <p:nvPr>
            <p:custDataLst>
              <p:tags r:id="rId6"/>
            </p:custDataLst>
          </p:nvPr>
        </p:nvSpPr>
        <p:spPr>
          <a:xfrm>
            <a:off x="2002353" y="4469328"/>
            <a:ext cx="2777490" cy="347186"/>
          </a:xfrm>
          <a:prstGeom prst="rect">
            <a:avLst/>
          </a:prstGeom>
          <a:noFill/>
        </p:spPr>
        <p:txBody>
          <a:bodyPr wrap="none" rtlCol="0" anchor="t"/>
          <a:lstStyle/>
          <a:p>
            <a:pPr>
              <a:lnSpc>
                <a:spcPts val="2735"/>
              </a:lnSpc>
            </a:pPr>
            <a:r>
              <a:rPr lang="zh-CN" altLang="en-US" sz="5400" b="1" dirty="0">
                <a:solidFill>
                  <a:schemeClr val="accent2">
                    <a:lumMod val="50000"/>
                  </a:schemeClr>
                </a:solidFill>
                <a:latin typeface="微软雅黑" panose="020B0503020204020204" charset="-122"/>
                <a:ea typeface="微软雅黑" panose="020B0503020204020204" charset="-122"/>
              </a:rPr>
              <a:t>病理学基础</a:t>
            </a:r>
          </a:p>
        </p:txBody>
      </p:sp>
      <p:sp>
        <p:nvSpPr>
          <p:cNvPr id="15" name="Text 9"/>
          <p:cNvSpPr/>
          <p:nvPr>
            <p:custDataLst>
              <p:tags r:id="rId7"/>
            </p:custDataLst>
          </p:nvPr>
        </p:nvSpPr>
        <p:spPr>
          <a:xfrm>
            <a:off x="2002353" y="6175871"/>
            <a:ext cx="2777490" cy="347186"/>
          </a:xfrm>
          <a:prstGeom prst="rect">
            <a:avLst/>
          </a:prstGeom>
          <a:noFill/>
        </p:spPr>
        <p:txBody>
          <a:bodyPr wrap="none" rtlCol="0" anchor="t"/>
          <a:lstStyle/>
          <a:p>
            <a:pPr>
              <a:lnSpc>
                <a:spcPts val="2735"/>
              </a:lnSpc>
            </a:pPr>
            <a:r>
              <a:rPr lang="zh-CN" altLang="en-US" sz="5400" b="1" dirty="0">
                <a:solidFill>
                  <a:schemeClr val="accent2">
                    <a:lumMod val="50000"/>
                  </a:schemeClr>
                </a:solidFill>
                <a:latin typeface="微软雅黑" panose="020B0503020204020204" charset="-122"/>
                <a:ea typeface="微软雅黑" panose="020B0503020204020204" charset="-122"/>
              </a:rPr>
              <a:t>治疗手段</a:t>
            </a:r>
          </a:p>
        </p:txBody>
      </p:sp>
      <p:sp>
        <p:nvSpPr>
          <p:cNvPr id="16" name="Shape 7"/>
          <p:cNvSpPr/>
          <p:nvPr>
            <p:custDataLst>
              <p:tags r:id="rId8"/>
            </p:custDataLst>
          </p:nvPr>
        </p:nvSpPr>
        <p:spPr>
          <a:xfrm>
            <a:off x="1336394" y="6061332"/>
            <a:ext cx="499943" cy="499943"/>
          </a:xfrm>
          <a:prstGeom prst="roundRect">
            <a:avLst>
              <a:gd name="adj" fmla="val 26667"/>
            </a:avLst>
          </a:prstGeom>
          <a:solidFill>
            <a:srgbClr val="EFE7D6"/>
          </a:solidFill>
        </p:spPr>
      </p:sp>
      <p:sp>
        <p:nvSpPr>
          <p:cNvPr id="17" name="Text 8"/>
          <p:cNvSpPr/>
          <p:nvPr>
            <p:custDataLst>
              <p:tags r:id="rId9"/>
            </p:custDataLst>
          </p:nvPr>
        </p:nvSpPr>
        <p:spPr>
          <a:xfrm>
            <a:off x="1392554" y="6055995"/>
            <a:ext cx="387627" cy="443230"/>
          </a:xfrm>
          <a:prstGeom prst="rect">
            <a:avLst/>
          </a:prstGeom>
          <a:noFill/>
        </p:spPr>
        <p:txBody>
          <a:bodyPr wrap="none" rtlCol="0" anchor="t"/>
          <a:lstStyle/>
          <a:p>
            <a:pPr algn="ctr">
              <a:lnSpc>
                <a:spcPts val="3280"/>
              </a:lnSpc>
            </a:pPr>
            <a:r>
              <a:rPr lang="en-US" sz="3200" b="1" dirty="0"/>
              <a:t>3</a:t>
            </a:r>
          </a:p>
        </p:txBody>
      </p:sp>
      <p:pic>
        <p:nvPicPr>
          <p:cNvPr id="18" name="Image 0" descr="preencoded.png"/>
          <p:cNvPicPr>
            <a:picLocks noChangeAspect="1"/>
          </p:cNvPicPr>
          <p:nvPr/>
        </p:nvPicPr>
        <p:blipFill>
          <a:blip r:embed="rId12"/>
          <a:stretch>
            <a:fillRect/>
          </a:stretch>
        </p:blipFill>
        <p:spPr>
          <a:xfrm>
            <a:off x="9151620" y="0"/>
            <a:ext cx="5486400"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sp>
        <p:nvSpPr>
          <p:cNvPr id="5" name="Text 2"/>
          <p:cNvSpPr/>
          <p:nvPr/>
        </p:nvSpPr>
        <p:spPr>
          <a:xfrm>
            <a:off x="833199" y="945883"/>
            <a:ext cx="7477601" cy="1899261"/>
          </a:xfrm>
          <a:prstGeom prst="rect">
            <a:avLst/>
          </a:prstGeom>
          <a:noFill/>
        </p:spPr>
        <p:txBody>
          <a:bodyPr wrap="none" rtlCol="0" anchor="t"/>
          <a:lstStyle/>
          <a:p>
            <a:pPr marL="0" indent="0">
              <a:lnSpc>
                <a:spcPts val="7545"/>
              </a:lnSpc>
              <a:buNone/>
            </a:pPr>
            <a:r>
              <a:rPr lang="en-US" sz="6035" b="1" dirty="0">
                <a:solidFill>
                  <a:srgbClr val="484237"/>
                </a:solidFill>
                <a:latin typeface="微软雅黑" panose="020B0503020204020204" charset="-122"/>
                <a:ea typeface="微软雅黑" panose="020B0503020204020204" charset="-122"/>
                <a:cs typeface="微软雅黑" panose="020B0503020204020204" charset="-122"/>
              </a:rPr>
              <a:t>什么是失读症？</a:t>
            </a:r>
            <a:endParaRPr lang="en-US" sz="6035" dirty="0"/>
          </a:p>
        </p:txBody>
      </p:sp>
      <p:sp>
        <p:nvSpPr>
          <p:cNvPr id="6" name="Text 3"/>
          <p:cNvSpPr/>
          <p:nvPr/>
        </p:nvSpPr>
        <p:spPr>
          <a:xfrm>
            <a:off x="545706" y="2308861"/>
            <a:ext cx="7379094" cy="1427228"/>
          </a:xfrm>
          <a:prstGeom prst="rect">
            <a:avLst/>
          </a:prstGeom>
          <a:noFill/>
        </p:spPr>
        <p:txBody>
          <a:bodyPr wrap="square" rtlCol="0" anchor="t"/>
          <a:lstStyle/>
          <a:p>
            <a:r>
              <a:rPr lang="zh-CN" altLang="zh-CN" sz="2800" dirty="0">
                <a:solidFill>
                  <a:schemeClr val="accent2">
                    <a:lumMod val="75000"/>
                  </a:schemeClr>
                </a:solidFill>
                <a:latin typeface="黑体" panose="02010609060101010101" pitchFamily="49" charset="-122"/>
                <a:ea typeface="黑体" panose="02010609060101010101" pitchFamily="49" charset="-122"/>
              </a:rPr>
              <a:t>失读症（</a:t>
            </a:r>
            <a:r>
              <a:rPr lang="en-US" altLang="zh-CN" sz="2800" dirty="0">
                <a:solidFill>
                  <a:schemeClr val="accent2">
                    <a:lumMod val="75000"/>
                  </a:schemeClr>
                </a:solidFill>
                <a:latin typeface="黑体" panose="02010609060101010101" pitchFamily="49" charset="-122"/>
                <a:ea typeface="黑体" panose="02010609060101010101" pitchFamily="49" charset="-122"/>
              </a:rPr>
              <a:t>Alexia</a:t>
            </a:r>
            <a:r>
              <a:rPr lang="zh-CN" altLang="zh-CN" sz="2800" dirty="0">
                <a:solidFill>
                  <a:schemeClr val="accent2">
                    <a:lumMod val="75000"/>
                  </a:schemeClr>
                </a:solidFill>
                <a:latin typeface="黑体" panose="02010609060101010101" pitchFamily="49" charset="-122"/>
                <a:ea typeface="黑体" panose="02010609060101010101" pitchFamily="49" charset="-122"/>
              </a:rPr>
              <a:t>）是一种由于脑损伤而引起的阅读能力障碍，这种障碍通常发生在先前已经</a:t>
            </a:r>
            <a:r>
              <a:rPr lang="zh-CN" altLang="en-US" sz="2800" dirty="0">
                <a:solidFill>
                  <a:schemeClr val="accent2">
                    <a:lumMod val="75000"/>
                  </a:schemeClr>
                </a:solidFill>
                <a:latin typeface="黑体" panose="02010609060101010101" pitchFamily="49" charset="-122"/>
                <a:ea typeface="黑体" panose="02010609060101010101" pitchFamily="49" charset="-122"/>
              </a:rPr>
              <a:t>具备识字能力的个体身上，和发育性阅读障碍</a:t>
            </a:r>
            <a:r>
              <a:rPr lang="zh-CN" altLang="zh-CN" sz="2800" dirty="0">
                <a:solidFill>
                  <a:schemeClr val="accent2">
                    <a:lumMod val="75000"/>
                  </a:schemeClr>
                </a:solidFill>
                <a:latin typeface="黑体" panose="02010609060101010101" pitchFamily="49" charset="-122"/>
                <a:ea typeface="黑体" panose="02010609060101010101" pitchFamily="49" charset="-122"/>
              </a:rPr>
              <a:t>不同，</a:t>
            </a:r>
            <a:r>
              <a:rPr lang="en-US" altLang="zh-CN" sz="2800" dirty="0">
                <a:solidFill>
                  <a:schemeClr val="accent2">
                    <a:lumMod val="75000"/>
                  </a:schemeClr>
                </a:solidFill>
                <a:latin typeface="黑体" panose="02010609060101010101" pitchFamily="49" charset="-122"/>
                <a:ea typeface="黑体" panose="02010609060101010101" pitchFamily="49" charset="-122"/>
              </a:rPr>
              <a:t>Alexia</a:t>
            </a:r>
            <a:r>
              <a:rPr lang="zh-CN" altLang="zh-CN" sz="2800" dirty="0">
                <a:solidFill>
                  <a:schemeClr val="accent2">
                    <a:lumMod val="75000"/>
                  </a:schemeClr>
                </a:solidFill>
                <a:latin typeface="黑体" panose="02010609060101010101" pitchFamily="49" charset="-122"/>
                <a:ea typeface="黑体" panose="02010609060101010101" pitchFamily="49" charset="-122"/>
              </a:rPr>
              <a:t>是后天获得的，通常是由中风、创伤性脑损伤、脑肿瘤或其他类型的脑病变引起的。</a:t>
            </a:r>
            <a:endParaRPr lang="en-US" altLang="zh-CN" sz="2800" dirty="0">
              <a:solidFill>
                <a:schemeClr val="accent2">
                  <a:lumMod val="75000"/>
                </a:schemeClr>
              </a:solidFill>
              <a:latin typeface="黑体" panose="02010609060101010101" pitchFamily="49" charset="-122"/>
              <a:ea typeface="黑体" panose="02010609060101010101" pitchFamily="49" charset="-122"/>
            </a:endParaRPr>
          </a:p>
          <a:p>
            <a:r>
              <a:rPr lang="zh-CN" altLang="en-US" sz="2800" dirty="0">
                <a:solidFill>
                  <a:schemeClr val="accent2">
                    <a:lumMod val="75000"/>
                  </a:schemeClr>
                </a:solidFill>
                <a:latin typeface="黑体" panose="02010609060101010101" pitchFamily="49" charset="-122"/>
                <a:ea typeface="黑体" panose="02010609060101010101" pitchFamily="49" charset="-122"/>
              </a:rPr>
              <a:t>患者</a:t>
            </a:r>
            <a:r>
              <a:rPr lang="zh-CN" altLang="zh-CN" sz="2800" dirty="0">
                <a:solidFill>
                  <a:schemeClr val="accent2">
                    <a:lumMod val="75000"/>
                  </a:schemeClr>
                </a:solidFill>
                <a:latin typeface="黑体" panose="02010609060101010101" pitchFamily="49" charset="-122"/>
                <a:ea typeface="黑体" panose="02010609060101010101" pitchFamily="49" charset="-122"/>
              </a:rPr>
              <a:t>在</a:t>
            </a:r>
            <a:r>
              <a:rPr lang="en-US" altLang="zh-CN" sz="2800" dirty="0">
                <a:solidFill>
                  <a:schemeClr val="accent2">
                    <a:lumMod val="75000"/>
                  </a:schemeClr>
                </a:solidFill>
                <a:latin typeface="黑体" panose="02010609060101010101" pitchFamily="49" charset="-122"/>
                <a:ea typeface="黑体" panose="02010609060101010101" pitchFamily="49" charset="-122"/>
                <a:hlinkClick r:id="rId3" tooltip="智力"/>
              </a:rPr>
              <a:t>智力</a:t>
            </a:r>
            <a:r>
              <a:rPr lang="zh-CN" altLang="zh-CN" sz="2800" dirty="0">
                <a:solidFill>
                  <a:schemeClr val="accent2">
                    <a:lumMod val="75000"/>
                  </a:schemeClr>
                </a:solidFill>
                <a:latin typeface="黑体" panose="02010609060101010101" pitchFamily="49" charset="-122"/>
                <a:ea typeface="黑体" panose="02010609060101010101" pitchFamily="49" charset="-122"/>
              </a:rPr>
              <a:t>无缺损的状况下，对于</a:t>
            </a:r>
            <a:r>
              <a:rPr lang="en-US" altLang="zh-CN" sz="2800" dirty="0">
                <a:solidFill>
                  <a:schemeClr val="accent2">
                    <a:lumMod val="75000"/>
                  </a:schemeClr>
                </a:solidFill>
                <a:latin typeface="黑体" panose="02010609060101010101" pitchFamily="49" charset="-122"/>
                <a:ea typeface="黑体" panose="02010609060101010101" pitchFamily="49" charset="-122"/>
                <a:hlinkClick r:id="rId4" tooltip="阅读"/>
              </a:rPr>
              <a:t>阅读</a:t>
            </a:r>
            <a:r>
              <a:rPr lang="zh-CN" altLang="zh-CN" sz="2800" dirty="0">
                <a:solidFill>
                  <a:schemeClr val="accent2">
                    <a:lumMod val="75000"/>
                  </a:schemeClr>
                </a:solidFill>
                <a:latin typeface="黑体" panose="02010609060101010101" pitchFamily="49" charset="-122"/>
                <a:ea typeface="黑体" panose="02010609060101010101" pitchFamily="49" charset="-122"/>
              </a:rPr>
              <a:t>和书写文字具有困难的症状</a:t>
            </a:r>
            <a:r>
              <a:rPr lang="zh-CN" altLang="en-US" sz="2800" dirty="0">
                <a:solidFill>
                  <a:schemeClr val="accent2">
                    <a:lumMod val="75000"/>
                  </a:schemeClr>
                </a:solidFill>
                <a:latin typeface="黑体" panose="02010609060101010101" pitchFamily="49" charset="-122"/>
                <a:ea typeface="黑体" panose="02010609060101010101" pitchFamily="49" charset="-122"/>
              </a:rPr>
              <a:t>，</a:t>
            </a:r>
            <a:r>
              <a:rPr lang="zh-CN" altLang="zh-CN" sz="2800" dirty="0">
                <a:solidFill>
                  <a:schemeClr val="accent2">
                    <a:lumMod val="75000"/>
                  </a:schemeClr>
                </a:solidFill>
                <a:latin typeface="黑体" panose="02010609060101010101" pitchFamily="49" charset="-122"/>
                <a:ea typeface="黑体" panose="02010609060101010101" pitchFamily="49" charset="-122"/>
              </a:rPr>
              <a:t>严重程度</a:t>
            </a:r>
            <a:r>
              <a:rPr lang="zh-CN" altLang="en-US" sz="2800" dirty="0">
                <a:solidFill>
                  <a:schemeClr val="accent2">
                    <a:lumMod val="75000"/>
                  </a:schemeClr>
                </a:solidFill>
                <a:latin typeface="黑体" panose="02010609060101010101" pitchFamily="49" charset="-122"/>
                <a:ea typeface="黑体" panose="02010609060101010101" pitchFamily="49" charset="-122"/>
              </a:rPr>
              <a:t>则</a:t>
            </a:r>
            <a:r>
              <a:rPr lang="zh-CN" altLang="zh-CN" sz="2800" dirty="0">
                <a:solidFill>
                  <a:schemeClr val="accent2">
                    <a:lumMod val="75000"/>
                  </a:schemeClr>
                </a:solidFill>
                <a:latin typeface="黑体" panose="02010609060101010101" pitchFamily="49" charset="-122"/>
                <a:ea typeface="黑体" panose="02010609060101010101" pitchFamily="49" charset="-122"/>
              </a:rPr>
              <a:t>因人而异。其他的症状包括难以</a:t>
            </a:r>
            <a:r>
              <a:rPr lang="en-US" altLang="zh-CN" sz="2800" dirty="0">
                <a:solidFill>
                  <a:schemeClr val="accent2">
                    <a:lumMod val="75000"/>
                  </a:schemeClr>
                </a:solidFill>
                <a:latin typeface="黑体" panose="02010609060101010101" pitchFamily="49" charset="-122"/>
                <a:ea typeface="黑体" panose="02010609060101010101" pitchFamily="49" charset="-122"/>
                <a:hlinkClick r:id="rId5" tooltip="拼写"/>
              </a:rPr>
              <a:t>拼出单字</a:t>
            </a:r>
            <a:r>
              <a:rPr lang="zh-CN" altLang="zh-CN" sz="2800" dirty="0">
                <a:solidFill>
                  <a:schemeClr val="accent2">
                    <a:lumMod val="75000"/>
                  </a:schemeClr>
                </a:solidFill>
                <a:latin typeface="黑体" panose="02010609060101010101" pitchFamily="49" charset="-122"/>
                <a:ea typeface="黑体" panose="02010609060101010101" pitchFamily="49" charset="-122"/>
              </a:rPr>
              <a:t>，难以快速朗读字词、无法专注</a:t>
            </a:r>
            <a:r>
              <a:rPr lang="en-US" altLang="zh-CN" sz="2800" dirty="0">
                <a:solidFill>
                  <a:schemeClr val="accent2">
                    <a:lumMod val="75000"/>
                  </a:schemeClr>
                </a:solidFill>
                <a:latin typeface="黑体" panose="02010609060101010101" pitchFamily="49" charset="-122"/>
                <a:ea typeface="黑体" panose="02010609060101010101" pitchFamily="49" charset="-122"/>
                <a:hlinkClick r:id="rId4" tooltip="阅读"/>
              </a:rPr>
              <a:t>阅读</a:t>
            </a:r>
            <a:r>
              <a:rPr lang="zh-CN" altLang="zh-CN" sz="2800" dirty="0">
                <a:solidFill>
                  <a:schemeClr val="accent2">
                    <a:lumMod val="75000"/>
                  </a:schemeClr>
                </a:solidFill>
                <a:latin typeface="黑体" panose="02010609060101010101" pitchFamily="49" charset="-122"/>
                <a:ea typeface="黑体" panose="02010609060101010101" pitchFamily="49" charset="-122"/>
              </a:rPr>
              <a:t>、难以连续</a:t>
            </a:r>
            <a:r>
              <a:rPr lang="en-US" altLang="zh-CN" sz="2800" dirty="0">
                <a:solidFill>
                  <a:schemeClr val="accent2">
                    <a:lumMod val="75000"/>
                  </a:schemeClr>
                </a:solidFill>
                <a:latin typeface="黑体" panose="02010609060101010101" pitchFamily="49" charset="-122"/>
                <a:ea typeface="黑体" panose="02010609060101010101" pitchFamily="49" charset="-122"/>
                <a:hlinkClick r:id="rId6" tooltip="书写"/>
              </a:rPr>
              <a:t>书写</a:t>
            </a:r>
            <a:r>
              <a:rPr lang="zh-CN" altLang="zh-CN" sz="2800" dirty="0">
                <a:solidFill>
                  <a:schemeClr val="accent2">
                    <a:lumMod val="75000"/>
                  </a:schemeClr>
                </a:solidFill>
                <a:latin typeface="黑体" panose="02010609060101010101" pitchFamily="49" charset="-122"/>
                <a:ea typeface="黑体" panose="02010609060101010101" pitchFamily="49" charset="-122"/>
              </a:rPr>
              <a:t>、无法言说脑中的</a:t>
            </a:r>
            <a:r>
              <a:rPr lang="zh-CN" altLang="en-US" sz="2800" dirty="0">
                <a:solidFill>
                  <a:schemeClr val="accent2">
                    <a:lumMod val="75000"/>
                  </a:schemeClr>
                </a:solidFill>
                <a:latin typeface="黑体" panose="02010609060101010101" pitchFamily="49" charset="-122"/>
                <a:ea typeface="黑体" panose="02010609060101010101" pitchFamily="49" charset="-122"/>
              </a:rPr>
              <a:t>词汇</a:t>
            </a:r>
            <a:r>
              <a:rPr lang="zh-CN" altLang="zh-CN" sz="2800" dirty="0">
                <a:solidFill>
                  <a:schemeClr val="accent2">
                    <a:lumMod val="75000"/>
                  </a:schemeClr>
                </a:solidFill>
                <a:latin typeface="黑体" panose="02010609060101010101" pitchFamily="49" charset="-122"/>
                <a:ea typeface="黑体" panose="02010609060101010101" pitchFamily="49" charset="-122"/>
              </a:rPr>
              <a:t>，或是无法理解阅读的内容</a:t>
            </a:r>
            <a:r>
              <a:rPr lang="zh-CN" altLang="en-US" sz="2800" dirty="0">
                <a:solidFill>
                  <a:schemeClr val="accent2">
                    <a:lumMod val="75000"/>
                  </a:schemeClr>
                </a:solidFill>
                <a:latin typeface="黑体" panose="02010609060101010101" pitchFamily="49" charset="-122"/>
                <a:ea typeface="黑体" panose="02010609060101010101" pitchFamily="49" charset="-122"/>
              </a:rPr>
              <a:t>等等</a:t>
            </a:r>
            <a:r>
              <a:rPr lang="zh-CN" altLang="zh-CN" sz="2800" dirty="0">
                <a:solidFill>
                  <a:schemeClr val="accent2">
                    <a:lumMod val="75000"/>
                  </a:schemeClr>
                </a:solidFill>
                <a:latin typeface="黑体" panose="02010609060101010101" pitchFamily="49" charset="-122"/>
                <a:ea typeface="黑体" panose="02010609060101010101" pitchFamily="49" charset="-122"/>
              </a:rPr>
              <a:t>。</a:t>
            </a:r>
            <a:endParaRPr lang="en-US" sz="2400" dirty="0">
              <a:solidFill>
                <a:schemeClr val="accent2">
                  <a:lumMod val="75000"/>
                </a:schemeClr>
              </a:solidFill>
              <a:latin typeface="黑体" panose="02010609060101010101" pitchFamily="49" charset="-122"/>
              <a:ea typeface="黑体" panose="02010609060101010101" pitchFamily="49" charset="-122"/>
            </a:endParaRPr>
          </a:p>
        </p:txBody>
      </p:sp>
      <p:sp>
        <p:nvSpPr>
          <p:cNvPr id="7" name="Shape 4"/>
          <p:cNvSpPr/>
          <p:nvPr/>
        </p:nvSpPr>
        <p:spPr>
          <a:xfrm>
            <a:off x="833199" y="5240774"/>
            <a:ext cx="355402" cy="355402"/>
          </a:xfrm>
          <a:prstGeom prst="roundRect">
            <a:avLst>
              <a:gd name="adj" fmla="val 25726039"/>
            </a:avLst>
          </a:prstGeom>
          <a:noFill/>
          <a:ln w="7620">
            <a:solidFill>
              <a:srgbClr val="FFFFFF"/>
            </a:solidFill>
            <a:prstDash val="solid"/>
          </a:ln>
        </p:spPr>
      </p:sp>
      <p:sp>
        <p:nvSpPr>
          <p:cNvPr id="9" name="Text 5"/>
          <p:cNvSpPr/>
          <p:nvPr/>
        </p:nvSpPr>
        <p:spPr>
          <a:xfrm>
            <a:off x="1299686" y="5224105"/>
            <a:ext cx="1031677" cy="388858"/>
          </a:xfrm>
          <a:prstGeom prst="rect">
            <a:avLst/>
          </a:prstGeom>
          <a:noFill/>
        </p:spPr>
        <p:txBody>
          <a:bodyPr wrap="none" rtlCol="0" anchor="t"/>
          <a:lstStyle/>
          <a:p>
            <a:pPr marL="0" indent="0" algn="l">
              <a:lnSpc>
                <a:spcPts val="3060"/>
              </a:lnSpc>
              <a:buNone/>
            </a:pPr>
            <a:endParaRPr lang="en-US" sz="2185" dirty="0"/>
          </a:p>
        </p:txBody>
      </p:sp>
      <p:sp>
        <p:nvSpPr>
          <p:cNvPr id="11" name="AutoShape 2" descr="神经病学，神经疾病，局灶性神经学征象，失语症，医学诊断-反馈PNG图片素材下载_图片编号825024-PNG素材网"/>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2" name="AutoShape 4" descr="神经病学，神经疾病，局灶性神经学征象，失语症，医学诊断-反馈PNG图片素材下载_图片编号825024-PNG素材网"/>
          <p:cNvSpPr>
            <a:spLocks noChangeAspect="1" noChangeArrowheads="1"/>
          </p:cNvSpPr>
          <p:nvPr/>
        </p:nvSpPr>
        <p:spPr bwMode="auto">
          <a:xfrm>
            <a:off x="7315200" y="411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3" name="AutoShape 6" descr="神经病学，神经疾病，局灶性神经学征象，失语症，医学诊断-反馈PNG图片素材下载_图片编号825024-PNG素材网"/>
          <p:cNvSpPr>
            <a:spLocks noChangeAspect="1" noChangeArrowheads="1"/>
          </p:cNvSpPr>
          <p:nvPr/>
        </p:nvSpPr>
        <p:spPr bwMode="auto">
          <a:xfrm>
            <a:off x="7467600" y="426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4" name="AutoShape 8" descr="神经病学，神经疾病，局灶性神经学征象，失语症，医学诊断-反馈PNG图片素材下载_图片编号825024-PNG素材网"/>
          <p:cNvSpPr>
            <a:spLocks noChangeAspect="1" noChangeArrowheads="1"/>
          </p:cNvSpPr>
          <p:nvPr/>
        </p:nvSpPr>
        <p:spPr bwMode="auto">
          <a:xfrm>
            <a:off x="7620000" y="4419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7" name="AutoShape 10" descr="神经病学，神经疾病，局灶性神经学征象，失语症，医学诊断-反馈PNG图片素材下载_图片编号825024-PNG素材网"/>
          <p:cNvSpPr>
            <a:spLocks noChangeAspect="1" noChangeArrowheads="1"/>
          </p:cNvSpPr>
          <p:nvPr/>
        </p:nvSpPr>
        <p:spPr bwMode="auto">
          <a:xfrm>
            <a:off x="7772400" y="457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8" name="AutoShape 12" descr="神经病学，神经疾病，局灶性神经学征象，失语症，医学诊断-反馈PNG图片素材下载_图片编号825024-PNG素材网"/>
          <p:cNvSpPr>
            <a:spLocks noChangeAspect="1" noChangeArrowheads="1"/>
          </p:cNvSpPr>
          <p:nvPr/>
        </p:nvSpPr>
        <p:spPr bwMode="auto">
          <a:xfrm>
            <a:off x="7924800" y="4724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9" name="AutoShape 14" descr="神经病学，神经疾病，局灶性神经学征象，失语症，医学诊断-反馈PNG图片素材下载_图片编号825024-PNG素材网"/>
          <p:cNvSpPr>
            <a:spLocks noChangeAspect="1" noChangeArrowheads="1"/>
          </p:cNvSpPr>
          <p:nvPr/>
        </p:nvSpPr>
        <p:spPr bwMode="auto">
          <a:xfrm>
            <a:off x="8077200" y="5029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0" name="AutoShape 16" descr="失语症Aphasia的小站 （豆瓣音乐人）"/>
          <p:cNvSpPr>
            <a:spLocks noChangeAspect="1" noChangeArrowheads="1"/>
          </p:cNvSpPr>
          <p:nvPr/>
        </p:nvSpPr>
        <p:spPr bwMode="auto">
          <a:xfrm>
            <a:off x="8229600" y="5181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AutoShape 18" descr="失语症Aphasia的小站 （豆瓣音乐人）"/>
          <p:cNvSpPr>
            <a:spLocks noChangeAspect="1" noChangeArrowheads="1"/>
          </p:cNvSpPr>
          <p:nvPr/>
        </p:nvSpPr>
        <p:spPr bwMode="auto">
          <a:xfrm>
            <a:off x="8077200" y="487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22" name="图片 21"/>
          <p:cNvPicPr>
            <a:picLocks noChangeAspect="1"/>
          </p:cNvPicPr>
          <p:nvPr/>
        </p:nvPicPr>
        <p:blipFill rotWithShape="1">
          <a:blip r:embed="rId7"/>
          <a:srcRect l="3104" r="892"/>
          <a:stretch>
            <a:fillRect/>
          </a:stretch>
        </p:blipFill>
        <p:spPr>
          <a:xfrm>
            <a:off x="8124867" y="1476400"/>
            <a:ext cx="6505533" cy="55815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9525"/>
            <a:ext cx="14630400" cy="8229600"/>
          </a:xfrm>
          <a:prstGeom prst="rect">
            <a:avLst/>
          </a:prstGeom>
          <a:solidFill>
            <a:srgbClr val="F9F6F0"/>
          </a:solidFill>
        </p:spPr>
      </p:sp>
      <p:pic>
        <p:nvPicPr>
          <p:cNvPr id="4" name="Image 0" descr="preencoded.png"/>
          <p:cNvPicPr>
            <a:picLocks noChangeAspect="1"/>
          </p:cNvPicPr>
          <p:nvPr/>
        </p:nvPicPr>
        <p:blipFill>
          <a:blip r:embed="rId3"/>
          <a:stretch>
            <a:fillRect/>
          </a:stretch>
        </p:blipFill>
        <p:spPr>
          <a:xfrm>
            <a:off x="9151620" y="19050"/>
            <a:ext cx="5486400" cy="8229600"/>
          </a:xfrm>
          <a:prstGeom prst="rect">
            <a:avLst/>
          </a:prstGeom>
        </p:spPr>
      </p:pic>
      <p:sp>
        <p:nvSpPr>
          <p:cNvPr id="5" name="Text 2"/>
          <p:cNvSpPr/>
          <p:nvPr/>
        </p:nvSpPr>
        <p:spPr>
          <a:xfrm>
            <a:off x="833199" y="2616518"/>
            <a:ext cx="7477601" cy="958215"/>
          </a:xfrm>
          <a:prstGeom prst="rect">
            <a:avLst/>
          </a:prstGeom>
          <a:noFill/>
        </p:spPr>
        <p:txBody>
          <a:bodyPr wrap="none" rtlCol="0" anchor="t"/>
          <a:lstStyle/>
          <a:p>
            <a:pPr marL="0" indent="0" algn="l">
              <a:lnSpc>
                <a:spcPts val="7545"/>
              </a:lnSpc>
              <a:buNone/>
            </a:pPr>
            <a:r>
              <a:rPr lang="en-US" altLang="zh-CN" sz="6035" b="1" dirty="0">
                <a:solidFill>
                  <a:schemeClr val="tx1"/>
                </a:solidFill>
                <a:effectLst/>
                <a:latin typeface="Arial" panose="020B0604020202020204"/>
                <a:ea typeface="微软雅黑" panose="020B0503020204020204" charset="-122"/>
                <a:sym typeface="Arial" panose="020B0604020202020204"/>
              </a:rPr>
              <a:t>Part 1</a:t>
            </a:r>
          </a:p>
          <a:p>
            <a:pPr marL="0" indent="0" algn="l">
              <a:lnSpc>
                <a:spcPts val="7545"/>
              </a:lnSpc>
              <a:buNone/>
            </a:pPr>
            <a:endParaRPr lang="zh-CN" altLang="en-US" sz="6035" b="1" dirty="0">
              <a:solidFill>
                <a:schemeClr val="tx1"/>
              </a:solidFill>
              <a:effectLst/>
              <a:latin typeface="Arial" panose="020B0604020202020204"/>
              <a:ea typeface="微软雅黑" panose="020B0503020204020204" charset="-122"/>
              <a:sym typeface="Arial" panose="020B0604020202020204"/>
            </a:endParaRPr>
          </a:p>
          <a:p>
            <a:pPr marL="0" indent="0" algn="l">
              <a:lnSpc>
                <a:spcPts val="7545"/>
              </a:lnSpc>
              <a:buNone/>
            </a:pPr>
            <a:r>
              <a:rPr lang="zh-CN" altLang="en-US" sz="8000" b="1" dirty="0">
                <a:solidFill>
                  <a:schemeClr val="accent2">
                    <a:lumMod val="50000"/>
                  </a:schemeClr>
                </a:solidFill>
                <a:effectLst/>
                <a:latin typeface="Arial" panose="020B0604020202020204"/>
                <a:ea typeface="微软雅黑" panose="020B0503020204020204" charset="-122"/>
                <a:sym typeface="Arial" panose="020B0604020202020204"/>
              </a:rPr>
              <a:t>失读症分类</a:t>
            </a:r>
          </a:p>
        </p:txBody>
      </p:sp>
      <p:sp>
        <p:nvSpPr>
          <p:cNvPr id="7" name="Shape 4"/>
          <p:cNvSpPr/>
          <p:nvPr/>
        </p:nvSpPr>
        <p:spPr>
          <a:xfrm>
            <a:off x="833199" y="5240774"/>
            <a:ext cx="355402" cy="355402"/>
          </a:xfrm>
          <a:prstGeom prst="roundRect">
            <a:avLst>
              <a:gd name="adj" fmla="val 25726039"/>
            </a:avLst>
          </a:prstGeom>
          <a:noFill/>
          <a:ln w="7620">
            <a:solidFill>
              <a:srgbClr val="FFFFFF"/>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60" y="0"/>
            <a:ext cx="14630400" cy="8229600"/>
          </a:xfrm>
          <a:prstGeom prst="rect">
            <a:avLst/>
          </a:prstGeom>
          <a:solidFill>
            <a:srgbClr val="F9F6F0"/>
          </a:solidFill>
        </p:spPr>
      </p:sp>
      <p:sp>
        <p:nvSpPr>
          <p:cNvPr id="4" name="Text 2"/>
          <p:cNvSpPr/>
          <p:nvPr/>
        </p:nvSpPr>
        <p:spPr>
          <a:xfrm>
            <a:off x="2037993" y="1579721"/>
            <a:ext cx="5554980" cy="694373"/>
          </a:xfrm>
          <a:prstGeom prst="rect">
            <a:avLst/>
          </a:prstGeom>
          <a:noFill/>
        </p:spPr>
        <p:txBody>
          <a:bodyPr wrap="none" rtlCol="0" anchor="t"/>
          <a:lstStyle/>
          <a:p>
            <a:pPr>
              <a:lnSpc>
                <a:spcPts val="5470"/>
              </a:lnSpc>
            </a:pPr>
            <a:r>
              <a:rPr lang="en-US" sz="5400" b="1" dirty="0">
                <a:solidFill>
                  <a:srgbClr val="484237"/>
                </a:solidFill>
                <a:latin typeface="微软雅黑" panose="020B0503020204020204" charset="-122"/>
                <a:ea typeface="微软雅黑" panose="020B0503020204020204" charset="-122"/>
              </a:rPr>
              <a:t>纯失读症</a:t>
            </a:r>
            <a:r>
              <a:rPr lang="zh-CN" altLang="en-US" sz="1750" dirty="0">
                <a:solidFill>
                  <a:schemeClr val="accent2">
                    <a:lumMod val="75000"/>
                  </a:schemeClr>
                </a:solidFill>
                <a:latin typeface="微软雅黑" panose="020B0503020204020204" charset="-122"/>
                <a:ea typeface="微软雅黑" panose="020B0503020204020204" charset="-122"/>
              </a:rPr>
              <a:t>（</a:t>
            </a:r>
            <a:r>
              <a:rPr lang="zh-CN" altLang="zh-CN" sz="1750" dirty="0">
                <a:solidFill>
                  <a:schemeClr val="accent2">
                    <a:lumMod val="75000"/>
                  </a:schemeClr>
                </a:solidFill>
                <a:latin typeface="微软雅黑" panose="020B0503020204020204" charset="-122"/>
                <a:ea typeface="微软雅黑" panose="020B0503020204020204" charset="-122"/>
              </a:rPr>
              <a:t>字形失读症</a:t>
            </a:r>
            <a:r>
              <a:rPr lang="zh-CN" altLang="en-US" sz="1750" dirty="0">
                <a:solidFill>
                  <a:schemeClr val="accent2">
                    <a:lumMod val="75000"/>
                  </a:schemeClr>
                </a:solidFill>
                <a:latin typeface="微软雅黑" panose="020B0503020204020204" charset="-122"/>
                <a:ea typeface="微软雅黑" panose="020B0503020204020204" charset="-122"/>
              </a:rPr>
              <a:t>）</a:t>
            </a:r>
            <a:endParaRPr lang="en-US" sz="1750" dirty="0">
              <a:solidFill>
                <a:schemeClr val="accent2">
                  <a:lumMod val="75000"/>
                </a:schemeClr>
              </a:solidFill>
              <a:latin typeface="微软雅黑" panose="020B0503020204020204" charset="-122"/>
              <a:ea typeface="微软雅黑" panose="020B0503020204020204" charset="-122"/>
            </a:endParaRPr>
          </a:p>
        </p:txBody>
      </p:sp>
      <p:pic>
        <p:nvPicPr>
          <p:cNvPr id="5" name="Image 0" descr="preencoded.png"/>
          <p:cNvPicPr>
            <a:picLocks noChangeAspect="1"/>
          </p:cNvPicPr>
          <p:nvPr>
            <p:custDataLst>
              <p:tags r:id="rId1"/>
            </p:custDataLst>
          </p:nvPr>
        </p:nvPicPr>
        <p:blipFill>
          <a:blip r:embed="rId12"/>
          <a:stretch>
            <a:fillRect/>
          </a:stretch>
        </p:blipFill>
        <p:spPr>
          <a:xfrm>
            <a:off x="2037993" y="2718435"/>
            <a:ext cx="2834402" cy="1751767"/>
          </a:xfrm>
          <a:prstGeom prst="rect">
            <a:avLst/>
          </a:prstGeom>
        </p:spPr>
      </p:pic>
      <p:sp>
        <p:nvSpPr>
          <p:cNvPr id="6" name="Text 3"/>
          <p:cNvSpPr/>
          <p:nvPr>
            <p:custDataLst>
              <p:tags r:id="rId2"/>
            </p:custDataLst>
          </p:nvPr>
        </p:nvSpPr>
        <p:spPr>
          <a:xfrm>
            <a:off x="2037993" y="4747855"/>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识别困难</a:t>
            </a:r>
          </a:p>
        </p:txBody>
      </p:sp>
      <p:sp>
        <p:nvSpPr>
          <p:cNvPr id="7" name="Text 4"/>
          <p:cNvSpPr/>
          <p:nvPr>
            <p:custDataLst>
              <p:tags r:id="rId3"/>
            </p:custDataLst>
          </p:nvPr>
        </p:nvSpPr>
        <p:spPr>
          <a:xfrm>
            <a:off x="2037993" y="5228273"/>
            <a:ext cx="3295888" cy="1421606"/>
          </a:xfrm>
          <a:prstGeom prst="rect">
            <a:avLst/>
          </a:prstGeom>
          <a:noFill/>
        </p:spPr>
        <p:txBody>
          <a:bodyPr wrap="square" rtlCol="0" anchor="t"/>
          <a:lstStyle/>
          <a:p>
            <a:pPr algn="ctr">
              <a:lnSpc>
                <a:spcPts val="2800"/>
              </a:lnSpc>
            </a:pPr>
            <a:r>
              <a:rPr lang="en-US" sz="2000" dirty="0">
                <a:solidFill>
                  <a:srgbClr val="746558"/>
                </a:solidFill>
                <a:latin typeface="微软雅黑" panose="020B0503020204020204" charset="-122"/>
                <a:ea typeface="微软雅黑" panose="020B0503020204020204" charset="-122"/>
              </a:rPr>
              <a:t>纯失读症患者在阅读单词时遇到极大困难，需要逐字拼读。他们对字母的识别保留较好，但单词的识别严重受损。</a:t>
            </a:r>
          </a:p>
        </p:txBody>
      </p:sp>
      <p:pic>
        <p:nvPicPr>
          <p:cNvPr id="8" name="Image 1" descr="preencoded.png"/>
          <p:cNvPicPr>
            <a:picLocks noChangeAspect="1"/>
          </p:cNvPicPr>
          <p:nvPr>
            <p:custDataLst>
              <p:tags r:id="rId4"/>
            </p:custDataLst>
          </p:nvPr>
        </p:nvPicPr>
        <p:blipFill rotWithShape="1">
          <a:blip r:embed="rId13"/>
          <a:srcRect b="12258"/>
          <a:stretch>
            <a:fillRect/>
          </a:stretch>
        </p:blipFill>
        <p:spPr>
          <a:xfrm>
            <a:off x="5667137" y="2718436"/>
            <a:ext cx="3230502" cy="1751766"/>
          </a:xfrm>
          <a:prstGeom prst="rect">
            <a:avLst/>
          </a:prstGeom>
        </p:spPr>
      </p:pic>
      <p:sp>
        <p:nvSpPr>
          <p:cNvPr id="9" name="Text 5"/>
          <p:cNvSpPr/>
          <p:nvPr>
            <p:custDataLst>
              <p:tags r:id="rId5"/>
            </p:custDataLst>
          </p:nvPr>
        </p:nvSpPr>
        <p:spPr>
          <a:xfrm>
            <a:off x="5667137" y="4747855"/>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书写正常</a:t>
            </a:r>
          </a:p>
        </p:txBody>
      </p:sp>
      <p:sp>
        <p:nvSpPr>
          <p:cNvPr id="10" name="Text 6"/>
          <p:cNvSpPr/>
          <p:nvPr>
            <p:custDataLst>
              <p:tags r:id="rId6"/>
            </p:custDataLst>
          </p:nvPr>
        </p:nvSpPr>
        <p:spPr>
          <a:xfrm>
            <a:off x="5667137" y="5228273"/>
            <a:ext cx="3296007" cy="1066205"/>
          </a:xfrm>
          <a:prstGeom prst="rect">
            <a:avLst/>
          </a:prstGeom>
          <a:noFill/>
        </p:spPr>
        <p:txBody>
          <a:bodyPr wrap="square" rtlCol="0" anchor="t"/>
          <a:lstStyle/>
          <a:p>
            <a:pPr algn="ctr">
              <a:lnSpc>
                <a:spcPts val="2800"/>
              </a:lnSpc>
            </a:pPr>
            <a:r>
              <a:rPr lang="en-US" sz="2000" dirty="0">
                <a:solidFill>
                  <a:srgbClr val="746558"/>
                </a:solidFill>
                <a:latin typeface="微软雅黑" panose="020B0503020204020204" charset="-122"/>
                <a:ea typeface="微软雅黑" panose="020B0503020204020204" charset="-122"/>
              </a:rPr>
              <a:t>纯失读症患者在书写方面没有显著的困难，能够正常书写。但不能快速识别和理解书写的单词。</a:t>
            </a:r>
          </a:p>
        </p:txBody>
      </p:sp>
      <p:pic>
        <p:nvPicPr>
          <p:cNvPr id="11" name="Image 2" descr="preencoded.png"/>
          <p:cNvPicPr>
            <a:picLocks noChangeAspect="1"/>
          </p:cNvPicPr>
          <p:nvPr>
            <p:custDataLst>
              <p:tags r:id="rId7"/>
            </p:custDataLst>
          </p:nvPr>
        </p:nvPicPr>
        <p:blipFill>
          <a:blip r:embed="rId14"/>
          <a:stretch>
            <a:fillRect/>
          </a:stretch>
        </p:blipFill>
        <p:spPr>
          <a:xfrm>
            <a:off x="9296400" y="2600992"/>
            <a:ext cx="3024554" cy="1869210"/>
          </a:xfrm>
          <a:prstGeom prst="rect">
            <a:avLst/>
          </a:prstGeom>
        </p:spPr>
      </p:pic>
      <p:sp>
        <p:nvSpPr>
          <p:cNvPr id="12" name="Text 7"/>
          <p:cNvSpPr/>
          <p:nvPr>
            <p:custDataLst>
              <p:tags r:id="rId8"/>
            </p:custDataLst>
          </p:nvPr>
        </p:nvSpPr>
        <p:spPr>
          <a:xfrm>
            <a:off x="9296400" y="4747855"/>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大脑功能受损</a:t>
            </a:r>
          </a:p>
        </p:txBody>
      </p:sp>
      <p:sp>
        <p:nvSpPr>
          <p:cNvPr id="13" name="Text 8"/>
          <p:cNvSpPr/>
          <p:nvPr>
            <p:custDataLst>
              <p:tags r:id="rId9"/>
            </p:custDataLst>
          </p:nvPr>
        </p:nvSpPr>
        <p:spPr>
          <a:xfrm>
            <a:off x="9296400" y="5228273"/>
            <a:ext cx="3296007" cy="1421606"/>
          </a:xfrm>
          <a:prstGeom prst="rect">
            <a:avLst/>
          </a:prstGeom>
          <a:noFill/>
        </p:spPr>
        <p:txBody>
          <a:bodyPr wrap="square" rtlCol="0" anchor="t"/>
          <a:lstStyle/>
          <a:p>
            <a:pPr algn="ctr">
              <a:lnSpc>
                <a:spcPts val="2800"/>
              </a:lnSpc>
            </a:pPr>
            <a:r>
              <a:rPr lang="en-US" sz="2000" dirty="0" err="1">
                <a:solidFill>
                  <a:srgbClr val="746558"/>
                </a:solidFill>
                <a:latin typeface="微软雅黑" panose="020B0503020204020204" charset="-122"/>
                <a:ea typeface="微软雅黑" panose="020B0503020204020204" charset="-122"/>
              </a:rPr>
              <a:t>纯失读症是由于大脑中负责字形识别的区域功能受损所致，导致患者无法快速识别和理解书写的单词</a:t>
            </a:r>
            <a:r>
              <a:rPr lang="en-US" sz="2000" dirty="0">
                <a:solidFill>
                  <a:srgbClr val="746558"/>
                </a:solidFill>
                <a:latin typeface="微软雅黑" panose="020B0503020204020204" charset="-122"/>
                <a:ea typeface="微软雅黑" panose="020B0503020204020204" charset="-122"/>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74698" y="0"/>
            <a:ext cx="14630400" cy="8229600"/>
          </a:xfrm>
          <a:prstGeom prst="rect">
            <a:avLst/>
          </a:prstGeom>
          <a:solidFill>
            <a:srgbClr val="F9F6F0"/>
          </a:solidFill>
        </p:spPr>
        <p:txBody>
          <a:bodyPr/>
          <a:lstStyle/>
          <a:p>
            <a:endParaRPr lang="zh-CN" altLang="en-US" dirty="0"/>
          </a:p>
        </p:txBody>
      </p:sp>
      <p:sp>
        <p:nvSpPr>
          <p:cNvPr id="4" name="Text 2"/>
          <p:cNvSpPr/>
          <p:nvPr/>
        </p:nvSpPr>
        <p:spPr>
          <a:xfrm>
            <a:off x="2037993" y="2205633"/>
            <a:ext cx="5554980" cy="694373"/>
          </a:xfrm>
          <a:prstGeom prst="rect">
            <a:avLst/>
          </a:prstGeom>
          <a:noFill/>
        </p:spPr>
        <p:txBody>
          <a:bodyPr wrap="none" rtlCol="0" anchor="t"/>
          <a:lstStyle/>
          <a:p>
            <a:pPr>
              <a:lnSpc>
                <a:spcPts val="5470"/>
              </a:lnSpc>
            </a:pPr>
            <a:r>
              <a:rPr lang="en-US" sz="5400" b="1" dirty="0">
                <a:solidFill>
                  <a:srgbClr val="484237"/>
                </a:solidFill>
                <a:latin typeface="微软雅黑" panose="020B0503020204020204" charset="-122"/>
                <a:ea typeface="微软雅黑" panose="020B0503020204020204" charset="-122"/>
              </a:rPr>
              <a:t>表层失读症</a:t>
            </a:r>
            <a:r>
              <a:rPr lang="zh-CN" altLang="en-US" sz="1750" dirty="0">
                <a:solidFill>
                  <a:schemeClr val="accent2">
                    <a:lumMod val="75000"/>
                  </a:schemeClr>
                </a:solidFill>
                <a:latin typeface="微软雅黑" panose="020B0503020204020204" charset="-122"/>
                <a:ea typeface="微软雅黑" panose="020B0503020204020204" charset="-122"/>
              </a:rPr>
              <a:t>（</a:t>
            </a:r>
            <a:r>
              <a:rPr lang="zh-CN" altLang="zh-CN" sz="1750" dirty="0">
                <a:solidFill>
                  <a:schemeClr val="accent2">
                    <a:lumMod val="75000"/>
                  </a:schemeClr>
                </a:solidFill>
                <a:latin typeface="微软雅黑" panose="020B0503020204020204" charset="-122"/>
                <a:ea typeface="微软雅黑" panose="020B0503020204020204" charset="-122"/>
              </a:rPr>
              <a:t>词形失读症</a:t>
            </a:r>
            <a:r>
              <a:rPr lang="zh-CN" altLang="en-US" sz="1750" dirty="0">
                <a:solidFill>
                  <a:schemeClr val="accent2">
                    <a:lumMod val="75000"/>
                  </a:schemeClr>
                </a:solidFill>
                <a:latin typeface="微软雅黑" panose="020B0503020204020204" charset="-122"/>
                <a:ea typeface="微软雅黑" panose="020B0503020204020204" charset="-122"/>
              </a:rPr>
              <a:t>）</a:t>
            </a:r>
            <a:endParaRPr lang="en-US" sz="1750" dirty="0">
              <a:solidFill>
                <a:schemeClr val="accent2">
                  <a:lumMod val="75000"/>
                </a:schemeClr>
              </a:solidFill>
              <a:latin typeface="微软雅黑" panose="020B0503020204020204" charset="-122"/>
              <a:ea typeface="微软雅黑" panose="020B0503020204020204" charset="-122"/>
            </a:endParaRPr>
          </a:p>
        </p:txBody>
      </p:sp>
      <p:pic>
        <p:nvPicPr>
          <p:cNvPr id="5" name="Image 0" descr="preencoded.png"/>
          <p:cNvPicPr>
            <a:picLocks noChangeAspect="1"/>
          </p:cNvPicPr>
          <p:nvPr/>
        </p:nvPicPr>
        <p:blipFill>
          <a:blip r:embed="rId3"/>
          <a:stretch>
            <a:fillRect/>
          </a:stretch>
        </p:blipFill>
        <p:spPr>
          <a:xfrm>
            <a:off x="2037993" y="3344347"/>
            <a:ext cx="555427" cy="555427"/>
          </a:xfrm>
          <a:prstGeom prst="rect">
            <a:avLst/>
          </a:prstGeom>
        </p:spPr>
      </p:pic>
      <p:sp>
        <p:nvSpPr>
          <p:cNvPr id="6" name="Text 3"/>
          <p:cNvSpPr/>
          <p:nvPr/>
        </p:nvSpPr>
        <p:spPr>
          <a:xfrm>
            <a:off x="2037993" y="4121944"/>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依赖拼音</a:t>
            </a:r>
            <a:r>
              <a:rPr lang="zh-CN" altLang="en-US" sz="3600" b="1" dirty="0">
                <a:solidFill>
                  <a:schemeClr val="accent2">
                    <a:lumMod val="75000"/>
                  </a:schemeClr>
                </a:solidFill>
                <a:latin typeface="微软雅黑" panose="020B0503020204020204" charset="-122"/>
                <a:ea typeface="微软雅黑" panose="020B0503020204020204" charset="-122"/>
              </a:rPr>
              <a:t>规</a:t>
            </a:r>
            <a:r>
              <a:rPr lang="en-US" sz="3600" b="1" dirty="0">
                <a:solidFill>
                  <a:schemeClr val="accent2">
                    <a:lumMod val="75000"/>
                  </a:schemeClr>
                </a:solidFill>
                <a:latin typeface="微软雅黑" panose="020B0503020204020204" charset="-122"/>
                <a:ea typeface="微软雅黑" panose="020B0503020204020204" charset="-122"/>
              </a:rPr>
              <a:t>则</a:t>
            </a:r>
          </a:p>
        </p:txBody>
      </p:sp>
      <p:sp>
        <p:nvSpPr>
          <p:cNvPr id="7" name="Text 4"/>
          <p:cNvSpPr/>
          <p:nvPr/>
        </p:nvSpPr>
        <p:spPr>
          <a:xfrm>
            <a:off x="2037993" y="4602361"/>
            <a:ext cx="3295888" cy="1421606"/>
          </a:xfrm>
          <a:prstGeom prst="rect">
            <a:avLst/>
          </a:prstGeom>
          <a:noFill/>
        </p:spPr>
        <p:txBody>
          <a:bodyPr wrap="square" rtlCol="0" anchor="t"/>
          <a:lstStyle/>
          <a:p>
            <a:pPr marL="0" indent="0" algn="l">
              <a:lnSpc>
                <a:spcPts val="2800"/>
              </a:lnSpc>
              <a:buNone/>
            </a:pPr>
            <a:r>
              <a:rPr lang="en-US" sz="1750" dirty="0">
                <a:solidFill>
                  <a:srgbClr val="746558"/>
                </a:solidFill>
                <a:latin typeface="微软雅黑" panose="020B0503020204020204" charset="-122"/>
                <a:ea typeface="微软雅黑" panose="020B0503020204020204" charset="-122"/>
                <a:cs typeface="微软雅黑" panose="020B0503020204020204" charset="-122"/>
              </a:rPr>
              <a:t>患者在阅读单词时特别依赖于字母-音素的转换规则（拼音规则），而对不规则拼写的单词和整体识别单词的能力受到损害。</a:t>
            </a:r>
            <a:endParaRPr lang="en-US" sz="1750" dirty="0"/>
          </a:p>
        </p:txBody>
      </p:sp>
      <p:pic>
        <p:nvPicPr>
          <p:cNvPr id="8" name="Image 1" descr="preencoded.png"/>
          <p:cNvPicPr>
            <a:picLocks noChangeAspect="1"/>
          </p:cNvPicPr>
          <p:nvPr/>
        </p:nvPicPr>
        <p:blipFill>
          <a:blip r:embed="rId4"/>
          <a:stretch>
            <a:fillRect/>
          </a:stretch>
        </p:blipFill>
        <p:spPr>
          <a:xfrm>
            <a:off x="5667137" y="3344347"/>
            <a:ext cx="555427" cy="555427"/>
          </a:xfrm>
          <a:prstGeom prst="rect">
            <a:avLst/>
          </a:prstGeom>
        </p:spPr>
      </p:pic>
      <p:sp>
        <p:nvSpPr>
          <p:cNvPr id="9" name="Text 5"/>
          <p:cNvSpPr/>
          <p:nvPr/>
        </p:nvSpPr>
        <p:spPr>
          <a:xfrm>
            <a:off x="5667137" y="4121944"/>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理解困难</a:t>
            </a:r>
          </a:p>
        </p:txBody>
      </p:sp>
      <p:sp>
        <p:nvSpPr>
          <p:cNvPr id="10" name="Text 6"/>
          <p:cNvSpPr/>
          <p:nvPr/>
        </p:nvSpPr>
        <p:spPr>
          <a:xfrm>
            <a:off x="5667137" y="4602361"/>
            <a:ext cx="3296007" cy="1066205"/>
          </a:xfrm>
          <a:prstGeom prst="rect">
            <a:avLst/>
          </a:prstGeom>
          <a:noFill/>
        </p:spPr>
        <p:txBody>
          <a:bodyPr wrap="square" rtlCol="0" anchor="t"/>
          <a:lstStyle/>
          <a:p>
            <a:pPr marL="0" indent="0" algn="l">
              <a:lnSpc>
                <a:spcPts val="2800"/>
              </a:lnSpc>
              <a:buNone/>
            </a:pPr>
            <a:r>
              <a:rPr lang="en-US" sz="1750" dirty="0">
                <a:solidFill>
                  <a:srgbClr val="746558"/>
                </a:solidFill>
                <a:latin typeface="微软雅黑" panose="020B0503020204020204" charset="-122"/>
                <a:ea typeface="微软雅黑" panose="020B0503020204020204" charset="-122"/>
                <a:cs typeface="微软雅黑" panose="020B0503020204020204" charset="-122"/>
              </a:rPr>
              <a:t>无法直接从书写形式获取单词的意义，而是必须通过发音来确认单词是否为真实单词。</a:t>
            </a:r>
            <a:endParaRPr lang="en-US" sz="1750" dirty="0"/>
          </a:p>
        </p:txBody>
      </p:sp>
      <p:pic>
        <p:nvPicPr>
          <p:cNvPr id="11" name="Image 2" descr="preencoded.png"/>
          <p:cNvPicPr>
            <a:picLocks noChangeAspect="1"/>
          </p:cNvPicPr>
          <p:nvPr/>
        </p:nvPicPr>
        <p:blipFill>
          <a:blip r:embed="rId5"/>
          <a:stretch>
            <a:fillRect/>
          </a:stretch>
        </p:blipFill>
        <p:spPr>
          <a:xfrm>
            <a:off x="9296400" y="3344347"/>
            <a:ext cx="555427" cy="555427"/>
          </a:xfrm>
          <a:prstGeom prst="rect">
            <a:avLst/>
          </a:prstGeom>
        </p:spPr>
      </p:pic>
      <p:sp>
        <p:nvSpPr>
          <p:cNvPr id="12" name="Text 7"/>
          <p:cNvSpPr/>
          <p:nvPr/>
        </p:nvSpPr>
        <p:spPr>
          <a:xfrm>
            <a:off x="9296400" y="4121944"/>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同音异义词</a:t>
            </a:r>
          </a:p>
        </p:txBody>
      </p:sp>
      <p:sp>
        <p:nvSpPr>
          <p:cNvPr id="13" name="Text 8"/>
          <p:cNvSpPr/>
          <p:nvPr/>
        </p:nvSpPr>
        <p:spPr>
          <a:xfrm>
            <a:off x="9296400" y="4602361"/>
            <a:ext cx="3296007" cy="710803"/>
          </a:xfrm>
          <a:prstGeom prst="rect">
            <a:avLst/>
          </a:prstGeom>
          <a:noFill/>
        </p:spPr>
        <p:txBody>
          <a:bodyPr wrap="square" rtlCol="0" anchor="t"/>
          <a:lstStyle/>
          <a:p>
            <a:pPr marL="0" indent="0" algn="l">
              <a:lnSpc>
                <a:spcPts val="2800"/>
              </a:lnSpc>
              <a:buNone/>
            </a:pPr>
            <a:r>
              <a:rPr lang="en-US" sz="1750" dirty="0">
                <a:solidFill>
                  <a:srgbClr val="746558"/>
                </a:solidFill>
                <a:latin typeface="微软雅黑" panose="020B0503020204020204" charset="-122"/>
                <a:ea typeface="微软雅黑" panose="020B0503020204020204" charset="-122"/>
                <a:cs typeface="微软雅黑" panose="020B0503020204020204" charset="-122"/>
              </a:rPr>
              <a:t>患者无法区分同音异义词，导致了阅读理解障碍。</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18990" y="0"/>
            <a:ext cx="14630400" cy="8229600"/>
          </a:xfrm>
          <a:prstGeom prst="rect">
            <a:avLst/>
          </a:prstGeom>
          <a:solidFill>
            <a:srgbClr val="F9F6F0"/>
          </a:solidFill>
        </p:spPr>
        <p:txBody>
          <a:bodyPr/>
          <a:lstStyle/>
          <a:p>
            <a:endParaRPr lang="zh-CN" altLang="en-US" dirty="0"/>
          </a:p>
        </p:txBody>
      </p:sp>
      <p:sp>
        <p:nvSpPr>
          <p:cNvPr id="4" name="Text 2"/>
          <p:cNvSpPr/>
          <p:nvPr/>
        </p:nvSpPr>
        <p:spPr>
          <a:xfrm>
            <a:off x="1154430" y="701754"/>
            <a:ext cx="6438543" cy="991553"/>
          </a:xfrm>
          <a:prstGeom prst="rect">
            <a:avLst/>
          </a:prstGeom>
          <a:noFill/>
        </p:spPr>
        <p:txBody>
          <a:bodyPr wrap="none" rtlCol="0" anchor="t"/>
          <a:lstStyle/>
          <a:p>
            <a:pPr>
              <a:lnSpc>
                <a:spcPts val="5470"/>
              </a:lnSpc>
            </a:pPr>
            <a:r>
              <a:rPr lang="en-US" sz="5400" b="1" dirty="0">
                <a:solidFill>
                  <a:srgbClr val="484237"/>
                </a:solidFill>
                <a:latin typeface="微软雅黑" panose="020B0503020204020204" charset="-122"/>
                <a:ea typeface="微软雅黑" panose="020B0503020204020204" charset="-122"/>
                <a:cs typeface="微软雅黑" panose="020B0503020204020204" charset="-122"/>
              </a:rPr>
              <a:t>语音失读症</a:t>
            </a:r>
            <a:r>
              <a:rPr lang="zh-CN" altLang="en-US" sz="1750" dirty="0">
                <a:solidFill>
                  <a:schemeClr val="accent2">
                    <a:lumMod val="75000"/>
                  </a:schemeClr>
                </a:solidFill>
                <a:latin typeface="微软雅黑" panose="020B0503020204020204" charset="-122"/>
                <a:ea typeface="微软雅黑" panose="020B0503020204020204" charset="-122"/>
              </a:rPr>
              <a:t>（</a:t>
            </a:r>
            <a:r>
              <a:rPr lang="zh-CN" altLang="zh-CN" sz="1750" dirty="0">
                <a:solidFill>
                  <a:schemeClr val="accent2">
                    <a:lumMod val="75000"/>
                  </a:schemeClr>
                </a:solidFill>
                <a:latin typeface="微软雅黑" panose="020B0503020204020204" charset="-122"/>
                <a:ea typeface="微软雅黑" panose="020B0503020204020204" charset="-122"/>
              </a:rPr>
              <a:t>音素失读症</a:t>
            </a:r>
            <a:r>
              <a:rPr lang="zh-CN" altLang="en-US" sz="1750" dirty="0">
                <a:solidFill>
                  <a:schemeClr val="accent2">
                    <a:lumMod val="75000"/>
                  </a:schemeClr>
                </a:solidFill>
                <a:latin typeface="微软雅黑" panose="020B0503020204020204" charset="-122"/>
                <a:ea typeface="微软雅黑" panose="020B0503020204020204" charset="-122"/>
              </a:rPr>
              <a:t>）</a:t>
            </a:r>
            <a:endParaRPr lang="en-US" sz="1750" dirty="0">
              <a:solidFill>
                <a:schemeClr val="accent2">
                  <a:lumMod val="75000"/>
                </a:schemeClr>
              </a:solidFill>
              <a:latin typeface="微软雅黑" panose="020B0503020204020204" charset="-122"/>
              <a:ea typeface="微软雅黑" panose="020B0503020204020204" charset="-122"/>
            </a:endParaRPr>
          </a:p>
        </p:txBody>
      </p:sp>
      <p:sp>
        <p:nvSpPr>
          <p:cNvPr id="5" name="Shape 3"/>
          <p:cNvSpPr/>
          <p:nvPr/>
        </p:nvSpPr>
        <p:spPr>
          <a:xfrm>
            <a:off x="2037993" y="4684157"/>
            <a:ext cx="10554414" cy="44410"/>
          </a:xfrm>
          <a:prstGeom prst="rect">
            <a:avLst/>
          </a:prstGeom>
          <a:solidFill>
            <a:srgbClr val="D2CCC5"/>
          </a:solidFill>
        </p:spPr>
      </p:sp>
      <p:sp>
        <p:nvSpPr>
          <p:cNvPr id="6" name="Shape 4"/>
          <p:cNvSpPr/>
          <p:nvPr/>
        </p:nvSpPr>
        <p:spPr>
          <a:xfrm>
            <a:off x="4059972" y="3906560"/>
            <a:ext cx="44410" cy="777597"/>
          </a:xfrm>
          <a:prstGeom prst="rect">
            <a:avLst/>
          </a:prstGeom>
          <a:solidFill>
            <a:srgbClr val="D2CCC5"/>
          </a:solidFill>
        </p:spPr>
      </p:sp>
      <p:sp>
        <p:nvSpPr>
          <p:cNvPr id="7" name="Shape 5"/>
          <p:cNvSpPr/>
          <p:nvPr/>
        </p:nvSpPr>
        <p:spPr>
          <a:xfrm>
            <a:off x="3887867" y="4489847"/>
            <a:ext cx="388739" cy="388739"/>
          </a:xfrm>
          <a:prstGeom prst="roundRect">
            <a:avLst>
              <a:gd name="adj" fmla="val 34295"/>
            </a:avLst>
          </a:prstGeom>
          <a:solidFill>
            <a:srgbClr val="EFE7D6"/>
          </a:solidFill>
        </p:spPr>
      </p:sp>
      <p:sp>
        <p:nvSpPr>
          <p:cNvPr id="8" name="Text 6"/>
          <p:cNvSpPr/>
          <p:nvPr/>
        </p:nvSpPr>
        <p:spPr>
          <a:xfrm>
            <a:off x="2693432" y="2137648"/>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特点</a:t>
            </a:r>
          </a:p>
        </p:txBody>
      </p:sp>
      <p:sp>
        <p:nvSpPr>
          <p:cNvPr id="9" name="Text 7"/>
          <p:cNvSpPr/>
          <p:nvPr/>
        </p:nvSpPr>
        <p:spPr>
          <a:xfrm>
            <a:off x="2260163" y="2618065"/>
            <a:ext cx="3999488" cy="1066205"/>
          </a:xfrm>
          <a:prstGeom prst="rect">
            <a:avLst/>
          </a:prstGeom>
          <a:noFill/>
        </p:spPr>
        <p:txBody>
          <a:bodyPr wrap="square" rtlCol="0" anchor="t"/>
          <a:lstStyle/>
          <a:p>
            <a:pPr marL="0" indent="0" algn="ctr">
              <a:lnSpc>
                <a:spcPts val="2800"/>
              </a:lnSpc>
              <a:buNone/>
            </a:pPr>
            <a:r>
              <a:rPr lang="en-US" sz="2000" dirty="0">
                <a:solidFill>
                  <a:srgbClr val="746558"/>
                </a:solidFill>
                <a:latin typeface="微软雅黑" panose="020B0503020204020204" charset="-122"/>
                <a:ea typeface="微软雅黑" panose="020B0503020204020204" charset="-122"/>
              </a:rPr>
              <a:t>患者在阅读过程中特别依赖词形识别通路，而在使用字母-音素转换规则（即拼音规则）时遇到困难</a:t>
            </a:r>
            <a:r>
              <a:rPr lang="en-US" sz="1750" dirty="0">
                <a:solidFill>
                  <a:srgbClr val="746558"/>
                </a:solidFill>
                <a:latin typeface="微软雅黑" panose="020B0503020204020204" charset="-122"/>
                <a:ea typeface="微软雅黑" panose="020B0503020204020204" charset="-122"/>
                <a:cs typeface="微软雅黑" panose="020B0503020204020204" charset="-122"/>
              </a:rPr>
              <a:t>。</a:t>
            </a:r>
            <a:endParaRPr lang="en-US" sz="1750" dirty="0"/>
          </a:p>
        </p:txBody>
      </p:sp>
      <p:sp>
        <p:nvSpPr>
          <p:cNvPr id="10" name="Shape 8"/>
          <p:cNvSpPr/>
          <p:nvPr/>
        </p:nvSpPr>
        <p:spPr>
          <a:xfrm>
            <a:off x="6215241" y="4684157"/>
            <a:ext cx="44410" cy="777597"/>
          </a:xfrm>
          <a:prstGeom prst="rect">
            <a:avLst/>
          </a:prstGeom>
          <a:solidFill>
            <a:srgbClr val="D2CCC5"/>
          </a:solidFill>
        </p:spPr>
      </p:sp>
      <p:sp>
        <p:nvSpPr>
          <p:cNvPr id="11" name="Shape 9"/>
          <p:cNvSpPr/>
          <p:nvPr/>
        </p:nvSpPr>
        <p:spPr>
          <a:xfrm>
            <a:off x="6043136" y="4489847"/>
            <a:ext cx="388739" cy="388739"/>
          </a:xfrm>
          <a:prstGeom prst="roundRect">
            <a:avLst>
              <a:gd name="adj" fmla="val 34295"/>
            </a:avLst>
          </a:prstGeom>
          <a:solidFill>
            <a:srgbClr val="EFE7D6"/>
          </a:solidFill>
        </p:spPr>
      </p:sp>
      <p:sp>
        <p:nvSpPr>
          <p:cNvPr id="12" name="Text 10"/>
          <p:cNvSpPr/>
          <p:nvPr/>
        </p:nvSpPr>
        <p:spPr>
          <a:xfrm>
            <a:off x="4848701" y="5684044"/>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表现</a:t>
            </a:r>
          </a:p>
        </p:txBody>
      </p:sp>
      <p:sp>
        <p:nvSpPr>
          <p:cNvPr id="13" name="Text 11"/>
          <p:cNvSpPr/>
          <p:nvPr/>
        </p:nvSpPr>
        <p:spPr>
          <a:xfrm>
            <a:off x="4415433" y="6164461"/>
            <a:ext cx="3644146" cy="1066205"/>
          </a:xfrm>
          <a:prstGeom prst="rect">
            <a:avLst/>
          </a:prstGeom>
          <a:noFill/>
        </p:spPr>
        <p:txBody>
          <a:bodyPr wrap="square" rtlCol="0" anchor="t"/>
          <a:lstStyle/>
          <a:p>
            <a:pPr indent="0">
              <a:lnSpc>
                <a:spcPts val="2800"/>
              </a:lnSpc>
              <a:buNone/>
            </a:pPr>
            <a:r>
              <a:rPr lang="en-US" sz="2000" dirty="0">
                <a:solidFill>
                  <a:srgbClr val="746558"/>
                </a:solidFill>
                <a:latin typeface="微软雅黑" panose="020B0503020204020204" charset="-122"/>
                <a:ea typeface="微软雅黑" panose="020B0503020204020204" charset="-122"/>
              </a:rPr>
              <a:t>无法通过"拼读"方法进行阅读，熟悉的单词可以读得很好，但不熟悉的单词或可发音的错误单词则无法识别。</a:t>
            </a:r>
          </a:p>
        </p:txBody>
      </p:sp>
      <p:sp>
        <p:nvSpPr>
          <p:cNvPr id="14" name="Shape 12"/>
          <p:cNvSpPr/>
          <p:nvPr/>
        </p:nvSpPr>
        <p:spPr>
          <a:xfrm>
            <a:off x="8370510" y="3906560"/>
            <a:ext cx="44410" cy="777597"/>
          </a:xfrm>
          <a:prstGeom prst="rect">
            <a:avLst/>
          </a:prstGeom>
          <a:solidFill>
            <a:srgbClr val="D2CCC5"/>
          </a:solidFill>
        </p:spPr>
      </p:sp>
      <p:sp>
        <p:nvSpPr>
          <p:cNvPr id="15" name="Shape 13"/>
          <p:cNvSpPr/>
          <p:nvPr/>
        </p:nvSpPr>
        <p:spPr>
          <a:xfrm>
            <a:off x="8198406" y="4489847"/>
            <a:ext cx="388739" cy="388739"/>
          </a:xfrm>
          <a:prstGeom prst="roundRect">
            <a:avLst>
              <a:gd name="adj" fmla="val 34295"/>
            </a:avLst>
          </a:prstGeom>
          <a:solidFill>
            <a:srgbClr val="EFE7D6"/>
          </a:solidFill>
        </p:spPr>
      </p:sp>
      <p:sp>
        <p:nvSpPr>
          <p:cNvPr id="16" name="Text 14"/>
          <p:cNvSpPr/>
          <p:nvPr/>
        </p:nvSpPr>
        <p:spPr>
          <a:xfrm>
            <a:off x="7198400" y="2137648"/>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识别能力</a:t>
            </a:r>
          </a:p>
        </p:txBody>
      </p:sp>
      <p:sp>
        <p:nvSpPr>
          <p:cNvPr id="17" name="Text 15"/>
          <p:cNvSpPr/>
          <p:nvPr/>
        </p:nvSpPr>
        <p:spPr>
          <a:xfrm>
            <a:off x="6881753" y="2596098"/>
            <a:ext cx="3644146" cy="1066205"/>
          </a:xfrm>
          <a:prstGeom prst="rect">
            <a:avLst/>
          </a:prstGeom>
          <a:noFill/>
        </p:spPr>
        <p:txBody>
          <a:bodyPr wrap="square" rtlCol="0" anchor="t"/>
          <a:lstStyle/>
          <a:p>
            <a:pPr indent="0">
              <a:lnSpc>
                <a:spcPts val="2800"/>
              </a:lnSpc>
              <a:buNone/>
            </a:pPr>
            <a:r>
              <a:rPr lang="en-US" sz="2000" dirty="0">
                <a:solidFill>
                  <a:srgbClr val="746558"/>
                </a:solidFill>
                <a:latin typeface="微软雅黑" panose="020B0503020204020204" charset="-122"/>
                <a:ea typeface="微软雅黑" panose="020B0503020204020204" charset="-122"/>
              </a:rPr>
              <a:t>依赖词形进行识别，但在阅读新词或无意义词时遇到显著困难；难以将字母转换为相应的音素</a:t>
            </a:r>
            <a:r>
              <a:rPr lang="zh-CN" altLang="en-US" sz="2000" dirty="0">
                <a:solidFill>
                  <a:srgbClr val="746558"/>
                </a:solidFill>
                <a:latin typeface="微软雅黑" panose="020B0503020204020204" charset="-122"/>
                <a:ea typeface="微软雅黑" panose="020B0503020204020204" charset="-122"/>
              </a:rPr>
              <a:t>。</a:t>
            </a:r>
            <a:endParaRPr lang="en-US" sz="2000" dirty="0">
              <a:solidFill>
                <a:srgbClr val="746558"/>
              </a:solidFill>
              <a:latin typeface="微软雅黑" panose="020B0503020204020204" charset="-122"/>
              <a:ea typeface="微软雅黑" panose="020B0503020204020204" charset="-122"/>
            </a:endParaRPr>
          </a:p>
        </p:txBody>
      </p:sp>
      <p:sp>
        <p:nvSpPr>
          <p:cNvPr id="18" name="Shape 16"/>
          <p:cNvSpPr/>
          <p:nvPr/>
        </p:nvSpPr>
        <p:spPr>
          <a:xfrm>
            <a:off x="10525899" y="4684157"/>
            <a:ext cx="44410" cy="777597"/>
          </a:xfrm>
          <a:prstGeom prst="rect">
            <a:avLst/>
          </a:prstGeom>
          <a:solidFill>
            <a:srgbClr val="D2CCC5"/>
          </a:solidFill>
        </p:spPr>
      </p:sp>
      <p:sp>
        <p:nvSpPr>
          <p:cNvPr id="19" name="Shape 17"/>
          <p:cNvSpPr/>
          <p:nvPr/>
        </p:nvSpPr>
        <p:spPr>
          <a:xfrm>
            <a:off x="10353794" y="4489847"/>
            <a:ext cx="388739" cy="388739"/>
          </a:xfrm>
          <a:prstGeom prst="roundRect">
            <a:avLst>
              <a:gd name="adj" fmla="val 34295"/>
            </a:avLst>
          </a:prstGeom>
          <a:solidFill>
            <a:srgbClr val="EFE7D6"/>
          </a:solidFill>
        </p:spPr>
      </p:sp>
      <p:sp>
        <p:nvSpPr>
          <p:cNvPr id="20" name="Text 18"/>
          <p:cNvSpPr/>
          <p:nvPr/>
        </p:nvSpPr>
        <p:spPr>
          <a:xfrm>
            <a:off x="9159359" y="5684044"/>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整体能力</a:t>
            </a:r>
          </a:p>
        </p:txBody>
      </p:sp>
      <p:sp>
        <p:nvSpPr>
          <p:cNvPr id="21" name="Text 19"/>
          <p:cNvSpPr/>
          <p:nvPr/>
        </p:nvSpPr>
        <p:spPr>
          <a:xfrm>
            <a:off x="8726091" y="6164461"/>
            <a:ext cx="3644146" cy="355402"/>
          </a:xfrm>
          <a:prstGeom prst="rect">
            <a:avLst/>
          </a:prstGeom>
          <a:noFill/>
        </p:spPr>
        <p:txBody>
          <a:bodyPr wrap="none" rtlCol="0" anchor="t"/>
          <a:lstStyle/>
          <a:p>
            <a:pPr marL="0" indent="0" algn="ctr">
              <a:lnSpc>
                <a:spcPts val="2800"/>
              </a:lnSpc>
              <a:buNone/>
            </a:pPr>
            <a:r>
              <a:rPr lang="en-US" sz="2000" dirty="0">
                <a:solidFill>
                  <a:srgbClr val="746558"/>
                </a:solidFill>
                <a:latin typeface="微软雅黑" panose="020B0503020204020204" charset="-122"/>
                <a:ea typeface="微软雅黑" panose="020B0503020204020204" charset="-122"/>
              </a:rPr>
              <a:t>整体词形识别能力较强</a:t>
            </a:r>
            <a:r>
              <a:rPr lang="en-US" sz="1750" dirty="0">
                <a:solidFill>
                  <a:srgbClr val="746558"/>
                </a:solidFill>
                <a:latin typeface="微软雅黑" panose="020B0503020204020204" charset="-122"/>
                <a:ea typeface="微软雅黑" panose="020B0503020204020204" charset="-122"/>
                <a:cs typeface="微软雅黑" panose="020B0503020204020204" charset="-122"/>
              </a:rPr>
              <a:t>。</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1431964"/>
            <a:ext cx="14630400" cy="8229600"/>
          </a:xfrm>
          <a:prstGeom prst="rect">
            <a:avLst/>
          </a:prstGeom>
          <a:solidFill>
            <a:srgbClr val="F9F6F0"/>
          </a:solidFill>
        </p:spPr>
      </p:sp>
      <p:pic>
        <p:nvPicPr>
          <p:cNvPr id="4" name="Image 0" descr="preencoded.png"/>
          <p:cNvPicPr>
            <a:picLocks noChangeAspect="1"/>
          </p:cNvPicPr>
          <p:nvPr/>
        </p:nvPicPr>
        <p:blipFill>
          <a:blip r:embed="rId3"/>
          <a:stretch>
            <a:fillRect/>
          </a:stretch>
        </p:blipFill>
        <p:spPr>
          <a:xfrm>
            <a:off x="0" y="0"/>
            <a:ext cx="14630400" cy="2777490"/>
          </a:xfrm>
          <a:prstGeom prst="rect">
            <a:avLst/>
          </a:prstGeom>
        </p:spPr>
      </p:pic>
      <p:sp>
        <p:nvSpPr>
          <p:cNvPr id="5" name="Text 2"/>
          <p:cNvSpPr/>
          <p:nvPr/>
        </p:nvSpPr>
        <p:spPr>
          <a:xfrm>
            <a:off x="937260" y="3263622"/>
            <a:ext cx="6655713" cy="1247300"/>
          </a:xfrm>
          <a:prstGeom prst="rect">
            <a:avLst/>
          </a:prstGeom>
          <a:noFill/>
        </p:spPr>
        <p:txBody>
          <a:bodyPr wrap="none" rtlCol="0" anchor="t"/>
          <a:lstStyle/>
          <a:p>
            <a:pPr marL="0" indent="0">
              <a:lnSpc>
                <a:spcPts val="5470"/>
              </a:lnSpc>
              <a:buNone/>
            </a:pPr>
            <a:r>
              <a:rPr lang="en-US" sz="4375" b="1" dirty="0">
                <a:solidFill>
                  <a:srgbClr val="484237"/>
                </a:solidFill>
                <a:latin typeface="微软雅黑" panose="020B0503020204020204" charset="-122"/>
                <a:ea typeface="微软雅黑" panose="020B0503020204020204" charset="-122"/>
                <a:cs typeface="微软雅黑" panose="020B0503020204020204" charset="-122"/>
              </a:rPr>
              <a:t>深层失读症</a:t>
            </a:r>
            <a:endParaRPr lang="en-US" sz="4375" dirty="0"/>
          </a:p>
        </p:txBody>
      </p:sp>
      <p:sp>
        <p:nvSpPr>
          <p:cNvPr id="6" name="Shape 3"/>
          <p:cNvSpPr/>
          <p:nvPr/>
        </p:nvSpPr>
        <p:spPr>
          <a:xfrm>
            <a:off x="607397" y="4844177"/>
            <a:ext cx="3370064" cy="2763737"/>
          </a:xfrm>
          <a:prstGeom prst="roundRect">
            <a:avLst>
              <a:gd name="adj" fmla="val 5682"/>
            </a:avLst>
          </a:prstGeom>
          <a:solidFill>
            <a:srgbClr val="EFE7D6"/>
          </a:solidFill>
        </p:spPr>
      </p:sp>
      <p:sp>
        <p:nvSpPr>
          <p:cNvPr id="7" name="Text 4"/>
          <p:cNvSpPr/>
          <p:nvPr/>
        </p:nvSpPr>
        <p:spPr>
          <a:xfrm>
            <a:off x="595967" y="4997055"/>
            <a:ext cx="4145399" cy="549710"/>
          </a:xfrm>
          <a:prstGeom prst="rect">
            <a:avLst/>
          </a:prstGeom>
          <a:noFill/>
        </p:spPr>
        <p:txBody>
          <a:bodyPr wrap="none" rtlCol="0" anchor="t"/>
          <a:lstStyle/>
          <a:p>
            <a:pPr marL="0" indent="0">
              <a:lnSpc>
                <a:spcPts val="2735"/>
              </a:lnSpc>
              <a:buNone/>
            </a:pPr>
            <a:r>
              <a:rPr lang="zh-CN" altLang="en-US" sz="2800" b="1" dirty="0">
                <a:solidFill>
                  <a:schemeClr val="accent2">
                    <a:lumMod val="75000"/>
                  </a:schemeClr>
                </a:solidFill>
                <a:latin typeface="微软雅黑" panose="020B0503020204020204" charset="-122"/>
                <a:ea typeface="微软雅黑" panose="020B0503020204020204" charset="-122"/>
              </a:rPr>
              <a:t>病因</a:t>
            </a:r>
            <a:endParaRPr lang="en-US" sz="2800" dirty="0">
              <a:solidFill>
                <a:schemeClr val="accent2">
                  <a:lumMod val="75000"/>
                </a:schemeClr>
              </a:solidFill>
            </a:endParaRPr>
          </a:p>
        </p:txBody>
      </p:sp>
      <p:sp>
        <p:nvSpPr>
          <p:cNvPr id="8" name="Text 5"/>
          <p:cNvSpPr/>
          <p:nvPr/>
        </p:nvSpPr>
        <p:spPr>
          <a:xfrm>
            <a:off x="595967" y="5685890"/>
            <a:ext cx="3370064" cy="1421606"/>
          </a:xfrm>
          <a:prstGeom prst="rect">
            <a:avLst/>
          </a:prstGeom>
          <a:noFill/>
        </p:spPr>
        <p:txBody>
          <a:bodyPr wrap="square" rtlCol="0" anchor="t"/>
          <a:lstStyle/>
          <a:p>
            <a:pPr>
              <a:lnSpc>
                <a:spcPts val="2800"/>
              </a:lnSpc>
            </a:pPr>
            <a:r>
              <a:rPr lang="zh-CN" altLang="zh-CN" sz="2000" dirty="0">
                <a:solidFill>
                  <a:srgbClr val="746558"/>
                </a:solidFill>
                <a:latin typeface="微软雅黑" panose="020B0503020204020204" charset="-122"/>
                <a:ea typeface="微软雅黑" panose="020B0503020204020204" charset="-122"/>
              </a:rPr>
              <a:t>是比较复杂的，通常与广泛的大脑损伤有</a:t>
            </a:r>
            <a:r>
              <a:rPr lang="zh-CN" altLang="en-US" sz="2000" dirty="0">
                <a:solidFill>
                  <a:srgbClr val="746558"/>
                </a:solidFill>
                <a:latin typeface="微软雅黑" panose="020B0503020204020204" charset="-122"/>
                <a:ea typeface="微软雅黑" panose="020B0503020204020204" charset="-122"/>
              </a:rPr>
              <a:t>关</a:t>
            </a:r>
            <a:endParaRPr lang="en-US" altLang="zh-CN" sz="2000" dirty="0">
              <a:solidFill>
                <a:srgbClr val="746558"/>
              </a:solidFill>
              <a:latin typeface="微软雅黑" panose="020B0503020204020204" charset="-122"/>
              <a:ea typeface="微软雅黑" panose="020B0503020204020204" charset="-122"/>
            </a:endParaRPr>
          </a:p>
        </p:txBody>
      </p:sp>
      <p:sp>
        <p:nvSpPr>
          <p:cNvPr id="9" name="Shape 6"/>
          <p:cNvSpPr/>
          <p:nvPr/>
        </p:nvSpPr>
        <p:spPr>
          <a:xfrm>
            <a:off x="4584858" y="4857930"/>
            <a:ext cx="3450432" cy="2763737"/>
          </a:xfrm>
          <a:prstGeom prst="roundRect">
            <a:avLst>
              <a:gd name="adj" fmla="val 5682"/>
            </a:avLst>
          </a:prstGeom>
          <a:solidFill>
            <a:srgbClr val="EFE7D6"/>
          </a:solidFill>
        </p:spPr>
        <p:txBody>
          <a:bodyPr/>
          <a:lstStyle/>
          <a:p>
            <a:endParaRPr lang="zh-CN" altLang="en-US" dirty="0"/>
          </a:p>
        </p:txBody>
      </p:sp>
      <p:sp>
        <p:nvSpPr>
          <p:cNvPr id="10" name="Text 7"/>
          <p:cNvSpPr/>
          <p:nvPr/>
        </p:nvSpPr>
        <p:spPr>
          <a:xfrm>
            <a:off x="4741366" y="4997055"/>
            <a:ext cx="3888522" cy="509526"/>
          </a:xfrm>
          <a:prstGeom prst="rect">
            <a:avLst/>
          </a:prstGeom>
          <a:noFill/>
        </p:spPr>
        <p:txBody>
          <a:bodyPr wrap="none" rtlCol="0" anchor="t"/>
          <a:lstStyle/>
          <a:p>
            <a:pPr>
              <a:lnSpc>
                <a:spcPts val="2735"/>
              </a:lnSpc>
            </a:pPr>
            <a:r>
              <a:rPr lang="zh-CN" altLang="en-US" sz="2800" b="1" dirty="0">
                <a:solidFill>
                  <a:schemeClr val="accent2">
                    <a:lumMod val="75000"/>
                  </a:schemeClr>
                </a:solidFill>
                <a:latin typeface="微软雅黑" panose="020B0503020204020204" charset="-122"/>
                <a:ea typeface="微软雅黑" panose="020B0503020204020204" charset="-122"/>
              </a:rPr>
              <a:t>临床症状</a:t>
            </a:r>
            <a:endParaRPr lang="en-US" altLang="zh-CN" sz="2800" b="1" dirty="0">
              <a:solidFill>
                <a:schemeClr val="accent2">
                  <a:lumMod val="75000"/>
                </a:schemeClr>
              </a:solidFill>
              <a:latin typeface="微软雅黑" panose="020B0503020204020204" charset="-122"/>
              <a:ea typeface="微软雅黑" panose="020B0503020204020204" charset="-122"/>
            </a:endParaRPr>
          </a:p>
        </p:txBody>
      </p:sp>
      <p:sp>
        <p:nvSpPr>
          <p:cNvPr id="11" name="Text 8"/>
          <p:cNvSpPr/>
          <p:nvPr/>
        </p:nvSpPr>
        <p:spPr>
          <a:xfrm>
            <a:off x="4625042" y="5614362"/>
            <a:ext cx="3370064" cy="1250872"/>
          </a:xfrm>
          <a:prstGeom prst="rect">
            <a:avLst/>
          </a:prstGeom>
          <a:noFill/>
        </p:spPr>
        <p:txBody>
          <a:bodyPr wrap="square" rtlCol="0" anchor="t"/>
          <a:lstStyle/>
          <a:p>
            <a:pPr>
              <a:lnSpc>
                <a:spcPts val="2800"/>
              </a:lnSpc>
            </a:pPr>
            <a:r>
              <a:rPr lang="zh-CN" altLang="zh-CN" sz="2000" dirty="0">
                <a:solidFill>
                  <a:srgbClr val="746558"/>
                </a:solidFill>
                <a:latin typeface="微软雅黑" panose="020B0503020204020204" charset="-122"/>
                <a:ea typeface="微软雅黑" panose="020B0503020204020204" charset="-122"/>
              </a:rPr>
              <a:t>语义错误、音素转换困难、词形识别困难、语义处理受损等等</a:t>
            </a:r>
            <a:endParaRPr lang="en-US" sz="2000" dirty="0">
              <a:solidFill>
                <a:srgbClr val="746558"/>
              </a:solidFill>
              <a:latin typeface="微软雅黑" panose="020B0503020204020204" charset="-122"/>
              <a:ea typeface="微软雅黑" panose="020B0503020204020204" charset="-122"/>
            </a:endParaRPr>
          </a:p>
        </p:txBody>
      </p:sp>
      <p:sp>
        <p:nvSpPr>
          <p:cNvPr id="12" name="Shape 9"/>
          <p:cNvSpPr/>
          <p:nvPr/>
        </p:nvSpPr>
        <p:spPr>
          <a:xfrm>
            <a:off x="8573750" y="4844177"/>
            <a:ext cx="5256550" cy="2777490"/>
          </a:xfrm>
          <a:prstGeom prst="roundRect">
            <a:avLst>
              <a:gd name="adj" fmla="val 5682"/>
            </a:avLst>
          </a:prstGeom>
          <a:solidFill>
            <a:srgbClr val="EFE7D6"/>
          </a:solidFill>
        </p:spPr>
      </p:sp>
      <p:sp>
        <p:nvSpPr>
          <p:cNvPr id="13" name="Text 10"/>
          <p:cNvSpPr/>
          <p:nvPr/>
        </p:nvSpPr>
        <p:spPr>
          <a:xfrm>
            <a:off x="8786396" y="4997055"/>
            <a:ext cx="3163312" cy="309500"/>
          </a:xfrm>
          <a:prstGeom prst="rect">
            <a:avLst/>
          </a:prstGeom>
          <a:noFill/>
        </p:spPr>
        <p:txBody>
          <a:bodyPr wrap="none" rtlCol="0" anchor="t"/>
          <a:lstStyle/>
          <a:p>
            <a:pPr>
              <a:lnSpc>
                <a:spcPts val="2735"/>
              </a:lnSpc>
            </a:pPr>
            <a:r>
              <a:rPr lang="zh-CN" altLang="en-US" sz="2800" b="1" dirty="0">
                <a:solidFill>
                  <a:schemeClr val="accent2">
                    <a:lumMod val="75000"/>
                  </a:schemeClr>
                </a:solidFill>
                <a:latin typeface="微软雅黑" panose="020B0503020204020204" charset="-122"/>
                <a:ea typeface="微软雅黑" panose="020B0503020204020204" charset="-122"/>
              </a:rPr>
              <a:t>表现</a:t>
            </a:r>
            <a:endParaRPr lang="en-US" sz="2800" b="1" dirty="0">
              <a:solidFill>
                <a:schemeClr val="accent2">
                  <a:lumMod val="75000"/>
                </a:schemeClr>
              </a:solidFill>
              <a:latin typeface="微软雅黑" panose="020B0503020204020204" charset="-122"/>
              <a:ea typeface="微软雅黑" panose="020B0503020204020204" charset="-122"/>
            </a:endParaRPr>
          </a:p>
        </p:txBody>
      </p:sp>
      <p:sp>
        <p:nvSpPr>
          <p:cNvPr id="14" name="Text 11"/>
          <p:cNvSpPr/>
          <p:nvPr/>
        </p:nvSpPr>
        <p:spPr>
          <a:xfrm>
            <a:off x="8629888" y="5421747"/>
            <a:ext cx="5085279" cy="1191224"/>
          </a:xfrm>
          <a:prstGeom prst="rect">
            <a:avLst/>
          </a:prstGeom>
          <a:noFill/>
        </p:spPr>
        <p:txBody>
          <a:bodyPr wrap="square" rtlCol="0" anchor="t"/>
          <a:lstStyle/>
          <a:p>
            <a:pPr>
              <a:lnSpc>
                <a:spcPts val="2800"/>
              </a:lnSpc>
            </a:pPr>
            <a:r>
              <a:rPr lang="zh-CN" altLang="zh-CN" sz="2000" dirty="0">
                <a:solidFill>
                  <a:srgbClr val="746558"/>
                </a:solidFill>
                <a:latin typeface="微软雅黑" panose="020B0503020204020204" charset="-122"/>
                <a:ea typeface="微软雅黑" panose="020B0503020204020204" charset="-122"/>
              </a:rPr>
              <a:t>患者在大声阅读时会产生语义的理解错误，所读出的词语和目标词语在意义上是相关联的。语义错读可能表现为同义词（比如</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律师</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，会读成</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代理人</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）或者反义词（比如</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远</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被读成</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近</a:t>
            </a:r>
            <a:r>
              <a:rPr lang="en-US" altLang="zh-CN"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）等等</a:t>
            </a:r>
            <a:endParaRPr lang="en-US" sz="2000" dirty="0">
              <a:solidFill>
                <a:srgbClr val="746558"/>
              </a:solidFill>
              <a:latin typeface="微软雅黑" panose="020B0503020204020204" charset="-122"/>
              <a:ea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616518"/>
            <a:ext cx="7477601" cy="958215"/>
          </a:xfrm>
          <a:prstGeom prst="rect">
            <a:avLst/>
          </a:prstGeom>
          <a:noFill/>
        </p:spPr>
        <p:txBody>
          <a:bodyPr wrap="none" rtlCol="0" anchor="t"/>
          <a:lstStyle/>
          <a:p>
            <a:pPr marL="0" indent="0" algn="l">
              <a:lnSpc>
                <a:spcPts val="7545"/>
              </a:lnSpc>
              <a:buNone/>
            </a:pPr>
            <a:r>
              <a:rPr lang="en-US" altLang="zh-CN" sz="6035" b="1" dirty="0">
                <a:solidFill>
                  <a:schemeClr val="tx1"/>
                </a:solidFill>
                <a:effectLst/>
                <a:latin typeface="Arial" panose="020B0604020202020204"/>
                <a:ea typeface="微软雅黑" panose="020B0503020204020204" charset="-122"/>
                <a:sym typeface="Arial" panose="020B0604020202020204"/>
              </a:rPr>
              <a:t>Part 2</a:t>
            </a:r>
          </a:p>
          <a:p>
            <a:pPr marL="0" indent="0" algn="l">
              <a:lnSpc>
                <a:spcPts val="7545"/>
              </a:lnSpc>
              <a:buNone/>
            </a:pPr>
            <a:endParaRPr lang="zh-CN" altLang="en-US" sz="6035" b="1" dirty="0">
              <a:solidFill>
                <a:schemeClr val="tx1"/>
              </a:solidFill>
              <a:effectLst/>
              <a:latin typeface="Arial" panose="020B0604020202020204"/>
              <a:ea typeface="微软雅黑" panose="020B0503020204020204" charset="-122"/>
              <a:sym typeface="Arial" panose="020B0604020202020204"/>
            </a:endParaRPr>
          </a:p>
          <a:p>
            <a:pPr>
              <a:lnSpc>
                <a:spcPts val="7545"/>
              </a:lnSpc>
            </a:pPr>
            <a:r>
              <a:rPr lang="zh-CN" altLang="en-US" sz="8000" b="1" dirty="0">
                <a:solidFill>
                  <a:schemeClr val="accent2">
                    <a:lumMod val="50000"/>
                  </a:schemeClr>
                </a:solidFill>
                <a:latin typeface="Arial" panose="020B0604020202020204"/>
                <a:ea typeface="微软雅黑" panose="020B0503020204020204" charset="-122"/>
                <a:sym typeface="Arial" panose="020B0604020202020204"/>
              </a:rPr>
              <a:t>病理学基础</a:t>
            </a:r>
          </a:p>
        </p:txBody>
      </p:sp>
      <p:sp>
        <p:nvSpPr>
          <p:cNvPr id="7" name="Shape 4"/>
          <p:cNvSpPr/>
          <p:nvPr/>
        </p:nvSpPr>
        <p:spPr>
          <a:xfrm>
            <a:off x="833199" y="5240774"/>
            <a:ext cx="355402" cy="355402"/>
          </a:xfrm>
          <a:prstGeom prst="roundRect">
            <a:avLst>
              <a:gd name="adj" fmla="val 25726039"/>
            </a:avLst>
          </a:prstGeom>
          <a:noFill/>
          <a:ln w="7620">
            <a:solidFill>
              <a:srgbClr val="FFFFFF"/>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7620" y="-37029"/>
            <a:ext cx="14630400" cy="8229600"/>
          </a:xfrm>
          <a:prstGeom prst="rect">
            <a:avLst/>
          </a:prstGeom>
          <a:solidFill>
            <a:srgbClr val="F9F6F0"/>
          </a:solidFill>
        </p:spPr>
      </p:sp>
      <p:sp>
        <p:nvSpPr>
          <p:cNvPr id="4" name="Shape 2"/>
          <p:cNvSpPr/>
          <p:nvPr/>
        </p:nvSpPr>
        <p:spPr>
          <a:xfrm>
            <a:off x="-7620" y="0"/>
            <a:ext cx="5486400" cy="8229600"/>
          </a:xfrm>
          <a:prstGeom prst="rect">
            <a:avLst/>
          </a:prstGeom>
          <a:solidFill>
            <a:srgbClr val="E5E0DF"/>
          </a:solidFill>
        </p:spPr>
      </p:sp>
      <p:pic>
        <p:nvPicPr>
          <p:cNvPr id="5" name="Image 0" descr="preencoded.png"/>
          <p:cNvPicPr>
            <a:picLocks noChangeAspect="1"/>
          </p:cNvPicPr>
          <p:nvPr/>
        </p:nvPicPr>
        <p:blipFill>
          <a:blip r:embed="rId12"/>
          <a:stretch>
            <a:fillRect/>
          </a:stretch>
        </p:blipFill>
        <p:spPr>
          <a:xfrm>
            <a:off x="-7620" y="0"/>
            <a:ext cx="5486400" cy="8229600"/>
          </a:xfrm>
          <a:prstGeom prst="rect">
            <a:avLst/>
          </a:prstGeom>
        </p:spPr>
      </p:pic>
      <p:sp>
        <p:nvSpPr>
          <p:cNvPr id="6" name="Text 3"/>
          <p:cNvSpPr/>
          <p:nvPr/>
        </p:nvSpPr>
        <p:spPr>
          <a:xfrm>
            <a:off x="5994768" y="1190625"/>
            <a:ext cx="6109692" cy="694373"/>
          </a:xfrm>
          <a:prstGeom prst="rect">
            <a:avLst/>
          </a:prstGeom>
          <a:noFill/>
        </p:spPr>
        <p:txBody>
          <a:bodyPr wrap="none" rtlCol="0" anchor="t"/>
          <a:lstStyle/>
          <a:p>
            <a:pPr marL="0" indent="0">
              <a:lnSpc>
                <a:spcPts val="5470"/>
              </a:lnSpc>
              <a:buNone/>
            </a:pPr>
            <a:r>
              <a:rPr lang="en-US" sz="4375" b="1" dirty="0">
                <a:solidFill>
                  <a:srgbClr val="484237"/>
                </a:solidFill>
                <a:latin typeface="微软雅黑" panose="020B0503020204020204" charset="-122"/>
                <a:ea typeface="微软雅黑" panose="020B0503020204020204" charset="-122"/>
                <a:cs typeface="微软雅黑" panose="020B0503020204020204" charset="-122"/>
              </a:rPr>
              <a:t>中央失读症与后部失读症</a:t>
            </a:r>
            <a:endParaRPr lang="en-US" sz="4375" dirty="0"/>
          </a:p>
        </p:txBody>
      </p:sp>
      <p:sp>
        <p:nvSpPr>
          <p:cNvPr id="7" name="Shape 4"/>
          <p:cNvSpPr/>
          <p:nvPr>
            <p:custDataLst>
              <p:tags r:id="rId1"/>
            </p:custDataLst>
          </p:nvPr>
        </p:nvSpPr>
        <p:spPr>
          <a:xfrm>
            <a:off x="6630709" y="3184564"/>
            <a:ext cx="45719" cy="4130635"/>
          </a:xfrm>
          <a:prstGeom prst="rect">
            <a:avLst/>
          </a:prstGeom>
          <a:solidFill>
            <a:srgbClr val="D2CCC5"/>
          </a:solidFill>
        </p:spPr>
      </p:sp>
      <p:sp>
        <p:nvSpPr>
          <p:cNvPr id="8" name="Shape 5"/>
          <p:cNvSpPr/>
          <p:nvPr>
            <p:custDataLst>
              <p:tags r:id="rId2"/>
            </p:custDataLst>
          </p:nvPr>
        </p:nvSpPr>
        <p:spPr>
          <a:xfrm>
            <a:off x="6402884" y="2752844"/>
            <a:ext cx="499943" cy="499943"/>
          </a:xfrm>
          <a:prstGeom prst="roundRect">
            <a:avLst>
              <a:gd name="adj" fmla="val 26667"/>
            </a:avLst>
          </a:prstGeom>
          <a:solidFill>
            <a:srgbClr val="EFE7D6"/>
          </a:solidFill>
        </p:spPr>
      </p:sp>
      <p:sp>
        <p:nvSpPr>
          <p:cNvPr id="9" name="Text 6"/>
          <p:cNvSpPr/>
          <p:nvPr>
            <p:custDataLst>
              <p:tags r:id="rId3"/>
            </p:custDataLst>
          </p:nvPr>
        </p:nvSpPr>
        <p:spPr>
          <a:xfrm>
            <a:off x="6551831" y="2752844"/>
            <a:ext cx="179666" cy="458153"/>
          </a:xfrm>
          <a:prstGeom prst="rect">
            <a:avLst/>
          </a:prstGeom>
          <a:noFill/>
        </p:spPr>
        <p:txBody>
          <a:bodyPr wrap="none" rtlCol="0" anchor="t"/>
          <a:lstStyle/>
          <a:p>
            <a:pPr marL="0" indent="0" algn="ctr">
              <a:lnSpc>
                <a:spcPts val="3280"/>
              </a:lnSpc>
              <a:buNone/>
            </a:pPr>
            <a:r>
              <a:rPr lang="en-US" sz="2625" b="1" dirty="0">
                <a:solidFill>
                  <a:srgbClr val="484237"/>
                </a:solidFill>
                <a:latin typeface="微软雅黑" panose="020B0503020204020204" charset="-122"/>
                <a:ea typeface="微软雅黑" panose="020B0503020204020204" charset="-122"/>
                <a:cs typeface="微软雅黑" panose="020B0503020204020204" charset="-122"/>
              </a:rPr>
              <a:t>1</a:t>
            </a:r>
            <a:endParaRPr lang="en-US" sz="2625" dirty="0"/>
          </a:p>
        </p:txBody>
      </p:sp>
      <p:sp>
        <p:nvSpPr>
          <p:cNvPr id="10" name="Text 7"/>
          <p:cNvSpPr/>
          <p:nvPr>
            <p:custDataLst>
              <p:tags r:id="rId4"/>
            </p:custDataLst>
          </p:nvPr>
        </p:nvSpPr>
        <p:spPr>
          <a:xfrm>
            <a:off x="7097197" y="2801422"/>
            <a:ext cx="2777490" cy="347186"/>
          </a:xfrm>
          <a:prstGeom prst="rect">
            <a:avLst/>
          </a:prstGeom>
          <a:noFill/>
        </p:spPr>
        <p:txBody>
          <a:bodyPr wrap="none" rtlCol="0" anchor="t"/>
          <a:lstStyle/>
          <a:p>
            <a:pPr marL="0" indent="0" algn="l">
              <a:lnSpc>
                <a:spcPts val="2735"/>
              </a:lnSpc>
              <a:buNone/>
            </a:pPr>
            <a:r>
              <a:rPr lang="en-US" sz="3600" b="1" dirty="0">
                <a:solidFill>
                  <a:schemeClr val="accent2">
                    <a:lumMod val="75000"/>
                  </a:schemeClr>
                </a:solidFill>
                <a:latin typeface="微软雅黑" panose="020B0503020204020204" charset="-122"/>
                <a:ea typeface="微软雅黑" panose="020B0503020204020204" charset="-122"/>
                <a:cs typeface="微软雅黑" panose="020B0503020204020204" charset="-122"/>
              </a:rPr>
              <a:t>中央失读症</a:t>
            </a:r>
            <a:endParaRPr lang="en-US" sz="3600" dirty="0">
              <a:solidFill>
                <a:schemeClr val="accent2">
                  <a:lumMod val="75000"/>
                </a:schemeClr>
              </a:solidFill>
            </a:endParaRPr>
          </a:p>
        </p:txBody>
      </p:sp>
      <p:sp>
        <p:nvSpPr>
          <p:cNvPr id="11" name="Text 8"/>
          <p:cNvSpPr/>
          <p:nvPr>
            <p:custDataLst>
              <p:tags r:id="rId5"/>
            </p:custDataLst>
          </p:nvPr>
        </p:nvSpPr>
        <p:spPr>
          <a:xfrm>
            <a:off x="7097197" y="3281839"/>
            <a:ext cx="6700004" cy="710803"/>
          </a:xfrm>
          <a:prstGeom prst="rect">
            <a:avLst/>
          </a:prstGeom>
          <a:noFill/>
        </p:spPr>
        <p:txBody>
          <a:bodyPr wrap="square" rtlCol="0" anchor="t"/>
          <a:lstStyle/>
          <a:p>
            <a:pPr>
              <a:lnSpc>
                <a:spcPts val="2800"/>
              </a:lnSpc>
            </a:pPr>
            <a:r>
              <a:rPr lang="en-US" sz="2000" dirty="0">
                <a:solidFill>
                  <a:srgbClr val="746558"/>
                </a:solidFill>
                <a:latin typeface="微软雅黑" panose="020B0503020204020204" charset="-122"/>
                <a:ea typeface="微软雅黑" panose="020B0503020204020204" charset="-122"/>
                <a:cs typeface="微软雅黑" panose="020B0503020204020204" charset="-122"/>
              </a:rPr>
              <a:t>主要涉及左侧额顶叶区域，特别是角回。损伤该区域会影响阅读和理解单词的能力，患者可能会出现语义错误</a:t>
            </a:r>
            <a:r>
              <a:rPr lang="en-US" sz="2000" dirty="0">
                <a:solidFill>
                  <a:srgbClr val="746558"/>
                </a:solidFill>
                <a:latin typeface="微软雅黑" panose="020B0503020204020204" charset="-122"/>
                <a:ea typeface="微软雅黑" panose="020B0503020204020204" charset="-122"/>
              </a:rPr>
              <a:t>。</a:t>
            </a:r>
            <a:r>
              <a:rPr lang="zh-CN" altLang="zh-CN" sz="2000" dirty="0">
                <a:solidFill>
                  <a:srgbClr val="746558"/>
                </a:solidFill>
                <a:latin typeface="微软雅黑" panose="020B0503020204020204" charset="-122"/>
                <a:ea typeface="微软雅黑" panose="020B0503020204020204" charset="-122"/>
              </a:rPr>
              <a:t>即用意思相近但不正确的词来替代原词。他们可能能够拼读出单词，但对词义的理解会受到严重影响。</a:t>
            </a:r>
          </a:p>
          <a:p>
            <a:pPr marL="0" indent="0" algn="l">
              <a:lnSpc>
                <a:spcPts val="2800"/>
              </a:lnSpc>
              <a:buNone/>
            </a:pPr>
            <a:endParaRPr lang="en-US" sz="1750" dirty="0"/>
          </a:p>
        </p:txBody>
      </p:sp>
      <p:sp>
        <p:nvSpPr>
          <p:cNvPr id="12" name="Shape 9"/>
          <p:cNvSpPr/>
          <p:nvPr>
            <p:custDataLst>
              <p:tags r:id="rId6"/>
            </p:custDataLst>
          </p:nvPr>
        </p:nvSpPr>
        <p:spPr>
          <a:xfrm>
            <a:off x="6380738" y="5343526"/>
            <a:ext cx="499943" cy="499943"/>
          </a:xfrm>
          <a:prstGeom prst="roundRect">
            <a:avLst>
              <a:gd name="adj" fmla="val 26667"/>
            </a:avLst>
          </a:prstGeom>
          <a:solidFill>
            <a:srgbClr val="EFE7D6"/>
          </a:solidFill>
        </p:spPr>
      </p:sp>
      <p:sp>
        <p:nvSpPr>
          <p:cNvPr id="13" name="Text 10"/>
          <p:cNvSpPr/>
          <p:nvPr>
            <p:custDataLst>
              <p:tags r:id="rId7"/>
            </p:custDataLst>
          </p:nvPr>
        </p:nvSpPr>
        <p:spPr>
          <a:xfrm>
            <a:off x="6551831" y="5343526"/>
            <a:ext cx="179666" cy="76319"/>
          </a:xfrm>
          <a:prstGeom prst="rect">
            <a:avLst/>
          </a:prstGeom>
          <a:noFill/>
        </p:spPr>
        <p:txBody>
          <a:bodyPr wrap="none" rtlCol="0" anchor="t"/>
          <a:lstStyle/>
          <a:p>
            <a:pPr marL="0" indent="0" algn="ctr">
              <a:lnSpc>
                <a:spcPts val="3280"/>
              </a:lnSpc>
              <a:buNone/>
            </a:pPr>
            <a:r>
              <a:rPr lang="en-US" sz="2625" b="1" dirty="0">
                <a:solidFill>
                  <a:srgbClr val="484237"/>
                </a:solidFill>
                <a:latin typeface="微软雅黑" panose="020B0503020204020204" charset="-122"/>
                <a:ea typeface="微软雅黑" panose="020B0503020204020204" charset="-122"/>
                <a:cs typeface="微软雅黑" panose="020B0503020204020204" charset="-122"/>
              </a:rPr>
              <a:t>2</a:t>
            </a:r>
            <a:endParaRPr lang="en-US" sz="2625" dirty="0"/>
          </a:p>
        </p:txBody>
      </p:sp>
      <p:sp>
        <p:nvSpPr>
          <p:cNvPr id="14" name="Text 11"/>
          <p:cNvSpPr/>
          <p:nvPr>
            <p:custDataLst>
              <p:tags r:id="rId8"/>
            </p:custDataLst>
          </p:nvPr>
        </p:nvSpPr>
        <p:spPr>
          <a:xfrm>
            <a:off x="7097197" y="5322215"/>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后部失读症</a:t>
            </a:r>
          </a:p>
        </p:txBody>
      </p:sp>
      <p:sp>
        <p:nvSpPr>
          <p:cNvPr id="15" name="Text 12"/>
          <p:cNvSpPr/>
          <p:nvPr>
            <p:custDataLst>
              <p:tags r:id="rId9"/>
            </p:custDataLst>
          </p:nvPr>
        </p:nvSpPr>
        <p:spPr>
          <a:xfrm>
            <a:off x="7130652" y="5781616"/>
            <a:ext cx="6745426" cy="1676400"/>
          </a:xfrm>
          <a:prstGeom prst="rect">
            <a:avLst/>
          </a:prstGeom>
          <a:noFill/>
        </p:spPr>
        <p:txBody>
          <a:bodyPr wrap="square" rtlCol="0" anchor="t"/>
          <a:lstStyle/>
          <a:p>
            <a:pPr>
              <a:lnSpc>
                <a:spcPts val="2800"/>
              </a:lnSpc>
            </a:pPr>
            <a:r>
              <a:rPr lang="en-US" sz="2000" dirty="0">
                <a:solidFill>
                  <a:srgbClr val="746558"/>
                </a:solidFill>
                <a:latin typeface="微软雅黑" panose="020B0503020204020204" charset="-122"/>
                <a:ea typeface="微软雅黑" panose="020B0503020204020204" charset="-122"/>
              </a:rPr>
              <a:t>通常由于左侧后大脑动脉区域梗死引起，会导致视觉信息无法有效传递到语言皮质，</a:t>
            </a:r>
            <a:r>
              <a:rPr lang="zh-CN" altLang="zh-CN" sz="2000" dirty="0">
                <a:solidFill>
                  <a:srgbClr val="746558"/>
                </a:solidFill>
                <a:latin typeface="微软雅黑" panose="020B0503020204020204" charset="-122"/>
                <a:ea typeface="微软雅黑" panose="020B0503020204020204" charset="-122"/>
              </a:rPr>
              <a:t>患者接收到的视觉信息无法传递到语言处理区，导致无法整合视觉词形，从而引发阅读障碍。具体表现为患者可能无法识别和理解从左侧视野输入的文字信息。</a:t>
            </a:r>
            <a:endParaRPr lang="en-US" sz="2000" dirty="0">
              <a:solidFill>
                <a:srgbClr val="746558"/>
              </a:solidFill>
              <a:latin typeface="微软雅黑" panose="020B0503020204020204" charset="-122"/>
              <a:ea typeface="微软雅黑" panose="020B0503020204020204" charset="-122"/>
            </a:endParaRPr>
          </a:p>
        </p:txBody>
      </p:sp>
      <p:sp>
        <p:nvSpPr>
          <p:cNvPr id="16" name="Text 13"/>
          <p:cNvSpPr/>
          <p:nvPr/>
        </p:nvSpPr>
        <p:spPr>
          <a:xfrm>
            <a:off x="6319599" y="6322457"/>
            <a:ext cx="7477601" cy="355402"/>
          </a:xfrm>
          <a:prstGeom prst="rect">
            <a:avLst/>
          </a:prstGeom>
          <a:noFill/>
        </p:spPr>
        <p:txBody>
          <a:bodyPr wrap="none" rtlCol="0" anchor="t"/>
          <a:lstStyle/>
          <a:p>
            <a:pPr marL="0" indent="0">
              <a:lnSpc>
                <a:spcPts val="2800"/>
              </a:lnSpc>
              <a:buNone/>
            </a:pPr>
            <a:endParaRPr lang="en-US" sz="1750" dirty="0"/>
          </a:p>
        </p:txBody>
      </p:sp>
      <p:pic>
        <p:nvPicPr>
          <p:cNvPr id="100" name="图片 99"/>
          <p:cNvPicPr/>
          <p:nvPr/>
        </p:nvPicPr>
        <p:blipFill rotWithShape="1">
          <a:blip r:embed="rId13"/>
          <a:srcRect b="9051"/>
          <a:stretch>
            <a:fillRect/>
          </a:stretch>
        </p:blipFill>
        <p:spPr>
          <a:xfrm>
            <a:off x="1270" y="2329815"/>
            <a:ext cx="5485130" cy="3631251"/>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sp>
        <p:nvSpPr>
          <p:cNvPr id="4" name="Shape 2"/>
          <p:cNvSpPr/>
          <p:nvPr/>
        </p:nvSpPr>
        <p:spPr>
          <a:xfrm>
            <a:off x="-7620" y="0"/>
            <a:ext cx="5486400" cy="8229600"/>
          </a:xfrm>
          <a:prstGeom prst="rect">
            <a:avLst/>
          </a:prstGeom>
          <a:solidFill>
            <a:srgbClr val="E5E0DF"/>
          </a:solidFill>
        </p:spPr>
      </p:sp>
      <p:pic>
        <p:nvPicPr>
          <p:cNvPr id="5" name="Image 0" descr="preencoded.png"/>
          <p:cNvPicPr>
            <a:picLocks noChangeAspect="1"/>
          </p:cNvPicPr>
          <p:nvPr/>
        </p:nvPicPr>
        <p:blipFill>
          <a:blip r:embed="rId3"/>
          <a:stretch>
            <a:fillRect/>
          </a:stretch>
        </p:blipFill>
        <p:spPr>
          <a:xfrm>
            <a:off x="-7620" y="0"/>
            <a:ext cx="5486400" cy="8229600"/>
          </a:xfrm>
          <a:prstGeom prst="rect">
            <a:avLst/>
          </a:prstGeom>
        </p:spPr>
      </p:pic>
      <p:sp>
        <p:nvSpPr>
          <p:cNvPr id="6" name="Text 3"/>
          <p:cNvSpPr/>
          <p:nvPr/>
        </p:nvSpPr>
        <p:spPr>
          <a:xfrm>
            <a:off x="6319599" y="1373981"/>
            <a:ext cx="6109692" cy="694373"/>
          </a:xfrm>
          <a:prstGeom prst="rect">
            <a:avLst/>
          </a:prstGeom>
          <a:noFill/>
        </p:spPr>
        <p:txBody>
          <a:bodyPr wrap="none" rtlCol="0" anchor="t"/>
          <a:lstStyle/>
          <a:p>
            <a:pPr marL="0" indent="0">
              <a:lnSpc>
                <a:spcPts val="5470"/>
              </a:lnSpc>
              <a:buNone/>
            </a:pPr>
            <a:r>
              <a:rPr lang="en-US" sz="4375" b="1" dirty="0">
                <a:solidFill>
                  <a:srgbClr val="484237"/>
                </a:solidFill>
                <a:latin typeface="微软雅黑" panose="020B0503020204020204" charset="-122"/>
                <a:ea typeface="微软雅黑" panose="020B0503020204020204" charset="-122"/>
                <a:cs typeface="微软雅黑" panose="020B0503020204020204" charset="-122"/>
              </a:rPr>
              <a:t>颞叶失读症与枕叶失读症</a:t>
            </a:r>
            <a:endParaRPr lang="en-US" sz="4375" dirty="0"/>
          </a:p>
        </p:txBody>
      </p:sp>
      <p:sp>
        <p:nvSpPr>
          <p:cNvPr id="7" name="Shape 4"/>
          <p:cNvSpPr/>
          <p:nvPr/>
        </p:nvSpPr>
        <p:spPr>
          <a:xfrm>
            <a:off x="6630709" y="2401610"/>
            <a:ext cx="45719" cy="4454009"/>
          </a:xfrm>
          <a:prstGeom prst="rect">
            <a:avLst/>
          </a:prstGeom>
          <a:solidFill>
            <a:srgbClr val="D2CCC5"/>
          </a:solidFill>
        </p:spPr>
      </p:sp>
      <p:sp>
        <p:nvSpPr>
          <p:cNvPr id="8" name="Shape 5"/>
          <p:cNvSpPr/>
          <p:nvPr/>
        </p:nvSpPr>
        <p:spPr>
          <a:xfrm>
            <a:off x="6402884" y="2575203"/>
            <a:ext cx="499943" cy="499943"/>
          </a:xfrm>
          <a:prstGeom prst="roundRect">
            <a:avLst>
              <a:gd name="adj" fmla="val 26667"/>
            </a:avLst>
          </a:prstGeom>
          <a:solidFill>
            <a:srgbClr val="EFE7D6"/>
          </a:solidFill>
        </p:spPr>
      </p:sp>
      <p:sp>
        <p:nvSpPr>
          <p:cNvPr id="9" name="Text 6"/>
          <p:cNvSpPr/>
          <p:nvPr/>
        </p:nvSpPr>
        <p:spPr>
          <a:xfrm>
            <a:off x="6574215" y="2616875"/>
            <a:ext cx="157282" cy="416481"/>
          </a:xfrm>
          <a:prstGeom prst="rect">
            <a:avLst/>
          </a:prstGeom>
          <a:noFill/>
        </p:spPr>
        <p:txBody>
          <a:bodyPr wrap="none" rtlCol="0" anchor="t"/>
          <a:lstStyle/>
          <a:p>
            <a:pPr marL="0" indent="0" algn="ctr">
              <a:lnSpc>
                <a:spcPts val="3280"/>
              </a:lnSpc>
              <a:buNone/>
            </a:pPr>
            <a:r>
              <a:rPr lang="en-US" sz="2625" b="1" dirty="0">
                <a:solidFill>
                  <a:srgbClr val="484237"/>
                </a:solidFill>
                <a:latin typeface="微软雅黑" panose="020B0503020204020204" charset="-122"/>
                <a:ea typeface="微软雅黑" panose="020B0503020204020204" charset="-122"/>
                <a:cs typeface="微软雅黑" panose="020B0503020204020204" charset="-122"/>
              </a:rPr>
              <a:t>1</a:t>
            </a:r>
            <a:endParaRPr lang="en-US" sz="2625" dirty="0"/>
          </a:p>
        </p:txBody>
      </p:sp>
      <p:sp>
        <p:nvSpPr>
          <p:cNvPr id="10" name="Text 7"/>
          <p:cNvSpPr/>
          <p:nvPr/>
        </p:nvSpPr>
        <p:spPr>
          <a:xfrm>
            <a:off x="7097197" y="2623780"/>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颞叶失读症</a:t>
            </a:r>
          </a:p>
        </p:txBody>
      </p:sp>
      <p:sp>
        <p:nvSpPr>
          <p:cNvPr id="11" name="Text 8"/>
          <p:cNvSpPr/>
          <p:nvPr/>
        </p:nvSpPr>
        <p:spPr>
          <a:xfrm>
            <a:off x="7097197" y="3104198"/>
            <a:ext cx="6700004" cy="1066205"/>
          </a:xfrm>
          <a:prstGeom prst="rect">
            <a:avLst/>
          </a:prstGeom>
          <a:noFill/>
        </p:spPr>
        <p:txBody>
          <a:bodyPr wrap="square" rtlCol="0" anchor="t"/>
          <a:lstStyle/>
          <a:p>
            <a:pPr algn="ctr">
              <a:lnSpc>
                <a:spcPts val="2800"/>
              </a:lnSpc>
            </a:pPr>
            <a:r>
              <a:rPr lang="en-US" sz="2000" dirty="0">
                <a:solidFill>
                  <a:srgbClr val="746558"/>
                </a:solidFill>
                <a:latin typeface="微软雅黑" panose="020B0503020204020204" charset="-122"/>
                <a:ea typeface="微软雅黑" panose="020B0503020204020204" charset="-122"/>
              </a:rPr>
              <a:t>损伤区域主要在左侧颞叶，特别是左侧颞下回。这会影响语音辨识和语义处理，</a:t>
            </a:r>
            <a:r>
              <a:rPr lang="zh-CN" altLang="zh-CN" sz="2000" dirty="0">
                <a:solidFill>
                  <a:srgbClr val="746558"/>
                </a:solidFill>
                <a:latin typeface="微软雅黑" panose="020B0503020204020204" charset="-122"/>
                <a:ea typeface="微软雅黑" panose="020B0503020204020204" charset="-122"/>
              </a:rPr>
              <a:t>患者在阅读过程中可能会出现语音辨识困难，影响对词汇和句子的理解。他们可能能够看到和识别单词的形状，但无法正确发音或理解其意义。</a:t>
            </a:r>
          </a:p>
          <a:p>
            <a:pPr marL="0" indent="0" algn="l">
              <a:lnSpc>
                <a:spcPts val="2800"/>
              </a:lnSpc>
              <a:buNone/>
            </a:pPr>
            <a:endParaRPr lang="en-US" sz="1750" dirty="0"/>
          </a:p>
        </p:txBody>
      </p:sp>
      <p:sp>
        <p:nvSpPr>
          <p:cNvPr id="12" name="Shape 9"/>
          <p:cNvSpPr/>
          <p:nvPr/>
        </p:nvSpPr>
        <p:spPr>
          <a:xfrm>
            <a:off x="6402884" y="4788337"/>
            <a:ext cx="499943" cy="499943"/>
          </a:xfrm>
          <a:prstGeom prst="roundRect">
            <a:avLst>
              <a:gd name="adj" fmla="val 26667"/>
            </a:avLst>
          </a:prstGeom>
          <a:solidFill>
            <a:srgbClr val="EFE7D6"/>
          </a:solidFill>
        </p:spPr>
      </p:sp>
      <p:sp>
        <p:nvSpPr>
          <p:cNvPr id="13" name="Text 10"/>
          <p:cNvSpPr/>
          <p:nvPr/>
        </p:nvSpPr>
        <p:spPr>
          <a:xfrm>
            <a:off x="6551831" y="4830008"/>
            <a:ext cx="202049" cy="416481"/>
          </a:xfrm>
          <a:prstGeom prst="rect">
            <a:avLst/>
          </a:prstGeom>
          <a:noFill/>
        </p:spPr>
        <p:txBody>
          <a:bodyPr wrap="none" rtlCol="0" anchor="t"/>
          <a:lstStyle/>
          <a:p>
            <a:pPr marL="0" indent="0" algn="ctr">
              <a:lnSpc>
                <a:spcPts val="3280"/>
              </a:lnSpc>
              <a:buNone/>
            </a:pPr>
            <a:r>
              <a:rPr lang="en-US" sz="2625" b="1" dirty="0">
                <a:solidFill>
                  <a:srgbClr val="484237"/>
                </a:solidFill>
                <a:latin typeface="微软雅黑" panose="020B0503020204020204" charset="-122"/>
                <a:ea typeface="微软雅黑" panose="020B0503020204020204" charset="-122"/>
                <a:cs typeface="微软雅黑" panose="020B0503020204020204" charset="-122"/>
              </a:rPr>
              <a:t>2</a:t>
            </a:r>
            <a:endParaRPr lang="en-US" sz="2625" dirty="0"/>
          </a:p>
        </p:txBody>
      </p:sp>
      <p:sp>
        <p:nvSpPr>
          <p:cNvPr id="14" name="Text 11"/>
          <p:cNvSpPr/>
          <p:nvPr/>
        </p:nvSpPr>
        <p:spPr>
          <a:xfrm>
            <a:off x="7097197" y="4836914"/>
            <a:ext cx="2777490" cy="347186"/>
          </a:xfrm>
          <a:prstGeom prst="rect">
            <a:avLst/>
          </a:prstGeom>
          <a:noFill/>
        </p:spPr>
        <p:txBody>
          <a:bodyPr wrap="none" rtlCol="0" anchor="t"/>
          <a:lstStyle/>
          <a:p>
            <a:pPr>
              <a:lnSpc>
                <a:spcPts val="2735"/>
              </a:lnSpc>
            </a:pPr>
            <a:r>
              <a:rPr lang="en-US" sz="3600" b="1" dirty="0">
                <a:solidFill>
                  <a:schemeClr val="accent2">
                    <a:lumMod val="75000"/>
                  </a:schemeClr>
                </a:solidFill>
                <a:latin typeface="微软雅黑" panose="020B0503020204020204" charset="-122"/>
                <a:ea typeface="微软雅黑" panose="020B0503020204020204" charset="-122"/>
              </a:rPr>
              <a:t>枕叶失读症</a:t>
            </a:r>
          </a:p>
        </p:txBody>
      </p:sp>
      <p:sp>
        <p:nvSpPr>
          <p:cNvPr id="15" name="Text 12"/>
          <p:cNvSpPr/>
          <p:nvPr/>
        </p:nvSpPr>
        <p:spPr>
          <a:xfrm>
            <a:off x="7097197" y="5317331"/>
            <a:ext cx="6700004" cy="710803"/>
          </a:xfrm>
          <a:prstGeom prst="rect">
            <a:avLst/>
          </a:prstGeom>
          <a:noFill/>
        </p:spPr>
        <p:txBody>
          <a:bodyPr wrap="square" rtlCol="0" anchor="t"/>
          <a:lstStyle/>
          <a:p>
            <a:pPr>
              <a:lnSpc>
                <a:spcPts val="2800"/>
              </a:lnSpc>
            </a:pPr>
            <a:r>
              <a:rPr lang="en-US" sz="2000" dirty="0">
                <a:solidFill>
                  <a:srgbClr val="746558"/>
                </a:solidFill>
                <a:latin typeface="微软雅黑" panose="020B0503020204020204" charset="-122"/>
                <a:ea typeface="微软雅黑" panose="020B0503020204020204" charset="-122"/>
              </a:rPr>
              <a:t>损伤区域主要在左枕枕叶和枕颞区域。这会影响视觉词形区的功能，</a:t>
            </a:r>
            <a:r>
              <a:rPr lang="zh-CN" altLang="zh-CN" sz="2000" dirty="0">
                <a:solidFill>
                  <a:srgbClr val="746558"/>
                </a:solidFill>
                <a:latin typeface="微软雅黑" panose="020B0503020204020204" charset="-122"/>
                <a:ea typeface="微软雅黑" panose="020B0503020204020204" charset="-122"/>
              </a:rPr>
              <a:t>患者在阅读时会遇到严重的视觉词形辨识困难，导致阅读速度减慢或无法识别单词。他们可能能够看到文字，但无法将其转化为熟悉的词形进行识别和理解。</a:t>
            </a:r>
          </a:p>
        </p:txBody>
      </p:sp>
      <p:sp>
        <p:nvSpPr>
          <p:cNvPr id="16" name="Text 13"/>
          <p:cNvSpPr/>
          <p:nvPr/>
        </p:nvSpPr>
        <p:spPr>
          <a:xfrm>
            <a:off x="6319599" y="6500217"/>
            <a:ext cx="7477601" cy="355402"/>
          </a:xfrm>
          <a:prstGeom prst="rect">
            <a:avLst/>
          </a:prstGeom>
          <a:noFill/>
        </p:spPr>
        <p:txBody>
          <a:bodyPr wrap="none" rtlCol="0" anchor="t"/>
          <a:lstStyle/>
          <a:p>
            <a:pPr marL="0" indent="0">
              <a:lnSpc>
                <a:spcPts val="2800"/>
              </a:lnSpc>
              <a:buNone/>
            </a:pPr>
            <a:endParaRPr lang="en-US" sz="1750" dirty="0"/>
          </a:p>
        </p:txBody>
      </p:sp>
      <p:pic>
        <p:nvPicPr>
          <p:cNvPr id="101" name="图片 100"/>
          <p:cNvPicPr/>
          <p:nvPr/>
        </p:nvPicPr>
        <p:blipFill>
          <a:blip r:embed="rId4"/>
          <a:stretch>
            <a:fillRect/>
          </a:stretch>
        </p:blipFill>
        <p:spPr>
          <a:xfrm>
            <a:off x="15478" y="2154297"/>
            <a:ext cx="5440203" cy="4032212"/>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7620" y="0"/>
            <a:ext cx="14630400" cy="8229600"/>
          </a:xfrm>
          <a:prstGeom prst="rect">
            <a:avLst/>
          </a:prstGeom>
          <a:solidFill>
            <a:srgbClr val="F9F6F0"/>
          </a:solidFill>
        </p:spPr>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833199" y="2616518"/>
            <a:ext cx="7477601" cy="958215"/>
          </a:xfrm>
          <a:prstGeom prst="rect">
            <a:avLst/>
          </a:prstGeom>
          <a:noFill/>
        </p:spPr>
        <p:txBody>
          <a:bodyPr wrap="none" rtlCol="0" anchor="t"/>
          <a:lstStyle/>
          <a:p>
            <a:pPr marL="0" indent="0" algn="l">
              <a:lnSpc>
                <a:spcPts val="7545"/>
              </a:lnSpc>
              <a:buNone/>
            </a:pPr>
            <a:r>
              <a:rPr lang="en-US" altLang="zh-CN" sz="6035" b="1" dirty="0">
                <a:solidFill>
                  <a:schemeClr val="tx1"/>
                </a:solidFill>
                <a:effectLst/>
                <a:latin typeface="Arial" panose="020B0604020202020204"/>
                <a:ea typeface="微软雅黑" panose="020B0503020204020204" charset="-122"/>
                <a:sym typeface="Arial" panose="020B0604020202020204"/>
              </a:rPr>
              <a:t>Part 3</a:t>
            </a:r>
          </a:p>
          <a:p>
            <a:pPr marL="0" indent="0" algn="l">
              <a:lnSpc>
                <a:spcPts val="7545"/>
              </a:lnSpc>
              <a:buNone/>
            </a:pPr>
            <a:endParaRPr lang="zh-CN" altLang="en-US" sz="6035" b="1" dirty="0">
              <a:solidFill>
                <a:schemeClr val="tx1"/>
              </a:solidFill>
              <a:effectLst/>
              <a:latin typeface="Arial" panose="020B0604020202020204"/>
              <a:ea typeface="微软雅黑" panose="020B0503020204020204" charset="-122"/>
              <a:sym typeface="Arial" panose="020B0604020202020204"/>
            </a:endParaRPr>
          </a:p>
          <a:p>
            <a:pPr>
              <a:lnSpc>
                <a:spcPts val="7545"/>
              </a:lnSpc>
            </a:pPr>
            <a:r>
              <a:rPr lang="zh-CN" altLang="en-US" sz="8000" b="1" dirty="0">
                <a:solidFill>
                  <a:schemeClr val="accent2">
                    <a:lumMod val="50000"/>
                  </a:schemeClr>
                </a:solidFill>
                <a:latin typeface="Arial" panose="020B0604020202020204"/>
                <a:ea typeface="微软雅黑" panose="020B0503020204020204" charset="-122"/>
                <a:sym typeface="Arial" panose="020B0604020202020204"/>
              </a:rPr>
              <a:t>治疗手段</a:t>
            </a:r>
          </a:p>
        </p:txBody>
      </p:sp>
      <p:sp>
        <p:nvSpPr>
          <p:cNvPr id="7" name="Shape 4"/>
          <p:cNvSpPr/>
          <p:nvPr/>
        </p:nvSpPr>
        <p:spPr>
          <a:xfrm>
            <a:off x="833199" y="5240774"/>
            <a:ext cx="355402" cy="355402"/>
          </a:xfrm>
          <a:prstGeom prst="roundRect">
            <a:avLst>
              <a:gd name="adj" fmla="val 25726039"/>
            </a:avLst>
          </a:prstGeom>
          <a:noFill/>
          <a:ln w="7620">
            <a:solidFill>
              <a:srgbClr val="FFFFFF"/>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sp>
        <p:nvSpPr>
          <p:cNvPr id="5" name="Text 2"/>
          <p:cNvSpPr/>
          <p:nvPr/>
        </p:nvSpPr>
        <p:spPr>
          <a:xfrm>
            <a:off x="833199" y="950317"/>
            <a:ext cx="7477601" cy="1388745"/>
          </a:xfrm>
          <a:prstGeom prst="rect">
            <a:avLst/>
          </a:prstGeom>
          <a:noFill/>
        </p:spPr>
        <p:txBody>
          <a:bodyPr wrap="square" rtlCol="0" anchor="t"/>
          <a:lstStyle/>
          <a:p>
            <a:pPr marL="0" indent="0">
              <a:lnSpc>
                <a:spcPts val="5470"/>
              </a:lnSpc>
              <a:buNone/>
            </a:pPr>
            <a:r>
              <a:rPr lang="en-US" sz="4800" b="1" dirty="0">
                <a:solidFill>
                  <a:srgbClr val="484237"/>
                </a:solidFill>
                <a:latin typeface="微软雅黑" panose="020B0503020204020204" charset="-122"/>
                <a:ea typeface="微软雅黑" panose="020B0503020204020204" charset="-122"/>
                <a:cs typeface="微软雅黑" panose="020B0503020204020204" charset="-122"/>
              </a:rPr>
              <a:t>失读症的言语-语言治疗</a:t>
            </a:r>
            <a:endParaRPr lang="en-US" sz="4800" dirty="0"/>
          </a:p>
        </p:txBody>
      </p:sp>
      <p:sp>
        <p:nvSpPr>
          <p:cNvPr id="15" name="文本框 14"/>
          <p:cNvSpPr txBox="1"/>
          <p:nvPr/>
        </p:nvSpPr>
        <p:spPr>
          <a:xfrm>
            <a:off x="605791" y="2460625"/>
            <a:ext cx="8401050" cy="5186869"/>
          </a:xfrm>
          <a:prstGeom prst="rect">
            <a:avLst/>
          </a:prstGeom>
          <a:noFill/>
        </p:spPr>
        <p:txBody>
          <a:bodyPr wrap="square" rtlCol="0">
            <a:spAutoFit/>
          </a:bodyPr>
          <a:lstStyle/>
          <a:p>
            <a:pPr>
              <a:lnSpc>
                <a:spcPct val="150000"/>
              </a:lnSpc>
            </a:pPr>
            <a:r>
              <a:rPr lang="zh-CN" altLang="en-US" sz="2800" dirty="0">
                <a:solidFill>
                  <a:srgbClr val="746558"/>
                </a:solidFill>
                <a:latin typeface="微软雅黑" panose="020B0503020204020204" charset="-122"/>
                <a:ea typeface="微软雅黑" panose="020B0503020204020204" charset="-122"/>
              </a:rPr>
              <a:t>近年来，言语-语言治疗方法得到了创新和发展，除了传统的舒尔刺激疗法，还包括以下几种新方法：</a:t>
            </a:r>
          </a:p>
          <a:p>
            <a:pPr>
              <a:lnSpc>
                <a:spcPct val="150000"/>
              </a:lnSpc>
            </a:pPr>
            <a:r>
              <a:rPr lang="zh-CN" altLang="en-US" sz="2800" b="1" dirty="0">
                <a:solidFill>
                  <a:schemeClr val="accent2">
                    <a:lumMod val="75000"/>
                  </a:schemeClr>
                </a:solidFill>
                <a:latin typeface="微软雅黑" panose="020B0503020204020204" charset="-122"/>
                <a:ea typeface="微软雅黑" panose="020B0503020204020204" charset="-122"/>
                <a:sym typeface="Wingdings" panose="05000000000000000000" pitchFamily="2" charset="2"/>
              </a:rPr>
              <a:t></a:t>
            </a:r>
            <a:r>
              <a:rPr lang="zh-CN" altLang="en-US" sz="2800" b="1" dirty="0">
                <a:solidFill>
                  <a:schemeClr val="accent2">
                    <a:lumMod val="75000"/>
                  </a:schemeClr>
                </a:solidFill>
                <a:latin typeface="微软雅黑" panose="020B0503020204020204" charset="-122"/>
                <a:ea typeface="微软雅黑" panose="020B0503020204020204" charset="-122"/>
              </a:rPr>
              <a:t>旋律语调疗法：</a:t>
            </a:r>
            <a:r>
              <a:rPr lang="zh-CN" altLang="en-US" sz="2800" dirty="0">
                <a:solidFill>
                  <a:srgbClr val="746558"/>
                </a:solidFill>
                <a:latin typeface="微软雅黑" panose="020B0503020204020204" charset="-122"/>
                <a:ea typeface="微软雅黑" panose="020B0503020204020204" charset="-122"/>
              </a:rPr>
              <a:t>利用音乐和旋律来促进语言恢复，通过让患者用唱歌的方式逐渐恢复说话能力。</a:t>
            </a:r>
          </a:p>
          <a:p>
            <a:pPr>
              <a:lnSpc>
                <a:spcPct val="150000"/>
              </a:lnSpc>
            </a:pPr>
            <a:r>
              <a:rPr lang="zh-CN" altLang="en-US" sz="2800" b="1" dirty="0">
                <a:solidFill>
                  <a:schemeClr val="accent2">
                    <a:lumMod val="75000"/>
                  </a:schemeClr>
                </a:solidFill>
                <a:latin typeface="微软雅黑" panose="020B0503020204020204" charset="-122"/>
                <a:ea typeface="微软雅黑" panose="020B0503020204020204" charset="-122"/>
                <a:sym typeface="Wingdings" panose="05000000000000000000" pitchFamily="2" charset="2"/>
              </a:rPr>
              <a:t></a:t>
            </a:r>
            <a:r>
              <a:rPr lang="zh-CN" altLang="en-US" sz="2800" b="1" dirty="0">
                <a:solidFill>
                  <a:schemeClr val="accent2">
                    <a:lumMod val="75000"/>
                  </a:schemeClr>
                </a:solidFill>
                <a:latin typeface="微软雅黑" panose="020B0503020204020204" charset="-122"/>
                <a:ea typeface="微软雅黑" panose="020B0503020204020204" charset="-122"/>
              </a:rPr>
              <a:t>强制-诱导疗法：</a:t>
            </a:r>
            <a:r>
              <a:rPr lang="zh-CN" altLang="en-US" sz="2800" dirty="0">
                <a:solidFill>
                  <a:srgbClr val="746558"/>
                </a:solidFill>
                <a:latin typeface="微软雅黑" panose="020B0503020204020204" charset="-122"/>
                <a:ea typeface="微软雅黑" panose="020B0503020204020204" charset="-122"/>
              </a:rPr>
              <a:t>限制患者使用非受影响的语言功能，强迫使用受影响的语言功能，从而促进康复。</a:t>
            </a:r>
          </a:p>
          <a:p>
            <a:pPr>
              <a:lnSpc>
                <a:spcPct val="150000"/>
              </a:lnSpc>
            </a:pPr>
            <a:r>
              <a:rPr lang="zh-CN" altLang="en-US" sz="2800" b="1" dirty="0">
                <a:solidFill>
                  <a:schemeClr val="accent2">
                    <a:lumMod val="75000"/>
                  </a:schemeClr>
                </a:solidFill>
                <a:latin typeface="微软雅黑" panose="020B0503020204020204" charset="-122"/>
                <a:ea typeface="微软雅黑" panose="020B0503020204020204" charset="-122"/>
                <a:sym typeface="Wingdings" panose="05000000000000000000" pitchFamily="2" charset="2"/>
              </a:rPr>
              <a:t></a:t>
            </a:r>
            <a:r>
              <a:rPr lang="zh-CN" altLang="en-US" sz="2800" b="1" dirty="0">
                <a:solidFill>
                  <a:schemeClr val="accent2">
                    <a:lumMod val="75000"/>
                  </a:schemeClr>
                </a:solidFill>
                <a:latin typeface="微软雅黑" panose="020B0503020204020204" charset="-122"/>
                <a:ea typeface="微软雅黑" panose="020B0503020204020204" charset="-122"/>
              </a:rPr>
              <a:t>模型导向疗法：</a:t>
            </a:r>
            <a:r>
              <a:rPr lang="zh-CN" altLang="en-US" sz="2800" dirty="0">
                <a:solidFill>
                  <a:srgbClr val="746558"/>
                </a:solidFill>
                <a:latin typeface="微软雅黑" panose="020B0503020204020204" charset="-122"/>
                <a:ea typeface="微软雅黑" panose="020B0503020204020204" charset="-122"/>
              </a:rPr>
              <a:t>使用预先设计的语言脚本，帮助患者在日常对话中逐步恢复语言能力。</a:t>
            </a:r>
          </a:p>
        </p:txBody>
      </p:sp>
      <p:pic>
        <p:nvPicPr>
          <p:cNvPr id="2050" name="Picture 2" descr="失语症言语治疗 的图像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6629" y="0"/>
            <a:ext cx="5193771" cy="345186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失语症言语治疗 的图像结果"/>
          <p:cNvPicPr>
            <a:picLocks noChangeAspect="1" noChangeArrowheads="1"/>
          </p:cNvPicPr>
          <p:nvPr/>
        </p:nvPicPr>
        <p:blipFill rotWithShape="1">
          <a:blip r:embed="rId4">
            <a:extLst>
              <a:ext uri="{28A0092B-C50C-407E-A947-70E740481C1C}">
                <a14:useLocalDpi xmlns:a14="http://schemas.microsoft.com/office/drawing/2010/main" val="0"/>
              </a:ext>
            </a:extLst>
          </a:blip>
          <a:srcRect t="16116"/>
          <a:stretch>
            <a:fillRect/>
          </a:stretch>
        </p:blipFill>
        <p:spPr bwMode="auto">
          <a:xfrm>
            <a:off x="9436629" y="3451861"/>
            <a:ext cx="5193770" cy="47777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sp>
        <p:nvSpPr>
          <p:cNvPr id="5" name="Text 2"/>
          <p:cNvSpPr/>
          <p:nvPr/>
        </p:nvSpPr>
        <p:spPr>
          <a:xfrm>
            <a:off x="833199" y="950317"/>
            <a:ext cx="7477601" cy="1388745"/>
          </a:xfrm>
          <a:prstGeom prst="rect">
            <a:avLst/>
          </a:prstGeom>
          <a:noFill/>
        </p:spPr>
        <p:txBody>
          <a:bodyPr wrap="square" rtlCol="0" anchor="t"/>
          <a:lstStyle/>
          <a:p>
            <a:pPr>
              <a:lnSpc>
                <a:spcPts val="5470"/>
              </a:lnSpc>
            </a:pPr>
            <a:r>
              <a:rPr lang="en-US" sz="4800" b="1" dirty="0">
                <a:solidFill>
                  <a:srgbClr val="484237"/>
                </a:solidFill>
                <a:latin typeface="微软雅黑" panose="020B0503020204020204" charset="-122"/>
                <a:ea typeface="微软雅黑" panose="020B0503020204020204" charset="-122"/>
              </a:rPr>
              <a:t>失读症的药物治疗</a:t>
            </a:r>
          </a:p>
        </p:txBody>
      </p:sp>
      <p:sp>
        <p:nvSpPr>
          <p:cNvPr id="15" name="文本框 14"/>
          <p:cNvSpPr txBox="1"/>
          <p:nvPr/>
        </p:nvSpPr>
        <p:spPr>
          <a:xfrm>
            <a:off x="582931" y="2460625"/>
            <a:ext cx="7727950" cy="5186869"/>
          </a:xfrm>
          <a:prstGeom prst="rect">
            <a:avLst/>
          </a:prstGeom>
          <a:noFill/>
        </p:spPr>
        <p:txBody>
          <a:bodyPr wrap="square" rtlCol="0">
            <a:spAutoFit/>
          </a:bodyPr>
          <a:lstStyle/>
          <a:p>
            <a:pPr>
              <a:lnSpc>
                <a:spcPct val="150000"/>
              </a:lnSpc>
            </a:pPr>
            <a:r>
              <a:rPr lang="zh-CN" altLang="en-US" sz="2800" dirty="0">
                <a:solidFill>
                  <a:srgbClr val="746558"/>
                </a:solidFill>
                <a:latin typeface="微软雅黑" panose="020B0503020204020204" charset="-122"/>
                <a:ea typeface="微软雅黑" panose="020B0503020204020204" charset="-122"/>
              </a:rPr>
              <a:t>药物治疗在失语症中的效果仍存在争议，但一些药物显示出潜在的益处：</a:t>
            </a:r>
          </a:p>
          <a:p>
            <a:pPr>
              <a:lnSpc>
                <a:spcPct val="150000"/>
              </a:lnSpc>
            </a:pPr>
            <a:r>
              <a:rPr lang="zh-CN" altLang="en-US" sz="2800" b="1" dirty="0">
                <a:solidFill>
                  <a:schemeClr val="accent2">
                    <a:lumMod val="75000"/>
                  </a:schemeClr>
                </a:solidFill>
                <a:latin typeface="微软雅黑" panose="020B0503020204020204" charset="-122"/>
                <a:ea typeface="微软雅黑" panose="020B0503020204020204" charset="-122"/>
                <a:sym typeface="Wingdings" panose="05000000000000000000" pitchFamily="2" charset="2"/>
              </a:rPr>
              <a:t></a:t>
            </a:r>
            <a:r>
              <a:rPr lang="zh-CN" altLang="en-US" sz="2800" b="1" dirty="0">
                <a:solidFill>
                  <a:schemeClr val="accent2">
                    <a:lumMod val="75000"/>
                  </a:schemeClr>
                </a:solidFill>
                <a:latin typeface="微软雅黑" panose="020B0503020204020204" charset="-122"/>
                <a:ea typeface="微软雅黑" panose="020B0503020204020204" charset="-122"/>
              </a:rPr>
              <a:t>多巴胺类药物：</a:t>
            </a:r>
            <a:r>
              <a:rPr lang="zh-CN" altLang="en-US" sz="2800" dirty="0">
                <a:solidFill>
                  <a:srgbClr val="746558"/>
                </a:solidFill>
                <a:latin typeface="微软雅黑" panose="020B0503020204020204" charset="-122"/>
                <a:ea typeface="微软雅黑" panose="020B0503020204020204" charset="-122"/>
              </a:rPr>
              <a:t>如左旋多巴，可能通过增强大脑的多巴胺水平，促进语言功能恢复。</a:t>
            </a:r>
          </a:p>
          <a:p>
            <a:pPr>
              <a:lnSpc>
                <a:spcPct val="150000"/>
              </a:lnSpc>
            </a:pPr>
            <a:r>
              <a:rPr lang="zh-CN" altLang="en-US" sz="2800" b="1" dirty="0">
                <a:solidFill>
                  <a:schemeClr val="accent2">
                    <a:lumMod val="75000"/>
                  </a:schemeClr>
                </a:solidFill>
                <a:latin typeface="微软雅黑" panose="020B0503020204020204" charset="-122"/>
                <a:ea typeface="微软雅黑" panose="020B0503020204020204" charset="-122"/>
                <a:sym typeface="Wingdings" panose="05000000000000000000" pitchFamily="2" charset="2"/>
              </a:rPr>
              <a:t></a:t>
            </a:r>
            <a:r>
              <a:rPr lang="zh-CN" altLang="en-US" sz="2800" b="1" dirty="0">
                <a:solidFill>
                  <a:schemeClr val="accent2">
                    <a:lumMod val="75000"/>
                  </a:schemeClr>
                </a:solidFill>
                <a:latin typeface="微软雅黑" panose="020B0503020204020204" charset="-122"/>
                <a:ea typeface="微软雅黑" panose="020B0503020204020204" charset="-122"/>
              </a:rPr>
              <a:t>胆碱类药物：</a:t>
            </a:r>
            <a:r>
              <a:rPr lang="zh-CN" altLang="en-US" sz="2800" dirty="0">
                <a:solidFill>
                  <a:srgbClr val="746558"/>
                </a:solidFill>
                <a:latin typeface="微软雅黑" panose="020B0503020204020204" charset="-122"/>
                <a:ea typeface="微软雅黑" panose="020B0503020204020204" charset="-122"/>
              </a:rPr>
              <a:t>如阿瑞斯特，通过增加大脑中的乙酰胆碱水平，可能对一些失语症患者有效。</a:t>
            </a:r>
          </a:p>
          <a:p>
            <a:pPr>
              <a:lnSpc>
                <a:spcPct val="150000"/>
              </a:lnSpc>
            </a:pPr>
            <a:r>
              <a:rPr lang="zh-CN" altLang="en-US" sz="2800" b="1" dirty="0">
                <a:solidFill>
                  <a:schemeClr val="accent2">
                    <a:lumMod val="75000"/>
                  </a:schemeClr>
                </a:solidFill>
                <a:latin typeface="微软雅黑" panose="020B0503020204020204" charset="-122"/>
                <a:ea typeface="微软雅黑" panose="020B0503020204020204" charset="-122"/>
                <a:sym typeface="Wingdings" panose="05000000000000000000" pitchFamily="2" charset="2"/>
              </a:rPr>
              <a:t></a:t>
            </a:r>
            <a:r>
              <a:rPr lang="zh-CN" altLang="en-US" sz="2800" b="1" dirty="0">
                <a:solidFill>
                  <a:schemeClr val="accent2">
                    <a:lumMod val="75000"/>
                  </a:schemeClr>
                </a:solidFill>
                <a:latin typeface="微软雅黑" panose="020B0503020204020204" charset="-122"/>
                <a:ea typeface="微软雅黑" panose="020B0503020204020204" charset="-122"/>
              </a:rPr>
              <a:t>脑保护性药物：</a:t>
            </a:r>
            <a:r>
              <a:rPr lang="zh-CN" altLang="en-US" sz="2800" dirty="0">
                <a:solidFill>
                  <a:srgbClr val="746558"/>
                </a:solidFill>
                <a:latin typeface="微软雅黑" panose="020B0503020204020204" charset="-122"/>
                <a:ea typeface="微软雅黑" panose="020B0503020204020204" charset="-122"/>
              </a:rPr>
              <a:t>如吡拉西坦，被认为可以通过保护脑细胞和改善大脑代谢，帮助恢复语言功能。</a:t>
            </a:r>
          </a:p>
        </p:txBody>
      </p:sp>
      <p:pic>
        <p:nvPicPr>
          <p:cNvPr id="3074" name="Picture 2" descr="失语症药物治疗 的图像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0590" y="1414884"/>
            <a:ext cx="6099810" cy="539983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15081"/>
            <a:ext cx="14630400" cy="8229600"/>
          </a:xfrm>
          <a:prstGeom prst="rect">
            <a:avLst/>
          </a:prstGeom>
          <a:solidFill>
            <a:srgbClr val="F9F6F0"/>
          </a:solidFill>
        </p:spPr>
      </p:sp>
      <p:sp>
        <p:nvSpPr>
          <p:cNvPr id="4" name="Text 2"/>
          <p:cNvSpPr/>
          <p:nvPr/>
        </p:nvSpPr>
        <p:spPr>
          <a:xfrm>
            <a:off x="891540" y="432118"/>
            <a:ext cx="6611898" cy="694373"/>
          </a:xfrm>
          <a:prstGeom prst="rect">
            <a:avLst/>
          </a:prstGeom>
          <a:noFill/>
        </p:spPr>
        <p:txBody>
          <a:bodyPr wrap="none" rtlCol="0" anchor="t"/>
          <a:lstStyle/>
          <a:p>
            <a:pPr marL="0" indent="0">
              <a:lnSpc>
                <a:spcPts val="5470"/>
              </a:lnSpc>
              <a:buNone/>
            </a:pPr>
            <a:r>
              <a:rPr lang="en-US" sz="4800" b="1" dirty="0">
                <a:solidFill>
                  <a:srgbClr val="484237"/>
                </a:solidFill>
                <a:latin typeface="微软雅黑" panose="020B0503020204020204" charset="-122"/>
                <a:ea typeface="微软雅黑" panose="020B0503020204020204" charset="-122"/>
              </a:rPr>
              <a:t>神经调控技术</a:t>
            </a:r>
          </a:p>
        </p:txBody>
      </p:sp>
      <p:pic>
        <p:nvPicPr>
          <p:cNvPr id="5" name="Image 0" descr="preencoded.png"/>
          <p:cNvPicPr>
            <a:picLocks noChangeAspect="1"/>
          </p:cNvPicPr>
          <p:nvPr/>
        </p:nvPicPr>
        <p:blipFill>
          <a:blip r:embed="rId7"/>
          <a:stretch>
            <a:fillRect/>
          </a:stretch>
        </p:blipFill>
        <p:spPr>
          <a:xfrm>
            <a:off x="972245" y="1917700"/>
            <a:ext cx="1110972" cy="1777484"/>
          </a:xfrm>
          <a:prstGeom prst="rect">
            <a:avLst/>
          </a:prstGeom>
        </p:spPr>
      </p:pic>
      <p:sp>
        <p:nvSpPr>
          <p:cNvPr id="6" name="Text 3"/>
          <p:cNvSpPr/>
          <p:nvPr>
            <p:custDataLst>
              <p:tags r:id="rId1"/>
            </p:custDataLst>
          </p:nvPr>
        </p:nvSpPr>
        <p:spPr>
          <a:xfrm>
            <a:off x="2746852" y="1528564"/>
            <a:ext cx="2777490" cy="347186"/>
          </a:xfrm>
          <a:prstGeom prst="rect">
            <a:avLst/>
          </a:prstGeom>
          <a:noFill/>
        </p:spPr>
        <p:txBody>
          <a:bodyPr wrap="none" rtlCol="0" anchor="t"/>
          <a:lstStyle/>
          <a:p>
            <a:pPr marL="0" indent="0" algn="l">
              <a:lnSpc>
                <a:spcPts val="2735"/>
              </a:lnSpc>
              <a:buNone/>
            </a:pPr>
            <a:r>
              <a:rPr lang="en-US" sz="2800" b="1" dirty="0">
                <a:solidFill>
                  <a:schemeClr val="accent2">
                    <a:lumMod val="75000"/>
                  </a:schemeClr>
                </a:solidFill>
                <a:latin typeface="微软雅黑" panose="020B0503020204020204" charset="-122"/>
                <a:ea typeface="微软雅黑" panose="020B0503020204020204" charset="-122"/>
              </a:rPr>
              <a:t>经颅直流电刺激</a:t>
            </a:r>
          </a:p>
        </p:txBody>
      </p:sp>
      <p:sp>
        <p:nvSpPr>
          <p:cNvPr id="7" name="Text 4"/>
          <p:cNvSpPr/>
          <p:nvPr>
            <p:custDataLst>
              <p:tags r:id="rId2"/>
            </p:custDataLst>
          </p:nvPr>
        </p:nvSpPr>
        <p:spPr>
          <a:xfrm>
            <a:off x="2746854" y="1975803"/>
            <a:ext cx="9774713" cy="1075055"/>
          </a:xfrm>
          <a:prstGeom prst="rect">
            <a:avLst/>
          </a:prstGeom>
          <a:noFill/>
        </p:spPr>
        <p:txBody>
          <a:bodyPr wrap="none" rtlCol="0" anchor="t"/>
          <a:lstStyle/>
          <a:p>
            <a:pPr marL="0" indent="0" algn="l">
              <a:lnSpc>
                <a:spcPts val="2800"/>
              </a:lnSpc>
              <a:buNone/>
            </a:pPr>
            <a:r>
              <a:rPr lang="en-US" dirty="0">
                <a:solidFill>
                  <a:srgbClr val="746558"/>
                </a:solidFill>
                <a:latin typeface="微软雅黑" panose="020B0503020204020204" charset="-122"/>
                <a:ea typeface="微软雅黑" panose="020B0503020204020204" charset="-122"/>
                <a:cs typeface="微软雅黑" panose="020B0503020204020204" charset="-122"/>
              </a:rPr>
              <a:t>经颅直流电刺激是一种非侵入性的脑刺激技术，通过将低强度的直流电施加到头皮上，改变大脑皮层的兴奋性。</a:t>
            </a:r>
          </a:p>
          <a:p>
            <a:pPr marL="0" indent="0" algn="l">
              <a:lnSpc>
                <a:spcPts val="2800"/>
              </a:lnSpc>
              <a:buNone/>
            </a:pPr>
            <a:r>
              <a:rPr lang="en-US" dirty="0">
                <a:solidFill>
                  <a:srgbClr val="746558"/>
                </a:solidFill>
                <a:latin typeface="微软雅黑" panose="020B0503020204020204" charset="-122"/>
                <a:ea typeface="微软雅黑" panose="020B0503020204020204" charset="-122"/>
                <a:cs typeface="微软雅黑" panose="020B0503020204020204" charset="-122"/>
              </a:rPr>
              <a:t>tDCS可以通过增强阳极下方皮质区域的兴奋性或降低阴极下方皮质区域的兴奋性，促进语言功能的恢复。</a:t>
            </a:r>
          </a:p>
        </p:txBody>
      </p:sp>
      <p:pic>
        <p:nvPicPr>
          <p:cNvPr id="8" name="Image 1" descr="preencoded.png"/>
          <p:cNvPicPr>
            <a:picLocks noChangeAspect="1"/>
          </p:cNvPicPr>
          <p:nvPr/>
        </p:nvPicPr>
        <p:blipFill>
          <a:blip r:embed="rId8"/>
          <a:stretch>
            <a:fillRect/>
          </a:stretch>
        </p:blipFill>
        <p:spPr>
          <a:xfrm>
            <a:off x="972245" y="3835400"/>
            <a:ext cx="1110972" cy="1777484"/>
          </a:xfrm>
          <a:prstGeom prst="rect">
            <a:avLst/>
          </a:prstGeom>
        </p:spPr>
      </p:pic>
      <p:sp>
        <p:nvSpPr>
          <p:cNvPr id="9" name="Text 5"/>
          <p:cNvSpPr/>
          <p:nvPr>
            <p:custDataLst>
              <p:tags r:id="rId3"/>
            </p:custDataLst>
          </p:nvPr>
        </p:nvSpPr>
        <p:spPr>
          <a:xfrm>
            <a:off x="2746852" y="3034704"/>
            <a:ext cx="3441739" cy="305117"/>
          </a:xfrm>
          <a:prstGeom prst="rect">
            <a:avLst/>
          </a:prstGeom>
          <a:noFill/>
        </p:spPr>
        <p:txBody>
          <a:bodyPr wrap="none" rtlCol="0" anchor="t"/>
          <a:lstStyle/>
          <a:p>
            <a:pPr marL="0" indent="0" algn="l">
              <a:lnSpc>
                <a:spcPts val="2735"/>
              </a:lnSpc>
              <a:buNone/>
            </a:pPr>
            <a:r>
              <a:rPr lang="en-US" sz="2800" b="1" dirty="0">
                <a:solidFill>
                  <a:schemeClr val="accent2">
                    <a:lumMod val="75000"/>
                  </a:schemeClr>
                </a:solidFill>
                <a:latin typeface="微软雅黑" panose="020B0503020204020204" charset="-122"/>
                <a:ea typeface="微软雅黑" panose="020B0503020204020204" charset="-122"/>
              </a:rPr>
              <a:t>经颅磁刺激</a:t>
            </a:r>
          </a:p>
        </p:txBody>
      </p:sp>
      <p:pic>
        <p:nvPicPr>
          <p:cNvPr id="11" name="Image 2" descr="preencoded.png"/>
          <p:cNvPicPr>
            <a:picLocks noChangeAspect="1"/>
          </p:cNvPicPr>
          <p:nvPr/>
        </p:nvPicPr>
        <p:blipFill>
          <a:blip r:embed="rId9"/>
          <a:stretch>
            <a:fillRect/>
          </a:stretch>
        </p:blipFill>
        <p:spPr>
          <a:xfrm>
            <a:off x="972245" y="5698490"/>
            <a:ext cx="1110972" cy="1777484"/>
          </a:xfrm>
          <a:prstGeom prst="rect">
            <a:avLst/>
          </a:prstGeom>
        </p:spPr>
      </p:pic>
      <p:sp>
        <p:nvSpPr>
          <p:cNvPr id="12" name="Text 7"/>
          <p:cNvSpPr/>
          <p:nvPr>
            <p:custDataLst>
              <p:tags r:id="rId4"/>
            </p:custDataLst>
          </p:nvPr>
        </p:nvSpPr>
        <p:spPr>
          <a:xfrm>
            <a:off x="2746854" y="5527040"/>
            <a:ext cx="3441738" cy="347186"/>
          </a:xfrm>
          <a:prstGeom prst="rect">
            <a:avLst/>
          </a:prstGeom>
          <a:noFill/>
        </p:spPr>
        <p:txBody>
          <a:bodyPr wrap="none" rtlCol="0" anchor="t"/>
          <a:lstStyle/>
          <a:p>
            <a:pPr marL="0" indent="0" algn="l">
              <a:lnSpc>
                <a:spcPts val="2735"/>
              </a:lnSpc>
              <a:buNone/>
            </a:pPr>
            <a:r>
              <a:rPr lang="en-US" sz="2800" b="1" dirty="0">
                <a:solidFill>
                  <a:schemeClr val="accent2">
                    <a:lumMod val="75000"/>
                  </a:schemeClr>
                </a:solidFill>
                <a:latin typeface="微软雅黑" panose="020B0503020204020204" charset="-122"/>
                <a:ea typeface="微软雅黑" panose="020B0503020204020204" charset="-122"/>
              </a:rPr>
              <a:t>镜像神经元治疗</a:t>
            </a:r>
          </a:p>
        </p:txBody>
      </p:sp>
      <p:sp>
        <p:nvSpPr>
          <p:cNvPr id="16" name="文本框 15"/>
          <p:cNvSpPr txBox="1"/>
          <p:nvPr/>
        </p:nvSpPr>
        <p:spPr>
          <a:xfrm>
            <a:off x="2746853" y="3493650"/>
            <a:ext cx="11229498" cy="2164695"/>
          </a:xfrm>
          <a:prstGeom prst="rect">
            <a:avLst/>
          </a:prstGeom>
          <a:noFill/>
        </p:spPr>
        <p:txBody>
          <a:bodyPr wrap="square" rtlCol="0">
            <a:spAutoFit/>
          </a:bodyPr>
          <a:lstStyle/>
          <a:p>
            <a:pPr marL="0" indent="0" algn="l">
              <a:lnSpc>
                <a:spcPts val="2800"/>
              </a:lnSpc>
              <a:buNone/>
            </a:pPr>
            <a:r>
              <a:rPr lang="en-US" dirty="0">
                <a:solidFill>
                  <a:srgbClr val="746558"/>
                </a:solidFill>
                <a:latin typeface="微软雅黑" panose="020B0503020204020204" charset="-122"/>
                <a:ea typeface="微软雅黑" panose="020B0503020204020204" charset="-122"/>
                <a:cs typeface="微软雅黑" panose="020B0503020204020204" charset="-122"/>
                <a:sym typeface="+mn-ea"/>
              </a:rPr>
              <a:t>经颅磁刺激是一种利用磁场产生电流，刺激大脑皮层特定区域的技术。</a:t>
            </a:r>
            <a:endParaRPr lang="en-US" dirty="0">
              <a:solidFill>
                <a:srgbClr val="746558"/>
              </a:solidFill>
              <a:latin typeface="微软雅黑" panose="020B0503020204020204" charset="-122"/>
              <a:ea typeface="微软雅黑" panose="020B0503020204020204" charset="-122"/>
              <a:cs typeface="微软雅黑" panose="020B0503020204020204" charset="-122"/>
            </a:endParaRPr>
          </a:p>
          <a:p>
            <a:pPr marL="0" indent="0" algn="l">
              <a:lnSpc>
                <a:spcPts val="2800"/>
              </a:lnSpc>
              <a:buNone/>
            </a:pPr>
            <a:r>
              <a:rPr lang="en-US" dirty="0">
                <a:solidFill>
                  <a:srgbClr val="746558"/>
                </a:solidFill>
                <a:latin typeface="微软雅黑" panose="020B0503020204020204" charset="-122"/>
                <a:ea typeface="微软雅黑" panose="020B0503020204020204" charset="-122"/>
                <a:cs typeface="微软雅黑" panose="020B0503020204020204" charset="-122"/>
                <a:sym typeface="+mn-ea"/>
              </a:rPr>
              <a:t>TMS设备包括一个线圈，通过快速变化的磁场在大脑中感应出电流。该电流能够穿透头皮和头骨，刺激特定的大脑皮质区域。</a:t>
            </a:r>
            <a:endParaRPr lang="en-US" dirty="0">
              <a:solidFill>
                <a:srgbClr val="746558"/>
              </a:solidFill>
              <a:latin typeface="微软雅黑" panose="020B0503020204020204" charset="-122"/>
              <a:ea typeface="微软雅黑" panose="020B0503020204020204" charset="-122"/>
              <a:cs typeface="微软雅黑" panose="020B0503020204020204" charset="-122"/>
            </a:endParaRPr>
          </a:p>
          <a:p>
            <a:pPr marL="0" indent="0" algn="l">
              <a:lnSpc>
                <a:spcPts val="2800"/>
              </a:lnSpc>
              <a:buNone/>
            </a:pPr>
            <a:r>
              <a:rPr lang="en-US" dirty="0">
                <a:solidFill>
                  <a:srgbClr val="746558"/>
                </a:solidFill>
                <a:latin typeface="微软雅黑" panose="020B0503020204020204" charset="-122"/>
                <a:ea typeface="微软雅黑" panose="020B0503020204020204" charset="-122"/>
                <a:cs typeface="微软雅黑" panose="020B0503020204020204" charset="-122"/>
                <a:sym typeface="+mn-ea"/>
              </a:rPr>
              <a:t>TMS可以通过重复性经颅磁刺激（rTMS）来调节皮质兴奋性，促进语言功能恢复。低频rTMS（通常1Hz）用于抑制过度活跃的区域，而高频rTMS（通常10Hz或以上）用于激活功能不足的区域。</a:t>
            </a:r>
            <a:endParaRPr lang="en-US" dirty="0">
              <a:solidFill>
                <a:srgbClr val="746558"/>
              </a:solidFill>
              <a:latin typeface="微软雅黑" panose="020B0503020204020204" charset="-122"/>
              <a:ea typeface="微软雅黑" panose="020B0503020204020204" charset="-122"/>
              <a:cs typeface="微软雅黑" panose="020B0503020204020204" charset="-122"/>
            </a:endParaRPr>
          </a:p>
          <a:p>
            <a:endParaRPr lang="zh-CN" altLang="en-US" dirty="0"/>
          </a:p>
        </p:txBody>
      </p:sp>
      <p:sp>
        <p:nvSpPr>
          <p:cNvPr id="17" name="文本框 16"/>
          <p:cNvSpPr txBox="1"/>
          <p:nvPr/>
        </p:nvSpPr>
        <p:spPr>
          <a:xfrm>
            <a:off x="2746854" y="6028055"/>
            <a:ext cx="11229497" cy="1527175"/>
          </a:xfrm>
          <a:prstGeom prst="rect">
            <a:avLst/>
          </a:prstGeom>
          <a:noFill/>
        </p:spPr>
        <p:txBody>
          <a:bodyPr wrap="square" rtlCol="0">
            <a:spAutoFit/>
          </a:bodyPr>
          <a:lstStyle/>
          <a:p>
            <a:pPr marL="0" indent="0" algn="l">
              <a:lnSpc>
                <a:spcPts val="2800"/>
              </a:lnSpc>
              <a:buNone/>
            </a:pPr>
            <a:r>
              <a:rPr lang="en-US" dirty="0">
                <a:solidFill>
                  <a:srgbClr val="746558"/>
                </a:solidFill>
                <a:latin typeface="微软雅黑" panose="020B0503020204020204" charset="-122"/>
                <a:ea typeface="微软雅黑" panose="020B0503020204020204" charset="-122"/>
                <a:cs typeface="微软雅黑" panose="020B0503020204020204" charset="-122"/>
                <a:sym typeface="+mn-ea"/>
              </a:rPr>
              <a:t>镜像神经元治疗基于镜像神经元系统的激活，促进语言和动作的恢复。镜像神经元是在观察和执行相同动作时同时激活的一类神经元。</a:t>
            </a:r>
          </a:p>
          <a:p>
            <a:pPr marL="0" indent="0" algn="l">
              <a:lnSpc>
                <a:spcPts val="2800"/>
              </a:lnSpc>
              <a:buNone/>
            </a:pPr>
            <a:r>
              <a:rPr lang="en-US" dirty="0">
                <a:solidFill>
                  <a:srgbClr val="746558"/>
                </a:solidFill>
                <a:latin typeface="微软雅黑" panose="020B0503020204020204" charset="-122"/>
                <a:ea typeface="微软雅黑" panose="020B0503020204020204" charset="-122"/>
                <a:cs typeface="微软雅黑" panose="020B0503020204020204" charset="-122"/>
                <a:sym typeface="+mn-ea"/>
              </a:rPr>
              <a:t>MNT治疗通过让患者观察他人的动作和语言，并试图模仿这些动作和语言，激活患者的大脑中的镜像神经元系统。通常，这包括观看视频、与治疗师互动以及在镜子前练习口语和动作。</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7620" y="0"/>
            <a:ext cx="14630400" cy="8229600"/>
          </a:xfrm>
          <a:prstGeom prst="rect">
            <a:avLst/>
          </a:prstGeom>
          <a:solidFill>
            <a:srgbClr val="F9F6F0"/>
          </a:solidFill>
        </p:spPr>
        <p:txBody>
          <a:bodyPr/>
          <a:lstStyle/>
          <a:p>
            <a:endParaRPr lang="zh-CN" altLang="en-US" dirty="0"/>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528399" y="368618"/>
            <a:ext cx="7477601" cy="958215"/>
          </a:xfrm>
          <a:prstGeom prst="rect">
            <a:avLst/>
          </a:prstGeom>
          <a:noFill/>
        </p:spPr>
        <p:txBody>
          <a:bodyPr wrap="none" rtlCol="0" anchor="t"/>
          <a:lstStyle/>
          <a:p>
            <a:pPr>
              <a:lnSpc>
                <a:spcPts val="7545"/>
              </a:lnSpc>
            </a:pPr>
            <a:r>
              <a:rPr lang="en-US" altLang="zh-CN" sz="6035" b="1" dirty="0">
                <a:latin typeface="Arial" panose="020B0604020202020204"/>
                <a:ea typeface="微软雅黑" panose="020B0503020204020204" charset="-122"/>
                <a:sym typeface="Arial" panose="020B0604020202020204"/>
              </a:rPr>
              <a:t>Question</a:t>
            </a:r>
          </a:p>
          <a:p>
            <a:pPr>
              <a:lnSpc>
                <a:spcPts val="7545"/>
              </a:lnSpc>
            </a:pPr>
            <a:endParaRPr lang="zh-CN" altLang="en-US" sz="6035" b="1" dirty="0">
              <a:solidFill>
                <a:schemeClr val="tx1"/>
              </a:solidFill>
              <a:effectLst/>
              <a:latin typeface="Arial" panose="020B0604020202020204"/>
              <a:ea typeface="微软雅黑" panose="020B0503020204020204" charset="-122"/>
              <a:sym typeface="Arial" panose="020B0604020202020204"/>
            </a:endParaRPr>
          </a:p>
        </p:txBody>
      </p:sp>
      <p:sp>
        <p:nvSpPr>
          <p:cNvPr id="7" name="Shape 4"/>
          <p:cNvSpPr/>
          <p:nvPr/>
        </p:nvSpPr>
        <p:spPr>
          <a:xfrm>
            <a:off x="833199" y="5240774"/>
            <a:ext cx="355402" cy="355402"/>
          </a:xfrm>
          <a:prstGeom prst="roundRect">
            <a:avLst>
              <a:gd name="adj" fmla="val 25726039"/>
            </a:avLst>
          </a:prstGeom>
          <a:noFill/>
          <a:ln w="7620">
            <a:solidFill>
              <a:srgbClr val="FFFFFF"/>
            </a:solidFill>
            <a:prstDash val="solid"/>
          </a:ln>
        </p:spPr>
      </p:sp>
      <p:sp>
        <p:nvSpPr>
          <p:cNvPr id="8" name="文本框 7">
            <a:extLst>
              <a:ext uri="{FF2B5EF4-FFF2-40B4-BE49-F238E27FC236}">
                <a16:creationId xmlns:a16="http://schemas.microsoft.com/office/drawing/2014/main" id="{BA01099A-D70B-2FCD-428C-0562064F9C6E}"/>
              </a:ext>
            </a:extLst>
          </p:cNvPr>
          <p:cNvSpPr txBox="1"/>
          <p:nvPr/>
        </p:nvSpPr>
        <p:spPr>
          <a:xfrm>
            <a:off x="528399" y="1720692"/>
            <a:ext cx="8420100" cy="5886450"/>
          </a:xfrm>
          <a:prstGeom prst="rect">
            <a:avLst/>
          </a:prstGeom>
          <a:noFill/>
        </p:spPr>
        <p:txBody>
          <a:bodyPr wrap="square" rtlCol="0">
            <a:spAutoFit/>
          </a:bodyPr>
          <a:lstStyle/>
          <a:p>
            <a:endParaRPr lang="zh-CN" altLang="en-US" dirty="0"/>
          </a:p>
        </p:txBody>
      </p:sp>
      <p:sp>
        <p:nvSpPr>
          <p:cNvPr id="11" name="文本框 10">
            <a:extLst>
              <a:ext uri="{FF2B5EF4-FFF2-40B4-BE49-F238E27FC236}">
                <a16:creationId xmlns:a16="http://schemas.microsoft.com/office/drawing/2014/main" id="{A78E689D-C599-CDB6-D39F-38832D0CCF67}"/>
              </a:ext>
            </a:extLst>
          </p:cNvPr>
          <p:cNvSpPr txBox="1"/>
          <p:nvPr/>
        </p:nvSpPr>
        <p:spPr>
          <a:xfrm>
            <a:off x="430786" y="1475970"/>
            <a:ext cx="8006001" cy="6124754"/>
          </a:xfrm>
          <a:prstGeom prst="rect">
            <a:avLst/>
          </a:prstGeom>
          <a:noFill/>
        </p:spPr>
        <p:txBody>
          <a:bodyPr wrap="square" rtlCol="0">
            <a:spAutoFit/>
          </a:bodyPr>
          <a:lstStyle/>
          <a:p>
            <a:r>
              <a:rPr lang="zh-CN" altLang="en-US" sz="2800" dirty="0">
                <a:latin typeface="+mn-ea"/>
              </a:rPr>
              <a:t>下面哪一个是表层失读症的临床症状？</a:t>
            </a:r>
            <a:endParaRPr lang="en-US" altLang="zh-CN" sz="2800" dirty="0">
              <a:latin typeface="+mn-ea"/>
            </a:endParaRPr>
          </a:p>
          <a:p>
            <a:endParaRPr lang="en-US" altLang="zh-CN" sz="2800" dirty="0">
              <a:latin typeface="+mn-ea"/>
            </a:endParaRPr>
          </a:p>
          <a:p>
            <a:r>
              <a:rPr lang="en-US" altLang="zh-CN" sz="2800" dirty="0">
                <a:latin typeface="+mn-ea"/>
              </a:rPr>
              <a:t>A.</a:t>
            </a:r>
            <a:r>
              <a:rPr lang="zh-CN" altLang="zh-CN" sz="2800" dirty="0">
                <a:latin typeface="+mn-ea"/>
              </a:rPr>
              <a:t>阅读时会产生语义的理解错误，所读出的词语和目标词语在意义上是相关联</a:t>
            </a:r>
            <a:r>
              <a:rPr lang="zh-CN" altLang="en-US" sz="2800" dirty="0">
                <a:latin typeface="+mn-ea"/>
              </a:rPr>
              <a:t>的，</a:t>
            </a:r>
            <a:r>
              <a:rPr lang="zh-CN" altLang="zh-CN" sz="2800" dirty="0">
                <a:latin typeface="+mn-ea"/>
              </a:rPr>
              <a:t>可能表现为同义词</a:t>
            </a:r>
            <a:endParaRPr lang="en-US" altLang="zh-CN" sz="2800" dirty="0">
              <a:latin typeface="+mn-ea"/>
            </a:endParaRPr>
          </a:p>
          <a:p>
            <a:endParaRPr lang="en-US" altLang="zh-CN" sz="2800" dirty="0">
              <a:latin typeface="+mn-ea"/>
            </a:endParaRPr>
          </a:p>
          <a:p>
            <a:r>
              <a:rPr lang="en-US" altLang="zh-CN" sz="2800" dirty="0">
                <a:latin typeface="+mn-ea"/>
              </a:rPr>
              <a:t>B.</a:t>
            </a:r>
            <a:r>
              <a:rPr lang="zh-CN" altLang="en-US" sz="2800" dirty="0">
                <a:latin typeface="+mn-ea"/>
              </a:rPr>
              <a:t>依赖词形进行识别，难以将字母转换为相应的音素</a:t>
            </a:r>
          </a:p>
          <a:p>
            <a:endParaRPr lang="en-US" altLang="zh-CN" sz="2800" dirty="0">
              <a:latin typeface="+mn-ea"/>
            </a:endParaRPr>
          </a:p>
          <a:p>
            <a:r>
              <a:rPr lang="en-US" altLang="zh-CN" sz="2800" dirty="0">
                <a:latin typeface="+mn-ea"/>
              </a:rPr>
              <a:t>C.</a:t>
            </a:r>
            <a:r>
              <a:rPr lang="zh-CN" altLang="en-US" sz="2800" dirty="0">
                <a:latin typeface="+mn-ea"/>
              </a:rPr>
              <a:t>无法直接从书写形式获取单词的意义，而是必须通过发音来确认单词是否为真实单词</a:t>
            </a:r>
          </a:p>
          <a:p>
            <a:endParaRPr lang="en-US" altLang="zh-CN" sz="2800" dirty="0">
              <a:latin typeface="+mn-ea"/>
            </a:endParaRPr>
          </a:p>
          <a:p>
            <a:r>
              <a:rPr lang="en-US" altLang="zh-CN" sz="2800" dirty="0">
                <a:latin typeface="+mn-ea"/>
              </a:rPr>
              <a:t>D.</a:t>
            </a:r>
            <a:r>
              <a:rPr lang="zh-CN" altLang="en-US" sz="2800" dirty="0">
                <a:latin typeface="+mn-ea"/>
              </a:rPr>
              <a:t>对字母的识别保留较好，但单词的识别严重受损</a:t>
            </a:r>
          </a:p>
          <a:p>
            <a:endParaRPr lang="zh-CN" altLang="en-US" sz="2800" dirty="0"/>
          </a:p>
        </p:txBody>
      </p:sp>
    </p:spTree>
    <p:extLst>
      <p:ext uri="{BB962C8B-B14F-4D97-AF65-F5344CB8AC3E}">
        <p14:creationId xmlns:p14="http://schemas.microsoft.com/office/powerpoint/2010/main" val="2892871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7620" y="0"/>
            <a:ext cx="14630400" cy="8229600"/>
          </a:xfrm>
          <a:prstGeom prst="rect">
            <a:avLst/>
          </a:prstGeom>
          <a:solidFill>
            <a:srgbClr val="F9F6F0"/>
          </a:solidFill>
        </p:spPr>
        <p:txBody>
          <a:bodyPr/>
          <a:lstStyle/>
          <a:p>
            <a:endParaRPr lang="zh-CN" altLang="en-US" dirty="0"/>
          </a:p>
        </p:txBody>
      </p:sp>
      <p:pic>
        <p:nvPicPr>
          <p:cNvPr id="4" name="Image 0" descr="preencoded.png"/>
          <p:cNvPicPr>
            <a:picLocks noChangeAspect="1"/>
          </p:cNvPicPr>
          <p:nvPr/>
        </p:nvPicPr>
        <p:blipFill>
          <a:blip r:embed="rId3"/>
          <a:stretch>
            <a:fillRect/>
          </a:stretch>
        </p:blipFill>
        <p:spPr>
          <a:xfrm>
            <a:off x="9151620" y="0"/>
            <a:ext cx="5486400" cy="8229600"/>
          </a:xfrm>
          <a:prstGeom prst="rect">
            <a:avLst/>
          </a:prstGeom>
        </p:spPr>
      </p:pic>
      <p:sp>
        <p:nvSpPr>
          <p:cNvPr id="5" name="Text 2"/>
          <p:cNvSpPr/>
          <p:nvPr/>
        </p:nvSpPr>
        <p:spPr>
          <a:xfrm>
            <a:off x="528399" y="368618"/>
            <a:ext cx="7477601" cy="958215"/>
          </a:xfrm>
          <a:prstGeom prst="rect">
            <a:avLst/>
          </a:prstGeom>
          <a:noFill/>
        </p:spPr>
        <p:txBody>
          <a:bodyPr wrap="none" rtlCol="0" anchor="t"/>
          <a:lstStyle/>
          <a:p>
            <a:pPr>
              <a:lnSpc>
                <a:spcPts val="7545"/>
              </a:lnSpc>
            </a:pPr>
            <a:r>
              <a:rPr lang="en-US" altLang="zh-CN" sz="6035" b="1" dirty="0">
                <a:latin typeface="Arial" panose="020B0604020202020204"/>
                <a:ea typeface="微软雅黑" panose="020B0503020204020204" charset="-122"/>
                <a:sym typeface="Arial" panose="020B0604020202020204"/>
              </a:rPr>
              <a:t>Answer</a:t>
            </a:r>
          </a:p>
          <a:p>
            <a:pPr>
              <a:lnSpc>
                <a:spcPts val="7545"/>
              </a:lnSpc>
            </a:pPr>
            <a:endParaRPr lang="zh-CN" altLang="en-US" sz="6035" b="1" dirty="0">
              <a:solidFill>
                <a:schemeClr val="tx1"/>
              </a:solidFill>
              <a:effectLst/>
              <a:latin typeface="Arial" panose="020B0604020202020204"/>
              <a:ea typeface="微软雅黑" panose="020B0503020204020204" charset="-122"/>
              <a:sym typeface="Arial" panose="020B0604020202020204"/>
            </a:endParaRPr>
          </a:p>
        </p:txBody>
      </p:sp>
      <p:sp>
        <p:nvSpPr>
          <p:cNvPr id="7" name="Shape 4"/>
          <p:cNvSpPr/>
          <p:nvPr/>
        </p:nvSpPr>
        <p:spPr>
          <a:xfrm>
            <a:off x="833199" y="5240774"/>
            <a:ext cx="355402" cy="355402"/>
          </a:xfrm>
          <a:prstGeom prst="roundRect">
            <a:avLst>
              <a:gd name="adj" fmla="val 25726039"/>
            </a:avLst>
          </a:prstGeom>
          <a:noFill/>
          <a:ln w="7620">
            <a:solidFill>
              <a:srgbClr val="FFFFFF"/>
            </a:solidFill>
            <a:prstDash val="solid"/>
          </a:ln>
        </p:spPr>
      </p:sp>
      <p:sp>
        <p:nvSpPr>
          <p:cNvPr id="8" name="文本框 7">
            <a:extLst>
              <a:ext uri="{FF2B5EF4-FFF2-40B4-BE49-F238E27FC236}">
                <a16:creationId xmlns:a16="http://schemas.microsoft.com/office/drawing/2014/main" id="{BA01099A-D70B-2FCD-428C-0562064F9C6E}"/>
              </a:ext>
            </a:extLst>
          </p:cNvPr>
          <p:cNvSpPr txBox="1"/>
          <p:nvPr/>
        </p:nvSpPr>
        <p:spPr>
          <a:xfrm>
            <a:off x="528399" y="1720692"/>
            <a:ext cx="8420100" cy="5886450"/>
          </a:xfrm>
          <a:prstGeom prst="rect">
            <a:avLst/>
          </a:prstGeom>
          <a:noFill/>
        </p:spPr>
        <p:txBody>
          <a:bodyPr wrap="square" rtlCol="0">
            <a:spAutoFit/>
          </a:bodyPr>
          <a:lstStyle/>
          <a:p>
            <a:endParaRPr lang="zh-CN" altLang="en-US" dirty="0"/>
          </a:p>
        </p:txBody>
      </p:sp>
      <p:sp>
        <p:nvSpPr>
          <p:cNvPr id="11" name="文本框 10">
            <a:extLst>
              <a:ext uri="{FF2B5EF4-FFF2-40B4-BE49-F238E27FC236}">
                <a16:creationId xmlns:a16="http://schemas.microsoft.com/office/drawing/2014/main" id="{A78E689D-C599-CDB6-D39F-38832D0CCF67}"/>
              </a:ext>
            </a:extLst>
          </p:cNvPr>
          <p:cNvSpPr txBox="1"/>
          <p:nvPr/>
        </p:nvSpPr>
        <p:spPr>
          <a:xfrm>
            <a:off x="430786" y="1475970"/>
            <a:ext cx="8006001" cy="6555641"/>
          </a:xfrm>
          <a:prstGeom prst="rect">
            <a:avLst/>
          </a:prstGeom>
          <a:noFill/>
        </p:spPr>
        <p:txBody>
          <a:bodyPr wrap="square" rtlCol="0">
            <a:spAutoFit/>
          </a:bodyPr>
          <a:lstStyle/>
          <a:p>
            <a:r>
              <a:rPr lang="zh-CN" altLang="en-US" sz="2800" dirty="0">
                <a:latin typeface="+mn-ea"/>
              </a:rPr>
              <a:t>下面哪一个是表层失读症的临床症状？</a:t>
            </a:r>
            <a:r>
              <a:rPr lang="en-US" altLang="zh-CN" sz="2800" dirty="0">
                <a:solidFill>
                  <a:srgbClr val="00B050"/>
                </a:solidFill>
                <a:latin typeface="+mn-ea"/>
              </a:rPr>
              <a:t>C</a:t>
            </a:r>
          </a:p>
          <a:p>
            <a:endParaRPr lang="en-US" altLang="zh-CN" sz="2800" dirty="0">
              <a:latin typeface="+mn-ea"/>
            </a:endParaRPr>
          </a:p>
          <a:p>
            <a:r>
              <a:rPr lang="en-US" altLang="zh-CN" sz="2800" dirty="0">
                <a:latin typeface="+mn-ea"/>
              </a:rPr>
              <a:t>A.</a:t>
            </a:r>
            <a:r>
              <a:rPr lang="zh-CN" altLang="zh-CN" sz="2800" dirty="0">
                <a:latin typeface="+mn-ea"/>
              </a:rPr>
              <a:t>阅读时会产生语义的理解错误，所读出的词语和目标词语在意义上是相关联</a:t>
            </a:r>
            <a:r>
              <a:rPr lang="zh-CN" altLang="en-US" sz="2800" dirty="0">
                <a:latin typeface="+mn-ea"/>
              </a:rPr>
              <a:t>的，</a:t>
            </a:r>
            <a:r>
              <a:rPr lang="zh-CN" altLang="zh-CN" sz="2800" dirty="0">
                <a:latin typeface="+mn-ea"/>
              </a:rPr>
              <a:t>可能表现为</a:t>
            </a:r>
            <a:r>
              <a:rPr lang="zh-CN" altLang="en-US" sz="2800" dirty="0">
                <a:latin typeface="+mn-ea"/>
              </a:rPr>
              <a:t>反义词或者</a:t>
            </a:r>
            <a:r>
              <a:rPr lang="zh-CN" altLang="zh-CN" sz="2800" dirty="0">
                <a:latin typeface="+mn-ea"/>
              </a:rPr>
              <a:t>同义词</a:t>
            </a:r>
            <a:r>
              <a:rPr lang="zh-CN" altLang="en-US" sz="2800" dirty="0">
                <a:solidFill>
                  <a:srgbClr val="00B050"/>
                </a:solidFill>
                <a:latin typeface="+mn-ea"/>
              </a:rPr>
              <a:t>（深层失读症）</a:t>
            </a:r>
            <a:endParaRPr lang="en-US" altLang="zh-CN" sz="2800" dirty="0">
              <a:solidFill>
                <a:srgbClr val="00B050"/>
              </a:solidFill>
              <a:latin typeface="+mn-ea"/>
            </a:endParaRPr>
          </a:p>
          <a:p>
            <a:endParaRPr lang="en-US" altLang="zh-CN" sz="2800" dirty="0">
              <a:latin typeface="+mn-ea"/>
            </a:endParaRPr>
          </a:p>
          <a:p>
            <a:r>
              <a:rPr lang="en-US" altLang="zh-CN" sz="2800" dirty="0">
                <a:latin typeface="+mn-ea"/>
              </a:rPr>
              <a:t>B.</a:t>
            </a:r>
            <a:r>
              <a:rPr lang="zh-CN" altLang="en-US" sz="2800" dirty="0">
                <a:latin typeface="+mn-ea"/>
              </a:rPr>
              <a:t>依赖词形进行识别，难以将字母转换为相应的音素</a:t>
            </a:r>
            <a:r>
              <a:rPr lang="zh-CN" altLang="en-US" sz="2800" dirty="0">
                <a:solidFill>
                  <a:srgbClr val="00B050"/>
                </a:solidFill>
                <a:latin typeface="+mn-ea"/>
              </a:rPr>
              <a:t>（语音失读症）</a:t>
            </a:r>
          </a:p>
          <a:p>
            <a:endParaRPr lang="en-US" altLang="zh-CN" sz="2800" dirty="0">
              <a:latin typeface="+mn-ea"/>
            </a:endParaRPr>
          </a:p>
          <a:p>
            <a:r>
              <a:rPr lang="en-US" altLang="zh-CN" sz="2800" dirty="0">
                <a:solidFill>
                  <a:srgbClr val="00B050"/>
                </a:solidFill>
                <a:latin typeface="+mn-ea"/>
              </a:rPr>
              <a:t>C.</a:t>
            </a:r>
            <a:r>
              <a:rPr lang="zh-CN" altLang="en-US" sz="2800" dirty="0">
                <a:solidFill>
                  <a:srgbClr val="00B050"/>
                </a:solidFill>
                <a:latin typeface="+mn-ea"/>
              </a:rPr>
              <a:t>无法直接从书写形式获取单词的意义，而是必须通过发音来确认单词是否为真实单词</a:t>
            </a:r>
          </a:p>
          <a:p>
            <a:endParaRPr lang="en-US" altLang="zh-CN" sz="2800" dirty="0">
              <a:latin typeface="+mn-ea"/>
            </a:endParaRPr>
          </a:p>
          <a:p>
            <a:r>
              <a:rPr lang="en-US" altLang="zh-CN" sz="2800" dirty="0">
                <a:latin typeface="+mn-ea"/>
              </a:rPr>
              <a:t>D.</a:t>
            </a:r>
            <a:r>
              <a:rPr lang="zh-CN" altLang="en-US" sz="2800" dirty="0">
                <a:latin typeface="+mn-ea"/>
              </a:rPr>
              <a:t>对字母的识别保留较好，但单词的识别严重受损</a:t>
            </a:r>
            <a:r>
              <a:rPr lang="zh-CN" altLang="en-US" sz="2800" dirty="0">
                <a:solidFill>
                  <a:srgbClr val="00B050"/>
                </a:solidFill>
                <a:latin typeface="+mn-ea"/>
              </a:rPr>
              <a:t>（纯失读症）</a:t>
            </a:r>
          </a:p>
          <a:p>
            <a:endParaRPr lang="zh-CN" altLang="en-US" sz="2800" dirty="0"/>
          </a:p>
        </p:txBody>
      </p:sp>
    </p:spTree>
    <p:extLst>
      <p:ext uri="{BB962C8B-B14F-4D97-AF65-F5344CB8AC3E}">
        <p14:creationId xmlns:p14="http://schemas.microsoft.com/office/powerpoint/2010/main" val="3470209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CFBB"/>
          </a:solidFill>
        </p:spPr>
      </p:sp>
      <p:sp>
        <p:nvSpPr>
          <p:cNvPr id="3" name="Shape 1"/>
          <p:cNvSpPr/>
          <p:nvPr/>
        </p:nvSpPr>
        <p:spPr>
          <a:xfrm>
            <a:off x="0" y="0"/>
            <a:ext cx="14630400" cy="8229600"/>
          </a:xfrm>
          <a:prstGeom prst="rect">
            <a:avLst/>
          </a:prstGeom>
          <a:solidFill>
            <a:srgbClr val="F9F6F0"/>
          </a:solidFill>
        </p:spPr>
      </p:sp>
      <p:pic>
        <p:nvPicPr>
          <p:cNvPr id="4"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5" name="Shape 2"/>
          <p:cNvSpPr/>
          <p:nvPr/>
        </p:nvSpPr>
        <p:spPr>
          <a:xfrm>
            <a:off x="0" y="125730"/>
            <a:ext cx="14630400" cy="8229600"/>
          </a:xfrm>
          <a:prstGeom prst="rect">
            <a:avLst/>
          </a:prstGeom>
          <a:solidFill>
            <a:srgbClr val="F9F6F0">
              <a:alpha val="85000"/>
            </a:srgbClr>
          </a:solidFill>
        </p:spPr>
      </p:sp>
      <p:sp>
        <p:nvSpPr>
          <p:cNvPr id="6" name="Text 3"/>
          <p:cNvSpPr/>
          <p:nvPr/>
        </p:nvSpPr>
        <p:spPr>
          <a:xfrm>
            <a:off x="2403752" y="4415552"/>
            <a:ext cx="11220807" cy="1295876"/>
          </a:xfrm>
          <a:prstGeom prst="rect">
            <a:avLst/>
          </a:prstGeom>
          <a:noFill/>
        </p:spPr>
        <p:txBody>
          <a:bodyPr wrap="none" rtlCol="0" anchor="t"/>
          <a:lstStyle/>
          <a:p>
            <a:pPr marL="0" indent="0" algn="ctr">
              <a:lnSpc>
                <a:spcPts val="5470"/>
              </a:lnSpc>
              <a:buNone/>
            </a:pPr>
            <a:r>
              <a:rPr lang="en-US" sz="16600" b="1" dirty="0">
                <a:solidFill>
                  <a:schemeClr val="accent2">
                    <a:lumMod val="50000"/>
                  </a:schemeClr>
                </a:solidFill>
                <a:latin typeface="微软雅黑 Light" panose="020B0502040204020203" pitchFamily="34" charset="-122"/>
                <a:ea typeface="微软雅黑 Light" panose="020B0502040204020203" pitchFamily="34" charset="-122"/>
                <a:cs typeface="微软雅黑" panose="020B0503020204020204" charset="-122"/>
              </a:rPr>
              <a:t>谢谢观看！</a:t>
            </a:r>
            <a:endParaRPr lang="en-US" sz="16600" dirty="0">
              <a:solidFill>
                <a:schemeClr val="accent2">
                  <a:lumMod val="50000"/>
                </a:schemeClr>
              </a:solidFill>
              <a:latin typeface="微软雅黑 Light" panose="020B0502040204020203" pitchFamily="34" charset="-122"/>
              <a:ea typeface="微软雅黑 Light" panose="020B0502040204020203" pitchFamily="34"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FhMTM1YmQyNTViOTQ2M2Q3M2ZhZTU4ZWMxYjIyZWEifQ=="/>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30.7750393700788,&quot;left&quot;:65.60622047244094,&quot;top&quot;:283.23748031496064,&quot;width&quot;:588.787480314960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18.81000000000006,&quot;left&quot;:160.47188976377953,&quot;top&quot;:204.80251968503936,&quot;width&quot;:831.05622047244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370.4859842519685,&quot;left&quot;:502.4203149606299,&quot;top&quot;:216.75937007874018,&quot;width&quot;:590.184251968504}"/>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385.6812598425196,&quot;left&quot;:268.59062992125985,&quot;top&quot;:111.1312598425197,&quot;width&quot;:804.6093700787402}"/>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385.6812598425196,&quot;left&quot;:268.59062992125985,&quot;top&quot;:111.1312598425197,&quot;width&quot;:804.6093700787402}"/>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385.6812598425196,&quot;left&quot;:268.59062992125985,&quot;top&quot;:111.1312598425197,&quot;width&quot;:804.6093700787402}"/>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385.6812598425196,&quot;left&quot;:268.59062992125985,&quot;top&quot;:111.1312598425197,&quot;width&quot;:804.609370078740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1523</Words>
  <Application>Microsoft Office PowerPoint</Application>
  <PresentationFormat>自定义</PresentationFormat>
  <Paragraphs>140</Paragraphs>
  <Slides>18</Slides>
  <Notes>18</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18</vt:i4>
      </vt:variant>
    </vt:vector>
  </HeadingPairs>
  <TitlesOfParts>
    <vt:vector size="26" baseType="lpstr">
      <vt:lpstr>黑体</vt:lpstr>
      <vt:lpstr>宋体</vt:lpstr>
      <vt:lpstr>微软雅黑</vt:lpstr>
      <vt:lpstr>微软雅黑 Light</vt:lpstr>
      <vt:lpstr>Arial</vt:lpstr>
      <vt:lpstr>Calibri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钰轩 李</cp:lastModifiedBy>
  <cp:revision>23</cp:revision>
  <dcterms:created xsi:type="dcterms:W3CDTF">2024-05-28T05:00:00Z</dcterms:created>
  <dcterms:modified xsi:type="dcterms:W3CDTF">2024-05-31T07:42:02Z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20CE5C36C5494CE19C3DF7D8E160DAB3_13</vt:lpwstr>
  </property>
  <property fmtid="{D5CDD505-2E9C-101B-9397-08002B2CF9AE}" pid="3" name="KSOProductBuildVer">
    <vt:lpwstr>2052-12.1.0.16929</vt:lpwstr>
  </property>
</Properties>
</file>