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59" r:id="rId5"/>
    <p:sldId id="260" r:id="rId6"/>
    <p:sldId id="276" r:id="rId7"/>
    <p:sldId id="280" r:id="rId8"/>
    <p:sldId id="277" r:id="rId9"/>
    <p:sldId id="279" r:id="rId10"/>
    <p:sldId id="283" r:id="rId11"/>
    <p:sldId id="282" r:id="rId12"/>
    <p:sldId id="284" r:id="rId13"/>
    <p:sldId id="285" r:id="rId14"/>
    <p:sldId id="286" r:id="rId15"/>
    <p:sldId id="289" r:id="rId16"/>
    <p:sldId id="291" r:id="rId17"/>
    <p:sldId id="290" r:id="rId18"/>
    <p:sldId id="281" r:id="rId19"/>
    <p:sldId id="278" r:id="rId20"/>
    <p:sldId id="262" r:id="rId21"/>
    <p:sldId id="306" r:id="rId22"/>
    <p:sldId id="264" r:id="rId23"/>
    <p:sldId id="307" r:id="rId24"/>
    <p:sldId id="308" r:id="rId25"/>
    <p:sldId id="321" r:id="rId26"/>
    <p:sldId id="322" r:id="rId27"/>
    <p:sldId id="323" r:id="rId28"/>
    <p:sldId id="324" r:id="rId29"/>
    <p:sldId id="265" r:id="rId30"/>
    <p:sldId id="266" r:id="rId31"/>
    <p:sldId id="319" r:id="rId32"/>
    <p:sldId id="275" r:id="rId33"/>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7" userDrawn="1">
          <p15:clr>
            <a:srgbClr val="A4A3A4"/>
          </p15:clr>
        </p15:guide>
        <p15:guide id="2" pos="38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488A8"/>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17"/>
        <p:guide pos="387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gs" Target="tags/tag168.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250">
        <p:fade/>
      </p:transition>
    </mc:Choice>
    <mc:Fallback>
      <p:transition>
        <p:fade/>
      </p:transition>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4" Type="http://schemas.openxmlformats.org/officeDocument/2006/relationships/slideLayout" Target="../slideLayouts/slideLayout7.xml"/><Relationship Id="rId13" Type="http://schemas.openxmlformats.org/officeDocument/2006/relationships/tags" Target="../tags/tag74.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tags" Target="../tags/tag7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0" Type="http://schemas.openxmlformats.org/officeDocument/2006/relationships/slideLayout" Target="../slideLayouts/slideLayout7.xml"/><Relationship Id="rId1" Type="http://schemas.openxmlformats.org/officeDocument/2006/relationships/tags" Target="../tags/tag7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jpeg"/><Relationship Id="rId2" Type="http://schemas.openxmlformats.org/officeDocument/2006/relationships/tags" Target="../tags/tag85.xml"/><Relationship Id="rId1" Type="http://schemas.openxmlformats.org/officeDocument/2006/relationships/tags" Target="../tags/tag8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7.xml"/><Relationship Id="rId1" Type="http://schemas.openxmlformats.org/officeDocument/2006/relationships/tags" Target="../tags/tag86.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9.xml"/><Relationship Id="rId1" Type="http://schemas.openxmlformats.org/officeDocument/2006/relationships/tags" Target="../tags/tag88.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tags" Target="../tags/tag91.xml"/><Relationship Id="rId1" Type="http://schemas.openxmlformats.org/officeDocument/2006/relationships/tags" Target="../tags/tag90.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tags" Target="../tags/tag93.xml"/><Relationship Id="rId1" Type="http://schemas.openxmlformats.org/officeDocument/2006/relationships/tags" Target="../tags/tag92.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jpeg"/><Relationship Id="rId2" Type="http://schemas.openxmlformats.org/officeDocument/2006/relationships/tags" Target="../tags/tag95.xml"/><Relationship Id="rId1" Type="http://schemas.openxmlformats.org/officeDocument/2006/relationships/tags" Target="../tags/tag94.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jpeg"/><Relationship Id="rId2" Type="http://schemas.openxmlformats.org/officeDocument/2006/relationships/tags" Target="../tags/tag97.xml"/><Relationship Id="rId1" Type="http://schemas.openxmlformats.org/officeDocument/2006/relationships/tags" Target="../tags/tag96.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9.xml"/><Relationship Id="rId1" Type="http://schemas.openxmlformats.org/officeDocument/2006/relationships/tags" Target="../tags/tag98.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jpeg"/><Relationship Id="rId2" Type="http://schemas.openxmlformats.org/officeDocument/2006/relationships/tags" Target="../tags/tag101.xml"/><Relationship Id="rId1" Type="http://schemas.openxmlformats.org/officeDocument/2006/relationships/tags" Target="../tags/tag100.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tags" Target="../tags/tag103.xml"/><Relationship Id="rId1" Type="http://schemas.openxmlformats.org/officeDocument/2006/relationships/tags" Target="../tags/tag10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6" Type="http://schemas.openxmlformats.org/officeDocument/2006/relationships/slideLayout" Target="../slideLayouts/slideLayout7.xml"/><Relationship Id="rId15" Type="http://schemas.openxmlformats.org/officeDocument/2006/relationships/tags" Target="../tags/tag118.xml"/><Relationship Id="rId14" Type="http://schemas.openxmlformats.org/officeDocument/2006/relationships/tags" Target="../tags/tag117.xml"/><Relationship Id="rId13" Type="http://schemas.openxmlformats.org/officeDocument/2006/relationships/tags" Target="../tags/tag116.xml"/><Relationship Id="rId12" Type="http://schemas.openxmlformats.org/officeDocument/2006/relationships/tags" Target="../tags/tag115.xml"/><Relationship Id="rId11" Type="http://schemas.openxmlformats.org/officeDocument/2006/relationships/tags" Target="../tags/tag114.xml"/><Relationship Id="rId10" Type="http://schemas.openxmlformats.org/officeDocument/2006/relationships/tags" Target="../tags/tag113.xml"/><Relationship Id="rId1" Type="http://schemas.openxmlformats.org/officeDocument/2006/relationships/tags" Target="../tags/tag104.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9.xml"/><Relationship Id="rId1" Type="http://schemas.openxmlformats.org/officeDocument/2006/relationships/image" Target="../media/image11.jpeg"/></Relationships>
</file>

<file path=ppt/slides/_rels/slide21.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6" Type="http://schemas.openxmlformats.org/officeDocument/2006/relationships/slideLayout" Target="../slideLayouts/slideLayout7.xml"/><Relationship Id="rId15" Type="http://schemas.openxmlformats.org/officeDocument/2006/relationships/image" Target="../media/image13.jpeg"/><Relationship Id="rId14" Type="http://schemas.openxmlformats.org/officeDocument/2006/relationships/image" Target="../media/image12.jpeg"/><Relationship Id="rId13" Type="http://schemas.openxmlformats.org/officeDocument/2006/relationships/tags" Target="../tags/tag132.xml"/><Relationship Id="rId12" Type="http://schemas.openxmlformats.org/officeDocument/2006/relationships/tags" Target="../tags/tag13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tags" Target="../tags/tag120.xml"/></Relationships>
</file>

<file path=ppt/slides/_rels/slide22.xml.rels><?xml version="1.0" encoding="UTF-8" standalone="yes"?>
<Relationships xmlns="http://schemas.openxmlformats.org/package/2006/relationships"><Relationship Id="rId9" Type="http://schemas.openxmlformats.org/officeDocument/2006/relationships/image" Target="../media/image14.jpeg"/><Relationship Id="rId8" Type="http://schemas.openxmlformats.org/officeDocument/2006/relationships/tags" Target="../tags/tag140.xml"/><Relationship Id="rId7" Type="http://schemas.openxmlformats.org/officeDocument/2006/relationships/tags" Target="../tags/tag139.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1" Type="http://schemas.openxmlformats.org/officeDocument/2006/relationships/slideLayout" Target="../slideLayouts/slideLayout7.xml"/><Relationship Id="rId10" Type="http://schemas.openxmlformats.org/officeDocument/2006/relationships/image" Target="../media/image15.jpeg"/><Relationship Id="rId1" Type="http://schemas.openxmlformats.org/officeDocument/2006/relationships/tags" Target="../tags/tag133.xml"/></Relationships>
</file>

<file path=ppt/slides/_rels/slide23.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image" Target="../media/image16.jpeg"/><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1" Type="http://schemas.openxmlformats.org/officeDocument/2006/relationships/slideLayout" Target="../slideLayouts/slideLayout7.xml"/><Relationship Id="rId10" Type="http://schemas.openxmlformats.org/officeDocument/2006/relationships/tags" Target="../tags/tag149.xml"/><Relationship Id="rId1" Type="http://schemas.openxmlformats.org/officeDocument/2006/relationships/tags" Target="../tags/tag141.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tags" Target="../tags/tag150.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image" Target="../media/image20.png"/><Relationship Id="rId1" Type="http://schemas.openxmlformats.org/officeDocument/2006/relationships/tags" Target="../tags/tag151.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image" Target="../media/image21.jpeg"/><Relationship Id="rId1" Type="http://schemas.openxmlformats.org/officeDocument/2006/relationships/tags" Target="../tags/tag155.xml"/></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image" Target="../media/image22.png"/><Relationship Id="rId1" Type="http://schemas.openxmlformats.org/officeDocument/2006/relationships/tags" Target="../tags/tag15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zhuanlan.zhihu.com/p/467292904" TargetMode="External"/><Relationship Id="rId1" Type="http://schemas.openxmlformats.org/officeDocument/2006/relationships/hyperlink" Target="https://zhuanlan.zhihu.com/p/645294887" TargetMode="Externa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r="72854"/>
          <a:stretch>
            <a:fillRect/>
          </a:stretch>
        </p:blipFill>
        <p:spPr>
          <a:xfrm>
            <a:off x="-194553" y="0"/>
            <a:ext cx="3307404" cy="6858001"/>
          </a:xfrm>
          <a:prstGeom prst="rect">
            <a:avLst/>
          </a:prstGeom>
        </p:spPr>
      </p:pic>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r="72854"/>
          <a:stretch>
            <a:fillRect/>
          </a:stretch>
        </p:blipFill>
        <p:spPr>
          <a:xfrm rot="10800000">
            <a:off x="8934653" y="0"/>
            <a:ext cx="3307404" cy="6858001"/>
          </a:xfrm>
          <a:prstGeom prst="rect">
            <a:avLst/>
          </a:prstGeom>
        </p:spPr>
      </p:pic>
      <p:grpSp>
        <p:nvGrpSpPr>
          <p:cNvPr id="17" name="组合 16"/>
          <p:cNvGrpSpPr/>
          <p:nvPr/>
        </p:nvGrpSpPr>
        <p:grpSpPr>
          <a:xfrm>
            <a:off x="2158606" y="1784300"/>
            <a:ext cx="7717155" cy="2810510"/>
            <a:chOff x="2292591" y="1438624"/>
            <a:chExt cx="7717155" cy="2810510"/>
          </a:xfrm>
        </p:grpSpPr>
        <p:cxnSp>
          <p:nvCxnSpPr>
            <p:cNvPr id="18" name="直接连接符 17"/>
            <p:cNvCxnSpPr/>
            <p:nvPr/>
          </p:nvCxnSpPr>
          <p:spPr>
            <a:xfrm flipV="1">
              <a:off x="3074276" y="3469037"/>
              <a:ext cx="6043448" cy="1"/>
            </a:xfrm>
            <a:prstGeom prst="line">
              <a:avLst/>
            </a:prstGeom>
            <a:ln w="38100">
              <a:solidFill>
                <a:srgbClr val="788EAC"/>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2369426" y="3788759"/>
              <a:ext cx="7295515" cy="460375"/>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cs typeface="+mn-cs"/>
                </a:rPr>
                <a:t>第五组：王琪芸</a:t>
              </a:r>
              <a:r>
                <a:rPr kumimoji="0" lang="en-US" altLang="zh-CN" sz="2400" b="0" i="0" u="none" strike="noStrike" kern="1200" cap="none" spc="0" normalizeH="0" baseline="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cs typeface="+mn-cs"/>
                </a:rPr>
                <a:t> </a:t>
              </a:r>
              <a:r>
                <a:rPr kumimoji="0" lang="zh-CN" altLang="en-US" sz="2400" b="0" i="0" u="none" strike="noStrike" kern="1200" cap="none" spc="0" normalizeH="0" baseline="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cs typeface="+mn-cs"/>
                </a:rPr>
                <a:t>孙竞洋</a:t>
              </a:r>
              <a:r>
                <a:rPr kumimoji="0" lang="en-US" altLang="zh-CN" sz="2400" b="0" i="0" u="none" strike="noStrike" kern="1200" cap="none" spc="0" normalizeH="0" baseline="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cs typeface="+mn-cs"/>
                </a:rPr>
                <a:t> </a:t>
              </a:r>
              <a:r>
                <a:rPr kumimoji="0" lang="zh-CN" altLang="en-US" sz="2400" b="0" i="0" u="none" strike="noStrike" kern="1200" cap="none" spc="0" normalizeH="0" baseline="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cs typeface="+mn-cs"/>
                </a:rPr>
                <a:t>徐芊芊</a:t>
              </a:r>
              <a:r>
                <a:rPr kumimoji="0" lang="en-US" altLang="zh-CN" sz="2400" b="0" i="0" u="none" strike="noStrike" kern="1200" cap="none" spc="0" normalizeH="0" baseline="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cs typeface="+mn-cs"/>
                </a:rPr>
                <a:t> </a:t>
              </a:r>
              <a:r>
                <a:rPr kumimoji="0" lang="zh-CN" altLang="en-US" sz="2400" b="0" i="0" u="none" strike="noStrike" kern="1200" cap="none" spc="0" normalizeH="0" baseline="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cs typeface="+mn-cs"/>
                </a:rPr>
                <a:t>周才琪</a:t>
              </a:r>
              <a:r>
                <a:rPr kumimoji="0" lang="en-US" altLang="zh-CN" sz="2400" b="0" i="0" u="none" strike="noStrike" kern="1200" cap="none" spc="0" normalizeH="0" baseline="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cs typeface="+mn-cs"/>
                </a:rPr>
                <a:t> </a:t>
              </a:r>
              <a:r>
                <a:rPr kumimoji="0" lang="zh-CN" altLang="en-US" sz="2400" b="0" i="0" u="none" strike="noStrike" kern="1200" cap="none" spc="0" normalizeH="0" baseline="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cs typeface="+mn-cs"/>
                </a:rPr>
                <a:t>左懋林</a:t>
              </a:r>
              <a:endParaRPr kumimoji="0" lang="zh-CN" altLang="en-US" sz="2400" b="0" i="0" u="none" strike="noStrike" kern="1200" cap="none" spc="0" normalizeH="0" baseline="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cs typeface="+mn-cs"/>
              </a:endParaRPr>
            </a:p>
          </p:txBody>
        </p:sp>
        <p:sp>
          <p:nvSpPr>
            <p:cNvPr id="20" name="矩形 19"/>
            <p:cNvSpPr/>
            <p:nvPr/>
          </p:nvSpPr>
          <p:spPr>
            <a:xfrm>
              <a:off x="2292591" y="1438624"/>
              <a:ext cx="7717155" cy="1476375"/>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0" b="1" i="0" u="none" strike="noStrike" kern="1200" cap="none" spc="0" normalizeH="0" baseline="0" noProof="0" dirty="0">
                  <a:ln w="0"/>
                  <a:solidFill>
                    <a:srgbClr val="788EAC"/>
                  </a:solidFill>
                  <a:effectLst>
                    <a:outerShdw blurRad="38100" dist="19050" dir="2700000" algn="tl" rotWithShape="0">
                      <a:prstClr val="black">
                        <a:alpha val="40000"/>
                      </a:prstClr>
                    </a:outerShdw>
                  </a:effectLst>
                  <a:uLnTx/>
                  <a:uFillTx/>
                  <a:latin typeface="思源黑体 CN Heavy" panose="020B0A00000000000000" pitchFamily="34" charset="-122"/>
                  <a:ea typeface="思源黑体 CN Heavy" panose="020B0A00000000000000" pitchFamily="34" charset="-122"/>
                  <a:cs typeface="+mn-cs"/>
                </a:rPr>
                <a:t>双相情感障碍</a:t>
              </a:r>
              <a:endParaRPr kumimoji="0" lang="zh-CN" altLang="en-US" sz="9000" b="1" i="0" u="none" strike="noStrike" kern="1200" cap="none" spc="0" normalizeH="0" baseline="0" noProof="0" dirty="0">
                <a:ln w="0"/>
                <a:solidFill>
                  <a:srgbClr val="788EAC"/>
                </a:solidFill>
                <a:effectLst>
                  <a:outerShdw blurRad="38100" dist="19050" dir="2700000" algn="tl" rotWithShape="0">
                    <a:prstClr val="black">
                      <a:alpha val="40000"/>
                    </a:prstClr>
                  </a:outerShdw>
                </a:effectLst>
                <a:uLnTx/>
                <a:uFillTx/>
                <a:latin typeface="思源黑体 CN Heavy" panose="020B0A00000000000000" pitchFamily="34" charset="-122"/>
                <a:ea typeface="思源黑体 CN Heavy" panose="020B0A00000000000000" pitchFamily="34" charset="-122"/>
                <a:cs typeface="+mn-cs"/>
              </a:endParaRPr>
            </a:p>
          </p:txBody>
        </p:sp>
      </p:grpSp>
      <p:sp>
        <p:nvSpPr>
          <p:cNvPr id="2" name="文本框 1"/>
          <p:cNvSpPr txBox="1"/>
          <p:nvPr/>
        </p:nvSpPr>
        <p:spPr>
          <a:xfrm>
            <a:off x="3425825" y="3169285"/>
            <a:ext cx="5340985" cy="645160"/>
          </a:xfrm>
          <a:prstGeom prst="rect">
            <a:avLst/>
          </a:prstGeom>
          <a:noFill/>
        </p:spPr>
        <p:txBody>
          <a:bodyPr wrap="square" rtlCol="0">
            <a:spAutoFit/>
          </a:bodyPr>
          <a:p>
            <a:r>
              <a:rPr lang="zh-CN" altLang="en-US" sz="3600" noProof="0" dirty="0">
                <a:ln w="0"/>
                <a:solidFill>
                  <a:srgbClr val="788EAC"/>
                </a:solidFill>
                <a:effectLst>
                  <a:outerShdw blurRad="38100" dist="19050" dir="2700000" algn="tl" rotWithShape="0">
                    <a:prstClr val="black">
                      <a:alpha val="40000"/>
                    </a:prstClr>
                  </a:outerShdw>
                </a:effectLst>
                <a:uLnTx/>
                <a:uFillTx/>
                <a:latin typeface="Arial Black" panose="020B0A04020102020204" charset="0"/>
                <a:ea typeface="思源黑体 CN Heavy" panose="020B0A00000000000000" pitchFamily="34" charset="-122"/>
                <a:cs typeface="Arial Black" panose="020B0A04020102020204" charset="0"/>
              </a:rPr>
              <a:t>BIPOLAR DISORDER</a:t>
            </a:r>
            <a:endParaRPr lang="zh-CN" altLang="en-US" sz="3600" noProof="0" dirty="0">
              <a:ln w="0"/>
              <a:solidFill>
                <a:srgbClr val="788EAC"/>
              </a:solidFill>
              <a:effectLst>
                <a:outerShdw blurRad="38100" dist="19050" dir="2700000" algn="tl" rotWithShape="0">
                  <a:prstClr val="black">
                    <a:alpha val="40000"/>
                  </a:prstClr>
                </a:outerShdw>
              </a:effectLst>
              <a:uLnTx/>
              <a:uFillTx/>
              <a:latin typeface="Arial Black" panose="020B0A04020102020204" charset="0"/>
              <a:ea typeface="思源黑体 CN Heavy" panose="020B0A00000000000000" pitchFamily="34" charset="-122"/>
              <a:cs typeface="Arial Black" panose="020B0A0402010202020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r="72854"/>
          <a:stretch>
            <a:fillRect/>
          </a:stretch>
        </p:blipFill>
        <p:spPr>
          <a:xfrm>
            <a:off x="-194553" y="0"/>
            <a:ext cx="3307404" cy="6858001"/>
          </a:xfrm>
          <a:prstGeom prst="rect">
            <a:avLst/>
          </a:prstGeom>
        </p:spPr>
      </p:pic>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r="72854"/>
          <a:stretch>
            <a:fillRect/>
          </a:stretch>
        </p:blipFill>
        <p:spPr>
          <a:xfrm rot="10800000">
            <a:off x="8934653" y="0"/>
            <a:ext cx="3307404" cy="6858001"/>
          </a:xfrm>
          <a:prstGeom prst="rect">
            <a:avLst/>
          </a:prstGeom>
        </p:spPr>
      </p:pic>
      <p:sp>
        <p:nvSpPr>
          <p:cNvPr id="8" name="文本框2"/>
          <p:cNvSpPr>
            <a:spLocks noChangeArrowheads="1"/>
          </p:cNvSpPr>
          <p:nvPr/>
        </p:nvSpPr>
        <p:spPr bwMode="auto">
          <a:xfrm>
            <a:off x="1452307" y="1054088"/>
            <a:ext cx="9287387" cy="738664"/>
          </a:xfrm>
          <a:prstGeom prst="rect">
            <a:avLst/>
          </a:prstGeom>
          <a:noFill/>
          <a:ln>
            <a:noFill/>
          </a:ln>
          <a:effectLst/>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rgbClr val="7188A8"/>
                </a:solidFill>
                <a:effectLst/>
                <a:uLnTx/>
                <a:uFillTx/>
                <a:latin typeface="思源黑体 CN Heavy" panose="020B0A00000000000000" pitchFamily="34" charset="-122"/>
                <a:ea typeface="思源黑体 CN Heavy" panose="020B0A00000000000000" pitchFamily="34" charset="-122"/>
                <a:cs typeface="+mn-ea"/>
                <a:sym typeface="+mn-lt"/>
              </a:rPr>
              <a:t>目录</a:t>
            </a:r>
            <a:endParaRPr kumimoji="0" lang="zh-CN" altLang="en-US" sz="4800" b="1" i="0" u="none" strike="noStrike" kern="1200" cap="none" spc="0" normalizeH="0" baseline="0" noProof="0" dirty="0">
              <a:ln>
                <a:noFill/>
              </a:ln>
              <a:solidFill>
                <a:srgbClr val="7188A8"/>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9" name="组合 8"/>
          <p:cNvGrpSpPr/>
          <p:nvPr>
            <p:custDataLst>
              <p:tags r:id="rId2"/>
            </p:custDataLst>
          </p:nvPr>
        </p:nvGrpSpPr>
        <p:grpSpPr>
          <a:xfrm>
            <a:off x="3605691" y="2187496"/>
            <a:ext cx="7207885" cy="645160"/>
            <a:chOff x="1685050" y="1263506"/>
            <a:chExt cx="7207885" cy="645160"/>
          </a:xfrm>
        </p:grpSpPr>
        <p:sp>
          <p:nvSpPr>
            <p:cNvPr id="10" name="矩形 9"/>
            <p:cNvSpPr/>
            <p:nvPr>
              <p:custDataLst>
                <p:tags r:id="rId3"/>
              </p:custDataLst>
            </p:nvPr>
          </p:nvSpPr>
          <p:spPr>
            <a:xfrm>
              <a:off x="1685050" y="1285657"/>
              <a:ext cx="556592" cy="556592"/>
            </a:xfrm>
            <a:prstGeom prst="rect">
              <a:avLst/>
            </a:prstGeom>
            <a:solidFill>
              <a:srgbClr val="F7B1A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Aharoni" panose="02010803020104030203" pitchFamily="2" charset="-79"/>
                  <a:ea typeface="等线" panose="02010600030101010101" pitchFamily="2" charset="-122"/>
                  <a:cs typeface="Aharoni" panose="02010803020104030203" pitchFamily="2" charset="-79"/>
                </a:rPr>
                <a:t>01</a:t>
              </a:r>
              <a:endParaRPr kumimoji="0" lang="zh-CN" altLang="en-US" sz="2400" b="0" i="0" u="none" strike="noStrike" kern="1200" cap="none" spc="0" normalizeH="0" baseline="0" noProof="0" dirty="0">
                <a:ln>
                  <a:noFill/>
                </a:ln>
                <a:solidFill>
                  <a:prstClr val="white"/>
                </a:solidFill>
                <a:effectLst/>
                <a:uLnTx/>
                <a:uFillTx/>
                <a:latin typeface="Aharoni" panose="02010803020104030203" pitchFamily="2" charset="-79"/>
                <a:ea typeface="等线" panose="02010600030101010101" pitchFamily="2" charset="-122"/>
                <a:cs typeface="Aharoni" panose="02010803020104030203" pitchFamily="2" charset="-79"/>
              </a:endParaRPr>
            </a:p>
          </p:txBody>
        </p:sp>
        <p:sp>
          <p:nvSpPr>
            <p:cNvPr id="11" name="文本框 10"/>
            <p:cNvSpPr txBox="1"/>
            <p:nvPr>
              <p:custDataLst>
                <p:tags r:id="rId4"/>
              </p:custDataLst>
            </p:nvPr>
          </p:nvSpPr>
          <p:spPr>
            <a:xfrm>
              <a:off x="2241945" y="1263506"/>
              <a:ext cx="665099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rgbClr val="7188A8"/>
                  </a:solidFill>
                  <a:effectLst/>
                  <a:uLnTx/>
                  <a:uFillTx/>
                  <a:latin typeface="等线" panose="02010600030101010101" pitchFamily="2" charset="-122"/>
                  <a:ea typeface="等线" panose="02010600030101010101" pitchFamily="2" charset="-122"/>
                  <a:cs typeface="+mn-ea"/>
                  <a:sym typeface="+mn-lt"/>
                </a:rPr>
                <a:t>双相情感障碍的定义</a:t>
              </a:r>
              <a:endParaRPr kumimoji="0" lang="zh-CN" altLang="en-US" sz="3600" b="1" i="0" u="none" strike="noStrike" kern="1200" cap="none" spc="0" normalizeH="0" baseline="0" noProof="0" dirty="0">
                <a:ln>
                  <a:noFill/>
                </a:ln>
                <a:solidFill>
                  <a:srgbClr val="7188A8"/>
                </a:solidFill>
                <a:effectLst/>
                <a:uLnTx/>
                <a:uFillTx/>
                <a:latin typeface="等线" panose="02010600030101010101" pitchFamily="2" charset="-122"/>
                <a:ea typeface="等线" panose="02010600030101010101" pitchFamily="2" charset="-122"/>
                <a:cs typeface="+mn-ea"/>
                <a:sym typeface="+mn-lt"/>
              </a:endParaRPr>
            </a:p>
          </p:txBody>
        </p:sp>
      </p:grpSp>
      <p:grpSp>
        <p:nvGrpSpPr>
          <p:cNvPr id="13" name="组合 12"/>
          <p:cNvGrpSpPr/>
          <p:nvPr>
            <p:custDataLst>
              <p:tags r:id="rId5"/>
            </p:custDataLst>
          </p:nvPr>
        </p:nvGrpSpPr>
        <p:grpSpPr>
          <a:xfrm>
            <a:off x="3605691" y="4014552"/>
            <a:ext cx="6657975" cy="645160"/>
            <a:chOff x="2129550" y="1288832"/>
            <a:chExt cx="6657975" cy="645160"/>
          </a:xfrm>
        </p:grpSpPr>
        <p:sp>
          <p:nvSpPr>
            <p:cNvPr id="14" name="矩形 13"/>
            <p:cNvSpPr/>
            <p:nvPr>
              <p:custDataLst>
                <p:tags r:id="rId6"/>
              </p:custDataLst>
            </p:nvPr>
          </p:nvSpPr>
          <p:spPr>
            <a:xfrm>
              <a:off x="2129550" y="1316137"/>
              <a:ext cx="556592" cy="556592"/>
            </a:xfrm>
            <a:prstGeom prst="rect">
              <a:avLst/>
            </a:prstGeom>
            <a:solidFill>
              <a:srgbClr val="7188A8"/>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Aharoni" panose="02010803020104030203" pitchFamily="2" charset="-79"/>
                  <a:ea typeface="等线" panose="02010600030101010101" pitchFamily="2" charset="-122"/>
                  <a:cs typeface="Aharoni" panose="02010803020104030203" pitchFamily="2" charset="-79"/>
                </a:rPr>
                <a:t>03</a:t>
              </a:r>
              <a:endParaRPr kumimoji="0" lang="zh-CN" altLang="en-US" sz="2400" b="0" i="0" u="none" strike="noStrike" kern="1200" cap="none" spc="0" normalizeH="0" baseline="0" noProof="0" dirty="0">
                <a:ln>
                  <a:noFill/>
                </a:ln>
                <a:solidFill>
                  <a:prstClr val="white"/>
                </a:solidFill>
                <a:effectLst/>
                <a:uLnTx/>
                <a:uFillTx/>
                <a:latin typeface="Aharoni" panose="02010803020104030203" pitchFamily="2" charset="-79"/>
                <a:ea typeface="等线" panose="02010600030101010101" pitchFamily="2" charset="-122"/>
                <a:cs typeface="Aharoni" panose="02010803020104030203" pitchFamily="2" charset="-79"/>
              </a:endParaRPr>
            </a:p>
          </p:txBody>
        </p:sp>
        <p:sp>
          <p:nvSpPr>
            <p:cNvPr id="15" name="文本框 14"/>
            <p:cNvSpPr txBox="1"/>
            <p:nvPr>
              <p:custDataLst>
                <p:tags r:id="rId7"/>
              </p:custDataLst>
            </p:nvPr>
          </p:nvSpPr>
          <p:spPr>
            <a:xfrm>
              <a:off x="2686445" y="1288832"/>
              <a:ext cx="6101080"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600" b="1" noProof="0" dirty="0">
                  <a:ln>
                    <a:noFill/>
                  </a:ln>
                  <a:solidFill>
                    <a:srgbClr val="7188A8"/>
                  </a:solidFill>
                  <a:effectLst/>
                  <a:uLnTx/>
                  <a:uFillTx/>
                  <a:latin typeface="等线" panose="02010600030101010101" pitchFamily="2" charset="-122"/>
                  <a:ea typeface="等线" panose="02010600030101010101" pitchFamily="2" charset="-122"/>
                  <a:cs typeface="+mn-ea"/>
                  <a:sym typeface="+mn-lt"/>
                </a:rPr>
                <a:t>双相情感障碍的</a:t>
              </a:r>
              <a:r>
                <a:rPr kumimoji="0" lang="zh-CN" altLang="en-US" sz="3600" b="1" i="0" u="none" strike="noStrike" kern="1200" cap="none" spc="0" normalizeH="0" baseline="0" noProof="0" dirty="0">
                  <a:ln>
                    <a:noFill/>
                  </a:ln>
                  <a:solidFill>
                    <a:srgbClr val="7188A8"/>
                  </a:solidFill>
                  <a:effectLst/>
                  <a:uLnTx/>
                  <a:uFillTx/>
                  <a:latin typeface="等线" panose="02010600030101010101" pitchFamily="2" charset="-122"/>
                  <a:ea typeface="等线" panose="02010600030101010101" pitchFamily="2" charset="-122"/>
                  <a:cs typeface="+mn-ea"/>
                  <a:sym typeface="+mn-lt"/>
                </a:rPr>
                <a:t>病理</a:t>
              </a:r>
              <a:endParaRPr kumimoji="0" lang="zh-CN" altLang="en-US" sz="3600" b="1" i="0" u="none" strike="noStrike" kern="1200" cap="none" spc="0" normalizeH="0" baseline="0" noProof="0" dirty="0">
                <a:ln>
                  <a:noFill/>
                </a:ln>
                <a:solidFill>
                  <a:srgbClr val="7188A8"/>
                </a:solidFill>
                <a:effectLst/>
                <a:uLnTx/>
                <a:uFillTx/>
                <a:latin typeface="等线" panose="02010600030101010101" pitchFamily="2" charset="-122"/>
                <a:ea typeface="等线" panose="02010600030101010101" pitchFamily="2" charset="-122"/>
                <a:cs typeface="+mn-ea"/>
                <a:sym typeface="+mn-lt"/>
              </a:endParaRPr>
            </a:p>
          </p:txBody>
        </p:sp>
      </p:grpSp>
      <p:grpSp>
        <p:nvGrpSpPr>
          <p:cNvPr id="21" name="组合 20"/>
          <p:cNvGrpSpPr/>
          <p:nvPr>
            <p:custDataLst>
              <p:tags r:id="rId8"/>
            </p:custDataLst>
          </p:nvPr>
        </p:nvGrpSpPr>
        <p:grpSpPr>
          <a:xfrm>
            <a:off x="3605257" y="3097451"/>
            <a:ext cx="8178165" cy="645160"/>
            <a:chOff x="1685050" y="2134091"/>
            <a:chExt cx="8178165" cy="645160"/>
          </a:xfrm>
        </p:grpSpPr>
        <p:sp>
          <p:nvSpPr>
            <p:cNvPr id="22" name="矩形 21"/>
            <p:cNvSpPr/>
            <p:nvPr>
              <p:custDataLst>
                <p:tags r:id="rId9"/>
              </p:custDataLst>
            </p:nvPr>
          </p:nvSpPr>
          <p:spPr>
            <a:xfrm>
              <a:off x="1685050" y="2179737"/>
              <a:ext cx="556592" cy="556592"/>
            </a:xfrm>
            <a:prstGeom prst="rect">
              <a:avLst/>
            </a:prstGeom>
            <a:solidFill>
              <a:srgbClr val="96C0E9"/>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Aharoni" panose="02010803020104030203" pitchFamily="2" charset="-79"/>
                  <a:ea typeface="等线" panose="02010600030101010101" pitchFamily="2" charset="-122"/>
                  <a:cs typeface="Aharoni" panose="02010803020104030203" pitchFamily="2" charset="-79"/>
                </a:rPr>
                <a:t>02</a:t>
              </a:r>
              <a:endParaRPr kumimoji="0" lang="zh-CN" altLang="en-US" sz="2400" b="0" i="0" u="none" strike="noStrike" kern="1200" cap="none" spc="0" normalizeH="0" baseline="0" noProof="0" dirty="0">
                <a:ln>
                  <a:noFill/>
                </a:ln>
                <a:solidFill>
                  <a:prstClr val="white"/>
                </a:solidFill>
                <a:effectLst/>
                <a:uLnTx/>
                <a:uFillTx/>
                <a:latin typeface="Aharoni" panose="02010803020104030203" pitchFamily="2" charset="-79"/>
                <a:ea typeface="等线" panose="02010600030101010101" pitchFamily="2" charset="-122"/>
                <a:cs typeface="Aharoni" panose="02010803020104030203" pitchFamily="2" charset="-79"/>
              </a:endParaRPr>
            </a:p>
          </p:txBody>
        </p:sp>
        <p:sp>
          <p:nvSpPr>
            <p:cNvPr id="23" name="文本框 22"/>
            <p:cNvSpPr txBox="1"/>
            <p:nvPr>
              <p:custDataLst>
                <p:tags r:id="rId10"/>
              </p:custDataLst>
            </p:nvPr>
          </p:nvSpPr>
          <p:spPr>
            <a:xfrm>
              <a:off x="2241945" y="2134091"/>
              <a:ext cx="7621270" cy="645160"/>
            </a:xfrm>
            <a:prstGeom prst="rect">
              <a:avLst/>
            </a:prstGeom>
            <a:noFill/>
          </p:spPr>
          <p:txBody>
            <a:bodyPr wrap="square" rtlCol="0">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3600" b="1" noProof="0" dirty="0">
                  <a:ln>
                    <a:noFill/>
                  </a:ln>
                  <a:solidFill>
                    <a:srgbClr val="7188A8"/>
                  </a:solidFill>
                  <a:effectLst/>
                  <a:uLnTx/>
                  <a:uFillTx/>
                  <a:latin typeface="等线" panose="02010600030101010101" pitchFamily="2" charset="-122"/>
                  <a:ea typeface="等线" panose="02010600030101010101" pitchFamily="2" charset="-122"/>
                  <a:cs typeface="+mn-ea"/>
                  <a:sym typeface="+mn-lt"/>
                </a:rPr>
                <a:t>双相情感障碍的</a:t>
              </a:r>
              <a:r>
                <a:rPr lang="zh-CN" altLang="en-US" sz="3600" b="1" noProof="0" dirty="0">
                  <a:ln>
                    <a:noFill/>
                  </a:ln>
                  <a:solidFill>
                    <a:srgbClr val="7188A8"/>
                  </a:solidFill>
                  <a:effectLst/>
                  <a:uLnTx/>
                  <a:uFillTx/>
                  <a:latin typeface="等线" panose="02010600030101010101" pitchFamily="2" charset="-122"/>
                  <a:ea typeface="等线" panose="02010600030101010101" pitchFamily="2" charset="-122"/>
                  <a:cs typeface="+mn-ea"/>
                  <a:sym typeface="+mn-lt"/>
                </a:rPr>
                <a:t>症状</a:t>
              </a:r>
              <a:endParaRPr lang="zh-CN" altLang="en-US" sz="3600" b="1" noProof="0" dirty="0">
                <a:ln>
                  <a:noFill/>
                </a:ln>
                <a:solidFill>
                  <a:srgbClr val="7188A8"/>
                </a:solidFill>
                <a:effectLst/>
                <a:uLnTx/>
                <a:uFillTx/>
                <a:latin typeface="等线" panose="02010600030101010101" pitchFamily="2" charset="-122"/>
                <a:ea typeface="等线" panose="02010600030101010101" pitchFamily="2" charset="-122"/>
                <a:cs typeface="+mn-ea"/>
                <a:sym typeface="+mn-lt"/>
              </a:endParaRPr>
            </a:p>
          </p:txBody>
        </p:sp>
      </p:grpSp>
      <p:grpSp>
        <p:nvGrpSpPr>
          <p:cNvPr id="25" name="组合 24"/>
          <p:cNvGrpSpPr/>
          <p:nvPr>
            <p:custDataLst>
              <p:tags r:id="rId11"/>
            </p:custDataLst>
          </p:nvPr>
        </p:nvGrpSpPr>
        <p:grpSpPr>
          <a:xfrm>
            <a:off x="3605257" y="4897911"/>
            <a:ext cx="5630545" cy="645160"/>
            <a:chOff x="1685050" y="2134091"/>
            <a:chExt cx="5630545" cy="645160"/>
          </a:xfrm>
        </p:grpSpPr>
        <p:sp>
          <p:nvSpPr>
            <p:cNvPr id="26" name="矩形 25"/>
            <p:cNvSpPr/>
            <p:nvPr>
              <p:custDataLst>
                <p:tags r:id="rId12"/>
              </p:custDataLst>
            </p:nvPr>
          </p:nvSpPr>
          <p:spPr>
            <a:xfrm>
              <a:off x="1685050" y="2179737"/>
              <a:ext cx="556592" cy="556592"/>
            </a:xfrm>
            <a:prstGeom prst="rect">
              <a:avLst/>
            </a:prstGeom>
            <a:solidFill>
              <a:srgbClr val="F5E0D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Aharoni" panose="02010803020104030203" pitchFamily="2" charset="-79"/>
                  <a:ea typeface="等线" panose="02010600030101010101" pitchFamily="2" charset="-122"/>
                  <a:cs typeface="Aharoni" panose="02010803020104030203" pitchFamily="2" charset="-79"/>
                </a:rPr>
                <a:t>04</a:t>
              </a:r>
              <a:endParaRPr kumimoji="0" lang="zh-CN" altLang="en-US" sz="2400" b="0" i="0" u="none" strike="noStrike" kern="1200" cap="none" spc="0" normalizeH="0" baseline="0" noProof="0" dirty="0">
                <a:ln>
                  <a:noFill/>
                </a:ln>
                <a:solidFill>
                  <a:prstClr val="white"/>
                </a:solidFill>
                <a:effectLst/>
                <a:uLnTx/>
                <a:uFillTx/>
                <a:latin typeface="Aharoni" panose="02010803020104030203" pitchFamily="2" charset="-79"/>
                <a:ea typeface="等线" panose="02010600030101010101" pitchFamily="2" charset="-122"/>
                <a:cs typeface="Aharoni" panose="02010803020104030203" pitchFamily="2" charset="-79"/>
              </a:endParaRPr>
            </a:p>
          </p:txBody>
        </p:sp>
        <p:sp>
          <p:nvSpPr>
            <p:cNvPr id="27" name="文本框 26"/>
            <p:cNvSpPr txBox="1"/>
            <p:nvPr>
              <p:custDataLst>
                <p:tags r:id="rId13"/>
              </p:custDataLst>
            </p:nvPr>
          </p:nvSpPr>
          <p:spPr>
            <a:xfrm>
              <a:off x="2241945" y="2134091"/>
              <a:ext cx="5073650" cy="645160"/>
            </a:xfrm>
            <a:prstGeom prst="rect">
              <a:avLst/>
            </a:prstGeom>
            <a:noFill/>
          </p:spPr>
          <p:txBody>
            <a:bodyPr wrap="square" rtlCol="0">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3600" b="1" noProof="0" dirty="0">
                  <a:ln>
                    <a:noFill/>
                  </a:ln>
                  <a:solidFill>
                    <a:srgbClr val="7188A8"/>
                  </a:solidFill>
                  <a:effectLst/>
                  <a:uLnTx/>
                  <a:uFillTx/>
                  <a:latin typeface="等线" panose="02010600030101010101" pitchFamily="2" charset="-122"/>
                  <a:ea typeface="等线" panose="02010600030101010101" pitchFamily="2" charset="-122"/>
                  <a:cs typeface="+mn-ea"/>
                  <a:sym typeface="+mn-lt"/>
                </a:rPr>
                <a:t>双相情感障碍的</a:t>
              </a:r>
              <a:r>
                <a:rPr kumimoji="0" lang="zh-CN" altLang="en-US" sz="3600" b="1" i="0" u="none" strike="noStrike" kern="1200" cap="none" spc="0" normalizeH="0" baseline="0" noProof="0" dirty="0">
                  <a:ln>
                    <a:noFill/>
                  </a:ln>
                  <a:solidFill>
                    <a:srgbClr val="7188A8"/>
                  </a:solidFill>
                  <a:effectLst/>
                  <a:uLnTx/>
                  <a:uFillTx/>
                  <a:latin typeface="等线" panose="02010600030101010101" pitchFamily="2" charset="-122"/>
                  <a:ea typeface="等线" panose="02010600030101010101" pitchFamily="2" charset="-122"/>
                  <a:cs typeface="+mn-ea"/>
                  <a:sym typeface="+mn-lt"/>
                </a:rPr>
                <a:t>治疗</a:t>
              </a:r>
              <a:endParaRPr kumimoji="0" lang="zh-CN" altLang="en-US" sz="3600" b="1" i="0" u="none" strike="noStrike" kern="1200" cap="none" spc="0" normalizeH="0" baseline="0" noProof="0" dirty="0">
                <a:ln>
                  <a:noFill/>
                </a:ln>
                <a:solidFill>
                  <a:srgbClr val="7188A8"/>
                </a:solidFill>
                <a:effectLst/>
                <a:uLnTx/>
                <a:uFillTx/>
                <a:latin typeface="等线" panose="02010600030101010101" pitchFamily="2" charset="-122"/>
                <a:ea typeface="等线" panose="02010600030101010101" pitchFamily="2" charset="-122"/>
                <a:cs typeface="+mn-ea"/>
                <a:sym typeface="+mn-lt"/>
              </a:endParaRPr>
            </a:p>
          </p:txBody>
        </p:sp>
      </p:grpSp>
      <p:cxnSp>
        <p:nvCxnSpPr>
          <p:cNvPr id="29" name="直接连接符 28"/>
          <p:cNvCxnSpPr/>
          <p:nvPr/>
        </p:nvCxnSpPr>
        <p:spPr>
          <a:xfrm flipV="1">
            <a:off x="5698156" y="1831075"/>
            <a:ext cx="799526" cy="1"/>
          </a:xfrm>
          <a:prstGeom prst="line">
            <a:avLst/>
          </a:prstGeom>
          <a:ln w="38100">
            <a:solidFill>
              <a:srgbClr val="7188A8"/>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r="72854"/>
          <a:stretch>
            <a:fillRect/>
          </a:stretch>
        </p:blipFill>
        <p:spPr>
          <a:xfrm>
            <a:off x="-194553" y="0"/>
            <a:ext cx="3307404" cy="6858001"/>
          </a:xfrm>
          <a:prstGeom prst="rect">
            <a:avLst/>
          </a:prstGeom>
        </p:spPr>
      </p:pic>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r="72854"/>
          <a:stretch>
            <a:fillRect/>
          </a:stretch>
        </p:blipFill>
        <p:spPr>
          <a:xfrm rot="10800000">
            <a:off x="8934653" y="0"/>
            <a:ext cx="3307404" cy="6858001"/>
          </a:xfrm>
          <a:prstGeom prst="rect">
            <a:avLst/>
          </a:prstGeom>
        </p:spPr>
      </p:pic>
      <p:sp>
        <p:nvSpPr>
          <p:cNvPr id="8" name="椭圆 7"/>
          <p:cNvSpPr/>
          <p:nvPr/>
        </p:nvSpPr>
        <p:spPr>
          <a:xfrm>
            <a:off x="3789329" y="1122329"/>
            <a:ext cx="4613342" cy="4613342"/>
          </a:xfrm>
          <a:prstGeom prst="ellipse">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nvGrpSpPr>
          <p:cNvPr id="9" name="组合 8"/>
          <p:cNvGrpSpPr/>
          <p:nvPr/>
        </p:nvGrpSpPr>
        <p:grpSpPr>
          <a:xfrm>
            <a:off x="4177490" y="1995737"/>
            <a:ext cx="3961765" cy="2729230"/>
            <a:chOff x="4242171" y="2039833"/>
            <a:chExt cx="3961765" cy="2729230"/>
          </a:xfrm>
        </p:grpSpPr>
        <p:sp>
          <p:nvSpPr>
            <p:cNvPr id="10" name="矩形 9"/>
            <p:cNvSpPr/>
            <p:nvPr/>
          </p:nvSpPr>
          <p:spPr>
            <a:xfrm>
              <a:off x="4242171" y="3323803"/>
              <a:ext cx="3961765" cy="1445260"/>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spc="40" baseline="0" noProof="0" dirty="0">
                  <a:ln w="0"/>
                  <a:solidFill>
                    <a:prstClr val="white"/>
                  </a:solidFill>
                  <a:effectLst/>
                  <a:uLnTx/>
                  <a:uFillTx/>
                  <a:latin typeface="思源黑体 CN Heavy" charset="0"/>
                  <a:ea typeface="思源黑体 CN Heavy" panose="020B0A00000000000000" pitchFamily="34" charset="-122"/>
                  <a:cs typeface="+mn-cs"/>
                </a:rPr>
                <a:t>双相情感障碍</a:t>
              </a:r>
              <a:endParaRPr kumimoji="0" lang="zh-CN" altLang="en-US" sz="4400" b="1" i="0" spc="40" baseline="0" noProof="0" dirty="0">
                <a:ln w="0"/>
                <a:solidFill>
                  <a:prstClr val="white"/>
                </a:solidFill>
                <a:effectLst/>
                <a:uLnTx/>
                <a:uFillTx/>
                <a:latin typeface="思源黑体 CN Heavy" charset="0"/>
                <a:ea typeface="思源黑体 CN Heavy" panose="020B0A00000000000000"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spc="40" baseline="0" noProof="0" dirty="0">
                  <a:ln w="0"/>
                  <a:solidFill>
                    <a:prstClr val="white"/>
                  </a:solidFill>
                  <a:effectLst/>
                  <a:uLnTx/>
                  <a:uFillTx/>
                  <a:latin typeface="思源黑体 CN Heavy" charset="0"/>
                  <a:ea typeface="思源黑体 CN Heavy" panose="020B0A00000000000000" pitchFamily="34" charset="-122"/>
                  <a:cs typeface="+mn-cs"/>
                </a:rPr>
                <a:t>的定义</a:t>
              </a:r>
              <a:endParaRPr kumimoji="0" lang="zh-CN" altLang="en-US" sz="4400" b="1" i="0" spc="40" baseline="0" noProof="0" dirty="0">
                <a:ln w="0"/>
                <a:solidFill>
                  <a:prstClr val="white"/>
                </a:solidFill>
                <a:effectLst/>
                <a:uLnTx/>
                <a:uFillTx/>
                <a:latin typeface="思源黑体 CN Heavy" charset="0"/>
                <a:ea typeface="思源黑体 CN Heavy" panose="020B0A00000000000000" pitchFamily="34" charset="-122"/>
                <a:cs typeface="+mn-cs"/>
              </a:endParaRPr>
            </a:p>
          </p:txBody>
        </p:sp>
        <p:sp>
          <p:nvSpPr>
            <p:cNvPr id="11" name="矩形 10"/>
            <p:cNvSpPr/>
            <p:nvPr/>
          </p:nvSpPr>
          <p:spPr>
            <a:xfrm>
              <a:off x="5474881" y="2039833"/>
              <a:ext cx="1371600" cy="1198880"/>
            </a:xfrm>
            <a:prstGeom prst="rect">
              <a:avLst/>
            </a:prstGeom>
            <a:noFill/>
          </p:spPr>
          <p:txBody>
            <a:bodyPr wrap="square" lIns="91440" tIns="45720" rIns="91440" bIns="4572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w="0"/>
                  <a:solidFill>
                    <a:prstClr val="white"/>
                  </a:solidFill>
                  <a:effectLst/>
                  <a:uLnTx/>
                  <a:uFillTx/>
                  <a:latin typeface="思源黑体 CN Heavy" panose="020B0A00000000000000" pitchFamily="34" charset="-122"/>
                  <a:ea typeface="思源黑体 CN Heavy" panose="020B0A00000000000000" pitchFamily="34" charset="-122"/>
                  <a:cs typeface="+mn-cs"/>
                </a:rPr>
                <a:t>01</a:t>
              </a:r>
              <a:endParaRPr kumimoji="0" lang="zh-CN" altLang="en-US" sz="7200" b="1" i="0" u="none" strike="noStrike" kern="1200" cap="none" spc="0" normalizeH="0" baseline="0" noProof="0" dirty="0">
                <a:ln w="0"/>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334963" y="455941"/>
            <a:ext cx="4278329" cy="601052"/>
            <a:chOff x="334963" y="455941"/>
            <a:chExt cx="4278329" cy="601052"/>
          </a:xfrm>
        </p:grpSpPr>
        <p:grpSp>
          <p:nvGrpSpPr>
            <p:cNvPr id="17" name="组合 16"/>
            <p:cNvGrpSpPr/>
            <p:nvPr/>
          </p:nvGrpSpPr>
          <p:grpSpPr>
            <a:xfrm>
              <a:off x="614521" y="455941"/>
              <a:ext cx="3998771" cy="601052"/>
              <a:chOff x="614521" y="455941"/>
              <a:chExt cx="3998771" cy="601052"/>
            </a:xfrm>
          </p:grpSpPr>
          <p:sp>
            <p:nvSpPr>
              <p:cNvPr id="14" name="文本框 13"/>
              <p:cNvSpPr txBox="1"/>
              <p:nvPr/>
            </p:nvSpPr>
            <p:spPr>
              <a:xfrm>
                <a:off x="614521" y="455941"/>
                <a:ext cx="2926080" cy="460375"/>
              </a:xfrm>
              <a:prstGeom prst="rect">
                <a:avLst/>
              </a:prstGeom>
              <a:noFill/>
            </p:spPr>
            <p:txBody>
              <a:bodyPr wrap="none" rtlCol="0">
                <a:spAutoFit/>
              </a:bodyPr>
              <a:lstStyle/>
              <a:p>
                <a:pPr algn="l"/>
                <a:r>
                  <a:rPr lang="zh-CN" altLang="en-US" sz="2400" b="1" dirty="0">
                    <a:solidFill>
                      <a:srgbClr val="7188A8"/>
                    </a:solidFill>
                    <a:cs typeface="+mn-ea"/>
                    <a:sym typeface="+mn-lt"/>
                  </a:rPr>
                  <a:t>双相情</a:t>
                </a:r>
                <a:r>
                  <a:rPr lang="zh-CN" altLang="en-US" sz="2400" b="1" dirty="0">
                    <a:solidFill>
                      <a:srgbClr val="7488A8"/>
                    </a:solidFill>
                    <a:cs typeface="+mn-ea"/>
                    <a:sym typeface="+mn-lt"/>
                  </a:rPr>
                  <a:t>感障碍的</a:t>
                </a:r>
                <a:r>
                  <a:rPr lang="zh-CN" altLang="en-US" sz="2400" b="1" dirty="0">
                    <a:solidFill>
                      <a:srgbClr val="7188A8"/>
                    </a:solidFill>
                    <a:cs typeface="+mn-ea"/>
                    <a:sym typeface="+mn-lt"/>
                  </a:rPr>
                  <a:t>定义</a:t>
                </a:r>
                <a:endParaRPr lang="zh-CN" altLang="en-US" sz="2400" b="1" dirty="0">
                  <a:solidFill>
                    <a:srgbClr val="7188A8"/>
                  </a:solidFill>
                  <a:cs typeface="+mn-ea"/>
                  <a:sym typeface="+mn-lt"/>
                </a:endParaRPr>
              </a:p>
            </p:txBody>
          </p:sp>
          <p:sp>
            <p:nvSpPr>
              <p:cNvPr id="15" name="矩形 14"/>
              <p:cNvSpPr/>
              <p:nvPr/>
            </p:nvSpPr>
            <p:spPr>
              <a:xfrm>
                <a:off x="645148" y="804263"/>
                <a:ext cx="3968144" cy="252730"/>
              </a:xfrm>
              <a:prstGeom prst="rect">
                <a:avLst/>
              </a:prstGeom>
            </p:spPr>
            <p:txBody>
              <a:bodyPr wrap="square">
                <a:spAutoFit/>
              </a:bodyPr>
              <a:lstStyle/>
              <a:p>
                <a:r>
                  <a:rPr lang="en-US" altLang="zh-CN" sz="1050" dirty="0">
                    <a:solidFill>
                      <a:schemeClr val="bg1">
                        <a:lumMod val="50000"/>
                      </a:schemeClr>
                    </a:solidFill>
                  </a:rPr>
                  <a:t>Definition of bipolar disorder</a:t>
                </a:r>
                <a:endParaRPr lang="en-US" altLang="zh-CN" sz="1050" dirty="0">
                  <a:solidFill>
                    <a:schemeClr val="bg1">
                      <a:lumMod val="50000"/>
                    </a:schemeClr>
                  </a:solidFill>
                </a:endParaRPr>
              </a:p>
            </p:txBody>
          </p:sp>
        </p:grpSp>
        <p:sp>
          <p:nvSpPr>
            <p:cNvPr id="16" name="矩形 15"/>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19" name="文本框2"/>
          <p:cNvSpPr/>
          <p:nvPr>
            <p:custDataLst>
              <p:tags r:id="rId1"/>
            </p:custDataLst>
          </p:nvPr>
        </p:nvSpPr>
        <p:spPr>
          <a:xfrm>
            <a:off x="4208145" y="1347470"/>
            <a:ext cx="7446645" cy="5510530"/>
          </a:xfrm>
          <a:prstGeom prst="rect">
            <a:avLst/>
          </a:prstGeom>
        </p:spPr>
        <p:txBody>
          <a:bodyPr wrap="square">
            <a:spAutoFit/>
          </a:bodyPr>
          <a:lstStyle/>
          <a:p>
            <a:pPr indent="457200" fontAlgn="auto">
              <a:lnSpc>
                <a:spcPct val="130000"/>
              </a:lnSpc>
              <a:spcBef>
                <a:spcPts val="1100"/>
              </a:spcBef>
              <a:defRPr/>
            </a:pPr>
            <a:r>
              <a:rPr kumimoji="0" lang="zh-CN" altLang="en-US" sz="4400" b="1" i="0" baseline="0" dirty="0">
                <a:solidFill>
                  <a:srgbClr val="7488A8"/>
                </a:solidFill>
                <a:uFillTx/>
                <a:latin typeface="黑体" panose="02010609060101010101" charset="-122"/>
                <a:ea typeface="黑体" panose="02010609060101010101" charset="-122"/>
                <a:cs typeface="黑体" panose="02010609060101010101" charset="-122"/>
                <a:sym typeface="+mn-lt"/>
              </a:rPr>
              <a:t>双相情感障碍</a:t>
            </a:r>
            <a:r>
              <a:rPr kumimoji="0" lang="zh-CN" altLang="en-US" sz="4400" b="1" i="0" baseline="0" dirty="0">
                <a:solidFill>
                  <a:srgbClr val="7F7F7F"/>
                </a:solidFill>
                <a:uFillTx/>
                <a:latin typeface="黑体" panose="02010609060101010101" charset="-122"/>
                <a:ea typeface="黑体" panose="02010609060101010101" charset="-122"/>
                <a:cs typeface="黑体" panose="02010609060101010101" charset="-122"/>
                <a:sym typeface="+mn-lt"/>
              </a:rPr>
              <a:t>，又称双相障碍，是一种精神障碍，以躁狂和抑郁</a:t>
            </a:r>
            <a:r>
              <a:rPr kumimoji="0" lang="zh-CN" altLang="en-US" sz="4400" b="1" i="0" baseline="0" dirty="0">
                <a:solidFill>
                  <a:srgbClr val="7488A8"/>
                </a:solidFill>
                <a:uFillTx/>
                <a:latin typeface="黑体" panose="02010609060101010101" charset="-122"/>
                <a:ea typeface="黑体" panose="02010609060101010101" charset="-122"/>
                <a:cs typeface="黑体" panose="02010609060101010101" charset="-122"/>
                <a:sym typeface="+mn-lt"/>
              </a:rPr>
              <a:t>交替发作</a:t>
            </a:r>
            <a:r>
              <a:rPr kumimoji="0" lang="zh-CN" altLang="en-US" sz="4400" b="1" i="0" baseline="0" dirty="0">
                <a:solidFill>
                  <a:srgbClr val="7F7F7F"/>
                </a:solidFill>
                <a:uFillTx/>
                <a:latin typeface="黑体" panose="02010609060101010101" charset="-122"/>
                <a:ea typeface="黑体" panose="02010609060101010101" charset="-122"/>
                <a:cs typeface="黑体" panose="02010609060101010101" charset="-122"/>
                <a:sym typeface="+mn-lt"/>
              </a:rPr>
              <a:t>为特征。通常从青春期开始，持续终身。</a:t>
            </a:r>
            <a:endParaRPr kumimoji="0" lang="zh-CN" altLang="en-US" sz="4400" b="1" i="0" baseline="0" dirty="0">
              <a:solidFill>
                <a:srgbClr val="7F7F7F"/>
              </a:solidFill>
              <a:uFillTx/>
              <a:latin typeface="黑体" panose="02010609060101010101" charset="-122"/>
              <a:ea typeface="黑体" panose="02010609060101010101" charset="-122"/>
              <a:cs typeface="黑体" panose="02010609060101010101" charset="-122"/>
              <a:sym typeface="+mn-lt"/>
            </a:endParaRPr>
          </a:p>
          <a:p>
            <a:pPr indent="457200" fontAlgn="auto">
              <a:lnSpc>
                <a:spcPct val="130000"/>
              </a:lnSpc>
              <a:spcBef>
                <a:spcPts val="1100"/>
              </a:spcBef>
              <a:defRPr/>
            </a:pPr>
            <a:endParaRPr kumimoji="0" lang="zh-CN" altLang="en-US" sz="4400" b="1" i="0" u="none" strike="noStrike" cap="none" spc="0" normalizeH="0" baseline="0" dirty="0">
              <a:solidFill>
                <a:srgbClr val="7F7F7F"/>
              </a:solidFill>
              <a:latin typeface="黑体" panose="02010609060101010101" charset="-122"/>
              <a:ea typeface="黑体" panose="02010609060101010101" charset="-122"/>
              <a:cs typeface="黑体" panose="02010609060101010101" charset="-122"/>
              <a:sym typeface="+mn-lt"/>
            </a:endParaRPr>
          </a:p>
        </p:txBody>
      </p:sp>
      <p:pic>
        <p:nvPicPr>
          <p:cNvPr id="2" name="图片 1"/>
          <p:cNvPicPr>
            <a:picLocks noChangeAspect="1"/>
          </p:cNvPicPr>
          <p:nvPr/>
        </p:nvPicPr>
        <p:blipFill>
          <a:blip r:embed="rId2"/>
          <a:stretch>
            <a:fillRect/>
          </a:stretch>
        </p:blipFill>
        <p:spPr>
          <a:xfrm>
            <a:off x="721995" y="1458595"/>
            <a:ext cx="2750185" cy="4429760"/>
          </a:xfrm>
          <a:prstGeom prst="rect">
            <a:avLst/>
          </a:prstGeom>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r="72854"/>
          <a:stretch>
            <a:fillRect/>
          </a:stretch>
        </p:blipFill>
        <p:spPr>
          <a:xfrm>
            <a:off x="-194553" y="0"/>
            <a:ext cx="3307404" cy="6858001"/>
          </a:xfrm>
          <a:prstGeom prst="rect">
            <a:avLst/>
          </a:prstGeom>
        </p:spPr>
      </p:pic>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r="72854"/>
          <a:stretch>
            <a:fillRect/>
          </a:stretch>
        </p:blipFill>
        <p:spPr>
          <a:xfrm rot="10800000">
            <a:off x="8934653" y="0"/>
            <a:ext cx="3307404" cy="6858001"/>
          </a:xfrm>
          <a:prstGeom prst="rect">
            <a:avLst/>
          </a:prstGeom>
        </p:spPr>
      </p:pic>
      <p:sp>
        <p:nvSpPr>
          <p:cNvPr id="8" name="椭圆 7"/>
          <p:cNvSpPr/>
          <p:nvPr/>
        </p:nvSpPr>
        <p:spPr>
          <a:xfrm>
            <a:off x="3789329" y="1122329"/>
            <a:ext cx="4613342" cy="4613342"/>
          </a:xfrm>
          <a:prstGeom prst="ellipse">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nvGrpSpPr>
          <p:cNvPr id="9" name="组合 8"/>
          <p:cNvGrpSpPr/>
          <p:nvPr/>
        </p:nvGrpSpPr>
        <p:grpSpPr>
          <a:xfrm>
            <a:off x="4177490" y="1995737"/>
            <a:ext cx="3961765" cy="2729230"/>
            <a:chOff x="4242171" y="2039833"/>
            <a:chExt cx="3961765" cy="2729230"/>
          </a:xfrm>
        </p:grpSpPr>
        <p:sp>
          <p:nvSpPr>
            <p:cNvPr id="10" name="矩形 9"/>
            <p:cNvSpPr/>
            <p:nvPr/>
          </p:nvSpPr>
          <p:spPr>
            <a:xfrm>
              <a:off x="4242171" y="3323803"/>
              <a:ext cx="3961765" cy="1445260"/>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spc="40" baseline="0" noProof="0" dirty="0">
                  <a:ln w="0"/>
                  <a:solidFill>
                    <a:prstClr val="white"/>
                  </a:solidFill>
                  <a:effectLst/>
                  <a:uLnTx/>
                  <a:uFillTx/>
                  <a:latin typeface="思源黑体 CN Heavy" charset="0"/>
                  <a:ea typeface="思源黑体 CN Heavy" panose="020B0A00000000000000" pitchFamily="34" charset="-122"/>
                  <a:cs typeface="+mn-cs"/>
                </a:rPr>
                <a:t>双相情感障碍的症状</a:t>
              </a:r>
              <a:endParaRPr kumimoji="0" lang="zh-CN" altLang="en-US" sz="4400" b="1" i="0" spc="40" baseline="0" noProof="0" dirty="0">
                <a:ln w="0"/>
                <a:solidFill>
                  <a:prstClr val="white"/>
                </a:solidFill>
                <a:effectLst/>
                <a:uLnTx/>
                <a:uFillTx/>
                <a:latin typeface="思源黑体 CN Heavy" charset="0"/>
                <a:ea typeface="思源黑体 CN Heavy" panose="020B0A00000000000000" pitchFamily="34" charset="-122"/>
                <a:cs typeface="+mn-cs"/>
              </a:endParaRPr>
            </a:p>
          </p:txBody>
        </p:sp>
        <p:sp>
          <p:nvSpPr>
            <p:cNvPr id="11" name="矩形 10"/>
            <p:cNvSpPr/>
            <p:nvPr/>
          </p:nvSpPr>
          <p:spPr>
            <a:xfrm>
              <a:off x="5474881" y="2039833"/>
              <a:ext cx="1371600" cy="1198880"/>
            </a:xfrm>
            <a:prstGeom prst="rect">
              <a:avLst/>
            </a:prstGeom>
            <a:noFill/>
          </p:spPr>
          <p:txBody>
            <a:bodyPr wrap="square" lIns="91440" tIns="45720" rIns="91440" bIns="4572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w="0"/>
                  <a:solidFill>
                    <a:prstClr val="white"/>
                  </a:solidFill>
                  <a:effectLst/>
                  <a:uLnTx/>
                  <a:uFillTx/>
                  <a:latin typeface="思源黑体 CN Heavy" panose="020B0A00000000000000" pitchFamily="34" charset="-122"/>
                  <a:ea typeface="思源黑体 CN Heavy" panose="020B0A00000000000000" pitchFamily="34" charset="-122"/>
                  <a:cs typeface="+mn-cs"/>
                </a:rPr>
                <a:t>02</a:t>
              </a:r>
              <a:endParaRPr kumimoji="0" lang="zh-CN" altLang="en-US" sz="7200" b="1" i="0" u="none" strike="noStrike" kern="1200" cap="none" spc="0" normalizeH="0" baseline="0" noProof="0" dirty="0">
                <a:ln w="0"/>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椭圆 7"/>
          <p:cNvSpPr/>
          <p:nvPr>
            <p:custDataLst>
              <p:tags r:id="rId1"/>
            </p:custDataLst>
          </p:nvPr>
        </p:nvSpPr>
        <p:spPr>
          <a:xfrm>
            <a:off x="8144018" y="1643313"/>
            <a:ext cx="484300" cy="484300"/>
          </a:xfrm>
          <a:prstGeom prst="ellipse">
            <a:avLst/>
          </a:prstGeom>
          <a:solidFill>
            <a:srgbClr val="96C0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2" name="椭圆 11"/>
          <p:cNvSpPr/>
          <p:nvPr>
            <p:custDataLst>
              <p:tags r:id="rId2"/>
            </p:custDataLst>
          </p:nvPr>
        </p:nvSpPr>
        <p:spPr>
          <a:xfrm>
            <a:off x="927161" y="1643313"/>
            <a:ext cx="484300" cy="484300"/>
          </a:xfrm>
          <a:prstGeom prst="ellipse">
            <a:avLst/>
          </a:prstGeom>
          <a:solidFill>
            <a:srgbClr val="F7B1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椭圆 28"/>
          <p:cNvSpPr/>
          <p:nvPr>
            <p:custDataLst>
              <p:tags r:id="rId3"/>
            </p:custDataLst>
          </p:nvPr>
        </p:nvSpPr>
        <p:spPr>
          <a:xfrm>
            <a:off x="1055705" y="1777166"/>
            <a:ext cx="227211" cy="216594"/>
          </a:xfrm>
          <a:custGeom>
            <a:avLst/>
            <a:gdLst>
              <a:gd name="T0" fmla="*/ 254 w 258"/>
              <a:gd name="T1" fmla="*/ 102 h 246"/>
              <a:gd name="T2" fmla="*/ 257 w 258"/>
              <a:gd name="T3" fmla="*/ 92 h 246"/>
              <a:gd name="T4" fmla="*/ 248 w 258"/>
              <a:gd name="T5" fmla="*/ 86 h 246"/>
              <a:gd name="T6" fmla="*/ 174 w 258"/>
              <a:gd name="T7" fmla="*/ 80 h 246"/>
              <a:gd name="T8" fmla="*/ 166 w 258"/>
              <a:gd name="T9" fmla="*/ 75 h 246"/>
              <a:gd name="T10" fmla="*/ 137 w 258"/>
              <a:gd name="T11" fmla="*/ 6 h 246"/>
              <a:gd name="T12" fmla="*/ 128 w 258"/>
              <a:gd name="T13" fmla="*/ 0 h 246"/>
              <a:gd name="T14" fmla="*/ 120 w 258"/>
              <a:gd name="T15" fmla="*/ 6 h 246"/>
              <a:gd name="T16" fmla="*/ 91 w 258"/>
              <a:gd name="T17" fmla="*/ 75 h 246"/>
              <a:gd name="T18" fmla="*/ 84 w 258"/>
              <a:gd name="T19" fmla="*/ 81 h 246"/>
              <a:gd name="T20" fmla="*/ 9 w 258"/>
              <a:gd name="T21" fmla="*/ 88 h 246"/>
              <a:gd name="T22" fmla="*/ 1 w 258"/>
              <a:gd name="T23" fmla="*/ 94 h 246"/>
              <a:gd name="T24" fmla="*/ 4 w 258"/>
              <a:gd name="T25" fmla="*/ 104 h 246"/>
              <a:gd name="T26" fmla="*/ 61 w 258"/>
              <a:gd name="T27" fmla="*/ 152 h 246"/>
              <a:gd name="T28" fmla="*/ 64 w 258"/>
              <a:gd name="T29" fmla="*/ 161 h 246"/>
              <a:gd name="T30" fmla="*/ 48 w 258"/>
              <a:gd name="T31" fmla="*/ 234 h 246"/>
              <a:gd name="T32" fmla="*/ 52 w 258"/>
              <a:gd name="T33" fmla="*/ 244 h 246"/>
              <a:gd name="T34" fmla="*/ 62 w 258"/>
              <a:gd name="T35" fmla="*/ 244 h 246"/>
              <a:gd name="T36" fmla="*/ 125 w 258"/>
              <a:gd name="T37" fmla="*/ 205 h 246"/>
              <a:gd name="T38" fmla="*/ 135 w 258"/>
              <a:gd name="T39" fmla="*/ 205 h 246"/>
              <a:gd name="T40" fmla="*/ 199 w 258"/>
              <a:gd name="T41" fmla="*/ 243 h 246"/>
              <a:gd name="T42" fmla="*/ 209 w 258"/>
              <a:gd name="T43" fmla="*/ 242 h 246"/>
              <a:gd name="T44" fmla="*/ 213 w 258"/>
              <a:gd name="T45" fmla="*/ 233 h 246"/>
              <a:gd name="T46" fmla="*/ 195 w 258"/>
              <a:gd name="T47" fmla="*/ 160 h 246"/>
              <a:gd name="T48" fmla="*/ 198 w 258"/>
              <a:gd name="T49" fmla="*/ 151 h 246"/>
              <a:gd name="T50" fmla="*/ 254 w 258"/>
              <a:gd name="T51" fmla="*/ 102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58" h="246">
                <a:moveTo>
                  <a:pt x="254" y="102"/>
                </a:moveTo>
                <a:cubicBezTo>
                  <a:pt x="257" y="99"/>
                  <a:pt x="258" y="95"/>
                  <a:pt x="257" y="92"/>
                </a:cubicBezTo>
                <a:cubicBezTo>
                  <a:pt x="255" y="88"/>
                  <a:pt x="252" y="86"/>
                  <a:pt x="248" y="86"/>
                </a:cubicBezTo>
                <a:cubicBezTo>
                  <a:pt x="174" y="80"/>
                  <a:pt x="174" y="80"/>
                  <a:pt x="174" y="80"/>
                </a:cubicBezTo>
                <a:cubicBezTo>
                  <a:pt x="171" y="80"/>
                  <a:pt x="168" y="78"/>
                  <a:pt x="166" y="75"/>
                </a:cubicBezTo>
                <a:cubicBezTo>
                  <a:pt x="137" y="6"/>
                  <a:pt x="137" y="6"/>
                  <a:pt x="137" y="6"/>
                </a:cubicBezTo>
                <a:cubicBezTo>
                  <a:pt x="135" y="3"/>
                  <a:pt x="132" y="0"/>
                  <a:pt x="128" y="0"/>
                </a:cubicBezTo>
                <a:cubicBezTo>
                  <a:pt x="124" y="1"/>
                  <a:pt x="121" y="3"/>
                  <a:pt x="120" y="6"/>
                </a:cubicBezTo>
                <a:cubicBezTo>
                  <a:pt x="91" y="75"/>
                  <a:pt x="91" y="75"/>
                  <a:pt x="91" y="75"/>
                </a:cubicBezTo>
                <a:cubicBezTo>
                  <a:pt x="90" y="78"/>
                  <a:pt x="87" y="81"/>
                  <a:pt x="84" y="81"/>
                </a:cubicBezTo>
                <a:cubicBezTo>
                  <a:pt x="9" y="88"/>
                  <a:pt x="9" y="88"/>
                  <a:pt x="9" y="88"/>
                </a:cubicBezTo>
                <a:cubicBezTo>
                  <a:pt x="6" y="88"/>
                  <a:pt x="3" y="91"/>
                  <a:pt x="1" y="94"/>
                </a:cubicBezTo>
                <a:cubicBezTo>
                  <a:pt x="0" y="98"/>
                  <a:pt x="1" y="102"/>
                  <a:pt x="4" y="104"/>
                </a:cubicBezTo>
                <a:cubicBezTo>
                  <a:pt x="61" y="152"/>
                  <a:pt x="61" y="152"/>
                  <a:pt x="61" y="152"/>
                </a:cubicBezTo>
                <a:cubicBezTo>
                  <a:pt x="64" y="155"/>
                  <a:pt x="65" y="158"/>
                  <a:pt x="64" y="161"/>
                </a:cubicBezTo>
                <a:cubicBezTo>
                  <a:pt x="48" y="234"/>
                  <a:pt x="48" y="234"/>
                  <a:pt x="48" y="234"/>
                </a:cubicBezTo>
                <a:cubicBezTo>
                  <a:pt x="47" y="238"/>
                  <a:pt x="48" y="242"/>
                  <a:pt x="52" y="244"/>
                </a:cubicBezTo>
                <a:cubicBezTo>
                  <a:pt x="55" y="246"/>
                  <a:pt x="59" y="246"/>
                  <a:pt x="62" y="244"/>
                </a:cubicBezTo>
                <a:cubicBezTo>
                  <a:pt x="125" y="205"/>
                  <a:pt x="125" y="205"/>
                  <a:pt x="125" y="205"/>
                </a:cubicBezTo>
                <a:cubicBezTo>
                  <a:pt x="128" y="203"/>
                  <a:pt x="132" y="203"/>
                  <a:pt x="135" y="205"/>
                </a:cubicBezTo>
                <a:cubicBezTo>
                  <a:pt x="199" y="243"/>
                  <a:pt x="199" y="243"/>
                  <a:pt x="199" y="243"/>
                </a:cubicBezTo>
                <a:cubicBezTo>
                  <a:pt x="202" y="245"/>
                  <a:pt x="206" y="245"/>
                  <a:pt x="209" y="242"/>
                </a:cubicBezTo>
                <a:cubicBezTo>
                  <a:pt x="212" y="240"/>
                  <a:pt x="214" y="236"/>
                  <a:pt x="213" y="233"/>
                </a:cubicBezTo>
                <a:cubicBezTo>
                  <a:pt x="195" y="160"/>
                  <a:pt x="195" y="160"/>
                  <a:pt x="195" y="160"/>
                </a:cubicBezTo>
                <a:cubicBezTo>
                  <a:pt x="194" y="157"/>
                  <a:pt x="195" y="153"/>
                  <a:pt x="198" y="151"/>
                </a:cubicBezTo>
                <a:lnTo>
                  <a:pt x="254" y="1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9" name="文本框1"/>
          <p:cNvSpPr txBox="1"/>
          <p:nvPr>
            <p:custDataLst>
              <p:tags r:id="rId4"/>
            </p:custDataLst>
          </p:nvPr>
        </p:nvSpPr>
        <p:spPr>
          <a:xfrm>
            <a:off x="8627239" y="1673562"/>
            <a:ext cx="1713230" cy="460375"/>
          </a:xfrm>
          <a:prstGeom prst="rect">
            <a:avLst/>
          </a:prstGeom>
          <a:noFill/>
        </p:spPr>
        <p:txBody>
          <a:bodyPr wrap="none" rtlCol="0">
            <a:spAutoFit/>
          </a:bodyPr>
          <a:lstStyle/>
          <a:p>
            <a:pPr marR="0" algn="r" defTabSz="914400" fontAlgn="auto">
              <a:lnSpc>
                <a:spcPct val="100000"/>
              </a:lnSpc>
              <a:spcBef>
                <a:spcPts val="0"/>
              </a:spcBef>
              <a:spcAft>
                <a:spcPts val="0"/>
              </a:spcAft>
              <a:buClrTx/>
              <a:buSzTx/>
              <a:buFontTx/>
              <a:buNone/>
              <a:defRPr/>
            </a:pPr>
            <a:r>
              <a:rPr kumimoji="0" lang="zh-CN" altLang="en-US" sz="2400"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rPr>
              <a:t>抑郁期症状</a:t>
            </a:r>
            <a:endParaRPr kumimoji="0" lang="zh-CN" altLang="en-US" sz="2400"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endParaRPr>
          </a:p>
        </p:txBody>
      </p:sp>
      <p:sp>
        <p:nvSpPr>
          <p:cNvPr id="23" name="文本框1"/>
          <p:cNvSpPr txBox="1"/>
          <p:nvPr>
            <p:custDataLst>
              <p:tags r:id="rId5"/>
            </p:custDataLst>
          </p:nvPr>
        </p:nvSpPr>
        <p:spPr>
          <a:xfrm>
            <a:off x="1408490" y="1673562"/>
            <a:ext cx="1713230" cy="460375"/>
          </a:xfrm>
          <a:prstGeom prst="rect">
            <a:avLst/>
          </a:prstGeom>
          <a:noFill/>
        </p:spPr>
        <p:txBody>
          <a:bodyPr wrap="none" rtlCol="0">
            <a:spAutoFit/>
          </a:bodyPr>
          <a:lstStyle/>
          <a:p>
            <a:pPr marR="0" indent="0" algn="r" defTabSz="914400" fontAlgn="auto">
              <a:lnSpc>
                <a:spcPct val="100000"/>
              </a:lnSpc>
              <a:spcBef>
                <a:spcPts val="0"/>
              </a:spcBef>
              <a:spcAft>
                <a:spcPts val="0"/>
              </a:spcAft>
              <a:buClrTx/>
              <a:buSzTx/>
              <a:buFontTx/>
              <a:buNone/>
              <a:defRPr/>
            </a:pPr>
            <a:r>
              <a:rPr kumimoji="0" lang="zh-CN" altLang="en-US" sz="2400"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rPr>
              <a:t>躁狂期症状</a:t>
            </a:r>
            <a:endParaRPr kumimoji="0" lang="zh-CN" altLang="en-US" sz="2400"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endParaRPr>
          </a:p>
        </p:txBody>
      </p:sp>
      <p:sp>
        <p:nvSpPr>
          <p:cNvPr id="24" name="文本框2"/>
          <p:cNvSpPr/>
          <p:nvPr>
            <p:custDataLst>
              <p:tags r:id="rId6"/>
            </p:custDataLst>
          </p:nvPr>
        </p:nvSpPr>
        <p:spPr>
          <a:xfrm>
            <a:off x="804545" y="2127885"/>
            <a:ext cx="2593340" cy="3425190"/>
          </a:xfrm>
          <a:prstGeom prst="rect">
            <a:avLst/>
          </a:prstGeom>
        </p:spPr>
        <p:txBody>
          <a:bodyPr wrap="square">
            <a:spAutoFit/>
          </a:bodyPr>
          <a:lstStyle/>
          <a:p>
            <a:pPr indent="0" algn="l" fontAlgn="auto">
              <a:lnSpc>
                <a:spcPct val="150000"/>
              </a:lnSpc>
              <a:spcBef>
                <a:spcPts val="1100"/>
              </a:spcBef>
              <a:defRPr/>
            </a:pPr>
            <a:r>
              <a:rPr kumimoji="0" lang="en-US" altLang="zh-CN"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a:t>
            </a:r>
            <a:r>
              <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情绪高涨</a:t>
            </a:r>
            <a:endPar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a:p>
            <a:pPr indent="0" algn="l" fontAlgn="auto">
              <a:lnSpc>
                <a:spcPct val="150000"/>
              </a:lnSpc>
              <a:spcBef>
                <a:spcPts val="1100"/>
              </a:spcBef>
              <a:defRPr/>
            </a:pPr>
            <a:r>
              <a:rPr kumimoji="0" lang="en-US" altLang="zh-CN"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a:t>
            </a:r>
            <a:r>
              <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言语活动增多</a:t>
            </a:r>
            <a:endPar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a:p>
            <a:pPr indent="0" algn="l" fontAlgn="auto">
              <a:lnSpc>
                <a:spcPct val="150000"/>
              </a:lnSpc>
              <a:spcBef>
                <a:spcPts val="1100"/>
              </a:spcBef>
              <a:defRPr/>
            </a:pPr>
            <a:r>
              <a:rPr kumimoji="0" lang="en-US" altLang="zh-CN"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a:t>
            </a:r>
            <a:r>
              <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精力充沛</a:t>
            </a:r>
            <a:endPar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a:p>
            <a:pPr indent="0" algn="l" fontAlgn="auto">
              <a:lnSpc>
                <a:spcPct val="150000"/>
              </a:lnSpc>
              <a:spcBef>
                <a:spcPts val="1100"/>
              </a:spcBef>
              <a:defRPr/>
            </a:pPr>
            <a:r>
              <a:rPr kumimoji="0" lang="en-US" altLang="zh-CN"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a:t>
            </a:r>
            <a:r>
              <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冲动行为</a:t>
            </a:r>
            <a:endPar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a:p>
            <a:pPr indent="0" algn="l" fontAlgn="auto">
              <a:lnSpc>
                <a:spcPct val="150000"/>
              </a:lnSpc>
              <a:spcBef>
                <a:spcPts val="1100"/>
              </a:spcBef>
              <a:defRPr/>
            </a:pPr>
            <a:r>
              <a:rPr kumimoji="0" lang="en-US" altLang="zh-CN"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a:t>
            </a:r>
            <a:r>
              <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注意力分散</a:t>
            </a:r>
            <a:endPar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grpSp>
        <p:nvGrpSpPr>
          <p:cNvPr id="25" name="组合 24"/>
          <p:cNvGrpSpPr/>
          <p:nvPr/>
        </p:nvGrpSpPr>
        <p:grpSpPr>
          <a:xfrm>
            <a:off x="334963" y="455941"/>
            <a:ext cx="4243283" cy="601052"/>
            <a:chOff x="334963" y="455941"/>
            <a:chExt cx="4243283" cy="601052"/>
          </a:xfrm>
        </p:grpSpPr>
        <p:grpSp>
          <p:nvGrpSpPr>
            <p:cNvPr id="16" name="组合 15"/>
            <p:cNvGrpSpPr/>
            <p:nvPr/>
          </p:nvGrpSpPr>
          <p:grpSpPr>
            <a:xfrm>
              <a:off x="603091" y="455941"/>
              <a:ext cx="3975155" cy="601052"/>
              <a:chOff x="603091" y="455941"/>
              <a:chExt cx="3975155" cy="601052"/>
            </a:xfrm>
          </p:grpSpPr>
          <p:sp>
            <p:nvSpPr>
              <p:cNvPr id="26" name="文本框 25"/>
              <p:cNvSpPr txBox="1"/>
              <p:nvPr/>
            </p:nvSpPr>
            <p:spPr>
              <a:xfrm>
                <a:off x="603091" y="455941"/>
                <a:ext cx="2926080" cy="460375"/>
              </a:xfrm>
              <a:prstGeom prst="rect">
                <a:avLst/>
              </a:prstGeom>
              <a:noFill/>
            </p:spPr>
            <p:txBody>
              <a:bodyPr wrap="none" rtlCol="0">
                <a:spAutoFit/>
              </a:bodyPr>
              <a:p>
                <a:pPr algn="l"/>
                <a:r>
                  <a:rPr lang="zh-CN" altLang="en-US" sz="2400" b="1" dirty="0">
                    <a:solidFill>
                      <a:srgbClr val="7188A8"/>
                    </a:solidFill>
                    <a:cs typeface="+mn-ea"/>
                    <a:sym typeface="+mn-lt"/>
                  </a:rPr>
                  <a:t>双相情感障碍的</a:t>
                </a:r>
                <a:r>
                  <a:rPr lang="zh-CN" altLang="en-US" sz="2400" b="1" dirty="0">
                    <a:solidFill>
                      <a:srgbClr val="7188A8"/>
                    </a:solidFill>
                    <a:cs typeface="+mn-ea"/>
                    <a:sym typeface="+mn-lt"/>
                  </a:rPr>
                  <a:t>症状</a:t>
                </a:r>
                <a:endParaRPr lang="zh-CN" altLang="en-US" sz="2400" b="1" dirty="0">
                  <a:solidFill>
                    <a:srgbClr val="7188A8"/>
                  </a:solidFill>
                  <a:cs typeface="+mn-ea"/>
                  <a:sym typeface="+mn-lt"/>
                </a:endParaRPr>
              </a:p>
            </p:txBody>
          </p:sp>
          <p:sp>
            <p:nvSpPr>
              <p:cNvPr id="27" name="矩形 26"/>
              <p:cNvSpPr/>
              <p:nvPr/>
            </p:nvSpPr>
            <p:spPr>
              <a:xfrm>
                <a:off x="610102" y="804263"/>
                <a:ext cx="3968144" cy="252730"/>
              </a:xfrm>
              <a:prstGeom prst="rect">
                <a:avLst/>
              </a:prstGeom>
            </p:spPr>
            <p:txBody>
              <a:bodyPr wrap="square">
                <a:spAutoFit/>
              </a:bodyPr>
              <a:p>
                <a:r>
                  <a:rPr lang="en-US" altLang="zh-CN" sz="1050" dirty="0">
                    <a:solidFill>
                      <a:schemeClr val="bg1">
                        <a:lumMod val="50000"/>
                      </a:schemeClr>
                    </a:solidFill>
                  </a:rPr>
                  <a:t>Symptoms of bipolar disorder</a:t>
                </a:r>
                <a:endParaRPr lang="en-US" altLang="zh-CN" sz="1050" dirty="0">
                  <a:solidFill>
                    <a:schemeClr val="bg1">
                      <a:lumMod val="50000"/>
                    </a:schemeClr>
                  </a:solidFill>
                </a:endParaRPr>
              </a:p>
            </p:txBody>
          </p:sp>
        </p:grpSp>
        <p:sp>
          <p:nvSpPr>
            <p:cNvPr id="28" name="矩形 27"/>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30" name="椭圆 13"/>
          <p:cNvSpPr/>
          <p:nvPr>
            <p:custDataLst>
              <p:tags r:id="rId7"/>
            </p:custDataLst>
          </p:nvPr>
        </p:nvSpPr>
        <p:spPr>
          <a:xfrm>
            <a:off x="8273832" y="1771222"/>
            <a:ext cx="227211" cy="227211"/>
          </a:xfrm>
          <a:custGeom>
            <a:avLst/>
            <a:gdLst>
              <a:gd name="T0" fmla="*/ 181 w 252"/>
              <a:gd name="T1" fmla="*/ 126 h 252"/>
              <a:gd name="T2" fmla="*/ 236 w 252"/>
              <a:gd name="T3" fmla="*/ 71 h 252"/>
              <a:gd name="T4" fmla="*/ 236 w 252"/>
              <a:gd name="T5" fmla="*/ 16 h 252"/>
              <a:gd name="T6" fmla="*/ 181 w 252"/>
              <a:gd name="T7" fmla="*/ 16 h 252"/>
              <a:gd name="T8" fmla="*/ 126 w 252"/>
              <a:gd name="T9" fmla="*/ 71 h 252"/>
              <a:gd name="T10" fmla="*/ 71 w 252"/>
              <a:gd name="T11" fmla="*/ 16 h 252"/>
              <a:gd name="T12" fmla="*/ 16 w 252"/>
              <a:gd name="T13" fmla="*/ 16 h 252"/>
              <a:gd name="T14" fmla="*/ 16 w 252"/>
              <a:gd name="T15" fmla="*/ 71 h 252"/>
              <a:gd name="T16" fmla="*/ 71 w 252"/>
              <a:gd name="T17" fmla="*/ 126 h 252"/>
              <a:gd name="T18" fmla="*/ 16 w 252"/>
              <a:gd name="T19" fmla="*/ 181 h 252"/>
              <a:gd name="T20" fmla="*/ 16 w 252"/>
              <a:gd name="T21" fmla="*/ 237 h 252"/>
              <a:gd name="T22" fmla="*/ 71 w 252"/>
              <a:gd name="T23" fmla="*/ 237 h 252"/>
              <a:gd name="T24" fmla="*/ 126 w 252"/>
              <a:gd name="T25" fmla="*/ 181 h 252"/>
              <a:gd name="T26" fmla="*/ 181 w 252"/>
              <a:gd name="T27" fmla="*/ 237 h 252"/>
              <a:gd name="T28" fmla="*/ 236 w 252"/>
              <a:gd name="T29" fmla="*/ 237 h 252"/>
              <a:gd name="T30" fmla="*/ 236 w 252"/>
              <a:gd name="T31" fmla="*/ 181 h 252"/>
              <a:gd name="T32" fmla="*/ 181 w 252"/>
              <a:gd name="T33" fmla="*/ 12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2" h="252">
                <a:moveTo>
                  <a:pt x="181" y="126"/>
                </a:moveTo>
                <a:cubicBezTo>
                  <a:pt x="236" y="71"/>
                  <a:pt x="236" y="71"/>
                  <a:pt x="236" y="71"/>
                </a:cubicBezTo>
                <a:cubicBezTo>
                  <a:pt x="252" y="56"/>
                  <a:pt x="252" y="31"/>
                  <a:pt x="236" y="16"/>
                </a:cubicBezTo>
                <a:cubicBezTo>
                  <a:pt x="221" y="0"/>
                  <a:pt x="196" y="0"/>
                  <a:pt x="181" y="16"/>
                </a:cubicBezTo>
                <a:cubicBezTo>
                  <a:pt x="126" y="71"/>
                  <a:pt x="126" y="71"/>
                  <a:pt x="126" y="71"/>
                </a:cubicBezTo>
                <a:cubicBezTo>
                  <a:pt x="71" y="16"/>
                  <a:pt x="71" y="16"/>
                  <a:pt x="71" y="16"/>
                </a:cubicBezTo>
                <a:cubicBezTo>
                  <a:pt x="56" y="0"/>
                  <a:pt x="31" y="0"/>
                  <a:pt x="16" y="16"/>
                </a:cubicBezTo>
                <a:cubicBezTo>
                  <a:pt x="0" y="31"/>
                  <a:pt x="0" y="56"/>
                  <a:pt x="16" y="71"/>
                </a:cubicBezTo>
                <a:cubicBezTo>
                  <a:pt x="71" y="126"/>
                  <a:pt x="71" y="126"/>
                  <a:pt x="71" y="126"/>
                </a:cubicBezTo>
                <a:cubicBezTo>
                  <a:pt x="16" y="181"/>
                  <a:pt x="16" y="181"/>
                  <a:pt x="16" y="181"/>
                </a:cubicBezTo>
                <a:cubicBezTo>
                  <a:pt x="0" y="197"/>
                  <a:pt x="0" y="221"/>
                  <a:pt x="16" y="237"/>
                </a:cubicBezTo>
                <a:cubicBezTo>
                  <a:pt x="31" y="252"/>
                  <a:pt x="56" y="252"/>
                  <a:pt x="71" y="237"/>
                </a:cubicBezTo>
                <a:cubicBezTo>
                  <a:pt x="126" y="181"/>
                  <a:pt x="126" y="181"/>
                  <a:pt x="126" y="181"/>
                </a:cubicBezTo>
                <a:cubicBezTo>
                  <a:pt x="181" y="237"/>
                  <a:pt x="181" y="237"/>
                  <a:pt x="181" y="237"/>
                </a:cubicBezTo>
                <a:cubicBezTo>
                  <a:pt x="196" y="252"/>
                  <a:pt x="221" y="252"/>
                  <a:pt x="236" y="237"/>
                </a:cubicBezTo>
                <a:cubicBezTo>
                  <a:pt x="252" y="221"/>
                  <a:pt x="252" y="197"/>
                  <a:pt x="236" y="181"/>
                </a:cubicBezTo>
                <a:lnTo>
                  <a:pt x="181" y="12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1" name="文本框2"/>
          <p:cNvSpPr/>
          <p:nvPr>
            <p:custDataLst>
              <p:tags r:id="rId8"/>
            </p:custDataLst>
          </p:nvPr>
        </p:nvSpPr>
        <p:spPr>
          <a:xfrm>
            <a:off x="8053705" y="2127885"/>
            <a:ext cx="3598545" cy="3425190"/>
          </a:xfrm>
          <a:prstGeom prst="rect">
            <a:avLst/>
          </a:prstGeom>
        </p:spPr>
        <p:txBody>
          <a:bodyPr wrap="square">
            <a:spAutoFit/>
          </a:bodyPr>
          <a:p>
            <a:pPr indent="0" algn="l" fontAlgn="auto">
              <a:lnSpc>
                <a:spcPct val="150000"/>
              </a:lnSpc>
              <a:spcBef>
                <a:spcPts val="1100"/>
              </a:spcBef>
              <a:defRPr/>
            </a:pPr>
            <a:r>
              <a:rPr kumimoji="0" lang="en-US" altLang="zh-CN"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a:t>
            </a:r>
            <a:r>
              <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情绪低落</a:t>
            </a:r>
            <a:endPar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a:p>
            <a:pPr indent="0" algn="l" fontAlgn="auto">
              <a:lnSpc>
                <a:spcPct val="150000"/>
              </a:lnSpc>
              <a:spcBef>
                <a:spcPts val="1100"/>
              </a:spcBef>
              <a:defRPr/>
            </a:pPr>
            <a:r>
              <a:rPr kumimoji="0" lang="en-US" altLang="zh-CN"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a:t>
            </a:r>
            <a:r>
              <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愉悦感丧失</a:t>
            </a:r>
            <a:endPar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a:p>
            <a:pPr indent="0" algn="l" fontAlgn="auto">
              <a:lnSpc>
                <a:spcPct val="150000"/>
              </a:lnSpc>
              <a:spcBef>
                <a:spcPts val="1100"/>
              </a:spcBef>
              <a:defRPr/>
            </a:pPr>
            <a:r>
              <a:rPr kumimoji="0" lang="en-US" altLang="zh-CN"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a:t>
            </a:r>
            <a:r>
              <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言语和精力减少</a:t>
            </a:r>
            <a:endPar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a:p>
            <a:pPr indent="0" algn="l" fontAlgn="auto">
              <a:lnSpc>
                <a:spcPct val="150000"/>
              </a:lnSpc>
              <a:spcBef>
                <a:spcPts val="1100"/>
              </a:spcBef>
              <a:defRPr/>
            </a:pPr>
            <a:r>
              <a:rPr kumimoji="0" lang="en-US" altLang="zh-CN"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a:t>
            </a:r>
            <a:r>
              <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疲劳感重</a:t>
            </a:r>
            <a:endPar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a:p>
            <a:pPr indent="0" algn="l" fontAlgn="auto">
              <a:lnSpc>
                <a:spcPct val="150000"/>
              </a:lnSpc>
              <a:spcBef>
                <a:spcPts val="1100"/>
              </a:spcBef>
              <a:defRPr/>
            </a:pPr>
            <a:r>
              <a:rPr kumimoji="0" lang="en-US" altLang="zh-CN"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a:t>
            </a:r>
            <a:r>
              <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负罪感和自责睡眠问题</a:t>
            </a:r>
            <a:endParaRPr kumimoji="0" lang="zh-CN" altLang="en-US" sz="2400" b="1"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pic>
        <p:nvPicPr>
          <p:cNvPr id="32" name="图片 31"/>
          <p:cNvPicPr>
            <a:picLocks noChangeAspect="1"/>
          </p:cNvPicPr>
          <p:nvPr/>
        </p:nvPicPr>
        <p:blipFill>
          <a:blip r:embed="rId9"/>
          <a:srcRect t="935"/>
          <a:stretch>
            <a:fillRect/>
          </a:stretch>
        </p:blipFill>
        <p:spPr>
          <a:xfrm>
            <a:off x="3806190" y="2323465"/>
            <a:ext cx="3578860" cy="322961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r="72854"/>
          <a:stretch>
            <a:fillRect/>
          </a:stretch>
        </p:blipFill>
        <p:spPr>
          <a:xfrm>
            <a:off x="-194553" y="0"/>
            <a:ext cx="3307404" cy="6858001"/>
          </a:xfrm>
          <a:prstGeom prst="rect">
            <a:avLst/>
          </a:prstGeom>
        </p:spPr>
      </p:pic>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r="72854"/>
          <a:stretch>
            <a:fillRect/>
          </a:stretch>
        </p:blipFill>
        <p:spPr>
          <a:xfrm rot="10800000">
            <a:off x="8934653" y="0"/>
            <a:ext cx="3307404" cy="6858001"/>
          </a:xfrm>
          <a:prstGeom prst="rect">
            <a:avLst/>
          </a:prstGeom>
        </p:spPr>
      </p:pic>
      <p:sp>
        <p:nvSpPr>
          <p:cNvPr id="8" name="椭圆 7"/>
          <p:cNvSpPr/>
          <p:nvPr/>
        </p:nvSpPr>
        <p:spPr>
          <a:xfrm>
            <a:off x="3789329" y="1122329"/>
            <a:ext cx="4613342" cy="4613342"/>
          </a:xfrm>
          <a:prstGeom prst="ellipse">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nvGrpSpPr>
          <p:cNvPr id="9" name="组合 8"/>
          <p:cNvGrpSpPr/>
          <p:nvPr/>
        </p:nvGrpSpPr>
        <p:grpSpPr>
          <a:xfrm>
            <a:off x="4177490" y="1995737"/>
            <a:ext cx="3961765" cy="2729230"/>
            <a:chOff x="4242171" y="2039833"/>
            <a:chExt cx="3961765" cy="2729230"/>
          </a:xfrm>
        </p:grpSpPr>
        <p:sp>
          <p:nvSpPr>
            <p:cNvPr id="10" name="矩形 9"/>
            <p:cNvSpPr/>
            <p:nvPr/>
          </p:nvSpPr>
          <p:spPr>
            <a:xfrm>
              <a:off x="4242171" y="3323803"/>
              <a:ext cx="3961765" cy="1445260"/>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spc="40" baseline="0" noProof="0" dirty="0">
                  <a:ln w="0"/>
                  <a:solidFill>
                    <a:prstClr val="white"/>
                  </a:solidFill>
                  <a:effectLst/>
                  <a:uLnTx/>
                  <a:uFillTx/>
                  <a:latin typeface="思源黑体 CN Heavy" charset="0"/>
                  <a:ea typeface="思源黑体 CN Heavy" panose="020B0A00000000000000" pitchFamily="34" charset="-122"/>
                  <a:cs typeface="+mn-cs"/>
                </a:rPr>
                <a:t>双相情感障碍</a:t>
              </a:r>
              <a:endParaRPr kumimoji="0" lang="zh-CN" altLang="en-US" sz="4400" b="1" i="0" spc="40" baseline="0" noProof="0" dirty="0">
                <a:ln w="0"/>
                <a:solidFill>
                  <a:prstClr val="white"/>
                </a:solidFill>
                <a:effectLst/>
                <a:uLnTx/>
                <a:uFillTx/>
                <a:latin typeface="思源黑体 CN Heavy" charset="0"/>
                <a:ea typeface="思源黑体 CN Heavy" panose="020B0A00000000000000"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spc="40" baseline="0" noProof="0" dirty="0">
                  <a:ln w="0"/>
                  <a:solidFill>
                    <a:prstClr val="white"/>
                  </a:solidFill>
                  <a:effectLst/>
                  <a:uLnTx/>
                  <a:uFillTx/>
                  <a:latin typeface="思源黑体 CN Heavy" charset="0"/>
                  <a:ea typeface="思源黑体 CN Heavy" panose="020B0A00000000000000" pitchFamily="34" charset="-122"/>
                  <a:cs typeface="+mn-cs"/>
                </a:rPr>
                <a:t>的病</a:t>
              </a:r>
              <a:r>
                <a:rPr kumimoji="0" lang="zh-CN" altLang="en-US" sz="4400" b="1" i="0" spc="40" baseline="0" noProof="0" dirty="0">
                  <a:ln w="0"/>
                  <a:solidFill>
                    <a:prstClr val="white"/>
                  </a:solidFill>
                  <a:effectLst/>
                  <a:uLnTx/>
                  <a:uFillTx/>
                  <a:latin typeface="思源黑体 CN Heavy" charset="0"/>
                  <a:ea typeface="思源黑体 CN Heavy" panose="020B0A00000000000000" pitchFamily="34" charset="-122"/>
                  <a:cs typeface="+mn-cs"/>
                </a:rPr>
                <a:t>理</a:t>
              </a:r>
              <a:endParaRPr kumimoji="0" lang="zh-CN" altLang="en-US" sz="4400" b="1" i="0" spc="40" baseline="0" noProof="0" dirty="0">
                <a:ln w="0"/>
                <a:solidFill>
                  <a:prstClr val="white"/>
                </a:solidFill>
                <a:effectLst/>
                <a:uLnTx/>
                <a:uFillTx/>
                <a:latin typeface="思源黑体 CN Heavy" charset="0"/>
                <a:ea typeface="思源黑体 CN Heavy" panose="020B0A00000000000000" pitchFamily="34" charset="-122"/>
                <a:cs typeface="+mn-cs"/>
              </a:endParaRPr>
            </a:p>
          </p:txBody>
        </p:sp>
        <p:sp>
          <p:nvSpPr>
            <p:cNvPr id="11" name="矩形 10"/>
            <p:cNvSpPr/>
            <p:nvPr/>
          </p:nvSpPr>
          <p:spPr>
            <a:xfrm>
              <a:off x="5474881" y="2039833"/>
              <a:ext cx="1371600" cy="1198880"/>
            </a:xfrm>
            <a:prstGeom prst="rect">
              <a:avLst/>
            </a:prstGeom>
            <a:noFill/>
          </p:spPr>
          <p:txBody>
            <a:bodyPr wrap="square" lIns="91440" tIns="45720" rIns="91440" bIns="4572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w="0"/>
                  <a:solidFill>
                    <a:prstClr val="white"/>
                  </a:solidFill>
                  <a:effectLst/>
                  <a:uLnTx/>
                  <a:uFillTx/>
                  <a:latin typeface="思源黑体 CN Heavy" panose="020B0A00000000000000" pitchFamily="34" charset="-122"/>
                  <a:ea typeface="思源黑体 CN Heavy" panose="020B0A00000000000000" pitchFamily="34" charset="-122"/>
                  <a:cs typeface="+mn-cs"/>
                </a:rPr>
                <a:t>03</a:t>
              </a:r>
              <a:endParaRPr kumimoji="0" lang="zh-CN" altLang="en-US" sz="7200" b="1" i="0" u="none" strike="noStrike" kern="1200" cap="none" spc="0" normalizeH="0" baseline="0" noProof="0" dirty="0">
                <a:ln w="0"/>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custDataLst>
              <p:tags r:id="rId1"/>
            </p:custDataLst>
          </p:nvPr>
        </p:nvGrpSpPr>
        <p:grpSpPr>
          <a:xfrm>
            <a:off x="534836" y="1257172"/>
            <a:ext cx="533348" cy="533346"/>
            <a:chOff x="1716240" y="2344292"/>
            <a:chExt cx="533348" cy="533346"/>
          </a:xfrm>
        </p:grpSpPr>
        <p:sp>
          <p:nvSpPr>
            <p:cNvPr id="7" name="椭圆 6"/>
            <p:cNvSpPr/>
            <p:nvPr/>
          </p:nvSpPr>
          <p:spPr>
            <a:xfrm>
              <a:off x="1716240" y="2344292"/>
              <a:ext cx="533348" cy="533346"/>
            </a:xfrm>
            <a:prstGeom prst="ellipse">
              <a:avLst/>
            </a:prstGeom>
            <a:solidFill>
              <a:srgbClr val="7188A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10" name="椭圆 22"/>
            <p:cNvSpPr/>
            <p:nvPr/>
          </p:nvSpPr>
          <p:spPr>
            <a:xfrm>
              <a:off x="1823397" y="2458690"/>
              <a:ext cx="319034" cy="304550"/>
            </a:xfrm>
            <a:custGeom>
              <a:avLst/>
              <a:gdLst>
                <a:gd name="connsiteX0" fmla="*/ 442231 w 602715"/>
                <a:gd name="connsiteY0" fmla="*/ 415741 h 575353"/>
                <a:gd name="connsiteX1" fmla="*/ 479375 w 602715"/>
                <a:gd name="connsiteY1" fmla="*/ 514894 h 575353"/>
                <a:gd name="connsiteX2" fmla="*/ 500369 w 602715"/>
                <a:gd name="connsiteY2" fmla="*/ 472976 h 575353"/>
                <a:gd name="connsiteX3" fmla="*/ 542357 w 602715"/>
                <a:gd name="connsiteY3" fmla="*/ 452017 h 575353"/>
                <a:gd name="connsiteX4" fmla="*/ 405895 w 602715"/>
                <a:gd name="connsiteY4" fmla="*/ 379466 h 575353"/>
                <a:gd name="connsiteX5" fmla="*/ 596458 w 602715"/>
                <a:gd name="connsiteY5" fmla="*/ 449598 h 575353"/>
                <a:gd name="connsiteX6" fmla="*/ 526208 w 602715"/>
                <a:gd name="connsiteY6" fmla="*/ 484262 h 575353"/>
                <a:gd name="connsiteX7" fmla="*/ 599688 w 602715"/>
                <a:gd name="connsiteY7" fmla="*/ 557618 h 575353"/>
                <a:gd name="connsiteX8" fmla="*/ 599688 w 602715"/>
                <a:gd name="connsiteY8" fmla="*/ 572129 h 575353"/>
                <a:gd name="connsiteX9" fmla="*/ 591613 w 602715"/>
                <a:gd name="connsiteY9" fmla="*/ 575353 h 575353"/>
                <a:gd name="connsiteX10" fmla="*/ 584346 w 602715"/>
                <a:gd name="connsiteY10" fmla="*/ 572129 h 575353"/>
                <a:gd name="connsiteX11" fmla="*/ 510866 w 602715"/>
                <a:gd name="connsiteY11" fmla="*/ 499578 h 575353"/>
                <a:gd name="connsiteX12" fmla="*/ 476145 w 602715"/>
                <a:gd name="connsiteY12" fmla="*/ 568904 h 575353"/>
                <a:gd name="connsiteX13" fmla="*/ 280047 w 602715"/>
                <a:gd name="connsiteY13" fmla="*/ 64374 h 575353"/>
                <a:gd name="connsiteX14" fmla="*/ 258242 w 602715"/>
                <a:gd name="connsiteY14" fmla="*/ 86154 h 575353"/>
                <a:gd name="connsiteX15" fmla="*/ 280047 w 602715"/>
                <a:gd name="connsiteY15" fmla="*/ 107934 h 575353"/>
                <a:gd name="connsiteX16" fmla="*/ 301045 w 602715"/>
                <a:gd name="connsiteY16" fmla="*/ 86154 h 575353"/>
                <a:gd name="connsiteX17" fmla="*/ 280047 w 602715"/>
                <a:gd name="connsiteY17" fmla="*/ 64374 h 575353"/>
                <a:gd name="connsiteX18" fmla="*/ 183205 w 602715"/>
                <a:gd name="connsiteY18" fmla="*/ 64374 h 575353"/>
                <a:gd name="connsiteX19" fmla="*/ 161432 w 602715"/>
                <a:gd name="connsiteY19" fmla="*/ 86154 h 575353"/>
                <a:gd name="connsiteX20" fmla="*/ 183205 w 602715"/>
                <a:gd name="connsiteY20" fmla="*/ 107934 h 575353"/>
                <a:gd name="connsiteX21" fmla="*/ 204171 w 602715"/>
                <a:gd name="connsiteY21" fmla="*/ 86154 h 575353"/>
                <a:gd name="connsiteX22" fmla="*/ 183205 w 602715"/>
                <a:gd name="connsiteY22" fmla="*/ 64374 h 575353"/>
                <a:gd name="connsiteX23" fmla="*/ 86363 w 602715"/>
                <a:gd name="connsiteY23" fmla="*/ 64374 h 575353"/>
                <a:gd name="connsiteX24" fmla="*/ 64558 w 602715"/>
                <a:gd name="connsiteY24" fmla="*/ 86154 h 575353"/>
                <a:gd name="connsiteX25" fmla="*/ 86363 w 602715"/>
                <a:gd name="connsiteY25" fmla="*/ 107934 h 575353"/>
                <a:gd name="connsiteX26" fmla="*/ 107361 w 602715"/>
                <a:gd name="connsiteY26" fmla="*/ 86154 h 575353"/>
                <a:gd name="connsiteX27" fmla="*/ 86363 w 602715"/>
                <a:gd name="connsiteY27" fmla="*/ 64374 h 575353"/>
                <a:gd name="connsiteX28" fmla="*/ 280047 w 602715"/>
                <a:gd name="connsiteY28" fmla="*/ 43401 h 575353"/>
                <a:gd name="connsiteX29" fmla="*/ 322850 w 602715"/>
                <a:gd name="connsiteY29" fmla="*/ 86154 h 575353"/>
                <a:gd name="connsiteX30" fmla="*/ 280047 w 602715"/>
                <a:gd name="connsiteY30" fmla="*/ 128907 h 575353"/>
                <a:gd name="connsiteX31" fmla="*/ 236437 w 602715"/>
                <a:gd name="connsiteY31" fmla="*/ 86154 h 575353"/>
                <a:gd name="connsiteX32" fmla="*/ 280047 w 602715"/>
                <a:gd name="connsiteY32" fmla="*/ 43401 h 575353"/>
                <a:gd name="connsiteX33" fmla="*/ 183205 w 602715"/>
                <a:gd name="connsiteY33" fmla="*/ 43401 h 575353"/>
                <a:gd name="connsiteX34" fmla="*/ 225943 w 602715"/>
                <a:gd name="connsiteY34" fmla="*/ 86154 h 575353"/>
                <a:gd name="connsiteX35" fmla="*/ 183205 w 602715"/>
                <a:gd name="connsiteY35" fmla="*/ 128907 h 575353"/>
                <a:gd name="connsiteX36" fmla="*/ 139660 w 602715"/>
                <a:gd name="connsiteY36" fmla="*/ 86154 h 575353"/>
                <a:gd name="connsiteX37" fmla="*/ 183205 w 602715"/>
                <a:gd name="connsiteY37" fmla="*/ 43401 h 575353"/>
                <a:gd name="connsiteX38" fmla="*/ 86363 w 602715"/>
                <a:gd name="connsiteY38" fmla="*/ 43401 h 575353"/>
                <a:gd name="connsiteX39" fmla="*/ 129166 w 602715"/>
                <a:gd name="connsiteY39" fmla="*/ 86154 h 575353"/>
                <a:gd name="connsiteX40" fmla="*/ 86363 w 602715"/>
                <a:gd name="connsiteY40" fmla="*/ 128907 h 575353"/>
                <a:gd name="connsiteX41" fmla="*/ 42753 w 602715"/>
                <a:gd name="connsiteY41" fmla="*/ 86154 h 575353"/>
                <a:gd name="connsiteX42" fmla="*/ 86363 w 602715"/>
                <a:gd name="connsiteY42" fmla="*/ 43401 h 575353"/>
                <a:gd name="connsiteX43" fmla="*/ 21790 w 602715"/>
                <a:gd name="connsiteY43" fmla="*/ 21754 h 575353"/>
                <a:gd name="connsiteX44" fmla="*/ 21790 w 602715"/>
                <a:gd name="connsiteY44" fmla="*/ 150669 h 575353"/>
                <a:gd name="connsiteX45" fmla="*/ 538305 w 602715"/>
                <a:gd name="connsiteY45" fmla="*/ 150669 h 575353"/>
                <a:gd name="connsiteX46" fmla="*/ 538305 w 602715"/>
                <a:gd name="connsiteY46" fmla="*/ 21754 h 575353"/>
                <a:gd name="connsiteX47" fmla="*/ 10492 w 602715"/>
                <a:gd name="connsiteY47" fmla="*/ 0 h 575353"/>
                <a:gd name="connsiteX48" fmla="*/ 548796 w 602715"/>
                <a:gd name="connsiteY48" fmla="*/ 0 h 575353"/>
                <a:gd name="connsiteX49" fmla="*/ 559288 w 602715"/>
                <a:gd name="connsiteY49" fmla="*/ 11280 h 575353"/>
                <a:gd name="connsiteX50" fmla="*/ 559288 w 602715"/>
                <a:gd name="connsiteY50" fmla="*/ 161143 h 575353"/>
                <a:gd name="connsiteX51" fmla="*/ 559288 w 602715"/>
                <a:gd name="connsiteY51" fmla="*/ 365795 h 575353"/>
                <a:gd name="connsiteX52" fmla="*/ 548796 w 602715"/>
                <a:gd name="connsiteY52" fmla="*/ 376269 h 575353"/>
                <a:gd name="connsiteX53" fmla="*/ 538305 w 602715"/>
                <a:gd name="connsiteY53" fmla="*/ 365795 h 575353"/>
                <a:gd name="connsiteX54" fmla="*/ 538305 w 602715"/>
                <a:gd name="connsiteY54" fmla="*/ 172423 h 575353"/>
                <a:gd name="connsiteX55" fmla="*/ 21790 w 602715"/>
                <a:gd name="connsiteY55" fmla="*/ 172423 h 575353"/>
                <a:gd name="connsiteX56" fmla="*/ 21790 w 602715"/>
                <a:gd name="connsiteY56" fmla="*/ 526938 h 575353"/>
                <a:gd name="connsiteX57" fmla="*/ 376894 w 602715"/>
                <a:gd name="connsiteY57" fmla="*/ 526938 h 575353"/>
                <a:gd name="connsiteX58" fmla="*/ 387386 w 602715"/>
                <a:gd name="connsiteY58" fmla="*/ 537413 h 575353"/>
                <a:gd name="connsiteX59" fmla="*/ 376894 w 602715"/>
                <a:gd name="connsiteY59" fmla="*/ 547887 h 575353"/>
                <a:gd name="connsiteX60" fmla="*/ 10492 w 602715"/>
                <a:gd name="connsiteY60" fmla="*/ 547887 h 575353"/>
                <a:gd name="connsiteX61" fmla="*/ 0 w 602715"/>
                <a:gd name="connsiteY61" fmla="*/ 537413 h 575353"/>
                <a:gd name="connsiteX62" fmla="*/ 0 w 602715"/>
                <a:gd name="connsiteY62" fmla="*/ 161143 h 575353"/>
                <a:gd name="connsiteX63" fmla="*/ 0 w 602715"/>
                <a:gd name="connsiteY63" fmla="*/ 11280 h 575353"/>
                <a:gd name="connsiteX64" fmla="*/ 10492 w 602715"/>
                <a:gd name="connsiteY64" fmla="*/ 0 h 575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02715" h="575353">
                  <a:moveTo>
                    <a:pt x="442231" y="415741"/>
                  </a:moveTo>
                  <a:lnTo>
                    <a:pt x="479375" y="514894"/>
                  </a:lnTo>
                  <a:lnTo>
                    <a:pt x="500369" y="472976"/>
                  </a:lnTo>
                  <a:lnTo>
                    <a:pt x="542357" y="452017"/>
                  </a:lnTo>
                  <a:close/>
                  <a:moveTo>
                    <a:pt x="405895" y="379466"/>
                  </a:moveTo>
                  <a:lnTo>
                    <a:pt x="596458" y="449598"/>
                  </a:lnTo>
                  <a:lnTo>
                    <a:pt x="526208" y="484262"/>
                  </a:lnTo>
                  <a:lnTo>
                    <a:pt x="599688" y="557618"/>
                  </a:lnTo>
                  <a:cubicBezTo>
                    <a:pt x="603725" y="561649"/>
                    <a:pt x="603725" y="568098"/>
                    <a:pt x="599688" y="572129"/>
                  </a:cubicBezTo>
                  <a:cubicBezTo>
                    <a:pt x="597265" y="574547"/>
                    <a:pt x="594843" y="575353"/>
                    <a:pt x="591613" y="575353"/>
                  </a:cubicBezTo>
                  <a:cubicBezTo>
                    <a:pt x="589191" y="575353"/>
                    <a:pt x="586768" y="574547"/>
                    <a:pt x="584346" y="572129"/>
                  </a:cubicBezTo>
                  <a:lnTo>
                    <a:pt x="510866" y="499578"/>
                  </a:lnTo>
                  <a:lnTo>
                    <a:pt x="476145" y="568904"/>
                  </a:lnTo>
                  <a:close/>
                  <a:moveTo>
                    <a:pt x="280047" y="64374"/>
                  </a:moveTo>
                  <a:cubicBezTo>
                    <a:pt x="267933" y="64374"/>
                    <a:pt x="258242" y="74054"/>
                    <a:pt x="258242" y="86154"/>
                  </a:cubicBezTo>
                  <a:cubicBezTo>
                    <a:pt x="258242" y="98254"/>
                    <a:pt x="267933" y="107934"/>
                    <a:pt x="280047" y="107934"/>
                  </a:cubicBezTo>
                  <a:cubicBezTo>
                    <a:pt x="291354" y="107934"/>
                    <a:pt x="301045" y="98254"/>
                    <a:pt x="301045" y="86154"/>
                  </a:cubicBezTo>
                  <a:cubicBezTo>
                    <a:pt x="301045" y="74054"/>
                    <a:pt x="291354" y="64374"/>
                    <a:pt x="280047" y="64374"/>
                  </a:cubicBezTo>
                  <a:close/>
                  <a:moveTo>
                    <a:pt x="183205" y="64374"/>
                  </a:moveTo>
                  <a:cubicBezTo>
                    <a:pt x="171109" y="64374"/>
                    <a:pt x="161432" y="74054"/>
                    <a:pt x="161432" y="86154"/>
                  </a:cubicBezTo>
                  <a:cubicBezTo>
                    <a:pt x="161432" y="98254"/>
                    <a:pt x="171109" y="107934"/>
                    <a:pt x="183205" y="107934"/>
                  </a:cubicBezTo>
                  <a:cubicBezTo>
                    <a:pt x="194494" y="107934"/>
                    <a:pt x="204171" y="98254"/>
                    <a:pt x="204171" y="86154"/>
                  </a:cubicBezTo>
                  <a:cubicBezTo>
                    <a:pt x="204171" y="74054"/>
                    <a:pt x="194494" y="64374"/>
                    <a:pt x="183205" y="64374"/>
                  </a:cubicBezTo>
                  <a:close/>
                  <a:moveTo>
                    <a:pt x="86363" y="64374"/>
                  </a:moveTo>
                  <a:cubicBezTo>
                    <a:pt x="74249" y="64374"/>
                    <a:pt x="64558" y="74054"/>
                    <a:pt x="64558" y="86154"/>
                  </a:cubicBezTo>
                  <a:cubicBezTo>
                    <a:pt x="64558" y="98254"/>
                    <a:pt x="74249" y="107934"/>
                    <a:pt x="86363" y="107934"/>
                  </a:cubicBezTo>
                  <a:cubicBezTo>
                    <a:pt x="97670" y="107934"/>
                    <a:pt x="107361" y="98254"/>
                    <a:pt x="107361" y="86154"/>
                  </a:cubicBezTo>
                  <a:cubicBezTo>
                    <a:pt x="107361" y="74054"/>
                    <a:pt x="97670" y="64374"/>
                    <a:pt x="86363" y="64374"/>
                  </a:cubicBezTo>
                  <a:close/>
                  <a:moveTo>
                    <a:pt x="280047" y="43401"/>
                  </a:moveTo>
                  <a:cubicBezTo>
                    <a:pt x="303468" y="43401"/>
                    <a:pt x="322850" y="62761"/>
                    <a:pt x="322850" y="86154"/>
                  </a:cubicBezTo>
                  <a:cubicBezTo>
                    <a:pt x="322850" y="109547"/>
                    <a:pt x="303468" y="128907"/>
                    <a:pt x="280047" y="128907"/>
                  </a:cubicBezTo>
                  <a:cubicBezTo>
                    <a:pt x="255819" y="128907"/>
                    <a:pt x="236437" y="109547"/>
                    <a:pt x="236437" y="86154"/>
                  </a:cubicBezTo>
                  <a:cubicBezTo>
                    <a:pt x="236437" y="62761"/>
                    <a:pt x="255819" y="43401"/>
                    <a:pt x="280047" y="43401"/>
                  </a:cubicBezTo>
                  <a:close/>
                  <a:moveTo>
                    <a:pt x="183205" y="43401"/>
                  </a:moveTo>
                  <a:cubicBezTo>
                    <a:pt x="206590" y="43401"/>
                    <a:pt x="225943" y="62761"/>
                    <a:pt x="225943" y="86154"/>
                  </a:cubicBezTo>
                  <a:cubicBezTo>
                    <a:pt x="225943" y="109547"/>
                    <a:pt x="206590" y="128907"/>
                    <a:pt x="183205" y="128907"/>
                  </a:cubicBezTo>
                  <a:cubicBezTo>
                    <a:pt x="159013" y="128907"/>
                    <a:pt x="139660" y="109547"/>
                    <a:pt x="139660" y="86154"/>
                  </a:cubicBezTo>
                  <a:cubicBezTo>
                    <a:pt x="139660" y="62761"/>
                    <a:pt x="159013" y="43401"/>
                    <a:pt x="183205" y="43401"/>
                  </a:cubicBezTo>
                  <a:close/>
                  <a:moveTo>
                    <a:pt x="86363" y="43401"/>
                  </a:moveTo>
                  <a:cubicBezTo>
                    <a:pt x="109784" y="43401"/>
                    <a:pt x="129166" y="62761"/>
                    <a:pt x="129166" y="86154"/>
                  </a:cubicBezTo>
                  <a:cubicBezTo>
                    <a:pt x="129166" y="109547"/>
                    <a:pt x="109784" y="128907"/>
                    <a:pt x="86363" y="128907"/>
                  </a:cubicBezTo>
                  <a:cubicBezTo>
                    <a:pt x="62135" y="128907"/>
                    <a:pt x="42753" y="109547"/>
                    <a:pt x="42753" y="86154"/>
                  </a:cubicBezTo>
                  <a:cubicBezTo>
                    <a:pt x="42753" y="62761"/>
                    <a:pt x="62135" y="43401"/>
                    <a:pt x="86363" y="43401"/>
                  </a:cubicBezTo>
                  <a:close/>
                  <a:moveTo>
                    <a:pt x="21790" y="21754"/>
                  </a:moveTo>
                  <a:lnTo>
                    <a:pt x="21790" y="150669"/>
                  </a:lnTo>
                  <a:lnTo>
                    <a:pt x="538305" y="150669"/>
                  </a:lnTo>
                  <a:lnTo>
                    <a:pt x="538305" y="21754"/>
                  </a:lnTo>
                  <a:close/>
                  <a:moveTo>
                    <a:pt x="10492" y="0"/>
                  </a:moveTo>
                  <a:lnTo>
                    <a:pt x="548796" y="0"/>
                  </a:lnTo>
                  <a:cubicBezTo>
                    <a:pt x="554446" y="0"/>
                    <a:pt x="559288" y="4834"/>
                    <a:pt x="559288" y="11280"/>
                  </a:cubicBezTo>
                  <a:lnTo>
                    <a:pt x="559288" y="161143"/>
                  </a:lnTo>
                  <a:lnTo>
                    <a:pt x="559288" y="365795"/>
                  </a:lnTo>
                  <a:cubicBezTo>
                    <a:pt x="559288" y="371435"/>
                    <a:pt x="554446" y="376269"/>
                    <a:pt x="548796" y="376269"/>
                  </a:cubicBezTo>
                  <a:cubicBezTo>
                    <a:pt x="543147" y="376269"/>
                    <a:pt x="538305" y="371435"/>
                    <a:pt x="538305" y="365795"/>
                  </a:cubicBezTo>
                  <a:lnTo>
                    <a:pt x="538305" y="172423"/>
                  </a:lnTo>
                  <a:lnTo>
                    <a:pt x="21790" y="172423"/>
                  </a:lnTo>
                  <a:lnTo>
                    <a:pt x="21790" y="526938"/>
                  </a:lnTo>
                  <a:lnTo>
                    <a:pt x="376894" y="526938"/>
                  </a:lnTo>
                  <a:cubicBezTo>
                    <a:pt x="382543" y="526938"/>
                    <a:pt x="387386" y="531773"/>
                    <a:pt x="387386" y="537413"/>
                  </a:cubicBezTo>
                  <a:cubicBezTo>
                    <a:pt x="387386" y="543053"/>
                    <a:pt x="382543" y="547887"/>
                    <a:pt x="376894" y="547887"/>
                  </a:cubicBezTo>
                  <a:lnTo>
                    <a:pt x="10492" y="547887"/>
                  </a:lnTo>
                  <a:cubicBezTo>
                    <a:pt x="4842" y="547887"/>
                    <a:pt x="0" y="543053"/>
                    <a:pt x="0" y="537413"/>
                  </a:cubicBezTo>
                  <a:lnTo>
                    <a:pt x="0" y="161143"/>
                  </a:lnTo>
                  <a:lnTo>
                    <a:pt x="0" y="11280"/>
                  </a:lnTo>
                  <a:cubicBezTo>
                    <a:pt x="0" y="4834"/>
                    <a:pt x="4842" y="0"/>
                    <a:pt x="10492" y="0"/>
                  </a:cubicBez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grpSp>
      <p:grpSp>
        <p:nvGrpSpPr>
          <p:cNvPr id="25" name="组合 24"/>
          <p:cNvGrpSpPr/>
          <p:nvPr/>
        </p:nvGrpSpPr>
        <p:grpSpPr>
          <a:xfrm>
            <a:off x="334963" y="455941"/>
            <a:ext cx="4243283" cy="601052"/>
            <a:chOff x="334963" y="455941"/>
            <a:chExt cx="4243283" cy="601052"/>
          </a:xfrm>
        </p:grpSpPr>
        <p:grpSp>
          <p:nvGrpSpPr>
            <p:cNvPr id="20" name="组合 19"/>
            <p:cNvGrpSpPr/>
            <p:nvPr/>
          </p:nvGrpSpPr>
          <p:grpSpPr>
            <a:xfrm>
              <a:off x="603091" y="455941"/>
              <a:ext cx="3975155" cy="601052"/>
              <a:chOff x="603091" y="455941"/>
              <a:chExt cx="3975155" cy="601052"/>
            </a:xfrm>
          </p:grpSpPr>
          <p:sp>
            <p:nvSpPr>
              <p:cNvPr id="26" name="文本框 25"/>
              <p:cNvSpPr txBox="1"/>
              <p:nvPr/>
            </p:nvSpPr>
            <p:spPr>
              <a:xfrm>
                <a:off x="603091" y="455941"/>
                <a:ext cx="2926080" cy="459105"/>
              </a:xfrm>
              <a:prstGeom prst="rect">
                <a:avLst/>
              </a:prstGeom>
              <a:noFill/>
            </p:spPr>
            <p:txBody>
              <a:bodyPr wrap="none" rtlCol="0">
                <a:noAutofit/>
              </a:bodyPr>
              <a:p>
                <a:pPr algn="l"/>
                <a:r>
                  <a:rPr lang="zh-CN" altLang="en-US" sz="2400" b="1" dirty="0">
                    <a:solidFill>
                      <a:srgbClr val="7188A8"/>
                    </a:solidFill>
                    <a:cs typeface="+mn-ea"/>
                    <a:sym typeface="+mn-lt"/>
                  </a:rPr>
                  <a:t>双相情感障碍的病</a:t>
                </a:r>
                <a:r>
                  <a:rPr lang="zh-CN" altLang="en-US" sz="2400" b="1" dirty="0">
                    <a:solidFill>
                      <a:srgbClr val="7188A8"/>
                    </a:solidFill>
                    <a:cs typeface="+mn-ea"/>
                    <a:sym typeface="+mn-lt"/>
                  </a:rPr>
                  <a:t>理</a:t>
                </a:r>
                <a:endParaRPr lang="zh-CN" altLang="en-US" sz="2400" b="1" dirty="0">
                  <a:solidFill>
                    <a:srgbClr val="7188A8"/>
                  </a:solidFill>
                  <a:cs typeface="+mn-ea"/>
                  <a:sym typeface="+mn-lt"/>
                </a:endParaRPr>
              </a:p>
            </p:txBody>
          </p:sp>
          <p:sp>
            <p:nvSpPr>
              <p:cNvPr id="27" name="矩形 26"/>
              <p:cNvSpPr/>
              <p:nvPr/>
            </p:nvSpPr>
            <p:spPr>
              <a:xfrm>
                <a:off x="610102" y="804263"/>
                <a:ext cx="3968144" cy="252730"/>
              </a:xfrm>
              <a:prstGeom prst="rect">
                <a:avLst/>
              </a:prstGeom>
            </p:spPr>
            <p:txBody>
              <a:bodyPr wrap="square">
                <a:spAutoFit/>
              </a:bodyPr>
              <a:p>
                <a:r>
                  <a:rPr lang="en-US" altLang="zh-CN" sz="1050" dirty="0">
                    <a:solidFill>
                      <a:schemeClr val="bg1">
                        <a:lumMod val="50000"/>
                      </a:schemeClr>
                    </a:solidFill>
                  </a:rPr>
                  <a:t>Pathology of bipolar disorder</a:t>
                </a:r>
                <a:endParaRPr lang="en-US" altLang="zh-CN" sz="1050" dirty="0">
                  <a:solidFill>
                    <a:schemeClr val="bg1">
                      <a:lumMod val="50000"/>
                    </a:schemeClr>
                  </a:solidFill>
                </a:endParaRPr>
              </a:p>
            </p:txBody>
          </p:sp>
        </p:grpSp>
        <p:sp>
          <p:nvSpPr>
            <p:cNvPr id="28" name="矩形 27"/>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65" name="文本框 64"/>
          <p:cNvSpPr txBox="1"/>
          <p:nvPr/>
        </p:nvSpPr>
        <p:spPr>
          <a:xfrm>
            <a:off x="1094105" y="1284605"/>
            <a:ext cx="6096000" cy="460375"/>
          </a:xfrm>
          <a:prstGeom prst="rect">
            <a:avLst/>
          </a:prstGeom>
          <a:noFill/>
        </p:spPr>
        <p:txBody>
          <a:bodyPr wrap="square" rtlCol="0" anchor="t">
            <a:spAutoFit/>
          </a:bodyPr>
          <a:p>
            <a:r>
              <a:rPr lang="zh-CN" altLang="en-US" sz="2400" b="1" noProof="0" dirty="0">
                <a:solidFill>
                  <a:srgbClr val="7188A8"/>
                </a:solidFill>
                <a:latin typeface="思源黑体 CN Bold" panose="020B0800000000000000" pitchFamily="34" charset="-122"/>
                <a:ea typeface="思源黑体 CN Bold" panose="020B0800000000000000" pitchFamily="34" charset="-122"/>
                <a:sym typeface="+mn-ea"/>
              </a:rPr>
              <a:t>遗传因素</a:t>
            </a:r>
            <a:endParaRPr lang="zh-CN" altLang="en-US" sz="2400" b="1" noProof="0" dirty="0">
              <a:solidFill>
                <a:srgbClr val="7188A8"/>
              </a:solidFill>
              <a:latin typeface="思源黑体 CN Bold" panose="020B0800000000000000" pitchFamily="34" charset="-122"/>
              <a:ea typeface="思源黑体 CN Bold" panose="020B0800000000000000" pitchFamily="34" charset="-122"/>
              <a:sym typeface="+mn-ea"/>
            </a:endParaRPr>
          </a:p>
        </p:txBody>
      </p:sp>
      <p:sp>
        <p:nvSpPr>
          <p:cNvPr id="67" name="文本框2"/>
          <p:cNvSpPr/>
          <p:nvPr>
            <p:custDataLst>
              <p:tags r:id="rId2"/>
            </p:custDataLst>
          </p:nvPr>
        </p:nvSpPr>
        <p:spPr>
          <a:xfrm>
            <a:off x="499745" y="1744980"/>
            <a:ext cx="11489690" cy="1812290"/>
          </a:xfrm>
          <a:prstGeom prst="rect">
            <a:avLst/>
          </a:prstGeom>
        </p:spPr>
        <p:txBody>
          <a:bodyPr wrap="square">
            <a:spAutoFit/>
          </a:bodyPr>
          <a:p>
            <a:pPr indent="457200" fontAlgn="auto">
              <a:lnSpc>
                <a:spcPct val="130000"/>
              </a:lnSpc>
              <a:spcBef>
                <a:spcPts val="1100"/>
              </a:spcBef>
              <a:defRPr/>
            </a:pPr>
            <a:r>
              <a:rPr kumimoji="0" lang="zh-CN" altLang="en-US" sz="2400" b="1" i="0" baseline="0" dirty="0">
                <a:solidFill>
                  <a:srgbClr val="7F7F7F"/>
                </a:solidFill>
                <a:uFillTx/>
                <a:latin typeface="黑体" panose="02010609060101010101" charset="-122"/>
                <a:ea typeface="黑体" panose="02010609060101010101" charset="-122"/>
                <a:cs typeface="黑体" panose="02010609060101010101" charset="-122"/>
                <a:sym typeface="+mn-lt"/>
              </a:rPr>
              <a:t>在双相情感障碍的病因中，遗传因素是</a:t>
            </a: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主要的危险因素</a:t>
            </a:r>
            <a:r>
              <a:rPr kumimoji="0" lang="zh-CN" altLang="en-US" sz="2400" b="1" i="0" baseline="0" dirty="0">
                <a:solidFill>
                  <a:srgbClr val="7F7F7F"/>
                </a:solidFill>
                <a:uFillTx/>
                <a:latin typeface="黑体" panose="02010609060101010101" charset="-122"/>
                <a:ea typeface="黑体" panose="02010609060101010101" charset="-122"/>
                <a:cs typeface="黑体" panose="02010609060101010101" charset="-122"/>
                <a:sym typeface="+mn-lt"/>
              </a:rPr>
              <a:t>，具有明显的家族聚集性。</a:t>
            </a:r>
            <a:endParaRPr kumimoji="0" lang="zh-CN" altLang="en-US" sz="2400" b="1" i="0" baseline="0" dirty="0">
              <a:solidFill>
                <a:srgbClr val="7F7F7F"/>
              </a:solidFill>
              <a:uFillTx/>
              <a:latin typeface="黑体" panose="02010609060101010101" charset="-122"/>
              <a:ea typeface="黑体" panose="02010609060101010101" charset="-122"/>
              <a:cs typeface="黑体" panose="02010609060101010101" charset="-122"/>
              <a:sym typeface="+mn-lt"/>
            </a:endParaRPr>
          </a:p>
          <a:p>
            <a:pPr indent="457200" fontAlgn="auto">
              <a:lnSpc>
                <a:spcPct val="130000"/>
              </a:lnSpc>
              <a:spcBef>
                <a:spcPts val="1100"/>
              </a:spcBef>
              <a:defRPr/>
            </a:pPr>
            <a:r>
              <a:rPr kumimoji="0" lang="zh-CN" altLang="en-US" sz="2400" b="1" i="0" baseline="0" dirty="0">
                <a:solidFill>
                  <a:srgbClr val="7F7F7F"/>
                </a:solidFill>
                <a:uFillTx/>
                <a:latin typeface="黑体" panose="02010609060101010101" charset="-122"/>
                <a:ea typeface="黑体" panose="02010609060101010101" charset="-122"/>
                <a:cs typeface="黑体" panose="02010609060101010101" charset="-122"/>
                <a:sym typeface="+mn-lt"/>
              </a:rPr>
              <a:t>血缘关系越近，患病概率越高。</a:t>
            </a:r>
            <a:endParaRPr kumimoji="0" lang="zh-CN" altLang="en-US" sz="2400" b="1" i="0" baseline="0" dirty="0">
              <a:solidFill>
                <a:srgbClr val="7F7F7F"/>
              </a:solidFill>
              <a:uFillTx/>
              <a:latin typeface="黑体" panose="02010609060101010101" charset="-122"/>
              <a:ea typeface="黑体" panose="02010609060101010101" charset="-122"/>
              <a:cs typeface="黑体" panose="02010609060101010101" charset="-122"/>
              <a:sym typeface="+mn-lt"/>
            </a:endParaRPr>
          </a:p>
          <a:p>
            <a:pPr indent="457200" fontAlgn="auto">
              <a:lnSpc>
                <a:spcPct val="130000"/>
              </a:lnSpc>
              <a:spcBef>
                <a:spcPts val="1100"/>
              </a:spcBef>
              <a:defRPr/>
            </a:pPr>
            <a:r>
              <a:rPr kumimoji="0" lang="zh-CN" altLang="en-US" sz="2400" b="1" i="0" baseline="0" dirty="0">
                <a:solidFill>
                  <a:srgbClr val="7F7F7F"/>
                </a:solidFill>
                <a:uFillTx/>
                <a:latin typeface="黑体" panose="02010609060101010101" charset="-122"/>
                <a:ea typeface="黑体" panose="02010609060101010101" charset="-122"/>
                <a:cs typeface="黑体" panose="02010609060101010101" charset="-122"/>
                <a:sym typeface="+mn-lt"/>
              </a:rPr>
              <a:t>发病年龄逐代提早，疾病严重性逐代增加的趋势。</a:t>
            </a:r>
            <a:endParaRPr kumimoji="0" lang="zh-CN" altLang="en-US" sz="2400" b="1" i="0" baseline="0" dirty="0">
              <a:solidFill>
                <a:srgbClr val="7F7F7F"/>
              </a:solidFill>
              <a:uFillTx/>
              <a:latin typeface="黑体" panose="02010609060101010101" charset="-122"/>
              <a:ea typeface="黑体" panose="02010609060101010101" charset="-122"/>
              <a:cs typeface="黑体" panose="02010609060101010101" charset="-122"/>
              <a:sym typeface="+mn-lt"/>
            </a:endParaRPr>
          </a:p>
        </p:txBody>
      </p:sp>
      <p:pic>
        <p:nvPicPr>
          <p:cNvPr id="2" name="图片 9" descr="下载"/>
          <p:cNvPicPr>
            <a:picLocks noChangeAspect="1"/>
          </p:cNvPicPr>
          <p:nvPr/>
        </p:nvPicPr>
        <p:blipFill>
          <a:blip r:embed="rId3"/>
          <a:stretch>
            <a:fillRect/>
          </a:stretch>
        </p:blipFill>
        <p:spPr>
          <a:xfrm>
            <a:off x="3905250" y="3713480"/>
            <a:ext cx="4381500" cy="274891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custDataLst>
              <p:tags r:id="rId1"/>
            </p:custDataLst>
          </p:nvPr>
        </p:nvGrpSpPr>
        <p:grpSpPr>
          <a:xfrm>
            <a:off x="603416" y="1202531"/>
            <a:ext cx="533348" cy="533346"/>
            <a:chOff x="1716240" y="3498056"/>
            <a:chExt cx="533348" cy="533346"/>
          </a:xfrm>
        </p:grpSpPr>
        <p:sp>
          <p:nvSpPr>
            <p:cNvPr id="8" name="椭圆 7"/>
            <p:cNvSpPr/>
            <p:nvPr/>
          </p:nvSpPr>
          <p:spPr>
            <a:xfrm>
              <a:off x="1716240" y="3498056"/>
              <a:ext cx="533348" cy="533346"/>
            </a:xfrm>
            <a:prstGeom prst="ellipse">
              <a:avLst/>
            </a:prstGeom>
            <a:solidFill>
              <a:srgbClr val="96C0E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11" name="椭圆 23"/>
            <p:cNvSpPr/>
            <p:nvPr/>
          </p:nvSpPr>
          <p:spPr>
            <a:xfrm>
              <a:off x="1823397" y="3639516"/>
              <a:ext cx="319034" cy="250425"/>
            </a:xfrm>
            <a:custGeom>
              <a:avLst/>
              <a:gdLst>
                <a:gd name="connsiteX0" fmla="*/ 315239 w 606721"/>
                <a:gd name="connsiteY0" fmla="*/ 351824 h 476246"/>
                <a:gd name="connsiteX1" fmla="*/ 315239 w 606721"/>
                <a:gd name="connsiteY1" fmla="*/ 369957 h 476246"/>
                <a:gd name="connsiteX2" fmla="*/ 533394 w 606721"/>
                <a:gd name="connsiteY2" fmla="*/ 369957 h 476246"/>
                <a:gd name="connsiteX3" fmla="*/ 533394 w 606721"/>
                <a:gd name="connsiteY3" fmla="*/ 351824 h 476246"/>
                <a:gd name="connsiteX4" fmla="*/ 88066 w 606721"/>
                <a:gd name="connsiteY4" fmla="*/ 264832 h 476246"/>
                <a:gd name="connsiteX5" fmla="*/ 183188 w 606721"/>
                <a:gd name="connsiteY5" fmla="*/ 264832 h 476246"/>
                <a:gd name="connsiteX6" fmla="*/ 183188 w 606721"/>
                <a:gd name="connsiteY6" fmla="*/ 359813 h 476246"/>
                <a:gd name="connsiteX7" fmla="*/ 88066 w 606721"/>
                <a:gd name="connsiteY7" fmla="*/ 359813 h 476246"/>
                <a:gd name="connsiteX8" fmla="*/ 315239 w 606721"/>
                <a:gd name="connsiteY8" fmla="*/ 261160 h 476246"/>
                <a:gd name="connsiteX9" fmla="*/ 315239 w 606721"/>
                <a:gd name="connsiteY9" fmla="*/ 279293 h 476246"/>
                <a:gd name="connsiteX10" fmla="*/ 533394 w 606721"/>
                <a:gd name="connsiteY10" fmla="*/ 279293 h 476246"/>
                <a:gd name="connsiteX11" fmla="*/ 533394 w 606721"/>
                <a:gd name="connsiteY11" fmla="*/ 261160 h 476246"/>
                <a:gd name="connsiteX12" fmla="*/ 69901 w 606721"/>
                <a:gd name="connsiteY12" fmla="*/ 246676 h 476246"/>
                <a:gd name="connsiteX13" fmla="*/ 69901 w 606721"/>
                <a:gd name="connsiteY13" fmla="*/ 377940 h 476246"/>
                <a:gd name="connsiteX14" fmla="*/ 201365 w 606721"/>
                <a:gd name="connsiteY14" fmla="*/ 377940 h 476246"/>
                <a:gd name="connsiteX15" fmla="*/ 201365 w 606721"/>
                <a:gd name="connsiteY15" fmla="*/ 246676 h 476246"/>
                <a:gd name="connsiteX16" fmla="*/ 315239 w 606721"/>
                <a:gd name="connsiteY16" fmla="*/ 170381 h 476246"/>
                <a:gd name="connsiteX17" fmla="*/ 315239 w 606721"/>
                <a:gd name="connsiteY17" fmla="*/ 188514 h 476246"/>
                <a:gd name="connsiteX18" fmla="*/ 533394 w 606721"/>
                <a:gd name="connsiteY18" fmla="*/ 188514 h 476246"/>
                <a:gd name="connsiteX19" fmla="*/ 533394 w 606721"/>
                <a:gd name="connsiteY19" fmla="*/ 170381 h 476246"/>
                <a:gd name="connsiteX20" fmla="*/ 135627 w 606721"/>
                <a:gd name="connsiteY20" fmla="*/ 97874 h 476246"/>
                <a:gd name="connsiteX21" fmla="*/ 183188 w 606721"/>
                <a:gd name="connsiteY21" fmla="*/ 145294 h 476246"/>
                <a:gd name="connsiteX22" fmla="*/ 135627 w 606721"/>
                <a:gd name="connsiteY22" fmla="*/ 192714 h 476246"/>
                <a:gd name="connsiteX23" fmla="*/ 88066 w 606721"/>
                <a:gd name="connsiteY23" fmla="*/ 145294 h 476246"/>
                <a:gd name="connsiteX24" fmla="*/ 135627 w 606721"/>
                <a:gd name="connsiteY24" fmla="*/ 97874 h 476246"/>
                <a:gd name="connsiteX25" fmla="*/ 315239 w 606721"/>
                <a:gd name="connsiteY25" fmla="*/ 79716 h 476246"/>
                <a:gd name="connsiteX26" fmla="*/ 315239 w 606721"/>
                <a:gd name="connsiteY26" fmla="*/ 97849 h 476246"/>
                <a:gd name="connsiteX27" fmla="*/ 533394 w 606721"/>
                <a:gd name="connsiteY27" fmla="*/ 97849 h 476246"/>
                <a:gd name="connsiteX28" fmla="*/ 533394 w 606721"/>
                <a:gd name="connsiteY28" fmla="*/ 79716 h 476246"/>
                <a:gd name="connsiteX29" fmla="*/ 135690 w 606721"/>
                <a:gd name="connsiteY29" fmla="*/ 79602 h 476246"/>
                <a:gd name="connsiteX30" fmla="*/ 69901 w 606721"/>
                <a:gd name="connsiteY30" fmla="*/ 145292 h 476246"/>
                <a:gd name="connsiteX31" fmla="*/ 135690 w 606721"/>
                <a:gd name="connsiteY31" fmla="*/ 210867 h 476246"/>
                <a:gd name="connsiteX32" fmla="*/ 201365 w 606721"/>
                <a:gd name="connsiteY32" fmla="*/ 145292 h 476246"/>
                <a:gd name="connsiteX33" fmla="*/ 135690 w 606721"/>
                <a:gd name="connsiteY33" fmla="*/ 79602 h 476246"/>
                <a:gd name="connsiteX34" fmla="*/ 0 w 606721"/>
                <a:gd name="connsiteY34" fmla="*/ 0 h 476246"/>
                <a:gd name="connsiteX35" fmla="*/ 606721 w 606721"/>
                <a:gd name="connsiteY35" fmla="*/ 0 h 476246"/>
                <a:gd name="connsiteX36" fmla="*/ 606721 w 606721"/>
                <a:gd name="connsiteY36" fmla="*/ 476246 h 476246"/>
                <a:gd name="connsiteX37" fmla="*/ 0 w 606721"/>
                <a:gd name="connsiteY37" fmla="*/ 476246 h 476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6721" h="476246">
                  <a:moveTo>
                    <a:pt x="315239" y="351824"/>
                  </a:moveTo>
                  <a:lnTo>
                    <a:pt x="315239" y="369957"/>
                  </a:lnTo>
                  <a:lnTo>
                    <a:pt x="533394" y="369957"/>
                  </a:lnTo>
                  <a:lnTo>
                    <a:pt x="533394" y="351824"/>
                  </a:lnTo>
                  <a:close/>
                  <a:moveTo>
                    <a:pt x="88066" y="264832"/>
                  </a:moveTo>
                  <a:lnTo>
                    <a:pt x="183188" y="264832"/>
                  </a:lnTo>
                  <a:lnTo>
                    <a:pt x="183188" y="359813"/>
                  </a:lnTo>
                  <a:lnTo>
                    <a:pt x="88066" y="359813"/>
                  </a:lnTo>
                  <a:close/>
                  <a:moveTo>
                    <a:pt x="315239" y="261160"/>
                  </a:moveTo>
                  <a:lnTo>
                    <a:pt x="315239" y="279293"/>
                  </a:lnTo>
                  <a:lnTo>
                    <a:pt x="533394" y="279293"/>
                  </a:lnTo>
                  <a:lnTo>
                    <a:pt x="533394" y="261160"/>
                  </a:lnTo>
                  <a:close/>
                  <a:moveTo>
                    <a:pt x="69901" y="246676"/>
                  </a:moveTo>
                  <a:lnTo>
                    <a:pt x="69901" y="377940"/>
                  </a:lnTo>
                  <a:lnTo>
                    <a:pt x="201365" y="377940"/>
                  </a:lnTo>
                  <a:lnTo>
                    <a:pt x="201365" y="246676"/>
                  </a:lnTo>
                  <a:close/>
                  <a:moveTo>
                    <a:pt x="315239" y="170381"/>
                  </a:moveTo>
                  <a:lnTo>
                    <a:pt x="315239" y="188514"/>
                  </a:lnTo>
                  <a:lnTo>
                    <a:pt x="533394" y="188514"/>
                  </a:lnTo>
                  <a:lnTo>
                    <a:pt x="533394" y="170381"/>
                  </a:lnTo>
                  <a:close/>
                  <a:moveTo>
                    <a:pt x="135627" y="97874"/>
                  </a:moveTo>
                  <a:cubicBezTo>
                    <a:pt x="161894" y="97874"/>
                    <a:pt x="183188" y="119105"/>
                    <a:pt x="183188" y="145294"/>
                  </a:cubicBezTo>
                  <a:cubicBezTo>
                    <a:pt x="183188" y="171483"/>
                    <a:pt x="161894" y="192714"/>
                    <a:pt x="135627" y="192714"/>
                  </a:cubicBezTo>
                  <a:cubicBezTo>
                    <a:pt x="109360" y="192714"/>
                    <a:pt x="88066" y="171483"/>
                    <a:pt x="88066" y="145294"/>
                  </a:cubicBezTo>
                  <a:cubicBezTo>
                    <a:pt x="88066" y="119105"/>
                    <a:pt x="109360" y="97874"/>
                    <a:pt x="135627" y="97874"/>
                  </a:cubicBezTo>
                  <a:close/>
                  <a:moveTo>
                    <a:pt x="315239" y="79716"/>
                  </a:moveTo>
                  <a:lnTo>
                    <a:pt x="315239" y="97849"/>
                  </a:lnTo>
                  <a:lnTo>
                    <a:pt x="533394" y="97849"/>
                  </a:lnTo>
                  <a:lnTo>
                    <a:pt x="533394" y="79716"/>
                  </a:lnTo>
                  <a:close/>
                  <a:moveTo>
                    <a:pt x="135690" y="79602"/>
                  </a:moveTo>
                  <a:cubicBezTo>
                    <a:pt x="99369" y="79602"/>
                    <a:pt x="69901" y="109140"/>
                    <a:pt x="69901" y="145292"/>
                  </a:cubicBezTo>
                  <a:cubicBezTo>
                    <a:pt x="69901" y="181443"/>
                    <a:pt x="99369" y="210867"/>
                    <a:pt x="135690" y="210867"/>
                  </a:cubicBezTo>
                  <a:cubicBezTo>
                    <a:pt x="171897" y="210867"/>
                    <a:pt x="201365" y="181443"/>
                    <a:pt x="201365" y="145292"/>
                  </a:cubicBezTo>
                  <a:cubicBezTo>
                    <a:pt x="201365" y="109140"/>
                    <a:pt x="171897" y="79602"/>
                    <a:pt x="135690" y="79602"/>
                  </a:cubicBezTo>
                  <a:close/>
                  <a:moveTo>
                    <a:pt x="0" y="0"/>
                  </a:moveTo>
                  <a:lnTo>
                    <a:pt x="606721" y="0"/>
                  </a:lnTo>
                  <a:lnTo>
                    <a:pt x="606721" y="476246"/>
                  </a:lnTo>
                  <a:lnTo>
                    <a:pt x="0" y="476246"/>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grpSp>
      <p:grpSp>
        <p:nvGrpSpPr>
          <p:cNvPr id="25" name="组合 24"/>
          <p:cNvGrpSpPr/>
          <p:nvPr/>
        </p:nvGrpSpPr>
        <p:grpSpPr>
          <a:xfrm>
            <a:off x="334963" y="455941"/>
            <a:ext cx="4243283" cy="601052"/>
            <a:chOff x="334963" y="455941"/>
            <a:chExt cx="4243283" cy="601052"/>
          </a:xfrm>
        </p:grpSpPr>
        <p:grpSp>
          <p:nvGrpSpPr>
            <p:cNvPr id="20" name="组合 19"/>
            <p:cNvGrpSpPr/>
            <p:nvPr/>
          </p:nvGrpSpPr>
          <p:grpSpPr>
            <a:xfrm>
              <a:off x="603091" y="455941"/>
              <a:ext cx="3975155" cy="601052"/>
              <a:chOff x="603091" y="455941"/>
              <a:chExt cx="3975155" cy="601052"/>
            </a:xfrm>
          </p:grpSpPr>
          <p:sp>
            <p:nvSpPr>
              <p:cNvPr id="26" name="文本框 25"/>
              <p:cNvSpPr txBox="1"/>
              <p:nvPr/>
            </p:nvSpPr>
            <p:spPr>
              <a:xfrm>
                <a:off x="603091" y="455941"/>
                <a:ext cx="2926080" cy="459105"/>
              </a:xfrm>
              <a:prstGeom prst="rect">
                <a:avLst/>
              </a:prstGeom>
              <a:noFill/>
            </p:spPr>
            <p:txBody>
              <a:bodyPr wrap="none" rtlCol="0">
                <a:noAutofit/>
              </a:bodyPr>
              <a:p>
                <a:pPr algn="l"/>
                <a:r>
                  <a:rPr lang="zh-CN" altLang="en-US" sz="2400" b="1" dirty="0">
                    <a:solidFill>
                      <a:srgbClr val="7188A8"/>
                    </a:solidFill>
                    <a:cs typeface="+mn-ea"/>
                    <a:sym typeface="+mn-lt"/>
                  </a:rPr>
                  <a:t>双相情感障碍的病</a:t>
                </a:r>
                <a:r>
                  <a:rPr lang="zh-CN" altLang="en-US" sz="2400" b="1" dirty="0">
                    <a:solidFill>
                      <a:srgbClr val="7188A8"/>
                    </a:solidFill>
                    <a:cs typeface="+mn-ea"/>
                    <a:sym typeface="+mn-lt"/>
                  </a:rPr>
                  <a:t>理</a:t>
                </a:r>
                <a:endParaRPr lang="zh-CN" altLang="en-US" sz="2400" b="1" dirty="0">
                  <a:solidFill>
                    <a:srgbClr val="7188A8"/>
                  </a:solidFill>
                  <a:cs typeface="+mn-ea"/>
                  <a:sym typeface="+mn-lt"/>
                </a:endParaRPr>
              </a:p>
            </p:txBody>
          </p:sp>
          <p:sp>
            <p:nvSpPr>
              <p:cNvPr id="27" name="矩形 26"/>
              <p:cNvSpPr/>
              <p:nvPr/>
            </p:nvSpPr>
            <p:spPr>
              <a:xfrm>
                <a:off x="610102" y="804263"/>
                <a:ext cx="3968144" cy="252730"/>
              </a:xfrm>
              <a:prstGeom prst="rect">
                <a:avLst/>
              </a:prstGeom>
            </p:spPr>
            <p:txBody>
              <a:bodyPr wrap="square">
                <a:spAutoFit/>
              </a:bodyPr>
              <a:p>
                <a:r>
                  <a:rPr lang="en-US" altLang="zh-CN" sz="1050" dirty="0">
                    <a:solidFill>
                      <a:schemeClr val="bg1">
                        <a:lumMod val="50000"/>
                      </a:schemeClr>
                    </a:solidFill>
                  </a:rPr>
                  <a:t>Pathology of bipolar disorder</a:t>
                </a:r>
                <a:endParaRPr lang="en-US" altLang="zh-CN" sz="1050" dirty="0">
                  <a:solidFill>
                    <a:schemeClr val="bg1">
                      <a:lumMod val="50000"/>
                    </a:schemeClr>
                  </a:solidFill>
                </a:endParaRPr>
              </a:p>
            </p:txBody>
          </p:sp>
        </p:grpSp>
        <p:sp>
          <p:nvSpPr>
            <p:cNvPr id="28" name="矩形 27"/>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65" name="文本框 64"/>
          <p:cNvSpPr txBox="1"/>
          <p:nvPr/>
        </p:nvSpPr>
        <p:spPr>
          <a:xfrm>
            <a:off x="1162685" y="1204595"/>
            <a:ext cx="6096000" cy="531495"/>
          </a:xfrm>
          <a:prstGeom prst="rect">
            <a:avLst/>
          </a:prstGeom>
          <a:noFill/>
        </p:spPr>
        <p:txBody>
          <a:bodyPr wrap="square" rtlCol="0" anchor="t">
            <a:noAutofit/>
          </a:bodyPr>
          <a:p>
            <a:r>
              <a:rPr lang="zh-CN" altLang="en-US" sz="2400" b="1" noProof="0" dirty="0">
                <a:solidFill>
                  <a:srgbClr val="7188A8"/>
                </a:solidFill>
                <a:latin typeface="思源黑体 CN Bold" panose="020B0800000000000000" pitchFamily="34" charset="-122"/>
                <a:ea typeface="思源黑体 CN Bold" panose="020B0800000000000000" pitchFamily="34" charset="-122"/>
                <a:sym typeface="+mn-ea"/>
              </a:rPr>
              <a:t>生物学因素</a:t>
            </a:r>
            <a:r>
              <a:rPr lang="en-US" altLang="zh-CN" sz="2400" b="1" noProof="0" dirty="0">
                <a:solidFill>
                  <a:srgbClr val="7188A8"/>
                </a:solidFill>
                <a:latin typeface="思源黑体 CN Bold" panose="020B0800000000000000" pitchFamily="34" charset="-122"/>
                <a:ea typeface="思源黑体 CN Bold" panose="020B0800000000000000" pitchFamily="34" charset="-122"/>
                <a:sym typeface="+mn-ea"/>
              </a:rPr>
              <a:t> - </a:t>
            </a:r>
            <a:r>
              <a:rPr lang="zh-CN" altLang="en-US" sz="2400" b="1" dirty="0">
                <a:solidFill>
                  <a:srgbClr val="7488A8"/>
                </a:solidFill>
                <a:uFillTx/>
                <a:latin typeface="黑体" panose="02010609060101010101" charset="-122"/>
                <a:ea typeface="黑体" panose="02010609060101010101" charset="-122"/>
                <a:cs typeface="黑体" panose="02010609060101010101" charset="-122"/>
                <a:sym typeface="+mn-lt"/>
              </a:rPr>
              <a:t>神经递质</a:t>
            </a:r>
            <a:endParaRPr lang="en-US" altLang="zh-CN" sz="2400" b="1" noProof="0" dirty="0">
              <a:solidFill>
                <a:srgbClr val="7188A8"/>
              </a:solidFill>
              <a:latin typeface="思源黑体 CN Bold" panose="020B0800000000000000" pitchFamily="34" charset="-122"/>
              <a:ea typeface="思源黑体 CN Bold" panose="020B0800000000000000" pitchFamily="34" charset="-122"/>
              <a:sym typeface="+mn-ea"/>
            </a:endParaRPr>
          </a:p>
        </p:txBody>
      </p:sp>
      <p:sp>
        <p:nvSpPr>
          <p:cNvPr id="67" name="文本框2"/>
          <p:cNvSpPr/>
          <p:nvPr>
            <p:custDataLst>
              <p:tags r:id="rId2"/>
            </p:custDataLst>
          </p:nvPr>
        </p:nvSpPr>
        <p:spPr>
          <a:xfrm>
            <a:off x="683260" y="1754505"/>
            <a:ext cx="10598150" cy="4761865"/>
          </a:xfrm>
          <a:prstGeom prst="rect">
            <a:avLst/>
          </a:prstGeom>
        </p:spPr>
        <p:txBody>
          <a:bodyPr wrap="square">
            <a:noAutofit/>
          </a:bodyPr>
          <a:p>
            <a:pPr indent="457200" fontAlgn="auto">
              <a:lnSpc>
                <a:spcPct val="130000"/>
              </a:lnSpc>
              <a:spcBef>
                <a:spcPts val="1100"/>
              </a:spcBef>
              <a:defRPr/>
            </a:pPr>
            <a:r>
              <a:rPr lang="zh-CN" altLang="en-US" sz="2000" dirty="0">
                <a:solidFill>
                  <a:srgbClr val="7F7F7F"/>
                </a:solidFill>
                <a:uFillTx/>
                <a:latin typeface="黑体" panose="02010609060101010101" charset="-122"/>
                <a:ea typeface="黑体" panose="02010609060101010101" charset="-122"/>
                <a:cs typeface="黑体" panose="02010609060101010101" charset="-122"/>
                <a:sym typeface="+mn-lt"/>
              </a:rPr>
              <a:t>神经递质</a:t>
            </a:r>
            <a:r>
              <a:rPr kumimoji="0" lang="zh-CN" altLang="en-US" sz="2000" i="0" baseline="0" dirty="0">
                <a:solidFill>
                  <a:srgbClr val="7F7F7F"/>
                </a:solidFill>
                <a:uFillTx/>
                <a:latin typeface="黑体" panose="02010609060101010101" charset="-122"/>
                <a:ea typeface="黑体" panose="02010609060101010101" charset="-122"/>
                <a:cs typeface="黑体" panose="02010609060101010101" charset="-122"/>
                <a:sym typeface="+mn-lt"/>
              </a:rPr>
              <a:t>是神经元之间或神经元与效应器细胞如肌肉细胞、腺体细胞等之间传递信息的化学物质。患者的发病，可能与中枢神经递质功能异常有关。</a:t>
            </a:r>
            <a:endParaRPr kumimoji="0" lang="zh-CN" altLang="en-US" sz="20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a:p>
            <a:pPr indent="457200" fontAlgn="auto">
              <a:lnSpc>
                <a:spcPct val="130000"/>
              </a:lnSpc>
              <a:spcBef>
                <a:spcPts val="1100"/>
              </a:spcBef>
              <a:defRPr/>
            </a:pP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5-羟色胺（5-HT）</a:t>
            </a:r>
            <a:endPar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endParaRPr>
          </a:p>
          <a:p>
            <a:pPr indent="457200" fontAlgn="auto">
              <a:lnSpc>
                <a:spcPct val="130000"/>
              </a:lnSpc>
              <a:spcBef>
                <a:spcPts val="1100"/>
              </a:spcBef>
              <a:defRPr/>
            </a:pPr>
            <a:r>
              <a:rPr kumimoji="0" lang="zh-CN" altLang="en-US" sz="2000" i="0" baseline="0" dirty="0">
                <a:solidFill>
                  <a:srgbClr val="7F7F7F"/>
                </a:solidFill>
                <a:uFillTx/>
                <a:latin typeface="黑体" panose="02010609060101010101" charset="-122"/>
                <a:ea typeface="黑体" panose="02010609060101010101" charset="-122"/>
                <a:cs typeface="黑体" panose="02010609060101010101" charset="-122"/>
                <a:sym typeface="+mn-lt"/>
              </a:rPr>
              <a:t>5-羟色胺功能活动降低与抑郁发作患者的食欲减退、失眠、昼夜节律紊乱、内分泌功能失调、焦躁不安、活动减少等密切相关。而5-羟色胺功能活动增高则与躁狂发作有关。</a:t>
            </a:r>
            <a:endParaRPr kumimoji="0" lang="zh-CN" altLang="en-US" sz="20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a:p>
            <a:pPr indent="457200" fontAlgn="auto">
              <a:lnSpc>
                <a:spcPct val="130000"/>
              </a:lnSpc>
              <a:spcBef>
                <a:spcPts val="1100"/>
              </a:spcBef>
              <a:defRPr/>
            </a:pP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去甲肾上腺素（NE）</a:t>
            </a:r>
            <a:endPar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endParaRPr>
          </a:p>
          <a:p>
            <a:pPr indent="457200" fontAlgn="auto">
              <a:lnSpc>
                <a:spcPct val="130000"/>
              </a:lnSpc>
              <a:spcBef>
                <a:spcPts val="1100"/>
              </a:spcBef>
              <a:defRPr/>
            </a:pPr>
            <a:r>
              <a:rPr kumimoji="0" lang="zh-CN" altLang="en-US" sz="2000" i="0" baseline="0" dirty="0">
                <a:solidFill>
                  <a:srgbClr val="7F7F7F"/>
                </a:solidFill>
                <a:uFillTx/>
                <a:latin typeface="黑体" panose="02010609060101010101" charset="-122"/>
                <a:ea typeface="黑体" panose="02010609060101010101" charset="-122"/>
                <a:cs typeface="黑体" panose="02010609060101010101" charset="-122"/>
                <a:sym typeface="+mn-lt"/>
              </a:rPr>
              <a:t>去甲肾上腺素参与体温、摄食调节，有助于觉醒的维持。去甲肾上腺素异常是双相情感障碍的状态标记。</a:t>
            </a:r>
            <a:endParaRPr kumimoji="0" lang="zh-CN" altLang="en-US" sz="20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a:p>
            <a:pPr indent="457200" fontAlgn="auto">
              <a:lnSpc>
                <a:spcPct val="130000"/>
              </a:lnSpc>
              <a:spcBef>
                <a:spcPts val="1100"/>
              </a:spcBef>
              <a:defRPr/>
            </a:pPr>
            <a:endParaRPr kumimoji="0" lang="zh-CN" altLang="en-US" sz="20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custDataLst>
              <p:tags r:id="rId1"/>
            </p:custDataLst>
          </p:nvPr>
        </p:nvGrpSpPr>
        <p:grpSpPr>
          <a:xfrm>
            <a:off x="603416" y="1202531"/>
            <a:ext cx="533348" cy="533346"/>
            <a:chOff x="1716240" y="3498056"/>
            <a:chExt cx="533348" cy="533346"/>
          </a:xfrm>
        </p:grpSpPr>
        <p:sp>
          <p:nvSpPr>
            <p:cNvPr id="8" name="椭圆 7"/>
            <p:cNvSpPr/>
            <p:nvPr/>
          </p:nvSpPr>
          <p:spPr>
            <a:xfrm>
              <a:off x="1716240" y="3498056"/>
              <a:ext cx="533348" cy="533346"/>
            </a:xfrm>
            <a:prstGeom prst="ellipse">
              <a:avLst/>
            </a:prstGeom>
            <a:solidFill>
              <a:srgbClr val="96C0E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11" name="椭圆 23"/>
            <p:cNvSpPr/>
            <p:nvPr/>
          </p:nvSpPr>
          <p:spPr>
            <a:xfrm>
              <a:off x="1823397" y="3639516"/>
              <a:ext cx="319034" cy="250425"/>
            </a:xfrm>
            <a:custGeom>
              <a:avLst/>
              <a:gdLst>
                <a:gd name="connsiteX0" fmla="*/ 315239 w 606721"/>
                <a:gd name="connsiteY0" fmla="*/ 351824 h 476246"/>
                <a:gd name="connsiteX1" fmla="*/ 315239 w 606721"/>
                <a:gd name="connsiteY1" fmla="*/ 369957 h 476246"/>
                <a:gd name="connsiteX2" fmla="*/ 533394 w 606721"/>
                <a:gd name="connsiteY2" fmla="*/ 369957 h 476246"/>
                <a:gd name="connsiteX3" fmla="*/ 533394 w 606721"/>
                <a:gd name="connsiteY3" fmla="*/ 351824 h 476246"/>
                <a:gd name="connsiteX4" fmla="*/ 88066 w 606721"/>
                <a:gd name="connsiteY4" fmla="*/ 264832 h 476246"/>
                <a:gd name="connsiteX5" fmla="*/ 183188 w 606721"/>
                <a:gd name="connsiteY5" fmla="*/ 264832 h 476246"/>
                <a:gd name="connsiteX6" fmla="*/ 183188 w 606721"/>
                <a:gd name="connsiteY6" fmla="*/ 359813 h 476246"/>
                <a:gd name="connsiteX7" fmla="*/ 88066 w 606721"/>
                <a:gd name="connsiteY7" fmla="*/ 359813 h 476246"/>
                <a:gd name="connsiteX8" fmla="*/ 315239 w 606721"/>
                <a:gd name="connsiteY8" fmla="*/ 261160 h 476246"/>
                <a:gd name="connsiteX9" fmla="*/ 315239 w 606721"/>
                <a:gd name="connsiteY9" fmla="*/ 279293 h 476246"/>
                <a:gd name="connsiteX10" fmla="*/ 533394 w 606721"/>
                <a:gd name="connsiteY10" fmla="*/ 279293 h 476246"/>
                <a:gd name="connsiteX11" fmla="*/ 533394 w 606721"/>
                <a:gd name="connsiteY11" fmla="*/ 261160 h 476246"/>
                <a:gd name="connsiteX12" fmla="*/ 69901 w 606721"/>
                <a:gd name="connsiteY12" fmla="*/ 246676 h 476246"/>
                <a:gd name="connsiteX13" fmla="*/ 69901 w 606721"/>
                <a:gd name="connsiteY13" fmla="*/ 377940 h 476246"/>
                <a:gd name="connsiteX14" fmla="*/ 201365 w 606721"/>
                <a:gd name="connsiteY14" fmla="*/ 377940 h 476246"/>
                <a:gd name="connsiteX15" fmla="*/ 201365 w 606721"/>
                <a:gd name="connsiteY15" fmla="*/ 246676 h 476246"/>
                <a:gd name="connsiteX16" fmla="*/ 315239 w 606721"/>
                <a:gd name="connsiteY16" fmla="*/ 170381 h 476246"/>
                <a:gd name="connsiteX17" fmla="*/ 315239 w 606721"/>
                <a:gd name="connsiteY17" fmla="*/ 188514 h 476246"/>
                <a:gd name="connsiteX18" fmla="*/ 533394 w 606721"/>
                <a:gd name="connsiteY18" fmla="*/ 188514 h 476246"/>
                <a:gd name="connsiteX19" fmla="*/ 533394 w 606721"/>
                <a:gd name="connsiteY19" fmla="*/ 170381 h 476246"/>
                <a:gd name="connsiteX20" fmla="*/ 135627 w 606721"/>
                <a:gd name="connsiteY20" fmla="*/ 97874 h 476246"/>
                <a:gd name="connsiteX21" fmla="*/ 183188 w 606721"/>
                <a:gd name="connsiteY21" fmla="*/ 145294 h 476246"/>
                <a:gd name="connsiteX22" fmla="*/ 135627 w 606721"/>
                <a:gd name="connsiteY22" fmla="*/ 192714 h 476246"/>
                <a:gd name="connsiteX23" fmla="*/ 88066 w 606721"/>
                <a:gd name="connsiteY23" fmla="*/ 145294 h 476246"/>
                <a:gd name="connsiteX24" fmla="*/ 135627 w 606721"/>
                <a:gd name="connsiteY24" fmla="*/ 97874 h 476246"/>
                <a:gd name="connsiteX25" fmla="*/ 315239 w 606721"/>
                <a:gd name="connsiteY25" fmla="*/ 79716 h 476246"/>
                <a:gd name="connsiteX26" fmla="*/ 315239 w 606721"/>
                <a:gd name="connsiteY26" fmla="*/ 97849 h 476246"/>
                <a:gd name="connsiteX27" fmla="*/ 533394 w 606721"/>
                <a:gd name="connsiteY27" fmla="*/ 97849 h 476246"/>
                <a:gd name="connsiteX28" fmla="*/ 533394 w 606721"/>
                <a:gd name="connsiteY28" fmla="*/ 79716 h 476246"/>
                <a:gd name="connsiteX29" fmla="*/ 135690 w 606721"/>
                <a:gd name="connsiteY29" fmla="*/ 79602 h 476246"/>
                <a:gd name="connsiteX30" fmla="*/ 69901 w 606721"/>
                <a:gd name="connsiteY30" fmla="*/ 145292 h 476246"/>
                <a:gd name="connsiteX31" fmla="*/ 135690 w 606721"/>
                <a:gd name="connsiteY31" fmla="*/ 210867 h 476246"/>
                <a:gd name="connsiteX32" fmla="*/ 201365 w 606721"/>
                <a:gd name="connsiteY32" fmla="*/ 145292 h 476246"/>
                <a:gd name="connsiteX33" fmla="*/ 135690 w 606721"/>
                <a:gd name="connsiteY33" fmla="*/ 79602 h 476246"/>
                <a:gd name="connsiteX34" fmla="*/ 0 w 606721"/>
                <a:gd name="connsiteY34" fmla="*/ 0 h 476246"/>
                <a:gd name="connsiteX35" fmla="*/ 606721 w 606721"/>
                <a:gd name="connsiteY35" fmla="*/ 0 h 476246"/>
                <a:gd name="connsiteX36" fmla="*/ 606721 w 606721"/>
                <a:gd name="connsiteY36" fmla="*/ 476246 h 476246"/>
                <a:gd name="connsiteX37" fmla="*/ 0 w 606721"/>
                <a:gd name="connsiteY37" fmla="*/ 476246 h 476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6721" h="476246">
                  <a:moveTo>
                    <a:pt x="315239" y="351824"/>
                  </a:moveTo>
                  <a:lnTo>
                    <a:pt x="315239" y="369957"/>
                  </a:lnTo>
                  <a:lnTo>
                    <a:pt x="533394" y="369957"/>
                  </a:lnTo>
                  <a:lnTo>
                    <a:pt x="533394" y="351824"/>
                  </a:lnTo>
                  <a:close/>
                  <a:moveTo>
                    <a:pt x="88066" y="264832"/>
                  </a:moveTo>
                  <a:lnTo>
                    <a:pt x="183188" y="264832"/>
                  </a:lnTo>
                  <a:lnTo>
                    <a:pt x="183188" y="359813"/>
                  </a:lnTo>
                  <a:lnTo>
                    <a:pt x="88066" y="359813"/>
                  </a:lnTo>
                  <a:close/>
                  <a:moveTo>
                    <a:pt x="315239" y="261160"/>
                  </a:moveTo>
                  <a:lnTo>
                    <a:pt x="315239" y="279293"/>
                  </a:lnTo>
                  <a:lnTo>
                    <a:pt x="533394" y="279293"/>
                  </a:lnTo>
                  <a:lnTo>
                    <a:pt x="533394" y="261160"/>
                  </a:lnTo>
                  <a:close/>
                  <a:moveTo>
                    <a:pt x="69901" y="246676"/>
                  </a:moveTo>
                  <a:lnTo>
                    <a:pt x="69901" y="377940"/>
                  </a:lnTo>
                  <a:lnTo>
                    <a:pt x="201365" y="377940"/>
                  </a:lnTo>
                  <a:lnTo>
                    <a:pt x="201365" y="246676"/>
                  </a:lnTo>
                  <a:close/>
                  <a:moveTo>
                    <a:pt x="315239" y="170381"/>
                  </a:moveTo>
                  <a:lnTo>
                    <a:pt x="315239" y="188514"/>
                  </a:lnTo>
                  <a:lnTo>
                    <a:pt x="533394" y="188514"/>
                  </a:lnTo>
                  <a:lnTo>
                    <a:pt x="533394" y="170381"/>
                  </a:lnTo>
                  <a:close/>
                  <a:moveTo>
                    <a:pt x="135627" y="97874"/>
                  </a:moveTo>
                  <a:cubicBezTo>
                    <a:pt x="161894" y="97874"/>
                    <a:pt x="183188" y="119105"/>
                    <a:pt x="183188" y="145294"/>
                  </a:cubicBezTo>
                  <a:cubicBezTo>
                    <a:pt x="183188" y="171483"/>
                    <a:pt x="161894" y="192714"/>
                    <a:pt x="135627" y="192714"/>
                  </a:cubicBezTo>
                  <a:cubicBezTo>
                    <a:pt x="109360" y="192714"/>
                    <a:pt x="88066" y="171483"/>
                    <a:pt x="88066" y="145294"/>
                  </a:cubicBezTo>
                  <a:cubicBezTo>
                    <a:pt x="88066" y="119105"/>
                    <a:pt x="109360" y="97874"/>
                    <a:pt x="135627" y="97874"/>
                  </a:cubicBezTo>
                  <a:close/>
                  <a:moveTo>
                    <a:pt x="315239" y="79716"/>
                  </a:moveTo>
                  <a:lnTo>
                    <a:pt x="315239" y="97849"/>
                  </a:lnTo>
                  <a:lnTo>
                    <a:pt x="533394" y="97849"/>
                  </a:lnTo>
                  <a:lnTo>
                    <a:pt x="533394" y="79716"/>
                  </a:lnTo>
                  <a:close/>
                  <a:moveTo>
                    <a:pt x="135690" y="79602"/>
                  </a:moveTo>
                  <a:cubicBezTo>
                    <a:pt x="99369" y="79602"/>
                    <a:pt x="69901" y="109140"/>
                    <a:pt x="69901" y="145292"/>
                  </a:cubicBezTo>
                  <a:cubicBezTo>
                    <a:pt x="69901" y="181443"/>
                    <a:pt x="99369" y="210867"/>
                    <a:pt x="135690" y="210867"/>
                  </a:cubicBezTo>
                  <a:cubicBezTo>
                    <a:pt x="171897" y="210867"/>
                    <a:pt x="201365" y="181443"/>
                    <a:pt x="201365" y="145292"/>
                  </a:cubicBezTo>
                  <a:cubicBezTo>
                    <a:pt x="201365" y="109140"/>
                    <a:pt x="171897" y="79602"/>
                    <a:pt x="135690" y="79602"/>
                  </a:cubicBezTo>
                  <a:close/>
                  <a:moveTo>
                    <a:pt x="0" y="0"/>
                  </a:moveTo>
                  <a:lnTo>
                    <a:pt x="606721" y="0"/>
                  </a:lnTo>
                  <a:lnTo>
                    <a:pt x="606721" y="476246"/>
                  </a:lnTo>
                  <a:lnTo>
                    <a:pt x="0" y="476246"/>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grpSp>
      <p:grpSp>
        <p:nvGrpSpPr>
          <p:cNvPr id="25" name="组合 24"/>
          <p:cNvGrpSpPr/>
          <p:nvPr/>
        </p:nvGrpSpPr>
        <p:grpSpPr>
          <a:xfrm>
            <a:off x="334963" y="455941"/>
            <a:ext cx="4243283" cy="601052"/>
            <a:chOff x="334963" y="455941"/>
            <a:chExt cx="4243283" cy="601052"/>
          </a:xfrm>
        </p:grpSpPr>
        <p:grpSp>
          <p:nvGrpSpPr>
            <p:cNvPr id="20" name="组合 19"/>
            <p:cNvGrpSpPr/>
            <p:nvPr/>
          </p:nvGrpSpPr>
          <p:grpSpPr>
            <a:xfrm>
              <a:off x="603091" y="455941"/>
              <a:ext cx="3975155" cy="601052"/>
              <a:chOff x="603091" y="455941"/>
              <a:chExt cx="3975155" cy="601052"/>
            </a:xfrm>
          </p:grpSpPr>
          <p:sp>
            <p:nvSpPr>
              <p:cNvPr id="26" name="文本框 25"/>
              <p:cNvSpPr txBox="1"/>
              <p:nvPr/>
            </p:nvSpPr>
            <p:spPr>
              <a:xfrm>
                <a:off x="603091" y="455941"/>
                <a:ext cx="2926080" cy="459105"/>
              </a:xfrm>
              <a:prstGeom prst="rect">
                <a:avLst/>
              </a:prstGeom>
              <a:noFill/>
            </p:spPr>
            <p:txBody>
              <a:bodyPr wrap="none" rtlCol="0">
                <a:noAutofit/>
              </a:bodyPr>
              <a:p>
                <a:pPr algn="l"/>
                <a:r>
                  <a:rPr lang="zh-CN" altLang="en-US" sz="2400" b="1" dirty="0">
                    <a:solidFill>
                      <a:srgbClr val="7188A8"/>
                    </a:solidFill>
                    <a:cs typeface="+mn-ea"/>
                    <a:sym typeface="+mn-lt"/>
                  </a:rPr>
                  <a:t>双相情感障碍的病</a:t>
                </a:r>
                <a:r>
                  <a:rPr lang="zh-CN" altLang="en-US" sz="2400" b="1" dirty="0">
                    <a:solidFill>
                      <a:srgbClr val="7188A8"/>
                    </a:solidFill>
                    <a:cs typeface="+mn-ea"/>
                    <a:sym typeface="+mn-lt"/>
                  </a:rPr>
                  <a:t>理</a:t>
                </a:r>
                <a:endParaRPr lang="zh-CN" altLang="en-US" sz="2400" b="1" dirty="0">
                  <a:solidFill>
                    <a:srgbClr val="7188A8"/>
                  </a:solidFill>
                  <a:cs typeface="+mn-ea"/>
                  <a:sym typeface="+mn-lt"/>
                </a:endParaRPr>
              </a:p>
            </p:txBody>
          </p:sp>
          <p:sp>
            <p:nvSpPr>
              <p:cNvPr id="27" name="矩形 26"/>
              <p:cNvSpPr/>
              <p:nvPr/>
            </p:nvSpPr>
            <p:spPr>
              <a:xfrm>
                <a:off x="610102" y="804263"/>
                <a:ext cx="3968144" cy="252730"/>
              </a:xfrm>
              <a:prstGeom prst="rect">
                <a:avLst/>
              </a:prstGeom>
            </p:spPr>
            <p:txBody>
              <a:bodyPr wrap="square">
                <a:spAutoFit/>
              </a:bodyPr>
              <a:p>
                <a:r>
                  <a:rPr lang="en-US" altLang="zh-CN" sz="1050" dirty="0">
                    <a:solidFill>
                      <a:schemeClr val="bg1">
                        <a:lumMod val="50000"/>
                      </a:schemeClr>
                    </a:solidFill>
                  </a:rPr>
                  <a:t>Pathology of bipolar disorder</a:t>
                </a:r>
                <a:endParaRPr lang="en-US" altLang="zh-CN" sz="1050" dirty="0">
                  <a:solidFill>
                    <a:schemeClr val="bg1">
                      <a:lumMod val="50000"/>
                    </a:schemeClr>
                  </a:solidFill>
                </a:endParaRPr>
              </a:p>
            </p:txBody>
          </p:sp>
        </p:grpSp>
        <p:sp>
          <p:nvSpPr>
            <p:cNvPr id="28" name="矩形 27"/>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65" name="文本框 64"/>
          <p:cNvSpPr txBox="1"/>
          <p:nvPr/>
        </p:nvSpPr>
        <p:spPr>
          <a:xfrm>
            <a:off x="1162685" y="1204595"/>
            <a:ext cx="6096000" cy="531495"/>
          </a:xfrm>
          <a:prstGeom prst="rect">
            <a:avLst/>
          </a:prstGeom>
          <a:noFill/>
        </p:spPr>
        <p:txBody>
          <a:bodyPr wrap="square" rtlCol="0" anchor="t">
            <a:noAutofit/>
          </a:bodyPr>
          <a:p>
            <a:r>
              <a:rPr lang="zh-CN" altLang="en-US" sz="2400" b="1" noProof="0" dirty="0">
                <a:solidFill>
                  <a:srgbClr val="7188A8"/>
                </a:solidFill>
                <a:latin typeface="思源黑体 CN Bold" panose="020B0800000000000000" pitchFamily="34" charset="-122"/>
                <a:ea typeface="思源黑体 CN Bold" panose="020B0800000000000000" pitchFamily="34" charset="-122"/>
                <a:sym typeface="+mn-ea"/>
              </a:rPr>
              <a:t>生物学因素</a:t>
            </a:r>
            <a:r>
              <a:rPr lang="en-US" altLang="zh-CN" sz="2400" b="1" noProof="0" dirty="0">
                <a:solidFill>
                  <a:srgbClr val="7188A8"/>
                </a:solidFill>
                <a:latin typeface="思源黑体 CN Bold" panose="020B0800000000000000" pitchFamily="34" charset="-122"/>
                <a:ea typeface="思源黑体 CN Bold" panose="020B0800000000000000" pitchFamily="34" charset="-122"/>
                <a:sym typeface="+mn-ea"/>
              </a:rPr>
              <a:t> - </a:t>
            </a:r>
            <a:r>
              <a:rPr lang="zh-CN" altLang="en-US" sz="2400" b="1" dirty="0">
                <a:solidFill>
                  <a:srgbClr val="7488A8"/>
                </a:solidFill>
                <a:uFillTx/>
                <a:latin typeface="黑体" panose="02010609060101010101" charset="-122"/>
                <a:ea typeface="黑体" panose="02010609060101010101" charset="-122"/>
                <a:cs typeface="黑体" panose="02010609060101010101" charset="-122"/>
                <a:sym typeface="+mn-lt"/>
              </a:rPr>
              <a:t>神经递质</a:t>
            </a:r>
            <a:endParaRPr lang="en-US" altLang="zh-CN" sz="2400" b="1" noProof="0" dirty="0">
              <a:solidFill>
                <a:srgbClr val="7188A8"/>
              </a:solidFill>
              <a:latin typeface="思源黑体 CN Bold" panose="020B0800000000000000" pitchFamily="34" charset="-122"/>
              <a:ea typeface="思源黑体 CN Bold" panose="020B0800000000000000" pitchFamily="34" charset="-122"/>
              <a:sym typeface="+mn-ea"/>
            </a:endParaRPr>
          </a:p>
          <a:p>
            <a:endParaRPr lang="zh-CN" altLang="en-US" sz="2400" b="1" noProof="0" dirty="0">
              <a:solidFill>
                <a:srgbClr val="7188A8"/>
              </a:solidFill>
              <a:latin typeface="思源黑体 CN Bold" panose="020B0800000000000000" pitchFamily="34" charset="-122"/>
              <a:ea typeface="思源黑体 CN Bold" panose="020B0800000000000000" pitchFamily="34" charset="-122"/>
              <a:sym typeface="+mn-ea"/>
            </a:endParaRPr>
          </a:p>
        </p:txBody>
      </p:sp>
      <p:sp>
        <p:nvSpPr>
          <p:cNvPr id="67" name="文本框2"/>
          <p:cNvSpPr/>
          <p:nvPr>
            <p:custDataLst>
              <p:tags r:id="rId2"/>
            </p:custDataLst>
          </p:nvPr>
        </p:nvSpPr>
        <p:spPr>
          <a:xfrm>
            <a:off x="699135" y="1747520"/>
            <a:ext cx="10598150" cy="3836035"/>
          </a:xfrm>
          <a:prstGeom prst="rect">
            <a:avLst/>
          </a:prstGeom>
        </p:spPr>
        <p:txBody>
          <a:bodyPr wrap="square">
            <a:spAutoFit/>
          </a:bodyPr>
          <a:p>
            <a:pPr indent="457200" fontAlgn="auto">
              <a:lnSpc>
                <a:spcPct val="130000"/>
              </a:lnSpc>
              <a:spcBef>
                <a:spcPts val="1100"/>
              </a:spcBef>
              <a:defRPr/>
            </a:pP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多巴胺（DA）</a:t>
            </a:r>
            <a:endPar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endParaRPr>
          </a:p>
          <a:p>
            <a:pPr indent="457200" algn="l" fontAlgn="auto">
              <a:lnSpc>
                <a:spcPct val="130000"/>
              </a:lnSpc>
              <a:spcBef>
                <a:spcPts val="1100"/>
              </a:spcBef>
              <a:buClrTx/>
              <a:buSzTx/>
              <a:buFontTx/>
              <a:defRPr/>
            </a:pPr>
            <a:r>
              <a:rPr kumimoji="0" lang="zh-CN" altLang="en-US" sz="2000" i="0" baseline="0" dirty="0">
                <a:solidFill>
                  <a:srgbClr val="7F7F7F"/>
                </a:solidFill>
                <a:uFillTx/>
                <a:latin typeface="黑体" panose="02010609060101010101" charset="-122"/>
                <a:ea typeface="黑体" panose="02010609060101010101" charset="-122"/>
                <a:cs typeface="黑体" panose="02010609060101010101" charset="-122"/>
                <a:sym typeface="+mn-lt"/>
              </a:rPr>
              <a:t>抑郁患者脑内的DA功能降低，躁狂发作时DA功能增高。</a:t>
            </a:r>
            <a:endParaRPr kumimoji="0" lang="zh-CN" altLang="en-US" sz="20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a:p>
            <a:pPr indent="457200" fontAlgn="auto">
              <a:lnSpc>
                <a:spcPct val="130000"/>
              </a:lnSpc>
              <a:spcBef>
                <a:spcPts val="1100"/>
              </a:spcBef>
              <a:defRPr/>
            </a:pP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乙酰胆碱（Ach）</a:t>
            </a:r>
            <a:endPar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endParaRPr>
          </a:p>
          <a:p>
            <a:pPr indent="457200" algn="l" fontAlgn="auto">
              <a:lnSpc>
                <a:spcPct val="130000"/>
              </a:lnSpc>
              <a:spcBef>
                <a:spcPts val="1100"/>
              </a:spcBef>
              <a:buClrTx/>
              <a:buSzTx/>
              <a:buFontTx/>
              <a:defRPr/>
            </a:pPr>
            <a:r>
              <a:rPr kumimoji="0" lang="zh-CN" altLang="en-US" sz="2000" i="0" baseline="0" dirty="0">
                <a:solidFill>
                  <a:srgbClr val="7F7F7F"/>
                </a:solidFill>
                <a:uFillTx/>
                <a:latin typeface="黑体" panose="02010609060101010101" charset="-122"/>
                <a:ea typeface="黑体" panose="02010609060101010101" charset="-122"/>
                <a:cs typeface="黑体" panose="02010609060101010101" charset="-122"/>
                <a:sym typeface="+mn-lt"/>
              </a:rPr>
              <a:t>Ach与NE存在平衡。Ach能升高则神经元过度活动，Ach能降低则可能导致抑郁。</a:t>
            </a:r>
            <a:endParaRPr kumimoji="0" lang="zh-CN" altLang="en-US" sz="20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a:p>
            <a:pPr indent="457200" fontAlgn="auto">
              <a:lnSpc>
                <a:spcPct val="130000"/>
              </a:lnSpc>
              <a:spcBef>
                <a:spcPts val="1100"/>
              </a:spcBef>
              <a:defRPr/>
            </a:pP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谷氨酸（Glu）</a:t>
            </a:r>
            <a:endPar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endParaRPr>
          </a:p>
          <a:p>
            <a:pPr indent="457200" algn="l" fontAlgn="auto">
              <a:lnSpc>
                <a:spcPct val="130000"/>
              </a:lnSpc>
              <a:spcBef>
                <a:spcPts val="1100"/>
              </a:spcBef>
              <a:buClrTx/>
              <a:buSzTx/>
              <a:buFontTx/>
              <a:defRPr/>
            </a:pPr>
            <a:r>
              <a:rPr kumimoji="0" lang="zh-CN" altLang="en-US" sz="2000" i="0" baseline="0" dirty="0">
                <a:solidFill>
                  <a:srgbClr val="7F7F7F"/>
                </a:solidFill>
                <a:uFillTx/>
                <a:latin typeface="黑体" panose="02010609060101010101" charset="-122"/>
                <a:ea typeface="黑体" panose="02010609060101010101" charset="-122"/>
                <a:cs typeface="黑体" panose="02010609060101010101" charset="-122"/>
                <a:sym typeface="+mn-lt"/>
              </a:rPr>
              <a:t>中枢神经系统中的谷氨酸是中枢神经系统中主要的兴奋性氨基酸。双相情感障碍患者谷氨酸能系统异常，儿童与青少年双相未治疗患者脑内的谷氨酸水平明显低于已治疗患者和健康者。</a:t>
            </a:r>
            <a:endParaRPr kumimoji="0" lang="zh-CN" altLang="en-US" sz="20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custDataLst>
              <p:tags r:id="rId1"/>
            </p:custDataLst>
          </p:nvPr>
        </p:nvGrpSpPr>
        <p:grpSpPr>
          <a:xfrm>
            <a:off x="603416" y="1202531"/>
            <a:ext cx="533348" cy="533346"/>
            <a:chOff x="1716240" y="3498056"/>
            <a:chExt cx="533348" cy="533346"/>
          </a:xfrm>
        </p:grpSpPr>
        <p:sp>
          <p:nvSpPr>
            <p:cNvPr id="8" name="椭圆 7"/>
            <p:cNvSpPr/>
            <p:nvPr/>
          </p:nvSpPr>
          <p:spPr>
            <a:xfrm>
              <a:off x="1716240" y="3498056"/>
              <a:ext cx="533348" cy="533346"/>
            </a:xfrm>
            <a:prstGeom prst="ellipse">
              <a:avLst/>
            </a:prstGeom>
            <a:solidFill>
              <a:srgbClr val="96C0E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11" name="椭圆 23"/>
            <p:cNvSpPr/>
            <p:nvPr/>
          </p:nvSpPr>
          <p:spPr>
            <a:xfrm>
              <a:off x="1823397" y="3639516"/>
              <a:ext cx="319034" cy="250425"/>
            </a:xfrm>
            <a:custGeom>
              <a:avLst/>
              <a:gdLst>
                <a:gd name="connsiteX0" fmla="*/ 315239 w 606721"/>
                <a:gd name="connsiteY0" fmla="*/ 351824 h 476246"/>
                <a:gd name="connsiteX1" fmla="*/ 315239 w 606721"/>
                <a:gd name="connsiteY1" fmla="*/ 369957 h 476246"/>
                <a:gd name="connsiteX2" fmla="*/ 533394 w 606721"/>
                <a:gd name="connsiteY2" fmla="*/ 369957 h 476246"/>
                <a:gd name="connsiteX3" fmla="*/ 533394 w 606721"/>
                <a:gd name="connsiteY3" fmla="*/ 351824 h 476246"/>
                <a:gd name="connsiteX4" fmla="*/ 88066 w 606721"/>
                <a:gd name="connsiteY4" fmla="*/ 264832 h 476246"/>
                <a:gd name="connsiteX5" fmla="*/ 183188 w 606721"/>
                <a:gd name="connsiteY5" fmla="*/ 264832 h 476246"/>
                <a:gd name="connsiteX6" fmla="*/ 183188 w 606721"/>
                <a:gd name="connsiteY6" fmla="*/ 359813 h 476246"/>
                <a:gd name="connsiteX7" fmla="*/ 88066 w 606721"/>
                <a:gd name="connsiteY7" fmla="*/ 359813 h 476246"/>
                <a:gd name="connsiteX8" fmla="*/ 315239 w 606721"/>
                <a:gd name="connsiteY8" fmla="*/ 261160 h 476246"/>
                <a:gd name="connsiteX9" fmla="*/ 315239 w 606721"/>
                <a:gd name="connsiteY9" fmla="*/ 279293 h 476246"/>
                <a:gd name="connsiteX10" fmla="*/ 533394 w 606721"/>
                <a:gd name="connsiteY10" fmla="*/ 279293 h 476246"/>
                <a:gd name="connsiteX11" fmla="*/ 533394 w 606721"/>
                <a:gd name="connsiteY11" fmla="*/ 261160 h 476246"/>
                <a:gd name="connsiteX12" fmla="*/ 69901 w 606721"/>
                <a:gd name="connsiteY12" fmla="*/ 246676 h 476246"/>
                <a:gd name="connsiteX13" fmla="*/ 69901 w 606721"/>
                <a:gd name="connsiteY13" fmla="*/ 377940 h 476246"/>
                <a:gd name="connsiteX14" fmla="*/ 201365 w 606721"/>
                <a:gd name="connsiteY14" fmla="*/ 377940 h 476246"/>
                <a:gd name="connsiteX15" fmla="*/ 201365 w 606721"/>
                <a:gd name="connsiteY15" fmla="*/ 246676 h 476246"/>
                <a:gd name="connsiteX16" fmla="*/ 315239 w 606721"/>
                <a:gd name="connsiteY16" fmla="*/ 170381 h 476246"/>
                <a:gd name="connsiteX17" fmla="*/ 315239 w 606721"/>
                <a:gd name="connsiteY17" fmla="*/ 188514 h 476246"/>
                <a:gd name="connsiteX18" fmla="*/ 533394 w 606721"/>
                <a:gd name="connsiteY18" fmla="*/ 188514 h 476246"/>
                <a:gd name="connsiteX19" fmla="*/ 533394 w 606721"/>
                <a:gd name="connsiteY19" fmla="*/ 170381 h 476246"/>
                <a:gd name="connsiteX20" fmla="*/ 135627 w 606721"/>
                <a:gd name="connsiteY20" fmla="*/ 97874 h 476246"/>
                <a:gd name="connsiteX21" fmla="*/ 183188 w 606721"/>
                <a:gd name="connsiteY21" fmla="*/ 145294 h 476246"/>
                <a:gd name="connsiteX22" fmla="*/ 135627 w 606721"/>
                <a:gd name="connsiteY22" fmla="*/ 192714 h 476246"/>
                <a:gd name="connsiteX23" fmla="*/ 88066 w 606721"/>
                <a:gd name="connsiteY23" fmla="*/ 145294 h 476246"/>
                <a:gd name="connsiteX24" fmla="*/ 135627 w 606721"/>
                <a:gd name="connsiteY24" fmla="*/ 97874 h 476246"/>
                <a:gd name="connsiteX25" fmla="*/ 315239 w 606721"/>
                <a:gd name="connsiteY25" fmla="*/ 79716 h 476246"/>
                <a:gd name="connsiteX26" fmla="*/ 315239 w 606721"/>
                <a:gd name="connsiteY26" fmla="*/ 97849 h 476246"/>
                <a:gd name="connsiteX27" fmla="*/ 533394 w 606721"/>
                <a:gd name="connsiteY27" fmla="*/ 97849 h 476246"/>
                <a:gd name="connsiteX28" fmla="*/ 533394 w 606721"/>
                <a:gd name="connsiteY28" fmla="*/ 79716 h 476246"/>
                <a:gd name="connsiteX29" fmla="*/ 135690 w 606721"/>
                <a:gd name="connsiteY29" fmla="*/ 79602 h 476246"/>
                <a:gd name="connsiteX30" fmla="*/ 69901 w 606721"/>
                <a:gd name="connsiteY30" fmla="*/ 145292 h 476246"/>
                <a:gd name="connsiteX31" fmla="*/ 135690 w 606721"/>
                <a:gd name="connsiteY31" fmla="*/ 210867 h 476246"/>
                <a:gd name="connsiteX32" fmla="*/ 201365 w 606721"/>
                <a:gd name="connsiteY32" fmla="*/ 145292 h 476246"/>
                <a:gd name="connsiteX33" fmla="*/ 135690 w 606721"/>
                <a:gd name="connsiteY33" fmla="*/ 79602 h 476246"/>
                <a:gd name="connsiteX34" fmla="*/ 0 w 606721"/>
                <a:gd name="connsiteY34" fmla="*/ 0 h 476246"/>
                <a:gd name="connsiteX35" fmla="*/ 606721 w 606721"/>
                <a:gd name="connsiteY35" fmla="*/ 0 h 476246"/>
                <a:gd name="connsiteX36" fmla="*/ 606721 w 606721"/>
                <a:gd name="connsiteY36" fmla="*/ 476246 h 476246"/>
                <a:gd name="connsiteX37" fmla="*/ 0 w 606721"/>
                <a:gd name="connsiteY37" fmla="*/ 476246 h 476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6721" h="476246">
                  <a:moveTo>
                    <a:pt x="315239" y="351824"/>
                  </a:moveTo>
                  <a:lnTo>
                    <a:pt x="315239" y="369957"/>
                  </a:lnTo>
                  <a:lnTo>
                    <a:pt x="533394" y="369957"/>
                  </a:lnTo>
                  <a:lnTo>
                    <a:pt x="533394" y="351824"/>
                  </a:lnTo>
                  <a:close/>
                  <a:moveTo>
                    <a:pt x="88066" y="264832"/>
                  </a:moveTo>
                  <a:lnTo>
                    <a:pt x="183188" y="264832"/>
                  </a:lnTo>
                  <a:lnTo>
                    <a:pt x="183188" y="359813"/>
                  </a:lnTo>
                  <a:lnTo>
                    <a:pt x="88066" y="359813"/>
                  </a:lnTo>
                  <a:close/>
                  <a:moveTo>
                    <a:pt x="315239" y="261160"/>
                  </a:moveTo>
                  <a:lnTo>
                    <a:pt x="315239" y="279293"/>
                  </a:lnTo>
                  <a:lnTo>
                    <a:pt x="533394" y="279293"/>
                  </a:lnTo>
                  <a:lnTo>
                    <a:pt x="533394" y="261160"/>
                  </a:lnTo>
                  <a:close/>
                  <a:moveTo>
                    <a:pt x="69901" y="246676"/>
                  </a:moveTo>
                  <a:lnTo>
                    <a:pt x="69901" y="377940"/>
                  </a:lnTo>
                  <a:lnTo>
                    <a:pt x="201365" y="377940"/>
                  </a:lnTo>
                  <a:lnTo>
                    <a:pt x="201365" y="246676"/>
                  </a:lnTo>
                  <a:close/>
                  <a:moveTo>
                    <a:pt x="315239" y="170381"/>
                  </a:moveTo>
                  <a:lnTo>
                    <a:pt x="315239" y="188514"/>
                  </a:lnTo>
                  <a:lnTo>
                    <a:pt x="533394" y="188514"/>
                  </a:lnTo>
                  <a:lnTo>
                    <a:pt x="533394" y="170381"/>
                  </a:lnTo>
                  <a:close/>
                  <a:moveTo>
                    <a:pt x="135627" y="97874"/>
                  </a:moveTo>
                  <a:cubicBezTo>
                    <a:pt x="161894" y="97874"/>
                    <a:pt x="183188" y="119105"/>
                    <a:pt x="183188" y="145294"/>
                  </a:cubicBezTo>
                  <a:cubicBezTo>
                    <a:pt x="183188" y="171483"/>
                    <a:pt x="161894" y="192714"/>
                    <a:pt x="135627" y="192714"/>
                  </a:cubicBezTo>
                  <a:cubicBezTo>
                    <a:pt x="109360" y="192714"/>
                    <a:pt x="88066" y="171483"/>
                    <a:pt x="88066" y="145294"/>
                  </a:cubicBezTo>
                  <a:cubicBezTo>
                    <a:pt x="88066" y="119105"/>
                    <a:pt x="109360" y="97874"/>
                    <a:pt x="135627" y="97874"/>
                  </a:cubicBezTo>
                  <a:close/>
                  <a:moveTo>
                    <a:pt x="315239" y="79716"/>
                  </a:moveTo>
                  <a:lnTo>
                    <a:pt x="315239" y="97849"/>
                  </a:lnTo>
                  <a:lnTo>
                    <a:pt x="533394" y="97849"/>
                  </a:lnTo>
                  <a:lnTo>
                    <a:pt x="533394" y="79716"/>
                  </a:lnTo>
                  <a:close/>
                  <a:moveTo>
                    <a:pt x="135690" y="79602"/>
                  </a:moveTo>
                  <a:cubicBezTo>
                    <a:pt x="99369" y="79602"/>
                    <a:pt x="69901" y="109140"/>
                    <a:pt x="69901" y="145292"/>
                  </a:cubicBezTo>
                  <a:cubicBezTo>
                    <a:pt x="69901" y="181443"/>
                    <a:pt x="99369" y="210867"/>
                    <a:pt x="135690" y="210867"/>
                  </a:cubicBezTo>
                  <a:cubicBezTo>
                    <a:pt x="171897" y="210867"/>
                    <a:pt x="201365" y="181443"/>
                    <a:pt x="201365" y="145292"/>
                  </a:cubicBezTo>
                  <a:cubicBezTo>
                    <a:pt x="201365" y="109140"/>
                    <a:pt x="171897" y="79602"/>
                    <a:pt x="135690" y="79602"/>
                  </a:cubicBezTo>
                  <a:close/>
                  <a:moveTo>
                    <a:pt x="0" y="0"/>
                  </a:moveTo>
                  <a:lnTo>
                    <a:pt x="606721" y="0"/>
                  </a:lnTo>
                  <a:lnTo>
                    <a:pt x="606721" y="476246"/>
                  </a:lnTo>
                  <a:lnTo>
                    <a:pt x="0" y="476246"/>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grpSp>
      <p:grpSp>
        <p:nvGrpSpPr>
          <p:cNvPr id="25" name="组合 24"/>
          <p:cNvGrpSpPr/>
          <p:nvPr/>
        </p:nvGrpSpPr>
        <p:grpSpPr>
          <a:xfrm>
            <a:off x="334963" y="455941"/>
            <a:ext cx="4243283" cy="601052"/>
            <a:chOff x="334963" y="455941"/>
            <a:chExt cx="4243283" cy="601052"/>
          </a:xfrm>
        </p:grpSpPr>
        <p:grpSp>
          <p:nvGrpSpPr>
            <p:cNvPr id="20" name="组合 19"/>
            <p:cNvGrpSpPr/>
            <p:nvPr/>
          </p:nvGrpSpPr>
          <p:grpSpPr>
            <a:xfrm>
              <a:off x="603091" y="455941"/>
              <a:ext cx="3975155" cy="601052"/>
              <a:chOff x="603091" y="455941"/>
              <a:chExt cx="3975155" cy="601052"/>
            </a:xfrm>
          </p:grpSpPr>
          <p:sp>
            <p:nvSpPr>
              <p:cNvPr id="26" name="文本框 25"/>
              <p:cNvSpPr txBox="1"/>
              <p:nvPr/>
            </p:nvSpPr>
            <p:spPr>
              <a:xfrm>
                <a:off x="603091" y="455941"/>
                <a:ext cx="2926080" cy="459105"/>
              </a:xfrm>
              <a:prstGeom prst="rect">
                <a:avLst/>
              </a:prstGeom>
              <a:noFill/>
            </p:spPr>
            <p:txBody>
              <a:bodyPr wrap="none" rtlCol="0">
                <a:noAutofit/>
              </a:bodyPr>
              <a:p>
                <a:pPr algn="l"/>
                <a:r>
                  <a:rPr lang="zh-CN" altLang="en-US" sz="2400" b="1" dirty="0">
                    <a:solidFill>
                      <a:srgbClr val="7188A8"/>
                    </a:solidFill>
                    <a:cs typeface="+mn-ea"/>
                    <a:sym typeface="+mn-lt"/>
                  </a:rPr>
                  <a:t>双相情感障碍的病</a:t>
                </a:r>
                <a:r>
                  <a:rPr lang="zh-CN" altLang="en-US" sz="2400" b="1" dirty="0">
                    <a:solidFill>
                      <a:srgbClr val="7188A8"/>
                    </a:solidFill>
                    <a:cs typeface="+mn-ea"/>
                    <a:sym typeface="+mn-lt"/>
                  </a:rPr>
                  <a:t>理</a:t>
                </a:r>
                <a:endParaRPr lang="zh-CN" altLang="en-US" sz="2400" b="1" dirty="0">
                  <a:solidFill>
                    <a:srgbClr val="7188A8"/>
                  </a:solidFill>
                  <a:cs typeface="+mn-ea"/>
                  <a:sym typeface="+mn-lt"/>
                </a:endParaRPr>
              </a:p>
            </p:txBody>
          </p:sp>
          <p:sp>
            <p:nvSpPr>
              <p:cNvPr id="27" name="矩形 26"/>
              <p:cNvSpPr/>
              <p:nvPr/>
            </p:nvSpPr>
            <p:spPr>
              <a:xfrm>
                <a:off x="610102" y="804263"/>
                <a:ext cx="3968144" cy="252730"/>
              </a:xfrm>
              <a:prstGeom prst="rect">
                <a:avLst/>
              </a:prstGeom>
            </p:spPr>
            <p:txBody>
              <a:bodyPr wrap="square">
                <a:spAutoFit/>
              </a:bodyPr>
              <a:p>
                <a:r>
                  <a:rPr lang="en-US" altLang="zh-CN" sz="1050" dirty="0">
                    <a:solidFill>
                      <a:schemeClr val="bg1">
                        <a:lumMod val="50000"/>
                      </a:schemeClr>
                    </a:solidFill>
                  </a:rPr>
                  <a:t>Pathology of bipolar disorder</a:t>
                </a:r>
                <a:endParaRPr lang="en-US" altLang="zh-CN" sz="1050" dirty="0">
                  <a:solidFill>
                    <a:schemeClr val="bg1">
                      <a:lumMod val="50000"/>
                    </a:schemeClr>
                  </a:solidFill>
                </a:endParaRPr>
              </a:p>
            </p:txBody>
          </p:sp>
        </p:grpSp>
        <p:sp>
          <p:nvSpPr>
            <p:cNvPr id="28" name="矩形 27"/>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65" name="文本框 64"/>
          <p:cNvSpPr txBox="1"/>
          <p:nvPr/>
        </p:nvSpPr>
        <p:spPr>
          <a:xfrm>
            <a:off x="1162685" y="1204595"/>
            <a:ext cx="6096000" cy="531495"/>
          </a:xfrm>
          <a:prstGeom prst="rect">
            <a:avLst/>
          </a:prstGeom>
          <a:noFill/>
        </p:spPr>
        <p:txBody>
          <a:bodyPr wrap="square" rtlCol="0" anchor="t">
            <a:noAutofit/>
          </a:bodyPr>
          <a:p>
            <a:r>
              <a:rPr lang="zh-CN" altLang="en-US" sz="2400" b="1" noProof="0" dirty="0">
                <a:solidFill>
                  <a:srgbClr val="7188A8"/>
                </a:solidFill>
                <a:latin typeface="思源黑体 CN Bold" panose="020B0800000000000000" pitchFamily="34" charset="-122"/>
                <a:ea typeface="思源黑体 CN Bold" panose="020B0800000000000000" pitchFamily="34" charset="-122"/>
                <a:sym typeface="+mn-ea"/>
              </a:rPr>
              <a:t>生物学因素</a:t>
            </a:r>
            <a:r>
              <a:rPr lang="en-US" altLang="zh-CN" sz="2400" b="1" noProof="0" dirty="0">
                <a:solidFill>
                  <a:srgbClr val="7188A8"/>
                </a:solidFill>
                <a:latin typeface="思源黑体 CN Bold" panose="020B0800000000000000" pitchFamily="34" charset="-122"/>
                <a:ea typeface="思源黑体 CN Bold" panose="020B0800000000000000" pitchFamily="34" charset="-122"/>
                <a:sym typeface="+mn-ea"/>
              </a:rPr>
              <a:t> - </a:t>
            </a:r>
            <a:r>
              <a:rPr lang="zh-CN" altLang="en-US" sz="2400" b="1" dirty="0">
                <a:solidFill>
                  <a:srgbClr val="7488A8"/>
                </a:solidFill>
                <a:latin typeface="黑体" panose="02010609060101010101" charset="-122"/>
                <a:ea typeface="黑体" panose="02010609060101010101" charset="-122"/>
                <a:cs typeface="黑体" panose="02010609060101010101" charset="-122"/>
                <a:sym typeface="+mn-lt"/>
              </a:rPr>
              <a:t>大脑结构</a:t>
            </a:r>
            <a:endParaRPr lang="zh-CN" altLang="en-US" sz="2400" b="1" dirty="0">
              <a:solidFill>
                <a:srgbClr val="7488A8"/>
              </a:solidFill>
              <a:latin typeface="黑体" panose="02010609060101010101" charset="-122"/>
              <a:ea typeface="黑体" panose="02010609060101010101" charset="-122"/>
              <a:cs typeface="黑体" panose="02010609060101010101" charset="-122"/>
              <a:sym typeface="+mn-lt"/>
            </a:endParaRPr>
          </a:p>
        </p:txBody>
      </p:sp>
      <p:sp>
        <p:nvSpPr>
          <p:cNvPr id="67" name="文本框2"/>
          <p:cNvSpPr/>
          <p:nvPr>
            <p:custDataLst>
              <p:tags r:id="rId2"/>
            </p:custDataLst>
          </p:nvPr>
        </p:nvSpPr>
        <p:spPr>
          <a:xfrm>
            <a:off x="710565" y="2023745"/>
            <a:ext cx="6112510" cy="3110230"/>
          </a:xfrm>
          <a:prstGeom prst="rect">
            <a:avLst/>
          </a:prstGeom>
        </p:spPr>
        <p:txBody>
          <a:bodyPr wrap="square">
            <a:spAutoFit/>
          </a:bodyPr>
          <a:p>
            <a:pPr indent="457200" fontAlgn="auto">
              <a:lnSpc>
                <a:spcPct val="130000"/>
              </a:lnSpc>
              <a:spcBef>
                <a:spcPts val="1100"/>
              </a:spcBef>
              <a:defRPr/>
            </a:pP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边缘系统（limbic system）</a:t>
            </a:r>
            <a:endPar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endParaRPr>
          </a:p>
          <a:p>
            <a:pPr indent="457200" algn="l" fontAlgn="auto">
              <a:lnSpc>
                <a:spcPct val="130000"/>
              </a:lnSpc>
              <a:spcBef>
                <a:spcPts val="1100"/>
              </a:spcBef>
              <a:buClrTx/>
              <a:buSzTx/>
              <a:buFontTx/>
              <a:defRPr/>
            </a:pP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大脑边缘系统是由边缘叶、附近皮层和有关的皮层下组织构成的一个统一的功能系统。</a:t>
            </a:r>
            <a:r>
              <a:rPr lang="zh-CN" altLang="en-US" sz="2400" dirty="0">
                <a:solidFill>
                  <a:srgbClr val="7F7F7F"/>
                </a:solidFill>
                <a:uFillTx/>
                <a:latin typeface="黑体" panose="02010609060101010101" charset="-122"/>
                <a:ea typeface="黑体" panose="02010609060101010101" charset="-122"/>
                <a:cs typeface="黑体" panose="02010609060101010101" charset="-122"/>
                <a:sym typeface="+mn-lt"/>
              </a:rPr>
              <a:t>边缘系统在情绪反应中起重要作用，</a:t>
            </a: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能将高级的心理功能和原始情感结合在一起。同时也在学习、记忆、行为中起关键作用。</a:t>
            </a:r>
            <a:endPar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p:txBody>
      </p:sp>
      <p:pic>
        <p:nvPicPr>
          <p:cNvPr id="2" name="图片 -2147482623" descr="Brain_limbicsystem.svg"/>
          <p:cNvPicPr>
            <a:picLocks noChangeAspect="1"/>
          </p:cNvPicPr>
          <p:nvPr/>
        </p:nvPicPr>
        <p:blipFill>
          <a:blip r:embed="rId3"/>
          <a:stretch>
            <a:fillRect/>
          </a:stretch>
        </p:blipFill>
        <p:spPr>
          <a:xfrm>
            <a:off x="7956550" y="1594485"/>
            <a:ext cx="3230880" cy="425894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custDataLst>
              <p:tags r:id="rId1"/>
            </p:custDataLst>
          </p:nvPr>
        </p:nvGrpSpPr>
        <p:grpSpPr>
          <a:xfrm>
            <a:off x="603416" y="1156811"/>
            <a:ext cx="533348" cy="533346"/>
            <a:chOff x="1716240" y="3498056"/>
            <a:chExt cx="533348" cy="533346"/>
          </a:xfrm>
        </p:grpSpPr>
        <p:sp>
          <p:nvSpPr>
            <p:cNvPr id="8" name="椭圆 7"/>
            <p:cNvSpPr/>
            <p:nvPr/>
          </p:nvSpPr>
          <p:spPr>
            <a:xfrm>
              <a:off x="1716240" y="3498056"/>
              <a:ext cx="533348" cy="533346"/>
            </a:xfrm>
            <a:prstGeom prst="ellipse">
              <a:avLst/>
            </a:prstGeom>
            <a:solidFill>
              <a:srgbClr val="96C0E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11" name="椭圆 23"/>
            <p:cNvSpPr/>
            <p:nvPr/>
          </p:nvSpPr>
          <p:spPr>
            <a:xfrm>
              <a:off x="1823397" y="3639516"/>
              <a:ext cx="319034" cy="250425"/>
            </a:xfrm>
            <a:custGeom>
              <a:avLst/>
              <a:gdLst>
                <a:gd name="connsiteX0" fmla="*/ 315239 w 606721"/>
                <a:gd name="connsiteY0" fmla="*/ 351824 h 476246"/>
                <a:gd name="connsiteX1" fmla="*/ 315239 w 606721"/>
                <a:gd name="connsiteY1" fmla="*/ 369957 h 476246"/>
                <a:gd name="connsiteX2" fmla="*/ 533394 w 606721"/>
                <a:gd name="connsiteY2" fmla="*/ 369957 h 476246"/>
                <a:gd name="connsiteX3" fmla="*/ 533394 w 606721"/>
                <a:gd name="connsiteY3" fmla="*/ 351824 h 476246"/>
                <a:gd name="connsiteX4" fmla="*/ 88066 w 606721"/>
                <a:gd name="connsiteY4" fmla="*/ 264832 h 476246"/>
                <a:gd name="connsiteX5" fmla="*/ 183188 w 606721"/>
                <a:gd name="connsiteY5" fmla="*/ 264832 h 476246"/>
                <a:gd name="connsiteX6" fmla="*/ 183188 w 606721"/>
                <a:gd name="connsiteY6" fmla="*/ 359813 h 476246"/>
                <a:gd name="connsiteX7" fmla="*/ 88066 w 606721"/>
                <a:gd name="connsiteY7" fmla="*/ 359813 h 476246"/>
                <a:gd name="connsiteX8" fmla="*/ 315239 w 606721"/>
                <a:gd name="connsiteY8" fmla="*/ 261160 h 476246"/>
                <a:gd name="connsiteX9" fmla="*/ 315239 w 606721"/>
                <a:gd name="connsiteY9" fmla="*/ 279293 h 476246"/>
                <a:gd name="connsiteX10" fmla="*/ 533394 w 606721"/>
                <a:gd name="connsiteY10" fmla="*/ 279293 h 476246"/>
                <a:gd name="connsiteX11" fmla="*/ 533394 w 606721"/>
                <a:gd name="connsiteY11" fmla="*/ 261160 h 476246"/>
                <a:gd name="connsiteX12" fmla="*/ 69901 w 606721"/>
                <a:gd name="connsiteY12" fmla="*/ 246676 h 476246"/>
                <a:gd name="connsiteX13" fmla="*/ 69901 w 606721"/>
                <a:gd name="connsiteY13" fmla="*/ 377940 h 476246"/>
                <a:gd name="connsiteX14" fmla="*/ 201365 w 606721"/>
                <a:gd name="connsiteY14" fmla="*/ 377940 h 476246"/>
                <a:gd name="connsiteX15" fmla="*/ 201365 w 606721"/>
                <a:gd name="connsiteY15" fmla="*/ 246676 h 476246"/>
                <a:gd name="connsiteX16" fmla="*/ 315239 w 606721"/>
                <a:gd name="connsiteY16" fmla="*/ 170381 h 476246"/>
                <a:gd name="connsiteX17" fmla="*/ 315239 w 606721"/>
                <a:gd name="connsiteY17" fmla="*/ 188514 h 476246"/>
                <a:gd name="connsiteX18" fmla="*/ 533394 w 606721"/>
                <a:gd name="connsiteY18" fmla="*/ 188514 h 476246"/>
                <a:gd name="connsiteX19" fmla="*/ 533394 w 606721"/>
                <a:gd name="connsiteY19" fmla="*/ 170381 h 476246"/>
                <a:gd name="connsiteX20" fmla="*/ 135627 w 606721"/>
                <a:gd name="connsiteY20" fmla="*/ 97874 h 476246"/>
                <a:gd name="connsiteX21" fmla="*/ 183188 w 606721"/>
                <a:gd name="connsiteY21" fmla="*/ 145294 h 476246"/>
                <a:gd name="connsiteX22" fmla="*/ 135627 w 606721"/>
                <a:gd name="connsiteY22" fmla="*/ 192714 h 476246"/>
                <a:gd name="connsiteX23" fmla="*/ 88066 w 606721"/>
                <a:gd name="connsiteY23" fmla="*/ 145294 h 476246"/>
                <a:gd name="connsiteX24" fmla="*/ 135627 w 606721"/>
                <a:gd name="connsiteY24" fmla="*/ 97874 h 476246"/>
                <a:gd name="connsiteX25" fmla="*/ 315239 w 606721"/>
                <a:gd name="connsiteY25" fmla="*/ 79716 h 476246"/>
                <a:gd name="connsiteX26" fmla="*/ 315239 w 606721"/>
                <a:gd name="connsiteY26" fmla="*/ 97849 h 476246"/>
                <a:gd name="connsiteX27" fmla="*/ 533394 w 606721"/>
                <a:gd name="connsiteY27" fmla="*/ 97849 h 476246"/>
                <a:gd name="connsiteX28" fmla="*/ 533394 w 606721"/>
                <a:gd name="connsiteY28" fmla="*/ 79716 h 476246"/>
                <a:gd name="connsiteX29" fmla="*/ 135690 w 606721"/>
                <a:gd name="connsiteY29" fmla="*/ 79602 h 476246"/>
                <a:gd name="connsiteX30" fmla="*/ 69901 w 606721"/>
                <a:gd name="connsiteY30" fmla="*/ 145292 h 476246"/>
                <a:gd name="connsiteX31" fmla="*/ 135690 w 606721"/>
                <a:gd name="connsiteY31" fmla="*/ 210867 h 476246"/>
                <a:gd name="connsiteX32" fmla="*/ 201365 w 606721"/>
                <a:gd name="connsiteY32" fmla="*/ 145292 h 476246"/>
                <a:gd name="connsiteX33" fmla="*/ 135690 w 606721"/>
                <a:gd name="connsiteY33" fmla="*/ 79602 h 476246"/>
                <a:gd name="connsiteX34" fmla="*/ 0 w 606721"/>
                <a:gd name="connsiteY34" fmla="*/ 0 h 476246"/>
                <a:gd name="connsiteX35" fmla="*/ 606721 w 606721"/>
                <a:gd name="connsiteY35" fmla="*/ 0 h 476246"/>
                <a:gd name="connsiteX36" fmla="*/ 606721 w 606721"/>
                <a:gd name="connsiteY36" fmla="*/ 476246 h 476246"/>
                <a:gd name="connsiteX37" fmla="*/ 0 w 606721"/>
                <a:gd name="connsiteY37" fmla="*/ 476246 h 476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6721" h="476246">
                  <a:moveTo>
                    <a:pt x="315239" y="351824"/>
                  </a:moveTo>
                  <a:lnTo>
                    <a:pt x="315239" y="369957"/>
                  </a:lnTo>
                  <a:lnTo>
                    <a:pt x="533394" y="369957"/>
                  </a:lnTo>
                  <a:lnTo>
                    <a:pt x="533394" y="351824"/>
                  </a:lnTo>
                  <a:close/>
                  <a:moveTo>
                    <a:pt x="88066" y="264832"/>
                  </a:moveTo>
                  <a:lnTo>
                    <a:pt x="183188" y="264832"/>
                  </a:lnTo>
                  <a:lnTo>
                    <a:pt x="183188" y="359813"/>
                  </a:lnTo>
                  <a:lnTo>
                    <a:pt x="88066" y="359813"/>
                  </a:lnTo>
                  <a:close/>
                  <a:moveTo>
                    <a:pt x="315239" y="261160"/>
                  </a:moveTo>
                  <a:lnTo>
                    <a:pt x="315239" y="279293"/>
                  </a:lnTo>
                  <a:lnTo>
                    <a:pt x="533394" y="279293"/>
                  </a:lnTo>
                  <a:lnTo>
                    <a:pt x="533394" y="261160"/>
                  </a:lnTo>
                  <a:close/>
                  <a:moveTo>
                    <a:pt x="69901" y="246676"/>
                  </a:moveTo>
                  <a:lnTo>
                    <a:pt x="69901" y="377940"/>
                  </a:lnTo>
                  <a:lnTo>
                    <a:pt x="201365" y="377940"/>
                  </a:lnTo>
                  <a:lnTo>
                    <a:pt x="201365" y="246676"/>
                  </a:lnTo>
                  <a:close/>
                  <a:moveTo>
                    <a:pt x="315239" y="170381"/>
                  </a:moveTo>
                  <a:lnTo>
                    <a:pt x="315239" y="188514"/>
                  </a:lnTo>
                  <a:lnTo>
                    <a:pt x="533394" y="188514"/>
                  </a:lnTo>
                  <a:lnTo>
                    <a:pt x="533394" y="170381"/>
                  </a:lnTo>
                  <a:close/>
                  <a:moveTo>
                    <a:pt x="135627" y="97874"/>
                  </a:moveTo>
                  <a:cubicBezTo>
                    <a:pt x="161894" y="97874"/>
                    <a:pt x="183188" y="119105"/>
                    <a:pt x="183188" y="145294"/>
                  </a:cubicBezTo>
                  <a:cubicBezTo>
                    <a:pt x="183188" y="171483"/>
                    <a:pt x="161894" y="192714"/>
                    <a:pt x="135627" y="192714"/>
                  </a:cubicBezTo>
                  <a:cubicBezTo>
                    <a:pt x="109360" y="192714"/>
                    <a:pt x="88066" y="171483"/>
                    <a:pt x="88066" y="145294"/>
                  </a:cubicBezTo>
                  <a:cubicBezTo>
                    <a:pt x="88066" y="119105"/>
                    <a:pt x="109360" y="97874"/>
                    <a:pt x="135627" y="97874"/>
                  </a:cubicBezTo>
                  <a:close/>
                  <a:moveTo>
                    <a:pt x="315239" y="79716"/>
                  </a:moveTo>
                  <a:lnTo>
                    <a:pt x="315239" y="97849"/>
                  </a:lnTo>
                  <a:lnTo>
                    <a:pt x="533394" y="97849"/>
                  </a:lnTo>
                  <a:lnTo>
                    <a:pt x="533394" y="79716"/>
                  </a:lnTo>
                  <a:close/>
                  <a:moveTo>
                    <a:pt x="135690" y="79602"/>
                  </a:moveTo>
                  <a:cubicBezTo>
                    <a:pt x="99369" y="79602"/>
                    <a:pt x="69901" y="109140"/>
                    <a:pt x="69901" y="145292"/>
                  </a:cubicBezTo>
                  <a:cubicBezTo>
                    <a:pt x="69901" y="181443"/>
                    <a:pt x="99369" y="210867"/>
                    <a:pt x="135690" y="210867"/>
                  </a:cubicBezTo>
                  <a:cubicBezTo>
                    <a:pt x="171897" y="210867"/>
                    <a:pt x="201365" y="181443"/>
                    <a:pt x="201365" y="145292"/>
                  </a:cubicBezTo>
                  <a:cubicBezTo>
                    <a:pt x="201365" y="109140"/>
                    <a:pt x="171897" y="79602"/>
                    <a:pt x="135690" y="79602"/>
                  </a:cubicBezTo>
                  <a:close/>
                  <a:moveTo>
                    <a:pt x="0" y="0"/>
                  </a:moveTo>
                  <a:lnTo>
                    <a:pt x="606721" y="0"/>
                  </a:lnTo>
                  <a:lnTo>
                    <a:pt x="606721" y="476246"/>
                  </a:lnTo>
                  <a:lnTo>
                    <a:pt x="0" y="476246"/>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grpSp>
      <p:grpSp>
        <p:nvGrpSpPr>
          <p:cNvPr id="25" name="组合 24"/>
          <p:cNvGrpSpPr/>
          <p:nvPr/>
        </p:nvGrpSpPr>
        <p:grpSpPr>
          <a:xfrm>
            <a:off x="334963" y="410221"/>
            <a:ext cx="4243283" cy="601052"/>
            <a:chOff x="334963" y="455941"/>
            <a:chExt cx="4243283" cy="601052"/>
          </a:xfrm>
        </p:grpSpPr>
        <p:grpSp>
          <p:nvGrpSpPr>
            <p:cNvPr id="20" name="组合 19"/>
            <p:cNvGrpSpPr/>
            <p:nvPr/>
          </p:nvGrpSpPr>
          <p:grpSpPr>
            <a:xfrm>
              <a:off x="603091" y="455941"/>
              <a:ext cx="3975155" cy="601052"/>
              <a:chOff x="603091" y="455941"/>
              <a:chExt cx="3975155" cy="601052"/>
            </a:xfrm>
          </p:grpSpPr>
          <p:sp>
            <p:nvSpPr>
              <p:cNvPr id="26" name="文本框 25"/>
              <p:cNvSpPr txBox="1"/>
              <p:nvPr/>
            </p:nvSpPr>
            <p:spPr>
              <a:xfrm>
                <a:off x="603091" y="455941"/>
                <a:ext cx="2926080" cy="459105"/>
              </a:xfrm>
              <a:prstGeom prst="rect">
                <a:avLst/>
              </a:prstGeom>
              <a:noFill/>
            </p:spPr>
            <p:txBody>
              <a:bodyPr wrap="none" rtlCol="0">
                <a:noAutofit/>
              </a:bodyPr>
              <a:p>
                <a:pPr algn="l"/>
                <a:r>
                  <a:rPr lang="zh-CN" altLang="en-US" sz="2400" b="1" dirty="0">
                    <a:solidFill>
                      <a:srgbClr val="7188A8"/>
                    </a:solidFill>
                    <a:cs typeface="+mn-ea"/>
                    <a:sym typeface="+mn-lt"/>
                  </a:rPr>
                  <a:t>双相情感障碍的病</a:t>
                </a:r>
                <a:r>
                  <a:rPr lang="zh-CN" altLang="en-US" sz="2400" b="1" dirty="0">
                    <a:solidFill>
                      <a:srgbClr val="7188A8"/>
                    </a:solidFill>
                    <a:cs typeface="+mn-ea"/>
                    <a:sym typeface="+mn-lt"/>
                  </a:rPr>
                  <a:t>理</a:t>
                </a:r>
                <a:endParaRPr lang="zh-CN" altLang="en-US" sz="2400" b="1" dirty="0">
                  <a:solidFill>
                    <a:srgbClr val="7188A8"/>
                  </a:solidFill>
                  <a:cs typeface="+mn-ea"/>
                  <a:sym typeface="+mn-lt"/>
                </a:endParaRPr>
              </a:p>
            </p:txBody>
          </p:sp>
          <p:sp>
            <p:nvSpPr>
              <p:cNvPr id="27" name="矩形 26"/>
              <p:cNvSpPr/>
              <p:nvPr/>
            </p:nvSpPr>
            <p:spPr>
              <a:xfrm>
                <a:off x="610102" y="804263"/>
                <a:ext cx="3968144" cy="252730"/>
              </a:xfrm>
              <a:prstGeom prst="rect">
                <a:avLst/>
              </a:prstGeom>
            </p:spPr>
            <p:txBody>
              <a:bodyPr wrap="square">
                <a:spAutoFit/>
              </a:bodyPr>
              <a:p>
                <a:r>
                  <a:rPr lang="en-US" altLang="zh-CN" sz="1050" dirty="0">
                    <a:solidFill>
                      <a:schemeClr val="bg1">
                        <a:lumMod val="50000"/>
                      </a:schemeClr>
                    </a:solidFill>
                  </a:rPr>
                  <a:t>Pathology of bipolar disorder</a:t>
                </a:r>
                <a:endParaRPr lang="en-US" altLang="zh-CN" sz="1050" dirty="0">
                  <a:solidFill>
                    <a:schemeClr val="bg1">
                      <a:lumMod val="50000"/>
                    </a:schemeClr>
                  </a:solidFill>
                </a:endParaRPr>
              </a:p>
            </p:txBody>
          </p:sp>
        </p:grpSp>
        <p:sp>
          <p:nvSpPr>
            <p:cNvPr id="28" name="矩形 27"/>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65" name="文本框 64"/>
          <p:cNvSpPr txBox="1"/>
          <p:nvPr/>
        </p:nvSpPr>
        <p:spPr>
          <a:xfrm>
            <a:off x="1162685" y="1158875"/>
            <a:ext cx="6096000" cy="531495"/>
          </a:xfrm>
          <a:prstGeom prst="rect">
            <a:avLst/>
          </a:prstGeom>
          <a:noFill/>
        </p:spPr>
        <p:txBody>
          <a:bodyPr wrap="square" rtlCol="0" anchor="t">
            <a:noAutofit/>
          </a:bodyPr>
          <a:p>
            <a:r>
              <a:rPr lang="zh-CN" altLang="en-US" sz="2400" b="1" noProof="0" dirty="0">
                <a:solidFill>
                  <a:srgbClr val="7188A8"/>
                </a:solidFill>
                <a:latin typeface="思源黑体 CN Bold" panose="020B0800000000000000" pitchFamily="34" charset="-122"/>
                <a:ea typeface="思源黑体 CN Bold" panose="020B0800000000000000" pitchFamily="34" charset="-122"/>
                <a:sym typeface="+mn-ea"/>
              </a:rPr>
              <a:t>生物学因素</a:t>
            </a:r>
            <a:r>
              <a:rPr lang="en-US" altLang="zh-CN" sz="2400" b="1" noProof="0" dirty="0">
                <a:solidFill>
                  <a:srgbClr val="7188A8"/>
                </a:solidFill>
                <a:latin typeface="思源黑体 CN Bold" panose="020B0800000000000000" pitchFamily="34" charset="-122"/>
                <a:ea typeface="思源黑体 CN Bold" panose="020B0800000000000000" pitchFamily="34" charset="-122"/>
                <a:sym typeface="+mn-ea"/>
              </a:rPr>
              <a:t> - </a:t>
            </a:r>
            <a:r>
              <a:rPr lang="zh-CN" altLang="en-US" sz="2400" b="1" dirty="0">
                <a:solidFill>
                  <a:srgbClr val="7488A8"/>
                </a:solidFill>
                <a:latin typeface="黑体" panose="02010609060101010101" charset="-122"/>
                <a:ea typeface="黑体" panose="02010609060101010101" charset="-122"/>
                <a:cs typeface="黑体" panose="02010609060101010101" charset="-122"/>
                <a:sym typeface="+mn-lt"/>
              </a:rPr>
              <a:t>大脑结构</a:t>
            </a:r>
            <a:endParaRPr lang="zh-CN" altLang="en-US" sz="2400" b="1" dirty="0">
              <a:solidFill>
                <a:srgbClr val="7488A8"/>
              </a:solidFill>
              <a:latin typeface="黑体" panose="02010609060101010101" charset="-122"/>
              <a:ea typeface="黑体" panose="02010609060101010101" charset="-122"/>
              <a:cs typeface="黑体" panose="02010609060101010101" charset="-122"/>
              <a:sym typeface="+mn-lt"/>
            </a:endParaRPr>
          </a:p>
          <a:p>
            <a:endParaRPr lang="zh-CN" altLang="en-US" sz="2400" b="1" dirty="0">
              <a:solidFill>
                <a:srgbClr val="7488A8"/>
              </a:solidFill>
              <a:latin typeface="黑体" panose="02010609060101010101" charset="-122"/>
              <a:ea typeface="黑体" panose="02010609060101010101" charset="-122"/>
              <a:cs typeface="黑体" panose="02010609060101010101" charset="-122"/>
              <a:sym typeface="+mn-lt"/>
            </a:endParaRPr>
          </a:p>
        </p:txBody>
      </p:sp>
      <p:sp>
        <p:nvSpPr>
          <p:cNvPr id="67" name="文本框2"/>
          <p:cNvSpPr/>
          <p:nvPr>
            <p:custDataLst>
              <p:tags r:id="rId2"/>
            </p:custDataLst>
          </p:nvPr>
        </p:nvSpPr>
        <p:spPr>
          <a:xfrm>
            <a:off x="699135" y="1667510"/>
            <a:ext cx="8150860" cy="4156710"/>
          </a:xfrm>
          <a:prstGeom prst="rect">
            <a:avLst/>
          </a:prstGeom>
        </p:spPr>
        <p:txBody>
          <a:bodyPr wrap="square">
            <a:spAutoFit/>
          </a:bodyPr>
          <a:p>
            <a:pPr indent="457200" algn="l" fontAlgn="auto">
              <a:lnSpc>
                <a:spcPct val="130000"/>
              </a:lnSpc>
              <a:spcBef>
                <a:spcPts val="1100"/>
              </a:spcBef>
              <a:buClrTx/>
              <a:buSzTx/>
              <a:buFontTx/>
              <a:defRPr/>
            </a:pPr>
            <a:r>
              <a:rPr lang="zh-CN" altLang="en-US" sz="2400" b="1" dirty="0">
                <a:solidFill>
                  <a:srgbClr val="7488A8"/>
                </a:solidFill>
                <a:latin typeface="黑体" panose="02010609060101010101" charset="-122"/>
                <a:ea typeface="黑体" panose="02010609060101010101" charset="-122"/>
                <a:cs typeface="黑体" panose="02010609060101010101" charset="-122"/>
                <a:sym typeface="+mn-lt"/>
              </a:rPr>
              <a:t>杏仁核</a:t>
            </a:r>
            <a:endParaRPr lang="zh-CN" altLang="en-US" sz="2400" b="1" dirty="0">
              <a:solidFill>
                <a:srgbClr val="7488A8"/>
              </a:solidFill>
              <a:latin typeface="黑体" panose="02010609060101010101" charset="-122"/>
              <a:ea typeface="黑体" panose="02010609060101010101" charset="-122"/>
              <a:cs typeface="黑体" panose="02010609060101010101" charset="-122"/>
              <a:sym typeface="+mn-lt"/>
            </a:endParaRPr>
          </a:p>
          <a:p>
            <a:pPr indent="457200" algn="l" fontAlgn="auto">
              <a:lnSpc>
                <a:spcPct val="120000"/>
              </a:lnSpc>
              <a:spcBef>
                <a:spcPts val="1100"/>
              </a:spcBef>
              <a:buClrTx/>
              <a:buSzTx/>
              <a:buFontTx/>
              <a:defRPr/>
            </a:pP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杏仁核位于侧脑室下角前端的上方，海马体旁回沟的外侧，顶部与尾状核的末端相连。它是边缘系统的皮质下中枢，有调节内脏活动和产生情绪的功能。</a:t>
            </a:r>
            <a:endPar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a:p>
            <a:pPr indent="457200" algn="l" fontAlgn="auto">
              <a:lnSpc>
                <a:spcPct val="120000"/>
              </a:lnSpc>
              <a:spcBef>
                <a:spcPts val="1100"/>
              </a:spcBef>
              <a:buClrTx/>
              <a:buSzTx/>
              <a:buFontTx/>
              <a:defRPr/>
            </a:pP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i.杏仁核可以产生情绪激励，从而增强记忆。</a:t>
            </a:r>
            <a:endPar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a:p>
            <a:pPr indent="457200" algn="l" fontAlgn="auto">
              <a:lnSpc>
                <a:spcPct val="100000"/>
              </a:lnSpc>
              <a:spcBef>
                <a:spcPts val="1100"/>
              </a:spcBef>
              <a:buClrTx/>
              <a:buSzTx/>
              <a:buFontTx/>
              <a:defRPr/>
            </a:pP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ii.杏仁核判断所看见的物体在情绪上的重要性。</a:t>
            </a:r>
            <a:endPar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a:p>
            <a:pPr indent="457200" algn="l" fontAlgn="auto">
              <a:lnSpc>
                <a:spcPct val="100000"/>
              </a:lnSpc>
              <a:spcBef>
                <a:spcPts val="1100"/>
              </a:spcBef>
              <a:buClrTx/>
              <a:buSzTx/>
              <a:buFontTx/>
              <a:defRPr/>
            </a:pPr>
            <a:r>
              <a:rPr kumimoji="0" lang="en-US" altLang="zh-CN" sz="2400" i="0" baseline="0" dirty="0">
                <a:solidFill>
                  <a:srgbClr val="7F7F7F"/>
                </a:solidFill>
                <a:uFillTx/>
                <a:latin typeface="黑体" panose="02010609060101010101" charset="-122"/>
                <a:ea typeface="黑体" panose="02010609060101010101" charset="-122"/>
                <a:cs typeface="黑体" panose="02010609060101010101" charset="-122"/>
                <a:sym typeface="+mn-lt"/>
              </a:rPr>
              <a:t>iii.</a:t>
            </a:r>
            <a:r>
              <a:rPr lang="zh-CN" altLang="en-US" sz="2400" dirty="0">
                <a:solidFill>
                  <a:srgbClr val="7F7F7F"/>
                </a:solidFill>
                <a:uFillTx/>
                <a:latin typeface="黑体" panose="02010609060101010101" charset="-122"/>
                <a:ea typeface="黑体" panose="02010609060101010101" charset="-122"/>
                <a:cs typeface="黑体" panose="02010609060101010101" charset="-122"/>
                <a:sym typeface="+mn-lt"/>
              </a:rPr>
              <a:t>压力产生的激素作用在杏仁核和海马体的受体上</a:t>
            </a:r>
            <a:endPar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a:p>
            <a:pPr indent="457200" algn="l" fontAlgn="auto">
              <a:lnSpc>
                <a:spcPct val="100000"/>
              </a:lnSpc>
              <a:spcBef>
                <a:spcPts val="1100"/>
              </a:spcBef>
              <a:buClrTx/>
              <a:buSzTx/>
              <a:buFontTx/>
              <a:defRPr/>
            </a:pP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可以增强突触可塑性。</a:t>
            </a:r>
            <a:endPar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p:txBody>
      </p:sp>
      <p:pic>
        <p:nvPicPr>
          <p:cNvPr id="2" name="图片 -2147482622" descr="IMG_256"/>
          <p:cNvPicPr>
            <a:picLocks noChangeAspect="1"/>
          </p:cNvPicPr>
          <p:nvPr/>
        </p:nvPicPr>
        <p:blipFill>
          <a:blip r:embed="rId3"/>
          <a:stretch>
            <a:fillRect/>
          </a:stretch>
        </p:blipFill>
        <p:spPr>
          <a:xfrm>
            <a:off x="9262745" y="2448560"/>
            <a:ext cx="2313305" cy="28194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custDataLst>
              <p:tags r:id="rId1"/>
            </p:custDataLst>
          </p:nvPr>
        </p:nvGrpSpPr>
        <p:grpSpPr>
          <a:xfrm>
            <a:off x="603416" y="1156811"/>
            <a:ext cx="533348" cy="533346"/>
            <a:chOff x="1716240" y="3498056"/>
            <a:chExt cx="533348" cy="533346"/>
          </a:xfrm>
        </p:grpSpPr>
        <p:sp>
          <p:nvSpPr>
            <p:cNvPr id="8" name="椭圆 7"/>
            <p:cNvSpPr/>
            <p:nvPr/>
          </p:nvSpPr>
          <p:spPr>
            <a:xfrm>
              <a:off x="1716240" y="3498056"/>
              <a:ext cx="533348" cy="533346"/>
            </a:xfrm>
            <a:prstGeom prst="ellipse">
              <a:avLst/>
            </a:prstGeom>
            <a:solidFill>
              <a:srgbClr val="96C0E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11" name="椭圆 23"/>
            <p:cNvSpPr/>
            <p:nvPr/>
          </p:nvSpPr>
          <p:spPr>
            <a:xfrm>
              <a:off x="1823397" y="3639516"/>
              <a:ext cx="319034" cy="250425"/>
            </a:xfrm>
            <a:custGeom>
              <a:avLst/>
              <a:gdLst>
                <a:gd name="connsiteX0" fmla="*/ 315239 w 606721"/>
                <a:gd name="connsiteY0" fmla="*/ 351824 h 476246"/>
                <a:gd name="connsiteX1" fmla="*/ 315239 w 606721"/>
                <a:gd name="connsiteY1" fmla="*/ 369957 h 476246"/>
                <a:gd name="connsiteX2" fmla="*/ 533394 w 606721"/>
                <a:gd name="connsiteY2" fmla="*/ 369957 h 476246"/>
                <a:gd name="connsiteX3" fmla="*/ 533394 w 606721"/>
                <a:gd name="connsiteY3" fmla="*/ 351824 h 476246"/>
                <a:gd name="connsiteX4" fmla="*/ 88066 w 606721"/>
                <a:gd name="connsiteY4" fmla="*/ 264832 h 476246"/>
                <a:gd name="connsiteX5" fmla="*/ 183188 w 606721"/>
                <a:gd name="connsiteY5" fmla="*/ 264832 h 476246"/>
                <a:gd name="connsiteX6" fmla="*/ 183188 w 606721"/>
                <a:gd name="connsiteY6" fmla="*/ 359813 h 476246"/>
                <a:gd name="connsiteX7" fmla="*/ 88066 w 606721"/>
                <a:gd name="connsiteY7" fmla="*/ 359813 h 476246"/>
                <a:gd name="connsiteX8" fmla="*/ 315239 w 606721"/>
                <a:gd name="connsiteY8" fmla="*/ 261160 h 476246"/>
                <a:gd name="connsiteX9" fmla="*/ 315239 w 606721"/>
                <a:gd name="connsiteY9" fmla="*/ 279293 h 476246"/>
                <a:gd name="connsiteX10" fmla="*/ 533394 w 606721"/>
                <a:gd name="connsiteY10" fmla="*/ 279293 h 476246"/>
                <a:gd name="connsiteX11" fmla="*/ 533394 w 606721"/>
                <a:gd name="connsiteY11" fmla="*/ 261160 h 476246"/>
                <a:gd name="connsiteX12" fmla="*/ 69901 w 606721"/>
                <a:gd name="connsiteY12" fmla="*/ 246676 h 476246"/>
                <a:gd name="connsiteX13" fmla="*/ 69901 w 606721"/>
                <a:gd name="connsiteY13" fmla="*/ 377940 h 476246"/>
                <a:gd name="connsiteX14" fmla="*/ 201365 w 606721"/>
                <a:gd name="connsiteY14" fmla="*/ 377940 h 476246"/>
                <a:gd name="connsiteX15" fmla="*/ 201365 w 606721"/>
                <a:gd name="connsiteY15" fmla="*/ 246676 h 476246"/>
                <a:gd name="connsiteX16" fmla="*/ 315239 w 606721"/>
                <a:gd name="connsiteY16" fmla="*/ 170381 h 476246"/>
                <a:gd name="connsiteX17" fmla="*/ 315239 w 606721"/>
                <a:gd name="connsiteY17" fmla="*/ 188514 h 476246"/>
                <a:gd name="connsiteX18" fmla="*/ 533394 w 606721"/>
                <a:gd name="connsiteY18" fmla="*/ 188514 h 476246"/>
                <a:gd name="connsiteX19" fmla="*/ 533394 w 606721"/>
                <a:gd name="connsiteY19" fmla="*/ 170381 h 476246"/>
                <a:gd name="connsiteX20" fmla="*/ 135627 w 606721"/>
                <a:gd name="connsiteY20" fmla="*/ 97874 h 476246"/>
                <a:gd name="connsiteX21" fmla="*/ 183188 w 606721"/>
                <a:gd name="connsiteY21" fmla="*/ 145294 h 476246"/>
                <a:gd name="connsiteX22" fmla="*/ 135627 w 606721"/>
                <a:gd name="connsiteY22" fmla="*/ 192714 h 476246"/>
                <a:gd name="connsiteX23" fmla="*/ 88066 w 606721"/>
                <a:gd name="connsiteY23" fmla="*/ 145294 h 476246"/>
                <a:gd name="connsiteX24" fmla="*/ 135627 w 606721"/>
                <a:gd name="connsiteY24" fmla="*/ 97874 h 476246"/>
                <a:gd name="connsiteX25" fmla="*/ 315239 w 606721"/>
                <a:gd name="connsiteY25" fmla="*/ 79716 h 476246"/>
                <a:gd name="connsiteX26" fmla="*/ 315239 w 606721"/>
                <a:gd name="connsiteY26" fmla="*/ 97849 h 476246"/>
                <a:gd name="connsiteX27" fmla="*/ 533394 w 606721"/>
                <a:gd name="connsiteY27" fmla="*/ 97849 h 476246"/>
                <a:gd name="connsiteX28" fmla="*/ 533394 w 606721"/>
                <a:gd name="connsiteY28" fmla="*/ 79716 h 476246"/>
                <a:gd name="connsiteX29" fmla="*/ 135690 w 606721"/>
                <a:gd name="connsiteY29" fmla="*/ 79602 h 476246"/>
                <a:gd name="connsiteX30" fmla="*/ 69901 w 606721"/>
                <a:gd name="connsiteY30" fmla="*/ 145292 h 476246"/>
                <a:gd name="connsiteX31" fmla="*/ 135690 w 606721"/>
                <a:gd name="connsiteY31" fmla="*/ 210867 h 476246"/>
                <a:gd name="connsiteX32" fmla="*/ 201365 w 606721"/>
                <a:gd name="connsiteY32" fmla="*/ 145292 h 476246"/>
                <a:gd name="connsiteX33" fmla="*/ 135690 w 606721"/>
                <a:gd name="connsiteY33" fmla="*/ 79602 h 476246"/>
                <a:gd name="connsiteX34" fmla="*/ 0 w 606721"/>
                <a:gd name="connsiteY34" fmla="*/ 0 h 476246"/>
                <a:gd name="connsiteX35" fmla="*/ 606721 w 606721"/>
                <a:gd name="connsiteY35" fmla="*/ 0 h 476246"/>
                <a:gd name="connsiteX36" fmla="*/ 606721 w 606721"/>
                <a:gd name="connsiteY36" fmla="*/ 476246 h 476246"/>
                <a:gd name="connsiteX37" fmla="*/ 0 w 606721"/>
                <a:gd name="connsiteY37" fmla="*/ 476246 h 476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6721" h="476246">
                  <a:moveTo>
                    <a:pt x="315239" y="351824"/>
                  </a:moveTo>
                  <a:lnTo>
                    <a:pt x="315239" y="369957"/>
                  </a:lnTo>
                  <a:lnTo>
                    <a:pt x="533394" y="369957"/>
                  </a:lnTo>
                  <a:lnTo>
                    <a:pt x="533394" y="351824"/>
                  </a:lnTo>
                  <a:close/>
                  <a:moveTo>
                    <a:pt x="88066" y="264832"/>
                  </a:moveTo>
                  <a:lnTo>
                    <a:pt x="183188" y="264832"/>
                  </a:lnTo>
                  <a:lnTo>
                    <a:pt x="183188" y="359813"/>
                  </a:lnTo>
                  <a:lnTo>
                    <a:pt x="88066" y="359813"/>
                  </a:lnTo>
                  <a:close/>
                  <a:moveTo>
                    <a:pt x="315239" y="261160"/>
                  </a:moveTo>
                  <a:lnTo>
                    <a:pt x="315239" y="279293"/>
                  </a:lnTo>
                  <a:lnTo>
                    <a:pt x="533394" y="279293"/>
                  </a:lnTo>
                  <a:lnTo>
                    <a:pt x="533394" y="261160"/>
                  </a:lnTo>
                  <a:close/>
                  <a:moveTo>
                    <a:pt x="69901" y="246676"/>
                  </a:moveTo>
                  <a:lnTo>
                    <a:pt x="69901" y="377940"/>
                  </a:lnTo>
                  <a:lnTo>
                    <a:pt x="201365" y="377940"/>
                  </a:lnTo>
                  <a:lnTo>
                    <a:pt x="201365" y="246676"/>
                  </a:lnTo>
                  <a:close/>
                  <a:moveTo>
                    <a:pt x="315239" y="170381"/>
                  </a:moveTo>
                  <a:lnTo>
                    <a:pt x="315239" y="188514"/>
                  </a:lnTo>
                  <a:lnTo>
                    <a:pt x="533394" y="188514"/>
                  </a:lnTo>
                  <a:lnTo>
                    <a:pt x="533394" y="170381"/>
                  </a:lnTo>
                  <a:close/>
                  <a:moveTo>
                    <a:pt x="135627" y="97874"/>
                  </a:moveTo>
                  <a:cubicBezTo>
                    <a:pt x="161894" y="97874"/>
                    <a:pt x="183188" y="119105"/>
                    <a:pt x="183188" y="145294"/>
                  </a:cubicBezTo>
                  <a:cubicBezTo>
                    <a:pt x="183188" y="171483"/>
                    <a:pt x="161894" y="192714"/>
                    <a:pt x="135627" y="192714"/>
                  </a:cubicBezTo>
                  <a:cubicBezTo>
                    <a:pt x="109360" y="192714"/>
                    <a:pt x="88066" y="171483"/>
                    <a:pt x="88066" y="145294"/>
                  </a:cubicBezTo>
                  <a:cubicBezTo>
                    <a:pt x="88066" y="119105"/>
                    <a:pt x="109360" y="97874"/>
                    <a:pt x="135627" y="97874"/>
                  </a:cubicBezTo>
                  <a:close/>
                  <a:moveTo>
                    <a:pt x="315239" y="79716"/>
                  </a:moveTo>
                  <a:lnTo>
                    <a:pt x="315239" y="97849"/>
                  </a:lnTo>
                  <a:lnTo>
                    <a:pt x="533394" y="97849"/>
                  </a:lnTo>
                  <a:lnTo>
                    <a:pt x="533394" y="79716"/>
                  </a:lnTo>
                  <a:close/>
                  <a:moveTo>
                    <a:pt x="135690" y="79602"/>
                  </a:moveTo>
                  <a:cubicBezTo>
                    <a:pt x="99369" y="79602"/>
                    <a:pt x="69901" y="109140"/>
                    <a:pt x="69901" y="145292"/>
                  </a:cubicBezTo>
                  <a:cubicBezTo>
                    <a:pt x="69901" y="181443"/>
                    <a:pt x="99369" y="210867"/>
                    <a:pt x="135690" y="210867"/>
                  </a:cubicBezTo>
                  <a:cubicBezTo>
                    <a:pt x="171897" y="210867"/>
                    <a:pt x="201365" y="181443"/>
                    <a:pt x="201365" y="145292"/>
                  </a:cubicBezTo>
                  <a:cubicBezTo>
                    <a:pt x="201365" y="109140"/>
                    <a:pt x="171897" y="79602"/>
                    <a:pt x="135690" y="79602"/>
                  </a:cubicBezTo>
                  <a:close/>
                  <a:moveTo>
                    <a:pt x="0" y="0"/>
                  </a:moveTo>
                  <a:lnTo>
                    <a:pt x="606721" y="0"/>
                  </a:lnTo>
                  <a:lnTo>
                    <a:pt x="606721" y="476246"/>
                  </a:lnTo>
                  <a:lnTo>
                    <a:pt x="0" y="476246"/>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grpSp>
      <p:grpSp>
        <p:nvGrpSpPr>
          <p:cNvPr id="25" name="组合 24"/>
          <p:cNvGrpSpPr/>
          <p:nvPr/>
        </p:nvGrpSpPr>
        <p:grpSpPr>
          <a:xfrm>
            <a:off x="334963" y="410221"/>
            <a:ext cx="4243283" cy="601052"/>
            <a:chOff x="334963" y="455941"/>
            <a:chExt cx="4243283" cy="601052"/>
          </a:xfrm>
        </p:grpSpPr>
        <p:grpSp>
          <p:nvGrpSpPr>
            <p:cNvPr id="20" name="组合 19"/>
            <p:cNvGrpSpPr/>
            <p:nvPr/>
          </p:nvGrpSpPr>
          <p:grpSpPr>
            <a:xfrm>
              <a:off x="603091" y="455941"/>
              <a:ext cx="3975155" cy="601052"/>
              <a:chOff x="603091" y="455941"/>
              <a:chExt cx="3975155" cy="601052"/>
            </a:xfrm>
          </p:grpSpPr>
          <p:sp>
            <p:nvSpPr>
              <p:cNvPr id="26" name="文本框 25"/>
              <p:cNvSpPr txBox="1"/>
              <p:nvPr/>
            </p:nvSpPr>
            <p:spPr>
              <a:xfrm>
                <a:off x="603091" y="455941"/>
                <a:ext cx="2926080" cy="459105"/>
              </a:xfrm>
              <a:prstGeom prst="rect">
                <a:avLst/>
              </a:prstGeom>
              <a:noFill/>
            </p:spPr>
            <p:txBody>
              <a:bodyPr wrap="none" rtlCol="0">
                <a:noAutofit/>
              </a:bodyPr>
              <a:p>
                <a:pPr algn="l"/>
                <a:r>
                  <a:rPr lang="zh-CN" altLang="en-US" sz="2400" b="1" dirty="0">
                    <a:solidFill>
                      <a:srgbClr val="7188A8"/>
                    </a:solidFill>
                    <a:cs typeface="+mn-ea"/>
                    <a:sym typeface="+mn-lt"/>
                  </a:rPr>
                  <a:t>双相情感障碍的病</a:t>
                </a:r>
                <a:r>
                  <a:rPr lang="zh-CN" altLang="en-US" sz="2400" b="1" dirty="0">
                    <a:solidFill>
                      <a:srgbClr val="7188A8"/>
                    </a:solidFill>
                    <a:cs typeface="+mn-ea"/>
                    <a:sym typeface="+mn-lt"/>
                  </a:rPr>
                  <a:t>理</a:t>
                </a:r>
                <a:endParaRPr lang="zh-CN" altLang="en-US" sz="2400" b="1" dirty="0">
                  <a:solidFill>
                    <a:srgbClr val="7188A8"/>
                  </a:solidFill>
                  <a:cs typeface="+mn-ea"/>
                  <a:sym typeface="+mn-lt"/>
                </a:endParaRPr>
              </a:p>
            </p:txBody>
          </p:sp>
          <p:sp>
            <p:nvSpPr>
              <p:cNvPr id="27" name="矩形 26"/>
              <p:cNvSpPr/>
              <p:nvPr/>
            </p:nvSpPr>
            <p:spPr>
              <a:xfrm>
                <a:off x="610102" y="804263"/>
                <a:ext cx="3968144" cy="252730"/>
              </a:xfrm>
              <a:prstGeom prst="rect">
                <a:avLst/>
              </a:prstGeom>
            </p:spPr>
            <p:txBody>
              <a:bodyPr wrap="square">
                <a:spAutoFit/>
              </a:bodyPr>
              <a:p>
                <a:r>
                  <a:rPr lang="en-US" altLang="zh-CN" sz="1050" dirty="0">
                    <a:solidFill>
                      <a:schemeClr val="bg1">
                        <a:lumMod val="50000"/>
                      </a:schemeClr>
                    </a:solidFill>
                  </a:rPr>
                  <a:t>Pathology of bipolar disorder</a:t>
                </a:r>
                <a:endParaRPr lang="en-US" altLang="zh-CN" sz="1050" dirty="0">
                  <a:solidFill>
                    <a:schemeClr val="bg1">
                      <a:lumMod val="50000"/>
                    </a:schemeClr>
                  </a:solidFill>
                </a:endParaRPr>
              </a:p>
            </p:txBody>
          </p:sp>
        </p:grpSp>
        <p:sp>
          <p:nvSpPr>
            <p:cNvPr id="28" name="矩形 27"/>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65" name="文本框 64"/>
          <p:cNvSpPr txBox="1"/>
          <p:nvPr/>
        </p:nvSpPr>
        <p:spPr>
          <a:xfrm>
            <a:off x="1162685" y="1158875"/>
            <a:ext cx="6096000" cy="531495"/>
          </a:xfrm>
          <a:prstGeom prst="rect">
            <a:avLst/>
          </a:prstGeom>
          <a:noFill/>
        </p:spPr>
        <p:txBody>
          <a:bodyPr wrap="square" rtlCol="0" anchor="t">
            <a:noAutofit/>
          </a:bodyPr>
          <a:p>
            <a:r>
              <a:rPr lang="zh-CN" altLang="en-US" sz="2400" b="1" noProof="0" dirty="0">
                <a:solidFill>
                  <a:srgbClr val="7188A8"/>
                </a:solidFill>
                <a:latin typeface="思源黑体 CN Bold" panose="020B0800000000000000" pitchFamily="34" charset="-122"/>
                <a:ea typeface="思源黑体 CN Bold" panose="020B0800000000000000" pitchFamily="34" charset="-122"/>
                <a:sym typeface="+mn-ea"/>
              </a:rPr>
              <a:t>生物学因素</a:t>
            </a:r>
            <a:r>
              <a:rPr lang="en-US" altLang="zh-CN" sz="2400" b="1" noProof="0" dirty="0">
                <a:solidFill>
                  <a:srgbClr val="7188A8"/>
                </a:solidFill>
                <a:latin typeface="思源黑体 CN Bold" panose="020B0800000000000000" pitchFamily="34" charset="-122"/>
                <a:ea typeface="思源黑体 CN Bold" panose="020B0800000000000000" pitchFamily="34" charset="-122"/>
                <a:sym typeface="+mn-ea"/>
              </a:rPr>
              <a:t> - </a:t>
            </a:r>
            <a:r>
              <a:rPr lang="zh-CN" altLang="en-US" sz="2400" b="1" dirty="0">
                <a:solidFill>
                  <a:srgbClr val="7488A8"/>
                </a:solidFill>
                <a:latin typeface="黑体" panose="02010609060101010101" charset="-122"/>
                <a:ea typeface="黑体" panose="02010609060101010101" charset="-122"/>
                <a:cs typeface="黑体" panose="02010609060101010101" charset="-122"/>
                <a:sym typeface="+mn-lt"/>
              </a:rPr>
              <a:t>大脑结构</a:t>
            </a:r>
            <a:endParaRPr lang="zh-CN" altLang="en-US" sz="2400" b="1" dirty="0">
              <a:solidFill>
                <a:srgbClr val="7488A8"/>
              </a:solidFill>
              <a:latin typeface="黑体" panose="02010609060101010101" charset="-122"/>
              <a:ea typeface="黑体" panose="02010609060101010101" charset="-122"/>
              <a:cs typeface="黑体" panose="02010609060101010101" charset="-122"/>
              <a:sym typeface="+mn-lt"/>
            </a:endParaRPr>
          </a:p>
        </p:txBody>
      </p:sp>
      <p:sp>
        <p:nvSpPr>
          <p:cNvPr id="67" name="文本框2"/>
          <p:cNvSpPr/>
          <p:nvPr>
            <p:custDataLst>
              <p:tags r:id="rId2"/>
            </p:custDataLst>
          </p:nvPr>
        </p:nvSpPr>
        <p:spPr>
          <a:xfrm>
            <a:off x="699135" y="1667510"/>
            <a:ext cx="6799580" cy="4095750"/>
          </a:xfrm>
          <a:prstGeom prst="rect">
            <a:avLst/>
          </a:prstGeom>
        </p:spPr>
        <p:txBody>
          <a:bodyPr wrap="square">
            <a:spAutoFit/>
          </a:bodyPr>
          <a:p>
            <a:pPr indent="457200" algn="l" fontAlgn="auto">
              <a:lnSpc>
                <a:spcPct val="130000"/>
              </a:lnSpc>
              <a:spcBef>
                <a:spcPts val="1100"/>
              </a:spcBef>
              <a:buClrTx/>
              <a:buSzTx/>
              <a:buFontTx/>
              <a:defRPr/>
            </a:pPr>
            <a:r>
              <a:rPr lang="zh-CN" altLang="en-US" sz="2400" b="1" dirty="0">
                <a:solidFill>
                  <a:srgbClr val="7488A8"/>
                </a:solidFill>
                <a:latin typeface="黑体" panose="02010609060101010101" charset="-122"/>
                <a:ea typeface="黑体" panose="02010609060101010101" charset="-122"/>
                <a:cs typeface="黑体" panose="02010609060101010101" charset="-122"/>
                <a:sym typeface="+mn-lt"/>
              </a:rPr>
              <a:t>白质</a:t>
            </a:r>
            <a:endParaRPr lang="zh-CN" altLang="en-US" sz="2400" b="1" dirty="0">
              <a:solidFill>
                <a:srgbClr val="7488A8"/>
              </a:solidFill>
              <a:latin typeface="黑体" panose="02010609060101010101" charset="-122"/>
              <a:ea typeface="黑体" panose="02010609060101010101" charset="-122"/>
              <a:cs typeface="黑体" panose="02010609060101010101" charset="-122"/>
              <a:sym typeface="+mn-lt"/>
            </a:endParaRPr>
          </a:p>
          <a:p>
            <a:pPr indent="457200" algn="l" fontAlgn="auto">
              <a:lnSpc>
                <a:spcPct val="120000"/>
              </a:lnSpc>
              <a:spcBef>
                <a:spcPts val="1100"/>
              </a:spcBef>
              <a:buClrTx/>
              <a:buSzTx/>
              <a:buFontTx/>
              <a:defRPr/>
            </a:pP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白质是指中枢神经系统中主要由被髓鞘包覆的神经轴突所组成的区域。它控制着神经元共享的讯号，协调脑区之间的正常运作。</a:t>
            </a:r>
            <a:endPar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a:p>
            <a:pPr indent="457200" algn="l" fontAlgn="auto">
              <a:lnSpc>
                <a:spcPct val="120000"/>
              </a:lnSpc>
              <a:spcBef>
                <a:spcPts val="1100"/>
              </a:spcBef>
              <a:buClrTx/>
              <a:buSzTx/>
              <a:buFontTx/>
              <a:defRPr/>
            </a:pP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其生长的时机与成熟程度，会影响到学习、自我控制与精神疾病。</a:t>
            </a:r>
            <a:endPar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a:p>
            <a:pPr indent="457200" algn="l" fontAlgn="auto">
              <a:lnSpc>
                <a:spcPct val="120000"/>
              </a:lnSpc>
              <a:spcBef>
                <a:spcPts val="1100"/>
              </a:spcBef>
              <a:buClrTx/>
              <a:buSzTx/>
              <a:buFontTx/>
              <a:defRPr/>
            </a:pP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白质纤维束如果出现变异或受损，可能会影响神经信号的传递和大脑区域之间的连接。</a:t>
            </a:r>
            <a:endPar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p:txBody>
      </p:sp>
      <p:pic>
        <p:nvPicPr>
          <p:cNvPr id="2" name="图片 -2147482618" descr="IMG_256"/>
          <p:cNvPicPr>
            <a:picLocks noChangeAspect="1"/>
          </p:cNvPicPr>
          <p:nvPr/>
        </p:nvPicPr>
        <p:blipFill>
          <a:blip r:embed="rId3"/>
          <a:stretch>
            <a:fillRect/>
          </a:stretch>
        </p:blipFill>
        <p:spPr>
          <a:xfrm>
            <a:off x="7579360" y="2521585"/>
            <a:ext cx="4352290" cy="275336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custDataLst>
              <p:tags r:id="rId1"/>
            </p:custDataLst>
          </p:nvPr>
        </p:nvGrpSpPr>
        <p:grpSpPr>
          <a:xfrm>
            <a:off x="603416" y="1156811"/>
            <a:ext cx="533348" cy="533346"/>
            <a:chOff x="1716240" y="3498056"/>
            <a:chExt cx="533348" cy="533346"/>
          </a:xfrm>
        </p:grpSpPr>
        <p:sp>
          <p:nvSpPr>
            <p:cNvPr id="8" name="椭圆 7"/>
            <p:cNvSpPr/>
            <p:nvPr/>
          </p:nvSpPr>
          <p:spPr>
            <a:xfrm>
              <a:off x="1716240" y="3498056"/>
              <a:ext cx="533348" cy="533346"/>
            </a:xfrm>
            <a:prstGeom prst="ellipse">
              <a:avLst/>
            </a:prstGeom>
            <a:solidFill>
              <a:srgbClr val="96C0E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11" name="椭圆 23"/>
            <p:cNvSpPr/>
            <p:nvPr/>
          </p:nvSpPr>
          <p:spPr>
            <a:xfrm>
              <a:off x="1823397" y="3639516"/>
              <a:ext cx="319034" cy="250425"/>
            </a:xfrm>
            <a:custGeom>
              <a:avLst/>
              <a:gdLst>
                <a:gd name="connsiteX0" fmla="*/ 315239 w 606721"/>
                <a:gd name="connsiteY0" fmla="*/ 351824 h 476246"/>
                <a:gd name="connsiteX1" fmla="*/ 315239 w 606721"/>
                <a:gd name="connsiteY1" fmla="*/ 369957 h 476246"/>
                <a:gd name="connsiteX2" fmla="*/ 533394 w 606721"/>
                <a:gd name="connsiteY2" fmla="*/ 369957 h 476246"/>
                <a:gd name="connsiteX3" fmla="*/ 533394 w 606721"/>
                <a:gd name="connsiteY3" fmla="*/ 351824 h 476246"/>
                <a:gd name="connsiteX4" fmla="*/ 88066 w 606721"/>
                <a:gd name="connsiteY4" fmla="*/ 264832 h 476246"/>
                <a:gd name="connsiteX5" fmla="*/ 183188 w 606721"/>
                <a:gd name="connsiteY5" fmla="*/ 264832 h 476246"/>
                <a:gd name="connsiteX6" fmla="*/ 183188 w 606721"/>
                <a:gd name="connsiteY6" fmla="*/ 359813 h 476246"/>
                <a:gd name="connsiteX7" fmla="*/ 88066 w 606721"/>
                <a:gd name="connsiteY7" fmla="*/ 359813 h 476246"/>
                <a:gd name="connsiteX8" fmla="*/ 315239 w 606721"/>
                <a:gd name="connsiteY8" fmla="*/ 261160 h 476246"/>
                <a:gd name="connsiteX9" fmla="*/ 315239 w 606721"/>
                <a:gd name="connsiteY9" fmla="*/ 279293 h 476246"/>
                <a:gd name="connsiteX10" fmla="*/ 533394 w 606721"/>
                <a:gd name="connsiteY10" fmla="*/ 279293 h 476246"/>
                <a:gd name="connsiteX11" fmla="*/ 533394 w 606721"/>
                <a:gd name="connsiteY11" fmla="*/ 261160 h 476246"/>
                <a:gd name="connsiteX12" fmla="*/ 69901 w 606721"/>
                <a:gd name="connsiteY12" fmla="*/ 246676 h 476246"/>
                <a:gd name="connsiteX13" fmla="*/ 69901 w 606721"/>
                <a:gd name="connsiteY13" fmla="*/ 377940 h 476246"/>
                <a:gd name="connsiteX14" fmla="*/ 201365 w 606721"/>
                <a:gd name="connsiteY14" fmla="*/ 377940 h 476246"/>
                <a:gd name="connsiteX15" fmla="*/ 201365 w 606721"/>
                <a:gd name="connsiteY15" fmla="*/ 246676 h 476246"/>
                <a:gd name="connsiteX16" fmla="*/ 315239 w 606721"/>
                <a:gd name="connsiteY16" fmla="*/ 170381 h 476246"/>
                <a:gd name="connsiteX17" fmla="*/ 315239 w 606721"/>
                <a:gd name="connsiteY17" fmla="*/ 188514 h 476246"/>
                <a:gd name="connsiteX18" fmla="*/ 533394 w 606721"/>
                <a:gd name="connsiteY18" fmla="*/ 188514 h 476246"/>
                <a:gd name="connsiteX19" fmla="*/ 533394 w 606721"/>
                <a:gd name="connsiteY19" fmla="*/ 170381 h 476246"/>
                <a:gd name="connsiteX20" fmla="*/ 135627 w 606721"/>
                <a:gd name="connsiteY20" fmla="*/ 97874 h 476246"/>
                <a:gd name="connsiteX21" fmla="*/ 183188 w 606721"/>
                <a:gd name="connsiteY21" fmla="*/ 145294 h 476246"/>
                <a:gd name="connsiteX22" fmla="*/ 135627 w 606721"/>
                <a:gd name="connsiteY22" fmla="*/ 192714 h 476246"/>
                <a:gd name="connsiteX23" fmla="*/ 88066 w 606721"/>
                <a:gd name="connsiteY23" fmla="*/ 145294 h 476246"/>
                <a:gd name="connsiteX24" fmla="*/ 135627 w 606721"/>
                <a:gd name="connsiteY24" fmla="*/ 97874 h 476246"/>
                <a:gd name="connsiteX25" fmla="*/ 315239 w 606721"/>
                <a:gd name="connsiteY25" fmla="*/ 79716 h 476246"/>
                <a:gd name="connsiteX26" fmla="*/ 315239 w 606721"/>
                <a:gd name="connsiteY26" fmla="*/ 97849 h 476246"/>
                <a:gd name="connsiteX27" fmla="*/ 533394 w 606721"/>
                <a:gd name="connsiteY27" fmla="*/ 97849 h 476246"/>
                <a:gd name="connsiteX28" fmla="*/ 533394 w 606721"/>
                <a:gd name="connsiteY28" fmla="*/ 79716 h 476246"/>
                <a:gd name="connsiteX29" fmla="*/ 135690 w 606721"/>
                <a:gd name="connsiteY29" fmla="*/ 79602 h 476246"/>
                <a:gd name="connsiteX30" fmla="*/ 69901 w 606721"/>
                <a:gd name="connsiteY30" fmla="*/ 145292 h 476246"/>
                <a:gd name="connsiteX31" fmla="*/ 135690 w 606721"/>
                <a:gd name="connsiteY31" fmla="*/ 210867 h 476246"/>
                <a:gd name="connsiteX32" fmla="*/ 201365 w 606721"/>
                <a:gd name="connsiteY32" fmla="*/ 145292 h 476246"/>
                <a:gd name="connsiteX33" fmla="*/ 135690 w 606721"/>
                <a:gd name="connsiteY33" fmla="*/ 79602 h 476246"/>
                <a:gd name="connsiteX34" fmla="*/ 0 w 606721"/>
                <a:gd name="connsiteY34" fmla="*/ 0 h 476246"/>
                <a:gd name="connsiteX35" fmla="*/ 606721 w 606721"/>
                <a:gd name="connsiteY35" fmla="*/ 0 h 476246"/>
                <a:gd name="connsiteX36" fmla="*/ 606721 w 606721"/>
                <a:gd name="connsiteY36" fmla="*/ 476246 h 476246"/>
                <a:gd name="connsiteX37" fmla="*/ 0 w 606721"/>
                <a:gd name="connsiteY37" fmla="*/ 476246 h 476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6721" h="476246">
                  <a:moveTo>
                    <a:pt x="315239" y="351824"/>
                  </a:moveTo>
                  <a:lnTo>
                    <a:pt x="315239" y="369957"/>
                  </a:lnTo>
                  <a:lnTo>
                    <a:pt x="533394" y="369957"/>
                  </a:lnTo>
                  <a:lnTo>
                    <a:pt x="533394" y="351824"/>
                  </a:lnTo>
                  <a:close/>
                  <a:moveTo>
                    <a:pt x="88066" y="264832"/>
                  </a:moveTo>
                  <a:lnTo>
                    <a:pt x="183188" y="264832"/>
                  </a:lnTo>
                  <a:lnTo>
                    <a:pt x="183188" y="359813"/>
                  </a:lnTo>
                  <a:lnTo>
                    <a:pt x="88066" y="359813"/>
                  </a:lnTo>
                  <a:close/>
                  <a:moveTo>
                    <a:pt x="315239" y="261160"/>
                  </a:moveTo>
                  <a:lnTo>
                    <a:pt x="315239" y="279293"/>
                  </a:lnTo>
                  <a:lnTo>
                    <a:pt x="533394" y="279293"/>
                  </a:lnTo>
                  <a:lnTo>
                    <a:pt x="533394" y="261160"/>
                  </a:lnTo>
                  <a:close/>
                  <a:moveTo>
                    <a:pt x="69901" y="246676"/>
                  </a:moveTo>
                  <a:lnTo>
                    <a:pt x="69901" y="377940"/>
                  </a:lnTo>
                  <a:lnTo>
                    <a:pt x="201365" y="377940"/>
                  </a:lnTo>
                  <a:lnTo>
                    <a:pt x="201365" y="246676"/>
                  </a:lnTo>
                  <a:close/>
                  <a:moveTo>
                    <a:pt x="315239" y="170381"/>
                  </a:moveTo>
                  <a:lnTo>
                    <a:pt x="315239" y="188514"/>
                  </a:lnTo>
                  <a:lnTo>
                    <a:pt x="533394" y="188514"/>
                  </a:lnTo>
                  <a:lnTo>
                    <a:pt x="533394" y="170381"/>
                  </a:lnTo>
                  <a:close/>
                  <a:moveTo>
                    <a:pt x="135627" y="97874"/>
                  </a:moveTo>
                  <a:cubicBezTo>
                    <a:pt x="161894" y="97874"/>
                    <a:pt x="183188" y="119105"/>
                    <a:pt x="183188" y="145294"/>
                  </a:cubicBezTo>
                  <a:cubicBezTo>
                    <a:pt x="183188" y="171483"/>
                    <a:pt x="161894" y="192714"/>
                    <a:pt x="135627" y="192714"/>
                  </a:cubicBezTo>
                  <a:cubicBezTo>
                    <a:pt x="109360" y="192714"/>
                    <a:pt x="88066" y="171483"/>
                    <a:pt x="88066" y="145294"/>
                  </a:cubicBezTo>
                  <a:cubicBezTo>
                    <a:pt x="88066" y="119105"/>
                    <a:pt x="109360" y="97874"/>
                    <a:pt x="135627" y="97874"/>
                  </a:cubicBezTo>
                  <a:close/>
                  <a:moveTo>
                    <a:pt x="315239" y="79716"/>
                  </a:moveTo>
                  <a:lnTo>
                    <a:pt x="315239" y="97849"/>
                  </a:lnTo>
                  <a:lnTo>
                    <a:pt x="533394" y="97849"/>
                  </a:lnTo>
                  <a:lnTo>
                    <a:pt x="533394" y="79716"/>
                  </a:lnTo>
                  <a:close/>
                  <a:moveTo>
                    <a:pt x="135690" y="79602"/>
                  </a:moveTo>
                  <a:cubicBezTo>
                    <a:pt x="99369" y="79602"/>
                    <a:pt x="69901" y="109140"/>
                    <a:pt x="69901" y="145292"/>
                  </a:cubicBezTo>
                  <a:cubicBezTo>
                    <a:pt x="69901" y="181443"/>
                    <a:pt x="99369" y="210867"/>
                    <a:pt x="135690" y="210867"/>
                  </a:cubicBezTo>
                  <a:cubicBezTo>
                    <a:pt x="171897" y="210867"/>
                    <a:pt x="201365" y="181443"/>
                    <a:pt x="201365" y="145292"/>
                  </a:cubicBezTo>
                  <a:cubicBezTo>
                    <a:pt x="201365" y="109140"/>
                    <a:pt x="171897" y="79602"/>
                    <a:pt x="135690" y="79602"/>
                  </a:cubicBezTo>
                  <a:close/>
                  <a:moveTo>
                    <a:pt x="0" y="0"/>
                  </a:moveTo>
                  <a:lnTo>
                    <a:pt x="606721" y="0"/>
                  </a:lnTo>
                  <a:lnTo>
                    <a:pt x="606721" y="476246"/>
                  </a:lnTo>
                  <a:lnTo>
                    <a:pt x="0" y="476246"/>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grpSp>
      <p:grpSp>
        <p:nvGrpSpPr>
          <p:cNvPr id="25" name="组合 24"/>
          <p:cNvGrpSpPr/>
          <p:nvPr/>
        </p:nvGrpSpPr>
        <p:grpSpPr>
          <a:xfrm>
            <a:off x="334963" y="410221"/>
            <a:ext cx="4243283" cy="601052"/>
            <a:chOff x="334963" y="455941"/>
            <a:chExt cx="4243283" cy="601052"/>
          </a:xfrm>
        </p:grpSpPr>
        <p:grpSp>
          <p:nvGrpSpPr>
            <p:cNvPr id="20" name="组合 19"/>
            <p:cNvGrpSpPr/>
            <p:nvPr/>
          </p:nvGrpSpPr>
          <p:grpSpPr>
            <a:xfrm>
              <a:off x="603091" y="455941"/>
              <a:ext cx="3975155" cy="601052"/>
              <a:chOff x="603091" y="455941"/>
              <a:chExt cx="3975155" cy="601052"/>
            </a:xfrm>
          </p:grpSpPr>
          <p:sp>
            <p:nvSpPr>
              <p:cNvPr id="26" name="文本框 25"/>
              <p:cNvSpPr txBox="1"/>
              <p:nvPr/>
            </p:nvSpPr>
            <p:spPr>
              <a:xfrm>
                <a:off x="603091" y="455941"/>
                <a:ext cx="2926080" cy="459105"/>
              </a:xfrm>
              <a:prstGeom prst="rect">
                <a:avLst/>
              </a:prstGeom>
              <a:noFill/>
            </p:spPr>
            <p:txBody>
              <a:bodyPr wrap="none" rtlCol="0">
                <a:noAutofit/>
              </a:bodyPr>
              <a:p>
                <a:pPr algn="l"/>
                <a:r>
                  <a:rPr lang="zh-CN" altLang="en-US" sz="2400" b="1" dirty="0">
                    <a:solidFill>
                      <a:srgbClr val="7188A8"/>
                    </a:solidFill>
                    <a:cs typeface="+mn-ea"/>
                    <a:sym typeface="+mn-lt"/>
                  </a:rPr>
                  <a:t>双相情感障碍的病</a:t>
                </a:r>
                <a:r>
                  <a:rPr lang="zh-CN" altLang="en-US" sz="2400" b="1" dirty="0">
                    <a:solidFill>
                      <a:srgbClr val="7188A8"/>
                    </a:solidFill>
                    <a:cs typeface="+mn-ea"/>
                    <a:sym typeface="+mn-lt"/>
                  </a:rPr>
                  <a:t>理</a:t>
                </a:r>
                <a:endParaRPr lang="zh-CN" altLang="en-US" sz="2400" b="1" dirty="0">
                  <a:solidFill>
                    <a:srgbClr val="7188A8"/>
                  </a:solidFill>
                  <a:cs typeface="+mn-ea"/>
                  <a:sym typeface="+mn-lt"/>
                </a:endParaRPr>
              </a:p>
            </p:txBody>
          </p:sp>
          <p:sp>
            <p:nvSpPr>
              <p:cNvPr id="27" name="矩形 26"/>
              <p:cNvSpPr/>
              <p:nvPr/>
            </p:nvSpPr>
            <p:spPr>
              <a:xfrm>
                <a:off x="610102" y="804263"/>
                <a:ext cx="3968144" cy="252730"/>
              </a:xfrm>
              <a:prstGeom prst="rect">
                <a:avLst/>
              </a:prstGeom>
            </p:spPr>
            <p:txBody>
              <a:bodyPr wrap="square">
                <a:spAutoFit/>
              </a:bodyPr>
              <a:p>
                <a:r>
                  <a:rPr lang="en-US" altLang="zh-CN" sz="1050" dirty="0">
                    <a:solidFill>
                      <a:schemeClr val="bg1">
                        <a:lumMod val="50000"/>
                      </a:schemeClr>
                    </a:solidFill>
                  </a:rPr>
                  <a:t>Pathology of bipolar disorder</a:t>
                </a:r>
                <a:endParaRPr lang="en-US" altLang="zh-CN" sz="1050" dirty="0">
                  <a:solidFill>
                    <a:schemeClr val="bg1">
                      <a:lumMod val="50000"/>
                    </a:schemeClr>
                  </a:solidFill>
                </a:endParaRPr>
              </a:p>
            </p:txBody>
          </p:sp>
        </p:grpSp>
        <p:sp>
          <p:nvSpPr>
            <p:cNvPr id="28" name="矩形 27"/>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65" name="文本框 64"/>
          <p:cNvSpPr txBox="1"/>
          <p:nvPr/>
        </p:nvSpPr>
        <p:spPr>
          <a:xfrm>
            <a:off x="1162685" y="1158875"/>
            <a:ext cx="6096000" cy="531495"/>
          </a:xfrm>
          <a:prstGeom prst="rect">
            <a:avLst/>
          </a:prstGeom>
          <a:noFill/>
        </p:spPr>
        <p:txBody>
          <a:bodyPr wrap="square" rtlCol="0" anchor="t">
            <a:noAutofit/>
          </a:bodyPr>
          <a:p>
            <a:r>
              <a:rPr lang="zh-CN" altLang="en-US" sz="2400" b="1" noProof="0" dirty="0">
                <a:solidFill>
                  <a:srgbClr val="7188A8"/>
                </a:solidFill>
                <a:latin typeface="思源黑体 CN Bold" panose="020B0800000000000000" pitchFamily="34" charset="-122"/>
                <a:ea typeface="思源黑体 CN Bold" panose="020B0800000000000000" pitchFamily="34" charset="-122"/>
                <a:sym typeface="+mn-ea"/>
              </a:rPr>
              <a:t>生物学因素</a:t>
            </a:r>
            <a:r>
              <a:rPr lang="en-US" altLang="zh-CN" sz="2400" b="1" noProof="0" dirty="0">
                <a:solidFill>
                  <a:srgbClr val="7188A8"/>
                </a:solidFill>
                <a:latin typeface="思源黑体 CN Bold" panose="020B0800000000000000" pitchFamily="34" charset="-122"/>
                <a:ea typeface="思源黑体 CN Bold" panose="020B0800000000000000" pitchFamily="34" charset="-122"/>
                <a:sym typeface="+mn-ea"/>
              </a:rPr>
              <a:t> - </a:t>
            </a:r>
            <a:r>
              <a:rPr lang="zh-CN" altLang="en-US" sz="2400" b="1" dirty="0">
                <a:solidFill>
                  <a:srgbClr val="7488A8"/>
                </a:solidFill>
                <a:latin typeface="黑体" panose="02010609060101010101" charset="-122"/>
                <a:ea typeface="黑体" panose="02010609060101010101" charset="-122"/>
                <a:cs typeface="黑体" panose="02010609060101010101" charset="-122"/>
                <a:sym typeface="+mn-lt"/>
              </a:rPr>
              <a:t>大脑结构</a:t>
            </a:r>
            <a:endParaRPr lang="zh-CN" altLang="en-US" sz="2400" b="1" dirty="0">
              <a:solidFill>
                <a:srgbClr val="7488A8"/>
              </a:solidFill>
              <a:latin typeface="黑体" panose="02010609060101010101" charset="-122"/>
              <a:ea typeface="黑体" panose="02010609060101010101" charset="-122"/>
              <a:cs typeface="黑体" panose="02010609060101010101" charset="-122"/>
              <a:sym typeface="+mn-lt"/>
            </a:endParaRPr>
          </a:p>
        </p:txBody>
      </p:sp>
      <p:sp>
        <p:nvSpPr>
          <p:cNvPr id="67" name="文本框2"/>
          <p:cNvSpPr/>
          <p:nvPr>
            <p:custDataLst>
              <p:tags r:id="rId2"/>
            </p:custDataLst>
          </p:nvPr>
        </p:nvSpPr>
        <p:spPr>
          <a:xfrm>
            <a:off x="699135" y="1667510"/>
            <a:ext cx="10355580" cy="2630170"/>
          </a:xfrm>
          <a:prstGeom prst="rect">
            <a:avLst/>
          </a:prstGeom>
        </p:spPr>
        <p:txBody>
          <a:bodyPr wrap="square">
            <a:spAutoFit/>
          </a:bodyPr>
          <a:p>
            <a:pPr indent="457200" algn="l" fontAlgn="auto">
              <a:lnSpc>
                <a:spcPct val="130000"/>
              </a:lnSpc>
              <a:spcBef>
                <a:spcPts val="1100"/>
              </a:spcBef>
              <a:buClrTx/>
              <a:buSzTx/>
              <a:buFontTx/>
              <a:defRPr/>
            </a:pPr>
            <a:r>
              <a:rPr lang="zh-CN" altLang="en-US" sz="2400" b="1" dirty="0">
                <a:solidFill>
                  <a:srgbClr val="7488A8"/>
                </a:solidFill>
                <a:latin typeface="黑体" panose="02010609060101010101" charset="-122"/>
                <a:ea typeface="黑体" panose="02010609060101010101" charset="-122"/>
                <a:cs typeface="黑体" panose="02010609060101010101" charset="-122"/>
                <a:sym typeface="+mn-lt"/>
              </a:rPr>
              <a:t>前额叶皮质</a:t>
            </a:r>
            <a:endParaRPr lang="zh-CN" altLang="en-US" sz="2400" b="1" dirty="0">
              <a:solidFill>
                <a:srgbClr val="7488A8"/>
              </a:solidFill>
              <a:latin typeface="黑体" panose="02010609060101010101" charset="-122"/>
              <a:ea typeface="黑体" panose="02010609060101010101" charset="-122"/>
              <a:cs typeface="黑体" panose="02010609060101010101" charset="-122"/>
              <a:sym typeface="+mn-lt"/>
            </a:endParaRPr>
          </a:p>
          <a:p>
            <a:pPr indent="457200" algn="l" fontAlgn="auto">
              <a:lnSpc>
                <a:spcPct val="130000"/>
              </a:lnSpc>
              <a:spcBef>
                <a:spcPts val="1100"/>
              </a:spcBef>
              <a:buClrTx/>
              <a:buSzTx/>
              <a:buFontTx/>
              <a:defRPr/>
            </a:pP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在人脑中，额叶约占大脑皮质面积的 40%，</a:t>
            </a: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主要由运动皮质、前运动皮质、前额叶皮质和额叶底内侧部构成，它是大脑功能的执行中枢，并与大脑其他部位相联系，负责对传入的信息进行加工、整合，并选择适当的情感和运动反应。</a:t>
            </a:r>
            <a:endParaRPr kumimoji="0" lang="en-US" altLang="zh-CN" sz="24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p:txBody>
      </p:sp>
      <p:pic>
        <p:nvPicPr>
          <p:cNvPr id="2" name="图片 -2147482620" descr="IMG_256"/>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2684145" y="3544570"/>
            <a:ext cx="6824345" cy="349821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custDataLst>
              <p:tags r:id="rId1"/>
            </p:custDataLst>
          </p:nvPr>
        </p:nvGrpSpPr>
        <p:grpSpPr>
          <a:xfrm>
            <a:off x="603416" y="1156811"/>
            <a:ext cx="533348" cy="533346"/>
            <a:chOff x="1716240" y="3498056"/>
            <a:chExt cx="533348" cy="533346"/>
          </a:xfrm>
        </p:grpSpPr>
        <p:sp>
          <p:nvSpPr>
            <p:cNvPr id="8" name="椭圆 7"/>
            <p:cNvSpPr/>
            <p:nvPr/>
          </p:nvSpPr>
          <p:spPr>
            <a:xfrm>
              <a:off x="1716240" y="3498056"/>
              <a:ext cx="533348" cy="533346"/>
            </a:xfrm>
            <a:prstGeom prst="ellipse">
              <a:avLst/>
            </a:prstGeom>
            <a:solidFill>
              <a:srgbClr val="96C0E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11" name="椭圆 23"/>
            <p:cNvSpPr/>
            <p:nvPr/>
          </p:nvSpPr>
          <p:spPr>
            <a:xfrm>
              <a:off x="1823397" y="3639516"/>
              <a:ext cx="319034" cy="250425"/>
            </a:xfrm>
            <a:custGeom>
              <a:avLst/>
              <a:gdLst>
                <a:gd name="connsiteX0" fmla="*/ 315239 w 606721"/>
                <a:gd name="connsiteY0" fmla="*/ 351824 h 476246"/>
                <a:gd name="connsiteX1" fmla="*/ 315239 w 606721"/>
                <a:gd name="connsiteY1" fmla="*/ 369957 h 476246"/>
                <a:gd name="connsiteX2" fmla="*/ 533394 w 606721"/>
                <a:gd name="connsiteY2" fmla="*/ 369957 h 476246"/>
                <a:gd name="connsiteX3" fmla="*/ 533394 w 606721"/>
                <a:gd name="connsiteY3" fmla="*/ 351824 h 476246"/>
                <a:gd name="connsiteX4" fmla="*/ 88066 w 606721"/>
                <a:gd name="connsiteY4" fmla="*/ 264832 h 476246"/>
                <a:gd name="connsiteX5" fmla="*/ 183188 w 606721"/>
                <a:gd name="connsiteY5" fmla="*/ 264832 h 476246"/>
                <a:gd name="connsiteX6" fmla="*/ 183188 w 606721"/>
                <a:gd name="connsiteY6" fmla="*/ 359813 h 476246"/>
                <a:gd name="connsiteX7" fmla="*/ 88066 w 606721"/>
                <a:gd name="connsiteY7" fmla="*/ 359813 h 476246"/>
                <a:gd name="connsiteX8" fmla="*/ 315239 w 606721"/>
                <a:gd name="connsiteY8" fmla="*/ 261160 h 476246"/>
                <a:gd name="connsiteX9" fmla="*/ 315239 w 606721"/>
                <a:gd name="connsiteY9" fmla="*/ 279293 h 476246"/>
                <a:gd name="connsiteX10" fmla="*/ 533394 w 606721"/>
                <a:gd name="connsiteY10" fmla="*/ 279293 h 476246"/>
                <a:gd name="connsiteX11" fmla="*/ 533394 w 606721"/>
                <a:gd name="connsiteY11" fmla="*/ 261160 h 476246"/>
                <a:gd name="connsiteX12" fmla="*/ 69901 w 606721"/>
                <a:gd name="connsiteY12" fmla="*/ 246676 h 476246"/>
                <a:gd name="connsiteX13" fmla="*/ 69901 w 606721"/>
                <a:gd name="connsiteY13" fmla="*/ 377940 h 476246"/>
                <a:gd name="connsiteX14" fmla="*/ 201365 w 606721"/>
                <a:gd name="connsiteY14" fmla="*/ 377940 h 476246"/>
                <a:gd name="connsiteX15" fmla="*/ 201365 w 606721"/>
                <a:gd name="connsiteY15" fmla="*/ 246676 h 476246"/>
                <a:gd name="connsiteX16" fmla="*/ 315239 w 606721"/>
                <a:gd name="connsiteY16" fmla="*/ 170381 h 476246"/>
                <a:gd name="connsiteX17" fmla="*/ 315239 w 606721"/>
                <a:gd name="connsiteY17" fmla="*/ 188514 h 476246"/>
                <a:gd name="connsiteX18" fmla="*/ 533394 w 606721"/>
                <a:gd name="connsiteY18" fmla="*/ 188514 h 476246"/>
                <a:gd name="connsiteX19" fmla="*/ 533394 w 606721"/>
                <a:gd name="connsiteY19" fmla="*/ 170381 h 476246"/>
                <a:gd name="connsiteX20" fmla="*/ 135627 w 606721"/>
                <a:gd name="connsiteY20" fmla="*/ 97874 h 476246"/>
                <a:gd name="connsiteX21" fmla="*/ 183188 w 606721"/>
                <a:gd name="connsiteY21" fmla="*/ 145294 h 476246"/>
                <a:gd name="connsiteX22" fmla="*/ 135627 w 606721"/>
                <a:gd name="connsiteY22" fmla="*/ 192714 h 476246"/>
                <a:gd name="connsiteX23" fmla="*/ 88066 w 606721"/>
                <a:gd name="connsiteY23" fmla="*/ 145294 h 476246"/>
                <a:gd name="connsiteX24" fmla="*/ 135627 w 606721"/>
                <a:gd name="connsiteY24" fmla="*/ 97874 h 476246"/>
                <a:gd name="connsiteX25" fmla="*/ 315239 w 606721"/>
                <a:gd name="connsiteY25" fmla="*/ 79716 h 476246"/>
                <a:gd name="connsiteX26" fmla="*/ 315239 w 606721"/>
                <a:gd name="connsiteY26" fmla="*/ 97849 h 476246"/>
                <a:gd name="connsiteX27" fmla="*/ 533394 w 606721"/>
                <a:gd name="connsiteY27" fmla="*/ 97849 h 476246"/>
                <a:gd name="connsiteX28" fmla="*/ 533394 w 606721"/>
                <a:gd name="connsiteY28" fmla="*/ 79716 h 476246"/>
                <a:gd name="connsiteX29" fmla="*/ 135690 w 606721"/>
                <a:gd name="connsiteY29" fmla="*/ 79602 h 476246"/>
                <a:gd name="connsiteX30" fmla="*/ 69901 w 606721"/>
                <a:gd name="connsiteY30" fmla="*/ 145292 h 476246"/>
                <a:gd name="connsiteX31" fmla="*/ 135690 w 606721"/>
                <a:gd name="connsiteY31" fmla="*/ 210867 h 476246"/>
                <a:gd name="connsiteX32" fmla="*/ 201365 w 606721"/>
                <a:gd name="connsiteY32" fmla="*/ 145292 h 476246"/>
                <a:gd name="connsiteX33" fmla="*/ 135690 w 606721"/>
                <a:gd name="connsiteY33" fmla="*/ 79602 h 476246"/>
                <a:gd name="connsiteX34" fmla="*/ 0 w 606721"/>
                <a:gd name="connsiteY34" fmla="*/ 0 h 476246"/>
                <a:gd name="connsiteX35" fmla="*/ 606721 w 606721"/>
                <a:gd name="connsiteY35" fmla="*/ 0 h 476246"/>
                <a:gd name="connsiteX36" fmla="*/ 606721 w 606721"/>
                <a:gd name="connsiteY36" fmla="*/ 476246 h 476246"/>
                <a:gd name="connsiteX37" fmla="*/ 0 w 606721"/>
                <a:gd name="connsiteY37" fmla="*/ 476246 h 476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6721" h="476246">
                  <a:moveTo>
                    <a:pt x="315239" y="351824"/>
                  </a:moveTo>
                  <a:lnTo>
                    <a:pt x="315239" y="369957"/>
                  </a:lnTo>
                  <a:lnTo>
                    <a:pt x="533394" y="369957"/>
                  </a:lnTo>
                  <a:lnTo>
                    <a:pt x="533394" y="351824"/>
                  </a:lnTo>
                  <a:close/>
                  <a:moveTo>
                    <a:pt x="88066" y="264832"/>
                  </a:moveTo>
                  <a:lnTo>
                    <a:pt x="183188" y="264832"/>
                  </a:lnTo>
                  <a:lnTo>
                    <a:pt x="183188" y="359813"/>
                  </a:lnTo>
                  <a:lnTo>
                    <a:pt x="88066" y="359813"/>
                  </a:lnTo>
                  <a:close/>
                  <a:moveTo>
                    <a:pt x="315239" y="261160"/>
                  </a:moveTo>
                  <a:lnTo>
                    <a:pt x="315239" y="279293"/>
                  </a:lnTo>
                  <a:lnTo>
                    <a:pt x="533394" y="279293"/>
                  </a:lnTo>
                  <a:lnTo>
                    <a:pt x="533394" y="261160"/>
                  </a:lnTo>
                  <a:close/>
                  <a:moveTo>
                    <a:pt x="69901" y="246676"/>
                  </a:moveTo>
                  <a:lnTo>
                    <a:pt x="69901" y="377940"/>
                  </a:lnTo>
                  <a:lnTo>
                    <a:pt x="201365" y="377940"/>
                  </a:lnTo>
                  <a:lnTo>
                    <a:pt x="201365" y="246676"/>
                  </a:lnTo>
                  <a:close/>
                  <a:moveTo>
                    <a:pt x="315239" y="170381"/>
                  </a:moveTo>
                  <a:lnTo>
                    <a:pt x="315239" y="188514"/>
                  </a:lnTo>
                  <a:lnTo>
                    <a:pt x="533394" y="188514"/>
                  </a:lnTo>
                  <a:lnTo>
                    <a:pt x="533394" y="170381"/>
                  </a:lnTo>
                  <a:close/>
                  <a:moveTo>
                    <a:pt x="135627" y="97874"/>
                  </a:moveTo>
                  <a:cubicBezTo>
                    <a:pt x="161894" y="97874"/>
                    <a:pt x="183188" y="119105"/>
                    <a:pt x="183188" y="145294"/>
                  </a:cubicBezTo>
                  <a:cubicBezTo>
                    <a:pt x="183188" y="171483"/>
                    <a:pt x="161894" y="192714"/>
                    <a:pt x="135627" y="192714"/>
                  </a:cubicBezTo>
                  <a:cubicBezTo>
                    <a:pt x="109360" y="192714"/>
                    <a:pt x="88066" y="171483"/>
                    <a:pt x="88066" y="145294"/>
                  </a:cubicBezTo>
                  <a:cubicBezTo>
                    <a:pt x="88066" y="119105"/>
                    <a:pt x="109360" y="97874"/>
                    <a:pt x="135627" y="97874"/>
                  </a:cubicBezTo>
                  <a:close/>
                  <a:moveTo>
                    <a:pt x="315239" y="79716"/>
                  </a:moveTo>
                  <a:lnTo>
                    <a:pt x="315239" y="97849"/>
                  </a:lnTo>
                  <a:lnTo>
                    <a:pt x="533394" y="97849"/>
                  </a:lnTo>
                  <a:lnTo>
                    <a:pt x="533394" y="79716"/>
                  </a:lnTo>
                  <a:close/>
                  <a:moveTo>
                    <a:pt x="135690" y="79602"/>
                  </a:moveTo>
                  <a:cubicBezTo>
                    <a:pt x="99369" y="79602"/>
                    <a:pt x="69901" y="109140"/>
                    <a:pt x="69901" y="145292"/>
                  </a:cubicBezTo>
                  <a:cubicBezTo>
                    <a:pt x="69901" y="181443"/>
                    <a:pt x="99369" y="210867"/>
                    <a:pt x="135690" y="210867"/>
                  </a:cubicBezTo>
                  <a:cubicBezTo>
                    <a:pt x="171897" y="210867"/>
                    <a:pt x="201365" y="181443"/>
                    <a:pt x="201365" y="145292"/>
                  </a:cubicBezTo>
                  <a:cubicBezTo>
                    <a:pt x="201365" y="109140"/>
                    <a:pt x="171897" y="79602"/>
                    <a:pt x="135690" y="79602"/>
                  </a:cubicBezTo>
                  <a:close/>
                  <a:moveTo>
                    <a:pt x="0" y="0"/>
                  </a:moveTo>
                  <a:lnTo>
                    <a:pt x="606721" y="0"/>
                  </a:lnTo>
                  <a:lnTo>
                    <a:pt x="606721" y="476246"/>
                  </a:lnTo>
                  <a:lnTo>
                    <a:pt x="0" y="476246"/>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grpSp>
      <p:grpSp>
        <p:nvGrpSpPr>
          <p:cNvPr id="25" name="组合 24"/>
          <p:cNvGrpSpPr/>
          <p:nvPr/>
        </p:nvGrpSpPr>
        <p:grpSpPr>
          <a:xfrm>
            <a:off x="334963" y="410221"/>
            <a:ext cx="4243283" cy="601052"/>
            <a:chOff x="334963" y="455941"/>
            <a:chExt cx="4243283" cy="601052"/>
          </a:xfrm>
        </p:grpSpPr>
        <p:grpSp>
          <p:nvGrpSpPr>
            <p:cNvPr id="20" name="组合 19"/>
            <p:cNvGrpSpPr/>
            <p:nvPr/>
          </p:nvGrpSpPr>
          <p:grpSpPr>
            <a:xfrm>
              <a:off x="603091" y="455941"/>
              <a:ext cx="3975155" cy="601052"/>
              <a:chOff x="603091" y="455941"/>
              <a:chExt cx="3975155" cy="601052"/>
            </a:xfrm>
          </p:grpSpPr>
          <p:sp>
            <p:nvSpPr>
              <p:cNvPr id="26" name="文本框 25"/>
              <p:cNvSpPr txBox="1"/>
              <p:nvPr/>
            </p:nvSpPr>
            <p:spPr>
              <a:xfrm>
                <a:off x="603091" y="455941"/>
                <a:ext cx="2926080" cy="459105"/>
              </a:xfrm>
              <a:prstGeom prst="rect">
                <a:avLst/>
              </a:prstGeom>
              <a:noFill/>
            </p:spPr>
            <p:txBody>
              <a:bodyPr wrap="none" rtlCol="0">
                <a:noAutofit/>
              </a:bodyPr>
              <a:p>
                <a:pPr algn="l"/>
                <a:r>
                  <a:rPr lang="zh-CN" altLang="en-US" sz="2400" b="1" dirty="0">
                    <a:solidFill>
                      <a:srgbClr val="7188A8"/>
                    </a:solidFill>
                    <a:cs typeface="+mn-ea"/>
                    <a:sym typeface="+mn-lt"/>
                  </a:rPr>
                  <a:t>双相情感障碍的病</a:t>
                </a:r>
                <a:r>
                  <a:rPr lang="zh-CN" altLang="en-US" sz="2400" b="1" dirty="0">
                    <a:solidFill>
                      <a:srgbClr val="7188A8"/>
                    </a:solidFill>
                    <a:cs typeface="+mn-ea"/>
                    <a:sym typeface="+mn-lt"/>
                  </a:rPr>
                  <a:t>理</a:t>
                </a:r>
                <a:endParaRPr lang="zh-CN" altLang="en-US" sz="2400" b="1" dirty="0">
                  <a:solidFill>
                    <a:srgbClr val="7188A8"/>
                  </a:solidFill>
                  <a:cs typeface="+mn-ea"/>
                  <a:sym typeface="+mn-lt"/>
                </a:endParaRPr>
              </a:p>
            </p:txBody>
          </p:sp>
          <p:sp>
            <p:nvSpPr>
              <p:cNvPr id="27" name="矩形 26"/>
              <p:cNvSpPr/>
              <p:nvPr/>
            </p:nvSpPr>
            <p:spPr>
              <a:xfrm>
                <a:off x="610102" y="804263"/>
                <a:ext cx="3968144" cy="252730"/>
              </a:xfrm>
              <a:prstGeom prst="rect">
                <a:avLst/>
              </a:prstGeom>
            </p:spPr>
            <p:txBody>
              <a:bodyPr wrap="square">
                <a:spAutoFit/>
              </a:bodyPr>
              <a:p>
                <a:r>
                  <a:rPr lang="en-US" altLang="zh-CN" sz="1050" dirty="0">
                    <a:solidFill>
                      <a:schemeClr val="bg1">
                        <a:lumMod val="50000"/>
                      </a:schemeClr>
                    </a:solidFill>
                  </a:rPr>
                  <a:t>Pathology of bipolar disorder</a:t>
                </a:r>
                <a:endParaRPr lang="en-US" altLang="zh-CN" sz="1050" dirty="0">
                  <a:solidFill>
                    <a:schemeClr val="bg1">
                      <a:lumMod val="50000"/>
                    </a:schemeClr>
                  </a:solidFill>
                </a:endParaRPr>
              </a:p>
            </p:txBody>
          </p:sp>
        </p:grpSp>
        <p:sp>
          <p:nvSpPr>
            <p:cNvPr id="28" name="矩形 27"/>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65" name="文本框 64"/>
          <p:cNvSpPr txBox="1"/>
          <p:nvPr/>
        </p:nvSpPr>
        <p:spPr>
          <a:xfrm>
            <a:off x="1162685" y="1158875"/>
            <a:ext cx="6096000" cy="531495"/>
          </a:xfrm>
          <a:prstGeom prst="rect">
            <a:avLst/>
          </a:prstGeom>
          <a:noFill/>
        </p:spPr>
        <p:txBody>
          <a:bodyPr wrap="square" rtlCol="0" anchor="t">
            <a:noAutofit/>
          </a:bodyPr>
          <a:p>
            <a:r>
              <a:rPr lang="zh-CN" altLang="en-US" sz="2400" b="1" noProof="0" dirty="0">
                <a:solidFill>
                  <a:srgbClr val="7188A8"/>
                </a:solidFill>
                <a:latin typeface="思源黑体 CN Bold" panose="020B0800000000000000" pitchFamily="34" charset="-122"/>
                <a:ea typeface="思源黑体 CN Bold" panose="020B0800000000000000" pitchFamily="34" charset="-122"/>
                <a:sym typeface="+mn-ea"/>
              </a:rPr>
              <a:t>生物学因素</a:t>
            </a:r>
            <a:r>
              <a:rPr lang="en-US" altLang="zh-CN" sz="2400" b="1" noProof="0" dirty="0">
                <a:solidFill>
                  <a:srgbClr val="7188A8"/>
                </a:solidFill>
                <a:latin typeface="思源黑体 CN Bold" panose="020B0800000000000000" pitchFamily="34" charset="-122"/>
                <a:ea typeface="思源黑体 CN Bold" panose="020B0800000000000000" pitchFamily="34" charset="-122"/>
                <a:sym typeface="+mn-ea"/>
              </a:rPr>
              <a:t> - </a:t>
            </a:r>
            <a:r>
              <a:rPr lang="zh-CN" altLang="en-US" sz="2400" b="1" dirty="0">
                <a:solidFill>
                  <a:srgbClr val="7488A8"/>
                </a:solidFill>
                <a:latin typeface="黑体" panose="02010609060101010101" charset="-122"/>
                <a:ea typeface="黑体" panose="02010609060101010101" charset="-122"/>
                <a:cs typeface="黑体" panose="02010609060101010101" charset="-122"/>
                <a:sym typeface="+mn-lt"/>
              </a:rPr>
              <a:t>大脑结构</a:t>
            </a:r>
            <a:endParaRPr lang="zh-CN" altLang="en-US" sz="2400" b="1" dirty="0">
              <a:solidFill>
                <a:srgbClr val="7488A8"/>
              </a:solidFill>
              <a:latin typeface="黑体" panose="02010609060101010101" charset="-122"/>
              <a:ea typeface="黑体" panose="02010609060101010101" charset="-122"/>
              <a:cs typeface="黑体" panose="02010609060101010101" charset="-122"/>
              <a:sym typeface="+mn-lt"/>
            </a:endParaRPr>
          </a:p>
        </p:txBody>
      </p:sp>
      <p:sp>
        <p:nvSpPr>
          <p:cNvPr id="67" name="文本框2"/>
          <p:cNvSpPr/>
          <p:nvPr>
            <p:custDataLst>
              <p:tags r:id="rId2"/>
            </p:custDataLst>
          </p:nvPr>
        </p:nvSpPr>
        <p:spPr>
          <a:xfrm>
            <a:off x="699135" y="1667510"/>
            <a:ext cx="10355580" cy="4831080"/>
          </a:xfrm>
          <a:prstGeom prst="rect">
            <a:avLst/>
          </a:prstGeom>
        </p:spPr>
        <p:txBody>
          <a:bodyPr wrap="square">
            <a:spAutoFit/>
          </a:bodyPr>
          <a:p>
            <a:pPr indent="457200" algn="l" fontAlgn="auto">
              <a:lnSpc>
                <a:spcPct val="130000"/>
              </a:lnSpc>
              <a:spcBef>
                <a:spcPts val="1100"/>
              </a:spcBef>
              <a:buClrTx/>
              <a:buSzTx/>
              <a:buFontTx/>
              <a:defRPr/>
            </a:pPr>
            <a:r>
              <a:rPr lang="zh-CN" altLang="en-US" sz="2400" b="1" dirty="0">
                <a:solidFill>
                  <a:srgbClr val="7488A8"/>
                </a:solidFill>
                <a:latin typeface="黑体" panose="02010609060101010101" charset="-122"/>
                <a:ea typeface="黑体" panose="02010609060101010101" charset="-122"/>
                <a:cs typeface="黑体" panose="02010609060101010101" charset="-122"/>
                <a:sym typeface="+mn-lt"/>
              </a:rPr>
              <a:t>前额叶皮质</a:t>
            </a:r>
            <a:endParaRPr lang="zh-CN" altLang="en-US" sz="2400" b="1" dirty="0">
              <a:solidFill>
                <a:srgbClr val="7488A8"/>
              </a:solidFill>
              <a:latin typeface="黑体" panose="02010609060101010101" charset="-122"/>
              <a:ea typeface="黑体" panose="02010609060101010101" charset="-122"/>
              <a:cs typeface="黑体" panose="02010609060101010101" charset="-122"/>
              <a:sym typeface="+mn-lt"/>
            </a:endParaRPr>
          </a:p>
          <a:p>
            <a:pPr indent="457200" algn="l" fontAlgn="auto">
              <a:lnSpc>
                <a:spcPct val="130000"/>
              </a:lnSpc>
              <a:spcBef>
                <a:spcPts val="1100"/>
              </a:spcBef>
              <a:buClrTx/>
              <a:buSzTx/>
              <a:buFontTx/>
              <a:defRPr/>
            </a:pP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i.前额叶是情绪中枢通路的重要环节之一，此功能由其不同的组成部分</a:t>
            </a: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如背外侧部 （DLPFC）、腹内侧部（MPFC）和眶部（OFC）来执行，各部分在情绪加工过程中发挥着不同的作用。</a:t>
            </a:r>
            <a:endPar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a:p>
            <a:pPr indent="457200" algn="l" fontAlgn="auto">
              <a:lnSpc>
                <a:spcPct val="130000"/>
              </a:lnSpc>
              <a:spcBef>
                <a:spcPts val="1100"/>
              </a:spcBef>
              <a:buClrTx/>
              <a:buSzTx/>
              <a:buFontTx/>
              <a:defRPr/>
            </a:pPr>
            <a:r>
              <a:rPr kumimoji="0" lang="en-US" altLang="zh-CN" sz="2400" i="0" baseline="0" dirty="0">
                <a:solidFill>
                  <a:srgbClr val="7F7F7F"/>
                </a:solidFill>
                <a:uFillTx/>
                <a:latin typeface="黑体" panose="02010609060101010101" charset="-122"/>
                <a:ea typeface="黑体" panose="02010609060101010101" charset="-122"/>
                <a:cs typeface="黑体" panose="02010609060101010101" charset="-122"/>
                <a:sym typeface="+mn-lt"/>
              </a:rPr>
              <a:t>ii.</a:t>
            </a: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额叶病变不仅影响情感和情绪，也能改变认知功能、行为和决策能力。</a:t>
            </a:r>
            <a:r>
              <a:rPr kumimoji="0" lang="en-US" altLang="zh-CN" sz="2400" i="0" baseline="0" dirty="0">
                <a:solidFill>
                  <a:srgbClr val="7F7F7F"/>
                </a:solidFill>
                <a:uFillTx/>
                <a:latin typeface="黑体" panose="02010609060101010101" charset="-122"/>
                <a:ea typeface="黑体" panose="02010609060101010101" charset="-122"/>
                <a:cs typeface="黑体" panose="02010609060101010101" charset="-122"/>
                <a:sym typeface="+mn-lt"/>
              </a:rPr>
              <a:t>  </a:t>
            </a:r>
            <a:endParaRPr kumimoji="0" lang="en-US" altLang="zh-CN" sz="24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a:p>
            <a:pPr indent="457200" algn="l" fontAlgn="auto">
              <a:lnSpc>
                <a:spcPct val="130000"/>
              </a:lnSpc>
              <a:spcBef>
                <a:spcPts val="1100"/>
              </a:spcBef>
              <a:buClrTx/>
              <a:buSzTx/>
              <a:buFontTx/>
              <a:defRPr/>
            </a:pPr>
            <a:r>
              <a:rPr kumimoji="0" lang="en-US" altLang="zh-CN" sz="2400" i="0" baseline="0" dirty="0">
                <a:solidFill>
                  <a:srgbClr val="7F7F7F"/>
                </a:solidFill>
                <a:uFillTx/>
                <a:latin typeface="黑体" panose="02010609060101010101" charset="-122"/>
                <a:ea typeface="黑体" panose="02010609060101010101" charset="-122"/>
                <a:cs typeface="黑体" panose="02010609060101010101" charset="-122"/>
                <a:sym typeface="+mn-lt"/>
              </a:rPr>
              <a:t>iii.</a:t>
            </a: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边缘系统”负责产生情绪，而“前额叶”负责控制情绪。前额叶皮层属于控制和注意中心，把人的注意力转移到某个目标上，并进行详细、理性的思考。边缘系统负责情绪和记忆的产生，比如人类的快乐、悲伤、愤怒、惊讶、恐惧和厌恶等基本情绪。</a:t>
            </a:r>
            <a:endPar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custDataLst>
              <p:tags r:id="rId1"/>
            </p:custDataLst>
          </p:nvPr>
        </p:nvGrpSpPr>
        <p:grpSpPr>
          <a:xfrm>
            <a:off x="603416" y="1156811"/>
            <a:ext cx="533348" cy="533346"/>
            <a:chOff x="1716240" y="3498056"/>
            <a:chExt cx="533348" cy="533346"/>
          </a:xfrm>
        </p:grpSpPr>
        <p:sp>
          <p:nvSpPr>
            <p:cNvPr id="8" name="椭圆 7"/>
            <p:cNvSpPr/>
            <p:nvPr/>
          </p:nvSpPr>
          <p:spPr>
            <a:xfrm>
              <a:off x="1716240" y="3498056"/>
              <a:ext cx="533348" cy="533346"/>
            </a:xfrm>
            <a:prstGeom prst="ellipse">
              <a:avLst/>
            </a:prstGeom>
            <a:solidFill>
              <a:srgbClr val="96C0E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11" name="椭圆 23"/>
            <p:cNvSpPr/>
            <p:nvPr/>
          </p:nvSpPr>
          <p:spPr>
            <a:xfrm>
              <a:off x="1823397" y="3639516"/>
              <a:ext cx="319034" cy="250425"/>
            </a:xfrm>
            <a:custGeom>
              <a:avLst/>
              <a:gdLst>
                <a:gd name="connsiteX0" fmla="*/ 315239 w 606721"/>
                <a:gd name="connsiteY0" fmla="*/ 351824 h 476246"/>
                <a:gd name="connsiteX1" fmla="*/ 315239 w 606721"/>
                <a:gd name="connsiteY1" fmla="*/ 369957 h 476246"/>
                <a:gd name="connsiteX2" fmla="*/ 533394 w 606721"/>
                <a:gd name="connsiteY2" fmla="*/ 369957 h 476246"/>
                <a:gd name="connsiteX3" fmla="*/ 533394 w 606721"/>
                <a:gd name="connsiteY3" fmla="*/ 351824 h 476246"/>
                <a:gd name="connsiteX4" fmla="*/ 88066 w 606721"/>
                <a:gd name="connsiteY4" fmla="*/ 264832 h 476246"/>
                <a:gd name="connsiteX5" fmla="*/ 183188 w 606721"/>
                <a:gd name="connsiteY5" fmla="*/ 264832 h 476246"/>
                <a:gd name="connsiteX6" fmla="*/ 183188 w 606721"/>
                <a:gd name="connsiteY6" fmla="*/ 359813 h 476246"/>
                <a:gd name="connsiteX7" fmla="*/ 88066 w 606721"/>
                <a:gd name="connsiteY7" fmla="*/ 359813 h 476246"/>
                <a:gd name="connsiteX8" fmla="*/ 315239 w 606721"/>
                <a:gd name="connsiteY8" fmla="*/ 261160 h 476246"/>
                <a:gd name="connsiteX9" fmla="*/ 315239 w 606721"/>
                <a:gd name="connsiteY9" fmla="*/ 279293 h 476246"/>
                <a:gd name="connsiteX10" fmla="*/ 533394 w 606721"/>
                <a:gd name="connsiteY10" fmla="*/ 279293 h 476246"/>
                <a:gd name="connsiteX11" fmla="*/ 533394 w 606721"/>
                <a:gd name="connsiteY11" fmla="*/ 261160 h 476246"/>
                <a:gd name="connsiteX12" fmla="*/ 69901 w 606721"/>
                <a:gd name="connsiteY12" fmla="*/ 246676 h 476246"/>
                <a:gd name="connsiteX13" fmla="*/ 69901 w 606721"/>
                <a:gd name="connsiteY13" fmla="*/ 377940 h 476246"/>
                <a:gd name="connsiteX14" fmla="*/ 201365 w 606721"/>
                <a:gd name="connsiteY14" fmla="*/ 377940 h 476246"/>
                <a:gd name="connsiteX15" fmla="*/ 201365 w 606721"/>
                <a:gd name="connsiteY15" fmla="*/ 246676 h 476246"/>
                <a:gd name="connsiteX16" fmla="*/ 315239 w 606721"/>
                <a:gd name="connsiteY16" fmla="*/ 170381 h 476246"/>
                <a:gd name="connsiteX17" fmla="*/ 315239 w 606721"/>
                <a:gd name="connsiteY17" fmla="*/ 188514 h 476246"/>
                <a:gd name="connsiteX18" fmla="*/ 533394 w 606721"/>
                <a:gd name="connsiteY18" fmla="*/ 188514 h 476246"/>
                <a:gd name="connsiteX19" fmla="*/ 533394 w 606721"/>
                <a:gd name="connsiteY19" fmla="*/ 170381 h 476246"/>
                <a:gd name="connsiteX20" fmla="*/ 135627 w 606721"/>
                <a:gd name="connsiteY20" fmla="*/ 97874 h 476246"/>
                <a:gd name="connsiteX21" fmla="*/ 183188 w 606721"/>
                <a:gd name="connsiteY21" fmla="*/ 145294 h 476246"/>
                <a:gd name="connsiteX22" fmla="*/ 135627 w 606721"/>
                <a:gd name="connsiteY22" fmla="*/ 192714 h 476246"/>
                <a:gd name="connsiteX23" fmla="*/ 88066 w 606721"/>
                <a:gd name="connsiteY23" fmla="*/ 145294 h 476246"/>
                <a:gd name="connsiteX24" fmla="*/ 135627 w 606721"/>
                <a:gd name="connsiteY24" fmla="*/ 97874 h 476246"/>
                <a:gd name="connsiteX25" fmla="*/ 315239 w 606721"/>
                <a:gd name="connsiteY25" fmla="*/ 79716 h 476246"/>
                <a:gd name="connsiteX26" fmla="*/ 315239 w 606721"/>
                <a:gd name="connsiteY26" fmla="*/ 97849 h 476246"/>
                <a:gd name="connsiteX27" fmla="*/ 533394 w 606721"/>
                <a:gd name="connsiteY27" fmla="*/ 97849 h 476246"/>
                <a:gd name="connsiteX28" fmla="*/ 533394 w 606721"/>
                <a:gd name="connsiteY28" fmla="*/ 79716 h 476246"/>
                <a:gd name="connsiteX29" fmla="*/ 135690 w 606721"/>
                <a:gd name="connsiteY29" fmla="*/ 79602 h 476246"/>
                <a:gd name="connsiteX30" fmla="*/ 69901 w 606721"/>
                <a:gd name="connsiteY30" fmla="*/ 145292 h 476246"/>
                <a:gd name="connsiteX31" fmla="*/ 135690 w 606721"/>
                <a:gd name="connsiteY31" fmla="*/ 210867 h 476246"/>
                <a:gd name="connsiteX32" fmla="*/ 201365 w 606721"/>
                <a:gd name="connsiteY32" fmla="*/ 145292 h 476246"/>
                <a:gd name="connsiteX33" fmla="*/ 135690 w 606721"/>
                <a:gd name="connsiteY33" fmla="*/ 79602 h 476246"/>
                <a:gd name="connsiteX34" fmla="*/ 0 w 606721"/>
                <a:gd name="connsiteY34" fmla="*/ 0 h 476246"/>
                <a:gd name="connsiteX35" fmla="*/ 606721 w 606721"/>
                <a:gd name="connsiteY35" fmla="*/ 0 h 476246"/>
                <a:gd name="connsiteX36" fmla="*/ 606721 w 606721"/>
                <a:gd name="connsiteY36" fmla="*/ 476246 h 476246"/>
                <a:gd name="connsiteX37" fmla="*/ 0 w 606721"/>
                <a:gd name="connsiteY37" fmla="*/ 476246 h 476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6721" h="476246">
                  <a:moveTo>
                    <a:pt x="315239" y="351824"/>
                  </a:moveTo>
                  <a:lnTo>
                    <a:pt x="315239" y="369957"/>
                  </a:lnTo>
                  <a:lnTo>
                    <a:pt x="533394" y="369957"/>
                  </a:lnTo>
                  <a:lnTo>
                    <a:pt x="533394" y="351824"/>
                  </a:lnTo>
                  <a:close/>
                  <a:moveTo>
                    <a:pt x="88066" y="264832"/>
                  </a:moveTo>
                  <a:lnTo>
                    <a:pt x="183188" y="264832"/>
                  </a:lnTo>
                  <a:lnTo>
                    <a:pt x="183188" y="359813"/>
                  </a:lnTo>
                  <a:lnTo>
                    <a:pt x="88066" y="359813"/>
                  </a:lnTo>
                  <a:close/>
                  <a:moveTo>
                    <a:pt x="315239" y="261160"/>
                  </a:moveTo>
                  <a:lnTo>
                    <a:pt x="315239" y="279293"/>
                  </a:lnTo>
                  <a:lnTo>
                    <a:pt x="533394" y="279293"/>
                  </a:lnTo>
                  <a:lnTo>
                    <a:pt x="533394" y="261160"/>
                  </a:lnTo>
                  <a:close/>
                  <a:moveTo>
                    <a:pt x="69901" y="246676"/>
                  </a:moveTo>
                  <a:lnTo>
                    <a:pt x="69901" y="377940"/>
                  </a:lnTo>
                  <a:lnTo>
                    <a:pt x="201365" y="377940"/>
                  </a:lnTo>
                  <a:lnTo>
                    <a:pt x="201365" y="246676"/>
                  </a:lnTo>
                  <a:close/>
                  <a:moveTo>
                    <a:pt x="315239" y="170381"/>
                  </a:moveTo>
                  <a:lnTo>
                    <a:pt x="315239" y="188514"/>
                  </a:lnTo>
                  <a:lnTo>
                    <a:pt x="533394" y="188514"/>
                  </a:lnTo>
                  <a:lnTo>
                    <a:pt x="533394" y="170381"/>
                  </a:lnTo>
                  <a:close/>
                  <a:moveTo>
                    <a:pt x="135627" y="97874"/>
                  </a:moveTo>
                  <a:cubicBezTo>
                    <a:pt x="161894" y="97874"/>
                    <a:pt x="183188" y="119105"/>
                    <a:pt x="183188" y="145294"/>
                  </a:cubicBezTo>
                  <a:cubicBezTo>
                    <a:pt x="183188" y="171483"/>
                    <a:pt x="161894" y="192714"/>
                    <a:pt x="135627" y="192714"/>
                  </a:cubicBezTo>
                  <a:cubicBezTo>
                    <a:pt x="109360" y="192714"/>
                    <a:pt x="88066" y="171483"/>
                    <a:pt x="88066" y="145294"/>
                  </a:cubicBezTo>
                  <a:cubicBezTo>
                    <a:pt x="88066" y="119105"/>
                    <a:pt x="109360" y="97874"/>
                    <a:pt x="135627" y="97874"/>
                  </a:cubicBezTo>
                  <a:close/>
                  <a:moveTo>
                    <a:pt x="315239" y="79716"/>
                  </a:moveTo>
                  <a:lnTo>
                    <a:pt x="315239" y="97849"/>
                  </a:lnTo>
                  <a:lnTo>
                    <a:pt x="533394" y="97849"/>
                  </a:lnTo>
                  <a:lnTo>
                    <a:pt x="533394" y="79716"/>
                  </a:lnTo>
                  <a:close/>
                  <a:moveTo>
                    <a:pt x="135690" y="79602"/>
                  </a:moveTo>
                  <a:cubicBezTo>
                    <a:pt x="99369" y="79602"/>
                    <a:pt x="69901" y="109140"/>
                    <a:pt x="69901" y="145292"/>
                  </a:cubicBezTo>
                  <a:cubicBezTo>
                    <a:pt x="69901" y="181443"/>
                    <a:pt x="99369" y="210867"/>
                    <a:pt x="135690" y="210867"/>
                  </a:cubicBezTo>
                  <a:cubicBezTo>
                    <a:pt x="171897" y="210867"/>
                    <a:pt x="201365" y="181443"/>
                    <a:pt x="201365" y="145292"/>
                  </a:cubicBezTo>
                  <a:cubicBezTo>
                    <a:pt x="201365" y="109140"/>
                    <a:pt x="171897" y="79602"/>
                    <a:pt x="135690" y="79602"/>
                  </a:cubicBezTo>
                  <a:close/>
                  <a:moveTo>
                    <a:pt x="0" y="0"/>
                  </a:moveTo>
                  <a:lnTo>
                    <a:pt x="606721" y="0"/>
                  </a:lnTo>
                  <a:lnTo>
                    <a:pt x="606721" y="476246"/>
                  </a:lnTo>
                  <a:lnTo>
                    <a:pt x="0" y="476246"/>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grpSp>
      <p:grpSp>
        <p:nvGrpSpPr>
          <p:cNvPr id="25" name="组合 24"/>
          <p:cNvGrpSpPr/>
          <p:nvPr/>
        </p:nvGrpSpPr>
        <p:grpSpPr>
          <a:xfrm>
            <a:off x="334963" y="410221"/>
            <a:ext cx="4243283" cy="601052"/>
            <a:chOff x="334963" y="455941"/>
            <a:chExt cx="4243283" cy="601052"/>
          </a:xfrm>
        </p:grpSpPr>
        <p:grpSp>
          <p:nvGrpSpPr>
            <p:cNvPr id="20" name="组合 19"/>
            <p:cNvGrpSpPr/>
            <p:nvPr/>
          </p:nvGrpSpPr>
          <p:grpSpPr>
            <a:xfrm>
              <a:off x="603091" y="455941"/>
              <a:ext cx="3975155" cy="601052"/>
              <a:chOff x="603091" y="455941"/>
              <a:chExt cx="3975155" cy="601052"/>
            </a:xfrm>
          </p:grpSpPr>
          <p:sp>
            <p:nvSpPr>
              <p:cNvPr id="26" name="文本框 25"/>
              <p:cNvSpPr txBox="1"/>
              <p:nvPr/>
            </p:nvSpPr>
            <p:spPr>
              <a:xfrm>
                <a:off x="603091" y="455941"/>
                <a:ext cx="2926080" cy="459105"/>
              </a:xfrm>
              <a:prstGeom prst="rect">
                <a:avLst/>
              </a:prstGeom>
              <a:noFill/>
            </p:spPr>
            <p:txBody>
              <a:bodyPr wrap="none" rtlCol="0">
                <a:noAutofit/>
              </a:bodyPr>
              <a:p>
                <a:pPr algn="l"/>
                <a:r>
                  <a:rPr lang="zh-CN" altLang="en-US" sz="2400" b="1" dirty="0">
                    <a:solidFill>
                      <a:srgbClr val="7188A8"/>
                    </a:solidFill>
                    <a:cs typeface="+mn-ea"/>
                    <a:sym typeface="+mn-lt"/>
                  </a:rPr>
                  <a:t>双相情感障碍的病</a:t>
                </a:r>
                <a:r>
                  <a:rPr lang="zh-CN" altLang="en-US" sz="2400" b="1" dirty="0">
                    <a:solidFill>
                      <a:srgbClr val="7188A8"/>
                    </a:solidFill>
                    <a:cs typeface="+mn-ea"/>
                    <a:sym typeface="+mn-lt"/>
                  </a:rPr>
                  <a:t>理</a:t>
                </a:r>
                <a:endParaRPr lang="zh-CN" altLang="en-US" sz="2400" b="1" dirty="0">
                  <a:solidFill>
                    <a:srgbClr val="7188A8"/>
                  </a:solidFill>
                  <a:cs typeface="+mn-ea"/>
                  <a:sym typeface="+mn-lt"/>
                </a:endParaRPr>
              </a:p>
            </p:txBody>
          </p:sp>
          <p:sp>
            <p:nvSpPr>
              <p:cNvPr id="27" name="矩形 26"/>
              <p:cNvSpPr/>
              <p:nvPr/>
            </p:nvSpPr>
            <p:spPr>
              <a:xfrm>
                <a:off x="610102" y="804263"/>
                <a:ext cx="3968144" cy="252730"/>
              </a:xfrm>
              <a:prstGeom prst="rect">
                <a:avLst/>
              </a:prstGeom>
            </p:spPr>
            <p:txBody>
              <a:bodyPr wrap="square">
                <a:spAutoFit/>
              </a:bodyPr>
              <a:p>
                <a:r>
                  <a:rPr lang="en-US" altLang="zh-CN" sz="1050" dirty="0">
                    <a:solidFill>
                      <a:schemeClr val="bg1">
                        <a:lumMod val="50000"/>
                      </a:schemeClr>
                    </a:solidFill>
                  </a:rPr>
                  <a:t>Pathology of bipolar disorder</a:t>
                </a:r>
                <a:endParaRPr lang="en-US" altLang="zh-CN" sz="1050" dirty="0">
                  <a:solidFill>
                    <a:schemeClr val="bg1">
                      <a:lumMod val="50000"/>
                    </a:schemeClr>
                  </a:solidFill>
                </a:endParaRPr>
              </a:p>
            </p:txBody>
          </p:sp>
        </p:grpSp>
        <p:sp>
          <p:nvSpPr>
            <p:cNvPr id="28" name="矩形 27"/>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65" name="文本框 64"/>
          <p:cNvSpPr txBox="1"/>
          <p:nvPr/>
        </p:nvSpPr>
        <p:spPr>
          <a:xfrm>
            <a:off x="1162685" y="1158875"/>
            <a:ext cx="6096000" cy="531495"/>
          </a:xfrm>
          <a:prstGeom prst="rect">
            <a:avLst/>
          </a:prstGeom>
          <a:noFill/>
        </p:spPr>
        <p:txBody>
          <a:bodyPr wrap="square" rtlCol="0" anchor="t">
            <a:noAutofit/>
          </a:bodyPr>
          <a:p>
            <a:r>
              <a:rPr lang="zh-CN" altLang="en-US" sz="2400" b="1" noProof="0" dirty="0">
                <a:solidFill>
                  <a:srgbClr val="7188A8"/>
                </a:solidFill>
                <a:latin typeface="思源黑体 CN Bold" panose="020B0800000000000000" pitchFamily="34" charset="-122"/>
                <a:ea typeface="思源黑体 CN Bold" panose="020B0800000000000000" pitchFamily="34" charset="-122"/>
                <a:sym typeface="+mn-ea"/>
              </a:rPr>
              <a:t>生物学因素</a:t>
            </a:r>
            <a:r>
              <a:rPr lang="en-US" altLang="zh-CN" sz="2400" b="1" noProof="0" dirty="0">
                <a:solidFill>
                  <a:srgbClr val="7188A8"/>
                </a:solidFill>
                <a:latin typeface="思源黑体 CN Bold" panose="020B0800000000000000" pitchFamily="34" charset="-122"/>
                <a:ea typeface="思源黑体 CN Bold" panose="020B0800000000000000" pitchFamily="34" charset="-122"/>
                <a:sym typeface="+mn-ea"/>
              </a:rPr>
              <a:t> - </a:t>
            </a:r>
            <a:r>
              <a:rPr lang="zh-CN" altLang="en-US" sz="2400" b="1" dirty="0">
                <a:solidFill>
                  <a:srgbClr val="7488A8"/>
                </a:solidFill>
                <a:latin typeface="黑体" panose="02010609060101010101" charset="-122"/>
                <a:ea typeface="黑体" panose="02010609060101010101" charset="-122"/>
                <a:cs typeface="黑体" panose="02010609060101010101" charset="-122"/>
                <a:sym typeface="+mn-lt"/>
              </a:rPr>
              <a:t>大脑结构</a:t>
            </a:r>
            <a:endParaRPr lang="zh-CN" altLang="en-US" sz="2400" b="1" dirty="0">
              <a:solidFill>
                <a:srgbClr val="7488A8"/>
              </a:solidFill>
              <a:latin typeface="黑体" panose="02010609060101010101" charset="-122"/>
              <a:ea typeface="黑体" panose="02010609060101010101" charset="-122"/>
              <a:cs typeface="黑体" panose="02010609060101010101" charset="-122"/>
              <a:sym typeface="+mn-lt"/>
            </a:endParaRPr>
          </a:p>
        </p:txBody>
      </p:sp>
      <p:sp>
        <p:nvSpPr>
          <p:cNvPr id="67" name="文本框2"/>
          <p:cNvSpPr/>
          <p:nvPr>
            <p:custDataLst>
              <p:tags r:id="rId2"/>
            </p:custDataLst>
          </p:nvPr>
        </p:nvSpPr>
        <p:spPr>
          <a:xfrm>
            <a:off x="4500245" y="1620520"/>
            <a:ext cx="7281545" cy="4549140"/>
          </a:xfrm>
          <a:prstGeom prst="rect">
            <a:avLst/>
          </a:prstGeom>
        </p:spPr>
        <p:txBody>
          <a:bodyPr wrap="square">
            <a:spAutoFit/>
          </a:bodyPr>
          <a:p>
            <a:pPr indent="457200" algn="l" fontAlgn="auto">
              <a:lnSpc>
                <a:spcPct val="130000"/>
              </a:lnSpc>
              <a:spcBef>
                <a:spcPts val="1100"/>
              </a:spcBef>
              <a:buClrTx/>
              <a:buSzTx/>
              <a:buFontTx/>
              <a:defRPr/>
            </a:pP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双相I型障碍</a:t>
            </a: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是由于人脑中</a:t>
            </a: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关键情绪控制网络</a:t>
            </a: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的结构与功能异常引起的。在调节情绪行为的大脑网络中的早期发育的干扰，例如</a:t>
            </a: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白质连接</a:t>
            </a: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和</a:t>
            </a: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前</a:t>
            </a: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额叶修剪</a:t>
            </a: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，会导致腹侧前额叶网络和大脑边缘区域，尤其是</a:t>
            </a: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杏仁核</a:t>
            </a: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之间的</a:t>
            </a: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连通性下降</a:t>
            </a: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a:t>
            </a:r>
            <a:endPar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a:p>
            <a:pPr indent="457200" algn="l" fontAlgn="auto">
              <a:lnSpc>
                <a:spcPct val="130000"/>
              </a:lnSpc>
              <a:spcBef>
                <a:spcPts val="1100"/>
              </a:spcBef>
              <a:buClrTx/>
              <a:buSzTx/>
              <a:buFontTx/>
              <a:defRPr/>
            </a:pP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这种发育上的失败导致无法建立健康的</a:t>
            </a: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腹侧前额叶</a:t>
            </a:r>
            <a:r>
              <a:rPr kumimoji="0" lang="en-US" altLang="zh-CN"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 </a:t>
            </a: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a:t>
            </a:r>
            <a:r>
              <a:rPr kumimoji="0" lang="en-US" altLang="zh-CN"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 </a:t>
            </a: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边缘调节</a:t>
            </a: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，从而引发躁狂的发作。最终，随着这些神经网络在时间上的逐渐变化和情绪发作的影响，呈现出双相情感障碍的症状。</a:t>
            </a:r>
            <a:endPar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p:txBody>
      </p:sp>
      <p:pic>
        <p:nvPicPr>
          <p:cNvPr id="2" name="图片 -2147482617"/>
          <p:cNvPicPr>
            <a:picLocks noChangeAspect="1"/>
          </p:cNvPicPr>
          <p:nvPr/>
        </p:nvPicPr>
        <p:blipFill>
          <a:blip r:embed="rId3"/>
          <a:stretch>
            <a:fillRect/>
          </a:stretch>
        </p:blipFill>
        <p:spPr>
          <a:xfrm>
            <a:off x="680085" y="2430145"/>
            <a:ext cx="3367405" cy="293052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custDataLst>
              <p:tags r:id="rId1"/>
            </p:custDataLst>
          </p:nvPr>
        </p:nvGrpSpPr>
        <p:grpSpPr>
          <a:xfrm>
            <a:off x="603416" y="1152970"/>
            <a:ext cx="533348" cy="533346"/>
            <a:chOff x="1716240" y="4651820"/>
            <a:chExt cx="533348" cy="533346"/>
          </a:xfrm>
        </p:grpSpPr>
        <p:sp>
          <p:nvSpPr>
            <p:cNvPr id="9" name="椭圆 8"/>
            <p:cNvSpPr/>
            <p:nvPr/>
          </p:nvSpPr>
          <p:spPr>
            <a:xfrm>
              <a:off x="1716240" y="4651820"/>
              <a:ext cx="533348" cy="533346"/>
            </a:xfrm>
            <a:prstGeom prst="ellipse">
              <a:avLst/>
            </a:prstGeom>
            <a:solidFill>
              <a:srgbClr val="F7B1A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12" name="椭圆 24"/>
            <p:cNvSpPr/>
            <p:nvPr/>
          </p:nvSpPr>
          <p:spPr>
            <a:xfrm>
              <a:off x="1823397" y="4759200"/>
              <a:ext cx="319034" cy="318586"/>
            </a:xfrm>
            <a:custGeom>
              <a:avLst/>
              <a:gdLst>
                <a:gd name="connsiteX0" fmla="*/ 161808 w 607614"/>
                <a:gd name="connsiteY0" fmla="*/ 404249 h 606761"/>
                <a:gd name="connsiteX1" fmla="*/ 161808 w 607614"/>
                <a:gd name="connsiteY1" fmla="*/ 434590 h 606761"/>
                <a:gd name="connsiteX2" fmla="*/ 445806 w 607614"/>
                <a:gd name="connsiteY2" fmla="*/ 434590 h 606761"/>
                <a:gd name="connsiteX3" fmla="*/ 445806 w 607614"/>
                <a:gd name="connsiteY3" fmla="*/ 404249 h 606761"/>
                <a:gd name="connsiteX4" fmla="*/ 142065 w 607614"/>
                <a:gd name="connsiteY4" fmla="*/ 384526 h 606761"/>
                <a:gd name="connsiteX5" fmla="*/ 465549 w 607614"/>
                <a:gd name="connsiteY5" fmla="*/ 384526 h 606761"/>
                <a:gd name="connsiteX6" fmla="*/ 465549 w 607614"/>
                <a:gd name="connsiteY6" fmla="*/ 455071 h 606761"/>
                <a:gd name="connsiteX7" fmla="*/ 142065 w 607614"/>
                <a:gd name="connsiteY7" fmla="*/ 455071 h 606761"/>
                <a:gd name="connsiteX8" fmla="*/ 303868 w 607614"/>
                <a:gd name="connsiteY8" fmla="*/ 139594 h 606761"/>
                <a:gd name="connsiteX9" fmla="*/ 170955 w 607614"/>
                <a:gd name="connsiteY9" fmla="*/ 333713 h 606761"/>
                <a:gd name="connsiteX10" fmla="*/ 436782 w 607614"/>
                <a:gd name="connsiteY10" fmla="*/ 333713 h 606761"/>
                <a:gd name="connsiteX11" fmla="*/ 303868 w 607614"/>
                <a:gd name="connsiteY11" fmla="*/ 111348 h 606761"/>
                <a:gd name="connsiteX12" fmla="*/ 312223 w 607614"/>
                <a:gd name="connsiteY12" fmla="*/ 115329 h 606761"/>
                <a:gd name="connsiteX13" fmla="*/ 464124 w 607614"/>
                <a:gd name="connsiteY13" fmla="*/ 338263 h 606761"/>
                <a:gd name="connsiteX14" fmla="*/ 464883 w 607614"/>
                <a:gd name="connsiteY14" fmla="*/ 348879 h 606761"/>
                <a:gd name="connsiteX15" fmla="*/ 455769 w 607614"/>
                <a:gd name="connsiteY15" fmla="*/ 354187 h 606761"/>
                <a:gd name="connsiteX16" fmla="*/ 151967 w 607614"/>
                <a:gd name="connsiteY16" fmla="*/ 354187 h 606761"/>
                <a:gd name="connsiteX17" fmla="*/ 142853 w 607614"/>
                <a:gd name="connsiteY17" fmla="*/ 348879 h 606761"/>
                <a:gd name="connsiteX18" fmla="*/ 143613 w 607614"/>
                <a:gd name="connsiteY18" fmla="*/ 338263 h 606761"/>
                <a:gd name="connsiteX19" fmla="*/ 295514 w 607614"/>
                <a:gd name="connsiteY19" fmla="*/ 115329 h 606761"/>
                <a:gd name="connsiteX20" fmla="*/ 303868 w 607614"/>
                <a:gd name="connsiteY20" fmla="*/ 111348 h 606761"/>
                <a:gd name="connsiteX21" fmla="*/ 303807 w 607614"/>
                <a:gd name="connsiteY21" fmla="*/ 20478 h 606761"/>
                <a:gd name="connsiteX22" fmla="*/ 20507 w 607614"/>
                <a:gd name="connsiteY22" fmla="*/ 303380 h 606761"/>
                <a:gd name="connsiteX23" fmla="*/ 303807 w 607614"/>
                <a:gd name="connsiteY23" fmla="*/ 586283 h 606761"/>
                <a:gd name="connsiteX24" fmla="*/ 587107 w 607614"/>
                <a:gd name="connsiteY24" fmla="*/ 303380 h 606761"/>
                <a:gd name="connsiteX25" fmla="*/ 303807 w 607614"/>
                <a:gd name="connsiteY25" fmla="*/ 20478 h 606761"/>
                <a:gd name="connsiteX26" fmla="*/ 303807 w 607614"/>
                <a:gd name="connsiteY26" fmla="*/ 0 h 606761"/>
                <a:gd name="connsiteX27" fmla="*/ 607614 w 607614"/>
                <a:gd name="connsiteY27" fmla="*/ 303380 h 606761"/>
                <a:gd name="connsiteX28" fmla="*/ 303807 w 607614"/>
                <a:gd name="connsiteY28" fmla="*/ 606761 h 606761"/>
                <a:gd name="connsiteX29" fmla="*/ 0 w 607614"/>
                <a:gd name="connsiteY29" fmla="*/ 303380 h 606761"/>
                <a:gd name="connsiteX30" fmla="*/ 303807 w 607614"/>
                <a:gd name="connsiteY30" fmla="*/ 0 h 606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614" h="606761">
                  <a:moveTo>
                    <a:pt x="161808" y="404249"/>
                  </a:moveTo>
                  <a:lnTo>
                    <a:pt x="161808" y="434590"/>
                  </a:lnTo>
                  <a:lnTo>
                    <a:pt x="445806" y="434590"/>
                  </a:lnTo>
                  <a:lnTo>
                    <a:pt x="445806" y="404249"/>
                  </a:lnTo>
                  <a:close/>
                  <a:moveTo>
                    <a:pt x="142065" y="384526"/>
                  </a:moveTo>
                  <a:lnTo>
                    <a:pt x="465549" y="384526"/>
                  </a:lnTo>
                  <a:lnTo>
                    <a:pt x="465549" y="455071"/>
                  </a:lnTo>
                  <a:lnTo>
                    <a:pt x="142065" y="455071"/>
                  </a:lnTo>
                  <a:close/>
                  <a:moveTo>
                    <a:pt x="303868" y="139594"/>
                  </a:moveTo>
                  <a:lnTo>
                    <a:pt x="170955" y="333713"/>
                  </a:lnTo>
                  <a:lnTo>
                    <a:pt x="436782" y="333713"/>
                  </a:lnTo>
                  <a:close/>
                  <a:moveTo>
                    <a:pt x="303868" y="111348"/>
                  </a:moveTo>
                  <a:cubicBezTo>
                    <a:pt x="307096" y="111348"/>
                    <a:pt x="310324" y="112675"/>
                    <a:pt x="312223" y="115329"/>
                  </a:cubicBezTo>
                  <a:lnTo>
                    <a:pt x="464124" y="338263"/>
                  </a:lnTo>
                  <a:cubicBezTo>
                    <a:pt x="466402" y="341296"/>
                    <a:pt x="466402" y="345087"/>
                    <a:pt x="464883" y="348879"/>
                  </a:cubicBezTo>
                  <a:cubicBezTo>
                    <a:pt x="462605" y="351912"/>
                    <a:pt x="459567" y="354187"/>
                    <a:pt x="455769" y="354187"/>
                  </a:cubicBezTo>
                  <a:lnTo>
                    <a:pt x="151967" y="354187"/>
                  </a:lnTo>
                  <a:cubicBezTo>
                    <a:pt x="148170" y="354187"/>
                    <a:pt x="145132" y="351912"/>
                    <a:pt x="142853" y="348879"/>
                  </a:cubicBezTo>
                  <a:cubicBezTo>
                    <a:pt x="141334" y="345087"/>
                    <a:pt x="141334" y="341296"/>
                    <a:pt x="143613" y="338263"/>
                  </a:cubicBezTo>
                  <a:lnTo>
                    <a:pt x="295514" y="115329"/>
                  </a:lnTo>
                  <a:cubicBezTo>
                    <a:pt x="297413" y="112675"/>
                    <a:pt x="300640" y="111348"/>
                    <a:pt x="303868" y="111348"/>
                  </a:cubicBezTo>
                  <a:close/>
                  <a:moveTo>
                    <a:pt x="303807" y="20478"/>
                  </a:moveTo>
                  <a:cubicBezTo>
                    <a:pt x="147347" y="20478"/>
                    <a:pt x="20507" y="147139"/>
                    <a:pt x="20507" y="303380"/>
                  </a:cubicBezTo>
                  <a:cubicBezTo>
                    <a:pt x="20507" y="459622"/>
                    <a:pt x="147347" y="586283"/>
                    <a:pt x="303807" y="586283"/>
                  </a:cubicBezTo>
                  <a:cubicBezTo>
                    <a:pt x="460268" y="586283"/>
                    <a:pt x="587107" y="459622"/>
                    <a:pt x="587107" y="303380"/>
                  </a:cubicBezTo>
                  <a:cubicBezTo>
                    <a:pt x="587107" y="147139"/>
                    <a:pt x="460268" y="20478"/>
                    <a:pt x="303807" y="20478"/>
                  </a:cubicBezTo>
                  <a:close/>
                  <a:moveTo>
                    <a:pt x="303807" y="0"/>
                  </a:moveTo>
                  <a:cubicBezTo>
                    <a:pt x="471661" y="0"/>
                    <a:pt x="607614" y="135763"/>
                    <a:pt x="607614" y="303380"/>
                  </a:cubicBezTo>
                  <a:cubicBezTo>
                    <a:pt x="607614" y="470998"/>
                    <a:pt x="471661" y="606761"/>
                    <a:pt x="303807" y="606761"/>
                  </a:cubicBezTo>
                  <a:cubicBezTo>
                    <a:pt x="135953" y="606761"/>
                    <a:pt x="0" y="470998"/>
                    <a:pt x="0" y="303380"/>
                  </a:cubicBezTo>
                  <a:cubicBezTo>
                    <a:pt x="0" y="135763"/>
                    <a:pt x="135953" y="0"/>
                    <a:pt x="303807" y="0"/>
                  </a:cubicBez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grpSp>
      <p:grpSp>
        <p:nvGrpSpPr>
          <p:cNvPr id="25" name="组合 24"/>
          <p:cNvGrpSpPr/>
          <p:nvPr/>
        </p:nvGrpSpPr>
        <p:grpSpPr>
          <a:xfrm>
            <a:off x="334963" y="455941"/>
            <a:ext cx="4243283" cy="601052"/>
            <a:chOff x="334963" y="455941"/>
            <a:chExt cx="4243283" cy="601052"/>
          </a:xfrm>
        </p:grpSpPr>
        <p:grpSp>
          <p:nvGrpSpPr>
            <p:cNvPr id="20" name="组合 19"/>
            <p:cNvGrpSpPr/>
            <p:nvPr/>
          </p:nvGrpSpPr>
          <p:grpSpPr>
            <a:xfrm>
              <a:off x="603091" y="455941"/>
              <a:ext cx="3975155" cy="601052"/>
              <a:chOff x="603091" y="455941"/>
              <a:chExt cx="3975155" cy="601052"/>
            </a:xfrm>
          </p:grpSpPr>
          <p:sp>
            <p:nvSpPr>
              <p:cNvPr id="26" name="文本框 25"/>
              <p:cNvSpPr txBox="1"/>
              <p:nvPr/>
            </p:nvSpPr>
            <p:spPr>
              <a:xfrm>
                <a:off x="603091" y="455941"/>
                <a:ext cx="2926080" cy="459105"/>
              </a:xfrm>
              <a:prstGeom prst="rect">
                <a:avLst/>
              </a:prstGeom>
              <a:noFill/>
            </p:spPr>
            <p:txBody>
              <a:bodyPr wrap="none" rtlCol="0">
                <a:noAutofit/>
              </a:bodyPr>
              <a:p>
                <a:pPr algn="l"/>
                <a:r>
                  <a:rPr lang="zh-CN" altLang="en-US" sz="2400" b="1" dirty="0">
                    <a:solidFill>
                      <a:srgbClr val="7188A8"/>
                    </a:solidFill>
                    <a:cs typeface="+mn-ea"/>
                    <a:sym typeface="+mn-lt"/>
                  </a:rPr>
                  <a:t>双相情感障碍的病</a:t>
                </a:r>
                <a:r>
                  <a:rPr lang="zh-CN" altLang="en-US" sz="2400" b="1" dirty="0">
                    <a:solidFill>
                      <a:srgbClr val="7188A8"/>
                    </a:solidFill>
                    <a:cs typeface="+mn-ea"/>
                    <a:sym typeface="+mn-lt"/>
                  </a:rPr>
                  <a:t>理</a:t>
                </a:r>
                <a:endParaRPr lang="zh-CN" altLang="en-US" sz="2400" b="1" dirty="0">
                  <a:solidFill>
                    <a:srgbClr val="7188A8"/>
                  </a:solidFill>
                  <a:cs typeface="+mn-ea"/>
                  <a:sym typeface="+mn-lt"/>
                </a:endParaRPr>
              </a:p>
            </p:txBody>
          </p:sp>
          <p:sp>
            <p:nvSpPr>
              <p:cNvPr id="27" name="矩形 26"/>
              <p:cNvSpPr/>
              <p:nvPr/>
            </p:nvSpPr>
            <p:spPr>
              <a:xfrm>
                <a:off x="610102" y="804263"/>
                <a:ext cx="3968144" cy="252730"/>
              </a:xfrm>
              <a:prstGeom prst="rect">
                <a:avLst/>
              </a:prstGeom>
            </p:spPr>
            <p:txBody>
              <a:bodyPr wrap="square">
                <a:spAutoFit/>
              </a:bodyPr>
              <a:p>
                <a:r>
                  <a:rPr lang="en-US" altLang="zh-CN" sz="1050" dirty="0">
                    <a:solidFill>
                      <a:schemeClr val="bg1">
                        <a:lumMod val="50000"/>
                      </a:schemeClr>
                    </a:solidFill>
                  </a:rPr>
                  <a:t>Pathology of bipolar disorder</a:t>
                </a:r>
                <a:endParaRPr lang="en-US" altLang="zh-CN" sz="1050" dirty="0">
                  <a:solidFill>
                    <a:schemeClr val="bg1">
                      <a:lumMod val="50000"/>
                    </a:schemeClr>
                  </a:solidFill>
                </a:endParaRPr>
              </a:p>
            </p:txBody>
          </p:sp>
        </p:grpSp>
        <p:sp>
          <p:nvSpPr>
            <p:cNvPr id="28" name="矩形 27"/>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65" name="文本框 64"/>
          <p:cNvSpPr txBox="1"/>
          <p:nvPr/>
        </p:nvSpPr>
        <p:spPr>
          <a:xfrm>
            <a:off x="1162685" y="1216025"/>
            <a:ext cx="6096000" cy="531495"/>
          </a:xfrm>
          <a:prstGeom prst="rect">
            <a:avLst/>
          </a:prstGeom>
          <a:noFill/>
        </p:spPr>
        <p:txBody>
          <a:bodyPr wrap="square" rtlCol="0" anchor="t">
            <a:noAutofit/>
          </a:bodyPr>
          <a:p>
            <a:r>
              <a:rPr lang="zh-CN" altLang="en-US" sz="2400" b="1" noProof="0" dirty="0">
                <a:solidFill>
                  <a:srgbClr val="7188A8"/>
                </a:solidFill>
                <a:latin typeface="思源黑体 CN Bold" panose="020B0800000000000000" pitchFamily="34" charset="-122"/>
                <a:ea typeface="思源黑体 CN Bold" panose="020B0800000000000000" pitchFamily="34" charset="-122"/>
                <a:sym typeface="+mn-ea"/>
              </a:rPr>
              <a:t>心理社会因素</a:t>
            </a:r>
            <a:endParaRPr lang="zh-CN" altLang="en-US" sz="2400" b="1" noProof="0" dirty="0">
              <a:solidFill>
                <a:srgbClr val="7188A8"/>
              </a:solidFill>
              <a:latin typeface="思源黑体 CN Bold" panose="020B0800000000000000" pitchFamily="34" charset="-122"/>
              <a:ea typeface="思源黑体 CN Bold" panose="020B0800000000000000" pitchFamily="34" charset="-122"/>
              <a:sym typeface="+mn-ea"/>
            </a:endParaRPr>
          </a:p>
          <a:p>
            <a:endParaRPr lang="zh-CN" altLang="en-US" sz="2400" b="1" noProof="0" dirty="0">
              <a:solidFill>
                <a:srgbClr val="7188A8"/>
              </a:solidFill>
              <a:latin typeface="思源黑体 CN Bold" panose="020B0800000000000000" pitchFamily="34" charset="-122"/>
              <a:ea typeface="思源黑体 CN Bold" panose="020B0800000000000000" pitchFamily="34" charset="-122"/>
              <a:sym typeface="+mn-ea"/>
            </a:endParaRPr>
          </a:p>
        </p:txBody>
      </p:sp>
      <p:sp>
        <p:nvSpPr>
          <p:cNvPr id="67" name="文本框2"/>
          <p:cNvSpPr/>
          <p:nvPr>
            <p:custDataLst>
              <p:tags r:id="rId2"/>
            </p:custDataLst>
          </p:nvPr>
        </p:nvSpPr>
        <p:spPr>
          <a:xfrm>
            <a:off x="710565" y="1686560"/>
            <a:ext cx="10598150" cy="1529715"/>
          </a:xfrm>
          <a:prstGeom prst="rect">
            <a:avLst/>
          </a:prstGeom>
        </p:spPr>
        <p:txBody>
          <a:bodyPr wrap="square">
            <a:spAutoFit/>
          </a:bodyPr>
          <a:p>
            <a:pPr indent="457200" fontAlgn="auto">
              <a:lnSpc>
                <a:spcPct val="130000"/>
              </a:lnSpc>
              <a:spcBef>
                <a:spcPts val="1100"/>
              </a:spcBef>
              <a:defRPr/>
            </a:pP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应激性生活事件</a:t>
            </a: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与心境障碍、抑郁发作关系密切。一些</a:t>
            </a: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负性生活事件</a:t>
            </a: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，如丧偶、离异、失业、重大疾病等均可导致病发，长期的不良生活处境等因素有叠加效应。</a:t>
            </a:r>
            <a:endPar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p:txBody>
      </p:sp>
      <p:pic>
        <p:nvPicPr>
          <p:cNvPr id="2" name="图片 7"/>
          <p:cNvPicPr>
            <a:picLocks noChangeAspect="1"/>
          </p:cNvPicPr>
          <p:nvPr/>
        </p:nvPicPr>
        <p:blipFill>
          <a:blip r:embed="rId3"/>
          <a:srcRect l="9071" r="8089"/>
          <a:stretch>
            <a:fillRect/>
          </a:stretch>
        </p:blipFill>
        <p:spPr>
          <a:xfrm>
            <a:off x="3475355" y="3162935"/>
            <a:ext cx="5240655" cy="316293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r="72854"/>
          <a:stretch>
            <a:fillRect/>
          </a:stretch>
        </p:blipFill>
        <p:spPr>
          <a:xfrm>
            <a:off x="-194553" y="0"/>
            <a:ext cx="3307404" cy="6858001"/>
          </a:xfrm>
          <a:prstGeom prst="rect">
            <a:avLst/>
          </a:prstGeom>
        </p:spPr>
      </p:pic>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r="72854"/>
          <a:stretch>
            <a:fillRect/>
          </a:stretch>
        </p:blipFill>
        <p:spPr>
          <a:xfrm rot="10800000">
            <a:off x="8934653" y="0"/>
            <a:ext cx="3307404" cy="6858001"/>
          </a:xfrm>
          <a:prstGeom prst="rect">
            <a:avLst/>
          </a:prstGeom>
        </p:spPr>
      </p:pic>
      <p:sp>
        <p:nvSpPr>
          <p:cNvPr id="8" name="椭圆 7"/>
          <p:cNvSpPr/>
          <p:nvPr/>
        </p:nvSpPr>
        <p:spPr>
          <a:xfrm>
            <a:off x="3789329" y="1122329"/>
            <a:ext cx="4613342" cy="4613342"/>
          </a:xfrm>
          <a:prstGeom prst="ellipse">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nvGrpSpPr>
          <p:cNvPr id="9" name="组合 8"/>
          <p:cNvGrpSpPr/>
          <p:nvPr/>
        </p:nvGrpSpPr>
        <p:grpSpPr>
          <a:xfrm>
            <a:off x="4177490" y="1995737"/>
            <a:ext cx="3961765" cy="2729230"/>
            <a:chOff x="4242171" y="2039833"/>
            <a:chExt cx="3961765" cy="2729230"/>
          </a:xfrm>
        </p:grpSpPr>
        <p:sp>
          <p:nvSpPr>
            <p:cNvPr id="10" name="矩形 9"/>
            <p:cNvSpPr/>
            <p:nvPr/>
          </p:nvSpPr>
          <p:spPr>
            <a:xfrm>
              <a:off x="4242171" y="3323803"/>
              <a:ext cx="3961765" cy="1445260"/>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spc="40" baseline="0" noProof="0" dirty="0">
                  <a:ln w="0"/>
                  <a:solidFill>
                    <a:prstClr val="white"/>
                  </a:solidFill>
                  <a:effectLst/>
                  <a:uLnTx/>
                  <a:uFillTx/>
                  <a:latin typeface="思源黑体 CN Heavy" charset="0"/>
                  <a:ea typeface="思源黑体 CN Heavy" panose="020B0A00000000000000" pitchFamily="34" charset="-122"/>
                  <a:cs typeface="+mn-cs"/>
                </a:rPr>
                <a:t>双相情感障碍</a:t>
              </a:r>
              <a:endParaRPr kumimoji="0" lang="zh-CN" altLang="en-US" sz="4400" b="1" i="0" spc="40" baseline="0" noProof="0" dirty="0">
                <a:ln w="0"/>
                <a:solidFill>
                  <a:prstClr val="white"/>
                </a:solidFill>
                <a:effectLst/>
                <a:uLnTx/>
                <a:uFillTx/>
                <a:latin typeface="思源黑体 CN Heavy" charset="0"/>
                <a:ea typeface="思源黑体 CN Heavy" panose="020B0A00000000000000"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spc="40" baseline="0" noProof="0" dirty="0">
                  <a:ln w="0"/>
                  <a:solidFill>
                    <a:prstClr val="white"/>
                  </a:solidFill>
                  <a:effectLst/>
                  <a:uLnTx/>
                  <a:uFillTx/>
                  <a:latin typeface="思源黑体 CN Heavy" charset="0"/>
                  <a:ea typeface="思源黑体 CN Heavy" panose="020B0A00000000000000" pitchFamily="34" charset="-122"/>
                  <a:cs typeface="+mn-cs"/>
                </a:rPr>
                <a:t>的</a:t>
              </a:r>
              <a:r>
                <a:rPr kumimoji="0" lang="zh-CN" altLang="en-US" sz="4400" b="1" i="0" spc="40" baseline="0" noProof="0" dirty="0">
                  <a:ln w="0"/>
                  <a:solidFill>
                    <a:prstClr val="white"/>
                  </a:solidFill>
                  <a:effectLst/>
                  <a:uLnTx/>
                  <a:uFillTx/>
                  <a:latin typeface="思源黑体 CN Heavy" charset="0"/>
                  <a:ea typeface="思源黑体 CN Heavy" panose="020B0A00000000000000" pitchFamily="34" charset="-122"/>
                  <a:cs typeface="+mn-cs"/>
                </a:rPr>
                <a:t>治疗</a:t>
              </a:r>
              <a:endParaRPr kumimoji="0" lang="zh-CN" altLang="en-US" sz="4400" b="1" i="0" spc="40" baseline="0" noProof="0" dirty="0">
                <a:ln w="0"/>
                <a:solidFill>
                  <a:prstClr val="white"/>
                </a:solidFill>
                <a:effectLst/>
                <a:uLnTx/>
                <a:uFillTx/>
                <a:latin typeface="思源黑体 CN Heavy" charset="0"/>
                <a:ea typeface="思源黑体 CN Heavy" panose="020B0A00000000000000" pitchFamily="34" charset="-122"/>
                <a:cs typeface="+mn-cs"/>
              </a:endParaRPr>
            </a:p>
          </p:txBody>
        </p:sp>
        <p:sp>
          <p:nvSpPr>
            <p:cNvPr id="11" name="矩形 10"/>
            <p:cNvSpPr/>
            <p:nvPr/>
          </p:nvSpPr>
          <p:spPr>
            <a:xfrm>
              <a:off x="5474881" y="2039833"/>
              <a:ext cx="1371600" cy="1198880"/>
            </a:xfrm>
            <a:prstGeom prst="rect">
              <a:avLst/>
            </a:prstGeom>
            <a:noFill/>
          </p:spPr>
          <p:txBody>
            <a:bodyPr wrap="square" lIns="91440" tIns="45720" rIns="91440" bIns="4572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w="0"/>
                  <a:solidFill>
                    <a:prstClr val="white"/>
                  </a:solidFill>
                  <a:effectLst/>
                  <a:uLnTx/>
                  <a:uFillTx/>
                  <a:latin typeface="思源黑体 CN Heavy" panose="020B0A00000000000000" pitchFamily="34" charset="-122"/>
                  <a:ea typeface="思源黑体 CN Heavy" panose="020B0A00000000000000" pitchFamily="34" charset="-122"/>
                  <a:cs typeface="+mn-cs"/>
                </a:rPr>
                <a:t>04</a:t>
              </a:r>
              <a:endParaRPr kumimoji="0" lang="zh-CN" altLang="en-US" sz="7200" b="1" i="0" u="none" strike="noStrike" kern="1200" cap="none" spc="0" normalizeH="0" baseline="0" noProof="0" dirty="0">
                <a:ln w="0"/>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custDataLst>
              <p:tags r:id="rId1"/>
            </p:custDataLst>
          </p:nvPr>
        </p:nvSpPr>
        <p:spPr>
          <a:xfrm>
            <a:off x="7210383" y="1728252"/>
            <a:ext cx="3695784" cy="3695784"/>
          </a:xfrm>
          <a:prstGeom prst="ellipse">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椭圆 9"/>
          <p:cNvSpPr/>
          <p:nvPr>
            <p:custDataLst>
              <p:tags r:id="rId2"/>
            </p:custDataLst>
          </p:nvPr>
        </p:nvSpPr>
        <p:spPr>
          <a:xfrm>
            <a:off x="1106128" y="1728252"/>
            <a:ext cx="3695784" cy="3695784"/>
          </a:xfrm>
          <a:prstGeom prst="ellipse">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椭圆 8"/>
          <p:cNvSpPr/>
          <p:nvPr>
            <p:custDataLst>
              <p:tags r:id="rId3"/>
            </p:custDataLst>
          </p:nvPr>
        </p:nvSpPr>
        <p:spPr>
          <a:xfrm>
            <a:off x="4248108" y="1728252"/>
            <a:ext cx="3695784" cy="3695784"/>
          </a:xfrm>
          <a:prstGeom prst="ellipse">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Freeform 8"/>
          <p:cNvSpPr>
            <a:spLocks noEditPoints="1"/>
          </p:cNvSpPr>
          <p:nvPr>
            <p:custDataLst>
              <p:tags r:id="rId4"/>
            </p:custDataLst>
          </p:nvPr>
        </p:nvSpPr>
        <p:spPr bwMode="auto">
          <a:xfrm>
            <a:off x="2827699" y="2177206"/>
            <a:ext cx="329794" cy="485323"/>
          </a:xfrm>
          <a:custGeom>
            <a:avLst/>
            <a:gdLst>
              <a:gd name="T0" fmla="*/ 85 w 94"/>
              <a:gd name="T1" fmla="*/ 44 h 140"/>
              <a:gd name="T2" fmla="*/ 45 w 94"/>
              <a:gd name="T3" fmla="*/ 90 h 140"/>
              <a:gd name="T4" fmla="*/ 26 w 94"/>
              <a:gd name="T5" fmla="*/ 105 h 140"/>
              <a:gd name="T6" fmla="*/ 26 w 94"/>
              <a:gd name="T7" fmla="*/ 108 h 140"/>
              <a:gd name="T8" fmla="*/ 35 w 94"/>
              <a:gd name="T9" fmla="*/ 123 h 140"/>
              <a:gd name="T10" fmla="*/ 17 w 94"/>
              <a:gd name="T11" fmla="*/ 140 h 140"/>
              <a:gd name="T12" fmla="*/ 0 w 94"/>
              <a:gd name="T13" fmla="*/ 123 h 140"/>
              <a:gd name="T14" fmla="*/ 9 w 94"/>
              <a:gd name="T15" fmla="*/ 108 h 140"/>
              <a:gd name="T16" fmla="*/ 9 w 94"/>
              <a:gd name="T17" fmla="*/ 33 h 140"/>
              <a:gd name="T18" fmla="*/ 0 w 94"/>
              <a:gd name="T19" fmla="*/ 17 h 140"/>
              <a:gd name="T20" fmla="*/ 17 w 94"/>
              <a:gd name="T21" fmla="*/ 0 h 140"/>
              <a:gd name="T22" fmla="*/ 35 w 94"/>
              <a:gd name="T23" fmla="*/ 17 h 140"/>
              <a:gd name="T24" fmla="*/ 26 w 94"/>
              <a:gd name="T25" fmla="*/ 33 h 140"/>
              <a:gd name="T26" fmla="*/ 26 w 94"/>
              <a:gd name="T27" fmla="*/ 78 h 140"/>
              <a:gd name="T28" fmla="*/ 40 w 94"/>
              <a:gd name="T29" fmla="*/ 73 h 140"/>
              <a:gd name="T30" fmla="*/ 67 w 94"/>
              <a:gd name="T31" fmla="*/ 44 h 140"/>
              <a:gd name="T32" fmla="*/ 58 w 94"/>
              <a:gd name="T33" fmla="*/ 29 h 140"/>
              <a:gd name="T34" fmla="*/ 76 w 94"/>
              <a:gd name="T35" fmla="*/ 11 h 140"/>
              <a:gd name="T36" fmla="*/ 94 w 94"/>
              <a:gd name="T37" fmla="*/ 29 h 140"/>
              <a:gd name="T38" fmla="*/ 85 w 94"/>
              <a:gd name="T39" fmla="*/ 44 h 140"/>
              <a:gd name="T40" fmla="*/ 17 w 94"/>
              <a:gd name="T41" fmla="*/ 9 h 140"/>
              <a:gd name="T42" fmla="*/ 9 w 94"/>
              <a:gd name="T43" fmla="*/ 17 h 140"/>
              <a:gd name="T44" fmla="*/ 17 w 94"/>
              <a:gd name="T45" fmla="*/ 26 h 140"/>
              <a:gd name="T46" fmla="*/ 26 w 94"/>
              <a:gd name="T47" fmla="*/ 17 h 140"/>
              <a:gd name="T48" fmla="*/ 17 w 94"/>
              <a:gd name="T49" fmla="*/ 9 h 140"/>
              <a:gd name="T50" fmla="*/ 17 w 94"/>
              <a:gd name="T51" fmla="*/ 114 h 140"/>
              <a:gd name="T52" fmla="*/ 9 w 94"/>
              <a:gd name="T53" fmla="*/ 123 h 140"/>
              <a:gd name="T54" fmla="*/ 17 w 94"/>
              <a:gd name="T55" fmla="*/ 132 h 140"/>
              <a:gd name="T56" fmla="*/ 26 w 94"/>
              <a:gd name="T57" fmla="*/ 123 h 140"/>
              <a:gd name="T58" fmla="*/ 17 w 94"/>
              <a:gd name="T59" fmla="*/ 114 h 140"/>
              <a:gd name="T60" fmla="*/ 76 w 94"/>
              <a:gd name="T61" fmla="*/ 20 h 140"/>
              <a:gd name="T62" fmla="*/ 67 w 94"/>
              <a:gd name="T63" fmla="*/ 29 h 140"/>
              <a:gd name="T64" fmla="*/ 76 w 94"/>
              <a:gd name="T65" fmla="*/ 38 h 140"/>
              <a:gd name="T66" fmla="*/ 85 w 94"/>
              <a:gd name="T67" fmla="*/ 29 h 140"/>
              <a:gd name="T68" fmla="*/ 76 w 94"/>
              <a:gd name="T69" fmla="*/ 2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4" h="140">
                <a:moveTo>
                  <a:pt x="85" y="44"/>
                </a:moveTo>
                <a:cubicBezTo>
                  <a:pt x="84" y="77"/>
                  <a:pt x="61" y="85"/>
                  <a:pt x="45" y="90"/>
                </a:cubicBezTo>
                <a:cubicBezTo>
                  <a:pt x="31" y="94"/>
                  <a:pt x="26" y="96"/>
                  <a:pt x="26" y="105"/>
                </a:cubicBezTo>
                <a:cubicBezTo>
                  <a:pt x="26" y="108"/>
                  <a:pt x="26" y="108"/>
                  <a:pt x="26" y="108"/>
                </a:cubicBezTo>
                <a:cubicBezTo>
                  <a:pt x="31" y="111"/>
                  <a:pt x="35" y="116"/>
                  <a:pt x="35" y="123"/>
                </a:cubicBezTo>
                <a:cubicBezTo>
                  <a:pt x="35" y="132"/>
                  <a:pt x="27" y="140"/>
                  <a:pt x="17" y="140"/>
                </a:cubicBezTo>
                <a:cubicBezTo>
                  <a:pt x="8" y="140"/>
                  <a:pt x="0" y="132"/>
                  <a:pt x="0" y="123"/>
                </a:cubicBezTo>
                <a:cubicBezTo>
                  <a:pt x="0" y="116"/>
                  <a:pt x="3" y="111"/>
                  <a:pt x="9" y="108"/>
                </a:cubicBezTo>
                <a:cubicBezTo>
                  <a:pt x="9" y="33"/>
                  <a:pt x="9" y="33"/>
                  <a:pt x="9" y="33"/>
                </a:cubicBezTo>
                <a:cubicBezTo>
                  <a:pt x="3" y="29"/>
                  <a:pt x="0" y="24"/>
                  <a:pt x="0" y="17"/>
                </a:cubicBezTo>
                <a:cubicBezTo>
                  <a:pt x="0" y="8"/>
                  <a:pt x="8" y="0"/>
                  <a:pt x="17" y="0"/>
                </a:cubicBezTo>
                <a:cubicBezTo>
                  <a:pt x="27" y="0"/>
                  <a:pt x="35" y="8"/>
                  <a:pt x="35" y="17"/>
                </a:cubicBezTo>
                <a:cubicBezTo>
                  <a:pt x="35" y="24"/>
                  <a:pt x="31" y="29"/>
                  <a:pt x="26" y="33"/>
                </a:cubicBezTo>
                <a:cubicBezTo>
                  <a:pt x="26" y="78"/>
                  <a:pt x="26" y="78"/>
                  <a:pt x="26" y="78"/>
                </a:cubicBezTo>
                <a:cubicBezTo>
                  <a:pt x="31" y="76"/>
                  <a:pt x="36" y="74"/>
                  <a:pt x="40" y="73"/>
                </a:cubicBezTo>
                <a:cubicBezTo>
                  <a:pt x="57" y="67"/>
                  <a:pt x="67" y="63"/>
                  <a:pt x="67" y="44"/>
                </a:cubicBezTo>
                <a:cubicBezTo>
                  <a:pt x="62" y="41"/>
                  <a:pt x="58" y="36"/>
                  <a:pt x="58" y="29"/>
                </a:cubicBezTo>
                <a:cubicBezTo>
                  <a:pt x="58" y="19"/>
                  <a:pt x="66" y="11"/>
                  <a:pt x="76" y="11"/>
                </a:cubicBezTo>
                <a:cubicBezTo>
                  <a:pt x="86" y="11"/>
                  <a:pt x="94" y="19"/>
                  <a:pt x="94" y="29"/>
                </a:cubicBezTo>
                <a:cubicBezTo>
                  <a:pt x="94" y="36"/>
                  <a:pt x="90" y="41"/>
                  <a:pt x="85" y="44"/>
                </a:cubicBezTo>
                <a:close/>
                <a:moveTo>
                  <a:pt x="17" y="9"/>
                </a:moveTo>
                <a:cubicBezTo>
                  <a:pt x="13" y="9"/>
                  <a:pt x="9" y="12"/>
                  <a:pt x="9" y="17"/>
                </a:cubicBezTo>
                <a:cubicBezTo>
                  <a:pt x="9" y="22"/>
                  <a:pt x="13" y="26"/>
                  <a:pt x="17" y="26"/>
                </a:cubicBezTo>
                <a:cubicBezTo>
                  <a:pt x="22" y="26"/>
                  <a:pt x="26" y="22"/>
                  <a:pt x="26" y="17"/>
                </a:cubicBezTo>
                <a:cubicBezTo>
                  <a:pt x="26" y="12"/>
                  <a:pt x="22" y="9"/>
                  <a:pt x="17" y="9"/>
                </a:cubicBezTo>
                <a:close/>
                <a:moveTo>
                  <a:pt x="17" y="114"/>
                </a:moveTo>
                <a:cubicBezTo>
                  <a:pt x="13" y="114"/>
                  <a:pt x="9" y="118"/>
                  <a:pt x="9" y="123"/>
                </a:cubicBezTo>
                <a:cubicBezTo>
                  <a:pt x="9" y="128"/>
                  <a:pt x="13" y="132"/>
                  <a:pt x="17" y="132"/>
                </a:cubicBezTo>
                <a:cubicBezTo>
                  <a:pt x="22" y="132"/>
                  <a:pt x="26" y="128"/>
                  <a:pt x="26" y="123"/>
                </a:cubicBezTo>
                <a:cubicBezTo>
                  <a:pt x="26" y="118"/>
                  <a:pt x="22" y="114"/>
                  <a:pt x="17" y="114"/>
                </a:cubicBezTo>
                <a:close/>
                <a:moveTo>
                  <a:pt x="76" y="20"/>
                </a:moveTo>
                <a:cubicBezTo>
                  <a:pt x="71" y="20"/>
                  <a:pt x="67" y="24"/>
                  <a:pt x="67" y="29"/>
                </a:cubicBezTo>
                <a:cubicBezTo>
                  <a:pt x="67" y="34"/>
                  <a:pt x="71" y="38"/>
                  <a:pt x="76" y="38"/>
                </a:cubicBezTo>
                <a:cubicBezTo>
                  <a:pt x="81" y="38"/>
                  <a:pt x="85" y="34"/>
                  <a:pt x="85" y="29"/>
                </a:cubicBezTo>
                <a:cubicBezTo>
                  <a:pt x="85" y="24"/>
                  <a:pt x="81" y="20"/>
                  <a:pt x="76" y="20"/>
                </a:cubicBezTo>
                <a:close/>
              </a:path>
            </a:pathLst>
          </a:custGeom>
          <a:solidFill>
            <a:schemeClr val="bg1"/>
          </a:solidFill>
          <a:ln>
            <a:solidFill>
              <a:schemeClr val="bg1"/>
            </a:solidFill>
          </a:ln>
        </p:spPr>
        <p:txBody>
          <a:bodyPr vert="horz" wrap="square" lIns="96757" tIns="48378" rIns="96757" bIns="48378" numCol="1" anchor="t" anchorCtr="0" compatLnSpc="1"/>
          <a:lstStyle/>
          <a:p>
            <a:pPr algn="ctr" defTabSz="967740" fontAlgn="base">
              <a:spcBef>
                <a:spcPct val="0"/>
              </a:spcBef>
              <a:spcAft>
                <a:spcPct val="0"/>
              </a:spcAft>
              <a:defRPr/>
            </a:pPr>
            <a:endParaRPr lang="en-US" sz="2965" kern="0">
              <a:solidFill>
                <a:schemeClr val="bg1"/>
              </a:solidFill>
              <a:latin typeface="微软雅黑" panose="020B0503020204020204" charset="-122"/>
              <a:ea typeface="微软雅黑" panose="020B0503020204020204" charset="-122"/>
              <a:sym typeface="Gill Sans" charset="0"/>
            </a:endParaRPr>
          </a:p>
        </p:txBody>
      </p:sp>
      <p:sp>
        <p:nvSpPr>
          <p:cNvPr id="17" name="Freeform 11"/>
          <p:cNvSpPr>
            <a:spLocks noEditPoints="1"/>
          </p:cNvSpPr>
          <p:nvPr>
            <p:custDataLst>
              <p:tags r:id="rId5"/>
            </p:custDataLst>
          </p:nvPr>
        </p:nvSpPr>
        <p:spPr bwMode="auto">
          <a:xfrm>
            <a:off x="5896449" y="2225779"/>
            <a:ext cx="416060" cy="409233"/>
          </a:xfrm>
          <a:custGeom>
            <a:avLst/>
            <a:gdLst>
              <a:gd name="T0" fmla="*/ 141 w 152"/>
              <a:gd name="T1" fmla="*/ 152 h 152"/>
              <a:gd name="T2" fmla="*/ 132 w 152"/>
              <a:gd name="T3" fmla="*/ 148 h 152"/>
              <a:gd name="T4" fmla="*/ 101 w 152"/>
              <a:gd name="T5" fmla="*/ 117 h 152"/>
              <a:gd name="T6" fmla="*/ 65 w 152"/>
              <a:gd name="T7" fmla="*/ 128 h 152"/>
              <a:gd name="T8" fmla="*/ 0 w 152"/>
              <a:gd name="T9" fmla="*/ 64 h 152"/>
              <a:gd name="T10" fmla="*/ 65 w 152"/>
              <a:gd name="T11" fmla="*/ 0 h 152"/>
              <a:gd name="T12" fmla="*/ 129 w 152"/>
              <a:gd name="T13" fmla="*/ 64 h 152"/>
              <a:gd name="T14" fmla="*/ 118 w 152"/>
              <a:gd name="T15" fmla="*/ 100 h 152"/>
              <a:gd name="T16" fmla="*/ 149 w 152"/>
              <a:gd name="T17" fmla="*/ 132 h 152"/>
              <a:gd name="T18" fmla="*/ 152 w 152"/>
              <a:gd name="T19" fmla="*/ 140 h 152"/>
              <a:gd name="T20" fmla="*/ 141 w 152"/>
              <a:gd name="T21" fmla="*/ 152 h 152"/>
              <a:gd name="T22" fmla="*/ 65 w 152"/>
              <a:gd name="T23" fmla="*/ 23 h 152"/>
              <a:gd name="T24" fmla="*/ 24 w 152"/>
              <a:gd name="T25" fmla="*/ 64 h 152"/>
              <a:gd name="T26" fmla="*/ 65 w 152"/>
              <a:gd name="T27" fmla="*/ 105 h 152"/>
              <a:gd name="T28" fmla="*/ 106 w 152"/>
              <a:gd name="T29" fmla="*/ 64 h 152"/>
              <a:gd name="T30" fmla="*/ 65 w 152"/>
              <a:gd name="T31" fmla="*/ 2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2" h="152">
                <a:moveTo>
                  <a:pt x="141" y="152"/>
                </a:moveTo>
                <a:cubicBezTo>
                  <a:pt x="138" y="152"/>
                  <a:pt x="135" y="151"/>
                  <a:pt x="132" y="148"/>
                </a:cubicBezTo>
                <a:cubicBezTo>
                  <a:pt x="101" y="117"/>
                  <a:pt x="101" y="117"/>
                  <a:pt x="101" y="117"/>
                </a:cubicBezTo>
                <a:cubicBezTo>
                  <a:pt x="90" y="124"/>
                  <a:pt x="78" y="128"/>
                  <a:pt x="65" y="128"/>
                </a:cubicBezTo>
                <a:cubicBezTo>
                  <a:pt x="29" y="128"/>
                  <a:pt x="0" y="100"/>
                  <a:pt x="0" y="64"/>
                </a:cubicBezTo>
                <a:cubicBezTo>
                  <a:pt x="0" y="28"/>
                  <a:pt x="29" y="0"/>
                  <a:pt x="65" y="0"/>
                </a:cubicBezTo>
                <a:cubicBezTo>
                  <a:pt x="100" y="0"/>
                  <a:pt x="129" y="28"/>
                  <a:pt x="129" y="64"/>
                </a:cubicBezTo>
                <a:cubicBezTo>
                  <a:pt x="129" y="77"/>
                  <a:pt x="125" y="90"/>
                  <a:pt x="118" y="100"/>
                </a:cubicBezTo>
                <a:cubicBezTo>
                  <a:pt x="149" y="132"/>
                  <a:pt x="149" y="132"/>
                  <a:pt x="149" y="132"/>
                </a:cubicBezTo>
                <a:cubicBezTo>
                  <a:pt x="151" y="134"/>
                  <a:pt x="152" y="137"/>
                  <a:pt x="152" y="140"/>
                </a:cubicBezTo>
                <a:cubicBezTo>
                  <a:pt x="152" y="147"/>
                  <a:pt x="147" y="152"/>
                  <a:pt x="141" y="152"/>
                </a:cubicBezTo>
                <a:close/>
                <a:moveTo>
                  <a:pt x="65" y="23"/>
                </a:moveTo>
                <a:cubicBezTo>
                  <a:pt x="42" y="23"/>
                  <a:pt x="24" y="41"/>
                  <a:pt x="24" y="64"/>
                </a:cubicBezTo>
                <a:cubicBezTo>
                  <a:pt x="24" y="87"/>
                  <a:pt x="42" y="105"/>
                  <a:pt x="65" y="105"/>
                </a:cubicBezTo>
                <a:cubicBezTo>
                  <a:pt x="87" y="105"/>
                  <a:pt x="106" y="87"/>
                  <a:pt x="106" y="64"/>
                </a:cubicBezTo>
                <a:cubicBezTo>
                  <a:pt x="106" y="41"/>
                  <a:pt x="87" y="23"/>
                  <a:pt x="65" y="23"/>
                </a:cubicBezTo>
                <a:close/>
              </a:path>
            </a:pathLst>
          </a:custGeom>
          <a:solidFill>
            <a:schemeClr val="bg1"/>
          </a:solidFill>
          <a:ln>
            <a:solidFill>
              <a:schemeClr val="bg1"/>
            </a:solidFill>
          </a:ln>
        </p:spPr>
        <p:txBody>
          <a:bodyPr vert="horz" wrap="square" lIns="96757" tIns="48378" rIns="96757" bIns="48378" numCol="1" anchor="t" anchorCtr="0" compatLnSpc="1"/>
          <a:lstStyle/>
          <a:p>
            <a:pPr algn="ctr" defTabSz="967740" fontAlgn="base">
              <a:spcBef>
                <a:spcPct val="0"/>
              </a:spcBef>
              <a:spcAft>
                <a:spcPct val="0"/>
              </a:spcAft>
              <a:defRPr/>
            </a:pPr>
            <a:endParaRPr lang="en-US" sz="2965" kern="0">
              <a:solidFill>
                <a:schemeClr val="bg1"/>
              </a:solidFill>
              <a:latin typeface="微软雅黑" panose="020B0503020204020204" charset="-122"/>
              <a:ea typeface="微软雅黑" panose="020B0503020204020204" charset="-122"/>
              <a:sym typeface="Gill Sans" charset="0"/>
            </a:endParaRPr>
          </a:p>
        </p:txBody>
      </p:sp>
      <p:sp>
        <p:nvSpPr>
          <p:cNvPr id="18" name="Freeform 8"/>
          <p:cNvSpPr>
            <a:spLocks noEditPoints="1"/>
          </p:cNvSpPr>
          <p:nvPr>
            <p:custDataLst>
              <p:tags r:id="rId6"/>
            </p:custDataLst>
          </p:nvPr>
        </p:nvSpPr>
        <p:spPr bwMode="auto">
          <a:xfrm>
            <a:off x="8765828" y="2215404"/>
            <a:ext cx="416706" cy="400109"/>
          </a:xfrm>
          <a:custGeom>
            <a:avLst/>
            <a:gdLst>
              <a:gd name="T0" fmla="*/ 43 w 44"/>
              <a:gd name="T1" fmla="*/ 22 h 43"/>
              <a:gd name="T2" fmla="*/ 43 w 44"/>
              <a:gd name="T3" fmla="*/ 22 h 43"/>
              <a:gd name="T4" fmla="*/ 38 w 44"/>
              <a:gd name="T5" fmla="*/ 19 h 43"/>
              <a:gd name="T6" fmla="*/ 31 w 44"/>
              <a:gd name="T7" fmla="*/ 23 h 43"/>
              <a:gd name="T8" fmla="*/ 30 w 44"/>
              <a:gd name="T9" fmla="*/ 24 h 43"/>
              <a:gd name="T10" fmla="*/ 30 w 44"/>
              <a:gd name="T11" fmla="*/ 25 h 43"/>
              <a:gd name="T12" fmla="*/ 29 w 44"/>
              <a:gd name="T13" fmla="*/ 24 h 43"/>
              <a:gd name="T14" fmla="*/ 28 w 44"/>
              <a:gd name="T15" fmla="*/ 23 h 43"/>
              <a:gd name="T16" fmla="*/ 22 w 44"/>
              <a:gd name="T17" fmla="*/ 19 h 43"/>
              <a:gd name="T18" fmla="*/ 16 w 44"/>
              <a:gd name="T19" fmla="*/ 23 h 43"/>
              <a:gd name="T20" fmla="*/ 15 w 44"/>
              <a:gd name="T21" fmla="*/ 24 h 43"/>
              <a:gd name="T22" fmla="*/ 14 w 44"/>
              <a:gd name="T23" fmla="*/ 25 h 43"/>
              <a:gd name="T24" fmla="*/ 13 w 44"/>
              <a:gd name="T25" fmla="*/ 24 h 43"/>
              <a:gd name="T26" fmla="*/ 13 w 44"/>
              <a:gd name="T27" fmla="*/ 23 h 43"/>
              <a:gd name="T28" fmla="*/ 6 w 44"/>
              <a:gd name="T29" fmla="*/ 19 h 43"/>
              <a:gd name="T30" fmla="*/ 1 w 44"/>
              <a:gd name="T31" fmla="*/ 22 h 43"/>
              <a:gd name="T32" fmla="*/ 1 w 44"/>
              <a:gd name="T33" fmla="*/ 22 h 43"/>
              <a:gd name="T34" fmla="*/ 0 w 44"/>
              <a:gd name="T35" fmla="*/ 21 h 43"/>
              <a:gd name="T36" fmla="*/ 0 w 44"/>
              <a:gd name="T37" fmla="*/ 21 h 43"/>
              <a:gd name="T38" fmla="*/ 22 w 44"/>
              <a:gd name="T39" fmla="*/ 5 h 43"/>
              <a:gd name="T40" fmla="*/ 44 w 44"/>
              <a:gd name="T41" fmla="*/ 21 h 43"/>
              <a:gd name="T42" fmla="*/ 44 w 44"/>
              <a:gd name="T43" fmla="*/ 21 h 43"/>
              <a:gd name="T44" fmla="*/ 43 w 44"/>
              <a:gd name="T45" fmla="*/ 22 h 43"/>
              <a:gd name="T46" fmla="*/ 24 w 44"/>
              <a:gd name="T47" fmla="*/ 36 h 43"/>
              <a:gd name="T48" fmla="*/ 17 w 44"/>
              <a:gd name="T49" fmla="*/ 43 h 43"/>
              <a:gd name="T50" fmla="*/ 10 w 44"/>
              <a:gd name="T51" fmla="*/ 36 h 43"/>
              <a:gd name="T52" fmla="*/ 12 w 44"/>
              <a:gd name="T53" fmla="*/ 34 h 43"/>
              <a:gd name="T54" fmla="*/ 13 w 44"/>
              <a:gd name="T55" fmla="*/ 36 h 43"/>
              <a:gd name="T56" fmla="*/ 17 w 44"/>
              <a:gd name="T57" fmla="*/ 39 h 43"/>
              <a:gd name="T58" fmla="*/ 20 w 44"/>
              <a:gd name="T59" fmla="*/ 36 h 43"/>
              <a:gd name="T60" fmla="*/ 20 w 44"/>
              <a:gd name="T61" fmla="*/ 20 h 43"/>
              <a:gd name="T62" fmla="*/ 22 w 44"/>
              <a:gd name="T63" fmla="*/ 20 h 43"/>
              <a:gd name="T64" fmla="*/ 24 w 44"/>
              <a:gd name="T65" fmla="*/ 20 h 43"/>
              <a:gd name="T66" fmla="*/ 24 w 44"/>
              <a:gd name="T67" fmla="*/ 36 h 43"/>
              <a:gd name="T68" fmla="*/ 24 w 44"/>
              <a:gd name="T69" fmla="*/ 4 h 43"/>
              <a:gd name="T70" fmla="*/ 22 w 44"/>
              <a:gd name="T71" fmla="*/ 4 h 43"/>
              <a:gd name="T72" fmla="*/ 20 w 44"/>
              <a:gd name="T73" fmla="*/ 4 h 43"/>
              <a:gd name="T74" fmla="*/ 20 w 44"/>
              <a:gd name="T75" fmla="*/ 2 h 43"/>
              <a:gd name="T76" fmla="*/ 22 w 44"/>
              <a:gd name="T77" fmla="*/ 0 h 43"/>
              <a:gd name="T78" fmla="*/ 24 w 44"/>
              <a:gd name="T79" fmla="*/ 2 h 43"/>
              <a:gd name="T80" fmla="*/ 24 w 44"/>
              <a:gd name="T81" fmla="*/ 4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4" h="43">
                <a:moveTo>
                  <a:pt x="43" y="22"/>
                </a:moveTo>
                <a:cubicBezTo>
                  <a:pt x="43" y="22"/>
                  <a:pt x="43" y="22"/>
                  <a:pt x="43" y="22"/>
                </a:cubicBezTo>
                <a:cubicBezTo>
                  <a:pt x="41" y="20"/>
                  <a:pt x="40" y="19"/>
                  <a:pt x="38" y="19"/>
                </a:cubicBezTo>
                <a:cubicBezTo>
                  <a:pt x="35" y="19"/>
                  <a:pt x="33" y="21"/>
                  <a:pt x="31" y="23"/>
                </a:cubicBezTo>
                <a:cubicBezTo>
                  <a:pt x="31" y="23"/>
                  <a:pt x="31" y="24"/>
                  <a:pt x="30" y="24"/>
                </a:cubicBezTo>
                <a:cubicBezTo>
                  <a:pt x="30" y="25"/>
                  <a:pt x="30" y="25"/>
                  <a:pt x="30" y="25"/>
                </a:cubicBezTo>
                <a:cubicBezTo>
                  <a:pt x="29" y="25"/>
                  <a:pt x="29" y="25"/>
                  <a:pt x="29" y="24"/>
                </a:cubicBezTo>
                <a:cubicBezTo>
                  <a:pt x="29" y="24"/>
                  <a:pt x="28" y="23"/>
                  <a:pt x="28" y="23"/>
                </a:cubicBezTo>
                <a:cubicBezTo>
                  <a:pt x="27" y="21"/>
                  <a:pt x="24" y="19"/>
                  <a:pt x="22" y="19"/>
                </a:cubicBezTo>
                <a:cubicBezTo>
                  <a:pt x="19" y="19"/>
                  <a:pt x="17" y="21"/>
                  <a:pt x="16" y="23"/>
                </a:cubicBezTo>
                <a:cubicBezTo>
                  <a:pt x="15" y="23"/>
                  <a:pt x="15" y="24"/>
                  <a:pt x="15" y="24"/>
                </a:cubicBezTo>
                <a:cubicBezTo>
                  <a:pt x="15" y="25"/>
                  <a:pt x="15" y="25"/>
                  <a:pt x="14" y="25"/>
                </a:cubicBezTo>
                <a:cubicBezTo>
                  <a:pt x="14" y="25"/>
                  <a:pt x="14" y="25"/>
                  <a:pt x="13" y="24"/>
                </a:cubicBezTo>
                <a:cubicBezTo>
                  <a:pt x="13" y="24"/>
                  <a:pt x="13" y="23"/>
                  <a:pt x="13" y="23"/>
                </a:cubicBezTo>
                <a:cubicBezTo>
                  <a:pt x="11" y="21"/>
                  <a:pt x="9" y="19"/>
                  <a:pt x="6" y="19"/>
                </a:cubicBezTo>
                <a:cubicBezTo>
                  <a:pt x="4" y="19"/>
                  <a:pt x="3" y="20"/>
                  <a:pt x="1" y="22"/>
                </a:cubicBezTo>
                <a:cubicBezTo>
                  <a:pt x="1" y="22"/>
                  <a:pt x="1" y="22"/>
                  <a:pt x="1" y="22"/>
                </a:cubicBezTo>
                <a:cubicBezTo>
                  <a:pt x="0" y="22"/>
                  <a:pt x="0" y="22"/>
                  <a:pt x="0" y="21"/>
                </a:cubicBezTo>
                <a:cubicBezTo>
                  <a:pt x="0" y="21"/>
                  <a:pt x="0" y="21"/>
                  <a:pt x="0" y="21"/>
                </a:cubicBezTo>
                <a:cubicBezTo>
                  <a:pt x="2" y="11"/>
                  <a:pt x="12" y="5"/>
                  <a:pt x="22" y="5"/>
                </a:cubicBezTo>
                <a:cubicBezTo>
                  <a:pt x="32" y="5"/>
                  <a:pt x="42" y="11"/>
                  <a:pt x="44" y="21"/>
                </a:cubicBezTo>
                <a:cubicBezTo>
                  <a:pt x="44" y="21"/>
                  <a:pt x="44" y="21"/>
                  <a:pt x="44" y="21"/>
                </a:cubicBezTo>
                <a:cubicBezTo>
                  <a:pt x="44" y="22"/>
                  <a:pt x="44" y="22"/>
                  <a:pt x="43" y="22"/>
                </a:cubicBezTo>
                <a:close/>
                <a:moveTo>
                  <a:pt x="24" y="36"/>
                </a:moveTo>
                <a:cubicBezTo>
                  <a:pt x="24" y="40"/>
                  <a:pt x="21" y="43"/>
                  <a:pt x="17" y="43"/>
                </a:cubicBezTo>
                <a:cubicBezTo>
                  <a:pt x="13" y="43"/>
                  <a:pt x="10" y="40"/>
                  <a:pt x="10" y="36"/>
                </a:cubicBezTo>
                <a:cubicBezTo>
                  <a:pt x="10" y="35"/>
                  <a:pt x="11" y="34"/>
                  <a:pt x="12" y="34"/>
                </a:cubicBezTo>
                <a:cubicBezTo>
                  <a:pt x="13" y="34"/>
                  <a:pt x="13" y="35"/>
                  <a:pt x="13" y="36"/>
                </a:cubicBezTo>
                <a:cubicBezTo>
                  <a:pt x="13" y="38"/>
                  <a:pt x="15" y="39"/>
                  <a:pt x="17" y="39"/>
                </a:cubicBezTo>
                <a:cubicBezTo>
                  <a:pt x="19" y="39"/>
                  <a:pt x="20" y="38"/>
                  <a:pt x="20" y="36"/>
                </a:cubicBezTo>
                <a:cubicBezTo>
                  <a:pt x="20" y="20"/>
                  <a:pt x="20" y="20"/>
                  <a:pt x="20" y="20"/>
                </a:cubicBezTo>
                <a:cubicBezTo>
                  <a:pt x="21" y="20"/>
                  <a:pt x="21" y="20"/>
                  <a:pt x="22" y="20"/>
                </a:cubicBezTo>
                <a:cubicBezTo>
                  <a:pt x="23" y="20"/>
                  <a:pt x="23" y="20"/>
                  <a:pt x="24" y="20"/>
                </a:cubicBezTo>
                <a:lnTo>
                  <a:pt x="24" y="36"/>
                </a:lnTo>
                <a:close/>
                <a:moveTo>
                  <a:pt x="24" y="4"/>
                </a:moveTo>
                <a:cubicBezTo>
                  <a:pt x="23" y="4"/>
                  <a:pt x="23" y="4"/>
                  <a:pt x="22" y="4"/>
                </a:cubicBezTo>
                <a:cubicBezTo>
                  <a:pt x="21" y="4"/>
                  <a:pt x="21" y="4"/>
                  <a:pt x="20" y="4"/>
                </a:cubicBezTo>
                <a:cubicBezTo>
                  <a:pt x="20" y="2"/>
                  <a:pt x="20" y="2"/>
                  <a:pt x="20" y="2"/>
                </a:cubicBezTo>
                <a:cubicBezTo>
                  <a:pt x="20" y="1"/>
                  <a:pt x="21" y="0"/>
                  <a:pt x="22" y="0"/>
                </a:cubicBezTo>
                <a:cubicBezTo>
                  <a:pt x="23" y="0"/>
                  <a:pt x="24" y="1"/>
                  <a:pt x="24" y="2"/>
                </a:cubicBezTo>
                <a:lnTo>
                  <a:pt x="24" y="4"/>
                </a:lnTo>
                <a:close/>
              </a:path>
            </a:pathLst>
          </a:custGeom>
          <a:solidFill>
            <a:schemeClr val="bg1"/>
          </a:solidFill>
          <a:ln>
            <a:solidFill>
              <a:schemeClr val="bg1"/>
            </a:solidFill>
          </a:ln>
        </p:spPr>
        <p:txBody>
          <a:bodyPr vert="horz" wrap="square" lIns="96757" tIns="48378" rIns="96757" bIns="48378" numCol="1" anchor="t" anchorCtr="0" compatLnSpc="1"/>
          <a:lstStyle/>
          <a:p>
            <a:pPr algn="ctr" defTabSz="967740" fontAlgn="base">
              <a:spcBef>
                <a:spcPct val="0"/>
              </a:spcBef>
              <a:spcAft>
                <a:spcPct val="0"/>
              </a:spcAft>
              <a:defRPr/>
            </a:pPr>
            <a:endParaRPr lang="en-US" sz="2965" kern="0">
              <a:solidFill>
                <a:schemeClr val="bg1"/>
              </a:solidFill>
              <a:latin typeface="微软雅黑" panose="020B0503020204020204" charset="-122"/>
              <a:ea typeface="微软雅黑" panose="020B0503020204020204" charset="-122"/>
              <a:sym typeface="Gill Sans" charset="0"/>
            </a:endParaRPr>
          </a:p>
        </p:txBody>
      </p:sp>
      <p:sp>
        <p:nvSpPr>
          <p:cNvPr id="19" name="文本框1"/>
          <p:cNvSpPr txBox="1"/>
          <p:nvPr>
            <p:custDataLst>
              <p:tags r:id="rId7"/>
            </p:custDataLst>
          </p:nvPr>
        </p:nvSpPr>
        <p:spPr>
          <a:xfrm>
            <a:off x="4628515" y="2728595"/>
            <a:ext cx="3041015" cy="1076325"/>
          </a:xfrm>
          <a:prstGeom prst="rect">
            <a:avLst/>
          </a:prstGeom>
          <a:noFill/>
        </p:spPr>
        <p:txBody>
          <a:bodyPr wrap="none" rtlCol="0">
            <a:spAutoFit/>
          </a:bodyPr>
          <a:lstStyle/>
          <a:p>
            <a:pPr lvl="0" algn="ctr">
              <a:spcBef>
                <a:spcPts val="0"/>
              </a:spcBef>
              <a:spcAft>
                <a:spcPts val="0"/>
              </a:spcAft>
              <a:buClrTx/>
              <a:buSzTx/>
              <a:buFontTx/>
              <a:defRPr/>
            </a:pPr>
            <a:r>
              <a:rPr lang="zh-CN" altLang="id-ID" sz="3200" b="1" noProof="0" dirty="0">
                <a:ln>
                  <a:noFill/>
                </a:ln>
                <a:solidFill>
                  <a:schemeClr val="bg1"/>
                </a:solidFill>
                <a:effectLst/>
                <a:uLnTx/>
                <a:uFillTx/>
                <a:latin typeface="思源黑体 CN Bold" panose="020B0800000000000000" pitchFamily="34" charset="-122"/>
                <a:ea typeface="思源黑体 CN Bold" panose="020B0800000000000000" pitchFamily="34" charset="-122"/>
                <a:sym typeface="+mn-ea"/>
              </a:rPr>
              <a:t>患者和家属共同</a:t>
            </a:r>
            <a:endParaRPr lang="zh-CN" altLang="id-ID" sz="3200" b="1" noProof="0" dirty="0">
              <a:ln>
                <a:noFill/>
              </a:ln>
              <a:solidFill>
                <a:schemeClr val="bg1"/>
              </a:solidFill>
              <a:effectLst/>
              <a:uLnTx/>
              <a:uFillTx/>
              <a:latin typeface="思源黑体 CN Bold" panose="020B0800000000000000" pitchFamily="34" charset="-122"/>
              <a:ea typeface="思源黑体 CN Bold" panose="020B0800000000000000" pitchFamily="34" charset="-122"/>
              <a:sym typeface="+mn-ea"/>
            </a:endParaRPr>
          </a:p>
          <a:p>
            <a:pPr lvl="0" algn="ctr">
              <a:spcBef>
                <a:spcPts val="0"/>
              </a:spcBef>
              <a:spcAft>
                <a:spcPts val="0"/>
              </a:spcAft>
              <a:buClrTx/>
              <a:buSzTx/>
              <a:buFontTx/>
              <a:defRPr/>
            </a:pPr>
            <a:r>
              <a:rPr lang="zh-CN" altLang="id-ID" sz="3200" b="1" noProof="0" dirty="0">
                <a:ln>
                  <a:noFill/>
                </a:ln>
                <a:solidFill>
                  <a:schemeClr val="bg1"/>
                </a:solidFill>
                <a:effectLst/>
                <a:uLnTx/>
                <a:uFillTx/>
                <a:latin typeface="思源黑体 CN Bold" panose="020B0800000000000000" pitchFamily="34" charset="-122"/>
                <a:ea typeface="思源黑体 CN Bold" panose="020B0800000000000000" pitchFamily="34" charset="-122"/>
                <a:sym typeface="+mn-ea"/>
              </a:rPr>
              <a:t>参与治疗</a:t>
            </a:r>
            <a:endParaRPr lang="zh-CN" altLang="id-ID" sz="3200" b="1" noProof="0" dirty="0">
              <a:ln>
                <a:noFill/>
              </a:ln>
              <a:solidFill>
                <a:schemeClr val="bg1"/>
              </a:solidFill>
              <a:effectLst/>
              <a:uLnTx/>
              <a:uFillTx/>
              <a:latin typeface="思源黑体 CN Bold" panose="020B0800000000000000" pitchFamily="34" charset="-122"/>
              <a:ea typeface="思源黑体 CN Bold" panose="020B0800000000000000" pitchFamily="34" charset="-122"/>
              <a:sym typeface="+mn-ea"/>
            </a:endParaRPr>
          </a:p>
        </p:txBody>
      </p:sp>
      <p:sp>
        <p:nvSpPr>
          <p:cNvPr id="20" name="文本框2"/>
          <p:cNvSpPr/>
          <p:nvPr>
            <p:custDataLst>
              <p:tags r:id="rId8"/>
            </p:custDataLst>
          </p:nvPr>
        </p:nvSpPr>
        <p:spPr>
          <a:xfrm>
            <a:off x="4888230" y="3695700"/>
            <a:ext cx="2520950" cy="1337945"/>
          </a:xfrm>
          <a:prstGeom prst="rect">
            <a:avLst/>
          </a:prstGeom>
        </p:spPr>
        <p:txBody>
          <a:bodyPr wrap="square">
            <a:spAutoFit/>
          </a:bodyPr>
          <a:lstStyle/>
          <a:p>
            <a:pPr algn="ctr">
              <a:lnSpc>
                <a:spcPct val="150000"/>
              </a:lnSpc>
              <a:spcBef>
                <a:spcPts val="2950"/>
              </a:spcBef>
              <a:defRPr/>
            </a:pPr>
            <a:r>
              <a:rPr kumimoji="0" lang="zh-CN" altLang="en-US"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rPr>
              <a:t>以医生与患者及其家属共同参与的联谊会形式进行，有固定的内容。</a:t>
            </a:r>
            <a:endParaRPr kumimoji="0" lang="zh-CN" altLang="en-US"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endParaRPr>
          </a:p>
        </p:txBody>
      </p:sp>
      <p:sp>
        <p:nvSpPr>
          <p:cNvPr id="21" name="文本框1"/>
          <p:cNvSpPr txBox="1"/>
          <p:nvPr>
            <p:custDataLst>
              <p:tags r:id="rId9"/>
            </p:custDataLst>
          </p:nvPr>
        </p:nvSpPr>
        <p:spPr>
          <a:xfrm>
            <a:off x="2045984" y="2742284"/>
            <a:ext cx="1816100" cy="583565"/>
          </a:xfrm>
          <a:prstGeom prst="rect">
            <a:avLst/>
          </a:prstGeom>
          <a:noFill/>
        </p:spPr>
        <p:txBody>
          <a:bodyPr wrap="none" rtlCol="0">
            <a:spAutoFit/>
          </a:bodyPr>
          <a:lstStyle/>
          <a:p>
            <a:pPr lvl="0" algn="ctr">
              <a:spcBef>
                <a:spcPts val="0"/>
              </a:spcBef>
              <a:spcAft>
                <a:spcPts val="0"/>
              </a:spcAft>
              <a:buClrTx/>
              <a:buSzTx/>
              <a:buFontTx/>
              <a:defRPr/>
            </a:pPr>
            <a:r>
              <a:rPr lang="zh-CN" altLang="id-ID" sz="3200" b="1" noProof="0" dirty="0">
                <a:ln>
                  <a:noFill/>
                </a:ln>
                <a:solidFill>
                  <a:schemeClr val="bg1"/>
                </a:solidFill>
                <a:effectLst/>
                <a:uLnTx/>
                <a:uFillTx/>
                <a:latin typeface="思源黑体 CN Bold" panose="020B0800000000000000" pitchFamily="34" charset="-122"/>
                <a:ea typeface="思源黑体 CN Bold" panose="020B0800000000000000" pitchFamily="34" charset="-122"/>
                <a:sym typeface="+mn-ea"/>
              </a:rPr>
              <a:t>综合治疗</a:t>
            </a:r>
            <a:endParaRPr lang="zh-CN" altLang="id-ID" sz="3200" b="1" noProof="0" dirty="0">
              <a:ln>
                <a:noFill/>
              </a:ln>
              <a:solidFill>
                <a:schemeClr val="bg1"/>
              </a:solidFill>
              <a:effectLst/>
              <a:uLnTx/>
              <a:uFillTx/>
              <a:latin typeface="思源黑体 CN Bold" panose="020B0800000000000000" pitchFamily="34" charset="-122"/>
              <a:ea typeface="思源黑体 CN Bold" panose="020B0800000000000000" pitchFamily="34" charset="-122"/>
              <a:sym typeface="+mn-ea"/>
            </a:endParaRPr>
          </a:p>
        </p:txBody>
      </p:sp>
      <p:sp>
        <p:nvSpPr>
          <p:cNvPr id="22" name="文本框2"/>
          <p:cNvSpPr/>
          <p:nvPr>
            <p:custDataLst>
              <p:tags r:id="rId10"/>
            </p:custDataLst>
          </p:nvPr>
        </p:nvSpPr>
        <p:spPr>
          <a:xfrm>
            <a:off x="1816577" y="3639821"/>
            <a:ext cx="2288884" cy="1337945"/>
          </a:xfrm>
          <a:prstGeom prst="rect">
            <a:avLst/>
          </a:prstGeom>
        </p:spPr>
        <p:txBody>
          <a:bodyPr wrap="square">
            <a:spAutoFit/>
          </a:bodyPr>
          <a:lstStyle/>
          <a:p>
            <a:pPr algn="ctr">
              <a:lnSpc>
                <a:spcPct val="150000"/>
              </a:lnSpc>
              <a:spcBef>
                <a:spcPts val="2950"/>
              </a:spcBef>
              <a:defRPr/>
            </a:pPr>
            <a:r>
              <a:rPr kumimoji="0" lang="zh-CN" altLang="en-US"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rPr>
              <a:t>精神药物、躯体治疗、物理治疗、心理治疗、危机干预</a:t>
            </a:r>
            <a:r>
              <a:rPr kumimoji="0" lang="en-US" altLang="zh-CN"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rPr>
              <a:t>……</a:t>
            </a:r>
            <a:endParaRPr kumimoji="0" lang="en-US" altLang="zh-CN"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endParaRPr>
          </a:p>
        </p:txBody>
      </p:sp>
      <p:sp>
        <p:nvSpPr>
          <p:cNvPr id="23" name="文本框1"/>
          <p:cNvSpPr txBox="1"/>
          <p:nvPr>
            <p:custDataLst>
              <p:tags r:id="rId11"/>
            </p:custDataLst>
          </p:nvPr>
        </p:nvSpPr>
        <p:spPr>
          <a:xfrm>
            <a:off x="8227114" y="2742284"/>
            <a:ext cx="1612900" cy="521970"/>
          </a:xfrm>
          <a:prstGeom prst="rect">
            <a:avLst/>
          </a:prstGeom>
          <a:noFill/>
        </p:spPr>
        <p:txBody>
          <a:bodyPr wrap="none" rtlCol="0">
            <a:spAutoFit/>
          </a:bodyPr>
          <a:lstStyle/>
          <a:p>
            <a:pPr lvl="0" algn="ctr">
              <a:spcBef>
                <a:spcPts val="0"/>
              </a:spcBef>
              <a:spcAft>
                <a:spcPts val="0"/>
              </a:spcAft>
              <a:buClrTx/>
              <a:buSzTx/>
              <a:buFontTx/>
              <a:defRPr/>
            </a:pPr>
            <a:r>
              <a:rPr lang="zh-CN" altLang="id-ID" sz="3200" b="1" noProof="0" dirty="0">
                <a:ln>
                  <a:noFill/>
                </a:ln>
                <a:solidFill>
                  <a:schemeClr val="bg1"/>
                </a:solidFill>
                <a:effectLst/>
                <a:uLnTx/>
                <a:uFillTx/>
                <a:latin typeface="思源黑体 CN Bold" panose="020B0800000000000000" pitchFamily="34" charset="-122"/>
                <a:ea typeface="思源黑体 CN Bold" panose="020B0800000000000000" pitchFamily="34" charset="-122"/>
                <a:sym typeface="+mn-ea"/>
              </a:rPr>
              <a:t>长期治疗</a:t>
            </a:r>
            <a:endParaRPr lang="zh-CN" altLang="id-ID" sz="3200" b="1" noProof="0" dirty="0">
              <a:ln>
                <a:noFill/>
              </a:ln>
              <a:solidFill>
                <a:schemeClr val="bg1"/>
              </a:solidFill>
              <a:effectLst/>
              <a:uLnTx/>
              <a:uFillTx/>
              <a:latin typeface="思源黑体 CN Bold" panose="020B0800000000000000" pitchFamily="34" charset="-122"/>
              <a:ea typeface="思源黑体 CN Bold" panose="020B0800000000000000" pitchFamily="34" charset="-122"/>
              <a:sym typeface="+mn-ea"/>
            </a:endParaRPr>
          </a:p>
        </p:txBody>
      </p:sp>
      <p:sp>
        <p:nvSpPr>
          <p:cNvPr id="24" name="文本框2"/>
          <p:cNvSpPr/>
          <p:nvPr>
            <p:custDataLst>
              <p:tags r:id="rId12"/>
            </p:custDataLst>
          </p:nvPr>
        </p:nvSpPr>
        <p:spPr>
          <a:xfrm>
            <a:off x="7943732" y="3695701"/>
            <a:ext cx="2288884" cy="922020"/>
          </a:xfrm>
          <a:prstGeom prst="rect">
            <a:avLst/>
          </a:prstGeom>
        </p:spPr>
        <p:txBody>
          <a:bodyPr wrap="square">
            <a:spAutoFit/>
          </a:bodyPr>
          <a:lstStyle/>
          <a:p>
            <a:pPr algn="ctr">
              <a:lnSpc>
                <a:spcPct val="150000"/>
              </a:lnSpc>
              <a:spcBef>
                <a:spcPts val="2950"/>
              </a:spcBef>
              <a:defRPr/>
            </a:pPr>
            <a:r>
              <a:rPr kumimoji="0" lang="zh-CN" altLang="en-US"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rPr>
              <a:t>坚持长期治疗原则以阻断反复发作。</a:t>
            </a:r>
            <a:endParaRPr kumimoji="0" lang="zh-CN" altLang="en-US"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endParaRPr>
          </a:p>
        </p:txBody>
      </p:sp>
      <p:grpSp>
        <p:nvGrpSpPr>
          <p:cNvPr id="7" name="组合 6"/>
          <p:cNvGrpSpPr/>
          <p:nvPr/>
        </p:nvGrpSpPr>
        <p:grpSpPr>
          <a:xfrm>
            <a:off x="334963" y="455941"/>
            <a:ext cx="4270407" cy="615022"/>
            <a:chOff x="334963" y="455941"/>
            <a:chExt cx="4270407" cy="615022"/>
          </a:xfrm>
        </p:grpSpPr>
        <p:grpSp>
          <p:nvGrpSpPr>
            <p:cNvPr id="8" name="组合 7"/>
            <p:cNvGrpSpPr/>
            <p:nvPr/>
          </p:nvGrpSpPr>
          <p:grpSpPr>
            <a:xfrm>
              <a:off x="637226" y="455941"/>
              <a:ext cx="3968144" cy="615022"/>
              <a:chOff x="637226" y="455941"/>
              <a:chExt cx="3968144" cy="615022"/>
            </a:xfrm>
          </p:grpSpPr>
          <p:sp>
            <p:nvSpPr>
              <p:cNvPr id="12" name="文本框 11"/>
              <p:cNvSpPr txBox="1"/>
              <p:nvPr>
                <p:custDataLst>
                  <p:tags r:id="rId13"/>
                </p:custDataLst>
              </p:nvPr>
            </p:nvSpPr>
            <p:spPr>
              <a:xfrm>
                <a:off x="637381" y="455941"/>
                <a:ext cx="1402080" cy="460375"/>
              </a:xfrm>
              <a:prstGeom prst="rect">
                <a:avLst/>
              </a:prstGeom>
              <a:noFill/>
            </p:spPr>
            <p:txBody>
              <a:bodyPr wrap="none" rtlCol="0">
                <a:spAutoFit/>
              </a:bodyPr>
              <a:p>
                <a:r>
                  <a:rPr lang="zh-CN" altLang="en-US" sz="2400" b="1" dirty="0">
                    <a:solidFill>
                      <a:srgbClr val="7188A8"/>
                    </a:solidFill>
                    <a:cs typeface="+mn-ea"/>
                    <a:sym typeface="+mn-lt"/>
                  </a:rPr>
                  <a:t>治疗原则</a:t>
                </a:r>
                <a:endParaRPr lang="en-US" altLang="zh-CN" sz="2400" b="1" dirty="0">
                  <a:solidFill>
                    <a:srgbClr val="7188A8"/>
                  </a:solidFill>
                  <a:cs typeface="+mn-ea"/>
                  <a:sym typeface="+mn-lt"/>
                </a:endParaRPr>
              </a:p>
            </p:txBody>
          </p:sp>
          <p:sp>
            <p:nvSpPr>
              <p:cNvPr id="13" name="矩形 12"/>
              <p:cNvSpPr/>
              <p:nvPr>
                <p:custDataLst>
                  <p:tags r:id="rId14"/>
                </p:custDataLst>
              </p:nvPr>
            </p:nvSpPr>
            <p:spPr>
              <a:xfrm>
                <a:off x="637226" y="818233"/>
                <a:ext cx="3968144" cy="252730"/>
              </a:xfrm>
              <a:prstGeom prst="rect">
                <a:avLst/>
              </a:prstGeom>
            </p:spPr>
            <p:txBody>
              <a:bodyPr wrap="square">
                <a:spAutoFit/>
              </a:bodyPr>
              <a:p>
                <a:r>
                  <a:rPr lang="en-US" altLang="zh-CN" sz="1050" dirty="0">
                    <a:solidFill>
                      <a:schemeClr val="bg1">
                        <a:lumMod val="50000"/>
                      </a:schemeClr>
                    </a:solidFill>
                  </a:rPr>
                  <a:t>Therapeutic Methods</a:t>
                </a:r>
                <a:endParaRPr lang="en-US" altLang="zh-CN" sz="1050" dirty="0">
                  <a:solidFill>
                    <a:schemeClr val="bg1">
                      <a:lumMod val="50000"/>
                    </a:schemeClr>
                  </a:solidFill>
                </a:endParaRPr>
              </a:p>
            </p:txBody>
          </p:sp>
        </p:grpSp>
        <p:sp>
          <p:nvSpPr>
            <p:cNvPr id="14" name="矩形 13"/>
            <p:cNvSpPr/>
            <p:nvPr>
              <p:custDataLst>
                <p:tags r:id="rId15"/>
              </p:custDataLst>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4963" y="455941"/>
            <a:ext cx="4270407" cy="615022"/>
            <a:chOff x="334963" y="455941"/>
            <a:chExt cx="4270407" cy="615022"/>
          </a:xfrm>
        </p:grpSpPr>
        <p:grpSp>
          <p:nvGrpSpPr>
            <p:cNvPr id="3" name="组合 2"/>
            <p:cNvGrpSpPr/>
            <p:nvPr/>
          </p:nvGrpSpPr>
          <p:grpSpPr>
            <a:xfrm>
              <a:off x="637226" y="455941"/>
              <a:ext cx="3968144" cy="615022"/>
              <a:chOff x="637226" y="455941"/>
              <a:chExt cx="3968144" cy="615022"/>
            </a:xfrm>
          </p:grpSpPr>
          <p:sp>
            <p:nvSpPr>
              <p:cNvPr id="5" name="文本框 4"/>
              <p:cNvSpPr txBox="1"/>
              <p:nvPr/>
            </p:nvSpPr>
            <p:spPr>
              <a:xfrm>
                <a:off x="637381" y="455941"/>
                <a:ext cx="1402080" cy="460375"/>
              </a:xfrm>
              <a:prstGeom prst="rect">
                <a:avLst/>
              </a:prstGeom>
              <a:noFill/>
            </p:spPr>
            <p:txBody>
              <a:bodyPr wrap="none" rtlCol="0">
                <a:spAutoFit/>
              </a:bodyPr>
              <a:lstStyle/>
              <a:p>
                <a:r>
                  <a:rPr lang="zh-CN" altLang="en-US" sz="2400" b="1" dirty="0">
                    <a:solidFill>
                      <a:srgbClr val="7188A8"/>
                    </a:solidFill>
                    <a:cs typeface="+mn-ea"/>
                    <a:sym typeface="+mn-lt"/>
                  </a:rPr>
                  <a:t>治疗方法</a:t>
                </a:r>
                <a:endParaRPr lang="zh-CN" altLang="en-US" sz="2400" b="1" dirty="0">
                  <a:solidFill>
                    <a:srgbClr val="7188A8"/>
                  </a:solidFill>
                  <a:cs typeface="+mn-ea"/>
                  <a:sym typeface="+mn-lt"/>
                </a:endParaRPr>
              </a:p>
            </p:txBody>
          </p:sp>
          <p:sp>
            <p:nvSpPr>
              <p:cNvPr id="6" name="矩形 5"/>
              <p:cNvSpPr/>
              <p:nvPr/>
            </p:nvSpPr>
            <p:spPr>
              <a:xfrm>
                <a:off x="637226" y="818233"/>
                <a:ext cx="3968144" cy="252730"/>
              </a:xfrm>
              <a:prstGeom prst="rect">
                <a:avLst/>
              </a:prstGeom>
            </p:spPr>
            <p:txBody>
              <a:bodyPr wrap="square">
                <a:spAutoFit/>
              </a:bodyPr>
              <a:lstStyle/>
              <a:p>
                <a:r>
                  <a:rPr lang="en-US" altLang="zh-CN" sz="1050" dirty="0">
                    <a:solidFill>
                      <a:schemeClr val="bg1">
                        <a:lumMod val="50000"/>
                      </a:schemeClr>
                    </a:solidFill>
                  </a:rPr>
                  <a:t>Therapeutic Methods</a:t>
                </a:r>
                <a:endParaRPr lang="en-US" altLang="zh-CN" sz="1050" dirty="0">
                  <a:solidFill>
                    <a:schemeClr val="bg1">
                      <a:lumMod val="50000"/>
                    </a:schemeClr>
                  </a:solidFill>
                </a:endParaRPr>
              </a:p>
            </p:txBody>
          </p:sp>
        </p:grpSp>
        <p:sp>
          <p:nvSpPr>
            <p:cNvPr id="4" name="矩形 3"/>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pic>
        <p:nvPicPr>
          <p:cNvPr id="522873410" name="图片 2"/>
          <p:cNvPicPr>
            <a:picLocks noChangeAspect="1"/>
          </p:cNvPicPr>
          <p:nvPr/>
        </p:nvPicPr>
        <p:blipFill>
          <a:blip r:embed="rId1">
            <a:extLst>
              <a:ext uri="{28A0092B-C50C-407E-A947-70E740481C1C}">
                <a14:useLocalDpi xmlns:a14="http://schemas.microsoft.com/office/drawing/2010/main" val="0"/>
              </a:ext>
            </a:extLst>
          </a:blip>
          <a:srcRect b="2881"/>
          <a:stretch>
            <a:fillRect/>
          </a:stretch>
        </p:blipFill>
        <p:spPr>
          <a:xfrm>
            <a:off x="5749925" y="1843405"/>
            <a:ext cx="5825490" cy="3830955"/>
          </a:xfrm>
          <a:prstGeom prst="rect">
            <a:avLst/>
          </a:prstGeom>
        </p:spPr>
      </p:pic>
      <p:sp>
        <p:nvSpPr>
          <p:cNvPr id="67" name="文本框2"/>
          <p:cNvSpPr/>
          <p:nvPr>
            <p:custDataLst>
              <p:tags r:id="rId2"/>
            </p:custDataLst>
          </p:nvPr>
        </p:nvSpPr>
        <p:spPr>
          <a:xfrm>
            <a:off x="419735" y="1981835"/>
            <a:ext cx="5008880" cy="3553460"/>
          </a:xfrm>
          <a:prstGeom prst="rect">
            <a:avLst/>
          </a:prstGeom>
        </p:spPr>
        <p:txBody>
          <a:bodyPr wrap="square">
            <a:noAutofit/>
          </a:bodyPr>
          <a:p>
            <a:pPr indent="457200" fontAlgn="auto">
              <a:lnSpc>
                <a:spcPct val="150000"/>
              </a:lnSpc>
              <a:spcBef>
                <a:spcPts val="1100"/>
              </a:spcBef>
              <a:defRPr/>
            </a:pP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双相情感障碍的</a:t>
            </a: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治疗方法</a:t>
            </a: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可以包括药物治疗、</a:t>
            </a: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物理治疗、心理治疗和生活方式的变化。通常情况下，一位双相情感障碍患者的治疗往往是这几种方式的</a:t>
            </a:r>
            <a:r>
              <a:rPr kumimoji="0" lang="zh-CN" altLang="en-US" sz="2400" b="1" i="0" baseline="0" dirty="0">
                <a:solidFill>
                  <a:srgbClr val="7488A8"/>
                </a:solidFill>
                <a:uFillTx/>
                <a:latin typeface="黑体" panose="02010609060101010101" charset="-122"/>
                <a:ea typeface="黑体" panose="02010609060101010101" charset="-122"/>
                <a:cs typeface="黑体" panose="02010609060101010101" charset="-122"/>
                <a:sym typeface="+mn-lt"/>
              </a:rPr>
              <a:t>组合</a:t>
            </a:r>
            <a:r>
              <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rPr>
              <a:t>。</a:t>
            </a:r>
            <a:endParaRPr kumimoji="0" lang="zh-CN" altLang="en-US" sz="2400" i="0" baseline="0" dirty="0">
              <a:solidFill>
                <a:srgbClr val="7F7F7F"/>
              </a:solidFill>
              <a:uFillTx/>
              <a:latin typeface="黑体" panose="02010609060101010101" charset="-122"/>
              <a:ea typeface="黑体" panose="02010609060101010101" charset="-122"/>
              <a:cs typeface="黑体" panose="02010609060101010101" charset="-122"/>
              <a:sym typeface="+mn-lt"/>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4963" y="455941"/>
            <a:ext cx="4246301" cy="622007"/>
            <a:chOff x="334963" y="455941"/>
            <a:chExt cx="4246301" cy="622007"/>
          </a:xfrm>
        </p:grpSpPr>
        <p:grpSp>
          <p:nvGrpSpPr>
            <p:cNvPr id="3" name="组合 2"/>
            <p:cNvGrpSpPr/>
            <p:nvPr/>
          </p:nvGrpSpPr>
          <p:grpSpPr>
            <a:xfrm>
              <a:off x="613120" y="455941"/>
              <a:ext cx="3968144" cy="622007"/>
              <a:chOff x="613120" y="455941"/>
              <a:chExt cx="3968144" cy="622007"/>
            </a:xfrm>
          </p:grpSpPr>
          <p:sp>
            <p:nvSpPr>
              <p:cNvPr id="5" name="文本框 4"/>
              <p:cNvSpPr txBox="1"/>
              <p:nvPr/>
            </p:nvSpPr>
            <p:spPr>
              <a:xfrm>
                <a:off x="613251" y="455941"/>
                <a:ext cx="3230880" cy="460375"/>
              </a:xfrm>
              <a:prstGeom prst="rect">
                <a:avLst/>
              </a:prstGeom>
              <a:noFill/>
            </p:spPr>
            <p:txBody>
              <a:bodyPr wrap="none" rtlCol="0">
                <a:spAutoFit/>
              </a:bodyPr>
              <a:lstStyle/>
              <a:p>
                <a:r>
                  <a:rPr lang="zh-CN" altLang="en-US" sz="2400" b="1" dirty="0">
                    <a:solidFill>
                      <a:srgbClr val="7188A8"/>
                    </a:solidFill>
                    <a:cs typeface="+mn-ea"/>
                    <a:sym typeface="+mn-lt"/>
                  </a:rPr>
                  <a:t>药物治疗：</a:t>
                </a:r>
                <a:r>
                  <a:rPr lang="zh-CN" altLang="en-US" sz="2400" b="1" dirty="0">
                    <a:solidFill>
                      <a:srgbClr val="7188A8"/>
                    </a:solidFill>
                    <a:cs typeface="+mn-ea"/>
                    <a:sym typeface="+mn-lt"/>
                  </a:rPr>
                  <a:t>心境稳定剂</a:t>
                </a:r>
                <a:endParaRPr lang="zh-CN" altLang="en-US" sz="2400" b="1" dirty="0">
                  <a:solidFill>
                    <a:srgbClr val="7188A8"/>
                  </a:solidFill>
                  <a:cs typeface="+mn-ea"/>
                  <a:sym typeface="+mn-lt"/>
                </a:endParaRPr>
              </a:p>
            </p:txBody>
          </p:sp>
          <p:sp>
            <p:nvSpPr>
              <p:cNvPr id="6" name="矩形 5"/>
              <p:cNvSpPr/>
              <p:nvPr/>
            </p:nvSpPr>
            <p:spPr>
              <a:xfrm>
                <a:off x="613120" y="825218"/>
                <a:ext cx="3968144" cy="252730"/>
              </a:xfrm>
              <a:prstGeom prst="rect">
                <a:avLst/>
              </a:prstGeom>
            </p:spPr>
            <p:txBody>
              <a:bodyPr wrap="square">
                <a:spAutoFit/>
              </a:bodyPr>
              <a:lstStyle/>
              <a:p>
                <a:r>
                  <a:rPr lang="en-US" altLang="zh-CN" sz="1050" dirty="0">
                    <a:solidFill>
                      <a:schemeClr val="bg1">
                        <a:lumMod val="50000"/>
                      </a:schemeClr>
                    </a:solidFill>
                  </a:rPr>
                  <a:t>Drug Therapy</a:t>
                </a:r>
                <a:endParaRPr lang="en-US" altLang="zh-CN" sz="1050" dirty="0">
                  <a:solidFill>
                    <a:schemeClr val="bg1">
                      <a:lumMod val="50000"/>
                    </a:schemeClr>
                  </a:solidFill>
                </a:endParaRPr>
              </a:p>
            </p:txBody>
          </p:sp>
        </p:grpSp>
        <p:sp>
          <p:nvSpPr>
            <p:cNvPr id="4" name="矩形 3"/>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grpSp>
        <p:nvGrpSpPr>
          <p:cNvPr id="19" name="组合 18"/>
          <p:cNvGrpSpPr/>
          <p:nvPr>
            <p:custDataLst>
              <p:tags r:id="rId1"/>
            </p:custDataLst>
          </p:nvPr>
        </p:nvGrpSpPr>
        <p:grpSpPr>
          <a:xfrm>
            <a:off x="546266" y="1414017"/>
            <a:ext cx="8077200" cy="1681480"/>
            <a:chOff x="1716240" y="2344292"/>
            <a:chExt cx="8077200" cy="1681480"/>
          </a:xfrm>
        </p:grpSpPr>
        <p:sp>
          <p:nvSpPr>
            <p:cNvPr id="7" name="椭圆 6"/>
            <p:cNvSpPr/>
            <p:nvPr>
              <p:custDataLst>
                <p:tags r:id="rId2"/>
              </p:custDataLst>
            </p:nvPr>
          </p:nvSpPr>
          <p:spPr>
            <a:xfrm>
              <a:off x="1716240" y="2344292"/>
              <a:ext cx="533348" cy="533346"/>
            </a:xfrm>
            <a:prstGeom prst="ellipse">
              <a:avLst/>
            </a:prstGeom>
            <a:solidFill>
              <a:srgbClr val="7188A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10" name="椭圆 22"/>
            <p:cNvSpPr/>
            <p:nvPr>
              <p:custDataLst>
                <p:tags r:id="rId3"/>
              </p:custDataLst>
            </p:nvPr>
          </p:nvSpPr>
          <p:spPr>
            <a:xfrm>
              <a:off x="1823397" y="2458690"/>
              <a:ext cx="319034" cy="304550"/>
            </a:xfrm>
            <a:custGeom>
              <a:avLst/>
              <a:gdLst>
                <a:gd name="connsiteX0" fmla="*/ 442231 w 602715"/>
                <a:gd name="connsiteY0" fmla="*/ 415741 h 575353"/>
                <a:gd name="connsiteX1" fmla="*/ 479375 w 602715"/>
                <a:gd name="connsiteY1" fmla="*/ 514894 h 575353"/>
                <a:gd name="connsiteX2" fmla="*/ 500369 w 602715"/>
                <a:gd name="connsiteY2" fmla="*/ 472976 h 575353"/>
                <a:gd name="connsiteX3" fmla="*/ 542357 w 602715"/>
                <a:gd name="connsiteY3" fmla="*/ 452017 h 575353"/>
                <a:gd name="connsiteX4" fmla="*/ 405895 w 602715"/>
                <a:gd name="connsiteY4" fmla="*/ 379466 h 575353"/>
                <a:gd name="connsiteX5" fmla="*/ 596458 w 602715"/>
                <a:gd name="connsiteY5" fmla="*/ 449598 h 575353"/>
                <a:gd name="connsiteX6" fmla="*/ 526208 w 602715"/>
                <a:gd name="connsiteY6" fmla="*/ 484262 h 575353"/>
                <a:gd name="connsiteX7" fmla="*/ 599688 w 602715"/>
                <a:gd name="connsiteY7" fmla="*/ 557618 h 575353"/>
                <a:gd name="connsiteX8" fmla="*/ 599688 w 602715"/>
                <a:gd name="connsiteY8" fmla="*/ 572129 h 575353"/>
                <a:gd name="connsiteX9" fmla="*/ 591613 w 602715"/>
                <a:gd name="connsiteY9" fmla="*/ 575353 h 575353"/>
                <a:gd name="connsiteX10" fmla="*/ 584346 w 602715"/>
                <a:gd name="connsiteY10" fmla="*/ 572129 h 575353"/>
                <a:gd name="connsiteX11" fmla="*/ 510866 w 602715"/>
                <a:gd name="connsiteY11" fmla="*/ 499578 h 575353"/>
                <a:gd name="connsiteX12" fmla="*/ 476145 w 602715"/>
                <a:gd name="connsiteY12" fmla="*/ 568904 h 575353"/>
                <a:gd name="connsiteX13" fmla="*/ 280047 w 602715"/>
                <a:gd name="connsiteY13" fmla="*/ 64374 h 575353"/>
                <a:gd name="connsiteX14" fmla="*/ 258242 w 602715"/>
                <a:gd name="connsiteY14" fmla="*/ 86154 h 575353"/>
                <a:gd name="connsiteX15" fmla="*/ 280047 w 602715"/>
                <a:gd name="connsiteY15" fmla="*/ 107934 h 575353"/>
                <a:gd name="connsiteX16" fmla="*/ 301045 w 602715"/>
                <a:gd name="connsiteY16" fmla="*/ 86154 h 575353"/>
                <a:gd name="connsiteX17" fmla="*/ 280047 w 602715"/>
                <a:gd name="connsiteY17" fmla="*/ 64374 h 575353"/>
                <a:gd name="connsiteX18" fmla="*/ 183205 w 602715"/>
                <a:gd name="connsiteY18" fmla="*/ 64374 h 575353"/>
                <a:gd name="connsiteX19" fmla="*/ 161432 w 602715"/>
                <a:gd name="connsiteY19" fmla="*/ 86154 h 575353"/>
                <a:gd name="connsiteX20" fmla="*/ 183205 w 602715"/>
                <a:gd name="connsiteY20" fmla="*/ 107934 h 575353"/>
                <a:gd name="connsiteX21" fmla="*/ 204171 w 602715"/>
                <a:gd name="connsiteY21" fmla="*/ 86154 h 575353"/>
                <a:gd name="connsiteX22" fmla="*/ 183205 w 602715"/>
                <a:gd name="connsiteY22" fmla="*/ 64374 h 575353"/>
                <a:gd name="connsiteX23" fmla="*/ 86363 w 602715"/>
                <a:gd name="connsiteY23" fmla="*/ 64374 h 575353"/>
                <a:gd name="connsiteX24" fmla="*/ 64558 w 602715"/>
                <a:gd name="connsiteY24" fmla="*/ 86154 h 575353"/>
                <a:gd name="connsiteX25" fmla="*/ 86363 w 602715"/>
                <a:gd name="connsiteY25" fmla="*/ 107934 h 575353"/>
                <a:gd name="connsiteX26" fmla="*/ 107361 w 602715"/>
                <a:gd name="connsiteY26" fmla="*/ 86154 h 575353"/>
                <a:gd name="connsiteX27" fmla="*/ 86363 w 602715"/>
                <a:gd name="connsiteY27" fmla="*/ 64374 h 575353"/>
                <a:gd name="connsiteX28" fmla="*/ 280047 w 602715"/>
                <a:gd name="connsiteY28" fmla="*/ 43401 h 575353"/>
                <a:gd name="connsiteX29" fmla="*/ 322850 w 602715"/>
                <a:gd name="connsiteY29" fmla="*/ 86154 h 575353"/>
                <a:gd name="connsiteX30" fmla="*/ 280047 w 602715"/>
                <a:gd name="connsiteY30" fmla="*/ 128907 h 575353"/>
                <a:gd name="connsiteX31" fmla="*/ 236437 w 602715"/>
                <a:gd name="connsiteY31" fmla="*/ 86154 h 575353"/>
                <a:gd name="connsiteX32" fmla="*/ 280047 w 602715"/>
                <a:gd name="connsiteY32" fmla="*/ 43401 h 575353"/>
                <a:gd name="connsiteX33" fmla="*/ 183205 w 602715"/>
                <a:gd name="connsiteY33" fmla="*/ 43401 h 575353"/>
                <a:gd name="connsiteX34" fmla="*/ 225943 w 602715"/>
                <a:gd name="connsiteY34" fmla="*/ 86154 h 575353"/>
                <a:gd name="connsiteX35" fmla="*/ 183205 w 602715"/>
                <a:gd name="connsiteY35" fmla="*/ 128907 h 575353"/>
                <a:gd name="connsiteX36" fmla="*/ 139660 w 602715"/>
                <a:gd name="connsiteY36" fmla="*/ 86154 h 575353"/>
                <a:gd name="connsiteX37" fmla="*/ 183205 w 602715"/>
                <a:gd name="connsiteY37" fmla="*/ 43401 h 575353"/>
                <a:gd name="connsiteX38" fmla="*/ 86363 w 602715"/>
                <a:gd name="connsiteY38" fmla="*/ 43401 h 575353"/>
                <a:gd name="connsiteX39" fmla="*/ 129166 w 602715"/>
                <a:gd name="connsiteY39" fmla="*/ 86154 h 575353"/>
                <a:gd name="connsiteX40" fmla="*/ 86363 w 602715"/>
                <a:gd name="connsiteY40" fmla="*/ 128907 h 575353"/>
                <a:gd name="connsiteX41" fmla="*/ 42753 w 602715"/>
                <a:gd name="connsiteY41" fmla="*/ 86154 h 575353"/>
                <a:gd name="connsiteX42" fmla="*/ 86363 w 602715"/>
                <a:gd name="connsiteY42" fmla="*/ 43401 h 575353"/>
                <a:gd name="connsiteX43" fmla="*/ 21790 w 602715"/>
                <a:gd name="connsiteY43" fmla="*/ 21754 h 575353"/>
                <a:gd name="connsiteX44" fmla="*/ 21790 w 602715"/>
                <a:gd name="connsiteY44" fmla="*/ 150669 h 575353"/>
                <a:gd name="connsiteX45" fmla="*/ 538305 w 602715"/>
                <a:gd name="connsiteY45" fmla="*/ 150669 h 575353"/>
                <a:gd name="connsiteX46" fmla="*/ 538305 w 602715"/>
                <a:gd name="connsiteY46" fmla="*/ 21754 h 575353"/>
                <a:gd name="connsiteX47" fmla="*/ 10492 w 602715"/>
                <a:gd name="connsiteY47" fmla="*/ 0 h 575353"/>
                <a:gd name="connsiteX48" fmla="*/ 548796 w 602715"/>
                <a:gd name="connsiteY48" fmla="*/ 0 h 575353"/>
                <a:gd name="connsiteX49" fmla="*/ 559288 w 602715"/>
                <a:gd name="connsiteY49" fmla="*/ 11280 h 575353"/>
                <a:gd name="connsiteX50" fmla="*/ 559288 w 602715"/>
                <a:gd name="connsiteY50" fmla="*/ 161143 h 575353"/>
                <a:gd name="connsiteX51" fmla="*/ 559288 w 602715"/>
                <a:gd name="connsiteY51" fmla="*/ 365795 h 575353"/>
                <a:gd name="connsiteX52" fmla="*/ 548796 w 602715"/>
                <a:gd name="connsiteY52" fmla="*/ 376269 h 575353"/>
                <a:gd name="connsiteX53" fmla="*/ 538305 w 602715"/>
                <a:gd name="connsiteY53" fmla="*/ 365795 h 575353"/>
                <a:gd name="connsiteX54" fmla="*/ 538305 w 602715"/>
                <a:gd name="connsiteY54" fmla="*/ 172423 h 575353"/>
                <a:gd name="connsiteX55" fmla="*/ 21790 w 602715"/>
                <a:gd name="connsiteY55" fmla="*/ 172423 h 575353"/>
                <a:gd name="connsiteX56" fmla="*/ 21790 w 602715"/>
                <a:gd name="connsiteY56" fmla="*/ 526938 h 575353"/>
                <a:gd name="connsiteX57" fmla="*/ 376894 w 602715"/>
                <a:gd name="connsiteY57" fmla="*/ 526938 h 575353"/>
                <a:gd name="connsiteX58" fmla="*/ 387386 w 602715"/>
                <a:gd name="connsiteY58" fmla="*/ 537413 h 575353"/>
                <a:gd name="connsiteX59" fmla="*/ 376894 w 602715"/>
                <a:gd name="connsiteY59" fmla="*/ 547887 h 575353"/>
                <a:gd name="connsiteX60" fmla="*/ 10492 w 602715"/>
                <a:gd name="connsiteY60" fmla="*/ 547887 h 575353"/>
                <a:gd name="connsiteX61" fmla="*/ 0 w 602715"/>
                <a:gd name="connsiteY61" fmla="*/ 537413 h 575353"/>
                <a:gd name="connsiteX62" fmla="*/ 0 w 602715"/>
                <a:gd name="connsiteY62" fmla="*/ 161143 h 575353"/>
                <a:gd name="connsiteX63" fmla="*/ 0 w 602715"/>
                <a:gd name="connsiteY63" fmla="*/ 11280 h 575353"/>
                <a:gd name="connsiteX64" fmla="*/ 10492 w 602715"/>
                <a:gd name="connsiteY64" fmla="*/ 0 h 575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02715" h="575353">
                  <a:moveTo>
                    <a:pt x="442231" y="415741"/>
                  </a:moveTo>
                  <a:lnTo>
                    <a:pt x="479375" y="514894"/>
                  </a:lnTo>
                  <a:lnTo>
                    <a:pt x="500369" y="472976"/>
                  </a:lnTo>
                  <a:lnTo>
                    <a:pt x="542357" y="452017"/>
                  </a:lnTo>
                  <a:close/>
                  <a:moveTo>
                    <a:pt x="405895" y="379466"/>
                  </a:moveTo>
                  <a:lnTo>
                    <a:pt x="596458" y="449598"/>
                  </a:lnTo>
                  <a:lnTo>
                    <a:pt x="526208" y="484262"/>
                  </a:lnTo>
                  <a:lnTo>
                    <a:pt x="599688" y="557618"/>
                  </a:lnTo>
                  <a:cubicBezTo>
                    <a:pt x="603725" y="561649"/>
                    <a:pt x="603725" y="568098"/>
                    <a:pt x="599688" y="572129"/>
                  </a:cubicBezTo>
                  <a:cubicBezTo>
                    <a:pt x="597265" y="574547"/>
                    <a:pt x="594843" y="575353"/>
                    <a:pt x="591613" y="575353"/>
                  </a:cubicBezTo>
                  <a:cubicBezTo>
                    <a:pt x="589191" y="575353"/>
                    <a:pt x="586768" y="574547"/>
                    <a:pt x="584346" y="572129"/>
                  </a:cubicBezTo>
                  <a:lnTo>
                    <a:pt x="510866" y="499578"/>
                  </a:lnTo>
                  <a:lnTo>
                    <a:pt x="476145" y="568904"/>
                  </a:lnTo>
                  <a:close/>
                  <a:moveTo>
                    <a:pt x="280047" y="64374"/>
                  </a:moveTo>
                  <a:cubicBezTo>
                    <a:pt x="267933" y="64374"/>
                    <a:pt x="258242" y="74054"/>
                    <a:pt x="258242" y="86154"/>
                  </a:cubicBezTo>
                  <a:cubicBezTo>
                    <a:pt x="258242" y="98254"/>
                    <a:pt x="267933" y="107934"/>
                    <a:pt x="280047" y="107934"/>
                  </a:cubicBezTo>
                  <a:cubicBezTo>
                    <a:pt x="291354" y="107934"/>
                    <a:pt x="301045" y="98254"/>
                    <a:pt x="301045" y="86154"/>
                  </a:cubicBezTo>
                  <a:cubicBezTo>
                    <a:pt x="301045" y="74054"/>
                    <a:pt x="291354" y="64374"/>
                    <a:pt x="280047" y="64374"/>
                  </a:cubicBezTo>
                  <a:close/>
                  <a:moveTo>
                    <a:pt x="183205" y="64374"/>
                  </a:moveTo>
                  <a:cubicBezTo>
                    <a:pt x="171109" y="64374"/>
                    <a:pt x="161432" y="74054"/>
                    <a:pt x="161432" y="86154"/>
                  </a:cubicBezTo>
                  <a:cubicBezTo>
                    <a:pt x="161432" y="98254"/>
                    <a:pt x="171109" y="107934"/>
                    <a:pt x="183205" y="107934"/>
                  </a:cubicBezTo>
                  <a:cubicBezTo>
                    <a:pt x="194494" y="107934"/>
                    <a:pt x="204171" y="98254"/>
                    <a:pt x="204171" y="86154"/>
                  </a:cubicBezTo>
                  <a:cubicBezTo>
                    <a:pt x="204171" y="74054"/>
                    <a:pt x="194494" y="64374"/>
                    <a:pt x="183205" y="64374"/>
                  </a:cubicBezTo>
                  <a:close/>
                  <a:moveTo>
                    <a:pt x="86363" y="64374"/>
                  </a:moveTo>
                  <a:cubicBezTo>
                    <a:pt x="74249" y="64374"/>
                    <a:pt x="64558" y="74054"/>
                    <a:pt x="64558" y="86154"/>
                  </a:cubicBezTo>
                  <a:cubicBezTo>
                    <a:pt x="64558" y="98254"/>
                    <a:pt x="74249" y="107934"/>
                    <a:pt x="86363" y="107934"/>
                  </a:cubicBezTo>
                  <a:cubicBezTo>
                    <a:pt x="97670" y="107934"/>
                    <a:pt x="107361" y="98254"/>
                    <a:pt x="107361" y="86154"/>
                  </a:cubicBezTo>
                  <a:cubicBezTo>
                    <a:pt x="107361" y="74054"/>
                    <a:pt x="97670" y="64374"/>
                    <a:pt x="86363" y="64374"/>
                  </a:cubicBezTo>
                  <a:close/>
                  <a:moveTo>
                    <a:pt x="280047" y="43401"/>
                  </a:moveTo>
                  <a:cubicBezTo>
                    <a:pt x="303468" y="43401"/>
                    <a:pt x="322850" y="62761"/>
                    <a:pt x="322850" y="86154"/>
                  </a:cubicBezTo>
                  <a:cubicBezTo>
                    <a:pt x="322850" y="109547"/>
                    <a:pt x="303468" y="128907"/>
                    <a:pt x="280047" y="128907"/>
                  </a:cubicBezTo>
                  <a:cubicBezTo>
                    <a:pt x="255819" y="128907"/>
                    <a:pt x="236437" y="109547"/>
                    <a:pt x="236437" y="86154"/>
                  </a:cubicBezTo>
                  <a:cubicBezTo>
                    <a:pt x="236437" y="62761"/>
                    <a:pt x="255819" y="43401"/>
                    <a:pt x="280047" y="43401"/>
                  </a:cubicBezTo>
                  <a:close/>
                  <a:moveTo>
                    <a:pt x="183205" y="43401"/>
                  </a:moveTo>
                  <a:cubicBezTo>
                    <a:pt x="206590" y="43401"/>
                    <a:pt x="225943" y="62761"/>
                    <a:pt x="225943" y="86154"/>
                  </a:cubicBezTo>
                  <a:cubicBezTo>
                    <a:pt x="225943" y="109547"/>
                    <a:pt x="206590" y="128907"/>
                    <a:pt x="183205" y="128907"/>
                  </a:cubicBezTo>
                  <a:cubicBezTo>
                    <a:pt x="159013" y="128907"/>
                    <a:pt x="139660" y="109547"/>
                    <a:pt x="139660" y="86154"/>
                  </a:cubicBezTo>
                  <a:cubicBezTo>
                    <a:pt x="139660" y="62761"/>
                    <a:pt x="159013" y="43401"/>
                    <a:pt x="183205" y="43401"/>
                  </a:cubicBezTo>
                  <a:close/>
                  <a:moveTo>
                    <a:pt x="86363" y="43401"/>
                  </a:moveTo>
                  <a:cubicBezTo>
                    <a:pt x="109784" y="43401"/>
                    <a:pt x="129166" y="62761"/>
                    <a:pt x="129166" y="86154"/>
                  </a:cubicBezTo>
                  <a:cubicBezTo>
                    <a:pt x="129166" y="109547"/>
                    <a:pt x="109784" y="128907"/>
                    <a:pt x="86363" y="128907"/>
                  </a:cubicBezTo>
                  <a:cubicBezTo>
                    <a:pt x="62135" y="128907"/>
                    <a:pt x="42753" y="109547"/>
                    <a:pt x="42753" y="86154"/>
                  </a:cubicBezTo>
                  <a:cubicBezTo>
                    <a:pt x="42753" y="62761"/>
                    <a:pt x="62135" y="43401"/>
                    <a:pt x="86363" y="43401"/>
                  </a:cubicBezTo>
                  <a:close/>
                  <a:moveTo>
                    <a:pt x="21790" y="21754"/>
                  </a:moveTo>
                  <a:lnTo>
                    <a:pt x="21790" y="150669"/>
                  </a:lnTo>
                  <a:lnTo>
                    <a:pt x="538305" y="150669"/>
                  </a:lnTo>
                  <a:lnTo>
                    <a:pt x="538305" y="21754"/>
                  </a:lnTo>
                  <a:close/>
                  <a:moveTo>
                    <a:pt x="10492" y="0"/>
                  </a:moveTo>
                  <a:lnTo>
                    <a:pt x="548796" y="0"/>
                  </a:lnTo>
                  <a:cubicBezTo>
                    <a:pt x="554446" y="0"/>
                    <a:pt x="559288" y="4834"/>
                    <a:pt x="559288" y="11280"/>
                  </a:cubicBezTo>
                  <a:lnTo>
                    <a:pt x="559288" y="161143"/>
                  </a:lnTo>
                  <a:lnTo>
                    <a:pt x="559288" y="365795"/>
                  </a:lnTo>
                  <a:cubicBezTo>
                    <a:pt x="559288" y="371435"/>
                    <a:pt x="554446" y="376269"/>
                    <a:pt x="548796" y="376269"/>
                  </a:cubicBezTo>
                  <a:cubicBezTo>
                    <a:pt x="543147" y="376269"/>
                    <a:pt x="538305" y="371435"/>
                    <a:pt x="538305" y="365795"/>
                  </a:cubicBezTo>
                  <a:lnTo>
                    <a:pt x="538305" y="172423"/>
                  </a:lnTo>
                  <a:lnTo>
                    <a:pt x="21790" y="172423"/>
                  </a:lnTo>
                  <a:lnTo>
                    <a:pt x="21790" y="526938"/>
                  </a:lnTo>
                  <a:lnTo>
                    <a:pt x="376894" y="526938"/>
                  </a:lnTo>
                  <a:cubicBezTo>
                    <a:pt x="382543" y="526938"/>
                    <a:pt x="387386" y="531773"/>
                    <a:pt x="387386" y="537413"/>
                  </a:cubicBezTo>
                  <a:cubicBezTo>
                    <a:pt x="387386" y="543053"/>
                    <a:pt x="382543" y="547887"/>
                    <a:pt x="376894" y="547887"/>
                  </a:cubicBezTo>
                  <a:lnTo>
                    <a:pt x="10492" y="547887"/>
                  </a:lnTo>
                  <a:cubicBezTo>
                    <a:pt x="4842" y="547887"/>
                    <a:pt x="0" y="543053"/>
                    <a:pt x="0" y="537413"/>
                  </a:cubicBezTo>
                  <a:lnTo>
                    <a:pt x="0" y="161143"/>
                  </a:lnTo>
                  <a:lnTo>
                    <a:pt x="0" y="11280"/>
                  </a:lnTo>
                  <a:cubicBezTo>
                    <a:pt x="0" y="4834"/>
                    <a:pt x="4842" y="0"/>
                    <a:pt x="10492" y="0"/>
                  </a:cubicBez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11" name="椭圆 23"/>
            <p:cNvSpPr/>
            <p:nvPr>
              <p:custDataLst>
                <p:tags r:id="rId4"/>
              </p:custDataLst>
            </p:nvPr>
          </p:nvSpPr>
          <p:spPr>
            <a:xfrm>
              <a:off x="1823397" y="3639516"/>
              <a:ext cx="319034" cy="250425"/>
            </a:xfrm>
            <a:custGeom>
              <a:avLst/>
              <a:gdLst>
                <a:gd name="connsiteX0" fmla="*/ 315239 w 606721"/>
                <a:gd name="connsiteY0" fmla="*/ 351824 h 476246"/>
                <a:gd name="connsiteX1" fmla="*/ 315239 w 606721"/>
                <a:gd name="connsiteY1" fmla="*/ 369957 h 476246"/>
                <a:gd name="connsiteX2" fmla="*/ 533394 w 606721"/>
                <a:gd name="connsiteY2" fmla="*/ 369957 h 476246"/>
                <a:gd name="connsiteX3" fmla="*/ 533394 w 606721"/>
                <a:gd name="connsiteY3" fmla="*/ 351824 h 476246"/>
                <a:gd name="connsiteX4" fmla="*/ 88066 w 606721"/>
                <a:gd name="connsiteY4" fmla="*/ 264832 h 476246"/>
                <a:gd name="connsiteX5" fmla="*/ 183188 w 606721"/>
                <a:gd name="connsiteY5" fmla="*/ 264832 h 476246"/>
                <a:gd name="connsiteX6" fmla="*/ 183188 w 606721"/>
                <a:gd name="connsiteY6" fmla="*/ 359813 h 476246"/>
                <a:gd name="connsiteX7" fmla="*/ 88066 w 606721"/>
                <a:gd name="connsiteY7" fmla="*/ 359813 h 476246"/>
                <a:gd name="connsiteX8" fmla="*/ 315239 w 606721"/>
                <a:gd name="connsiteY8" fmla="*/ 261160 h 476246"/>
                <a:gd name="connsiteX9" fmla="*/ 315239 w 606721"/>
                <a:gd name="connsiteY9" fmla="*/ 279293 h 476246"/>
                <a:gd name="connsiteX10" fmla="*/ 533394 w 606721"/>
                <a:gd name="connsiteY10" fmla="*/ 279293 h 476246"/>
                <a:gd name="connsiteX11" fmla="*/ 533394 w 606721"/>
                <a:gd name="connsiteY11" fmla="*/ 261160 h 476246"/>
                <a:gd name="connsiteX12" fmla="*/ 69901 w 606721"/>
                <a:gd name="connsiteY12" fmla="*/ 246676 h 476246"/>
                <a:gd name="connsiteX13" fmla="*/ 69901 w 606721"/>
                <a:gd name="connsiteY13" fmla="*/ 377940 h 476246"/>
                <a:gd name="connsiteX14" fmla="*/ 201365 w 606721"/>
                <a:gd name="connsiteY14" fmla="*/ 377940 h 476246"/>
                <a:gd name="connsiteX15" fmla="*/ 201365 w 606721"/>
                <a:gd name="connsiteY15" fmla="*/ 246676 h 476246"/>
                <a:gd name="connsiteX16" fmla="*/ 315239 w 606721"/>
                <a:gd name="connsiteY16" fmla="*/ 170381 h 476246"/>
                <a:gd name="connsiteX17" fmla="*/ 315239 w 606721"/>
                <a:gd name="connsiteY17" fmla="*/ 188514 h 476246"/>
                <a:gd name="connsiteX18" fmla="*/ 533394 w 606721"/>
                <a:gd name="connsiteY18" fmla="*/ 188514 h 476246"/>
                <a:gd name="connsiteX19" fmla="*/ 533394 w 606721"/>
                <a:gd name="connsiteY19" fmla="*/ 170381 h 476246"/>
                <a:gd name="connsiteX20" fmla="*/ 135627 w 606721"/>
                <a:gd name="connsiteY20" fmla="*/ 97874 h 476246"/>
                <a:gd name="connsiteX21" fmla="*/ 183188 w 606721"/>
                <a:gd name="connsiteY21" fmla="*/ 145294 h 476246"/>
                <a:gd name="connsiteX22" fmla="*/ 135627 w 606721"/>
                <a:gd name="connsiteY22" fmla="*/ 192714 h 476246"/>
                <a:gd name="connsiteX23" fmla="*/ 88066 w 606721"/>
                <a:gd name="connsiteY23" fmla="*/ 145294 h 476246"/>
                <a:gd name="connsiteX24" fmla="*/ 135627 w 606721"/>
                <a:gd name="connsiteY24" fmla="*/ 97874 h 476246"/>
                <a:gd name="connsiteX25" fmla="*/ 315239 w 606721"/>
                <a:gd name="connsiteY25" fmla="*/ 79716 h 476246"/>
                <a:gd name="connsiteX26" fmla="*/ 315239 w 606721"/>
                <a:gd name="connsiteY26" fmla="*/ 97849 h 476246"/>
                <a:gd name="connsiteX27" fmla="*/ 533394 w 606721"/>
                <a:gd name="connsiteY27" fmla="*/ 97849 h 476246"/>
                <a:gd name="connsiteX28" fmla="*/ 533394 w 606721"/>
                <a:gd name="connsiteY28" fmla="*/ 79716 h 476246"/>
                <a:gd name="connsiteX29" fmla="*/ 135690 w 606721"/>
                <a:gd name="connsiteY29" fmla="*/ 79602 h 476246"/>
                <a:gd name="connsiteX30" fmla="*/ 69901 w 606721"/>
                <a:gd name="connsiteY30" fmla="*/ 145292 h 476246"/>
                <a:gd name="connsiteX31" fmla="*/ 135690 w 606721"/>
                <a:gd name="connsiteY31" fmla="*/ 210867 h 476246"/>
                <a:gd name="connsiteX32" fmla="*/ 201365 w 606721"/>
                <a:gd name="connsiteY32" fmla="*/ 145292 h 476246"/>
                <a:gd name="connsiteX33" fmla="*/ 135690 w 606721"/>
                <a:gd name="connsiteY33" fmla="*/ 79602 h 476246"/>
                <a:gd name="connsiteX34" fmla="*/ 0 w 606721"/>
                <a:gd name="connsiteY34" fmla="*/ 0 h 476246"/>
                <a:gd name="connsiteX35" fmla="*/ 606721 w 606721"/>
                <a:gd name="connsiteY35" fmla="*/ 0 h 476246"/>
                <a:gd name="connsiteX36" fmla="*/ 606721 w 606721"/>
                <a:gd name="connsiteY36" fmla="*/ 476246 h 476246"/>
                <a:gd name="connsiteX37" fmla="*/ 0 w 606721"/>
                <a:gd name="connsiteY37" fmla="*/ 476246 h 476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6721" h="476246">
                  <a:moveTo>
                    <a:pt x="315239" y="351824"/>
                  </a:moveTo>
                  <a:lnTo>
                    <a:pt x="315239" y="369957"/>
                  </a:lnTo>
                  <a:lnTo>
                    <a:pt x="533394" y="369957"/>
                  </a:lnTo>
                  <a:lnTo>
                    <a:pt x="533394" y="351824"/>
                  </a:lnTo>
                  <a:close/>
                  <a:moveTo>
                    <a:pt x="88066" y="264832"/>
                  </a:moveTo>
                  <a:lnTo>
                    <a:pt x="183188" y="264832"/>
                  </a:lnTo>
                  <a:lnTo>
                    <a:pt x="183188" y="359813"/>
                  </a:lnTo>
                  <a:lnTo>
                    <a:pt x="88066" y="359813"/>
                  </a:lnTo>
                  <a:close/>
                  <a:moveTo>
                    <a:pt x="315239" y="261160"/>
                  </a:moveTo>
                  <a:lnTo>
                    <a:pt x="315239" y="279293"/>
                  </a:lnTo>
                  <a:lnTo>
                    <a:pt x="533394" y="279293"/>
                  </a:lnTo>
                  <a:lnTo>
                    <a:pt x="533394" y="261160"/>
                  </a:lnTo>
                  <a:close/>
                  <a:moveTo>
                    <a:pt x="69901" y="246676"/>
                  </a:moveTo>
                  <a:lnTo>
                    <a:pt x="69901" y="377940"/>
                  </a:lnTo>
                  <a:lnTo>
                    <a:pt x="201365" y="377940"/>
                  </a:lnTo>
                  <a:lnTo>
                    <a:pt x="201365" y="246676"/>
                  </a:lnTo>
                  <a:close/>
                  <a:moveTo>
                    <a:pt x="315239" y="170381"/>
                  </a:moveTo>
                  <a:lnTo>
                    <a:pt x="315239" y="188514"/>
                  </a:lnTo>
                  <a:lnTo>
                    <a:pt x="533394" y="188514"/>
                  </a:lnTo>
                  <a:lnTo>
                    <a:pt x="533394" y="170381"/>
                  </a:lnTo>
                  <a:close/>
                  <a:moveTo>
                    <a:pt x="135627" y="97874"/>
                  </a:moveTo>
                  <a:cubicBezTo>
                    <a:pt x="161894" y="97874"/>
                    <a:pt x="183188" y="119105"/>
                    <a:pt x="183188" y="145294"/>
                  </a:cubicBezTo>
                  <a:cubicBezTo>
                    <a:pt x="183188" y="171483"/>
                    <a:pt x="161894" y="192714"/>
                    <a:pt x="135627" y="192714"/>
                  </a:cubicBezTo>
                  <a:cubicBezTo>
                    <a:pt x="109360" y="192714"/>
                    <a:pt x="88066" y="171483"/>
                    <a:pt x="88066" y="145294"/>
                  </a:cubicBezTo>
                  <a:cubicBezTo>
                    <a:pt x="88066" y="119105"/>
                    <a:pt x="109360" y="97874"/>
                    <a:pt x="135627" y="97874"/>
                  </a:cubicBezTo>
                  <a:close/>
                  <a:moveTo>
                    <a:pt x="315239" y="79716"/>
                  </a:moveTo>
                  <a:lnTo>
                    <a:pt x="315239" y="97849"/>
                  </a:lnTo>
                  <a:lnTo>
                    <a:pt x="533394" y="97849"/>
                  </a:lnTo>
                  <a:lnTo>
                    <a:pt x="533394" y="79716"/>
                  </a:lnTo>
                  <a:close/>
                  <a:moveTo>
                    <a:pt x="135690" y="79602"/>
                  </a:moveTo>
                  <a:cubicBezTo>
                    <a:pt x="99369" y="79602"/>
                    <a:pt x="69901" y="109140"/>
                    <a:pt x="69901" y="145292"/>
                  </a:cubicBezTo>
                  <a:cubicBezTo>
                    <a:pt x="69901" y="181443"/>
                    <a:pt x="99369" y="210867"/>
                    <a:pt x="135690" y="210867"/>
                  </a:cubicBezTo>
                  <a:cubicBezTo>
                    <a:pt x="171897" y="210867"/>
                    <a:pt x="201365" y="181443"/>
                    <a:pt x="201365" y="145292"/>
                  </a:cubicBezTo>
                  <a:cubicBezTo>
                    <a:pt x="201365" y="109140"/>
                    <a:pt x="171897" y="79602"/>
                    <a:pt x="135690" y="79602"/>
                  </a:cubicBezTo>
                  <a:close/>
                  <a:moveTo>
                    <a:pt x="0" y="0"/>
                  </a:moveTo>
                  <a:lnTo>
                    <a:pt x="606721" y="0"/>
                  </a:lnTo>
                  <a:lnTo>
                    <a:pt x="606721" y="476246"/>
                  </a:lnTo>
                  <a:lnTo>
                    <a:pt x="0" y="476246"/>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13" name="文本框1"/>
            <p:cNvSpPr txBox="1"/>
            <p:nvPr>
              <p:custDataLst>
                <p:tags r:id="rId5"/>
              </p:custDataLst>
            </p:nvPr>
          </p:nvSpPr>
          <p:spPr>
            <a:xfrm>
              <a:off x="2249588" y="2366930"/>
              <a:ext cx="140716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7188A8"/>
                  </a:solidFill>
                  <a:effectLst/>
                  <a:uLnTx/>
                  <a:uFillTx/>
                  <a:latin typeface="思源黑体 CN Bold" panose="020B0800000000000000" pitchFamily="34" charset="-122"/>
                  <a:ea typeface="思源黑体 CN Bold" panose="020B0800000000000000" pitchFamily="34" charset="-122"/>
                  <a:cs typeface="+mn-cs"/>
                </a:rPr>
                <a:t>丙戊酸盐</a:t>
              </a:r>
              <a:endParaRPr kumimoji="0" lang="zh-CN" altLang="en-US" sz="2400" b="1" i="0" u="none" strike="noStrike" kern="1200" cap="none" spc="0" normalizeH="0" baseline="0" noProof="0" dirty="0">
                <a:ln>
                  <a:noFill/>
                </a:ln>
                <a:solidFill>
                  <a:srgbClr val="7188A8"/>
                </a:solidFill>
                <a:effectLst/>
                <a:uLnTx/>
                <a:uFillTx/>
                <a:latin typeface="思源黑体 CN Bold" panose="020B0800000000000000" pitchFamily="34" charset="-122"/>
                <a:ea typeface="思源黑体 CN Bold" panose="020B0800000000000000" pitchFamily="34" charset="-122"/>
                <a:cs typeface="+mn-cs"/>
              </a:endParaRPr>
            </a:p>
          </p:txBody>
        </p:sp>
        <p:sp>
          <p:nvSpPr>
            <p:cNvPr id="14" name="文本框2"/>
            <p:cNvSpPr/>
            <p:nvPr>
              <p:custDataLst>
                <p:tags r:id="rId6"/>
              </p:custDataLst>
            </p:nvPr>
          </p:nvSpPr>
          <p:spPr>
            <a:xfrm>
              <a:off x="2249640" y="2826892"/>
              <a:ext cx="7543800" cy="1198880"/>
            </a:xfrm>
            <a:prstGeom prst="rect">
              <a:avLst/>
            </a:prstGeom>
          </p:spPr>
          <p:txBody>
            <a:bodyPr wrap="square">
              <a:spAutoFit/>
            </a:bodyPr>
            <a:lstStyle/>
            <a:p>
              <a:pPr>
                <a:lnSpc>
                  <a:spcPct val="150000"/>
                </a:lnSpc>
                <a:spcBef>
                  <a:spcPts val="2950"/>
                </a:spcBef>
                <a:defRPr/>
              </a:pPr>
              <a:r>
                <a:rPr kumimoji="0" lang="zh-CN" altLang="en-US" sz="2400" b="0"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对于快速循环型、混合性躁狂或躁狂期伴有幻觉和妄想的双相障碍患者而言，丙戊酸往往是药物治疗的首选。</a:t>
              </a:r>
              <a:endParaRPr kumimoji="0" lang="zh-CN" altLang="en-US" sz="2400" b="0"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grpSp>
      <p:sp>
        <p:nvSpPr>
          <p:cNvPr id="25" name="椭圆 23"/>
          <p:cNvSpPr/>
          <p:nvPr>
            <p:custDataLst>
              <p:tags r:id="rId7"/>
            </p:custDataLst>
          </p:nvPr>
        </p:nvSpPr>
        <p:spPr>
          <a:xfrm>
            <a:off x="6664775" y="3639516"/>
            <a:ext cx="319034" cy="250425"/>
          </a:xfrm>
          <a:custGeom>
            <a:avLst/>
            <a:gdLst>
              <a:gd name="connsiteX0" fmla="*/ 315239 w 606721"/>
              <a:gd name="connsiteY0" fmla="*/ 351824 h 476246"/>
              <a:gd name="connsiteX1" fmla="*/ 315239 w 606721"/>
              <a:gd name="connsiteY1" fmla="*/ 369957 h 476246"/>
              <a:gd name="connsiteX2" fmla="*/ 533394 w 606721"/>
              <a:gd name="connsiteY2" fmla="*/ 369957 h 476246"/>
              <a:gd name="connsiteX3" fmla="*/ 533394 w 606721"/>
              <a:gd name="connsiteY3" fmla="*/ 351824 h 476246"/>
              <a:gd name="connsiteX4" fmla="*/ 88066 w 606721"/>
              <a:gd name="connsiteY4" fmla="*/ 264832 h 476246"/>
              <a:gd name="connsiteX5" fmla="*/ 183188 w 606721"/>
              <a:gd name="connsiteY5" fmla="*/ 264832 h 476246"/>
              <a:gd name="connsiteX6" fmla="*/ 183188 w 606721"/>
              <a:gd name="connsiteY6" fmla="*/ 359813 h 476246"/>
              <a:gd name="connsiteX7" fmla="*/ 88066 w 606721"/>
              <a:gd name="connsiteY7" fmla="*/ 359813 h 476246"/>
              <a:gd name="connsiteX8" fmla="*/ 315239 w 606721"/>
              <a:gd name="connsiteY8" fmla="*/ 261160 h 476246"/>
              <a:gd name="connsiteX9" fmla="*/ 315239 w 606721"/>
              <a:gd name="connsiteY9" fmla="*/ 279293 h 476246"/>
              <a:gd name="connsiteX10" fmla="*/ 533394 w 606721"/>
              <a:gd name="connsiteY10" fmla="*/ 279293 h 476246"/>
              <a:gd name="connsiteX11" fmla="*/ 533394 w 606721"/>
              <a:gd name="connsiteY11" fmla="*/ 261160 h 476246"/>
              <a:gd name="connsiteX12" fmla="*/ 69901 w 606721"/>
              <a:gd name="connsiteY12" fmla="*/ 246676 h 476246"/>
              <a:gd name="connsiteX13" fmla="*/ 69901 w 606721"/>
              <a:gd name="connsiteY13" fmla="*/ 377940 h 476246"/>
              <a:gd name="connsiteX14" fmla="*/ 201365 w 606721"/>
              <a:gd name="connsiteY14" fmla="*/ 377940 h 476246"/>
              <a:gd name="connsiteX15" fmla="*/ 201365 w 606721"/>
              <a:gd name="connsiteY15" fmla="*/ 246676 h 476246"/>
              <a:gd name="connsiteX16" fmla="*/ 315239 w 606721"/>
              <a:gd name="connsiteY16" fmla="*/ 170381 h 476246"/>
              <a:gd name="connsiteX17" fmla="*/ 315239 w 606721"/>
              <a:gd name="connsiteY17" fmla="*/ 188514 h 476246"/>
              <a:gd name="connsiteX18" fmla="*/ 533394 w 606721"/>
              <a:gd name="connsiteY18" fmla="*/ 188514 h 476246"/>
              <a:gd name="connsiteX19" fmla="*/ 533394 w 606721"/>
              <a:gd name="connsiteY19" fmla="*/ 170381 h 476246"/>
              <a:gd name="connsiteX20" fmla="*/ 135627 w 606721"/>
              <a:gd name="connsiteY20" fmla="*/ 97874 h 476246"/>
              <a:gd name="connsiteX21" fmla="*/ 183188 w 606721"/>
              <a:gd name="connsiteY21" fmla="*/ 145294 h 476246"/>
              <a:gd name="connsiteX22" fmla="*/ 135627 w 606721"/>
              <a:gd name="connsiteY22" fmla="*/ 192714 h 476246"/>
              <a:gd name="connsiteX23" fmla="*/ 88066 w 606721"/>
              <a:gd name="connsiteY23" fmla="*/ 145294 h 476246"/>
              <a:gd name="connsiteX24" fmla="*/ 135627 w 606721"/>
              <a:gd name="connsiteY24" fmla="*/ 97874 h 476246"/>
              <a:gd name="connsiteX25" fmla="*/ 315239 w 606721"/>
              <a:gd name="connsiteY25" fmla="*/ 79716 h 476246"/>
              <a:gd name="connsiteX26" fmla="*/ 315239 w 606721"/>
              <a:gd name="connsiteY26" fmla="*/ 97849 h 476246"/>
              <a:gd name="connsiteX27" fmla="*/ 533394 w 606721"/>
              <a:gd name="connsiteY27" fmla="*/ 97849 h 476246"/>
              <a:gd name="connsiteX28" fmla="*/ 533394 w 606721"/>
              <a:gd name="connsiteY28" fmla="*/ 79716 h 476246"/>
              <a:gd name="connsiteX29" fmla="*/ 135690 w 606721"/>
              <a:gd name="connsiteY29" fmla="*/ 79602 h 476246"/>
              <a:gd name="connsiteX30" fmla="*/ 69901 w 606721"/>
              <a:gd name="connsiteY30" fmla="*/ 145292 h 476246"/>
              <a:gd name="connsiteX31" fmla="*/ 135690 w 606721"/>
              <a:gd name="connsiteY31" fmla="*/ 210867 h 476246"/>
              <a:gd name="connsiteX32" fmla="*/ 201365 w 606721"/>
              <a:gd name="connsiteY32" fmla="*/ 145292 h 476246"/>
              <a:gd name="connsiteX33" fmla="*/ 135690 w 606721"/>
              <a:gd name="connsiteY33" fmla="*/ 79602 h 476246"/>
              <a:gd name="connsiteX34" fmla="*/ 0 w 606721"/>
              <a:gd name="connsiteY34" fmla="*/ 0 h 476246"/>
              <a:gd name="connsiteX35" fmla="*/ 606721 w 606721"/>
              <a:gd name="connsiteY35" fmla="*/ 0 h 476246"/>
              <a:gd name="connsiteX36" fmla="*/ 606721 w 606721"/>
              <a:gd name="connsiteY36" fmla="*/ 476246 h 476246"/>
              <a:gd name="connsiteX37" fmla="*/ 0 w 606721"/>
              <a:gd name="connsiteY37" fmla="*/ 476246 h 476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6721" h="476246">
                <a:moveTo>
                  <a:pt x="315239" y="351824"/>
                </a:moveTo>
                <a:lnTo>
                  <a:pt x="315239" y="369957"/>
                </a:lnTo>
                <a:lnTo>
                  <a:pt x="533394" y="369957"/>
                </a:lnTo>
                <a:lnTo>
                  <a:pt x="533394" y="351824"/>
                </a:lnTo>
                <a:close/>
                <a:moveTo>
                  <a:pt x="88066" y="264832"/>
                </a:moveTo>
                <a:lnTo>
                  <a:pt x="183188" y="264832"/>
                </a:lnTo>
                <a:lnTo>
                  <a:pt x="183188" y="359813"/>
                </a:lnTo>
                <a:lnTo>
                  <a:pt x="88066" y="359813"/>
                </a:lnTo>
                <a:close/>
                <a:moveTo>
                  <a:pt x="315239" y="261160"/>
                </a:moveTo>
                <a:lnTo>
                  <a:pt x="315239" y="279293"/>
                </a:lnTo>
                <a:lnTo>
                  <a:pt x="533394" y="279293"/>
                </a:lnTo>
                <a:lnTo>
                  <a:pt x="533394" y="261160"/>
                </a:lnTo>
                <a:close/>
                <a:moveTo>
                  <a:pt x="69901" y="246676"/>
                </a:moveTo>
                <a:lnTo>
                  <a:pt x="69901" y="377940"/>
                </a:lnTo>
                <a:lnTo>
                  <a:pt x="201365" y="377940"/>
                </a:lnTo>
                <a:lnTo>
                  <a:pt x="201365" y="246676"/>
                </a:lnTo>
                <a:close/>
                <a:moveTo>
                  <a:pt x="315239" y="170381"/>
                </a:moveTo>
                <a:lnTo>
                  <a:pt x="315239" y="188514"/>
                </a:lnTo>
                <a:lnTo>
                  <a:pt x="533394" y="188514"/>
                </a:lnTo>
                <a:lnTo>
                  <a:pt x="533394" y="170381"/>
                </a:lnTo>
                <a:close/>
                <a:moveTo>
                  <a:pt x="135627" y="97874"/>
                </a:moveTo>
                <a:cubicBezTo>
                  <a:pt x="161894" y="97874"/>
                  <a:pt x="183188" y="119105"/>
                  <a:pt x="183188" y="145294"/>
                </a:cubicBezTo>
                <a:cubicBezTo>
                  <a:pt x="183188" y="171483"/>
                  <a:pt x="161894" y="192714"/>
                  <a:pt x="135627" y="192714"/>
                </a:cubicBezTo>
                <a:cubicBezTo>
                  <a:pt x="109360" y="192714"/>
                  <a:pt x="88066" y="171483"/>
                  <a:pt x="88066" y="145294"/>
                </a:cubicBezTo>
                <a:cubicBezTo>
                  <a:pt x="88066" y="119105"/>
                  <a:pt x="109360" y="97874"/>
                  <a:pt x="135627" y="97874"/>
                </a:cubicBezTo>
                <a:close/>
                <a:moveTo>
                  <a:pt x="315239" y="79716"/>
                </a:moveTo>
                <a:lnTo>
                  <a:pt x="315239" y="97849"/>
                </a:lnTo>
                <a:lnTo>
                  <a:pt x="533394" y="97849"/>
                </a:lnTo>
                <a:lnTo>
                  <a:pt x="533394" y="79716"/>
                </a:lnTo>
                <a:close/>
                <a:moveTo>
                  <a:pt x="135690" y="79602"/>
                </a:moveTo>
                <a:cubicBezTo>
                  <a:pt x="99369" y="79602"/>
                  <a:pt x="69901" y="109140"/>
                  <a:pt x="69901" y="145292"/>
                </a:cubicBezTo>
                <a:cubicBezTo>
                  <a:pt x="69901" y="181443"/>
                  <a:pt x="99369" y="210867"/>
                  <a:pt x="135690" y="210867"/>
                </a:cubicBezTo>
                <a:cubicBezTo>
                  <a:pt x="171897" y="210867"/>
                  <a:pt x="201365" y="181443"/>
                  <a:pt x="201365" y="145292"/>
                </a:cubicBezTo>
                <a:cubicBezTo>
                  <a:pt x="201365" y="109140"/>
                  <a:pt x="171897" y="79602"/>
                  <a:pt x="135690" y="79602"/>
                </a:cubicBezTo>
                <a:close/>
                <a:moveTo>
                  <a:pt x="0" y="0"/>
                </a:moveTo>
                <a:lnTo>
                  <a:pt x="606721" y="0"/>
                </a:lnTo>
                <a:lnTo>
                  <a:pt x="606721" y="476246"/>
                </a:lnTo>
                <a:lnTo>
                  <a:pt x="0" y="476246"/>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grpSp>
        <p:nvGrpSpPr>
          <p:cNvPr id="35" name="组合 34"/>
          <p:cNvGrpSpPr/>
          <p:nvPr>
            <p:custDataLst>
              <p:tags r:id="rId8"/>
            </p:custDataLst>
          </p:nvPr>
        </p:nvGrpSpPr>
        <p:grpSpPr>
          <a:xfrm>
            <a:off x="3234856" y="3893057"/>
            <a:ext cx="7296150" cy="2130425"/>
            <a:chOff x="1438110" y="2366517"/>
            <a:chExt cx="7296150" cy="2130425"/>
          </a:xfrm>
        </p:grpSpPr>
        <p:sp>
          <p:nvSpPr>
            <p:cNvPr id="36" name="椭圆 35"/>
            <p:cNvSpPr/>
            <p:nvPr>
              <p:custDataLst>
                <p:tags r:id="rId9"/>
              </p:custDataLst>
            </p:nvPr>
          </p:nvSpPr>
          <p:spPr>
            <a:xfrm>
              <a:off x="8157045" y="2366517"/>
              <a:ext cx="533348" cy="533346"/>
            </a:xfrm>
            <a:prstGeom prst="ellipse">
              <a:avLst/>
            </a:prstGeom>
            <a:solidFill>
              <a:srgbClr val="7188A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37" name="椭圆 22"/>
            <p:cNvSpPr/>
            <p:nvPr>
              <p:custDataLst>
                <p:tags r:id="rId10"/>
              </p:custDataLst>
            </p:nvPr>
          </p:nvSpPr>
          <p:spPr>
            <a:xfrm>
              <a:off x="8264202" y="2480915"/>
              <a:ext cx="319034" cy="304550"/>
            </a:xfrm>
            <a:custGeom>
              <a:avLst/>
              <a:gdLst>
                <a:gd name="connsiteX0" fmla="*/ 442231 w 602715"/>
                <a:gd name="connsiteY0" fmla="*/ 415741 h 575353"/>
                <a:gd name="connsiteX1" fmla="*/ 479375 w 602715"/>
                <a:gd name="connsiteY1" fmla="*/ 514894 h 575353"/>
                <a:gd name="connsiteX2" fmla="*/ 500369 w 602715"/>
                <a:gd name="connsiteY2" fmla="*/ 472976 h 575353"/>
                <a:gd name="connsiteX3" fmla="*/ 542357 w 602715"/>
                <a:gd name="connsiteY3" fmla="*/ 452017 h 575353"/>
                <a:gd name="connsiteX4" fmla="*/ 405895 w 602715"/>
                <a:gd name="connsiteY4" fmla="*/ 379466 h 575353"/>
                <a:gd name="connsiteX5" fmla="*/ 596458 w 602715"/>
                <a:gd name="connsiteY5" fmla="*/ 449598 h 575353"/>
                <a:gd name="connsiteX6" fmla="*/ 526208 w 602715"/>
                <a:gd name="connsiteY6" fmla="*/ 484262 h 575353"/>
                <a:gd name="connsiteX7" fmla="*/ 599688 w 602715"/>
                <a:gd name="connsiteY7" fmla="*/ 557618 h 575353"/>
                <a:gd name="connsiteX8" fmla="*/ 599688 w 602715"/>
                <a:gd name="connsiteY8" fmla="*/ 572129 h 575353"/>
                <a:gd name="connsiteX9" fmla="*/ 591613 w 602715"/>
                <a:gd name="connsiteY9" fmla="*/ 575353 h 575353"/>
                <a:gd name="connsiteX10" fmla="*/ 584346 w 602715"/>
                <a:gd name="connsiteY10" fmla="*/ 572129 h 575353"/>
                <a:gd name="connsiteX11" fmla="*/ 510866 w 602715"/>
                <a:gd name="connsiteY11" fmla="*/ 499578 h 575353"/>
                <a:gd name="connsiteX12" fmla="*/ 476145 w 602715"/>
                <a:gd name="connsiteY12" fmla="*/ 568904 h 575353"/>
                <a:gd name="connsiteX13" fmla="*/ 280047 w 602715"/>
                <a:gd name="connsiteY13" fmla="*/ 64374 h 575353"/>
                <a:gd name="connsiteX14" fmla="*/ 258242 w 602715"/>
                <a:gd name="connsiteY14" fmla="*/ 86154 h 575353"/>
                <a:gd name="connsiteX15" fmla="*/ 280047 w 602715"/>
                <a:gd name="connsiteY15" fmla="*/ 107934 h 575353"/>
                <a:gd name="connsiteX16" fmla="*/ 301045 w 602715"/>
                <a:gd name="connsiteY16" fmla="*/ 86154 h 575353"/>
                <a:gd name="connsiteX17" fmla="*/ 280047 w 602715"/>
                <a:gd name="connsiteY17" fmla="*/ 64374 h 575353"/>
                <a:gd name="connsiteX18" fmla="*/ 183205 w 602715"/>
                <a:gd name="connsiteY18" fmla="*/ 64374 h 575353"/>
                <a:gd name="connsiteX19" fmla="*/ 161432 w 602715"/>
                <a:gd name="connsiteY19" fmla="*/ 86154 h 575353"/>
                <a:gd name="connsiteX20" fmla="*/ 183205 w 602715"/>
                <a:gd name="connsiteY20" fmla="*/ 107934 h 575353"/>
                <a:gd name="connsiteX21" fmla="*/ 204171 w 602715"/>
                <a:gd name="connsiteY21" fmla="*/ 86154 h 575353"/>
                <a:gd name="connsiteX22" fmla="*/ 183205 w 602715"/>
                <a:gd name="connsiteY22" fmla="*/ 64374 h 575353"/>
                <a:gd name="connsiteX23" fmla="*/ 86363 w 602715"/>
                <a:gd name="connsiteY23" fmla="*/ 64374 h 575353"/>
                <a:gd name="connsiteX24" fmla="*/ 64558 w 602715"/>
                <a:gd name="connsiteY24" fmla="*/ 86154 h 575353"/>
                <a:gd name="connsiteX25" fmla="*/ 86363 w 602715"/>
                <a:gd name="connsiteY25" fmla="*/ 107934 h 575353"/>
                <a:gd name="connsiteX26" fmla="*/ 107361 w 602715"/>
                <a:gd name="connsiteY26" fmla="*/ 86154 h 575353"/>
                <a:gd name="connsiteX27" fmla="*/ 86363 w 602715"/>
                <a:gd name="connsiteY27" fmla="*/ 64374 h 575353"/>
                <a:gd name="connsiteX28" fmla="*/ 280047 w 602715"/>
                <a:gd name="connsiteY28" fmla="*/ 43401 h 575353"/>
                <a:gd name="connsiteX29" fmla="*/ 322850 w 602715"/>
                <a:gd name="connsiteY29" fmla="*/ 86154 h 575353"/>
                <a:gd name="connsiteX30" fmla="*/ 280047 w 602715"/>
                <a:gd name="connsiteY30" fmla="*/ 128907 h 575353"/>
                <a:gd name="connsiteX31" fmla="*/ 236437 w 602715"/>
                <a:gd name="connsiteY31" fmla="*/ 86154 h 575353"/>
                <a:gd name="connsiteX32" fmla="*/ 280047 w 602715"/>
                <a:gd name="connsiteY32" fmla="*/ 43401 h 575353"/>
                <a:gd name="connsiteX33" fmla="*/ 183205 w 602715"/>
                <a:gd name="connsiteY33" fmla="*/ 43401 h 575353"/>
                <a:gd name="connsiteX34" fmla="*/ 225943 w 602715"/>
                <a:gd name="connsiteY34" fmla="*/ 86154 h 575353"/>
                <a:gd name="connsiteX35" fmla="*/ 183205 w 602715"/>
                <a:gd name="connsiteY35" fmla="*/ 128907 h 575353"/>
                <a:gd name="connsiteX36" fmla="*/ 139660 w 602715"/>
                <a:gd name="connsiteY36" fmla="*/ 86154 h 575353"/>
                <a:gd name="connsiteX37" fmla="*/ 183205 w 602715"/>
                <a:gd name="connsiteY37" fmla="*/ 43401 h 575353"/>
                <a:gd name="connsiteX38" fmla="*/ 86363 w 602715"/>
                <a:gd name="connsiteY38" fmla="*/ 43401 h 575353"/>
                <a:gd name="connsiteX39" fmla="*/ 129166 w 602715"/>
                <a:gd name="connsiteY39" fmla="*/ 86154 h 575353"/>
                <a:gd name="connsiteX40" fmla="*/ 86363 w 602715"/>
                <a:gd name="connsiteY40" fmla="*/ 128907 h 575353"/>
                <a:gd name="connsiteX41" fmla="*/ 42753 w 602715"/>
                <a:gd name="connsiteY41" fmla="*/ 86154 h 575353"/>
                <a:gd name="connsiteX42" fmla="*/ 86363 w 602715"/>
                <a:gd name="connsiteY42" fmla="*/ 43401 h 575353"/>
                <a:gd name="connsiteX43" fmla="*/ 21790 w 602715"/>
                <a:gd name="connsiteY43" fmla="*/ 21754 h 575353"/>
                <a:gd name="connsiteX44" fmla="*/ 21790 w 602715"/>
                <a:gd name="connsiteY44" fmla="*/ 150669 h 575353"/>
                <a:gd name="connsiteX45" fmla="*/ 538305 w 602715"/>
                <a:gd name="connsiteY45" fmla="*/ 150669 h 575353"/>
                <a:gd name="connsiteX46" fmla="*/ 538305 w 602715"/>
                <a:gd name="connsiteY46" fmla="*/ 21754 h 575353"/>
                <a:gd name="connsiteX47" fmla="*/ 10492 w 602715"/>
                <a:gd name="connsiteY47" fmla="*/ 0 h 575353"/>
                <a:gd name="connsiteX48" fmla="*/ 548796 w 602715"/>
                <a:gd name="connsiteY48" fmla="*/ 0 h 575353"/>
                <a:gd name="connsiteX49" fmla="*/ 559288 w 602715"/>
                <a:gd name="connsiteY49" fmla="*/ 11280 h 575353"/>
                <a:gd name="connsiteX50" fmla="*/ 559288 w 602715"/>
                <a:gd name="connsiteY50" fmla="*/ 161143 h 575353"/>
                <a:gd name="connsiteX51" fmla="*/ 559288 w 602715"/>
                <a:gd name="connsiteY51" fmla="*/ 365795 h 575353"/>
                <a:gd name="connsiteX52" fmla="*/ 548796 w 602715"/>
                <a:gd name="connsiteY52" fmla="*/ 376269 h 575353"/>
                <a:gd name="connsiteX53" fmla="*/ 538305 w 602715"/>
                <a:gd name="connsiteY53" fmla="*/ 365795 h 575353"/>
                <a:gd name="connsiteX54" fmla="*/ 538305 w 602715"/>
                <a:gd name="connsiteY54" fmla="*/ 172423 h 575353"/>
                <a:gd name="connsiteX55" fmla="*/ 21790 w 602715"/>
                <a:gd name="connsiteY55" fmla="*/ 172423 h 575353"/>
                <a:gd name="connsiteX56" fmla="*/ 21790 w 602715"/>
                <a:gd name="connsiteY56" fmla="*/ 526938 h 575353"/>
                <a:gd name="connsiteX57" fmla="*/ 376894 w 602715"/>
                <a:gd name="connsiteY57" fmla="*/ 526938 h 575353"/>
                <a:gd name="connsiteX58" fmla="*/ 387386 w 602715"/>
                <a:gd name="connsiteY58" fmla="*/ 537413 h 575353"/>
                <a:gd name="connsiteX59" fmla="*/ 376894 w 602715"/>
                <a:gd name="connsiteY59" fmla="*/ 547887 h 575353"/>
                <a:gd name="connsiteX60" fmla="*/ 10492 w 602715"/>
                <a:gd name="connsiteY60" fmla="*/ 547887 h 575353"/>
                <a:gd name="connsiteX61" fmla="*/ 0 w 602715"/>
                <a:gd name="connsiteY61" fmla="*/ 537413 h 575353"/>
                <a:gd name="connsiteX62" fmla="*/ 0 w 602715"/>
                <a:gd name="connsiteY62" fmla="*/ 161143 h 575353"/>
                <a:gd name="connsiteX63" fmla="*/ 0 w 602715"/>
                <a:gd name="connsiteY63" fmla="*/ 11280 h 575353"/>
                <a:gd name="connsiteX64" fmla="*/ 10492 w 602715"/>
                <a:gd name="connsiteY64" fmla="*/ 0 h 575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02715" h="575353">
                  <a:moveTo>
                    <a:pt x="442231" y="415741"/>
                  </a:moveTo>
                  <a:lnTo>
                    <a:pt x="479375" y="514894"/>
                  </a:lnTo>
                  <a:lnTo>
                    <a:pt x="500369" y="472976"/>
                  </a:lnTo>
                  <a:lnTo>
                    <a:pt x="542357" y="452017"/>
                  </a:lnTo>
                  <a:close/>
                  <a:moveTo>
                    <a:pt x="405895" y="379466"/>
                  </a:moveTo>
                  <a:lnTo>
                    <a:pt x="596458" y="449598"/>
                  </a:lnTo>
                  <a:lnTo>
                    <a:pt x="526208" y="484262"/>
                  </a:lnTo>
                  <a:lnTo>
                    <a:pt x="599688" y="557618"/>
                  </a:lnTo>
                  <a:cubicBezTo>
                    <a:pt x="603725" y="561649"/>
                    <a:pt x="603725" y="568098"/>
                    <a:pt x="599688" y="572129"/>
                  </a:cubicBezTo>
                  <a:cubicBezTo>
                    <a:pt x="597265" y="574547"/>
                    <a:pt x="594843" y="575353"/>
                    <a:pt x="591613" y="575353"/>
                  </a:cubicBezTo>
                  <a:cubicBezTo>
                    <a:pt x="589191" y="575353"/>
                    <a:pt x="586768" y="574547"/>
                    <a:pt x="584346" y="572129"/>
                  </a:cubicBezTo>
                  <a:lnTo>
                    <a:pt x="510866" y="499578"/>
                  </a:lnTo>
                  <a:lnTo>
                    <a:pt x="476145" y="568904"/>
                  </a:lnTo>
                  <a:close/>
                  <a:moveTo>
                    <a:pt x="280047" y="64374"/>
                  </a:moveTo>
                  <a:cubicBezTo>
                    <a:pt x="267933" y="64374"/>
                    <a:pt x="258242" y="74054"/>
                    <a:pt x="258242" y="86154"/>
                  </a:cubicBezTo>
                  <a:cubicBezTo>
                    <a:pt x="258242" y="98254"/>
                    <a:pt x="267933" y="107934"/>
                    <a:pt x="280047" y="107934"/>
                  </a:cubicBezTo>
                  <a:cubicBezTo>
                    <a:pt x="291354" y="107934"/>
                    <a:pt x="301045" y="98254"/>
                    <a:pt x="301045" y="86154"/>
                  </a:cubicBezTo>
                  <a:cubicBezTo>
                    <a:pt x="301045" y="74054"/>
                    <a:pt x="291354" y="64374"/>
                    <a:pt x="280047" y="64374"/>
                  </a:cubicBezTo>
                  <a:close/>
                  <a:moveTo>
                    <a:pt x="183205" y="64374"/>
                  </a:moveTo>
                  <a:cubicBezTo>
                    <a:pt x="171109" y="64374"/>
                    <a:pt x="161432" y="74054"/>
                    <a:pt x="161432" y="86154"/>
                  </a:cubicBezTo>
                  <a:cubicBezTo>
                    <a:pt x="161432" y="98254"/>
                    <a:pt x="171109" y="107934"/>
                    <a:pt x="183205" y="107934"/>
                  </a:cubicBezTo>
                  <a:cubicBezTo>
                    <a:pt x="194494" y="107934"/>
                    <a:pt x="204171" y="98254"/>
                    <a:pt x="204171" y="86154"/>
                  </a:cubicBezTo>
                  <a:cubicBezTo>
                    <a:pt x="204171" y="74054"/>
                    <a:pt x="194494" y="64374"/>
                    <a:pt x="183205" y="64374"/>
                  </a:cubicBezTo>
                  <a:close/>
                  <a:moveTo>
                    <a:pt x="86363" y="64374"/>
                  </a:moveTo>
                  <a:cubicBezTo>
                    <a:pt x="74249" y="64374"/>
                    <a:pt x="64558" y="74054"/>
                    <a:pt x="64558" y="86154"/>
                  </a:cubicBezTo>
                  <a:cubicBezTo>
                    <a:pt x="64558" y="98254"/>
                    <a:pt x="74249" y="107934"/>
                    <a:pt x="86363" y="107934"/>
                  </a:cubicBezTo>
                  <a:cubicBezTo>
                    <a:pt x="97670" y="107934"/>
                    <a:pt x="107361" y="98254"/>
                    <a:pt x="107361" y="86154"/>
                  </a:cubicBezTo>
                  <a:cubicBezTo>
                    <a:pt x="107361" y="74054"/>
                    <a:pt x="97670" y="64374"/>
                    <a:pt x="86363" y="64374"/>
                  </a:cubicBezTo>
                  <a:close/>
                  <a:moveTo>
                    <a:pt x="280047" y="43401"/>
                  </a:moveTo>
                  <a:cubicBezTo>
                    <a:pt x="303468" y="43401"/>
                    <a:pt x="322850" y="62761"/>
                    <a:pt x="322850" y="86154"/>
                  </a:cubicBezTo>
                  <a:cubicBezTo>
                    <a:pt x="322850" y="109547"/>
                    <a:pt x="303468" y="128907"/>
                    <a:pt x="280047" y="128907"/>
                  </a:cubicBezTo>
                  <a:cubicBezTo>
                    <a:pt x="255819" y="128907"/>
                    <a:pt x="236437" y="109547"/>
                    <a:pt x="236437" y="86154"/>
                  </a:cubicBezTo>
                  <a:cubicBezTo>
                    <a:pt x="236437" y="62761"/>
                    <a:pt x="255819" y="43401"/>
                    <a:pt x="280047" y="43401"/>
                  </a:cubicBezTo>
                  <a:close/>
                  <a:moveTo>
                    <a:pt x="183205" y="43401"/>
                  </a:moveTo>
                  <a:cubicBezTo>
                    <a:pt x="206590" y="43401"/>
                    <a:pt x="225943" y="62761"/>
                    <a:pt x="225943" y="86154"/>
                  </a:cubicBezTo>
                  <a:cubicBezTo>
                    <a:pt x="225943" y="109547"/>
                    <a:pt x="206590" y="128907"/>
                    <a:pt x="183205" y="128907"/>
                  </a:cubicBezTo>
                  <a:cubicBezTo>
                    <a:pt x="159013" y="128907"/>
                    <a:pt x="139660" y="109547"/>
                    <a:pt x="139660" y="86154"/>
                  </a:cubicBezTo>
                  <a:cubicBezTo>
                    <a:pt x="139660" y="62761"/>
                    <a:pt x="159013" y="43401"/>
                    <a:pt x="183205" y="43401"/>
                  </a:cubicBezTo>
                  <a:close/>
                  <a:moveTo>
                    <a:pt x="86363" y="43401"/>
                  </a:moveTo>
                  <a:cubicBezTo>
                    <a:pt x="109784" y="43401"/>
                    <a:pt x="129166" y="62761"/>
                    <a:pt x="129166" y="86154"/>
                  </a:cubicBezTo>
                  <a:cubicBezTo>
                    <a:pt x="129166" y="109547"/>
                    <a:pt x="109784" y="128907"/>
                    <a:pt x="86363" y="128907"/>
                  </a:cubicBezTo>
                  <a:cubicBezTo>
                    <a:pt x="62135" y="128907"/>
                    <a:pt x="42753" y="109547"/>
                    <a:pt x="42753" y="86154"/>
                  </a:cubicBezTo>
                  <a:cubicBezTo>
                    <a:pt x="42753" y="62761"/>
                    <a:pt x="62135" y="43401"/>
                    <a:pt x="86363" y="43401"/>
                  </a:cubicBezTo>
                  <a:close/>
                  <a:moveTo>
                    <a:pt x="21790" y="21754"/>
                  </a:moveTo>
                  <a:lnTo>
                    <a:pt x="21790" y="150669"/>
                  </a:lnTo>
                  <a:lnTo>
                    <a:pt x="538305" y="150669"/>
                  </a:lnTo>
                  <a:lnTo>
                    <a:pt x="538305" y="21754"/>
                  </a:lnTo>
                  <a:close/>
                  <a:moveTo>
                    <a:pt x="10492" y="0"/>
                  </a:moveTo>
                  <a:lnTo>
                    <a:pt x="548796" y="0"/>
                  </a:lnTo>
                  <a:cubicBezTo>
                    <a:pt x="554446" y="0"/>
                    <a:pt x="559288" y="4834"/>
                    <a:pt x="559288" y="11280"/>
                  </a:cubicBezTo>
                  <a:lnTo>
                    <a:pt x="559288" y="161143"/>
                  </a:lnTo>
                  <a:lnTo>
                    <a:pt x="559288" y="365795"/>
                  </a:lnTo>
                  <a:cubicBezTo>
                    <a:pt x="559288" y="371435"/>
                    <a:pt x="554446" y="376269"/>
                    <a:pt x="548796" y="376269"/>
                  </a:cubicBezTo>
                  <a:cubicBezTo>
                    <a:pt x="543147" y="376269"/>
                    <a:pt x="538305" y="371435"/>
                    <a:pt x="538305" y="365795"/>
                  </a:cubicBezTo>
                  <a:lnTo>
                    <a:pt x="538305" y="172423"/>
                  </a:lnTo>
                  <a:lnTo>
                    <a:pt x="21790" y="172423"/>
                  </a:lnTo>
                  <a:lnTo>
                    <a:pt x="21790" y="526938"/>
                  </a:lnTo>
                  <a:lnTo>
                    <a:pt x="376894" y="526938"/>
                  </a:lnTo>
                  <a:cubicBezTo>
                    <a:pt x="382543" y="526938"/>
                    <a:pt x="387386" y="531773"/>
                    <a:pt x="387386" y="537413"/>
                  </a:cubicBezTo>
                  <a:cubicBezTo>
                    <a:pt x="387386" y="543053"/>
                    <a:pt x="382543" y="547887"/>
                    <a:pt x="376894" y="547887"/>
                  </a:cubicBezTo>
                  <a:lnTo>
                    <a:pt x="10492" y="547887"/>
                  </a:lnTo>
                  <a:cubicBezTo>
                    <a:pt x="4842" y="547887"/>
                    <a:pt x="0" y="543053"/>
                    <a:pt x="0" y="537413"/>
                  </a:cubicBezTo>
                  <a:lnTo>
                    <a:pt x="0" y="161143"/>
                  </a:lnTo>
                  <a:lnTo>
                    <a:pt x="0" y="11280"/>
                  </a:lnTo>
                  <a:cubicBezTo>
                    <a:pt x="0" y="4834"/>
                    <a:pt x="4842" y="0"/>
                    <a:pt x="10492" y="0"/>
                  </a:cubicBez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38" name="椭圆 23"/>
            <p:cNvSpPr/>
            <p:nvPr>
              <p:custDataLst>
                <p:tags r:id="rId11"/>
              </p:custDataLst>
            </p:nvPr>
          </p:nvSpPr>
          <p:spPr>
            <a:xfrm>
              <a:off x="1823397" y="3639516"/>
              <a:ext cx="319034" cy="250425"/>
            </a:xfrm>
            <a:custGeom>
              <a:avLst/>
              <a:gdLst>
                <a:gd name="connsiteX0" fmla="*/ 315239 w 606721"/>
                <a:gd name="connsiteY0" fmla="*/ 351824 h 476246"/>
                <a:gd name="connsiteX1" fmla="*/ 315239 w 606721"/>
                <a:gd name="connsiteY1" fmla="*/ 369957 h 476246"/>
                <a:gd name="connsiteX2" fmla="*/ 533394 w 606721"/>
                <a:gd name="connsiteY2" fmla="*/ 369957 h 476246"/>
                <a:gd name="connsiteX3" fmla="*/ 533394 w 606721"/>
                <a:gd name="connsiteY3" fmla="*/ 351824 h 476246"/>
                <a:gd name="connsiteX4" fmla="*/ 88066 w 606721"/>
                <a:gd name="connsiteY4" fmla="*/ 264832 h 476246"/>
                <a:gd name="connsiteX5" fmla="*/ 183188 w 606721"/>
                <a:gd name="connsiteY5" fmla="*/ 264832 h 476246"/>
                <a:gd name="connsiteX6" fmla="*/ 183188 w 606721"/>
                <a:gd name="connsiteY6" fmla="*/ 359813 h 476246"/>
                <a:gd name="connsiteX7" fmla="*/ 88066 w 606721"/>
                <a:gd name="connsiteY7" fmla="*/ 359813 h 476246"/>
                <a:gd name="connsiteX8" fmla="*/ 315239 w 606721"/>
                <a:gd name="connsiteY8" fmla="*/ 261160 h 476246"/>
                <a:gd name="connsiteX9" fmla="*/ 315239 w 606721"/>
                <a:gd name="connsiteY9" fmla="*/ 279293 h 476246"/>
                <a:gd name="connsiteX10" fmla="*/ 533394 w 606721"/>
                <a:gd name="connsiteY10" fmla="*/ 279293 h 476246"/>
                <a:gd name="connsiteX11" fmla="*/ 533394 w 606721"/>
                <a:gd name="connsiteY11" fmla="*/ 261160 h 476246"/>
                <a:gd name="connsiteX12" fmla="*/ 69901 w 606721"/>
                <a:gd name="connsiteY12" fmla="*/ 246676 h 476246"/>
                <a:gd name="connsiteX13" fmla="*/ 69901 w 606721"/>
                <a:gd name="connsiteY13" fmla="*/ 377940 h 476246"/>
                <a:gd name="connsiteX14" fmla="*/ 201365 w 606721"/>
                <a:gd name="connsiteY14" fmla="*/ 377940 h 476246"/>
                <a:gd name="connsiteX15" fmla="*/ 201365 w 606721"/>
                <a:gd name="connsiteY15" fmla="*/ 246676 h 476246"/>
                <a:gd name="connsiteX16" fmla="*/ 315239 w 606721"/>
                <a:gd name="connsiteY16" fmla="*/ 170381 h 476246"/>
                <a:gd name="connsiteX17" fmla="*/ 315239 w 606721"/>
                <a:gd name="connsiteY17" fmla="*/ 188514 h 476246"/>
                <a:gd name="connsiteX18" fmla="*/ 533394 w 606721"/>
                <a:gd name="connsiteY18" fmla="*/ 188514 h 476246"/>
                <a:gd name="connsiteX19" fmla="*/ 533394 w 606721"/>
                <a:gd name="connsiteY19" fmla="*/ 170381 h 476246"/>
                <a:gd name="connsiteX20" fmla="*/ 135627 w 606721"/>
                <a:gd name="connsiteY20" fmla="*/ 97874 h 476246"/>
                <a:gd name="connsiteX21" fmla="*/ 183188 w 606721"/>
                <a:gd name="connsiteY21" fmla="*/ 145294 h 476246"/>
                <a:gd name="connsiteX22" fmla="*/ 135627 w 606721"/>
                <a:gd name="connsiteY22" fmla="*/ 192714 h 476246"/>
                <a:gd name="connsiteX23" fmla="*/ 88066 w 606721"/>
                <a:gd name="connsiteY23" fmla="*/ 145294 h 476246"/>
                <a:gd name="connsiteX24" fmla="*/ 135627 w 606721"/>
                <a:gd name="connsiteY24" fmla="*/ 97874 h 476246"/>
                <a:gd name="connsiteX25" fmla="*/ 315239 w 606721"/>
                <a:gd name="connsiteY25" fmla="*/ 79716 h 476246"/>
                <a:gd name="connsiteX26" fmla="*/ 315239 w 606721"/>
                <a:gd name="connsiteY26" fmla="*/ 97849 h 476246"/>
                <a:gd name="connsiteX27" fmla="*/ 533394 w 606721"/>
                <a:gd name="connsiteY27" fmla="*/ 97849 h 476246"/>
                <a:gd name="connsiteX28" fmla="*/ 533394 w 606721"/>
                <a:gd name="connsiteY28" fmla="*/ 79716 h 476246"/>
                <a:gd name="connsiteX29" fmla="*/ 135690 w 606721"/>
                <a:gd name="connsiteY29" fmla="*/ 79602 h 476246"/>
                <a:gd name="connsiteX30" fmla="*/ 69901 w 606721"/>
                <a:gd name="connsiteY30" fmla="*/ 145292 h 476246"/>
                <a:gd name="connsiteX31" fmla="*/ 135690 w 606721"/>
                <a:gd name="connsiteY31" fmla="*/ 210867 h 476246"/>
                <a:gd name="connsiteX32" fmla="*/ 201365 w 606721"/>
                <a:gd name="connsiteY32" fmla="*/ 145292 h 476246"/>
                <a:gd name="connsiteX33" fmla="*/ 135690 w 606721"/>
                <a:gd name="connsiteY33" fmla="*/ 79602 h 476246"/>
                <a:gd name="connsiteX34" fmla="*/ 0 w 606721"/>
                <a:gd name="connsiteY34" fmla="*/ 0 h 476246"/>
                <a:gd name="connsiteX35" fmla="*/ 606721 w 606721"/>
                <a:gd name="connsiteY35" fmla="*/ 0 h 476246"/>
                <a:gd name="connsiteX36" fmla="*/ 606721 w 606721"/>
                <a:gd name="connsiteY36" fmla="*/ 476246 h 476246"/>
                <a:gd name="connsiteX37" fmla="*/ 0 w 606721"/>
                <a:gd name="connsiteY37" fmla="*/ 476246 h 476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6721" h="476246">
                  <a:moveTo>
                    <a:pt x="315239" y="351824"/>
                  </a:moveTo>
                  <a:lnTo>
                    <a:pt x="315239" y="369957"/>
                  </a:lnTo>
                  <a:lnTo>
                    <a:pt x="533394" y="369957"/>
                  </a:lnTo>
                  <a:lnTo>
                    <a:pt x="533394" y="351824"/>
                  </a:lnTo>
                  <a:close/>
                  <a:moveTo>
                    <a:pt x="88066" y="264832"/>
                  </a:moveTo>
                  <a:lnTo>
                    <a:pt x="183188" y="264832"/>
                  </a:lnTo>
                  <a:lnTo>
                    <a:pt x="183188" y="359813"/>
                  </a:lnTo>
                  <a:lnTo>
                    <a:pt x="88066" y="359813"/>
                  </a:lnTo>
                  <a:close/>
                  <a:moveTo>
                    <a:pt x="315239" y="261160"/>
                  </a:moveTo>
                  <a:lnTo>
                    <a:pt x="315239" y="279293"/>
                  </a:lnTo>
                  <a:lnTo>
                    <a:pt x="533394" y="279293"/>
                  </a:lnTo>
                  <a:lnTo>
                    <a:pt x="533394" y="261160"/>
                  </a:lnTo>
                  <a:close/>
                  <a:moveTo>
                    <a:pt x="69901" y="246676"/>
                  </a:moveTo>
                  <a:lnTo>
                    <a:pt x="69901" y="377940"/>
                  </a:lnTo>
                  <a:lnTo>
                    <a:pt x="201365" y="377940"/>
                  </a:lnTo>
                  <a:lnTo>
                    <a:pt x="201365" y="246676"/>
                  </a:lnTo>
                  <a:close/>
                  <a:moveTo>
                    <a:pt x="315239" y="170381"/>
                  </a:moveTo>
                  <a:lnTo>
                    <a:pt x="315239" y="188514"/>
                  </a:lnTo>
                  <a:lnTo>
                    <a:pt x="533394" y="188514"/>
                  </a:lnTo>
                  <a:lnTo>
                    <a:pt x="533394" y="170381"/>
                  </a:lnTo>
                  <a:close/>
                  <a:moveTo>
                    <a:pt x="135627" y="97874"/>
                  </a:moveTo>
                  <a:cubicBezTo>
                    <a:pt x="161894" y="97874"/>
                    <a:pt x="183188" y="119105"/>
                    <a:pt x="183188" y="145294"/>
                  </a:cubicBezTo>
                  <a:cubicBezTo>
                    <a:pt x="183188" y="171483"/>
                    <a:pt x="161894" y="192714"/>
                    <a:pt x="135627" y="192714"/>
                  </a:cubicBezTo>
                  <a:cubicBezTo>
                    <a:pt x="109360" y="192714"/>
                    <a:pt x="88066" y="171483"/>
                    <a:pt x="88066" y="145294"/>
                  </a:cubicBezTo>
                  <a:cubicBezTo>
                    <a:pt x="88066" y="119105"/>
                    <a:pt x="109360" y="97874"/>
                    <a:pt x="135627" y="97874"/>
                  </a:cubicBezTo>
                  <a:close/>
                  <a:moveTo>
                    <a:pt x="315239" y="79716"/>
                  </a:moveTo>
                  <a:lnTo>
                    <a:pt x="315239" y="97849"/>
                  </a:lnTo>
                  <a:lnTo>
                    <a:pt x="533394" y="97849"/>
                  </a:lnTo>
                  <a:lnTo>
                    <a:pt x="533394" y="79716"/>
                  </a:lnTo>
                  <a:close/>
                  <a:moveTo>
                    <a:pt x="135690" y="79602"/>
                  </a:moveTo>
                  <a:cubicBezTo>
                    <a:pt x="99369" y="79602"/>
                    <a:pt x="69901" y="109140"/>
                    <a:pt x="69901" y="145292"/>
                  </a:cubicBezTo>
                  <a:cubicBezTo>
                    <a:pt x="69901" y="181443"/>
                    <a:pt x="99369" y="210867"/>
                    <a:pt x="135690" y="210867"/>
                  </a:cubicBezTo>
                  <a:cubicBezTo>
                    <a:pt x="171897" y="210867"/>
                    <a:pt x="201365" y="181443"/>
                    <a:pt x="201365" y="145292"/>
                  </a:cubicBezTo>
                  <a:cubicBezTo>
                    <a:pt x="201365" y="109140"/>
                    <a:pt x="171897" y="79602"/>
                    <a:pt x="135690" y="79602"/>
                  </a:cubicBezTo>
                  <a:close/>
                  <a:moveTo>
                    <a:pt x="0" y="0"/>
                  </a:moveTo>
                  <a:lnTo>
                    <a:pt x="606721" y="0"/>
                  </a:lnTo>
                  <a:lnTo>
                    <a:pt x="606721" y="476246"/>
                  </a:lnTo>
                  <a:lnTo>
                    <a:pt x="0" y="476246"/>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39" name="文本框1"/>
            <p:cNvSpPr txBox="1"/>
            <p:nvPr>
              <p:custDataLst>
                <p:tags r:id="rId12"/>
              </p:custDataLst>
            </p:nvPr>
          </p:nvSpPr>
          <p:spPr>
            <a:xfrm>
              <a:off x="7360068" y="2434240"/>
              <a:ext cx="79502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7188A8"/>
                  </a:solidFill>
                  <a:effectLst/>
                  <a:uLnTx/>
                  <a:uFillTx/>
                  <a:latin typeface="思源黑体 CN Bold" panose="020B0800000000000000" pitchFamily="34" charset="-122"/>
                  <a:ea typeface="思源黑体 CN Bold" panose="020B0800000000000000" pitchFamily="34" charset="-122"/>
                  <a:cs typeface="+mn-cs"/>
                </a:rPr>
                <a:t>锂盐</a:t>
              </a:r>
              <a:endParaRPr kumimoji="0" lang="zh-CN" altLang="en-US" sz="2000" b="1" i="0" u="none" strike="noStrike" kern="1200" cap="none" spc="0" normalizeH="0" baseline="0" noProof="0" dirty="0">
                <a:ln>
                  <a:noFill/>
                </a:ln>
                <a:solidFill>
                  <a:srgbClr val="7188A8"/>
                </a:solidFill>
                <a:effectLst/>
                <a:uLnTx/>
                <a:uFillTx/>
                <a:latin typeface="思源黑体 CN Bold" panose="020B0800000000000000" pitchFamily="34" charset="-122"/>
                <a:ea typeface="思源黑体 CN Bold" panose="020B0800000000000000" pitchFamily="34" charset="-122"/>
                <a:cs typeface="+mn-cs"/>
              </a:endParaRPr>
            </a:p>
          </p:txBody>
        </p:sp>
        <p:sp>
          <p:nvSpPr>
            <p:cNvPr id="40" name="文本框2"/>
            <p:cNvSpPr/>
            <p:nvPr>
              <p:custDataLst>
                <p:tags r:id="rId13"/>
              </p:custDataLst>
            </p:nvPr>
          </p:nvSpPr>
          <p:spPr>
            <a:xfrm>
              <a:off x="1438110" y="2850387"/>
              <a:ext cx="7296150" cy="1646555"/>
            </a:xfrm>
            <a:prstGeom prst="rect">
              <a:avLst/>
            </a:prstGeom>
          </p:spPr>
          <p:txBody>
            <a:bodyPr wrap="square">
              <a:noAutofit/>
            </a:bodyPr>
            <a:lstStyle/>
            <a:p>
              <a:pPr>
                <a:lnSpc>
                  <a:spcPct val="150000"/>
                </a:lnSpc>
                <a:spcBef>
                  <a:spcPts val="2950"/>
                </a:spcBef>
                <a:defRPr/>
              </a:pPr>
              <a:r>
                <a:rPr lang="zh-CN" altLang="en-US" sz="240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一般来说是针对双相最首选的心境稳定剂，碳酸锂主要治疗的临床表现以情绪高涨为主，而非烦躁、激惹为主的患者。</a:t>
              </a:r>
              <a:endParaRPr kumimoji="0" lang="zh-CN" altLang="en-US" sz="2400" b="0"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grpSp>
      <p:pic>
        <p:nvPicPr>
          <p:cNvPr id="1664239020" name="图片 10"/>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031605" y="578485"/>
            <a:ext cx="2104390" cy="2857500"/>
          </a:xfrm>
          <a:prstGeom prst="rect">
            <a:avLst/>
          </a:prstGeom>
        </p:spPr>
      </p:pic>
      <p:pic>
        <p:nvPicPr>
          <p:cNvPr id="323978883" name="图片 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174115" y="3351530"/>
            <a:ext cx="1652905" cy="25279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4963" y="455941"/>
            <a:ext cx="4291110" cy="615022"/>
            <a:chOff x="334963" y="455941"/>
            <a:chExt cx="4291110" cy="615022"/>
          </a:xfrm>
        </p:grpSpPr>
        <p:grpSp>
          <p:nvGrpSpPr>
            <p:cNvPr id="3" name="组合 2"/>
            <p:cNvGrpSpPr/>
            <p:nvPr/>
          </p:nvGrpSpPr>
          <p:grpSpPr>
            <a:xfrm>
              <a:off x="643731" y="455941"/>
              <a:ext cx="3982342" cy="615022"/>
              <a:chOff x="643731" y="455941"/>
              <a:chExt cx="3982342" cy="615022"/>
            </a:xfrm>
          </p:grpSpPr>
          <p:sp>
            <p:nvSpPr>
              <p:cNvPr id="5" name="文本框 4"/>
              <p:cNvSpPr txBox="1"/>
              <p:nvPr/>
            </p:nvSpPr>
            <p:spPr>
              <a:xfrm>
                <a:off x="643731" y="455941"/>
                <a:ext cx="2926080" cy="460375"/>
              </a:xfrm>
              <a:prstGeom prst="rect">
                <a:avLst/>
              </a:prstGeom>
              <a:noFill/>
            </p:spPr>
            <p:txBody>
              <a:bodyPr wrap="none" rtlCol="0">
                <a:spAutoFit/>
              </a:bodyPr>
              <a:lstStyle/>
              <a:p>
                <a:r>
                  <a:rPr lang="zh-CN" altLang="en-US" sz="2400" b="1" dirty="0">
                    <a:solidFill>
                      <a:srgbClr val="7188A8"/>
                    </a:solidFill>
                    <a:cs typeface="+mn-ea"/>
                    <a:sym typeface="+mn-lt"/>
                  </a:rPr>
                  <a:t>药物治疗：</a:t>
                </a:r>
                <a:r>
                  <a:rPr lang="zh-CN" altLang="en-US" sz="2400" b="1" dirty="0">
                    <a:solidFill>
                      <a:srgbClr val="7188A8"/>
                    </a:solidFill>
                    <a:cs typeface="+mn-ea"/>
                    <a:sym typeface="+mn-lt"/>
                  </a:rPr>
                  <a:t>抗抑郁药</a:t>
                </a:r>
                <a:endParaRPr lang="zh-CN" altLang="en-US" sz="2400" b="1" dirty="0">
                  <a:solidFill>
                    <a:srgbClr val="7188A8"/>
                  </a:solidFill>
                  <a:cs typeface="+mn-ea"/>
                  <a:sym typeface="+mn-lt"/>
                </a:endParaRPr>
              </a:p>
            </p:txBody>
          </p:sp>
          <p:sp>
            <p:nvSpPr>
              <p:cNvPr id="6" name="矩形 5"/>
              <p:cNvSpPr/>
              <p:nvPr/>
            </p:nvSpPr>
            <p:spPr>
              <a:xfrm>
                <a:off x="657929" y="818233"/>
                <a:ext cx="3968144" cy="252730"/>
              </a:xfrm>
              <a:prstGeom prst="rect">
                <a:avLst/>
              </a:prstGeom>
            </p:spPr>
            <p:txBody>
              <a:bodyPr wrap="square">
                <a:spAutoFit/>
              </a:bodyPr>
              <a:lstStyle/>
              <a:p>
                <a:r>
                  <a:rPr lang="en-US" altLang="zh-CN" sz="1050" dirty="0">
                    <a:solidFill>
                      <a:schemeClr val="bg1">
                        <a:lumMod val="50000"/>
                      </a:schemeClr>
                    </a:solidFill>
                  </a:rPr>
                  <a:t>Drug Therapy</a:t>
                </a:r>
                <a:endParaRPr lang="en-US" altLang="zh-CN" sz="1050" dirty="0">
                  <a:solidFill>
                    <a:schemeClr val="bg1">
                      <a:lumMod val="50000"/>
                    </a:schemeClr>
                  </a:solidFill>
                </a:endParaRPr>
              </a:p>
            </p:txBody>
          </p:sp>
        </p:grpSp>
        <p:sp>
          <p:nvSpPr>
            <p:cNvPr id="4" name="矩形 3"/>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23" name="椭圆 22"/>
          <p:cNvSpPr/>
          <p:nvPr>
            <p:custDataLst>
              <p:tags r:id="rId1"/>
            </p:custDataLst>
          </p:nvPr>
        </p:nvSpPr>
        <p:spPr>
          <a:xfrm>
            <a:off x="488923" y="1517460"/>
            <a:ext cx="533348" cy="533346"/>
          </a:xfrm>
          <a:prstGeom prst="ellipse">
            <a:avLst/>
          </a:prstGeom>
          <a:solidFill>
            <a:srgbClr val="F7B1A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26" name="椭圆 24"/>
          <p:cNvSpPr/>
          <p:nvPr>
            <p:custDataLst>
              <p:tags r:id="rId2"/>
            </p:custDataLst>
          </p:nvPr>
        </p:nvSpPr>
        <p:spPr>
          <a:xfrm>
            <a:off x="596080" y="1624840"/>
            <a:ext cx="319034" cy="318586"/>
          </a:xfrm>
          <a:custGeom>
            <a:avLst/>
            <a:gdLst>
              <a:gd name="connsiteX0" fmla="*/ 161808 w 607614"/>
              <a:gd name="connsiteY0" fmla="*/ 404249 h 606761"/>
              <a:gd name="connsiteX1" fmla="*/ 161808 w 607614"/>
              <a:gd name="connsiteY1" fmla="*/ 434590 h 606761"/>
              <a:gd name="connsiteX2" fmla="*/ 445806 w 607614"/>
              <a:gd name="connsiteY2" fmla="*/ 434590 h 606761"/>
              <a:gd name="connsiteX3" fmla="*/ 445806 w 607614"/>
              <a:gd name="connsiteY3" fmla="*/ 404249 h 606761"/>
              <a:gd name="connsiteX4" fmla="*/ 142065 w 607614"/>
              <a:gd name="connsiteY4" fmla="*/ 384526 h 606761"/>
              <a:gd name="connsiteX5" fmla="*/ 465549 w 607614"/>
              <a:gd name="connsiteY5" fmla="*/ 384526 h 606761"/>
              <a:gd name="connsiteX6" fmla="*/ 465549 w 607614"/>
              <a:gd name="connsiteY6" fmla="*/ 455071 h 606761"/>
              <a:gd name="connsiteX7" fmla="*/ 142065 w 607614"/>
              <a:gd name="connsiteY7" fmla="*/ 455071 h 606761"/>
              <a:gd name="connsiteX8" fmla="*/ 303868 w 607614"/>
              <a:gd name="connsiteY8" fmla="*/ 139594 h 606761"/>
              <a:gd name="connsiteX9" fmla="*/ 170955 w 607614"/>
              <a:gd name="connsiteY9" fmla="*/ 333713 h 606761"/>
              <a:gd name="connsiteX10" fmla="*/ 436782 w 607614"/>
              <a:gd name="connsiteY10" fmla="*/ 333713 h 606761"/>
              <a:gd name="connsiteX11" fmla="*/ 303868 w 607614"/>
              <a:gd name="connsiteY11" fmla="*/ 111348 h 606761"/>
              <a:gd name="connsiteX12" fmla="*/ 312223 w 607614"/>
              <a:gd name="connsiteY12" fmla="*/ 115329 h 606761"/>
              <a:gd name="connsiteX13" fmla="*/ 464124 w 607614"/>
              <a:gd name="connsiteY13" fmla="*/ 338263 h 606761"/>
              <a:gd name="connsiteX14" fmla="*/ 464883 w 607614"/>
              <a:gd name="connsiteY14" fmla="*/ 348879 h 606761"/>
              <a:gd name="connsiteX15" fmla="*/ 455769 w 607614"/>
              <a:gd name="connsiteY15" fmla="*/ 354187 h 606761"/>
              <a:gd name="connsiteX16" fmla="*/ 151967 w 607614"/>
              <a:gd name="connsiteY16" fmla="*/ 354187 h 606761"/>
              <a:gd name="connsiteX17" fmla="*/ 142853 w 607614"/>
              <a:gd name="connsiteY17" fmla="*/ 348879 h 606761"/>
              <a:gd name="connsiteX18" fmla="*/ 143613 w 607614"/>
              <a:gd name="connsiteY18" fmla="*/ 338263 h 606761"/>
              <a:gd name="connsiteX19" fmla="*/ 295514 w 607614"/>
              <a:gd name="connsiteY19" fmla="*/ 115329 h 606761"/>
              <a:gd name="connsiteX20" fmla="*/ 303868 w 607614"/>
              <a:gd name="connsiteY20" fmla="*/ 111348 h 606761"/>
              <a:gd name="connsiteX21" fmla="*/ 303807 w 607614"/>
              <a:gd name="connsiteY21" fmla="*/ 20478 h 606761"/>
              <a:gd name="connsiteX22" fmla="*/ 20507 w 607614"/>
              <a:gd name="connsiteY22" fmla="*/ 303380 h 606761"/>
              <a:gd name="connsiteX23" fmla="*/ 303807 w 607614"/>
              <a:gd name="connsiteY23" fmla="*/ 586283 h 606761"/>
              <a:gd name="connsiteX24" fmla="*/ 587107 w 607614"/>
              <a:gd name="connsiteY24" fmla="*/ 303380 h 606761"/>
              <a:gd name="connsiteX25" fmla="*/ 303807 w 607614"/>
              <a:gd name="connsiteY25" fmla="*/ 20478 h 606761"/>
              <a:gd name="connsiteX26" fmla="*/ 303807 w 607614"/>
              <a:gd name="connsiteY26" fmla="*/ 0 h 606761"/>
              <a:gd name="connsiteX27" fmla="*/ 607614 w 607614"/>
              <a:gd name="connsiteY27" fmla="*/ 303380 h 606761"/>
              <a:gd name="connsiteX28" fmla="*/ 303807 w 607614"/>
              <a:gd name="connsiteY28" fmla="*/ 606761 h 606761"/>
              <a:gd name="connsiteX29" fmla="*/ 0 w 607614"/>
              <a:gd name="connsiteY29" fmla="*/ 303380 h 606761"/>
              <a:gd name="connsiteX30" fmla="*/ 303807 w 607614"/>
              <a:gd name="connsiteY30" fmla="*/ 0 h 606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614" h="606761">
                <a:moveTo>
                  <a:pt x="161808" y="404249"/>
                </a:moveTo>
                <a:lnTo>
                  <a:pt x="161808" y="434590"/>
                </a:lnTo>
                <a:lnTo>
                  <a:pt x="445806" y="434590"/>
                </a:lnTo>
                <a:lnTo>
                  <a:pt x="445806" y="404249"/>
                </a:lnTo>
                <a:close/>
                <a:moveTo>
                  <a:pt x="142065" y="384526"/>
                </a:moveTo>
                <a:lnTo>
                  <a:pt x="465549" y="384526"/>
                </a:lnTo>
                <a:lnTo>
                  <a:pt x="465549" y="455071"/>
                </a:lnTo>
                <a:lnTo>
                  <a:pt x="142065" y="455071"/>
                </a:lnTo>
                <a:close/>
                <a:moveTo>
                  <a:pt x="303868" y="139594"/>
                </a:moveTo>
                <a:lnTo>
                  <a:pt x="170955" y="333713"/>
                </a:lnTo>
                <a:lnTo>
                  <a:pt x="436782" y="333713"/>
                </a:lnTo>
                <a:close/>
                <a:moveTo>
                  <a:pt x="303868" y="111348"/>
                </a:moveTo>
                <a:cubicBezTo>
                  <a:pt x="307096" y="111348"/>
                  <a:pt x="310324" y="112675"/>
                  <a:pt x="312223" y="115329"/>
                </a:cubicBezTo>
                <a:lnTo>
                  <a:pt x="464124" y="338263"/>
                </a:lnTo>
                <a:cubicBezTo>
                  <a:pt x="466402" y="341296"/>
                  <a:pt x="466402" y="345087"/>
                  <a:pt x="464883" y="348879"/>
                </a:cubicBezTo>
                <a:cubicBezTo>
                  <a:pt x="462605" y="351912"/>
                  <a:pt x="459567" y="354187"/>
                  <a:pt x="455769" y="354187"/>
                </a:cubicBezTo>
                <a:lnTo>
                  <a:pt x="151967" y="354187"/>
                </a:lnTo>
                <a:cubicBezTo>
                  <a:pt x="148170" y="354187"/>
                  <a:pt x="145132" y="351912"/>
                  <a:pt x="142853" y="348879"/>
                </a:cubicBezTo>
                <a:cubicBezTo>
                  <a:pt x="141334" y="345087"/>
                  <a:pt x="141334" y="341296"/>
                  <a:pt x="143613" y="338263"/>
                </a:cubicBezTo>
                <a:lnTo>
                  <a:pt x="295514" y="115329"/>
                </a:lnTo>
                <a:cubicBezTo>
                  <a:pt x="297413" y="112675"/>
                  <a:pt x="300640" y="111348"/>
                  <a:pt x="303868" y="111348"/>
                </a:cubicBezTo>
                <a:close/>
                <a:moveTo>
                  <a:pt x="303807" y="20478"/>
                </a:moveTo>
                <a:cubicBezTo>
                  <a:pt x="147347" y="20478"/>
                  <a:pt x="20507" y="147139"/>
                  <a:pt x="20507" y="303380"/>
                </a:cubicBezTo>
                <a:cubicBezTo>
                  <a:pt x="20507" y="459622"/>
                  <a:pt x="147347" y="586283"/>
                  <a:pt x="303807" y="586283"/>
                </a:cubicBezTo>
                <a:cubicBezTo>
                  <a:pt x="460268" y="586283"/>
                  <a:pt x="587107" y="459622"/>
                  <a:pt x="587107" y="303380"/>
                </a:cubicBezTo>
                <a:cubicBezTo>
                  <a:pt x="587107" y="147139"/>
                  <a:pt x="460268" y="20478"/>
                  <a:pt x="303807" y="20478"/>
                </a:cubicBezTo>
                <a:close/>
                <a:moveTo>
                  <a:pt x="303807" y="0"/>
                </a:moveTo>
                <a:cubicBezTo>
                  <a:pt x="471661" y="0"/>
                  <a:pt x="607614" y="135763"/>
                  <a:pt x="607614" y="303380"/>
                </a:cubicBezTo>
                <a:cubicBezTo>
                  <a:pt x="607614" y="470998"/>
                  <a:pt x="471661" y="606761"/>
                  <a:pt x="303807" y="606761"/>
                </a:cubicBezTo>
                <a:cubicBezTo>
                  <a:pt x="135953" y="606761"/>
                  <a:pt x="0" y="470998"/>
                  <a:pt x="0" y="303380"/>
                </a:cubicBezTo>
                <a:cubicBezTo>
                  <a:pt x="0" y="135763"/>
                  <a:pt x="135953" y="0"/>
                  <a:pt x="303807" y="0"/>
                </a:cubicBez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31" name="文本框1"/>
          <p:cNvSpPr txBox="1"/>
          <p:nvPr>
            <p:custDataLst>
              <p:tags r:id="rId3"/>
            </p:custDataLst>
          </p:nvPr>
        </p:nvSpPr>
        <p:spPr>
          <a:xfrm>
            <a:off x="1022350" y="1585595"/>
            <a:ext cx="1223645" cy="460375"/>
          </a:xfrm>
          <a:prstGeom prst="rect">
            <a:avLst/>
          </a:prstGeom>
          <a:noFill/>
        </p:spPr>
        <p:txBody>
          <a:bodyPr wrap="square" rtlCol="0">
            <a:spAutoFit/>
          </a:bodyPr>
          <a:lstStyle/>
          <a:p>
            <a:pPr marR="0" indent="0" defTabSz="914400" fontAlgn="auto">
              <a:lnSpc>
                <a:spcPct val="100000"/>
              </a:lnSpc>
              <a:spcBef>
                <a:spcPts val="0"/>
              </a:spcBef>
              <a:spcAft>
                <a:spcPts val="0"/>
              </a:spcAft>
              <a:buClrTx/>
              <a:buSzTx/>
              <a:buFontTx/>
              <a:buNone/>
              <a:defRPr/>
            </a:pPr>
            <a:r>
              <a:rPr kumimoji="0" lang="zh-CN" altLang="en-US" sz="2400"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rPr>
              <a:t>氟西汀</a:t>
            </a:r>
            <a:endParaRPr kumimoji="0" lang="zh-CN" altLang="en-US" sz="2400"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endParaRPr>
          </a:p>
        </p:txBody>
      </p:sp>
      <p:sp>
        <p:nvSpPr>
          <p:cNvPr id="32" name="文本框2"/>
          <p:cNvSpPr/>
          <p:nvPr>
            <p:custDataLst>
              <p:tags r:id="rId4"/>
            </p:custDataLst>
          </p:nvPr>
        </p:nvSpPr>
        <p:spPr>
          <a:xfrm>
            <a:off x="1009015" y="1942465"/>
            <a:ext cx="5809615" cy="1045210"/>
          </a:xfrm>
          <a:prstGeom prst="rect">
            <a:avLst/>
          </a:prstGeom>
        </p:spPr>
        <p:txBody>
          <a:bodyPr wrap="square">
            <a:noAutofit/>
          </a:bodyPr>
          <a:lstStyle/>
          <a:p>
            <a:pPr>
              <a:lnSpc>
                <a:spcPct val="150000"/>
              </a:lnSpc>
              <a:spcBef>
                <a:spcPts val="2950"/>
              </a:spcBef>
              <a:defRPr/>
            </a:pPr>
            <a:r>
              <a:rPr kumimoji="0" lang="zh-CN" altLang="en-US" sz="2400" b="0"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氟西汀通过增加大脑中神经递质血清素的水平来提高患者的心情，这有助于减轻抑郁和焦虑症状。</a:t>
            </a:r>
            <a:endParaRPr kumimoji="0" lang="zh-CN" altLang="en-US" sz="2400" b="0" i="0" u="none" strike="noStrike" kern="1200" cap="none" spc="0" normalizeH="0" baseline="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sp>
        <p:nvSpPr>
          <p:cNvPr id="20" name="椭圆 19"/>
          <p:cNvSpPr/>
          <p:nvPr>
            <p:custDataLst>
              <p:tags r:id="rId5"/>
            </p:custDataLst>
          </p:nvPr>
        </p:nvSpPr>
        <p:spPr>
          <a:xfrm>
            <a:off x="508608" y="3868230"/>
            <a:ext cx="533348" cy="533346"/>
          </a:xfrm>
          <a:prstGeom prst="ellipse">
            <a:avLst/>
          </a:prstGeom>
          <a:solidFill>
            <a:srgbClr val="F7B1A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33" name="椭圆 24"/>
          <p:cNvSpPr/>
          <p:nvPr>
            <p:custDataLst>
              <p:tags r:id="rId6"/>
            </p:custDataLst>
          </p:nvPr>
        </p:nvSpPr>
        <p:spPr>
          <a:xfrm>
            <a:off x="615765" y="3975610"/>
            <a:ext cx="319034" cy="318586"/>
          </a:xfrm>
          <a:custGeom>
            <a:avLst/>
            <a:gdLst>
              <a:gd name="connsiteX0" fmla="*/ 161808 w 607614"/>
              <a:gd name="connsiteY0" fmla="*/ 404249 h 606761"/>
              <a:gd name="connsiteX1" fmla="*/ 161808 w 607614"/>
              <a:gd name="connsiteY1" fmla="*/ 434590 h 606761"/>
              <a:gd name="connsiteX2" fmla="*/ 445806 w 607614"/>
              <a:gd name="connsiteY2" fmla="*/ 434590 h 606761"/>
              <a:gd name="connsiteX3" fmla="*/ 445806 w 607614"/>
              <a:gd name="connsiteY3" fmla="*/ 404249 h 606761"/>
              <a:gd name="connsiteX4" fmla="*/ 142065 w 607614"/>
              <a:gd name="connsiteY4" fmla="*/ 384526 h 606761"/>
              <a:gd name="connsiteX5" fmla="*/ 465549 w 607614"/>
              <a:gd name="connsiteY5" fmla="*/ 384526 h 606761"/>
              <a:gd name="connsiteX6" fmla="*/ 465549 w 607614"/>
              <a:gd name="connsiteY6" fmla="*/ 455071 h 606761"/>
              <a:gd name="connsiteX7" fmla="*/ 142065 w 607614"/>
              <a:gd name="connsiteY7" fmla="*/ 455071 h 606761"/>
              <a:gd name="connsiteX8" fmla="*/ 303868 w 607614"/>
              <a:gd name="connsiteY8" fmla="*/ 139594 h 606761"/>
              <a:gd name="connsiteX9" fmla="*/ 170955 w 607614"/>
              <a:gd name="connsiteY9" fmla="*/ 333713 h 606761"/>
              <a:gd name="connsiteX10" fmla="*/ 436782 w 607614"/>
              <a:gd name="connsiteY10" fmla="*/ 333713 h 606761"/>
              <a:gd name="connsiteX11" fmla="*/ 303868 w 607614"/>
              <a:gd name="connsiteY11" fmla="*/ 111348 h 606761"/>
              <a:gd name="connsiteX12" fmla="*/ 312223 w 607614"/>
              <a:gd name="connsiteY12" fmla="*/ 115329 h 606761"/>
              <a:gd name="connsiteX13" fmla="*/ 464124 w 607614"/>
              <a:gd name="connsiteY13" fmla="*/ 338263 h 606761"/>
              <a:gd name="connsiteX14" fmla="*/ 464883 w 607614"/>
              <a:gd name="connsiteY14" fmla="*/ 348879 h 606761"/>
              <a:gd name="connsiteX15" fmla="*/ 455769 w 607614"/>
              <a:gd name="connsiteY15" fmla="*/ 354187 h 606761"/>
              <a:gd name="connsiteX16" fmla="*/ 151967 w 607614"/>
              <a:gd name="connsiteY16" fmla="*/ 354187 h 606761"/>
              <a:gd name="connsiteX17" fmla="*/ 142853 w 607614"/>
              <a:gd name="connsiteY17" fmla="*/ 348879 h 606761"/>
              <a:gd name="connsiteX18" fmla="*/ 143613 w 607614"/>
              <a:gd name="connsiteY18" fmla="*/ 338263 h 606761"/>
              <a:gd name="connsiteX19" fmla="*/ 295514 w 607614"/>
              <a:gd name="connsiteY19" fmla="*/ 115329 h 606761"/>
              <a:gd name="connsiteX20" fmla="*/ 303868 w 607614"/>
              <a:gd name="connsiteY20" fmla="*/ 111348 h 606761"/>
              <a:gd name="connsiteX21" fmla="*/ 303807 w 607614"/>
              <a:gd name="connsiteY21" fmla="*/ 20478 h 606761"/>
              <a:gd name="connsiteX22" fmla="*/ 20507 w 607614"/>
              <a:gd name="connsiteY22" fmla="*/ 303380 h 606761"/>
              <a:gd name="connsiteX23" fmla="*/ 303807 w 607614"/>
              <a:gd name="connsiteY23" fmla="*/ 586283 h 606761"/>
              <a:gd name="connsiteX24" fmla="*/ 587107 w 607614"/>
              <a:gd name="connsiteY24" fmla="*/ 303380 h 606761"/>
              <a:gd name="connsiteX25" fmla="*/ 303807 w 607614"/>
              <a:gd name="connsiteY25" fmla="*/ 20478 h 606761"/>
              <a:gd name="connsiteX26" fmla="*/ 303807 w 607614"/>
              <a:gd name="connsiteY26" fmla="*/ 0 h 606761"/>
              <a:gd name="connsiteX27" fmla="*/ 607614 w 607614"/>
              <a:gd name="connsiteY27" fmla="*/ 303380 h 606761"/>
              <a:gd name="connsiteX28" fmla="*/ 303807 w 607614"/>
              <a:gd name="connsiteY28" fmla="*/ 606761 h 606761"/>
              <a:gd name="connsiteX29" fmla="*/ 0 w 607614"/>
              <a:gd name="connsiteY29" fmla="*/ 303380 h 606761"/>
              <a:gd name="connsiteX30" fmla="*/ 303807 w 607614"/>
              <a:gd name="connsiteY30" fmla="*/ 0 h 606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614" h="606761">
                <a:moveTo>
                  <a:pt x="161808" y="404249"/>
                </a:moveTo>
                <a:lnTo>
                  <a:pt x="161808" y="434590"/>
                </a:lnTo>
                <a:lnTo>
                  <a:pt x="445806" y="434590"/>
                </a:lnTo>
                <a:lnTo>
                  <a:pt x="445806" y="404249"/>
                </a:lnTo>
                <a:close/>
                <a:moveTo>
                  <a:pt x="142065" y="384526"/>
                </a:moveTo>
                <a:lnTo>
                  <a:pt x="465549" y="384526"/>
                </a:lnTo>
                <a:lnTo>
                  <a:pt x="465549" y="455071"/>
                </a:lnTo>
                <a:lnTo>
                  <a:pt x="142065" y="455071"/>
                </a:lnTo>
                <a:close/>
                <a:moveTo>
                  <a:pt x="303868" y="139594"/>
                </a:moveTo>
                <a:lnTo>
                  <a:pt x="170955" y="333713"/>
                </a:lnTo>
                <a:lnTo>
                  <a:pt x="436782" y="333713"/>
                </a:lnTo>
                <a:close/>
                <a:moveTo>
                  <a:pt x="303868" y="111348"/>
                </a:moveTo>
                <a:cubicBezTo>
                  <a:pt x="307096" y="111348"/>
                  <a:pt x="310324" y="112675"/>
                  <a:pt x="312223" y="115329"/>
                </a:cubicBezTo>
                <a:lnTo>
                  <a:pt x="464124" y="338263"/>
                </a:lnTo>
                <a:cubicBezTo>
                  <a:pt x="466402" y="341296"/>
                  <a:pt x="466402" y="345087"/>
                  <a:pt x="464883" y="348879"/>
                </a:cubicBezTo>
                <a:cubicBezTo>
                  <a:pt x="462605" y="351912"/>
                  <a:pt x="459567" y="354187"/>
                  <a:pt x="455769" y="354187"/>
                </a:cubicBezTo>
                <a:lnTo>
                  <a:pt x="151967" y="354187"/>
                </a:lnTo>
                <a:cubicBezTo>
                  <a:pt x="148170" y="354187"/>
                  <a:pt x="145132" y="351912"/>
                  <a:pt x="142853" y="348879"/>
                </a:cubicBezTo>
                <a:cubicBezTo>
                  <a:pt x="141334" y="345087"/>
                  <a:pt x="141334" y="341296"/>
                  <a:pt x="143613" y="338263"/>
                </a:cubicBezTo>
                <a:lnTo>
                  <a:pt x="295514" y="115329"/>
                </a:lnTo>
                <a:cubicBezTo>
                  <a:pt x="297413" y="112675"/>
                  <a:pt x="300640" y="111348"/>
                  <a:pt x="303868" y="111348"/>
                </a:cubicBezTo>
                <a:close/>
                <a:moveTo>
                  <a:pt x="303807" y="20478"/>
                </a:moveTo>
                <a:cubicBezTo>
                  <a:pt x="147347" y="20478"/>
                  <a:pt x="20507" y="147139"/>
                  <a:pt x="20507" y="303380"/>
                </a:cubicBezTo>
                <a:cubicBezTo>
                  <a:pt x="20507" y="459622"/>
                  <a:pt x="147347" y="586283"/>
                  <a:pt x="303807" y="586283"/>
                </a:cubicBezTo>
                <a:cubicBezTo>
                  <a:pt x="460268" y="586283"/>
                  <a:pt x="587107" y="459622"/>
                  <a:pt x="587107" y="303380"/>
                </a:cubicBezTo>
                <a:cubicBezTo>
                  <a:pt x="587107" y="147139"/>
                  <a:pt x="460268" y="20478"/>
                  <a:pt x="303807" y="20478"/>
                </a:cubicBezTo>
                <a:close/>
                <a:moveTo>
                  <a:pt x="303807" y="0"/>
                </a:moveTo>
                <a:cubicBezTo>
                  <a:pt x="471661" y="0"/>
                  <a:pt x="607614" y="135763"/>
                  <a:pt x="607614" y="303380"/>
                </a:cubicBezTo>
                <a:cubicBezTo>
                  <a:pt x="607614" y="470998"/>
                  <a:pt x="471661" y="606761"/>
                  <a:pt x="303807" y="606761"/>
                </a:cubicBezTo>
                <a:cubicBezTo>
                  <a:pt x="135953" y="606761"/>
                  <a:pt x="0" y="470998"/>
                  <a:pt x="0" y="303380"/>
                </a:cubicBezTo>
                <a:cubicBezTo>
                  <a:pt x="0" y="135763"/>
                  <a:pt x="135953" y="0"/>
                  <a:pt x="303807" y="0"/>
                </a:cubicBez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34" name="文本框1"/>
          <p:cNvSpPr txBox="1"/>
          <p:nvPr>
            <p:custDataLst>
              <p:tags r:id="rId7"/>
            </p:custDataLst>
          </p:nvPr>
        </p:nvSpPr>
        <p:spPr>
          <a:xfrm>
            <a:off x="1042035" y="3894455"/>
            <a:ext cx="1699895" cy="460375"/>
          </a:xfrm>
          <a:prstGeom prst="rect">
            <a:avLst/>
          </a:prstGeom>
          <a:noFill/>
        </p:spPr>
        <p:txBody>
          <a:bodyPr wrap="square" rtlCol="0">
            <a:spAutoFit/>
          </a:bodyPr>
          <a:lstStyle/>
          <a:p>
            <a:pPr marR="0" indent="0" defTabSz="914400" fontAlgn="auto">
              <a:lnSpc>
                <a:spcPct val="100000"/>
              </a:lnSpc>
              <a:spcBef>
                <a:spcPts val="0"/>
              </a:spcBef>
              <a:spcAft>
                <a:spcPts val="0"/>
              </a:spcAft>
              <a:buClrTx/>
              <a:buSzTx/>
              <a:buFontTx/>
              <a:buNone/>
              <a:defRPr/>
            </a:pPr>
            <a:r>
              <a:rPr lang="zh-CN" altLang="en-US" sz="2400" b="1" noProof="0" dirty="0">
                <a:solidFill>
                  <a:srgbClr val="7188A8"/>
                </a:solidFill>
                <a:latin typeface="思源黑体 CN Bold" panose="020B0800000000000000" pitchFamily="34" charset="-122"/>
                <a:ea typeface="思源黑体 CN Bold" panose="020B0800000000000000" pitchFamily="34" charset="-122"/>
                <a:sym typeface="+mn-ea"/>
              </a:rPr>
              <a:t>帕罗西汀</a:t>
            </a:r>
            <a:endParaRPr kumimoji="0" lang="zh-CN" altLang="en-US" sz="2400"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endParaRPr>
          </a:p>
        </p:txBody>
      </p:sp>
      <p:sp>
        <p:nvSpPr>
          <p:cNvPr id="35" name="文本框 34"/>
          <p:cNvSpPr txBox="1"/>
          <p:nvPr>
            <p:custDataLst>
              <p:tags r:id="rId8"/>
            </p:custDataLst>
          </p:nvPr>
        </p:nvSpPr>
        <p:spPr>
          <a:xfrm>
            <a:off x="1022350" y="4290060"/>
            <a:ext cx="6096000" cy="1641475"/>
          </a:xfrm>
          <a:prstGeom prst="rect">
            <a:avLst/>
          </a:prstGeom>
          <a:noFill/>
        </p:spPr>
        <p:txBody>
          <a:bodyPr wrap="square" rtlCol="0" anchor="t">
            <a:spAutoFit/>
          </a:bodyPr>
          <a:p>
            <a:pPr>
              <a:lnSpc>
                <a:spcPct val="140000"/>
              </a:lnSpc>
            </a:pPr>
            <a:r>
              <a:rPr lang="zh-CN" altLang="en-US" sz="2400" noProof="0" dirty="0">
                <a:solidFill>
                  <a:srgbClr val="7F7F7F"/>
                </a:solidFill>
                <a:latin typeface="思源黑体 CN Regular" panose="020B0500000000000000" pitchFamily="34" charset="-122"/>
                <a:ea typeface="思源黑体 CN Regular" panose="020B0500000000000000" pitchFamily="34" charset="-122"/>
                <a:cs typeface="+mn-ea"/>
              </a:rPr>
              <a:t>抑郁症患者通常伴有睡眠问题，帕罗西汀可以帮助改善睡眠质量，减少失眠和早醒等问题。</a:t>
            </a:r>
            <a:endParaRPr lang="zh-CN" altLang="en-US" sz="2400" noProof="0" dirty="0">
              <a:solidFill>
                <a:srgbClr val="7F7F7F"/>
              </a:solidFill>
              <a:latin typeface="思源黑体 CN Regular" panose="020B0500000000000000" pitchFamily="34" charset="-122"/>
              <a:ea typeface="思源黑体 CN Regular" panose="020B0500000000000000" pitchFamily="34" charset="-122"/>
              <a:cs typeface="+mn-ea"/>
            </a:endParaRPr>
          </a:p>
        </p:txBody>
      </p:sp>
      <p:pic>
        <p:nvPicPr>
          <p:cNvPr id="100" name="图片 99"/>
          <p:cNvPicPr/>
          <p:nvPr/>
        </p:nvPicPr>
        <p:blipFill>
          <a:blip r:embed="rId9"/>
          <a:stretch>
            <a:fillRect/>
          </a:stretch>
        </p:blipFill>
        <p:spPr>
          <a:xfrm>
            <a:off x="7223125" y="684530"/>
            <a:ext cx="3883025" cy="3366135"/>
          </a:xfrm>
          <a:prstGeom prst="rect">
            <a:avLst/>
          </a:prstGeom>
          <a:noFill/>
          <a:ln w="9525">
            <a:noFill/>
          </a:ln>
        </p:spPr>
      </p:pic>
      <p:pic>
        <p:nvPicPr>
          <p:cNvPr id="101" name="图片 100"/>
          <p:cNvPicPr/>
          <p:nvPr/>
        </p:nvPicPr>
        <p:blipFill>
          <a:blip r:embed="rId10"/>
          <a:srcRect t="21463" b="16293"/>
          <a:stretch>
            <a:fillRect/>
          </a:stretch>
        </p:blipFill>
        <p:spPr>
          <a:xfrm>
            <a:off x="7223125" y="3906520"/>
            <a:ext cx="3852545" cy="217233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custDataLst>
              <p:tags r:id="rId1"/>
            </p:custDataLst>
          </p:nvPr>
        </p:nvGrpSpPr>
        <p:grpSpPr>
          <a:xfrm>
            <a:off x="613576" y="1496344"/>
            <a:ext cx="4763135" cy="4723130"/>
            <a:chOff x="1716240" y="3487704"/>
            <a:chExt cx="4763135" cy="4723130"/>
          </a:xfrm>
        </p:grpSpPr>
        <p:sp>
          <p:nvSpPr>
            <p:cNvPr id="8" name="椭圆 7"/>
            <p:cNvSpPr/>
            <p:nvPr>
              <p:custDataLst>
                <p:tags r:id="rId2"/>
              </p:custDataLst>
            </p:nvPr>
          </p:nvSpPr>
          <p:spPr>
            <a:xfrm>
              <a:off x="1716240" y="3498056"/>
              <a:ext cx="533348" cy="533346"/>
            </a:xfrm>
            <a:prstGeom prst="ellipse">
              <a:avLst/>
            </a:prstGeom>
            <a:solidFill>
              <a:srgbClr val="96C0E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11" name="椭圆 23"/>
            <p:cNvSpPr/>
            <p:nvPr>
              <p:custDataLst>
                <p:tags r:id="rId3"/>
              </p:custDataLst>
            </p:nvPr>
          </p:nvSpPr>
          <p:spPr>
            <a:xfrm>
              <a:off x="1823397" y="3639516"/>
              <a:ext cx="319034" cy="250425"/>
            </a:xfrm>
            <a:custGeom>
              <a:avLst/>
              <a:gdLst>
                <a:gd name="connsiteX0" fmla="*/ 315239 w 606721"/>
                <a:gd name="connsiteY0" fmla="*/ 351824 h 476246"/>
                <a:gd name="connsiteX1" fmla="*/ 315239 w 606721"/>
                <a:gd name="connsiteY1" fmla="*/ 369957 h 476246"/>
                <a:gd name="connsiteX2" fmla="*/ 533394 w 606721"/>
                <a:gd name="connsiteY2" fmla="*/ 369957 h 476246"/>
                <a:gd name="connsiteX3" fmla="*/ 533394 w 606721"/>
                <a:gd name="connsiteY3" fmla="*/ 351824 h 476246"/>
                <a:gd name="connsiteX4" fmla="*/ 88066 w 606721"/>
                <a:gd name="connsiteY4" fmla="*/ 264832 h 476246"/>
                <a:gd name="connsiteX5" fmla="*/ 183188 w 606721"/>
                <a:gd name="connsiteY5" fmla="*/ 264832 h 476246"/>
                <a:gd name="connsiteX6" fmla="*/ 183188 w 606721"/>
                <a:gd name="connsiteY6" fmla="*/ 359813 h 476246"/>
                <a:gd name="connsiteX7" fmla="*/ 88066 w 606721"/>
                <a:gd name="connsiteY7" fmla="*/ 359813 h 476246"/>
                <a:gd name="connsiteX8" fmla="*/ 315239 w 606721"/>
                <a:gd name="connsiteY8" fmla="*/ 261160 h 476246"/>
                <a:gd name="connsiteX9" fmla="*/ 315239 w 606721"/>
                <a:gd name="connsiteY9" fmla="*/ 279293 h 476246"/>
                <a:gd name="connsiteX10" fmla="*/ 533394 w 606721"/>
                <a:gd name="connsiteY10" fmla="*/ 279293 h 476246"/>
                <a:gd name="connsiteX11" fmla="*/ 533394 w 606721"/>
                <a:gd name="connsiteY11" fmla="*/ 261160 h 476246"/>
                <a:gd name="connsiteX12" fmla="*/ 69901 w 606721"/>
                <a:gd name="connsiteY12" fmla="*/ 246676 h 476246"/>
                <a:gd name="connsiteX13" fmla="*/ 69901 w 606721"/>
                <a:gd name="connsiteY13" fmla="*/ 377940 h 476246"/>
                <a:gd name="connsiteX14" fmla="*/ 201365 w 606721"/>
                <a:gd name="connsiteY14" fmla="*/ 377940 h 476246"/>
                <a:gd name="connsiteX15" fmla="*/ 201365 w 606721"/>
                <a:gd name="connsiteY15" fmla="*/ 246676 h 476246"/>
                <a:gd name="connsiteX16" fmla="*/ 315239 w 606721"/>
                <a:gd name="connsiteY16" fmla="*/ 170381 h 476246"/>
                <a:gd name="connsiteX17" fmla="*/ 315239 w 606721"/>
                <a:gd name="connsiteY17" fmla="*/ 188514 h 476246"/>
                <a:gd name="connsiteX18" fmla="*/ 533394 w 606721"/>
                <a:gd name="connsiteY18" fmla="*/ 188514 h 476246"/>
                <a:gd name="connsiteX19" fmla="*/ 533394 w 606721"/>
                <a:gd name="connsiteY19" fmla="*/ 170381 h 476246"/>
                <a:gd name="connsiteX20" fmla="*/ 135627 w 606721"/>
                <a:gd name="connsiteY20" fmla="*/ 97874 h 476246"/>
                <a:gd name="connsiteX21" fmla="*/ 183188 w 606721"/>
                <a:gd name="connsiteY21" fmla="*/ 145294 h 476246"/>
                <a:gd name="connsiteX22" fmla="*/ 135627 w 606721"/>
                <a:gd name="connsiteY22" fmla="*/ 192714 h 476246"/>
                <a:gd name="connsiteX23" fmla="*/ 88066 w 606721"/>
                <a:gd name="connsiteY23" fmla="*/ 145294 h 476246"/>
                <a:gd name="connsiteX24" fmla="*/ 135627 w 606721"/>
                <a:gd name="connsiteY24" fmla="*/ 97874 h 476246"/>
                <a:gd name="connsiteX25" fmla="*/ 315239 w 606721"/>
                <a:gd name="connsiteY25" fmla="*/ 79716 h 476246"/>
                <a:gd name="connsiteX26" fmla="*/ 315239 w 606721"/>
                <a:gd name="connsiteY26" fmla="*/ 97849 h 476246"/>
                <a:gd name="connsiteX27" fmla="*/ 533394 w 606721"/>
                <a:gd name="connsiteY27" fmla="*/ 97849 h 476246"/>
                <a:gd name="connsiteX28" fmla="*/ 533394 w 606721"/>
                <a:gd name="connsiteY28" fmla="*/ 79716 h 476246"/>
                <a:gd name="connsiteX29" fmla="*/ 135690 w 606721"/>
                <a:gd name="connsiteY29" fmla="*/ 79602 h 476246"/>
                <a:gd name="connsiteX30" fmla="*/ 69901 w 606721"/>
                <a:gd name="connsiteY30" fmla="*/ 145292 h 476246"/>
                <a:gd name="connsiteX31" fmla="*/ 135690 w 606721"/>
                <a:gd name="connsiteY31" fmla="*/ 210867 h 476246"/>
                <a:gd name="connsiteX32" fmla="*/ 201365 w 606721"/>
                <a:gd name="connsiteY32" fmla="*/ 145292 h 476246"/>
                <a:gd name="connsiteX33" fmla="*/ 135690 w 606721"/>
                <a:gd name="connsiteY33" fmla="*/ 79602 h 476246"/>
                <a:gd name="connsiteX34" fmla="*/ 0 w 606721"/>
                <a:gd name="connsiteY34" fmla="*/ 0 h 476246"/>
                <a:gd name="connsiteX35" fmla="*/ 606721 w 606721"/>
                <a:gd name="connsiteY35" fmla="*/ 0 h 476246"/>
                <a:gd name="connsiteX36" fmla="*/ 606721 w 606721"/>
                <a:gd name="connsiteY36" fmla="*/ 476246 h 476246"/>
                <a:gd name="connsiteX37" fmla="*/ 0 w 606721"/>
                <a:gd name="connsiteY37" fmla="*/ 476246 h 476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6721" h="476246">
                  <a:moveTo>
                    <a:pt x="315239" y="351824"/>
                  </a:moveTo>
                  <a:lnTo>
                    <a:pt x="315239" y="369957"/>
                  </a:lnTo>
                  <a:lnTo>
                    <a:pt x="533394" y="369957"/>
                  </a:lnTo>
                  <a:lnTo>
                    <a:pt x="533394" y="351824"/>
                  </a:lnTo>
                  <a:close/>
                  <a:moveTo>
                    <a:pt x="88066" y="264832"/>
                  </a:moveTo>
                  <a:lnTo>
                    <a:pt x="183188" y="264832"/>
                  </a:lnTo>
                  <a:lnTo>
                    <a:pt x="183188" y="359813"/>
                  </a:lnTo>
                  <a:lnTo>
                    <a:pt x="88066" y="359813"/>
                  </a:lnTo>
                  <a:close/>
                  <a:moveTo>
                    <a:pt x="315239" y="261160"/>
                  </a:moveTo>
                  <a:lnTo>
                    <a:pt x="315239" y="279293"/>
                  </a:lnTo>
                  <a:lnTo>
                    <a:pt x="533394" y="279293"/>
                  </a:lnTo>
                  <a:lnTo>
                    <a:pt x="533394" y="261160"/>
                  </a:lnTo>
                  <a:close/>
                  <a:moveTo>
                    <a:pt x="69901" y="246676"/>
                  </a:moveTo>
                  <a:lnTo>
                    <a:pt x="69901" y="377940"/>
                  </a:lnTo>
                  <a:lnTo>
                    <a:pt x="201365" y="377940"/>
                  </a:lnTo>
                  <a:lnTo>
                    <a:pt x="201365" y="246676"/>
                  </a:lnTo>
                  <a:close/>
                  <a:moveTo>
                    <a:pt x="315239" y="170381"/>
                  </a:moveTo>
                  <a:lnTo>
                    <a:pt x="315239" y="188514"/>
                  </a:lnTo>
                  <a:lnTo>
                    <a:pt x="533394" y="188514"/>
                  </a:lnTo>
                  <a:lnTo>
                    <a:pt x="533394" y="170381"/>
                  </a:lnTo>
                  <a:close/>
                  <a:moveTo>
                    <a:pt x="135627" y="97874"/>
                  </a:moveTo>
                  <a:cubicBezTo>
                    <a:pt x="161894" y="97874"/>
                    <a:pt x="183188" y="119105"/>
                    <a:pt x="183188" y="145294"/>
                  </a:cubicBezTo>
                  <a:cubicBezTo>
                    <a:pt x="183188" y="171483"/>
                    <a:pt x="161894" y="192714"/>
                    <a:pt x="135627" y="192714"/>
                  </a:cubicBezTo>
                  <a:cubicBezTo>
                    <a:pt x="109360" y="192714"/>
                    <a:pt x="88066" y="171483"/>
                    <a:pt x="88066" y="145294"/>
                  </a:cubicBezTo>
                  <a:cubicBezTo>
                    <a:pt x="88066" y="119105"/>
                    <a:pt x="109360" y="97874"/>
                    <a:pt x="135627" y="97874"/>
                  </a:cubicBezTo>
                  <a:close/>
                  <a:moveTo>
                    <a:pt x="315239" y="79716"/>
                  </a:moveTo>
                  <a:lnTo>
                    <a:pt x="315239" y="97849"/>
                  </a:lnTo>
                  <a:lnTo>
                    <a:pt x="533394" y="97849"/>
                  </a:lnTo>
                  <a:lnTo>
                    <a:pt x="533394" y="79716"/>
                  </a:lnTo>
                  <a:close/>
                  <a:moveTo>
                    <a:pt x="135690" y="79602"/>
                  </a:moveTo>
                  <a:cubicBezTo>
                    <a:pt x="99369" y="79602"/>
                    <a:pt x="69901" y="109140"/>
                    <a:pt x="69901" y="145292"/>
                  </a:cubicBezTo>
                  <a:cubicBezTo>
                    <a:pt x="69901" y="181443"/>
                    <a:pt x="99369" y="210867"/>
                    <a:pt x="135690" y="210867"/>
                  </a:cubicBezTo>
                  <a:cubicBezTo>
                    <a:pt x="171897" y="210867"/>
                    <a:pt x="201365" y="181443"/>
                    <a:pt x="201365" y="145292"/>
                  </a:cubicBezTo>
                  <a:cubicBezTo>
                    <a:pt x="201365" y="109140"/>
                    <a:pt x="171897" y="79602"/>
                    <a:pt x="135690" y="79602"/>
                  </a:cubicBezTo>
                  <a:close/>
                  <a:moveTo>
                    <a:pt x="0" y="0"/>
                  </a:moveTo>
                  <a:lnTo>
                    <a:pt x="606721" y="0"/>
                  </a:lnTo>
                  <a:lnTo>
                    <a:pt x="606721" y="476246"/>
                  </a:lnTo>
                  <a:lnTo>
                    <a:pt x="0" y="476246"/>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sp>
          <p:nvSpPr>
            <p:cNvPr id="15" name="文本框1"/>
            <p:cNvSpPr txBox="1"/>
            <p:nvPr>
              <p:custDataLst>
                <p:tags r:id="rId4"/>
              </p:custDataLst>
            </p:nvPr>
          </p:nvSpPr>
          <p:spPr>
            <a:xfrm>
              <a:off x="2249640" y="3487704"/>
              <a:ext cx="1763395"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rPr>
                <a:t>氯氮平</a:t>
              </a:r>
              <a:endParaRPr kumimoji="0" lang="zh-CN" altLang="en-US" sz="2400" b="1" i="0" u="none" strike="noStrike"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endParaRPr>
            </a:p>
          </p:txBody>
        </p:sp>
        <p:sp>
          <p:nvSpPr>
            <p:cNvPr id="16" name="文本框2"/>
            <p:cNvSpPr/>
            <p:nvPr>
              <p:custDataLst>
                <p:tags r:id="rId5"/>
              </p:custDataLst>
            </p:nvPr>
          </p:nvSpPr>
          <p:spPr>
            <a:xfrm>
              <a:off x="2252815" y="3885849"/>
              <a:ext cx="4226560" cy="4324985"/>
            </a:xfrm>
            <a:prstGeom prst="rect">
              <a:avLst/>
            </a:prstGeom>
          </p:spPr>
          <p:txBody>
            <a:bodyPr wrap="square">
              <a:noAutofit/>
            </a:bodyPr>
            <a:lstStyle/>
            <a:p>
              <a:pPr>
                <a:lnSpc>
                  <a:spcPct val="150000"/>
                </a:lnSpc>
                <a:spcBef>
                  <a:spcPts val="2950"/>
                </a:spcBef>
                <a:defRPr/>
              </a:pPr>
              <a:r>
                <a:rPr lang="zh-CN" altLang="en-US" sz="240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对难治性双相障碍，特别是以烦躁激越或快速循环发作为特征的躁狂发作具有较好的疗效。</a:t>
              </a:r>
              <a:endParaRPr lang="zh-CN" altLang="en-US" sz="240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a:p>
              <a:pPr>
                <a:lnSpc>
                  <a:spcPct val="150000"/>
                </a:lnSpc>
                <a:spcBef>
                  <a:spcPts val="2950"/>
                </a:spcBef>
                <a:defRPr/>
              </a:pPr>
              <a:r>
                <a:rPr lang="zh-CN" altLang="en-US" sz="240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与传统的抗精神病药物相比，氯氮平在治疗对其他药物不敏感或不能耐受的患者时可能更有效。</a:t>
              </a:r>
              <a:endParaRPr lang="zh-CN" altLang="en-US" sz="240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grpSp>
      <p:sp>
        <p:nvSpPr>
          <p:cNvPr id="25" name="椭圆 23"/>
          <p:cNvSpPr/>
          <p:nvPr>
            <p:custDataLst>
              <p:tags r:id="rId6"/>
            </p:custDataLst>
          </p:nvPr>
        </p:nvSpPr>
        <p:spPr>
          <a:xfrm>
            <a:off x="6664775" y="3639516"/>
            <a:ext cx="319034" cy="250425"/>
          </a:xfrm>
          <a:custGeom>
            <a:avLst/>
            <a:gdLst>
              <a:gd name="connsiteX0" fmla="*/ 315239 w 606721"/>
              <a:gd name="connsiteY0" fmla="*/ 351824 h 476246"/>
              <a:gd name="connsiteX1" fmla="*/ 315239 w 606721"/>
              <a:gd name="connsiteY1" fmla="*/ 369957 h 476246"/>
              <a:gd name="connsiteX2" fmla="*/ 533394 w 606721"/>
              <a:gd name="connsiteY2" fmla="*/ 369957 h 476246"/>
              <a:gd name="connsiteX3" fmla="*/ 533394 w 606721"/>
              <a:gd name="connsiteY3" fmla="*/ 351824 h 476246"/>
              <a:gd name="connsiteX4" fmla="*/ 88066 w 606721"/>
              <a:gd name="connsiteY4" fmla="*/ 264832 h 476246"/>
              <a:gd name="connsiteX5" fmla="*/ 183188 w 606721"/>
              <a:gd name="connsiteY5" fmla="*/ 264832 h 476246"/>
              <a:gd name="connsiteX6" fmla="*/ 183188 w 606721"/>
              <a:gd name="connsiteY6" fmla="*/ 359813 h 476246"/>
              <a:gd name="connsiteX7" fmla="*/ 88066 w 606721"/>
              <a:gd name="connsiteY7" fmla="*/ 359813 h 476246"/>
              <a:gd name="connsiteX8" fmla="*/ 315239 w 606721"/>
              <a:gd name="connsiteY8" fmla="*/ 261160 h 476246"/>
              <a:gd name="connsiteX9" fmla="*/ 315239 w 606721"/>
              <a:gd name="connsiteY9" fmla="*/ 279293 h 476246"/>
              <a:gd name="connsiteX10" fmla="*/ 533394 w 606721"/>
              <a:gd name="connsiteY10" fmla="*/ 279293 h 476246"/>
              <a:gd name="connsiteX11" fmla="*/ 533394 w 606721"/>
              <a:gd name="connsiteY11" fmla="*/ 261160 h 476246"/>
              <a:gd name="connsiteX12" fmla="*/ 69901 w 606721"/>
              <a:gd name="connsiteY12" fmla="*/ 246676 h 476246"/>
              <a:gd name="connsiteX13" fmla="*/ 69901 w 606721"/>
              <a:gd name="connsiteY13" fmla="*/ 377940 h 476246"/>
              <a:gd name="connsiteX14" fmla="*/ 201365 w 606721"/>
              <a:gd name="connsiteY14" fmla="*/ 377940 h 476246"/>
              <a:gd name="connsiteX15" fmla="*/ 201365 w 606721"/>
              <a:gd name="connsiteY15" fmla="*/ 246676 h 476246"/>
              <a:gd name="connsiteX16" fmla="*/ 315239 w 606721"/>
              <a:gd name="connsiteY16" fmla="*/ 170381 h 476246"/>
              <a:gd name="connsiteX17" fmla="*/ 315239 w 606721"/>
              <a:gd name="connsiteY17" fmla="*/ 188514 h 476246"/>
              <a:gd name="connsiteX18" fmla="*/ 533394 w 606721"/>
              <a:gd name="connsiteY18" fmla="*/ 188514 h 476246"/>
              <a:gd name="connsiteX19" fmla="*/ 533394 w 606721"/>
              <a:gd name="connsiteY19" fmla="*/ 170381 h 476246"/>
              <a:gd name="connsiteX20" fmla="*/ 135627 w 606721"/>
              <a:gd name="connsiteY20" fmla="*/ 97874 h 476246"/>
              <a:gd name="connsiteX21" fmla="*/ 183188 w 606721"/>
              <a:gd name="connsiteY21" fmla="*/ 145294 h 476246"/>
              <a:gd name="connsiteX22" fmla="*/ 135627 w 606721"/>
              <a:gd name="connsiteY22" fmla="*/ 192714 h 476246"/>
              <a:gd name="connsiteX23" fmla="*/ 88066 w 606721"/>
              <a:gd name="connsiteY23" fmla="*/ 145294 h 476246"/>
              <a:gd name="connsiteX24" fmla="*/ 135627 w 606721"/>
              <a:gd name="connsiteY24" fmla="*/ 97874 h 476246"/>
              <a:gd name="connsiteX25" fmla="*/ 315239 w 606721"/>
              <a:gd name="connsiteY25" fmla="*/ 79716 h 476246"/>
              <a:gd name="connsiteX26" fmla="*/ 315239 w 606721"/>
              <a:gd name="connsiteY26" fmla="*/ 97849 h 476246"/>
              <a:gd name="connsiteX27" fmla="*/ 533394 w 606721"/>
              <a:gd name="connsiteY27" fmla="*/ 97849 h 476246"/>
              <a:gd name="connsiteX28" fmla="*/ 533394 w 606721"/>
              <a:gd name="connsiteY28" fmla="*/ 79716 h 476246"/>
              <a:gd name="connsiteX29" fmla="*/ 135690 w 606721"/>
              <a:gd name="connsiteY29" fmla="*/ 79602 h 476246"/>
              <a:gd name="connsiteX30" fmla="*/ 69901 w 606721"/>
              <a:gd name="connsiteY30" fmla="*/ 145292 h 476246"/>
              <a:gd name="connsiteX31" fmla="*/ 135690 w 606721"/>
              <a:gd name="connsiteY31" fmla="*/ 210867 h 476246"/>
              <a:gd name="connsiteX32" fmla="*/ 201365 w 606721"/>
              <a:gd name="connsiteY32" fmla="*/ 145292 h 476246"/>
              <a:gd name="connsiteX33" fmla="*/ 135690 w 606721"/>
              <a:gd name="connsiteY33" fmla="*/ 79602 h 476246"/>
              <a:gd name="connsiteX34" fmla="*/ 0 w 606721"/>
              <a:gd name="connsiteY34" fmla="*/ 0 h 476246"/>
              <a:gd name="connsiteX35" fmla="*/ 606721 w 606721"/>
              <a:gd name="connsiteY35" fmla="*/ 0 h 476246"/>
              <a:gd name="connsiteX36" fmla="*/ 606721 w 606721"/>
              <a:gd name="connsiteY36" fmla="*/ 476246 h 476246"/>
              <a:gd name="connsiteX37" fmla="*/ 0 w 606721"/>
              <a:gd name="connsiteY37" fmla="*/ 476246 h 476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6721" h="476246">
                <a:moveTo>
                  <a:pt x="315239" y="351824"/>
                </a:moveTo>
                <a:lnTo>
                  <a:pt x="315239" y="369957"/>
                </a:lnTo>
                <a:lnTo>
                  <a:pt x="533394" y="369957"/>
                </a:lnTo>
                <a:lnTo>
                  <a:pt x="533394" y="351824"/>
                </a:lnTo>
                <a:close/>
                <a:moveTo>
                  <a:pt x="88066" y="264832"/>
                </a:moveTo>
                <a:lnTo>
                  <a:pt x="183188" y="264832"/>
                </a:lnTo>
                <a:lnTo>
                  <a:pt x="183188" y="359813"/>
                </a:lnTo>
                <a:lnTo>
                  <a:pt x="88066" y="359813"/>
                </a:lnTo>
                <a:close/>
                <a:moveTo>
                  <a:pt x="315239" y="261160"/>
                </a:moveTo>
                <a:lnTo>
                  <a:pt x="315239" y="279293"/>
                </a:lnTo>
                <a:lnTo>
                  <a:pt x="533394" y="279293"/>
                </a:lnTo>
                <a:lnTo>
                  <a:pt x="533394" y="261160"/>
                </a:lnTo>
                <a:close/>
                <a:moveTo>
                  <a:pt x="69901" y="246676"/>
                </a:moveTo>
                <a:lnTo>
                  <a:pt x="69901" y="377940"/>
                </a:lnTo>
                <a:lnTo>
                  <a:pt x="201365" y="377940"/>
                </a:lnTo>
                <a:lnTo>
                  <a:pt x="201365" y="246676"/>
                </a:lnTo>
                <a:close/>
                <a:moveTo>
                  <a:pt x="315239" y="170381"/>
                </a:moveTo>
                <a:lnTo>
                  <a:pt x="315239" y="188514"/>
                </a:lnTo>
                <a:lnTo>
                  <a:pt x="533394" y="188514"/>
                </a:lnTo>
                <a:lnTo>
                  <a:pt x="533394" y="170381"/>
                </a:lnTo>
                <a:close/>
                <a:moveTo>
                  <a:pt x="135627" y="97874"/>
                </a:moveTo>
                <a:cubicBezTo>
                  <a:pt x="161894" y="97874"/>
                  <a:pt x="183188" y="119105"/>
                  <a:pt x="183188" y="145294"/>
                </a:cubicBezTo>
                <a:cubicBezTo>
                  <a:pt x="183188" y="171483"/>
                  <a:pt x="161894" y="192714"/>
                  <a:pt x="135627" y="192714"/>
                </a:cubicBezTo>
                <a:cubicBezTo>
                  <a:pt x="109360" y="192714"/>
                  <a:pt x="88066" y="171483"/>
                  <a:pt x="88066" y="145294"/>
                </a:cubicBezTo>
                <a:cubicBezTo>
                  <a:pt x="88066" y="119105"/>
                  <a:pt x="109360" y="97874"/>
                  <a:pt x="135627" y="97874"/>
                </a:cubicBezTo>
                <a:close/>
                <a:moveTo>
                  <a:pt x="315239" y="79716"/>
                </a:moveTo>
                <a:lnTo>
                  <a:pt x="315239" y="97849"/>
                </a:lnTo>
                <a:lnTo>
                  <a:pt x="533394" y="97849"/>
                </a:lnTo>
                <a:lnTo>
                  <a:pt x="533394" y="79716"/>
                </a:lnTo>
                <a:close/>
                <a:moveTo>
                  <a:pt x="135690" y="79602"/>
                </a:moveTo>
                <a:cubicBezTo>
                  <a:pt x="99369" y="79602"/>
                  <a:pt x="69901" y="109140"/>
                  <a:pt x="69901" y="145292"/>
                </a:cubicBezTo>
                <a:cubicBezTo>
                  <a:pt x="69901" y="181443"/>
                  <a:pt x="99369" y="210867"/>
                  <a:pt x="135690" y="210867"/>
                </a:cubicBezTo>
                <a:cubicBezTo>
                  <a:pt x="171897" y="210867"/>
                  <a:pt x="201365" y="181443"/>
                  <a:pt x="201365" y="145292"/>
                </a:cubicBezTo>
                <a:cubicBezTo>
                  <a:pt x="201365" y="109140"/>
                  <a:pt x="171897" y="79602"/>
                  <a:pt x="135690" y="79602"/>
                </a:cubicBezTo>
                <a:close/>
                <a:moveTo>
                  <a:pt x="0" y="0"/>
                </a:moveTo>
                <a:lnTo>
                  <a:pt x="606721" y="0"/>
                </a:lnTo>
                <a:lnTo>
                  <a:pt x="606721" y="476246"/>
                </a:lnTo>
                <a:lnTo>
                  <a:pt x="0" y="476246"/>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50800" tIns="50800" rIns="50800" bIns="50800" numCol="1" spcCol="38100" rtlCol="0" fromWordArt="0" anchor="ctr" anchorCtr="0" forceAA="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Light"/>
            </a:endParaRPr>
          </a:p>
        </p:txBody>
      </p:sp>
      <p:pic>
        <p:nvPicPr>
          <p:cNvPr id="7" name="图片 6"/>
          <p:cNvPicPr/>
          <p:nvPr/>
        </p:nvPicPr>
        <p:blipFill>
          <a:blip r:embed="rId7"/>
          <a:stretch>
            <a:fillRect/>
          </a:stretch>
        </p:blipFill>
        <p:spPr>
          <a:xfrm>
            <a:off x="5520690" y="1161415"/>
            <a:ext cx="5532755" cy="4711065"/>
          </a:xfrm>
          <a:prstGeom prst="rect">
            <a:avLst/>
          </a:prstGeom>
          <a:noFill/>
          <a:ln w="9525">
            <a:noFill/>
          </a:ln>
        </p:spPr>
      </p:pic>
      <p:grpSp>
        <p:nvGrpSpPr>
          <p:cNvPr id="9" name="组合 8"/>
          <p:cNvGrpSpPr/>
          <p:nvPr/>
        </p:nvGrpSpPr>
        <p:grpSpPr>
          <a:xfrm>
            <a:off x="334963" y="455941"/>
            <a:ext cx="4291110" cy="615022"/>
            <a:chOff x="334963" y="455941"/>
            <a:chExt cx="4291110" cy="615022"/>
          </a:xfrm>
        </p:grpSpPr>
        <p:grpSp>
          <p:nvGrpSpPr>
            <p:cNvPr id="10" name="组合 9"/>
            <p:cNvGrpSpPr/>
            <p:nvPr/>
          </p:nvGrpSpPr>
          <p:grpSpPr>
            <a:xfrm>
              <a:off x="643731" y="455941"/>
              <a:ext cx="3982342" cy="615022"/>
              <a:chOff x="643731" y="455941"/>
              <a:chExt cx="3982342" cy="615022"/>
            </a:xfrm>
          </p:grpSpPr>
          <p:sp>
            <p:nvSpPr>
              <p:cNvPr id="12" name="文本框 11"/>
              <p:cNvSpPr txBox="1"/>
              <p:nvPr>
                <p:custDataLst>
                  <p:tags r:id="rId8"/>
                </p:custDataLst>
              </p:nvPr>
            </p:nvSpPr>
            <p:spPr>
              <a:xfrm>
                <a:off x="643731" y="455941"/>
                <a:ext cx="3535680" cy="460375"/>
              </a:xfrm>
              <a:prstGeom prst="rect">
                <a:avLst/>
              </a:prstGeom>
              <a:noFill/>
            </p:spPr>
            <p:txBody>
              <a:bodyPr wrap="none" rtlCol="0">
                <a:spAutoFit/>
              </a:bodyPr>
              <a:p>
                <a:r>
                  <a:rPr lang="zh-CN" altLang="en-US" sz="2400" b="1" dirty="0">
                    <a:solidFill>
                      <a:srgbClr val="7188A8"/>
                    </a:solidFill>
                    <a:cs typeface="+mn-ea"/>
                    <a:sym typeface="+mn-lt"/>
                  </a:rPr>
                  <a:t>药物治疗：</a:t>
                </a:r>
                <a:r>
                  <a:rPr lang="zh-CN" altLang="en-US" sz="2400" b="1" dirty="0">
                    <a:solidFill>
                      <a:srgbClr val="7188A8"/>
                    </a:solidFill>
                    <a:cs typeface="+mn-ea"/>
                    <a:sym typeface="+mn-lt"/>
                  </a:rPr>
                  <a:t>抗精神病药物</a:t>
                </a:r>
                <a:endParaRPr lang="zh-CN" altLang="en-US" sz="2400" b="1" dirty="0">
                  <a:solidFill>
                    <a:srgbClr val="7188A8"/>
                  </a:solidFill>
                  <a:cs typeface="+mn-ea"/>
                  <a:sym typeface="+mn-lt"/>
                </a:endParaRPr>
              </a:p>
            </p:txBody>
          </p:sp>
          <p:sp>
            <p:nvSpPr>
              <p:cNvPr id="13" name="矩形 12"/>
              <p:cNvSpPr/>
              <p:nvPr>
                <p:custDataLst>
                  <p:tags r:id="rId9"/>
                </p:custDataLst>
              </p:nvPr>
            </p:nvSpPr>
            <p:spPr>
              <a:xfrm>
                <a:off x="657929" y="818233"/>
                <a:ext cx="3968144" cy="252730"/>
              </a:xfrm>
              <a:prstGeom prst="rect">
                <a:avLst/>
              </a:prstGeom>
            </p:spPr>
            <p:txBody>
              <a:bodyPr wrap="square">
                <a:spAutoFit/>
              </a:bodyPr>
              <a:p>
                <a:r>
                  <a:rPr lang="en-US" altLang="zh-CN" sz="1050" dirty="0">
                    <a:solidFill>
                      <a:schemeClr val="bg1">
                        <a:lumMod val="50000"/>
                      </a:schemeClr>
                    </a:solidFill>
                  </a:rPr>
                  <a:t>Drug Therapy</a:t>
                </a:r>
                <a:endParaRPr lang="en-US" altLang="zh-CN" sz="1050" dirty="0">
                  <a:solidFill>
                    <a:schemeClr val="bg1">
                      <a:lumMod val="50000"/>
                    </a:schemeClr>
                  </a:solidFill>
                </a:endParaRPr>
              </a:p>
            </p:txBody>
          </p:sp>
        </p:grpSp>
        <p:sp>
          <p:nvSpPr>
            <p:cNvPr id="14" name="矩形 13"/>
            <p:cNvSpPr/>
            <p:nvPr>
              <p:custDataLst>
                <p:tags r:id="rId10"/>
              </p:custDataLst>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4963" y="455941"/>
            <a:ext cx="4310963" cy="622007"/>
            <a:chOff x="334963" y="455941"/>
            <a:chExt cx="4310963" cy="622007"/>
          </a:xfrm>
        </p:grpSpPr>
        <p:grpSp>
          <p:nvGrpSpPr>
            <p:cNvPr id="3" name="组合 2"/>
            <p:cNvGrpSpPr/>
            <p:nvPr/>
          </p:nvGrpSpPr>
          <p:grpSpPr>
            <a:xfrm>
              <a:off x="657701" y="455941"/>
              <a:ext cx="3988225" cy="622007"/>
              <a:chOff x="657701" y="455941"/>
              <a:chExt cx="3988225" cy="622007"/>
            </a:xfrm>
          </p:grpSpPr>
          <p:sp>
            <p:nvSpPr>
              <p:cNvPr id="5" name="文本框 4"/>
              <p:cNvSpPr txBox="1"/>
              <p:nvPr/>
            </p:nvSpPr>
            <p:spPr>
              <a:xfrm>
                <a:off x="657701" y="455941"/>
                <a:ext cx="1402080" cy="460375"/>
              </a:xfrm>
              <a:prstGeom prst="rect">
                <a:avLst/>
              </a:prstGeom>
              <a:noFill/>
            </p:spPr>
            <p:txBody>
              <a:bodyPr wrap="none" rtlCol="0">
                <a:spAutoFit/>
              </a:bodyPr>
              <a:lstStyle/>
              <a:p>
                <a:pPr algn="l"/>
                <a:r>
                  <a:rPr lang="zh-CN" altLang="en-US" sz="2400" b="1" dirty="0">
                    <a:solidFill>
                      <a:srgbClr val="7188A8"/>
                    </a:solidFill>
                    <a:cs typeface="+mn-ea"/>
                    <a:sym typeface="+mn-lt"/>
                  </a:rPr>
                  <a:t>物理治疗</a:t>
                </a:r>
                <a:endParaRPr lang="zh-CN" altLang="en-US" sz="2400" b="1" dirty="0">
                  <a:solidFill>
                    <a:srgbClr val="7188A8"/>
                  </a:solidFill>
                  <a:cs typeface="+mn-ea"/>
                  <a:sym typeface="+mn-lt"/>
                </a:endParaRPr>
              </a:p>
            </p:txBody>
          </p:sp>
          <p:sp>
            <p:nvSpPr>
              <p:cNvPr id="6" name="矩形 5"/>
              <p:cNvSpPr/>
              <p:nvPr/>
            </p:nvSpPr>
            <p:spPr>
              <a:xfrm>
                <a:off x="677782" y="825218"/>
                <a:ext cx="3968144" cy="252730"/>
              </a:xfrm>
              <a:prstGeom prst="rect">
                <a:avLst/>
              </a:prstGeom>
            </p:spPr>
            <p:txBody>
              <a:bodyPr wrap="square">
                <a:spAutoFit/>
              </a:bodyPr>
              <a:lstStyle/>
              <a:p>
                <a:r>
                  <a:rPr lang="en-US" altLang="zh-CN" sz="1050" dirty="0">
                    <a:solidFill>
                      <a:schemeClr val="bg1">
                        <a:lumMod val="50000"/>
                      </a:schemeClr>
                    </a:solidFill>
                  </a:rPr>
                  <a:t>Physical </a:t>
                </a:r>
                <a:r>
                  <a:rPr lang="en-US" altLang="zh-CN" sz="1050" dirty="0">
                    <a:solidFill>
                      <a:schemeClr val="bg1">
                        <a:lumMod val="50000"/>
                      </a:schemeClr>
                    </a:solidFill>
                  </a:rPr>
                  <a:t>Therapy</a:t>
                </a:r>
                <a:endParaRPr lang="en-US" altLang="zh-CN" sz="1050" dirty="0">
                  <a:solidFill>
                    <a:schemeClr val="bg1">
                      <a:lumMod val="50000"/>
                    </a:schemeClr>
                  </a:solidFill>
                </a:endParaRPr>
              </a:p>
            </p:txBody>
          </p:sp>
        </p:grpSp>
        <p:sp>
          <p:nvSpPr>
            <p:cNvPr id="4" name="矩形 3"/>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16" name="文本框2"/>
          <p:cNvSpPr/>
          <p:nvPr>
            <p:custDataLst>
              <p:tags r:id="rId1"/>
            </p:custDataLst>
          </p:nvPr>
        </p:nvSpPr>
        <p:spPr>
          <a:xfrm>
            <a:off x="613410" y="1129030"/>
            <a:ext cx="6523990" cy="1379220"/>
          </a:xfrm>
          <a:prstGeom prst="rect">
            <a:avLst/>
          </a:prstGeom>
        </p:spPr>
        <p:txBody>
          <a:bodyPr wrap="square">
            <a:noAutofit/>
          </a:bodyPr>
          <a:lstStyle/>
          <a:p>
            <a:pPr indent="457200">
              <a:lnSpc>
                <a:spcPct val="150000"/>
              </a:lnSpc>
              <a:spcBef>
                <a:spcPts val="2950"/>
              </a:spcBef>
              <a:defRPr/>
            </a:pPr>
            <a:r>
              <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双相情感障碍的物理治疗一般包括电休克治疗（ECT）、改良电休克治疗（MECT）、经颅磁刺激治疗（rTMS）和经颅直流电刺激治疗（tDCS）。</a:t>
            </a:r>
            <a:endPar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pic>
        <p:nvPicPr>
          <p:cNvPr id="9" name="图片 8"/>
          <p:cNvPicPr>
            <a:picLocks noChangeAspect="1"/>
          </p:cNvPicPr>
          <p:nvPr/>
        </p:nvPicPr>
        <p:blipFill>
          <a:blip r:embed="rId2"/>
          <a:srcRect l="-81"/>
          <a:stretch>
            <a:fillRect/>
          </a:stretch>
        </p:blipFill>
        <p:spPr>
          <a:xfrm>
            <a:off x="1735455" y="3627755"/>
            <a:ext cx="4633595" cy="2867025"/>
          </a:xfrm>
          <a:prstGeom prst="rect">
            <a:avLst/>
          </a:prstGeom>
        </p:spPr>
      </p:pic>
      <p:pic>
        <p:nvPicPr>
          <p:cNvPr id="10" name="图片 9"/>
          <p:cNvPicPr>
            <a:picLocks noChangeAspect="1"/>
          </p:cNvPicPr>
          <p:nvPr/>
        </p:nvPicPr>
        <p:blipFill>
          <a:blip r:embed="rId3"/>
          <a:stretch>
            <a:fillRect/>
          </a:stretch>
        </p:blipFill>
        <p:spPr>
          <a:xfrm>
            <a:off x="8117840" y="189230"/>
            <a:ext cx="2946400" cy="3590290"/>
          </a:xfrm>
          <a:prstGeom prst="rect">
            <a:avLst/>
          </a:prstGeom>
        </p:spPr>
      </p:pic>
      <p:pic>
        <p:nvPicPr>
          <p:cNvPr id="12" name="图片 11"/>
          <p:cNvPicPr>
            <a:picLocks noChangeAspect="1"/>
          </p:cNvPicPr>
          <p:nvPr/>
        </p:nvPicPr>
        <p:blipFill>
          <a:blip r:embed="rId4"/>
          <a:srcRect t="1960" b="5808"/>
          <a:stretch>
            <a:fillRect/>
          </a:stretch>
        </p:blipFill>
        <p:spPr>
          <a:xfrm>
            <a:off x="8117840" y="3570605"/>
            <a:ext cx="2899410" cy="3287395"/>
          </a:xfrm>
          <a:prstGeom prst="rect">
            <a:avLst/>
          </a:prstGeom>
        </p:spPr>
      </p:pic>
      <p:sp>
        <p:nvSpPr>
          <p:cNvPr id="100" name="文本框 99"/>
          <p:cNvSpPr txBox="1"/>
          <p:nvPr/>
        </p:nvSpPr>
        <p:spPr>
          <a:xfrm>
            <a:off x="677545" y="3627755"/>
            <a:ext cx="501650" cy="2676525"/>
          </a:xfrm>
          <a:prstGeom prst="rect">
            <a:avLst/>
          </a:prstGeom>
          <a:noFill/>
          <a:ln w="9525">
            <a:noFill/>
          </a:ln>
        </p:spPr>
        <p:txBody>
          <a:bodyPr wrap="square">
            <a:spAutoFit/>
          </a:bodyPr>
          <a:p>
            <a:pPr indent="0"/>
            <a:r>
              <a:rPr lang="zh-CN" altLang="en-US" sz="240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rPr>
              <a:t>经颅电刺激系统</a:t>
            </a:r>
            <a:endParaRPr lang="zh-CN" altLang="en-US" sz="2400"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2"/>
          <p:cNvSpPr/>
          <p:nvPr>
            <p:custDataLst>
              <p:tags r:id="rId1"/>
            </p:custDataLst>
          </p:nvPr>
        </p:nvSpPr>
        <p:spPr>
          <a:xfrm>
            <a:off x="613410" y="1350645"/>
            <a:ext cx="3880485" cy="4481195"/>
          </a:xfrm>
          <a:prstGeom prst="rect">
            <a:avLst/>
          </a:prstGeom>
        </p:spPr>
        <p:txBody>
          <a:bodyPr wrap="square">
            <a:noAutofit/>
          </a:bodyPr>
          <a:lstStyle/>
          <a:p>
            <a:pPr indent="457200">
              <a:lnSpc>
                <a:spcPct val="150000"/>
              </a:lnSpc>
              <a:spcBef>
                <a:spcPts val="2950"/>
              </a:spcBef>
              <a:defRPr/>
            </a:pPr>
            <a:r>
              <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电休克治疗可能会引起病人的不适，因此现在使用的是改良电休克治疗。改良电休克治疗对于双相情感障碍里边的一些极端的问题，比如暴力攻击、自杀、病人的拒食等问题，治疗效果比较好。</a:t>
            </a:r>
            <a:endPar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pic>
        <p:nvPicPr>
          <p:cNvPr id="7" name="图片 6"/>
          <p:cNvPicPr>
            <a:picLocks noChangeAspect="1"/>
          </p:cNvPicPr>
          <p:nvPr/>
        </p:nvPicPr>
        <p:blipFill>
          <a:blip r:embed="rId2"/>
          <a:stretch>
            <a:fillRect/>
          </a:stretch>
        </p:blipFill>
        <p:spPr>
          <a:xfrm>
            <a:off x="4897120" y="1838960"/>
            <a:ext cx="5711825" cy="3056255"/>
          </a:xfrm>
          <a:prstGeom prst="rect">
            <a:avLst/>
          </a:prstGeom>
        </p:spPr>
      </p:pic>
      <p:grpSp>
        <p:nvGrpSpPr>
          <p:cNvPr id="8" name="组合 7"/>
          <p:cNvGrpSpPr/>
          <p:nvPr/>
        </p:nvGrpSpPr>
        <p:grpSpPr>
          <a:xfrm>
            <a:off x="334963" y="455941"/>
            <a:ext cx="4310963" cy="622007"/>
            <a:chOff x="334963" y="455941"/>
            <a:chExt cx="4310963" cy="622007"/>
          </a:xfrm>
        </p:grpSpPr>
        <p:grpSp>
          <p:nvGrpSpPr>
            <p:cNvPr id="9" name="组合 8"/>
            <p:cNvGrpSpPr/>
            <p:nvPr/>
          </p:nvGrpSpPr>
          <p:grpSpPr>
            <a:xfrm>
              <a:off x="657701" y="455941"/>
              <a:ext cx="3988225" cy="622007"/>
              <a:chOff x="657701" y="455941"/>
              <a:chExt cx="3988225" cy="622007"/>
            </a:xfrm>
          </p:grpSpPr>
          <p:sp>
            <p:nvSpPr>
              <p:cNvPr id="10" name="文本框 9"/>
              <p:cNvSpPr txBox="1"/>
              <p:nvPr>
                <p:custDataLst>
                  <p:tags r:id="rId3"/>
                </p:custDataLst>
              </p:nvPr>
            </p:nvSpPr>
            <p:spPr>
              <a:xfrm>
                <a:off x="657701" y="455941"/>
                <a:ext cx="1402080" cy="460375"/>
              </a:xfrm>
              <a:prstGeom prst="rect">
                <a:avLst/>
              </a:prstGeom>
              <a:noFill/>
            </p:spPr>
            <p:txBody>
              <a:bodyPr wrap="none" rtlCol="0">
                <a:spAutoFit/>
              </a:bodyPr>
              <a:p>
                <a:pPr algn="l"/>
                <a:r>
                  <a:rPr lang="zh-CN" altLang="en-US" sz="2400" b="1" dirty="0">
                    <a:solidFill>
                      <a:srgbClr val="7188A8"/>
                    </a:solidFill>
                    <a:cs typeface="+mn-ea"/>
                    <a:sym typeface="+mn-lt"/>
                  </a:rPr>
                  <a:t>物理治疗</a:t>
                </a:r>
                <a:endParaRPr lang="zh-CN" altLang="en-US" sz="2400" b="1" dirty="0">
                  <a:solidFill>
                    <a:srgbClr val="7188A8"/>
                  </a:solidFill>
                  <a:cs typeface="+mn-ea"/>
                  <a:sym typeface="+mn-lt"/>
                </a:endParaRPr>
              </a:p>
            </p:txBody>
          </p:sp>
          <p:sp>
            <p:nvSpPr>
              <p:cNvPr id="11" name="矩形 10"/>
              <p:cNvSpPr/>
              <p:nvPr>
                <p:custDataLst>
                  <p:tags r:id="rId4"/>
                </p:custDataLst>
              </p:nvPr>
            </p:nvSpPr>
            <p:spPr>
              <a:xfrm>
                <a:off x="677782" y="825218"/>
                <a:ext cx="3968144" cy="252730"/>
              </a:xfrm>
              <a:prstGeom prst="rect">
                <a:avLst/>
              </a:prstGeom>
            </p:spPr>
            <p:txBody>
              <a:bodyPr wrap="square">
                <a:spAutoFit/>
              </a:bodyPr>
              <a:p>
                <a:r>
                  <a:rPr lang="en-US" altLang="zh-CN" sz="1050" dirty="0">
                    <a:solidFill>
                      <a:schemeClr val="bg1">
                        <a:lumMod val="50000"/>
                      </a:schemeClr>
                    </a:solidFill>
                  </a:rPr>
                  <a:t>Physical </a:t>
                </a:r>
                <a:r>
                  <a:rPr lang="en-US" altLang="zh-CN" sz="1050" dirty="0">
                    <a:solidFill>
                      <a:schemeClr val="bg1">
                        <a:lumMod val="50000"/>
                      </a:schemeClr>
                    </a:solidFill>
                  </a:rPr>
                  <a:t>Therapy</a:t>
                </a:r>
                <a:endParaRPr lang="en-US" altLang="zh-CN" sz="1050" dirty="0">
                  <a:solidFill>
                    <a:schemeClr val="bg1">
                      <a:lumMod val="50000"/>
                    </a:schemeClr>
                  </a:solidFill>
                </a:endParaRPr>
              </a:p>
            </p:txBody>
          </p:sp>
        </p:grpSp>
        <p:sp>
          <p:nvSpPr>
            <p:cNvPr id="12" name="矩形 11"/>
            <p:cNvSpPr/>
            <p:nvPr>
              <p:custDataLst>
                <p:tags r:id="rId5"/>
              </p:custDataLst>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2"/>
          <p:cNvSpPr/>
          <p:nvPr>
            <p:custDataLst>
              <p:tags r:id="rId1"/>
            </p:custDataLst>
          </p:nvPr>
        </p:nvSpPr>
        <p:spPr>
          <a:xfrm>
            <a:off x="677545" y="1357630"/>
            <a:ext cx="6523990" cy="1379220"/>
          </a:xfrm>
          <a:prstGeom prst="rect">
            <a:avLst/>
          </a:prstGeom>
        </p:spPr>
        <p:txBody>
          <a:bodyPr wrap="square">
            <a:noAutofit/>
          </a:bodyPr>
          <a:lstStyle/>
          <a:p>
            <a:pPr indent="457200" fontAlgn="auto">
              <a:lnSpc>
                <a:spcPct val="150000"/>
              </a:lnSpc>
              <a:spcBef>
                <a:spcPts val="1100"/>
              </a:spcBef>
              <a:defRPr/>
            </a:pPr>
            <a:r>
              <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经颅磁刺激在治疗双相障碍时，最常刺激的部位为左侧背外侧前额叶皮层，该部位与认知和情绪有很大的关系。而双相障碍主要是认知和情绪受到一定的影响。</a:t>
            </a:r>
            <a:endPar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a:p>
            <a:pPr lvl="1" fontAlgn="auto">
              <a:lnSpc>
                <a:spcPct val="110000"/>
              </a:lnSpc>
              <a:spcBef>
                <a:spcPts val="1100"/>
              </a:spcBef>
              <a:defRPr/>
            </a:pPr>
            <a:r>
              <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①可以延长神经元的去极化</a:t>
            </a:r>
            <a:endPar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a:p>
            <a:pPr lvl="1" fontAlgn="auto">
              <a:lnSpc>
                <a:spcPct val="110000"/>
              </a:lnSpc>
              <a:spcBef>
                <a:spcPts val="1100"/>
              </a:spcBef>
              <a:defRPr/>
            </a:pPr>
            <a:r>
              <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②可以增加脑源性神经营养因子</a:t>
            </a:r>
            <a:endPar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a:p>
            <a:pPr lvl="1" fontAlgn="auto">
              <a:lnSpc>
                <a:spcPct val="110000"/>
              </a:lnSpc>
              <a:spcBef>
                <a:spcPts val="1100"/>
              </a:spcBef>
              <a:defRPr/>
            </a:pPr>
            <a:r>
              <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③也可以改变大脑皮层的兴奋性，且长期治疗后可以增强突触的可塑性。</a:t>
            </a:r>
            <a:endPar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pic>
        <p:nvPicPr>
          <p:cNvPr id="1155396903"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1535" y="1753870"/>
            <a:ext cx="4735830" cy="3660140"/>
          </a:xfrm>
          <a:prstGeom prst="rect">
            <a:avLst/>
          </a:prstGeom>
        </p:spPr>
      </p:pic>
      <p:grpSp>
        <p:nvGrpSpPr>
          <p:cNvPr id="7" name="组合 6"/>
          <p:cNvGrpSpPr/>
          <p:nvPr/>
        </p:nvGrpSpPr>
        <p:grpSpPr>
          <a:xfrm>
            <a:off x="334963" y="455941"/>
            <a:ext cx="4310963" cy="622007"/>
            <a:chOff x="334963" y="455941"/>
            <a:chExt cx="4310963" cy="622007"/>
          </a:xfrm>
        </p:grpSpPr>
        <p:grpSp>
          <p:nvGrpSpPr>
            <p:cNvPr id="8" name="组合 7"/>
            <p:cNvGrpSpPr/>
            <p:nvPr/>
          </p:nvGrpSpPr>
          <p:grpSpPr>
            <a:xfrm>
              <a:off x="657701" y="455941"/>
              <a:ext cx="3988225" cy="622007"/>
              <a:chOff x="657701" y="455941"/>
              <a:chExt cx="3988225" cy="622007"/>
            </a:xfrm>
          </p:grpSpPr>
          <p:sp>
            <p:nvSpPr>
              <p:cNvPr id="9" name="文本框 8"/>
              <p:cNvSpPr txBox="1"/>
              <p:nvPr>
                <p:custDataLst>
                  <p:tags r:id="rId3"/>
                </p:custDataLst>
              </p:nvPr>
            </p:nvSpPr>
            <p:spPr>
              <a:xfrm>
                <a:off x="657701" y="455941"/>
                <a:ext cx="1402080" cy="460375"/>
              </a:xfrm>
              <a:prstGeom prst="rect">
                <a:avLst/>
              </a:prstGeom>
              <a:noFill/>
            </p:spPr>
            <p:txBody>
              <a:bodyPr wrap="none" rtlCol="0">
                <a:spAutoFit/>
              </a:bodyPr>
              <a:lstStyle/>
              <a:p>
                <a:pPr algn="l"/>
                <a:r>
                  <a:rPr lang="zh-CN" altLang="en-US" sz="2400" b="1" dirty="0">
                    <a:solidFill>
                      <a:srgbClr val="7188A8"/>
                    </a:solidFill>
                    <a:cs typeface="+mn-ea"/>
                    <a:sym typeface="+mn-lt"/>
                  </a:rPr>
                  <a:t>物理治疗</a:t>
                </a:r>
                <a:endParaRPr lang="zh-CN" altLang="en-US" sz="2400" b="1" dirty="0">
                  <a:solidFill>
                    <a:srgbClr val="7188A8"/>
                  </a:solidFill>
                  <a:cs typeface="+mn-ea"/>
                  <a:sym typeface="+mn-lt"/>
                </a:endParaRPr>
              </a:p>
            </p:txBody>
          </p:sp>
          <p:sp>
            <p:nvSpPr>
              <p:cNvPr id="10" name="矩形 9"/>
              <p:cNvSpPr/>
              <p:nvPr>
                <p:custDataLst>
                  <p:tags r:id="rId4"/>
                </p:custDataLst>
              </p:nvPr>
            </p:nvSpPr>
            <p:spPr>
              <a:xfrm>
                <a:off x="677782" y="825218"/>
                <a:ext cx="3968144" cy="252730"/>
              </a:xfrm>
              <a:prstGeom prst="rect">
                <a:avLst/>
              </a:prstGeom>
            </p:spPr>
            <p:txBody>
              <a:bodyPr wrap="square">
                <a:spAutoFit/>
              </a:bodyPr>
              <a:lstStyle/>
              <a:p>
                <a:r>
                  <a:rPr lang="en-US" altLang="zh-CN" sz="1050" dirty="0">
                    <a:solidFill>
                      <a:schemeClr val="bg1">
                        <a:lumMod val="50000"/>
                      </a:schemeClr>
                    </a:solidFill>
                  </a:rPr>
                  <a:t>Physical </a:t>
                </a:r>
                <a:r>
                  <a:rPr lang="en-US" altLang="zh-CN" sz="1050" dirty="0">
                    <a:solidFill>
                      <a:schemeClr val="bg1">
                        <a:lumMod val="50000"/>
                      </a:schemeClr>
                    </a:solidFill>
                  </a:rPr>
                  <a:t>Therapy</a:t>
                </a:r>
                <a:endParaRPr lang="en-US" altLang="zh-CN" sz="1050" dirty="0">
                  <a:solidFill>
                    <a:schemeClr val="bg1">
                      <a:lumMod val="50000"/>
                    </a:schemeClr>
                  </a:solidFill>
                </a:endParaRPr>
              </a:p>
            </p:txBody>
          </p:sp>
        </p:grpSp>
        <p:sp>
          <p:nvSpPr>
            <p:cNvPr id="11" name="矩形 10"/>
            <p:cNvSpPr/>
            <p:nvPr>
              <p:custDataLst>
                <p:tags r:id="rId5"/>
              </p:custDataLst>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2"/>
          <p:cNvSpPr/>
          <p:nvPr>
            <p:custDataLst>
              <p:tags r:id="rId1"/>
            </p:custDataLst>
          </p:nvPr>
        </p:nvSpPr>
        <p:spPr>
          <a:xfrm>
            <a:off x="677545" y="1213485"/>
            <a:ext cx="4076700" cy="3968750"/>
          </a:xfrm>
          <a:prstGeom prst="rect">
            <a:avLst/>
          </a:prstGeom>
        </p:spPr>
        <p:txBody>
          <a:bodyPr wrap="square">
            <a:noAutofit/>
          </a:bodyPr>
          <a:lstStyle/>
          <a:p>
            <a:pPr indent="457200">
              <a:lnSpc>
                <a:spcPct val="150000"/>
              </a:lnSpc>
              <a:spcBef>
                <a:spcPts val="2950"/>
              </a:spcBef>
              <a:defRPr/>
            </a:pPr>
            <a:r>
              <a:rPr lang="zh-CN" altLang="en-US" sz="2400" b="1" dirty="0">
                <a:solidFill>
                  <a:srgbClr val="7488A8"/>
                </a:solidFill>
                <a:uFillTx/>
                <a:latin typeface="黑体" panose="02010609060101010101" charset="-122"/>
                <a:ea typeface="黑体" panose="02010609060101010101" charset="-122"/>
                <a:cs typeface="黑体" panose="02010609060101010101" charset="-122"/>
                <a:sym typeface="+mn-lt"/>
              </a:rPr>
              <a:t>经颅直流电刺激</a:t>
            </a:r>
            <a:r>
              <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是一种非侵入性的，利用恒定、低强度直流电（1-2mA）调节大脑皮层神经元活动的技术。</a:t>
            </a:r>
            <a:r>
              <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经颅直流电刺激</a:t>
            </a:r>
            <a:r>
              <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由</a:t>
            </a:r>
            <a:r>
              <a:rPr lang="zh-CN" altLang="en-US" sz="2400" b="1" dirty="0">
                <a:solidFill>
                  <a:srgbClr val="7488A8"/>
                </a:solidFill>
                <a:uFillTx/>
                <a:latin typeface="黑体" panose="02010609060101010101" charset="-122"/>
                <a:ea typeface="黑体" panose="02010609060101010101" charset="-122"/>
                <a:cs typeface="黑体" panose="02010609060101010101" charset="-122"/>
                <a:sym typeface="+mn-lt"/>
              </a:rPr>
              <a:t>两个电极</a:t>
            </a:r>
            <a:r>
              <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输出，影响</a:t>
            </a:r>
            <a:r>
              <a:rPr lang="zh-CN" altLang="en-US" sz="2400" b="1" dirty="0">
                <a:solidFill>
                  <a:srgbClr val="7488A8"/>
                </a:solidFill>
                <a:uFillTx/>
                <a:latin typeface="黑体" panose="02010609060101010101" charset="-122"/>
                <a:ea typeface="黑体" panose="02010609060101010101" charset="-122"/>
                <a:cs typeface="黑体" panose="02010609060101010101" charset="-122"/>
                <a:sym typeface="+mn-lt"/>
              </a:rPr>
              <a:t>静息膜电位</a:t>
            </a:r>
            <a:r>
              <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rPr>
              <a:t>，为阈下刺激。一个为阳极，提升皮质兴奋性；一个为阴极，降低皮质兴奋性。</a:t>
            </a:r>
            <a:endParaRPr lang="zh-CN" altLang="en-US" sz="2400" b="1" noProof="0" dirty="0">
              <a:ln>
                <a:noFill/>
              </a:ln>
              <a:solidFill>
                <a:srgbClr val="7F7F7F"/>
              </a:solidFill>
              <a:effectLst/>
              <a:uLnTx/>
              <a:uFillTx/>
              <a:latin typeface="思源黑体 CN Regular" panose="020B0500000000000000" pitchFamily="34" charset="-122"/>
              <a:ea typeface="思源黑体 CN Regular" panose="020B0500000000000000" pitchFamily="34" charset="-122"/>
              <a:cs typeface="+mn-ea"/>
              <a:sym typeface="+mn-lt"/>
            </a:endParaRPr>
          </a:p>
        </p:txBody>
      </p:sp>
      <p:pic>
        <p:nvPicPr>
          <p:cNvPr id="7" name="图片 6"/>
          <p:cNvPicPr>
            <a:picLocks noChangeAspect="1"/>
          </p:cNvPicPr>
          <p:nvPr/>
        </p:nvPicPr>
        <p:blipFill>
          <a:blip r:embed="rId2"/>
          <a:stretch>
            <a:fillRect/>
          </a:stretch>
        </p:blipFill>
        <p:spPr>
          <a:xfrm>
            <a:off x="5396865" y="804545"/>
            <a:ext cx="6061710" cy="5429250"/>
          </a:xfrm>
          <a:prstGeom prst="rect">
            <a:avLst/>
          </a:prstGeom>
        </p:spPr>
      </p:pic>
      <p:grpSp>
        <p:nvGrpSpPr>
          <p:cNvPr id="8" name="组合 7"/>
          <p:cNvGrpSpPr/>
          <p:nvPr/>
        </p:nvGrpSpPr>
        <p:grpSpPr>
          <a:xfrm>
            <a:off x="334963" y="455941"/>
            <a:ext cx="4310963" cy="622007"/>
            <a:chOff x="334963" y="455941"/>
            <a:chExt cx="4310963" cy="622007"/>
          </a:xfrm>
        </p:grpSpPr>
        <p:grpSp>
          <p:nvGrpSpPr>
            <p:cNvPr id="9" name="组合 8"/>
            <p:cNvGrpSpPr/>
            <p:nvPr/>
          </p:nvGrpSpPr>
          <p:grpSpPr>
            <a:xfrm>
              <a:off x="657701" y="455941"/>
              <a:ext cx="3988225" cy="622007"/>
              <a:chOff x="657701" y="455941"/>
              <a:chExt cx="3988225" cy="622007"/>
            </a:xfrm>
          </p:grpSpPr>
          <p:sp>
            <p:nvSpPr>
              <p:cNvPr id="10" name="文本框 9"/>
              <p:cNvSpPr txBox="1"/>
              <p:nvPr>
                <p:custDataLst>
                  <p:tags r:id="rId3"/>
                </p:custDataLst>
              </p:nvPr>
            </p:nvSpPr>
            <p:spPr>
              <a:xfrm>
                <a:off x="657701" y="455941"/>
                <a:ext cx="1402080" cy="460375"/>
              </a:xfrm>
              <a:prstGeom prst="rect">
                <a:avLst/>
              </a:prstGeom>
              <a:noFill/>
            </p:spPr>
            <p:txBody>
              <a:bodyPr wrap="none" rtlCol="0">
                <a:spAutoFit/>
              </a:bodyPr>
              <a:lstStyle/>
              <a:p>
                <a:pPr algn="l"/>
                <a:r>
                  <a:rPr lang="zh-CN" altLang="en-US" sz="2400" b="1" dirty="0">
                    <a:solidFill>
                      <a:srgbClr val="7188A8"/>
                    </a:solidFill>
                    <a:cs typeface="+mn-ea"/>
                    <a:sym typeface="+mn-lt"/>
                  </a:rPr>
                  <a:t>物理治疗</a:t>
                </a:r>
                <a:endParaRPr lang="zh-CN" altLang="en-US" sz="2400" b="1" dirty="0">
                  <a:solidFill>
                    <a:srgbClr val="7188A8"/>
                  </a:solidFill>
                  <a:cs typeface="+mn-ea"/>
                  <a:sym typeface="+mn-lt"/>
                </a:endParaRPr>
              </a:p>
            </p:txBody>
          </p:sp>
          <p:sp>
            <p:nvSpPr>
              <p:cNvPr id="11" name="矩形 10"/>
              <p:cNvSpPr/>
              <p:nvPr>
                <p:custDataLst>
                  <p:tags r:id="rId4"/>
                </p:custDataLst>
              </p:nvPr>
            </p:nvSpPr>
            <p:spPr>
              <a:xfrm>
                <a:off x="677782" y="825218"/>
                <a:ext cx="3968144" cy="252730"/>
              </a:xfrm>
              <a:prstGeom prst="rect">
                <a:avLst/>
              </a:prstGeom>
            </p:spPr>
            <p:txBody>
              <a:bodyPr wrap="square">
                <a:spAutoFit/>
              </a:bodyPr>
              <a:lstStyle/>
              <a:p>
                <a:r>
                  <a:rPr lang="en-US" altLang="zh-CN" sz="1050" dirty="0">
                    <a:solidFill>
                      <a:schemeClr val="bg1">
                        <a:lumMod val="50000"/>
                      </a:schemeClr>
                    </a:solidFill>
                  </a:rPr>
                  <a:t>Physical </a:t>
                </a:r>
                <a:r>
                  <a:rPr lang="en-US" altLang="zh-CN" sz="1050" dirty="0">
                    <a:solidFill>
                      <a:schemeClr val="bg1">
                        <a:lumMod val="50000"/>
                      </a:schemeClr>
                    </a:solidFill>
                  </a:rPr>
                  <a:t>Therapy</a:t>
                </a:r>
                <a:endParaRPr lang="en-US" altLang="zh-CN" sz="1050" dirty="0">
                  <a:solidFill>
                    <a:schemeClr val="bg1">
                      <a:lumMod val="50000"/>
                    </a:schemeClr>
                  </a:solidFill>
                </a:endParaRPr>
              </a:p>
            </p:txBody>
          </p:sp>
        </p:grpSp>
        <p:sp>
          <p:nvSpPr>
            <p:cNvPr id="12" name="矩形 11"/>
            <p:cNvSpPr/>
            <p:nvPr>
              <p:custDataLst>
                <p:tags r:id="rId5"/>
              </p:custDataLst>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4963" y="455941"/>
            <a:ext cx="4256657" cy="658837"/>
            <a:chOff x="334963" y="455941"/>
            <a:chExt cx="4256657" cy="658837"/>
          </a:xfrm>
        </p:grpSpPr>
        <p:grpSp>
          <p:nvGrpSpPr>
            <p:cNvPr id="3" name="组合 2"/>
            <p:cNvGrpSpPr/>
            <p:nvPr/>
          </p:nvGrpSpPr>
          <p:grpSpPr>
            <a:xfrm>
              <a:off x="613251" y="455941"/>
              <a:ext cx="3978369" cy="658837"/>
              <a:chOff x="613251" y="455941"/>
              <a:chExt cx="3978369" cy="658837"/>
            </a:xfrm>
          </p:grpSpPr>
          <p:sp>
            <p:nvSpPr>
              <p:cNvPr id="5" name="文本框 4"/>
              <p:cNvSpPr txBox="1"/>
              <p:nvPr/>
            </p:nvSpPr>
            <p:spPr>
              <a:xfrm>
                <a:off x="613251" y="455941"/>
                <a:ext cx="1402080" cy="460375"/>
              </a:xfrm>
              <a:prstGeom prst="rect">
                <a:avLst/>
              </a:prstGeom>
              <a:noFill/>
            </p:spPr>
            <p:txBody>
              <a:bodyPr wrap="none" rtlCol="0">
                <a:spAutoFit/>
              </a:bodyPr>
              <a:lstStyle/>
              <a:p>
                <a:r>
                  <a:rPr lang="zh-CN" altLang="en-US" sz="2400" b="1" dirty="0">
                    <a:solidFill>
                      <a:srgbClr val="7188A8"/>
                    </a:solidFill>
                    <a:cs typeface="+mn-ea"/>
                    <a:sym typeface="+mn-lt"/>
                  </a:rPr>
                  <a:t>心理治疗</a:t>
                </a:r>
                <a:endParaRPr lang="zh-CN" altLang="en-US" sz="2400" b="1" dirty="0">
                  <a:solidFill>
                    <a:srgbClr val="7188A8"/>
                  </a:solidFill>
                  <a:cs typeface="+mn-ea"/>
                  <a:sym typeface="+mn-lt"/>
                </a:endParaRPr>
              </a:p>
            </p:txBody>
          </p:sp>
          <p:sp>
            <p:nvSpPr>
              <p:cNvPr id="6" name="矩形 5"/>
              <p:cNvSpPr/>
              <p:nvPr/>
            </p:nvSpPr>
            <p:spPr>
              <a:xfrm>
                <a:off x="623476" y="862048"/>
                <a:ext cx="3968144" cy="252730"/>
              </a:xfrm>
              <a:prstGeom prst="rect">
                <a:avLst/>
              </a:prstGeom>
            </p:spPr>
            <p:txBody>
              <a:bodyPr wrap="square">
                <a:spAutoFit/>
              </a:bodyPr>
              <a:lstStyle/>
              <a:p>
                <a:r>
                  <a:rPr lang="en-US" altLang="zh-CN" sz="1050" dirty="0">
                    <a:solidFill>
                      <a:schemeClr val="bg1">
                        <a:lumMod val="50000"/>
                      </a:schemeClr>
                    </a:solidFill>
                  </a:rPr>
                  <a:t>psychotherapy</a:t>
                </a:r>
                <a:endParaRPr lang="en-US" altLang="zh-CN" sz="1050" dirty="0">
                  <a:solidFill>
                    <a:schemeClr val="bg1">
                      <a:lumMod val="50000"/>
                    </a:schemeClr>
                  </a:solidFill>
                </a:endParaRPr>
              </a:p>
            </p:txBody>
          </p:sp>
        </p:grpSp>
        <p:sp>
          <p:nvSpPr>
            <p:cNvPr id="4" name="矩形 3"/>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7" name="矩形 6"/>
          <p:cNvSpPr/>
          <p:nvPr/>
        </p:nvSpPr>
        <p:spPr>
          <a:xfrm>
            <a:off x="334645" y="1232535"/>
            <a:ext cx="11522075" cy="5351145"/>
          </a:xfrm>
          <a:prstGeom prst="rect">
            <a:avLst/>
          </a:prstGeom>
          <a:solidFill>
            <a:srgbClr val="7188A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sp>
        <p:nvSpPr>
          <p:cNvPr id="14" name="文本框2"/>
          <p:cNvSpPr/>
          <p:nvPr/>
        </p:nvSpPr>
        <p:spPr>
          <a:xfrm>
            <a:off x="576580" y="1232535"/>
            <a:ext cx="10784840" cy="4535805"/>
          </a:xfrm>
          <a:prstGeom prst="rect">
            <a:avLst/>
          </a:prstGeom>
        </p:spPr>
        <p:txBody>
          <a:bodyPr wrap="square">
            <a:noAutofit/>
          </a:bodyPr>
          <a:lstStyle/>
          <a:p>
            <a:pPr indent="457200" fontAlgn="auto">
              <a:lnSpc>
                <a:spcPct val="140000"/>
              </a:lnSpc>
              <a:spcBef>
                <a:spcPts val="1100"/>
              </a:spcBef>
              <a:defRPr/>
            </a:pPr>
            <a:r>
              <a:rPr kumimoji="0" lang="zh-CN" altLang="en-US" sz="2400"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rPr>
              <a:t>事实上，对于双相情感障碍的治疗，“药物+心理”治疗的模式通常会起到最好的治疗效果。</a:t>
            </a:r>
            <a:endParaRPr kumimoji="0" lang="zh-CN" altLang="en-US" sz="2400"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endParaRPr>
          </a:p>
          <a:p>
            <a:pPr lvl="1" fontAlgn="auto">
              <a:lnSpc>
                <a:spcPct val="140000"/>
              </a:lnSpc>
              <a:spcBef>
                <a:spcPts val="1100"/>
              </a:spcBef>
              <a:defRPr/>
            </a:pPr>
            <a:r>
              <a:rPr kumimoji="0" lang="zh-CN" altLang="en-US" sz="2400"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rPr>
              <a:t>（1）心理健康教育：研究已经表明，心理健康教育能够有效管理长期双相情感障碍的症状。通常推荐作为一线治疗，尤其是当你第一次被诊断时。</a:t>
            </a:r>
            <a:endParaRPr kumimoji="0" lang="zh-CN" altLang="en-US" sz="2400"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endParaRPr>
          </a:p>
          <a:p>
            <a:pPr lvl="1" fontAlgn="auto">
              <a:lnSpc>
                <a:spcPct val="140000"/>
              </a:lnSpc>
              <a:spcBef>
                <a:spcPts val="1100"/>
              </a:spcBef>
              <a:defRPr/>
            </a:pPr>
            <a:r>
              <a:rPr kumimoji="0" lang="zh-CN" altLang="en-US" sz="2400"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rPr>
              <a:t>（</a:t>
            </a:r>
            <a:r>
              <a:rPr kumimoji="0" lang="en-US" altLang="zh-CN" sz="2400"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rPr>
              <a:t>2</a:t>
            </a:r>
            <a:r>
              <a:rPr kumimoji="0" lang="zh-CN" altLang="en-US" sz="2400"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rPr>
              <a:t>）以家庭为中心的治疗</a:t>
            </a:r>
            <a:endParaRPr kumimoji="0" lang="zh-CN" altLang="en-US" sz="2400"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endParaRPr>
          </a:p>
          <a:p>
            <a:pPr lvl="1" fontAlgn="auto">
              <a:lnSpc>
                <a:spcPct val="140000"/>
              </a:lnSpc>
              <a:spcBef>
                <a:spcPts val="1100"/>
              </a:spcBef>
              <a:defRPr/>
            </a:pPr>
            <a:r>
              <a:rPr kumimoji="0" lang="zh-CN" altLang="en-US" sz="2400"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rPr>
              <a:t>（</a:t>
            </a:r>
            <a:r>
              <a:rPr kumimoji="0" lang="en-US" altLang="zh-CN" sz="2400"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rPr>
              <a:t>3</a:t>
            </a:r>
            <a:r>
              <a:rPr kumimoji="0" lang="zh-CN" altLang="en-US" sz="2400"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rPr>
              <a:t>）人际关系和社会节律疗法</a:t>
            </a:r>
            <a:endParaRPr kumimoji="0" lang="zh-CN" altLang="en-US" sz="2400"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endParaRPr>
          </a:p>
          <a:p>
            <a:pPr lvl="1" fontAlgn="auto">
              <a:lnSpc>
                <a:spcPct val="140000"/>
              </a:lnSpc>
              <a:spcBef>
                <a:spcPts val="1100"/>
              </a:spcBef>
              <a:defRPr/>
            </a:pPr>
            <a:r>
              <a:rPr kumimoji="0" lang="zh-CN" altLang="en-US" sz="2400"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rPr>
              <a:t>（</a:t>
            </a:r>
            <a:r>
              <a:rPr kumimoji="0" lang="en-US" altLang="zh-CN" sz="2400"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rPr>
              <a:t>4</a:t>
            </a:r>
            <a:r>
              <a:rPr kumimoji="0" lang="zh-CN" altLang="en-US" sz="2400"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rPr>
              <a:t>）辩证行为治疗法（DBT）：如果患者遇到严重的抑郁发作，或产生自杀的念头，DBT可以特别有用。DBT可以帮助你：管理强大的情绪、管理情绪症状、增加情绪弹性、减少情绪反应。</a:t>
            </a:r>
            <a:endParaRPr kumimoji="0" lang="zh-CN" altLang="en-US" sz="2400" b="0" i="0" u="none" strike="noStrike" cap="none" spc="0" normalizeH="0" baseline="0" dirty="0">
              <a:solidFill>
                <a:schemeClr val="bg1"/>
              </a:solidFill>
              <a:latin typeface="思源黑体 CN Regular" panose="020B0500000000000000" pitchFamily="34" charset="-122"/>
              <a:ea typeface="思源黑体 CN Regular" panose="020B0500000000000000"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4963" y="486219"/>
            <a:ext cx="1680368" cy="541682"/>
            <a:chOff x="334963" y="486219"/>
            <a:chExt cx="1680368" cy="541682"/>
          </a:xfrm>
        </p:grpSpPr>
        <p:sp>
          <p:nvSpPr>
            <p:cNvPr id="5" name="文本框 4"/>
            <p:cNvSpPr txBox="1"/>
            <p:nvPr/>
          </p:nvSpPr>
          <p:spPr>
            <a:xfrm>
              <a:off x="613251" y="514361"/>
              <a:ext cx="1402080" cy="460375"/>
            </a:xfrm>
            <a:prstGeom prst="rect">
              <a:avLst/>
            </a:prstGeom>
            <a:noFill/>
          </p:spPr>
          <p:txBody>
            <a:bodyPr wrap="none" rtlCol="0">
              <a:spAutoFit/>
            </a:bodyPr>
            <a:lstStyle/>
            <a:p>
              <a:r>
                <a:rPr lang="zh-CN" altLang="en-US" sz="2400" b="1" dirty="0">
                  <a:solidFill>
                    <a:srgbClr val="7188A8"/>
                  </a:solidFill>
                  <a:cs typeface="+mn-ea"/>
                  <a:sym typeface="+mn-lt"/>
                </a:rPr>
                <a:t>课后问题</a:t>
              </a:r>
              <a:endParaRPr lang="zh-CN" altLang="en-US" sz="2400" b="1" dirty="0">
                <a:solidFill>
                  <a:srgbClr val="7188A8"/>
                </a:solidFill>
                <a:cs typeface="+mn-ea"/>
                <a:sym typeface="+mn-lt"/>
              </a:endParaRPr>
            </a:p>
          </p:txBody>
        </p:sp>
        <p:sp>
          <p:nvSpPr>
            <p:cNvPr id="4" name="矩形 3"/>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7" name="椭圆 6"/>
          <p:cNvSpPr/>
          <p:nvPr>
            <p:custDataLst>
              <p:tags r:id="rId1"/>
            </p:custDataLst>
          </p:nvPr>
        </p:nvSpPr>
        <p:spPr>
          <a:xfrm>
            <a:off x="6184408" y="2040188"/>
            <a:ext cx="484300" cy="484300"/>
          </a:xfrm>
          <a:prstGeom prst="ellipse">
            <a:avLst/>
          </a:prstGeom>
          <a:solidFill>
            <a:srgbClr val="F5E0D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椭圆 9"/>
          <p:cNvSpPr/>
          <p:nvPr>
            <p:custDataLst>
              <p:tags r:id="rId2"/>
            </p:custDataLst>
          </p:nvPr>
        </p:nvSpPr>
        <p:spPr>
          <a:xfrm>
            <a:off x="597596" y="2040188"/>
            <a:ext cx="484300" cy="484300"/>
          </a:xfrm>
          <a:prstGeom prst="ellipse">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 name="椭圆 23"/>
          <p:cNvSpPr/>
          <p:nvPr>
            <p:custDataLst>
              <p:tags r:id="rId3"/>
            </p:custDataLst>
          </p:nvPr>
        </p:nvSpPr>
        <p:spPr>
          <a:xfrm>
            <a:off x="726140" y="2169367"/>
            <a:ext cx="227211" cy="227211"/>
          </a:xfrm>
          <a:custGeom>
            <a:avLst/>
            <a:gdLst>
              <a:gd name="T0" fmla="*/ 196 w 260"/>
              <a:gd name="T1" fmla="*/ 164 h 260"/>
              <a:gd name="T2" fmla="*/ 150 w 260"/>
              <a:gd name="T3" fmla="*/ 118 h 260"/>
              <a:gd name="T4" fmla="*/ 260 w 260"/>
              <a:gd name="T5" fmla="*/ 36 h 260"/>
              <a:gd name="T6" fmla="*/ 228 w 260"/>
              <a:gd name="T7" fmla="*/ 4 h 260"/>
              <a:gd name="T8" fmla="*/ 91 w 260"/>
              <a:gd name="T9" fmla="*/ 59 h 260"/>
              <a:gd name="T10" fmla="*/ 48 w 260"/>
              <a:gd name="T11" fmla="*/ 16 h 260"/>
              <a:gd name="T12" fmla="*/ 9 w 260"/>
              <a:gd name="T13" fmla="*/ 9 h 260"/>
              <a:gd name="T14" fmla="*/ 16 w 260"/>
              <a:gd name="T15" fmla="*/ 48 h 260"/>
              <a:gd name="T16" fmla="*/ 59 w 260"/>
              <a:gd name="T17" fmla="*/ 91 h 260"/>
              <a:gd name="T18" fmla="*/ 4 w 260"/>
              <a:gd name="T19" fmla="*/ 228 h 260"/>
              <a:gd name="T20" fmla="*/ 36 w 260"/>
              <a:gd name="T21" fmla="*/ 260 h 260"/>
              <a:gd name="T22" fmla="*/ 118 w 260"/>
              <a:gd name="T23" fmla="*/ 150 h 260"/>
              <a:gd name="T24" fmla="*/ 164 w 260"/>
              <a:gd name="T25" fmla="*/ 196 h 260"/>
              <a:gd name="T26" fmla="*/ 164 w 260"/>
              <a:gd name="T27" fmla="*/ 260 h 260"/>
              <a:gd name="T28" fmla="*/ 196 w 260"/>
              <a:gd name="T29" fmla="*/ 260 h 260"/>
              <a:gd name="T30" fmla="*/ 212 w 260"/>
              <a:gd name="T31" fmla="*/ 212 h 260"/>
              <a:gd name="T32" fmla="*/ 260 w 260"/>
              <a:gd name="T33" fmla="*/ 196 h 260"/>
              <a:gd name="T34" fmla="*/ 260 w 260"/>
              <a:gd name="T35" fmla="*/ 164 h 260"/>
              <a:gd name="T36" fmla="*/ 196 w 260"/>
              <a:gd name="T37" fmla="*/ 164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0" h="260">
                <a:moveTo>
                  <a:pt x="196" y="164"/>
                </a:moveTo>
                <a:cubicBezTo>
                  <a:pt x="150" y="118"/>
                  <a:pt x="150" y="118"/>
                  <a:pt x="150" y="118"/>
                </a:cubicBezTo>
                <a:cubicBezTo>
                  <a:pt x="260" y="36"/>
                  <a:pt x="260" y="36"/>
                  <a:pt x="260" y="36"/>
                </a:cubicBezTo>
                <a:cubicBezTo>
                  <a:pt x="228" y="4"/>
                  <a:pt x="228" y="4"/>
                  <a:pt x="228" y="4"/>
                </a:cubicBezTo>
                <a:cubicBezTo>
                  <a:pt x="91" y="59"/>
                  <a:pt x="91" y="59"/>
                  <a:pt x="91" y="59"/>
                </a:cubicBezTo>
                <a:cubicBezTo>
                  <a:pt x="48" y="16"/>
                  <a:pt x="48" y="16"/>
                  <a:pt x="48" y="16"/>
                </a:cubicBezTo>
                <a:cubicBezTo>
                  <a:pt x="35" y="3"/>
                  <a:pt x="18" y="0"/>
                  <a:pt x="9" y="9"/>
                </a:cubicBezTo>
                <a:cubicBezTo>
                  <a:pt x="0" y="18"/>
                  <a:pt x="3" y="35"/>
                  <a:pt x="16" y="48"/>
                </a:cubicBezTo>
                <a:cubicBezTo>
                  <a:pt x="59" y="91"/>
                  <a:pt x="59" y="91"/>
                  <a:pt x="59" y="91"/>
                </a:cubicBezTo>
                <a:cubicBezTo>
                  <a:pt x="4" y="228"/>
                  <a:pt x="4" y="228"/>
                  <a:pt x="4" y="228"/>
                </a:cubicBezTo>
                <a:cubicBezTo>
                  <a:pt x="36" y="260"/>
                  <a:pt x="36" y="260"/>
                  <a:pt x="36" y="260"/>
                </a:cubicBezTo>
                <a:cubicBezTo>
                  <a:pt x="118" y="150"/>
                  <a:pt x="118" y="150"/>
                  <a:pt x="118" y="150"/>
                </a:cubicBezTo>
                <a:cubicBezTo>
                  <a:pt x="164" y="196"/>
                  <a:pt x="164" y="196"/>
                  <a:pt x="164" y="196"/>
                </a:cubicBezTo>
                <a:cubicBezTo>
                  <a:pt x="164" y="260"/>
                  <a:pt x="164" y="260"/>
                  <a:pt x="164" y="260"/>
                </a:cubicBezTo>
                <a:cubicBezTo>
                  <a:pt x="196" y="260"/>
                  <a:pt x="196" y="260"/>
                  <a:pt x="196" y="260"/>
                </a:cubicBezTo>
                <a:cubicBezTo>
                  <a:pt x="212" y="212"/>
                  <a:pt x="212" y="212"/>
                  <a:pt x="212" y="212"/>
                </a:cubicBezTo>
                <a:cubicBezTo>
                  <a:pt x="260" y="196"/>
                  <a:pt x="260" y="196"/>
                  <a:pt x="260" y="196"/>
                </a:cubicBezTo>
                <a:cubicBezTo>
                  <a:pt x="260" y="164"/>
                  <a:pt x="260" y="164"/>
                  <a:pt x="260" y="164"/>
                </a:cubicBezTo>
                <a:lnTo>
                  <a:pt x="196" y="16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4" name="椭圆 13"/>
          <p:cNvSpPr/>
          <p:nvPr>
            <p:custDataLst>
              <p:tags r:id="rId4"/>
            </p:custDataLst>
          </p:nvPr>
        </p:nvSpPr>
        <p:spPr>
          <a:xfrm>
            <a:off x="6312317" y="2169367"/>
            <a:ext cx="227211" cy="227211"/>
          </a:xfrm>
          <a:custGeom>
            <a:avLst/>
            <a:gdLst>
              <a:gd name="T0" fmla="*/ 181 w 252"/>
              <a:gd name="T1" fmla="*/ 126 h 252"/>
              <a:gd name="T2" fmla="*/ 236 w 252"/>
              <a:gd name="T3" fmla="*/ 71 h 252"/>
              <a:gd name="T4" fmla="*/ 236 w 252"/>
              <a:gd name="T5" fmla="*/ 16 h 252"/>
              <a:gd name="T6" fmla="*/ 181 w 252"/>
              <a:gd name="T7" fmla="*/ 16 h 252"/>
              <a:gd name="T8" fmla="*/ 126 w 252"/>
              <a:gd name="T9" fmla="*/ 71 h 252"/>
              <a:gd name="T10" fmla="*/ 71 w 252"/>
              <a:gd name="T11" fmla="*/ 16 h 252"/>
              <a:gd name="T12" fmla="*/ 16 w 252"/>
              <a:gd name="T13" fmla="*/ 16 h 252"/>
              <a:gd name="T14" fmla="*/ 16 w 252"/>
              <a:gd name="T15" fmla="*/ 71 h 252"/>
              <a:gd name="T16" fmla="*/ 71 w 252"/>
              <a:gd name="T17" fmla="*/ 126 h 252"/>
              <a:gd name="T18" fmla="*/ 16 w 252"/>
              <a:gd name="T19" fmla="*/ 181 h 252"/>
              <a:gd name="T20" fmla="*/ 16 w 252"/>
              <a:gd name="T21" fmla="*/ 237 h 252"/>
              <a:gd name="T22" fmla="*/ 71 w 252"/>
              <a:gd name="T23" fmla="*/ 237 h 252"/>
              <a:gd name="T24" fmla="*/ 126 w 252"/>
              <a:gd name="T25" fmla="*/ 181 h 252"/>
              <a:gd name="T26" fmla="*/ 181 w 252"/>
              <a:gd name="T27" fmla="*/ 237 h 252"/>
              <a:gd name="T28" fmla="*/ 236 w 252"/>
              <a:gd name="T29" fmla="*/ 237 h 252"/>
              <a:gd name="T30" fmla="*/ 236 w 252"/>
              <a:gd name="T31" fmla="*/ 181 h 252"/>
              <a:gd name="T32" fmla="*/ 181 w 252"/>
              <a:gd name="T33" fmla="*/ 12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2" h="252">
                <a:moveTo>
                  <a:pt x="181" y="126"/>
                </a:moveTo>
                <a:cubicBezTo>
                  <a:pt x="236" y="71"/>
                  <a:pt x="236" y="71"/>
                  <a:pt x="236" y="71"/>
                </a:cubicBezTo>
                <a:cubicBezTo>
                  <a:pt x="252" y="56"/>
                  <a:pt x="252" y="31"/>
                  <a:pt x="236" y="16"/>
                </a:cubicBezTo>
                <a:cubicBezTo>
                  <a:pt x="221" y="0"/>
                  <a:pt x="196" y="0"/>
                  <a:pt x="181" y="16"/>
                </a:cubicBezTo>
                <a:cubicBezTo>
                  <a:pt x="126" y="71"/>
                  <a:pt x="126" y="71"/>
                  <a:pt x="126" y="71"/>
                </a:cubicBezTo>
                <a:cubicBezTo>
                  <a:pt x="71" y="16"/>
                  <a:pt x="71" y="16"/>
                  <a:pt x="71" y="16"/>
                </a:cubicBezTo>
                <a:cubicBezTo>
                  <a:pt x="56" y="0"/>
                  <a:pt x="31" y="0"/>
                  <a:pt x="16" y="16"/>
                </a:cubicBezTo>
                <a:cubicBezTo>
                  <a:pt x="0" y="31"/>
                  <a:pt x="0" y="56"/>
                  <a:pt x="16" y="71"/>
                </a:cubicBezTo>
                <a:cubicBezTo>
                  <a:pt x="71" y="126"/>
                  <a:pt x="71" y="126"/>
                  <a:pt x="71" y="126"/>
                </a:cubicBezTo>
                <a:cubicBezTo>
                  <a:pt x="16" y="181"/>
                  <a:pt x="16" y="181"/>
                  <a:pt x="16" y="181"/>
                </a:cubicBezTo>
                <a:cubicBezTo>
                  <a:pt x="0" y="197"/>
                  <a:pt x="0" y="221"/>
                  <a:pt x="16" y="237"/>
                </a:cubicBezTo>
                <a:cubicBezTo>
                  <a:pt x="31" y="252"/>
                  <a:pt x="56" y="252"/>
                  <a:pt x="71" y="237"/>
                </a:cubicBezTo>
                <a:cubicBezTo>
                  <a:pt x="126" y="181"/>
                  <a:pt x="126" y="181"/>
                  <a:pt x="126" y="181"/>
                </a:cubicBezTo>
                <a:cubicBezTo>
                  <a:pt x="181" y="237"/>
                  <a:pt x="181" y="237"/>
                  <a:pt x="181" y="237"/>
                </a:cubicBezTo>
                <a:cubicBezTo>
                  <a:pt x="196" y="252"/>
                  <a:pt x="221" y="252"/>
                  <a:pt x="236" y="237"/>
                </a:cubicBezTo>
                <a:cubicBezTo>
                  <a:pt x="252" y="221"/>
                  <a:pt x="252" y="197"/>
                  <a:pt x="236" y="181"/>
                </a:cubicBezTo>
                <a:lnTo>
                  <a:pt x="181" y="12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文本框1"/>
          <p:cNvSpPr txBox="1"/>
          <p:nvPr>
            <p:custDataLst>
              <p:tags r:id="rId5"/>
            </p:custDataLst>
          </p:nvPr>
        </p:nvSpPr>
        <p:spPr>
          <a:xfrm>
            <a:off x="1082040" y="2106930"/>
            <a:ext cx="4582160" cy="2963545"/>
          </a:xfrm>
          <a:prstGeom prst="rect">
            <a:avLst/>
          </a:prstGeom>
          <a:noFill/>
        </p:spPr>
        <p:txBody>
          <a:bodyPr wrap="square" rtlCol="0">
            <a:noAutofit/>
          </a:bodyPr>
          <a:lstStyle/>
          <a:p>
            <a:pPr marR="0" indent="0" algn="r" defTabSz="914400" fontAlgn="auto">
              <a:lnSpc>
                <a:spcPct val="100000"/>
              </a:lnSpc>
              <a:spcBef>
                <a:spcPts val="0"/>
              </a:spcBef>
              <a:spcAft>
                <a:spcPts val="0"/>
              </a:spcAft>
              <a:buClrTx/>
              <a:buSzTx/>
              <a:buFontTx/>
              <a:buNone/>
              <a:defRPr/>
            </a:pPr>
            <a:r>
              <a:rPr kumimoji="0" lang="zh-CN" altLang="en-US"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rPr>
              <a:t>以下哪个脑功能区与</a:t>
            </a:r>
            <a:r>
              <a:rPr kumimoji="0" lang="en-US" altLang="zh-CN"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rPr>
              <a:t>“</a:t>
            </a:r>
            <a:r>
              <a:rPr kumimoji="0" lang="zh-CN" altLang="en-US"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rPr>
              <a:t>注意和控制</a:t>
            </a:r>
            <a:r>
              <a:rPr kumimoji="0" lang="en-US" altLang="zh-CN"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rPr>
              <a:t>”</a:t>
            </a:r>
            <a:r>
              <a:rPr kumimoji="0" lang="zh-CN" altLang="en-US"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rPr>
              <a:t>有关？</a:t>
            </a:r>
            <a:endParaRPr kumimoji="0" lang="zh-CN" altLang="en-US"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endParaRPr>
          </a:p>
          <a:p>
            <a:pPr marR="0" indent="0" algn="r" defTabSz="914400" fontAlgn="auto">
              <a:lnSpc>
                <a:spcPct val="100000"/>
              </a:lnSpc>
              <a:spcBef>
                <a:spcPts val="0"/>
              </a:spcBef>
              <a:spcAft>
                <a:spcPts val="0"/>
              </a:spcAft>
              <a:buClrTx/>
              <a:buSzTx/>
              <a:buFontTx/>
              <a:buNone/>
              <a:defRPr/>
            </a:pPr>
            <a:endParaRPr kumimoji="0" lang="zh-CN" altLang="en-US"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endParaRPr>
          </a:p>
          <a:p>
            <a:pPr marR="0" indent="0" defTabSz="914400" fontAlgn="auto">
              <a:lnSpc>
                <a:spcPct val="100000"/>
              </a:lnSpc>
              <a:spcBef>
                <a:spcPts val="0"/>
              </a:spcBef>
              <a:spcAft>
                <a:spcPts val="0"/>
              </a:spcAft>
              <a:buClrTx/>
              <a:buSzTx/>
              <a:buFontTx/>
              <a:buNone/>
              <a:defRPr/>
            </a:pPr>
            <a:r>
              <a:rPr kumimoji="0" lang="zh-CN" altLang="en-US"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rPr>
              <a:t>A.枕叶</a:t>
            </a:r>
            <a:endParaRPr kumimoji="0" lang="zh-CN" altLang="en-US"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endParaRPr>
          </a:p>
          <a:p>
            <a:pPr marR="0" indent="0" defTabSz="914400" fontAlgn="auto">
              <a:lnSpc>
                <a:spcPct val="100000"/>
              </a:lnSpc>
              <a:spcBef>
                <a:spcPts val="0"/>
              </a:spcBef>
              <a:spcAft>
                <a:spcPts val="0"/>
              </a:spcAft>
              <a:buClrTx/>
              <a:buSzTx/>
              <a:buFontTx/>
              <a:buNone/>
              <a:defRPr/>
            </a:pPr>
            <a:endParaRPr kumimoji="0" lang="zh-CN" altLang="en-US"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endParaRPr>
          </a:p>
          <a:p>
            <a:pPr marR="0" indent="0" defTabSz="914400" fontAlgn="auto">
              <a:lnSpc>
                <a:spcPct val="100000"/>
              </a:lnSpc>
              <a:spcBef>
                <a:spcPts val="0"/>
              </a:spcBef>
              <a:spcAft>
                <a:spcPts val="0"/>
              </a:spcAft>
              <a:buClrTx/>
              <a:buSzTx/>
              <a:buFontTx/>
              <a:buNone/>
              <a:defRPr/>
            </a:pPr>
            <a:r>
              <a:rPr kumimoji="0" lang="zh-CN" altLang="en-US"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rPr>
              <a:t>B.前额叶皮质</a:t>
            </a:r>
            <a:endParaRPr kumimoji="0" lang="zh-CN" altLang="en-US"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endParaRPr>
          </a:p>
          <a:p>
            <a:pPr marR="0" indent="0" defTabSz="914400" fontAlgn="auto">
              <a:lnSpc>
                <a:spcPct val="100000"/>
              </a:lnSpc>
              <a:spcBef>
                <a:spcPts val="0"/>
              </a:spcBef>
              <a:spcAft>
                <a:spcPts val="0"/>
              </a:spcAft>
              <a:buClrTx/>
              <a:buSzTx/>
              <a:buFontTx/>
              <a:buNone/>
              <a:defRPr/>
            </a:pPr>
            <a:endParaRPr kumimoji="0" lang="zh-CN" altLang="en-US"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endParaRPr>
          </a:p>
          <a:p>
            <a:pPr marR="0" indent="0" defTabSz="914400" fontAlgn="auto">
              <a:lnSpc>
                <a:spcPct val="100000"/>
              </a:lnSpc>
              <a:spcBef>
                <a:spcPts val="0"/>
              </a:spcBef>
              <a:spcAft>
                <a:spcPts val="0"/>
              </a:spcAft>
              <a:buClrTx/>
              <a:buSzTx/>
              <a:buFontTx/>
              <a:buNone/>
              <a:defRPr/>
            </a:pPr>
            <a:r>
              <a:rPr kumimoji="0" lang="zh-CN" altLang="en-US"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rPr>
              <a:t>C.海马体</a:t>
            </a:r>
            <a:endParaRPr kumimoji="0" lang="zh-CN" altLang="en-US"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endParaRPr>
          </a:p>
          <a:p>
            <a:pPr marR="0" indent="0" defTabSz="914400" fontAlgn="auto">
              <a:lnSpc>
                <a:spcPct val="100000"/>
              </a:lnSpc>
              <a:spcBef>
                <a:spcPts val="0"/>
              </a:spcBef>
              <a:spcAft>
                <a:spcPts val="0"/>
              </a:spcAft>
              <a:buClrTx/>
              <a:buSzTx/>
              <a:buFontTx/>
              <a:buNone/>
              <a:defRPr/>
            </a:pPr>
            <a:endParaRPr kumimoji="0" lang="zh-CN" altLang="en-US"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endParaRPr>
          </a:p>
          <a:p>
            <a:pPr marR="0" indent="0" defTabSz="914400" fontAlgn="auto">
              <a:lnSpc>
                <a:spcPct val="100000"/>
              </a:lnSpc>
              <a:spcBef>
                <a:spcPts val="0"/>
              </a:spcBef>
              <a:spcAft>
                <a:spcPts val="0"/>
              </a:spcAft>
              <a:buClrTx/>
              <a:buSzTx/>
              <a:buFontTx/>
              <a:buNone/>
              <a:defRPr/>
            </a:pPr>
            <a:r>
              <a:rPr kumimoji="0" lang="zh-CN" altLang="en-US"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rPr>
              <a:t>D.脑干</a:t>
            </a:r>
            <a:endParaRPr kumimoji="0" lang="zh-CN" altLang="en-US" b="1" i="0" kern="1200" cap="none" spc="0" normalizeH="0" baseline="0" noProof="0" dirty="0">
              <a:solidFill>
                <a:srgbClr val="7188A8"/>
              </a:solidFill>
              <a:latin typeface="思源黑体 CN Bold" panose="020B0800000000000000" pitchFamily="34" charset="-122"/>
              <a:ea typeface="思源黑体 CN Bold" panose="020B0800000000000000" pitchFamily="34" charset="-122"/>
              <a:cs typeface="+mn-cs"/>
            </a:endParaRPr>
          </a:p>
        </p:txBody>
      </p:sp>
      <p:sp>
        <p:nvSpPr>
          <p:cNvPr id="101" name="文本框 100"/>
          <p:cNvSpPr txBox="1"/>
          <p:nvPr/>
        </p:nvSpPr>
        <p:spPr>
          <a:xfrm>
            <a:off x="6725285" y="2106930"/>
            <a:ext cx="4877435" cy="3467735"/>
          </a:xfrm>
          <a:prstGeom prst="rect">
            <a:avLst/>
          </a:prstGeom>
          <a:noFill/>
          <a:ln w="9525">
            <a:noFill/>
          </a:ln>
        </p:spPr>
        <p:txBody>
          <a:bodyPr wrap="square">
            <a:noAutofit/>
          </a:bodyPr>
          <a:p>
            <a:pPr indent="0"/>
            <a:r>
              <a:rPr lang="zh-CN" altLang="en-US" b="1" noProof="0" dirty="0">
                <a:solidFill>
                  <a:srgbClr val="7188A8"/>
                </a:solidFill>
                <a:latin typeface="思源黑体 CN Bold" panose="020B0800000000000000" pitchFamily="34" charset="-122"/>
                <a:ea typeface="思源黑体 CN Bold" panose="020B0800000000000000" pitchFamily="34" charset="-122"/>
              </a:rPr>
              <a:t>双</a:t>
            </a:r>
            <a:r>
              <a:rPr lang="zh-CN" altLang="en-US" b="1" noProof="0" dirty="0">
                <a:solidFill>
                  <a:srgbClr val="7188A8"/>
                </a:solidFill>
                <a:latin typeface="思源黑体 CN Bold" panose="020B0800000000000000" pitchFamily="34" charset="-122"/>
                <a:ea typeface="思源黑体 CN Bold" panose="020B0800000000000000" pitchFamily="34" charset="-122"/>
              </a:rPr>
              <a:t>相情感障碍的“双相”体现在什么地方？</a:t>
            </a:r>
            <a:endParaRPr lang="zh-CN" altLang="en-US" b="1" noProof="0" dirty="0">
              <a:solidFill>
                <a:srgbClr val="7188A8"/>
              </a:solidFill>
              <a:latin typeface="思源黑体 CN Bold" panose="020B0800000000000000" pitchFamily="34" charset="-122"/>
              <a:ea typeface="思源黑体 CN Bold" panose="020B0800000000000000" pitchFamily="34" charset="-122"/>
            </a:endParaRPr>
          </a:p>
          <a:p>
            <a:pPr indent="0"/>
            <a:endParaRPr lang="en-US" altLang="zh-CN" b="1" noProof="0" dirty="0">
              <a:solidFill>
                <a:srgbClr val="7188A8"/>
              </a:solidFill>
              <a:latin typeface="思源黑体 CN Bold" panose="020B0800000000000000" pitchFamily="34" charset="-122"/>
              <a:ea typeface="思源黑体 CN Bold" panose="020B0800000000000000" pitchFamily="34" charset="-122"/>
            </a:endParaRPr>
          </a:p>
          <a:p>
            <a:pPr indent="0"/>
            <a:r>
              <a:rPr lang="en-US" altLang="zh-CN" b="1" noProof="0" dirty="0">
                <a:solidFill>
                  <a:srgbClr val="7188A8"/>
                </a:solidFill>
                <a:latin typeface="思源黑体 CN Bold" panose="020B0800000000000000" pitchFamily="34" charset="-122"/>
                <a:ea typeface="思源黑体 CN Bold" panose="020B0800000000000000" pitchFamily="34" charset="-122"/>
              </a:rPr>
              <a:t>A.</a:t>
            </a:r>
            <a:r>
              <a:rPr lang="zh-CN" altLang="en-US" b="1" noProof="0" dirty="0">
                <a:solidFill>
                  <a:srgbClr val="7188A8"/>
                </a:solidFill>
                <a:latin typeface="思源黑体 CN Bold" panose="020B0800000000000000" pitchFamily="34" charset="-122"/>
                <a:ea typeface="思源黑体 CN Bold" panose="020B0800000000000000" pitchFamily="34" charset="-122"/>
              </a:rPr>
              <a:t>是</a:t>
            </a:r>
            <a:r>
              <a:rPr lang="zh-CN" altLang="en-US" b="1" noProof="0" dirty="0">
                <a:solidFill>
                  <a:srgbClr val="7188A8"/>
                </a:solidFill>
                <a:latin typeface="思源黑体 CN Bold" panose="020B0800000000000000" pitchFamily="34" charset="-122"/>
                <a:ea typeface="思源黑体 CN Bold" panose="020B0800000000000000" pitchFamily="34" charset="-122"/>
              </a:rPr>
              <a:t>互相的</a:t>
            </a:r>
            <a:endParaRPr lang="zh-CN" altLang="en-US" b="1" noProof="0" dirty="0">
              <a:solidFill>
                <a:srgbClr val="7188A8"/>
              </a:solidFill>
              <a:latin typeface="思源黑体 CN Bold" panose="020B0800000000000000" pitchFamily="34" charset="-122"/>
              <a:ea typeface="思源黑体 CN Bold" panose="020B0800000000000000" pitchFamily="34" charset="-122"/>
            </a:endParaRPr>
          </a:p>
          <a:p>
            <a:pPr indent="0"/>
            <a:endParaRPr lang="zh-CN" altLang="en-US" b="1" noProof="0" dirty="0">
              <a:solidFill>
                <a:srgbClr val="7188A8"/>
              </a:solidFill>
              <a:latin typeface="思源黑体 CN Bold" panose="020B0800000000000000" pitchFamily="34" charset="-122"/>
              <a:ea typeface="思源黑体 CN Bold" panose="020B0800000000000000" pitchFamily="34" charset="-122"/>
            </a:endParaRPr>
          </a:p>
          <a:p>
            <a:pPr indent="0"/>
            <a:r>
              <a:rPr lang="en-US" altLang="zh-CN" b="1" noProof="0" dirty="0">
                <a:solidFill>
                  <a:srgbClr val="7188A8"/>
                </a:solidFill>
                <a:latin typeface="思源黑体 CN Bold" panose="020B0800000000000000" pitchFamily="34" charset="-122"/>
                <a:ea typeface="思源黑体 CN Bold" panose="020B0800000000000000" pitchFamily="34" charset="-122"/>
              </a:rPr>
              <a:t>B.</a:t>
            </a:r>
            <a:r>
              <a:rPr lang="zh-CN" altLang="en-US" b="1" noProof="0" dirty="0">
                <a:solidFill>
                  <a:srgbClr val="7188A8"/>
                </a:solidFill>
                <a:latin typeface="思源黑体 CN Bold" panose="020B0800000000000000" pitchFamily="34" charset="-122"/>
                <a:ea typeface="思源黑体 CN Bold" panose="020B0800000000000000" pitchFamily="34" charset="-122"/>
              </a:rPr>
              <a:t>存在抑郁期</a:t>
            </a:r>
            <a:endParaRPr lang="en-US" altLang="zh-CN" b="1" noProof="0" dirty="0">
              <a:solidFill>
                <a:srgbClr val="7188A8"/>
              </a:solidFill>
              <a:latin typeface="思源黑体 CN Bold" panose="020B0800000000000000" pitchFamily="34" charset="-122"/>
              <a:ea typeface="思源黑体 CN Bold" panose="020B0800000000000000" pitchFamily="34" charset="-122"/>
            </a:endParaRPr>
          </a:p>
          <a:p>
            <a:pPr indent="0"/>
            <a:endParaRPr lang="zh-CN" altLang="en-US" b="1" noProof="0" dirty="0">
              <a:solidFill>
                <a:srgbClr val="7188A8"/>
              </a:solidFill>
              <a:latin typeface="思源黑体 CN Bold" panose="020B0800000000000000" pitchFamily="34" charset="-122"/>
              <a:ea typeface="思源黑体 CN Bold" panose="020B0800000000000000" pitchFamily="34" charset="-122"/>
            </a:endParaRPr>
          </a:p>
          <a:p>
            <a:pPr indent="0"/>
            <a:r>
              <a:rPr lang="en-US" altLang="zh-CN" b="1" noProof="0" dirty="0">
                <a:solidFill>
                  <a:srgbClr val="7188A8"/>
                </a:solidFill>
                <a:latin typeface="思源黑体 CN Bold" panose="020B0800000000000000" pitchFamily="34" charset="-122"/>
                <a:ea typeface="思源黑体 CN Bold" panose="020B0800000000000000" pitchFamily="34" charset="-122"/>
              </a:rPr>
              <a:t>C.</a:t>
            </a:r>
            <a:r>
              <a:rPr lang="zh-CN" altLang="en-US" b="1" noProof="0" dirty="0">
                <a:solidFill>
                  <a:srgbClr val="7188A8"/>
                </a:solidFill>
                <a:latin typeface="思源黑体 CN Bold" panose="020B0800000000000000" pitchFamily="34" charset="-122"/>
                <a:ea typeface="思源黑体 CN Bold" panose="020B0800000000000000" pitchFamily="34" charset="-122"/>
              </a:rPr>
              <a:t>既存在抑郁期又存在狂躁期</a:t>
            </a:r>
            <a:endParaRPr lang="en-US" altLang="zh-CN" b="1" noProof="0" dirty="0">
              <a:solidFill>
                <a:srgbClr val="7188A8"/>
              </a:solidFill>
              <a:latin typeface="思源黑体 CN Bold" panose="020B0800000000000000" pitchFamily="34" charset="-122"/>
              <a:ea typeface="思源黑体 CN Bold" panose="020B0800000000000000" pitchFamily="34" charset="-122"/>
            </a:endParaRPr>
          </a:p>
          <a:p>
            <a:pPr indent="0"/>
            <a:endParaRPr lang="en-US" altLang="zh-CN" b="1" noProof="0" dirty="0">
              <a:solidFill>
                <a:srgbClr val="7188A8"/>
              </a:solidFill>
              <a:latin typeface="思源黑体 CN Bold" panose="020B0800000000000000" pitchFamily="34" charset="-122"/>
              <a:ea typeface="思源黑体 CN Bold" panose="020B0800000000000000" pitchFamily="34" charset="-122"/>
            </a:endParaRPr>
          </a:p>
          <a:p>
            <a:pPr indent="0"/>
            <a:r>
              <a:rPr lang="en-US" altLang="zh-CN" b="1" noProof="0" dirty="0">
                <a:solidFill>
                  <a:srgbClr val="7188A8"/>
                </a:solidFill>
                <a:latin typeface="思源黑体 CN Bold" panose="020B0800000000000000" pitchFamily="34" charset="-122"/>
                <a:ea typeface="思源黑体 CN Bold" panose="020B0800000000000000" pitchFamily="34" charset="-122"/>
              </a:rPr>
              <a:t>D.</a:t>
            </a:r>
            <a:r>
              <a:rPr lang="zh-CN" altLang="en-US" b="1" noProof="0" dirty="0">
                <a:solidFill>
                  <a:srgbClr val="7188A8"/>
                </a:solidFill>
                <a:latin typeface="思源黑体 CN Bold" panose="020B0800000000000000" pitchFamily="34" charset="-122"/>
                <a:ea typeface="思源黑体 CN Bold" panose="020B0800000000000000" pitchFamily="34" charset="-122"/>
              </a:rPr>
              <a:t>存在</a:t>
            </a:r>
            <a:r>
              <a:rPr lang="zh-CN" altLang="en-US" b="1" noProof="0" dirty="0">
                <a:solidFill>
                  <a:srgbClr val="7188A8"/>
                </a:solidFill>
                <a:latin typeface="思源黑体 CN Bold" panose="020B0800000000000000" pitchFamily="34" charset="-122"/>
                <a:ea typeface="思源黑体 CN Bold" panose="020B0800000000000000" pitchFamily="34" charset="-122"/>
              </a:rPr>
              <a:t>狂躁期</a:t>
            </a:r>
            <a:endParaRPr lang="zh-CN" altLang="en-US" b="1" noProof="0" dirty="0">
              <a:solidFill>
                <a:srgbClr val="7188A8"/>
              </a:solidFill>
              <a:latin typeface="思源黑体 CN Bold" panose="020B0800000000000000" pitchFamily="34" charset="-122"/>
              <a:ea typeface="思源黑体 CN Bold" panose="020B08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4963" y="465466"/>
            <a:ext cx="4277224" cy="622007"/>
            <a:chOff x="334963" y="465466"/>
            <a:chExt cx="4277224" cy="622007"/>
          </a:xfrm>
        </p:grpSpPr>
        <p:grpSp>
          <p:nvGrpSpPr>
            <p:cNvPr id="3" name="组合 2"/>
            <p:cNvGrpSpPr/>
            <p:nvPr/>
          </p:nvGrpSpPr>
          <p:grpSpPr>
            <a:xfrm>
              <a:off x="636746" y="465466"/>
              <a:ext cx="3975441" cy="622007"/>
              <a:chOff x="636746" y="465466"/>
              <a:chExt cx="3975441" cy="622007"/>
            </a:xfrm>
          </p:grpSpPr>
          <p:sp>
            <p:nvSpPr>
              <p:cNvPr id="5" name="文本框 4"/>
              <p:cNvSpPr txBox="1"/>
              <p:nvPr/>
            </p:nvSpPr>
            <p:spPr>
              <a:xfrm>
                <a:off x="636746" y="465466"/>
                <a:ext cx="1402080" cy="460375"/>
              </a:xfrm>
              <a:prstGeom prst="rect">
                <a:avLst/>
              </a:prstGeom>
              <a:noFill/>
            </p:spPr>
            <p:txBody>
              <a:bodyPr wrap="none" rtlCol="0">
                <a:spAutoFit/>
              </a:bodyPr>
              <a:lstStyle/>
              <a:p>
                <a:r>
                  <a:rPr lang="zh-CN" altLang="en-US" sz="2400" b="1" dirty="0">
                    <a:solidFill>
                      <a:srgbClr val="7188A8"/>
                    </a:solidFill>
                    <a:cs typeface="+mn-ea"/>
                    <a:sym typeface="+mn-lt"/>
                  </a:rPr>
                  <a:t>参考文献</a:t>
                </a:r>
                <a:endParaRPr lang="zh-CN" altLang="en-US" sz="2400" b="1" dirty="0">
                  <a:solidFill>
                    <a:srgbClr val="7188A8"/>
                  </a:solidFill>
                  <a:cs typeface="+mn-ea"/>
                  <a:sym typeface="+mn-lt"/>
                </a:endParaRPr>
              </a:p>
            </p:txBody>
          </p:sp>
          <p:sp>
            <p:nvSpPr>
              <p:cNvPr id="6" name="矩形 5"/>
              <p:cNvSpPr/>
              <p:nvPr/>
            </p:nvSpPr>
            <p:spPr>
              <a:xfrm>
                <a:off x="644043" y="834743"/>
                <a:ext cx="3968144" cy="252730"/>
              </a:xfrm>
              <a:prstGeom prst="rect">
                <a:avLst/>
              </a:prstGeom>
            </p:spPr>
            <p:txBody>
              <a:bodyPr wrap="square">
                <a:spAutoFit/>
              </a:bodyPr>
              <a:lstStyle/>
              <a:p>
                <a:r>
                  <a:rPr lang="en-US" altLang="zh-CN" sz="1050" dirty="0">
                    <a:solidFill>
                      <a:schemeClr val="bg1">
                        <a:lumMod val="50000"/>
                      </a:schemeClr>
                    </a:solidFill>
                  </a:rPr>
                  <a:t>Reference</a:t>
                </a:r>
                <a:endParaRPr lang="en-US" altLang="zh-CN" sz="1050" dirty="0">
                  <a:solidFill>
                    <a:schemeClr val="bg1">
                      <a:lumMod val="50000"/>
                    </a:schemeClr>
                  </a:solidFill>
                </a:endParaRPr>
              </a:p>
            </p:txBody>
          </p:sp>
        </p:grpSp>
        <p:sp>
          <p:nvSpPr>
            <p:cNvPr id="4" name="矩形 3"/>
            <p:cNvSpPr/>
            <p:nvPr/>
          </p:nvSpPr>
          <p:spPr>
            <a:xfrm>
              <a:off x="334963" y="486219"/>
              <a:ext cx="278711" cy="541682"/>
            </a:xfrm>
            <a:prstGeom prst="rect">
              <a:avLst/>
            </a:prstGeom>
            <a:solidFill>
              <a:srgbClr val="718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
        <p:nvSpPr>
          <p:cNvPr id="101" name="文本框 100"/>
          <p:cNvSpPr txBox="1"/>
          <p:nvPr/>
        </p:nvSpPr>
        <p:spPr>
          <a:xfrm>
            <a:off x="643890" y="1325245"/>
            <a:ext cx="10612755" cy="4741545"/>
          </a:xfrm>
          <a:prstGeom prst="rect">
            <a:avLst/>
          </a:prstGeom>
          <a:noFill/>
          <a:ln w="9525">
            <a:noFill/>
          </a:ln>
        </p:spPr>
        <p:txBody>
          <a:bodyPr wrap="square">
            <a:spAutoFit/>
          </a:bodyPr>
          <a:p>
            <a:pPr indent="0">
              <a:lnSpc>
                <a:spcPct val="120000"/>
              </a:lnSpc>
            </a:pPr>
            <a:r>
              <a:rPr lang="zh-CN" b="1">
                <a:solidFill>
                  <a:schemeClr val="bg1">
                    <a:lumMod val="50000"/>
                  </a:schemeClr>
                </a:solidFill>
                <a:ea typeface="等线" panose="02010600030101010101" pitchFamily="2" charset="-122"/>
              </a:rPr>
              <a:t>[1] 周方静</a:t>
            </a:r>
            <a:r>
              <a:rPr lang="zh-CN" b="1">
                <a:solidFill>
                  <a:schemeClr val="bg1">
                    <a:lumMod val="50000"/>
                  </a:schemeClr>
                </a:solidFill>
                <a:ea typeface="等线" panose="02010600030101010101" pitchFamily="2" charset="-122"/>
                <a:cs typeface="Times New Roman" panose="02020603050405020304" charset="0"/>
              </a:rPr>
              <a:t>, 朱春秋, 张星星, 程祥宇, 范军铭. 非药物疗法治疗双相情感障碍研究进展[J]. 山东中医杂志, 2024, 43 (01): 99-107.</a:t>
            </a:r>
            <a:endParaRPr lang="en-US" b="1">
              <a:solidFill>
                <a:schemeClr val="bg1">
                  <a:lumMod val="50000"/>
                </a:schemeClr>
              </a:solidFill>
              <a:latin typeface="等线" panose="02010600030101010101" pitchFamily="2" charset="-122"/>
            </a:endParaRPr>
          </a:p>
          <a:p>
            <a:pPr indent="0">
              <a:lnSpc>
                <a:spcPct val="120000"/>
              </a:lnSpc>
            </a:pPr>
            <a:r>
              <a:rPr lang="zh-CN" b="1">
                <a:solidFill>
                  <a:schemeClr val="bg1">
                    <a:lumMod val="50000"/>
                  </a:schemeClr>
                </a:solidFill>
                <a:ea typeface="等线" panose="02010600030101010101" pitchFamily="2" charset="-122"/>
              </a:rPr>
              <a:t>[2] </a:t>
            </a:r>
            <a:r>
              <a:rPr lang="zh-CN" b="1">
                <a:solidFill>
                  <a:schemeClr val="bg1">
                    <a:lumMod val="50000"/>
                  </a:schemeClr>
                </a:solidFill>
                <a:ea typeface="等线" panose="02010600030101010101" pitchFamily="2" charset="-122"/>
                <a:hlinkClick r:id="rId1"/>
              </a:rPr>
              <a:t>https://zhuanlan.zhihu.com/p/645294887</a:t>
            </a:r>
            <a:r>
              <a:rPr lang="zh-CN" b="1">
                <a:solidFill>
                  <a:schemeClr val="bg1">
                    <a:lumMod val="50000"/>
                  </a:schemeClr>
                </a:solidFill>
                <a:ea typeface="等线" panose="02010600030101010101" pitchFamily="2" charset="-122"/>
              </a:rPr>
              <a:t>[3] </a:t>
            </a:r>
            <a:r>
              <a:rPr lang="zh-CN" b="1">
                <a:solidFill>
                  <a:schemeClr val="bg1">
                    <a:lumMod val="50000"/>
                  </a:schemeClr>
                </a:solidFill>
                <a:ea typeface="等线" panose="02010600030101010101" pitchFamily="2" charset="-122"/>
                <a:hlinkClick r:id="rId2"/>
              </a:rPr>
              <a:t>https://zhuanlan.zhihu.com/p/467292904</a:t>
            </a:r>
            <a:r>
              <a:rPr lang="zh-CN" b="1">
                <a:solidFill>
                  <a:schemeClr val="bg1">
                    <a:lumMod val="50000"/>
                  </a:schemeClr>
                </a:solidFill>
                <a:ea typeface="等线" panose="02010600030101010101" pitchFamily="2" charset="-122"/>
              </a:rPr>
              <a:t>[4] https://zhuanlan.zhihu.com/p/268571928</a:t>
            </a:r>
            <a:endParaRPr lang="zh-CN" b="1">
              <a:solidFill>
                <a:schemeClr val="bg1">
                  <a:lumMod val="50000"/>
                </a:schemeClr>
              </a:solidFill>
              <a:ea typeface="等线" panose="02010600030101010101" pitchFamily="2" charset="-122"/>
            </a:endParaRPr>
          </a:p>
          <a:p>
            <a:pPr indent="0">
              <a:lnSpc>
                <a:spcPct val="120000"/>
              </a:lnSpc>
            </a:pPr>
            <a:r>
              <a:rPr lang="zh-CN" b="1">
                <a:solidFill>
                  <a:schemeClr val="bg1">
                    <a:lumMod val="50000"/>
                  </a:schemeClr>
                </a:solidFill>
                <a:ea typeface="等线" panose="02010600030101010101" pitchFamily="2" charset="-122"/>
              </a:rPr>
              <a:t>[5]https://zhuanlan.zhihu.com/p/539631096#:~:text=%E4%B8%BB%E8%A6%81%E7%9A%84%E8%87%B4%E7%97%85%E5%9B%A0%E7%B4%A0%E6%9C%89,%E5%92%8C%E5%BF%83%E7%90%86%E7%A4%BE%E4%BC%9A%E5%9B%A0%E7%B4%A0%E3%80%82</a:t>
            </a:r>
            <a:endParaRPr lang="zh-CN" b="1">
              <a:solidFill>
                <a:schemeClr val="bg1">
                  <a:lumMod val="50000"/>
                </a:schemeClr>
              </a:solidFill>
              <a:ea typeface="等线" panose="02010600030101010101" pitchFamily="2" charset="-122"/>
            </a:endParaRPr>
          </a:p>
          <a:p>
            <a:pPr indent="0">
              <a:lnSpc>
                <a:spcPct val="120000"/>
              </a:lnSpc>
            </a:pPr>
            <a:r>
              <a:rPr lang="zh-CN" b="1">
                <a:solidFill>
                  <a:schemeClr val="bg1">
                    <a:lumMod val="50000"/>
                  </a:schemeClr>
                </a:solidFill>
                <a:ea typeface="等线" panose="02010600030101010101" pitchFamily="2" charset="-122"/>
              </a:rPr>
              <a:t>[6]https://zhuanlan.zhihu.com/p/355378178</a:t>
            </a:r>
            <a:endParaRPr lang="zh-CN" b="1">
              <a:solidFill>
                <a:schemeClr val="bg1">
                  <a:lumMod val="50000"/>
                </a:schemeClr>
              </a:solidFill>
              <a:ea typeface="等线" panose="02010600030101010101" pitchFamily="2" charset="-122"/>
            </a:endParaRPr>
          </a:p>
          <a:p>
            <a:pPr indent="0">
              <a:lnSpc>
                <a:spcPct val="120000"/>
              </a:lnSpc>
            </a:pPr>
            <a:r>
              <a:rPr lang="zh-CN" b="1">
                <a:solidFill>
                  <a:schemeClr val="bg1">
                    <a:lumMod val="50000"/>
                  </a:schemeClr>
                </a:solidFill>
                <a:ea typeface="等线" panose="02010600030101010101" pitchFamily="2" charset="-122"/>
              </a:rPr>
              <a:t>[7]Strakowski SM, Adler CM, Almeida J, Altshuler LL, Blumberg HP, Chang KD, DelBello MP, Frangou S, McIntosh A, Phillips ML, Sussman JE, Townsend JD (June 2012). "The functional neuroanatomy of bipolar disorder: a consensus model". Bipolar Disorders. 14 (4): 313–325. doi:10.1111/j.1399-5618.2012.01022.x. PMC 3874804. PMID 22631617.</a:t>
            </a:r>
            <a:endParaRPr lang="zh-CN" b="1">
              <a:solidFill>
                <a:schemeClr val="bg1">
                  <a:lumMod val="50000"/>
                </a:schemeClr>
              </a:solidFill>
              <a:ea typeface="等线" panose="02010600030101010101" pitchFamily="2" charset="-122"/>
            </a:endParaRPr>
          </a:p>
          <a:p>
            <a:pPr indent="0">
              <a:lnSpc>
                <a:spcPct val="120000"/>
              </a:lnSpc>
            </a:pPr>
            <a:r>
              <a:rPr lang="zh-CN" b="1">
                <a:solidFill>
                  <a:schemeClr val="bg1">
                    <a:lumMod val="50000"/>
                  </a:schemeClr>
                </a:solidFill>
                <a:ea typeface="等线" panose="02010600030101010101" pitchFamily="2" charset="-122"/>
              </a:rPr>
              <a:t>[8]刘铁榜：双相情感障碍的无创性神经调控疗法应用进展_治疗_患者_研究 (sohu.com)</a:t>
            </a:r>
            <a:endParaRPr lang="zh-CN" b="1">
              <a:solidFill>
                <a:schemeClr val="bg1">
                  <a:lumMod val="50000"/>
                </a:schemeClr>
              </a:solidFill>
              <a:ea typeface="等线"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r="72854"/>
          <a:stretch>
            <a:fillRect/>
          </a:stretch>
        </p:blipFill>
        <p:spPr>
          <a:xfrm>
            <a:off x="-41518" y="0"/>
            <a:ext cx="3307404" cy="6858001"/>
          </a:xfrm>
          <a:prstGeom prst="rect">
            <a:avLst/>
          </a:prstGeom>
        </p:spPr>
      </p:pic>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r="72854"/>
          <a:stretch>
            <a:fillRect/>
          </a:stretch>
        </p:blipFill>
        <p:spPr>
          <a:xfrm rot="10800000">
            <a:off x="9151823" y="0"/>
            <a:ext cx="3307404" cy="6858001"/>
          </a:xfrm>
          <a:prstGeom prst="rect">
            <a:avLst/>
          </a:prstGeom>
        </p:spPr>
      </p:pic>
      <p:grpSp>
        <p:nvGrpSpPr>
          <p:cNvPr id="17" name="组合 16"/>
          <p:cNvGrpSpPr/>
          <p:nvPr/>
        </p:nvGrpSpPr>
        <p:grpSpPr>
          <a:xfrm>
            <a:off x="1898256" y="2181175"/>
            <a:ext cx="8352155" cy="2219325"/>
            <a:chOff x="1898256" y="1991709"/>
            <a:chExt cx="8352155" cy="2219325"/>
          </a:xfrm>
        </p:grpSpPr>
        <p:cxnSp>
          <p:nvCxnSpPr>
            <p:cNvPr id="18" name="直接连接符 17"/>
            <p:cNvCxnSpPr/>
            <p:nvPr/>
          </p:nvCxnSpPr>
          <p:spPr>
            <a:xfrm flipV="1">
              <a:off x="3074276" y="3469037"/>
              <a:ext cx="6043448" cy="1"/>
            </a:xfrm>
            <a:prstGeom prst="line">
              <a:avLst/>
            </a:prstGeom>
            <a:ln w="38100">
              <a:solidFill>
                <a:srgbClr val="788EAC"/>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898256" y="3657949"/>
              <a:ext cx="8352155" cy="553085"/>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00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sym typeface="+mn-ea"/>
                </a:rPr>
                <a:t>第五组：王琪芸</a:t>
              </a:r>
              <a:r>
                <a:rPr lang="en-US" altLang="zh-CN" sz="300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sym typeface="+mn-ea"/>
                </a:rPr>
                <a:t> </a:t>
              </a:r>
              <a:r>
                <a:rPr lang="zh-CN" altLang="en-US" sz="300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sym typeface="+mn-ea"/>
                </a:rPr>
                <a:t>孙竞洋</a:t>
              </a:r>
              <a:r>
                <a:rPr lang="en-US" altLang="zh-CN" sz="300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sym typeface="+mn-ea"/>
                </a:rPr>
                <a:t> </a:t>
              </a:r>
              <a:r>
                <a:rPr lang="zh-CN" altLang="en-US" sz="300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sym typeface="+mn-ea"/>
                </a:rPr>
                <a:t>徐芊芊</a:t>
              </a:r>
              <a:r>
                <a:rPr lang="en-US" altLang="zh-CN" sz="300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sym typeface="+mn-ea"/>
                </a:rPr>
                <a:t> </a:t>
              </a:r>
              <a:r>
                <a:rPr lang="zh-CN" altLang="en-US" sz="300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sym typeface="+mn-ea"/>
                </a:rPr>
                <a:t>周才琪</a:t>
              </a:r>
              <a:r>
                <a:rPr lang="en-US" altLang="zh-CN" sz="300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sym typeface="+mn-ea"/>
                </a:rPr>
                <a:t> </a:t>
              </a:r>
              <a:r>
                <a:rPr lang="zh-CN" altLang="en-US" sz="300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sym typeface="+mn-ea"/>
                </a:rPr>
                <a:t>左懋林</a:t>
              </a:r>
              <a:endParaRPr kumimoji="0" lang="zh-CN" altLang="en-US" sz="3000" b="0" i="0" u="none" strike="noStrike" kern="1200" cap="none" spc="0" normalizeH="0" baseline="0" noProof="0" dirty="0">
                <a:ln w="0"/>
                <a:solidFill>
                  <a:srgbClr val="9FC5EB"/>
                </a:solidFill>
                <a:effectLst>
                  <a:outerShdw blurRad="38100" dist="19050" dir="2700000" algn="tl" rotWithShape="0">
                    <a:prstClr val="black">
                      <a:alpha val="40000"/>
                    </a:prstClr>
                  </a:outerShdw>
                </a:effectLst>
                <a:uLnTx/>
                <a:uFillTx/>
                <a:latin typeface="思源黑体 CN Normal" panose="020B0400000000000000" pitchFamily="34" charset="-122"/>
                <a:ea typeface="思源黑体 CN Normal" panose="020B0400000000000000" pitchFamily="34" charset="-122"/>
                <a:cs typeface="+mn-cs"/>
              </a:endParaRPr>
            </a:p>
          </p:txBody>
        </p:sp>
        <p:sp>
          <p:nvSpPr>
            <p:cNvPr id="20" name="矩形 19"/>
            <p:cNvSpPr/>
            <p:nvPr/>
          </p:nvSpPr>
          <p:spPr>
            <a:xfrm>
              <a:off x="3484179" y="1991709"/>
              <a:ext cx="5223642" cy="1476375"/>
            </a:xfrm>
            <a:prstGeom prst="rect">
              <a:avLst/>
            </a:prstGeom>
            <a:noFill/>
          </p:spPr>
          <p:txBody>
            <a:bodyPr wrap="square" lIns="91440" tIns="45720" rIns="91440" bIns="4572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9000" b="1" dirty="0">
                  <a:ln w="0"/>
                  <a:solidFill>
                    <a:srgbClr val="788EAC"/>
                  </a:solidFill>
                  <a:effectLst>
                    <a:outerShdw blurRad="38100" dist="19050" dir="2700000" algn="tl" rotWithShape="0">
                      <a:prstClr val="black">
                        <a:alpha val="40000"/>
                      </a:prstClr>
                    </a:outerShdw>
                  </a:effectLst>
                  <a:latin typeface="思源黑体 CN Heavy" panose="020B0A00000000000000" pitchFamily="34" charset="-122"/>
                  <a:ea typeface="思源黑体 CN Heavy" panose="020B0A00000000000000" pitchFamily="34" charset="-122"/>
                </a:rPr>
                <a:t>谢谢聆听</a:t>
              </a:r>
              <a:endParaRPr lang="zh-CN" altLang="en-US" sz="9000" b="1" dirty="0">
                <a:ln w="0"/>
                <a:solidFill>
                  <a:srgbClr val="788EAC"/>
                </a:solidFill>
                <a:effectLst>
                  <a:outerShdw blurRad="38100" dist="19050" dir="2700000" algn="tl" rotWithShape="0">
                    <a:prstClr val="black">
                      <a:alpha val="40000"/>
                    </a:prstClr>
                  </a:outerShdw>
                </a:effectLst>
                <a:latin typeface="思源黑体 CN Heavy" panose="020B0A00000000000000" pitchFamily="34" charset="-122"/>
                <a:ea typeface="思源黑体 CN Heavy" panose="020B0A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DIAGRAM_VIRTUALLY_FRAME" val="{&quot;height&quot;:415,&quot;left&quot;:251.02850393700783,&quot;top&quot;:147.1937795275591,&quot;width&quot;:691.4529921259845}"/>
</p:tagLst>
</file>

<file path=ppt/tags/tag64.xml><?xml version="1.0" encoding="utf-8"?>
<p:tagLst xmlns:p="http://schemas.openxmlformats.org/presentationml/2006/main">
  <p:tag name="KSO_WM_DIAGRAM_VIRTUALLY_FRAME" val="{&quot;height&quot;:415,&quot;left&quot;:251.02850393700783,&quot;top&quot;:147.1937795275591,&quot;width&quot;:691.4529921259845}"/>
</p:tagLst>
</file>

<file path=ppt/tags/tag65.xml><?xml version="1.0" encoding="utf-8"?>
<p:tagLst xmlns:p="http://schemas.openxmlformats.org/presentationml/2006/main">
  <p:tag name="KSO_WM_DIAGRAM_VIRTUALLY_FRAME" val="{&quot;height&quot;:415,&quot;left&quot;:251.02850393700783,&quot;top&quot;:147.1937795275591,&quot;width&quot;:691.4529921259845}"/>
</p:tagLst>
</file>

<file path=ppt/tags/tag66.xml><?xml version="1.0" encoding="utf-8"?>
<p:tagLst xmlns:p="http://schemas.openxmlformats.org/presentationml/2006/main">
  <p:tag name="KSO_WM_DIAGRAM_VIRTUALLY_FRAME" val="{&quot;height&quot;:415,&quot;left&quot;:251.02850393700783,&quot;top&quot;:147.1937795275591,&quot;width&quot;:691.4529921259845}"/>
</p:tagLst>
</file>

<file path=ppt/tags/tag67.xml><?xml version="1.0" encoding="utf-8"?>
<p:tagLst xmlns:p="http://schemas.openxmlformats.org/presentationml/2006/main">
  <p:tag name="KSO_WM_DIAGRAM_VIRTUALLY_FRAME" val="{&quot;height&quot;:415,&quot;left&quot;:251.02850393700783,&quot;top&quot;:147.1937795275591,&quot;width&quot;:691.4529921259845}"/>
</p:tagLst>
</file>

<file path=ppt/tags/tag68.xml><?xml version="1.0" encoding="utf-8"?>
<p:tagLst xmlns:p="http://schemas.openxmlformats.org/presentationml/2006/main">
  <p:tag name="KSO_WM_DIAGRAM_VIRTUALLY_FRAME" val="{&quot;height&quot;:415,&quot;left&quot;:251.02850393700783,&quot;top&quot;:147.1937795275591,&quot;width&quot;:691.4529921259845}"/>
</p:tagLst>
</file>

<file path=ppt/tags/tag69.xml><?xml version="1.0" encoding="utf-8"?>
<p:tagLst xmlns:p="http://schemas.openxmlformats.org/presentationml/2006/main">
  <p:tag name="KSO_WM_DIAGRAM_VIRTUALLY_FRAME" val="{&quot;height&quot;:415,&quot;left&quot;:251.02850393700783,&quot;top&quot;:147.1937795275591,&quot;width&quot;:691.4529921259845}"/>
</p:tagLst>
</file>

<file path=ppt/tags/tag70.xml><?xml version="1.0" encoding="utf-8"?>
<p:tagLst xmlns:p="http://schemas.openxmlformats.org/presentationml/2006/main">
  <p:tag name="KSO_WM_DIAGRAM_VIRTUALLY_FRAME" val="{&quot;height&quot;:415,&quot;left&quot;:251.02850393700783,&quot;top&quot;:147.1937795275591,&quot;width&quot;:691.4529921259845}"/>
</p:tagLst>
</file>

<file path=ppt/tags/tag71.xml><?xml version="1.0" encoding="utf-8"?>
<p:tagLst xmlns:p="http://schemas.openxmlformats.org/presentationml/2006/main">
  <p:tag name="KSO_WM_DIAGRAM_VIRTUALLY_FRAME" val="{&quot;height&quot;:415,&quot;left&quot;:251.02850393700783,&quot;top&quot;:147.1937795275591,&quot;width&quot;:691.4529921259845}"/>
</p:tagLst>
</file>

<file path=ppt/tags/tag72.xml><?xml version="1.0" encoding="utf-8"?>
<p:tagLst xmlns:p="http://schemas.openxmlformats.org/presentationml/2006/main">
  <p:tag name="KSO_WM_DIAGRAM_VIRTUALLY_FRAME" val="{&quot;height&quot;:415,&quot;left&quot;:251.02850393700783,&quot;top&quot;:147.1937795275591,&quot;width&quot;:691.4529921259845}"/>
</p:tagLst>
</file>

<file path=ppt/tags/tag73.xml><?xml version="1.0" encoding="utf-8"?>
<p:tagLst xmlns:p="http://schemas.openxmlformats.org/presentationml/2006/main">
  <p:tag name="KSO_WM_DIAGRAM_VIRTUALLY_FRAME" val="{&quot;height&quot;:415,&quot;left&quot;:251.02850393700783,&quot;top&quot;:147.1937795275591,&quot;width&quot;:691.4529921259845}"/>
</p:tagLst>
</file>

<file path=ppt/tags/tag74.xml><?xml version="1.0" encoding="utf-8"?>
<p:tagLst xmlns:p="http://schemas.openxmlformats.org/presentationml/2006/main">
  <p:tag name="KSO_WM_DIAGRAM_VIRTUALLY_FRAME" val="{&quot;height&quot;:415,&quot;left&quot;:251.02850393700783,&quot;top&quot;:147.1937795275591,&quot;width&quot;:691.4529921259845}"/>
</p:tagLst>
</file>

<file path=ppt/tags/tag75.xml><?xml version="1.0" encoding="utf-8"?>
<p:tagLst xmlns:p="http://schemas.openxmlformats.org/presentationml/2006/main">
  <p:tag name="KSO_WM_DIAGRAM_VIRTUALLY_FRAME" val="{&quot;height&quot;:2142.694409448819,&quot;left&quot;:75.05,&quot;top&quot;:47.06425196850394,&quot;width&quot;:816.3}"/>
</p:tagLst>
</file>

<file path=ppt/tags/tag76.xml><?xml version="1.0" encoding="utf-8"?>
<p:tagLst xmlns:p="http://schemas.openxmlformats.org/presentationml/2006/main">
  <p:tag name="KSO_WM_DIAGRAM_VIRTUALLY_FRAME" val="{&quot;height&quot;:880.2311023622045,&quot;left&quot;:56.86929133858267,&quot;top&quot;:130.47653543307086,&quot;width&quot;:847.6679527559056}"/>
</p:tagLst>
</file>

<file path=ppt/tags/tag77.xml><?xml version="1.0" encoding="utf-8"?>
<p:tagLst xmlns:p="http://schemas.openxmlformats.org/presentationml/2006/main">
  <p:tag name="KSO_WM_DIAGRAM_VIRTUALLY_FRAME" val="{&quot;height&quot;:880.2311023622045,&quot;left&quot;:56.86929133858267,&quot;top&quot;:130.47653543307086,&quot;width&quot;:847.6679527559056}"/>
</p:tagLst>
</file>

<file path=ppt/tags/tag78.xml><?xml version="1.0" encoding="utf-8"?>
<p:tagLst xmlns:p="http://schemas.openxmlformats.org/presentationml/2006/main">
  <p:tag name="KSO_WM_DIAGRAM_VIRTUALLY_FRAME" val="{&quot;height&quot;:880.2311023622045,&quot;left&quot;:56.86929133858267,&quot;top&quot;:130.47653543307086,&quot;width&quot;:847.6679527559056}"/>
</p:tagLst>
</file>

<file path=ppt/tags/tag79.xml><?xml version="1.0" encoding="utf-8"?>
<p:tagLst xmlns:p="http://schemas.openxmlformats.org/presentationml/2006/main">
  <p:tag name="KSO_WM_DIAGRAM_VIRTUALLY_FRAME" val="{&quot;height&quot;:880.2311023622045,&quot;left&quot;:56.86929133858267,&quot;top&quot;:130.47653543307086,&quot;width&quot;:847.6679527559056}"/>
</p:tagLst>
</file>

<file path=ppt/tags/tag80.xml><?xml version="1.0" encoding="utf-8"?>
<p:tagLst xmlns:p="http://schemas.openxmlformats.org/presentationml/2006/main">
  <p:tag name="KSO_WM_DIAGRAM_VIRTUALLY_FRAME" val="{&quot;height&quot;:880.2311023622045,&quot;left&quot;:56.86929133858267,&quot;top&quot;:130.47653543307086,&quot;width&quot;:847.6679527559056}"/>
</p:tagLst>
</file>

<file path=ppt/tags/tag81.xml><?xml version="1.0" encoding="utf-8"?>
<p:tagLst xmlns:p="http://schemas.openxmlformats.org/presentationml/2006/main">
  <p:tag name="KSO_WM_DIAGRAM_VIRTUALLY_FRAME" val="{&quot;height&quot;:880.2311023622045,&quot;left&quot;:56.86929133858267,&quot;top&quot;:130.47653543307086,&quot;width&quot;:847.6679527559056}"/>
</p:tagLst>
</file>

<file path=ppt/tags/tag82.xml><?xml version="1.0" encoding="utf-8"?>
<p:tagLst xmlns:p="http://schemas.openxmlformats.org/presentationml/2006/main">
  <p:tag name="KSO_WM_DIAGRAM_VIRTUALLY_FRAME" val="{&quot;height&quot;:880.2311023622045,&quot;left&quot;:56.86929133858267,&quot;top&quot;:130.47653543307086,&quot;width&quot;:847.6679527559056}"/>
</p:tagLst>
</file>

<file path=ppt/tags/tag83.xml><?xml version="1.0" encoding="utf-8"?>
<p:tagLst xmlns:p="http://schemas.openxmlformats.org/presentationml/2006/main">
  <p:tag name="KSO_WM_DIAGRAM_VIRTUALLY_FRAME" val="{&quot;height&quot;:880.2311023622045,&quot;left&quot;:56.86929133858267,&quot;top&quot;:130.47653543307086,&quot;width&quot;:847.6679527559056}"/>
</p:tagLst>
</file>

<file path=ppt/tags/tag84.xml><?xml version="1.0" encoding="utf-8"?>
<p:tagLst xmlns:p="http://schemas.openxmlformats.org/presentationml/2006/main">
  <p:tag name="KSO_WM_DIAGRAM_VIRTUALLY_FRAME" val="{&quot;height&quot;:318.85,&quot;left&quot;:47.513070866141696,&quot;top&quot;:106.1899212598425,&quot;width&quot;:762.25}"/>
</p:tagLst>
</file>

<file path=ppt/tags/tag85.xml><?xml version="1.0" encoding="utf-8"?>
<p:tagLst xmlns:p="http://schemas.openxmlformats.org/presentationml/2006/main">
  <p:tag name="KSO_WM_DIAGRAM_VIRTUALLY_FRAME" val="{&quot;height&quot;:2142.694409448819,&quot;left&quot;:75.05,&quot;top&quot;:47.06425196850394,&quot;width&quot;:816.3}"/>
</p:tagLst>
</file>

<file path=ppt/tags/tag86.xml><?xml version="1.0" encoding="utf-8"?>
<p:tagLst xmlns:p="http://schemas.openxmlformats.org/presentationml/2006/main">
  <p:tag name="KSO_WM_DIAGRAM_VIRTUALLY_FRAME" val="{&quot;height&quot;:318.85,&quot;left&quot;:47.51307086614173,&quot;top&quot;:106.18992125984252,&quot;width&quot;:762.25}"/>
</p:tagLst>
</file>

<file path=ppt/tags/tag87.xml><?xml version="1.0" encoding="utf-8"?>
<p:tagLst xmlns:p="http://schemas.openxmlformats.org/presentationml/2006/main">
  <p:tag name="KSO_WM_DIAGRAM_VIRTUALLY_FRAME" val="{&quot;height&quot;:2142.694409448819,&quot;left&quot;:75.05,&quot;top&quot;:47.06425196850394,&quot;width&quot;:816.3}"/>
</p:tagLst>
</file>

<file path=ppt/tags/tag88.xml><?xml version="1.0" encoding="utf-8"?>
<p:tagLst xmlns:p="http://schemas.openxmlformats.org/presentationml/2006/main">
  <p:tag name="KSO_WM_DIAGRAM_VIRTUALLY_FRAME" val="{&quot;height&quot;:318.85,&quot;left&quot;:47.51307086614173,&quot;top&quot;:106.18992125984252,&quot;width&quot;:762.25}"/>
</p:tagLst>
</file>

<file path=ppt/tags/tag89.xml><?xml version="1.0" encoding="utf-8"?>
<p:tagLst xmlns:p="http://schemas.openxmlformats.org/presentationml/2006/main">
  <p:tag name="KSO_WM_DIAGRAM_VIRTUALLY_FRAME" val="{&quot;height&quot;:2142.694409448819,&quot;left&quot;:75.05,&quot;top&quot;:47.06425196850394,&quot;width&quot;:816.3}"/>
</p:tagLst>
</file>

<file path=ppt/tags/tag90.xml><?xml version="1.0" encoding="utf-8"?>
<p:tagLst xmlns:p="http://schemas.openxmlformats.org/presentationml/2006/main">
  <p:tag name="KSO_WM_DIAGRAM_VIRTUALLY_FRAME" val="{&quot;height&quot;:318.85,&quot;left&quot;:47.51307086614173,&quot;top&quot;:106.18992125984252,&quot;width&quot;:762.25}"/>
</p:tagLst>
</file>

<file path=ppt/tags/tag91.xml><?xml version="1.0" encoding="utf-8"?>
<p:tagLst xmlns:p="http://schemas.openxmlformats.org/presentationml/2006/main">
  <p:tag name="KSO_WM_DIAGRAM_VIRTUALLY_FRAME" val="{&quot;height&quot;:2142.694409448819,&quot;left&quot;:75.05,&quot;top&quot;:47.06425196850394,&quot;width&quot;:816.3}"/>
</p:tagLst>
</file>

<file path=ppt/tags/tag92.xml><?xml version="1.0" encoding="utf-8"?>
<p:tagLst xmlns:p="http://schemas.openxmlformats.org/presentationml/2006/main">
  <p:tag name="KSO_WM_DIAGRAM_VIRTUALLY_FRAME" val="{&quot;height&quot;:318.85,&quot;left&quot;:47.51307086614173,&quot;top&quot;:106.18992125984252,&quot;width&quot;:762.25}"/>
</p:tagLst>
</file>

<file path=ppt/tags/tag93.xml><?xml version="1.0" encoding="utf-8"?>
<p:tagLst xmlns:p="http://schemas.openxmlformats.org/presentationml/2006/main">
  <p:tag name="KSO_WM_DIAGRAM_VIRTUALLY_FRAME" val="{&quot;height&quot;:2142.694409448819,&quot;left&quot;:75.05,&quot;top&quot;:47.06425196850394,&quot;width&quot;:816.3}"/>
</p:tagLst>
</file>

<file path=ppt/tags/tag94.xml><?xml version="1.0" encoding="utf-8"?>
<p:tagLst xmlns:p="http://schemas.openxmlformats.org/presentationml/2006/main">
  <p:tag name="KSO_WM_DIAGRAM_VIRTUALLY_FRAME" val="{&quot;height&quot;:318.85,&quot;left&quot;:47.51307086614173,&quot;top&quot;:106.18992125984252,&quot;width&quot;:762.25}"/>
</p:tagLst>
</file>

<file path=ppt/tags/tag95.xml><?xml version="1.0" encoding="utf-8"?>
<p:tagLst xmlns:p="http://schemas.openxmlformats.org/presentationml/2006/main">
  <p:tag name="KSO_WM_DIAGRAM_VIRTUALLY_FRAME" val="{&quot;height&quot;:2142.694409448819,&quot;left&quot;:75.05,&quot;top&quot;:47.06425196850394,&quot;width&quot;:816.3}"/>
</p:tagLst>
</file>

<file path=ppt/tags/tag96.xml><?xml version="1.0" encoding="utf-8"?>
<p:tagLst xmlns:p="http://schemas.openxmlformats.org/presentationml/2006/main">
  <p:tag name="KSO_WM_DIAGRAM_VIRTUALLY_FRAME" val="{&quot;height&quot;:318.85,&quot;left&quot;:47.51307086614173,&quot;top&quot;:106.18992125984252,&quot;width&quot;:762.25}"/>
</p:tagLst>
</file>

<file path=ppt/tags/tag97.xml><?xml version="1.0" encoding="utf-8"?>
<p:tagLst xmlns:p="http://schemas.openxmlformats.org/presentationml/2006/main">
  <p:tag name="KSO_WM_DIAGRAM_VIRTUALLY_FRAME" val="{&quot;height&quot;:2142.694409448819,&quot;left&quot;:75.05,&quot;top&quot;:47.06425196850394,&quot;width&quot;:816.3}"/>
</p:tagLst>
</file>

<file path=ppt/tags/tag98.xml><?xml version="1.0" encoding="utf-8"?>
<p:tagLst xmlns:p="http://schemas.openxmlformats.org/presentationml/2006/main">
  <p:tag name="KSO_WM_DIAGRAM_VIRTUALLY_FRAME" val="{&quot;height&quot;:318.85,&quot;left&quot;:47.51307086614173,&quot;top&quot;:106.18992125984252,&quot;width&quot;:762.25}"/>
</p:tagLst>
</file>

<file path=ppt/tags/tag99.xml><?xml version="1.0" encoding="utf-8"?>
<p:tagLst xmlns:p="http://schemas.openxmlformats.org/presentationml/2006/main">
  <p:tag name="KSO_WM_DIAGRAM_VIRTUALLY_FRAME" val="{&quot;height&quot;:2142.694409448819,&quot;left&quot;:75.05,&quot;top&quot;:47.06425196850394,&quot;width&quot;:816.3}"/>
</p:tagLst>
</file>

<file path=ppt/tags/tag100.xml><?xml version="1.0" encoding="utf-8"?>
<p:tagLst xmlns:p="http://schemas.openxmlformats.org/presentationml/2006/main">
  <p:tag name="KSO_WM_DIAGRAM_VIRTUALLY_FRAME" val="{&quot;height&quot;:318.85,&quot;left&quot;:47.51307086614173,&quot;top&quot;:106.18992125984252,&quot;width&quot;:762.25}"/>
</p:tagLst>
</file>

<file path=ppt/tags/tag101.xml><?xml version="1.0" encoding="utf-8"?>
<p:tagLst xmlns:p="http://schemas.openxmlformats.org/presentationml/2006/main">
  <p:tag name="KSO_WM_DIAGRAM_VIRTUALLY_FRAME" val="{&quot;height&quot;:2142.694409448819,&quot;left&quot;:75.05,&quot;top&quot;:47.06425196850394,&quot;width&quot;:816.3}"/>
</p:tagLst>
</file>

<file path=ppt/tags/tag102.xml><?xml version="1.0" encoding="utf-8"?>
<p:tagLst xmlns:p="http://schemas.openxmlformats.org/presentationml/2006/main">
  <p:tag name="KSO_WM_DIAGRAM_VIRTUALLY_FRAME" val="{&quot;height&quot;:318.85,&quot;left&quot;:47.51307086614173,&quot;top&quot;:106.18992125984252,&quot;width&quot;:762.25}"/>
</p:tagLst>
</file>

<file path=ppt/tags/tag103.xml><?xml version="1.0" encoding="utf-8"?>
<p:tagLst xmlns:p="http://schemas.openxmlformats.org/presentationml/2006/main">
  <p:tag name="KSO_WM_DIAGRAM_VIRTUALLY_FRAME" val="{&quot;height&quot;:2142.694409448819,&quot;left&quot;:75.05,&quot;top&quot;:47.06425196850394,&quot;width&quot;:816.3}"/>
</p:tagLst>
</file>

<file path=ppt/tags/tag104.xml><?xml version="1.0" encoding="utf-8"?>
<p:tagLst xmlns:p="http://schemas.openxmlformats.org/presentationml/2006/main">
  <p:tag name="KSO_WM_DIAGRAM_VIRTUALLY_FRAME" val="{&quot;height&quot;:313.3171653543307,&quot;left&quot;:87.09669291338582,&quot;top&quot;:136.0828346456693,&quot;width&quot;:771.6566141732285}"/>
</p:tagLst>
</file>

<file path=ppt/tags/tag105.xml><?xml version="1.0" encoding="utf-8"?>
<p:tagLst xmlns:p="http://schemas.openxmlformats.org/presentationml/2006/main">
  <p:tag name="KSO_WM_DIAGRAM_VIRTUALLY_FRAME" val="{&quot;height&quot;:313.3171653543307,&quot;left&quot;:87.09669291338582,&quot;top&quot;:136.0828346456693,&quot;width&quot;:771.6566141732285}"/>
</p:tagLst>
</file>

<file path=ppt/tags/tag106.xml><?xml version="1.0" encoding="utf-8"?>
<p:tagLst xmlns:p="http://schemas.openxmlformats.org/presentationml/2006/main">
  <p:tag name="KSO_WM_DIAGRAM_VIRTUALLY_FRAME" val="{&quot;height&quot;:313.3171653543307,&quot;left&quot;:87.09669291338582,&quot;top&quot;:136.0828346456693,&quot;width&quot;:771.6566141732285}"/>
</p:tagLst>
</file>

<file path=ppt/tags/tag107.xml><?xml version="1.0" encoding="utf-8"?>
<p:tagLst xmlns:p="http://schemas.openxmlformats.org/presentationml/2006/main">
  <p:tag name="KSO_WM_DIAGRAM_VIRTUALLY_FRAME" val="{&quot;height&quot;:313.3171653543307,&quot;left&quot;:87.09669291338582,&quot;top&quot;:136.0828346456693,&quot;width&quot;:771.6566141732285}"/>
</p:tagLst>
</file>

<file path=ppt/tags/tag108.xml><?xml version="1.0" encoding="utf-8"?>
<p:tagLst xmlns:p="http://schemas.openxmlformats.org/presentationml/2006/main">
  <p:tag name="KSO_WM_DIAGRAM_VIRTUALLY_FRAME" val="{&quot;height&quot;:313.3171653543307,&quot;left&quot;:87.09669291338582,&quot;top&quot;:136.0828346456693,&quot;width&quot;:771.6566141732285}"/>
</p:tagLst>
</file>

<file path=ppt/tags/tag109.xml><?xml version="1.0" encoding="utf-8"?>
<p:tagLst xmlns:p="http://schemas.openxmlformats.org/presentationml/2006/main">
  <p:tag name="KSO_WM_DIAGRAM_VIRTUALLY_FRAME" val="{&quot;height&quot;:313.3171653543307,&quot;left&quot;:87.09669291338582,&quot;top&quot;:136.0828346456693,&quot;width&quot;:771.6566141732285}"/>
</p:tagLst>
</file>

<file path=ppt/tags/tag110.xml><?xml version="1.0" encoding="utf-8"?>
<p:tagLst xmlns:p="http://schemas.openxmlformats.org/presentationml/2006/main">
  <p:tag name="KSO_WM_DIAGRAM_VIRTUALLY_FRAME" val="{&quot;height&quot;:313.3171653543307,&quot;left&quot;:87.09669291338582,&quot;top&quot;:136.0828346456693,&quot;width&quot;:771.6566141732285}"/>
</p:tagLst>
</file>

<file path=ppt/tags/tag111.xml><?xml version="1.0" encoding="utf-8"?>
<p:tagLst xmlns:p="http://schemas.openxmlformats.org/presentationml/2006/main">
  <p:tag name="KSO_WM_DIAGRAM_VIRTUALLY_FRAME" val="{&quot;height&quot;:313.3171653543307,&quot;left&quot;:87.09669291338582,&quot;top&quot;:136.0828346456693,&quot;width&quot;:771.6566141732285}"/>
</p:tagLst>
</file>

<file path=ppt/tags/tag112.xml><?xml version="1.0" encoding="utf-8"?>
<p:tagLst xmlns:p="http://schemas.openxmlformats.org/presentationml/2006/main">
  <p:tag name="KSO_WM_DIAGRAM_VIRTUALLY_FRAME" val="{&quot;height&quot;:313.3171653543307,&quot;left&quot;:87.09669291338582,&quot;top&quot;:136.0828346456693,&quot;width&quot;:771.6566141732285}"/>
</p:tagLst>
</file>

<file path=ppt/tags/tag113.xml><?xml version="1.0" encoding="utf-8"?>
<p:tagLst xmlns:p="http://schemas.openxmlformats.org/presentationml/2006/main">
  <p:tag name="KSO_WM_DIAGRAM_VIRTUALLY_FRAME" val="{&quot;height&quot;:313.3171653543307,&quot;left&quot;:87.09669291338582,&quot;top&quot;:136.0828346456693,&quot;width&quot;:771.6566141732285}"/>
</p:tagLst>
</file>

<file path=ppt/tags/tag114.xml><?xml version="1.0" encoding="utf-8"?>
<p:tagLst xmlns:p="http://schemas.openxmlformats.org/presentationml/2006/main">
  <p:tag name="KSO_WM_DIAGRAM_VIRTUALLY_FRAME" val="{&quot;height&quot;:313.3171653543307,&quot;left&quot;:87.09669291338582,&quot;top&quot;:136.0828346456693,&quot;width&quot;:771.6566141732285}"/>
</p:tagLst>
</file>

<file path=ppt/tags/tag115.xml><?xml version="1.0" encoding="utf-8"?>
<p:tagLst xmlns:p="http://schemas.openxmlformats.org/presentationml/2006/main">
  <p:tag name="KSO_WM_DIAGRAM_VIRTUALLY_FRAME" val="{&quot;height&quot;:313.3171653543307,&quot;left&quot;:87.09669291338582,&quot;top&quot;:136.0828346456693,&quot;width&quot;:771.6566141732285}"/>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DIAGRAM_VIRTUALLY_FRAME" val="{&quot;height&quot;:2142.694409448819,&quot;left&quot;:75.05,&quot;top&quot;:47.06425196850394,&quot;width&quot;:816.3}"/>
</p:tagLst>
</file>

<file path=ppt/tags/tag120.xml><?xml version="1.0" encoding="utf-8"?>
<p:tagLst xmlns:p="http://schemas.openxmlformats.org/presentationml/2006/main">
  <p:tag name="KSO_WM_DIAGRAM_VIRTUALLY_FRAME" val="{&quot;height&quot;:297.4908661417323,&quot;left&quot;:43.01307086614172,&quot;top&quot;:111.33992125984248,&quot;width&quot;:833.0717322834644}"/>
</p:tagLst>
</file>

<file path=ppt/tags/tag121.xml><?xml version="1.0" encoding="utf-8"?>
<p:tagLst xmlns:p="http://schemas.openxmlformats.org/presentationml/2006/main">
  <p:tag name="KSO_WM_DIAGRAM_VIRTUALLY_FRAME" val="{&quot;height&quot;:297.4908661417323,&quot;left&quot;:43.01307086614172,&quot;top&quot;:111.33992125984248,&quot;width&quot;:833.0717322834644}"/>
</p:tagLst>
</file>

<file path=ppt/tags/tag122.xml><?xml version="1.0" encoding="utf-8"?>
<p:tagLst xmlns:p="http://schemas.openxmlformats.org/presentationml/2006/main">
  <p:tag name="KSO_WM_DIAGRAM_VIRTUALLY_FRAME" val="{&quot;height&quot;:297.4908661417323,&quot;left&quot;:43.01307086614172,&quot;top&quot;:111.33992125984248,&quot;width&quot;:833.0717322834644}"/>
</p:tagLst>
</file>

<file path=ppt/tags/tag123.xml><?xml version="1.0" encoding="utf-8"?>
<p:tagLst xmlns:p="http://schemas.openxmlformats.org/presentationml/2006/main">
  <p:tag name="KSO_WM_DIAGRAM_VIRTUALLY_FRAME" val="{&quot;height&quot;:297.4908661417323,&quot;left&quot;:43.01307086614172,&quot;top&quot;:111.33992125984248,&quot;width&quot;:833.0717322834644}"/>
</p:tagLst>
</file>

<file path=ppt/tags/tag124.xml><?xml version="1.0" encoding="utf-8"?>
<p:tagLst xmlns:p="http://schemas.openxmlformats.org/presentationml/2006/main">
  <p:tag name="KSO_WM_DIAGRAM_VIRTUALLY_FRAME" val="{&quot;height&quot;:297.4908661417323,&quot;left&quot;:43.01307086614172,&quot;top&quot;:111.33992125984248,&quot;width&quot;:833.0717322834644}"/>
</p:tagLst>
</file>

<file path=ppt/tags/tag125.xml><?xml version="1.0" encoding="utf-8"?>
<p:tagLst xmlns:p="http://schemas.openxmlformats.org/presentationml/2006/main">
  <p:tag name="KSO_WM_DIAGRAM_VIRTUALLY_FRAME" val="{&quot;height&quot;:297.4908661417323,&quot;left&quot;:43.01307086614172,&quot;top&quot;:111.33992125984248,&quot;width&quot;:833.0717322834644}"/>
</p:tagLst>
</file>

<file path=ppt/tags/tag126.xml><?xml version="1.0" encoding="utf-8"?>
<p:tagLst xmlns:p="http://schemas.openxmlformats.org/presentationml/2006/main">
  <p:tag name="KSO_WM_DIAGRAM_VIRTUALLY_FRAME" val="{&quot;height&quot;:297.4908661417323,&quot;left&quot;:43.01307086614172,&quot;top&quot;:111.33992125984248,&quot;width&quot;:833.0717322834644}"/>
</p:tagLst>
</file>

<file path=ppt/tags/tag127.xml><?xml version="1.0" encoding="utf-8"?>
<p:tagLst xmlns:p="http://schemas.openxmlformats.org/presentationml/2006/main">
  <p:tag name="KSO_WM_DIAGRAM_VIRTUALLY_FRAME" val="{&quot;height&quot;:297.4908661417323,&quot;left&quot;:43.01307086614172,&quot;top&quot;:111.33992125984248,&quot;width&quot;:833.0717322834644}"/>
</p:tagLst>
</file>

<file path=ppt/tags/tag128.xml><?xml version="1.0" encoding="utf-8"?>
<p:tagLst xmlns:p="http://schemas.openxmlformats.org/presentationml/2006/main">
  <p:tag name="KSO_WM_DIAGRAM_VIRTUALLY_FRAME" val="{&quot;height&quot;:297.4908661417323,&quot;left&quot;:43.01307086614172,&quot;top&quot;:111.33992125984248,&quot;width&quot;:833.0717322834644}"/>
</p:tagLst>
</file>

<file path=ppt/tags/tag129.xml><?xml version="1.0" encoding="utf-8"?>
<p:tagLst xmlns:p="http://schemas.openxmlformats.org/presentationml/2006/main">
  <p:tag name="KSO_WM_DIAGRAM_VIRTUALLY_FRAME" val="{&quot;height&quot;:297.4908661417323,&quot;left&quot;:43.01307086614172,&quot;top&quot;:111.33992125984248,&quot;width&quot;:833.0717322834644}"/>
</p:tagLst>
</file>

<file path=ppt/tags/tag130.xml><?xml version="1.0" encoding="utf-8"?>
<p:tagLst xmlns:p="http://schemas.openxmlformats.org/presentationml/2006/main">
  <p:tag name="KSO_WM_DIAGRAM_VIRTUALLY_FRAME" val="{&quot;height&quot;:297.4908661417323,&quot;left&quot;:43.01307086614172,&quot;top&quot;:111.33992125984248,&quot;width&quot;:833.0717322834644}"/>
</p:tagLst>
</file>

<file path=ppt/tags/tag131.xml><?xml version="1.0" encoding="utf-8"?>
<p:tagLst xmlns:p="http://schemas.openxmlformats.org/presentationml/2006/main">
  <p:tag name="KSO_WM_DIAGRAM_VIRTUALLY_FRAME" val="{&quot;height&quot;:297.4908661417323,&quot;left&quot;:43.01307086614172,&quot;top&quot;:111.33992125984248,&quot;width&quot;:833.0717322834644}"/>
</p:tagLst>
</file>

<file path=ppt/tags/tag132.xml><?xml version="1.0" encoding="utf-8"?>
<p:tagLst xmlns:p="http://schemas.openxmlformats.org/presentationml/2006/main">
  <p:tag name="KSO_WM_DIAGRAM_VIRTUALLY_FRAME" val="{&quot;height&quot;:297.4908661417323,&quot;left&quot;:43.01307086614172,&quot;top&quot;:111.33992125984248,&quot;width&quot;:833.0717322834644}"/>
</p:tagLst>
</file>

<file path=ppt/tags/tag133.xml><?xml version="1.0" encoding="utf-8"?>
<p:tagLst xmlns:p="http://schemas.openxmlformats.org/presentationml/2006/main">
  <p:tag name="KSO_WM_DIAGRAM_VIRTUALLY_FRAME" val="{&quot;height&quot;:308.10850393700787,&quot;left&quot;:32.297874015748036,&quot;top&quot;:100.1722834645669,&quot;width&quot;:843.7869291338582}"/>
</p:tagLst>
</file>

<file path=ppt/tags/tag134.xml><?xml version="1.0" encoding="utf-8"?>
<p:tagLst xmlns:p="http://schemas.openxmlformats.org/presentationml/2006/main">
  <p:tag name="KSO_WM_DIAGRAM_VIRTUALLY_FRAME" val="{&quot;height&quot;:308.10850393700787,&quot;left&quot;:32.297874015748036,&quot;top&quot;:100.1722834645669,&quot;width&quot;:843.7869291338582}"/>
</p:tagLst>
</file>

<file path=ppt/tags/tag135.xml><?xml version="1.0" encoding="utf-8"?>
<p:tagLst xmlns:p="http://schemas.openxmlformats.org/presentationml/2006/main">
  <p:tag name="KSO_WM_DIAGRAM_VIRTUALLY_FRAME" val="{&quot;height&quot;:308.10850393700787,&quot;left&quot;:32.297874015748036,&quot;top&quot;:100.1722834645669,&quot;width&quot;:843.7869291338582}"/>
</p:tagLst>
</file>

<file path=ppt/tags/tag136.xml><?xml version="1.0" encoding="utf-8"?>
<p:tagLst xmlns:p="http://schemas.openxmlformats.org/presentationml/2006/main">
  <p:tag name="KSO_WM_DIAGRAM_VIRTUALLY_FRAME" val="{&quot;height&quot;:308.10850393700787,&quot;left&quot;:32.297874015748036,&quot;top&quot;:100.1722834645669,&quot;width&quot;:843.7869291338582}"/>
</p:tagLst>
</file>

<file path=ppt/tags/tag137.xml><?xml version="1.0" encoding="utf-8"?>
<p:tagLst xmlns:p="http://schemas.openxmlformats.org/presentationml/2006/main">
  <p:tag name="KSO_WM_DIAGRAM_VIRTUALLY_FRAME" val="{&quot;height&quot;:308.10850393700787,&quot;left&quot;:32.297874015748036,&quot;top&quot;:100.1722834645669,&quot;width&quot;:843.7869291338582}"/>
</p:tagLst>
</file>

<file path=ppt/tags/tag138.xml><?xml version="1.0" encoding="utf-8"?>
<p:tagLst xmlns:p="http://schemas.openxmlformats.org/presentationml/2006/main">
  <p:tag name="KSO_WM_DIAGRAM_VIRTUALLY_FRAME" val="{&quot;height&quot;:308.10850393700787,&quot;left&quot;:32.297874015748036,&quot;top&quot;:100.1722834645669,&quot;width&quot;:843.7869291338582}"/>
</p:tagLst>
</file>

<file path=ppt/tags/tag139.xml><?xml version="1.0" encoding="utf-8"?>
<p:tagLst xmlns:p="http://schemas.openxmlformats.org/presentationml/2006/main">
  <p:tag name="KSO_WM_DIAGRAM_VIRTUALLY_FRAME" val="{&quot;height&quot;:308.10850393700787,&quot;left&quot;:32.297874015748036,&quot;top&quot;:100.1722834645669,&quot;width&quot;:843.7869291338582}"/>
</p:tagLst>
</file>

<file path=ppt/tags/tag140.xml><?xml version="1.0" encoding="utf-8"?>
<p:tagLst xmlns:p="http://schemas.openxmlformats.org/presentationml/2006/main">
  <p:tag name="KSO_WM_DIAGRAM_VIRTUALLY_FRAME" val="{&quot;height&quot;:308.10850393700787,&quot;left&quot;:32.297874015748036,&quot;top&quot;:100.1722834645669,&quot;width&quot;:843.7869291338582}"/>
</p:tagLst>
</file>

<file path=ppt/tags/tag141.xml><?xml version="1.0" encoding="utf-8"?>
<p:tagLst xmlns:p="http://schemas.openxmlformats.org/presentationml/2006/main">
  <p:tag name="KSO_WM_DIAGRAM_VIRTUALLY_FRAME" val="{&quot;height&quot;:306.35842519685036,&quot;left&quot;:43.013070866141696,&quot;top&quot;:101.92236220472441,&quot;width&quot;:833.0717322834644}"/>
</p:tagLst>
</file>

<file path=ppt/tags/tag142.xml><?xml version="1.0" encoding="utf-8"?>
<p:tagLst xmlns:p="http://schemas.openxmlformats.org/presentationml/2006/main">
  <p:tag name="KSO_WM_DIAGRAM_VIRTUALLY_FRAME" val="{&quot;height&quot;:306.35842519685036,&quot;left&quot;:43.013070866141696,&quot;top&quot;:101.92236220472441,&quot;width&quot;:833.0717322834644}"/>
</p:tagLst>
</file>

<file path=ppt/tags/tag143.xml><?xml version="1.0" encoding="utf-8"?>
<p:tagLst xmlns:p="http://schemas.openxmlformats.org/presentationml/2006/main">
  <p:tag name="KSO_WM_DIAGRAM_VIRTUALLY_FRAME" val="{&quot;height&quot;:306.35842519685036,&quot;left&quot;:43.013070866141696,&quot;top&quot;:101.92236220472441,&quot;width&quot;:833.0717322834644}"/>
</p:tagLst>
</file>

<file path=ppt/tags/tag144.xml><?xml version="1.0" encoding="utf-8"?>
<p:tagLst xmlns:p="http://schemas.openxmlformats.org/presentationml/2006/main">
  <p:tag name="KSO_WM_DIAGRAM_VIRTUALLY_FRAME" val="{&quot;height&quot;:306.35842519685036,&quot;left&quot;:43.013070866141696,&quot;top&quot;:101.92236220472441,&quot;width&quot;:833.0717322834644}"/>
</p:tagLst>
</file>

<file path=ppt/tags/tag145.xml><?xml version="1.0" encoding="utf-8"?>
<p:tagLst xmlns:p="http://schemas.openxmlformats.org/presentationml/2006/main">
  <p:tag name="KSO_WM_DIAGRAM_VIRTUALLY_FRAME" val="{&quot;height&quot;:306.35842519685036,&quot;left&quot;:43.013070866141696,&quot;top&quot;:101.92236220472441,&quot;width&quot;:833.0717322834644}"/>
</p:tagLst>
</file>

<file path=ppt/tags/tag146.xml><?xml version="1.0" encoding="utf-8"?>
<p:tagLst xmlns:p="http://schemas.openxmlformats.org/presentationml/2006/main">
  <p:tag name="KSO_WM_DIAGRAM_VIRTUALLY_FRAME" val="{&quot;height&quot;:306.35842519685036,&quot;left&quot;:43.01307086614172,&quot;top&quot;:101.92236220472441,&quot;width&quot;:833.0717322834644}"/>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DIAGRAM_VIRTUALLY_FRAME" val="{&quot;height&quot;:306.35842519685036,&quot;left&quot;:43.013070866141696,&quot;top&quot;:101.92236220472441,&quot;width&quot;:833.0717322834644}"/>
</p:tagLst>
</file>

<file path=ppt/tags/tag151.xml><?xml version="1.0" encoding="utf-8"?>
<p:tagLst xmlns:p="http://schemas.openxmlformats.org/presentationml/2006/main">
  <p:tag name="KSO_WM_DIAGRAM_VIRTUALLY_FRAME" val="{&quot;height&quot;:306.35842519685036,&quot;left&quot;:43.013070866141696,&quot;top&quot;:101.92236220472441,&quot;width&quot;:833.0717322834644}"/>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DIAGRAM_VIRTUALLY_FRAME" val="{&quot;height&quot;:306.35842519685036,&quot;left&quot;:43.013070866141696,&quot;top&quot;:101.92236220472441,&quot;width&quot;:833.0717322834644}"/>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DIAGRAM_VIRTUALLY_FRAME" val="{&quot;height&quot;:306.35842519685036,&quot;left&quot;:43.013070866141696,&quot;top&quot;:101.92236220472441,&quot;width&quot;:833.0717322834644}"/>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DIAGRAM_VIRTUALLY_FRAME" val="{&quot;height&quot;:194.9448818897638,&quot;left&quot;:117.8548031496063,&quot;top&quot;:194.79472440944883,&quot;width&quot;:695.2324409448819}"/>
</p:tagLst>
</file>

<file path=ppt/tags/tag164.xml><?xml version="1.0" encoding="utf-8"?>
<p:tagLst xmlns:p="http://schemas.openxmlformats.org/presentationml/2006/main">
  <p:tag name="KSO_WM_DIAGRAM_VIRTUALLY_FRAME" val="{&quot;height&quot;:194.9448818897638,&quot;left&quot;:117.8548031496063,&quot;top&quot;:194.79472440944883,&quot;width&quot;:695.2324409448819}"/>
</p:tagLst>
</file>

<file path=ppt/tags/tag165.xml><?xml version="1.0" encoding="utf-8"?>
<p:tagLst xmlns:p="http://schemas.openxmlformats.org/presentationml/2006/main">
  <p:tag name="KSO_WM_DIAGRAM_VIRTUALLY_FRAME" val="{&quot;height&quot;:194.9448818897638,&quot;left&quot;:117.8548031496063,&quot;top&quot;:194.79472440944883,&quot;width&quot;:695.2324409448819}"/>
</p:tagLst>
</file>

<file path=ppt/tags/tag166.xml><?xml version="1.0" encoding="utf-8"?>
<p:tagLst xmlns:p="http://schemas.openxmlformats.org/presentationml/2006/main">
  <p:tag name="KSO_WM_DIAGRAM_VIRTUALLY_FRAME" val="{&quot;height&quot;:194.9448818897638,&quot;left&quot;:117.8548031496063,&quot;top&quot;:194.79472440944883,&quot;width&quot;:695.2324409448819}"/>
</p:tagLst>
</file>

<file path=ppt/tags/tag167.xml><?xml version="1.0" encoding="utf-8"?>
<p:tagLst xmlns:p="http://schemas.openxmlformats.org/presentationml/2006/main">
  <p:tag name="KSO_WM_DIAGRAM_VIRTUALLY_FRAME" val="{&quot;height&quot;:194.9448818897638,&quot;left&quot;:117.8548031496063,&quot;top&quot;:194.79472440944883,&quot;width&quot;:695.2324409448819}"/>
</p:tagLst>
</file>

<file path=ppt/tags/tag168.xml><?xml version="1.0" encoding="utf-8"?>
<p:tagLst xmlns:p="http://schemas.openxmlformats.org/presentationml/2006/main">
  <p:tag name="commondata" val="eyJoZGlkIjoiZWUzODJiOGYyZmQ4OTc1MmFhYmQzMjc4OTIzNTc0Nzk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4489</Words>
  <Application>WPS 演示</Application>
  <PresentationFormat>宽屏</PresentationFormat>
  <Paragraphs>313</Paragraphs>
  <Slides>31</Slides>
  <Notes>4</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31</vt:i4>
      </vt:variant>
    </vt:vector>
  </HeadingPairs>
  <TitlesOfParts>
    <vt:vector size="53" baseType="lpstr">
      <vt:lpstr>Arial</vt:lpstr>
      <vt:lpstr>宋体</vt:lpstr>
      <vt:lpstr>Wingdings</vt:lpstr>
      <vt:lpstr>Wingdings</vt:lpstr>
      <vt:lpstr>思源黑体 CN Normal</vt:lpstr>
      <vt:lpstr>黑体</vt:lpstr>
      <vt:lpstr>思源黑体 CN Heavy</vt:lpstr>
      <vt:lpstr>Arial Black</vt:lpstr>
      <vt:lpstr>Aharoni</vt:lpstr>
      <vt:lpstr>等线</vt:lpstr>
      <vt:lpstr>思源黑体 CN Heavy</vt:lpstr>
      <vt:lpstr>思源黑体 CN Bold</vt:lpstr>
      <vt:lpstr>思源黑体 CN Regular</vt:lpstr>
      <vt:lpstr>Helvetica Light</vt:lpstr>
      <vt:lpstr>微软雅黑</vt:lpstr>
      <vt:lpstr>Arial Unicode MS</vt:lpstr>
      <vt:lpstr>Calibri</vt:lpstr>
      <vt:lpstr>Gill Sans</vt:lpstr>
      <vt:lpstr>Times New Roman</vt:lpstr>
      <vt:lpstr>Yu Gothic UI Semibold</vt:lpstr>
      <vt:lpstr>Gill Sans MT</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500年女孩</cp:lastModifiedBy>
  <cp:revision>290</cp:revision>
  <dcterms:created xsi:type="dcterms:W3CDTF">2019-06-19T02:08:00Z</dcterms:created>
  <dcterms:modified xsi:type="dcterms:W3CDTF">2024-04-01T08:43:14Z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ICV">
    <vt:lpwstr>72A46C82688E497181C86FD82718DED5_13</vt:lpwstr>
  </property>
</Properties>
</file>