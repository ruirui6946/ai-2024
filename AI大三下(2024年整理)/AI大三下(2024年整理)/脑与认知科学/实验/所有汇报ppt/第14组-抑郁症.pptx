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2.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940" r:id="rId1"/>
  </p:sldMasterIdLst>
  <p:notesMasterIdLst>
    <p:notesMasterId r:id="rId22"/>
  </p:notesMasterIdLst>
  <p:handoutMasterIdLst>
    <p:handoutMasterId r:id="rId23"/>
  </p:handoutMasterIdLst>
  <p:sldIdLst>
    <p:sldId id="3179" r:id="rId2"/>
    <p:sldId id="3194" r:id="rId3"/>
    <p:sldId id="3174" r:id="rId4"/>
    <p:sldId id="3200" r:id="rId5"/>
    <p:sldId id="3197" r:id="rId6"/>
    <p:sldId id="3318" r:id="rId7"/>
    <p:sldId id="3355" r:id="rId8"/>
    <p:sldId id="3346" r:id="rId9"/>
    <p:sldId id="3347" r:id="rId10"/>
    <p:sldId id="3192" r:id="rId11"/>
    <p:sldId id="3340" r:id="rId12"/>
    <p:sldId id="3345" r:id="rId13"/>
    <p:sldId id="267" r:id="rId14"/>
    <p:sldId id="3348" r:id="rId15"/>
    <p:sldId id="3327" r:id="rId16"/>
    <p:sldId id="3356" r:id="rId17"/>
    <p:sldId id="3353" r:id="rId18"/>
    <p:sldId id="3352" r:id="rId19"/>
    <p:sldId id="3354" r:id="rId20"/>
    <p:sldId id="3196" r:id="rId21"/>
  </p:sldIdLst>
  <p:sldSz cx="12858750" cy="7232650"/>
  <p:notesSz cx="6858000" cy="9144000"/>
  <p:custDataLst>
    <p:tags r:id="rId24"/>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639763" indent="-182563"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282700" indent="-3683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925638" indent="-554038"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2568575" indent="-73977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28" userDrawn="1">
          <p15:clr>
            <a:srgbClr val="A4A3A4"/>
          </p15:clr>
        </p15:guide>
        <p15:guide id="2" pos="4050" userDrawn="1">
          <p15:clr>
            <a:srgbClr val="A4A3A4"/>
          </p15:clr>
        </p15:guide>
        <p15:guide id="3" pos="557" userDrawn="1">
          <p15:clr>
            <a:srgbClr val="A4A3A4"/>
          </p15:clr>
        </p15:guide>
        <p15:guide id="5" orient="horz" pos="4183" userDrawn="1">
          <p15:clr>
            <a:srgbClr val="A4A3A4"/>
          </p15:clr>
        </p15:guide>
        <p15:guide id="6" pos="7588" userDrawn="1">
          <p15:clr>
            <a:srgbClr val="A4A3A4"/>
          </p15:clr>
        </p15:guide>
        <p15:guide id="7" pos="376" userDrawn="1">
          <p15:clr>
            <a:srgbClr val="A4A3A4"/>
          </p15:clr>
        </p15:guide>
        <p15:guide id="8" pos="135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777FBE"/>
    <a:srgbClr val="ADACFB"/>
    <a:srgbClr val="E8DAFE"/>
    <a:srgbClr val="CAC7FD"/>
    <a:srgbClr val="37217D"/>
    <a:srgbClr val="DAB6FF"/>
    <a:srgbClr val="FFAD91"/>
    <a:srgbClr val="B0917B"/>
    <a:srgbClr val="FB750F"/>
    <a:srgbClr val="FB98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4" autoAdjust="0"/>
    <p:restoredTop sz="88010" autoAdjust="0"/>
  </p:normalViewPr>
  <p:slideViewPr>
    <p:cSldViewPr>
      <p:cViewPr varScale="1">
        <p:scale>
          <a:sx n="94" d="100"/>
          <a:sy n="94" d="100"/>
        </p:scale>
        <p:origin x="1158" y="84"/>
      </p:cViewPr>
      <p:guideLst>
        <p:guide orient="horz" pos="328"/>
        <p:guide pos="4050"/>
        <p:guide pos="557"/>
        <p:guide orient="horz" pos="4183"/>
        <p:guide pos="7588"/>
        <p:guide pos="376"/>
        <p:guide pos="1350"/>
      </p:guideLst>
    </p:cSldViewPr>
  </p:slideViewPr>
  <p:outlineViewPr>
    <p:cViewPr>
      <p:scale>
        <a:sx n="100" d="100"/>
        <a:sy n="100" d="100"/>
      </p:scale>
      <p:origin x="0" y="0"/>
    </p:cViewPr>
  </p:outlineViewPr>
  <p:notesTextViewPr>
    <p:cViewPr>
      <p:scale>
        <a:sx n="1" d="1"/>
        <a:sy n="1" d="1"/>
      </p:scale>
      <p:origin x="0" y="0"/>
    </p:cViewPr>
  </p:notesTextViewPr>
  <p:sorterViewPr>
    <p:cViewPr>
      <p:scale>
        <a:sx n="86" d="100"/>
        <a:sy n="86" d="100"/>
      </p:scale>
      <p:origin x="0" y="0"/>
    </p:cViewPr>
  </p:sorterViewPr>
  <p:notesViewPr>
    <p:cSldViewPr showGuides="1">
      <p:cViewPr varScale="1">
        <p:scale>
          <a:sx n="72" d="100"/>
          <a:sy n="72" d="100"/>
        </p:scale>
        <p:origin x="3592" y="21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742FC-62BB-4B81-9CA5-3B750A4B4580}" type="datetimeFigureOut">
              <a:rPr lang="zh-CN" altLang="en-US" smtClean="0"/>
              <a:t>2024/5/16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67E82F1-5B17-4D95-A6D6-EB96F2D72B61}" type="slidenum">
              <a:rPr lang="zh-CN" altLang="en-US" smtClean="0"/>
              <a:t>‹#›</a:t>
            </a:fld>
            <a:endParaRPr lang="zh-CN" altLang="en-US"/>
          </a:p>
        </p:txBody>
      </p:sp>
    </p:spTree>
    <p:extLst>
      <p:ext uri="{BB962C8B-B14F-4D97-AF65-F5344CB8AC3E}">
        <p14:creationId xmlns:p14="http://schemas.microsoft.com/office/powerpoint/2010/main" val="42425143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pPr>
                <a:defRPr/>
              </a:pPr>
              <a:t>2024/5/16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418F03C3-53C1-4F10-8DAF-D1F318E96C6E}" type="slidenum">
              <a:rPr lang="zh-CN" altLang="en-US"/>
              <a:pPr/>
              <a:t>‹#›</a:t>
            </a:fld>
            <a:endParaRPr lang="zh-CN" altLang="en-US"/>
          </a:p>
        </p:txBody>
      </p:sp>
    </p:spTree>
    <p:extLst>
      <p:ext uri="{BB962C8B-B14F-4D97-AF65-F5344CB8AC3E}">
        <p14:creationId xmlns:p14="http://schemas.microsoft.com/office/powerpoint/2010/main" val="20605404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mn-lt"/>
        <a:ea typeface="+mn-ea"/>
        <a:cs typeface="+mn-cs"/>
      </a:defRPr>
    </a:lvl1pPr>
    <a:lvl2pPr marL="455613" algn="l" rtl="0" eaLnBrk="0" fontAlgn="base" hangingPunct="0">
      <a:spcBef>
        <a:spcPct val="30000"/>
      </a:spcBef>
      <a:spcAft>
        <a:spcPct val="0"/>
      </a:spcAft>
      <a:defRPr sz="1300" kern="1200">
        <a:solidFill>
          <a:schemeClr val="tx1"/>
        </a:solidFill>
        <a:latin typeface="+mn-lt"/>
        <a:ea typeface="+mn-ea"/>
        <a:cs typeface="+mn-cs"/>
      </a:defRPr>
    </a:lvl2pPr>
    <a:lvl3pPr marL="912813" algn="l" rtl="0" eaLnBrk="0" fontAlgn="base" hangingPunct="0">
      <a:spcBef>
        <a:spcPct val="30000"/>
      </a:spcBef>
      <a:spcAft>
        <a:spcPct val="0"/>
      </a:spcAft>
      <a:defRPr sz="1300" kern="1200">
        <a:solidFill>
          <a:schemeClr val="tx1"/>
        </a:solidFill>
        <a:latin typeface="+mn-lt"/>
        <a:ea typeface="+mn-ea"/>
        <a:cs typeface="+mn-cs"/>
      </a:defRPr>
    </a:lvl3pPr>
    <a:lvl4pPr marL="1370013" algn="l" rtl="0" eaLnBrk="0" fontAlgn="base" hangingPunct="0">
      <a:spcBef>
        <a:spcPct val="30000"/>
      </a:spcBef>
      <a:spcAft>
        <a:spcPct val="0"/>
      </a:spcAft>
      <a:defRPr sz="1300" kern="1200">
        <a:solidFill>
          <a:schemeClr val="tx1"/>
        </a:solidFill>
        <a:latin typeface="+mn-lt"/>
        <a:ea typeface="+mn-ea"/>
        <a:cs typeface="+mn-cs"/>
      </a:defRPr>
    </a:lvl4pPr>
    <a:lvl5pPr marL="1827213" algn="l" rtl="0" eaLnBrk="0" fontAlgn="base" hangingPunct="0">
      <a:spcBef>
        <a:spcPct val="30000"/>
      </a:spcBef>
      <a:spcAft>
        <a:spcPct val="0"/>
      </a:spcAft>
      <a:defRPr sz="1300" kern="1200">
        <a:solidFill>
          <a:schemeClr val="tx1"/>
        </a:solidFill>
        <a:latin typeface="+mn-lt"/>
        <a:ea typeface="+mn-ea"/>
        <a:cs typeface="+mn-cs"/>
      </a:defRPr>
    </a:lvl5pPr>
    <a:lvl6pPr marL="2285493" algn="l" defTabSz="914197" rtl="0" eaLnBrk="1" latinLnBrk="0" hangingPunct="1">
      <a:defRPr sz="1300" kern="1200">
        <a:solidFill>
          <a:schemeClr val="tx1"/>
        </a:solidFill>
        <a:latin typeface="+mn-lt"/>
        <a:ea typeface="+mn-ea"/>
        <a:cs typeface="+mn-cs"/>
      </a:defRPr>
    </a:lvl6pPr>
    <a:lvl7pPr marL="2742592" algn="l" defTabSz="914197" rtl="0" eaLnBrk="1" latinLnBrk="0" hangingPunct="1">
      <a:defRPr sz="1300" kern="1200">
        <a:solidFill>
          <a:schemeClr val="tx1"/>
        </a:solidFill>
        <a:latin typeface="+mn-lt"/>
        <a:ea typeface="+mn-ea"/>
        <a:cs typeface="+mn-cs"/>
      </a:defRPr>
    </a:lvl7pPr>
    <a:lvl8pPr marL="3199692" algn="l" defTabSz="914197" rtl="0" eaLnBrk="1" latinLnBrk="0" hangingPunct="1">
      <a:defRPr sz="1300" kern="1200">
        <a:solidFill>
          <a:schemeClr val="tx1"/>
        </a:solidFill>
        <a:latin typeface="+mn-lt"/>
        <a:ea typeface="+mn-ea"/>
        <a:cs typeface="+mn-cs"/>
      </a:defRPr>
    </a:lvl8pPr>
    <a:lvl9pPr marL="3656788" algn="l" defTabSz="914197"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a:t>
            </a:fld>
            <a:endParaRPr lang="zh-CN" altLang="en-US"/>
          </a:p>
        </p:txBody>
      </p:sp>
    </p:spTree>
    <p:extLst>
      <p:ext uri="{BB962C8B-B14F-4D97-AF65-F5344CB8AC3E}">
        <p14:creationId xmlns:p14="http://schemas.microsoft.com/office/powerpoint/2010/main" val="31748767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a:t>
            </a:fld>
            <a:endParaRPr lang="zh-CN" altLang="en-US"/>
          </a:p>
        </p:txBody>
      </p:sp>
    </p:spTree>
    <p:extLst>
      <p:ext uri="{BB962C8B-B14F-4D97-AF65-F5344CB8AC3E}">
        <p14:creationId xmlns:p14="http://schemas.microsoft.com/office/powerpoint/2010/main" val="15872087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BAFBD33-0E80-4B03-BDEC-5ABB56D86918}" type="slidenum">
              <a:rPr lang="zh-CN" altLang="en-US" smtClean="0"/>
              <a:t>3</a:t>
            </a:fld>
            <a:endParaRPr lang="zh-CN" altLang="en-US"/>
          </a:p>
        </p:txBody>
      </p:sp>
    </p:spTree>
    <p:extLst>
      <p:ext uri="{BB962C8B-B14F-4D97-AF65-F5344CB8AC3E}">
        <p14:creationId xmlns:p14="http://schemas.microsoft.com/office/powerpoint/2010/main" val="2293140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4</a:t>
            </a:fld>
            <a:endParaRPr lang="zh-CN" altLang="en-US"/>
          </a:p>
        </p:txBody>
      </p:sp>
    </p:spTree>
    <p:extLst>
      <p:ext uri="{BB962C8B-B14F-4D97-AF65-F5344CB8AC3E}">
        <p14:creationId xmlns:p14="http://schemas.microsoft.com/office/powerpoint/2010/main" val="2575072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BAFBD33-0E80-4B03-BDEC-5ABB56D86918}" type="slidenum">
              <a:rPr lang="zh-CN" altLang="en-US" smtClean="0"/>
              <a:t>5</a:t>
            </a:fld>
            <a:endParaRPr lang="zh-CN" altLang="en-US"/>
          </a:p>
        </p:txBody>
      </p:sp>
    </p:spTree>
    <p:extLst>
      <p:ext uri="{BB962C8B-B14F-4D97-AF65-F5344CB8AC3E}">
        <p14:creationId xmlns:p14="http://schemas.microsoft.com/office/powerpoint/2010/main" val="2030534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5B76A77C-3537-44E7-AEA1-209C8C26037E}"/>
              </a:ext>
            </a:extLst>
          </p:cNvPr>
          <p:cNvSpPr>
            <a:spLocks noGrp="1"/>
          </p:cNvSpPr>
          <p:nvPr>
            <p:ph type="body" idx="1"/>
          </p:nvPr>
        </p:nvSpPr>
        <p:spPr/>
        <p:txBody>
          <a:bodyPr/>
          <a:lstStyle/>
          <a:p>
            <a:pPr marL="457200" indent="-457200">
              <a:spcAft>
                <a:spcPts val="1200"/>
              </a:spcAft>
              <a:buFont typeface="Arial" panose="020B0604020202020204" pitchFamily="34" charset="0"/>
              <a:buChar char="•"/>
            </a:pPr>
            <a:r>
              <a:rPr lang="zh-CN" altLang="en-US" sz="1400" b="1" dirty="0">
                <a:latin typeface="仿宋" panose="02010609060101010101" pitchFamily="49" charset="-122"/>
                <a:ea typeface="仿宋" panose="02010609060101010101" pitchFamily="49" charset="-122"/>
              </a:rPr>
              <a:t>大脑：</a:t>
            </a:r>
            <a:r>
              <a:rPr lang="zh-CN" altLang="en-US" sz="1400" dirty="0">
                <a:latin typeface="仿宋" panose="02010609060101010101" pitchFamily="49" charset="-122"/>
                <a:ea typeface="仿宋" panose="02010609060101010101" pitchFamily="49" charset="-122"/>
              </a:rPr>
              <a:t>神经细胞之间的连接方式、生长和功能变化，边缘系统的异常以及大脑高级认知控制区域和奖赏调节区域的功能问题，都有可能引发情绪调节失调，影响抑郁症的发作。</a:t>
            </a:r>
            <a:endParaRPr lang="en-US" altLang="zh-CN" sz="1400" dirty="0">
              <a:latin typeface="仿宋" panose="02010609060101010101" pitchFamily="49" charset="-122"/>
              <a:ea typeface="仿宋" panose="02010609060101010101" pitchFamily="49" charset="-122"/>
            </a:endParaRPr>
          </a:p>
          <a:p>
            <a:pPr marL="457200" indent="-457200">
              <a:spcAft>
                <a:spcPts val="1200"/>
              </a:spcAft>
              <a:buFont typeface="Arial" panose="020B0604020202020204" pitchFamily="34" charset="0"/>
              <a:buChar char="•"/>
            </a:pPr>
            <a:r>
              <a:rPr lang="zh-CN" altLang="en-US" sz="1400" b="1" dirty="0">
                <a:latin typeface="仿宋" panose="02010609060101010101" pitchFamily="49" charset="-122"/>
                <a:ea typeface="仿宋" panose="02010609060101010101" pitchFamily="49" charset="-122"/>
              </a:rPr>
              <a:t>神经递质：</a:t>
            </a:r>
            <a:r>
              <a:rPr lang="zh-CN" altLang="en-US" sz="1400" dirty="0">
                <a:latin typeface="仿宋" panose="02010609060101010101" pitchFamily="49" charset="-122"/>
                <a:ea typeface="仿宋" panose="02010609060101010101" pitchFamily="49" charset="-122"/>
              </a:rPr>
              <a:t>神经递质在抑郁症的发生和发展中扮演着重要角色。神经递质水平异常或受体敏感性改变可能导致情绪、认知和行为功能的异常，从而加重抑郁症的症状。例如乙酰胆碱，多巴胺，谷氨酸等等</a:t>
            </a:r>
            <a:endParaRPr lang="en-US" altLang="zh-CN" sz="1400" dirty="0">
              <a:latin typeface="仿宋" panose="02010609060101010101" pitchFamily="49" charset="-122"/>
              <a:ea typeface="仿宋" panose="02010609060101010101" pitchFamily="49" charset="-122"/>
            </a:endParaRPr>
          </a:p>
          <a:p>
            <a:pPr marL="457200" indent="-457200">
              <a:spcAft>
                <a:spcPts val="1200"/>
              </a:spcAft>
              <a:buFont typeface="Arial" panose="020B0604020202020204" pitchFamily="34" charset="0"/>
              <a:buChar char="•"/>
            </a:pPr>
            <a:r>
              <a:rPr lang="zh-CN" altLang="en-US" sz="1400" b="1" dirty="0">
                <a:latin typeface="仿宋" panose="02010609060101010101" pitchFamily="49" charset="-122"/>
                <a:ea typeface="仿宋" panose="02010609060101010101" pitchFamily="49" charset="-122"/>
              </a:rPr>
              <a:t>基因：</a:t>
            </a:r>
            <a:r>
              <a:rPr lang="zh-CN" altLang="en-US" sz="1400" dirty="0">
                <a:latin typeface="仿宋" panose="02010609060101010101" pitchFamily="49" charset="-122"/>
                <a:ea typeface="仿宋" panose="02010609060101010101" pitchFamily="49" charset="-122"/>
              </a:rPr>
              <a:t>先天决定的疾病易感性，通过影响神经递质系统的功能、调控基因表达和与环境相互作用等途径发挥作用，增加了个体患抑郁症的风险。</a:t>
            </a:r>
            <a:endParaRPr lang="en-US" altLang="zh-CN" sz="1400" dirty="0">
              <a:latin typeface="仿宋" panose="02010609060101010101" pitchFamily="49" charset="-122"/>
              <a:ea typeface="仿宋" panose="02010609060101010101" pitchFamily="49" charset="-122"/>
            </a:endParaRPr>
          </a:p>
          <a:p>
            <a:pPr marL="457200" indent="-457200">
              <a:spcAft>
                <a:spcPts val="1200"/>
              </a:spcAft>
              <a:buFont typeface="Arial" panose="020B0604020202020204" pitchFamily="34" charset="0"/>
              <a:buChar char="•"/>
            </a:pPr>
            <a:r>
              <a:rPr lang="zh-CN" altLang="en-US" sz="1400" b="1" dirty="0">
                <a:latin typeface="仿宋" panose="02010609060101010101" pitchFamily="49" charset="-122"/>
                <a:ea typeface="仿宋" panose="02010609060101010101" pitchFamily="49" charset="-122"/>
              </a:rPr>
              <a:t>压力：</a:t>
            </a:r>
            <a:r>
              <a:rPr lang="zh-CN" altLang="en-US" sz="1400" dirty="0">
                <a:latin typeface="仿宋" panose="02010609060101010101" pitchFamily="49" charset="-122"/>
                <a:ea typeface="仿宋" panose="02010609060101010101" pitchFamily="49" charset="-122"/>
              </a:rPr>
              <a:t>压力通过触发生理学响应、早期事件的影响以及心理创伤的持久性影响等途径，增加了个体患抑郁症的风险。</a:t>
            </a:r>
            <a:endParaRPr lang="en-US" altLang="zh-CN" sz="1400" dirty="0">
              <a:latin typeface="仿宋" panose="02010609060101010101" pitchFamily="49" charset="-122"/>
              <a:ea typeface="仿宋" panose="02010609060101010101" pitchFamily="49" charset="-122"/>
            </a:endParaRPr>
          </a:p>
          <a:p>
            <a:pPr marL="457200" indent="-457200">
              <a:spcAft>
                <a:spcPts val="1200"/>
              </a:spcAft>
              <a:buFont typeface="Arial" panose="020B0604020202020204" pitchFamily="34" charset="0"/>
              <a:buChar char="•"/>
            </a:pPr>
            <a:r>
              <a:rPr lang="zh-CN" altLang="en-US" sz="1400" b="1" dirty="0">
                <a:latin typeface="仿宋" panose="02010609060101010101" pitchFamily="49" charset="-122"/>
                <a:ea typeface="仿宋" panose="02010609060101010101" pitchFamily="49" charset="-122"/>
              </a:rPr>
              <a:t>疾病与药物作用：</a:t>
            </a:r>
            <a:r>
              <a:rPr lang="zh-CN" altLang="en-US" sz="1400" dirty="0">
                <a:latin typeface="仿宋" panose="02010609060101010101" pitchFamily="49" charset="-122"/>
                <a:ea typeface="仿宋" panose="02010609060101010101" pitchFamily="49" charset="-122"/>
              </a:rPr>
              <a:t>疾病和药物在引发抑郁症方面通过直接影响生理功能、产生药物副作用以及增加心理压力等途径发挥作用，导致情绪低落和抑郁症症状的出现。</a:t>
            </a:r>
          </a:p>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5B76A77C-3537-44E7-AEA1-209C8C26037E}"/>
              </a:ext>
            </a:extLst>
          </p:cNvPr>
          <p:cNvSpPr>
            <a:spLocks noGrp="1"/>
          </p:cNvSpPr>
          <p:nvPr>
            <p:ph type="body" idx="1"/>
          </p:nvPr>
        </p:nvSpPr>
        <p:spPr/>
        <p:txBody>
          <a:bodyPr/>
          <a:lstStyle/>
          <a:p>
            <a:pPr marL="457200" indent="-457200">
              <a:spcAft>
                <a:spcPts val="1200"/>
              </a:spcAft>
              <a:buFont typeface="Arial" panose="020B0604020202020204" pitchFamily="34" charset="0"/>
              <a:buChar char="•"/>
            </a:pPr>
            <a:r>
              <a:rPr lang="zh-CN" altLang="en-US" sz="1400" b="1" dirty="0">
                <a:latin typeface="仿宋" panose="02010609060101010101" pitchFamily="49" charset="-122"/>
                <a:ea typeface="仿宋" panose="02010609060101010101" pitchFamily="49" charset="-122"/>
              </a:rPr>
              <a:t>大脑：</a:t>
            </a:r>
            <a:r>
              <a:rPr lang="zh-CN" altLang="en-US" sz="1400" dirty="0">
                <a:latin typeface="仿宋" panose="02010609060101010101" pitchFamily="49" charset="-122"/>
                <a:ea typeface="仿宋" panose="02010609060101010101" pitchFamily="49" charset="-122"/>
              </a:rPr>
              <a:t>神经细胞之间的连接方式、生长和功能变化，边缘系统的异常以及大脑高级认知控制区域和奖赏调节区域的功能问题，都有可能引发情绪调节失调，影响抑郁症的发作。</a:t>
            </a:r>
            <a:endParaRPr lang="en-US" altLang="zh-CN" sz="1400" dirty="0">
              <a:latin typeface="仿宋" panose="02010609060101010101" pitchFamily="49" charset="-122"/>
              <a:ea typeface="仿宋" panose="02010609060101010101" pitchFamily="49" charset="-122"/>
            </a:endParaRPr>
          </a:p>
          <a:p>
            <a:pPr marL="457200" indent="-457200">
              <a:spcAft>
                <a:spcPts val="1200"/>
              </a:spcAft>
              <a:buFont typeface="Arial" panose="020B0604020202020204" pitchFamily="34" charset="0"/>
              <a:buChar char="•"/>
            </a:pPr>
            <a:r>
              <a:rPr lang="zh-CN" altLang="en-US" sz="1400" b="1" dirty="0">
                <a:latin typeface="仿宋" panose="02010609060101010101" pitchFamily="49" charset="-122"/>
                <a:ea typeface="仿宋" panose="02010609060101010101" pitchFamily="49" charset="-122"/>
              </a:rPr>
              <a:t>神经递质：</a:t>
            </a:r>
            <a:r>
              <a:rPr lang="zh-CN" altLang="en-US" sz="1400" dirty="0">
                <a:latin typeface="仿宋" panose="02010609060101010101" pitchFamily="49" charset="-122"/>
                <a:ea typeface="仿宋" panose="02010609060101010101" pitchFamily="49" charset="-122"/>
              </a:rPr>
              <a:t>神经递质在抑郁症的发生和发展中扮演着重要角色。神经递质水平异常或受体敏感性改变可能导致情绪、认知和行为功能的异常，从而加重抑郁症的症状。例如乙酰胆碱，多巴胺，谷氨酸等等</a:t>
            </a:r>
            <a:endParaRPr lang="en-US" altLang="zh-CN" sz="1400" dirty="0">
              <a:latin typeface="仿宋" panose="02010609060101010101" pitchFamily="49" charset="-122"/>
              <a:ea typeface="仿宋" panose="02010609060101010101" pitchFamily="49" charset="-122"/>
            </a:endParaRPr>
          </a:p>
          <a:p>
            <a:pPr marL="457200" indent="-457200">
              <a:spcAft>
                <a:spcPts val="1200"/>
              </a:spcAft>
              <a:buFont typeface="Arial" panose="020B0604020202020204" pitchFamily="34" charset="0"/>
              <a:buChar char="•"/>
            </a:pPr>
            <a:r>
              <a:rPr lang="zh-CN" altLang="en-US" sz="1400" b="1" dirty="0">
                <a:latin typeface="仿宋" panose="02010609060101010101" pitchFamily="49" charset="-122"/>
                <a:ea typeface="仿宋" panose="02010609060101010101" pitchFamily="49" charset="-122"/>
              </a:rPr>
              <a:t>基因：</a:t>
            </a:r>
            <a:r>
              <a:rPr lang="zh-CN" altLang="en-US" sz="1400" dirty="0">
                <a:latin typeface="仿宋" panose="02010609060101010101" pitchFamily="49" charset="-122"/>
                <a:ea typeface="仿宋" panose="02010609060101010101" pitchFamily="49" charset="-122"/>
              </a:rPr>
              <a:t>先天决定的疾病易感性，通过影响神经递质系统的功能、调控基因表达和与环境相互作用等途径发挥作用，增加了个体患抑郁症的风险。</a:t>
            </a:r>
            <a:endParaRPr lang="en-US" altLang="zh-CN" sz="1400" dirty="0">
              <a:latin typeface="仿宋" panose="02010609060101010101" pitchFamily="49" charset="-122"/>
              <a:ea typeface="仿宋" panose="02010609060101010101" pitchFamily="49" charset="-122"/>
            </a:endParaRPr>
          </a:p>
          <a:p>
            <a:pPr marL="457200" indent="-457200">
              <a:spcAft>
                <a:spcPts val="1200"/>
              </a:spcAft>
              <a:buFont typeface="Arial" panose="020B0604020202020204" pitchFamily="34" charset="0"/>
              <a:buChar char="•"/>
            </a:pPr>
            <a:r>
              <a:rPr lang="zh-CN" altLang="en-US" sz="1400" b="1" dirty="0">
                <a:latin typeface="仿宋" panose="02010609060101010101" pitchFamily="49" charset="-122"/>
                <a:ea typeface="仿宋" panose="02010609060101010101" pitchFamily="49" charset="-122"/>
              </a:rPr>
              <a:t>压力：</a:t>
            </a:r>
            <a:r>
              <a:rPr lang="zh-CN" altLang="en-US" sz="1400" dirty="0">
                <a:latin typeface="仿宋" panose="02010609060101010101" pitchFamily="49" charset="-122"/>
                <a:ea typeface="仿宋" panose="02010609060101010101" pitchFamily="49" charset="-122"/>
              </a:rPr>
              <a:t>压力通过触发生理学响应、早期事件的影响以及心理创伤的持久性影响等途径，增加了个体患抑郁症的风险。</a:t>
            </a:r>
            <a:endParaRPr lang="en-US" altLang="zh-CN" sz="1400" dirty="0">
              <a:latin typeface="仿宋" panose="02010609060101010101" pitchFamily="49" charset="-122"/>
              <a:ea typeface="仿宋" panose="02010609060101010101" pitchFamily="49" charset="-122"/>
            </a:endParaRPr>
          </a:p>
          <a:p>
            <a:pPr marL="457200" indent="-457200">
              <a:spcAft>
                <a:spcPts val="1200"/>
              </a:spcAft>
              <a:buFont typeface="Arial" panose="020B0604020202020204" pitchFamily="34" charset="0"/>
              <a:buChar char="•"/>
            </a:pPr>
            <a:r>
              <a:rPr lang="zh-CN" altLang="en-US" sz="1400" b="1" dirty="0">
                <a:latin typeface="仿宋" panose="02010609060101010101" pitchFamily="49" charset="-122"/>
                <a:ea typeface="仿宋" panose="02010609060101010101" pitchFamily="49" charset="-122"/>
              </a:rPr>
              <a:t>疾病与药物作用：</a:t>
            </a:r>
            <a:r>
              <a:rPr lang="zh-CN" altLang="en-US" sz="1400" dirty="0">
                <a:latin typeface="仿宋" panose="02010609060101010101" pitchFamily="49" charset="-122"/>
                <a:ea typeface="仿宋" panose="02010609060101010101" pitchFamily="49" charset="-122"/>
              </a:rPr>
              <a:t>疾病和药物在引发抑郁症方面通过直接影响生理功能、产生药物副作用以及增加心理压力等途径发挥作用，导致情绪低落和抑郁症症状的出现。</a:t>
            </a:r>
          </a:p>
          <a:p>
            <a:endParaRPr lang="zh-CN" altLang="en-US" dirty="0"/>
          </a:p>
        </p:txBody>
      </p:sp>
    </p:spTree>
    <p:extLst>
      <p:ext uri="{BB962C8B-B14F-4D97-AF65-F5344CB8AC3E}">
        <p14:creationId xmlns:p14="http://schemas.microsoft.com/office/powerpoint/2010/main" val="563742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E9948D74-AEBB-4C95-8147-8FBDFB70993C}"/>
              </a:ext>
            </a:extLst>
          </p:cNvPr>
          <p:cNvSpPr>
            <a:spLocks noGrp="1"/>
          </p:cNvSpPr>
          <p:nvPr>
            <p:ph type="body" idx="1"/>
          </p:nvPr>
        </p:nvSpPr>
        <p:spPr/>
        <p:txBody>
          <a:bodyPr/>
          <a:lstStyle/>
          <a:p>
            <a:pPr marL="457200" indent="-457200">
              <a:spcAft>
                <a:spcPts val="600"/>
              </a:spcAft>
              <a:buFont typeface="Arial" panose="020B0604020202020204" pitchFamily="34" charset="0"/>
              <a:buChar char="•"/>
            </a:pPr>
            <a:r>
              <a:rPr lang="zh-CN" altLang="en-US" sz="1400" b="1" dirty="0">
                <a:latin typeface="仿宋" panose="02010609060101010101" pitchFamily="49" charset="-122"/>
                <a:ea typeface="仿宋" panose="02010609060101010101" pitchFamily="49" charset="-122"/>
              </a:rPr>
              <a:t>心境低落：</a:t>
            </a:r>
            <a:r>
              <a:rPr lang="zh-CN" altLang="en-US" sz="1400" dirty="0">
                <a:latin typeface="仿宋" panose="02010609060101010101" pitchFamily="49" charset="-122"/>
                <a:ea typeface="仿宋" panose="02010609060101010101" pitchFamily="49" charset="-122"/>
              </a:rPr>
              <a:t>主要表现为持久的情绪低落和悲观，缺乏愉悦感和兴趣，可能伴随感觉绝望、痛不欲生的情绪，严重时可能出现自杀观念和企图。</a:t>
            </a:r>
          </a:p>
          <a:p>
            <a:pPr marL="457200" indent="-457200">
              <a:spcAft>
                <a:spcPts val="600"/>
              </a:spcAft>
              <a:buFont typeface="Arial" panose="020B0604020202020204" pitchFamily="34" charset="0"/>
              <a:buChar char="•"/>
            </a:pPr>
            <a:r>
              <a:rPr lang="zh-CN" altLang="en-US" sz="1400" b="1" dirty="0">
                <a:latin typeface="仿宋" panose="02010609060101010101" pitchFamily="49" charset="-122"/>
                <a:ea typeface="仿宋" panose="02010609060101010101" pitchFamily="49" charset="-122"/>
              </a:rPr>
              <a:t>思维障碍：</a:t>
            </a:r>
            <a:r>
              <a:rPr lang="zh-CN" altLang="en-US" sz="1400" dirty="0">
                <a:latin typeface="仿宋" panose="02010609060101010101" pitchFamily="49" charset="-122"/>
                <a:ea typeface="仿宋" panose="02010609060101010101" pitchFamily="49" charset="-122"/>
              </a:rPr>
              <a:t>包括思维联想障碍和思维内容障碍。患者常感到思维受抑制，难以进行思维活动，注意力障碍、记忆力异常、自我评价过低、自责自罪、悲观消极的思维内容。</a:t>
            </a:r>
          </a:p>
          <a:p>
            <a:pPr marL="457200" indent="-457200">
              <a:spcAft>
                <a:spcPts val="600"/>
              </a:spcAft>
              <a:buFont typeface="Arial" panose="020B0604020202020204" pitchFamily="34" charset="0"/>
              <a:buChar char="•"/>
            </a:pPr>
            <a:r>
              <a:rPr lang="zh-CN" altLang="en-US" sz="1400" b="1" dirty="0">
                <a:latin typeface="仿宋" panose="02010609060101010101" pitchFamily="49" charset="-122"/>
                <a:ea typeface="仿宋" panose="02010609060101010101" pitchFamily="49" charset="-122"/>
              </a:rPr>
              <a:t>意志活动减退：</a:t>
            </a:r>
            <a:r>
              <a:rPr lang="zh-CN" altLang="en-US" sz="1400" dirty="0">
                <a:latin typeface="仿宋" panose="02010609060101010101" pitchFamily="49" charset="-122"/>
                <a:ea typeface="仿宋" panose="02010609060101010101" pitchFamily="49" charset="-122"/>
              </a:rPr>
              <a:t>表现为行为迟缓、消极 </a:t>
            </a:r>
            <a:r>
              <a:rPr lang="en-US" altLang="zh-CN" sz="1400" dirty="0">
                <a:latin typeface="仿宋" panose="02010609060101010101" pitchFamily="49" charset="-122"/>
                <a:ea typeface="仿宋" panose="02010609060101010101" pitchFamily="49" charset="-122"/>
              </a:rPr>
              <a:t>passivity</a:t>
            </a:r>
            <a:r>
              <a:rPr lang="zh-CN" altLang="en-US" sz="1400" dirty="0">
                <a:latin typeface="仿宋" panose="02010609060101010101" pitchFamily="49" charset="-122"/>
                <a:ea typeface="仿宋" panose="02010609060101010101" pitchFamily="49" charset="-122"/>
              </a:rPr>
              <a:t>，疏远亲友，缺乏生活动力和兴趣，甚至出现木僵状态。</a:t>
            </a:r>
          </a:p>
          <a:p>
            <a:pPr marL="457200" indent="-457200">
              <a:spcAft>
                <a:spcPts val="600"/>
              </a:spcAft>
              <a:buFont typeface="Arial" panose="020B0604020202020204" pitchFamily="34" charset="0"/>
              <a:buChar char="•"/>
            </a:pPr>
            <a:r>
              <a:rPr lang="zh-CN" altLang="en-US" sz="1400" b="1" dirty="0">
                <a:latin typeface="仿宋" panose="02010609060101010101" pitchFamily="49" charset="-122"/>
                <a:ea typeface="仿宋" panose="02010609060101010101" pitchFamily="49" charset="-122"/>
              </a:rPr>
              <a:t>认知功能损害：</a:t>
            </a:r>
            <a:r>
              <a:rPr lang="zh-CN" altLang="en-US" sz="1400" dirty="0">
                <a:latin typeface="仿宋" panose="02010609060101010101" pitchFamily="49" charset="-122"/>
                <a:ea typeface="仿宋" panose="02010609060101010101" pitchFamily="49" charset="-122"/>
              </a:rPr>
              <a:t>主要表现为注意力下降、记忆力异常、学习能力降低、语言流畅性下降等，影响社会功能和预后。</a:t>
            </a:r>
          </a:p>
          <a:p>
            <a:pPr marL="457200" indent="-457200">
              <a:spcAft>
                <a:spcPts val="600"/>
              </a:spcAft>
              <a:buFont typeface="Arial" panose="020B0604020202020204" pitchFamily="34" charset="0"/>
              <a:buChar char="•"/>
            </a:pPr>
            <a:r>
              <a:rPr lang="zh-CN" altLang="en-US" sz="1400" b="1" dirty="0">
                <a:latin typeface="仿宋" panose="02010609060101010101" pitchFamily="49" charset="-122"/>
                <a:ea typeface="仿宋" panose="02010609060101010101" pitchFamily="49" charset="-122"/>
              </a:rPr>
              <a:t>躯体症状：</a:t>
            </a:r>
            <a:r>
              <a:rPr lang="zh-CN" altLang="en-US" sz="1400" dirty="0">
                <a:latin typeface="仿宋" panose="02010609060101010101" pitchFamily="49" charset="-122"/>
                <a:ea typeface="仿宋" panose="02010609060101010101" pitchFamily="49" charset="-122"/>
              </a:rPr>
              <a:t>包括睡眠障碍、乏力、食欲减退、体重下降、性功能障碍等，通常与抑郁心境密切相关。</a:t>
            </a:r>
          </a:p>
          <a:p>
            <a:pPr marL="457200" indent="-457200">
              <a:spcAft>
                <a:spcPts val="600"/>
              </a:spcAft>
              <a:buFont typeface="Arial" panose="020B0604020202020204" pitchFamily="34" charset="0"/>
              <a:buChar char="•"/>
            </a:pPr>
            <a:r>
              <a:rPr lang="zh-CN" altLang="en-US" sz="1400" b="1" dirty="0">
                <a:latin typeface="仿宋" panose="02010609060101010101" pitchFamily="49" charset="-122"/>
                <a:ea typeface="仿宋" panose="02010609060101010101" pitchFamily="49" charset="-122"/>
              </a:rPr>
              <a:t>其他不典型表现：</a:t>
            </a:r>
            <a:r>
              <a:rPr lang="zh-CN" altLang="en-US" sz="1400" dirty="0">
                <a:latin typeface="仿宋" panose="02010609060101010101" pitchFamily="49" charset="-122"/>
                <a:ea typeface="仿宋" panose="02010609060101010101" pitchFamily="49" charset="-122"/>
              </a:rPr>
              <a:t>可能出现人格解体、现实解体、强迫症状等不典型表现，增加了抑郁症的诊断和治疗的难度。</a:t>
            </a:r>
          </a:p>
          <a:p>
            <a:endParaRPr lang="zh-CN" altLang="en-US" dirty="0"/>
          </a:p>
        </p:txBody>
      </p:sp>
    </p:spTree>
    <p:extLst>
      <p:ext uri="{BB962C8B-B14F-4D97-AF65-F5344CB8AC3E}">
        <p14:creationId xmlns:p14="http://schemas.microsoft.com/office/powerpoint/2010/main" val="33597143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ECA0992F-D7E9-4DAC-8991-A746122C9A72}"/>
              </a:ext>
            </a:extLst>
          </p:cNvPr>
          <p:cNvSpPr>
            <a:spLocks noGrp="1"/>
          </p:cNvSpPr>
          <p:nvPr>
            <p:ph type="body" idx="1"/>
          </p:nvPr>
        </p:nvSpPr>
        <p:spPr/>
        <p:txBody>
          <a:bodyPr/>
          <a:lstStyle/>
          <a:p>
            <a:pPr>
              <a:spcAft>
                <a:spcPts val="1200"/>
              </a:spcAft>
            </a:pPr>
            <a:r>
              <a:rPr lang="zh-CN" altLang="en-US" sz="1400" b="1" dirty="0">
                <a:latin typeface="仿宋" panose="02010609060101010101" pitchFamily="49" charset="-122"/>
                <a:ea typeface="仿宋" panose="02010609060101010101" pitchFamily="49" charset="-122"/>
              </a:rPr>
              <a:t>抑郁症的临床诊断主要根据以下要点进行：</a:t>
            </a:r>
            <a:endParaRPr lang="en-US" altLang="zh-CN" sz="1400" b="1" dirty="0">
              <a:latin typeface="仿宋" panose="02010609060101010101" pitchFamily="49" charset="-122"/>
              <a:ea typeface="仿宋" panose="02010609060101010101" pitchFamily="49" charset="-122"/>
            </a:endParaRPr>
          </a:p>
          <a:p>
            <a:pPr marL="457200" indent="-457200">
              <a:spcAft>
                <a:spcPts val="600"/>
              </a:spcAft>
              <a:buFont typeface="Arial" panose="020B0604020202020204" pitchFamily="34" charset="0"/>
              <a:buChar char="•"/>
            </a:pPr>
            <a:r>
              <a:rPr lang="zh-CN" altLang="en-US" sz="1400" b="1" dirty="0">
                <a:latin typeface="仿宋" panose="02010609060101010101" pitchFamily="49" charset="-122"/>
                <a:ea typeface="仿宋" panose="02010609060101010101" pitchFamily="49" charset="-122"/>
              </a:rPr>
              <a:t>诊断标准：</a:t>
            </a:r>
            <a:r>
              <a:rPr lang="zh-CN" altLang="en-US" sz="1400" dirty="0">
                <a:latin typeface="仿宋" panose="02010609060101010101" pitchFamily="49" charset="-122"/>
                <a:ea typeface="仿宋" panose="02010609060101010101" pitchFamily="49" charset="-122"/>
              </a:rPr>
              <a:t>采用国际疾病与相关健康问题统计分类第十版</a:t>
            </a:r>
            <a:r>
              <a:rPr lang="en-US" altLang="zh-CN" sz="1400" dirty="0">
                <a:latin typeface="仿宋" panose="02010609060101010101" pitchFamily="49" charset="-122"/>
                <a:ea typeface="仿宋" panose="02010609060101010101" pitchFamily="49" charset="-122"/>
              </a:rPr>
              <a:t>(ICD-10)</a:t>
            </a:r>
            <a:r>
              <a:rPr lang="zh-CN" altLang="en-US" sz="1400" dirty="0">
                <a:latin typeface="仿宋" panose="02010609060101010101" pitchFamily="49" charset="-122"/>
                <a:ea typeface="仿宋" panose="02010609060101010101" pitchFamily="49" charset="-122"/>
              </a:rPr>
              <a:t>中的诊断标准。抑郁症的诊断标准分为首次发作和复发两个方面，不包括双相抑郁。</a:t>
            </a:r>
          </a:p>
          <a:p>
            <a:pPr marL="457200" indent="-457200">
              <a:spcAft>
                <a:spcPts val="600"/>
              </a:spcAft>
              <a:buFont typeface="Arial" panose="020B0604020202020204" pitchFamily="34" charset="0"/>
              <a:buChar char="•"/>
            </a:pPr>
            <a:r>
              <a:rPr lang="zh-CN" altLang="en-US" sz="1400" b="1" dirty="0">
                <a:latin typeface="仿宋" panose="02010609060101010101" pitchFamily="49" charset="-122"/>
                <a:ea typeface="仿宋" panose="02010609060101010101" pitchFamily="49" charset="-122"/>
              </a:rPr>
              <a:t>临床症状：</a:t>
            </a:r>
            <a:r>
              <a:rPr lang="zh-CN" altLang="en-US" sz="1400" dirty="0">
                <a:latin typeface="仿宋" panose="02010609060101010101" pitchFamily="49" charset="-122"/>
                <a:ea typeface="仿宋" panose="02010609060101010101" pitchFamily="49" charset="-122"/>
              </a:rPr>
              <a:t>根据典型症状和其他常见症状进行诊断。典型症状包括心境低落、兴趣和愉快感丧失、精力不济或疲劳感等；其他常见症状包括注意力降低、自我评价降低、自罪观念、睡眠障碍等。</a:t>
            </a:r>
          </a:p>
          <a:p>
            <a:pPr marL="457200" indent="-457200">
              <a:spcAft>
                <a:spcPts val="600"/>
              </a:spcAft>
              <a:buFont typeface="Arial" panose="020B0604020202020204" pitchFamily="34" charset="0"/>
              <a:buChar char="•"/>
            </a:pPr>
            <a:r>
              <a:rPr lang="zh-CN" altLang="en-US" sz="1400" b="1" dirty="0">
                <a:latin typeface="仿宋" panose="02010609060101010101" pitchFamily="49" charset="-122"/>
                <a:ea typeface="仿宋" panose="02010609060101010101" pitchFamily="49" charset="-122"/>
              </a:rPr>
              <a:t>病程：</a:t>
            </a:r>
            <a:r>
              <a:rPr lang="zh-CN" altLang="en-US" sz="1400" dirty="0">
                <a:latin typeface="仿宋" panose="02010609060101010101" pitchFamily="49" charset="-122"/>
                <a:ea typeface="仿宋" panose="02010609060101010101" pitchFamily="49" charset="-122"/>
              </a:rPr>
              <a:t>抑郁发作的持续时间至少为</a:t>
            </a:r>
            <a:r>
              <a:rPr lang="zh-CN" altLang="en-US" sz="1400">
                <a:latin typeface="仿宋" panose="02010609060101010101" pitchFamily="49" charset="-122"/>
                <a:ea typeface="仿宋" panose="02010609060101010101" pitchFamily="49" charset="-122"/>
              </a:rPr>
              <a:t>两周。</a:t>
            </a:r>
            <a:endParaRPr lang="zh-CN" altLang="en-US" sz="1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9924744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BAFBD33-0E80-4B03-BDEC-5ABB56D86918}" type="slidenum">
              <a:rPr lang="zh-CN" altLang="en-US" smtClean="0"/>
              <a:t>10</a:t>
            </a:fld>
            <a:endParaRPr lang="zh-CN" altLang="en-US"/>
          </a:p>
        </p:txBody>
      </p:sp>
    </p:spTree>
    <p:extLst>
      <p:ext uri="{BB962C8B-B14F-4D97-AF65-F5344CB8AC3E}">
        <p14:creationId xmlns:p14="http://schemas.microsoft.com/office/powerpoint/2010/main" val="12539069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a:extLst>
              <a:ext uri="{FF2B5EF4-FFF2-40B4-BE49-F238E27FC236}">
                <a16:creationId xmlns:a16="http://schemas.microsoft.com/office/drawing/2014/main" id="{40F50317-05C0-4BF5-8CD3-BA216395985A}"/>
              </a:ext>
            </a:extLst>
          </p:cNvPr>
          <p:cNvSpPr>
            <a:spLocks noGrp="1"/>
          </p:cNvSpPr>
          <p:nvPr>
            <p:ph type="body" idx="1"/>
          </p:nvPr>
        </p:nvSpPr>
        <p:spPr/>
        <p:txBody>
          <a:bodyPr/>
          <a:lstStyle/>
          <a:p>
            <a:pPr marL="457200" indent="-457200">
              <a:spcAft>
                <a:spcPts val="600"/>
              </a:spcAft>
              <a:buFont typeface="Wingdings" panose="05000000000000000000" pitchFamily="2" charset="2"/>
              <a:buChar char="Ø"/>
            </a:pPr>
            <a:r>
              <a:rPr lang="zh-CN" altLang="en-US" sz="1400" b="1">
                <a:latin typeface="楷体" panose="02010609060101010101" pitchFamily="49" charset="-122"/>
                <a:ea typeface="楷体" panose="02010609060101010101" pitchFamily="49" charset="-122"/>
              </a:rPr>
              <a:t>神经递质失衡：</a:t>
            </a:r>
            <a:r>
              <a:rPr lang="zh-CN" altLang="en-US" sz="1400">
                <a:latin typeface="楷体" panose="02010609060101010101" pitchFamily="49" charset="-122"/>
                <a:ea typeface="楷体" panose="02010609060101010101" pitchFamily="49" charset="-122"/>
              </a:rPr>
              <a:t>抑郁症与大脑中某些神经递质的功能失调有关，抑郁症患者常见的是这些神经递质的活动减少或受体敏感性改变。</a:t>
            </a:r>
          </a:p>
          <a:p>
            <a:pPr marL="457200" indent="-457200">
              <a:spcAft>
                <a:spcPts val="600"/>
              </a:spcAft>
              <a:buFont typeface="Wingdings" panose="05000000000000000000" pitchFamily="2" charset="2"/>
              <a:buChar char="Ø"/>
            </a:pPr>
            <a:r>
              <a:rPr lang="zh-CN" altLang="en-US" sz="1400" b="1">
                <a:latin typeface="楷体" panose="02010609060101010101" pitchFamily="49" charset="-122"/>
                <a:ea typeface="楷体" panose="02010609060101010101" pitchFamily="49" charset="-122"/>
              </a:rPr>
              <a:t>神经塑性减弱：</a:t>
            </a:r>
            <a:r>
              <a:rPr lang="zh-CN" altLang="en-US" sz="1400">
                <a:latin typeface="楷体" panose="02010609060101010101" pitchFamily="49" charset="-122"/>
                <a:ea typeface="楷体" panose="02010609060101010101" pitchFamily="49" charset="-122"/>
              </a:rPr>
              <a:t>抑郁症患者的大脑某些区域的神经塑性降低。神经塑性是大脑调整其结构和功能以适应经验的能力，包括神经元的生长、突触连接的强度变化等。</a:t>
            </a:r>
          </a:p>
          <a:p>
            <a:pPr marL="457200" indent="-457200">
              <a:spcAft>
                <a:spcPts val="600"/>
              </a:spcAft>
              <a:buFont typeface="Wingdings" panose="05000000000000000000" pitchFamily="2" charset="2"/>
              <a:buChar char="Ø"/>
            </a:pPr>
            <a:r>
              <a:rPr lang="zh-CN" altLang="en-US" sz="1400" b="1">
                <a:latin typeface="楷体" panose="02010609060101010101" pitchFamily="49" charset="-122"/>
                <a:ea typeface="楷体" panose="02010609060101010101" pitchFamily="49" charset="-122"/>
              </a:rPr>
              <a:t>内分泌系统失调：</a:t>
            </a:r>
            <a:r>
              <a:rPr lang="zh-CN" altLang="en-US" sz="1400">
                <a:latin typeface="楷体" panose="02010609060101010101" pitchFamily="49" charset="-122"/>
                <a:ea typeface="楷体" panose="02010609060101010101" pitchFamily="49" charset="-122"/>
              </a:rPr>
              <a:t>抑郁症与体内的激素水平变化有关，尤其是与应激轴（</a:t>
            </a:r>
            <a:r>
              <a:rPr lang="en-US" altLang="zh-CN" sz="1400">
                <a:latin typeface="楷体" panose="02010609060101010101" pitchFamily="49" charset="-122"/>
                <a:ea typeface="楷体" panose="02010609060101010101" pitchFamily="49" charset="-122"/>
              </a:rPr>
              <a:t>HPA</a:t>
            </a:r>
            <a:r>
              <a:rPr lang="zh-CN" altLang="en-US" sz="1400">
                <a:latin typeface="楷体" panose="02010609060101010101" pitchFamily="49" charset="-122"/>
                <a:ea typeface="楷体" panose="02010609060101010101" pitchFamily="49" charset="-122"/>
              </a:rPr>
              <a:t>轴）的功能异常有关。</a:t>
            </a:r>
            <a:r>
              <a:rPr lang="en-US" altLang="zh-CN" sz="1400">
                <a:latin typeface="楷体" panose="02010609060101010101" pitchFamily="49" charset="-122"/>
                <a:ea typeface="楷体" panose="02010609060101010101" pitchFamily="49" charset="-122"/>
              </a:rPr>
              <a:t>HPA</a:t>
            </a:r>
            <a:r>
              <a:rPr lang="zh-CN" altLang="en-US" sz="1400">
                <a:latin typeface="楷体" panose="02010609060101010101" pitchFamily="49" charset="-122"/>
                <a:ea typeface="楷体" panose="02010609060101010101" pitchFamily="49" charset="-122"/>
              </a:rPr>
              <a:t>轴超活跃可能导致皮质醇水平持续升高，这与抑郁症症状的发展密切相关。</a:t>
            </a:r>
          </a:p>
          <a:p>
            <a:pPr marL="457200" indent="-457200">
              <a:spcAft>
                <a:spcPts val="600"/>
              </a:spcAft>
              <a:buFont typeface="Wingdings" panose="05000000000000000000" pitchFamily="2" charset="2"/>
              <a:buChar char="Ø"/>
            </a:pPr>
            <a:r>
              <a:rPr lang="zh-CN" altLang="en-US" sz="1400" b="1">
                <a:latin typeface="楷体" panose="02010609060101010101" pitchFamily="49" charset="-122"/>
                <a:ea typeface="楷体" panose="02010609060101010101" pitchFamily="49" charset="-122"/>
              </a:rPr>
              <a:t>炎症假说：</a:t>
            </a:r>
            <a:r>
              <a:rPr lang="zh-CN" altLang="en-US" sz="1400">
                <a:latin typeface="楷体" panose="02010609060101010101" pitchFamily="49" charset="-122"/>
                <a:ea typeface="楷体" panose="02010609060101010101" pitchFamily="49" charset="-122"/>
              </a:rPr>
              <a:t>近年来的研究发现，慢性炎症可能与抑郁症的发生有关。一些炎症标志物（如</a:t>
            </a:r>
            <a:r>
              <a:rPr lang="en-US" altLang="zh-CN" sz="1400">
                <a:latin typeface="楷体" panose="02010609060101010101" pitchFamily="49" charset="-122"/>
                <a:ea typeface="楷体" panose="02010609060101010101" pitchFamily="49" charset="-122"/>
              </a:rPr>
              <a:t>C</a:t>
            </a:r>
            <a:r>
              <a:rPr lang="zh-CN" altLang="en-US" sz="1400">
                <a:latin typeface="楷体" panose="02010609060101010101" pitchFamily="49" charset="-122"/>
                <a:ea typeface="楷体" panose="02010609060101010101" pitchFamily="49" charset="-122"/>
              </a:rPr>
              <a:t>反应蛋白、白细胞介素</a:t>
            </a:r>
            <a:r>
              <a:rPr lang="en-US" altLang="zh-CN" sz="1400">
                <a:latin typeface="楷体" panose="02010609060101010101" pitchFamily="49" charset="-122"/>
                <a:ea typeface="楷体" panose="02010609060101010101" pitchFamily="49" charset="-122"/>
              </a:rPr>
              <a:t>-6</a:t>
            </a:r>
            <a:r>
              <a:rPr lang="zh-CN" altLang="en-US" sz="1400">
                <a:latin typeface="楷体" panose="02010609060101010101" pitchFamily="49" charset="-122"/>
                <a:ea typeface="楷体" panose="02010609060101010101" pitchFamily="49" charset="-122"/>
              </a:rPr>
              <a:t>）在抑郁症患者体内的水平较高。</a:t>
            </a:r>
          </a:p>
          <a:p>
            <a:pPr marL="457200" indent="-457200">
              <a:spcAft>
                <a:spcPts val="600"/>
              </a:spcAft>
              <a:buFont typeface="Wingdings" panose="05000000000000000000" pitchFamily="2" charset="2"/>
              <a:buChar char="Ø"/>
            </a:pPr>
            <a:r>
              <a:rPr lang="zh-CN" altLang="en-US" sz="1400" b="1">
                <a:latin typeface="楷体" panose="02010609060101010101" pitchFamily="49" charset="-122"/>
                <a:ea typeface="楷体" panose="02010609060101010101" pitchFamily="49" charset="-122"/>
              </a:rPr>
              <a:t>遗传因素：</a:t>
            </a:r>
            <a:r>
              <a:rPr lang="zh-CN" altLang="en-US" sz="1400">
                <a:latin typeface="楷体" panose="02010609060101010101" pitchFamily="49" charset="-122"/>
                <a:ea typeface="楷体" panose="02010609060101010101" pitchFamily="49" charset="-122"/>
              </a:rPr>
              <a:t>抑郁症在一定程度上具有家族遗传倾向。通过遗传学研究，科学家们已经发现与抑郁症相关的多个基因位点。</a:t>
            </a:r>
          </a:p>
          <a:p>
            <a:pPr marL="457200" indent="-457200">
              <a:spcAft>
                <a:spcPts val="600"/>
              </a:spcAft>
              <a:buFont typeface="Wingdings" panose="05000000000000000000" pitchFamily="2" charset="2"/>
              <a:buChar char="Ø"/>
            </a:pPr>
            <a:r>
              <a:rPr lang="zh-CN" altLang="en-US" sz="1400" b="1">
                <a:latin typeface="楷体" panose="02010609060101010101" pitchFamily="49" charset="-122"/>
                <a:ea typeface="楷体" panose="02010609060101010101" pitchFamily="49" charset="-122"/>
              </a:rPr>
              <a:t>环境与心理社会因素：</a:t>
            </a:r>
            <a:r>
              <a:rPr lang="zh-CN" altLang="en-US" sz="1400">
                <a:latin typeface="楷体" panose="02010609060101010101" pitchFamily="49" charset="-122"/>
                <a:ea typeface="楷体" panose="02010609060101010101" pitchFamily="49" charset="-122"/>
              </a:rPr>
              <a:t>压力事件、社会支持的缺乏、早期生活不利经历（如虐待或忽视）等心理社会因素也与抑郁症的发生有关。这些因素可能通过影响大脑的生物化学过程或神经发育轨迹来促进抑郁症的发展。</a:t>
            </a:r>
          </a:p>
          <a:p>
            <a:endParaRPr lang="zh-CN" altLang="en-US" dirty="0"/>
          </a:p>
        </p:txBody>
      </p:sp>
    </p:spTree>
    <p:extLst>
      <p:ext uri="{BB962C8B-B14F-4D97-AF65-F5344CB8AC3E}">
        <p14:creationId xmlns:p14="http://schemas.microsoft.com/office/powerpoint/2010/main" val="26549084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BAFBD33-0E80-4B03-BDEC-5ABB56D86918}" type="slidenum">
              <a:rPr lang="zh-CN" altLang="en-US" smtClean="0"/>
              <a:t>12</a:t>
            </a:fld>
            <a:endParaRPr lang="zh-CN" altLang="en-US"/>
          </a:p>
        </p:txBody>
      </p:sp>
    </p:spTree>
    <p:extLst>
      <p:ext uri="{BB962C8B-B14F-4D97-AF65-F5344CB8AC3E}">
        <p14:creationId xmlns:p14="http://schemas.microsoft.com/office/powerpoint/2010/main" val="11038704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E2BD074-6B3C-49C5-971A-604B9C1E19FB}" type="slidenum">
              <a:rPr lang="zh-CN" altLang="en-US" smtClean="0"/>
              <a:t>13</a:t>
            </a:fld>
            <a:endParaRPr lang="zh-CN" altLang="en-US"/>
          </a:p>
        </p:txBody>
      </p:sp>
    </p:spTree>
    <p:extLst>
      <p:ext uri="{BB962C8B-B14F-4D97-AF65-F5344CB8AC3E}">
        <p14:creationId xmlns:p14="http://schemas.microsoft.com/office/powerpoint/2010/main" val="14250143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Aft>
                <a:spcPts val="1200"/>
              </a:spcAft>
            </a:pPr>
            <a:r>
              <a:rPr lang="zh-CN" altLang="en-US" sz="1400" b="1" dirty="0">
                <a:latin typeface="仿宋" panose="02010609060101010101" pitchFamily="49" charset="-122"/>
                <a:ea typeface="仿宋" panose="02010609060101010101" pitchFamily="49" charset="-122"/>
              </a:rPr>
              <a:t>电击疗法（</a:t>
            </a:r>
            <a:r>
              <a:rPr lang="en-US" altLang="zh-CN" sz="1400" b="1" dirty="0" err="1">
                <a:latin typeface="仿宋" panose="02010609060101010101" pitchFamily="49" charset="-122"/>
                <a:ea typeface="仿宋" panose="02010609060101010101" pitchFamily="49" charset="-122"/>
              </a:rPr>
              <a:t>ETC</a:t>
            </a:r>
            <a:r>
              <a:rPr lang="zh-CN" altLang="en-US" sz="1400" b="1" dirty="0">
                <a:latin typeface="仿宋" panose="02010609060101010101" pitchFamily="49" charset="-122"/>
                <a:ea typeface="仿宋" panose="02010609060101010101" pitchFamily="49" charset="-122"/>
              </a:rPr>
              <a:t>）</a:t>
            </a:r>
            <a:r>
              <a:rPr lang="en-US" altLang="zh-CN" sz="1400" b="1" dirty="0">
                <a:latin typeface="仿宋" panose="02010609060101010101" pitchFamily="49" charset="-122"/>
                <a:ea typeface="仿宋" panose="02010609060101010101" pitchFamily="49" charset="-122"/>
              </a:rPr>
              <a:t>:</a:t>
            </a:r>
            <a:endParaRPr lang="en-US" altLang="zh-CN" sz="1400" dirty="0">
              <a:latin typeface="仿宋" panose="02010609060101010101" pitchFamily="49" charset="-122"/>
              <a:ea typeface="仿宋" panose="02010609060101010101" pitchFamily="49" charset="-122"/>
            </a:endParaRPr>
          </a:p>
          <a:p>
            <a:pPr marL="342900" indent="-342900">
              <a:spcAft>
                <a:spcPts val="600"/>
              </a:spcAft>
              <a:buFont typeface="Arial" panose="020B0604020202020204" pitchFamily="34" charset="0"/>
              <a:buChar char="•"/>
            </a:pPr>
            <a:r>
              <a:rPr lang="zh-CN" altLang="en-US" sz="1400" dirty="0">
                <a:latin typeface="仿宋" panose="02010609060101010101" pitchFamily="49" charset="-122"/>
                <a:ea typeface="仿宋" panose="02010609060101010101" pitchFamily="49" charset="-122"/>
              </a:rPr>
              <a:t>又称电休克疗法，是一种治疗严重抑郁症和其他精神疾病的方法。通过向患者的大脑传递电流，引发短暂的癫痫发作，改变大脑化学物质的活动，以缓解抑郁症症状。</a:t>
            </a:r>
            <a:endParaRPr lang="en-US" altLang="zh-CN" sz="1400" dirty="0">
              <a:latin typeface="仿宋" panose="02010609060101010101" pitchFamily="49" charset="-122"/>
              <a:ea typeface="仿宋" panose="02010609060101010101" pitchFamily="49" charset="-122"/>
            </a:endParaRPr>
          </a:p>
          <a:p>
            <a:pPr marL="342900" indent="-342900">
              <a:spcAft>
                <a:spcPts val="600"/>
              </a:spcAft>
              <a:buFont typeface="Arial" panose="020B0604020202020204" pitchFamily="34" charset="0"/>
              <a:buChar char="•"/>
            </a:pPr>
            <a:r>
              <a:rPr lang="zh-CN" altLang="en-US" sz="1400" dirty="0">
                <a:latin typeface="仿宋" panose="02010609060101010101" pitchFamily="49" charset="-122"/>
                <a:ea typeface="仿宋" panose="02010609060101010101" pitchFamily="49" charset="-122"/>
              </a:rPr>
              <a:t>治疗过程通常需要多次进行，每周一到三次，取决于患者的病情和反应。患者在治疗前会接受麻醉剂和肌肉松弛剂，以减少不适和最小化身体的不适反应。</a:t>
            </a:r>
            <a:endParaRPr lang="en-US" altLang="zh-CN" sz="1400" dirty="0">
              <a:latin typeface="仿宋" panose="02010609060101010101" pitchFamily="49" charset="-122"/>
              <a:ea typeface="仿宋" panose="02010609060101010101" pitchFamily="49" charset="-122"/>
            </a:endParaRPr>
          </a:p>
          <a:p>
            <a:pPr marL="342900" indent="-342900">
              <a:spcAft>
                <a:spcPts val="600"/>
              </a:spcAft>
              <a:buFont typeface="Arial" panose="020B0604020202020204" pitchFamily="34" charset="0"/>
              <a:buChar char="•"/>
            </a:pPr>
            <a:r>
              <a:rPr lang="zh-CN" altLang="en-US" sz="1400" dirty="0">
                <a:latin typeface="仿宋" panose="02010609060101010101" pitchFamily="49" charset="-122"/>
                <a:ea typeface="仿宋" panose="02010609060101010101" pitchFamily="49" charset="-122"/>
              </a:rPr>
              <a:t>治疗的适应症包括对其他治疗方法无效或不能耐受的严重抑郁症患者，以及其他精神疾病如双相情感障碍和精神分裂症。</a:t>
            </a:r>
            <a:endParaRPr lang="en-US" altLang="zh-CN" sz="1400" dirty="0">
              <a:latin typeface="仿宋" panose="02010609060101010101" pitchFamily="49" charset="-122"/>
              <a:ea typeface="仿宋" panose="02010609060101010101" pitchFamily="49" charset="-122"/>
            </a:endParaRPr>
          </a:p>
          <a:p>
            <a:pPr marL="342900" indent="-342900">
              <a:spcAft>
                <a:spcPts val="600"/>
              </a:spcAft>
              <a:buFont typeface="Arial" panose="020B0604020202020204" pitchFamily="34" charset="0"/>
              <a:buChar char="•"/>
            </a:pPr>
            <a:r>
              <a:rPr lang="zh-CN" altLang="en-US" sz="1400" dirty="0">
                <a:latin typeface="仿宋" panose="02010609060101010101" pitchFamily="49" charset="-122"/>
                <a:ea typeface="仿宋" panose="02010609060101010101" pitchFamily="49" charset="-122"/>
              </a:rPr>
              <a:t>电击疗法被认为在缓解严重抑郁症症状方面是有效的，但也存在一些风险和副作用，如短期记忆丧失、头痛和肌肉酸痛。在进行电击疗法之前，医生通常会进行全面评估，并在治疗过程中密切监督患者的反应和任何不良反应。</a:t>
            </a:r>
            <a:endParaRPr lang="en-US" altLang="zh-CN" sz="1400" dirty="0">
              <a:latin typeface="仿宋" panose="02010609060101010101" pitchFamily="49" charset="-122"/>
              <a:ea typeface="仿宋" panose="02010609060101010101" pitchFamily="49" charset="-122"/>
            </a:endParaRPr>
          </a:p>
          <a:p>
            <a:pPr>
              <a:spcAft>
                <a:spcPts val="1200"/>
              </a:spcAft>
            </a:pPr>
            <a:r>
              <a:rPr lang="zh-CN" altLang="en-US" sz="1400" b="1" dirty="0">
                <a:latin typeface="仿宋" panose="02010609060101010101" pitchFamily="49" charset="-122"/>
                <a:ea typeface="仿宋" panose="02010609060101010101" pitchFamily="49" charset="-122"/>
              </a:rPr>
              <a:t>跳动磁场刺激（</a:t>
            </a:r>
            <a:r>
              <a:rPr lang="en-US" altLang="zh-CN" sz="1400" b="1" dirty="0">
                <a:latin typeface="仿宋" panose="02010609060101010101" pitchFamily="49" charset="-122"/>
                <a:ea typeface="仿宋" panose="02010609060101010101" pitchFamily="49" charset="-122"/>
              </a:rPr>
              <a:t>TMS</a:t>
            </a:r>
            <a:r>
              <a:rPr lang="zh-CN" altLang="en-US" sz="1400" b="1" dirty="0">
                <a:latin typeface="仿宋" panose="02010609060101010101" pitchFamily="49" charset="-122"/>
                <a:ea typeface="仿宋" panose="02010609060101010101" pitchFamily="49" charset="-122"/>
              </a:rPr>
              <a:t>）</a:t>
            </a:r>
            <a:r>
              <a:rPr lang="en-US" altLang="zh-CN" sz="1400" b="1" dirty="0">
                <a:latin typeface="仿宋" panose="02010609060101010101" pitchFamily="49" charset="-122"/>
                <a:ea typeface="仿宋" panose="02010609060101010101" pitchFamily="49" charset="-122"/>
              </a:rPr>
              <a:t>:</a:t>
            </a:r>
            <a:endParaRPr lang="en-US" altLang="zh-CN" sz="1400" dirty="0">
              <a:latin typeface="仿宋" panose="02010609060101010101" pitchFamily="49" charset="-122"/>
              <a:ea typeface="仿宋" panose="02010609060101010101" pitchFamily="49" charset="-122"/>
            </a:endParaRPr>
          </a:p>
          <a:p>
            <a:pPr marL="342900" indent="-342900">
              <a:spcAft>
                <a:spcPts val="600"/>
              </a:spcAft>
              <a:buFont typeface="Arial" panose="020B0604020202020204" pitchFamily="34" charset="0"/>
              <a:buChar char="•"/>
            </a:pPr>
            <a:r>
              <a:rPr lang="zh-CN" altLang="en-US" sz="1400" dirty="0">
                <a:latin typeface="仿宋" panose="02010609060101010101" pitchFamily="49" charset="-122"/>
                <a:ea typeface="仿宋" panose="02010609060101010101" pitchFamily="49" charset="-122"/>
              </a:rPr>
              <a:t>是一种非侵入性的神经调节技术。常用于治疗抑郁症等精神疾病。其利用电磁感应原理，在头部施加可调节的脉冲磁场，以激活大脑中特定区域的神经元，从而调节神经递质的释放和神经网络的活动，缓解抑郁症症状。</a:t>
            </a:r>
            <a:endParaRPr lang="en-US" altLang="zh-CN" sz="1400" dirty="0">
              <a:latin typeface="仿宋" panose="02010609060101010101" pitchFamily="49" charset="-122"/>
              <a:ea typeface="仿宋" panose="02010609060101010101" pitchFamily="49" charset="-122"/>
            </a:endParaRPr>
          </a:p>
          <a:p>
            <a:pPr marL="342900" indent="-342900">
              <a:spcAft>
                <a:spcPts val="600"/>
              </a:spcAft>
              <a:buFont typeface="Arial" panose="020B0604020202020204" pitchFamily="34" charset="0"/>
              <a:buChar char="•"/>
            </a:pPr>
            <a:r>
              <a:rPr lang="zh-CN" altLang="en-US" sz="1400" dirty="0">
                <a:latin typeface="仿宋" panose="02010609060101010101" pitchFamily="49" charset="-122"/>
                <a:ea typeface="仿宋" panose="02010609060101010101" pitchFamily="49" charset="-122"/>
              </a:rPr>
              <a:t>在</a:t>
            </a:r>
            <a:r>
              <a:rPr lang="en-US" altLang="zh-CN" sz="1400" dirty="0">
                <a:latin typeface="仿宋" panose="02010609060101010101" pitchFamily="49" charset="-122"/>
                <a:ea typeface="仿宋" panose="02010609060101010101" pitchFamily="49" charset="-122"/>
              </a:rPr>
              <a:t>TMS</a:t>
            </a:r>
            <a:r>
              <a:rPr lang="zh-CN" altLang="en-US" sz="1400" dirty="0">
                <a:latin typeface="仿宋" panose="02010609060101010101" pitchFamily="49" charset="-122"/>
                <a:ea typeface="仿宋" panose="02010609060101010101" pitchFamily="49" charset="-122"/>
              </a:rPr>
              <a:t>治疗过程中，患者坐在专用椅子上，头部被放置在合适位置，医生将电磁线圈放置在头部特定位置上，然后通过控制电流的强度和频率对大脑进行刺激。</a:t>
            </a:r>
            <a:endParaRPr lang="en-US" altLang="zh-CN" sz="1400" dirty="0">
              <a:latin typeface="仿宋" panose="02010609060101010101" pitchFamily="49" charset="-122"/>
              <a:ea typeface="仿宋" panose="02010609060101010101" pitchFamily="49" charset="-122"/>
            </a:endParaRPr>
          </a:p>
          <a:p>
            <a:pPr marL="342900" indent="-342900">
              <a:spcAft>
                <a:spcPts val="600"/>
              </a:spcAft>
              <a:buFont typeface="Arial" panose="020B0604020202020204" pitchFamily="34" charset="0"/>
              <a:buChar char="•"/>
            </a:pPr>
            <a:r>
              <a:rPr lang="en-US" altLang="zh-CN" sz="1400" dirty="0">
                <a:latin typeface="仿宋" panose="02010609060101010101" pitchFamily="49" charset="-122"/>
                <a:ea typeface="仿宋" panose="02010609060101010101" pitchFamily="49" charset="-122"/>
              </a:rPr>
              <a:t>TMS</a:t>
            </a:r>
            <a:r>
              <a:rPr lang="zh-CN" altLang="en-US" sz="1400" dirty="0">
                <a:latin typeface="仿宋" panose="02010609060101010101" pitchFamily="49" charset="-122"/>
                <a:ea typeface="仿宋" panose="02010609060101010101" pitchFamily="49" charset="-122"/>
              </a:rPr>
              <a:t>通常需要在数周到数个月内进行多次治疗，具体频率和持续时间根据患者的病情和个体反应而定。尽管</a:t>
            </a:r>
            <a:r>
              <a:rPr lang="en-US" altLang="zh-CN" sz="1400" dirty="0">
                <a:latin typeface="仿宋" panose="02010609060101010101" pitchFamily="49" charset="-122"/>
                <a:ea typeface="仿宋" panose="02010609060101010101" pitchFamily="49" charset="-122"/>
              </a:rPr>
              <a:t>TMS</a:t>
            </a:r>
            <a:r>
              <a:rPr lang="zh-CN" altLang="en-US" sz="1400" dirty="0">
                <a:latin typeface="仿宋" panose="02010609060101010101" pitchFamily="49" charset="-122"/>
                <a:ea typeface="仿宋" panose="02010609060101010101" pitchFamily="49" charset="-122"/>
              </a:rPr>
              <a:t>被认为是相对安全的治疗方法，但仍可能伴随一些副作用，如头痛、头皮刺痛等。治疗前医生会进行全面评估，确保患者适合接受</a:t>
            </a:r>
            <a:r>
              <a:rPr lang="en-US" altLang="zh-CN" sz="1400" dirty="0">
                <a:latin typeface="仿宋" panose="02010609060101010101" pitchFamily="49" charset="-122"/>
                <a:ea typeface="仿宋" panose="02010609060101010101" pitchFamily="49" charset="-122"/>
              </a:rPr>
              <a:t>TMS</a:t>
            </a:r>
            <a:r>
              <a:rPr lang="zh-CN" altLang="en-US" sz="1400" dirty="0">
                <a:latin typeface="仿宋" panose="02010609060101010101" pitchFamily="49" charset="-122"/>
                <a:ea typeface="仿宋" panose="02010609060101010101" pitchFamily="49" charset="-122"/>
              </a:rPr>
              <a:t>治疗，并在治疗过程中进行监督和调整。</a:t>
            </a:r>
            <a:endParaRPr lang="en-US" altLang="zh-CN" sz="1400" dirty="0">
              <a:latin typeface="仿宋" panose="02010609060101010101" pitchFamily="49" charset="-122"/>
              <a:ea typeface="仿宋" panose="02010609060101010101" pitchFamily="49" charset="-122"/>
            </a:endParaRPr>
          </a:p>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14</a:t>
            </a:fld>
            <a:endParaRPr lang="zh-CN" altLang="en-US"/>
          </a:p>
        </p:txBody>
      </p:sp>
    </p:spTree>
    <p:extLst>
      <p:ext uri="{BB962C8B-B14F-4D97-AF65-F5344CB8AC3E}">
        <p14:creationId xmlns:p14="http://schemas.microsoft.com/office/powerpoint/2010/main" val="13994180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1259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BAFBD33-0E80-4B03-BDEC-5ABB56D86918}" type="slidenum">
              <a:rPr lang="zh-CN" altLang="en-US" smtClean="0"/>
              <a:t>16</a:t>
            </a:fld>
            <a:endParaRPr lang="zh-CN" altLang="en-US"/>
          </a:p>
        </p:txBody>
      </p:sp>
    </p:spTree>
    <p:extLst>
      <p:ext uri="{BB962C8B-B14F-4D97-AF65-F5344CB8AC3E}">
        <p14:creationId xmlns:p14="http://schemas.microsoft.com/office/powerpoint/2010/main" val="7036408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49959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05202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25291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20</a:t>
            </a:fld>
            <a:endParaRPr lang="zh-CN" altLang="en-US"/>
          </a:p>
        </p:txBody>
      </p:sp>
    </p:spTree>
    <p:extLst>
      <p:ext uri="{BB962C8B-B14F-4D97-AF65-F5344CB8AC3E}">
        <p14:creationId xmlns:p14="http://schemas.microsoft.com/office/powerpoint/2010/main" val="3201241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空白">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78211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605926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947157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84238" y="385763"/>
            <a:ext cx="11090275" cy="1397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84238" y="1925638"/>
            <a:ext cx="11090275" cy="458946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84238" y="6704013"/>
            <a:ext cx="2892425" cy="384175"/>
          </a:xfrm>
          <a:prstGeom prst="rect">
            <a:avLst/>
          </a:prstGeom>
        </p:spPr>
        <p:txBody>
          <a:bodyPr vert="horz" lIns="91440" tIns="45720" rIns="91440" bIns="45720" rtlCol="0" anchor="ctr"/>
          <a:lstStyle>
            <a:lvl1pPr algn="l">
              <a:defRPr sz="1200">
                <a:solidFill>
                  <a:schemeClr val="tx1">
                    <a:tint val="75000"/>
                  </a:schemeClr>
                </a:solidFill>
              </a:defRPr>
            </a:lvl1pPr>
          </a:lstStyle>
          <a:p>
            <a:fld id="{43A93E93-166D-47F5-9EF1-ACEABE24AEEA}" type="datetimeFigureOut">
              <a:rPr lang="zh-CN" altLang="en-US" smtClean="0"/>
              <a:t>2024/5/16</a:t>
            </a:fld>
            <a:endParaRPr lang="zh-CN" altLang="en-US"/>
          </a:p>
        </p:txBody>
      </p:sp>
      <p:sp>
        <p:nvSpPr>
          <p:cNvPr id="5" name="页脚占位符 4"/>
          <p:cNvSpPr>
            <a:spLocks noGrp="1"/>
          </p:cNvSpPr>
          <p:nvPr>
            <p:ph type="ftr" sz="quarter" idx="3"/>
          </p:nvPr>
        </p:nvSpPr>
        <p:spPr>
          <a:xfrm>
            <a:off x="4259263" y="6704013"/>
            <a:ext cx="4340225" cy="38417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082088" y="6704013"/>
            <a:ext cx="2892425" cy="384175"/>
          </a:xfrm>
          <a:prstGeom prst="rect">
            <a:avLst/>
          </a:prstGeom>
        </p:spPr>
        <p:txBody>
          <a:bodyPr vert="horz" lIns="91440" tIns="45720" rIns="91440" bIns="45720" rtlCol="0" anchor="ctr"/>
          <a:lstStyle>
            <a:lvl1pPr algn="r">
              <a:defRPr sz="1200">
                <a:solidFill>
                  <a:schemeClr val="tx1">
                    <a:tint val="75000"/>
                  </a:schemeClr>
                </a:solidFill>
              </a:defRPr>
            </a:lvl1pPr>
          </a:lstStyle>
          <a:p>
            <a:fld id="{118D5ACA-62CA-46DB-AD6B-12EDD6D51A23}" type="slidenum">
              <a:rPr lang="zh-CN" altLang="en-US" smtClean="0"/>
              <a:t>‹#›</a:t>
            </a:fld>
            <a:endParaRPr lang="zh-CN" altLang="en-US"/>
          </a:p>
        </p:txBody>
      </p:sp>
      <p:sp>
        <p:nvSpPr>
          <p:cNvPr id="7" name="矩形 6"/>
          <p:cNvSpPr/>
          <p:nvPr userDrawn="1"/>
        </p:nvSpPr>
        <p:spPr>
          <a:xfrm>
            <a:off x="8244409" y="6240380"/>
            <a:ext cx="775136" cy="230832"/>
          </a:xfrm>
          <a:prstGeom prst="rect">
            <a:avLst/>
          </a:prstGeom>
        </p:spPr>
        <p:txBody>
          <a:bodyPr wrap="square">
            <a:spAutoFit/>
          </a:bodyPr>
          <a:lstStyle/>
          <a:p>
            <a:pPr lvl="0"/>
            <a:r>
              <a:rPr lang="en-US" altLang="zh-CN" sz="100" dirty="0">
                <a:solidFill>
                  <a:schemeClr val="bg1"/>
                </a:solidFill>
              </a:rPr>
              <a:t>PPT</a:t>
            </a:r>
            <a:r>
              <a:rPr lang="zh-CN" altLang="en-US" sz="100" dirty="0">
                <a:solidFill>
                  <a:schemeClr val="bg1"/>
                </a:solidFill>
              </a:rPr>
              <a:t>模板下载：</a:t>
            </a:r>
            <a:r>
              <a:rPr lang="en-US" altLang="zh-CN" sz="100" dirty="0">
                <a:solidFill>
                  <a:schemeClr val="bg1"/>
                </a:solidFill>
              </a:rPr>
              <a:t>www.1ppt.com/moban/     </a:t>
            </a:r>
            <a:r>
              <a:rPr lang="zh-CN" altLang="en-US" sz="100" dirty="0">
                <a:solidFill>
                  <a:schemeClr val="bg1"/>
                </a:solidFill>
              </a:rPr>
              <a:t>行业</a:t>
            </a:r>
            <a:r>
              <a:rPr lang="en-US" altLang="zh-CN" sz="100" dirty="0">
                <a:solidFill>
                  <a:schemeClr val="bg1"/>
                </a:solidFill>
              </a:rPr>
              <a:t>PPT</a:t>
            </a:r>
            <a:r>
              <a:rPr lang="zh-CN" altLang="en-US" sz="100" dirty="0">
                <a:solidFill>
                  <a:schemeClr val="bg1"/>
                </a:solidFill>
              </a:rPr>
              <a:t>模板：</a:t>
            </a:r>
            <a:r>
              <a:rPr lang="en-US" altLang="zh-CN" sz="100" dirty="0">
                <a:solidFill>
                  <a:schemeClr val="bg1"/>
                </a:solidFill>
              </a:rPr>
              <a:t>www.1ppt.com/hangye/ </a:t>
            </a:r>
          </a:p>
          <a:p>
            <a:pPr lvl="0"/>
            <a:r>
              <a:rPr lang="zh-CN" altLang="en-US" sz="100" dirty="0">
                <a:solidFill>
                  <a:schemeClr val="bg1"/>
                </a:solidFill>
              </a:rPr>
              <a:t>节日</a:t>
            </a:r>
            <a:r>
              <a:rPr lang="en-US" altLang="zh-CN" sz="100" dirty="0">
                <a:solidFill>
                  <a:schemeClr val="bg1"/>
                </a:solidFill>
              </a:rPr>
              <a:t>PPT</a:t>
            </a:r>
            <a:r>
              <a:rPr lang="zh-CN" altLang="en-US" sz="100" dirty="0">
                <a:solidFill>
                  <a:schemeClr val="bg1"/>
                </a:solidFill>
              </a:rPr>
              <a:t>模板：</a:t>
            </a:r>
            <a:r>
              <a:rPr lang="en-US" altLang="zh-CN" sz="100" dirty="0">
                <a:solidFill>
                  <a:schemeClr val="bg1"/>
                </a:solidFill>
              </a:rPr>
              <a:t>www.1ppt.com/jieri/           PPT</a:t>
            </a:r>
            <a:r>
              <a:rPr lang="zh-CN" altLang="en-US" sz="100" dirty="0">
                <a:solidFill>
                  <a:schemeClr val="bg1"/>
                </a:solidFill>
              </a:rPr>
              <a:t>素材下载：</a:t>
            </a:r>
            <a:r>
              <a:rPr lang="en-US" altLang="zh-CN" sz="100" dirty="0">
                <a:solidFill>
                  <a:schemeClr val="bg1"/>
                </a:solidFill>
              </a:rPr>
              <a:t>www.1ppt.com/sucai/</a:t>
            </a:r>
          </a:p>
          <a:p>
            <a:pPr lvl="0"/>
            <a:r>
              <a:rPr lang="en-US" altLang="zh-CN" sz="100" dirty="0">
                <a:solidFill>
                  <a:schemeClr val="bg1"/>
                </a:solidFill>
              </a:rPr>
              <a:t>PPT</a:t>
            </a:r>
            <a:r>
              <a:rPr lang="zh-CN" altLang="en-US" sz="100" dirty="0">
                <a:solidFill>
                  <a:schemeClr val="bg1"/>
                </a:solidFill>
              </a:rPr>
              <a:t>背景图片：</a:t>
            </a:r>
            <a:r>
              <a:rPr lang="en-US" altLang="zh-CN" sz="100" dirty="0">
                <a:solidFill>
                  <a:schemeClr val="bg1"/>
                </a:solidFill>
              </a:rPr>
              <a:t>www.1ppt.com/beijing/      PPT</a:t>
            </a:r>
            <a:r>
              <a:rPr lang="zh-CN" altLang="en-US" sz="100" dirty="0">
                <a:solidFill>
                  <a:schemeClr val="bg1"/>
                </a:solidFill>
              </a:rPr>
              <a:t>图表下载：</a:t>
            </a:r>
            <a:r>
              <a:rPr lang="en-US" altLang="zh-CN" sz="100" dirty="0">
                <a:solidFill>
                  <a:schemeClr val="bg1"/>
                </a:solidFill>
              </a:rPr>
              <a:t>www.1ppt.com/tubiao/      </a:t>
            </a:r>
          </a:p>
          <a:p>
            <a:pPr lvl="0"/>
            <a:r>
              <a:rPr lang="zh-CN" altLang="en-US" sz="100" dirty="0">
                <a:solidFill>
                  <a:schemeClr val="bg1"/>
                </a:solidFill>
              </a:rPr>
              <a:t>优秀</a:t>
            </a:r>
            <a:r>
              <a:rPr lang="en-US" altLang="zh-CN" sz="100" dirty="0">
                <a:solidFill>
                  <a:schemeClr val="bg1"/>
                </a:solidFill>
              </a:rPr>
              <a:t>PPT</a:t>
            </a:r>
            <a:r>
              <a:rPr lang="zh-CN" altLang="en-US" sz="100" dirty="0">
                <a:solidFill>
                  <a:schemeClr val="bg1"/>
                </a:solidFill>
              </a:rPr>
              <a:t>下载：</a:t>
            </a:r>
            <a:r>
              <a:rPr lang="en-US" altLang="zh-CN" sz="100" dirty="0">
                <a:solidFill>
                  <a:schemeClr val="bg1"/>
                </a:solidFill>
              </a:rPr>
              <a:t>www.1ppt.com/xiazai/        PPT</a:t>
            </a:r>
            <a:r>
              <a:rPr lang="zh-CN" altLang="en-US" sz="100" dirty="0">
                <a:solidFill>
                  <a:schemeClr val="bg1"/>
                </a:solidFill>
              </a:rPr>
              <a:t>教程： </a:t>
            </a:r>
            <a:r>
              <a:rPr lang="en-US" altLang="zh-CN" sz="100" dirty="0">
                <a:solidFill>
                  <a:schemeClr val="bg1"/>
                </a:solidFill>
              </a:rPr>
              <a:t>www.1ppt.com/powerpoint/      </a:t>
            </a:r>
          </a:p>
          <a:p>
            <a:pPr lvl="0"/>
            <a:r>
              <a:rPr lang="en-US" altLang="zh-CN" sz="100" dirty="0">
                <a:solidFill>
                  <a:schemeClr val="bg1"/>
                </a:solidFill>
              </a:rPr>
              <a:t>Word</a:t>
            </a:r>
            <a:r>
              <a:rPr lang="zh-CN" altLang="en-US" sz="100" dirty="0">
                <a:solidFill>
                  <a:schemeClr val="bg1"/>
                </a:solidFill>
              </a:rPr>
              <a:t>教程： </a:t>
            </a:r>
            <a:r>
              <a:rPr lang="en-US" altLang="zh-CN" sz="100" dirty="0">
                <a:solidFill>
                  <a:schemeClr val="bg1"/>
                </a:solidFill>
              </a:rPr>
              <a:t>www.1ppt.com/word/              Excel</a:t>
            </a:r>
            <a:r>
              <a:rPr lang="zh-CN" altLang="en-US" sz="100" dirty="0">
                <a:solidFill>
                  <a:schemeClr val="bg1"/>
                </a:solidFill>
              </a:rPr>
              <a:t>教程：</a:t>
            </a:r>
            <a:r>
              <a:rPr lang="en-US" altLang="zh-CN" sz="100" dirty="0">
                <a:solidFill>
                  <a:schemeClr val="bg1"/>
                </a:solidFill>
              </a:rPr>
              <a:t>www.1ppt.com/excel/  </a:t>
            </a:r>
          </a:p>
          <a:p>
            <a:pPr lvl="0"/>
            <a:r>
              <a:rPr lang="zh-CN" altLang="en-US" sz="100" dirty="0">
                <a:solidFill>
                  <a:schemeClr val="bg1"/>
                </a:solidFill>
              </a:rPr>
              <a:t>资料下载：</a:t>
            </a:r>
            <a:r>
              <a:rPr lang="en-US" altLang="zh-CN" sz="100" dirty="0">
                <a:solidFill>
                  <a:schemeClr val="bg1"/>
                </a:solidFill>
              </a:rPr>
              <a:t>www.1ppt.com/ziliao/                PPT</a:t>
            </a:r>
            <a:r>
              <a:rPr lang="zh-CN" altLang="en-US" sz="100" dirty="0">
                <a:solidFill>
                  <a:schemeClr val="bg1"/>
                </a:solidFill>
              </a:rPr>
              <a:t>课件下载：</a:t>
            </a:r>
            <a:r>
              <a:rPr lang="en-US" altLang="zh-CN" sz="100" dirty="0">
                <a:solidFill>
                  <a:schemeClr val="bg1"/>
                </a:solidFill>
              </a:rPr>
              <a:t>www.1ppt.com/kejian/ </a:t>
            </a:r>
          </a:p>
          <a:p>
            <a:pPr lvl="0"/>
            <a:r>
              <a:rPr lang="zh-CN" altLang="en-US" sz="100" dirty="0">
                <a:solidFill>
                  <a:schemeClr val="bg1"/>
                </a:solidFill>
              </a:rPr>
              <a:t>范文下载：</a:t>
            </a:r>
            <a:r>
              <a:rPr lang="en-US" altLang="zh-CN" sz="100" dirty="0">
                <a:solidFill>
                  <a:schemeClr val="bg1"/>
                </a:solidFill>
              </a:rPr>
              <a:t>www.1ppt.com/fanwen/             </a:t>
            </a:r>
            <a:r>
              <a:rPr lang="zh-CN" altLang="en-US" sz="100" dirty="0">
                <a:solidFill>
                  <a:schemeClr val="bg1"/>
                </a:solidFill>
              </a:rPr>
              <a:t>试卷下载：</a:t>
            </a:r>
            <a:r>
              <a:rPr lang="en-US" altLang="zh-CN" sz="100" dirty="0">
                <a:solidFill>
                  <a:schemeClr val="bg1"/>
                </a:solidFill>
              </a:rPr>
              <a:t>www.1ppt.com/shiti/  </a:t>
            </a:r>
          </a:p>
          <a:p>
            <a:pPr lvl="0"/>
            <a:r>
              <a:rPr lang="zh-CN" altLang="en-US" sz="100" dirty="0">
                <a:solidFill>
                  <a:schemeClr val="bg1"/>
                </a:solidFill>
              </a:rPr>
              <a:t>教案下载：</a:t>
            </a:r>
            <a:r>
              <a:rPr lang="en-US" altLang="zh-CN" sz="100" dirty="0">
                <a:solidFill>
                  <a:schemeClr val="bg1"/>
                </a:solidFill>
              </a:rPr>
              <a:t>www.1ppt.com/jiaoan/        PPT</a:t>
            </a:r>
            <a:r>
              <a:rPr lang="zh-CN" altLang="en-US" sz="100" dirty="0">
                <a:solidFill>
                  <a:schemeClr val="bg1"/>
                </a:solidFill>
              </a:rPr>
              <a:t>论坛：</a:t>
            </a:r>
            <a:r>
              <a:rPr lang="en-US" altLang="zh-CN" sz="100" dirty="0">
                <a:solidFill>
                  <a:schemeClr val="bg1"/>
                </a:solidFill>
              </a:rPr>
              <a:t>www.1ppt.cn</a:t>
            </a:r>
          </a:p>
          <a:p>
            <a:pPr lvl="0"/>
            <a:r>
              <a:rPr lang="en-US" altLang="zh-CN" sz="100" dirty="0">
                <a:solidFill>
                  <a:schemeClr val="bg1"/>
                </a:solidFill>
              </a:rPr>
              <a:t> </a:t>
            </a:r>
            <a:endParaRPr lang="zh-CN" altLang="en-US" sz="100" dirty="0">
              <a:solidFill>
                <a:schemeClr val="bg1"/>
              </a:solidFill>
            </a:endParaRPr>
          </a:p>
        </p:txBody>
      </p:sp>
    </p:spTree>
    <p:extLst>
      <p:ext uri="{BB962C8B-B14F-4D97-AF65-F5344CB8AC3E}">
        <p14:creationId xmlns:p14="http://schemas.microsoft.com/office/powerpoint/2010/main" val="278975340"/>
      </p:ext>
    </p:extLst>
  </p:cSld>
  <p:clrMap bg1="lt1" tx1="dk1" bg2="lt2" tx2="dk2" accent1="accent1" accent2="accent2" accent3="accent3" accent4="accent4" accent5="accent5" accent6="accent6" hlink="hlink" folHlink="folHlink"/>
  <p:sldLayoutIdLst>
    <p:sldLayoutId id="2147483961" r:id="rId1"/>
    <p:sldLayoutId id="2147483968" r:id="rId2"/>
    <p:sldLayoutId id="2147483970" r:id="rId3"/>
  </p:sldLayoutIdLst>
  <mc:AlternateContent xmlns:mc="http://schemas.openxmlformats.org/markup-compatibility/2006" xmlns:p14="http://schemas.microsoft.com/office/powerpoint/2010/main">
    <mc:Choice Requires="p14">
      <p:transition p14:dur="0" advTm="0"/>
    </mc:Choice>
    <mc:Fallback xmlns="">
      <p:transition advTm="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5.jpg"/></Relationships>
</file>

<file path=ppt/slides/_rels/slide1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1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rcRect t="211" b="211"/>
          <a:stretch/>
        </p:blipFill>
        <p:spPr>
          <a:xfrm>
            <a:off x="16611" y="-1"/>
            <a:ext cx="12965492" cy="7262293"/>
          </a:xfrm>
          <a:prstGeom prst="rect">
            <a:avLst/>
          </a:prstGeom>
          <a:scene3d>
            <a:camera prst="orthographicFront">
              <a:rot lat="0" lon="0" rev="0"/>
            </a:camera>
            <a:lightRig rig="threePt" dir="t"/>
          </a:scene3d>
        </p:spPr>
      </p:pic>
      <p:sp>
        <p:nvSpPr>
          <p:cNvPr id="9" name="梯形 8">
            <a:extLst>
              <a:ext uri="{FF2B5EF4-FFF2-40B4-BE49-F238E27FC236}">
                <a16:creationId xmlns:a16="http://schemas.microsoft.com/office/drawing/2014/main" id="{194B1FE0-5207-0144-8FFA-F531885A9E65}"/>
              </a:ext>
            </a:extLst>
          </p:cNvPr>
          <p:cNvSpPr/>
          <p:nvPr/>
        </p:nvSpPr>
        <p:spPr>
          <a:xfrm>
            <a:off x="-1851545" y="-29643"/>
            <a:ext cx="8157567" cy="7262293"/>
          </a:xfrm>
          <a:prstGeom prst="trapezoid">
            <a:avLst/>
          </a:prstGeom>
          <a:solidFill>
            <a:srgbClr val="777FBE">
              <a:alpha val="8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0" name="矩形 259"/>
          <p:cNvSpPr>
            <a:spLocks noChangeArrowheads="1"/>
          </p:cNvSpPr>
          <p:nvPr/>
        </p:nvSpPr>
        <p:spPr bwMode="auto">
          <a:xfrm>
            <a:off x="-57694" y="1672109"/>
            <a:ext cx="4931722"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zh-CN" altLang="en-US" sz="5400" b="1" cap="all" dirty="0">
                <a:solidFill>
                  <a:schemeClr val="bg1"/>
                </a:solidFill>
                <a:latin typeface="Yuanti SC" panose="02010600040101010101" pitchFamily="2" charset="-122"/>
                <a:ea typeface="Yuanti SC" panose="02010600040101010101" pitchFamily="2" charset="-122"/>
                <a:cs typeface="Arial" panose="020B0604020202020204" pitchFamily="34" charset="0"/>
              </a:rPr>
              <a:t>抑郁症概述：从病理到治疗</a:t>
            </a:r>
            <a:endParaRPr lang="zh-CN" altLang="en-US" sz="4400" b="1" cap="all" dirty="0">
              <a:solidFill>
                <a:schemeClr val="bg1"/>
              </a:solidFill>
              <a:latin typeface="Yuanti SC" panose="02010600040101010101" pitchFamily="2" charset="-122"/>
              <a:ea typeface="Yuanti SC" panose="02010600040101010101" pitchFamily="2" charset="-122"/>
              <a:cs typeface="Arial" panose="020B0604020202020204" pitchFamily="34" charset="0"/>
            </a:endParaRPr>
          </a:p>
        </p:txBody>
      </p:sp>
      <p:sp>
        <p:nvSpPr>
          <p:cNvPr id="12" name="矩形 259"/>
          <p:cNvSpPr>
            <a:spLocks noChangeArrowheads="1"/>
          </p:cNvSpPr>
          <p:nvPr/>
        </p:nvSpPr>
        <p:spPr bwMode="auto">
          <a:xfrm>
            <a:off x="332870" y="5530883"/>
            <a:ext cx="4571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zh-CN" altLang="en-US" sz="2000" b="1" cap="all">
                <a:solidFill>
                  <a:schemeClr val="bg1"/>
                </a:solidFill>
                <a:latin typeface="Yuanti SC" panose="02010600040101010101" pitchFamily="2" charset="-122"/>
                <a:ea typeface="Yuanti SC" panose="02010600040101010101" pitchFamily="2" charset="-122"/>
                <a:cs typeface="Arial" panose="020B0604020202020204" pitchFamily="34" charset="0"/>
              </a:rPr>
              <a:t>汇报人</a:t>
            </a:r>
            <a:r>
              <a:rPr lang="zh-CN" altLang="en-US" sz="2000" b="1" cap="all" dirty="0">
                <a:solidFill>
                  <a:schemeClr val="bg1"/>
                </a:solidFill>
                <a:latin typeface="Yuanti SC" panose="02010600040101010101" pitchFamily="2" charset="-122"/>
                <a:ea typeface="Yuanti SC" panose="02010600040101010101" pitchFamily="2" charset="-122"/>
                <a:cs typeface="Arial" panose="020B0604020202020204" pitchFamily="34" charset="0"/>
              </a:rPr>
              <a:t>：张智超</a:t>
            </a:r>
          </a:p>
        </p:txBody>
      </p:sp>
    </p:spTree>
    <p:extLst>
      <p:ext uri="{BB962C8B-B14F-4D97-AF65-F5344CB8AC3E}">
        <p14:creationId xmlns:p14="http://schemas.microsoft.com/office/powerpoint/2010/main" val="3665374626"/>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500"/>
                                        <p:tgtEl>
                                          <p:spTgt spid="10"/>
                                        </p:tgtEl>
                                      </p:cBhvr>
                                    </p:animEffect>
                                    <p:anim calcmode="lin" valueType="num">
                                      <p:cBhvr>
                                        <p:cTn id="16" dur="1500" fill="hold"/>
                                        <p:tgtEl>
                                          <p:spTgt spid="10"/>
                                        </p:tgtEl>
                                        <p:attrNameLst>
                                          <p:attrName>ppt_x</p:attrName>
                                        </p:attrNameLst>
                                      </p:cBhvr>
                                      <p:tavLst>
                                        <p:tav tm="0">
                                          <p:val>
                                            <p:strVal val="#ppt_x"/>
                                          </p:val>
                                        </p:tav>
                                        <p:tav tm="100000">
                                          <p:val>
                                            <p:strVal val="#ppt_x"/>
                                          </p:val>
                                        </p:tav>
                                      </p:tavLst>
                                    </p:anim>
                                    <p:anim calcmode="lin" valueType="num">
                                      <p:cBhvr>
                                        <p:cTn id="17" dur="1500" fill="hold"/>
                                        <p:tgtEl>
                                          <p:spTgt spid="10"/>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1500"/>
                                        <p:tgtEl>
                                          <p:spTgt spid="12"/>
                                        </p:tgtEl>
                                      </p:cBhvr>
                                    </p:animEffect>
                                    <p:anim calcmode="lin" valueType="num">
                                      <p:cBhvr>
                                        <p:cTn id="21" dur="1500" fill="hold"/>
                                        <p:tgtEl>
                                          <p:spTgt spid="12"/>
                                        </p:tgtEl>
                                        <p:attrNameLst>
                                          <p:attrName>ppt_x</p:attrName>
                                        </p:attrNameLst>
                                      </p:cBhvr>
                                      <p:tavLst>
                                        <p:tav tm="0">
                                          <p:val>
                                            <p:strVal val="#ppt_x"/>
                                          </p:val>
                                        </p:tav>
                                        <p:tav tm="100000">
                                          <p:val>
                                            <p:strVal val="#ppt_x"/>
                                          </p:val>
                                        </p:tav>
                                      </p:tavLst>
                                    </p:anim>
                                    <p:anim calcmode="lin" valueType="num">
                                      <p:cBhvr>
                                        <p:cTn id="22" dur="15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a:extLst>
              <a:ext uri="{FF2B5EF4-FFF2-40B4-BE49-F238E27FC236}">
                <a16:creationId xmlns:a16="http://schemas.microsoft.com/office/drawing/2014/main" id="{61802D09-00CD-8949-916B-9EF84FF0E69F}"/>
              </a:ext>
            </a:extLst>
          </p:cNvPr>
          <p:cNvPicPr>
            <a:picLocks noChangeAspect="1"/>
          </p:cNvPicPr>
          <p:nvPr/>
        </p:nvPicPr>
        <p:blipFill>
          <a:blip r:embed="rId3">
            <a:alphaModFix amt="5000"/>
          </a:blip>
          <a:stretch>
            <a:fillRect/>
          </a:stretch>
        </p:blipFill>
        <p:spPr>
          <a:xfrm>
            <a:off x="406662" y="986394"/>
            <a:ext cx="5366235" cy="5366235"/>
          </a:xfrm>
          <a:prstGeom prst="rect">
            <a:avLst/>
          </a:prstGeom>
          <a:effectLst>
            <a:glow>
              <a:schemeClr val="accent1"/>
            </a:glow>
          </a:effectLst>
        </p:spPr>
      </p:pic>
      <p:pic>
        <p:nvPicPr>
          <p:cNvPr id="6" name="图片 5">
            <a:extLst>
              <a:ext uri="{FF2B5EF4-FFF2-40B4-BE49-F238E27FC236}">
                <a16:creationId xmlns:a16="http://schemas.microsoft.com/office/drawing/2014/main" id="{182F8BC1-8D73-5940-AB50-9E4DACAB176C}"/>
              </a:ext>
            </a:extLst>
          </p:cNvPr>
          <p:cNvPicPr>
            <a:picLocks noChangeAspect="1"/>
          </p:cNvPicPr>
          <p:nvPr/>
        </p:nvPicPr>
        <p:blipFill>
          <a:blip r:embed="rId4" cstate="print">
            <a:extLst>
              <a:ext uri="{28A0092B-C50C-407E-A947-70E740481C1C}">
                <a14:useLocalDpi xmlns:a14="http://schemas.microsoft.com/office/drawing/2010/main" val="0"/>
              </a:ext>
            </a:extLst>
          </a:blip>
          <a:srcRect t="8781" b="8781"/>
          <a:stretch/>
        </p:blipFill>
        <p:spPr>
          <a:xfrm>
            <a:off x="6573391" y="1"/>
            <a:ext cx="6643327" cy="7738514"/>
          </a:xfrm>
          <a:prstGeom prst="rect">
            <a:avLst/>
          </a:prstGeom>
          <a:effectLst>
            <a:glow>
              <a:schemeClr val="accent1">
                <a:alpha val="40000"/>
              </a:schemeClr>
            </a:glow>
            <a:reflection stA="45000" endPos="0" dist="50800" dir="5400000" sy="-100000" algn="bl" rotWithShape="0"/>
            <a:softEdge rad="330200"/>
          </a:effectLst>
        </p:spPr>
      </p:pic>
      <p:sp>
        <p:nvSpPr>
          <p:cNvPr id="39" name="椭圆 38"/>
          <p:cNvSpPr/>
          <p:nvPr/>
        </p:nvSpPr>
        <p:spPr>
          <a:xfrm>
            <a:off x="5967794" y="1322579"/>
            <a:ext cx="830312" cy="830312"/>
          </a:xfrm>
          <a:prstGeom prst="ellipse">
            <a:avLst/>
          </a:prstGeom>
          <a:gradFill>
            <a:gsLst>
              <a:gs pos="0">
                <a:srgbClr val="FFAD91">
                  <a:alpha val="38000"/>
                </a:srgbClr>
              </a:gs>
              <a:gs pos="70000">
                <a:srgbClr val="FB9814">
                  <a:alpha val="45000"/>
                </a:srgbClr>
              </a:gs>
              <a:gs pos="30000">
                <a:srgbClr val="777FBE"/>
              </a:gs>
              <a:gs pos="96000">
                <a:srgbClr val="FFAD91"/>
              </a:gs>
              <a:gs pos="79978">
                <a:srgbClr val="FFAD91"/>
              </a:gs>
              <a:gs pos="100000">
                <a:srgbClr val="FFAD91">
                  <a:alpha val="54000"/>
                </a:srgb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prstClr val="white"/>
                </a:solidFill>
                <a:latin typeface="Arial" panose="020B0604020202020204" pitchFamily="34" charset="0"/>
                <a:cs typeface="Arial" panose="020B0604020202020204" pitchFamily="34" charset="0"/>
              </a:rPr>
              <a:t>01</a:t>
            </a:r>
            <a:endParaRPr lang="zh-CN" altLang="en-US" sz="2800" dirty="0">
              <a:solidFill>
                <a:prstClr val="white"/>
              </a:solidFill>
              <a:latin typeface="Arial" panose="020B0604020202020204" pitchFamily="34" charset="0"/>
              <a:cs typeface="Arial" panose="020B0604020202020204" pitchFamily="34" charset="0"/>
            </a:endParaRPr>
          </a:p>
        </p:txBody>
      </p:sp>
      <p:sp>
        <p:nvSpPr>
          <p:cNvPr id="40" name="TextBox 23"/>
          <p:cNvSpPr txBox="1"/>
          <p:nvPr/>
        </p:nvSpPr>
        <p:spPr>
          <a:xfrm>
            <a:off x="7412055" y="1844676"/>
            <a:ext cx="3987011" cy="375552"/>
          </a:xfrm>
          <a:prstGeom prst="rect">
            <a:avLst/>
          </a:prstGeom>
          <a:noFill/>
        </p:spPr>
        <p:txBody>
          <a:bodyPr wrap="square" rtlCol="0">
            <a:spAutoFit/>
          </a:bodyPr>
          <a:lstStyle/>
          <a:p>
            <a:pPr>
              <a:lnSpc>
                <a:spcPct val="150000"/>
              </a:lnSpc>
            </a:pPr>
            <a:r>
              <a:rPr lang="en-US" altLang="zh-CN" sz="1400" dirty="0">
                <a:solidFill>
                  <a:schemeClr val="bg1"/>
                </a:solidFill>
                <a:latin typeface="Arial" panose="020B0604020202020204" pitchFamily="34" charset="0"/>
                <a:ea typeface="微软雅黑" panose="020B0503020204020204" pitchFamily="34" charset="-122"/>
                <a:cs typeface="+mn-ea"/>
                <a:sym typeface="+mn-lt"/>
              </a:rPr>
              <a:t>background</a:t>
            </a:r>
            <a:endParaRPr lang="en-GB" altLang="zh-CN" sz="1400" dirty="0">
              <a:solidFill>
                <a:schemeClr val="bg1"/>
              </a:solidFill>
              <a:latin typeface="Arial" panose="020B0604020202020204" pitchFamily="34" charset="0"/>
              <a:ea typeface="微软雅黑" panose="020B0503020204020204" pitchFamily="34" charset="-122"/>
              <a:cs typeface="+mn-ea"/>
              <a:sym typeface="+mn-lt"/>
            </a:endParaRPr>
          </a:p>
        </p:txBody>
      </p:sp>
      <p:sp>
        <p:nvSpPr>
          <p:cNvPr id="41" name="TextBox 24"/>
          <p:cNvSpPr txBox="1"/>
          <p:nvPr/>
        </p:nvSpPr>
        <p:spPr>
          <a:xfrm>
            <a:off x="7366618" y="1437471"/>
            <a:ext cx="800219" cy="461665"/>
          </a:xfrm>
          <a:prstGeom prst="rect">
            <a:avLst/>
          </a:prstGeom>
          <a:noFill/>
        </p:spPr>
        <p:txBody>
          <a:bodyPr wrap="none" rtlCol="0">
            <a:spAutoFit/>
          </a:bodyPr>
          <a:lstStyle/>
          <a:p>
            <a:r>
              <a:rPr lang="zh-CN" altLang="en-US" sz="2400" b="1" dirty="0">
                <a:solidFill>
                  <a:schemeClr val="bg1"/>
                </a:solidFill>
                <a:ea typeface="微软雅黑" panose="020B0503020204020204" pitchFamily="34" charset="-122"/>
              </a:rPr>
              <a:t>背景</a:t>
            </a:r>
          </a:p>
        </p:txBody>
      </p:sp>
      <p:sp>
        <p:nvSpPr>
          <p:cNvPr id="52" name="矩形 51"/>
          <p:cNvSpPr/>
          <p:nvPr/>
        </p:nvSpPr>
        <p:spPr>
          <a:xfrm>
            <a:off x="1766868" y="2752229"/>
            <a:ext cx="2646284" cy="523220"/>
          </a:xfrm>
          <a:prstGeom prst="rect">
            <a:avLst/>
          </a:prstGeom>
          <a:noFill/>
          <a:effectLst/>
        </p:spPr>
        <p:txBody>
          <a:bodyPr vert="horz" wrap="square">
            <a:spAutoFit/>
          </a:bodyPr>
          <a:lstStyle/>
          <a:p>
            <a:r>
              <a:rPr lang="en-US" altLang="zh-CN" sz="2800" dirty="0">
                <a:solidFill>
                  <a:srgbClr val="777FBE"/>
                </a:solidFill>
                <a:latin typeface="Chalkduster" panose="03050602040202020205" pitchFamily="66" charset="0"/>
                <a:ea typeface="微软雅黑" panose="020B0503020204020204" pitchFamily="34" charset="-122"/>
                <a:cs typeface="Arial" panose="020B0604020202020204" pitchFamily="34" charset="0"/>
              </a:rPr>
              <a:t>DIRECTORY</a:t>
            </a:r>
            <a:endParaRPr lang="zh-CN" altLang="en-US" sz="2800" dirty="0">
              <a:solidFill>
                <a:srgbClr val="777FBE"/>
              </a:solidFill>
              <a:latin typeface="Chalkduster" panose="03050602040202020205" pitchFamily="66" charset="0"/>
              <a:ea typeface="微软雅黑" panose="020B0503020204020204" pitchFamily="34" charset="-122"/>
              <a:cs typeface="Arial" panose="020B0604020202020204" pitchFamily="34" charset="0"/>
            </a:endParaRPr>
          </a:p>
        </p:txBody>
      </p:sp>
      <p:sp>
        <p:nvSpPr>
          <p:cNvPr id="51" name="矩形 50"/>
          <p:cNvSpPr/>
          <p:nvPr/>
        </p:nvSpPr>
        <p:spPr>
          <a:xfrm>
            <a:off x="2217310" y="3419047"/>
            <a:ext cx="1313018" cy="769346"/>
          </a:xfrm>
          <a:prstGeom prst="rect">
            <a:avLst/>
          </a:prstGeom>
          <a:effectLst/>
        </p:spPr>
        <p:txBody>
          <a:bodyPr vert="horz" wrap="square">
            <a:spAutoFit/>
          </a:bodyPr>
          <a:lstStyle/>
          <a:p>
            <a:r>
              <a:rPr lang="zh-CN" altLang="en-US" sz="4400" b="1" dirty="0">
                <a:solidFill>
                  <a:srgbClr val="777FBE"/>
                </a:solidFill>
                <a:latin typeface="Yuanti SC" panose="02010600040101010101" pitchFamily="2" charset="-122"/>
                <a:ea typeface="Yuanti SC" panose="02010600040101010101" pitchFamily="2" charset="-122"/>
              </a:rPr>
              <a:t>目录</a:t>
            </a:r>
          </a:p>
        </p:txBody>
      </p:sp>
      <p:pic>
        <p:nvPicPr>
          <p:cNvPr id="4" name="图片 3">
            <a:extLst>
              <a:ext uri="{FF2B5EF4-FFF2-40B4-BE49-F238E27FC236}">
                <a16:creationId xmlns:a16="http://schemas.microsoft.com/office/drawing/2014/main" id="{3E9D2044-2908-1044-9C78-866517D5B29B}"/>
              </a:ext>
            </a:extLst>
          </p:cNvPr>
          <p:cNvPicPr>
            <a:picLocks noChangeAspect="1"/>
          </p:cNvPicPr>
          <p:nvPr/>
        </p:nvPicPr>
        <p:blipFill>
          <a:blip r:embed="rId3"/>
          <a:stretch>
            <a:fillRect/>
          </a:stretch>
        </p:blipFill>
        <p:spPr>
          <a:xfrm>
            <a:off x="11829975" y="6352629"/>
            <a:ext cx="702109" cy="702109"/>
          </a:xfrm>
          <a:prstGeom prst="rect">
            <a:avLst/>
          </a:prstGeom>
        </p:spPr>
      </p:pic>
      <p:sp>
        <p:nvSpPr>
          <p:cNvPr id="22" name="TextBox 23">
            <a:extLst>
              <a:ext uri="{FF2B5EF4-FFF2-40B4-BE49-F238E27FC236}">
                <a16:creationId xmlns:a16="http://schemas.microsoft.com/office/drawing/2014/main" id="{8578113E-A05E-9C44-B861-503E8310D81F}"/>
              </a:ext>
            </a:extLst>
          </p:cNvPr>
          <p:cNvSpPr txBox="1"/>
          <p:nvPr/>
        </p:nvSpPr>
        <p:spPr>
          <a:xfrm>
            <a:off x="7343341" y="3043495"/>
            <a:ext cx="3911709" cy="375552"/>
          </a:xfrm>
          <a:prstGeom prst="rect">
            <a:avLst/>
          </a:prstGeom>
          <a:noFill/>
        </p:spPr>
        <p:txBody>
          <a:bodyPr wrap="square" rtlCol="0">
            <a:spAutoFit/>
          </a:bodyPr>
          <a:lstStyle/>
          <a:p>
            <a:pPr>
              <a:lnSpc>
                <a:spcPct val="150000"/>
              </a:lnSpc>
            </a:pPr>
            <a:r>
              <a:rPr lang="en-GB" altLang="zh-CN" sz="1400" dirty="0">
                <a:solidFill>
                  <a:schemeClr val="bg1"/>
                </a:solidFill>
                <a:latin typeface="Arial" panose="020B0604020202020204" pitchFamily="34" charset="0"/>
                <a:ea typeface="微软雅黑" panose="020B0503020204020204" pitchFamily="34" charset="-122"/>
                <a:cs typeface="+mn-ea"/>
                <a:sym typeface="+mn-lt"/>
              </a:rPr>
              <a:t>Clinical situation</a:t>
            </a:r>
          </a:p>
        </p:txBody>
      </p:sp>
      <p:sp>
        <p:nvSpPr>
          <p:cNvPr id="23" name="TextBox 24">
            <a:extLst>
              <a:ext uri="{FF2B5EF4-FFF2-40B4-BE49-F238E27FC236}">
                <a16:creationId xmlns:a16="http://schemas.microsoft.com/office/drawing/2014/main" id="{85E34455-FC8F-2B41-8A39-08E7F67861EC}"/>
              </a:ext>
            </a:extLst>
          </p:cNvPr>
          <p:cNvSpPr txBox="1"/>
          <p:nvPr/>
        </p:nvSpPr>
        <p:spPr>
          <a:xfrm>
            <a:off x="7322790" y="2630385"/>
            <a:ext cx="1415772" cy="461665"/>
          </a:xfrm>
          <a:prstGeom prst="rect">
            <a:avLst/>
          </a:prstGeom>
          <a:noFill/>
        </p:spPr>
        <p:txBody>
          <a:bodyPr wrap="none" rtlCol="0">
            <a:spAutoFit/>
          </a:bodyPr>
          <a:lstStyle/>
          <a:p>
            <a:r>
              <a:rPr lang="zh-CN" altLang="en-US" sz="2400" b="1" dirty="0">
                <a:solidFill>
                  <a:schemeClr val="bg1"/>
                </a:solidFill>
                <a:ea typeface="微软雅黑" panose="020B0503020204020204" pitchFamily="34" charset="-122"/>
              </a:rPr>
              <a:t>临床情况</a:t>
            </a:r>
          </a:p>
        </p:txBody>
      </p:sp>
      <p:sp>
        <p:nvSpPr>
          <p:cNvPr id="25" name="TextBox 23">
            <a:extLst>
              <a:ext uri="{FF2B5EF4-FFF2-40B4-BE49-F238E27FC236}">
                <a16:creationId xmlns:a16="http://schemas.microsoft.com/office/drawing/2014/main" id="{519C8F1B-2558-6845-94D5-6E822BDA0F48}"/>
              </a:ext>
            </a:extLst>
          </p:cNvPr>
          <p:cNvSpPr txBox="1"/>
          <p:nvPr/>
        </p:nvSpPr>
        <p:spPr>
          <a:xfrm>
            <a:off x="7403814" y="4375056"/>
            <a:ext cx="2994869" cy="375552"/>
          </a:xfrm>
          <a:prstGeom prst="rect">
            <a:avLst/>
          </a:prstGeom>
          <a:noFill/>
        </p:spPr>
        <p:txBody>
          <a:bodyPr wrap="square" rtlCol="0">
            <a:spAutoFit/>
          </a:bodyPr>
          <a:lstStyle/>
          <a:p>
            <a:pPr>
              <a:lnSpc>
                <a:spcPct val="150000"/>
              </a:lnSpc>
            </a:pPr>
            <a:r>
              <a:rPr lang="en-GB" altLang="zh-CN" sz="1400" dirty="0">
                <a:solidFill>
                  <a:schemeClr val="bg1"/>
                </a:solidFill>
                <a:latin typeface="Arial" panose="020B0604020202020204" pitchFamily="34" charset="0"/>
                <a:ea typeface="微软雅黑" panose="020B0503020204020204" pitchFamily="34" charset="-122"/>
                <a:cs typeface="+mn-ea"/>
                <a:sym typeface="+mn-lt"/>
              </a:rPr>
              <a:t>Pathological mechanism</a:t>
            </a:r>
          </a:p>
        </p:txBody>
      </p:sp>
      <p:sp>
        <p:nvSpPr>
          <p:cNvPr id="26" name="TextBox 24">
            <a:extLst>
              <a:ext uri="{FF2B5EF4-FFF2-40B4-BE49-F238E27FC236}">
                <a16:creationId xmlns:a16="http://schemas.microsoft.com/office/drawing/2014/main" id="{AA6B87EE-FCC6-F844-8952-7C82D4CD0241}"/>
              </a:ext>
            </a:extLst>
          </p:cNvPr>
          <p:cNvSpPr txBox="1"/>
          <p:nvPr/>
        </p:nvSpPr>
        <p:spPr>
          <a:xfrm>
            <a:off x="7366618" y="3973593"/>
            <a:ext cx="1415772" cy="461665"/>
          </a:xfrm>
          <a:prstGeom prst="rect">
            <a:avLst/>
          </a:prstGeom>
          <a:noFill/>
        </p:spPr>
        <p:txBody>
          <a:bodyPr wrap="none" rtlCol="0">
            <a:spAutoFit/>
          </a:bodyPr>
          <a:lstStyle/>
          <a:p>
            <a:r>
              <a:rPr lang="zh-CN" altLang="en-US" sz="2400" b="1" dirty="0">
                <a:solidFill>
                  <a:schemeClr val="bg1"/>
                </a:solidFill>
                <a:ea typeface="微软雅黑" panose="020B0503020204020204" pitchFamily="34" charset="-122"/>
              </a:rPr>
              <a:t>病理机制</a:t>
            </a:r>
          </a:p>
        </p:txBody>
      </p:sp>
      <p:sp>
        <p:nvSpPr>
          <p:cNvPr id="27" name="TextBox 23">
            <a:extLst>
              <a:ext uri="{FF2B5EF4-FFF2-40B4-BE49-F238E27FC236}">
                <a16:creationId xmlns:a16="http://schemas.microsoft.com/office/drawing/2014/main" id="{A3D5D865-A944-8A40-9D68-90C6491689EF}"/>
              </a:ext>
            </a:extLst>
          </p:cNvPr>
          <p:cNvSpPr txBox="1"/>
          <p:nvPr/>
        </p:nvSpPr>
        <p:spPr>
          <a:xfrm>
            <a:off x="7470701" y="5791019"/>
            <a:ext cx="2994869" cy="375552"/>
          </a:xfrm>
          <a:prstGeom prst="rect">
            <a:avLst/>
          </a:prstGeom>
          <a:noFill/>
        </p:spPr>
        <p:txBody>
          <a:bodyPr wrap="square" rtlCol="0">
            <a:spAutoFit/>
          </a:bodyPr>
          <a:lstStyle/>
          <a:p>
            <a:pPr>
              <a:lnSpc>
                <a:spcPct val="150000"/>
              </a:lnSpc>
            </a:pPr>
            <a:r>
              <a:rPr lang="en-GB" altLang="zh-CN" sz="1400" dirty="0">
                <a:solidFill>
                  <a:schemeClr val="bg1"/>
                </a:solidFill>
                <a:latin typeface="Arial" panose="020B0604020202020204" pitchFamily="34" charset="0"/>
                <a:ea typeface="微软雅黑" panose="020B0503020204020204" pitchFamily="34" charset="-122"/>
                <a:cs typeface="+mn-ea"/>
                <a:sym typeface="+mn-lt"/>
              </a:rPr>
              <a:t>Therapeutic approach</a:t>
            </a:r>
          </a:p>
        </p:txBody>
      </p:sp>
      <p:sp>
        <p:nvSpPr>
          <p:cNvPr id="28" name="TextBox 24">
            <a:extLst>
              <a:ext uri="{FF2B5EF4-FFF2-40B4-BE49-F238E27FC236}">
                <a16:creationId xmlns:a16="http://schemas.microsoft.com/office/drawing/2014/main" id="{7C76BE3C-4668-924B-B596-4A9A6F70E5CD}"/>
              </a:ext>
            </a:extLst>
          </p:cNvPr>
          <p:cNvSpPr txBox="1"/>
          <p:nvPr/>
        </p:nvSpPr>
        <p:spPr>
          <a:xfrm>
            <a:off x="7403814" y="5469684"/>
            <a:ext cx="1415772" cy="461665"/>
          </a:xfrm>
          <a:prstGeom prst="rect">
            <a:avLst/>
          </a:prstGeom>
          <a:noFill/>
        </p:spPr>
        <p:txBody>
          <a:bodyPr wrap="none" rtlCol="0">
            <a:spAutoFit/>
          </a:bodyPr>
          <a:lstStyle/>
          <a:p>
            <a:r>
              <a:rPr lang="zh-CN" altLang="en-US" sz="2400" b="1" dirty="0">
                <a:solidFill>
                  <a:schemeClr val="bg1"/>
                </a:solidFill>
                <a:ea typeface="微软雅黑" panose="020B0503020204020204" pitchFamily="34" charset="-122"/>
              </a:rPr>
              <a:t>治疗方法</a:t>
            </a:r>
          </a:p>
        </p:txBody>
      </p:sp>
      <p:sp>
        <p:nvSpPr>
          <p:cNvPr id="32" name="椭圆 31"/>
          <p:cNvSpPr/>
          <p:nvPr/>
        </p:nvSpPr>
        <p:spPr>
          <a:xfrm>
            <a:off x="5967794" y="2556653"/>
            <a:ext cx="830312" cy="830312"/>
          </a:xfrm>
          <a:prstGeom prst="ellipse">
            <a:avLst/>
          </a:prstGeom>
          <a:gradFill>
            <a:gsLst>
              <a:gs pos="0">
                <a:srgbClr val="FFAD91">
                  <a:alpha val="38000"/>
                </a:srgbClr>
              </a:gs>
              <a:gs pos="70000">
                <a:srgbClr val="FB9814">
                  <a:alpha val="45000"/>
                </a:srgbClr>
              </a:gs>
              <a:gs pos="30000">
                <a:srgbClr val="777FBE"/>
              </a:gs>
              <a:gs pos="96000">
                <a:srgbClr val="FFAD91"/>
              </a:gs>
              <a:gs pos="79978">
                <a:srgbClr val="FFAD91"/>
              </a:gs>
              <a:gs pos="100000">
                <a:srgbClr val="FFAD91">
                  <a:alpha val="54000"/>
                </a:srgb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prstClr val="white"/>
                </a:solidFill>
                <a:latin typeface="Arial" panose="020B0604020202020204" pitchFamily="34" charset="0"/>
                <a:cs typeface="Arial" panose="020B0604020202020204" pitchFamily="34" charset="0"/>
              </a:rPr>
              <a:t>02</a:t>
            </a:r>
            <a:endParaRPr lang="zh-CN" altLang="en-US" sz="2800" dirty="0">
              <a:solidFill>
                <a:prstClr val="white"/>
              </a:solidFill>
              <a:latin typeface="Arial" panose="020B0604020202020204" pitchFamily="34" charset="0"/>
              <a:cs typeface="Arial" panose="020B0604020202020204" pitchFamily="34" charset="0"/>
            </a:endParaRPr>
          </a:p>
        </p:txBody>
      </p:sp>
      <p:sp>
        <p:nvSpPr>
          <p:cNvPr id="33" name="椭圆 32"/>
          <p:cNvSpPr/>
          <p:nvPr/>
        </p:nvSpPr>
        <p:spPr>
          <a:xfrm>
            <a:off x="5963082" y="3920296"/>
            <a:ext cx="830312" cy="830312"/>
          </a:xfrm>
          <a:prstGeom prst="ellipse">
            <a:avLst/>
          </a:prstGeom>
          <a:gradFill>
            <a:gsLst>
              <a:gs pos="0">
                <a:srgbClr val="FFAD91">
                  <a:alpha val="38000"/>
                </a:srgbClr>
              </a:gs>
              <a:gs pos="70000">
                <a:srgbClr val="FB9814">
                  <a:alpha val="45000"/>
                </a:srgbClr>
              </a:gs>
              <a:gs pos="30000">
                <a:srgbClr val="777FBE"/>
              </a:gs>
              <a:gs pos="96000">
                <a:srgbClr val="FFAD91"/>
              </a:gs>
              <a:gs pos="79978">
                <a:srgbClr val="FFAD91"/>
              </a:gs>
              <a:gs pos="100000">
                <a:srgbClr val="FFAD91">
                  <a:alpha val="54000"/>
                </a:srgb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prstClr val="white"/>
                </a:solidFill>
                <a:latin typeface="Arial" panose="020B0604020202020204" pitchFamily="34" charset="0"/>
                <a:cs typeface="Arial" panose="020B0604020202020204" pitchFamily="34" charset="0"/>
              </a:rPr>
              <a:t>03</a:t>
            </a:r>
            <a:endParaRPr lang="zh-CN" altLang="en-US" sz="2800" dirty="0">
              <a:solidFill>
                <a:prstClr val="white"/>
              </a:solidFill>
              <a:latin typeface="Arial" panose="020B0604020202020204" pitchFamily="34" charset="0"/>
              <a:cs typeface="Arial" panose="020B0604020202020204" pitchFamily="34" charset="0"/>
            </a:endParaRPr>
          </a:p>
        </p:txBody>
      </p:sp>
      <p:sp>
        <p:nvSpPr>
          <p:cNvPr id="34" name="椭圆 33"/>
          <p:cNvSpPr/>
          <p:nvPr/>
        </p:nvSpPr>
        <p:spPr>
          <a:xfrm>
            <a:off x="5925319" y="5283939"/>
            <a:ext cx="830312" cy="830312"/>
          </a:xfrm>
          <a:prstGeom prst="ellipse">
            <a:avLst/>
          </a:prstGeom>
          <a:gradFill>
            <a:gsLst>
              <a:gs pos="0">
                <a:srgbClr val="FFAD91">
                  <a:alpha val="38000"/>
                </a:srgbClr>
              </a:gs>
              <a:gs pos="70000">
                <a:srgbClr val="FB9814">
                  <a:alpha val="45000"/>
                </a:srgbClr>
              </a:gs>
              <a:gs pos="30000">
                <a:srgbClr val="777FBE"/>
              </a:gs>
              <a:gs pos="96000">
                <a:srgbClr val="FFAD91"/>
              </a:gs>
              <a:gs pos="79978">
                <a:srgbClr val="FFAD91"/>
              </a:gs>
              <a:gs pos="100000">
                <a:srgbClr val="FFAD91">
                  <a:alpha val="54000"/>
                </a:srgbClr>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prstClr val="white"/>
                </a:solidFill>
                <a:latin typeface="Arial" panose="020B0604020202020204" pitchFamily="34" charset="0"/>
                <a:cs typeface="Arial" panose="020B0604020202020204" pitchFamily="34" charset="0"/>
              </a:rPr>
              <a:t>04</a:t>
            </a:r>
            <a:endParaRPr lang="zh-CN" altLang="en-US" sz="2800" dirty="0">
              <a:solidFill>
                <a:prstClr val="white"/>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2756081"/>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additive="base">
                                        <p:cTn id="11" dur="500" fill="hold"/>
                                        <p:tgtEl>
                                          <p:spTgt spid="40"/>
                                        </p:tgtEl>
                                        <p:attrNameLst>
                                          <p:attrName>ppt_x</p:attrName>
                                        </p:attrNameLst>
                                      </p:cBhvr>
                                      <p:tavLst>
                                        <p:tav tm="0">
                                          <p:val>
                                            <p:strVal val="#ppt_x"/>
                                          </p:val>
                                        </p:tav>
                                        <p:tav tm="100000">
                                          <p:val>
                                            <p:strVal val="#ppt_x"/>
                                          </p:val>
                                        </p:tav>
                                      </p:tavLst>
                                    </p:anim>
                                    <p:anim calcmode="lin" valueType="num">
                                      <p:cBhvr additive="base">
                                        <p:cTn id="12" dur="500" fill="hold"/>
                                        <p:tgtEl>
                                          <p:spTgt spid="4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ppt_x"/>
                                          </p:val>
                                        </p:tav>
                                        <p:tav tm="100000">
                                          <p:val>
                                            <p:strVal val="#ppt_x"/>
                                          </p:val>
                                        </p:tav>
                                      </p:tavLst>
                                    </p:anim>
                                    <p:anim calcmode="lin" valueType="num">
                                      <p:cBhvr additive="base">
                                        <p:cTn id="16" dur="500" fill="hold"/>
                                        <p:tgtEl>
                                          <p:spTgt spid="41"/>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2" presetClass="entr" presetSubtype="4" fill="hold" grpId="0" nodeType="afterEffect">
                                  <p:stCondLst>
                                    <p:cond delay="0"/>
                                  </p:stCondLst>
                                  <p:childTnLst>
                                    <p:set>
                                      <p:cBhvr>
                                        <p:cTn id="19" dur="1" fill="hold">
                                          <p:stCondLst>
                                            <p:cond delay="0"/>
                                          </p:stCondLst>
                                        </p:cTn>
                                        <p:tgtEl>
                                          <p:spTgt spid="32"/>
                                        </p:tgtEl>
                                        <p:attrNameLst>
                                          <p:attrName>style.visibility</p:attrName>
                                        </p:attrNameLst>
                                      </p:cBhvr>
                                      <p:to>
                                        <p:strVal val="visible"/>
                                      </p:to>
                                    </p:set>
                                    <p:anim calcmode="lin" valueType="num">
                                      <p:cBhvr additive="base">
                                        <p:cTn id="20" dur="500" fill="hold"/>
                                        <p:tgtEl>
                                          <p:spTgt spid="32"/>
                                        </p:tgtEl>
                                        <p:attrNameLst>
                                          <p:attrName>ppt_x</p:attrName>
                                        </p:attrNameLst>
                                      </p:cBhvr>
                                      <p:tavLst>
                                        <p:tav tm="0">
                                          <p:val>
                                            <p:strVal val="#ppt_x"/>
                                          </p:val>
                                        </p:tav>
                                        <p:tav tm="100000">
                                          <p:val>
                                            <p:strVal val="#ppt_x"/>
                                          </p:val>
                                        </p:tav>
                                      </p:tavLst>
                                    </p:anim>
                                    <p:anim calcmode="lin" valueType="num">
                                      <p:cBhvr additive="base">
                                        <p:cTn id="21" dur="500" fill="hold"/>
                                        <p:tgtEl>
                                          <p:spTgt spid="32"/>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 calcmode="lin" valueType="num">
                                      <p:cBhvr additive="base">
                                        <p:cTn id="24" dur="500" fill="hold"/>
                                        <p:tgtEl>
                                          <p:spTgt spid="22"/>
                                        </p:tgtEl>
                                        <p:attrNameLst>
                                          <p:attrName>ppt_x</p:attrName>
                                        </p:attrNameLst>
                                      </p:cBhvr>
                                      <p:tavLst>
                                        <p:tav tm="0">
                                          <p:val>
                                            <p:strVal val="#ppt_x"/>
                                          </p:val>
                                        </p:tav>
                                        <p:tav tm="100000">
                                          <p:val>
                                            <p:strVal val="#ppt_x"/>
                                          </p:val>
                                        </p:tav>
                                      </p:tavLst>
                                    </p:anim>
                                    <p:anim calcmode="lin" valueType="num">
                                      <p:cBhvr additive="base">
                                        <p:cTn id="25" dur="500" fill="hold"/>
                                        <p:tgtEl>
                                          <p:spTgt spid="22"/>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 calcmode="lin" valueType="num">
                                      <p:cBhvr additive="base">
                                        <p:cTn id="28" dur="500" fill="hold"/>
                                        <p:tgtEl>
                                          <p:spTgt spid="23"/>
                                        </p:tgtEl>
                                        <p:attrNameLst>
                                          <p:attrName>ppt_x</p:attrName>
                                        </p:attrNameLst>
                                      </p:cBhvr>
                                      <p:tavLst>
                                        <p:tav tm="0">
                                          <p:val>
                                            <p:strVal val="#ppt_x"/>
                                          </p:val>
                                        </p:tav>
                                        <p:tav tm="100000">
                                          <p:val>
                                            <p:strVal val="#ppt_x"/>
                                          </p:val>
                                        </p:tav>
                                      </p:tavLst>
                                    </p:anim>
                                    <p:anim calcmode="lin" valueType="num">
                                      <p:cBhvr additive="base">
                                        <p:cTn id="29" dur="500" fill="hold"/>
                                        <p:tgtEl>
                                          <p:spTgt spid="23"/>
                                        </p:tgtEl>
                                        <p:attrNameLst>
                                          <p:attrName>ppt_y</p:attrName>
                                        </p:attrNameLst>
                                      </p:cBhvr>
                                      <p:tavLst>
                                        <p:tav tm="0">
                                          <p:val>
                                            <p:strVal val="1+#ppt_h/2"/>
                                          </p:val>
                                        </p:tav>
                                        <p:tav tm="100000">
                                          <p:val>
                                            <p:strVal val="#ppt_y"/>
                                          </p:val>
                                        </p:tav>
                                      </p:tavLst>
                                    </p:anim>
                                  </p:childTnLst>
                                </p:cTn>
                              </p:par>
                            </p:childTnLst>
                          </p:cTn>
                        </p:par>
                        <p:par>
                          <p:cTn id="30" fill="hold">
                            <p:stCondLst>
                              <p:cond delay="1000"/>
                            </p:stCondLst>
                            <p:childTnLst>
                              <p:par>
                                <p:cTn id="31" presetID="2" presetClass="entr" presetSubtype="4" fill="hold" grpId="0" nodeType="afterEffect">
                                  <p:stCondLst>
                                    <p:cond delay="0"/>
                                  </p:stCondLst>
                                  <p:childTnLst>
                                    <p:set>
                                      <p:cBhvr>
                                        <p:cTn id="32" dur="1" fill="hold">
                                          <p:stCondLst>
                                            <p:cond delay="0"/>
                                          </p:stCondLst>
                                        </p:cTn>
                                        <p:tgtEl>
                                          <p:spTgt spid="33"/>
                                        </p:tgtEl>
                                        <p:attrNameLst>
                                          <p:attrName>style.visibility</p:attrName>
                                        </p:attrNameLst>
                                      </p:cBhvr>
                                      <p:to>
                                        <p:strVal val="visible"/>
                                      </p:to>
                                    </p:set>
                                    <p:anim calcmode="lin" valueType="num">
                                      <p:cBhvr additive="base">
                                        <p:cTn id="33" dur="500" fill="hold"/>
                                        <p:tgtEl>
                                          <p:spTgt spid="33"/>
                                        </p:tgtEl>
                                        <p:attrNameLst>
                                          <p:attrName>ppt_x</p:attrName>
                                        </p:attrNameLst>
                                      </p:cBhvr>
                                      <p:tavLst>
                                        <p:tav tm="0">
                                          <p:val>
                                            <p:strVal val="#ppt_x"/>
                                          </p:val>
                                        </p:tav>
                                        <p:tav tm="100000">
                                          <p:val>
                                            <p:strVal val="#ppt_x"/>
                                          </p:val>
                                        </p:tav>
                                      </p:tavLst>
                                    </p:anim>
                                    <p:anim calcmode="lin" valueType="num">
                                      <p:cBhvr additive="base">
                                        <p:cTn id="34" dur="500" fill="hold"/>
                                        <p:tgtEl>
                                          <p:spTgt spid="33"/>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additive="base">
                                        <p:cTn id="37" dur="500" fill="hold"/>
                                        <p:tgtEl>
                                          <p:spTgt spid="25"/>
                                        </p:tgtEl>
                                        <p:attrNameLst>
                                          <p:attrName>ppt_x</p:attrName>
                                        </p:attrNameLst>
                                      </p:cBhvr>
                                      <p:tavLst>
                                        <p:tav tm="0">
                                          <p:val>
                                            <p:strVal val="#ppt_x"/>
                                          </p:val>
                                        </p:tav>
                                        <p:tav tm="100000">
                                          <p:val>
                                            <p:strVal val="#ppt_x"/>
                                          </p:val>
                                        </p:tav>
                                      </p:tavLst>
                                    </p:anim>
                                    <p:anim calcmode="lin" valueType="num">
                                      <p:cBhvr additive="base">
                                        <p:cTn id="38" dur="500" fill="hold"/>
                                        <p:tgtEl>
                                          <p:spTgt spid="25"/>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anim calcmode="lin" valueType="num">
                                      <p:cBhvr additive="base">
                                        <p:cTn id="41" dur="500" fill="hold"/>
                                        <p:tgtEl>
                                          <p:spTgt spid="26"/>
                                        </p:tgtEl>
                                        <p:attrNameLst>
                                          <p:attrName>ppt_x</p:attrName>
                                        </p:attrNameLst>
                                      </p:cBhvr>
                                      <p:tavLst>
                                        <p:tav tm="0">
                                          <p:val>
                                            <p:strVal val="#ppt_x"/>
                                          </p:val>
                                        </p:tav>
                                        <p:tav tm="100000">
                                          <p:val>
                                            <p:strVal val="#ppt_x"/>
                                          </p:val>
                                        </p:tav>
                                      </p:tavLst>
                                    </p:anim>
                                    <p:anim calcmode="lin" valueType="num">
                                      <p:cBhvr additive="base">
                                        <p:cTn id="42" dur="500" fill="hold"/>
                                        <p:tgtEl>
                                          <p:spTgt spid="26"/>
                                        </p:tgtEl>
                                        <p:attrNameLst>
                                          <p:attrName>ppt_y</p:attrName>
                                        </p:attrNameLst>
                                      </p:cBhvr>
                                      <p:tavLst>
                                        <p:tav tm="0">
                                          <p:val>
                                            <p:strVal val="1+#ppt_h/2"/>
                                          </p:val>
                                        </p:tav>
                                        <p:tav tm="100000">
                                          <p:val>
                                            <p:strVal val="#ppt_y"/>
                                          </p:val>
                                        </p:tav>
                                      </p:tavLst>
                                    </p:anim>
                                  </p:childTnLst>
                                </p:cTn>
                              </p:par>
                            </p:childTnLst>
                          </p:cTn>
                        </p:par>
                        <p:par>
                          <p:cTn id="43" fill="hold">
                            <p:stCondLst>
                              <p:cond delay="1500"/>
                            </p:stCondLst>
                            <p:childTnLst>
                              <p:par>
                                <p:cTn id="44" presetID="2" presetClass="entr" presetSubtype="4" fill="hold" grpId="0" nodeType="afterEffect">
                                  <p:stCondLst>
                                    <p:cond delay="0"/>
                                  </p:stCondLst>
                                  <p:childTnLst>
                                    <p:set>
                                      <p:cBhvr>
                                        <p:cTn id="45" dur="1" fill="hold">
                                          <p:stCondLst>
                                            <p:cond delay="0"/>
                                          </p:stCondLst>
                                        </p:cTn>
                                        <p:tgtEl>
                                          <p:spTgt spid="34"/>
                                        </p:tgtEl>
                                        <p:attrNameLst>
                                          <p:attrName>style.visibility</p:attrName>
                                        </p:attrNameLst>
                                      </p:cBhvr>
                                      <p:to>
                                        <p:strVal val="visible"/>
                                      </p:to>
                                    </p:set>
                                    <p:anim calcmode="lin" valueType="num">
                                      <p:cBhvr additive="base">
                                        <p:cTn id="46" dur="500" fill="hold"/>
                                        <p:tgtEl>
                                          <p:spTgt spid="34"/>
                                        </p:tgtEl>
                                        <p:attrNameLst>
                                          <p:attrName>ppt_x</p:attrName>
                                        </p:attrNameLst>
                                      </p:cBhvr>
                                      <p:tavLst>
                                        <p:tav tm="0">
                                          <p:val>
                                            <p:strVal val="#ppt_x"/>
                                          </p:val>
                                        </p:tav>
                                        <p:tav tm="100000">
                                          <p:val>
                                            <p:strVal val="#ppt_x"/>
                                          </p:val>
                                        </p:tav>
                                      </p:tavLst>
                                    </p:anim>
                                    <p:anim calcmode="lin" valueType="num">
                                      <p:cBhvr additive="base">
                                        <p:cTn id="47" dur="500" fill="hold"/>
                                        <p:tgtEl>
                                          <p:spTgt spid="34"/>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27"/>
                                        </p:tgtEl>
                                        <p:attrNameLst>
                                          <p:attrName>style.visibility</p:attrName>
                                        </p:attrNameLst>
                                      </p:cBhvr>
                                      <p:to>
                                        <p:strVal val="visible"/>
                                      </p:to>
                                    </p:set>
                                    <p:anim calcmode="lin" valueType="num">
                                      <p:cBhvr additive="base">
                                        <p:cTn id="50" dur="500" fill="hold"/>
                                        <p:tgtEl>
                                          <p:spTgt spid="27"/>
                                        </p:tgtEl>
                                        <p:attrNameLst>
                                          <p:attrName>ppt_x</p:attrName>
                                        </p:attrNameLst>
                                      </p:cBhvr>
                                      <p:tavLst>
                                        <p:tav tm="0">
                                          <p:val>
                                            <p:strVal val="#ppt_x"/>
                                          </p:val>
                                        </p:tav>
                                        <p:tav tm="100000">
                                          <p:val>
                                            <p:strVal val="#ppt_x"/>
                                          </p:val>
                                        </p:tav>
                                      </p:tavLst>
                                    </p:anim>
                                    <p:anim calcmode="lin" valueType="num">
                                      <p:cBhvr additive="base">
                                        <p:cTn id="51" dur="500" fill="hold"/>
                                        <p:tgtEl>
                                          <p:spTgt spid="27"/>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additive="base">
                                        <p:cTn id="54" dur="500" fill="hold"/>
                                        <p:tgtEl>
                                          <p:spTgt spid="28"/>
                                        </p:tgtEl>
                                        <p:attrNameLst>
                                          <p:attrName>ppt_x</p:attrName>
                                        </p:attrNameLst>
                                      </p:cBhvr>
                                      <p:tavLst>
                                        <p:tav tm="0">
                                          <p:val>
                                            <p:strVal val="#ppt_x"/>
                                          </p:val>
                                        </p:tav>
                                        <p:tav tm="100000">
                                          <p:val>
                                            <p:strVal val="#ppt_x"/>
                                          </p:val>
                                        </p:tav>
                                      </p:tavLst>
                                    </p:anim>
                                    <p:anim calcmode="lin" valueType="num">
                                      <p:cBhvr additive="base">
                                        <p:cTn id="55"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p:bldP spid="41" grpId="0"/>
      <p:bldP spid="22" grpId="0"/>
      <p:bldP spid="23" grpId="0"/>
      <p:bldP spid="25" grpId="0"/>
      <p:bldP spid="26" grpId="0"/>
      <p:bldP spid="27" grpId="0"/>
      <p:bldP spid="28" grpId="0"/>
      <p:bldP spid="32" grpId="0" animBg="1"/>
      <p:bldP spid="33" grpId="0" animBg="1"/>
      <p:bldP spid="3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90E771D-526E-2E41-B27B-01DD5D2F0BF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0"/>
            <a:ext cx="12858750" cy="7232649"/>
          </a:xfrm>
          <a:prstGeom prst="rect">
            <a:avLst/>
          </a:prstGeom>
          <a:noFill/>
        </p:spPr>
      </p:pic>
      <p:sp>
        <p:nvSpPr>
          <p:cNvPr id="8" name="Freeform 11">
            <a:extLst>
              <a:ext uri="{FF2B5EF4-FFF2-40B4-BE49-F238E27FC236}">
                <a16:creationId xmlns:a16="http://schemas.microsoft.com/office/drawing/2014/main" id="{CB56C3FD-4792-494B-BCF8-A19443586309}"/>
              </a:ext>
            </a:extLst>
          </p:cNvPr>
          <p:cNvSpPr>
            <a:spLocks/>
          </p:cNvSpPr>
          <p:nvPr/>
        </p:nvSpPr>
        <p:spPr bwMode="auto">
          <a:xfrm>
            <a:off x="6621209" y="184"/>
            <a:ext cx="5881809" cy="7232466"/>
          </a:xfrm>
          <a:custGeom>
            <a:avLst/>
            <a:gdLst>
              <a:gd name="T0" fmla="*/ 1998 w 4661"/>
              <a:gd name="T1" fmla="*/ 0 h 5613"/>
              <a:gd name="T2" fmla="*/ 4661 w 4661"/>
              <a:gd name="T3" fmla="*/ 0 h 5613"/>
              <a:gd name="T4" fmla="*/ 2660 w 4661"/>
              <a:gd name="T5" fmla="*/ 5613 h 5613"/>
              <a:gd name="T6" fmla="*/ 0 w 4661"/>
              <a:gd name="T7" fmla="*/ 5613 h 5613"/>
              <a:gd name="T8" fmla="*/ 1998 w 4661"/>
              <a:gd name="T9" fmla="*/ 0 h 5613"/>
            </a:gdLst>
            <a:ahLst/>
            <a:cxnLst>
              <a:cxn ang="0">
                <a:pos x="T0" y="T1"/>
              </a:cxn>
              <a:cxn ang="0">
                <a:pos x="T2" y="T3"/>
              </a:cxn>
              <a:cxn ang="0">
                <a:pos x="T4" y="T5"/>
              </a:cxn>
              <a:cxn ang="0">
                <a:pos x="T6" y="T7"/>
              </a:cxn>
              <a:cxn ang="0">
                <a:pos x="T8" y="T9"/>
              </a:cxn>
            </a:cxnLst>
            <a:rect l="0" t="0" r="r" b="b"/>
            <a:pathLst>
              <a:path w="4661" h="5613">
                <a:moveTo>
                  <a:pt x="1998" y="0"/>
                </a:moveTo>
                <a:lnTo>
                  <a:pt x="4661" y="0"/>
                </a:lnTo>
                <a:lnTo>
                  <a:pt x="2660" y="5613"/>
                </a:lnTo>
                <a:lnTo>
                  <a:pt x="0" y="5613"/>
                </a:lnTo>
                <a:lnTo>
                  <a:pt x="1998" y="0"/>
                </a:lnTo>
                <a:close/>
              </a:path>
            </a:pathLst>
          </a:custGeom>
          <a:solidFill>
            <a:srgbClr val="777FBE">
              <a:alpha val="63000"/>
            </a:srgbClr>
          </a:solidFill>
          <a:ln>
            <a:noFill/>
          </a:ln>
          <a:effectLst/>
        </p:spPr>
        <p:txBody>
          <a:bodyPr vert="horz" wrap="square" lIns="45311" tIns="22656" rIns="45311" bIns="22656" numCol="1" anchor="t" anchorCtr="0" compatLnSpc="1">
            <a:prstTxWarp prst="textNoShape">
              <a:avLst/>
            </a:prstTxWarp>
          </a:bodyPr>
          <a:lstStyle/>
          <a:p>
            <a:endParaRPr lang="zh-CN" altLang="en-US">
              <a:ea typeface="微软雅黑" panose="020B0503020204020204" pitchFamily="34" charset="-122"/>
            </a:endParaRPr>
          </a:p>
        </p:txBody>
      </p:sp>
      <p:sp>
        <p:nvSpPr>
          <p:cNvPr id="45" name="TextBox 44"/>
          <p:cNvSpPr txBox="1"/>
          <p:nvPr/>
        </p:nvSpPr>
        <p:spPr>
          <a:xfrm>
            <a:off x="8417206" y="2269309"/>
            <a:ext cx="3010423" cy="518320"/>
          </a:xfrm>
          <a:prstGeom prst="rect">
            <a:avLst/>
          </a:prstGeom>
          <a:noFill/>
        </p:spPr>
        <p:txBody>
          <a:bodyPr wrap="square" lIns="45311" tIns="22656" rIns="45311" bIns="22656" rtlCol="0">
            <a:spAutoFit/>
          </a:bodyPr>
          <a:lstStyle/>
          <a:p>
            <a:pPr algn="ctr">
              <a:lnSpc>
                <a:spcPct val="120000"/>
              </a:lnSpc>
            </a:pPr>
            <a:r>
              <a:rPr lang="zh-CN" altLang="en-US" sz="2800" b="1" dirty="0">
                <a:solidFill>
                  <a:schemeClr val="bg1"/>
                </a:solidFill>
                <a:latin typeface="Arial" panose="020B0604020202020204" pitchFamily="34" charset="0"/>
                <a:ea typeface="微软雅黑" panose="020B0503020204020204" pitchFamily="34" charset="-122"/>
                <a:sym typeface="Arial" panose="020B0604020202020204" pitchFamily="34" charset="0"/>
              </a:rPr>
              <a:t>背景</a:t>
            </a:r>
            <a:endParaRPr lang="en-US" altLang="zh-CN" sz="28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46" name="TextBox 45"/>
          <p:cNvSpPr txBox="1"/>
          <p:nvPr/>
        </p:nvSpPr>
        <p:spPr>
          <a:xfrm>
            <a:off x="8085559" y="2972538"/>
            <a:ext cx="3412769" cy="288578"/>
          </a:xfrm>
          <a:prstGeom prst="rect">
            <a:avLst/>
          </a:prstGeom>
          <a:noFill/>
        </p:spPr>
        <p:txBody>
          <a:bodyPr wrap="square" lIns="45311" tIns="22656" rIns="45311" bIns="22656" rtlCol="0">
            <a:spAutoFit/>
          </a:bodyPr>
          <a:lstStyle/>
          <a:p>
            <a:pPr algn="ctr">
              <a:lnSpc>
                <a:spcPct val="150000"/>
              </a:lnSpc>
            </a:pPr>
            <a:r>
              <a:rPr lang="en-US" altLang="zh-CN" sz="1200" dirty="0">
                <a:solidFill>
                  <a:schemeClr val="bg1"/>
                </a:solidFill>
                <a:latin typeface="Arial" panose="020B0604020202020204" pitchFamily="34" charset="0"/>
                <a:ea typeface="微软雅黑" panose="020B0503020204020204" pitchFamily="34" charset="-122"/>
                <a:cs typeface="+mn-ea"/>
                <a:sym typeface="+mn-lt"/>
              </a:rPr>
              <a:t>background</a:t>
            </a:r>
            <a:endParaRPr lang="en-GB" altLang="zh-CN" sz="1200" dirty="0">
              <a:solidFill>
                <a:schemeClr val="bg1"/>
              </a:solidFill>
              <a:latin typeface="Arial" panose="020B0604020202020204" pitchFamily="34" charset="0"/>
              <a:ea typeface="微软雅黑" panose="020B0503020204020204" pitchFamily="34" charset="-122"/>
              <a:cs typeface="+mn-ea"/>
              <a:sym typeface="+mn-lt"/>
            </a:endParaRPr>
          </a:p>
        </p:txBody>
      </p:sp>
      <p:sp>
        <p:nvSpPr>
          <p:cNvPr id="70" name="TextBox 69"/>
          <p:cNvSpPr txBox="1"/>
          <p:nvPr/>
        </p:nvSpPr>
        <p:spPr>
          <a:xfrm>
            <a:off x="8708552" y="3237031"/>
            <a:ext cx="1330885" cy="2230840"/>
          </a:xfrm>
          <a:prstGeom prst="rect">
            <a:avLst/>
          </a:prstGeom>
          <a:noFill/>
        </p:spPr>
        <p:txBody>
          <a:bodyPr wrap="none" lIns="45311" tIns="22656" rIns="45311" bIns="22656" rtlCol="0">
            <a:spAutoFit/>
          </a:bodyPr>
          <a:lstStyle/>
          <a:p>
            <a:r>
              <a:rPr lang="en-US" altLang="zh-CN" sz="14199" b="1" spc="-149" dirty="0">
                <a:solidFill>
                  <a:schemeClr val="bg1"/>
                </a:solidFill>
                <a:latin typeface="Agency FB" panose="020B0503020202020204" pitchFamily="34" charset="0"/>
                <a:ea typeface="微软雅黑" panose="020B0503020204020204" pitchFamily="34" charset="-122"/>
                <a:cs typeface="Raavi" pitchFamily="34" charset="0"/>
              </a:rPr>
              <a:t>01</a:t>
            </a:r>
            <a:endParaRPr lang="zh-CN" altLang="en-US" sz="14199" b="1" spc="-149" dirty="0">
              <a:solidFill>
                <a:schemeClr val="bg1"/>
              </a:solidFill>
              <a:latin typeface="Agency FB" panose="020B0503020202020204" pitchFamily="34" charset="0"/>
              <a:ea typeface="微软雅黑" panose="020B0503020204020204" pitchFamily="34" charset="-122"/>
              <a:cs typeface="Raavi" pitchFamily="34" charset="0"/>
            </a:endParaRPr>
          </a:p>
        </p:txBody>
      </p:sp>
      <p:pic>
        <p:nvPicPr>
          <p:cNvPr id="9" name="图片 8">
            <a:extLst>
              <a:ext uri="{FF2B5EF4-FFF2-40B4-BE49-F238E27FC236}">
                <a16:creationId xmlns:a16="http://schemas.microsoft.com/office/drawing/2014/main" id="{BBB00D1D-C949-46A0-AD76-7588080D3507}"/>
              </a:ext>
            </a:extLst>
          </p:cNvPr>
          <p:cNvPicPr>
            <a:picLocks noChangeAspect="1"/>
          </p:cNvPicPr>
          <p:nvPr/>
        </p:nvPicPr>
        <p:blipFill>
          <a:blip r:embed="rId4"/>
          <a:stretch>
            <a:fillRect/>
          </a:stretch>
        </p:blipFill>
        <p:spPr>
          <a:xfrm>
            <a:off x="11829975" y="6352629"/>
            <a:ext cx="702109" cy="702109"/>
          </a:xfrm>
          <a:prstGeom prst="rect">
            <a:avLst/>
          </a:prstGeom>
        </p:spPr>
      </p:pic>
    </p:spTree>
    <p:extLst>
      <p:ext uri="{BB962C8B-B14F-4D97-AF65-F5344CB8AC3E}">
        <p14:creationId xmlns:p14="http://schemas.microsoft.com/office/powerpoint/2010/main" val="1514292438"/>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ntent Placeholder 2">
            <a:extLst>
              <a:ext uri="{FF2B5EF4-FFF2-40B4-BE49-F238E27FC236}">
                <a16:creationId xmlns:a16="http://schemas.microsoft.com/office/drawing/2014/main" id="{189AD39D-AA7D-034A-8C37-E30763CD31D0}"/>
              </a:ext>
            </a:extLst>
          </p:cNvPr>
          <p:cNvSpPr txBox="1">
            <a:spLocks/>
          </p:cNvSpPr>
          <p:nvPr/>
        </p:nvSpPr>
        <p:spPr>
          <a:xfrm>
            <a:off x="1326209" y="344001"/>
            <a:ext cx="4698480" cy="604851"/>
          </a:xfrm>
          <a:prstGeom prst="rect">
            <a:avLst/>
          </a:prstGeom>
          <a:noFill/>
          <a:effectLst>
            <a:glow>
              <a:schemeClr val="accent1">
                <a:alpha val="40000"/>
              </a:schemeClr>
            </a:glow>
            <a:outerShdw blurRad="50800" dir="5400000" sx="1000" sy="1000" algn="ctr" rotWithShape="0">
              <a:srgbClr val="000000"/>
            </a:outerShdw>
            <a:reflection stA="95000" endPos="65000" dist="50800" dir="5400000" sy="-100000" algn="bl" rotWithShape="0"/>
          </a:effectLst>
        </p:spPr>
        <p:txBody>
          <a:bodyPr vert="horz" lIns="96435" tIns="48218" rIns="96435" bIns="48218"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3200" b="1" dirty="0">
                <a:solidFill>
                  <a:srgbClr val="777FBE"/>
                </a:solidFill>
                <a:latin typeface="Yuanti SC" panose="02010600040101010101" pitchFamily="2" charset="-122"/>
                <a:ea typeface="Yuanti SC" panose="02010600040101010101" pitchFamily="2" charset="-122"/>
                <a:cs typeface="+mn-ea"/>
                <a:sym typeface="+mn-lt"/>
              </a:rPr>
              <a:t>背景</a:t>
            </a:r>
            <a:endParaRPr lang="en-US" sz="3200" b="1" dirty="0">
              <a:solidFill>
                <a:srgbClr val="777FBE"/>
              </a:solidFill>
              <a:latin typeface="Yuanti SC" panose="02010600040101010101" pitchFamily="2" charset="-122"/>
              <a:ea typeface="Yuanti SC" panose="02010600040101010101" pitchFamily="2" charset="-122"/>
              <a:cs typeface="+mn-ea"/>
              <a:sym typeface="+mn-lt"/>
            </a:endParaRPr>
          </a:p>
        </p:txBody>
      </p:sp>
      <p:sp>
        <p:nvSpPr>
          <p:cNvPr id="26" name="矩形 25">
            <a:extLst>
              <a:ext uri="{FF2B5EF4-FFF2-40B4-BE49-F238E27FC236}">
                <a16:creationId xmlns:a16="http://schemas.microsoft.com/office/drawing/2014/main" id="{38D37B7D-BC62-B640-B528-483CBD8F274A}"/>
              </a:ext>
            </a:extLst>
          </p:cNvPr>
          <p:cNvSpPr/>
          <p:nvPr/>
        </p:nvSpPr>
        <p:spPr>
          <a:xfrm>
            <a:off x="6086" y="523320"/>
            <a:ext cx="1320123" cy="226606"/>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31" name="矩形 30">
            <a:extLst>
              <a:ext uri="{FF2B5EF4-FFF2-40B4-BE49-F238E27FC236}">
                <a16:creationId xmlns:a16="http://schemas.microsoft.com/office/drawing/2014/main" id="{B496626D-8EE0-984C-828E-E001C144D904}"/>
              </a:ext>
            </a:extLst>
          </p:cNvPr>
          <p:cNvSpPr/>
          <p:nvPr/>
        </p:nvSpPr>
        <p:spPr>
          <a:xfrm>
            <a:off x="2324919" y="520828"/>
            <a:ext cx="10518260" cy="229097"/>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2" name="文本框 1">
            <a:extLst>
              <a:ext uri="{FF2B5EF4-FFF2-40B4-BE49-F238E27FC236}">
                <a16:creationId xmlns:a16="http://schemas.microsoft.com/office/drawing/2014/main" id="{C426A769-9ED2-43DD-8719-96AD68FCC31D}"/>
              </a:ext>
            </a:extLst>
          </p:cNvPr>
          <p:cNvSpPr txBox="1"/>
          <p:nvPr/>
        </p:nvSpPr>
        <p:spPr>
          <a:xfrm>
            <a:off x="884759" y="2143066"/>
            <a:ext cx="5165301" cy="4185761"/>
          </a:xfrm>
          <a:prstGeom prst="rect">
            <a:avLst/>
          </a:prstGeom>
          <a:noFill/>
        </p:spPr>
        <p:txBody>
          <a:bodyPr wrap="square" rtlCol="0">
            <a:spAutoFit/>
          </a:bodyPr>
          <a:lstStyle/>
          <a:p>
            <a:pPr marL="342900" indent="-342900">
              <a:spcAft>
                <a:spcPts val="1200"/>
              </a:spcAft>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一种常见的情绪障碍，是精神疾病的一种类型。以显著而持久的心境低落为主要特征，不仅影响情绪，还会影响思维方式和</a:t>
            </a:r>
            <a:r>
              <a:rPr lang="zh-CN" altLang="en-US" sz="2400">
                <a:latin typeface="仿宋" panose="02010609060101010101" pitchFamily="49" charset="-122"/>
                <a:ea typeface="仿宋" panose="02010609060101010101" pitchFamily="49" charset="-122"/>
              </a:rPr>
              <a:t>身体健康。</a:t>
            </a:r>
            <a:endParaRPr lang="en-US" altLang="zh-CN" sz="2400" dirty="0">
              <a:latin typeface="仿宋" panose="02010609060101010101" pitchFamily="49" charset="-122"/>
              <a:ea typeface="仿宋" panose="02010609060101010101" pitchFamily="49" charset="-122"/>
            </a:endParaRPr>
          </a:p>
          <a:p>
            <a:pPr marL="342900" indent="-342900">
              <a:spcAft>
                <a:spcPts val="1200"/>
              </a:spcAft>
              <a:buFont typeface="Arial" panose="020B0604020202020204" pitchFamily="34" charset="0"/>
              <a:buChar char="•"/>
            </a:pPr>
            <a:r>
              <a:rPr lang="zh-CN" altLang="en-US" sz="2400">
                <a:latin typeface="仿宋" panose="02010609060101010101" pitchFamily="49" charset="-122"/>
                <a:ea typeface="仿宋" panose="02010609060101010101" pitchFamily="49" charset="-122"/>
              </a:rPr>
              <a:t>部分患者有存在自伤、自杀行为，也可伴有妄想、幻觉等精神病性症状。</a:t>
            </a:r>
            <a:endParaRPr lang="en-US" altLang="zh-CN" sz="2400">
              <a:latin typeface="仿宋" panose="02010609060101010101" pitchFamily="49" charset="-122"/>
              <a:ea typeface="仿宋" panose="02010609060101010101" pitchFamily="49" charset="-122"/>
            </a:endParaRPr>
          </a:p>
          <a:p>
            <a:pPr marL="342900" indent="-342900">
              <a:spcAft>
                <a:spcPts val="1200"/>
              </a:spcAft>
              <a:buFont typeface="Arial" panose="020B0604020202020204" pitchFamily="34" charset="0"/>
              <a:buChar char="•"/>
            </a:pPr>
            <a:r>
              <a:rPr lang="zh-CN" altLang="en-US" sz="2400">
                <a:latin typeface="仿宋" panose="02010609060101010101" pitchFamily="49" charset="-122"/>
                <a:ea typeface="仿宋" panose="02010609060101010101" pitchFamily="49" charset="-122"/>
              </a:rPr>
              <a:t>患病率</a:t>
            </a:r>
            <a:r>
              <a:rPr lang="zh-CN" altLang="en-US" sz="2400" dirty="0">
                <a:latin typeface="仿宋" panose="02010609060101010101" pitchFamily="49" charset="-122"/>
                <a:ea typeface="仿宋" panose="02010609060101010101" pitchFamily="49" charset="-122"/>
              </a:rPr>
              <a:t>高、临床</a:t>
            </a:r>
            <a:r>
              <a:rPr lang="zh-CN" altLang="en-US" sz="2400">
                <a:latin typeface="仿宋" panose="02010609060101010101" pitchFamily="49" charset="-122"/>
                <a:ea typeface="仿宋" panose="02010609060101010101" pitchFamily="49" charset="-122"/>
              </a:rPr>
              <a:t>治愈率高，接受</a:t>
            </a:r>
            <a:r>
              <a:rPr lang="zh-CN" altLang="en-US" sz="2400" dirty="0">
                <a:latin typeface="仿宋" panose="02010609060101010101" pitchFamily="49" charset="-122"/>
                <a:ea typeface="仿宋" panose="02010609060101010101" pitchFamily="49" charset="-122"/>
              </a:rPr>
              <a:t>治疗率低、</a:t>
            </a:r>
            <a:r>
              <a:rPr lang="zh-CN" altLang="en-US" sz="2400">
                <a:latin typeface="仿宋" panose="02010609060101010101" pitchFamily="49" charset="-122"/>
                <a:ea typeface="仿宋" panose="02010609060101010101" pitchFamily="49" charset="-122"/>
              </a:rPr>
              <a:t>复发率高。</a:t>
            </a:r>
            <a:endParaRPr lang="zh-CN" altLang="en-US" sz="2400" dirty="0">
              <a:latin typeface="仿宋" panose="02010609060101010101" pitchFamily="49" charset="-122"/>
              <a:ea typeface="仿宋" panose="02010609060101010101" pitchFamily="49" charset="-122"/>
            </a:endParaRPr>
          </a:p>
          <a:p>
            <a:pPr marL="342900" indent="-342900">
              <a:buFont typeface="Arial" panose="020B0604020202020204" pitchFamily="34" charset="0"/>
              <a:buChar char="•"/>
            </a:pPr>
            <a:endParaRPr lang="en-US" altLang="zh-CN" sz="2000" dirty="0">
              <a:latin typeface="仿宋" panose="02010609060101010101" pitchFamily="49" charset="-122"/>
              <a:ea typeface="仿宋" panose="02010609060101010101" pitchFamily="49" charset="-122"/>
            </a:endParaRPr>
          </a:p>
        </p:txBody>
      </p:sp>
      <p:sp>
        <p:nvSpPr>
          <p:cNvPr id="4" name="矩形 3">
            <a:extLst>
              <a:ext uri="{FF2B5EF4-FFF2-40B4-BE49-F238E27FC236}">
                <a16:creationId xmlns:a16="http://schemas.microsoft.com/office/drawing/2014/main" id="{DA32101C-072F-462F-B9A7-051610814DD3}"/>
              </a:ext>
            </a:extLst>
          </p:cNvPr>
          <p:cNvSpPr/>
          <p:nvPr/>
        </p:nvSpPr>
        <p:spPr>
          <a:xfrm>
            <a:off x="956767" y="1312069"/>
            <a:ext cx="1422184" cy="830997"/>
          </a:xfrm>
          <a:prstGeom prst="rect">
            <a:avLst/>
          </a:prstGeom>
          <a:noFill/>
        </p:spPr>
        <p:txBody>
          <a:bodyPr wrap="none" lIns="91440" tIns="45720" rIns="91440" bIns="45720">
            <a:spAutoFit/>
          </a:bodyPr>
          <a:lstStyle/>
          <a:p>
            <a:r>
              <a:rPr lang="zh-CN" altLang="en-US" sz="48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定义</a:t>
            </a:r>
            <a:endParaRPr lang="zh-CN" altLang="en-US" sz="48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pic>
        <p:nvPicPr>
          <p:cNvPr id="6" name="图片 5">
            <a:extLst>
              <a:ext uri="{FF2B5EF4-FFF2-40B4-BE49-F238E27FC236}">
                <a16:creationId xmlns:a16="http://schemas.microsoft.com/office/drawing/2014/main" id="{4A8134A2-9E5B-48A4-8E73-228BBF216E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37636" y="0"/>
            <a:ext cx="5115028" cy="7232650"/>
          </a:xfrm>
          <a:prstGeom prst="rect">
            <a:avLst/>
          </a:prstGeom>
        </p:spPr>
      </p:pic>
    </p:spTree>
    <p:extLst>
      <p:ext uri="{BB962C8B-B14F-4D97-AF65-F5344CB8AC3E}">
        <p14:creationId xmlns:p14="http://schemas.microsoft.com/office/powerpoint/2010/main" val="1647699472"/>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anim calcmode="lin" valueType="num">
                                      <p:cBhvr>
                                        <p:cTn id="13" dur="500" fill="hold"/>
                                        <p:tgtEl>
                                          <p:spTgt spid="2"/>
                                        </p:tgtEl>
                                        <p:attrNameLst>
                                          <p:attrName>ppt_x</p:attrName>
                                        </p:attrNameLst>
                                      </p:cBhvr>
                                      <p:tavLst>
                                        <p:tav tm="0">
                                          <p:val>
                                            <p:strVal val="#ppt_x"/>
                                          </p:val>
                                        </p:tav>
                                        <p:tav tm="100000">
                                          <p:val>
                                            <p:strVal val="#ppt_x"/>
                                          </p:val>
                                        </p:tav>
                                      </p:tavLst>
                                    </p:anim>
                                    <p:anim calcmode="lin" valueType="num">
                                      <p:cBhvr>
                                        <p:cTn id="14"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rcRect t="10187" b="10187"/>
          <a:stretch/>
        </p:blipFill>
        <p:spPr>
          <a:xfrm>
            <a:off x="16561" y="-200099"/>
            <a:ext cx="12858748" cy="7617778"/>
          </a:xfrm>
          <a:prstGeom prst="rect">
            <a:avLst/>
          </a:prstGeom>
        </p:spPr>
      </p:pic>
      <p:sp>
        <p:nvSpPr>
          <p:cNvPr id="5" name="平行四边形 4">
            <a:extLst>
              <a:ext uri="{FF2B5EF4-FFF2-40B4-BE49-F238E27FC236}">
                <a16:creationId xmlns:a16="http://schemas.microsoft.com/office/drawing/2014/main" id="{31DE8C61-5A26-8743-969F-16ADEF2CB6E7}"/>
              </a:ext>
            </a:extLst>
          </p:cNvPr>
          <p:cNvSpPr/>
          <p:nvPr/>
        </p:nvSpPr>
        <p:spPr>
          <a:xfrm rot="4579791">
            <a:off x="-1776297" y="1995589"/>
            <a:ext cx="8957299" cy="3383658"/>
          </a:xfrm>
          <a:prstGeom prst="parallelogram">
            <a:avLst/>
          </a:prstGeom>
          <a:solidFill>
            <a:srgbClr val="777FBE">
              <a:alpha val="66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TextBox 44"/>
          <p:cNvSpPr txBox="1"/>
          <p:nvPr/>
        </p:nvSpPr>
        <p:spPr>
          <a:xfrm>
            <a:off x="596727" y="2373324"/>
            <a:ext cx="3816424" cy="518320"/>
          </a:xfrm>
          <a:prstGeom prst="rect">
            <a:avLst/>
          </a:prstGeom>
          <a:noFill/>
        </p:spPr>
        <p:txBody>
          <a:bodyPr wrap="square" lIns="45311" tIns="22656" rIns="45311" bIns="22656" rtlCol="0">
            <a:spAutoFit/>
          </a:bodyPr>
          <a:lstStyle/>
          <a:p>
            <a:pPr algn="ctr">
              <a:lnSpc>
                <a:spcPct val="120000"/>
              </a:lnSpc>
            </a:pPr>
            <a:r>
              <a:rPr lang="zh-CN" altLang="en-US" sz="2800" b="1" dirty="0">
                <a:solidFill>
                  <a:schemeClr val="bg1"/>
                </a:solidFill>
                <a:latin typeface="Arial" panose="020B0604020202020204" pitchFamily="34" charset="0"/>
                <a:ea typeface="微软雅黑" panose="020B0503020204020204" pitchFamily="34" charset="-122"/>
                <a:sym typeface="Arial" panose="020B0604020202020204" pitchFamily="34" charset="0"/>
              </a:rPr>
              <a:t>临床机制</a:t>
            </a:r>
            <a:endParaRPr lang="en-US" altLang="zh-CN" sz="28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46" name="TextBox 45"/>
          <p:cNvSpPr txBox="1"/>
          <p:nvPr/>
        </p:nvSpPr>
        <p:spPr>
          <a:xfrm>
            <a:off x="921737" y="3006744"/>
            <a:ext cx="3312081" cy="230420"/>
          </a:xfrm>
          <a:prstGeom prst="rect">
            <a:avLst/>
          </a:prstGeom>
          <a:noFill/>
        </p:spPr>
        <p:txBody>
          <a:bodyPr wrap="square" lIns="45311" tIns="22656" rIns="45311" bIns="22656" rtlCol="0">
            <a:spAutoFit/>
          </a:bodyPr>
          <a:lstStyle/>
          <a:p>
            <a:pPr algn="ctr">
              <a:tabLst>
                <a:tab pos="990501" algn="l"/>
              </a:tabLst>
            </a:pPr>
            <a:r>
              <a:rPr lang="en-US" altLang="zh-CN" sz="1200" dirty="0">
                <a:ln w="12700" cmpd="sng">
                  <a:noFill/>
                  <a:prstDash val="solid"/>
                </a:ln>
                <a:solidFill>
                  <a:schemeClr val="bg1"/>
                </a:solidFill>
                <a:latin typeface="Arial" panose="020B0604020202020204" pitchFamily="34" charset="0"/>
                <a:ea typeface="微软雅黑" panose="020B0503020204020204" pitchFamily="34" charset="-122"/>
                <a:cs typeface="Arial" panose="020B0604020202020204" pitchFamily="34" charset="0"/>
              </a:rPr>
              <a:t>Clinical situation</a:t>
            </a:r>
            <a:endParaRPr lang="en-SG" altLang="zh-CN" sz="1200" dirty="0">
              <a:ln w="12700" cmpd="sng">
                <a:noFill/>
                <a:prstDash val="solid"/>
              </a:ln>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70" name="TextBox 69"/>
          <p:cNvSpPr txBox="1"/>
          <p:nvPr/>
        </p:nvSpPr>
        <p:spPr>
          <a:xfrm>
            <a:off x="1800927" y="3352264"/>
            <a:ext cx="1553702" cy="2230840"/>
          </a:xfrm>
          <a:prstGeom prst="rect">
            <a:avLst/>
          </a:prstGeom>
          <a:noFill/>
        </p:spPr>
        <p:txBody>
          <a:bodyPr wrap="none" lIns="45311" tIns="22656" rIns="45311" bIns="22656" rtlCol="0">
            <a:spAutoFit/>
          </a:bodyPr>
          <a:lstStyle/>
          <a:p>
            <a:r>
              <a:rPr lang="en-US" altLang="zh-CN" sz="14199" b="1" spc="-149" dirty="0">
                <a:solidFill>
                  <a:schemeClr val="bg1"/>
                </a:solidFill>
                <a:latin typeface="Agency FB" panose="020B0503020202020204" pitchFamily="34" charset="0"/>
                <a:ea typeface="微软雅黑" panose="020B0503020204020204" pitchFamily="34" charset="-122"/>
                <a:cs typeface="Raavi" pitchFamily="34" charset="0"/>
              </a:rPr>
              <a:t>02</a:t>
            </a:r>
            <a:endParaRPr lang="zh-CN" altLang="en-US" sz="14199" b="1" spc="-149" dirty="0">
              <a:solidFill>
                <a:schemeClr val="bg1"/>
              </a:solidFill>
              <a:latin typeface="Agency FB" panose="020B0503020202020204" pitchFamily="34" charset="0"/>
              <a:ea typeface="微软雅黑" panose="020B0503020204020204" pitchFamily="34" charset="-122"/>
              <a:cs typeface="Raavi" pitchFamily="34" charset="0"/>
            </a:endParaRPr>
          </a:p>
        </p:txBody>
      </p:sp>
      <p:pic>
        <p:nvPicPr>
          <p:cNvPr id="9" name="图片 8">
            <a:extLst>
              <a:ext uri="{FF2B5EF4-FFF2-40B4-BE49-F238E27FC236}">
                <a16:creationId xmlns:a16="http://schemas.microsoft.com/office/drawing/2014/main" id="{36E640DB-F059-41B3-96F6-17A3E8568D91}"/>
              </a:ext>
            </a:extLst>
          </p:cNvPr>
          <p:cNvPicPr>
            <a:picLocks noChangeAspect="1"/>
          </p:cNvPicPr>
          <p:nvPr/>
        </p:nvPicPr>
        <p:blipFill>
          <a:blip r:embed="rId4"/>
          <a:stretch>
            <a:fillRect/>
          </a:stretch>
        </p:blipFill>
        <p:spPr>
          <a:xfrm>
            <a:off x="11829975" y="6352629"/>
            <a:ext cx="702109" cy="702109"/>
          </a:xfrm>
          <a:prstGeom prst="rect">
            <a:avLst/>
          </a:prstGeom>
        </p:spPr>
      </p:pic>
    </p:spTree>
    <p:extLst>
      <p:ext uri="{BB962C8B-B14F-4D97-AF65-F5344CB8AC3E}">
        <p14:creationId xmlns:p14="http://schemas.microsoft.com/office/powerpoint/2010/main" val="4276405470"/>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ntent Placeholder 2">
            <a:extLst>
              <a:ext uri="{FF2B5EF4-FFF2-40B4-BE49-F238E27FC236}">
                <a16:creationId xmlns:a16="http://schemas.microsoft.com/office/drawing/2014/main" id="{189AD39D-AA7D-034A-8C37-E30763CD31D0}"/>
              </a:ext>
            </a:extLst>
          </p:cNvPr>
          <p:cNvSpPr txBox="1">
            <a:spLocks/>
          </p:cNvSpPr>
          <p:nvPr/>
        </p:nvSpPr>
        <p:spPr>
          <a:xfrm>
            <a:off x="1388815" y="15925"/>
            <a:ext cx="4698480" cy="604851"/>
          </a:xfrm>
          <a:prstGeom prst="rect">
            <a:avLst/>
          </a:prstGeom>
          <a:noFill/>
          <a:effectLst>
            <a:glow>
              <a:schemeClr val="accent1">
                <a:alpha val="40000"/>
              </a:schemeClr>
            </a:glow>
            <a:outerShdw blurRad="50800" dir="5400000" sx="1000" sy="1000" algn="ctr" rotWithShape="0">
              <a:srgbClr val="000000"/>
            </a:outerShdw>
            <a:reflection stA="95000" endPos="65000" dist="50800" dir="5400000" sy="-100000" algn="bl" rotWithShape="0"/>
          </a:effectLst>
        </p:spPr>
        <p:txBody>
          <a:bodyPr vert="horz" lIns="96435" tIns="48218" rIns="96435" bIns="48218"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3200" b="1" dirty="0">
                <a:solidFill>
                  <a:srgbClr val="777FBE"/>
                </a:solidFill>
                <a:latin typeface="Yuanti SC" panose="02010600040101010101" pitchFamily="2" charset="-122"/>
                <a:ea typeface="Yuanti SC" panose="02010600040101010101" pitchFamily="2" charset="-122"/>
                <a:cs typeface="+mn-ea"/>
                <a:sym typeface="+mn-lt"/>
              </a:rPr>
              <a:t>相关诱因</a:t>
            </a:r>
            <a:endParaRPr lang="en-US" sz="3200" b="1" dirty="0">
              <a:solidFill>
                <a:srgbClr val="777FBE"/>
              </a:solidFill>
              <a:latin typeface="Yuanti SC" panose="02010600040101010101" pitchFamily="2" charset="-122"/>
              <a:ea typeface="Yuanti SC" panose="02010600040101010101" pitchFamily="2" charset="-122"/>
              <a:cs typeface="+mn-ea"/>
              <a:sym typeface="+mn-lt"/>
            </a:endParaRPr>
          </a:p>
        </p:txBody>
      </p:sp>
      <p:sp>
        <p:nvSpPr>
          <p:cNvPr id="26" name="矩形 25">
            <a:extLst>
              <a:ext uri="{FF2B5EF4-FFF2-40B4-BE49-F238E27FC236}">
                <a16:creationId xmlns:a16="http://schemas.microsoft.com/office/drawing/2014/main" id="{38D37B7D-BC62-B640-B528-483CBD8F274A}"/>
              </a:ext>
            </a:extLst>
          </p:cNvPr>
          <p:cNvSpPr/>
          <p:nvPr/>
        </p:nvSpPr>
        <p:spPr>
          <a:xfrm>
            <a:off x="6086" y="205047"/>
            <a:ext cx="1320123" cy="226606"/>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31" name="矩形 30">
            <a:extLst>
              <a:ext uri="{FF2B5EF4-FFF2-40B4-BE49-F238E27FC236}">
                <a16:creationId xmlns:a16="http://schemas.microsoft.com/office/drawing/2014/main" id="{B496626D-8EE0-984C-828E-E001C144D904}"/>
              </a:ext>
            </a:extLst>
          </p:cNvPr>
          <p:cNvSpPr/>
          <p:nvPr/>
        </p:nvSpPr>
        <p:spPr>
          <a:xfrm>
            <a:off x="3261022" y="202555"/>
            <a:ext cx="9582157" cy="229097"/>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3" name="文本框 2">
            <a:extLst>
              <a:ext uri="{FF2B5EF4-FFF2-40B4-BE49-F238E27FC236}">
                <a16:creationId xmlns:a16="http://schemas.microsoft.com/office/drawing/2014/main" id="{5ABC3D3D-1DE5-4E82-8572-9CBB8F3DE0BA}"/>
              </a:ext>
            </a:extLst>
          </p:cNvPr>
          <p:cNvSpPr txBox="1"/>
          <p:nvPr/>
        </p:nvSpPr>
        <p:spPr>
          <a:xfrm>
            <a:off x="337084" y="553258"/>
            <a:ext cx="6411301" cy="4924425"/>
          </a:xfrm>
          <a:prstGeom prst="rect">
            <a:avLst/>
          </a:prstGeom>
          <a:noFill/>
        </p:spPr>
        <p:txBody>
          <a:bodyPr wrap="square" rtlCol="0">
            <a:spAutoFit/>
          </a:bodyPr>
          <a:lstStyle/>
          <a:p>
            <a:pPr marL="457200" indent="-457200">
              <a:spcAft>
                <a:spcPts val="1200"/>
              </a:spcAft>
              <a:buFont typeface="Arial" panose="020B0604020202020204" pitchFamily="34" charset="0"/>
              <a:buChar char="•"/>
            </a:pPr>
            <a:r>
              <a:rPr lang="zh-CN" altLang="en-US" sz="2400" b="1" dirty="0">
                <a:latin typeface="仿宋" panose="02010609060101010101" pitchFamily="49" charset="-122"/>
                <a:ea typeface="仿宋" panose="02010609060101010101" pitchFamily="49" charset="-122"/>
              </a:rPr>
              <a:t>大脑：</a:t>
            </a:r>
            <a:endParaRPr lang="en-US" altLang="zh-CN" sz="2400" b="1" dirty="0">
              <a:latin typeface="仿宋" panose="02010609060101010101" pitchFamily="49" charset="-122"/>
              <a:ea typeface="仿宋" panose="02010609060101010101" pitchFamily="49" charset="-122"/>
            </a:endParaRPr>
          </a:p>
          <a:p>
            <a:pPr marL="1096963" lvl="1" indent="-457200">
              <a:spcAft>
                <a:spcPts val="1200"/>
              </a:spcAft>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神经细胞之间的连接方式、生长和功能变化，</a:t>
            </a:r>
            <a:endParaRPr lang="en-US" altLang="zh-CN" sz="2400" dirty="0">
              <a:latin typeface="仿宋" panose="02010609060101010101" pitchFamily="49" charset="-122"/>
              <a:ea typeface="仿宋" panose="02010609060101010101" pitchFamily="49" charset="-122"/>
            </a:endParaRPr>
          </a:p>
          <a:p>
            <a:pPr marL="1096963" lvl="1" indent="-457200">
              <a:spcAft>
                <a:spcPts val="1200"/>
              </a:spcAft>
              <a:buFont typeface="Arial" panose="020B0604020202020204" pitchFamily="34" charset="0"/>
              <a:buChar char="•"/>
            </a:pPr>
            <a:r>
              <a:rPr lang="zh-CN" altLang="en-US" sz="2400">
                <a:latin typeface="仿宋" panose="02010609060101010101" pitchFamily="49" charset="-122"/>
                <a:ea typeface="仿宋" panose="02010609060101010101" pitchFamily="49" charset="-122"/>
              </a:rPr>
              <a:t>大脑</a:t>
            </a:r>
            <a:r>
              <a:rPr lang="zh-CN" altLang="en-US" sz="2400" dirty="0">
                <a:latin typeface="仿宋" panose="02010609060101010101" pitchFamily="49" charset="-122"/>
                <a:ea typeface="仿宋" panose="02010609060101010101" pitchFamily="49" charset="-122"/>
              </a:rPr>
              <a:t>高级认知控制区域和奖赏调节区域的功能问题。</a:t>
            </a:r>
            <a:endParaRPr lang="en-US" altLang="zh-CN" sz="2400" dirty="0">
              <a:latin typeface="仿宋" panose="02010609060101010101" pitchFamily="49" charset="-122"/>
              <a:ea typeface="仿宋" panose="02010609060101010101" pitchFamily="49" charset="-122"/>
            </a:endParaRPr>
          </a:p>
          <a:p>
            <a:pPr marL="457200" indent="-457200">
              <a:spcAft>
                <a:spcPts val="1200"/>
              </a:spcAft>
              <a:buFont typeface="Arial" panose="020B0604020202020204" pitchFamily="34" charset="0"/>
              <a:buChar char="•"/>
            </a:pPr>
            <a:r>
              <a:rPr lang="zh-CN" altLang="en-US" sz="2400" b="1" dirty="0">
                <a:latin typeface="仿宋" panose="02010609060101010101" pitchFamily="49" charset="-122"/>
                <a:ea typeface="仿宋" panose="02010609060101010101" pitchFamily="49" charset="-122"/>
              </a:rPr>
              <a:t>神经递质：</a:t>
            </a:r>
            <a:endParaRPr lang="en-US" altLang="zh-CN" sz="2400" b="1" dirty="0">
              <a:latin typeface="仿宋" panose="02010609060101010101" pitchFamily="49" charset="-122"/>
              <a:ea typeface="仿宋" panose="02010609060101010101" pitchFamily="49" charset="-122"/>
            </a:endParaRPr>
          </a:p>
          <a:p>
            <a:pPr marL="1096963" lvl="1" indent="-457200">
              <a:spcAft>
                <a:spcPts val="1200"/>
              </a:spcAft>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神经递质水平异常</a:t>
            </a:r>
            <a:endParaRPr lang="en-US" altLang="zh-CN" sz="2400" dirty="0">
              <a:latin typeface="仿宋" panose="02010609060101010101" pitchFamily="49" charset="-122"/>
              <a:ea typeface="仿宋" panose="02010609060101010101" pitchFamily="49" charset="-122"/>
            </a:endParaRPr>
          </a:p>
          <a:p>
            <a:pPr marL="1096963" lvl="1" indent="-457200">
              <a:spcAft>
                <a:spcPts val="1200"/>
              </a:spcAft>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受体敏感性改变</a:t>
            </a:r>
            <a:endParaRPr lang="en-US" altLang="zh-CN" sz="2400" dirty="0">
              <a:latin typeface="仿宋" panose="02010609060101010101" pitchFamily="49" charset="-122"/>
              <a:ea typeface="仿宋" panose="02010609060101010101" pitchFamily="49" charset="-122"/>
            </a:endParaRPr>
          </a:p>
          <a:p>
            <a:pPr marL="457200" indent="-457200">
              <a:spcAft>
                <a:spcPts val="1200"/>
              </a:spcAft>
              <a:buFont typeface="Arial" panose="020B0604020202020204" pitchFamily="34" charset="0"/>
              <a:buChar char="•"/>
            </a:pPr>
            <a:r>
              <a:rPr lang="zh-CN" altLang="en-US" sz="2400" b="1">
                <a:latin typeface="仿宋" panose="02010609060101010101" pitchFamily="49" charset="-122"/>
                <a:ea typeface="仿宋" panose="02010609060101010101" pitchFamily="49" charset="-122"/>
              </a:rPr>
              <a:t>个体基因</a:t>
            </a:r>
            <a:endParaRPr lang="en-US" altLang="zh-CN" sz="2400" b="1" dirty="0">
              <a:latin typeface="仿宋" panose="02010609060101010101" pitchFamily="49" charset="-122"/>
              <a:ea typeface="仿宋" panose="02010609060101010101" pitchFamily="49" charset="-122"/>
            </a:endParaRPr>
          </a:p>
          <a:p>
            <a:pPr lvl="1" indent="0">
              <a:spcAft>
                <a:spcPts val="1200"/>
              </a:spcAft>
            </a:pPr>
            <a:endParaRPr lang="en-US" altLang="zh-CN" sz="2800" dirty="0">
              <a:latin typeface="仿宋" panose="02010609060101010101" pitchFamily="49" charset="-122"/>
              <a:ea typeface="仿宋" panose="02010609060101010101" pitchFamily="49" charset="-122"/>
            </a:endParaRPr>
          </a:p>
        </p:txBody>
      </p:sp>
      <p:pic>
        <p:nvPicPr>
          <p:cNvPr id="4" name="图片 3">
            <a:extLst>
              <a:ext uri="{FF2B5EF4-FFF2-40B4-BE49-F238E27FC236}">
                <a16:creationId xmlns:a16="http://schemas.microsoft.com/office/drawing/2014/main" id="{EEE8DEF1-C8EE-4DB5-B01D-C989075EF695}"/>
              </a:ext>
            </a:extLst>
          </p:cNvPr>
          <p:cNvPicPr>
            <a:picLocks noChangeAspect="1"/>
          </p:cNvPicPr>
          <p:nvPr/>
        </p:nvPicPr>
        <p:blipFill rotWithShape="1">
          <a:blip r:embed="rId3">
            <a:extLst>
              <a:ext uri="{28A0092B-C50C-407E-A947-70E740481C1C}">
                <a14:useLocalDpi xmlns:a14="http://schemas.microsoft.com/office/drawing/2010/main" val="0"/>
              </a:ext>
            </a:extLst>
          </a:blip>
          <a:srcRect l="6832"/>
          <a:stretch/>
        </p:blipFill>
        <p:spPr>
          <a:xfrm rot="16200000">
            <a:off x="6782705" y="1172171"/>
            <a:ext cx="6801000" cy="5319955"/>
          </a:xfrm>
          <a:prstGeom prst="rect">
            <a:avLst/>
          </a:prstGeom>
          <a:scene3d>
            <a:camera prst="orthographicFront">
              <a:rot lat="0" lon="0" rev="0"/>
            </a:camera>
            <a:lightRig rig="threePt" dir="t"/>
          </a:scene3d>
        </p:spPr>
      </p:pic>
    </p:spTree>
    <p:extLst>
      <p:ext uri="{BB962C8B-B14F-4D97-AF65-F5344CB8AC3E}">
        <p14:creationId xmlns:p14="http://schemas.microsoft.com/office/powerpoint/2010/main" val="2206212634"/>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ntent Placeholder 2">
            <a:extLst>
              <a:ext uri="{FF2B5EF4-FFF2-40B4-BE49-F238E27FC236}">
                <a16:creationId xmlns:a16="http://schemas.microsoft.com/office/drawing/2014/main" id="{189AD39D-AA7D-034A-8C37-E30763CD31D0}"/>
              </a:ext>
            </a:extLst>
          </p:cNvPr>
          <p:cNvSpPr txBox="1">
            <a:spLocks/>
          </p:cNvSpPr>
          <p:nvPr/>
        </p:nvSpPr>
        <p:spPr>
          <a:xfrm>
            <a:off x="1388815" y="15925"/>
            <a:ext cx="4698480" cy="604851"/>
          </a:xfrm>
          <a:prstGeom prst="rect">
            <a:avLst/>
          </a:prstGeom>
          <a:noFill/>
          <a:effectLst>
            <a:glow>
              <a:schemeClr val="accent1">
                <a:alpha val="40000"/>
              </a:schemeClr>
            </a:glow>
            <a:outerShdw blurRad="50800" dir="5400000" sx="1000" sy="1000" algn="ctr" rotWithShape="0">
              <a:srgbClr val="000000"/>
            </a:outerShdw>
            <a:reflection stA="95000" endPos="65000" dist="50800" dir="5400000" sy="-100000" algn="bl" rotWithShape="0"/>
          </a:effectLst>
        </p:spPr>
        <p:txBody>
          <a:bodyPr vert="horz" lIns="96435" tIns="48218" rIns="96435" bIns="48218"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3200" b="1" dirty="0">
                <a:solidFill>
                  <a:srgbClr val="777FBE"/>
                </a:solidFill>
                <a:latin typeface="Yuanti SC" panose="02010600040101010101" pitchFamily="2" charset="-122"/>
                <a:ea typeface="Yuanti SC" panose="02010600040101010101" pitchFamily="2" charset="-122"/>
                <a:cs typeface="+mn-ea"/>
                <a:sym typeface="+mn-lt"/>
              </a:rPr>
              <a:t>相关诱因</a:t>
            </a:r>
            <a:endParaRPr lang="en-US" sz="3200" b="1" dirty="0">
              <a:solidFill>
                <a:srgbClr val="777FBE"/>
              </a:solidFill>
              <a:latin typeface="Yuanti SC" panose="02010600040101010101" pitchFamily="2" charset="-122"/>
              <a:ea typeface="Yuanti SC" panose="02010600040101010101" pitchFamily="2" charset="-122"/>
              <a:cs typeface="+mn-ea"/>
              <a:sym typeface="+mn-lt"/>
            </a:endParaRPr>
          </a:p>
        </p:txBody>
      </p:sp>
      <p:sp>
        <p:nvSpPr>
          <p:cNvPr id="26" name="矩形 25">
            <a:extLst>
              <a:ext uri="{FF2B5EF4-FFF2-40B4-BE49-F238E27FC236}">
                <a16:creationId xmlns:a16="http://schemas.microsoft.com/office/drawing/2014/main" id="{38D37B7D-BC62-B640-B528-483CBD8F274A}"/>
              </a:ext>
            </a:extLst>
          </p:cNvPr>
          <p:cNvSpPr/>
          <p:nvPr/>
        </p:nvSpPr>
        <p:spPr>
          <a:xfrm>
            <a:off x="6086" y="205047"/>
            <a:ext cx="1320123" cy="226606"/>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31" name="矩形 30">
            <a:extLst>
              <a:ext uri="{FF2B5EF4-FFF2-40B4-BE49-F238E27FC236}">
                <a16:creationId xmlns:a16="http://schemas.microsoft.com/office/drawing/2014/main" id="{B496626D-8EE0-984C-828E-E001C144D904}"/>
              </a:ext>
            </a:extLst>
          </p:cNvPr>
          <p:cNvSpPr/>
          <p:nvPr/>
        </p:nvSpPr>
        <p:spPr>
          <a:xfrm>
            <a:off x="3261022" y="202555"/>
            <a:ext cx="9582157" cy="229097"/>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3" name="文本框 2">
            <a:extLst>
              <a:ext uri="{FF2B5EF4-FFF2-40B4-BE49-F238E27FC236}">
                <a16:creationId xmlns:a16="http://schemas.microsoft.com/office/drawing/2014/main" id="{5ABC3D3D-1DE5-4E82-8572-9CBB8F3DE0BA}"/>
              </a:ext>
            </a:extLst>
          </p:cNvPr>
          <p:cNvSpPr txBox="1"/>
          <p:nvPr/>
        </p:nvSpPr>
        <p:spPr>
          <a:xfrm>
            <a:off x="6645399" y="1024037"/>
            <a:ext cx="5792464" cy="2277547"/>
          </a:xfrm>
          <a:prstGeom prst="rect">
            <a:avLst/>
          </a:prstGeom>
          <a:noFill/>
        </p:spPr>
        <p:txBody>
          <a:bodyPr wrap="square" rtlCol="0">
            <a:spAutoFit/>
          </a:bodyPr>
          <a:lstStyle/>
          <a:p>
            <a:pPr marL="457200" indent="-457200">
              <a:spcAft>
                <a:spcPts val="1200"/>
              </a:spcAft>
              <a:buFont typeface="Arial" panose="020B0604020202020204" pitchFamily="34" charset="0"/>
              <a:buChar char="•"/>
            </a:pPr>
            <a:r>
              <a:rPr lang="zh-CN" altLang="en-US" sz="2800" b="1" dirty="0">
                <a:latin typeface="仿宋" panose="02010609060101010101" pitchFamily="49" charset="-122"/>
                <a:ea typeface="仿宋" panose="02010609060101010101" pitchFamily="49" charset="-122"/>
              </a:rPr>
              <a:t>疾病与药物作用：</a:t>
            </a:r>
            <a:endParaRPr lang="en-US" altLang="zh-CN" sz="2800" b="1" dirty="0">
              <a:latin typeface="仿宋" panose="02010609060101010101" pitchFamily="49" charset="-122"/>
              <a:ea typeface="仿宋" panose="02010609060101010101" pitchFamily="49" charset="-122"/>
            </a:endParaRPr>
          </a:p>
          <a:p>
            <a:pPr marL="1096963" lvl="1" indent="-457200">
              <a:spcAft>
                <a:spcPts val="1200"/>
              </a:spcAft>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直接影响生理功能</a:t>
            </a:r>
            <a:endParaRPr lang="en-US" altLang="zh-CN" sz="2800" dirty="0">
              <a:latin typeface="仿宋" panose="02010609060101010101" pitchFamily="49" charset="-122"/>
              <a:ea typeface="仿宋" panose="02010609060101010101" pitchFamily="49" charset="-122"/>
            </a:endParaRPr>
          </a:p>
          <a:p>
            <a:pPr marL="1096963" lvl="1" indent="-457200">
              <a:spcAft>
                <a:spcPts val="1200"/>
              </a:spcAft>
              <a:buFont typeface="Arial" panose="020B0604020202020204" pitchFamily="34" charset="0"/>
              <a:buChar char="•"/>
            </a:pPr>
            <a:r>
              <a:rPr lang="zh-CN" altLang="en-US" sz="2800">
                <a:latin typeface="仿宋" panose="02010609060101010101" pitchFamily="49" charset="-122"/>
                <a:ea typeface="仿宋" panose="02010609060101010101" pitchFamily="49" charset="-122"/>
              </a:rPr>
              <a:t>药物</a:t>
            </a:r>
            <a:r>
              <a:rPr lang="zh-CN" altLang="en-US" sz="2800" dirty="0">
                <a:latin typeface="仿宋" panose="02010609060101010101" pitchFamily="49" charset="-122"/>
                <a:ea typeface="仿宋" panose="02010609060101010101" pitchFamily="49" charset="-122"/>
              </a:rPr>
              <a:t>副作用</a:t>
            </a:r>
            <a:endParaRPr lang="en-US" altLang="zh-CN" sz="2800" dirty="0">
              <a:latin typeface="仿宋" panose="02010609060101010101" pitchFamily="49" charset="-122"/>
              <a:ea typeface="仿宋" panose="02010609060101010101" pitchFamily="49" charset="-122"/>
            </a:endParaRPr>
          </a:p>
          <a:p>
            <a:pPr marL="1096963" lvl="1" indent="-457200">
              <a:spcAft>
                <a:spcPts val="1200"/>
              </a:spcAft>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增加心理压力</a:t>
            </a:r>
          </a:p>
        </p:txBody>
      </p:sp>
      <p:pic>
        <p:nvPicPr>
          <p:cNvPr id="4" name="图片 3">
            <a:extLst>
              <a:ext uri="{FF2B5EF4-FFF2-40B4-BE49-F238E27FC236}">
                <a16:creationId xmlns:a16="http://schemas.microsoft.com/office/drawing/2014/main" id="{3B8C3388-692F-4BA9-9C18-5454BB8BC5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887" y="890747"/>
            <a:ext cx="5792464" cy="3445658"/>
          </a:xfrm>
          <a:prstGeom prst="rect">
            <a:avLst/>
          </a:prstGeom>
        </p:spPr>
      </p:pic>
      <p:pic>
        <p:nvPicPr>
          <p:cNvPr id="6" name="图片 5">
            <a:extLst>
              <a:ext uri="{FF2B5EF4-FFF2-40B4-BE49-F238E27FC236}">
                <a16:creationId xmlns:a16="http://schemas.microsoft.com/office/drawing/2014/main" id="{16FC55A3-35D3-4124-B32C-11BB2AF0F1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33431" y="3544317"/>
            <a:ext cx="5513686" cy="3601793"/>
          </a:xfrm>
          <a:prstGeom prst="rect">
            <a:avLst/>
          </a:prstGeom>
        </p:spPr>
      </p:pic>
    </p:spTree>
    <p:extLst>
      <p:ext uri="{BB962C8B-B14F-4D97-AF65-F5344CB8AC3E}">
        <p14:creationId xmlns:p14="http://schemas.microsoft.com/office/powerpoint/2010/main" val="1415604291"/>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ntent Placeholder 2">
            <a:extLst>
              <a:ext uri="{FF2B5EF4-FFF2-40B4-BE49-F238E27FC236}">
                <a16:creationId xmlns:a16="http://schemas.microsoft.com/office/drawing/2014/main" id="{189AD39D-AA7D-034A-8C37-E30763CD31D0}"/>
              </a:ext>
            </a:extLst>
          </p:cNvPr>
          <p:cNvSpPr txBox="1">
            <a:spLocks/>
          </p:cNvSpPr>
          <p:nvPr/>
        </p:nvSpPr>
        <p:spPr>
          <a:xfrm>
            <a:off x="1388815" y="15925"/>
            <a:ext cx="4698480" cy="604851"/>
          </a:xfrm>
          <a:prstGeom prst="rect">
            <a:avLst/>
          </a:prstGeom>
          <a:noFill/>
          <a:effectLst>
            <a:glow>
              <a:schemeClr val="accent1">
                <a:alpha val="40000"/>
              </a:schemeClr>
            </a:glow>
            <a:outerShdw blurRad="50800" dir="5400000" sx="1000" sy="1000" algn="ctr" rotWithShape="0">
              <a:srgbClr val="000000"/>
            </a:outerShdw>
            <a:reflection stA="95000" endPos="65000" dist="50800" dir="5400000" sy="-100000" algn="bl" rotWithShape="0"/>
          </a:effectLst>
        </p:spPr>
        <p:txBody>
          <a:bodyPr vert="horz" lIns="96435" tIns="48218" rIns="96435" bIns="48218"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3200" b="1" dirty="0">
                <a:solidFill>
                  <a:srgbClr val="777FBE"/>
                </a:solidFill>
                <a:latin typeface="Yuanti SC" panose="02010600040101010101" pitchFamily="2" charset="-122"/>
                <a:ea typeface="Yuanti SC" panose="02010600040101010101" pitchFamily="2" charset="-122"/>
                <a:cs typeface="+mn-ea"/>
                <a:sym typeface="+mn-lt"/>
              </a:rPr>
              <a:t>临床症状</a:t>
            </a:r>
            <a:endParaRPr lang="en-US" sz="3200" b="1" dirty="0">
              <a:solidFill>
                <a:srgbClr val="777FBE"/>
              </a:solidFill>
              <a:latin typeface="Yuanti SC" panose="02010600040101010101" pitchFamily="2" charset="-122"/>
              <a:ea typeface="Yuanti SC" panose="02010600040101010101" pitchFamily="2" charset="-122"/>
              <a:cs typeface="+mn-ea"/>
              <a:sym typeface="+mn-lt"/>
            </a:endParaRPr>
          </a:p>
        </p:txBody>
      </p:sp>
      <p:sp>
        <p:nvSpPr>
          <p:cNvPr id="26" name="矩形 25">
            <a:extLst>
              <a:ext uri="{FF2B5EF4-FFF2-40B4-BE49-F238E27FC236}">
                <a16:creationId xmlns:a16="http://schemas.microsoft.com/office/drawing/2014/main" id="{38D37B7D-BC62-B640-B528-483CBD8F274A}"/>
              </a:ext>
            </a:extLst>
          </p:cNvPr>
          <p:cNvSpPr/>
          <p:nvPr/>
        </p:nvSpPr>
        <p:spPr>
          <a:xfrm>
            <a:off x="6086" y="205047"/>
            <a:ext cx="1320123" cy="226606"/>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31" name="矩形 30">
            <a:extLst>
              <a:ext uri="{FF2B5EF4-FFF2-40B4-BE49-F238E27FC236}">
                <a16:creationId xmlns:a16="http://schemas.microsoft.com/office/drawing/2014/main" id="{B496626D-8EE0-984C-828E-E001C144D904}"/>
              </a:ext>
            </a:extLst>
          </p:cNvPr>
          <p:cNvSpPr/>
          <p:nvPr/>
        </p:nvSpPr>
        <p:spPr>
          <a:xfrm>
            <a:off x="3261022" y="202555"/>
            <a:ext cx="9582157" cy="229097"/>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3" name="文本框 2">
            <a:extLst>
              <a:ext uri="{FF2B5EF4-FFF2-40B4-BE49-F238E27FC236}">
                <a16:creationId xmlns:a16="http://schemas.microsoft.com/office/drawing/2014/main" id="{5ABC3D3D-1DE5-4E82-8572-9CBB8F3DE0BA}"/>
              </a:ext>
            </a:extLst>
          </p:cNvPr>
          <p:cNvSpPr txBox="1"/>
          <p:nvPr/>
        </p:nvSpPr>
        <p:spPr>
          <a:xfrm>
            <a:off x="666146" y="1111136"/>
            <a:ext cx="5691221" cy="5601533"/>
          </a:xfrm>
          <a:prstGeom prst="rect">
            <a:avLst/>
          </a:prstGeom>
          <a:noFill/>
        </p:spPr>
        <p:txBody>
          <a:bodyPr wrap="square" rtlCol="0">
            <a:spAutoFit/>
          </a:bodyPr>
          <a:lstStyle/>
          <a:p>
            <a:pPr marL="457200" indent="-457200">
              <a:spcAft>
                <a:spcPts val="600"/>
              </a:spcAft>
              <a:buFont typeface="Arial" panose="020B0604020202020204" pitchFamily="34" charset="0"/>
              <a:buChar char="•"/>
            </a:pPr>
            <a:r>
              <a:rPr lang="zh-CN" altLang="en-US" sz="2800" b="1" dirty="0">
                <a:latin typeface="仿宋" panose="02010609060101010101" pitchFamily="49" charset="-122"/>
                <a:ea typeface="仿宋" panose="02010609060101010101" pitchFamily="49" charset="-122"/>
              </a:rPr>
              <a:t>心境低落</a:t>
            </a:r>
            <a:endParaRPr lang="en-US" altLang="zh-CN" sz="2800" b="1" dirty="0">
              <a:latin typeface="仿宋" panose="02010609060101010101" pitchFamily="49" charset="-122"/>
              <a:ea typeface="仿宋" panose="02010609060101010101" pitchFamily="49" charset="-122"/>
            </a:endParaRPr>
          </a:p>
          <a:p>
            <a:pPr marL="457200" indent="-457200">
              <a:spcAft>
                <a:spcPts val="600"/>
              </a:spcAft>
              <a:buFont typeface="Arial" panose="020B0604020202020204" pitchFamily="34" charset="0"/>
              <a:buChar char="•"/>
            </a:pPr>
            <a:r>
              <a:rPr lang="zh-CN" altLang="en-US" sz="2800" b="1" dirty="0">
                <a:latin typeface="仿宋" panose="02010609060101010101" pitchFamily="49" charset="-122"/>
                <a:ea typeface="仿宋" panose="02010609060101010101" pitchFamily="49" charset="-122"/>
              </a:rPr>
              <a:t>思维障碍</a:t>
            </a:r>
            <a:endParaRPr lang="en-US" altLang="zh-CN" sz="2800" dirty="0">
              <a:latin typeface="仿宋" panose="02010609060101010101" pitchFamily="49" charset="-122"/>
              <a:ea typeface="仿宋" panose="02010609060101010101" pitchFamily="49" charset="-122"/>
            </a:endParaRPr>
          </a:p>
          <a:p>
            <a:pPr marL="457200" indent="-457200">
              <a:spcAft>
                <a:spcPts val="600"/>
              </a:spcAft>
              <a:buFont typeface="Arial" panose="020B0604020202020204" pitchFamily="34" charset="0"/>
              <a:buChar char="•"/>
            </a:pPr>
            <a:r>
              <a:rPr lang="zh-CN" altLang="en-US" sz="2800" b="1" dirty="0">
                <a:latin typeface="仿宋" panose="02010609060101010101" pitchFamily="49" charset="-122"/>
                <a:ea typeface="仿宋" panose="02010609060101010101" pitchFamily="49" charset="-122"/>
              </a:rPr>
              <a:t>意志活动减退</a:t>
            </a:r>
            <a:endParaRPr lang="en-US" altLang="zh-CN" sz="2800" b="1" dirty="0">
              <a:latin typeface="仿宋" panose="02010609060101010101" pitchFamily="49" charset="-122"/>
              <a:ea typeface="仿宋" panose="02010609060101010101" pitchFamily="49" charset="-122"/>
            </a:endParaRPr>
          </a:p>
          <a:p>
            <a:pPr marL="457200" indent="-457200">
              <a:spcAft>
                <a:spcPts val="600"/>
              </a:spcAft>
              <a:buFont typeface="Arial" panose="020B0604020202020204" pitchFamily="34" charset="0"/>
              <a:buChar char="•"/>
            </a:pPr>
            <a:r>
              <a:rPr lang="zh-CN" altLang="en-US" sz="2800" b="1" dirty="0">
                <a:latin typeface="仿宋" panose="02010609060101010101" pitchFamily="49" charset="-122"/>
                <a:ea typeface="仿宋" panose="02010609060101010101" pitchFamily="49" charset="-122"/>
              </a:rPr>
              <a:t>认知功能损害</a:t>
            </a:r>
            <a:endParaRPr lang="en-US" altLang="zh-CN" sz="2800" b="1" dirty="0">
              <a:latin typeface="仿宋" panose="02010609060101010101" pitchFamily="49" charset="-122"/>
              <a:ea typeface="仿宋" panose="02010609060101010101" pitchFamily="49" charset="-122"/>
            </a:endParaRPr>
          </a:p>
          <a:p>
            <a:pPr marL="457200" indent="-457200">
              <a:spcAft>
                <a:spcPts val="600"/>
              </a:spcAft>
              <a:buFont typeface="Arial" panose="020B0604020202020204" pitchFamily="34" charset="0"/>
              <a:buChar char="•"/>
            </a:pPr>
            <a:r>
              <a:rPr lang="zh-CN" altLang="en-US" sz="2800" b="1" dirty="0">
                <a:latin typeface="仿宋" panose="02010609060101010101" pitchFamily="49" charset="-122"/>
                <a:ea typeface="仿宋" panose="02010609060101010101" pitchFamily="49" charset="-122"/>
              </a:rPr>
              <a:t>躯体症状：</a:t>
            </a:r>
            <a:endParaRPr lang="en-US" altLang="zh-CN" sz="2800" b="1" dirty="0">
              <a:latin typeface="仿宋" panose="02010609060101010101" pitchFamily="49" charset="-122"/>
              <a:ea typeface="仿宋" panose="02010609060101010101" pitchFamily="49" charset="-122"/>
            </a:endParaRPr>
          </a:p>
          <a:p>
            <a:pPr marL="1096963" lvl="1" indent="-457200">
              <a:spcAft>
                <a:spcPts val="600"/>
              </a:spcAft>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睡眠障碍、乏力</a:t>
            </a:r>
            <a:endParaRPr lang="en-US" altLang="zh-CN" sz="2800" dirty="0">
              <a:latin typeface="仿宋" panose="02010609060101010101" pitchFamily="49" charset="-122"/>
              <a:ea typeface="仿宋" panose="02010609060101010101" pitchFamily="49" charset="-122"/>
            </a:endParaRPr>
          </a:p>
          <a:p>
            <a:pPr marL="1096963" lvl="1" indent="-457200">
              <a:spcAft>
                <a:spcPts val="600"/>
              </a:spcAft>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食欲减退、体重下降</a:t>
            </a:r>
            <a:endParaRPr lang="en-US" altLang="zh-CN" sz="2800" b="1" dirty="0">
              <a:latin typeface="仿宋" panose="02010609060101010101" pitchFamily="49" charset="-122"/>
              <a:ea typeface="仿宋" panose="02010609060101010101" pitchFamily="49" charset="-122"/>
            </a:endParaRPr>
          </a:p>
          <a:p>
            <a:pPr marL="457200" indent="-457200">
              <a:spcAft>
                <a:spcPts val="600"/>
              </a:spcAft>
              <a:buFont typeface="Arial" panose="020B0604020202020204" pitchFamily="34" charset="0"/>
              <a:buChar char="•"/>
            </a:pPr>
            <a:r>
              <a:rPr lang="zh-CN" altLang="en-US" sz="2800" b="1" dirty="0">
                <a:latin typeface="仿宋" panose="02010609060101010101" pitchFamily="49" charset="-122"/>
                <a:ea typeface="仿宋" panose="02010609060101010101" pitchFamily="49" charset="-122"/>
              </a:rPr>
              <a:t>其他不典型表现：</a:t>
            </a:r>
            <a:endParaRPr lang="en-US" altLang="zh-CN" sz="2800" dirty="0">
              <a:latin typeface="仿宋" panose="02010609060101010101" pitchFamily="49" charset="-122"/>
              <a:ea typeface="仿宋" panose="02010609060101010101" pitchFamily="49" charset="-122"/>
            </a:endParaRPr>
          </a:p>
          <a:p>
            <a:pPr marL="1096963" lvl="1" indent="-457200">
              <a:spcAft>
                <a:spcPts val="600"/>
              </a:spcAft>
              <a:buFont typeface="Arial" panose="020B0604020202020204" pitchFamily="34" charset="0"/>
              <a:buChar char="•"/>
            </a:pPr>
            <a:r>
              <a:rPr lang="zh-CN" altLang="en-US" sz="2800" dirty="0">
                <a:latin typeface="仿宋" panose="02010609060101010101" pitchFamily="49" charset="-122"/>
                <a:ea typeface="仿宋" panose="02010609060101010101" pitchFamily="49" charset="-122"/>
              </a:rPr>
              <a:t>人格解体</a:t>
            </a:r>
            <a:endParaRPr lang="en-US" altLang="zh-CN" sz="2800" dirty="0">
              <a:latin typeface="仿宋" panose="02010609060101010101" pitchFamily="49" charset="-122"/>
              <a:ea typeface="仿宋" panose="02010609060101010101" pitchFamily="49" charset="-122"/>
            </a:endParaRPr>
          </a:p>
          <a:p>
            <a:pPr marL="1096963" lvl="1" indent="-457200">
              <a:spcAft>
                <a:spcPts val="600"/>
              </a:spcAft>
              <a:buFont typeface="Arial" panose="020B0604020202020204" pitchFamily="34" charset="0"/>
              <a:buChar char="•"/>
            </a:pPr>
            <a:r>
              <a:rPr lang="zh-CN" altLang="en-US" sz="2800">
                <a:latin typeface="仿宋" panose="02010609060101010101" pitchFamily="49" charset="-122"/>
                <a:ea typeface="仿宋" panose="02010609060101010101" pitchFamily="49" charset="-122"/>
              </a:rPr>
              <a:t>现实解体</a:t>
            </a:r>
            <a:endParaRPr lang="en-US" altLang="zh-CN" sz="2800">
              <a:latin typeface="仿宋" panose="02010609060101010101" pitchFamily="49" charset="-122"/>
              <a:ea typeface="仿宋" panose="02010609060101010101" pitchFamily="49" charset="-122"/>
            </a:endParaRPr>
          </a:p>
          <a:p>
            <a:pPr marL="1096963" lvl="1" indent="-457200">
              <a:spcAft>
                <a:spcPts val="600"/>
              </a:spcAft>
              <a:buFont typeface="Arial" panose="020B0604020202020204" pitchFamily="34" charset="0"/>
              <a:buChar char="•"/>
            </a:pPr>
            <a:r>
              <a:rPr lang="zh-CN" altLang="en-US" sz="2800">
                <a:latin typeface="仿宋" panose="02010609060101010101" pitchFamily="49" charset="-122"/>
                <a:ea typeface="仿宋" panose="02010609060101010101" pitchFamily="49" charset="-122"/>
              </a:rPr>
              <a:t>强迫</a:t>
            </a:r>
            <a:r>
              <a:rPr lang="zh-CN" altLang="en-US" sz="2800" dirty="0">
                <a:latin typeface="仿宋" panose="02010609060101010101" pitchFamily="49" charset="-122"/>
                <a:ea typeface="仿宋" panose="02010609060101010101" pitchFamily="49" charset="-122"/>
              </a:rPr>
              <a:t>症状</a:t>
            </a:r>
          </a:p>
        </p:txBody>
      </p:sp>
      <p:pic>
        <p:nvPicPr>
          <p:cNvPr id="4" name="图片 3">
            <a:extLst>
              <a:ext uri="{FF2B5EF4-FFF2-40B4-BE49-F238E27FC236}">
                <a16:creationId xmlns:a16="http://schemas.microsoft.com/office/drawing/2014/main" id="{43DB853C-BF55-4E35-9417-A9786E81F9FE}"/>
              </a:ext>
            </a:extLst>
          </p:cNvPr>
          <p:cNvPicPr>
            <a:picLocks noChangeAspect="1"/>
          </p:cNvPicPr>
          <p:nvPr/>
        </p:nvPicPr>
        <p:blipFill rotWithShape="1">
          <a:blip r:embed="rId3">
            <a:extLst>
              <a:ext uri="{28A0092B-C50C-407E-A947-70E740481C1C}">
                <a14:useLocalDpi xmlns:a14="http://schemas.microsoft.com/office/drawing/2010/main" val="0"/>
              </a:ext>
            </a:extLst>
          </a:blip>
          <a:srcRect l="31818"/>
          <a:stretch/>
        </p:blipFill>
        <p:spPr>
          <a:xfrm>
            <a:off x="5976457" y="0"/>
            <a:ext cx="6866722" cy="7216725"/>
          </a:xfrm>
          <a:prstGeom prst="rect">
            <a:avLst/>
          </a:prstGeom>
        </p:spPr>
      </p:pic>
    </p:spTree>
    <p:extLst>
      <p:ext uri="{BB962C8B-B14F-4D97-AF65-F5344CB8AC3E}">
        <p14:creationId xmlns:p14="http://schemas.microsoft.com/office/powerpoint/2010/main" val="4177152960"/>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ntent Placeholder 2">
            <a:extLst>
              <a:ext uri="{FF2B5EF4-FFF2-40B4-BE49-F238E27FC236}">
                <a16:creationId xmlns:a16="http://schemas.microsoft.com/office/drawing/2014/main" id="{189AD39D-AA7D-034A-8C37-E30763CD31D0}"/>
              </a:ext>
            </a:extLst>
          </p:cNvPr>
          <p:cNvSpPr txBox="1">
            <a:spLocks/>
          </p:cNvSpPr>
          <p:nvPr/>
        </p:nvSpPr>
        <p:spPr>
          <a:xfrm>
            <a:off x="1388815" y="15925"/>
            <a:ext cx="4698480" cy="604851"/>
          </a:xfrm>
          <a:prstGeom prst="rect">
            <a:avLst/>
          </a:prstGeom>
          <a:noFill/>
          <a:effectLst>
            <a:glow>
              <a:schemeClr val="accent1">
                <a:alpha val="40000"/>
              </a:schemeClr>
            </a:glow>
            <a:outerShdw blurRad="50800" dir="5400000" sx="1000" sy="1000" algn="ctr" rotWithShape="0">
              <a:srgbClr val="000000"/>
            </a:outerShdw>
            <a:reflection stA="95000" endPos="65000" dist="50800" dir="5400000" sy="-100000" algn="bl" rotWithShape="0"/>
          </a:effectLst>
        </p:spPr>
        <p:txBody>
          <a:bodyPr vert="horz" lIns="96435" tIns="48218" rIns="96435" bIns="48218"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3200" b="1" dirty="0">
                <a:solidFill>
                  <a:srgbClr val="777FBE"/>
                </a:solidFill>
                <a:latin typeface="Yuanti SC" panose="02010600040101010101" pitchFamily="2" charset="-122"/>
                <a:ea typeface="Yuanti SC" panose="02010600040101010101" pitchFamily="2" charset="-122"/>
                <a:cs typeface="+mn-ea"/>
                <a:sym typeface="+mn-lt"/>
              </a:rPr>
              <a:t>临床诊断</a:t>
            </a:r>
            <a:endParaRPr lang="en-US" sz="3200" b="1" dirty="0">
              <a:solidFill>
                <a:srgbClr val="777FBE"/>
              </a:solidFill>
              <a:latin typeface="Yuanti SC" panose="02010600040101010101" pitchFamily="2" charset="-122"/>
              <a:ea typeface="Yuanti SC" panose="02010600040101010101" pitchFamily="2" charset="-122"/>
              <a:cs typeface="+mn-ea"/>
              <a:sym typeface="+mn-lt"/>
            </a:endParaRPr>
          </a:p>
        </p:txBody>
      </p:sp>
      <p:sp>
        <p:nvSpPr>
          <p:cNvPr id="26" name="矩形 25">
            <a:extLst>
              <a:ext uri="{FF2B5EF4-FFF2-40B4-BE49-F238E27FC236}">
                <a16:creationId xmlns:a16="http://schemas.microsoft.com/office/drawing/2014/main" id="{38D37B7D-BC62-B640-B528-483CBD8F274A}"/>
              </a:ext>
            </a:extLst>
          </p:cNvPr>
          <p:cNvSpPr/>
          <p:nvPr/>
        </p:nvSpPr>
        <p:spPr>
          <a:xfrm>
            <a:off x="6086" y="205047"/>
            <a:ext cx="1320123" cy="226606"/>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31" name="矩形 30">
            <a:extLst>
              <a:ext uri="{FF2B5EF4-FFF2-40B4-BE49-F238E27FC236}">
                <a16:creationId xmlns:a16="http://schemas.microsoft.com/office/drawing/2014/main" id="{B496626D-8EE0-984C-828E-E001C144D904}"/>
              </a:ext>
            </a:extLst>
          </p:cNvPr>
          <p:cNvSpPr/>
          <p:nvPr/>
        </p:nvSpPr>
        <p:spPr>
          <a:xfrm>
            <a:off x="3261022" y="202555"/>
            <a:ext cx="9582157" cy="229097"/>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3" name="文本框 2">
            <a:extLst>
              <a:ext uri="{FF2B5EF4-FFF2-40B4-BE49-F238E27FC236}">
                <a16:creationId xmlns:a16="http://schemas.microsoft.com/office/drawing/2014/main" id="{5ABC3D3D-1DE5-4E82-8572-9CBB8F3DE0BA}"/>
              </a:ext>
            </a:extLst>
          </p:cNvPr>
          <p:cNvSpPr txBox="1"/>
          <p:nvPr/>
        </p:nvSpPr>
        <p:spPr>
          <a:xfrm>
            <a:off x="666146" y="994122"/>
            <a:ext cx="11955917" cy="4078039"/>
          </a:xfrm>
          <a:prstGeom prst="rect">
            <a:avLst/>
          </a:prstGeom>
          <a:noFill/>
        </p:spPr>
        <p:txBody>
          <a:bodyPr wrap="square" rtlCol="0">
            <a:spAutoFit/>
          </a:bodyPr>
          <a:lstStyle/>
          <a:p>
            <a:pPr>
              <a:spcAft>
                <a:spcPts val="1200"/>
              </a:spcAft>
            </a:pPr>
            <a:r>
              <a:rPr lang="zh-CN" altLang="en-US" sz="3200" b="1" dirty="0">
                <a:latin typeface="仿宋" panose="02010609060101010101" pitchFamily="49" charset="-122"/>
                <a:ea typeface="仿宋" panose="02010609060101010101" pitchFamily="49" charset="-122"/>
              </a:rPr>
              <a:t>抑郁症的临床诊断主要根据以下要点进行：</a:t>
            </a:r>
            <a:endParaRPr lang="en-US" altLang="zh-CN" sz="3200" b="1" dirty="0">
              <a:latin typeface="仿宋" panose="02010609060101010101" pitchFamily="49" charset="-122"/>
              <a:ea typeface="仿宋" panose="02010609060101010101" pitchFamily="49" charset="-122"/>
            </a:endParaRPr>
          </a:p>
          <a:p>
            <a:pPr marL="457200" indent="-457200">
              <a:spcAft>
                <a:spcPts val="600"/>
              </a:spcAft>
              <a:buFont typeface="Arial" panose="020B0604020202020204" pitchFamily="34" charset="0"/>
              <a:buChar char="•"/>
            </a:pPr>
            <a:r>
              <a:rPr lang="zh-CN" altLang="en-US" sz="3200" b="1" dirty="0">
                <a:latin typeface="仿宋" panose="02010609060101010101" pitchFamily="49" charset="-122"/>
                <a:ea typeface="仿宋" panose="02010609060101010101" pitchFamily="49" charset="-122"/>
              </a:rPr>
              <a:t>诊断标准：</a:t>
            </a:r>
            <a:endParaRPr lang="en-US" altLang="zh-CN" sz="3200" b="1" dirty="0">
              <a:latin typeface="仿宋" panose="02010609060101010101" pitchFamily="49" charset="-122"/>
              <a:ea typeface="仿宋" panose="02010609060101010101" pitchFamily="49" charset="-122"/>
            </a:endParaRPr>
          </a:p>
          <a:p>
            <a:pPr marL="1096963" lvl="1" indent="-457200">
              <a:spcAft>
                <a:spcPts val="600"/>
              </a:spcAft>
              <a:buFont typeface="Arial" panose="020B0604020202020204" pitchFamily="34" charset="0"/>
              <a:buChar char="•"/>
            </a:pPr>
            <a:r>
              <a:rPr lang="zh-CN" altLang="en-US" sz="3200" dirty="0">
                <a:latin typeface="仿宋" panose="02010609060101010101" pitchFamily="49" charset="-122"/>
                <a:ea typeface="仿宋" panose="02010609060101010101" pitchFamily="49" charset="-122"/>
              </a:rPr>
              <a:t>国际疾病与相关健康问题统计分类第十版</a:t>
            </a:r>
            <a:r>
              <a:rPr lang="en-US" altLang="zh-CN" sz="3200" dirty="0">
                <a:latin typeface="仿宋" panose="02010609060101010101" pitchFamily="49" charset="-122"/>
                <a:ea typeface="仿宋" panose="02010609060101010101" pitchFamily="49" charset="-122"/>
              </a:rPr>
              <a:t>(ICD-10)</a:t>
            </a:r>
          </a:p>
          <a:p>
            <a:pPr marL="457200" indent="-457200">
              <a:spcAft>
                <a:spcPts val="600"/>
              </a:spcAft>
              <a:buFont typeface="Arial" panose="020B0604020202020204" pitchFamily="34" charset="0"/>
              <a:buChar char="•"/>
            </a:pPr>
            <a:r>
              <a:rPr lang="zh-CN" altLang="en-US" sz="3200" b="1" dirty="0">
                <a:latin typeface="仿宋" panose="02010609060101010101" pitchFamily="49" charset="-122"/>
                <a:ea typeface="仿宋" panose="02010609060101010101" pitchFamily="49" charset="-122"/>
              </a:rPr>
              <a:t>临床症状：</a:t>
            </a:r>
            <a:endParaRPr lang="en-US" altLang="zh-CN" sz="3200" b="1" dirty="0">
              <a:latin typeface="仿宋" panose="02010609060101010101" pitchFamily="49" charset="-122"/>
              <a:ea typeface="仿宋" panose="02010609060101010101" pitchFamily="49" charset="-122"/>
            </a:endParaRPr>
          </a:p>
          <a:p>
            <a:pPr marL="1096963" lvl="1" indent="-457200">
              <a:spcAft>
                <a:spcPts val="600"/>
              </a:spcAft>
              <a:buFont typeface="Arial" panose="020B0604020202020204" pitchFamily="34" charset="0"/>
              <a:buChar char="•"/>
            </a:pPr>
            <a:r>
              <a:rPr lang="zh-CN" altLang="en-US" sz="3200" dirty="0">
                <a:latin typeface="仿宋" panose="02010609060101010101" pitchFamily="49" charset="-122"/>
                <a:ea typeface="仿宋" panose="02010609060101010101" pitchFamily="49" charset="-122"/>
              </a:rPr>
              <a:t>根据典型症状和其他常见症状进行诊断。</a:t>
            </a:r>
            <a:endParaRPr lang="en-US" altLang="zh-CN" sz="3200" dirty="0">
              <a:latin typeface="仿宋" panose="02010609060101010101" pitchFamily="49" charset="-122"/>
              <a:ea typeface="仿宋" panose="02010609060101010101" pitchFamily="49" charset="-122"/>
            </a:endParaRPr>
          </a:p>
          <a:p>
            <a:pPr marL="457200" indent="-457200">
              <a:spcAft>
                <a:spcPts val="600"/>
              </a:spcAft>
              <a:buFont typeface="Arial" panose="020B0604020202020204" pitchFamily="34" charset="0"/>
              <a:buChar char="•"/>
            </a:pPr>
            <a:r>
              <a:rPr lang="zh-CN" altLang="en-US" sz="3200" b="1" dirty="0">
                <a:latin typeface="仿宋" panose="02010609060101010101" pitchFamily="49" charset="-122"/>
                <a:ea typeface="仿宋" panose="02010609060101010101" pitchFamily="49" charset="-122"/>
              </a:rPr>
              <a:t>病程：</a:t>
            </a:r>
            <a:endParaRPr lang="en-US" altLang="zh-CN" sz="3200" b="1" dirty="0">
              <a:latin typeface="仿宋" panose="02010609060101010101" pitchFamily="49" charset="-122"/>
              <a:ea typeface="仿宋" panose="02010609060101010101" pitchFamily="49" charset="-122"/>
            </a:endParaRPr>
          </a:p>
          <a:p>
            <a:pPr marL="1096963" lvl="1" indent="-457200">
              <a:spcAft>
                <a:spcPts val="600"/>
              </a:spcAft>
              <a:buFont typeface="Arial" panose="020B0604020202020204" pitchFamily="34" charset="0"/>
              <a:buChar char="•"/>
            </a:pPr>
            <a:r>
              <a:rPr lang="zh-CN" altLang="en-US" sz="3200" dirty="0">
                <a:latin typeface="仿宋" panose="02010609060101010101" pitchFamily="49" charset="-122"/>
                <a:ea typeface="仿宋" panose="02010609060101010101" pitchFamily="49" charset="-122"/>
              </a:rPr>
              <a:t>抑郁发作的持续时间至少为</a:t>
            </a:r>
            <a:r>
              <a:rPr lang="zh-CN" altLang="en-US" sz="3200">
                <a:latin typeface="仿宋" panose="02010609060101010101" pitchFamily="49" charset="-122"/>
                <a:ea typeface="仿宋" panose="02010609060101010101" pitchFamily="49" charset="-122"/>
              </a:rPr>
              <a:t>两周。</a:t>
            </a:r>
            <a:endParaRPr lang="zh-CN" altLang="en-US" sz="32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799961602"/>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54596AF-F651-5E44-BDFA-CED9D8EBF56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0"/>
            <a:ext cx="12857957" cy="7232649"/>
          </a:xfrm>
          <a:prstGeom prst="rect">
            <a:avLst/>
          </a:prstGeom>
        </p:spPr>
      </p:pic>
      <p:sp>
        <p:nvSpPr>
          <p:cNvPr id="7" name="Freeform 11"/>
          <p:cNvSpPr>
            <a:spLocks/>
          </p:cNvSpPr>
          <p:nvPr/>
        </p:nvSpPr>
        <p:spPr bwMode="auto">
          <a:xfrm>
            <a:off x="6976149" y="449"/>
            <a:ext cx="5881809" cy="7232466"/>
          </a:xfrm>
          <a:custGeom>
            <a:avLst/>
            <a:gdLst>
              <a:gd name="T0" fmla="*/ 1998 w 4661"/>
              <a:gd name="T1" fmla="*/ 0 h 5613"/>
              <a:gd name="T2" fmla="*/ 4661 w 4661"/>
              <a:gd name="T3" fmla="*/ 0 h 5613"/>
              <a:gd name="T4" fmla="*/ 2660 w 4661"/>
              <a:gd name="T5" fmla="*/ 5613 h 5613"/>
              <a:gd name="T6" fmla="*/ 0 w 4661"/>
              <a:gd name="T7" fmla="*/ 5613 h 5613"/>
              <a:gd name="T8" fmla="*/ 1998 w 4661"/>
              <a:gd name="T9" fmla="*/ 0 h 5613"/>
            </a:gdLst>
            <a:ahLst/>
            <a:cxnLst>
              <a:cxn ang="0">
                <a:pos x="T0" y="T1"/>
              </a:cxn>
              <a:cxn ang="0">
                <a:pos x="T2" y="T3"/>
              </a:cxn>
              <a:cxn ang="0">
                <a:pos x="T4" y="T5"/>
              </a:cxn>
              <a:cxn ang="0">
                <a:pos x="T6" y="T7"/>
              </a:cxn>
              <a:cxn ang="0">
                <a:pos x="T8" y="T9"/>
              </a:cxn>
            </a:cxnLst>
            <a:rect l="0" t="0" r="r" b="b"/>
            <a:pathLst>
              <a:path w="4661" h="5613">
                <a:moveTo>
                  <a:pt x="1998" y="0"/>
                </a:moveTo>
                <a:lnTo>
                  <a:pt x="4661" y="0"/>
                </a:lnTo>
                <a:lnTo>
                  <a:pt x="2660" y="5613"/>
                </a:lnTo>
                <a:lnTo>
                  <a:pt x="0" y="5613"/>
                </a:lnTo>
                <a:lnTo>
                  <a:pt x="1998" y="0"/>
                </a:lnTo>
                <a:close/>
              </a:path>
            </a:pathLst>
          </a:custGeom>
          <a:solidFill>
            <a:srgbClr val="777FBE">
              <a:alpha val="67000"/>
            </a:srgbClr>
          </a:solidFill>
          <a:ln>
            <a:noFill/>
          </a:ln>
          <a:effectLst/>
        </p:spPr>
        <p:txBody>
          <a:bodyPr vert="horz" wrap="square" lIns="45311" tIns="22656" rIns="45311" bIns="22656" numCol="1" anchor="t" anchorCtr="0" compatLnSpc="1">
            <a:prstTxWarp prst="textNoShape">
              <a:avLst/>
            </a:prstTxWarp>
          </a:bodyPr>
          <a:lstStyle/>
          <a:p>
            <a:endParaRPr lang="zh-CN" altLang="en-US">
              <a:ea typeface="微软雅黑" panose="020B0503020204020204" pitchFamily="34" charset="-122"/>
            </a:endParaRPr>
          </a:p>
        </p:txBody>
      </p:sp>
      <p:sp>
        <p:nvSpPr>
          <p:cNvPr id="45" name="TextBox 44"/>
          <p:cNvSpPr txBox="1"/>
          <p:nvPr/>
        </p:nvSpPr>
        <p:spPr>
          <a:xfrm>
            <a:off x="8589615" y="2202484"/>
            <a:ext cx="3384376" cy="450737"/>
          </a:xfrm>
          <a:prstGeom prst="rect">
            <a:avLst/>
          </a:prstGeom>
          <a:noFill/>
        </p:spPr>
        <p:txBody>
          <a:bodyPr wrap="square" lIns="45311" tIns="22656" rIns="45311" bIns="22656" rtlCol="0">
            <a:spAutoFit/>
          </a:bodyPr>
          <a:lstStyle/>
          <a:p>
            <a:pPr algn="ctr">
              <a:lnSpc>
                <a:spcPct val="120000"/>
              </a:lnSpc>
            </a:pPr>
            <a:r>
              <a:rPr lang="zh-CN" altLang="en-US" sz="2400" dirty="0">
                <a:solidFill>
                  <a:schemeClr val="bg1"/>
                </a:solidFill>
                <a:latin typeface="Arial" panose="020B0604020202020204" pitchFamily="34" charset="0"/>
                <a:ea typeface="微软雅黑" panose="020B0503020204020204" pitchFamily="34" charset="-122"/>
                <a:sym typeface="Arial" panose="020B0604020202020204" pitchFamily="34" charset="0"/>
              </a:rPr>
              <a:t>病理机制</a:t>
            </a:r>
            <a:endParaRPr lang="en-US" altLang="zh-CN" sz="2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46" name="TextBox 45"/>
          <p:cNvSpPr txBox="1"/>
          <p:nvPr/>
        </p:nvSpPr>
        <p:spPr>
          <a:xfrm>
            <a:off x="8966090" y="1970794"/>
            <a:ext cx="2647861" cy="230420"/>
          </a:xfrm>
          <a:prstGeom prst="rect">
            <a:avLst/>
          </a:prstGeom>
          <a:noFill/>
        </p:spPr>
        <p:txBody>
          <a:bodyPr wrap="square" lIns="45311" tIns="22656" rIns="45311" bIns="22656" rtlCol="0">
            <a:spAutoFit/>
          </a:bodyPr>
          <a:lstStyle/>
          <a:p>
            <a:pPr algn="ctr">
              <a:tabLst>
                <a:tab pos="990501" algn="l"/>
              </a:tabLst>
            </a:pPr>
            <a:r>
              <a:rPr lang="en-US" altLang="zh-CN" sz="1200" dirty="0">
                <a:ln w="12700" cmpd="sng">
                  <a:noFill/>
                  <a:prstDash val="solid"/>
                </a:ln>
                <a:solidFill>
                  <a:schemeClr val="bg1"/>
                </a:solidFill>
                <a:latin typeface="Arial" panose="020B0604020202020204" pitchFamily="34" charset="0"/>
                <a:ea typeface="微软雅黑" panose="020B0503020204020204" pitchFamily="34" charset="-122"/>
                <a:cs typeface="Arial" panose="020B0604020202020204" pitchFamily="34" charset="0"/>
              </a:rPr>
              <a:t>Pathological mechanism</a:t>
            </a:r>
            <a:endParaRPr lang="en-SG" altLang="zh-CN" sz="1200" dirty="0">
              <a:ln w="12700" cmpd="sng">
                <a:noFill/>
                <a:prstDash val="solid"/>
              </a:ln>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70" name="TextBox 69"/>
          <p:cNvSpPr txBox="1"/>
          <p:nvPr/>
        </p:nvSpPr>
        <p:spPr>
          <a:xfrm>
            <a:off x="8589615" y="3601295"/>
            <a:ext cx="1611410" cy="2230840"/>
          </a:xfrm>
          <a:prstGeom prst="rect">
            <a:avLst/>
          </a:prstGeom>
          <a:noFill/>
        </p:spPr>
        <p:txBody>
          <a:bodyPr wrap="none" lIns="45311" tIns="22656" rIns="45311" bIns="22656" rtlCol="0">
            <a:spAutoFit/>
          </a:bodyPr>
          <a:lstStyle/>
          <a:p>
            <a:r>
              <a:rPr lang="en-US" altLang="zh-CN" sz="14199" spc="-149" dirty="0">
                <a:solidFill>
                  <a:schemeClr val="bg1"/>
                </a:solidFill>
                <a:latin typeface="Agency FB" panose="020B0503020202020204" pitchFamily="34" charset="0"/>
                <a:ea typeface="微软雅黑" panose="020B0503020204020204" pitchFamily="34" charset="-122"/>
                <a:cs typeface="Raavi" pitchFamily="34" charset="0"/>
              </a:rPr>
              <a:t>03</a:t>
            </a:r>
            <a:endParaRPr lang="zh-CN" altLang="en-US" sz="14199" spc="-149" dirty="0">
              <a:solidFill>
                <a:schemeClr val="bg1"/>
              </a:solidFill>
              <a:latin typeface="Agency FB" panose="020B0503020202020204" pitchFamily="34" charset="0"/>
              <a:ea typeface="微软雅黑" panose="020B0503020204020204" pitchFamily="34" charset="-122"/>
              <a:cs typeface="Raavi" pitchFamily="34" charset="0"/>
            </a:endParaRPr>
          </a:p>
        </p:txBody>
      </p:sp>
      <p:pic>
        <p:nvPicPr>
          <p:cNvPr id="9" name="图片 8">
            <a:extLst>
              <a:ext uri="{FF2B5EF4-FFF2-40B4-BE49-F238E27FC236}">
                <a16:creationId xmlns:a16="http://schemas.microsoft.com/office/drawing/2014/main" id="{FE9F1C73-AE82-42A0-964F-03FD8C24A12D}"/>
              </a:ext>
            </a:extLst>
          </p:cNvPr>
          <p:cNvPicPr>
            <a:picLocks noChangeAspect="1"/>
          </p:cNvPicPr>
          <p:nvPr/>
        </p:nvPicPr>
        <p:blipFill>
          <a:blip r:embed="rId4"/>
          <a:stretch>
            <a:fillRect/>
          </a:stretch>
        </p:blipFill>
        <p:spPr>
          <a:xfrm>
            <a:off x="11829975" y="6352629"/>
            <a:ext cx="702109" cy="702109"/>
          </a:xfrm>
          <a:prstGeom prst="rect">
            <a:avLst/>
          </a:prstGeom>
        </p:spPr>
      </p:pic>
    </p:spTree>
    <p:extLst>
      <p:ext uri="{BB962C8B-B14F-4D97-AF65-F5344CB8AC3E}">
        <p14:creationId xmlns:p14="http://schemas.microsoft.com/office/powerpoint/2010/main" val="2686131639"/>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ntent Placeholder 2">
            <a:extLst>
              <a:ext uri="{FF2B5EF4-FFF2-40B4-BE49-F238E27FC236}">
                <a16:creationId xmlns:a16="http://schemas.microsoft.com/office/drawing/2014/main" id="{189AD39D-AA7D-034A-8C37-E30763CD31D0}"/>
              </a:ext>
            </a:extLst>
          </p:cNvPr>
          <p:cNvSpPr txBox="1">
            <a:spLocks/>
          </p:cNvSpPr>
          <p:nvPr/>
        </p:nvSpPr>
        <p:spPr>
          <a:xfrm>
            <a:off x="1442863" y="334198"/>
            <a:ext cx="4698480" cy="604851"/>
          </a:xfrm>
          <a:prstGeom prst="rect">
            <a:avLst/>
          </a:prstGeom>
          <a:noFill/>
          <a:effectLst>
            <a:glow>
              <a:schemeClr val="accent1">
                <a:alpha val="40000"/>
              </a:schemeClr>
            </a:glow>
            <a:outerShdw blurRad="50800" dir="5400000" sx="1000" sy="1000" algn="ctr" rotWithShape="0">
              <a:srgbClr val="000000"/>
            </a:outerShdw>
            <a:reflection stA="95000" endPos="65000" dist="50800" dir="5400000" sy="-100000" algn="bl" rotWithShape="0"/>
          </a:effectLst>
        </p:spPr>
        <p:txBody>
          <a:bodyPr vert="horz" lIns="96435" tIns="48218" rIns="96435" bIns="48218"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3200" b="1" dirty="0">
                <a:solidFill>
                  <a:srgbClr val="777FBE"/>
                </a:solidFill>
                <a:latin typeface="Yuanti SC" panose="02010600040101010101" pitchFamily="2" charset="-122"/>
                <a:ea typeface="Yuanti SC" panose="02010600040101010101" pitchFamily="2" charset="-122"/>
                <a:cs typeface="+mn-ea"/>
                <a:sym typeface="+mn-lt"/>
              </a:rPr>
              <a:t>病理机制</a:t>
            </a:r>
            <a:endParaRPr lang="en-US" sz="3200" b="1" dirty="0">
              <a:solidFill>
                <a:srgbClr val="777FBE"/>
              </a:solidFill>
              <a:latin typeface="Yuanti SC" panose="02010600040101010101" pitchFamily="2" charset="-122"/>
              <a:ea typeface="Yuanti SC" panose="02010600040101010101" pitchFamily="2" charset="-122"/>
              <a:cs typeface="+mn-ea"/>
              <a:sym typeface="+mn-lt"/>
            </a:endParaRPr>
          </a:p>
        </p:txBody>
      </p:sp>
      <p:sp>
        <p:nvSpPr>
          <p:cNvPr id="26" name="矩形 25">
            <a:extLst>
              <a:ext uri="{FF2B5EF4-FFF2-40B4-BE49-F238E27FC236}">
                <a16:creationId xmlns:a16="http://schemas.microsoft.com/office/drawing/2014/main" id="{38D37B7D-BC62-B640-B528-483CBD8F274A}"/>
              </a:ext>
            </a:extLst>
          </p:cNvPr>
          <p:cNvSpPr/>
          <p:nvPr/>
        </p:nvSpPr>
        <p:spPr>
          <a:xfrm>
            <a:off x="6086" y="523320"/>
            <a:ext cx="1320123" cy="226606"/>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31" name="矩形 30">
            <a:extLst>
              <a:ext uri="{FF2B5EF4-FFF2-40B4-BE49-F238E27FC236}">
                <a16:creationId xmlns:a16="http://schemas.microsoft.com/office/drawing/2014/main" id="{B496626D-8EE0-984C-828E-E001C144D904}"/>
              </a:ext>
            </a:extLst>
          </p:cNvPr>
          <p:cNvSpPr/>
          <p:nvPr/>
        </p:nvSpPr>
        <p:spPr>
          <a:xfrm>
            <a:off x="3405039" y="520828"/>
            <a:ext cx="9438140" cy="229097"/>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2" name="文本框 1">
            <a:extLst>
              <a:ext uri="{FF2B5EF4-FFF2-40B4-BE49-F238E27FC236}">
                <a16:creationId xmlns:a16="http://schemas.microsoft.com/office/drawing/2014/main" id="{390C7C89-4FC9-4AB6-B2A9-B5155F341FD2}"/>
              </a:ext>
            </a:extLst>
          </p:cNvPr>
          <p:cNvSpPr txBox="1"/>
          <p:nvPr/>
        </p:nvSpPr>
        <p:spPr>
          <a:xfrm>
            <a:off x="-1" y="1275477"/>
            <a:ext cx="6012151" cy="4539704"/>
          </a:xfrm>
          <a:prstGeom prst="rect">
            <a:avLst/>
          </a:prstGeom>
          <a:noFill/>
        </p:spPr>
        <p:txBody>
          <a:bodyPr wrap="square" rtlCol="0">
            <a:spAutoFit/>
          </a:bodyPr>
          <a:lstStyle/>
          <a:p>
            <a:pPr marL="457200" indent="-457200">
              <a:spcAft>
                <a:spcPts val="600"/>
              </a:spcAft>
              <a:buFont typeface="Wingdings" panose="05000000000000000000" pitchFamily="2" charset="2"/>
              <a:buChar char="Ø"/>
            </a:pPr>
            <a:r>
              <a:rPr lang="zh-CN" altLang="en-US" sz="2400" b="1" dirty="0">
                <a:latin typeface="楷体" panose="02010609060101010101" pitchFamily="49" charset="-122"/>
                <a:ea typeface="楷体" panose="02010609060101010101" pitchFamily="49" charset="-122"/>
              </a:rPr>
              <a:t>神经递质</a:t>
            </a:r>
            <a:r>
              <a:rPr lang="zh-CN" altLang="en-US" sz="2400" b="1">
                <a:latin typeface="楷体" panose="02010609060101010101" pitchFamily="49" charset="-122"/>
                <a:ea typeface="楷体" panose="02010609060101010101" pitchFamily="49" charset="-122"/>
              </a:rPr>
              <a:t>失衡：</a:t>
            </a:r>
            <a:r>
              <a:rPr lang="zh-CN" altLang="en-US" sz="2400">
                <a:latin typeface="楷体" panose="02010609060101010101" pitchFamily="49" charset="-122"/>
                <a:ea typeface="楷体" panose="02010609060101010101" pitchFamily="49" charset="-122"/>
              </a:rPr>
              <a:t>抑郁症与大脑中某些神经递质的功能失调有关。</a:t>
            </a:r>
            <a:endParaRPr lang="en-US" altLang="zh-CN" sz="2400">
              <a:latin typeface="楷体" panose="02010609060101010101" pitchFamily="49" charset="-122"/>
              <a:ea typeface="楷体" panose="02010609060101010101" pitchFamily="49" charset="-122"/>
            </a:endParaRPr>
          </a:p>
          <a:p>
            <a:pPr marL="457200" indent="-457200">
              <a:spcAft>
                <a:spcPts val="600"/>
              </a:spcAft>
              <a:buFont typeface="Wingdings" panose="05000000000000000000" pitchFamily="2" charset="2"/>
              <a:buChar char="Ø"/>
            </a:pPr>
            <a:r>
              <a:rPr lang="zh-CN" altLang="en-US" sz="2400" b="1">
                <a:latin typeface="楷体" panose="02010609060101010101" pitchFamily="49" charset="-122"/>
                <a:ea typeface="楷体" panose="02010609060101010101" pitchFamily="49" charset="-122"/>
              </a:rPr>
              <a:t>神经塑性减弱：</a:t>
            </a:r>
            <a:r>
              <a:rPr lang="zh-CN" altLang="en-US" sz="2400">
                <a:latin typeface="楷体" panose="02010609060101010101" pitchFamily="49" charset="-122"/>
                <a:ea typeface="楷体" panose="02010609060101010101" pitchFamily="49" charset="-122"/>
              </a:rPr>
              <a:t>抑郁症患者的大脑某些区域的神经塑性降低。神经塑性是大脑调整其结构和功能以适应经验的能力。</a:t>
            </a:r>
            <a:endParaRPr lang="en-US" altLang="zh-CN" sz="2400">
              <a:latin typeface="楷体" panose="02010609060101010101" pitchFamily="49" charset="-122"/>
              <a:ea typeface="楷体" panose="02010609060101010101" pitchFamily="49" charset="-122"/>
            </a:endParaRPr>
          </a:p>
          <a:p>
            <a:pPr marL="457200" indent="-457200">
              <a:spcAft>
                <a:spcPts val="600"/>
              </a:spcAft>
              <a:buFont typeface="Wingdings" panose="05000000000000000000" pitchFamily="2" charset="2"/>
              <a:buChar char="Ø"/>
            </a:pPr>
            <a:r>
              <a:rPr lang="zh-CN" altLang="en-US" sz="2400" b="1">
                <a:latin typeface="楷体" panose="02010609060101010101" pitchFamily="49" charset="-122"/>
                <a:ea typeface="楷体" panose="02010609060101010101" pitchFamily="49" charset="-122"/>
              </a:rPr>
              <a:t>内分泌系统失调：</a:t>
            </a:r>
            <a:r>
              <a:rPr lang="zh-CN" altLang="en-US" sz="2400">
                <a:latin typeface="楷体" panose="02010609060101010101" pitchFamily="49" charset="-122"/>
                <a:ea typeface="楷体" panose="02010609060101010101" pitchFamily="49" charset="-122"/>
              </a:rPr>
              <a:t>抑郁症与体内的激素水平变化有关。</a:t>
            </a:r>
            <a:endParaRPr lang="en-US" altLang="zh-CN" sz="2400">
              <a:latin typeface="楷体" panose="02010609060101010101" pitchFamily="49" charset="-122"/>
              <a:ea typeface="楷体" panose="02010609060101010101" pitchFamily="49" charset="-122"/>
            </a:endParaRPr>
          </a:p>
          <a:p>
            <a:pPr marL="457200" indent="-457200">
              <a:spcAft>
                <a:spcPts val="600"/>
              </a:spcAft>
              <a:buFont typeface="Wingdings" panose="05000000000000000000" pitchFamily="2" charset="2"/>
              <a:buChar char="Ø"/>
            </a:pPr>
            <a:r>
              <a:rPr lang="zh-CN" altLang="en-US" sz="2400" b="1">
                <a:latin typeface="楷体" panose="02010609060101010101" pitchFamily="49" charset="-122"/>
                <a:ea typeface="楷体" panose="02010609060101010101" pitchFamily="49" charset="-122"/>
              </a:rPr>
              <a:t>炎症假说：</a:t>
            </a:r>
            <a:r>
              <a:rPr lang="zh-CN" altLang="en-US" sz="2400">
                <a:latin typeface="楷体" panose="02010609060101010101" pitchFamily="49" charset="-122"/>
                <a:ea typeface="楷体" panose="02010609060101010101" pitchFamily="49" charset="-122"/>
              </a:rPr>
              <a:t>近年来的研究发现，慢性炎症可能与抑郁症的发生有关。</a:t>
            </a:r>
            <a:endParaRPr lang="en-US" altLang="zh-CN" sz="2400">
              <a:latin typeface="楷体" panose="02010609060101010101" pitchFamily="49" charset="-122"/>
              <a:ea typeface="楷体" panose="02010609060101010101" pitchFamily="49" charset="-122"/>
            </a:endParaRPr>
          </a:p>
          <a:p>
            <a:pPr marL="457200" indent="-457200">
              <a:spcAft>
                <a:spcPts val="600"/>
              </a:spcAft>
              <a:buFont typeface="Wingdings" panose="05000000000000000000" pitchFamily="2" charset="2"/>
              <a:buChar char="Ø"/>
            </a:pPr>
            <a:r>
              <a:rPr lang="zh-CN" altLang="en-US" sz="2400" b="1">
                <a:latin typeface="楷体" panose="02010609060101010101" pitchFamily="49" charset="-122"/>
                <a:ea typeface="楷体" panose="02010609060101010101" pitchFamily="49" charset="-122"/>
              </a:rPr>
              <a:t>遗传因素</a:t>
            </a:r>
            <a:endParaRPr lang="en-US" altLang="zh-CN" sz="2400" b="1">
              <a:latin typeface="楷体" panose="02010609060101010101" pitchFamily="49" charset="-122"/>
              <a:ea typeface="楷体" panose="02010609060101010101" pitchFamily="49" charset="-122"/>
            </a:endParaRPr>
          </a:p>
          <a:p>
            <a:pPr marL="457200" indent="-457200">
              <a:spcAft>
                <a:spcPts val="600"/>
              </a:spcAft>
              <a:buFont typeface="Wingdings" panose="05000000000000000000" pitchFamily="2" charset="2"/>
              <a:buChar char="Ø"/>
            </a:pPr>
            <a:r>
              <a:rPr lang="zh-CN" altLang="en-US" sz="2400" b="1">
                <a:latin typeface="楷体" panose="02010609060101010101" pitchFamily="49" charset="-122"/>
                <a:ea typeface="楷体" panose="02010609060101010101" pitchFamily="49" charset="-122"/>
              </a:rPr>
              <a:t>环境与心理社会因素</a:t>
            </a:r>
            <a:endParaRPr lang="zh-CN" altLang="en-US" sz="2400" dirty="0">
              <a:latin typeface="楷体" panose="02010609060101010101" pitchFamily="49" charset="-122"/>
              <a:ea typeface="楷体" panose="02010609060101010101" pitchFamily="49" charset="-122"/>
            </a:endParaRPr>
          </a:p>
        </p:txBody>
      </p:sp>
      <p:pic>
        <p:nvPicPr>
          <p:cNvPr id="8" name="图片 7">
            <a:extLst>
              <a:ext uri="{FF2B5EF4-FFF2-40B4-BE49-F238E27FC236}">
                <a16:creationId xmlns:a16="http://schemas.microsoft.com/office/drawing/2014/main" id="{3423CFF4-BDD3-4CC2-A5DE-4F311FF98158}"/>
              </a:ext>
            </a:extLst>
          </p:cNvPr>
          <p:cNvPicPr>
            <a:picLocks noChangeAspect="1"/>
          </p:cNvPicPr>
          <p:nvPr/>
        </p:nvPicPr>
        <p:blipFill>
          <a:blip r:embed="rId3">
            <a:extLst>
              <a:ext uri="{28A0092B-C50C-407E-A947-70E740481C1C}">
                <a14:useLocalDpi xmlns:a14="http://schemas.microsoft.com/office/drawing/2010/main" val="0"/>
              </a:ext>
            </a:extLst>
          </a:blip>
          <a:srcRect l="8989" r="8989"/>
          <a:stretch/>
        </p:blipFill>
        <p:spPr>
          <a:xfrm>
            <a:off x="6743098" y="1096045"/>
            <a:ext cx="6012151" cy="5904656"/>
          </a:xfrm>
          <a:prstGeom prst="rect">
            <a:avLst/>
          </a:prstGeom>
        </p:spPr>
      </p:pic>
    </p:spTree>
    <p:extLst>
      <p:ext uri="{BB962C8B-B14F-4D97-AF65-F5344CB8AC3E}">
        <p14:creationId xmlns:p14="http://schemas.microsoft.com/office/powerpoint/2010/main" val="725294798"/>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rcRect l="6003" r="6003"/>
          <a:stretch/>
        </p:blipFill>
        <p:spPr>
          <a:xfrm>
            <a:off x="16561" y="-200099"/>
            <a:ext cx="12858748" cy="7617778"/>
          </a:xfrm>
          <a:prstGeom prst="rect">
            <a:avLst/>
          </a:prstGeom>
        </p:spPr>
      </p:pic>
      <p:sp>
        <p:nvSpPr>
          <p:cNvPr id="5" name="平行四边形 4">
            <a:extLst>
              <a:ext uri="{FF2B5EF4-FFF2-40B4-BE49-F238E27FC236}">
                <a16:creationId xmlns:a16="http://schemas.microsoft.com/office/drawing/2014/main" id="{31DE8C61-5A26-8743-969F-16ADEF2CB6E7}"/>
              </a:ext>
            </a:extLst>
          </p:cNvPr>
          <p:cNvSpPr/>
          <p:nvPr/>
        </p:nvSpPr>
        <p:spPr>
          <a:xfrm rot="4579791">
            <a:off x="-1776297" y="1995589"/>
            <a:ext cx="8957299" cy="3383658"/>
          </a:xfrm>
          <a:prstGeom prst="parallelogram">
            <a:avLst/>
          </a:prstGeom>
          <a:solidFill>
            <a:srgbClr val="777FBE">
              <a:alpha val="66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TextBox 44"/>
          <p:cNvSpPr txBox="1"/>
          <p:nvPr/>
        </p:nvSpPr>
        <p:spPr>
          <a:xfrm>
            <a:off x="596727" y="2373324"/>
            <a:ext cx="3816424" cy="518320"/>
          </a:xfrm>
          <a:prstGeom prst="rect">
            <a:avLst/>
          </a:prstGeom>
          <a:noFill/>
        </p:spPr>
        <p:txBody>
          <a:bodyPr wrap="square" lIns="45311" tIns="22656" rIns="45311" bIns="22656" rtlCol="0">
            <a:spAutoFit/>
          </a:bodyPr>
          <a:lstStyle/>
          <a:p>
            <a:pPr algn="ctr">
              <a:lnSpc>
                <a:spcPct val="120000"/>
              </a:lnSpc>
            </a:pPr>
            <a:r>
              <a:rPr lang="zh-CN" altLang="en-US" sz="2800" b="1" dirty="0">
                <a:solidFill>
                  <a:schemeClr val="bg1"/>
                </a:solidFill>
                <a:latin typeface="Arial" panose="020B0604020202020204" pitchFamily="34" charset="0"/>
                <a:ea typeface="微软雅黑" panose="020B0503020204020204" pitchFamily="34" charset="-122"/>
                <a:sym typeface="Arial" panose="020B0604020202020204" pitchFamily="34" charset="0"/>
              </a:rPr>
              <a:t>治疗方法</a:t>
            </a:r>
            <a:endParaRPr lang="en-US" altLang="zh-CN" sz="28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46" name="TextBox 45"/>
          <p:cNvSpPr txBox="1"/>
          <p:nvPr/>
        </p:nvSpPr>
        <p:spPr>
          <a:xfrm>
            <a:off x="885046" y="3006744"/>
            <a:ext cx="3312081" cy="230420"/>
          </a:xfrm>
          <a:prstGeom prst="rect">
            <a:avLst/>
          </a:prstGeom>
          <a:noFill/>
        </p:spPr>
        <p:txBody>
          <a:bodyPr wrap="square" lIns="45311" tIns="22656" rIns="45311" bIns="22656" rtlCol="0">
            <a:spAutoFit/>
          </a:bodyPr>
          <a:lstStyle/>
          <a:p>
            <a:pPr algn="ctr">
              <a:tabLst>
                <a:tab pos="990501" algn="l"/>
              </a:tabLst>
            </a:pPr>
            <a:r>
              <a:rPr lang="en-US" altLang="zh-CN" sz="1200" dirty="0">
                <a:ln w="12700" cmpd="sng">
                  <a:noFill/>
                  <a:prstDash val="solid"/>
                </a:ln>
                <a:solidFill>
                  <a:schemeClr val="bg1"/>
                </a:solidFill>
                <a:latin typeface="Arial" panose="020B0604020202020204" pitchFamily="34" charset="0"/>
                <a:ea typeface="微软雅黑" panose="020B0503020204020204" pitchFamily="34" charset="-122"/>
                <a:cs typeface="Arial" panose="020B0604020202020204" pitchFamily="34" charset="0"/>
              </a:rPr>
              <a:t>Therapeutic approach</a:t>
            </a:r>
            <a:endParaRPr lang="en-SG" altLang="zh-CN" sz="1200" dirty="0">
              <a:ln w="12700" cmpd="sng">
                <a:noFill/>
                <a:prstDash val="solid"/>
              </a:ln>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70" name="TextBox 69"/>
          <p:cNvSpPr txBox="1"/>
          <p:nvPr/>
        </p:nvSpPr>
        <p:spPr>
          <a:xfrm>
            <a:off x="1800927" y="3352264"/>
            <a:ext cx="1731636" cy="2230840"/>
          </a:xfrm>
          <a:prstGeom prst="rect">
            <a:avLst/>
          </a:prstGeom>
          <a:noFill/>
        </p:spPr>
        <p:txBody>
          <a:bodyPr wrap="none" lIns="45311" tIns="22656" rIns="45311" bIns="22656" rtlCol="0">
            <a:spAutoFit/>
          </a:bodyPr>
          <a:lstStyle/>
          <a:p>
            <a:r>
              <a:rPr lang="en-US" altLang="zh-CN" sz="14199" b="1" spc="-149" dirty="0">
                <a:solidFill>
                  <a:schemeClr val="bg1"/>
                </a:solidFill>
                <a:latin typeface="Agency FB" panose="020B0503020202020204" pitchFamily="34" charset="0"/>
                <a:ea typeface="微软雅黑" panose="020B0503020204020204" pitchFamily="34" charset="-122"/>
                <a:cs typeface="Raavi" pitchFamily="34" charset="0"/>
              </a:rPr>
              <a:t>04</a:t>
            </a:r>
            <a:endParaRPr lang="zh-CN" altLang="en-US" sz="14199" b="1" spc="-149" dirty="0">
              <a:solidFill>
                <a:schemeClr val="bg1"/>
              </a:solidFill>
              <a:latin typeface="Agency FB" panose="020B0503020202020204" pitchFamily="34" charset="0"/>
              <a:ea typeface="微软雅黑" panose="020B0503020204020204" pitchFamily="34" charset="-122"/>
              <a:cs typeface="Raavi" pitchFamily="34" charset="0"/>
            </a:endParaRPr>
          </a:p>
        </p:txBody>
      </p:sp>
      <p:pic>
        <p:nvPicPr>
          <p:cNvPr id="9" name="图片 8">
            <a:extLst>
              <a:ext uri="{FF2B5EF4-FFF2-40B4-BE49-F238E27FC236}">
                <a16:creationId xmlns:a16="http://schemas.microsoft.com/office/drawing/2014/main" id="{36E640DB-F059-41B3-96F6-17A3E8568D91}"/>
              </a:ext>
            </a:extLst>
          </p:cNvPr>
          <p:cNvPicPr>
            <a:picLocks noChangeAspect="1"/>
          </p:cNvPicPr>
          <p:nvPr/>
        </p:nvPicPr>
        <p:blipFill>
          <a:blip r:embed="rId4"/>
          <a:stretch>
            <a:fillRect/>
          </a:stretch>
        </p:blipFill>
        <p:spPr>
          <a:xfrm>
            <a:off x="11829975" y="6352629"/>
            <a:ext cx="702109" cy="702109"/>
          </a:xfrm>
          <a:prstGeom prst="rect">
            <a:avLst/>
          </a:prstGeom>
        </p:spPr>
      </p:pic>
    </p:spTree>
    <p:extLst>
      <p:ext uri="{BB962C8B-B14F-4D97-AF65-F5344CB8AC3E}">
        <p14:creationId xmlns:p14="http://schemas.microsoft.com/office/powerpoint/2010/main" val="222828486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组合 8"/>
          <p:cNvGrpSpPr/>
          <p:nvPr/>
        </p:nvGrpSpPr>
        <p:grpSpPr>
          <a:xfrm>
            <a:off x="4612903" y="3550643"/>
            <a:ext cx="1460469" cy="1460469"/>
            <a:chOff x="4373620" y="3366720"/>
            <a:chExt cx="1384817" cy="1384817"/>
          </a:xfrm>
        </p:grpSpPr>
        <p:sp>
          <p:nvSpPr>
            <p:cNvPr id="6" name="ïṧḷïḓê-Shape 171"/>
            <p:cNvSpPr/>
            <p:nvPr/>
          </p:nvSpPr>
          <p:spPr>
            <a:xfrm rot="18900000">
              <a:off x="4373620" y="3366720"/>
              <a:ext cx="1384817" cy="1384817"/>
            </a:xfrm>
            <a:prstGeom prst="rect">
              <a:avLst/>
            </a:prstGeom>
            <a:solidFill>
              <a:srgbClr val="E8DAFE"/>
            </a:solidFill>
            <a:ln w="12700">
              <a:miter lim="400000"/>
            </a:ln>
          </p:spPr>
          <p:txBody>
            <a:bodyPr lIns="0" tIns="0" rIns="0" bIns="0" anchor="ctr"/>
            <a:lstStyle/>
            <a:p>
              <a:endParaRPr>
                <a:cs typeface="+mn-ea"/>
                <a:sym typeface="+mn-lt"/>
              </a:endParaRPr>
            </a:p>
          </p:txBody>
        </p:sp>
        <p:sp>
          <p:nvSpPr>
            <p:cNvPr id="119" name="Shape 2550"/>
            <p:cNvSpPr/>
            <p:nvPr/>
          </p:nvSpPr>
          <p:spPr>
            <a:xfrm>
              <a:off x="4816840" y="3841164"/>
              <a:ext cx="474488" cy="474488"/>
            </a:xfrm>
            <a:custGeom>
              <a:avLst/>
              <a:gdLst/>
              <a:ahLst/>
              <a:cxnLst>
                <a:cxn ang="0">
                  <a:pos x="wd2" y="hd2"/>
                </a:cxn>
                <a:cxn ang="5400000">
                  <a:pos x="wd2" y="hd2"/>
                </a:cxn>
                <a:cxn ang="10800000">
                  <a:pos x="wd2" y="hd2"/>
                </a:cxn>
                <a:cxn ang="16200000">
                  <a:pos x="wd2" y="hd2"/>
                </a:cxn>
              </a:cxnLst>
              <a:rect l="0" t="0" r="r" b="b"/>
              <a:pathLst>
                <a:path w="21600" h="21600" extrusionOk="0">
                  <a:moveTo>
                    <a:pt x="21109" y="7364"/>
                  </a:moveTo>
                  <a:cubicBezTo>
                    <a:pt x="20838" y="7364"/>
                    <a:pt x="20618" y="7584"/>
                    <a:pt x="20618" y="7855"/>
                  </a:cubicBezTo>
                  <a:lnTo>
                    <a:pt x="20618" y="18655"/>
                  </a:lnTo>
                  <a:cubicBezTo>
                    <a:pt x="20618" y="19739"/>
                    <a:pt x="19739" y="20618"/>
                    <a:pt x="18655" y="20618"/>
                  </a:cubicBezTo>
                  <a:lnTo>
                    <a:pt x="2945" y="20618"/>
                  </a:lnTo>
                  <a:cubicBezTo>
                    <a:pt x="1861" y="20618"/>
                    <a:pt x="982" y="19739"/>
                    <a:pt x="982" y="18655"/>
                  </a:cubicBezTo>
                  <a:lnTo>
                    <a:pt x="982" y="2945"/>
                  </a:lnTo>
                  <a:cubicBezTo>
                    <a:pt x="982" y="1861"/>
                    <a:pt x="1861" y="982"/>
                    <a:pt x="2945" y="982"/>
                  </a:cubicBezTo>
                  <a:lnTo>
                    <a:pt x="13745" y="982"/>
                  </a:lnTo>
                  <a:cubicBezTo>
                    <a:pt x="14017" y="982"/>
                    <a:pt x="14236" y="762"/>
                    <a:pt x="14236" y="491"/>
                  </a:cubicBezTo>
                  <a:cubicBezTo>
                    <a:pt x="14236" y="220"/>
                    <a:pt x="14017" y="0"/>
                    <a:pt x="13745" y="0"/>
                  </a:cubicBezTo>
                  <a:lnTo>
                    <a:pt x="2945" y="0"/>
                  </a:lnTo>
                  <a:cubicBezTo>
                    <a:pt x="1318" y="0"/>
                    <a:pt x="0" y="1319"/>
                    <a:pt x="0" y="2945"/>
                  </a:cubicBezTo>
                  <a:lnTo>
                    <a:pt x="0" y="18655"/>
                  </a:lnTo>
                  <a:cubicBezTo>
                    <a:pt x="0" y="20282"/>
                    <a:pt x="1318" y="21600"/>
                    <a:pt x="2945" y="21600"/>
                  </a:cubicBezTo>
                  <a:lnTo>
                    <a:pt x="18655" y="21600"/>
                  </a:lnTo>
                  <a:cubicBezTo>
                    <a:pt x="20282" y="21600"/>
                    <a:pt x="21600" y="20282"/>
                    <a:pt x="21600" y="18655"/>
                  </a:cubicBezTo>
                  <a:lnTo>
                    <a:pt x="21600" y="7855"/>
                  </a:lnTo>
                  <a:cubicBezTo>
                    <a:pt x="21600" y="7584"/>
                    <a:pt x="21380" y="7364"/>
                    <a:pt x="21109" y="7364"/>
                  </a:cubicBezTo>
                  <a:moveTo>
                    <a:pt x="7006" y="12764"/>
                  </a:moveTo>
                  <a:lnTo>
                    <a:pt x="8836" y="12764"/>
                  </a:lnTo>
                  <a:lnTo>
                    <a:pt x="8836" y="14594"/>
                  </a:lnTo>
                  <a:lnTo>
                    <a:pt x="6627" y="14973"/>
                  </a:lnTo>
                  <a:cubicBezTo>
                    <a:pt x="6627" y="14973"/>
                    <a:pt x="7006" y="12764"/>
                    <a:pt x="7006" y="12764"/>
                  </a:cubicBezTo>
                  <a:close/>
                  <a:moveTo>
                    <a:pt x="16775" y="2742"/>
                  </a:moveTo>
                  <a:lnTo>
                    <a:pt x="18858" y="4825"/>
                  </a:lnTo>
                  <a:lnTo>
                    <a:pt x="9818" y="13865"/>
                  </a:lnTo>
                  <a:lnTo>
                    <a:pt x="9818" y="11782"/>
                  </a:lnTo>
                  <a:lnTo>
                    <a:pt x="7736" y="11782"/>
                  </a:lnTo>
                  <a:cubicBezTo>
                    <a:pt x="7736" y="11782"/>
                    <a:pt x="16775" y="2742"/>
                    <a:pt x="16775" y="2742"/>
                  </a:cubicBezTo>
                  <a:close/>
                  <a:moveTo>
                    <a:pt x="18104" y="1414"/>
                  </a:moveTo>
                  <a:cubicBezTo>
                    <a:pt x="18371" y="1147"/>
                    <a:pt x="18739" y="982"/>
                    <a:pt x="19145" y="982"/>
                  </a:cubicBezTo>
                  <a:cubicBezTo>
                    <a:pt x="19959" y="982"/>
                    <a:pt x="20618" y="1642"/>
                    <a:pt x="20618" y="2455"/>
                  </a:cubicBezTo>
                  <a:cubicBezTo>
                    <a:pt x="20618" y="2861"/>
                    <a:pt x="20453" y="3230"/>
                    <a:pt x="20187" y="3496"/>
                  </a:cubicBezTo>
                  <a:lnTo>
                    <a:pt x="19552" y="4131"/>
                  </a:lnTo>
                  <a:lnTo>
                    <a:pt x="17469" y="2048"/>
                  </a:lnTo>
                  <a:cubicBezTo>
                    <a:pt x="17469" y="2048"/>
                    <a:pt x="18104" y="1414"/>
                    <a:pt x="18104" y="1414"/>
                  </a:cubicBezTo>
                  <a:close/>
                  <a:moveTo>
                    <a:pt x="5400" y="16200"/>
                  </a:moveTo>
                  <a:lnTo>
                    <a:pt x="9590" y="15481"/>
                  </a:lnTo>
                  <a:lnTo>
                    <a:pt x="20881" y="4190"/>
                  </a:lnTo>
                  <a:cubicBezTo>
                    <a:pt x="21325" y="3746"/>
                    <a:pt x="21600" y="3133"/>
                    <a:pt x="21600" y="2455"/>
                  </a:cubicBezTo>
                  <a:cubicBezTo>
                    <a:pt x="21600" y="1099"/>
                    <a:pt x="20501" y="0"/>
                    <a:pt x="19145" y="0"/>
                  </a:cubicBezTo>
                  <a:cubicBezTo>
                    <a:pt x="18468" y="0"/>
                    <a:pt x="17854" y="275"/>
                    <a:pt x="17410" y="719"/>
                  </a:cubicBezTo>
                  <a:lnTo>
                    <a:pt x="6119" y="12010"/>
                  </a:lnTo>
                  <a:cubicBezTo>
                    <a:pt x="6119" y="12010"/>
                    <a:pt x="5400" y="16200"/>
                    <a:pt x="5400" y="16200"/>
                  </a:cubicBezTo>
                  <a:close/>
                </a:path>
              </a:pathLst>
            </a:custGeom>
            <a:solidFill>
              <a:schemeClr val="bg1"/>
            </a:solidFill>
            <a:ln w="12700">
              <a:miter lim="400000"/>
            </a:ln>
          </p:spPr>
          <p:txBody>
            <a:bodyPr lIns="20085" tIns="20085" rIns="20085" bIns="20085" anchor="ctr"/>
            <a:lstStyle/>
            <a:p>
              <a:pPr defTabSz="24101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82">
                <a:solidFill>
                  <a:srgbClr val="FFFFFF"/>
                </a:solidFill>
                <a:effectLst>
                  <a:outerShdw blurRad="38100" dist="12700" dir="5400000" rotWithShape="0">
                    <a:srgbClr val="000000">
                      <a:alpha val="50000"/>
                    </a:srgbClr>
                  </a:outerShdw>
                </a:effectLst>
                <a:cs typeface="+mn-ea"/>
                <a:sym typeface="+mn-lt"/>
              </a:endParaRPr>
            </a:p>
          </p:txBody>
        </p:sp>
      </p:grpSp>
      <p:grpSp>
        <p:nvGrpSpPr>
          <p:cNvPr id="8" name="组合 7"/>
          <p:cNvGrpSpPr/>
          <p:nvPr/>
        </p:nvGrpSpPr>
        <p:grpSpPr>
          <a:xfrm>
            <a:off x="5699141" y="4636881"/>
            <a:ext cx="1460469" cy="1460469"/>
            <a:chOff x="5403591" y="4396691"/>
            <a:chExt cx="1384817" cy="1384817"/>
          </a:xfrm>
        </p:grpSpPr>
        <p:sp>
          <p:nvSpPr>
            <p:cNvPr id="4" name="ïṧḷïḓê-Shape 169"/>
            <p:cNvSpPr/>
            <p:nvPr/>
          </p:nvSpPr>
          <p:spPr>
            <a:xfrm rot="18900000">
              <a:off x="5403591" y="4396691"/>
              <a:ext cx="1384817" cy="1384817"/>
            </a:xfrm>
            <a:prstGeom prst="rect">
              <a:avLst/>
            </a:prstGeom>
            <a:solidFill>
              <a:srgbClr val="ADACFB"/>
            </a:solidFill>
            <a:ln w="12700">
              <a:miter lim="400000"/>
            </a:ln>
          </p:spPr>
          <p:txBody>
            <a:bodyPr lIns="0" tIns="0" rIns="0" bIns="0" anchor="ctr"/>
            <a:lstStyle/>
            <a:p>
              <a:endParaRPr>
                <a:cs typeface="+mn-ea"/>
                <a:sym typeface="+mn-lt"/>
              </a:endParaRPr>
            </a:p>
          </p:txBody>
        </p:sp>
        <p:sp>
          <p:nvSpPr>
            <p:cNvPr id="120" name="Shape 2553"/>
            <p:cNvSpPr/>
            <p:nvPr/>
          </p:nvSpPr>
          <p:spPr>
            <a:xfrm>
              <a:off x="5909513" y="4924180"/>
              <a:ext cx="474487" cy="431353"/>
            </a:xfrm>
            <a:custGeom>
              <a:avLst/>
              <a:gdLst/>
              <a:ahLst/>
              <a:cxnLst>
                <a:cxn ang="0">
                  <a:pos x="wd2" y="hd2"/>
                </a:cxn>
                <a:cxn ang="5400000">
                  <a:pos x="wd2" y="hd2"/>
                </a:cxn>
                <a:cxn ang="10800000">
                  <a:pos x="wd2" y="hd2"/>
                </a:cxn>
                <a:cxn ang="16200000">
                  <a:pos x="wd2" y="hd2"/>
                </a:cxn>
              </a:cxnLst>
              <a:rect l="0" t="0" r="r" b="b"/>
              <a:pathLst>
                <a:path w="21600" h="21600" extrusionOk="0">
                  <a:moveTo>
                    <a:pt x="15709" y="8100"/>
                  </a:moveTo>
                  <a:cubicBezTo>
                    <a:pt x="14896" y="8100"/>
                    <a:pt x="14236" y="8826"/>
                    <a:pt x="14236" y="9720"/>
                  </a:cubicBezTo>
                  <a:cubicBezTo>
                    <a:pt x="14236" y="10615"/>
                    <a:pt x="14896" y="11340"/>
                    <a:pt x="15709" y="11340"/>
                  </a:cubicBezTo>
                  <a:cubicBezTo>
                    <a:pt x="16522" y="11340"/>
                    <a:pt x="17182" y="10615"/>
                    <a:pt x="17182" y="9720"/>
                  </a:cubicBezTo>
                  <a:cubicBezTo>
                    <a:pt x="17182" y="8826"/>
                    <a:pt x="16522" y="8100"/>
                    <a:pt x="15709" y="8100"/>
                  </a:cubicBezTo>
                  <a:moveTo>
                    <a:pt x="10800" y="18360"/>
                  </a:moveTo>
                  <a:cubicBezTo>
                    <a:pt x="9864" y="18360"/>
                    <a:pt x="8922" y="18237"/>
                    <a:pt x="7998" y="17995"/>
                  </a:cubicBezTo>
                  <a:cubicBezTo>
                    <a:pt x="7923" y="17975"/>
                    <a:pt x="7846" y="17965"/>
                    <a:pt x="7770" y="17965"/>
                  </a:cubicBezTo>
                  <a:cubicBezTo>
                    <a:pt x="7646" y="17965"/>
                    <a:pt x="7522" y="17991"/>
                    <a:pt x="7406" y="18043"/>
                  </a:cubicBezTo>
                  <a:lnTo>
                    <a:pt x="3352" y="19826"/>
                  </a:lnTo>
                  <a:lnTo>
                    <a:pt x="4013" y="16735"/>
                  </a:lnTo>
                  <a:cubicBezTo>
                    <a:pt x="4098" y="16339"/>
                    <a:pt x="3972" y="15924"/>
                    <a:pt x="3689" y="15662"/>
                  </a:cubicBezTo>
                  <a:cubicBezTo>
                    <a:pt x="1944" y="14045"/>
                    <a:pt x="982" y="11934"/>
                    <a:pt x="982" y="9720"/>
                  </a:cubicBezTo>
                  <a:cubicBezTo>
                    <a:pt x="982" y="4956"/>
                    <a:pt x="5387" y="1080"/>
                    <a:pt x="10800" y="1080"/>
                  </a:cubicBezTo>
                  <a:cubicBezTo>
                    <a:pt x="16214" y="1080"/>
                    <a:pt x="20618" y="4956"/>
                    <a:pt x="20618" y="9720"/>
                  </a:cubicBezTo>
                  <a:cubicBezTo>
                    <a:pt x="20618" y="14484"/>
                    <a:pt x="16214" y="18360"/>
                    <a:pt x="10800" y="18360"/>
                  </a:cubicBezTo>
                  <a:moveTo>
                    <a:pt x="10800" y="0"/>
                  </a:moveTo>
                  <a:cubicBezTo>
                    <a:pt x="4835" y="0"/>
                    <a:pt x="0" y="4352"/>
                    <a:pt x="0" y="9720"/>
                  </a:cubicBezTo>
                  <a:cubicBezTo>
                    <a:pt x="0" y="12353"/>
                    <a:pt x="1168" y="14738"/>
                    <a:pt x="3057" y="16488"/>
                  </a:cubicBezTo>
                  <a:lnTo>
                    <a:pt x="1964" y="21600"/>
                  </a:lnTo>
                  <a:lnTo>
                    <a:pt x="7770" y="19046"/>
                  </a:lnTo>
                  <a:cubicBezTo>
                    <a:pt x="8732" y="19298"/>
                    <a:pt x="9747" y="19440"/>
                    <a:pt x="10800" y="19440"/>
                  </a:cubicBezTo>
                  <a:cubicBezTo>
                    <a:pt x="16765" y="19440"/>
                    <a:pt x="21600" y="15089"/>
                    <a:pt x="21600" y="9720"/>
                  </a:cubicBezTo>
                  <a:cubicBezTo>
                    <a:pt x="21600" y="4352"/>
                    <a:pt x="16765" y="0"/>
                    <a:pt x="10800" y="0"/>
                  </a:cubicBezTo>
                  <a:moveTo>
                    <a:pt x="10800" y="8100"/>
                  </a:moveTo>
                  <a:cubicBezTo>
                    <a:pt x="9987" y="8100"/>
                    <a:pt x="9327" y="8826"/>
                    <a:pt x="9327" y="9720"/>
                  </a:cubicBezTo>
                  <a:cubicBezTo>
                    <a:pt x="9327" y="10615"/>
                    <a:pt x="9987" y="11340"/>
                    <a:pt x="10800" y="11340"/>
                  </a:cubicBezTo>
                  <a:cubicBezTo>
                    <a:pt x="11613" y="11340"/>
                    <a:pt x="12273" y="10615"/>
                    <a:pt x="12273" y="9720"/>
                  </a:cubicBezTo>
                  <a:cubicBezTo>
                    <a:pt x="12273" y="8826"/>
                    <a:pt x="11613" y="8100"/>
                    <a:pt x="10800" y="8100"/>
                  </a:cubicBezTo>
                  <a:moveTo>
                    <a:pt x="5891" y="8100"/>
                  </a:moveTo>
                  <a:cubicBezTo>
                    <a:pt x="5078" y="8100"/>
                    <a:pt x="4418" y="8826"/>
                    <a:pt x="4418" y="9720"/>
                  </a:cubicBezTo>
                  <a:cubicBezTo>
                    <a:pt x="4418" y="10615"/>
                    <a:pt x="5078" y="11340"/>
                    <a:pt x="5891" y="11340"/>
                  </a:cubicBezTo>
                  <a:cubicBezTo>
                    <a:pt x="6704" y="11340"/>
                    <a:pt x="7364" y="10615"/>
                    <a:pt x="7364" y="9720"/>
                  </a:cubicBezTo>
                  <a:cubicBezTo>
                    <a:pt x="7364" y="8826"/>
                    <a:pt x="6704" y="8100"/>
                    <a:pt x="5891" y="8100"/>
                  </a:cubicBezTo>
                </a:path>
              </a:pathLst>
            </a:custGeom>
            <a:solidFill>
              <a:schemeClr val="bg1"/>
            </a:solidFill>
            <a:ln w="12700">
              <a:miter lim="400000"/>
            </a:ln>
          </p:spPr>
          <p:txBody>
            <a:bodyPr lIns="20085" tIns="20085" rIns="20085" bIns="20085" anchor="ctr"/>
            <a:lstStyle/>
            <a:p>
              <a:pPr defTabSz="24101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82">
                <a:solidFill>
                  <a:srgbClr val="FFFFFF"/>
                </a:solidFill>
                <a:effectLst>
                  <a:outerShdw blurRad="38100" dist="12700" dir="5400000" rotWithShape="0">
                    <a:srgbClr val="000000">
                      <a:alpha val="50000"/>
                    </a:srgbClr>
                  </a:outerShdw>
                </a:effectLst>
                <a:cs typeface="+mn-ea"/>
                <a:sym typeface="+mn-lt"/>
              </a:endParaRPr>
            </a:p>
          </p:txBody>
        </p:sp>
      </p:grpSp>
      <p:grpSp>
        <p:nvGrpSpPr>
          <p:cNvPr id="2" name="组合 1"/>
          <p:cNvGrpSpPr/>
          <p:nvPr/>
        </p:nvGrpSpPr>
        <p:grpSpPr>
          <a:xfrm>
            <a:off x="5699141" y="2464405"/>
            <a:ext cx="1460469" cy="1460469"/>
            <a:chOff x="5403591" y="2336749"/>
            <a:chExt cx="1384817" cy="1384817"/>
          </a:xfrm>
        </p:grpSpPr>
        <p:sp>
          <p:nvSpPr>
            <p:cNvPr id="3" name="ïṧḷïḓê-Shape 168"/>
            <p:cNvSpPr/>
            <p:nvPr/>
          </p:nvSpPr>
          <p:spPr>
            <a:xfrm rot="18900000">
              <a:off x="5403591" y="2336749"/>
              <a:ext cx="1384817" cy="1384817"/>
            </a:xfrm>
            <a:prstGeom prst="rect">
              <a:avLst/>
            </a:prstGeom>
            <a:noFill/>
            <a:ln w="50800">
              <a:solidFill>
                <a:srgbClr val="777FBE"/>
              </a:solidFill>
              <a:miter lim="400000"/>
            </a:ln>
          </p:spPr>
          <p:txBody>
            <a:bodyPr lIns="0" tIns="0" rIns="0" bIns="0" anchor="ctr"/>
            <a:lstStyle/>
            <a:p>
              <a:endParaRPr>
                <a:cs typeface="+mn-ea"/>
                <a:sym typeface="+mn-lt"/>
              </a:endParaRPr>
            </a:p>
          </p:txBody>
        </p:sp>
        <p:sp>
          <p:nvSpPr>
            <p:cNvPr id="121" name="Shape 2587"/>
            <p:cNvSpPr/>
            <p:nvPr/>
          </p:nvSpPr>
          <p:spPr>
            <a:xfrm>
              <a:off x="5838158" y="2758004"/>
              <a:ext cx="474488" cy="474488"/>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rgbClr val="777FBE"/>
            </a:solidFill>
            <a:ln w="12700">
              <a:miter lim="400000"/>
            </a:ln>
          </p:spPr>
          <p:txBody>
            <a:bodyPr lIns="20085" tIns="20085" rIns="20085" bIns="20085" anchor="ctr"/>
            <a:lstStyle/>
            <a:p>
              <a:pPr defTabSz="24101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82">
                <a:solidFill>
                  <a:srgbClr val="FFFFFF"/>
                </a:solidFill>
                <a:effectLst>
                  <a:outerShdw blurRad="38100" dist="12700" dir="5400000" rotWithShape="0">
                    <a:srgbClr val="000000">
                      <a:alpha val="50000"/>
                    </a:srgbClr>
                  </a:outerShdw>
                </a:effectLst>
                <a:cs typeface="+mn-ea"/>
                <a:sym typeface="+mn-lt"/>
              </a:endParaRPr>
            </a:p>
          </p:txBody>
        </p:sp>
      </p:grpSp>
      <p:grpSp>
        <p:nvGrpSpPr>
          <p:cNvPr id="7" name="组合 6"/>
          <p:cNvGrpSpPr/>
          <p:nvPr/>
        </p:nvGrpSpPr>
        <p:grpSpPr>
          <a:xfrm>
            <a:off x="6785378" y="3550643"/>
            <a:ext cx="1460469" cy="1460469"/>
            <a:chOff x="6433562" y="3366720"/>
            <a:chExt cx="1384817" cy="1384817"/>
          </a:xfrm>
        </p:grpSpPr>
        <p:sp>
          <p:nvSpPr>
            <p:cNvPr id="5" name="ïṧḷïḓê-Shape 170"/>
            <p:cNvSpPr/>
            <p:nvPr/>
          </p:nvSpPr>
          <p:spPr>
            <a:xfrm rot="18900000">
              <a:off x="6433562" y="3366720"/>
              <a:ext cx="1384817" cy="1384817"/>
            </a:xfrm>
            <a:prstGeom prst="rect">
              <a:avLst/>
            </a:prstGeom>
            <a:solidFill>
              <a:srgbClr val="777FBE"/>
            </a:solidFill>
            <a:ln w="12700">
              <a:miter lim="400000"/>
            </a:ln>
          </p:spPr>
          <p:txBody>
            <a:bodyPr lIns="0" tIns="0" rIns="0" bIns="0" anchor="ctr"/>
            <a:lstStyle/>
            <a:p>
              <a:endParaRPr>
                <a:cs typeface="+mn-ea"/>
                <a:sym typeface="+mn-lt"/>
              </a:endParaRPr>
            </a:p>
          </p:txBody>
        </p:sp>
        <p:sp>
          <p:nvSpPr>
            <p:cNvPr id="122" name="Shape 2613"/>
            <p:cNvSpPr/>
            <p:nvPr/>
          </p:nvSpPr>
          <p:spPr>
            <a:xfrm>
              <a:off x="6939484" y="3850573"/>
              <a:ext cx="474488" cy="474488"/>
            </a:xfrm>
            <a:custGeom>
              <a:avLst/>
              <a:gdLst/>
              <a:ahLst/>
              <a:cxnLst>
                <a:cxn ang="0">
                  <a:pos x="wd2" y="hd2"/>
                </a:cxn>
                <a:cxn ang="5400000">
                  <a:pos x="wd2" y="hd2"/>
                </a:cxn>
                <a:cxn ang="10800000">
                  <a:pos x="wd2" y="hd2"/>
                </a:cxn>
                <a:cxn ang="16200000">
                  <a:pos x="wd2" y="hd2"/>
                </a:cxn>
              </a:cxnLst>
              <a:rect l="0" t="0" r="r" b="b"/>
              <a:pathLst>
                <a:path w="21600" h="21600" extrusionOk="0">
                  <a:moveTo>
                    <a:pt x="19636" y="1964"/>
                  </a:moveTo>
                  <a:lnTo>
                    <a:pt x="10800" y="1964"/>
                  </a:lnTo>
                  <a:cubicBezTo>
                    <a:pt x="8836" y="1964"/>
                    <a:pt x="8836" y="0"/>
                    <a:pt x="6873" y="0"/>
                  </a:cubicBezTo>
                  <a:lnTo>
                    <a:pt x="1964" y="0"/>
                  </a:lnTo>
                  <a:cubicBezTo>
                    <a:pt x="879" y="0"/>
                    <a:pt x="0" y="879"/>
                    <a:pt x="0" y="1964"/>
                  </a:cubicBezTo>
                  <a:lnTo>
                    <a:pt x="0" y="15709"/>
                  </a:lnTo>
                  <a:cubicBezTo>
                    <a:pt x="0" y="16794"/>
                    <a:pt x="879" y="17673"/>
                    <a:pt x="1964" y="17673"/>
                  </a:cubicBezTo>
                  <a:lnTo>
                    <a:pt x="6599" y="17673"/>
                  </a:lnTo>
                  <a:cubicBezTo>
                    <a:pt x="6257" y="17372"/>
                    <a:pt x="5941" y="17046"/>
                    <a:pt x="5656" y="16691"/>
                  </a:cubicBezTo>
                  <a:lnTo>
                    <a:pt x="1964" y="16691"/>
                  </a:lnTo>
                  <a:cubicBezTo>
                    <a:pt x="1422" y="16691"/>
                    <a:pt x="982" y="16252"/>
                    <a:pt x="982" y="15709"/>
                  </a:cubicBezTo>
                  <a:lnTo>
                    <a:pt x="982" y="5891"/>
                  </a:lnTo>
                  <a:lnTo>
                    <a:pt x="6599" y="5891"/>
                  </a:lnTo>
                  <a:cubicBezTo>
                    <a:pt x="7023" y="5517"/>
                    <a:pt x="7484" y="5185"/>
                    <a:pt x="7982" y="4909"/>
                  </a:cubicBezTo>
                  <a:lnTo>
                    <a:pt x="982" y="4909"/>
                  </a:lnTo>
                  <a:lnTo>
                    <a:pt x="982" y="1964"/>
                  </a:lnTo>
                  <a:cubicBezTo>
                    <a:pt x="982" y="1422"/>
                    <a:pt x="1422" y="982"/>
                    <a:pt x="1964" y="982"/>
                  </a:cubicBezTo>
                  <a:lnTo>
                    <a:pt x="6873" y="982"/>
                  </a:lnTo>
                  <a:cubicBezTo>
                    <a:pt x="8345" y="982"/>
                    <a:pt x="8345" y="2946"/>
                    <a:pt x="10800" y="2946"/>
                  </a:cubicBezTo>
                  <a:lnTo>
                    <a:pt x="19636" y="2946"/>
                  </a:lnTo>
                  <a:cubicBezTo>
                    <a:pt x="20178" y="2946"/>
                    <a:pt x="20618" y="3385"/>
                    <a:pt x="20618" y="3927"/>
                  </a:cubicBezTo>
                  <a:lnTo>
                    <a:pt x="20618" y="4909"/>
                  </a:lnTo>
                  <a:lnTo>
                    <a:pt x="15582" y="4909"/>
                  </a:lnTo>
                  <a:cubicBezTo>
                    <a:pt x="16080" y="5185"/>
                    <a:pt x="16541" y="5517"/>
                    <a:pt x="16965" y="5891"/>
                  </a:cubicBezTo>
                  <a:lnTo>
                    <a:pt x="20618" y="5891"/>
                  </a:lnTo>
                  <a:lnTo>
                    <a:pt x="20618" y="15709"/>
                  </a:lnTo>
                  <a:cubicBezTo>
                    <a:pt x="20618" y="16252"/>
                    <a:pt x="20178" y="16691"/>
                    <a:pt x="19636" y="16691"/>
                  </a:cubicBezTo>
                  <a:lnTo>
                    <a:pt x="18766" y="16691"/>
                  </a:lnTo>
                  <a:lnTo>
                    <a:pt x="19738" y="17663"/>
                  </a:lnTo>
                  <a:cubicBezTo>
                    <a:pt x="20774" y="17609"/>
                    <a:pt x="21600" y="16759"/>
                    <a:pt x="21600" y="15709"/>
                  </a:cubicBezTo>
                  <a:lnTo>
                    <a:pt x="21600" y="3927"/>
                  </a:lnTo>
                  <a:cubicBezTo>
                    <a:pt x="21600" y="2843"/>
                    <a:pt x="20721" y="1964"/>
                    <a:pt x="19636" y="1964"/>
                  </a:cubicBezTo>
                  <a:moveTo>
                    <a:pt x="11782" y="17673"/>
                  </a:moveTo>
                  <a:cubicBezTo>
                    <a:pt x="8529" y="17673"/>
                    <a:pt x="5891" y="15036"/>
                    <a:pt x="5891" y="11782"/>
                  </a:cubicBezTo>
                  <a:cubicBezTo>
                    <a:pt x="5891" y="8529"/>
                    <a:pt x="8529" y="5891"/>
                    <a:pt x="11782" y="5891"/>
                  </a:cubicBezTo>
                  <a:cubicBezTo>
                    <a:pt x="15035" y="5891"/>
                    <a:pt x="17673" y="8529"/>
                    <a:pt x="17673" y="11782"/>
                  </a:cubicBezTo>
                  <a:cubicBezTo>
                    <a:pt x="17673" y="15036"/>
                    <a:pt x="15035" y="17673"/>
                    <a:pt x="11782" y="17673"/>
                  </a:cubicBezTo>
                  <a:moveTo>
                    <a:pt x="16972" y="16278"/>
                  </a:moveTo>
                  <a:cubicBezTo>
                    <a:pt x="18018" y="15072"/>
                    <a:pt x="18655" y="13503"/>
                    <a:pt x="18655" y="11782"/>
                  </a:cubicBezTo>
                  <a:cubicBezTo>
                    <a:pt x="18655" y="7987"/>
                    <a:pt x="15578" y="4910"/>
                    <a:pt x="11782" y="4910"/>
                  </a:cubicBezTo>
                  <a:cubicBezTo>
                    <a:pt x="7986" y="4910"/>
                    <a:pt x="4909" y="7987"/>
                    <a:pt x="4909" y="11782"/>
                  </a:cubicBezTo>
                  <a:cubicBezTo>
                    <a:pt x="4909" y="15578"/>
                    <a:pt x="7986" y="18655"/>
                    <a:pt x="11782" y="18655"/>
                  </a:cubicBezTo>
                  <a:cubicBezTo>
                    <a:pt x="13503" y="18655"/>
                    <a:pt x="15072" y="18017"/>
                    <a:pt x="16278" y="16972"/>
                  </a:cubicBezTo>
                  <a:lnTo>
                    <a:pt x="16972" y="17666"/>
                  </a:lnTo>
                  <a:cubicBezTo>
                    <a:pt x="16969" y="17668"/>
                    <a:pt x="16967" y="17671"/>
                    <a:pt x="16965" y="17673"/>
                  </a:cubicBezTo>
                  <a:lnTo>
                    <a:pt x="16979" y="17673"/>
                  </a:lnTo>
                  <a:lnTo>
                    <a:pt x="20762" y="21457"/>
                  </a:lnTo>
                  <a:cubicBezTo>
                    <a:pt x="20851" y="21546"/>
                    <a:pt x="20974" y="21600"/>
                    <a:pt x="21109" y="21600"/>
                  </a:cubicBezTo>
                  <a:cubicBezTo>
                    <a:pt x="21380" y="21600"/>
                    <a:pt x="21600" y="21381"/>
                    <a:pt x="21600" y="21109"/>
                  </a:cubicBezTo>
                  <a:cubicBezTo>
                    <a:pt x="21600" y="20974"/>
                    <a:pt x="21545" y="20851"/>
                    <a:pt x="21456" y="20762"/>
                  </a:cubicBezTo>
                  <a:cubicBezTo>
                    <a:pt x="21456" y="20762"/>
                    <a:pt x="16972" y="16278"/>
                    <a:pt x="16972" y="16278"/>
                  </a:cubicBezTo>
                  <a:close/>
                </a:path>
              </a:pathLst>
            </a:custGeom>
            <a:solidFill>
              <a:schemeClr val="bg1"/>
            </a:solidFill>
            <a:ln w="12700">
              <a:miter lim="400000"/>
            </a:ln>
          </p:spPr>
          <p:txBody>
            <a:bodyPr lIns="20085" tIns="20085" rIns="20085" bIns="20085" anchor="ctr"/>
            <a:lstStyle/>
            <a:p>
              <a:pPr defTabSz="24101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82">
                <a:solidFill>
                  <a:srgbClr val="FFFFFF"/>
                </a:solidFill>
                <a:effectLst>
                  <a:outerShdw blurRad="38100" dist="12700" dir="5400000" rotWithShape="0">
                    <a:srgbClr val="000000">
                      <a:alpha val="50000"/>
                    </a:srgbClr>
                  </a:outerShdw>
                </a:effectLst>
                <a:cs typeface="+mn-ea"/>
                <a:sym typeface="+mn-lt"/>
              </a:endParaRPr>
            </a:p>
          </p:txBody>
        </p:sp>
      </p:grpSp>
      <p:grpSp>
        <p:nvGrpSpPr>
          <p:cNvPr id="11" name="组合 10"/>
          <p:cNvGrpSpPr/>
          <p:nvPr/>
        </p:nvGrpSpPr>
        <p:grpSpPr>
          <a:xfrm>
            <a:off x="7839614" y="1386121"/>
            <a:ext cx="5184577" cy="2393776"/>
            <a:chOff x="7796585" y="2116623"/>
            <a:chExt cx="4566161" cy="2269779"/>
          </a:xfrm>
        </p:grpSpPr>
        <p:sp>
          <p:nvSpPr>
            <p:cNvPr id="123" name="矩形 122"/>
            <p:cNvSpPr/>
            <p:nvPr/>
          </p:nvSpPr>
          <p:spPr>
            <a:xfrm>
              <a:off x="7860005" y="2616247"/>
              <a:ext cx="4502741" cy="1770155"/>
            </a:xfrm>
            <a:prstGeom prst="rect">
              <a:avLst/>
            </a:prstGeom>
          </p:spPr>
          <p:txBody>
            <a:bodyPr wrap="square">
              <a:spAutoFit/>
            </a:bodyPr>
            <a:lstStyle/>
            <a:p>
              <a:pPr>
                <a:lnSpc>
                  <a:spcPct val="150000"/>
                </a:lnSpc>
              </a:pPr>
              <a:r>
                <a:rPr lang="zh-CN" altLang="en-US" sz="2000" dirty="0">
                  <a:solidFill>
                    <a:schemeClr val="tx1">
                      <a:lumMod val="50000"/>
                      <a:lumOff val="50000"/>
                    </a:schemeClr>
                  </a:solidFill>
                  <a:latin typeface="+mn-ea"/>
                  <a:ea typeface="+mn-ea"/>
                  <a:cs typeface="+mn-ea"/>
                  <a:sym typeface="+mn-lt"/>
                </a:rPr>
                <a:t>包括认知行为疗法（</a:t>
              </a:r>
              <a:r>
                <a:rPr lang="en-US" altLang="zh-CN" sz="2000" dirty="0">
                  <a:solidFill>
                    <a:schemeClr val="tx1">
                      <a:lumMod val="50000"/>
                      <a:lumOff val="50000"/>
                    </a:schemeClr>
                  </a:solidFill>
                  <a:latin typeface="+mn-ea"/>
                  <a:ea typeface="+mn-ea"/>
                  <a:cs typeface="+mn-ea"/>
                  <a:sym typeface="+mn-lt"/>
                </a:rPr>
                <a:t>CBT</a:t>
              </a:r>
              <a:r>
                <a:rPr lang="zh-CN" altLang="en-US" sz="2000" dirty="0">
                  <a:solidFill>
                    <a:schemeClr val="tx1">
                      <a:lumMod val="50000"/>
                      <a:lumOff val="50000"/>
                    </a:schemeClr>
                  </a:solidFill>
                  <a:latin typeface="+mn-ea"/>
                  <a:ea typeface="+mn-ea"/>
                  <a:cs typeface="+mn-ea"/>
                  <a:sym typeface="+mn-lt"/>
                </a:rPr>
                <a:t>）、插曲疗法、心理动力治疗等。这些治疗方法可以帮助患者理解和处理负面的思维模式，改善情绪和行为。</a:t>
              </a:r>
            </a:p>
          </p:txBody>
        </p:sp>
        <p:sp>
          <p:nvSpPr>
            <p:cNvPr id="124" name="矩形 123"/>
            <p:cNvSpPr/>
            <p:nvPr/>
          </p:nvSpPr>
          <p:spPr>
            <a:xfrm>
              <a:off x="7796585" y="2116623"/>
              <a:ext cx="4395751" cy="477088"/>
            </a:xfrm>
            <a:prstGeom prst="rect">
              <a:avLst/>
            </a:prstGeom>
            <a:effectLst/>
          </p:spPr>
          <p:txBody>
            <a:bodyPr wrap="square">
              <a:spAutoFit/>
            </a:bodyPr>
            <a:lstStyle/>
            <a:p>
              <a:pPr defTabSz="964326" fontAlgn="auto">
                <a:lnSpc>
                  <a:spcPct val="150000"/>
                </a:lnSpc>
                <a:spcBef>
                  <a:spcPts val="0"/>
                </a:spcBef>
                <a:spcAft>
                  <a:spcPts val="0"/>
                </a:spcAft>
                <a:defRPr/>
              </a:pPr>
              <a:r>
                <a:rPr lang="zh-CN" altLang="en-US" sz="2109" b="1" kern="0" spc="316" dirty="0">
                  <a:solidFill>
                    <a:schemeClr val="tx1">
                      <a:lumMod val="75000"/>
                      <a:lumOff val="25000"/>
                    </a:schemeClr>
                  </a:solidFill>
                  <a:latin typeface="仿宋" panose="02010609060101010101" pitchFamily="49" charset="-122"/>
                  <a:ea typeface="仿宋" panose="02010609060101010101" pitchFamily="49" charset="-122"/>
                  <a:cs typeface="+mn-ea"/>
                  <a:sym typeface="+mn-lt"/>
                </a:rPr>
                <a:t>心理治疗</a:t>
              </a:r>
            </a:p>
          </p:txBody>
        </p:sp>
      </p:grpSp>
      <p:grpSp>
        <p:nvGrpSpPr>
          <p:cNvPr id="12" name="组合 11"/>
          <p:cNvGrpSpPr/>
          <p:nvPr/>
        </p:nvGrpSpPr>
        <p:grpSpPr>
          <a:xfrm>
            <a:off x="7819346" y="4932847"/>
            <a:ext cx="4712738" cy="1951539"/>
            <a:chOff x="7796585" y="4677327"/>
            <a:chExt cx="4086006" cy="1850449"/>
          </a:xfrm>
        </p:grpSpPr>
        <p:sp>
          <p:nvSpPr>
            <p:cNvPr id="125" name="矩形 124"/>
            <p:cNvSpPr/>
            <p:nvPr/>
          </p:nvSpPr>
          <p:spPr>
            <a:xfrm>
              <a:off x="7796585" y="5176951"/>
              <a:ext cx="4086006" cy="1350825"/>
            </a:xfrm>
            <a:prstGeom prst="rect">
              <a:avLst/>
            </a:prstGeom>
          </p:spPr>
          <p:txBody>
            <a:bodyPr wrap="square">
              <a:spAutoFit/>
            </a:bodyPr>
            <a:lstStyle/>
            <a:p>
              <a:pPr>
                <a:lnSpc>
                  <a:spcPct val="150000"/>
                </a:lnSpc>
              </a:pPr>
              <a:r>
                <a:rPr lang="zh-CN" altLang="en-US" sz="2000" dirty="0">
                  <a:solidFill>
                    <a:schemeClr val="tx1">
                      <a:lumMod val="50000"/>
                      <a:lumOff val="50000"/>
                    </a:schemeClr>
                  </a:solidFill>
                  <a:cs typeface="+mn-ea"/>
                  <a:sym typeface="+mn-lt"/>
                </a:rPr>
                <a:t>寻求家人、朋友或专业支持团体的支持可以帮助患者感到更受支持和理解，减轻抑郁症症状的压力。</a:t>
              </a:r>
            </a:p>
          </p:txBody>
        </p:sp>
        <p:sp>
          <p:nvSpPr>
            <p:cNvPr id="126" name="矩形 125"/>
            <p:cNvSpPr/>
            <p:nvPr/>
          </p:nvSpPr>
          <p:spPr>
            <a:xfrm>
              <a:off x="7796585" y="4677327"/>
              <a:ext cx="3898210" cy="477088"/>
            </a:xfrm>
            <a:prstGeom prst="rect">
              <a:avLst/>
            </a:prstGeom>
            <a:effectLst/>
          </p:spPr>
          <p:txBody>
            <a:bodyPr wrap="square">
              <a:spAutoFit/>
            </a:bodyPr>
            <a:lstStyle/>
            <a:p>
              <a:pPr defTabSz="964326" fontAlgn="auto">
                <a:lnSpc>
                  <a:spcPct val="150000"/>
                </a:lnSpc>
                <a:spcBef>
                  <a:spcPts val="0"/>
                </a:spcBef>
                <a:spcAft>
                  <a:spcPts val="0"/>
                </a:spcAft>
                <a:defRPr/>
              </a:pPr>
              <a:r>
                <a:rPr lang="zh-CN" altLang="en-US" sz="2109" b="1" kern="0" spc="316" dirty="0">
                  <a:solidFill>
                    <a:schemeClr val="tx1">
                      <a:lumMod val="75000"/>
                      <a:lumOff val="25000"/>
                    </a:schemeClr>
                  </a:solidFill>
                  <a:latin typeface="仿宋" panose="02010609060101010101" pitchFamily="49" charset="-122"/>
                  <a:ea typeface="仿宋" panose="02010609060101010101" pitchFamily="49" charset="-122"/>
                  <a:cs typeface="+mn-ea"/>
                  <a:sym typeface="+mn-lt"/>
                </a:rPr>
                <a:t>社会支持</a:t>
              </a:r>
            </a:p>
          </p:txBody>
        </p:sp>
      </p:grpSp>
      <p:grpSp>
        <p:nvGrpSpPr>
          <p:cNvPr id="10" name="组合 9"/>
          <p:cNvGrpSpPr/>
          <p:nvPr/>
        </p:nvGrpSpPr>
        <p:grpSpPr>
          <a:xfrm>
            <a:off x="46515" y="1528092"/>
            <a:ext cx="5350152" cy="1932112"/>
            <a:chOff x="43770" y="2116623"/>
            <a:chExt cx="5073015" cy="1832028"/>
          </a:xfrm>
        </p:grpSpPr>
        <p:sp>
          <p:nvSpPr>
            <p:cNvPr id="127" name="矩形 126"/>
            <p:cNvSpPr/>
            <p:nvPr/>
          </p:nvSpPr>
          <p:spPr>
            <a:xfrm>
              <a:off x="43771" y="2616247"/>
              <a:ext cx="4081856" cy="1332404"/>
            </a:xfrm>
            <a:prstGeom prst="rect">
              <a:avLst/>
            </a:prstGeom>
          </p:spPr>
          <p:txBody>
            <a:bodyPr wrap="square">
              <a:spAutoFit/>
            </a:bodyPr>
            <a:lstStyle/>
            <a:p>
              <a:pPr>
                <a:lnSpc>
                  <a:spcPct val="150000"/>
                </a:lnSpc>
              </a:pPr>
              <a:r>
                <a:rPr lang="zh-CN" altLang="en-US" sz="2000">
                  <a:solidFill>
                    <a:schemeClr val="tx1">
                      <a:lumMod val="50000"/>
                      <a:lumOff val="50000"/>
                    </a:schemeClr>
                  </a:solidFill>
                  <a:latin typeface="+mn-ea"/>
                  <a:ea typeface="+mn-ea"/>
                  <a:cs typeface="+mn-ea"/>
                  <a:sym typeface="+mn-lt"/>
                </a:rPr>
                <a:t>在医师的指导下选择抗抑郁药物，如</a:t>
              </a:r>
              <a:r>
                <a:rPr lang="en-US" altLang="zh-CN" sz="2000">
                  <a:solidFill>
                    <a:schemeClr val="tx1">
                      <a:lumMod val="50000"/>
                      <a:lumOff val="50000"/>
                    </a:schemeClr>
                  </a:solidFill>
                  <a:latin typeface="+mn-ea"/>
                  <a:ea typeface="+mn-ea"/>
                  <a:cs typeface="+mn-ea"/>
                  <a:sym typeface="+mn-lt"/>
                </a:rPr>
                <a:t>SSRI</a:t>
              </a:r>
              <a:r>
                <a:rPr lang="zh-CN" altLang="en-US" sz="2000">
                  <a:solidFill>
                    <a:schemeClr val="tx1">
                      <a:lumMod val="50000"/>
                      <a:lumOff val="50000"/>
                    </a:schemeClr>
                  </a:solidFill>
                  <a:latin typeface="+mn-ea"/>
                  <a:ea typeface="+mn-ea"/>
                  <a:cs typeface="+mn-ea"/>
                  <a:sym typeface="+mn-lt"/>
                </a:rPr>
                <a:t>和</a:t>
              </a:r>
              <a:r>
                <a:rPr lang="en-US" altLang="zh-CN" sz="2000">
                  <a:solidFill>
                    <a:schemeClr val="tx1">
                      <a:lumMod val="50000"/>
                      <a:lumOff val="50000"/>
                    </a:schemeClr>
                  </a:solidFill>
                  <a:latin typeface="+mn-ea"/>
                  <a:ea typeface="+mn-ea"/>
                  <a:cs typeface="+mn-ea"/>
                  <a:sym typeface="+mn-lt"/>
                </a:rPr>
                <a:t>SNRI</a:t>
              </a:r>
              <a:r>
                <a:rPr lang="zh-CN" altLang="en-US" sz="2000">
                  <a:solidFill>
                    <a:schemeClr val="tx1">
                      <a:lumMod val="50000"/>
                      <a:lumOff val="50000"/>
                    </a:schemeClr>
                  </a:solidFill>
                  <a:latin typeface="+mn-ea"/>
                  <a:ea typeface="+mn-ea"/>
                  <a:cs typeface="+mn-ea"/>
                  <a:sym typeface="+mn-lt"/>
                </a:rPr>
                <a:t>等。这些</a:t>
              </a:r>
              <a:r>
                <a:rPr lang="zh-CN" altLang="en-US" sz="2000" dirty="0">
                  <a:solidFill>
                    <a:schemeClr val="tx1">
                      <a:lumMod val="50000"/>
                      <a:lumOff val="50000"/>
                    </a:schemeClr>
                  </a:solidFill>
                  <a:latin typeface="+mn-ea"/>
                  <a:ea typeface="+mn-ea"/>
                  <a:cs typeface="+mn-ea"/>
                  <a:sym typeface="+mn-lt"/>
                </a:rPr>
                <a:t>药物可以调节大脑化学物质的水平，减轻抑郁</a:t>
              </a:r>
              <a:r>
                <a:rPr lang="zh-CN" altLang="en-US" sz="2000">
                  <a:solidFill>
                    <a:schemeClr val="tx1">
                      <a:lumMod val="50000"/>
                      <a:lumOff val="50000"/>
                    </a:schemeClr>
                  </a:solidFill>
                  <a:latin typeface="+mn-ea"/>
                  <a:ea typeface="+mn-ea"/>
                  <a:cs typeface="+mn-ea"/>
                  <a:sym typeface="+mn-lt"/>
                </a:rPr>
                <a:t>症状。</a:t>
              </a:r>
              <a:endParaRPr lang="en-US" altLang="zh-CN" sz="2000" dirty="0">
                <a:solidFill>
                  <a:schemeClr val="tx1">
                    <a:lumMod val="50000"/>
                    <a:lumOff val="50000"/>
                  </a:schemeClr>
                </a:solidFill>
                <a:latin typeface="+mn-ea"/>
                <a:ea typeface="+mn-ea"/>
                <a:cs typeface="+mn-ea"/>
                <a:sym typeface="+mn-lt"/>
              </a:endParaRPr>
            </a:p>
          </p:txBody>
        </p:sp>
        <p:sp>
          <p:nvSpPr>
            <p:cNvPr id="128" name="矩形 127"/>
            <p:cNvSpPr/>
            <p:nvPr/>
          </p:nvSpPr>
          <p:spPr>
            <a:xfrm>
              <a:off x="43770" y="2116623"/>
              <a:ext cx="5073015" cy="477088"/>
            </a:xfrm>
            <a:prstGeom prst="rect">
              <a:avLst/>
            </a:prstGeom>
            <a:effectLst/>
          </p:spPr>
          <p:txBody>
            <a:bodyPr wrap="square">
              <a:spAutoFit/>
            </a:bodyPr>
            <a:lstStyle/>
            <a:p>
              <a:pPr defTabSz="964326" fontAlgn="auto">
                <a:lnSpc>
                  <a:spcPct val="150000"/>
                </a:lnSpc>
                <a:spcBef>
                  <a:spcPts val="0"/>
                </a:spcBef>
                <a:spcAft>
                  <a:spcPts val="0"/>
                </a:spcAft>
                <a:defRPr/>
              </a:pPr>
              <a:r>
                <a:rPr lang="zh-CN" altLang="en-US" sz="2109" b="1" kern="0" spc="316" dirty="0">
                  <a:solidFill>
                    <a:schemeClr val="tx1">
                      <a:lumMod val="75000"/>
                      <a:lumOff val="25000"/>
                    </a:schemeClr>
                  </a:solidFill>
                  <a:latin typeface="仿宋" panose="02010609060101010101" pitchFamily="49" charset="-122"/>
                  <a:ea typeface="仿宋" panose="02010609060101010101" pitchFamily="49" charset="-122"/>
                  <a:cs typeface="+mn-ea"/>
                  <a:sym typeface="+mn-lt"/>
                </a:rPr>
                <a:t>药物治疗</a:t>
              </a:r>
            </a:p>
          </p:txBody>
        </p:sp>
      </p:grpSp>
      <p:grpSp>
        <p:nvGrpSpPr>
          <p:cNvPr id="13" name="组合 12"/>
          <p:cNvGrpSpPr/>
          <p:nvPr/>
        </p:nvGrpSpPr>
        <p:grpSpPr>
          <a:xfrm>
            <a:off x="-1" y="4977686"/>
            <a:ext cx="4773191" cy="1906692"/>
            <a:chOff x="-336" y="4719851"/>
            <a:chExt cx="4525941" cy="1807928"/>
          </a:xfrm>
        </p:grpSpPr>
        <p:sp>
          <p:nvSpPr>
            <p:cNvPr id="129" name="矩形 128"/>
            <p:cNvSpPr/>
            <p:nvPr/>
          </p:nvSpPr>
          <p:spPr>
            <a:xfrm>
              <a:off x="43771" y="5176951"/>
              <a:ext cx="4346467" cy="1350828"/>
            </a:xfrm>
            <a:prstGeom prst="rect">
              <a:avLst/>
            </a:prstGeom>
          </p:spPr>
          <p:txBody>
            <a:bodyPr wrap="square">
              <a:spAutoFit/>
            </a:bodyPr>
            <a:lstStyle/>
            <a:p>
              <a:pPr>
                <a:lnSpc>
                  <a:spcPct val="150000"/>
                </a:lnSpc>
              </a:pPr>
              <a:r>
                <a:rPr lang="zh-CN" altLang="en-US" sz="2000" dirty="0">
                  <a:solidFill>
                    <a:schemeClr val="tx1">
                      <a:lumMod val="50000"/>
                      <a:lumOff val="50000"/>
                    </a:schemeClr>
                  </a:solidFill>
                  <a:cs typeface="+mn-ea"/>
                  <a:sym typeface="+mn-lt"/>
                </a:rPr>
                <a:t>通过健康的生活方式来管理抑郁症症状，包括良好的饮食习惯、足够的睡眠、适度的运动、减少压力等。</a:t>
              </a:r>
            </a:p>
          </p:txBody>
        </p:sp>
        <p:sp>
          <p:nvSpPr>
            <p:cNvPr id="130" name="矩形 129"/>
            <p:cNvSpPr/>
            <p:nvPr/>
          </p:nvSpPr>
          <p:spPr>
            <a:xfrm>
              <a:off x="-336" y="4719851"/>
              <a:ext cx="4525941" cy="477088"/>
            </a:xfrm>
            <a:prstGeom prst="rect">
              <a:avLst/>
            </a:prstGeom>
            <a:effectLst/>
          </p:spPr>
          <p:txBody>
            <a:bodyPr wrap="square">
              <a:spAutoFit/>
            </a:bodyPr>
            <a:lstStyle/>
            <a:p>
              <a:pPr defTabSz="964326" fontAlgn="auto">
                <a:lnSpc>
                  <a:spcPct val="150000"/>
                </a:lnSpc>
                <a:spcBef>
                  <a:spcPts val="0"/>
                </a:spcBef>
                <a:spcAft>
                  <a:spcPts val="0"/>
                </a:spcAft>
                <a:defRPr/>
              </a:pPr>
              <a:r>
                <a:rPr lang="zh-CN" altLang="en-US" sz="2109" b="1" kern="0" spc="316" dirty="0">
                  <a:solidFill>
                    <a:schemeClr val="tx1">
                      <a:lumMod val="75000"/>
                      <a:lumOff val="25000"/>
                    </a:schemeClr>
                  </a:solidFill>
                  <a:latin typeface="仿宋" panose="02010609060101010101" pitchFamily="49" charset="-122"/>
                  <a:ea typeface="仿宋" panose="02010609060101010101" pitchFamily="49" charset="-122"/>
                  <a:cs typeface="+mn-ea"/>
                  <a:sym typeface="+mn-lt"/>
                </a:rPr>
                <a:t>健康生活方式</a:t>
              </a:r>
              <a:endParaRPr lang="en-US" altLang="zh-CN" sz="2109" b="1" kern="0" spc="316" dirty="0">
                <a:solidFill>
                  <a:schemeClr val="tx1">
                    <a:lumMod val="75000"/>
                    <a:lumOff val="25000"/>
                  </a:schemeClr>
                </a:solidFill>
                <a:latin typeface="仿宋" panose="02010609060101010101" pitchFamily="49" charset="-122"/>
                <a:ea typeface="仿宋" panose="02010609060101010101" pitchFamily="49" charset="-122"/>
                <a:cs typeface="+mn-ea"/>
                <a:sym typeface="+mn-lt"/>
              </a:endParaRPr>
            </a:p>
          </p:txBody>
        </p:sp>
      </p:grpSp>
      <p:sp>
        <p:nvSpPr>
          <p:cNvPr id="23" name="圆角矩形 22"/>
          <p:cNvSpPr/>
          <p:nvPr/>
        </p:nvSpPr>
        <p:spPr>
          <a:xfrm rot="2700000">
            <a:off x="808999" y="722990"/>
            <a:ext cx="622847" cy="622847"/>
          </a:xfrm>
          <a:prstGeom prst="roundRect">
            <a:avLst/>
          </a:prstGeom>
          <a:solidFill>
            <a:srgbClr val="777FBE"/>
          </a:solidFill>
          <a:ln>
            <a:no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AD91"/>
              </a:solidFill>
              <a:cs typeface="+mn-ea"/>
              <a:sym typeface="+mn-lt"/>
            </a:endParaRPr>
          </a:p>
        </p:txBody>
      </p:sp>
      <p:sp>
        <p:nvSpPr>
          <p:cNvPr id="24" name="圆角矩形 23"/>
          <p:cNvSpPr/>
          <p:nvPr/>
        </p:nvSpPr>
        <p:spPr>
          <a:xfrm rot="2700000">
            <a:off x="611428" y="733648"/>
            <a:ext cx="622847" cy="622847"/>
          </a:xfrm>
          <a:prstGeom prst="roundRect">
            <a:avLst/>
          </a:prstGeom>
          <a:solidFill>
            <a:schemeClr val="bg1"/>
          </a:solidFill>
          <a:ln>
            <a:noFill/>
          </a:ln>
          <a:effectLst>
            <a:outerShdw blurRad="1905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B9814"/>
              </a:solidFill>
              <a:cs typeface="+mn-ea"/>
              <a:sym typeface="+mn-lt"/>
            </a:endParaRPr>
          </a:p>
        </p:txBody>
      </p:sp>
      <p:sp>
        <p:nvSpPr>
          <p:cNvPr id="30" name="Content Placeholder 2">
            <a:extLst>
              <a:ext uri="{FF2B5EF4-FFF2-40B4-BE49-F238E27FC236}">
                <a16:creationId xmlns:a16="http://schemas.microsoft.com/office/drawing/2014/main" id="{4F603E19-6EB4-8847-A787-754765F566B7}"/>
              </a:ext>
            </a:extLst>
          </p:cNvPr>
          <p:cNvSpPr txBox="1">
            <a:spLocks/>
          </p:cNvSpPr>
          <p:nvPr/>
        </p:nvSpPr>
        <p:spPr>
          <a:xfrm>
            <a:off x="1588983" y="537117"/>
            <a:ext cx="4410448" cy="378111"/>
          </a:xfrm>
          <a:prstGeom prst="rect">
            <a:avLst/>
          </a:prstGeom>
          <a:noFill/>
          <a:effectLst>
            <a:glow rad="1333500">
              <a:schemeClr val="accent1">
                <a:alpha val="22000"/>
              </a:schemeClr>
            </a:glow>
            <a:reflection stA="64000" endPos="65000" dist="50800" dir="5400000" sy="-100000" algn="bl" rotWithShape="0"/>
          </a:effectLst>
        </p:spPr>
        <p:txBody>
          <a:bodyPr vert="horz" lIns="96435" tIns="48218" rIns="96435" bIns="48218"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3200" b="1" dirty="0">
                <a:solidFill>
                  <a:srgbClr val="777FBE"/>
                </a:solidFill>
                <a:effectLst>
                  <a:glow>
                    <a:schemeClr val="accent1">
                      <a:alpha val="40000"/>
                    </a:schemeClr>
                  </a:glow>
                  <a:outerShdw blurRad="50800" dist="38100" dir="2700000" algn="tl" rotWithShape="0">
                    <a:prstClr val="black">
                      <a:alpha val="40000"/>
                    </a:prstClr>
                  </a:outerShdw>
                  <a:reflection stA="43000" endPos="65000" dist="50800" dir="5400000" sy="-100000" algn="bl" rotWithShape="0"/>
                </a:effectLst>
                <a:latin typeface="Microsoft YaHei" panose="020B0503020204020204" pitchFamily="34" charset="-122"/>
                <a:ea typeface="Microsoft YaHei" panose="020B0503020204020204" pitchFamily="34" charset="-122"/>
                <a:cs typeface="Yuppy SC" panose="020F0603040207020204" pitchFamily="34" charset="-122"/>
                <a:sym typeface="+mn-lt"/>
              </a:rPr>
              <a:t>治疗方法</a:t>
            </a:r>
            <a:endParaRPr lang="en-US" sz="3200" b="1" dirty="0">
              <a:solidFill>
                <a:srgbClr val="777FBE"/>
              </a:solidFill>
              <a:effectLst>
                <a:glow>
                  <a:schemeClr val="accent1">
                    <a:alpha val="40000"/>
                  </a:schemeClr>
                </a:glow>
                <a:outerShdw blurRad="50800" dist="38100" dir="2700000" algn="tl" rotWithShape="0">
                  <a:prstClr val="black">
                    <a:alpha val="40000"/>
                  </a:prstClr>
                </a:outerShdw>
                <a:reflection stA="43000" endPos="65000" dist="50800" dir="5400000" sy="-100000" algn="bl" rotWithShape="0"/>
              </a:effectLst>
              <a:latin typeface="Microsoft YaHei" panose="020B0503020204020204" pitchFamily="34" charset="-122"/>
              <a:ea typeface="Microsoft YaHei" panose="020B0503020204020204" pitchFamily="34" charset="-122"/>
              <a:cs typeface="Yuppy SC" panose="020F0603040207020204" pitchFamily="34" charset="-122"/>
              <a:sym typeface="+mn-lt"/>
            </a:endParaRPr>
          </a:p>
        </p:txBody>
      </p:sp>
      <p:pic>
        <p:nvPicPr>
          <p:cNvPr id="31" name="图片 30">
            <a:extLst>
              <a:ext uri="{FF2B5EF4-FFF2-40B4-BE49-F238E27FC236}">
                <a16:creationId xmlns:a16="http://schemas.microsoft.com/office/drawing/2014/main" id="{2371D6BF-7640-4C28-BD3D-0CFB5B39EA15}"/>
              </a:ext>
            </a:extLst>
          </p:cNvPr>
          <p:cNvPicPr>
            <a:picLocks noChangeAspect="1"/>
          </p:cNvPicPr>
          <p:nvPr/>
        </p:nvPicPr>
        <p:blipFill>
          <a:blip r:embed="rId4"/>
          <a:stretch>
            <a:fillRect/>
          </a:stretch>
        </p:blipFill>
        <p:spPr>
          <a:xfrm>
            <a:off x="11829975" y="6352629"/>
            <a:ext cx="702109" cy="702109"/>
          </a:xfrm>
          <a:prstGeom prst="rect">
            <a:avLst/>
          </a:prstGeom>
        </p:spPr>
      </p:pic>
    </p:spTree>
    <p:custDataLst>
      <p:tags r:id="rId1"/>
    </p:custDataLst>
    <p:extLst>
      <p:ext uri="{BB962C8B-B14F-4D97-AF65-F5344CB8AC3E}">
        <p14:creationId xmlns:p14="http://schemas.microsoft.com/office/powerpoint/2010/main" val="4071380158"/>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ntent Placeholder 2">
            <a:extLst>
              <a:ext uri="{FF2B5EF4-FFF2-40B4-BE49-F238E27FC236}">
                <a16:creationId xmlns:a16="http://schemas.microsoft.com/office/drawing/2014/main" id="{189AD39D-AA7D-034A-8C37-E30763CD31D0}"/>
              </a:ext>
            </a:extLst>
          </p:cNvPr>
          <p:cNvSpPr txBox="1">
            <a:spLocks/>
          </p:cNvSpPr>
          <p:nvPr/>
        </p:nvSpPr>
        <p:spPr>
          <a:xfrm>
            <a:off x="1326209" y="344001"/>
            <a:ext cx="4698480" cy="604851"/>
          </a:xfrm>
          <a:prstGeom prst="rect">
            <a:avLst/>
          </a:prstGeom>
          <a:noFill/>
          <a:effectLst>
            <a:glow>
              <a:schemeClr val="accent1">
                <a:alpha val="40000"/>
              </a:schemeClr>
            </a:glow>
            <a:outerShdw blurRad="50800" dir="5400000" sx="1000" sy="1000" algn="ctr" rotWithShape="0">
              <a:srgbClr val="000000"/>
            </a:outerShdw>
            <a:reflection stA="95000" endPos="65000" dist="50800" dir="5400000" sy="-100000" algn="bl" rotWithShape="0"/>
          </a:effectLst>
        </p:spPr>
        <p:txBody>
          <a:bodyPr vert="horz" lIns="96435" tIns="48218" rIns="96435" bIns="48218"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3200" b="1" dirty="0">
                <a:solidFill>
                  <a:srgbClr val="777FBE"/>
                </a:solidFill>
                <a:latin typeface="Yuanti SC" panose="02010600040101010101" pitchFamily="2" charset="-122"/>
                <a:ea typeface="Yuanti SC" panose="02010600040101010101" pitchFamily="2" charset="-122"/>
                <a:cs typeface="+mn-ea"/>
                <a:sym typeface="+mn-lt"/>
              </a:rPr>
              <a:t>其他治疗方法</a:t>
            </a:r>
            <a:endParaRPr lang="en-US" sz="3200" b="1" dirty="0">
              <a:solidFill>
                <a:srgbClr val="777FBE"/>
              </a:solidFill>
              <a:latin typeface="Yuanti SC" panose="02010600040101010101" pitchFamily="2" charset="-122"/>
              <a:ea typeface="Yuanti SC" panose="02010600040101010101" pitchFamily="2" charset="-122"/>
              <a:cs typeface="+mn-ea"/>
              <a:sym typeface="+mn-lt"/>
            </a:endParaRPr>
          </a:p>
        </p:txBody>
      </p:sp>
      <p:sp>
        <p:nvSpPr>
          <p:cNvPr id="26" name="矩形 25">
            <a:extLst>
              <a:ext uri="{FF2B5EF4-FFF2-40B4-BE49-F238E27FC236}">
                <a16:creationId xmlns:a16="http://schemas.microsoft.com/office/drawing/2014/main" id="{38D37B7D-BC62-B640-B528-483CBD8F274A}"/>
              </a:ext>
            </a:extLst>
          </p:cNvPr>
          <p:cNvSpPr/>
          <p:nvPr/>
        </p:nvSpPr>
        <p:spPr>
          <a:xfrm>
            <a:off x="6086" y="523320"/>
            <a:ext cx="1320123" cy="226606"/>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31" name="矩形 30">
            <a:extLst>
              <a:ext uri="{FF2B5EF4-FFF2-40B4-BE49-F238E27FC236}">
                <a16:creationId xmlns:a16="http://schemas.microsoft.com/office/drawing/2014/main" id="{B496626D-8EE0-984C-828E-E001C144D904}"/>
              </a:ext>
            </a:extLst>
          </p:cNvPr>
          <p:cNvSpPr/>
          <p:nvPr/>
        </p:nvSpPr>
        <p:spPr>
          <a:xfrm>
            <a:off x="3981103" y="520828"/>
            <a:ext cx="8862076" cy="229097"/>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2" name="文本框 1">
            <a:extLst>
              <a:ext uri="{FF2B5EF4-FFF2-40B4-BE49-F238E27FC236}">
                <a16:creationId xmlns:a16="http://schemas.microsoft.com/office/drawing/2014/main" id="{C426A769-9ED2-43DD-8719-96AD68FCC31D}"/>
              </a:ext>
            </a:extLst>
          </p:cNvPr>
          <p:cNvSpPr txBox="1"/>
          <p:nvPr/>
        </p:nvSpPr>
        <p:spPr>
          <a:xfrm>
            <a:off x="1120058" y="1096045"/>
            <a:ext cx="5165301" cy="1723549"/>
          </a:xfrm>
          <a:prstGeom prst="rect">
            <a:avLst/>
          </a:prstGeom>
          <a:noFill/>
        </p:spPr>
        <p:txBody>
          <a:bodyPr wrap="square" rtlCol="0">
            <a:spAutoFit/>
          </a:bodyPr>
          <a:lstStyle/>
          <a:p>
            <a:pPr>
              <a:spcAft>
                <a:spcPts val="1200"/>
              </a:spcAft>
            </a:pPr>
            <a:r>
              <a:rPr lang="zh-CN" altLang="en-US" sz="2400" b="1" dirty="0">
                <a:latin typeface="仿宋" panose="02010609060101010101" pitchFamily="49" charset="-122"/>
                <a:ea typeface="仿宋" panose="02010609060101010101" pitchFamily="49" charset="-122"/>
              </a:rPr>
              <a:t>电击疗法（</a:t>
            </a:r>
            <a:r>
              <a:rPr lang="en-US" altLang="zh-CN" sz="2400" b="1" dirty="0">
                <a:latin typeface="仿宋" panose="02010609060101010101" pitchFamily="49" charset="-122"/>
                <a:ea typeface="仿宋" panose="02010609060101010101" pitchFamily="49" charset="-122"/>
              </a:rPr>
              <a:t>ETC</a:t>
            </a:r>
            <a:r>
              <a:rPr lang="zh-CN" altLang="en-US" sz="2400" b="1" dirty="0">
                <a:latin typeface="仿宋" panose="02010609060101010101" pitchFamily="49" charset="-122"/>
                <a:ea typeface="仿宋" panose="02010609060101010101" pitchFamily="49" charset="-122"/>
              </a:rPr>
              <a:t>）</a:t>
            </a:r>
            <a:r>
              <a:rPr lang="en-US" altLang="zh-CN" sz="2400" b="1" dirty="0">
                <a:latin typeface="仿宋" panose="02010609060101010101" pitchFamily="49" charset="-122"/>
                <a:ea typeface="仿宋" panose="02010609060101010101" pitchFamily="49" charset="-122"/>
              </a:rPr>
              <a:t>:</a:t>
            </a:r>
            <a:endParaRPr lang="en-US" altLang="zh-CN" sz="2400" dirty="0">
              <a:latin typeface="仿宋" panose="02010609060101010101" pitchFamily="49" charset="-122"/>
              <a:ea typeface="仿宋" panose="02010609060101010101" pitchFamily="49" charset="-122"/>
            </a:endParaRPr>
          </a:p>
          <a:p>
            <a:pPr marL="342900" indent="-342900">
              <a:spcAft>
                <a:spcPts val="600"/>
              </a:spcAft>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又称电休克</a:t>
            </a:r>
            <a:r>
              <a:rPr lang="zh-CN" altLang="en-US" sz="2400">
                <a:latin typeface="仿宋" panose="02010609060101010101" pitchFamily="49" charset="-122"/>
                <a:ea typeface="仿宋" panose="02010609060101010101" pitchFamily="49" charset="-122"/>
              </a:rPr>
              <a:t>疗法，通过</a:t>
            </a:r>
            <a:r>
              <a:rPr lang="zh-CN" altLang="en-US" sz="2400" dirty="0">
                <a:latin typeface="仿宋" panose="02010609060101010101" pitchFamily="49" charset="-122"/>
                <a:ea typeface="仿宋" panose="02010609060101010101" pitchFamily="49" charset="-122"/>
              </a:rPr>
              <a:t>向患者的大脑传递电流，引发短暂的癫痫发作，改变大脑化学物质</a:t>
            </a:r>
            <a:r>
              <a:rPr lang="zh-CN" altLang="en-US" sz="2400">
                <a:latin typeface="仿宋" panose="02010609060101010101" pitchFamily="49" charset="-122"/>
                <a:ea typeface="仿宋" panose="02010609060101010101" pitchFamily="49" charset="-122"/>
              </a:rPr>
              <a:t>的活动。</a:t>
            </a:r>
            <a:endParaRPr lang="en-US" altLang="zh-CN" sz="2400" dirty="0">
              <a:latin typeface="仿宋" panose="02010609060101010101" pitchFamily="49" charset="-122"/>
              <a:ea typeface="仿宋" panose="02010609060101010101" pitchFamily="49" charset="-122"/>
            </a:endParaRPr>
          </a:p>
        </p:txBody>
      </p:sp>
      <p:sp>
        <p:nvSpPr>
          <p:cNvPr id="9" name="文本框 8">
            <a:extLst>
              <a:ext uri="{FF2B5EF4-FFF2-40B4-BE49-F238E27FC236}">
                <a16:creationId xmlns:a16="http://schemas.microsoft.com/office/drawing/2014/main" id="{94906F82-0BB9-4F7A-B0B5-922446E6F7C3}"/>
              </a:ext>
            </a:extLst>
          </p:cNvPr>
          <p:cNvSpPr txBox="1"/>
          <p:nvPr/>
        </p:nvSpPr>
        <p:spPr>
          <a:xfrm>
            <a:off x="7077447" y="3832349"/>
            <a:ext cx="5165301" cy="2462213"/>
          </a:xfrm>
          <a:prstGeom prst="rect">
            <a:avLst/>
          </a:prstGeom>
          <a:noFill/>
        </p:spPr>
        <p:txBody>
          <a:bodyPr wrap="square" rtlCol="0">
            <a:spAutoFit/>
          </a:bodyPr>
          <a:lstStyle/>
          <a:p>
            <a:pPr>
              <a:spcAft>
                <a:spcPts val="1200"/>
              </a:spcAft>
            </a:pPr>
            <a:r>
              <a:rPr lang="zh-CN" altLang="en-US" sz="2400" b="1" dirty="0">
                <a:latin typeface="仿宋" panose="02010609060101010101" pitchFamily="49" charset="-122"/>
                <a:ea typeface="仿宋" panose="02010609060101010101" pitchFamily="49" charset="-122"/>
              </a:rPr>
              <a:t>跳动磁场刺激（</a:t>
            </a:r>
            <a:r>
              <a:rPr lang="en-US" altLang="zh-CN" sz="2400" b="1" dirty="0">
                <a:latin typeface="仿宋" panose="02010609060101010101" pitchFamily="49" charset="-122"/>
                <a:ea typeface="仿宋" panose="02010609060101010101" pitchFamily="49" charset="-122"/>
              </a:rPr>
              <a:t>TMS</a:t>
            </a:r>
            <a:r>
              <a:rPr lang="zh-CN" altLang="en-US" sz="2400" b="1" dirty="0">
                <a:latin typeface="仿宋" panose="02010609060101010101" pitchFamily="49" charset="-122"/>
                <a:ea typeface="仿宋" panose="02010609060101010101" pitchFamily="49" charset="-122"/>
              </a:rPr>
              <a:t>）</a:t>
            </a:r>
            <a:r>
              <a:rPr lang="en-US" altLang="zh-CN" sz="2400" b="1" dirty="0">
                <a:latin typeface="仿宋" panose="02010609060101010101" pitchFamily="49" charset="-122"/>
                <a:ea typeface="仿宋" panose="02010609060101010101" pitchFamily="49" charset="-122"/>
              </a:rPr>
              <a:t>:</a:t>
            </a:r>
            <a:endParaRPr lang="en-US" altLang="zh-CN" sz="2400" dirty="0">
              <a:latin typeface="仿宋" panose="02010609060101010101" pitchFamily="49" charset="-122"/>
              <a:ea typeface="仿宋" panose="02010609060101010101" pitchFamily="49" charset="-122"/>
            </a:endParaRPr>
          </a:p>
          <a:p>
            <a:pPr marL="342900" indent="-342900">
              <a:spcAft>
                <a:spcPts val="600"/>
              </a:spcAft>
              <a:buFont typeface="Arial" panose="020B0604020202020204" pitchFamily="34" charset="0"/>
              <a:buChar char="•"/>
            </a:pPr>
            <a:r>
              <a:rPr lang="zh-CN" altLang="en-US" sz="2400">
                <a:latin typeface="仿宋" panose="02010609060101010101" pitchFamily="49" charset="-122"/>
                <a:ea typeface="仿宋" panose="02010609060101010101" pitchFamily="49" charset="-122"/>
              </a:rPr>
              <a:t>一种非</a:t>
            </a:r>
            <a:r>
              <a:rPr lang="zh-CN" altLang="en-US" sz="2400" dirty="0">
                <a:latin typeface="仿宋" panose="02010609060101010101" pitchFamily="49" charset="-122"/>
                <a:ea typeface="仿宋" panose="02010609060101010101" pitchFamily="49" charset="-122"/>
              </a:rPr>
              <a:t>侵入性的神经调节</a:t>
            </a:r>
            <a:r>
              <a:rPr lang="zh-CN" altLang="en-US" sz="2400">
                <a:latin typeface="仿宋" panose="02010609060101010101" pitchFamily="49" charset="-122"/>
                <a:ea typeface="仿宋" panose="02010609060101010101" pitchFamily="49" charset="-122"/>
              </a:rPr>
              <a:t>技术。通过在</a:t>
            </a:r>
            <a:r>
              <a:rPr lang="zh-CN" altLang="en-US" sz="2400" dirty="0">
                <a:latin typeface="仿宋" panose="02010609060101010101" pitchFamily="49" charset="-122"/>
                <a:ea typeface="仿宋" panose="02010609060101010101" pitchFamily="49" charset="-122"/>
              </a:rPr>
              <a:t>头部施加可调节的脉冲磁场，以激活大脑中特定区域的神经元，从而调节神经递质的释放和神经网络</a:t>
            </a:r>
            <a:r>
              <a:rPr lang="zh-CN" altLang="en-US" sz="2400">
                <a:latin typeface="仿宋" panose="02010609060101010101" pitchFamily="49" charset="-122"/>
                <a:ea typeface="仿宋" panose="02010609060101010101" pitchFamily="49" charset="-122"/>
              </a:rPr>
              <a:t>的活动</a:t>
            </a:r>
            <a:r>
              <a:rPr lang="zh-CN" altLang="en-US" sz="2000">
                <a:latin typeface="仿宋" panose="02010609060101010101" pitchFamily="49" charset="-122"/>
                <a:ea typeface="仿宋" panose="02010609060101010101" pitchFamily="49" charset="-122"/>
              </a:rPr>
              <a:t>。</a:t>
            </a:r>
            <a:endParaRPr lang="en-US" altLang="zh-CN" sz="2000" dirty="0">
              <a:latin typeface="仿宋" panose="02010609060101010101" pitchFamily="49" charset="-122"/>
              <a:ea typeface="仿宋" panose="02010609060101010101" pitchFamily="49" charset="-122"/>
            </a:endParaRPr>
          </a:p>
        </p:txBody>
      </p:sp>
      <p:pic>
        <p:nvPicPr>
          <p:cNvPr id="4" name="图片 3">
            <a:extLst>
              <a:ext uri="{FF2B5EF4-FFF2-40B4-BE49-F238E27FC236}">
                <a16:creationId xmlns:a16="http://schemas.microsoft.com/office/drawing/2014/main" id="{36B59348-7FDA-4BC7-9BB8-8843F852DB0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97043" y="3881423"/>
            <a:ext cx="5070741" cy="3256365"/>
          </a:xfrm>
          <a:prstGeom prst="rect">
            <a:avLst/>
          </a:prstGeom>
        </p:spPr>
      </p:pic>
      <p:pic>
        <p:nvPicPr>
          <p:cNvPr id="6" name="图片 5">
            <a:extLst>
              <a:ext uri="{FF2B5EF4-FFF2-40B4-BE49-F238E27FC236}">
                <a16:creationId xmlns:a16="http://schemas.microsoft.com/office/drawing/2014/main" id="{4E626A17-C703-402A-8B6A-95DC4E2EE9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49455" y="840935"/>
            <a:ext cx="4452308" cy="3003824"/>
          </a:xfrm>
          <a:prstGeom prst="rect">
            <a:avLst/>
          </a:prstGeom>
        </p:spPr>
      </p:pic>
    </p:spTree>
    <p:extLst>
      <p:ext uri="{BB962C8B-B14F-4D97-AF65-F5344CB8AC3E}">
        <p14:creationId xmlns:p14="http://schemas.microsoft.com/office/powerpoint/2010/main" val="1169092263"/>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anim calcmode="lin" valueType="num">
                                      <p:cBhvr>
                                        <p:cTn id="13" dur="500" fill="hold"/>
                                        <p:tgtEl>
                                          <p:spTgt spid="9"/>
                                        </p:tgtEl>
                                        <p:attrNameLst>
                                          <p:attrName>ppt_x</p:attrName>
                                        </p:attrNameLst>
                                      </p:cBhvr>
                                      <p:tavLst>
                                        <p:tav tm="0">
                                          <p:val>
                                            <p:strVal val="#ppt_x"/>
                                          </p:val>
                                        </p:tav>
                                        <p:tav tm="100000">
                                          <p:val>
                                            <p:strVal val="#ppt_x"/>
                                          </p:val>
                                        </p:tav>
                                      </p:tavLst>
                                    </p:anim>
                                    <p:anim calcmode="lin" valueType="num">
                                      <p:cBhvr>
                                        <p:cTn id="14"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ntent Placeholder 2">
            <a:extLst>
              <a:ext uri="{FF2B5EF4-FFF2-40B4-BE49-F238E27FC236}">
                <a16:creationId xmlns:a16="http://schemas.microsoft.com/office/drawing/2014/main" id="{189AD39D-AA7D-034A-8C37-E30763CD31D0}"/>
              </a:ext>
            </a:extLst>
          </p:cNvPr>
          <p:cNvSpPr txBox="1">
            <a:spLocks/>
          </p:cNvSpPr>
          <p:nvPr/>
        </p:nvSpPr>
        <p:spPr>
          <a:xfrm>
            <a:off x="1559628" y="334198"/>
            <a:ext cx="4698480" cy="604851"/>
          </a:xfrm>
          <a:prstGeom prst="rect">
            <a:avLst/>
          </a:prstGeom>
          <a:noFill/>
          <a:effectLst>
            <a:glow>
              <a:schemeClr val="accent1">
                <a:alpha val="40000"/>
              </a:schemeClr>
            </a:glow>
            <a:outerShdw blurRad="50800" dir="5400000" sx="1000" sy="1000" algn="ctr" rotWithShape="0">
              <a:srgbClr val="000000"/>
            </a:outerShdw>
            <a:reflection stA="95000" endPos="65000" dist="50800" dir="5400000" sy="-100000" algn="bl" rotWithShape="0"/>
          </a:effectLst>
        </p:spPr>
        <p:txBody>
          <a:bodyPr vert="horz" lIns="96435" tIns="48218" rIns="96435" bIns="48218"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3200" b="1" dirty="0">
                <a:solidFill>
                  <a:srgbClr val="777FBE"/>
                </a:solidFill>
                <a:latin typeface="Yuanti SC" panose="02010600040101010101" pitchFamily="2" charset="-122"/>
                <a:ea typeface="Yuanti SC" panose="02010600040101010101" pitchFamily="2" charset="-122"/>
                <a:cs typeface="+mn-ea"/>
                <a:sym typeface="+mn-lt"/>
              </a:rPr>
              <a:t>参考文献</a:t>
            </a:r>
            <a:endParaRPr lang="en-US" sz="3200" b="1" dirty="0">
              <a:solidFill>
                <a:srgbClr val="777FBE"/>
              </a:solidFill>
              <a:latin typeface="Yuanti SC" panose="02010600040101010101" pitchFamily="2" charset="-122"/>
              <a:ea typeface="Yuanti SC" panose="02010600040101010101" pitchFamily="2" charset="-122"/>
              <a:cs typeface="+mn-ea"/>
              <a:sym typeface="+mn-lt"/>
            </a:endParaRPr>
          </a:p>
        </p:txBody>
      </p:sp>
      <p:sp>
        <p:nvSpPr>
          <p:cNvPr id="26" name="矩形 25">
            <a:extLst>
              <a:ext uri="{FF2B5EF4-FFF2-40B4-BE49-F238E27FC236}">
                <a16:creationId xmlns:a16="http://schemas.microsoft.com/office/drawing/2014/main" id="{38D37B7D-BC62-B640-B528-483CBD8F274A}"/>
              </a:ext>
            </a:extLst>
          </p:cNvPr>
          <p:cNvSpPr/>
          <p:nvPr/>
        </p:nvSpPr>
        <p:spPr>
          <a:xfrm>
            <a:off x="6086" y="523320"/>
            <a:ext cx="1320123" cy="226606"/>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31" name="矩形 30">
            <a:extLst>
              <a:ext uri="{FF2B5EF4-FFF2-40B4-BE49-F238E27FC236}">
                <a16:creationId xmlns:a16="http://schemas.microsoft.com/office/drawing/2014/main" id="{B496626D-8EE0-984C-828E-E001C144D904}"/>
              </a:ext>
            </a:extLst>
          </p:cNvPr>
          <p:cNvSpPr/>
          <p:nvPr/>
        </p:nvSpPr>
        <p:spPr>
          <a:xfrm>
            <a:off x="3629876" y="520828"/>
            <a:ext cx="9213303" cy="229097"/>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grpSp>
        <p:nvGrpSpPr>
          <p:cNvPr id="15" name="组合 14">
            <a:extLst>
              <a:ext uri="{FF2B5EF4-FFF2-40B4-BE49-F238E27FC236}">
                <a16:creationId xmlns:a16="http://schemas.microsoft.com/office/drawing/2014/main" id="{A0CC0BAE-507E-434A-97DF-669CD1E27BA7}"/>
              </a:ext>
            </a:extLst>
          </p:cNvPr>
          <p:cNvGrpSpPr/>
          <p:nvPr/>
        </p:nvGrpSpPr>
        <p:grpSpPr>
          <a:xfrm>
            <a:off x="613302" y="1941770"/>
            <a:ext cx="9488481" cy="666443"/>
            <a:chOff x="4920701" y="2627892"/>
            <a:chExt cx="7413329" cy="666443"/>
          </a:xfrm>
        </p:grpSpPr>
        <p:pic>
          <p:nvPicPr>
            <p:cNvPr id="16" name="图形 15" descr="汉堡和饮料 纯色填充">
              <a:extLst>
                <a:ext uri="{FF2B5EF4-FFF2-40B4-BE49-F238E27FC236}">
                  <a16:creationId xmlns:a16="http://schemas.microsoft.com/office/drawing/2014/main" id="{C7CD4344-02EF-441D-BD52-32E9B255846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920701" y="2627892"/>
              <a:ext cx="629816" cy="629816"/>
            </a:xfrm>
            <a:prstGeom prst="rect">
              <a:avLst/>
            </a:prstGeom>
          </p:spPr>
        </p:pic>
        <p:sp>
          <p:nvSpPr>
            <p:cNvPr id="17" name="文本框 16">
              <a:extLst>
                <a:ext uri="{FF2B5EF4-FFF2-40B4-BE49-F238E27FC236}">
                  <a16:creationId xmlns:a16="http://schemas.microsoft.com/office/drawing/2014/main" id="{3FF714BC-8E47-48CD-910B-C0AD367429BC}"/>
                </a:ext>
              </a:extLst>
            </p:cNvPr>
            <p:cNvSpPr txBox="1"/>
            <p:nvPr/>
          </p:nvSpPr>
          <p:spPr>
            <a:xfrm>
              <a:off x="5550517" y="2648004"/>
              <a:ext cx="6783513" cy="646331"/>
            </a:xfrm>
            <a:prstGeom prst="rect">
              <a:avLst/>
            </a:prstGeom>
            <a:noFill/>
          </p:spPr>
          <p:txBody>
            <a:bodyPr wrap="square" rtlCol="0">
              <a:spAutoFit/>
            </a:bodyPr>
            <a:lstStyle/>
            <a:p>
              <a:r>
                <a:rPr lang="zh-CN" altLang="en-US" b="0" i="0" dirty="0">
                  <a:solidFill>
                    <a:srgbClr val="00B050"/>
                  </a:solidFill>
                  <a:effectLst/>
                  <a:latin typeface="宋体" panose="02010600030101010101" pitchFamily="2" charset="-122"/>
                  <a:ea typeface="宋体" panose="02010600030101010101" pitchFamily="2" charset="-122"/>
                </a:rPr>
                <a:t>王睿</a:t>
              </a:r>
              <a:r>
                <a:rPr lang="en-US" altLang="zh-CN" b="0" i="0" dirty="0">
                  <a:solidFill>
                    <a:srgbClr val="00B050"/>
                  </a:solidFill>
                  <a:effectLst/>
                  <a:latin typeface="宋体" panose="02010600030101010101" pitchFamily="2" charset="-122"/>
                  <a:ea typeface="宋体" panose="02010600030101010101" pitchFamily="2" charset="-122"/>
                </a:rPr>
                <a:t>,</a:t>
              </a:r>
              <a:r>
                <a:rPr lang="zh-CN" altLang="en-US" b="0" i="0" dirty="0">
                  <a:solidFill>
                    <a:srgbClr val="00B050"/>
                  </a:solidFill>
                  <a:effectLst/>
                  <a:latin typeface="宋体" panose="02010600030101010101" pitchFamily="2" charset="-122"/>
                  <a:ea typeface="宋体" panose="02010600030101010101" pitchFamily="2" charset="-122"/>
                </a:rPr>
                <a:t>黄树明</a:t>
              </a:r>
              <a:r>
                <a:rPr lang="en-US" altLang="zh-CN" b="0" i="0" dirty="0">
                  <a:solidFill>
                    <a:srgbClr val="00B050"/>
                  </a:solidFill>
                  <a:effectLst/>
                  <a:latin typeface="宋体" panose="02010600030101010101" pitchFamily="2" charset="-122"/>
                  <a:ea typeface="宋体" panose="02010600030101010101" pitchFamily="2" charset="-122"/>
                </a:rPr>
                <a:t>.</a:t>
              </a:r>
              <a:r>
                <a:rPr lang="zh-CN" altLang="en-US" b="0" i="0" dirty="0">
                  <a:solidFill>
                    <a:srgbClr val="00B050"/>
                  </a:solidFill>
                  <a:effectLst/>
                  <a:latin typeface="宋体" panose="02010600030101010101" pitchFamily="2" charset="-122"/>
                  <a:ea typeface="宋体" panose="02010600030101010101" pitchFamily="2" charset="-122"/>
                </a:rPr>
                <a:t>抑郁症发病机制研究进展</a:t>
              </a:r>
              <a:r>
                <a:rPr lang="en-US" altLang="zh-CN" b="0" i="0" dirty="0">
                  <a:solidFill>
                    <a:srgbClr val="00B050"/>
                  </a:solidFill>
                  <a:effectLst/>
                  <a:latin typeface="宋体" panose="02010600030101010101" pitchFamily="2" charset="-122"/>
                  <a:ea typeface="宋体" panose="02010600030101010101" pitchFamily="2" charset="-122"/>
                </a:rPr>
                <a:t>[J].</a:t>
              </a:r>
              <a:r>
                <a:rPr lang="zh-CN" altLang="en-US" b="0" i="0" dirty="0">
                  <a:solidFill>
                    <a:srgbClr val="00B050"/>
                  </a:solidFill>
                  <a:effectLst/>
                  <a:latin typeface="宋体" panose="02010600030101010101" pitchFamily="2" charset="-122"/>
                  <a:ea typeface="宋体" panose="02010600030101010101" pitchFamily="2" charset="-122"/>
                </a:rPr>
                <a:t>医学研究生学报</a:t>
              </a:r>
              <a:r>
                <a:rPr lang="en-US" altLang="zh-CN" b="0" i="0" dirty="0">
                  <a:solidFill>
                    <a:srgbClr val="00B050"/>
                  </a:solidFill>
                  <a:effectLst/>
                  <a:latin typeface="宋体" panose="02010600030101010101" pitchFamily="2" charset="-122"/>
                  <a:ea typeface="宋体" panose="02010600030101010101" pitchFamily="2" charset="-122"/>
                </a:rPr>
                <a:t>,2014,27(12):1332-1336.DOI:10.16571/j.cnki.1008-8199.2014.12.023.</a:t>
              </a:r>
              <a:endParaRPr lang="zh-CN" altLang="en-US" b="0" i="0" u="sng" dirty="0">
                <a:solidFill>
                  <a:srgbClr val="0070C0"/>
                </a:solidFill>
                <a:effectLst/>
                <a:latin typeface="宋体" panose="02010600030101010101" pitchFamily="2" charset="-122"/>
                <a:ea typeface="宋体" panose="02010600030101010101" pitchFamily="2" charset="-122"/>
              </a:endParaRPr>
            </a:p>
          </p:txBody>
        </p:sp>
      </p:grpSp>
      <p:grpSp>
        <p:nvGrpSpPr>
          <p:cNvPr id="19" name="组合 18">
            <a:extLst>
              <a:ext uri="{FF2B5EF4-FFF2-40B4-BE49-F238E27FC236}">
                <a16:creationId xmlns:a16="http://schemas.microsoft.com/office/drawing/2014/main" id="{9297ADF6-54A6-41F2-AF5F-F933DA0453E9}"/>
              </a:ext>
            </a:extLst>
          </p:cNvPr>
          <p:cNvGrpSpPr/>
          <p:nvPr/>
        </p:nvGrpSpPr>
        <p:grpSpPr>
          <a:xfrm>
            <a:off x="681079" y="2777113"/>
            <a:ext cx="7811098" cy="767204"/>
            <a:chOff x="4973655" y="2650511"/>
            <a:chExt cx="7336492" cy="767204"/>
          </a:xfrm>
        </p:grpSpPr>
        <p:pic>
          <p:nvPicPr>
            <p:cNvPr id="20" name="图形 19" descr="咖啡 纯色填充">
              <a:extLst>
                <a:ext uri="{FF2B5EF4-FFF2-40B4-BE49-F238E27FC236}">
                  <a16:creationId xmlns:a16="http://schemas.microsoft.com/office/drawing/2014/main" id="{CAF54295-A5D4-485E-BDBA-813F433CCE5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4973655" y="2650511"/>
              <a:ext cx="629816" cy="629816"/>
            </a:xfrm>
            <a:prstGeom prst="rect">
              <a:avLst/>
            </a:prstGeom>
          </p:spPr>
        </p:pic>
        <p:sp>
          <p:nvSpPr>
            <p:cNvPr id="21" name="文本框 20">
              <a:extLst>
                <a:ext uri="{FF2B5EF4-FFF2-40B4-BE49-F238E27FC236}">
                  <a16:creationId xmlns:a16="http://schemas.microsoft.com/office/drawing/2014/main" id="{4FDC5539-9E34-46BD-9FF3-E867088C2DA8}"/>
                </a:ext>
              </a:extLst>
            </p:cNvPr>
            <p:cNvSpPr txBox="1"/>
            <p:nvPr/>
          </p:nvSpPr>
          <p:spPr>
            <a:xfrm>
              <a:off x="5667131" y="2771384"/>
              <a:ext cx="6643016" cy="646331"/>
            </a:xfrm>
            <a:prstGeom prst="rect">
              <a:avLst/>
            </a:prstGeom>
            <a:noFill/>
          </p:spPr>
          <p:txBody>
            <a:bodyPr wrap="square" rtlCol="0">
              <a:spAutoFit/>
            </a:bodyPr>
            <a:lstStyle/>
            <a:p>
              <a:r>
                <a:rPr lang="zh-CN" altLang="en-US" dirty="0">
                  <a:solidFill>
                    <a:srgbClr val="00B050"/>
                  </a:solidFill>
                </a:rPr>
                <a:t>过伟峰</a:t>
              </a:r>
              <a:r>
                <a:rPr lang="en-US" altLang="zh-CN" dirty="0">
                  <a:solidFill>
                    <a:srgbClr val="00B050"/>
                  </a:solidFill>
                </a:rPr>
                <a:t>,</a:t>
              </a:r>
              <a:r>
                <a:rPr lang="zh-CN" altLang="en-US" dirty="0">
                  <a:solidFill>
                    <a:srgbClr val="00B050"/>
                  </a:solidFill>
                </a:rPr>
                <a:t>曹晓岚</a:t>
              </a:r>
              <a:r>
                <a:rPr lang="en-US" altLang="zh-CN" dirty="0">
                  <a:solidFill>
                    <a:srgbClr val="00B050"/>
                  </a:solidFill>
                </a:rPr>
                <a:t>,</a:t>
              </a:r>
              <a:r>
                <a:rPr lang="zh-CN" altLang="en-US" dirty="0">
                  <a:solidFill>
                    <a:srgbClr val="00B050"/>
                  </a:solidFill>
                </a:rPr>
                <a:t>盛蕾</a:t>
              </a:r>
              <a:r>
                <a:rPr lang="en-US" altLang="zh-CN" dirty="0">
                  <a:solidFill>
                    <a:srgbClr val="00B050"/>
                  </a:solidFill>
                </a:rPr>
                <a:t>,</a:t>
              </a:r>
              <a:r>
                <a:rPr lang="zh-CN" altLang="en-US" dirty="0">
                  <a:solidFill>
                    <a:srgbClr val="00B050"/>
                  </a:solidFill>
                </a:rPr>
                <a:t>等</a:t>
              </a:r>
              <a:r>
                <a:rPr lang="en-US" altLang="zh-CN" dirty="0">
                  <a:solidFill>
                    <a:srgbClr val="00B050"/>
                  </a:solidFill>
                </a:rPr>
                <a:t>.</a:t>
              </a:r>
              <a:r>
                <a:rPr lang="zh-CN" altLang="en-US" dirty="0">
                  <a:solidFill>
                    <a:srgbClr val="00B050"/>
                  </a:solidFill>
                </a:rPr>
                <a:t>抑郁症中西医结合诊疗专家共识</a:t>
              </a:r>
              <a:r>
                <a:rPr lang="en-US" altLang="zh-CN" dirty="0">
                  <a:solidFill>
                    <a:srgbClr val="00B050"/>
                  </a:solidFill>
                </a:rPr>
                <a:t>[J].</a:t>
              </a:r>
              <a:r>
                <a:rPr lang="zh-CN" altLang="en-US" dirty="0">
                  <a:solidFill>
                    <a:srgbClr val="00B050"/>
                  </a:solidFill>
                </a:rPr>
                <a:t>中国中西医结合杂志</a:t>
              </a:r>
              <a:r>
                <a:rPr lang="en-US" altLang="zh-CN" dirty="0">
                  <a:solidFill>
                    <a:srgbClr val="00B050"/>
                  </a:solidFill>
                </a:rPr>
                <a:t>,2020,40(02):141-148.</a:t>
              </a:r>
              <a:endParaRPr lang="zh-CN" altLang="en-US" u="sng" dirty="0">
                <a:solidFill>
                  <a:srgbClr val="0070C0"/>
                </a:solidFill>
              </a:endParaRPr>
            </a:p>
          </p:txBody>
        </p:sp>
      </p:grpSp>
      <p:grpSp>
        <p:nvGrpSpPr>
          <p:cNvPr id="13" name="组合 12">
            <a:extLst>
              <a:ext uri="{FF2B5EF4-FFF2-40B4-BE49-F238E27FC236}">
                <a16:creationId xmlns:a16="http://schemas.microsoft.com/office/drawing/2014/main" id="{C1B1DF90-3E53-41F7-8C60-88C1DF2D0BCE}"/>
              </a:ext>
            </a:extLst>
          </p:cNvPr>
          <p:cNvGrpSpPr/>
          <p:nvPr/>
        </p:nvGrpSpPr>
        <p:grpSpPr>
          <a:xfrm>
            <a:off x="613302" y="3664592"/>
            <a:ext cx="9488481" cy="646331"/>
            <a:chOff x="4920701" y="2648004"/>
            <a:chExt cx="7413329" cy="646331"/>
          </a:xfrm>
        </p:grpSpPr>
        <p:pic>
          <p:nvPicPr>
            <p:cNvPr id="14" name="图形 13" descr="汉堡和饮料 纯色填充">
              <a:extLst>
                <a:ext uri="{FF2B5EF4-FFF2-40B4-BE49-F238E27FC236}">
                  <a16:creationId xmlns:a16="http://schemas.microsoft.com/office/drawing/2014/main" id="{6878322F-9B6C-41E1-A6A6-87CBFF0261C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920701" y="2648510"/>
              <a:ext cx="629816" cy="629816"/>
            </a:xfrm>
            <a:prstGeom prst="rect">
              <a:avLst/>
            </a:prstGeom>
          </p:spPr>
        </p:pic>
        <p:sp>
          <p:nvSpPr>
            <p:cNvPr id="18" name="文本框 17">
              <a:extLst>
                <a:ext uri="{FF2B5EF4-FFF2-40B4-BE49-F238E27FC236}">
                  <a16:creationId xmlns:a16="http://schemas.microsoft.com/office/drawing/2014/main" id="{D076D4D7-CC11-4CEE-93FE-FCD15BB51788}"/>
                </a:ext>
              </a:extLst>
            </p:cNvPr>
            <p:cNvSpPr txBox="1"/>
            <p:nvPr/>
          </p:nvSpPr>
          <p:spPr>
            <a:xfrm>
              <a:off x="5550517" y="2648004"/>
              <a:ext cx="6783513" cy="646331"/>
            </a:xfrm>
            <a:prstGeom prst="rect">
              <a:avLst/>
            </a:prstGeom>
            <a:noFill/>
          </p:spPr>
          <p:txBody>
            <a:bodyPr wrap="square" rtlCol="0">
              <a:spAutoFit/>
            </a:bodyPr>
            <a:lstStyle/>
            <a:p>
              <a:r>
                <a:rPr lang="zh-CN" altLang="en-US" b="0" i="0" dirty="0">
                  <a:solidFill>
                    <a:srgbClr val="00B050"/>
                  </a:solidFill>
                  <a:effectLst/>
                  <a:latin typeface="宋体" panose="02010600030101010101" pitchFamily="2" charset="-122"/>
                  <a:ea typeface="宋体" panose="02010600030101010101" pitchFamily="2" charset="-122"/>
                </a:rPr>
                <a:t>立鹏</a:t>
              </a:r>
              <a:r>
                <a:rPr lang="en-US" altLang="zh-CN" b="0" i="0" dirty="0">
                  <a:solidFill>
                    <a:srgbClr val="00B050"/>
                  </a:solidFill>
                  <a:effectLst/>
                  <a:latin typeface="宋体" panose="02010600030101010101" pitchFamily="2" charset="-122"/>
                  <a:ea typeface="宋体" panose="02010600030101010101" pitchFamily="2" charset="-122"/>
                </a:rPr>
                <a:t>.</a:t>
              </a:r>
              <a:r>
                <a:rPr lang="zh-CN" altLang="en-US" b="0" i="0" dirty="0">
                  <a:solidFill>
                    <a:srgbClr val="00B050"/>
                  </a:solidFill>
                  <a:effectLst/>
                  <a:latin typeface="宋体" panose="02010600030101010101" pitchFamily="2" charset="-122"/>
                  <a:ea typeface="宋体" panose="02010600030101010101" pitchFamily="2" charset="-122"/>
                </a:rPr>
                <a:t>中国的精神卫生问题</a:t>
              </a:r>
              <a:r>
                <a:rPr lang="en-US" altLang="zh-CN" b="0" i="0" dirty="0">
                  <a:solidFill>
                    <a:srgbClr val="00B050"/>
                  </a:solidFill>
                  <a:effectLst/>
                  <a:latin typeface="宋体" panose="02010600030101010101" pitchFamily="2" charset="-122"/>
                  <a:ea typeface="宋体" panose="02010600030101010101" pitchFamily="2" charset="-122"/>
                </a:rPr>
                <a:t>——21</a:t>
              </a:r>
              <a:r>
                <a:rPr lang="zh-CN" altLang="en-US" b="0" i="0" dirty="0">
                  <a:solidFill>
                    <a:srgbClr val="00B050"/>
                  </a:solidFill>
                  <a:effectLst/>
                  <a:latin typeface="宋体" panose="02010600030101010101" pitchFamily="2" charset="-122"/>
                  <a:ea typeface="宋体" panose="02010600030101010101" pitchFamily="2" charset="-122"/>
                </a:rPr>
                <a:t>世纪的挑战和选择</a:t>
              </a:r>
              <a:r>
                <a:rPr lang="en-US" altLang="zh-CN" b="0" i="0" dirty="0">
                  <a:solidFill>
                    <a:srgbClr val="00B050"/>
                  </a:solidFill>
                  <a:effectLst/>
                  <a:latin typeface="宋体" panose="02010600030101010101" pitchFamily="2" charset="-122"/>
                  <a:ea typeface="宋体" panose="02010600030101010101" pitchFamily="2" charset="-122"/>
                </a:rPr>
                <a:t>[J].</a:t>
              </a:r>
              <a:r>
                <a:rPr lang="zh-CN" altLang="en-US" b="0" i="0" dirty="0">
                  <a:solidFill>
                    <a:srgbClr val="00B050"/>
                  </a:solidFill>
                  <a:effectLst/>
                  <a:latin typeface="宋体" panose="02010600030101010101" pitchFamily="2" charset="-122"/>
                  <a:ea typeface="宋体" panose="02010600030101010101" pitchFamily="2" charset="-122"/>
                </a:rPr>
                <a:t>中国神经精神疾病杂志</a:t>
              </a:r>
              <a:r>
                <a:rPr lang="en-US" altLang="zh-CN" b="0" i="0" dirty="0">
                  <a:solidFill>
                    <a:srgbClr val="00B050"/>
                  </a:solidFill>
                  <a:effectLst/>
                  <a:latin typeface="宋体" panose="02010600030101010101" pitchFamily="2" charset="-122"/>
                  <a:ea typeface="宋体" panose="02010600030101010101" pitchFamily="2" charset="-122"/>
                </a:rPr>
                <a:t>,2004(01):1-10.</a:t>
              </a:r>
              <a:endParaRPr lang="zh-CN" altLang="en-US" b="0" i="0" u="sng" dirty="0">
                <a:solidFill>
                  <a:srgbClr val="0070C0"/>
                </a:solidFill>
                <a:effectLst/>
                <a:latin typeface="宋体" panose="02010600030101010101" pitchFamily="2" charset="-122"/>
                <a:ea typeface="宋体" panose="02010600030101010101" pitchFamily="2" charset="-122"/>
              </a:endParaRPr>
            </a:p>
          </p:txBody>
        </p:sp>
      </p:grpSp>
      <p:grpSp>
        <p:nvGrpSpPr>
          <p:cNvPr id="22" name="组合 21">
            <a:extLst>
              <a:ext uri="{FF2B5EF4-FFF2-40B4-BE49-F238E27FC236}">
                <a16:creationId xmlns:a16="http://schemas.microsoft.com/office/drawing/2014/main" id="{C5C5D90C-C378-4B8A-B4F4-ABA898266FF9}"/>
              </a:ext>
            </a:extLst>
          </p:cNvPr>
          <p:cNvGrpSpPr/>
          <p:nvPr/>
        </p:nvGrpSpPr>
        <p:grpSpPr>
          <a:xfrm>
            <a:off x="681079" y="4408413"/>
            <a:ext cx="7811098" cy="767204"/>
            <a:chOff x="4973655" y="2650511"/>
            <a:chExt cx="7336492" cy="767204"/>
          </a:xfrm>
        </p:grpSpPr>
        <p:pic>
          <p:nvPicPr>
            <p:cNvPr id="23" name="图形 22" descr="咖啡 纯色填充">
              <a:extLst>
                <a:ext uri="{FF2B5EF4-FFF2-40B4-BE49-F238E27FC236}">
                  <a16:creationId xmlns:a16="http://schemas.microsoft.com/office/drawing/2014/main" id="{109C1660-43E0-4E75-A54B-55073CE7008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4973655" y="2650511"/>
              <a:ext cx="629816" cy="629816"/>
            </a:xfrm>
            <a:prstGeom prst="rect">
              <a:avLst/>
            </a:prstGeom>
          </p:spPr>
        </p:pic>
        <p:sp>
          <p:nvSpPr>
            <p:cNvPr id="24" name="文本框 23">
              <a:extLst>
                <a:ext uri="{FF2B5EF4-FFF2-40B4-BE49-F238E27FC236}">
                  <a16:creationId xmlns:a16="http://schemas.microsoft.com/office/drawing/2014/main" id="{28A27C7F-9745-48D2-B714-4326F2534987}"/>
                </a:ext>
              </a:extLst>
            </p:cNvPr>
            <p:cNvSpPr txBox="1"/>
            <p:nvPr/>
          </p:nvSpPr>
          <p:spPr>
            <a:xfrm>
              <a:off x="5667131" y="2771384"/>
              <a:ext cx="6643016" cy="646331"/>
            </a:xfrm>
            <a:prstGeom prst="rect">
              <a:avLst/>
            </a:prstGeom>
            <a:noFill/>
          </p:spPr>
          <p:txBody>
            <a:bodyPr wrap="square" rtlCol="0">
              <a:spAutoFit/>
            </a:bodyPr>
            <a:lstStyle/>
            <a:p>
              <a:r>
                <a:rPr lang="zh-CN" altLang="en-US" dirty="0">
                  <a:solidFill>
                    <a:srgbClr val="00B050"/>
                  </a:solidFill>
                </a:rPr>
                <a:t>马辛</a:t>
              </a:r>
              <a:r>
                <a:rPr lang="en-US" altLang="zh-CN" dirty="0">
                  <a:solidFill>
                    <a:srgbClr val="00B050"/>
                  </a:solidFill>
                </a:rPr>
                <a:t>,</a:t>
              </a:r>
              <a:r>
                <a:rPr lang="zh-CN" altLang="en-US" dirty="0">
                  <a:solidFill>
                    <a:srgbClr val="00B050"/>
                  </a:solidFill>
                </a:rPr>
                <a:t>李淑然</a:t>
              </a:r>
              <a:r>
                <a:rPr lang="en-US" altLang="zh-CN" dirty="0">
                  <a:solidFill>
                    <a:srgbClr val="00B050"/>
                  </a:solidFill>
                </a:rPr>
                <a:t>,</a:t>
              </a:r>
              <a:r>
                <a:rPr lang="zh-CN" altLang="en-US" dirty="0">
                  <a:solidFill>
                    <a:srgbClr val="00B050"/>
                  </a:solidFill>
                </a:rPr>
                <a:t>向应强</a:t>
              </a:r>
              <a:r>
                <a:rPr lang="en-US" altLang="zh-CN" dirty="0">
                  <a:solidFill>
                    <a:srgbClr val="00B050"/>
                  </a:solidFill>
                </a:rPr>
                <a:t>,</a:t>
              </a:r>
              <a:r>
                <a:rPr lang="zh-CN" altLang="en-US" dirty="0">
                  <a:solidFill>
                    <a:srgbClr val="00B050"/>
                  </a:solidFill>
                </a:rPr>
                <a:t>等</a:t>
              </a:r>
              <a:r>
                <a:rPr lang="en-US" altLang="zh-CN" dirty="0">
                  <a:solidFill>
                    <a:srgbClr val="00B050"/>
                  </a:solidFill>
                </a:rPr>
                <a:t>.</a:t>
              </a:r>
              <a:r>
                <a:rPr lang="zh-CN" altLang="en-US" dirty="0">
                  <a:solidFill>
                    <a:srgbClr val="00B050"/>
                  </a:solidFill>
                </a:rPr>
                <a:t>北京市抑郁症的患病率调查</a:t>
              </a:r>
              <a:r>
                <a:rPr lang="en-US" altLang="zh-CN" dirty="0">
                  <a:solidFill>
                    <a:srgbClr val="00B050"/>
                  </a:solidFill>
                </a:rPr>
                <a:t>[J].</a:t>
              </a:r>
              <a:r>
                <a:rPr lang="zh-CN" altLang="en-US" dirty="0">
                  <a:solidFill>
                    <a:srgbClr val="00B050"/>
                  </a:solidFill>
                </a:rPr>
                <a:t>中华精神科杂志</a:t>
              </a:r>
              <a:r>
                <a:rPr lang="en-US" altLang="zh-CN" dirty="0">
                  <a:solidFill>
                    <a:srgbClr val="00B050"/>
                  </a:solidFill>
                </a:rPr>
                <a:t>,2007,40(02):100-103.</a:t>
              </a:r>
              <a:endParaRPr lang="zh-CN" altLang="en-US" u="sng" dirty="0">
                <a:solidFill>
                  <a:srgbClr val="0070C0"/>
                </a:solidFill>
              </a:endParaRPr>
            </a:p>
          </p:txBody>
        </p:sp>
      </p:grpSp>
      <p:grpSp>
        <p:nvGrpSpPr>
          <p:cNvPr id="34" name="组合 33">
            <a:extLst>
              <a:ext uri="{FF2B5EF4-FFF2-40B4-BE49-F238E27FC236}">
                <a16:creationId xmlns:a16="http://schemas.microsoft.com/office/drawing/2014/main" id="{316C29D7-78D4-48D6-9056-72BCCF2AE996}"/>
              </a:ext>
            </a:extLst>
          </p:cNvPr>
          <p:cNvGrpSpPr/>
          <p:nvPr/>
        </p:nvGrpSpPr>
        <p:grpSpPr>
          <a:xfrm>
            <a:off x="613302" y="5224981"/>
            <a:ext cx="9488481" cy="630322"/>
            <a:chOff x="4920701" y="2648004"/>
            <a:chExt cx="7413329" cy="630322"/>
          </a:xfrm>
        </p:grpSpPr>
        <p:pic>
          <p:nvPicPr>
            <p:cNvPr id="35" name="图形 34" descr="汉堡和饮料 纯色填充">
              <a:extLst>
                <a:ext uri="{FF2B5EF4-FFF2-40B4-BE49-F238E27FC236}">
                  <a16:creationId xmlns:a16="http://schemas.microsoft.com/office/drawing/2014/main" id="{D3CC9960-282A-4389-AA53-C8F47F591FF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920701" y="2648510"/>
              <a:ext cx="629816" cy="629816"/>
            </a:xfrm>
            <a:prstGeom prst="rect">
              <a:avLst/>
            </a:prstGeom>
          </p:spPr>
        </p:pic>
        <p:sp>
          <p:nvSpPr>
            <p:cNvPr id="36" name="文本框 35">
              <a:extLst>
                <a:ext uri="{FF2B5EF4-FFF2-40B4-BE49-F238E27FC236}">
                  <a16:creationId xmlns:a16="http://schemas.microsoft.com/office/drawing/2014/main" id="{AC872353-E225-4073-8997-7EA31766FE5E}"/>
                </a:ext>
              </a:extLst>
            </p:cNvPr>
            <p:cNvSpPr txBox="1"/>
            <p:nvPr/>
          </p:nvSpPr>
          <p:spPr>
            <a:xfrm>
              <a:off x="5550517" y="2648004"/>
              <a:ext cx="6783513" cy="369332"/>
            </a:xfrm>
            <a:prstGeom prst="rect">
              <a:avLst/>
            </a:prstGeom>
            <a:noFill/>
          </p:spPr>
          <p:txBody>
            <a:bodyPr wrap="square" rtlCol="0">
              <a:spAutoFit/>
            </a:bodyPr>
            <a:lstStyle/>
            <a:p>
              <a:r>
                <a:rPr lang="zh-CN" altLang="en-US">
                  <a:solidFill>
                    <a:srgbClr val="00B050"/>
                  </a:solidFill>
                  <a:latin typeface="宋体" panose="02010600030101010101" pitchFamily="2" charset="-122"/>
                </a:rPr>
                <a:t>李世佳</a:t>
              </a:r>
              <a:r>
                <a:rPr lang="en-US" altLang="zh-CN">
                  <a:solidFill>
                    <a:srgbClr val="00B050"/>
                  </a:solidFill>
                  <a:latin typeface="宋体" panose="02010600030101010101" pitchFamily="2" charset="-122"/>
                </a:rPr>
                <a:t>.</a:t>
              </a:r>
              <a:r>
                <a:rPr lang="zh-CN" altLang="en-US">
                  <a:solidFill>
                    <a:srgbClr val="00B050"/>
                  </a:solidFill>
                  <a:latin typeface="宋体" panose="02010600030101010101" pitchFamily="2" charset="-122"/>
                </a:rPr>
                <a:t>从基因到环境</a:t>
              </a:r>
              <a:r>
                <a:rPr lang="en-US" altLang="zh-CN">
                  <a:solidFill>
                    <a:srgbClr val="00B050"/>
                  </a:solidFill>
                  <a:latin typeface="宋体" panose="02010600030101010101" pitchFamily="2" charset="-122"/>
                </a:rPr>
                <a:t>——</a:t>
              </a:r>
              <a:r>
                <a:rPr lang="zh-CN" altLang="en-US">
                  <a:solidFill>
                    <a:srgbClr val="00B050"/>
                  </a:solidFill>
                  <a:latin typeface="宋体" panose="02010600030101010101" pitchFamily="2" charset="-122"/>
                </a:rPr>
                <a:t>全面解读抑郁症的发生</a:t>
              </a:r>
              <a:r>
                <a:rPr lang="en-US" altLang="zh-CN">
                  <a:solidFill>
                    <a:srgbClr val="00B050"/>
                  </a:solidFill>
                  <a:latin typeface="宋体" panose="02010600030101010101" pitchFamily="2" charset="-122"/>
                </a:rPr>
                <a:t>[J].</a:t>
              </a:r>
              <a:r>
                <a:rPr lang="zh-CN" altLang="en-US">
                  <a:solidFill>
                    <a:srgbClr val="00B050"/>
                  </a:solidFill>
                  <a:latin typeface="宋体" panose="02010600030101010101" pitchFamily="2" charset="-122"/>
                </a:rPr>
                <a:t>科学</a:t>
              </a:r>
              <a:r>
                <a:rPr lang="en-US" altLang="zh-CN">
                  <a:solidFill>
                    <a:srgbClr val="00B050"/>
                  </a:solidFill>
                  <a:latin typeface="宋体" panose="02010600030101010101" pitchFamily="2" charset="-122"/>
                </a:rPr>
                <a:t>24</a:t>
              </a:r>
              <a:r>
                <a:rPr lang="zh-CN" altLang="en-US">
                  <a:solidFill>
                    <a:srgbClr val="00B050"/>
                  </a:solidFill>
                  <a:latin typeface="宋体" panose="02010600030101010101" pitchFamily="2" charset="-122"/>
                </a:rPr>
                <a:t>小时</a:t>
              </a:r>
              <a:r>
                <a:rPr lang="en-US" altLang="zh-CN">
                  <a:solidFill>
                    <a:srgbClr val="00B050"/>
                  </a:solidFill>
                  <a:latin typeface="宋体" panose="02010600030101010101" pitchFamily="2" charset="-122"/>
                </a:rPr>
                <a:t>,2015(03):45-49.</a:t>
              </a:r>
              <a:endParaRPr lang="zh-CN" altLang="en-US" b="0" i="0" u="sng" dirty="0">
                <a:solidFill>
                  <a:srgbClr val="0070C0"/>
                </a:solidFill>
                <a:effectLst/>
                <a:latin typeface="宋体" panose="02010600030101010101" pitchFamily="2" charset="-122"/>
                <a:ea typeface="宋体" panose="02010600030101010101" pitchFamily="2" charset="-122"/>
              </a:endParaRPr>
            </a:p>
          </p:txBody>
        </p:sp>
      </p:grpSp>
    </p:spTree>
    <p:extLst>
      <p:ext uri="{BB962C8B-B14F-4D97-AF65-F5344CB8AC3E}">
        <p14:creationId xmlns:p14="http://schemas.microsoft.com/office/powerpoint/2010/main" val="2801894340"/>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54596AF-F651-5E44-BDFA-CED9D8EBF56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0" y="0"/>
            <a:ext cx="12857957" cy="7232649"/>
          </a:xfrm>
          <a:prstGeom prst="rect">
            <a:avLst/>
          </a:prstGeom>
        </p:spPr>
      </p:pic>
      <p:sp>
        <p:nvSpPr>
          <p:cNvPr id="7" name="Freeform 11"/>
          <p:cNvSpPr>
            <a:spLocks/>
          </p:cNvSpPr>
          <p:nvPr/>
        </p:nvSpPr>
        <p:spPr bwMode="auto">
          <a:xfrm>
            <a:off x="6976149" y="449"/>
            <a:ext cx="5881809" cy="7232466"/>
          </a:xfrm>
          <a:custGeom>
            <a:avLst/>
            <a:gdLst>
              <a:gd name="T0" fmla="*/ 1998 w 4661"/>
              <a:gd name="T1" fmla="*/ 0 h 5613"/>
              <a:gd name="T2" fmla="*/ 4661 w 4661"/>
              <a:gd name="T3" fmla="*/ 0 h 5613"/>
              <a:gd name="T4" fmla="*/ 2660 w 4661"/>
              <a:gd name="T5" fmla="*/ 5613 h 5613"/>
              <a:gd name="T6" fmla="*/ 0 w 4661"/>
              <a:gd name="T7" fmla="*/ 5613 h 5613"/>
              <a:gd name="T8" fmla="*/ 1998 w 4661"/>
              <a:gd name="T9" fmla="*/ 0 h 5613"/>
            </a:gdLst>
            <a:ahLst/>
            <a:cxnLst>
              <a:cxn ang="0">
                <a:pos x="T0" y="T1"/>
              </a:cxn>
              <a:cxn ang="0">
                <a:pos x="T2" y="T3"/>
              </a:cxn>
              <a:cxn ang="0">
                <a:pos x="T4" y="T5"/>
              </a:cxn>
              <a:cxn ang="0">
                <a:pos x="T6" y="T7"/>
              </a:cxn>
              <a:cxn ang="0">
                <a:pos x="T8" y="T9"/>
              </a:cxn>
            </a:cxnLst>
            <a:rect l="0" t="0" r="r" b="b"/>
            <a:pathLst>
              <a:path w="4661" h="5613">
                <a:moveTo>
                  <a:pt x="1998" y="0"/>
                </a:moveTo>
                <a:lnTo>
                  <a:pt x="4661" y="0"/>
                </a:lnTo>
                <a:lnTo>
                  <a:pt x="2660" y="5613"/>
                </a:lnTo>
                <a:lnTo>
                  <a:pt x="0" y="5613"/>
                </a:lnTo>
                <a:lnTo>
                  <a:pt x="1998" y="0"/>
                </a:lnTo>
                <a:close/>
              </a:path>
            </a:pathLst>
          </a:custGeom>
          <a:solidFill>
            <a:srgbClr val="777FBE">
              <a:alpha val="67000"/>
            </a:srgbClr>
          </a:solidFill>
          <a:ln>
            <a:noFill/>
          </a:ln>
          <a:effectLst/>
        </p:spPr>
        <p:txBody>
          <a:bodyPr vert="horz" wrap="square" lIns="45311" tIns="22656" rIns="45311" bIns="22656" numCol="1" anchor="t" anchorCtr="0" compatLnSpc="1">
            <a:prstTxWarp prst="textNoShape">
              <a:avLst/>
            </a:prstTxWarp>
          </a:bodyPr>
          <a:lstStyle/>
          <a:p>
            <a:endParaRPr lang="zh-CN" altLang="en-US">
              <a:ea typeface="微软雅黑" panose="020B0503020204020204" pitchFamily="34" charset="-122"/>
            </a:endParaRPr>
          </a:p>
        </p:txBody>
      </p:sp>
      <p:sp>
        <p:nvSpPr>
          <p:cNvPr id="45" name="TextBox 44"/>
          <p:cNvSpPr txBox="1"/>
          <p:nvPr/>
        </p:nvSpPr>
        <p:spPr>
          <a:xfrm>
            <a:off x="8589615" y="2202484"/>
            <a:ext cx="3384376" cy="450737"/>
          </a:xfrm>
          <a:prstGeom prst="rect">
            <a:avLst/>
          </a:prstGeom>
          <a:noFill/>
        </p:spPr>
        <p:txBody>
          <a:bodyPr wrap="square" lIns="45311" tIns="22656" rIns="45311" bIns="22656" rtlCol="0">
            <a:spAutoFit/>
          </a:bodyPr>
          <a:lstStyle/>
          <a:p>
            <a:pPr algn="ctr">
              <a:lnSpc>
                <a:spcPct val="120000"/>
              </a:lnSpc>
            </a:pPr>
            <a:endParaRPr lang="en-US" altLang="zh-CN" sz="2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46" name="TextBox 45"/>
          <p:cNvSpPr txBox="1"/>
          <p:nvPr/>
        </p:nvSpPr>
        <p:spPr>
          <a:xfrm>
            <a:off x="8966090" y="1970794"/>
            <a:ext cx="2647861" cy="230420"/>
          </a:xfrm>
          <a:prstGeom prst="rect">
            <a:avLst/>
          </a:prstGeom>
          <a:noFill/>
        </p:spPr>
        <p:txBody>
          <a:bodyPr wrap="square" lIns="45311" tIns="22656" rIns="45311" bIns="22656" rtlCol="0">
            <a:spAutoFit/>
          </a:bodyPr>
          <a:lstStyle/>
          <a:p>
            <a:pPr algn="ctr">
              <a:tabLst>
                <a:tab pos="990501" algn="l"/>
              </a:tabLst>
            </a:pPr>
            <a:endParaRPr lang="en-SG" altLang="zh-CN" sz="1200" dirty="0">
              <a:ln w="12700" cmpd="sng">
                <a:noFill/>
                <a:prstDash val="solid"/>
              </a:ln>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70" name="TextBox 69"/>
          <p:cNvSpPr txBox="1"/>
          <p:nvPr/>
        </p:nvSpPr>
        <p:spPr>
          <a:xfrm>
            <a:off x="8514966" y="2897168"/>
            <a:ext cx="2804173" cy="1153750"/>
          </a:xfrm>
          <a:prstGeom prst="rect">
            <a:avLst/>
          </a:prstGeom>
          <a:noFill/>
        </p:spPr>
        <p:txBody>
          <a:bodyPr wrap="none" lIns="45311" tIns="22656" rIns="45311" bIns="22656" rtlCol="0">
            <a:spAutoFit/>
          </a:bodyPr>
          <a:lstStyle/>
          <a:p>
            <a:r>
              <a:rPr lang="zh-CN" altLang="en-US" sz="7200" spc="-149" dirty="0">
                <a:solidFill>
                  <a:schemeClr val="bg1"/>
                </a:solidFill>
                <a:latin typeface="Agency FB" panose="020B0503020202020204" pitchFamily="34" charset="0"/>
                <a:ea typeface="微软雅黑" panose="020B0503020204020204" pitchFamily="34" charset="-122"/>
                <a:cs typeface="Raavi" pitchFamily="34" charset="0"/>
              </a:rPr>
              <a:t>选择题</a:t>
            </a:r>
          </a:p>
        </p:txBody>
      </p:sp>
      <p:pic>
        <p:nvPicPr>
          <p:cNvPr id="9" name="图片 8">
            <a:extLst>
              <a:ext uri="{FF2B5EF4-FFF2-40B4-BE49-F238E27FC236}">
                <a16:creationId xmlns:a16="http://schemas.microsoft.com/office/drawing/2014/main" id="{FE9F1C73-AE82-42A0-964F-03FD8C24A12D}"/>
              </a:ext>
            </a:extLst>
          </p:cNvPr>
          <p:cNvPicPr>
            <a:picLocks noChangeAspect="1"/>
          </p:cNvPicPr>
          <p:nvPr/>
        </p:nvPicPr>
        <p:blipFill>
          <a:blip r:embed="rId4"/>
          <a:stretch>
            <a:fillRect/>
          </a:stretch>
        </p:blipFill>
        <p:spPr>
          <a:xfrm>
            <a:off x="11829975" y="6352629"/>
            <a:ext cx="702109" cy="702109"/>
          </a:xfrm>
          <a:prstGeom prst="rect">
            <a:avLst/>
          </a:prstGeom>
        </p:spPr>
      </p:pic>
    </p:spTree>
    <p:extLst>
      <p:ext uri="{BB962C8B-B14F-4D97-AF65-F5344CB8AC3E}">
        <p14:creationId xmlns:p14="http://schemas.microsoft.com/office/powerpoint/2010/main" val="4095336708"/>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ntent Placeholder 2">
            <a:extLst>
              <a:ext uri="{FF2B5EF4-FFF2-40B4-BE49-F238E27FC236}">
                <a16:creationId xmlns:a16="http://schemas.microsoft.com/office/drawing/2014/main" id="{189AD39D-AA7D-034A-8C37-E30763CD31D0}"/>
              </a:ext>
            </a:extLst>
          </p:cNvPr>
          <p:cNvSpPr txBox="1">
            <a:spLocks/>
          </p:cNvSpPr>
          <p:nvPr/>
        </p:nvSpPr>
        <p:spPr>
          <a:xfrm>
            <a:off x="1388815" y="334198"/>
            <a:ext cx="4698480" cy="604851"/>
          </a:xfrm>
          <a:prstGeom prst="rect">
            <a:avLst/>
          </a:prstGeom>
          <a:noFill/>
          <a:effectLst>
            <a:glow>
              <a:schemeClr val="accent1">
                <a:alpha val="40000"/>
              </a:schemeClr>
            </a:glow>
            <a:outerShdw blurRad="50800" dir="5400000" sx="1000" sy="1000" algn="ctr" rotWithShape="0">
              <a:srgbClr val="000000"/>
            </a:outerShdw>
            <a:reflection stA="95000" endPos="65000" dist="50800" dir="5400000" sy="-100000" algn="bl" rotWithShape="0"/>
          </a:effectLst>
        </p:spPr>
        <p:txBody>
          <a:bodyPr vert="horz" lIns="96435" tIns="48218" rIns="96435" bIns="48218"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3200" b="1" dirty="0">
                <a:solidFill>
                  <a:srgbClr val="777FBE"/>
                </a:solidFill>
                <a:latin typeface="Yuanti SC" panose="02010600040101010101" pitchFamily="2" charset="-122"/>
                <a:ea typeface="Yuanti SC" panose="02010600040101010101" pitchFamily="2" charset="-122"/>
                <a:cs typeface="+mn-ea"/>
                <a:sym typeface="+mn-lt"/>
              </a:rPr>
              <a:t>选择题</a:t>
            </a:r>
            <a:endParaRPr lang="en-US" sz="3200" b="1" dirty="0">
              <a:solidFill>
                <a:srgbClr val="777FBE"/>
              </a:solidFill>
              <a:latin typeface="Yuanti SC" panose="02010600040101010101" pitchFamily="2" charset="-122"/>
              <a:ea typeface="Yuanti SC" panose="02010600040101010101" pitchFamily="2" charset="-122"/>
              <a:cs typeface="+mn-ea"/>
              <a:sym typeface="+mn-lt"/>
            </a:endParaRPr>
          </a:p>
        </p:txBody>
      </p:sp>
      <p:sp>
        <p:nvSpPr>
          <p:cNvPr id="26" name="矩形 25">
            <a:extLst>
              <a:ext uri="{FF2B5EF4-FFF2-40B4-BE49-F238E27FC236}">
                <a16:creationId xmlns:a16="http://schemas.microsoft.com/office/drawing/2014/main" id="{38D37B7D-BC62-B640-B528-483CBD8F274A}"/>
              </a:ext>
            </a:extLst>
          </p:cNvPr>
          <p:cNvSpPr/>
          <p:nvPr/>
        </p:nvSpPr>
        <p:spPr>
          <a:xfrm>
            <a:off x="6086" y="523320"/>
            <a:ext cx="1320123" cy="226606"/>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31" name="矩形 30">
            <a:extLst>
              <a:ext uri="{FF2B5EF4-FFF2-40B4-BE49-F238E27FC236}">
                <a16:creationId xmlns:a16="http://schemas.microsoft.com/office/drawing/2014/main" id="{B496626D-8EE0-984C-828E-E001C144D904}"/>
              </a:ext>
            </a:extLst>
          </p:cNvPr>
          <p:cNvSpPr/>
          <p:nvPr/>
        </p:nvSpPr>
        <p:spPr>
          <a:xfrm>
            <a:off x="2900984" y="520828"/>
            <a:ext cx="9942196" cy="229097"/>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3" name="文本框 2">
            <a:extLst>
              <a:ext uri="{FF2B5EF4-FFF2-40B4-BE49-F238E27FC236}">
                <a16:creationId xmlns:a16="http://schemas.microsoft.com/office/drawing/2014/main" id="{5ABC3D3D-1DE5-4E82-8572-9CBB8F3DE0BA}"/>
              </a:ext>
            </a:extLst>
          </p:cNvPr>
          <p:cNvSpPr txBox="1"/>
          <p:nvPr/>
        </p:nvSpPr>
        <p:spPr>
          <a:xfrm>
            <a:off x="1326210" y="1456085"/>
            <a:ext cx="9855694" cy="2554545"/>
          </a:xfrm>
          <a:prstGeom prst="rect">
            <a:avLst/>
          </a:prstGeom>
          <a:noFill/>
        </p:spPr>
        <p:txBody>
          <a:bodyPr wrap="square" rtlCol="0">
            <a:spAutoFit/>
          </a:bodyPr>
          <a:lstStyle/>
          <a:p>
            <a:pPr marL="457200" indent="-457200">
              <a:spcAft>
                <a:spcPts val="600"/>
              </a:spcAft>
              <a:buFont typeface="Arial" panose="020B0604020202020204" pitchFamily="34" charset="0"/>
              <a:buChar char="•"/>
            </a:pPr>
            <a:r>
              <a:rPr lang="zh-CN" altLang="en-US" sz="2800" b="1" dirty="0">
                <a:latin typeface="仿宋" panose="02010609060101010101" pitchFamily="49" charset="-122"/>
                <a:ea typeface="仿宋" panose="02010609060101010101" pitchFamily="49" charset="-122"/>
              </a:rPr>
              <a:t>以下关于抑郁症的描述中，哪项是正确的？</a:t>
            </a:r>
          </a:p>
          <a:p>
            <a:pPr marL="1154113" lvl="1" indent="-514350">
              <a:spcAft>
                <a:spcPts val="600"/>
              </a:spcAft>
              <a:buFont typeface="+mj-lt"/>
              <a:buAutoNum type="alphaLcParenR"/>
            </a:pPr>
            <a:r>
              <a:rPr lang="zh-CN" altLang="en-US" sz="2800" dirty="0">
                <a:latin typeface="仿宋" panose="02010609060101010101" pitchFamily="49" charset="-122"/>
                <a:ea typeface="仿宋" panose="02010609060101010101" pitchFamily="49" charset="-122"/>
              </a:rPr>
              <a:t>抑郁症的主要特征是持久的情绪高涨和欣喜感。</a:t>
            </a:r>
          </a:p>
          <a:p>
            <a:pPr marL="1154113" lvl="1" indent="-514350">
              <a:spcAft>
                <a:spcPts val="600"/>
              </a:spcAft>
              <a:buFont typeface="+mj-lt"/>
              <a:buAutoNum type="alphaLcParenR"/>
            </a:pPr>
            <a:r>
              <a:rPr lang="zh-CN" altLang="en-US" sz="2800" dirty="0">
                <a:latin typeface="仿宋" panose="02010609060101010101" pitchFamily="49" charset="-122"/>
                <a:ea typeface="仿宋" panose="02010609060101010101" pitchFamily="49" charset="-122"/>
              </a:rPr>
              <a:t>抑郁症患者常常表现为言语增多和活动增加。</a:t>
            </a:r>
          </a:p>
          <a:p>
            <a:pPr marL="1154113" lvl="1" indent="-514350">
              <a:spcAft>
                <a:spcPts val="600"/>
              </a:spcAft>
              <a:buFont typeface="+mj-lt"/>
              <a:buAutoNum type="alphaLcParenR"/>
            </a:pPr>
            <a:r>
              <a:rPr lang="zh-CN" altLang="en-US" sz="2800" dirty="0">
                <a:latin typeface="仿宋" panose="02010609060101010101" pitchFamily="49" charset="-122"/>
                <a:ea typeface="仿宋" panose="02010609060101010101" pitchFamily="49" charset="-122"/>
              </a:rPr>
              <a:t>抑郁症的症状可能包括自杀观念和企图。</a:t>
            </a:r>
          </a:p>
          <a:p>
            <a:pPr marL="1154113" lvl="1" indent="-514350">
              <a:spcAft>
                <a:spcPts val="600"/>
              </a:spcAft>
              <a:buFont typeface="+mj-lt"/>
              <a:buAutoNum type="alphaLcParenR"/>
            </a:pPr>
            <a:r>
              <a:rPr lang="zh-CN" altLang="en-US" sz="2800" dirty="0">
                <a:latin typeface="仿宋" panose="02010609060101010101" pitchFamily="49" charset="-122"/>
                <a:ea typeface="仿宋" panose="02010609060101010101" pitchFamily="49" charset="-122"/>
              </a:rPr>
              <a:t>抑郁症患者往往表现为记忆力增强和注意力集中。</a:t>
            </a:r>
          </a:p>
        </p:txBody>
      </p:sp>
      <p:sp>
        <p:nvSpPr>
          <p:cNvPr id="10" name="文本框 9">
            <a:extLst>
              <a:ext uri="{FF2B5EF4-FFF2-40B4-BE49-F238E27FC236}">
                <a16:creationId xmlns:a16="http://schemas.microsoft.com/office/drawing/2014/main" id="{416887AF-C4EF-41A0-BBE9-23F00AAC6AC3}"/>
              </a:ext>
            </a:extLst>
          </p:cNvPr>
          <p:cNvSpPr txBox="1"/>
          <p:nvPr/>
        </p:nvSpPr>
        <p:spPr>
          <a:xfrm>
            <a:off x="1172792" y="4739560"/>
            <a:ext cx="10945216" cy="1969770"/>
          </a:xfrm>
          <a:prstGeom prst="rect">
            <a:avLst/>
          </a:prstGeom>
          <a:noFill/>
        </p:spPr>
        <p:txBody>
          <a:bodyPr wrap="square" rtlCol="0">
            <a:spAutoFit/>
          </a:bodyPr>
          <a:lstStyle/>
          <a:p>
            <a:pPr>
              <a:spcAft>
                <a:spcPts val="600"/>
              </a:spcAft>
            </a:pPr>
            <a:r>
              <a:rPr lang="zh-CN" altLang="en-US" sz="2800" b="1" dirty="0">
                <a:solidFill>
                  <a:srgbClr val="FF0000"/>
                </a:solidFill>
                <a:latin typeface="仿宋" panose="02010609060101010101" pitchFamily="49" charset="-122"/>
                <a:ea typeface="仿宋" panose="02010609060101010101" pitchFamily="49" charset="-122"/>
              </a:rPr>
              <a:t>答案</a:t>
            </a:r>
            <a:r>
              <a:rPr lang="zh-CN" altLang="en-US" sz="2800" dirty="0">
                <a:latin typeface="仿宋" panose="02010609060101010101" pitchFamily="49" charset="-122"/>
                <a:ea typeface="仿宋" panose="02010609060101010101" pitchFamily="49" charset="-122"/>
              </a:rPr>
              <a:t>：</a:t>
            </a:r>
            <a:r>
              <a:rPr lang="en-US" altLang="zh-CN" sz="2800" dirty="0">
                <a:latin typeface="仿宋" panose="02010609060101010101" pitchFamily="49" charset="-122"/>
                <a:ea typeface="仿宋" panose="02010609060101010101" pitchFamily="49" charset="-122"/>
              </a:rPr>
              <a:t>c) </a:t>
            </a:r>
            <a:r>
              <a:rPr lang="zh-CN" altLang="en-US" sz="2800" dirty="0">
                <a:latin typeface="仿宋" panose="02010609060101010101" pitchFamily="49" charset="-122"/>
                <a:ea typeface="仿宋" panose="02010609060101010101" pitchFamily="49" charset="-122"/>
              </a:rPr>
              <a:t>抑郁症的症状可能包括自杀观念和企图。</a:t>
            </a:r>
            <a:endParaRPr lang="en-US" altLang="zh-CN" sz="2800" dirty="0">
              <a:latin typeface="仿宋" panose="02010609060101010101" pitchFamily="49" charset="-122"/>
              <a:ea typeface="仿宋" panose="02010609060101010101" pitchFamily="49" charset="-122"/>
            </a:endParaRPr>
          </a:p>
          <a:p>
            <a:pPr>
              <a:spcAft>
                <a:spcPts val="600"/>
              </a:spcAft>
            </a:pPr>
            <a:endParaRPr lang="zh-CN" altLang="en-US" sz="2800" dirty="0">
              <a:latin typeface="仿宋" panose="02010609060101010101" pitchFamily="49" charset="-122"/>
              <a:ea typeface="仿宋" panose="02010609060101010101" pitchFamily="49" charset="-122"/>
            </a:endParaRPr>
          </a:p>
          <a:p>
            <a:pPr>
              <a:spcAft>
                <a:spcPts val="600"/>
              </a:spcAft>
            </a:pPr>
            <a:r>
              <a:rPr lang="zh-CN" altLang="en-US" sz="2800" dirty="0">
                <a:latin typeface="仿宋" panose="02010609060101010101" pitchFamily="49" charset="-122"/>
                <a:ea typeface="仿宋" panose="02010609060101010101" pitchFamily="49" charset="-122"/>
              </a:rPr>
              <a:t>解析：抑郁症的症状通常包括持久的心境低落、缺乏兴趣、注意力和记忆力下降等，严重时可能出现自杀观念和企图。</a:t>
            </a:r>
          </a:p>
        </p:txBody>
      </p:sp>
    </p:spTree>
    <p:extLst>
      <p:ext uri="{BB962C8B-B14F-4D97-AF65-F5344CB8AC3E}">
        <p14:creationId xmlns:p14="http://schemas.microsoft.com/office/powerpoint/2010/main" val="2927937776"/>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ntent Placeholder 2">
            <a:extLst>
              <a:ext uri="{FF2B5EF4-FFF2-40B4-BE49-F238E27FC236}">
                <a16:creationId xmlns:a16="http://schemas.microsoft.com/office/drawing/2014/main" id="{189AD39D-AA7D-034A-8C37-E30763CD31D0}"/>
              </a:ext>
            </a:extLst>
          </p:cNvPr>
          <p:cNvSpPr txBox="1">
            <a:spLocks/>
          </p:cNvSpPr>
          <p:nvPr/>
        </p:nvSpPr>
        <p:spPr>
          <a:xfrm>
            <a:off x="1388815" y="334198"/>
            <a:ext cx="4698480" cy="604851"/>
          </a:xfrm>
          <a:prstGeom prst="rect">
            <a:avLst/>
          </a:prstGeom>
          <a:noFill/>
          <a:effectLst>
            <a:glow>
              <a:schemeClr val="accent1">
                <a:alpha val="40000"/>
              </a:schemeClr>
            </a:glow>
            <a:outerShdw blurRad="50800" dir="5400000" sx="1000" sy="1000" algn="ctr" rotWithShape="0">
              <a:srgbClr val="000000"/>
            </a:outerShdw>
            <a:reflection stA="95000" endPos="65000" dist="50800" dir="5400000" sy="-100000" algn="bl" rotWithShape="0"/>
          </a:effectLst>
        </p:spPr>
        <p:txBody>
          <a:bodyPr vert="horz" lIns="96435" tIns="48218" rIns="96435" bIns="48218"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3200" b="1" dirty="0">
                <a:solidFill>
                  <a:srgbClr val="777FBE"/>
                </a:solidFill>
                <a:latin typeface="Yuanti SC" panose="02010600040101010101" pitchFamily="2" charset="-122"/>
                <a:ea typeface="Yuanti SC" panose="02010600040101010101" pitchFamily="2" charset="-122"/>
                <a:cs typeface="+mn-ea"/>
                <a:sym typeface="+mn-lt"/>
              </a:rPr>
              <a:t>选择题</a:t>
            </a:r>
            <a:endParaRPr lang="en-US" sz="3200" b="1" dirty="0">
              <a:solidFill>
                <a:srgbClr val="777FBE"/>
              </a:solidFill>
              <a:latin typeface="Yuanti SC" panose="02010600040101010101" pitchFamily="2" charset="-122"/>
              <a:ea typeface="Yuanti SC" panose="02010600040101010101" pitchFamily="2" charset="-122"/>
              <a:cs typeface="+mn-ea"/>
              <a:sym typeface="+mn-lt"/>
            </a:endParaRPr>
          </a:p>
        </p:txBody>
      </p:sp>
      <p:sp>
        <p:nvSpPr>
          <p:cNvPr id="26" name="矩形 25">
            <a:extLst>
              <a:ext uri="{FF2B5EF4-FFF2-40B4-BE49-F238E27FC236}">
                <a16:creationId xmlns:a16="http://schemas.microsoft.com/office/drawing/2014/main" id="{38D37B7D-BC62-B640-B528-483CBD8F274A}"/>
              </a:ext>
            </a:extLst>
          </p:cNvPr>
          <p:cNvSpPr/>
          <p:nvPr/>
        </p:nvSpPr>
        <p:spPr>
          <a:xfrm>
            <a:off x="6086" y="523320"/>
            <a:ext cx="1320123" cy="226606"/>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31" name="矩形 30">
            <a:extLst>
              <a:ext uri="{FF2B5EF4-FFF2-40B4-BE49-F238E27FC236}">
                <a16:creationId xmlns:a16="http://schemas.microsoft.com/office/drawing/2014/main" id="{B496626D-8EE0-984C-828E-E001C144D904}"/>
              </a:ext>
            </a:extLst>
          </p:cNvPr>
          <p:cNvSpPr/>
          <p:nvPr/>
        </p:nvSpPr>
        <p:spPr>
          <a:xfrm>
            <a:off x="2900984" y="520828"/>
            <a:ext cx="9942196" cy="229097"/>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3" name="文本框 2">
            <a:extLst>
              <a:ext uri="{FF2B5EF4-FFF2-40B4-BE49-F238E27FC236}">
                <a16:creationId xmlns:a16="http://schemas.microsoft.com/office/drawing/2014/main" id="{5ABC3D3D-1DE5-4E82-8572-9CBB8F3DE0BA}"/>
              </a:ext>
            </a:extLst>
          </p:cNvPr>
          <p:cNvSpPr txBox="1"/>
          <p:nvPr/>
        </p:nvSpPr>
        <p:spPr>
          <a:xfrm>
            <a:off x="1326210" y="1456085"/>
            <a:ext cx="9855694" cy="2554545"/>
          </a:xfrm>
          <a:prstGeom prst="rect">
            <a:avLst/>
          </a:prstGeom>
          <a:noFill/>
        </p:spPr>
        <p:txBody>
          <a:bodyPr wrap="square" rtlCol="0">
            <a:spAutoFit/>
          </a:bodyPr>
          <a:lstStyle/>
          <a:p>
            <a:pPr marL="457200" indent="-457200">
              <a:spcAft>
                <a:spcPts val="600"/>
              </a:spcAft>
              <a:buFont typeface="Arial" panose="020B0604020202020204" pitchFamily="34" charset="0"/>
              <a:buChar char="•"/>
            </a:pPr>
            <a:r>
              <a:rPr lang="zh-CN" altLang="en-US" sz="2800" b="1" dirty="0">
                <a:latin typeface="仿宋" panose="02010609060101010101" pitchFamily="49" charset="-122"/>
                <a:ea typeface="仿宋" panose="02010609060101010101" pitchFamily="49" charset="-122"/>
              </a:rPr>
              <a:t>以下关于抑郁症的病理机制描述正确的是？</a:t>
            </a:r>
          </a:p>
          <a:p>
            <a:pPr marL="1154113" lvl="1" indent="-514350">
              <a:spcAft>
                <a:spcPts val="600"/>
              </a:spcAft>
              <a:buFont typeface="+mj-lt"/>
              <a:buAutoNum type="alphaLcParenR"/>
            </a:pPr>
            <a:r>
              <a:rPr lang="zh-CN" altLang="en-US" sz="2800" dirty="0">
                <a:latin typeface="仿宋" panose="02010609060101010101" pitchFamily="49" charset="-122"/>
                <a:ea typeface="仿宋" panose="02010609060101010101" pitchFamily="49" charset="-122"/>
              </a:rPr>
              <a:t>抑郁症</a:t>
            </a:r>
            <a:r>
              <a:rPr lang="zh-CN" altLang="en-US" sz="2800">
                <a:latin typeface="仿宋" panose="02010609060101010101" pitchFamily="49" charset="-122"/>
                <a:ea typeface="仿宋" panose="02010609060101010101" pitchFamily="49" charset="-122"/>
              </a:rPr>
              <a:t>与神经递质的活动无关</a:t>
            </a:r>
            <a:r>
              <a:rPr lang="zh-CN" altLang="en-US" sz="2800" dirty="0">
                <a:latin typeface="仿宋" panose="02010609060101010101" pitchFamily="49" charset="-122"/>
                <a:ea typeface="仿宋" panose="02010609060101010101" pitchFamily="49" charset="-122"/>
              </a:rPr>
              <a:t>。</a:t>
            </a:r>
          </a:p>
          <a:p>
            <a:pPr marL="1154113" lvl="1" indent="-514350">
              <a:spcAft>
                <a:spcPts val="600"/>
              </a:spcAft>
              <a:buFont typeface="+mj-lt"/>
              <a:buAutoNum type="alphaLcParenR"/>
            </a:pPr>
            <a:r>
              <a:rPr lang="zh-CN" altLang="en-US" sz="2800" dirty="0">
                <a:latin typeface="仿宋" panose="02010609060101010101" pitchFamily="49" charset="-122"/>
                <a:ea typeface="仿宋" panose="02010609060101010101" pitchFamily="49" charset="-122"/>
              </a:rPr>
              <a:t>神经塑性的增强与抑郁症的发展相关。</a:t>
            </a:r>
          </a:p>
          <a:p>
            <a:pPr marL="1154113" lvl="1" indent="-514350">
              <a:spcAft>
                <a:spcPts val="600"/>
              </a:spcAft>
              <a:buFont typeface="+mj-lt"/>
              <a:buAutoNum type="alphaLcParenR"/>
            </a:pPr>
            <a:r>
              <a:rPr lang="zh-CN" altLang="en-US" sz="2800" dirty="0">
                <a:latin typeface="仿宋" panose="02010609060101010101" pitchFamily="49" charset="-122"/>
                <a:ea typeface="仿宋" panose="02010609060101010101" pitchFamily="49" charset="-122"/>
              </a:rPr>
              <a:t>内分泌系统的正常功能与抑郁症无关。</a:t>
            </a:r>
          </a:p>
          <a:p>
            <a:pPr marL="1154113" lvl="1" indent="-514350">
              <a:spcAft>
                <a:spcPts val="600"/>
              </a:spcAft>
              <a:buFont typeface="+mj-lt"/>
              <a:buAutoNum type="alphaLcParenR"/>
            </a:pPr>
            <a:r>
              <a:rPr lang="zh-CN" altLang="en-US" sz="2800" dirty="0">
                <a:latin typeface="仿宋" panose="02010609060101010101" pitchFamily="49" charset="-122"/>
                <a:ea typeface="仿宋" panose="02010609060101010101" pitchFamily="49" charset="-122"/>
              </a:rPr>
              <a:t>炎症反应在抑郁症的发生中可能发挥一定作用。</a:t>
            </a:r>
          </a:p>
        </p:txBody>
      </p:sp>
      <p:sp>
        <p:nvSpPr>
          <p:cNvPr id="10" name="文本框 9">
            <a:extLst>
              <a:ext uri="{FF2B5EF4-FFF2-40B4-BE49-F238E27FC236}">
                <a16:creationId xmlns:a16="http://schemas.microsoft.com/office/drawing/2014/main" id="{416887AF-C4EF-41A0-BBE9-23F00AAC6AC3}"/>
              </a:ext>
            </a:extLst>
          </p:cNvPr>
          <p:cNvSpPr txBox="1"/>
          <p:nvPr/>
        </p:nvSpPr>
        <p:spPr>
          <a:xfrm>
            <a:off x="1172792" y="4739560"/>
            <a:ext cx="10945216" cy="1969770"/>
          </a:xfrm>
          <a:prstGeom prst="rect">
            <a:avLst/>
          </a:prstGeom>
          <a:noFill/>
        </p:spPr>
        <p:txBody>
          <a:bodyPr wrap="square" rtlCol="0">
            <a:spAutoFit/>
          </a:bodyPr>
          <a:lstStyle/>
          <a:p>
            <a:pPr>
              <a:spcAft>
                <a:spcPts val="600"/>
              </a:spcAft>
            </a:pPr>
            <a:r>
              <a:rPr lang="zh-CN" altLang="en-US" sz="2800" b="1" dirty="0">
                <a:solidFill>
                  <a:srgbClr val="FF0000"/>
                </a:solidFill>
                <a:latin typeface="仿宋" panose="02010609060101010101" pitchFamily="49" charset="-122"/>
                <a:ea typeface="仿宋" panose="02010609060101010101" pitchFamily="49" charset="-122"/>
              </a:rPr>
              <a:t>答案</a:t>
            </a:r>
            <a:r>
              <a:rPr lang="zh-CN" altLang="en-US" sz="2800" dirty="0">
                <a:latin typeface="仿宋" panose="02010609060101010101" pitchFamily="49" charset="-122"/>
                <a:ea typeface="仿宋" panose="02010609060101010101" pitchFamily="49" charset="-122"/>
              </a:rPr>
              <a:t>：</a:t>
            </a:r>
            <a:r>
              <a:rPr lang="en-US" altLang="zh-CN" sz="2800" dirty="0">
                <a:latin typeface="仿宋" panose="02010609060101010101" pitchFamily="49" charset="-122"/>
                <a:ea typeface="仿宋" panose="02010609060101010101" pitchFamily="49" charset="-122"/>
              </a:rPr>
              <a:t>d) </a:t>
            </a:r>
            <a:r>
              <a:rPr lang="zh-CN" altLang="en-US" sz="2800" dirty="0">
                <a:latin typeface="仿宋" panose="02010609060101010101" pitchFamily="49" charset="-122"/>
                <a:ea typeface="仿宋" panose="02010609060101010101" pitchFamily="49" charset="-122"/>
              </a:rPr>
              <a:t>炎症反应在抑郁症的发生中可能发挥一定作用。</a:t>
            </a:r>
          </a:p>
          <a:p>
            <a:pPr>
              <a:spcAft>
                <a:spcPts val="600"/>
              </a:spcAft>
            </a:pPr>
            <a:endParaRPr lang="zh-CN" altLang="en-US" sz="2800" dirty="0">
              <a:latin typeface="仿宋" panose="02010609060101010101" pitchFamily="49" charset="-122"/>
              <a:ea typeface="仿宋" panose="02010609060101010101" pitchFamily="49" charset="-122"/>
            </a:endParaRPr>
          </a:p>
          <a:p>
            <a:pPr>
              <a:spcAft>
                <a:spcPts val="600"/>
              </a:spcAft>
            </a:pPr>
            <a:r>
              <a:rPr lang="zh-CN" altLang="en-US" sz="2800" dirty="0">
                <a:latin typeface="仿宋" panose="02010609060101010101" pitchFamily="49" charset="-122"/>
                <a:ea typeface="仿宋" panose="02010609060101010101" pitchFamily="49" charset="-122"/>
              </a:rPr>
              <a:t>解析：炎症假说认为慢性炎症可能与抑郁症的发生有关，一些炎症标志物在抑郁症患者体内的水平较高，这可能是抑郁症发展的一种机制。</a:t>
            </a:r>
          </a:p>
        </p:txBody>
      </p:sp>
    </p:spTree>
    <p:extLst>
      <p:ext uri="{BB962C8B-B14F-4D97-AF65-F5344CB8AC3E}">
        <p14:creationId xmlns:p14="http://schemas.microsoft.com/office/powerpoint/2010/main" val="1077890402"/>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ntent Placeholder 2">
            <a:extLst>
              <a:ext uri="{FF2B5EF4-FFF2-40B4-BE49-F238E27FC236}">
                <a16:creationId xmlns:a16="http://schemas.microsoft.com/office/drawing/2014/main" id="{189AD39D-AA7D-034A-8C37-E30763CD31D0}"/>
              </a:ext>
            </a:extLst>
          </p:cNvPr>
          <p:cNvSpPr txBox="1">
            <a:spLocks/>
          </p:cNvSpPr>
          <p:nvPr/>
        </p:nvSpPr>
        <p:spPr>
          <a:xfrm>
            <a:off x="1388815" y="334198"/>
            <a:ext cx="4698480" cy="604851"/>
          </a:xfrm>
          <a:prstGeom prst="rect">
            <a:avLst/>
          </a:prstGeom>
          <a:noFill/>
          <a:effectLst>
            <a:glow>
              <a:schemeClr val="accent1">
                <a:alpha val="40000"/>
              </a:schemeClr>
            </a:glow>
            <a:outerShdw blurRad="50800" dir="5400000" sx="1000" sy="1000" algn="ctr" rotWithShape="0">
              <a:srgbClr val="000000"/>
            </a:outerShdw>
            <a:reflection stA="95000" endPos="65000" dist="50800" dir="5400000" sy="-100000" algn="bl" rotWithShape="0"/>
          </a:effectLst>
        </p:spPr>
        <p:txBody>
          <a:bodyPr vert="horz" lIns="96435" tIns="48218" rIns="96435" bIns="48218"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3200" b="1" dirty="0">
                <a:solidFill>
                  <a:srgbClr val="777FBE"/>
                </a:solidFill>
                <a:latin typeface="Yuanti SC" panose="02010600040101010101" pitchFamily="2" charset="-122"/>
                <a:ea typeface="Yuanti SC" panose="02010600040101010101" pitchFamily="2" charset="-122"/>
                <a:cs typeface="+mn-ea"/>
                <a:sym typeface="+mn-lt"/>
              </a:rPr>
              <a:t>选择题</a:t>
            </a:r>
            <a:endParaRPr lang="en-US" sz="3200" b="1" dirty="0">
              <a:solidFill>
                <a:srgbClr val="777FBE"/>
              </a:solidFill>
              <a:latin typeface="Yuanti SC" panose="02010600040101010101" pitchFamily="2" charset="-122"/>
              <a:ea typeface="Yuanti SC" panose="02010600040101010101" pitchFamily="2" charset="-122"/>
              <a:cs typeface="+mn-ea"/>
              <a:sym typeface="+mn-lt"/>
            </a:endParaRPr>
          </a:p>
        </p:txBody>
      </p:sp>
      <p:sp>
        <p:nvSpPr>
          <p:cNvPr id="26" name="矩形 25">
            <a:extLst>
              <a:ext uri="{FF2B5EF4-FFF2-40B4-BE49-F238E27FC236}">
                <a16:creationId xmlns:a16="http://schemas.microsoft.com/office/drawing/2014/main" id="{38D37B7D-BC62-B640-B528-483CBD8F274A}"/>
              </a:ext>
            </a:extLst>
          </p:cNvPr>
          <p:cNvSpPr/>
          <p:nvPr/>
        </p:nvSpPr>
        <p:spPr>
          <a:xfrm>
            <a:off x="6086" y="523320"/>
            <a:ext cx="1320123" cy="226606"/>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31" name="矩形 30">
            <a:extLst>
              <a:ext uri="{FF2B5EF4-FFF2-40B4-BE49-F238E27FC236}">
                <a16:creationId xmlns:a16="http://schemas.microsoft.com/office/drawing/2014/main" id="{B496626D-8EE0-984C-828E-E001C144D904}"/>
              </a:ext>
            </a:extLst>
          </p:cNvPr>
          <p:cNvSpPr/>
          <p:nvPr/>
        </p:nvSpPr>
        <p:spPr>
          <a:xfrm>
            <a:off x="2900984" y="520828"/>
            <a:ext cx="9942196" cy="229097"/>
          </a:xfrm>
          <a:prstGeom prst="rect">
            <a:avLst/>
          </a:prstGeom>
          <a:solidFill>
            <a:srgbClr val="777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77FBE"/>
              </a:solidFill>
            </a:endParaRPr>
          </a:p>
        </p:txBody>
      </p:sp>
      <p:sp>
        <p:nvSpPr>
          <p:cNvPr id="3" name="文本框 2">
            <a:extLst>
              <a:ext uri="{FF2B5EF4-FFF2-40B4-BE49-F238E27FC236}">
                <a16:creationId xmlns:a16="http://schemas.microsoft.com/office/drawing/2014/main" id="{5ABC3D3D-1DE5-4E82-8572-9CBB8F3DE0BA}"/>
              </a:ext>
            </a:extLst>
          </p:cNvPr>
          <p:cNvSpPr txBox="1"/>
          <p:nvPr/>
        </p:nvSpPr>
        <p:spPr>
          <a:xfrm>
            <a:off x="1326210" y="1456085"/>
            <a:ext cx="9855694" cy="2554545"/>
          </a:xfrm>
          <a:prstGeom prst="rect">
            <a:avLst/>
          </a:prstGeom>
          <a:noFill/>
        </p:spPr>
        <p:txBody>
          <a:bodyPr wrap="square" rtlCol="0">
            <a:spAutoFit/>
          </a:bodyPr>
          <a:lstStyle/>
          <a:p>
            <a:pPr marL="457200" indent="-457200">
              <a:spcAft>
                <a:spcPts val="600"/>
              </a:spcAft>
              <a:buFont typeface="Arial" panose="020B0604020202020204" pitchFamily="34" charset="0"/>
              <a:buChar char="•"/>
            </a:pPr>
            <a:r>
              <a:rPr lang="zh-CN" altLang="en-US" sz="2800" b="1" dirty="0">
                <a:latin typeface="仿宋" panose="02010609060101010101" pitchFamily="49" charset="-122"/>
                <a:ea typeface="仿宋" panose="02010609060101010101" pitchFamily="49" charset="-122"/>
              </a:rPr>
              <a:t>以下关于抑郁症治疗方法的描述正确的是？</a:t>
            </a:r>
          </a:p>
          <a:p>
            <a:pPr marL="1154113" lvl="1" indent="-514350">
              <a:spcAft>
                <a:spcPts val="600"/>
              </a:spcAft>
              <a:buFont typeface="+mj-lt"/>
              <a:buAutoNum type="alphaLcParenR"/>
            </a:pPr>
            <a:r>
              <a:rPr lang="zh-CN" altLang="en-US" sz="2800" dirty="0">
                <a:latin typeface="仿宋" panose="02010609060101010101" pitchFamily="49" charset="-122"/>
                <a:ea typeface="仿宋" panose="02010609060101010101" pitchFamily="49" charset="-122"/>
              </a:rPr>
              <a:t>电击疗法常用于增加患者的记忆力。</a:t>
            </a:r>
          </a:p>
          <a:p>
            <a:pPr marL="1154113" lvl="1" indent="-514350">
              <a:spcAft>
                <a:spcPts val="600"/>
              </a:spcAft>
              <a:buFont typeface="+mj-lt"/>
              <a:buAutoNum type="alphaLcParenR"/>
            </a:pPr>
            <a:r>
              <a:rPr lang="zh-CN" altLang="en-US" sz="2800" dirty="0">
                <a:latin typeface="仿宋" panose="02010609060101010101" pitchFamily="49" charset="-122"/>
                <a:ea typeface="仿宋" panose="02010609060101010101" pitchFamily="49" charset="-122"/>
              </a:rPr>
              <a:t>电击疗法是一种非侵入性的神经调节技术。</a:t>
            </a:r>
          </a:p>
          <a:p>
            <a:pPr marL="1154113" lvl="1" indent="-514350">
              <a:spcAft>
                <a:spcPts val="600"/>
              </a:spcAft>
              <a:buFont typeface="+mj-lt"/>
              <a:buAutoNum type="alphaLcParenR"/>
            </a:pPr>
            <a:r>
              <a:rPr lang="zh-CN" altLang="en-US" sz="2800" dirty="0">
                <a:latin typeface="仿宋" panose="02010609060101010101" pitchFamily="49" charset="-122"/>
                <a:ea typeface="仿宋" panose="02010609060101010101" pitchFamily="49" charset="-122"/>
              </a:rPr>
              <a:t>跳动磁场刺激常用于激活大脑中特定区域的神经元。</a:t>
            </a:r>
          </a:p>
          <a:p>
            <a:pPr marL="1154113" lvl="1" indent="-514350">
              <a:spcAft>
                <a:spcPts val="600"/>
              </a:spcAft>
              <a:buFont typeface="+mj-lt"/>
              <a:buAutoNum type="alphaLcParenR"/>
            </a:pPr>
            <a:r>
              <a:rPr lang="zh-CN" altLang="en-US" sz="2800" dirty="0">
                <a:latin typeface="仿宋" panose="02010609060101010101" pitchFamily="49" charset="-122"/>
                <a:ea typeface="仿宋" panose="02010609060101010101" pitchFamily="49" charset="-122"/>
              </a:rPr>
              <a:t>电击疗法和跳动磁场刺激都没有任何副作用。</a:t>
            </a:r>
          </a:p>
        </p:txBody>
      </p:sp>
      <p:sp>
        <p:nvSpPr>
          <p:cNvPr id="10" name="文本框 9">
            <a:extLst>
              <a:ext uri="{FF2B5EF4-FFF2-40B4-BE49-F238E27FC236}">
                <a16:creationId xmlns:a16="http://schemas.microsoft.com/office/drawing/2014/main" id="{416887AF-C4EF-41A0-BBE9-23F00AAC6AC3}"/>
              </a:ext>
            </a:extLst>
          </p:cNvPr>
          <p:cNvSpPr txBox="1"/>
          <p:nvPr/>
        </p:nvSpPr>
        <p:spPr>
          <a:xfrm>
            <a:off x="1172792" y="4739560"/>
            <a:ext cx="10945216" cy="2400657"/>
          </a:xfrm>
          <a:prstGeom prst="rect">
            <a:avLst/>
          </a:prstGeom>
          <a:noFill/>
        </p:spPr>
        <p:txBody>
          <a:bodyPr wrap="square" rtlCol="0">
            <a:spAutoFit/>
          </a:bodyPr>
          <a:lstStyle/>
          <a:p>
            <a:pPr>
              <a:spcAft>
                <a:spcPts val="600"/>
              </a:spcAft>
            </a:pPr>
            <a:r>
              <a:rPr lang="zh-CN" altLang="en-US" sz="2800" b="1" dirty="0">
                <a:solidFill>
                  <a:srgbClr val="FF0000"/>
                </a:solidFill>
                <a:latin typeface="仿宋" panose="02010609060101010101" pitchFamily="49" charset="-122"/>
                <a:ea typeface="仿宋" panose="02010609060101010101" pitchFamily="49" charset="-122"/>
              </a:rPr>
              <a:t>答案</a:t>
            </a:r>
            <a:r>
              <a:rPr lang="zh-CN" altLang="en-US" sz="2800" dirty="0">
                <a:latin typeface="仿宋" panose="02010609060101010101" pitchFamily="49" charset="-122"/>
                <a:ea typeface="仿宋" panose="02010609060101010101" pitchFamily="49" charset="-122"/>
              </a:rPr>
              <a:t>：</a:t>
            </a:r>
            <a:r>
              <a:rPr lang="en-US" altLang="zh-CN" sz="2800" dirty="0">
                <a:latin typeface="仿宋" panose="02010609060101010101" pitchFamily="49" charset="-122"/>
                <a:ea typeface="仿宋" panose="02010609060101010101" pitchFamily="49" charset="-122"/>
              </a:rPr>
              <a:t>c) </a:t>
            </a:r>
            <a:r>
              <a:rPr lang="zh-CN" altLang="en-US" sz="2800" dirty="0">
                <a:latin typeface="仿宋" panose="02010609060101010101" pitchFamily="49" charset="-122"/>
                <a:ea typeface="仿宋" panose="02010609060101010101" pitchFamily="49" charset="-122"/>
              </a:rPr>
              <a:t>跳动磁场刺激常用于激活大脑中特定区域的神经元。</a:t>
            </a:r>
          </a:p>
          <a:p>
            <a:pPr>
              <a:spcAft>
                <a:spcPts val="600"/>
              </a:spcAft>
            </a:pPr>
            <a:endParaRPr lang="zh-CN" altLang="en-US" sz="2800" dirty="0">
              <a:latin typeface="仿宋" panose="02010609060101010101" pitchFamily="49" charset="-122"/>
              <a:ea typeface="仿宋" panose="02010609060101010101" pitchFamily="49" charset="-122"/>
            </a:endParaRPr>
          </a:p>
          <a:p>
            <a:pPr>
              <a:spcAft>
                <a:spcPts val="600"/>
              </a:spcAft>
            </a:pPr>
            <a:r>
              <a:rPr lang="zh-CN" altLang="en-US" sz="2800" dirty="0">
                <a:latin typeface="仿宋" panose="02010609060101010101" pitchFamily="49" charset="-122"/>
                <a:ea typeface="仿宋" panose="02010609060101010101" pitchFamily="49" charset="-122"/>
              </a:rPr>
              <a:t>解析：跳动磁场刺激是一种非侵入性的神经调节技术，常用于治疗抑郁症等精神疾病，通过激活大脑中特定区域的神经元来缓解抑郁症症状。</a:t>
            </a:r>
          </a:p>
        </p:txBody>
      </p:sp>
    </p:spTree>
    <p:extLst>
      <p:ext uri="{BB962C8B-B14F-4D97-AF65-F5344CB8AC3E}">
        <p14:creationId xmlns:p14="http://schemas.microsoft.com/office/powerpoint/2010/main" val="690184702"/>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A89630D1-00DE-B943-B00D-BECE9372DADE}"/>
              </a:ext>
            </a:extLst>
          </p:cNvPr>
          <p:cNvPicPr>
            <a:picLocks noChangeAspect="1"/>
          </p:cNvPicPr>
          <p:nvPr/>
        </p:nvPicPr>
        <p:blipFill>
          <a:blip r:embed="rId3">
            <a:extLst>
              <a:ext uri="{28A0092B-C50C-407E-A947-70E740481C1C}">
                <a14:useLocalDpi xmlns:a14="http://schemas.microsoft.com/office/drawing/2010/main" val="0"/>
              </a:ext>
            </a:extLst>
          </a:blip>
          <a:srcRect t="5002" b="5002"/>
          <a:stretch/>
        </p:blipFill>
        <p:spPr>
          <a:xfrm>
            <a:off x="0" y="0"/>
            <a:ext cx="12858750" cy="7232650"/>
          </a:xfrm>
          <a:prstGeom prst="rect">
            <a:avLst/>
          </a:prstGeom>
        </p:spPr>
      </p:pic>
      <p:sp>
        <p:nvSpPr>
          <p:cNvPr id="23" name="矩形 259"/>
          <p:cNvSpPr>
            <a:spLocks noChangeArrowheads="1"/>
          </p:cNvSpPr>
          <p:nvPr/>
        </p:nvSpPr>
        <p:spPr bwMode="auto">
          <a:xfrm>
            <a:off x="2252911" y="2824237"/>
            <a:ext cx="8097478"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8800" b="1" cap="all" dirty="0">
                <a:solidFill>
                  <a:srgbClr val="FFFF00"/>
                </a:solidFill>
                <a:latin typeface="Heiti SC Medium" pitchFamily="2" charset="-128"/>
                <a:ea typeface="Heiti SC Medium" pitchFamily="2" charset="-128"/>
                <a:cs typeface="Arial" panose="020B0604020202020204" pitchFamily="34" charset="0"/>
              </a:rPr>
              <a:t>THANK YOU</a:t>
            </a:r>
            <a:endParaRPr lang="zh-CN" altLang="en-US" sz="8800" b="1" cap="all" dirty="0">
              <a:solidFill>
                <a:srgbClr val="FFFF00"/>
              </a:solidFill>
              <a:latin typeface="Heiti SC Medium" pitchFamily="2" charset="-128"/>
              <a:ea typeface="Heiti SC Medium" pitchFamily="2" charset="-128"/>
              <a:cs typeface="Arial" panose="020B0604020202020204" pitchFamily="34" charset="0"/>
            </a:endParaRPr>
          </a:p>
        </p:txBody>
      </p:sp>
    </p:spTree>
    <p:extLst>
      <p:ext uri="{BB962C8B-B14F-4D97-AF65-F5344CB8AC3E}">
        <p14:creationId xmlns:p14="http://schemas.microsoft.com/office/powerpoint/2010/main" val="1227905104"/>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EACAFB93-7C07-44AC-B71A-93C641B21D02"/>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PRESENTATION_TITLE" val="bt367.pptx"/>
</p:tagLst>
</file>

<file path=ppt/tags/tag2.xml><?xml version="1.0" encoding="utf-8"?>
<p:tagLst xmlns:a="http://schemas.openxmlformats.org/drawingml/2006/main" xmlns:r="http://schemas.openxmlformats.org/officeDocument/2006/relationships" xmlns:p="http://schemas.openxmlformats.org/presentationml/2006/main">
  <p:tag name="ISLIDE.DIAGRAM" val="d49a556a-9109-4188-a9e7-7832d1a929dd"/>
</p:tagLst>
</file>

<file path=ppt/theme/theme1.xml><?xml version="1.0" encoding="utf-8"?>
<a:theme xmlns:a="http://schemas.openxmlformats.org/drawingml/2006/main" name="第一PPT，www.1ppt.com">
  <a:themeElements>
    <a:clrScheme name="自定义 246">
      <a:dk1>
        <a:sysClr val="windowText" lastClr="000000"/>
      </a:dk1>
      <a:lt1>
        <a:sysClr val="window" lastClr="FFFFFF"/>
      </a:lt1>
      <a:dk2>
        <a:srgbClr val="44546A"/>
      </a:dk2>
      <a:lt2>
        <a:srgbClr val="E7E6E6"/>
      </a:lt2>
      <a:accent1>
        <a:srgbClr val="D7B158"/>
      </a:accent1>
      <a:accent2>
        <a:srgbClr val="A97E5C"/>
      </a:accent2>
      <a:accent3>
        <a:srgbClr val="D7B158"/>
      </a:accent3>
      <a:accent4>
        <a:srgbClr val="A97E5C"/>
      </a:accent4>
      <a:accent5>
        <a:srgbClr val="D7B158"/>
      </a:accent5>
      <a:accent6>
        <a:srgbClr val="A97E5C"/>
      </a:accent6>
      <a:hlink>
        <a:srgbClr val="D7B158"/>
      </a:hlink>
      <a:folHlink>
        <a:srgbClr val="A97E5C"/>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2287</Words>
  <Application>Microsoft Office PowerPoint</Application>
  <PresentationFormat>自定义</PresentationFormat>
  <Paragraphs>168</Paragraphs>
  <Slides>20</Slides>
  <Notes>20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20</vt:i4>
      </vt:variant>
    </vt:vector>
  </HeadingPairs>
  <TitlesOfParts>
    <vt:vector size="37" baseType="lpstr">
      <vt:lpstr>Chalkduster</vt:lpstr>
      <vt:lpstr>Gill Sans</vt:lpstr>
      <vt:lpstr>Heiti SC Medium</vt:lpstr>
      <vt:lpstr>Yuanti SC</vt:lpstr>
      <vt:lpstr>Yuppy SC</vt:lpstr>
      <vt:lpstr>仿宋</vt:lpstr>
      <vt:lpstr>楷体</vt:lpstr>
      <vt:lpstr>宋体</vt:lpstr>
      <vt:lpstr>微软雅黑</vt:lpstr>
      <vt:lpstr>微软雅黑</vt:lpstr>
      <vt:lpstr>Agency FB</vt:lpstr>
      <vt:lpstr>Arial</vt:lpstr>
      <vt:lpstr>Calibri</vt:lpstr>
      <vt:lpstr>Calibri Light</vt:lpstr>
      <vt:lpstr>Raavi</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旅游</dc:title>
  <dc:creator/>
  <cp:keywords>第一PPT模板网-WWW.1PPT.COM</cp:keywords>
  <cp:lastModifiedBy/>
  <cp:revision>1</cp:revision>
  <dcterms:created xsi:type="dcterms:W3CDTF">2016-10-17T14:00:15Z</dcterms:created>
  <dcterms:modified xsi:type="dcterms:W3CDTF">2024-05-16T14:05:12Z</dcterms:modified>
</cp:coreProperties>
</file>