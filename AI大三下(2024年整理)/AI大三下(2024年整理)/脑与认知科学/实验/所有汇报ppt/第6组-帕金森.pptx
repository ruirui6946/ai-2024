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28"/>
  </p:handoutMasterIdLst>
  <p:sldIdLst>
    <p:sldId id="256" r:id="rId3"/>
    <p:sldId id="258" r:id="rId4"/>
    <p:sldId id="267" r:id="rId5"/>
    <p:sldId id="276" r:id="rId6"/>
    <p:sldId id="278" r:id="rId7"/>
    <p:sldId id="277" r:id="rId9"/>
    <p:sldId id="281" r:id="rId10"/>
    <p:sldId id="280" r:id="rId11"/>
    <p:sldId id="284" r:id="rId12"/>
    <p:sldId id="289" r:id="rId13"/>
    <p:sldId id="286" r:id="rId14"/>
    <p:sldId id="287" r:id="rId15"/>
    <p:sldId id="288" r:id="rId16"/>
    <p:sldId id="290" r:id="rId17"/>
    <p:sldId id="291" r:id="rId18"/>
    <p:sldId id="292" r:id="rId19"/>
    <p:sldId id="303" r:id="rId20"/>
    <p:sldId id="305" r:id="rId21"/>
    <p:sldId id="306" r:id="rId22"/>
    <p:sldId id="304" r:id="rId23"/>
    <p:sldId id="307" r:id="rId24"/>
    <p:sldId id="312" r:id="rId25"/>
    <p:sldId id="308" r:id="rId26"/>
    <p:sldId id="263" r:id="rId27"/>
  </p:sldIdLst>
  <p:sldSz cx="12192000" cy="6858000"/>
  <p:notesSz cx="7103745" cy="10234295"/>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9E"/>
    <a:srgbClr val="0034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5" d="100"/>
          <a:sy n="65" d="100"/>
        </p:scale>
        <p:origin x="77" y="5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47.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4.png"/><Relationship Id="rId10" Type="http://schemas.openxmlformats.org/officeDocument/2006/relationships/notesSlide" Target="../notesSlides/notesSlide10.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image" Target="../media/image4.png"/><Relationship Id="rId13" Type="http://schemas.openxmlformats.org/officeDocument/2006/relationships/notesSlide" Target="../notesSlides/notesSlide12.xml"/><Relationship Id="rId12" Type="http://schemas.openxmlformats.org/officeDocument/2006/relationships/slideLayout" Target="../slideLayouts/slideLayout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image" Target="../media/image4.png"/><Relationship Id="rId11" Type="http://schemas.openxmlformats.org/officeDocument/2006/relationships/notesSlide" Target="../notesSlides/notesSlide13.xml"/><Relationship Id="rId10" Type="http://schemas.openxmlformats.org/officeDocument/2006/relationships/slideLayout" Target="../slideLayouts/slideLayout2.xml"/><Relationship Id="rId1" Type="http://schemas.openxmlformats.org/officeDocument/2006/relationships/tags" Target="../tags/tag3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4.png"/><Relationship Id="rId10" Type="http://schemas.openxmlformats.org/officeDocument/2006/relationships/notesSlide" Target="../notesSlides/notesSlide15.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厦大PPT模板"/>
          <p:cNvPicPr>
            <a:picLocks noChangeAspect="1"/>
          </p:cNvPicPr>
          <p:nvPr/>
        </p:nvPicPr>
        <p:blipFill>
          <a:blip r:embed="rId1"/>
          <a:stretch>
            <a:fillRect/>
          </a:stretch>
        </p:blipFill>
        <p:spPr>
          <a:xfrm>
            <a:off x="0" y="0"/>
            <a:ext cx="12192000" cy="6923405"/>
          </a:xfrm>
          <a:prstGeom prst="rect">
            <a:avLst/>
          </a:prstGeom>
        </p:spPr>
      </p:pic>
      <p:pic>
        <p:nvPicPr>
          <p:cNvPr id="5" name="图片 4"/>
          <p:cNvPicPr>
            <a:picLocks noChangeAspect="1"/>
          </p:cNvPicPr>
          <p:nvPr/>
        </p:nvPicPr>
        <p:blipFill>
          <a:blip r:embed="rId2"/>
          <a:stretch>
            <a:fillRect/>
          </a:stretch>
        </p:blipFill>
        <p:spPr>
          <a:xfrm>
            <a:off x="572135" y="515620"/>
            <a:ext cx="1536065" cy="1536065"/>
          </a:xfrm>
          <a:prstGeom prst="rect">
            <a:avLst/>
          </a:prstGeom>
        </p:spPr>
      </p:pic>
      <p:sp>
        <p:nvSpPr>
          <p:cNvPr id="7" name="文本框 6"/>
          <p:cNvSpPr txBox="1"/>
          <p:nvPr/>
        </p:nvSpPr>
        <p:spPr>
          <a:xfrm>
            <a:off x="7396099" y="978575"/>
            <a:ext cx="4223766" cy="1476375"/>
          </a:xfrm>
          <a:prstGeom prst="rect">
            <a:avLst/>
          </a:prstGeom>
          <a:noFill/>
        </p:spPr>
        <p:txBody>
          <a:bodyPr wrap="square" rtlCol="0">
            <a:spAutoFit/>
          </a:bodyPr>
          <a:lstStyle/>
          <a:p>
            <a:pPr algn="r"/>
            <a:r>
              <a:rPr lang="en-US" altLang="zh-CN" sz="5400" b="1" dirty="0">
                <a:solidFill>
                  <a:schemeClr val="bg1"/>
                </a:solidFill>
                <a:latin typeface="微软雅黑" panose="020B0503020204020204" pitchFamily="34" charset="-122"/>
                <a:ea typeface="微软雅黑" panose="020B0503020204020204" pitchFamily="34" charset="-122"/>
                <a:cs typeface="Calibri Bold" panose="020F0702030404030204" charset="0"/>
              </a:rPr>
              <a:t>Park</a:t>
            </a:r>
            <a:r>
              <a:rPr lang="en-US" altLang="zh-CN" sz="5400" b="1" dirty="0">
                <a:solidFill>
                  <a:schemeClr val="bg1"/>
                </a:solidFill>
                <a:latin typeface="微软雅黑" panose="020B0503020204020204" pitchFamily="34" charset="-122"/>
                <a:ea typeface="微软雅黑" panose="020B0503020204020204" pitchFamily="34" charset="-122"/>
                <a:cs typeface="Calibri Bold" panose="020F0702030404030204" charset="0"/>
              </a:rPr>
              <a:t>inson</a:t>
            </a:r>
            <a:endParaRPr lang="en-US" altLang="zh-CN" sz="5400" b="1" dirty="0">
              <a:solidFill>
                <a:schemeClr val="bg1"/>
              </a:solidFill>
              <a:latin typeface="微软雅黑" panose="020B0503020204020204" pitchFamily="34" charset="-122"/>
              <a:ea typeface="微软雅黑" panose="020B0503020204020204" pitchFamily="34" charset="-122"/>
              <a:cs typeface="Calibri Bold" panose="020F0702030404030204" charset="0"/>
            </a:endParaRPr>
          </a:p>
          <a:p>
            <a:pPr algn="r"/>
            <a:r>
              <a:rPr lang="zh-CN" altLang="en-US" sz="3600" b="1" dirty="0">
                <a:solidFill>
                  <a:schemeClr val="bg1"/>
                </a:solidFill>
                <a:latin typeface="Calibri Bold" panose="020F0702030404030204" charset="0"/>
                <a:ea typeface="黑体" panose="02010609060101010101" charset="-122"/>
                <a:cs typeface="Calibri Bold" panose="020F0702030404030204" charset="0"/>
              </a:rPr>
              <a:t>帕金森病</a:t>
            </a:r>
            <a:endParaRPr lang="zh-CN" altLang="en-US" sz="3600" b="1" dirty="0">
              <a:solidFill>
                <a:schemeClr val="bg1"/>
              </a:solidFill>
              <a:latin typeface="Calibri Bold" panose="020F0702030404030204" charset="0"/>
              <a:ea typeface="黑体" panose="02010609060101010101" charset="-122"/>
              <a:cs typeface="Calibri Bold" panose="020F0702030404030204" charset="0"/>
            </a:endParaRPr>
          </a:p>
        </p:txBody>
      </p:sp>
      <p:cxnSp>
        <p:nvCxnSpPr>
          <p:cNvPr id="8" name="直接连接符 7"/>
          <p:cNvCxnSpPr/>
          <p:nvPr/>
        </p:nvCxnSpPr>
        <p:spPr>
          <a:xfrm>
            <a:off x="9197975" y="4358640"/>
            <a:ext cx="2245360"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文本框 8"/>
          <p:cNvSpPr txBox="1"/>
          <p:nvPr/>
        </p:nvSpPr>
        <p:spPr>
          <a:xfrm>
            <a:off x="8926830" y="4382770"/>
            <a:ext cx="2516505" cy="1050925"/>
          </a:xfrm>
          <a:prstGeom prst="rect">
            <a:avLst/>
          </a:prstGeom>
          <a:noFill/>
        </p:spPr>
        <p:txBody>
          <a:bodyPr wrap="square" rtlCol="0">
            <a:spAutoFit/>
          </a:bodyPr>
          <a:lstStyle/>
          <a:p>
            <a:pPr algn="r">
              <a:lnSpc>
                <a:spcPct val="130000"/>
              </a:lnSpc>
            </a:pPr>
            <a:r>
              <a:rPr lang="en-US" altLang="zh-CN" sz="1600" b="1">
                <a:solidFill>
                  <a:schemeClr val="accent1">
                    <a:lumMod val="40000"/>
                    <a:lumOff val="60000"/>
                  </a:schemeClr>
                </a:solidFill>
                <a:latin typeface="黑体" panose="02010609060101010101" charset="-122"/>
                <a:ea typeface="黑体" panose="02010609060101010101" charset="-122"/>
                <a:cs typeface="黑体" panose="02010609060101010101" charset="-122"/>
              </a:rPr>
              <a:t>REPORTER</a:t>
            </a:r>
            <a:r>
              <a:rPr lang="zh-CN" altLang="en-US" sz="1600" b="1">
                <a:solidFill>
                  <a:schemeClr val="accent1">
                    <a:lumMod val="40000"/>
                    <a:lumOff val="60000"/>
                  </a:schemeClr>
                </a:solidFill>
                <a:latin typeface="黑体" panose="02010609060101010101" charset="-122"/>
                <a:ea typeface="黑体" panose="02010609060101010101" charset="-122"/>
                <a:cs typeface="黑体" panose="02010609060101010101" charset="-122"/>
              </a:rPr>
              <a:t>：</a:t>
            </a:r>
            <a:r>
              <a:rPr lang="en-US" altLang="zh-CN" sz="1600" b="1">
                <a:solidFill>
                  <a:schemeClr val="accent1">
                    <a:lumMod val="40000"/>
                    <a:lumOff val="60000"/>
                  </a:schemeClr>
                </a:solidFill>
                <a:latin typeface="黑体" panose="02010609060101010101" charset="-122"/>
                <a:ea typeface="黑体" panose="02010609060101010101" charset="-122"/>
                <a:cs typeface="黑体" panose="02010609060101010101" charset="-122"/>
              </a:rPr>
              <a:t>LXL</a:t>
            </a:r>
            <a:endParaRPr lang="en-US" altLang="zh-CN" sz="1600" b="1">
              <a:solidFill>
                <a:schemeClr val="accent1">
                  <a:lumMod val="40000"/>
                  <a:lumOff val="60000"/>
                </a:schemeClr>
              </a:solidFill>
              <a:latin typeface="黑体" panose="02010609060101010101" charset="-122"/>
              <a:ea typeface="黑体" panose="02010609060101010101" charset="-122"/>
              <a:cs typeface="黑体" panose="02010609060101010101" charset="-122"/>
            </a:endParaRPr>
          </a:p>
          <a:p>
            <a:pPr algn="r">
              <a:lnSpc>
                <a:spcPct val="130000"/>
              </a:lnSpc>
            </a:pPr>
            <a:r>
              <a:rPr lang="en-US" sz="1600" b="1">
                <a:solidFill>
                  <a:schemeClr val="accent1">
                    <a:lumMod val="40000"/>
                    <a:lumOff val="60000"/>
                  </a:schemeClr>
                </a:solidFill>
                <a:latin typeface="黑体" panose="02010609060101010101" charset="-122"/>
                <a:ea typeface="黑体" panose="02010609060101010101" charset="-122"/>
                <a:cs typeface="黑体" panose="02010609060101010101" charset="-122"/>
              </a:rPr>
              <a:t>GROUP 6</a:t>
            </a:r>
            <a:endParaRPr lang="zh-CN" altLang="en-US" sz="1600" b="1">
              <a:solidFill>
                <a:schemeClr val="accent1">
                  <a:lumMod val="40000"/>
                  <a:lumOff val="60000"/>
                </a:schemeClr>
              </a:solidFill>
            </a:endParaRPr>
          </a:p>
          <a:p>
            <a:pPr algn="r">
              <a:lnSpc>
                <a:spcPct val="130000"/>
              </a:lnSpc>
            </a:pPr>
            <a:endParaRPr lang="zh-CN" altLang="en-US" sz="1600" b="1">
              <a:solidFill>
                <a:schemeClr val="accent1">
                  <a:lumMod val="40000"/>
                  <a:lumOff val="60000"/>
                </a:schemeClr>
              </a:solidFill>
            </a:endParaRPr>
          </a:p>
        </p:txBody>
      </p:sp>
      <p:sp>
        <p:nvSpPr>
          <p:cNvPr id="10" name="文本框 9"/>
          <p:cNvSpPr txBox="1"/>
          <p:nvPr/>
        </p:nvSpPr>
        <p:spPr>
          <a:xfrm>
            <a:off x="7755763" y="3241040"/>
            <a:ext cx="3797300" cy="337185"/>
          </a:xfrm>
          <a:prstGeom prst="rect">
            <a:avLst/>
          </a:prstGeom>
          <a:noFill/>
        </p:spPr>
        <p:txBody>
          <a:bodyPr wrap="square" rtlCol="0">
            <a:spAutoFit/>
          </a:bodyPr>
          <a:lstStyle/>
          <a:p>
            <a:pPr algn="r"/>
            <a:r>
              <a:rPr lang="zh-CN" altLang="en-US" sz="1600" dirty="0">
                <a:solidFill>
                  <a:schemeClr val="accent1">
                    <a:lumMod val="40000"/>
                    <a:lumOff val="60000"/>
                  </a:schemeClr>
                </a:solidFill>
                <a:sym typeface="+mn-ea"/>
              </a:rPr>
              <a:t>——帕金森病的病因和</a:t>
            </a:r>
            <a:r>
              <a:rPr lang="zh-CN" altLang="en-US" sz="1600" dirty="0">
                <a:solidFill>
                  <a:schemeClr val="accent1">
                    <a:lumMod val="40000"/>
                    <a:lumOff val="60000"/>
                  </a:schemeClr>
                </a:solidFill>
                <a:sym typeface="+mn-ea"/>
              </a:rPr>
              <a:t>发病机制</a:t>
            </a:r>
            <a:endParaRPr lang="zh-CN" altLang="en-US" sz="1600" dirty="0">
              <a:solidFill>
                <a:schemeClr val="accent1">
                  <a:lumMod val="40000"/>
                  <a:lumOff val="60000"/>
                </a:schemeClr>
              </a:solidFill>
              <a:sym typeface="+mn-ea"/>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画板8"/>
          <p:cNvPicPr>
            <a:picLocks noChangeAspect="1"/>
          </p:cNvPicPr>
          <p:nvPr/>
        </p:nvPicPr>
        <p:blipFill>
          <a:blip r:embed="rId1"/>
          <a:stretch>
            <a:fillRect/>
          </a:stretch>
        </p:blipFill>
        <p:spPr>
          <a:xfrm>
            <a:off x="0" y="0"/>
            <a:ext cx="12192635" cy="6926580"/>
          </a:xfrm>
          <a:prstGeom prst="rect">
            <a:avLst/>
          </a:prstGeom>
        </p:spPr>
      </p:pic>
      <p:sp>
        <p:nvSpPr>
          <p:cNvPr id="3" name="文本框 2"/>
          <p:cNvSpPr txBox="1"/>
          <p:nvPr/>
        </p:nvSpPr>
        <p:spPr>
          <a:xfrm>
            <a:off x="4131945" y="499110"/>
            <a:ext cx="5295900" cy="132207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ltLang="zh-CN" sz="8000" b="1">
                <a:solidFill>
                  <a:schemeClr val="accent4">
                    <a:lumMod val="20000"/>
                    <a:lumOff val="80000"/>
                  </a:schemeClr>
                </a:solidFill>
                <a:effectLst/>
                <a:latin typeface="Calibri Bold" panose="020F0702030404030204" charset="0"/>
                <a:cs typeface="Calibri Bold" panose="020F0702030404030204" charset="0"/>
              </a:rPr>
              <a:t>CONTENT</a:t>
            </a:r>
            <a:endParaRPr lang="en-US" altLang="zh-CN" sz="8000" b="1">
              <a:solidFill>
                <a:schemeClr val="accent4">
                  <a:lumMod val="20000"/>
                  <a:lumOff val="80000"/>
                </a:schemeClr>
              </a:solidFill>
              <a:effectLst/>
              <a:latin typeface="Calibri Bold" panose="020F0702030404030204" charset="0"/>
              <a:cs typeface="Calibri Bold" panose="020F0702030404030204" charset="0"/>
            </a:endParaRPr>
          </a:p>
        </p:txBody>
      </p:sp>
      <p:sp>
        <p:nvSpPr>
          <p:cNvPr id="4" name="文本框 3"/>
          <p:cNvSpPr txBox="1"/>
          <p:nvPr/>
        </p:nvSpPr>
        <p:spPr>
          <a:xfrm>
            <a:off x="4312285" y="2385060"/>
            <a:ext cx="5295900" cy="645160"/>
          </a:xfrm>
          <a:prstGeom prst="rect">
            <a:avLst/>
          </a:prstGeom>
          <a:noFill/>
        </p:spPr>
        <p:txBody>
          <a:bodyPr wrap="square" rtlCol="0">
            <a:spAutoFit/>
          </a:bodyPr>
          <a:lstStyle/>
          <a:p>
            <a:r>
              <a:rPr lang="en-US" altLang="zh-CN" sz="3600" b="1">
                <a:solidFill>
                  <a:schemeClr val="accent1">
                    <a:lumMod val="75000"/>
                  </a:schemeClr>
                </a:solidFill>
                <a:latin typeface="Calibri Bold" panose="020F0702030404030204" charset="0"/>
                <a:cs typeface="Calibri Bold" panose="020F0702030404030204" charset="0"/>
              </a:rPr>
              <a:t>PART1</a:t>
            </a:r>
            <a:r>
              <a:rPr lang="en-US" altLang="zh-CN" sz="3600">
                <a:solidFill>
                  <a:schemeClr val="accent1">
                    <a:lumMod val="75000"/>
                  </a:schemeClr>
                </a:solidFill>
              </a:rPr>
              <a:t>:</a:t>
            </a:r>
            <a:r>
              <a:rPr lang="zh-CN" altLang="en-US" sz="3600">
                <a:solidFill>
                  <a:schemeClr val="accent1">
                    <a:lumMod val="75000"/>
                  </a:schemeClr>
                </a:solidFill>
              </a:rPr>
              <a:t>行为表现</a:t>
            </a:r>
            <a:r>
              <a:rPr lang="en-US" altLang="zh-CN" sz="3600">
                <a:solidFill>
                  <a:schemeClr val="accent1">
                    <a:lumMod val="75000"/>
                  </a:schemeClr>
                </a:solidFill>
              </a:rPr>
              <a:t>.</a:t>
            </a:r>
            <a:endParaRPr lang="en-US" altLang="zh-CN" sz="3600">
              <a:solidFill>
                <a:schemeClr val="accent1">
                  <a:lumMod val="75000"/>
                </a:schemeClr>
              </a:solidFill>
            </a:endParaRPr>
          </a:p>
        </p:txBody>
      </p:sp>
      <p:sp>
        <p:nvSpPr>
          <p:cNvPr id="5" name="文本框 4"/>
          <p:cNvSpPr txBox="1"/>
          <p:nvPr/>
        </p:nvSpPr>
        <p:spPr>
          <a:xfrm>
            <a:off x="4312285" y="4608195"/>
            <a:ext cx="5295900" cy="645160"/>
          </a:xfrm>
          <a:prstGeom prst="rect">
            <a:avLst/>
          </a:prstGeom>
          <a:noFill/>
        </p:spPr>
        <p:txBody>
          <a:bodyPr wrap="square" rtlCol="0">
            <a:spAutoFit/>
          </a:bodyPr>
          <a:lstStyle/>
          <a:p>
            <a:r>
              <a:rPr lang="en-US" altLang="zh-CN" sz="3600" b="1">
                <a:solidFill>
                  <a:schemeClr val="accent1">
                    <a:lumMod val="75000"/>
                  </a:schemeClr>
                </a:solidFill>
                <a:latin typeface="Calibri Bold" panose="020F0702030404030204" charset="0"/>
                <a:cs typeface="Calibri Bold" panose="020F0702030404030204" charset="0"/>
              </a:rPr>
              <a:t>PART3</a:t>
            </a:r>
            <a:r>
              <a:rPr lang="en-US" altLang="zh-CN" sz="3600">
                <a:solidFill>
                  <a:schemeClr val="accent1">
                    <a:lumMod val="75000"/>
                  </a:schemeClr>
                </a:solidFill>
              </a:rPr>
              <a:t>:</a:t>
            </a:r>
            <a:r>
              <a:rPr lang="zh-CN" altLang="en-US" sz="3600">
                <a:solidFill>
                  <a:schemeClr val="accent1">
                    <a:lumMod val="75000"/>
                  </a:schemeClr>
                </a:solidFill>
              </a:rPr>
              <a:t>治疗</a:t>
            </a:r>
            <a:r>
              <a:rPr lang="zh-CN" altLang="en-US" sz="3600">
                <a:solidFill>
                  <a:schemeClr val="accent1">
                    <a:lumMod val="75000"/>
                  </a:schemeClr>
                </a:solidFill>
              </a:rPr>
              <a:t>与预防</a:t>
            </a:r>
            <a:r>
              <a:rPr lang="en-US" altLang="zh-CN" sz="3600">
                <a:solidFill>
                  <a:schemeClr val="accent1">
                    <a:lumMod val="75000"/>
                  </a:schemeClr>
                </a:solidFill>
              </a:rPr>
              <a:t>.</a:t>
            </a:r>
            <a:endParaRPr lang="en-US" altLang="zh-CN" sz="3600">
              <a:solidFill>
                <a:schemeClr val="accent1">
                  <a:lumMod val="75000"/>
                </a:schemeClr>
              </a:solidFill>
            </a:endParaRPr>
          </a:p>
        </p:txBody>
      </p:sp>
      <p:sp>
        <p:nvSpPr>
          <p:cNvPr id="6" name="文本框 5"/>
          <p:cNvSpPr txBox="1"/>
          <p:nvPr/>
        </p:nvSpPr>
        <p:spPr>
          <a:xfrm>
            <a:off x="4312285" y="3496945"/>
            <a:ext cx="5295900" cy="645160"/>
          </a:xfrm>
          <a:prstGeom prst="rect">
            <a:avLst/>
          </a:prstGeom>
          <a:noFill/>
        </p:spPr>
        <p:txBody>
          <a:bodyPr wrap="square" rtlCol="0">
            <a:spAutoFit/>
          </a:bodyPr>
          <a:lstStyle/>
          <a:p>
            <a:r>
              <a:rPr lang="en-US" altLang="zh-CN" sz="3600" b="1">
                <a:solidFill>
                  <a:schemeClr val="accent1">
                    <a:lumMod val="75000"/>
                  </a:schemeClr>
                </a:solidFill>
                <a:latin typeface="Calibri Bold" panose="020F0702030404030204" charset="0"/>
                <a:cs typeface="Calibri Bold" panose="020F0702030404030204" charset="0"/>
              </a:rPr>
              <a:t>PART2</a:t>
            </a:r>
            <a:r>
              <a:rPr lang="en-US" altLang="zh-CN" sz="3600">
                <a:solidFill>
                  <a:schemeClr val="accent1">
                    <a:lumMod val="75000"/>
                  </a:schemeClr>
                </a:solidFill>
              </a:rPr>
              <a:t>:</a:t>
            </a:r>
            <a:r>
              <a:rPr lang="zh-CN" altLang="en-US" sz="3600">
                <a:solidFill>
                  <a:schemeClr val="accent1">
                    <a:lumMod val="75000"/>
                  </a:schemeClr>
                </a:solidFill>
              </a:rPr>
              <a:t>发病机理</a:t>
            </a:r>
            <a:r>
              <a:rPr lang="en-US" altLang="zh-CN" sz="3600">
                <a:solidFill>
                  <a:schemeClr val="accent1">
                    <a:lumMod val="75000"/>
                  </a:schemeClr>
                </a:solidFill>
              </a:rPr>
              <a:t>.</a:t>
            </a:r>
            <a:endParaRPr lang="en-US" altLang="zh-CN" sz="3600">
              <a:solidFill>
                <a:schemeClr val="accent1">
                  <a:lumMod val="75000"/>
                </a:schemeClr>
              </a:solidFil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7744460" cy="1445260"/>
          </a:xfrm>
          <a:prstGeom prst="rect">
            <a:avLst/>
          </a:prstGeom>
          <a:noFill/>
        </p:spPr>
        <p:txBody>
          <a:bodyPr wrap="square" rtlCol="0">
            <a:spAutoFit/>
          </a:bodyPr>
          <a:p>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Parkinson(PD)</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7" name="文本框 6"/>
          <p:cNvSpPr txBox="1"/>
          <p:nvPr/>
        </p:nvSpPr>
        <p:spPr>
          <a:xfrm>
            <a:off x="435610" y="1556385"/>
            <a:ext cx="4852035" cy="4892675"/>
          </a:xfrm>
          <a:prstGeom prst="rect">
            <a:avLst/>
          </a:prstGeom>
          <a:noFill/>
        </p:spPr>
        <p:txBody>
          <a:bodyPr wrap="square" rtlCol="0">
            <a:spAutoFit/>
          </a:bodyPr>
          <a:p>
            <a:pPr indent="457200"/>
            <a:r>
              <a:rPr lang="en-US" altLang="zh-CN" sz="2400">
                <a:solidFill>
                  <a:schemeClr val="accent1">
                    <a:lumMod val="75000"/>
                  </a:schemeClr>
                </a:solidFill>
              </a:rPr>
              <a:t>  </a:t>
            </a:r>
            <a:r>
              <a:rPr lang="zh-CN" altLang="en-US" sz="2400">
                <a:solidFill>
                  <a:schemeClr val="accent1">
                    <a:lumMod val="75000"/>
                  </a:schemeClr>
                </a:solidFill>
              </a:rPr>
              <a:t>帕金森氏症是第二常见的神经退行性疾病，仅次于阿尔兹海默症。这种疾病最明显的特征是</a:t>
            </a:r>
            <a:r>
              <a:rPr lang="zh-CN" altLang="en-US" sz="2400" b="1">
                <a:solidFill>
                  <a:schemeClr val="accent1">
                    <a:lumMod val="75000"/>
                  </a:schemeClr>
                </a:solidFill>
              </a:rPr>
              <a:t>动作缓慢</a:t>
            </a:r>
            <a:r>
              <a:rPr lang="zh-CN" altLang="en-US" sz="2400">
                <a:solidFill>
                  <a:schemeClr val="accent1">
                    <a:lumMod val="75000"/>
                  </a:schemeClr>
                </a:solidFill>
              </a:rPr>
              <a:t>、</a:t>
            </a:r>
            <a:r>
              <a:rPr lang="zh-CN" altLang="en-US" sz="2400" b="1">
                <a:solidFill>
                  <a:schemeClr val="accent1">
                    <a:lumMod val="75000"/>
                  </a:schemeClr>
                </a:solidFill>
              </a:rPr>
              <a:t>肌肉僵硬</a:t>
            </a:r>
            <a:r>
              <a:rPr lang="zh-CN" altLang="en-US" sz="2400">
                <a:solidFill>
                  <a:schemeClr val="accent1">
                    <a:lumMod val="75000"/>
                  </a:schemeClr>
                </a:solidFill>
              </a:rPr>
              <a:t>和</a:t>
            </a:r>
            <a:r>
              <a:rPr lang="zh-CN" altLang="en-US" sz="2400" b="1">
                <a:solidFill>
                  <a:schemeClr val="accent1">
                    <a:lumMod val="75000"/>
                  </a:schemeClr>
                </a:solidFill>
              </a:rPr>
              <a:t>静止时震颤</a:t>
            </a:r>
            <a:r>
              <a:rPr lang="zh-CN" altLang="en-US" sz="2400">
                <a:solidFill>
                  <a:schemeClr val="accent1">
                    <a:lumMod val="75000"/>
                  </a:schemeClr>
                </a:solidFill>
              </a:rPr>
              <a:t>，还有许多经常使人衰弱的非运动症状，其中一些可能在运动问题</a:t>
            </a:r>
            <a:r>
              <a:rPr lang="zh-CN" altLang="en-US" sz="2400">
                <a:solidFill>
                  <a:schemeClr val="accent1">
                    <a:lumMod val="75000"/>
                  </a:schemeClr>
                </a:solidFill>
              </a:rPr>
              <a:t>出现之前出现。</a:t>
            </a:r>
            <a:endParaRPr lang="zh-CN" altLang="en-US" sz="2400">
              <a:solidFill>
                <a:schemeClr val="accent1">
                  <a:lumMod val="75000"/>
                </a:schemeClr>
              </a:solidFill>
            </a:endParaRPr>
          </a:p>
          <a:p>
            <a:pPr indent="457200"/>
            <a:r>
              <a:rPr lang="zh-CN" altLang="en-US" sz="2400">
                <a:solidFill>
                  <a:schemeClr val="accent1">
                    <a:lumMod val="75000"/>
                  </a:schemeClr>
                </a:solidFill>
              </a:rPr>
              <a:t>帕金森是一种常见</a:t>
            </a:r>
            <a:r>
              <a:rPr lang="en-US" altLang="zh-CN" sz="2400">
                <a:solidFill>
                  <a:schemeClr val="accent1">
                    <a:lumMod val="75000"/>
                  </a:schemeClr>
                </a:solidFill>
              </a:rPr>
              <a:t>的中老年神经退行性疾病。我国65岁以上人群PD患病率</a:t>
            </a:r>
            <a:r>
              <a:rPr lang="zh-CN" altLang="en-US" sz="2400">
                <a:solidFill>
                  <a:schemeClr val="accent1">
                    <a:lumMod val="75000"/>
                  </a:schemeClr>
                </a:solidFill>
              </a:rPr>
              <a:t>达</a:t>
            </a:r>
            <a:r>
              <a:rPr lang="en-US" altLang="zh-CN" sz="2400">
                <a:solidFill>
                  <a:schemeClr val="accent1">
                    <a:lumMod val="75000"/>
                  </a:schemeClr>
                </a:solidFill>
              </a:rPr>
              <a:t>1.6%~1.7%</a:t>
            </a:r>
            <a:r>
              <a:rPr lang="zh-CN" altLang="en-US" sz="2400">
                <a:solidFill>
                  <a:schemeClr val="accent1">
                    <a:lumMod val="75000"/>
                  </a:schemeClr>
                </a:solidFill>
              </a:rPr>
              <a:t>。</a:t>
            </a:r>
            <a:endParaRPr lang="zh-CN" altLang="en-US" sz="2400">
              <a:solidFill>
                <a:schemeClr val="accent1">
                  <a:lumMod val="75000"/>
                </a:schemeClr>
              </a:solidFill>
            </a:endParaRPr>
          </a:p>
          <a:p>
            <a:pPr indent="457200"/>
            <a:r>
              <a:rPr lang="zh-CN" altLang="en-US" sz="2400">
                <a:solidFill>
                  <a:schemeClr val="accent1">
                    <a:lumMod val="75000"/>
                  </a:schemeClr>
                </a:solidFill>
              </a:rPr>
              <a:t>目前对于</a:t>
            </a:r>
            <a:r>
              <a:rPr lang="en-US" altLang="zh-CN" sz="2400">
                <a:solidFill>
                  <a:schemeClr val="accent1">
                    <a:lumMod val="75000"/>
                  </a:schemeClr>
                </a:solidFill>
              </a:rPr>
              <a:t>PD的治疗，无论药物还是手术治疗只能改善症状，并不能阻止疾病的进展，更不能治愈。</a:t>
            </a:r>
            <a:endParaRPr lang="en-US" altLang="zh-CN" sz="2400">
              <a:solidFill>
                <a:schemeClr val="accent1">
                  <a:lumMod val="75000"/>
                </a:schemeClr>
              </a:solidFill>
            </a:endParaRPr>
          </a:p>
          <a:p>
            <a:endParaRPr lang="en-US" altLang="zh-CN" sz="2400">
              <a:solidFill>
                <a:schemeClr val="accent1">
                  <a:lumMod val="75000"/>
                </a:schemeClr>
              </a:solidFill>
            </a:endParaRPr>
          </a:p>
        </p:txBody>
      </p:sp>
      <p:pic>
        <p:nvPicPr>
          <p:cNvPr id="8" name="图片 7"/>
          <p:cNvPicPr/>
          <p:nvPr/>
        </p:nvPicPr>
        <p:blipFill>
          <a:blip r:embed="rId3"/>
          <a:stretch>
            <a:fillRect/>
          </a:stretch>
        </p:blipFill>
        <p:spPr>
          <a:xfrm>
            <a:off x="6260465" y="1631315"/>
            <a:ext cx="3688715" cy="4740275"/>
          </a:xfrm>
          <a:prstGeom prst="rect">
            <a:avLst/>
          </a:prstGeom>
          <a:noFill/>
          <a:ln w="9525">
            <a:noFill/>
          </a:ln>
        </p:spPr>
      </p:pic>
      <p:grpSp>
        <p:nvGrpSpPr>
          <p:cNvPr id="25" name="组合 24"/>
          <p:cNvGrpSpPr/>
          <p:nvPr/>
        </p:nvGrpSpPr>
        <p:grpSpPr>
          <a:xfrm>
            <a:off x="5265420" y="962025"/>
            <a:ext cx="6828155" cy="5170805"/>
            <a:chOff x="7358" y="1515"/>
            <a:chExt cx="10753" cy="8143"/>
          </a:xfrm>
        </p:grpSpPr>
        <p:cxnSp>
          <p:nvCxnSpPr>
            <p:cNvPr id="16" name="直接连接符 15"/>
            <p:cNvCxnSpPr>
              <a:stCxn id="19" idx="2"/>
            </p:cNvCxnSpPr>
            <p:nvPr/>
          </p:nvCxnSpPr>
          <p:spPr>
            <a:xfrm>
              <a:off x="8548" y="7166"/>
              <a:ext cx="1052" cy="2493"/>
            </a:xfrm>
            <a:prstGeom prst="line">
              <a:avLst/>
            </a:prstGeom>
          </p:spPr>
          <p:style>
            <a:lnRef idx="2">
              <a:schemeClr val="accent1"/>
            </a:lnRef>
            <a:fillRef idx="0">
              <a:srgbClr val="FFFFFF"/>
            </a:fillRef>
            <a:effectRef idx="0">
              <a:srgbClr val="FFFFFF"/>
            </a:effectRef>
            <a:fontRef idx="minor">
              <a:schemeClr val="tx1"/>
            </a:fontRef>
          </p:style>
        </p:cxnSp>
        <p:grpSp>
          <p:nvGrpSpPr>
            <p:cNvPr id="24" name="组合 23"/>
            <p:cNvGrpSpPr/>
            <p:nvPr/>
          </p:nvGrpSpPr>
          <p:grpSpPr>
            <a:xfrm>
              <a:off x="11775" y="1515"/>
              <a:ext cx="6336" cy="7599"/>
              <a:chOff x="11775" y="1515"/>
              <a:chExt cx="6336" cy="7599"/>
            </a:xfrm>
          </p:grpSpPr>
          <p:cxnSp>
            <p:nvCxnSpPr>
              <p:cNvPr id="15" name="直接连接符 14"/>
              <p:cNvCxnSpPr/>
              <p:nvPr/>
            </p:nvCxnSpPr>
            <p:spPr>
              <a:xfrm flipV="1">
                <a:off x="11860" y="8000"/>
                <a:ext cx="3523" cy="1115"/>
              </a:xfrm>
              <a:prstGeom prst="line">
                <a:avLst/>
              </a:prstGeom>
            </p:spPr>
            <p:style>
              <a:lnRef idx="2">
                <a:schemeClr val="accent1"/>
              </a:lnRef>
              <a:fillRef idx="0">
                <a:srgbClr val="FFFFFF"/>
              </a:fillRef>
              <a:effectRef idx="0">
                <a:srgbClr val="FFFFFF"/>
              </a:effectRef>
              <a:fontRef idx="minor">
                <a:schemeClr val="tx1"/>
              </a:fontRef>
            </p:style>
          </p:cxnSp>
          <p:grpSp>
            <p:nvGrpSpPr>
              <p:cNvPr id="23" name="组合 22"/>
              <p:cNvGrpSpPr/>
              <p:nvPr/>
            </p:nvGrpSpPr>
            <p:grpSpPr>
              <a:xfrm>
                <a:off x="11775" y="1515"/>
                <a:ext cx="5822" cy="4525"/>
                <a:chOff x="11775" y="1515"/>
                <a:chExt cx="5822" cy="4525"/>
              </a:xfrm>
            </p:grpSpPr>
            <p:grpSp>
              <p:nvGrpSpPr>
                <p:cNvPr id="22" name="组合 21"/>
                <p:cNvGrpSpPr/>
                <p:nvPr/>
              </p:nvGrpSpPr>
              <p:grpSpPr>
                <a:xfrm>
                  <a:off x="11775" y="1515"/>
                  <a:ext cx="5469" cy="2668"/>
                  <a:chOff x="11775" y="1515"/>
                  <a:chExt cx="5469" cy="2668"/>
                </a:xfrm>
              </p:grpSpPr>
              <p:grpSp>
                <p:nvGrpSpPr>
                  <p:cNvPr id="12" name="组合 11"/>
                  <p:cNvGrpSpPr/>
                  <p:nvPr/>
                </p:nvGrpSpPr>
                <p:grpSpPr>
                  <a:xfrm>
                    <a:off x="11948" y="1515"/>
                    <a:ext cx="5297" cy="1452"/>
                    <a:chOff x="11948" y="1515"/>
                    <a:chExt cx="5297" cy="1452"/>
                  </a:xfrm>
                </p:grpSpPr>
                <p:cxnSp>
                  <p:nvCxnSpPr>
                    <p:cNvPr id="9" name="直接连接符 8"/>
                    <p:cNvCxnSpPr/>
                    <p:nvPr/>
                  </p:nvCxnSpPr>
                  <p:spPr>
                    <a:xfrm flipV="1">
                      <a:off x="11948" y="2276"/>
                      <a:ext cx="3325" cy="618"/>
                    </a:xfrm>
                    <a:prstGeom prst="line">
                      <a:avLst/>
                    </a:prstGeom>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15215" y="1515"/>
                      <a:ext cx="2030" cy="1452"/>
                    </a:xfrm>
                    <a:prstGeom prst="rect">
                      <a:avLst/>
                    </a:prstGeom>
                    <a:noFill/>
                  </p:spPr>
                  <p:txBody>
                    <a:bodyPr wrap="square" rtlCol="0">
                      <a:spAutoFit/>
                    </a:bodyPr>
                    <a:p>
                      <a:r>
                        <a:rPr lang="zh-CN" altLang="en-US" b="1">
                          <a:solidFill>
                            <a:srgbClr val="00B0F0"/>
                          </a:solidFill>
                          <a:effectLst/>
                        </a:rPr>
                        <a:t>抑郁焦虑</a:t>
                      </a:r>
                      <a:endParaRPr lang="zh-CN" altLang="en-US" b="1">
                        <a:solidFill>
                          <a:srgbClr val="00B0F0"/>
                        </a:solidFill>
                        <a:effectLst/>
                      </a:endParaRPr>
                    </a:p>
                    <a:p>
                      <a:r>
                        <a:rPr lang="zh-CN" altLang="en-US" b="1">
                          <a:solidFill>
                            <a:srgbClr val="00B0F0"/>
                          </a:solidFill>
                          <a:effectLst/>
                        </a:rPr>
                        <a:t>认知缺陷</a:t>
                      </a:r>
                      <a:endParaRPr lang="zh-CN" altLang="en-US" b="1">
                        <a:solidFill>
                          <a:srgbClr val="00B0F0"/>
                        </a:solidFill>
                        <a:effectLst/>
                      </a:endParaRPr>
                    </a:p>
                    <a:p>
                      <a:r>
                        <a:rPr lang="zh-CN" altLang="en-US" b="1">
                          <a:solidFill>
                            <a:srgbClr val="00B0F0"/>
                          </a:solidFill>
                          <a:effectLst/>
                        </a:rPr>
                        <a:t>睡眠障碍</a:t>
                      </a:r>
                      <a:endParaRPr lang="zh-CN" altLang="en-US" b="1">
                        <a:solidFill>
                          <a:srgbClr val="00B0F0"/>
                        </a:solidFill>
                        <a:effectLst/>
                      </a:endParaRPr>
                    </a:p>
                  </p:txBody>
                </p:sp>
              </p:grpSp>
              <p:cxnSp>
                <p:nvCxnSpPr>
                  <p:cNvPr id="11" name="直接连接符 10"/>
                  <p:cNvCxnSpPr/>
                  <p:nvPr/>
                </p:nvCxnSpPr>
                <p:spPr>
                  <a:xfrm>
                    <a:off x="11775" y="3707"/>
                    <a:ext cx="3440" cy="146"/>
                  </a:xfrm>
                  <a:prstGeom prst="line">
                    <a:avLst/>
                  </a:prstGeom>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5215" y="3603"/>
                    <a:ext cx="1901" cy="580"/>
                  </a:xfrm>
                  <a:prstGeom prst="rect">
                    <a:avLst/>
                  </a:prstGeom>
                  <a:noFill/>
                </p:spPr>
                <p:txBody>
                  <a:bodyPr wrap="square" rtlCol="0">
                    <a:spAutoFit/>
                  </a:bodyPr>
                  <a:p>
                    <a:r>
                      <a:rPr lang="zh-CN" altLang="en-US" b="1">
                        <a:solidFill>
                          <a:srgbClr val="00B0F0"/>
                        </a:solidFill>
                      </a:rPr>
                      <a:t>味觉丧失</a:t>
                    </a:r>
                    <a:endParaRPr lang="zh-CN" altLang="en-US" b="1">
                      <a:solidFill>
                        <a:srgbClr val="00B0F0"/>
                      </a:solidFill>
                    </a:endParaRPr>
                  </a:p>
                </p:txBody>
              </p:sp>
            </p:grpSp>
            <p:cxnSp>
              <p:nvCxnSpPr>
                <p:cNvPr id="14" name="直接连接符 13"/>
                <p:cNvCxnSpPr/>
                <p:nvPr/>
              </p:nvCxnSpPr>
              <p:spPr>
                <a:xfrm flipV="1">
                  <a:off x="12220" y="5714"/>
                  <a:ext cx="3018" cy="327"/>
                </a:xfrm>
                <a:prstGeom prst="line">
                  <a:avLst/>
                </a:prstGeom>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5173" y="5376"/>
                  <a:ext cx="2425" cy="580"/>
                </a:xfrm>
                <a:prstGeom prst="rect">
                  <a:avLst/>
                </a:prstGeom>
                <a:noFill/>
              </p:spPr>
              <p:txBody>
                <a:bodyPr wrap="square" rtlCol="0">
                  <a:spAutoFit/>
                </a:bodyPr>
                <a:p>
                  <a:r>
                    <a:rPr lang="zh-CN" altLang="en-US" b="1">
                      <a:solidFill>
                        <a:srgbClr val="00B0F0"/>
                      </a:solidFill>
                    </a:rPr>
                    <a:t>心血管问题</a:t>
                  </a:r>
                  <a:endParaRPr lang="zh-CN" altLang="en-US" b="1">
                    <a:solidFill>
                      <a:srgbClr val="00B0F0"/>
                    </a:solidFill>
                  </a:endParaRPr>
                </a:p>
              </p:txBody>
            </p:sp>
          </p:grpSp>
          <p:sp>
            <p:nvSpPr>
              <p:cNvPr id="18" name="文本框 17"/>
              <p:cNvSpPr txBox="1"/>
              <p:nvPr/>
            </p:nvSpPr>
            <p:spPr>
              <a:xfrm>
                <a:off x="15383" y="7479"/>
                <a:ext cx="2728" cy="1016"/>
              </a:xfrm>
              <a:prstGeom prst="rect">
                <a:avLst/>
              </a:prstGeom>
              <a:noFill/>
            </p:spPr>
            <p:txBody>
              <a:bodyPr wrap="square" rtlCol="0">
                <a:spAutoFit/>
              </a:bodyPr>
              <a:p>
                <a:r>
                  <a:rPr lang="zh-CN" altLang="en-US" b="1">
                    <a:solidFill>
                      <a:srgbClr val="00B0F0"/>
                    </a:solidFill>
                  </a:rPr>
                  <a:t>膀胱功能障碍</a:t>
                </a:r>
                <a:endParaRPr lang="zh-CN" altLang="en-US" b="1">
                  <a:solidFill>
                    <a:srgbClr val="00B0F0"/>
                  </a:solidFill>
                </a:endParaRPr>
              </a:p>
              <a:p>
                <a:r>
                  <a:rPr lang="zh-CN" altLang="en-US" b="1">
                    <a:solidFill>
                      <a:srgbClr val="00B0F0"/>
                    </a:solidFill>
                  </a:rPr>
                  <a:t>肠胃功能障碍</a:t>
                </a:r>
                <a:endParaRPr lang="zh-CN" altLang="en-US" b="1">
                  <a:solidFill>
                    <a:srgbClr val="00B0F0"/>
                  </a:solidFill>
                </a:endParaRPr>
              </a:p>
            </p:txBody>
          </p:sp>
        </p:grpSp>
        <p:sp>
          <p:nvSpPr>
            <p:cNvPr id="19" name="文本框 18"/>
            <p:cNvSpPr txBox="1"/>
            <p:nvPr/>
          </p:nvSpPr>
          <p:spPr>
            <a:xfrm>
              <a:off x="7358" y="5714"/>
              <a:ext cx="2379" cy="1452"/>
            </a:xfrm>
            <a:prstGeom prst="rect">
              <a:avLst/>
            </a:prstGeom>
            <a:noFill/>
          </p:spPr>
          <p:txBody>
            <a:bodyPr wrap="square" rtlCol="0">
              <a:spAutoFit/>
            </a:bodyPr>
            <a:p>
              <a:r>
                <a:rPr lang="zh-CN" altLang="en-US" b="1">
                  <a:solidFill>
                    <a:srgbClr val="00B0F0"/>
                  </a:solidFill>
                </a:rPr>
                <a:t>动作缓慢</a:t>
              </a:r>
              <a:endParaRPr lang="zh-CN" altLang="en-US" b="1">
                <a:solidFill>
                  <a:srgbClr val="00B0F0"/>
                </a:solidFill>
              </a:endParaRPr>
            </a:p>
            <a:p>
              <a:r>
                <a:rPr lang="zh-CN" altLang="en-US" b="1">
                  <a:solidFill>
                    <a:srgbClr val="00B0F0"/>
                  </a:solidFill>
                </a:rPr>
                <a:t>肌肉僵硬</a:t>
              </a:r>
              <a:endParaRPr lang="zh-CN" altLang="en-US" b="1">
                <a:solidFill>
                  <a:srgbClr val="00B0F0"/>
                </a:solidFill>
              </a:endParaRPr>
            </a:p>
            <a:p>
              <a:r>
                <a:rPr lang="zh-CN" altLang="en-US" b="1">
                  <a:solidFill>
                    <a:srgbClr val="00B0F0"/>
                  </a:solidFill>
                </a:rPr>
                <a:t>静止时震颤</a:t>
              </a:r>
              <a:endParaRPr lang="zh-CN" altLang="en-US" b="1">
                <a:solidFill>
                  <a:srgbClr val="00B0F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000"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基底节功能失调</a:t>
            </a:r>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435610" y="1623060"/>
            <a:ext cx="5686425" cy="4523105"/>
          </a:xfrm>
          <a:prstGeom prst="rect">
            <a:avLst/>
          </a:prstGeom>
          <a:noFill/>
        </p:spPr>
        <p:txBody>
          <a:bodyPr wrap="square" rtlCol="0">
            <a:spAutoFit/>
          </a:bodyPr>
          <a:p>
            <a:r>
              <a:rPr lang="zh-CN" altLang="en-US" sz="2400">
                <a:solidFill>
                  <a:schemeClr val="accent1">
                    <a:lumMod val="75000"/>
                  </a:schemeClr>
                </a:solidFill>
              </a:rPr>
              <a:t>基底节</a:t>
            </a:r>
            <a:r>
              <a:rPr lang="en-US" altLang="zh-CN" sz="2400">
                <a:solidFill>
                  <a:schemeClr val="accent1">
                    <a:lumMod val="75000"/>
                  </a:schemeClr>
                </a:solidFill>
              </a:rPr>
              <a:t>/</a:t>
            </a:r>
            <a:r>
              <a:rPr lang="zh-CN" altLang="en-US" sz="2400">
                <a:solidFill>
                  <a:schemeClr val="accent1">
                    <a:lumMod val="75000"/>
                  </a:schemeClr>
                </a:solidFill>
              </a:rPr>
              <a:t>基底核的主要组成部分</a:t>
            </a:r>
            <a:r>
              <a:rPr lang="zh-CN" altLang="en-US" sz="2400">
                <a:solidFill>
                  <a:schemeClr val="accent1">
                    <a:lumMod val="75000"/>
                  </a:schemeClr>
                </a:solidFill>
              </a:rPr>
              <a:t>如下：</a:t>
            </a:r>
            <a:endParaRPr lang="zh-CN" altLang="en-US" sz="2400">
              <a:solidFill>
                <a:schemeClr val="accent1">
                  <a:lumMod val="75000"/>
                </a:schemeClr>
              </a:solidFill>
            </a:endParaRPr>
          </a:p>
          <a:p>
            <a:r>
              <a:rPr lang="en-US" altLang="zh-CN" sz="2400">
                <a:solidFill>
                  <a:schemeClr val="accent1">
                    <a:lumMod val="75000"/>
                  </a:schemeClr>
                </a:solidFill>
              </a:rPr>
              <a:t>·</a:t>
            </a:r>
            <a:r>
              <a:rPr lang="zh-CN" altLang="en-US" sz="2400">
                <a:solidFill>
                  <a:schemeClr val="accent1">
                    <a:lumMod val="75000"/>
                  </a:schemeClr>
                </a:solidFill>
              </a:rPr>
              <a:t>前侧：</a:t>
            </a:r>
            <a:endParaRPr lang="zh-CN" altLang="en-US" sz="2400">
              <a:solidFill>
                <a:schemeClr val="accent1">
                  <a:lumMod val="75000"/>
                </a:schemeClr>
              </a:solidFill>
            </a:endParaRPr>
          </a:p>
          <a:p>
            <a:pPr indent="457200"/>
            <a:r>
              <a:rPr lang="en-US" altLang="zh-CN" sz="2400">
                <a:solidFill>
                  <a:schemeClr val="accent1">
                    <a:lumMod val="75000"/>
                  </a:schemeClr>
                </a:solidFill>
              </a:rPr>
              <a:t>·</a:t>
            </a:r>
            <a:r>
              <a:rPr lang="zh-CN" altLang="en-US" sz="2400">
                <a:solidFill>
                  <a:schemeClr val="accent1">
                    <a:lumMod val="75000"/>
                  </a:schemeClr>
                </a:solidFill>
              </a:rPr>
              <a:t>纹状体</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尾状核</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壳</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苍白球</a:t>
            </a:r>
            <a:r>
              <a:rPr lang="zh-CN" altLang="en-US" sz="2400">
                <a:solidFill>
                  <a:schemeClr val="accent1">
                    <a:lumMod val="75000"/>
                  </a:schemeClr>
                </a:solidFill>
              </a:rPr>
              <a:t>外侧</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苍白球内</a:t>
            </a:r>
            <a:r>
              <a:rPr lang="zh-CN" altLang="en-US" sz="2400">
                <a:solidFill>
                  <a:schemeClr val="accent1">
                    <a:lumMod val="75000"/>
                  </a:schemeClr>
                </a:solidFill>
              </a:rPr>
              <a:t>侧</a:t>
            </a:r>
            <a:endParaRPr lang="zh-CN" altLang="en-US" sz="2400">
              <a:solidFill>
                <a:schemeClr val="accent1">
                  <a:lumMod val="75000"/>
                </a:schemeClr>
              </a:solidFill>
            </a:endParaRPr>
          </a:p>
          <a:p>
            <a:r>
              <a:rPr lang="en-US" altLang="zh-CN" sz="2400">
                <a:solidFill>
                  <a:schemeClr val="accent1">
                    <a:lumMod val="75000"/>
                  </a:schemeClr>
                </a:solidFill>
              </a:rPr>
              <a:t>·</a:t>
            </a:r>
            <a:r>
              <a:rPr lang="zh-CN" altLang="en-US" sz="2400">
                <a:solidFill>
                  <a:schemeClr val="accent1">
                    <a:lumMod val="75000"/>
                  </a:schemeClr>
                </a:solidFill>
              </a:rPr>
              <a:t>后侧：</a:t>
            </a:r>
            <a:r>
              <a:rPr lang="en-US" altLang="zh-CN" sz="2400">
                <a:solidFill>
                  <a:schemeClr val="accent1">
                    <a:lumMod val="75000"/>
                  </a:schemeClr>
                </a:solidFill>
              </a:rPr>
              <a:t>(</a:t>
            </a:r>
            <a:r>
              <a:rPr lang="zh-CN" altLang="en-US" sz="2400">
                <a:solidFill>
                  <a:schemeClr val="accent1">
                    <a:lumMod val="75000"/>
                  </a:schemeClr>
                </a:solidFill>
              </a:rPr>
              <a:t>这些结构在大脑中更靠下、靠后</a:t>
            </a:r>
            <a:r>
              <a:rPr lang="en-US" altLang="zh-CN" sz="2400">
                <a:solidFill>
                  <a:schemeClr val="accent1">
                    <a:lumMod val="75000"/>
                  </a:schemeClr>
                </a:solidFill>
              </a:rPr>
              <a:t>)</a:t>
            </a:r>
            <a:endParaRPr lang="en-US" altLang="zh-CN" sz="2400">
              <a:solidFill>
                <a:schemeClr val="accent1">
                  <a:lumMod val="75000"/>
                </a:schemeClr>
              </a:solidFill>
            </a:endParaRPr>
          </a:p>
          <a:p>
            <a:pPr indent="457200"/>
            <a:r>
              <a:rPr lang="en-US" altLang="zh-CN" sz="2400">
                <a:solidFill>
                  <a:schemeClr val="accent1">
                    <a:lumMod val="75000"/>
                  </a:schemeClr>
                </a:solidFill>
              </a:rPr>
              <a:t>·</a:t>
            </a:r>
            <a:r>
              <a:rPr lang="zh-CN" altLang="en-US" sz="2400">
                <a:solidFill>
                  <a:schemeClr val="accent1">
                    <a:lumMod val="75000"/>
                  </a:schemeClr>
                </a:solidFill>
              </a:rPr>
              <a:t>丘脑下核</a:t>
            </a:r>
            <a:endParaRPr lang="zh-CN" altLang="en-US" sz="2400">
              <a:solidFill>
                <a:schemeClr val="accent1">
                  <a:lumMod val="75000"/>
                </a:schemeClr>
              </a:solidFill>
            </a:endParaRPr>
          </a:p>
          <a:p>
            <a:pPr indent="457200"/>
            <a:r>
              <a:rPr lang="en-US" altLang="zh-CN" sz="2400">
                <a:solidFill>
                  <a:schemeClr val="accent1">
                    <a:lumMod val="75000"/>
                  </a:schemeClr>
                </a:solidFill>
              </a:rPr>
              <a:t>·</a:t>
            </a:r>
            <a:r>
              <a:rPr lang="zh-CN" altLang="en-US" sz="2400">
                <a:solidFill>
                  <a:schemeClr val="accent1">
                    <a:lumMod val="75000"/>
                  </a:schemeClr>
                </a:solidFill>
              </a:rPr>
              <a:t>黑质：</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黑质</a:t>
            </a:r>
            <a:r>
              <a:rPr lang="zh-CN" altLang="en-US" sz="2400">
                <a:solidFill>
                  <a:schemeClr val="accent1">
                    <a:lumMod val="75000"/>
                  </a:schemeClr>
                </a:solidFill>
              </a:rPr>
              <a:t>网状部</a:t>
            </a:r>
            <a:endParaRPr lang="zh-CN" altLang="en-US" sz="2400">
              <a:solidFill>
                <a:schemeClr val="accent1">
                  <a:lumMod val="75000"/>
                </a:schemeClr>
              </a:solidFill>
            </a:endParaRPr>
          </a:p>
          <a:p>
            <a:pPr marL="457200" lvl="1" indent="457200"/>
            <a:r>
              <a:rPr lang="en-US" altLang="zh-CN" sz="2400">
                <a:solidFill>
                  <a:schemeClr val="accent1">
                    <a:lumMod val="75000"/>
                  </a:schemeClr>
                </a:solidFill>
              </a:rPr>
              <a:t>·</a:t>
            </a:r>
            <a:r>
              <a:rPr lang="zh-CN" altLang="en-US" sz="2400">
                <a:solidFill>
                  <a:schemeClr val="accent1">
                    <a:lumMod val="75000"/>
                  </a:schemeClr>
                </a:solidFill>
              </a:rPr>
              <a:t>黑质</a:t>
            </a:r>
            <a:r>
              <a:rPr lang="zh-CN" altLang="en-US" sz="2400">
                <a:solidFill>
                  <a:schemeClr val="accent1">
                    <a:lumMod val="75000"/>
                  </a:schemeClr>
                </a:solidFill>
              </a:rPr>
              <a:t>致密部</a:t>
            </a:r>
            <a:endParaRPr lang="zh-CN" altLang="en-US" sz="2400">
              <a:solidFill>
                <a:schemeClr val="accent1">
                  <a:lumMod val="75000"/>
                </a:schemeClr>
              </a:solidFill>
            </a:endParaRPr>
          </a:p>
        </p:txBody>
      </p:sp>
      <p:pic>
        <p:nvPicPr>
          <p:cNvPr id="26" name="图片 25"/>
          <p:cNvPicPr/>
          <p:nvPr/>
        </p:nvPicPr>
        <p:blipFill>
          <a:blip r:embed="rId3"/>
          <a:stretch>
            <a:fillRect/>
          </a:stretch>
        </p:blipFill>
        <p:spPr>
          <a:xfrm>
            <a:off x="6122670" y="1781175"/>
            <a:ext cx="5333365" cy="42075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500" fill="hold"/>
                                        <p:tgtEl>
                                          <p:spTgt spid="26"/>
                                        </p:tgtEl>
                                      </p:cBhvr>
                                      <p:by x="400000" y="400000"/>
                                    </p:animScale>
                                  </p:childTnLst>
                                </p:cTn>
                              </p:par>
                              <p:par>
                                <p:cTn id="15" presetID="0" presetClass="path" presetSubtype="0" accel="50000" decel="50000" fill="hold" nodeType="withEffect">
                                  <p:stCondLst>
                                    <p:cond delay="0"/>
                                  </p:stCondLst>
                                  <p:childTnLst>
                                    <p:animMotion origin="layout" path="M 0 0 L -0.220156 -0.201481 " pathEditMode="relative" rAng="0" ptsTypes="">
                                      <p:cBhvr>
                                        <p:cTn id="16" dur="500" fill="hold"/>
                                        <p:tgtEl>
                                          <p:spTgt spid="26"/>
                                        </p:tgtEl>
                                        <p:attrNameLst>
                                          <p:attrName>ppt_x</p:attrName>
                                          <p:attrName>ppt_y</p:attrName>
                                        </p:attrNameLst>
                                      </p:cBhvr>
                                      <p:rCtr x="-117" y="-107"/>
                                    </p:animMotion>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nodeType="clickEffect">
                                  <p:stCondLst>
                                    <p:cond delay="0"/>
                                  </p:stCondLst>
                                  <p:childTnLst>
                                    <p:animScale>
                                      <p:cBhvr>
                                        <p:cTn id="20" dur="500" fill="hold"/>
                                        <p:tgtEl>
                                          <p:spTgt spid="26"/>
                                        </p:tgtEl>
                                      </p:cBhvr>
                                      <p:by x="25000" y="25000"/>
                                    </p:animScale>
                                  </p:childTnLst>
                                </p:cTn>
                              </p:par>
                              <p:par>
                                <p:cTn id="21" presetID="0" presetClass="path" presetSubtype="0" accel="50000" decel="50000" fill="hold" nodeType="withEffect">
                                  <p:stCondLst>
                                    <p:cond delay="0"/>
                                  </p:stCondLst>
                                  <p:childTnLst>
                                    <p:animMotion origin="layout" path="M -0.219323 -0.200833 L -0.000624932 9.26604e-05 " pathEditMode="relative" rAng="0" ptsTypes="">
                                      <p:cBhvr>
                                        <p:cTn id="22" dur="500" fill="hold"/>
                                        <p:tgtEl>
                                          <p:spTgt spid="26"/>
                                        </p:tgtEl>
                                        <p:attrNameLst>
                                          <p:attrName>ppt_x</p:attrName>
                                          <p:attrName>ppt_y</p:attrName>
                                        </p:attrNameLst>
                                      </p:cBhvr>
                                      <p:rCtr x="109"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中脑黑质</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436245" y="2363470"/>
            <a:ext cx="5686425" cy="2676525"/>
          </a:xfrm>
          <a:prstGeom prst="rect">
            <a:avLst/>
          </a:prstGeom>
          <a:noFill/>
        </p:spPr>
        <p:txBody>
          <a:bodyPr wrap="square" rtlCol="0">
            <a:spAutoFit/>
          </a:bodyPr>
          <a:p>
            <a:r>
              <a:rPr lang="zh-CN" altLang="en-US" sz="2400">
                <a:solidFill>
                  <a:schemeClr val="accent1">
                    <a:lumMod val="75000"/>
                  </a:schemeClr>
                </a:solidFill>
              </a:rPr>
              <a:t>黑质</a:t>
            </a:r>
            <a:r>
              <a:rPr lang="zh-CN" altLang="en-US" sz="2400">
                <a:solidFill>
                  <a:schemeClr val="accent1">
                    <a:lumMod val="75000"/>
                  </a:schemeClr>
                </a:solidFill>
              </a:rPr>
              <a:t>网状部：</a:t>
            </a:r>
            <a:endParaRPr lang="zh-CN" altLang="en-US" sz="2400">
              <a:solidFill>
                <a:schemeClr val="accent1">
                  <a:lumMod val="75000"/>
                </a:schemeClr>
              </a:solidFill>
            </a:endParaRPr>
          </a:p>
          <a:p>
            <a:pPr indent="457200"/>
            <a:r>
              <a:rPr lang="zh-CN" altLang="en-US" sz="2400">
                <a:solidFill>
                  <a:schemeClr val="accent1">
                    <a:lumMod val="75000"/>
                  </a:schemeClr>
                </a:solidFill>
              </a:rPr>
              <a:t>形态、纤维联系和功能与苍白球内段相似。</a:t>
            </a:r>
            <a:endParaRPr lang="zh-CN" altLang="en-US" sz="2400">
              <a:solidFill>
                <a:schemeClr val="accent1">
                  <a:lumMod val="75000"/>
                </a:schemeClr>
              </a:solidFill>
            </a:endParaRPr>
          </a:p>
          <a:p>
            <a:pPr indent="457200"/>
            <a:endParaRPr lang="zh-CN" altLang="en-US" sz="2400">
              <a:solidFill>
                <a:schemeClr val="accent1">
                  <a:lumMod val="75000"/>
                </a:schemeClr>
              </a:solidFill>
            </a:endParaRPr>
          </a:p>
          <a:p>
            <a:r>
              <a:rPr lang="zh-CN" altLang="en-US" sz="2400">
                <a:solidFill>
                  <a:schemeClr val="accent1">
                    <a:lumMod val="75000"/>
                  </a:schemeClr>
                </a:solidFill>
              </a:rPr>
              <a:t>黑质</a:t>
            </a:r>
            <a:r>
              <a:rPr lang="zh-CN" altLang="en-US" sz="2400">
                <a:solidFill>
                  <a:schemeClr val="accent1">
                    <a:lumMod val="75000"/>
                  </a:schemeClr>
                </a:solidFill>
              </a:rPr>
              <a:t>致密部：</a:t>
            </a:r>
            <a:endParaRPr lang="zh-CN" altLang="en-US" sz="2400">
              <a:solidFill>
                <a:schemeClr val="accent1">
                  <a:lumMod val="75000"/>
                </a:schemeClr>
              </a:solidFill>
            </a:endParaRPr>
          </a:p>
          <a:p>
            <a:pPr indent="457200"/>
            <a:r>
              <a:rPr lang="zh-CN" altLang="en-US" sz="2400">
                <a:solidFill>
                  <a:schemeClr val="accent1">
                    <a:lumMod val="75000"/>
                  </a:schemeClr>
                </a:solidFill>
              </a:rPr>
              <a:t>主要为多巴胺能神经元。</a:t>
            </a:r>
            <a:endParaRPr lang="zh-CN" altLang="en-US" sz="2400">
              <a:solidFill>
                <a:schemeClr val="accent1">
                  <a:lumMod val="75000"/>
                </a:schemeClr>
              </a:solidFill>
            </a:endParaRPr>
          </a:p>
          <a:p>
            <a:endParaRPr lang="zh-CN" altLang="en-US" sz="2400">
              <a:solidFill>
                <a:schemeClr val="accent1">
                  <a:lumMod val="75000"/>
                </a:schemeClr>
              </a:solidFill>
            </a:endParaRPr>
          </a:p>
        </p:txBody>
      </p:sp>
      <p:pic>
        <p:nvPicPr>
          <p:cNvPr id="106" name="图片 105"/>
          <p:cNvPicPr/>
          <p:nvPr/>
        </p:nvPicPr>
        <p:blipFill>
          <a:blip r:embed="rId3"/>
          <a:stretch>
            <a:fillRect/>
          </a:stretch>
        </p:blipFill>
        <p:spPr>
          <a:xfrm>
            <a:off x="6122670" y="1781175"/>
            <a:ext cx="5333365" cy="42075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500" fill="hold"/>
                                        <p:tgtEl>
                                          <p:spTgt spid="106"/>
                                        </p:tgtEl>
                                      </p:cBhvr>
                                      <p:by x="400000" y="400000"/>
                                    </p:animScale>
                                  </p:childTnLst>
                                </p:cTn>
                              </p:par>
                              <p:par>
                                <p:cTn id="7" presetID="0" presetClass="path" presetSubtype="0" accel="50000" decel="50000" fill="hold" nodeType="withEffect">
                                  <p:stCondLst>
                                    <p:cond delay="0"/>
                                  </p:stCondLst>
                                  <p:childTnLst>
                                    <p:animMotion origin="layout" path="M 0 0 L -0.220156 -0.201481 " pathEditMode="relative" rAng="0" ptsTypes="">
                                      <p:cBhvr>
                                        <p:cTn id="8" dur="500" fill="hold"/>
                                        <p:tgtEl>
                                          <p:spTgt spid="106"/>
                                        </p:tgtEl>
                                        <p:attrNameLst>
                                          <p:attrName>ppt_x</p:attrName>
                                          <p:attrName>ppt_y</p:attrName>
                                        </p:attrNameLst>
                                      </p:cBhvr>
                                      <p:rCtr x="-117" y="-1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多巴胺</a:t>
            </a:r>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280035" y="1771015"/>
            <a:ext cx="5686425" cy="1938020"/>
          </a:xfrm>
          <a:prstGeom prst="rect">
            <a:avLst/>
          </a:prstGeom>
          <a:noFill/>
        </p:spPr>
        <p:txBody>
          <a:bodyPr wrap="square" rtlCol="0">
            <a:spAutoFit/>
          </a:bodyPr>
          <a:p>
            <a:r>
              <a:rPr lang="en-US" altLang="zh-CN" sz="2400">
                <a:solidFill>
                  <a:schemeClr val="accent1">
                    <a:lumMod val="75000"/>
                  </a:schemeClr>
                </a:solidFill>
              </a:rPr>
              <a:t>·</a:t>
            </a:r>
            <a:r>
              <a:rPr lang="zh-CN" altLang="en-US" sz="2400" b="1">
                <a:solidFill>
                  <a:schemeClr val="accent1">
                    <a:lumMod val="75000"/>
                  </a:schemeClr>
                </a:solidFill>
              </a:rPr>
              <a:t>参与精神情绪活动</a:t>
            </a:r>
            <a:r>
              <a:rPr lang="zh-CN" altLang="en-US" sz="2400">
                <a:solidFill>
                  <a:schemeClr val="accent1">
                    <a:lumMod val="75000"/>
                  </a:schemeClr>
                </a:solidFill>
              </a:rPr>
              <a:t>：</a:t>
            </a:r>
            <a:endParaRPr lang="zh-CN" altLang="en-US" sz="2400">
              <a:solidFill>
                <a:schemeClr val="accent1">
                  <a:lumMod val="75000"/>
                </a:schemeClr>
              </a:solidFill>
            </a:endParaRPr>
          </a:p>
          <a:p>
            <a:pPr indent="457200"/>
            <a:r>
              <a:rPr lang="zh-CN" altLang="en-US" sz="2400">
                <a:solidFill>
                  <a:schemeClr val="accent1">
                    <a:lumMod val="75000"/>
                  </a:schemeClr>
                </a:solidFill>
              </a:rPr>
              <a:t>多巴胺与精神情绪活动具有密切关系。中脑边缘叶多巴胺系统及中脑皮质多巴胺系统分别参与情感及认知功能的调控，包括思想﹑感觉﹑理解和推理。</a:t>
            </a:r>
            <a:endParaRPr lang="zh-CN" altLang="en-US" sz="2400">
              <a:solidFill>
                <a:schemeClr val="accent1">
                  <a:lumMod val="75000"/>
                </a:schemeClr>
              </a:solidFill>
            </a:endParaRPr>
          </a:p>
        </p:txBody>
      </p:sp>
      <p:sp>
        <p:nvSpPr>
          <p:cNvPr id="7" name="文本框 6"/>
          <p:cNvSpPr txBox="1"/>
          <p:nvPr/>
        </p:nvSpPr>
        <p:spPr>
          <a:xfrm>
            <a:off x="6122035" y="1555115"/>
            <a:ext cx="5686425" cy="4892675"/>
          </a:xfrm>
          <a:prstGeom prst="rect">
            <a:avLst/>
          </a:prstGeom>
          <a:noFill/>
        </p:spPr>
        <p:txBody>
          <a:bodyPr wrap="square" rtlCol="0">
            <a:spAutoFit/>
          </a:bodyPr>
          <a:p>
            <a:r>
              <a:rPr lang="en-US" altLang="zh-CN" sz="2400">
                <a:solidFill>
                  <a:schemeClr val="accent1">
                    <a:lumMod val="75000"/>
                  </a:schemeClr>
                </a:solidFill>
              </a:rPr>
              <a:t>·</a:t>
            </a:r>
            <a:r>
              <a:rPr lang="zh-CN" altLang="en-US" sz="2400" b="1">
                <a:solidFill>
                  <a:schemeClr val="accent1">
                    <a:lumMod val="75000"/>
                  </a:schemeClr>
                </a:solidFill>
              </a:rPr>
              <a:t>调节躯体运动</a:t>
            </a:r>
            <a:r>
              <a:rPr lang="zh-CN" altLang="en-US" sz="2400">
                <a:solidFill>
                  <a:schemeClr val="accent1">
                    <a:lumMod val="75000"/>
                  </a:schemeClr>
                </a:solidFill>
              </a:rPr>
              <a:t>：</a:t>
            </a:r>
            <a:endParaRPr lang="zh-CN" altLang="en-US" sz="2400">
              <a:solidFill>
                <a:schemeClr val="accent1">
                  <a:lumMod val="75000"/>
                </a:schemeClr>
              </a:solidFill>
            </a:endParaRPr>
          </a:p>
          <a:p>
            <a:pPr indent="457200"/>
            <a:r>
              <a:rPr lang="zh-CN" altLang="en-US" sz="2400">
                <a:solidFill>
                  <a:schemeClr val="accent1">
                    <a:lumMod val="75000"/>
                  </a:schemeClr>
                </a:solidFill>
              </a:rPr>
              <a:t>多巴胺是锥体系统中的重要递质，与躯体运动功能有密切关系。促进多巴胺能神经活动导致运动功能增强。</a:t>
            </a:r>
            <a:endParaRPr lang="zh-CN" altLang="en-US" sz="2400">
              <a:solidFill>
                <a:schemeClr val="accent1">
                  <a:lumMod val="75000"/>
                </a:schemeClr>
              </a:solidFill>
            </a:endParaRPr>
          </a:p>
          <a:p>
            <a:pPr indent="457200"/>
            <a:r>
              <a:rPr lang="zh-CN" altLang="en-US" sz="2400">
                <a:solidFill>
                  <a:schemeClr val="accent1">
                    <a:lumMod val="75000"/>
                  </a:schemeClr>
                </a:solidFill>
              </a:rPr>
              <a:t>枢多巴胺能系统（特别是黑质-纹状体束）在躯体运动中具有举足轻重的作用，其递质释放可能是一切行为反应的基本条件。该系统兴奋可引起好奇，探究、觅食，运动增多等反应；该系统抑制则出现运动减少等反应。</a:t>
            </a:r>
            <a:endParaRPr lang="zh-CN" altLang="en-US" sz="2400">
              <a:solidFill>
                <a:schemeClr val="accent1">
                  <a:lumMod val="75000"/>
                </a:schemeClr>
              </a:solidFill>
            </a:endParaRPr>
          </a:p>
          <a:p>
            <a:pPr indent="457200"/>
            <a:r>
              <a:rPr lang="en-US" altLang="zh-CN" sz="2400">
                <a:solidFill>
                  <a:schemeClr val="accent1">
                    <a:lumMod val="75000"/>
                  </a:schemeClr>
                </a:solidFill>
              </a:rPr>
              <a:t>但是，多巴胺并非锥体系中调节躯体运动的唯一递质，它与乙酰胆碱的功能平衡才能维持机体的正常活动。</a:t>
            </a:r>
            <a:endParaRPr lang="en-US" altLang="zh-CN" sz="2400">
              <a:solidFill>
                <a:schemeClr val="accent1">
                  <a:lumMod val="75000"/>
                </a:schemeClr>
              </a:solidFill>
            </a:endParaRPr>
          </a:p>
        </p:txBody>
      </p:sp>
      <p:sp>
        <p:nvSpPr>
          <p:cNvPr id="8" name="文本框 7"/>
          <p:cNvSpPr txBox="1"/>
          <p:nvPr/>
        </p:nvSpPr>
        <p:spPr>
          <a:xfrm>
            <a:off x="280035" y="3709035"/>
            <a:ext cx="5686425" cy="3046095"/>
          </a:xfrm>
          <a:prstGeom prst="rect">
            <a:avLst/>
          </a:prstGeom>
          <a:noFill/>
        </p:spPr>
        <p:txBody>
          <a:bodyPr wrap="square" rtlCol="0">
            <a:spAutoFit/>
          </a:bodyPr>
          <a:p>
            <a:r>
              <a:rPr lang="en-US" altLang="zh-CN" sz="2400">
                <a:solidFill>
                  <a:schemeClr val="accent1">
                    <a:lumMod val="75000"/>
                  </a:schemeClr>
                </a:solidFill>
              </a:rPr>
              <a:t>·</a:t>
            </a:r>
            <a:r>
              <a:rPr lang="zh-CN" altLang="en-US" sz="2400" b="1">
                <a:solidFill>
                  <a:schemeClr val="accent1">
                    <a:lumMod val="75000"/>
                  </a:schemeClr>
                </a:solidFill>
              </a:rPr>
              <a:t>调节心血管活动：</a:t>
            </a:r>
            <a:endParaRPr lang="zh-CN" altLang="en-US" sz="2400">
              <a:solidFill>
                <a:schemeClr val="accent1">
                  <a:lumMod val="75000"/>
                </a:schemeClr>
              </a:solidFill>
            </a:endParaRPr>
          </a:p>
          <a:p>
            <a:pPr indent="457200"/>
            <a:r>
              <a:rPr lang="zh-CN" altLang="en-US" sz="2400">
                <a:solidFill>
                  <a:schemeClr val="accent1">
                    <a:lumMod val="75000"/>
                  </a:schemeClr>
                </a:solidFill>
              </a:rPr>
              <a:t>在中枢神经系统中不同部位的多巴胺对心血管系统有不同作用。</a:t>
            </a:r>
            <a:endParaRPr lang="zh-CN" altLang="en-US" sz="2400">
              <a:solidFill>
                <a:schemeClr val="accent1">
                  <a:lumMod val="75000"/>
                </a:schemeClr>
              </a:solidFill>
            </a:endParaRPr>
          </a:p>
          <a:p>
            <a:pPr indent="457200"/>
            <a:endParaRPr lang="zh-CN" altLang="en-US" sz="2400">
              <a:solidFill>
                <a:schemeClr val="accent1">
                  <a:lumMod val="75000"/>
                </a:schemeClr>
              </a:solidFill>
            </a:endParaRPr>
          </a:p>
          <a:p>
            <a:r>
              <a:rPr lang="en-US" altLang="zh-CN" sz="2400">
                <a:solidFill>
                  <a:schemeClr val="accent1">
                    <a:lumMod val="75000"/>
                  </a:schemeClr>
                </a:solidFill>
              </a:rPr>
              <a:t>·</a:t>
            </a:r>
            <a:r>
              <a:rPr lang="zh-CN" altLang="en-US" sz="2400" b="1">
                <a:solidFill>
                  <a:schemeClr val="accent1">
                    <a:lumMod val="75000"/>
                  </a:schemeClr>
                </a:solidFill>
              </a:rPr>
              <a:t>对胃肠道功能活动的影响：</a:t>
            </a:r>
            <a:endParaRPr lang="zh-CN" altLang="en-US" sz="2400">
              <a:solidFill>
                <a:schemeClr val="accent1">
                  <a:lumMod val="75000"/>
                </a:schemeClr>
              </a:solidFill>
            </a:endParaRPr>
          </a:p>
          <a:p>
            <a:pPr indent="457200"/>
            <a:r>
              <a:rPr lang="zh-CN" altLang="en-US" sz="2400">
                <a:solidFill>
                  <a:schemeClr val="accent1">
                    <a:lumMod val="75000"/>
                  </a:schemeClr>
                </a:solidFill>
              </a:rPr>
              <a:t>中枢多巴胺能系统能影响胃肠道功能，调节胃酸、胃蛋白酶、胰腺碱性物和酶的分泌。</a:t>
            </a:r>
            <a:endParaRPr lang="zh-CN" altLang="en-US" sz="240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7" grpId="0"/>
      <p:bldP spid="7" grpId="1"/>
      <p:bldP spid="8" grpId="0"/>
      <p:bldP spid="8"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中脑黑质</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436245" y="2363470"/>
            <a:ext cx="5686425" cy="2676525"/>
          </a:xfrm>
          <a:prstGeom prst="rect">
            <a:avLst/>
          </a:prstGeom>
          <a:noFill/>
        </p:spPr>
        <p:txBody>
          <a:bodyPr wrap="square" rtlCol="0">
            <a:spAutoFit/>
          </a:bodyPr>
          <a:p>
            <a:r>
              <a:rPr lang="zh-CN" altLang="en-US" sz="2400">
                <a:solidFill>
                  <a:schemeClr val="accent1">
                    <a:lumMod val="75000"/>
                  </a:schemeClr>
                </a:solidFill>
              </a:rPr>
              <a:t>黑质</a:t>
            </a:r>
            <a:r>
              <a:rPr lang="zh-CN" altLang="en-US" sz="2400">
                <a:solidFill>
                  <a:schemeClr val="accent1">
                    <a:lumMod val="75000"/>
                  </a:schemeClr>
                </a:solidFill>
              </a:rPr>
              <a:t>网状部：</a:t>
            </a:r>
            <a:endParaRPr lang="zh-CN" altLang="en-US" sz="2400">
              <a:solidFill>
                <a:schemeClr val="accent1">
                  <a:lumMod val="75000"/>
                </a:schemeClr>
              </a:solidFill>
            </a:endParaRPr>
          </a:p>
          <a:p>
            <a:pPr indent="457200"/>
            <a:r>
              <a:rPr lang="zh-CN" altLang="en-US" sz="2400">
                <a:solidFill>
                  <a:schemeClr val="accent1">
                    <a:lumMod val="75000"/>
                  </a:schemeClr>
                </a:solidFill>
              </a:rPr>
              <a:t>形态、纤维联系和功能与苍白球内段相似。</a:t>
            </a:r>
            <a:endParaRPr lang="zh-CN" altLang="en-US" sz="2400">
              <a:solidFill>
                <a:schemeClr val="accent1">
                  <a:lumMod val="75000"/>
                </a:schemeClr>
              </a:solidFill>
            </a:endParaRPr>
          </a:p>
          <a:p>
            <a:pPr indent="457200"/>
            <a:endParaRPr lang="zh-CN" altLang="en-US" sz="2400">
              <a:solidFill>
                <a:schemeClr val="accent1">
                  <a:lumMod val="75000"/>
                </a:schemeClr>
              </a:solidFill>
            </a:endParaRPr>
          </a:p>
          <a:p>
            <a:r>
              <a:rPr lang="zh-CN" altLang="en-US" sz="2400">
                <a:solidFill>
                  <a:schemeClr val="accent1">
                    <a:lumMod val="75000"/>
                  </a:schemeClr>
                </a:solidFill>
              </a:rPr>
              <a:t>黑质</a:t>
            </a:r>
            <a:r>
              <a:rPr lang="zh-CN" altLang="en-US" sz="2400">
                <a:solidFill>
                  <a:schemeClr val="accent1">
                    <a:lumMod val="75000"/>
                  </a:schemeClr>
                </a:solidFill>
              </a:rPr>
              <a:t>致密部：</a:t>
            </a:r>
            <a:endParaRPr lang="zh-CN" altLang="en-US" sz="2400">
              <a:solidFill>
                <a:schemeClr val="accent1">
                  <a:lumMod val="75000"/>
                </a:schemeClr>
              </a:solidFill>
            </a:endParaRPr>
          </a:p>
          <a:p>
            <a:pPr indent="457200"/>
            <a:r>
              <a:rPr lang="zh-CN" altLang="en-US" sz="2400">
                <a:solidFill>
                  <a:schemeClr val="accent1">
                    <a:lumMod val="75000"/>
                  </a:schemeClr>
                </a:solidFill>
              </a:rPr>
              <a:t>主要为多巴胺能神经元。</a:t>
            </a:r>
            <a:endParaRPr lang="zh-CN" altLang="en-US" sz="2400">
              <a:solidFill>
                <a:schemeClr val="accent1">
                  <a:lumMod val="75000"/>
                </a:schemeClr>
              </a:solidFill>
            </a:endParaRPr>
          </a:p>
          <a:p>
            <a:endParaRPr lang="zh-CN" altLang="en-US" sz="2400">
              <a:solidFill>
                <a:schemeClr val="accent1">
                  <a:lumMod val="75000"/>
                </a:schemeClr>
              </a:solidFill>
            </a:endParaRPr>
          </a:p>
        </p:txBody>
      </p:sp>
      <p:pic>
        <p:nvPicPr>
          <p:cNvPr id="106" name="图片 105"/>
          <p:cNvPicPr/>
          <p:nvPr/>
        </p:nvPicPr>
        <p:blipFill>
          <a:blip r:embed="rId3"/>
          <a:stretch>
            <a:fillRect/>
          </a:stretch>
        </p:blipFill>
        <p:spPr>
          <a:xfrm>
            <a:off x="6122670" y="1781175"/>
            <a:ext cx="5333365" cy="42075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7" name="文本框 6"/>
          <p:cNvSpPr txBox="1"/>
          <p:nvPr/>
        </p:nvSpPr>
        <p:spPr>
          <a:xfrm>
            <a:off x="4085590" y="0"/>
            <a:ext cx="8128635" cy="1445260"/>
          </a:xfrm>
          <a:prstGeom prst="rect">
            <a:avLst/>
          </a:prstGeom>
          <a:noFill/>
        </p:spPr>
        <p:txBody>
          <a:bodyPr wrap="square" rtlCol="0">
            <a:spAutoFit/>
          </a:bodyPr>
          <a:p>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基底核</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输入区</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16" name="矩形 15"/>
          <p:cNvSpPr/>
          <p:nvPr/>
        </p:nvSpPr>
        <p:spPr>
          <a:xfrm>
            <a:off x="3364230" y="5069205"/>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基底</a:t>
            </a:r>
            <a:r>
              <a:rPr lang="zh-CN" altLang="en-US" sz="2400" b="1">
                <a:solidFill>
                  <a:schemeClr val="tx1"/>
                </a:solidFill>
              </a:rPr>
              <a:t>神经节</a:t>
            </a:r>
            <a:endParaRPr lang="zh-CN" altLang="en-US" sz="2400" b="1">
              <a:solidFill>
                <a:schemeClr val="tx1"/>
              </a:solidFill>
            </a:endParaRPr>
          </a:p>
        </p:txBody>
      </p:sp>
      <p:sp>
        <p:nvSpPr>
          <p:cNvPr id="21" name="矩形 20"/>
          <p:cNvSpPr/>
          <p:nvPr/>
        </p:nvSpPr>
        <p:spPr>
          <a:xfrm>
            <a:off x="3364230" y="1691005"/>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大脑皮层发起随意</a:t>
            </a:r>
            <a:r>
              <a:rPr lang="zh-CN" altLang="en-US" sz="2400" b="1">
                <a:solidFill>
                  <a:schemeClr val="tx1"/>
                </a:solidFill>
              </a:rPr>
              <a:t>运动</a:t>
            </a:r>
            <a:endParaRPr lang="zh-CN" altLang="en-US" sz="2400" b="1">
              <a:solidFill>
                <a:schemeClr val="tx1"/>
              </a:solidFill>
            </a:endParaRPr>
          </a:p>
        </p:txBody>
      </p:sp>
      <p:sp>
        <p:nvSpPr>
          <p:cNvPr id="6" name="矩形 5"/>
          <p:cNvSpPr/>
          <p:nvPr/>
        </p:nvSpPr>
        <p:spPr>
          <a:xfrm>
            <a:off x="6823710" y="3380105"/>
            <a:ext cx="17913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a:t>
            </a:r>
            <a:endParaRPr lang="zh-CN" altLang="en-US" sz="2400" b="1">
              <a:solidFill>
                <a:schemeClr val="tx1"/>
              </a:solidFill>
            </a:endParaRPr>
          </a:p>
        </p:txBody>
      </p:sp>
      <p:sp>
        <p:nvSpPr>
          <p:cNvPr id="8" name="矩形 7"/>
          <p:cNvSpPr/>
          <p:nvPr/>
        </p:nvSpPr>
        <p:spPr>
          <a:xfrm>
            <a:off x="9265920" y="5069205"/>
            <a:ext cx="208788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脊髓、</a:t>
            </a:r>
            <a:r>
              <a:rPr lang="zh-CN" altLang="en-US" sz="2400" b="1">
                <a:solidFill>
                  <a:schemeClr val="tx1"/>
                </a:solidFill>
              </a:rPr>
              <a:t>骨骼肌</a:t>
            </a:r>
            <a:endParaRPr lang="zh-CN" altLang="en-US" sz="2400" b="1">
              <a:solidFill>
                <a:schemeClr val="tx1"/>
              </a:solidFill>
            </a:endParaRPr>
          </a:p>
        </p:txBody>
      </p:sp>
      <p:sp>
        <p:nvSpPr>
          <p:cNvPr id="9" name="下箭头 8"/>
          <p:cNvSpPr/>
          <p:nvPr/>
        </p:nvSpPr>
        <p:spPr>
          <a:xfrm>
            <a:off x="3774440" y="2717165"/>
            <a:ext cx="1133475" cy="2348230"/>
          </a:xfrm>
          <a:prstGeom prst="downArrow">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endParaRPr>
          </a:p>
        </p:txBody>
      </p:sp>
      <p:sp>
        <p:nvSpPr>
          <p:cNvPr id="10" name="下箭头 9"/>
          <p:cNvSpPr/>
          <p:nvPr/>
        </p:nvSpPr>
        <p:spPr>
          <a:xfrm rot="10800000">
            <a:off x="7564120" y="2735580"/>
            <a:ext cx="311150" cy="644525"/>
          </a:xfrm>
          <a:prstGeom prst="downArrow">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下箭头 10"/>
          <p:cNvSpPr/>
          <p:nvPr/>
        </p:nvSpPr>
        <p:spPr>
          <a:xfrm rot="10800000">
            <a:off x="7564120" y="4424680"/>
            <a:ext cx="311150" cy="644525"/>
          </a:xfrm>
          <a:prstGeom prst="downArrow">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圆角右箭头 11"/>
          <p:cNvSpPr/>
          <p:nvPr/>
        </p:nvSpPr>
        <p:spPr>
          <a:xfrm rot="5400000">
            <a:off x="8147050" y="2361565"/>
            <a:ext cx="3171190" cy="2235835"/>
          </a:xfrm>
          <a:prstGeom prst="bentArrow">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7" name="文本框 16"/>
          <p:cNvSpPr txBox="1"/>
          <p:nvPr/>
        </p:nvSpPr>
        <p:spPr>
          <a:xfrm>
            <a:off x="2849880" y="3601720"/>
            <a:ext cx="1235710" cy="583565"/>
          </a:xfrm>
          <a:prstGeom prst="rect">
            <a:avLst/>
          </a:prstGeom>
          <a:noFill/>
        </p:spPr>
        <p:txBody>
          <a:bodyPr wrap="square" rtlCol="0">
            <a:spAutoFit/>
          </a:bodyPr>
          <a:p>
            <a:r>
              <a:rPr lang="en-US" altLang="zh-CN" sz="3200"/>
              <a:t>INPUT</a:t>
            </a:r>
            <a:endParaRPr lang="en-US" altLang="zh-CN" sz="3200"/>
          </a:p>
        </p:txBody>
      </p:sp>
      <p:sp>
        <p:nvSpPr>
          <p:cNvPr id="18" name="文本框 17"/>
          <p:cNvSpPr txBox="1"/>
          <p:nvPr/>
        </p:nvSpPr>
        <p:spPr>
          <a:xfrm>
            <a:off x="5236210" y="3601720"/>
            <a:ext cx="1587500" cy="583565"/>
          </a:xfrm>
          <a:prstGeom prst="rect">
            <a:avLst/>
          </a:prstGeom>
          <a:noFill/>
        </p:spPr>
        <p:txBody>
          <a:bodyPr wrap="square" rtlCol="0">
            <a:spAutoFit/>
          </a:bodyPr>
          <a:p>
            <a:r>
              <a:rPr lang="en-US" altLang="zh-CN" sz="3200"/>
              <a:t>OUTPUT</a:t>
            </a:r>
            <a:endParaRPr lang="en-US" altLang="zh-CN" sz="3200"/>
          </a:p>
        </p:txBody>
      </p:sp>
      <p:sp>
        <p:nvSpPr>
          <p:cNvPr id="19" name="文本框 18"/>
          <p:cNvSpPr txBox="1"/>
          <p:nvPr/>
        </p:nvSpPr>
        <p:spPr>
          <a:xfrm>
            <a:off x="234315" y="2332355"/>
            <a:ext cx="2695575" cy="1198880"/>
          </a:xfrm>
          <a:prstGeom prst="rect">
            <a:avLst/>
          </a:prstGeom>
          <a:noFill/>
        </p:spPr>
        <p:txBody>
          <a:bodyPr wrap="square" rtlCol="0">
            <a:spAutoFit/>
          </a:bodyPr>
          <a:p>
            <a:r>
              <a:rPr lang="zh-CN" altLang="en-US" sz="3600" b="1">
                <a:solidFill>
                  <a:schemeClr val="accent1"/>
                </a:solidFill>
              </a:rPr>
              <a:t>大脑如何发起一个运动？</a:t>
            </a:r>
            <a:endParaRPr lang="zh-CN" altLang="en-US" sz="3600" b="1">
              <a:solidFill>
                <a:schemeClr val="accent1"/>
              </a:solidFill>
            </a:endParaRPr>
          </a:p>
        </p:txBody>
      </p:sp>
      <p:sp>
        <p:nvSpPr>
          <p:cNvPr id="20" name="文本框 19"/>
          <p:cNvSpPr txBox="1"/>
          <p:nvPr/>
        </p:nvSpPr>
        <p:spPr>
          <a:xfrm>
            <a:off x="1934845" y="5069205"/>
            <a:ext cx="3664585" cy="995680"/>
          </a:xfrm>
          <a:prstGeom prst="rect">
            <a:avLst/>
          </a:prstGeom>
          <a:noFill/>
        </p:spPr>
        <p:txBody>
          <a:bodyPr wrap="square" rtlCol="0">
            <a:noAutofit/>
          </a:bodyPr>
          <a:p>
            <a:r>
              <a:rPr lang="zh-CN" altLang="en-US" sz="2400"/>
              <a:t>协助调节</a:t>
            </a:r>
            <a:endParaRPr lang="zh-CN" altLang="en-US" sz="2400"/>
          </a:p>
          <a:p>
            <a:r>
              <a:rPr lang="zh-CN" altLang="en-US" sz="2400"/>
              <a:t>肌肉运动</a:t>
            </a:r>
            <a:endParaRPr lang="zh-CN" altLang="en-US" sz="2400"/>
          </a:p>
        </p:txBody>
      </p:sp>
      <p:sp>
        <p:nvSpPr>
          <p:cNvPr id="5" name="文本框 4"/>
          <p:cNvSpPr txBox="1"/>
          <p:nvPr/>
        </p:nvSpPr>
        <p:spPr>
          <a:xfrm>
            <a:off x="435610" y="0"/>
            <a:ext cx="364998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纹状体</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2" name="文本框 21"/>
          <p:cNvSpPr txBox="1"/>
          <p:nvPr/>
        </p:nvSpPr>
        <p:spPr>
          <a:xfrm>
            <a:off x="5236210" y="4476750"/>
            <a:ext cx="2695575" cy="645160"/>
          </a:xfrm>
          <a:prstGeom prst="rect">
            <a:avLst/>
          </a:prstGeom>
          <a:noFill/>
        </p:spPr>
        <p:txBody>
          <a:bodyPr wrap="square" rtlCol="0">
            <a:spAutoFit/>
          </a:bodyPr>
          <a:p>
            <a:r>
              <a:rPr lang="zh-CN" altLang="en-US" sz="3600" b="1">
                <a:solidFill>
                  <a:schemeClr val="tx1"/>
                </a:solidFill>
              </a:rPr>
              <a:t>苍白球</a:t>
            </a:r>
            <a:endParaRPr lang="zh-CN" altLang="en-US" sz="3600" b="1">
              <a:solidFill>
                <a:schemeClr val="tx1"/>
              </a:solidFill>
            </a:endParaRPr>
          </a:p>
        </p:txBody>
      </p:sp>
      <p:sp>
        <p:nvSpPr>
          <p:cNvPr id="24" name="下箭头 23"/>
          <p:cNvSpPr/>
          <p:nvPr/>
        </p:nvSpPr>
        <p:spPr>
          <a:xfrm rot="10800000">
            <a:off x="5862320" y="4077335"/>
            <a:ext cx="311150" cy="481965"/>
          </a:xfrm>
          <a:prstGeom prst="downArrow">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grpId="0" nodeType="clickEffect">
                                  <p:stCondLst>
                                    <p:cond delay="0"/>
                                  </p:stCondLst>
                                  <p:childTnLst>
                                    <p:animMotion origin="layout" path="M 0 0 L 0.175573 0.445 " pathEditMode="relative" ptsTypes="">
                                      <p:cBhvr>
                                        <p:cTn id="51" dur="1000" fill="hold"/>
                                        <p:tgtEl>
                                          <p:spTgt spid="5"/>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P spid="21" grpId="0" animBg="1"/>
      <p:bldP spid="8" grpId="0" animBg="1"/>
      <p:bldP spid="19" grpId="1"/>
      <p:bldP spid="21" grpId="1" animBg="1"/>
      <p:bldP spid="8" grpId="1" animBg="1"/>
      <p:bldP spid="16" grpId="0" animBg="1"/>
      <p:bldP spid="16" grpId="1" animBg="1"/>
      <p:bldP spid="6" grpId="0" animBg="1"/>
      <p:bldP spid="9" grpId="0" animBg="1"/>
      <p:bldP spid="10" grpId="0" animBg="1"/>
      <p:bldP spid="17" grpId="0"/>
      <p:bldP spid="18" grpId="0"/>
      <p:bldP spid="11" grpId="0" animBg="1"/>
      <p:bldP spid="12" grpId="0" animBg="1"/>
      <p:bldP spid="6" grpId="1" animBg="1"/>
      <p:bldP spid="9" grpId="1" animBg="1"/>
      <p:bldP spid="10" grpId="1" animBg="1"/>
      <p:bldP spid="17" grpId="1"/>
      <p:bldP spid="18" grpId="1"/>
      <p:bldP spid="11" grpId="1" animBg="1"/>
      <p:bldP spid="12" grpId="1" animBg="1"/>
      <p:bldP spid="20" grpId="0"/>
      <p:bldP spid="20" grpId="1"/>
      <p:bldP spid="5" grpId="0"/>
      <p:bldP spid="22" grpId="0"/>
      <p:bldP spid="22" grpId="1"/>
      <p:bldP spid="24" grpId="0" bldLvl="0" animBg="1"/>
      <p:bldP spid="2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nvPicPr>
        <p:blipFill>
          <a:blip r:embed="rId1"/>
          <a:stretch>
            <a:fillRect/>
          </a:stretch>
        </p:blipFill>
        <p:spPr>
          <a:xfrm>
            <a:off x="-213360" y="-189230"/>
            <a:ext cx="12405360" cy="7047230"/>
          </a:xfrm>
          <a:prstGeom prst="rect">
            <a:avLst/>
          </a:prstGeom>
        </p:spPr>
      </p:pic>
      <p:sp>
        <p:nvSpPr>
          <p:cNvPr id="13" name="矩形 12"/>
          <p:cNvSpPr/>
          <p:nvPr/>
        </p:nvSpPr>
        <p:spPr>
          <a:xfrm>
            <a:off x="3363595" y="1941830"/>
            <a:ext cx="525208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新纹状体</a:t>
            </a:r>
            <a:r>
              <a:rPr lang="en-US" altLang="zh-CN" sz="2400" b="1">
                <a:solidFill>
                  <a:schemeClr val="tx1"/>
                </a:solidFill>
              </a:rPr>
              <a:t>(</a:t>
            </a:r>
            <a:r>
              <a:rPr lang="zh-CN" altLang="en-US" sz="2400" b="1">
                <a:solidFill>
                  <a:schemeClr val="tx1"/>
                </a:solidFill>
              </a:rPr>
              <a:t>尾状核、壳</a:t>
            </a:r>
            <a:r>
              <a:rPr lang="en-US" altLang="zh-CN" sz="2400" b="1">
                <a:solidFill>
                  <a:schemeClr val="tx1"/>
                </a:solidFill>
              </a:rPr>
              <a:t>)</a:t>
            </a:r>
            <a:endParaRPr lang="en-US" altLang="zh-CN" sz="2400" b="1">
              <a:solidFill>
                <a:schemeClr val="tx1"/>
              </a:solidFill>
            </a:endParaRPr>
          </a:p>
        </p:txBody>
      </p:sp>
      <p:sp>
        <p:nvSpPr>
          <p:cNvPr id="14" name="矩形 13"/>
          <p:cNvSpPr/>
          <p:nvPr/>
        </p:nvSpPr>
        <p:spPr>
          <a:xfrm>
            <a:off x="955103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网状部</a:t>
            </a:r>
            <a:endParaRPr lang="zh-CN" altLang="en-US" sz="2400" b="1">
              <a:solidFill>
                <a:schemeClr val="tx1"/>
              </a:solidFill>
            </a:endParaRPr>
          </a:p>
        </p:txBody>
      </p:sp>
      <p:sp>
        <p:nvSpPr>
          <p:cNvPr id="16" name="矩形 15"/>
          <p:cNvSpPr/>
          <p:nvPr/>
        </p:nvSpPr>
        <p:spPr>
          <a:xfrm>
            <a:off x="1915795" y="3488055"/>
            <a:ext cx="17405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a:t>
            </a:r>
            <a:r>
              <a:rPr lang="zh-CN" altLang="en-US" sz="2400" b="1">
                <a:solidFill>
                  <a:schemeClr val="tx1"/>
                </a:solidFill>
              </a:rPr>
              <a:t>外侧</a:t>
            </a:r>
            <a:endParaRPr lang="zh-CN" altLang="en-US" sz="2400" b="1">
              <a:solidFill>
                <a:schemeClr val="tx1"/>
              </a:solidFill>
            </a:endParaRPr>
          </a:p>
        </p:txBody>
      </p:sp>
      <p:sp>
        <p:nvSpPr>
          <p:cNvPr id="21" name="矩形 20"/>
          <p:cNvSpPr/>
          <p:nvPr/>
        </p:nvSpPr>
        <p:spPr>
          <a:xfrm>
            <a:off x="3119755"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丘脑下</a:t>
            </a:r>
            <a:r>
              <a:rPr lang="zh-CN" altLang="en-US" sz="2400" b="1">
                <a:solidFill>
                  <a:schemeClr val="tx1"/>
                </a:solidFill>
              </a:rPr>
              <a:t>核</a:t>
            </a:r>
            <a:endParaRPr lang="zh-CN" altLang="en-US" sz="2400" b="1">
              <a:solidFill>
                <a:schemeClr val="tx1"/>
              </a:solidFill>
            </a:endParaRPr>
          </a:p>
        </p:txBody>
      </p:sp>
      <p:sp>
        <p:nvSpPr>
          <p:cNvPr id="6" name="矩形 5"/>
          <p:cNvSpPr/>
          <p:nvPr/>
        </p:nvSpPr>
        <p:spPr>
          <a:xfrm>
            <a:off x="7803515" y="3488055"/>
            <a:ext cx="174752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苍白球内</a:t>
            </a:r>
            <a:r>
              <a:rPr lang="zh-CN" altLang="en-US" sz="2400" b="1">
                <a:solidFill>
                  <a:schemeClr val="tx1"/>
                </a:solidFill>
              </a:rPr>
              <a:t>侧</a:t>
            </a:r>
            <a:endParaRPr lang="zh-CN" altLang="en-US" sz="2400" b="1">
              <a:solidFill>
                <a:schemeClr val="tx1"/>
              </a:solidFill>
            </a:endParaRPr>
          </a:p>
        </p:txBody>
      </p:sp>
      <p:sp>
        <p:nvSpPr>
          <p:cNvPr id="7" name="矩形 6"/>
          <p:cNvSpPr/>
          <p:nvPr/>
        </p:nvSpPr>
        <p:spPr>
          <a:xfrm>
            <a:off x="6795770"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a:t>
            </a:r>
            <a:endParaRPr lang="zh-CN" altLang="en-US" sz="2400" b="1">
              <a:solidFill>
                <a:schemeClr val="tx1"/>
              </a:solidFill>
            </a:endParaRPr>
          </a:p>
        </p:txBody>
      </p:sp>
      <p:sp>
        <p:nvSpPr>
          <p:cNvPr id="8" name="矩形 7"/>
          <p:cNvSpPr/>
          <p:nvPr/>
        </p:nvSpPr>
        <p:spPr>
          <a:xfrm>
            <a:off x="3364230" y="617220"/>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大脑皮层发起随意</a:t>
            </a:r>
            <a:r>
              <a:rPr lang="zh-CN" altLang="en-US" sz="2400" b="1">
                <a:solidFill>
                  <a:schemeClr val="tx1"/>
                </a:solidFill>
              </a:rPr>
              <a:t>运动</a:t>
            </a:r>
            <a:endParaRPr lang="zh-CN" altLang="en-US" sz="2400" b="1">
              <a:solidFill>
                <a:schemeClr val="tx1"/>
              </a:solidFill>
            </a:endParaRPr>
          </a:p>
        </p:txBody>
      </p:sp>
      <p:sp>
        <p:nvSpPr>
          <p:cNvPr id="10" name="矩形 9"/>
          <p:cNvSpPr/>
          <p:nvPr/>
        </p:nvSpPr>
        <p:spPr>
          <a:xfrm>
            <a:off x="9265920" y="5150485"/>
            <a:ext cx="208788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皮层</a:t>
            </a:r>
            <a:r>
              <a:rPr lang="en-US" altLang="zh-CN" sz="2400" b="1">
                <a:solidFill>
                  <a:schemeClr val="tx1"/>
                </a:solidFill>
              </a:rPr>
              <a:t>→</a:t>
            </a:r>
            <a:r>
              <a:rPr lang="zh-CN" altLang="en-US" sz="2400" b="1">
                <a:solidFill>
                  <a:schemeClr val="tx1"/>
                </a:solidFill>
              </a:rPr>
              <a:t>骨骼肌</a:t>
            </a:r>
            <a:endParaRPr lang="zh-CN" altLang="en-US" sz="2400" b="1">
              <a:solidFill>
                <a:schemeClr val="tx1"/>
              </a:solidFill>
            </a:endParaRPr>
          </a:p>
        </p:txBody>
      </p:sp>
      <p:sp>
        <p:nvSpPr>
          <p:cNvPr id="9" name="下箭头 8"/>
          <p:cNvSpPr/>
          <p:nvPr/>
        </p:nvSpPr>
        <p:spPr>
          <a:xfrm>
            <a:off x="5886450" y="1644650"/>
            <a:ext cx="207010" cy="29654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右箭头 10"/>
          <p:cNvSpPr/>
          <p:nvPr/>
        </p:nvSpPr>
        <p:spPr>
          <a:xfrm rot="5400000">
            <a:off x="8765540"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9" name="圆角右箭头 18"/>
          <p:cNvSpPr/>
          <p:nvPr/>
        </p:nvSpPr>
        <p:spPr>
          <a:xfrm rot="5400000">
            <a:off x="2008505"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6" name="圆角右箭头 25"/>
          <p:cNvSpPr/>
          <p:nvPr/>
        </p:nvSpPr>
        <p:spPr>
          <a:xfrm>
            <a:off x="1915795" y="4514850"/>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7" name="下箭头 26"/>
          <p:cNvSpPr/>
          <p:nvPr/>
        </p:nvSpPr>
        <p:spPr>
          <a:xfrm>
            <a:off x="7862570" y="4514850"/>
            <a:ext cx="592455" cy="629285"/>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9" name="下箭头 28"/>
          <p:cNvSpPr/>
          <p:nvPr/>
        </p:nvSpPr>
        <p:spPr>
          <a:xfrm rot="16200000">
            <a:off x="8559800" y="5262880"/>
            <a:ext cx="592455" cy="80200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0" name="圆角右箭头 29"/>
          <p:cNvSpPr/>
          <p:nvPr/>
        </p:nvSpPr>
        <p:spPr>
          <a:xfrm rot="10800000">
            <a:off x="3656330" y="3640455"/>
            <a:ext cx="1063625" cy="1503680"/>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2" name="组合 61"/>
          <p:cNvGrpSpPr/>
          <p:nvPr/>
        </p:nvGrpSpPr>
        <p:grpSpPr>
          <a:xfrm>
            <a:off x="4779010" y="3837305"/>
            <a:ext cx="3023870" cy="1913255"/>
            <a:chOff x="7526" y="6043"/>
            <a:chExt cx="4762" cy="3013"/>
          </a:xfrm>
        </p:grpSpPr>
        <p:sp>
          <p:nvSpPr>
            <p:cNvPr id="35" name="圆角右箭头 34"/>
            <p:cNvSpPr/>
            <p:nvPr/>
          </p:nvSpPr>
          <p:spPr>
            <a:xfrm>
              <a:off x="11290" y="6043"/>
              <a:ext cx="999" cy="1419"/>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1" name="组合 60"/>
            <p:cNvGrpSpPr/>
            <p:nvPr/>
          </p:nvGrpSpPr>
          <p:grpSpPr>
            <a:xfrm>
              <a:off x="7526" y="7422"/>
              <a:ext cx="4020" cy="1634"/>
              <a:chOff x="7526" y="7422"/>
              <a:chExt cx="4020" cy="1634"/>
            </a:xfrm>
          </p:grpSpPr>
          <p:grpSp>
            <p:nvGrpSpPr>
              <p:cNvPr id="60" name="组合 59"/>
              <p:cNvGrpSpPr/>
              <p:nvPr/>
            </p:nvGrpSpPr>
            <p:grpSpPr>
              <a:xfrm>
                <a:off x="9295" y="7437"/>
                <a:ext cx="2240" cy="1460"/>
                <a:chOff x="9295" y="7437"/>
                <a:chExt cx="2240" cy="1460"/>
              </a:xfrm>
            </p:grpSpPr>
            <p:sp>
              <p:nvSpPr>
                <p:cNvPr id="36" name="矩形 35"/>
                <p:cNvSpPr/>
                <p:nvPr/>
              </p:nvSpPr>
              <p:spPr>
                <a:xfrm>
                  <a:off x="9295" y="7437"/>
                  <a:ext cx="2240"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8" name="矩形 37"/>
                <p:cNvSpPr/>
                <p:nvPr/>
              </p:nvSpPr>
              <p:spPr>
                <a:xfrm rot="5400000">
                  <a:off x="8802" y="8148"/>
                  <a:ext cx="124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59" name="组合 58"/>
              <p:cNvGrpSpPr/>
              <p:nvPr/>
            </p:nvGrpSpPr>
            <p:grpSpPr>
              <a:xfrm>
                <a:off x="7526" y="7422"/>
                <a:ext cx="4020" cy="1634"/>
                <a:chOff x="7526" y="7422"/>
                <a:chExt cx="4020" cy="1634"/>
              </a:xfrm>
            </p:grpSpPr>
            <p:cxnSp>
              <p:nvCxnSpPr>
                <p:cNvPr id="42" name="直接连接符 41"/>
                <p:cNvCxnSpPr/>
                <p:nvPr/>
              </p:nvCxnSpPr>
              <p:spPr>
                <a:xfrm>
                  <a:off x="9560" y="7710"/>
                  <a:ext cx="0" cy="1343"/>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8" name="组合 57"/>
                <p:cNvGrpSpPr/>
                <p:nvPr/>
              </p:nvGrpSpPr>
              <p:grpSpPr>
                <a:xfrm>
                  <a:off x="9300" y="7422"/>
                  <a:ext cx="2246" cy="282"/>
                  <a:chOff x="9300" y="7422"/>
                  <a:chExt cx="2246" cy="282"/>
                </a:xfrm>
              </p:grpSpPr>
              <p:cxnSp>
                <p:nvCxnSpPr>
                  <p:cNvPr id="39" name="直接连接符 38"/>
                  <p:cNvCxnSpPr/>
                  <p:nvPr/>
                </p:nvCxnSpPr>
                <p:spPr>
                  <a:xfrm>
                    <a:off x="9300" y="7432"/>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9552" y="7700"/>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1538" y="7422"/>
                    <a:ext cx="2" cy="27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cxnSp>
              <p:nvCxnSpPr>
                <p:cNvPr id="44" name="直接连接符 43"/>
                <p:cNvCxnSpPr/>
                <p:nvPr/>
              </p:nvCxnSpPr>
              <p:spPr>
                <a:xfrm flipH="1">
                  <a:off x="9300" y="7426"/>
                  <a:ext cx="1" cy="1351"/>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6" name="组合 55"/>
                <p:cNvGrpSpPr/>
                <p:nvPr/>
              </p:nvGrpSpPr>
              <p:grpSpPr>
                <a:xfrm>
                  <a:off x="7526" y="8782"/>
                  <a:ext cx="2032" cy="274"/>
                  <a:chOff x="7526" y="8782"/>
                  <a:chExt cx="2032" cy="274"/>
                </a:xfrm>
              </p:grpSpPr>
              <p:sp>
                <p:nvSpPr>
                  <p:cNvPr id="37" name="矩形 36"/>
                  <p:cNvSpPr/>
                  <p:nvPr/>
                </p:nvSpPr>
                <p:spPr>
                  <a:xfrm>
                    <a:off x="7554" y="8791"/>
                    <a:ext cx="200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41" name="直接连接符 40"/>
                  <p:cNvCxnSpPr/>
                  <p:nvPr/>
                </p:nvCxnSpPr>
                <p:spPr>
                  <a:xfrm flipV="1">
                    <a:off x="7526" y="8782"/>
                    <a:ext cx="1779" cy="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V="1">
                    <a:off x="7554" y="9052"/>
                    <a:ext cx="2004"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grpSp>
        </p:grpSp>
      </p:grpSp>
      <p:sp>
        <p:nvSpPr>
          <p:cNvPr id="46" name="下箭头 45"/>
          <p:cNvSpPr/>
          <p:nvPr/>
        </p:nvSpPr>
        <p:spPr>
          <a:xfrm rot="10800000">
            <a:off x="5791200" y="2962275"/>
            <a:ext cx="398145" cy="541020"/>
          </a:xfrm>
          <a:prstGeom prst="downArrow">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47" name="下箭头 46"/>
          <p:cNvSpPr/>
          <p:nvPr/>
        </p:nvSpPr>
        <p:spPr>
          <a:xfrm rot="16200000">
            <a:off x="240665" y="-55880"/>
            <a:ext cx="545465" cy="800100"/>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1" name="文本框 50"/>
          <p:cNvSpPr txBox="1"/>
          <p:nvPr/>
        </p:nvSpPr>
        <p:spPr>
          <a:xfrm>
            <a:off x="1112520" y="99695"/>
            <a:ext cx="2147570" cy="521970"/>
          </a:xfrm>
          <a:prstGeom prst="rect">
            <a:avLst/>
          </a:prstGeom>
          <a:noFill/>
        </p:spPr>
        <p:txBody>
          <a:bodyPr wrap="square" rtlCol="0">
            <a:spAutoFit/>
          </a:bodyPr>
          <a:p>
            <a:r>
              <a:rPr lang="en-US" altLang="zh-CN" sz="2800"/>
              <a:t>GABA(</a:t>
            </a:r>
            <a:r>
              <a:rPr lang="zh-CN" altLang="en-US" sz="2800"/>
              <a:t>抑制</a:t>
            </a:r>
            <a:r>
              <a:rPr lang="en-US" altLang="zh-CN" sz="2800"/>
              <a:t>)</a:t>
            </a:r>
            <a:endParaRPr lang="en-US" altLang="zh-CN" sz="2800"/>
          </a:p>
        </p:txBody>
      </p:sp>
      <p:sp>
        <p:nvSpPr>
          <p:cNvPr id="52" name="下箭头 51"/>
          <p:cNvSpPr/>
          <p:nvPr/>
        </p:nvSpPr>
        <p:spPr>
          <a:xfrm rot="16200000">
            <a:off x="240665" y="714375"/>
            <a:ext cx="545465" cy="800100"/>
          </a:xfrm>
          <a:prstGeom prst="downArrow">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3" name="文本框 52"/>
          <p:cNvSpPr txBox="1"/>
          <p:nvPr/>
        </p:nvSpPr>
        <p:spPr>
          <a:xfrm>
            <a:off x="1112520" y="869950"/>
            <a:ext cx="2047875" cy="521970"/>
          </a:xfrm>
          <a:prstGeom prst="rect">
            <a:avLst/>
          </a:prstGeom>
          <a:noFill/>
        </p:spPr>
        <p:txBody>
          <a:bodyPr wrap="square" rtlCol="0">
            <a:spAutoFit/>
          </a:bodyPr>
          <a:p>
            <a:r>
              <a:rPr lang="en-US" altLang="zh-CN" sz="2800"/>
              <a:t>GLUT (</a:t>
            </a:r>
            <a:r>
              <a:rPr lang="zh-CN" altLang="en-US" sz="2800"/>
              <a:t>兴奋</a:t>
            </a:r>
            <a:r>
              <a:rPr lang="en-US" altLang="zh-CN" sz="2800"/>
              <a:t>)</a:t>
            </a:r>
            <a:endParaRPr lang="en-US" altLang="zh-CN" sz="2800"/>
          </a:p>
        </p:txBody>
      </p:sp>
      <p:sp>
        <p:nvSpPr>
          <p:cNvPr id="54" name="下箭头 53"/>
          <p:cNvSpPr/>
          <p:nvPr/>
        </p:nvSpPr>
        <p:spPr>
          <a:xfrm rot="16200000">
            <a:off x="240665" y="1484630"/>
            <a:ext cx="545465" cy="800100"/>
          </a:xfrm>
          <a:prstGeom prst="downArrow">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5" name="文本框 54"/>
          <p:cNvSpPr txBox="1"/>
          <p:nvPr/>
        </p:nvSpPr>
        <p:spPr>
          <a:xfrm>
            <a:off x="1112520" y="1640205"/>
            <a:ext cx="1376680" cy="521970"/>
          </a:xfrm>
          <a:prstGeom prst="rect">
            <a:avLst/>
          </a:prstGeom>
          <a:noFill/>
        </p:spPr>
        <p:txBody>
          <a:bodyPr wrap="square" rtlCol="0">
            <a:spAutoFit/>
          </a:bodyPr>
          <a:p>
            <a:r>
              <a:rPr lang="zh-CN" altLang="en-US" sz="2800"/>
              <a:t>多巴胺</a:t>
            </a:r>
            <a:endParaRPr lang="zh-CN" altLang="en-US" sz="2800"/>
          </a:p>
        </p:txBody>
      </p:sp>
      <p:grpSp>
        <p:nvGrpSpPr>
          <p:cNvPr id="67" name="组合 66"/>
          <p:cNvGrpSpPr/>
          <p:nvPr/>
        </p:nvGrpSpPr>
        <p:grpSpPr>
          <a:xfrm>
            <a:off x="9683115" y="701040"/>
            <a:ext cx="1996440" cy="1714500"/>
            <a:chOff x="15249" y="1104"/>
            <a:chExt cx="3144" cy="2700"/>
          </a:xfrm>
        </p:grpSpPr>
        <p:pic>
          <p:nvPicPr>
            <p:cNvPr id="109" name="图片 108"/>
            <p:cNvPicPr/>
            <p:nvPr/>
          </p:nvPicPr>
          <p:blipFill>
            <a:blip r:embed="rId2"/>
            <a:stretch>
              <a:fillRect/>
            </a:stretch>
          </p:blipFill>
          <p:spPr>
            <a:xfrm>
              <a:off x="15249" y="1104"/>
              <a:ext cx="3144" cy="2700"/>
            </a:xfrm>
            <a:prstGeom prst="rect">
              <a:avLst/>
            </a:prstGeom>
            <a:noFill/>
            <a:ln w="9525">
              <a:noFill/>
            </a:ln>
          </p:spPr>
        </p:pic>
        <p:cxnSp>
          <p:nvCxnSpPr>
            <p:cNvPr id="63" name="直接箭头连接符 62"/>
            <p:cNvCxnSpPr/>
            <p:nvPr/>
          </p:nvCxnSpPr>
          <p:spPr>
            <a:xfrm flipH="1">
              <a:off x="15595" y="2870"/>
              <a:ext cx="1272" cy="934"/>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grpSp>
      <p:sp>
        <p:nvSpPr>
          <p:cNvPr id="15" name="矩形 14"/>
          <p:cNvSpPr/>
          <p:nvPr/>
        </p:nvSpPr>
        <p:spPr>
          <a:xfrm>
            <a:off x="508190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致密部</a:t>
            </a:r>
            <a:endParaRPr lang="zh-CN" altLang="en-US" sz="2400" b="1">
              <a:solidFill>
                <a:schemeClr val="tx1"/>
              </a:solidFill>
            </a:endParaRPr>
          </a:p>
        </p:txBody>
      </p:sp>
      <p:sp>
        <p:nvSpPr>
          <p:cNvPr id="66" name="文本框 65"/>
          <p:cNvSpPr txBox="1"/>
          <p:nvPr/>
        </p:nvSpPr>
        <p:spPr>
          <a:xfrm>
            <a:off x="5337810" y="2570480"/>
            <a:ext cx="1303020" cy="1445260"/>
          </a:xfrm>
          <a:prstGeom prst="rect">
            <a:avLst/>
          </a:prstGeom>
          <a:noFill/>
        </p:spPr>
        <p:txBody>
          <a:bodyPr wrap="square" rtlCol="0">
            <a:spAutoFit/>
          </a:bodyPr>
          <a:p>
            <a:r>
              <a:rPr lang="zh-CN" altLang="en-US" sz="8800" b="1">
                <a:solidFill>
                  <a:srgbClr val="FF0000"/>
                </a:solidFill>
                <a:effectLst>
                  <a:outerShdw blurRad="38100" dist="19050" dir="2700000" algn="tl" rotWithShape="0">
                    <a:schemeClr val="dk1">
                      <a:alpha val="40000"/>
                    </a:schemeClr>
                  </a:outerShdw>
                </a:effectLst>
              </a:rPr>
              <a:t>×</a:t>
            </a:r>
            <a:endParaRPr lang="zh-CN" altLang="en-US" sz="8800" b="1">
              <a:solidFill>
                <a:srgbClr val="FF0000"/>
              </a:solidFill>
              <a:effectLst>
                <a:outerShdw blurRad="38100" dist="19050" dir="2700000" algn="tl" rotWithShape="0">
                  <a:schemeClr val="dk1">
                    <a:alpha val="40000"/>
                  </a:schemeClr>
                </a:outerShdw>
              </a:effectLst>
            </a:endParaRPr>
          </a:p>
        </p:txBody>
      </p:sp>
      <p:sp>
        <p:nvSpPr>
          <p:cNvPr id="12" name="文本框 11"/>
          <p:cNvSpPr txBox="1"/>
          <p:nvPr/>
        </p:nvSpPr>
        <p:spPr>
          <a:xfrm>
            <a:off x="1081405" y="3799205"/>
            <a:ext cx="777240" cy="2061210"/>
          </a:xfrm>
          <a:prstGeom prst="rect">
            <a:avLst/>
          </a:prstGeom>
          <a:noFill/>
        </p:spPr>
        <p:txBody>
          <a:bodyPr wrap="square" rtlCol="0">
            <a:spAutoFit/>
          </a:bodyPr>
          <a:p>
            <a:r>
              <a:rPr lang="zh-CN" altLang="en-US" sz="3200"/>
              <a:t>间接通路</a:t>
            </a:r>
            <a:endParaRPr lang="zh-CN" altLang="en-US" sz="3200"/>
          </a:p>
        </p:txBody>
      </p:sp>
      <p:sp>
        <p:nvSpPr>
          <p:cNvPr id="5" name="文本框 4"/>
          <p:cNvSpPr txBox="1"/>
          <p:nvPr/>
        </p:nvSpPr>
        <p:spPr>
          <a:xfrm>
            <a:off x="11353800" y="3799205"/>
            <a:ext cx="777240" cy="2061210"/>
          </a:xfrm>
          <a:prstGeom prst="rect">
            <a:avLst/>
          </a:prstGeom>
          <a:noFill/>
        </p:spPr>
        <p:txBody>
          <a:bodyPr wrap="square" rtlCol="0">
            <a:spAutoFit/>
          </a:bodyPr>
          <a:p>
            <a:r>
              <a:rPr lang="zh-CN" altLang="en-US" sz="3200"/>
              <a:t>直接通路</a:t>
            </a:r>
            <a:endParaRPr lang="zh-CN" altLang="en-US" sz="320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2"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fade">
                                      <p:cBhvr>
                                        <p:cTn id="47" dur="500"/>
                                        <p:tgtEl>
                                          <p:spTgt spid="6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fade">
                                      <p:cBhvr>
                                        <p:cTn id="61" dur="500"/>
                                        <p:tgtEl>
                                          <p:spTgt spid="6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fade">
                                      <p:cBhvr>
                                        <p:cTn id="77" dur="500"/>
                                        <p:tgtEl>
                                          <p:spTgt spid="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P spid="8" grpId="0" bldLvl="0" animBg="1"/>
      <p:bldP spid="10" grpId="0" bldLvl="0" animBg="1"/>
      <p:bldP spid="8" grpId="1" animBg="1"/>
      <p:bldP spid="10" grpId="1" animBg="1"/>
      <p:bldP spid="13" grpId="0" animBg="1"/>
      <p:bldP spid="14" grpId="0" animBg="1"/>
      <p:bldP spid="16" grpId="0" animBg="1"/>
      <p:bldP spid="21" grpId="0" animBg="1"/>
      <p:bldP spid="6" grpId="0" animBg="1"/>
      <p:bldP spid="15" grpId="0" animBg="1"/>
      <p:bldP spid="13" grpId="1" animBg="1"/>
      <p:bldP spid="14" grpId="1" animBg="1"/>
      <p:bldP spid="16" grpId="1" animBg="1"/>
      <p:bldP spid="21" grpId="1" animBg="1"/>
      <p:bldP spid="6" grpId="1" animBg="1"/>
      <p:bldP spid="15" grpId="1" animBg="1"/>
      <p:bldP spid="7" grpId="2" animBg="1"/>
      <p:bldP spid="19" grpId="0" animBg="1"/>
      <p:bldP spid="11" grpId="0" animBg="1"/>
      <p:bldP spid="26" grpId="0" animBg="1"/>
      <p:bldP spid="27" grpId="0" animBg="1"/>
      <p:bldP spid="30" grpId="0" animBg="1"/>
      <p:bldP spid="46" grpId="0" animBg="1"/>
      <p:bldP spid="29" grpId="0" animBg="1"/>
      <p:bldP spid="9" grpId="0" animBg="1"/>
      <p:bldP spid="66" grpId="0"/>
      <p:bldP spid="12" grpId="0"/>
      <p:bldP spid="5" grpId="0"/>
      <p:bldP spid="12" grpId="1"/>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nvPicPr>
        <p:blipFill>
          <a:blip r:embed="rId1"/>
          <a:stretch>
            <a:fillRect/>
          </a:stretch>
        </p:blipFill>
        <p:spPr>
          <a:xfrm>
            <a:off x="-213360" y="-189230"/>
            <a:ext cx="12405360" cy="7047230"/>
          </a:xfrm>
          <a:prstGeom prst="rect">
            <a:avLst/>
          </a:prstGeom>
        </p:spPr>
      </p:pic>
      <p:sp>
        <p:nvSpPr>
          <p:cNvPr id="13" name="矩形 12"/>
          <p:cNvSpPr/>
          <p:nvPr/>
        </p:nvSpPr>
        <p:spPr>
          <a:xfrm>
            <a:off x="3363595" y="1941830"/>
            <a:ext cx="525208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新纹状体</a:t>
            </a:r>
            <a:r>
              <a:rPr lang="en-US" altLang="zh-CN" sz="2400" b="1">
                <a:solidFill>
                  <a:schemeClr val="tx1"/>
                </a:solidFill>
              </a:rPr>
              <a:t>(</a:t>
            </a:r>
            <a:r>
              <a:rPr lang="zh-CN" altLang="en-US" sz="2400" b="1">
                <a:solidFill>
                  <a:schemeClr val="tx1"/>
                </a:solidFill>
              </a:rPr>
              <a:t>尾状核、壳</a:t>
            </a:r>
            <a:r>
              <a:rPr lang="en-US" altLang="zh-CN" sz="2400" b="1">
                <a:solidFill>
                  <a:schemeClr val="tx1"/>
                </a:solidFill>
              </a:rPr>
              <a:t>)</a:t>
            </a:r>
            <a:endParaRPr lang="en-US" altLang="zh-CN" sz="2400" b="1">
              <a:solidFill>
                <a:schemeClr val="tx1"/>
              </a:solidFill>
            </a:endParaRPr>
          </a:p>
        </p:txBody>
      </p:sp>
      <p:sp>
        <p:nvSpPr>
          <p:cNvPr id="14" name="矩形 13"/>
          <p:cNvSpPr/>
          <p:nvPr/>
        </p:nvSpPr>
        <p:spPr>
          <a:xfrm>
            <a:off x="955103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网状部</a:t>
            </a:r>
            <a:endParaRPr lang="zh-CN" altLang="en-US" sz="2400" b="1">
              <a:solidFill>
                <a:schemeClr val="tx1"/>
              </a:solidFill>
            </a:endParaRPr>
          </a:p>
        </p:txBody>
      </p:sp>
      <p:sp>
        <p:nvSpPr>
          <p:cNvPr id="16" name="矩形 15"/>
          <p:cNvSpPr/>
          <p:nvPr/>
        </p:nvSpPr>
        <p:spPr>
          <a:xfrm>
            <a:off x="1915795" y="3488055"/>
            <a:ext cx="17405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a:t>
            </a:r>
            <a:r>
              <a:rPr lang="zh-CN" altLang="en-US" sz="2400" b="1">
                <a:solidFill>
                  <a:schemeClr val="tx1"/>
                </a:solidFill>
              </a:rPr>
              <a:t>外侧</a:t>
            </a:r>
            <a:endParaRPr lang="zh-CN" altLang="en-US" sz="2400" b="1">
              <a:solidFill>
                <a:schemeClr val="tx1"/>
              </a:solidFill>
            </a:endParaRPr>
          </a:p>
        </p:txBody>
      </p:sp>
      <p:sp>
        <p:nvSpPr>
          <p:cNvPr id="21" name="矩形 20"/>
          <p:cNvSpPr/>
          <p:nvPr/>
        </p:nvSpPr>
        <p:spPr>
          <a:xfrm>
            <a:off x="3119755"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丘脑下</a:t>
            </a:r>
            <a:r>
              <a:rPr lang="zh-CN" altLang="en-US" sz="2400" b="1">
                <a:solidFill>
                  <a:schemeClr val="tx1"/>
                </a:solidFill>
              </a:rPr>
              <a:t>核</a:t>
            </a:r>
            <a:endParaRPr lang="zh-CN" altLang="en-US" sz="2400" b="1">
              <a:solidFill>
                <a:schemeClr val="tx1"/>
              </a:solidFill>
            </a:endParaRPr>
          </a:p>
        </p:txBody>
      </p:sp>
      <p:sp>
        <p:nvSpPr>
          <p:cNvPr id="6" name="矩形 5"/>
          <p:cNvSpPr/>
          <p:nvPr/>
        </p:nvSpPr>
        <p:spPr>
          <a:xfrm>
            <a:off x="7803515" y="3488055"/>
            <a:ext cx="174752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苍白球内</a:t>
            </a:r>
            <a:r>
              <a:rPr lang="zh-CN" altLang="en-US" sz="2400" b="1">
                <a:solidFill>
                  <a:schemeClr val="tx1"/>
                </a:solidFill>
              </a:rPr>
              <a:t>侧</a:t>
            </a:r>
            <a:endParaRPr lang="zh-CN" altLang="en-US" sz="2400" b="1">
              <a:solidFill>
                <a:schemeClr val="tx1"/>
              </a:solidFill>
            </a:endParaRPr>
          </a:p>
        </p:txBody>
      </p:sp>
      <p:sp>
        <p:nvSpPr>
          <p:cNvPr id="7" name="矩形 6"/>
          <p:cNvSpPr/>
          <p:nvPr/>
        </p:nvSpPr>
        <p:spPr>
          <a:xfrm>
            <a:off x="6795770"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a:t>
            </a:r>
            <a:endParaRPr lang="zh-CN" altLang="en-US" sz="2400" b="1">
              <a:solidFill>
                <a:schemeClr val="tx1"/>
              </a:solidFill>
            </a:endParaRPr>
          </a:p>
        </p:txBody>
      </p:sp>
      <p:sp>
        <p:nvSpPr>
          <p:cNvPr id="8" name="矩形 7"/>
          <p:cNvSpPr/>
          <p:nvPr/>
        </p:nvSpPr>
        <p:spPr>
          <a:xfrm>
            <a:off x="3364230" y="617220"/>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大脑皮层发起随意</a:t>
            </a:r>
            <a:r>
              <a:rPr lang="zh-CN" altLang="en-US" sz="2400" b="1">
                <a:solidFill>
                  <a:schemeClr val="tx1"/>
                </a:solidFill>
              </a:rPr>
              <a:t>运动</a:t>
            </a:r>
            <a:endParaRPr lang="zh-CN" altLang="en-US" sz="2400" b="1">
              <a:solidFill>
                <a:schemeClr val="tx1"/>
              </a:solidFill>
            </a:endParaRPr>
          </a:p>
        </p:txBody>
      </p:sp>
      <p:sp>
        <p:nvSpPr>
          <p:cNvPr id="10" name="矩形 9"/>
          <p:cNvSpPr/>
          <p:nvPr/>
        </p:nvSpPr>
        <p:spPr>
          <a:xfrm>
            <a:off x="9265920" y="5150485"/>
            <a:ext cx="208788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皮层</a:t>
            </a:r>
            <a:r>
              <a:rPr lang="en-US" altLang="zh-CN" sz="2400" b="1">
                <a:solidFill>
                  <a:schemeClr val="tx1"/>
                </a:solidFill>
              </a:rPr>
              <a:t>→</a:t>
            </a:r>
            <a:r>
              <a:rPr lang="zh-CN" altLang="en-US" sz="2400" b="1">
                <a:solidFill>
                  <a:schemeClr val="tx1"/>
                </a:solidFill>
              </a:rPr>
              <a:t>骨骼肌</a:t>
            </a:r>
            <a:endParaRPr lang="zh-CN" altLang="en-US" sz="2400" b="1">
              <a:solidFill>
                <a:schemeClr val="tx1"/>
              </a:solidFill>
            </a:endParaRPr>
          </a:p>
        </p:txBody>
      </p:sp>
      <p:sp>
        <p:nvSpPr>
          <p:cNvPr id="9" name="下箭头 8"/>
          <p:cNvSpPr/>
          <p:nvPr/>
        </p:nvSpPr>
        <p:spPr>
          <a:xfrm>
            <a:off x="5886450" y="1644650"/>
            <a:ext cx="207010" cy="29654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右箭头 10"/>
          <p:cNvSpPr/>
          <p:nvPr/>
        </p:nvSpPr>
        <p:spPr>
          <a:xfrm rot="5400000">
            <a:off x="8765540"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9" name="圆角右箭头 18"/>
          <p:cNvSpPr/>
          <p:nvPr/>
        </p:nvSpPr>
        <p:spPr>
          <a:xfrm rot="5400000">
            <a:off x="2008505"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6" name="圆角右箭头 25"/>
          <p:cNvSpPr/>
          <p:nvPr/>
        </p:nvSpPr>
        <p:spPr>
          <a:xfrm>
            <a:off x="1915795" y="4514850"/>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7" name="下箭头 26"/>
          <p:cNvSpPr/>
          <p:nvPr/>
        </p:nvSpPr>
        <p:spPr>
          <a:xfrm>
            <a:off x="7862570" y="4514850"/>
            <a:ext cx="592455" cy="629285"/>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9" name="下箭头 28"/>
          <p:cNvSpPr/>
          <p:nvPr/>
        </p:nvSpPr>
        <p:spPr>
          <a:xfrm rot="16200000">
            <a:off x="8559800" y="5262880"/>
            <a:ext cx="592455" cy="80200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0" name="圆角右箭头 29"/>
          <p:cNvSpPr/>
          <p:nvPr/>
        </p:nvSpPr>
        <p:spPr>
          <a:xfrm rot="10800000">
            <a:off x="3656330" y="3640455"/>
            <a:ext cx="1063625" cy="1503680"/>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2" name="组合 61"/>
          <p:cNvGrpSpPr/>
          <p:nvPr/>
        </p:nvGrpSpPr>
        <p:grpSpPr>
          <a:xfrm>
            <a:off x="4779010" y="3837305"/>
            <a:ext cx="3023870" cy="1913255"/>
            <a:chOff x="7526" y="6043"/>
            <a:chExt cx="4762" cy="3013"/>
          </a:xfrm>
        </p:grpSpPr>
        <p:sp>
          <p:nvSpPr>
            <p:cNvPr id="35" name="圆角右箭头 34"/>
            <p:cNvSpPr/>
            <p:nvPr/>
          </p:nvSpPr>
          <p:spPr>
            <a:xfrm>
              <a:off x="11290" y="6043"/>
              <a:ext cx="999" cy="1419"/>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1" name="组合 60"/>
            <p:cNvGrpSpPr/>
            <p:nvPr/>
          </p:nvGrpSpPr>
          <p:grpSpPr>
            <a:xfrm>
              <a:off x="7526" y="7422"/>
              <a:ext cx="4020" cy="1634"/>
              <a:chOff x="7526" y="7422"/>
              <a:chExt cx="4020" cy="1634"/>
            </a:xfrm>
          </p:grpSpPr>
          <p:grpSp>
            <p:nvGrpSpPr>
              <p:cNvPr id="60" name="组合 59"/>
              <p:cNvGrpSpPr/>
              <p:nvPr/>
            </p:nvGrpSpPr>
            <p:grpSpPr>
              <a:xfrm>
                <a:off x="9295" y="7437"/>
                <a:ext cx="2240" cy="1460"/>
                <a:chOff x="9295" y="7437"/>
                <a:chExt cx="2240" cy="1460"/>
              </a:xfrm>
            </p:grpSpPr>
            <p:sp>
              <p:nvSpPr>
                <p:cNvPr id="36" name="矩形 35"/>
                <p:cNvSpPr/>
                <p:nvPr/>
              </p:nvSpPr>
              <p:spPr>
                <a:xfrm>
                  <a:off x="9295" y="7437"/>
                  <a:ext cx="2240"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8" name="矩形 37"/>
                <p:cNvSpPr/>
                <p:nvPr/>
              </p:nvSpPr>
              <p:spPr>
                <a:xfrm rot="5400000">
                  <a:off x="8802" y="8148"/>
                  <a:ext cx="124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59" name="组合 58"/>
              <p:cNvGrpSpPr/>
              <p:nvPr/>
            </p:nvGrpSpPr>
            <p:grpSpPr>
              <a:xfrm>
                <a:off x="7526" y="7422"/>
                <a:ext cx="4020" cy="1634"/>
                <a:chOff x="7526" y="7422"/>
                <a:chExt cx="4020" cy="1634"/>
              </a:xfrm>
            </p:grpSpPr>
            <p:cxnSp>
              <p:nvCxnSpPr>
                <p:cNvPr id="42" name="直接连接符 41"/>
                <p:cNvCxnSpPr/>
                <p:nvPr/>
              </p:nvCxnSpPr>
              <p:spPr>
                <a:xfrm>
                  <a:off x="9560" y="7710"/>
                  <a:ext cx="0" cy="1343"/>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8" name="组合 57"/>
                <p:cNvGrpSpPr/>
                <p:nvPr/>
              </p:nvGrpSpPr>
              <p:grpSpPr>
                <a:xfrm>
                  <a:off x="9300" y="7422"/>
                  <a:ext cx="2246" cy="282"/>
                  <a:chOff x="9300" y="7422"/>
                  <a:chExt cx="2246" cy="282"/>
                </a:xfrm>
              </p:grpSpPr>
              <p:cxnSp>
                <p:nvCxnSpPr>
                  <p:cNvPr id="39" name="直接连接符 38"/>
                  <p:cNvCxnSpPr/>
                  <p:nvPr/>
                </p:nvCxnSpPr>
                <p:spPr>
                  <a:xfrm>
                    <a:off x="9300" y="7432"/>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9552" y="7700"/>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1538" y="7422"/>
                    <a:ext cx="2" cy="27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cxnSp>
              <p:nvCxnSpPr>
                <p:cNvPr id="44" name="直接连接符 43"/>
                <p:cNvCxnSpPr/>
                <p:nvPr/>
              </p:nvCxnSpPr>
              <p:spPr>
                <a:xfrm flipH="1">
                  <a:off x="9300" y="7426"/>
                  <a:ext cx="1" cy="1351"/>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6" name="组合 55"/>
                <p:cNvGrpSpPr/>
                <p:nvPr/>
              </p:nvGrpSpPr>
              <p:grpSpPr>
                <a:xfrm>
                  <a:off x="7526" y="8782"/>
                  <a:ext cx="2032" cy="274"/>
                  <a:chOff x="7526" y="8782"/>
                  <a:chExt cx="2032" cy="274"/>
                </a:xfrm>
              </p:grpSpPr>
              <p:sp>
                <p:nvSpPr>
                  <p:cNvPr id="37" name="矩形 36"/>
                  <p:cNvSpPr/>
                  <p:nvPr/>
                </p:nvSpPr>
                <p:spPr>
                  <a:xfrm>
                    <a:off x="7554" y="8791"/>
                    <a:ext cx="200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41" name="直接连接符 40"/>
                  <p:cNvCxnSpPr/>
                  <p:nvPr/>
                </p:nvCxnSpPr>
                <p:spPr>
                  <a:xfrm flipV="1">
                    <a:off x="7526" y="8782"/>
                    <a:ext cx="1779" cy="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V="1">
                    <a:off x="7554" y="9052"/>
                    <a:ext cx="2004"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grpSp>
        </p:grpSp>
      </p:grpSp>
      <p:sp>
        <p:nvSpPr>
          <p:cNvPr id="47" name="下箭头 46"/>
          <p:cNvSpPr/>
          <p:nvPr/>
        </p:nvSpPr>
        <p:spPr>
          <a:xfrm rot="16200000">
            <a:off x="240665" y="-55880"/>
            <a:ext cx="545465" cy="800100"/>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1" name="文本框 50"/>
          <p:cNvSpPr txBox="1"/>
          <p:nvPr/>
        </p:nvSpPr>
        <p:spPr>
          <a:xfrm>
            <a:off x="1112520" y="99695"/>
            <a:ext cx="2147570" cy="521970"/>
          </a:xfrm>
          <a:prstGeom prst="rect">
            <a:avLst/>
          </a:prstGeom>
          <a:noFill/>
        </p:spPr>
        <p:txBody>
          <a:bodyPr wrap="square" rtlCol="0">
            <a:spAutoFit/>
          </a:bodyPr>
          <a:p>
            <a:r>
              <a:rPr lang="en-US" altLang="zh-CN" sz="2800"/>
              <a:t>GABA(</a:t>
            </a:r>
            <a:r>
              <a:rPr lang="zh-CN" altLang="en-US" sz="2800"/>
              <a:t>抑制</a:t>
            </a:r>
            <a:r>
              <a:rPr lang="en-US" altLang="zh-CN" sz="2800"/>
              <a:t>)</a:t>
            </a:r>
            <a:endParaRPr lang="en-US" altLang="zh-CN" sz="2800"/>
          </a:p>
        </p:txBody>
      </p:sp>
      <p:sp>
        <p:nvSpPr>
          <p:cNvPr id="52" name="下箭头 51"/>
          <p:cNvSpPr/>
          <p:nvPr/>
        </p:nvSpPr>
        <p:spPr>
          <a:xfrm rot="16200000">
            <a:off x="240665" y="714375"/>
            <a:ext cx="545465" cy="800100"/>
          </a:xfrm>
          <a:prstGeom prst="downArrow">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3" name="文本框 52"/>
          <p:cNvSpPr txBox="1"/>
          <p:nvPr/>
        </p:nvSpPr>
        <p:spPr>
          <a:xfrm>
            <a:off x="1112520" y="869950"/>
            <a:ext cx="2047875" cy="521970"/>
          </a:xfrm>
          <a:prstGeom prst="rect">
            <a:avLst/>
          </a:prstGeom>
          <a:noFill/>
        </p:spPr>
        <p:txBody>
          <a:bodyPr wrap="square" rtlCol="0">
            <a:spAutoFit/>
          </a:bodyPr>
          <a:p>
            <a:r>
              <a:rPr lang="en-US" altLang="zh-CN" sz="2800"/>
              <a:t>GLUT (</a:t>
            </a:r>
            <a:r>
              <a:rPr lang="zh-CN" altLang="en-US" sz="2800"/>
              <a:t>兴奋</a:t>
            </a:r>
            <a:r>
              <a:rPr lang="en-US" altLang="zh-CN" sz="2800"/>
              <a:t>)</a:t>
            </a:r>
            <a:endParaRPr lang="en-US" altLang="zh-CN" sz="2800"/>
          </a:p>
        </p:txBody>
      </p:sp>
      <p:sp>
        <p:nvSpPr>
          <p:cNvPr id="54" name="下箭头 53"/>
          <p:cNvSpPr/>
          <p:nvPr/>
        </p:nvSpPr>
        <p:spPr>
          <a:xfrm rot="16200000">
            <a:off x="240665" y="1484630"/>
            <a:ext cx="545465" cy="800100"/>
          </a:xfrm>
          <a:prstGeom prst="downArrow">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5" name="文本框 54"/>
          <p:cNvSpPr txBox="1"/>
          <p:nvPr/>
        </p:nvSpPr>
        <p:spPr>
          <a:xfrm>
            <a:off x="113665" y="1640205"/>
            <a:ext cx="2774950" cy="2245360"/>
          </a:xfrm>
          <a:prstGeom prst="rect">
            <a:avLst/>
          </a:prstGeom>
          <a:noFill/>
        </p:spPr>
        <p:txBody>
          <a:bodyPr wrap="square" rtlCol="0">
            <a:spAutoFit/>
          </a:bodyPr>
          <a:p>
            <a:pPr marL="457200" lvl="1" indent="457200"/>
            <a:r>
              <a:rPr lang="en-US" altLang="zh-CN" sz="2800"/>
              <a:t> </a:t>
            </a:r>
            <a:r>
              <a:rPr lang="zh-CN" altLang="en-US" sz="2800"/>
              <a:t>多巴胺</a:t>
            </a:r>
            <a:endParaRPr lang="zh-CN" altLang="en-US" sz="2800"/>
          </a:p>
          <a:p>
            <a:pPr marL="457200" lvl="1" indent="457200"/>
            <a:endParaRPr lang="zh-CN" altLang="en-US" sz="2800"/>
          </a:p>
          <a:p>
            <a:r>
              <a:rPr lang="en-US" altLang="zh-CN" sz="2800">
                <a:sym typeface="+mn-ea"/>
              </a:rPr>
              <a:t>D1:</a:t>
            </a:r>
            <a:r>
              <a:rPr lang="zh-CN" altLang="en-US" sz="2800">
                <a:sym typeface="+mn-ea"/>
              </a:rPr>
              <a:t>兴奋</a:t>
            </a:r>
            <a:endParaRPr lang="en-US" altLang="zh-CN" sz="2800"/>
          </a:p>
          <a:p>
            <a:r>
              <a:rPr lang="en-US" altLang="zh-CN" sz="2800">
                <a:sym typeface="+mn-ea"/>
              </a:rPr>
              <a:t>D2:</a:t>
            </a:r>
            <a:r>
              <a:rPr lang="zh-CN" altLang="en-US" sz="2800">
                <a:sym typeface="+mn-ea"/>
              </a:rPr>
              <a:t>抑制</a:t>
            </a:r>
            <a:endParaRPr lang="en-US" altLang="zh-CN" sz="2800"/>
          </a:p>
          <a:p>
            <a:endParaRPr lang="zh-CN" altLang="en-US" sz="2800"/>
          </a:p>
        </p:txBody>
      </p:sp>
      <p:pic>
        <p:nvPicPr>
          <p:cNvPr id="109" name="图片 108"/>
          <p:cNvPicPr/>
          <p:nvPr/>
        </p:nvPicPr>
        <p:blipFill>
          <a:blip r:embed="rId2"/>
          <a:stretch>
            <a:fillRect/>
          </a:stretch>
        </p:blipFill>
        <p:spPr>
          <a:xfrm>
            <a:off x="8756650" y="1941830"/>
            <a:ext cx="1504315" cy="1292225"/>
          </a:xfrm>
          <a:prstGeom prst="rect">
            <a:avLst/>
          </a:prstGeom>
          <a:noFill/>
          <a:ln w="9525">
            <a:noFill/>
          </a:ln>
        </p:spPr>
      </p:pic>
      <p:sp>
        <p:nvSpPr>
          <p:cNvPr id="64" name="圆角右箭头 63"/>
          <p:cNvSpPr/>
          <p:nvPr/>
        </p:nvSpPr>
        <p:spPr>
          <a:xfrm rot="16200000">
            <a:off x="4035425" y="2662555"/>
            <a:ext cx="739775" cy="1353820"/>
          </a:xfrm>
          <a:prstGeom prst="bentArrow">
            <a:avLst>
              <a:gd name="adj1" fmla="val 25000"/>
              <a:gd name="adj2" fmla="val 25000"/>
              <a:gd name="adj3" fmla="val 25000"/>
              <a:gd name="adj4" fmla="val 43143"/>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矩形 14"/>
          <p:cNvSpPr/>
          <p:nvPr/>
        </p:nvSpPr>
        <p:spPr>
          <a:xfrm>
            <a:off x="508190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致密部</a:t>
            </a:r>
            <a:endParaRPr lang="zh-CN" altLang="en-US" sz="2400" b="1">
              <a:solidFill>
                <a:schemeClr val="tx1"/>
              </a:solidFill>
            </a:endParaRPr>
          </a:p>
        </p:txBody>
      </p:sp>
      <p:sp>
        <p:nvSpPr>
          <p:cNvPr id="65" name="圆角右箭头 64"/>
          <p:cNvSpPr/>
          <p:nvPr/>
        </p:nvSpPr>
        <p:spPr>
          <a:xfrm rot="16200000">
            <a:off x="7010400" y="2849880"/>
            <a:ext cx="739775" cy="964565"/>
          </a:xfrm>
          <a:prstGeom prst="bentArrow">
            <a:avLst>
              <a:gd name="adj1" fmla="val 25000"/>
              <a:gd name="adj2" fmla="val 25000"/>
              <a:gd name="adj3" fmla="val 25000"/>
              <a:gd name="adj4" fmla="val 43143"/>
            </a:avLst>
          </a:prstGeom>
          <a:solidFill>
            <a:schemeClr val="accent6"/>
          </a:solidFill>
          <a:ln>
            <a:solidFill>
              <a:schemeClr val="tx1"/>
            </a:solidFill>
          </a:ln>
          <a:scene3d>
            <a:camera prst="orthographicFront">
              <a:rot lat="0" lon="10800000" rev="10800000"/>
            </a:camera>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8" name="文本框 17"/>
          <p:cNvSpPr txBox="1"/>
          <p:nvPr/>
        </p:nvSpPr>
        <p:spPr>
          <a:xfrm>
            <a:off x="4148455" y="2969895"/>
            <a:ext cx="777240" cy="583565"/>
          </a:xfrm>
          <a:prstGeom prst="rect">
            <a:avLst/>
          </a:prstGeom>
          <a:noFill/>
        </p:spPr>
        <p:txBody>
          <a:bodyPr wrap="square" rtlCol="0">
            <a:spAutoFit/>
          </a:bodyPr>
          <a:p>
            <a:r>
              <a:rPr lang="en-US" altLang="zh-CN" sz="3200"/>
              <a:t>D2</a:t>
            </a:r>
            <a:endParaRPr lang="en-US" altLang="zh-CN" sz="3200"/>
          </a:p>
        </p:txBody>
      </p:sp>
      <p:sp>
        <p:nvSpPr>
          <p:cNvPr id="12" name="文本框 11"/>
          <p:cNvSpPr txBox="1"/>
          <p:nvPr/>
        </p:nvSpPr>
        <p:spPr>
          <a:xfrm>
            <a:off x="6840220" y="2962275"/>
            <a:ext cx="777240" cy="583565"/>
          </a:xfrm>
          <a:prstGeom prst="rect">
            <a:avLst/>
          </a:prstGeom>
          <a:noFill/>
        </p:spPr>
        <p:txBody>
          <a:bodyPr wrap="square" rtlCol="0">
            <a:spAutoFit/>
          </a:bodyPr>
          <a:p>
            <a:r>
              <a:rPr lang="en-US" altLang="zh-CN" sz="3200"/>
              <a:t>D1</a:t>
            </a:r>
            <a:endParaRPr lang="en-US" altLang="zh-CN" sz="3200"/>
          </a:p>
        </p:txBody>
      </p:sp>
      <p:sp>
        <p:nvSpPr>
          <p:cNvPr id="66" name="文本框 65"/>
          <p:cNvSpPr txBox="1"/>
          <p:nvPr/>
        </p:nvSpPr>
        <p:spPr>
          <a:xfrm>
            <a:off x="3960495" y="3119120"/>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sp>
        <p:nvSpPr>
          <p:cNvPr id="17" name="文本框 16"/>
          <p:cNvSpPr txBox="1"/>
          <p:nvPr/>
        </p:nvSpPr>
        <p:spPr>
          <a:xfrm>
            <a:off x="6795770" y="3119120"/>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pic>
        <p:nvPicPr>
          <p:cNvPr id="20" name="图片 19"/>
          <p:cNvPicPr/>
          <p:nvPr/>
        </p:nvPicPr>
        <p:blipFill>
          <a:blip r:embed="rId2"/>
          <a:stretch>
            <a:fillRect/>
          </a:stretch>
        </p:blipFill>
        <p:spPr>
          <a:xfrm rot="2700000">
            <a:off x="7626350" y="4342130"/>
            <a:ext cx="1065530" cy="915035"/>
          </a:xfrm>
          <a:prstGeom prst="rect">
            <a:avLst/>
          </a:prstGeom>
          <a:noFill/>
          <a:ln w="9525">
            <a:noFill/>
          </a:ln>
        </p:spPr>
      </p:pic>
      <p:sp>
        <p:nvSpPr>
          <p:cNvPr id="23" name="文本框 22"/>
          <p:cNvSpPr txBox="1"/>
          <p:nvPr/>
        </p:nvSpPr>
        <p:spPr>
          <a:xfrm>
            <a:off x="8756650" y="1501140"/>
            <a:ext cx="1229360" cy="583565"/>
          </a:xfrm>
          <a:prstGeom prst="rect">
            <a:avLst/>
          </a:prstGeom>
          <a:noFill/>
        </p:spPr>
        <p:txBody>
          <a:bodyPr wrap="square" rtlCol="0">
            <a:spAutoFit/>
          </a:bodyPr>
          <a:p>
            <a:r>
              <a:rPr lang="zh-CN" altLang="en-US" sz="3200"/>
              <a:t>兴奋</a:t>
            </a:r>
            <a:endParaRPr lang="zh-CN" altLang="en-US" sz="3200"/>
          </a:p>
        </p:txBody>
      </p:sp>
      <p:sp>
        <p:nvSpPr>
          <p:cNvPr id="24" name="文本框 23"/>
          <p:cNvSpPr txBox="1"/>
          <p:nvPr/>
        </p:nvSpPr>
        <p:spPr>
          <a:xfrm>
            <a:off x="8482965" y="4514850"/>
            <a:ext cx="1169035" cy="583565"/>
          </a:xfrm>
          <a:prstGeom prst="rect">
            <a:avLst/>
          </a:prstGeom>
          <a:noFill/>
        </p:spPr>
        <p:txBody>
          <a:bodyPr wrap="square" rtlCol="0">
            <a:spAutoFit/>
          </a:bodyPr>
          <a:p>
            <a:r>
              <a:rPr lang="zh-CN" altLang="en-US" sz="3200"/>
              <a:t>抑制</a:t>
            </a:r>
            <a:endParaRPr lang="zh-CN" altLang="en-US" sz="3200"/>
          </a:p>
        </p:txBody>
      </p:sp>
      <p:sp>
        <p:nvSpPr>
          <p:cNvPr id="25" name="文本框 24"/>
          <p:cNvSpPr txBox="1"/>
          <p:nvPr/>
        </p:nvSpPr>
        <p:spPr>
          <a:xfrm>
            <a:off x="10113645" y="2845435"/>
            <a:ext cx="2077720" cy="583565"/>
          </a:xfrm>
          <a:prstGeom prst="rect">
            <a:avLst/>
          </a:prstGeom>
          <a:noFill/>
        </p:spPr>
        <p:txBody>
          <a:bodyPr wrap="square" rtlCol="0">
            <a:spAutoFit/>
          </a:bodyPr>
          <a:p>
            <a:r>
              <a:rPr lang="zh-CN" altLang="en-US" sz="3200"/>
              <a:t>释放</a:t>
            </a:r>
            <a:r>
              <a:rPr lang="en-US" altLang="zh-CN" sz="3200"/>
              <a:t>GABA</a:t>
            </a:r>
            <a:endParaRPr lang="en-US" altLang="zh-CN" sz="3200"/>
          </a:p>
        </p:txBody>
      </p:sp>
      <p:sp>
        <p:nvSpPr>
          <p:cNvPr id="28" name="文本框 27"/>
          <p:cNvSpPr txBox="1"/>
          <p:nvPr/>
        </p:nvSpPr>
        <p:spPr>
          <a:xfrm>
            <a:off x="7923530" y="6177280"/>
            <a:ext cx="1865630" cy="583565"/>
          </a:xfrm>
          <a:prstGeom prst="rect">
            <a:avLst/>
          </a:prstGeom>
          <a:noFill/>
        </p:spPr>
        <p:txBody>
          <a:bodyPr wrap="square" rtlCol="0">
            <a:spAutoFit/>
          </a:bodyPr>
          <a:p>
            <a:r>
              <a:rPr lang="zh-CN" altLang="en-US" sz="3200"/>
              <a:t>控制</a:t>
            </a:r>
            <a:r>
              <a:rPr lang="zh-CN" altLang="en-US" sz="3200"/>
              <a:t>运动</a:t>
            </a:r>
            <a:endParaRPr lang="zh-CN" altLang="en-US" sz="3200"/>
          </a:p>
        </p:txBody>
      </p:sp>
      <p:sp>
        <p:nvSpPr>
          <p:cNvPr id="31" name="文本框 30"/>
          <p:cNvSpPr txBox="1"/>
          <p:nvPr/>
        </p:nvSpPr>
        <p:spPr>
          <a:xfrm>
            <a:off x="8756650" y="1269365"/>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sp>
        <p:nvSpPr>
          <p:cNvPr id="32" name="文本框 31"/>
          <p:cNvSpPr txBox="1"/>
          <p:nvPr/>
        </p:nvSpPr>
        <p:spPr>
          <a:xfrm>
            <a:off x="10260965" y="2625725"/>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sp>
        <p:nvSpPr>
          <p:cNvPr id="33" name="文本框 32"/>
          <p:cNvSpPr txBox="1"/>
          <p:nvPr/>
        </p:nvSpPr>
        <p:spPr>
          <a:xfrm>
            <a:off x="8415655" y="4260850"/>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sp>
        <p:nvSpPr>
          <p:cNvPr id="34" name="文本框 33"/>
          <p:cNvSpPr txBox="1"/>
          <p:nvPr/>
        </p:nvSpPr>
        <p:spPr>
          <a:xfrm>
            <a:off x="9370060" y="4514850"/>
            <a:ext cx="2077720" cy="583565"/>
          </a:xfrm>
          <a:prstGeom prst="rect">
            <a:avLst/>
          </a:prstGeom>
          <a:noFill/>
        </p:spPr>
        <p:txBody>
          <a:bodyPr wrap="square" rtlCol="0">
            <a:spAutoFit/>
          </a:bodyPr>
          <a:p>
            <a:r>
              <a:rPr lang="zh-CN" altLang="en-US" sz="3200"/>
              <a:t>释放</a:t>
            </a:r>
            <a:r>
              <a:rPr lang="en-US" altLang="zh-CN" sz="3200"/>
              <a:t>GABA</a:t>
            </a:r>
            <a:endParaRPr lang="en-US" altLang="zh-CN" sz="3200"/>
          </a:p>
        </p:txBody>
      </p:sp>
      <p:sp>
        <p:nvSpPr>
          <p:cNvPr id="48" name="文本框 47"/>
          <p:cNvSpPr txBox="1"/>
          <p:nvPr/>
        </p:nvSpPr>
        <p:spPr>
          <a:xfrm>
            <a:off x="8248015" y="5960110"/>
            <a:ext cx="1303020" cy="1014730"/>
          </a:xfrm>
          <a:prstGeom prst="rect">
            <a:avLst/>
          </a:prstGeom>
          <a:noFill/>
        </p:spPr>
        <p:txBody>
          <a:bodyPr wrap="square" rtlCol="0">
            <a:spAutoFit/>
          </a:bodyPr>
          <a:p>
            <a:r>
              <a:rPr lang="zh-CN" altLang="en-US" sz="6000" b="1">
                <a:solidFill>
                  <a:srgbClr val="FF0000"/>
                </a:solidFill>
                <a:effectLst>
                  <a:outerShdw blurRad="38100" dist="19050" dir="2700000" algn="tl" rotWithShape="0">
                    <a:schemeClr val="dk1">
                      <a:alpha val="40000"/>
                    </a:schemeClr>
                  </a:outerShdw>
                </a:effectLst>
              </a:rPr>
              <a:t>×</a:t>
            </a:r>
            <a:endParaRPr lang="zh-CN" altLang="en-US" sz="6000" b="1">
              <a:solidFill>
                <a:srgbClr val="FF0000"/>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fade">
                                      <p:cBhvr>
                                        <p:cTn id="3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P spid="8" grpId="1" animBg="1"/>
      <p:bldP spid="10" grpId="1" animBg="1"/>
      <p:bldP spid="13" grpId="1" animBg="1"/>
      <p:bldP spid="14" grpId="1" animBg="1"/>
      <p:bldP spid="16" grpId="1" animBg="1"/>
      <p:bldP spid="21" grpId="1" animBg="1"/>
      <p:bldP spid="6" grpId="1" animBg="1"/>
      <p:bldP spid="15" grpId="1" animBg="1"/>
      <p:bldP spid="66" grpId="0"/>
      <p:bldP spid="17" grpId="0"/>
      <p:bldP spid="31" grpId="0"/>
      <p:bldP spid="32" grpId="0"/>
      <p:bldP spid="33" grpId="0"/>
      <p:bldP spid="48"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1882775" y="245745"/>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基底节功能失调</a:t>
            </a:r>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6" name="下箭头 5"/>
          <p:cNvSpPr/>
          <p:nvPr/>
        </p:nvSpPr>
        <p:spPr>
          <a:xfrm>
            <a:off x="5221605" y="2013585"/>
            <a:ext cx="1778000" cy="2621915"/>
          </a:xfrm>
          <a:prstGeom prst="downArrow">
            <a:avLst/>
          </a:prstGeom>
          <a:solidFill>
            <a:schemeClr val="accent1">
              <a:lumMod val="40000"/>
              <a:lumOff val="60000"/>
            </a:schemeClr>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7" name="文本框 6"/>
          <p:cNvSpPr txBox="1"/>
          <p:nvPr/>
        </p:nvSpPr>
        <p:spPr>
          <a:xfrm>
            <a:off x="838200" y="4831080"/>
            <a:ext cx="10737215"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多巴胺能神经元丢失</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119380" y="9779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病因</a:t>
            </a:r>
            <a:endPar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119380" y="2440940"/>
            <a:ext cx="5686425" cy="2799715"/>
          </a:xfrm>
          <a:prstGeom prst="rect">
            <a:avLst/>
          </a:prstGeom>
          <a:noFill/>
        </p:spPr>
        <p:txBody>
          <a:bodyPr wrap="square" rtlCol="0">
            <a:spAutoFit/>
          </a:bodyPr>
          <a:p>
            <a:r>
              <a:rPr lang="en-US" sz="4400">
                <a:solidFill>
                  <a:schemeClr val="accent1">
                    <a:lumMod val="75000"/>
                  </a:schemeClr>
                </a:solidFill>
              </a:rPr>
              <a:t>·</a:t>
            </a:r>
            <a:r>
              <a:rPr lang="zh-CN" altLang="en-US" sz="4400">
                <a:solidFill>
                  <a:schemeClr val="accent1">
                    <a:lumMod val="75000"/>
                  </a:schemeClr>
                </a:solidFill>
              </a:rPr>
              <a:t>年龄因子</a:t>
            </a:r>
            <a:endParaRPr lang="zh-CN" altLang="en-US" sz="4400">
              <a:solidFill>
                <a:schemeClr val="accent1">
                  <a:lumMod val="75000"/>
                </a:schemeClr>
              </a:solidFill>
            </a:endParaRPr>
          </a:p>
          <a:p>
            <a:r>
              <a:rPr lang="en-US" altLang="zh-CN" sz="4400">
                <a:solidFill>
                  <a:schemeClr val="accent1">
                    <a:lumMod val="75000"/>
                  </a:schemeClr>
                </a:solidFill>
              </a:rPr>
              <a:t>·</a:t>
            </a:r>
            <a:r>
              <a:rPr lang="zh-CN" altLang="en-US" sz="4400">
                <a:solidFill>
                  <a:schemeClr val="accent1">
                    <a:lumMod val="75000"/>
                  </a:schemeClr>
                </a:solidFill>
              </a:rPr>
              <a:t>环境因子</a:t>
            </a:r>
            <a:endParaRPr lang="zh-CN" altLang="en-US" sz="4400">
              <a:solidFill>
                <a:schemeClr val="accent1">
                  <a:lumMod val="75000"/>
                </a:schemeClr>
              </a:solidFill>
            </a:endParaRPr>
          </a:p>
          <a:p>
            <a:r>
              <a:rPr lang="en-US" altLang="zh-CN" sz="4400">
                <a:solidFill>
                  <a:schemeClr val="accent1">
                    <a:lumMod val="75000"/>
                  </a:schemeClr>
                </a:solidFill>
              </a:rPr>
              <a:t>·</a:t>
            </a:r>
            <a:r>
              <a:rPr lang="zh-CN" altLang="en-US" sz="4400">
                <a:solidFill>
                  <a:schemeClr val="accent1">
                    <a:lumMod val="75000"/>
                  </a:schemeClr>
                </a:solidFill>
              </a:rPr>
              <a:t>遗传因子</a:t>
            </a:r>
            <a:endParaRPr lang="zh-CN" altLang="en-US" sz="4400">
              <a:solidFill>
                <a:schemeClr val="accent1">
                  <a:lumMod val="75000"/>
                </a:schemeClr>
              </a:solidFill>
            </a:endParaRPr>
          </a:p>
          <a:p>
            <a:r>
              <a:rPr lang="en-US" altLang="zh-CN" sz="4400">
                <a:solidFill>
                  <a:schemeClr val="accent1">
                    <a:lumMod val="75000"/>
                  </a:schemeClr>
                </a:solidFill>
              </a:rPr>
              <a:t>·......</a:t>
            </a:r>
            <a:endParaRPr lang="zh-CN" altLang="en-US" sz="4400">
              <a:solidFill>
                <a:schemeClr val="accent1">
                  <a:lumMod val="75000"/>
                </a:schemeClr>
              </a:solidFill>
            </a:endParaRPr>
          </a:p>
        </p:txBody>
      </p:sp>
      <p:sp>
        <p:nvSpPr>
          <p:cNvPr id="8" name="文本框 7"/>
          <p:cNvSpPr txBox="1"/>
          <p:nvPr/>
        </p:nvSpPr>
        <p:spPr>
          <a:xfrm>
            <a:off x="3712845" y="2225675"/>
            <a:ext cx="7640955" cy="2553335"/>
          </a:xfrm>
          <a:prstGeom prst="rect">
            <a:avLst/>
          </a:prstGeom>
          <a:noFill/>
        </p:spPr>
        <p:txBody>
          <a:bodyPr wrap="square" rtlCol="0">
            <a:spAutoFit/>
          </a:bodyPr>
          <a:p>
            <a:r>
              <a:rPr sz="3200">
                <a:solidFill>
                  <a:schemeClr val="accent1">
                    <a:lumMod val="75000"/>
                  </a:schemeClr>
                </a:solidFill>
              </a:rPr>
              <a:t>专家普遍比较认可的是说法是</a:t>
            </a:r>
            <a:r>
              <a:rPr lang="zh-CN" sz="3200">
                <a:solidFill>
                  <a:schemeClr val="accent1">
                    <a:lumMod val="75000"/>
                  </a:schemeClr>
                </a:solidFill>
              </a:rPr>
              <a:t>帕金森</a:t>
            </a:r>
            <a:r>
              <a:rPr sz="3200">
                <a:solidFill>
                  <a:schemeClr val="accent1">
                    <a:lumMod val="75000"/>
                  </a:schemeClr>
                </a:solidFill>
              </a:rPr>
              <a:t>发病不是单因子引起，而是多种因子共同参与，包括环境因子、年龄因子、遗传因子等 ，其他风险因子也可能和帕金森病有关，但因果关系还未证实。</a:t>
            </a:r>
            <a:endParaRPr sz="320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8" grpId="0"/>
      <p:bldP spid="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119380" y="97790"/>
            <a:ext cx="1169924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病理</a:t>
            </a:r>
            <a:r>
              <a:rPr lang="en-US" altLang="zh-CN"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 	</a:t>
            </a:r>
            <a:r>
              <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多巴胺能神经元丢失</a:t>
            </a:r>
            <a:r>
              <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8" name="文本框 7"/>
          <p:cNvSpPr txBox="1"/>
          <p:nvPr/>
        </p:nvSpPr>
        <p:spPr>
          <a:xfrm>
            <a:off x="701675" y="1644650"/>
            <a:ext cx="10788015" cy="4276725"/>
          </a:xfrm>
          <a:prstGeom prst="rect">
            <a:avLst/>
          </a:prstGeom>
          <a:noFill/>
        </p:spPr>
        <p:txBody>
          <a:bodyPr wrap="square" rtlCol="0">
            <a:spAutoFit/>
          </a:bodyPr>
          <a:p>
            <a:r>
              <a:rPr lang="zh-CN" altLang="en-US" sz="4800">
                <a:solidFill>
                  <a:schemeClr val="accent1">
                    <a:lumMod val="75000"/>
                  </a:schemeClr>
                </a:solidFill>
              </a:rPr>
              <a:t>神经元死亡机制</a:t>
            </a:r>
            <a:r>
              <a:rPr lang="en-US" altLang="zh-CN" sz="4800">
                <a:solidFill>
                  <a:schemeClr val="accent1">
                    <a:lumMod val="75000"/>
                  </a:schemeClr>
                </a:solidFill>
              </a:rPr>
              <a:t>(</a:t>
            </a:r>
            <a:r>
              <a:rPr lang="zh-CN" altLang="en-US" sz="4800">
                <a:solidFill>
                  <a:schemeClr val="accent1">
                    <a:lumMod val="75000"/>
                  </a:schemeClr>
                </a:solidFill>
              </a:rPr>
              <a:t>凋亡、坏死</a:t>
            </a:r>
            <a:r>
              <a:rPr lang="en-US" altLang="zh-CN" sz="4800">
                <a:solidFill>
                  <a:schemeClr val="accent1">
                    <a:lumMod val="75000"/>
                  </a:schemeClr>
                </a:solidFill>
              </a:rPr>
              <a:t>)</a:t>
            </a:r>
            <a:endParaRPr lang="zh-CN" altLang="en-US" sz="3200">
              <a:solidFill>
                <a:schemeClr val="accent1">
                  <a:lumMod val="75000"/>
                </a:schemeClr>
              </a:solidFill>
            </a:endParaRPr>
          </a:p>
          <a:p>
            <a:pPr indent="457200"/>
            <a:r>
              <a:rPr lang="en-US" altLang="zh-CN" sz="3200">
                <a:solidFill>
                  <a:schemeClr val="accent1">
                    <a:lumMod val="75000"/>
                  </a:schemeClr>
                </a:solidFill>
              </a:rPr>
              <a:t>    </a:t>
            </a:r>
            <a:r>
              <a:rPr lang="zh-CN" altLang="en-US" sz="3200">
                <a:solidFill>
                  <a:schemeClr val="accent1">
                    <a:lumMod val="75000"/>
                  </a:schemeClr>
                </a:solidFill>
              </a:rPr>
              <a:t>对于体内多数细胞而言，细胞死亡是细胞稳态的重要过程之一，对维持生命正常功能极为重要，而当神经元随着机体衰老、基因及环境因素发生细胞死亡，并直到机体无法代偿时，则可能出现相应的临床症状。与其它体细胞相比，神经元（尤其是多巴胺能神经元）由于体积大，高度分化不可再生，能量需求大，易受到细胞死亡信号的诱导而发生神经元丢失。</a:t>
            </a:r>
            <a:endParaRPr lang="zh-CN" altLang="en-US" sz="320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102235"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路易小</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体</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295275" y="3348990"/>
            <a:ext cx="11122025" cy="3538220"/>
          </a:xfrm>
          <a:prstGeom prst="rect">
            <a:avLst/>
          </a:prstGeom>
          <a:noFill/>
        </p:spPr>
        <p:txBody>
          <a:bodyPr wrap="square" rtlCol="0">
            <a:spAutoFit/>
          </a:bodyPr>
          <a:p>
            <a:r>
              <a:rPr lang="zh-CN" altLang="en-US" sz="2800">
                <a:solidFill>
                  <a:schemeClr val="accent1">
                    <a:lumMod val="75000"/>
                  </a:schemeClr>
                </a:solidFill>
              </a:rPr>
              <a:t>生理性α-突触核蛋白是位于突触末梢的可溶性单体；</a:t>
            </a:r>
            <a:endParaRPr lang="zh-CN" altLang="en-US" sz="2800">
              <a:solidFill>
                <a:schemeClr val="accent1">
                  <a:lumMod val="75000"/>
                </a:schemeClr>
              </a:solidFill>
            </a:endParaRPr>
          </a:p>
          <a:p>
            <a:endParaRPr lang="zh-CN" altLang="en-US" sz="2800">
              <a:solidFill>
                <a:schemeClr val="accent1">
                  <a:lumMod val="75000"/>
                </a:schemeClr>
              </a:solidFill>
            </a:endParaRPr>
          </a:p>
          <a:p>
            <a:r>
              <a:rPr lang="zh-CN" altLang="en-US" sz="2800">
                <a:solidFill>
                  <a:schemeClr val="accent1">
                    <a:lumMod val="75000"/>
                  </a:schemeClr>
                </a:solidFill>
              </a:rPr>
              <a:t>但病理状态下，α-突触核蛋白呈β-折叠结构，并具有一定的神经毒性；</a:t>
            </a:r>
            <a:endParaRPr lang="zh-CN" altLang="en-US" sz="2800">
              <a:solidFill>
                <a:schemeClr val="accent1">
                  <a:lumMod val="75000"/>
                </a:schemeClr>
              </a:solidFill>
            </a:endParaRPr>
          </a:p>
          <a:p>
            <a:endParaRPr lang="zh-CN" altLang="en-US" sz="2800">
              <a:solidFill>
                <a:schemeClr val="accent1">
                  <a:lumMod val="75000"/>
                </a:schemeClr>
              </a:solidFill>
            </a:endParaRPr>
          </a:p>
          <a:p>
            <a:r>
              <a:rPr lang="zh-CN" altLang="en-US" sz="2800">
                <a:solidFill>
                  <a:schemeClr val="accent1">
                    <a:lumMod val="75000"/>
                  </a:schemeClr>
                </a:solidFill>
              </a:rPr>
              <a:t>单分子 α-突触核蛋白的错误折叠形式可诱导其他单分子进行同样的错误折叠，这些分子簇集成更大的寡聚体，最终形成细丝状结构，称为纤丝</a:t>
            </a:r>
            <a:r>
              <a:rPr lang="en-US" altLang="zh-CN" sz="2800">
                <a:solidFill>
                  <a:schemeClr val="accent1">
                    <a:lumMod val="75000"/>
                  </a:schemeClr>
                </a:solidFill>
              </a:rPr>
              <a:t>(fibrils)</a:t>
            </a:r>
            <a:r>
              <a:rPr lang="zh-CN" altLang="en-US" sz="2800">
                <a:solidFill>
                  <a:schemeClr val="accent1">
                    <a:lumMod val="75000"/>
                  </a:schemeClr>
                </a:solidFill>
              </a:rPr>
              <a:t>，即</a:t>
            </a:r>
            <a:r>
              <a:rPr lang="zh-CN" altLang="en-US" sz="2800">
                <a:solidFill>
                  <a:schemeClr val="accent1">
                    <a:lumMod val="75000"/>
                  </a:schemeClr>
                </a:solidFill>
              </a:rPr>
              <a:t>路易小体。</a:t>
            </a:r>
            <a:endParaRPr lang="zh-CN" altLang="en-US" sz="2800">
              <a:solidFill>
                <a:schemeClr val="accent1">
                  <a:lumMod val="75000"/>
                </a:schemeClr>
              </a:solidFill>
            </a:endParaRPr>
          </a:p>
          <a:p>
            <a:endParaRPr lang="zh-CN" altLang="en-US" sz="2800">
              <a:solidFill>
                <a:schemeClr val="accent1">
                  <a:lumMod val="75000"/>
                </a:schemeClr>
              </a:solidFill>
            </a:endParaRPr>
          </a:p>
        </p:txBody>
      </p:sp>
      <p:grpSp>
        <p:nvGrpSpPr>
          <p:cNvPr id="11" name="组合 10"/>
          <p:cNvGrpSpPr/>
          <p:nvPr/>
        </p:nvGrpSpPr>
        <p:grpSpPr>
          <a:xfrm>
            <a:off x="102235" y="457835"/>
            <a:ext cx="11250930" cy="2780665"/>
            <a:chOff x="161" y="721"/>
            <a:chExt cx="17718" cy="4379"/>
          </a:xfrm>
        </p:grpSpPr>
        <p:sp>
          <p:nvSpPr>
            <p:cNvPr id="6" name="文本框 5"/>
            <p:cNvSpPr txBox="1"/>
            <p:nvPr/>
          </p:nvSpPr>
          <p:spPr>
            <a:xfrm>
              <a:off x="161" y="3358"/>
              <a:ext cx="17719" cy="1743"/>
            </a:xfrm>
            <a:prstGeom prst="rect">
              <a:avLst/>
            </a:prstGeom>
            <a:noFill/>
          </p:spPr>
          <p:txBody>
            <a:bodyPr wrap="square" rtlCol="0">
              <a:spAutoFit/>
            </a:bodyPr>
            <a:p>
              <a:r>
                <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病理性</a:t>
              </a:r>
              <a:r>
                <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α-</a:t>
              </a:r>
              <a:r>
                <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突触核蛋白寡聚体</a:t>
              </a:r>
              <a:endPar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8" name="圆角右箭头 7"/>
            <p:cNvSpPr/>
            <p:nvPr/>
          </p:nvSpPr>
          <p:spPr>
            <a:xfrm rot="5400000">
              <a:off x="8559" y="-206"/>
              <a:ext cx="2637" cy="4491"/>
            </a:xfrm>
            <a:prstGeom prst="bentArrow">
              <a:avLst/>
            </a:prstGeom>
            <a:solidFill>
              <a:schemeClr val="accent1">
                <a:lumMod val="40000"/>
                <a:lumOff val="60000"/>
              </a:schemeClr>
            </a:solidFill>
            <a:ln>
              <a:solidFill>
                <a:schemeClr val="tx1"/>
              </a:solidFill>
            </a:ln>
            <a:scene3d>
              <a:camera prst="orthographicFront"/>
              <a:lightRig rig="threePt" dir="t"/>
            </a:scene3d>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12" name="组合 11"/>
          <p:cNvGrpSpPr/>
          <p:nvPr/>
        </p:nvGrpSpPr>
        <p:grpSpPr>
          <a:xfrm>
            <a:off x="7889875" y="0"/>
            <a:ext cx="4767580" cy="2212975"/>
            <a:chOff x="12425" y="0"/>
            <a:chExt cx="7508" cy="3485"/>
          </a:xfrm>
        </p:grpSpPr>
        <p:sp>
          <p:nvSpPr>
            <p:cNvPr id="9" name="文本框 8"/>
            <p:cNvSpPr txBox="1"/>
            <p:nvPr/>
          </p:nvSpPr>
          <p:spPr>
            <a:xfrm>
              <a:off x="12425" y="0"/>
              <a:ext cx="4631" cy="1743"/>
            </a:xfrm>
            <a:prstGeom prst="rect">
              <a:avLst/>
            </a:prstGeom>
            <a:noFill/>
          </p:spPr>
          <p:txBody>
            <a:bodyPr wrap="square" rtlCol="0">
              <a:spAutoFit/>
            </a:bodyPr>
            <a:p>
              <a:r>
                <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变异</a:t>
              </a:r>
              <a:r>
                <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10" name="文本框 9"/>
            <p:cNvSpPr txBox="1"/>
            <p:nvPr/>
          </p:nvSpPr>
          <p:spPr>
            <a:xfrm>
              <a:off x="15303" y="1743"/>
              <a:ext cx="4631" cy="1743"/>
            </a:xfrm>
            <a:prstGeom prst="rect">
              <a:avLst/>
            </a:prstGeom>
            <a:noFill/>
          </p:spPr>
          <p:txBody>
            <a:bodyPr wrap="square" rtlCol="0">
              <a:spAutoFit/>
            </a:bodyPr>
            <a:p>
              <a:r>
                <a:rPr lang="zh-CN" altLang="en-US"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遗传</a:t>
              </a:r>
              <a:r>
                <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a:t>
              </a:r>
              <a:endParaRPr lang="en-US" altLang="zh-CN" sz="66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gr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73025"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线粒体功能</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障碍</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280035" y="2211705"/>
            <a:ext cx="11226165" cy="4646295"/>
          </a:xfrm>
          <a:prstGeom prst="rect">
            <a:avLst/>
          </a:prstGeom>
          <a:noFill/>
        </p:spPr>
        <p:txBody>
          <a:bodyPr wrap="square" rtlCol="0">
            <a:spAutoFit/>
          </a:bodyPr>
          <a:p>
            <a:r>
              <a:rPr lang="en-US" altLang="zh-CN" sz="2800">
                <a:solidFill>
                  <a:schemeClr val="accent1">
                    <a:lumMod val="75000"/>
                  </a:schemeClr>
                </a:solidFill>
              </a:rPr>
              <a:t>1.线粒体功能障</a:t>
            </a:r>
            <a:r>
              <a:rPr lang="zh-CN" altLang="en-US" sz="2800">
                <a:solidFill>
                  <a:schemeClr val="accent1">
                    <a:lumMod val="75000"/>
                  </a:schemeClr>
                </a:solidFill>
              </a:rPr>
              <a:t>碍造成的 ATP 生成减少会影响大脑组织的能量供给，从而</a:t>
            </a:r>
            <a:r>
              <a:rPr lang="zh-CN" altLang="en-US" sz="3200" b="1">
                <a:solidFill>
                  <a:schemeClr val="accent1">
                    <a:lumMod val="75000"/>
                  </a:schemeClr>
                </a:solidFill>
              </a:rPr>
              <a:t>导致多巴胺系统的失衡</a:t>
            </a:r>
            <a:r>
              <a:rPr lang="zh-CN" altLang="en-US" sz="2800">
                <a:solidFill>
                  <a:schemeClr val="accent1">
                    <a:lumMod val="75000"/>
                  </a:schemeClr>
                </a:solidFill>
              </a:rPr>
              <a:t>。不仅如此，神经细胞比其他组织对低氧损伤更加敏感，线粒体功能障碍对中枢神经系统的损伤更加严重。</a:t>
            </a:r>
            <a:endParaRPr lang="zh-CN" altLang="en-US" sz="2800">
              <a:solidFill>
                <a:schemeClr val="accent1">
                  <a:lumMod val="75000"/>
                </a:schemeClr>
              </a:solidFill>
            </a:endParaRPr>
          </a:p>
          <a:p>
            <a:r>
              <a:rPr lang="en-US" altLang="zh-CN" sz="1600">
                <a:solidFill>
                  <a:schemeClr val="accent1">
                    <a:lumMod val="75000"/>
                  </a:schemeClr>
                </a:solidFill>
              </a:rPr>
              <a:t>·</a:t>
            </a:r>
            <a:endParaRPr lang="zh-CN" altLang="en-US" sz="2800">
              <a:solidFill>
                <a:schemeClr val="accent1">
                  <a:lumMod val="75000"/>
                </a:schemeClr>
              </a:solidFill>
            </a:endParaRPr>
          </a:p>
          <a:p>
            <a:r>
              <a:rPr lang="en-US" altLang="zh-CN" sz="2800">
                <a:solidFill>
                  <a:schemeClr val="accent1">
                    <a:lumMod val="75000"/>
                  </a:schemeClr>
                </a:solidFill>
              </a:rPr>
              <a:t>2.胞内氧化应激反应和线粒体功能障碍密不可分。</a:t>
            </a:r>
            <a:r>
              <a:rPr lang="zh-CN" altLang="en-US" sz="2800">
                <a:solidFill>
                  <a:schemeClr val="accent1">
                    <a:lumMod val="75000"/>
                  </a:schemeClr>
                </a:solidFill>
              </a:rPr>
              <a:t>帕金森</a:t>
            </a:r>
            <a:r>
              <a:rPr lang="en-US" altLang="zh-CN" sz="2800">
                <a:solidFill>
                  <a:schemeClr val="accent1">
                    <a:lumMod val="75000"/>
                  </a:schemeClr>
                </a:solidFill>
              </a:rPr>
              <a:t>病人黑质部位存在严重的</a:t>
            </a:r>
            <a:r>
              <a:rPr lang="en-US" altLang="zh-CN" sz="3200" b="1">
                <a:solidFill>
                  <a:schemeClr val="accent1">
                    <a:lumMod val="75000"/>
                  </a:schemeClr>
                </a:solidFill>
              </a:rPr>
              <a:t>氧化应激反应</a:t>
            </a:r>
            <a:r>
              <a:rPr lang="zh-CN" altLang="en-US" sz="2800">
                <a:solidFill>
                  <a:schemeClr val="accent1">
                    <a:lumMod val="75000"/>
                  </a:schemeClr>
                </a:solidFill>
              </a:rPr>
              <a:t>，</a:t>
            </a:r>
            <a:r>
              <a:rPr lang="en-US" altLang="zh-CN" sz="2800">
                <a:solidFill>
                  <a:schemeClr val="accent1">
                    <a:lumMod val="75000"/>
                  </a:schemeClr>
                </a:solidFill>
              </a:rPr>
              <a:t>造成胞内氧化与抗氧化作用的失衡。氧化应激产生大量活性氧和自由基，攻击蛋白质、脂质和核酸等生物大分子物质，进而引起</a:t>
            </a:r>
            <a:r>
              <a:rPr lang="zh-CN" altLang="en-US" sz="2800">
                <a:solidFill>
                  <a:schemeClr val="accent1">
                    <a:lumMod val="75000"/>
                  </a:schemeClr>
                </a:solidFill>
              </a:rPr>
              <a:t>多巴胺</a:t>
            </a:r>
            <a:r>
              <a:rPr lang="en-US" altLang="zh-CN" sz="2800">
                <a:solidFill>
                  <a:schemeClr val="accent1">
                    <a:lumMod val="75000"/>
                  </a:schemeClr>
                </a:solidFill>
              </a:rPr>
              <a:t>能神经元的损伤。</a:t>
            </a:r>
            <a:endParaRPr lang="en-US" altLang="zh-CN" sz="2800">
              <a:solidFill>
                <a:schemeClr val="accent1">
                  <a:lumMod val="75000"/>
                </a:schemeClr>
              </a:solidFill>
            </a:endParaRPr>
          </a:p>
          <a:p>
            <a:r>
              <a:rPr lang="en-US" altLang="zh-CN" sz="1600">
                <a:solidFill>
                  <a:schemeClr val="accent1">
                    <a:lumMod val="75000"/>
                  </a:schemeClr>
                </a:solidFill>
              </a:rPr>
              <a:t>·</a:t>
            </a:r>
            <a:endParaRPr lang="en-US" altLang="zh-CN" sz="2800">
              <a:solidFill>
                <a:schemeClr val="accent1">
                  <a:lumMod val="75000"/>
                </a:schemeClr>
              </a:solidFill>
            </a:endParaRPr>
          </a:p>
          <a:p>
            <a:r>
              <a:rPr lang="en-US" altLang="zh-CN" sz="2800">
                <a:solidFill>
                  <a:schemeClr val="accent1">
                    <a:lumMod val="75000"/>
                  </a:schemeClr>
                </a:solidFill>
              </a:rPr>
              <a:t>3.</a:t>
            </a:r>
            <a:r>
              <a:rPr lang="zh-CN" altLang="en-US" sz="2800">
                <a:solidFill>
                  <a:schemeClr val="accent1">
                    <a:lumMod val="75000"/>
                  </a:schemeClr>
                </a:solidFill>
              </a:rPr>
              <a:t>变老受损的线粒体未被移除替换，导致</a:t>
            </a:r>
            <a:r>
              <a:rPr lang="zh-CN" altLang="en-US" sz="3200" b="1">
                <a:solidFill>
                  <a:schemeClr val="accent1">
                    <a:lumMod val="75000"/>
                  </a:schemeClr>
                </a:solidFill>
              </a:rPr>
              <a:t>受损的线粒体积累</a:t>
            </a:r>
            <a:r>
              <a:rPr lang="zh-CN" altLang="en-US" sz="2800">
                <a:solidFill>
                  <a:schemeClr val="accent1">
                    <a:lumMod val="75000"/>
                  </a:schemeClr>
                </a:solidFill>
              </a:rPr>
              <a:t>，影响线粒体的正常功能。</a:t>
            </a:r>
            <a:endParaRPr lang="zh-CN" altLang="en-US" sz="2800">
              <a:solidFill>
                <a:schemeClr val="accent1">
                  <a:lumMod val="75000"/>
                </a:schemeClr>
              </a:solidFill>
            </a:endParaRPr>
          </a:p>
        </p:txBody>
      </p:sp>
      <p:sp>
        <p:nvSpPr>
          <p:cNvPr id="6" name="文本框 5"/>
          <p:cNvSpPr txBox="1"/>
          <p:nvPr/>
        </p:nvSpPr>
        <p:spPr>
          <a:xfrm>
            <a:off x="73025" y="1282065"/>
            <a:ext cx="10936605" cy="1014730"/>
          </a:xfrm>
          <a:prstGeom prst="rect">
            <a:avLst/>
          </a:prstGeom>
          <a:noFill/>
        </p:spPr>
        <p:txBody>
          <a:bodyPr wrap="square" rtlCol="0">
            <a:spAutoFit/>
          </a:bodyPr>
          <a:p>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遗传因子、路易小体损害</a:t>
            </a: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线粒体</a:t>
            </a:r>
            <a:endPar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0" grpId="0"/>
      <p:bldP spid="2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17" name="文本框 16"/>
          <p:cNvSpPr txBox="1"/>
          <p:nvPr/>
        </p:nvSpPr>
        <p:spPr>
          <a:xfrm>
            <a:off x="256540" y="3209290"/>
            <a:ext cx="5407660" cy="3784600"/>
          </a:xfrm>
          <a:prstGeom prst="rect">
            <a:avLst/>
          </a:prstGeom>
          <a:noFill/>
        </p:spPr>
        <p:txBody>
          <a:bodyPr wrap="square" rtlCol="0">
            <a:spAutoFit/>
          </a:bodyPr>
          <a:p>
            <a:pPr indent="457200"/>
            <a:r>
              <a:rPr lang="zh-CN" altLang="en-US" sz="2400">
                <a:solidFill>
                  <a:schemeClr val="accent1">
                    <a:lumMod val="75000"/>
                  </a:schemeClr>
                </a:solidFill>
                <a:sym typeface="+mn-ea"/>
              </a:rPr>
              <a:t>促炎细胞因子负责在病原体入侵时激活机体先天和获得性免疫系统，消灭入侵者；抗炎细胞因子是在消灭入侵者以后消除炎症使机体恢复到正常免疫和生理水平。</a:t>
            </a:r>
            <a:endParaRPr lang="zh-CN" altLang="en-US" sz="2400">
              <a:solidFill>
                <a:schemeClr val="accent1">
                  <a:lumMod val="75000"/>
                </a:schemeClr>
              </a:solidFill>
              <a:sym typeface="+mn-ea"/>
            </a:endParaRPr>
          </a:p>
          <a:p>
            <a:pPr indent="457200"/>
            <a:r>
              <a:rPr lang="zh-CN" altLang="en-US" sz="2400">
                <a:solidFill>
                  <a:schemeClr val="accent1">
                    <a:lumMod val="75000"/>
                  </a:schemeClr>
                </a:solidFill>
              </a:rPr>
              <a:t>活化的炎性细胞在产生促炎细胞因子的同时产生抗炎细胞因子, 促炎细胞因子与抗炎细胞因子的平衡有助于控制炎症。</a:t>
            </a:r>
            <a:endParaRPr lang="zh-CN" altLang="en-US" sz="2400">
              <a:solidFill>
                <a:schemeClr val="accent1">
                  <a:lumMod val="75000"/>
                </a:schemeClr>
              </a:solidFill>
            </a:endParaRPr>
          </a:p>
          <a:p>
            <a:endParaRPr lang="zh-CN" altLang="en-US" sz="2400"/>
          </a:p>
        </p:txBody>
      </p:sp>
      <p:sp>
        <p:nvSpPr>
          <p:cNvPr id="5" name="文本框 4"/>
          <p:cNvSpPr txBox="1"/>
          <p:nvPr/>
        </p:nvSpPr>
        <p:spPr>
          <a:xfrm>
            <a:off x="102235"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小胶质细胞</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文本框 19"/>
          <p:cNvSpPr txBox="1"/>
          <p:nvPr/>
        </p:nvSpPr>
        <p:spPr>
          <a:xfrm>
            <a:off x="256540" y="1691005"/>
            <a:ext cx="9481185" cy="1331595"/>
          </a:xfrm>
          <a:prstGeom prst="rect">
            <a:avLst/>
          </a:prstGeom>
          <a:noFill/>
        </p:spPr>
        <p:txBody>
          <a:bodyPr wrap="square" rtlCol="0">
            <a:noAutofit/>
          </a:bodyPr>
          <a:p>
            <a:pPr indent="457200"/>
            <a:r>
              <a:rPr lang="zh-CN" altLang="en-US" sz="2400">
                <a:solidFill>
                  <a:schemeClr val="accent1">
                    <a:lumMod val="75000"/>
                  </a:schemeClr>
                </a:solidFill>
              </a:rPr>
              <a:t>小胶质细胞，是一种存在于脑与脊髓中的神经胶质细胞，约占脑细胞数量的10-15%。作为存在于中枢神经系统中的</a:t>
            </a:r>
            <a:r>
              <a:rPr lang="zh-CN" altLang="en-US" sz="2800" b="1">
                <a:solidFill>
                  <a:schemeClr val="accent1">
                    <a:lumMod val="75000"/>
                  </a:schemeClr>
                </a:solidFill>
              </a:rPr>
              <a:t>巨噬细胞</a:t>
            </a:r>
            <a:r>
              <a:rPr lang="zh-CN" altLang="en-US" sz="2400">
                <a:solidFill>
                  <a:schemeClr val="accent1">
                    <a:lumMod val="75000"/>
                  </a:schemeClr>
                </a:solidFill>
              </a:rPr>
              <a:t>类群，小胶质细胞是中枢神经系统中反应最快、也是最主要的免疫屏障。</a:t>
            </a:r>
            <a:endParaRPr lang="zh-CN" altLang="en-US" sz="2400">
              <a:solidFill>
                <a:schemeClr val="accent1">
                  <a:lumMod val="75000"/>
                </a:schemeClr>
              </a:solidFill>
            </a:endParaRPr>
          </a:p>
          <a:p>
            <a:pPr indent="457200"/>
            <a:endParaRPr lang="zh-CN" altLang="en-US" sz="2400">
              <a:solidFill>
                <a:schemeClr val="accent1">
                  <a:lumMod val="75000"/>
                </a:schemeClr>
              </a:solidFill>
            </a:endParaRPr>
          </a:p>
          <a:p>
            <a:pPr indent="457200"/>
            <a:endParaRPr lang="zh-CN" altLang="en-US" sz="2400">
              <a:solidFill>
                <a:schemeClr val="accent1">
                  <a:lumMod val="75000"/>
                </a:schemeClr>
              </a:solidFill>
            </a:endParaRPr>
          </a:p>
        </p:txBody>
      </p:sp>
      <p:sp>
        <p:nvSpPr>
          <p:cNvPr id="9" name="文本框 8"/>
          <p:cNvSpPr txBox="1"/>
          <p:nvPr/>
        </p:nvSpPr>
        <p:spPr>
          <a:xfrm>
            <a:off x="256540" y="3209290"/>
            <a:ext cx="5483860" cy="3046095"/>
          </a:xfrm>
          <a:prstGeom prst="rect">
            <a:avLst/>
          </a:prstGeom>
          <a:noFill/>
        </p:spPr>
        <p:txBody>
          <a:bodyPr wrap="square" rtlCol="0">
            <a:spAutoFit/>
          </a:bodyPr>
          <a:p>
            <a:r>
              <a:rPr lang="zh-CN" altLang="en-US" sz="2400">
                <a:solidFill>
                  <a:schemeClr val="accent1">
                    <a:lumMod val="75000"/>
                  </a:schemeClr>
                </a:solidFill>
                <a:sym typeface="+mn-ea"/>
              </a:rPr>
              <a:t>炎症反应：</a:t>
            </a:r>
            <a:endParaRPr lang="zh-CN" altLang="en-US" sz="2400">
              <a:solidFill>
                <a:schemeClr val="accent1">
                  <a:lumMod val="75000"/>
                </a:schemeClr>
              </a:solidFill>
              <a:sym typeface="+mn-ea"/>
            </a:endParaRPr>
          </a:p>
          <a:p>
            <a:pPr indent="457200"/>
            <a:r>
              <a:rPr lang="zh-CN" altLang="en-US" sz="2400">
                <a:solidFill>
                  <a:schemeClr val="accent1">
                    <a:lumMod val="75000"/>
                  </a:schemeClr>
                </a:solidFill>
                <a:sym typeface="+mn-ea"/>
              </a:rPr>
              <a:t>当机体中出现毒素、病原体等促炎物质时，免疫系统中的吞噬细胞和胶质细胞会被激活，并释放免疫调节因子，如促炎细胞因子</a:t>
            </a:r>
            <a:r>
              <a:rPr lang="en-US" altLang="zh-CN" sz="2400">
                <a:solidFill>
                  <a:schemeClr val="accent1">
                    <a:lumMod val="75000"/>
                  </a:schemeClr>
                </a:solidFill>
                <a:sym typeface="+mn-ea"/>
              </a:rPr>
              <a:t>(</a:t>
            </a:r>
            <a:r>
              <a:rPr lang="zh-CN" altLang="en-US" sz="2400">
                <a:solidFill>
                  <a:schemeClr val="accent1">
                    <a:lumMod val="75000"/>
                  </a:schemeClr>
                </a:solidFill>
                <a:sym typeface="+mn-ea"/>
              </a:rPr>
              <a:t>促进炎症</a:t>
            </a:r>
            <a:r>
              <a:rPr lang="en-US" altLang="zh-CN" sz="2400">
                <a:solidFill>
                  <a:schemeClr val="accent1">
                    <a:lumMod val="75000"/>
                  </a:schemeClr>
                </a:solidFill>
                <a:sym typeface="+mn-ea"/>
              </a:rPr>
              <a:t>)</a:t>
            </a:r>
            <a:r>
              <a:rPr lang="zh-CN" altLang="en-US" sz="2400">
                <a:solidFill>
                  <a:schemeClr val="accent1">
                    <a:lumMod val="75000"/>
                  </a:schemeClr>
                </a:solidFill>
                <a:sym typeface="+mn-ea"/>
              </a:rPr>
              <a:t>、抗炎细胞因子</a:t>
            </a:r>
            <a:r>
              <a:rPr lang="en-US" altLang="zh-CN" sz="2400">
                <a:solidFill>
                  <a:schemeClr val="accent1">
                    <a:lumMod val="75000"/>
                  </a:schemeClr>
                </a:solidFill>
                <a:sym typeface="+mn-ea"/>
              </a:rPr>
              <a:t>(</a:t>
            </a:r>
            <a:r>
              <a:rPr lang="zh-CN" altLang="en-US" sz="2400">
                <a:solidFill>
                  <a:schemeClr val="accent1">
                    <a:lumMod val="75000"/>
                  </a:schemeClr>
                </a:solidFill>
                <a:sym typeface="+mn-ea"/>
              </a:rPr>
              <a:t>抑制炎症</a:t>
            </a:r>
            <a:r>
              <a:rPr lang="en-US" altLang="zh-CN" sz="2400">
                <a:solidFill>
                  <a:schemeClr val="accent1">
                    <a:lumMod val="75000"/>
                  </a:schemeClr>
                </a:solidFill>
                <a:sym typeface="+mn-ea"/>
              </a:rPr>
              <a:t>)</a:t>
            </a:r>
            <a:r>
              <a:rPr lang="zh-CN" altLang="en-US" sz="2400">
                <a:solidFill>
                  <a:schemeClr val="accent1">
                    <a:lumMod val="75000"/>
                  </a:schemeClr>
                </a:solidFill>
                <a:sym typeface="+mn-ea"/>
              </a:rPr>
              <a:t>和趋化因子。</a:t>
            </a:r>
            <a:endParaRPr lang="zh-CN" altLang="en-US" sz="2400">
              <a:solidFill>
                <a:schemeClr val="accent1">
                  <a:lumMod val="75000"/>
                </a:schemeClr>
              </a:solidFill>
              <a:sym typeface="+mn-ea"/>
            </a:endParaRPr>
          </a:p>
          <a:p>
            <a:pPr indent="457200"/>
            <a:endParaRPr lang="zh-CN" altLang="en-US" sz="2400">
              <a:solidFill>
                <a:schemeClr val="accent1">
                  <a:lumMod val="75000"/>
                </a:schemeClr>
              </a:solidFill>
            </a:endParaRPr>
          </a:p>
          <a:p>
            <a:endParaRPr lang="zh-CN" altLang="en-US" sz="2400"/>
          </a:p>
        </p:txBody>
      </p:sp>
      <p:grpSp>
        <p:nvGrpSpPr>
          <p:cNvPr id="16" name="组合 15"/>
          <p:cNvGrpSpPr/>
          <p:nvPr/>
        </p:nvGrpSpPr>
        <p:grpSpPr>
          <a:xfrm>
            <a:off x="5594985" y="3130550"/>
            <a:ext cx="6254750" cy="3568700"/>
            <a:chOff x="8811" y="4930"/>
            <a:chExt cx="9850" cy="5620"/>
          </a:xfrm>
        </p:grpSpPr>
        <p:pic>
          <p:nvPicPr>
            <p:cNvPr id="103" name="图片 102"/>
            <p:cNvPicPr/>
            <p:nvPr/>
          </p:nvPicPr>
          <p:blipFill>
            <a:blip r:embed="rId3"/>
            <a:stretch>
              <a:fillRect/>
            </a:stretch>
          </p:blipFill>
          <p:spPr>
            <a:xfrm>
              <a:off x="8811" y="7572"/>
              <a:ext cx="2010" cy="1995"/>
            </a:xfrm>
            <a:prstGeom prst="rect">
              <a:avLst/>
            </a:prstGeom>
            <a:noFill/>
            <a:ln w="9525">
              <a:noFill/>
            </a:ln>
          </p:spPr>
        </p:pic>
        <p:pic>
          <p:nvPicPr>
            <p:cNvPr id="104" name="图片 103"/>
            <p:cNvPicPr/>
            <p:nvPr/>
          </p:nvPicPr>
          <p:blipFill>
            <a:blip r:embed="rId4"/>
            <a:stretch>
              <a:fillRect/>
            </a:stretch>
          </p:blipFill>
          <p:spPr>
            <a:xfrm flipH="1">
              <a:off x="12862" y="4930"/>
              <a:ext cx="1090" cy="2642"/>
            </a:xfrm>
            <a:prstGeom prst="rect">
              <a:avLst/>
            </a:prstGeom>
            <a:noFill/>
            <a:ln w="9525">
              <a:noFill/>
            </a:ln>
          </p:spPr>
        </p:pic>
        <p:pic>
          <p:nvPicPr>
            <p:cNvPr id="105" name="图片 104"/>
            <p:cNvPicPr/>
            <p:nvPr/>
          </p:nvPicPr>
          <p:blipFill>
            <a:blip r:embed="rId5"/>
            <a:stretch>
              <a:fillRect/>
            </a:stretch>
          </p:blipFill>
          <p:spPr>
            <a:xfrm>
              <a:off x="15615" y="7386"/>
              <a:ext cx="2948" cy="2181"/>
            </a:xfrm>
            <a:prstGeom prst="rect">
              <a:avLst/>
            </a:prstGeom>
            <a:noFill/>
            <a:ln w="9525">
              <a:noFill/>
            </a:ln>
          </p:spPr>
        </p:pic>
        <p:sp>
          <p:nvSpPr>
            <p:cNvPr id="6" name="文本框 5"/>
            <p:cNvSpPr txBox="1"/>
            <p:nvPr/>
          </p:nvSpPr>
          <p:spPr>
            <a:xfrm>
              <a:off x="9232" y="9728"/>
              <a:ext cx="1589" cy="822"/>
            </a:xfrm>
            <a:prstGeom prst="rect">
              <a:avLst/>
            </a:prstGeom>
            <a:noFill/>
          </p:spPr>
          <p:txBody>
            <a:bodyPr wrap="square" rtlCol="0">
              <a:spAutoFit/>
            </a:bodyPr>
            <a:p>
              <a:r>
                <a:rPr lang="zh-CN" altLang="en-US" sz="2800"/>
                <a:t>病菌</a:t>
              </a:r>
              <a:endParaRPr lang="zh-CN" altLang="en-US" sz="2800"/>
            </a:p>
          </p:txBody>
        </p:sp>
        <p:sp>
          <p:nvSpPr>
            <p:cNvPr id="7" name="文本框 6"/>
            <p:cNvSpPr txBox="1"/>
            <p:nvPr/>
          </p:nvSpPr>
          <p:spPr>
            <a:xfrm>
              <a:off x="12180" y="7755"/>
              <a:ext cx="2825" cy="822"/>
            </a:xfrm>
            <a:prstGeom prst="rect">
              <a:avLst/>
            </a:prstGeom>
            <a:noFill/>
          </p:spPr>
          <p:txBody>
            <a:bodyPr wrap="square" rtlCol="0">
              <a:spAutoFit/>
            </a:bodyPr>
            <a:p>
              <a:r>
                <a:rPr lang="zh-CN" altLang="en-US" sz="2800"/>
                <a:t>促炎因子</a:t>
              </a:r>
              <a:endParaRPr lang="zh-CN" altLang="en-US" sz="2800"/>
            </a:p>
          </p:txBody>
        </p:sp>
        <p:sp>
          <p:nvSpPr>
            <p:cNvPr id="8" name="文本框 7"/>
            <p:cNvSpPr txBox="1"/>
            <p:nvPr/>
          </p:nvSpPr>
          <p:spPr>
            <a:xfrm>
              <a:off x="15837" y="9728"/>
              <a:ext cx="2825" cy="822"/>
            </a:xfrm>
            <a:prstGeom prst="rect">
              <a:avLst/>
            </a:prstGeom>
            <a:noFill/>
          </p:spPr>
          <p:txBody>
            <a:bodyPr wrap="square" rtlCol="0">
              <a:spAutoFit/>
            </a:bodyPr>
            <a:p>
              <a:r>
                <a:rPr lang="zh-CN" altLang="en-US" sz="2800"/>
                <a:t>免疫细胞</a:t>
              </a:r>
              <a:endParaRPr lang="zh-CN" altLang="en-US" sz="2800"/>
            </a:p>
          </p:txBody>
        </p:sp>
        <p:sp>
          <p:nvSpPr>
            <p:cNvPr id="10" name="上箭头 9"/>
            <p:cNvSpPr/>
            <p:nvPr/>
          </p:nvSpPr>
          <p:spPr>
            <a:xfrm rot="3060000">
              <a:off x="11221" y="6237"/>
              <a:ext cx="866" cy="2015"/>
            </a:xfrm>
            <a:prstGeom prst="up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1" name="上箭头 10"/>
            <p:cNvSpPr/>
            <p:nvPr/>
          </p:nvSpPr>
          <p:spPr>
            <a:xfrm rot="8460000">
              <a:off x="14806" y="6152"/>
              <a:ext cx="866" cy="2015"/>
            </a:xfrm>
            <a:prstGeom prst="up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2" name="上箭头 11"/>
            <p:cNvSpPr/>
            <p:nvPr/>
          </p:nvSpPr>
          <p:spPr>
            <a:xfrm rot="16200000">
              <a:off x="12896" y="7191"/>
              <a:ext cx="866" cy="4390"/>
            </a:xfrm>
            <a:prstGeom prst="up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3" name="文本框 12"/>
            <p:cNvSpPr txBox="1"/>
            <p:nvPr/>
          </p:nvSpPr>
          <p:spPr>
            <a:xfrm>
              <a:off x="12798" y="9728"/>
              <a:ext cx="1589" cy="822"/>
            </a:xfrm>
            <a:prstGeom prst="rect">
              <a:avLst/>
            </a:prstGeom>
            <a:noFill/>
          </p:spPr>
          <p:txBody>
            <a:bodyPr wrap="square" rtlCol="0">
              <a:spAutoFit/>
            </a:bodyPr>
            <a:p>
              <a:r>
                <a:rPr lang="zh-CN" altLang="en-US" sz="2800"/>
                <a:t>清</a:t>
              </a:r>
              <a:r>
                <a:rPr lang="zh-CN" altLang="en-US" sz="2800"/>
                <a:t>除</a:t>
              </a:r>
              <a:endParaRPr lang="zh-CN" altLang="en-US" sz="2800"/>
            </a:p>
          </p:txBody>
        </p:sp>
        <p:sp>
          <p:nvSpPr>
            <p:cNvPr id="14" name="文本框 13"/>
            <p:cNvSpPr txBox="1"/>
            <p:nvPr/>
          </p:nvSpPr>
          <p:spPr>
            <a:xfrm>
              <a:off x="10156" y="6199"/>
              <a:ext cx="1589" cy="822"/>
            </a:xfrm>
            <a:prstGeom prst="rect">
              <a:avLst/>
            </a:prstGeom>
            <a:noFill/>
          </p:spPr>
          <p:txBody>
            <a:bodyPr wrap="square" rtlCol="0">
              <a:spAutoFit/>
            </a:bodyPr>
            <a:p>
              <a:r>
                <a:rPr lang="zh-CN" altLang="en-US" sz="2800"/>
                <a:t>刺激</a:t>
              </a:r>
              <a:endParaRPr lang="zh-CN" altLang="en-US" sz="2800"/>
            </a:p>
          </p:txBody>
        </p:sp>
        <p:sp>
          <p:nvSpPr>
            <p:cNvPr id="15" name="文本框 14"/>
            <p:cNvSpPr txBox="1"/>
            <p:nvPr/>
          </p:nvSpPr>
          <p:spPr>
            <a:xfrm>
              <a:off x="15615" y="6199"/>
              <a:ext cx="1589" cy="822"/>
            </a:xfrm>
            <a:prstGeom prst="rect">
              <a:avLst/>
            </a:prstGeom>
            <a:noFill/>
          </p:spPr>
          <p:txBody>
            <a:bodyPr wrap="square" rtlCol="0">
              <a:spAutoFit/>
            </a:bodyPr>
            <a:p>
              <a:r>
                <a:rPr lang="zh-CN" altLang="en-US" sz="2800"/>
                <a:t>激活</a:t>
              </a:r>
              <a:endParaRPr lang="zh-CN" altLang="en-US" sz="2800"/>
            </a:p>
          </p:txBody>
        </p:sp>
      </p:gr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 presetClass="exit" presetSubtype="0" fill="hold" grpId="2"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9" grpId="0"/>
      <p:bldP spid="9" grpId="1"/>
      <p:bldP spid="17" grpId="0"/>
      <p:bldP spid="17" grpId="1"/>
      <p:bldP spid="9" grpId="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102235"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小胶质细胞</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18" name="文本框 17"/>
          <p:cNvSpPr txBox="1"/>
          <p:nvPr/>
        </p:nvSpPr>
        <p:spPr>
          <a:xfrm>
            <a:off x="256540" y="1691005"/>
            <a:ext cx="11643995" cy="3938270"/>
          </a:xfrm>
          <a:prstGeom prst="rect">
            <a:avLst/>
          </a:prstGeom>
          <a:noFill/>
        </p:spPr>
        <p:txBody>
          <a:bodyPr wrap="square" rtlCol="0">
            <a:noAutofit/>
          </a:bodyPr>
          <a:p>
            <a:pPr indent="457200"/>
            <a:r>
              <a:rPr lang="zh-CN" altLang="en-US" sz="2400">
                <a:solidFill>
                  <a:schemeClr val="accent1">
                    <a:lumMod val="75000"/>
                  </a:schemeClr>
                </a:solidFill>
              </a:rPr>
              <a:t>小胶质细胞作为神经系统主要的组织驻留巨噬细胞，对神经元及其周围环境变化敏感。</a:t>
            </a:r>
            <a:r>
              <a:rPr lang="zh-CN" altLang="en-US" sz="2800" b="1">
                <a:solidFill>
                  <a:schemeClr val="accent1">
                    <a:lumMod val="75000"/>
                  </a:schemeClr>
                </a:solidFill>
              </a:rPr>
              <a:t>路易小体诱导小胶质细胞活化及炎症反应</a:t>
            </a:r>
            <a:r>
              <a:rPr lang="zh-CN" altLang="en-US" sz="2400">
                <a:solidFill>
                  <a:schemeClr val="accent1">
                    <a:lumMod val="75000"/>
                  </a:schemeClr>
                </a:solidFill>
              </a:rPr>
              <a:t>，并发挥吞噬功能，通过细胞间膜突起清除含病理性α-突触核蛋白的神经元。</a:t>
            </a:r>
            <a:endParaRPr lang="zh-CN" altLang="en-US" sz="2400">
              <a:solidFill>
                <a:schemeClr val="accent1">
                  <a:lumMod val="75000"/>
                </a:schemeClr>
              </a:solidFill>
            </a:endParaRPr>
          </a:p>
          <a:p>
            <a:pPr indent="457200"/>
            <a:r>
              <a:rPr lang="zh-CN" altLang="en-US" sz="2800" b="1">
                <a:solidFill>
                  <a:schemeClr val="accent1">
                    <a:lumMod val="75000"/>
                  </a:schemeClr>
                </a:solidFill>
                <a:sym typeface="+mn-ea"/>
              </a:rPr>
              <a:t>由于炎性细胞因子会损害神经元</a:t>
            </a:r>
            <a:r>
              <a:rPr lang="zh-CN" altLang="en-US" sz="2800">
                <a:solidFill>
                  <a:schemeClr val="accent1">
                    <a:lumMod val="75000"/>
                  </a:schemeClr>
                </a:solidFill>
                <a:sym typeface="+mn-ea"/>
              </a:rPr>
              <a:t>，</a:t>
            </a:r>
            <a:r>
              <a:rPr lang="zh-CN" altLang="en-US" sz="2400">
                <a:solidFill>
                  <a:schemeClr val="accent1">
                    <a:lumMod val="75000"/>
                  </a:schemeClr>
                </a:solidFill>
              </a:rPr>
              <a:t>在小胶质细胞被激活后，它们就会释放促炎细胞因子，激活邻近的更多小胶质细胞和星形胶质细胞，进一步促进黑质区炎性免疫反应，最终导致神经元损伤和帕金森病的进一步</a:t>
            </a:r>
            <a:r>
              <a:rPr lang="zh-CN" altLang="en-US" sz="2400">
                <a:solidFill>
                  <a:schemeClr val="accent1">
                    <a:lumMod val="75000"/>
                  </a:schemeClr>
                </a:solidFill>
              </a:rPr>
              <a:t>恶化。</a:t>
            </a:r>
            <a:endParaRPr lang="zh-CN" altLang="en-US" sz="2400">
              <a:solidFill>
                <a:schemeClr val="accent1">
                  <a:lumMod val="75000"/>
                </a:schemeClr>
              </a:solidFill>
            </a:endParaRPr>
          </a:p>
          <a:p>
            <a:pPr indent="457200"/>
            <a:r>
              <a:rPr lang="zh-CN" altLang="en-US" sz="2400">
                <a:solidFill>
                  <a:schemeClr val="accent1">
                    <a:lumMod val="75000"/>
                  </a:schemeClr>
                </a:solidFill>
              </a:rPr>
              <a:t>除此之外，在部分帕金森病人体内发现由于一些原因导致</a:t>
            </a:r>
            <a:r>
              <a:rPr lang="zh-CN" altLang="en-US" sz="2800" b="1">
                <a:solidFill>
                  <a:schemeClr val="accent1">
                    <a:lumMod val="75000"/>
                  </a:schemeClr>
                </a:solidFill>
              </a:rPr>
              <a:t>小胶质细胞自噬功能受损</a:t>
            </a:r>
            <a:r>
              <a:rPr lang="zh-CN" altLang="en-US" sz="2400">
                <a:solidFill>
                  <a:schemeClr val="accent1">
                    <a:lumMod val="75000"/>
                  </a:schemeClr>
                </a:solidFill>
              </a:rPr>
              <a:t>，胞外α-突触核蛋白的清除受损，同时小胶质细胞的自噬-溶酶体功能障碍、鞘磷脂代谢失衡，促进炎症小体激活，</a:t>
            </a:r>
            <a:r>
              <a:rPr lang="zh-CN" altLang="en-US" sz="2800" b="1">
                <a:solidFill>
                  <a:schemeClr val="accent1">
                    <a:lumMod val="75000"/>
                  </a:schemeClr>
                </a:solidFill>
              </a:rPr>
              <a:t>会进一步促进α-突触核蛋白的</a:t>
            </a:r>
            <a:r>
              <a:rPr lang="zh-CN" altLang="en-US" sz="2800" b="1">
                <a:solidFill>
                  <a:schemeClr val="accent1">
                    <a:lumMod val="75000"/>
                  </a:schemeClr>
                </a:solidFill>
                <a:sym typeface="+mn-ea"/>
              </a:rPr>
              <a:t>病理性</a:t>
            </a:r>
            <a:r>
              <a:rPr lang="zh-CN" altLang="en-US" sz="2800" b="1">
                <a:solidFill>
                  <a:schemeClr val="accent1">
                    <a:lumMod val="75000"/>
                  </a:schemeClr>
                </a:solidFill>
              </a:rPr>
              <a:t>聚集</a:t>
            </a:r>
            <a:r>
              <a:rPr lang="zh-CN" altLang="en-US" sz="2800">
                <a:solidFill>
                  <a:schemeClr val="accent1">
                    <a:lumMod val="75000"/>
                  </a:schemeClr>
                </a:solidFill>
              </a:rPr>
              <a:t>。</a:t>
            </a:r>
            <a:endParaRPr lang="zh-CN" altLang="en-US" sz="240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病理</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总结</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8" name="矩形 7"/>
          <p:cNvSpPr/>
          <p:nvPr>
            <p:custDataLst>
              <p:tags r:id="rId3"/>
            </p:custDataLst>
          </p:nvPr>
        </p:nvSpPr>
        <p:spPr>
          <a:xfrm>
            <a:off x="527050" y="1691005"/>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多巴胺能神经元的</a:t>
            </a:r>
            <a:r>
              <a:rPr lang="zh-CN" altLang="en-US" sz="2400" b="1">
                <a:solidFill>
                  <a:schemeClr val="tx1"/>
                </a:solidFill>
              </a:rPr>
              <a:t>丢失</a:t>
            </a:r>
            <a:endParaRPr lang="zh-CN" altLang="en-US" sz="2400" b="1">
              <a:solidFill>
                <a:schemeClr val="tx1"/>
              </a:solidFill>
            </a:endParaRPr>
          </a:p>
        </p:txBody>
      </p:sp>
      <p:grpSp>
        <p:nvGrpSpPr>
          <p:cNvPr id="10" name="组合 9"/>
          <p:cNvGrpSpPr/>
          <p:nvPr/>
        </p:nvGrpSpPr>
        <p:grpSpPr>
          <a:xfrm>
            <a:off x="5805170" y="1643380"/>
            <a:ext cx="5855970" cy="1074420"/>
            <a:chOff x="9142" y="2588"/>
            <a:chExt cx="9222" cy="1692"/>
          </a:xfrm>
        </p:grpSpPr>
        <p:sp>
          <p:nvSpPr>
            <p:cNvPr id="6" name="矩形 5"/>
            <p:cNvSpPr/>
            <p:nvPr/>
          </p:nvSpPr>
          <p:spPr>
            <a:xfrm>
              <a:off x="11913" y="2663"/>
              <a:ext cx="6451"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机体衰老、环境因素导致</a:t>
              </a:r>
              <a:endParaRPr lang="zh-CN" altLang="en-US" sz="2400" b="1">
                <a:solidFill>
                  <a:schemeClr val="tx1"/>
                </a:solidFill>
              </a:endParaRPr>
            </a:p>
            <a:p>
              <a:pPr algn="ctr"/>
              <a:r>
                <a:rPr lang="zh-CN" altLang="en-US" sz="2400" b="1">
                  <a:solidFill>
                    <a:schemeClr val="tx1"/>
                  </a:solidFill>
                </a:rPr>
                <a:t>细胞凋亡</a:t>
              </a:r>
              <a:endParaRPr lang="zh-CN" altLang="en-US" sz="2400" b="1">
                <a:solidFill>
                  <a:schemeClr val="tx1"/>
                </a:solidFill>
              </a:endParaRPr>
            </a:p>
          </p:txBody>
        </p:sp>
        <p:sp>
          <p:nvSpPr>
            <p:cNvPr id="7" name="右箭头 6"/>
            <p:cNvSpPr/>
            <p:nvPr/>
          </p:nvSpPr>
          <p:spPr>
            <a:xfrm>
              <a:off x="9410" y="3144"/>
              <a:ext cx="2193"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9" name="文本框 8"/>
            <p:cNvSpPr txBox="1"/>
            <p:nvPr/>
          </p:nvSpPr>
          <p:spPr>
            <a:xfrm>
              <a:off x="9142" y="2588"/>
              <a:ext cx="2729" cy="628"/>
            </a:xfrm>
            <a:prstGeom prst="rect">
              <a:avLst/>
            </a:prstGeom>
            <a:noFill/>
          </p:spPr>
          <p:txBody>
            <a:bodyPr wrap="square" rtlCol="0">
              <a:spAutoFit/>
            </a:bodyPr>
            <a:p>
              <a:r>
                <a:rPr lang="zh-CN" altLang="en-US" sz="2000" b="1"/>
                <a:t>机体无法代偿</a:t>
              </a:r>
              <a:endParaRPr lang="zh-CN" altLang="en-US" sz="2000" b="1"/>
            </a:p>
          </p:txBody>
        </p:sp>
      </p:grpSp>
      <p:grpSp>
        <p:nvGrpSpPr>
          <p:cNvPr id="34" name="组合 33"/>
          <p:cNvGrpSpPr/>
          <p:nvPr/>
        </p:nvGrpSpPr>
        <p:grpSpPr>
          <a:xfrm>
            <a:off x="527050" y="2766695"/>
            <a:ext cx="6390005" cy="1640205"/>
            <a:chOff x="830" y="4357"/>
            <a:chExt cx="10063" cy="2583"/>
          </a:xfrm>
        </p:grpSpPr>
        <p:sp>
          <p:nvSpPr>
            <p:cNvPr id="11" name="矩形 10"/>
            <p:cNvSpPr/>
            <p:nvPr>
              <p:custDataLst>
                <p:tags r:id="rId4"/>
              </p:custDataLst>
            </p:nvPr>
          </p:nvSpPr>
          <p:spPr>
            <a:xfrm>
              <a:off x="830" y="5324"/>
              <a:ext cx="6451"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路易小体的</a:t>
              </a:r>
              <a:r>
                <a:rPr lang="zh-CN" altLang="en-US" sz="2400" b="1">
                  <a:solidFill>
                    <a:schemeClr val="tx1"/>
                  </a:solidFill>
                </a:rPr>
                <a:t>产生</a:t>
              </a:r>
              <a:endParaRPr lang="zh-CN" altLang="en-US" sz="2400" b="1">
                <a:solidFill>
                  <a:schemeClr val="tx1"/>
                </a:solidFill>
              </a:endParaRPr>
            </a:p>
          </p:txBody>
        </p:sp>
        <p:sp>
          <p:nvSpPr>
            <p:cNvPr id="12" name="右箭头 11"/>
            <p:cNvSpPr/>
            <p:nvPr>
              <p:custDataLst>
                <p:tags r:id="rId5"/>
              </p:custDataLst>
            </p:nvPr>
          </p:nvSpPr>
          <p:spPr>
            <a:xfrm rot="5400000">
              <a:off x="3612" y="4474"/>
              <a:ext cx="889"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6" name="文本框 15"/>
            <p:cNvSpPr txBox="1"/>
            <p:nvPr>
              <p:custDataLst>
                <p:tags r:id="rId6"/>
              </p:custDataLst>
            </p:nvPr>
          </p:nvSpPr>
          <p:spPr>
            <a:xfrm>
              <a:off x="4467" y="4488"/>
              <a:ext cx="6427" cy="628"/>
            </a:xfrm>
            <a:prstGeom prst="rect">
              <a:avLst/>
            </a:prstGeom>
            <a:noFill/>
          </p:spPr>
          <p:txBody>
            <a:bodyPr wrap="square" rtlCol="0">
              <a:spAutoFit/>
            </a:bodyPr>
            <a:p>
              <a:r>
                <a:rPr lang="zh-CN" altLang="en-US" sz="2000" b="1"/>
                <a:t>遗传、变异</a:t>
              </a:r>
              <a:r>
                <a:rPr lang="en-US" altLang="zh-CN" sz="2000" b="1"/>
                <a:t>(</a:t>
              </a:r>
              <a:r>
                <a:rPr lang="zh-CN" altLang="en-US" sz="2000" b="1"/>
                <a:t>环境因素等</a:t>
              </a:r>
              <a:r>
                <a:rPr lang="en-US" altLang="zh-CN" sz="2000" b="1"/>
                <a:t>)</a:t>
              </a:r>
              <a:endParaRPr lang="en-US" altLang="zh-CN" sz="2000" b="1"/>
            </a:p>
          </p:txBody>
        </p:sp>
      </p:grpSp>
      <p:grpSp>
        <p:nvGrpSpPr>
          <p:cNvPr id="35" name="组合 34"/>
          <p:cNvGrpSpPr/>
          <p:nvPr/>
        </p:nvGrpSpPr>
        <p:grpSpPr>
          <a:xfrm>
            <a:off x="527050" y="4477385"/>
            <a:ext cx="4095750" cy="1619250"/>
            <a:chOff x="830" y="7051"/>
            <a:chExt cx="6450" cy="2550"/>
          </a:xfrm>
        </p:grpSpPr>
        <p:sp>
          <p:nvSpPr>
            <p:cNvPr id="18" name="右箭头 17"/>
            <p:cNvSpPr/>
            <p:nvPr/>
          </p:nvSpPr>
          <p:spPr>
            <a:xfrm rot="5400000">
              <a:off x="3644" y="7136"/>
              <a:ext cx="824"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9" name="矩形 18"/>
            <p:cNvSpPr/>
            <p:nvPr/>
          </p:nvSpPr>
          <p:spPr>
            <a:xfrm>
              <a:off x="830" y="7985"/>
              <a:ext cx="6451"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具有</a:t>
              </a:r>
              <a:r>
                <a:rPr lang="zh-CN" altLang="en-US" sz="2400" b="1">
                  <a:solidFill>
                    <a:schemeClr val="tx1"/>
                  </a:solidFill>
                </a:rPr>
                <a:t>神经毒性</a:t>
              </a:r>
              <a:endParaRPr lang="zh-CN" altLang="en-US" sz="2400" b="1">
                <a:solidFill>
                  <a:schemeClr val="tx1"/>
                </a:solidFill>
              </a:endParaRPr>
            </a:p>
          </p:txBody>
        </p:sp>
      </p:grpSp>
      <p:grpSp>
        <p:nvGrpSpPr>
          <p:cNvPr id="36" name="组合 35"/>
          <p:cNvGrpSpPr/>
          <p:nvPr/>
        </p:nvGrpSpPr>
        <p:grpSpPr>
          <a:xfrm>
            <a:off x="4738370" y="3380740"/>
            <a:ext cx="7129780" cy="1026160"/>
            <a:chOff x="7462" y="5324"/>
            <a:chExt cx="11228" cy="1616"/>
          </a:xfrm>
        </p:grpSpPr>
        <p:sp>
          <p:nvSpPr>
            <p:cNvPr id="22" name="矩形 21"/>
            <p:cNvSpPr/>
            <p:nvPr/>
          </p:nvSpPr>
          <p:spPr>
            <a:xfrm>
              <a:off x="8953" y="5324"/>
              <a:ext cx="6451"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导致线粒体功能</a:t>
              </a:r>
              <a:r>
                <a:rPr lang="zh-CN" altLang="en-US" sz="2400" b="1">
                  <a:solidFill>
                    <a:schemeClr val="tx1"/>
                  </a:solidFill>
                </a:rPr>
                <a:t>障碍</a:t>
              </a:r>
              <a:endParaRPr lang="zh-CN" altLang="en-US" sz="2400" b="1">
                <a:solidFill>
                  <a:schemeClr val="tx1"/>
                </a:solidFill>
              </a:endParaRPr>
            </a:p>
            <a:p>
              <a:pPr algn="ctr"/>
              <a:r>
                <a:rPr lang="zh-CN" altLang="en-US" sz="2400" b="1">
                  <a:solidFill>
                    <a:schemeClr val="tx1"/>
                  </a:solidFill>
                </a:rPr>
                <a:t>神经元功能</a:t>
              </a:r>
              <a:r>
                <a:rPr lang="zh-CN" altLang="en-US" sz="2400" b="1">
                  <a:solidFill>
                    <a:schemeClr val="tx1"/>
                  </a:solidFill>
                </a:rPr>
                <a:t>受损</a:t>
              </a:r>
              <a:endParaRPr lang="zh-CN" altLang="en-US" sz="2400" b="1">
                <a:solidFill>
                  <a:schemeClr val="tx1"/>
                </a:solidFill>
              </a:endParaRPr>
            </a:p>
          </p:txBody>
        </p:sp>
        <p:sp>
          <p:nvSpPr>
            <p:cNvPr id="23" name="右箭头 22"/>
            <p:cNvSpPr/>
            <p:nvPr/>
          </p:nvSpPr>
          <p:spPr>
            <a:xfrm>
              <a:off x="7462" y="5792"/>
              <a:ext cx="1310"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4" name="矩形 23"/>
            <p:cNvSpPr/>
            <p:nvPr/>
          </p:nvSpPr>
          <p:spPr>
            <a:xfrm>
              <a:off x="16812" y="5324"/>
              <a:ext cx="1878"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遗传</a:t>
              </a:r>
              <a:endParaRPr lang="zh-CN" altLang="en-US" sz="2400" b="1">
                <a:solidFill>
                  <a:schemeClr val="tx1"/>
                </a:solidFill>
              </a:endParaRPr>
            </a:p>
            <a:p>
              <a:pPr algn="ctr"/>
              <a:r>
                <a:rPr lang="zh-CN" altLang="en-US" sz="2400" b="1">
                  <a:solidFill>
                    <a:schemeClr val="tx1"/>
                  </a:solidFill>
                </a:rPr>
                <a:t>变异</a:t>
              </a:r>
              <a:endParaRPr lang="zh-CN" altLang="en-US" sz="2400" b="1">
                <a:solidFill>
                  <a:schemeClr val="tx1"/>
                </a:solidFill>
              </a:endParaRPr>
            </a:p>
          </p:txBody>
        </p:sp>
        <p:sp>
          <p:nvSpPr>
            <p:cNvPr id="25" name="右箭头 24"/>
            <p:cNvSpPr/>
            <p:nvPr/>
          </p:nvSpPr>
          <p:spPr>
            <a:xfrm rot="10800000">
              <a:off x="15487" y="5792"/>
              <a:ext cx="1150"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37" name="组合 36"/>
          <p:cNvGrpSpPr/>
          <p:nvPr/>
        </p:nvGrpSpPr>
        <p:grpSpPr>
          <a:xfrm>
            <a:off x="4720590" y="4224020"/>
            <a:ext cx="5060315" cy="1855470"/>
            <a:chOff x="7434" y="6652"/>
            <a:chExt cx="7969" cy="2922"/>
          </a:xfrm>
        </p:grpSpPr>
        <p:sp>
          <p:nvSpPr>
            <p:cNvPr id="26" name="矩形 25"/>
            <p:cNvSpPr/>
            <p:nvPr/>
          </p:nvSpPr>
          <p:spPr>
            <a:xfrm>
              <a:off x="8953" y="7958"/>
              <a:ext cx="6451"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激活小胶质细胞释放</a:t>
              </a:r>
              <a:endParaRPr lang="zh-CN" altLang="en-US" sz="2400" b="1">
                <a:solidFill>
                  <a:schemeClr val="tx1"/>
                </a:solidFill>
              </a:endParaRPr>
            </a:p>
            <a:p>
              <a:pPr algn="ctr"/>
              <a:r>
                <a:rPr lang="zh-CN" altLang="en-US" sz="2400" b="1">
                  <a:solidFill>
                    <a:schemeClr val="tx1"/>
                  </a:solidFill>
                </a:rPr>
                <a:t>炎性物质</a:t>
              </a:r>
              <a:r>
                <a:rPr lang="zh-CN" altLang="en-US" sz="2400" b="1">
                  <a:solidFill>
                    <a:schemeClr val="tx1"/>
                  </a:solidFill>
                </a:rPr>
                <a:t>损伤神经元</a:t>
              </a:r>
              <a:endParaRPr lang="zh-CN" altLang="en-US" sz="2400" b="1">
                <a:solidFill>
                  <a:schemeClr val="tx1"/>
                </a:solidFill>
              </a:endParaRPr>
            </a:p>
          </p:txBody>
        </p:sp>
        <p:sp>
          <p:nvSpPr>
            <p:cNvPr id="27" name="右箭头 26"/>
            <p:cNvSpPr/>
            <p:nvPr/>
          </p:nvSpPr>
          <p:spPr>
            <a:xfrm rot="1980000">
              <a:off x="7434" y="7136"/>
              <a:ext cx="1368"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8" name="文本框 27"/>
            <p:cNvSpPr txBox="1"/>
            <p:nvPr/>
          </p:nvSpPr>
          <p:spPr>
            <a:xfrm>
              <a:off x="7820" y="6652"/>
              <a:ext cx="2729" cy="628"/>
            </a:xfrm>
            <a:prstGeom prst="rect">
              <a:avLst/>
            </a:prstGeom>
            <a:noFill/>
          </p:spPr>
          <p:txBody>
            <a:bodyPr wrap="square" rtlCol="0">
              <a:spAutoFit/>
            </a:bodyPr>
            <a:p>
              <a:r>
                <a:rPr lang="zh-CN" altLang="en-US" sz="2000" b="1"/>
                <a:t>引诱</a:t>
              </a:r>
              <a:endParaRPr lang="zh-CN" altLang="en-US" sz="2000" b="1"/>
            </a:p>
          </p:txBody>
        </p:sp>
      </p:grpSp>
      <p:grpSp>
        <p:nvGrpSpPr>
          <p:cNvPr id="38" name="组合 37"/>
          <p:cNvGrpSpPr/>
          <p:nvPr/>
        </p:nvGrpSpPr>
        <p:grpSpPr>
          <a:xfrm>
            <a:off x="4947920" y="278130"/>
            <a:ext cx="6239510" cy="1130300"/>
            <a:chOff x="7792" y="438"/>
            <a:chExt cx="9826" cy="1780"/>
          </a:xfrm>
        </p:grpSpPr>
        <p:sp>
          <p:nvSpPr>
            <p:cNvPr id="29" name="矩形 28"/>
            <p:cNvSpPr/>
            <p:nvPr>
              <p:custDataLst>
                <p:tags r:id="rId7"/>
              </p:custDataLst>
            </p:nvPr>
          </p:nvSpPr>
          <p:spPr>
            <a:xfrm>
              <a:off x="9410" y="438"/>
              <a:ext cx="3795"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环境毒素</a:t>
              </a:r>
              <a:r>
                <a:rPr lang="en-US" altLang="zh-CN" sz="2400" b="1">
                  <a:solidFill>
                    <a:schemeClr val="tx1"/>
                  </a:solidFill>
                </a:rPr>
                <a:t>?</a:t>
              </a:r>
              <a:endParaRPr lang="en-US" altLang="zh-CN" sz="2400" b="1">
                <a:solidFill>
                  <a:schemeClr val="tx1"/>
                </a:solidFill>
              </a:endParaRPr>
            </a:p>
          </p:txBody>
        </p:sp>
        <p:sp>
          <p:nvSpPr>
            <p:cNvPr id="30" name="矩形 29"/>
            <p:cNvSpPr/>
            <p:nvPr>
              <p:custDataLst>
                <p:tags r:id="rId8"/>
              </p:custDataLst>
            </p:nvPr>
          </p:nvSpPr>
          <p:spPr>
            <a:xfrm>
              <a:off x="13824" y="438"/>
              <a:ext cx="3795" cy="1617"/>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肠道功能紊乱</a:t>
              </a:r>
              <a:r>
                <a:rPr lang="en-US" altLang="zh-CN" sz="2400" b="1">
                  <a:solidFill>
                    <a:schemeClr val="tx1"/>
                  </a:solidFill>
                </a:rPr>
                <a:t>?</a:t>
              </a:r>
              <a:endParaRPr lang="en-US" altLang="zh-CN" sz="2400" b="1">
                <a:solidFill>
                  <a:schemeClr val="tx1"/>
                </a:solidFill>
              </a:endParaRPr>
            </a:p>
          </p:txBody>
        </p:sp>
        <p:sp>
          <p:nvSpPr>
            <p:cNvPr id="31" name="右箭头 30"/>
            <p:cNvSpPr/>
            <p:nvPr/>
          </p:nvSpPr>
          <p:spPr>
            <a:xfrm rot="19260000">
              <a:off x="7792" y="1564"/>
              <a:ext cx="1590" cy="654"/>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3" name="文本框 32"/>
            <p:cNvSpPr txBox="1"/>
            <p:nvPr/>
          </p:nvSpPr>
          <p:spPr>
            <a:xfrm>
              <a:off x="7914" y="1065"/>
              <a:ext cx="956" cy="822"/>
            </a:xfrm>
            <a:prstGeom prst="rect">
              <a:avLst/>
            </a:prstGeom>
            <a:noFill/>
          </p:spPr>
          <p:txBody>
            <a:bodyPr wrap="square" rtlCol="0">
              <a:spAutoFit/>
            </a:bodyPr>
            <a:p>
              <a:r>
                <a:rPr lang="zh-CN" altLang="en-US" sz="2800" b="1"/>
                <a:t>？</a:t>
              </a:r>
              <a:endParaRPr lang="zh-CN" altLang="en-US" sz="2800" b="1"/>
            </a:p>
          </p:txBody>
        </p:sp>
      </p:gr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病理</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总结</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13" name="文本框 12"/>
          <p:cNvSpPr txBox="1"/>
          <p:nvPr/>
        </p:nvSpPr>
        <p:spPr>
          <a:xfrm>
            <a:off x="2065020" y="1393825"/>
            <a:ext cx="7848600" cy="1014730"/>
          </a:xfrm>
          <a:prstGeom prst="rect">
            <a:avLst/>
          </a:prstGeom>
          <a:noFill/>
        </p:spPr>
        <p:txBody>
          <a:bodyPr wrap="square" rtlCol="0">
            <a:spAutoFit/>
          </a:bodyPr>
          <a:p>
            <a:pPr algn="ct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多种</a:t>
            </a: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风险因子</a:t>
            </a: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共同参与</a:t>
            </a:r>
            <a:endPar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grpSp>
        <p:nvGrpSpPr>
          <p:cNvPr id="21" name="组合 20"/>
          <p:cNvGrpSpPr/>
          <p:nvPr/>
        </p:nvGrpSpPr>
        <p:grpSpPr>
          <a:xfrm>
            <a:off x="2065020" y="2332990"/>
            <a:ext cx="7848600" cy="1706245"/>
            <a:chOff x="3252" y="3674"/>
            <a:chExt cx="12360" cy="2687"/>
          </a:xfrm>
        </p:grpSpPr>
        <p:sp>
          <p:nvSpPr>
            <p:cNvPr id="14" name="文本框 13"/>
            <p:cNvSpPr txBox="1"/>
            <p:nvPr/>
          </p:nvSpPr>
          <p:spPr>
            <a:xfrm>
              <a:off x="3252" y="4763"/>
              <a:ext cx="12360" cy="1598"/>
            </a:xfrm>
            <a:prstGeom prst="rect">
              <a:avLst/>
            </a:prstGeom>
            <a:noFill/>
          </p:spPr>
          <p:txBody>
            <a:bodyPr wrap="square" rtlCol="0">
              <a:spAutoFit/>
            </a:bodyPr>
            <a:p>
              <a:pPr algn="ct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发病机制</a:t>
              </a: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复杂</a:t>
              </a:r>
              <a:endPar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17" name="下箭头 16"/>
            <p:cNvSpPr/>
            <p:nvPr/>
          </p:nvSpPr>
          <p:spPr>
            <a:xfrm>
              <a:off x="8829" y="3674"/>
              <a:ext cx="1211" cy="1412"/>
            </a:xfrm>
            <a:prstGeom prst="downArrow">
              <a:avLst/>
            </a:prstGeom>
            <a:solidFill>
              <a:schemeClr val="accent1">
                <a:lumMod val="40000"/>
                <a:lumOff val="60000"/>
              </a:schemeClr>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32" name="组合 31"/>
          <p:cNvGrpSpPr/>
          <p:nvPr/>
        </p:nvGrpSpPr>
        <p:grpSpPr>
          <a:xfrm>
            <a:off x="2065020" y="4125595"/>
            <a:ext cx="7848600" cy="1798320"/>
            <a:chOff x="3252" y="6497"/>
            <a:chExt cx="12360" cy="2832"/>
          </a:xfrm>
        </p:grpSpPr>
        <p:sp>
          <p:nvSpPr>
            <p:cNvPr id="15" name="文本框 14"/>
            <p:cNvSpPr txBox="1"/>
            <p:nvPr/>
          </p:nvSpPr>
          <p:spPr>
            <a:xfrm>
              <a:off x="3252" y="7731"/>
              <a:ext cx="12360" cy="1598"/>
            </a:xfrm>
            <a:prstGeom prst="rect">
              <a:avLst/>
            </a:prstGeom>
            <a:noFill/>
          </p:spPr>
          <p:txBody>
            <a:bodyPr wrap="square" rtlCol="0">
              <a:spAutoFit/>
            </a:bodyPr>
            <a:p>
              <a:pPr algn="ct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目前无法完全</a:t>
              </a:r>
              <a:r>
                <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治愈</a:t>
              </a:r>
              <a:endParaRPr lang="zh-CN" altLang="en-US" sz="6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20" name="下箭头 19"/>
            <p:cNvSpPr/>
            <p:nvPr/>
          </p:nvSpPr>
          <p:spPr>
            <a:xfrm>
              <a:off x="8829" y="6497"/>
              <a:ext cx="1211" cy="1412"/>
            </a:xfrm>
            <a:prstGeom prst="downArrow">
              <a:avLst/>
            </a:prstGeom>
            <a:solidFill>
              <a:schemeClr val="accent1">
                <a:lumMod val="40000"/>
                <a:lumOff val="60000"/>
              </a:schemeClr>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缓解与</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治疗</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8" name="矩形 7"/>
          <p:cNvSpPr/>
          <p:nvPr>
            <p:custDataLst>
              <p:tags r:id="rId3"/>
            </p:custDataLst>
          </p:nvPr>
        </p:nvSpPr>
        <p:spPr>
          <a:xfrm>
            <a:off x="163830" y="3355340"/>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多巴胺能神经元的</a:t>
            </a:r>
            <a:r>
              <a:rPr lang="zh-CN" altLang="en-US" sz="2400" b="1">
                <a:solidFill>
                  <a:schemeClr val="tx1"/>
                </a:solidFill>
              </a:rPr>
              <a:t>丢失</a:t>
            </a:r>
            <a:endParaRPr lang="zh-CN" altLang="en-US" sz="2400" b="1">
              <a:solidFill>
                <a:schemeClr val="tx1"/>
              </a:solidFill>
            </a:endParaRPr>
          </a:p>
        </p:txBody>
      </p:sp>
      <p:sp>
        <p:nvSpPr>
          <p:cNvPr id="6" name="矩形 5"/>
          <p:cNvSpPr/>
          <p:nvPr>
            <p:custDataLst>
              <p:tags r:id="rId4"/>
            </p:custDataLst>
          </p:nvPr>
        </p:nvSpPr>
        <p:spPr>
          <a:xfrm>
            <a:off x="4796155" y="1508125"/>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补充外源性</a:t>
            </a:r>
            <a:r>
              <a:rPr lang="zh-CN" altLang="en-US" sz="2400" b="1">
                <a:solidFill>
                  <a:schemeClr val="tx1"/>
                </a:solidFill>
              </a:rPr>
              <a:t>多巴胺</a:t>
            </a:r>
            <a:endParaRPr lang="zh-CN" altLang="en-US" sz="2400" b="1">
              <a:solidFill>
                <a:schemeClr val="tx1"/>
              </a:solidFill>
            </a:endParaRPr>
          </a:p>
        </p:txBody>
      </p:sp>
      <p:sp>
        <p:nvSpPr>
          <p:cNvPr id="7" name="矩形 6"/>
          <p:cNvSpPr/>
          <p:nvPr>
            <p:custDataLst>
              <p:tags r:id="rId5"/>
            </p:custDataLst>
          </p:nvPr>
        </p:nvSpPr>
        <p:spPr>
          <a:xfrm>
            <a:off x="4801870" y="3355340"/>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促进内源性多巴胺</a:t>
            </a:r>
            <a:r>
              <a:rPr lang="zh-CN" altLang="en-US" sz="2400" b="1">
                <a:solidFill>
                  <a:schemeClr val="tx1"/>
                </a:solidFill>
              </a:rPr>
              <a:t>释放</a:t>
            </a:r>
            <a:endParaRPr lang="zh-CN" altLang="en-US" sz="2400" b="1">
              <a:solidFill>
                <a:schemeClr val="tx1"/>
              </a:solidFill>
            </a:endParaRPr>
          </a:p>
          <a:p>
            <a:pPr algn="ctr"/>
            <a:r>
              <a:rPr lang="en-US" altLang="zh-CN" sz="2400" b="1">
                <a:solidFill>
                  <a:schemeClr val="tx1"/>
                </a:solidFill>
              </a:rPr>
              <a:t>(</a:t>
            </a:r>
            <a:r>
              <a:rPr lang="zh-CN" altLang="en-US" sz="2400" b="1">
                <a:solidFill>
                  <a:schemeClr val="tx1"/>
                </a:solidFill>
              </a:rPr>
              <a:t>抑制多巴胺的降解</a:t>
            </a:r>
            <a:r>
              <a:rPr lang="en-US" altLang="zh-CN" sz="2400" b="1">
                <a:solidFill>
                  <a:schemeClr val="tx1"/>
                </a:solidFill>
              </a:rPr>
              <a:t>)</a:t>
            </a:r>
            <a:endParaRPr lang="en-US" altLang="zh-CN" sz="2400" b="1">
              <a:solidFill>
                <a:schemeClr val="tx1"/>
              </a:solidFill>
            </a:endParaRPr>
          </a:p>
        </p:txBody>
      </p:sp>
      <p:sp>
        <p:nvSpPr>
          <p:cNvPr id="9" name="矩形 8"/>
          <p:cNvSpPr/>
          <p:nvPr>
            <p:custDataLst>
              <p:tags r:id="rId6"/>
            </p:custDataLst>
          </p:nvPr>
        </p:nvSpPr>
        <p:spPr>
          <a:xfrm>
            <a:off x="4801870" y="5150485"/>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增加多巴胺受体</a:t>
            </a:r>
            <a:r>
              <a:rPr lang="zh-CN" altLang="en-US" sz="2400" b="1">
                <a:solidFill>
                  <a:schemeClr val="tx1"/>
                </a:solidFill>
              </a:rPr>
              <a:t>敏感性</a:t>
            </a:r>
            <a:endParaRPr lang="zh-CN" altLang="en-US" sz="2400" b="1">
              <a:solidFill>
                <a:schemeClr val="tx1"/>
              </a:solidFill>
            </a:endParaRPr>
          </a:p>
        </p:txBody>
      </p:sp>
      <p:sp>
        <p:nvSpPr>
          <p:cNvPr id="27" name="右箭头 26"/>
          <p:cNvSpPr/>
          <p:nvPr/>
        </p:nvSpPr>
        <p:spPr>
          <a:xfrm>
            <a:off x="3759200" y="3661410"/>
            <a:ext cx="86868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0" name="右箭头 9"/>
          <p:cNvSpPr/>
          <p:nvPr/>
        </p:nvSpPr>
        <p:spPr>
          <a:xfrm rot="1980000">
            <a:off x="3708400" y="4613910"/>
            <a:ext cx="97409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1" name="右箭头 10"/>
          <p:cNvSpPr/>
          <p:nvPr/>
        </p:nvSpPr>
        <p:spPr>
          <a:xfrm rot="19440000">
            <a:off x="3703320" y="2693670"/>
            <a:ext cx="97409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2" name="右箭头 11"/>
          <p:cNvSpPr/>
          <p:nvPr/>
        </p:nvSpPr>
        <p:spPr>
          <a:xfrm>
            <a:off x="8367395" y="1813560"/>
            <a:ext cx="86868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3" name="右箭头 12"/>
          <p:cNvSpPr/>
          <p:nvPr/>
        </p:nvSpPr>
        <p:spPr>
          <a:xfrm>
            <a:off x="8396605" y="3661410"/>
            <a:ext cx="86868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4" name="右箭头 13"/>
          <p:cNvSpPr/>
          <p:nvPr/>
        </p:nvSpPr>
        <p:spPr>
          <a:xfrm>
            <a:off x="8396605" y="5455920"/>
            <a:ext cx="86868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矩形 14"/>
          <p:cNvSpPr/>
          <p:nvPr>
            <p:custDataLst>
              <p:tags r:id="rId7"/>
            </p:custDataLst>
          </p:nvPr>
        </p:nvSpPr>
        <p:spPr>
          <a:xfrm>
            <a:off x="9386570" y="1508125"/>
            <a:ext cx="232537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左旋多巴</a:t>
            </a:r>
            <a:endParaRPr lang="zh-CN" altLang="en-US" sz="2400" b="1">
              <a:solidFill>
                <a:schemeClr val="tx1"/>
              </a:solidFill>
            </a:endParaRPr>
          </a:p>
        </p:txBody>
      </p:sp>
      <p:sp>
        <p:nvSpPr>
          <p:cNvPr id="17" name="矩形 16"/>
          <p:cNvSpPr/>
          <p:nvPr>
            <p:custDataLst>
              <p:tags r:id="rId8"/>
            </p:custDataLst>
          </p:nvPr>
        </p:nvSpPr>
        <p:spPr>
          <a:xfrm>
            <a:off x="9386570" y="3355340"/>
            <a:ext cx="232537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司来</a:t>
            </a:r>
            <a:r>
              <a:rPr lang="zh-CN" altLang="en-US" sz="2400" b="1">
                <a:solidFill>
                  <a:schemeClr val="tx1"/>
                </a:solidFill>
              </a:rPr>
              <a:t>吉兰</a:t>
            </a:r>
            <a:endParaRPr lang="zh-CN" altLang="en-US" sz="2400" b="1">
              <a:solidFill>
                <a:schemeClr val="tx1"/>
              </a:solidFill>
            </a:endParaRPr>
          </a:p>
          <a:p>
            <a:pPr algn="ctr"/>
            <a:r>
              <a:rPr lang="zh-CN" altLang="en-US" sz="2400" b="1">
                <a:solidFill>
                  <a:schemeClr val="tx1"/>
                </a:solidFill>
              </a:rPr>
              <a:t>雷沙</a:t>
            </a:r>
            <a:r>
              <a:rPr lang="zh-CN" altLang="en-US" sz="2400" b="1">
                <a:solidFill>
                  <a:schemeClr val="tx1"/>
                </a:solidFill>
              </a:rPr>
              <a:t>吉兰</a:t>
            </a:r>
            <a:endParaRPr lang="zh-CN" altLang="en-US" sz="2400" b="1">
              <a:solidFill>
                <a:schemeClr val="tx1"/>
              </a:solidFill>
            </a:endParaRPr>
          </a:p>
        </p:txBody>
      </p:sp>
      <p:sp>
        <p:nvSpPr>
          <p:cNvPr id="18" name="矩形 17"/>
          <p:cNvSpPr/>
          <p:nvPr>
            <p:custDataLst>
              <p:tags r:id="rId9"/>
            </p:custDataLst>
          </p:nvPr>
        </p:nvSpPr>
        <p:spPr>
          <a:xfrm>
            <a:off x="9386570" y="5150485"/>
            <a:ext cx="23247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普拉克索</a:t>
            </a:r>
            <a:endParaRPr lang="zh-CN" altLang="en-US" sz="2400" b="1">
              <a:solidFill>
                <a:schemeClr val="tx1"/>
              </a:solidFill>
            </a:endParaRPr>
          </a:p>
          <a:p>
            <a:pPr algn="ctr"/>
            <a:r>
              <a:rPr lang="zh-CN" altLang="en-US" sz="2400" b="1">
                <a:solidFill>
                  <a:schemeClr val="tx1"/>
                </a:solidFill>
              </a:rPr>
              <a:t>罗匹尼罗</a:t>
            </a:r>
            <a:endParaRPr lang="zh-CN" altLang="en-US" sz="2400" b="1">
              <a:solidFill>
                <a:schemeClr val="tx1"/>
              </a:solidFill>
            </a:endParaRPr>
          </a:p>
        </p:txBody>
      </p:sp>
      <p:sp>
        <p:nvSpPr>
          <p:cNvPr id="19" name="矩形 18"/>
          <p:cNvSpPr/>
          <p:nvPr>
            <p:custDataLst>
              <p:tags r:id="rId10"/>
            </p:custDataLst>
          </p:nvPr>
        </p:nvSpPr>
        <p:spPr>
          <a:xfrm>
            <a:off x="168275" y="5150485"/>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中和帕金森</a:t>
            </a:r>
            <a:r>
              <a:rPr lang="zh-CN" altLang="en-US" sz="2400" b="1">
                <a:solidFill>
                  <a:schemeClr val="tx1"/>
                </a:solidFill>
              </a:rPr>
              <a:t>导致</a:t>
            </a:r>
            <a:endParaRPr lang="zh-CN" altLang="en-US" sz="2400" b="1">
              <a:solidFill>
                <a:schemeClr val="tx1"/>
              </a:solidFill>
            </a:endParaRPr>
          </a:p>
          <a:p>
            <a:pPr algn="ctr"/>
            <a:r>
              <a:rPr lang="zh-CN" altLang="en-US" sz="2400" b="1">
                <a:solidFill>
                  <a:schemeClr val="tx1"/>
                </a:solidFill>
              </a:rPr>
              <a:t>的异常信号</a:t>
            </a:r>
            <a:endParaRPr lang="zh-CN" altLang="en-US" sz="2400" b="1">
              <a:solidFill>
                <a:schemeClr val="tx1"/>
              </a:solidFill>
            </a:endParaRPr>
          </a:p>
        </p:txBody>
      </p:sp>
      <p:sp>
        <p:nvSpPr>
          <p:cNvPr id="21" name="矩形 20"/>
          <p:cNvSpPr/>
          <p:nvPr>
            <p:custDataLst>
              <p:tags r:id="rId11"/>
            </p:custDataLst>
          </p:nvPr>
        </p:nvSpPr>
        <p:spPr>
          <a:xfrm>
            <a:off x="164465" y="3355340"/>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深部脑</a:t>
            </a:r>
            <a:r>
              <a:rPr lang="zh-CN" altLang="en-US" sz="2400" b="1">
                <a:solidFill>
                  <a:schemeClr val="tx1"/>
                </a:solidFill>
              </a:rPr>
              <a:t>刺激</a:t>
            </a:r>
            <a:endParaRPr lang="zh-CN" altLang="en-US" sz="2400" b="1">
              <a:solidFill>
                <a:schemeClr val="tx1"/>
              </a:solidFill>
            </a:endParaRPr>
          </a:p>
        </p:txBody>
      </p:sp>
      <p:sp>
        <p:nvSpPr>
          <p:cNvPr id="22" name="右箭头 21"/>
          <p:cNvSpPr/>
          <p:nvPr/>
        </p:nvSpPr>
        <p:spPr>
          <a:xfrm rot="5400000">
            <a:off x="433705" y="4558665"/>
            <a:ext cx="654685"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3" name="右箭头 22"/>
          <p:cNvSpPr/>
          <p:nvPr/>
        </p:nvSpPr>
        <p:spPr>
          <a:xfrm rot="5400000">
            <a:off x="433705" y="2734310"/>
            <a:ext cx="654685"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4" name="文本框 23"/>
          <p:cNvSpPr txBox="1"/>
          <p:nvPr/>
        </p:nvSpPr>
        <p:spPr>
          <a:xfrm>
            <a:off x="838200" y="4382135"/>
            <a:ext cx="2152650" cy="829945"/>
          </a:xfrm>
          <a:prstGeom prst="rect">
            <a:avLst/>
          </a:prstGeom>
          <a:noFill/>
        </p:spPr>
        <p:txBody>
          <a:bodyPr wrap="square" rtlCol="0">
            <a:spAutoFit/>
          </a:bodyPr>
          <a:p>
            <a:pPr algn="ctr"/>
            <a:r>
              <a:rPr lang="zh-CN" altLang="en-US" sz="2400" b="1"/>
              <a:t>直接将</a:t>
            </a:r>
            <a:r>
              <a:rPr lang="zh-CN" altLang="en-US" sz="2400" b="1"/>
              <a:t>电信号</a:t>
            </a:r>
            <a:endParaRPr lang="zh-CN" altLang="en-US" sz="2400" b="1"/>
          </a:p>
          <a:p>
            <a:pPr algn="ctr"/>
            <a:r>
              <a:rPr lang="zh-CN" altLang="en-US" sz="2400" b="1"/>
              <a:t>传递到基底节</a:t>
            </a:r>
            <a:endParaRPr lang="zh-CN" altLang="en-US" sz="2400" b="1"/>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2"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grpId="2" nodeType="clickEffect">
                                  <p:stCondLst>
                                    <p:cond delay="0"/>
                                  </p:stCondLst>
                                  <p:childTnLst>
                                    <p:animMotion origin="layout" path="M 0 0 L 0.00119792 -0.270093 " pathEditMode="relative" ptsTypes="">
                                      <p:cBhvr>
                                        <p:cTn id="44" dur="1000" fill="hold"/>
                                        <p:tgtEl>
                                          <p:spTgt spid="8"/>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 presetClass="exit"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6" grpId="0" animBg="1"/>
      <p:bldP spid="12" grpId="0" animBg="1"/>
      <p:bldP spid="15" grpId="0" animBg="1"/>
      <p:bldP spid="6" grpId="1" animBg="1"/>
      <p:bldP spid="12" grpId="1" animBg="1"/>
      <p:bldP spid="15" grpId="1" animBg="1"/>
      <p:bldP spid="7" grpId="0" animBg="1"/>
      <p:bldP spid="13" grpId="0" animBg="1"/>
      <p:bldP spid="17" grpId="0" animBg="1"/>
      <p:bldP spid="7" grpId="1" animBg="1"/>
      <p:bldP spid="13" grpId="1" animBg="1"/>
      <p:bldP spid="17" grpId="1" animBg="1"/>
      <p:bldP spid="9" grpId="0" animBg="1"/>
      <p:bldP spid="14" grpId="0" animBg="1"/>
      <p:bldP spid="18" grpId="0" animBg="1"/>
      <p:bldP spid="9" grpId="1" animBg="1"/>
      <p:bldP spid="14" grpId="1" animBg="1"/>
      <p:bldP spid="18" grpId="1" animBg="1"/>
      <p:bldP spid="8" grpId="2" animBg="1"/>
      <p:bldP spid="21" grpId="0" animBg="1"/>
      <p:bldP spid="23" grpId="0" animBg="1"/>
      <p:bldP spid="22" grpId="0" animBg="1"/>
      <p:bldP spid="24" grpId="0"/>
      <p:bldP spid="19" grpId="0" animBg="1"/>
      <p:bldP spid="21" grpId="1" animBg="1"/>
      <p:bldP spid="23" grpId="1" animBg="1"/>
      <p:bldP spid="22" grpId="1" animBg="1"/>
      <p:bldP spid="24" grpId="1"/>
      <p:bldP spid="19" grpId="1" animBg="1"/>
      <p:bldP spid="11" grpId="0" animBg="1"/>
      <p:bldP spid="27" grpId="0" animBg="1"/>
      <p:bldP spid="10" grpId="0" animBg="1"/>
      <p:bldP spid="11" grpId="1" animBg="1"/>
      <p:bldP spid="27" grpId="1" animBg="1"/>
      <p:bldP spid="10" grpId="1" animBg="1"/>
      <p:bldP spid="11" grpId="2" animBg="1"/>
      <p:bldP spid="27" grpId="2" animBg="1"/>
      <p:bldP spid="10" grpId="2"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8426450"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缓解与</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治疗</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8" name="矩形 7"/>
          <p:cNvSpPr/>
          <p:nvPr>
            <p:custDataLst>
              <p:tags r:id="rId3"/>
            </p:custDataLst>
          </p:nvPr>
        </p:nvSpPr>
        <p:spPr>
          <a:xfrm>
            <a:off x="163830" y="3355340"/>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路易小体</a:t>
            </a:r>
            <a:endParaRPr lang="zh-CN" altLang="en-US" sz="2400" b="1">
              <a:solidFill>
                <a:schemeClr val="tx1"/>
              </a:solidFill>
            </a:endParaRPr>
          </a:p>
        </p:txBody>
      </p:sp>
      <p:sp>
        <p:nvSpPr>
          <p:cNvPr id="6" name="矩形 5"/>
          <p:cNvSpPr/>
          <p:nvPr>
            <p:custDataLst>
              <p:tags r:id="rId4"/>
            </p:custDataLst>
          </p:nvPr>
        </p:nvSpPr>
        <p:spPr>
          <a:xfrm>
            <a:off x="4796155" y="1508125"/>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增强异常蛋白</a:t>
            </a:r>
            <a:r>
              <a:rPr lang="zh-CN" altLang="en-US" sz="2400" b="1">
                <a:solidFill>
                  <a:schemeClr val="tx1"/>
                </a:solidFill>
              </a:rPr>
              <a:t>的清除</a:t>
            </a:r>
            <a:endParaRPr lang="zh-CN" altLang="en-US" sz="2400" b="1">
              <a:solidFill>
                <a:schemeClr val="tx1"/>
              </a:solidFill>
            </a:endParaRPr>
          </a:p>
          <a:p>
            <a:pPr algn="ctr"/>
            <a:r>
              <a:rPr lang="zh-CN" altLang="en-US" sz="2400" b="1">
                <a:solidFill>
                  <a:schemeClr val="tx1"/>
                </a:solidFill>
              </a:rPr>
              <a:t>并阻断其</a:t>
            </a:r>
            <a:r>
              <a:rPr lang="zh-CN" altLang="en-US" sz="2400" b="1">
                <a:solidFill>
                  <a:schemeClr val="tx1"/>
                </a:solidFill>
              </a:rPr>
              <a:t>传递</a:t>
            </a:r>
            <a:endParaRPr lang="zh-CN" altLang="en-US" sz="2400" b="1">
              <a:solidFill>
                <a:schemeClr val="tx1"/>
              </a:solidFill>
            </a:endParaRPr>
          </a:p>
        </p:txBody>
      </p:sp>
      <p:sp>
        <p:nvSpPr>
          <p:cNvPr id="7" name="矩形 6"/>
          <p:cNvSpPr/>
          <p:nvPr>
            <p:custDataLst>
              <p:tags r:id="rId5"/>
            </p:custDataLst>
          </p:nvPr>
        </p:nvSpPr>
        <p:spPr>
          <a:xfrm>
            <a:off x="4801870" y="3355340"/>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改善线粒体的</a:t>
            </a:r>
            <a:r>
              <a:rPr lang="zh-CN" altLang="en-US" sz="2400" b="1">
                <a:solidFill>
                  <a:schemeClr val="tx1"/>
                </a:solidFill>
              </a:rPr>
              <a:t>功能</a:t>
            </a:r>
            <a:endParaRPr lang="zh-CN" altLang="en-US" sz="2400" b="1">
              <a:solidFill>
                <a:schemeClr val="tx1"/>
              </a:solidFill>
            </a:endParaRPr>
          </a:p>
        </p:txBody>
      </p:sp>
      <p:sp>
        <p:nvSpPr>
          <p:cNvPr id="9" name="矩形 8"/>
          <p:cNvSpPr/>
          <p:nvPr>
            <p:custDataLst>
              <p:tags r:id="rId6"/>
            </p:custDataLst>
          </p:nvPr>
        </p:nvSpPr>
        <p:spPr>
          <a:xfrm>
            <a:off x="4801870" y="5150485"/>
            <a:ext cx="342074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针对神经炎症</a:t>
            </a:r>
            <a:endParaRPr lang="zh-CN" altLang="en-US" sz="2400" b="1">
              <a:solidFill>
                <a:schemeClr val="tx1"/>
              </a:solidFill>
            </a:endParaRPr>
          </a:p>
        </p:txBody>
      </p:sp>
      <p:sp>
        <p:nvSpPr>
          <p:cNvPr id="27" name="右箭头 26"/>
          <p:cNvSpPr/>
          <p:nvPr/>
        </p:nvSpPr>
        <p:spPr>
          <a:xfrm>
            <a:off x="3759200" y="3661410"/>
            <a:ext cx="86868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0" name="右箭头 9"/>
          <p:cNvSpPr/>
          <p:nvPr/>
        </p:nvSpPr>
        <p:spPr>
          <a:xfrm rot="1980000">
            <a:off x="3708400" y="4613910"/>
            <a:ext cx="97409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1" name="右箭头 10"/>
          <p:cNvSpPr/>
          <p:nvPr/>
        </p:nvSpPr>
        <p:spPr>
          <a:xfrm rot="19440000">
            <a:off x="3703320" y="2693670"/>
            <a:ext cx="974090" cy="415290"/>
          </a:xfrm>
          <a:prstGeom prst="rightArrow">
            <a:avLst/>
          </a:prstGeom>
          <a:solidFill>
            <a:schemeClr val="accent2"/>
          </a:solidFill>
          <a:ln>
            <a:solidFill>
              <a:schemeClr val="tx1"/>
            </a:solidFill>
          </a:ln>
          <a:scene3d>
            <a:camera prst="orthographicFront"/>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矩形 14"/>
          <p:cNvSpPr/>
          <p:nvPr>
            <p:custDataLst>
              <p:tags r:id="rId7"/>
            </p:custDataLst>
          </p:nvPr>
        </p:nvSpPr>
        <p:spPr>
          <a:xfrm>
            <a:off x="9386570" y="1508125"/>
            <a:ext cx="232537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咖啡因</a:t>
            </a:r>
            <a:endParaRPr lang="zh-CN" altLang="en-US" sz="2400" b="1">
              <a:solidFill>
                <a:schemeClr val="tx1"/>
              </a:solidFill>
            </a:endParaRPr>
          </a:p>
        </p:txBody>
      </p:sp>
      <p:sp>
        <p:nvSpPr>
          <p:cNvPr id="17" name="矩形 16"/>
          <p:cNvSpPr/>
          <p:nvPr>
            <p:custDataLst>
              <p:tags r:id="rId8"/>
            </p:custDataLst>
          </p:nvPr>
        </p:nvSpPr>
        <p:spPr>
          <a:xfrm>
            <a:off x="9386570" y="3355340"/>
            <a:ext cx="232537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运动</a:t>
            </a:r>
            <a:endParaRPr lang="zh-CN" altLang="en-US" sz="2400" b="1">
              <a:solidFill>
                <a:schemeClr val="tx1"/>
              </a:solidFill>
            </a:endParaRPr>
          </a:p>
        </p:txBody>
      </p:sp>
      <p:sp>
        <p:nvSpPr>
          <p:cNvPr id="18" name="矩形 17"/>
          <p:cNvSpPr/>
          <p:nvPr>
            <p:custDataLst>
              <p:tags r:id="rId9"/>
            </p:custDataLst>
          </p:nvPr>
        </p:nvSpPr>
        <p:spPr>
          <a:xfrm>
            <a:off x="9386570" y="5150485"/>
            <a:ext cx="23247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维生素</a:t>
            </a:r>
            <a:r>
              <a:rPr lang="en-US" altLang="zh-CN" sz="2400" b="1">
                <a:solidFill>
                  <a:schemeClr val="tx1"/>
                </a:solidFill>
              </a:rPr>
              <a:t>C</a:t>
            </a:r>
            <a:r>
              <a:rPr lang="zh-CN" altLang="en-US" sz="2400" b="1">
                <a:solidFill>
                  <a:schemeClr val="tx1"/>
                </a:solidFill>
              </a:rPr>
              <a:t>、</a:t>
            </a:r>
            <a:r>
              <a:rPr lang="en-US" altLang="zh-CN" sz="2400" b="1">
                <a:solidFill>
                  <a:schemeClr val="tx1"/>
                </a:solidFill>
              </a:rPr>
              <a:t>D</a:t>
            </a:r>
            <a:endParaRPr lang="en-US" altLang="zh-CN" sz="2400" b="1">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6" grpId="0" animBg="1"/>
      <p:bldP spid="7" grpId="0" animBg="1"/>
      <p:bldP spid="27" grpId="0" animBg="1"/>
      <p:bldP spid="11" grpId="0" animBg="1"/>
      <p:bldP spid="10" grpId="0" animBg="1"/>
      <p:bldP spid="9" grpId="0" animBg="1"/>
      <p:bldP spid="6" grpId="1" animBg="1"/>
      <p:bldP spid="7" grpId="1" animBg="1"/>
      <p:bldP spid="27" grpId="1" animBg="1"/>
      <p:bldP spid="11" grpId="1" animBg="1"/>
      <p:bldP spid="10" grpId="1" animBg="1"/>
      <p:bldP spid="9" grpId="1" animBg="1"/>
      <p:bldP spid="15" grpId="0" animBg="1"/>
      <p:bldP spid="17" grpId="0" animBg="1"/>
      <p:bldP spid="18" grpId="0" animBg="1"/>
      <p:bldP spid="15" grpId="1" animBg="1"/>
      <p:bldP spid="17" grpId="1" animBg="1"/>
      <p:bldP spid="1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nvPicPr>
        <p:blipFill>
          <a:blip r:embed="rId1"/>
          <a:stretch>
            <a:fillRect/>
          </a:stretch>
        </p:blipFill>
        <p:spPr>
          <a:xfrm>
            <a:off x="-213360" y="-189230"/>
            <a:ext cx="12405360" cy="7047230"/>
          </a:xfrm>
          <a:prstGeom prst="rect">
            <a:avLst/>
          </a:prstGeom>
        </p:spPr>
      </p:pic>
      <p:sp>
        <p:nvSpPr>
          <p:cNvPr id="13" name="矩形 12"/>
          <p:cNvSpPr/>
          <p:nvPr/>
        </p:nvSpPr>
        <p:spPr>
          <a:xfrm>
            <a:off x="3363595" y="1941830"/>
            <a:ext cx="525208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新纹状体</a:t>
            </a:r>
            <a:r>
              <a:rPr lang="en-US" altLang="zh-CN" sz="2400" b="1">
                <a:solidFill>
                  <a:schemeClr val="tx1"/>
                </a:solidFill>
              </a:rPr>
              <a:t>(</a:t>
            </a:r>
            <a:r>
              <a:rPr lang="zh-CN" altLang="en-US" sz="2400" b="1">
                <a:solidFill>
                  <a:schemeClr val="tx1"/>
                </a:solidFill>
              </a:rPr>
              <a:t>尾状核、壳</a:t>
            </a:r>
            <a:r>
              <a:rPr lang="en-US" altLang="zh-CN" sz="2400" b="1">
                <a:solidFill>
                  <a:schemeClr val="tx1"/>
                </a:solidFill>
              </a:rPr>
              <a:t>)</a:t>
            </a:r>
            <a:endParaRPr lang="en-US" altLang="zh-CN" sz="2400" b="1">
              <a:solidFill>
                <a:schemeClr val="tx1"/>
              </a:solidFill>
            </a:endParaRPr>
          </a:p>
        </p:txBody>
      </p:sp>
      <p:sp>
        <p:nvSpPr>
          <p:cNvPr id="14" name="矩形 13"/>
          <p:cNvSpPr/>
          <p:nvPr/>
        </p:nvSpPr>
        <p:spPr>
          <a:xfrm>
            <a:off x="955103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网状部</a:t>
            </a:r>
            <a:endParaRPr lang="zh-CN" altLang="en-US" sz="2400" b="1">
              <a:solidFill>
                <a:schemeClr val="tx1"/>
              </a:solidFill>
            </a:endParaRPr>
          </a:p>
        </p:txBody>
      </p:sp>
      <p:sp>
        <p:nvSpPr>
          <p:cNvPr id="16" name="矩形 15"/>
          <p:cNvSpPr/>
          <p:nvPr/>
        </p:nvSpPr>
        <p:spPr>
          <a:xfrm>
            <a:off x="1915795" y="3488055"/>
            <a:ext cx="174053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a:t>
            </a:r>
            <a:r>
              <a:rPr lang="zh-CN" altLang="en-US" sz="2400" b="1">
                <a:solidFill>
                  <a:schemeClr val="tx1"/>
                </a:solidFill>
              </a:rPr>
              <a:t>外侧</a:t>
            </a:r>
            <a:endParaRPr lang="zh-CN" altLang="en-US" sz="2400" b="1">
              <a:solidFill>
                <a:schemeClr val="tx1"/>
              </a:solidFill>
            </a:endParaRPr>
          </a:p>
        </p:txBody>
      </p:sp>
      <p:sp>
        <p:nvSpPr>
          <p:cNvPr id="21" name="矩形 20"/>
          <p:cNvSpPr/>
          <p:nvPr/>
        </p:nvSpPr>
        <p:spPr>
          <a:xfrm>
            <a:off x="3119755"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丘脑下</a:t>
            </a:r>
            <a:r>
              <a:rPr lang="zh-CN" altLang="en-US" sz="2400" b="1">
                <a:solidFill>
                  <a:schemeClr val="tx1"/>
                </a:solidFill>
              </a:rPr>
              <a:t>核</a:t>
            </a:r>
            <a:endParaRPr lang="zh-CN" altLang="en-US" sz="2400" b="1">
              <a:solidFill>
                <a:schemeClr val="tx1"/>
              </a:solidFill>
            </a:endParaRPr>
          </a:p>
        </p:txBody>
      </p:sp>
      <p:sp>
        <p:nvSpPr>
          <p:cNvPr id="6" name="矩形 5"/>
          <p:cNvSpPr/>
          <p:nvPr/>
        </p:nvSpPr>
        <p:spPr>
          <a:xfrm>
            <a:off x="7803515" y="3488055"/>
            <a:ext cx="174752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苍白球内</a:t>
            </a:r>
            <a:r>
              <a:rPr lang="zh-CN" altLang="en-US" sz="2400" b="1">
                <a:solidFill>
                  <a:schemeClr val="tx1"/>
                </a:solidFill>
              </a:rPr>
              <a:t>侧</a:t>
            </a:r>
            <a:endParaRPr lang="zh-CN" altLang="en-US" sz="2400" b="1">
              <a:solidFill>
                <a:schemeClr val="tx1"/>
              </a:solidFill>
            </a:endParaRPr>
          </a:p>
        </p:txBody>
      </p:sp>
      <p:sp>
        <p:nvSpPr>
          <p:cNvPr id="7" name="矩形 6"/>
          <p:cNvSpPr/>
          <p:nvPr/>
        </p:nvSpPr>
        <p:spPr>
          <a:xfrm>
            <a:off x="6795770" y="5150485"/>
            <a:ext cx="165925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丘脑</a:t>
            </a:r>
            <a:endParaRPr lang="zh-CN" altLang="en-US" sz="2400" b="1">
              <a:solidFill>
                <a:schemeClr val="tx1"/>
              </a:solidFill>
            </a:endParaRPr>
          </a:p>
        </p:txBody>
      </p:sp>
      <p:sp>
        <p:nvSpPr>
          <p:cNvPr id="8" name="矩形 7"/>
          <p:cNvSpPr/>
          <p:nvPr/>
        </p:nvSpPr>
        <p:spPr>
          <a:xfrm>
            <a:off x="3364230" y="617220"/>
            <a:ext cx="525081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大脑皮层发起随意</a:t>
            </a:r>
            <a:r>
              <a:rPr lang="zh-CN" altLang="en-US" sz="2400" b="1">
                <a:solidFill>
                  <a:schemeClr val="tx1"/>
                </a:solidFill>
              </a:rPr>
              <a:t>运动</a:t>
            </a:r>
            <a:endParaRPr lang="zh-CN" altLang="en-US" sz="2400" b="1">
              <a:solidFill>
                <a:schemeClr val="tx1"/>
              </a:solidFill>
            </a:endParaRPr>
          </a:p>
        </p:txBody>
      </p:sp>
      <p:sp>
        <p:nvSpPr>
          <p:cNvPr id="10" name="矩形 9"/>
          <p:cNvSpPr/>
          <p:nvPr/>
        </p:nvSpPr>
        <p:spPr>
          <a:xfrm>
            <a:off x="9265920" y="5150485"/>
            <a:ext cx="2087880"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皮层</a:t>
            </a:r>
            <a:r>
              <a:rPr lang="en-US" altLang="zh-CN" sz="2400" b="1">
                <a:solidFill>
                  <a:schemeClr val="tx1"/>
                </a:solidFill>
              </a:rPr>
              <a:t>→</a:t>
            </a:r>
            <a:r>
              <a:rPr lang="zh-CN" altLang="en-US" sz="2400" b="1">
                <a:solidFill>
                  <a:schemeClr val="tx1"/>
                </a:solidFill>
              </a:rPr>
              <a:t>骨骼肌</a:t>
            </a:r>
            <a:endParaRPr lang="zh-CN" altLang="en-US" sz="2400" b="1">
              <a:solidFill>
                <a:schemeClr val="tx1"/>
              </a:solidFill>
            </a:endParaRPr>
          </a:p>
        </p:txBody>
      </p:sp>
      <p:sp>
        <p:nvSpPr>
          <p:cNvPr id="9" name="下箭头 8"/>
          <p:cNvSpPr/>
          <p:nvPr/>
        </p:nvSpPr>
        <p:spPr>
          <a:xfrm>
            <a:off x="5886450" y="1644650"/>
            <a:ext cx="207010" cy="29654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右箭头 10"/>
          <p:cNvSpPr/>
          <p:nvPr/>
        </p:nvSpPr>
        <p:spPr>
          <a:xfrm rot="5400000">
            <a:off x="8765540"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9" name="圆角右箭头 18"/>
          <p:cNvSpPr/>
          <p:nvPr/>
        </p:nvSpPr>
        <p:spPr>
          <a:xfrm rot="5400000">
            <a:off x="2008505" y="2134235"/>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6" name="圆角右箭头 25"/>
          <p:cNvSpPr/>
          <p:nvPr/>
        </p:nvSpPr>
        <p:spPr>
          <a:xfrm>
            <a:off x="1915795" y="4514850"/>
            <a:ext cx="1203960" cy="1503680"/>
          </a:xfrm>
          <a:prstGeom prst="bentArrow">
            <a:avLst>
              <a:gd name="adj1" fmla="val 25000"/>
              <a:gd name="adj2" fmla="val 25000"/>
              <a:gd name="adj3" fmla="val 25000"/>
              <a:gd name="adj4" fmla="val 43143"/>
            </a:avLst>
          </a:prstGeom>
          <a:solidFill>
            <a:schemeClr val="accent4"/>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7" name="下箭头 26"/>
          <p:cNvSpPr/>
          <p:nvPr/>
        </p:nvSpPr>
        <p:spPr>
          <a:xfrm>
            <a:off x="7862570" y="4514850"/>
            <a:ext cx="592455" cy="629285"/>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9" name="下箭头 28"/>
          <p:cNvSpPr/>
          <p:nvPr/>
        </p:nvSpPr>
        <p:spPr>
          <a:xfrm rot="16200000">
            <a:off x="8559800" y="5262880"/>
            <a:ext cx="592455" cy="802005"/>
          </a:xfrm>
          <a:prstGeom prst="downArrow">
            <a:avLst/>
          </a:prstGeom>
          <a:solidFill>
            <a:schemeClr val="accent1"/>
          </a:solidFill>
          <a:ln w="12700">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0" name="圆角右箭头 29"/>
          <p:cNvSpPr/>
          <p:nvPr/>
        </p:nvSpPr>
        <p:spPr>
          <a:xfrm rot="10800000">
            <a:off x="3656330" y="3640455"/>
            <a:ext cx="1063625" cy="1503680"/>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rot lat="0" lon="10800000" rev="10800000"/>
            </a:camera>
            <a:lightRig rig="threePt" dir="t">
              <a:rot lat="0" lon="0" rev="0"/>
            </a:lightRig>
          </a:scene3d>
          <a:sp3d prstMaterial="flat">
            <a:extrusionClr>
              <a:schemeClr val="bg1"/>
            </a:extrusionClr>
          </a:sp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2" name="组合 61"/>
          <p:cNvGrpSpPr/>
          <p:nvPr/>
        </p:nvGrpSpPr>
        <p:grpSpPr>
          <a:xfrm>
            <a:off x="4779010" y="3837305"/>
            <a:ext cx="3023870" cy="1913255"/>
            <a:chOff x="7526" y="6043"/>
            <a:chExt cx="4762" cy="3013"/>
          </a:xfrm>
        </p:grpSpPr>
        <p:sp>
          <p:nvSpPr>
            <p:cNvPr id="35" name="圆角右箭头 34"/>
            <p:cNvSpPr/>
            <p:nvPr/>
          </p:nvSpPr>
          <p:spPr>
            <a:xfrm>
              <a:off x="11290" y="6043"/>
              <a:ext cx="999" cy="1419"/>
            </a:xfrm>
            <a:prstGeom prst="bentArrow">
              <a:avLst>
                <a:gd name="adj1" fmla="val 25000"/>
                <a:gd name="adj2" fmla="val 25000"/>
                <a:gd name="adj3" fmla="val 25000"/>
                <a:gd name="adj4" fmla="val 43143"/>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nvGrpSpPr>
            <p:cNvPr id="61" name="组合 60"/>
            <p:cNvGrpSpPr/>
            <p:nvPr/>
          </p:nvGrpSpPr>
          <p:grpSpPr>
            <a:xfrm>
              <a:off x="7526" y="7422"/>
              <a:ext cx="4020" cy="1634"/>
              <a:chOff x="7526" y="7422"/>
              <a:chExt cx="4020" cy="1634"/>
            </a:xfrm>
          </p:grpSpPr>
          <p:grpSp>
            <p:nvGrpSpPr>
              <p:cNvPr id="60" name="组合 59"/>
              <p:cNvGrpSpPr/>
              <p:nvPr/>
            </p:nvGrpSpPr>
            <p:grpSpPr>
              <a:xfrm>
                <a:off x="9295" y="7437"/>
                <a:ext cx="2240" cy="1460"/>
                <a:chOff x="9295" y="7437"/>
                <a:chExt cx="2240" cy="1460"/>
              </a:xfrm>
            </p:grpSpPr>
            <p:sp>
              <p:nvSpPr>
                <p:cNvPr id="36" name="矩形 35"/>
                <p:cNvSpPr/>
                <p:nvPr/>
              </p:nvSpPr>
              <p:spPr>
                <a:xfrm>
                  <a:off x="9295" y="7437"/>
                  <a:ext cx="2240"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8" name="矩形 37"/>
                <p:cNvSpPr/>
                <p:nvPr/>
              </p:nvSpPr>
              <p:spPr>
                <a:xfrm rot="5400000">
                  <a:off x="8802" y="8148"/>
                  <a:ext cx="124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grpSp>
            <p:nvGrpSpPr>
              <p:cNvPr id="59" name="组合 58"/>
              <p:cNvGrpSpPr/>
              <p:nvPr/>
            </p:nvGrpSpPr>
            <p:grpSpPr>
              <a:xfrm>
                <a:off x="7526" y="7422"/>
                <a:ext cx="4020" cy="1634"/>
                <a:chOff x="7526" y="7422"/>
                <a:chExt cx="4020" cy="1634"/>
              </a:xfrm>
            </p:grpSpPr>
            <p:cxnSp>
              <p:nvCxnSpPr>
                <p:cNvPr id="42" name="直接连接符 41"/>
                <p:cNvCxnSpPr/>
                <p:nvPr/>
              </p:nvCxnSpPr>
              <p:spPr>
                <a:xfrm>
                  <a:off x="9560" y="7710"/>
                  <a:ext cx="0" cy="1343"/>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8" name="组合 57"/>
                <p:cNvGrpSpPr/>
                <p:nvPr/>
              </p:nvGrpSpPr>
              <p:grpSpPr>
                <a:xfrm>
                  <a:off x="9300" y="7422"/>
                  <a:ext cx="2246" cy="282"/>
                  <a:chOff x="9300" y="7422"/>
                  <a:chExt cx="2246" cy="282"/>
                </a:xfrm>
              </p:grpSpPr>
              <p:cxnSp>
                <p:nvCxnSpPr>
                  <p:cNvPr id="39" name="直接连接符 38"/>
                  <p:cNvCxnSpPr/>
                  <p:nvPr/>
                </p:nvCxnSpPr>
                <p:spPr>
                  <a:xfrm>
                    <a:off x="9300" y="7432"/>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9552" y="7700"/>
                    <a:ext cx="1995"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1538" y="7422"/>
                    <a:ext cx="2" cy="27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cxnSp>
              <p:nvCxnSpPr>
                <p:cNvPr id="44" name="直接连接符 43"/>
                <p:cNvCxnSpPr/>
                <p:nvPr/>
              </p:nvCxnSpPr>
              <p:spPr>
                <a:xfrm flipH="1">
                  <a:off x="9300" y="7426"/>
                  <a:ext cx="1" cy="1351"/>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nvGrpSpPr>
                <p:cNvPr id="56" name="组合 55"/>
                <p:cNvGrpSpPr/>
                <p:nvPr/>
              </p:nvGrpSpPr>
              <p:grpSpPr>
                <a:xfrm>
                  <a:off x="7526" y="8782"/>
                  <a:ext cx="2032" cy="274"/>
                  <a:chOff x="7526" y="8782"/>
                  <a:chExt cx="2032" cy="274"/>
                </a:xfrm>
              </p:grpSpPr>
              <p:sp>
                <p:nvSpPr>
                  <p:cNvPr id="37" name="矩形 36"/>
                  <p:cNvSpPr/>
                  <p:nvPr/>
                </p:nvSpPr>
                <p:spPr>
                  <a:xfrm>
                    <a:off x="7554" y="8791"/>
                    <a:ext cx="2002" cy="257"/>
                  </a:xfrm>
                  <a:prstGeom prst="rect">
                    <a:avLst/>
                  </a:prstGeom>
                  <a:solidFill>
                    <a:schemeClr val="accent1"/>
                  </a:solidFill>
                  <a:ln>
                    <a:no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41" name="直接连接符 40"/>
                  <p:cNvCxnSpPr/>
                  <p:nvPr/>
                </p:nvCxnSpPr>
                <p:spPr>
                  <a:xfrm flipV="1">
                    <a:off x="7526" y="8782"/>
                    <a:ext cx="1779" cy="4"/>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V="1">
                    <a:off x="7554" y="9052"/>
                    <a:ext cx="2004" cy="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grpSp>
          </p:grpSp>
        </p:grpSp>
      </p:grpSp>
      <p:sp>
        <p:nvSpPr>
          <p:cNvPr id="47" name="下箭头 46"/>
          <p:cNvSpPr/>
          <p:nvPr/>
        </p:nvSpPr>
        <p:spPr>
          <a:xfrm rot="16200000">
            <a:off x="240665" y="-55880"/>
            <a:ext cx="545465" cy="800100"/>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1" name="文本框 50"/>
          <p:cNvSpPr txBox="1"/>
          <p:nvPr/>
        </p:nvSpPr>
        <p:spPr>
          <a:xfrm>
            <a:off x="1112520" y="99695"/>
            <a:ext cx="2147570" cy="521970"/>
          </a:xfrm>
          <a:prstGeom prst="rect">
            <a:avLst/>
          </a:prstGeom>
          <a:noFill/>
        </p:spPr>
        <p:txBody>
          <a:bodyPr wrap="square" rtlCol="0">
            <a:spAutoFit/>
          </a:bodyPr>
          <a:p>
            <a:r>
              <a:rPr lang="en-US" altLang="zh-CN" sz="2800"/>
              <a:t>GABA(</a:t>
            </a:r>
            <a:r>
              <a:rPr lang="zh-CN" altLang="en-US" sz="2800"/>
              <a:t>抑制</a:t>
            </a:r>
            <a:r>
              <a:rPr lang="en-US" altLang="zh-CN" sz="2800"/>
              <a:t>)</a:t>
            </a:r>
            <a:endParaRPr lang="en-US" altLang="zh-CN" sz="2800"/>
          </a:p>
        </p:txBody>
      </p:sp>
      <p:sp>
        <p:nvSpPr>
          <p:cNvPr id="52" name="下箭头 51"/>
          <p:cNvSpPr/>
          <p:nvPr/>
        </p:nvSpPr>
        <p:spPr>
          <a:xfrm rot="16200000">
            <a:off x="240665" y="714375"/>
            <a:ext cx="545465" cy="800100"/>
          </a:xfrm>
          <a:prstGeom prst="downArrow">
            <a:avLst/>
          </a:prstGeom>
          <a:solidFill>
            <a:schemeClr val="accent1"/>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3" name="文本框 52"/>
          <p:cNvSpPr txBox="1"/>
          <p:nvPr/>
        </p:nvSpPr>
        <p:spPr>
          <a:xfrm>
            <a:off x="1112520" y="869950"/>
            <a:ext cx="2047875" cy="521970"/>
          </a:xfrm>
          <a:prstGeom prst="rect">
            <a:avLst/>
          </a:prstGeom>
          <a:noFill/>
        </p:spPr>
        <p:txBody>
          <a:bodyPr wrap="square" rtlCol="0">
            <a:spAutoFit/>
          </a:bodyPr>
          <a:p>
            <a:r>
              <a:rPr lang="en-US" altLang="zh-CN" sz="2800"/>
              <a:t>GLUT (</a:t>
            </a:r>
            <a:r>
              <a:rPr lang="zh-CN" altLang="en-US" sz="2800"/>
              <a:t>兴奋</a:t>
            </a:r>
            <a:r>
              <a:rPr lang="en-US" altLang="zh-CN" sz="2800"/>
              <a:t>)</a:t>
            </a:r>
            <a:endParaRPr lang="en-US" altLang="zh-CN" sz="2800"/>
          </a:p>
        </p:txBody>
      </p:sp>
      <p:sp>
        <p:nvSpPr>
          <p:cNvPr id="54" name="下箭头 53"/>
          <p:cNvSpPr/>
          <p:nvPr/>
        </p:nvSpPr>
        <p:spPr>
          <a:xfrm rot="16200000">
            <a:off x="240665" y="1484630"/>
            <a:ext cx="545465" cy="800100"/>
          </a:xfrm>
          <a:prstGeom prst="downArrow">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55" name="文本框 54"/>
          <p:cNvSpPr txBox="1"/>
          <p:nvPr/>
        </p:nvSpPr>
        <p:spPr>
          <a:xfrm>
            <a:off x="113665" y="1640205"/>
            <a:ext cx="2774950" cy="2245360"/>
          </a:xfrm>
          <a:prstGeom prst="rect">
            <a:avLst/>
          </a:prstGeom>
          <a:noFill/>
        </p:spPr>
        <p:txBody>
          <a:bodyPr wrap="square" rtlCol="0">
            <a:spAutoFit/>
          </a:bodyPr>
          <a:p>
            <a:pPr marL="457200" lvl="1" indent="457200"/>
            <a:r>
              <a:rPr lang="en-US" altLang="zh-CN" sz="2800"/>
              <a:t> </a:t>
            </a:r>
            <a:r>
              <a:rPr lang="zh-CN" altLang="en-US" sz="2800"/>
              <a:t>多巴胺</a:t>
            </a:r>
            <a:endParaRPr lang="zh-CN" altLang="en-US" sz="2800"/>
          </a:p>
          <a:p>
            <a:pPr marL="457200" lvl="1" indent="457200"/>
            <a:endParaRPr lang="zh-CN" altLang="en-US" sz="2800"/>
          </a:p>
          <a:p>
            <a:r>
              <a:rPr lang="en-US" altLang="zh-CN" sz="2800">
                <a:sym typeface="+mn-ea"/>
              </a:rPr>
              <a:t>D1:</a:t>
            </a:r>
            <a:r>
              <a:rPr lang="zh-CN" altLang="en-US" sz="2800">
                <a:sym typeface="+mn-ea"/>
              </a:rPr>
              <a:t>兴奋</a:t>
            </a:r>
            <a:endParaRPr lang="en-US" altLang="zh-CN" sz="2800"/>
          </a:p>
          <a:p>
            <a:r>
              <a:rPr lang="en-US" altLang="zh-CN" sz="2800">
                <a:sym typeface="+mn-ea"/>
              </a:rPr>
              <a:t>D2:</a:t>
            </a:r>
            <a:r>
              <a:rPr lang="zh-CN" altLang="en-US" sz="2800">
                <a:sym typeface="+mn-ea"/>
              </a:rPr>
              <a:t>抑制</a:t>
            </a:r>
            <a:endParaRPr lang="en-US" altLang="zh-CN" sz="2800"/>
          </a:p>
          <a:p>
            <a:endParaRPr lang="zh-CN" altLang="en-US" sz="2800"/>
          </a:p>
        </p:txBody>
      </p:sp>
      <p:sp>
        <p:nvSpPr>
          <p:cNvPr id="64" name="圆角右箭头 63"/>
          <p:cNvSpPr/>
          <p:nvPr/>
        </p:nvSpPr>
        <p:spPr>
          <a:xfrm rot="16200000">
            <a:off x="4035425" y="2662555"/>
            <a:ext cx="739775" cy="1353820"/>
          </a:xfrm>
          <a:prstGeom prst="bentArrow">
            <a:avLst>
              <a:gd name="adj1" fmla="val 25000"/>
              <a:gd name="adj2" fmla="val 25000"/>
              <a:gd name="adj3" fmla="val 25000"/>
              <a:gd name="adj4" fmla="val 43143"/>
            </a:avLst>
          </a:prstGeom>
          <a:solidFill>
            <a:schemeClr val="accent6"/>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5" name="矩形 14"/>
          <p:cNvSpPr/>
          <p:nvPr/>
        </p:nvSpPr>
        <p:spPr>
          <a:xfrm>
            <a:off x="5081905" y="3488055"/>
            <a:ext cx="1814195" cy="1026795"/>
          </a:xfrm>
          <a:prstGeom prst="rect">
            <a:avLst/>
          </a:prstGeom>
          <a:solidFill>
            <a:schemeClr val="bg1"/>
          </a:solidFill>
          <a:ln w="381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黑质</a:t>
            </a:r>
            <a:r>
              <a:rPr lang="zh-CN" altLang="en-US" sz="2400" b="1">
                <a:solidFill>
                  <a:schemeClr val="tx1"/>
                </a:solidFill>
              </a:rPr>
              <a:t>致密部</a:t>
            </a:r>
            <a:endParaRPr lang="zh-CN" altLang="en-US" sz="2400" b="1">
              <a:solidFill>
                <a:schemeClr val="tx1"/>
              </a:solidFill>
            </a:endParaRPr>
          </a:p>
        </p:txBody>
      </p:sp>
      <p:sp>
        <p:nvSpPr>
          <p:cNvPr id="65" name="圆角右箭头 64"/>
          <p:cNvSpPr/>
          <p:nvPr/>
        </p:nvSpPr>
        <p:spPr>
          <a:xfrm rot="16200000">
            <a:off x="7010400" y="2849880"/>
            <a:ext cx="739775" cy="964565"/>
          </a:xfrm>
          <a:prstGeom prst="bentArrow">
            <a:avLst>
              <a:gd name="adj1" fmla="val 25000"/>
              <a:gd name="adj2" fmla="val 25000"/>
              <a:gd name="adj3" fmla="val 25000"/>
              <a:gd name="adj4" fmla="val 43143"/>
            </a:avLst>
          </a:prstGeom>
          <a:solidFill>
            <a:schemeClr val="accent6"/>
          </a:solidFill>
          <a:ln>
            <a:solidFill>
              <a:schemeClr val="tx1"/>
            </a:solidFill>
          </a:ln>
          <a:scene3d>
            <a:camera prst="orthographicFront">
              <a:rot lat="0" lon="10800000" rev="10800000"/>
            </a:camera>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8" name="文本框 17"/>
          <p:cNvSpPr txBox="1"/>
          <p:nvPr/>
        </p:nvSpPr>
        <p:spPr>
          <a:xfrm>
            <a:off x="4148455" y="2969895"/>
            <a:ext cx="777240" cy="583565"/>
          </a:xfrm>
          <a:prstGeom prst="rect">
            <a:avLst/>
          </a:prstGeom>
          <a:noFill/>
        </p:spPr>
        <p:txBody>
          <a:bodyPr wrap="square" rtlCol="0">
            <a:spAutoFit/>
          </a:bodyPr>
          <a:p>
            <a:r>
              <a:rPr lang="en-US" altLang="zh-CN" sz="3200"/>
              <a:t>D2</a:t>
            </a:r>
            <a:endParaRPr lang="en-US" altLang="zh-CN" sz="3200"/>
          </a:p>
        </p:txBody>
      </p:sp>
      <p:sp>
        <p:nvSpPr>
          <p:cNvPr id="12" name="文本框 11"/>
          <p:cNvSpPr txBox="1"/>
          <p:nvPr/>
        </p:nvSpPr>
        <p:spPr>
          <a:xfrm>
            <a:off x="6840220" y="2962275"/>
            <a:ext cx="777240" cy="583565"/>
          </a:xfrm>
          <a:prstGeom prst="rect">
            <a:avLst/>
          </a:prstGeom>
          <a:noFill/>
        </p:spPr>
        <p:txBody>
          <a:bodyPr wrap="square" rtlCol="0">
            <a:spAutoFit/>
          </a:bodyPr>
          <a:p>
            <a:r>
              <a:rPr lang="en-US" altLang="zh-CN" sz="3200"/>
              <a:t>D1</a:t>
            </a:r>
            <a:endParaRPr lang="en-US" altLang="zh-CN" sz="320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bldLst>
      <p:bldP spid="7" grpId="1" animBg="1"/>
      <p:bldP spid="8" grpId="1" animBg="1"/>
      <p:bldP spid="10" grpId="1" animBg="1"/>
      <p:bldP spid="13" grpId="1" animBg="1"/>
      <p:bldP spid="14" grpId="1" animBg="1"/>
      <p:bldP spid="16" grpId="1" animBg="1"/>
      <p:bldP spid="21" grpId="1" animBg="1"/>
      <p:bldP spid="6" grpId="1" animBg="1"/>
      <p:bldP spid="1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画板7"/>
          <p:cNvPicPr>
            <a:picLocks noChangeAspect="1"/>
          </p:cNvPicPr>
          <p:nvPr>
            <p:custDataLst>
              <p:tags r:id="rId1"/>
            </p:custDataLst>
          </p:nvPr>
        </p:nvPicPr>
        <p:blipFill>
          <a:blip r:embed="rId2"/>
          <a:stretch>
            <a:fillRect/>
          </a:stretch>
        </p:blipFill>
        <p:spPr>
          <a:xfrm>
            <a:off x="-213360" y="-94615"/>
            <a:ext cx="12405360" cy="7047230"/>
          </a:xfrm>
          <a:prstGeom prst="rect">
            <a:avLst/>
          </a:prstGeom>
        </p:spPr>
      </p:pic>
      <p:sp>
        <p:nvSpPr>
          <p:cNvPr id="5" name="文本框 4"/>
          <p:cNvSpPr txBox="1"/>
          <p:nvPr/>
        </p:nvSpPr>
        <p:spPr>
          <a:xfrm>
            <a:off x="435610" y="0"/>
            <a:ext cx="9603105" cy="1445260"/>
          </a:xfrm>
          <a:prstGeom prst="rect">
            <a:avLst/>
          </a:prstGeom>
          <a:noFill/>
        </p:spPr>
        <p:txBody>
          <a:bodyPr wrap="square" rtlCol="0">
            <a:spAutoFit/>
          </a:bodyPr>
          <a:p>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顶级难题难死</a:t>
            </a:r>
            <a:r>
              <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rPr>
              <a:t>你们</a:t>
            </a:r>
            <a:endParaRPr lang="zh-CN" altLang="en-US" sz="8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Bold" panose="020F0702030404030204" charset="0"/>
              <a:cs typeface="Calibri Bold" panose="020F0702030404030204" charset="0"/>
            </a:endParaRPr>
          </a:p>
        </p:txBody>
      </p:sp>
      <p:sp>
        <p:nvSpPr>
          <p:cNvPr id="6" name="文本框 5"/>
          <p:cNvSpPr txBox="1"/>
          <p:nvPr>
            <p:custDataLst>
              <p:tags r:id="rId3"/>
            </p:custDataLst>
          </p:nvPr>
        </p:nvSpPr>
        <p:spPr>
          <a:xfrm>
            <a:off x="750570" y="1505585"/>
            <a:ext cx="9878695" cy="1322070"/>
          </a:xfrm>
          <a:prstGeom prst="rect">
            <a:avLst/>
          </a:prstGeom>
          <a:noFill/>
        </p:spPr>
        <p:txBody>
          <a:bodyPr wrap="square" rtlCol="0">
            <a:spAutoFit/>
          </a:bodyPr>
          <a:p>
            <a:r>
              <a:rPr lang="en-US" altLang="zh-CN" sz="2000"/>
              <a:t>1.</a:t>
            </a:r>
            <a:r>
              <a:rPr lang="zh-CN" altLang="en-US" sz="2000"/>
              <a:t>在基底核间接通路</a:t>
            </a:r>
            <a:r>
              <a:rPr lang="en-US" altLang="zh-CN" sz="2000" b="1"/>
              <a:t>(</a:t>
            </a:r>
            <a:r>
              <a:rPr lang="zh-CN" altLang="en-US" sz="2000" b="1"/>
              <a:t>大脑皮层</a:t>
            </a:r>
            <a:r>
              <a:rPr lang="en-US" altLang="zh-CN" sz="2000" b="1"/>
              <a:t>→</a:t>
            </a:r>
            <a:r>
              <a:rPr lang="zh-CN" altLang="en-US" sz="2000" b="1"/>
              <a:t>纹状体</a:t>
            </a:r>
            <a:r>
              <a:rPr lang="en-US" altLang="zh-CN" sz="2000" b="1"/>
              <a:t>→</a:t>
            </a:r>
            <a:r>
              <a:rPr lang="zh-CN" altLang="en-US" sz="2000" b="1"/>
              <a:t>外苍白球</a:t>
            </a:r>
            <a:r>
              <a:rPr lang="en-US" altLang="zh-CN" sz="2000" b="1"/>
              <a:t>→</a:t>
            </a:r>
            <a:r>
              <a:rPr lang="zh-CN" altLang="en-US" sz="2000" b="1"/>
              <a:t>丘脑下核</a:t>
            </a:r>
            <a:r>
              <a:rPr lang="en-US" altLang="zh-CN" sz="2000" b="1"/>
              <a:t>→</a:t>
            </a:r>
            <a:r>
              <a:rPr lang="zh-CN" altLang="en-US" sz="2000" b="1"/>
              <a:t>内苍白球</a:t>
            </a:r>
            <a:r>
              <a:rPr lang="en-US" altLang="zh-CN" sz="2000" b="1"/>
              <a:t>/</a:t>
            </a:r>
            <a:r>
              <a:rPr lang="zh-CN" altLang="en-US" sz="2000" b="1"/>
              <a:t>黑质</a:t>
            </a:r>
            <a:r>
              <a:rPr lang="en-US" altLang="zh-CN" sz="2000" b="1"/>
              <a:t>→</a:t>
            </a:r>
            <a:r>
              <a:rPr lang="zh-CN" altLang="en-US" sz="2000" b="1"/>
              <a:t>丘脑</a:t>
            </a:r>
            <a:r>
              <a:rPr lang="en-US" altLang="zh-CN" sz="2000" b="1"/>
              <a:t>→</a:t>
            </a:r>
            <a:r>
              <a:rPr lang="zh-CN" altLang="en-US" sz="2000" b="1"/>
              <a:t>大脑皮层</a:t>
            </a:r>
            <a:r>
              <a:rPr lang="en-US" altLang="zh-CN" sz="2000" b="1"/>
              <a:t>)</a:t>
            </a:r>
            <a:r>
              <a:rPr lang="zh-CN" altLang="en-US" sz="2000"/>
              <a:t>中，不考虑多巴胺的影响，存在多少</a:t>
            </a:r>
            <a:r>
              <a:rPr lang="zh-CN" altLang="en-US" sz="2000"/>
              <a:t>条抑制性连接？</a:t>
            </a:r>
            <a:endParaRPr lang="zh-CN" altLang="en-US" sz="2000"/>
          </a:p>
          <a:p>
            <a:endParaRPr lang="zh-CN" altLang="en-US" sz="2000"/>
          </a:p>
          <a:p>
            <a:r>
              <a:rPr lang="en-US" altLang="zh-CN" sz="2000"/>
              <a:t>A. 1</a:t>
            </a:r>
            <a:r>
              <a:rPr lang="zh-CN" altLang="en-US" sz="2000"/>
              <a:t>条</a:t>
            </a:r>
            <a:r>
              <a:rPr lang="en-US" altLang="zh-CN" sz="2000"/>
              <a:t>		B. 2</a:t>
            </a:r>
            <a:r>
              <a:rPr lang="zh-CN" altLang="en-US" sz="2000"/>
              <a:t>条</a:t>
            </a:r>
            <a:r>
              <a:rPr lang="en-US" altLang="zh-CN" sz="2000"/>
              <a:t>		C.3</a:t>
            </a:r>
            <a:r>
              <a:rPr lang="zh-CN" altLang="en-US" sz="2000"/>
              <a:t>条</a:t>
            </a:r>
            <a:r>
              <a:rPr lang="en-US" altLang="zh-CN" sz="2000"/>
              <a:t>		D.</a:t>
            </a:r>
            <a:r>
              <a:rPr lang="zh-CN" altLang="en-US" sz="2000">
                <a:sym typeface="+mn-ea"/>
              </a:rPr>
              <a:t>你讲得这么烂我们怎么知道？</a:t>
            </a:r>
            <a:endParaRPr lang="en-US" altLang="zh-CN" sz="2000"/>
          </a:p>
        </p:txBody>
      </p:sp>
      <p:sp>
        <p:nvSpPr>
          <p:cNvPr id="7" name="文本框 6"/>
          <p:cNvSpPr txBox="1"/>
          <p:nvPr>
            <p:custDataLst>
              <p:tags r:id="rId4"/>
            </p:custDataLst>
          </p:nvPr>
        </p:nvSpPr>
        <p:spPr>
          <a:xfrm>
            <a:off x="750570" y="3085465"/>
            <a:ext cx="10243820" cy="1322070"/>
          </a:xfrm>
          <a:prstGeom prst="rect">
            <a:avLst/>
          </a:prstGeom>
          <a:noFill/>
        </p:spPr>
        <p:txBody>
          <a:bodyPr wrap="square" rtlCol="0">
            <a:spAutoFit/>
          </a:bodyPr>
          <a:p>
            <a:r>
              <a:rPr lang="en-US" altLang="zh-CN" sz="2000"/>
              <a:t>2.</a:t>
            </a:r>
            <a:r>
              <a:rPr lang="zh-CN" altLang="en-US" sz="2000"/>
              <a:t>已知多巴胺受体在直接通路中为</a:t>
            </a:r>
            <a:r>
              <a:rPr lang="en-US" altLang="zh-CN" sz="2000"/>
              <a:t>D1</a:t>
            </a:r>
            <a:r>
              <a:rPr lang="zh-CN" altLang="en-US" sz="2000"/>
              <a:t>型，在间接通路中为</a:t>
            </a:r>
            <a:r>
              <a:rPr lang="en-US" altLang="zh-CN" sz="2000"/>
              <a:t>D2</a:t>
            </a:r>
            <a:r>
              <a:rPr lang="zh-CN" altLang="en-US" sz="2000"/>
              <a:t>型，那么，若多巴胺能神经元释放多巴胺，对两条通路的影响分别是什么？</a:t>
            </a:r>
            <a:endParaRPr lang="zh-CN" altLang="en-US" sz="2000"/>
          </a:p>
          <a:p>
            <a:endParaRPr lang="zh-CN" altLang="en-US" sz="2000"/>
          </a:p>
          <a:p>
            <a:r>
              <a:rPr lang="en-US" altLang="zh-CN" sz="2000"/>
              <a:t>A. </a:t>
            </a:r>
            <a:r>
              <a:rPr lang="zh-CN" altLang="en-US" sz="2000"/>
              <a:t>兴奋</a:t>
            </a:r>
            <a:r>
              <a:rPr lang="en-US" altLang="zh-CN" sz="2000"/>
              <a:t> </a:t>
            </a:r>
            <a:r>
              <a:rPr lang="zh-CN" altLang="en-US" sz="2000"/>
              <a:t>兴奋</a:t>
            </a:r>
            <a:r>
              <a:rPr lang="en-US" altLang="zh-CN" sz="2000"/>
              <a:t>		B. </a:t>
            </a:r>
            <a:r>
              <a:rPr lang="zh-CN" altLang="en-US" sz="2000"/>
              <a:t>抑制</a:t>
            </a:r>
            <a:r>
              <a:rPr lang="en-US" altLang="zh-CN" sz="2000"/>
              <a:t> </a:t>
            </a:r>
            <a:r>
              <a:rPr lang="zh-CN" altLang="en-US" sz="2000"/>
              <a:t>抑制</a:t>
            </a:r>
            <a:r>
              <a:rPr lang="en-US" altLang="zh-CN" sz="2000"/>
              <a:t>		C.</a:t>
            </a:r>
            <a:r>
              <a:rPr lang="zh-CN" altLang="en-US" sz="2000"/>
              <a:t>兴奋</a:t>
            </a:r>
            <a:r>
              <a:rPr lang="en-US" altLang="zh-CN" sz="2000"/>
              <a:t> </a:t>
            </a:r>
            <a:r>
              <a:rPr lang="zh-CN" altLang="en-US" sz="2000"/>
              <a:t>抑制</a:t>
            </a:r>
            <a:r>
              <a:rPr lang="en-US" altLang="zh-CN" sz="2000"/>
              <a:t>		D.</a:t>
            </a:r>
            <a:r>
              <a:rPr lang="zh-CN" altLang="en-US" sz="2000"/>
              <a:t>抑制</a:t>
            </a:r>
            <a:r>
              <a:rPr lang="en-US" altLang="zh-CN" sz="2000"/>
              <a:t> </a:t>
            </a:r>
            <a:r>
              <a:rPr lang="zh-CN" altLang="en-US" sz="2000"/>
              <a:t>兴奋</a:t>
            </a:r>
            <a:endParaRPr lang="zh-CN" altLang="en-US" sz="2000"/>
          </a:p>
        </p:txBody>
      </p:sp>
      <p:sp>
        <p:nvSpPr>
          <p:cNvPr id="8" name="文本框 7"/>
          <p:cNvSpPr txBox="1"/>
          <p:nvPr>
            <p:custDataLst>
              <p:tags r:id="rId5"/>
            </p:custDataLst>
          </p:nvPr>
        </p:nvSpPr>
        <p:spPr>
          <a:xfrm>
            <a:off x="750570" y="4665345"/>
            <a:ext cx="10243820" cy="1322070"/>
          </a:xfrm>
          <a:prstGeom prst="rect">
            <a:avLst/>
          </a:prstGeom>
          <a:noFill/>
        </p:spPr>
        <p:txBody>
          <a:bodyPr wrap="square" rtlCol="0">
            <a:spAutoFit/>
          </a:bodyPr>
          <a:p>
            <a:r>
              <a:rPr lang="en-US" altLang="zh-CN" sz="2000"/>
              <a:t>3.</a:t>
            </a:r>
            <a:r>
              <a:rPr lang="zh-CN" altLang="en-US" sz="2000"/>
              <a:t>小胶质细胞等神经胶质细胞在释放免疫调节因子时，对神经元造成损害的具体是哪种</a:t>
            </a:r>
            <a:r>
              <a:rPr lang="zh-CN" altLang="en-US" sz="2000">
                <a:sym typeface="+mn-ea"/>
              </a:rPr>
              <a:t>免疫调节因子</a:t>
            </a:r>
            <a:r>
              <a:rPr lang="zh-CN" altLang="en-US" sz="2000"/>
              <a:t>？</a:t>
            </a:r>
            <a:endParaRPr lang="zh-CN" altLang="en-US" sz="2000"/>
          </a:p>
          <a:p>
            <a:endParaRPr lang="zh-CN" altLang="en-US" sz="2000"/>
          </a:p>
          <a:p>
            <a:r>
              <a:rPr lang="en-US" altLang="zh-CN" sz="2000"/>
              <a:t>A. </a:t>
            </a:r>
            <a:r>
              <a:rPr lang="zh-CN" altLang="en-US" sz="2000"/>
              <a:t>促炎细胞因子</a:t>
            </a:r>
            <a:r>
              <a:rPr lang="en-US" altLang="zh-CN" sz="2000"/>
              <a:t>		B. </a:t>
            </a:r>
            <a:r>
              <a:rPr lang="zh-CN" altLang="en-US" sz="2000"/>
              <a:t>抗炎细胞因子</a:t>
            </a:r>
            <a:r>
              <a:rPr lang="en-US" altLang="zh-CN" sz="2000"/>
              <a:t>		C.</a:t>
            </a:r>
            <a:r>
              <a:rPr lang="zh-CN" altLang="en-US" sz="2000"/>
              <a:t>趋化因子</a:t>
            </a:r>
            <a:r>
              <a:rPr lang="en-US" altLang="zh-CN" sz="2000"/>
              <a:t>		D.</a:t>
            </a:r>
            <a:r>
              <a:rPr lang="zh-CN" altLang="en-US" sz="2000"/>
              <a:t>你会不会</a:t>
            </a:r>
            <a:r>
              <a:rPr lang="zh-CN" altLang="en-US" sz="2000"/>
              <a:t>出题？</a:t>
            </a:r>
            <a:endParaRPr lang="zh-CN" altLang="en-US" sz="2000"/>
          </a:p>
        </p:txBody>
      </p:sp>
      <p:sp>
        <p:nvSpPr>
          <p:cNvPr id="47" name="下箭头 46">
            <a:hlinkClick r:id="" action="ppaction://hlinkshowjump?jump=previousslide"/>
          </p:cNvPr>
          <p:cNvSpPr/>
          <p:nvPr/>
        </p:nvSpPr>
        <p:spPr>
          <a:xfrm rot="5400000">
            <a:off x="11121390" y="5869940"/>
            <a:ext cx="545465" cy="800100"/>
          </a:xfrm>
          <a:prstGeom prst="downArrow">
            <a:avLst/>
          </a:prstGeom>
          <a:solidFill>
            <a:schemeClr val="accent4"/>
          </a:solidFill>
          <a:ln>
            <a:solidFill>
              <a:schemeClr val="tx1"/>
            </a:solidFill>
          </a:ln>
          <a:scene3d>
            <a:camera prst="orthographicFront"/>
            <a:lightRig rig="threePt" dir="t"/>
          </a:scene3d>
          <a:sp3d prstMaterial="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9" name="文本框 8"/>
          <p:cNvSpPr txBox="1"/>
          <p:nvPr>
            <p:custDataLst>
              <p:tags r:id="rId6"/>
            </p:custDataLst>
          </p:nvPr>
        </p:nvSpPr>
        <p:spPr>
          <a:xfrm>
            <a:off x="157480" y="1445260"/>
            <a:ext cx="593090" cy="829945"/>
          </a:xfrm>
          <a:prstGeom prst="rect">
            <a:avLst/>
          </a:prstGeom>
          <a:noFill/>
        </p:spPr>
        <p:txBody>
          <a:bodyPr wrap="square" rtlCol="0">
            <a:spAutoFit/>
          </a:bodyPr>
          <a:p>
            <a:r>
              <a:rPr lang="en-US" altLang="zh-CN" sz="4800">
                <a:solidFill>
                  <a:srgbClr val="FF0000"/>
                </a:solidFill>
              </a:rPr>
              <a:t>C</a:t>
            </a:r>
            <a:endParaRPr lang="en-US" altLang="zh-CN" sz="4800">
              <a:solidFill>
                <a:srgbClr val="FF0000"/>
              </a:solidFill>
            </a:endParaRPr>
          </a:p>
        </p:txBody>
      </p:sp>
      <p:sp>
        <p:nvSpPr>
          <p:cNvPr id="10" name="文本框 9"/>
          <p:cNvSpPr txBox="1"/>
          <p:nvPr>
            <p:custDataLst>
              <p:tags r:id="rId7"/>
            </p:custDataLst>
          </p:nvPr>
        </p:nvSpPr>
        <p:spPr>
          <a:xfrm>
            <a:off x="157480" y="3054985"/>
            <a:ext cx="593090" cy="829945"/>
          </a:xfrm>
          <a:prstGeom prst="rect">
            <a:avLst/>
          </a:prstGeom>
          <a:noFill/>
        </p:spPr>
        <p:txBody>
          <a:bodyPr wrap="square" rtlCol="0">
            <a:spAutoFit/>
          </a:bodyPr>
          <a:p>
            <a:r>
              <a:rPr lang="en-US" altLang="zh-CN" sz="4800">
                <a:solidFill>
                  <a:srgbClr val="FF0000"/>
                </a:solidFill>
              </a:rPr>
              <a:t>A</a:t>
            </a:r>
            <a:endParaRPr lang="en-US" altLang="zh-CN" sz="4800">
              <a:solidFill>
                <a:srgbClr val="FF0000"/>
              </a:solidFill>
            </a:endParaRPr>
          </a:p>
        </p:txBody>
      </p:sp>
      <p:sp>
        <p:nvSpPr>
          <p:cNvPr id="11" name="文本框 10"/>
          <p:cNvSpPr txBox="1"/>
          <p:nvPr>
            <p:custDataLst>
              <p:tags r:id="rId8"/>
            </p:custDataLst>
          </p:nvPr>
        </p:nvSpPr>
        <p:spPr>
          <a:xfrm>
            <a:off x="157480" y="4664710"/>
            <a:ext cx="593090" cy="829945"/>
          </a:xfrm>
          <a:prstGeom prst="rect">
            <a:avLst/>
          </a:prstGeom>
          <a:noFill/>
        </p:spPr>
        <p:txBody>
          <a:bodyPr wrap="square" rtlCol="0">
            <a:spAutoFit/>
          </a:bodyPr>
          <a:p>
            <a:r>
              <a:rPr lang="en-US" altLang="zh-CN" sz="4800">
                <a:solidFill>
                  <a:srgbClr val="FF0000"/>
                </a:solidFill>
              </a:rPr>
              <a:t>A</a:t>
            </a:r>
            <a:endParaRPr lang="en-US" altLang="zh-CN" sz="48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0" grpId="1"/>
      <p:bldP spid="11" grpId="0"/>
      <p:bldP spid="11"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画板9"/>
          <p:cNvPicPr>
            <a:picLocks noChangeAspect="1"/>
          </p:cNvPicPr>
          <p:nvPr/>
        </p:nvPicPr>
        <p:blipFill>
          <a:blip r:embed="rId1"/>
          <a:stretch>
            <a:fillRect/>
          </a:stretch>
        </p:blipFill>
        <p:spPr>
          <a:xfrm>
            <a:off x="0" y="0"/>
            <a:ext cx="12192000" cy="6929120"/>
          </a:xfrm>
          <a:prstGeom prst="rect">
            <a:avLst/>
          </a:prstGeom>
        </p:spPr>
      </p:pic>
      <p:sp>
        <p:nvSpPr>
          <p:cNvPr id="3" name="文本框 2"/>
          <p:cNvSpPr txBox="1"/>
          <p:nvPr/>
        </p:nvSpPr>
        <p:spPr>
          <a:xfrm>
            <a:off x="1787525" y="754380"/>
            <a:ext cx="4353560" cy="2553335"/>
          </a:xfrm>
          <a:prstGeom prst="rect">
            <a:avLst/>
          </a:prstGeom>
          <a:noFill/>
        </p:spPr>
        <p:txBody>
          <a:bodyPr wrap="square" rtlCol="0">
            <a:spAutoFit/>
          </a:bodyPr>
          <a:lstStyle/>
          <a:p>
            <a:r>
              <a:rPr lang="en-US" altLang="zh-CN" sz="8000" b="1">
                <a:solidFill>
                  <a:schemeClr val="accent1">
                    <a:lumMod val="75000"/>
                  </a:schemeClr>
                </a:solidFill>
                <a:latin typeface="Calibri Bold" panose="020F0702030404030204" charset="0"/>
                <a:cs typeface="Calibri Bold" panose="020F0702030404030204" charset="0"/>
              </a:rPr>
              <a:t>THANK YOU!</a:t>
            </a:r>
            <a:endParaRPr lang="en-US" altLang="zh-CN" sz="8000" b="1">
              <a:solidFill>
                <a:schemeClr val="accent1">
                  <a:lumMod val="75000"/>
                </a:schemeClr>
              </a:solidFill>
              <a:latin typeface="Calibri Bold" panose="020F0702030404030204" charset="0"/>
              <a:cs typeface="Calibri Bold" panose="020F0702030404030204" charset="0"/>
            </a:endParaRPr>
          </a:p>
        </p:txBody>
      </p:sp>
      <p:sp>
        <p:nvSpPr>
          <p:cNvPr id="4" name="矩形 3"/>
          <p:cNvSpPr/>
          <p:nvPr/>
        </p:nvSpPr>
        <p:spPr>
          <a:xfrm>
            <a:off x="1263015" y="1058545"/>
            <a:ext cx="324485" cy="194500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63015" y="4690745"/>
            <a:ext cx="3347720" cy="0"/>
          </a:xfrm>
          <a:prstGeom prst="line">
            <a:avLst/>
          </a:prstGeom>
        </p:spPr>
        <p:style>
          <a:lnRef idx="1">
            <a:schemeClr val="accent5"/>
          </a:lnRef>
          <a:fillRef idx="0">
            <a:schemeClr val="accent5"/>
          </a:fillRef>
          <a:effectRef idx="0">
            <a:schemeClr val="accent5"/>
          </a:effectRef>
          <a:fontRef idx="minor">
            <a:schemeClr val="tx1"/>
          </a:fontRef>
        </p:style>
      </p:cxnSp>
      <p:sp>
        <p:nvSpPr>
          <p:cNvPr id="8" name="文本框 7"/>
          <p:cNvSpPr txBox="1"/>
          <p:nvPr/>
        </p:nvSpPr>
        <p:spPr>
          <a:xfrm>
            <a:off x="1263015" y="4845050"/>
            <a:ext cx="5071110" cy="1418590"/>
          </a:xfrm>
          <a:prstGeom prst="rect">
            <a:avLst/>
          </a:prstGeom>
          <a:noFill/>
        </p:spPr>
        <p:txBody>
          <a:bodyPr wrap="square" rtlCol="0">
            <a:spAutoFit/>
          </a:bodyPr>
          <a:lstStyle/>
          <a:p>
            <a:pPr>
              <a:lnSpc>
                <a:spcPct val="120000"/>
              </a:lnSpc>
            </a:pPr>
            <a:r>
              <a:rPr lang="en-US" altLang="zh-CN" sz="1200">
                <a:solidFill>
                  <a:schemeClr val="accent1">
                    <a:lumMod val="75000"/>
                  </a:schemeClr>
                </a:solidFill>
              </a:rPr>
              <a:t>[1]</a:t>
            </a:r>
            <a:r>
              <a:rPr lang="zh-CN" altLang="en-US" sz="1200">
                <a:solidFill>
                  <a:schemeClr val="accent1">
                    <a:lumMod val="75000"/>
                  </a:schemeClr>
                </a:solidFill>
              </a:rPr>
              <a:t>Note: put your text here, pay attention to the short and clear expression of the sentence, and divide the content into several points.</a:t>
            </a:r>
            <a:endParaRPr lang="zh-CN" altLang="en-US" sz="1200">
              <a:solidFill>
                <a:schemeClr val="accent1">
                  <a:lumMod val="75000"/>
                </a:schemeClr>
              </a:solidFill>
            </a:endParaRPr>
          </a:p>
          <a:p>
            <a:pPr>
              <a:lnSpc>
                <a:spcPct val="120000"/>
              </a:lnSpc>
            </a:pPr>
            <a:r>
              <a:rPr lang="en-US" altLang="zh-CN" sz="1200">
                <a:solidFill>
                  <a:schemeClr val="accent1">
                    <a:lumMod val="75000"/>
                  </a:schemeClr>
                </a:solidFill>
                <a:sym typeface="+mn-ea"/>
              </a:rPr>
              <a:t>[2]</a:t>
            </a:r>
            <a:r>
              <a:rPr lang="zh-CN" altLang="en-US" sz="1200">
                <a:solidFill>
                  <a:schemeClr val="accent1">
                    <a:lumMod val="75000"/>
                  </a:schemeClr>
                </a:solidFill>
                <a:sym typeface="+mn-ea"/>
              </a:rPr>
              <a:t>Note: put your text here, pay attention to the short and clear expression of the sentence, and divide the content into several points.</a:t>
            </a:r>
            <a:endParaRPr lang="zh-CN" altLang="en-US" sz="1200">
              <a:solidFill>
                <a:schemeClr val="accent1">
                  <a:lumMod val="75000"/>
                </a:schemeClr>
              </a:solidFill>
            </a:endParaRPr>
          </a:p>
          <a:p>
            <a:pPr>
              <a:lnSpc>
                <a:spcPct val="120000"/>
              </a:lnSpc>
            </a:pPr>
            <a:r>
              <a:rPr lang="en-US" altLang="zh-CN" sz="1200">
                <a:solidFill>
                  <a:schemeClr val="accent1">
                    <a:lumMod val="75000"/>
                  </a:schemeClr>
                </a:solidFill>
                <a:sym typeface="+mn-ea"/>
              </a:rPr>
              <a:t>[3]</a:t>
            </a:r>
            <a:r>
              <a:rPr lang="zh-CN" altLang="en-US" sz="1200">
                <a:solidFill>
                  <a:schemeClr val="accent1">
                    <a:lumMod val="75000"/>
                  </a:schemeClr>
                </a:solidFill>
                <a:sym typeface="+mn-ea"/>
              </a:rPr>
              <a:t>Note: put your text here, pay attention to the short and clear expression of the sentence, and divide the content into several points.</a:t>
            </a:r>
            <a:endParaRPr lang="zh-CN" altLang="en-US" sz="1200">
              <a:solidFill>
                <a:schemeClr val="accent1">
                  <a:lumMod val="75000"/>
                </a:schemeClr>
              </a:solidFill>
              <a:sym typeface="+mn-ea"/>
            </a:endParaRPr>
          </a:p>
        </p:txBody>
      </p:sp>
    </p:spTree>
  </p:cSld>
  <p:clrMapOvr>
    <a:masterClrMapping/>
  </p:clrMapOvr>
  <p:transition>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DIAGRAM_VIRTUALLY_FRAME" val="{&quot;height&quot;:213.9,&quot;left&quot;:41.5,&quot;top&quot;:133.15,&quot;width&quot;:413.45}"/>
</p:tagLst>
</file>

<file path=ppt/tags/tag16.xml><?xml version="1.0" encoding="utf-8"?>
<p:tagLst xmlns:p="http://schemas.openxmlformats.org/presentationml/2006/main">
  <p:tag name="KSO_WM_DIAGRAM_VIRTUALLY_FRAME" val="{&quot;height&quot;:213.9,&quot;left&quot;:41.5,&quot;top&quot;:133.15,&quot;width&quot;:413.45}"/>
</p:tagLst>
</file>

<file path=ppt/tags/tag17.xml><?xml version="1.0" encoding="utf-8"?>
<p:tagLst xmlns:p="http://schemas.openxmlformats.org/presentationml/2006/main">
  <p:tag name="KSO_WM_DIAGRAM_VIRTUALLY_FRAME" val="{&quot;height&quot;:213.9,&quot;left&quot;:41.5,&quot;top&quot;:133.15,&quot;width&quot;:413.45}"/>
</p:tagLst>
</file>

<file path=ppt/tags/tag18.xml><?xml version="1.0" encoding="utf-8"?>
<p:tagLst xmlns:p="http://schemas.openxmlformats.org/presentationml/2006/main">
  <p:tag name="KSO_WM_DIAGRAM_VIRTUALLY_FRAME" val="{&quot;height&quot;:213.9,&quot;left&quot;:41.5,&quot;top&quot;:133.15,&quot;width&quot;:413.45}"/>
</p:tagLst>
</file>

<file path=ppt/tags/tag19.xml><?xml version="1.0" encoding="utf-8"?>
<p:tagLst xmlns:p="http://schemas.openxmlformats.org/presentationml/2006/main">
  <p:tag name="KSO_WM_DIAGRAM_VIRTUALLY_FRAME" val="{&quot;height&quot;:213.9,&quot;left&quot;:41.5,&quot;top&quot;:133.15,&quot;width&quot;:413.45}"/>
</p:tagLst>
</file>

<file path=ppt/tags/tag20.xml><?xml version="1.0" encoding="utf-8"?>
<p:tagLst xmlns:p="http://schemas.openxmlformats.org/presentationml/2006/main">
  <p:tag name="KSO_WM_DIAGRAM_VIRTUALLY_FRAME" val="{&quot;height&quot;:213.9,&quot;left&quot;:41.5,&quot;top&quot;:133.15,&quot;width&quot;:413.45}"/>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DIAGRAM_VIRTUALLY_FRAME" val="{&quot;height&quot;:213.9,&quot;left&quot;:41.5,&quot;top&quot;:133.15,&quot;width&quot;:413.45}"/>
</p:tagLst>
</file>

<file path=ppt/tags/tag24.xml><?xml version="1.0" encoding="utf-8"?>
<p:tagLst xmlns:p="http://schemas.openxmlformats.org/presentationml/2006/main">
  <p:tag name="KSO_WM_DIAGRAM_VIRTUALLY_FRAME" val="{&quot;height&quot;:213.9,&quot;left&quot;:41.5,&quot;top&quot;:133.15,&quot;width&quot;:413.45}"/>
</p:tagLst>
</file>

<file path=ppt/tags/tag25.xml><?xml version="1.0" encoding="utf-8"?>
<p:tagLst xmlns:p="http://schemas.openxmlformats.org/presentationml/2006/main">
  <p:tag name="KSO_WM_DIAGRAM_VIRTUALLY_FRAME" val="{&quot;height&quot;:213.9,&quot;left&quot;:41.5,&quot;top&quot;:133.15,&quot;width&quot;:413.45}"/>
</p:tagLst>
</file>

<file path=ppt/tags/tag26.xml><?xml version="1.0" encoding="utf-8"?>
<p:tagLst xmlns:p="http://schemas.openxmlformats.org/presentationml/2006/main">
  <p:tag name="KSO_WM_DIAGRAM_VIRTUALLY_FRAME" val="{&quot;height&quot;:213.9,&quot;left&quot;:41.5,&quot;top&quot;:133.15,&quot;width&quot;:413.45}"/>
</p:tagLst>
</file>

<file path=ppt/tags/tag27.xml><?xml version="1.0" encoding="utf-8"?>
<p:tagLst xmlns:p="http://schemas.openxmlformats.org/presentationml/2006/main">
  <p:tag name="KSO_WM_DIAGRAM_VIRTUALLY_FRAME" val="{&quot;height&quot;:213.9,&quot;left&quot;:41.5,&quot;top&quot;:133.15,&quot;width&quot;:413.45}"/>
</p:tagLst>
</file>

<file path=ppt/tags/tag28.xml><?xml version="1.0" encoding="utf-8"?>
<p:tagLst xmlns:p="http://schemas.openxmlformats.org/presentationml/2006/main">
  <p:tag name="KSO_WM_DIAGRAM_VIRTUALLY_FRAME" val="{&quot;height&quot;:213.9,&quot;left&quot;:41.5,&quot;top&quot;:133.15,&quot;width&quot;:413.45}"/>
</p:tagLst>
</file>

<file path=ppt/tags/tag29.xml><?xml version="1.0" encoding="utf-8"?>
<p:tagLst xmlns:p="http://schemas.openxmlformats.org/presentationml/2006/main">
  <p:tag name="KSO_WM_DIAGRAM_VIRTUALLY_FRAME" val="{&quot;height&quot;:213.9,&quot;left&quot;:41.5,&quot;top&quot;:133.15,&quot;width&quot;:413.45}"/>
</p:tagLst>
</file>

<file path=ppt/tags/tag30.xml><?xml version="1.0" encoding="utf-8"?>
<p:tagLst xmlns:p="http://schemas.openxmlformats.org/presentationml/2006/main">
  <p:tag name="KSO_WM_DIAGRAM_VIRTUALLY_FRAME" val="{&quot;height&quot;:213.9,&quot;left&quot;:41.5,&quot;top&quot;:133.15,&quot;width&quot;:413.45}"/>
</p:tagLst>
</file>

<file path=ppt/tags/tag31.xml><?xml version="1.0" encoding="utf-8"?>
<p:tagLst xmlns:p="http://schemas.openxmlformats.org/presentationml/2006/main">
  <p:tag name="KSO_WM_DIAGRAM_VIRTUALLY_FRAME" val="{&quot;height&quot;:213.9,&quot;left&quot;:41.5,&quot;top&quot;:133.15,&quot;width&quot;:413.45}"/>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DIAGRAM_VIRTUALLY_FRAME" val="{&quot;height&quot;:213.9,&quot;left&quot;:41.5,&quot;top&quot;:133.15,&quot;width&quot;:413.45}"/>
</p:tagLst>
</file>

<file path=ppt/tags/tag34.xml><?xml version="1.0" encoding="utf-8"?>
<p:tagLst xmlns:p="http://schemas.openxmlformats.org/presentationml/2006/main">
  <p:tag name="KSO_WM_DIAGRAM_VIRTUALLY_FRAME" val="{&quot;height&quot;:213.9,&quot;left&quot;:41.5,&quot;top&quot;:133.15,&quot;width&quot;:413.45}"/>
</p:tagLst>
</file>

<file path=ppt/tags/tag35.xml><?xml version="1.0" encoding="utf-8"?>
<p:tagLst xmlns:p="http://schemas.openxmlformats.org/presentationml/2006/main">
  <p:tag name="KSO_WM_DIAGRAM_VIRTUALLY_FRAME" val="{&quot;height&quot;:213.9,&quot;left&quot;:41.5,&quot;top&quot;:133.15,&quot;width&quot;:413.45}"/>
</p:tagLst>
</file>

<file path=ppt/tags/tag36.xml><?xml version="1.0" encoding="utf-8"?>
<p:tagLst xmlns:p="http://schemas.openxmlformats.org/presentationml/2006/main">
  <p:tag name="KSO_WM_DIAGRAM_VIRTUALLY_FRAME" val="{&quot;height&quot;:213.9,&quot;left&quot;:41.5,&quot;top&quot;:133.15,&quot;width&quot;:413.45}"/>
</p:tagLst>
</file>

<file path=ppt/tags/tag37.xml><?xml version="1.0" encoding="utf-8"?>
<p:tagLst xmlns:p="http://schemas.openxmlformats.org/presentationml/2006/main">
  <p:tag name="KSO_WM_DIAGRAM_VIRTUALLY_FRAME" val="{&quot;height&quot;:213.9,&quot;left&quot;:41.5,&quot;top&quot;:133.15,&quot;width&quot;:413.45}"/>
</p:tagLst>
</file>

<file path=ppt/tags/tag38.xml><?xml version="1.0" encoding="utf-8"?>
<p:tagLst xmlns:p="http://schemas.openxmlformats.org/presentationml/2006/main">
  <p:tag name="KSO_WM_DIAGRAM_VIRTUALLY_FRAME" val="{&quot;height&quot;:213.9,&quot;left&quot;:41.5,&quot;top&quot;:133.15,&quot;width&quot;:413.45}"/>
</p:tagLst>
</file>

<file path=ppt/tags/tag39.xml><?xml version="1.0" encoding="utf-8"?>
<p:tagLst xmlns:p="http://schemas.openxmlformats.org/presentationml/2006/main">
  <p:tag name="KSO_WM_DIAGRAM_VIRTUALLY_FRAME" val="{&quot;height&quot;:213.9,&quot;left&quot;:41.5,&quot;top&quot;:133.15,&quot;width&quot;:413.45}"/>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DIAGRAM_VIRTUALLY_FRAME" val="{&quot;height&quot;:357.65,&quot;left&quot;:12.4,&quot;top&quot;:113.8,&quot;width&quot;:853.3}"/>
</p:tagLst>
</file>

<file path=ppt/tags/tag42.xml><?xml version="1.0" encoding="utf-8"?>
<p:tagLst xmlns:p="http://schemas.openxmlformats.org/presentationml/2006/main">
  <p:tag name="KSO_WM_DIAGRAM_VIRTUALLY_FRAME" val="{&quot;height&quot;:357.65,&quot;left&quot;:12.4,&quot;top&quot;:113.8,&quot;width&quot;:853.3}"/>
</p:tagLst>
</file>

<file path=ppt/tags/tag43.xml><?xml version="1.0" encoding="utf-8"?>
<p:tagLst xmlns:p="http://schemas.openxmlformats.org/presentationml/2006/main">
  <p:tag name="KSO_WM_DIAGRAM_VIRTUALLY_FRAME" val="{&quot;height&quot;:357.65,&quot;left&quot;:12.4,&quot;top&quot;:113.8,&quot;width&quot;:853.3}"/>
</p:tagLst>
</file>

<file path=ppt/tags/tag44.xml><?xml version="1.0" encoding="utf-8"?>
<p:tagLst xmlns:p="http://schemas.openxmlformats.org/presentationml/2006/main">
  <p:tag name="KSO_WM_DIAGRAM_VIRTUALLY_FRAME" val="{&quot;height&quot;:357.65,&quot;left&quot;:12.4,&quot;top&quot;:113.8,&quot;width&quot;:853.3}"/>
</p:tagLst>
</file>

<file path=ppt/tags/tag45.xml><?xml version="1.0" encoding="utf-8"?>
<p:tagLst xmlns:p="http://schemas.openxmlformats.org/presentationml/2006/main">
  <p:tag name="KSO_WM_DIAGRAM_VIRTUALLY_FRAME" val="{&quot;height&quot;:357.65,&quot;left&quot;:12.4,&quot;top&quot;:113.8,&quot;width&quot;:853.3}"/>
</p:tagLst>
</file>

<file path=ppt/tags/tag46.xml><?xml version="1.0" encoding="utf-8"?>
<p:tagLst xmlns:p="http://schemas.openxmlformats.org/presentationml/2006/main">
  <p:tag name="KSO_WM_DIAGRAM_VIRTUALLY_FRAME" val="{&quot;height&quot;:357.65,&quot;left&quot;:12.4,&quot;top&quot;:113.8,&quot;width&quot;:853.3}"/>
</p:tagLst>
</file>

<file path=ppt/tags/tag47.xml><?xml version="1.0" encoding="utf-8"?>
<p:tagLst xmlns:p="http://schemas.openxmlformats.org/presentationml/2006/main">
  <p:tag name="commondata" val="eyJoZGlkIjoiYmM3MzgzMTI5ZTY2NmQzODUzNDhmOWIwZWRkZTgwMj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tx1"/>
          </a:solidFill>
        </a:ln>
        <a:scene3d>
          <a:camera prst="orthographicFront"/>
          <a:lightRig rig="threePt" dir="t"/>
        </a:scene3d>
      </a:spPr>
      <a:bodyPr rtlCol="0" anchor="ctr"/>
      <a:lstStyle>
        <a:defPPr algn="ctr">
          <a:defRPr lang="zh-CN" altLang="en-US">
            <a:solidFill>
              <a:schemeClr val="tx1"/>
            </a:solidFill>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3598</Words>
  <Application>WPS 演示</Application>
  <PresentationFormat>宽屏</PresentationFormat>
  <Paragraphs>413</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宋体</vt:lpstr>
      <vt:lpstr>Wingdings</vt:lpstr>
      <vt:lpstr>微软雅黑</vt:lpstr>
      <vt:lpstr>Calibri Bold</vt:lpstr>
      <vt:lpstr>Calibri</vt:lpstr>
      <vt:lpstr>黑体</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chenzhonghong</dc:creator>
  <cp:lastModifiedBy>。</cp:lastModifiedBy>
  <cp:revision>36</cp:revision>
  <dcterms:created xsi:type="dcterms:W3CDTF">2022-03-19T11:25:00Z</dcterms:created>
  <dcterms:modified xsi:type="dcterms:W3CDTF">2024-05-16T03:49:36Z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2B137E806336474AB8A0899C685A5F85_13</vt:lpwstr>
  </property>
</Properties>
</file>