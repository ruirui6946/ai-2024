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59" r:id="rId6"/>
    <p:sldId id="296" r:id="rId7"/>
    <p:sldId id="363" r:id="rId8"/>
    <p:sldId id="297" r:id="rId9"/>
    <p:sldId id="349" r:id="rId11"/>
    <p:sldId id="362" r:id="rId12"/>
    <p:sldId id="298" r:id="rId13"/>
    <p:sldId id="378" r:id="rId14"/>
    <p:sldId id="348" r:id="rId15"/>
    <p:sldId id="350" r:id="rId16"/>
    <p:sldId id="364" r:id="rId17"/>
    <p:sldId id="276" r:id="rId18"/>
    <p:sldId id="353" r:id="rId19"/>
    <p:sldId id="376" r:id="rId20"/>
    <p:sldId id="377" r:id="rId21"/>
    <p:sldId id="261" r:id="rId22"/>
    <p:sldId id="375" r:id="rId23"/>
    <p:sldId id="283"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userDrawn="1">
          <p15:clr>
            <a:srgbClr val="A4A3A4"/>
          </p15:clr>
        </p15:guide>
        <p15:guide id="2" pos="3872" userDrawn="1">
          <p15:clr>
            <a:srgbClr val="A4A3A4"/>
          </p15:clr>
        </p15:guide>
        <p15:guide id="3" pos="7242" userDrawn="1">
          <p15:clr>
            <a:srgbClr val="A4A3A4"/>
          </p15:clr>
        </p15:guide>
        <p15:guide id="4" pos="438" userDrawn="1">
          <p15:clr>
            <a:srgbClr val="A4A3A4"/>
          </p15:clr>
        </p15:guide>
        <p15:guide id="5" orient="horz" pos="277" userDrawn="1">
          <p15:clr>
            <a:srgbClr val="A4A3A4"/>
          </p15:clr>
        </p15:guide>
        <p15:guide id="6" orient="horz" pos="39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CFD"/>
    <a:srgbClr val="00B0F0"/>
    <a:srgbClr val="D5D7D5"/>
    <a:srgbClr val="F9B359"/>
    <a:srgbClr val="3F403E"/>
    <a:srgbClr val="969F98"/>
    <a:srgbClr val="F9FAFB"/>
    <a:srgbClr val="E0DFE6"/>
    <a:srgbClr val="F4F4F4"/>
    <a:srgbClr val="F2F5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102" y="546"/>
      </p:cViewPr>
      <p:guideLst>
        <p:guide orient="horz" pos="2132"/>
        <p:guide pos="3872"/>
        <p:guide pos="7242"/>
        <p:guide pos="438"/>
        <p:guide orient="horz" pos="277"/>
        <p:guide orient="horz" pos="3974"/>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7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31EDF8-97C7-44E2-9310-9512274EED4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2D5FC9-E2F2-4B4C-95BE-5F7CE2FD139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CB8FF5E-AD09-40C0-A391-B4E5CA93E6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ECA118-6545-41D3-8C8E-CA86BFE4F9D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B8FF5E-AD09-40C0-A391-B4E5CA93E68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CA118-6545-41D3-8C8E-CA86BFE4F9D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6" Type="http://schemas.openxmlformats.org/officeDocument/2006/relationships/slideLayout" Target="../slideLayouts/slideLayout6.xml"/><Relationship Id="rId25" Type="http://schemas.openxmlformats.org/officeDocument/2006/relationships/tags" Target="../tags/tag33.xml"/><Relationship Id="rId24" Type="http://schemas.openxmlformats.org/officeDocument/2006/relationships/image" Target="../media/image2.png"/><Relationship Id="rId23" Type="http://schemas.openxmlformats.org/officeDocument/2006/relationships/tags" Target="../tags/tag32.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tags" Target="../tags/tag29.xml"/><Relationship Id="rId2" Type="http://schemas.openxmlformats.org/officeDocument/2006/relationships/tags" Target="../tags/tag11.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jpeg"/><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9.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0" Type="http://schemas.openxmlformats.org/officeDocument/2006/relationships/notesSlide" Target="../notesSlides/notesSlide2.xml"/><Relationship Id="rId2" Type="http://schemas.openxmlformats.org/officeDocument/2006/relationships/tags" Target="../tags/tag41.xml"/><Relationship Id="rId19" Type="http://schemas.openxmlformats.org/officeDocument/2006/relationships/slideLayout" Target="../slideLayouts/slideLayout6.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tags" Target="../tags/tag59.xml"/><Relationship Id="rId1" Type="http://schemas.openxmlformats.org/officeDocument/2006/relationships/tags" Target="../tags/tag5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6.xml"/><Relationship Id="rId7" Type="http://schemas.openxmlformats.org/officeDocument/2006/relationships/tags" Target="../tags/tag65.xml"/><Relationship Id="rId6" Type="http://schemas.openxmlformats.org/officeDocument/2006/relationships/image" Target="../media/image7.png"/><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A_文本框 34"/>
          <p:cNvSpPr txBox="1"/>
          <p:nvPr>
            <p:custDataLst>
              <p:tags r:id="rId1"/>
            </p:custDataLst>
          </p:nvPr>
        </p:nvSpPr>
        <p:spPr>
          <a:xfrm>
            <a:off x="416559" y="-51764"/>
            <a:ext cx="11358880" cy="3476625"/>
          </a:xfrm>
          <a:prstGeom prst="rect">
            <a:avLst/>
          </a:prstGeom>
          <a:noFill/>
        </p:spPr>
        <p:txBody>
          <a:bodyPr wrap="none" rtlCol="0">
            <a:spAutoFit/>
          </a:bodyPr>
          <a:lstStyle/>
          <a:p>
            <a:pPr algn="ctr"/>
            <a:r>
              <a:rPr lang="zh-CN" altLang="en-US" sz="22000" dirty="0">
                <a:solidFill>
                  <a:srgbClr val="00B0F0">
                    <a:alpha val="30000"/>
                  </a:srgbClr>
                </a:solidFill>
                <a:latin typeface="+mj-ea"/>
                <a:ea typeface="+mj-ea"/>
              </a:rPr>
              <a:t>精神分裂</a:t>
            </a:r>
            <a:endParaRPr lang="zh-CN" altLang="en-US" sz="22000" dirty="0">
              <a:solidFill>
                <a:srgbClr val="00B0F0">
                  <a:alpha val="30000"/>
                </a:srgbClr>
              </a:solidFill>
              <a:latin typeface="+mj-ea"/>
              <a:ea typeface="+mj-ea"/>
            </a:endParaRPr>
          </a:p>
        </p:txBody>
      </p:sp>
      <p:sp>
        <p:nvSpPr>
          <p:cNvPr id="29" name="PA_矩形 28"/>
          <p:cNvSpPr/>
          <p:nvPr>
            <p:custDataLst>
              <p:tags r:id="rId2"/>
            </p:custDataLst>
          </p:nvPr>
        </p:nvSpPr>
        <p:spPr>
          <a:xfrm>
            <a:off x="0" y="3438045"/>
            <a:ext cx="12192000" cy="342899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PA_矩形 32"/>
          <p:cNvSpPr/>
          <p:nvPr>
            <p:custDataLst>
              <p:tags r:id="rId3"/>
            </p:custDataLst>
          </p:nvPr>
        </p:nvSpPr>
        <p:spPr>
          <a:xfrm>
            <a:off x="1329368" y="1354007"/>
            <a:ext cx="9533262" cy="4149985"/>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8" name="PA_矩形 27"/>
          <p:cNvSpPr/>
          <p:nvPr>
            <p:custDataLst>
              <p:tags r:id="rId4"/>
            </p:custDataLst>
          </p:nvPr>
        </p:nvSpPr>
        <p:spPr>
          <a:xfrm>
            <a:off x="3114098" y="2396026"/>
            <a:ext cx="5963802" cy="1032974"/>
          </a:xfrm>
          <a:prstGeom prst="rect">
            <a:avLst/>
          </a:prstGeom>
          <a:noFill/>
          <a:ln w="25400">
            <a:solidFill>
              <a:srgbClr val="3F40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PA_矩形 33"/>
          <p:cNvSpPr/>
          <p:nvPr>
            <p:custDataLst>
              <p:tags r:id="rId5"/>
            </p:custDataLst>
          </p:nvPr>
        </p:nvSpPr>
        <p:spPr>
          <a:xfrm flipV="1">
            <a:off x="5034568" y="4099627"/>
            <a:ext cx="2067271" cy="1895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PA_文本框 26"/>
          <p:cNvSpPr txBox="1"/>
          <p:nvPr>
            <p:custDataLst>
              <p:tags r:id="rId6"/>
            </p:custDataLst>
          </p:nvPr>
        </p:nvSpPr>
        <p:spPr>
          <a:xfrm>
            <a:off x="4734560" y="3115748"/>
            <a:ext cx="2722880" cy="706755"/>
          </a:xfrm>
          <a:prstGeom prst="rect">
            <a:avLst/>
          </a:prstGeom>
          <a:solidFill>
            <a:srgbClr val="FCFCFD"/>
          </a:solidFill>
        </p:spPr>
        <p:txBody>
          <a:bodyPr wrap="none" rtlCol="0">
            <a:spAutoFit/>
          </a:bodyPr>
          <a:lstStyle/>
          <a:p>
            <a:pPr algn="ctr"/>
            <a:r>
              <a:rPr lang="zh-CN" altLang="en-US" sz="4000" dirty="0">
                <a:solidFill>
                  <a:srgbClr val="3F403E"/>
                </a:solidFill>
                <a:latin typeface="+mj-ea"/>
                <a:ea typeface="+mj-ea"/>
              </a:rPr>
              <a:t>精神</a:t>
            </a:r>
            <a:r>
              <a:rPr lang="zh-CN" altLang="en-US" sz="4000" dirty="0">
                <a:solidFill>
                  <a:srgbClr val="3F403E"/>
                </a:solidFill>
                <a:latin typeface="+mj-ea"/>
                <a:ea typeface="+mj-ea"/>
              </a:rPr>
              <a:t>分裂症</a:t>
            </a:r>
            <a:endParaRPr lang="zh-CN" altLang="en-US" sz="4000" dirty="0">
              <a:solidFill>
                <a:srgbClr val="3F403E"/>
              </a:solidFill>
              <a:latin typeface="+mj-ea"/>
              <a:ea typeface="+mj-ea"/>
            </a:endParaRPr>
          </a:p>
        </p:txBody>
      </p:sp>
      <p:sp>
        <p:nvSpPr>
          <p:cNvPr id="21" name="PA_文本框 20"/>
          <p:cNvSpPr txBox="1"/>
          <p:nvPr>
            <p:custDataLst>
              <p:tags r:id="rId7"/>
            </p:custDataLst>
          </p:nvPr>
        </p:nvSpPr>
        <p:spPr>
          <a:xfrm>
            <a:off x="6003633" y="1842028"/>
            <a:ext cx="184731" cy="1107996"/>
          </a:xfrm>
          <a:prstGeom prst="rect">
            <a:avLst/>
          </a:prstGeom>
          <a:solidFill>
            <a:srgbClr val="FCFCFD"/>
          </a:solidFill>
        </p:spPr>
        <p:txBody>
          <a:bodyPr wrap="none" rtlCol="0">
            <a:spAutoFit/>
          </a:bodyPr>
          <a:lstStyle/>
          <a:p>
            <a:pPr algn="ctr"/>
            <a:endParaRPr lang="zh-CN" altLang="en-US" sz="6600" dirty="0">
              <a:solidFill>
                <a:srgbClr val="F9B359"/>
              </a:solidFill>
              <a:latin typeface="+mj-ea"/>
              <a:ea typeface="+mj-ea"/>
            </a:endParaRPr>
          </a:p>
        </p:txBody>
      </p:sp>
      <p:sp>
        <p:nvSpPr>
          <p:cNvPr id="32" name="PA_文本框 31"/>
          <p:cNvSpPr txBox="1"/>
          <p:nvPr>
            <p:custDataLst>
              <p:tags r:id="rId8"/>
            </p:custDataLst>
          </p:nvPr>
        </p:nvSpPr>
        <p:spPr>
          <a:xfrm>
            <a:off x="4607792" y="4344696"/>
            <a:ext cx="2976880" cy="1014730"/>
          </a:xfrm>
          <a:prstGeom prst="rect">
            <a:avLst/>
          </a:prstGeom>
          <a:noFill/>
        </p:spPr>
        <p:txBody>
          <a:bodyPr wrap="none" rtlCol="0">
            <a:spAutoFit/>
          </a:bodyPr>
          <a:lstStyle/>
          <a:p>
            <a:pPr indent="0" algn="ctr" fontAlgn="auto">
              <a:lnSpc>
                <a:spcPct val="150000"/>
              </a:lnSpc>
            </a:pPr>
            <a:r>
              <a:rPr lang="zh-CN" altLang="en-US" sz="2000" dirty="0"/>
              <a:t>徐诗韵、林婕妤、石涵玉</a:t>
            </a:r>
            <a:endParaRPr lang="en-US" altLang="zh-CN" sz="2000" dirty="0"/>
          </a:p>
          <a:p>
            <a:pPr indent="0" algn="ctr" fontAlgn="auto">
              <a:lnSpc>
                <a:spcPct val="150000"/>
              </a:lnSpc>
            </a:pPr>
            <a:r>
              <a:rPr lang="en-US" altLang="zh-CN" sz="2000" dirty="0"/>
              <a:t>2024.4.19 </a:t>
            </a:r>
            <a:endParaRPr lang="en-US" altLang="zh-CN" sz="2000" dirty="0"/>
          </a:p>
        </p:txBody>
      </p:sp>
      <p:sp>
        <p:nvSpPr>
          <p:cNvPr id="30" name="PA_文本框 29"/>
          <p:cNvSpPr txBox="1"/>
          <p:nvPr>
            <p:custDataLst>
              <p:tags r:id="rId9"/>
            </p:custDataLst>
          </p:nvPr>
        </p:nvSpPr>
        <p:spPr>
          <a:xfrm>
            <a:off x="4501568" y="2551205"/>
            <a:ext cx="3189605" cy="521970"/>
          </a:xfrm>
          <a:prstGeom prst="rect">
            <a:avLst/>
          </a:prstGeom>
          <a:noFill/>
        </p:spPr>
        <p:txBody>
          <a:bodyPr wrap="none" rtlCol="0">
            <a:spAutoFit/>
          </a:bodyPr>
          <a:lstStyle/>
          <a:p>
            <a:pPr algn="ctr"/>
            <a:r>
              <a:rPr lang="en-US" altLang="zh-CN" sz="2800" b="1" spc="300">
                <a:solidFill>
                  <a:schemeClr val="tx1">
                    <a:lumMod val="75000"/>
                    <a:lumOff val="25000"/>
                  </a:schemeClr>
                </a:solidFill>
                <a:uFillTx/>
                <a:latin typeface="+mj-ea"/>
                <a:ea typeface="+mj-ea"/>
                <a:sym typeface="+mn-ea"/>
              </a:rPr>
              <a:t>Schizophrenia</a:t>
            </a:r>
            <a:endParaRPr lang="en-US" altLang="zh-CN" sz="2800" b="1" spc="300" dirty="0">
              <a:solidFill>
                <a:schemeClr val="tx1">
                  <a:lumMod val="75000"/>
                  <a:lumOff val="25000"/>
                </a:schemeClr>
              </a:solidFill>
              <a:uFillTx/>
              <a:latin typeface="汉仪晓波花月圆W" panose="00020600040101010101" charset="-122"/>
              <a:ea typeface="汉仪晓波花月圆W" panose="00020600040101010101"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500">
        <p15:prstTrans prst="curtains"/>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500"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2" presetClass="entr" presetSubtype="4" fill="hold" grpId="0" nodeType="withEffect">
                                  <p:stCondLst>
                                    <p:cond delay="0"/>
                                  </p:stCondLst>
                                  <p:childTnLst>
                                    <p:set>
                                      <p:cBhvr>
                                        <p:cTn id="9" dur="500"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ppt_x"/>
                                          </p:val>
                                        </p:tav>
                                        <p:tav tm="100000">
                                          <p:val>
                                            <p:strVal val="#ppt_x"/>
                                          </p:val>
                                        </p:tav>
                                      </p:tavLst>
                                    </p:anim>
                                    <p:anim calcmode="lin" valueType="num">
                                      <p:cBhvr additive="base">
                                        <p:cTn id="11" dur="500" fill="hold"/>
                                        <p:tgtEl>
                                          <p:spTgt spid="29"/>
                                        </p:tgtEl>
                                        <p:attrNameLst>
                                          <p:attrName>ppt_y</p:attrName>
                                        </p:attrNameLst>
                                      </p:cBhvr>
                                      <p:tavLst>
                                        <p:tav tm="0">
                                          <p:val>
                                            <p:strVal val="1+#ppt_h/2"/>
                                          </p:val>
                                        </p:tav>
                                        <p:tav tm="100000">
                                          <p:val>
                                            <p:strVal val="#ppt_y"/>
                                          </p:val>
                                        </p:tav>
                                      </p:tavLst>
                                    </p:anim>
                                  </p:childTnLst>
                                </p:cTn>
                              </p:par>
                              <p:par>
                                <p:cTn id="12" presetID="42" presetClass="entr" presetSubtype="0" fill="hold" grpId="0" nodeType="withEffect">
                                  <p:stCondLst>
                                    <p:cond delay="500"/>
                                  </p:stCondLst>
                                  <p:childTnLst>
                                    <p:set>
                                      <p:cBhvr>
                                        <p:cTn id="13" dur="500" fill="hold">
                                          <p:stCondLst>
                                            <p:cond delay="0"/>
                                          </p:stCondLst>
                                        </p:cTn>
                                        <p:tgtEl>
                                          <p:spTgt spid="33"/>
                                        </p:tgtEl>
                                        <p:attrNameLst>
                                          <p:attrName>style.visibility</p:attrName>
                                        </p:attrNameLst>
                                      </p:cBhvr>
                                      <p:to>
                                        <p:strVal val="visible"/>
                                      </p:to>
                                    </p:set>
                                    <p:animEffect transition="in" filter="fade">
                                      <p:cBhvr>
                                        <p:cTn id="14" dur="500"/>
                                        <p:tgtEl>
                                          <p:spTgt spid="33"/>
                                        </p:tgtEl>
                                      </p:cBhvr>
                                    </p:animEffect>
                                    <p:anim calcmode="lin" valueType="num">
                                      <p:cBhvr>
                                        <p:cTn id="15" dur="500" fill="hold"/>
                                        <p:tgtEl>
                                          <p:spTgt spid="33"/>
                                        </p:tgtEl>
                                        <p:attrNameLst>
                                          <p:attrName>ppt_x</p:attrName>
                                        </p:attrNameLst>
                                      </p:cBhvr>
                                      <p:tavLst>
                                        <p:tav tm="0">
                                          <p:val>
                                            <p:strVal val="#ppt_x"/>
                                          </p:val>
                                        </p:tav>
                                        <p:tav tm="100000">
                                          <p:val>
                                            <p:strVal val="#ppt_x"/>
                                          </p:val>
                                        </p:tav>
                                      </p:tavLst>
                                    </p:anim>
                                    <p:anim calcmode="lin" valueType="num">
                                      <p:cBhvr>
                                        <p:cTn id="16" dur="500" fill="hold"/>
                                        <p:tgtEl>
                                          <p:spTgt spid="33"/>
                                        </p:tgtEl>
                                        <p:attrNameLst>
                                          <p:attrName>ppt_y</p:attrName>
                                        </p:attrNameLst>
                                      </p:cBhvr>
                                      <p:tavLst>
                                        <p:tav tm="0">
                                          <p:val>
                                            <p:strVal val="#ppt_y+.1"/>
                                          </p:val>
                                        </p:tav>
                                        <p:tav tm="100000">
                                          <p:val>
                                            <p:strVal val="#ppt_y"/>
                                          </p:val>
                                        </p:tav>
                                      </p:tavLst>
                                    </p:anim>
                                  </p:childTnLst>
                                </p:cTn>
                              </p:par>
                              <p:par>
                                <p:cTn id="17" presetID="10" presetClass="entr" presetSubtype="0" fill="hold" grpId="0" nodeType="withEffect">
                                  <p:stCondLst>
                                    <p:cond delay="0"/>
                                  </p:stCondLst>
                                  <p:childTnLst>
                                    <p:set>
                                      <p:cBhvr>
                                        <p:cTn id="18" dur="500"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500"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6" presetClass="entr" presetSubtype="37" fill="hold" grpId="0" nodeType="withEffect">
                                  <p:stCondLst>
                                    <p:cond delay="0"/>
                                  </p:stCondLst>
                                  <p:childTnLst>
                                    <p:set>
                                      <p:cBhvr>
                                        <p:cTn id="24" dur="500" fill="hold">
                                          <p:stCondLst>
                                            <p:cond delay="0"/>
                                          </p:stCondLst>
                                        </p:cTn>
                                        <p:tgtEl>
                                          <p:spTgt spid="28"/>
                                        </p:tgtEl>
                                        <p:attrNameLst>
                                          <p:attrName>style.visibility</p:attrName>
                                        </p:attrNameLst>
                                      </p:cBhvr>
                                      <p:to>
                                        <p:strVal val="visible"/>
                                      </p:to>
                                    </p:set>
                                    <p:animEffect transition="in" filter="barn(outVertical)">
                                      <p:cBhvr>
                                        <p:cTn id="25" dur="500"/>
                                        <p:tgtEl>
                                          <p:spTgt spid="28"/>
                                        </p:tgtEl>
                                      </p:cBhvr>
                                    </p:animEffect>
                                  </p:childTnLst>
                                </p:cTn>
                              </p:par>
                              <p:par>
                                <p:cTn id="26" presetID="42" presetClass="entr" presetSubtype="0" fill="hold" grpId="0" nodeType="withEffect">
                                  <p:stCondLst>
                                    <p:cond delay="0"/>
                                  </p:stCondLst>
                                  <p:childTnLst>
                                    <p:set>
                                      <p:cBhvr>
                                        <p:cTn id="27" dur="500"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anim calcmode="lin" valueType="num">
                                      <p:cBhvr>
                                        <p:cTn id="29" dur="500" fill="hold"/>
                                        <p:tgtEl>
                                          <p:spTgt spid="30"/>
                                        </p:tgtEl>
                                        <p:attrNameLst>
                                          <p:attrName>ppt_x</p:attrName>
                                        </p:attrNameLst>
                                      </p:cBhvr>
                                      <p:tavLst>
                                        <p:tav tm="0">
                                          <p:val>
                                            <p:strVal val="#ppt_x"/>
                                          </p:val>
                                        </p:tav>
                                        <p:tav tm="100000">
                                          <p:val>
                                            <p:strVal val="#ppt_x"/>
                                          </p:val>
                                        </p:tav>
                                      </p:tavLst>
                                    </p:anim>
                                    <p:anim calcmode="lin" valueType="num">
                                      <p:cBhvr>
                                        <p:cTn id="30" dur="500" fill="hold"/>
                                        <p:tgtEl>
                                          <p:spTgt spid="30"/>
                                        </p:tgtEl>
                                        <p:attrNameLst>
                                          <p:attrName>ppt_y</p:attrName>
                                        </p:attrNameLst>
                                      </p:cBhvr>
                                      <p:tavLst>
                                        <p:tav tm="0">
                                          <p:val>
                                            <p:strVal val="#ppt_y+.1"/>
                                          </p:val>
                                        </p:tav>
                                        <p:tav tm="100000">
                                          <p:val>
                                            <p:strVal val="#ppt_y"/>
                                          </p:val>
                                        </p:tav>
                                      </p:tavLst>
                                    </p:anim>
                                  </p:childTnLst>
                                </p:cTn>
                              </p:par>
                              <p:par>
                                <p:cTn id="31" presetID="16" presetClass="entr" presetSubtype="37" fill="hold" grpId="0" nodeType="withEffect">
                                  <p:stCondLst>
                                    <p:cond delay="0"/>
                                  </p:stCondLst>
                                  <p:childTnLst>
                                    <p:set>
                                      <p:cBhvr>
                                        <p:cTn id="32" dur="500" fill="hold">
                                          <p:stCondLst>
                                            <p:cond delay="0"/>
                                          </p:stCondLst>
                                        </p:cTn>
                                        <p:tgtEl>
                                          <p:spTgt spid="34"/>
                                        </p:tgtEl>
                                        <p:attrNameLst>
                                          <p:attrName>style.visibility</p:attrName>
                                        </p:attrNameLst>
                                      </p:cBhvr>
                                      <p:to>
                                        <p:strVal val="visible"/>
                                      </p:to>
                                    </p:set>
                                    <p:animEffect transition="in" filter="barn(outVertical)">
                                      <p:cBhvr>
                                        <p:cTn id="33" dur="500"/>
                                        <p:tgtEl>
                                          <p:spTgt spid="34"/>
                                        </p:tgtEl>
                                      </p:cBhvr>
                                    </p:animEffect>
                                  </p:childTnLst>
                                </p:cTn>
                              </p:par>
                              <p:par>
                                <p:cTn id="34" presetID="10" presetClass="entr" presetSubtype="0" fill="hold" grpId="0" nodeType="withEffect">
                                  <p:stCondLst>
                                    <p:cond delay="0"/>
                                  </p:stCondLst>
                                  <p:childTnLst>
                                    <p:set>
                                      <p:cBhvr>
                                        <p:cTn id="35" dur="500"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9" grpId="0" bldLvl="0" animBg="1"/>
      <p:bldP spid="33" grpId="0" animBg="1"/>
      <p:bldP spid="28" grpId="0" animBg="1"/>
      <p:bldP spid="34" grpId="0" bldLvl="0" animBg="1"/>
      <p:bldP spid="30" grpId="0"/>
      <p:bldP spid="27" grpId="0" bldLvl="0" animBg="1"/>
      <p:bldP spid="21" grpId="0" animBg="1"/>
      <p:bldP spid="3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2324559" y="286439"/>
            <a:ext cx="6874898" cy="6285122"/>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矩形 2"/>
          <p:cNvSpPr/>
          <p:nvPr/>
        </p:nvSpPr>
        <p:spPr>
          <a:xfrm>
            <a:off x="2148113" y="549276"/>
            <a:ext cx="9348561" cy="5759450"/>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6434026" y="1191883"/>
            <a:ext cx="995680" cy="583565"/>
          </a:xfrm>
          <a:prstGeom prst="rect">
            <a:avLst/>
          </a:prstGeom>
          <a:noFill/>
        </p:spPr>
        <p:txBody>
          <a:bodyPr wrap="none" rtlCol="0">
            <a:spAutoFit/>
          </a:bodyPr>
          <a:lstStyle/>
          <a:p>
            <a:pPr algn="ctr"/>
            <a:r>
              <a:rPr lang="zh-CN" altLang="en-US" sz="3200" b="1" dirty="0">
                <a:solidFill>
                  <a:srgbClr val="3F403E"/>
                </a:solidFill>
                <a:latin typeface="+mj-ea"/>
                <a:ea typeface="+mj-ea"/>
              </a:rPr>
              <a:t>概述</a:t>
            </a:r>
            <a:endParaRPr lang="zh-CN" altLang="en-US" sz="3200" b="1" dirty="0">
              <a:solidFill>
                <a:srgbClr val="3F403E"/>
              </a:solidFill>
              <a:latin typeface="+mj-ea"/>
              <a:ea typeface="+mj-ea"/>
            </a:endParaRPr>
          </a:p>
        </p:txBody>
      </p:sp>
      <p:sp>
        <p:nvSpPr>
          <p:cNvPr id="7" name="文本框 6"/>
          <p:cNvSpPr txBox="1"/>
          <p:nvPr/>
        </p:nvSpPr>
        <p:spPr>
          <a:xfrm>
            <a:off x="4978293" y="883504"/>
            <a:ext cx="688009" cy="1200329"/>
          </a:xfrm>
          <a:prstGeom prst="rect">
            <a:avLst/>
          </a:prstGeom>
          <a:noFill/>
        </p:spPr>
        <p:txBody>
          <a:bodyPr wrap="none" rtlCol="0">
            <a:spAutoFit/>
          </a:bodyPr>
          <a:lstStyle/>
          <a:p>
            <a:pPr algn="ctr"/>
            <a:r>
              <a:rPr lang="en-US" altLang="zh-CN" sz="7200" spc="-300" dirty="0">
                <a:solidFill>
                  <a:srgbClr val="00B0F0"/>
                </a:solidFill>
                <a:latin typeface="+mj-ea"/>
                <a:ea typeface="+mj-ea"/>
              </a:rPr>
              <a:t>1</a:t>
            </a:r>
            <a:endParaRPr lang="en-US" altLang="zh-CN" sz="7200" spc="-300" dirty="0">
              <a:solidFill>
                <a:srgbClr val="00B0F0"/>
              </a:solidFill>
              <a:latin typeface="+mj-ea"/>
              <a:ea typeface="+mj-ea"/>
            </a:endParaRPr>
          </a:p>
        </p:txBody>
      </p:sp>
      <p:cxnSp>
        <p:nvCxnSpPr>
          <p:cNvPr id="9" name="直接连接符 8"/>
          <p:cNvCxnSpPr/>
          <p:nvPr/>
        </p:nvCxnSpPr>
        <p:spPr>
          <a:xfrm>
            <a:off x="5917974" y="973142"/>
            <a:ext cx="0" cy="5084758"/>
          </a:xfrm>
          <a:prstGeom prst="line">
            <a:avLst/>
          </a:prstGeom>
          <a:ln>
            <a:solidFill>
              <a:srgbClr val="969F98">
                <a:alpha val="40000"/>
              </a:srgbClr>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6434026" y="2545692"/>
            <a:ext cx="995680" cy="583565"/>
          </a:xfrm>
          <a:prstGeom prst="rect">
            <a:avLst/>
          </a:prstGeom>
          <a:noFill/>
        </p:spPr>
        <p:txBody>
          <a:bodyPr wrap="none" rtlCol="0">
            <a:spAutoFit/>
          </a:bodyPr>
          <a:lstStyle/>
          <a:p>
            <a:pPr algn="ctr"/>
            <a:r>
              <a:rPr lang="zh-CN" altLang="en-US" sz="3200" b="1" dirty="0">
                <a:solidFill>
                  <a:srgbClr val="3F403E"/>
                </a:solidFill>
                <a:latin typeface="+mj-ea"/>
                <a:ea typeface="+mj-ea"/>
              </a:rPr>
              <a:t>病因</a:t>
            </a:r>
            <a:endParaRPr lang="zh-CN" altLang="en-US" sz="3200" b="1" dirty="0">
              <a:solidFill>
                <a:srgbClr val="3F403E"/>
              </a:solidFill>
              <a:latin typeface="+mj-ea"/>
              <a:ea typeface="+mj-ea"/>
            </a:endParaRPr>
          </a:p>
        </p:txBody>
      </p:sp>
      <p:sp>
        <p:nvSpPr>
          <p:cNvPr id="21" name="文本框 20"/>
          <p:cNvSpPr txBox="1"/>
          <p:nvPr/>
        </p:nvSpPr>
        <p:spPr>
          <a:xfrm>
            <a:off x="4978293" y="2235218"/>
            <a:ext cx="688009" cy="1200329"/>
          </a:xfrm>
          <a:prstGeom prst="rect">
            <a:avLst/>
          </a:prstGeom>
          <a:noFill/>
        </p:spPr>
        <p:txBody>
          <a:bodyPr wrap="none" rtlCol="0">
            <a:spAutoFit/>
          </a:bodyPr>
          <a:lstStyle/>
          <a:p>
            <a:pPr algn="ctr"/>
            <a:r>
              <a:rPr lang="en-US" altLang="zh-CN" sz="7200" spc="-300" dirty="0">
                <a:solidFill>
                  <a:srgbClr val="00B0F0"/>
                </a:solidFill>
                <a:latin typeface="+mj-ea"/>
                <a:ea typeface="+mj-ea"/>
              </a:rPr>
              <a:t>2</a:t>
            </a:r>
            <a:endParaRPr lang="en-US" altLang="zh-CN" sz="7200" spc="-300" dirty="0">
              <a:solidFill>
                <a:srgbClr val="00B0F0"/>
              </a:solidFill>
              <a:latin typeface="+mj-ea"/>
              <a:ea typeface="+mj-ea"/>
            </a:endParaRPr>
          </a:p>
        </p:txBody>
      </p:sp>
      <p:sp>
        <p:nvSpPr>
          <p:cNvPr id="22" name="文本框 21"/>
          <p:cNvSpPr txBox="1"/>
          <p:nvPr/>
        </p:nvSpPr>
        <p:spPr>
          <a:xfrm>
            <a:off x="6433807" y="3899788"/>
            <a:ext cx="995680" cy="583565"/>
          </a:xfrm>
          <a:prstGeom prst="rect">
            <a:avLst/>
          </a:prstGeom>
          <a:noFill/>
        </p:spPr>
        <p:txBody>
          <a:bodyPr wrap="none" rtlCol="0">
            <a:spAutoFit/>
          </a:bodyPr>
          <a:lstStyle/>
          <a:p>
            <a:r>
              <a:rPr lang="zh-CN" altLang="en-US" sz="3200" b="1" dirty="0">
                <a:solidFill>
                  <a:srgbClr val="3F403E"/>
                </a:solidFill>
                <a:latin typeface="+mj-ea"/>
                <a:ea typeface="+mj-ea"/>
              </a:rPr>
              <a:t>症状</a:t>
            </a:r>
            <a:endParaRPr lang="zh-CN" altLang="en-US" sz="3200" b="1" dirty="0">
              <a:solidFill>
                <a:srgbClr val="3F403E"/>
              </a:solidFill>
              <a:latin typeface="+mj-ea"/>
              <a:ea typeface="+mj-ea"/>
            </a:endParaRPr>
          </a:p>
        </p:txBody>
      </p:sp>
      <p:sp>
        <p:nvSpPr>
          <p:cNvPr id="23" name="文本框 22"/>
          <p:cNvSpPr txBox="1"/>
          <p:nvPr/>
        </p:nvSpPr>
        <p:spPr>
          <a:xfrm>
            <a:off x="6242082" y="3994146"/>
            <a:ext cx="4505898" cy="398379"/>
          </a:xfrm>
          <a:prstGeom prst="rect">
            <a:avLst/>
          </a:prstGeom>
          <a:noFill/>
        </p:spPr>
        <p:txBody>
          <a:bodyPr wrap="square" rtlCol="0">
            <a:spAutoFit/>
          </a:bodyPr>
          <a:lstStyle/>
          <a:p>
            <a:pPr>
              <a:lnSpc>
                <a:spcPct val="120000"/>
              </a:lnSpc>
            </a:pPr>
            <a:r>
              <a:rPr lang="zh-CN" altLang="en-US" dirty="0">
                <a:solidFill>
                  <a:srgbClr val="969F98"/>
                </a:solidFill>
                <a:latin typeface="+mn-ea"/>
              </a:rPr>
              <a:t>、</a:t>
            </a:r>
            <a:endParaRPr lang="zh-CN" altLang="en-US" dirty="0">
              <a:solidFill>
                <a:srgbClr val="969F98"/>
              </a:solidFill>
              <a:latin typeface="+mn-ea"/>
            </a:endParaRPr>
          </a:p>
        </p:txBody>
      </p:sp>
      <p:sp>
        <p:nvSpPr>
          <p:cNvPr id="24" name="文本框 23"/>
          <p:cNvSpPr txBox="1"/>
          <p:nvPr/>
        </p:nvSpPr>
        <p:spPr>
          <a:xfrm>
            <a:off x="4978293" y="3586932"/>
            <a:ext cx="688009" cy="1200329"/>
          </a:xfrm>
          <a:prstGeom prst="rect">
            <a:avLst/>
          </a:prstGeom>
          <a:noFill/>
        </p:spPr>
        <p:txBody>
          <a:bodyPr wrap="none" rtlCol="0">
            <a:spAutoFit/>
          </a:bodyPr>
          <a:lstStyle/>
          <a:p>
            <a:pPr algn="ctr"/>
            <a:r>
              <a:rPr lang="en-US" altLang="zh-CN" sz="7200" spc="-300" dirty="0">
                <a:solidFill>
                  <a:srgbClr val="00B0F0"/>
                </a:solidFill>
                <a:latin typeface="+mj-ea"/>
                <a:ea typeface="+mj-ea"/>
              </a:rPr>
              <a:t>3</a:t>
            </a:r>
            <a:endParaRPr lang="en-US" altLang="zh-CN" sz="7200" spc="-300" dirty="0">
              <a:solidFill>
                <a:srgbClr val="00B0F0"/>
              </a:solidFill>
              <a:latin typeface="+mj-ea"/>
              <a:ea typeface="+mj-ea"/>
            </a:endParaRPr>
          </a:p>
        </p:txBody>
      </p:sp>
      <p:sp>
        <p:nvSpPr>
          <p:cNvPr id="25" name="文本框 24"/>
          <p:cNvSpPr txBox="1"/>
          <p:nvPr/>
        </p:nvSpPr>
        <p:spPr>
          <a:xfrm>
            <a:off x="6433922" y="5253407"/>
            <a:ext cx="995680" cy="583565"/>
          </a:xfrm>
          <a:prstGeom prst="rect">
            <a:avLst/>
          </a:prstGeom>
          <a:noFill/>
        </p:spPr>
        <p:txBody>
          <a:bodyPr wrap="none" rtlCol="0">
            <a:spAutoFit/>
          </a:bodyPr>
          <a:lstStyle/>
          <a:p>
            <a:pPr algn="ctr"/>
            <a:r>
              <a:rPr lang="zh-CN" altLang="en-US" sz="3200" b="1" dirty="0">
                <a:solidFill>
                  <a:srgbClr val="3F403E"/>
                </a:solidFill>
                <a:latin typeface="+mj-ea"/>
                <a:ea typeface="+mj-ea"/>
              </a:rPr>
              <a:t>治疗</a:t>
            </a:r>
            <a:endParaRPr lang="zh-CN" altLang="en-US" sz="3200" b="1" dirty="0">
              <a:solidFill>
                <a:srgbClr val="3F403E"/>
              </a:solidFill>
              <a:latin typeface="+mj-ea"/>
              <a:ea typeface="+mj-ea"/>
            </a:endParaRPr>
          </a:p>
        </p:txBody>
      </p:sp>
      <p:sp>
        <p:nvSpPr>
          <p:cNvPr id="27" name="文本框 26"/>
          <p:cNvSpPr txBox="1"/>
          <p:nvPr/>
        </p:nvSpPr>
        <p:spPr>
          <a:xfrm>
            <a:off x="4978293" y="4938646"/>
            <a:ext cx="688009" cy="1200329"/>
          </a:xfrm>
          <a:prstGeom prst="rect">
            <a:avLst/>
          </a:prstGeom>
          <a:noFill/>
        </p:spPr>
        <p:txBody>
          <a:bodyPr wrap="none" rtlCol="0">
            <a:spAutoFit/>
          </a:bodyPr>
          <a:lstStyle/>
          <a:p>
            <a:pPr algn="ctr"/>
            <a:r>
              <a:rPr lang="en-US" altLang="zh-CN" sz="7200" spc="-300" dirty="0">
                <a:solidFill>
                  <a:srgbClr val="00B0F0"/>
                </a:solidFill>
                <a:latin typeface="+mj-ea"/>
                <a:ea typeface="+mj-ea"/>
              </a:rPr>
              <a:t>4</a:t>
            </a:r>
            <a:endParaRPr lang="en-US" altLang="zh-CN" sz="7200" spc="-300" dirty="0">
              <a:solidFill>
                <a:srgbClr val="00B0F0"/>
              </a:solidFill>
              <a:latin typeface="+mj-ea"/>
              <a:ea typeface="+mj-ea"/>
            </a:endParaRPr>
          </a:p>
        </p:txBody>
      </p:sp>
      <p:sp>
        <p:nvSpPr>
          <p:cNvPr id="2" name="矩形 1"/>
          <p:cNvSpPr/>
          <p:nvPr/>
        </p:nvSpPr>
        <p:spPr>
          <a:xfrm>
            <a:off x="695325" y="1"/>
            <a:ext cx="3325132" cy="6858000"/>
          </a:xfrm>
          <a:prstGeom prst="rect">
            <a:avLst/>
          </a:prstGeom>
          <a:solidFill>
            <a:srgbClr val="00B0F0"/>
          </a:solidFill>
          <a:ln>
            <a:noFill/>
          </a:ln>
          <a:effectLst>
            <a:outerShdw blurRad="127000" sx="101000" sy="101000" algn="ctr" rotWithShape="0">
              <a:srgbClr val="969F9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rot="5400000">
            <a:off x="-104514" y="2881549"/>
            <a:ext cx="4924810" cy="1107996"/>
          </a:xfrm>
          <a:prstGeom prst="rect">
            <a:avLst/>
          </a:prstGeom>
          <a:noFill/>
        </p:spPr>
        <p:txBody>
          <a:bodyPr wrap="none" rtlCol="0">
            <a:spAutoFit/>
          </a:bodyPr>
          <a:lstStyle/>
          <a:p>
            <a:r>
              <a:rPr lang="en-US" altLang="zh-CN" sz="6600" b="1" dirty="0">
                <a:solidFill>
                  <a:schemeClr val="bg1"/>
                </a:solidFill>
                <a:latin typeface="+mj-ea"/>
                <a:ea typeface="+mj-ea"/>
              </a:rPr>
              <a:t>CONTENTS</a:t>
            </a:r>
            <a:endParaRPr lang="zh-CN" altLang="en-US" sz="6600" b="1" dirty="0">
              <a:solidFill>
                <a:schemeClr val="bg1"/>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50000" fill="hold" grpId="0" nodeType="withEffect">
                                  <p:stCondLst>
                                    <p:cond delay="0"/>
                                  </p:stCondLst>
                                  <p:childTnLst>
                                    <p:set>
                                      <p:cBhvr>
                                        <p:cTn id="6" dur="500"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2" presetClass="entr" presetSubtype="1" fill="hold" grpId="0" nodeType="withEffect">
                                  <p:stCondLst>
                                    <p:cond delay="500"/>
                                  </p:stCondLst>
                                  <p:childTnLst>
                                    <p:set>
                                      <p:cBhvr>
                                        <p:cTn id="10" dur="500"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par>
                                <p:cTn id="12" presetID="22" presetClass="entr" presetSubtype="8" fill="hold" grpId="0" nodeType="withEffect">
                                  <p:stCondLst>
                                    <p:cond delay="0"/>
                                  </p:stCondLst>
                                  <p:childTnLst>
                                    <p:set>
                                      <p:cBhvr>
                                        <p:cTn id="13" dur="500" fill="hold">
                                          <p:stCondLst>
                                            <p:cond delay="0"/>
                                          </p:stCondLst>
                                        </p:cTn>
                                        <p:tgtEl>
                                          <p:spTgt spid="38"/>
                                        </p:tgtEl>
                                        <p:attrNameLst>
                                          <p:attrName>style.visibility</p:attrName>
                                        </p:attrNameLst>
                                      </p:cBhvr>
                                      <p:to>
                                        <p:strVal val="visible"/>
                                      </p:to>
                                    </p:set>
                                    <p:animEffect transition="in" filter="wipe(left)">
                                      <p:cBhvr>
                                        <p:cTn id="14" dur="500"/>
                                        <p:tgtEl>
                                          <p:spTgt spid="38"/>
                                        </p:tgtEl>
                                      </p:cBhvr>
                                    </p:animEffect>
                                  </p:childTnLst>
                                </p:cTn>
                              </p:par>
                              <p:par>
                                <p:cTn id="15" presetID="10" presetClass="entr" presetSubtype="0" fill="hold" grpId="0" nodeType="withEffect">
                                  <p:stCondLst>
                                    <p:cond delay="0"/>
                                  </p:stCondLst>
                                  <p:childTnLst>
                                    <p:set>
                                      <p:cBhvr>
                                        <p:cTn id="16" dur="500"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grpId="0" nodeType="withEffect">
                                  <p:stCondLst>
                                    <p:cond delay="0"/>
                                  </p:stCondLst>
                                  <p:childTnLst>
                                    <p:set>
                                      <p:cBhvr>
                                        <p:cTn id="19" dur="500"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200"/>
                                  </p:stCondLst>
                                  <p:childTnLst>
                                    <p:set>
                                      <p:cBhvr>
                                        <p:cTn id="22" dur="500"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400"/>
                                  </p:stCondLst>
                                  <p:childTnLst>
                                    <p:set>
                                      <p:cBhvr>
                                        <p:cTn id="25" dur="500"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grpId="0" nodeType="withEffect">
                                  <p:stCondLst>
                                    <p:cond delay="600"/>
                                  </p:stCondLst>
                                  <p:childTnLst>
                                    <p:set>
                                      <p:cBhvr>
                                        <p:cTn id="28" dur="500"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par>
                                <p:cTn id="30" presetID="22" presetClass="entr" presetSubtype="1" fill="hold" nodeType="withEffect">
                                  <p:stCondLst>
                                    <p:cond delay="0"/>
                                  </p:stCondLst>
                                  <p:childTnLst>
                                    <p:set>
                                      <p:cBhvr>
                                        <p:cTn id="31" dur="500" fill="hold">
                                          <p:stCondLst>
                                            <p:cond delay="0"/>
                                          </p:stCondLst>
                                        </p:cTn>
                                        <p:tgtEl>
                                          <p:spTgt spid="9"/>
                                        </p:tgtEl>
                                        <p:attrNameLst>
                                          <p:attrName>style.visibility</p:attrName>
                                        </p:attrNameLst>
                                      </p:cBhvr>
                                      <p:to>
                                        <p:strVal val="visible"/>
                                      </p:to>
                                    </p:set>
                                    <p:animEffect transition="in" filter="wipe(up)">
                                      <p:cBhvr>
                                        <p:cTn id="32" dur="500"/>
                                        <p:tgtEl>
                                          <p:spTgt spid="9"/>
                                        </p:tgtEl>
                                      </p:cBhvr>
                                    </p:animEffect>
                                  </p:childTnLst>
                                </p:cTn>
                              </p:par>
                              <p:par>
                                <p:cTn id="33" presetID="10" presetClass="entr" presetSubtype="0" fill="hold" grpId="0" nodeType="withEffect">
                                  <p:stCondLst>
                                    <p:cond delay="0"/>
                                  </p:stCondLst>
                                  <p:childTnLst>
                                    <p:set>
                                      <p:cBhvr>
                                        <p:cTn id="34" dur="500"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par>
                                <p:cTn id="36" presetID="10" presetClass="entr" presetSubtype="0" fill="hold" grpId="0" nodeType="withEffect">
                                  <p:stCondLst>
                                    <p:cond delay="0"/>
                                  </p:stCondLst>
                                  <p:childTnLst>
                                    <p:set>
                                      <p:cBhvr>
                                        <p:cTn id="37" dur="500"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500"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22" presetClass="entr" presetSubtype="1" fill="hold" grpId="0" nodeType="withEffect">
                                  <p:stCondLst>
                                    <p:cond delay="0"/>
                                  </p:stCondLst>
                                  <p:childTnLst>
                                    <p:set>
                                      <p:cBhvr>
                                        <p:cTn id="43" dur="500" fill="hold">
                                          <p:stCondLst>
                                            <p:cond delay="0"/>
                                          </p:stCondLst>
                                        </p:cTn>
                                        <p:tgtEl>
                                          <p:spTgt spid="23"/>
                                        </p:tgtEl>
                                        <p:attrNameLst>
                                          <p:attrName>style.visibility</p:attrName>
                                        </p:attrNameLst>
                                      </p:cBhvr>
                                      <p:to>
                                        <p:strVal val="visible"/>
                                      </p:to>
                                    </p:set>
                                    <p:animEffect transition="in" filter="wipe(up)">
                                      <p:cBhvr>
                                        <p:cTn id="44" dur="500"/>
                                        <p:tgtEl>
                                          <p:spTgt spid="23"/>
                                        </p:tgtEl>
                                      </p:cBhvr>
                                    </p:animEffect>
                                  </p:childTnLst>
                                </p:cTn>
                              </p:par>
                              <p:par>
                                <p:cTn id="45" presetID="10" presetClass="entr" presetSubtype="0" fill="hold" grpId="0" nodeType="withEffect">
                                  <p:stCondLst>
                                    <p:cond delay="0"/>
                                  </p:stCondLst>
                                  <p:childTnLst>
                                    <p:set>
                                      <p:cBhvr>
                                        <p:cTn id="46" dur="500"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 grpId="0" animBg="1"/>
      <p:bldP spid="5" grpId="0"/>
      <p:bldP spid="7" grpId="0"/>
      <p:bldP spid="19" grpId="0"/>
      <p:bldP spid="21" grpId="0"/>
      <p:bldP spid="22" grpId="0"/>
      <p:bldP spid="23" grpId="0"/>
      <p:bldP spid="24" grpId="0"/>
      <p:bldP spid="25" grpId="0"/>
      <p:bldP spid="27" grpId="0"/>
      <p:bldP spid="2" grpId="0" bldLvl="0" animBg="1"/>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276903" y="1553378"/>
            <a:ext cx="9636084" cy="3751242"/>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2525485" y="955300"/>
            <a:ext cx="7141030" cy="4993807"/>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矩形: 圆角 9"/>
          <p:cNvSpPr/>
          <p:nvPr/>
        </p:nvSpPr>
        <p:spPr>
          <a:xfrm>
            <a:off x="0" y="2247071"/>
            <a:ext cx="12192000" cy="2363856"/>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5495512" y="3075106"/>
            <a:ext cx="1198880" cy="706755"/>
          </a:xfrm>
          <a:prstGeom prst="rect">
            <a:avLst/>
          </a:prstGeom>
          <a:noFill/>
        </p:spPr>
        <p:txBody>
          <a:bodyPr wrap="none" rtlCol="0">
            <a:spAutoFit/>
          </a:bodyPr>
          <a:lstStyle/>
          <a:p>
            <a:pPr algn="ctr"/>
            <a:r>
              <a:rPr lang="zh-CN" altLang="en-US" sz="4000" b="1" dirty="0">
                <a:solidFill>
                  <a:srgbClr val="FCFCFD"/>
                </a:solidFill>
                <a:latin typeface="+mj-ea"/>
                <a:ea typeface="+mj-ea"/>
              </a:rPr>
              <a:t>概述</a:t>
            </a:r>
            <a:endParaRPr lang="zh-CN" altLang="en-US" sz="4000" b="1" dirty="0">
              <a:solidFill>
                <a:srgbClr val="FCFCFD"/>
              </a:solidFill>
              <a:latin typeface="+mj-ea"/>
              <a:ea typeface="+mj-ea"/>
            </a:endParaRPr>
          </a:p>
        </p:txBody>
      </p:sp>
      <p:sp>
        <p:nvSpPr>
          <p:cNvPr id="5" name="文本框 4"/>
          <p:cNvSpPr txBox="1"/>
          <p:nvPr/>
        </p:nvSpPr>
        <p:spPr>
          <a:xfrm>
            <a:off x="4599792" y="1046742"/>
            <a:ext cx="2990306" cy="1107996"/>
          </a:xfrm>
          <a:prstGeom prst="rect">
            <a:avLst/>
          </a:prstGeom>
          <a:noFill/>
        </p:spPr>
        <p:txBody>
          <a:bodyPr wrap="none" rtlCol="0">
            <a:spAutoFit/>
          </a:bodyPr>
          <a:lstStyle/>
          <a:p>
            <a:pPr algn="ctr"/>
            <a:r>
              <a:rPr lang="en-US" altLang="zh-CN" sz="6600" dirty="0">
                <a:solidFill>
                  <a:srgbClr val="00B0F0"/>
                </a:solidFill>
                <a:latin typeface="+mj-ea"/>
                <a:ea typeface="+mj-ea"/>
              </a:rPr>
              <a:t>PART 1</a:t>
            </a:r>
            <a:endParaRPr lang="en-US" altLang="zh-CN" sz="6600" dirty="0">
              <a:solidFill>
                <a:srgbClr val="00B0F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p14:dur="500">
        <p14:doors dir="ver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500"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6" presetClass="entr" presetSubtype="37" fill="hold" grpId="0" nodeType="withEffect">
                                  <p:stCondLst>
                                    <p:cond delay="0"/>
                                  </p:stCondLst>
                                  <p:childTnLst>
                                    <p:set>
                                      <p:cBhvr>
                                        <p:cTn id="14" dur="500" fill="hold">
                                          <p:stCondLst>
                                            <p:cond delay="0"/>
                                          </p:stCondLst>
                                        </p:cTn>
                                        <p:tgtEl>
                                          <p:spTgt spid="10"/>
                                        </p:tgtEl>
                                        <p:attrNameLst>
                                          <p:attrName>style.visibility</p:attrName>
                                        </p:attrNameLst>
                                      </p:cBhvr>
                                      <p:to>
                                        <p:strVal val="visible"/>
                                      </p:to>
                                    </p:set>
                                    <p:animEffect transition="in" filter="barn(outVertical)">
                                      <p:cBhvr>
                                        <p:cTn id="15" dur="500"/>
                                        <p:tgtEl>
                                          <p:spTgt spid="10"/>
                                        </p:tgtEl>
                                      </p:cBhvr>
                                    </p:animEffect>
                                  </p:childTnLst>
                                </p:cTn>
                              </p:par>
                              <p:par>
                                <p:cTn id="16" presetID="10" presetClass="entr" presetSubtype="0" fill="hold" grpId="0" nodeType="withEffect">
                                  <p:stCondLst>
                                    <p:cond delay="600"/>
                                  </p:stCondLst>
                                  <p:childTnLst>
                                    <p:set>
                                      <p:cBhvr>
                                        <p:cTn id="17" dur="500"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21" presetClass="entr" presetSubtype="2" fill="hold" grpId="0" nodeType="withEffect">
                                  <p:stCondLst>
                                    <p:cond delay="0"/>
                                  </p:stCondLst>
                                  <p:childTnLst>
                                    <p:set>
                                      <p:cBhvr>
                                        <p:cTn id="20" dur="500" fill="hold">
                                          <p:stCondLst>
                                            <p:cond delay="0"/>
                                          </p:stCondLst>
                                        </p:cTn>
                                        <p:tgtEl>
                                          <p:spTgt spid="15"/>
                                        </p:tgtEl>
                                        <p:attrNameLst>
                                          <p:attrName>style.visibility</p:attrName>
                                        </p:attrNameLst>
                                      </p:cBhvr>
                                      <p:to>
                                        <p:strVal val="visible"/>
                                      </p:to>
                                    </p:set>
                                    <p:animEffect transition="in" filter="wheel(2)">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10" grpId="0" bldLvl="0" animBg="1"/>
      <p:bldP spid="8"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9"/>
          <p:cNvSpPr/>
          <p:nvPr/>
        </p:nvSpPr>
        <p:spPr>
          <a:xfrm>
            <a:off x="0" y="0"/>
            <a:ext cx="7488464" cy="6858000"/>
          </a:xfrm>
          <a:custGeom>
            <a:avLst/>
            <a:gdLst>
              <a:gd name="connsiteX0" fmla="*/ 0 w 7488464"/>
              <a:gd name="connsiteY0" fmla="*/ 0 h 6858000"/>
              <a:gd name="connsiteX1" fmla="*/ 1392464 w 7488464"/>
              <a:gd name="connsiteY1" fmla="*/ 0 h 6858000"/>
              <a:gd name="connsiteX2" fmla="*/ 7488464 w 7488464"/>
              <a:gd name="connsiteY2" fmla="*/ 6858000 h 6858000"/>
              <a:gd name="connsiteX3" fmla="*/ 1392464 w 7488464"/>
              <a:gd name="connsiteY3" fmla="*/ 6858000 h 6858000"/>
              <a:gd name="connsiteX4" fmla="*/ 0 w 748846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464" h="6858000">
                <a:moveTo>
                  <a:pt x="0" y="0"/>
                </a:moveTo>
                <a:lnTo>
                  <a:pt x="1392464" y="0"/>
                </a:lnTo>
                <a:lnTo>
                  <a:pt x="7488464" y="6858000"/>
                </a:lnTo>
                <a:lnTo>
                  <a:pt x="1392464" y="6858000"/>
                </a:lnTo>
                <a:lnTo>
                  <a:pt x="0" y="6858000"/>
                </a:lnTo>
                <a:close/>
              </a:path>
            </a:pathLst>
          </a:cu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0" name="矩形 39"/>
          <p:cNvSpPr/>
          <p:nvPr/>
        </p:nvSpPr>
        <p:spPr>
          <a:xfrm>
            <a:off x="1134737" y="1553379"/>
            <a:ext cx="9199457" cy="4755346"/>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9" name="文本框 38"/>
          <p:cNvSpPr txBox="1"/>
          <p:nvPr/>
        </p:nvSpPr>
        <p:spPr>
          <a:xfrm>
            <a:off x="1399140" y="5641134"/>
            <a:ext cx="5045783" cy="1106805"/>
          </a:xfrm>
          <a:prstGeom prst="rect">
            <a:avLst/>
          </a:prstGeom>
          <a:solidFill>
            <a:srgbClr val="00B0F0"/>
          </a:solidFill>
        </p:spPr>
        <p:txBody>
          <a:bodyPr wrap="square" rtlCol="0">
            <a:spAutoFit/>
          </a:bodyPr>
          <a:lstStyle/>
          <a:p>
            <a:r>
              <a:rPr lang="en-US" altLang="zh-CN" sz="6600" b="1" dirty="0">
                <a:solidFill>
                  <a:schemeClr val="bg1">
                    <a:alpha val="30000"/>
                  </a:schemeClr>
                </a:solidFill>
                <a:latin typeface="+mj-ea"/>
                <a:ea typeface="+mj-ea"/>
              </a:rPr>
              <a:t> </a:t>
            </a:r>
            <a:r>
              <a:rPr lang="zh-CN" altLang="en-US" sz="6600" b="1" dirty="0">
                <a:solidFill>
                  <a:schemeClr val="bg1">
                    <a:alpha val="30000"/>
                  </a:schemeClr>
                </a:solidFill>
                <a:latin typeface="+mj-ea"/>
                <a:ea typeface="+mj-ea"/>
              </a:rPr>
              <a:t>精神分裂</a:t>
            </a:r>
            <a:r>
              <a:rPr lang="zh-CN" altLang="en-US" sz="6600" b="1" dirty="0">
                <a:solidFill>
                  <a:schemeClr val="bg1">
                    <a:alpha val="30000"/>
                  </a:schemeClr>
                </a:solidFill>
                <a:latin typeface="+mj-ea"/>
                <a:ea typeface="+mj-ea"/>
              </a:rPr>
              <a:t>症</a:t>
            </a:r>
            <a:endParaRPr lang="zh-CN" altLang="en-US" sz="6600" b="1" dirty="0">
              <a:solidFill>
                <a:schemeClr val="bg1">
                  <a:alpha val="30000"/>
                </a:schemeClr>
              </a:solidFill>
              <a:latin typeface="+mj-ea"/>
              <a:ea typeface="+mj-ea"/>
            </a:endParaRPr>
          </a:p>
        </p:txBody>
      </p:sp>
      <p:sp>
        <p:nvSpPr>
          <p:cNvPr id="4" name="矩形 3"/>
          <p:cNvSpPr/>
          <p:nvPr/>
        </p:nvSpPr>
        <p:spPr>
          <a:xfrm>
            <a:off x="1491282" y="1141496"/>
            <a:ext cx="9209436" cy="4589156"/>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矩形 26"/>
          <p:cNvSpPr/>
          <p:nvPr/>
        </p:nvSpPr>
        <p:spPr>
          <a:xfrm>
            <a:off x="6352780" y="1141496"/>
            <a:ext cx="468629" cy="45891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836989" y="1341120"/>
            <a:ext cx="1097280" cy="645160"/>
          </a:xfrm>
          <a:prstGeom prst="rect">
            <a:avLst/>
          </a:prstGeom>
          <a:noFill/>
        </p:spPr>
        <p:txBody>
          <a:bodyPr wrap="none" rtlCol="0">
            <a:spAutoFit/>
          </a:bodyPr>
          <a:lstStyle/>
          <a:p>
            <a:r>
              <a:rPr lang="zh-CN" altLang="en-US" sz="3600" b="1" dirty="0">
                <a:solidFill>
                  <a:srgbClr val="00B0F0"/>
                </a:solidFill>
                <a:latin typeface="+mj-ea"/>
                <a:ea typeface="+mj-ea"/>
              </a:rPr>
              <a:t>定义</a:t>
            </a:r>
            <a:endParaRPr lang="zh-CN" altLang="en-US" sz="3600" b="1" dirty="0">
              <a:solidFill>
                <a:srgbClr val="00B0F0"/>
              </a:solidFill>
              <a:latin typeface="+mj-ea"/>
              <a:ea typeface="+mj-ea"/>
            </a:endParaRPr>
          </a:p>
        </p:txBody>
      </p:sp>
      <p:sp>
        <p:nvSpPr>
          <p:cNvPr id="13" name="文本框 12"/>
          <p:cNvSpPr txBox="1"/>
          <p:nvPr/>
        </p:nvSpPr>
        <p:spPr>
          <a:xfrm>
            <a:off x="1857806" y="2583582"/>
            <a:ext cx="4505898" cy="2999740"/>
          </a:xfrm>
          <a:prstGeom prst="rect">
            <a:avLst/>
          </a:prstGeom>
          <a:noFill/>
        </p:spPr>
        <p:txBody>
          <a:bodyPr wrap="square" rtlCol="0">
            <a:spAutoFit/>
          </a:bodyPr>
          <a:lstStyle/>
          <a:p>
            <a:pPr>
              <a:lnSpc>
                <a:spcPct val="150000"/>
              </a:lnSpc>
            </a:pPr>
            <a:r>
              <a:rPr lang="zh-CN" altLang="en-US" dirty="0">
                <a:latin typeface="宋体" panose="02010600030101010101" pitchFamily="2" charset="-122"/>
                <a:ea typeface="宋体" panose="02010600030101010101" pitchFamily="2" charset="-122"/>
                <a:sym typeface="+mn-ea"/>
              </a:rPr>
              <a:t>精神分裂症作为临床常见的精神类疾病，多发于中青年，病情可持续反复发作，临床表现为精神衰退、生活能力下降、性格改变等。</a:t>
            </a:r>
            <a:r>
              <a:rPr lang="zh-CN" altLang="en-US">
                <a:latin typeface="宋体" panose="02010600030101010101" pitchFamily="2" charset="-122"/>
                <a:ea typeface="宋体" panose="02010600030101010101" pitchFamily="2" charset="-122"/>
                <a:sym typeface="+mn-ea"/>
              </a:rPr>
              <a:t>精神分裂患者多伴有明显负性情绪，思维与情感容易受外界影响，不利于疾病控制。</a:t>
            </a:r>
            <a:endParaRPr lang="zh-CN" altLang="en-US">
              <a:latin typeface="宋体" panose="02010600030101010101" pitchFamily="2" charset="-122"/>
              <a:ea typeface="宋体" panose="02010600030101010101" pitchFamily="2" charset="-122"/>
              <a:sym typeface="+mn-ea"/>
            </a:endParaRPr>
          </a:p>
          <a:p>
            <a:pPr>
              <a:lnSpc>
                <a:spcPct val="150000"/>
              </a:lnSpc>
            </a:pPr>
            <a:endParaRPr lang="zh-CN" altLang="zh-CN" b="1" dirty="0"/>
          </a:p>
        </p:txBody>
      </p:sp>
      <p:cxnSp>
        <p:nvCxnSpPr>
          <p:cNvPr id="16" name="直接连接符 15"/>
          <p:cNvCxnSpPr/>
          <p:nvPr/>
        </p:nvCxnSpPr>
        <p:spPr>
          <a:xfrm flipH="1">
            <a:off x="1857806" y="2396945"/>
            <a:ext cx="4165826" cy="0"/>
          </a:xfrm>
          <a:prstGeom prst="line">
            <a:avLst/>
          </a:prstGeom>
          <a:ln>
            <a:solidFill>
              <a:srgbClr val="969F98">
                <a:alpha val="40000"/>
              </a:srgb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10334194" y="1283970"/>
            <a:ext cx="200456" cy="152400"/>
            <a:chOff x="10299021" y="1341120"/>
            <a:chExt cx="261708" cy="152400"/>
          </a:xfrm>
        </p:grpSpPr>
        <p:cxnSp>
          <p:nvCxnSpPr>
            <p:cNvPr id="35" name="直接连接符 34"/>
            <p:cNvCxnSpPr/>
            <p:nvPr/>
          </p:nvCxnSpPr>
          <p:spPr>
            <a:xfrm>
              <a:off x="10299021" y="1341120"/>
              <a:ext cx="261708" cy="0"/>
            </a:xfrm>
            <a:prstGeom prst="line">
              <a:avLst/>
            </a:prstGeom>
            <a:ln w="25400" cap="rnd">
              <a:solidFill>
                <a:srgbClr val="969F9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0299021" y="1417320"/>
              <a:ext cx="261708" cy="0"/>
            </a:xfrm>
            <a:prstGeom prst="line">
              <a:avLst/>
            </a:prstGeom>
            <a:ln w="25400" cap="rnd">
              <a:solidFill>
                <a:srgbClr val="969F9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0299021" y="1493520"/>
              <a:ext cx="261708" cy="0"/>
            </a:xfrm>
            <a:prstGeom prst="line">
              <a:avLst/>
            </a:prstGeom>
            <a:ln w="25400" cap="rnd">
              <a:solidFill>
                <a:srgbClr val="969F98"/>
              </a:solidFill>
            </a:ln>
          </p:spPr>
          <p:style>
            <a:lnRef idx="1">
              <a:schemeClr val="accent1"/>
            </a:lnRef>
            <a:fillRef idx="0">
              <a:schemeClr val="accent1"/>
            </a:fillRef>
            <a:effectRef idx="0">
              <a:schemeClr val="accent1"/>
            </a:effectRef>
            <a:fontRef idx="minor">
              <a:schemeClr val="tx1"/>
            </a:fontRef>
          </p:style>
        </p:cxnSp>
      </p:grpSp>
      <p:pic>
        <p:nvPicPr>
          <p:cNvPr id="1026" name="Picture 2" descr="https://timgsa.baidu.com/timg?image&amp;quality=80&amp;size=b9999_10000&amp;sec=1588783802940&amp;di=cd36a310775ab04c70ffb58ff202ac72&amp;imgtype=0&amp;src=http%3A%2F%2Fimg.iknow.bdimg.com%2Fzhidaoribao2014%2F2015year%2F0330%2F1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21170" y="1987550"/>
            <a:ext cx="3907790" cy="29229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500">
        <p15:prstTrans prst="pageCurlDoubl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grpId="0" nodeType="afterEffect">
                                  <p:stCondLst>
                                    <p:cond delay="0"/>
                                  </p:stCondLst>
                                  <p:childTnLst>
                                    <p:set>
                                      <p:cBhvr>
                                        <p:cTn id="6" dur="500"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500"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anim calcmode="lin" valueType="num">
                                      <p:cBhvr>
                                        <p:cTn id="17" dur="500" fill="hold"/>
                                        <p:tgtEl>
                                          <p:spTgt spid="40"/>
                                        </p:tgtEl>
                                        <p:attrNameLst>
                                          <p:attrName>ppt_x</p:attrName>
                                        </p:attrNameLst>
                                      </p:cBhvr>
                                      <p:tavLst>
                                        <p:tav tm="0">
                                          <p:val>
                                            <p:strVal val="#ppt_x"/>
                                          </p:val>
                                        </p:tav>
                                        <p:tav tm="100000">
                                          <p:val>
                                            <p:strVal val="#ppt_x"/>
                                          </p:val>
                                        </p:tav>
                                      </p:tavLst>
                                    </p:anim>
                                    <p:anim calcmode="lin" valueType="num">
                                      <p:cBhvr>
                                        <p:cTn id="18" dur="500" fill="hold"/>
                                        <p:tgtEl>
                                          <p:spTgt spid="40"/>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500"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anim calcmode="lin" valueType="num">
                                      <p:cBhvr>
                                        <p:cTn id="22" dur="500" fill="hold"/>
                                        <p:tgtEl>
                                          <p:spTgt spid="4"/>
                                        </p:tgtEl>
                                        <p:attrNameLst>
                                          <p:attrName>ppt_x</p:attrName>
                                        </p:attrNameLst>
                                      </p:cBhvr>
                                      <p:tavLst>
                                        <p:tav tm="0">
                                          <p:val>
                                            <p:strVal val="#ppt_x"/>
                                          </p:val>
                                        </p:tav>
                                        <p:tav tm="100000">
                                          <p:val>
                                            <p:strVal val="#ppt_x"/>
                                          </p:val>
                                        </p:tav>
                                      </p:tavLst>
                                    </p:anim>
                                    <p:anim calcmode="lin" valueType="num">
                                      <p:cBhvr>
                                        <p:cTn id="23" dur="500" fill="hold"/>
                                        <p:tgtEl>
                                          <p:spTgt spid="4"/>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500"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anim calcmode="lin" valueType="num">
                                      <p:cBhvr>
                                        <p:cTn id="27" dur="500" fill="hold"/>
                                        <p:tgtEl>
                                          <p:spTgt spid="38"/>
                                        </p:tgtEl>
                                        <p:attrNameLst>
                                          <p:attrName>ppt_x</p:attrName>
                                        </p:attrNameLst>
                                      </p:cBhvr>
                                      <p:tavLst>
                                        <p:tav tm="0">
                                          <p:val>
                                            <p:strVal val="#ppt_x"/>
                                          </p:val>
                                        </p:tav>
                                        <p:tav tm="100000">
                                          <p:val>
                                            <p:strVal val="#ppt_x"/>
                                          </p:val>
                                        </p:tav>
                                      </p:tavLst>
                                    </p:anim>
                                    <p:anim calcmode="lin" valueType="num">
                                      <p:cBhvr>
                                        <p:cTn id="28" dur="500" fill="hold"/>
                                        <p:tgtEl>
                                          <p:spTgt spid="38"/>
                                        </p:tgtEl>
                                        <p:attrNameLst>
                                          <p:attrName>ppt_y</p:attrName>
                                        </p:attrNameLst>
                                      </p:cBhvr>
                                      <p:tavLst>
                                        <p:tav tm="0">
                                          <p:val>
                                            <p:strVal val="#ppt_y+.1"/>
                                          </p:val>
                                        </p:tav>
                                        <p:tav tm="100000">
                                          <p:val>
                                            <p:strVal val="#ppt_y"/>
                                          </p:val>
                                        </p:tav>
                                      </p:tavLst>
                                    </p:anim>
                                  </p:childTnLst>
                                </p:cTn>
                              </p:par>
                              <p:par>
                                <p:cTn id="29" presetID="16" presetClass="entr" presetSubtype="42"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barn(outHorizontal)">
                                      <p:cBhvr>
                                        <p:cTn id="31" dur="500"/>
                                        <p:tgtEl>
                                          <p:spTgt spid="27"/>
                                        </p:tgtEl>
                                      </p:cBhvr>
                                    </p:animEffec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22" presetClass="entr" presetSubtype="8" fill="hold" nodeType="withEffect">
                                  <p:stCondLst>
                                    <p:cond delay="0"/>
                                  </p:stCondLst>
                                  <p:childTnLst>
                                    <p:set>
                                      <p:cBhvr>
                                        <p:cTn id="37" dur="500"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par>
                                <p:cTn id="39" presetID="22" presetClass="entr" presetSubtype="1" fill="hold" grpId="0" nodeType="withEffect">
                                  <p:stCondLst>
                                    <p:cond delay="0"/>
                                  </p:stCondLst>
                                  <p:childTnLst>
                                    <p:set>
                                      <p:cBhvr>
                                        <p:cTn id="40" dur="500" fill="hold">
                                          <p:stCondLst>
                                            <p:cond delay="0"/>
                                          </p:stCondLst>
                                        </p:cTn>
                                        <p:tgtEl>
                                          <p:spTgt spid="13"/>
                                        </p:tgtEl>
                                        <p:attrNameLst>
                                          <p:attrName>style.visibility</p:attrName>
                                        </p:attrNameLst>
                                      </p:cBhvr>
                                      <p:to>
                                        <p:strVal val="visible"/>
                                      </p:to>
                                    </p:set>
                                    <p:animEffect transition="in" filter="wipe(up)">
                                      <p:cBhvr>
                                        <p:cTn id="41" dur="500"/>
                                        <p:tgtEl>
                                          <p:spTgt spid="13"/>
                                        </p:tgtEl>
                                      </p:cBhvr>
                                    </p:animEffect>
                                  </p:childTnLst>
                                </p:cTn>
                              </p:par>
                              <p:par>
                                <p:cTn id="42" presetID="2" presetClass="entr" presetSubtype="2" fill="hold" nodeType="withEffect">
                                  <p:stCondLst>
                                    <p:cond delay="0"/>
                                  </p:stCondLst>
                                  <p:childTnLst>
                                    <p:set>
                                      <p:cBhvr>
                                        <p:cTn id="43" dur="1" fill="hold">
                                          <p:stCondLst>
                                            <p:cond delay="0"/>
                                          </p:stCondLst>
                                        </p:cTn>
                                        <p:tgtEl>
                                          <p:spTgt spid="1026"/>
                                        </p:tgtEl>
                                        <p:attrNameLst>
                                          <p:attrName>style.visibility</p:attrName>
                                        </p:attrNameLst>
                                      </p:cBhvr>
                                      <p:to>
                                        <p:strVal val="visible"/>
                                      </p:to>
                                    </p:set>
                                    <p:anim calcmode="lin" valueType="num">
                                      <p:cBhvr additive="base">
                                        <p:cTn id="44" dur="500" fill="hold"/>
                                        <p:tgtEl>
                                          <p:spTgt spid="1026"/>
                                        </p:tgtEl>
                                        <p:attrNameLst>
                                          <p:attrName>ppt_x</p:attrName>
                                        </p:attrNameLst>
                                      </p:cBhvr>
                                      <p:tavLst>
                                        <p:tav tm="0">
                                          <p:val>
                                            <p:strVal val="1+#ppt_w/2"/>
                                          </p:val>
                                        </p:tav>
                                        <p:tav tm="100000">
                                          <p:val>
                                            <p:strVal val="#ppt_x"/>
                                          </p:val>
                                        </p:tav>
                                      </p:tavLst>
                                    </p:anim>
                                    <p:anim calcmode="lin" valueType="num">
                                      <p:cBhvr additive="base">
                                        <p:cTn id="45"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40" grpId="0" animBg="1"/>
      <p:bldP spid="39" grpId="0" bldLvl="0" animBg="1"/>
      <p:bldP spid="4" grpId="0" animBg="1"/>
      <p:bldP spid="27" grpId="0" bldLvl="0" animBg="1"/>
      <p:bldP spid="11"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276903" y="1553378"/>
            <a:ext cx="9636084" cy="3751242"/>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2525485" y="955300"/>
            <a:ext cx="7141030" cy="4993807"/>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矩形: 圆角 9"/>
          <p:cNvSpPr/>
          <p:nvPr/>
        </p:nvSpPr>
        <p:spPr>
          <a:xfrm>
            <a:off x="0" y="2247071"/>
            <a:ext cx="12192000" cy="2363856"/>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5495505" y="2280346"/>
            <a:ext cx="1198880" cy="706755"/>
          </a:xfrm>
          <a:prstGeom prst="rect">
            <a:avLst/>
          </a:prstGeom>
          <a:noFill/>
        </p:spPr>
        <p:txBody>
          <a:bodyPr wrap="none" rtlCol="0">
            <a:spAutoFit/>
          </a:bodyPr>
          <a:lstStyle/>
          <a:p>
            <a:pPr algn="ctr"/>
            <a:r>
              <a:rPr lang="zh-CN" altLang="en-US" sz="4000" b="1" dirty="0">
                <a:solidFill>
                  <a:srgbClr val="FCFCFD"/>
                </a:solidFill>
                <a:latin typeface="+mj-ea"/>
                <a:ea typeface="+mj-ea"/>
              </a:rPr>
              <a:t>病因</a:t>
            </a:r>
            <a:endParaRPr lang="zh-CN" altLang="en-US" sz="4000" b="1" dirty="0">
              <a:solidFill>
                <a:srgbClr val="FCFCFD"/>
              </a:solidFill>
              <a:latin typeface="+mj-ea"/>
              <a:ea typeface="+mj-ea"/>
            </a:endParaRPr>
          </a:p>
        </p:txBody>
      </p:sp>
      <p:sp>
        <p:nvSpPr>
          <p:cNvPr id="9" name="文本框 8"/>
          <p:cNvSpPr txBox="1"/>
          <p:nvPr/>
        </p:nvSpPr>
        <p:spPr>
          <a:xfrm>
            <a:off x="3206602" y="3075164"/>
            <a:ext cx="5776686" cy="1014730"/>
          </a:xfrm>
          <a:prstGeom prst="rect">
            <a:avLst/>
          </a:prstGeom>
          <a:noFill/>
        </p:spPr>
        <p:txBody>
          <a:bodyPr wrap="square" rtlCol="0">
            <a:spAutoFit/>
          </a:bodyPr>
          <a:lstStyle/>
          <a:p>
            <a:r>
              <a:rPr sz="2000" dirty="0">
                <a:solidFill>
                  <a:schemeClr val="bg1"/>
                </a:solidFill>
                <a:latin typeface="宋体" panose="02010600030101010101" pitchFamily="2" charset="-122"/>
                <a:ea typeface="宋体" panose="02010600030101010101" pitchFamily="2" charset="-122"/>
              </a:rPr>
              <a:t>目前精神分裂症的发病机制和影响因素还不是十分明确。研究表明遗传、大脑结构、妊娠问题以及后天环境，共同激发了精神分裂症的发展。</a:t>
            </a:r>
            <a:endParaRPr sz="2000" dirty="0">
              <a:solidFill>
                <a:schemeClr val="bg1"/>
              </a:solidFill>
              <a:latin typeface="宋体" panose="02010600030101010101" pitchFamily="2" charset="-122"/>
              <a:ea typeface="宋体" panose="02010600030101010101" pitchFamily="2" charset="-122"/>
            </a:endParaRPr>
          </a:p>
        </p:txBody>
      </p:sp>
      <p:sp>
        <p:nvSpPr>
          <p:cNvPr id="5" name="文本框 4"/>
          <p:cNvSpPr txBox="1"/>
          <p:nvPr/>
        </p:nvSpPr>
        <p:spPr>
          <a:xfrm>
            <a:off x="4599792" y="1046742"/>
            <a:ext cx="2990306" cy="1107996"/>
          </a:xfrm>
          <a:prstGeom prst="rect">
            <a:avLst/>
          </a:prstGeom>
          <a:noFill/>
        </p:spPr>
        <p:txBody>
          <a:bodyPr wrap="none" rtlCol="0">
            <a:spAutoFit/>
          </a:bodyPr>
          <a:lstStyle/>
          <a:p>
            <a:pPr algn="ctr"/>
            <a:r>
              <a:rPr lang="en-US" altLang="zh-CN" sz="6600" dirty="0">
                <a:solidFill>
                  <a:srgbClr val="00B0F0"/>
                </a:solidFill>
                <a:latin typeface="+mj-ea"/>
                <a:ea typeface="+mj-ea"/>
              </a:rPr>
              <a:t>PART 2</a:t>
            </a:r>
            <a:endParaRPr lang="en-US" altLang="zh-CN" sz="6600" dirty="0">
              <a:solidFill>
                <a:srgbClr val="00B0F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p14:dur="500">
        <p14:doors dir="ver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500"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6" presetClass="entr" presetSubtype="37" fill="hold" grpId="0" nodeType="withEffect">
                                  <p:stCondLst>
                                    <p:cond delay="0"/>
                                  </p:stCondLst>
                                  <p:childTnLst>
                                    <p:set>
                                      <p:cBhvr>
                                        <p:cTn id="14" dur="500" fill="hold">
                                          <p:stCondLst>
                                            <p:cond delay="0"/>
                                          </p:stCondLst>
                                        </p:cTn>
                                        <p:tgtEl>
                                          <p:spTgt spid="10"/>
                                        </p:tgtEl>
                                        <p:attrNameLst>
                                          <p:attrName>style.visibility</p:attrName>
                                        </p:attrNameLst>
                                      </p:cBhvr>
                                      <p:to>
                                        <p:strVal val="visible"/>
                                      </p:to>
                                    </p:set>
                                    <p:animEffect transition="in" filter="barn(outVertical)">
                                      <p:cBhvr>
                                        <p:cTn id="15" dur="500"/>
                                        <p:tgtEl>
                                          <p:spTgt spid="10"/>
                                        </p:tgtEl>
                                      </p:cBhvr>
                                    </p:animEffect>
                                  </p:childTnLst>
                                </p:cTn>
                              </p:par>
                              <p:par>
                                <p:cTn id="16" presetID="10" presetClass="entr" presetSubtype="0" fill="hold" grpId="0" nodeType="withEffect">
                                  <p:stCondLst>
                                    <p:cond delay="600"/>
                                  </p:stCondLst>
                                  <p:childTnLst>
                                    <p:set>
                                      <p:cBhvr>
                                        <p:cTn id="17" dur="500"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21" presetClass="entr" presetSubtype="2" fill="hold" grpId="0" nodeType="withEffect">
                                  <p:stCondLst>
                                    <p:cond delay="0"/>
                                  </p:stCondLst>
                                  <p:childTnLst>
                                    <p:set>
                                      <p:cBhvr>
                                        <p:cTn id="20" dur="500" fill="hold">
                                          <p:stCondLst>
                                            <p:cond delay="0"/>
                                          </p:stCondLst>
                                        </p:cTn>
                                        <p:tgtEl>
                                          <p:spTgt spid="15"/>
                                        </p:tgtEl>
                                        <p:attrNameLst>
                                          <p:attrName>style.visibility</p:attrName>
                                        </p:attrNameLst>
                                      </p:cBhvr>
                                      <p:to>
                                        <p:strVal val="visible"/>
                                      </p:to>
                                    </p:set>
                                    <p:animEffect transition="in" filter="wheel(2)">
                                      <p:cBhvr>
                                        <p:cTn id="21" dur="500"/>
                                        <p:tgtEl>
                                          <p:spTgt spid="15"/>
                                        </p:tgtEl>
                                      </p:cBhvr>
                                    </p:animEffect>
                                  </p:childTnLst>
                                </p:cTn>
                              </p:par>
                              <p:par>
                                <p:cTn id="22" presetID="22" presetClass="entr" presetSubtype="1" fill="hold" grpId="0" nodeType="withEffect">
                                  <p:stCondLst>
                                    <p:cond delay="0"/>
                                  </p:stCondLst>
                                  <p:childTnLst>
                                    <p:set>
                                      <p:cBhvr>
                                        <p:cTn id="23" dur="500" fill="hold">
                                          <p:stCondLst>
                                            <p:cond delay="0"/>
                                          </p:stCondLst>
                                        </p:cTn>
                                        <p:tgtEl>
                                          <p:spTgt spid="9"/>
                                        </p:tgtEl>
                                        <p:attrNameLst>
                                          <p:attrName>style.visibility</p:attrName>
                                        </p:attrNameLst>
                                      </p:cBhvr>
                                      <p:to>
                                        <p:strVal val="visible"/>
                                      </p:to>
                                    </p:set>
                                    <p:animEffect transition="in" filter="wipe(up)">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10" grpId="0" bldLvl="0" animBg="1"/>
      <p:bldP spid="8" grpId="0"/>
      <p:bldP spid="9"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custDataLst>
              <p:tags r:id="rId1"/>
            </p:custDataLst>
          </p:nvPr>
        </p:nvSpPr>
        <p:spPr>
          <a:xfrm>
            <a:off x="605352" y="4267135"/>
            <a:ext cx="11122901" cy="2204596"/>
          </a:xfrm>
          <a:custGeom>
            <a:avLst/>
            <a:gdLst>
              <a:gd name="connsiteX0" fmla="*/ 4924244 w 9848488"/>
              <a:gd name="connsiteY0" fmla="*/ 0 h 2006368"/>
              <a:gd name="connsiteX1" fmla="*/ 9775437 w 9848488"/>
              <a:gd name="connsiteY1" fmla="*/ 1858432 h 2006368"/>
              <a:gd name="connsiteX2" fmla="*/ 9848488 w 9848488"/>
              <a:gd name="connsiteY2" fmla="*/ 2006368 h 2006368"/>
              <a:gd name="connsiteX3" fmla="*/ 0 w 9848488"/>
              <a:gd name="connsiteY3" fmla="*/ 2006368 h 2006368"/>
              <a:gd name="connsiteX4" fmla="*/ 73051 w 9848488"/>
              <a:gd name="connsiteY4" fmla="*/ 1858432 h 2006368"/>
              <a:gd name="connsiteX5" fmla="*/ 4924244 w 9848488"/>
              <a:gd name="connsiteY5" fmla="*/ 0 h 20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48488" h="2006368">
                <a:moveTo>
                  <a:pt x="4924244" y="0"/>
                </a:moveTo>
                <a:cubicBezTo>
                  <a:pt x="7203603" y="0"/>
                  <a:pt x="9132307" y="781751"/>
                  <a:pt x="9775437" y="1858432"/>
                </a:cubicBezTo>
                <a:lnTo>
                  <a:pt x="9848488" y="2006368"/>
                </a:lnTo>
                <a:lnTo>
                  <a:pt x="0" y="2006368"/>
                </a:lnTo>
                <a:lnTo>
                  <a:pt x="73051" y="1858432"/>
                </a:lnTo>
                <a:cubicBezTo>
                  <a:pt x="716182" y="781751"/>
                  <a:pt x="2644886" y="0"/>
                  <a:pt x="4924244" y="0"/>
                </a:cubicBezTo>
                <a:close/>
              </a:path>
            </a:pathLst>
          </a:custGeom>
          <a:noFill/>
          <a:ln w="15875">
            <a:gradFill>
              <a:gsLst>
                <a:gs pos="0">
                  <a:schemeClr val="accent5">
                    <a:lumMod val="40000"/>
                    <a:lumOff val="60000"/>
                  </a:schemeClr>
                </a:gs>
                <a:gs pos="92000">
                  <a:srgbClr val="00B0F0"/>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9"/>
          <p:cNvSpPr/>
          <p:nvPr/>
        </p:nvSpPr>
        <p:spPr>
          <a:xfrm>
            <a:off x="0" y="259715"/>
            <a:ext cx="12192000" cy="653415"/>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18" name="任意多边形: 形状 17"/>
          <p:cNvSpPr/>
          <p:nvPr>
            <p:custDataLst>
              <p:tags r:id="rId2"/>
            </p:custDataLst>
          </p:nvPr>
        </p:nvSpPr>
        <p:spPr>
          <a:xfrm>
            <a:off x="756047" y="4505149"/>
            <a:ext cx="10821513" cy="2204596"/>
          </a:xfrm>
          <a:custGeom>
            <a:avLst/>
            <a:gdLst>
              <a:gd name="connsiteX0" fmla="*/ 4924244 w 9848488"/>
              <a:gd name="connsiteY0" fmla="*/ 0 h 2006368"/>
              <a:gd name="connsiteX1" fmla="*/ 9775437 w 9848488"/>
              <a:gd name="connsiteY1" fmla="*/ 1858432 h 2006368"/>
              <a:gd name="connsiteX2" fmla="*/ 9848488 w 9848488"/>
              <a:gd name="connsiteY2" fmla="*/ 2006368 h 2006368"/>
              <a:gd name="connsiteX3" fmla="*/ 0 w 9848488"/>
              <a:gd name="connsiteY3" fmla="*/ 2006368 h 2006368"/>
              <a:gd name="connsiteX4" fmla="*/ 73051 w 9848488"/>
              <a:gd name="connsiteY4" fmla="*/ 1858432 h 2006368"/>
              <a:gd name="connsiteX5" fmla="*/ 4924244 w 9848488"/>
              <a:gd name="connsiteY5" fmla="*/ 0 h 20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48488" h="2006368">
                <a:moveTo>
                  <a:pt x="4924244" y="0"/>
                </a:moveTo>
                <a:cubicBezTo>
                  <a:pt x="7203603" y="0"/>
                  <a:pt x="9132307" y="781751"/>
                  <a:pt x="9775437" y="1858432"/>
                </a:cubicBezTo>
                <a:lnTo>
                  <a:pt x="9848488" y="2006368"/>
                </a:lnTo>
                <a:lnTo>
                  <a:pt x="0" y="2006368"/>
                </a:lnTo>
                <a:lnTo>
                  <a:pt x="73051" y="1858432"/>
                </a:lnTo>
                <a:cubicBezTo>
                  <a:pt x="716182" y="781751"/>
                  <a:pt x="2644886" y="0"/>
                  <a:pt x="4924244" y="0"/>
                </a:cubicBezTo>
                <a:close/>
              </a:path>
            </a:pathLst>
          </a:custGeom>
          <a:gradFill>
            <a:gsLst>
              <a:gs pos="66000">
                <a:srgbClr val="00B0F0"/>
              </a:gs>
              <a:gs pos="100000">
                <a:schemeClr val="accent5">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custDataLst>
              <p:tags r:id="rId3"/>
            </p:custDataLst>
          </p:nvPr>
        </p:nvSpPr>
        <p:spPr>
          <a:xfrm>
            <a:off x="1981746" y="5045862"/>
            <a:ext cx="160848" cy="160848"/>
          </a:xfrm>
          <a:prstGeom prst="ellipse">
            <a:avLst/>
          </a:prstGeom>
          <a:solidFill>
            <a:srgbClr val="FFFFFF"/>
          </a:solidFill>
          <a:ln w="3175">
            <a:solidFill>
              <a:srgbClr val="00B0F0"/>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custDataLst>
              <p:tags r:id="rId4"/>
            </p:custDataLst>
          </p:nvPr>
        </p:nvSpPr>
        <p:spPr>
          <a:xfrm>
            <a:off x="2012479" y="5076595"/>
            <a:ext cx="99381" cy="99381"/>
          </a:xfrm>
          <a:prstGeom prst="ellipse">
            <a:avLst/>
          </a:prstGeom>
          <a:gradFill>
            <a:gsLst>
              <a:gs pos="1000">
                <a:schemeClr val="accent5">
                  <a:lumMod val="75000"/>
                </a:schemeClr>
              </a:gs>
              <a:gs pos="100000">
                <a:srgbClr val="00B0F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5"/>
            </p:custDataLst>
          </p:nvPr>
        </p:nvSpPr>
        <p:spPr>
          <a:xfrm>
            <a:off x="435610" y="1734185"/>
            <a:ext cx="2471420" cy="124650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dirty="0">
                <a:solidFill>
                  <a:schemeClr val="tx1">
                    <a:lumMod val="85000"/>
                    <a:lumOff val="15000"/>
                  </a:schemeClr>
                </a:solidFill>
                <a:latin typeface="+mn-ea"/>
                <a:cs typeface="+mn-ea"/>
                <a:sym typeface="+mn-ea"/>
              </a:rPr>
              <a:t>精神分裂症患者的大脑结构有细微病理变化，神经功能有缺陷。神经递质如</a:t>
            </a:r>
            <a:r>
              <a:rPr lang="zh-CN" altLang="en-US" u="sng" dirty="0">
                <a:solidFill>
                  <a:schemeClr val="tx1">
                    <a:lumMod val="85000"/>
                    <a:lumOff val="15000"/>
                  </a:schemeClr>
                </a:solidFill>
                <a:latin typeface="+mn-ea"/>
                <a:cs typeface="+mn-ea"/>
                <a:sym typeface="+mn-ea"/>
              </a:rPr>
              <a:t>多巴胺、5-羟色胺</a:t>
            </a:r>
            <a:r>
              <a:rPr lang="zh-CN" altLang="en-US" dirty="0">
                <a:solidFill>
                  <a:schemeClr val="tx1">
                    <a:lumMod val="85000"/>
                    <a:lumOff val="15000"/>
                  </a:schemeClr>
                </a:solidFill>
                <a:latin typeface="+mn-ea"/>
                <a:cs typeface="+mn-ea"/>
                <a:sym typeface="+mn-ea"/>
              </a:rPr>
              <a:t>等的不平衡或敏感性改变可能引发疾病。</a:t>
            </a:r>
            <a:endParaRPr lang="zh-CN" altLang="en-US" dirty="0">
              <a:solidFill>
                <a:schemeClr val="tx1">
                  <a:lumMod val="85000"/>
                  <a:lumOff val="15000"/>
                </a:schemeClr>
              </a:solidFill>
              <a:latin typeface="+mn-ea"/>
              <a:cs typeface="+mn-ea"/>
              <a:sym typeface="+mn-ea"/>
            </a:endParaRPr>
          </a:p>
        </p:txBody>
      </p:sp>
      <p:sp>
        <p:nvSpPr>
          <p:cNvPr id="3" name="矩形 2"/>
          <p:cNvSpPr/>
          <p:nvPr>
            <p:custDataLst>
              <p:tags r:id="rId6"/>
            </p:custDataLst>
          </p:nvPr>
        </p:nvSpPr>
        <p:spPr>
          <a:xfrm>
            <a:off x="814070" y="1329961"/>
            <a:ext cx="1586865" cy="404495"/>
          </a:xfrm>
          <a:prstGeom prst="rect">
            <a:avLst/>
          </a:prstGeom>
          <a:noFill/>
        </p:spPr>
        <p:txBody>
          <a:bodyPr wrap="square" lIns="0" tIns="0" rIns="0" bIns="0" rtlCol="0" anchor="b">
            <a:noAutofit/>
          </a:bodyPr>
          <a:lstStyle/>
          <a:p>
            <a:pPr algn="ctr">
              <a:spcBef>
                <a:spcPct val="0"/>
              </a:spcBef>
              <a:spcAft>
                <a:spcPct val="0"/>
              </a:spcAft>
            </a:pPr>
            <a:r>
              <a:rPr lang="en-US" altLang="zh-CN" sz="2000" b="1" dirty="0">
                <a:solidFill>
                  <a:srgbClr val="00B0F0"/>
                </a:solidFill>
                <a:latin typeface="+mj-ea"/>
                <a:ea typeface="+mj-ea"/>
                <a:sym typeface="+mn-ea"/>
              </a:rPr>
              <a:t>1. </a:t>
            </a:r>
            <a:r>
              <a:rPr lang="zh-CN" altLang="en-US" sz="2000" b="1" dirty="0">
                <a:solidFill>
                  <a:srgbClr val="00B0F0"/>
                </a:solidFill>
                <a:latin typeface="+mj-ea"/>
                <a:ea typeface="+mj-ea"/>
                <a:sym typeface="+mn-ea"/>
              </a:rPr>
              <a:t>大脑结构和神经递质</a:t>
            </a:r>
            <a:endParaRPr lang="zh-CN" altLang="en-US" sz="2000" b="1" dirty="0">
              <a:solidFill>
                <a:srgbClr val="00B0F0"/>
              </a:solidFill>
              <a:latin typeface="+mj-ea"/>
              <a:ea typeface="+mj-ea"/>
              <a:cs typeface="+mn-ea"/>
              <a:sym typeface="+mn-ea"/>
            </a:endParaRPr>
          </a:p>
        </p:txBody>
      </p:sp>
      <p:cxnSp>
        <p:nvCxnSpPr>
          <p:cNvPr id="83" name="直接连接符 82"/>
          <p:cNvCxnSpPr/>
          <p:nvPr>
            <p:custDataLst>
              <p:tags r:id="rId7"/>
            </p:custDataLst>
          </p:nvPr>
        </p:nvCxnSpPr>
        <p:spPr>
          <a:xfrm flipV="1">
            <a:off x="2063603" y="4332462"/>
            <a:ext cx="0" cy="713400"/>
          </a:xfrm>
          <a:prstGeom prst="lin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
        <p:nvSpPr>
          <p:cNvPr id="94" name="椭圆 93"/>
          <p:cNvSpPr/>
          <p:nvPr>
            <p:custDataLst>
              <p:tags r:id="rId8"/>
            </p:custDataLst>
          </p:nvPr>
        </p:nvSpPr>
        <p:spPr>
          <a:xfrm>
            <a:off x="10191015" y="5045862"/>
            <a:ext cx="160848" cy="160848"/>
          </a:xfrm>
          <a:prstGeom prst="ellipse">
            <a:avLst/>
          </a:prstGeom>
          <a:solidFill>
            <a:srgbClr val="FFFFFF"/>
          </a:solidFill>
          <a:ln w="3175">
            <a:solidFill>
              <a:srgbClr val="00B0F0"/>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custDataLst>
              <p:tags r:id="rId9"/>
            </p:custDataLst>
          </p:nvPr>
        </p:nvSpPr>
        <p:spPr>
          <a:xfrm>
            <a:off x="10221748" y="5076595"/>
            <a:ext cx="99381" cy="99381"/>
          </a:xfrm>
          <a:prstGeom prst="ellipse">
            <a:avLst/>
          </a:prstGeom>
          <a:gradFill>
            <a:gsLst>
              <a:gs pos="1000">
                <a:schemeClr val="accent5">
                  <a:lumMod val="75000"/>
                </a:schemeClr>
              </a:gs>
              <a:gs pos="100000">
                <a:srgbClr val="00B0F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10"/>
            </p:custDataLst>
          </p:nvPr>
        </p:nvSpPr>
        <p:spPr>
          <a:xfrm>
            <a:off x="9288780" y="1734185"/>
            <a:ext cx="2600325" cy="197294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a:solidFill>
                  <a:schemeClr val="tx1">
                    <a:lumMod val="85000"/>
                    <a:lumOff val="15000"/>
                  </a:schemeClr>
                </a:solidFill>
                <a:latin typeface="+mn-ea"/>
                <a:cs typeface="+mn-ea"/>
                <a:sym typeface="+mn-ea"/>
              </a:rPr>
              <a:t>环境因素如丧亲、失业、离婚、虐待和药物滥用等可能加重症状或增加患病风险。某些药物如大麻、迷幻剂、安非他命等可能触发或复发精神分裂症。</a:t>
            </a:r>
            <a:endParaRPr lang="zh-CN" altLang="en-US">
              <a:solidFill>
                <a:schemeClr val="tx1">
                  <a:lumMod val="85000"/>
                  <a:lumOff val="15000"/>
                </a:schemeClr>
              </a:solidFill>
              <a:latin typeface="+mn-ea"/>
              <a:cs typeface="+mn-ea"/>
              <a:sym typeface="+mn-ea"/>
            </a:endParaRPr>
          </a:p>
        </p:txBody>
      </p:sp>
      <p:sp>
        <p:nvSpPr>
          <p:cNvPr id="17" name="标题 16"/>
          <p:cNvSpPr>
            <a:spLocks noGrp="1"/>
          </p:cNvSpPr>
          <p:nvPr>
            <p:ph type="title"/>
            <p:custDataLst>
              <p:tags r:id="rId11"/>
            </p:custDataLst>
          </p:nvPr>
        </p:nvSpPr>
        <p:spPr>
          <a:xfrm>
            <a:off x="172155" y="259975"/>
            <a:ext cx="10969200" cy="705600"/>
          </a:xfrm>
          <a:effectLst>
            <a:outerShdw blurRad="50800" dist="38100" dir="2700000" algn="tl" rotWithShape="0">
              <a:prstClr val="black">
                <a:alpha val="40000"/>
              </a:prstClr>
            </a:outerShdw>
          </a:effectLst>
        </p:spPr>
        <p:txBody>
          <a:bodyPr>
            <a:noAutofit/>
          </a:bodyPr>
          <a:lstStyle/>
          <a:p>
            <a:r>
              <a:rPr lang="zh-CN" altLang="en-US" sz="3600">
                <a:solidFill>
                  <a:schemeClr val="bg1"/>
                </a:solidFill>
                <a:latin typeface="+mj-ea"/>
                <a:ea typeface="+mj-ea"/>
              </a:rPr>
              <a:t>病因</a:t>
            </a:r>
            <a:endParaRPr lang="zh-CN" altLang="en-US" sz="3600">
              <a:solidFill>
                <a:schemeClr val="bg1"/>
              </a:solidFill>
              <a:latin typeface="+mj-ea"/>
              <a:ea typeface="+mj-ea"/>
            </a:endParaRPr>
          </a:p>
        </p:txBody>
      </p:sp>
      <p:sp>
        <p:nvSpPr>
          <p:cNvPr id="9" name="矩形 8"/>
          <p:cNvSpPr/>
          <p:nvPr>
            <p:custDataLst>
              <p:tags r:id="rId12"/>
            </p:custDataLst>
          </p:nvPr>
        </p:nvSpPr>
        <p:spPr>
          <a:xfrm>
            <a:off x="9659942" y="1133746"/>
            <a:ext cx="1535412" cy="404688"/>
          </a:xfrm>
          <a:prstGeom prst="rect">
            <a:avLst/>
          </a:prstGeom>
          <a:noFill/>
        </p:spPr>
        <p:txBody>
          <a:bodyPr wrap="square" lIns="0" tIns="0" rIns="0" bIns="0" rtlCol="0" anchor="b">
            <a:noAutofit/>
          </a:bodyPr>
          <a:lstStyle/>
          <a:p>
            <a:pPr algn="l"/>
            <a:r>
              <a:rPr lang="en-US" altLang="zh-CN" sz="2000" b="1" dirty="0">
                <a:solidFill>
                  <a:srgbClr val="00B0F0"/>
                </a:solidFill>
                <a:latin typeface="+mj-ea"/>
                <a:ea typeface="+mj-ea"/>
                <a:sym typeface="+mn-ea"/>
              </a:rPr>
              <a:t>4. </a:t>
            </a:r>
            <a:r>
              <a:rPr lang="zh-CN" altLang="en-US" sz="2000" b="1" dirty="0">
                <a:solidFill>
                  <a:srgbClr val="00B0F0"/>
                </a:solidFill>
                <a:latin typeface="+mj-ea"/>
                <a:ea typeface="+mj-ea"/>
                <a:sym typeface="+mn-ea"/>
              </a:rPr>
              <a:t>环境因素</a:t>
            </a:r>
            <a:endParaRPr lang="zh-CN" altLang="en-US" sz="2000" b="1" dirty="0">
              <a:solidFill>
                <a:srgbClr val="00B0F0"/>
              </a:solidFill>
              <a:latin typeface="+mj-ea"/>
              <a:ea typeface="+mj-ea"/>
              <a:cs typeface="+mn-ea"/>
              <a:sym typeface="+mn-ea"/>
            </a:endParaRPr>
          </a:p>
        </p:txBody>
      </p:sp>
      <p:cxnSp>
        <p:nvCxnSpPr>
          <p:cNvPr id="91" name="直接连接符 90"/>
          <p:cNvCxnSpPr/>
          <p:nvPr>
            <p:custDataLst>
              <p:tags r:id="rId13"/>
            </p:custDataLst>
          </p:nvPr>
        </p:nvCxnSpPr>
        <p:spPr>
          <a:xfrm flipV="1">
            <a:off x="10272872" y="4332462"/>
            <a:ext cx="0" cy="713400"/>
          </a:xfrm>
          <a:prstGeom prst="lin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cxnSp>
      <p:sp>
        <p:nvSpPr>
          <p:cNvPr id="103" name="椭圆 102"/>
          <p:cNvSpPr/>
          <p:nvPr>
            <p:custDataLst>
              <p:tags r:id="rId14"/>
            </p:custDataLst>
          </p:nvPr>
        </p:nvSpPr>
        <p:spPr>
          <a:xfrm>
            <a:off x="4718168" y="4255217"/>
            <a:ext cx="160848" cy="160848"/>
          </a:xfrm>
          <a:prstGeom prst="ellipse">
            <a:avLst/>
          </a:prstGeom>
          <a:solidFill>
            <a:srgbClr val="FFFFFF"/>
          </a:solidFill>
          <a:ln w="3175">
            <a:solidFill>
              <a:srgbClr val="00B0F0"/>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custDataLst>
              <p:tags r:id="rId15"/>
            </p:custDataLst>
          </p:nvPr>
        </p:nvSpPr>
        <p:spPr>
          <a:xfrm>
            <a:off x="4748902" y="4285951"/>
            <a:ext cx="99381" cy="99381"/>
          </a:xfrm>
          <a:prstGeom prst="ellipse">
            <a:avLst/>
          </a:prstGeom>
          <a:gradFill>
            <a:gsLst>
              <a:gs pos="1000">
                <a:schemeClr val="accent6">
                  <a:lumMod val="50000"/>
                </a:schemeClr>
              </a:gs>
              <a:gs pos="100000">
                <a:srgbClr val="00B0F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custDataLst>
              <p:tags r:id="rId16"/>
            </p:custDataLst>
          </p:nvPr>
        </p:nvSpPr>
        <p:spPr>
          <a:xfrm>
            <a:off x="3204210" y="1734185"/>
            <a:ext cx="2841625" cy="175069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a:solidFill>
                  <a:schemeClr val="tx1">
                    <a:lumMod val="85000"/>
                    <a:lumOff val="15000"/>
                  </a:schemeClr>
                </a:solidFill>
                <a:latin typeface="+mn-ea"/>
                <a:cs typeface="+mn-ea"/>
                <a:sym typeface="+mn-ea"/>
              </a:rPr>
              <a:t>遗传因素增加精神分裂症的发病风险，但具体遗传模式尚不清楚。拥有问题基因并不等于一定患病。</a:t>
            </a:r>
            <a:endParaRPr lang="zh-CN" altLang="en-US">
              <a:solidFill>
                <a:schemeClr val="tx1">
                  <a:lumMod val="85000"/>
                  <a:lumOff val="15000"/>
                </a:schemeClr>
              </a:solidFill>
              <a:latin typeface="+mn-ea"/>
              <a:cs typeface="+mn-ea"/>
              <a:sym typeface="+mn-ea"/>
            </a:endParaRPr>
          </a:p>
        </p:txBody>
      </p:sp>
      <p:sp>
        <p:nvSpPr>
          <p:cNvPr id="23" name="矩形 22"/>
          <p:cNvSpPr/>
          <p:nvPr>
            <p:custDataLst>
              <p:tags r:id="rId17"/>
            </p:custDataLst>
          </p:nvPr>
        </p:nvSpPr>
        <p:spPr>
          <a:xfrm>
            <a:off x="3745136" y="1133746"/>
            <a:ext cx="1535412" cy="404688"/>
          </a:xfrm>
          <a:prstGeom prst="rect">
            <a:avLst/>
          </a:prstGeom>
          <a:noFill/>
        </p:spPr>
        <p:txBody>
          <a:bodyPr wrap="square" lIns="0" tIns="0" rIns="0" bIns="0" rtlCol="0" anchor="b">
            <a:noAutofit/>
          </a:bodyPr>
          <a:lstStyle/>
          <a:p>
            <a:pPr algn="ctr"/>
            <a:r>
              <a:rPr lang="en-US" altLang="zh-CN" sz="2000" b="1" dirty="0">
                <a:solidFill>
                  <a:srgbClr val="00B0F0"/>
                </a:solidFill>
                <a:latin typeface="+mj-ea"/>
                <a:ea typeface="+mj-ea"/>
                <a:sym typeface="+mn-ea"/>
              </a:rPr>
              <a:t>2. </a:t>
            </a:r>
            <a:r>
              <a:rPr lang="zh-CN" altLang="en-US" sz="2000" b="1" dirty="0">
                <a:solidFill>
                  <a:srgbClr val="00B0F0"/>
                </a:solidFill>
                <a:latin typeface="+mj-ea"/>
                <a:ea typeface="+mj-ea"/>
                <a:sym typeface="+mn-ea"/>
              </a:rPr>
              <a:t>遗传因素</a:t>
            </a:r>
            <a:endParaRPr lang="zh-CN" altLang="en-US" sz="2000" b="1" dirty="0">
              <a:solidFill>
                <a:srgbClr val="00B0F0"/>
              </a:solidFill>
              <a:latin typeface="+mj-ea"/>
              <a:ea typeface="+mj-ea"/>
              <a:cs typeface="+mn-ea"/>
              <a:sym typeface="+mn-ea"/>
            </a:endParaRPr>
          </a:p>
        </p:txBody>
      </p:sp>
      <p:cxnSp>
        <p:nvCxnSpPr>
          <p:cNvPr id="100" name="直接连接符 99"/>
          <p:cNvCxnSpPr/>
          <p:nvPr>
            <p:custDataLst>
              <p:tags r:id="rId18"/>
            </p:custDataLst>
          </p:nvPr>
        </p:nvCxnSpPr>
        <p:spPr>
          <a:xfrm flipV="1">
            <a:off x="4800026" y="3541817"/>
            <a:ext cx="0" cy="713400"/>
          </a:xfrm>
          <a:prstGeom prst="lin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cxnSp>
      <p:sp>
        <p:nvSpPr>
          <p:cNvPr id="111" name="椭圆 110"/>
          <p:cNvSpPr/>
          <p:nvPr>
            <p:custDataLst>
              <p:tags r:id="rId19"/>
            </p:custDataLst>
          </p:nvPr>
        </p:nvSpPr>
        <p:spPr>
          <a:xfrm>
            <a:off x="7454591" y="4255217"/>
            <a:ext cx="160848" cy="160848"/>
          </a:xfrm>
          <a:prstGeom prst="ellipse">
            <a:avLst/>
          </a:prstGeom>
          <a:solidFill>
            <a:srgbClr val="FFFFFF"/>
          </a:solidFill>
          <a:ln w="3175">
            <a:solidFill>
              <a:srgbClr val="00B0F0"/>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custDataLst>
              <p:tags r:id="rId20"/>
            </p:custDataLst>
          </p:nvPr>
        </p:nvSpPr>
        <p:spPr>
          <a:xfrm>
            <a:off x="7485325" y="4285951"/>
            <a:ext cx="99381" cy="99381"/>
          </a:xfrm>
          <a:prstGeom prst="ellipse">
            <a:avLst/>
          </a:prstGeom>
          <a:gradFill>
            <a:gsLst>
              <a:gs pos="98000">
                <a:srgbClr val="00B0F0"/>
              </a:gs>
              <a:gs pos="1000">
                <a:schemeClr val="accent5">
                  <a:lumMod val="75000"/>
                </a:schemeClr>
              </a:gs>
              <a:gs pos="100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custDataLst>
              <p:tags r:id="rId21"/>
            </p:custDataLst>
          </p:nvPr>
        </p:nvSpPr>
        <p:spPr>
          <a:xfrm>
            <a:off x="6261100" y="1672590"/>
            <a:ext cx="2813050" cy="1358900"/>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a:solidFill>
                  <a:schemeClr val="tx1">
                    <a:lumMod val="85000"/>
                    <a:lumOff val="15000"/>
                  </a:schemeClr>
                </a:solidFill>
                <a:latin typeface="+mn-ea"/>
                <a:cs typeface="+mn-ea"/>
                <a:sym typeface="+mn-ea"/>
              </a:rPr>
              <a:t>低出生体重、早产、出生时缺氧、母亲孕期感染、父亲年龄过大等因素可能影响大脑发育，增加患精神分裂症的风险。</a:t>
            </a:r>
            <a:endParaRPr lang="zh-CN" altLang="en-US">
              <a:solidFill>
                <a:schemeClr val="tx1">
                  <a:lumMod val="85000"/>
                  <a:lumOff val="15000"/>
                </a:schemeClr>
              </a:solidFill>
              <a:latin typeface="+mn-ea"/>
              <a:cs typeface="+mn-ea"/>
              <a:sym typeface="+mn-ea"/>
            </a:endParaRPr>
          </a:p>
        </p:txBody>
      </p:sp>
      <p:sp>
        <p:nvSpPr>
          <p:cNvPr id="25" name="矩形 24"/>
          <p:cNvSpPr/>
          <p:nvPr>
            <p:custDataLst>
              <p:tags r:id="rId22"/>
            </p:custDataLst>
          </p:nvPr>
        </p:nvSpPr>
        <p:spPr>
          <a:xfrm>
            <a:off x="6432233" y="1134110"/>
            <a:ext cx="2207895" cy="404495"/>
          </a:xfrm>
          <a:prstGeom prst="rect">
            <a:avLst/>
          </a:prstGeom>
          <a:noFill/>
        </p:spPr>
        <p:txBody>
          <a:bodyPr wrap="square" lIns="0" tIns="0" rIns="0" bIns="0" rtlCol="0" anchor="b">
            <a:noAutofit/>
          </a:bodyPr>
          <a:lstStyle/>
          <a:p>
            <a:pPr algn="r"/>
            <a:r>
              <a:rPr lang="en-US" altLang="zh-CN" sz="2000" b="1" dirty="0">
                <a:solidFill>
                  <a:srgbClr val="00B0F0"/>
                </a:solidFill>
                <a:latin typeface="+mj-ea"/>
                <a:ea typeface="+mj-ea"/>
                <a:sym typeface="+mn-ea"/>
              </a:rPr>
              <a:t>3. </a:t>
            </a:r>
            <a:r>
              <a:rPr lang="zh-CN" altLang="en-US" sz="2000" b="1" dirty="0">
                <a:solidFill>
                  <a:srgbClr val="00B0F0"/>
                </a:solidFill>
                <a:latin typeface="+mj-ea"/>
                <a:ea typeface="+mj-ea"/>
                <a:sym typeface="+mn-ea"/>
              </a:rPr>
              <a:t>妊娠和分娩问题</a:t>
            </a:r>
            <a:endParaRPr lang="zh-CN" altLang="en-US" sz="2000" b="1" dirty="0">
              <a:solidFill>
                <a:srgbClr val="00B0F0"/>
              </a:solidFill>
              <a:latin typeface="+mj-ea"/>
              <a:ea typeface="+mj-ea"/>
              <a:cs typeface="+mn-ea"/>
              <a:sym typeface="+mn-ea"/>
            </a:endParaRPr>
          </a:p>
        </p:txBody>
      </p:sp>
      <p:cxnSp>
        <p:nvCxnSpPr>
          <p:cNvPr id="108" name="直接连接符 107"/>
          <p:cNvCxnSpPr/>
          <p:nvPr>
            <p:custDataLst>
              <p:tags r:id="rId23"/>
            </p:custDataLst>
          </p:nvPr>
        </p:nvCxnSpPr>
        <p:spPr>
          <a:xfrm flipV="1">
            <a:off x="7536448" y="3541817"/>
            <a:ext cx="0" cy="713400"/>
          </a:xfrm>
          <a:prstGeom prst="lin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cxnSp>
      <p:pic>
        <p:nvPicPr>
          <p:cNvPr id="4098" name="Picture 2" descr="https://timgsa.baidu.com/timg?image&amp;quality=80&amp;size=b9999_10000&amp;sec=1588851739933&amp;di=ee661a3c64db2d75d27fe0dfa0b9526c&amp;imgtype=0&amp;src=http%3A%2F%2Fimg.univs.cn%2F20150920%2F2%2F20150920100824920373233.jpg"/>
          <p:cNvPicPr>
            <a:picLocks noChangeAspect="1" noChangeArrowheads="1"/>
          </p:cNvPicPr>
          <p:nvPr/>
        </p:nvPicPr>
        <p:blipFill>
          <a:blip r:embed="rId24"/>
          <a:srcRect/>
          <a:stretch>
            <a:fillRect/>
          </a:stretch>
        </p:blipFill>
        <p:spPr bwMode="auto">
          <a:xfrm>
            <a:off x="4749165" y="4618355"/>
            <a:ext cx="2654935" cy="18954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276903" y="1553378"/>
            <a:ext cx="9636084" cy="3751242"/>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2525485" y="955300"/>
            <a:ext cx="7141030" cy="4993807"/>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矩形: 圆角 9"/>
          <p:cNvSpPr/>
          <p:nvPr/>
        </p:nvSpPr>
        <p:spPr>
          <a:xfrm>
            <a:off x="-1496" y="2399137"/>
            <a:ext cx="12192000" cy="2363856"/>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5617425" y="2594453"/>
            <a:ext cx="1198880" cy="706755"/>
          </a:xfrm>
          <a:prstGeom prst="rect">
            <a:avLst/>
          </a:prstGeom>
          <a:noFill/>
        </p:spPr>
        <p:txBody>
          <a:bodyPr wrap="none" rtlCol="0">
            <a:spAutoFit/>
          </a:bodyPr>
          <a:lstStyle/>
          <a:p>
            <a:pPr algn="ctr"/>
            <a:r>
              <a:rPr lang="zh-CN" altLang="en-US" sz="4000" b="1" dirty="0">
                <a:solidFill>
                  <a:srgbClr val="FCFCFD"/>
                </a:solidFill>
                <a:latin typeface="+mj-ea"/>
                <a:ea typeface="+mj-ea"/>
              </a:rPr>
              <a:t>症状</a:t>
            </a:r>
            <a:endParaRPr lang="zh-CN" altLang="en-US" sz="4000" b="1" dirty="0">
              <a:solidFill>
                <a:srgbClr val="FCFCFD"/>
              </a:solidFill>
              <a:latin typeface="+mj-ea"/>
              <a:ea typeface="+mj-ea"/>
            </a:endParaRPr>
          </a:p>
        </p:txBody>
      </p:sp>
      <p:sp>
        <p:nvSpPr>
          <p:cNvPr id="9" name="文本框 8"/>
          <p:cNvSpPr txBox="1"/>
          <p:nvPr/>
        </p:nvSpPr>
        <p:spPr>
          <a:xfrm>
            <a:off x="2595717" y="3301662"/>
            <a:ext cx="7241458" cy="1198880"/>
          </a:xfrm>
          <a:prstGeom prst="rect">
            <a:avLst/>
          </a:prstGeom>
          <a:noFill/>
        </p:spPr>
        <p:txBody>
          <a:bodyPr wrap="square" rtlCol="0">
            <a:spAutoFit/>
          </a:bodyPr>
          <a:lstStyle/>
          <a:p>
            <a:pPr algn="ctr"/>
            <a:r>
              <a:rPr lang="en-US" altLang="zh-CN" dirty="0">
                <a:solidFill>
                  <a:schemeClr val="bg2">
                    <a:lumMod val="25000"/>
                  </a:schemeClr>
                </a:solidFill>
                <a:latin typeface="+mn-ea"/>
              </a:rPr>
              <a:t>1.</a:t>
            </a:r>
            <a:r>
              <a:rPr lang="zh-CN" altLang="en-US" dirty="0">
                <a:solidFill>
                  <a:schemeClr val="bg2">
                    <a:lumMod val="25000"/>
                  </a:schemeClr>
                </a:solidFill>
                <a:latin typeface="+mn-ea"/>
              </a:rPr>
              <a:t>早期</a:t>
            </a:r>
            <a:r>
              <a:rPr lang="zh-CN" altLang="en-US" dirty="0">
                <a:solidFill>
                  <a:schemeClr val="bg2">
                    <a:lumMod val="25000"/>
                  </a:schemeClr>
                </a:solidFill>
                <a:latin typeface="+mn-ea"/>
              </a:rPr>
              <a:t>征兆</a:t>
            </a:r>
            <a:endParaRPr lang="zh-CN" altLang="en-US" dirty="0">
              <a:solidFill>
                <a:schemeClr val="bg2">
                  <a:lumMod val="25000"/>
                </a:schemeClr>
              </a:solidFill>
              <a:latin typeface="+mn-ea"/>
            </a:endParaRPr>
          </a:p>
          <a:p>
            <a:pPr algn="ctr"/>
            <a:r>
              <a:rPr lang="zh-CN" altLang="en-US" dirty="0">
                <a:solidFill>
                  <a:srgbClr val="FCFCFD"/>
                </a:solidFill>
                <a:latin typeface="+mn-ea"/>
              </a:rPr>
              <a:t>社交退缩、反应缓慢，或睡眠模式改变等</a:t>
            </a:r>
            <a:endParaRPr lang="zh-CN" altLang="en-US" dirty="0">
              <a:solidFill>
                <a:srgbClr val="FCFCFD"/>
              </a:solidFill>
              <a:latin typeface="+mn-ea"/>
            </a:endParaRPr>
          </a:p>
          <a:p>
            <a:pPr algn="ctr"/>
            <a:r>
              <a:rPr lang="en-US" altLang="zh-CN" dirty="0">
                <a:solidFill>
                  <a:schemeClr val="bg2">
                    <a:lumMod val="25000"/>
                  </a:schemeClr>
                </a:solidFill>
                <a:latin typeface="+mn-ea"/>
              </a:rPr>
              <a:t>2.</a:t>
            </a:r>
            <a:r>
              <a:rPr lang="zh-CN" altLang="en-US" dirty="0">
                <a:solidFill>
                  <a:schemeClr val="bg2">
                    <a:lumMod val="25000"/>
                  </a:schemeClr>
                </a:solidFill>
                <a:latin typeface="+mn-ea"/>
              </a:rPr>
              <a:t>明显症状</a:t>
            </a:r>
            <a:endParaRPr lang="zh-CN" altLang="en-US" dirty="0">
              <a:solidFill>
                <a:schemeClr val="bg2">
                  <a:lumMod val="25000"/>
                </a:schemeClr>
              </a:solidFill>
              <a:latin typeface="+mn-ea"/>
            </a:endParaRPr>
          </a:p>
          <a:p>
            <a:pPr algn="ctr"/>
            <a:r>
              <a:rPr lang="zh-CN" altLang="en-US" dirty="0">
                <a:solidFill>
                  <a:srgbClr val="FCFCFD"/>
                </a:solidFill>
                <a:latin typeface="+mn-ea"/>
              </a:rPr>
              <a:t>精神症状特别严重</a:t>
            </a:r>
            <a:endParaRPr lang="zh-CN" altLang="en-US" dirty="0">
              <a:solidFill>
                <a:srgbClr val="FCFCFD"/>
              </a:solidFill>
              <a:latin typeface="+mn-ea"/>
            </a:endParaRPr>
          </a:p>
        </p:txBody>
      </p:sp>
      <p:sp>
        <p:nvSpPr>
          <p:cNvPr id="5" name="文本框 4"/>
          <p:cNvSpPr txBox="1"/>
          <p:nvPr/>
        </p:nvSpPr>
        <p:spPr>
          <a:xfrm>
            <a:off x="4599792" y="1046742"/>
            <a:ext cx="2990306" cy="1107996"/>
          </a:xfrm>
          <a:prstGeom prst="rect">
            <a:avLst/>
          </a:prstGeom>
          <a:noFill/>
        </p:spPr>
        <p:txBody>
          <a:bodyPr wrap="none" rtlCol="0">
            <a:spAutoFit/>
          </a:bodyPr>
          <a:lstStyle/>
          <a:p>
            <a:pPr algn="ctr"/>
            <a:r>
              <a:rPr lang="en-US" altLang="zh-CN" sz="6600" dirty="0">
                <a:solidFill>
                  <a:srgbClr val="00B0F0"/>
                </a:solidFill>
                <a:latin typeface="+mj-ea"/>
                <a:ea typeface="+mj-ea"/>
              </a:rPr>
              <a:t>PART 3</a:t>
            </a:r>
            <a:endParaRPr lang="en-US" altLang="zh-CN" sz="6600" dirty="0">
              <a:solidFill>
                <a:srgbClr val="00B0F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p14:dur="500">
        <p14:doors dir="ver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21" presetClass="entr" presetSubtype="2" fill="hold" grpId="0" nodeType="withEffect">
                                  <p:stCondLst>
                                    <p:cond delay="0"/>
                                  </p:stCondLst>
                                  <p:childTnLst>
                                    <p:set>
                                      <p:cBhvr>
                                        <p:cTn id="11" dur="500" fill="hold">
                                          <p:stCondLst>
                                            <p:cond delay="0"/>
                                          </p:stCondLst>
                                        </p:cTn>
                                        <p:tgtEl>
                                          <p:spTgt spid="15"/>
                                        </p:tgtEl>
                                        <p:attrNameLst>
                                          <p:attrName>style.visibility</p:attrName>
                                        </p:attrNameLst>
                                      </p:cBhvr>
                                      <p:to>
                                        <p:strVal val="visible"/>
                                      </p:to>
                                    </p:set>
                                    <p:animEffect transition="in" filter="wheel(2)">
                                      <p:cBhvr>
                                        <p:cTn id="12" dur="500"/>
                                        <p:tgtEl>
                                          <p:spTgt spid="15"/>
                                        </p:tgtEl>
                                      </p:cBhvr>
                                    </p:animEffect>
                                  </p:childTnLst>
                                </p:cTn>
                              </p:par>
                              <p:par>
                                <p:cTn id="13" presetID="10" presetClass="entr" presetSubtype="0" fill="hold" grpId="0" nodeType="withEffect">
                                  <p:stCondLst>
                                    <p:cond delay="0"/>
                                  </p:stCondLst>
                                  <p:childTnLst>
                                    <p:set>
                                      <p:cBhvr>
                                        <p:cTn id="14" dur="500"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6" presetClass="entr" presetSubtype="37" fill="hold" grpId="0" nodeType="withEffect">
                                  <p:stCondLst>
                                    <p:cond delay="0"/>
                                  </p:stCondLst>
                                  <p:childTnLst>
                                    <p:set>
                                      <p:cBhvr>
                                        <p:cTn id="17" dur="500" fill="hold">
                                          <p:stCondLst>
                                            <p:cond delay="0"/>
                                          </p:stCondLst>
                                        </p:cTn>
                                        <p:tgtEl>
                                          <p:spTgt spid="10"/>
                                        </p:tgtEl>
                                        <p:attrNameLst>
                                          <p:attrName>style.visibility</p:attrName>
                                        </p:attrNameLst>
                                      </p:cBhvr>
                                      <p:to>
                                        <p:strVal val="visible"/>
                                      </p:to>
                                    </p:set>
                                    <p:animEffect transition="in" filter="barn(outVertical)">
                                      <p:cBhvr>
                                        <p:cTn id="18" dur="500"/>
                                        <p:tgtEl>
                                          <p:spTgt spid="10"/>
                                        </p:tgtEl>
                                      </p:cBhvr>
                                    </p:animEffect>
                                  </p:childTnLst>
                                </p:cTn>
                              </p:par>
                              <p:par>
                                <p:cTn id="19" presetID="10" presetClass="entr" presetSubtype="0" fill="hold" grpId="0" nodeType="withEffect">
                                  <p:stCondLst>
                                    <p:cond delay="600"/>
                                  </p:stCondLst>
                                  <p:childTnLst>
                                    <p:set>
                                      <p:cBhvr>
                                        <p:cTn id="20" dur="500"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22" presetClass="entr" presetSubtype="1" fill="hold" grpId="0" nodeType="withEffect">
                                  <p:stCondLst>
                                    <p:cond delay="0"/>
                                  </p:stCondLst>
                                  <p:childTnLst>
                                    <p:set>
                                      <p:cBhvr>
                                        <p:cTn id="23" dur="500" fill="hold">
                                          <p:stCondLst>
                                            <p:cond delay="0"/>
                                          </p:stCondLst>
                                        </p:cTn>
                                        <p:tgtEl>
                                          <p:spTgt spid="9"/>
                                        </p:tgtEl>
                                        <p:attrNameLst>
                                          <p:attrName>style.visibility</p:attrName>
                                        </p:attrNameLst>
                                      </p:cBhvr>
                                      <p:to>
                                        <p:strVal val="visible"/>
                                      </p:to>
                                    </p:set>
                                    <p:animEffect transition="in" filter="wipe(up)">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10" grpId="0" bldLvl="0" animBg="1"/>
      <p:bldP spid="8" grpId="0"/>
      <p:bldP spid="9"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276586" y="1666368"/>
            <a:ext cx="5039547" cy="4896709"/>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3" name="矩形: 圆角 32"/>
          <p:cNvSpPr/>
          <p:nvPr/>
        </p:nvSpPr>
        <p:spPr>
          <a:xfrm>
            <a:off x="533400" y="0"/>
            <a:ext cx="5270500" cy="6308725"/>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4" name="文本框 23"/>
          <p:cNvSpPr txBox="1"/>
          <p:nvPr>
            <p:custDataLst>
              <p:tags r:id="rId1"/>
            </p:custDataLst>
          </p:nvPr>
        </p:nvSpPr>
        <p:spPr>
          <a:xfrm>
            <a:off x="6005211" y="975664"/>
            <a:ext cx="5724832" cy="1568450"/>
          </a:xfrm>
          <a:prstGeom prst="rect">
            <a:avLst/>
          </a:prstGeom>
          <a:noFill/>
          <a:ln>
            <a:noFill/>
          </a:ln>
          <a:effectLst/>
        </p:spPr>
        <p:txBody>
          <a:bodyPr wrap="square" rtlCol="0">
            <a:spAutoFit/>
          </a:bodyPr>
          <a:lstStyle/>
          <a:p>
            <a:pPr>
              <a:lnSpc>
                <a:spcPct val="120000"/>
              </a:lnSpc>
            </a:pPr>
            <a:r>
              <a:rPr lang="zh-CN" altLang="en-US" sz="2000" dirty="0">
                <a:solidFill>
                  <a:srgbClr val="3F403E"/>
                </a:solidFill>
                <a:latin typeface="+mn-ea"/>
              </a:rPr>
              <a:t>情绪问题多见于疾病早期和缓解期，可能属于精神分裂症的一部分，或者继发于疾病的影响。这类患者发生自杀行为，或者滥用精神治疗药物的机会增加，应当特别注意。</a:t>
            </a:r>
            <a:endParaRPr lang="zh-CN" altLang="en-US" sz="2000" dirty="0">
              <a:solidFill>
                <a:srgbClr val="3F403E"/>
              </a:solidFill>
              <a:latin typeface="+mn-ea"/>
            </a:endParaRPr>
          </a:p>
        </p:txBody>
      </p:sp>
      <p:sp>
        <p:nvSpPr>
          <p:cNvPr id="25" name="文本框 24"/>
          <p:cNvSpPr txBox="1"/>
          <p:nvPr>
            <p:custDataLst>
              <p:tags r:id="rId2"/>
            </p:custDataLst>
          </p:nvPr>
        </p:nvSpPr>
        <p:spPr>
          <a:xfrm>
            <a:off x="6005211" y="391790"/>
            <a:ext cx="1706880" cy="460375"/>
          </a:xfrm>
          <a:prstGeom prst="rect">
            <a:avLst/>
          </a:prstGeom>
          <a:noFill/>
          <a:effectLst>
            <a:reflection endPos="35000" dir="5400000" sy="-100000" algn="bl" rotWithShape="0"/>
          </a:effectLst>
        </p:spPr>
        <p:txBody>
          <a:bodyPr wrap="none" rtlCol="0">
            <a:spAutoFit/>
            <a:scene3d>
              <a:camera prst="orthographicFront"/>
              <a:lightRig rig="threePt" dir="t"/>
            </a:scene3d>
            <a:sp3d>
              <a:bevelT w="0" h="0"/>
              <a:bevelB w="0" h="0"/>
            </a:sp3d>
          </a:bodyPr>
          <a:lstStyle/>
          <a:p>
            <a:pPr algn="l"/>
            <a:r>
              <a:rPr lang="zh-CN" altLang="en-US" sz="2400" b="1" dirty="0">
                <a:solidFill>
                  <a:srgbClr val="00B0F0"/>
                </a:solidFill>
                <a:latin typeface="+mj-ea"/>
                <a:ea typeface="+mj-ea"/>
              </a:rPr>
              <a:t>焦虑、抑郁</a:t>
            </a:r>
            <a:endParaRPr lang="zh-CN" altLang="en-US" sz="2400" b="1" dirty="0">
              <a:solidFill>
                <a:srgbClr val="00B0F0"/>
              </a:solidFill>
              <a:latin typeface="+mj-ea"/>
              <a:ea typeface="+mj-ea"/>
            </a:endParaRPr>
          </a:p>
        </p:txBody>
      </p:sp>
      <p:sp>
        <p:nvSpPr>
          <p:cNvPr id="28" name="文本框 27"/>
          <p:cNvSpPr txBox="1"/>
          <p:nvPr>
            <p:custDataLst>
              <p:tags r:id="rId3"/>
            </p:custDataLst>
          </p:nvPr>
        </p:nvSpPr>
        <p:spPr>
          <a:xfrm>
            <a:off x="6005211" y="3143852"/>
            <a:ext cx="5689762" cy="1568450"/>
          </a:xfrm>
          <a:prstGeom prst="rect">
            <a:avLst/>
          </a:prstGeom>
          <a:noFill/>
          <a:ln>
            <a:noFill/>
          </a:ln>
          <a:effectLst/>
        </p:spPr>
        <p:txBody>
          <a:bodyPr wrap="square" rtlCol="0">
            <a:spAutoFit/>
          </a:bodyPr>
          <a:lstStyle/>
          <a:p>
            <a:pPr>
              <a:lnSpc>
                <a:spcPct val="120000"/>
              </a:lnSpc>
            </a:pPr>
            <a:r>
              <a:rPr lang="zh-CN" altLang="en-US" sz="2000" dirty="0">
                <a:solidFill>
                  <a:srgbClr val="3F403E"/>
                </a:solidFill>
                <a:latin typeface="+mn-ea"/>
              </a:rPr>
              <a:t>患者攻击暴力行为的可能性比较大，尤其当患者为男性、有品行问题、有反社会人格等情况时。当患者既往发生过暴力、攻击性行为，那么再次攻击暴力的概率很大。</a:t>
            </a:r>
            <a:endParaRPr lang="zh-CN" altLang="en-US" sz="2000" dirty="0">
              <a:solidFill>
                <a:srgbClr val="3F403E"/>
              </a:solidFill>
              <a:latin typeface="+mn-ea"/>
            </a:endParaRPr>
          </a:p>
        </p:txBody>
      </p:sp>
      <p:sp>
        <p:nvSpPr>
          <p:cNvPr id="29" name="文本框 28"/>
          <p:cNvSpPr txBox="1"/>
          <p:nvPr>
            <p:custDataLst>
              <p:tags r:id="rId4"/>
            </p:custDataLst>
          </p:nvPr>
        </p:nvSpPr>
        <p:spPr>
          <a:xfrm>
            <a:off x="6005211" y="2566402"/>
            <a:ext cx="1402080" cy="460375"/>
          </a:xfrm>
          <a:prstGeom prst="rect">
            <a:avLst/>
          </a:prstGeom>
          <a:noFill/>
          <a:effectLst>
            <a:reflection endPos="35000" dir="5400000" sy="-100000" algn="bl" rotWithShape="0"/>
          </a:effectLst>
        </p:spPr>
        <p:txBody>
          <a:bodyPr wrap="none" rtlCol="0">
            <a:spAutoFit/>
            <a:scene3d>
              <a:camera prst="orthographicFront"/>
              <a:lightRig rig="threePt" dir="t"/>
            </a:scene3d>
            <a:sp3d>
              <a:bevelT w="0" h="0"/>
              <a:bevelB w="0" h="0"/>
            </a:sp3d>
          </a:bodyPr>
          <a:lstStyle/>
          <a:p>
            <a:pPr algn="l"/>
            <a:r>
              <a:rPr lang="zh-CN" altLang="en-US" sz="2400" b="1" dirty="0">
                <a:solidFill>
                  <a:srgbClr val="00B0F0"/>
                </a:solidFill>
                <a:latin typeface="+mj-ea"/>
                <a:ea typeface="+mj-ea"/>
              </a:rPr>
              <a:t>攻击暴力</a:t>
            </a:r>
            <a:endParaRPr lang="zh-CN" altLang="en-US" sz="2400" b="1" dirty="0">
              <a:solidFill>
                <a:srgbClr val="00B0F0"/>
              </a:solidFill>
              <a:latin typeface="+mj-ea"/>
              <a:ea typeface="+mj-ea"/>
            </a:endParaRPr>
          </a:p>
        </p:txBody>
      </p:sp>
      <p:sp>
        <p:nvSpPr>
          <p:cNvPr id="30" name="文本框 29"/>
          <p:cNvSpPr txBox="1"/>
          <p:nvPr>
            <p:custDataLst>
              <p:tags r:id="rId5"/>
            </p:custDataLst>
          </p:nvPr>
        </p:nvSpPr>
        <p:spPr>
          <a:xfrm>
            <a:off x="6005211" y="5364179"/>
            <a:ext cx="5784344" cy="1198880"/>
          </a:xfrm>
          <a:prstGeom prst="rect">
            <a:avLst/>
          </a:prstGeom>
          <a:noFill/>
          <a:ln>
            <a:noFill/>
          </a:ln>
          <a:effectLst/>
        </p:spPr>
        <p:txBody>
          <a:bodyPr wrap="square" rtlCol="0">
            <a:spAutoFit/>
          </a:bodyPr>
          <a:lstStyle/>
          <a:p>
            <a:pPr>
              <a:lnSpc>
                <a:spcPct val="120000"/>
              </a:lnSpc>
            </a:pPr>
            <a:r>
              <a:rPr lang="zh-CN" altLang="en-US" sz="2000" dirty="0">
                <a:solidFill>
                  <a:srgbClr val="3F403E"/>
                </a:solidFill>
                <a:latin typeface="+mn-ea"/>
              </a:rPr>
              <a:t>部分患者在病程中企图自杀，而引起他们自杀行为最可能的原因在于抑郁、妄想、幻听、幻视、逃避精神痛楚。</a:t>
            </a:r>
            <a:endParaRPr lang="zh-CN" altLang="en-US" sz="2000" dirty="0">
              <a:solidFill>
                <a:srgbClr val="3F403E"/>
              </a:solidFill>
              <a:latin typeface="+mn-ea"/>
            </a:endParaRPr>
          </a:p>
        </p:txBody>
      </p:sp>
      <p:sp>
        <p:nvSpPr>
          <p:cNvPr id="31" name="文本框 30"/>
          <p:cNvSpPr txBox="1"/>
          <p:nvPr>
            <p:custDataLst>
              <p:tags r:id="rId6"/>
            </p:custDataLst>
          </p:nvPr>
        </p:nvSpPr>
        <p:spPr>
          <a:xfrm>
            <a:off x="6005211" y="4739042"/>
            <a:ext cx="792480" cy="460375"/>
          </a:xfrm>
          <a:prstGeom prst="rect">
            <a:avLst/>
          </a:prstGeom>
          <a:noFill/>
          <a:effectLst>
            <a:reflection endPos="35000" dir="5400000" sy="-100000" algn="bl" rotWithShape="0"/>
          </a:effectLst>
        </p:spPr>
        <p:txBody>
          <a:bodyPr wrap="none" rtlCol="0">
            <a:spAutoFit/>
            <a:scene3d>
              <a:camera prst="orthographicFront"/>
              <a:lightRig rig="threePt" dir="t"/>
            </a:scene3d>
            <a:sp3d>
              <a:bevelT w="0" h="0"/>
              <a:bevelB w="0" h="0"/>
            </a:sp3d>
          </a:bodyPr>
          <a:lstStyle/>
          <a:p>
            <a:pPr algn="l"/>
            <a:r>
              <a:rPr lang="zh-CN" altLang="en-US" sz="2400" b="1" dirty="0">
                <a:solidFill>
                  <a:srgbClr val="00B0F0"/>
                </a:solidFill>
                <a:latin typeface="+mj-ea"/>
                <a:ea typeface="+mj-ea"/>
              </a:rPr>
              <a:t>自杀</a:t>
            </a:r>
            <a:endParaRPr lang="zh-CN" altLang="en-US" sz="2400" b="1" dirty="0">
              <a:solidFill>
                <a:srgbClr val="00B0F0"/>
              </a:solidFill>
              <a:latin typeface="+mj-ea"/>
              <a:ea typeface="+mj-ea"/>
            </a:endParaRPr>
          </a:p>
        </p:txBody>
      </p:sp>
      <p:sp>
        <p:nvSpPr>
          <p:cNvPr id="35" name="文本框 34"/>
          <p:cNvSpPr txBox="1"/>
          <p:nvPr/>
        </p:nvSpPr>
        <p:spPr>
          <a:xfrm>
            <a:off x="2264409" y="308959"/>
            <a:ext cx="1808480" cy="583565"/>
          </a:xfrm>
          <a:prstGeom prst="rect">
            <a:avLst/>
          </a:prstGeom>
          <a:noFill/>
          <a:effectLst>
            <a:reflection endPos="35000" dir="5400000" sy="-100000" algn="bl" rotWithShape="0"/>
          </a:effectLst>
        </p:spPr>
        <p:txBody>
          <a:bodyPr wrap="none" rtlCol="0">
            <a:spAutoFit/>
            <a:scene3d>
              <a:camera prst="orthographicFront"/>
              <a:lightRig rig="threePt" dir="t"/>
            </a:scene3d>
            <a:sp3d>
              <a:bevelT w="0" h="0"/>
              <a:bevelB w="0" h="0"/>
            </a:sp3d>
          </a:bodyPr>
          <a:lstStyle/>
          <a:p>
            <a:pPr algn="ctr"/>
            <a:r>
              <a:rPr lang="zh-CN" altLang="en-US" sz="3200" b="1" dirty="0">
                <a:solidFill>
                  <a:schemeClr val="bg1"/>
                </a:solidFill>
                <a:latin typeface="+mj-ea"/>
                <a:ea typeface="+mj-ea"/>
              </a:rPr>
              <a:t>阴性症状</a:t>
            </a:r>
            <a:endParaRPr lang="zh-CN" altLang="en-US" sz="3200" b="1" dirty="0">
              <a:solidFill>
                <a:schemeClr val="bg1"/>
              </a:solidFill>
              <a:latin typeface="+mj-ea"/>
              <a:ea typeface="+mj-ea"/>
            </a:endParaRPr>
          </a:p>
        </p:txBody>
      </p:sp>
      <p:pic>
        <p:nvPicPr>
          <p:cNvPr id="22" name="图片 21" descr="V0SI`5V)K{QG]@HMMF9ZR_B"/>
          <p:cNvPicPr>
            <a:picLocks noChangeAspect="1"/>
          </p:cNvPicPr>
          <p:nvPr/>
        </p:nvPicPr>
        <p:blipFill>
          <a:blip r:embed="rId7"/>
          <a:stretch>
            <a:fillRect/>
          </a:stretch>
        </p:blipFill>
        <p:spPr>
          <a:xfrm>
            <a:off x="788670" y="1953895"/>
            <a:ext cx="4883785" cy="31083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blinds dir="vert"/>
      </p:transition>
    </mc:Choice>
    <mc:Fallback>
      <p:transition>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500"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0"/>
                                  </p:stCondLst>
                                  <p:childTnLst>
                                    <p:set>
                                      <p:cBhvr>
                                        <p:cTn id="10" dur="500"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47" presetClass="entr" presetSubtype="0" fill="hold" grpId="0" nodeType="withEffect">
                                  <p:stCondLst>
                                    <p:cond delay="0"/>
                                  </p:stCondLst>
                                  <p:childTnLst>
                                    <p:set>
                                      <p:cBhvr>
                                        <p:cTn id="13" dur="500"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anim calcmode="lin" valueType="num">
                                      <p:cBhvr>
                                        <p:cTn id="15" dur="500" fill="hold"/>
                                        <p:tgtEl>
                                          <p:spTgt spid="34"/>
                                        </p:tgtEl>
                                        <p:attrNameLst>
                                          <p:attrName>ppt_x</p:attrName>
                                        </p:attrNameLst>
                                      </p:cBhvr>
                                      <p:tavLst>
                                        <p:tav tm="0">
                                          <p:val>
                                            <p:strVal val="#ppt_x"/>
                                          </p:val>
                                        </p:tav>
                                        <p:tav tm="100000">
                                          <p:val>
                                            <p:strVal val="#ppt_x"/>
                                          </p:val>
                                        </p:tav>
                                      </p:tavLst>
                                    </p:anim>
                                    <p:anim calcmode="lin" valueType="num">
                                      <p:cBhvr>
                                        <p:cTn id="16" dur="500" fill="hold"/>
                                        <p:tgtEl>
                                          <p:spTgt spid="34"/>
                                        </p:tgtEl>
                                        <p:attrNameLst>
                                          <p:attrName>ppt_y</p:attrName>
                                        </p:attrNameLst>
                                      </p:cBhvr>
                                      <p:tavLst>
                                        <p:tav tm="0">
                                          <p:val>
                                            <p:strVal val="#ppt_y-.1"/>
                                          </p:val>
                                        </p:tav>
                                        <p:tav tm="100000">
                                          <p:val>
                                            <p:strVal val="#ppt_y"/>
                                          </p:val>
                                        </p:tav>
                                      </p:tavLst>
                                    </p:anim>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500"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par>
                                <p:cTn id="21" presetID="22" presetClass="entr" presetSubtype="8" fill="hold" grpId="0" nodeType="withEffect">
                                  <p:stCondLst>
                                    <p:cond delay="0"/>
                                  </p:stCondLst>
                                  <p:childTnLst>
                                    <p:set>
                                      <p:cBhvr>
                                        <p:cTn id="22" dur="500"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500"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par>
                                <p:cTn id="28" presetID="22" presetClass="entr" presetSubtype="8" fill="hold" grpId="0" nodeType="withEffect">
                                  <p:stCondLst>
                                    <p:cond delay="0"/>
                                  </p:stCondLst>
                                  <p:childTnLst>
                                    <p:set>
                                      <p:cBhvr>
                                        <p:cTn id="29" dur="500" fill="hold">
                                          <p:stCondLst>
                                            <p:cond delay="0"/>
                                          </p:stCondLst>
                                        </p:cTn>
                                        <p:tgtEl>
                                          <p:spTgt spid="28"/>
                                        </p:tgtEl>
                                        <p:attrNameLst>
                                          <p:attrName>style.visibility</p:attrName>
                                        </p:attrNameLst>
                                      </p:cBhvr>
                                      <p:to>
                                        <p:strVal val="visible"/>
                                      </p:to>
                                    </p:set>
                                    <p:animEffect transition="in" filter="wipe(left)">
                                      <p:cBhvr>
                                        <p:cTn id="30" dur="500"/>
                                        <p:tgtEl>
                                          <p:spTgt spid="28"/>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500"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22" presetClass="entr" presetSubtype="8" fill="hold" grpId="0" nodeType="withEffect">
                                  <p:stCondLst>
                                    <p:cond delay="0"/>
                                  </p:stCondLst>
                                  <p:childTnLst>
                                    <p:set>
                                      <p:cBhvr>
                                        <p:cTn id="36" dur="500"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3" grpId="0" bldLvl="0" animBg="1"/>
      <p:bldP spid="24" grpId="0" bldLvl="0" animBg="1"/>
      <p:bldP spid="25" grpId="0" bldLvl="0" animBg="1"/>
      <p:bldP spid="28" grpId="0" bldLvl="0" animBg="1"/>
      <p:bldP spid="29" grpId="0" bldLvl="0" animBg="1"/>
      <p:bldP spid="30" grpId="0" bldLvl="0" animBg="1"/>
      <p:bldP spid="31" grpId="0" bldLvl="0" animBg="1"/>
      <p:bldP spid="3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1"/>
          <p:cNvSpPr/>
          <p:nvPr>
            <p:custDataLst>
              <p:tags r:id="rId1"/>
            </p:custDataLst>
          </p:nvPr>
        </p:nvSpPr>
        <p:spPr>
          <a:xfrm>
            <a:off x="1298879" y="1445323"/>
            <a:ext cx="4509549" cy="2226897"/>
          </a:xfrm>
          <a:prstGeom prst="roundRect">
            <a:avLst>
              <a:gd name="adj" fmla="val 0"/>
            </a:avLst>
          </a:prstGeom>
          <a:noFill/>
          <a:ln w="254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矩形 1"/>
          <p:cNvSpPr/>
          <p:nvPr>
            <p:custDataLst>
              <p:tags r:id="rId2"/>
            </p:custDataLst>
          </p:nvPr>
        </p:nvSpPr>
        <p:spPr>
          <a:xfrm>
            <a:off x="1524000" y="2087880"/>
            <a:ext cx="4112895" cy="1207770"/>
          </a:xfrm>
          <a:prstGeom prst="rect">
            <a:avLst/>
          </a:prstGeom>
          <a:noFill/>
        </p:spPr>
        <p:txBody>
          <a:bodyPr wrap="square" lIns="0" tIns="0" rIns="0" bIns="0" rtlCol="0" anchor="t" anchorCtr="0">
            <a:noAutofit/>
          </a:bodyPr>
          <a:lstStyle/>
          <a:p>
            <a:pPr>
              <a:lnSpc>
                <a:spcPct val="120000"/>
              </a:lnSpc>
            </a:pPr>
            <a:r>
              <a:rPr lang="zh-CN" altLang="en-US" sz="2000" dirty="0">
                <a:solidFill>
                  <a:srgbClr val="3F403E"/>
                </a:solidFill>
                <a:latin typeface="+mn-ea"/>
                <a:sym typeface="+mn-ea"/>
              </a:rPr>
              <a:t>看到、听到、闻到、尝到、感觉到并不存在的事物，最常见幻听。这些幻觉对于患者来说非常真实，好像真实发生，而周围其他人感受不到。</a:t>
            </a:r>
            <a:endParaRPr lang="zh-CN" altLang="en-US" sz="2000" dirty="0">
              <a:solidFill>
                <a:srgbClr val="3F403E"/>
              </a:solidFill>
              <a:latin typeface="+mn-ea"/>
              <a:sym typeface="+mn-ea"/>
            </a:endParaRPr>
          </a:p>
          <a:p>
            <a:pPr>
              <a:lnSpc>
                <a:spcPct val="120000"/>
              </a:lnSpc>
            </a:pPr>
            <a:endParaRPr lang="zh-CN" altLang="en-US" sz="2000" dirty="0">
              <a:solidFill>
                <a:srgbClr val="3F403E"/>
              </a:solidFill>
              <a:latin typeface="+mn-ea"/>
              <a:sym typeface="+mn-ea"/>
            </a:endParaRPr>
          </a:p>
          <a:p>
            <a:pPr>
              <a:lnSpc>
                <a:spcPct val="120000"/>
              </a:lnSpc>
            </a:pPr>
            <a:r>
              <a:rPr lang="zh-CN" altLang="en-US" sz="2000" dirty="0">
                <a:solidFill>
                  <a:srgbClr val="3F403E"/>
                </a:solidFill>
                <a:latin typeface="+mn-ea"/>
                <a:sym typeface="+mn-ea"/>
              </a:rPr>
              <a:t> </a:t>
            </a:r>
            <a:endParaRPr lang="zh-CN" altLang="en-US" sz="2000" dirty="0">
              <a:solidFill>
                <a:srgbClr val="3F403E"/>
              </a:solidFill>
              <a:latin typeface="+mn-ea"/>
              <a:sym typeface="+mn-ea"/>
            </a:endParaRPr>
          </a:p>
        </p:txBody>
      </p:sp>
      <p:sp>
        <p:nvSpPr>
          <p:cNvPr id="3" name="矩形 2"/>
          <p:cNvSpPr/>
          <p:nvPr>
            <p:custDataLst>
              <p:tags r:id="rId3"/>
            </p:custDataLst>
          </p:nvPr>
        </p:nvSpPr>
        <p:spPr>
          <a:xfrm>
            <a:off x="1524945" y="1550168"/>
            <a:ext cx="3651495" cy="564204"/>
          </a:xfrm>
          <a:prstGeom prst="rect">
            <a:avLst/>
          </a:prstGeom>
          <a:noFill/>
          <a:effectLst/>
        </p:spPr>
        <p:txBody>
          <a:bodyPr wrap="square" lIns="0" tIns="0" rIns="0" bIns="0" rtlCol="0" anchor="ctr">
            <a:noAutofit/>
          </a:bodyPr>
          <a:lstStyle/>
          <a:p>
            <a:pPr>
              <a:spcBef>
                <a:spcPct val="0"/>
              </a:spcBef>
              <a:spcAft>
                <a:spcPct val="0"/>
              </a:spcAft>
            </a:pPr>
            <a:r>
              <a:rPr lang="zh-CN" altLang="en-US" sz="2400" b="1" dirty="0">
                <a:solidFill>
                  <a:srgbClr val="00B0F0"/>
                </a:solidFill>
                <a:latin typeface="+mj-ea"/>
                <a:ea typeface="+mj-ea"/>
                <a:sym typeface="+mn-ea"/>
              </a:rPr>
              <a:t>幻觉</a:t>
            </a:r>
            <a:endParaRPr lang="zh-CN" altLang="en-US" sz="2400" b="1" dirty="0">
              <a:solidFill>
                <a:srgbClr val="00B0F0"/>
              </a:solidFill>
              <a:latin typeface="+mj-ea"/>
              <a:ea typeface="+mj-ea"/>
              <a:cs typeface="+mn-ea"/>
              <a:sym typeface="+mn-ea"/>
            </a:endParaRPr>
          </a:p>
        </p:txBody>
      </p:sp>
      <p:sp>
        <p:nvSpPr>
          <p:cNvPr id="4" name="矩形 3"/>
          <p:cNvSpPr/>
          <p:nvPr>
            <p:custDataLst>
              <p:tags r:id="rId4"/>
            </p:custDataLst>
          </p:nvPr>
        </p:nvSpPr>
        <p:spPr>
          <a:xfrm>
            <a:off x="442000" y="1445323"/>
            <a:ext cx="921785" cy="1644162"/>
          </a:xfrm>
          <a:prstGeom prst="rect">
            <a:avLst/>
          </a:prstGeom>
          <a:noFill/>
        </p:spPr>
        <p:txBody>
          <a:bodyPr wrap="none" lIns="0" tIns="0" rIns="0" bIns="0" rtlCol="0" anchor="t" anchorCtr="0">
            <a:noAutofit/>
          </a:bodyPr>
          <a:lstStyle/>
          <a:p>
            <a:pPr algn="ctr">
              <a:spcBef>
                <a:spcPct val="0"/>
              </a:spcBef>
              <a:spcAft>
                <a:spcPct val="0"/>
              </a:spcAft>
            </a:pPr>
            <a:r>
              <a:rPr lang="en-US" altLang="zh-CN" sz="11500" b="1" dirty="0">
                <a:gradFill flip="none" rotWithShape="1">
                  <a:gsLst>
                    <a:gs pos="50000">
                      <a:srgbClr val="29B6F4"/>
                    </a:gs>
                    <a:gs pos="0">
                      <a:srgbClr val="82D1F6"/>
                    </a:gs>
                    <a:gs pos="99000">
                      <a:srgbClr val="0089CD"/>
                    </a:gs>
                  </a:gsLst>
                  <a:lin ang="16200000" scaled="0"/>
                  <a:tileRect/>
                </a:gradFill>
                <a:latin typeface="+mn-ea"/>
                <a:cs typeface="+mn-ea"/>
                <a:sym typeface="+mn-ea"/>
              </a:rPr>
              <a:t>1</a:t>
            </a:r>
            <a:endParaRPr lang="en-US" altLang="zh-CN" sz="11500" b="1" dirty="0">
              <a:gradFill flip="none" rotWithShape="1">
                <a:gsLst>
                  <a:gs pos="50000">
                    <a:srgbClr val="29B6F4"/>
                  </a:gs>
                  <a:gs pos="0">
                    <a:srgbClr val="82D1F6"/>
                  </a:gs>
                  <a:gs pos="99000">
                    <a:srgbClr val="0089CD"/>
                  </a:gs>
                </a:gsLst>
                <a:lin ang="16200000" scaled="0"/>
                <a:tileRect/>
              </a:gradFill>
              <a:latin typeface="+mn-ea"/>
              <a:cs typeface="+mn-ea"/>
              <a:sym typeface="+mn-ea"/>
            </a:endParaRPr>
          </a:p>
        </p:txBody>
      </p:sp>
      <p:sp>
        <p:nvSpPr>
          <p:cNvPr id="35" name="圆角矩形 1"/>
          <p:cNvSpPr/>
          <p:nvPr>
            <p:custDataLst>
              <p:tags r:id="rId5"/>
            </p:custDataLst>
          </p:nvPr>
        </p:nvSpPr>
        <p:spPr>
          <a:xfrm>
            <a:off x="6986114" y="1445323"/>
            <a:ext cx="4509549" cy="2226897"/>
          </a:xfrm>
          <a:prstGeom prst="roundRect">
            <a:avLst>
              <a:gd name="adj" fmla="val 0"/>
            </a:avLst>
          </a:prstGeom>
          <a:noFill/>
          <a:ln w="254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custDataLst>
              <p:tags r:id="rId6"/>
            </p:custDataLst>
          </p:nvPr>
        </p:nvSpPr>
        <p:spPr>
          <a:xfrm>
            <a:off x="6129235" y="1437508"/>
            <a:ext cx="921785" cy="1644162"/>
          </a:xfrm>
          <a:prstGeom prst="rect">
            <a:avLst/>
          </a:prstGeom>
          <a:noFill/>
        </p:spPr>
        <p:txBody>
          <a:bodyPr wrap="none" lIns="0" tIns="0" rIns="0" bIns="0" rtlCol="0" anchor="t" anchorCtr="0">
            <a:noAutofit/>
          </a:bodyPr>
          <a:lstStyle/>
          <a:p>
            <a:pPr algn="ctr">
              <a:spcBef>
                <a:spcPct val="0"/>
              </a:spcBef>
              <a:spcAft>
                <a:spcPct val="0"/>
              </a:spcAft>
            </a:pPr>
            <a:r>
              <a:rPr lang="en-US" altLang="zh-CN" sz="11500" b="1" dirty="0">
                <a:gradFill flip="none" rotWithShape="1">
                  <a:gsLst>
                    <a:gs pos="50000">
                      <a:srgbClr val="29B6F4"/>
                    </a:gs>
                    <a:gs pos="0">
                      <a:srgbClr val="82D1F6"/>
                    </a:gs>
                    <a:gs pos="99000">
                      <a:srgbClr val="0089CD"/>
                    </a:gs>
                  </a:gsLst>
                  <a:lin ang="16200000" scaled="0"/>
                  <a:tileRect/>
                </a:gradFill>
                <a:latin typeface="+mn-ea"/>
                <a:cs typeface="+mn-ea"/>
                <a:sym typeface="+mn-ea"/>
              </a:rPr>
              <a:t>2</a:t>
            </a:r>
            <a:endParaRPr lang="zh-CN" altLang="en-US" sz="11500" b="1">
              <a:gradFill flip="none" rotWithShape="1">
                <a:gsLst>
                  <a:gs pos="0">
                    <a:schemeClr val="accent1">
                      <a:lumMod val="40000"/>
                      <a:lumOff val="60000"/>
                    </a:schemeClr>
                  </a:gs>
                  <a:gs pos="72000">
                    <a:schemeClr val="accent1"/>
                  </a:gs>
                </a:gsLst>
                <a:lin ang="2700000" scaled="1"/>
                <a:tileRect/>
              </a:gradFill>
              <a:latin typeface="+mn-ea"/>
              <a:cs typeface="+mn-ea"/>
              <a:sym typeface="+mn-ea"/>
            </a:endParaRPr>
          </a:p>
        </p:txBody>
      </p:sp>
      <p:sp>
        <p:nvSpPr>
          <p:cNvPr id="41" name="圆角矩形 1"/>
          <p:cNvSpPr/>
          <p:nvPr>
            <p:custDataLst>
              <p:tags r:id="rId7"/>
            </p:custDataLst>
          </p:nvPr>
        </p:nvSpPr>
        <p:spPr>
          <a:xfrm>
            <a:off x="1298575" y="3938905"/>
            <a:ext cx="4509770" cy="2597150"/>
          </a:xfrm>
          <a:prstGeom prst="roundRect">
            <a:avLst>
              <a:gd name="adj" fmla="val 0"/>
            </a:avLst>
          </a:prstGeom>
          <a:noFill/>
          <a:ln w="254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custDataLst>
              <p:tags r:id="rId8"/>
            </p:custDataLst>
          </p:nvPr>
        </p:nvSpPr>
        <p:spPr>
          <a:xfrm>
            <a:off x="1566545" y="4556125"/>
            <a:ext cx="3973830" cy="1807845"/>
          </a:xfrm>
          <a:prstGeom prst="rect">
            <a:avLst/>
          </a:prstGeom>
          <a:noFill/>
        </p:spPr>
        <p:txBody>
          <a:bodyPr wrap="square" lIns="0" tIns="0" rIns="0" bIns="0" rtlCol="0" anchor="t" anchorCtr="0">
            <a:noAutofit/>
          </a:bodyPr>
          <a:lstStyle/>
          <a:p>
            <a:pPr>
              <a:lnSpc>
                <a:spcPct val="120000"/>
              </a:lnSpc>
            </a:pPr>
            <a:r>
              <a:rPr lang="zh-CN" altLang="en-US" sz="2000" dirty="0">
                <a:solidFill>
                  <a:srgbClr val="3F403E"/>
                </a:solidFill>
                <a:latin typeface="+mn-ea"/>
                <a:sym typeface="+mn-ea"/>
              </a:rPr>
              <a:t>患者的想法和谈话内容，让周围的人很难捕捉到。患者很难集中注意力，会从一个想法跳至另一个想法，并且思想和言语会因此变得混乱，难以让他人理解。</a:t>
            </a:r>
            <a:endParaRPr lang="zh-CN" altLang="en-US" sz="2000" dirty="0">
              <a:solidFill>
                <a:srgbClr val="3F403E"/>
              </a:solidFill>
              <a:latin typeface="+mn-ea"/>
              <a:sym typeface="+mn-ea"/>
            </a:endParaRPr>
          </a:p>
        </p:txBody>
      </p:sp>
      <p:sp>
        <p:nvSpPr>
          <p:cNvPr id="7" name="矩形 6"/>
          <p:cNvSpPr/>
          <p:nvPr>
            <p:custDataLst>
              <p:tags r:id="rId9"/>
            </p:custDataLst>
          </p:nvPr>
        </p:nvSpPr>
        <p:spPr>
          <a:xfrm>
            <a:off x="1524945" y="3991728"/>
            <a:ext cx="3651495" cy="564204"/>
          </a:xfrm>
          <a:prstGeom prst="rect">
            <a:avLst/>
          </a:prstGeom>
          <a:noFill/>
        </p:spPr>
        <p:txBody>
          <a:bodyPr wrap="square" lIns="0" tIns="0" rIns="0" bIns="0" rtlCol="0" anchor="ctr">
            <a:noAutofit/>
          </a:bodyPr>
          <a:lstStyle/>
          <a:p>
            <a:pPr algn="l"/>
            <a:r>
              <a:rPr lang="zh-CN" altLang="en-US" sz="2400" b="1" dirty="0">
                <a:solidFill>
                  <a:srgbClr val="00B0F0"/>
                </a:solidFill>
                <a:latin typeface="+mj-ea"/>
                <a:ea typeface="+mj-ea"/>
                <a:sym typeface="+mn-ea"/>
              </a:rPr>
              <a:t>思维混乱</a:t>
            </a:r>
            <a:endParaRPr lang="zh-CN" altLang="en-US" sz="2400" b="1" dirty="0">
              <a:solidFill>
                <a:srgbClr val="00B0F0"/>
              </a:solidFill>
              <a:latin typeface="+mj-ea"/>
              <a:ea typeface="+mj-ea"/>
              <a:cs typeface="+mn-ea"/>
              <a:sym typeface="+mn-ea"/>
            </a:endParaRPr>
          </a:p>
        </p:txBody>
      </p:sp>
      <p:sp>
        <p:nvSpPr>
          <p:cNvPr id="8" name="矩形 7"/>
          <p:cNvSpPr/>
          <p:nvPr>
            <p:custDataLst>
              <p:tags r:id="rId10"/>
            </p:custDataLst>
          </p:nvPr>
        </p:nvSpPr>
        <p:spPr>
          <a:xfrm>
            <a:off x="441325" y="3938953"/>
            <a:ext cx="921785" cy="1644162"/>
          </a:xfrm>
          <a:prstGeom prst="rect">
            <a:avLst/>
          </a:prstGeom>
          <a:noFill/>
        </p:spPr>
        <p:txBody>
          <a:bodyPr wrap="none" lIns="0" tIns="0" rIns="0" bIns="0" rtlCol="0" anchor="t" anchorCtr="0">
            <a:noAutofit/>
          </a:bodyPr>
          <a:lstStyle/>
          <a:p>
            <a:pPr algn="ctr">
              <a:spcBef>
                <a:spcPct val="0"/>
              </a:spcBef>
              <a:spcAft>
                <a:spcPct val="0"/>
              </a:spcAft>
            </a:pPr>
            <a:r>
              <a:rPr lang="en-US" altLang="zh-CN" sz="11500" b="1" dirty="0">
                <a:gradFill flip="none" rotWithShape="1">
                  <a:gsLst>
                    <a:gs pos="50000">
                      <a:srgbClr val="29B6F4"/>
                    </a:gs>
                    <a:gs pos="0">
                      <a:srgbClr val="82D1F6"/>
                    </a:gs>
                    <a:gs pos="99000">
                      <a:srgbClr val="0089CD"/>
                    </a:gs>
                  </a:gsLst>
                  <a:lin ang="16200000" scaled="0"/>
                  <a:tileRect/>
                </a:gradFill>
                <a:latin typeface="+mn-ea"/>
                <a:cs typeface="+mn-ea"/>
                <a:sym typeface="+mn-ea"/>
              </a:rPr>
              <a:t>3</a:t>
            </a:r>
            <a:endParaRPr lang="zh-CN" altLang="en-US" sz="11500" b="1">
              <a:gradFill flip="none" rotWithShape="1">
                <a:gsLst>
                  <a:gs pos="0">
                    <a:schemeClr val="accent1">
                      <a:lumMod val="40000"/>
                      <a:lumOff val="60000"/>
                    </a:schemeClr>
                  </a:gs>
                  <a:gs pos="72000">
                    <a:schemeClr val="accent1"/>
                  </a:gs>
                </a:gsLst>
                <a:lin ang="2700000" scaled="1"/>
                <a:tileRect/>
              </a:gradFill>
              <a:latin typeface="+mn-ea"/>
              <a:cs typeface="+mn-ea"/>
              <a:sym typeface="+mn-ea"/>
            </a:endParaRPr>
          </a:p>
        </p:txBody>
      </p:sp>
      <p:sp>
        <p:nvSpPr>
          <p:cNvPr id="45" name="圆角矩形 1"/>
          <p:cNvSpPr/>
          <p:nvPr>
            <p:custDataLst>
              <p:tags r:id="rId11"/>
            </p:custDataLst>
          </p:nvPr>
        </p:nvSpPr>
        <p:spPr>
          <a:xfrm>
            <a:off x="6986270" y="3938905"/>
            <a:ext cx="4509770" cy="2592070"/>
          </a:xfrm>
          <a:prstGeom prst="roundRect">
            <a:avLst>
              <a:gd name="adj" fmla="val 0"/>
            </a:avLst>
          </a:prstGeom>
          <a:noFill/>
          <a:ln w="254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custDataLst>
              <p:tags r:id="rId12"/>
            </p:custDataLst>
          </p:nvPr>
        </p:nvSpPr>
        <p:spPr>
          <a:xfrm>
            <a:off x="6128560" y="3931138"/>
            <a:ext cx="921785" cy="1644162"/>
          </a:xfrm>
          <a:prstGeom prst="rect">
            <a:avLst/>
          </a:prstGeom>
          <a:noFill/>
        </p:spPr>
        <p:txBody>
          <a:bodyPr wrap="none" lIns="0" tIns="0" rIns="0" bIns="0" rtlCol="0" anchor="t" anchorCtr="0">
            <a:noAutofit/>
          </a:bodyPr>
          <a:lstStyle/>
          <a:p>
            <a:pPr algn="ctr">
              <a:spcBef>
                <a:spcPct val="0"/>
              </a:spcBef>
              <a:spcAft>
                <a:spcPct val="0"/>
              </a:spcAft>
            </a:pPr>
            <a:r>
              <a:rPr lang="en-US" altLang="zh-CN" sz="11500" b="1" dirty="0">
                <a:gradFill flip="none" rotWithShape="1">
                  <a:gsLst>
                    <a:gs pos="50000">
                      <a:srgbClr val="29B6F4"/>
                    </a:gs>
                    <a:gs pos="0">
                      <a:srgbClr val="82D1F6"/>
                    </a:gs>
                    <a:gs pos="99000">
                      <a:srgbClr val="0089CD"/>
                    </a:gs>
                  </a:gsLst>
                  <a:lin ang="16200000" scaled="0"/>
                  <a:tileRect/>
                </a:gradFill>
                <a:latin typeface="+mn-ea"/>
                <a:cs typeface="+mn-ea"/>
                <a:sym typeface="+mn-ea"/>
              </a:rPr>
              <a:t>4</a:t>
            </a:r>
            <a:endParaRPr lang="zh-CN" altLang="en-US" sz="11500" b="1" dirty="0">
              <a:gradFill flip="none" rotWithShape="1">
                <a:gsLst>
                  <a:gs pos="0">
                    <a:schemeClr val="accent1">
                      <a:lumMod val="40000"/>
                      <a:lumOff val="60000"/>
                    </a:schemeClr>
                  </a:gs>
                  <a:gs pos="72000">
                    <a:schemeClr val="accent1"/>
                  </a:gs>
                </a:gsLst>
                <a:lin ang="2700000" scaled="1"/>
                <a:tileRect/>
              </a:gradFill>
              <a:latin typeface="+mn-ea"/>
              <a:cs typeface="+mn-ea"/>
              <a:sym typeface="+mn-ea"/>
            </a:endParaRPr>
          </a:p>
        </p:txBody>
      </p:sp>
      <p:sp>
        <p:nvSpPr>
          <p:cNvPr id="10" name="矩形 9"/>
          <p:cNvSpPr/>
          <p:nvPr>
            <p:custDataLst>
              <p:tags r:id="rId13"/>
            </p:custDataLst>
          </p:nvPr>
        </p:nvSpPr>
        <p:spPr>
          <a:xfrm>
            <a:off x="7252970" y="2107565"/>
            <a:ext cx="3957955" cy="1392555"/>
          </a:xfrm>
          <a:prstGeom prst="rect">
            <a:avLst/>
          </a:prstGeom>
          <a:noFill/>
        </p:spPr>
        <p:txBody>
          <a:bodyPr wrap="square" lIns="0" tIns="0" rIns="0" bIns="0" rtlCol="0" anchor="t" anchorCtr="0">
            <a:noAutofit/>
          </a:bodyPr>
          <a:lstStyle/>
          <a:p>
            <a:pPr>
              <a:lnSpc>
                <a:spcPct val="120000"/>
              </a:lnSpc>
            </a:pPr>
            <a:r>
              <a:rPr lang="zh-CN" altLang="en-US" sz="2000" dirty="0">
                <a:solidFill>
                  <a:srgbClr val="3F403E"/>
                </a:solidFill>
                <a:latin typeface="+mn-ea"/>
                <a:sym typeface="+mn-ea"/>
              </a:rPr>
              <a:t>错觉是对一种感觉的错误感受，比如看到一棵树影，会认为是一个人影，而产生诸多与人影相关的错误联想等。</a:t>
            </a:r>
            <a:endParaRPr lang="zh-CN" altLang="en-US" sz="2000" dirty="0">
              <a:solidFill>
                <a:srgbClr val="3F403E"/>
              </a:solidFill>
              <a:latin typeface="+mn-ea"/>
              <a:sym typeface="+mn-ea"/>
            </a:endParaRPr>
          </a:p>
        </p:txBody>
      </p:sp>
      <p:sp>
        <p:nvSpPr>
          <p:cNvPr id="11" name="矩形 10"/>
          <p:cNvSpPr/>
          <p:nvPr>
            <p:custDataLst>
              <p:tags r:id="rId14"/>
            </p:custDataLst>
          </p:nvPr>
        </p:nvSpPr>
        <p:spPr>
          <a:xfrm>
            <a:off x="7501106" y="1469523"/>
            <a:ext cx="3651495" cy="564204"/>
          </a:xfrm>
          <a:prstGeom prst="rect">
            <a:avLst/>
          </a:prstGeom>
          <a:noFill/>
        </p:spPr>
        <p:txBody>
          <a:bodyPr wrap="square" lIns="0" tIns="0" rIns="0" bIns="0" rtlCol="0" anchor="ctr">
            <a:noAutofit/>
          </a:bodyPr>
          <a:lstStyle/>
          <a:p>
            <a:pPr algn="r"/>
            <a:r>
              <a:rPr lang="zh-CN" altLang="en-US" sz="2400" b="1" dirty="0">
                <a:solidFill>
                  <a:srgbClr val="00B0F0"/>
                </a:solidFill>
                <a:latin typeface="+mj-ea"/>
                <a:ea typeface="+mj-ea"/>
                <a:sym typeface="+mn-ea"/>
              </a:rPr>
              <a:t>错觉</a:t>
            </a:r>
            <a:endParaRPr lang="zh-CN" altLang="en-US" sz="2400" b="1" dirty="0">
              <a:solidFill>
                <a:srgbClr val="00B0F0"/>
              </a:solidFill>
              <a:latin typeface="+mj-ea"/>
              <a:ea typeface="+mj-ea"/>
              <a:cs typeface="+mn-ea"/>
              <a:sym typeface="+mn-ea"/>
            </a:endParaRPr>
          </a:p>
        </p:txBody>
      </p:sp>
      <p:sp>
        <p:nvSpPr>
          <p:cNvPr id="12" name="矩形 11"/>
          <p:cNvSpPr/>
          <p:nvPr>
            <p:custDataLst>
              <p:tags r:id="rId15"/>
            </p:custDataLst>
          </p:nvPr>
        </p:nvSpPr>
        <p:spPr>
          <a:xfrm>
            <a:off x="7198360" y="4601210"/>
            <a:ext cx="4154170" cy="1882140"/>
          </a:xfrm>
          <a:prstGeom prst="rect">
            <a:avLst/>
          </a:prstGeom>
          <a:noFill/>
        </p:spPr>
        <p:txBody>
          <a:bodyPr wrap="square" lIns="0" tIns="0" rIns="0" bIns="0" rtlCol="0" anchor="t" anchorCtr="0">
            <a:noAutofit/>
          </a:bodyPr>
          <a:lstStyle/>
          <a:p>
            <a:pPr>
              <a:lnSpc>
                <a:spcPct val="120000"/>
              </a:lnSpc>
            </a:pPr>
            <a:r>
              <a:rPr lang="zh-CN" altLang="en-US" sz="1600" dirty="0">
                <a:solidFill>
                  <a:srgbClr val="3F403E"/>
                </a:solidFill>
                <a:latin typeface="+mn-ea"/>
                <a:sym typeface="+mn-ea"/>
              </a:rPr>
              <a:t>患者的行为变得混乱，行为与外表对其他人来讲显得不寻常。患者可能行为不当，或极度激动，无缘无故地大喊大叫，好像完全被别人所控制。或者完全基于一种错误的、不切实际的观念。比如患者可能会认为有人在监视自己，或者认为自己遭受到迫害、骚扰、跟踪等等。</a:t>
            </a:r>
            <a:endParaRPr lang="zh-CN" altLang="en-US" sz="1600" dirty="0">
              <a:ln>
                <a:noFill/>
                <a:prstDash val="sysDot"/>
              </a:ln>
              <a:solidFill>
                <a:srgbClr val="3F403E"/>
              </a:solidFill>
              <a:latin typeface="+mn-ea"/>
              <a:cs typeface="+mn-ea"/>
              <a:sym typeface="+mn-ea"/>
            </a:endParaRPr>
          </a:p>
        </p:txBody>
      </p:sp>
      <p:sp>
        <p:nvSpPr>
          <p:cNvPr id="20" name="矩形: 圆角 9"/>
          <p:cNvSpPr/>
          <p:nvPr/>
        </p:nvSpPr>
        <p:spPr>
          <a:xfrm>
            <a:off x="0" y="259715"/>
            <a:ext cx="12192000" cy="925830"/>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p>
        </p:txBody>
      </p:sp>
      <p:sp>
        <p:nvSpPr>
          <p:cNvPr id="13" name="矩形 12"/>
          <p:cNvSpPr/>
          <p:nvPr>
            <p:custDataLst>
              <p:tags r:id="rId16"/>
            </p:custDataLst>
          </p:nvPr>
        </p:nvSpPr>
        <p:spPr>
          <a:xfrm>
            <a:off x="7501106" y="4036813"/>
            <a:ext cx="3651495" cy="564204"/>
          </a:xfrm>
          <a:prstGeom prst="rect">
            <a:avLst/>
          </a:prstGeom>
          <a:noFill/>
        </p:spPr>
        <p:txBody>
          <a:bodyPr wrap="square" lIns="0" tIns="0" rIns="0" bIns="0" rtlCol="0" anchor="ctr">
            <a:noAutofit/>
          </a:bodyPr>
          <a:lstStyle/>
          <a:p>
            <a:pPr algn="r"/>
            <a:r>
              <a:rPr lang="zh-CN" altLang="en-US" sz="2400" b="1" dirty="0">
                <a:solidFill>
                  <a:srgbClr val="00B0F0"/>
                </a:solidFill>
                <a:latin typeface="+mj-ea"/>
                <a:ea typeface="+mj-ea"/>
                <a:sym typeface="+mn-ea"/>
              </a:rPr>
              <a:t>行为和思想的异常</a:t>
            </a:r>
            <a:endParaRPr lang="zh-CN" altLang="en-US" sz="2400" b="1" dirty="0">
              <a:solidFill>
                <a:srgbClr val="00B0F0"/>
              </a:solidFill>
              <a:latin typeface="+mj-ea"/>
              <a:ea typeface="+mj-ea"/>
              <a:cs typeface="+mn-ea"/>
              <a:sym typeface="+mn-ea"/>
            </a:endParaRPr>
          </a:p>
        </p:txBody>
      </p:sp>
      <p:sp>
        <p:nvSpPr>
          <p:cNvPr id="16" name="标题 15"/>
          <p:cNvSpPr>
            <a:spLocks noGrp="1"/>
          </p:cNvSpPr>
          <p:nvPr>
            <p:ph type="title"/>
            <p:custDataLst>
              <p:tags r:id="rId17"/>
            </p:custDataLst>
          </p:nvPr>
        </p:nvSpPr>
        <p:spPr>
          <a:xfrm>
            <a:off x="695325" y="119380"/>
            <a:ext cx="10515600" cy="1325563"/>
          </a:xfrm>
          <a:effectLst>
            <a:outerShdw blurRad="50800" dist="38100" dir="2700000" algn="tl" rotWithShape="0">
              <a:prstClr val="black">
                <a:alpha val="40000"/>
              </a:prstClr>
            </a:outerShdw>
          </a:effectLst>
        </p:spPr>
        <p:txBody>
          <a:bodyPr/>
          <a:lstStyle/>
          <a:p>
            <a:pPr algn="l"/>
            <a:r>
              <a:rPr lang="zh-CN" altLang="en-US" dirty="0">
                <a:solidFill>
                  <a:schemeClr val="bg1"/>
                </a:solidFill>
              </a:rPr>
              <a:t>阳性症状</a:t>
            </a:r>
            <a:endParaRPr lang="zh-CN" altLang="en-US" dirty="0">
              <a:solidFill>
                <a:schemeClr val="bg1"/>
              </a:solidFill>
            </a:endParaRPr>
          </a:p>
        </p:txBody>
      </p:sp>
    </p:spTree>
    <p:custDataLst>
      <p:tags r:id="rId1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276903" y="1553378"/>
            <a:ext cx="9636084" cy="3751242"/>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2525485" y="955300"/>
            <a:ext cx="7141030" cy="4993807"/>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矩形: 圆角 9"/>
          <p:cNvSpPr/>
          <p:nvPr/>
        </p:nvSpPr>
        <p:spPr>
          <a:xfrm>
            <a:off x="0" y="2247071"/>
            <a:ext cx="12192000" cy="2363856"/>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4802069" y="3074471"/>
            <a:ext cx="2236510" cy="707886"/>
          </a:xfrm>
          <a:prstGeom prst="rect">
            <a:avLst/>
          </a:prstGeom>
          <a:noFill/>
        </p:spPr>
        <p:txBody>
          <a:bodyPr wrap="none" rtlCol="0">
            <a:spAutoFit/>
          </a:bodyPr>
          <a:lstStyle/>
          <a:p>
            <a:pPr algn="ctr"/>
            <a:r>
              <a:rPr lang="zh-CN" altLang="en-US" sz="4000" b="1" dirty="0">
                <a:solidFill>
                  <a:srgbClr val="FCFCFD"/>
                </a:solidFill>
                <a:latin typeface="+mj-ea"/>
                <a:ea typeface="+mj-ea"/>
              </a:rPr>
              <a:t>治疗方法</a:t>
            </a:r>
            <a:endParaRPr lang="zh-CN" altLang="en-US" sz="4000" b="1" dirty="0">
              <a:solidFill>
                <a:srgbClr val="FCFCFD"/>
              </a:solidFill>
              <a:latin typeface="+mj-ea"/>
              <a:ea typeface="+mj-ea"/>
            </a:endParaRPr>
          </a:p>
        </p:txBody>
      </p:sp>
      <p:sp>
        <p:nvSpPr>
          <p:cNvPr id="5" name="文本框 4"/>
          <p:cNvSpPr txBox="1"/>
          <p:nvPr/>
        </p:nvSpPr>
        <p:spPr>
          <a:xfrm>
            <a:off x="4599792" y="1046742"/>
            <a:ext cx="2990306" cy="1107996"/>
          </a:xfrm>
          <a:prstGeom prst="rect">
            <a:avLst/>
          </a:prstGeom>
          <a:noFill/>
        </p:spPr>
        <p:txBody>
          <a:bodyPr wrap="none" rtlCol="0">
            <a:spAutoFit/>
          </a:bodyPr>
          <a:lstStyle/>
          <a:p>
            <a:pPr algn="ctr"/>
            <a:r>
              <a:rPr lang="en-US" altLang="zh-CN" sz="6600" dirty="0">
                <a:solidFill>
                  <a:srgbClr val="00B0F0"/>
                </a:solidFill>
                <a:latin typeface="+mj-ea"/>
                <a:ea typeface="+mj-ea"/>
              </a:rPr>
              <a:t>PART 4</a:t>
            </a:r>
            <a:endParaRPr lang="en-US" altLang="zh-CN" sz="6600" dirty="0">
              <a:solidFill>
                <a:srgbClr val="00B0F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p14:dur="500">
        <p14:doors dir="ver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21" presetClass="entr" presetSubtype="2" fill="hold" grpId="0" nodeType="withEffect">
                                  <p:stCondLst>
                                    <p:cond delay="0"/>
                                  </p:stCondLst>
                                  <p:childTnLst>
                                    <p:set>
                                      <p:cBhvr>
                                        <p:cTn id="11" dur="500" fill="hold">
                                          <p:stCondLst>
                                            <p:cond delay="0"/>
                                          </p:stCondLst>
                                        </p:cTn>
                                        <p:tgtEl>
                                          <p:spTgt spid="15"/>
                                        </p:tgtEl>
                                        <p:attrNameLst>
                                          <p:attrName>style.visibility</p:attrName>
                                        </p:attrNameLst>
                                      </p:cBhvr>
                                      <p:to>
                                        <p:strVal val="visible"/>
                                      </p:to>
                                    </p:set>
                                    <p:animEffect transition="in" filter="wheel(2)">
                                      <p:cBhvr>
                                        <p:cTn id="12" dur="500"/>
                                        <p:tgtEl>
                                          <p:spTgt spid="15"/>
                                        </p:tgtEl>
                                      </p:cBhvr>
                                    </p:animEffect>
                                  </p:childTnLst>
                                </p:cTn>
                              </p:par>
                              <p:par>
                                <p:cTn id="13" presetID="10" presetClass="entr" presetSubtype="0" fill="hold" grpId="0" nodeType="withEffect">
                                  <p:stCondLst>
                                    <p:cond delay="0"/>
                                  </p:stCondLst>
                                  <p:childTnLst>
                                    <p:set>
                                      <p:cBhvr>
                                        <p:cTn id="14" dur="500"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6" presetClass="entr" presetSubtype="37" fill="hold" grpId="0" nodeType="withEffect">
                                  <p:stCondLst>
                                    <p:cond delay="0"/>
                                  </p:stCondLst>
                                  <p:childTnLst>
                                    <p:set>
                                      <p:cBhvr>
                                        <p:cTn id="17" dur="500" fill="hold">
                                          <p:stCondLst>
                                            <p:cond delay="0"/>
                                          </p:stCondLst>
                                        </p:cTn>
                                        <p:tgtEl>
                                          <p:spTgt spid="10"/>
                                        </p:tgtEl>
                                        <p:attrNameLst>
                                          <p:attrName>style.visibility</p:attrName>
                                        </p:attrNameLst>
                                      </p:cBhvr>
                                      <p:to>
                                        <p:strVal val="visible"/>
                                      </p:to>
                                    </p:set>
                                    <p:animEffect transition="in" filter="barn(outVertical)">
                                      <p:cBhvr>
                                        <p:cTn id="18" dur="500"/>
                                        <p:tgtEl>
                                          <p:spTgt spid="10"/>
                                        </p:tgtEl>
                                      </p:cBhvr>
                                    </p:animEffect>
                                  </p:childTnLst>
                                </p:cTn>
                              </p:par>
                              <p:par>
                                <p:cTn id="19" presetID="10" presetClass="entr" presetSubtype="0" fill="hold" grpId="0" nodeType="withEffect">
                                  <p:stCondLst>
                                    <p:cond delay="600"/>
                                  </p:stCondLst>
                                  <p:childTnLst>
                                    <p:set>
                                      <p:cBhvr>
                                        <p:cTn id="20" dur="500"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10" grpId="0" bldLvl="0" animBg="1"/>
      <p:bldP spid="8"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77957" y="1094342"/>
            <a:ext cx="9636084" cy="4702366"/>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矩形 1"/>
          <p:cNvSpPr/>
          <p:nvPr/>
        </p:nvSpPr>
        <p:spPr>
          <a:xfrm>
            <a:off x="3742063" y="0"/>
            <a:ext cx="4707874" cy="6858000"/>
          </a:xfrm>
          <a:prstGeom prst="rect">
            <a:avLst/>
          </a:prstGeom>
          <a:solidFill>
            <a:srgbClr val="00B0F0"/>
          </a:solidFill>
          <a:ln>
            <a:noFill/>
          </a:ln>
          <a:effectLst>
            <a:outerShdw blurRad="127000" sx="101000" sy="101000" algn="ctr" rotWithShape="0">
              <a:srgbClr val="D5D7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836145" y="1652530"/>
            <a:ext cx="8519710" cy="3585990"/>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2271713" y="2425700"/>
            <a:ext cx="7648575" cy="2006600"/>
          </a:xfrm>
          <a:prstGeom prst="rect">
            <a:avLst/>
          </a:prstGeom>
          <a:noFill/>
        </p:spPr>
        <p:txBody>
          <a:bodyPr wrap="square" rtlCol="0">
            <a:noAutofit/>
          </a:bodyPr>
          <a:lstStyle/>
          <a:p>
            <a:pPr>
              <a:lnSpc>
                <a:spcPct val="150000"/>
              </a:lnSpc>
            </a:pPr>
            <a:r>
              <a:rPr lang="zh-CN" altLang="en-US" sz="2000" dirty="0" smtClean="0">
                <a:latin typeface="宋体" panose="02010600030101010101" pitchFamily="2" charset="-122"/>
                <a:ea typeface="宋体" panose="02010600030101010101" pitchFamily="2" charset="-122"/>
                <a:sym typeface="+mn-ea"/>
              </a:rPr>
              <a:t>长期以来，精神分裂症都被认为是最难以治愈的精神类疾病之一，是由</a:t>
            </a:r>
            <a:r>
              <a:rPr lang="zh-CN" altLang="en-US" sz="2000" dirty="0">
                <a:latin typeface="宋体" panose="02010600030101010101" pitchFamily="2" charset="-122"/>
                <a:ea typeface="宋体" panose="02010600030101010101" pitchFamily="2" charset="-122"/>
                <a:sym typeface="+mn-ea"/>
              </a:rPr>
              <a:t>一组症状群所组成的临床</a:t>
            </a:r>
            <a:r>
              <a:rPr lang="zh-CN" altLang="en-US" sz="2000" dirty="0" smtClean="0">
                <a:latin typeface="宋体" panose="02010600030101010101" pitchFamily="2" charset="-122"/>
                <a:ea typeface="宋体" panose="02010600030101010101" pitchFamily="2" charset="-122"/>
                <a:sym typeface="+mn-ea"/>
              </a:rPr>
              <a:t>综合征。</a:t>
            </a:r>
            <a:r>
              <a:rPr lang="zh-CN" altLang="en-US" sz="2000">
                <a:latin typeface="宋体" panose="02010600030101010101" pitchFamily="2" charset="-122"/>
                <a:ea typeface="宋体" panose="02010600030101010101" pitchFamily="2" charset="-122"/>
                <a:sym typeface="+mn-ea"/>
              </a:rPr>
              <a:t>目前，临床针对精神分裂症患者主要采取药物方式治疗，可在一定程度上缓解患者精神分裂相关症状，但药物治疗无法改善患者社会、认知功能。</a:t>
            </a:r>
            <a:endParaRPr lang="en-US" altLang="zh-CN" sz="2000" b="1" dirty="0">
              <a:solidFill>
                <a:srgbClr val="3F403E"/>
              </a:solidFill>
              <a:latin typeface="+mn-ea"/>
            </a:endParaRPr>
          </a:p>
        </p:txBody>
      </p:sp>
      <p:sp>
        <p:nvSpPr>
          <p:cNvPr id="6" name="文本框 5"/>
          <p:cNvSpPr txBox="1"/>
          <p:nvPr/>
        </p:nvSpPr>
        <p:spPr>
          <a:xfrm>
            <a:off x="6031172" y="4350950"/>
            <a:ext cx="184730" cy="646331"/>
          </a:xfrm>
          <a:prstGeom prst="rect">
            <a:avLst/>
          </a:prstGeom>
          <a:noFill/>
        </p:spPr>
        <p:txBody>
          <a:bodyPr wrap="none" rtlCol="0">
            <a:spAutoFit/>
          </a:bodyPr>
          <a:lstStyle/>
          <a:p>
            <a:pPr algn="ctr"/>
            <a:endParaRPr lang="zh-CN" altLang="en-US" sz="3600" b="1" dirty="0">
              <a:solidFill>
                <a:srgbClr val="3F403E"/>
              </a:solidFill>
              <a:latin typeface="+mj-ea"/>
              <a:ea typeface="+mj-ea"/>
            </a:endParaRPr>
          </a:p>
        </p:txBody>
      </p:sp>
      <p:sp>
        <p:nvSpPr>
          <p:cNvPr id="8" name="文本框 7"/>
          <p:cNvSpPr txBox="1"/>
          <p:nvPr/>
        </p:nvSpPr>
        <p:spPr>
          <a:xfrm>
            <a:off x="4064000" y="588560"/>
            <a:ext cx="4064000" cy="1383665"/>
          </a:xfrm>
          <a:prstGeom prst="rect">
            <a:avLst/>
          </a:prstGeom>
        </p:spPr>
        <p:txBody>
          <a:bodyPr>
            <a:spAutoFit/>
            <a:extLst>
              <a:ext uri="{4A0BC546-FE56-4ADE-93B0-CB8AF2F6F144}">
                <wpsdc:textFrameExt xmlns:wpsdc="http://www.wps.cn/officeDocument/2022/drawingmlCustomData" type="text"/>
              </a:ext>
            </a:extLst>
          </a:bodyPr>
          <a:p>
            <a:pPr algn="ctr"/>
            <a:r>
              <a:rPr lang="zh-CN" altLang="en-US" sz="2800" b="1" dirty="0">
                <a:solidFill>
                  <a:schemeClr val="bg1"/>
                </a:solidFill>
                <a:sym typeface="+mn-ea"/>
              </a:rPr>
              <a:t>精神分裂症</a:t>
            </a:r>
            <a:endParaRPr lang="en-US" altLang="zh-CN" sz="2800" b="1" dirty="0">
              <a:solidFill>
                <a:schemeClr val="bg1"/>
              </a:solidFill>
              <a:sym typeface="+mn-ea"/>
            </a:endParaRPr>
          </a:p>
          <a:p>
            <a:pPr algn="ctr"/>
            <a:r>
              <a:rPr lang="en-US" altLang="zh-CN" sz="2800" b="1" dirty="0">
                <a:solidFill>
                  <a:schemeClr val="bg1"/>
                </a:solidFill>
                <a:sym typeface="+mn-ea"/>
              </a:rPr>
              <a:t>Schizophrenia</a:t>
            </a:r>
            <a:endParaRPr lang="zh-CN" altLang="en-US" sz="2800" b="1" dirty="0" smtClean="0">
              <a:solidFill>
                <a:schemeClr val="bg1"/>
              </a:solidFill>
              <a:latin typeface="微软雅黑" panose="020B0503020204020204" charset="-122"/>
              <a:ea typeface="微软雅黑" panose="020B0503020204020204" charset="-122"/>
            </a:endParaRPr>
          </a:p>
          <a:p>
            <a:pPr algn="ctr"/>
            <a:endParaRPr lang="zh-CN" altLang="en-US" sz="2800" b="1" dirty="0" smtClean="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50000" fill="hold" grpId="0" nodeType="afterEffect">
                                  <p:stCondLst>
                                    <p:cond delay="0"/>
                                  </p:stCondLst>
                                  <p:childTnLst>
                                    <p:set>
                                      <p:cBhvr>
                                        <p:cTn id="6" dur="500"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1" presetClass="entr" presetSubtype="4" fill="hold" grpId="0" nodeType="afterEffect">
                                  <p:stCondLst>
                                    <p:cond delay="0"/>
                                  </p:stCondLst>
                                  <p:childTnLst>
                                    <p:set>
                                      <p:cBhvr>
                                        <p:cTn id="11" dur="500" fill="hold">
                                          <p:stCondLst>
                                            <p:cond delay="0"/>
                                          </p:stCondLst>
                                        </p:cTn>
                                        <p:tgtEl>
                                          <p:spTgt spid="10"/>
                                        </p:tgtEl>
                                        <p:attrNameLst>
                                          <p:attrName>style.visibility</p:attrName>
                                        </p:attrNameLst>
                                      </p:cBhvr>
                                      <p:to>
                                        <p:strVal val="visible"/>
                                      </p:to>
                                    </p:set>
                                    <p:animEffect transition="in" filter="wheel(4)">
                                      <p:cBhvr>
                                        <p:cTn id="12" dur="500"/>
                                        <p:tgtEl>
                                          <p:spTgt spid="10"/>
                                        </p:tgtEl>
                                      </p:cBhvr>
                                    </p:animEffect>
                                  </p:childTnLst>
                                </p:cTn>
                              </p:par>
                              <p:par>
                                <p:cTn id="13" presetID="42" presetClass="entr" presetSubtype="0" fill="hold" grpId="0" nodeType="withEffect">
                                  <p:stCondLst>
                                    <p:cond delay="0"/>
                                  </p:stCondLst>
                                  <p:childTnLst>
                                    <p:set>
                                      <p:cBhvr>
                                        <p:cTn id="14" dur="500"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anim calcmode="lin" valueType="num">
                                      <p:cBhvr>
                                        <p:cTn id="16" dur="500" fill="hold"/>
                                        <p:tgtEl>
                                          <p:spTgt spid="3"/>
                                        </p:tgtEl>
                                        <p:attrNameLst>
                                          <p:attrName>ppt_x</p:attrName>
                                        </p:attrNameLst>
                                      </p:cBhvr>
                                      <p:tavLst>
                                        <p:tav tm="0">
                                          <p:val>
                                            <p:strVal val="#ppt_x"/>
                                          </p:val>
                                        </p:tav>
                                        <p:tav tm="100000">
                                          <p:val>
                                            <p:strVal val="#ppt_x"/>
                                          </p:val>
                                        </p:tav>
                                      </p:tavLst>
                                    </p:anim>
                                    <p:anim calcmode="lin" valueType="num">
                                      <p:cBhvr>
                                        <p:cTn id="17" dur="500" fill="hold"/>
                                        <p:tgtEl>
                                          <p:spTgt spid="3"/>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10" presetClass="entr" presetSubtype="0" fill="hold" grpId="0" nodeType="afterEffect" nodePh="1">
                                  <p:stCondLst>
                                    <p:cond delay="0"/>
                                  </p:stCondLst>
                                  <p:endCondLst>
                                    <p:cond evt="begin" delay="0">
                                      <p:tn val="19"/>
                                    </p:cond>
                                  </p:endCondLst>
                                  <p:childTnLst>
                                    <p:set>
                                      <p:cBhvr>
                                        <p:cTn id="20" dur="500"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22" presetClass="entr" presetSubtype="1" fill="hold" grpId="0" nodeType="withEffect">
                                  <p:stCondLst>
                                    <p:cond delay="0"/>
                                  </p:stCondLst>
                                  <p:childTnLst>
                                    <p:set>
                                      <p:cBhvr>
                                        <p:cTn id="23" dur="500"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2" grpId="0" bldLvl="0" animBg="1"/>
      <p:bldP spid="3" grpId="0" bldLvl="0" animBg="1"/>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PA_矩形 43"/>
          <p:cNvSpPr/>
          <p:nvPr>
            <p:custDataLst>
              <p:tags r:id="rId1"/>
            </p:custDataLst>
          </p:nvPr>
        </p:nvSpPr>
        <p:spPr>
          <a:xfrm flipH="1">
            <a:off x="975995" y="1426210"/>
            <a:ext cx="10723880" cy="1884680"/>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PA_矩形 43"/>
          <p:cNvSpPr/>
          <p:nvPr>
            <p:custDataLst>
              <p:tags r:id="rId2"/>
            </p:custDataLst>
          </p:nvPr>
        </p:nvSpPr>
        <p:spPr>
          <a:xfrm flipH="1">
            <a:off x="975995" y="4237355"/>
            <a:ext cx="10723880" cy="1884680"/>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矩形: 圆角 16"/>
          <p:cNvSpPr/>
          <p:nvPr/>
        </p:nvSpPr>
        <p:spPr>
          <a:xfrm>
            <a:off x="7546554" y="0"/>
            <a:ext cx="2842352" cy="6857998"/>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431800" y="1239520"/>
            <a:ext cx="11050270" cy="1884680"/>
          </a:xfrm>
          <a:prstGeom prst="rect">
            <a:avLst/>
          </a:prstGeom>
          <a:solidFill>
            <a:srgbClr val="F9FAFB"/>
          </a:solidFill>
          <a:ln w="25400">
            <a:noFill/>
          </a:ln>
          <a:effectLst>
            <a:outerShdw blurRad="127000" dist="25400" dir="5400000" algn="t" rotWithShape="0">
              <a:srgbClr val="969F9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31800" y="4044315"/>
            <a:ext cx="11050270" cy="1884680"/>
          </a:xfrm>
          <a:prstGeom prst="rect">
            <a:avLst/>
          </a:prstGeom>
          <a:solidFill>
            <a:srgbClr val="F9FAFB"/>
          </a:solidFill>
          <a:ln w="25400">
            <a:noFill/>
          </a:ln>
          <a:effectLst>
            <a:outerShdw blurRad="127000" dist="25400" dir="5400000" algn="t" rotWithShape="0">
              <a:srgbClr val="969F9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582545" y="1426210"/>
            <a:ext cx="8819515" cy="1568450"/>
          </a:xfrm>
          <a:prstGeom prst="rect">
            <a:avLst/>
          </a:prstGeom>
          <a:noFill/>
          <a:ln>
            <a:noFill/>
          </a:ln>
          <a:effectLst/>
        </p:spPr>
        <p:txBody>
          <a:bodyPr wrap="square" rtlCol="0">
            <a:spAutoFit/>
          </a:bodyPr>
          <a:lstStyle/>
          <a:p>
            <a:r>
              <a:rPr altLang="zh-CN" sz="2400" dirty="0"/>
              <a:t>药物是治疗精神分裂症的基础，可帮助患者减轻精神症状，但持续用药后仍存在注意力差、情感迟钝等情况，还伴有一定不良反应，影响患者依从性。为加快患者病情改善、早期融入社会生活，临床需在合理用药基础上从护理角度加强干预。</a:t>
            </a:r>
            <a:endParaRPr altLang="zh-CN" sz="2400" dirty="0"/>
          </a:p>
        </p:txBody>
      </p:sp>
      <p:sp>
        <p:nvSpPr>
          <p:cNvPr id="14" name="文本框 13"/>
          <p:cNvSpPr txBox="1"/>
          <p:nvPr/>
        </p:nvSpPr>
        <p:spPr>
          <a:xfrm>
            <a:off x="784860" y="4390390"/>
            <a:ext cx="8093710" cy="1192530"/>
          </a:xfrm>
          <a:prstGeom prst="rect">
            <a:avLst/>
          </a:prstGeom>
          <a:noFill/>
          <a:ln>
            <a:noFill/>
          </a:ln>
          <a:effectLst/>
        </p:spPr>
        <p:txBody>
          <a:bodyPr wrap="square" rtlCol="0">
            <a:noAutofit/>
          </a:bodyPr>
          <a:lstStyle/>
          <a:p>
            <a:r>
              <a:rPr altLang="zh-CN" sz="2400" dirty="0"/>
              <a:t>传统常规护理仅予以患者饮食、用药等方面基础指导，对心理层面关注度不足，缺乏系统化的心理指导，患者仍伴有较多负性情绪，不利于病情改善。</a:t>
            </a:r>
            <a:endParaRPr altLang="zh-CN" sz="2400" dirty="0"/>
          </a:p>
        </p:txBody>
      </p:sp>
      <p:sp>
        <p:nvSpPr>
          <p:cNvPr id="18" name="文本框 17"/>
          <p:cNvSpPr txBox="1"/>
          <p:nvPr/>
        </p:nvSpPr>
        <p:spPr>
          <a:xfrm>
            <a:off x="7961892" y="452766"/>
            <a:ext cx="2011680" cy="645160"/>
          </a:xfrm>
          <a:prstGeom prst="rect">
            <a:avLst/>
          </a:prstGeom>
          <a:noFill/>
          <a:effectLst>
            <a:reflection endPos="35000" dir="5400000" sy="-100000" algn="bl" rotWithShape="0"/>
          </a:effectLst>
        </p:spPr>
        <p:txBody>
          <a:bodyPr wrap="none" rtlCol="0">
            <a:spAutoFit/>
          </a:bodyPr>
          <a:lstStyle/>
          <a:p>
            <a:pPr algn="ctr"/>
            <a:r>
              <a:rPr lang="zh-CN" altLang="en-US" sz="3600" b="1" dirty="0">
                <a:solidFill>
                  <a:schemeClr val="bg1"/>
                </a:solidFill>
                <a:latin typeface="+mj-ea"/>
                <a:ea typeface="+mj-ea"/>
              </a:rPr>
              <a:t>治疗方法</a:t>
            </a:r>
            <a:endParaRPr lang="zh-CN" altLang="en-US" sz="3600" b="1" dirty="0">
              <a:solidFill>
                <a:schemeClr val="bg1"/>
              </a:solidFill>
              <a:latin typeface="+mj-ea"/>
              <a:ea typeface="+mj-ea"/>
            </a:endParaRPr>
          </a:p>
        </p:txBody>
      </p:sp>
      <p:pic>
        <p:nvPicPr>
          <p:cNvPr id="2" name="图片 1" descr="d50bb6a3b89a4622b91e2af20d76666d"/>
          <p:cNvPicPr>
            <a:picLocks noChangeAspect="1"/>
          </p:cNvPicPr>
          <p:nvPr/>
        </p:nvPicPr>
        <p:blipFill>
          <a:blip r:embed="rId3"/>
          <a:stretch>
            <a:fillRect/>
          </a:stretch>
        </p:blipFill>
        <p:spPr>
          <a:xfrm>
            <a:off x="530225" y="1303020"/>
            <a:ext cx="2052320" cy="1718310"/>
          </a:xfrm>
          <a:prstGeom prst="rect">
            <a:avLst/>
          </a:prstGeom>
        </p:spPr>
      </p:pic>
      <p:pic>
        <p:nvPicPr>
          <p:cNvPr id="3" name="图片 2" descr="47589077ee696d946486ecef8d906ea9"/>
          <p:cNvPicPr>
            <a:picLocks noChangeAspect="1"/>
          </p:cNvPicPr>
          <p:nvPr/>
        </p:nvPicPr>
        <p:blipFill>
          <a:blip r:embed="rId4"/>
          <a:stretch>
            <a:fillRect/>
          </a:stretch>
        </p:blipFill>
        <p:spPr>
          <a:xfrm>
            <a:off x="8878570" y="4140835"/>
            <a:ext cx="2434590" cy="16916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77957" y="1094342"/>
            <a:ext cx="9636084" cy="4702366"/>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矩形 1"/>
          <p:cNvSpPr/>
          <p:nvPr/>
        </p:nvSpPr>
        <p:spPr>
          <a:xfrm>
            <a:off x="3099435" y="0"/>
            <a:ext cx="6111875" cy="6858000"/>
          </a:xfrm>
          <a:prstGeom prst="rect">
            <a:avLst/>
          </a:prstGeom>
          <a:solidFill>
            <a:srgbClr val="00B0F0"/>
          </a:solidFill>
          <a:ln>
            <a:noFill/>
          </a:ln>
          <a:effectLst>
            <a:outerShdw blurRad="127000" sx="101000" sy="101000" algn="ctr" rotWithShape="0">
              <a:srgbClr val="D5D7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836145" y="1652530"/>
            <a:ext cx="8519710" cy="3585990"/>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文本框 5"/>
          <p:cNvSpPr txBox="1"/>
          <p:nvPr/>
        </p:nvSpPr>
        <p:spPr>
          <a:xfrm>
            <a:off x="6031172" y="4350950"/>
            <a:ext cx="184730" cy="646331"/>
          </a:xfrm>
          <a:prstGeom prst="rect">
            <a:avLst/>
          </a:prstGeom>
          <a:noFill/>
        </p:spPr>
        <p:txBody>
          <a:bodyPr wrap="none" rtlCol="0">
            <a:spAutoFit/>
          </a:bodyPr>
          <a:lstStyle/>
          <a:p>
            <a:pPr algn="ctr"/>
            <a:endParaRPr lang="zh-CN" altLang="en-US" sz="3600" b="1" dirty="0">
              <a:solidFill>
                <a:srgbClr val="3F403E"/>
              </a:solidFill>
              <a:latin typeface="+mj-ea"/>
              <a:ea typeface="+mj-ea"/>
            </a:endParaRPr>
          </a:p>
        </p:txBody>
      </p:sp>
      <p:cxnSp>
        <p:nvCxnSpPr>
          <p:cNvPr id="7" name="直接连接符 6"/>
          <p:cNvCxnSpPr/>
          <p:nvPr/>
        </p:nvCxnSpPr>
        <p:spPr>
          <a:xfrm flipH="1">
            <a:off x="3963257" y="5130643"/>
            <a:ext cx="4000015" cy="0"/>
          </a:xfrm>
          <a:prstGeom prst="line">
            <a:avLst/>
          </a:prstGeom>
          <a:ln>
            <a:solidFill>
              <a:srgbClr val="969F98">
                <a:alpha val="50000"/>
              </a:srgb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867025" y="572135"/>
            <a:ext cx="6576060" cy="52197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2800" b="1" dirty="0">
                <a:solidFill>
                  <a:schemeClr val="bg1"/>
                </a:solidFill>
                <a:sym typeface="+mn-ea"/>
              </a:rPr>
              <a:t>非药物治疗</a:t>
            </a:r>
            <a:r>
              <a:rPr lang="en-US" altLang="zh-CN" sz="2800" b="1" dirty="0">
                <a:solidFill>
                  <a:schemeClr val="bg1"/>
                </a:solidFill>
                <a:sym typeface="+mn-ea"/>
              </a:rPr>
              <a:t>——</a:t>
            </a:r>
            <a:r>
              <a:rPr lang="zh-CN" altLang="en-US" sz="2800" b="1" dirty="0">
                <a:solidFill>
                  <a:schemeClr val="bg1"/>
                </a:solidFill>
                <a:sym typeface="+mn-ea"/>
              </a:rPr>
              <a:t>元情绪疗法</a:t>
            </a:r>
            <a:endParaRPr lang="zh-CN" altLang="en-US" sz="2800" b="1" dirty="0">
              <a:solidFill>
                <a:schemeClr val="bg1"/>
              </a:solidFill>
              <a:sym typeface="+mn-ea"/>
            </a:endParaRPr>
          </a:p>
        </p:txBody>
      </p:sp>
      <p:sp>
        <p:nvSpPr>
          <p:cNvPr id="11" name="文本框 10"/>
          <p:cNvSpPr txBox="1"/>
          <p:nvPr/>
        </p:nvSpPr>
        <p:spPr>
          <a:xfrm>
            <a:off x="2299335" y="1833245"/>
            <a:ext cx="7648575" cy="2346960"/>
          </a:xfrm>
          <a:prstGeom prst="rect">
            <a:avLst/>
          </a:prstGeom>
          <a:noFill/>
        </p:spPr>
        <p:txBody>
          <a:bodyPr wrap="square" rtlCol="0">
            <a:noAutofit/>
          </a:bodyPr>
          <a:p>
            <a:pPr>
              <a:lnSpc>
                <a:spcPct val="150000"/>
              </a:lnSpc>
            </a:pPr>
            <a:r>
              <a:rPr lang="zh-CN" altLang="en-US" sz="2000" b="1" u="sng">
                <a:latin typeface="宋体" panose="02010600030101010101" pitchFamily="2" charset="-122"/>
                <a:ea typeface="宋体" panose="02010600030101010101" pitchFamily="2" charset="-122"/>
                <a:sym typeface="+mn-ea"/>
              </a:rPr>
              <a:t>元情绪</a:t>
            </a:r>
            <a:r>
              <a:rPr lang="zh-CN" altLang="en-US" sz="2000">
                <a:latin typeface="宋体" panose="02010600030101010101" pitchFamily="2" charset="-122"/>
                <a:ea typeface="宋体" panose="02010600030101010101" pitchFamily="2" charset="-122"/>
                <a:sym typeface="+mn-ea"/>
              </a:rPr>
              <a:t>指个体感知、评价自身情绪，有目的地分析情绪发生诱因，并调控情绪，以纠正认知，保持良好身心状态。在元情绪疗法实施过程中，患者能够明显感知自身情绪的变化，体会该变化所带来的愉悦感，处理生活中事件逐渐自如，形成身心上的正性变化，有利于调动参与积极性，主动依从护理。</a:t>
            </a:r>
            <a:r>
              <a:rPr lang="zh-CN" altLang="en-US" sz="2000" b="1" u="sng">
                <a:latin typeface="宋体" panose="02010600030101010101" pitchFamily="2" charset="-122"/>
                <a:ea typeface="宋体" panose="02010600030101010101" pitchFamily="2" charset="-122"/>
                <a:sym typeface="+mn-ea"/>
              </a:rPr>
              <a:t>元情绪疗法</a:t>
            </a:r>
            <a:r>
              <a:rPr lang="zh-CN" altLang="en-US" sz="2000">
                <a:latin typeface="宋体" panose="02010600030101010101" pitchFamily="2" charset="-122"/>
                <a:ea typeface="宋体" panose="02010600030101010101" pitchFamily="2" charset="-122"/>
                <a:sym typeface="+mn-ea"/>
              </a:rPr>
              <a:t>具有较强的可操作性，其中融入心理护理措施能够有效抑制消极情绪，减轻疾病负面影响，对促进生活质量改善具有重要意义。</a:t>
            </a:r>
            <a:endParaRPr lang="zh-CN" altLang="en-US" sz="2000">
              <a:latin typeface="宋体" panose="02010600030101010101" pitchFamily="2" charset="-122"/>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517" y="0"/>
            <a:ext cx="4707874" cy="6858000"/>
          </a:xfrm>
          <a:prstGeom prst="rect">
            <a:avLst/>
          </a:prstGeom>
          <a:solidFill>
            <a:srgbClr val="00B0F0"/>
          </a:solidFill>
          <a:ln>
            <a:noFill/>
          </a:ln>
          <a:effectLst>
            <a:outerShdw blurRad="127000" sx="101000" sy="101000" algn="ctr" rotWithShape="0">
              <a:srgbClr val="D5D7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outerShdw blurRad="50800" dist="38100" dir="2700000" algn="tl" rotWithShape="0">
                  <a:prstClr val="black">
                    <a:alpha val="40000"/>
                  </a:prstClr>
                </a:outerShdw>
              </a:effectLst>
            </a:endParaRPr>
          </a:p>
        </p:txBody>
      </p:sp>
      <p:sp>
        <p:nvSpPr>
          <p:cNvPr id="3" name="矩形 2"/>
          <p:cNvSpPr/>
          <p:nvPr/>
        </p:nvSpPr>
        <p:spPr>
          <a:xfrm>
            <a:off x="335280" y="1271905"/>
            <a:ext cx="4363085" cy="4920615"/>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effectLst>
                <a:outerShdw blurRad="50800" dist="38100" algn="l" rotWithShape="0">
                  <a:prstClr val="black">
                    <a:alpha val="40000"/>
                  </a:prstClr>
                </a:outerShdw>
              </a:effectLst>
            </a:endParaRPr>
          </a:p>
        </p:txBody>
      </p:sp>
      <p:sp>
        <p:nvSpPr>
          <p:cNvPr id="14" name="文本框 13"/>
          <p:cNvSpPr txBox="1"/>
          <p:nvPr/>
        </p:nvSpPr>
        <p:spPr>
          <a:xfrm>
            <a:off x="784225" y="2254885"/>
            <a:ext cx="3289300" cy="876300"/>
          </a:xfrm>
          <a:prstGeom prst="rect">
            <a:avLst/>
          </a:prstGeom>
          <a:noFill/>
        </p:spPr>
        <p:txBody>
          <a:bodyPr wrap="square" rtlCol="0">
            <a:noAutofit/>
          </a:bodyPr>
          <a:lstStyle/>
          <a:p>
            <a:pPr>
              <a:lnSpc>
                <a:spcPct val="120000"/>
              </a:lnSpc>
            </a:pPr>
            <a:r>
              <a:rPr dirty="0">
                <a:latin typeface="+mn-ea"/>
              </a:rPr>
              <a:t>首先确定主题。</a:t>
            </a:r>
            <a:r>
              <a:rPr b="1" u="sng" dirty="0">
                <a:latin typeface="+mn-ea"/>
              </a:rPr>
              <a:t>护理部</a:t>
            </a:r>
            <a:r>
              <a:rPr dirty="0">
                <a:latin typeface="+mn-ea"/>
              </a:rPr>
              <a:t>主任组织</a:t>
            </a:r>
            <a:r>
              <a:rPr b="1" u="sng" dirty="0">
                <a:latin typeface="+mn-ea"/>
              </a:rPr>
              <a:t>召开情景会议</a:t>
            </a:r>
            <a:r>
              <a:rPr dirty="0">
                <a:latin typeface="+mn-ea"/>
              </a:rPr>
              <a:t>，人员包括主管护师、心理师、患者、家属。介绍会议目的（10 min）。指导患者填写HAMA量表、HAMD量表（20 min）。护理部主任、心理师、主管护师共同评价，明确护理问题、演示主题。其次编写剧本。由具备一定写作基础的护士根据主题</a:t>
            </a:r>
            <a:r>
              <a:rPr b="1" u="sng" dirty="0">
                <a:latin typeface="+mn-ea"/>
              </a:rPr>
              <a:t>编写剧本</a:t>
            </a:r>
            <a:r>
              <a:rPr dirty="0">
                <a:latin typeface="+mn-ea"/>
              </a:rPr>
              <a:t>。</a:t>
            </a:r>
            <a:endParaRPr dirty="0">
              <a:latin typeface="+mn-ea"/>
            </a:endParaRPr>
          </a:p>
        </p:txBody>
      </p:sp>
      <p:sp>
        <p:nvSpPr>
          <p:cNvPr id="15" name="文本框 14"/>
          <p:cNvSpPr txBox="1"/>
          <p:nvPr/>
        </p:nvSpPr>
        <p:spPr>
          <a:xfrm>
            <a:off x="783590" y="1529715"/>
            <a:ext cx="633730" cy="302895"/>
          </a:xfrm>
          <a:prstGeom prst="rect">
            <a:avLst/>
          </a:prstGeom>
          <a:noFill/>
        </p:spPr>
        <p:txBody>
          <a:bodyPr wrap="none" rtlCol="0">
            <a:noAutofit/>
          </a:bodyPr>
          <a:lstStyle/>
          <a:p>
            <a:r>
              <a:rPr lang="zh-CN" altLang="en-US" sz="2400" b="1" dirty="0">
                <a:solidFill>
                  <a:srgbClr val="3F403E"/>
                </a:solidFill>
                <a:latin typeface="+mj-ea"/>
                <a:ea typeface="+mj-ea"/>
              </a:rPr>
              <a:t>情景选择</a:t>
            </a:r>
            <a:endParaRPr lang="zh-CN" altLang="en-US" sz="2400" b="1" dirty="0">
              <a:solidFill>
                <a:srgbClr val="3F403E"/>
              </a:solidFill>
              <a:latin typeface="+mj-ea"/>
              <a:ea typeface="+mj-ea"/>
            </a:endParaRPr>
          </a:p>
        </p:txBody>
      </p:sp>
      <p:cxnSp>
        <p:nvCxnSpPr>
          <p:cNvPr id="16" name="直接连接符 15"/>
          <p:cNvCxnSpPr/>
          <p:nvPr/>
        </p:nvCxnSpPr>
        <p:spPr>
          <a:xfrm>
            <a:off x="874194" y="1893196"/>
            <a:ext cx="973455" cy="0"/>
          </a:xfrm>
          <a:prstGeom prst="line">
            <a:avLst/>
          </a:prstGeom>
          <a:ln>
            <a:solidFill>
              <a:srgbClr val="969F98">
                <a:alpha val="50000"/>
              </a:srgbClr>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546300" y="227397"/>
            <a:ext cx="1198880" cy="706755"/>
          </a:xfrm>
          <a:prstGeom prst="rect">
            <a:avLst/>
          </a:prstGeom>
          <a:noFill/>
        </p:spPr>
        <p:txBody>
          <a:bodyPr wrap="none" rtlCol="0">
            <a:spAutoFit/>
          </a:bodyPr>
          <a:lstStyle/>
          <a:p>
            <a:pPr algn="ctr"/>
            <a:r>
              <a:rPr lang="zh-CN" altLang="en-US" sz="4000" b="1" dirty="0">
                <a:solidFill>
                  <a:srgbClr val="FCFCFD"/>
                </a:solidFill>
                <a:latin typeface="+mj-ea"/>
                <a:ea typeface="+mj-ea"/>
              </a:rPr>
              <a:t>示例</a:t>
            </a:r>
            <a:endParaRPr lang="zh-CN" altLang="en-US" sz="4000" b="1" dirty="0">
              <a:solidFill>
                <a:srgbClr val="FCFCFD"/>
              </a:solidFill>
              <a:latin typeface="+mj-ea"/>
              <a:ea typeface="+mj-ea"/>
            </a:endParaRPr>
          </a:p>
        </p:txBody>
      </p:sp>
      <p:sp>
        <p:nvSpPr>
          <p:cNvPr id="22" name="Freeform 29"/>
          <p:cNvSpPr>
            <a:spLocks noEditPoints="1"/>
          </p:cNvSpPr>
          <p:nvPr/>
        </p:nvSpPr>
        <p:spPr bwMode="auto">
          <a:xfrm>
            <a:off x="4782820" y="870585"/>
            <a:ext cx="6891655" cy="5029835"/>
          </a:xfrm>
          <a:custGeom>
            <a:avLst/>
            <a:gdLst>
              <a:gd name="T0" fmla="*/ 1379 w 1603"/>
              <a:gd name="T1" fmla="*/ 224 h 1528"/>
              <a:gd name="T2" fmla="*/ 839 w 1603"/>
              <a:gd name="T3" fmla="*/ 0 h 1528"/>
              <a:gd name="T4" fmla="*/ 299 w 1603"/>
              <a:gd name="T5" fmla="*/ 224 h 1528"/>
              <a:gd name="T6" fmla="*/ 248 w 1603"/>
              <a:gd name="T7" fmla="*/ 1248 h 1528"/>
              <a:gd name="T8" fmla="*/ 128 w 1603"/>
              <a:gd name="T9" fmla="*/ 1388 h 1528"/>
              <a:gd name="T10" fmla="*/ 89 w 1603"/>
              <a:gd name="T11" fmla="*/ 1462 h 1528"/>
              <a:gd name="T12" fmla="*/ 148 w 1603"/>
              <a:gd name="T13" fmla="*/ 1522 h 1528"/>
              <a:gd name="T14" fmla="*/ 202 w 1603"/>
              <a:gd name="T15" fmla="*/ 1526 h 1528"/>
              <a:gd name="T16" fmla="*/ 477 w 1603"/>
              <a:gd name="T17" fmla="*/ 1437 h 1528"/>
              <a:gd name="T18" fmla="*/ 839 w 1603"/>
              <a:gd name="T19" fmla="*/ 1528 h 1528"/>
              <a:gd name="T20" fmla="*/ 1379 w 1603"/>
              <a:gd name="T21" fmla="*/ 1304 h 1528"/>
              <a:gd name="T22" fmla="*/ 1603 w 1603"/>
              <a:gd name="T23" fmla="*/ 764 h 1528"/>
              <a:gd name="T24" fmla="*/ 1379 w 1603"/>
              <a:gd name="T25" fmla="*/ 224 h 1528"/>
              <a:gd name="T26" fmla="*/ 1318 w 1603"/>
              <a:gd name="T27" fmla="*/ 1243 h 1528"/>
              <a:gd name="T28" fmla="*/ 839 w 1603"/>
              <a:gd name="T29" fmla="*/ 1442 h 1528"/>
              <a:gd name="T30" fmla="*/ 496 w 1603"/>
              <a:gd name="T31" fmla="*/ 1348 h 1528"/>
              <a:gd name="T32" fmla="*/ 474 w 1603"/>
              <a:gd name="T33" fmla="*/ 1342 h 1528"/>
              <a:gd name="T34" fmla="*/ 447 w 1603"/>
              <a:gd name="T35" fmla="*/ 1351 h 1528"/>
              <a:gd name="T36" fmla="*/ 208 w 1603"/>
              <a:gd name="T37" fmla="*/ 1439 h 1528"/>
              <a:gd name="T38" fmla="*/ 339 w 1603"/>
              <a:gd name="T39" fmla="*/ 1259 h 1528"/>
              <a:gd name="T40" fmla="*/ 331 w 1603"/>
              <a:gd name="T41" fmla="*/ 1212 h 1528"/>
              <a:gd name="T42" fmla="*/ 360 w 1603"/>
              <a:gd name="T43" fmla="*/ 284 h 1528"/>
              <a:gd name="T44" fmla="*/ 839 w 1603"/>
              <a:gd name="T45" fmla="*/ 86 h 1528"/>
              <a:gd name="T46" fmla="*/ 1318 w 1603"/>
              <a:gd name="T47" fmla="*/ 284 h 1528"/>
              <a:gd name="T48" fmla="*/ 1318 w 1603"/>
              <a:gd name="T49" fmla="*/ 1243 h 1528"/>
              <a:gd name="T50" fmla="*/ 1318 w 1603"/>
              <a:gd name="T51" fmla="*/ 1243 h 1528"/>
              <a:gd name="T52" fmla="*/ 1318 w 1603"/>
              <a:gd name="T53" fmla="*/ 1243 h 1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03" h="1528">
                <a:moveTo>
                  <a:pt x="1379" y="224"/>
                </a:moveTo>
                <a:cubicBezTo>
                  <a:pt x="1235" y="80"/>
                  <a:pt x="1043" y="0"/>
                  <a:pt x="839" y="0"/>
                </a:cubicBezTo>
                <a:cubicBezTo>
                  <a:pt x="635" y="0"/>
                  <a:pt x="443" y="79"/>
                  <a:pt x="299" y="224"/>
                </a:cubicBezTo>
                <a:cubicBezTo>
                  <a:pt x="20" y="502"/>
                  <a:pt x="0" y="947"/>
                  <a:pt x="248" y="1248"/>
                </a:cubicBezTo>
                <a:cubicBezTo>
                  <a:pt x="214" y="1318"/>
                  <a:pt x="173" y="1365"/>
                  <a:pt x="128" y="1388"/>
                </a:cubicBezTo>
                <a:cubicBezTo>
                  <a:pt x="100" y="1401"/>
                  <a:pt x="84" y="1431"/>
                  <a:pt x="89" y="1462"/>
                </a:cubicBezTo>
                <a:cubicBezTo>
                  <a:pt x="93" y="1493"/>
                  <a:pt x="117" y="1517"/>
                  <a:pt x="148" y="1522"/>
                </a:cubicBezTo>
                <a:cubicBezTo>
                  <a:pt x="165" y="1524"/>
                  <a:pt x="183" y="1526"/>
                  <a:pt x="202" y="1526"/>
                </a:cubicBezTo>
                <a:cubicBezTo>
                  <a:pt x="296" y="1526"/>
                  <a:pt x="395" y="1494"/>
                  <a:pt x="477" y="1437"/>
                </a:cubicBezTo>
                <a:cubicBezTo>
                  <a:pt x="588" y="1497"/>
                  <a:pt x="712" y="1528"/>
                  <a:pt x="839" y="1528"/>
                </a:cubicBezTo>
                <a:cubicBezTo>
                  <a:pt x="1043" y="1528"/>
                  <a:pt x="1235" y="1449"/>
                  <a:pt x="1379" y="1304"/>
                </a:cubicBezTo>
                <a:cubicBezTo>
                  <a:pt x="1523" y="1160"/>
                  <a:pt x="1603" y="968"/>
                  <a:pt x="1603" y="764"/>
                </a:cubicBezTo>
                <a:cubicBezTo>
                  <a:pt x="1603" y="560"/>
                  <a:pt x="1523" y="368"/>
                  <a:pt x="1379" y="224"/>
                </a:cubicBezTo>
                <a:close/>
                <a:moveTo>
                  <a:pt x="1318" y="1243"/>
                </a:moveTo>
                <a:cubicBezTo>
                  <a:pt x="1190" y="1371"/>
                  <a:pt x="1020" y="1442"/>
                  <a:pt x="839" y="1442"/>
                </a:cubicBezTo>
                <a:cubicBezTo>
                  <a:pt x="718" y="1442"/>
                  <a:pt x="599" y="1409"/>
                  <a:pt x="496" y="1348"/>
                </a:cubicBezTo>
                <a:cubicBezTo>
                  <a:pt x="489" y="1345"/>
                  <a:pt x="481" y="1342"/>
                  <a:pt x="474" y="1342"/>
                </a:cubicBezTo>
                <a:cubicBezTo>
                  <a:pt x="465" y="1342"/>
                  <a:pt x="455" y="1346"/>
                  <a:pt x="447" y="1351"/>
                </a:cubicBezTo>
                <a:cubicBezTo>
                  <a:pt x="349" y="1427"/>
                  <a:pt x="251" y="1438"/>
                  <a:pt x="208" y="1439"/>
                </a:cubicBezTo>
                <a:cubicBezTo>
                  <a:pt x="259" y="1401"/>
                  <a:pt x="302" y="1341"/>
                  <a:pt x="339" y="1259"/>
                </a:cubicBezTo>
                <a:cubicBezTo>
                  <a:pt x="345" y="1243"/>
                  <a:pt x="342" y="1225"/>
                  <a:pt x="331" y="1212"/>
                </a:cubicBezTo>
                <a:cubicBezTo>
                  <a:pt x="94" y="945"/>
                  <a:pt x="107" y="537"/>
                  <a:pt x="360" y="284"/>
                </a:cubicBezTo>
                <a:cubicBezTo>
                  <a:pt x="488" y="156"/>
                  <a:pt x="658" y="86"/>
                  <a:pt x="839" y="86"/>
                </a:cubicBezTo>
                <a:cubicBezTo>
                  <a:pt x="1020" y="86"/>
                  <a:pt x="1190" y="156"/>
                  <a:pt x="1318" y="284"/>
                </a:cubicBezTo>
                <a:cubicBezTo>
                  <a:pt x="1582" y="549"/>
                  <a:pt x="1582" y="979"/>
                  <a:pt x="1318" y="1243"/>
                </a:cubicBezTo>
                <a:close/>
                <a:moveTo>
                  <a:pt x="1318" y="1243"/>
                </a:moveTo>
                <a:cubicBezTo>
                  <a:pt x="1318" y="1243"/>
                  <a:pt x="1318" y="1243"/>
                  <a:pt x="1318" y="1243"/>
                </a:cubicBezTo>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6" name="文本框 5"/>
          <p:cNvSpPr txBox="1"/>
          <p:nvPr/>
        </p:nvSpPr>
        <p:spPr>
          <a:xfrm>
            <a:off x="5941695" y="2106930"/>
            <a:ext cx="5017135" cy="3050540"/>
          </a:xfrm>
          <a:prstGeom prst="rect">
            <a:avLst/>
          </a:prstGeom>
          <a:noFill/>
        </p:spPr>
        <p:txBody>
          <a:bodyPr wrap="square" rtlCol="0">
            <a:noAutofit/>
          </a:bodyPr>
          <a:p>
            <a:r>
              <a:rPr lang="zh-CN" altLang="en-US">
                <a:sym typeface="+mn-ea"/>
              </a:rPr>
              <a:t>例如：“假如你的舍友因你早出晚归、等无法忍受你，在你晚上12：00未回时，反锁门，你如何处理？</a:t>
            </a:r>
            <a:endParaRPr lang="zh-CN" altLang="en-US"/>
          </a:p>
          <a:p>
            <a:r>
              <a:rPr lang="zh-CN" altLang="en-US">
                <a:sym typeface="+mn-ea"/>
              </a:rPr>
              <a:t>A自认为没错，敲门将室友吵醒；</a:t>
            </a:r>
            <a:endParaRPr lang="zh-CN" altLang="en-US"/>
          </a:p>
          <a:p>
            <a:r>
              <a:rPr lang="zh-CN" altLang="en-US">
                <a:sym typeface="+mn-ea"/>
              </a:rPr>
              <a:t>B在门口大哭，引起其他宿舍人员围观；</a:t>
            </a:r>
            <a:endParaRPr lang="zh-CN" altLang="en-US"/>
          </a:p>
          <a:p>
            <a:r>
              <a:rPr lang="zh-CN" altLang="en-US">
                <a:sym typeface="+mn-ea"/>
              </a:rPr>
              <a:t>C告知辅导员、老师；</a:t>
            </a:r>
            <a:endParaRPr lang="zh-CN" altLang="en-US"/>
          </a:p>
          <a:p>
            <a:r>
              <a:rPr lang="zh-CN" altLang="en-US">
                <a:sym typeface="+mn-ea"/>
              </a:rPr>
              <a:t>D发短信给室友，请求原谅；</a:t>
            </a:r>
            <a:endParaRPr lang="zh-CN" altLang="en-US"/>
          </a:p>
          <a:p>
            <a:r>
              <a:rPr lang="zh-CN" altLang="en-US">
                <a:sym typeface="+mn-ea"/>
              </a:rPr>
              <a:t>E蹲在门口至天亮；</a:t>
            </a:r>
            <a:endParaRPr lang="zh-CN" altLang="en-US"/>
          </a:p>
          <a:p>
            <a:r>
              <a:rPr lang="zh-CN" altLang="en-US">
                <a:sym typeface="+mn-ea"/>
              </a:rPr>
              <a:t>F寻求其他朋友帮助。”</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stCondLst>
                                    <p:cond delay="0"/>
                                  </p:stCondLst>
                                  <p:childTnLst>
                                    <p:set>
                                      <p:cBhvr>
                                        <p:cTn id="11" dur="500"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par>
                                <p:cTn id="13" presetID="22" presetClass="entr" presetSubtype="8" fill="hold" nodeType="withEffect">
                                  <p:stCondLst>
                                    <p:cond delay="0"/>
                                  </p:stCondLst>
                                  <p:childTnLst>
                                    <p:set>
                                      <p:cBhvr>
                                        <p:cTn id="14" dur="500"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2" presetClass="entr" presetSubtype="1" fill="hold" grpId="0" nodeType="withEffect">
                                  <p:stCondLst>
                                    <p:cond delay="0"/>
                                  </p:stCondLst>
                                  <p:childTnLst>
                                    <p:set>
                                      <p:cBhvr>
                                        <p:cTn id="17" dur="500"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childTnLst>
                          </p:cTn>
                        </p:par>
                        <p:par>
                          <p:cTn id="19" fill="hold">
                            <p:stCondLst>
                              <p:cond delay="500"/>
                            </p:stCondLst>
                            <p:childTnLst>
                              <p:par>
                                <p:cTn id="20" presetID="2" presetClass="entr" presetSubtype="2"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1+#ppt_w/2"/>
                                          </p:val>
                                        </p:tav>
                                        <p:tav tm="100000">
                                          <p:val>
                                            <p:strVal val="#ppt_x"/>
                                          </p:val>
                                        </p:tav>
                                      </p:tavLst>
                                    </p:anim>
                                    <p:anim calcmode="lin" valueType="num">
                                      <p:cBhvr additive="base">
                                        <p:cTn id="23" dur="500" fill="hold"/>
                                        <p:tgtEl>
                                          <p:spTgt spid="22"/>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4" grpId="0"/>
      <p:bldP spid="15" grpId="0"/>
      <p:bldP spid="22" grpId="0" animBg="1"/>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a:endCxn id="5" idx="2"/>
          </p:cNvCxnSpPr>
          <p:nvPr/>
        </p:nvCxnSpPr>
        <p:spPr>
          <a:xfrm>
            <a:off x="0" y="3429000"/>
            <a:ext cx="4363596" cy="0"/>
          </a:xfrm>
          <a:prstGeom prst="line">
            <a:avLst/>
          </a:prstGeom>
          <a:gradFill flip="none" rotWithShape="1">
            <a:gsLst>
              <a:gs pos="61000">
                <a:srgbClr val="048FEB">
                  <a:alpha val="0"/>
                </a:srgbClr>
              </a:gs>
              <a:gs pos="100000">
                <a:srgbClr val="048FEB">
                  <a:alpha val="32000"/>
                </a:srgbClr>
              </a:gs>
            </a:gsLst>
            <a:path path="circle">
              <a:fillToRect t="100000" r="100000"/>
            </a:path>
            <a:tileRect l="-100000" b="-100000"/>
          </a:gradFill>
          <a:ln w="25400" cap="rnd">
            <a:solidFill>
              <a:srgbClr val="3F403E"/>
            </a:solidFill>
          </a:ln>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5" idx="6"/>
          </p:cNvCxnSpPr>
          <p:nvPr/>
        </p:nvCxnSpPr>
        <p:spPr>
          <a:xfrm flipH="1">
            <a:off x="7828404" y="3429000"/>
            <a:ext cx="4363596" cy="0"/>
          </a:xfrm>
          <a:prstGeom prst="line">
            <a:avLst/>
          </a:prstGeom>
          <a:gradFill flip="none" rotWithShape="1">
            <a:gsLst>
              <a:gs pos="61000">
                <a:srgbClr val="048FEB">
                  <a:alpha val="0"/>
                </a:srgbClr>
              </a:gs>
              <a:gs pos="100000">
                <a:srgbClr val="048FEB">
                  <a:alpha val="32000"/>
                </a:srgbClr>
              </a:gs>
            </a:gsLst>
            <a:path path="circle">
              <a:fillToRect t="100000" r="100000"/>
            </a:path>
            <a:tileRect l="-100000" b="-100000"/>
          </a:gradFill>
          <a:ln w="25400" cap="rnd">
            <a:solidFill>
              <a:srgbClr val="3F403E"/>
            </a:solidFill>
          </a:ln>
          <a:effectLst/>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4363596" y="1696598"/>
            <a:ext cx="3464808" cy="3464804"/>
          </a:xfrm>
          <a:prstGeom prst="ellipse">
            <a:avLst/>
          </a:prstGeom>
          <a:solidFill>
            <a:srgbClr val="F9FAFB"/>
          </a:solidFill>
          <a:ln w="25400">
            <a:noFill/>
          </a:ln>
          <a:effectLst>
            <a:outerShdw blurRad="63500" sx="101000" sy="101000" algn="ctr" rotWithShape="0">
              <a:srgbClr val="969F9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p:cNvSpPr/>
          <p:nvPr/>
        </p:nvSpPr>
        <p:spPr>
          <a:xfrm>
            <a:off x="4527897" y="1861267"/>
            <a:ext cx="3131550" cy="3131546"/>
          </a:xfrm>
          <a:prstGeom prst="ellipse">
            <a:avLst/>
          </a:prstGeom>
          <a:solidFill>
            <a:srgbClr val="00B0F0"/>
          </a:solidFill>
          <a:ln w="63500">
            <a:noFill/>
          </a:ln>
          <a:effectLst>
            <a:outerShdw blurRad="127000" sx="101000" sy="101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66731" y="3630228"/>
            <a:ext cx="3181237" cy="2748280"/>
          </a:xfrm>
          <a:prstGeom prst="rect">
            <a:avLst/>
          </a:prstGeom>
          <a:noFill/>
          <a:ln>
            <a:noFill/>
          </a:ln>
          <a:effectLst/>
        </p:spPr>
        <p:txBody>
          <a:bodyPr wrap="square" rtlCol="0">
            <a:spAutoFit/>
          </a:bodyPr>
          <a:lstStyle/>
          <a:p>
            <a:pPr algn="ctr">
              <a:lnSpc>
                <a:spcPct val="120000"/>
              </a:lnSpc>
            </a:pPr>
            <a:r>
              <a:rPr lang="zh-CN" altLang="en-US" dirty="0">
                <a:latin typeface="+mn-ea"/>
              </a:rPr>
              <a:t>引导患者在脑海中想象该剧本场景，时间15 min，然后要求患者说出答案。若选A，则提示情绪较暴躁，存在较重报复心，需引导修正，即“假如你舍友因你的个人习惯喜欢你，在你晚上12：00未回宿舍仍等你，你会如何？”</a:t>
            </a:r>
            <a:endParaRPr lang="zh-CN" altLang="en-US" dirty="0">
              <a:latin typeface="+mn-ea"/>
            </a:endParaRPr>
          </a:p>
        </p:txBody>
      </p:sp>
      <p:sp>
        <p:nvSpPr>
          <p:cNvPr id="13" name="文本框 12"/>
          <p:cNvSpPr txBox="1"/>
          <p:nvPr/>
        </p:nvSpPr>
        <p:spPr>
          <a:xfrm>
            <a:off x="8272582" y="3630088"/>
            <a:ext cx="3181237" cy="1087755"/>
          </a:xfrm>
          <a:prstGeom prst="rect">
            <a:avLst/>
          </a:prstGeom>
          <a:noFill/>
          <a:ln>
            <a:noFill/>
          </a:ln>
          <a:effectLst/>
        </p:spPr>
        <p:txBody>
          <a:bodyPr wrap="square" rtlCol="0">
            <a:spAutoFit/>
          </a:bodyPr>
          <a:lstStyle/>
          <a:p>
            <a:pPr algn="ctr">
              <a:lnSpc>
                <a:spcPct val="120000"/>
              </a:lnSpc>
            </a:pPr>
            <a:r>
              <a:rPr lang="zh-CN" altLang="en-US" dirty="0">
                <a:latin typeface="+mn-ea"/>
              </a:rPr>
              <a:t>根据剧本训练，依照场景中出现的人、事物做出反应，正确反应越多越好。</a:t>
            </a:r>
            <a:endParaRPr lang="zh-CN" altLang="en-US" dirty="0">
              <a:latin typeface="+mn-ea"/>
            </a:endParaRPr>
          </a:p>
        </p:txBody>
      </p:sp>
      <p:sp>
        <p:nvSpPr>
          <p:cNvPr id="14" name="文本框 13"/>
          <p:cNvSpPr txBox="1"/>
          <p:nvPr/>
        </p:nvSpPr>
        <p:spPr>
          <a:xfrm>
            <a:off x="-4656" y="329505"/>
            <a:ext cx="12196656" cy="706755"/>
          </a:xfrm>
          <a:prstGeom prst="rect">
            <a:avLst/>
          </a:prstGeom>
          <a:solidFill>
            <a:srgbClr val="00B0F0"/>
          </a:solidFill>
        </p:spPr>
        <p:txBody>
          <a:bodyPr wrap="square" rtlCol="0">
            <a:spAutoFit/>
          </a:bodyPr>
          <a:lstStyle>
            <a:defPPr>
              <a:defRPr lang="zh-CN"/>
            </a:defPPr>
            <a:lvl1pPr algn="ctr">
              <a:defRPr sz="4000" b="1">
                <a:solidFill>
                  <a:srgbClr val="FCFCFD"/>
                </a:solidFill>
                <a:latin typeface="+mj-ea"/>
                <a:ea typeface="+mj-ea"/>
              </a:defRPr>
            </a:lvl1pPr>
          </a:lstStyle>
          <a:p>
            <a:r>
              <a:rPr lang="zh-CN" altLang="en-US" dirty="0"/>
              <a:t>治疗</a:t>
            </a:r>
            <a:r>
              <a:rPr lang="zh-CN" altLang="en-US" dirty="0"/>
              <a:t>流程</a:t>
            </a:r>
            <a:endParaRPr lang="zh-CN" altLang="en-US" dirty="0"/>
          </a:p>
        </p:txBody>
      </p:sp>
      <p:sp>
        <p:nvSpPr>
          <p:cNvPr id="15" name="文本框 14"/>
          <p:cNvSpPr txBox="1"/>
          <p:nvPr/>
        </p:nvSpPr>
        <p:spPr>
          <a:xfrm>
            <a:off x="1073655" y="2864754"/>
            <a:ext cx="1605280" cy="521970"/>
          </a:xfrm>
          <a:prstGeom prst="rect">
            <a:avLst/>
          </a:prstGeom>
          <a:noFill/>
          <a:effectLst>
            <a:reflection endPos="35000" dir="5400000" sy="-100000" algn="bl" rotWithShape="0"/>
          </a:effectLst>
        </p:spPr>
        <p:txBody>
          <a:bodyPr wrap="none" rtlCol="0">
            <a:spAutoFit/>
            <a:scene3d>
              <a:camera prst="orthographicFront"/>
              <a:lightRig rig="threePt" dir="t"/>
            </a:scene3d>
            <a:sp3d>
              <a:bevelT w="0" h="0"/>
              <a:bevelB w="0" h="0"/>
            </a:sp3d>
          </a:bodyPr>
          <a:lstStyle/>
          <a:p>
            <a:pPr algn="l"/>
            <a:r>
              <a:rPr lang="zh-CN" altLang="en-US" sz="2800" b="1" dirty="0">
                <a:solidFill>
                  <a:srgbClr val="3F403E"/>
                </a:solidFill>
                <a:latin typeface="+mj-ea"/>
                <a:ea typeface="+mj-ea"/>
              </a:rPr>
              <a:t>情景修正</a:t>
            </a:r>
            <a:endParaRPr lang="zh-CN" altLang="en-US" sz="2800" b="1" dirty="0">
              <a:solidFill>
                <a:srgbClr val="3F403E"/>
              </a:solidFill>
              <a:latin typeface="+mj-ea"/>
              <a:ea typeface="+mj-ea"/>
            </a:endParaRPr>
          </a:p>
        </p:txBody>
      </p:sp>
      <p:sp>
        <p:nvSpPr>
          <p:cNvPr id="16" name="文本框 15"/>
          <p:cNvSpPr txBox="1"/>
          <p:nvPr/>
        </p:nvSpPr>
        <p:spPr>
          <a:xfrm>
            <a:off x="8950956" y="2864754"/>
            <a:ext cx="1605280" cy="521970"/>
          </a:xfrm>
          <a:prstGeom prst="rect">
            <a:avLst/>
          </a:prstGeom>
          <a:noFill/>
          <a:effectLst>
            <a:reflection endPos="35000" dir="5400000" sy="-100000" algn="bl" rotWithShape="0"/>
          </a:effectLst>
        </p:spPr>
        <p:txBody>
          <a:bodyPr wrap="none" rtlCol="0">
            <a:spAutoFit/>
            <a:scene3d>
              <a:camera prst="orthographicFront"/>
              <a:lightRig rig="threePt" dir="t"/>
            </a:scene3d>
            <a:sp3d>
              <a:bevelT w="0" h="0"/>
              <a:bevelB w="0" h="0"/>
            </a:sp3d>
          </a:bodyPr>
          <a:lstStyle/>
          <a:p>
            <a:pPr algn="l"/>
            <a:r>
              <a:rPr sz="2800" b="1" dirty="0">
                <a:solidFill>
                  <a:srgbClr val="3F403E"/>
                </a:solidFill>
                <a:latin typeface="+mj-ea"/>
                <a:ea typeface="+mj-ea"/>
              </a:rPr>
              <a:t>注意分配</a:t>
            </a:r>
            <a:endParaRPr sz="2800" b="1" dirty="0">
              <a:solidFill>
                <a:srgbClr val="3F403E"/>
              </a:solidFill>
              <a:latin typeface="+mj-ea"/>
              <a:ea typeface="+mj-ea"/>
            </a:endParaRPr>
          </a:p>
        </p:txBody>
      </p:sp>
      <p:sp>
        <p:nvSpPr>
          <p:cNvPr id="18" name="Freeform 99"/>
          <p:cNvSpPr>
            <a:spLocks noEditPoints="1"/>
          </p:cNvSpPr>
          <p:nvPr/>
        </p:nvSpPr>
        <p:spPr bwMode="auto">
          <a:xfrm>
            <a:off x="5310441" y="2772697"/>
            <a:ext cx="1622323" cy="1424293"/>
          </a:xfrm>
          <a:custGeom>
            <a:avLst/>
            <a:gdLst>
              <a:gd name="T0" fmla="*/ 1388 w 1510"/>
              <a:gd name="T1" fmla="*/ 123 h 1327"/>
              <a:gd name="T2" fmla="*/ 1092 w 1510"/>
              <a:gd name="T3" fmla="*/ 1 h 1327"/>
              <a:gd name="T4" fmla="*/ 796 w 1510"/>
              <a:gd name="T5" fmla="*/ 123 h 1327"/>
              <a:gd name="T6" fmla="*/ 755 w 1510"/>
              <a:gd name="T7" fmla="*/ 164 h 1327"/>
              <a:gd name="T8" fmla="*/ 713 w 1510"/>
              <a:gd name="T9" fmla="*/ 123 h 1327"/>
              <a:gd name="T10" fmla="*/ 417 w 1510"/>
              <a:gd name="T11" fmla="*/ 0 h 1327"/>
              <a:gd name="T12" fmla="*/ 122 w 1510"/>
              <a:gd name="T13" fmla="*/ 122 h 1327"/>
              <a:gd name="T14" fmla="*/ 0 w 1510"/>
              <a:gd name="T15" fmla="*/ 418 h 1327"/>
              <a:gd name="T16" fmla="*/ 123 w 1510"/>
              <a:gd name="T17" fmla="*/ 713 h 1327"/>
              <a:gd name="T18" fmla="*/ 724 w 1510"/>
              <a:gd name="T19" fmla="*/ 1314 h 1327"/>
              <a:gd name="T20" fmla="*/ 754 w 1510"/>
              <a:gd name="T21" fmla="*/ 1327 h 1327"/>
              <a:gd name="T22" fmla="*/ 785 w 1510"/>
              <a:gd name="T23" fmla="*/ 1314 h 1327"/>
              <a:gd name="T24" fmla="*/ 1387 w 1510"/>
              <a:gd name="T25" fmla="*/ 714 h 1327"/>
              <a:gd name="T26" fmla="*/ 1509 w 1510"/>
              <a:gd name="T27" fmla="*/ 419 h 1327"/>
              <a:gd name="T28" fmla="*/ 1388 w 1510"/>
              <a:gd name="T29" fmla="*/ 123 h 1327"/>
              <a:gd name="T30" fmla="*/ 1326 w 1510"/>
              <a:gd name="T31" fmla="*/ 653 h 1327"/>
              <a:gd name="T32" fmla="*/ 754 w 1510"/>
              <a:gd name="T33" fmla="*/ 1223 h 1327"/>
              <a:gd name="T34" fmla="*/ 184 w 1510"/>
              <a:gd name="T35" fmla="*/ 652 h 1327"/>
              <a:gd name="T36" fmla="*/ 86 w 1510"/>
              <a:gd name="T37" fmla="*/ 418 h 1327"/>
              <a:gd name="T38" fmla="*/ 183 w 1510"/>
              <a:gd name="T39" fmla="*/ 183 h 1327"/>
              <a:gd name="T40" fmla="*/ 417 w 1510"/>
              <a:gd name="T41" fmla="*/ 86 h 1327"/>
              <a:gd name="T42" fmla="*/ 652 w 1510"/>
              <a:gd name="T43" fmla="*/ 184 h 1327"/>
              <a:gd name="T44" fmla="*/ 724 w 1510"/>
              <a:gd name="T45" fmla="*/ 256 h 1327"/>
              <a:gd name="T46" fmla="*/ 786 w 1510"/>
              <a:gd name="T47" fmla="*/ 256 h 1327"/>
              <a:gd name="T48" fmla="*/ 857 w 1510"/>
              <a:gd name="T49" fmla="*/ 184 h 1327"/>
              <a:gd name="T50" fmla="*/ 1092 w 1510"/>
              <a:gd name="T51" fmla="*/ 87 h 1327"/>
              <a:gd name="T52" fmla="*/ 1326 w 1510"/>
              <a:gd name="T53" fmla="*/ 184 h 1327"/>
              <a:gd name="T54" fmla="*/ 1423 w 1510"/>
              <a:gd name="T55" fmla="*/ 419 h 1327"/>
              <a:gd name="T56" fmla="*/ 1326 w 1510"/>
              <a:gd name="T57" fmla="*/ 653 h 1327"/>
              <a:gd name="T58" fmla="*/ 1326 w 1510"/>
              <a:gd name="T59" fmla="*/ 653 h 1327"/>
              <a:gd name="T60" fmla="*/ 1326 w 1510"/>
              <a:gd name="T61" fmla="*/ 653 h 1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0" h="1327">
                <a:moveTo>
                  <a:pt x="1388" y="123"/>
                </a:moveTo>
                <a:cubicBezTo>
                  <a:pt x="1308" y="44"/>
                  <a:pt x="1204" y="1"/>
                  <a:pt x="1092" y="1"/>
                </a:cubicBezTo>
                <a:cubicBezTo>
                  <a:pt x="980" y="1"/>
                  <a:pt x="876" y="44"/>
                  <a:pt x="796" y="123"/>
                </a:cubicBezTo>
                <a:cubicBezTo>
                  <a:pt x="755" y="164"/>
                  <a:pt x="755" y="164"/>
                  <a:pt x="755" y="164"/>
                </a:cubicBezTo>
                <a:cubicBezTo>
                  <a:pt x="713" y="123"/>
                  <a:pt x="713" y="123"/>
                  <a:pt x="713" y="123"/>
                </a:cubicBezTo>
                <a:cubicBezTo>
                  <a:pt x="634" y="43"/>
                  <a:pt x="529" y="0"/>
                  <a:pt x="417" y="0"/>
                </a:cubicBezTo>
                <a:cubicBezTo>
                  <a:pt x="306" y="0"/>
                  <a:pt x="201" y="43"/>
                  <a:pt x="122" y="122"/>
                </a:cubicBezTo>
                <a:cubicBezTo>
                  <a:pt x="43" y="201"/>
                  <a:pt x="0" y="306"/>
                  <a:pt x="0" y="418"/>
                </a:cubicBezTo>
                <a:cubicBezTo>
                  <a:pt x="0" y="529"/>
                  <a:pt x="44" y="634"/>
                  <a:pt x="123" y="713"/>
                </a:cubicBezTo>
                <a:cubicBezTo>
                  <a:pt x="724" y="1314"/>
                  <a:pt x="724" y="1314"/>
                  <a:pt x="724" y="1314"/>
                </a:cubicBezTo>
                <a:cubicBezTo>
                  <a:pt x="732" y="1322"/>
                  <a:pt x="743" y="1327"/>
                  <a:pt x="754" y="1327"/>
                </a:cubicBezTo>
                <a:cubicBezTo>
                  <a:pt x="765" y="1327"/>
                  <a:pt x="776" y="1323"/>
                  <a:pt x="785" y="1314"/>
                </a:cubicBezTo>
                <a:cubicBezTo>
                  <a:pt x="1387" y="714"/>
                  <a:pt x="1387" y="714"/>
                  <a:pt x="1387" y="714"/>
                </a:cubicBezTo>
                <a:cubicBezTo>
                  <a:pt x="1466" y="635"/>
                  <a:pt x="1509" y="530"/>
                  <a:pt x="1509" y="419"/>
                </a:cubicBezTo>
                <a:cubicBezTo>
                  <a:pt x="1510" y="307"/>
                  <a:pt x="1467" y="202"/>
                  <a:pt x="1388" y="123"/>
                </a:cubicBezTo>
                <a:close/>
                <a:moveTo>
                  <a:pt x="1326" y="653"/>
                </a:moveTo>
                <a:cubicBezTo>
                  <a:pt x="754" y="1223"/>
                  <a:pt x="754" y="1223"/>
                  <a:pt x="754" y="1223"/>
                </a:cubicBezTo>
                <a:cubicBezTo>
                  <a:pt x="184" y="652"/>
                  <a:pt x="184" y="652"/>
                  <a:pt x="184" y="652"/>
                </a:cubicBezTo>
                <a:cubicBezTo>
                  <a:pt x="121" y="589"/>
                  <a:pt x="86" y="506"/>
                  <a:pt x="86" y="418"/>
                </a:cubicBezTo>
                <a:cubicBezTo>
                  <a:pt x="86" y="329"/>
                  <a:pt x="121" y="246"/>
                  <a:pt x="183" y="183"/>
                </a:cubicBezTo>
                <a:cubicBezTo>
                  <a:pt x="246" y="121"/>
                  <a:pt x="329" y="86"/>
                  <a:pt x="417" y="86"/>
                </a:cubicBezTo>
                <a:cubicBezTo>
                  <a:pt x="506" y="86"/>
                  <a:pt x="589" y="121"/>
                  <a:pt x="652" y="184"/>
                </a:cubicBezTo>
                <a:cubicBezTo>
                  <a:pt x="724" y="256"/>
                  <a:pt x="724" y="256"/>
                  <a:pt x="724" y="256"/>
                </a:cubicBezTo>
                <a:cubicBezTo>
                  <a:pt x="741" y="273"/>
                  <a:pt x="769" y="273"/>
                  <a:pt x="786" y="256"/>
                </a:cubicBezTo>
                <a:cubicBezTo>
                  <a:pt x="857" y="184"/>
                  <a:pt x="857" y="184"/>
                  <a:pt x="857" y="184"/>
                </a:cubicBezTo>
                <a:cubicBezTo>
                  <a:pt x="920" y="122"/>
                  <a:pt x="1004" y="87"/>
                  <a:pt x="1092" y="87"/>
                </a:cubicBezTo>
                <a:cubicBezTo>
                  <a:pt x="1180" y="87"/>
                  <a:pt x="1263" y="122"/>
                  <a:pt x="1326" y="184"/>
                </a:cubicBezTo>
                <a:cubicBezTo>
                  <a:pt x="1389" y="247"/>
                  <a:pt x="1423" y="330"/>
                  <a:pt x="1423" y="419"/>
                </a:cubicBezTo>
                <a:cubicBezTo>
                  <a:pt x="1423" y="507"/>
                  <a:pt x="1389" y="590"/>
                  <a:pt x="1326" y="653"/>
                </a:cubicBezTo>
                <a:close/>
                <a:moveTo>
                  <a:pt x="1326" y="653"/>
                </a:moveTo>
                <a:cubicBezTo>
                  <a:pt x="1326" y="653"/>
                  <a:pt x="1326" y="653"/>
                  <a:pt x="1326" y="653"/>
                </a:cubicBezTo>
              </a:path>
            </a:pathLst>
          </a:custGeom>
          <a:solidFill>
            <a:schemeClr val="bg1"/>
          </a:solidFill>
          <a:ln>
            <a:noFill/>
          </a:ln>
          <a:effectLst/>
        </p:spPr>
        <p:txBody>
          <a:bodyPr vert="horz" wrap="square" lIns="91440" tIns="45720" rIns="91440" bIns="45720" numCol="1" anchor="t" anchorCtr="0" compatLnSpc="1"/>
          <a:lstStyle/>
          <a:p>
            <a:endParaRPr lang="zh-CN" altLang="en-US"/>
          </a:p>
        </p:txBody>
      </p:sp>
      <p:pic>
        <p:nvPicPr>
          <p:cNvPr id="2" name="图片 1"/>
          <p:cNvPicPr>
            <a:picLocks noChangeAspect="1"/>
          </p:cNvPicPr>
          <p:nvPr/>
        </p:nvPicPr>
        <p:blipFill>
          <a:blip r:embed="rId1"/>
          <a:stretch>
            <a:fillRect/>
          </a:stretch>
        </p:blipFill>
        <p:spPr>
          <a:xfrm>
            <a:off x="3895090" y="5817870"/>
            <a:ext cx="3537585" cy="8515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500">
        <p15:prstTrans prst="pageCurlDoubl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500"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53" presetClass="entr" presetSubtype="16" fill="hold" grpId="0" nodeType="withEffect">
                                  <p:stCondLst>
                                    <p:cond delay="0"/>
                                  </p:stCondLst>
                                  <p:childTnLst>
                                    <p:set>
                                      <p:cBhvr>
                                        <p:cTn id="9" dur="500" fill="hold">
                                          <p:stCondLst>
                                            <p:cond delay="0"/>
                                          </p:stCondLst>
                                        </p:cTn>
                                        <p:tgtEl>
                                          <p:spTgt spid="5"/>
                                        </p:tgtEl>
                                        <p:attrNameLst>
                                          <p:attrName>style.visibility</p:attrName>
                                        </p:attrNameLst>
                                      </p:cBhvr>
                                      <p:to>
                                        <p:strVal val="visible"/>
                                      </p:to>
                                    </p:set>
                                    <p:anim calcmode="lin" valueType="num">
                                      <p:cBhvr>
                                        <p:cTn id="10" dur="500" fill="hold"/>
                                        <p:tgtEl>
                                          <p:spTgt spid="5"/>
                                        </p:tgtEl>
                                        <p:attrNameLst>
                                          <p:attrName>ppt_w</p:attrName>
                                        </p:attrNameLst>
                                      </p:cBhvr>
                                      <p:tavLst>
                                        <p:tav tm="0">
                                          <p:val>
                                            <p:fltVal val="0"/>
                                          </p:val>
                                        </p:tav>
                                        <p:tav tm="100000">
                                          <p:val>
                                            <p:strVal val="#ppt_w"/>
                                          </p:val>
                                        </p:tav>
                                      </p:tavLst>
                                    </p:anim>
                                    <p:anim calcmode="lin" valueType="num">
                                      <p:cBhvr>
                                        <p:cTn id="11" dur="500" fill="hold"/>
                                        <p:tgtEl>
                                          <p:spTgt spid="5"/>
                                        </p:tgtEl>
                                        <p:attrNameLst>
                                          <p:attrName>ppt_h</p:attrName>
                                        </p:attrNameLst>
                                      </p:cBhvr>
                                      <p:tavLst>
                                        <p:tav tm="0">
                                          <p:val>
                                            <p:fltVal val="0"/>
                                          </p:val>
                                        </p:tav>
                                        <p:tav tm="100000">
                                          <p:val>
                                            <p:strVal val="#ppt_h"/>
                                          </p:val>
                                        </p:tav>
                                      </p:tavLst>
                                    </p:anim>
                                    <p:animEffect transition="in" filter="fade">
                                      <p:cBhvr>
                                        <p:cTn id="12" dur="500"/>
                                        <p:tgtEl>
                                          <p:spTgt spid="5"/>
                                        </p:tgtEl>
                                      </p:cBhvr>
                                    </p:animEffect>
                                  </p:childTnLst>
                                </p:cTn>
                              </p:par>
                              <p:par>
                                <p:cTn id="13" presetID="53" presetClass="entr" presetSubtype="16" fill="hold" grpId="0" nodeType="withEffect">
                                  <p:stCondLst>
                                    <p:cond delay="250"/>
                                  </p:stCondLst>
                                  <p:childTnLst>
                                    <p:set>
                                      <p:cBhvr>
                                        <p:cTn id="14" dur="500"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par>
                          <p:cTn id="18" fill="hold">
                            <p:stCondLst>
                              <p:cond delay="500"/>
                            </p:stCondLst>
                            <p:childTnLst>
                              <p:par>
                                <p:cTn id="19" presetID="22" presetClass="entr" presetSubtype="2" fill="hold" nodeType="afterEffect">
                                  <p:stCondLst>
                                    <p:cond delay="0"/>
                                  </p:stCondLst>
                                  <p:childTnLst>
                                    <p:set>
                                      <p:cBhvr>
                                        <p:cTn id="20" dur="500" fill="hold">
                                          <p:stCondLst>
                                            <p:cond delay="0"/>
                                          </p:stCondLst>
                                        </p:cTn>
                                        <p:tgtEl>
                                          <p:spTgt spid="7"/>
                                        </p:tgtEl>
                                        <p:attrNameLst>
                                          <p:attrName>style.visibility</p:attrName>
                                        </p:attrNameLst>
                                      </p:cBhvr>
                                      <p:to>
                                        <p:strVal val="visible"/>
                                      </p:to>
                                    </p:set>
                                    <p:animEffect transition="in" filter="wipe(right)">
                                      <p:cBhvr>
                                        <p:cTn id="21" dur="500"/>
                                        <p:tgtEl>
                                          <p:spTgt spid="7"/>
                                        </p:tgtEl>
                                      </p:cBhvr>
                                    </p:animEffect>
                                  </p:childTnLst>
                                </p:cTn>
                              </p:par>
                              <p:par>
                                <p:cTn id="22" presetID="22" presetClass="entr" presetSubtype="8" fill="hold" nodeType="withEffect">
                                  <p:stCondLst>
                                    <p:cond delay="0"/>
                                  </p:stCondLst>
                                  <p:childTnLst>
                                    <p:set>
                                      <p:cBhvr>
                                        <p:cTn id="23" dur="500"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500"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500"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22" presetClass="entr" presetSubtype="1" fill="hold" grpId="0" nodeType="withEffect">
                                  <p:stCondLst>
                                    <p:cond delay="0"/>
                                  </p:stCondLst>
                                  <p:childTnLst>
                                    <p:set>
                                      <p:cBhvr>
                                        <p:cTn id="33" dur="500" fill="hold">
                                          <p:stCondLst>
                                            <p:cond delay="0"/>
                                          </p:stCondLst>
                                        </p:cTn>
                                        <p:tgtEl>
                                          <p:spTgt spid="12"/>
                                        </p:tgtEl>
                                        <p:attrNameLst>
                                          <p:attrName>style.visibility</p:attrName>
                                        </p:attrNameLst>
                                      </p:cBhvr>
                                      <p:to>
                                        <p:strVal val="visible"/>
                                      </p:to>
                                    </p:set>
                                    <p:animEffect transition="in" filter="wipe(up)">
                                      <p:cBhvr>
                                        <p:cTn id="34" dur="500"/>
                                        <p:tgtEl>
                                          <p:spTgt spid="12"/>
                                        </p:tgtEl>
                                      </p:cBhvr>
                                    </p:animEffect>
                                  </p:childTnLst>
                                </p:cTn>
                              </p:par>
                              <p:par>
                                <p:cTn id="35" presetID="22" presetClass="entr" presetSubtype="1" fill="hold" grpId="0" nodeType="withEffect">
                                  <p:stCondLst>
                                    <p:cond delay="0"/>
                                  </p:stCondLst>
                                  <p:childTnLst>
                                    <p:set>
                                      <p:cBhvr>
                                        <p:cTn id="36" dur="500"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ldLvl="0" animBg="1"/>
      <p:bldP spid="12" grpId="0" bldLvl="0" animBg="1"/>
      <p:bldP spid="13" grpId="0" bldLvl="0" animBg="1"/>
      <p:bldP spid="14" grpId="0" bldLvl="0" animBg="1"/>
      <p:bldP spid="15" grpId="0" bldLvl="0" animBg="1"/>
      <p:bldP spid="16"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742063" y="0"/>
            <a:ext cx="4707874" cy="6858000"/>
          </a:xfrm>
          <a:prstGeom prst="rect">
            <a:avLst/>
          </a:prstGeom>
          <a:solidFill>
            <a:srgbClr val="00B0F0"/>
          </a:solidFill>
          <a:ln>
            <a:noFill/>
          </a:ln>
          <a:effectLst>
            <a:outerShdw blurRad="127000" sx="101000" sy="101000" algn="ctr" rotWithShape="0">
              <a:srgbClr val="D5D7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24"/>
          <p:cNvSpPr/>
          <p:nvPr/>
        </p:nvSpPr>
        <p:spPr>
          <a:xfrm>
            <a:off x="695325" y="1563813"/>
            <a:ext cx="10801348" cy="3730374"/>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矩形 2"/>
          <p:cNvSpPr/>
          <p:nvPr/>
        </p:nvSpPr>
        <p:spPr>
          <a:xfrm>
            <a:off x="1416050" y="2101215"/>
            <a:ext cx="9461500" cy="2439670"/>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4" name="文本框 13"/>
          <p:cNvSpPr txBox="1"/>
          <p:nvPr/>
        </p:nvSpPr>
        <p:spPr>
          <a:xfrm>
            <a:off x="3600450" y="2835910"/>
            <a:ext cx="7277100" cy="1332865"/>
          </a:xfrm>
          <a:prstGeom prst="rect">
            <a:avLst/>
          </a:prstGeom>
          <a:noFill/>
        </p:spPr>
        <p:txBody>
          <a:bodyPr wrap="square" rtlCol="0">
            <a:noAutofit/>
          </a:bodyPr>
          <a:lstStyle/>
          <a:p>
            <a:pPr>
              <a:lnSpc>
                <a:spcPct val="120000"/>
              </a:lnSpc>
            </a:pPr>
            <a:r>
              <a:rPr dirty="0">
                <a:latin typeface="+mn-ea"/>
              </a:rPr>
              <a:t>写心情日记，指导患者在日记本左面</a:t>
            </a:r>
            <a:r>
              <a:rPr b="1" u="sng" dirty="0">
                <a:latin typeface="+mn-ea"/>
              </a:rPr>
              <a:t>记录每日所想、所做</a:t>
            </a:r>
            <a:r>
              <a:rPr dirty="0">
                <a:latin typeface="+mn-ea"/>
              </a:rPr>
              <a:t>，在右面记录对自身</a:t>
            </a:r>
            <a:r>
              <a:rPr b="1" u="sng" dirty="0">
                <a:latin typeface="+mn-ea"/>
              </a:rPr>
              <a:t>情绪</a:t>
            </a:r>
            <a:r>
              <a:rPr dirty="0">
                <a:latin typeface="+mn-ea"/>
              </a:rPr>
              <a:t>的影响、个人感受。主管</a:t>
            </a:r>
            <a:r>
              <a:rPr b="1" u="sng" dirty="0">
                <a:latin typeface="+mn-ea"/>
              </a:rPr>
              <a:t>护师</a:t>
            </a:r>
            <a:r>
              <a:rPr dirty="0">
                <a:latin typeface="+mn-ea"/>
              </a:rPr>
              <a:t>每日查阅，帮助患者解决问题，</a:t>
            </a:r>
            <a:r>
              <a:rPr b="1" u="sng" dirty="0">
                <a:latin typeface="+mn-ea"/>
              </a:rPr>
              <a:t>实行奖励机制</a:t>
            </a:r>
            <a:r>
              <a:rPr dirty="0">
                <a:latin typeface="+mn-ea"/>
              </a:rPr>
              <a:t>。正念内省，指导患者感知内在心灵，进行内省，允许任何情绪波动。</a:t>
            </a:r>
            <a:r>
              <a:rPr b="1" u="sng" dirty="0">
                <a:latin typeface="+mn-ea"/>
              </a:rPr>
              <a:t>持续护理2个月</a:t>
            </a:r>
            <a:r>
              <a:rPr dirty="0">
                <a:latin typeface="+mn-ea"/>
              </a:rPr>
              <a:t>。</a:t>
            </a:r>
            <a:endParaRPr dirty="0">
              <a:latin typeface="+mn-ea"/>
            </a:endParaRPr>
          </a:p>
        </p:txBody>
      </p:sp>
      <p:sp>
        <p:nvSpPr>
          <p:cNvPr id="15" name="文本框 14"/>
          <p:cNvSpPr txBox="1"/>
          <p:nvPr/>
        </p:nvSpPr>
        <p:spPr>
          <a:xfrm>
            <a:off x="3599982" y="2409613"/>
            <a:ext cx="1402080" cy="460375"/>
          </a:xfrm>
          <a:prstGeom prst="rect">
            <a:avLst/>
          </a:prstGeom>
          <a:noFill/>
        </p:spPr>
        <p:txBody>
          <a:bodyPr wrap="none" rtlCol="0">
            <a:spAutoFit/>
          </a:bodyPr>
          <a:lstStyle/>
          <a:p>
            <a:pPr algn="l"/>
            <a:r>
              <a:rPr lang="zh-CN" altLang="en-US" sz="2400" b="1" dirty="0">
                <a:solidFill>
                  <a:srgbClr val="3F403E"/>
                </a:solidFill>
                <a:latin typeface="+mj-ea"/>
                <a:ea typeface="+mj-ea"/>
                <a:sym typeface="+mn-ea"/>
              </a:rPr>
              <a:t>反应调整</a:t>
            </a:r>
            <a:endParaRPr lang="zh-CN" altLang="en-US" sz="2400" b="1" dirty="0">
              <a:solidFill>
                <a:srgbClr val="3F403E"/>
              </a:solidFill>
              <a:latin typeface="+mj-ea"/>
              <a:ea typeface="+mj-ea"/>
              <a:sym typeface="+mn-ea"/>
            </a:endParaRPr>
          </a:p>
        </p:txBody>
      </p:sp>
      <p:cxnSp>
        <p:nvCxnSpPr>
          <p:cNvPr id="16" name="直接连接符 15"/>
          <p:cNvCxnSpPr/>
          <p:nvPr/>
        </p:nvCxnSpPr>
        <p:spPr>
          <a:xfrm flipV="1">
            <a:off x="3690419" y="2870461"/>
            <a:ext cx="2154488" cy="1"/>
          </a:xfrm>
          <a:prstGeom prst="line">
            <a:avLst/>
          </a:prstGeom>
          <a:ln>
            <a:solidFill>
              <a:srgbClr val="969F98">
                <a:alpha val="50000"/>
              </a:srgbClr>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4854775" y="525212"/>
            <a:ext cx="2214880" cy="706755"/>
          </a:xfrm>
          <a:prstGeom prst="rect">
            <a:avLst/>
          </a:prstGeom>
          <a:noFill/>
        </p:spPr>
        <p:txBody>
          <a:bodyPr wrap="none" rtlCol="0">
            <a:spAutoFit/>
          </a:bodyPr>
          <a:lstStyle/>
          <a:p>
            <a:pPr algn="ctr"/>
            <a:r>
              <a:rPr lang="zh-CN" altLang="en-US" sz="4000" b="1" dirty="0">
                <a:solidFill>
                  <a:srgbClr val="FCFCFD"/>
                </a:solidFill>
                <a:latin typeface="+mj-ea"/>
                <a:ea typeface="+mj-ea"/>
              </a:rPr>
              <a:t>护理</a:t>
            </a:r>
            <a:r>
              <a:rPr lang="zh-CN" altLang="en-US" sz="4000" b="1" dirty="0">
                <a:solidFill>
                  <a:srgbClr val="FCFCFD"/>
                </a:solidFill>
                <a:latin typeface="+mj-ea"/>
                <a:ea typeface="+mj-ea"/>
              </a:rPr>
              <a:t>疗程</a:t>
            </a:r>
            <a:endParaRPr lang="zh-CN" altLang="en-US" sz="4000" b="1" dirty="0">
              <a:solidFill>
                <a:srgbClr val="FCFCFD"/>
              </a:solidFill>
              <a:latin typeface="+mj-ea"/>
              <a:ea typeface="+mj-ea"/>
            </a:endParaRPr>
          </a:p>
        </p:txBody>
      </p:sp>
      <p:sp>
        <p:nvSpPr>
          <p:cNvPr id="24" name="Freeform 107"/>
          <p:cNvSpPr>
            <a:spLocks noEditPoints="1"/>
          </p:cNvSpPr>
          <p:nvPr/>
        </p:nvSpPr>
        <p:spPr bwMode="auto">
          <a:xfrm>
            <a:off x="1781920" y="2472691"/>
            <a:ext cx="1686079" cy="1696065"/>
          </a:xfrm>
          <a:custGeom>
            <a:avLst/>
            <a:gdLst>
              <a:gd name="T0" fmla="*/ 1487 w 1489"/>
              <a:gd name="T1" fmla="*/ 913 h 1530"/>
              <a:gd name="T2" fmla="*/ 1405 w 1489"/>
              <a:gd name="T3" fmla="*/ 606 h 1530"/>
              <a:gd name="T4" fmla="*/ 991 w 1489"/>
              <a:gd name="T5" fmla="*/ 565 h 1530"/>
              <a:gd name="T6" fmla="*/ 940 w 1489"/>
              <a:gd name="T7" fmla="*/ 575 h 1530"/>
              <a:gd name="T8" fmla="*/ 972 w 1489"/>
              <a:gd name="T9" fmla="*/ 79 h 1530"/>
              <a:gd name="T10" fmla="*/ 747 w 1489"/>
              <a:gd name="T11" fmla="*/ 28 h 1530"/>
              <a:gd name="T12" fmla="*/ 460 w 1489"/>
              <a:gd name="T13" fmla="*/ 649 h 1530"/>
              <a:gd name="T14" fmla="*/ 392 w 1489"/>
              <a:gd name="T15" fmla="*/ 747 h 1530"/>
              <a:gd name="T16" fmla="*/ 133 w 1489"/>
              <a:gd name="T17" fmla="*/ 731 h 1530"/>
              <a:gd name="T18" fmla="*/ 0 w 1489"/>
              <a:gd name="T19" fmla="*/ 1385 h 1530"/>
              <a:gd name="T20" fmla="*/ 328 w 1489"/>
              <a:gd name="T21" fmla="*/ 1518 h 1530"/>
              <a:gd name="T22" fmla="*/ 480 w 1489"/>
              <a:gd name="T23" fmla="*/ 1502 h 1530"/>
              <a:gd name="T24" fmla="*/ 1014 w 1489"/>
              <a:gd name="T25" fmla="*/ 1530 h 1530"/>
              <a:gd name="T26" fmla="*/ 1362 w 1489"/>
              <a:gd name="T27" fmla="*/ 1393 h 1530"/>
              <a:gd name="T28" fmla="*/ 1456 w 1489"/>
              <a:gd name="T29" fmla="*/ 1105 h 1530"/>
              <a:gd name="T30" fmla="*/ 133 w 1489"/>
              <a:gd name="T31" fmla="*/ 1431 h 1530"/>
              <a:gd name="T32" fmla="*/ 86 w 1489"/>
              <a:gd name="T33" fmla="*/ 864 h 1530"/>
              <a:gd name="T34" fmla="*/ 328 w 1489"/>
              <a:gd name="T35" fmla="*/ 818 h 1530"/>
              <a:gd name="T36" fmla="*/ 375 w 1489"/>
              <a:gd name="T37" fmla="*/ 1384 h 1530"/>
              <a:gd name="T38" fmla="*/ 133 w 1489"/>
              <a:gd name="T39" fmla="*/ 1431 h 1530"/>
              <a:gd name="T40" fmla="*/ 1355 w 1489"/>
              <a:gd name="T41" fmla="*/ 1055 h 1530"/>
              <a:gd name="T42" fmla="*/ 1310 w 1489"/>
              <a:gd name="T43" fmla="*/ 1219 h 1530"/>
              <a:gd name="T44" fmla="*/ 1286 w 1489"/>
              <a:gd name="T45" fmla="*/ 1351 h 1530"/>
              <a:gd name="T46" fmla="*/ 912 w 1489"/>
              <a:gd name="T47" fmla="*/ 1439 h 1530"/>
              <a:gd name="T48" fmla="*/ 491 w 1489"/>
              <a:gd name="T49" fmla="*/ 1417 h 1530"/>
              <a:gd name="T50" fmla="*/ 459 w 1489"/>
              <a:gd name="T51" fmla="*/ 1413 h 1530"/>
              <a:gd name="T52" fmla="*/ 461 w 1489"/>
              <a:gd name="T53" fmla="*/ 864 h 1530"/>
              <a:gd name="T54" fmla="*/ 515 w 1489"/>
              <a:gd name="T55" fmla="*/ 715 h 1530"/>
              <a:gd name="T56" fmla="*/ 807 w 1489"/>
              <a:gd name="T57" fmla="*/ 179 h 1530"/>
              <a:gd name="T58" fmla="*/ 901 w 1489"/>
              <a:gd name="T59" fmla="*/ 129 h 1530"/>
              <a:gd name="T60" fmla="*/ 882 w 1489"/>
              <a:gd name="T61" fmla="*/ 648 h 1530"/>
              <a:gd name="T62" fmla="*/ 1007 w 1489"/>
              <a:gd name="T63" fmla="*/ 649 h 1530"/>
              <a:gd name="T64" fmla="*/ 1347 w 1489"/>
              <a:gd name="T65" fmla="*/ 669 h 1530"/>
              <a:gd name="T66" fmla="*/ 1365 w 1489"/>
              <a:gd name="T67" fmla="*/ 842 h 1530"/>
              <a:gd name="T68" fmla="*/ 1361 w 1489"/>
              <a:gd name="T69" fmla="*/ 1003 h 1530"/>
              <a:gd name="T70" fmla="*/ 1361 w 1489"/>
              <a:gd name="T71" fmla="*/ 1003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9" h="1530">
                <a:moveTo>
                  <a:pt x="1443" y="1040"/>
                </a:moveTo>
                <a:cubicBezTo>
                  <a:pt x="1474" y="1000"/>
                  <a:pt x="1489" y="957"/>
                  <a:pt x="1487" y="913"/>
                </a:cubicBezTo>
                <a:cubicBezTo>
                  <a:pt x="1485" y="865"/>
                  <a:pt x="1464" y="827"/>
                  <a:pt x="1446" y="803"/>
                </a:cubicBezTo>
                <a:cubicBezTo>
                  <a:pt x="1467" y="751"/>
                  <a:pt x="1475" y="670"/>
                  <a:pt x="1405" y="606"/>
                </a:cubicBezTo>
                <a:cubicBezTo>
                  <a:pt x="1354" y="560"/>
                  <a:pt x="1268" y="539"/>
                  <a:pt x="1148" y="545"/>
                </a:cubicBezTo>
                <a:cubicBezTo>
                  <a:pt x="1064" y="549"/>
                  <a:pt x="994" y="564"/>
                  <a:pt x="991" y="565"/>
                </a:cubicBezTo>
                <a:cubicBezTo>
                  <a:pt x="990" y="565"/>
                  <a:pt x="990" y="565"/>
                  <a:pt x="990" y="565"/>
                </a:cubicBezTo>
                <a:cubicBezTo>
                  <a:pt x="974" y="568"/>
                  <a:pt x="957" y="571"/>
                  <a:pt x="940" y="575"/>
                </a:cubicBezTo>
                <a:cubicBezTo>
                  <a:pt x="939" y="555"/>
                  <a:pt x="942" y="504"/>
                  <a:pt x="980" y="389"/>
                </a:cubicBezTo>
                <a:cubicBezTo>
                  <a:pt x="1025" y="253"/>
                  <a:pt x="1022" y="149"/>
                  <a:pt x="972" y="79"/>
                </a:cubicBezTo>
                <a:cubicBezTo>
                  <a:pt x="919" y="6"/>
                  <a:pt x="834" y="0"/>
                  <a:pt x="809" y="0"/>
                </a:cubicBezTo>
                <a:cubicBezTo>
                  <a:pt x="785" y="0"/>
                  <a:pt x="763" y="10"/>
                  <a:pt x="747" y="28"/>
                </a:cubicBezTo>
                <a:cubicBezTo>
                  <a:pt x="712" y="69"/>
                  <a:pt x="716" y="146"/>
                  <a:pt x="720" y="181"/>
                </a:cubicBezTo>
                <a:cubicBezTo>
                  <a:pt x="678" y="294"/>
                  <a:pt x="560" y="572"/>
                  <a:pt x="460" y="649"/>
                </a:cubicBezTo>
                <a:cubicBezTo>
                  <a:pt x="458" y="650"/>
                  <a:pt x="456" y="652"/>
                  <a:pt x="454" y="653"/>
                </a:cubicBezTo>
                <a:cubicBezTo>
                  <a:pt x="425" y="684"/>
                  <a:pt x="405" y="718"/>
                  <a:pt x="392" y="747"/>
                </a:cubicBezTo>
                <a:cubicBezTo>
                  <a:pt x="373" y="737"/>
                  <a:pt x="351" y="731"/>
                  <a:pt x="328" y="731"/>
                </a:cubicBezTo>
                <a:cubicBezTo>
                  <a:pt x="133" y="731"/>
                  <a:pt x="133" y="731"/>
                  <a:pt x="133" y="731"/>
                </a:cubicBezTo>
                <a:cubicBezTo>
                  <a:pt x="60" y="731"/>
                  <a:pt x="0" y="791"/>
                  <a:pt x="0" y="865"/>
                </a:cubicBezTo>
                <a:cubicBezTo>
                  <a:pt x="0" y="1385"/>
                  <a:pt x="0" y="1385"/>
                  <a:pt x="0" y="1385"/>
                </a:cubicBezTo>
                <a:cubicBezTo>
                  <a:pt x="0" y="1458"/>
                  <a:pt x="60" y="1518"/>
                  <a:pt x="133" y="1518"/>
                </a:cubicBezTo>
                <a:cubicBezTo>
                  <a:pt x="328" y="1518"/>
                  <a:pt x="328" y="1518"/>
                  <a:pt x="328" y="1518"/>
                </a:cubicBezTo>
                <a:cubicBezTo>
                  <a:pt x="357" y="1518"/>
                  <a:pt x="383" y="1509"/>
                  <a:pt x="405" y="1493"/>
                </a:cubicBezTo>
                <a:cubicBezTo>
                  <a:pt x="480" y="1502"/>
                  <a:pt x="480" y="1502"/>
                  <a:pt x="480" y="1502"/>
                </a:cubicBezTo>
                <a:cubicBezTo>
                  <a:pt x="492" y="1504"/>
                  <a:pt x="697" y="1530"/>
                  <a:pt x="907" y="1526"/>
                </a:cubicBezTo>
                <a:cubicBezTo>
                  <a:pt x="945" y="1529"/>
                  <a:pt x="981" y="1530"/>
                  <a:pt x="1014" y="1530"/>
                </a:cubicBezTo>
                <a:cubicBezTo>
                  <a:pt x="1071" y="1530"/>
                  <a:pt x="1121" y="1526"/>
                  <a:pt x="1163" y="1517"/>
                </a:cubicBezTo>
                <a:cubicBezTo>
                  <a:pt x="1261" y="1496"/>
                  <a:pt x="1328" y="1454"/>
                  <a:pt x="1362" y="1393"/>
                </a:cubicBezTo>
                <a:cubicBezTo>
                  <a:pt x="1388" y="1347"/>
                  <a:pt x="1388" y="1300"/>
                  <a:pt x="1383" y="1271"/>
                </a:cubicBezTo>
                <a:cubicBezTo>
                  <a:pt x="1447" y="1213"/>
                  <a:pt x="1458" y="1149"/>
                  <a:pt x="1456" y="1105"/>
                </a:cubicBezTo>
                <a:cubicBezTo>
                  <a:pt x="1455" y="1079"/>
                  <a:pt x="1449" y="1057"/>
                  <a:pt x="1443" y="1040"/>
                </a:cubicBezTo>
                <a:close/>
                <a:moveTo>
                  <a:pt x="133" y="1431"/>
                </a:moveTo>
                <a:cubicBezTo>
                  <a:pt x="107" y="1431"/>
                  <a:pt x="86" y="1410"/>
                  <a:pt x="86" y="1385"/>
                </a:cubicBezTo>
                <a:cubicBezTo>
                  <a:pt x="86" y="864"/>
                  <a:pt x="86" y="864"/>
                  <a:pt x="86" y="864"/>
                </a:cubicBezTo>
                <a:cubicBezTo>
                  <a:pt x="86" y="838"/>
                  <a:pt x="108" y="818"/>
                  <a:pt x="133" y="818"/>
                </a:cubicBezTo>
                <a:cubicBezTo>
                  <a:pt x="328" y="818"/>
                  <a:pt x="328" y="818"/>
                  <a:pt x="328" y="818"/>
                </a:cubicBezTo>
                <a:cubicBezTo>
                  <a:pt x="354" y="818"/>
                  <a:pt x="375" y="839"/>
                  <a:pt x="375" y="864"/>
                </a:cubicBezTo>
                <a:cubicBezTo>
                  <a:pt x="375" y="1384"/>
                  <a:pt x="375" y="1384"/>
                  <a:pt x="375" y="1384"/>
                </a:cubicBezTo>
                <a:cubicBezTo>
                  <a:pt x="375" y="1410"/>
                  <a:pt x="354" y="1431"/>
                  <a:pt x="328" y="1431"/>
                </a:cubicBezTo>
                <a:cubicBezTo>
                  <a:pt x="133" y="1431"/>
                  <a:pt x="133" y="1431"/>
                  <a:pt x="133" y="1431"/>
                </a:cubicBezTo>
                <a:close/>
                <a:moveTo>
                  <a:pt x="1361" y="1003"/>
                </a:moveTo>
                <a:cubicBezTo>
                  <a:pt x="1348" y="1017"/>
                  <a:pt x="1345" y="1038"/>
                  <a:pt x="1355" y="1055"/>
                </a:cubicBezTo>
                <a:cubicBezTo>
                  <a:pt x="1355" y="1055"/>
                  <a:pt x="1368" y="1078"/>
                  <a:pt x="1370" y="1108"/>
                </a:cubicBezTo>
                <a:cubicBezTo>
                  <a:pt x="1372" y="1150"/>
                  <a:pt x="1352" y="1187"/>
                  <a:pt x="1310" y="1219"/>
                </a:cubicBezTo>
                <a:cubicBezTo>
                  <a:pt x="1295" y="1231"/>
                  <a:pt x="1289" y="1251"/>
                  <a:pt x="1295" y="1268"/>
                </a:cubicBezTo>
                <a:cubicBezTo>
                  <a:pt x="1295" y="1269"/>
                  <a:pt x="1309" y="1311"/>
                  <a:pt x="1286" y="1351"/>
                </a:cubicBezTo>
                <a:cubicBezTo>
                  <a:pt x="1265" y="1389"/>
                  <a:pt x="1217" y="1417"/>
                  <a:pt x="1145" y="1432"/>
                </a:cubicBezTo>
                <a:cubicBezTo>
                  <a:pt x="1087" y="1445"/>
                  <a:pt x="1008" y="1447"/>
                  <a:pt x="912" y="1439"/>
                </a:cubicBezTo>
                <a:cubicBezTo>
                  <a:pt x="907" y="1439"/>
                  <a:pt x="907" y="1439"/>
                  <a:pt x="907" y="1439"/>
                </a:cubicBezTo>
                <a:cubicBezTo>
                  <a:pt x="701" y="1444"/>
                  <a:pt x="493" y="1417"/>
                  <a:pt x="491" y="1417"/>
                </a:cubicBezTo>
                <a:cubicBezTo>
                  <a:pt x="491" y="1417"/>
                  <a:pt x="491" y="1417"/>
                  <a:pt x="491" y="1417"/>
                </a:cubicBezTo>
                <a:cubicBezTo>
                  <a:pt x="459" y="1413"/>
                  <a:pt x="459" y="1413"/>
                  <a:pt x="459" y="1413"/>
                </a:cubicBezTo>
                <a:cubicBezTo>
                  <a:pt x="460" y="1404"/>
                  <a:pt x="461" y="1394"/>
                  <a:pt x="461" y="1385"/>
                </a:cubicBezTo>
                <a:cubicBezTo>
                  <a:pt x="461" y="864"/>
                  <a:pt x="461" y="864"/>
                  <a:pt x="461" y="864"/>
                </a:cubicBezTo>
                <a:cubicBezTo>
                  <a:pt x="461" y="851"/>
                  <a:pt x="459" y="837"/>
                  <a:pt x="455" y="825"/>
                </a:cubicBezTo>
                <a:cubicBezTo>
                  <a:pt x="461" y="803"/>
                  <a:pt x="477" y="755"/>
                  <a:pt x="515" y="715"/>
                </a:cubicBezTo>
                <a:cubicBezTo>
                  <a:pt x="659" y="601"/>
                  <a:pt x="799" y="217"/>
                  <a:pt x="805" y="200"/>
                </a:cubicBezTo>
                <a:cubicBezTo>
                  <a:pt x="808" y="193"/>
                  <a:pt x="808" y="186"/>
                  <a:pt x="807" y="179"/>
                </a:cubicBezTo>
                <a:cubicBezTo>
                  <a:pt x="802" y="143"/>
                  <a:pt x="804" y="99"/>
                  <a:pt x="811" y="86"/>
                </a:cubicBezTo>
                <a:cubicBezTo>
                  <a:pt x="828" y="86"/>
                  <a:pt x="874" y="91"/>
                  <a:pt x="901" y="129"/>
                </a:cubicBezTo>
                <a:cubicBezTo>
                  <a:pt x="934" y="174"/>
                  <a:pt x="933" y="255"/>
                  <a:pt x="898" y="362"/>
                </a:cubicBezTo>
                <a:cubicBezTo>
                  <a:pt x="844" y="524"/>
                  <a:pt x="839" y="610"/>
                  <a:pt x="882" y="648"/>
                </a:cubicBezTo>
                <a:cubicBezTo>
                  <a:pt x="903" y="667"/>
                  <a:pt x="931" y="668"/>
                  <a:pt x="952" y="660"/>
                </a:cubicBezTo>
                <a:cubicBezTo>
                  <a:pt x="971" y="656"/>
                  <a:pt x="990" y="652"/>
                  <a:pt x="1007" y="649"/>
                </a:cubicBezTo>
                <a:cubicBezTo>
                  <a:pt x="1009" y="649"/>
                  <a:pt x="1010" y="649"/>
                  <a:pt x="1012" y="648"/>
                </a:cubicBezTo>
                <a:cubicBezTo>
                  <a:pt x="1110" y="627"/>
                  <a:pt x="1286" y="614"/>
                  <a:pt x="1347" y="669"/>
                </a:cubicBezTo>
                <a:cubicBezTo>
                  <a:pt x="1399" y="717"/>
                  <a:pt x="1362" y="779"/>
                  <a:pt x="1358" y="786"/>
                </a:cubicBezTo>
                <a:cubicBezTo>
                  <a:pt x="1346" y="804"/>
                  <a:pt x="1349" y="827"/>
                  <a:pt x="1365" y="842"/>
                </a:cubicBezTo>
                <a:cubicBezTo>
                  <a:pt x="1366" y="842"/>
                  <a:pt x="1399" y="874"/>
                  <a:pt x="1401" y="916"/>
                </a:cubicBezTo>
                <a:cubicBezTo>
                  <a:pt x="1402" y="945"/>
                  <a:pt x="1389" y="974"/>
                  <a:pt x="1361" y="1003"/>
                </a:cubicBezTo>
                <a:close/>
                <a:moveTo>
                  <a:pt x="1361" y="1003"/>
                </a:moveTo>
                <a:cubicBezTo>
                  <a:pt x="1361" y="1003"/>
                  <a:pt x="1361" y="1003"/>
                  <a:pt x="1361" y="1003"/>
                </a:cubicBezTo>
              </a:path>
            </a:pathLst>
          </a:custGeom>
          <a:solidFill>
            <a:srgbClr val="00B0F0"/>
          </a:solidFill>
          <a:ln>
            <a:noFill/>
          </a:ln>
          <a:effectLst/>
        </p:spPr>
        <p:txBody>
          <a:bodyPr vert="horz" wrap="square" lIns="91440" tIns="45720" rIns="91440" bIns="45720" numCol="1" anchor="t" anchorCtr="0" compatLnSpc="1"/>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500"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2" presetClass="entr" presetSubtype="8" fill="hold" nodeType="withEffect">
                                  <p:stCondLst>
                                    <p:cond delay="0"/>
                                  </p:stCondLst>
                                  <p:childTnLst>
                                    <p:set>
                                      <p:cBhvr>
                                        <p:cTn id="15" dur="500"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par>
                                <p:cTn id="17" presetID="22" presetClass="entr" presetSubtype="1" fill="hold" grpId="0" nodeType="withEffect">
                                  <p:stCondLst>
                                    <p:cond delay="0"/>
                                  </p:stCondLst>
                                  <p:childTnLst>
                                    <p:set>
                                      <p:cBhvr>
                                        <p:cTn id="18" dur="500" fill="hold">
                                          <p:stCondLst>
                                            <p:cond delay="0"/>
                                          </p:stCondLst>
                                        </p:cTn>
                                        <p:tgtEl>
                                          <p:spTgt spid="14"/>
                                        </p:tgtEl>
                                        <p:attrNameLst>
                                          <p:attrName>style.visibility</p:attrName>
                                        </p:attrNameLst>
                                      </p:cBhvr>
                                      <p:to>
                                        <p:strVal val="visible"/>
                                      </p:to>
                                    </p:set>
                                    <p:animEffect transition="in" filter="wipe(up)">
                                      <p:cBhvr>
                                        <p:cTn id="19" dur="500"/>
                                        <p:tgtEl>
                                          <p:spTgt spid="14"/>
                                        </p:tgtEl>
                                      </p:cBhvr>
                                    </p:animEffect>
                                  </p:childTnLst>
                                </p:cTn>
                              </p:par>
                              <p:par>
                                <p:cTn id="20" presetID="21" presetClass="entr" presetSubtype="4" fill="hold" grpId="0" nodeType="withEffect">
                                  <p:stCondLst>
                                    <p:cond delay="0"/>
                                  </p:stCondLst>
                                  <p:childTnLst>
                                    <p:set>
                                      <p:cBhvr>
                                        <p:cTn id="21" dur="500" fill="hold">
                                          <p:stCondLst>
                                            <p:cond delay="0"/>
                                          </p:stCondLst>
                                        </p:cTn>
                                        <p:tgtEl>
                                          <p:spTgt spid="25"/>
                                        </p:tgtEl>
                                        <p:attrNameLst>
                                          <p:attrName>style.visibility</p:attrName>
                                        </p:attrNameLst>
                                      </p:cBhvr>
                                      <p:to>
                                        <p:strVal val="visible"/>
                                      </p:to>
                                    </p:set>
                                    <p:animEffect transition="in" filter="wheel(4)">
                                      <p:cBhvr>
                                        <p:cTn id="22" dur="500"/>
                                        <p:tgtEl>
                                          <p:spTgt spid="25"/>
                                        </p:tgtEl>
                                      </p:cBhvr>
                                    </p:animEffect>
                                  </p:childTnLst>
                                </p:cTn>
                              </p:par>
                              <p:par>
                                <p:cTn id="23" presetID="10" presetClass="entr" presetSubtype="0" fill="hold" grpId="0" nodeType="withEffect">
                                  <p:stCondLst>
                                    <p:cond delay="600"/>
                                  </p:stCondLst>
                                  <p:childTnLst>
                                    <p:set>
                                      <p:cBhvr>
                                        <p:cTn id="24" dur="500"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3" grpId="0" bldLvl="0" animBg="1"/>
      <p:bldP spid="14" grpId="0"/>
      <p:bldP spid="15"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32"/>
          <p:cNvSpPr/>
          <p:nvPr/>
        </p:nvSpPr>
        <p:spPr>
          <a:xfrm>
            <a:off x="7187565" y="0"/>
            <a:ext cx="5004435" cy="6857365"/>
          </a:xfrm>
          <a:prstGeom prst="roundRect">
            <a:avLst>
              <a:gd name="adj" fmla="val 0"/>
            </a:avLst>
          </a:prstGeom>
          <a:solidFill>
            <a:srgbClr val="00B0F0"/>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400" dirty="0"/>
          </a:p>
        </p:txBody>
      </p:sp>
      <p:sp>
        <p:nvSpPr>
          <p:cNvPr id="4" name="标题 3"/>
          <p:cNvSpPr>
            <a:spLocks noGrp="1"/>
          </p:cNvSpPr>
          <p:nvPr>
            <p:ph type="title"/>
            <p:custDataLst>
              <p:tags r:id="rId1"/>
            </p:custDataLst>
          </p:nvPr>
        </p:nvSpPr>
        <p:spPr>
          <a:xfrm>
            <a:off x="459740" y="194945"/>
            <a:ext cx="2603500" cy="1096010"/>
          </a:xfrm>
        </p:spPr>
        <p:txBody>
          <a:bodyPr/>
          <a:lstStyle/>
          <a:p>
            <a:r>
              <a:rPr lang="zh-CN" altLang="en-US" sz="4000" dirty="0"/>
              <a:t>实验结果</a:t>
            </a:r>
            <a:endParaRPr lang="zh-CN" altLang="en-US" sz="4000" dirty="0"/>
          </a:p>
        </p:txBody>
      </p:sp>
      <p:sp>
        <p:nvSpPr>
          <p:cNvPr id="10" name="圆角矩形 24"/>
          <p:cNvSpPr/>
          <p:nvPr>
            <p:custDataLst>
              <p:tags r:id="rId2"/>
            </p:custDataLst>
          </p:nvPr>
        </p:nvSpPr>
        <p:spPr>
          <a:xfrm>
            <a:off x="8483692" y="195003"/>
            <a:ext cx="2700752" cy="490061"/>
          </a:xfrm>
          <a:prstGeom prst="roundRect">
            <a:avLst>
              <a:gd name="adj" fmla="val 50000"/>
            </a:avLst>
          </a:prstGeom>
          <a:solidFill>
            <a:srgbClr val="FCFCFD"/>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sz="2000" b="1" dirty="0">
                <a:solidFill>
                  <a:schemeClr val="tx1"/>
                </a:solidFill>
                <a:latin typeface="+mn-ea"/>
                <a:cs typeface="+mn-ea"/>
                <a:sym typeface="+mn-ea"/>
              </a:rPr>
              <a:t>护理前</a:t>
            </a:r>
            <a:endParaRPr lang="zh-CN" altLang="en-US" sz="2000" b="1" dirty="0">
              <a:solidFill>
                <a:schemeClr val="tx1"/>
              </a:solidFill>
              <a:latin typeface="+mn-ea"/>
              <a:cs typeface="+mn-ea"/>
              <a:sym typeface="+mn-ea"/>
            </a:endParaRPr>
          </a:p>
        </p:txBody>
      </p:sp>
      <p:sp>
        <p:nvSpPr>
          <p:cNvPr id="11" name="矩形 10"/>
          <p:cNvSpPr/>
          <p:nvPr>
            <p:custDataLst>
              <p:tags r:id="rId3"/>
            </p:custDataLst>
          </p:nvPr>
        </p:nvSpPr>
        <p:spPr>
          <a:xfrm>
            <a:off x="7376828" y="799602"/>
            <a:ext cx="4610520" cy="1925394"/>
          </a:xfrm>
          <a:prstGeom prst="rect">
            <a:avLst/>
          </a:prstGeom>
          <a:noFill/>
        </p:spPr>
        <p:txBody>
          <a:bodyPr wrap="square" lIns="0" tIns="0" rIns="0" bIns="0" rtlCol="0" anchor="t" anchorCtr="0">
            <a:noAutofit/>
          </a:bodyPr>
          <a:lstStyle/>
          <a:p>
            <a:pPr algn="just">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cs typeface="+mn-ea"/>
              </a:rPr>
              <a:t>2组护理前精神症状、情绪、生活质量对比，差异无统计学意义（P＞0.05）；。</a:t>
            </a:r>
            <a:endParaRPr lang="zh-CN" altLang="en-US" sz="1600" kern="0" dirty="0">
              <a:ln>
                <a:noFill/>
                <a:prstDash val="sysDot"/>
              </a:ln>
              <a:solidFill>
                <a:schemeClr val="tx1">
                  <a:lumMod val="85000"/>
                  <a:lumOff val="15000"/>
                </a:schemeClr>
              </a:solidFill>
              <a:latin typeface="+mn-ea"/>
              <a:cs typeface="+mn-ea"/>
            </a:endParaRPr>
          </a:p>
        </p:txBody>
      </p:sp>
      <p:sp>
        <p:nvSpPr>
          <p:cNvPr id="12" name="圆角矩形 24"/>
          <p:cNvSpPr/>
          <p:nvPr>
            <p:custDataLst>
              <p:tags r:id="rId4"/>
            </p:custDataLst>
          </p:nvPr>
        </p:nvSpPr>
        <p:spPr>
          <a:xfrm>
            <a:off x="8483692" y="1731163"/>
            <a:ext cx="2700752" cy="490061"/>
          </a:xfrm>
          <a:prstGeom prst="roundRect">
            <a:avLst>
              <a:gd name="adj" fmla="val 50000"/>
            </a:avLst>
          </a:prstGeom>
          <a:solidFill>
            <a:srgbClr val="FCFCFD"/>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sz="2000" b="1" dirty="0">
                <a:solidFill>
                  <a:schemeClr val="tx1"/>
                </a:solidFill>
                <a:latin typeface="+mn-ea"/>
                <a:cs typeface="+mn-ea"/>
                <a:sym typeface="+mn-ea"/>
              </a:rPr>
              <a:t>护理后</a:t>
            </a:r>
            <a:endParaRPr lang="zh-CN" altLang="en-US" sz="2000" b="1" dirty="0">
              <a:solidFill>
                <a:schemeClr val="tx1"/>
              </a:solidFill>
              <a:latin typeface="+mn-ea"/>
              <a:cs typeface="+mn-ea"/>
              <a:sym typeface="+mn-ea"/>
            </a:endParaRPr>
          </a:p>
        </p:txBody>
      </p:sp>
      <p:sp>
        <p:nvSpPr>
          <p:cNvPr id="13" name="矩形 12"/>
          <p:cNvSpPr/>
          <p:nvPr>
            <p:custDataLst>
              <p:tags r:id="rId5"/>
            </p:custDataLst>
          </p:nvPr>
        </p:nvSpPr>
        <p:spPr>
          <a:xfrm>
            <a:off x="7375525" y="2330795"/>
            <a:ext cx="4610520" cy="4355755"/>
          </a:xfrm>
          <a:prstGeom prst="rect">
            <a:avLst/>
          </a:prstGeom>
          <a:noFill/>
        </p:spPr>
        <p:txBody>
          <a:bodyPr wrap="square" lIns="0" tIns="0" rIns="0" bIns="0" rtlCol="0" anchor="t" anchorCtr="0">
            <a:noAutofit/>
          </a:bodyPr>
          <a:lstStyle/>
          <a:p>
            <a:pPr algn="just">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cs typeface="+mn-ea"/>
                <a:sym typeface="+mn-ea"/>
              </a:rPr>
              <a:t>2 组护理后 GQOLI-74 中各维度评分均升高，且观察组更高，差异有统计学意义（P＜0.05）</a:t>
            </a:r>
            <a:endParaRPr lang="zh-CN" altLang="en-US" sz="1600" kern="0" dirty="0">
              <a:ln>
                <a:noFill/>
                <a:prstDash val="sysDot"/>
              </a:ln>
              <a:solidFill>
                <a:schemeClr val="tx1">
                  <a:lumMod val="85000"/>
                  <a:lumOff val="15000"/>
                </a:schemeClr>
              </a:solidFill>
              <a:latin typeface="+mn-ea"/>
              <a:cs typeface="+mn-ea"/>
              <a:sym typeface="+mn-ea"/>
            </a:endParaRPr>
          </a:p>
          <a:p>
            <a:pPr algn="just">
              <a:lnSpc>
                <a:spcPct val="140000"/>
              </a:lnSpc>
              <a:spcBef>
                <a:spcPct val="0"/>
              </a:spcBef>
              <a:spcAft>
                <a:spcPct val="0"/>
              </a:spcAft>
            </a:pPr>
            <a:r>
              <a:rPr lang="zh-CN" altLang="en-US" sz="1600" b="1" u="sng" kern="0" dirty="0">
                <a:ln>
                  <a:noFill/>
                  <a:prstDash val="sysDot"/>
                </a:ln>
                <a:solidFill>
                  <a:srgbClr val="FF0000"/>
                </a:solidFill>
                <a:latin typeface="+mn-ea"/>
                <a:cs typeface="+mn-ea"/>
                <a:sym typeface="+mn-ea"/>
              </a:rPr>
              <a:t>观察组</a:t>
            </a:r>
            <a:r>
              <a:rPr lang="zh-CN" altLang="en-US" sz="1600" kern="0" dirty="0">
                <a:ln>
                  <a:noFill/>
                  <a:prstDash val="sysDot"/>
                </a:ln>
                <a:solidFill>
                  <a:schemeClr val="tx1">
                    <a:lumMod val="85000"/>
                    <a:lumOff val="15000"/>
                  </a:schemeClr>
                </a:solidFill>
                <a:latin typeface="+mn-ea"/>
                <a:cs typeface="+mn-ea"/>
                <a:sym typeface="+mn-ea"/>
              </a:rPr>
              <a:t>护理后阴性与阳性症状量表（positive and negative syndrome scale，PANSS）中阳性症状评分、阴性症状评分、一般病理症状评分均</a:t>
            </a:r>
            <a:r>
              <a:rPr lang="zh-CN" altLang="en-US" sz="1600" b="1" u="sng" kern="0" dirty="0">
                <a:ln>
                  <a:noFill/>
                  <a:prstDash val="sysDot"/>
                </a:ln>
                <a:solidFill>
                  <a:srgbClr val="FF0000"/>
                </a:solidFill>
                <a:latin typeface="+mn-ea"/>
                <a:cs typeface="+mn-ea"/>
                <a:sym typeface="+mn-ea"/>
              </a:rPr>
              <a:t>低于对照组</a:t>
            </a:r>
            <a:r>
              <a:rPr lang="zh-CN" altLang="en-US" sz="1600" kern="0" dirty="0">
                <a:ln>
                  <a:noFill/>
                  <a:prstDash val="sysDot"/>
                </a:ln>
                <a:solidFill>
                  <a:schemeClr val="tx1">
                    <a:lumMod val="85000"/>
                    <a:lumOff val="15000"/>
                  </a:schemeClr>
                </a:solidFill>
                <a:latin typeface="+mn-ea"/>
                <a:cs typeface="+mn-ea"/>
                <a:sym typeface="+mn-ea"/>
              </a:rPr>
              <a:t>，</a:t>
            </a:r>
            <a:endParaRPr lang="zh-CN" altLang="en-US" sz="1600" kern="0" dirty="0">
              <a:ln>
                <a:noFill/>
                <a:prstDash val="sysDot"/>
              </a:ln>
              <a:solidFill>
                <a:schemeClr val="tx1">
                  <a:lumMod val="85000"/>
                  <a:lumOff val="15000"/>
                </a:schemeClr>
              </a:solidFill>
              <a:latin typeface="+mn-ea"/>
              <a:cs typeface="+mn-ea"/>
              <a:sym typeface="+mn-ea"/>
            </a:endParaRPr>
          </a:p>
          <a:p>
            <a:pPr algn="just">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cs typeface="+mn-ea"/>
                <a:sym typeface="+mn-ea"/>
              </a:rPr>
              <a:t>汉密顿焦虑量表（Hamilton anxiety scale，HAMA）评分、汉密顿抑郁量表（Hamilton depression scale，HAMD）评分均</a:t>
            </a:r>
            <a:r>
              <a:rPr lang="zh-CN" altLang="en-US" sz="1600" b="1" u="sng" kern="0" dirty="0">
                <a:ln>
                  <a:noFill/>
                  <a:prstDash val="sysDot"/>
                </a:ln>
                <a:solidFill>
                  <a:srgbClr val="FF0000"/>
                </a:solidFill>
                <a:latin typeface="+mn-ea"/>
                <a:cs typeface="+mn-ea"/>
                <a:sym typeface="+mn-ea"/>
              </a:rPr>
              <a:t>低于对照组</a:t>
            </a:r>
            <a:r>
              <a:rPr lang="zh-CN" altLang="en-US" sz="1600" kern="0" dirty="0">
                <a:ln>
                  <a:noFill/>
                  <a:prstDash val="sysDot"/>
                </a:ln>
                <a:solidFill>
                  <a:schemeClr val="tx1">
                    <a:lumMod val="85000"/>
                    <a:lumOff val="15000"/>
                  </a:schemeClr>
                </a:solidFill>
                <a:latin typeface="+mn-ea"/>
                <a:cs typeface="+mn-ea"/>
                <a:sym typeface="+mn-ea"/>
              </a:rPr>
              <a:t>，生活质量综合评定问卷（generic quality of life inventory-74，GQOLI-74）中躯体功能评分、心理功能评分、社会功能评分、物质生活状态评分</a:t>
            </a:r>
            <a:r>
              <a:rPr lang="zh-CN" altLang="en-US" sz="1600" b="1" u="sng" kern="0" dirty="0">
                <a:ln>
                  <a:noFill/>
                  <a:prstDash val="sysDot"/>
                </a:ln>
                <a:solidFill>
                  <a:srgbClr val="FF0000"/>
                </a:solidFill>
                <a:latin typeface="+mn-ea"/>
                <a:cs typeface="+mn-ea"/>
                <a:sym typeface="+mn-ea"/>
              </a:rPr>
              <a:t>均较对照组高</a:t>
            </a:r>
            <a:r>
              <a:rPr lang="zh-CN" altLang="en-US" sz="1600" kern="0" dirty="0">
                <a:ln>
                  <a:noFill/>
                  <a:prstDash val="sysDot"/>
                </a:ln>
                <a:solidFill>
                  <a:schemeClr val="tx1">
                    <a:lumMod val="85000"/>
                    <a:lumOff val="15000"/>
                  </a:schemeClr>
                </a:solidFill>
                <a:latin typeface="+mn-ea"/>
                <a:cs typeface="+mn-ea"/>
                <a:sym typeface="+mn-ea"/>
              </a:rPr>
              <a:t>，差异有统计意义（P＜0.05）</a:t>
            </a:r>
            <a:endParaRPr lang="zh-CN" altLang="en-US" sz="1600" kern="0" dirty="0">
              <a:ln>
                <a:noFill/>
                <a:prstDash val="sysDot"/>
              </a:ln>
              <a:solidFill>
                <a:schemeClr val="tx1">
                  <a:lumMod val="85000"/>
                  <a:lumOff val="15000"/>
                </a:schemeClr>
              </a:solidFill>
              <a:latin typeface="+mn-ea"/>
              <a:cs typeface="+mn-ea"/>
              <a:sym typeface="+mn-ea"/>
            </a:endParaRPr>
          </a:p>
        </p:txBody>
      </p:sp>
      <p:pic>
        <p:nvPicPr>
          <p:cNvPr id="2" name="图片 1"/>
          <p:cNvPicPr>
            <a:picLocks noChangeAspect="1"/>
          </p:cNvPicPr>
          <p:nvPr/>
        </p:nvPicPr>
        <p:blipFill>
          <a:blip r:embed="rId6"/>
          <a:stretch>
            <a:fillRect/>
          </a:stretch>
        </p:blipFill>
        <p:spPr>
          <a:xfrm>
            <a:off x="0" y="1509395"/>
            <a:ext cx="7232015" cy="4316095"/>
          </a:xfrm>
          <a:prstGeom prst="rect">
            <a:avLst/>
          </a:prstGeom>
        </p:spPr>
      </p:pic>
      <p:sp>
        <p:nvSpPr>
          <p:cNvPr id="5" name="右箭头 4"/>
          <p:cNvSpPr/>
          <p:nvPr/>
        </p:nvSpPr>
        <p:spPr>
          <a:xfrm rot="9720000">
            <a:off x="1917700" y="1905635"/>
            <a:ext cx="5453380" cy="117475"/>
          </a:xfrm>
          <a:prstGeom prst="rightArrow">
            <a:avLst/>
          </a:prstGeom>
          <a:solidFill>
            <a:schemeClr val="bg1"/>
          </a:solidFill>
          <a:ln>
            <a:solidFill>
              <a:srgbClr val="00B0F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右箭头 5"/>
          <p:cNvSpPr/>
          <p:nvPr/>
        </p:nvSpPr>
        <p:spPr>
          <a:xfrm rot="10800000" flipV="1">
            <a:off x="5596255" y="2794635"/>
            <a:ext cx="1779270" cy="138430"/>
          </a:xfrm>
          <a:prstGeom prst="rightArrow">
            <a:avLst/>
          </a:prstGeom>
          <a:solidFill>
            <a:schemeClr val="bg1"/>
          </a:solidFill>
          <a:ln>
            <a:solidFill>
              <a:srgbClr val="00B0F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500"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0-#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742063" y="0"/>
            <a:ext cx="4707874" cy="6858000"/>
          </a:xfrm>
          <a:prstGeom prst="rect">
            <a:avLst/>
          </a:prstGeom>
          <a:solidFill>
            <a:srgbClr val="00B0F0"/>
          </a:solidFill>
          <a:ln>
            <a:noFill/>
          </a:ln>
          <a:effectLst>
            <a:outerShdw blurRad="127000" sx="101000" sy="101000" algn="ctr" rotWithShape="0">
              <a:srgbClr val="D5D7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24"/>
          <p:cNvSpPr/>
          <p:nvPr/>
        </p:nvSpPr>
        <p:spPr>
          <a:xfrm>
            <a:off x="695325" y="1563813"/>
            <a:ext cx="10801348" cy="3730374"/>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矩形 2"/>
          <p:cNvSpPr/>
          <p:nvPr/>
        </p:nvSpPr>
        <p:spPr>
          <a:xfrm>
            <a:off x="1416050" y="2101215"/>
            <a:ext cx="9461500" cy="2439670"/>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4" name="文本框 13"/>
          <p:cNvSpPr txBox="1"/>
          <p:nvPr/>
        </p:nvSpPr>
        <p:spPr>
          <a:xfrm>
            <a:off x="4048125" y="2560955"/>
            <a:ext cx="6020435" cy="1520825"/>
          </a:xfrm>
          <a:prstGeom prst="rect">
            <a:avLst/>
          </a:prstGeom>
          <a:noFill/>
        </p:spPr>
        <p:txBody>
          <a:bodyPr wrap="square" rtlCol="0">
            <a:noAutofit/>
          </a:bodyPr>
          <a:lstStyle/>
          <a:p>
            <a:pPr>
              <a:lnSpc>
                <a:spcPct val="120000"/>
              </a:lnSpc>
            </a:pPr>
            <a:r>
              <a:rPr lang="zh-CN" altLang="en-US" sz="2400" b="1" dirty="0">
                <a:solidFill>
                  <a:srgbClr val="3F403E"/>
                </a:solidFill>
                <a:latin typeface="+mj-ea"/>
                <a:ea typeface="+mj-ea"/>
              </a:rPr>
              <a:t>在首发精神分裂症患者中实施元情绪疗法配合脑生物反馈仪护理可</a:t>
            </a:r>
            <a:r>
              <a:rPr lang="zh-CN" altLang="en-US" sz="2400" b="1" dirty="0">
                <a:solidFill>
                  <a:srgbClr val="FF0000"/>
                </a:solidFill>
                <a:latin typeface="+mj-ea"/>
                <a:ea typeface="+mj-ea"/>
              </a:rPr>
              <a:t>有效减轻</a:t>
            </a:r>
            <a:r>
              <a:rPr lang="zh-CN" altLang="en-US" sz="2400" b="1" dirty="0">
                <a:solidFill>
                  <a:srgbClr val="3F403E"/>
                </a:solidFill>
                <a:latin typeface="+mj-ea"/>
                <a:ea typeface="+mj-ea"/>
              </a:rPr>
              <a:t>患者精神</a:t>
            </a:r>
            <a:r>
              <a:rPr lang="zh-CN" altLang="en-US" sz="2400" b="1" dirty="0">
                <a:solidFill>
                  <a:srgbClr val="FF0000"/>
                </a:solidFill>
                <a:latin typeface="+mj-ea"/>
                <a:ea typeface="+mj-ea"/>
              </a:rPr>
              <a:t>症状</a:t>
            </a:r>
            <a:r>
              <a:rPr lang="zh-CN" altLang="en-US" sz="2400" b="1" dirty="0">
                <a:solidFill>
                  <a:srgbClr val="3F403E"/>
                </a:solidFill>
                <a:latin typeface="+mj-ea"/>
                <a:ea typeface="+mj-ea"/>
              </a:rPr>
              <a:t>和负性情绪，</a:t>
            </a:r>
            <a:r>
              <a:rPr lang="zh-CN" altLang="en-US" sz="2400" b="1" dirty="0">
                <a:solidFill>
                  <a:srgbClr val="FF0000"/>
                </a:solidFill>
                <a:latin typeface="+mj-ea"/>
                <a:ea typeface="+mj-ea"/>
              </a:rPr>
              <a:t>提高</a:t>
            </a:r>
            <a:r>
              <a:rPr lang="zh-CN" altLang="en-US" sz="2400" b="1" dirty="0">
                <a:solidFill>
                  <a:srgbClr val="3F403E"/>
                </a:solidFill>
                <a:latin typeface="+mj-ea"/>
                <a:ea typeface="+mj-ea"/>
              </a:rPr>
              <a:t>患者的</a:t>
            </a:r>
            <a:r>
              <a:rPr lang="zh-CN" altLang="en-US" sz="2400" b="1" dirty="0">
                <a:solidFill>
                  <a:srgbClr val="FF0000"/>
                </a:solidFill>
                <a:latin typeface="+mj-ea"/>
                <a:ea typeface="+mj-ea"/>
              </a:rPr>
              <a:t>生活质量</a:t>
            </a:r>
            <a:r>
              <a:rPr lang="zh-CN" altLang="en-US" sz="2400" b="1" dirty="0">
                <a:solidFill>
                  <a:srgbClr val="3F403E"/>
                </a:solidFill>
                <a:latin typeface="+mj-ea"/>
                <a:ea typeface="+mj-ea"/>
              </a:rPr>
              <a:t>。</a:t>
            </a:r>
            <a:endParaRPr lang="zh-CN" altLang="en-US" sz="2400" b="1" dirty="0">
              <a:solidFill>
                <a:srgbClr val="3F403E"/>
              </a:solidFill>
              <a:latin typeface="+mj-ea"/>
              <a:ea typeface="+mj-ea"/>
            </a:endParaRPr>
          </a:p>
        </p:txBody>
      </p:sp>
      <p:sp>
        <p:nvSpPr>
          <p:cNvPr id="18" name="文本框 17"/>
          <p:cNvSpPr txBox="1"/>
          <p:nvPr/>
        </p:nvSpPr>
        <p:spPr>
          <a:xfrm>
            <a:off x="4854775" y="525212"/>
            <a:ext cx="2214880" cy="706755"/>
          </a:xfrm>
          <a:prstGeom prst="rect">
            <a:avLst/>
          </a:prstGeom>
          <a:noFill/>
        </p:spPr>
        <p:txBody>
          <a:bodyPr wrap="none" rtlCol="0">
            <a:spAutoFit/>
          </a:bodyPr>
          <a:lstStyle/>
          <a:p>
            <a:pPr algn="ctr"/>
            <a:r>
              <a:rPr lang="zh-CN" altLang="en-US" sz="4000" b="1" dirty="0">
                <a:solidFill>
                  <a:srgbClr val="FCFCFD"/>
                </a:solidFill>
                <a:latin typeface="+mj-ea"/>
                <a:ea typeface="+mj-ea"/>
              </a:rPr>
              <a:t>实验结论</a:t>
            </a:r>
            <a:endParaRPr lang="zh-CN" altLang="en-US" sz="4000" b="1" dirty="0">
              <a:solidFill>
                <a:srgbClr val="FCFCFD"/>
              </a:solidFill>
              <a:latin typeface="+mj-ea"/>
              <a:ea typeface="+mj-ea"/>
            </a:endParaRPr>
          </a:p>
        </p:txBody>
      </p:sp>
      <p:sp>
        <p:nvSpPr>
          <p:cNvPr id="24" name="Freeform 107"/>
          <p:cNvSpPr>
            <a:spLocks noEditPoints="1"/>
          </p:cNvSpPr>
          <p:nvPr/>
        </p:nvSpPr>
        <p:spPr bwMode="auto">
          <a:xfrm>
            <a:off x="1781920" y="2472691"/>
            <a:ext cx="1686079" cy="1696065"/>
          </a:xfrm>
          <a:custGeom>
            <a:avLst/>
            <a:gdLst>
              <a:gd name="T0" fmla="*/ 1487 w 1489"/>
              <a:gd name="T1" fmla="*/ 913 h 1530"/>
              <a:gd name="T2" fmla="*/ 1405 w 1489"/>
              <a:gd name="T3" fmla="*/ 606 h 1530"/>
              <a:gd name="T4" fmla="*/ 991 w 1489"/>
              <a:gd name="T5" fmla="*/ 565 h 1530"/>
              <a:gd name="T6" fmla="*/ 940 w 1489"/>
              <a:gd name="T7" fmla="*/ 575 h 1530"/>
              <a:gd name="T8" fmla="*/ 972 w 1489"/>
              <a:gd name="T9" fmla="*/ 79 h 1530"/>
              <a:gd name="T10" fmla="*/ 747 w 1489"/>
              <a:gd name="T11" fmla="*/ 28 h 1530"/>
              <a:gd name="T12" fmla="*/ 460 w 1489"/>
              <a:gd name="T13" fmla="*/ 649 h 1530"/>
              <a:gd name="T14" fmla="*/ 392 w 1489"/>
              <a:gd name="T15" fmla="*/ 747 h 1530"/>
              <a:gd name="T16" fmla="*/ 133 w 1489"/>
              <a:gd name="T17" fmla="*/ 731 h 1530"/>
              <a:gd name="T18" fmla="*/ 0 w 1489"/>
              <a:gd name="T19" fmla="*/ 1385 h 1530"/>
              <a:gd name="T20" fmla="*/ 328 w 1489"/>
              <a:gd name="T21" fmla="*/ 1518 h 1530"/>
              <a:gd name="T22" fmla="*/ 480 w 1489"/>
              <a:gd name="T23" fmla="*/ 1502 h 1530"/>
              <a:gd name="T24" fmla="*/ 1014 w 1489"/>
              <a:gd name="T25" fmla="*/ 1530 h 1530"/>
              <a:gd name="T26" fmla="*/ 1362 w 1489"/>
              <a:gd name="T27" fmla="*/ 1393 h 1530"/>
              <a:gd name="T28" fmla="*/ 1456 w 1489"/>
              <a:gd name="T29" fmla="*/ 1105 h 1530"/>
              <a:gd name="T30" fmla="*/ 133 w 1489"/>
              <a:gd name="T31" fmla="*/ 1431 h 1530"/>
              <a:gd name="T32" fmla="*/ 86 w 1489"/>
              <a:gd name="T33" fmla="*/ 864 h 1530"/>
              <a:gd name="T34" fmla="*/ 328 w 1489"/>
              <a:gd name="T35" fmla="*/ 818 h 1530"/>
              <a:gd name="T36" fmla="*/ 375 w 1489"/>
              <a:gd name="T37" fmla="*/ 1384 h 1530"/>
              <a:gd name="T38" fmla="*/ 133 w 1489"/>
              <a:gd name="T39" fmla="*/ 1431 h 1530"/>
              <a:gd name="T40" fmla="*/ 1355 w 1489"/>
              <a:gd name="T41" fmla="*/ 1055 h 1530"/>
              <a:gd name="T42" fmla="*/ 1310 w 1489"/>
              <a:gd name="T43" fmla="*/ 1219 h 1530"/>
              <a:gd name="T44" fmla="*/ 1286 w 1489"/>
              <a:gd name="T45" fmla="*/ 1351 h 1530"/>
              <a:gd name="T46" fmla="*/ 912 w 1489"/>
              <a:gd name="T47" fmla="*/ 1439 h 1530"/>
              <a:gd name="T48" fmla="*/ 491 w 1489"/>
              <a:gd name="T49" fmla="*/ 1417 h 1530"/>
              <a:gd name="T50" fmla="*/ 459 w 1489"/>
              <a:gd name="T51" fmla="*/ 1413 h 1530"/>
              <a:gd name="T52" fmla="*/ 461 w 1489"/>
              <a:gd name="T53" fmla="*/ 864 h 1530"/>
              <a:gd name="T54" fmla="*/ 515 w 1489"/>
              <a:gd name="T55" fmla="*/ 715 h 1530"/>
              <a:gd name="T56" fmla="*/ 807 w 1489"/>
              <a:gd name="T57" fmla="*/ 179 h 1530"/>
              <a:gd name="T58" fmla="*/ 901 w 1489"/>
              <a:gd name="T59" fmla="*/ 129 h 1530"/>
              <a:gd name="T60" fmla="*/ 882 w 1489"/>
              <a:gd name="T61" fmla="*/ 648 h 1530"/>
              <a:gd name="T62" fmla="*/ 1007 w 1489"/>
              <a:gd name="T63" fmla="*/ 649 h 1530"/>
              <a:gd name="T64" fmla="*/ 1347 w 1489"/>
              <a:gd name="T65" fmla="*/ 669 h 1530"/>
              <a:gd name="T66" fmla="*/ 1365 w 1489"/>
              <a:gd name="T67" fmla="*/ 842 h 1530"/>
              <a:gd name="T68" fmla="*/ 1361 w 1489"/>
              <a:gd name="T69" fmla="*/ 1003 h 1530"/>
              <a:gd name="T70" fmla="*/ 1361 w 1489"/>
              <a:gd name="T71" fmla="*/ 1003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9" h="1530">
                <a:moveTo>
                  <a:pt x="1443" y="1040"/>
                </a:moveTo>
                <a:cubicBezTo>
                  <a:pt x="1474" y="1000"/>
                  <a:pt x="1489" y="957"/>
                  <a:pt x="1487" y="913"/>
                </a:cubicBezTo>
                <a:cubicBezTo>
                  <a:pt x="1485" y="865"/>
                  <a:pt x="1464" y="827"/>
                  <a:pt x="1446" y="803"/>
                </a:cubicBezTo>
                <a:cubicBezTo>
                  <a:pt x="1467" y="751"/>
                  <a:pt x="1475" y="670"/>
                  <a:pt x="1405" y="606"/>
                </a:cubicBezTo>
                <a:cubicBezTo>
                  <a:pt x="1354" y="560"/>
                  <a:pt x="1268" y="539"/>
                  <a:pt x="1148" y="545"/>
                </a:cubicBezTo>
                <a:cubicBezTo>
                  <a:pt x="1064" y="549"/>
                  <a:pt x="994" y="564"/>
                  <a:pt x="991" y="565"/>
                </a:cubicBezTo>
                <a:cubicBezTo>
                  <a:pt x="990" y="565"/>
                  <a:pt x="990" y="565"/>
                  <a:pt x="990" y="565"/>
                </a:cubicBezTo>
                <a:cubicBezTo>
                  <a:pt x="974" y="568"/>
                  <a:pt x="957" y="571"/>
                  <a:pt x="940" y="575"/>
                </a:cubicBezTo>
                <a:cubicBezTo>
                  <a:pt x="939" y="555"/>
                  <a:pt x="942" y="504"/>
                  <a:pt x="980" y="389"/>
                </a:cubicBezTo>
                <a:cubicBezTo>
                  <a:pt x="1025" y="253"/>
                  <a:pt x="1022" y="149"/>
                  <a:pt x="972" y="79"/>
                </a:cubicBezTo>
                <a:cubicBezTo>
                  <a:pt x="919" y="6"/>
                  <a:pt x="834" y="0"/>
                  <a:pt x="809" y="0"/>
                </a:cubicBezTo>
                <a:cubicBezTo>
                  <a:pt x="785" y="0"/>
                  <a:pt x="763" y="10"/>
                  <a:pt x="747" y="28"/>
                </a:cubicBezTo>
                <a:cubicBezTo>
                  <a:pt x="712" y="69"/>
                  <a:pt x="716" y="146"/>
                  <a:pt x="720" y="181"/>
                </a:cubicBezTo>
                <a:cubicBezTo>
                  <a:pt x="678" y="294"/>
                  <a:pt x="560" y="572"/>
                  <a:pt x="460" y="649"/>
                </a:cubicBezTo>
                <a:cubicBezTo>
                  <a:pt x="458" y="650"/>
                  <a:pt x="456" y="652"/>
                  <a:pt x="454" y="653"/>
                </a:cubicBezTo>
                <a:cubicBezTo>
                  <a:pt x="425" y="684"/>
                  <a:pt x="405" y="718"/>
                  <a:pt x="392" y="747"/>
                </a:cubicBezTo>
                <a:cubicBezTo>
                  <a:pt x="373" y="737"/>
                  <a:pt x="351" y="731"/>
                  <a:pt x="328" y="731"/>
                </a:cubicBezTo>
                <a:cubicBezTo>
                  <a:pt x="133" y="731"/>
                  <a:pt x="133" y="731"/>
                  <a:pt x="133" y="731"/>
                </a:cubicBezTo>
                <a:cubicBezTo>
                  <a:pt x="60" y="731"/>
                  <a:pt x="0" y="791"/>
                  <a:pt x="0" y="865"/>
                </a:cubicBezTo>
                <a:cubicBezTo>
                  <a:pt x="0" y="1385"/>
                  <a:pt x="0" y="1385"/>
                  <a:pt x="0" y="1385"/>
                </a:cubicBezTo>
                <a:cubicBezTo>
                  <a:pt x="0" y="1458"/>
                  <a:pt x="60" y="1518"/>
                  <a:pt x="133" y="1518"/>
                </a:cubicBezTo>
                <a:cubicBezTo>
                  <a:pt x="328" y="1518"/>
                  <a:pt x="328" y="1518"/>
                  <a:pt x="328" y="1518"/>
                </a:cubicBezTo>
                <a:cubicBezTo>
                  <a:pt x="357" y="1518"/>
                  <a:pt x="383" y="1509"/>
                  <a:pt x="405" y="1493"/>
                </a:cubicBezTo>
                <a:cubicBezTo>
                  <a:pt x="480" y="1502"/>
                  <a:pt x="480" y="1502"/>
                  <a:pt x="480" y="1502"/>
                </a:cubicBezTo>
                <a:cubicBezTo>
                  <a:pt x="492" y="1504"/>
                  <a:pt x="697" y="1530"/>
                  <a:pt x="907" y="1526"/>
                </a:cubicBezTo>
                <a:cubicBezTo>
                  <a:pt x="945" y="1529"/>
                  <a:pt x="981" y="1530"/>
                  <a:pt x="1014" y="1530"/>
                </a:cubicBezTo>
                <a:cubicBezTo>
                  <a:pt x="1071" y="1530"/>
                  <a:pt x="1121" y="1526"/>
                  <a:pt x="1163" y="1517"/>
                </a:cubicBezTo>
                <a:cubicBezTo>
                  <a:pt x="1261" y="1496"/>
                  <a:pt x="1328" y="1454"/>
                  <a:pt x="1362" y="1393"/>
                </a:cubicBezTo>
                <a:cubicBezTo>
                  <a:pt x="1388" y="1347"/>
                  <a:pt x="1388" y="1300"/>
                  <a:pt x="1383" y="1271"/>
                </a:cubicBezTo>
                <a:cubicBezTo>
                  <a:pt x="1447" y="1213"/>
                  <a:pt x="1458" y="1149"/>
                  <a:pt x="1456" y="1105"/>
                </a:cubicBezTo>
                <a:cubicBezTo>
                  <a:pt x="1455" y="1079"/>
                  <a:pt x="1449" y="1057"/>
                  <a:pt x="1443" y="1040"/>
                </a:cubicBezTo>
                <a:close/>
                <a:moveTo>
                  <a:pt x="133" y="1431"/>
                </a:moveTo>
                <a:cubicBezTo>
                  <a:pt x="107" y="1431"/>
                  <a:pt x="86" y="1410"/>
                  <a:pt x="86" y="1385"/>
                </a:cubicBezTo>
                <a:cubicBezTo>
                  <a:pt x="86" y="864"/>
                  <a:pt x="86" y="864"/>
                  <a:pt x="86" y="864"/>
                </a:cubicBezTo>
                <a:cubicBezTo>
                  <a:pt x="86" y="838"/>
                  <a:pt x="108" y="818"/>
                  <a:pt x="133" y="818"/>
                </a:cubicBezTo>
                <a:cubicBezTo>
                  <a:pt x="328" y="818"/>
                  <a:pt x="328" y="818"/>
                  <a:pt x="328" y="818"/>
                </a:cubicBezTo>
                <a:cubicBezTo>
                  <a:pt x="354" y="818"/>
                  <a:pt x="375" y="839"/>
                  <a:pt x="375" y="864"/>
                </a:cubicBezTo>
                <a:cubicBezTo>
                  <a:pt x="375" y="1384"/>
                  <a:pt x="375" y="1384"/>
                  <a:pt x="375" y="1384"/>
                </a:cubicBezTo>
                <a:cubicBezTo>
                  <a:pt x="375" y="1410"/>
                  <a:pt x="354" y="1431"/>
                  <a:pt x="328" y="1431"/>
                </a:cubicBezTo>
                <a:cubicBezTo>
                  <a:pt x="133" y="1431"/>
                  <a:pt x="133" y="1431"/>
                  <a:pt x="133" y="1431"/>
                </a:cubicBezTo>
                <a:close/>
                <a:moveTo>
                  <a:pt x="1361" y="1003"/>
                </a:moveTo>
                <a:cubicBezTo>
                  <a:pt x="1348" y="1017"/>
                  <a:pt x="1345" y="1038"/>
                  <a:pt x="1355" y="1055"/>
                </a:cubicBezTo>
                <a:cubicBezTo>
                  <a:pt x="1355" y="1055"/>
                  <a:pt x="1368" y="1078"/>
                  <a:pt x="1370" y="1108"/>
                </a:cubicBezTo>
                <a:cubicBezTo>
                  <a:pt x="1372" y="1150"/>
                  <a:pt x="1352" y="1187"/>
                  <a:pt x="1310" y="1219"/>
                </a:cubicBezTo>
                <a:cubicBezTo>
                  <a:pt x="1295" y="1231"/>
                  <a:pt x="1289" y="1251"/>
                  <a:pt x="1295" y="1268"/>
                </a:cubicBezTo>
                <a:cubicBezTo>
                  <a:pt x="1295" y="1269"/>
                  <a:pt x="1309" y="1311"/>
                  <a:pt x="1286" y="1351"/>
                </a:cubicBezTo>
                <a:cubicBezTo>
                  <a:pt x="1265" y="1389"/>
                  <a:pt x="1217" y="1417"/>
                  <a:pt x="1145" y="1432"/>
                </a:cubicBezTo>
                <a:cubicBezTo>
                  <a:pt x="1087" y="1445"/>
                  <a:pt x="1008" y="1447"/>
                  <a:pt x="912" y="1439"/>
                </a:cubicBezTo>
                <a:cubicBezTo>
                  <a:pt x="907" y="1439"/>
                  <a:pt x="907" y="1439"/>
                  <a:pt x="907" y="1439"/>
                </a:cubicBezTo>
                <a:cubicBezTo>
                  <a:pt x="701" y="1444"/>
                  <a:pt x="493" y="1417"/>
                  <a:pt x="491" y="1417"/>
                </a:cubicBezTo>
                <a:cubicBezTo>
                  <a:pt x="491" y="1417"/>
                  <a:pt x="491" y="1417"/>
                  <a:pt x="491" y="1417"/>
                </a:cubicBezTo>
                <a:cubicBezTo>
                  <a:pt x="459" y="1413"/>
                  <a:pt x="459" y="1413"/>
                  <a:pt x="459" y="1413"/>
                </a:cubicBezTo>
                <a:cubicBezTo>
                  <a:pt x="460" y="1404"/>
                  <a:pt x="461" y="1394"/>
                  <a:pt x="461" y="1385"/>
                </a:cubicBezTo>
                <a:cubicBezTo>
                  <a:pt x="461" y="864"/>
                  <a:pt x="461" y="864"/>
                  <a:pt x="461" y="864"/>
                </a:cubicBezTo>
                <a:cubicBezTo>
                  <a:pt x="461" y="851"/>
                  <a:pt x="459" y="837"/>
                  <a:pt x="455" y="825"/>
                </a:cubicBezTo>
                <a:cubicBezTo>
                  <a:pt x="461" y="803"/>
                  <a:pt x="477" y="755"/>
                  <a:pt x="515" y="715"/>
                </a:cubicBezTo>
                <a:cubicBezTo>
                  <a:pt x="659" y="601"/>
                  <a:pt x="799" y="217"/>
                  <a:pt x="805" y="200"/>
                </a:cubicBezTo>
                <a:cubicBezTo>
                  <a:pt x="808" y="193"/>
                  <a:pt x="808" y="186"/>
                  <a:pt x="807" y="179"/>
                </a:cubicBezTo>
                <a:cubicBezTo>
                  <a:pt x="802" y="143"/>
                  <a:pt x="804" y="99"/>
                  <a:pt x="811" y="86"/>
                </a:cubicBezTo>
                <a:cubicBezTo>
                  <a:pt x="828" y="86"/>
                  <a:pt x="874" y="91"/>
                  <a:pt x="901" y="129"/>
                </a:cubicBezTo>
                <a:cubicBezTo>
                  <a:pt x="934" y="174"/>
                  <a:pt x="933" y="255"/>
                  <a:pt x="898" y="362"/>
                </a:cubicBezTo>
                <a:cubicBezTo>
                  <a:pt x="844" y="524"/>
                  <a:pt x="839" y="610"/>
                  <a:pt x="882" y="648"/>
                </a:cubicBezTo>
                <a:cubicBezTo>
                  <a:pt x="903" y="667"/>
                  <a:pt x="931" y="668"/>
                  <a:pt x="952" y="660"/>
                </a:cubicBezTo>
                <a:cubicBezTo>
                  <a:pt x="971" y="656"/>
                  <a:pt x="990" y="652"/>
                  <a:pt x="1007" y="649"/>
                </a:cubicBezTo>
                <a:cubicBezTo>
                  <a:pt x="1009" y="649"/>
                  <a:pt x="1010" y="649"/>
                  <a:pt x="1012" y="648"/>
                </a:cubicBezTo>
                <a:cubicBezTo>
                  <a:pt x="1110" y="627"/>
                  <a:pt x="1286" y="614"/>
                  <a:pt x="1347" y="669"/>
                </a:cubicBezTo>
                <a:cubicBezTo>
                  <a:pt x="1399" y="717"/>
                  <a:pt x="1362" y="779"/>
                  <a:pt x="1358" y="786"/>
                </a:cubicBezTo>
                <a:cubicBezTo>
                  <a:pt x="1346" y="804"/>
                  <a:pt x="1349" y="827"/>
                  <a:pt x="1365" y="842"/>
                </a:cubicBezTo>
                <a:cubicBezTo>
                  <a:pt x="1366" y="842"/>
                  <a:pt x="1399" y="874"/>
                  <a:pt x="1401" y="916"/>
                </a:cubicBezTo>
                <a:cubicBezTo>
                  <a:pt x="1402" y="945"/>
                  <a:pt x="1389" y="974"/>
                  <a:pt x="1361" y="1003"/>
                </a:cubicBezTo>
                <a:close/>
                <a:moveTo>
                  <a:pt x="1361" y="1003"/>
                </a:moveTo>
                <a:cubicBezTo>
                  <a:pt x="1361" y="1003"/>
                  <a:pt x="1361" y="1003"/>
                  <a:pt x="1361" y="1003"/>
                </a:cubicBezTo>
              </a:path>
            </a:pathLst>
          </a:custGeom>
          <a:solidFill>
            <a:srgbClr val="00B0F0"/>
          </a:solidFill>
          <a:ln>
            <a:noFill/>
          </a:ln>
          <a:effectLst/>
        </p:spPr>
        <p:txBody>
          <a:bodyPr vert="horz" wrap="square" lIns="91440" tIns="45720" rIns="91440" bIns="45720" numCol="1" anchor="t" anchorCtr="0" compatLnSpc="1"/>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par>
                                <p:cTn id="10" presetID="22" presetClass="entr" presetSubtype="1" fill="hold" grpId="0" nodeType="withEffect">
                                  <p:stCondLst>
                                    <p:cond delay="0"/>
                                  </p:stCondLst>
                                  <p:childTnLst>
                                    <p:set>
                                      <p:cBhvr>
                                        <p:cTn id="11" dur="500"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par>
                                <p:cTn id="13" presetID="21" presetClass="entr" presetSubtype="4" fill="hold" grpId="0" nodeType="withEffect">
                                  <p:stCondLst>
                                    <p:cond delay="0"/>
                                  </p:stCondLst>
                                  <p:childTnLst>
                                    <p:set>
                                      <p:cBhvr>
                                        <p:cTn id="14" dur="500" fill="hold">
                                          <p:stCondLst>
                                            <p:cond delay="0"/>
                                          </p:stCondLst>
                                        </p:cTn>
                                        <p:tgtEl>
                                          <p:spTgt spid="25"/>
                                        </p:tgtEl>
                                        <p:attrNameLst>
                                          <p:attrName>style.visibility</p:attrName>
                                        </p:attrNameLst>
                                      </p:cBhvr>
                                      <p:to>
                                        <p:strVal val="visible"/>
                                      </p:to>
                                    </p:set>
                                    <p:animEffect transition="in" filter="wheel(4)">
                                      <p:cBhvr>
                                        <p:cTn id="15" dur="500"/>
                                        <p:tgtEl>
                                          <p:spTgt spid="25"/>
                                        </p:tgtEl>
                                      </p:cBhvr>
                                    </p:animEffect>
                                  </p:childTnLst>
                                </p:cTn>
                              </p:par>
                              <p:par>
                                <p:cTn id="16" presetID="10" presetClass="entr" presetSubtype="0" fill="hold" grpId="0" nodeType="withEffect">
                                  <p:stCondLst>
                                    <p:cond delay="600"/>
                                  </p:stCondLst>
                                  <p:childTnLst>
                                    <p:set>
                                      <p:cBhvr>
                                        <p:cTn id="17" dur="500"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3" grpId="0" bldLvl="0" animBg="1"/>
      <p:bldP spid="14"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6096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296307" y="549275"/>
            <a:ext cx="3691799" cy="4780611"/>
          </a:xfrm>
          <a:prstGeom prst="rect">
            <a:avLst/>
          </a:prstGeom>
          <a:noFill/>
          <a:ln w="25400">
            <a:solidFill>
              <a:srgbClr val="3F403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矩形 2"/>
          <p:cNvSpPr/>
          <p:nvPr/>
        </p:nvSpPr>
        <p:spPr>
          <a:xfrm>
            <a:off x="695325" y="936433"/>
            <a:ext cx="10801350" cy="3613533"/>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文本框 6"/>
          <p:cNvSpPr txBox="1"/>
          <p:nvPr/>
        </p:nvSpPr>
        <p:spPr>
          <a:xfrm>
            <a:off x="6512560" y="2520950"/>
            <a:ext cx="4505960" cy="1636395"/>
          </a:xfrm>
          <a:prstGeom prst="rect">
            <a:avLst/>
          </a:prstGeom>
          <a:noFill/>
        </p:spPr>
        <p:txBody>
          <a:bodyPr wrap="square" rtlCol="0">
            <a:noAutofit/>
          </a:bodyPr>
          <a:lstStyle/>
          <a:p>
            <a:pPr>
              <a:lnSpc>
                <a:spcPct val="150000"/>
              </a:lnSpc>
            </a:pPr>
            <a:r>
              <a:rPr b="1" dirty="0">
                <a:solidFill>
                  <a:schemeClr val="tx1">
                    <a:lumMod val="75000"/>
                    <a:lumOff val="25000"/>
                  </a:schemeClr>
                </a:solidFill>
                <a:latin typeface="+mn-ea"/>
              </a:rPr>
              <a:t>A：尽量离ta远一点，不和ta交流</a:t>
            </a:r>
            <a:endParaRPr b="1" dirty="0">
              <a:solidFill>
                <a:schemeClr val="tx1">
                  <a:lumMod val="75000"/>
                  <a:lumOff val="25000"/>
                </a:schemeClr>
              </a:solidFill>
              <a:latin typeface="+mn-ea"/>
            </a:endParaRPr>
          </a:p>
          <a:p>
            <a:pPr>
              <a:lnSpc>
                <a:spcPct val="150000"/>
              </a:lnSpc>
            </a:pPr>
            <a:r>
              <a:rPr b="1" dirty="0">
                <a:solidFill>
                  <a:schemeClr val="tx1">
                    <a:lumMod val="75000"/>
                    <a:lumOff val="25000"/>
                  </a:schemeClr>
                </a:solidFill>
                <a:latin typeface="+mn-ea"/>
              </a:rPr>
              <a:t>B：在可能的情况下尽量配合ta的治疗</a:t>
            </a:r>
            <a:endParaRPr b="1" dirty="0">
              <a:solidFill>
                <a:schemeClr val="tx1">
                  <a:lumMod val="75000"/>
                  <a:lumOff val="25000"/>
                </a:schemeClr>
              </a:solidFill>
              <a:latin typeface="+mn-ea"/>
            </a:endParaRPr>
          </a:p>
          <a:p>
            <a:pPr>
              <a:lnSpc>
                <a:spcPct val="150000"/>
              </a:lnSpc>
            </a:pPr>
            <a:r>
              <a:rPr b="1" dirty="0">
                <a:solidFill>
                  <a:schemeClr val="tx1">
                    <a:lumMod val="75000"/>
                    <a:lumOff val="25000"/>
                  </a:schemeClr>
                </a:solidFill>
                <a:latin typeface="+mn-ea"/>
              </a:rPr>
              <a:t>C：在不了解病情的情况下与ta独处</a:t>
            </a:r>
            <a:endParaRPr b="1" dirty="0">
              <a:solidFill>
                <a:schemeClr val="tx1">
                  <a:lumMod val="75000"/>
                  <a:lumOff val="25000"/>
                </a:schemeClr>
              </a:solidFill>
              <a:latin typeface="+mn-ea"/>
            </a:endParaRPr>
          </a:p>
          <a:p>
            <a:pPr>
              <a:lnSpc>
                <a:spcPct val="150000"/>
              </a:lnSpc>
            </a:pPr>
            <a:r>
              <a:rPr b="1" dirty="0">
                <a:solidFill>
                  <a:schemeClr val="tx1">
                    <a:lumMod val="75000"/>
                    <a:lumOff val="25000"/>
                  </a:schemeClr>
                </a:solidFill>
                <a:latin typeface="+mn-ea"/>
              </a:rPr>
              <a:t>D：大声嘲笑ta，试着跟ta和ta和ta聊天</a:t>
            </a:r>
            <a:endParaRPr b="1" dirty="0">
              <a:solidFill>
                <a:schemeClr val="tx1">
                  <a:lumMod val="75000"/>
                  <a:lumOff val="25000"/>
                </a:schemeClr>
              </a:solidFill>
              <a:latin typeface="+mn-ea"/>
            </a:endParaRPr>
          </a:p>
        </p:txBody>
      </p:sp>
      <p:sp>
        <p:nvSpPr>
          <p:cNvPr id="9" name="文本框 8"/>
          <p:cNvSpPr txBox="1"/>
          <p:nvPr/>
        </p:nvSpPr>
        <p:spPr>
          <a:xfrm>
            <a:off x="6512560" y="1526540"/>
            <a:ext cx="4772660" cy="994410"/>
          </a:xfrm>
          <a:prstGeom prst="rect">
            <a:avLst/>
          </a:prstGeom>
          <a:noFill/>
        </p:spPr>
        <p:txBody>
          <a:bodyPr wrap="none" rtlCol="0">
            <a:noAutofit/>
          </a:bodyPr>
          <a:lstStyle/>
          <a:p>
            <a:pPr algn="l"/>
            <a:r>
              <a:rPr lang="en-US" altLang="zh-CN" sz="2400" b="1" dirty="0">
                <a:solidFill>
                  <a:srgbClr val="3F403E"/>
                </a:solidFill>
                <a:latin typeface="+mj-ea"/>
                <a:ea typeface="+mj-ea"/>
              </a:rPr>
              <a:t>2</a:t>
            </a:r>
            <a:r>
              <a:rPr lang="zh-CN" altLang="en-US" sz="2400" b="1" dirty="0">
                <a:solidFill>
                  <a:srgbClr val="3F403E"/>
                </a:solidFill>
                <a:latin typeface="+mj-ea"/>
                <a:ea typeface="+mj-ea"/>
              </a:rPr>
              <a:t>）</a:t>
            </a:r>
            <a:r>
              <a:rPr sz="2400" b="1" dirty="0">
                <a:solidFill>
                  <a:srgbClr val="3F403E"/>
                </a:solidFill>
                <a:latin typeface="+mj-ea"/>
                <a:ea typeface="+mj-ea"/>
              </a:rPr>
              <a:t>面对精神分裂患者，以下哪种</a:t>
            </a:r>
            <a:endParaRPr sz="2400" b="1" dirty="0">
              <a:solidFill>
                <a:srgbClr val="3F403E"/>
              </a:solidFill>
              <a:latin typeface="+mj-ea"/>
              <a:ea typeface="+mj-ea"/>
            </a:endParaRPr>
          </a:p>
          <a:p>
            <a:pPr algn="l"/>
            <a:r>
              <a:rPr sz="2400" b="1" dirty="0">
                <a:solidFill>
                  <a:srgbClr val="3F403E"/>
                </a:solidFill>
                <a:latin typeface="+mj-ea"/>
                <a:ea typeface="+mj-ea"/>
              </a:rPr>
              <a:t>行为</a:t>
            </a:r>
            <a:r>
              <a:rPr sz="2400" b="1" dirty="0">
                <a:solidFill>
                  <a:srgbClr val="FF0000"/>
                </a:solidFill>
                <a:latin typeface="+mj-ea"/>
                <a:ea typeface="+mj-ea"/>
              </a:rPr>
              <a:t>是</a:t>
            </a:r>
            <a:r>
              <a:rPr sz="2400" b="1" dirty="0">
                <a:solidFill>
                  <a:srgbClr val="3F403E"/>
                </a:solidFill>
                <a:latin typeface="+mj-ea"/>
                <a:ea typeface="+mj-ea"/>
              </a:rPr>
              <a:t>恰当的（ </a:t>
            </a:r>
            <a:r>
              <a:rPr lang="en-US" sz="2400" b="1" dirty="0">
                <a:solidFill>
                  <a:srgbClr val="3F403E"/>
                </a:solidFill>
                <a:latin typeface="+mj-ea"/>
                <a:ea typeface="+mj-ea"/>
              </a:rPr>
              <a:t>  </a:t>
            </a:r>
            <a:r>
              <a:rPr sz="2400" b="1" dirty="0">
                <a:solidFill>
                  <a:srgbClr val="3F403E"/>
                </a:solidFill>
                <a:latin typeface="+mj-ea"/>
                <a:ea typeface="+mj-ea"/>
              </a:rPr>
              <a:t>）</a:t>
            </a:r>
            <a:endParaRPr sz="2400" b="1" dirty="0">
              <a:solidFill>
                <a:srgbClr val="3F403E"/>
              </a:solidFill>
              <a:latin typeface="+mj-ea"/>
              <a:ea typeface="+mj-ea"/>
            </a:endParaRPr>
          </a:p>
        </p:txBody>
      </p:sp>
      <p:cxnSp>
        <p:nvCxnSpPr>
          <p:cNvPr id="10" name="直接连接符 9"/>
          <p:cNvCxnSpPr/>
          <p:nvPr/>
        </p:nvCxnSpPr>
        <p:spPr>
          <a:xfrm flipH="1">
            <a:off x="6635263" y="2520249"/>
            <a:ext cx="4000015" cy="0"/>
          </a:xfrm>
          <a:prstGeom prst="line">
            <a:avLst/>
          </a:prstGeom>
          <a:ln>
            <a:solidFill>
              <a:srgbClr val="969F98">
                <a:alpha val="50000"/>
              </a:srgbClr>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751623" y="1262905"/>
            <a:ext cx="3288080" cy="707886"/>
          </a:xfrm>
          <a:prstGeom prst="rect">
            <a:avLst/>
          </a:prstGeom>
          <a:noFill/>
        </p:spPr>
        <p:txBody>
          <a:bodyPr wrap="none" rtlCol="0">
            <a:spAutoFit/>
          </a:bodyPr>
          <a:lstStyle/>
          <a:p>
            <a:pPr algn="ctr"/>
            <a:r>
              <a:rPr lang="en-US" altLang="zh-CN" sz="4000" b="1" dirty="0">
                <a:solidFill>
                  <a:srgbClr val="00B0F0"/>
                </a:solidFill>
                <a:latin typeface="+mj-ea"/>
                <a:ea typeface="+mj-ea"/>
              </a:rPr>
              <a:t>Questions</a:t>
            </a:r>
            <a:r>
              <a:rPr lang="zh-CN" altLang="en-US" sz="4000" b="1" dirty="0">
                <a:solidFill>
                  <a:srgbClr val="00B0F0"/>
                </a:solidFill>
                <a:latin typeface="+mj-ea"/>
                <a:ea typeface="+mj-ea"/>
              </a:rPr>
              <a:t>：</a:t>
            </a:r>
            <a:endParaRPr lang="zh-CN" altLang="en-US" sz="4000" b="1" dirty="0">
              <a:solidFill>
                <a:srgbClr val="00B0F0"/>
              </a:solidFill>
              <a:latin typeface="+mj-ea"/>
              <a:ea typeface="+mj-ea"/>
            </a:endParaRPr>
          </a:p>
        </p:txBody>
      </p:sp>
      <p:sp>
        <p:nvSpPr>
          <p:cNvPr id="5" name="矩形 4"/>
          <p:cNvSpPr/>
          <p:nvPr/>
        </p:nvSpPr>
        <p:spPr>
          <a:xfrm>
            <a:off x="1183739" y="2308033"/>
            <a:ext cx="4423846" cy="4000692"/>
          </a:xfrm>
          <a:prstGeom prst="rect">
            <a:avLst/>
          </a:prstGeom>
          <a:solidFill>
            <a:srgbClr val="FCFCFD"/>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473524" y="2520066"/>
            <a:ext cx="4065294" cy="829945"/>
          </a:xfrm>
          <a:prstGeom prst="rect">
            <a:avLst/>
          </a:prstGeom>
          <a:noFill/>
        </p:spPr>
        <p:txBody>
          <a:bodyPr wrap="square" rtlCol="0">
            <a:spAutoFit/>
          </a:bodyPr>
          <a:lstStyle/>
          <a:p>
            <a:r>
              <a:rPr lang="en-US" altLang="zh-CN" sz="2400" b="1" dirty="0">
                <a:solidFill>
                  <a:srgbClr val="3F403E"/>
                </a:solidFill>
                <a:latin typeface="+mj-ea"/>
                <a:ea typeface="+mj-ea"/>
              </a:rPr>
              <a:t>1</a:t>
            </a:r>
            <a:r>
              <a:rPr lang="zh-CN" altLang="en-US" sz="2400" b="1" dirty="0">
                <a:solidFill>
                  <a:srgbClr val="3F403E"/>
                </a:solidFill>
                <a:latin typeface="+mj-ea"/>
                <a:ea typeface="+mj-ea"/>
              </a:rPr>
              <a:t>）以下哪一项</a:t>
            </a:r>
            <a:r>
              <a:rPr lang="zh-CN" altLang="en-US" sz="2400" b="1" dirty="0">
                <a:solidFill>
                  <a:srgbClr val="FF0000"/>
                </a:solidFill>
                <a:latin typeface="+mj-ea"/>
                <a:ea typeface="+mj-ea"/>
              </a:rPr>
              <a:t>不是</a:t>
            </a:r>
            <a:r>
              <a:rPr lang="zh-CN" altLang="en-US" sz="2400" b="1" dirty="0">
                <a:solidFill>
                  <a:srgbClr val="3F403E"/>
                </a:solidFill>
                <a:latin typeface="+mj-ea"/>
                <a:ea typeface="+mj-ea"/>
              </a:rPr>
              <a:t>精神分裂症的临床症状（</a:t>
            </a:r>
            <a:r>
              <a:rPr lang="en-US" altLang="zh-CN" sz="2400" b="1" dirty="0">
                <a:solidFill>
                  <a:srgbClr val="3F403E"/>
                </a:solidFill>
                <a:latin typeface="+mj-ea"/>
                <a:ea typeface="+mj-ea"/>
              </a:rPr>
              <a:t>   </a:t>
            </a:r>
            <a:r>
              <a:rPr lang="zh-CN" altLang="en-US" sz="2400" b="1" dirty="0">
                <a:solidFill>
                  <a:srgbClr val="3F403E"/>
                </a:solidFill>
                <a:latin typeface="+mj-ea"/>
                <a:ea typeface="+mj-ea"/>
              </a:rPr>
              <a:t>）</a:t>
            </a:r>
            <a:endParaRPr lang="zh-CN" altLang="en-US" sz="2400" b="1" dirty="0">
              <a:solidFill>
                <a:srgbClr val="3F403E"/>
              </a:solidFill>
              <a:latin typeface="+mj-ea"/>
              <a:ea typeface="+mj-ea"/>
            </a:endParaRPr>
          </a:p>
        </p:txBody>
      </p:sp>
      <p:sp>
        <p:nvSpPr>
          <p:cNvPr id="6" name="文本框 5"/>
          <p:cNvSpPr txBox="1"/>
          <p:nvPr/>
        </p:nvSpPr>
        <p:spPr>
          <a:xfrm>
            <a:off x="1437454" y="3490043"/>
            <a:ext cx="4170131" cy="2030095"/>
          </a:xfrm>
          <a:prstGeom prst="rect">
            <a:avLst/>
          </a:prstGeom>
          <a:noFill/>
        </p:spPr>
        <p:txBody>
          <a:bodyPr wrap="square" rtlCol="0">
            <a:spAutoFit/>
          </a:bodyPr>
          <a:lstStyle/>
          <a:p>
            <a:r>
              <a:rPr lang="zh-CN" dirty="0"/>
              <a:t>A：产生幻觉，始终在与”看不见的朋友”交流</a:t>
            </a:r>
            <a:endParaRPr lang="zh-CN" dirty="0"/>
          </a:p>
          <a:p>
            <a:r>
              <a:rPr lang="zh-CN" dirty="0"/>
              <a:t>B：认为有人在监视自己，或者认为自己遭受到迫害、骚扰、跟踪</a:t>
            </a:r>
            <a:endParaRPr lang="zh-CN" dirty="0"/>
          </a:p>
          <a:p>
            <a:r>
              <a:rPr lang="zh-CN" dirty="0"/>
              <a:t>C：产生严重的暴力倾向，对周围的人进行攻击</a:t>
            </a:r>
            <a:endParaRPr lang="zh-CN" dirty="0"/>
          </a:p>
          <a:p>
            <a:r>
              <a:rPr lang="zh-CN" dirty="0"/>
              <a:t>D：睡眠障碍，只出现嗜睡的情况</a:t>
            </a:r>
            <a:endParaRPr lang="zh-CN" dirty="0"/>
          </a:p>
        </p:txBody>
      </p:sp>
      <p:sp>
        <p:nvSpPr>
          <p:cNvPr id="8" name="文本框 7"/>
          <p:cNvSpPr txBox="1"/>
          <p:nvPr/>
        </p:nvSpPr>
        <p:spPr>
          <a:xfrm>
            <a:off x="3669030" y="2953385"/>
            <a:ext cx="411480" cy="396875"/>
          </a:xfrm>
          <a:prstGeom prst="rect">
            <a:avLst/>
          </a:prstGeom>
          <a:noFill/>
        </p:spPr>
        <p:txBody>
          <a:bodyPr wrap="square" rtlCol="0">
            <a:noAutofit/>
          </a:bodyPr>
          <a:p>
            <a:r>
              <a:rPr lang="en-US" altLang="zh-CN" b="1" dirty="0">
                <a:solidFill>
                  <a:srgbClr val="3F403E"/>
                </a:solidFill>
                <a:latin typeface="+mj-ea"/>
                <a:ea typeface="+mj-ea"/>
                <a:sym typeface="+mn-ea"/>
              </a:rPr>
              <a:t>D</a:t>
            </a:r>
            <a:endParaRPr lang="en-US" altLang="zh-CN"/>
          </a:p>
        </p:txBody>
      </p:sp>
      <p:sp>
        <p:nvSpPr>
          <p:cNvPr id="13" name="文本框 12"/>
          <p:cNvSpPr txBox="1"/>
          <p:nvPr/>
        </p:nvSpPr>
        <p:spPr>
          <a:xfrm>
            <a:off x="8631555" y="1971040"/>
            <a:ext cx="1234440" cy="368300"/>
          </a:xfrm>
          <a:prstGeom prst="rect">
            <a:avLst/>
          </a:prstGeom>
          <a:noFill/>
        </p:spPr>
        <p:txBody>
          <a:bodyPr wrap="square" rtlCol="0">
            <a:spAutoFit/>
          </a:bodyPr>
          <a:p>
            <a:r>
              <a:rPr b="1" dirty="0">
                <a:solidFill>
                  <a:srgbClr val="3F403E"/>
                </a:solidFill>
                <a:latin typeface="+mj-ea"/>
                <a:ea typeface="+mj-ea"/>
                <a:sym typeface="+mn-ea"/>
              </a:rPr>
              <a:t> B </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omb/>
      </p:transition>
    </mc:Choice>
    <mc:Fallback>
      <p:transition>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2"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500" fill="hold"/>
                                        <p:tgtEl>
                                          <p:spTgt spid="13"/>
                                        </p:tgtEl>
                                        <p:attrNameLst>
                                          <p:attrName>ppt_w</p:attrName>
                                        </p:attrNameLst>
                                      </p:cBhvr>
                                      <p:tavLst>
                                        <p:tav tm="0">
                                          <p:val>
                                            <p:fltVal val="0"/>
                                          </p:val>
                                        </p:tav>
                                        <p:tav tm="100000">
                                          <p:val>
                                            <p:strVal val="#ppt_w"/>
                                          </p:val>
                                        </p:tav>
                                      </p:tavLst>
                                    </p:anim>
                                    <p:anim calcmode="lin" valueType="num">
                                      <p:cBhvr>
                                        <p:cTn id="15" dur="500" fill="hold"/>
                                        <p:tgtEl>
                                          <p:spTgt spid="13"/>
                                        </p:tgtEl>
                                        <p:attrNameLst>
                                          <p:attrName>ppt_h</p:attrName>
                                        </p:attrNameLst>
                                      </p:cBhvr>
                                      <p:tavLst>
                                        <p:tav tm="0">
                                          <p:val>
                                            <p:fltVal val="0"/>
                                          </p:val>
                                        </p:tav>
                                        <p:tav tm="100000">
                                          <p:val>
                                            <p:strVal val="#ppt_h"/>
                                          </p:val>
                                        </p:tav>
                                      </p:tavLst>
                                    </p:anim>
                                    <p:animEffect transition="in" filter="fade">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P spid="8" grpId="1"/>
      <p:bldP spid="8" grpId="2"/>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525" y="0"/>
            <a:ext cx="12201525" cy="1121410"/>
          </a:xfrm>
          <a:prstGeom prst="rect">
            <a:avLst/>
          </a:prstGeom>
          <a:solidFill>
            <a:srgbClr val="00B0F0"/>
          </a:solidFill>
          <a:ln>
            <a:noFill/>
          </a:ln>
          <a:effectLst>
            <a:outerShdw blurRad="127000" sx="101000" sy="101000" algn="ctr" rotWithShape="0">
              <a:srgbClr val="D5D7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outerShdw blurRad="50800" dist="38100" dir="2700000" algn="tl" rotWithShape="0">
                  <a:prstClr val="black">
                    <a:alpha val="40000"/>
                  </a:prstClr>
                </a:outerShdw>
              </a:effectLst>
            </a:endParaRPr>
          </a:p>
        </p:txBody>
      </p:sp>
      <p:sp>
        <p:nvSpPr>
          <p:cNvPr id="3" name="矩形 2"/>
          <p:cNvSpPr/>
          <p:nvPr/>
        </p:nvSpPr>
        <p:spPr>
          <a:xfrm>
            <a:off x="887095" y="1343025"/>
            <a:ext cx="10119360" cy="5220335"/>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effectLst>
                <a:outerShdw blurRad="50800" dist="38100" algn="l" rotWithShape="0">
                  <a:prstClr val="black">
                    <a:alpha val="40000"/>
                  </a:prstClr>
                </a:outerShdw>
              </a:effectLst>
            </a:endParaRPr>
          </a:p>
        </p:txBody>
      </p:sp>
      <p:sp>
        <p:nvSpPr>
          <p:cNvPr id="14" name="文本框 13"/>
          <p:cNvSpPr txBox="1"/>
          <p:nvPr/>
        </p:nvSpPr>
        <p:spPr>
          <a:xfrm>
            <a:off x="1707515" y="1721485"/>
            <a:ext cx="8478520" cy="4281170"/>
          </a:xfrm>
          <a:prstGeom prst="rect">
            <a:avLst/>
          </a:prstGeom>
          <a:noFill/>
        </p:spPr>
        <p:txBody>
          <a:bodyPr wrap="square" rtlCol="0">
            <a:noAutofit/>
          </a:bodyPr>
          <a:lstStyle/>
          <a:p>
            <a:pPr>
              <a:lnSpc>
                <a:spcPct val="120000"/>
              </a:lnSpc>
            </a:pPr>
            <a:r>
              <a:rPr dirty="0">
                <a:latin typeface="+mn-ea"/>
              </a:rPr>
              <a:t>[1]胡一惠，吴非非，陈花，等.基于正念疗法的心理干预在乳腺癌患者中的护理研究进展[J].护士进修杂志，2020，35（8）：720-723.</a:t>
            </a:r>
            <a:endParaRPr dirty="0">
              <a:latin typeface="+mn-ea"/>
            </a:endParaRPr>
          </a:p>
          <a:p>
            <a:pPr>
              <a:lnSpc>
                <a:spcPct val="120000"/>
              </a:lnSpc>
            </a:pPr>
            <a:r>
              <a:rPr dirty="0">
                <a:latin typeface="+mn-ea"/>
              </a:rPr>
              <a:t>[2]赵亚楠，王燕，常琼娟.正念认知在乳腺癌化疗患者中的作用效果分析[J].癌症进展，2020，18（6）：635-638.</a:t>
            </a:r>
            <a:endParaRPr dirty="0">
              <a:latin typeface="+mn-ea"/>
            </a:endParaRPr>
          </a:p>
          <a:p>
            <a:pPr>
              <a:lnSpc>
                <a:spcPct val="120000"/>
              </a:lnSpc>
            </a:pPr>
            <a:r>
              <a:rPr dirty="0">
                <a:latin typeface="+mn-ea"/>
              </a:rPr>
              <a:t>[</a:t>
            </a:r>
            <a:r>
              <a:rPr lang="en-US" dirty="0">
                <a:latin typeface="+mn-ea"/>
              </a:rPr>
              <a:t>3</a:t>
            </a:r>
            <a:r>
              <a:rPr dirty="0">
                <a:latin typeface="+mn-ea"/>
              </a:rPr>
              <a:t>]钟小兰.元情绪疗法配合脑生物反馈仪对首发精神分裂症患者精神症状及情绪的影响[J].基层医学论坛,2024,28(08):126-128+133.DOI:10.19435/j.1672-1721.2024.08.040.</a:t>
            </a:r>
            <a:endParaRPr dirty="0">
              <a:latin typeface="+mn-ea"/>
            </a:endParaRPr>
          </a:p>
          <a:p>
            <a:pPr>
              <a:lnSpc>
                <a:spcPct val="120000"/>
              </a:lnSpc>
            </a:pPr>
            <a:r>
              <a:rPr lang="zh-CN" dirty="0">
                <a:latin typeface="+mn-ea"/>
              </a:rPr>
              <a:t>[</a:t>
            </a:r>
            <a:r>
              <a:rPr lang="en-US" altLang="zh-CN" dirty="0">
                <a:latin typeface="+mn-ea"/>
              </a:rPr>
              <a:t>4</a:t>
            </a:r>
            <a:r>
              <a:rPr lang="zh-CN" dirty="0">
                <a:latin typeface="+mn-ea"/>
              </a:rPr>
              <a:t>]吴光怀,薛珮怡,陈志远,等.个案管理对社区精神分裂症、双相情感障碍患者病耻感及社会功能的影响[J].广东医科大学学报,2023,41(06):659-662.</a:t>
            </a:r>
            <a:endParaRPr lang="zh-CN" dirty="0">
              <a:latin typeface="+mn-ea"/>
            </a:endParaRPr>
          </a:p>
          <a:p>
            <a:pPr>
              <a:lnSpc>
                <a:spcPct val="120000"/>
              </a:lnSpc>
            </a:pPr>
            <a:r>
              <a:rPr lang="zh-CN" dirty="0">
                <a:latin typeface="+mn-ea"/>
              </a:rPr>
              <a:t>[</a:t>
            </a:r>
            <a:r>
              <a:rPr lang="en-US" altLang="zh-CN" dirty="0">
                <a:latin typeface="+mn-ea"/>
              </a:rPr>
              <a:t>5</a:t>
            </a:r>
            <a:r>
              <a:rPr lang="zh-CN" dirty="0">
                <a:latin typeface="+mn-ea"/>
              </a:rPr>
              <a:t>]王莹莹,张玉青,王春霞.精神分裂症患者接受全病程管理模式联合人文关怀心理护理的临床价值[J].心理月刊,2023,18(24):100-102.DOI:10.19738/j.cnki.psy.2023.24.029.</a:t>
            </a:r>
            <a:endParaRPr lang="zh-CN" dirty="0">
              <a:latin typeface="+mn-ea"/>
            </a:endParaRPr>
          </a:p>
        </p:txBody>
      </p:sp>
      <p:sp>
        <p:nvSpPr>
          <p:cNvPr id="18" name="文本框 17"/>
          <p:cNvSpPr txBox="1"/>
          <p:nvPr/>
        </p:nvSpPr>
        <p:spPr>
          <a:xfrm>
            <a:off x="686000" y="182947"/>
            <a:ext cx="2214880" cy="706755"/>
          </a:xfrm>
          <a:prstGeom prst="rect">
            <a:avLst/>
          </a:prstGeom>
          <a:noFill/>
        </p:spPr>
        <p:txBody>
          <a:bodyPr wrap="none" rtlCol="0">
            <a:spAutoFit/>
          </a:bodyPr>
          <a:lstStyle/>
          <a:p>
            <a:pPr algn="ctr"/>
            <a:r>
              <a:rPr lang="zh-CN" altLang="en-US" sz="4000" b="1" dirty="0">
                <a:solidFill>
                  <a:srgbClr val="FCFCFD"/>
                </a:solidFill>
                <a:latin typeface="+mj-ea"/>
                <a:ea typeface="+mj-ea"/>
              </a:rPr>
              <a:t>参考文献</a:t>
            </a:r>
            <a:endParaRPr lang="zh-CN" altLang="en-US" sz="4000" b="1" dirty="0">
              <a:solidFill>
                <a:srgbClr val="FCFCFD"/>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PA_矩形 28"/>
          <p:cNvSpPr/>
          <p:nvPr>
            <p:custDataLst>
              <p:tags r:id="rId1"/>
            </p:custDataLst>
          </p:nvPr>
        </p:nvSpPr>
        <p:spPr>
          <a:xfrm>
            <a:off x="0" y="3438045"/>
            <a:ext cx="12192000" cy="342899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PA_文本框 34"/>
          <p:cNvSpPr txBox="1"/>
          <p:nvPr>
            <p:custDataLst>
              <p:tags r:id="rId2"/>
            </p:custDataLst>
          </p:nvPr>
        </p:nvSpPr>
        <p:spPr>
          <a:xfrm>
            <a:off x="-241632" y="-51764"/>
            <a:ext cx="12675266" cy="3770263"/>
          </a:xfrm>
          <a:prstGeom prst="rect">
            <a:avLst/>
          </a:prstGeom>
          <a:noFill/>
        </p:spPr>
        <p:txBody>
          <a:bodyPr wrap="none" rtlCol="0">
            <a:spAutoFit/>
          </a:bodyPr>
          <a:lstStyle/>
          <a:p>
            <a:pPr algn="ctr"/>
            <a:r>
              <a:rPr lang="en-US" altLang="zh-CN" sz="23900" dirty="0">
                <a:solidFill>
                  <a:srgbClr val="00B0F0">
                    <a:alpha val="30000"/>
                  </a:srgbClr>
                </a:solidFill>
                <a:latin typeface="+mj-ea"/>
                <a:ea typeface="+mj-ea"/>
              </a:rPr>
              <a:t>THANKS</a:t>
            </a:r>
            <a:endParaRPr lang="en-US" altLang="zh-CN" sz="23900" dirty="0">
              <a:solidFill>
                <a:srgbClr val="00B0F0">
                  <a:alpha val="30000"/>
                </a:srgbClr>
              </a:solidFill>
              <a:latin typeface="+mj-ea"/>
              <a:ea typeface="+mj-ea"/>
            </a:endParaRPr>
          </a:p>
        </p:txBody>
      </p:sp>
      <p:sp>
        <p:nvSpPr>
          <p:cNvPr id="33" name="PA_矩形 32"/>
          <p:cNvSpPr/>
          <p:nvPr>
            <p:custDataLst>
              <p:tags r:id="rId3"/>
            </p:custDataLst>
          </p:nvPr>
        </p:nvSpPr>
        <p:spPr>
          <a:xfrm>
            <a:off x="1329368" y="1354007"/>
            <a:ext cx="9533262" cy="4149985"/>
          </a:xfrm>
          <a:prstGeom prst="rect">
            <a:avLst/>
          </a:prstGeom>
          <a:solidFill>
            <a:srgbClr val="FCFCFD"/>
          </a:solidFill>
          <a:ln>
            <a:noFill/>
          </a:ln>
          <a:effectLst>
            <a:outerShdw blurRad="254000" dist="38100" dir="5400000" algn="t" rotWithShape="0">
              <a:srgbClr val="969F9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8" name="PA_矩形 27"/>
          <p:cNvSpPr/>
          <p:nvPr>
            <p:custDataLst>
              <p:tags r:id="rId4"/>
            </p:custDataLst>
          </p:nvPr>
        </p:nvSpPr>
        <p:spPr>
          <a:xfrm>
            <a:off x="2351313" y="2153796"/>
            <a:ext cx="7489374" cy="2280495"/>
          </a:xfrm>
          <a:prstGeom prst="rect">
            <a:avLst/>
          </a:prstGeom>
          <a:noFill/>
          <a:ln w="25400">
            <a:solidFill>
              <a:srgbClr val="3F40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PA_矩形 33"/>
          <p:cNvSpPr/>
          <p:nvPr>
            <p:custDataLst>
              <p:tags r:id="rId5"/>
            </p:custDataLst>
          </p:nvPr>
        </p:nvSpPr>
        <p:spPr>
          <a:xfrm flipV="1">
            <a:off x="5034568" y="4973403"/>
            <a:ext cx="2067271" cy="1895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PA_文本框 20"/>
          <p:cNvSpPr txBox="1"/>
          <p:nvPr>
            <p:custDataLst>
              <p:tags r:id="rId6"/>
            </p:custDataLst>
          </p:nvPr>
        </p:nvSpPr>
        <p:spPr>
          <a:xfrm>
            <a:off x="3495768" y="2509213"/>
            <a:ext cx="5200463" cy="1569660"/>
          </a:xfrm>
          <a:prstGeom prst="rect">
            <a:avLst/>
          </a:prstGeom>
          <a:solidFill>
            <a:srgbClr val="FCFCFD"/>
          </a:solidFill>
        </p:spPr>
        <p:txBody>
          <a:bodyPr wrap="none" rtlCol="0">
            <a:spAutoFit/>
          </a:bodyPr>
          <a:lstStyle/>
          <a:p>
            <a:pPr algn="ctr"/>
            <a:r>
              <a:rPr lang="en-US" altLang="zh-CN" sz="9600" dirty="0">
                <a:solidFill>
                  <a:srgbClr val="00B0F0"/>
                </a:solidFill>
                <a:latin typeface="+mj-ea"/>
                <a:ea typeface="+mj-ea"/>
              </a:rPr>
              <a:t>THANKS</a:t>
            </a:r>
            <a:endParaRPr lang="en-US" altLang="zh-CN" sz="9600" dirty="0">
              <a:solidFill>
                <a:srgbClr val="00B0F0"/>
              </a:solidFill>
              <a:latin typeface="+mj-ea"/>
              <a:ea typeface="+mj-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500">
        <p15:prstTrans prst="drap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500"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2" presetClass="entr" presetSubtype="4" decel="50000" fill="hold" grpId="0" nodeType="withEffect">
                                  <p:stCondLst>
                                    <p:cond delay="0"/>
                                  </p:stCondLst>
                                  <p:childTnLst>
                                    <p:set>
                                      <p:cBhvr>
                                        <p:cTn id="9" dur="500"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ppt_x"/>
                                          </p:val>
                                        </p:tav>
                                        <p:tav tm="100000">
                                          <p:val>
                                            <p:strVal val="#ppt_x"/>
                                          </p:val>
                                        </p:tav>
                                      </p:tavLst>
                                    </p:anim>
                                    <p:anim calcmode="lin" valueType="num">
                                      <p:cBhvr additive="base">
                                        <p:cTn id="11" dur="500" fill="hold"/>
                                        <p:tgtEl>
                                          <p:spTgt spid="29"/>
                                        </p:tgtEl>
                                        <p:attrNameLst>
                                          <p:attrName>ppt_y</p:attrName>
                                        </p:attrNameLst>
                                      </p:cBhvr>
                                      <p:tavLst>
                                        <p:tav tm="0">
                                          <p:val>
                                            <p:strVal val="1+#ppt_h/2"/>
                                          </p:val>
                                        </p:tav>
                                        <p:tav tm="100000">
                                          <p:val>
                                            <p:strVal val="#ppt_y"/>
                                          </p:val>
                                        </p:tav>
                                      </p:tavLst>
                                    </p:anim>
                                  </p:childTnLst>
                                </p:cTn>
                              </p:par>
                            </p:childTnLst>
                          </p:cTn>
                        </p:par>
                        <p:par>
                          <p:cTn id="12" fill="hold">
                            <p:stCondLst>
                              <p:cond delay="500"/>
                            </p:stCondLst>
                            <p:childTnLst>
                              <p:par>
                                <p:cTn id="13" presetID="42" presetClass="entr" presetSubtype="0" fill="hold" grpId="0" nodeType="afterEffect">
                                  <p:stCondLst>
                                    <p:cond delay="0"/>
                                  </p:stCondLst>
                                  <p:childTnLst>
                                    <p:set>
                                      <p:cBhvr>
                                        <p:cTn id="14" dur="500"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anim calcmode="lin" valueType="num">
                                      <p:cBhvr>
                                        <p:cTn id="16" dur="500" fill="hold"/>
                                        <p:tgtEl>
                                          <p:spTgt spid="33"/>
                                        </p:tgtEl>
                                        <p:attrNameLst>
                                          <p:attrName>ppt_x</p:attrName>
                                        </p:attrNameLst>
                                      </p:cBhvr>
                                      <p:tavLst>
                                        <p:tav tm="0">
                                          <p:val>
                                            <p:strVal val="#ppt_x"/>
                                          </p:val>
                                        </p:tav>
                                        <p:tav tm="100000">
                                          <p:val>
                                            <p:strVal val="#ppt_x"/>
                                          </p:val>
                                        </p:tav>
                                      </p:tavLst>
                                    </p:anim>
                                    <p:anim calcmode="lin" valueType="num">
                                      <p:cBhvr>
                                        <p:cTn id="17" dur="500" fill="hold"/>
                                        <p:tgtEl>
                                          <p:spTgt spid="33"/>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500"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anim calcmode="lin" valueType="num">
                                      <p:cBhvr>
                                        <p:cTn id="21" dur="500" fill="hold"/>
                                        <p:tgtEl>
                                          <p:spTgt spid="28"/>
                                        </p:tgtEl>
                                        <p:attrNameLst>
                                          <p:attrName>ppt_x</p:attrName>
                                        </p:attrNameLst>
                                      </p:cBhvr>
                                      <p:tavLst>
                                        <p:tav tm="0">
                                          <p:val>
                                            <p:strVal val="#ppt_x"/>
                                          </p:val>
                                        </p:tav>
                                        <p:tav tm="100000">
                                          <p:val>
                                            <p:strVal val="#ppt_x"/>
                                          </p:val>
                                        </p:tav>
                                      </p:tavLst>
                                    </p:anim>
                                    <p:anim calcmode="lin" valueType="num">
                                      <p:cBhvr>
                                        <p:cTn id="22" dur="500" fill="hold"/>
                                        <p:tgtEl>
                                          <p:spTgt spid="2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500"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p:cTn id="26" dur="500" fill="hold"/>
                                        <p:tgtEl>
                                          <p:spTgt spid="34"/>
                                        </p:tgtEl>
                                        <p:attrNameLst>
                                          <p:attrName>ppt_x</p:attrName>
                                        </p:attrNameLst>
                                      </p:cBhvr>
                                      <p:tavLst>
                                        <p:tav tm="0">
                                          <p:val>
                                            <p:strVal val="#ppt_x"/>
                                          </p:val>
                                        </p:tav>
                                        <p:tav tm="100000">
                                          <p:val>
                                            <p:strVal val="#ppt_x"/>
                                          </p:val>
                                        </p:tav>
                                      </p:tavLst>
                                    </p:anim>
                                    <p:anim calcmode="lin" valueType="num">
                                      <p:cBhvr>
                                        <p:cTn id="27" dur="500" fill="hold"/>
                                        <p:tgtEl>
                                          <p:spTgt spid="34"/>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500"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anim calcmode="lin" valueType="num">
                                      <p:cBhvr>
                                        <p:cTn id="31" dur="500" fill="hold"/>
                                        <p:tgtEl>
                                          <p:spTgt spid="21"/>
                                        </p:tgtEl>
                                        <p:attrNameLst>
                                          <p:attrName>ppt_x</p:attrName>
                                        </p:attrNameLst>
                                      </p:cBhvr>
                                      <p:tavLst>
                                        <p:tav tm="0">
                                          <p:val>
                                            <p:strVal val="#ppt_x"/>
                                          </p:val>
                                        </p:tav>
                                        <p:tav tm="100000">
                                          <p:val>
                                            <p:strVal val="#ppt_x"/>
                                          </p:val>
                                        </p:tav>
                                      </p:tavLst>
                                    </p:anim>
                                    <p:anim calcmode="lin" valueType="num">
                                      <p:cBhvr>
                                        <p:cTn id="32"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5" grpId="0"/>
      <p:bldP spid="33" grpId="0" animBg="1"/>
      <p:bldP spid="28" grpId="0" animBg="1"/>
      <p:bldP spid="34" grpId="0" bldLvl="0" animBg="1"/>
      <p:bldP spid="21" grpId="0" bldLvl="0" animBg="1"/>
    </p:bldLst>
  </p:timing>
</p:sld>
</file>

<file path=ppt/tags/tag1.xml><?xml version="1.0" encoding="utf-8"?>
<p:tagLst xmlns:p="http://schemas.openxmlformats.org/presentationml/2006/main">
  <p:tag name="PA" val="v4.0.0"/>
</p:tagLst>
</file>

<file path=ppt/tags/tag2.xml><?xml version="1.0" encoding="utf-8"?>
<p:tagLst xmlns:p="http://schemas.openxmlformats.org/presentationml/2006/main">
  <p:tag name="PA" val="v4.0.0"/>
</p:tagLst>
</file>

<file path=ppt/tags/tag3.xml><?xml version="1.0" encoding="utf-8"?>
<p:tagLst xmlns:p="http://schemas.openxmlformats.org/presentationml/2006/main">
  <p:tag name="PA" val="v4.0.0"/>
</p:tagLst>
</file>

<file path=ppt/tags/tag4.xml><?xml version="1.0" encoding="utf-8"?>
<p:tagLst xmlns:p="http://schemas.openxmlformats.org/presentationml/2006/main">
  <p:tag name="PA" val="v4.0.0"/>
</p:tagLst>
</file>

<file path=ppt/tags/tag5.xml><?xml version="1.0" encoding="utf-8"?>
<p:tagLst xmlns:p="http://schemas.openxmlformats.org/presentationml/2006/main">
  <p:tag name="PA" val="v4.0.0"/>
</p:tagLst>
</file>

<file path=ppt/tags/tag6.xml><?xml version="1.0" encoding="utf-8"?>
<p:tagLst xmlns:p="http://schemas.openxmlformats.org/presentationml/2006/main">
  <p:tag name="PA" val="v4.0.0"/>
</p:tagLst>
</file>

<file path=ppt/tags/tag7.xml><?xml version="1.0" encoding="utf-8"?>
<p:tagLst xmlns:p="http://schemas.openxmlformats.org/presentationml/2006/main">
  <p:tag name="PA" val="v4.0.0"/>
</p:tagLst>
</file>

<file path=ppt/tags/tag8.xml><?xml version="1.0" encoding="utf-8"?>
<p:tagLst xmlns:p="http://schemas.openxmlformats.org/presentationml/2006/main">
  <p:tag name="PA" val="v4.0.0"/>
</p:tagLst>
</file>

<file path=ppt/tags/tag9.xml><?xml version="1.0" encoding="utf-8"?>
<p:tagLst xmlns:p="http://schemas.openxmlformats.org/presentationml/2006/main">
  <p:tag name="PA" val="v4.0.0"/>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i*1_15"/>
  <p:tag name="KSO_WM_TEMPLATE_CATEGORY" val="diagram"/>
  <p:tag name="KSO_WM_TEMPLATE_INDEX" val="20231731"/>
  <p:tag name="KSO_WM_UNIT_LAYERLEVEL" val="1_1"/>
  <p:tag name="KSO_WM_TAG_VERSION" val="3.0"/>
  <p:tag name="KSO_WM_BEAUTIFY_FLAG" val="#wm#"/>
  <p:tag name="KSO_WM_UNIT_TYPE" val="l_i"/>
  <p:tag name="KSO_WM_UNIT_INDEX" val="1_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gradient&quot;:[{&quot;brightness&quot;:0.6000000238418579,&quot;colorType&quot;:1,&quot;foreColorIndex&quot;:5,&quot;pos&quot;:0,&quot;transparency&quot;:0},{&quot;brightness&quot;:0,&quot;colorType&quot;:1,&quot;foreColorIndex&quot;:5,&quot;pos&quot;:0.9200000166893005,&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i*1_1"/>
  <p:tag name="KSO_WM_TEMPLATE_CATEGORY" val="diagram"/>
  <p:tag name="KSO_WM_TEMPLATE_INDEX" val="20231731"/>
  <p:tag name="KSO_WM_UNIT_LAYERLEVEL" val="1_1"/>
  <p:tag name="KSO_WM_TAG_VERSION" val="3.0"/>
  <p:tag name="KSO_WM_BEAUTIFY_FLAG" val="#wm#"/>
  <p:tag name="KSO_WM_UNIT_TYPE" val="l_i"/>
  <p:tag name="KSO_WM_UNIT_INDEX" val="1_1"/>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439.0763853627981,&quot;left&quot;:34.3,&quot;top&quot;:89.25,&quot;width&quot;:901.85}"/>
  <p:tag name="KSO_WM_DIAGRAM_COLOR_MATCH_VALUE" val="{&quot;shape&quot;:{&quot;fill&quot;:{&quot;gradient&quot;:[{&quot;brightness&quot;:0,&quot;colorType&quot;:1,&quot;foreColorIndex&quot;:5,&quot;pos&quot;:0,&quot;transparency&quot;:0.8500000238418579},{&quot;brightness&quot;:0,&quot;colorType&quot;:1,&quot;foreColorIndex&quot;:5,&quot;pos&quot;:1,&quot;transparency&quot;:1}],&quot;type&quot;:3},&quot;glow&quot;:{&quot;colorType&quot;:0},&quot;line&quot;:{&quot;gradient&quot;:[{&quot;brightness&quot;:0,&quot;colorType&quot;:1,&quot;foreColorIndex&quot;:5,&quot;pos&quot;:0,&quot;transparency&quot;:0},{&quot;brightness&quot;:0,&quot;colorType&quot;:1,&quot;foreColorIndex&quot;:5,&quot;pos&quot;:0.8700000047683716,&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1_1"/>
  <p:tag name="KSO_WM_TEMPLATE_CATEGORY" val="diagram"/>
  <p:tag name="KSO_WM_TEMPLATE_INDEX" val="20231731"/>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1_2"/>
  <p:tag name="KSO_WM_TEMPLATE_CATEGORY" val="diagram"/>
  <p:tag name="KSO_WM_TEMPLATE_INDEX" val="20231731"/>
  <p:tag name="KSO_WM_UNIT_LAYERLEVEL" val="1_1_1"/>
  <p:tag name="KSO_WM_TAG_VERSION" val="3.0"/>
  <p:tag name="KSO_WM_BEAUTIFY_FLAG" val="#wm#"/>
  <p:tag name="KSO_WM_UNIT_TYPE" val="l_h_i"/>
  <p:tag name="KSO_WM_UNIT_INDEX" val="1_1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31_3*l_h_f*1_1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
  <p:tag name="KSO_WM_UNIT_TEXT_FILL_FORE_SCHEMECOLOR_INDEX" val="1"/>
  <p:tag name="KSO_WM_UNIT_TEXT_FILL_TYPE" val="1"/>
</p:tagLst>
</file>

<file path=ppt/tags/tag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31_3*l_h_a*1_1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项标题"/>
  <p:tag name="KSO_WM_UNIT_TEXT_FILL_FORE_SCHEMECOLOR_INDEX" val="1"/>
  <p:tag name="KSO_WM_UNIT_TEXT_FILL_TYP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1_3"/>
  <p:tag name="KSO_WM_TEMPLATE_CATEGORY" val="diagram"/>
  <p:tag name="KSO_WM_TEMPLATE_INDEX" val="20231731"/>
  <p:tag name="KSO_WM_UNIT_LAYERLEVEL" val="1_1_1"/>
  <p:tag name="KSO_WM_TAG_VERSION" val="3.0"/>
  <p:tag name="KSO_WM_BEAUTIFY_FLAG" val="#wm#"/>
  <p:tag name="KSO_WM_UNIT_TYPE" val="l_h_i"/>
  <p:tag name="KSO_WM_UNIT_INDEX" val="1_1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4_1"/>
  <p:tag name="KSO_WM_TEMPLATE_CATEGORY" val="diagram"/>
  <p:tag name="KSO_WM_TEMPLATE_INDEX" val="20231731"/>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4_2"/>
  <p:tag name="KSO_WM_TEMPLATE_CATEGORY" val="diagram"/>
  <p:tag name="KSO_WM_TEMPLATE_INDEX" val="20231731"/>
  <p:tag name="KSO_WM_UNIT_LAYERLEVEL" val="1_1_1"/>
  <p:tag name="KSO_WM_TAG_VERSION" val="3.0"/>
  <p:tag name="KSO_WM_BEAUTIFY_FLAG" val="#wm#"/>
  <p:tag name="KSO_WM_UNIT_TYPE" val="l_h_i"/>
  <p:tag name="KSO_WM_UNIT_INDEX" val="1_4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731_3*l_h_f*1_4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
  <p:tag name="KSO_WM_UNIT_TEXT_FILL_FORE_SCHEMECOLOR_INDEX" val="1"/>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a*1"/>
  <p:tag name="KSO_WM_TEMPLATE_CATEGORY" val="diagram"/>
  <p:tag name="KSO_WM_TEMPLATE_INDEX" val="20231731"/>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30"/>
  <p:tag name="KSO_WM_DIAGRAM_GROUP_CODE" val="l1-1"/>
  <p:tag name="KSO_WM_UNIT_PRESET_TEXT" val="单击此处添加标题"/>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31_3*l_h_a*1_4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项标题"/>
  <p:tag name="KSO_WM_UNIT_TEXT_FILL_FORE_SCHEMECOLOR_INDEX" val="1"/>
  <p:tag name="KSO_WM_UNIT_TEXT_FILL_TYP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4_3"/>
  <p:tag name="KSO_WM_TEMPLATE_CATEGORY" val="diagram"/>
  <p:tag name="KSO_WM_TEMPLATE_INDEX" val="20231731"/>
  <p:tag name="KSO_WM_UNIT_LAYERLEVEL" val="1_1_1"/>
  <p:tag name="KSO_WM_TAG_VERSION" val="3.0"/>
  <p:tag name="KSO_WM_BEAUTIFY_FLAG" val="#wm#"/>
  <p:tag name="KSO_WM_UNIT_TYPE" val="l_h_i"/>
  <p:tag name="KSO_WM_UNIT_INDEX" val="1_4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2_1"/>
  <p:tag name="KSO_WM_TEMPLATE_CATEGORY" val="diagram"/>
  <p:tag name="KSO_WM_TEMPLATE_INDEX" val="20231731"/>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2_2"/>
  <p:tag name="KSO_WM_TEMPLATE_CATEGORY" val="diagram"/>
  <p:tag name="KSO_WM_TEMPLATE_INDEX" val="20231731"/>
  <p:tag name="KSO_WM_UNIT_LAYERLEVEL" val="1_1_1"/>
  <p:tag name="KSO_WM_TAG_VERSION" val="3.0"/>
  <p:tag name="KSO_WM_BEAUTIFY_FLAG" val="#wm#"/>
  <p:tag name="KSO_WM_UNIT_TYPE" val="l_h_i"/>
  <p:tag name="KSO_WM_UNIT_INDEX" val="1_2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31_3*l_h_f*1_2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
  <p:tag name="KSO_WM_UNIT_TEXT_FILL_FORE_SCHEMECOLOR_INDEX" val="1"/>
  <p:tag name="KSO_WM_UNIT_TEXT_FILL_TYPE" val="1"/>
</p:tagLst>
</file>

<file path=ppt/tags/tag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31_3*l_h_a*1_2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项标题"/>
  <p:tag name="KSO_WM_UNIT_TEXT_FILL_FORE_SCHEMECOLOR_INDEX" val="1"/>
  <p:tag name="KSO_WM_UNIT_TEXT_FILL_TYPE"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2_3"/>
  <p:tag name="KSO_WM_TEMPLATE_CATEGORY" val="diagram"/>
  <p:tag name="KSO_WM_TEMPLATE_INDEX" val="20231731"/>
  <p:tag name="KSO_WM_UNIT_LAYERLEVEL" val="1_1_1"/>
  <p:tag name="KSO_WM_TAG_VERSION" val="3.0"/>
  <p:tag name="KSO_WM_BEAUTIFY_FLAG" val="#wm#"/>
  <p:tag name="KSO_WM_UNIT_TYPE" val="l_h_i"/>
  <p:tag name="KSO_WM_UNIT_INDEX" val="1_2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3_1"/>
  <p:tag name="KSO_WM_TEMPLATE_CATEGORY" val="diagram"/>
  <p:tag name="KSO_WM_TEMPLATE_INDEX" val="20231731"/>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3_2"/>
  <p:tag name="KSO_WM_TEMPLATE_CATEGORY" val="diagram"/>
  <p:tag name="KSO_WM_TEMPLATE_INDEX" val="20231731"/>
  <p:tag name="KSO_WM_UNIT_LAYERLEVEL" val="1_1_1"/>
  <p:tag name="KSO_WM_TAG_VERSION" val="3.0"/>
  <p:tag name="KSO_WM_BEAUTIFY_FLAG" val="#wm#"/>
  <p:tag name="KSO_WM_UNIT_TYPE" val="l_h_i"/>
  <p:tag name="KSO_WM_UNIT_INDEX" val="1_3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731_3*l_h_f*1_3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
  <p:tag name="KSO_WM_UNIT_TEXT_FILL_FORE_SCHEMECOLOR_INDEX" val="1"/>
  <p:tag name="KSO_WM_UNIT_TEXT_FILL_TYPE" val="1"/>
</p:tagLst>
</file>

<file path=ppt/tags/tag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31_3*l_h_a*1_3_1"/>
  <p:tag name="KSO_WM_TEMPLATE_CATEGORY" val="diagram"/>
  <p:tag name="KSO_WM_TEMPLATE_INDEX" val="2023173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项标题"/>
  <p:tag name="KSO_WM_UNIT_TEXT_FILL_FORE_SCHEMECOLOR_INDEX" val="1"/>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3*l_h_i*1_3_3"/>
  <p:tag name="KSO_WM_TEMPLATE_CATEGORY" val="diagram"/>
  <p:tag name="KSO_WM_TEMPLATE_INDEX" val="20231731"/>
  <p:tag name="KSO_WM_UNIT_LAYERLEVEL" val="1_1_1"/>
  <p:tag name="KSO_WM_TAG_VERSION" val="3.0"/>
  <p:tag name="KSO_WM_BEAUTIFY_FLAG" val="#wm#"/>
  <p:tag name="KSO_WM_UNIT_TYPE" val="l_h_i"/>
  <p:tag name="KSO_WM_UNIT_INDEX" val="1_3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39.0763853627981,&quot;left&quot;:34.3,&quot;top&quot;:89.25,&quot;width&quot;:901.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33.xml><?xml version="1.0" encoding="utf-8"?>
<p:tagLst xmlns:p="http://schemas.openxmlformats.org/presentationml/2006/main">
  <p:tag name="KSO_WM_SLIDE_ID" val="diagram2023173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731"/>
  <p:tag name="KSO_WM_SLIDE_TYPE" val="text"/>
  <p:tag name="KSO_WM_SLIDE_SUBTYPE" val="diag"/>
  <p:tag name="KSO_WM_SLIDE_SIZE" val="797.069*277.603"/>
  <p:tag name="KSO_WM_SLIDE_POSITION" val="81.4655*198.516"/>
  <p:tag name="KSO_WM_SLIDE_LAYOUT" val="a_l"/>
  <p:tag name="KSO_WM_SLIDE_LAYOUT_CNT" val="1_1"/>
  <p:tag name="KSO_WM_SPECIAL_SOURCE" val="bdnull"/>
  <p:tag name="KSO_WM_DIAGRAM_GROUP_CODE" val="l1-1"/>
  <p:tag name="KSO_WM_SLIDE_DIAGTYPE" val="l"/>
</p:tagLst>
</file>

<file path=ppt/tags/tag34.xml><?xml version="1.0" encoding="utf-8"?>
<p:tagLst xmlns:p="http://schemas.openxmlformats.org/presentationml/2006/main">
  <p:tag name="KSO_WM_DIAGRAM_VIRTUALLY_FRAME" val="{&quot;height&quot;:591.6908661417323,&quot;left&quot;:469.20771653543306,&quot;top&quot;:2.7496062992125987,&quot;width&quot;:469.01385826771656}"/>
</p:tagLst>
</file>

<file path=ppt/tags/tag35.xml><?xml version="1.0" encoding="utf-8"?>
<p:tagLst xmlns:p="http://schemas.openxmlformats.org/presentationml/2006/main">
  <p:tag name="KSO_WM_DIAGRAM_VIRTUALLY_FRAME" val="{&quot;height&quot;:591.6908661417323,&quot;left&quot;:469.20771653543306,&quot;top&quot;:2.7496062992125987,&quot;width&quot;:469.01385826771656}"/>
</p:tagLst>
</file>

<file path=ppt/tags/tag36.xml><?xml version="1.0" encoding="utf-8"?>
<p:tagLst xmlns:p="http://schemas.openxmlformats.org/presentationml/2006/main">
  <p:tag name="KSO_WM_DIAGRAM_VIRTUALLY_FRAME" val="{&quot;height&quot;:591.6908661417323,&quot;left&quot;:469.20771653543306,&quot;top&quot;:2.7496062992125987,&quot;width&quot;:469.01385826771656}"/>
</p:tagLst>
</file>

<file path=ppt/tags/tag37.xml><?xml version="1.0" encoding="utf-8"?>
<p:tagLst xmlns:p="http://schemas.openxmlformats.org/presentationml/2006/main">
  <p:tag name="KSO_WM_DIAGRAM_VIRTUALLY_FRAME" val="{&quot;height&quot;:591.6908661417323,&quot;left&quot;:469.20771653543306,&quot;top&quot;:2.7496062992125987,&quot;width&quot;:469.01385826771656}"/>
</p:tagLst>
</file>

<file path=ppt/tags/tag38.xml><?xml version="1.0" encoding="utf-8"?>
<p:tagLst xmlns:p="http://schemas.openxmlformats.org/presentationml/2006/main">
  <p:tag name="KSO_WM_DIAGRAM_VIRTUALLY_FRAME" val="{&quot;height&quot;:591.6908661417323,&quot;left&quot;:469.20771653543306,&quot;top&quot;:2.7496062992125987,&quot;width&quot;:469.01385826771656}"/>
</p:tagLst>
</file>

<file path=ppt/tags/tag39.xml><?xml version="1.0" encoding="utf-8"?>
<p:tagLst xmlns:p="http://schemas.openxmlformats.org/presentationml/2006/main">
  <p:tag name="KSO_WM_DIAGRAM_VIRTUALLY_FRAME" val="{&quot;height&quot;:591.6908661417323,&quot;left&quot;:469.20771653543306,&quot;top&quot;:2.7496062992125987,&quot;width&quot;:469.01385826771656}"/>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8_3*l_h_i*1_1_2"/>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4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868_3*l_h_f*1_1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以便观者准确地理解您传达的思想。单击此处添加文本具体内容，简明扼要地阐述您的内容观点。"/>
  <p:tag name="KSO_WM_UNIT_TEXT_FILL_FORE_SCHEMECOLOR_INDEX" val="1"/>
  <p:tag name="KSO_WM_UNIT_TEXT_FILL_TYPE" val="1"/>
  <p:tag name="KSO_WM_UNIT_USESOURCEFORMAT_APPLY" val="1"/>
</p:tagLst>
</file>

<file path=ppt/tags/tag4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868_3*l_h_a*1_1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68_3*l_h_i*1_1_1"/>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1_1"/>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0.7200000286102295,&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1"/>
  <p:tag name="KSO_WM_UNIT_TEXT_FILL_FORE_SCHEMECOLOR_INDEX" val="3"/>
  <p:tag name="KSO_WM_UNIT_TEXT_FILL_TYPE" val="3"/>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868_3*l_h_i*1_2_2"/>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68_3*l_h_i*1_2_1"/>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2_1"/>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0.7200000286102295,&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2"/>
  <p:tag name="KSO_WM_UNIT_TEXT_FILL_FORE_SCHEMECOLOR_INDEX" val="3"/>
  <p:tag name="KSO_WM_UNIT_TEXT_FILL_TYPE" val="3"/>
  <p:tag name="KSO_WM_UNIT_USESOURCEFORMAT_APPLY"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868_3*l_h_i*1_3_2"/>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868_3*l_h_f*1_3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以便观者准确地理解您传达的思想。单击此处添加文本具体内容，简明扼要地阐述您的内容观点。"/>
  <p:tag name="KSO_WM_UNIT_TEXT_FILL_FORE_SCHEMECOLOR_INDEX" val="1"/>
  <p:tag name="KSO_WM_UNIT_TEXT_FILL_TYPE" val="1"/>
  <p:tag name="KSO_WM_UNIT_USESOURCEFORMAT_APPLY" val="1"/>
</p:tagLst>
</file>

<file path=ppt/tags/tag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868_3*l_h_a*1_3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UNIT_USESOURCEFORMAT_APPLY"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68_3*l_h_i*1_3_1"/>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3_1"/>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0.7200000286102295,&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3"/>
  <p:tag name="KSO_WM_UNIT_TEXT_FILL_FORE_SCHEMECOLOR_INDEX" val="3"/>
  <p:tag name="KSO_WM_UNIT_TEXT_FILL_TYPE" val="3"/>
  <p:tag name="KSO_WM_UNIT_USESOURCEFORMAT_APPLY"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868_3*l_h_i*1_4_2"/>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68_3*l_h_i*1_4_1"/>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4_1"/>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0.7200000286102295,&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4"/>
  <p:tag name="KSO_WM_UNIT_TEXT_FILL_FORE_SCHEMECOLOR_INDEX" val="3"/>
  <p:tag name="KSO_WM_UNIT_TEXT_FILL_TYPE" val="3"/>
  <p:tag name="KSO_WM_UNIT_USESOURCEFORMAT_APPLY" val="1"/>
</p:tagLst>
</file>

<file path=ppt/tags/tag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868_3*l_h_f*1_2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以便观者准确地理解您传达的思想。单击此处添加文本具体内容，简明扼要地阐述您的内容观点。"/>
  <p:tag name="KSO_WM_UNIT_TEXT_FILL_FORE_SCHEMECOLOR_INDEX" val="1"/>
  <p:tag name="KSO_WM_UNIT_TEXT_FILL_TYPE" val="1"/>
  <p:tag name="KSO_WM_UNIT_USESOURCEFORMAT_APPLY" val="1"/>
</p:tagLst>
</file>

<file path=ppt/tags/tag5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868_3*l_h_a*1_2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UNIT_USESOURCEFORMAT_APPLY" val="1"/>
</p:tagLst>
</file>

<file path=ppt/tags/tag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868_3*l_h_f*1_4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以便观者准确地理解您传达的思想。单击此处添加文本具体内容，简明扼要地阐述您的内容观点。"/>
  <p:tag name="KSO_WM_UNIT_TEXT_FILL_FORE_SCHEMECOLOR_INDEX" val="1"/>
  <p:tag name="KSO_WM_UNIT_TEXT_FILL_TYPE" val="1"/>
  <p:tag name="KSO_WM_UNIT_USESOURCEFORMAT_APPLY" val="1"/>
</p:tagLst>
</file>

<file path=ppt/tags/tag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868_3*l_h_a*1_4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1.93952755905514,&quot;left&quot;:33.24999999999999,&quot;top&quot;:112.71047244094488,&quot;width&quot;:871.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UNIT_USESOURCEFORMAT_APPLY" val="1"/>
</p:tagLst>
</file>

<file path=ppt/tags/tag56.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868_3*a*1"/>
  <p:tag name="KSO_WM_TEMPLATE_CATEGORY" val="diagram"/>
  <p:tag name="KSO_WM_TEMPLATE_INDEX" val="20231868"/>
  <p:tag name="KSO_WM_UNIT_LAYERLEVEL" val="1"/>
  <p:tag name="KSO_WM_TAG_VERSION" val="3.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57.xml><?xml version="1.0" encoding="utf-8"?>
<p:tagLst xmlns:p="http://schemas.openxmlformats.org/presentationml/2006/main">
  <p:tag name="KSO_WM_SLIDE_ID" val="diagram20231868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868"/>
  <p:tag name="KSO_WM_SLIDE_TYPE" val="text"/>
  <p:tag name="KSO_WM_SLIDE_SUBTYPE" val="diag"/>
  <p:tag name="KSO_WM_SLIDE_SIZE" val="850.42*372.31"/>
  <p:tag name="KSO_WM_SLIDE_POSITION" val="54.75*113.19"/>
  <p:tag name="KSO_WM_SLIDE_LAYOUT" val="a_l"/>
  <p:tag name="KSO_WM_SLIDE_LAYOUT_CNT" val="1_1"/>
  <p:tag name="KSO_WM_SPECIAL_SOURCE" val="bdnull"/>
  <p:tag name="KSO_WM_DIAGRAM_GROUP_CODE" val="l1-1"/>
  <p:tag name="KSO_WM_SLIDE_DIAGTYPE" val="l"/>
</p:tagLst>
</file>

<file path=ppt/tags/tag58.xml><?xml version="1.0" encoding="utf-8"?>
<p:tagLst xmlns:p="http://schemas.openxmlformats.org/presentationml/2006/main">
  <p:tag name="PA" val="v4.0.0"/>
</p:tagLst>
</file>

<file path=ppt/tags/tag59.xml><?xml version="1.0" encoding="utf-8"?>
<p:tagLst xmlns:p="http://schemas.openxmlformats.org/presentationml/2006/main">
  <p:tag name="PA" val="v4.0.0"/>
</p:tagLst>
</file>

<file path=ppt/tags/tag6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3671_1*a*1"/>
  <p:tag name="KSO_WM_TEMPLATE_CATEGORY" val="custom"/>
  <p:tag name="KSO_WM_TEMPLATE_INDEX" val="20233671"/>
  <p:tag name="KSO_WM_UNIT_LAYERLEVEL" val="1"/>
  <p:tag name="KSO_WM_TAG_VERSION" val="3.0"/>
  <p:tag name="KSO_WM_BEAUTIFY_FLAG" val="#wm#"/>
  <p:tag name="KSO_WM_UNIT_PRESET_TEXT" val="单击此处添加标题"/>
</p:tagLst>
</file>

<file path=ppt/tags/tag61.xml><?xml version="1.0" encoding="utf-8"?>
<p:tagLst xmlns:p="http://schemas.openxmlformats.org/presentationml/2006/main">
  <p:tag name="KSO_WM_BEAUTIFY_FLAG" val="#wm#"/>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663"/>
  <p:tag name="KSO_WM_UNIT_LAYERLEVEL" val="1_1_1"/>
  <p:tag name="KSO_WM_TAG_VERSION" val="3.0"/>
  <p:tag name="KSO_WM_DIAGRAM_MAX_ITEMCNT" val="2"/>
  <p:tag name="KSO_WM_DIAGRAM_MIN_ITEMCNT" val="2"/>
  <p:tag name="KSO_WM_DIAGRAM_VIRTUALLY_FRAME" val="{&quot;height&quot;:522.1454330708661,&quot;left&quot;:573.2909448818898,&quot;top&quot;:15.354566929133853,&quot;width&quot;:377.284330708661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此处添加项标题"/>
  <p:tag name="KSO_WM_UNIT_ID" val="diagram20233663_1*l_h_a*1_1_1"/>
  <p:tag name="KSO_WM_UNIT_INDEX" val="1_1_1"/>
  <p:tag name="KSO_WM_DIAGRAM_GROUP_CODE" val="l1-1"/>
</p:tagLst>
</file>

<file path=ppt/tags/tag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3663"/>
  <p:tag name="KSO_WM_UNIT_LAYERLEVEL" val="1_1_1"/>
  <p:tag name="KSO_WM_TAG_VERSION" val="3.0"/>
  <p:tag name="KSO_WM_BEAUTIFY_FLAG" val="#wm#"/>
  <p:tag name="KSO_WM_UNIT_TEXT_FILL_FORE_SCHEMECOLOR_INDEX_BRIGHTNESS" val="0.15"/>
  <p:tag name="KSO_WM_DIAGRAM_MAX_ITEMCNT" val="2"/>
  <p:tag name="KSO_WM_DIAGRAM_MIN_ITEMCNT" val="2"/>
  <p:tag name="KSO_WM_DIAGRAM_VIRTUALLY_FRAME" val="{&quot;height&quot;:522.1454330708661,&quot;left&quot;:573.2909448818898,&quot;top&quot;:15.354566929133853,&quot;width&quot;:377.28433070866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DIAGRAM_VERSION" val="3"/>
  <p:tag name="KSO_WM_DIAGRAM_COLOR_TRICK" val="1"/>
  <p:tag name="KSO_WM_DIAGRAM_COLOR_TEXT_CAN_REMOVE" val="n"/>
  <p:tag name="KSO_WM_UNIT_TEXT_FILL_FORE_SCHEMECOLOR_INDEX" val="1"/>
  <p:tag name="KSO_WM_UNIT_TEXT_FILL_TYPE" val="1"/>
  <p:tag name="KSO_WM_UNIT_PRESET_TEXT" val="单击此处添加文本具体内容，简明扼要地阐述您的观点根据需要可酌情增减文字，以便观者准确理解您传达的思想单击此处添加文本内容，简明扼要地阐述您的观点，根据需要可酌情增减文字简明扼要地阐述您的观点，根据需要可酌情增减文字。"/>
  <p:tag name="KSO_WM_UNIT_ID" val="diagram20233663_1*l_h_f*1_1_1"/>
  <p:tag name="KSO_WM_UNIT_INDEX" val="1_1_1"/>
  <p:tag name="KSO_WM_DIAGRAM_GROUP_CODE" val="l1-1"/>
</p:tagLst>
</file>

<file path=ppt/tags/tag63.xml><?xml version="1.0" encoding="utf-8"?>
<p:tagLst xmlns:p="http://schemas.openxmlformats.org/presentationml/2006/main">
  <p:tag name="KSO_WM_BEAUTIFY_FLAG" val="#wm#"/>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3663"/>
  <p:tag name="KSO_WM_UNIT_LAYERLEVEL" val="1_1_1"/>
  <p:tag name="KSO_WM_TAG_VERSION" val="3.0"/>
  <p:tag name="KSO_WM_DIAGRAM_MAX_ITEMCNT" val="2"/>
  <p:tag name="KSO_WM_DIAGRAM_MIN_ITEMCNT" val="2"/>
  <p:tag name="KSO_WM_DIAGRAM_VIRTUALLY_FRAME" val="{&quot;height&quot;:522.1454330708661,&quot;left&quot;:573.2909448818898,&quot;top&quot;:15.354566929133853,&quot;width&quot;:377.284330708661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此处添加项标题"/>
  <p:tag name="KSO_WM_UNIT_ID" val="diagram20233663_1*l_h_a*1_2_1"/>
  <p:tag name="KSO_WM_UNIT_INDEX" val="1_2_1"/>
  <p:tag name="KSO_WM_DIAGRAM_GROUP_CODE" val="l1-1"/>
</p:tagLst>
</file>

<file path=ppt/tags/tag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3663"/>
  <p:tag name="KSO_WM_UNIT_LAYERLEVEL" val="1_1_1"/>
  <p:tag name="KSO_WM_TAG_VERSION" val="3.0"/>
  <p:tag name="KSO_WM_BEAUTIFY_FLAG" val="#wm#"/>
  <p:tag name="KSO_WM_UNIT_TEXT_FILL_FORE_SCHEMECOLOR_INDEX_BRIGHTNESS" val="0.15"/>
  <p:tag name="KSO_WM_DIAGRAM_MAX_ITEMCNT" val="2"/>
  <p:tag name="KSO_WM_DIAGRAM_MIN_ITEMCNT" val="2"/>
  <p:tag name="KSO_WM_DIAGRAM_VIRTUALLY_FRAME" val="{&quot;height&quot;:522.1454330708661,&quot;left&quot;:573.2909448818898,&quot;top&quot;:15.354566929133853,&quot;width&quot;:377.28433070866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DIAGRAM_VERSION" val="3"/>
  <p:tag name="KSO_WM_DIAGRAM_COLOR_TRICK" val="1"/>
  <p:tag name="KSO_WM_DIAGRAM_COLOR_TEXT_CAN_REMOVE" val="n"/>
  <p:tag name="KSO_WM_UNIT_TEXT_FILL_FORE_SCHEMECOLOR_INDEX" val="1"/>
  <p:tag name="KSO_WM_UNIT_TEXT_FILL_TYPE" val="1"/>
  <p:tag name="KSO_WM_UNIT_PRESET_TEXT" val="单击此处添加文本具体内容，简明扼要地阐述您的观点根据需要可酌情增减文字，以便观者准确理解您传达的思想单击此处添加文本内容，简明扼要地阐述您的观点，根据需要可酌情增减文字简明扼要地阐述您的观点，根据需要可酌情增减文字。"/>
  <p:tag name="KSO_WM_UNIT_ID" val="diagram20233663_1*l_h_f*1_2_1"/>
  <p:tag name="KSO_WM_UNIT_INDEX" val="1_2_1"/>
  <p:tag name="KSO_WM_DIAGRAM_GROUP_CODE" val="l1-1"/>
</p:tagLst>
</file>

<file path=ppt/tags/tag65.xml><?xml version="1.0" encoding="utf-8"?>
<p:tagLst xmlns:p="http://schemas.openxmlformats.org/presentationml/2006/main">
  <p:tag name="KSO_WM_SLIDE_ID" val="custom20233671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3671"/>
  <p:tag name="KSO_WM_SLIDE_TYPE" val="text"/>
  <p:tag name="KSO_WM_SLIDE_SUBTYPE" val="picTxt"/>
  <p:tag name="KSO_WM_SLIDE_SIZE" val="240.684*311.299"/>
  <p:tag name="KSO_WM_SLIDE_POSITION" val="643.391*156.424"/>
  <p:tag name="KSO_WM_SLIDE_LAYOUT" val="a_α_l"/>
  <p:tag name="KSO_WM_SLIDE_LAYOUT_CNT" val="1_1_1"/>
  <p:tag name="KSO_WM_SPECIAL_SOURCE" val="bdnull"/>
  <p:tag name="KSO_WM_DIAGRAM_GROUP_CODE" val="l1-1"/>
  <p:tag name="KSO_WM_SLIDE_DIAGTYPE" val="l"/>
</p:tagLst>
</file>

<file path=ppt/tags/tag66.xml><?xml version="1.0" encoding="utf-8"?>
<p:tagLst xmlns:p="http://schemas.openxmlformats.org/presentationml/2006/main">
  <p:tag name="PA" val="v4.0.0"/>
</p:tagLst>
</file>

<file path=ppt/tags/tag67.xml><?xml version="1.0" encoding="utf-8"?>
<p:tagLst xmlns:p="http://schemas.openxmlformats.org/presentationml/2006/main">
  <p:tag name="PA" val="v4.0.0"/>
</p:tagLst>
</file>

<file path=ppt/tags/tag68.xml><?xml version="1.0" encoding="utf-8"?>
<p:tagLst xmlns:p="http://schemas.openxmlformats.org/presentationml/2006/main">
  <p:tag name="PA" val="v4.0.0"/>
</p:tagLst>
</file>

<file path=ppt/tags/tag69.xml><?xml version="1.0" encoding="utf-8"?>
<p:tagLst xmlns:p="http://schemas.openxmlformats.org/presentationml/2006/main">
  <p:tag name="PA" val="v4.0.0"/>
</p:tagLst>
</file>

<file path=ppt/tags/tag70.xml><?xml version="1.0" encoding="utf-8"?>
<p:tagLst xmlns:p="http://schemas.openxmlformats.org/presentationml/2006/main">
  <p:tag name="PA" val="v4.0.0"/>
</p:tagLst>
</file>

<file path=ppt/tags/tag71.xml><?xml version="1.0" encoding="utf-8"?>
<p:tagLst xmlns:p="http://schemas.openxmlformats.org/presentationml/2006/main">
  <p:tag name="PA" val="v4.0.0"/>
</p:tagLst>
</file>

<file path=ppt/tags/tag72.xml><?xml version="1.0" encoding="utf-8"?>
<p:tagLst xmlns:p="http://schemas.openxmlformats.org/presentationml/2006/main">
  <p:tag name="commondata" val="eyJoZGlkIjoiZTFmNjBhMjAzYjdhZTg3YzI4ODI2ODUxZTc1ODJiNDIifQ=="/>
  <p:tag name="resource_record_key" val="{&quot;13&quot;:[19951220,4364974]}"/>
</p:tagLst>
</file>

<file path=ppt/theme/theme1.xml><?xml version="1.0" encoding="utf-8"?>
<a:theme xmlns:a="http://schemas.openxmlformats.org/drawingml/2006/main" name="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渐变模板字体">
      <a:majorFont>
        <a:latin typeface="等线 Light"/>
        <a:ea typeface="微软雅黑"/>
        <a:cs typeface=""/>
      </a:majorFont>
      <a:minorFont>
        <a:latin typeface="等线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3262</Words>
  <Application>WPS 演示</Application>
  <PresentationFormat>宽屏</PresentationFormat>
  <Paragraphs>215</Paragraphs>
  <Slides>21</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宋体</vt:lpstr>
      <vt:lpstr>Wingdings</vt:lpstr>
      <vt:lpstr>汉仪晓波花月圆W</vt:lpstr>
      <vt:lpstr>微软雅黑</vt:lpstr>
      <vt:lpstr>等线 Light</vt:lpstr>
      <vt:lpstr>微软雅黑 Light</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病因</vt:lpstr>
      <vt:lpstr>PowerPoint 演示文稿</vt:lpstr>
      <vt:lpstr>PowerPoint 演示文稿</vt:lpstr>
      <vt:lpstr>阳性症状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实验结果</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cp:lastModifiedBy>shy</cp:lastModifiedBy>
  <cp:revision>166</cp:revision>
  <dcterms:created xsi:type="dcterms:W3CDTF">2017-09-03T02:38:00Z</dcterms:created>
  <dcterms:modified xsi:type="dcterms:W3CDTF">2024-04-19T06:22:02Z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A22D9EAECDBE415EBFE7959B092B96A6_13</vt:lpwstr>
  </property>
</Properties>
</file>