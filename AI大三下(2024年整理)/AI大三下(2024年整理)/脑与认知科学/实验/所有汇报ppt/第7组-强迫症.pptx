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1.svg" ContentType="image/svg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3"/>
    <p:sldId id="277" r:id="rId4"/>
    <p:sldId id="270" r:id="rId5"/>
    <p:sldId id="279" r:id="rId6"/>
    <p:sldId id="283" r:id="rId7"/>
    <p:sldId id="284" r:id="rId8"/>
    <p:sldId id="282" r:id="rId9"/>
    <p:sldId id="285" r:id="rId10"/>
    <p:sldId id="288" r:id="rId11"/>
    <p:sldId id="287" r:id="rId12"/>
    <p:sldId id="289" r:id="rId13"/>
    <p:sldId id="286" r:id="rId14"/>
    <p:sldId id="290" r:id="rId15"/>
    <p:sldId id="291" r:id="rId16"/>
    <p:sldId id="292" r:id="rId17"/>
    <p:sldId id="294" r:id="rId18"/>
    <p:sldId id="295" r:id="rId19"/>
    <p:sldId id="296" r:id="rId20"/>
    <p:sldId id="297" r:id="rId21"/>
    <p:sldId id="300" r:id="rId22"/>
    <p:sldId id="301" r:id="rId23"/>
    <p:sldId id="299" r:id="rId24"/>
    <p:sldId id="303" r:id="rId25"/>
    <p:sldId id="304" r:id="rId26"/>
    <p:sldId id="275" r:id="rId27"/>
  </p:sldIdLst>
  <p:sldSz cx="12192000" cy="6858000"/>
  <p:notesSz cx="6858000" cy="9144000"/>
  <p:embeddedFontLst>
    <p:embeddedFont>
      <p:font typeface="宋体" panose="02010600030101010101" pitchFamily="2" charset="-122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078"/>
    <a:srgbClr val="385723"/>
    <a:srgbClr val="EE9524"/>
    <a:srgbClr val="03888B"/>
    <a:srgbClr val="DC8112"/>
    <a:srgbClr val="F682AE"/>
    <a:srgbClr val="05D0D5"/>
    <a:srgbClr val="04B8BC"/>
    <a:srgbClr val="31F6FB"/>
    <a:srgbClr val="D61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0115F-65E7-4948-BBBD-A84F05213A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DDA6-1DBC-4F4A-8EE5-258398DC1DC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bilibili.com/video/BV1ts411S7Xt/" TargetMode="External"/><Relationship Id="rId2" Type="http://schemas.openxmlformats.org/officeDocument/2006/relationships/image" Target="../media/image6.GIF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.svg"/><Relationship Id="rId6" Type="http://schemas.openxmlformats.org/officeDocument/2006/relationships/image" Target="../media/image20.png"/><Relationship Id="rId5" Type="http://schemas.openxmlformats.org/officeDocument/2006/relationships/image" Target="../media/image2.sv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hyperlink" Target="https://zhuanlan.zhihu.com/p/590239649" TargetMode="External"/><Relationship Id="rId5" Type="http://schemas.openxmlformats.org/officeDocument/2006/relationships/hyperlink" Target="https://www.gdwlxy.edu.cn/Html/Article/xljk_643_553.html" TargetMode="External"/><Relationship Id="rId4" Type="http://schemas.openxmlformats.org/officeDocument/2006/relationships/hyperlink" Target="https://www.cernet.edu.cn/edu/te_shu/jiao_xue/zhi_zhang/200603/t20060323_16048.shtml" TargetMode="External"/><Relationship Id="rId3" Type="http://schemas.openxmlformats.org/officeDocument/2006/relationships/hyperlink" Target="https://rs.yiigle.com/CN119999202301/1455949.htm" TargetMode="External"/><Relationship Id="rId2" Type="http://schemas.openxmlformats.org/officeDocument/2006/relationships/hyperlink" Target="https://ada.baidu.com/site/wjz5h7n8/xyl?imid=3416f9548524f8adb0d4ddaa3b69edd2&amp;utm_source=baidu08&amp;utm_medium=ocpc&amp;utm_term=%E5%BC%BA%E8%BF%AB%E7%97%87%E7%9A%84%E8%A1%A8%E7%8E%B0&amp;utm_content=%E5%BC%BA%E8%BF%AB%E7%97%87-%E6%B5%81%E9%87%8F-3%E5%AF%B9%E8%AF%9D%E8%AF%8D&amp;utm_campaign=M12_QPZ3&amp;fid=nHm3PWDYrjc3nHR4PWmvnjfznjwxnWcdg1D&amp;ch=4&amp;bd_vid=nHm3PWDYrjc3nHR4PWmvnjfznjwxnWcdg17xnH0sg1wxrj6knHcsnWc4rHT&amp;ch=4&amp;bd_bxst=EiaKor_20Db70ro900DD0jEJe6Fzdi0000000KQZEtUcdJ2dkQZV1qpl1IpBdeHYyRFO0f000a9AwHTvf16kPjT1f1RdnYc3wjb4nbm1rR7jwHbLPDDdfW9DPWb1nW0dcD77PH7Anj7AwjR1fRcdPj6zwH6kPjnvn1KarjndP1b3xU3RAdveWWDa0000dTgB6kf0000GmL5AJs0000R0w60nkeOAzPpBVTikeTOyZ_JzseH2ktXOk_6OkeOAzP5fknHfJIpBdeikeTOy5s000ZzbpBT#back1712739147111" TargetMode="External"/><Relationship Id="rId1" Type="http://schemas.openxmlformats.org/officeDocument/2006/relationships/hyperlink" Target="https://baike.baidu.com/item/%E5%BC%BA%E8%BF%AB%E7%97%87/90900?fr=ge_ala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402" y="1890278"/>
            <a:ext cx="727891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800" dirty="0">
                <a:solidFill>
                  <a:srgbClr val="EF3078"/>
                </a:solidFill>
                <a:latin typeface="Tw Cen MT" panose="020B0602020104020603" pitchFamily="34" charset="0"/>
              </a:rPr>
              <a:t>强 迫 症</a:t>
            </a:r>
            <a:endParaRPr lang="en-US" sz="11800" dirty="0">
              <a:solidFill>
                <a:srgbClr val="EF3078"/>
              </a:solidFill>
              <a:latin typeface="Tw Cen MT" panose="020B0602020104020603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394853" y="5048835"/>
            <a:ext cx="3402294" cy="451824"/>
            <a:chOff x="4679586" y="878988"/>
            <a:chExt cx="1434489" cy="190500"/>
          </a:xfrm>
        </p:grpSpPr>
        <p:sp>
          <p:nvSpPr>
            <p:cNvPr id="16" name="Oval 1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456403" y="3798493"/>
            <a:ext cx="7278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3A1A4"/>
                </a:solidFill>
                <a:latin typeface="Tw Cen MT" panose="020B0602020104020603" pitchFamily="34" charset="0"/>
              </a:rPr>
              <a:t>脑与认知科学实验汇报</a:t>
            </a:r>
            <a:endParaRPr lang="en-US" sz="3200" dirty="0">
              <a:solidFill>
                <a:srgbClr val="03A1A4"/>
              </a:solidFill>
              <a:latin typeface="Tw Cen MT" panose="020B06020201040206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59468" y="4471754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</a:rPr>
              <a:t>第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</a:rPr>
              <a:t>7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</a:rPr>
              <a:t>小组  汇报人：徐嘉健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pPr algn="ctr"/>
            <a:endParaRPr lang="en-US" sz="20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目  录</a:t>
            </a:r>
            <a:endParaRPr lang="en-US" sz="4000" b="1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16" name="Oval 1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Oval 16"/>
          <p:cNvSpPr/>
          <p:nvPr/>
        </p:nvSpPr>
        <p:spPr>
          <a:xfrm rot="5400000">
            <a:off x="4165312" y="3280671"/>
            <a:ext cx="285755" cy="296657"/>
          </a:xfrm>
          <a:prstGeom prst="ellipse">
            <a:avLst/>
          </a:prstGeom>
          <a:solidFill>
            <a:srgbClr val="EE9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7"/>
          <p:cNvSpPr/>
          <p:nvPr/>
        </p:nvSpPr>
        <p:spPr>
          <a:xfrm rot="5400000">
            <a:off x="4165311" y="4508349"/>
            <a:ext cx="285755" cy="296657"/>
          </a:xfrm>
          <a:prstGeom prst="ellipse">
            <a:avLst/>
          </a:prstGeom>
          <a:solidFill>
            <a:srgbClr val="EF3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5"/>
          <p:cNvSpPr/>
          <p:nvPr/>
        </p:nvSpPr>
        <p:spPr>
          <a:xfrm rot="5400000">
            <a:off x="4165314" y="1880927"/>
            <a:ext cx="285755" cy="296657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/>
          <p:cNvSpPr txBox="1"/>
          <p:nvPr/>
        </p:nvSpPr>
        <p:spPr>
          <a:xfrm>
            <a:off x="4645811" y="1675313"/>
            <a:ext cx="3386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3A1A4"/>
                </a:solidFill>
              </a:rPr>
              <a:t>强迫症的症状</a:t>
            </a:r>
            <a:endParaRPr lang="zh-CN" altLang="en-US" sz="4000" dirty="0">
              <a:solidFill>
                <a:srgbClr val="03A1A4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45811" y="2989024"/>
            <a:ext cx="157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EE9524"/>
                </a:solidFill>
              </a:rPr>
              <a:t>病因</a:t>
            </a:r>
            <a:endParaRPr lang="zh-CN" altLang="en-US" sz="3600" dirty="0">
              <a:solidFill>
                <a:srgbClr val="EE9524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49522" y="4302735"/>
            <a:ext cx="2461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EF3078"/>
                </a:solidFill>
              </a:rPr>
              <a:t>治疗方法</a:t>
            </a:r>
            <a:endParaRPr lang="zh-CN" altLang="en-US" sz="4000" dirty="0">
              <a:solidFill>
                <a:srgbClr val="EF3078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061723" y="2993189"/>
            <a:ext cx="58232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强迫症属于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焦虑障碍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的一种类型，是一种神经精神疾病。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主要临床表现是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强迫思维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强迫行为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，患者会体验到这些想法或冲动是来源于自身，但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无法控制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，造成巨大焦虑和痛苦。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98028" y="171102"/>
            <a:ext cx="3386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A6A6A6"/>
                </a:solidFill>
              </a:rPr>
              <a:t>强迫症的症状</a:t>
            </a:r>
            <a:endParaRPr lang="zh-CN" altLang="en-US" sz="4000" dirty="0">
              <a:solidFill>
                <a:srgbClr val="A6A6A6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5191" y="2016000"/>
            <a:ext cx="3058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3A1A4"/>
                </a:solidFill>
              </a:rPr>
              <a:t>什么是强迫症</a:t>
            </a:r>
            <a:endParaRPr lang="zh-CN" altLang="en-US" sz="3600" dirty="0">
              <a:solidFill>
                <a:srgbClr val="03A1A4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834105" y="2662331"/>
            <a:ext cx="6309360" cy="0"/>
          </a:xfrm>
          <a:prstGeom prst="line">
            <a:avLst/>
          </a:prstGeom>
          <a:ln w="38100">
            <a:solidFill>
              <a:srgbClr val="03A1A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9" name="TextBox 41"/>
          <p:cNvSpPr txBox="1"/>
          <p:nvPr/>
        </p:nvSpPr>
        <p:spPr>
          <a:xfrm>
            <a:off x="7691120" y="2395563"/>
            <a:ext cx="39207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B0F0"/>
                </a:solidFill>
                <a:latin typeface="Tw Cen MT" panose="020B0602020104020603" pitchFamily="34" charset="0"/>
              </a:rPr>
              <a:t>焦虑障碍</a:t>
            </a:r>
            <a:endParaRPr lang="en-US" altLang="zh-CN" sz="3200" b="1" dirty="0">
              <a:solidFill>
                <a:srgbClr val="00B0F0"/>
              </a:solidFill>
              <a:latin typeface="Tw Cen MT" panose="020B0602020104020603" pitchFamily="34" charset="0"/>
            </a:endParaRPr>
          </a:p>
          <a:p>
            <a:pPr algn="ctr"/>
            <a:endParaRPr lang="en-US" altLang="zh-CN" sz="3200" b="1" dirty="0">
              <a:solidFill>
                <a:srgbClr val="00B0F0"/>
              </a:solidFill>
              <a:latin typeface="Tw Cen MT" panose="020B0602020104020603" pitchFamily="34" charset="0"/>
            </a:endParaRPr>
          </a:p>
          <a:p>
            <a:pPr algn="ctr"/>
            <a:r>
              <a:rPr lang="zh-CN" altLang="en-US" sz="3200" b="1" dirty="0">
                <a:solidFill>
                  <a:srgbClr val="00B0F0"/>
                </a:solidFill>
                <a:latin typeface="Tw Cen MT" panose="020B0602020104020603" pitchFamily="34" charset="0"/>
              </a:rPr>
              <a:t>强迫思维，强迫行为</a:t>
            </a:r>
            <a:endParaRPr lang="en-US" altLang="zh-CN" sz="3200" b="1" dirty="0">
              <a:solidFill>
                <a:srgbClr val="00B0F0"/>
              </a:solidFill>
              <a:latin typeface="Tw Cen MT" panose="020B0602020104020603" pitchFamily="34" charset="0"/>
            </a:endParaRPr>
          </a:p>
          <a:p>
            <a:pPr algn="ctr"/>
            <a:endParaRPr lang="en-US" altLang="zh-CN" sz="3200" b="1" dirty="0">
              <a:solidFill>
                <a:srgbClr val="00B0F0"/>
              </a:solidFill>
              <a:latin typeface="Tw Cen MT" panose="020B0602020104020603" pitchFamily="34" charset="0"/>
            </a:endParaRPr>
          </a:p>
          <a:p>
            <a:pPr algn="ctr"/>
            <a:r>
              <a:rPr lang="zh-CN" altLang="en-US" sz="3200" b="1" dirty="0">
                <a:solidFill>
                  <a:srgbClr val="00B0F0"/>
                </a:solidFill>
                <a:latin typeface="Tw Cen MT" panose="020B0602020104020603" pitchFamily="34" charset="0"/>
              </a:rPr>
              <a:t>无法控制</a:t>
            </a:r>
            <a:endParaRPr lang="en-US" sz="3200" b="1" dirty="0">
              <a:solidFill>
                <a:srgbClr val="00B0F0"/>
              </a:solidFill>
              <a:latin typeface="Tw Cen MT" panose="020B0602020104020603" pitchFamily="34" charset="0"/>
            </a:endParaRPr>
          </a:p>
        </p:txBody>
      </p:sp>
      <p:pic>
        <p:nvPicPr>
          <p:cNvPr id="84" name="图形 83" descr="线箭头逆时针弯曲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878123" flipH="1">
            <a:off x="6971311" y="1573065"/>
            <a:ext cx="1261986" cy="12619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典 型 症 状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53"/>
          <p:cNvGrpSpPr/>
          <p:nvPr/>
        </p:nvGrpSpPr>
        <p:grpSpPr>
          <a:xfrm>
            <a:off x="1428228" y="1573083"/>
            <a:ext cx="1805441" cy="1894017"/>
            <a:chOff x="1387588" y="2182683"/>
            <a:chExt cx="1805441" cy="1894017"/>
          </a:xfrm>
        </p:grpSpPr>
        <p:sp>
          <p:nvSpPr>
            <p:cNvPr id="11" name="Rectangle: Top Corners Rounded 11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PART</a:t>
              </a:r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" name="TextBox 28"/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5" name="Freeform: Shape 10"/>
          <p:cNvSpPr/>
          <p:nvPr/>
        </p:nvSpPr>
        <p:spPr>
          <a:xfrm flipV="1">
            <a:off x="1535158" y="2533650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96" y="4296023"/>
            <a:ext cx="905768" cy="905768"/>
          </a:xfrm>
          <a:prstGeom prst="rect">
            <a:avLst/>
          </a:prstGeom>
        </p:spPr>
      </p:pic>
      <p:grpSp>
        <p:nvGrpSpPr>
          <p:cNvPr id="17" name="Group 54"/>
          <p:cNvGrpSpPr/>
          <p:nvPr/>
        </p:nvGrpSpPr>
        <p:grpSpPr>
          <a:xfrm>
            <a:off x="1529489" y="3001594"/>
            <a:ext cx="1591582" cy="1294429"/>
            <a:chOff x="1488849" y="3837442"/>
            <a:chExt cx="1591582" cy="1048049"/>
          </a:xfrm>
        </p:grpSpPr>
        <p:sp>
          <p:nvSpPr>
            <p:cNvPr id="18" name="TextBox 45"/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思维</a:t>
              </a:r>
              <a:endParaRPr lang="en-US" b="1" dirty="0">
                <a:solidFill>
                  <a:srgbClr val="EF3078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9" name="TextBox 46"/>
            <p:cNvSpPr txBox="1"/>
            <p:nvPr/>
          </p:nvSpPr>
          <p:spPr>
            <a:xfrm>
              <a:off x="1488849" y="4146827"/>
              <a:ext cx="15915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脑海里中不需要的想法、怀疑、或冲动</a:t>
              </a:r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818223" y="1280971"/>
            <a:ext cx="210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EF3078"/>
                </a:solidFill>
              </a:rPr>
              <a:t>强迫思维</a:t>
            </a:r>
            <a:endParaRPr lang="zh-CN" altLang="en-US" sz="3600" dirty="0">
              <a:solidFill>
                <a:srgbClr val="EF3078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696497" y="1927302"/>
            <a:ext cx="7202455" cy="0"/>
          </a:xfrm>
          <a:prstGeom prst="line">
            <a:avLst/>
          </a:prstGeom>
          <a:ln w="38100">
            <a:solidFill>
              <a:srgbClr val="EF3078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818223" y="2138785"/>
            <a:ext cx="3470988" cy="455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强迫怀疑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对自己言行的正确性反复怀疑，以至于要反复核实，明知道毫无必要，但无法克制。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如，出门时会反复检查是否关好门窗，即使一遍一遍回家确认，还是觉得没关好；怀疑自己刚刚是否说错话，并且反复思考对他人造成哪些伤害等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211" y="2343430"/>
            <a:ext cx="3965218" cy="34124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典 型 症 状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53"/>
          <p:cNvGrpSpPr/>
          <p:nvPr/>
        </p:nvGrpSpPr>
        <p:grpSpPr>
          <a:xfrm>
            <a:off x="1428228" y="1573083"/>
            <a:ext cx="1805441" cy="1894017"/>
            <a:chOff x="1387588" y="2182683"/>
            <a:chExt cx="1805441" cy="1894017"/>
          </a:xfrm>
        </p:grpSpPr>
        <p:sp>
          <p:nvSpPr>
            <p:cNvPr id="11" name="Rectangle: Top Corners Rounded 11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PART</a:t>
              </a:r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" name="TextBox 28"/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5" name="Freeform: Shape 10"/>
          <p:cNvSpPr/>
          <p:nvPr/>
        </p:nvSpPr>
        <p:spPr>
          <a:xfrm flipV="1">
            <a:off x="1535158" y="2533650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96" y="4296023"/>
            <a:ext cx="905768" cy="905768"/>
          </a:xfrm>
          <a:prstGeom prst="rect">
            <a:avLst/>
          </a:prstGeom>
        </p:spPr>
      </p:pic>
      <p:grpSp>
        <p:nvGrpSpPr>
          <p:cNvPr id="17" name="Group 54"/>
          <p:cNvGrpSpPr/>
          <p:nvPr/>
        </p:nvGrpSpPr>
        <p:grpSpPr>
          <a:xfrm>
            <a:off x="1529489" y="3001594"/>
            <a:ext cx="1591582" cy="1294429"/>
            <a:chOff x="1488849" y="3837442"/>
            <a:chExt cx="1591582" cy="1048049"/>
          </a:xfrm>
        </p:grpSpPr>
        <p:sp>
          <p:nvSpPr>
            <p:cNvPr id="18" name="TextBox 45"/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思维</a:t>
              </a:r>
              <a:endParaRPr lang="en-US" b="1" dirty="0">
                <a:solidFill>
                  <a:srgbClr val="EF3078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9" name="TextBox 46"/>
            <p:cNvSpPr txBox="1"/>
            <p:nvPr/>
          </p:nvSpPr>
          <p:spPr>
            <a:xfrm>
              <a:off x="1488849" y="4146827"/>
              <a:ext cx="15915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脑海里中不需要的想法、怀疑、或冲动</a:t>
              </a:r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818223" y="1280971"/>
            <a:ext cx="210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EF3078"/>
                </a:solidFill>
              </a:rPr>
              <a:t>强迫思维</a:t>
            </a:r>
            <a:endParaRPr lang="zh-CN" altLang="en-US" sz="3600" dirty="0">
              <a:solidFill>
                <a:srgbClr val="EF3078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696497" y="1927302"/>
            <a:ext cx="7202455" cy="0"/>
          </a:xfrm>
          <a:prstGeom prst="line">
            <a:avLst/>
          </a:prstGeom>
          <a:ln w="38100">
            <a:solidFill>
              <a:srgbClr val="EF3078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818223" y="2138785"/>
            <a:ext cx="3462892" cy="442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强迫性穷思竭虑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明知毫无意义，却无法克制，反复思考一些无意义的事。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如：为什么太阳是圆的，不是方的；为什么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加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等于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不等于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等问题。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70" y="2533650"/>
            <a:ext cx="4211536" cy="23488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典 型 症 状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53"/>
          <p:cNvGrpSpPr/>
          <p:nvPr/>
        </p:nvGrpSpPr>
        <p:grpSpPr>
          <a:xfrm>
            <a:off x="1428228" y="1573083"/>
            <a:ext cx="1805441" cy="1894017"/>
            <a:chOff x="1387588" y="2182683"/>
            <a:chExt cx="1805441" cy="1894017"/>
          </a:xfrm>
        </p:grpSpPr>
        <p:sp>
          <p:nvSpPr>
            <p:cNvPr id="11" name="Rectangle: Top Corners Rounded 11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PART</a:t>
              </a:r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" name="TextBox 28"/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5" name="Freeform: Shape 10"/>
          <p:cNvSpPr/>
          <p:nvPr/>
        </p:nvSpPr>
        <p:spPr>
          <a:xfrm flipV="1">
            <a:off x="1535158" y="2533650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96" y="4296023"/>
            <a:ext cx="905768" cy="905768"/>
          </a:xfrm>
          <a:prstGeom prst="rect">
            <a:avLst/>
          </a:prstGeom>
        </p:spPr>
      </p:pic>
      <p:grpSp>
        <p:nvGrpSpPr>
          <p:cNvPr id="17" name="Group 54"/>
          <p:cNvGrpSpPr/>
          <p:nvPr/>
        </p:nvGrpSpPr>
        <p:grpSpPr>
          <a:xfrm>
            <a:off x="1529489" y="3001594"/>
            <a:ext cx="1591582" cy="1294429"/>
            <a:chOff x="1488849" y="3837442"/>
            <a:chExt cx="1591582" cy="1048049"/>
          </a:xfrm>
        </p:grpSpPr>
        <p:sp>
          <p:nvSpPr>
            <p:cNvPr id="18" name="TextBox 45"/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思维</a:t>
              </a:r>
              <a:endParaRPr lang="en-US" b="1" dirty="0">
                <a:solidFill>
                  <a:srgbClr val="EF3078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9" name="TextBox 46"/>
            <p:cNvSpPr txBox="1"/>
            <p:nvPr/>
          </p:nvSpPr>
          <p:spPr>
            <a:xfrm>
              <a:off x="1488849" y="4146827"/>
              <a:ext cx="15915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脑海里中不需要的想法、怀疑、或冲动</a:t>
              </a:r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818223" y="1280971"/>
            <a:ext cx="210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EF3078"/>
                </a:solidFill>
              </a:rPr>
              <a:t>强迫思维</a:t>
            </a:r>
            <a:endParaRPr lang="zh-CN" altLang="en-US" sz="3600" dirty="0">
              <a:solidFill>
                <a:srgbClr val="EF3078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696497" y="1927302"/>
            <a:ext cx="7202455" cy="0"/>
          </a:xfrm>
          <a:prstGeom prst="line">
            <a:avLst/>
          </a:prstGeom>
          <a:ln w="38100">
            <a:solidFill>
              <a:srgbClr val="EF3078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818222" y="2138785"/>
            <a:ext cx="7080729" cy="465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强迫联想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脑海中听到或看到某一观念或一句话，便自然而然地想到一些令人不快的事情。如，看到下雨就想到水灾；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强迫对立观念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看到一句话或脑中出现一个念头时，便不由自主地联想到相反的词句或观念。如想起“和平”，马上联想到“战争”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18222" y="5217516"/>
            <a:ext cx="3457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强迫回忆、强迫意向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典 型 症 状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53"/>
          <p:cNvGrpSpPr/>
          <p:nvPr/>
        </p:nvGrpSpPr>
        <p:grpSpPr>
          <a:xfrm>
            <a:off x="1428228" y="1573083"/>
            <a:ext cx="1805441" cy="1894017"/>
            <a:chOff x="1387588" y="2182683"/>
            <a:chExt cx="1805441" cy="1894017"/>
          </a:xfrm>
        </p:grpSpPr>
        <p:sp>
          <p:nvSpPr>
            <p:cNvPr id="11" name="Rectangle: Top Corners Rounded 11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PART</a:t>
              </a:r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" name="TextBox 28"/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5" name="Freeform: Shape 10"/>
          <p:cNvSpPr/>
          <p:nvPr/>
        </p:nvSpPr>
        <p:spPr>
          <a:xfrm flipV="1">
            <a:off x="1535158" y="2533650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54"/>
          <p:cNvGrpSpPr/>
          <p:nvPr/>
        </p:nvGrpSpPr>
        <p:grpSpPr>
          <a:xfrm>
            <a:off x="1535157" y="3077914"/>
            <a:ext cx="1591582" cy="1108006"/>
            <a:chOff x="1488849" y="3837442"/>
            <a:chExt cx="1591582" cy="832605"/>
          </a:xfrm>
        </p:grpSpPr>
        <p:sp>
          <p:nvSpPr>
            <p:cNvPr id="18" name="TextBox 45"/>
            <p:cNvSpPr txBox="1"/>
            <p:nvPr/>
          </p:nvSpPr>
          <p:spPr>
            <a:xfrm>
              <a:off x="1488849" y="3837442"/>
              <a:ext cx="1591582" cy="27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E9524"/>
                  </a:solidFill>
                  <a:latin typeface="Tw Cen MT" panose="020B0602020104020603" pitchFamily="34" charset="0"/>
                </a:rPr>
                <a:t>行为</a:t>
              </a:r>
              <a:endParaRPr lang="en-US" b="1" dirty="0">
                <a:solidFill>
                  <a:srgbClr val="EE952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9" name="TextBox 46"/>
            <p:cNvSpPr txBox="1"/>
            <p:nvPr/>
          </p:nvSpPr>
          <p:spPr>
            <a:xfrm>
              <a:off x="1488849" y="4146827"/>
              <a:ext cx="15915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重复的行为或者心理活动</a:t>
              </a:r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818223" y="1280971"/>
            <a:ext cx="210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EE9524"/>
                </a:solidFill>
              </a:rPr>
              <a:t>强迫行为</a:t>
            </a:r>
            <a:endParaRPr lang="zh-CN" altLang="en-US" sz="3600" dirty="0">
              <a:solidFill>
                <a:srgbClr val="EE9524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3696497" y="1927302"/>
            <a:ext cx="7202455" cy="0"/>
          </a:xfrm>
          <a:prstGeom prst="line">
            <a:avLst/>
          </a:prstGeom>
          <a:ln w="38100">
            <a:solidFill>
              <a:srgbClr val="EE952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0" name="Picture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94" y="4208454"/>
            <a:ext cx="905770" cy="905768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3818223" y="2122246"/>
            <a:ext cx="7080729" cy="169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指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重复的行为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或者心理活动，常在强迫思维之后出现，或受其所驱使。患者的强迫行为多为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非自愿的，但又很少被克制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696497" y="3837777"/>
            <a:ext cx="81485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1C7CBB"/>
                </a:solidFill>
              </a:rPr>
              <a:t>强迫检查</a:t>
            </a:r>
            <a:r>
              <a:rPr lang="en-US" altLang="zh-CN" sz="3200" b="1" dirty="0">
                <a:solidFill>
                  <a:srgbClr val="1C7CBB"/>
                </a:solidFill>
              </a:rPr>
              <a:t>			  </a:t>
            </a:r>
            <a:r>
              <a:rPr lang="zh-CN" altLang="en-US" sz="3200" b="1" dirty="0">
                <a:solidFill>
                  <a:srgbClr val="1C7CBB"/>
                </a:solidFill>
              </a:rPr>
              <a:t>强迫清洗</a:t>
            </a:r>
            <a:endParaRPr lang="en-US" altLang="zh-CN" sz="3200" b="1" dirty="0">
              <a:solidFill>
                <a:srgbClr val="1C7CB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为减轻强迫性怀疑而采取的措施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  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为了消除对脏物或细菌污染的担心，而反复洗手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3200" b="1" dirty="0">
                <a:solidFill>
                  <a:srgbClr val="1C7CBB"/>
                </a:solidFill>
              </a:rPr>
              <a:t>强迫询问</a:t>
            </a:r>
            <a:r>
              <a:rPr lang="en-US" altLang="zh-CN" sz="3200" b="1" dirty="0">
                <a:solidFill>
                  <a:srgbClr val="1C7CBB"/>
                </a:solidFill>
              </a:rPr>
              <a:t>			  </a:t>
            </a:r>
            <a:r>
              <a:rPr lang="zh-CN" altLang="en-US" sz="3200" b="1" dirty="0">
                <a:solidFill>
                  <a:srgbClr val="1C7CBB"/>
                </a:solidFill>
              </a:rPr>
              <a:t>强迫计数</a:t>
            </a:r>
            <a:endParaRPr lang="en-US" altLang="zh-CN" sz="3200" b="1" dirty="0">
              <a:solidFill>
                <a:srgbClr val="1C7CBB"/>
              </a:solidFill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因不能相信自己的所见所闻，常反复询问他人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对数字产生了强迫观念，沉浸在无意义计数动作中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典 型 症 状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53"/>
          <p:cNvGrpSpPr/>
          <p:nvPr/>
        </p:nvGrpSpPr>
        <p:grpSpPr>
          <a:xfrm>
            <a:off x="1428228" y="1573083"/>
            <a:ext cx="1805441" cy="1894017"/>
            <a:chOff x="1387588" y="2182683"/>
            <a:chExt cx="1805441" cy="1894017"/>
          </a:xfrm>
        </p:grpSpPr>
        <p:sp>
          <p:nvSpPr>
            <p:cNvPr id="11" name="Rectangle: Top Corners Rounded 11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PART</a:t>
              </a:r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" name="TextBox 28"/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5" name="Freeform: Shape 10"/>
          <p:cNvSpPr/>
          <p:nvPr/>
        </p:nvSpPr>
        <p:spPr>
          <a:xfrm flipV="1">
            <a:off x="1535158" y="2533650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54"/>
          <p:cNvGrpSpPr/>
          <p:nvPr/>
        </p:nvGrpSpPr>
        <p:grpSpPr>
          <a:xfrm>
            <a:off x="1535157" y="3077914"/>
            <a:ext cx="1591582" cy="1108006"/>
            <a:chOff x="1488849" y="3837442"/>
            <a:chExt cx="1591582" cy="832605"/>
          </a:xfrm>
        </p:grpSpPr>
        <p:sp>
          <p:nvSpPr>
            <p:cNvPr id="18" name="TextBox 45"/>
            <p:cNvSpPr txBox="1"/>
            <p:nvPr/>
          </p:nvSpPr>
          <p:spPr>
            <a:xfrm>
              <a:off x="1488849" y="3837442"/>
              <a:ext cx="1591582" cy="27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E9524"/>
                  </a:solidFill>
                  <a:latin typeface="Tw Cen MT" panose="020B0602020104020603" pitchFamily="34" charset="0"/>
                </a:rPr>
                <a:t>行为</a:t>
              </a:r>
              <a:endParaRPr lang="en-US" b="1" dirty="0">
                <a:solidFill>
                  <a:srgbClr val="EE952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9" name="TextBox 46"/>
            <p:cNvSpPr txBox="1"/>
            <p:nvPr/>
          </p:nvSpPr>
          <p:spPr>
            <a:xfrm>
              <a:off x="1488849" y="4146827"/>
              <a:ext cx="15915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重复的行为或者心理活动</a:t>
              </a:r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818223" y="1280971"/>
            <a:ext cx="210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EE9524"/>
                </a:solidFill>
              </a:rPr>
              <a:t>强迫行为</a:t>
            </a:r>
            <a:endParaRPr lang="zh-CN" altLang="en-US" sz="3600" dirty="0">
              <a:solidFill>
                <a:srgbClr val="EE9524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3696497" y="1927302"/>
            <a:ext cx="7202455" cy="0"/>
          </a:xfrm>
          <a:prstGeom prst="line">
            <a:avLst/>
          </a:prstGeom>
          <a:ln w="38100">
            <a:solidFill>
              <a:srgbClr val="EE952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0" name="Picture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94" y="4208454"/>
            <a:ext cx="905770" cy="90576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223" y="2219414"/>
            <a:ext cx="7258050" cy="3810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696497" y="6136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https://www.bilibili.com/video/BV1ts411S7Xt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8321" y="1597432"/>
            <a:ext cx="803887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什么导致了</a:t>
            </a:r>
            <a:endParaRPr lang="en-US" altLang="zh-CN" sz="9600" dirty="0">
              <a:solidFill>
                <a:schemeClr val="tx1">
                  <a:lumMod val="50000"/>
                  <a:lumOff val="50000"/>
                </a:schemeClr>
              </a:solidFill>
              <a:latin typeface="Tw Cen MT" panose="020B0602020104020603" pitchFamily="34" charset="0"/>
            </a:endParaRPr>
          </a:p>
          <a:p>
            <a:pPr algn="ctr"/>
            <a:r>
              <a:rPr lang="zh-CN" altLang="en-US" sz="11800" dirty="0">
                <a:solidFill>
                  <a:srgbClr val="EF3078"/>
                </a:solidFill>
                <a:latin typeface="Tw Cen MT" panose="020B0602020104020603" pitchFamily="34" charset="0"/>
              </a:rPr>
              <a:t>强 迫 症</a:t>
            </a:r>
            <a:endParaRPr lang="en-US" sz="11800" dirty="0">
              <a:solidFill>
                <a:srgbClr val="EF3078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7110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强 迫 症 病 因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209" y="806255"/>
            <a:ext cx="9577538" cy="588064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7110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社 会 心 理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7712" y="1204822"/>
            <a:ext cx="5526110" cy="490805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037" y="4445983"/>
            <a:ext cx="5274310" cy="22409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 descr="工作生活压力大如何“减压”？这六个方法送给你_新闻频道_央视网(cctv.com)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013" y="4388133"/>
            <a:ext cx="3808095" cy="2436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文本框 1"/>
          <p:cNvSpPr txBox="1"/>
          <p:nvPr/>
        </p:nvSpPr>
        <p:spPr>
          <a:xfrm>
            <a:off x="3639287" y="1165494"/>
            <a:ext cx="245665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85723"/>
                </a:solidFill>
              </a:rPr>
              <a:t>  家庭</a:t>
            </a:r>
            <a:endParaRPr lang="en-US" altLang="zh-CN" sz="2800" b="1" dirty="0">
              <a:solidFill>
                <a:srgbClr val="385723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家庭功能不健全，如父母离异或关系紧张，以及父母管教过于严厉，都可能引发孩子的强迫症。此外，父母的人格特点也可能影响孩子的心理健康。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1573" y="1165494"/>
            <a:ext cx="245665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1C7CBB"/>
                </a:solidFill>
              </a:rPr>
              <a:t>  学校</a:t>
            </a:r>
            <a:endParaRPr lang="en-US" altLang="zh-CN" sz="2800" b="1" dirty="0">
              <a:solidFill>
                <a:srgbClr val="1C7CBB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学校以学生的学习成绩考核教师，而教师又将工作压力和心理压力传递给学生，对学生学习要求过严，对学习成绩要求苛刻，从而导致学生强迫症的产生。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43478" y="1165494"/>
            <a:ext cx="308787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F3078"/>
                </a:solidFill>
              </a:rPr>
              <a:t>  社会</a:t>
            </a:r>
            <a:endParaRPr lang="en-US" altLang="zh-CN" sz="2800" b="1" dirty="0">
              <a:solidFill>
                <a:srgbClr val="EF3078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高度紧张的工作环境会增加人们的生理和心理负担，尤其是性格缺陷的人更容易产生强迫心理或行为，从而诱发强迫症。工作性质也影响人们的心理特征和行为特征，例如会计、银行职员等需要大量校对检查的工作更容易诱发强迫症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生 物 学 因 素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6" t="25574" r="16965" b="26881"/>
          <a:stretch>
            <a:fillRect/>
          </a:stretch>
        </p:blipFill>
        <p:spPr>
          <a:xfrm>
            <a:off x="156959" y="2693892"/>
            <a:ext cx="4410312" cy="196238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271" y="1451725"/>
            <a:ext cx="3452159" cy="24843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074" y="3936060"/>
            <a:ext cx="3550330" cy="23762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文本框 14"/>
          <p:cNvSpPr txBox="1"/>
          <p:nvPr/>
        </p:nvSpPr>
        <p:spPr>
          <a:xfrm>
            <a:off x="4719429" y="4216393"/>
            <a:ext cx="2943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EE9524"/>
                </a:solidFill>
              </a:rPr>
              <a:t>多巴胺</a:t>
            </a:r>
            <a:r>
              <a:rPr lang="zh-CN" altLang="en-US" sz="2000" b="1" dirty="0">
                <a:solidFill>
                  <a:srgbClr val="EE9524"/>
                </a:solidFill>
              </a:rPr>
              <a:t>（</a:t>
            </a:r>
            <a:r>
              <a:rPr lang="en-US" altLang="zh-CN" sz="2000" b="1" dirty="0">
                <a:solidFill>
                  <a:srgbClr val="EE9524"/>
                </a:solidFill>
              </a:rPr>
              <a:t>Dopamine, DA</a:t>
            </a:r>
            <a:r>
              <a:rPr lang="zh-CN" altLang="en-US" sz="2000" b="1" dirty="0">
                <a:solidFill>
                  <a:srgbClr val="EE9524"/>
                </a:solidFill>
              </a:rPr>
              <a:t>）</a:t>
            </a:r>
            <a:br>
              <a:rPr lang="en-US" altLang="zh-CN" sz="2000" b="1" dirty="0">
                <a:solidFill>
                  <a:srgbClr val="1C7CBB"/>
                </a:solidFill>
              </a:rPr>
            </a:b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一种神经递质，主要传递快乐的感觉，控制情欲，同时也与上瘾有关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261302" y="1632063"/>
            <a:ext cx="31238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C7CBB"/>
                </a:solidFill>
              </a:rPr>
              <a:t>5</a:t>
            </a:r>
            <a:r>
              <a:rPr lang="en-US" altLang="zh-CN" sz="2000" b="1" dirty="0">
                <a:solidFill>
                  <a:srgbClr val="1C7CBB"/>
                </a:solidFill>
              </a:rPr>
              <a:t>-</a:t>
            </a:r>
            <a:r>
              <a:rPr lang="zh-CN" altLang="en-US" sz="2000" b="1" dirty="0">
                <a:solidFill>
                  <a:srgbClr val="1C7CBB"/>
                </a:solidFill>
              </a:rPr>
              <a:t>羟色胺（</a:t>
            </a:r>
            <a:r>
              <a:rPr lang="en-US" altLang="zh-CN" sz="2000" b="1" dirty="0">
                <a:solidFill>
                  <a:srgbClr val="1C7CBB"/>
                </a:solidFill>
              </a:rPr>
              <a:t>5-HT</a:t>
            </a:r>
            <a:r>
              <a:rPr lang="zh-CN" altLang="en-US" sz="2000" b="1" dirty="0">
                <a:solidFill>
                  <a:srgbClr val="1C7CBB"/>
                </a:solidFill>
              </a:rPr>
              <a:t>）</a:t>
            </a:r>
            <a:br>
              <a:rPr lang="en-US" altLang="zh-CN" sz="2000" b="1" dirty="0">
                <a:solidFill>
                  <a:srgbClr val="1C7CBB"/>
                </a:solidFill>
              </a:rPr>
            </a:b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一种重要的神经递质，参与睡眠、体温、胃肠道运动等生理功能的调节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dirty="0"/>
          </a:p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261302" y="3136757"/>
            <a:ext cx="3452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传递理智冷静，对人有</a:t>
            </a:r>
            <a:r>
              <a:rPr lang="zh-CN" altLang="en-US" b="1" dirty="0">
                <a:solidFill>
                  <a:srgbClr val="1C7CBB"/>
                </a:solidFill>
              </a:rPr>
              <a:t>镇静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作用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719429" y="5601387"/>
            <a:ext cx="3452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传递兴奋快乐，对人有</a:t>
            </a:r>
            <a:r>
              <a:rPr lang="zh-CN" altLang="en-US" b="1" dirty="0">
                <a:solidFill>
                  <a:srgbClr val="EE9524"/>
                </a:solidFill>
              </a:rPr>
              <a:t>亢奋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作用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生 物 学 因 素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30463" y="1107161"/>
            <a:ext cx="3452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传递兴奋快乐，对人有</a:t>
            </a:r>
            <a:r>
              <a:rPr lang="zh-CN" altLang="en-US" b="1" dirty="0">
                <a:solidFill>
                  <a:srgbClr val="EE9524"/>
                </a:solidFill>
              </a:rPr>
              <a:t>亢奋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作用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30462" y="3844969"/>
            <a:ext cx="3452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传递理智冷静，对人有</a:t>
            </a:r>
            <a:r>
              <a:rPr lang="zh-CN" altLang="en-US" b="1" dirty="0">
                <a:solidFill>
                  <a:srgbClr val="1C7CBB"/>
                </a:solidFill>
              </a:rPr>
              <a:t>镇静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作用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002" y="1610225"/>
            <a:ext cx="7933671" cy="210101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931" y="4348774"/>
            <a:ext cx="7855457" cy="1865412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00138" y="2429898"/>
            <a:ext cx="1174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EE9524"/>
                </a:solidFill>
              </a:rPr>
              <a:t>多巴胺</a:t>
            </a:r>
            <a:endParaRPr lang="zh-CN" altLang="en-US" sz="2400" b="1" dirty="0">
              <a:solidFill>
                <a:srgbClr val="EE9524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84857" y="5050647"/>
            <a:ext cx="140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1C7CBB"/>
                </a:solidFill>
              </a:rPr>
              <a:t>五羟色胺</a:t>
            </a:r>
            <a:endParaRPr lang="zh-CN" altLang="en-US" sz="2400" b="1" dirty="0">
              <a:solidFill>
                <a:srgbClr val="1C7CB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生 物 学 因 素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4256" y="1770809"/>
            <a:ext cx="2697232" cy="25491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675" y="2092873"/>
            <a:ext cx="3892645" cy="19050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71" y="1770809"/>
            <a:ext cx="2630723" cy="25491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文本框 20"/>
          <p:cNvSpPr txBox="1"/>
          <p:nvPr/>
        </p:nvSpPr>
        <p:spPr>
          <a:xfrm>
            <a:off x="927114" y="4581216"/>
            <a:ext cx="2510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EF3078"/>
                </a:solidFill>
              </a:rPr>
              <a:t>神经递质</a:t>
            </a:r>
            <a:endParaRPr lang="en-US" altLang="zh-CN" sz="2400" b="1" dirty="0">
              <a:solidFill>
                <a:srgbClr val="EF3078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神经细胞之间传递信息的化学物质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96246" y="4565605"/>
            <a:ext cx="24690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EE9524"/>
                </a:solidFill>
              </a:rPr>
              <a:t>转运体基因</a:t>
            </a:r>
            <a:endParaRPr lang="en-US" altLang="zh-CN" dirty="0"/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编码神经递质转运体的基因，负责调控神经递质在突触间隙的</a:t>
            </a:r>
            <a:r>
              <a:rPr lang="zh-CN" altLang="en-US" b="1" dirty="0"/>
              <a:t>浓度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。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9101410" y="4565605"/>
            <a:ext cx="2386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</a:rPr>
              <a:t>受体基因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编码神经递质受体的基因，影响神经递质的</a:t>
            </a:r>
            <a:r>
              <a:rPr lang="zh-CN" altLang="en-US" b="1" dirty="0"/>
              <a:t>作用效果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。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5" name="图形 24" descr="线箭头逆时针弯曲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112073">
            <a:off x="3231579" y="4365273"/>
            <a:ext cx="1451254" cy="1451254"/>
          </a:xfrm>
          <a:prstGeom prst="rect">
            <a:avLst/>
          </a:prstGeom>
        </p:spPr>
      </p:pic>
      <p:pic>
        <p:nvPicPr>
          <p:cNvPr id="26" name="图形 25" descr="线箭头逆时针弯曲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112073">
            <a:off x="7516437" y="4399252"/>
            <a:ext cx="1451254" cy="145125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007797" y="1284445"/>
            <a:ext cx="684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如</a:t>
            </a:r>
            <a:r>
              <a:rPr lang="en-US" altLang="zh-CN" sz="2000" b="1" dirty="0"/>
              <a:t>5-HT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DA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神经递质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均受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转运体基因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受体基因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的影响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4" y="131812"/>
            <a:ext cx="7081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5-</a:t>
            </a:r>
            <a:r>
              <a:rPr lang="en-US" altLang="zh-CN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HT &amp; DA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071224" y="1656828"/>
            <a:ext cx="99195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       五羟色胺转运体基因的启动子区多态性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(5-</a:t>
            </a:r>
            <a:r>
              <a:rPr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HTTLPR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位于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号和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号染色体上，与强迫症的发生相关。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       5-</a:t>
            </a:r>
            <a:r>
              <a:rPr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HTTLPR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可能通过</a:t>
            </a:r>
            <a:r>
              <a:rPr lang="zh-CN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影响基因的转录活性和五羟色胺转运体蛋白的功能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，影响突触末端对五羟色胺的</a:t>
            </a:r>
            <a:r>
              <a:rPr lang="zh-CN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回收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，从而促使强迫症的形成。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71224" y="990455"/>
            <a:ext cx="2444939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</a:rPr>
              <a:t>5-HT</a:t>
            </a:r>
            <a:r>
              <a:rPr lang="zh-CN" altLang="en-US" sz="2400" b="1" dirty="0">
                <a:solidFill>
                  <a:schemeClr val="accent1"/>
                </a:solidFill>
              </a:rPr>
              <a:t>转运体基因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071224" y="1577795"/>
            <a:ext cx="7202455" cy="0"/>
          </a:xfrm>
          <a:prstGeom prst="line">
            <a:avLst/>
          </a:prstGeom>
          <a:ln w="38100">
            <a:solidFill>
              <a:srgbClr val="1C7CBB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071224" y="2909653"/>
            <a:ext cx="10296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强迫症患者大脑内有两个异常现象：</a:t>
            </a:r>
            <a:r>
              <a:rPr lang="en-US" altLang="zh-CN" dirty="0"/>
              <a:t>1</a:t>
            </a:r>
            <a:r>
              <a:rPr lang="zh-CN" altLang="en-US" dirty="0"/>
              <a:t>、五羟色胺转运蛋白过度活跃；</a:t>
            </a:r>
            <a:r>
              <a:rPr lang="en-US" altLang="zh-CN" dirty="0"/>
              <a:t>2</a:t>
            </a:r>
            <a:r>
              <a:rPr lang="zh-CN" altLang="en-US" dirty="0"/>
              <a:t>、五羟色胺的数量减少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535554" y="3314406"/>
            <a:ext cx="11120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由于传递“冷静”信息的五羟色胺数量减少，人也就无法控制自己，只能任由强迫思维和强迫行为不断执行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071224" y="4263357"/>
            <a:ext cx="10049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多巴胺转运体（</a:t>
            </a:r>
            <a:r>
              <a:rPr lang="en-US" altLang="zh-CN" sz="1800" kern="10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Dopaminetransporter,DAT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）是参与多巴胺系统的一种膜蛋白，在有关多巴胺的神经传导过程中发挥着重要的作用。</a:t>
            </a:r>
            <a:endParaRPr lang="en-US" altLang="zh-CN" sz="1800" kern="1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DAT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异常将会使有关</a:t>
            </a:r>
            <a:r>
              <a:rPr lang="en-US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系统的生物过程出现紊乱。阻断</a:t>
            </a:r>
            <a:r>
              <a:rPr lang="en-US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DAT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，会使突触间隙的</a:t>
            </a:r>
            <a:r>
              <a:rPr lang="en-US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zh-CN" altLang="zh-CN" sz="18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浓度升高，长期这种状态会导致强迫症的发生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71224" y="3604299"/>
            <a:ext cx="2444939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9524"/>
                </a:solidFill>
              </a:rPr>
              <a:t>DA</a:t>
            </a:r>
            <a:r>
              <a:rPr lang="zh-CN" altLang="en-US" sz="2400" b="1" dirty="0">
                <a:solidFill>
                  <a:srgbClr val="EE9524"/>
                </a:solidFill>
              </a:rPr>
              <a:t>转运体</a:t>
            </a:r>
            <a:endParaRPr lang="en-US" altLang="zh-CN" sz="2400" dirty="0"/>
          </a:p>
        </p:txBody>
      </p:sp>
      <p:cxnSp>
        <p:nvCxnSpPr>
          <p:cNvPr id="28" name="直接连接符 27"/>
          <p:cNvCxnSpPr/>
          <p:nvPr/>
        </p:nvCxnSpPr>
        <p:spPr>
          <a:xfrm>
            <a:off x="1071224" y="4191639"/>
            <a:ext cx="7202455" cy="0"/>
          </a:xfrm>
          <a:prstGeom prst="line">
            <a:avLst/>
          </a:prstGeom>
          <a:ln w="38100">
            <a:solidFill>
              <a:srgbClr val="EE952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718807" y="5480949"/>
            <a:ext cx="675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有些患者在经历强迫行为之后，会感觉到兴奋、愉悦、安心放松。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680096" y="5867545"/>
            <a:ext cx="10831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强迫检查之后，带来的安心感；强迫洗涤之后，干净整洁带来的愉悦感等，都和多巴胺数量增多密不可分。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8321" y="1597432"/>
            <a:ext cx="80388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8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</a:rPr>
              <a:t>强 迫 症</a:t>
            </a:r>
            <a:endParaRPr lang="en-US" altLang="zh-CN" sz="98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pPr algn="ctr"/>
            <a:r>
              <a:rPr lang="zh-CN" altLang="en-US" sz="14200" dirty="0">
                <a:solidFill>
                  <a:srgbClr val="EF3078"/>
                </a:solidFill>
                <a:latin typeface="Tw Cen MT" panose="020B0602020104020603" pitchFamily="34" charset="0"/>
              </a:rPr>
              <a:t>怎么治</a:t>
            </a:r>
            <a:endParaRPr lang="en-US" sz="14200" dirty="0">
              <a:solidFill>
                <a:srgbClr val="EF3078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治 疗 方 法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5161095" y="1979134"/>
            <a:ext cx="273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3A1A4"/>
                </a:solidFill>
              </a:rPr>
              <a:t>药 物 治 疗</a:t>
            </a:r>
            <a:endParaRPr lang="en-US" altLang="zh-CN" sz="3600" dirty="0">
              <a:solidFill>
                <a:srgbClr val="03A1A4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25546" y="2302301"/>
            <a:ext cx="1661993" cy="27546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800" b="1" dirty="0">
                <a:solidFill>
                  <a:srgbClr val="385723"/>
                </a:solidFill>
              </a:rPr>
              <a:t>主流方法</a:t>
            </a:r>
            <a:endParaRPr lang="zh-CN" altLang="en-US" sz="4800" b="1" dirty="0">
              <a:solidFill>
                <a:srgbClr val="385723"/>
              </a:solidFill>
            </a:endParaRPr>
          </a:p>
          <a:p>
            <a:endParaRPr lang="zh-CN" altLang="en-US" sz="48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4410236" y="1923542"/>
            <a:ext cx="757517" cy="757517"/>
            <a:chOff x="7901154" y="3092925"/>
            <a:chExt cx="757517" cy="757517"/>
          </a:xfrm>
        </p:grpSpPr>
        <p:sp>
          <p:nvSpPr>
            <p:cNvPr id="36" name="Oval 15"/>
            <p:cNvSpPr/>
            <p:nvPr/>
          </p:nvSpPr>
          <p:spPr>
            <a:xfrm>
              <a:off x="7901154" y="3092925"/>
              <a:ext cx="757517" cy="757517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medical-pills-couple_55254"/>
            <p:cNvSpPr/>
            <p:nvPr/>
          </p:nvSpPr>
          <p:spPr>
            <a:xfrm>
              <a:off x="8079327" y="3244814"/>
              <a:ext cx="401170" cy="453738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88304" h="608274">
                  <a:moveTo>
                    <a:pt x="123596" y="403223"/>
                  </a:moveTo>
                  <a:cubicBezTo>
                    <a:pt x="78566" y="403223"/>
                    <a:pt x="41921" y="439812"/>
                    <a:pt x="41921" y="484867"/>
                  </a:cubicBezTo>
                  <a:cubicBezTo>
                    <a:pt x="41921" y="529828"/>
                    <a:pt x="78566" y="566417"/>
                    <a:pt x="123596" y="566417"/>
                  </a:cubicBezTo>
                  <a:lnTo>
                    <a:pt x="297685" y="566229"/>
                  </a:lnTo>
                  <a:lnTo>
                    <a:pt x="297685" y="403411"/>
                  </a:lnTo>
                  <a:close/>
                  <a:moveTo>
                    <a:pt x="123596" y="361366"/>
                  </a:moveTo>
                  <a:lnTo>
                    <a:pt x="473564" y="361742"/>
                  </a:lnTo>
                  <a:lnTo>
                    <a:pt x="474317" y="361742"/>
                  </a:lnTo>
                  <a:cubicBezTo>
                    <a:pt x="505311" y="364188"/>
                    <a:pt x="534043" y="378015"/>
                    <a:pt x="555239" y="400777"/>
                  </a:cubicBezTo>
                  <a:cubicBezTo>
                    <a:pt x="576623" y="423728"/>
                    <a:pt x="588304" y="453545"/>
                    <a:pt x="588304" y="484773"/>
                  </a:cubicBezTo>
                  <a:cubicBezTo>
                    <a:pt x="588304" y="516095"/>
                    <a:pt x="576623" y="545912"/>
                    <a:pt x="555239" y="568863"/>
                  </a:cubicBezTo>
                  <a:cubicBezTo>
                    <a:pt x="534043" y="591625"/>
                    <a:pt x="505311" y="605452"/>
                    <a:pt x="474317" y="607898"/>
                  </a:cubicBezTo>
                  <a:lnTo>
                    <a:pt x="472716" y="607898"/>
                  </a:lnTo>
                  <a:lnTo>
                    <a:pt x="123690" y="608274"/>
                  </a:lnTo>
                  <a:lnTo>
                    <a:pt x="123596" y="608274"/>
                  </a:lnTo>
                  <a:cubicBezTo>
                    <a:pt x="55486" y="608274"/>
                    <a:pt x="0" y="552873"/>
                    <a:pt x="0" y="484773"/>
                  </a:cubicBezTo>
                  <a:cubicBezTo>
                    <a:pt x="0" y="416767"/>
                    <a:pt x="55486" y="361366"/>
                    <a:pt x="123596" y="361366"/>
                  </a:cubicBezTo>
                  <a:close/>
                  <a:moveTo>
                    <a:pt x="454078" y="41857"/>
                  </a:moveTo>
                  <a:cubicBezTo>
                    <a:pt x="446070" y="41857"/>
                    <a:pt x="438157" y="43080"/>
                    <a:pt x="430337" y="45432"/>
                  </a:cubicBezTo>
                  <a:lnTo>
                    <a:pt x="263779" y="96037"/>
                  </a:lnTo>
                  <a:lnTo>
                    <a:pt x="311071" y="251803"/>
                  </a:lnTo>
                  <a:lnTo>
                    <a:pt x="477818" y="201574"/>
                  </a:lnTo>
                  <a:cubicBezTo>
                    <a:pt x="520870" y="188500"/>
                    <a:pt x="545270" y="142880"/>
                    <a:pt x="532270" y="99800"/>
                  </a:cubicBezTo>
                  <a:cubicBezTo>
                    <a:pt x="521907" y="65749"/>
                    <a:pt x="489782" y="41857"/>
                    <a:pt x="454078" y="41857"/>
                  </a:cubicBezTo>
                  <a:close/>
                  <a:moveTo>
                    <a:pt x="454078" y="0"/>
                  </a:moveTo>
                  <a:cubicBezTo>
                    <a:pt x="480079" y="0"/>
                    <a:pt x="505986" y="8466"/>
                    <a:pt x="527088" y="23798"/>
                  </a:cubicBezTo>
                  <a:cubicBezTo>
                    <a:pt x="548850" y="39694"/>
                    <a:pt x="564583" y="61799"/>
                    <a:pt x="572402" y="87666"/>
                  </a:cubicBezTo>
                  <a:cubicBezTo>
                    <a:pt x="592185" y="152850"/>
                    <a:pt x="555162" y="221892"/>
                    <a:pt x="489971" y="241645"/>
                  </a:cubicBezTo>
                  <a:lnTo>
                    <a:pt x="154970" y="342667"/>
                  </a:lnTo>
                  <a:lnTo>
                    <a:pt x="154217" y="342855"/>
                  </a:lnTo>
                  <a:cubicBezTo>
                    <a:pt x="145455" y="344736"/>
                    <a:pt x="136506" y="345771"/>
                    <a:pt x="127650" y="345771"/>
                  </a:cubicBezTo>
                  <a:cubicBezTo>
                    <a:pt x="101649" y="345771"/>
                    <a:pt x="75742" y="337305"/>
                    <a:pt x="54640" y="321973"/>
                  </a:cubicBezTo>
                  <a:cubicBezTo>
                    <a:pt x="32878" y="306077"/>
                    <a:pt x="17240" y="283972"/>
                    <a:pt x="9326" y="258105"/>
                  </a:cubicBezTo>
                  <a:cubicBezTo>
                    <a:pt x="282" y="228194"/>
                    <a:pt x="2826" y="196213"/>
                    <a:pt x="16580" y="168088"/>
                  </a:cubicBezTo>
                  <a:cubicBezTo>
                    <a:pt x="30240" y="140152"/>
                    <a:pt x="53698" y="118612"/>
                    <a:pt x="82713" y="107324"/>
                  </a:cubicBezTo>
                  <a:lnTo>
                    <a:pt x="84221" y="106760"/>
                  </a:lnTo>
                  <a:lnTo>
                    <a:pt x="418185" y="5362"/>
                  </a:lnTo>
                  <a:cubicBezTo>
                    <a:pt x="429866" y="1787"/>
                    <a:pt x="442019" y="0"/>
                    <a:pt x="454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263185" y="3178306"/>
            <a:ext cx="246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EF3078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404282" y="3147529"/>
            <a:ext cx="756813" cy="707887"/>
            <a:chOff x="7593141" y="1702815"/>
            <a:chExt cx="746242" cy="778861"/>
          </a:xfrm>
        </p:grpSpPr>
        <p:sp>
          <p:nvSpPr>
            <p:cNvPr id="31" name="Oval 10"/>
            <p:cNvSpPr/>
            <p:nvPr/>
          </p:nvSpPr>
          <p:spPr>
            <a:xfrm>
              <a:off x="7593141" y="1702815"/>
              <a:ext cx="746242" cy="778861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psychologist_89886"/>
            <p:cNvSpPr/>
            <p:nvPr/>
          </p:nvSpPr>
          <p:spPr>
            <a:xfrm>
              <a:off x="7796417" y="1876932"/>
              <a:ext cx="382167" cy="501874"/>
            </a:xfrm>
            <a:custGeom>
              <a:avLst/>
              <a:gdLst>
                <a:gd name="T0" fmla="*/ 819 w 4355"/>
                <a:gd name="T1" fmla="*/ 1819 h 5728"/>
                <a:gd name="T2" fmla="*/ 1570 w 4355"/>
                <a:gd name="T3" fmla="*/ 2125 h 5728"/>
                <a:gd name="T4" fmla="*/ 2360 w 4355"/>
                <a:gd name="T5" fmla="*/ 1839 h 5728"/>
                <a:gd name="T6" fmla="*/ 2361 w 4355"/>
                <a:gd name="T7" fmla="*/ 1839 h 5728"/>
                <a:gd name="T8" fmla="*/ 2717 w 4355"/>
                <a:gd name="T9" fmla="*/ 1789 h 5728"/>
                <a:gd name="T10" fmla="*/ 2609 w 4355"/>
                <a:gd name="T11" fmla="*/ 818 h 5728"/>
                <a:gd name="T12" fmla="*/ 1477 w 4355"/>
                <a:gd name="T13" fmla="*/ 0 h 5728"/>
                <a:gd name="T14" fmla="*/ 258 w 4355"/>
                <a:gd name="T15" fmla="*/ 1682 h 5728"/>
                <a:gd name="T16" fmla="*/ 395 w 4355"/>
                <a:gd name="T17" fmla="*/ 1836 h 5728"/>
                <a:gd name="T18" fmla="*/ 1070 w 4355"/>
                <a:gd name="T19" fmla="*/ 1692 h 5728"/>
                <a:gd name="T20" fmla="*/ 1653 w 4355"/>
                <a:gd name="T21" fmla="*/ 941 h 5728"/>
                <a:gd name="T22" fmla="*/ 2011 w 4355"/>
                <a:gd name="T23" fmla="*/ 1614 h 5728"/>
                <a:gd name="T24" fmla="*/ 2003 w 4355"/>
                <a:gd name="T25" fmla="*/ 1623 h 5728"/>
                <a:gd name="T26" fmla="*/ 2346 w 4355"/>
                <a:gd name="T27" fmla="*/ 861 h 5728"/>
                <a:gd name="T28" fmla="*/ 2392 w 4355"/>
                <a:gd name="T29" fmla="*/ 1572 h 5728"/>
                <a:gd name="T30" fmla="*/ 2037 w 4355"/>
                <a:gd name="T31" fmla="*/ 424 h 5728"/>
                <a:gd name="T32" fmla="*/ 659 w 4355"/>
                <a:gd name="T33" fmla="*/ 860 h 5728"/>
                <a:gd name="T34" fmla="*/ 1527 w 4355"/>
                <a:gd name="T35" fmla="*/ 267 h 5728"/>
                <a:gd name="T36" fmla="*/ 1057 w 4355"/>
                <a:gd name="T37" fmla="*/ 826 h 5728"/>
                <a:gd name="T38" fmla="*/ 1024 w 4355"/>
                <a:gd name="T39" fmla="*/ 1091 h 5728"/>
                <a:gd name="T40" fmla="*/ 800 w 4355"/>
                <a:gd name="T41" fmla="*/ 1553 h 5728"/>
                <a:gd name="T42" fmla="*/ 659 w 4355"/>
                <a:gd name="T43" fmla="*/ 860 h 5728"/>
                <a:gd name="T44" fmla="*/ 2588 w 4355"/>
                <a:gd name="T45" fmla="*/ 3320 h 5728"/>
                <a:gd name="T46" fmla="*/ 2448 w 4355"/>
                <a:gd name="T47" fmla="*/ 3662 h 5728"/>
                <a:gd name="T48" fmla="*/ 2715 w 4355"/>
                <a:gd name="T49" fmla="*/ 3662 h 5728"/>
                <a:gd name="T50" fmla="*/ 4088 w 4355"/>
                <a:gd name="T51" fmla="*/ 3587 h 5728"/>
                <a:gd name="T52" fmla="*/ 3911 w 4355"/>
                <a:gd name="T53" fmla="*/ 4482 h 5728"/>
                <a:gd name="T54" fmla="*/ 3475 w 4355"/>
                <a:gd name="T55" fmla="*/ 4453 h 5728"/>
                <a:gd name="T56" fmla="*/ 3346 w 4355"/>
                <a:gd name="T57" fmla="*/ 3987 h 5728"/>
                <a:gd name="T58" fmla="*/ 1582 w 4355"/>
                <a:gd name="T59" fmla="*/ 4120 h 5728"/>
                <a:gd name="T60" fmla="*/ 1655 w 4355"/>
                <a:gd name="T61" fmla="*/ 5704 h 5728"/>
                <a:gd name="T62" fmla="*/ 2155 w 4355"/>
                <a:gd name="T63" fmla="*/ 5387 h 5728"/>
                <a:gd name="T64" fmla="*/ 3475 w 4355"/>
                <a:gd name="T65" fmla="*/ 5253 h 5728"/>
                <a:gd name="T66" fmla="*/ 3779 w 4355"/>
                <a:gd name="T67" fmla="*/ 4720 h 5728"/>
                <a:gd name="T68" fmla="*/ 4225 w 4355"/>
                <a:gd name="T69" fmla="*/ 5046 h 5728"/>
                <a:gd name="T70" fmla="*/ 4355 w 4355"/>
                <a:gd name="T71" fmla="*/ 4912 h 5728"/>
                <a:gd name="T72" fmla="*/ 4225 w 4355"/>
                <a:gd name="T73" fmla="*/ 3320 h 5728"/>
                <a:gd name="T74" fmla="*/ 2107 w 4355"/>
                <a:gd name="T75" fmla="*/ 5120 h 5728"/>
                <a:gd name="T76" fmla="*/ 1848 w 4355"/>
                <a:gd name="T77" fmla="*/ 5299 h 5728"/>
                <a:gd name="T78" fmla="*/ 3208 w 4355"/>
                <a:gd name="T79" fmla="*/ 4253 h 5728"/>
                <a:gd name="T80" fmla="*/ 1187 w 4355"/>
                <a:gd name="T81" fmla="*/ 2712 h 5728"/>
                <a:gd name="T82" fmla="*/ 299 w 4355"/>
                <a:gd name="T83" fmla="*/ 4853 h 5728"/>
                <a:gd name="T84" fmla="*/ 1174 w 4355"/>
                <a:gd name="T85" fmla="*/ 4987 h 5728"/>
                <a:gd name="T86" fmla="*/ 138 w 4355"/>
                <a:gd name="T87" fmla="*/ 5120 h 5728"/>
                <a:gd name="T88" fmla="*/ 7 w 4355"/>
                <a:gd name="T89" fmla="*/ 4962 h 5728"/>
                <a:gd name="T90" fmla="*/ 1116 w 4355"/>
                <a:gd name="T91" fmla="*/ 2455 h 5728"/>
                <a:gd name="T92" fmla="*/ 2458 w 4355"/>
                <a:gd name="T93" fmla="*/ 2799 h 5728"/>
                <a:gd name="T94" fmla="*/ 2258 w 4355"/>
                <a:gd name="T95" fmla="*/ 2974 h 5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55" h="5728">
                  <a:moveTo>
                    <a:pt x="395" y="1836"/>
                  </a:moveTo>
                  <a:lnTo>
                    <a:pt x="819" y="1819"/>
                  </a:lnTo>
                  <a:cubicBezTo>
                    <a:pt x="976" y="1993"/>
                    <a:pt x="1187" y="2101"/>
                    <a:pt x="1415" y="2123"/>
                  </a:cubicBezTo>
                  <a:cubicBezTo>
                    <a:pt x="1438" y="2126"/>
                    <a:pt x="1548" y="2127"/>
                    <a:pt x="1570" y="2125"/>
                  </a:cubicBezTo>
                  <a:cubicBezTo>
                    <a:pt x="1795" y="2108"/>
                    <a:pt x="2006" y="2008"/>
                    <a:pt x="2165" y="1841"/>
                  </a:cubicBezTo>
                  <a:lnTo>
                    <a:pt x="2360" y="1839"/>
                  </a:lnTo>
                  <a:cubicBezTo>
                    <a:pt x="2360" y="1839"/>
                    <a:pt x="2360" y="1839"/>
                    <a:pt x="2360" y="1839"/>
                  </a:cubicBezTo>
                  <a:cubicBezTo>
                    <a:pt x="2360" y="1839"/>
                    <a:pt x="2360" y="1839"/>
                    <a:pt x="2361" y="1839"/>
                  </a:cubicBezTo>
                  <a:lnTo>
                    <a:pt x="2617" y="1836"/>
                  </a:lnTo>
                  <a:cubicBezTo>
                    <a:pt x="2656" y="1836"/>
                    <a:pt x="2692" y="1818"/>
                    <a:pt x="2717" y="1789"/>
                  </a:cubicBezTo>
                  <a:cubicBezTo>
                    <a:pt x="2742" y="1759"/>
                    <a:pt x="2753" y="1720"/>
                    <a:pt x="2747" y="1682"/>
                  </a:cubicBezTo>
                  <a:lnTo>
                    <a:pt x="2609" y="818"/>
                  </a:lnTo>
                  <a:cubicBezTo>
                    <a:pt x="2537" y="367"/>
                    <a:pt x="2052" y="0"/>
                    <a:pt x="1527" y="0"/>
                  </a:cubicBezTo>
                  <a:lnTo>
                    <a:pt x="1477" y="0"/>
                  </a:lnTo>
                  <a:cubicBezTo>
                    <a:pt x="953" y="0"/>
                    <a:pt x="468" y="367"/>
                    <a:pt x="396" y="818"/>
                  </a:cubicBezTo>
                  <a:lnTo>
                    <a:pt x="258" y="1682"/>
                  </a:lnTo>
                  <a:cubicBezTo>
                    <a:pt x="251" y="1721"/>
                    <a:pt x="263" y="1761"/>
                    <a:pt x="290" y="1791"/>
                  </a:cubicBezTo>
                  <a:cubicBezTo>
                    <a:pt x="316" y="1821"/>
                    <a:pt x="355" y="1838"/>
                    <a:pt x="395" y="1836"/>
                  </a:cubicBezTo>
                  <a:close/>
                  <a:moveTo>
                    <a:pt x="1490" y="1861"/>
                  </a:moveTo>
                  <a:cubicBezTo>
                    <a:pt x="1334" y="1858"/>
                    <a:pt x="1186" y="1798"/>
                    <a:pt x="1070" y="1692"/>
                  </a:cubicBezTo>
                  <a:cubicBezTo>
                    <a:pt x="1254" y="1541"/>
                    <a:pt x="1374" y="1313"/>
                    <a:pt x="1399" y="1060"/>
                  </a:cubicBezTo>
                  <a:cubicBezTo>
                    <a:pt x="1487" y="1034"/>
                    <a:pt x="1573" y="995"/>
                    <a:pt x="1653" y="941"/>
                  </a:cubicBezTo>
                  <a:cubicBezTo>
                    <a:pt x="1724" y="1211"/>
                    <a:pt x="1848" y="1443"/>
                    <a:pt x="2012" y="1612"/>
                  </a:cubicBezTo>
                  <a:cubicBezTo>
                    <a:pt x="2012" y="1613"/>
                    <a:pt x="2011" y="1613"/>
                    <a:pt x="2011" y="1614"/>
                  </a:cubicBezTo>
                  <a:cubicBezTo>
                    <a:pt x="2009" y="1616"/>
                    <a:pt x="2007" y="1618"/>
                    <a:pt x="2006" y="1619"/>
                  </a:cubicBezTo>
                  <a:cubicBezTo>
                    <a:pt x="2005" y="1620"/>
                    <a:pt x="2004" y="1622"/>
                    <a:pt x="2003" y="1623"/>
                  </a:cubicBezTo>
                  <a:cubicBezTo>
                    <a:pt x="1873" y="1778"/>
                    <a:pt x="1686" y="1865"/>
                    <a:pt x="1490" y="1861"/>
                  </a:cubicBezTo>
                  <a:close/>
                  <a:moveTo>
                    <a:pt x="2346" y="861"/>
                  </a:moveTo>
                  <a:lnTo>
                    <a:pt x="2459" y="1571"/>
                  </a:lnTo>
                  <a:lnTo>
                    <a:pt x="2392" y="1572"/>
                  </a:lnTo>
                  <a:cubicBezTo>
                    <a:pt x="2134" y="1432"/>
                    <a:pt x="1946" y="1121"/>
                    <a:pt x="1879" y="726"/>
                  </a:cubicBezTo>
                  <a:cubicBezTo>
                    <a:pt x="1943" y="642"/>
                    <a:pt x="1997" y="541"/>
                    <a:pt x="2037" y="424"/>
                  </a:cubicBezTo>
                  <a:cubicBezTo>
                    <a:pt x="2200" y="534"/>
                    <a:pt x="2318" y="690"/>
                    <a:pt x="2346" y="861"/>
                  </a:cubicBezTo>
                  <a:close/>
                  <a:moveTo>
                    <a:pt x="659" y="860"/>
                  </a:moveTo>
                  <a:cubicBezTo>
                    <a:pt x="710" y="539"/>
                    <a:pt x="1085" y="267"/>
                    <a:pt x="1477" y="267"/>
                  </a:cubicBezTo>
                  <a:lnTo>
                    <a:pt x="1527" y="267"/>
                  </a:lnTo>
                  <a:cubicBezTo>
                    <a:pt x="1619" y="267"/>
                    <a:pt x="1709" y="282"/>
                    <a:pt x="1794" y="308"/>
                  </a:cubicBezTo>
                  <a:cubicBezTo>
                    <a:pt x="1670" y="713"/>
                    <a:pt x="1342" y="862"/>
                    <a:pt x="1057" y="826"/>
                  </a:cubicBezTo>
                  <a:cubicBezTo>
                    <a:pt x="984" y="817"/>
                    <a:pt x="918" y="869"/>
                    <a:pt x="908" y="942"/>
                  </a:cubicBezTo>
                  <a:cubicBezTo>
                    <a:pt x="899" y="1015"/>
                    <a:pt x="951" y="1082"/>
                    <a:pt x="1024" y="1091"/>
                  </a:cubicBezTo>
                  <a:cubicBezTo>
                    <a:pt x="1057" y="1095"/>
                    <a:pt x="1091" y="1097"/>
                    <a:pt x="1124" y="1097"/>
                  </a:cubicBezTo>
                  <a:cubicBezTo>
                    <a:pt x="1087" y="1296"/>
                    <a:pt x="969" y="1465"/>
                    <a:pt x="800" y="1553"/>
                  </a:cubicBezTo>
                  <a:lnTo>
                    <a:pt x="547" y="1563"/>
                  </a:lnTo>
                  <a:lnTo>
                    <a:pt x="659" y="860"/>
                  </a:lnTo>
                  <a:close/>
                  <a:moveTo>
                    <a:pt x="4225" y="3320"/>
                  </a:moveTo>
                  <a:lnTo>
                    <a:pt x="2588" y="3320"/>
                  </a:lnTo>
                  <a:cubicBezTo>
                    <a:pt x="2515" y="3320"/>
                    <a:pt x="2448" y="3376"/>
                    <a:pt x="2448" y="3449"/>
                  </a:cubicBezTo>
                  <a:lnTo>
                    <a:pt x="2448" y="3662"/>
                  </a:lnTo>
                  <a:cubicBezTo>
                    <a:pt x="2448" y="3735"/>
                    <a:pt x="2508" y="3795"/>
                    <a:pt x="2582" y="3795"/>
                  </a:cubicBezTo>
                  <a:cubicBezTo>
                    <a:pt x="2655" y="3795"/>
                    <a:pt x="2715" y="3735"/>
                    <a:pt x="2715" y="3662"/>
                  </a:cubicBezTo>
                  <a:lnTo>
                    <a:pt x="2715" y="3587"/>
                  </a:lnTo>
                  <a:lnTo>
                    <a:pt x="4088" y="3587"/>
                  </a:lnTo>
                  <a:lnTo>
                    <a:pt x="4088" y="4628"/>
                  </a:lnTo>
                  <a:lnTo>
                    <a:pt x="3911" y="4482"/>
                  </a:lnTo>
                  <a:cubicBezTo>
                    <a:pt x="3887" y="4462"/>
                    <a:pt x="3859" y="4453"/>
                    <a:pt x="3828" y="4453"/>
                  </a:cubicBezTo>
                  <a:lnTo>
                    <a:pt x="3475" y="4453"/>
                  </a:lnTo>
                  <a:lnTo>
                    <a:pt x="3475" y="4120"/>
                  </a:lnTo>
                  <a:cubicBezTo>
                    <a:pt x="3475" y="4046"/>
                    <a:pt x="3420" y="3987"/>
                    <a:pt x="3346" y="3987"/>
                  </a:cubicBezTo>
                  <a:lnTo>
                    <a:pt x="1709" y="3987"/>
                  </a:lnTo>
                  <a:cubicBezTo>
                    <a:pt x="1636" y="3987"/>
                    <a:pt x="1582" y="4046"/>
                    <a:pt x="1582" y="4120"/>
                  </a:cubicBezTo>
                  <a:lnTo>
                    <a:pt x="1582" y="5583"/>
                  </a:lnTo>
                  <a:cubicBezTo>
                    <a:pt x="1582" y="5635"/>
                    <a:pt x="1609" y="5682"/>
                    <a:pt x="1655" y="5704"/>
                  </a:cubicBezTo>
                  <a:cubicBezTo>
                    <a:pt x="1698" y="5728"/>
                    <a:pt x="1771" y="5706"/>
                    <a:pt x="1795" y="5685"/>
                  </a:cubicBezTo>
                  <a:lnTo>
                    <a:pt x="2155" y="5387"/>
                  </a:lnTo>
                  <a:lnTo>
                    <a:pt x="3346" y="5387"/>
                  </a:lnTo>
                  <a:cubicBezTo>
                    <a:pt x="3419" y="5387"/>
                    <a:pt x="3475" y="5327"/>
                    <a:pt x="3475" y="5253"/>
                  </a:cubicBezTo>
                  <a:lnTo>
                    <a:pt x="3475" y="4720"/>
                  </a:lnTo>
                  <a:lnTo>
                    <a:pt x="3779" y="4720"/>
                  </a:lnTo>
                  <a:lnTo>
                    <a:pt x="4140" y="5017"/>
                  </a:lnTo>
                  <a:cubicBezTo>
                    <a:pt x="4164" y="5037"/>
                    <a:pt x="4194" y="5046"/>
                    <a:pt x="4225" y="5046"/>
                  </a:cubicBezTo>
                  <a:cubicBezTo>
                    <a:pt x="4244" y="5046"/>
                    <a:pt x="4262" y="5042"/>
                    <a:pt x="4280" y="5033"/>
                  </a:cubicBezTo>
                  <a:cubicBezTo>
                    <a:pt x="4327" y="5011"/>
                    <a:pt x="4355" y="4964"/>
                    <a:pt x="4355" y="4912"/>
                  </a:cubicBezTo>
                  <a:lnTo>
                    <a:pt x="4355" y="3449"/>
                  </a:lnTo>
                  <a:cubicBezTo>
                    <a:pt x="4355" y="3376"/>
                    <a:pt x="4299" y="3320"/>
                    <a:pt x="4225" y="3320"/>
                  </a:cubicBezTo>
                  <a:close/>
                  <a:moveTo>
                    <a:pt x="3208" y="5120"/>
                  </a:moveTo>
                  <a:lnTo>
                    <a:pt x="2107" y="5120"/>
                  </a:lnTo>
                  <a:cubicBezTo>
                    <a:pt x="2076" y="5120"/>
                    <a:pt x="2048" y="5131"/>
                    <a:pt x="2024" y="5151"/>
                  </a:cubicBezTo>
                  <a:lnTo>
                    <a:pt x="1848" y="5299"/>
                  </a:lnTo>
                  <a:lnTo>
                    <a:pt x="1848" y="4253"/>
                  </a:lnTo>
                  <a:lnTo>
                    <a:pt x="3208" y="4253"/>
                  </a:lnTo>
                  <a:lnTo>
                    <a:pt x="3208" y="5120"/>
                  </a:lnTo>
                  <a:close/>
                  <a:moveTo>
                    <a:pt x="1187" y="2712"/>
                  </a:moveTo>
                  <a:cubicBezTo>
                    <a:pt x="858" y="2803"/>
                    <a:pt x="638" y="3022"/>
                    <a:pt x="584" y="3315"/>
                  </a:cubicBezTo>
                  <a:lnTo>
                    <a:pt x="299" y="4853"/>
                  </a:lnTo>
                  <a:lnTo>
                    <a:pt x="1041" y="4853"/>
                  </a:lnTo>
                  <a:cubicBezTo>
                    <a:pt x="1114" y="4853"/>
                    <a:pt x="1174" y="4913"/>
                    <a:pt x="1174" y="4987"/>
                  </a:cubicBezTo>
                  <a:cubicBezTo>
                    <a:pt x="1174" y="5060"/>
                    <a:pt x="1114" y="5120"/>
                    <a:pt x="1041" y="5120"/>
                  </a:cubicBezTo>
                  <a:lnTo>
                    <a:pt x="138" y="5120"/>
                  </a:lnTo>
                  <a:cubicBezTo>
                    <a:pt x="99" y="5120"/>
                    <a:pt x="61" y="5102"/>
                    <a:pt x="36" y="5072"/>
                  </a:cubicBezTo>
                  <a:cubicBezTo>
                    <a:pt x="11" y="5041"/>
                    <a:pt x="0" y="5001"/>
                    <a:pt x="7" y="4962"/>
                  </a:cubicBezTo>
                  <a:lnTo>
                    <a:pt x="322" y="3266"/>
                  </a:lnTo>
                  <a:cubicBezTo>
                    <a:pt x="395" y="2869"/>
                    <a:pt x="685" y="2574"/>
                    <a:pt x="1116" y="2455"/>
                  </a:cubicBezTo>
                  <a:cubicBezTo>
                    <a:pt x="1347" y="2392"/>
                    <a:pt x="1604" y="2387"/>
                    <a:pt x="1839" y="2443"/>
                  </a:cubicBezTo>
                  <a:cubicBezTo>
                    <a:pt x="2092" y="2502"/>
                    <a:pt x="2306" y="2625"/>
                    <a:pt x="2458" y="2799"/>
                  </a:cubicBezTo>
                  <a:cubicBezTo>
                    <a:pt x="2507" y="2854"/>
                    <a:pt x="2501" y="2938"/>
                    <a:pt x="2446" y="2987"/>
                  </a:cubicBezTo>
                  <a:cubicBezTo>
                    <a:pt x="2390" y="3035"/>
                    <a:pt x="2306" y="3030"/>
                    <a:pt x="2258" y="2974"/>
                  </a:cubicBezTo>
                  <a:cubicBezTo>
                    <a:pt x="2026" y="2710"/>
                    <a:pt x="1586" y="2603"/>
                    <a:pt x="1187" y="27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285123" y="4432718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r>
              <a:rPr lang="en-US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EE9524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404282" y="4377478"/>
            <a:ext cx="756813" cy="756813"/>
            <a:chOff x="7790225" y="4249772"/>
            <a:chExt cx="756813" cy="756813"/>
          </a:xfrm>
        </p:grpSpPr>
        <p:sp>
          <p:nvSpPr>
            <p:cNvPr id="41" name="Oval 21"/>
            <p:cNvSpPr/>
            <p:nvPr/>
          </p:nvSpPr>
          <p:spPr>
            <a:xfrm>
              <a:off x="7790225" y="4249772"/>
              <a:ext cx="756813" cy="756813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ash-lightning-bolt_14963"/>
            <p:cNvSpPr/>
            <p:nvPr/>
          </p:nvSpPr>
          <p:spPr>
            <a:xfrm>
              <a:off x="8029094" y="4395154"/>
              <a:ext cx="290020" cy="466054"/>
            </a:xfrm>
            <a:custGeom>
              <a:avLst/>
              <a:gdLst>
                <a:gd name="T0" fmla="*/ 152 w 497"/>
                <a:gd name="T1" fmla="*/ 800 h 800"/>
                <a:gd name="T2" fmla="*/ 147 w 497"/>
                <a:gd name="T3" fmla="*/ 799 h 800"/>
                <a:gd name="T4" fmla="*/ 139 w 497"/>
                <a:gd name="T5" fmla="*/ 785 h 800"/>
                <a:gd name="T6" fmla="*/ 189 w 497"/>
                <a:gd name="T7" fmla="*/ 462 h 800"/>
                <a:gd name="T8" fmla="*/ 17 w 497"/>
                <a:gd name="T9" fmla="*/ 494 h 800"/>
                <a:gd name="T10" fmla="*/ 3 w 497"/>
                <a:gd name="T11" fmla="*/ 488 h 800"/>
                <a:gd name="T12" fmla="*/ 3 w 497"/>
                <a:gd name="T13" fmla="*/ 473 h 800"/>
                <a:gd name="T14" fmla="*/ 346 w 497"/>
                <a:gd name="T15" fmla="*/ 6 h 800"/>
                <a:gd name="T16" fmla="*/ 361 w 497"/>
                <a:gd name="T17" fmla="*/ 2 h 800"/>
                <a:gd name="T18" fmla="*/ 369 w 497"/>
                <a:gd name="T19" fmla="*/ 16 h 800"/>
                <a:gd name="T20" fmla="*/ 321 w 497"/>
                <a:gd name="T21" fmla="*/ 357 h 800"/>
                <a:gd name="T22" fmla="*/ 480 w 497"/>
                <a:gd name="T23" fmla="*/ 321 h 800"/>
                <a:gd name="T24" fmla="*/ 494 w 497"/>
                <a:gd name="T25" fmla="*/ 327 h 800"/>
                <a:gd name="T26" fmla="*/ 494 w 497"/>
                <a:gd name="T27" fmla="*/ 342 h 800"/>
                <a:gd name="T28" fmla="*/ 163 w 497"/>
                <a:gd name="T29" fmla="*/ 795 h 800"/>
                <a:gd name="T30" fmla="*/ 152 w 497"/>
                <a:gd name="T31" fmla="*/ 800 h 800"/>
                <a:gd name="T32" fmla="*/ 205 w 497"/>
                <a:gd name="T33" fmla="*/ 432 h 800"/>
                <a:gd name="T34" fmla="*/ 214 w 497"/>
                <a:gd name="T35" fmla="*/ 436 h 800"/>
                <a:gd name="T36" fmla="*/ 218 w 497"/>
                <a:gd name="T37" fmla="*/ 447 h 800"/>
                <a:gd name="T38" fmla="*/ 174 w 497"/>
                <a:gd name="T39" fmla="*/ 735 h 800"/>
                <a:gd name="T40" fmla="*/ 451 w 497"/>
                <a:gd name="T41" fmla="*/ 355 h 800"/>
                <a:gd name="T42" fmla="*/ 308 w 497"/>
                <a:gd name="T43" fmla="*/ 387 h 800"/>
                <a:gd name="T44" fmla="*/ 296 w 497"/>
                <a:gd name="T45" fmla="*/ 384 h 800"/>
                <a:gd name="T46" fmla="*/ 292 w 497"/>
                <a:gd name="T47" fmla="*/ 372 h 800"/>
                <a:gd name="T48" fmla="*/ 336 w 497"/>
                <a:gd name="T49" fmla="*/ 65 h 800"/>
                <a:gd name="T50" fmla="*/ 45 w 497"/>
                <a:gd name="T51" fmla="*/ 462 h 800"/>
                <a:gd name="T52" fmla="*/ 203 w 497"/>
                <a:gd name="T53" fmla="*/ 432 h 800"/>
                <a:gd name="T54" fmla="*/ 205 w 497"/>
                <a:gd name="T55" fmla="*/ 432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7" h="800">
                  <a:moveTo>
                    <a:pt x="152" y="800"/>
                  </a:moveTo>
                  <a:cubicBezTo>
                    <a:pt x="150" y="800"/>
                    <a:pt x="148" y="800"/>
                    <a:pt x="147" y="799"/>
                  </a:cubicBezTo>
                  <a:cubicBezTo>
                    <a:pt x="141" y="797"/>
                    <a:pt x="138" y="791"/>
                    <a:pt x="139" y="785"/>
                  </a:cubicBezTo>
                  <a:lnTo>
                    <a:pt x="189" y="462"/>
                  </a:lnTo>
                  <a:lnTo>
                    <a:pt x="17" y="494"/>
                  </a:lnTo>
                  <a:cubicBezTo>
                    <a:pt x="11" y="495"/>
                    <a:pt x="6" y="493"/>
                    <a:pt x="3" y="488"/>
                  </a:cubicBezTo>
                  <a:cubicBezTo>
                    <a:pt x="0" y="483"/>
                    <a:pt x="0" y="478"/>
                    <a:pt x="3" y="473"/>
                  </a:cubicBezTo>
                  <a:lnTo>
                    <a:pt x="346" y="6"/>
                  </a:lnTo>
                  <a:cubicBezTo>
                    <a:pt x="349" y="2"/>
                    <a:pt x="356" y="0"/>
                    <a:pt x="361" y="2"/>
                  </a:cubicBezTo>
                  <a:cubicBezTo>
                    <a:pt x="367" y="4"/>
                    <a:pt x="370" y="10"/>
                    <a:pt x="369" y="16"/>
                  </a:cubicBezTo>
                  <a:lnTo>
                    <a:pt x="321" y="357"/>
                  </a:lnTo>
                  <a:lnTo>
                    <a:pt x="480" y="321"/>
                  </a:lnTo>
                  <a:cubicBezTo>
                    <a:pt x="485" y="320"/>
                    <a:pt x="491" y="322"/>
                    <a:pt x="494" y="327"/>
                  </a:cubicBezTo>
                  <a:cubicBezTo>
                    <a:pt x="497" y="332"/>
                    <a:pt x="497" y="338"/>
                    <a:pt x="494" y="342"/>
                  </a:cubicBezTo>
                  <a:lnTo>
                    <a:pt x="163" y="795"/>
                  </a:lnTo>
                  <a:cubicBezTo>
                    <a:pt x="160" y="798"/>
                    <a:pt x="156" y="800"/>
                    <a:pt x="152" y="800"/>
                  </a:cubicBezTo>
                  <a:close/>
                  <a:moveTo>
                    <a:pt x="205" y="432"/>
                  </a:moveTo>
                  <a:cubicBezTo>
                    <a:pt x="209" y="432"/>
                    <a:pt x="212" y="433"/>
                    <a:pt x="214" y="436"/>
                  </a:cubicBezTo>
                  <a:cubicBezTo>
                    <a:pt x="218" y="439"/>
                    <a:pt x="219" y="443"/>
                    <a:pt x="218" y="447"/>
                  </a:cubicBezTo>
                  <a:lnTo>
                    <a:pt x="174" y="735"/>
                  </a:lnTo>
                  <a:lnTo>
                    <a:pt x="451" y="355"/>
                  </a:lnTo>
                  <a:lnTo>
                    <a:pt x="308" y="387"/>
                  </a:lnTo>
                  <a:cubicBezTo>
                    <a:pt x="304" y="388"/>
                    <a:pt x="299" y="387"/>
                    <a:pt x="296" y="384"/>
                  </a:cubicBezTo>
                  <a:cubicBezTo>
                    <a:pt x="293" y="381"/>
                    <a:pt x="291" y="377"/>
                    <a:pt x="292" y="372"/>
                  </a:cubicBezTo>
                  <a:lnTo>
                    <a:pt x="336" y="65"/>
                  </a:lnTo>
                  <a:lnTo>
                    <a:pt x="45" y="462"/>
                  </a:lnTo>
                  <a:lnTo>
                    <a:pt x="203" y="432"/>
                  </a:lnTo>
                  <a:cubicBezTo>
                    <a:pt x="204" y="432"/>
                    <a:pt x="204" y="432"/>
                    <a:pt x="205" y="4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治 疗 方 法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70666" y="3323764"/>
            <a:ext cx="246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ABCD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FABCD4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8671" y="435225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F7CD9B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0436" y="2211256"/>
            <a:ext cx="2942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03888B"/>
                </a:solidFill>
              </a:rPr>
              <a:t>药 物 治 疗</a:t>
            </a:r>
            <a:endParaRPr lang="en-US" altLang="zh-CN" sz="4400" dirty="0">
              <a:solidFill>
                <a:srgbClr val="03888B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6061" y="1984935"/>
            <a:ext cx="419589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5-</a:t>
            </a:r>
            <a:r>
              <a:rPr lang="zh-CN" altLang="zh-CN" sz="20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羟色胺</a:t>
            </a:r>
            <a:r>
              <a:rPr lang="zh-CN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再摄取抑制剂（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SSRIs</a:t>
            </a:r>
            <a:r>
              <a:rPr lang="zh-CN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）是目前的首选治疗药物，用于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初始阶段的治疗</a:t>
            </a:r>
            <a:r>
              <a:rPr lang="zh-CN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抗精神病药物虽然不是治疗强迫症的常规用药，但是与</a:t>
            </a:r>
            <a:r>
              <a:rPr lang="en-US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SSRIs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联合使用时，可以增加</a:t>
            </a:r>
            <a:r>
              <a:rPr lang="en-US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SSRIs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的疗效。</a:t>
            </a:r>
            <a:endParaRPr lang="en-US" altLang="zh-CN" sz="18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常用药物包括非典型抗精神病药物，如利培酮、阿立哌唑、喹硫平和奥氮平等。</a:t>
            </a:r>
            <a:endParaRPr lang="zh-CN" altLang="zh-CN" sz="20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7559" y="1790824"/>
            <a:ext cx="3984625" cy="40170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5" name="直接连接符 14"/>
          <p:cNvCxnSpPr/>
          <p:nvPr/>
        </p:nvCxnSpPr>
        <p:spPr>
          <a:xfrm>
            <a:off x="3170453" y="1702330"/>
            <a:ext cx="0" cy="4043083"/>
          </a:xfrm>
          <a:prstGeom prst="line">
            <a:avLst/>
          </a:prstGeom>
          <a:ln w="28575">
            <a:solidFill>
              <a:srgbClr val="0388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治 疗 方 法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95000" y="3262209"/>
            <a:ext cx="28136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4400" dirty="0">
              <a:solidFill>
                <a:srgbClr val="EF3078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8671" y="435225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F7CD9B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3240" y="2295273"/>
            <a:ext cx="273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5D0D5"/>
                </a:solidFill>
              </a:rPr>
              <a:t>药 物 治 疗</a:t>
            </a:r>
            <a:endParaRPr lang="en-US" altLang="zh-CN" sz="3600" dirty="0">
              <a:solidFill>
                <a:srgbClr val="05D0D5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42779" y="1853895"/>
            <a:ext cx="61599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强迫症的病因复杂，单靠药物治疗往往难以取得令人满意的疗效，还需要适当形式的心理治疗加以辅助。目前强迫症的主要治疗方法有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认知行为疗法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精神分析疗法、森田疗法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支持性心理治疗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等。其中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认知行为治疗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被认为是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治疗强迫症最有效的心理治疗方法。</a:t>
            </a:r>
            <a:endParaRPr lang="zh-CN" altLang="zh-CN" sz="12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170453" y="1702330"/>
            <a:ext cx="0" cy="4043083"/>
          </a:xfrm>
          <a:prstGeom prst="line">
            <a:avLst/>
          </a:prstGeom>
          <a:ln w="28575">
            <a:solidFill>
              <a:srgbClr val="EF3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542779" y="426808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种方法主要通过改变患者对自己、他人及事物的正确看法和态度，从而改善患者的强迫症状，需要医生与患者充分配合，共同协作，才能达到良好等治疗效果。该疗法主要包括：思维阻断法、暴露疗法和反应预防、系统脱敏法，其中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最有效果的是暴露和反应预防疗法。</a:t>
            </a:r>
            <a:endParaRPr lang="zh-CN" altLang="zh-CN" sz="12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84361" y="3694965"/>
            <a:ext cx="2462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kern="100" dirty="0">
                <a:solidFill>
                  <a:srgbClr val="385723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认知行为治疗</a:t>
            </a:r>
            <a:endParaRPr lang="zh-CN" altLang="en-US" sz="3600" dirty="0">
              <a:solidFill>
                <a:srgbClr val="38572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治 疗 方 法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28671" y="435225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F7CD9B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3240" y="2295273"/>
            <a:ext cx="273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5D0D5"/>
                </a:solidFill>
              </a:rPr>
              <a:t>药 物 治 疗</a:t>
            </a:r>
            <a:endParaRPr lang="en-US" altLang="zh-CN" sz="3600" dirty="0">
              <a:solidFill>
                <a:srgbClr val="05D0D5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170453" y="1702330"/>
            <a:ext cx="0" cy="4043083"/>
          </a:xfrm>
          <a:prstGeom prst="line">
            <a:avLst/>
          </a:prstGeom>
          <a:ln w="28575">
            <a:solidFill>
              <a:srgbClr val="EF3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453978" y="1951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种方法主要通过改变患者对自己、他人及事物的正确看法和态度，从而改善患者的强迫症状，需要医生与患者充分配合，共同协作，才能达到良好等治疗效果。该疗法主要包括：思维阻断法、暴露疗法和反应预防、系统脱敏法，其中</a:t>
            </a:r>
            <a:r>
              <a:rPr lang="zh-CN" altLang="zh-C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最有效果的是暴露和反应预防疗法。</a:t>
            </a:r>
            <a:endParaRPr lang="zh-CN" altLang="zh-CN" sz="12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75398" y="1283459"/>
            <a:ext cx="2462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kern="100" dirty="0">
                <a:solidFill>
                  <a:srgbClr val="385723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认知行为治疗</a:t>
            </a:r>
            <a:endParaRPr lang="zh-CN" altLang="en-US" sz="3600" dirty="0">
              <a:solidFill>
                <a:srgbClr val="385723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15269" y="3727975"/>
            <a:ext cx="146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C7CBB"/>
                </a:solidFill>
              </a:rPr>
              <a:t>暴露疗法</a:t>
            </a:r>
            <a:endParaRPr lang="zh-CN" altLang="en-US" sz="2400" b="1" dirty="0">
              <a:solidFill>
                <a:srgbClr val="1C7CBB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13245" y="3727976"/>
            <a:ext cx="146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C7CBB"/>
                </a:solidFill>
              </a:rPr>
              <a:t>反应预防</a:t>
            </a:r>
            <a:endParaRPr lang="zh-CN" altLang="en-US" sz="2400" b="1" dirty="0">
              <a:solidFill>
                <a:srgbClr val="1C7CBB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75021" y="4189641"/>
            <a:ext cx="3078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该方法使患者学会面对引起焦虑等物品或环境。</a:t>
            </a:r>
            <a:endParaRPr lang="zh-CN" altLang="zh-CN" sz="12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11478" y="4217808"/>
            <a:ext cx="3238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要求患者推迟、减少甚至放弃能减轻焦虑等行为，如缩短洗手时间、减少洗手频率，直至放弃洗手。</a:t>
            </a:r>
            <a:endParaRPr lang="zh-CN" altLang="zh-CN" sz="12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5000" y="3262209"/>
            <a:ext cx="28136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4400" dirty="0">
              <a:solidFill>
                <a:srgbClr val="EF307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治 疗 方 法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28671" y="435225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7CD9B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F7CD9B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3240" y="2295273"/>
            <a:ext cx="273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5D0D5"/>
                </a:solidFill>
              </a:rPr>
              <a:t>药 物 治 疗</a:t>
            </a:r>
            <a:endParaRPr lang="en-US" altLang="zh-CN" sz="3600" dirty="0">
              <a:solidFill>
                <a:srgbClr val="05D0D5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170453" y="1702330"/>
            <a:ext cx="0" cy="4043083"/>
          </a:xfrm>
          <a:prstGeom prst="line">
            <a:avLst/>
          </a:prstGeom>
          <a:ln w="28575">
            <a:solidFill>
              <a:srgbClr val="EF3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738379" y="2618438"/>
            <a:ext cx="34712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en-US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该疗法是由日本森田正马博士创立的，强调患者对症状“接纳客观、为所当为”，在治疗过程中，要求患者对症状采取顺其自然等态度，先面对现实，不强求改变，一方面学会接受症状，不予抵抗；另一方面带着症状逐渐适应工作和学习</a:t>
            </a:r>
            <a:endParaRPr lang="zh-CN" altLang="zh-CN" sz="12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11260" y="2033663"/>
            <a:ext cx="1707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kern="100" dirty="0">
                <a:solidFill>
                  <a:srgbClr val="385723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森田治疗</a:t>
            </a:r>
            <a:endParaRPr lang="zh-CN" altLang="en-US" sz="3600" dirty="0">
              <a:solidFill>
                <a:srgbClr val="385723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7558" y="1434274"/>
            <a:ext cx="3323480" cy="44253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文本框 11"/>
          <p:cNvSpPr txBox="1"/>
          <p:nvPr/>
        </p:nvSpPr>
        <p:spPr>
          <a:xfrm>
            <a:off x="395000" y="3262209"/>
            <a:ext cx="28136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F3078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4400" dirty="0">
              <a:solidFill>
                <a:srgbClr val="EF307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治 疗 方 法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70666" y="3323764"/>
            <a:ext cx="246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600" b="1" kern="100" dirty="0">
                <a:solidFill>
                  <a:srgbClr val="F682AE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3600" dirty="0">
              <a:solidFill>
                <a:srgbClr val="F682AE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7370" y="4311478"/>
            <a:ext cx="2868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r>
              <a:rPr lang="en-US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治</a:t>
            </a:r>
            <a:r>
              <a:rPr lang="en-US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400" b="1" kern="100" dirty="0">
                <a:solidFill>
                  <a:srgbClr val="EE9524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疗</a:t>
            </a:r>
            <a:endParaRPr lang="zh-CN" altLang="en-US" sz="4400" dirty="0">
              <a:solidFill>
                <a:srgbClr val="EE9524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3240" y="2295273"/>
            <a:ext cx="273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5D0D5"/>
                </a:solidFill>
              </a:rPr>
              <a:t>药 物 治 疗</a:t>
            </a:r>
            <a:endParaRPr lang="en-US" altLang="zh-CN" sz="3600" dirty="0">
              <a:solidFill>
                <a:srgbClr val="05D0D5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91961" y="1814859"/>
            <a:ext cx="4195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当药物和心理治疗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均无效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的情况下，可以考虑进行物理治疗，包括：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改良电抽搐治疗、重复经颅磁刺激和迷走神经刺激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endParaRPr lang="zh-CN" altLang="zh-CN" sz="18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70453" y="1702330"/>
            <a:ext cx="0" cy="4043083"/>
          </a:xfrm>
          <a:prstGeom prst="line">
            <a:avLst/>
          </a:prstGeom>
          <a:ln w="28575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/>
          <a:srcRect b="4359"/>
          <a:stretch>
            <a:fillRect/>
          </a:stretch>
        </p:blipFill>
        <p:spPr>
          <a:xfrm>
            <a:off x="7927459" y="1348385"/>
            <a:ext cx="3911271" cy="18278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834" y="3523875"/>
            <a:ext cx="2221108" cy="25860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669" y="3523875"/>
            <a:ext cx="2376112" cy="25860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文本框 19"/>
          <p:cNvSpPr txBox="1"/>
          <p:nvPr/>
        </p:nvSpPr>
        <p:spPr>
          <a:xfrm>
            <a:off x="9269012" y="3176222"/>
            <a:ext cx="122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改良电抽搐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05303" y="6109953"/>
            <a:ext cx="1701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重复经颅磁刺激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791642" y="6107238"/>
            <a:ext cx="147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迷走神经刺激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小 组 分 工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727334" y="1341642"/>
            <a:ext cx="273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3A1A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资料查找</a:t>
            </a:r>
            <a:endParaRPr lang="en-US" altLang="zh-CN" sz="3600" b="1" dirty="0">
              <a:solidFill>
                <a:srgbClr val="03A1A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64761" y="3320551"/>
            <a:ext cx="246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kern="100" dirty="0">
                <a:solidFill>
                  <a:srgbClr val="EF307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en-US" sz="3600" b="1" kern="100" dirty="0">
                <a:solidFill>
                  <a:srgbClr val="EF307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制作</a:t>
            </a:r>
            <a:endParaRPr lang="zh-CN" altLang="en-US" sz="3600" dirty="0">
              <a:solidFill>
                <a:srgbClr val="EF3078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22766" y="4718457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kern="100" dirty="0">
                <a:solidFill>
                  <a:srgbClr val="EE9524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汇报</a:t>
            </a:r>
            <a:r>
              <a:rPr lang="en-US" altLang="zh-CN" sz="3600" b="1" kern="100" dirty="0">
                <a:solidFill>
                  <a:srgbClr val="EE9524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sz="3600" b="1" kern="100" dirty="0">
                <a:solidFill>
                  <a:srgbClr val="EE9524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组长</a:t>
            </a:r>
            <a:endParaRPr lang="zh-CN" altLang="en-US" sz="3600" dirty="0">
              <a:solidFill>
                <a:srgbClr val="EE9524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59417" y="1982700"/>
            <a:ext cx="3073043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强迫症症状：</a:t>
            </a:r>
            <a:r>
              <a:rPr lang="en-US" altLang="zh-CN" dirty="0"/>
              <a:t>	</a:t>
            </a:r>
            <a:r>
              <a:rPr lang="zh-CN" altLang="en-US" dirty="0"/>
              <a:t>尹嘉骏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强迫症病因：</a:t>
            </a:r>
            <a:r>
              <a:rPr lang="en-US" altLang="zh-CN" dirty="0"/>
              <a:t>	</a:t>
            </a:r>
            <a:r>
              <a:rPr lang="zh-CN" altLang="en-US" dirty="0"/>
              <a:t>谢雨民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强迫症治疗：</a:t>
            </a:r>
            <a:r>
              <a:rPr lang="en-US" altLang="zh-CN" dirty="0"/>
              <a:t>	</a:t>
            </a:r>
            <a:r>
              <a:rPr lang="zh-CN" altLang="en-US" dirty="0"/>
              <a:t>赖博恺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559418" y="4027287"/>
            <a:ext cx="307304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方晨鑫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4559418" y="5364788"/>
            <a:ext cx="307304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徐嘉健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56543" y="131812"/>
            <a:ext cx="727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参 考 资 料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878988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02601" y="1497107"/>
            <a:ext cx="9986682" cy="4212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>
              <a:spcAft>
                <a:spcPts val="1125"/>
              </a:spcAft>
              <a:buFont typeface="Arial" panose="020B0604020202020204" pitchFamily="34" charset="0"/>
              <a:buChar char="•"/>
              <a:tabLst>
                <a:tab pos="198120" algn="l"/>
              </a:tabLst>
            </a:pPr>
            <a:r>
              <a:rPr lang="en-US" altLang="zh-CN" sz="1800" u="sng" kern="100" dirty="0" err="1">
                <a:solidFill>
                  <a:srgbClr val="8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/>
              </a:rPr>
              <a:t>强迫症（神经精神疾病</a:t>
            </a:r>
            <a:r>
              <a:rPr lang="en-US" altLang="zh-CN" sz="1800" u="sng" kern="100" dirty="0">
                <a:solidFill>
                  <a:srgbClr val="8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/>
              </a:rPr>
              <a:t>）_</a:t>
            </a:r>
            <a:r>
              <a:rPr lang="en-US" altLang="zh-CN" sz="1800" u="sng" kern="100" dirty="0" err="1">
                <a:solidFill>
                  <a:srgbClr val="8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/>
              </a:rPr>
              <a:t>百度百科</a:t>
            </a:r>
            <a:r>
              <a:rPr lang="en-US" altLang="zh-CN" sz="1800" u="sng" kern="100" dirty="0">
                <a:solidFill>
                  <a:srgbClr val="8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/>
              </a:rPr>
              <a:t> (</a:t>
            </a:r>
            <a:r>
              <a:rPr lang="en-US" altLang="zh-CN" sz="1800" u="sng" kern="100" dirty="0" err="1">
                <a:solidFill>
                  <a:srgbClr val="8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/>
              </a:rPr>
              <a:t>baidu.com</a:t>
            </a:r>
            <a:r>
              <a:rPr lang="en-US" altLang="zh-CN" sz="1800" u="sng" kern="100" dirty="0">
                <a:solidFill>
                  <a:srgbClr val="8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/>
              </a:rPr>
              <a:t>)</a:t>
            </a:r>
            <a:endParaRPr lang="en-US" altLang="zh-CN" sz="1800" u="sng" kern="1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hlinkClick r:id="rId2"/>
            </a:endParaRPr>
          </a:p>
          <a:p>
            <a:pPr marL="285750" lvl="0" indent="-285750" algn="l">
              <a:spcAft>
                <a:spcPts val="1125"/>
              </a:spcAft>
              <a:buFont typeface="Arial" panose="020B0604020202020204" pitchFamily="34" charset="0"/>
              <a:buChar char="•"/>
              <a:tabLst>
                <a:tab pos="198120" algn="l"/>
              </a:tabLst>
            </a:pPr>
            <a:r>
              <a:rPr lang="en-US" altLang="zh-CN" sz="1800" u="sng" kern="1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2"/>
              </a:rPr>
              <a:t>福州台江医院</a:t>
            </a:r>
            <a:r>
              <a:rPr lang="en-US" altLang="zh-CN" sz="1800" u="sng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2"/>
              </a:rPr>
              <a:t> (</a:t>
            </a:r>
            <a:r>
              <a:rPr lang="en-US" altLang="zh-CN" sz="1800" u="sng" kern="1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2"/>
              </a:rPr>
              <a:t>baidu.com</a:t>
            </a:r>
            <a:r>
              <a:rPr lang="en-US" altLang="zh-CN" sz="1800" u="sng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2"/>
              </a:rPr>
              <a:t>)</a:t>
            </a:r>
            <a:endParaRPr lang="en-US" altLang="zh-CN" sz="1800" u="sng" kern="1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hlinkClick r:id="rId3"/>
            </a:endParaRPr>
          </a:p>
          <a:p>
            <a:pPr marL="285750" lvl="0" indent="-285750" algn="l">
              <a:spcAft>
                <a:spcPts val="1125"/>
              </a:spcAft>
              <a:buFont typeface="Arial" panose="020B0604020202020204" pitchFamily="34" charset="0"/>
              <a:buChar char="•"/>
              <a:tabLst>
                <a:tab pos="198120" algn="l"/>
              </a:tabLst>
            </a:pPr>
            <a:r>
              <a:rPr lang="en-US" altLang="zh-CN" sz="1800" u="sng" kern="1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3"/>
              </a:rPr>
              <a:t>青少年强迫障碍1例</a:t>
            </a:r>
            <a:r>
              <a:rPr lang="en-US" altLang="zh-CN" sz="1800" u="sng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3"/>
              </a:rPr>
              <a:t> - </a:t>
            </a:r>
            <a:r>
              <a:rPr lang="en-US" altLang="zh-CN" sz="1800" u="sng" kern="1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3"/>
              </a:rPr>
              <a:t>中国临床案例成果数据库</a:t>
            </a:r>
            <a:r>
              <a:rPr lang="en-US" altLang="zh-CN" sz="1800" u="sng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3"/>
              </a:rPr>
              <a:t> (</a:t>
            </a:r>
            <a:r>
              <a:rPr lang="en-US" altLang="zh-CN" sz="1800" u="sng" kern="1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3"/>
              </a:rPr>
              <a:t>yiigle.com</a:t>
            </a:r>
            <a:r>
              <a:rPr lang="en-US" altLang="zh-CN" sz="1800" u="sng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3"/>
              </a:rPr>
              <a:t>)</a:t>
            </a:r>
            <a:endParaRPr lang="en-US" altLang="zh-CN" kern="0" dirty="0"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薛竟雄</a:t>
            </a:r>
            <a:r>
              <a:rPr lang="en-US" altLang="zh-CN" sz="1800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et al., </a:t>
            </a:r>
            <a:r>
              <a:rPr lang="zh-CN" altLang="zh-CN" sz="1800" i="1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强迫症的生物学机制和治疗综述</a:t>
            </a:r>
            <a:r>
              <a:rPr lang="en-US" altLang="zh-CN" sz="1800" i="1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800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现代生物医学进展</a:t>
            </a:r>
            <a:r>
              <a:rPr lang="en-US" altLang="zh-CN" sz="1800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2018. </a:t>
            </a:r>
            <a:r>
              <a:rPr lang="en-US" altLang="zh-CN" sz="1800" b="1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en-US" altLang="zh-CN" sz="1800" kern="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(7): p. 1387-1391.</a:t>
            </a:r>
            <a:endParaRPr lang="en-US" altLang="zh-CN" kern="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强迫症的病因及发病机制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 -</a:t>
            </a: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中国教育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 (</a:t>
            </a: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cernet.edu.cn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/>
              </a:rPr>
              <a:t>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5"/>
              </a:rPr>
              <a:t>强迫症的病因与临床表现-心理健康-学生处-广东文理职业学院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5"/>
              </a:rPr>
              <a:t> (</a:t>
            </a: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5"/>
              </a:rPr>
              <a:t>gdwlxy.edu.cn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5"/>
              </a:rPr>
              <a:t>)</a:t>
            </a:r>
            <a:endParaRPr lang="en-US" altLang="zh-CN" u="sng" kern="100" dirty="0">
              <a:solidFill>
                <a:srgbClr val="0000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追求完美？洁癖？强迫症就是自己作？科学解密，你的强迫症哪来的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！ - </a:t>
            </a: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知乎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 (</a:t>
            </a:r>
            <a:r>
              <a:rPr lang="en-US" altLang="zh-CN" sz="1800" u="sng" kern="100" dirty="0" err="1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zhihu.com</a:t>
            </a: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6"/>
              </a:rPr>
              <a:t>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99746" y="3450680"/>
            <a:ext cx="89925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T H A N K S  F O R  W A T C H I N G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78756" y="6145070"/>
            <a:ext cx="1434489" cy="190500"/>
            <a:chOff x="4679586" y="878988"/>
            <a:chExt cx="1434489" cy="190500"/>
          </a:xfrm>
        </p:grpSpPr>
        <p:sp>
          <p:nvSpPr>
            <p:cNvPr id="6" name="Oval 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948" y="1948219"/>
            <a:ext cx="1244104" cy="124410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p="http://schemas.openxmlformats.org/presentationml/2006/main">
  <p:tag name="ISLIDE.ICON" val="#55919;#91387;#78398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3206</Words>
  <Application>WPS 演示</Application>
  <PresentationFormat>宽屏</PresentationFormat>
  <Paragraphs>311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Tw Cen MT</vt:lpstr>
      <vt:lpstr>苹方-简</vt:lpstr>
      <vt:lpstr>等线</vt:lpstr>
      <vt:lpstr>Times New Roman</vt:lpstr>
      <vt:lpstr>Calibri</vt:lpstr>
      <vt:lpstr>Helvetica Neue</vt:lpstr>
      <vt:lpstr>微软雅黑</vt:lpstr>
      <vt:lpstr>汉仪旗黑</vt:lpstr>
      <vt:lpstr>Arial Unicode MS</vt:lpstr>
      <vt:lpstr>Century Gothic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Nahid Ahmed</dc:creator>
  <cp:lastModifiedBy>徐嘉健</cp:lastModifiedBy>
  <cp:revision>128</cp:revision>
  <dcterms:created xsi:type="dcterms:W3CDTF">2024-04-19T02:40:58Z</dcterms:created>
  <dcterms:modified xsi:type="dcterms:W3CDTF">2024-04-19T02:40:58Z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C084325104D7C6E4B3D92166664D4A69_42</vt:lpwstr>
  </property>
  <property fmtid="{D5CDD505-2E9C-101B-9397-08002B2CF9AE}" pid="3" name="KSOProductBuildVer">
    <vt:lpwstr>2052-5.5.1.7991</vt:lpwstr>
  </property>
</Properties>
</file>