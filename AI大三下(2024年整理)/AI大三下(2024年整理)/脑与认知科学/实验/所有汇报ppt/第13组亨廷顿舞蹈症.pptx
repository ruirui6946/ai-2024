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wdp" ContentType="image/vnd.ms-photo"/>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handoutMasters/handoutMaster1.xml" ContentType="application/vnd.openxmlformats-officedocument.presentationml.handoutMaster+xml"/>
  <Override PartName="/ppt/media/image38.svg" ContentType="image/svg+xml"/>
  <Override PartName="/ppt/media/image40.svg" ContentType="image/svg+xml"/>
  <Override PartName="/ppt/media/image42.svg" ContentType="image/svg+xml"/>
  <Override PartName="/ppt/media/image4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7"/>
  </p:handoutMasterIdLst>
  <p:sldIdLst>
    <p:sldId id="1804" r:id="rId3"/>
    <p:sldId id="1755" r:id="rId5"/>
    <p:sldId id="294" r:id="rId6"/>
    <p:sldId id="1757" r:id="rId7"/>
    <p:sldId id="1758" r:id="rId8"/>
    <p:sldId id="1759" r:id="rId9"/>
    <p:sldId id="1774" r:id="rId10"/>
    <p:sldId id="1777" r:id="rId11"/>
    <p:sldId id="1776" r:id="rId12"/>
    <p:sldId id="1832" r:id="rId13"/>
    <p:sldId id="1789" r:id="rId14"/>
    <p:sldId id="1780" r:id="rId15"/>
    <p:sldId id="1781" r:id="rId16"/>
    <p:sldId id="1782" r:id="rId17"/>
    <p:sldId id="1783" r:id="rId18"/>
    <p:sldId id="1786" r:id="rId19"/>
    <p:sldId id="1803" r:id="rId20"/>
    <p:sldId id="1799" r:id="rId21"/>
    <p:sldId id="1800" r:id="rId22"/>
    <p:sldId id="1801" r:id="rId23"/>
    <p:sldId id="1802" r:id="rId24"/>
    <p:sldId id="1830" r:id="rId25"/>
    <p:sldId id="1790" r:id="rId26"/>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模板作品" id="{C5595FB2-0EC5-4BA5-A2FD-95E73D090319}">
          <p14:sldIdLst>
            <p14:sldId id="1804"/>
            <p14:sldId id="1755"/>
            <p14:sldId id="294"/>
            <p14:sldId id="1757"/>
            <p14:sldId id="1758"/>
            <p14:sldId id="1759"/>
            <p14:sldId id="1774"/>
            <p14:sldId id="1777"/>
            <p14:sldId id="1776"/>
            <p14:sldId id="1832"/>
            <p14:sldId id="1789"/>
            <p14:sldId id="1780"/>
            <p14:sldId id="1781"/>
            <p14:sldId id="1782"/>
            <p14:sldId id="1783"/>
            <p14:sldId id="1786"/>
            <p14:sldId id="1803"/>
            <p14:sldId id="1799"/>
            <p14:sldId id="1800"/>
            <p14:sldId id="1801"/>
            <p14:sldId id="1802"/>
            <p14:sldId id="1830"/>
            <p14:sldId id="1790"/>
          </p14:sldIdLst>
        </p14:section>
        <p14:section name="更多版式参考" id="{9090FC5B-5059-4060-80E3-4FCA9F0CD98E}">
          <p14:sldIdLst/>
        </p14:section>
        <p14:section name="使用说明" id="{67D3420F-8D78-40F1-AE77-CC1DEE4A68DF}">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1A1A"/>
    <a:srgbClr val="C91523"/>
    <a:srgbClr val="CB4845"/>
    <a:srgbClr val="FF3F2E"/>
    <a:srgbClr val="FF2600"/>
    <a:srgbClr val="EEC88F"/>
    <a:srgbClr val="000C12"/>
    <a:srgbClr val="FFBD47"/>
    <a:srgbClr val="F1F1F1"/>
    <a:srgbClr val="019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49" autoAdjust="0"/>
    <p:restoredTop sz="94660"/>
  </p:normalViewPr>
  <p:slideViewPr>
    <p:cSldViewPr snapToGrid="0">
      <p:cViewPr varScale="1">
        <p:scale>
          <a:sx n="86" d="100"/>
          <a:sy n="86" d="100"/>
        </p:scale>
        <p:origin x="586" y="77"/>
      </p:cViewPr>
      <p:guideLst/>
    </p:cSldViewPr>
  </p:slideViewPr>
  <p:notesTextViewPr>
    <p:cViewPr>
      <p:scale>
        <a:sx n="1" d="1"/>
        <a:sy n="1" d="1"/>
      </p:scale>
      <p:origin x="0" y="0"/>
    </p:cViewPr>
  </p:notesTextViewPr>
  <p:sorterViewPr>
    <p:cViewPr>
      <p:scale>
        <a:sx n="30" d="100"/>
        <a:sy n="30" d="100"/>
      </p:scale>
      <p:origin x="0" y="-192"/>
    </p:cViewPr>
  </p:sorterViewPr>
  <p:notesViewPr>
    <p:cSldViewPr snapToGrid="0">
      <p:cViewPr varScale="1">
        <p:scale>
          <a:sx n="65" d="100"/>
          <a:sy n="65" d="100"/>
        </p:scale>
        <p:origin x="2022"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gs" Target="tags/tag6.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2C62FA-91AC-4B04-ADE2-7EC8DCCFAA9E}"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DA20E9-7CDF-4A54-9210-E4C23955939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F8263B-7C9F-4E04-8BCF-BE281E66414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FC3641-C2EF-46E9-A4E8-5656A400456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2FC3641-C2EF-46E9-A4E8-5656A400456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2FC3641-C2EF-46E9-A4E8-5656A400456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2FC3641-C2EF-46E9-A4E8-5656A400456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2FC3641-C2EF-46E9-A4E8-5656A400456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2FC3641-C2EF-46E9-A4E8-5656A400456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2FC3641-C2EF-46E9-A4E8-5656A400456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2FC3641-C2EF-46E9-A4E8-5656A400456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
    <p:spTree>
      <p:nvGrpSpPr>
        <p:cNvPr id="1" name=""/>
        <p:cNvGrpSpPr/>
        <p:nvPr/>
      </p:nvGrpSpPr>
      <p:grpSpPr>
        <a:xfrm>
          <a:off x="0" y="0"/>
          <a:ext cx="0" cy="0"/>
          <a:chOff x="0" y="0"/>
          <a:chExt cx="0" cy="0"/>
        </a:xfrm>
      </p:grpSpPr>
      <p:pic>
        <p:nvPicPr>
          <p:cNvPr id="26" name="图片 25" descr="图片包含 游戏机, 鸟, 白色&#10;&#10;描述已自动生成"/>
          <p:cNvPicPr>
            <a:picLocks noChangeAspect="1"/>
          </p:cNvPicPr>
          <p:nvPr userDrawn="1"/>
        </p:nvPicPr>
        <p:blipFill>
          <a:blip r:embed="rId2" cstate="screen">
            <a:alphaModFix amt="50000"/>
          </a:blip>
          <a:stretch>
            <a:fillRect/>
          </a:stretch>
        </p:blipFill>
        <p:spPr>
          <a:xfrm>
            <a:off x="0" y="0"/>
            <a:ext cx="12192000" cy="6858000"/>
          </a:xfrm>
          <a:prstGeom prst="rect">
            <a:avLst/>
          </a:prstGeom>
        </p:spPr>
      </p:pic>
      <p:sp>
        <p:nvSpPr>
          <p:cNvPr id="18" name="文本占位符 17"/>
          <p:cNvSpPr>
            <a:spLocks noGrp="1"/>
          </p:cNvSpPr>
          <p:nvPr>
            <p:ph type="body" sz="quarter" idx="10" hasCustomPrompt="1"/>
          </p:nvPr>
        </p:nvSpPr>
        <p:spPr>
          <a:xfrm>
            <a:off x="1357312" y="4459379"/>
            <a:ext cx="9515475" cy="607922"/>
          </a:xfrm>
        </p:spPr>
        <p:txBody>
          <a:bodyPr>
            <a:normAutofit/>
          </a:bodyPr>
          <a:lstStyle>
            <a:lvl1pPr marL="0" indent="0" algn="ctr">
              <a:buNone/>
              <a:defRPr sz="40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点击此处添加或编辑你的标题</a:t>
            </a:r>
            <a:endParaRPr lang="zh-CN" altLang="en-US" dirty="0"/>
          </a:p>
        </p:txBody>
      </p:sp>
      <p:sp>
        <p:nvSpPr>
          <p:cNvPr id="22" name="图片占位符 21"/>
          <p:cNvSpPr>
            <a:spLocks noGrp="1"/>
          </p:cNvSpPr>
          <p:nvPr>
            <p:ph type="pic" sz="quarter" idx="11" hasCustomPrompt="1"/>
          </p:nvPr>
        </p:nvSpPr>
        <p:spPr>
          <a:xfrm>
            <a:off x="8604" y="-6270"/>
            <a:ext cx="12191999" cy="4154143"/>
          </a:xfrm>
          <a:custGeom>
            <a:avLst/>
            <a:gdLst>
              <a:gd name="connsiteX0" fmla="*/ 0 w 12192000"/>
              <a:gd name="connsiteY0" fmla="*/ 0 h 3979379"/>
              <a:gd name="connsiteX1" fmla="*/ 12192000 w 12192000"/>
              <a:gd name="connsiteY1" fmla="*/ 0 h 3979379"/>
              <a:gd name="connsiteX2" fmla="*/ 12192000 w 12192000"/>
              <a:gd name="connsiteY2" fmla="*/ 2160560 h 3979379"/>
              <a:gd name="connsiteX3" fmla="*/ 11991049 w 12192000"/>
              <a:gd name="connsiteY3" fmla="*/ 2355187 h 3979379"/>
              <a:gd name="connsiteX4" fmla="*/ 6781467 w 12192000"/>
              <a:gd name="connsiteY4" fmla="*/ 3976013 h 3979379"/>
              <a:gd name="connsiteX5" fmla="*/ 6686586 w 12192000"/>
              <a:gd name="connsiteY5" fmla="*/ 3979379 h 3979379"/>
              <a:gd name="connsiteX6" fmla="*/ 5505414 w 12192000"/>
              <a:gd name="connsiteY6" fmla="*/ 3979379 h 3979379"/>
              <a:gd name="connsiteX7" fmla="*/ 5410533 w 12192000"/>
              <a:gd name="connsiteY7" fmla="*/ 3976013 h 3979379"/>
              <a:gd name="connsiteX8" fmla="*/ 200949 w 12192000"/>
              <a:gd name="connsiteY8" fmla="*/ 2355187 h 3979379"/>
              <a:gd name="connsiteX9" fmla="*/ 0 w 12192000"/>
              <a:gd name="connsiteY9" fmla="*/ 2160563 h 397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979379">
                <a:moveTo>
                  <a:pt x="0" y="0"/>
                </a:moveTo>
                <a:lnTo>
                  <a:pt x="12192000" y="0"/>
                </a:lnTo>
                <a:lnTo>
                  <a:pt x="12192000" y="2160560"/>
                </a:lnTo>
                <a:lnTo>
                  <a:pt x="11991049" y="2355187"/>
                </a:lnTo>
                <a:cubicBezTo>
                  <a:pt x="10958970" y="3241602"/>
                  <a:pt x="9035226" y="3869225"/>
                  <a:pt x="6781467" y="3976013"/>
                </a:cubicBezTo>
                <a:lnTo>
                  <a:pt x="6686586" y="3979379"/>
                </a:lnTo>
                <a:lnTo>
                  <a:pt x="5505414" y="3979379"/>
                </a:lnTo>
                <a:lnTo>
                  <a:pt x="5410533" y="3976013"/>
                </a:lnTo>
                <a:cubicBezTo>
                  <a:pt x="3156773" y="3869225"/>
                  <a:pt x="1233028" y="3241602"/>
                  <a:pt x="200949" y="2355187"/>
                </a:cubicBezTo>
                <a:lnTo>
                  <a:pt x="0" y="2160563"/>
                </a:lnTo>
                <a:close/>
              </a:path>
            </a:pathLst>
          </a:custGeom>
          <a:solidFill>
            <a:schemeClr val="bg1"/>
          </a:solidFill>
        </p:spPr>
        <p:txBody>
          <a:bodyPr wrap="square">
            <a:noAutofit/>
          </a:bodyPr>
          <a:lstStyle>
            <a:lvl1pPr marL="0" indent="0" algn="ctr">
              <a:buNone/>
              <a:defRPr/>
            </a:lvl1pPr>
          </a:lstStyle>
          <a:p>
            <a:endParaRPr lang="en-US" altLang="zh-CN" dirty="0"/>
          </a:p>
          <a:p>
            <a:endParaRPr lang="zh-CN" altLang="en-US" dirty="0"/>
          </a:p>
        </p:txBody>
      </p:sp>
      <p:sp>
        <p:nvSpPr>
          <p:cNvPr id="24" name="图片占位符 23"/>
          <p:cNvSpPr>
            <a:spLocks noGrp="1"/>
          </p:cNvSpPr>
          <p:nvPr>
            <p:ph type="pic" sz="quarter" idx="12" hasCustomPrompt="1"/>
          </p:nvPr>
        </p:nvSpPr>
        <p:spPr>
          <a:xfrm>
            <a:off x="8604" y="-6271"/>
            <a:ext cx="12191999" cy="4154144"/>
          </a:xfrm>
          <a:custGeom>
            <a:avLst/>
            <a:gdLst>
              <a:gd name="connsiteX0" fmla="*/ 0 w 12192000"/>
              <a:gd name="connsiteY0" fmla="*/ 0 h 3979379"/>
              <a:gd name="connsiteX1" fmla="*/ 12192000 w 12192000"/>
              <a:gd name="connsiteY1" fmla="*/ 0 h 3979379"/>
              <a:gd name="connsiteX2" fmla="*/ 12192000 w 12192000"/>
              <a:gd name="connsiteY2" fmla="*/ 2160560 h 3979379"/>
              <a:gd name="connsiteX3" fmla="*/ 11991049 w 12192000"/>
              <a:gd name="connsiteY3" fmla="*/ 2355187 h 3979379"/>
              <a:gd name="connsiteX4" fmla="*/ 6781467 w 12192000"/>
              <a:gd name="connsiteY4" fmla="*/ 3976013 h 3979379"/>
              <a:gd name="connsiteX5" fmla="*/ 6686586 w 12192000"/>
              <a:gd name="connsiteY5" fmla="*/ 3979379 h 3979379"/>
              <a:gd name="connsiteX6" fmla="*/ 5505414 w 12192000"/>
              <a:gd name="connsiteY6" fmla="*/ 3979379 h 3979379"/>
              <a:gd name="connsiteX7" fmla="*/ 5410533 w 12192000"/>
              <a:gd name="connsiteY7" fmla="*/ 3976013 h 3979379"/>
              <a:gd name="connsiteX8" fmla="*/ 200949 w 12192000"/>
              <a:gd name="connsiteY8" fmla="*/ 2355187 h 3979379"/>
              <a:gd name="connsiteX9" fmla="*/ 0 w 12192000"/>
              <a:gd name="connsiteY9" fmla="*/ 2160563 h 397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979379">
                <a:moveTo>
                  <a:pt x="0" y="0"/>
                </a:moveTo>
                <a:lnTo>
                  <a:pt x="12192000" y="0"/>
                </a:lnTo>
                <a:lnTo>
                  <a:pt x="12192000" y="2160560"/>
                </a:lnTo>
                <a:lnTo>
                  <a:pt x="11991049" y="2355187"/>
                </a:lnTo>
                <a:cubicBezTo>
                  <a:pt x="10958970" y="3241602"/>
                  <a:pt x="9035226" y="3869225"/>
                  <a:pt x="6781467" y="3976013"/>
                </a:cubicBezTo>
                <a:lnTo>
                  <a:pt x="6686586" y="3979379"/>
                </a:lnTo>
                <a:lnTo>
                  <a:pt x="5505414" y="3979379"/>
                </a:lnTo>
                <a:lnTo>
                  <a:pt x="5410533" y="3976013"/>
                </a:lnTo>
                <a:cubicBezTo>
                  <a:pt x="3156773" y="3869225"/>
                  <a:pt x="1233028" y="3241602"/>
                  <a:pt x="200949" y="2355187"/>
                </a:cubicBezTo>
                <a:lnTo>
                  <a:pt x="0" y="2160563"/>
                </a:lnTo>
                <a:close/>
              </a:path>
            </a:pathLst>
          </a:custGeom>
          <a:noFill/>
        </p:spPr>
        <p:txBody>
          <a:bodyPr wrap="square">
            <a:noAutofit/>
          </a:bodyPr>
          <a:lstStyle>
            <a:lvl1pPr marL="0" indent="0" algn="ctr">
              <a:buNone/>
              <a:defRPr>
                <a:solidFill>
                  <a:schemeClr val="bg1"/>
                </a:solidFill>
              </a:defRPr>
            </a:lvl1pPr>
          </a:lstStyle>
          <a:p>
            <a:endParaRPr lang="en-US" altLang="zh-CN" dirty="0"/>
          </a:p>
          <a:p>
            <a:endParaRPr lang="en-US" altLang="zh-CN" dirty="0"/>
          </a:p>
        </p:txBody>
      </p:sp>
      <p:sp>
        <p:nvSpPr>
          <p:cNvPr id="25" name="文本占位符 17"/>
          <p:cNvSpPr>
            <a:spLocks noGrp="1"/>
          </p:cNvSpPr>
          <p:nvPr>
            <p:ph type="body" sz="quarter" idx="13" hasCustomPrompt="1"/>
          </p:nvPr>
        </p:nvSpPr>
        <p:spPr>
          <a:xfrm>
            <a:off x="1357312" y="5156559"/>
            <a:ext cx="9515475" cy="607922"/>
          </a:xfrm>
        </p:spPr>
        <p:txBody>
          <a:bodyPr>
            <a:normAutofit/>
          </a:bodyPr>
          <a:lstStyle>
            <a:lvl1pPr marL="0" indent="0" algn="ctr">
              <a:buNone/>
              <a:defRPr sz="1800" b="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defRPr>
            </a:lvl1pPr>
          </a:lstStyle>
          <a:p>
            <a:pPr lvl="0"/>
            <a:r>
              <a:rPr lang="zh-CN" altLang="en-US" dirty="0"/>
              <a:t>可在此处添加标题英文翻译或关键主题文字</a:t>
            </a:r>
            <a:endParaRPr lang="zh-CN" altLang="en-US" dirty="0"/>
          </a:p>
        </p:txBody>
      </p:sp>
      <p:sp>
        <p:nvSpPr>
          <p:cNvPr id="3" name="图片占位符 2"/>
          <p:cNvSpPr>
            <a:spLocks noGrp="1"/>
          </p:cNvSpPr>
          <p:nvPr>
            <p:ph type="pic" sz="quarter" idx="14" hasCustomPrompt="1"/>
          </p:nvPr>
        </p:nvSpPr>
        <p:spPr>
          <a:xfrm>
            <a:off x="4783724" y="1171018"/>
            <a:ext cx="2624551" cy="2014323"/>
          </a:xfrm>
        </p:spPr>
        <p:txBody>
          <a:bodyPr/>
          <a:lstStyle/>
          <a:p>
            <a:r>
              <a:rPr lang="zh-CN" altLang="en-US" dirty="0"/>
              <a:t>这里是</a:t>
            </a:r>
            <a:r>
              <a:rPr lang="en-US" altLang="zh-CN" dirty="0"/>
              <a:t>logo</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纸张纹理空白背景">
    <p:spTree>
      <p:nvGrpSpPr>
        <p:cNvPr id="1" name=""/>
        <p:cNvGrpSpPr/>
        <p:nvPr/>
      </p:nvGrpSpPr>
      <p:grpSpPr>
        <a:xfrm>
          <a:off x="0" y="0"/>
          <a:ext cx="0" cy="0"/>
          <a:chOff x="0" y="0"/>
          <a:chExt cx="0" cy="0"/>
        </a:xfrm>
      </p:grpSpPr>
      <p:pic>
        <p:nvPicPr>
          <p:cNvPr id="6" name="图片 5" descr="图片包含 游戏机, 鸟, 白色&#10;&#10;描述已自动生成"/>
          <p:cNvPicPr>
            <a:picLocks noChangeAspect="1"/>
          </p:cNvPicPr>
          <p:nvPr userDrawn="1"/>
        </p:nvPicPr>
        <p:blipFill>
          <a:blip r:embed="rId2" cstate="screen">
            <a:alphaModFix amt="50000"/>
          </a:blip>
          <a:stretch>
            <a:fillRect/>
          </a:stretch>
        </p:blipFill>
        <p:spPr>
          <a:xfrm>
            <a:off x="0" y="0"/>
            <a:ext cx="12192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1导航页版式">
    <p:spTree>
      <p:nvGrpSpPr>
        <p:cNvPr id="1" name=""/>
        <p:cNvGrpSpPr/>
        <p:nvPr/>
      </p:nvGrpSpPr>
      <p:grpSpPr>
        <a:xfrm>
          <a:off x="0" y="0"/>
          <a:ext cx="0" cy="0"/>
          <a:chOff x="0" y="0"/>
          <a:chExt cx="0" cy="0"/>
        </a:xfrm>
      </p:grpSpPr>
      <p:pic>
        <p:nvPicPr>
          <p:cNvPr id="21" name="图片 20" descr="图片包含 游戏机, 鸟, 白色&#10;&#10;描述已自动生成"/>
          <p:cNvPicPr>
            <a:picLocks noChangeAspect="1"/>
          </p:cNvPicPr>
          <p:nvPr userDrawn="1"/>
        </p:nvPicPr>
        <p:blipFill>
          <a:blip r:embed="rId2" cstate="screen">
            <a:alphaModFix amt="50000"/>
          </a:blip>
          <a:stretch>
            <a:fillRect/>
          </a:stretch>
        </p:blipFill>
        <p:spPr>
          <a:xfrm>
            <a:off x="0" y="0"/>
            <a:ext cx="12192000" cy="6858000"/>
          </a:xfrm>
          <a:prstGeom prst="rect">
            <a:avLst/>
          </a:prstGeom>
        </p:spPr>
      </p:pic>
      <p:grpSp>
        <p:nvGrpSpPr>
          <p:cNvPr id="28" name="组合 27"/>
          <p:cNvGrpSpPr/>
          <p:nvPr userDrawn="1"/>
        </p:nvGrpSpPr>
        <p:grpSpPr>
          <a:xfrm>
            <a:off x="-7647" y="0"/>
            <a:ext cx="12199647" cy="620711"/>
            <a:chOff x="-7647" y="0"/>
            <a:chExt cx="12199647" cy="620711"/>
          </a:xfrm>
        </p:grpSpPr>
        <p:pic>
          <p:nvPicPr>
            <p:cNvPr id="30" name="Picture 2"/>
            <p:cNvPicPr>
              <a:picLocks noChangeAspect="1" noChangeArrowheads="1"/>
            </p:cNvPicPr>
            <p:nvPr userDrawn="1"/>
          </p:nvPicPr>
          <p:blipFill rotWithShape="1">
            <a:blip r:embed="rId3" cstate="screen">
              <a:duotone>
                <a:schemeClr val="accent6">
                  <a:shade val="45000"/>
                  <a:satMod val="135000"/>
                </a:schemeClr>
                <a:prstClr val="white"/>
              </a:duotone>
            </a:blip>
            <a:srcRect t="-705"/>
            <a:stretch>
              <a:fillRect/>
            </a:stretch>
          </p:blipFill>
          <p:spPr bwMode="auto">
            <a:xfrm>
              <a:off x="-7647" y="0"/>
              <a:ext cx="12199647" cy="620711"/>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30"/>
            <p:cNvSpPr/>
            <p:nvPr userDrawn="1"/>
          </p:nvSpPr>
          <p:spPr>
            <a:xfrm>
              <a:off x="-7647" y="3401"/>
              <a:ext cx="12199647" cy="617310"/>
            </a:xfrm>
            <a:prstGeom prst="rect">
              <a:avLst/>
            </a:prstGeom>
            <a:gradFill>
              <a:gsLst>
                <a:gs pos="100000">
                  <a:schemeClr val="accent1">
                    <a:lumMod val="75000"/>
                    <a:alpha val="57000"/>
                  </a:schemeClr>
                </a:gs>
                <a:gs pos="0">
                  <a:schemeClr val="accent1">
                    <a:lumMod val="50000"/>
                    <a:alpha val="77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6" name="文本占位符 15"/>
          <p:cNvSpPr>
            <a:spLocks noGrp="1"/>
          </p:cNvSpPr>
          <p:nvPr>
            <p:ph type="body" sz="quarter" idx="10" hasCustomPrompt="1"/>
          </p:nvPr>
        </p:nvSpPr>
        <p:spPr>
          <a:xfrm>
            <a:off x="4790459" y="217933"/>
            <a:ext cx="1673856" cy="377825"/>
          </a:xfrm>
        </p:spPr>
        <p:txBody>
          <a:bodyPr>
            <a:noAutofit/>
          </a:bodyPr>
          <a:lstStyle>
            <a:lvl1pPr marL="0" indent="0" algn="ctr">
              <a:buNone/>
              <a:defRPr sz="16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8" name="文本占位符 15"/>
          <p:cNvSpPr>
            <a:spLocks noGrp="1"/>
          </p:cNvSpPr>
          <p:nvPr>
            <p:ph type="body" sz="quarter" idx="11" hasCustomPrompt="1"/>
          </p:nvPr>
        </p:nvSpPr>
        <p:spPr>
          <a:xfrm>
            <a:off x="6554844" y="217933"/>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9" name="文本占位符 15"/>
          <p:cNvSpPr>
            <a:spLocks noGrp="1"/>
          </p:cNvSpPr>
          <p:nvPr>
            <p:ph type="body" sz="quarter" idx="12" hasCustomPrompt="1"/>
          </p:nvPr>
        </p:nvSpPr>
        <p:spPr>
          <a:xfrm>
            <a:off x="8306529" y="217933"/>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20" name="文本占位符 15"/>
          <p:cNvSpPr>
            <a:spLocks noGrp="1"/>
          </p:cNvSpPr>
          <p:nvPr>
            <p:ph type="body" sz="quarter" idx="13" hasCustomPrompt="1"/>
          </p:nvPr>
        </p:nvSpPr>
        <p:spPr>
          <a:xfrm>
            <a:off x="10058214" y="217933"/>
            <a:ext cx="1673856" cy="377825"/>
          </a:xfrm>
        </p:spPr>
        <p:txBody>
          <a:bodyPr>
            <a:noAutofit/>
          </a:bodyPr>
          <a:lstStyle>
            <a:lvl1pPr marL="0" indent="0" algn="ctr">
              <a:buNone/>
              <a:defRPr sz="1400" b="0" i="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cxnSp>
        <p:nvCxnSpPr>
          <p:cNvPr id="23" name="直接连接符 22"/>
          <p:cNvCxnSpPr/>
          <p:nvPr userDrawn="1"/>
        </p:nvCxnSpPr>
        <p:spPr>
          <a:xfrm>
            <a:off x="658813" y="6237288"/>
            <a:ext cx="1087437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文本占位符 15"/>
          <p:cNvSpPr>
            <a:spLocks noGrp="1"/>
          </p:cNvSpPr>
          <p:nvPr>
            <p:ph type="body" sz="quarter" idx="14" hasCustomPrompt="1"/>
          </p:nvPr>
        </p:nvSpPr>
        <p:spPr>
          <a:xfrm>
            <a:off x="582612" y="6237288"/>
            <a:ext cx="6745288" cy="377825"/>
          </a:xfrm>
        </p:spPr>
        <p:txBody>
          <a:bodyPr>
            <a:noAutofit/>
          </a:bodyPr>
          <a:lstStyle>
            <a:lvl1pPr marL="0" indent="0" algn="l">
              <a:buNone/>
              <a:defRPr sz="1100" b="0">
                <a:solidFill>
                  <a:schemeClr val="bg1">
                    <a:lumMod val="75000"/>
                  </a:schemeClr>
                </a:solidFill>
                <a:latin typeface="微软雅黑" panose="020B0503020204020204" pitchFamily="34" charset="-122"/>
                <a:ea typeface="微软雅黑" panose="020B0503020204020204" pitchFamily="34" charset="-122"/>
              </a:defRPr>
            </a:lvl1pPr>
          </a:lstStyle>
          <a:p>
            <a:pPr lvl="0"/>
            <a:r>
              <a:rPr lang="zh-CN" altLang="en-US" dirty="0"/>
              <a:t>点击此处修改项目备注名称</a:t>
            </a:r>
            <a:endParaRPr lang="zh-CN" altLang="en-US" dirty="0"/>
          </a:p>
        </p:txBody>
      </p:sp>
      <p:sp>
        <p:nvSpPr>
          <p:cNvPr id="29" name="文本框 28"/>
          <p:cNvSpPr txBox="1"/>
          <p:nvPr userDrawn="1"/>
        </p:nvSpPr>
        <p:spPr>
          <a:xfrm>
            <a:off x="8453095" y="6288088"/>
            <a:ext cx="3184838" cy="244682"/>
          </a:xfrm>
          <a:prstGeom prst="rect">
            <a:avLst/>
          </a:prstGeom>
        </p:spPr>
        <p:txBody>
          <a:bodyPr vert="horz" lIns="91440" tIns="45720" rIns="91440" bIns="45720" rtlCol="0">
            <a:noAutofit/>
          </a:bodyPr>
          <a:lstStyle>
            <a:defPPr>
              <a:defRPr lang="zh-CN"/>
            </a:defPPr>
            <a:lvl1pPr lvl="0" indent="0">
              <a:lnSpc>
                <a:spcPct val="90000"/>
              </a:lnSpc>
              <a:spcBef>
                <a:spcPts val="1000"/>
              </a:spcBef>
              <a:buFont typeface="Arial" panose="020B0604020202020204" pitchFamily="34" charset="0"/>
              <a:buNone/>
              <a:defRPr sz="1100" b="0">
                <a:solidFill>
                  <a:schemeClr val="bg1">
                    <a:lumMod val="75000"/>
                  </a:schemeClr>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r"/>
            <a:r>
              <a:rPr lang="zh-CN" altLang="en-US" dirty="0">
                <a:latin typeface="微软雅黑" panose="020B0503020204020204" pitchFamily="34" charset="-122"/>
                <a:ea typeface="微软雅黑" panose="020B0503020204020204" pitchFamily="34" charset="-122"/>
              </a:rPr>
              <a:t>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学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笃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行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德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重</a:t>
            </a:r>
            <a:r>
              <a:rPr lang="en-US" altLang="zh-CN"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法</a:t>
            </a:r>
            <a:endParaRPr lang="zh-CN" altLang="en-US" dirty="0">
              <a:latin typeface="微软雅黑" panose="020B0503020204020204" pitchFamily="34" charset="-122"/>
              <a:ea typeface="微软雅黑" panose="020B0503020204020204" pitchFamily="34" charset="-122"/>
            </a:endParaRPr>
          </a:p>
        </p:txBody>
      </p:sp>
      <p:grpSp>
        <p:nvGrpSpPr>
          <p:cNvPr id="17" name="组合 16"/>
          <p:cNvGrpSpPr/>
          <p:nvPr userDrawn="1"/>
        </p:nvGrpSpPr>
        <p:grpSpPr>
          <a:xfrm>
            <a:off x="78938" y="1038860"/>
            <a:ext cx="433078" cy="101282"/>
            <a:chOff x="78938" y="1038860"/>
            <a:chExt cx="433078" cy="101282"/>
          </a:xfrm>
        </p:grpSpPr>
        <p:sp>
          <p:nvSpPr>
            <p:cNvPr id="22" name="平行四边形 21"/>
            <p:cNvSpPr/>
            <p:nvPr/>
          </p:nvSpPr>
          <p:spPr>
            <a:xfrm>
              <a:off x="78938" y="1038860"/>
              <a:ext cx="131164" cy="101282"/>
            </a:xfrm>
            <a:prstGeom prst="parallelogram">
              <a:avLst/>
            </a:prstGeom>
            <a:solidFill>
              <a:schemeClr val="accent1">
                <a:lumMod val="75000"/>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平行四边形 24"/>
            <p:cNvSpPr/>
            <p:nvPr/>
          </p:nvSpPr>
          <p:spPr>
            <a:xfrm>
              <a:off x="229895" y="1038860"/>
              <a:ext cx="131164" cy="101282"/>
            </a:xfrm>
            <a:prstGeom prst="parallelogram">
              <a:avLst/>
            </a:prstGeom>
            <a:solidFill>
              <a:schemeClr val="accent1">
                <a:lumMod val="75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p:cNvSpPr/>
            <p:nvPr/>
          </p:nvSpPr>
          <p:spPr>
            <a:xfrm>
              <a:off x="380852" y="1038860"/>
              <a:ext cx="131164" cy="101282"/>
            </a:xfrm>
            <a:prstGeom prst="parallelogram">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2"/>
          <p:cNvPicPr>
            <a:picLocks noChangeAspect="1"/>
          </p:cNvPicPr>
          <p:nvPr userDrawn="1"/>
        </p:nvPicPr>
        <p:blipFill>
          <a:blip r:embed="rId4" cstate="screen"/>
          <a:stretch>
            <a:fillRect/>
          </a:stretch>
        </p:blipFill>
        <p:spPr>
          <a:xfrm>
            <a:off x="733654" y="-39756"/>
            <a:ext cx="1956538" cy="59850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导航页版式">
    <p:spTree>
      <p:nvGrpSpPr>
        <p:cNvPr id="1" name=""/>
        <p:cNvGrpSpPr/>
        <p:nvPr/>
      </p:nvGrpSpPr>
      <p:grpSpPr>
        <a:xfrm>
          <a:off x="0" y="0"/>
          <a:ext cx="0" cy="0"/>
          <a:chOff x="0" y="0"/>
          <a:chExt cx="0" cy="0"/>
        </a:xfrm>
      </p:grpSpPr>
      <p:pic>
        <p:nvPicPr>
          <p:cNvPr id="21" name="图片 20" descr="图片包含 游戏机, 鸟, 白色&#10;&#10;描述已自动生成"/>
          <p:cNvPicPr>
            <a:picLocks noChangeAspect="1"/>
          </p:cNvPicPr>
          <p:nvPr userDrawn="1"/>
        </p:nvPicPr>
        <p:blipFill>
          <a:blip r:embed="rId2" cstate="screen">
            <a:alphaModFix amt="50000"/>
          </a:blip>
          <a:stretch>
            <a:fillRect/>
          </a:stretch>
        </p:blipFill>
        <p:spPr>
          <a:xfrm>
            <a:off x="0" y="0"/>
            <a:ext cx="12192000" cy="6858000"/>
          </a:xfrm>
          <a:prstGeom prst="rect">
            <a:avLst/>
          </a:prstGeom>
        </p:spPr>
      </p:pic>
      <p:grpSp>
        <p:nvGrpSpPr>
          <p:cNvPr id="2" name="组合 1"/>
          <p:cNvGrpSpPr/>
          <p:nvPr userDrawn="1"/>
        </p:nvGrpSpPr>
        <p:grpSpPr>
          <a:xfrm>
            <a:off x="-7647" y="0"/>
            <a:ext cx="12199647" cy="620711"/>
            <a:chOff x="-7647" y="0"/>
            <a:chExt cx="12199647" cy="620711"/>
          </a:xfrm>
        </p:grpSpPr>
        <p:pic>
          <p:nvPicPr>
            <p:cNvPr id="14" name="Picture 2"/>
            <p:cNvPicPr>
              <a:picLocks noChangeAspect="1" noChangeArrowheads="1"/>
            </p:cNvPicPr>
            <p:nvPr userDrawn="1"/>
          </p:nvPicPr>
          <p:blipFill rotWithShape="1">
            <a:blip r:embed="rId3" cstate="screen">
              <a:duotone>
                <a:schemeClr val="accent6">
                  <a:shade val="45000"/>
                  <a:satMod val="135000"/>
                </a:schemeClr>
                <a:prstClr val="white"/>
              </a:duotone>
            </a:blip>
            <a:srcRect t="-705"/>
            <a:stretch>
              <a:fillRect/>
            </a:stretch>
          </p:blipFill>
          <p:spPr bwMode="auto">
            <a:xfrm>
              <a:off x="-7647" y="0"/>
              <a:ext cx="12199647" cy="620711"/>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p:cNvSpPr/>
            <p:nvPr userDrawn="1"/>
          </p:nvSpPr>
          <p:spPr>
            <a:xfrm>
              <a:off x="-7647" y="3401"/>
              <a:ext cx="12199647" cy="617310"/>
            </a:xfrm>
            <a:prstGeom prst="rect">
              <a:avLst/>
            </a:prstGeom>
            <a:gradFill>
              <a:gsLst>
                <a:gs pos="100000">
                  <a:schemeClr val="accent1">
                    <a:lumMod val="75000"/>
                    <a:alpha val="57000"/>
                  </a:schemeClr>
                </a:gs>
                <a:gs pos="0">
                  <a:schemeClr val="accent1">
                    <a:lumMod val="50000"/>
                    <a:alpha val="77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6" name="文本占位符 15"/>
          <p:cNvSpPr>
            <a:spLocks noGrp="1"/>
          </p:cNvSpPr>
          <p:nvPr>
            <p:ph type="body" sz="quarter" idx="10" hasCustomPrompt="1"/>
          </p:nvPr>
        </p:nvSpPr>
        <p:spPr>
          <a:xfrm>
            <a:off x="6543955" y="217933"/>
            <a:ext cx="1673856" cy="377825"/>
          </a:xfrm>
        </p:spPr>
        <p:txBody>
          <a:bodyPr>
            <a:noAutofit/>
          </a:bodyPr>
          <a:lstStyle>
            <a:lvl1pPr marL="0" indent="0" algn="ctr">
              <a:buNone/>
              <a:defRPr sz="16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8" name="文本占位符 15"/>
          <p:cNvSpPr>
            <a:spLocks noGrp="1"/>
          </p:cNvSpPr>
          <p:nvPr>
            <p:ph type="body" sz="quarter" idx="11" hasCustomPrompt="1"/>
          </p:nvPr>
        </p:nvSpPr>
        <p:spPr>
          <a:xfrm>
            <a:off x="4797638" y="212499"/>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9" name="文本占位符 15"/>
          <p:cNvSpPr>
            <a:spLocks noGrp="1"/>
          </p:cNvSpPr>
          <p:nvPr>
            <p:ph type="body" sz="quarter" idx="12" hasCustomPrompt="1"/>
          </p:nvPr>
        </p:nvSpPr>
        <p:spPr>
          <a:xfrm>
            <a:off x="8306529" y="217933"/>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20" name="文本占位符 15"/>
          <p:cNvSpPr>
            <a:spLocks noGrp="1"/>
          </p:cNvSpPr>
          <p:nvPr>
            <p:ph type="body" sz="quarter" idx="13" hasCustomPrompt="1"/>
          </p:nvPr>
        </p:nvSpPr>
        <p:spPr>
          <a:xfrm>
            <a:off x="10058214" y="217933"/>
            <a:ext cx="1673856" cy="377825"/>
          </a:xfrm>
        </p:spPr>
        <p:txBody>
          <a:bodyPr>
            <a:noAutofit/>
          </a:bodyPr>
          <a:lstStyle>
            <a:lvl1pPr marL="0" indent="0" algn="ctr">
              <a:buNone/>
              <a:defRPr sz="1400" b="0" i="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cxnSp>
        <p:nvCxnSpPr>
          <p:cNvPr id="23" name="直接连接符 22"/>
          <p:cNvCxnSpPr/>
          <p:nvPr userDrawn="1"/>
        </p:nvCxnSpPr>
        <p:spPr>
          <a:xfrm>
            <a:off x="658813" y="6237288"/>
            <a:ext cx="1087437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文本占位符 15"/>
          <p:cNvSpPr>
            <a:spLocks noGrp="1"/>
          </p:cNvSpPr>
          <p:nvPr>
            <p:ph type="body" sz="quarter" idx="14" hasCustomPrompt="1"/>
          </p:nvPr>
        </p:nvSpPr>
        <p:spPr>
          <a:xfrm>
            <a:off x="582612" y="6267676"/>
            <a:ext cx="6745288" cy="377825"/>
          </a:xfrm>
        </p:spPr>
        <p:txBody>
          <a:bodyPr>
            <a:noAutofit/>
          </a:bodyPr>
          <a:lstStyle>
            <a:lvl1pPr marL="0" indent="0" algn="l">
              <a:buNone/>
              <a:defRPr sz="1100" b="0">
                <a:solidFill>
                  <a:schemeClr val="bg1">
                    <a:lumMod val="75000"/>
                  </a:schemeClr>
                </a:solidFill>
                <a:latin typeface="微软雅黑" panose="020B0503020204020204" pitchFamily="34" charset="-122"/>
                <a:ea typeface="微软雅黑" panose="020B0503020204020204" pitchFamily="34" charset="-122"/>
              </a:defRPr>
            </a:lvl1pPr>
          </a:lstStyle>
          <a:p>
            <a:pPr lvl="0"/>
            <a:r>
              <a:rPr lang="zh-CN" altLang="en-US" dirty="0"/>
              <a:t>点击此处修改项目备注名称</a:t>
            </a:r>
            <a:endParaRPr lang="zh-CN" altLang="en-US" dirty="0"/>
          </a:p>
        </p:txBody>
      </p:sp>
      <p:sp>
        <p:nvSpPr>
          <p:cNvPr id="17" name="文本框 16"/>
          <p:cNvSpPr txBox="1"/>
          <p:nvPr userDrawn="1"/>
        </p:nvSpPr>
        <p:spPr>
          <a:xfrm>
            <a:off x="8453095" y="6288088"/>
            <a:ext cx="3184838" cy="244682"/>
          </a:xfrm>
          <a:prstGeom prst="rect">
            <a:avLst/>
          </a:prstGeom>
        </p:spPr>
        <p:txBody>
          <a:bodyPr vert="horz" lIns="91440" tIns="45720" rIns="91440" bIns="45720" rtlCol="0">
            <a:noAutofit/>
          </a:bodyPr>
          <a:lstStyle>
            <a:defPPr>
              <a:defRPr lang="zh-CN"/>
            </a:defPPr>
            <a:lvl1pPr lvl="0" indent="0">
              <a:lnSpc>
                <a:spcPct val="90000"/>
              </a:lnSpc>
              <a:spcBef>
                <a:spcPts val="1000"/>
              </a:spcBef>
              <a:buFont typeface="Arial" panose="020B0604020202020204" pitchFamily="34" charset="0"/>
              <a:buNone/>
              <a:defRPr sz="1100" b="0">
                <a:solidFill>
                  <a:schemeClr val="bg1">
                    <a:lumMod val="75000"/>
                  </a:schemeClr>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r"/>
            <a:r>
              <a:rPr lang="zh-CN" altLang="en-US" dirty="0">
                <a:latin typeface="微软雅黑" panose="020B0503020204020204" pitchFamily="34" charset="-122"/>
                <a:ea typeface="微软雅黑" panose="020B0503020204020204" pitchFamily="34" charset="-122"/>
              </a:rPr>
              <a:t>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学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笃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行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德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重</a:t>
            </a:r>
            <a:r>
              <a:rPr lang="en-US" altLang="zh-CN"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法</a:t>
            </a:r>
            <a:endParaRPr lang="zh-CN" altLang="en-US" dirty="0">
              <a:latin typeface="微软雅黑" panose="020B0503020204020204" pitchFamily="34" charset="-122"/>
              <a:ea typeface="微软雅黑" panose="020B0503020204020204" pitchFamily="34" charset="-122"/>
            </a:endParaRPr>
          </a:p>
        </p:txBody>
      </p:sp>
      <p:grpSp>
        <p:nvGrpSpPr>
          <p:cNvPr id="26" name="组合 25"/>
          <p:cNvGrpSpPr/>
          <p:nvPr userDrawn="1"/>
        </p:nvGrpSpPr>
        <p:grpSpPr>
          <a:xfrm>
            <a:off x="78938" y="1038860"/>
            <a:ext cx="433078" cy="101282"/>
            <a:chOff x="78938" y="1038860"/>
            <a:chExt cx="433078" cy="101282"/>
          </a:xfrm>
        </p:grpSpPr>
        <p:sp>
          <p:nvSpPr>
            <p:cNvPr id="27" name="平行四边形 26"/>
            <p:cNvSpPr/>
            <p:nvPr/>
          </p:nvSpPr>
          <p:spPr>
            <a:xfrm>
              <a:off x="78938" y="1038860"/>
              <a:ext cx="131164" cy="101282"/>
            </a:xfrm>
            <a:prstGeom prst="parallelogram">
              <a:avLst/>
            </a:prstGeom>
            <a:solidFill>
              <a:schemeClr val="accent1">
                <a:lumMod val="75000"/>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p:cNvSpPr/>
            <p:nvPr/>
          </p:nvSpPr>
          <p:spPr>
            <a:xfrm>
              <a:off x="229895" y="1038860"/>
              <a:ext cx="131164" cy="101282"/>
            </a:xfrm>
            <a:prstGeom prst="parallelogram">
              <a:avLst/>
            </a:prstGeom>
            <a:solidFill>
              <a:schemeClr val="accent1">
                <a:lumMod val="75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a:off x="380852" y="1038860"/>
              <a:ext cx="131164" cy="101282"/>
            </a:xfrm>
            <a:prstGeom prst="parallelogram">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1" name="图片 40"/>
          <p:cNvPicPr>
            <a:picLocks noChangeAspect="1"/>
          </p:cNvPicPr>
          <p:nvPr userDrawn="1"/>
        </p:nvPicPr>
        <p:blipFill>
          <a:blip r:embed="rId4" cstate="screen"/>
          <a:stretch>
            <a:fillRect/>
          </a:stretch>
        </p:blipFill>
        <p:spPr>
          <a:xfrm>
            <a:off x="733654" y="-39756"/>
            <a:ext cx="1956538" cy="59850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02导航页版式">
    <p:spTree>
      <p:nvGrpSpPr>
        <p:cNvPr id="1" name=""/>
        <p:cNvGrpSpPr/>
        <p:nvPr/>
      </p:nvGrpSpPr>
      <p:grpSpPr>
        <a:xfrm>
          <a:off x="0" y="0"/>
          <a:ext cx="0" cy="0"/>
          <a:chOff x="0" y="0"/>
          <a:chExt cx="0" cy="0"/>
        </a:xfrm>
      </p:grpSpPr>
      <p:pic>
        <p:nvPicPr>
          <p:cNvPr id="21" name="图片 20" descr="图片包含 游戏机, 鸟, 白色&#10;&#10;描述已自动生成"/>
          <p:cNvPicPr>
            <a:picLocks noChangeAspect="1"/>
          </p:cNvPicPr>
          <p:nvPr userDrawn="1"/>
        </p:nvPicPr>
        <p:blipFill>
          <a:blip r:embed="rId2" cstate="screen">
            <a:alphaModFix amt="50000"/>
          </a:blip>
          <a:stretch>
            <a:fillRect/>
          </a:stretch>
        </p:blipFill>
        <p:spPr>
          <a:xfrm>
            <a:off x="0" y="0"/>
            <a:ext cx="12192000" cy="6858000"/>
          </a:xfrm>
          <a:prstGeom prst="rect">
            <a:avLst/>
          </a:prstGeom>
        </p:spPr>
      </p:pic>
      <p:grpSp>
        <p:nvGrpSpPr>
          <p:cNvPr id="25" name="组合 24"/>
          <p:cNvGrpSpPr/>
          <p:nvPr userDrawn="1"/>
        </p:nvGrpSpPr>
        <p:grpSpPr>
          <a:xfrm>
            <a:off x="-7647" y="0"/>
            <a:ext cx="12199647" cy="620711"/>
            <a:chOff x="-7647" y="0"/>
            <a:chExt cx="12199647" cy="620711"/>
          </a:xfrm>
        </p:grpSpPr>
        <p:pic>
          <p:nvPicPr>
            <p:cNvPr id="30" name="Picture 2"/>
            <p:cNvPicPr>
              <a:picLocks noChangeAspect="1" noChangeArrowheads="1"/>
            </p:cNvPicPr>
            <p:nvPr userDrawn="1"/>
          </p:nvPicPr>
          <p:blipFill rotWithShape="1">
            <a:blip r:embed="rId3" cstate="screen">
              <a:duotone>
                <a:schemeClr val="accent6">
                  <a:shade val="45000"/>
                  <a:satMod val="135000"/>
                </a:schemeClr>
                <a:prstClr val="white"/>
              </a:duotone>
            </a:blip>
            <a:srcRect t="-705"/>
            <a:stretch>
              <a:fillRect/>
            </a:stretch>
          </p:blipFill>
          <p:spPr bwMode="auto">
            <a:xfrm>
              <a:off x="-7647" y="0"/>
              <a:ext cx="12199647" cy="620711"/>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30"/>
            <p:cNvSpPr/>
            <p:nvPr userDrawn="1"/>
          </p:nvSpPr>
          <p:spPr>
            <a:xfrm>
              <a:off x="-7647" y="3401"/>
              <a:ext cx="12199647" cy="617310"/>
            </a:xfrm>
            <a:prstGeom prst="rect">
              <a:avLst/>
            </a:prstGeom>
            <a:gradFill>
              <a:gsLst>
                <a:gs pos="100000">
                  <a:schemeClr val="accent1">
                    <a:lumMod val="75000"/>
                    <a:alpha val="57000"/>
                  </a:schemeClr>
                </a:gs>
                <a:gs pos="0">
                  <a:schemeClr val="accent1">
                    <a:lumMod val="50000"/>
                    <a:alpha val="77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6" name="文本占位符 15"/>
          <p:cNvSpPr>
            <a:spLocks noGrp="1"/>
          </p:cNvSpPr>
          <p:nvPr>
            <p:ph type="body" sz="quarter" idx="10" hasCustomPrompt="1"/>
          </p:nvPr>
        </p:nvSpPr>
        <p:spPr>
          <a:xfrm>
            <a:off x="6543955" y="217933"/>
            <a:ext cx="1673856" cy="377825"/>
          </a:xfrm>
        </p:spPr>
        <p:txBody>
          <a:bodyPr>
            <a:noAutofit/>
          </a:bodyPr>
          <a:lstStyle>
            <a:lvl1pPr marL="0" indent="0" algn="ctr">
              <a:buNone/>
              <a:defRPr sz="16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8" name="文本占位符 15"/>
          <p:cNvSpPr>
            <a:spLocks noGrp="1"/>
          </p:cNvSpPr>
          <p:nvPr>
            <p:ph type="body" sz="quarter" idx="11" hasCustomPrompt="1"/>
          </p:nvPr>
        </p:nvSpPr>
        <p:spPr>
          <a:xfrm>
            <a:off x="4797638" y="212499"/>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9" name="文本占位符 15"/>
          <p:cNvSpPr>
            <a:spLocks noGrp="1"/>
          </p:cNvSpPr>
          <p:nvPr>
            <p:ph type="body" sz="quarter" idx="12" hasCustomPrompt="1"/>
          </p:nvPr>
        </p:nvSpPr>
        <p:spPr>
          <a:xfrm>
            <a:off x="8306529" y="217933"/>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20" name="文本占位符 15"/>
          <p:cNvSpPr>
            <a:spLocks noGrp="1"/>
          </p:cNvSpPr>
          <p:nvPr>
            <p:ph type="body" sz="quarter" idx="13" hasCustomPrompt="1"/>
          </p:nvPr>
        </p:nvSpPr>
        <p:spPr>
          <a:xfrm>
            <a:off x="10058214" y="217933"/>
            <a:ext cx="1673856" cy="377825"/>
          </a:xfrm>
        </p:spPr>
        <p:txBody>
          <a:bodyPr>
            <a:noAutofit/>
          </a:bodyPr>
          <a:lstStyle>
            <a:lvl1pPr marL="0" indent="0" algn="ctr">
              <a:buNone/>
              <a:defRPr sz="1400" b="0" i="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cxnSp>
        <p:nvCxnSpPr>
          <p:cNvPr id="23" name="直接连接符 22"/>
          <p:cNvCxnSpPr/>
          <p:nvPr userDrawn="1"/>
        </p:nvCxnSpPr>
        <p:spPr>
          <a:xfrm>
            <a:off x="658813" y="6237288"/>
            <a:ext cx="1087437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文本占位符 15"/>
          <p:cNvSpPr>
            <a:spLocks noGrp="1"/>
          </p:cNvSpPr>
          <p:nvPr>
            <p:ph type="body" sz="quarter" idx="14" hasCustomPrompt="1"/>
          </p:nvPr>
        </p:nvSpPr>
        <p:spPr>
          <a:xfrm>
            <a:off x="582612" y="6267676"/>
            <a:ext cx="6745288" cy="377825"/>
          </a:xfrm>
        </p:spPr>
        <p:txBody>
          <a:bodyPr>
            <a:noAutofit/>
          </a:bodyPr>
          <a:lstStyle>
            <a:lvl1pPr marL="0" indent="0" algn="l">
              <a:buNone/>
              <a:defRPr sz="1100" b="0">
                <a:solidFill>
                  <a:schemeClr val="bg1">
                    <a:lumMod val="75000"/>
                  </a:schemeClr>
                </a:solidFill>
                <a:latin typeface="微软雅黑" panose="020B0503020204020204" pitchFamily="34" charset="-122"/>
                <a:ea typeface="微软雅黑" panose="020B0503020204020204" pitchFamily="34" charset="-122"/>
              </a:defRPr>
            </a:lvl1pPr>
          </a:lstStyle>
          <a:p>
            <a:pPr lvl="0"/>
            <a:r>
              <a:rPr lang="zh-CN" altLang="en-US" dirty="0"/>
              <a:t>点击此处修改项目备注名称</a:t>
            </a:r>
            <a:endParaRPr lang="zh-CN" altLang="en-US" dirty="0"/>
          </a:p>
        </p:txBody>
      </p:sp>
      <p:sp>
        <p:nvSpPr>
          <p:cNvPr id="17" name="文本框 16"/>
          <p:cNvSpPr txBox="1"/>
          <p:nvPr userDrawn="1"/>
        </p:nvSpPr>
        <p:spPr>
          <a:xfrm>
            <a:off x="8453095" y="6288088"/>
            <a:ext cx="3184838" cy="244682"/>
          </a:xfrm>
          <a:prstGeom prst="rect">
            <a:avLst/>
          </a:prstGeom>
        </p:spPr>
        <p:txBody>
          <a:bodyPr vert="horz" lIns="91440" tIns="45720" rIns="91440" bIns="45720" rtlCol="0">
            <a:noAutofit/>
          </a:bodyPr>
          <a:lstStyle>
            <a:defPPr>
              <a:defRPr lang="zh-CN"/>
            </a:defPPr>
            <a:lvl1pPr lvl="0" indent="0">
              <a:lnSpc>
                <a:spcPct val="90000"/>
              </a:lnSpc>
              <a:spcBef>
                <a:spcPts val="1000"/>
              </a:spcBef>
              <a:buFont typeface="Arial" panose="020B0604020202020204" pitchFamily="34" charset="0"/>
              <a:buNone/>
              <a:defRPr sz="1100" b="0">
                <a:solidFill>
                  <a:schemeClr val="bg1">
                    <a:lumMod val="75000"/>
                  </a:schemeClr>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r"/>
            <a:r>
              <a:rPr lang="zh-CN" altLang="en-US" dirty="0">
                <a:latin typeface="微软雅黑" panose="020B0503020204020204" pitchFamily="34" charset="-122"/>
                <a:ea typeface="微软雅黑" panose="020B0503020204020204" pitchFamily="34" charset="-122"/>
              </a:rPr>
              <a:t>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学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笃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行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德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重</a:t>
            </a:r>
            <a:r>
              <a:rPr lang="en-US" altLang="zh-CN"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法</a:t>
            </a:r>
            <a:endParaRPr lang="zh-CN" altLang="en-US" dirty="0">
              <a:latin typeface="微软雅黑" panose="020B0503020204020204" pitchFamily="34" charset="-122"/>
              <a:ea typeface="微软雅黑" panose="020B0503020204020204" pitchFamily="34" charset="-122"/>
            </a:endParaRPr>
          </a:p>
        </p:txBody>
      </p:sp>
      <p:pic>
        <p:nvPicPr>
          <p:cNvPr id="22" name="图片 21"/>
          <p:cNvPicPr>
            <a:picLocks noChangeAspect="1"/>
          </p:cNvPicPr>
          <p:nvPr userDrawn="1"/>
        </p:nvPicPr>
        <p:blipFill rotWithShape="1">
          <a:blip r:embed="rId4" cstate="print"/>
          <a:srcRect/>
          <a:stretch>
            <a:fillRect/>
          </a:stretch>
        </p:blipFill>
        <p:spPr>
          <a:xfrm>
            <a:off x="361059" y="1788732"/>
            <a:ext cx="6657975" cy="4030408"/>
          </a:xfrm>
          <a:prstGeom prst="rect">
            <a:avLst/>
          </a:prstGeom>
        </p:spPr>
      </p:pic>
      <p:sp>
        <p:nvSpPr>
          <p:cNvPr id="4" name="图片占位符 3"/>
          <p:cNvSpPr>
            <a:spLocks noGrp="1"/>
          </p:cNvSpPr>
          <p:nvPr>
            <p:ph type="pic" sz="quarter" idx="15"/>
          </p:nvPr>
        </p:nvSpPr>
        <p:spPr>
          <a:xfrm>
            <a:off x="1219200" y="2044700"/>
            <a:ext cx="4965700" cy="3175000"/>
          </a:xfrm>
          <a:blipFill>
            <a:blip r:embed="rId5"/>
            <a:stretch>
              <a:fillRect/>
            </a:stretch>
          </a:blipFill>
        </p:spPr>
        <p:txBody>
          <a:bodyPr/>
          <a:lstStyle>
            <a:lvl1pPr marL="0" indent="0">
              <a:buNone/>
              <a:defRPr/>
            </a:lvl1pPr>
          </a:lstStyle>
          <a:p>
            <a:endParaRPr lang="en-US" altLang="zh-CN" dirty="0"/>
          </a:p>
        </p:txBody>
      </p:sp>
      <p:grpSp>
        <p:nvGrpSpPr>
          <p:cNvPr id="26" name="组合 25"/>
          <p:cNvGrpSpPr/>
          <p:nvPr userDrawn="1"/>
        </p:nvGrpSpPr>
        <p:grpSpPr>
          <a:xfrm>
            <a:off x="78938" y="1038860"/>
            <a:ext cx="433078" cy="101282"/>
            <a:chOff x="78938" y="1038860"/>
            <a:chExt cx="433078" cy="101282"/>
          </a:xfrm>
        </p:grpSpPr>
        <p:sp>
          <p:nvSpPr>
            <p:cNvPr id="27" name="平行四边形 26"/>
            <p:cNvSpPr/>
            <p:nvPr/>
          </p:nvSpPr>
          <p:spPr>
            <a:xfrm>
              <a:off x="78938" y="1038860"/>
              <a:ext cx="131164" cy="101282"/>
            </a:xfrm>
            <a:prstGeom prst="parallelogram">
              <a:avLst/>
            </a:prstGeom>
            <a:solidFill>
              <a:schemeClr val="accent1">
                <a:lumMod val="75000"/>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p:cNvSpPr/>
            <p:nvPr/>
          </p:nvSpPr>
          <p:spPr>
            <a:xfrm>
              <a:off x="229895" y="1038860"/>
              <a:ext cx="131164" cy="101282"/>
            </a:xfrm>
            <a:prstGeom prst="parallelogram">
              <a:avLst/>
            </a:prstGeom>
            <a:solidFill>
              <a:schemeClr val="accent1">
                <a:lumMod val="75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a:off x="380852" y="1038860"/>
              <a:ext cx="131164" cy="101282"/>
            </a:xfrm>
            <a:prstGeom prst="parallelogram">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5" name="图片 34"/>
          <p:cNvPicPr>
            <a:picLocks noChangeAspect="1"/>
          </p:cNvPicPr>
          <p:nvPr userDrawn="1"/>
        </p:nvPicPr>
        <p:blipFill>
          <a:blip r:embed="rId6" cstate="screen"/>
          <a:stretch>
            <a:fillRect/>
          </a:stretch>
        </p:blipFill>
        <p:spPr>
          <a:xfrm>
            <a:off x="733654" y="-39756"/>
            <a:ext cx="1956538" cy="59850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导航页版式">
    <p:spTree>
      <p:nvGrpSpPr>
        <p:cNvPr id="1" name=""/>
        <p:cNvGrpSpPr/>
        <p:nvPr/>
      </p:nvGrpSpPr>
      <p:grpSpPr>
        <a:xfrm>
          <a:off x="0" y="0"/>
          <a:ext cx="0" cy="0"/>
          <a:chOff x="0" y="0"/>
          <a:chExt cx="0" cy="0"/>
        </a:xfrm>
      </p:grpSpPr>
      <p:pic>
        <p:nvPicPr>
          <p:cNvPr id="21" name="图片 20" descr="图片包含 游戏机, 鸟, 白色&#10;&#10;描述已自动生成"/>
          <p:cNvPicPr>
            <a:picLocks noChangeAspect="1"/>
          </p:cNvPicPr>
          <p:nvPr userDrawn="1"/>
        </p:nvPicPr>
        <p:blipFill>
          <a:blip r:embed="rId2" cstate="screen">
            <a:alphaModFix amt="50000"/>
          </a:blip>
          <a:stretch>
            <a:fillRect/>
          </a:stretch>
        </p:blipFill>
        <p:spPr>
          <a:xfrm>
            <a:off x="0" y="0"/>
            <a:ext cx="12192000" cy="6858000"/>
          </a:xfrm>
          <a:prstGeom prst="rect">
            <a:avLst/>
          </a:prstGeom>
        </p:spPr>
      </p:pic>
      <p:grpSp>
        <p:nvGrpSpPr>
          <p:cNvPr id="28" name="组合 27"/>
          <p:cNvGrpSpPr/>
          <p:nvPr userDrawn="1"/>
        </p:nvGrpSpPr>
        <p:grpSpPr>
          <a:xfrm>
            <a:off x="-7647" y="0"/>
            <a:ext cx="12199647" cy="620711"/>
            <a:chOff x="-7647" y="0"/>
            <a:chExt cx="12199647" cy="620711"/>
          </a:xfrm>
        </p:grpSpPr>
        <p:pic>
          <p:nvPicPr>
            <p:cNvPr id="29" name="Picture 2"/>
            <p:cNvPicPr>
              <a:picLocks noChangeAspect="1" noChangeArrowheads="1"/>
            </p:cNvPicPr>
            <p:nvPr userDrawn="1"/>
          </p:nvPicPr>
          <p:blipFill rotWithShape="1">
            <a:blip r:embed="rId3" cstate="screen">
              <a:duotone>
                <a:schemeClr val="accent6">
                  <a:shade val="45000"/>
                  <a:satMod val="135000"/>
                </a:schemeClr>
                <a:prstClr val="white"/>
              </a:duotone>
            </a:blip>
            <a:srcRect t="-705"/>
            <a:stretch>
              <a:fillRect/>
            </a:stretch>
          </p:blipFill>
          <p:spPr bwMode="auto">
            <a:xfrm>
              <a:off x="-7647" y="0"/>
              <a:ext cx="12199647" cy="620711"/>
            </a:xfrm>
            <a:prstGeom prst="rect">
              <a:avLst/>
            </a:prstGeom>
            <a:noFill/>
            <a:extLst>
              <a:ext uri="{909E8E84-426E-40DD-AFC4-6F175D3DCCD1}">
                <a14:hiddenFill xmlns:a14="http://schemas.microsoft.com/office/drawing/2010/main">
                  <a:solidFill>
                    <a:srgbClr val="FFFFFF"/>
                  </a:solidFill>
                </a14:hiddenFill>
              </a:ext>
            </a:extLst>
          </p:spPr>
        </p:pic>
        <p:sp>
          <p:nvSpPr>
            <p:cNvPr id="30" name="矩形 29"/>
            <p:cNvSpPr/>
            <p:nvPr userDrawn="1"/>
          </p:nvSpPr>
          <p:spPr>
            <a:xfrm>
              <a:off x="-7647" y="3401"/>
              <a:ext cx="12199647" cy="617310"/>
            </a:xfrm>
            <a:prstGeom prst="rect">
              <a:avLst/>
            </a:prstGeom>
            <a:gradFill>
              <a:gsLst>
                <a:gs pos="100000">
                  <a:schemeClr val="accent1">
                    <a:lumMod val="75000"/>
                    <a:alpha val="57000"/>
                  </a:schemeClr>
                </a:gs>
                <a:gs pos="0">
                  <a:schemeClr val="accent1">
                    <a:lumMod val="50000"/>
                    <a:alpha val="77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6" name="文本占位符 15"/>
          <p:cNvSpPr>
            <a:spLocks noGrp="1"/>
          </p:cNvSpPr>
          <p:nvPr>
            <p:ph type="body" sz="quarter" idx="10" hasCustomPrompt="1"/>
          </p:nvPr>
        </p:nvSpPr>
        <p:spPr>
          <a:xfrm>
            <a:off x="8310195" y="217933"/>
            <a:ext cx="1673856" cy="377825"/>
          </a:xfrm>
        </p:spPr>
        <p:txBody>
          <a:bodyPr>
            <a:noAutofit/>
          </a:bodyPr>
          <a:lstStyle>
            <a:lvl1pPr marL="0" indent="0" algn="ctr">
              <a:buNone/>
              <a:defRPr sz="16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8" name="文本占位符 15"/>
          <p:cNvSpPr>
            <a:spLocks noGrp="1"/>
          </p:cNvSpPr>
          <p:nvPr>
            <p:ph type="body" sz="quarter" idx="11" hasCustomPrompt="1"/>
          </p:nvPr>
        </p:nvSpPr>
        <p:spPr>
          <a:xfrm>
            <a:off x="4797638" y="212499"/>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9" name="文本占位符 15"/>
          <p:cNvSpPr>
            <a:spLocks noGrp="1"/>
          </p:cNvSpPr>
          <p:nvPr>
            <p:ph type="body" sz="quarter" idx="12" hasCustomPrompt="1"/>
          </p:nvPr>
        </p:nvSpPr>
        <p:spPr>
          <a:xfrm>
            <a:off x="6543955" y="210283"/>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20" name="文本占位符 15"/>
          <p:cNvSpPr>
            <a:spLocks noGrp="1"/>
          </p:cNvSpPr>
          <p:nvPr>
            <p:ph type="body" sz="quarter" idx="13" hasCustomPrompt="1"/>
          </p:nvPr>
        </p:nvSpPr>
        <p:spPr>
          <a:xfrm>
            <a:off x="10058214" y="217933"/>
            <a:ext cx="1673856" cy="377825"/>
          </a:xfrm>
        </p:spPr>
        <p:txBody>
          <a:bodyPr>
            <a:noAutofit/>
          </a:bodyPr>
          <a:lstStyle>
            <a:lvl1pPr marL="0" indent="0" algn="ctr">
              <a:buNone/>
              <a:defRPr sz="1400" b="0" i="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cxnSp>
        <p:nvCxnSpPr>
          <p:cNvPr id="23" name="直接连接符 22"/>
          <p:cNvCxnSpPr/>
          <p:nvPr userDrawn="1"/>
        </p:nvCxnSpPr>
        <p:spPr>
          <a:xfrm>
            <a:off x="658813" y="6237288"/>
            <a:ext cx="1087437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文本占位符 15"/>
          <p:cNvSpPr>
            <a:spLocks noGrp="1"/>
          </p:cNvSpPr>
          <p:nvPr>
            <p:ph type="body" sz="quarter" idx="14" hasCustomPrompt="1"/>
          </p:nvPr>
        </p:nvSpPr>
        <p:spPr>
          <a:xfrm>
            <a:off x="582612" y="6267676"/>
            <a:ext cx="6745288" cy="377825"/>
          </a:xfrm>
        </p:spPr>
        <p:txBody>
          <a:bodyPr>
            <a:noAutofit/>
          </a:bodyPr>
          <a:lstStyle>
            <a:lvl1pPr marL="0" indent="0" algn="l">
              <a:buNone/>
              <a:defRPr sz="1100" b="0">
                <a:solidFill>
                  <a:schemeClr val="bg1">
                    <a:lumMod val="75000"/>
                  </a:schemeClr>
                </a:solidFill>
                <a:latin typeface="微软雅黑" panose="020B0503020204020204" pitchFamily="34" charset="-122"/>
                <a:ea typeface="微软雅黑" panose="020B0503020204020204" pitchFamily="34" charset="-122"/>
              </a:defRPr>
            </a:lvl1pPr>
          </a:lstStyle>
          <a:p>
            <a:pPr lvl="0"/>
            <a:r>
              <a:rPr lang="zh-CN" altLang="en-US" dirty="0"/>
              <a:t>点击此处修改项目备注名称</a:t>
            </a:r>
            <a:endParaRPr lang="zh-CN" altLang="en-US" dirty="0"/>
          </a:p>
        </p:txBody>
      </p:sp>
      <p:sp>
        <p:nvSpPr>
          <p:cNvPr id="17" name="文本框 16"/>
          <p:cNvSpPr txBox="1"/>
          <p:nvPr userDrawn="1"/>
        </p:nvSpPr>
        <p:spPr>
          <a:xfrm>
            <a:off x="8453095" y="6288088"/>
            <a:ext cx="3184838" cy="244682"/>
          </a:xfrm>
          <a:prstGeom prst="rect">
            <a:avLst/>
          </a:prstGeom>
        </p:spPr>
        <p:txBody>
          <a:bodyPr vert="horz" lIns="91440" tIns="45720" rIns="91440" bIns="45720" rtlCol="0">
            <a:noAutofit/>
          </a:bodyPr>
          <a:lstStyle>
            <a:defPPr>
              <a:defRPr lang="zh-CN"/>
            </a:defPPr>
            <a:lvl1pPr lvl="0" indent="0">
              <a:lnSpc>
                <a:spcPct val="90000"/>
              </a:lnSpc>
              <a:spcBef>
                <a:spcPts val="1000"/>
              </a:spcBef>
              <a:buFont typeface="Arial" panose="020B0604020202020204" pitchFamily="34" charset="0"/>
              <a:buNone/>
              <a:defRPr sz="1100" b="0">
                <a:solidFill>
                  <a:schemeClr val="bg1">
                    <a:lumMod val="75000"/>
                  </a:schemeClr>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r"/>
            <a:r>
              <a:rPr lang="zh-CN" altLang="en-US" dirty="0">
                <a:latin typeface="微软雅黑" panose="020B0503020204020204" pitchFamily="34" charset="-122"/>
                <a:ea typeface="微软雅黑" panose="020B0503020204020204" pitchFamily="34" charset="-122"/>
              </a:rPr>
              <a:t>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学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笃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行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德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重</a:t>
            </a:r>
            <a:r>
              <a:rPr lang="en-US" altLang="zh-CN"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法</a:t>
            </a:r>
            <a:endParaRPr lang="zh-CN" altLang="en-US" dirty="0">
              <a:latin typeface="微软雅黑" panose="020B0503020204020204" pitchFamily="34" charset="-122"/>
              <a:ea typeface="微软雅黑" panose="020B0503020204020204" pitchFamily="34" charset="-122"/>
            </a:endParaRPr>
          </a:p>
        </p:txBody>
      </p:sp>
      <p:grpSp>
        <p:nvGrpSpPr>
          <p:cNvPr id="22" name="组合 21"/>
          <p:cNvGrpSpPr/>
          <p:nvPr userDrawn="1"/>
        </p:nvGrpSpPr>
        <p:grpSpPr>
          <a:xfrm>
            <a:off x="78938" y="1038860"/>
            <a:ext cx="433078" cy="101282"/>
            <a:chOff x="78938" y="1038860"/>
            <a:chExt cx="433078" cy="101282"/>
          </a:xfrm>
        </p:grpSpPr>
        <p:sp>
          <p:nvSpPr>
            <p:cNvPr id="25" name="平行四边形 24"/>
            <p:cNvSpPr/>
            <p:nvPr/>
          </p:nvSpPr>
          <p:spPr>
            <a:xfrm>
              <a:off x="78938" y="1038860"/>
              <a:ext cx="131164" cy="101282"/>
            </a:xfrm>
            <a:prstGeom prst="parallelogram">
              <a:avLst/>
            </a:prstGeom>
            <a:solidFill>
              <a:schemeClr val="accent1">
                <a:lumMod val="75000"/>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a:off x="229895" y="1038860"/>
              <a:ext cx="131164" cy="101282"/>
            </a:xfrm>
            <a:prstGeom prst="parallelogram">
              <a:avLst/>
            </a:prstGeom>
            <a:solidFill>
              <a:schemeClr val="accent1">
                <a:lumMod val="75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p:cNvSpPr/>
            <p:nvPr/>
          </p:nvSpPr>
          <p:spPr>
            <a:xfrm>
              <a:off x="380852" y="1038860"/>
              <a:ext cx="131164" cy="101282"/>
            </a:xfrm>
            <a:prstGeom prst="parallelogram">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4" name="图片 33"/>
          <p:cNvPicPr>
            <a:picLocks noChangeAspect="1"/>
          </p:cNvPicPr>
          <p:nvPr userDrawn="1"/>
        </p:nvPicPr>
        <p:blipFill>
          <a:blip r:embed="rId4" cstate="screen"/>
          <a:stretch>
            <a:fillRect/>
          </a:stretch>
        </p:blipFill>
        <p:spPr>
          <a:xfrm>
            <a:off x="733654" y="-39756"/>
            <a:ext cx="1956538" cy="59850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04导航页版式">
    <p:spTree>
      <p:nvGrpSpPr>
        <p:cNvPr id="1" name=""/>
        <p:cNvGrpSpPr/>
        <p:nvPr/>
      </p:nvGrpSpPr>
      <p:grpSpPr>
        <a:xfrm>
          <a:off x="0" y="0"/>
          <a:ext cx="0" cy="0"/>
          <a:chOff x="0" y="0"/>
          <a:chExt cx="0" cy="0"/>
        </a:xfrm>
      </p:grpSpPr>
      <p:pic>
        <p:nvPicPr>
          <p:cNvPr id="21" name="图片 20" descr="图片包含 游戏机, 鸟, 白色&#10;&#10;描述已自动生成"/>
          <p:cNvPicPr>
            <a:picLocks noChangeAspect="1"/>
          </p:cNvPicPr>
          <p:nvPr userDrawn="1"/>
        </p:nvPicPr>
        <p:blipFill>
          <a:blip r:embed="rId2" cstate="screen">
            <a:alphaModFix amt="50000"/>
          </a:blip>
          <a:stretch>
            <a:fillRect/>
          </a:stretch>
        </p:blipFill>
        <p:spPr>
          <a:xfrm>
            <a:off x="0" y="0"/>
            <a:ext cx="12192000" cy="6858000"/>
          </a:xfrm>
          <a:prstGeom prst="rect">
            <a:avLst/>
          </a:prstGeom>
        </p:spPr>
      </p:pic>
      <p:grpSp>
        <p:nvGrpSpPr>
          <p:cNvPr id="17" name="组合 16"/>
          <p:cNvGrpSpPr/>
          <p:nvPr userDrawn="1"/>
        </p:nvGrpSpPr>
        <p:grpSpPr>
          <a:xfrm>
            <a:off x="-7647" y="0"/>
            <a:ext cx="12199647" cy="620711"/>
            <a:chOff x="-7647" y="0"/>
            <a:chExt cx="12199647" cy="620711"/>
          </a:xfrm>
        </p:grpSpPr>
        <p:pic>
          <p:nvPicPr>
            <p:cNvPr id="23" name="Picture 2"/>
            <p:cNvPicPr>
              <a:picLocks noChangeAspect="1" noChangeArrowheads="1"/>
            </p:cNvPicPr>
            <p:nvPr userDrawn="1"/>
          </p:nvPicPr>
          <p:blipFill rotWithShape="1">
            <a:blip r:embed="rId3" cstate="screen">
              <a:duotone>
                <a:schemeClr val="accent6">
                  <a:shade val="45000"/>
                  <a:satMod val="135000"/>
                </a:schemeClr>
                <a:prstClr val="white"/>
              </a:duotone>
            </a:blip>
            <a:srcRect t="-705"/>
            <a:stretch>
              <a:fillRect/>
            </a:stretch>
          </p:blipFill>
          <p:spPr bwMode="auto">
            <a:xfrm>
              <a:off x="-7647" y="0"/>
              <a:ext cx="12199647" cy="620711"/>
            </a:xfrm>
            <a:prstGeom prst="rect">
              <a:avLst/>
            </a:prstGeom>
            <a:noFill/>
            <a:extLst>
              <a:ext uri="{909E8E84-426E-40DD-AFC4-6F175D3DCCD1}">
                <a14:hiddenFill xmlns:a14="http://schemas.microsoft.com/office/drawing/2010/main">
                  <a:solidFill>
                    <a:srgbClr val="FFFFFF"/>
                  </a:solidFill>
                </a14:hiddenFill>
              </a:ext>
            </a:extLst>
          </p:spPr>
        </p:pic>
        <p:sp>
          <p:nvSpPr>
            <p:cNvPr id="25" name="矩形 24"/>
            <p:cNvSpPr/>
            <p:nvPr userDrawn="1"/>
          </p:nvSpPr>
          <p:spPr>
            <a:xfrm>
              <a:off x="-7647" y="3401"/>
              <a:ext cx="12199647" cy="617310"/>
            </a:xfrm>
            <a:prstGeom prst="rect">
              <a:avLst/>
            </a:prstGeom>
            <a:gradFill>
              <a:gsLst>
                <a:gs pos="100000">
                  <a:schemeClr val="accent1">
                    <a:lumMod val="75000"/>
                    <a:alpha val="57000"/>
                  </a:schemeClr>
                </a:gs>
                <a:gs pos="0">
                  <a:schemeClr val="accent1">
                    <a:lumMod val="50000"/>
                    <a:alpha val="77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6" name="文本占位符 15"/>
          <p:cNvSpPr>
            <a:spLocks noGrp="1"/>
          </p:cNvSpPr>
          <p:nvPr>
            <p:ph type="body" sz="quarter" idx="10" hasCustomPrompt="1"/>
          </p:nvPr>
        </p:nvSpPr>
        <p:spPr>
          <a:xfrm>
            <a:off x="10070914" y="205233"/>
            <a:ext cx="1673856" cy="377825"/>
          </a:xfrm>
        </p:spPr>
        <p:txBody>
          <a:bodyPr>
            <a:noAutofit/>
          </a:bodyPr>
          <a:lstStyle>
            <a:lvl1pPr marL="0" indent="0" algn="ctr">
              <a:buNone/>
              <a:defRPr sz="16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8" name="文本占位符 15"/>
          <p:cNvSpPr>
            <a:spLocks noGrp="1"/>
          </p:cNvSpPr>
          <p:nvPr>
            <p:ph type="body" sz="quarter" idx="11" hasCustomPrompt="1"/>
          </p:nvPr>
        </p:nvSpPr>
        <p:spPr>
          <a:xfrm>
            <a:off x="4797638" y="212499"/>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9" name="文本占位符 15"/>
          <p:cNvSpPr>
            <a:spLocks noGrp="1"/>
          </p:cNvSpPr>
          <p:nvPr>
            <p:ph type="body" sz="quarter" idx="12" hasCustomPrompt="1"/>
          </p:nvPr>
        </p:nvSpPr>
        <p:spPr>
          <a:xfrm>
            <a:off x="6543955" y="210283"/>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20" name="文本占位符 15"/>
          <p:cNvSpPr>
            <a:spLocks noGrp="1"/>
          </p:cNvSpPr>
          <p:nvPr>
            <p:ph type="body" sz="quarter" idx="13" hasCustomPrompt="1"/>
          </p:nvPr>
        </p:nvSpPr>
        <p:spPr>
          <a:xfrm>
            <a:off x="8298355" y="212942"/>
            <a:ext cx="1673856" cy="377825"/>
          </a:xfrm>
        </p:spPr>
        <p:txBody>
          <a:bodyPr>
            <a:noAutofit/>
          </a:bodyPr>
          <a:lstStyle>
            <a:lvl1pPr marL="0" indent="0" algn="ctr">
              <a:buNone/>
              <a:defRPr sz="1400" b="0" i="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24" name="文本占位符 15"/>
          <p:cNvSpPr>
            <a:spLocks noGrp="1"/>
          </p:cNvSpPr>
          <p:nvPr>
            <p:ph type="body" sz="quarter" idx="14" hasCustomPrompt="1"/>
          </p:nvPr>
        </p:nvSpPr>
        <p:spPr>
          <a:xfrm>
            <a:off x="582612" y="6267676"/>
            <a:ext cx="6745288" cy="377825"/>
          </a:xfrm>
        </p:spPr>
        <p:txBody>
          <a:bodyPr>
            <a:noAutofit/>
          </a:bodyPr>
          <a:lstStyle>
            <a:lvl1pPr marL="0" indent="0" algn="l">
              <a:buNone/>
              <a:defRPr sz="1100" b="0">
                <a:solidFill>
                  <a:schemeClr val="bg1">
                    <a:lumMod val="75000"/>
                  </a:schemeClr>
                </a:solidFill>
                <a:latin typeface="微软雅黑" panose="020B0503020204020204" pitchFamily="34" charset="-122"/>
                <a:ea typeface="微软雅黑" panose="020B0503020204020204" pitchFamily="34" charset="-122"/>
              </a:defRPr>
            </a:lvl1pPr>
          </a:lstStyle>
          <a:p>
            <a:pPr lvl="0"/>
            <a:r>
              <a:rPr lang="zh-CN" altLang="en-US" dirty="0"/>
              <a:t>点击此处修改项目备注名称</a:t>
            </a:r>
            <a:endParaRPr lang="zh-CN" altLang="en-US" dirty="0"/>
          </a:p>
        </p:txBody>
      </p:sp>
      <p:sp>
        <p:nvSpPr>
          <p:cNvPr id="22" name="文本框 21"/>
          <p:cNvSpPr txBox="1"/>
          <p:nvPr userDrawn="1"/>
        </p:nvSpPr>
        <p:spPr>
          <a:xfrm>
            <a:off x="8453095" y="6288088"/>
            <a:ext cx="3184838" cy="244682"/>
          </a:xfrm>
          <a:prstGeom prst="rect">
            <a:avLst/>
          </a:prstGeom>
        </p:spPr>
        <p:txBody>
          <a:bodyPr vert="horz" lIns="91440" tIns="45720" rIns="91440" bIns="45720" rtlCol="0">
            <a:noAutofit/>
          </a:bodyPr>
          <a:lstStyle>
            <a:defPPr>
              <a:defRPr lang="zh-CN"/>
            </a:defPPr>
            <a:lvl1pPr lvl="0" indent="0">
              <a:lnSpc>
                <a:spcPct val="90000"/>
              </a:lnSpc>
              <a:spcBef>
                <a:spcPts val="1000"/>
              </a:spcBef>
              <a:buFont typeface="Arial" panose="020B0604020202020204" pitchFamily="34" charset="0"/>
              <a:buNone/>
              <a:defRPr sz="1100" b="0">
                <a:solidFill>
                  <a:schemeClr val="bg1">
                    <a:lumMod val="75000"/>
                  </a:schemeClr>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r"/>
            <a:r>
              <a:rPr lang="zh-CN" altLang="en-US" dirty="0">
                <a:latin typeface="微软雅黑" panose="020B0503020204020204" pitchFamily="34" charset="-122"/>
                <a:ea typeface="微软雅黑" panose="020B0503020204020204" pitchFamily="34" charset="-122"/>
              </a:rPr>
              <a:t>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学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笃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行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德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重</a:t>
            </a:r>
            <a:r>
              <a:rPr lang="en-US" altLang="zh-CN"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法</a:t>
            </a:r>
            <a:endParaRPr lang="zh-CN" altLang="en-US" dirty="0">
              <a:latin typeface="微软雅黑" panose="020B0503020204020204" pitchFamily="34" charset="-122"/>
              <a:ea typeface="微软雅黑" panose="020B0503020204020204" pitchFamily="34" charset="-122"/>
            </a:endParaRPr>
          </a:p>
        </p:txBody>
      </p:sp>
      <p:grpSp>
        <p:nvGrpSpPr>
          <p:cNvPr id="30" name="组合 29"/>
          <p:cNvGrpSpPr/>
          <p:nvPr userDrawn="1"/>
        </p:nvGrpSpPr>
        <p:grpSpPr>
          <a:xfrm>
            <a:off x="78938" y="1038860"/>
            <a:ext cx="433078" cy="101282"/>
            <a:chOff x="78938" y="1038860"/>
            <a:chExt cx="433078" cy="101282"/>
          </a:xfrm>
        </p:grpSpPr>
        <p:sp>
          <p:nvSpPr>
            <p:cNvPr id="31" name="平行四边形 30"/>
            <p:cNvSpPr/>
            <p:nvPr/>
          </p:nvSpPr>
          <p:spPr>
            <a:xfrm>
              <a:off x="78938" y="1038860"/>
              <a:ext cx="131164" cy="101282"/>
            </a:xfrm>
            <a:prstGeom prst="parallelogram">
              <a:avLst/>
            </a:prstGeom>
            <a:solidFill>
              <a:schemeClr val="accent1">
                <a:lumMod val="75000"/>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平行四边形 31"/>
            <p:cNvSpPr/>
            <p:nvPr/>
          </p:nvSpPr>
          <p:spPr>
            <a:xfrm>
              <a:off x="229895" y="1038860"/>
              <a:ext cx="131164" cy="101282"/>
            </a:xfrm>
            <a:prstGeom prst="parallelogram">
              <a:avLst/>
            </a:prstGeom>
            <a:solidFill>
              <a:schemeClr val="accent1">
                <a:lumMod val="75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平行四边形 32"/>
            <p:cNvSpPr/>
            <p:nvPr/>
          </p:nvSpPr>
          <p:spPr>
            <a:xfrm>
              <a:off x="380852" y="1038860"/>
              <a:ext cx="131164" cy="101282"/>
            </a:xfrm>
            <a:prstGeom prst="parallelogram">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9" name="图片 28"/>
          <p:cNvPicPr>
            <a:picLocks noChangeAspect="1"/>
          </p:cNvPicPr>
          <p:nvPr userDrawn="1"/>
        </p:nvPicPr>
        <p:blipFill>
          <a:blip r:embed="rId4" cstate="screen"/>
          <a:stretch>
            <a:fillRect/>
          </a:stretch>
        </p:blipFill>
        <p:spPr>
          <a:xfrm>
            <a:off x="733654" y="-39756"/>
            <a:ext cx="1956538" cy="59850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4导航页版式">
    <p:spTree>
      <p:nvGrpSpPr>
        <p:cNvPr id="1" name=""/>
        <p:cNvGrpSpPr/>
        <p:nvPr/>
      </p:nvGrpSpPr>
      <p:grpSpPr>
        <a:xfrm>
          <a:off x="0" y="0"/>
          <a:ext cx="0" cy="0"/>
          <a:chOff x="0" y="0"/>
          <a:chExt cx="0" cy="0"/>
        </a:xfrm>
      </p:grpSpPr>
      <p:pic>
        <p:nvPicPr>
          <p:cNvPr id="21" name="图片 20" descr="图片包含 游戏机, 鸟, 白色&#10;&#10;描述已自动生成"/>
          <p:cNvPicPr>
            <a:picLocks noChangeAspect="1"/>
          </p:cNvPicPr>
          <p:nvPr userDrawn="1"/>
        </p:nvPicPr>
        <p:blipFill>
          <a:blip r:embed="rId2" cstate="screen">
            <a:alphaModFix amt="50000"/>
          </a:blip>
          <a:stretch>
            <a:fillRect/>
          </a:stretch>
        </p:blipFill>
        <p:spPr>
          <a:xfrm>
            <a:off x="0" y="0"/>
            <a:ext cx="12192000" cy="6858000"/>
          </a:xfrm>
          <a:prstGeom prst="rect">
            <a:avLst/>
          </a:prstGeom>
        </p:spPr>
      </p:pic>
      <p:grpSp>
        <p:nvGrpSpPr>
          <p:cNvPr id="25" name="组合 24"/>
          <p:cNvGrpSpPr/>
          <p:nvPr userDrawn="1"/>
        </p:nvGrpSpPr>
        <p:grpSpPr>
          <a:xfrm>
            <a:off x="-7647" y="0"/>
            <a:ext cx="12199647" cy="620711"/>
            <a:chOff x="-7647" y="0"/>
            <a:chExt cx="12199647" cy="620711"/>
          </a:xfrm>
        </p:grpSpPr>
        <p:pic>
          <p:nvPicPr>
            <p:cNvPr id="26" name="Picture 2"/>
            <p:cNvPicPr>
              <a:picLocks noChangeAspect="1" noChangeArrowheads="1"/>
            </p:cNvPicPr>
            <p:nvPr userDrawn="1"/>
          </p:nvPicPr>
          <p:blipFill rotWithShape="1">
            <a:blip r:embed="rId3" cstate="screen">
              <a:duotone>
                <a:schemeClr val="accent6">
                  <a:shade val="45000"/>
                  <a:satMod val="135000"/>
                </a:schemeClr>
                <a:prstClr val="white"/>
              </a:duotone>
            </a:blip>
            <a:srcRect t="-705"/>
            <a:stretch>
              <a:fillRect/>
            </a:stretch>
          </p:blipFill>
          <p:spPr bwMode="auto">
            <a:xfrm>
              <a:off x="-7647" y="0"/>
              <a:ext cx="12199647" cy="620711"/>
            </a:xfrm>
            <a:prstGeom prst="rect">
              <a:avLst/>
            </a:prstGeom>
            <a:noFill/>
            <a:extLst>
              <a:ext uri="{909E8E84-426E-40DD-AFC4-6F175D3DCCD1}">
                <a14:hiddenFill xmlns:a14="http://schemas.microsoft.com/office/drawing/2010/main">
                  <a:solidFill>
                    <a:srgbClr val="FFFFFF"/>
                  </a:solidFill>
                </a14:hiddenFill>
              </a:ext>
            </a:extLst>
          </p:spPr>
        </p:pic>
        <p:sp>
          <p:nvSpPr>
            <p:cNvPr id="27" name="矩形 26"/>
            <p:cNvSpPr/>
            <p:nvPr userDrawn="1"/>
          </p:nvSpPr>
          <p:spPr>
            <a:xfrm>
              <a:off x="-7647" y="3401"/>
              <a:ext cx="12199647" cy="617310"/>
            </a:xfrm>
            <a:prstGeom prst="rect">
              <a:avLst/>
            </a:prstGeom>
            <a:gradFill>
              <a:gsLst>
                <a:gs pos="100000">
                  <a:schemeClr val="accent1">
                    <a:lumMod val="75000"/>
                    <a:alpha val="57000"/>
                  </a:schemeClr>
                </a:gs>
                <a:gs pos="0">
                  <a:schemeClr val="accent1">
                    <a:lumMod val="50000"/>
                    <a:alpha val="77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6" name="文本占位符 15"/>
          <p:cNvSpPr>
            <a:spLocks noGrp="1"/>
          </p:cNvSpPr>
          <p:nvPr>
            <p:ph type="body" sz="quarter" idx="10" hasCustomPrompt="1"/>
          </p:nvPr>
        </p:nvSpPr>
        <p:spPr>
          <a:xfrm>
            <a:off x="10070914" y="205233"/>
            <a:ext cx="1673856" cy="377825"/>
          </a:xfrm>
        </p:spPr>
        <p:txBody>
          <a:bodyPr>
            <a:noAutofit/>
          </a:bodyPr>
          <a:lstStyle>
            <a:lvl1pPr marL="0" indent="0" algn="ctr">
              <a:buNone/>
              <a:defRPr sz="16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8" name="文本占位符 15"/>
          <p:cNvSpPr>
            <a:spLocks noGrp="1"/>
          </p:cNvSpPr>
          <p:nvPr>
            <p:ph type="body" sz="quarter" idx="11" hasCustomPrompt="1"/>
          </p:nvPr>
        </p:nvSpPr>
        <p:spPr>
          <a:xfrm>
            <a:off x="4797638" y="212499"/>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19" name="文本占位符 15"/>
          <p:cNvSpPr>
            <a:spLocks noGrp="1"/>
          </p:cNvSpPr>
          <p:nvPr>
            <p:ph type="body" sz="quarter" idx="12" hasCustomPrompt="1"/>
          </p:nvPr>
        </p:nvSpPr>
        <p:spPr>
          <a:xfrm>
            <a:off x="6543955" y="210283"/>
            <a:ext cx="1673856" cy="377825"/>
          </a:xfrm>
        </p:spPr>
        <p:txBody>
          <a:bodyPr>
            <a:noAutofit/>
          </a:bodyPr>
          <a:lstStyle>
            <a:lvl1pPr marL="0" indent="0" algn="ctr">
              <a:buNone/>
              <a:defRPr sz="1400" b="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sp>
        <p:nvSpPr>
          <p:cNvPr id="20" name="文本占位符 15"/>
          <p:cNvSpPr>
            <a:spLocks noGrp="1"/>
          </p:cNvSpPr>
          <p:nvPr>
            <p:ph type="body" sz="quarter" idx="13" hasCustomPrompt="1"/>
          </p:nvPr>
        </p:nvSpPr>
        <p:spPr>
          <a:xfrm>
            <a:off x="8298355" y="212942"/>
            <a:ext cx="1673856" cy="377825"/>
          </a:xfrm>
        </p:spPr>
        <p:txBody>
          <a:bodyPr>
            <a:noAutofit/>
          </a:bodyPr>
          <a:lstStyle>
            <a:lvl1pPr marL="0" indent="0" algn="ctr">
              <a:buNone/>
              <a:defRPr sz="1400" b="0" i="0">
                <a:solidFill>
                  <a:schemeClr val="bg1">
                    <a:alpha val="36000"/>
                  </a:schemeClr>
                </a:solidFill>
                <a:latin typeface="微软雅黑" panose="020B0503020204020204" pitchFamily="34" charset="-122"/>
                <a:ea typeface="微软雅黑" panose="020B0503020204020204" pitchFamily="34" charset="-122"/>
              </a:defRPr>
            </a:lvl1pPr>
          </a:lstStyle>
          <a:p>
            <a:pPr lvl="0"/>
            <a:r>
              <a:rPr lang="zh-CN" altLang="en-US" dirty="0"/>
              <a:t>点击添加标题</a:t>
            </a:r>
            <a:endParaRPr lang="zh-CN" altLang="en-US" dirty="0"/>
          </a:p>
        </p:txBody>
      </p:sp>
      <p:cxnSp>
        <p:nvCxnSpPr>
          <p:cNvPr id="23" name="直接连接符 22"/>
          <p:cNvCxnSpPr/>
          <p:nvPr userDrawn="1"/>
        </p:nvCxnSpPr>
        <p:spPr>
          <a:xfrm>
            <a:off x="658813" y="6237288"/>
            <a:ext cx="1087437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文本占位符 15"/>
          <p:cNvSpPr>
            <a:spLocks noGrp="1"/>
          </p:cNvSpPr>
          <p:nvPr>
            <p:ph type="body" sz="quarter" idx="14" hasCustomPrompt="1"/>
          </p:nvPr>
        </p:nvSpPr>
        <p:spPr>
          <a:xfrm>
            <a:off x="582612" y="6267676"/>
            <a:ext cx="6745288" cy="377825"/>
          </a:xfrm>
        </p:spPr>
        <p:txBody>
          <a:bodyPr>
            <a:noAutofit/>
          </a:bodyPr>
          <a:lstStyle>
            <a:lvl1pPr marL="0" indent="0" algn="l">
              <a:buNone/>
              <a:defRPr sz="1100" b="0">
                <a:solidFill>
                  <a:schemeClr val="bg1">
                    <a:lumMod val="75000"/>
                  </a:schemeClr>
                </a:solidFill>
                <a:latin typeface="微软雅黑" panose="020B0503020204020204" pitchFamily="34" charset="-122"/>
                <a:ea typeface="微软雅黑" panose="020B0503020204020204" pitchFamily="34" charset="-122"/>
              </a:defRPr>
            </a:lvl1pPr>
          </a:lstStyle>
          <a:p>
            <a:pPr lvl="0"/>
            <a:r>
              <a:rPr lang="zh-CN" altLang="en-US" dirty="0"/>
              <a:t>点击此处修改项目备注名称</a:t>
            </a:r>
            <a:endParaRPr lang="zh-CN" altLang="en-US" dirty="0"/>
          </a:p>
        </p:txBody>
      </p:sp>
      <p:sp>
        <p:nvSpPr>
          <p:cNvPr id="22" name="文本框 21"/>
          <p:cNvSpPr txBox="1"/>
          <p:nvPr userDrawn="1"/>
        </p:nvSpPr>
        <p:spPr>
          <a:xfrm>
            <a:off x="8453095" y="6288088"/>
            <a:ext cx="3184838" cy="244682"/>
          </a:xfrm>
          <a:prstGeom prst="rect">
            <a:avLst/>
          </a:prstGeom>
        </p:spPr>
        <p:txBody>
          <a:bodyPr vert="horz" lIns="91440" tIns="45720" rIns="91440" bIns="45720" rtlCol="0">
            <a:noAutofit/>
          </a:bodyPr>
          <a:lstStyle>
            <a:defPPr>
              <a:defRPr lang="zh-CN"/>
            </a:defPPr>
            <a:lvl1pPr lvl="0" indent="0">
              <a:lnSpc>
                <a:spcPct val="90000"/>
              </a:lnSpc>
              <a:spcBef>
                <a:spcPts val="1000"/>
              </a:spcBef>
              <a:buFont typeface="Arial" panose="020B0604020202020204" pitchFamily="34" charset="0"/>
              <a:buNone/>
              <a:defRPr sz="1100" b="0">
                <a:solidFill>
                  <a:schemeClr val="bg1">
                    <a:lumMod val="75000"/>
                  </a:schemeClr>
                </a:solidFill>
                <a:latin typeface="微软雅黑" panose="020B0503020204020204" pitchFamily="34" charset="-122"/>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r"/>
            <a:r>
              <a:rPr lang="zh-CN" altLang="en-US" dirty="0">
                <a:latin typeface="微软雅黑" panose="020B0503020204020204" pitchFamily="34" charset="-122"/>
                <a:ea typeface="微软雅黑" panose="020B0503020204020204" pitchFamily="34" charset="-122"/>
              </a:rPr>
              <a:t>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学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笃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行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德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重</a:t>
            </a:r>
            <a:r>
              <a:rPr lang="en-US" altLang="zh-CN"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法</a:t>
            </a:r>
            <a:endParaRPr lang="zh-CN" altLang="en-US" dirty="0">
              <a:latin typeface="微软雅黑" panose="020B0503020204020204" pitchFamily="34" charset="-122"/>
              <a:ea typeface="微软雅黑" panose="020B0503020204020204" pitchFamily="34" charset="-122"/>
            </a:endParaRPr>
          </a:p>
        </p:txBody>
      </p:sp>
      <p:sp>
        <p:nvSpPr>
          <p:cNvPr id="3" name="图片占位符 2"/>
          <p:cNvSpPr>
            <a:spLocks noGrp="1"/>
          </p:cNvSpPr>
          <p:nvPr>
            <p:ph type="pic" sz="quarter" idx="15"/>
          </p:nvPr>
        </p:nvSpPr>
        <p:spPr>
          <a:xfrm>
            <a:off x="3275013" y="1710297"/>
            <a:ext cx="5627687" cy="4021137"/>
          </a:xfrm>
        </p:spPr>
        <p:txBody>
          <a:bodyPr/>
          <a:lstStyle/>
          <a:p>
            <a:endParaRPr lang="zh-CN" altLang="en-US" dirty="0"/>
          </a:p>
        </p:txBody>
      </p:sp>
      <p:sp>
        <p:nvSpPr>
          <p:cNvPr id="28" name="图片占位符 2"/>
          <p:cNvSpPr>
            <a:spLocks noGrp="1"/>
          </p:cNvSpPr>
          <p:nvPr>
            <p:ph type="pic" sz="quarter" idx="16"/>
          </p:nvPr>
        </p:nvSpPr>
        <p:spPr>
          <a:xfrm>
            <a:off x="671513" y="2450665"/>
            <a:ext cx="2441121" cy="3330299"/>
          </a:xfrm>
          <a:effectLst>
            <a:outerShdw blurRad="50800" dist="38100" dir="5400000" algn="t" rotWithShape="0">
              <a:prstClr val="black">
                <a:alpha val="40000"/>
              </a:prstClr>
            </a:outerShdw>
          </a:effectLst>
          <a:scene3d>
            <a:camera prst="perspectiveRight"/>
            <a:lightRig rig="threePt" dir="t"/>
          </a:scene3d>
        </p:spPr>
        <p:txBody>
          <a:bodyPr/>
          <a:lstStyle/>
          <a:p>
            <a:endParaRPr lang="zh-CN" altLang="en-US" dirty="0"/>
          </a:p>
        </p:txBody>
      </p:sp>
      <p:sp>
        <p:nvSpPr>
          <p:cNvPr id="29" name="图片占位符 2"/>
          <p:cNvSpPr>
            <a:spLocks noGrp="1"/>
          </p:cNvSpPr>
          <p:nvPr>
            <p:ph type="pic" sz="quarter" idx="17"/>
          </p:nvPr>
        </p:nvSpPr>
        <p:spPr>
          <a:xfrm>
            <a:off x="9092067" y="2450665"/>
            <a:ext cx="2441121" cy="3330299"/>
          </a:xfrm>
          <a:effectLst>
            <a:outerShdw blurRad="50800" dist="38100" dir="5400000" algn="t" rotWithShape="0">
              <a:prstClr val="black">
                <a:alpha val="40000"/>
              </a:prstClr>
            </a:outerShdw>
          </a:effectLst>
          <a:scene3d>
            <a:camera prst="perspectiveLeft"/>
            <a:lightRig rig="threePt" dir="t"/>
          </a:scene3d>
        </p:spPr>
        <p:txBody>
          <a:bodyPr/>
          <a:lstStyle/>
          <a:p>
            <a:endParaRPr lang="zh-CN" altLang="en-US" dirty="0"/>
          </a:p>
        </p:txBody>
      </p:sp>
      <p:grpSp>
        <p:nvGrpSpPr>
          <p:cNvPr id="30" name="组合 29"/>
          <p:cNvGrpSpPr/>
          <p:nvPr userDrawn="1"/>
        </p:nvGrpSpPr>
        <p:grpSpPr>
          <a:xfrm>
            <a:off x="78938" y="1038860"/>
            <a:ext cx="433078" cy="101282"/>
            <a:chOff x="78938" y="1038860"/>
            <a:chExt cx="433078" cy="101282"/>
          </a:xfrm>
        </p:grpSpPr>
        <p:sp>
          <p:nvSpPr>
            <p:cNvPr id="31" name="平行四边形 30"/>
            <p:cNvSpPr/>
            <p:nvPr/>
          </p:nvSpPr>
          <p:spPr>
            <a:xfrm>
              <a:off x="78938" y="1038860"/>
              <a:ext cx="131164" cy="101282"/>
            </a:xfrm>
            <a:prstGeom prst="parallelogram">
              <a:avLst/>
            </a:prstGeom>
            <a:solidFill>
              <a:schemeClr val="accent1">
                <a:lumMod val="75000"/>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平行四边形 31"/>
            <p:cNvSpPr/>
            <p:nvPr/>
          </p:nvSpPr>
          <p:spPr>
            <a:xfrm>
              <a:off x="229895" y="1038860"/>
              <a:ext cx="131164" cy="101282"/>
            </a:xfrm>
            <a:prstGeom prst="parallelogram">
              <a:avLst/>
            </a:prstGeom>
            <a:solidFill>
              <a:schemeClr val="accent1">
                <a:lumMod val="75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平行四边形 32"/>
            <p:cNvSpPr/>
            <p:nvPr/>
          </p:nvSpPr>
          <p:spPr>
            <a:xfrm>
              <a:off x="380852" y="1038860"/>
              <a:ext cx="131164" cy="101282"/>
            </a:xfrm>
            <a:prstGeom prst="parallelogram">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7" name="图片 36"/>
          <p:cNvPicPr>
            <a:picLocks noChangeAspect="1"/>
          </p:cNvPicPr>
          <p:nvPr userDrawn="1"/>
        </p:nvPicPr>
        <p:blipFill>
          <a:blip r:embed="rId4" cstate="screen"/>
          <a:stretch>
            <a:fillRect/>
          </a:stretch>
        </p:blipFill>
        <p:spPr>
          <a:xfrm>
            <a:off x="733654" y="-39756"/>
            <a:ext cx="1956538" cy="59850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46D27256-A68D-4297-9D7A-47088A45254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B2193B-BC09-43C4-A2B3-A9B5580B0AE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3D85C91-BF9F-4E1A-BAF3-4EFDA311AD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F31263-3429-45A0-A253-DA45C3982DF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D27256-A68D-4297-9D7A-47088A45254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2193B-BC09-43C4-A2B3-A9B5580B0AE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1.png"/><Relationship Id="rId6" Type="http://schemas.openxmlformats.org/officeDocument/2006/relationships/image" Target="../media/image9.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2" Type="http://schemas.openxmlformats.org/officeDocument/2006/relationships/notesSlide" Target="../notesSlides/notesSlide2.xml"/><Relationship Id="rId11" Type="http://schemas.openxmlformats.org/officeDocument/2006/relationships/slideLayout" Target="../slideLayouts/slideLayout2.xml"/><Relationship Id="rId10" Type="http://schemas.openxmlformats.org/officeDocument/2006/relationships/image" Target="../media/image8.png"/><Relationship Id="rId1" Type="http://schemas.openxmlformats.org/officeDocument/2006/relationships/image" Target="../media/image12.png"/></Relationships>
</file>

<file path=ppt/slides/_rels/slide3.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4.png"/><Relationship Id="rId7" Type="http://schemas.openxmlformats.org/officeDocument/2006/relationships/image" Target="../media/image8.png"/><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16.png"/><Relationship Id="rId3" Type="http://schemas.microsoft.com/office/2007/relationships/hdphoto" Target="../media/image20.wdp"/><Relationship Id="rId2" Type="http://schemas.openxmlformats.org/officeDocument/2006/relationships/image" Target="../media/image19.png"/><Relationship Id="rId11" Type="http://schemas.openxmlformats.org/officeDocument/2006/relationships/notesSlide" Target="../notesSlides/notesSlide3.xml"/><Relationship Id="rId10" Type="http://schemas.openxmlformats.org/officeDocument/2006/relationships/slideLayout" Target="../slideLayouts/slideLayout2.xml"/><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5.png"/><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21.jpeg"/><Relationship Id="rId2" Type="http://schemas.openxmlformats.org/officeDocument/2006/relationships/image" Target="../media/image9.png"/><Relationship Id="rId12" Type="http://schemas.openxmlformats.org/officeDocument/2006/relationships/slideLayout" Target="../slideLayouts/slideLayout2.xml"/><Relationship Id="rId11" Type="http://schemas.openxmlformats.org/officeDocument/2006/relationships/image" Target="../media/image8.png"/><Relationship Id="rId10" Type="http://schemas.openxmlformats.org/officeDocument/2006/relationships/image" Target="../media/image11.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7.png"/><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jpeg"/><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png"/><Relationship Id="rId7" Type="http://schemas.openxmlformats.org/officeDocument/2006/relationships/image" Target="../media/image12.png"/><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9.png"/><Relationship Id="rId3" Type="http://schemas.openxmlformats.org/officeDocument/2006/relationships/image" Target="../media/image16.png"/><Relationship Id="rId2" Type="http://schemas.openxmlformats.org/officeDocument/2006/relationships/image" Target="../media/image24.jpeg"/><Relationship Id="rId10" Type="http://schemas.openxmlformats.org/officeDocument/2006/relationships/notesSlide" Target="../notesSlides/notesSlide4.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7.png"/><Relationship Id="rId7" Type="http://schemas.openxmlformats.org/officeDocument/2006/relationships/tags" Target="../tags/tag5.xml"/><Relationship Id="rId6" Type="http://schemas.microsoft.com/office/2007/relationships/media" Target="../media/media1.mp4"/><Relationship Id="rId5" Type="http://schemas.openxmlformats.org/officeDocument/2006/relationships/video" Target="../media/media1.mp4"/><Relationship Id="rId4" Type="http://schemas.openxmlformats.org/officeDocument/2006/relationships/image" Target="../media/image8.png"/><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png"/><Relationship Id="rId7" Type="http://schemas.openxmlformats.org/officeDocument/2006/relationships/image" Target="../media/image8.png"/><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6.png"/><Relationship Id="rId2" Type="http://schemas.openxmlformats.org/officeDocument/2006/relationships/image" Target="../media/image28.jpeg"/><Relationship Id="rId10" Type="http://schemas.openxmlformats.org/officeDocument/2006/relationships/notesSlide" Target="../notesSlides/notesSlide5.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31.png"/><Relationship Id="rId1"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3.pn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hyperlink" Target="https://www.bilibili.com/video/BV17x411k7uz/?share_source=copy_web" TargetMode="External"/><Relationship Id="rId4" Type="http://schemas.openxmlformats.org/officeDocument/2006/relationships/hyperlink" Target="https://www.bilibili.com/video/BV1Q5411E7jj/?share_source=copy_web" TargetMode="Externa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hyperlink" Target="https://www.bilibili.com/video/BV1124y1u78S/?share_source=copy_web" TargetMode="Externa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png"/><Relationship Id="rId7" Type="http://schemas.openxmlformats.org/officeDocument/2006/relationships/image" Target="../media/image12.png"/><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9.png"/><Relationship Id="rId3" Type="http://schemas.openxmlformats.org/officeDocument/2006/relationships/image" Target="../media/image16.png"/><Relationship Id="rId2" Type="http://schemas.openxmlformats.org/officeDocument/2006/relationships/image" Target="../media/image36.jpeg"/><Relationship Id="rId10" Type="http://schemas.openxmlformats.org/officeDocument/2006/relationships/notesSlide" Target="../notesSlides/notesSlide6.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9" Type="http://schemas.openxmlformats.org/officeDocument/2006/relationships/image" Target="../media/image42.svg"/><Relationship Id="rId8" Type="http://schemas.openxmlformats.org/officeDocument/2006/relationships/image" Target="../media/image41.png"/><Relationship Id="rId7" Type="http://schemas.openxmlformats.org/officeDocument/2006/relationships/image" Target="../media/image40.svg"/><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image" Target="../media/image8.png"/><Relationship Id="rId2" Type="http://schemas.openxmlformats.org/officeDocument/2006/relationships/image" Target="../media/image9.png"/><Relationship Id="rId12" Type="http://schemas.openxmlformats.org/officeDocument/2006/relationships/slideLayout" Target="../slideLayouts/slideLayout2.xml"/><Relationship Id="rId11" Type="http://schemas.openxmlformats.org/officeDocument/2006/relationships/image" Target="../media/image44.svg"/><Relationship Id="rId10" Type="http://schemas.openxmlformats.org/officeDocument/2006/relationships/image" Target="../media/image43.png"/><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5.jpeg"/><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6.jpeg"/><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7.jpeg"/><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9" Type="http://schemas.openxmlformats.org/officeDocument/2006/relationships/hyperlink" Target="https://baike.baidu.com/item/%E4%BA%A8%E5%BB%B7%E9%A1%BF%E8%88%9E%E8%B9%88%E7%97%87/10898724" TargetMode="External"/><Relationship Id="rId8" Type="http://schemas.openxmlformats.org/officeDocument/2006/relationships/hyperlink" Target="https://zhuanlan.zhihu.com/p/23374201" TargetMode="External"/><Relationship Id="rId7" Type="http://schemas.openxmlformats.org/officeDocument/2006/relationships/hyperlink" Target="https://m.thepaper.cn/baijiahao_6251473" TargetMode="External"/><Relationship Id="rId6" Type="http://schemas.openxmlformats.org/officeDocument/2006/relationships/image" Target="../media/image18.png"/><Relationship Id="rId5" Type="http://schemas.openxmlformats.org/officeDocument/2006/relationships/image" Target="../media/image8.png"/><Relationship Id="rId4" Type="http://schemas.openxmlformats.org/officeDocument/2006/relationships/image" Target="../media/image9.png"/><Relationship Id="rId3" Type="http://schemas.openxmlformats.org/officeDocument/2006/relationships/image" Target="../media/image15.png"/><Relationship Id="rId2" Type="http://schemas.openxmlformats.org/officeDocument/2006/relationships/image" Target="../media/image14.png"/><Relationship Id="rId15" Type="http://schemas.openxmlformats.org/officeDocument/2006/relationships/notesSlide" Target="../notesSlides/notesSlide7.xml"/><Relationship Id="rId14" Type="http://schemas.openxmlformats.org/officeDocument/2006/relationships/slideLayout" Target="../slideLayouts/slideLayout2.xml"/><Relationship Id="rId13" Type="http://schemas.openxmlformats.org/officeDocument/2006/relationships/hyperlink" Target="https://www.msdmanuals.cn/professional/neurologic-disorders/movement-and-cerebellar-disorders/huntington-disease" TargetMode="External"/><Relationship Id="rId12" Type="http://schemas.openxmlformats.org/officeDocument/2006/relationships/hyperlink" Target="https://www.thepaper.cn/newsDetail_forward_24664882" TargetMode="External"/><Relationship Id="rId11" Type="http://schemas.openxmlformats.org/officeDocument/2006/relationships/hyperlink" Target="https://www.thepaper.cn/newsDetail_forward_9639238" TargetMode="External"/><Relationship Id="rId10" Type="http://schemas.openxmlformats.org/officeDocument/2006/relationships/hyperlink" Target="mailto:&#8220;&#33310;&#36424;&#8221;@MedSci](https://m.medsci.cn/article/show_article.do?id=ac74e86829f5)" TargetMode="Externa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l="70436" t="39940" b="27376"/>
          <a:stretch>
            <a:fillRect/>
          </a:stretch>
        </p:blipFill>
        <p:spPr>
          <a:xfrm>
            <a:off x="-64770" y="0"/>
            <a:ext cx="12261215" cy="6859270"/>
          </a:xfrm>
          <a:prstGeom prst="rect">
            <a:avLst/>
          </a:prstGeom>
        </p:spPr>
      </p:pic>
      <p:sp>
        <p:nvSpPr>
          <p:cNvPr id="16" name="文本占位符 15"/>
          <p:cNvSpPr>
            <a:spLocks noGrp="1"/>
          </p:cNvSpPr>
          <p:nvPr>
            <p:ph type="body" sz="quarter" idx="10"/>
          </p:nvPr>
        </p:nvSpPr>
        <p:spPr>
          <a:xfrm>
            <a:off x="1357312" y="4342539"/>
            <a:ext cx="9515475" cy="607922"/>
          </a:xfrm>
        </p:spPr>
        <p:txBody>
          <a:bodyPr>
            <a:noAutofit/>
          </a:bodyPr>
          <a:lstStyle/>
          <a:p>
            <a:r>
              <a:rPr lang="zh-CN" altLang="en-US" sz="4400" b="1" spc="120" dirty="0">
                <a:solidFill>
                  <a:srgbClr val="EEC88F"/>
                </a:solidFill>
                <a:latin typeface="华文楷体" panose="02010600040101010101" charset="-122"/>
                <a:ea typeface="华文楷体" panose="02010600040101010101" charset="-122"/>
              </a:rPr>
              <a:t>亨廷顿舞蹈</a:t>
            </a:r>
            <a:r>
              <a:rPr lang="zh-CN" altLang="en-US" sz="4400" b="1" spc="120" dirty="0">
                <a:solidFill>
                  <a:srgbClr val="EEC88F"/>
                </a:solidFill>
                <a:latin typeface="华文楷体" panose="02010600040101010101" charset="-122"/>
                <a:ea typeface="华文楷体" panose="02010600040101010101" charset="-122"/>
              </a:rPr>
              <a:t>症</a:t>
            </a:r>
            <a:endParaRPr lang="zh-CN" altLang="en-US" sz="4400" b="1" spc="120" dirty="0">
              <a:solidFill>
                <a:srgbClr val="EEC88F"/>
              </a:solidFill>
              <a:latin typeface="华文楷体" panose="02010600040101010101" charset="-122"/>
              <a:ea typeface="华文楷体" panose="02010600040101010101" charset="-122"/>
            </a:endParaRPr>
          </a:p>
        </p:txBody>
      </p:sp>
      <p:pic>
        <p:nvPicPr>
          <p:cNvPr id="10" name="图片占位符 9" descr="/Users/zhaoyiming/Downloads/2023厦大ppt大赛素材-标志性事物/标志性建筑7.jpg标志性建筑7"/>
          <p:cNvPicPr>
            <a:picLocks noGrp="1" noChangeAspect="1"/>
          </p:cNvPicPr>
          <p:nvPr>
            <p:ph type="pic" sz="quarter" idx="11"/>
          </p:nvPr>
        </p:nvPicPr>
        <p:blipFill rotWithShape="1">
          <a:blip r:embed="rId2"/>
          <a:srcRect l="36" t="16205" r="-36" b="33673"/>
          <a:stretch>
            <a:fillRect/>
          </a:stretch>
        </p:blipFill>
        <p:spPr>
          <a:xfrm>
            <a:off x="-64770" y="0"/>
            <a:ext cx="12261215" cy="4102100"/>
          </a:xfrm>
          <a:ln>
            <a:noFill/>
          </a:ln>
        </p:spPr>
      </p:pic>
      <p:sp>
        <p:nvSpPr>
          <p:cNvPr id="19" name="文本占位符 18"/>
          <p:cNvSpPr>
            <a:spLocks noGrp="1"/>
          </p:cNvSpPr>
          <p:nvPr>
            <p:ph type="body" sz="quarter" idx="13"/>
          </p:nvPr>
        </p:nvSpPr>
        <p:spPr>
          <a:xfrm>
            <a:off x="1295400" y="4935855"/>
            <a:ext cx="9577070" cy="567055"/>
          </a:xfrm>
        </p:spPr>
        <p:txBody>
          <a:bodyPr>
            <a:noAutofit/>
          </a:bodyPr>
          <a:lstStyle/>
          <a:p>
            <a:pPr algn="ctr">
              <a:lnSpc>
                <a:spcPct val="130000"/>
              </a:lnSpc>
            </a:pPr>
            <a:r>
              <a:rPr lang="en-US" altLang="zh-CN" sz="2400" dirty="0">
                <a:solidFill>
                  <a:schemeClr val="tx2">
                    <a:lumMod val="60000"/>
                    <a:lumOff val="40000"/>
                  </a:schemeClr>
                </a:solidFill>
              </a:rPr>
              <a:t>Huntington’s disease, HD</a:t>
            </a:r>
            <a:endParaRPr lang="en-US" altLang="zh-CN" sz="2400" b="1" spc="100" dirty="0">
              <a:solidFill>
                <a:schemeClr val="tx2">
                  <a:lumMod val="60000"/>
                  <a:lumOff val="40000"/>
                </a:schemeClr>
              </a:solidFill>
            </a:endParaRPr>
          </a:p>
        </p:txBody>
      </p:sp>
      <p:sp>
        <p:nvSpPr>
          <p:cNvPr id="20" name="文本框 19"/>
          <p:cNvSpPr txBox="1"/>
          <p:nvPr/>
        </p:nvSpPr>
        <p:spPr>
          <a:xfrm>
            <a:off x="1488061" y="5440130"/>
            <a:ext cx="9216572" cy="491490"/>
          </a:xfrm>
          <a:prstGeom prst="rect">
            <a:avLst/>
          </a:prstGeom>
          <a:noFill/>
        </p:spPr>
        <p:txBody>
          <a:bodyPr wrap="square" rtlCol="0">
            <a:spAutoFit/>
          </a:bodyPr>
          <a:lstStyle/>
          <a:p>
            <a:pPr algn="ctr">
              <a:lnSpc>
                <a:spcPct val="130000"/>
              </a:lnSpc>
            </a:pPr>
            <a:r>
              <a:rPr lang="zh-CN" altLang="en-US" sz="2000" spc="100" dirty="0">
                <a:solidFill>
                  <a:srgbClr val="EEC88F"/>
                </a:solidFill>
                <a:latin typeface="微软雅黑" panose="020B0503020204020204" pitchFamily="34" charset="-122"/>
                <a:ea typeface="微软雅黑" panose="020B0503020204020204" pitchFamily="34" charset="-122"/>
              </a:rPr>
              <a:t>小组成员：杜佳宝</a:t>
            </a:r>
            <a:r>
              <a:rPr lang="en-US" altLang="zh-CN" sz="2000" spc="100" dirty="0">
                <a:solidFill>
                  <a:srgbClr val="EEC88F"/>
                </a:solidFill>
                <a:latin typeface="微软雅黑" panose="020B0503020204020204" pitchFamily="34" charset="-122"/>
                <a:ea typeface="微软雅黑" panose="020B0503020204020204" pitchFamily="34" charset="-122"/>
              </a:rPr>
              <a:t> </a:t>
            </a:r>
            <a:r>
              <a:rPr lang="zh-CN" altLang="en-US" sz="2000" spc="100" dirty="0">
                <a:solidFill>
                  <a:srgbClr val="EEC88F"/>
                </a:solidFill>
                <a:latin typeface="微软雅黑" panose="020B0503020204020204" pitchFamily="34" charset="-122"/>
                <a:ea typeface="微软雅黑" panose="020B0503020204020204" pitchFamily="34" charset="-122"/>
              </a:rPr>
              <a:t>李昌盛</a:t>
            </a:r>
            <a:r>
              <a:rPr lang="en-US" altLang="zh-CN" sz="2000" spc="100" dirty="0">
                <a:solidFill>
                  <a:srgbClr val="EEC88F"/>
                </a:solidFill>
                <a:latin typeface="微软雅黑" panose="020B0503020204020204" pitchFamily="34" charset="-122"/>
                <a:ea typeface="微软雅黑" panose="020B0503020204020204" pitchFamily="34" charset="-122"/>
              </a:rPr>
              <a:t> </a:t>
            </a:r>
            <a:r>
              <a:rPr lang="zh-CN" altLang="en-US" sz="2000" spc="100" dirty="0">
                <a:solidFill>
                  <a:srgbClr val="EEC88F"/>
                </a:solidFill>
                <a:latin typeface="微软雅黑" panose="020B0503020204020204" pitchFamily="34" charset="-122"/>
                <a:ea typeface="微软雅黑" panose="020B0503020204020204" pitchFamily="34" charset="-122"/>
              </a:rPr>
              <a:t>李佩石</a:t>
            </a:r>
            <a:r>
              <a:rPr lang="en-US" altLang="zh-CN" sz="2000" spc="100" dirty="0">
                <a:solidFill>
                  <a:srgbClr val="EEC88F"/>
                </a:solidFill>
                <a:latin typeface="微软雅黑" panose="020B0503020204020204" pitchFamily="34" charset="-122"/>
                <a:ea typeface="微软雅黑" panose="020B0503020204020204" pitchFamily="34" charset="-122"/>
              </a:rPr>
              <a:t> </a:t>
            </a:r>
            <a:r>
              <a:rPr lang="zh-CN" altLang="en-US" sz="2000" spc="100" dirty="0">
                <a:solidFill>
                  <a:srgbClr val="EEC88F"/>
                </a:solidFill>
                <a:latin typeface="微软雅黑" panose="020B0503020204020204" pitchFamily="34" charset="-122"/>
                <a:ea typeface="微软雅黑" panose="020B0503020204020204" pitchFamily="34" charset="-122"/>
              </a:rPr>
              <a:t>彭勇强</a:t>
            </a:r>
            <a:r>
              <a:rPr lang="en-US" altLang="zh-CN" sz="2000" spc="100" dirty="0">
                <a:solidFill>
                  <a:srgbClr val="EEC88F"/>
                </a:solidFill>
                <a:latin typeface="微软雅黑" panose="020B0503020204020204" pitchFamily="34" charset="-122"/>
                <a:ea typeface="微软雅黑" panose="020B0503020204020204" pitchFamily="34" charset="-122"/>
              </a:rPr>
              <a:t> </a:t>
            </a:r>
            <a:r>
              <a:rPr lang="zh-CN" altLang="en-US" sz="2000" spc="100" dirty="0">
                <a:solidFill>
                  <a:srgbClr val="EEC88F"/>
                </a:solidFill>
                <a:latin typeface="微软雅黑" panose="020B0503020204020204" pitchFamily="34" charset="-122"/>
                <a:ea typeface="微软雅黑" panose="020B0503020204020204" pitchFamily="34" charset="-122"/>
              </a:rPr>
              <a:t>杨仕晋</a:t>
            </a:r>
            <a:r>
              <a:rPr lang="en-US" altLang="zh-CN" sz="2000" spc="100" dirty="0">
                <a:solidFill>
                  <a:srgbClr val="EEC88F"/>
                </a:solidFill>
                <a:latin typeface="微软雅黑" panose="020B0503020204020204" pitchFamily="34" charset="-122"/>
                <a:ea typeface="微软雅黑" panose="020B0503020204020204" pitchFamily="34" charset="-122"/>
              </a:rPr>
              <a:t> </a:t>
            </a:r>
            <a:r>
              <a:rPr lang="zh-CN" altLang="en-US" sz="2000" spc="100" dirty="0">
                <a:solidFill>
                  <a:srgbClr val="EEC88F"/>
                </a:solidFill>
                <a:latin typeface="微软雅黑" panose="020B0503020204020204" pitchFamily="34" charset="-122"/>
                <a:ea typeface="微软雅黑" panose="020B0503020204020204" pitchFamily="34" charset="-122"/>
              </a:rPr>
              <a:t>赵祥宇</a:t>
            </a:r>
            <a:r>
              <a:rPr lang="zh-CN" altLang="en-US" sz="1400" spc="100" dirty="0">
                <a:solidFill>
                  <a:srgbClr val="EEC88F"/>
                </a:solidFill>
                <a:latin typeface="微软雅黑" panose="020B0503020204020204" pitchFamily="34" charset="-122"/>
                <a:ea typeface="微软雅黑" panose="020B0503020204020204" pitchFamily="34" charset="-122"/>
              </a:rPr>
              <a:t> </a:t>
            </a:r>
            <a:endParaRPr lang="zh-CN" altLang="en-US" sz="1400" spc="100" dirty="0">
              <a:solidFill>
                <a:srgbClr val="EEC88F"/>
              </a:solidFill>
              <a:latin typeface="微软雅黑" panose="020B0503020204020204" pitchFamily="34" charset="-122"/>
              <a:ea typeface="微软雅黑" panose="020B0503020204020204" pitchFamily="34" charset="-122"/>
            </a:endParaRPr>
          </a:p>
        </p:txBody>
      </p:sp>
      <p:cxnSp>
        <p:nvCxnSpPr>
          <p:cNvPr id="21" name="直接连接符 20"/>
          <p:cNvCxnSpPr/>
          <p:nvPr/>
        </p:nvCxnSpPr>
        <p:spPr>
          <a:xfrm>
            <a:off x="2022932" y="5502738"/>
            <a:ext cx="8234585" cy="0"/>
          </a:xfrm>
          <a:prstGeom prst="line">
            <a:avLst/>
          </a:prstGeom>
          <a:ln w="6350">
            <a:gradFill flip="none" rotWithShape="1">
              <a:gsLst>
                <a:gs pos="0">
                  <a:schemeClr val="tx1">
                    <a:lumMod val="65000"/>
                    <a:lumOff val="35000"/>
                    <a:alpha val="0"/>
                  </a:schemeClr>
                </a:gs>
                <a:gs pos="100000">
                  <a:schemeClr val="tx1">
                    <a:lumMod val="65000"/>
                    <a:lumOff val="35000"/>
                    <a:alpha val="0"/>
                  </a:schemeClr>
                </a:gs>
                <a:gs pos="41000">
                  <a:schemeClr val="tx1">
                    <a:lumMod val="65000"/>
                    <a:lumOff val="3500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2" name="图片 1" descr="/private/var/folders/yy/k9vbpjvs50n3dskbszjx5l8r0000gn/T/com.kingsoft.wpsoffice.mac/photoedit2/20230330085317/temp.pngtemp"/>
          <p:cNvPicPr>
            <a:picLocks noChangeAspect="1"/>
          </p:cNvPicPr>
          <p:nvPr/>
        </p:nvPicPr>
        <p:blipFill rotWithShape="1">
          <a:blip r:embed="rId3"/>
          <a:srcRect l="1110" r="62900" b="9091"/>
          <a:stretch>
            <a:fillRect/>
          </a:stretch>
        </p:blipFill>
        <p:spPr>
          <a:xfrm>
            <a:off x="4714248" y="1948394"/>
            <a:ext cx="2763503" cy="1717168"/>
          </a:xfrm>
          <a:prstGeom prst="rect">
            <a:avLst/>
          </a:prstGeom>
        </p:spPr>
      </p:pic>
      <p:grpSp>
        <p:nvGrpSpPr>
          <p:cNvPr id="6" name="组合 5"/>
          <p:cNvGrpSpPr/>
          <p:nvPr/>
        </p:nvGrpSpPr>
        <p:grpSpPr>
          <a:xfrm>
            <a:off x="5200650" y="503237"/>
            <a:ext cx="1790700" cy="1753235"/>
            <a:chOff x="5389446" y="439058"/>
            <a:chExt cx="1790700" cy="1753235"/>
          </a:xfrm>
        </p:grpSpPr>
        <p:pic>
          <p:nvPicPr>
            <p:cNvPr id="3" name="图片 2" descr="背景图案&#10;&#10;描述已自动生成"/>
            <p:cNvPicPr>
              <a:picLocks noChangeAspect="1"/>
            </p:cNvPicPr>
            <p:nvPr/>
          </p:nvPicPr>
          <p:blipFill>
            <a:blip r:embed="rId1">
              <a:alphaModFix amt="43000"/>
              <a:extLst>
                <a:ext uri="{28A0092B-C50C-407E-A947-70E740481C1C}">
                  <a14:useLocalDpi xmlns:a14="http://schemas.microsoft.com/office/drawing/2010/main" val="0"/>
                </a:ext>
              </a:extLst>
            </a:blip>
            <a:srcRect l="70436" t="41278" b="26038"/>
            <a:stretch>
              <a:fillRect/>
            </a:stretch>
          </p:blipFill>
          <p:spPr>
            <a:xfrm>
              <a:off x="5389446" y="439058"/>
              <a:ext cx="1790700" cy="1753235"/>
            </a:xfrm>
            <a:prstGeom prst="ellipse">
              <a:avLst/>
            </a:prstGeom>
            <a:noFill/>
            <a:effectLst>
              <a:outerShdw blurRad="50800" dist="50800" dir="5400000" sx="1000" sy="1000" algn="ctr" rotWithShape="0">
                <a:srgbClr val="000000">
                  <a:alpha val="100000"/>
                </a:srgbClr>
              </a:outerShdw>
            </a:effectLst>
          </p:spPr>
        </p:pic>
        <p:pic>
          <p:nvPicPr>
            <p:cNvPr id="4" name="图片 3" descr="徽标&#10;&#10;描述已自动生成"/>
            <p:cNvPicPr>
              <a:picLocks noChangeAspect="1"/>
            </p:cNvPicPr>
            <p:nvPr/>
          </p:nvPicPr>
          <p:blipFill rotWithShape="1">
            <a:blip r:embed="rId4">
              <a:extLst>
                <a:ext uri="{28A0092B-C50C-407E-A947-70E740481C1C}">
                  <a14:useLocalDpi xmlns:a14="http://schemas.microsoft.com/office/drawing/2010/main" val="0"/>
                </a:ext>
              </a:extLst>
            </a:blip>
            <a:srcRect l="5846" t="26885" r="49403" b="26979"/>
            <a:stretch>
              <a:fillRect/>
            </a:stretch>
          </p:blipFill>
          <p:spPr>
            <a:xfrm>
              <a:off x="5504323" y="511133"/>
              <a:ext cx="1560946" cy="1609084"/>
            </a:xfrm>
            <a:prstGeom prst="ellipse">
              <a:avLst/>
            </a:prstGeom>
          </p:spPr>
        </p:pic>
      </p:grpSp>
      <p:pic>
        <p:nvPicPr>
          <p:cNvPr id="17" name="图片 16" descr="图片包含 图示&#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5222" t="67459" r="6526"/>
          <a:stretch>
            <a:fillRect/>
          </a:stretch>
        </p:blipFill>
        <p:spPr>
          <a:xfrm>
            <a:off x="701675" y="5986780"/>
            <a:ext cx="10759440" cy="1176020"/>
          </a:xfrm>
          <a:prstGeom prst="rect">
            <a:avLst/>
          </a:prstGeom>
        </p:spPr>
      </p:pic>
      <p:pic>
        <p:nvPicPr>
          <p:cNvPr id="18" name="图片 17" descr="/private/var/folders/yy/k9vbpjvs50n3dskbszjx5l8r0000gn/T/com.kingsoft.wpsoffice.mac/picturecompress_20230330124548/output_1.pngoutput_1"/>
          <p:cNvPicPr>
            <a:picLocks noChangeAspect="1"/>
          </p:cNvPicPr>
          <p:nvPr/>
        </p:nvPicPr>
        <p:blipFill>
          <a:blip r:embed="rId6"/>
          <a:stretch>
            <a:fillRect/>
          </a:stretch>
        </p:blipFill>
        <p:spPr>
          <a:xfrm rot="7054955" flipV="1">
            <a:off x="-1593850" y="1797685"/>
            <a:ext cx="4311650" cy="3975735"/>
          </a:xfrm>
          <a:prstGeom prst="rect">
            <a:avLst/>
          </a:prstGeom>
        </p:spPr>
      </p:pic>
      <p:pic>
        <p:nvPicPr>
          <p:cNvPr id="5" name="图片 4" descr="/private/var/folders/yy/k9vbpjvs50n3dskbszjx5l8r0000gn/T/com.kingsoft.wpsoffice.mac/picturecompress_20230330124548/output_1.pngoutput_1"/>
          <p:cNvPicPr>
            <a:picLocks noChangeAspect="1"/>
          </p:cNvPicPr>
          <p:nvPr/>
        </p:nvPicPr>
        <p:blipFill>
          <a:blip r:embed="rId6"/>
          <a:stretch>
            <a:fillRect/>
          </a:stretch>
        </p:blipFill>
        <p:spPr>
          <a:xfrm rot="20494954" flipV="1">
            <a:off x="9357995" y="1431290"/>
            <a:ext cx="4311650" cy="3975735"/>
          </a:xfrm>
          <a:prstGeom prst="rect">
            <a:avLst/>
          </a:prstGeom>
        </p:spPr>
      </p:pic>
      <p:sp>
        <p:nvSpPr>
          <p:cNvPr id="7" name="文本框 6"/>
          <p:cNvSpPr txBox="1"/>
          <p:nvPr/>
        </p:nvSpPr>
        <p:spPr>
          <a:xfrm>
            <a:off x="1357251" y="5805890"/>
            <a:ext cx="9216572" cy="491490"/>
          </a:xfrm>
          <a:prstGeom prst="rect">
            <a:avLst/>
          </a:prstGeom>
          <a:noFill/>
        </p:spPr>
        <p:txBody>
          <a:bodyPr wrap="square" rtlCol="0">
            <a:spAutoFit/>
          </a:bodyPr>
          <a:lstStyle/>
          <a:p>
            <a:pPr algn="ctr">
              <a:lnSpc>
                <a:spcPct val="130000"/>
              </a:lnSpc>
            </a:pPr>
            <a:r>
              <a:rPr lang="zh-CN" altLang="en-US" sz="2000" spc="100" dirty="0">
                <a:solidFill>
                  <a:srgbClr val="EEC88F"/>
                </a:solidFill>
                <a:latin typeface="微软雅黑" panose="020B0503020204020204" pitchFamily="34" charset="-122"/>
                <a:ea typeface="微软雅黑" panose="020B0503020204020204" pitchFamily="34" charset="-122"/>
              </a:rPr>
              <a:t>组别：第</a:t>
            </a:r>
            <a:r>
              <a:rPr lang="en-US" altLang="zh-CN" sz="2000" spc="100" dirty="0">
                <a:solidFill>
                  <a:srgbClr val="EEC88F"/>
                </a:solidFill>
                <a:latin typeface="微软雅黑" panose="020B0503020204020204" pitchFamily="34" charset="-122"/>
                <a:ea typeface="微软雅黑" panose="020B0503020204020204" pitchFamily="34" charset="-122"/>
              </a:rPr>
              <a:t>13</a:t>
            </a:r>
            <a:r>
              <a:rPr lang="zh-CN" altLang="en-US" sz="2000" spc="100" dirty="0">
                <a:solidFill>
                  <a:srgbClr val="EEC88F"/>
                </a:solidFill>
                <a:latin typeface="微软雅黑" panose="020B0503020204020204" pitchFamily="34" charset="-122"/>
                <a:ea typeface="微软雅黑" panose="020B0503020204020204" pitchFamily="34" charset="-122"/>
              </a:rPr>
              <a:t>组</a:t>
            </a:r>
            <a:endParaRPr lang="zh-CN" altLang="en-US" sz="2000" spc="100" dirty="0">
              <a:solidFill>
                <a:srgbClr val="EEC88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675421" y="4262423"/>
            <a:ext cx="1063171" cy="581563"/>
          </a:xfrm>
          <a:prstGeom prst="rect">
            <a:avLst/>
          </a:prstGeom>
        </p:spPr>
      </p:pic>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4922" y="2470635"/>
            <a:ext cx="1020105" cy="576581"/>
          </a:xfrm>
          <a:prstGeom prst="rect">
            <a:avLst/>
          </a:prstGeom>
        </p:spPr>
      </p:pic>
      <p:pic>
        <p:nvPicPr>
          <p:cNvPr id="16" name="图片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7756" y="4262423"/>
            <a:ext cx="1004768" cy="571678"/>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0376" y="2437265"/>
            <a:ext cx="993180" cy="575487"/>
          </a:xfrm>
          <a:prstGeom prst="rect">
            <a:avLst/>
          </a:prstGeom>
        </p:spPr>
      </p:pic>
      <p:sp>
        <p:nvSpPr>
          <p:cNvPr id="4" name="文本框 3"/>
          <p:cNvSpPr txBox="1"/>
          <p:nvPr/>
        </p:nvSpPr>
        <p:spPr>
          <a:xfrm>
            <a:off x="4036291" y="2858864"/>
            <a:ext cx="2999021" cy="460375"/>
          </a:xfrm>
          <a:prstGeom prst="rect">
            <a:avLst/>
          </a:prstGeom>
          <a:noFill/>
        </p:spPr>
        <p:txBody>
          <a:bodyPr wrap="square" rtlCol="0">
            <a:spAutoFit/>
          </a:bodyPr>
          <a:lstStyle/>
          <a:p>
            <a:r>
              <a:rPr lang="zh-CN" altLang="en-US" sz="2400" b="1" spc="100" dirty="0">
                <a:solidFill>
                  <a:schemeClr val="tx2">
                    <a:lumMod val="75000"/>
                  </a:schemeClr>
                </a:solidFill>
                <a:latin typeface="微软雅黑" panose="020B0503020204020204" pitchFamily="34" charset="-122"/>
                <a:ea typeface="微软雅黑" panose="020B0503020204020204" pitchFamily="34" charset="-122"/>
              </a:rPr>
              <a:t>疾病概述</a:t>
            </a:r>
            <a:endParaRPr lang="zh-CN" altLang="en-US" sz="2400" b="1" spc="100" dirty="0">
              <a:solidFill>
                <a:schemeClr val="tx2">
                  <a:lumMod val="7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3915769" y="2544673"/>
            <a:ext cx="0" cy="849154"/>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079363" y="2340423"/>
            <a:ext cx="993180" cy="707886"/>
          </a:xfrm>
          <a:prstGeom prst="rect">
            <a:avLst/>
          </a:prstGeom>
          <a:noFill/>
        </p:spPr>
        <p:txBody>
          <a:bodyPr wrap="square" rtlCol="0">
            <a:spAutoFit/>
          </a:bodyPr>
          <a:lstStyle/>
          <a:p>
            <a:r>
              <a:rPr lang="en-US" altLang="zh-CN" sz="4000" spc="100" dirty="0">
                <a:gradFill>
                  <a:gsLst>
                    <a:gs pos="62000">
                      <a:schemeClr val="bg1">
                        <a:lumMod val="75000"/>
                        <a:alpha val="39000"/>
                      </a:schemeClr>
                    </a:gs>
                    <a:gs pos="88000">
                      <a:schemeClr val="bg1">
                        <a:lumMod val="65000"/>
                        <a:alpha val="0"/>
                      </a:schemeClr>
                    </a:gs>
                  </a:gsLst>
                  <a:lin ang="5400000" scaled="1"/>
                </a:gradFill>
                <a:latin typeface="微软雅黑" panose="020B0503020204020204" pitchFamily="34" charset="-122"/>
                <a:ea typeface="微软雅黑" panose="020B0503020204020204" pitchFamily="34" charset="-122"/>
              </a:rPr>
              <a:t>01</a:t>
            </a:r>
            <a:endParaRPr lang="zh-CN" altLang="en-US" sz="4000" spc="100" dirty="0">
              <a:gradFill>
                <a:gsLst>
                  <a:gs pos="62000">
                    <a:schemeClr val="bg1">
                      <a:lumMod val="75000"/>
                      <a:alpha val="39000"/>
                    </a:schemeClr>
                  </a:gs>
                  <a:gs pos="88000">
                    <a:schemeClr val="bg1">
                      <a:lumMod val="65000"/>
                      <a:alpha val="0"/>
                    </a:schemeClr>
                  </a:gs>
                </a:gsLst>
                <a:lin ang="5400000" scaled="1"/>
              </a:gra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899" y="-49204"/>
            <a:ext cx="2822801" cy="6907157"/>
            <a:chOff x="695293" y="-25074"/>
            <a:chExt cx="2822801" cy="6907157"/>
          </a:xfrm>
          <a:solidFill>
            <a:srgbClr val="CB4845"/>
          </a:solidFill>
          <a:effectLst>
            <a:outerShdw blurRad="63500" sx="101000" sy="101000" algn="ctr" rotWithShape="0">
              <a:prstClr val="black">
                <a:alpha val="40000"/>
              </a:prstClr>
            </a:outerShdw>
          </a:effectLst>
        </p:grpSpPr>
        <p:sp>
          <p:nvSpPr>
            <p:cNvPr id="22" name="平行四边形 21"/>
            <p:cNvSpPr/>
            <p:nvPr/>
          </p:nvSpPr>
          <p:spPr>
            <a:xfrm>
              <a:off x="695293" y="-13030"/>
              <a:ext cx="2822801" cy="6883071"/>
            </a:xfrm>
            <a:prstGeom prst="parallelogram">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p:cNvPicPr>
              <a:picLocks noChangeAspect="1"/>
            </p:cNvPicPr>
            <p:nvPr/>
          </p:nvPicPr>
          <p:blipFill rotWithShape="1">
            <a:blip r:embed="rId5" cstate="screen">
              <a:alphaModFix amt="7000"/>
            </a:blip>
            <a:srcRect t="-717"/>
            <a:stretch>
              <a:fillRect/>
            </a:stretch>
          </p:blipFill>
          <p:spPr>
            <a:xfrm>
              <a:off x="729247" y="-25074"/>
              <a:ext cx="2788847" cy="6907157"/>
            </a:xfrm>
            <a:prstGeom prst="rect">
              <a:avLst/>
            </a:prstGeom>
            <a:grpFill/>
          </p:spPr>
        </p:pic>
      </p:grpSp>
      <p:grpSp>
        <p:nvGrpSpPr>
          <p:cNvPr id="115" name="组合 114"/>
          <p:cNvGrpSpPr/>
          <p:nvPr/>
        </p:nvGrpSpPr>
        <p:grpSpPr>
          <a:xfrm>
            <a:off x="9143021" y="699243"/>
            <a:ext cx="2491678" cy="707886"/>
            <a:chOff x="9132004" y="404952"/>
            <a:chExt cx="2491678" cy="707886"/>
          </a:xfrm>
        </p:grpSpPr>
        <p:sp>
          <p:nvSpPr>
            <p:cNvPr id="2" name="文本框 1"/>
            <p:cNvSpPr txBox="1"/>
            <p:nvPr/>
          </p:nvSpPr>
          <p:spPr>
            <a:xfrm>
              <a:off x="9132004" y="404952"/>
              <a:ext cx="1286996" cy="707886"/>
            </a:xfrm>
            <a:prstGeom prst="rect">
              <a:avLst/>
            </a:prstGeom>
            <a:noFill/>
          </p:spPr>
          <p:txBody>
            <a:bodyPr wrap="square" rtlCol="0">
              <a:spAutoFit/>
            </a:bodyPr>
            <a:lstStyle/>
            <a:p>
              <a:pPr algn="dist"/>
              <a:r>
                <a:rPr lang="zh-CN" altLang="en-US" sz="4000" dirty="0">
                  <a:gradFill>
                    <a:gsLst>
                      <a:gs pos="0">
                        <a:schemeClr val="accent1">
                          <a:lumMod val="75000"/>
                        </a:schemeClr>
                      </a:gs>
                      <a:gs pos="100000">
                        <a:schemeClr val="accent1">
                          <a:lumMod val="75000"/>
                          <a:alpha val="58000"/>
                        </a:schemeClr>
                      </a:gs>
                    </a:gsLst>
                    <a:lin ang="5400000" scaled="1"/>
                  </a:gradFill>
                  <a:latin typeface="微软雅黑" panose="020B0503020204020204" pitchFamily="34" charset="-122"/>
                  <a:ea typeface="微软雅黑" panose="020B0503020204020204" pitchFamily="34" charset="-122"/>
                </a:rPr>
                <a:t>目录</a:t>
              </a:r>
              <a:endParaRPr lang="zh-CN" altLang="en-US" sz="4000" dirty="0">
                <a:gradFill>
                  <a:gsLst>
                    <a:gs pos="0">
                      <a:schemeClr val="accent1">
                        <a:lumMod val="75000"/>
                      </a:schemeClr>
                    </a:gs>
                    <a:gs pos="100000">
                      <a:schemeClr val="accent1">
                        <a:lumMod val="75000"/>
                        <a:alpha val="58000"/>
                      </a:schemeClr>
                    </a:gs>
                  </a:gsLst>
                  <a:lin ang="5400000" scaled="1"/>
                </a:gradFill>
                <a:latin typeface="微软雅黑" panose="020B0503020204020204" pitchFamily="34" charset="-122"/>
                <a:ea typeface="微软雅黑" panose="020B0503020204020204" pitchFamily="34" charset="-122"/>
              </a:endParaRPr>
            </a:p>
          </p:txBody>
        </p:sp>
        <p:sp>
          <p:nvSpPr>
            <p:cNvPr id="24" name="文本框 23"/>
            <p:cNvSpPr txBox="1"/>
            <p:nvPr/>
          </p:nvSpPr>
          <p:spPr>
            <a:xfrm>
              <a:off x="10336686" y="741692"/>
              <a:ext cx="1286996" cy="307777"/>
            </a:xfrm>
            <a:prstGeom prst="rect">
              <a:avLst/>
            </a:prstGeom>
            <a:noFill/>
          </p:spPr>
          <p:txBody>
            <a:bodyPr wrap="square" rtlCol="0">
              <a:spAutoFit/>
            </a:bodyPr>
            <a:lstStyle/>
            <a:p>
              <a:pPr algn="dist"/>
              <a:r>
                <a:rPr lang="en-US" altLang="zh-CN" sz="1400" b="1" dirty="0">
                  <a:solidFill>
                    <a:schemeClr val="accent1">
                      <a:lumMod val="75000"/>
                    </a:schemeClr>
                  </a:solidFill>
                  <a:latin typeface="微软雅黑" panose="020B0503020204020204" pitchFamily="34" charset="-122"/>
                  <a:ea typeface="微软雅黑" panose="020B0503020204020204" pitchFamily="34" charset="-122"/>
                </a:rPr>
                <a:t>/CONTENTS</a:t>
              </a:r>
              <a:endParaRPr lang="zh-CN" altLang="en-US" sz="1400" b="1" dirty="0">
                <a:solidFill>
                  <a:schemeClr val="accent1">
                    <a:lumMod val="75000"/>
                  </a:schemeClr>
                </a:solidFill>
                <a:latin typeface="微软雅黑" panose="020B0503020204020204" pitchFamily="34" charset="-122"/>
                <a:ea typeface="微软雅黑" panose="020B0503020204020204" pitchFamily="34" charset="-122"/>
              </a:endParaRPr>
            </a:p>
          </p:txBody>
        </p:sp>
      </p:grpSp>
      <p:sp>
        <p:nvSpPr>
          <p:cNvPr id="100" name="文本框 99"/>
          <p:cNvSpPr txBox="1"/>
          <p:nvPr/>
        </p:nvSpPr>
        <p:spPr>
          <a:xfrm>
            <a:off x="4036291" y="4688169"/>
            <a:ext cx="3083161" cy="460375"/>
          </a:xfrm>
          <a:prstGeom prst="rect">
            <a:avLst/>
          </a:prstGeom>
          <a:noFill/>
        </p:spPr>
        <p:txBody>
          <a:bodyPr wrap="square" rtlCol="0">
            <a:spAutoFit/>
          </a:bodyPr>
          <a:lstStyle/>
          <a:p>
            <a:r>
              <a:rPr lang="zh-CN" altLang="en-US" sz="2400" b="1" spc="100" dirty="0">
                <a:solidFill>
                  <a:schemeClr val="tx2">
                    <a:lumMod val="75000"/>
                  </a:schemeClr>
                </a:solidFill>
                <a:latin typeface="微软雅黑" panose="020B0503020204020204" pitchFamily="34" charset="-122"/>
                <a:ea typeface="微软雅黑" panose="020B0503020204020204" pitchFamily="34" charset="-122"/>
              </a:rPr>
              <a:t>疾病</a:t>
            </a:r>
            <a:r>
              <a:rPr lang="zh-CN" altLang="en-US" sz="2400" b="1" spc="100" dirty="0">
                <a:solidFill>
                  <a:schemeClr val="tx2">
                    <a:lumMod val="75000"/>
                  </a:schemeClr>
                </a:solidFill>
                <a:latin typeface="微软雅黑" panose="020B0503020204020204" pitchFamily="34" charset="-122"/>
                <a:ea typeface="微软雅黑" panose="020B0503020204020204" pitchFamily="34" charset="-122"/>
              </a:rPr>
              <a:t>表现</a:t>
            </a:r>
            <a:endParaRPr lang="zh-CN" altLang="en-US" sz="2400" b="1" spc="100" dirty="0">
              <a:solidFill>
                <a:schemeClr val="tx2">
                  <a:lumMod val="75000"/>
                </a:schemeClr>
              </a:solidFill>
              <a:latin typeface="微软雅黑" panose="020B0503020204020204" pitchFamily="34" charset="-122"/>
              <a:ea typeface="微软雅黑" panose="020B0503020204020204" pitchFamily="34" charset="-122"/>
            </a:endParaRPr>
          </a:p>
        </p:txBody>
      </p:sp>
      <p:cxnSp>
        <p:nvCxnSpPr>
          <p:cNvPr id="101" name="直接连接符 100"/>
          <p:cNvCxnSpPr/>
          <p:nvPr/>
        </p:nvCxnSpPr>
        <p:spPr>
          <a:xfrm>
            <a:off x="3915769" y="4373978"/>
            <a:ext cx="0" cy="849154"/>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3" name="文本框 102"/>
          <p:cNvSpPr txBox="1"/>
          <p:nvPr/>
        </p:nvSpPr>
        <p:spPr>
          <a:xfrm>
            <a:off x="4079363" y="4169728"/>
            <a:ext cx="993180" cy="707886"/>
          </a:xfrm>
          <a:prstGeom prst="rect">
            <a:avLst/>
          </a:prstGeom>
          <a:noFill/>
        </p:spPr>
        <p:txBody>
          <a:bodyPr wrap="square" rtlCol="0">
            <a:spAutoFit/>
          </a:bodyPr>
          <a:lstStyle/>
          <a:p>
            <a:r>
              <a:rPr lang="en-US" altLang="zh-CN" sz="4000" spc="100" dirty="0">
                <a:gradFill>
                  <a:gsLst>
                    <a:gs pos="62000">
                      <a:schemeClr val="bg1">
                        <a:lumMod val="75000"/>
                        <a:alpha val="39000"/>
                      </a:schemeClr>
                    </a:gs>
                    <a:gs pos="88000">
                      <a:schemeClr val="bg1">
                        <a:lumMod val="65000"/>
                        <a:alpha val="0"/>
                      </a:schemeClr>
                    </a:gs>
                  </a:gsLst>
                  <a:lin ang="5400000" scaled="1"/>
                </a:gradFill>
                <a:latin typeface="微软雅黑" panose="020B0503020204020204" pitchFamily="34" charset="-122"/>
                <a:ea typeface="微软雅黑" panose="020B0503020204020204" pitchFamily="34" charset="-122"/>
              </a:rPr>
              <a:t>02</a:t>
            </a:r>
            <a:endParaRPr lang="zh-CN" altLang="en-US" sz="4000" spc="100" dirty="0">
              <a:gradFill>
                <a:gsLst>
                  <a:gs pos="62000">
                    <a:schemeClr val="bg1">
                      <a:lumMod val="75000"/>
                      <a:alpha val="39000"/>
                    </a:schemeClr>
                  </a:gs>
                  <a:gs pos="88000">
                    <a:schemeClr val="bg1">
                      <a:lumMod val="65000"/>
                      <a:alpha val="0"/>
                    </a:schemeClr>
                  </a:gs>
                </a:gsLst>
                <a:lin ang="5400000" scaled="1"/>
              </a:gradFill>
              <a:latin typeface="微软雅黑" panose="020B0503020204020204" pitchFamily="34" charset="-122"/>
              <a:ea typeface="微软雅黑" panose="020B0503020204020204" pitchFamily="34" charset="-122"/>
            </a:endParaRPr>
          </a:p>
        </p:txBody>
      </p:sp>
      <p:sp>
        <p:nvSpPr>
          <p:cNvPr id="105" name="文本框 104"/>
          <p:cNvSpPr txBox="1"/>
          <p:nvPr/>
        </p:nvSpPr>
        <p:spPr>
          <a:xfrm>
            <a:off x="8414646" y="2858864"/>
            <a:ext cx="2792373" cy="460375"/>
          </a:xfrm>
          <a:prstGeom prst="rect">
            <a:avLst/>
          </a:prstGeom>
          <a:noFill/>
        </p:spPr>
        <p:txBody>
          <a:bodyPr wrap="square" rtlCol="0">
            <a:spAutoFit/>
          </a:bodyPr>
          <a:lstStyle/>
          <a:p>
            <a:r>
              <a:rPr lang="zh-CN" altLang="en-US" sz="2400" b="1" spc="100" dirty="0">
                <a:solidFill>
                  <a:schemeClr val="tx2">
                    <a:lumMod val="75000"/>
                  </a:schemeClr>
                </a:solidFill>
                <a:latin typeface="微软雅黑" panose="020B0503020204020204" pitchFamily="34" charset="-122"/>
                <a:ea typeface="微软雅黑" panose="020B0503020204020204" pitchFamily="34" charset="-122"/>
              </a:rPr>
              <a:t>疾病</a:t>
            </a:r>
            <a:r>
              <a:rPr lang="zh-CN" altLang="en-US" sz="2400" b="1" spc="100" dirty="0">
                <a:solidFill>
                  <a:schemeClr val="tx2">
                    <a:lumMod val="75000"/>
                  </a:schemeClr>
                </a:solidFill>
                <a:latin typeface="微软雅黑" panose="020B0503020204020204" pitchFamily="34" charset="-122"/>
                <a:ea typeface="微软雅黑" panose="020B0503020204020204" pitchFamily="34" charset="-122"/>
              </a:rPr>
              <a:t>病因</a:t>
            </a:r>
            <a:endParaRPr lang="zh-CN" altLang="en-US" sz="2400" b="1" spc="100" dirty="0">
              <a:solidFill>
                <a:schemeClr val="tx2">
                  <a:lumMod val="75000"/>
                </a:schemeClr>
              </a:solidFill>
              <a:latin typeface="微软雅黑" panose="020B0503020204020204" pitchFamily="34" charset="-122"/>
              <a:ea typeface="微软雅黑" panose="020B0503020204020204" pitchFamily="34" charset="-122"/>
            </a:endParaRPr>
          </a:p>
        </p:txBody>
      </p:sp>
      <p:cxnSp>
        <p:nvCxnSpPr>
          <p:cNvPr id="106" name="直接连接符 105"/>
          <p:cNvCxnSpPr/>
          <p:nvPr/>
        </p:nvCxnSpPr>
        <p:spPr>
          <a:xfrm>
            <a:off x="8294124" y="2544673"/>
            <a:ext cx="0" cy="849154"/>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8" name="文本框 107"/>
          <p:cNvSpPr txBox="1"/>
          <p:nvPr/>
        </p:nvSpPr>
        <p:spPr>
          <a:xfrm>
            <a:off x="8457718" y="2340423"/>
            <a:ext cx="993180" cy="707886"/>
          </a:xfrm>
          <a:prstGeom prst="rect">
            <a:avLst/>
          </a:prstGeom>
          <a:noFill/>
        </p:spPr>
        <p:txBody>
          <a:bodyPr wrap="square" rtlCol="0">
            <a:spAutoFit/>
          </a:bodyPr>
          <a:lstStyle/>
          <a:p>
            <a:r>
              <a:rPr lang="en-US" altLang="zh-CN" sz="4000" spc="100" dirty="0">
                <a:gradFill>
                  <a:gsLst>
                    <a:gs pos="62000">
                      <a:schemeClr val="bg1">
                        <a:lumMod val="75000"/>
                        <a:alpha val="39000"/>
                      </a:schemeClr>
                    </a:gs>
                    <a:gs pos="88000">
                      <a:schemeClr val="bg1">
                        <a:lumMod val="65000"/>
                        <a:alpha val="0"/>
                      </a:schemeClr>
                    </a:gs>
                  </a:gsLst>
                  <a:lin ang="5400000" scaled="1"/>
                </a:gradFill>
                <a:latin typeface="微软雅黑" panose="020B0503020204020204" pitchFamily="34" charset="-122"/>
                <a:ea typeface="微软雅黑" panose="020B0503020204020204" pitchFamily="34" charset="-122"/>
              </a:rPr>
              <a:t>03</a:t>
            </a:r>
            <a:endParaRPr lang="zh-CN" altLang="en-US" sz="4000" spc="100" dirty="0">
              <a:gradFill>
                <a:gsLst>
                  <a:gs pos="62000">
                    <a:schemeClr val="bg1">
                      <a:lumMod val="75000"/>
                      <a:alpha val="39000"/>
                    </a:schemeClr>
                  </a:gs>
                  <a:gs pos="88000">
                    <a:schemeClr val="bg1">
                      <a:lumMod val="65000"/>
                      <a:alpha val="0"/>
                    </a:schemeClr>
                  </a:gs>
                </a:gsLst>
                <a:lin ang="5400000" scaled="1"/>
              </a:gradFill>
              <a:latin typeface="微软雅黑" panose="020B0503020204020204" pitchFamily="34" charset="-122"/>
              <a:ea typeface="微软雅黑" panose="020B0503020204020204" pitchFamily="34" charset="-122"/>
            </a:endParaRPr>
          </a:p>
        </p:txBody>
      </p:sp>
      <p:sp>
        <p:nvSpPr>
          <p:cNvPr id="110" name="文本框 109"/>
          <p:cNvSpPr txBox="1"/>
          <p:nvPr/>
        </p:nvSpPr>
        <p:spPr>
          <a:xfrm>
            <a:off x="8414646" y="4675290"/>
            <a:ext cx="2792361" cy="460375"/>
          </a:xfrm>
          <a:prstGeom prst="rect">
            <a:avLst/>
          </a:prstGeom>
          <a:noFill/>
        </p:spPr>
        <p:txBody>
          <a:bodyPr wrap="square" rtlCol="0">
            <a:spAutoFit/>
          </a:bodyPr>
          <a:lstStyle/>
          <a:p>
            <a:r>
              <a:rPr lang="zh-CN" altLang="en-US" sz="2400" b="1" spc="100" dirty="0">
                <a:solidFill>
                  <a:schemeClr val="tx2">
                    <a:lumMod val="75000"/>
                  </a:schemeClr>
                </a:solidFill>
                <a:latin typeface="微软雅黑" panose="020B0503020204020204" pitchFamily="34" charset="-122"/>
                <a:ea typeface="微软雅黑" panose="020B0503020204020204" pitchFamily="34" charset="-122"/>
              </a:rPr>
              <a:t>疾病</a:t>
            </a:r>
            <a:r>
              <a:rPr lang="zh-CN" altLang="en-US" sz="2400" b="1" spc="100" dirty="0">
                <a:solidFill>
                  <a:schemeClr val="tx2">
                    <a:lumMod val="75000"/>
                  </a:schemeClr>
                </a:solidFill>
                <a:latin typeface="微软雅黑" panose="020B0503020204020204" pitchFamily="34" charset="-122"/>
                <a:ea typeface="微软雅黑" panose="020B0503020204020204" pitchFamily="34" charset="-122"/>
              </a:rPr>
              <a:t>治疗</a:t>
            </a:r>
            <a:endParaRPr lang="zh-CN" altLang="en-US" sz="2400" b="1" spc="100" dirty="0">
              <a:solidFill>
                <a:schemeClr val="tx2">
                  <a:lumMod val="75000"/>
                </a:schemeClr>
              </a:solidFill>
              <a:latin typeface="微软雅黑" panose="020B0503020204020204" pitchFamily="34" charset="-122"/>
              <a:ea typeface="微软雅黑" panose="020B0503020204020204" pitchFamily="34" charset="-122"/>
            </a:endParaRPr>
          </a:p>
        </p:txBody>
      </p:sp>
      <p:cxnSp>
        <p:nvCxnSpPr>
          <p:cNvPr id="111" name="直接连接符 110"/>
          <p:cNvCxnSpPr/>
          <p:nvPr/>
        </p:nvCxnSpPr>
        <p:spPr>
          <a:xfrm>
            <a:off x="8294124" y="4373978"/>
            <a:ext cx="0" cy="849154"/>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3" name="文本框 112"/>
          <p:cNvSpPr txBox="1"/>
          <p:nvPr/>
        </p:nvSpPr>
        <p:spPr>
          <a:xfrm>
            <a:off x="8457718" y="4169728"/>
            <a:ext cx="993180" cy="707886"/>
          </a:xfrm>
          <a:prstGeom prst="rect">
            <a:avLst/>
          </a:prstGeom>
          <a:noFill/>
        </p:spPr>
        <p:txBody>
          <a:bodyPr wrap="square" rtlCol="0">
            <a:spAutoFit/>
          </a:bodyPr>
          <a:lstStyle/>
          <a:p>
            <a:r>
              <a:rPr lang="en-US" altLang="zh-CN" sz="4000" spc="100" dirty="0">
                <a:gradFill>
                  <a:gsLst>
                    <a:gs pos="62000">
                      <a:schemeClr val="bg1">
                        <a:lumMod val="75000"/>
                        <a:alpha val="39000"/>
                      </a:schemeClr>
                    </a:gs>
                    <a:gs pos="88000">
                      <a:schemeClr val="bg1">
                        <a:lumMod val="65000"/>
                        <a:alpha val="0"/>
                      </a:schemeClr>
                    </a:gs>
                  </a:gsLst>
                  <a:lin ang="5400000" scaled="1"/>
                </a:gradFill>
                <a:latin typeface="微软雅黑" panose="020B0503020204020204" pitchFamily="34" charset="-122"/>
                <a:ea typeface="微软雅黑" panose="020B0503020204020204" pitchFamily="34" charset="-122"/>
              </a:rPr>
              <a:t>04</a:t>
            </a:r>
            <a:endParaRPr lang="zh-CN" altLang="en-US" sz="4000" spc="100" dirty="0">
              <a:gradFill>
                <a:gsLst>
                  <a:gs pos="62000">
                    <a:schemeClr val="bg1">
                      <a:lumMod val="75000"/>
                      <a:alpha val="39000"/>
                    </a:schemeClr>
                  </a:gs>
                  <a:gs pos="88000">
                    <a:schemeClr val="bg1">
                      <a:lumMod val="65000"/>
                      <a:alpha val="0"/>
                    </a:schemeClr>
                  </a:gs>
                </a:gsLst>
                <a:lin ang="5400000" scaled="1"/>
              </a:gradFill>
              <a:latin typeface="微软雅黑" panose="020B0503020204020204" pitchFamily="34" charset="-122"/>
              <a:ea typeface="微软雅黑" panose="020B0503020204020204" pitchFamily="34" charset="-122"/>
            </a:endParaRPr>
          </a:p>
        </p:txBody>
      </p:sp>
      <p:sp>
        <p:nvSpPr>
          <p:cNvPr id="114" name="文本框 113"/>
          <p:cNvSpPr txBox="1"/>
          <p:nvPr/>
        </p:nvSpPr>
        <p:spPr>
          <a:xfrm>
            <a:off x="8458835" y="1311275"/>
            <a:ext cx="3178810" cy="330835"/>
          </a:xfrm>
          <a:prstGeom prst="rect">
            <a:avLst/>
          </a:prstGeom>
          <a:noFill/>
        </p:spPr>
        <p:txBody>
          <a:bodyPr wrap="square" rtlCol="0">
            <a:spAutoFit/>
          </a:bodyPr>
          <a:lstStyle>
            <a:defPPr>
              <a:defRPr lang="zh-CN"/>
            </a:defPPr>
            <a:lvl1pPr>
              <a:lnSpc>
                <a:spcPct val="130000"/>
              </a:lnSpc>
              <a:defRPr sz="1400" spc="1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dist"/>
            <a:r>
              <a:rPr lang="zh-CN" altLang="en-US" sz="1200" dirty="0">
                <a:solidFill>
                  <a:schemeClr val="bg1">
                    <a:lumMod val="50000"/>
                    <a:alpha val="56000"/>
                  </a:schemeClr>
                </a:solidFill>
              </a:rPr>
              <a:t>自 </a:t>
            </a:r>
            <a:r>
              <a:rPr lang="en-US" altLang="zh-CN" sz="1200" dirty="0">
                <a:solidFill>
                  <a:schemeClr val="bg1">
                    <a:lumMod val="50000"/>
                    <a:alpha val="56000"/>
                  </a:schemeClr>
                </a:solidFill>
              </a:rPr>
              <a:t>| </a:t>
            </a:r>
            <a:r>
              <a:rPr lang="zh-CN" altLang="en-US" sz="1200" dirty="0">
                <a:solidFill>
                  <a:schemeClr val="bg1">
                    <a:lumMod val="50000"/>
                    <a:alpha val="56000"/>
                  </a:schemeClr>
                </a:solidFill>
              </a:rPr>
              <a:t>强 </a:t>
            </a:r>
            <a:r>
              <a:rPr lang="en-US" altLang="zh-CN" sz="1200" dirty="0">
                <a:solidFill>
                  <a:schemeClr val="bg1">
                    <a:lumMod val="50000"/>
                    <a:alpha val="56000"/>
                  </a:schemeClr>
                </a:solidFill>
              </a:rPr>
              <a:t>| </a:t>
            </a:r>
            <a:r>
              <a:rPr lang="zh-CN" altLang="en-US" sz="1200" dirty="0">
                <a:solidFill>
                  <a:schemeClr val="bg1">
                    <a:lumMod val="50000"/>
                    <a:alpha val="56000"/>
                  </a:schemeClr>
                </a:solidFill>
              </a:rPr>
              <a:t>不 </a:t>
            </a:r>
            <a:r>
              <a:rPr lang="en-US" altLang="zh-CN" sz="1200" dirty="0">
                <a:solidFill>
                  <a:schemeClr val="bg1">
                    <a:lumMod val="50000"/>
                    <a:alpha val="56000"/>
                  </a:schemeClr>
                </a:solidFill>
              </a:rPr>
              <a:t>| </a:t>
            </a:r>
            <a:r>
              <a:rPr lang="zh-CN" altLang="en-US" sz="1200" dirty="0">
                <a:solidFill>
                  <a:schemeClr val="bg1">
                    <a:lumMod val="50000"/>
                    <a:alpha val="56000"/>
                  </a:schemeClr>
                </a:solidFill>
              </a:rPr>
              <a:t>息 </a:t>
            </a:r>
            <a:r>
              <a:rPr lang="en-US" altLang="zh-CN" sz="1200" dirty="0">
                <a:solidFill>
                  <a:schemeClr val="bg1">
                    <a:lumMod val="50000"/>
                    <a:alpha val="56000"/>
                  </a:schemeClr>
                </a:solidFill>
              </a:rPr>
              <a:t>| </a:t>
            </a:r>
            <a:r>
              <a:rPr lang="zh-CN" altLang="en-US" sz="1200" dirty="0">
                <a:solidFill>
                  <a:schemeClr val="bg1">
                    <a:lumMod val="50000"/>
                    <a:alpha val="56000"/>
                  </a:schemeClr>
                </a:solidFill>
              </a:rPr>
              <a:t>止 </a:t>
            </a:r>
            <a:r>
              <a:rPr lang="en-US" altLang="zh-CN" sz="1200" dirty="0">
                <a:solidFill>
                  <a:schemeClr val="bg1">
                    <a:lumMod val="50000"/>
                    <a:alpha val="56000"/>
                  </a:schemeClr>
                </a:solidFill>
              </a:rPr>
              <a:t>| </a:t>
            </a:r>
            <a:r>
              <a:rPr lang="zh-CN" altLang="en-US" sz="1200" dirty="0">
                <a:solidFill>
                  <a:schemeClr val="bg1">
                    <a:lumMod val="50000"/>
                    <a:alpha val="56000"/>
                  </a:schemeClr>
                </a:solidFill>
              </a:rPr>
              <a:t>于 </a:t>
            </a:r>
            <a:r>
              <a:rPr lang="en-US" altLang="zh-CN" sz="1200" dirty="0">
                <a:solidFill>
                  <a:schemeClr val="bg1">
                    <a:lumMod val="50000"/>
                    <a:alpha val="56000"/>
                  </a:schemeClr>
                </a:solidFill>
              </a:rPr>
              <a:t>| </a:t>
            </a:r>
            <a:r>
              <a:rPr lang="zh-CN" altLang="en-US" sz="1200" dirty="0">
                <a:solidFill>
                  <a:schemeClr val="bg1">
                    <a:lumMod val="50000"/>
                    <a:alpha val="56000"/>
                  </a:schemeClr>
                </a:solidFill>
              </a:rPr>
              <a:t>至</a:t>
            </a:r>
            <a:r>
              <a:rPr lang="en-US" altLang="zh-CN" sz="1200" dirty="0">
                <a:solidFill>
                  <a:schemeClr val="bg1">
                    <a:lumMod val="50000"/>
                    <a:alpha val="56000"/>
                  </a:schemeClr>
                </a:solidFill>
              </a:rPr>
              <a:t> | </a:t>
            </a:r>
            <a:r>
              <a:rPr lang="zh-CN" altLang="en-US" sz="1200" dirty="0">
                <a:solidFill>
                  <a:schemeClr val="bg1">
                    <a:lumMod val="50000"/>
                    <a:alpha val="56000"/>
                  </a:schemeClr>
                </a:solidFill>
              </a:rPr>
              <a:t>善</a:t>
            </a:r>
            <a:endParaRPr lang="zh-CN" altLang="en-US" sz="1200" dirty="0">
              <a:solidFill>
                <a:schemeClr val="bg1">
                  <a:lumMod val="50000"/>
                  <a:alpha val="56000"/>
                </a:schemeClr>
              </a:solidFill>
            </a:endParaRPr>
          </a:p>
        </p:txBody>
      </p:sp>
      <p:pic>
        <p:nvPicPr>
          <p:cNvPr id="3" name="图片 2" descr="徽标&#10;&#10;描述已自动生成"/>
          <p:cNvPicPr>
            <a:picLocks noChangeAspect="1"/>
          </p:cNvPicPr>
          <p:nvPr/>
        </p:nvPicPr>
        <p:blipFill>
          <a:blip r:embed="rId6">
            <a:extLst>
              <a:ext uri="{28A0092B-C50C-407E-A947-70E740481C1C}">
                <a14:useLocalDpi xmlns:a14="http://schemas.microsoft.com/office/drawing/2010/main" val="0"/>
              </a:ext>
            </a:extLst>
          </a:blip>
          <a:srcRect t="13412" r="45166" b="17638"/>
          <a:stretch>
            <a:fillRect/>
          </a:stretch>
        </p:blipFill>
        <p:spPr>
          <a:xfrm>
            <a:off x="452755" y="139700"/>
            <a:ext cx="1912620" cy="2404745"/>
          </a:xfrm>
          <a:prstGeom prst="rect">
            <a:avLst/>
          </a:prstGeom>
        </p:spPr>
      </p:pic>
      <p:pic>
        <p:nvPicPr>
          <p:cNvPr id="18" name="图片 17" descr="/private/var/folders/yy/k9vbpjvs50n3dskbszjx5l8r0000gn/T/com.kingsoft.wpsoffice.mac/picturecompress_20230330124548/output_1.pngoutput_1"/>
          <p:cNvPicPr>
            <a:picLocks noChangeAspect="1"/>
          </p:cNvPicPr>
          <p:nvPr/>
        </p:nvPicPr>
        <p:blipFill>
          <a:blip r:embed="rId7"/>
          <a:stretch>
            <a:fillRect/>
          </a:stretch>
        </p:blipFill>
        <p:spPr>
          <a:xfrm rot="7054955" flipV="1">
            <a:off x="-1000198" y="3235264"/>
            <a:ext cx="4311650" cy="3975735"/>
          </a:xfrm>
          <a:prstGeom prst="rect">
            <a:avLst/>
          </a:prstGeom>
        </p:spPr>
      </p:pic>
      <p:pic>
        <p:nvPicPr>
          <p:cNvPr id="11" name="图片 10" descr="图片包含 游戏机, 烟花&#10;&#10;描述已自动生成"/>
          <p:cNvPicPr>
            <a:picLocks noChangeAspect="1"/>
          </p:cNvPicPr>
          <p:nvPr/>
        </p:nvPicPr>
        <p:blipFill rotWithShape="1">
          <a:blip r:embed="rId8">
            <a:extLst>
              <a:ext uri="{28A0092B-C50C-407E-A947-70E740481C1C}">
                <a14:useLocalDpi xmlns:a14="http://schemas.microsoft.com/office/drawing/2010/main" val="0"/>
              </a:ext>
            </a:extLst>
          </a:blip>
          <a:srcRect t="30430" b="33902"/>
          <a:stretch>
            <a:fillRect/>
          </a:stretch>
        </p:blipFill>
        <p:spPr>
          <a:xfrm>
            <a:off x="6547415" y="305"/>
            <a:ext cx="3593651" cy="1354238"/>
          </a:xfrm>
          <a:prstGeom prst="rect">
            <a:avLst/>
          </a:prstGeom>
        </p:spPr>
      </p:pic>
      <p:pic>
        <p:nvPicPr>
          <p:cNvPr id="13" name="图片 12" descr="图片包含 图示&#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5222" t="67459" r="6526"/>
          <a:stretch>
            <a:fillRect/>
          </a:stretch>
        </p:blipFill>
        <p:spPr>
          <a:xfrm>
            <a:off x="2820670" y="5999480"/>
            <a:ext cx="9557385" cy="1176020"/>
          </a:xfrm>
          <a:prstGeom prst="rect">
            <a:avLst/>
          </a:prstGeom>
        </p:spPr>
      </p:pic>
      <p:pic>
        <p:nvPicPr>
          <p:cNvPr id="34" name="图片 33" descr="/private/var/folders/yy/k9vbpjvs50n3dskbszjx5l8r0000gn/T/com.kingsoft.wpsoffice.mac/photoedit2/20230330085317/temp.pngtemp"/>
          <p:cNvPicPr>
            <a:picLocks noChangeAspect="1"/>
          </p:cNvPicPr>
          <p:nvPr/>
        </p:nvPicPr>
        <p:blipFill rotWithShape="1">
          <a:blip r:embed="rId10"/>
          <a:srcRect l="1110" r="62900" b="9091"/>
          <a:stretch>
            <a:fillRect/>
          </a:stretch>
        </p:blipFill>
        <p:spPr>
          <a:xfrm>
            <a:off x="368806" y="2089644"/>
            <a:ext cx="1974897" cy="12271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private/var/folders/yy/k9vbpjvs50n3dskbszjx5l8r0000gn/T/com.kingsoft.wpsoffice.mac/picturecompress_20230330124548/output_1.pngoutput_1"/>
          <p:cNvPicPr>
            <a:picLocks noChangeAspect="1"/>
          </p:cNvPicPr>
          <p:nvPr/>
        </p:nvPicPr>
        <p:blipFill>
          <a:blip r:embed="rId1"/>
          <a:stretch>
            <a:fillRect/>
          </a:stretch>
        </p:blipFill>
        <p:spPr>
          <a:xfrm rot="7054955" flipV="1">
            <a:off x="-2099507" y="-2000549"/>
            <a:ext cx="6026326" cy="5556823"/>
          </a:xfrm>
          <a:prstGeom prst="rect">
            <a:avLst/>
          </a:prstGeom>
        </p:spPr>
      </p:pic>
      <p:pic>
        <p:nvPicPr>
          <p:cNvPr id="21" name="图片 20"/>
          <p:cNvPicPr>
            <a:picLocks noChangeAspect="1" noChangeArrowheads="1"/>
          </p:cNvPicPr>
          <p:nvPr/>
        </p:nvPicPr>
        <p:blipFill>
          <a:blip r:embed="rId2" cstate="print">
            <a:extLst>
              <a:ext uri="{BEBA8EAE-BF5A-486C-A8C5-ECC9F3942E4B}">
                <a14:imgProps xmlns:a14="http://schemas.microsoft.com/office/drawing/2010/main">
                  <a14:imgLayer r:embed="rId3">
                    <a14:imgEffect>
                      <a14:brightnessContrast bright="-7000"/>
                    </a14:imgEffect>
                    <a14:imgEffect>
                      <a14:colorTemperature colorTemp="7100"/>
                    </a14:imgEffect>
                    <a14:imgEffect>
                      <a14:sharpenSoften amount="16000"/>
                    </a14:imgEffect>
                  </a14:imgLayer>
                </a14:imgProps>
              </a:ext>
              <a:ext uri="{28A0092B-C50C-407E-A947-70E740481C1C}">
                <a14:useLocalDpi xmlns:a14="http://schemas.microsoft.com/office/drawing/2010/main" val="0"/>
              </a:ext>
            </a:extLst>
          </a:blip>
          <a:stretch>
            <a:fillRect/>
          </a:stretch>
        </p:blipFill>
        <p:spPr bwMode="auto">
          <a:xfrm>
            <a:off x="8920836" y="161925"/>
            <a:ext cx="3120670" cy="6387916"/>
          </a:xfrm>
          <a:custGeom>
            <a:avLst/>
            <a:gdLst/>
            <a:ahLst/>
            <a:cxnLst/>
            <a:rect l="l" t="t" r="r" b="b"/>
            <a:pathLst>
              <a:path w="3049489" h="6870042">
                <a:moveTo>
                  <a:pt x="1732289" y="0"/>
                </a:moveTo>
                <a:lnTo>
                  <a:pt x="3049489" y="0"/>
                </a:lnTo>
                <a:lnTo>
                  <a:pt x="3049489" y="6870042"/>
                </a:lnTo>
                <a:lnTo>
                  <a:pt x="1245692" y="6870042"/>
                </a:lnTo>
                <a:lnTo>
                  <a:pt x="1245692" y="3071366"/>
                </a:lnTo>
                <a:cubicBezTo>
                  <a:pt x="1245692" y="2511772"/>
                  <a:pt x="1232297" y="2175421"/>
                  <a:pt x="1205508" y="2062311"/>
                </a:cubicBezTo>
                <a:cubicBezTo>
                  <a:pt x="1178719" y="1949202"/>
                  <a:pt x="1105049" y="1863625"/>
                  <a:pt x="984498" y="1805582"/>
                </a:cubicBezTo>
                <a:cubicBezTo>
                  <a:pt x="863948" y="1747539"/>
                  <a:pt x="595313" y="1718518"/>
                  <a:pt x="178594" y="1718518"/>
                </a:cubicBezTo>
                <a:lnTo>
                  <a:pt x="0" y="1718518"/>
                </a:lnTo>
                <a:lnTo>
                  <a:pt x="0" y="875779"/>
                </a:lnTo>
                <a:cubicBezTo>
                  <a:pt x="654100" y="734997"/>
                  <a:pt x="1190160" y="482768"/>
                  <a:pt x="1608181" y="119092"/>
                </a:cubicBezTo>
                <a:close/>
              </a:path>
            </a:pathLst>
          </a:custGeom>
          <a:solidFill>
            <a:srgbClr val="FF2600">
              <a:alpha val="36000"/>
            </a:srgbClr>
          </a:solidFill>
          <a:effectLst>
            <a:glow rad="114300">
              <a:srgbClr val="FF2600">
                <a:alpha val="28000"/>
              </a:srgbClr>
            </a:glow>
          </a:effectLst>
        </p:spPr>
      </p:pic>
      <p:sp>
        <p:nvSpPr>
          <p:cNvPr id="3" name="文本框 2"/>
          <p:cNvSpPr txBox="1"/>
          <p:nvPr/>
        </p:nvSpPr>
        <p:spPr>
          <a:xfrm>
            <a:off x="1474128" y="2005467"/>
            <a:ext cx="4707144" cy="706755"/>
          </a:xfrm>
          <a:prstGeom prst="rect">
            <a:avLst/>
          </a:prstGeom>
          <a:noFill/>
        </p:spPr>
        <p:txBody>
          <a:bodyPr wrap="square" rtlCol="0">
            <a:spAutoFit/>
          </a:bodyPr>
          <a:lstStyle/>
          <a:p>
            <a:r>
              <a:rPr lang="zh-CN" altLang="en-US" sz="4000" b="1" spc="100"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疾病概述</a:t>
            </a:r>
            <a:endParaRPr lang="zh-CN" altLang="en-US" sz="4000" b="1" spc="100"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flipH="1">
            <a:off x="1574095" y="3101059"/>
            <a:ext cx="3909240" cy="0"/>
          </a:xfrm>
          <a:prstGeom prst="line">
            <a:avLst/>
          </a:prstGeom>
          <a:ln w="12700">
            <a:gradFill flip="none" rotWithShape="1">
              <a:gsLst>
                <a:gs pos="100000">
                  <a:schemeClr val="accent1">
                    <a:lumMod val="75000"/>
                  </a:schemeClr>
                </a:gs>
                <a:gs pos="0">
                  <a:srgbClr val="821A1A">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1591597" y="1663967"/>
            <a:ext cx="1207842" cy="338555"/>
            <a:chOff x="1477297" y="1791315"/>
            <a:chExt cx="1207842" cy="338555"/>
          </a:xfrm>
        </p:grpSpPr>
        <p:sp>
          <p:nvSpPr>
            <p:cNvPr id="18" name="矩形: 圆角 17"/>
            <p:cNvSpPr/>
            <p:nvPr/>
          </p:nvSpPr>
          <p:spPr>
            <a:xfrm>
              <a:off x="1477297" y="1791315"/>
              <a:ext cx="1207842" cy="338555"/>
            </a:xfrm>
            <a:prstGeom prst="roundRect">
              <a:avLst>
                <a:gd name="adj" fmla="val 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a:p>
          </p:txBody>
        </p:sp>
        <p:pic>
          <p:nvPicPr>
            <p:cNvPr id="29" name="图片 28"/>
            <p:cNvPicPr>
              <a:picLocks noChangeAspect="1"/>
            </p:cNvPicPr>
            <p:nvPr/>
          </p:nvPicPr>
          <p:blipFill rotWithShape="1">
            <a:blip r:embed="rId4" cstate="screen">
              <a:alphaModFix amt="35000"/>
            </a:blip>
            <a:srcRect t="-717"/>
            <a:stretch>
              <a:fillRect/>
            </a:stretch>
          </p:blipFill>
          <p:spPr>
            <a:xfrm rot="5400000">
              <a:off x="1911941" y="1356671"/>
              <a:ext cx="338554" cy="1207842"/>
            </a:xfrm>
            <a:prstGeom prst="rect">
              <a:avLst/>
            </a:prstGeom>
            <a:effectLst/>
          </p:spPr>
        </p:pic>
      </p:grpSp>
      <p:sp>
        <p:nvSpPr>
          <p:cNvPr id="8" name="文本框 7"/>
          <p:cNvSpPr txBox="1"/>
          <p:nvPr/>
        </p:nvSpPr>
        <p:spPr>
          <a:xfrm>
            <a:off x="1595749" y="1663967"/>
            <a:ext cx="1203690" cy="338554"/>
          </a:xfrm>
          <a:prstGeom prst="rect">
            <a:avLst/>
          </a:prstGeom>
          <a:noFill/>
        </p:spPr>
        <p:txBody>
          <a:bodyPr wrap="square" rtlCol="0">
            <a:spAutoFit/>
          </a:bodyPr>
          <a:lstStyle/>
          <a:p>
            <a:pPr algn="ctr"/>
            <a:r>
              <a:rPr lang="zh-CN" altLang="en-US" sz="1600" b="1" spc="100" dirty="0">
                <a:solidFill>
                  <a:schemeClr val="bg1"/>
                </a:solidFill>
                <a:latin typeface="微软雅黑" panose="020B0503020204020204" pitchFamily="34" charset="-122"/>
                <a:ea typeface="微软雅黑" panose="020B0503020204020204" pitchFamily="34" charset="-122"/>
              </a:rPr>
              <a:t>第一部分</a:t>
            </a:r>
            <a:endParaRPr lang="zh-CN" altLang="en-US" sz="1600" b="1" spc="100" dirty="0">
              <a:solidFill>
                <a:schemeClr val="bg1"/>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5140" y="5657746"/>
            <a:ext cx="728963" cy="422390"/>
          </a:xfrm>
          <a:prstGeom prst="rect">
            <a:avLst/>
          </a:prstGeom>
        </p:spPr>
      </p:pic>
      <p:pic>
        <p:nvPicPr>
          <p:cNvPr id="15" name="图片 14" descr="徽标&#10;&#10;描述已自动生成"/>
          <p:cNvPicPr>
            <a:picLocks noChangeAspect="1"/>
          </p:cNvPicPr>
          <p:nvPr/>
        </p:nvPicPr>
        <p:blipFill>
          <a:blip r:embed="rId6">
            <a:extLst>
              <a:ext uri="{28A0092B-C50C-407E-A947-70E740481C1C}">
                <a14:useLocalDpi xmlns:a14="http://schemas.microsoft.com/office/drawing/2010/main" val="0"/>
              </a:ext>
            </a:extLst>
          </a:blip>
          <a:srcRect t="13412" r="45166" b="17638"/>
          <a:stretch>
            <a:fillRect/>
          </a:stretch>
        </p:blipFill>
        <p:spPr>
          <a:xfrm>
            <a:off x="10392210" y="1148718"/>
            <a:ext cx="1799790" cy="2262883"/>
          </a:xfrm>
          <a:prstGeom prst="rect">
            <a:avLst/>
          </a:prstGeom>
        </p:spPr>
      </p:pic>
      <p:pic>
        <p:nvPicPr>
          <p:cNvPr id="16" name="图片 15" descr="/private/var/folders/yy/k9vbpjvs50n3dskbszjx5l8r0000gn/T/com.kingsoft.wpsoffice.mac/photoedit2/20230330085317/temp.pngtemp"/>
          <p:cNvPicPr>
            <a:picLocks noChangeAspect="1"/>
          </p:cNvPicPr>
          <p:nvPr/>
        </p:nvPicPr>
        <p:blipFill rotWithShape="1">
          <a:blip r:embed="rId7"/>
          <a:srcRect r="62275"/>
          <a:stretch>
            <a:fillRect/>
          </a:stretch>
        </p:blipFill>
        <p:spPr>
          <a:xfrm>
            <a:off x="10600361" y="3024310"/>
            <a:ext cx="1441413" cy="774582"/>
          </a:xfrm>
          <a:prstGeom prst="rect">
            <a:avLst/>
          </a:prstGeom>
        </p:spPr>
      </p:pic>
      <p:pic>
        <p:nvPicPr>
          <p:cNvPr id="19" name="图片 1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02903" y="5657746"/>
            <a:ext cx="742383" cy="422390"/>
          </a:xfrm>
          <a:prstGeom prst="rect">
            <a:avLst/>
          </a:prstGeom>
        </p:spPr>
      </p:pic>
      <p:pic>
        <p:nvPicPr>
          <p:cNvPr id="22" name="图片 21" descr="图片包含 图示&#10;&#10;描述已自动生成"/>
          <p:cNvPicPr>
            <a:picLocks noChangeAspect="1"/>
          </p:cNvPicPr>
          <p:nvPr/>
        </p:nvPicPr>
        <p:blipFill rotWithShape="1">
          <a:blip r:embed="rId9" cstate="print">
            <a:extLst>
              <a:ext uri="{28A0092B-C50C-407E-A947-70E740481C1C}">
                <a14:useLocalDpi xmlns:a14="http://schemas.microsoft.com/office/drawing/2010/main" val="0"/>
              </a:ext>
            </a:extLst>
          </a:blip>
          <a:srcRect l="5222" t="67459" r="6526"/>
          <a:stretch>
            <a:fillRect/>
          </a:stretch>
        </p:blipFill>
        <p:spPr>
          <a:xfrm>
            <a:off x="-117402" y="5985984"/>
            <a:ext cx="9557385" cy="11760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l="-2005" t="66878" r="2005" b="-62871"/>
          <a:stretch>
            <a:fillRect/>
          </a:stretch>
        </p:blipFill>
        <p:spPr>
          <a:xfrm>
            <a:off x="-244929" y="-101600"/>
            <a:ext cx="12436929" cy="2310108"/>
          </a:xfrm>
          <a:prstGeom prst="rect">
            <a:avLst/>
          </a:prstGeom>
        </p:spPr>
      </p:pic>
      <p:pic>
        <p:nvPicPr>
          <p:cNvPr id="3" name="图片 2"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rcRect t="13412" r="45166" b="17638"/>
          <a:stretch>
            <a:fillRect/>
          </a:stretch>
        </p:blipFill>
        <p:spPr>
          <a:xfrm>
            <a:off x="142513" y="-203199"/>
            <a:ext cx="785047" cy="987042"/>
          </a:xfrm>
          <a:prstGeom prst="rect">
            <a:avLst/>
          </a:prstGeom>
        </p:spPr>
      </p:pic>
      <p:pic>
        <p:nvPicPr>
          <p:cNvPr id="5" name="图片 4" descr="C:/Users/杨仕晋/Desktop/OIP.jpgOIP"/>
          <p:cNvPicPr>
            <a:picLocks noChangeAspect="1"/>
          </p:cNvPicPr>
          <p:nvPr/>
        </p:nvPicPr>
        <p:blipFill>
          <a:blip r:embed="rId3"/>
          <a:srcRect t="9286" b="9286"/>
          <a:stretch>
            <a:fillRect/>
          </a:stretch>
        </p:blipFill>
        <p:spPr>
          <a:xfrm>
            <a:off x="992914" y="1528899"/>
            <a:ext cx="5166328" cy="3222071"/>
          </a:xfrm>
          <a:prstGeom prst="rect">
            <a:avLst/>
          </a:prstGeom>
          <a:effectLst>
            <a:outerShdw blurRad="50800" dist="38100" dir="5400000" algn="t" rotWithShape="0">
              <a:prstClr val="black">
                <a:alpha val="40000"/>
              </a:prstClr>
            </a:outerShdw>
          </a:effectLst>
        </p:spPr>
      </p:pic>
      <p:sp>
        <p:nvSpPr>
          <p:cNvPr id="7" name="文本框 6"/>
          <p:cNvSpPr txBox="1"/>
          <p:nvPr/>
        </p:nvSpPr>
        <p:spPr>
          <a:xfrm>
            <a:off x="500512" y="813047"/>
            <a:ext cx="3157087" cy="460375"/>
          </a:xfrm>
          <a:prstGeom prst="rect">
            <a:avLst/>
          </a:prstGeom>
          <a:noFill/>
        </p:spPr>
        <p:txBody>
          <a:bodyPr wrap="square" rtlCol="0">
            <a:spAutoFit/>
          </a:bodyPr>
          <a:lstStyle/>
          <a:p>
            <a:r>
              <a:rPr lang="en-US" altLang="zh-CN" sz="2400" b="1" dirty="0">
                <a:solidFill>
                  <a:srgbClr val="CB4845"/>
                </a:solidFill>
                <a:latin typeface="微软雅黑" panose="020B0503020204020204" pitchFamily="34" charset="-122"/>
                <a:ea typeface="微软雅黑" panose="020B0503020204020204" pitchFamily="34" charset="-122"/>
              </a:rPr>
              <a:t>1.1</a:t>
            </a:r>
            <a:r>
              <a:rPr lang="zh-CN" altLang="en-US" sz="2400" b="1" dirty="0">
                <a:solidFill>
                  <a:srgbClr val="CB4845"/>
                </a:solidFill>
                <a:latin typeface="微软雅黑" panose="020B0503020204020204" pitchFamily="34" charset="-122"/>
                <a:ea typeface="微软雅黑" panose="020B0503020204020204" pitchFamily="34" charset="-122"/>
              </a:rPr>
              <a:t>疾病简介</a:t>
            </a:r>
            <a:endParaRPr lang="zh-CN" altLang="en-US" sz="2400" b="1" dirty="0">
              <a:solidFill>
                <a:srgbClr val="CB4845"/>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801370" y="5113655"/>
            <a:ext cx="6333490" cy="1124585"/>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z="1400" spc="100" dirty="0">
                <a:solidFill>
                  <a:schemeClr val="tx1">
                    <a:lumMod val="75000"/>
                    <a:lumOff val="25000"/>
                  </a:schemeClr>
                </a:solidFill>
              </a:rPr>
              <a:t>亨廷顿病（HD）是一种以不自主运动、精神异常和进行性痴呆为主要临床特点的显性遗传性神经系统变性病。属于基因动态突变病或多谷酰胺重复病的范畴。因亨廷顿病以舞蹈症状为突出的临床症状，曾将本病命名为大舞蹈病、亨廷顿舞蹈病、慢性进行性舞蹈病或遗传性舞蹈病。</a:t>
            </a:r>
            <a:endParaRPr lang="en-US" altLang="zh-CN" sz="1400" spc="100" dirty="0">
              <a:solidFill>
                <a:schemeClr val="tx1">
                  <a:lumMod val="75000"/>
                  <a:lumOff val="25000"/>
                </a:schemeClr>
              </a:solidFill>
            </a:endParaRPr>
          </a:p>
        </p:txBody>
      </p:sp>
      <p:cxnSp>
        <p:nvCxnSpPr>
          <p:cNvPr id="10" name="直接连接符 16"/>
          <p:cNvCxnSpPr/>
          <p:nvPr/>
        </p:nvCxnSpPr>
        <p:spPr>
          <a:xfrm>
            <a:off x="777160" y="5201811"/>
            <a:ext cx="0" cy="408414"/>
          </a:xfrm>
          <a:prstGeom prst="line">
            <a:avLst/>
          </a:prstGeom>
          <a:ln w="50800">
            <a:solidFill>
              <a:schemeClr val="accent1">
                <a:lumMod val="75000"/>
                <a:alpha val="88000"/>
              </a:schemeClr>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custDataLst>
              <p:tags r:id="rId4"/>
            </p:custDataLst>
          </p:nvPr>
        </p:nvSpPr>
        <p:spPr>
          <a:xfrm>
            <a:off x="7493309" y="1639469"/>
            <a:ext cx="2791760" cy="368300"/>
          </a:xfrm>
          <a:prstGeom prst="rect">
            <a:avLst/>
          </a:prstGeom>
          <a:noFill/>
        </p:spPr>
        <p:txBody>
          <a:bodyPr wrap="square" rtlCol="0">
            <a:spAutoFit/>
          </a:bodyPr>
          <a:lstStyle/>
          <a:p>
            <a:r>
              <a:rPr lang="zh-CN" altLang="en-US" b="1" dirty="0">
                <a:solidFill>
                  <a:srgbClr val="CB4845"/>
                </a:solidFill>
                <a:latin typeface="微软雅黑" panose="020B0503020204020204" pitchFamily="34" charset="-122"/>
                <a:ea typeface="微软雅黑" panose="020B0503020204020204" pitchFamily="34" charset="-122"/>
              </a:rPr>
              <a:t>神经变性疾病</a:t>
            </a:r>
            <a:endParaRPr lang="zh-CN" altLang="en-US" b="1" dirty="0">
              <a:solidFill>
                <a:srgbClr val="CB4845"/>
              </a:solidFill>
              <a:latin typeface="微软雅黑" panose="020B0503020204020204" pitchFamily="34" charset="-122"/>
              <a:ea typeface="微软雅黑" panose="020B0503020204020204" pitchFamily="34" charset="-122"/>
            </a:endParaRPr>
          </a:p>
        </p:txBody>
      </p:sp>
      <p:sp>
        <p:nvSpPr>
          <p:cNvPr id="22" name="文本框 21"/>
          <p:cNvSpPr txBox="1"/>
          <p:nvPr>
            <p:custDataLst>
              <p:tags r:id="rId5"/>
            </p:custDataLst>
          </p:nvPr>
        </p:nvSpPr>
        <p:spPr>
          <a:xfrm>
            <a:off x="7492674" y="3720411"/>
            <a:ext cx="2791760" cy="368300"/>
          </a:xfrm>
          <a:prstGeom prst="rect">
            <a:avLst/>
          </a:prstGeom>
          <a:noFill/>
        </p:spPr>
        <p:txBody>
          <a:bodyPr wrap="square" rtlCol="0">
            <a:spAutoFit/>
          </a:bodyPr>
          <a:lstStyle/>
          <a:p>
            <a:r>
              <a:rPr lang="zh-CN" altLang="en-US" b="1" dirty="0">
                <a:solidFill>
                  <a:srgbClr val="CB4845"/>
                </a:solidFill>
                <a:latin typeface="微软雅黑" panose="020B0503020204020204" pitchFamily="34" charset="-122"/>
                <a:ea typeface="微软雅黑" panose="020B0503020204020204" pitchFamily="34" charset="-122"/>
              </a:rPr>
              <a:t>遗传基因突变</a:t>
            </a:r>
            <a:endParaRPr lang="zh-CN" altLang="en-US" b="1" dirty="0">
              <a:solidFill>
                <a:srgbClr val="CB4845"/>
              </a:solidFill>
              <a:latin typeface="微软雅黑" panose="020B0503020204020204" pitchFamily="34" charset="-122"/>
              <a:ea typeface="微软雅黑" panose="020B0503020204020204" pitchFamily="34" charset="-122"/>
            </a:endParaRPr>
          </a:p>
        </p:txBody>
      </p:sp>
      <p:sp>
        <p:nvSpPr>
          <p:cNvPr id="24" name="文本框 23"/>
          <p:cNvSpPr txBox="1"/>
          <p:nvPr>
            <p:custDataLst>
              <p:tags r:id="rId6"/>
            </p:custDataLst>
          </p:nvPr>
        </p:nvSpPr>
        <p:spPr>
          <a:xfrm>
            <a:off x="7398059" y="2208528"/>
            <a:ext cx="4066041" cy="866140"/>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z="1400" spc="100" dirty="0">
                <a:solidFill>
                  <a:schemeClr val="tx1">
                    <a:lumMod val="75000"/>
                    <a:lumOff val="25000"/>
                  </a:schemeClr>
                </a:solidFill>
              </a:rPr>
              <a:t>亨廷顿舞蹈症是一种严重的神经变性疾病，导致患者的神经系统逐渐退化，表现为不可控制的运动、认知能力下降和情绪障碍。</a:t>
            </a:r>
            <a:endParaRPr lang="zh-CN" altLang="en-US" sz="1400" spc="100" dirty="0">
              <a:solidFill>
                <a:schemeClr val="tx1">
                  <a:lumMod val="75000"/>
                  <a:lumOff val="25000"/>
                </a:schemeClr>
              </a:solidFill>
            </a:endParaRPr>
          </a:p>
        </p:txBody>
      </p:sp>
      <p:sp>
        <p:nvSpPr>
          <p:cNvPr id="25" name="文本框 24"/>
          <p:cNvSpPr txBox="1"/>
          <p:nvPr>
            <p:custDataLst>
              <p:tags r:id="rId7"/>
            </p:custDataLst>
          </p:nvPr>
        </p:nvSpPr>
        <p:spPr>
          <a:xfrm>
            <a:off x="7397115" y="4187825"/>
            <a:ext cx="3987800" cy="1151255"/>
          </a:xfrm>
          <a:prstGeom prst="rect">
            <a:avLst/>
          </a:prstGeom>
          <a:noFill/>
        </p:spPr>
        <p:txBody>
          <a:bodyPr wrap="square" rtlCol="0">
            <a:noAutofit/>
          </a:bodyPr>
          <a:lstStyle>
            <a:defPPr>
              <a:defRPr lang="zh-CN"/>
            </a:defPPr>
            <a:lvl1pPr hangingPunct="0">
              <a:lnSpc>
                <a:spcPct val="120000"/>
              </a:lnSpc>
              <a:defRPr sz="1400" spc="100">
                <a:solidFill>
                  <a:schemeClr val="tx1">
                    <a:lumMod val="75000"/>
                    <a:lumOff val="25000"/>
                  </a:schemeClr>
                </a:solidFill>
                <a:latin typeface="思源黑体 CN Normal" panose="020B0400000000000000" pitchFamily="34" charset="-122"/>
                <a:ea typeface="思源黑体 CN Normal" panose="020B0400000000000000" pitchFamily="34" charset="-122"/>
              </a:defRPr>
            </a:lvl1pPr>
          </a:lstStyle>
          <a:p>
            <a:r>
              <a:rPr lang="zh-CN" altLang="en-US" dirty="0">
                <a:latin typeface="微软雅黑" panose="020B0503020204020204" pitchFamily="34" charset="-122"/>
                <a:ea typeface="微软雅黑" panose="020B0503020204020204" pitchFamily="34" charset="-122"/>
              </a:rPr>
              <a:t>四号染色体的短臂的亨廷顿基因突变导致的异常，该异常导致基底节神经细胞死</a:t>
            </a:r>
            <a:r>
              <a:rPr lang="zh-CN" altLang="en-US" dirty="0">
                <a:latin typeface="微软雅黑" panose="020B0503020204020204" pitchFamily="34" charset="-122"/>
                <a:ea typeface="微软雅黑" panose="020B0503020204020204" pitchFamily="34" charset="-122"/>
              </a:rPr>
              <a:t>亡，引起运动障碍包括舞蹈症和手足徐动症以</a:t>
            </a: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及抑郁、痴呆等精神类疾病。</a:t>
            </a:r>
            <a:endParaRPr lang="zh-CN" altLang="en-US" dirty="0">
              <a:latin typeface="微软雅黑" panose="020B0503020204020204" pitchFamily="34" charset="-122"/>
              <a:ea typeface="微软雅黑" panose="020B0503020204020204" pitchFamily="34" charset="-122"/>
            </a:endParaRPr>
          </a:p>
        </p:txBody>
      </p:sp>
      <p:cxnSp>
        <p:nvCxnSpPr>
          <p:cNvPr id="32" name="直线连接符 31"/>
          <p:cNvCxnSpPr/>
          <p:nvPr/>
        </p:nvCxnSpPr>
        <p:spPr>
          <a:xfrm>
            <a:off x="777557" y="6214428"/>
            <a:ext cx="11149458" cy="0"/>
          </a:xfrm>
          <a:prstGeom prst="line">
            <a:avLst/>
          </a:prstGeom>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15266" y="6215005"/>
            <a:ext cx="728963" cy="422390"/>
          </a:xfrm>
          <a:prstGeom prst="rect">
            <a:avLst/>
          </a:prstGeom>
        </p:spPr>
      </p:pic>
      <p:pic>
        <p:nvPicPr>
          <p:cNvPr id="34" name="图片 3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346903" y="6192723"/>
            <a:ext cx="742383" cy="422390"/>
          </a:xfrm>
          <a:prstGeom prst="rect">
            <a:avLst/>
          </a:prstGeom>
        </p:spPr>
      </p:pic>
      <p:pic>
        <p:nvPicPr>
          <p:cNvPr id="35" name="图片 34" descr="/private/var/folders/yy/k9vbpjvs50n3dskbszjx5l8r0000gn/T/com.kingsoft.wpsoffice.mac/picturecompress_20230330124548/output_1.pngoutput_1"/>
          <p:cNvPicPr>
            <a:picLocks noChangeAspect="1"/>
          </p:cNvPicPr>
          <p:nvPr/>
        </p:nvPicPr>
        <p:blipFill>
          <a:blip r:embed="rId10"/>
          <a:stretch>
            <a:fillRect/>
          </a:stretch>
        </p:blipFill>
        <p:spPr>
          <a:xfrm rot="20673344" flipV="1">
            <a:off x="9098868" y="739395"/>
            <a:ext cx="4008888" cy="3696561"/>
          </a:xfrm>
          <a:prstGeom prst="rect">
            <a:avLst/>
          </a:prstGeom>
        </p:spPr>
      </p:pic>
      <p:pic>
        <p:nvPicPr>
          <p:cNvPr id="36" name="图片 35" descr="/private/var/folders/yy/k9vbpjvs50n3dskbszjx5l8r0000gn/T/com.kingsoft.wpsoffice.mac/photoedit2/20230330085317/temp.pngtemp"/>
          <p:cNvPicPr>
            <a:picLocks noChangeAspect="1"/>
          </p:cNvPicPr>
          <p:nvPr/>
        </p:nvPicPr>
        <p:blipFill rotWithShape="1">
          <a:blip r:embed="rId11"/>
          <a:srcRect l="1110" r="62900" b="9091"/>
          <a:stretch>
            <a:fillRect/>
          </a:stretch>
        </p:blipFill>
        <p:spPr>
          <a:xfrm>
            <a:off x="927963" y="-203110"/>
            <a:ext cx="1458647" cy="9063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66"/>
          <p:cNvSpPr/>
          <p:nvPr/>
        </p:nvSpPr>
        <p:spPr>
          <a:xfrm rot="16200000">
            <a:off x="5618936" y="-1618177"/>
            <a:ext cx="954132" cy="12192001"/>
          </a:xfrm>
          <a:custGeom>
            <a:avLst/>
            <a:gdLst>
              <a:gd name="connsiteX0" fmla="*/ 0 w 1100057"/>
              <a:gd name="connsiteY0" fmla="*/ 0 h 6857593"/>
              <a:gd name="connsiteX1" fmla="*/ 812874 w 1100057"/>
              <a:gd name="connsiteY1" fmla="*/ 0 h 6857593"/>
              <a:gd name="connsiteX2" fmla="*/ 913488 w 1100057"/>
              <a:gd name="connsiteY2" fmla="*/ 292042 h 6857593"/>
              <a:gd name="connsiteX3" fmla="*/ 1099225 w 1100057"/>
              <a:gd name="connsiteY3" fmla="*/ 1503622 h 6857593"/>
              <a:gd name="connsiteX4" fmla="*/ 748705 w 1100057"/>
              <a:gd name="connsiteY4" fmla="*/ 5328862 h 6857593"/>
              <a:gd name="connsiteX5" fmla="*/ 973019 w 1100057"/>
              <a:gd name="connsiteY5" fmla="*/ 6787259 h 6857593"/>
              <a:gd name="connsiteX6" fmla="*/ 987002 w 1100057"/>
              <a:gd name="connsiteY6" fmla="*/ 6857593 h 6857593"/>
              <a:gd name="connsiteX7" fmla="*/ 0 w 1100057"/>
              <a:gd name="connsiteY7" fmla="*/ 6857593 h 685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0057" h="6857593">
                <a:moveTo>
                  <a:pt x="0" y="0"/>
                </a:moveTo>
                <a:lnTo>
                  <a:pt x="812874" y="0"/>
                </a:lnTo>
                <a:lnTo>
                  <a:pt x="913488" y="292042"/>
                </a:lnTo>
                <a:cubicBezTo>
                  <a:pt x="1009690" y="619067"/>
                  <a:pt x="1089065" y="1019752"/>
                  <a:pt x="1099225" y="1503622"/>
                </a:cubicBezTo>
                <a:cubicBezTo>
                  <a:pt x="1119545" y="2471362"/>
                  <a:pt x="761405" y="4391602"/>
                  <a:pt x="748705" y="5328862"/>
                </a:cubicBezTo>
                <a:cubicBezTo>
                  <a:pt x="739180" y="6031807"/>
                  <a:pt x="891104" y="6437572"/>
                  <a:pt x="973019" y="6787259"/>
                </a:cubicBezTo>
                <a:lnTo>
                  <a:pt x="987002" y="6857593"/>
                </a:lnTo>
                <a:lnTo>
                  <a:pt x="0" y="6857593"/>
                </a:lnTo>
                <a:close/>
              </a:path>
            </a:pathLst>
          </a:custGeom>
          <a:solidFill>
            <a:srgbClr val="EEC88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2" name="图片 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l="-2005" t="66878" r="2005" b="-62871"/>
          <a:stretch>
            <a:fillRect/>
          </a:stretch>
        </p:blipFill>
        <p:spPr>
          <a:xfrm>
            <a:off x="-244929" y="-101600"/>
            <a:ext cx="12436929" cy="2310108"/>
          </a:xfrm>
          <a:prstGeom prst="rect">
            <a:avLst/>
          </a:prstGeom>
        </p:spPr>
      </p:pic>
      <p:pic>
        <p:nvPicPr>
          <p:cNvPr id="3" name="图片 2"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rcRect t="13412" r="45166" b="17638"/>
          <a:stretch>
            <a:fillRect/>
          </a:stretch>
        </p:blipFill>
        <p:spPr>
          <a:xfrm>
            <a:off x="142513" y="-203199"/>
            <a:ext cx="785047" cy="987042"/>
          </a:xfrm>
          <a:prstGeom prst="rect">
            <a:avLst/>
          </a:prstGeom>
        </p:spPr>
      </p:pic>
      <p:sp>
        <p:nvSpPr>
          <p:cNvPr id="5" name="任意多边形: 形状 33"/>
          <p:cNvSpPr/>
          <p:nvPr/>
        </p:nvSpPr>
        <p:spPr>
          <a:xfrm rot="16200000">
            <a:off x="4737460" y="-596538"/>
            <a:ext cx="2717075" cy="12192002"/>
          </a:xfrm>
          <a:custGeom>
            <a:avLst/>
            <a:gdLst>
              <a:gd name="connsiteX0" fmla="*/ 3696684 w 3698249"/>
              <a:gd name="connsiteY0" fmla="*/ 2673265 h 12192002"/>
              <a:gd name="connsiteX1" fmla="*/ 3037599 w 3698249"/>
              <a:gd name="connsiteY1" fmla="*/ 9474096 h 12192002"/>
              <a:gd name="connsiteX2" fmla="*/ 3459378 w 3698249"/>
              <a:gd name="connsiteY2" fmla="*/ 12066956 h 12192002"/>
              <a:gd name="connsiteX3" fmla="*/ 3485670 w 3698249"/>
              <a:gd name="connsiteY3" fmla="*/ 12192002 h 12192002"/>
              <a:gd name="connsiteX4" fmla="*/ 1910385 w 3698249"/>
              <a:gd name="connsiteY4" fmla="*/ 12192002 h 12192002"/>
              <a:gd name="connsiteX5" fmla="*/ 1629806 w 3698249"/>
              <a:gd name="connsiteY5" fmla="*/ 12192002 h 12192002"/>
              <a:gd name="connsiteX6" fmla="*/ 0 w 3698249"/>
              <a:gd name="connsiteY6" fmla="*/ 12192002 h 12192002"/>
              <a:gd name="connsiteX7" fmla="*/ 1 w 3698249"/>
              <a:gd name="connsiteY7" fmla="*/ 4 h 12192002"/>
              <a:gd name="connsiteX8" fmla="*/ 1629806 w 3698249"/>
              <a:gd name="connsiteY8" fmla="*/ 4 h 12192002"/>
              <a:gd name="connsiteX9" fmla="*/ 1629806 w 3698249"/>
              <a:gd name="connsiteY9" fmla="*/ 0 h 12192002"/>
              <a:gd name="connsiteX10" fmla="*/ 3158257 w 3698249"/>
              <a:gd name="connsiteY10" fmla="*/ 0 h 12192002"/>
              <a:gd name="connsiteX11" fmla="*/ 3347442 w 3698249"/>
              <a:gd name="connsiteY11" fmla="*/ 519217 h 12192002"/>
              <a:gd name="connsiteX12" fmla="*/ 3696684 w 3698249"/>
              <a:gd name="connsiteY12" fmla="*/ 2673265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98249" h="12192002">
                <a:moveTo>
                  <a:pt x="3696684" y="2673265"/>
                </a:moveTo>
                <a:cubicBezTo>
                  <a:pt x="3734891" y="4393794"/>
                  <a:pt x="3061479" y="7807757"/>
                  <a:pt x="3037599" y="9474096"/>
                </a:cubicBezTo>
                <a:cubicBezTo>
                  <a:pt x="3019689" y="10723850"/>
                  <a:pt x="3305353" y="11445254"/>
                  <a:pt x="3459378" y="12066956"/>
                </a:cubicBezTo>
                <a:lnTo>
                  <a:pt x="3485670" y="12192002"/>
                </a:lnTo>
                <a:lnTo>
                  <a:pt x="1910385" y="12192002"/>
                </a:lnTo>
                <a:lnTo>
                  <a:pt x="1629806" y="12192002"/>
                </a:lnTo>
                <a:lnTo>
                  <a:pt x="0" y="12192002"/>
                </a:lnTo>
                <a:lnTo>
                  <a:pt x="1" y="4"/>
                </a:lnTo>
                <a:lnTo>
                  <a:pt x="1629806" y="4"/>
                </a:lnTo>
                <a:lnTo>
                  <a:pt x="1629806" y="0"/>
                </a:lnTo>
                <a:lnTo>
                  <a:pt x="3158257" y="0"/>
                </a:lnTo>
                <a:lnTo>
                  <a:pt x="3347442" y="519217"/>
                </a:lnTo>
                <a:cubicBezTo>
                  <a:pt x="3528331" y="1100629"/>
                  <a:pt x="3677580" y="1813000"/>
                  <a:pt x="3696684" y="2673265"/>
                </a:cubicBezTo>
                <a:close/>
              </a:path>
            </a:pathLst>
          </a:custGeom>
          <a:solidFill>
            <a:srgbClr val="36427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文本框 5"/>
          <p:cNvSpPr txBox="1"/>
          <p:nvPr/>
        </p:nvSpPr>
        <p:spPr>
          <a:xfrm>
            <a:off x="500513" y="813047"/>
            <a:ext cx="2236788" cy="460375"/>
          </a:xfrm>
          <a:prstGeom prst="rect">
            <a:avLst/>
          </a:prstGeom>
          <a:noFill/>
        </p:spPr>
        <p:txBody>
          <a:bodyPr wrap="square" rtlCol="0">
            <a:spAutoFit/>
          </a:bodyPr>
          <a:lstStyle/>
          <a:p>
            <a:r>
              <a:rPr lang="en-US" altLang="zh-CN" sz="2400" b="1" dirty="0">
                <a:solidFill>
                  <a:srgbClr val="CB4845"/>
                </a:solidFill>
                <a:latin typeface="微软雅黑" panose="020B0503020204020204" pitchFamily="34" charset="-122"/>
                <a:ea typeface="微软雅黑" panose="020B0503020204020204" pitchFamily="34" charset="-122"/>
              </a:rPr>
              <a:t>1.2</a:t>
            </a:r>
            <a:r>
              <a:rPr lang="zh-CN" altLang="en-US" sz="2400" b="1" dirty="0">
                <a:solidFill>
                  <a:srgbClr val="CB4845"/>
                </a:solidFill>
                <a:latin typeface="微软雅黑" panose="020B0503020204020204" pitchFamily="34" charset="-122"/>
                <a:ea typeface="微软雅黑" panose="020B0503020204020204" pitchFamily="34" charset="-122"/>
              </a:rPr>
              <a:t>历史与发现</a:t>
            </a:r>
            <a:endParaRPr lang="zh-CN" altLang="en-US" sz="2400" b="1" dirty="0">
              <a:solidFill>
                <a:srgbClr val="CB4845"/>
              </a:solidFill>
              <a:latin typeface="微软雅黑" panose="020B0503020204020204" pitchFamily="34" charset="-122"/>
              <a:ea typeface="微软雅黑" panose="020B0503020204020204" pitchFamily="34" charset="-122"/>
            </a:endParaRPr>
          </a:p>
        </p:txBody>
      </p:sp>
      <p:pic>
        <p:nvPicPr>
          <p:cNvPr id="7" name="图片 6" descr="背景图案&#10;&#10;描述已自动生成"/>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037940">
            <a:off x="-1254678" y="970479"/>
            <a:ext cx="3246661" cy="2993503"/>
          </a:xfrm>
          <a:prstGeom prst="rect">
            <a:avLst/>
          </a:prstGeom>
        </p:spPr>
      </p:pic>
      <p:pic>
        <p:nvPicPr>
          <p:cNvPr id="8" name="图片 7" descr="背景图案&#10;&#10;描述已自动生成"/>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8863703">
            <a:off x="9736964" y="-846562"/>
            <a:ext cx="3246661" cy="2993503"/>
          </a:xfrm>
          <a:prstGeom prst="rect">
            <a:avLst/>
          </a:prstGeom>
        </p:spPr>
      </p:pic>
      <p:sp>
        <p:nvSpPr>
          <p:cNvPr id="10" name="椭圆 9"/>
          <p:cNvSpPr/>
          <p:nvPr/>
        </p:nvSpPr>
        <p:spPr>
          <a:xfrm>
            <a:off x="1714472" y="3638956"/>
            <a:ext cx="477335" cy="477335"/>
          </a:xfrm>
          <a:prstGeom prst="ellipse">
            <a:avLst/>
          </a:prstGeom>
          <a:solidFill>
            <a:schemeClr val="bg1"/>
          </a:solidFill>
          <a:ln w="76200">
            <a:solidFill>
              <a:srgbClr val="EEC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4"/>
          <p:cNvCxnSpPr/>
          <p:nvPr/>
        </p:nvCxnSpPr>
        <p:spPr>
          <a:xfrm>
            <a:off x="1935598" y="2075148"/>
            <a:ext cx="2" cy="1538976"/>
          </a:xfrm>
          <a:prstGeom prst="line">
            <a:avLst/>
          </a:prstGeom>
          <a:ln w="76200">
            <a:solidFill>
              <a:srgbClr val="EEC88F"/>
            </a:solidFill>
            <a:miter lim="800000"/>
            <a:headEnd type="oval" w="med" len="med"/>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2082308" y="1778444"/>
            <a:ext cx="1802726" cy="368300"/>
          </a:xfrm>
          <a:prstGeom prst="rect">
            <a:avLst/>
          </a:prstGeom>
          <a:noFill/>
        </p:spPr>
        <p:txBody>
          <a:bodyPr wrap="square" rtlCol="0">
            <a:spAutoFit/>
          </a:bodyPr>
          <a:lstStyle/>
          <a:p>
            <a:r>
              <a:rPr lang="en-US" altLang="zh-CN" b="1" dirty="0">
                <a:solidFill>
                  <a:srgbClr val="364272"/>
                </a:solidFill>
              </a:rPr>
              <a:t>19世纪</a:t>
            </a:r>
            <a:endParaRPr lang="en-US" altLang="zh-CN" b="1" dirty="0">
              <a:solidFill>
                <a:srgbClr val="364272"/>
              </a:solidFill>
            </a:endParaRPr>
          </a:p>
        </p:txBody>
      </p:sp>
      <p:sp>
        <p:nvSpPr>
          <p:cNvPr id="14" name="椭圆 13"/>
          <p:cNvSpPr/>
          <p:nvPr/>
        </p:nvSpPr>
        <p:spPr>
          <a:xfrm>
            <a:off x="4331689" y="3691641"/>
            <a:ext cx="477335" cy="477335"/>
          </a:xfrm>
          <a:prstGeom prst="ellipse">
            <a:avLst/>
          </a:prstGeom>
          <a:solidFill>
            <a:schemeClr val="bg1"/>
          </a:solidFill>
          <a:ln w="76200">
            <a:solidFill>
              <a:srgbClr val="EEC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6966231" y="3928786"/>
            <a:ext cx="477335" cy="477335"/>
          </a:xfrm>
          <a:prstGeom prst="ellipse">
            <a:avLst/>
          </a:prstGeom>
          <a:solidFill>
            <a:schemeClr val="bg1"/>
          </a:solidFill>
          <a:ln w="76200">
            <a:solidFill>
              <a:srgbClr val="EEC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p:nvSpPr>
        <p:spPr>
          <a:xfrm>
            <a:off x="9764541" y="4102972"/>
            <a:ext cx="477335" cy="477335"/>
          </a:xfrm>
          <a:prstGeom prst="ellipse">
            <a:avLst/>
          </a:prstGeom>
          <a:solidFill>
            <a:schemeClr val="bg1"/>
          </a:solidFill>
          <a:ln w="76200">
            <a:solidFill>
              <a:srgbClr val="EEC8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flipH="1">
            <a:off x="2089819" y="2326197"/>
            <a:ext cx="3230880" cy="645160"/>
          </a:xfrm>
          <a:prstGeom prst="rect">
            <a:avLst/>
          </a:prstGeom>
          <a:noFill/>
        </p:spPr>
        <p:txBody>
          <a:bodyPr wrap="square" rtlCol="0">
            <a:spAutoFit/>
          </a:bodyPr>
          <a:lstStyle/>
          <a:p>
            <a:pPr algn="just"/>
            <a:r>
              <a:rPr lang="zh-CN" altLang="en-US" dirty="0">
                <a:solidFill>
                  <a:srgbClr val="364272"/>
                </a:solidFill>
              </a:rPr>
              <a:t>亨廷顿舞蹈症的症状被误归类为一种神经症或精神障碍</a:t>
            </a:r>
            <a:endParaRPr lang="zh-CN" altLang="en-US" dirty="0">
              <a:solidFill>
                <a:srgbClr val="364272"/>
              </a:solidFill>
            </a:endParaRPr>
          </a:p>
        </p:txBody>
      </p:sp>
      <p:cxnSp>
        <p:nvCxnSpPr>
          <p:cNvPr id="18" name="直接连接符 58"/>
          <p:cNvCxnSpPr>
            <a:endCxn id="15" idx="0"/>
          </p:cNvCxnSpPr>
          <p:nvPr/>
        </p:nvCxnSpPr>
        <p:spPr>
          <a:xfrm>
            <a:off x="7189285" y="1995241"/>
            <a:ext cx="15614" cy="1933545"/>
          </a:xfrm>
          <a:prstGeom prst="line">
            <a:avLst/>
          </a:prstGeom>
          <a:ln w="76200">
            <a:solidFill>
              <a:srgbClr val="EEC88F"/>
            </a:solidFill>
            <a:miter lim="800000"/>
            <a:headEnd type="oval" w="med" len="med"/>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7336599" y="1519141"/>
            <a:ext cx="1802726" cy="368300"/>
          </a:xfrm>
          <a:prstGeom prst="rect">
            <a:avLst/>
          </a:prstGeom>
          <a:noFill/>
        </p:spPr>
        <p:txBody>
          <a:bodyPr wrap="square" rtlCol="0">
            <a:spAutoFit/>
          </a:bodyPr>
          <a:lstStyle/>
          <a:p>
            <a:r>
              <a:rPr lang="en-US" altLang="zh-CN" b="1" dirty="0">
                <a:solidFill>
                  <a:srgbClr val="364272"/>
                </a:solidFill>
              </a:rPr>
              <a:t>1911</a:t>
            </a:r>
            <a:endParaRPr lang="en-US" altLang="zh-CN" b="1" dirty="0">
              <a:solidFill>
                <a:srgbClr val="364272"/>
              </a:solidFill>
            </a:endParaRPr>
          </a:p>
        </p:txBody>
      </p:sp>
      <p:sp>
        <p:nvSpPr>
          <p:cNvPr id="20" name="文本框 19"/>
          <p:cNvSpPr txBox="1"/>
          <p:nvPr/>
        </p:nvSpPr>
        <p:spPr>
          <a:xfrm>
            <a:off x="700986" y="4963369"/>
            <a:ext cx="3783460" cy="645160"/>
          </a:xfrm>
          <a:prstGeom prst="rect">
            <a:avLst/>
          </a:prstGeom>
          <a:noFill/>
        </p:spPr>
        <p:txBody>
          <a:bodyPr wrap="square">
            <a:spAutoFit/>
          </a:bodyPr>
          <a:lstStyle/>
          <a:p>
            <a:pPr algn="just"/>
            <a:r>
              <a:rPr b="0" i="0" dirty="0">
                <a:solidFill>
                  <a:srgbClr val="EEC88F"/>
                </a:solidFill>
              </a:rPr>
              <a:t>美国内科医师Huntington对亨廷顿病的临床症状首先进行了描述</a:t>
            </a:r>
            <a:endParaRPr b="0" i="0" dirty="0">
              <a:solidFill>
                <a:srgbClr val="EEC88F"/>
              </a:solidFill>
            </a:endParaRPr>
          </a:p>
        </p:txBody>
      </p:sp>
      <p:sp>
        <p:nvSpPr>
          <p:cNvPr id="21" name="文本框 20"/>
          <p:cNvSpPr txBox="1"/>
          <p:nvPr/>
        </p:nvSpPr>
        <p:spPr>
          <a:xfrm flipH="1">
            <a:off x="7419433" y="1934511"/>
            <a:ext cx="4189266" cy="1198880"/>
          </a:xfrm>
          <a:prstGeom prst="rect">
            <a:avLst/>
          </a:prstGeom>
          <a:noFill/>
        </p:spPr>
        <p:txBody>
          <a:bodyPr wrap="square" rtlCol="0">
            <a:spAutoFit/>
          </a:bodyPr>
          <a:lstStyle/>
          <a:p>
            <a:pPr algn="just"/>
            <a:r>
              <a:rPr dirty="0">
                <a:solidFill>
                  <a:srgbClr val="364272"/>
                </a:solidFill>
              </a:rPr>
              <a:t>德国神经病学家Alzheimer对亨廷顿舞蹈症的病理学特征进行了详细的观察和描述，他发现了与该疾病相关的神经细胞退化和异常变化。</a:t>
            </a:r>
            <a:endParaRPr dirty="0">
              <a:solidFill>
                <a:srgbClr val="364272"/>
              </a:solidFill>
            </a:endParaRPr>
          </a:p>
        </p:txBody>
      </p:sp>
      <p:sp>
        <p:nvSpPr>
          <p:cNvPr id="22" name="文本框 21"/>
          <p:cNvSpPr txBox="1"/>
          <p:nvPr/>
        </p:nvSpPr>
        <p:spPr>
          <a:xfrm>
            <a:off x="6028479" y="4741770"/>
            <a:ext cx="3783460" cy="922020"/>
          </a:xfrm>
          <a:prstGeom prst="rect">
            <a:avLst/>
          </a:prstGeom>
          <a:noFill/>
        </p:spPr>
        <p:txBody>
          <a:bodyPr wrap="square">
            <a:spAutoFit/>
          </a:bodyPr>
          <a:lstStyle/>
          <a:p>
            <a:pPr algn="just"/>
            <a:r>
              <a:rPr lang="zh-CN" altLang="en-US" dirty="0">
                <a:solidFill>
                  <a:srgbClr val="EEC88F"/>
                </a:solidFill>
              </a:rPr>
              <a:t>研究人员成功地定位并克隆了导致该疾病的基因，即位于第4对染色体上的HTT基因</a:t>
            </a:r>
            <a:endParaRPr lang="zh-CN" altLang="en-US" dirty="0">
              <a:solidFill>
                <a:srgbClr val="EEC88F"/>
              </a:solidFill>
            </a:endParaRPr>
          </a:p>
        </p:txBody>
      </p:sp>
      <p:grpSp>
        <p:nvGrpSpPr>
          <p:cNvPr id="24" name="组合 23"/>
          <p:cNvGrpSpPr/>
          <p:nvPr/>
        </p:nvGrpSpPr>
        <p:grpSpPr>
          <a:xfrm flipV="1">
            <a:off x="1229166" y="6256042"/>
            <a:ext cx="9733661" cy="733914"/>
            <a:chOff x="-2305032" y="5576765"/>
            <a:chExt cx="17784565" cy="1537249"/>
          </a:xfrm>
        </p:grpSpPr>
        <p:sp>
          <p:nvSpPr>
            <p:cNvPr id="25" name="任意多边形: 形状 35"/>
            <p:cNvSpPr/>
            <p:nvPr/>
          </p:nvSpPr>
          <p:spPr>
            <a:xfrm>
              <a:off x="3420609" y="6267956"/>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36"/>
            <p:cNvSpPr/>
            <p:nvPr/>
          </p:nvSpPr>
          <p:spPr>
            <a:xfrm>
              <a:off x="6804716" y="5576765"/>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任意多边形: 形状 37"/>
            <p:cNvSpPr/>
            <p:nvPr/>
          </p:nvSpPr>
          <p:spPr>
            <a:xfrm>
              <a:off x="-2220266" y="5802471"/>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8" name="任意多边形: 形状 38"/>
            <p:cNvSpPr/>
            <p:nvPr/>
          </p:nvSpPr>
          <p:spPr>
            <a:xfrm>
              <a:off x="-2126607" y="5894547"/>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9" name="任意多边形: 形状 39"/>
            <p:cNvSpPr/>
            <p:nvPr/>
          </p:nvSpPr>
          <p:spPr>
            <a:xfrm>
              <a:off x="-2305032" y="6047539"/>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任意多边形: 形状 40"/>
            <p:cNvSpPr/>
            <p:nvPr/>
          </p:nvSpPr>
          <p:spPr>
            <a:xfrm>
              <a:off x="6659283" y="5699463"/>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 name="任意多边形: 形状 46"/>
            <p:cNvSpPr/>
            <p:nvPr/>
          </p:nvSpPr>
          <p:spPr>
            <a:xfrm>
              <a:off x="3870774" y="6417620"/>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pic>
        <p:nvPicPr>
          <p:cNvPr id="32" name="图片 31" descr="图片包含 游戏机, 烟花&#10;&#10;描述已自动生成"/>
          <p:cNvPicPr>
            <a:picLocks noChangeAspect="1"/>
          </p:cNvPicPr>
          <p:nvPr/>
        </p:nvPicPr>
        <p:blipFill rotWithShape="1">
          <a:blip r:embed="rId4">
            <a:extLst>
              <a:ext uri="{28A0092B-C50C-407E-A947-70E740481C1C}">
                <a14:useLocalDpi xmlns:a14="http://schemas.microsoft.com/office/drawing/2010/main" val="0"/>
              </a:ext>
            </a:extLst>
          </a:blip>
          <a:srcRect t="29665" b="26780"/>
          <a:stretch>
            <a:fillRect/>
          </a:stretch>
        </p:blipFill>
        <p:spPr>
          <a:xfrm>
            <a:off x="-405784" y="5204261"/>
            <a:ext cx="3593651" cy="1653740"/>
          </a:xfrm>
          <a:prstGeom prst="rect">
            <a:avLst/>
          </a:prstGeom>
        </p:spPr>
      </p:pic>
      <p:cxnSp>
        <p:nvCxnSpPr>
          <p:cNvPr id="33" name="直接连接符 61"/>
          <p:cNvCxnSpPr/>
          <p:nvPr/>
        </p:nvCxnSpPr>
        <p:spPr>
          <a:xfrm flipV="1">
            <a:off x="4570356" y="4168976"/>
            <a:ext cx="0" cy="1929978"/>
          </a:xfrm>
          <a:prstGeom prst="line">
            <a:avLst/>
          </a:prstGeom>
          <a:ln w="76200">
            <a:solidFill>
              <a:srgbClr val="EEC88F"/>
            </a:solidFill>
            <a:miter lim="800000"/>
            <a:headEnd type="oval" w="med" len="med"/>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2853541" y="5941939"/>
            <a:ext cx="1802726" cy="368300"/>
          </a:xfrm>
          <a:prstGeom prst="rect">
            <a:avLst/>
          </a:prstGeom>
          <a:noFill/>
        </p:spPr>
        <p:txBody>
          <a:bodyPr wrap="square" rtlCol="0">
            <a:spAutoFit/>
          </a:bodyPr>
          <a:lstStyle/>
          <a:p>
            <a:r>
              <a:rPr lang="en-US" altLang="zh-CN" b="1" dirty="0">
                <a:solidFill>
                  <a:srgbClr val="EEC88F"/>
                </a:solidFill>
              </a:rPr>
              <a:t>1872</a:t>
            </a:r>
            <a:endParaRPr lang="en-US" altLang="zh-CN" b="1" dirty="0">
              <a:solidFill>
                <a:srgbClr val="EEC88F"/>
              </a:solidFill>
            </a:endParaRPr>
          </a:p>
        </p:txBody>
      </p:sp>
      <p:cxnSp>
        <p:nvCxnSpPr>
          <p:cNvPr id="36" name="直接连接符 65"/>
          <p:cNvCxnSpPr/>
          <p:nvPr/>
        </p:nvCxnSpPr>
        <p:spPr>
          <a:xfrm flipV="1">
            <a:off x="9957898" y="4586996"/>
            <a:ext cx="0" cy="1929978"/>
          </a:xfrm>
          <a:prstGeom prst="line">
            <a:avLst/>
          </a:prstGeom>
          <a:ln w="76200">
            <a:solidFill>
              <a:srgbClr val="EEC88F"/>
            </a:solidFill>
            <a:miter lim="800000"/>
            <a:headEnd type="oval" w="med" len="med"/>
          </a:ln>
        </p:spPr>
        <p:style>
          <a:lnRef idx="1">
            <a:schemeClr val="accent1"/>
          </a:lnRef>
          <a:fillRef idx="0">
            <a:schemeClr val="accent1"/>
          </a:fillRef>
          <a:effectRef idx="0">
            <a:schemeClr val="accent1"/>
          </a:effectRef>
          <a:fontRef idx="minor">
            <a:schemeClr val="tx1"/>
          </a:fontRef>
        </p:style>
      </p:cxnSp>
      <p:pic>
        <p:nvPicPr>
          <p:cNvPr id="37" name="图片 36" descr="/private/var/folders/yy/k9vbpjvs50n3dskbszjx5l8r0000gn/T/com.kingsoft.wpsoffice.mac/photoedit2/20230330085317/temp.pngtemp"/>
          <p:cNvPicPr>
            <a:picLocks noChangeAspect="1"/>
          </p:cNvPicPr>
          <p:nvPr/>
        </p:nvPicPr>
        <p:blipFill rotWithShape="1">
          <a:blip r:embed="rId5"/>
          <a:srcRect l="1110" r="62900" b="9091"/>
          <a:stretch>
            <a:fillRect/>
          </a:stretch>
        </p:blipFill>
        <p:spPr>
          <a:xfrm>
            <a:off x="927963" y="-203110"/>
            <a:ext cx="1458647" cy="906365"/>
          </a:xfrm>
          <a:prstGeom prst="rect">
            <a:avLst/>
          </a:prstGeom>
        </p:spPr>
      </p:pic>
      <p:sp>
        <p:nvSpPr>
          <p:cNvPr id="13" name="文本框 12"/>
          <p:cNvSpPr txBox="1"/>
          <p:nvPr/>
        </p:nvSpPr>
        <p:spPr>
          <a:xfrm>
            <a:off x="7877661" y="5886694"/>
            <a:ext cx="1802726" cy="368300"/>
          </a:xfrm>
          <a:prstGeom prst="rect">
            <a:avLst/>
          </a:prstGeom>
          <a:noFill/>
        </p:spPr>
        <p:txBody>
          <a:bodyPr wrap="square" rtlCol="0">
            <a:spAutoFit/>
          </a:bodyPr>
          <a:p>
            <a:r>
              <a:rPr lang="en-US" altLang="zh-CN" b="1" dirty="0">
                <a:solidFill>
                  <a:srgbClr val="EEC88F"/>
                </a:solidFill>
              </a:rPr>
              <a:t>1993</a:t>
            </a:r>
            <a:endParaRPr lang="en-US" altLang="zh-CN" b="1" dirty="0">
              <a:solidFill>
                <a:srgbClr val="EEC88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l="-2005" t="66878" r="2005" b="-62871"/>
          <a:stretch>
            <a:fillRect/>
          </a:stretch>
        </p:blipFill>
        <p:spPr>
          <a:xfrm>
            <a:off x="-270189" y="-2359"/>
            <a:ext cx="12462189" cy="2314800"/>
          </a:xfrm>
          <a:prstGeom prst="rect">
            <a:avLst/>
          </a:prstGeom>
        </p:spPr>
      </p:pic>
      <p:pic>
        <p:nvPicPr>
          <p:cNvPr id="3" name="图片 2"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rcRect t="13412" r="45166" b="17638"/>
          <a:stretch>
            <a:fillRect/>
          </a:stretch>
        </p:blipFill>
        <p:spPr>
          <a:xfrm>
            <a:off x="142513" y="-120075"/>
            <a:ext cx="785047" cy="987042"/>
          </a:xfrm>
          <a:prstGeom prst="rect">
            <a:avLst/>
          </a:prstGeom>
        </p:spPr>
      </p:pic>
      <p:sp>
        <p:nvSpPr>
          <p:cNvPr id="8" name="文本框 7"/>
          <p:cNvSpPr txBox="1"/>
          <p:nvPr/>
        </p:nvSpPr>
        <p:spPr>
          <a:xfrm>
            <a:off x="500513" y="838805"/>
            <a:ext cx="2978590" cy="460375"/>
          </a:xfrm>
          <a:prstGeom prst="rect">
            <a:avLst/>
          </a:prstGeom>
          <a:noFill/>
        </p:spPr>
        <p:txBody>
          <a:bodyPr wrap="square" rtlCol="0">
            <a:spAutoFit/>
          </a:bodyPr>
          <a:lstStyle/>
          <a:p>
            <a:r>
              <a:rPr lang="en-US" altLang="zh-CN"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1.3</a:t>
            </a:r>
            <a:r>
              <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发病</a:t>
            </a:r>
            <a:r>
              <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情况</a:t>
            </a:r>
            <a:endPar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grpSp>
        <p:nvGrpSpPr>
          <p:cNvPr id="29" name="组合 28"/>
          <p:cNvGrpSpPr/>
          <p:nvPr/>
        </p:nvGrpSpPr>
        <p:grpSpPr>
          <a:xfrm>
            <a:off x="984236" y="6003837"/>
            <a:ext cx="10361517" cy="859852"/>
            <a:chOff x="-2305032" y="5576765"/>
            <a:chExt cx="17784565" cy="1475854"/>
          </a:xfrm>
        </p:grpSpPr>
        <p:sp>
          <p:nvSpPr>
            <p:cNvPr id="30" name="任意多边形: 形状 6"/>
            <p:cNvSpPr/>
            <p:nvPr/>
          </p:nvSpPr>
          <p:spPr>
            <a:xfrm>
              <a:off x="3420609" y="6267956"/>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 name="任意多边形: 形状 7"/>
            <p:cNvSpPr/>
            <p:nvPr/>
          </p:nvSpPr>
          <p:spPr>
            <a:xfrm>
              <a:off x="6804716" y="5576765"/>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2" name="任意多边形: 形状 9"/>
            <p:cNvSpPr/>
            <p:nvPr/>
          </p:nvSpPr>
          <p:spPr>
            <a:xfrm>
              <a:off x="-2220266" y="5802471"/>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3" name="任意多边形: 形状 10"/>
            <p:cNvSpPr/>
            <p:nvPr/>
          </p:nvSpPr>
          <p:spPr>
            <a:xfrm>
              <a:off x="-2126607" y="5894547"/>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4" name="任意多边形: 形状 11"/>
            <p:cNvSpPr/>
            <p:nvPr/>
          </p:nvSpPr>
          <p:spPr>
            <a:xfrm>
              <a:off x="-2305032" y="6047539"/>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5" name="任意多边形: 形状 12"/>
            <p:cNvSpPr/>
            <p:nvPr/>
          </p:nvSpPr>
          <p:spPr>
            <a:xfrm>
              <a:off x="6659283" y="5699463"/>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6" name="任意多边形: 形状 13"/>
            <p:cNvSpPr/>
            <p:nvPr/>
          </p:nvSpPr>
          <p:spPr>
            <a:xfrm>
              <a:off x="3573184" y="6356225"/>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pic>
        <p:nvPicPr>
          <p:cNvPr id="37" name="图片 36" descr="/private/var/folders/yy/k9vbpjvs50n3dskbszjx5l8r0000gn/T/com.kingsoft.wpsoffice.mac/photoedit2/20230330085317/temp.pngtemp"/>
          <p:cNvPicPr>
            <a:picLocks noChangeAspect="1"/>
          </p:cNvPicPr>
          <p:nvPr/>
        </p:nvPicPr>
        <p:blipFill rotWithShape="1">
          <a:blip r:embed="rId3"/>
          <a:srcRect l="1110" r="62900" b="9091"/>
          <a:stretch>
            <a:fillRect/>
          </a:stretch>
        </p:blipFill>
        <p:spPr>
          <a:xfrm>
            <a:off x="927963" y="-119986"/>
            <a:ext cx="1458647" cy="906365"/>
          </a:xfrm>
          <a:prstGeom prst="rect">
            <a:avLst/>
          </a:prstGeom>
        </p:spPr>
      </p:pic>
      <p:sp>
        <p:nvSpPr>
          <p:cNvPr id="4" name="文本框 3"/>
          <p:cNvSpPr txBox="1"/>
          <p:nvPr/>
        </p:nvSpPr>
        <p:spPr>
          <a:xfrm>
            <a:off x="808990" y="1880235"/>
            <a:ext cx="5482590" cy="4123690"/>
          </a:xfrm>
          <a:prstGeom prst="rect">
            <a:avLst/>
          </a:prstGeom>
        </p:spPr>
        <p:txBody>
          <a:bodyPr>
            <a:noAutofit/>
            <a:extLst>
              <a:ext uri="{4A0BC546-FE56-4ADE-93B0-CB8AF2F6F144}">
                <wpsdc:textFrameExt xmlns:wpsdc="http://www.wps.cn/officeDocument/2022/drawingmlCustomData" type="text"/>
              </a:ext>
            </a:extLst>
          </a:bodyPr>
          <a:p>
            <a:pPr indent="457200" algn="l"/>
            <a:r>
              <a:rPr lang="zh-CN" altLang="en-US" sz="2400">
                <a:latin typeface="华文楷体" panose="02010600040101010101" charset="-122"/>
                <a:ea typeface="华文楷体" panose="02010600040101010101" charset="-122"/>
                <a:cs typeface="华文楷体" panose="02010600040101010101" charset="-122"/>
              </a:rPr>
              <a:t>亨廷顿舞蹈症</a:t>
            </a:r>
            <a:r>
              <a:rPr lang="zh-CN" altLang="en-US" sz="2400">
                <a:highlight>
                  <a:srgbClr val="FFFF00"/>
                </a:highlight>
                <a:latin typeface="华文楷体" panose="02010600040101010101" charset="-122"/>
                <a:ea typeface="华文楷体" panose="02010600040101010101" charset="-122"/>
                <a:cs typeface="华文楷体" panose="02010600040101010101" charset="-122"/>
              </a:rPr>
              <a:t>欧美发病率高</a:t>
            </a:r>
            <a:r>
              <a:rPr lang="zh-CN" altLang="en-US" sz="2400">
                <a:latin typeface="华文楷体" panose="02010600040101010101" charset="-122"/>
                <a:ea typeface="华文楷体" panose="02010600040101010101" charset="-122"/>
                <a:cs typeface="华文楷体" panose="02010600040101010101" charset="-122"/>
              </a:rPr>
              <a:t>，非洲和亚洲发病率低。截至2019年，全世界亨廷顿病的患病率约为 </a:t>
            </a:r>
            <a:r>
              <a:rPr lang="zh-CN" altLang="en-US" sz="2400">
                <a:highlight>
                  <a:srgbClr val="FFFF00"/>
                </a:highlight>
                <a:latin typeface="华文楷体" panose="02010600040101010101" charset="-122"/>
                <a:ea typeface="华文楷体" panose="02010600040101010101" charset="-122"/>
                <a:cs typeface="华文楷体" panose="02010600040101010101" charset="-122"/>
              </a:rPr>
              <a:t>2.7/100 000</a:t>
            </a:r>
            <a:r>
              <a:rPr lang="zh-CN" altLang="en-US" sz="2400">
                <a:latin typeface="华文楷体" panose="02010600040101010101" charset="-122"/>
                <a:ea typeface="华文楷体" panose="02010600040101010101" charset="-122"/>
                <a:cs typeface="华文楷体" panose="02010600040101010101" charset="-122"/>
              </a:rPr>
              <a:t>，发病率约为</a:t>
            </a:r>
            <a:r>
              <a:rPr lang="zh-CN" altLang="en-US" sz="2400">
                <a:highlight>
                  <a:srgbClr val="FFFF00"/>
                </a:highlight>
                <a:latin typeface="华文楷体" panose="02010600040101010101" charset="-122"/>
                <a:ea typeface="华文楷体" panose="02010600040101010101" charset="-122"/>
                <a:cs typeface="华文楷体" panose="02010600040101010101" charset="-122"/>
              </a:rPr>
              <a:t>每年 0.38/100 000</a:t>
            </a:r>
            <a:r>
              <a:rPr lang="zh-CN" altLang="en-US" sz="2400">
                <a:latin typeface="华文楷体" panose="02010600040101010101" charset="-122"/>
                <a:ea typeface="华文楷体" panose="02010600040101010101" charset="-122"/>
                <a:cs typeface="华文楷体" panose="02010600040101010101" charset="-122"/>
              </a:rPr>
              <a:t>。亨廷顿病在中国的发病率显著低于高加索人群，但缺乏具体数据。多数发病年龄在25</a:t>
            </a:r>
            <a:r>
              <a:rPr lang="en-US" altLang="zh-CN" sz="2400">
                <a:latin typeface="华文楷体" panose="02010600040101010101" charset="-122"/>
                <a:ea typeface="华文楷体" panose="02010600040101010101" charset="-122"/>
                <a:cs typeface="华文楷体" panose="02010600040101010101" charset="-122"/>
              </a:rPr>
              <a:t>~</a:t>
            </a:r>
            <a:r>
              <a:rPr lang="zh-CN" altLang="en-US" sz="2400">
                <a:latin typeface="华文楷体" panose="02010600040101010101" charset="-122"/>
                <a:ea typeface="华文楷体" panose="02010600040101010101" charset="-122"/>
                <a:cs typeface="华文楷体" panose="02010600040101010101" charset="-122"/>
              </a:rPr>
              <a:t>40岁，此病持续5</a:t>
            </a:r>
            <a:r>
              <a:rPr lang="en-US" altLang="zh-CN" sz="2400">
                <a:latin typeface="华文楷体" panose="02010600040101010101" charset="-122"/>
                <a:ea typeface="华文楷体" panose="02010600040101010101" charset="-122"/>
                <a:cs typeface="华文楷体" panose="02010600040101010101" charset="-122"/>
              </a:rPr>
              <a:t>~</a:t>
            </a:r>
            <a:r>
              <a:rPr lang="zh-CN" altLang="en-US" sz="2400">
                <a:latin typeface="华文楷体" panose="02010600040101010101" charset="-122"/>
                <a:ea typeface="华文楷体" panose="02010600040101010101" charset="-122"/>
                <a:cs typeface="华文楷体" panose="02010600040101010101" charset="-122"/>
              </a:rPr>
              <a:t>30年，平均14年。5%</a:t>
            </a:r>
            <a:r>
              <a:rPr lang="en-US" altLang="zh-CN" sz="2400">
                <a:latin typeface="华文楷体" panose="02010600040101010101" charset="-122"/>
                <a:ea typeface="华文楷体" panose="02010600040101010101" charset="-122"/>
                <a:cs typeface="华文楷体" panose="02010600040101010101" charset="-122"/>
              </a:rPr>
              <a:t>~</a:t>
            </a:r>
            <a:r>
              <a:rPr lang="zh-CN" altLang="en-US" sz="2400">
                <a:latin typeface="华文楷体" panose="02010600040101010101" charset="-122"/>
                <a:ea typeface="华文楷体" panose="02010600040101010101" charset="-122"/>
                <a:cs typeface="华文楷体" panose="02010600040101010101" charset="-122"/>
              </a:rPr>
              <a:t>10%的患者发病年龄在10~20岁，1%的患者发病年龄在儿童期，个别患者的发病年龄在80岁以后。</a:t>
            </a:r>
            <a:endParaRPr lang="zh-CN" altLang="en-US" sz="2400">
              <a:latin typeface="华文楷体" panose="02010600040101010101" charset="-122"/>
              <a:ea typeface="华文楷体" panose="02010600040101010101" charset="-122"/>
              <a:cs typeface="华文楷体" panose="02010600040101010101" charset="-122"/>
            </a:endParaRPr>
          </a:p>
        </p:txBody>
      </p:sp>
      <p:pic>
        <p:nvPicPr>
          <p:cNvPr id="26" name="图片 25" descr="肌肤的"/>
          <p:cNvPicPr>
            <a:picLocks noChangeAspect="1"/>
          </p:cNvPicPr>
          <p:nvPr/>
        </p:nvPicPr>
        <p:blipFill>
          <a:blip r:embed="rId4"/>
          <a:stretch>
            <a:fillRect/>
          </a:stretch>
        </p:blipFill>
        <p:spPr>
          <a:xfrm>
            <a:off x="6452235" y="1880235"/>
            <a:ext cx="5267960" cy="32931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descr="/private/var/folders/yy/k9vbpjvs50n3dskbszjx5l8r0000gn/T/com.kingsoft.wpsoffice.mac/picturecompress_20230330124548/output_1.pngoutput_1"/>
          <p:cNvPicPr>
            <a:picLocks noChangeAspect="1"/>
          </p:cNvPicPr>
          <p:nvPr/>
        </p:nvPicPr>
        <p:blipFill>
          <a:blip r:embed="rId1"/>
          <a:stretch>
            <a:fillRect/>
          </a:stretch>
        </p:blipFill>
        <p:spPr>
          <a:xfrm rot="19072799" flipV="1">
            <a:off x="7715769" y="-1404586"/>
            <a:ext cx="6026326" cy="5556823"/>
          </a:xfrm>
          <a:prstGeom prst="rect">
            <a:avLst/>
          </a:prstGeom>
        </p:spPr>
      </p:pic>
      <p:pic>
        <p:nvPicPr>
          <p:cNvPr id="20" name="图片 19"/>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04502" y="182885"/>
            <a:ext cx="4036423" cy="6270164"/>
          </a:xfrm>
          <a:custGeom>
            <a:avLst/>
            <a:gdLst/>
            <a:ahLst/>
            <a:cxnLst/>
            <a:rect l="l" t="t" r="r" b="b"/>
            <a:pathLst>
              <a:path w="2869476" h="5118525">
                <a:moveTo>
                  <a:pt x="1355633" y="0"/>
                </a:moveTo>
                <a:cubicBezTo>
                  <a:pt x="1854043" y="0"/>
                  <a:pt x="2230953" y="123569"/>
                  <a:pt x="2486362" y="370706"/>
                </a:cubicBezTo>
                <a:cubicBezTo>
                  <a:pt x="2741771" y="617842"/>
                  <a:pt x="2869476" y="930641"/>
                  <a:pt x="2869476" y="1309102"/>
                </a:cubicBezTo>
                <a:cubicBezTo>
                  <a:pt x="2869476" y="1596566"/>
                  <a:pt x="2797601" y="1900575"/>
                  <a:pt x="2653853" y="2221130"/>
                </a:cubicBezTo>
                <a:cubicBezTo>
                  <a:pt x="2510104" y="2541684"/>
                  <a:pt x="2086638" y="3222086"/>
                  <a:pt x="1383455" y="4262336"/>
                </a:cubicBezTo>
                <a:lnTo>
                  <a:pt x="2757799" y="4262336"/>
                </a:lnTo>
                <a:lnTo>
                  <a:pt x="2757799" y="5118525"/>
                </a:lnTo>
                <a:lnTo>
                  <a:pt x="0" y="5118525"/>
                </a:lnTo>
                <a:lnTo>
                  <a:pt x="775" y="4401932"/>
                </a:lnTo>
                <a:cubicBezTo>
                  <a:pt x="817671" y="3065945"/>
                  <a:pt x="1303155" y="2239225"/>
                  <a:pt x="1457228" y="1921774"/>
                </a:cubicBezTo>
                <a:cubicBezTo>
                  <a:pt x="1611301" y="1604322"/>
                  <a:pt x="1688337" y="1356668"/>
                  <a:pt x="1688337" y="1178812"/>
                </a:cubicBezTo>
                <a:cubicBezTo>
                  <a:pt x="1688337" y="1042318"/>
                  <a:pt x="1665039" y="940465"/>
                  <a:pt x="1618442" y="873252"/>
                </a:cubicBezTo>
                <a:cubicBezTo>
                  <a:pt x="1571846" y="806039"/>
                  <a:pt x="1500916" y="772432"/>
                  <a:pt x="1405655" y="772432"/>
                </a:cubicBezTo>
                <a:cubicBezTo>
                  <a:pt x="1310394" y="772432"/>
                  <a:pt x="1239465" y="809658"/>
                  <a:pt x="1192868" y="884109"/>
                </a:cubicBezTo>
                <a:cubicBezTo>
                  <a:pt x="1146271" y="958560"/>
                  <a:pt x="1122973" y="1106429"/>
                  <a:pt x="1122973" y="1327715"/>
                </a:cubicBezTo>
                <a:lnTo>
                  <a:pt x="1122973" y="1805444"/>
                </a:lnTo>
                <a:lnTo>
                  <a:pt x="0" y="1805444"/>
                </a:lnTo>
                <a:lnTo>
                  <a:pt x="0" y="1622417"/>
                </a:lnTo>
                <a:cubicBezTo>
                  <a:pt x="0" y="1341158"/>
                  <a:pt x="14476" y="1119355"/>
                  <a:pt x="43429" y="957009"/>
                </a:cubicBezTo>
                <a:cubicBezTo>
                  <a:pt x="72383" y="794664"/>
                  <a:pt x="143732" y="634904"/>
                  <a:pt x="257477" y="477730"/>
                </a:cubicBezTo>
                <a:cubicBezTo>
                  <a:pt x="371222" y="320555"/>
                  <a:pt x="519090" y="201639"/>
                  <a:pt x="701083" y="120984"/>
                </a:cubicBezTo>
                <a:cubicBezTo>
                  <a:pt x="883074" y="40328"/>
                  <a:pt x="1101258" y="0"/>
                  <a:pt x="1355633" y="0"/>
                </a:cubicBezTo>
                <a:close/>
              </a:path>
            </a:pathLst>
          </a:custGeom>
          <a:noFill/>
          <a:ln>
            <a:noFill/>
          </a:ln>
          <a:effectLst>
            <a:outerShdw blurRad="50800" dist="38100" dir="2700000" sx="101000" sy="101000" algn="tl" rotWithShape="0">
              <a:srgbClr val="CB4845">
                <a:alpha val="40000"/>
              </a:srgbClr>
            </a:outerShdw>
          </a:effectLst>
          <a:extLst>
            <a:ext uri="{909E8E84-426E-40DD-AFC4-6F175D3DCCD1}">
              <a14:hiddenFill xmlns:a14="http://schemas.microsoft.com/office/drawing/2010/main">
                <a:solidFill>
                  <a:srgbClr val="FFFFFF"/>
                </a:solidFill>
              </a14:hiddenFill>
            </a:ext>
          </a:extLst>
        </p:spPr>
      </p:pic>
      <p:cxnSp>
        <p:nvCxnSpPr>
          <p:cNvPr id="26" name="直接连接符 25"/>
          <p:cNvCxnSpPr/>
          <p:nvPr/>
        </p:nvCxnSpPr>
        <p:spPr>
          <a:xfrm flipH="1">
            <a:off x="6086531" y="2974059"/>
            <a:ext cx="3909240" cy="0"/>
          </a:xfrm>
          <a:prstGeom prst="line">
            <a:avLst/>
          </a:prstGeom>
          <a:ln w="12700">
            <a:gradFill flip="none" rotWithShape="1">
              <a:gsLst>
                <a:gs pos="100000">
                  <a:schemeClr val="accent1">
                    <a:lumMod val="75000"/>
                  </a:schemeClr>
                </a:gs>
                <a:gs pos="0">
                  <a:srgbClr val="821A1A">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6104033" y="1524267"/>
            <a:ext cx="1207842" cy="338555"/>
            <a:chOff x="1477297" y="1791315"/>
            <a:chExt cx="1207842" cy="338555"/>
          </a:xfrm>
        </p:grpSpPr>
        <p:sp>
          <p:nvSpPr>
            <p:cNvPr id="28" name="矩形: 圆角 27"/>
            <p:cNvSpPr/>
            <p:nvPr/>
          </p:nvSpPr>
          <p:spPr>
            <a:xfrm>
              <a:off x="1477297" y="1791315"/>
              <a:ext cx="1207842" cy="338555"/>
            </a:xfrm>
            <a:prstGeom prst="roundRect">
              <a:avLst>
                <a:gd name="adj" fmla="val 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a:p>
          </p:txBody>
        </p:sp>
        <p:pic>
          <p:nvPicPr>
            <p:cNvPr id="29" name="图片 28"/>
            <p:cNvPicPr>
              <a:picLocks noChangeAspect="1"/>
            </p:cNvPicPr>
            <p:nvPr/>
          </p:nvPicPr>
          <p:blipFill rotWithShape="1">
            <a:blip r:embed="rId3" cstate="screen">
              <a:alphaModFix amt="35000"/>
            </a:blip>
            <a:srcRect t="-717"/>
            <a:stretch>
              <a:fillRect/>
            </a:stretch>
          </p:blipFill>
          <p:spPr>
            <a:xfrm rot="5400000">
              <a:off x="1911941" y="1356671"/>
              <a:ext cx="338554" cy="1207842"/>
            </a:xfrm>
            <a:prstGeom prst="rect">
              <a:avLst/>
            </a:prstGeom>
            <a:effectLst/>
          </p:spPr>
        </p:pic>
      </p:grpSp>
      <p:sp>
        <p:nvSpPr>
          <p:cNvPr id="30" name="文本框 29"/>
          <p:cNvSpPr txBox="1"/>
          <p:nvPr/>
        </p:nvSpPr>
        <p:spPr>
          <a:xfrm>
            <a:off x="6108185" y="1524267"/>
            <a:ext cx="1203690" cy="338554"/>
          </a:xfrm>
          <a:prstGeom prst="rect">
            <a:avLst/>
          </a:prstGeom>
          <a:noFill/>
        </p:spPr>
        <p:txBody>
          <a:bodyPr wrap="square" rtlCol="0">
            <a:spAutoFit/>
          </a:bodyPr>
          <a:lstStyle/>
          <a:p>
            <a:pPr algn="ctr"/>
            <a:r>
              <a:rPr lang="zh-CN" altLang="en-US" sz="1600" b="1" spc="100" dirty="0">
                <a:solidFill>
                  <a:schemeClr val="bg1"/>
                </a:solidFill>
                <a:latin typeface="微软雅黑" panose="020B0503020204020204" pitchFamily="34" charset="-122"/>
                <a:ea typeface="微软雅黑" panose="020B0503020204020204" pitchFamily="34" charset="-122"/>
              </a:rPr>
              <a:t>第二部分</a:t>
            </a:r>
            <a:endParaRPr lang="zh-CN" altLang="en-US" sz="1600" b="1" spc="100"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6007274" y="1918909"/>
            <a:ext cx="4707144" cy="707886"/>
          </a:xfrm>
          <a:prstGeom prst="rect">
            <a:avLst/>
          </a:prstGeom>
          <a:noFill/>
        </p:spPr>
        <p:txBody>
          <a:bodyPr wrap="square" rtlCol="0">
            <a:spAutoFit/>
          </a:bodyPr>
          <a:lstStyle>
            <a:defPPr>
              <a:defRPr lang="zh-CN"/>
            </a:defPPr>
            <a:lvl1pPr>
              <a:defRPr sz="4000" spc="100">
                <a:solidFill>
                  <a:schemeClr val="tx1">
                    <a:lumMod val="85000"/>
                    <a:lumOff val="15000"/>
                  </a:schemeClr>
                </a:solidFill>
                <a:latin typeface="思源黑体 CN Bold" panose="020B0800000000000000" pitchFamily="34" charset="-122"/>
                <a:ea typeface="思源黑体 CN Bold" panose="020B0800000000000000" pitchFamily="34" charset="-122"/>
              </a:defRPr>
            </a:lvl1pPr>
          </a:lstStyle>
          <a:p>
            <a:r>
              <a:rPr lang="zh-CN" altLang="en-US"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疾病病因</a:t>
            </a:r>
            <a:endParaRPr lang="zh-CN" altLang="en-US"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sp>
        <p:nvSpPr>
          <p:cNvPr id="14" name="文本框 13"/>
          <p:cNvSpPr txBox="1"/>
          <p:nvPr/>
        </p:nvSpPr>
        <p:spPr>
          <a:xfrm>
            <a:off x="6021788" y="2539962"/>
            <a:ext cx="3473430" cy="369332"/>
          </a:xfrm>
          <a:prstGeom prst="rect">
            <a:avLst/>
          </a:prstGeom>
          <a:noFill/>
        </p:spPr>
        <p:txBody>
          <a:bodyPr wrap="square" rtlCol="0">
            <a:spAutoFit/>
          </a:bodyPr>
          <a:lstStyle/>
          <a:p>
            <a:r>
              <a:rPr lang="en-US" altLang="zh-CN" spc="100" dirty="0">
                <a:solidFill>
                  <a:schemeClr val="tx1">
                    <a:lumMod val="75000"/>
                    <a:lumOff val="25000"/>
                    <a:alpha val="63000"/>
                  </a:schemeClr>
                </a:solidFill>
                <a:latin typeface="微软雅黑" panose="020B0503020204020204" pitchFamily="34" charset="-122"/>
                <a:ea typeface="微软雅黑" panose="020B0503020204020204" pitchFamily="34" charset="-122"/>
              </a:rPr>
              <a:t>Disease etiology</a:t>
            </a:r>
            <a:endParaRPr lang="zh-CN" altLang="en-US" spc="100" dirty="0">
              <a:solidFill>
                <a:schemeClr val="tx1">
                  <a:lumMod val="75000"/>
                  <a:lumOff val="25000"/>
                  <a:alpha val="63000"/>
                </a:schemeClr>
              </a:solidFill>
              <a:latin typeface="微软雅黑" panose="020B0503020204020204" pitchFamily="34" charset="-122"/>
              <a:ea typeface="微软雅黑" panose="020B0503020204020204" pitchFamily="34" charset="-122"/>
            </a:endParaRPr>
          </a:p>
        </p:txBody>
      </p:sp>
      <p:pic>
        <p:nvPicPr>
          <p:cNvPr id="16" name="图片 15" descr="徽标&#10;&#10;描述已自动生成"/>
          <p:cNvPicPr>
            <a:picLocks noChangeAspect="1"/>
          </p:cNvPicPr>
          <p:nvPr/>
        </p:nvPicPr>
        <p:blipFill>
          <a:blip r:embed="rId4">
            <a:extLst>
              <a:ext uri="{28A0092B-C50C-407E-A947-70E740481C1C}">
                <a14:useLocalDpi xmlns:a14="http://schemas.microsoft.com/office/drawing/2010/main" val="0"/>
              </a:ext>
            </a:extLst>
          </a:blip>
          <a:srcRect t="13412" r="45166" b="17638"/>
          <a:stretch>
            <a:fillRect/>
          </a:stretch>
        </p:blipFill>
        <p:spPr>
          <a:xfrm>
            <a:off x="548580" y="4323781"/>
            <a:ext cx="1304165" cy="1639732"/>
          </a:xfrm>
          <a:prstGeom prst="rect">
            <a:avLst/>
          </a:prstGeom>
        </p:spPr>
      </p:pic>
      <p:pic>
        <p:nvPicPr>
          <p:cNvPr id="17" name="图片 16" descr="/private/var/folders/yy/k9vbpjvs50n3dskbszjx5l8r0000gn/T/com.kingsoft.wpsoffice.mac/photoedit2/20230330085317/temp.pngtemp"/>
          <p:cNvPicPr>
            <a:picLocks noChangeAspect="1"/>
          </p:cNvPicPr>
          <p:nvPr/>
        </p:nvPicPr>
        <p:blipFill rotWithShape="1">
          <a:blip r:embed="rId5"/>
          <a:srcRect r="62275"/>
          <a:stretch>
            <a:fillRect/>
          </a:stretch>
        </p:blipFill>
        <p:spPr>
          <a:xfrm>
            <a:off x="411332" y="5678467"/>
            <a:ext cx="1441413" cy="774582"/>
          </a:xfrm>
          <a:prstGeom prst="rect">
            <a:avLst/>
          </a:prstGeom>
        </p:spPr>
      </p:pic>
      <p:pic>
        <p:nvPicPr>
          <p:cNvPr id="18" name="图片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80758" y="5777467"/>
            <a:ext cx="1020105" cy="576581"/>
          </a:xfrm>
          <a:prstGeom prst="rect">
            <a:avLst/>
          </a:prstGeom>
        </p:spPr>
      </p:pic>
      <p:pic>
        <p:nvPicPr>
          <p:cNvPr id="19" name="图片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0249" y="5772485"/>
            <a:ext cx="1063171" cy="581563"/>
          </a:xfrm>
          <a:prstGeom prst="rect">
            <a:avLst/>
          </a:prstGeom>
        </p:spPr>
      </p:pic>
      <p:pic>
        <p:nvPicPr>
          <p:cNvPr id="22" name="图片 21" descr="图片包含 图示&#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5222" t="67459" r="6526"/>
          <a:stretch>
            <a:fillRect/>
          </a:stretch>
        </p:blipFill>
        <p:spPr>
          <a:xfrm>
            <a:off x="2790690" y="5990732"/>
            <a:ext cx="9557385" cy="11760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l="-2005" t="66878" r="2005" b="-62871"/>
          <a:stretch>
            <a:fillRect/>
          </a:stretch>
        </p:blipFill>
        <p:spPr>
          <a:xfrm>
            <a:off x="-279007" y="-1"/>
            <a:ext cx="12436929" cy="2379579"/>
          </a:xfrm>
          <a:prstGeom prst="rect">
            <a:avLst/>
          </a:prstGeom>
        </p:spPr>
      </p:pic>
      <p:sp>
        <p:nvSpPr>
          <p:cNvPr id="8" name="任意多边形: 形状 34"/>
          <p:cNvSpPr/>
          <p:nvPr/>
        </p:nvSpPr>
        <p:spPr>
          <a:xfrm flipV="1">
            <a:off x="548653" y="1374745"/>
            <a:ext cx="8137647" cy="5039673"/>
          </a:xfrm>
          <a:custGeom>
            <a:avLst/>
            <a:gdLst>
              <a:gd name="connsiteX0" fmla="*/ 0 w 6517572"/>
              <a:gd name="connsiteY0" fmla="*/ 3679314 h 3679314"/>
              <a:gd name="connsiteX1" fmla="*/ 6517572 w 6517572"/>
              <a:gd name="connsiteY1" fmla="*/ 3679314 h 3679314"/>
              <a:gd name="connsiteX2" fmla="*/ 5337395 w 6517572"/>
              <a:gd name="connsiteY2" fmla="*/ 0 h 3679314"/>
              <a:gd name="connsiteX3" fmla="*/ 0 w 6517572"/>
              <a:gd name="connsiteY3" fmla="*/ 0 h 3679314"/>
            </a:gdLst>
            <a:ahLst/>
            <a:cxnLst>
              <a:cxn ang="0">
                <a:pos x="connsiteX0" y="connsiteY0"/>
              </a:cxn>
              <a:cxn ang="0">
                <a:pos x="connsiteX1" y="connsiteY1"/>
              </a:cxn>
              <a:cxn ang="0">
                <a:pos x="connsiteX2" y="connsiteY2"/>
              </a:cxn>
              <a:cxn ang="0">
                <a:pos x="connsiteX3" y="connsiteY3"/>
              </a:cxn>
            </a:cxnLst>
            <a:rect l="l" t="t" r="r" b="b"/>
            <a:pathLst>
              <a:path w="6517572" h="3679314">
                <a:moveTo>
                  <a:pt x="0" y="3679314"/>
                </a:moveTo>
                <a:lnTo>
                  <a:pt x="6517572" y="3679314"/>
                </a:lnTo>
                <a:lnTo>
                  <a:pt x="5337395" y="0"/>
                </a:lnTo>
                <a:lnTo>
                  <a:pt x="0" y="0"/>
                </a:lnTo>
                <a:close/>
              </a:path>
            </a:pathLst>
          </a:custGeom>
          <a:solidFill>
            <a:schemeClr val="bg1">
              <a:lumMod val="85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a:off x="539150" y="799422"/>
            <a:ext cx="3813910" cy="460375"/>
          </a:xfrm>
          <a:prstGeom prst="rect">
            <a:avLst/>
          </a:prstGeom>
          <a:noFill/>
        </p:spPr>
        <p:txBody>
          <a:bodyPr wrap="square" rtlCol="0">
            <a:spAutoFit/>
          </a:bodyPr>
          <a:lstStyle/>
          <a:p>
            <a:r>
              <a:rPr lang="en-US" altLang="zh-CN"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2.1</a:t>
            </a:r>
            <a:r>
              <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病因由来</a:t>
            </a:r>
            <a:endPar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sp>
        <p:nvSpPr>
          <p:cNvPr id="11" name="文本框 10"/>
          <p:cNvSpPr txBox="1"/>
          <p:nvPr/>
        </p:nvSpPr>
        <p:spPr>
          <a:xfrm>
            <a:off x="698347" y="1401136"/>
            <a:ext cx="2791760" cy="369332"/>
          </a:xfrm>
          <a:prstGeom prst="rect">
            <a:avLst/>
          </a:prstGeom>
          <a:noFill/>
        </p:spPr>
        <p:txBody>
          <a:bodyPr wrap="square" rtlCol="0">
            <a:spAutoFit/>
          </a:bodyPr>
          <a:lstStyle/>
          <a:p>
            <a:r>
              <a:rPr lang="en-US" altLang="zh-CN"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HTT</a:t>
            </a:r>
            <a:endParaRPr lang="zh-CN" altLang="en-US"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806781" y="1813334"/>
            <a:ext cx="3803119" cy="77971"/>
            <a:chOff x="802638" y="3363729"/>
            <a:chExt cx="3803119" cy="77971"/>
          </a:xfrm>
        </p:grpSpPr>
        <p:sp>
          <p:nvSpPr>
            <p:cNvPr id="13" name="平行四边形 12"/>
            <p:cNvSpPr/>
            <p:nvPr/>
          </p:nvSpPr>
          <p:spPr>
            <a:xfrm>
              <a:off x="802638" y="3363729"/>
              <a:ext cx="914492" cy="74796"/>
            </a:xfrm>
            <a:prstGeom prst="parallelogram">
              <a:avLst>
                <a:gd name="adj" fmla="val 55740"/>
              </a:avLst>
            </a:prstGeom>
            <a:solidFill>
              <a:schemeClr val="accent1">
                <a:lumMod val="75000"/>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直接连接符 41"/>
            <p:cNvCxnSpPr/>
            <p:nvPr/>
          </p:nvCxnSpPr>
          <p:spPr>
            <a:xfrm flipH="1">
              <a:off x="871315" y="3441700"/>
              <a:ext cx="3734442" cy="0"/>
            </a:xfrm>
            <a:prstGeom prst="line">
              <a:avLst/>
            </a:prstGeom>
            <a:ln>
              <a:solidFill>
                <a:schemeClr val="bg1">
                  <a:lumMod val="75000"/>
                  <a:alpha val="61000"/>
                </a:schemeClr>
              </a:solidFill>
            </a:ln>
          </p:spPr>
          <p:style>
            <a:lnRef idx="1">
              <a:schemeClr val="accent1"/>
            </a:lnRef>
            <a:fillRef idx="0">
              <a:schemeClr val="accent1"/>
            </a:fillRef>
            <a:effectRef idx="0">
              <a:schemeClr val="accent1"/>
            </a:effectRef>
            <a:fontRef idx="minor">
              <a:schemeClr val="tx1"/>
            </a:fontRef>
          </p:style>
        </p:cxnSp>
      </p:grpSp>
      <p:sp>
        <p:nvSpPr>
          <p:cNvPr id="15" name="文本框 14"/>
          <p:cNvSpPr txBox="1"/>
          <p:nvPr/>
        </p:nvSpPr>
        <p:spPr>
          <a:xfrm>
            <a:off x="683870" y="1959746"/>
            <a:ext cx="6711229" cy="4485074"/>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marL="171450" indent="-171450" algn="just" hangingPunct="0">
              <a:lnSpc>
                <a:spcPct val="120000"/>
              </a:lnSpc>
              <a:buFont typeface="Arial" panose="020B0604020202020204" pitchFamily="34" charset="0"/>
              <a:buChar char="•"/>
            </a:pPr>
            <a:r>
              <a:rPr lang="zh-CN" altLang="en-US" sz="1600" spc="100" dirty="0">
                <a:solidFill>
                  <a:schemeClr val="tx1">
                    <a:lumMod val="75000"/>
                    <a:lumOff val="25000"/>
                  </a:schemeClr>
                </a:solidFill>
                <a:latin typeface="仿宋" panose="02010609060101010101" pitchFamily="49" charset="-122"/>
                <a:ea typeface="仿宋" panose="02010609060101010101" pitchFamily="49" charset="-122"/>
              </a:rPr>
              <a:t>在正常情况下，亨廷顿基因编码的亨廷顿蛋白（</a:t>
            </a:r>
            <a:r>
              <a:rPr lang="en-US" altLang="zh-CN" sz="1600" spc="100" dirty="0">
                <a:solidFill>
                  <a:schemeClr val="tx1">
                    <a:lumMod val="75000"/>
                    <a:lumOff val="25000"/>
                  </a:schemeClr>
                </a:solidFill>
                <a:latin typeface="仿宋" panose="02010609060101010101" pitchFamily="49" charset="-122"/>
                <a:ea typeface="仿宋" panose="02010609060101010101" pitchFamily="49" charset="-122"/>
              </a:rPr>
              <a:t>Huntingtin protein, </a:t>
            </a:r>
            <a:r>
              <a:rPr lang="en-US" altLang="zh-CN" sz="1600" spc="100" dirty="0" err="1">
                <a:solidFill>
                  <a:schemeClr val="tx1">
                    <a:lumMod val="75000"/>
                    <a:lumOff val="25000"/>
                  </a:schemeClr>
                </a:solidFill>
                <a:latin typeface="仿宋" panose="02010609060101010101" pitchFamily="49" charset="-122"/>
                <a:ea typeface="仿宋" panose="02010609060101010101" pitchFamily="49" charset="-122"/>
              </a:rPr>
              <a:t>Htt</a:t>
            </a:r>
            <a:r>
              <a:rPr lang="zh-CN" altLang="en-US" sz="1600" spc="100" dirty="0">
                <a:solidFill>
                  <a:schemeClr val="tx1">
                    <a:lumMod val="75000"/>
                    <a:lumOff val="25000"/>
                  </a:schemeClr>
                </a:solidFill>
                <a:latin typeface="仿宋" panose="02010609060101010101" pitchFamily="49" charset="-122"/>
                <a:ea typeface="仿宋" panose="02010609060101010101" pitchFamily="49" charset="-122"/>
              </a:rPr>
              <a:t>）具有</a:t>
            </a:r>
            <a:r>
              <a:rPr lang="zh-CN" altLang="en-US" sz="1600" spc="100" dirty="0">
                <a:solidFill>
                  <a:srgbClr val="FF0000"/>
                </a:solidFill>
                <a:latin typeface="仿宋" panose="02010609060101010101" pitchFamily="49" charset="-122"/>
                <a:ea typeface="仿宋" panose="02010609060101010101" pitchFamily="49" charset="-122"/>
              </a:rPr>
              <a:t>多种细胞功能</a:t>
            </a:r>
            <a:r>
              <a:rPr lang="zh-CN" altLang="en-US" sz="1600" spc="100" dirty="0">
                <a:solidFill>
                  <a:schemeClr val="tx1">
                    <a:lumMod val="75000"/>
                    <a:lumOff val="25000"/>
                  </a:schemeClr>
                </a:solidFill>
                <a:latin typeface="仿宋" panose="02010609060101010101" pitchFamily="49" charset="-122"/>
                <a:ea typeface="仿宋" panose="02010609060101010101" pitchFamily="49" charset="-122"/>
              </a:rPr>
              <a:t>，包括对细胞内物质运输、线粒体功能以及细胞信号传导等过程的调控。然而，当亨廷顿基因中的</a:t>
            </a:r>
            <a:r>
              <a:rPr lang="en-US" altLang="zh-CN" sz="1600" spc="100" dirty="0">
                <a:solidFill>
                  <a:schemeClr val="tx1">
                    <a:lumMod val="75000"/>
                    <a:lumOff val="25000"/>
                  </a:schemeClr>
                </a:solidFill>
                <a:latin typeface="仿宋" panose="02010609060101010101" pitchFamily="49" charset="-122"/>
                <a:ea typeface="仿宋" panose="02010609060101010101" pitchFamily="49" charset="-122"/>
              </a:rPr>
              <a:t>CAG</a:t>
            </a:r>
            <a:r>
              <a:rPr lang="zh-CN" altLang="en-US" sz="1600" spc="100" dirty="0">
                <a:solidFill>
                  <a:schemeClr val="tx1">
                    <a:lumMod val="75000"/>
                    <a:lumOff val="25000"/>
                  </a:schemeClr>
                </a:solidFill>
                <a:latin typeface="仿宋" panose="02010609060101010101" pitchFamily="49" charset="-122"/>
                <a:ea typeface="仿宋" panose="02010609060101010101" pitchFamily="49" charset="-122"/>
              </a:rPr>
              <a:t>三联子重复次数超过一定数量（</a:t>
            </a:r>
            <a:r>
              <a:rPr lang="zh-CN" altLang="en-US" sz="1600" spc="100" dirty="0">
                <a:solidFill>
                  <a:srgbClr val="FF0000"/>
                </a:solidFill>
                <a:latin typeface="仿宋" panose="02010609060101010101" pitchFamily="49" charset="-122"/>
                <a:ea typeface="仿宋" panose="02010609060101010101" pitchFamily="49" charset="-122"/>
              </a:rPr>
              <a:t>通常是</a:t>
            </a:r>
            <a:r>
              <a:rPr lang="en-US" altLang="zh-CN" sz="1600" spc="100" dirty="0">
                <a:solidFill>
                  <a:srgbClr val="FF0000"/>
                </a:solidFill>
                <a:latin typeface="仿宋" panose="02010609060101010101" pitchFamily="49" charset="-122"/>
                <a:ea typeface="仿宋" panose="02010609060101010101" pitchFamily="49" charset="-122"/>
              </a:rPr>
              <a:t>36</a:t>
            </a:r>
            <a:r>
              <a:rPr lang="zh-CN" altLang="en-US" sz="1600" spc="100" dirty="0">
                <a:solidFill>
                  <a:srgbClr val="FF0000"/>
                </a:solidFill>
                <a:latin typeface="仿宋" panose="02010609060101010101" pitchFamily="49" charset="-122"/>
                <a:ea typeface="仿宋" panose="02010609060101010101" pitchFamily="49" charset="-122"/>
              </a:rPr>
              <a:t>次以上</a:t>
            </a:r>
            <a:r>
              <a:rPr lang="zh-CN" altLang="en-US" sz="1600" spc="100" dirty="0">
                <a:solidFill>
                  <a:schemeClr val="tx1">
                    <a:lumMod val="75000"/>
                    <a:lumOff val="25000"/>
                  </a:schemeClr>
                </a:solidFill>
                <a:latin typeface="仿宋" panose="02010609060101010101" pitchFamily="49" charset="-122"/>
                <a:ea typeface="仿宋" panose="02010609060101010101" pitchFamily="49" charset="-122"/>
              </a:rPr>
              <a:t>）时，就会生成变异的亨廷顿蛋白。这种变异蛋白具有异常功能，不仅导致正常亨廷顿蛋白功能的丧失，还会引发一系列神经毒性效应。</a:t>
            </a:r>
            <a:endParaRPr lang="zh-CN" altLang="en-US" sz="1600" spc="100" dirty="0">
              <a:solidFill>
                <a:schemeClr val="tx1">
                  <a:lumMod val="75000"/>
                  <a:lumOff val="25000"/>
                </a:schemeClr>
              </a:solidFill>
              <a:latin typeface="仿宋" panose="02010609060101010101" pitchFamily="49" charset="-122"/>
              <a:ea typeface="仿宋" panose="02010609060101010101" pitchFamily="49" charset="-122"/>
            </a:endParaRPr>
          </a:p>
          <a:p>
            <a:pPr marL="171450" indent="-171450" algn="just" hangingPunct="0">
              <a:lnSpc>
                <a:spcPct val="120000"/>
              </a:lnSpc>
              <a:buFont typeface="Arial" panose="020B0604020202020204" pitchFamily="34" charset="0"/>
              <a:buChar char="•"/>
            </a:pPr>
            <a:r>
              <a:rPr lang="zh-CN" altLang="en-US" sz="1600" spc="100" dirty="0">
                <a:solidFill>
                  <a:srgbClr val="FF0000"/>
                </a:solidFill>
                <a:latin typeface="仿宋" panose="02010609060101010101" pitchFamily="49" charset="-122"/>
                <a:ea typeface="仿宋" panose="02010609060101010101" pitchFamily="49" charset="-122"/>
              </a:rPr>
              <a:t>变异的亨廷顿蛋白</a:t>
            </a:r>
            <a:r>
              <a:rPr lang="zh-CN" altLang="en-US" sz="1600" spc="100" dirty="0">
                <a:solidFill>
                  <a:schemeClr val="tx1">
                    <a:lumMod val="75000"/>
                    <a:lumOff val="25000"/>
                  </a:schemeClr>
                </a:solidFill>
                <a:latin typeface="仿宋" panose="02010609060101010101" pitchFamily="49" charset="-122"/>
                <a:ea typeface="仿宋" panose="02010609060101010101" pitchFamily="49" charset="-122"/>
              </a:rPr>
              <a:t>在大脑中的积累，特别是在线粒体功能、神经传导、蛋白运输以及细胞自噬等方面的干扰，最终导致神经元的退行性变化，特别是</a:t>
            </a:r>
            <a:r>
              <a:rPr lang="zh-CN" altLang="en-US" sz="1600" spc="100" dirty="0">
                <a:solidFill>
                  <a:srgbClr val="FF0000"/>
                </a:solidFill>
                <a:latin typeface="仿宋" panose="02010609060101010101" pitchFamily="49" charset="-122"/>
                <a:ea typeface="仿宋" panose="02010609060101010101" pitchFamily="49" charset="-122"/>
              </a:rPr>
              <a:t>影响大脑的纹状体区域</a:t>
            </a:r>
            <a:r>
              <a:rPr lang="zh-CN" altLang="en-US" sz="1600" spc="100" dirty="0">
                <a:solidFill>
                  <a:schemeClr val="tx1">
                    <a:lumMod val="75000"/>
                    <a:lumOff val="25000"/>
                  </a:schemeClr>
                </a:solidFill>
                <a:latin typeface="仿宋" panose="02010609060101010101" pitchFamily="49" charset="-122"/>
                <a:ea typeface="仿宋" panose="02010609060101010101" pitchFamily="49" charset="-122"/>
              </a:rPr>
              <a:t>。这些变化会引起运动、认知和精神方面的功能障碍，表现为舞蹈样症状、认知能力下降和精神症状，如焦虑、抑郁和人格改变等。</a:t>
            </a:r>
            <a:endParaRPr lang="zh-CN" altLang="en-US" sz="1600" spc="100" dirty="0">
              <a:solidFill>
                <a:schemeClr val="tx1">
                  <a:lumMod val="75000"/>
                  <a:lumOff val="25000"/>
                </a:schemeClr>
              </a:solidFill>
              <a:latin typeface="仿宋" panose="02010609060101010101" pitchFamily="49" charset="-122"/>
              <a:ea typeface="仿宋" panose="02010609060101010101" pitchFamily="49" charset="-122"/>
            </a:endParaRPr>
          </a:p>
          <a:p>
            <a:pPr marL="171450" indent="-171450" algn="just" hangingPunct="0">
              <a:lnSpc>
                <a:spcPct val="120000"/>
              </a:lnSpc>
              <a:buFont typeface="Arial" panose="020B0604020202020204" pitchFamily="34" charset="0"/>
              <a:buChar char="•"/>
            </a:pPr>
            <a:r>
              <a:rPr lang="zh-CN" altLang="en-US" sz="1600" spc="100" dirty="0">
                <a:solidFill>
                  <a:schemeClr val="tx1">
                    <a:lumMod val="75000"/>
                    <a:lumOff val="25000"/>
                  </a:schemeClr>
                </a:solidFill>
                <a:latin typeface="仿宋" panose="02010609060101010101" pitchFamily="49" charset="-122"/>
                <a:ea typeface="仿宋" panose="02010609060101010101" pitchFamily="49" charset="-122"/>
              </a:rPr>
              <a:t>此外，亨廷顿舞蹈症的发病机制还涉及其他分子通路和细胞机制，但</a:t>
            </a:r>
            <a:r>
              <a:rPr lang="en-US" altLang="zh-CN" sz="1600" spc="100" dirty="0">
                <a:solidFill>
                  <a:schemeClr val="tx1">
                    <a:lumMod val="75000"/>
                    <a:lumOff val="25000"/>
                  </a:schemeClr>
                </a:solidFill>
                <a:latin typeface="仿宋" panose="02010609060101010101" pitchFamily="49" charset="-122"/>
                <a:ea typeface="仿宋" panose="02010609060101010101" pitchFamily="49" charset="-122"/>
              </a:rPr>
              <a:t>CAG</a:t>
            </a:r>
            <a:r>
              <a:rPr lang="zh-CN" altLang="en-US" sz="1600" spc="100" dirty="0">
                <a:solidFill>
                  <a:schemeClr val="tx1">
                    <a:lumMod val="75000"/>
                    <a:lumOff val="25000"/>
                  </a:schemeClr>
                </a:solidFill>
                <a:latin typeface="仿宋" panose="02010609060101010101" pitchFamily="49" charset="-122"/>
                <a:ea typeface="仿宋" panose="02010609060101010101" pitchFamily="49" charset="-122"/>
              </a:rPr>
              <a:t>三联子的异常重复是已知最直接的病理原因。由于亨廷顿舞蹈症是</a:t>
            </a:r>
            <a:r>
              <a:rPr lang="zh-CN" altLang="en-US" sz="1600" spc="100" dirty="0">
                <a:solidFill>
                  <a:srgbClr val="FF0000"/>
                </a:solidFill>
                <a:latin typeface="仿宋" panose="02010609060101010101" pitchFamily="49" charset="-122"/>
                <a:ea typeface="仿宋" panose="02010609060101010101" pitchFamily="49" charset="-122"/>
              </a:rPr>
              <a:t>显性遗传</a:t>
            </a:r>
            <a:r>
              <a:rPr lang="zh-CN" altLang="en-US" sz="1600" spc="100" dirty="0">
                <a:solidFill>
                  <a:schemeClr val="tx1">
                    <a:lumMod val="75000"/>
                    <a:lumOff val="25000"/>
                  </a:schemeClr>
                </a:solidFill>
                <a:latin typeface="仿宋" panose="02010609060101010101" pitchFamily="49" charset="-122"/>
                <a:ea typeface="仿宋" panose="02010609060101010101" pitchFamily="49" charset="-122"/>
              </a:rPr>
              <a:t>，因此</a:t>
            </a:r>
            <a:r>
              <a:rPr lang="zh-CN" altLang="en-US" sz="1600" spc="100" dirty="0">
                <a:solidFill>
                  <a:srgbClr val="FF0000"/>
                </a:solidFill>
                <a:latin typeface="仿宋" panose="02010609060101010101" pitchFamily="49" charset="-122"/>
                <a:ea typeface="仿宋" panose="02010609060101010101" pitchFamily="49" charset="-122"/>
              </a:rPr>
              <a:t>只要个体从父母任一方继承了含有异常重复</a:t>
            </a:r>
            <a:r>
              <a:rPr lang="zh-CN" altLang="en-US" sz="1600" spc="100" dirty="0">
                <a:solidFill>
                  <a:schemeClr val="tx1">
                    <a:lumMod val="75000"/>
                    <a:lumOff val="25000"/>
                  </a:schemeClr>
                </a:solidFill>
                <a:latin typeface="仿宋" panose="02010609060101010101" pitchFamily="49" charset="-122"/>
                <a:ea typeface="仿宋" panose="02010609060101010101" pitchFamily="49" charset="-122"/>
              </a:rPr>
              <a:t>的亨廷顿基因，就会发病。。</a:t>
            </a:r>
            <a:endParaRPr lang="en-US" altLang="zh-CN" sz="1600" spc="100" dirty="0">
              <a:solidFill>
                <a:schemeClr val="tx1">
                  <a:lumMod val="75000"/>
                  <a:lumOff val="25000"/>
                </a:schemeClr>
              </a:solidFill>
              <a:latin typeface="仿宋" panose="02010609060101010101" pitchFamily="49" charset="-122"/>
              <a:ea typeface="仿宋" panose="02010609060101010101" pitchFamily="49" charset="-122"/>
            </a:endParaRPr>
          </a:p>
        </p:txBody>
      </p:sp>
      <p:grpSp>
        <p:nvGrpSpPr>
          <p:cNvPr id="16" name="组合 15"/>
          <p:cNvGrpSpPr/>
          <p:nvPr/>
        </p:nvGrpSpPr>
        <p:grpSpPr>
          <a:xfrm>
            <a:off x="689052" y="6001082"/>
            <a:ext cx="10361517" cy="859852"/>
            <a:chOff x="-2305032" y="5576765"/>
            <a:chExt cx="17784565" cy="1475854"/>
          </a:xfrm>
        </p:grpSpPr>
        <p:sp>
          <p:nvSpPr>
            <p:cNvPr id="17" name="任意多边形: 形状 6"/>
            <p:cNvSpPr/>
            <p:nvPr/>
          </p:nvSpPr>
          <p:spPr>
            <a:xfrm>
              <a:off x="3420609" y="6267956"/>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8" name="任意多边形: 形状 7"/>
            <p:cNvSpPr/>
            <p:nvPr/>
          </p:nvSpPr>
          <p:spPr>
            <a:xfrm>
              <a:off x="6804716" y="5576765"/>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任意多边形: 形状 9"/>
            <p:cNvSpPr/>
            <p:nvPr/>
          </p:nvSpPr>
          <p:spPr>
            <a:xfrm>
              <a:off x="-2220266" y="5802471"/>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任意多边形: 形状 10"/>
            <p:cNvSpPr/>
            <p:nvPr/>
          </p:nvSpPr>
          <p:spPr>
            <a:xfrm>
              <a:off x="-2126607" y="5894547"/>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11"/>
            <p:cNvSpPr/>
            <p:nvPr/>
          </p:nvSpPr>
          <p:spPr>
            <a:xfrm>
              <a:off x="-2305032" y="6047539"/>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任意多边形: 形状 12"/>
            <p:cNvSpPr/>
            <p:nvPr/>
          </p:nvSpPr>
          <p:spPr>
            <a:xfrm>
              <a:off x="6659283" y="5699463"/>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3" name="任意多边形: 形状 13"/>
            <p:cNvSpPr/>
            <p:nvPr/>
          </p:nvSpPr>
          <p:spPr>
            <a:xfrm>
              <a:off x="3573184" y="6356225"/>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pic>
        <p:nvPicPr>
          <p:cNvPr id="24" name="图片 23"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rcRect t="13412" r="45166" b="17638"/>
          <a:stretch>
            <a:fillRect/>
          </a:stretch>
        </p:blipFill>
        <p:spPr>
          <a:xfrm>
            <a:off x="142513" y="-120075"/>
            <a:ext cx="785047" cy="987042"/>
          </a:xfrm>
          <a:prstGeom prst="rect">
            <a:avLst/>
          </a:prstGeom>
        </p:spPr>
      </p:pic>
      <p:pic>
        <p:nvPicPr>
          <p:cNvPr id="25" name="图片 24" descr="/private/var/folders/yy/k9vbpjvs50n3dskbszjx5l8r0000gn/T/com.kingsoft.wpsoffice.mac/photoedit2/20230330085317/temp.pngtemp"/>
          <p:cNvPicPr>
            <a:picLocks noChangeAspect="1"/>
          </p:cNvPicPr>
          <p:nvPr/>
        </p:nvPicPr>
        <p:blipFill rotWithShape="1">
          <a:blip r:embed="rId3"/>
          <a:srcRect l="1110" r="62900" b="9091"/>
          <a:stretch>
            <a:fillRect/>
          </a:stretch>
        </p:blipFill>
        <p:spPr>
          <a:xfrm>
            <a:off x="927963" y="-119986"/>
            <a:ext cx="1458647" cy="906365"/>
          </a:xfrm>
          <a:prstGeom prst="rect">
            <a:avLst/>
          </a:prstGeom>
        </p:spPr>
      </p:pic>
      <p:pic>
        <p:nvPicPr>
          <p:cNvPr id="2050" name="Picture 2" descr="一种让人手舞足蹈的疾病——亨廷顿舞蹈症_医学界-助力医生临床决策和职业成长"/>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9830" y="1105064"/>
            <a:ext cx="4554627" cy="53501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l="-2005" t="66878" r="2005" b="-62871"/>
          <a:stretch>
            <a:fillRect/>
          </a:stretch>
        </p:blipFill>
        <p:spPr>
          <a:xfrm>
            <a:off x="-256558" y="-29585"/>
            <a:ext cx="12436929" cy="2310108"/>
          </a:xfrm>
          <a:prstGeom prst="rect">
            <a:avLst/>
          </a:prstGeom>
        </p:spPr>
      </p:pic>
      <p:sp>
        <p:nvSpPr>
          <p:cNvPr id="37" name="文本框 36"/>
          <p:cNvSpPr txBox="1"/>
          <p:nvPr/>
        </p:nvSpPr>
        <p:spPr>
          <a:xfrm>
            <a:off x="927735" y="1957070"/>
            <a:ext cx="6179185" cy="3763010"/>
          </a:xfrm>
          <a:prstGeom prst="rect">
            <a:avLst/>
          </a:prstGeom>
          <a:noFill/>
        </p:spPr>
        <p:txBody>
          <a:bodyPr wrap="square" rtlCol="0">
            <a:no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indent="457200" algn="l" hangingPunct="0">
              <a:lnSpc>
                <a:spcPct val="120000"/>
              </a:lnSpc>
            </a:pPr>
            <a:r>
              <a:rPr lang="zh-CN" altLang="en-US" sz="2400" spc="100" dirty="0">
                <a:solidFill>
                  <a:schemeClr val="tx1">
                    <a:lumMod val="75000"/>
                    <a:lumOff val="25000"/>
                  </a:schemeClr>
                </a:solidFill>
                <a:latin typeface="仿宋" panose="02010609060101010101" pitchFamily="49" charset="-122"/>
                <a:ea typeface="仿宋" panose="02010609060101010101" pitchFamily="49" charset="-122"/>
              </a:rPr>
              <a:t>病因是新纹状体发生病变，新纹状体内GABA（氨基丁酸）能中间神经元变性或遗传性缺损，使新纹状体对苍白球外侧部的抑制作用减弱，进而加强对丘脑底核活动的抑制，引起间接通路活动减弱而直接通路活动相对增强，</a:t>
            </a:r>
            <a:r>
              <a:rPr lang="zh-CN" altLang="en-US" sz="2400" b="1" spc="100" dirty="0">
                <a:solidFill>
                  <a:schemeClr val="tx1">
                    <a:lumMod val="75000"/>
                    <a:lumOff val="25000"/>
                  </a:schemeClr>
                </a:solidFill>
                <a:latin typeface="仿宋" panose="02010609060101010101" pitchFamily="49" charset="-122"/>
                <a:ea typeface="仿宋" panose="02010609060101010101" pitchFamily="49" charset="-122"/>
              </a:rPr>
              <a:t>对大脑皮层发动运动产生易化作用</a:t>
            </a:r>
            <a:r>
              <a:rPr lang="zh-CN" altLang="en-US" sz="2400" spc="100" dirty="0">
                <a:solidFill>
                  <a:schemeClr val="tx1">
                    <a:lumMod val="75000"/>
                    <a:lumOff val="25000"/>
                  </a:schemeClr>
                </a:solidFill>
                <a:latin typeface="仿宋" panose="02010609060101010101" pitchFamily="49" charset="-122"/>
                <a:ea typeface="仿宋" panose="02010609060101010101" pitchFamily="49" charset="-122"/>
              </a:rPr>
              <a:t>，从而出现运动过多的症状。临床上用利血平耗竭多巴胺可缓解其症状。</a:t>
            </a:r>
            <a:endParaRPr lang="zh-CN" altLang="en-US" sz="2400" spc="100" dirty="0">
              <a:solidFill>
                <a:schemeClr val="tx1">
                  <a:lumMod val="75000"/>
                  <a:lumOff val="25000"/>
                </a:schemeClr>
              </a:solidFill>
              <a:latin typeface="仿宋" panose="02010609060101010101" pitchFamily="49" charset="-122"/>
              <a:ea typeface="仿宋" panose="02010609060101010101" pitchFamily="49" charset="-122"/>
            </a:endParaRPr>
          </a:p>
        </p:txBody>
      </p:sp>
      <p:sp>
        <p:nvSpPr>
          <p:cNvPr id="43" name="文本框 42"/>
          <p:cNvSpPr txBox="1"/>
          <p:nvPr/>
        </p:nvSpPr>
        <p:spPr>
          <a:xfrm>
            <a:off x="500512" y="940870"/>
            <a:ext cx="3157087" cy="460375"/>
          </a:xfrm>
          <a:prstGeom prst="rect">
            <a:avLst/>
          </a:prstGeom>
          <a:noFill/>
        </p:spPr>
        <p:txBody>
          <a:bodyPr wrap="square" rtlCol="0">
            <a:spAutoFit/>
          </a:bodyPr>
          <a:lstStyle/>
          <a:p>
            <a:r>
              <a:rPr lang="en-US" altLang="zh-CN"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2.2</a:t>
            </a:r>
            <a:r>
              <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具体缘由</a:t>
            </a:r>
            <a:endPar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grpSp>
        <p:nvGrpSpPr>
          <p:cNvPr id="44" name="组合 43"/>
          <p:cNvGrpSpPr/>
          <p:nvPr/>
        </p:nvGrpSpPr>
        <p:grpSpPr>
          <a:xfrm>
            <a:off x="689052" y="6001082"/>
            <a:ext cx="10361517" cy="859852"/>
            <a:chOff x="-2305032" y="5576765"/>
            <a:chExt cx="17784565" cy="1475854"/>
          </a:xfrm>
        </p:grpSpPr>
        <p:sp>
          <p:nvSpPr>
            <p:cNvPr id="45" name="任意多边形: 形状 6"/>
            <p:cNvSpPr/>
            <p:nvPr/>
          </p:nvSpPr>
          <p:spPr>
            <a:xfrm>
              <a:off x="3420609" y="6267956"/>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任意多边形: 形状 7"/>
            <p:cNvSpPr/>
            <p:nvPr/>
          </p:nvSpPr>
          <p:spPr>
            <a:xfrm>
              <a:off x="6804716" y="5576765"/>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任意多边形: 形状 9"/>
            <p:cNvSpPr/>
            <p:nvPr/>
          </p:nvSpPr>
          <p:spPr>
            <a:xfrm>
              <a:off x="-2220266" y="5802471"/>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8" name="任意多边形: 形状 10"/>
            <p:cNvSpPr/>
            <p:nvPr/>
          </p:nvSpPr>
          <p:spPr>
            <a:xfrm>
              <a:off x="-2126607" y="5894547"/>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9" name="任意多边形: 形状 11"/>
            <p:cNvSpPr/>
            <p:nvPr/>
          </p:nvSpPr>
          <p:spPr>
            <a:xfrm>
              <a:off x="-2305032" y="6047539"/>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0" name="任意多边形: 形状 12"/>
            <p:cNvSpPr/>
            <p:nvPr/>
          </p:nvSpPr>
          <p:spPr>
            <a:xfrm>
              <a:off x="6659283" y="5699463"/>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1" name="任意多边形: 形状 13"/>
            <p:cNvSpPr/>
            <p:nvPr/>
          </p:nvSpPr>
          <p:spPr>
            <a:xfrm>
              <a:off x="3573184" y="6356225"/>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pic>
        <p:nvPicPr>
          <p:cNvPr id="57" name="图片 56"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rcRect t="13412" r="45166" b="17638"/>
          <a:stretch>
            <a:fillRect/>
          </a:stretch>
        </p:blipFill>
        <p:spPr>
          <a:xfrm>
            <a:off x="142513" y="-120075"/>
            <a:ext cx="785047" cy="987042"/>
          </a:xfrm>
          <a:prstGeom prst="rect">
            <a:avLst/>
          </a:prstGeom>
        </p:spPr>
      </p:pic>
      <p:pic>
        <p:nvPicPr>
          <p:cNvPr id="58" name="图片 57" descr="/private/var/folders/yy/k9vbpjvs50n3dskbszjx5l8r0000gn/T/com.kingsoft.wpsoffice.mac/photoedit2/20230330085317/temp.pngtemp"/>
          <p:cNvPicPr>
            <a:picLocks noChangeAspect="1"/>
          </p:cNvPicPr>
          <p:nvPr/>
        </p:nvPicPr>
        <p:blipFill rotWithShape="1">
          <a:blip r:embed="rId3"/>
          <a:srcRect l="1110" r="62900" b="9091"/>
          <a:stretch>
            <a:fillRect/>
          </a:stretch>
        </p:blipFill>
        <p:spPr>
          <a:xfrm>
            <a:off x="927963" y="-119986"/>
            <a:ext cx="1458647" cy="906365"/>
          </a:xfrm>
          <a:prstGeom prst="rect">
            <a:avLst/>
          </a:prstGeom>
        </p:spPr>
      </p:pic>
      <p:pic>
        <p:nvPicPr>
          <p:cNvPr id="3" name="图片 2"/>
          <p:cNvPicPr>
            <a:picLocks noChangeAspect="1"/>
          </p:cNvPicPr>
          <p:nvPr/>
        </p:nvPicPr>
        <p:blipFill>
          <a:blip r:embed="rId4"/>
          <a:stretch>
            <a:fillRect/>
          </a:stretch>
        </p:blipFill>
        <p:spPr>
          <a:xfrm>
            <a:off x="7579360" y="1191260"/>
            <a:ext cx="3386455" cy="50838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背景图案&#10;&#10;描述已自动生成"/>
          <p:cNvPicPr>
            <a:picLocks noChangeAspect="1"/>
          </p:cNvPicPr>
          <p:nvPr/>
        </p:nvPicPr>
        <p:blipFill>
          <a:blip r:embed="rId2">
            <a:extLst>
              <a:ext uri="{28A0092B-C50C-407E-A947-70E740481C1C}">
                <a14:useLocalDpi xmlns:a14="http://schemas.microsoft.com/office/drawing/2010/main" val="0"/>
              </a:ext>
            </a:extLst>
          </a:blip>
          <a:srcRect l="-2005" t="66878" r="2005" b="-62871"/>
          <a:stretch>
            <a:fillRect/>
          </a:stretch>
        </p:blipFill>
        <p:spPr>
          <a:xfrm>
            <a:off x="-279007" y="0"/>
            <a:ext cx="12436929" cy="2310108"/>
          </a:xfrm>
          <a:prstGeom prst="rect">
            <a:avLst/>
          </a:prstGeom>
        </p:spPr>
      </p:pic>
      <p:sp>
        <p:nvSpPr>
          <p:cNvPr id="6" name="文本框 5"/>
          <p:cNvSpPr txBox="1"/>
          <p:nvPr/>
        </p:nvSpPr>
        <p:spPr>
          <a:xfrm>
            <a:off x="500512" y="825553"/>
            <a:ext cx="3424789" cy="460375"/>
          </a:xfrm>
          <a:prstGeom prst="rect">
            <a:avLst/>
          </a:prstGeom>
          <a:noFill/>
        </p:spPr>
        <p:txBody>
          <a:bodyPr wrap="square" rtlCol="0">
            <a:spAutoFit/>
          </a:bodyPr>
          <a:lstStyle/>
          <a:p>
            <a:r>
              <a:rPr lang="en-US" altLang="zh-CN"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2.3</a:t>
            </a:r>
            <a:r>
              <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病因视频</a:t>
            </a:r>
            <a:endPar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graphicFrame>
        <p:nvGraphicFramePr>
          <p:cNvPr id="15" name="图表 14"/>
          <p:cNvGraphicFramePr/>
          <p:nvPr/>
        </p:nvGraphicFramePr>
        <p:xfrm>
          <a:off x="-131679" y="2249261"/>
          <a:ext cx="4937484" cy="3291656"/>
        </p:xfrm>
        <a:graphic>
          <a:graphicData uri="http://schemas.openxmlformats.org/drawingml/2006/chart">
            <c:chart xmlns:c="http://schemas.openxmlformats.org/drawingml/2006/chart" xmlns:r="http://schemas.openxmlformats.org/officeDocument/2006/relationships" r:id="rId1"/>
          </a:graphicData>
        </a:graphic>
      </p:graphicFrame>
      <p:grpSp>
        <p:nvGrpSpPr>
          <p:cNvPr id="58" name="组合 57"/>
          <p:cNvGrpSpPr/>
          <p:nvPr/>
        </p:nvGrpSpPr>
        <p:grpSpPr>
          <a:xfrm>
            <a:off x="689052" y="6001082"/>
            <a:ext cx="10361517" cy="859852"/>
            <a:chOff x="-2305032" y="5576765"/>
            <a:chExt cx="17784565" cy="1475854"/>
          </a:xfrm>
        </p:grpSpPr>
        <p:sp>
          <p:nvSpPr>
            <p:cNvPr id="59" name="任意多边形: 形状 6"/>
            <p:cNvSpPr/>
            <p:nvPr/>
          </p:nvSpPr>
          <p:spPr>
            <a:xfrm>
              <a:off x="3420609" y="6267956"/>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0" name="任意多边形: 形状 7"/>
            <p:cNvSpPr/>
            <p:nvPr/>
          </p:nvSpPr>
          <p:spPr>
            <a:xfrm>
              <a:off x="6804716" y="5576765"/>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1" name="任意多边形: 形状 9"/>
            <p:cNvSpPr/>
            <p:nvPr/>
          </p:nvSpPr>
          <p:spPr>
            <a:xfrm>
              <a:off x="-2220266" y="5802471"/>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任意多边形: 形状 10"/>
            <p:cNvSpPr/>
            <p:nvPr/>
          </p:nvSpPr>
          <p:spPr>
            <a:xfrm>
              <a:off x="-2126607" y="5894547"/>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3" name="任意多边形: 形状 11"/>
            <p:cNvSpPr/>
            <p:nvPr/>
          </p:nvSpPr>
          <p:spPr>
            <a:xfrm>
              <a:off x="-2305032" y="6047539"/>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4" name="任意多边形: 形状 12"/>
            <p:cNvSpPr/>
            <p:nvPr/>
          </p:nvSpPr>
          <p:spPr>
            <a:xfrm>
              <a:off x="6659283" y="5699463"/>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5" name="任意多边形: 形状 13"/>
            <p:cNvSpPr/>
            <p:nvPr/>
          </p:nvSpPr>
          <p:spPr>
            <a:xfrm>
              <a:off x="3573184" y="6356225"/>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pic>
        <p:nvPicPr>
          <p:cNvPr id="66" name="图片 65" descr="徽标&#10;&#10;描述已自动生成"/>
          <p:cNvPicPr>
            <a:picLocks noChangeAspect="1"/>
          </p:cNvPicPr>
          <p:nvPr/>
        </p:nvPicPr>
        <p:blipFill>
          <a:blip r:embed="rId3" cstate="print">
            <a:extLst>
              <a:ext uri="{28A0092B-C50C-407E-A947-70E740481C1C}">
                <a14:useLocalDpi xmlns:a14="http://schemas.microsoft.com/office/drawing/2010/main" val="0"/>
              </a:ext>
            </a:extLst>
          </a:blip>
          <a:srcRect t="13412" r="45166" b="17638"/>
          <a:stretch>
            <a:fillRect/>
          </a:stretch>
        </p:blipFill>
        <p:spPr>
          <a:xfrm>
            <a:off x="142513" y="-120075"/>
            <a:ext cx="785047" cy="987042"/>
          </a:xfrm>
          <a:prstGeom prst="rect">
            <a:avLst/>
          </a:prstGeom>
        </p:spPr>
      </p:pic>
      <p:pic>
        <p:nvPicPr>
          <p:cNvPr id="67" name="图片 66" descr="/private/var/folders/yy/k9vbpjvs50n3dskbszjx5l8r0000gn/T/com.kingsoft.wpsoffice.mac/photoedit2/20230330085317/temp.pngtemp"/>
          <p:cNvPicPr>
            <a:picLocks noChangeAspect="1"/>
          </p:cNvPicPr>
          <p:nvPr/>
        </p:nvPicPr>
        <p:blipFill rotWithShape="1">
          <a:blip r:embed="rId4"/>
          <a:srcRect l="1110" r="62900" b="9091"/>
          <a:stretch>
            <a:fillRect/>
          </a:stretch>
        </p:blipFill>
        <p:spPr>
          <a:xfrm>
            <a:off x="927963" y="-119986"/>
            <a:ext cx="1458647" cy="906365"/>
          </a:xfrm>
          <a:prstGeom prst="rect">
            <a:avLst/>
          </a:prstGeom>
        </p:spPr>
      </p:pic>
      <p:pic>
        <p:nvPicPr>
          <p:cNvPr id="5" name="1142222475-1-208">
            <a:hlinkClick r:id="" action="ppaction://media"/>
          </p:cNvPr>
          <p:cNvPicPr/>
          <p:nvPr>
            <a:videoFile r:link="rId5"/>
            <p:extLst>
              <p:ext uri="{DAA4B4D4-6D71-4841-9C94-3DE7FCFB9230}">
                <p14:media xmlns:p14="http://schemas.microsoft.com/office/powerpoint/2010/main" r:embed="rId6"/>
              </p:ext>
            </p:extLst>
            <p:custDataLst>
              <p:tags r:id="rId7"/>
            </p:custDataLst>
          </p:nvPr>
        </p:nvPicPr>
        <p:blipFill>
          <a:blip r:embed="rId8"/>
          <a:stretch>
            <a:fillRect/>
          </a:stretch>
        </p:blipFill>
        <p:spPr>
          <a:xfrm>
            <a:off x="1019175" y="1285875"/>
            <a:ext cx="10581005" cy="511048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5"/>
                </p:tgtEl>
              </p:cMediaNode>
            </p:video>
            <p:seq concurrent="1" nextAc="seek">
              <p:cTn id="3" restart="whenNotActive" fill="hold" evtFilter="cancelBubble" nodeType="interactiveSeq">
                <p:stCondLst>
                  <p:cond evt="onClick" delay="0">
                    <p:tgtEl>
                      <p:spTgt spid="5"/>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descr="/private/var/folders/yy/k9vbpjvs50n3dskbszjx5l8r0000gn/T/com.kingsoft.wpsoffice.mac/picturecompress_20230330124548/output_1.pngoutput_1"/>
          <p:cNvPicPr>
            <a:picLocks noChangeAspect="1"/>
          </p:cNvPicPr>
          <p:nvPr/>
        </p:nvPicPr>
        <p:blipFill>
          <a:blip r:embed="rId1"/>
          <a:stretch>
            <a:fillRect/>
          </a:stretch>
        </p:blipFill>
        <p:spPr>
          <a:xfrm rot="20769313" flipV="1">
            <a:off x="5948203" y="2590424"/>
            <a:ext cx="3874283" cy="3572443"/>
          </a:xfrm>
          <a:prstGeom prst="rect">
            <a:avLst/>
          </a:prstGeom>
        </p:spPr>
      </p:pic>
      <p:pic>
        <p:nvPicPr>
          <p:cNvPr id="19" name="图片 18" descr="/private/var/folders/yy/k9vbpjvs50n3dskbszjx5l8r0000gn/T/com.kingsoft.wpsoffice.mac/picturecompress_20230330124548/output_1.pngoutput_1"/>
          <p:cNvPicPr>
            <a:picLocks noChangeAspect="1"/>
          </p:cNvPicPr>
          <p:nvPr/>
        </p:nvPicPr>
        <p:blipFill>
          <a:blip r:embed="rId1"/>
          <a:stretch>
            <a:fillRect/>
          </a:stretch>
        </p:blipFill>
        <p:spPr>
          <a:xfrm rot="9987662" flipV="1">
            <a:off x="-1123520" y="-1046414"/>
            <a:ext cx="5159847" cy="4757850"/>
          </a:xfrm>
          <a:prstGeom prst="rect">
            <a:avLst/>
          </a:prstGeom>
        </p:spPr>
      </p:pic>
      <p:pic>
        <p:nvPicPr>
          <p:cNvPr id="5" name="图片 4"/>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7770760" y="507630"/>
            <a:ext cx="3931986" cy="5843688"/>
          </a:xfrm>
          <a:custGeom>
            <a:avLst/>
            <a:gdLst/>
            <a:ahLst/>
            <a:cxnLst/>
            <a:rect l="l" t="t" r="r" b="b"/>
            <a:pathLst>
              <a:path w="2956335" h="5220895">
                <a:moveTo>
                  <a:pt x="1374246" y="0"/>
                </a:moveTo>
                <a:cubicBezTo>
                  <a:pt x="1971924" y="0"/>
                  <a:pt x="2377270" y="116766"/>
                  <a:pt x="2590283" y="350299"/>
                </a:cubicBezTo>
                <a:cubicBezTo>
                  <a:pt x="2803297" y="583832"/>
                  <a:pt x="2909803" y="908296"/>
                  <a:pt x="2909803" y="1323691"/>
                </a:cubicBezTo>
                <a:cubicBezTo>
                  <a:pt x="2909803" y="1604758"/>
                  <a:pt x="2871544" y="1807810"/>
                  <a:pt x="2795024" y="1932849"/>
                </a:cubicBezTo>
                <a:cubicBezTo>
                  <a:pt x="2718505" y="2057888"/>
                  <a:pt x="2584079" y="2172077"/>
                  <a:pt x="2391747" y="2275417"/>
                </a:cubicBezTo>
                <a:cubicBezTo>
                  <a:pt x="2582011" y="2339560"/>
                  <a:pt x="2723675" y="2444572"/>
                  <a:pt x="2816739" y="2590454"/>
                </a:cubicBezTo>
                <a:cubicBezTo>
                  <a:pt x="2909803" y="2736335"/>
                  <a:pt x="2956335" y="3078273"/>
                  <a:pt x="2956335" y="3616267"/>
                </a:cubicBezTo>
                <a:cubicBezTo>
                  <a:pt x="2956335" y="4015603"/>
                  <a:pt x="2910837" y="4325452"/>
                  <a:pt x="2819841" y="4545818"/>
                </a:cubicBezTo>
                <a:cubicBezTo>
                  <a:pt x="2728846" y="4766182"/>
                  <a:pt x="2571671" y="4933786"/>
                  <a:pt x="2348316" y="5048630"/>
                </a:cubicBezTo>
                <a:cubicBezTo>
                  <a:pt x="2124963" y="5163474"/>
                  <a:pt x="1838532" y="5220895"/>
                  <a:pt x="1489025" y="5220895"/>
                </a:cubicBezTo>
                <a:cubicBezTo>
                  <a:pt x="1091951" y="5220895"/>
                  <a:pt x="780187" y="5154200"/>
                  <a:pt x="553731" y="5020808"/>
                </a:cubicBezTo>
                <a:cubicBezTo>
                  <a:pt x="327275" y="4887416"/>
                  <a:pt x="178372" y="4724037"/>
                  <a:pt x="107023" y="4530670"/>
                </a:cubicBezTo>
                <a:cubicBezTo>
                  <a:pt x="35674" y="4337303"/>
                  <a:pt x="0" y="4001756"/>
                  <a:pt x="0" y="3524027"/>
                </a:cubicBezTo>
                <a:lnTo>
                  <a:pt x="0" y="3126954"/>
                </a:lnTo>
                <a:lnTo>
                  <a:pt x="1253262" y="3126954"/>
                </a:lnTo>
                <a:lnTo>
                  <a:pt x="1253262" y="3942815"/>
                </a:lnTo>
                <a:cubicBezTo>
                  <a:pt x="1253262" y="4159965"/>
                  <a:pt x="1266188" y="4298010"/>
                  <a:pt x="1292039" y="4356951"/>
                </a:cubicBezTo>
                <a:cubicBezTo>
                  <a:pt x="1317890" y="4415891"/>
                  <a:pt x="1375280" y="4445361"/>
                  <a:pt x="1464208" y="4445361"/>
                </a:cubicBezTo>
                <a:cubicBezTo>
                  <a:pt x="1561408" y="4445361"/>
                  <a:pt x="1625519" y="4408136"/>
                  <a:pt x="1656540" y="4333685"/>
                </a:cubicBezTo>
                <a:cubicBezTo>
                  <a:pt x="1687562" y="4259233"/>
                  <a:pt x="1703072" y="4064833"/>
                  <a:pt x="1703072" y="3750483"/>
                </a:cubicBezTo>
                <a:lnTo>
                  <a:pt x="1703072" y="3403044"/>
                </a:lnTo>
                <a:cubicBezTo>
                  <a:pt x="1703072" y="3210711"/>
                  <a:pt x="1681357" y="3070081"/>
                  <a:pt x="1637927" y="2981153"/>
                </a:cubicBezTo>
                <a:cubicBezTo>
                  <a:pt x="1594497" y="2892225"/>
                  <a:pt x="1530387" y="2833802"/>
                  <a:pt x="1445595" y="2805882"/>
                </a:cubicBezTo>
                <a:cubicBezTo>
                  <a:pt x="1360803" y="2777963"/>
                  <a:pt x="1196390" y="2761935"/>
                  <a:pt x="952355" y="2757799"/>
                </a:cubicBezTo>
                <a:lnTo>
                  <a:pt x="952355" y="2028797"/>
                </a:lnTo>
                <a:cubicBezTo>
                  <a:pt x="1250160" y="2028797"/>
                  <a:pt x="1434220" y="2017423"/>
                  <a:pt x="1504535" y="1994674"/>
                </a:cubicBezTo>
                <a:cubicBezTo>
                  <a:pt x="1574851" y="1971925"/>
                  <a:pt x="1625519" y="1922290"/>
                  <a:pt x="1656540" y="1845771"/>
                </a:cubicBezTo>
                <a:cubicBezTo>
                  <a:pt x="1687562" y="1769252"/>
                  <a:pt x="1703072" y="1649302"/>
                  <a:pt x="1703072" y="1485923"/>
                </a:cubicBezTo>
                <a:lnTo>
                  <a:pt x="1703072" y="1206731"/>
                </a:lnTo>
                <a:cubicBezTo>
                  <a:pt x="1703072" y="1030944"/>
                  <a:pt x="1684977" y="915130"/>
                  <a:pt x="1648785" y="859292"/>
                </a:cubicBezTo>
                <a:cubicBezTo>
                  <a:pt x="1612593" y="803454"/>
                  <a:pt x="1556238" y="775534"/>
                  <a:pt x="1479719" y="775534"/>
                </a:cubicBezTo>
                <a:cubicBezTo>
                  <a:pt x="1392859" y="775534"/>
                  <a:pt x="1333401" y="805005"/>
                  <a:pt x="1301346" y="863945"/>
                </a:cubicBezTo>
                <a:cubicBezTo>
                  <a:pt x="1269290" y="922886"/>
                  <a:pt x="1253262" y="1048522"/>
                  <a:pt x="1253262" y="1240855"/>
                </a:cubicBezTo>
                <a:lnTo>
                  <a:pt x="1253262" y="1653439"/>
                </a:lnTo>
                <a:lnTo>
                  <a:pt x="0" y="1653439"/>
                </a:lnTo>
                <a:lnTo>
                  <a:pt x="0" y="1225344"/>
                </a:lnTo>
                <a:cubicBezTo>
                  <a:pt x="0" y="745547"/>
                  <a:pt x="109608" y="421374"/>
                  <a:pt x="328826" y="252824"/>
                </a:cubicBezTo>
                <a:cubicBezTo>
                  <a:pt x="548044" y="84275"/>
                  <a:pt x="896517" y="0"/>
                  <a:pt x="1374246" y="0"/>
                </a:cubicBezTo>
                <a:close/>
              </a:path>
            </a:pathLst>
          </a:custGeom>
          <a:noFill/>
          <a:effectLst>
            <a:outerShdw blurRad="50800" dist="50800" dir="5400000" algn="ctr" rotWithShape="0">
              <a:srgbClr val="CB4845"/>
            </a:outerShdw>
          </a:effectLst>
          <a:extLst>
            <a:ext uri="{909E8E84-426E-40DD-AFC4-6F175D3DCCD1}">
              <a14:hiddenFill xmlns:a14="http://schemas.microsoft.com/office/drawing/2010/main">
                <a:solidFill>
                  <a:srgbClr val="FFFFFF"/>
                </a:solidFill>
              </a14:hiddenFill>
            </a:ext>
          </a:extLst>
        </p:spPr>
      </p:pic>
      <p:cxnSp>
        <p:nvCxnSpPr>
          <p:cNvPr id="9" name="直接连接符 8"/>
          <p:cNvCxnSpPr/>
          <p:nvPr/>
        </p:nvCxnSpPr>
        <p:spPr>
          <a:xfrm flipH="1">
            <a:off x="1541857" y="2910379"/>
            <a:ext cx="3909240" cy="0"/>
          </a:xfrm>
          <a:prstGeom prst="line">
            <a:avLst/>
          </a:prstGeom>
          <a:ln w="12700">
            <a:gradFill flip="none" rotWithShape="1">
              <a:gsLst>
                <a:gs pos="100000">
                  <a:schemeClr val="accent1">
                    <a:lumMod val="75000"/>
                  </a:schemeClr>
                </a:gs>
                <a:gs pos="0">
                  <a:srgbClr val="821A1A">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1559359" y="1473287"/>
            <a:ext cx="1207842" cy="338555"/>
            <a:chOff x="1477297" y="1791315"/>
            <a:chExt cx="1207842" cy="338555"/>
          </a:xfrm>
        </p:grpSpPr>
        <p:sp>
          <p:nvSpPr>
            <p:cNvPr id="11" name="矩形: 圆角 10"/>
            <p:cNvSpPr/>
            <p:nvPr/>
          </p:nvSpPr>
          <p:spPr>
            <a:xfrm>
              <a:off x="1477297" y="1791315"/>
              <a:ext cx="1207842" cy="338555"/>
            </a:xfrm>
            <a:prstGeom prst="roundRect">
              <a:avLst>
                <a:gd name="adj" fmla="val 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a:p>
          </p:txBody>
        </p:sp>
        <p:pic>
          <p:nvPicPr>
            <p:cNvPr id="12" name="图片 11"/>
            <p:cNvPicPr>
              <a:picLocks noChangeAspect="1"/>
            </p:cNvPicPr>
            <p:nvPr/>
          </p:nvPicPr>
          <p:blipFill rotWithShape="1">
            <a:blip r:embed="rId3" cstate="screen">
              <a:alphaModFix amt="35000"/>
            </a:blip>
            <a:srcRect t="-717"/>
            <a:stretch>
              <a:fillRect/>
            </a:stretch>
          </p:blipFill>
          <p:spPr>
            <a:xfrm rot="5400000">
              <a:off x="1911941" y="1356671"/>
              <a:ext cx="338554" cy="1207842"/>
            </a:xfrm>
            <a:prstGeom prst="rect">
              <a:avLst/>
            </a:prstGeom>
            <a:effectLst/>
          </p:spPr>
        </p:pic>
      </p:grpSp>
      <p:sp>
        <p:nvSpPr>
          <p:cNvPr id="13" name="文本框 12"/>
          <p:cNvSpPr txBox="1"/>
          <p:nvPr/>
        </p:nvSpPr>
        <p:spPr>
          <a:xfrm>
            <a:off x="1563511" y="1495718"/>
            <a:ext cx="1203690" cy="338554"/>
          </a:xfrm>
          <a:prstGeom prst="rect">
            <a:avLst/>
          </a:prstGeom>
          <a:noFill/>
        </p:spPr>
        <p:txBody>
          <a:bodyPr wrap="square" rtlCol="0">
            <a:spAutoFit/>
          </a:bodyPr>
          <a:lstStyle/>
          <a:p>
            <a:pPr algn="ctr"/>
            <a:r>
              <a:rPr lang="zh-CN" altLang="en-US" sz="1600" b="1" spc="100" dirty="0">
                <a:solidFill>
                  <a:schemeClr val="bg1"/>
                </a:solidFill>
                <a:latin typeface="微软雅黑" panose="020B0503020204020204" pitchFamily="34" charset="-122"/>
                <a:ea typeface="微软雅黑" panose="020B0503020204020204" pitchFamily="34" charset="-122"/>
              </a:rPr>
              <a:t>第三部分</a:t>
            </a:r>
            <a:endParaRPr lang="zh-CN" altLang="en-US" sz="1600" b="1" spc="100" dirty="0">
              <a:solidFill>
                <a:schemeClr val="bg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1443588" y="1900809"/>
            <a:ext cx="4707144" cy="706755"/>
          </a:xfrm>
          <a:prstGeom prst="rect">
            <a:avLst/>
          </a:prstGeom>
          <a:noFill/>
        </p:spPr>
        <p:txBody>
          <a:bodyPr wrap="square" rtlCol="0">
            <a:spAutoFit/>
          </a:bodyPr>
          <a:lstStyle>
            <a:defPPr>
              <a:defRPr lang="zh-CN"/>
            </a:defPPr>
            <a:lvl1pPr>
              <a:defRPr sz="4000" spc="100">
                <a:solidFill>
                  <a:schemeClr val="tx1">
                    <a:lumMod val="85000"/>
                    <a:lumOff val="15000"/>
                  </a:schemeClr>
                </a:solidFill>
                <a:latin typeface="思源黑体 CN Bold" panose="020B0800000000000000" pitchFamily="34" charset="-122"/>
                <a:ea typeface="思源黑体 CN Bold" panose="020B0800000000000000" pitchFamily="34" charset="-122"/>
              </a:defRPr>
            </a:lvl1pPr>
          </a:lstStyle>
          <a:p>
            <a:r>
              <a:rPr lang="zh-CN" altLang="en-US" b="1" dirty="0">
                <a:gradFill>
                  <a:gsLst>
                    <a:gs pos="0">
                      <a:schemeClr val="accent1">
                        <a:lumMod val="75000"/>
                        <a:alpha val="88000"/>
                      </a:schemeClr>
                    </a:gs>
                    <a:gs pos="100000">
                      <a:schemeClr val="accent1">
                        <a:lumMod val="75000"/>
                        <a:alpha val="62000"/>
                      </a:schemeClr>
                    </a:gs>
                  </a:gsLst>
                  <a:lin ang="5400000" scaled="1"/>
                </a:gradFill>
                <a:latin typeface="微软雅黑" panose="020B0503020204020204" pitchFamily="34" charset="-122"/>
                <a:ea typeface="微软雅黑" panose="020B0503020204020204" pitchFamily="34" charset="-122"/>
              </a:rPr>
              <a:t>疾病</a:t>
            </a:r>
            <a:r>
              <a:rPr lang="zh-CN" altLang="en-US" b="1" dirty="0">
                <a:gradFill>
                  <a:gsLst>
                    <a:gs pos="0">
                      <a:schemeClr val="accent1">
                        <a:lumMod val="75000"/>
                        <a:alpha val="88000"/>
                      </a:schemeClr>
                    </a:gs>
                    <a:gs pos="100000">
                      <a:schemeClr val="accent1">
                        <a:lumMod val="75000"/>
                        <a:alpha val="62000"/>
                      </a:schemeClr>
                    </a:gs>
                  </a:gsLst>
                  <a:lin ang="5400000" scaled="1"/>
                </a:gradFill>
                <a:latin typeface="微软雅黑" panose="020B0503020204020204" pitchFamily="34" charset="-122"/>
                <a:ea typeface="微软雅黑" panose="020B0503020204020204" pitchFamily="34" charset="-122"/>
              </a:rPr>
              <a:t>表现</a:t>
            </a:r>
            <a:endParaRPr lang="zh-CN" altLang="en-US" b="1" dirty="0">
              <a:gradFill>
                <a:gsLst>
                  <a:gs pos="0">
                    <a:schemeClr val="accent1">
                      <a:lumMod val="75000"/>
                      <a:alpha val="88000"/>
                    </a:schemeClr>
                  </a:gs>
                  <a:gs pos="100000">
                    <a:schemeClr val="accent1">
                      <a:lumMod val="75000"/>
                      <a:alpha val="62000"/>
                    </a:schemeClr>
                  </a:gs>
                </a:gsLst>
                <a:lin ang="5400000" scaled="1"/>
              </a:gradFill>
              <a:latin typeface="微软雅黑" panose="020B0503020204020204" pitchFamily="34" charset="-122"/>
              <a:ea typeface="微软雅黑" panose="020B0503020204020204" pitchFamily="34" charset="-122"/>
            </a:endParaRPr>
          </a:p>
        </p:txBody>
      </p:sp>
      <p:sp>
        <p:nvSpPr>
          <p:cNvPr id="16" name="文本框 15"/>
          <p:cNvSpPr txBox="1"/>
          <p:nvPr/>
        </p:nvSpPr>
        <p:spPr>
          <a:xfrm>
            <a:off x="1458102" y="2495358"/>
            <a:ext cx="3473430" cy="368300"/>
          </a:xfrm>
          <a:prstGeom prst="rect">
            <a:avLst/>
          </a:prstGeom>
          <a:noFill/>
        </p:spPr>
        <p:txBody>
          <a:bodyPr wrap="square" rtlCol="0">
            <a:spAutoFit/>
          </a:bodyPr>
          <a:lstStyle/>
          <a:p>
            <a:r>
              <a:rPr lang="en-US" altLang="zh-CN" spc="100" dirty="0">
                <a:solidFill>
                  <a:schemeClr val="tx1">
                    <a:lumMod val="75000"/>
                    <a:lumOff val="25000"/>
                    <a:alpha val="63000"/>
                  </a:schemeClr>
                </a:solidFill>
                <a:latin typeface="微软雅黑" panose="020B0503020204020204" pitchFamily="34" charset="-122"/>
                <a:ea typeface="微软雅黑" panose="020B0503020204020204" pitchFamily="34" charset="-122"/>
              </a:rPr>
              <a:t>Disease manifestations</a:t>
            </a:r>
            <a:endParaRPr lang="en-US" altLang="zh-CN" spc="100" dirty="0">
              <a:solidFill>
                <a:schemeClr val="tx1">
                  <a:lumMod val="75000"/>
                  <a:lumOff val="25000"/>
                  <a:alpha val="63000"/>
                </a:schemeClr>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62433" y="5562160"/>
            <a:ext cx="1004768" cy="571678"/>
          </a:xfrm>
          <a:prstGeom prst="rect">
            <a:avLst/>
          </a:prstGeom>
        </p:spPr>
      </p:pic>
      <p:pic>
        <p:nvPicPr>
          <p:cNvPr id="18" name="图片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6179" y="5562160"/>
            <a:ext cx="993180" cy="575487"/>
          </a:xfrm>
          <a:prstGeom prst="rect">
            <a:avLst/>
          </a:prstGeom>
        </p:spPr>
      </p:pic>
      <p:pic>
        <p:nvPicPr>
          <p:cNvPr id="21" name="图片 20" descr="徽标&#10;&#10;描述已自动生成"/>
          <p:cNvPicPr>
            <a:picLocks noChangeAspect="1"/>
          </p:cNvPicPr>
          <p:nvPr/>
        </p:nvPicPr>
        <p:blipFill>
          <a:blip r:embed="rId6">
            <a:extLst>
              <a:ext uri="{28A0092B-C50C-407E-A947-70E740481C1C}">
                <a14:useLocalDpi xmlns:a14="http://schemas.microsoft.com/office/drawing/2010/main" val="0"/>
              </a:ext>
            </a:extLst>
          </a:blip>
          <a:srcRect t="13412" r="45166" b="17638"/>
          <a:stretch>
            <a:fillRect/>
          </a:stretch>
        </p:blipFill>
        <p:spPr>
          <a:xfrm>
            <a:off x="8642204" y="3891885"/>
            <a:ext cx="1089364" cy="1369662"/>
          </a:xfrm>
          <a:prstGeom prst="rect">
            <a:avLst/>
          </a:prstGeom>
        </p:spPr>
      </p:pic>
      <p:pic>
        <p:nvPicPr>
          <p:cNvPr id="22" name="图片 21" descr="/private/var/folders/yy/k9vbpjvs50n3dskbszjx5l8r0000gn/T/com.kingsoft.wpsoffice.mac/photoedit2/20230330085317/temp.pngtemp"/>
          <p:cNvPicPr>
            <a:picLocks noChangeAspect="1"/>
          </p:cNvPicPr>
          <p:nvPr/>
        </p:nvPicPr>
        <p:blipFill rotWithShape="1">
          <a:blip r:embed="rId7"/>
          <a:srcRect r="62275"/>
          <a:stretch>
            <a:fillRect/>
          </a:stretch>
        </p:blipFill>
        <p:spPr>
          <a:xfrm>
            <a:off x="8524942" y="4986433"/>
            <a:ext cx="1323887" cy="711426"/>
          </a:xfrm>
          <a:prstGeom prst="rect">
            <a:avLst/>
          </a:prstGeom>
        </p:spPr>
      </p:pic>
      <p:pic>
        <p:nvPicPr>
          <p:cNvPr id="23" name="图片 22" descr="图片包含 图示&#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5222" t="67459" r="6526"/>
          <a:stretch>
            <a:fillRect/>
          </a:stretch>
        </p:blipFill>
        <p:spPr>
          <a:xfrm>
            <a:off x="475600" y="6010125"/>
            <a:ext cx="9557385" cy="11760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33828" y="348343"/>
            <a:ext cx="8476343" cy="1508105"/>
          </a:xfrm>
          <a:prstGeom prst="rect">
            <a:avLst/>
          </a:prstGeom>
          <a:noFill/>
        </p:spPr>
        <p:txBody>
          <a:bodyPr wrap="square" rtlCol="0">
            <a:spAutoFit/>
          </a:bodyPr>
          <a:lstStyle/>
          <a:p>
            <a:r>
              <a:rPr lang="zh-CN" altLang="zh-CN" sz="3200" kern="100" dirty="0">
                <a:effectLst/>
                <a:latin typeface="仿宋" panose="02010609060101010101" pitchFamily="49" charset="-122"/>
                <a:ea typeface="仿宋" panose="02010609060101010101" pitchFamily="49" charset="-122"/>
                <a:cs typeface="Times New Roman" panose="02020603050405020304" pitchFamily="18" charset="0"/>
              </a:rPr>
              <a:t>亨廷顿舞蹈病（</a:t>
            </a:r>
            <a:r>
              <a:rPr lang="en-US" altLang="zh-CN" sz="3200" kern="100" dirty="0">
                <a:effectLst/>
                <a:latin typeface="仿宋" panose="02010609060101010101" pitchFamily="49" charset="-122"/>
                <a:ea typeface="仿宋" panose="02010609060101010101" pitchFamily="49" charset="-122"/>
                <a:cs typeface="Times New Roman" panose="02020603050405020304" pitchFamily="18" charset="0"/>
              </a:rPr>
              <a:t>Huntington's Disease, HD</a:t>
            </a:r>
            <a:r>
              <a:rPr lang="zh-CN" altLang="zh-CN" sz="3200" kern="100" dirty="0">
                <a:effectLst/>
                <a:latin typeface="仿宋" panose="02010609060101010101" pitchFamily="49" charset="-122"/>
                <a:ea typeface="仿宋" panose="02010609060101010101" pitchFamily="49" charset="-122"/>
                <a:cs typeface="Times New Roman" panose="02020603050405020304" pitchFamily="18" charset="0"/>
              </a:rPr>
              <a:t>）的临床表现主要包括以下几个方面：</a:t>
            </a:r>
            <a:endParaRPr lang="zh-CN" altLang="zh-CN" sz="3200" kern="100" dirty="0">
              <a:effectLst/>
              <a:latin typeface="仿宋" panose="02010609060101010101" pitchFamily="49" charset="-122"/>
              <a:ea typeface="仿宋" panose="02010609060101010101" pitchFamily="49" charset="-122"/>
              <a:cs typeface="Times New Roman" panose="02020603050405020304" pitchFamily="18" charset="0"/>
            </a:endParaRPr>
          </a:p>
          <a:p>
            <a:endParaRPr lang="zh-CN" altLang="en-US" sz="2800" dirty="0">
              <a:latin typeface="仿宋" panose="02010609060101010101" pitchFamily="49" charset="-122"/>
              <a:ea typeface="仿宋" panose="02010609060101010101" pitchFamily="49" charset="-122"/>
            </a:endParaRPr>
          </a:p>
        </p:txBody>
      </p:sp>
      <p:sp>
        <p:nvSpPr>
          <p:cNvPr id="7" name="文本框 6"/>
          <p:cNvSpPr txBox="1"/>
          <p:nvPr/>
        </p:nvSpPr>
        <p:spPr>
          <a:xfrm>
            <a:off x="5618843" y="1500699"/>
            <a:ext cx="6382655" cy="5262979"/>
          </a:xfrm>
          <a:prstGeom prst="rect">
            <a:avLst/>
          </a:prstGeom>
          <a:noFill/>
        </p:spPr>
        <p:txBody>
          <a:bodyPr wrap="square">
            <a:spAutoFit/>
          </a:bodyPr>
          <a:lstStyle/>
          <a:p>
            <a:pPr algn="l">
              <a:buFont typeface="+mj-lt"/>
              <a:buAutoNum type="arabicPeriod"/>
            </a:pPr>
            <a:r>
              <a:rPr lang="zh-CN" altLang="en-US" sz="2400" b="1" i="0" dirty="0">
                <a:effectLst/>
                <a:latin typeface="仿宋" panose="02010609060101010101" pitchFamily="49" charset="-122"/>
                <a:ea typeface="仿宋" panose="02010609060101010101" pitchFamily="49" charset="-122"/>
              </a:rPr>
              <a:t>运动症状</a:t>
            </a:r>
            <a:r>
              <a:rPr lang="zh-CN" altLang="en-US" sz="2400" b="0" i="0" dirty="0">
                <a:effectLst/>
                <a:latin typeface="仿宋" panose="02010609060101010101" pitchFamily="49" charset="-122"/>
                <a:ea typeface="仿宋" panose="02010609060101010101" pitchFamily="49" charset="-122"/>
              </a:rPr>
              <a:t>：</a:t>
            </a:r>
            <a:endParaRPr lang="en-US" altLang="zh-CN" sz="2400" b="0" i="0" dirty="0">
              <a:effectLst/>
              <a:latin typeface="仿宋" panose="02010609060101010101" pitchFamily="49" charset="-122"/>
              <a:ea typeface="仿宋" panose="02010609060101010101" pitchFamily="49" charset="-122"/>
            </a:endParaRPr>
          </a:p>
          <a:p>
            <a:pPr algn="l">
              <a:buFont typeface="+mj-lt"/>
              <a:buAutoNum type="arabicPeriod"/>
            </a:pPr>
            <a:endParaRPr lang="en-US" altLang="zh-CN" sz="2400" dirty="0">
              <a:latin typeface="仿宋" panose="02010609060101010101" pitchFamily="49" charset="-122"/>
              <a:ea typeface="仿宋" panose="02010609060101010101" pitchFamily="49" charset="-122"/>
            </a:endParaRPr>
          </a:p>
          <a:p>
            <a:pPr algn="l"/>
            <a:r>
              <a:rPr lang="zh-CN" altLang="en-US" sz="2400" b="0" i="0" dirty="0">
                <a:effectLst/>
                <a:latin typeface="仿宋" panose="02010609060101010101" pitchFamily="49" charset="-122"/>
                <a:ea typeface="仿宋" panose="02010609060101010101" pitchFamily="49" charset="-122"/>
              </a:rPr>
              <a:t>亨廷顿舞蹈病的典型运动症状是舞蹈样运动，这是一种不自主、无目的、无节律且运动幅度不一致的不自主运动。</a:t>
            </a:r>
            <a:endParaRPr lang="en-US" altLang="zh-CN" sz="2400" b="0" i="0" dirty="0">
              <a:effectLst/>
              <a:latin typeface="仿宋" panose="02010609060101010101" pitchFamily="49" charset="-122"/>
              <a:ea typeface="仿宋" panose="02010609060101010101" pitchFamily="49" charset="-122"/>
            </a:endParaRPr>
          </a:p>
          <a:p>
            <a:pPr algn="l"/>
            <a:endParaRPr lang="en-US" altLang="zh-CN" sz="2400" dirty="0">
              <a:latin typeface="仿宋" panose="02010609060101010101" pitchFamily="49" charset="-122"/>
              <a:ea typeface="仿宋" panose="02010609060101010101" pitchFamily="49" charset="-122"/>
            </a:endParaRPr>
          </a:p>
          <a:p>
            <a:pPr algn="l"/>
            <a:r>
              <a:rPr lang="zh-CN" altLang="en-US" sz="2400" b="0" i="0" dirty="0">
                <a:effectLst/>
                <a:latin typeface="仿宋" panose="02010609060101010101" pitchFamily="49" charset="-122"/>
                <a:ea typeface="仿宋" panose="02010609060101010101" pitchFamily="49" charset="-122"/>
              </a:rPr>
              <a:t>病程初期可能表现为不易察觉的手、足、眼和口周部不自主动作，随着病情进展，可能出现挤眉弄眼、撅嘴、伸舌、转颈耸肩、弹钢琴样动作等，常伴有肌张力降低。</a:t>
            </a:r>
            <a:endParaRPr lang="en-US" altLang="zh-CN" sz="2400" b="0" i="0" dirty="0">
              <a:effectLst/>
              <a:latin typeface="仿宋" panose="02010609060101010101" pitchFamily="49" charset="-122"/>
              <a:ea typeface="仿宋" panose="02010609060101010101" pitchFamily="49" charset="-122"/>
            </a:endParaRPr>
          </a:p>
          <a:p>
            <a:pPr algn="l"/>
            <a:endParaRPr lang="en-US" altLang="zh-CN" sz="2400" dirty="0">
              <a:latin typeface="仿宋" panose="02010609060101010101" pitchFamily="49" charset="-122"/>
              <a:ea typeface="仿宋" panose="02010609060101010101" pitchFamily="49" charset="-122"/>
            </a:endParaRPr>
          </a:p>
          <a:p>
            <a:pPr algn="l"/>
            <a:r>
              <a:rPr lang="zh-CN" altLang="en-US" sz="2400" b="0" i="0" dirty="0">
                <a:effectLst/>
                <a:latin typeface="仿宋" panose="02010609060101010101" pitchFamily="49" charset="-122"/>
                <a:ea typeface="仿宋" panose="02010609060101010101" pitchFamily="49" charset="-122"/>
              </a:rPr>
              <a:t>此外，患者可能还会出现肌张力障碍、帕金森样表现、共济失调、肌阵挛、静坐不能、磨牙等其他运动障碍。</a:t>
            </a:r>
            <a:endParaRPr lang="zh-CN" altLang="en-US" sz="2400" b="0" i="0" dirty="0">
              <a:effectLst/>
              <a:latin typeface="仿宋" panose="02010609060101010101" pitchFamily="49" charset="-122"/>
              <a:ea typeface="仿宋" panose="02010609060101010101" pitchFamily="49" charset="-122"/>
            </a:endParaRPr>
          </a:p>
        </p:txBody>
      </p:sp>
      <p:pic>
        <p:nvPicPr>
          <p:cNvPr id="8" name="图片 7"/>
          <p:cNvPicPr>
            <a:picLocks noChangeAspect="1"/>
          </p:cNvPicPr>
          <p:nvPr/>
        </p:nvPicPr>
        <p:blipFill>
          <a:blip r:embed="rId1"/>
          <a:stretch>
            <a:fillRect/>
          </a:stretch>
        </p:blipFill>
        <p:spPr>
          <a:xfrm>
            <a:off x="190502" y="1856448"/>
            <a:ext cx="4468584" cy="30392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8685" y="114562"/>
            <a:ext cx="7039429" cy="6740307"/>
          </a:xfrm>
          <a:prstGeom prst="rect">
            <a:avLst/>
          </a:prstGeom>
          <a:noFill/>
        </p:spPr>
        <p:txBody>
          <a:bodyPr wrap="square">
            <a:spAutoFit/>
          </a:bodyPr>
          <a:lstStyle/>
          <a:p>
            <a:pPr algn="l"/>
            <a:r>
              <a:rPr lang="en-US" altLang="zh-CN" sz="2400" b="1" i="0" dirty="0">
                <a:effectLst/>
                <a:latin typeface="仿宋" panose="02010609060101010101" pitchFamily="49" charset="-122"/>
                <a:ea typeface="仿宋" panose="02010609060101010101" pitchFamily="49" charset="-122"/>
              </a:rPr>
              <a:t>2.</a:t>
            </a:r>
            <a:r>
              <a:rPr lang="zh-CN" altLang="en-US" sz="2400" b="1" i="0" dirty="0">
                <a:effectLst/>
                <a:latin typeface="仿宋" panose="02010609060101010101" pitchFamily="49" charset="-122"/>
                <a:ea typeface="仿宋" panose="02010609060101010101" pitchFamily="49" charset="-122"/>
              </a:rPr>
              <a:t>认知障碍</a:t>
            </a:r>
            <a:r>
              <a:rPr lang="zh-CN" altLang="en-US" sz="2400" b="0" i="0" dirty="0">
                <a:effectLst/>
                <a:latin typeface="仿宋" panose="02010609060101010101" pitchFamily="49" charset="-122"/>
                <a:ea typeface="仿宋" panose="02010609060101010101" pitchFamily="49" charset="-122"/>
              </a:rPr>
              <a:t>：</a:t>
            </a:r>
            <a:endParaRPr lang="en-US" altLang="zh-CN" sz="2400" b="0" i="0" dirty="0">
              <a:effectLst/>
              <a:latin typeface="仿宋" panose="02010609060101010101" pitchFamily="49" charset="-122"/>
              <a:ea typeface="仿宋" panose="02010609060101010101" pitchFamily="49" charset="-122"/>
            </a:endParaRPr>
          </a:p>
          <a:p>
            <a:pPr algn="l"/>
            <a:endParaRPr lang="en-US" altLang="zh-CN" sz="2400" dirty="0">
              <a:latin typeface="仿宋" panose="02010609060101010101" pitchFamily="49" charset="-122"/>
              <a:ea typeface="仿宋" panose="02010609060101010101" pitchFamily="49" charset="-122"/>
            </a:endParaRPr>
          </a:p>
          <a:p>
            <a:pPr algn="l"/>
            <a:r>
              <a:rPr lang="zh-CN" altLang="en-US" sz="2400" b="0" i="0" dirty="0">
                <a:effectLst/>
                <a:latin typeface="仿宋" panose="02010609060101010101" pitchFamily="49" charset="-122"/>
                <a:ea typeface="仿宋" panose="02010609060101010101" pitchFamily="49" charset="-122"/>
              </a:rPr>
              <a:t>患者在整个病程中几乎均有不同程度的认知障碍，甚至在运动障碍出现前</a:t>
            </a:r>
            <a:r>
              <a:rPr lang="en-US" altLang="zh-CN" sz="2400" b="0" i="0" dirty="0">
                <a:effectLst/>
                <a:latin typeface="仿宋" panose="02010609060101010101" pitchFamily="49" charset="-122"/>
                <a:ea typeface="仿宋" panose="02010609060101010101" pitchFamily="49" charset="-122"/>
              </a:rPr>
              <a:t>10</a:t>
            </a:r>
            <a:r>
              <a:rPr lang="zh-CN" altLang="en-US" sz="2400" b="0" i="0" dirty="0">
                <a:effectLst/>
                <a:latin typeface="仿宋" panose="02010609060101010101" pitchFamily="49" charset="-122"/>
                <a:ea typeface="仿宋" panose="02010609060101010101" pitchFamily="49" charset="-122"/>
              </a:rPr>
              <a:t>年就已有认知下降，主要以执行力和注意力损害为主。</a:t>
            </a:r>
            <a:endParaRPr lang="en-US" altLang="zh-CN" sz="2400" b="0" i="0" dirty="0">
              <a:effectLst/>
              <a:latin typeface="仿宋" panose="02010609060101010101" pitchFamily="49" charset="-122"/>
              <a:ea typeface="仿宋" panose="02010609060101010101" pitchFamily="49" charset="-122"/>
            </a:endParaRPr>
          </a:p>
          <a:p>
            <a:pPr algn="l"/>
            <a:endParaRPr lang="en-US" altLang="zh-CN" sz="2400" b="0" i="0" dirty="0">
              <a:effectLst/>
              <a:latin typeface="仿宋" panose="02010609060101010101" pitchFamily="49" charset="-122"/>
              <a:ea typeface="仿宋" panose="02010609060101010101" pitchFamily="49" charset="-122"/>
            </a:endParaRPr>
          </a:p>
          <a:p>
            <a:pPr algn="l"/>
            <a:r>
              <a:rPr lang="zh-CN" altLang="en-US" sz="2400" b="0" i="0" dirty="0">
                <a:effectLst/>
                <a:latin typeface="仿宋" panose="02010609060101010101" pitchFamily="49" charset="-122"/>
                <a:ea typeface="仿宋" panose="02010609060101010101" pitchFamily="49" charset="-122"/>
              </a:rPr>
              <a:t>早期记忆力下降不明显，但可通过特定测验发现和评估认知损害，病情常进行性进展为痴呆。</a:t>
            </a:r>
            <a:endParaRPr lang="en-US" altLang="zh-CN" sz="2400" b="0" i="0" dirty="0">
              <a:effectLst/>
              <a:latin typeface="仿宋" panose="02010609060101010101" pitchFamily="49" charset="-122"/>
              <a:ea typeface="仿宋" panose="02010609060101010101" pitchFamily="49" charset="-122"/>
            </a:endParaRPr>
          </a:p>
          <a:p>
            <a:pPr algn="l"/>
            <a:endParaRPr lang="en-US" altLang="zh-CN" sz="2400" dirty="0">
              <a:latin typeface="仿宋" panose="02010609060101010101" pitchFamily="49" charset="-122"/>
              <a:ea typeface="仿宋" panose="02010609060101010101" pitchFamily="49" charset="-122"/>
            </a:endParaRPr>
          </a:p>
          <a:p>
            <a:pPr marL="342900" indent="-342900" algn="l">
              <a:buFont typeface="Arial" panose="020B0604020202020204" pitchFamily="34" charset="0"/>
              <a:buChar char="•"/>
            </a:pPr>
            <a:r>
              <a:rPr lang="zh-CN" altLang="en-US" sz="2400" b="0" i="0" dirty="0">
                <a:effectLst/>
                <a:latin typeface="仿宋" panose="02010609060101010101" pitchFamily="49" charset="-122"/>
                <a:ea typeface="仿宋" panose="02010609060101010101" pitchFamily="49" charset="-122"/>
              </a:rPr>
              <a:t>难以组织、确定任务的优先级或专注于任务。</a:t>
            </a:r>
            <a:endParaRPr lang="zh-CN" altLang="en-US" sz="2400" b="0" i="0" dirty="0">
              <a:effectLst/>
              <a:latin typeface="仿宋" panose="02010609060101010101" pitchFamily="49" charset="-122"/>
              <a:ea typeface="仿宋" panose="02010609060101010101" pitchFamily="49" charset="-122"/>
            </a:endParaRPr>
          </a:p>
          <a:p>
            <a:pPr marL="342900" indent="-342900" algn="l">
              <a:buFont typeface="Arial" panose="020B0604020202020204" pitchFamily="34" charset="0"/>
              <a:buChar char="•"/>
            </a:pPr>
            <a:r>
              <a:rPr lang="zh-CN" altLang="en-US" sz="2400" b="0" i="0" dirty="0">
                <a:effectLst/>
                <a:latin typeface="仿宋" panose="02010609060101010101" pitchFamily="49" charset="-122"/>
                <a:ea typeface="仿宋" panose="02010609060101010101" pitchFamily="49" charset="-122"/>
              </a:rPr>
              <a:t>缺乏灵活性或卡在思想、行为或行动上，称为毅力。</a:t>
            </a:r>
            <a:endParaRPr lang="zh-CN" altLang="en-US" sz="2400" b="0" i="0" dirty="0">
              <a:effectLst/>
              <a:latin typeface="仿宋" panose="02010609060101010101" pitchFamily="49" charset="-122"/>
              <a:ea typeface="仿宋" panose="02010609060101010101" pitchFamily="49" charset="-122"/>
            </a:endParaRPr>
          </a:p>
          <a:p>
            <a:pPr marL="342900" indent="-342900" algn="l">
              <a:buFont typeface="Arial" panose="020B0604020202020204" pitchFamily="34" charset="0"/>
              <a:buChar char="•"/>
            </a:pPr>
            <a:r>
              <a:rPr lang="zh-CN" altLang="en-US" sz="2400" b="0" i="0" dirty="0">
                <a:effectLst/>
                <a:latin typeface="仿宋" panose="02010609060101010101" pitchFamily="49" charset="-122"/>
                <a:ea typeface="仿宋" panose="02010609060101010101" pitchFamily="49" charset="-122"/>
              </a:rPr>
              <a:t>缺乏冲动控制，可能导致爆发、不假思索地行动和性滥交。</a:t>
            </a:r>
            <a:endParaRPr lang="zh-CN" altLang="en-US" sz="2400" b="0" i="0" dirty="0">
              <a:effectLst/>
              <a:latin typeface="仿宋" panose="02010609060101010101" pitchFamily="49" charset="-122"/>
              <a:ea typeface="仿宋" panose="02010609060101010101" pitchFamily="49" charset="-122"/>
            </a:endParaRPr>
          </a:p>
          <a:p>
            <a:pPr marL="342900" indent="-342900" algn="l">
              <a:buFont typeface="Arial" panose="020B0604020202020204" pitchFamily="34" charset="0"/>
              <a:buChar char="•"/>
            </a:pPr>
            <a:r>
              <a:rPr lang="zh-CN" altLang="en-US" sz="2400" b="0" i="0" dirty="0">
                <a:effectLst/>
                <a:latin typeface="仿宋" panose="02010609060101010101" pitchFamily="49" charset="-122"/>
                <a:ea typeface="仿宋" panose="02010609060101010101" pitchFamily="49" charset="-122"/>
              </a:rPr>
              <a:t>对自己的行为和能力缺乏认识。</a:t>
            </a:r>
            <a:endParaRPr lang="zh-CN" altLang="en-US" sz="2400" b="0" i="0" dirty="0">
              <a:effectLst/>
              <a:latin typeface="仿宋" panose="02010609060101010101" pitchFamily="49" charset="-122"/>
              <a:ea typeface="仿宋" panose="02010609060101010101" pitchFamily="49" charset="-122"/>
            </a:endParaRPr>
          </a:p>
          <a:p>
            <a:pPr marL="342900" indent="-342900" algn="l">
              <a:buFont typeface="Arial" panose="020B0604020202020204" pitchFamily="34" charset="0"/>
              <a:buChar char="•"/>
            </a:pPr>
            <a:r>
              <a:rPr lang="zh-CN" altLang="en-US" sz="2400" b="0" i="0" dirty="0">
                <a:effectLst/>
                <a:latin typeface="仿宋" panose="02010609060101010101" pitchFamily="49" charset="-122"/>
                <a:ea typeface="仿宋" panose="02010609060101010101" pitchFamily="49" charset="-122"/>
              </a:rPr>
              <a:t>处理想法或“寻找”单词的速度很慢。</a:t>
            </a:r>
            <a:endParaRPr lang="zh-CN" altLang="en-US" sz="2400" b="0" i="0" dirty="0">
              <a:effectLst/>
              <a:latin typeface="仿宋" panose="02010609060101010101" pitchFamily="49" charset="-122"/>
              <a:ea typeface="仿宋" panose="02010609060101010101" pitchFamily="49" charset="-122"/>
            </a:endParaRPr>
          </a:p>
          <a:p>
            <a:pPr marL="342900" indent="-342900" algn="l">
              <a:buFont typeface="Arial" panose="020B0604020202020204" pitchFamily="34" charset="0"/>
              <a:buChar char="•"/>
            </a:pPr>
            <a:r>
              <a:rPr lang="zh-CN" altLang="en-US" sz="2400" b="0" i="0" dirty="0">
                <a:effectLst/>
                <a:latin typeface="仿宋" panose="02010609060101010101" pitchFamily="49" charset="-122"/>
                <a:ea typeface="仿宋" panose="02010609060101010101" pitchFamily="49" charset="-122"/>
              </a:rPr>
              <a:t>学习新信息有困难。</a:t>
            </a:r>
            <a:endParaRPr lang="zh-CN" altLang="en-US"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p:txBody>
      </p:sp>
      <p:pic>
        <p:nvPicPr>
          <p:cNvPr id="4" name="图片 3"/>
          <p:cNvPicPr>
            <a:picLocks noChangeAspect="1"/>
          </p:cNvPicPr>
          <p:nvPr/>
        </p:nvPicPr>
        <p:blipFill>
          <a:blip r:embed="rId1"/>
          <a:stretch>
            <a:fillRect/>
          </a:stretch>
        </p:blipFill>
        <p:spPr>
          <a:xfrm>
            <a:off x="8189270" y="0"/>
            <a:ext cx="4002730" cy="3320632"/>
          </a:xfrm>
          <a:prstGeom prst="rect">
            <a:avLst/>
          </a:prstGeom>
        </p:spPr>
      </p:pic>
      <p:pic>
        <p:nvPicPr>
          <p:cNvPr id="6" name="图片 5"/>
          <p:cNvPicPr>
            <a:picLocks noChangeAspect="1"/>
          </p:cNvPicPr>
          <p:nvPr/>
        </p:nvPicPr>
        <p:blipFill>
          <a:blip r:embed="rId2"/>
          <a:stretch>
            <a:fillRect/>
          </a:stretch>
        </p:blipFill>
        <p:spPr>
          <a:xfrm>
            <a:off x="7731107" y="3693887"/>
            <a:ext cx="4272208" cy="28429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08000" y="266182"/>
            <a:ext cx="7576458" cy="5631180"/>
          </a:xfrm>
          <a:prstGeom prst="rect">
            <a:avLst/>
          </a:prstGeom>
          <a:noFill/>
        </p:spPr>
        <p:txBody>
          <a:bodyPr wrap="square">
            <a:spAutoFit/>
          </a:bodyPr>
          <a:lstStyle/>
          <a:p>
            <a:pPr algn="l"/>
            <a:r>
              <a:rPr lang="en-US" altLang="zh-CN" sz="2400" b="1" i="0" dirty="0">
                <a:effectLst/>
                <a:latin typeface="仿宋" panose="02010609060101010101" pitchFamily="49" charset="-122"/>
                <a:ea typeface="仿宋" panose="02010609060101010101" pitchFamily="49" charset="-122"/>
              </a:rPr>
              <a:t>3.</a:t>
            </a:r>
            <a:r>
              <a:rPr lang="zh-CN" altLang="en-US" sz="2400" b="1" i="0" dirty="0">
                <a:effectLst/>
                <a:latin typeface="仿宋" panose="02010609060101010101" pitchFamily="49" charset="-122"/>
                <a:ea typeface="仿宋" panose="02010609060101010101" pitchFamily="49" charset="-122"/>
              </a:rPr>
              <a:t>精神行为异常</a:t>
            </a:r>
            <a:r>
              <a:rPr lang="zh-CN" altLang="en-US" sz="2400" b="0" i="0" dirty="0">
                <a:effectLst/>
                <a:latin typeface="仿宋" panose="02010609060101010101" pitchFamily="49" charset="-122"/>
                <a:ea typeface="仿宋" panose="02010609060101010101" pitchFamily="49" charset="-122"/>
              </a:rPr>
              <a:t>：</a:t>
            </a:r>
            <a:endParaRPr lang="en-US" altLang="zh-CN" sz="2400" b="0" i="0" dirty="0">
              <a:effectLst/>
              <a:latin typeface="仿宋" panose="02010609060101010101" pitchFamily="49" charset="-122"/>
              <a:ea typeface="仿宋" panose="02010609060101010101" pitchFamily="49" charset="-122"/>
            </a:endParaRPr>
          </a:p>
          <a:p>
            <a:pPr algn="l"/>
            <a:endParaRPr lang="en-US" altLang="zh-CN" sz="2400" dirty="0">
              <a:latin typeface="仿宋" panose="02010609060101010101" pitchFamily="49" charset="-122"/>
              <a:ea typeface="仿宋" panose="02010609060101010101" pitchFamily="49" charset="-122"/>
            </a:endParaRPr>
          </a:p>
          <a:p>
            <a:pPr algn="l"/>
            <a:r>
              <a:rPr lang="zh-CN" altLang="en-US" sz="2400" b="0" i="0" dirty="0">
                <a:effectLst/>
                <a:latin typeface="仿宋" panose="02010609060101010101" pitchFamily="49" charset="-122"/>
                <a:ea typeface="仿宋" panose="02010609060101010101" pitchFamily="49" charset="-122"/>
              </a:rPr>
              <a:t>与亨廷顿病相关的最常见的心理健康状况是抑郁症。这不仅仅是对亨廷顿病诊断的反应。相反，抑郁症的发生似乎是由于大脑受损和大脑功能的变化。症状可能包括：</a:t>
            </a:r>
            <a:endParaRPr lang="en-US" altLang="zh-CN"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a:p>
            <a:r>
              <a:rPr lang="zh-CN" altLang="en-US" sz="2400" b="0" i="0" dirty="0">
                <a:effectLst/>
                <a:latin typeface="仿宋" panose="02010609060101010101" pitchFamily="49" charset="-122"/>
                <a:ea typeface="仿宋" panose="02010609060101010101" pitchFamily="49" charset="-122"/>
              </a:rPr>
              <a:t>约</a:t>
            </a:r>
            <a:r>
              <a:rPr lang="en-US" altLang="zh-CN" sz="2400" b="0" i="0" dirty="0">
                <a:effectLst/>
                <a:latin typeface="仿宋" panose="02010609060101010101" pitchFamily="49" charset="-122"/>
                <a:ea typeface="仿宋" panose="02010609060101010101" pitchFamily="49" charset="-122"/>
              </a:rPr>
              <a:t>33%~76%</a:t>
            </a:r>
            <a:r>
              <a:rPr lang="zh-CN" altLang="en-US" sz="2400" b="0" i="0" dirty="0">
                <a:effectLst/>
                <a:latin typeface="仿宋" panose="02010609060101010101" pitchFamily="49" charset="-122"/>
                <a:ea typeface="仿宋" panose="02010609060101010101" pitchFamily="49" charset="-122"/>
              </a:rPr>
              <a:t>的亨廷顿病患者有不同程度的精神障碍。</a:t>
            </a:r>
            <a:endParaRPr lang="en-US" altLang="zh-CN"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p:txBody>
      </p:sp>
      <p:pic>
        <p:nvPicPr>
          <p:cNvPr id="2" name="图片 1"/>
          <p:cNvPicPr>
            <a:picLocks noChangeAspect="1"/>
          </p:cNvPicPr>
          <p:nvPr/>
        </p:nvPicPr>
        <p:blipFill>
          <a:blip r:embed="rId1"/>
          <a:stretch>
            <a:fillRect/>
          </a:stretch>
        </p:blipFill>
        <p:spPr>
          <a:xfrm>
            <a:off x="1995988" y="2353076"/>
            <a:ext cx="4213330" cy="2367748"/>
          </a:xfrm>
          <a:prstGeom prst="rect">
            <a:avLst/>
          </a:prstGeom>
        </p:spPr>
      </p:pic>
      <p:sp>
        <p:nvSpPr>
          <p:cNvPr id="6" name="文本框 5"/>
          <p:cNvSpPr txBox="1"/>
          <p:nvPr/>
        </p:nvSpPr>
        <p:spPr>
          <a:xfrm>
            <a:off x="8654252" y="494938"/>
            <a:ext cx="3251199" cy="3785652"/>
          </a:xfrm>
          <a:prstGeom prst="rect">
            <a:avLst/>
          </a:prstGeom>
          <a:noFill/>
        </p:spPr>
        <p:txBody>
          <a:bodyPr wrap="square">
            <a:spAutoFit/>
          </a:bodyPr>
          <a:lstStyle/>
          <a:p>
            <a:pPr algn="l"/>
            <a:r>
              <a:rPr lang="en-US" altLang="zh-CN" sz="2400" b="1" i="0" dirty="0">
                <a:effectLst/>
                <a:latin typeface="仿宋" panose="02010609060101010101" pitchFamily="49" charset="-122"/>
                <a:ea typeface="仿宋" panose="02010609060101010101" pitchFamily="49" charset="-122"/>
              </a:rPr>
              <a:t>4.</a:t>
            </a:r>
            <a:r>
              <a:rPr lang="zh-CN" altLang="en-US" sz="2400" b="1" i="0" dirty="0">
                <a:effectLst/>
                <a:latin typeface="仿宋" panose="02010609060101010101" pitchFamily="49" charset="-122"/>
                <a:ea typeface="仿宋" panose="02010609060101010101" pitchFamily="49" charset="-122"/>
              </a:rPr>
              <a:t>非特异性症状</a:t>
            </a:r>
            <a:r>
              <a:rPr lang="zh-CN" altLang="en-US" sz="2400" b="0" i="0" dirty="0">
                <a:effectLst/>
                <a:latin typeface="仿宋" panose="02010609060101010101" pitchFamily="49" charset="-122"/>
                <a:ea typeface="仿宋" panose="02010609060101010101" pitchFamily="49" charset="-122"/>
              </a:rPr>
              <a:t>：</a:t>
            </a:r>
            <a:endParaRPr lang="en-US" altLang="zh-CN" sz="2400" b="0" i="0" dirty="0">
              <a:effectLst/>
              <a:latin typeface="仿宋" panose="02010609060101010101" pitchFamily="49" charset="-122"/>
              <a:ea typeface="仿宋" panose="02010609060101010101" pitchFamily="49" charset="-122"/>
            </a:endParaRPr>
          </a:p>
          <a:p>
            <a:pPr algn="l"/>
            <a:endParaRPr lang="en-US" altLang="zh-CN" sz="2400" dirty="0">
              <a:latin typeface="仿宋" panose="02010609060101010101" pitchFamily="49" charset="-122"/>
              <a:ea typeface="仿宋" panose="02010609060101010101" pitchFamily="49" charset="-122"/>
            </a:endParaRPr>
          </a:p>
          <a:p>
            <a:pPr algn="l"/>
            <a:r>
              <a:rPr lang="zh-CN" altLang="en-US" sz="2400" b="0" i="0" dirty="0">
                <a:effectLst/>
                <a:latin typeface="仿宋" panose="02010609060101010101" pitchFamily="49" charset="-122"/>
                <a:ea typeface="仿宋" panose="02010609060101010101" pitchFamily="49" charset="-122"/>
              </a:rPr>
              <a:t>包括睡眠障碍、体重减轻、疼痛、多汗、唾液分泌过多、口腔健康状况不佳、肺功能下降、呼吸肌肌力下降、尿失禁及性功能障碍等，有时可以早于其他症状出现。</a:t>
            </a:r>
            <a:endParaRPr lang="zh-CN" altLang="en-US" sz="2400" b="0" i="0" dirty="0">
              <a:effectLst/>
              <a:latin typeface="仿宋" panose="02010609060101010101" pitchFamily="49" charset="-122"/>
              <a:ea typeface="仿宋"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126040" y="243512"/>
            <a:ext cx="6937830" cy="6369685"/>
          </a:xfrm>
          <a:prstGeom prst="rect">
            <a:avLst/>
          </a:prstGeom>
          <a:noFill/>
        </p:spPr>
        <p:txBody>
          <a:bodyPr wrap="square">
            <a:spAutoFit/>
          </a:bodyPr>
          <a:lstStyle/>
          <a:p>
            <a:pPr algn="l"/>
            <a:r>
              <a:rPr lang="en-US" altLang="zh-CN" sz="2400" b="1" i="0" dirty="0">
                <a:effectLst/>
                <a:latin typeface="仿宋" panose="02010609060101010101" pitchFamily="49" charset="-122"/>
                <a:ea typeface="仿宋" panose="02010609060101010101" pitchFamily="49" charset="-122"/>
              </a:rPr>
              <a:t>5.</a:t>
            </a:r>
            <a:r>
              <a:rPr lang="zh-CN" altLang="en-US" sz="2400" b="1" i="0" dirty="0">
                <a:effectLst/>
                <a:latin typeface="仿宋" panose="02010609060101010101" pitchFamily="49" charset="-122"/>
                <a:ea typeface="仿宋" panose="02010609060101010101" pitchFamily="49" charset="-122"/>
              </a:rPr>
              <a:t>特殊类型的亨廷顿病</a:t>
            </a:r>
            <a:r>
              <a:rPr lang="zh-CN" altLang="en-US" sz="2400" b="0" i="0" dirty="0">
                <a:effectLst/>
                <a:latin typeface="仿宋" panose="02010609060101010101" pitchFamily="49" charset="-122"/>
                <a:ea typeface="仿宋" panose="02010609060101010101" pitchFamily="49" charset="-122"/>
              </a:rPr>
              <a:t>：</a:t>
            </a:r>
            <a:endParaRPr lang="en-US" altLang="zh-CN" sz="2400" b="0" i="0" dirty="0">
              <a:effectLst/>
              <a:latin typeface="仿宋" panose="02010609060101010101" pitchFamily="49" charset="-122"/>
              <a:ea typeface="仿宋" panose="02010609060101010101" pitchFamily="49" charset="-122"/>
            </a:endParaRPr>
          </a:p>
          <a:p>
            <a:pPr algn="l"/>
            <a:endParaRPr lang="en-US" altLang="zh-CN" sz="2400" dirty="0">
              <a:latin typeface="仿宋" panose="02010609060101010101" pitchFamily="49" charset="-122"/>
              <a:ea typeface="仿宋" panose="02010609060101010101" pitchFamily="49" charset="-122"/>
            </a:endParaRPr>
          </a:p>
          <a:p>
            <a:pPr algn="l"/>
            <a:r>
              <a:rPr lang="zh-CN" altLang="en-US" sz="2400" b="1" i="0" dirty="0">
                <a:effectLst/>
                <a:latin typeface="仿宋" panose="02010609060101010101" pitchFamily="49" charset="-122"/>
                <a:ea typeface="仿宋" panose="02010609060101010101" pitchFamily="49" charset="-122"/>
              </a:rPr>
              <a:t>青少年型亨廷顿病</a:t>
            </a:r>
            <a:r>
              <a:rPr lang="zh-CN" altLang="en-US" sz="2400" b="0" i="0" dirty="0">
                <a:effectLst/>
                <a:latin typeface="仿宋" panose="02010609060101010101" pitchFamily="49" charset="-122"/>
                <a:ea typeface="仿宋" panose="02010609060101010101" pitchFamily="49" charset="-122"/>
              </a:rPr>
              <a:t>表现在年轻人中，发病和进展与成人略有不同。病程早期可能出现的症状包括：</a:t>
            </a:r>
            <a:endParaRPr lang="en-US" altLang="zh-CN"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a:p>
            <a:pPr algn="l"/>
            <a:r>
              <a:rPr lang="zh-CN" altLang="en-US" sz="2400" b="0" i="0" dirty="0">
                <a:effectLst/>
                <a:latin typeface="仿宋" panose="02010609060101010101" pitchFamily="49" charset="-122"/>
                <a:ea typeface="仿宋" panose="02010609060101010101" pitchFamily="49" charset="-122"/>
              </a:rPr>
              <a:t>行为改变</a:t>
            </a:r>
            <a:r>
              <a:rPr lang="en-US" altLang="zh-CN" sz="2400" b="0" i="0" dirty="0">
                <a:effectLst/>
                <a:latin typeface="仿宋" panose="02010609060101010101" pitchFamily="49" charset="-122"/>
                <a:ea typeface="仿宋" panose="02010609060101010101" pitchFamily="49" charset="-122"/>
              </a:rPr>
              <a:t>:</a:t>
            </a:r>
            <a:r>
              <a:rPr lang="zh-CN" altLang="en-US" sz="2400" b="0" i="0" dirty="0">
                <a:effectLst/>
                <a:latin typeface="仿宋" panose="02010609060101010101" pitchFamily="49" charset="-122"/>
                <a:ea typeface="仿宋" panose="02010609060101010101" pitchFamily="49" charset="-122"/>
              </a:rPr>
              <a:t>注意力不集中。整体学习成绩突然下降。行为问题，例如攻击性或破坏性。</a:t>
            </a:r>
            <a:endParaRPr lang="en-US" altLang="zh-CN" sz="2400" b="0" i="0" dirty="0">
              <a:effectLst/>
              <a:latin typeface="仿宋" panose="02010609060101010101" pitchFamily="49" charset="-122"/>
              <a:ea typeface="仿宋" panose="02010609060101010101" pitchFamily="49" charset="-122"/>
            </a:endParaRPr>
          </a:p>
          <a:p>
            <a:pPr algn="l"/>
            <a:endParaRPr lang="zh-CN" altLang="en-US" sz="2400" b="0" i="0" dirty="0">
              <a:effectLst/>
              <a:latin typeface="仿宋" panose="02010609060101010101" pitchFamily="49" charset="-122"/>
              <a:ea typeface="仿宋" panose="02010609060101010101" pitchFamily="49" charset="-122"/>
            </a:endParaRPr>
          </a:p>
          <a:p>
            <a:pPr algn="l"/>
            <a:r>
              <a:rPr lang="zh-CN" altLang="en-US" sz="2400" b="0" i="0" dirty="0">
                <a:effectLst/>
                <a:latin typeface="仿宋" panose="02010609060101010101" pitchFamily="49" charset="-122"/>
                <a:ea typeface="仿宋" panose="02010609060101010101" pitchFamily="49" charset="-122"/>
              </a:rPr>
              <a:t>物理变化</a:t>
            </a:r>
            <a:r>
              <a:rPr lang="en-US" altLang="zh-CN" sz="2400" b="0" i="0" dirty="0">
                <a:effectLst/>
                <a:latin typeface="仿宋" panose="02010609060101010101" pitchFamily="49" charset="-122"/>
                <a:ea typeface="仿宋" panose="02010609060101010101" pitchFamily="49" charset="-122"/>
              </a:rPr>
              <a:t>:</a:t>
            </a:r>
            <a:r>
              <a:rPr lang="zh-CN" altLang="en-US" sz="2400" b="0" i="0" dirty="0">
                <a:effectLst/>
                <a:latin typeface="仿宋" panose="02010609060101010101" pitchFamily="49" charset="-122"/>
                <a:ea typeface="仿宋" panose="02010609060101010101" pitchFamily="49" charset="-122"/>
              </a:rPr>
              <a:t>影响行走的肌肉收缩和僵硬，尤其是在幼儿中。无法控制的轻微运动，称为震颤。经常跌倒或笨拙。癫痫发作</a:t>
            </a:r>
            <a:r>
              <a:rPr lang="en-US" altLang="zh-CN" sz="2400" dirty="0">
                <a:latin typeface="仿宋" panose="02010609060101010101" pitchFamily="49" charset="-122"/>
                <a:ea typeface="仿宋" panose="02010609060101010101" pitchFamily="49" charset="-122"/>
              </a:rPr>
              <a:t>,</a:t>
            </a:r>
            <a:r>
              <a:rPr lang="zh-CN" altLang="en-US" sz="2400" b="0" i="0" dirty="0">
                <a:effectLst/>
                <a:latin typeface="仿宋" panose="02010609060101010101" pitchFamily="49" charset="-122"/>
                <a:ea typeface="仿宋" panose="02010609060101010101" pitchFamily="49" charset="-122"/>
              </a:rPr>
              <a:t>肌张力障碍、抽动障碍、共济失调、肌阵挛、肌强直、运动迟缓及癫痫发作等，而舞蹈样动作在疾病早期并不常见。</a:t>
            </a:r>
            <a:endParaRPr lang="en-US" altLang="zh-CN" sz="2400" b="0" i="0" dirty="0">
              <a:effectLst/>
              <a:latin typeface="仿宋" panose="02010609060101010101" pitchFamily="49" charset="-122"/>
              <a:ea typeface="仿宋" panose="02010609060101010101" pitchFamily="49" charset="-122"/>
            </a:endParaRPr>
          </a:p>
          <a:p>
            <a:pPr algn="l"/>
            <a:endParaRPr lang="en-US" altLang="zh-CN" sz="2400" dirty="0">
              <a:latin typeface="仿宋" panose="02010609060101010101" pitchFamily="49" charset="-122"/>
              <a:ea typeface="仿宋" panose="02010609060101010101" pitchFamily="49" charset="-122"/>
            </a:endParaRPr>
          </a:p>
          <a:p>
            <a:pPr algn="l"/>
            <a:r>
              <a:rPr lang="zh-CN" altLang="en-US" sz="2400" b="1" i="0" dirty="0">
                <a:effectLst/>
                <a:latin typeface="仿宋" panose="02010609060101010101" pitchFamily="49" charset="-122"/>
                <a:ea typeface="仿宋" panose="02010609060101010101" pitchFamily="49" charset="-122"/>
              </a:rPr>
              <a:t>老年型亨廷顿病</a:t>
            </a:r>
            <a:r>
              <a:rPr lang="zh-CN" altLang="en-US" sz="2400" b="0" i="0" dirty="0">
                <a:effectLst/>
                <a:latin typeface="仿宋" panose="02010609060101010101" pitchFamily="49" charset="-122"/>
                <a:ea typeface="仿宋" panose="02010609060101010101" pitchFamily="49" charset="-122"/>
              </a:rPr>
              <a:t>起病症状比较单一，以舞蹈样动作为主，病程进展与成年型亨廷顿病无明显差异，但生存年限较短。</a:t>
            </a:r>
            <a:endParaRPr lang="zh-CN" altLang="en-US" sz="2400" b="0" i="0" dirty="0">
              <a:effectLst/>
              <a:latin typeface="仿宋" panose="02010609060101010101" pitchFamily="49" charset="-122"/>
              <a:ea typeface="仿宋" panose="02010609060101010101" pitchFamily="49" charset="-122"/>
            </a:endParaRPr>
          </a:p>
        </p:txBody>
      </p:sp>
      <p:pic>
        <p:nvPicPr>
          <p:cNvPr id="2" name="图片 1"/>
          <p:cNvPicPr>
            <a:picLocks noChangeAspect="1"/>
          </p:cNvPicPr>
          <p:nvPr/>
        </p:nvPicPr>
        <p:blipFill>
          <a:blip r:embed="rId1"/>
          <a:stretch>
            <a:fillRect/>
          </a:stretch>
        </p:blipFill>
        <p:spPr>
          <a:xfrm>
            <a:off x="0" y="0"/>
            <a:ext cx="4586514" cy="458651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1" y="9979"/>
            <a:ext cx="5892800" cy="2813200"/>
          </a:xfrm>
        </p:spPr>
        <p:txBody>
          <a:bodyPr>
            <a:normAutofit/>
          </a:bodyPr>
          <a:lstStyle/>
          <a:p>
            <a:pPr marL="0" indent="0">
              <a:buNone/>
            </a:pPr>
            <a:endParaRPr lang="en-US" altLang="zh-CN" sz="2000" dirty="0">
              <a:latin typeface="仿宋" panose="02010609060101010101" pitchFamily="49" charset="-122"/>
              <a:ea typeface="仿宋" panose="02010609060101010101" pitchFamily="49" charset="-122"/>
            </a:endParaRPr>
          </a:p>
          <a:p>
            <a:pPr marL="0" indent="0">
              <a:buNone/>
            </a:pPr>
            <a:endParaRPr lang="en-US" altLang="zh-CN" sz="2000" dirty="0">
              <a:latin typeface="仿宋" panose="02010609060101010101" pitchFamily="49" charset="-122"/>
              <a:ea typeface="仿宋" panose="02010609060101010101" pitchFamily="49" charset="-122"/>
            </a:endParaRPr>
          </a:p>
          <a:p>
            <a:pPr marL="0" indent="0">
              <a:buNone/>
            </a:pPr>
            <a:endParaRPr lang="en-US" altLang="zh-CN" sz="2000" dirty="0">
              <a:latin typeface="仿宋" panose="02010609060101010101" pitchFamily="49" charset="-122"/>
              <a:ea typeface="仿宋" panose="02010609060101010101" pitchFamily="49" charset="-122"/>
            </a:endParaRPr>
          </a:p>
          <a:p>
            <a:r>
              <a:rPr lang="en-US" altLang="zh-CN" sz="2000" dirty="0">
                <a:latin typeface="仿宋" panose="02010609060101010101" pitchFamily="49" charset="-122"/>
                <a:ea typeface="仿宋" panose="02010609060101010101" pitchFamily="49" charset="-122"/>
              </a:rPr>
              <a:t>【</a:t>
            </a:r>
            <a:r>
              <a:rPr lang="zh-CN" altLang="en-US" sz="2000" dirty="0">
                <a:latin typeface="仿宋" panose="02010609060101010101" pitchFamily="49" charset="-122"/>
                <a:ea typeface="仿宋" panose="02010609060101010101" pitchFamily="49" charset="-122"/>
              </a:rPr>
              <a:t>亨廷顿舞蹈症</a:t>
            </a:r>
            <a:r>
              <a:rPr lang="en-US" altLang="zh-CN" sz="2000" dirty="0">
                <a:latin typeface="仿宋" panose="02010609060101010101" pitchFamily="49" charset="-122"/>
                <a:ea typeface="仿宋" panose="02010609060101010101" pitchFamily="49" charset="-122"/>
              </a:rPr>
              <a:t>】 </a:t>
            </a:r>
            <a:r>
              <a:rPr lang="en-US" altLang="zh-CN" sz="2000" dirty="0">
                <a:latin typeface="仿宋" panose="02010609060101010101" pitchFamily="49" charset="-122"/>
                <a:ea typeface="仿宋" panose="02010609060101010101" pitchFamily="49" charset="-122"/>
                <a:hlinkClick r:id="rId1"/>
              </a:rPr>
              <a:t>https://www.bilibili.com/video/BV1124y1u78S/?share_source=copy_web</a:t>
            </a:r>
            <a:r>
              <a:rPr lang="en-US" altLang="zh-CN" sz="2000" dirty="0">
                <a:latin typeface="仿宋" panose="02010609060101010101" pitchFamily="49" charset="-122"/>
                <a:ea typeface="仿宋" panose="02010609060101010101" pitchFamily="49" charset="-122"/>
              </a:rPr>
              <a:t> </a:t>
            </a:r>
            <a:endParaRPr lang="en-US" altLang="zh-CN" sz="2000" dirty="0">
              <a:latin typeface="仿宋" panose="02010609060101010101" pitchFamily="49" charset="-122"/>
              <a:ea typeface="仿宋" panose="02010609060101010101" pitchFamily="49" charset="-122"/>
            </a:endParaRPr>
          </a:p>
          <a:p>
            <a:endParaRPr lang="en-US" altLang="zh-CN" sz="2000" dirty="0">
              <a:latin typeface="仿宋" panose="02010609060101010101" pitchFamily="49" charset="-122"/>
              <a:ea typeface="仿宋" panose="02010609060101010101" pitchFamily="49" charset="-122"/>
            </a:endParaRPr>
          </a:p>
        </p:txBody>
      </p:sp>
      <p:pic>
        <p:nvPicPr>
          <p:cNvPr id="5" name="图片 4"/>
          <p:cNvPicPr>
            <a:picLocks noChangeAspect="1"/>
          </p:cNvPicPr>
          <p:nvPr/>
        </p:nvPicPr>
        <p:blipFill>
          <a:blip r:embed="rId2"/>
          <a:stretch>
            <a:fillRect/>
          </a:stretch>
        </p:blipFill>
        <p:spPr>
          <a:xfrm>
            <a:off x="499745" y="505460"/>
            <a:ext cx="4387215" cy="2444750"/>
          </a:xfrm>
          <a:prstGeom prst="rect">
            <a:avLst/>
          </a:prstGeom>
        </p:spPr>
      </p:pic>
      <p:pic>
        <p:nvPicPr>
          <p:cNvPr id="6" name="图片 5"/>
          <p:cNvPicPr>
            <a:picLocks noChangeAspect="1"/>
          </p:cNvPicPr>
          <p:nvPr/>
        </p:nvPicPr>
        <p:blipFill>
          <a:blip r:embed="rId3"/>
          <a:stretch>
            <a:fillRect/>
          </a:stretch>
        </p:blipFill>
        <p:spPr>
          <a:xfrm>
            <a:off x="6887029" y="2879244"/>
            <a:ext cx="4471309" cy="2430786"/>
          </a:xfrm>
          <a:prstGeom prst="rect">
            <a:avLst/>
          </a:prstGeom>
        </p:spPr>
      </p:pic>
      <p:sp>
        <p:nvSpPr>
          <p:cNvPr id="8" name="文本框 7"/>
          <p:cNvSpPr txBox="1"/>
          <p:nvPr/>
        </p:nvSpPr>
        <p:spPr>
          <a:xfrm>
            <a:off x="323395" y="3543331"/>
            <a:ext cx="5791200" cy="2286635"/>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a:t>
            </a:r>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患有青少年亨廷顿氏舞蹈症</a:t>
            </a:r>
            <a:r>
              <a:rPr kumimoji="0" lang="en-US" altLang="zh-CN"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 </a:t>
            </a:r>
            <a:r>
              <a:rPr kumimoji="0" lang="en-US" altLang="zh-CN"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hlinkClick r:id="rId4"/>
              </a:rPr>
              <a:t>https://www.bilibili.com/video/BV1Q5411E7jj/?share_source=copy_web</a:t>
            </a:r>
            <a:endParaRPr kumimoji="0" lang="en-US" altLang="zh-CN"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a:t>
            </a:r>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一条</a:t>
            </a:r>
            <a:r>
              <a:rPr kumimoji="0" lang="en-US" altLang="zh-CN"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a:t>
            </a:r>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这个遗传病，夺走了我家</a:t>
            </a:r>
            <a:r>
              <a:rPr kumimoji="0" lang="en-US" altLang="zh-CN"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7</a:t>
            </a:r>
            <a:r>
              <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口人的性命</a:t>
            </a:r>
            <a:r>
              <a:rPr kumimoji="0" lang="en-US" altLang="zh-CN"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 </a:t>
            </a:r>
            <a:r>
              <a:rPr kumimoji="0" lang="en-US" altLang="zh-CN"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hlinkClick r:id="rId5"/>
              </a:rPr>
              <a:t>https://www.bilibili.com/video/BV17x411k7uz/?share_source=copy_web</a:t>
            </a:r>
            <a:r>
              <a:rPr kumimoji="0" lang="en-US" altLang="zh-CN"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rPr>
              <a:t> </a:t>
            </a:r>
            <a:endParaRPr kumimoji="0" lang="zh-CN" altLang="en-US" sz="2000" b="0" i="0" u="none" strike="noStrike" kern="1200" cap="none" spc="0" normalizeH="0" baseline="0" noProof="0" dirty="0">
              <a:ln>
                <a:noFill/>
              </a:ln>
              <a:solidFill>
                <a:prstClr val="black"/>
              </a:solidFill>
              <a:effectLst/>
              <a:uLnTx/>
              <a:uFillTx/>
              <a:latin typeface="仿宋" panose="02010609060101010101" pitchFamily="49" charset="-122"/>
              <a:ea typeface="仿宋" panose="02010609060101010101" pitchFamily="49"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private/var/folders/yy/k9vbpjvs50n3dskbszjx5l8r0000gn/T/com.kingsoft.wpsoffice.mac/picturecompress_20230330124548/output_1.pngoutput_1"/>
          <p:cNvPicPr>
            <a:picLocks noChangeAspect="1"/>
          </p:cNvPicPr>
          <p:nvPr/>
        </p:nvPicPr>
        <p:blipFill>
          <a:blip r:embed="rId1"/>
          <a:stretch>
            <a:fillRect/>
          </a:stretch>
        </p:blipFill>
        <p:spPr>
          <a:xfrm rot="9987662" flipV="1">
            <a:off x="3036845" y="-622082"/>
            <a:ext cx="5159847" cy="4757850"/>
          </a:xfrm>
          <a:prstGeom prst="rect">
            <a:avLst/>
          </a:prstGeom>
        </p:spPr>
      </p:pic>
      <p:pic>
        <p:nvPicPr>
          <p:cNvPr id="4" name="图片 3"/>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21904" y="294441"/>
            <a:ext cx="4187689" cy="6281533"/>
          </a:xfrm>
          <a:custGeom>
            <a:avLst/>
            <a:gdLst/>
            <a:ahLst/>
            <a:cxnLst/>
            <a:rect l="l" t="t" r="r" b="b"/>
            <a:pathLst>
              <a:path w="3099034" h="5022358">
                <a:moveTo>
                  <a:pt x="1489025" y="1144688"/>
                </a:moveTo>
                <a:lnTo>
                  <a:pt x="935294" y="3282060"/>
                </a:lnTo>
                <a:lnTo>
                  <a:pt x="1489025" y="3282060"/>
                </a:lnTo>
                <a:close/>
                <a:moveTo>
                  <a:pt x="1082645" y="0"/>
                </a:moveTo>
                <a:lnTo>
                  <a:pt x="2742288" y="0"/>
                </a:lnTo>
                <a:lnTo>
                  <a:pt x="2742288" y="3282060"/>
                </a:lnTo>
                <a:lnTo>
                  <a:pt x="3099034" y="3282060"/>
                </a:lnTo>
                <a:lnTo>
                  <a:pt x="3099034" y="4138249"/>
                </a:lnTo>
                <a:lnTo>
                  <a:pt x="2742288" y="4138249"/>
                </a:lnTo>
                <a:lnTo>
                  <a:pt x="2742288" y="5022358"/>
                </a:lnTo>
                <a:lnTo>
                  <a:pt x="1489025" y="5022358"/>
                </a:lnTo>
                <a:lnTo>
                  <a:pt x="1489025" y="4138249"/>
                </a:lnTo>
                <a:lnTo>
                  <a:pt x="0" y="4138249"/>
                </a:lnTo>
                <a:lnTo>
                  <a:pt x="0" y="3282060"/>
                </a:lnTo>
                <a:close/>
              </a:path>
            </a:pathLst>
          </a:custGeom>
          <a:noFill/>
          <a:effectLst>
            <a:outerShdw blurRad="50800" dist="50800" dir="5400000" algn="ctr" rotWithShape="0">
              <a:srgbClr val="CB4845"/>
            </a:outerShdw>
          </a:effectLst>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6007274" y="1967715"/>
            <a:ext cx="4707144" cy="706755"/>
          </a:xfrm>
          <a:prstGeom prst="rect">
            <a:avLst/>
          </a:prstGeom>
          <a:noFill/>
        </p:spPr>
        <p:txBody>
          <a:bodyPr wrap="square" rtlCol="0">
            <a:spAutoFit/>
          </a:bodyPr>
          <a:lstStyle>
            <a:defPPr>
              <a:defRPr lang="zh-CN"/>
            </a:defPPr>
            <a:lvl1pPr>
              <a:defRPr sz="4000" spc="100">
                <a:solidFill>
                  <a:schemeClr val="tx1">
                    <a:lumMod val="85000"/>
                    <a:lumOff val="15000"/>
                  </a:schemeClr>
                </a:solidFill>
                <a:latin typeface="思源黑体 CN Bold" panose="020B0800000000000000" pitchFamily="34" charset="-122"/>
                <a:ea typeface="思源黑体 CN Bold" panose="020B0800000000000000" pitchFamily="34" charset="-122"/>
              </a:defRPr>
            </a:lvl1pPr>
          </a:lstStyle>
          <a:p>
            <a:r>
              <a:rPr lang="zh-CN" altLang="en-US"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疾病</a:t>
            </a:r>
            <a:r>
              <a:rPr lang="zh-CN" altLang="en-US"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治疗</a:t>
            </a:r>
            <a:endParaRPr lang="zh-CN" altLang="en-US"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sp>
        <p:nvSpPr>
          <p:cNvPr id="7" name="文本框 6"/>
          <p:cNvSpPr txBox="1"/>
          <p:nvPr/>
        </p:nvSpPr>
        <p:spPr>
          <a:xfrm>
            <a:off x="6021788" y="2575516"/>
            <a:ext cx="3473430" cy="368300"/>
          </a:xfrm>
          <a:prstGeom prst="rect">
            <a:avLst/>
          </a:prstGeom>
          <a:noFill/>
        </p:spPr>
        <p:txBody>
          <a:bodyPr wrap="square" rtlCol="0">
            <a:spAutoFit/>
          </a:bodyPr>
          <a:lstStyle/>
          <a:p>
            <a:r>
              <a:rPr lang="en-US" altLang="zh-CN" spc="100" dirty="0">
                <a:solidFill>
                  <a:schemeClr val="tx1">
                    <a:lumMod val="75000"/>
                    <a:lumOff val="25000"/>
                    <a:alpha val="63000"/>
                  </a:schemeClr>
                </a:solidFill>
                <a:latin typeface="微软雅黑" panose="020B0503020204020204" pitchFamily="34" charset="-122"/>
                <a:ea typeface="微软雅黑" panose="020B0503020204020204" pitchFamily="34" charset="-122"/>
              </a:rPr>
              <a:t>Disease treatment</a:t>
            </a:r>
            <a:endParaRPr lang="en-US" altLang="zh-CN" spc="100" dirty="0">
              <a:solidFill>
                <a:schemeClr val="tx1">
                  <a:lumMod val="75000"/>
                  <a:lumOff val="25000"/>
                  <a:alpha val="63000"/>
                </a:schemeClr>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H="1">
            <a:off x="6107241" y="3063307"/>
            <a:ext cx="3909240" cy="0"/>
          </a:xfrm>
          <a:prstGeom prst="line">
            <a:avLst/>
          </a:prstGeom>
          <a:ln w="12700">
            <a:gradFill flip="none" rotWithShape="1">
              <a:gsLst>
                <a:gs pos="100000">
                  <a:schemeClr val="accent1">
                    <a:lumMod val="75000"/>
                  </a:schemeClr>
                </a:gs>
                <a:gs pos="0">
                  <a:srgbClr val="821A1A">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6124743" y="1626215"/>
            <a:ext cx="1207842" cy="338555"/>
            <a:chOff x="1477297" y="1791315"/>
            <a:chExt cx="1207842" cy="338555"/>
          </a:xfrm>
        </p:grpSpPr>
        <p:sp>
          <p:nvSpPr>
            <p:cNvPr id="10" name="矩形: 圆角 9"/>
            <p:cNvSpPr/>
            <p:nvPr/>
          </p:nvSpPr>
          <p:spPr>
            <a:xfrm>
              <a:off x="1477297" y="1791315"/>
              <a:ext cx="1207842" cy="338555"/>
            </a:xfrm>
            <a:prstGeom prst="roundRect">
              <a:avLst>
                <a:gd name="adj" fmla="val 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a:p>
          </p:txBody>
        </p:sp>
        <p:pic>
          <p:nvPicPr>
            <p:cNvPr id="11" name="图片 10"/>
            <p:cNvPicPr>
              <a:picLocks noChangeAspect="1"/>
            </p:cNvPicPr>
            <p:nvPr/>
          </p:nvPicPr>
          <p:blipFill rotWithShape="1">
            <a:blip r:embed="rId3" cstate="screen">
              <a:alphaModFix amt="35000"/>
            </a:blip>
            <a:srcRect t="-717"/>
            <a:stretch>
              <a:fillRect/>
            </a:stretch>
          </p:blipFill>
          <p:spPr>
            <a:xfrm rot="5400000">
              <a:off x="1911941" y="1356671"/>
              <a:ext cx="338554" cy="1207842"/>
            </a:xfrm>
            <a:prstGeom prst="rect">
              <a:avLst/>
            </a:prstGeom>
            <a:effectLst/>
          </p:spPr>
        </p:pic>
      </p:grpSp>
      <p:sp>
        <p:nvSpPr>
          <p:cNvPr id="12" name="文本框 11"/>
          <p:cNvSpPr txBox="1"/>
          <p:nvPr/>
        </p:nvSpPr>
        <p:spPr>
          <a:xfrm>
            <a:off x="6128895" y="1626215"/>
            <a:ext cx="1203690" cy="338554"/>
          </a:xfrm>
          <a:prstGeom prst="rect">
            <a:avLst/>
          </a:prstGeom>
          <a:noFill/>
        </p:spPr>
        <p:txBody>
          <a:bodyPr wrap="square" rtlCol="0">
            <a:spAutoFit/>
          </a:bodyPr>
          <a:lstStyle/>
          <a:p>
            <a:pPr algn="ctr"/>
            <a:r>
              <a:rPr lang="zh-CN" altLang="en-US" sz="1600" b="1" spc="100" dirty="0">
                <a:solidFill>
                  <a:schemeClr val="bg1"/>
                </a:solidFill>
                <a:latin typeface="微软雅黑" panose="020B0503020204020204" pitchFamily="34" charset="-122"/>
                <a:ea typeface="微软雅黑" panose="020B0503020204020204" pitchFamily="34" charset="-122"/>
              </a:rPr>
              <a:t>第四部分</a:t>
            </a:r>
            <a:endParaRPr lang="zh-CN" altLang="en-US" sz="1600" b="1" spc="100" dirty="0">
              <a:solidFill>
                <a:schemeClr val="bg1"/>
              </a:solidFill>
              <a:latin typeface="微软雅黑" panose="020B0503020204020204" pitchFamily="34" charset="-122"/>
              <a:ea typeface="微软雅黑" panose="020B0503020204020204" pitchFamily="34" charset="-122"/>
            </a:endParaRPr>
          </a:p>
        </p:txBody>
      </p:sp>
      <p:pic>
        <p:nvPicPr>
          <p:cNvPr id="13" name="图片 12" descr="徽标&#10;&#10;描述已自动生成"/>
          <p:cNvPicPr>
            <a:picLocks noChangeAspect="1"/>
          </p:cNvPicPr>
          <p:nvPr/>
        </p:nvPicPr>
        <p:blipFill>
          <a:blip r:embed="rId4">
            <a:extLst>
              <a:ext uri="{28A0092B-C50C-407E-A947-70E740481C1C}">
                <a14:useLocalDpi xmlns:a14="http://schemas.microsoft.com/office/drawing/2010/main" val="0"/>
              </a:ext>
            </a:extLst>
          </a:blip>
          <a:srcRect t="13412" r="45166" b="17638"/>
          <a:stretch>
            <a:fillRect/>
          </a:stretch>
        </p:blipFill>
        <p:spPr>
          <a:xfrm>
            <a:off x="2420718" y="3725491"/>
            <a:ext cx="1089364" cy="1369662"/>
          </a:xfrm>
          <a:prstGeom prst="rect">
            <a:avLst/>
          </a:prstGeom>
        </p:spPr>
      </p:pic>
      <p:pic>
        <p:nvPicPr>
          <p:cNvPr id="15" name="图片 14" descr="/private/var/folders/yy/k9vbpjvs50n3dskbszjx5l8r0000gn/T/com.kingsoft.wpsoffice.mac/photoedit2/20230330085317/temp.pngtemp"/>
          <p:cNvPicPr>
            <a:picLocks noChangeAspect="1"/>
          </p:cNvPicPr>
          <p:nvPr/>
        </p:nvPicPr>
        <p:blipFill rotWithShape="1">
          <a:blip r:embed="rId5"/>
          <a:srcRect r="62275"/>
          <a:stretch>
            <a:fillRect/>
          </a:stretch>
        </p:blipFill>
        <p:spPr>
          <a:xfrm>
            <a:off x="2303457" y="4767428"/>
            <a:ext cx="1323887" cy="711426"/>
          </a:xfrm>
          <a:prstGeom prst="rect">
            <a:avLst/>
          </a:prstGeom>
        </p:spPr>
      </p:pic>
      <p:pic>
        <p:nvPicPr>
          <p:cNvPr id="17" name="图片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80758" y="5777467"/>
            <a:ext cx="1020105" cy="576581"/>
          </a:xfrm>
          <a:prstGeom prst="rect">
            <a:avLst/>
          </a:prstGeom>
        </p:spPr>
      </p:pic>
      <p:pic>
        <p:nvPicPr>
          <p:cNvPr id="18" name="图片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0249" y="5772485"/>
            <a:ext cx="1063171" cy="581563"/>
          </a:xfrm>
          <a:prstGeom prst="rect">
            <a:avLst/>
          </a:prstGeom>
        </p:spPr>
      </p:pic>
      <p:pic>
        <p:nvPicPr>
          <p:cNvPr id="19" name="图片 18" descr="图片包含 图示&#10;&#10;描述已自动生成"/>
          <p:cNvPicPr>
            <a:picLocks noChangeAspect="1"/>
          </p:cNvPicPr>
          <p:nvPr/>
        </p:nvPicPr>
        <p:blipFill rotWithShape="1">
          <a:blip r:embed="rId8" cstate="print">
            <a:extLst>
              <a:ext uri="{28A0092B-C50C-407E-A947-70E740481C1C}">
                <a14:useLocalDpi xmlns:a14="http://schemas.microsoft.com/office/drawing/2010/main" val="0"/>
              </a:ext>
            </a:extLst>
          </a:blip>
          <a:srcRect l="5222" t="67459" r="6526"/>
          <a:stretch>
            <a:fillRect/>
          </a:stretch>
        </p:blipFill>
        <p:spPr>
          <a:xfrm>
            <a:off x="2820670" y="5999480"/>
            <a:ext cx="9557385" cy="11760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l="-2005" t="66878" r="2005" b="-62871"/>
          <a:stretch>
            <a:fillRect/>
          </a:stretch>
        </p:blipFill>
        <p:spPr>
          <a:xfrm>
            <a:off x="-279007" y="0"/>
            <a:ext cx="12436929" cy="2310108"/>
          </a:xfrm>
          <a:prstGeom prst="rect">
            <a:avLst/>
          </a:prstGeom>
        </p:spPr>
      </p:pic>
      <p:sp>
        <p:nvSpPr>
          <p:cNvPr id="7" name="文本框 6"/>
          <p:cNvSpPr txBox="1"/>
          <p:nvPr/>
        </p:nvSpPr>
        <p:spPr>
          <a:xfrm>
            <a:off x="480034" y="1370067"/>
            <a:ext cx="3157087" cy="460375"/>
          </a:xfrm>
          <a:prstGeom prst="rect">
            <a:avLst/>
          </a:prstGeom>
          <a:noFill/>
        </p:spPr>
        <p:txBody>
          <a:bodyPr wrap="square" rtlCol="0">
            <a:spAutoFit/>
          </a:bodyPr>
          <a:lstStyle/>
          <a:p>
            <a:r>
              <a:rPr lang="en-US" altLang="zh-CN"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3.1</a:t>
            </a:r>
            <a:r>
              <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治疗原则</a:t>
            </a:r>
            <a:endPar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863561" y="5974678"/>
            <a:ext cx="10361517" cy="859852"/>
            <a:chOff x="-2305032" y="5576765"/>
            <a:chExt cx="17784565" cy="1475854"/>
          </a:xfrm>
        </p:grpSpPr>
        <p:sp>
          <p:nvSpPr>
            <p:cNvPr id="24" name="任意多边形: 形状 6"/>
            <p:cNvSpPr/>
            <p:nvPr/>
          </p:nvSpPr>
          <p:spPr>
            <a:xfrm>
              <a:off x="3420609" y="6267956"/>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 name="任意多边形: 形状 7"/>
            <p:cNvSpPr/>
            <p:nvPr/>
          </p:nvSpPr>
          <p:spPr>
            <a:xfrm>
              <a:off x="6804716" y="5576765"/>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9"/>
            <p:cNvSpPr/>
            <p:nvPr/>
          </p:nvSpPr>
          <p:spPr>
            <a:xfrm>
              <a:off x="-2220266" y="5802471"/>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任意多边形: 形状 10"/>
            <p:cNvSpPr/>
            <p:nvPr/>
          </p:nvSpPr>
          <p:spPr>
            <a:xfrm>
              <a:off x="-2126607" y="5894547"/>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8" name="任意多边形: 形状 11"/>
            <p:cNvSpPr/>
            <p:nvPr/>
          </p:nvSpPr>
          <p:spPr>
            <a:xfrm>
              <a:off x="-2305032" y="6047539"/>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9" name="任意多边形: 形状 12"/>
            <p:cNvSpPr/>
            <p:nvPr/>
          </p:nvSpPr>
          <p:spPr>
            <a:xfrm>
              <a:off x="6659283" y="5699463"/>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任意多边形: 形状 13"/>
            <p:cNvSpPr/>
            <p:nvPr/>
          </p:nvSpPr>
          <p:spPr>
            <a:xfrm>
              <a:off x="3573184" y="6356225"/>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pic>
        <p:nvPicPr>
          <p:cNvPr id="31" name="图片 30"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rcRect t="13412" r="45166" b="17638"/>
          <a:stretch>
            <a:fillRect/>
          </a:stretch>
        </p:blipFill>
        <p:spPr>
          <a:xfrm>
            <a:off x="142513" y="-120075"/>
            <a:ext cx="785047" cy="987042"/>
          </a:xfrm>
          <a:prstGeom prst="rect">
            <a:avLst/>
          </a:prstGeom>
        </p:spPr>
      </p:pic>
      <p:pic>
        <p:nvPicPr>
          <p:cNvPr id="32" name="图片 31" descr="/private/var/folders/yy/k9vbpjvs50n3dskbszjx5l8r0000gn/T/com.kingsoft.wpsoffice.mac/photoedit2/20230330085317/temp.pngtemp"/>
          <p:cNvPicPr>
            <a:picLocks noChangeAspect="1"/>
          </p:cNvPicPr>
          <p:nvPr/>
        </p:nvPicPr>
        <p:blipFill rotWithShape="1">
          <a:blip r:embed="rId3"/>
          <a:srcRect l="1110" r="62900" b="9091"/>
          <a:stretch>
            <a:fillRect/>
          </a:stretch>
        </p:blipFill>
        <p:spPr>
          <a:xfrm>
            <a:off x="927963" y="-119986"/>
            <a:ext cx="1458647" cy="906365"/>
          </a:xfrm>
          <a:prstGeom prst="rect">
            <a:avLst/>
          </a:prstGeom>
        </p:spPr>
      </p:pic>
      <p:grpSp>
        <p:nvGrpSpPr>
          <p:cNvPr id="52" name="组合 51"/>
          <p:cNvGrpSpPr/>
          <p:nvPr/>
        </p:nvGrpSpPr>
        <p:grpSpPr>
          <a:xfrm>
            <a:off x="836060" y="1907300"/>
            <a:ext cx="9733926" cy="3932150"/>
            <a:chOff x="1261345" y="1640655"/>
            <a:chExt cx="9733926" cy="3932150"/>
          </a:xfrm>
        </p:grpSpPr>
        <p:sp>
          <p:nvSpPr>
            <p:cNvPr id="5" name="椭圆 4"/>
            <p:cNvSpPr/>
            <p:nvPr/>
          </p:nvSpPr>
          <p:spPr>
            <a:xfrm>
              <a:off x="1261345" y="1888599"/>
              <a:ext cx="1398607" cy="1398607"/>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r>
                <a:rPr lang="zh-CN" altLang="en-US" sz="2000" b="1" dirty="0">
                  <a:solidFill>
                    <a:srgbClr val="FFFFFF"/>
                  </a:solidFill>
                  <a:latin typeface="+mj-ea"/>
                  <a:ea typeface="+mj-ea"/>
                </a:rPr>
                <a:t>早期</a:t>
              </a:r>
              <a:endParaRPr lang="zh-CN" altLang="en-US" sz="2000" b="1" dirty="0">
                <a:solidFill>
                  <a:srgbClr val="FFFFFF"/>
                </a:solidFill>
                <a:latin typeface="+mj-ea"/>
                <a:ea typeface="+mj-ea"/>
              </a:endParaRPr>
            </a:p>
          </p:txBody>
        </p:sp>
        <p:cxnSp>
          <p:nvCxnSpPr>
            <p:cNvPr id="9" name="直接连接符 8"/>
            <p:cNvCxnSpPr/>
            <p:nvPr/>
          </p:nvCxnSpPr>
          <p:spPr>
            <a:xfrm>
              <a:off x="2656215" y="2168802"/>
              <a:ext cx="816530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3093432" y="2712884"/>
              <a:ext cx="1398607" cy="1398607"/>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r>
                <a:rPr lang="zh-CN" altLang="en-US" sz="2000" b="1" dirty="0">
                  <a:solidFill>
                    <a:srgbClr val="FFFFFF"/>
                  </a:solidFill>
                  <a:latin typeface="+mj-ea"/>
                  <a:ea typeface="+mj-ea"/>
                </a:rPr>
                <a:t>中期</a:t>
              </a:r>
              <a:endParaRPr lang="zh-CN" altLang="en-US" sz="2000" b="1" dirty="0">
                <a:solidFill>
                  <a:srgbClr val="FFFFFF"/>
                </a:solidFill>
                <a:latin typeface="+mj-ea"/>
                <a:ea typeface="+mj-ea"/>
              </a:endParaRPr>
            </a:p>
          </p:txBody>
        </p:sp>
        <p:grpSp>
          <p:nvGrpSpPr>
            <p:cNvPr id="33" name="组合 32"/>
            <p:cNvGrpSpPr/>
            <p:nvPr/>
          </p:nvGrpSpPr>
          <p:grpSpPr>
            <a:xfrm>
              <a:off x="1534395" y="3811059"/>
              <a:ext cx="1398607" cy="1398607"/>
              <a:chOff x="1534395" y="3811059"/>
              <a:chExt cx="1398607" cy="1398607"/>
            </a:xfrm>
          </p:grpSpPr>
          <p:sp>
            <p:nvSpPr>
              <p:cNvPr id="34" name="椭圆 33"/>
              <p:cNvSpPr/>
              <p:nvPr/>
            </p:nvSpPr>
            <p:spPr>
              <a:xfrm>
                <a:off x="1534395" y="3811059"/>
                <a:ext cx="1398607" cy="1398607"/>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latin typeface="+mj-ea"/>
                  <a:ea typeface="+mj-ea"/>
                </a:endParaRPr>
              </a:p>
            </p:txBody>
          </p:sp>
          <p:sp>
            <p:nvSpPr>
              <p:cNvPr id="35" name="矩形 34"/>
              <p:cNvSpPr/>
              <p:nvPr/>
            </p:nvSpPr>
            <p:spPr>
              <a:xfrm>
                <a:off x="1536263" y="4153237"/>
                <a:ext cx="1394870" cy="714251"/>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r>
                  <a:rPr lang="zh-CN" altLang="en-US" sz="2000" b="1" dirty="0">
                    <a:solidFill>
                      <a:srgbClr val="FFFFFF"/>
                    </a:solidFill>
                    <a:latin typeface="等线" panose="02010600030101010101" charset="-122"/>
                    <a:ea typeface="等线" panose="02010600030101010101" charset="-122"/>
                  </a:rPr>
                  <a:t>晚期</a:t>
                </a:r>
                <a:endParaRPr lang="zh-CN" altLang="en-US" sz="2000" b="1" dirty="0">
                  <a:solidFill>
                    <a:srgbClr val="FFFFFF"/>
                  </a:solidFill>
                  <a:latin typeface="等线" panose="02010600030101010101" charset="-122"/>
                  <a:ea typeface="等线" panose="02010600030101010101" charset="-122"/>
                </a:endParaRPr>
              </a:p>
            </p:txBody>
          </p:sp>
        </p:grpSp>
        <p:cxnSp>
          <p:nvCxnSpPr>
            <p:cNvPr id="36" name="直接连接符 35"/>
            <p:cNvCxnSpPr/>
            <p:nvPr/>
          </p:nvCxnSpPr>
          <p:spPr>
            <a:xfrm>
              <a:off x="2967990" y="4629521"/>
              <a:ext cx="785353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4659162" y="3399162"/>
              <a:ext cx="616235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8" name="图形 37" descr="箭头: 逆时针曲线 纯色填充"/>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4852867">
              <a:off x="2846801" y="3819204"/>
              <a:ext cx="539367" cy="539367"/>
            </a:xfrm>
            <a:prstGeom prst="rect">
              <a:avLst/>
            </a:prstGeom>
          </p:spPr>
        </p:pic>
        <p:grpSp>
          <p:nvGrpSpPr>
            <p:cNvPr id="39" name="组合 38"/>
            <p:cNvGrpSpPr/>
            <p:nvPr/>
          </p:nvGrpSpPr>
          <p:grpSpPr>
            <a:xfrm>
              <a:off x="6220257" y="1784958"/>
              <a:ext cx="4518788" cy="1002421"/>
              <a:chOff x="6220257" y="1784958"/>
              <a:chExt cx="4518788" cy="1002421"/>
            </a:xfrm>
          </p:grpSpPr>
          <p:sp>
            <p:nvSpPr>
              <p:cNvPr id="40" name="文本框 39"/>
              <p:cNvSpPr txBox="1"/>
              <p:nvPr/>
            </p:nvSpPr>
            <p:spPr>
              <a:xfrm>
                <a:off x="6220257" y="2173878"/>
                <a:ext cx="4518788" cy="613501"/>
              </a:xfrm>
              <a:prstGeom prst="rect">
                <a:avLst/>
              </a:prstGeom>
              <a:noFill/>
            </p:spPr>
            <p:txBody>
              <a:bodyPr wrap="square" lIns="0" tIns="0" rIns="0" bIns="0" rtlCol="0">
                <a:spAutoFit/>
              </a:bodyPr>
              <a:lstStyle/>
              <a:p>
                <a:pPr>
                  <a:lnSpc>
                    <a:spcPct val="150000"/>
                  </a:lnSpc>
                </a:pPr>
                <a:r>
                  <a:rPr lang="zh-CN" altLang="en-US" sz="1400" dirty="0">
                    <a:latin typeface="仿宋" panose="02010609060101010101" pitchFamily="49" charset="-122"/>
                    <a:ea typeface="仿宋" panose="02010609060101010101" pitchFamily="49" charset="-122"/>
                  </a:rPr>
                  <a:t>此期的重点在于心理教育和社会支持，帮助患者调整心态，接受患病事实，获得对疾病的清楚认识。</a:t>
                </a:r>
                <a:endParaRPr lang="zh-CN" altLang="en-US" sz="1400" dirty="0">
                  <a:latin typeface="仿宋" panose="02010609060101010101" pitchFamily="49" charset="-122"/>
                  <a:ea typeface="仿宋" panose="02010609060101010101" pitchFamily="49" charset="-122"/>
                </a:endParaRPr>
              </a:p>
            </p:txBody>
          </p:sp>
          <p:sp>
            <p:nvSpPr>
              <p:cNvPr id="41" name="文本框 40"/>
              <p:cNvSpPr txBox="1"/>
              <p:nvPr/>
            </p:nvSpPr>
            <p:spPr>
              <a:xfrm>
                <a:off x="6220257" y="1784958"/>
                <a:ext cx="2069985" cy="276999"/>
              </a:xfrm>
              <a:prstGeom prst="rect">
                <a:avLst/>
              </a:prstGeom>
              <a:noFill/>
            </p:spPr>
            <p:txBody>
              <a:bodyPr wrap="square" lIns="0" tIns="0" rIns="0" bIns="0" rtlCol="0">
                <a:spAutoFit/>
              </a:bodyPr>
              <a:lstStyle/>
              <a:p>
                <a:r>
                  <a:rPr lang="zh-CN" altLang="en-US" b="1" dirty="0">
                    <a:solidFill>
                      <a:srgbClr val="FF0000"/>
                    </a:solidFill>
                    <a:latin typeface="等线" panose="02010600030101010101" charset="-122"/>
                    <a:ea typeface="等线" panose="02010600030101010101" charset="-122"/>
                  </a:rPr>
                  <a:t>早期</a:t>
                </a:r>
                <a:endParaRPr lang="zh-CN" altLang="en-US" b="1" dirty="0">
                  <a:solidFill>
                    <a:srgbClr val="FF0000"/>
                  </a:solidFill>
                  <a:latin typeface="等线" panose="02010600030101010101" charset="-122"/>
                  <a:ea typeface="等线" panose="02010600030101010101" charset="-122"/>
                </a:endParaRPr>
              </a:p>
            </p:txBody>
          </p:sp>
        </p:grpSp>
        <p:grpSp>
          <p:nvGrpSpPr>
            <p:cNvPr id="42" name="组合 41"/>
            <p:cNvGrpSpPr/>
            <p:nvPr/>
          </p:nvGrpSpPr>
          <p:grpSpPr>
            <a:xfrm>
              <a:off x="6220257" y="3031376"/>
              <a:ext cx="4775014" cy="983351"/>
              <a:chOff x="6220257" y="3031376"/>
              <a:chExt cx="4775014" cy="983351"/>
            </a:xfrm>
          </p:grpSpPr>
          <p:sp>
            <p:nvSpPr>
              <p:cNvPr id="43" name="文本框 42"/>
              <p:cNvSpPr txBox="1"/>
              <p:nvPr/>
            </p:nvSpPr>
            <p:spPr>
              <a:xfrm>
                <a:off x="6220257" y="3405008"/>
                <a:ext cx="4775014" cy="609719"/>
              </a:xfrm>
              <a:prstGeom prst="rect">
                <a:avLst/>
              </a:prstGeom>
              <a:noFill/>
            </p:spPr>
            <p:txBody>
              <a:bodyPr wrap="square" lIns="0" tIns="0" rIns="0" bIns="0" rtlCol="0">
                <a:spAutoFit/>
              </a:bodyPr>
              <a:lstStyle/>
              <a:p>
                <a:pPr>
                  <a:lnSpc>
                    <a:spcPct val="150000"/>
                  </a:lnSpc>
                </a:pPr>
                <a:r>
                  <a:rPr lang="zh-CN" altLang="en-US" sz="1400" dirty="0">
                    <a:latin typeface="仿宋" panose="02010609060101010101" pitchFamily="49" charset="-122"/>
                    <a:ea typeface="仿宋" panose="02010609060101010101" pitchFamily="49" charset="-122"/>
                  </a:rPr>
                  <a:t>患者的运动障碍日益明显且影响生活，并开始出现人格与行为变化，须借助药物与非药物治疗控制运动与精神症状。</a:t>
                </a:r>
                <a:endParaRPr lang="zh-CN" altLang="en-US" sz="1400" dirty="0">
                  <a:latin typeface="仿宋" panose="02010609060101010101" pitchFamily="49" charset="-122"/>
                  <a:ea typeface="仿宋" panose="02010609060101010101" pitchFamily="49" charset="-122"/>
                </a:endParaRPr>
              </a:p>
            </p:txBody>
          </p:sp>
          <p:sp>
            <p:nvSpPr>
              <p:cNvPr id="44" name="文本框 43"/>
              <p:cNvSpPr txBox="1"/>
              <p:nvPr/>
            </p:nvSpPr>
            <p:spPr>
              <a:xfrm>
                <a:off x="6220257" y="3031376"/>
                <a:ext cx="2069985" cy="276999"/>
              </a:xfrm>
              <a:prstGeom prst="rect">
                <a:avLst/>
              </a:prstGeom>
              <a:noFill/>
            </p:spPr>
            <p:txBody>
              <a:bodyPr wrap="square" lIns="0" tIns="0" rIns="0" bIns="0" rtlCol="0">
                <a:spAutoFit/>
              </a:bodyPr>
              <a:lstStyle/>
              <a:p>
                <a:r>
                  <a:rPr lang="zh-CN" altLang="en-US" b="1" dirty="0">
                    <a:solidFill>
                      <a:srgbClr val="FF0000"/>
                    </a:solidFill>
                    <a:latin typeface="等线" panose="02010600030101010101" charset="-122"/>
                    <a:ea typeface="等线" panose="02010600030101010101" charset="-122"/>
                  </a:rPr>
                  <a:t>中期</a:t>
                </a:r>
                <a:endParaRPr lang="zh-CN" altLang="en-US" b="1" dirty="0">
                  <a:solidFill>
                    <a:srgbClr val="FF0000"/>
                  </a:solidFill>
                  <a:latin typeface="等线" panose="02010600030101010101" charset="-122"/>
                  <a:ea typeface="等线" panose="02010600030101010101" charset="-122"/>
                </a:endParaRPr>
              </a:p>
            </p:txBody>
          </p:sp>
        </p:grpSp>
        <p:grpSp>
          <p:nvGrpSpPr>
            <p:cNvPr id="45" name="组合 44"/>
            <p:cNvGrpSpPr/>
            <p:nvPr/>
          </p:nvGrpSpPr>
          <p:grpSpPr>
            <a:xfrm>
              <a:off x="6220257" y="4249358"/>
              <a:ext cx="4775014" cy="1323447"/>
              <a:chOff x="6220257" y="4249358"/>
              <a:chExt cx="4775014" cy="1323447"/>
            </a:xfrm>
          </p:grpSpPr>
          <p:sp>
            <p:nvSpPr>
              <p:cNvPr id="46" name="文本框 45"/>
              <p:cNvSpPr txBox="1"/>
              <p:nvPr/>
            </p:nvSpPr>
            <p:spPr>
              <a:xfrm>
                <a:off x="6220257" y="4636138"/>
                <a:ext cx="4775014" cy="936667"/>
              </a:xfrm>
              <a:prstGeom prst="rect">
                <a:avLst/>
              </a:prstGeom>
              <a:noFill/>
            </p:spPr>
            <p:txBody>
              <a:bodyPr wrap="square" lIns="0" tIns="0" rIns="0" bIns="0" rtlCol="0">
                <a:spAutoFit/>
              </a:bodyPr>
              <a:lstStyle/>
              <a:p>
                <a:pPr>
                  <a:lnSpc>
                    <a:spcPct val="150000"/>
                  </a:lnSpc>
                </a:pPr>
                <a:r>
                  <a:rPr lang="zh-CN" altLang="en-US" sz="1400" dirty="0">
                    <a:latin typeface="仿宋" panose="02010609060101010101" pitchFamily="49" charset="-122"/>
                    <a:ea typeface="仿宋" panose="02010609060101010101" pitchFamily="49" charset="-122"/>
                  </a:rPr>
                  <a:t>此期患者需要全面监护。由于舞蹈样症状减轻，应停用抗舞蹈病药物，以免加重运动迟缓等症状，可经验性应用抗抑郁药</a:t>
                </a:r>
                <a:endParaRPr lang="zh-CN" altLang="en-US" sz="1400" dirty="0">
                  <a:latin typeface="仿宋" panose="02010609060101010101" pitchFamily="49" charset="-122"/>
                  <a:ea typeface="仿宋" panose="02010609060101010101" pitchFamily="49" charset="-122"/>
                </a:endParaRPr>
              </a:p>
            </p:txBody>
          </p:sp>
          <p:sp>
            <p:nvSpPr>
              <p:cNvPr id="47" name="文本框 46"/>
              <p:cNvSpPr txBox="1"/>
              <p:nvPr/>
            </p:nvSpPr>
            <p:spPr>
              <a:xfrm>
                <a:off x="6220257" y="4249358"/>
                <a:ext cx="2069985" cy="276999"/>
              </a:xfrm>
              <a:prstGeom prst="rect">
                <a:avLst/>
              </a:prstGeom>
              <a:noFill/>
            </p:spPr>
            <p:txBody>
              <a:bodyPr wrap="square" lIns="0" tIns="0" rIns="0" bIns="0" rtlCol="0">
                <a:spAutoFit/>
              </a:bodyPr>
              <a:lstStyle/>
              <a:p>
                <a:r>
                  <a:rPr lang="zh-CN" altLang="en-US" b="1" dirty="0">
                    <a:solidFill>
                      <a:srgbClr val="FF0000"/>
                    </a:solidFill>
                    <a:latin typeface="等线" panose="02010600030101010101" charset="-122"/>
                    <a:ea typeface="等线" panose="02010600030101010101" charset="-122"/>
                  </a:rPr>
                  <a:t>晚期</a:t>
                </a:r>
                <a:endParaRPr lang="zh-CN" altLang="en-US" b="1" dirty="0">
                  <a:solidFill>
                    <a:srgbClr val="FF0000"/>
                  </a:solidFill>
                  <a:latin typeface="等线" panose="02010600030101010101" charset="-122"/>
                  <a:ea typeface="等线" panose="02010600030101010101" charset="-122"/>
                </a:endParaRPr>
              </a:p>
            </p:txBody>
          </p:sp>
        </p:grpSp>
        <p:pic>
          <p:nvPicPr>
            <p:cNvPr id="48" name="图形 47" descr="聊天 纯色填充"/>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55957" y="4185291"/>
              <a:ext cx="465564" cy="465564"/>
            </a:xfrm>
            <a:prstGeom prst="rect">
              <a:avLst/>
            </a:prstGeom>
          </p:spPr>
        </p:pic>
        <p:pic>
          <p:nvPicPr>
            <p:cNvPr id="49" name="图形 48" descr="云 纯色填充"/>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55957" y="2956738"/>
              <a:ext cx="465564" cy="465564"/>
            </a:xfrm>
            <a:prstGeom prst="rect">
              <a:avLst/>
            </a:prstGeom>
          </p:spPr>
        </p:pic>
        <p:pic>
          <p:nvPicPr>
            <p:cNvPr id="50" name="图形 49" descr="咖啡 纯色填充"/>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355957" y="1640655"/>
              <a:ext cx="465564" cy="465564"/>
            </a:xfrm>
            <a:prstGeom prst="rect">
              <a:avLst/>
            </a:prstGeom>
          </p:spPr>
        </p:pic>
        <p:pic>
          <p:nvPicPr>
            <p:cNvPr id="51" name="图形 50" descr="箭头: 逆时针曲线 纯色填充"/>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736891" flipH="1">
              <a:off x="2714271" y="2580851"/>
              <a:ext cx="539367" cy="539367"/>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l="-2005" t="66878" r="2005" b="-62871"/>
          <a:stretch>
            <a:fillRect/>
          </a:stretch>
        </p:blipFill>
        <p:spPr>
          <a:xfrm>
            <a:off x="-256558" y="-29585"/>
            <a:ext cx="12436929" cy="2310108"/>
          </a:xfrm>
          <a:prstGeom prst="rect">
            <a:avLst/>
          </a:prstGeom>
        </p:spPr>
      </p:pic>
      <p:sp>
        <p:nvSpPr>
          <p:cNvPr id="37" name="文本框 36"/>
          <p:cNvSpPr txBox="1"/>
          <p:nvPr/>
        </p:nvSpPr>
        <p:spPr>
          <a:xfrm>
            <a:off x="1000730" y="2306991"/>
            <a:ext cx="6703813" cy="3135858"/>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z="2400" b="0" i="0" dirty="0">
                <a:solidFill>
                  <a:srgbClr val="333333"/>
                </a:solidFill>
                <a:effectLst/>
                <a:highlight>
                  <a:srgbClr val="FFFFFF"/>
                </a:highlight>
                <a:latin typeface="仿宋" panose="02010609060101010101" pitchFamily="49" charset="-122"/>
                <a:ea typeface="仿宋" panose="02010609060101010101" pitchFamily="49" charset="-122"/>
              </a:rPr>
              <a:t>首先评估症状是否严重影响生活，如干扰自主运动、造成跌倒或引起巨大心理压力。如无上述影响，可暂不予治疗。如需治疗，首选非药物干预，消除加重舞蹈样症状的诱因，如焦虑、抑郁等，创造安静、可控的环境，采取相应防护跌倒等措施。也可考虑使用可能的神经保护药物，如辅酶</a:t>
            </a:r>
            <a:r>
              <a:rPr lang="en-US" altLang="zh-CN" sz="2400" b="0" i="0" dirty="0">
                <a:solidFill>
                  <a:srgbClr val="333333"/>
                </a:solidFill>
                <a:effectLst/>
                <a:highlight>
                  <a:srgbClr val="FFFFFF"/>
                </a:highlight>
                <a:latin typeface="仿宋" panose="02010609060101010101" pitchFamily="49" charset="-122"/>
                <a:ea typeface="仿宋" panose="02010609060101010101" pitchFamily="49" charset="-122"/>
              </a:rPr>
              <a:t>Q</a:t>
            </a:r>
            <a:r>
              <a:rPr lang="en-US" altLang="zh-CN" sz="2400" b="0" i="0" baseline="-25000" dirty="0">
                <a:solidFill>
                  <a:srgbClr val="333333"/>
                </a:solidFill>
                <a:effectLst/>
                <a:highlight>
                  <a:srgbClr val="FFFFFF"/>
                </a:highlight>
                <a:latin typeface="仿宋" panose="02010609060101010101" pitchFamily="49" charset="-122"/>
                <a:ea typeface="仿宋" panose="02010609060101010101" pitchFamily="49" charset="-122"/>
              </a:rPr>
              <a:t>10</a:t>
            </a:r>
            <a:r>
              <a:rPr lang="zh-CN" altLang="en-US" sz="2400" b="0" i="0" dirty="0">
                <a:solidFill>
                  <a:srgbClr val="333333"/>
                </a:solidFill>
                <a:effectLst/>
                <a:highlight>
                  <a:srgbClr val="FFFFFF"/>
                </a:highlight>
                <a:latin typeface="仿宋" panose="02010609060101010101" pitchFamily="49" charset="-122"/>
                <a:ea typeface="仿宋" panose="02010609060101010101" pitchFamily="49" charset="-122"/>
              </a:rPr>
              <a:t>、肌酸和米诺环素等。</a:t>
            </a:r>
            <a:endParaRPr lang="en-US" altLang="zh-CN" sz="2400" spc="100" dirty="0">
              <a:solidFill>
                <a:schemeClr val="tx1">
                  <a:lumMod val="75000"/>
                  <a:lumOff val="25000"/>
                </a:schemeClr>
              </a:solidFill>
              <a:latin typeface="仿宋" panose="02010609060101010101" pitchFamily="49" charset="-122"/>
              <a:ea typeface="仿宋" panose="02010609060101010101" pitchFamily="49" charset="-122"/>
            </a:endParaRPr>
          </a:p>
        </p:txBody>
      </p:sp>
      <p:sp>
        <p:nvSpPr>
          <p:cNvPr id="43" name="文本框 42"/>
          <p:cNvSpPr txBox="1"/>
          <p:nvPr/>
        </p:nvSpPr>
        <p:spPr>
          <a:xfrm>
            <a:off x="476163" y="1278114"/>
            <a:ext cx="3157087" cy="461665"/>
          </a:xfrm>
          <a:prstGeom prst="rect">
            <a:avLst/>
          </a:prstGeom>
          <a:noFill/>
        </p:spPr>
        <p:txBody>
          <a:bodyPr wrap="square" rtlCol="0">
            <a:spAutoFit/>
          </a:bodyPr>
          <a:lstStyle/>
          <a:p>
            <a:r>
              <a:rPr lang="en-US" altLang="zh-CN"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3.2</a:t>
            </a:r>
            <a:r>
              <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运动障碍的治疗</a:t>
            </a:r>
            <a:endPar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grpSp>
        <p:nvGrpSpPr>
          <p:cNvPr id="44" name="组合 43"/>
          <p:cNvGrpSpPr/>
          <p:nvPr/>
        </p:nvGrpSpPr>
        <p:grpSpPr>
          <a:xfrm>
            <a:off x="689052" y="6001082"/>
            <a:ext cx="10361517" cy="859852"/>
            <a:chOff x="-2305032" y="5576765"/>
            <a:chExt cx="17784565" cy="1475854"/>
          </a:xfrm>
        </p:grpSpPr>
        <p:sp>
          <p:nvSpPr>
            <p:cNvPr id="45" name="任意多边形: 形状 6"/>
            <p:cNvSpPr/>
            <p:nvPr/>
          </p:nvSpPr>
          <p:spPr>
            <a:xfrm>
              <a:off x="3420609" y="6267956"/>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任意多边形: 形状 7"/>
            <p:cNvSpPr/>
            <p:nvPr/>
          </p:nvSpPr>
          <p:spPr>
            <a:xfrm>
              <a:off x="6804716" y="5576765"/>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任意多边形: 形状 9"/>
            <p:cNvSpPr/>
            <p:nvPr/>
          </p:nvSpPr>
          <p:spPr>
            <a:xfrm>
              <a:off x="-2220266" y="5802471"/>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8" name="任意多边形: 形状 10"/>
            <p:cNvSpPr/>
            <p:nvPr/>
          </p:nvSpPr>
          <p:spPr>
            <a:xfrm>
              <a:off x="-2126607" y="5894547"/>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9" name="任意多边形: 形状 11"/>
            <p:cNvSpPr/>
            <p:nvPr/>
          </p:nvSpPr>
          <p:spPr>
            <a:xfrm>
              <a:off x="-2305032" y="6047539"/>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0" name="任意多边形: 形状 12"/>
            <p:cNvSpPr/>
            <p:nvPr/>
          </p:nvSpPr>
          <p:spPr>
            <a:xfrm>
              <a:off x="6659283" y="5699463"/>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1" name="任意多边形: 形状 13"/>
            <p:cNvSpPr/>
            <p:nvPr/>
          </p:nvSpPr>
          <p:spPr>
            <a:xfrm>
              <a:off x="3573184" y="6356225"/>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pic>
        <p:nvPicPr>
          <p:cNvPr id="57" name="图片 56"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rcRect t="13412" r="45166" b="17638"/>
          <a:stretch>
            <a:fillRect/>
          </a:stretch>
        </p:blipFill>
        <p:spPr>
          <a:xfrm>
            <a:off x="142513" y="-120075"/>
            <a:ext cx="785047" cy="987042"/>
          </a:xfrm>
          <a:prstGeom prst="rect">
            <a:avLst/>
          </a:prstGeom>
        </p:spPr>
      </p:pic>
      <p:pic>
        <p:nvPicPr>
          <p:cNvPr id="58" name="图片 57" descr="/private/var/folders/yy/k9vbpjvs50n3dskbszjx5l8r0000gn/T/com.kingsoft.wpsoffice.mac/photoedit2/20230330085317/temp.pngtemp"/>
          <p:cNvPicPr>
            <a:picLocks noChangeAspect="1"/>
          </p:cNvPicPr>
          <p:nvPr/>
        </p:nvPicPr>
        <p:blipFill rotWithShape="1">
          <a:blip r:embed="rId3"/>
          <a:srcRect l="1110" r="62900" b="9091"/>
          <a:stretch>
            <a:fillRect/>
          </a:stretch>
        </p:blipFill>
        <p:spPr>
          <a:xfrm>
            <a:off x="927963" y="-119986"/>
            <a:ext cx="1458647" cy="906365"/>
          </a:xfrm>
          <a:prstGeom prst="rect">
            <a:avLst/>
          </a:prstGeom>
        </p:spPr>
      </p:pic>
      <p:pic>
        <p:nvPicPr>
          <p:cNvPr id="1032"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59110" y="2152461"/>
            <a:ext cx="3687643" cy="32079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l="-2005" t="66878" r="2005" b="-62871"/>
          <a:stretch>
            <a:fillRect/>
          </a:stretch>
        </p:blipFill>
        <p:spPr>
          <a:xfrm>
            <a:off x="-256558" y="-29585"/>
            <a:ext cx="12436929" cy="2310108"/>
          </a:xfrm>
          <a:prstGeom prst="rect">
            <a:avLst/>
          </a:prstGeom>
        </p:spPr>
      </p:pic>
      <p:grpSp>
        <p:nvGrpSpPr>
          <p:cNvPr id="26" name="Group 19"/>
          <p:cNvGrpSpPr/>
          <p:nvPr/>
        </p:nvGrpSpPr>
        <p:grpSpPr>
          <a:xfrm>
            <a:off x="476163" y="2152461"/>
            <a:ext cx="533469" cy="533469"/>
            <a:chOff x="4107620" y="3296640"/>
            <a:chExt cx="604504" cy="604504"/>
          </a:xfrm>
        </p:grpSpPr>
        <p:sp>
          <p:nvSpPr>
            <p:cNvPr id="27" name="椭圆 26"/>
            <p:cNvSpPr/>
            <p:nvPr/>
          </p:nvSpPr>
          <p:spPr>
            <a:xfrm>
              <a:off x="4107620" y="3296640"/>
              <a:ext cx="604504" cy="604504"/>
            </a:xfrm>
            <a:prstGeom prst="ellipse">
              <a:avLst/>
            </a:prstGeom>
            <a:noFill/>
            <a:ln w="6350">
              <a:solidFill>
                <a:schemeClr val="accent1">
                  <a:lumMod val="75000"/>
                  <a:alpha val="8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8" name="search-home_86260"/>
            <p:cNvSpPr>
              <a:spLocks noChangeAspect="1"/>
            </p:cNvSpPr>
            <p:nvPr/>
          </p:nvSpPr>
          <p:spPr bwMode="auto">
            <a:xfrm>
              <a:off x="4183132" y="3396267"/>
              <a:ext cx="457071" cy="372933"/>
            </a:xfrm>
            <a:custGeom>
              <a:avLst/>
              <a:gdLst>
                <a:gd name="connsiteX0" fmla="*/ 508188 w 609120"/>
                <a:gd name="connsiteY0" fmla="*/ 388434 h 496992"/>
                <a:gd name="connsiteX1" fmla="*/ 508188 w 609120"/>
                <a:gd name="connsiteY1" fmla="*/ 438152 h 496992"/>
                <a:gd name="connsiteX2" fmla="*/ 557983 w 609120"/>
                <a:gd name="connsiteY2" fmla="*/ 438152 h 496992"/>
                <a:gd name="connsiteX3" fmla="*/ 557983 w 609120"/>
                <a:gd name="connsiteY3" fmla="*/ 388434 h 496992"/>
                <a:gd name="connsiteX4" fmla="*/ 51136 w 609120"/>
                <a:gd name="connsiteY4" fmla="*/ 388434 h 496992"/>
                <a:gd name="connsiteX5" fmla="*/ 51136 w 609120"/>
                <a:gd name="connsiteY5" fmla="*/ 438152 h 496992"/>
                <a:gd name="connsiteX6" fmla="*/ 100931 w 609120"/>
                <a:gd name="connsiteY6" fmla="*/ 438152 h 496992"/>
                <a:gd name="connsiteX7" fmla="*/ 100931 w 609120"/>
                <a:gd name="connsiteY7" fmla="*/ 388434 h 496992"/>
                <a:gd name="connsiteX8" fmla="*/ 508188 w 609120"/>
                <a:gd name="connsiteY8" fmla="*/ 314770 h 496992"/>
                <a:gd name="connsiteX9" fmla="*/ 508188 w 609120"/>
                <a:gd name="connsiteY9" fmla="*/ 364430 h 496992"/>
                <a:gd name="connsiteX10" fmla="*/ 557983 w 609120"/>
                <a:gd name="connsiteY10" fmla="*/ 364430 h 496992"/>
                <a:gd name="connsiteX11" fmla="*/ 557983 w 609120"/>
                <a:gd name="connsiteY11" fmla="*/ 314770 h 496992"/>
                <a:gd name="connsiteX12" fmla="*/ 51136 w 609120"/>
                <a:gd name="connsiteY12" fmla="*/ 314770 h 496992"/>
                <a:gd name="connsiteX13" fmla="*/ 51136 w 609120"/>
                <a:gd name="connsiteY13" fmla="*/ 364430 h 496992"/>
                <a:gd name="connsiteX14" fmla="*/ 100931 w 609120"/>
                <a:gd name="connsiteY14" fmla="*/ 364430 h 496992"/>
                <a:gd name="connsiteX15" fmla="*/ 100931 w 609120"/>
                <a:gd name="connsiteY15" fmla="*/ 314770 h 496992"/>
                <a:gd name="connsiteX16" fmla="*/ 354456 w 609120"/>
                <a:gd name="connsiteY16" fmla="*/ 314763 h 496992"/>
                <a:gd name="connsiteX17" fmla="*/ 354456 w 609120"/>
                <a:gd name="connsiteY17" fmla="*/ 364425 h 496992"/>
                <a:gd name="connsiteX18" fmla="*/ 404189 w 609120"/>
                <a:gd name="connsiteY18" fmla="*/ 364425 h 496992"/>
                <a:gd name="connsiteX19" fmla="*/ 404189 w 609120"/>
                <a:gd name="connsiteY19" fmla="*/ 314763 h 496992"/>
                <a:gd name="connsiteX20" fmla="*/ 279770 w 609120"/>
                <a:gd name="connsiteY20" fmla="*/ 314763 h 496992"/>
                <a:gd name="connsiteX21" fmla="*/ 279770 w 609120"/>
                <a:gd name="connsiteY21" fmla="*/ 364425 h 496992"/>
                <a:gd name="connsiteX22" fmla="*/ 329561 w 609120"/>
                <a:gd name="connsiteY22" fmla="*/ 364425 h 496992"/>
                <a:gd name="connsiteX23" fmla="*/ 329561 w 609120"/>
                <a:gd name="connsiteY23" fmla="*/ 314763 h 496992"/>
                <a:gd name="connsiteX24" fmla="*/ 205085 w 609120"/>
                <a:gd name="connsiteY24" fmla="*/ 314763 h 496992"/>
                <a:gd name="connsiteX25" fmla="*/ 205085 w 609120"/>
                <a:gd name="connsiteY25" fmla="*/ 364425 h 496992"/>
                <a:gd name="connsiteX26" fmla="*/ 254875 w 609120"/>
                <a:gd name="connsiteY26" fmla="*/ 364425 h 496992"/>
                <a:gd name="connsiteX27" fmla="*/ 254875 w 609120"/>
                <a:gd name="connsiteY27" fmla="*/ 314763 h 496992"/>
                <a:gd name="connsiteX28" fmla="*/ 469471 w 609120"/>
                <a:gd name="connsiteY28" fmla="*/ 288542 h 496992"/>
                <a:gd name="connsiteX29" fmla="*/ 596700 w 609120"/>
                <a:gd name="connsiteY29" fmla="*/ 288542 h 496992"/>
                <a:gd name="connsiteX30" fmla="*/ 596700 w 609120"/>
                <a:gd name="connsiteY30" fmla="*/ 496992 h 496992"/>
                <a:gd name="connsiteX31" fmla="*/ 469471 w 609120"/>
                <a:gd name="connsiteY31" fmla="*/ 496992 h 496992"/>
                <a:gd name="connsiteX32" fmla="*/ 12419 w 609120"/>
                <a:gd name="connsiteY32" fmla="*/ 288542 h 496992"/>
                <a:gd name="connsiteX33" fmla="*/ 139648 w 609120"/>
                <a:gd name="connsiteY33" fmla="*/ 288542 h 496992"/>
                <a:gd name="connsiteX34" fmla="*/ 139648 w 609120"/>
                <a:gd name="connsiteY34" fmla="*/ 496992 h 496992"/>
                <a:gd name="connsiteX35" fmla="*/ 12419 w 609120"/>
                <a:gd name="connsiteY35" fmla="*/ 496992 h 496992"/>
                <a:gd name="connsiteX36" fmla="*/ 469471 w 609120"/>
                <a:gd name="connsiteY36" fmla="*/ 257070 h 496992"/>
                <a:gd name="connsiteX37" fmla="*/ 609120 w 609120"/>
                <a:gd name="connsiteY37" fmla="*/ 257070 h 496992"/>
                <a:gd name="connsiteX38" fmla="*/ 609120 w 609120"/>
                <a:gd name="connsiteY38" fmla="*/ 271959 h 496992"/>
                <a:gd name="connsiteX39" fmla="*/ 469471 w 609120"/>
                <a:gd name="connsiteY39" fmla="*/ 271959 h 496992"/>
                <a:gd name="connsiteX40" fmla="*/ 0 w 609120"/>
                <a:gd name="connsiteY40" fmla="*/ 257070 h 496992"/>
                <a:gd name="connsiteX41" fmla="*/ 139649 w 609120"/>
                <a:gd name="connsiteY41" fmla="*/ 257070 h 496992"/>
                <a:gd name="connsiteX42" fmla="*/ 139649 w 609120"/>
                <a:gd name="connsiteY42" fmla="*/ 271959 h 496992"/>
                <a:gd name="connsiteX43" fmla="*/ 0 w 609120"/>
                <a:gd name="connsiteY43" fmla="*/ 271959 h 496992"/>
                <a:gd name="connsiteX44" fmla="*/ 354456 w 609120"/>
                <a:gd name="connsiteY44" fmla="*/ 240183 h 496992"/>
                <a:gd name="connsiteX45" fmla="*/ 354456 w 609120"/>
                <a:gd name="connsiteY45" fmla="*/ 289903 h 496992"/>
                <a:gd name="connsiteX46" fmla="*/ 404189 w 609120"/>
                <a:gd name="connsiteY46" fmla="*/ 289903 h 496992"/>
                <a:gd name="connsiteX47" fmla="*/ 404189 w 609120"/>
                <a:gd name="connsiteY47" fmla="*/ 240183 h 496992"/>
                <a:gd name="connsiteX48" fmla="*/ 279770 w 609120"/>
                <a:gd name="connsiteY48" fmla="*/ 240183 h 496992"/>
                <a:gd name="connsiteX49" fmla="*/ 279770 w 609120"/>
                <a:gd name="connsiteY49" fmla="*/ 289903 h 496992"/>
                <a:gd name="connsiteX50" fmla="*/ 329561 w 609120"/>
                <a:gd name="connsiteY50" fmla="*/ 289903 h 496992"/>
                <a:gd name="connsiteX51" fmla="*/ 329561 w 609120"/>
                <a:gd name="connsiteY51" fmla="*/ 240183 h 496992"/>
                <a:gd name="connsiteX52" fmla="*/ 205085 w 609120"/>
                <a:gd name="connsiteY52" fmla="*/ 240183 h 496992"/>
                <a:gd name="connsiteX53" fmla="*/ 205085 w 609120"/>
                <a:gd name="connsiteY53" fmla="*/ 289903 h 496992"/>
                <a:gd name="connsiteX54" fmla="*/ 254875 w 609120"/>
                <a:gd name="connsiteY54" fmla="*/ 289903 h 496992"/>
                <a:gd name="connsiteX55" fmla="*/ 254875 w 609120"/>
                <a:gd name="connsiteY55" fmla="*/ 240183 h 496992"/>
                <a:gd name="connsiteX56" fmla="*/ 354456 w 609120"/>
                <a:gd name="connsiteY56" fmla="*/ 165603 h 496992"/>
                <a:gd name="connsiteX57" fmla="*/ 354456 w 609120"/>
                <a:gd name="connsiteY57" fmla="*/ 215323 h 496992"/>
                <a:gd name="connsiteX58" fmla="*/ 404189 w 609120"/>
                <a:gd name="connsiteY58" fmla="*/ 215323 h 496992"/>
                <a:gd name="connsiteX59" fmla="*/ 404189 w 609120"/>
                <a:gd name="connsiteY59" fmla="*/ 165603 h 496992"/>
                <a:gd name="connsiteX60" fmla="*/ 279770 w 609120"/>
                <a:gd name="connsiteY60" fmla="*/ 165603 h 496992"/>
                <a:gd name="connsiteX61" fmla="*/ 279770 w 609120"/>
                <a:gd name="connsiteY61" fmla="*/ 215323 h 496992"/>
                <a:gd name="connsiteX62" fmla="*/ 329561 w 609120"/>
                <a:gd name="connsiteY62" fmla="*/ 215323 h 496992"/>
                <a:gd name="connsiteX63" fmla="*/ 329561 w 609120"/>
                <a:gd name="connsiteY63" fmla="*/ 165603 h 496992"/>
                <a:gd name="connsiteX64" fmla="*/ 205085 w 609120"/>
                <a:gd name="connsiteY64" fmla="*/ 165603 h 496992"/>
                <a:gd name="connsiteX65" fmla="*/ 205085 w 609120"/>
                <a:gd name="connsiteY65" fmla="*/ 215323 h 496992"/>
                <a:gd name="connsiteX66" fmla="*/ 254875 w 609120"/>
                <a:gd name="connsiteY66" fmla="*/ 215323 h 496992"/>
                <a:gd name="connsiteX67" fmla="*/ 254875 w 609120"/>
                <a:gd name="connsiteY67" fmla="*/ 165603 h 496992"/>
                <a:gd name="connsiteX68" fmla="*/ 304666 w 609120"/>
                <a:gd name="connsiteY68" fmla="*/ 50313 h 496992"/>
                <a:gd name="connsiteX69" fmla="*/ 446043 w 609120"/>
                <a:gd name="connsiteY69" fmla="*/ 144792 h 496992"/>
                <a:gd name="connsiteX70" fmla="*/ 446043 w 609120"/>
                <a:gd name="connsiteY70" fmla="*/ 496992 h 496992"/>
                <a:gd name="connsiteX71" fmla="*/ 346119 w 609120"/>
                <a:gd name="connsiteY71" fmla="*/ 496992 h 496992"/>
                <a:gd name="connsiteX72" fmla="*/ 346119 w 609120"/>
                <a:gd name="connsiteY72" fmla="*/ 381018 h 496992"/>
                <a:gd name="connsiteX73" fmla="*/ 263154 w 609120"/>
                <a:gd name="connsiteY73" fmla="*/ 381018 h 496992"/>
                <a:gd name="connsiteX74" fmla="*/ 263154 w 609120"/>
                <a:gd name="connsiteY74" fmla="*/ 496992 h 496992"/>
                <a:gd name="connsiteX75" fmla="*/ 163288 w 609120"/>
                <a:gd name="connsiteY75" fmla="*/ 496992 h 496992"/>
                <a:gd name="connsiteX76" fmla="*/ 163288 w 609120"/>
                <a:gd name="connsiteY76" fmla="*/ 144792 h 496992"/>
                <a:gd name="connsiteX77" fmla="*/ 304666 w 609120"/>
                <a:gd name="connsiteY77" fmla="*/ 0 h 496992"/>
                <a:gd name="connsiteX78" fmla="*/ 501719 w 609120"/>
                <a:gd name="connsiteY78" fmla="*/ 131040 h 496992"/>
                <a:gd name="connsiteX79" fmla="*/ 455296 w 609120"/>
                <a:gd name="connsiteY79" fmla="*/ 131040 h 496992"/>
                <a:gd name="connsiteX80" fmla="*/ 309291 w 609120"/>
                <a:gd name="connsiteY80" fmla="*/ 33473 h 496992"/>
                <a:gd name="connsiteX81" fmla="*/ 300040 w 609120"/>
                <a:gd name="connsiteY81" fmla="*/ 33473 h 496992"/>
                <a:gd name="connsiteX82" fmla="*/ 154035 w 609120"/>
                <a:gd name="connsiteY82" fmla="*/ 131040 h 496992"/>
                <a:gd name="connsiteX83" fmla="*/ 107612 w 609120"/>
                <a:gd name="connsiteY83" fmla="*/ 131040 h 49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9120" h="496992">
                  <a:moveTo>
                    <a:pt x="508188" y="388434"/>
                  </a:moveTo>
                  <a:lnTo>
                    <a:pt x="508188" y="438152"/>
                  </a:lnTo>
                  <a:lnTo>
                    <a:pt x="557983" y="438152"/>
                  </a:lnTo>
                  <a:lnTo>
                    <a:pt x="557983" y="388434"/>
                  </a:lnTo>
                  <a:close/>
                  <a:moveTo>
                    <a:pt x="51136" y="388434"/>
                  </a:moveTo>
                  <a:lnTo>
                    <a:pt x="51136" y="438152"/>
                  </a:lnTo>
                  <a:lnTo>
                    <a:pt x="100931" y="438152"/>
                  </a:lnTo>
                  <a:lnTo>
                    <a:pt x="100931" y="388434"/>
                  </a:lnTo>
                  <a:close/>
                  <a:moveTo>
                    <a:pt x="508188" y="314770"/>
                  </a:moveTo>
                  <a:lnTo>
                    <a:pt x="508188" y="364430"/>
                  </a:lnTo>
                  <a:lnTo>
                    <a:pt x="557983" y="364430"/>
                  </a:lnTo>
                  <a:lnTo>
                    <a:pt x="557983" y="314770"/>
                  </a:lnTo>
                  <a:close/>
                  <a:moveTo>
                    <a:pt x="51136" y="314770"/>
                  </a:moveTo>
                  <a:lnTo>
                    <a:pt x="51136" y="364430"/>
                  </a:lnTo>
                  <a:lnTo>
                    <a:pt x="100931" y="364430"/>
                  </a:lnTo>
                  <a:lnTo>
                    <a:pt x="100931" y="314770"/>
                  </a:lnTo>
                  <a:close/>
                  <a:moveTo>
                    <a:pt x="354456" y="314763"/>
                  </a:moveTo>
                  <a:lnTo>
                    <a:pt x="354456" y="364425"/>
                  </a:lnTo>
                  <a:lnTo>
                    <a:pt x="404189" y="364425"/>
                  </a:lnTo>
                  <a:lnTo>
                    <a:pt x="404189" y="314763"/>
                  </a:lnTo>
                  <a:close/>
                  <a:moveTo>
                    <a:pt x="279770" y="314763"/>
                  </a:moveTo>
                  <a:lnTo>
                    <a:pt x="279770" y="364425"/>
                  </a:lnTo>
                  <a:lnTo>
                    <a:pt x="329561" y="364425"/>
                  </a:lnTo>
                  <a:lnTo>
                    <a:pt x="329561" y="314763"/>
                  </a:lnTo>
                  <a:close/>
                  <a:moveTo>
                    <a:pt x="205085" y="314763"/>
                  </a:moveTo>
                  <a:lnTo>
                    <a:pt x="205085" y="364425"/>
                  </a:lnTo>
                  <a:lnTo>
                    <a:pt x="254875" y="364425"/>
                  </a:lnTo>
                  <a:lnTo>
                    <a:pt x="254875" y="314763"/>
                  </a:lnTo>
                  <a:close/>
                  <a:moveTo>
                    <a:pt x="469471" y="288542"/>
                  </a:moveTo>
                  <a:lnTo>
                    <a:pt x="596700" y="288542"/>
                  </a:lnTo>
                  <a:lnTo>
                    <a:pt x="596700" y="496992"/>
                  </a:lnTo>
                  <a:lnTo>
                    <a:pt x="469471" y="496992"/>
                  </a:lnTo>
                  <a:close/>
                  <a:moveTo>
                    <a:pt x="12419" y="288542"/>
                  </a:moveTo>
                  <a:lnTo>
                    <a:pt x="139648" y="288542"/>
                  </a:lnTo>
                  <a:lnTo>
                    <a:pt x="139648" y="496992"/>
                  </a:lnTo>
                  <a:lnTo>
                    <a:pt x="12419" y="496992"/>
                  </a:lnTo>
                  <a:close/>
                  <a:moveTo>
                    <a:pt x="469471" y="257070"/>
                  </a:moveTo>
                  <a:lnTo>
                    <a:pt x="609120" y="257070"/>
                  </a:lnTo>
                  <a:lnTo>
                    <a:pt x="609120" y="271959"/>
                  </a:lnTo>
                  <a:lnTo>
                    <a:pt x="469471" y="271959"/>
                  </a:lnTo>
                  <a:close/>
                  <a:moveTo>
                    <a:pt x="0" y="257070"/>
                  </a:moveTo>
                  <a:lnTo>
                    <a:pt x="139649" y="257070"/>
                  </a:lnTo>
                  <a:lnTo>
                    <a:pt x="139649" y="271959"/>
                  </a:lnTo>
                  <a:lnTo>
                    <a:pt x="0" y="271959"/>
                  </a:lnTo>
                  <a:close/>
                  <a:moveTo>
                    <a:pt x="354456" y="240183"/>
                  </a:moveTo>
                  <a:lnTo>
                    <a:pt x="354456" y="289903"/>
                  </a:lnTo>
                  <a:lnTo>
                    <a:pt x="404189" y="289903"/>
                  </a:lnTo>
                  <a:lnTo>
                    <a:pt x="404189" y="240183"/>
                  </a:lnTo>
                  <a:close/>
                  <a:moveTo>
                    <a:pt x="279770" y="240183"/>
                  </a:moveTo>
                  <a:lnTo>
                    <a:pt x="279770" y="289903"/>
                  </a:lnTo>
                  <a:lnTo>
                    <a:pt x="329561" y="289903"/>
                  </a:lnTo>
                  <a:lnTo>
                    <a:pt x="329561" y="240183"/>
                  </a:lnTo>
                  <a:close/>
                  <a:moveTo>
                    <a:pt x="205085" y="240183"/>
                  </a:moveTo>
                  <a:lnTo>
                    <a:pt x="205085" y="289903"/>
                  </a:lnTo>
                  <a:lnTo>
                    <a:pt x="254875" y="289903"/>
                  </a:lnTo>
                  <a:lnTo>
                    <a:pt x="254875" y="240183"/>
                  </a:lnTo>
                  <a:close/>
                  <a:moveTo>
                    <a:pt x="354456" y="165603"/>
                  </a:moveTo>
                  <a:lnTo>
                    <a:pt x="354456" y="215323"/>
                  </a:lnTo>
                  <a:lnTo>
                    <a:pt x="404189" y="215323"/>
                  </a:lnTo>
                  <a:lnTo>
                    <a:pt x="404189" y="165603"/>
                  </a:lnTo>
                  <a:close/>
                  <a:moveTo>
                    <a:pt x="279770" y="165603"/>
                  </a:moveTo>
                  <a:lnTo>
                    <a:pt x="279770" y="215323"/>
                  </a:lnTo>
                  <a:lnTo>
                    <a:pt x="329561" y="215323"/>
                  </a:lnTo>
                  <a:lnTo>
                    <a:pt x="329561" y="165603"/>
                  </a:lnTo>
                  <a:close/>
                  <a:moveTo>
                    <a:pt x="205085" y="165603"/>
                  </a:moveTo>
                  <a:lnTo>
                    <a:pt x="205085" y="215323"/>
                  </a:lnTo>
                  <a:lnTo>
                    <a:pt x="254875" y="215323"/>
                  </a:lnTo>
                  <a:lnTo>
                    <a:pt x="254875" y="165603"/>
                  </a:lnTo>
                  <a:close/>
                  <a:moveTo>
                    <a:pt x="304666" y="50313"/>
                  </a:moveTo>
                  <a:lnTo>
                    <a:pt x="446043" y="144792"/>
                  </a:lnTo>
                  <a:lnTo>
                    <a:pt x="446043" y="496992"/>
                  </a:lnTo>
                  <a:lnTo>
                    <a:pt x="346119" y="496992"/>
                  </a:lnTo>
                  <a:lnTo>
                    <a:pt x="346119" y="381018"/>
                  </a:lnTo>
                  <a:lnTo>
                    <a:pt x="263154" y="381018"/>
                  </a:lnTo>
                  <a:lnTo>
                    <a:pt x="263154" y="496992"/>
                  </a:lnTo>
                  <a:lnTo>
                    <a:pt x="163288" y="496992"/>
                  </a:lnTo>
                  <a:lnTo>
                    <a:pt x="163288" y="144792"/>
                  </a:lnTo>
                  <a:close/>
                  <a:moveTo>
                    <a:pt x="304666" y="0"/>
                  </a:moveTo>
                  <a:lnTo>
                    <a:pt x="501719" y="131040"/>
                  </a:lnTo>
                  <a:lnTo>
                    <a:pt x="455296" y="131040"/>
                  </a:lnTo>
                  <a:lnTo>
                    <a:pt x="309291" y="33473"/>
                  </a:lnTo>
                  <a:lnTo>
                    <a:pt x="300040" y="33473"/>
                  </a:lnTo>
                  <a:lnTo>
                    <a:pt x="154035" y="131040"/>
                  </a:lnTo>
                  <a:lnTo>
                    <a:pt x="107612" y="131040"/>
                  </a:lnTo>
                  <a:close/>
                </a:path>
              </a:pathLst>
            </a:custGeom>
            <a:gradFill>
              <a:gsLst>
                <a:gs pos="0">
                  <a:schemeClr val="accent1">
                    <a:lumMod val="75000"/>
                    <a:alpha val="85000"/>
                  </a:schemeClr>
                </a:gs>
                <a:gs pos="100000">
                  <a:schemeClr val="accent1">
                    <a:lumMod val="75000"/>
                    <a:alpha val="57000"/>
                  </a:schemeClr>
                </a:gs>
              </a:gsLst>
              <a:lin ang="5400000" scaled="1"/>
            </a:gra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grpSp>
      <p:sp>
        <p:nvSpPr>
          <p:cNvPr id="37" name="文本框 36"/>
          <p:cNvSpPr txBox="1"/>
          <p:nvPr/>
        </p:nvSpPr>
        <p:spPr>
          <a:xfrm>
            <a:off x="1000730" y="2306991"/>
            <a:ext cx="6703813" cy="2692660"/>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z="2400" b="0" i="0" dirty="0">
                <a:solidFill>
                  <a:srgbClr val="333333"/>
                </a:solidFill>
                <a:effectLst/>
                <a:highlight>
                  <a:srgbClr val="FFFFFF"/>
                </a:highlight>
                <a:latin typeface="仿宋" panose="02010609060101010101" pitchFamily="49" charset="-122"/>
                <a:ea typeface="仿宋" panose="02010609060101010101" pitchFamily="49" charset="-122"/>
              </a:rPr>
              <a:t>目前尚无有效药物治疗</a:t>
            </a:r>
            <a:r>
              <a:rPr lang="en-US" altLang="zh-CN" sz="2400" b="0" i="0" dirty="0">
                <a:solidFill>
                  <a:srgbClr val="333333"/>
                </a:solidFill>
                <a:effectLst/>
                <a:highlight>
                  <a:srgbClr val="FFFFFF"/>
                </a:highlight>
                <a:latin typeface="仿宋" panose="02010609060101010101" pitchFamily="49" charset="-122"/>
                <a:ea typeface="仿宋" panose="02010609060101010101" pitchFamily="49" charset="-122"/>
              </a:rPr>
              <a:t>HD</a:t>
            </a:r>
            <a:r>
              <a:rPr lang="zh-CN" altLang="en-US" sz="2400" b="0" i="0" dirty="0">
                <a:solidFill>
                  <a:srgbClr val="333333"/>
                </a:solidFill>
                <a:effectLst/>
                <a:highlight>
                  <a:srgbClr val="FFFFFF"/>
                </a:highlight>
                <a:latin typeface="仿宋" panose="02010609060101010101" pitchFamily="49" charset="-122"/>
                <a:ea typeface="仿宋" panose="02010609060101010101" pitchFamily="49" charset="-122"/>
              </a:rPr>
              <a:t>的认知障碍，通常借助心理治疗，如认知行为疗法等加以干预。在疾病早期提前学习认知策略有助于此后出现认知障碍时的积极应对。制定详细而有规律的日常活动计划表可补偿患者的行为组织能力和记忆的衰退，并改善其行为启动困难的症状。</a:t>
            </a:r>
            <a:endParaRPr lang="en-US" altLang="zh-CN" sz="2400" spc="100" dirty="0">
              <a:solidFill>
                <a:schemeClr val="tx1">
                  <a:lumMod val="75000"/>
                  <a:lumOff val="25000"/>
                </a:schemeClr>
              </a:solidFill>
              <a:latin typeface="仿宋" panose="02010609060101010101" pitchFamily="49" charset="-122"/>
              <a:ea typeface="仿宋" panose="02010609060101010101" pitchFamily="49" charset="-122"/>
            </a:endParaRPr>
          </a:p>
        </p:txBody>
      </p:sp>
      <p:sp>
        <p:nvSpPr>
          <p:cNvPr id="43" name="文本框 42"/>
          <p:cNvSpPr txBox="1"/>
          <p:nvPr/>
        </p:nvSpPr>
        <p:spPr>
          <a:xfrm>
            <a:off x="476163" y="1278114"/>
            <a:ext cx="3157087" cy="461665"/>
          </a:xfrm>
          <a:prstGeom prst="rect">
            <a:avLst/>
          </a:prstGeom>
          <a:noFill/>
        </p:spPr>
        <p:txBody>
          <a:bodyPr wrap="square" rtlCol="0">
            <a:spAutoFit/>
          </a:bodyPr>
          <a:lstStyle/>
          <a:p>
            <a:r>
              <a:rPr lang="en-US" altLang="zh-CN"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3.3</a:t>
            </a:r>
            <a:r>
              <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认知障碍的治疗</a:t>
            </a:r>
            <a:endPar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grpSp>
        <p:nvGrpSpPr>
          <p:cNvPr id="44" name="组合 43"/>
          <p:cNvGrpSpPr/>
          <p:nvPr/>
        </p:nvGrpSpPr>
        <p:grpSpPr>
          <a:xfrm>
            <a:off x="689052" y="6001082"/>
            <a:ext cx="10361517" cy="859852"/>
            <a:chOff x="-2305032" y="5576765"/>
            <a:chExt cx="17784565" cy="1475854"/>
          </a:xfrm>
        </p:grpSpPr>
        <p:sp>
          <p:nvSpPr>
            <p:cNvPr id="45" name="任意多边形: 形状 6"/>
            <p:cNvSpPr/>
            <p:nvPr/>
          </p:nvSpPr>
          <p:spPr>
            <a:xfrm>
              <a:off x="3420609" y="6267956"/>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任意多边形: 形状 7"/>
            <p:cNvSpPr/>
            <p:nvPr/>
          </p:nvSpPr>
          <p:spPr>
            <a:xfrm>
              <a:off x="6804716" y="5576765"/>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任意多边形: 形状 9"/>
            <p:cNvSpPr/>
            <p:nvPr/>
          </p:nvSpPr>
          <p:spPr>
            <a:xfrm>
              <a:off x="-2220266" y="5802471"/>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8" name="任意多边形: 形状 10"/>
            <p:cNvSpPr/>
            <p:nvPr/>
          </p:nvSpPr>
          <p:spPr>
            <a:xfrm>
              <a:off x="-2126607" y="5894547"/>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9" name="任意多边形: 形状 11"/>
            <p:cNvSpPr/>
            <p:nvPr/>
          </p:nvSpPr>
          <p:spPr>
            <a:xfrm>
              <a:off x="-2305032" y="6047539"/>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0" name="任意多边形: 形状 12"/>
            <p:cNvSpPr/>
            <p:nvPr/>
          </p:nvSpPr>
          <p:spPr>
            <a:xfrm>
              <a:off x="6659283" y="5699463"/>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1" name="任意多边形: 形状 13"/>
            <p:cNvSpPr/>
            <p:nvPr/>
          </p:nvSpPr>
          <p:spPr>
            <a:xfrm>
              <a:off x="3573184" y="6356225"/>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pic>
        <p:nvPicPr>
          <p:cNvPr id="57" name="图片 56"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rcRect t="13412" r="45166" b="17638"/>
          <a:stretch>
            <a:fillRect/>
          </a:stretch>
        </p:blipFill>
        <p:spPr>
          <a:xfrm>
            <a:off x="142513" y="-120075"/>
            <a:ext cx="785047" cy="987042"/>
          </a:xfrm>
          <a:prstGeom prst="rect">
            <a:avLst/>
          </a:prstGeom>
        </p:spPr>
      </p:pic>
      <p:pic>
        <p:nvPicPr>
          <p:cNvPr id="58" name="图片 57" descr="/private/var/folders/yy/k9vbpjvs50n3dskbszjx5l8r0000gn/T/com.kingsoft.wpsoffice.mac/photoedit2/20230330085317/temp.pngtemp"/>
          <p:cNvPicPr>
            <a:picLocks noChangeAspect="1"/>
          </p:cNvPicPr>
          <p:nvPr/>
        </p:nvPicPr>
        <p:blipFill rotWithShape="1">
          <a:blip r:embed="rId3"/>
          <a:srcRect l="1110" r="62900" b="9091"/>
          <a:stretch>
            <a:fillRect/>
          </a:stretch>
        </p:blipFill>
        <p:spPr>
          <a:xfrm>
            <a:off x="927963" y="-119986"/>
            <a:ext cx="1458647" cy="906365"/>
          </a:xfrm>
          <a:prstGeom prst="rect">
            <a:avLst/>
          </a:prstGeom>
        </p:spPr>
      </p:pic>
      <p:pic>
        <p:nvPicPr>
          <p:cNvPr id="3" name="Picture 2" descr="认知障碍的治疗 的图像结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9787" y="1839501"/>
            <a:ext cx="4005112" cy="34548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l="-2005" t="66878" r="2005" b="-62871"/>
          <a:stretch>
            <a:fillRect/>
          </a:stretch>
        </p:blipFill>
        <p:spPr>
          <a:xfrm>
            <a:off x="-256558" y="-29585"/>
            <a:ext cx="12436929" cy="2310108"/>
          </a:xfrm>
          <a:prstGeom prst="rect">
            <a:avLst/>
          </a:prstGeom>
        </p:spPr>
      </p:pic>
      <p:grpSp>
        <p:nvGrpSpPr>
          <p:cNvPr id="26" name="Group 19"/>
          <p:cNvGrpSpPr/>
          <p:nvPr/>
        </p:nvGrpSpPr>
        <p:grpSpPr>
          <a:xfrm>
            <a:off x="476163" y="2152461"/>
            <a:ext cx="533469" cy="533469"/>
            <a:chOff x="4107620" y="3296640"/>
            <a:chExt cx="604504" cy="604504"/>
          </a:xfrm>
        </p:grpSpPr>
        <p:sp>
          <p:nvSpPr>
            <p:cNvPr id="27" name="椭圆 26"/>
            <p:cNvSpPr/>
            <p:nvPr/>
          </p:nvSpPr>
          <p:spPr>
            <a:xfrm>
              <a:off x="4107620" y="3296640"/>
              <a:ext cx="604504" cy="604504"/>
            </a:xfrm>
            <a:prstGeom prst="ellipse">
              <a:avLst/>
            </a:prstGeom>
            <a:noFill/>
            <a:ln w="6350">
              <a:solidFill>
                <a:schemeClr val="accent1">
                  <a:lumMod val="75000"/>
                  <a:alpha val="8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8" name="search-home_86260"/>
            <p:cNvSpPr>
              <a:spLocks noChangeAspect="1"/>
            </p:cNvSpPr>
            <p:nvPr/>
          </p:nvSpPr>
          <p:spPr bwMode="auto">
            <a:xfrm>
              <a:off x="4183132" y="3396267"/>
              <a:ext cx="457071" cy="372933"/>
            </a:xfrm>
            <a:custGeom>
              <a:avLst/>
              <a:gdLst>
                <a:gd name="connsiteX0" fmla="*/ 508188 w 609120"/>
                <a:gd name="connsiteY0" fmla="*/ 388434 h 496992"/>
                <a:gd name="connsiteX1" fmla="*/ 508188 w 609120"/>
                <a:gd name="connsiteY1" fmla="*/ 438152 h 496992"/>
                <a:gd name="connsiteX2" fmla="*/ 557983 w 609120"/>
                <a:gd name="connsiteY2" fmla="*/ 438152 h 496992"/>
                <a:gd name="connsiteX3" fmla="*/ 557983 w 609120"/>
                <a:gd name="connsiteY3" fmla="*/ 388434 h 496992"/>
                <a:gd name="connsiteX4" fmla="*/ 51136 w 609120"/>
                <a:gd name="connsiteY4" fmla="*/ 388434 h 496992"/>
                <a:gd name="connsiteX5" fmla="*/ 51136 w 609120"/>
                <a:gd name="connsiteY5" fmla="*/ 438152 h 496992"/>
                <a:gd name="connsiteX6" fmla="*/ 100931 w 609120"/>
                <a:gd name="connsiteY6" fmla="*/ 438152 h 496992"/>
                <a:gd name="connsiteX7" fmla="*/ 100931 w 609120"/>
                <a:gd name="connsiteY7" fmla="*/ 388434 h 496992"/>
                <a:gd name="connsiteX8" fmla="*/ 508188 w 609120"/>
                <a:gd name="connsiteY8" fmla="*/ 314770 h 496992"/>
                <a:gd name="connsiteX9" fmla="*/ 508188 w 609120"/>
                <a:gd name="connsiteY9" fmla="*/ 364430 h 496992"/>
                <a:gd name="connsiteX10" fmla="*/ 557983 w 609120"/>
                <a:gd name="connsiteY10" fmla="*/ 364430 h 496992"/>
                <a:gd name="connsiteX11" fmla="*/ 557983 w 609120"/>
                <a:gd name="connsiteY11" fmla="*/ 314770 h 496992"/>
                <a:gd name="connsiteX12" fmla="*/ 51136 w 609120"/>
                <a:gd name="connsiteY12" fmla="*/ 314770 h 496992"/>
                <a:gd name="connsiteX13" fmla="*/ 51136 w 609120"/>
                <a:gd name="connsiteY13" fmla="*/ 364430 h 496992"/>
                <a:gd name="connsiteX14" fmla="*/ 100931 w 609120"/>
                <a:gd name="connsiteY14" fmla="*/ 364430 h 496992"/>
                <a:gd name="connsiteX15" fmla="*/ 100931 w 609120"/>
                <a:gd name="connsiteY15" fmla="*/ 314770 h 496992"/>
                <a:gd name="connsiteX16" fmla="*/ 354456 w 609120"/>
                <a:gd name="connsiteY16" fmla="*/ 314763 h 496992"/>
                <a:gd name="connsiteX17" fmla="*/ 354456 w 609120"/>
                <a:gd name="connsiteY17" fmla="*/ 364425 h 496992"/>
                <a:gd name="connsiteX18" fmla="*/ 404189 w 609120"/>
                <a:gd name="connsiteY18" fmla="*/ 364425 h 496992"/>
                <a:gd name="connsiteX19" fmla="*/ 404189 w 609120"/>
                <a:gd name="connsiteY19" fmla="*/ 314763 h 496992"/>
                <a:gd name="connsiteX20" fmla="*/ 279770 w 609120"/>
                <a:gd name="connsiteY20" fmla="*/ 314763 h 496992"/>
                <a:gd name="connsiteX21" fmla="*/ 279770 w 609120"/>
                <a:gd name="connsiteY21" fmla="*/ 364425 h 496992"/>
                <a:gd name="connsiteX22" fmla="*/ 329561 w 609120"/>
                <a:gd name="connsiteY22" fmla="*/ 364425 h 496992"/>
                <a:gd name="connsiteX23" fmla="*/ 329561 w 609120"/>
                <a:gd name="connsiteY23" fmla="*/ 314763 h 496992"/>
                <a:gd name="connsiteX24" fmla="*/ 205085 w 609120"/>
                <a:gd name="connsiteY24" fmla="*/ 314763 h 496992"/>
                <a:gd name="connsiteX25" fmla="*/ 205085 w 609120"/>
                <a:gd name="connsiteY25" fmla="*/ 364425 h 496992"/>
                <a:gd name="connsiteX26" fmla="*/ 254875 w 609120"/>
                <a:gd name="connsiteY26" fmla="*/ 364425 h 496992"/>
                <a:gd name="connsiteX27" fmla="*/ 254875 w 609120"/>
                <a:gd name="connsiteY27" fmla="*/ 314763 h 496992"/>
                <a:gd name="connsiteX28" fmla="*/ 469471 w 609120"/>
                <a:gd name="connsiteY28" fmla="*/ 288542 h 496992"/>
                <a:gd name="connsiteX29" fmla="*/ 596700 w 609120"/>
                <a:gd name="connsiteY29" fmla="*/ 288542 h 496992"/>
                <a:gd name="connsiteX30" fmla="*/ 596700 w 609120"/>
                <a:gd name="connsiteY30" fmla="*/ 496992 h 496992"/>
                <a:gd name="connsiteX31" fmla="*/ 469471 w 609120"/>
                <a:gd name="connsiteY31" fmla="*/ 496992 h 496992"/>
                <a:gd name="connsiteX32" fmla="*/ 12419 w 609120"/>
                <a:gd name="connsiteY32" fmla="*/ 288542 h 496992"/>
                <a:gd name="connsiteX33" fmla="*/ 139648 w 609120"/>
                <a:gd name="connsiteY33" fmla="*/ 288542 h 496992"/>
                <a:gd name="connsiteX34" fmla="*/ 139648 w 609120"/>
                <a:gd name="connsiteY34" fmla="*/ 496992 h 496992"/>
                <a:gd name="connsiteX35" fmla="*/ 12419 w 609120"/>
                <a:gd name="connsiteY35" fmla="*/ 496992 h 496992"/>
                <a:gd name="connsiteX36" fmla="*/ 469471 w 609120"/>
                <a:gd name="connsiteY36" fmla="*/ 257070 h 496992"/>
                <a:gd name="connsiteX37" fmla="*/ 609120 w 609120"/>
                <a:gd name="connsiteY37" fmla="*/ 257070 h 496992"/>
                <a:gd name="connsiteX38" fmla="*/ 609120 w 609120"/>
                <a:gd name="connsiteY38" fmla="*/ 271959 h 496992"/>
                <a:gd name="connsiteX39" fmla="*/ 469471 w 609120"/>
                <a:gd name="connsiteY39" fmla="*/ 271959 h 496992"/>
                <a:gd name="connsiteX40" fmla="*/ 0 w 609120"/>
                <a:gd name="connsiteY40" fmla="*/ 257070 h 496992"/>
                <a:gd name="connsiteX41" fmla="*/ 139649 w 609120"/>
                <a:gd name="connsiteY41" fmla="*/ 257070 h 496992"/>
                <a:gd name="connsiteX42" fmla="*/ 139649 w 609120"/>
                <a:gd name="connsiteY42" fmla="*/ 271959 h 496992"/>
                <a:gd name="connsiteX43" fmla="*/ 0 w 609120"/>
                <a:gd name="connsiteY43" fmla="*/ 271959 h 496992"/>
                <a:gd name="connsiteX44" fmla="*/ 354456 w 609120"/>
                <a:gd name="connsiteY44" fmla="*/ 240183 h 496992"/>
                <a:gd name="connsiteX45" fmla="*/ 354456 w 609120"/>
                <a:gd name="connsiteY45" fmla="*/ 289903 h 496992"/>
                <a:gd name="connsiteX46" fmla="*/ 404189 w 609120"/>
                <a:gd name="connsiteY46" fmla="*/ 289903 h 496992"/>
                <a:gd name="connsiteX47" fmla="*/ 404189 w 609120"/>
                <a:gd name="connsiteY47" fmla="*/ 240183 h 496992"/>
                <a:gd name="connsiteX48" fmla="*/ 279770 w 609120"/>
                <a:gd name="connsiteY48" fmla="*/ 240183 h 496992"/>
                <a:gd name="connsiteX49" fmla="*/ 279770 w 609120"/>
                <a:gd name="connsiteY49" fmla="*/ 289903 h 496992"/>
                <a:gd name="connsiteX50" fmla="*/ 329561 w 609120"/>
                <a:gd name="connsiteY50" fmla="*/ 289903 h 496992"/>
                <a:gd name="connsiteX51" fmla="*/ 329561 w 609120"/>
                <a:gd name="connsiteY51" fmla="*/ 240183 h 496992"/>
                <a:gd name="connsiteX52" fmla="*/ 205085 w 609120"/>
                <a:gd name="connsiteY52" fmla="*/ 240183 h 496992"/>
                <a:gd name="connsiteX53" fmla="*/ 205085 w 609120"/>
                <a:gd name="connsiteY53" fmla="*/ 289903 h 496992"/>
                <a:gd name="connsiteX54" fmla="*/ 254875 w 609120"/>
                <a:gd name="connsiteY54" fmla="*/ 289903 h 496992"/>
                <a:gd name="connsiteX55" fmla="*/ 254875 w 609120"/>
                <a:gd name="connsiteY55" fmla="*/ 240183 h 496992"/>
                <a:gd name="connsiteX56" fmla="*/ 354456 w 609120"/>
                <a:gd name="connsiteY56" fmla="*/ 165603 h 496992"/>
                <a:gd name="connsiteX57" fmla="*/ 354456 w 609120"/>
                <a:gd name="connsiteY57" fmla="*/ 215323 h 496992"/>
                <a:gd name="connsiteX58" fmla="*/ 404189 w 609120"/>
                <a:gd name="connsiteY58" fmla="*/ 215323 h 496992"/>
                <a:gd name="connsiteX59" fmla="*/ 404189 w 609120"/>
                <a:gd name="connsiteY59" fmla="*/ 165603 h 496992"/>
                <a:gd name="connsiteX60" fmla="*/ 279770 w 609120"/>
                <a:gd name="connsiteY60" fmla="*/ 165603 h 496992"/>
                <a:gd name="connsiteX61" fmla="*/ 279770 w 609120"/>
                <a:gd name="connsiteY61" fmla="*/ 215323 h 496992"/>
                <a:gd name="connsiteX62" fmla="*/ 329561 w 609120"/>
                <a:gd name="connsiteY62" fmla="*/ 215323 h 496992"/>
                <a:gd name="connsiteX63" fmla="*/ 329561 w 609120"/>
                <a:gd name="connsiteY63" fmla="*/ 165603 h 496992"/>
                <a:gd name="connsiteX64" fmla="*/ 205085 w 609120"/>
                <a:gd name="connsiteY64" fmla="*/ 165603 h 496992"/>
                <a:gd name="connsiteX65" fmla="*/ 205085 w 609120"/>
                <a:gd name="connsiteY65" fmla="*/ 215323 h 496992"/>
                <a:gd name="connsiteX66" fmla="*/ 254875 w 609120"/>
                <a:gd name="connsiteY66" fmla="*/ 215323 h 496992"/>
                <a:gd name="connsiteX67" fmla="*/ 254875 w 609120"/>
                <a:gd name="connsiteY67" fmla="*/ 165603 h 496992"/>
                <a:gd name="connsiteX68" fmla="*/ 304666 w 609120"/>
                <a:gd name="connsiteY68" fmla="*/ 50313 h 496992"/>
                <a:gd name="connsiteX69" fmla="*/ 446043 w 609120"/>
                <a:gd name="connsiteY69" fmla="*/ 144792 h 496992"/>
                <a:gd name="connsiteX70" fmla="*/ 446043 w 609120"/>
                <a:gd name="connsiteY70" fmla="*/ 496992 h 496992"/>
                <a:gd name="connsiteX71" fmla="*/ 346119 w 609120"/>
                <a:gd name="connsiteY71" fmla="*/ 496992 h 496992"/>
                <a:gd name="connsiteX72" fmla="*/ 346119 w 609120"/>
                <a:gd name="connsiteY72" fmla="*/ 381018 h 496992"/>
                <a:gd name="connsiteX73" fmla="*/ 263154 w 609120"/>
                <a:gd name="connsiteY73" fmla="*/ 381018 h 496992"/>
                <a:gd name="connsiteX74" fmla="*/ 263154 w 609120"/>
                <a:gd name="connsiteY74" fmla="*/ 496992 h 496992"/>
                <a:gd name="connsiteX75" fmla="*/ 163288 w 609120"/>
                <a:gd name="connsiteY75" fmla="*/ 496992 h 496992"/>
                <a:gd name="connsiteX76" fmla="*/ 163288 w 609120"/>
                <a:gd name="connsiteY76" fmla="*/ 144792 h 496992"/>
                <a:gd name="connsiteX77" fmla="*/ 304666 w 609120"/>
                <a:gd name="connsiteY77" fmla="*/ 0 h 496992"/>
                <a:gd name="connsiteX78" fmla="*/ 501719 w 609120"/>
                <a:gd name="connsiteY78" fmla="*/ 131040 h 496992"/>
                <a:gd name="connsiteX79" fmla="*/ 455296 w 609120"/>
                <a:gd name="connsiteY79" fmla="*/ 131040 h 496992"/>
                <a:gd name="connsiteX80" fmla="*/ 309291 w 609120"/>
                <a:gd name="connsiteY80" fmla="*/ 33473 h 496992"/>
                <a:gd name="connsiteX81" fmla="*/ 300040 w 609120"/>
                <a:gd name="connsiteY81" fmla="*/ 33473 h 496992"/>
                <a:gd name="connsiteX82" fmla="*/ 154035 w 609120"/>
                <a:gd name="connsiteY82" fmla="*/ 131040 h 496992"/>
                <a:gd name="connsiteX83" fmla="*/ 107612 w 609120"/>
                <a:gd name="connsiteY83" fmla="*/ 131040 h 49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9120" h="496992">
                  <a:moveTo>
                    <a:pt x="508188" y="388434"/>
                  </a:moveTo>
                  <a:lnTo>
                    <a:pt x="508188" y="438152"/>
                  </a:lnTo>
                  <a:lnTo>
                    <a:pt x="557983" y="438152"/>
                  </a:lnTo>
                  <a:lnTo>
                    <a:pt x="557983" y="388434"/>
                  </a:lnTo>
                  <a:close/>
                  <a:moveTo>
                    <a:pt x="51136" y="388434"/>
                  </a:moveTo>
                  <a:lnTo>
                    <a:pt x="51136" y="438152"/>
                  </a:lnTo>
                  <a:lnTo>
                    <a:pt x="100931" y="438152"/>
                  </a:lnTo>
                  <a:lnTo>
                    <a:pt x="100931" y="388434"/>
                  </a:lnTo>
                  <a:close/>
                  <a:moveTo>
                    <a:pt x="508188" y="314770"/>
                  </a:moveTo>
                  <a:lnTo>
                    <a:pt x="508188" y="364430"/>
                  </a:lnTo>
                  <a:lnTo>
                    <a:pt x="557983" y="364430"/>
                  </a:lnTo>
                  <a:lnTo>
                    <a:pt x="557983" y="314770"/>
                  </a:lnTo>
                  <a:close/>
                  <a:moveTo>
                    <a:pt x="51136" y="314770"/>
                  </a:moveTo>
                  <a:lnTo>
                    <a:pt x="51136" y="364430"/>
                  </a:lnTo>
                  <a:lnTo>
                    <a:pt x="100931" y="364430"/>
                  </a:lnTo>
                  <a:lnTo>
                    <a:pt x="100931" y="314770"/>
                  </a:lnTo>
                  <a:close/>
                  <a:moveTo>
                    <a:pt x="354456" y="314763"/>
                  </a:moveTo>
                  <a:lnTo>
                    <a:pt x="354456" y="364425"/>
                  </a:lnTo>
                  <a:lnTo>
                    <a:pt x="404189" y="364425"/>
                  </a:lnTo>
                  <a:lnTo>
                    <a:pt x="404189" y="314763"/>
                  </a:lnTo>
                  <a:close/>
                  <a:moveTo>
                    <a:pt x="279770" y="314763"/>
                  </a:moveTo>
                  <a:lnTo>
                    <a:pt x="279770" y="364425"/>
                  </a:lnTo>
                  <a:lnTo>
                    <a:pt x="329561" y="364425"/>
                  </a:lnTo>
                  <a:lnTo>
                    <a:pt x="329561" y="314763"/>
                  </a:lnTo>
                  <a:close/>
                  <a:moveTo>
                    <a:pt x="205085" y="314763"/>
                  </a:moveTo>
                  <a:lnTo>
                    <a:pt x="205085" y="364425"/>
                  </a:lnTo>
                  <a:lnTo>
                    <a:pt x="254875" y="364425"/>
                  </a:lnTo>
                  <a:lnTo>
                    <a:pt x="254875" y="314763"/>
                  </a:lnTo>
                  <a:close/>
                  <a:moveTo>
                    <a:pt x="469471" y="288542"/>
                  </a:moveTo>
                  <a:lnTo>
                    <a:pt x="596700" y="288542"/>
                  </a:lnTo>
                  <a:lnTo>
                    <a:pt x="596700" y="496992"/>
                  </a:lnTo>
                  <a:lnTo>
                    <a:pt x="469471" y="496992"/>
                  </a:lnTo>
                  <a:close/>
                  <a:moveTo>
                    <a:pt x="12419" y="288542"/>
                  </a:moveTo>
                  <a:lnTo>
                    <a:pt x="139648" y="288542"/>
                  </a:lnTo>
                  <a:lnTo>
                    <a:pt x="139648" y="496992"/>
                  </a:lnTo>
                  <a:lnTo>
                    <a:pt x="12419" y="496992"/>
                  </a:lnTo>
                  <a:close/>
                  <a:moveTo>
                    <a:pt x="469471" y="257070"/>
                  </a:moveTo>
                  <a:lnTo>
                    <a:pt x="609120" y="257070"/>
                  </a:lnTo>
                  <a:lnTo>
                    <a:pt x="609120" y="271959"/>
                  </a:lnTo>
                  <a:lnTo>
                    <a:pt x="469471" y="271959"/>
                  </a:lnTo>
                  <a:close/>
                  <a:moveTo>
                    <a:pt x="0" y="257070"/>
                  </a:moveTo>
                  <a:lnTo>
                    <a:pt x="139649" y="257070"/>
                  </a:lnTo>
                  <a:lnTo>
                    <a:pt x="139649" y="271959"/>
                  </a:lnTo>
                  <a:lnTo>
                    <a:pt x="0" y="271959"/>
                  </a:lnTo>
                  <a:close/>
                  <a:moveTo>
                    <a:pt x="354456" y="240183"/>
                  </a:moveTo>
                  <a:lnTo>
                    <a:pt x="354456" y="289903"/>
                  </a:lnTo>
                  <a:lnTo>
                    <a:pt x="404189" y="289903"/>
                  </a:lnTo>
                  <a:lnTo>
                    <a:pt x="404189" y="240183"/>
                  </a:lnTo>
                  <a:close/>
                  <a:moveTo>
                    <a:pt x="279770" y="240183"/>
                  </a:moveTo>
                  <a:lnTo>
                    <a:pt x="279770" y="289903"/>
                  </a:lnTo>
                  <a:lnTo>
                    <a:pt x="329561" y="289903"/>
                  </a:lnTo>
                  <a:lnTo>
                    <a:pt x="329561" y="240183"/>
                  </a:lnTo>
                  <a:close/>
                  <a:moveTo>
                    <a:pt x="205085" y="240183"/>
                  </a:moveTo>
                  <a:lnTo>
                    <a:pt x="205085" y="289903"/>
                  </a:lnTo>
                  <a:lnTo>
                    <a:pt x="254875" y="289903"/>
                  </a:lnTo>
                  <a:lnTo>
                    <a:pt x="254875" y="240183"/>
                  </a:lnTo>
                  <a:close/>
                  <a:moveTo>
                    <a:pt x="354456" y="165603"/>
                  </a:moveTo>
                  <a:lnTo>
                    <a:pt x="354456" y="215323"/>
                  </a:lnTo>
                  <a:lnTo>
                    <a:pt x="404189" y="215323"/>
                  </a:lnTo>
                  <a:lnTo>
                    <a:pt x="404189" y="165603"/>
                  </a:lnTo>
                  <a:close/>
                  <a:moveTo>
                    <a:pt x="279770" y="165603"/>
                  </a:moveTo>
                  <a:lnTo>
                    <a:pt x="279770" y="215323"/>
                  </a:lnTo>
                  <a:lnTo>
                    <a:pt x="329561" y="215323"/>
                  </a:lnTo>
                  <a:lnTo>
                    <a:pt x="329561" y="165603"/>
                  </a:lnTo>
                  <a:close/>
                  <a:moveTo>
                    <a:pt x="205085" y="165603"/>
                  </a:moveTo>
                  <a:lnTo>
                    <a:pt x="205085" y="215323"/>
                  </a:lnTo>
                  <a:lnTo>
                    <a:pt x="254875" y="215323"/>
                  </a:lnTo>
                  <a:lnTo>
                    <a:pt x="254875" y="165603"/>
                  </a:lnTo>
                  <a:close/>
                  <a:moveTo>
                    <a:pt x="304666" y="50313"/>
                  </a:moveTo>
                  <a:lnTo>
                    <a:pt x="446043" y="144792"/>
                  </a:lnTo>
                  <a:lnTo>
                    <a:pt x="446043" y="496992"/>
                  </a:lnTo>
                  <a:lnTo>
                    <a:pt x="346119" y="496992"/>
                  </a:lnTo>
                  <a:lnTo>
                    <a:pt x="346119" y="381018"/>
                  </a:lnTo>
                  <a:lnTo>
                    <a:pt x="263154" y="381018"/>
                  </a:lnTo>
                  <a:lnTo>
                    <a:pt x="263154" y="496992"/>
                  </a:lnTo>
                  <a:lnTo>
                    <a:pt x="163288" y="496992"/>
                  </a:lnTo>
                  <a:lnTo>
                    <a:pt x="163288" y="144792"/>
                  </a:lnTo>
                  <a:close/>
                  <a:moveTo>
                    <a:pt x="304666" y="0"/>
                  </a:moveTo>
                  <a:lnTo>
                    <a:pt x="501719" y="131040"/>
                  </a:lnTo>
                  <a:lnTo>
                    <a:pt x="455296" y="131040"/>
                  </a:lnTo>
                  <a:lnTo>
                    <a:pt x="309291" y="33473"/>
                  </a:lnTo>
                  <a:lnTo>
                    <a:pt x="300040" y="33473"/>
                  </a:lnTo>
                  <a:lnTo>
                    <a:pt x="154035" y="131040"/>
                  </a:lnTo>
                  <a:lnTo>
                    <a:pt x="107612" y="131040"/>
                  </a:lnTo>
                  <a:close/>
                </a:path>
              </a:pathLst>
            </a:custGeom>
            <a:gradFill>
              <a:gsLst>
                <a:gs pos="0">
                  <a:schemeClr val="accent1">
                    <a:lumMod val="75000"/>
                    <a:alpha val="85000"/>
                  </a:schemeClr>
                </a:gs>
                <a:gs pos="100000">
                  <a:schemeClr val="accent1">
                    <a:lumMod val="75000"/>
                    <a:alpha val="57000"/>
                  </a:schemeClr>
                </a:gs>
              </a:gsLst>
              <a:lin ang="5400000" scaled="1"/>
            </a:gra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grpSp>
      <p:sp>
        <p:nvSpPr>
          <p:cNvPr id="37" name="文本框 36"/>
          <p:cNvSpPr txBox="1"/>
          <p:nvPr/>
        </p:nvSpPr>
        <p:spPr>
          <a:xfrm>
            <a:off x="1000730" y="2306991"/>
            <a:ext cx="6703813" cy="3135858"/>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en-US" altLang="zh-CN" sz="2400" b="0" i="0" dirty="0">
                <a:solidFill>
                  <a:srgbClr val="333333"/>
                </a:solidFill>
                <a:effectLst/>
                <a:highlight>
                  <a:srgbClr val="FFFFFF"/>
                </a:highlight>
                <a:latin typeface="仿宋" panose="02010609060101010101" pitchFamily="49" charset="-122"/>
                <a:ea typeface="仿宋" panose="02010609060101010101" pitchFamily="49" charset="-122"/>
              </a:rPr>
              <a:t>HD</a:t>
            </a:r>
            <a:r>
              <a:rPr lang="zh-CN" altLang="en-US" sz="2400" b="0" i="0" dirty="0">
                <a:solidFill>
                  <a:srgbClr val="333333"/>
                </a:solidFill>
                <a:effectLst/>
                <a:highlight>
                  <a:srgbClr val="FFFFFF"/>
                </a:highlight>
                <a:latin typeface="仿宋" panose="02010609060101010101" pitchFamily="49" charset="-122"/>
                <a:ea typeface="仿宋" panose="02010609060101010101" pitchFamily="49" charset="-122"/>
              </a:rPr>
              <a:t>患者的抑郁可采取与其他抑郁症患者相同的药物治疗。首选选择性</a:t>
            </a:r>
            <a:r>
              <a:rPr lang="en-US" altLang="zh-CN" sz="2400" b="0" i="0" dirty="0">
                <a:solidFill>
                  <a:srgbClr val="333333"/>
                </a:solidFill>
                <a:effectLst/>
                <a:highlight>
                  <a:srgbClr val="FFFFFF"/>
                </a:highlight>
                <a:latin typeface="仿宋" panose="02010609060101010101" pitchFamily="49" charset="-122"/>
                <a:ea typeface="仿宋" panose="02010609060101010101" pitchFamily="49" charset="-122"/>
              </a:rPr>
              <a:t>SSRI</a:t>
            </a:r>
            <a:r>
              <a:rPr lang="zh-CN" altLang="en-US" sz="2400" b="0" i="0" dirty="0">
                <a:solidFill>
                  <a:srgbClr val="333333"/>
                </a:solidFill>
                <a:effectLst/>
                <a:highlight>
                  <a:srgbClr val="FFFFFF"/>
                </a:highlight>
                <a:latin typeface="仿宋" panose="02010609060101010101" pitchFamily="49" charset="-122"/>
                <a:ea typeface="仿宋" panose="02010609060101010101" pitchFamily="49" charset="-122"/>
              </a:rPr>
              <a:t>，如西酞普兰、舍曲林、帕罗西汀等。</a:t>
            </a:r>
            <a:endParaRPr lang="en-US" altLang="zh-CN" sz="2400" b="0" i="0" dirty="0">
              <a:solidFill>
                <a:srgbClr val="333333"/>
              </a:solidFill>
              <a:effectLst/>
              <a:highlight>
                <a:srgbClr val="FFFFFF"/>
              </a:highlight>
              <a:latin typeface="仿宋" panose="02010609060101010101" pitchFamily="49" charset="-122"/>
              <a:ea typeface="仿宋" panose="02010609060101010101" pitchFamily="49" charset="-122"/>
            </a:endParaRPr>
          </a:p>
          <a:p>
            <a:pPr algn="l" hangingPunct="0">
              <a:lnSpc>
                <a:spcPct val="120000"/>
              </a:lnSpc>
            </a:pPr>
            <a:r>
              <a:rPr lang="zh-CN" altLang="en-US" sz="2400" b="0" i="0" dirty="0">
                <a:solidFill>
                  <a:srgbClr val="333333"/>
                </a:solidFill>
                <a:effectLst/>
                <a:highlight>
                  <a:srgbClr val="FFFFFF"/>
                </a:highlight>
                <a:latin typeface="仿宋" panose="02010609060101010101" pitchFamily="49" charset="-122"/>
                <a:ea typeface="仿宋" panose="02010609060101010101" pitchFamily="49" charset="-122"/>
              </a:rPr>
              <a:t>伴有躁狂的</a:t>
            </a:r>
            <a:r>
              <a:rPr lang="en-US" altLang="zh-CN" sz="2400" b="0" i="0" dirty="0">
                <a:solidFill>
                  <a:srgbClr val="333333"/>
                </a:solidFill>
                <a:effectLst/>
                <a:highlight>
                  <a:srgbClr val="FFFFFF"/>
                </a:highlight>
                <a:latin typeface="仿宋" panose="02010609060101010101" pitchFamily="49" charset="-122"/>
                <a:ea typeface="仿宋" panose="02010609060101010101" pitchFamily="49" charset="-122"/>
              </a:rPr>
              <a:t>HD</a:t>
            </a:r>
            <a:r>
              <a:rPr lang="zh-CN" altLang="en-US" sz="2400" b="0" i="0" dirty="0">
                <a:solidFill>
                  <a:srgbClr val="333333"/>
                </a:solidFill>
                <a:effectLst/>
                <a:highlight>
                  <a:srgbClr val="FFFFFF"/>
                </a:highlight>
                <a:latin typeface="仿宋" panose="02010609060101010101" pitchFamily="49" charset="-122"/>
                <a:ea typeface="仿宋" panose="02010609060101010101" pitchFamily="49" charset="-122"/>
              </a:rPr>
              <a:t>患者常用心境稳定剂治疗。抗惊厥药，如丙戊酸盐或卡马西平，应从小剂量开始渐增。上述药物可能造成肝功能异常和血白细胞减少，用药期间应注意监控。</a:t>
            </a:r>
            <a:endParaRPr lang="en-US" altLang="zh-CN" sz="2400" b="0" i="0" dirty="0">
              <a:solidFill>
                <a:srgbClr val="333333"/>
              </a:solidFill>
              <a:effectLst/>
              <a:highlight>
                <a:srgbClr val="FFFFFF"/>
              </a:highlight>
              <a:latin typeface="仿宋" panose="02010609060101010101" pitchFamily="49" charset="-122"/>
              <a:ea typeface="仿宋" panose="02010609060101010101" pitchFamily="49" charset="-122"/>
            </a:endParaRPr>
          </a:p>
        </p:txBody>
      </p:sp>
      <p:sp>
        <p:nvSpPr>
          <p:cNvPr id="43" name="文本框 42"/>
          <p:cNvSpPr txBox="1"/>
          <p:nvPr/>
        </p:nvSpPr>
        <p:spPr>
          <a:xfrm>
            <a:off x="476163" y="1278114"/>
            <a:ext cx="3157087" cy="461665"/>
          </a:xfrm>
          <a:prstGeom prst="rect">
            <a:avLst/>
          </a:prstGeom>
          <a:noFill/>
        </p:spPr>
        <p:txBody>
          <a:bodyPr wrap="square" rtlCol="0">
            <a:spAutoFit/>
          </a:bodyPr>
          <a:lstStyle/>
          <a:p>
            <a:r>
              <a:rPr lang="en-US" altLang="zh-CN"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3.4</a:t>
            </a:r>
            <a:r>
              <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rPr>
              <a:t>精神障碍的治疗</a:t>
            </a:r>
            <a:endParaRPr lang="zh-CN" altLang="en-US" sz="2400" b="1" dirty="0">
              <a:gradFill>
                <a:gsLst>
                  <a:gs pos="100000">
                    <a:schemeClr val="accent1">
                      <a:lumMod val="75000"/>
                      <a:alpha val="62000"/>
                    </a:schemeClr>
                  </a:gs>
                  <a:gs pos="0">
                    <a:schemeClr val="accent1">
                      <a:lumMod val="75000"/>
                      <a:alpha val="88000"/>
                    </a:schemeClr>
                  </a:gs>
                </a:gsLst>
                <a:lin ang="5400000" scaled="1"/>
              </a:gradFill>
              <a:latin typeface="微软雅黑" panose="020B0503020204020204" pitchFamily="34" charset="-122"/>
              <a:ea typeface="微软雅黑" panose="020B0503020204020204" pitchFamily="34" charset="-122"/>
            </a:endParaRPr>
          </a:p>
        </p:txBody>
      </p:sp>
      <p:grpSp>
        <p:nvGrpSpPr>
          <p:cNvPr id="44" name="组合 43"/>
          <p:cNvGrpSpPr/>
          <p:nvPr/>
        </p:nvGrpSpPr>
        <p:grpSpPr>
          <a:xfrm>
            <a:off x="689052" y="6001082"/>
            <a:ext cx="10361517" cy="859852"/>
            <a:chOff x="-2305032" y="5576765"/>
            <a:chExt cx="17784565" cy="1475854"/>
          </a:xfrm>
        </p:grpSpPr>
        <p:sp>
          <p:nvSpPr>
            <p:cNvPr id="45" name="任意多边形: 形状 6"/>
            <p:cNvSpPr/>
            <p:nvPr/>
          </p:nvSpPr>
          <p:spPr>
            <a:xfrm>
              <a:off x="3420609" y="6267956"/>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任意多边形: 形状 7"/>
            <p:cNvSpPr/>
            <p:nvPr/>
          </p:nvSpPr>
          <p:spPr>
            <a:xfrm>
              <a:off x="6804716" y="5576765"/>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任意多边形: 形状 9"/>
            <p:cNvSpPr/>
            <p:nvPr/>
          </p:nvSpPr>
          <p:spPr>
            <a:xfrm>
              <a:off x="-2220266" y="5802471"/>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8" name="任意多边形: 形状 10"/>
            <p:cNvSpPr/>
            <p:nvPr/>
          </p:nvSpPr>
          <p:spPr>
            <a:xfrm>
              <a:off x="-2126607" y="5894547"/>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9" name="任意多边形: 形状 11"/>
            <p:cNvSpPr/>
            <p:nvPr/>
          </p:nvSpPr>
          <p:spPr>
            <a:xfrm>
              <a:off x="-2305032" y="6047539"/>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0" name="任意多边形: 形状 12"/>
            <p:cNvSpPr/>
            <p:nvPr/>
          </p:nvSpPr>
          <p:spPr>
            <a:xfrm>
              <a:off x="6659283" y="5699463"/>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1" name="任意多边形: 形状 13"/>
            <p:cNvSpPr/>
            <p:nvPr/>
          </p:nvSpPr>
          <p:spPr>
            <a:xfrm>
              <a:off x="3573184" y="6356225"/>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pic>
        <p:nvPicPr>
          <p:cNvPr id="57" name="图片 56"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rcRect t="13412" r="45166" b="17638"/>
          <a:stretch>
            <a:fillRect/>
          </a:stretch>
        </p:blipFill>
        <p:spPr>
          <a:xfrm>
            <a:off x="142513" y="-120075"/>
            <a:ext cx="785047" cy="987042"/>
          </a:xfrm>
          <a:prstGeom prst="rect">
            <a:avLst/>
          </a:prstGeom>
        </p:spPr>
      </p:pic>
      <p:pic>
        <p:nvPicPr>
          <p:cNvPr id="58" name="图片 57" descr="/private/var/folders/yy/k9vbpjvs50n3dskbszjx5l8r0000gn/T/com.kingsoft.wpsoffice.mac/photoedit2/20230330085317/temp.pngtemp"/>
          <p:cNvPicPr>
            <a:picLocks noChangeAspect="1"/>
          </p:cNvPicPr>
          <p:nvPr/>
        </p:nvPicPr>
        <p:blipFill rotWithShape="1">
          <a:blip r:embed="rId3"/>
          <a:srcRect l="1110" r="62900" b="9091"/>
          <a:stretch>
            <a:fillRect/>
          </a:stretch>
        </p:blipFill>
        <p:spPr>
          <a:xfrm>
            <a:off x="927963" y="-119986"/>
            <a:ext cx="1458647" cy="906365"/>
          </a:xfrm>
          <a:prstGeom prst="rect">
            <a:avLst/>
          </a:prstGeom>
        </p:spPr>
      </p:pic>
      <p:pic>
        <p:nvPicPr>
          <p:cNvPr id="3076" name="Picture 4" descr="【医学生期末复习资料】精神障碍病人的护理（1-5节重点） - 知乎"/>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5791" y="2352008"/>
            <a:ext cx="4270204" cy="27854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l="-2005" t="66878" r="2005" b="-62871"/>
          <a:stretch>
            <a:fillRect/>
          </a:stretch>
        </p:blipFill>
        <p:spPr>
          <a:xfrm>
            <a:off x="-245128" y="-29585"/>
            <a:ext cx="12436929" cy="2310108"/>
          </a:xfrm>
          <a:prstGeom prst="rect">
            <a:avLst/>
          </a:prstGeom>
        </p:spPr>
      </p:pic>
      <p:grpSp>
        <p:nvGrpSpPr>
          <p:cNvPr id="44" name="组合 43"/>
          <p:cNvGrpSpPr/>
          <p:nvPr/>
        </p:nvGrpSpPr>
        <p:grpSpPr>
          <a:xfrm>
            <a:off x="689052" y="6001082"/>
            <a:ext cx="10361517" cy="859852"/>
            <a:chOff x="-2305032" y="5576765"/>
            <a:chExt cx="17784565" cy="1475854"/>
          </a:xfrm>
        </p:grpSpPr>
        <p:sp>
          <p:nvSpPr>
            <p:cNvPr id="45" name="任意多边形: 形状 6"/>
            <p:cNvSpPr/>
            <p:nvPr/>
          </p:nvSpPr>
          <p:spPr>
            <a:xfrm>
              <a:off x="3420609" y="6267956"/>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任意多边形: 形状 7"/>
            <p:cNvSpPr/>
            <p:nvPr/>
          </p:nvSpPr>
          <p:spPr>
            <a:xfrm>
              <a:off x="6804716" y="5576765"/>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任意多边形: 形状 9"/>
            <p:cNvSpPr/>
            <p:nvPr/>
          </p:nvSpPr>
          <p:spPr>
            <a:xfrm>
              <a:off x="-2220266" y="5802471"/>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8" name="任意多边形: 形状 10"/>
            <p:cNvSpPr/>
            <p:nvPr/>
          </p:nvSpPr>
          <p:spPr>
            <a:xfrm>
              <a:off x="-2126607" y="5894547"/>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9" name="任意多边形: 形状 11"/>
            <p:cNvSpPr/>
            <p:nvPr/>
          </p:nvSpPr>
          <p:spPr>
            <a:xfrm>
              <a:off x="-2305032" y="6047539"/>
              <a:ext cx="10176247" cy="805333"/>
            </a:xfrm>
            <a:custGeom>
              <a:avLst/>
              <a:gdLst>
                <a:gd name="connsiteX0" fmla="*/ 5952044 w 10176247"/>
                <a:gd name="connsiteY0" fmla="*/ 959 h 1010904"/>
                <a:gd name="connsiteX1" fmla="*/ 6841000 w 10176247"/>
                <a:gd name="connsiteY1" fmla="*/ 334782 h 1010904"/>
                <a:gd name="connsiteX2" fmla="*/ 7813273 w 10176247"/>
                <a:gd name="connsiteY2" fmla="*/ 230610 h 1010904"/>
                <a:gd name="connsiteX3" fmla="*/ 10001974 w 10176247"/>
                <a:gd name="connsiteY3" fmla="*/ 924277 h 1010904"/>
                <a:gd name="connsiteX4" fmla="*/ 10176247 w 10176247"/>
                <a:gd name="connsiteY4" fmla="*/ 1010904 h 1010904"/>
                <a:gd name="connsiteX5" fmla="*/ 0 w 10176247"/>
                <a:gd name="connsiteY5" fmla="*/ 1010904 h 1010904"/>
                <a:gd name="connsiteX6" fmla="*/ 250077 w 10176247"/>
                <a:gd name="connsiteY6" fmla="*/ 920344 h 1010904"/>
                <a:gd name="connsiteX7" fmla="*/ 2118529 w 10176247"/>
                <a:gd name="connsiteY7" fmla="*/ 404231 h 1010904"/>
                <a:gd name="connsiteX8" fmla="*/ 4063076 w 10176247"/>
                <a:gd name="connsiteY8" fmla="*/ 797770 h 1010904"/>
                <a:gd name="connsiteX9" fmla="*/ 5787704 w 10176247"/>
                <a:gd name="connsiteY9" fmla="*/ 10691 h 1010904"/>
                <a:gd name="connsiteX10" fmla="*/ 5952044 w 10176247"/>
                <a:gd name="connsiteY10" fmla="*/ 959 h 10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247" h="1010904">
                  <a:moveTo>
                    <a:pt x="5952044" y="959"/>
                  </a:moveTo>
                  <a:cubicBezTo>
                    <a:pt x="6315196" y="19553"/>
                    <a:pt x="6545605" y="302711"/>
                    <a:pt x="6841000" y="334782"/>
                  </a:cubicBezTo>
                  <a:cubicBezTo>
                    <a:pt x="7178595" y="371435"/>
                    <a:pt x="7226822" y="95572"/>
                    <a:pt x="7813273" y="230610"/>
                  </a:cubicBezTo>
                  <a:cubicBezTo>
                    <a:pt x="8253111" y="331889"/>
                    <a:pt x="9409133" y="666469"/>
                    <a:pt x="10001974" y="924277"/>
                  </a:cubicBezTo>
                  <a:lnTo>
                    <a:pt x="10176247" y="1010904"/>
                  </a:lnTo>
                  <a:lnTo>
                    <a:pt x="0" y="1010904"/>
                  </a:lnTo>
                  <a:lnTo>
                    <a:pt x="250077" y="920344"/>
                  </a:lnTo>
                  <a:cubicBezTo>
                    <a:pt x="869880" y="699325"/>
                    <a:pt x="1630222" y="450047"/>
                    <a:pt x="2118529" y="404231"/>
                  </a:cubicBezTo>
                  <a:cubicBezTo>
                    <a:pt x="2899821" y="330925"/>
                    <a:pt x="3451547" y="863360"/>
                    <a:pt x="4063076" y="797770"/>
                  </a:cubicBezTo>
                  <a:cubicBezTo>
                    <a:pt x="4674605" y="732180"/>
                    <a:pt x="5324717" y="87856"/>
                    <a:pt x="5787704" y="10691"/>
                  </a:cubicBezTo>
                  <a:cubicBezTo>
                    <a:pt x="5845578" y="1045"/>
                    <a:pt x="5900165" y="-1698"/>
                    <a:pt x="5952044" y="95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0" name="任意多边形: 形状 12"/>
            <p:cNvSpPr/>
            <p:nvPr/>
          </p:nvSpPr>
          <p:spPr>
            <a:xfrm>
              <a:off x="6659283" y="5699463"/>
              <a:ext cx="8674817" cy="645771"/>
            </a:xfrm>
            <a:custGeom>
              <a:avLst/>
              <a:gdLst>
                <a:gd name="connsiteX0" fmla="*/ 1312966 w 8674817"/>
                <a:gd name="connsiteY0" fmla="*/ 249 h 1013035"/>
                <a:gd name="connsiteX1" fmla="*/ 3119617 w 8674817"/>
                <a:gd name="connsiteY1" fmla="*/ 688944 h 1013035"/>
                <a:gd name="connsiteX2" fmla="*/ 5017865 w 8674817"/>
                <a:gd name="connsiteY2" fmla="*/ 237532 h 1013035"/>
                <a:gd name="connsiteX3" fmla="*/ 8497696 w 8674817"/>
                <a:gd name="connsiteY3" fmla="*/ 952938 h 1013035"/>
                <a:gd name="connsiteX4" fmla="*/ 8674817 w 8674817"/>
                <a:gd name="connsiteY4" fmla="*/ 1013035 h 1013035"/>
                <a:gd name="connsiteX5" fmla="*/ 0 w 8674817"/>
                <a:gd name="connsiteY5" fmla="*/ 1013035 h 1013035"/>
                <a:gd name="connsiteX6" fmla="*/ 37060 w 8674817"/>
                <a:gd name="connsiteY6" fmla="*/ 962210 h 1013035"/>
                <a:gd name="connsiteX7" fmla="*/ 1209794 w 8674817"/>
                <a:gd name="connsiteY7" fmla="*/ 6038 h 1013035"/>
                <a:gd name="connsiteX8" fmla="*/ 1312966 w 8674817"/>
                <a:gd name="connsiteY8" fmla="*/ 249 h 101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74817" h="1013035">
                  <a:moveTo>
                    <a:pt x="1312966" y="249"/>
                  </a:moveTo>
                  <a:cubicBezTo>
                    <a:pt x="1839733" y="14696"/>
                    <a:pt x="2524607" y="652774"/>
                    <a:pt x="3119617" y="688944"/>
                  </a:cubicBezTo>
                  <a:cubicBezTo>
                    <a:pt x="3754295" y="727526"/>
                    <a:pt x="4068741" y="148793"/>
                    <a:pt x="5017865" y="237532"/>
                  </a:cubicBezTo>
                  <a:cubicBezTo>
                    <a:pt x="5670388" y="298540"/>
                    <a:pt x="7617678" y="678681"/>
                    <a:pt x="8497696" y="952938"/>
                  </a:cubicBezTo>
                  <a:lnTo>
                    <a:pt x="8674817" y="1013035"/>
                  </a:lnTo>
                  <a:lnTo>
                    <a:pt x="0" y="1013035"/>
                  </a:lnTo>
                  <a:lnTo>
                    <a:pt x="37060" y="962210"/>
                  </a:lnTo>
                  <a:cubicBezTo>
                    <a:pt x="380893" y="496711"/>
                    <a:pt x="738849" y="75245"/>
                    <a:pt x="1209794" y="6038"/>
                  </a:cubicBezTo>
                  <a:cubicBezTo>
                    <a:pt x="1243433" y="1095"/>
                    <a:pt x="1277848" y="-714"/>
                    <a:pt x="1312966" y="249"/>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1" name="任意多边形: 形状 13"/>
            <p:cNvSpPr/>
            <p:nvPr/>
          </p:nvSpPr>
          <p:spPr>
            <a:xfrm>
              <a:off x="3573184" y="6356225"/>
              <a:ext cx="8000881" cy="696394"/>
            </a:xfrm>
            <a:custGeom>
              <a:avLst/>
              <a:gdLst>
                <a:gd name="connsiteX0" fmla="*/ 5274980 w 8000881"/>
                <a:gd name="connsiteY0" fmla="*/ 344 h 696394"/>
                <a:gd name="connsiteX1" fmla="*/ 5414695 w 8000881"/>
                <a:gd name="connsiteY1" fmla="*/ 7450 h 696394"/>
                <a:gd name="connsiteX2" fmla="*/ 7880589 w 8000881"/>
                <a:gd name="connsiteY2" fmla="*/ 627069 h 696394"/>
                <a:gd name="connsiteX3" fmla="*/ 8000881 w 8000881"/>
                <a:gd name="connsiteY3" fmla="*/ 696394 h 696394"/>
                <a:gd name="connsiteX4" fmla="*/ 0 w 8000881"/>
                <a:gd name="connsiteY4" fmla="*/ 696394 h 696394"/>
                <a:gd name="connsiteX5" fmla="*/ 140167 w 8000881"/>
                <a:gd name="connsiteY5" fmla="*/ 632846 h 696394"/>
                <a:gd name="connsiteX6" fmla="*/ 344984 w 8000881"/>
                <a:gd name="connsiteY6" fmla="*/ 551461 h 696394"/>
                <a:gd name="connsiteX7" fmla="*/ 1629774 w 8000881"/>
                <a:gd name="connsiteY7" fmla="*/ 146347 h 696394"/>
                <a:gd name="connsiteX8" fmla="*/ 3481723 w 8000881"/>
                <a:gd name="connsiteY8" fmla="*/ 331542 h 696394"/>
                <a:gd name="connsiteX9" fmla="*/ 5274980 w 8000881"/>
                <a:gd name="connsiteY9" fmla="*/ 344 h 69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0881" h="696394">
                  <a:moveTo>
                    <a:pt x="5274980" y="344"/>
                  </a:moveTo>
                  <a:cubicBezTo>
                    <a:pt x="5320764" y="1165"/>
                    <a:pt x="5367311" y="3471"/>
                    <a:pt x="5414695" y="7450"/>
                  </a:cubicBezTo>
                  <a:cubicBezTo>
                    <a:pt x="6078069" y="63154"/>
                    <a:pt x="7400176" y="405391"/>
                    <a:pt x="7880589" y="627069"/>
                  </a:cubicBezTo>
                  <a:lnTo>
                    <a:pt x="8000881" y="696394"/>
                  </a:lnTo>
                  <a:lnTo>
                    <a:pt x="0" y="696394"/>
                  </a:lnTo>
                  <a:lnTo>
                    <a:pt x="140167" y="632846"/>
                  </a:lnTo>
                  <a:cubicBezTo>
                    <a:pt x="202833" y="607044"/>
                    <a:pt x="272643" y="579916"/>
                    <a:pt x="344984" y="551461"/>
                  </a:cubicBezTo>
                  <a:cubicBezTo>
                    <a:pt x="634351" y="437643"/>
                    <a:pt x="1106984" y="183000"/>
                    <a:pt x="1629774" y="146347"/>
                  </a:cubicBezTo>
                  <a:cubicBezTo>
                    <a:pt x="2152564" y="109694"/>
                    <a:pt x="2850903" y="354691"/>
                    <a:pt x="3481723" y="331542"/>
                  </a:cubicBezTo>
                  <a:cubicBezTo>
                    <a:pt x="4073117" y="309839"/>
                    <a:pt x="4588213" y="-11970"/>
                    <a:pt x="5274980" y="344"/>
                  </a:cubicBezTo>
                  <a:close/>
                </a:path>
              </a:pathLst>
            </a:custGeom>
            <a:gradFill>
              <a:gsLst>
                <a:gs pos="100000">
                  <a:srgbClr val="EEC88F">
                    <a:alpha val="0"/>
                  </a:srgbClr>
                </a:gs>
                <a:gs pos="0">
                  <a:srgbClr val="EEC88F">
                    <a:alpha val="3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pic>
        <p:nvPicPr>
          <p:cNvPr id="57" name="图片 56" descr="徽标&#10;&#10;描述已自动生成"/>
          <p:cNvPicPr>
            <a:picLocks noChangeAspect="1"/>
          </p:cNvPicPr>
          <p:nvPr/>
        </p:nvPicPr>
        <p:blipFill>
          <a:blip r:embed="rId2" cstate="print">
            <a:extLst>
              <a:ext uri="{28A0092B-C50C-407E-A947-70E740481C1C}">
                <a14:useLocalDpi xmlns:a14="http://schemas.microsoft.com/office/drawing/2010/main" val="0"/>
              </a:ext>
            </a:extLst>
          </a:blip>
          <a:srcRect t="13412" r="45166" b="17638"/>
          <a:stretch>
            <a:fillRect/>
          </a:stretch>
        </p:blipFill>
        <p:spPr>
          <a:xfrm>
            <a:off x="142513" y="-120075"/>
            <a:ext cx="785047" cy="987042"/>
          </a:xfrm>
          <a:prstGeom prst="rect">
            <a:avLst/>
          </a:prstGeom>
        </p:spPr>
      </p:pic>
      <p:pic>
        <p:nvPicPr>
          <p:cNvPr id="58" name="图片 57" descr="/private/var/folders/yy/k9vbpjvs50n3dskbszjx5l8r0000gn/T/com.kingsoft.wpsoffice.mac/photoedit2/20230330085317/temp.pngtemp"/>
          <p:cNvPicPr>
            <a:picLocks noChangeAspect="1"/>
          </p:cNvPicPr>
          <p:nvPr/>
        </p:nvPicPr>
        <p:blipFill rotWithShape="1">
          <a:blip r:embed="rId3"/>
          <a:srcRect l="1110" r="62900" b="9091"/>
          <a:stretch>
            <a:fillRect/>
          </a:stretch>
        </p:blipFill>
        <p:spPr>
          <a:xfrm>
            <a:off x="927963" y="-119986"/>
            <a:ext cx="1458647" cy="906365"/>
          </a:xfrm>
          <a:prstGeom prst="rect">
            <a:avLst/>
          </a:prstGeom>
        </p:spPr>
      </p:pic>
      <p:sp>
        <p:nvSpPr>
          <p:cNvPr id="3" name="文本框 2"/>
          <p:cNvSpPr txBox="1"/>
          <p:nvPr/>
        </p:nvSpPr>
        <p:spPr>
          <a:xfrm>
            <a:off x="688975" y="1484630"/>
            <a:ext cx="8858885" cy="438785"/>
          </a:xfrm>
          <a:prstGeom prst="rect">
            <a:avLst/>
          </a:prstGeom>
        </p:spPr>
        <p:txBody>
          <a:bodyPr>
            <a:noAutofit/>
            <a:extLst>
              <a:ext uri="{4A0BC546-FE56-4ADE-93B0-CB8AF2F6F144}">
                <wpsdc:textFrameExt xmlns:wpsdc="http://www.wps.cn/officeDocument/2022/drawingmlCustomData" type="text"/>
              </a:ext>
            </a:extLst>
          </a:bodyPr>
          <a:p>
            <a:pPr algn="l"/>
            <a:r>
              <a:rPr lang="zh-CN" altLang="en-US" sz="2800">
                <a:latin typeface="Arial" panose="020B0604020202020204" pitchFamily="34" charset="0"/>
                <a:ea typeface="微软雅黑" panose="020B0503020204020204" pitchFamily="34" charset="-122"/>
              </a:rPr>
              <a:t>亨廷顿舞蹈症是由下面哪一个染色体的异常引起的（）</a:t>
            </a:r>
            <a:endParaRPr lang="zh-CN" altLang="en-US" sz="2800">
              <a:latin typeface="Arial" panose="020B0604020202020204" pitchFamily="34" charset="0"/>
              <a:ea typeface="微软雅黑" panose="020B0503020204020204" pitchFamily="34" charset="-122"/>
            </a:endParaRPr>
          </a:p>
        </p:txBody>
      </p:sp>
      <p:sp>
        <p:nvSpPr>
          <p:cNvPr id="5" name="文本框 4"/>
          <p:cNvSpPr txBox="1"/>
          <p:nvPr/>
        </p:nvSpPr>
        <p:spPr>
          <a:xfrm>
            <a:off x="927735" y="2470785"/>
            <a:ext cx="8502650" cy="1099820"/>
          </a:xfrm>
          <a:prstGeom prst="rect">
            <a:avLst/>
          </a:prstGeom>
        </p:spPr>
        <p:txBody>
          <a:bodyPr>
            <a:noAutofit/>
            <a:extLst>
              <a:ext uri="{4A0BC546-FE56-4ADE-93B0-CB8AF2F6F144}">
                <wpsdc:textFrameExt xmlns:wpsdc="http://www.wps.cn/officeDocument/2022/drawingmlCustomData" type="text"/>
              </a:ext>
            </a:extLst>
          </a:bodyPr>
          <a:p>
            <a:pPr algn="l"/>
            <a:r>
              <a:rPr lang="en-US" altLang="zh-CN" sz="2800">
                <a:latin typeface="Arial" panose="020B0604020202020204" pitchFamily="34" charset="0"/>
                <a:ea typeface="微软雅黑" panose="020B0503020204020204" pitchFamily="34" charset="-122"/>
              </a:rPr>
              <a:t>A:21</a:t>
            </a:r>
            <a:r>
              <a:rPr lang="zh-CN" altLang="en-US" sz="2800">
                <a:latin typeface="Arial" panose="020B0604020202020204" pitchFamily="34" charset="0"/>
                <a:ea typeface="微软雅黑" panose="020B0503020204020204" pitchFamily="34" charset="-122"/>
              </a:rPr>
              <a:t>号染色体</a:t>
            </a:r>
            <a:r>
              <a:rPr lang="en-US" altLang="zh-CN" sz="2800">
                <a:latin typeface="Arial" panose="020B0604020202020204" pitchFamily="34" charset="0"/>
                <a:ea typeface="微软雅黑" panose="020B0503020204020204" pitchFamily="34" charset="-122"/>
              </a:rPr>
              <a:t>                                 B:5</a:t>
            </a:r>
            <a:r>
              <a:rPr lang="zh-CN" altLang="en-US" sz="2800">
                <a:latin typeface="Arial" panose="020B0604020202020204" pitchFamily="34" charset="0"/>
                <a:ea typeface="微软雅黑" panose="020B0503020204020204" pitchFamily="34" charset="-122"/>
              </a:rPr>
              <a:t>号染色体</a:t>
            </a:r>
            <a:endParaRPr lang="en-US" altLang="zh-CN" sz="2800">
              <a:latin typeface="Arial" panose="020B0604020202020204" pitchFamily="34" charset="0"/>
              <a:ea typeface="微软雅黑" panose="020B0503020204020204" pitchFamily="34" charset="-122"/>
            </a:endParaRPr>
          </a:p>
          <a:p>
            <a:pPr algn="l"/>
            <a:r>
              <a:rPr lang="en-US" altLang="zh-CN" sz="2800">
                <a:latin typeface="Arial" panose="020B0604020202020204" pitchFamily="34" charset="0"/>
                <a:ea typeface="微软雅黑" panose="020B0503020204020204" pitchFamily="34" charset="-122"/>
              </a:rPr>
              <a:t>C:4</a:t>
            </a:r>
            <a:r>
              <a:rPr lang="zh-CN" altLang="en-US" sz="2800">
                <a:latin typeface="Arial" panose="020B0604020202020204" pitchFamily="34" charset="0"/>
                <a:ea typeface="微软雅黑" panose="020B0503020204020204" pitchFamily="34" charset="-122"/>
              </a:rPr>
              <a:t>号染色体</a:t>
            </a:r>
            <a:r>
              <a:rPr lang="en-US" altLang="zh-CN" sz="2800">
                <a:latin typeface="Arial" panose="020B0604020202020204" pitchFamily="34" charset="0"/>
                <a:ea typeface="微软雅黑" panose="020B0503020204020204" pitchFamily="34" charset="-122"/>
              </a:rPr>
              <a:t>                                   D:Y</a:t>
            </a:r>
            <a:r>
              <a:rPr lang="zh-CN" altLang="en-US" sz="2800">
                <a:latin typeface="Arial" panose="020B0604020202020204" pitchFamily="34" charset="0"/>
                <a:ea typeface="微软雅黑" panose="020B0503020204020204" pitchFamily="34" charset="-122"/>
              </a:rPr>
              <a:t>染色体</a:t>
            </a:r>
            <a:endParaRPr lang="zh-CN" altLang="en-US" sz="2800">
              <a:latin typeface="Arial" panose="020B0604020202020204" pitchFamily="34" charset="0"/>
              <a:ea typeface="微软雅黑" panose="020B0503020204020204" pitchFamily="34" charset="-122"/>
            </a:endParaRPr>
          </a:p>
        </p:txBody>
      </p:sp>
      <p:sp>
        <p:nvSpPr>
          <p:cNvPr id="6" name="文本框 5"/>
          <p:cNvSpPr txBox="1"/>
          <p:nvPr/>
        </p:nvSpPr>
        <p:spPr>
          <a:xfrm>
            <a:off x="815975" y="3570605"/>
            <a:ext cx="8858885" cy="438785"/>
          </a:xfrm>
          <a:prstGeom prst="rect">
            <a:avLst/>
          </a:prstGeom>
        </p:spPr>
        <p:txBody>
          <a:bodyPr>
            <a:noAutofit/>
            <a:extLst>
              <a:ext uri="{4A0BC546-FE56-4ADE-93B0-CB8AF2F6F144}">
                <wpsdc:textFrameExt xmlns:wpsdc="http://www.wps.cn/officeDocument/2022/drawingmlCustomData" type="text"/>
              </a:ext>
            </a:extLst>
          </a:bodyPr>
          <a:p>
            <a:pPr algn="l"/>
            <a:r>
              <a:rPr lang="zh-CN" altLang="en-US" sz="2800">
                <a:latin typeface="Arial" panose="020B0604020202020204" pitchFamily="34" charset="0"/>
                <a:ea typeface="微软雅黑" panose="020B0503020204020204" pitchFamily="34" charset="-122"/>
              </a:rPr>
              <a:t>亨廷顿舞蹈症是直接通路增强间接通路减弱引起的，那直接通路减弱间接通路增强是下面哪一种疾病的</a:t>
            </a:r>
            <a:r>
              <a:rPr lang="zh-CN" altLang="en-US" sz="2800">
                <a:latin typeface="Arial" panose="020B0604020202020204" pitchFamily="34" charset="0"/>
                <a:ea typeface="微软雅黑" panose="020B0503020204020204" pitchFamily="34" charset="-122"/>
              </a:rPr>
              <a:t>机制（）</a:t>
            </a:r>
            <a:endParaRPr lang="zh-CN" altLang="en-US" sz="2800">
              <a:latin typeface="Arial" panose="020B0604020202020204" pitchFamily="34" charset="0"/>
              <a:ea typeface="微软雅黑" panose="020B0503020204020204" pitchFamily="34" charset="-122"/>
            </a:endParaRPr>
          </a:p>
        </p:txBody>
      </p:sp>
      <p:sp>
        <p:nvSpPr>
          <p:cNvPr id="7" name="文本框 6"/>
          <p:cNvSpPr txBox="1"/>
          <p:nvPr/>
        </p:nvSpPr>
        <p:spPr>
          <a:xfrm>
            <a:off x="927735" y="4682490"/>
            <a:ext cx="8502650" cy="1099820"/>
          </a:xfrm>
          <a:prstGeom prst="rect">
            <a:avLst/>
          </a:prstGeom>
        </p:spPr>
        <p:txBody>
          <a:bodyPr>
            <a:noAutofit/>
            <a:extLst>
              <a:ext uri="{4A0BC546-FE56-4ADE-93B0-CB8AF2F6F144}">
                <wpsdc:textFrameExt xmlns:wpsdc="http://www.wps.cn/officeDocument/2022/drawingmlCustomData" type="text"/>
              </a:ext>
            </a:extLst>
          </a:bodyPr>
          <a:p>
            <a:pPr algn="l"/>
            <a:r>
              <a:rPr lang="en-US" altLang="zh-CN" sz="2800">
                <a:latin typeface="Arial" panose="020B0604020202020204" pitchFamily="34" charset="0"/>
                <a:ea typeface="微软雅黑" panose="020B0503020204020204" pitchFamily="34" charset="-122"/>
              </a:rPr>
              <a:t>A:</a:t>
            </a:r>
            <a:r>
              <a:rPr lang="zh-CN" altLang="en-US" sz="2800">
                <a:latin typeface="Arial" panose="020B0604020202020204" pitchFamily="34" charset="0"/>
                <a:ea typeface="微软雅黑" panose="020B0503020204020204" pitchFamily="34" charset="-122"/>
              </a:rPr>
              <a:t>帕金森</a:t>
            </a:r>
            <a:r>
              <a:rPr lang="en-US" altLang="zh-CN" sz="2800">
                <a:latin typeface="Arial" panose="020B0604020202020204" pitchFamily="34" charset="0"/>
                <a:ea typeface="微软雅黑" panose="020B0503020204020204" pitchFamily="34" charset="-122"/>
              </a:rPr>
              <a:t>                                   B:</a:t>
            </a:r>
            <a:r>
              <a:rPr lang="zh-CN" altLang="en-US" sz="2800">
                <a:latin typeface="Arial" panose="020B0604020202020204" pitchFamily="34" charset="0"/>
                <a:ea typeface="微软雅黑" panose="020B0503020204020204" pitchFamily="34" charset="-122"/>
              </a:rPr>
              <a:t>妥瑞症</a:t>
            </a:r>
            <a:endParaRPr lang="en-US" altLang="zh-CN" sz="2800">
              <a:latin typeface="Arial" panose="020B0604020202020204" pitchFamily="34" charset="0"/>
              <a:ea typeface="微软雅黑" panose="020B0503020204020204" pitchFamily="34" charset="-122"/>
            </a:endParaRPr>
          </a:p>
          <a:p>
            <a:pPr algn="l"/>
            <a:r>
              <a:rPr lang="en-US" altLang="zh-CN" sz="2800">
                <a:latin typeface="Arial" panose="020B0604020202020204" pitchFamily="34" charset="0"/>
                <a:ea typeface="微软雅黑" panose="020B0503020204020204" pitchFamily="34" charset="-122"/>
              </a:rPr>
              <a:t>C:</a:t>
            </a:r>
            <a:r>
              <a:rPr lang="zh-CN" altLang="en-US" sz="2800">
                <a:latin typeface="Arial" panose="020B0604020202020204" pitchFamily="34" charset="0"/>
                <a:ea typeface="微软雅黑" panose="020B0503020204020204" pitchFamily="34" charset="-122"/>
              </a:rPr>
              <a:t>抑郁症</a:t>
            </a:r>
            <a:r>
              <a:rPr lang="en-US" altLang="zh-CN" sz="2800">
                <a:latin typeface="Arial" panose="020B0604020202020204" pitchFamily="34" charset="0"/>
                <a:ea typeface="微软雅黑" panose="020B0503020204020204" pitchFamily="34" charset="-122"/>
              </a:rPr>
              <a:t>                                   D:</a:t>
            </a:r>
            <a:r>
              <a:rPr lang="zh-CN" altLang="en-US" sz="2800">
                <a:latin typeface="Arial" panose="020B0604020202020204" pitchFamily="34" charset="0"/>
                <a:ea typeface="微软雅黑" panose="020B0503020204020204" pitchFamily="34" charset="-122"/>
              </a:rPr>
              <a:t>阿尔兹海默症</a:t>
            </a:r>
            <a:endParaRPr lang="zh-CN" altLang="en-US" sz="2800">
              <a:latin typeface="Arial" panose="020B0604020202020204" pitchFamily="34" charset="0"/>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descr="/private/var/folders/yy/k9vbpjvs50n3dskbszjx5l8r0000gn/T/com.kingsoft.wpsoffice.mac/picturecompress_20230330124548/output_1.pngoutput_1"/>
          <p:cNvPicPr>
            <a:picLocks noChangeAspect="1"/>
          </p:cNvPicPr>
          <p:nvPr/>
        </p:nvPicPr>
        <p:blipFill>
          <a:blip r:embed="rId1"/>
          <a:stretch>
            <a:fillRect/>
          </a:stretch>
        </p:blipFill>
        <p:spPr>
          <a:xfrm rot="20769313" flipV="1">
            <a:off x="5948203" y="2590424"/>
            <a:ext cx="3874283" cy="3572443"/>
          </a:xfrm>
          <a:prstGeom prst="rect">
            <a:avLst/>
          </a:prstGeom>
        </p:spPr>
      </p:pic>
      <p:pic>
        <p:nvPicPr>
          <p:cNvPr id="19" name="图片 18" descr="/private/var/folders/yy/k9vbpjvs50n3dskbszjx5l8r0000gn/T/com.kingsoft.wpsoffice.mac/picturecompress_20230330124548/output_1.pngoutput_1"/>
          <p:cNvPicPr>
            <a:picLocks noChangeAspect="1"/>
          </p:cNvPicPr>
          <p:nvPr/>
        </p:nvPicPr>
        <p:blipFill>
          <a:blip r:embed="rId1"/>
          <a:stretch>
            <a:fillRect/>
          </a:stretch>
        </p:blipFill>
        <p:spPr>
          <a:xfrm rot="9987662" flipV="1">
            <a:off x="-1123520" y="-1046414"/>
            <a:ext cx="5159847" cy="4757850"/>
          </a:xfrm>
          <a:prstGeom prst="rect">
            <a:avLst/>
          </a:prstGeom>
        </p:spPr>
      </p:pic>
      <p:cxnSp>
        <p:nvCxnSpPr>
          <p:cNvPr id="9" name="直接连接符 8"/>
          <p:cNvCxnSpPr/>
          <p:nvPr/>
        </p:nvCxnSpPr>
        <p:spPr>
          <a:xfrm flipH="1">
            <a:off x="218517" y="874569"/>
            <a:ext cx="3909240" cy="0"/>
          </a:xfrm>
          <a:prstGeom prst="line">
            <a:avLst/>
          </a:prstGeom>
          <a:ln w="12700">
            <a:gradFill flip="none" rotWithShape="1">
              <a:gsLst>
                <a:gs pos="100000">
                  <a:schemeClr val="accent1">
                    <a:lumMod val="75000"/>
                  </a:schemeClr>
                </a:gs>
                <a:gs pos="0">
                  <a:srgbClr val="821A1A">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218673" y="167894"/>
            <a:ext cx="4707144" cy="706755"/>
          </a:xfrm>
          <a:prstGeom prst="rect">
            <a:avLst/>
          </a:prstGeom>
          <a:noFill/>
        </p:spPr>
        <p:txBody>
          <a:bodyPr wrap="square" rtlCol="0">
            <a:spAutoFit/>
          </a:bodyPr>
          <a:lstStyle>
            <a:defPPr>
              <a:defRPr lang="zh-CN"/>
            </a:defPPr>
            <a:lvl1pPr>
              <a:defRPr sz="4000" spc="100">
                <a:solidFill>
                  <a:schemeClr val="tx1">
                    <a:lumMod val="85000"/>
                    <a:lumOff val="15000"/>
                  </a:schemeClr>
                </a:solidFill>
                <a:latin typeface="思源黑体 CN Bold" panose="020B0800000000000000" pitchFamily="34" charset="-122"/>
                <a:ea typeface="思源黑体 CN Bold" panose="020B0800000000000000" pitchFamily="34" charset="-122"/>
              </a:defRPr>
            </a:lvl1pPr>
          </a:lstStyle>
          <a:p>
            <a:r>
              <a:rPr lang="zh-CN" altLang="en-US" b="1" dirty="0">
                <a:gradFill>
                  <a:gsLst>
                    <a:gs pos="0">
                      <a:schemeClr val="accent1">
                        <a:lumMod val="75000"/>
                        <a:alpha val="88000"/>
                      </a:schemeClr>
                    </a:gs>
                    <a:gs pos="100000">
                      <a:schemeClr val="accent1">
                        <a:lumMod val="75000"/>
                        <a:alpha val="62000"/>
                      </a:schemeClr>
                    </a:gs>
                  </a:gsLst>
                  <a:lin ang="5400000" scaled="1"/>
                </a:gradFill>
                <a:latin typeface="微软雅黑" panose="020B0503020204020204" pitchFamily="34" charset="-122"/>
                <a:ea typeface="微软雅黑" panose="020B0503020204020204" pitchFamily="34" charset="-122"/>
              </a:rPr>
              <a:t>参考文献</a:t>
            </a:r>
            <a:endParaRPr lang="zh-CN" altLang="en-US" b="1" dirty="0">
              <a:gradFill>
                <a:gsLst>
                  <a:gs pos="0">
                    <a:schemeClr val="accent1">
                      <a:lumMod val="75000"/>
                      <a:alpha val="88000"/>
                    </a:schemeClr>
                  </a:gs>
                  <a:gs pos="100000">
                    <a:schemeClr val="accent1">
                      <a:lumMod val="75000"/>
                      <a:alpha val="62000"/>
                    </a:schemeClr>
                  </a:gs>
                </a:gsLst>
                <a:lin ang="5400000" scaled="1"/>
              </a:gra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2433" y="5562160"/>
            <a:ext cx="1004768" cy="571678"/>
          </a:xfrm>
          <a:prstGeom prst="rect">
            <a:avLst/>
          </a:prstGeom>
        </p:spPr>
      </p:pic>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179" y="5562160"/>
            <a:ext cx="993180" cy="575487"/>
          </a:xfrm>
          <a:prstGeom prst="rect">
            <a:avLst/>
          </a:prstGeom>
        </p:spPr>
      </p:pic>
      <p:pic>
        <p:nvPicPr>
          <p:cNvPr id="21" name="图片 20" descr="徽标&#10;&#10;描述已自动生成"/>
          <p:cNvPicPr>
            <a:picLocks noChangeAspect="1"/>
          </p:cNvPicPr>
          <p:nvPr/>
        </p:nvPicPr>
        <p:blipFill>
          <a:blip r:embed="rId4">
            <a:extLst>
              <a:ext uri="{28A0092B-C50C-407E-A947-70E740481C1C}">
                <a14:useLocalDpi xmlns:a14="http://schemas.microsoft.com/office/drawing/2010/main" val="0"/>
              </a:ext>
            </a:extLst>
          </a:blip>
          <a:srcRect t="13412" r="45166" b="17638"/>
          <a:stretch>
            <a:fillRect/>
          </a:stretch>
        </p:blipFill>
        <p:spPr>
          <a:xfrm>
            <a:off x="8642204" y="3891885"/>
            <a:ext cx="1089364" cy="1369662"/>
          </a:xfrm>
          <a:prstGeom prst="rect">
            <a:avLst/>
          </a:prstGeom>
        </p:spPr>
      </p:pic>
      <p:pic>
        <p:nvPicPr>
          <p:cNvPr id="22" name="图片 21" descr="/private/var/folders/yy/k9vbpjvs50n3dskbszjx5l8r0000gn/T/com.kingsoft.wpsoffice.mac/photoedit2/20230330085317/temp.pngtemp"/>
          <p:cNvPicPr>
            <a:picLocks noChangeAspect="1"/>
          </p:cNvPicPr>
          <p:nvPr/>
        </p:nvPicPr>
        <p:blipFill rotWithShape="1">
          <a:blip r:embed="rId5"/>
          <a:srcRect r="62275"/>
          <a:stretch>
            <a:fillRect/>
          </a:stretch>
        </p:blipFill>
        <p:spPr>
          <a:xfrm>
            <a:off x="8524942" y="4986433"/>
            <a:ext cx="1323887" cy="711426"/>
          </a:xfrm>
          <a:prstGeom prst="rect">
            <a:avLst/>
          </a:prstGeom>
        </p:spPr>
      </p:pic>
      <p:pic>
        <p:nvPicPr>
          <p:cNvPr id="23" name="图片 22" descr="图片包含 图示&#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5222" t="67459" r="6526"/>
          <a:stretch>
            <a:fillRect/>
          </a:stretch>
        </p:blipFill>
        <p:spPr>
          <a:xfrm>
            <a:off x="475600" y="6010125"/>
            <a:ext cx="9557385" cy="1176020"/>
          </a:xfrm>
          <a:prstGeom prst="rect">
            <a:avLst/>
          </a:prstGeom>
        </p:spPr>
      </p:pic>
      <p:sp>
        <p:nvSpPr>
          <p:cNvPr id="2" name="文本框 1"/>
          <p:cNvSpPr txBox="1"/>
          <p:nvPr/>
        </p:nvSpPr>
        <p:spPr>
          <a:xfrm>
            <a:off x="475615" y="1014095"/>
            <a:ext cx="11418570" cy="5669915"/>
          </a:xfrm>
          <a:prstGeom prst="rect">
            <a:avLst/>
          </a:prstGeom>
          <a:noFill/>
        </p:spPr>
        <p:txBody>
          <a:bodyPr wrap="square" rtlCol="0" anchor="t">
            <a:noAutofit/>
          </a:bodyPr>
          <a:p>
            <a:pPr marL="457200" indent="-457200">
              <a:buAutoNum type="arabicPeriod"/>
            </a:pP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停不下来的“舞蹈病”，带走一家三代人 </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 </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澎湃新闻</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hlinkClick r:id="rId7"/>
              </a:rPr>
              <a:t>https://m.thepaper.cn/baijiahao_6251473</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endPar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endParaRPr>
          </a:p>
          <a:p>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2. [</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亨廷顿舞蹈症：一双脱不下的红舞鞋 </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 </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知乎</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hlinkClick r:id="rId8"/>
              </a:rPr>
              <a:t>https://zhuanlan.zhihu.com/p/23374201</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endPar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endParaRPr>
          </a:p>
          <a:p>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3. [</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亨廷顿舞蹈症</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_</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百度百科</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hlinkClick r:id="rId9"/>
              </a:rPr>
              <a:t>https://baike.baidu.com/item/%E4%BA%A8%E5%BB%B7%E9%A1%BF%E8%88%9E%E8%B9%88%E7%97%87/10898724</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endPar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endParaRPr>
          </a:p>
          <a:p>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4. [</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亨廷顿病</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(HD)</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：偏爱青壮年人的</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hlinkClick r:id="rId10"/>
              </a:rPr>
              <a:t>“舞蹈”</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hlinkClick r:id="rId10"/>
              </a:rPr>
              <a:t>@MedSci](https://m.medsci.cn/article/show_article.do?id=ac74e86829f5)</a:t>
            </a:r>
            <a:endPar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endParaRPr>
          </a:p>
          <a:p>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5. [“</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致命的”舞蹈 </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 </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亨廷顿舞蹈症</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_</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澎湃号</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湃客</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_</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澎湃新闻 </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hlinkClick r:id="rId11"/>
              </a:rPr>
              <a:t>https://www.thepaper.cn/newsDetail_forward_9639238</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endPar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endParaRPr>
          </a:p>
          <a:p>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6. [Advanced Science</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：李晓江团队开发治疗亨廷顿舞蹈症的新方法</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hlinkClick r:id="rId12"/>
              </a:rPr>
              <a:t>https://www.thepaper.cn/newsDetail_forward_24664882</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endPar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endParaRPr>
          </a:p>
          <a:p>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7. [</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亨廷顿舞蹈病 </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 </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神经系统疾病 </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 MSD</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诊疗手册专业版</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hlinkClick r:id="rId13"/>
              </a:rPr>
              <a:t>https://www.msdmanuals.cn/professional/neurologic-disorders/movement-and-cerebellar-disorders/huntington-disease</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endPar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endParaRPr>
          </a:p>
          <a:p>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8. [</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一种让人手舞足蹈的疾病</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亨廷顿舞蹈症</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_</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医学界</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a:t>
            </a: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助力医生 </a:t>
            </a:r>
            <a:r>
              <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rPr>
              <a:t>...](https://www.yxj.org.cn/detailPage?articleId=319861)</a:t>
            </a:r>
            <a:endParaRPr lang="en-US" altLang="zh-CN" sz="2000" kern="100" dirty="0">
              <a:effectLst/>
              <a:latin typeface="仿宋" panose="02010609060101010101" pitchFamily="49" charset="-122"/>
              <a:ea typeface="仿宋" panose="02010609060101010101" pitchFamily="49" charset="-122"/>
              <a:cs typeface="Times New Roman" panose="02020603050405020304" pitchFamily="18" charset="0"/>
              <a:sym typeface="+mn-ea"/>
            </a:endParaRPr>
          </a:p>
        </p:txBody>
      </p:sp>
    </p:spTree>
  </p:cSld>
  <p:clrMapOvr>
    <a:masterClrMapping/>
  </p:clrMapOvr>
</p:sld>
</file>

<file path=ppt/tags/tag1.xml><?xml version="1.0" encoding="utf-8"?>
<p:tagLst xmlns:p="http://schemas.openxmlformats.org/presentationml/2006/main">
  <p:tag name="KSO_WM_DIAGRAM_VIRTUALLY_FRAME" val="{&quot;height&quot;:322.563937007874,&quot;left&quot;:553.0588976377952,&quot;top&quot;:120.49023622047244,&quot;width&quot;:370.7261417322834}"/>
</p:tagLst>
</file>

<file path=ppt/tags/tag2.xml><?xml version="1.0" encoding="utf-8"?>
<p:tagLst xmlns:p="http://schemas.openxmlformats.org/presentationml/2006/main">
  <p:tag name="KSO_WM_DIAGRAM_VIRTUALLY_FRAME" val="{&quot;height&quot;:322.563937007874,&quot;left&quot;:553.0588976377952,&quot;top&quot;:120.49023622047244,&quot;width&quot;:370.7261417322834}"/>
</p:tagLst>
</file>

<file path=ppt/tags/tag3.xml><?xml version="1.0" encoding="utf-8"?>
<p:tagLst xmlns:p="http://schemas.openxmlformats.org/presentationml/2006/main">
  <p:tag name="KSO_WM_DIAGRAM_VIRTUALLY_FRAME" val="{&quot;height&quot;:322.563937007874,&quot;left&quot;:553.0588976377952,&quot;top&quot;:120.49023622047244,&quot;width&quot;:370.7261417322834}"/>
</p:tagLst>
</file>

<file path=ppt/tags/tag4.xml><?xml version="1.0" encoding="utf-8"?>
<p:tagLst xmlns:p="http://schemas.openxmlformats.org/presentationml/2006/main">
  <p:tag name="KSO_WM_DIAGRAM_VIRTUALLY_FRAME" val="{&quot;height&quot;:322.563937007874,&quot;left&quot;:553.0588976377952,&quot;top&quot;:120.49023622047244,&quot;width&quot;:370.7261417322834}"/>
</p:tagLst>
</file>

<file path=ppt/tags/tag5.xml><?xml version="1.0" encoding="utf-8"?>
<p:tagLst xmlns:p="http://schemas.openxmlformats.org/presentationml/2006/main">
  <p:tag name="KSO_WM_MEDIACOVER_FLAG" val="1"/>
  <p:tag name="KSO_WM_UNIT_MEDIACOVER_BTN_STATE" val="1"/>
  <p:tag name="KSO_WM_UNIT_MEDIACOVER_BTNRECT" val="0*0*0*0"/>
</p:tagLst>
</file>

<file path=ppt/tags/tag6.xml><?xml version="1.0" encoding="utf-8"?>
<p:tagLst xmlns:p="http://schemas.openxmlformats.org/presentationml/2006/main">
  <p:tag name="commondata" val="eyJoZGlkIjoiMTFmZDc0M2FlZTNiMWIyYTlhZDIwYzA2YWQzOWQxMGQifQ=="/>
</p:tagLst>
</file>

<file path=ppt/theme/theme1.xml><?xml version="1.0" encoding="utf-8"?>
<a:theme xmlns:a="http://schemas.openxmlformats.org/drawingml/2006/main" name="Office 主题​​">
  <a:themeElements>
    <a:clrScheme name="西政主题色">
      <a:dk1>
        <a:sysClr val="windowText" lastClr="000000"/>
      </a:dk1>
      <a:lt1>
        <a:sysClr val="window" lastClr="FFFFFF"/>
      </a:lt1>
      <a:dk2>
        <a:srgbClr val="505046"/>
      </a:dk2>
      <a:lt2>
        <a:srgbClr val="EEECE1"/>
      </a:lt2>
      <a:accent1>
        <a:srgbClr val="C00000"/>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4175</Words>
  <Application>WPS 演示</Application>
  <PresentationFormat>宽屏</PresentationFormat>
  <Paragraphs>217</Paragraphs>
  <Slides>23</Slides>
  <Notes>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23</vt:i4>
      </vt:variant>
    </vt:vector>
  </HeadingPairs>
  <TitlesOfParts>
    <vt:vector size="37" baseType="lpstr">
      <vt:lpstr>Arial</vt:lpstr>
      <vt:lpstr>宋体</vt:lpstr>
      <vt:lpstr>Wingdings</vt:lpstr>
      <vt:lpstr>微软雅黑</vt:lpstr>
      <vt:lpstr>华文楷体</vt:lpstr>
      <vt:lpstr>思源黑体 CN Normal</vt:lpstr>
      <vt:lpstr>黑体</vt:lpstr>
      <vt:lpstr>思源黑体 CN Bold</vt:lpstr>
      <vt:lpstr>仿宋</vt:lpstr>
      <vt:lpstr>Arial Unicode MS</vt:lpstr>
      <vt:lpstr>等线 Light</vt:lpstr>
      <vt:lpstr>等线</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a24209</dc:creator>
  <cp:lastModifiedBy>啊</cp:lastModifiedBy>
  <cp:revision>610</cp:revision>
  <dcterms:created xsi:type="dcterms:W3CDTF">2023-03-30T06:05:00Z</dcterms:created>
  <dcterms:modified xsi:type="dcterms:W3CDTF">2024-05-17T03:18:17Z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91D126130B354A5FAA2527E637ED0B96_13</vt:lpwstr>
  </property>
  <property fmtid="{D5CDD505-2E9C-101B-9397-08002B2CF9AE}" pid="3" name="KSOProductBuildVer">
    <vt:lpwstr>2052-12.1.0.16729</vt:lpwstr>
  </property>
</Properties>
</file>